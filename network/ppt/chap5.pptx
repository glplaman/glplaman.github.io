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14"/>
  </p:notesMasterIdLst>
  <p:sldIdLst>
    <p:sldId id="257" r:id="rId2"/>
    <p:sldId id="693" r:id="rId3"/>
    <p:sldId id="446" r:id="rId4"/>
    <p:sldId id="750" r:id="rId5"/>
    <p:sldId id="449" r:id="rId6"/>
    <p:sldId id="470" r:id="rId7"/>
    <p:sldId id="450" r:id="rId8"/>
    <p:sldId id="265" r:id="rId9"/>
    <p:sldId id="267" r:id="rId10"/>
    <p:sldId id="268" r:id="rId11"/>
    <p:sldId id="659" r:id="rId12"/>
    <p:sldId id="468" r:id="rId13"/>
    <p:sldId id="458" r:id="rId14"/>
    <p:sldId id="661" r:id="rId15"/>
    <p:sldId id="662" r:id="rId16"/>
    <p:sldId id="663" r:id="rId17"/>
    <p:sldId id="276" r:id="rId18"/>
    <p:sldId id="277" r:id="rId19"/>
    <p:sldId id="278" r:id="rId20"/>
    <p:sldId id="279" r:id="rId21"/>
    <p:sldId id="737" r:id="rId22"/>
    <p:sldId id="471" r:id="rId23"/>
    <p:sldId id="472" r:id="rId24"/>
    <p:sldId id="473" r:id="rId25"/>
    <p:sldId id="667" r:id="rId26"/>
    <p:sldId id="734" r:id="rId27"/>
    <p:sldId id="475" r:id="rId28"/>
    <p:sldId id="694" r:id="rId29"/>
    <p:sldId id="736" r:id="rId30"/>
    <p:sldId id="696" r:id="rId31"/>
    <p:sldId id="735" r:id="rId32"/>
    <p:sldId id="476" r:id="rId33"/>
    <p:sldId id="668" r:id="rId34"/>
    <p:sldId id="477" r:id="rId35"/>
    <p:sldId id="478" r:id="rId36"/>
    <p:sldId id="479" r:id="rId37"/>
    <p:sldId id="751" r:id="rId38"/>
    <p:sldId id="480" r:id="rId39"/>
    <p:sldId id="481" r:id="rId40"/>
    <p:sldId id="482" r:id="rId41"/>
    <p:sldId id="669" r:id="rId42"/>
    <p:sldId id="483" r:id="rId43"/>
    <p:sldId id="484" r:id="rId44"/>
    <p:sldId id="671" r:id="rId45"/>
    <p:sldId id="486" r:id="rId46"/>
    <p:sldId id="488" r:id="rId47"/>
    <p:sldId id="672" r:id="rId48"/>
    <p:sldId id="489" r:id="rId49"/>
    <p:sldId id="490" r:id="rId50"/>
    <p:sldId id="491" r:id="rId51"/>
    <p:sldId id="492" r:id="rId52"/>
    <p:sldId id="493" r:id="rId53"/>
    <p:sldId id="494" r:id="rId54"/>
    <p:sldId id="495" r:id="rId55"/>
    <p:sldId id="497" r:id="rId56"/>
    <p:sldId id="673" r:id="rId57"/>
    <p:sldId id="697" r:id="rId58"/>
    <p:sldId id="738" r:id="rId59"/>
    <p:sldId id="498" r:id="rId60"/>
    <p:sldId id="739" r:id="rId61"/>
    <p:sldId id="501" r:id="rId62"/>
    <p:sldId id="505" r:id="rId63"/>
    <p:sldId id="504" r:id="rId64"/>
    <p:sldId id="509" r:id="rId65"/>
    <p:sldId id="676" r:id="rId66"/>
    <p:sldId id="740" r:id="rId67"/>
    <p:sldId id="749" r:id="rId68"/>
    <p:sldId id="513" r:id="rId69"/>
    <p:sldId id="698" r:id="rId70"/>
    <p:sldId id="680" r:id="rId71"/>
    <p:sldId id="520" r:id="rId72"/>
    <p:sldId id="742" r:id="rId73"/>
    <p:sldId id="741" r:id="rId74"/>
    <p:sldId id="521" r:id="rId75"/>
    <p:sldId id="522" r:id="rId76"/>
    <p:sldId id="523" r:id="rId77"/>
    <p:sldId id="524" r:id="rId78"/>
    <p:sldId id="525" r:id="rId79"/>
    <p:sldId id="526" r:id="rId80"/>
    <p:sldId id="527" r:id="rId81"/>
    <p:sldId id="528" r:id="rId82"/>
    <p:sldId id="529" r:id="rId83"/>
    <p:sldId id="530" r:id="rId84"/>
    <p:sldId id="531" r:id="rId85"/>
    <p:sldId id="532" r:id="rId86"/>
    <p:sldId id="533" r:id="rId87"/>
    <p:sldId id="534" r:id="rId88"/>
    <p:sldId id="535" r:id="rId89"/>
    <p:sldId id="536" r:id="rId90"/>
    <p:sldId id="537" r:id="rId91"/>
    <p:sldId id="702" r:id="rId92"/>
    <p:sldId id="701" r:id="rId93"/>
    <p:sldId id="703" r:id="rId94"/>
    <p:sldId id="705" r:id="rId95"/>
    <p:sldId id="707" r:id="rId96"/>
    <p:sldId id="708" r:id="rId97"/>
    <p:sldId id="709" r:id="rId98"/>
    <p:sldId id="541" r:id="rId99"/>
    <p:sldId id="542" r:id="rId100"/>
    <p:sldId id="543" r:id="rId101"/>
    <p:sldId id="710" r:id="rId102"/>
    <p:sldId id="546" r:id="rId103"/>
    <p:sldId id="711" r:id="rId104"/>
    <p:sldId id="713" r:id="rId105"/>
    <p:sldId id="715" r:id="rId106"/>
    <p:sldId id="716" r:id="rId107"/>
    <p:sldId id="717" r:id="rId108"/>
    <p:sldId id="718" r:id="rId109"/>
    <p:sldId id="721" r:id="rId110"/>
    <p:sldId id="722" r:id="rId111"/>
    <p:sldId id="719" r:id="rId112"/>
    <p:sldId id="552" r:id="rId113"/>
    <p:sldId id="554" r:id="rId114"/>
    <p:sldId id="555" r:id="rId115"/>
    <p:sldId id="557" r:id="rId116"/>
    <p:sldId id="559" r:id="rId117"/>
    <p:sldId id="560" r:id="rId118"/>
    <p:sldId id="561" r:id="rId119"/>
    <p:sldId id="562" r:id="rId120"/>
    <p:sldId id="563" r:id="rId121"/>
    <p:sldId id="564" r:id="rId122"/>
    <p:sldId id="723" r:id="rId123"/>
    <p:sldId id="567" r:id="rId124"/>
    <p:sldId id="566" r:id="rId125"/>
    <p:sldId id="568" r:id="rId126"/>
    <p:sldId id="569" r:id="rId127"/>
    <p:sldId id="571" r:id="rId128"/>
    <p:sldId id="743" r:id="rId129"/>
    <p:sldId id="724" r:id="rId130"/>
    <p:sldId id="573" r:id="rId131"/>
    <p:sldId id="574" r:id="rId132"/>
    <p:sldId id="575" r:id="rId133"/>
    <p:sldId id="576" r:id="rId134"/>
    <p:sldId id="578" r:id="rId135"/>
    <p:sldId id="579" r:id="rId136"/>
    <p:sldId id="580" r:id="rId137"/>
    <p:sldId id="581" r:id="rId138"/>
    <p:sldId id="582" r:id="rId139"/>
    <p:sldId id="685" r:id="rId140"/>
    <p:sldId id="583" r:id="rId141"/>
    <p:sldId id="727" r:id="rId142"/>
    <p:sldId id="585" r:id="rId143"/>
    <p:sldId id="586" r:id="rId144"/>
    <p:sldId id="587" r:id="rId145"/>
    <p:sldId id="731" r:id="rId146"/>
    <p:sldId id="729" r:id="rId147"/>
    <p:sldId id="730" r:id="rId148"/>
    <p:sldId id="592" r:id="rId149"/>
    <p:sldId id="593" r:id="rId150"/>
    <p:sldId id="594" r:id="rId151"/>
    <p:sldId id="595" r:id="rId152"/>
    <p:sldId id="596" r:id="rId153"/>
    <p:sldId id="597" r:id="rId154"/>
    <p:sldId id="598" r:id="rId155"/>
    <p:sldId id="599" r:id="rId156"/>
    <p:sldId id="600" r:id="rId157"/>
    <p:sldId id="686" r:id="rId158"/>
    <p:sldId id="687" r:id="rId159"/>
    <p:sldId id="601" r:id="rId160"/>
    <p:sldId id="744" r:id="rId161"/>
    <p:sldId id="603" r:id="rId162"/>
    <p:sldId id="604" r:id="rId163"/>
    <p:sldId id="605" r:id="rId164"/>
    <p:sldId id="606" r:id="rId165"/>
    <p:sldId id="607" r:id="rId166"/>
    <p:sldId id="608" r:id="rId167"/>
    <p:sldId id="609" r:id="rId168"/>
    <p:sldId id="611" r:id="rId169"/>
    <p:sldId id="612" r:id="rId170"/>
    <p:sldId id="613" r:id="rId171"/>
    <p:sldId id="614" r:id="rId172"/>
    <p:sldId id="616" r:id="rId173"/>
    <p:sldId id="618" r:id="rId174"/>
    <p:sldId id="619" r:id="rId175"/>
    <p:sldId id="732" r:id="rId176"/>
    <p:sldId id="733" r:id="rId177"/>
    <p:sldId id="622" r:id="rId178"/>
    <p:sldId id="623" r:id="rId179"/>
    <p:sldId id="624" r:id="rId180"/>
    <p:sldId id="689" r:id="rId181"/>
    <p:sldId id="625" r:id="rId182"/>
    <p:sldId id="626" r:id="rId183"/>
    <p:sldId id="627" r:id="rId184"/>
    <p:sldId id="628" r:id="rId185"/>
    <p:sldId id="629" r:id="rId186"/>
    <p:sldId id="691" r:id="rId187"/>
    <p:sldId id="630" r:id="rId188"/>
    <p:sldId id="631" r:id="rId189"/>
    <p:sldId id="632" r:id="rId190"/>
    <p:sldId id="633" r:id="rId191"/>
    <p:sldId id="634" r:id="rId192"/>
    <p:sldId id="635" r:id="rId193"/>
    <p:sldId id="637" r:id="rId194"/>
    <p:sldId id="745" r:id="rId195"/>
    <p:sldId id="638" r:id="rId196"/>
    <p:sldId id="639" r:id="rId197"/>
    <p:sldId id="640" r:id="rId198"/>
    <p:sldId id="641" r:id="rId199"/>
    <p:sldId id="642" r:id="rId200"/>
    <p:sldId id="643" r:id="rId201"/>
    <p:sldId id="644" r:id="rId202"/>
    <p:sldId id="746" r:id="rId203"/>
    <p:sldId id="645" r:id="rId204"/>
    <p:sldId id="646" r:id="rId205"/>
    <p:sldId id="647" r:id="rId206"/>
    <p:sldId id="649" r:id="rId207"/>
    <p:sldId id="650" r:id="rId208"/>
    <p:sldId id="652" r:id="rId209"/>
    <p:sldId id="748" r:id="rId210"/>
    <p:sldId id="653" r:id="rId211"/>
    <p:sldId id="654" r:id="rId212"/>
    <p:sldId id="655" r:id="rId213"/>
  </p:sldIdLst>
  <p:sldSz cx="9144000" cy="5143500" type="screen16x9"/>
  <p:notesSz cx="6858000" cy="9144000"/>
  <p:embeddedFontLst>
    <p:embeddedFont>
      <p:font typeface="Cambria Math" panose="02040503050406030204" pitchFamily="18" charset="0"/>
      <p:regular r:id="rId215"/>
    </p:embeddedFont>
    <p:embeddedFont>
      <p:font typeface="Montserrat" panose="00000500000000000000" pitchFamily="2" charset="0"/>
      <p:regular r:id="rId216"/>
    </p:embeddedFont>
    <p:embeddedFont>
      <p:font typeface="微软雅黑" panose="020B0503020204020204" pitchFamily="34" charset="-122"/>
      <p:regular r:id="rId217"/>
      <p:bold r:id="rId218"/>
    </p:embeddedFont>
    <p:embeddedFont>
      <p:font typeface="微软雅黑 Light" panose="020B0502040204020203" pitchFamily="34" charset="-122"/>
      <p:regular r:id="rId219"/>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5420"/>
    <a:srgbClr val="E46C0A"/>
    <a:srgbClr val="00B050"/>
    <a:srgbClr val="7F131F"/>
    <a:srgbClr val="0000FF"/>
    <a:srgbClr val="85D1F7"/>
    <a:srgbClr val="FFFF00"/>
    <a:srgbClr val="00FF99"/>
    <a:srgbClr val="3366FF"/>
    <a:srgbClr val="00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p:scale>
          <a:sx n="100" d="100"/>
          <a:sy n="100" d="100"/>
        </p:scale>
        <p:origin x="1050" y="91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font" Target="fonts/font2.fntdata"/><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font" Target="fonts/font3.fntdata"/><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font" Target="fonts/font4.fntdata"/><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219" Type="http://schemas.openxmlformats.org/officeDocument/2006/relationships/font" Target="fonts/font5.fntdata"/><Relationship Id="rId3" Type="http://schemas.openxmlformats.org/officeDocument/2006/relationships/slide" Target="slides/slide2.xml"/><Relationship Id="rId214" Type="http://schemas.openxmlformats.org/officeDocument/2006/relationships/notesMaster" Target="notesMasters/notesMaster1.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font" Target="fonts/font1.fntdata"/><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viewProps" Target="viewProp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theme" Target="theme/theme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tableStyles" Target="tableStyle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Montserrat" panose="00000500000000000000" pitchFamily="2" charset="0"/>
              <a:ea typeface="微软雅黑 Light" panose="020B0502040204020203" pitchFamily="34" charset="-122"/>
            </a:rPr>
            <a:t>拥塞控制</a:t>
          </a:r>
        </a:p>
      </dgm:t>
    </dgm:pt>
    <dgm:pt modelId="{72B0F351-ECBB-41B6-83F8-2E44095783F4}" type="par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B73030B4-A5E0-40C1-9AE1-02B25975AA00}" type="sib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10B3081-F341-4301-9185-BE738C183BBB}">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防止过多的数据注入到网络中，避免网络中的路由器或链路过载。</a:t>
          </a:r>
        </a:p>
      </dgm:t>
    </dgm:pt>
    <dgm:pt modelId="{B9937F06-A3DB-4499-9BB1-8E62176A896E}" type="par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8D13681-61CB-42A0-AAD2-CF508B0ED4F0}" type="sib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3376B25E-A50F-4935-9A84-A2AE7897CCCF}">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dgm:t>
    </dgm:pt>
    <dgm:pt modelId="{26269EE4-3ED5-4DE1-B6F2-BC870B778E5F}" type="parTrans" cxnId="{38263262-CABC-4074-A5F3-D3F1E4C03317}">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BF637746-0510-4A3C-90B7-D93A16B92D57}" type="sibTrans" cxnId="{38263262-CABC-4074-A5F3-D3F1E4C03317}">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DACD2956-BF18-4584-AF2D-3FD839777DF7}">
      <dgm:prSet phldrT="[文本]" custT="1"/>
      <dgm:spPr/>
      <dgm:t>
        <a:bodyPr/>
        <a:lstStyle/>
        <a:p>
          <a:r>
            <a:rPr lang="zh-CN" altLang="en-US" sz="2000" b="1" dirty="0">
              <a:latin typeface="Montserrat" panose="00000500000000000000" pitchFamily="2" charset="0"/>
              <a:ea typeface="微软雅黑 Light" panose="020B0502040204020203" pitchFamily="34" charset="-122"/>
            </a:rPr>
            <a:t>流量控制</a:t>
          </a:r>
        </a:p>
      </dgm:t>
    </dgm:pt>
    <dgm:pt modelId="{98DB6D87-467D-4D2D-AF82-D4E303370A2F}" type="par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FE01F61-F8E8-44D6-97EE-DEA0356464A7}" type="sib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541A8C11-D03E-479A-A84F-C3458AEF2E9A}">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点对点通信量的控制，是个端到端的问题。</a:t>
          </a:r>
        </a:p>
      </dgm:t>
    </dgm:pt>
    <dgm:pt modelId="{A7821D57-E876-4757-939B-CE33CAD146D4}" type="parTrans" cxnId="{47FAB983-5AC4-402F-9B23-9B04750BCF80}">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9553568A-AD7C-418C-9424-82556C1E75C3}" type="sibTrans" cxnId="{47FAB983-5AC4-402F-9B23-9B04750BCF80}">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B38BB22-10D0-455B-AB19-4EC1F24B8A2F}">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抑制发送端发送数据的速率，以使接收端来得及接收。</a:t>
          </a:r>
        </a:p>
      </dgm:t>
    </dgm:pt>
    <dgm:pt modelId="{6383180C-1983-48A1-B1E4-F574E14CDBD1}" type="par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0F0ABCB1-B289-4DF9-9D7E-62CB7D38863E}" type="sib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38263262-CABC-4074-A5F3-D3F1E4C03317}" srcId="{4EE007B2-F612-44FB-B13F-E78B8586155B}" destId="{3376B25E-A50F-4935-9A84-A2AE7897CCCF}" srcOrd="1" destOrd="0" parTransId="{26269EE4-3ED5-4DE1-B6F2-BC870B778E5F}" sibTransId="{BF637746-0510-4A3C-90B7-D93A16B92D57}"/>
    <dgm:cxn modelId="{47FAB983-5AC4-402F-9B23-9B04750BCF80}" srcId="{DACD2956-BF18-4584-AF2D-3FD839777DF7}" destId="{541A8C11-D03E-479A-A84F-C3458AEF2E9A}" srcOrd="1" destOrd="0" parTransId="{A7821D57-E876-4757-939B-CE33CAD146D4}" sibTransId="{9553568A-AD7C-418C-9424-82556C1E75C3}"/>
    <dgm:cxn modelId="{D99E9A86-7A1F-44E7-B3D8-4ED992367D2C}" type="presOf" srcId="{710B3081-F341-4301-9185-BE738C183BBB}" destId="{72C5BA33-78B4-45DE-B9CA-22A272DDBE2C}" srcOrd="0" destOrd="0" presId="urn:microsoft.com/office/officeart/2005/8/layout/hList1"/>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203096C6-3161-47EF-A15A-B83C30ADE451}" type="presOf" srcId="{541A8C11-D03E-479A-A84F-C3458AEF2E9A}" destId="{AAB91EAD-75AE-4168-8A7F-B7A023AD8367}" srcOrd="0" destOrd="1" presId="urn:microsoft.com/office/officeart/2005/8/layout/hList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52A635F8-657C-4EDB-8288-F1C84154CA98}" type="presOf" srcId="{3376B25E-A50F-4935-9A84-A2AE7897CCCF}" destId="{72C5BA33-78B4-45DE-B9CA-22A272DDBE2C}" srcOrd="0" destOrd="1" presId="urn:microsoft.com/office/officeart/2005/8/layout/hList1"/>
    <dgm:cxn modelId="{06D3AEFD-1506-435F-AD4C-70B757C12748}" type="presOf" srcId="{7B38BB22-10D0-455B-AB19-4EC1F24B8A2F}" destId="{AAB91EAD-75AE-4168-8A7F-B7A023AD8367}" srcOrd="0" destOrd="0" presId="urn:microsoft.com/office/officeart/2005/8/layout/hList1"/>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Montserrat" panose="00000500000000000000" pitchFamily="2" charset="0"/>
              <a:ea typeface="微软雅黑 Light" panose="020B0502040204020203" pitchFamily="34" charset="-122"/>
            </a:rPr>
            <a:t>开环控制</a:t>
          </a:r>
        </a:p>
      </dgm:t>
    </dgm:pt>
    <dgm:pt modelId="{72B0F351-ECBB-41B6-83F8-2E44095783F4}" type="par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B73030B4-A5E0-40C1-9AE1-02B25975AA00}" type="sib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10B3081-F341-4301-9185-BE738C183BBB}">
      <dgm:prSet phldrT="[文本]" custT="1"/>
      <dgm:spPr/>
      <dgm:t>
        <a:bodyPr/>
        <a:lstStyle/>
        <a:p>
          <a:r>
            <a:rPr lang="zh-CN" altLang="en-US" sz="1800" b="0" dirty="0">
              <a:latin typeface="Montserrat" panose="00000500000000000000" pitchFamily="2" charset="0"/>
              <a:ea typeface="微软雅黑 Light" panose="020B0502040204020203" pitchFamily="34" charset="-122"/>
            </a:rPr>
            <a:t>在设计网络时，事先</a:t>
          </a:r>
          <a:r>
            <a:rPr lang="zh-CN" altLang="en-US" sz="1800" b="0" dirty="0">
              <a:solidFill>
                <a:srgbClr val="C00000"/>
              </a:solidFill>
              <a:latin typeface="Montserrat" panose="00000500000000000000" pitchFamily="2" charset="0"/>
              <a:ea typeface="微软雅黑 Light" panose="020B0502040204020203" pitchFamily="34" charset="-122"/>
            </a:rPr>
            <a:t>考虑周全，</a:t>
          </a:r>
          <a:r>
            <a:rPr lang="zh-CN" altLang="en-US" sz="1800" b="0" dirty="0">
              <a:latin typeface="Montserrat" panose="00000500000000000000" pitchFamily="2" charset="0"/>
              <a:ea typeface="微软雅黑 Light" panose="020B0502040204020203" pitchFamily="34" charset="-122"/>
            </a:rPr>
            <a:t>力求工作时不发生拥塞。</a:t>
          </a:r>
        </a:p>
      </dgm:t>
    </dgm:pt>
    <dgm:pt modelId="{B9937F06-A3DB-4499-9BB1-8E62176A896E}" type="par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8D13681-61CB-42A0-AAD2-CF508B0ED4F0}" type="sib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DACD2956-BF18-4584-AF2D-3FD839777DF7}">
      <dgm:prSet phldrT="[文本]" custT="1"/>
      <dgm:spPr/>
      <dgm:t>
        <a:bodyPr/>
        <a:lstStyle/>
        <a:p>
          <a:r>
            <a:rPr lang="zh-CN" altLang="en-US" sz="2000" b="1" dirty="0">
              <a:latin typeface="Montserrat" panose="00000500000000000000" pitchFamily="2" charset="0"/>
              <a:ea typeface="微软雅黑 Light" panose="020B0502040204020203" pitchFamily="34" charset="-122"/>
            </a:rPr>
            <a:t>闭环控制</a:t>
          </a:r>
        </a:p>
      </dgm:t>
    </dgm:pt>
    <dgm:pt modelId="{98DB6D87-467D-4D2D-AF82-D4E303370A2F}" type="par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FE01F61-F8E8-44D6-97EE-DEA0356464A7}" type="sib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B38BB22-10D0-455B-AB19-4EC1F24B8A2F}">
      <dgm:prSet phldrT="[文本]" custT="1"/>
      <dgm:spPr/>
      <dgm:t>
        <a:bodyPr/>
        <a:lstStyle/>
        <a:p>
          <a:r>
            <a:rPr lang="zh-CN" altLang="en-US" sz="1800" b="0" dirty="0">
              <a:latin typeface="Montserrat" panose="00000500000000000000" pitchFamily="2" charset="0"/>
              <a:ea typeface="微软雅黑 Light" panose="020B0502040204020203" pitchFamily="34" charset="-122"/>
            </a:rPr>
            <a:t>基于反馈环路的概念。</a:t>
          </a:r>
        </a:p>
      </dgm:t>
    </dgm:pt>
    <dgm:pt modelId="{6383180C-1983-48A1-B1E4-F574E14CDBD1}" type="par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0F0ABCB1-B289-4DF9-9D7E-62CB7D38863E}" type="sib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C2448606-BF7E-4CD3-8BBC-E63E41446859}">
      <dgm:prSet phldrT="[文本]" custT="1"/>
      <dgm:spPr/>
      <dgm:t>
        <a:bodyPr/>
        <a:lstStyle/>
        <a:p>
          <a:r>
            <a:rPr lang="zh-CN" altLang="en-US" sz="1800" b="0" dirty="0">
              <a:solidFill>
                <a:srgbClr val="0000FF"/>
              </a:solidFill>
              <a:latin typeface="Montserrat" panose="00000500000000000000" pitchFamily="2" charset="0"/>
              <a:ea typeface="微软雅黑 Light" panose="020B0502040204020203" pitchFamily="34" charset="-122"/>
            </a:rPr>
            <a:t>思路：</a:t>
          </a:r>
          <a:r>
            <a:rPr lang="zh-CN" altLang="en-US" sz="1800" b="0" dirty="0">
              <a:latin typeface="Montserrat" panose="00000500000000000000" pitchFamily="2" charset="0"/>
              <a:ea typeface="微软雅黑 Light" panose="020B0502040204020203" pitchFamily="34" charset="-122"/>
            </a:rPr>
            <a:t>力争</a:t>
          </a:r>
          <a:r>
            <a:rPr lang="zh-CN" altLang="en-US" sz="1800" b="0" dirty="0">
              <a:solidFill>
                <a:srgbClr val="0000FF"/>
              </a:solidFill>
              <a:latin typeface="Montserrat" panose="00000500000000000000" pitchFamily="2" charset="0"/>
              <a:ea typeface="微软雅黑 Light" panose="020B0502040204020203" pitchFamily="34" charset="-122"/>
            </a:rPr>
            <a:t>避免</a:t>
          </a:r>
          <a:r>
            <a:rPr lang="zh-CN" altLang="en-US" sz="1800" b="0" dirty="0">
              <a:latin typeface="Montserrat" panose="00000500000000000000" pitchFamily="2" charset="0"/>
              <a:ea typeface="微软雅黑 Light" panose="020B0502040204020203" pitchFamily="34" charset="-122"/>
            </a:rPr>
            <a:t>发生拥塞。</a:t>
          </a:r>
        </a:p>
      </dgm:t>
    </dgm:pt>
    <dgm:pt modelId="{2DDFBD46-B857-474E-8B27-CCB24E2F9B0D}" type="parTrans" cxnId="{7A27A0D6-C7AD-41E7-9686-374209348154}">
      <dgm:prSet/>
      <dgm:spPr/>
      <dgm:t>
        <a:bodyPr/>
        <a:lstStyle/>
        <a:p>
          <a:endParaRPr lang="zh-CN" altLang="en-US">
            <a:latin typeface="Montserrat" panose="00000500000000000000" pitchFamily="2" charset="0"/>
            <a:ea typeface="微软雅黑 Light" panose="020B0502040204020203" pitchFamily="34" charset="-122"/>
          </a:endParaRPr>
        </a:p>
      </dgm:t>
    </dgm:pt>
    <dgm:pt modelId="{C3B707A5-D44C-439A-8798-74A2B4D73421}" type="sibTrans" cxnId="{7A27A0D6-C7AD-41E7-9686-374209348154}">
      <dgm:prSet/>
      <dgm:spPr/>
      <dgm:t>
        <a:bodyPr/>
        <a:lstStyle/>
        <a:p>
          <a:endParaRPr lang="zh-CN" altLang="en-US">
            <a:latin typeface="Montserrat" panose="00000500000000000000" pitchFamily="2" charset="0"/>
            <a:ea typeface="微软雅黑 Light" panose="020B0502040204020203" pitchFamily="34" charset="-122"/>
          </a:endParaRPr>
        </a:p>
      </dgm:t>
    </dgm:pt>
    <dgm:pt modelId="{69230521-20F8-455C-9DE0-EB64591477B4}">
      <dgm:prSet custT="1"/>
      <dgm:spPr/>
      <dgm:t>
        <a:bodyPr/>
        <a:lstStyle/>
        <a:p>
          <a:r>
            <a:rPr lang="zh-CN" altLang="en-US" sz="1800" b="0" dirty="0">
              <a:latin typeface="Montserrat" panose="00000500000000000000" pitchFamily="2" charset="0"/>
              <a:ea typeface="微软雅黑 Light" panose="020B0502040204020203" pitchFamily="34" charset="-122"/>
            </a:rPr>
            <a:t>根据网络</a:t>
          </a:r>
          <a:r>
            <a:rPr lang="zh-CN" altLang="en-US" sz="1800" b="0" dirty="0">
              <a:solidFill>
                <a:srgbClr val="C00000"/>
              </a:solidFill>
              <a:latin typeface="Montserrat" panose="00000500000000000000" pitchFamily="2" charset="0"/>
              <a:ea typeface="微软雅黑 Light" panose="020B0502040204020203" pitchFamily="34" charset="-122"/>
            </a:rPr>
            <a:t>当前运行状态</a:t>
          </a:r>
          <a:r>
            <a:rPr lang="zh-CN" altLang="en-US" sz="1800" b="0" dirty="0">
              <a:latin typeface="Montserrat" panose="00000500000000000000" pitchFamily="2" charset="0"/>
              <a:ea typeface="微软雅黑 Light" panose="020B0502040204020203" pitchFamily="34" charset="-122"/>
            </a:rPr>
            <a:t>采取相应控制措施。</a:t>
          </a:r>
        </a:p>
      </dgm:t>
    </dgm:pt>
    <dgm:pt modelId="{12D5CF6D-3ECF-44C8-8A00-2243EEE11BB5}" type="parTrans" cxnId="{68D7CDFF-D5B6-4B82-BCD9-4ADC99E5D786}">
      <dgm:prSet/>
      <dgm:spPr/>
      <dgm:t>
        <a:bodyPr/>
        <a:lstStyle/>
        <a:p>
          <a:endParaRPr lang="zh-CN" altLang="en-US">
            <a:latin typeface="Montserrat" panose="00000500000000000000" pitchFamily="2" charset="0"/>
            <a:ea typeface="微软雅黑 Light" panose="020B0502040204020203" pitchFamily="34" charset="-122"/>
          </a:endParaRPr>
        </a:p>
      </dgm:t>
    </dgm:pt>
    <dgm:pt modelId="{3125DBAA-2F9E-499F-A3BE-6A4DF87D05F3}" type="sibTrans" cxnId="{68D7CDFF-D5B6-4B82-BCD9-4ADC99E5D786}">
      <dgm:prSet/>
      <dgm:spPr/>
      <dgm:t>
        <a:bodyPr/>
        <a:lstStyle/>
        <a:p>
          <a:endParaRPr lang="zh-CN" altLang="en-US">
            <a:latin typeface="Montserrat" panose="00000500000000000000" pitchFamily="2" charset="0"/>
            <a:ea typeface="微软雅黑 Light" panose="020B0502040204020203" pitchFamily="34" charset="-122"/>
          </a:endParaRPr>
        </a:p>
      </dgm:t>
    </dgm:pt>
    <dgm:pt modelId="{238D7AE3-4A96-4FFA-8329-EDA2C3555B30}">
      <dgm:prSet custT="1"/>
      <dgm:spPr/>
      <dgm:t>
        <a:bodyPr/>
        <a:lstStyle/>
        <a:p>
          <a:r>
            <a:rPr lang="zh-CN" altLang="en-US" sz="1800" b="0" dirty="0">
              <a:solidFill>
                <a:srgbClr val="0000FF"/>
              </a:solidFill>
              <a:latin typeface="Montserrat" panose="00000500000000000000" pitchFamily="2" charset="0"/>
              <a:ea typeface="微软雅黑 Light" panose="020B0502040204020203" pitchFamily="34" charset="-122"/>
            </a:rPr>
            <a:t>思路：</a:t>
          </a:r>
          <a:r>
            <a:rPr lang="zh-CN" altLang="en-US" sz="1800" b="0" dirty="0">
              <a:latin typeface="Montserrat" panose="00000500000000000000" pitchFamily="2" charset="0"/>
              <a:ea typeface="微软雅黑 Light" panose="020B0502040204020203" pitchFamily="34" charset="-122"/>
            </a:rPr>
            <a:t>在发生拥塞后，采取措施进行控制，</a:t>
          </a:r>
          <a:r>
            <a:rPr lang="zh-CN" altLang="en-US" sz="1800" b="0" dirty="0">
              <a:solidFill>
                <a:srgbClr val="0000FF"/>
              </a:solidFill>
              <a:latin typeface="Montserrat" panose="00000500000000000000" pitchFamily="2" charset="0"/>
              <a:ea typeface="微软雅黑 Light" panose="020B0502040204020203" pitchFamily="34" charset="-122"/>
            </a:rPr>
            <a:t>消除</a:t>
          </a:r>
          <a:r>
            <a:rPr lang="zh-CN" altLang="en-US" sz="1800" b="0" dirty="0">
              <a:latin typeface="Montserrat" panose="00000500000000000000" pitchFamily="2" charset="0"/>
              <a:ea typeface="微软雅黑 Light" panose="020B0502040204020203" pitchFamily="34" charset="-122"/>
            </a:rPr>
            <a:t>拥塞。</a:t>
          </a:r>
        </a:p>
      </dgm:t>
    </dgm:pt>
    <dgm:pt modelId="{8F3ECFA1-802E-4A72-BEC6-F40B249AD54A}" type="parTrans" cxnId="{AD39759F-59CA-49CB-B3FD-19EAB19B2916}">
      <dgm:prSet/>
      <dgm:spPr/>
      <dgm:t>
        <a:bodyPr/>
        <a:lstStyle/>
        <a:p>
          <a:endParaRPr lang="zh-CN" altLang="en-US">
            <a:latin typeface="Montserrat" panose="00000500000000000000" pitchFamily="2" charset="0"/>
            <a:ea typeface="微软雅黑 Light" panose="020B0502040204020203" pitchFamily="34" charset="-122"/>
          </a:endParaRPr>
        </a:p>
      </dgm:t>
    </dgm:pt>
    <dgm:pt modelId="{E88472DA-7723-4EBC-9681-94AC3B0DDFFF}" type="sibTrans" cxnId="{AD39759F-59CA-49CB-B3FD-19EAB19B2916}">
      <dgm:prSet/>
      <dgm:spPr/>
      <dgm:t>
        <a:bodyPr/>
        <a:lstStyle/>
        <a:p>
          <a:endParaRPr lang="zh-CN" altLang="en-US">
            <a:latin typeface="Montserrat" panose="00000500000000000000" pitchFamily="2" charset="0"/>
            <a:ea typeface="微软雅黑 Light" panose="020B0502040204020203" pitchFamily="34" charset="-122"/>
          </a:endParaRPr>
        </a:p>
      </dgm:t>
    </dgm:pt>
    <dgm:pt modelId="{654DBB23-7453-4B2A-8F48-11AC62514B72}">
      <dgm:prSet phldrT="[文本]" custT="1"/>
      <dgm:spPr/>
      <dgm:t>
        <a:bodyPr/>
        <a:lstStyle/>
        <a:p>
          <a:r>
            <a:rPr lang="zh-CN" altLang="en-US" sz="1800" b="0" dirty="0">
              <a:latin typeface="Montserrat" panose="00000500000000000000" pitchFamily="2" charset="0"/>
              <a:ea typeface="微软雅黑 Light" panose="020B0502040204020203" pitchFamily="34" charset="-122"/>
            </a:rPr>
            <a:t>但一旦整个系统运行起来，就不再中途进行改正了。</a:t>
          </a:r>
        </a:p>
      </dgm:t>
    </dgm:pt>
    <dgm:pt modelId="{4DDD3047-D58B-42B6-95AC-A7D9F23732F0}" type="parTrans" cxnId="{DE96F142-2113-4AC2-8084-749F805247C8}">
      <dgm:prSet/>
      <dgm:spPr/>
      <dgm:t>
        <a:bodyPr/>
        <a:lstStyle/>
        <a:p>
          <a:endParaRPr lang="zh-CN" altLang="en-US">
            <a:latin typeface="Montserrat" panose="00000500000000000000" pitchFamily="2" charset="0"/>
            <a:ea typeface="微软雅黑 Light" panose="020B0502040204020203" pitchFamily="34" charset="-122"/>
          </a:endParaRPr>
        </a:p>
      </dgm:t>
    </dgm:pt>
    <dgm:pt modelId="{DD57D3ED-98B7-4B38-92D2-CBFD5CB8FFB1}" type="sibTrans" cxnId="{DE96F142-2113-4AC2-8084-749F805247C8}">
      <dgm:prSet/>
      <dgm:spPr/>
      <dgm:t>
        <a:bodyPr/>
        <a:lstStyle/>
        <a:p>
          <a:endParaRPr lang="zh-CN" altLang="en-US">
            <a:latin typeface="Montserrat" panose="00000500000000000000" pitchFamily="2" charset="0"/>
            <a:ea typeface="微软雅黑 Light" panose="020B0502040204020203" pitchFamily="34" charset="-122"/>
          </a:endParaRPr>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DE96F142-2113-4AC2-8084-749F805247C8}" srcId="{4EE007B2-F612-44FB-B13F-E78B8586155B}" destId="{654DBB23-7453-4B2A-8F48-11AC62514B72}" srcOrd="2" destOrd="0" parTransId="{4DDD3047-D58B-42B6-95AC-A7D9F23732F0}" sibTransId="{DD57D3ED-98B7-4B38-92D2-CBFD5CB8FFB1}"/>
    <dgm:cxn modelId="{2D753E63-7497-41A4-B647-808C66FC660F}" type="presOf" srcId="{654DBB23-7453-4B2A-8F48-11AC62514B72}" destId="{72C5BA33-78B4-45DE-B9CA-22A272DDBE2C}" srcOrd="0" destOrd="2" presId="urn:microsoft.com/office/officeart/2005/8/layout/hList1"/>
    <dgm:cxn modelId="{CA711844-29BF-4DD6-B7FA-AAA9319B5888}" type="presOf" srcId="{C2448606-BF7E-4CD3-8BBC-E63E41446859}" destId="{72C5BA33-78B4-45DE-B9CA-22A272DDBE2C}" srcOrd="0" destOrd="1" presId="urn:microsoft.com/office/officeart/2005/8/layout/hList1"/>
    <dgm:cxn modelId="{D99E9A86-7A1F-44E7-B3D8-4ED992367D2C}" type="presOf" srcId="{710B3081-F341-4301-9185-BE738C183BBB}" destId="{72C5BA33-78B4-45DE-B9CA-22A272DDBE2C}" srcOrd="0" destOrd="0" presId="urn:microsoft.com/office/officeart/2005/8/layout/hList1"/>
    <dgm:cxn modelId="{AD39759F-59CA-49CB-B3FD-19EAB19B2916}" srcId="{DACD2956-BF18-4584-AF2D-3FD839777DF7}" destId="{238D7AE3-4A96-4FFA-8329-EDA2C3555B30}" srcOrd="2" destOrd="0" parTransId="{8F3ECFA1-802E-4A72-BEC6-F40B249AD54A}" sibTransId="{E88472DA-7723-4EBC-9681-94AC3B0DDFFF}"/>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1E143BAF-FC54-420B-AD62-63F0299DBDD9}" type="presOf" srcId="{238D7AE3-4A96-4FFA-8329-EDA2C3555B30}" destId="{AAB91EAD-75AE-4168-8A7F-B7A023AD8367}" srcOrd="0" destOrd="2" presId="urn:microsoft.com/office/officeart/2005/8/layout/hList1"/>
    <dgm:cxn modelId="{BF0778D1-7F52-47C1-883F-C7C199E99568}" type="presOf" srcId="{69230521-20F8-455C-9DE0-EB64591477B4}" destId="{AAB91EAD-75AE-4168-8A7F-B7A023AD8367}" srcOrd="0" destOrd="1" presId="urn:microsoft.com/office/officeart/2005/8/layout/hList1"/>
    <dgm:cxn modelId="{7A27A0D6-C7AD-41E7-9686-374209348154}" srcId="{4EE007B2-F612-44FB-B13F-E78B8586155B}" destId="{C2448606-BF7E-4CD3-8BBC-E63E41446859}" srcOrd="1" destOrd="0" parTransId="{2DDFBD46-B857-474E-8B27-CCB24E2F9B0D}" sibTransId="{C3B707A5-D44C-439A-8798-74A2B4D7342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06D3AEFD-1506-435F-AD4C-70B757C12748}" type="presOf" srcId="{7B38BB22-10D0-455B-AB19-4EC1F24B8A2F}" destId="{AAB91EAD-75AE-4168-8A7F-B7A023AD8367}" srcOrd="0" destOrd="0" presId="urn:microsoft.com/office/officeart/2005/8/layout/hList1"/>
    <dgm:cxn modelId="{68D7CDFF-D5B6-4B82-BCD9-4ADC99E5D786}" srcId="{DACD2956-BF18-4584-AF2D-3FD839777DF7}" destId="{69230521-20F8-455C-9DE0-EB64591477B4}" srcOrd="1" destOrd="0" parTransId="{12D5CF6D-3ECF-44C8-8A00-2243EEE11BB5}" sibTransId="{3125DBAA-2F9E-499F-A3BE-6A4DF87D05F3}"/>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dirty="0">
              <a:latin typeface="微软雅黑" panose="020B0503020204020204" pitchFamily="34" charset="-122"/>
              <a:ea typeface="微软雅黑" panose="020B0503020204020204" pitchFamily="34" charset="-122"/>
            </a:rPr>
            <a:t>收到 </a:t>
          </a:r>
          <a:r>
            <a:rPr lang="en-US" altLang="en-US" sz="1800" b="1" dirty="0">
              <a:latin typeface="微软雅黑" panose="020B0503020204020204" pitchFamily="34" charset="-122"/>
              <a:ea typeface="微软雅黑" panose="020B0503020204020204" pitchFamily="34" charset="-122"/>
            </a:rPr>
            <a:t>3 </a:t>
          </a:r>
          <a:r>
            <a:rPr lang="zh-CN" altLang="en-US" sz="1800" b="1" dirty="0">
              <a:latin typeface="微软雅黑" panose="020B0503020204020204" pitchFamily="34" charset="-122"/>
              <a:ea typeface="微软雅黑" panose="020B0503020204020204" pitchFamily="34" charset="-122"/>
            </a:rPr>
            <a:t>个重复的确认</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anose="020B0503020204020204" pitchFamily="34" charset="-122"/>
            <a:ea typeface="微软雅黑" panose="020B0503020204020204"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26273"/>
          <a:ext cx="3322842" cy="6912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拥塞控制</a:t>
          </a:r>
        </a:p>
      </dsp:txBody>
      <dsp:txXfrm>
        <a:off x="34" y="26273"/>
        <a:ext cx="3322842" cy="691200"/>
      </dsp:txXfrm>
    </dsp:sp>
    <dsp:sp modelId="{72C5BA33-78B4-45DE-B9CA-22A272DDBE2C}">
      <dsp:nvSpPr>
        <dsp:cNvPr id="0" name=""/>
        <dsp:cNvSpPr/>
      </dsp:nvSpPr>
      <dsp:spPr>
        <a:xfrm>
          <a:off x="34" y="717473"/>
          <a:ext cx="3322842" cy="270108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防止过多的数据注入到网络中，避免网络中的路由器或链路过载。</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dsp:txBody>
      <dsp:txXfrm>
        <a:off x="34" y="717473"/>
        <a:ext cx="3322842" cy="2701080"/>
      </dsp:txXfrm>
    </dsp:sp>
    <dsp:sp modelId="{3ACFDD6B-963A-45AA-AED6-29B2C66DA9EB}">
      <dsp:nvSpPr>
        <dsp:cNvPr id="0" name=""/>
        <dsp:cNvSpPr/>
      </dsp:nvSpPr>
      <dsp:spPr>
        <a:xfrm>
          <a:off x="3788074" y="26273"/>
          <a:ext cx="3322842" cy="6912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流量控制</a:t>
          </a:r>
        </a:p>
      </dsp:txBody>
      <dsp:txXfrm>
        <a:off x="3788074" y="26273"/>
        <a:ext cx="3322842" cy="691200"/>
      </dsp:txXfrm>
    </dsp:sp>
    <dsp:sp modelId="{AAB91EAD-75AE-4168-8A7F-B7A023AD8367}">
      <dsp:nvSpPr>
        <dsp:cNvPr id="0" name=""/>
        <dsp:cNvSpPr/>
      </dsp:nvSpPr>
      <dsp:spPr>
        <a:xfrm>
          <a:off x="3788074" y="717473"/>
          <a:ext cx="3322842" cy="2701080"/>
        </a:xfrm>
        <a:prstGeom prst="rect">
          <a:avLst/>
        </a:prstGeom>
        <a:no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抑制发送端发送数据的速率，以使接收端来得及接收。</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点对点通信量的控制，是个端到端的问题。</a:t>
          </a:r>
        </a:p>
      </dsp:txBody>
      <dsp:txXfrm>
        <a:off x="3788074" y="717473"/>
        <a:ext cx="3322842" cy="270108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28897"/>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开环控制</a:t>
          </a:r>
        </a:p>
      </dsp:txBody>
      <dsp:txXfrm>
        <a:off x="34" y="28897"/>
        <a:ext cx="3322842" cy="604800"/>
      </dsp:txXfrm>
    </dsp:sp>
    <dsp:sp modelId="{72C5BA33-78B4-45DE-B9CA-22A272DDBE2C}">
      <dsp:nvSpPr>
        <dsp:cNvPr id="0" name=""/>
        <dsp:cNvSpPr/>
      </dsp:nvSpPr>
      <dsp:spPr>
        <a:xfrm>
          <a:off x="34" y="633697"/>
          <a:ext cx="3322842" cy="2075220"/>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在设计网络时，事先</a:t>
          </a:r>
          <a:r>
            <a:rPr lang="zh-CN" altLang="en-US" sz="1800" b="0" kern="1200" dirty="0">
              <a:solidFill>
                <a:srgbClr val="C00000"/>
              </a:solidFill>
              <a:latin typeface="Montserrat" panose="00000500000000000000" pitchFamily="2" charset="0"/>
              <a:ea typeface="微软雅黑 Light" panose="020B0502040204020203" pitchFamily="34" charset="-122"/>
            </a:rPr>
            <a:t>考虑周全，</a:t>
          </a:r>
          <a:r>
            <a:rPr lang="zh-CN" altLang="en-US" sz="1800" b="0" kern="1200" dirty="0">
              <a:latin typeface="Montserrat" panose="00000500000000000000" pitchFamily="2" charset="0"/>
              <a:ea typeface="微软雅黑 Light" panose="020B0502040204020203" pitchFamily="34" charset="-122"/>
            </a:rPr>
            <a:t>力求工作时不发生拥塞。</a:t>
          </a:r>
        </a:p>
        <a:p>
          <a:pPr marL="171450" lvl="1" indent="-171450" algn="l" defTabSz="800100">
            <a:lnSpc>
              <a:spcPct val="90000"/>
            </a:lnSpc>
            <a:spcBef>
              <a:spcPct val="0"/>
            </a:spcBef>
            <a:spcAft>
              <a:spcPct val="15000"/>
            </a:spcAft>
            <a:buChar char="•"/>
          </a:pPr>
          <a:r>
            <a:rPr lang="zh-CN" altLang="en-US" sz="1800" b="0" kern="1200" dirty="0">
              <a:solidFill>
                <a:srgbClr val="0000FF"/>
              </a:solidFill>
              <a:latin typeface="Montserrat" panose="00000500000000000000" pitchFamily="2" charset="0"/>
              <a:ea typeface="微软雅黑 Light" panose="020B0502040204020203" pitchFamily="34" charset="-122"/>
            </a:rPr>
            <a:t>思路：</a:t>
          </a:r>
          <a:r>
            <a:rPr lang="zh-CN" altLang="en-US" sz="1800" b="0" kern="1200" dirty="0">
              <a:latin typeface="Montserrat" panose="00000500000000000000" pitchFamily="2" charset="0"/>
              <a:ea typeface="微软雅黑 Light" panose="020B0502040204020203" pitchFamily="34" charset="-122"/>
            </a:rPr>
            <a:t>力争</a:t>
          </a:r>
          <a:r>
            <a:rPr lang="zh-CN" altLang="en-US" sz="1800" b="0" kern="1200" dirty="0">
              <a:solidFill>
                <a:srgbClr val="0000FF"/>
              </a:solidFill>
              <a:latin typeface="Montserrat" panose="00000500000000000000" pitchFamily="2" charset="0"/>
              <a:ea typeface="微软雅黑 Light" panose="020B0502040204020203" pitchFamily="34" charset="-122"/>
            </a:rPr>
            <a:t>避免</a:t>
          </a:r>
          <a:r>
            <a:rPr lang="zh-CN" altLang="en-US" sz="1800" b="0" kern="1200" dirty="0">
              <a:latin typeface="Montserrat" panose="00000500000000000000" pitchFamily="2" charset="0"/>
              <a:ea typeface="微软雅黑 Light" panose="020B0502040204020203" pitchFamily="34" charset="-122"/>
            </a:rPr>
            <a:t>发生拥塞。</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但一旦整个系统运行起来，就不再中途进行改正了。</a:t>
          </a:r>
        </a:p>
      </dsp:txBody>
      <dsp:txXfrm>
        <a:off x="34" y="633697"/>
        <a:ext cx="3322842" cy="2075220"/>
      </dsp:txXfrm>
    </dsp:sp>
    <dsp:sp modelId="{3ACFDD6B-963A-45AA-AED6-29B2C66DA9EB}">
      <dsp:nvSpPr>
        <dsp:cNvPr id="0" name=""/>
        <dsp:cNvSpPr/>
      </dsp:nvSpPr>
      <dsp:spPr>
        <a:xfrm>
          <a:off x="3788074" y="28897"/>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闭环控制</a:t>
          </a:r>
        </a:p>
      </dsp:txBody>
      <dsp:txXfrm>
        <a:off x="3788074" y="28897"/>
        <a:ext cx="3322842" cy="604800"/>
      </dsp:txXfrm>
    </dsp:sp>
    <dsp:sp modelId="{AAB91EAD-75AE-4168-8A7F-B7A023AD8367}">
      <dsp:nvSpPr>
        <dsp:cNvPr id="0" name=""/>
        <dsp:cNvSpPr/>
      </dsp:nvSpPr>
      <dsp:spPr>
        <a:xfrm>
          <a:off x="3788074" y="633697"/>
          <a:ext cx="3322842" cy="2075220"/>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基于反馈环路的概念。</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根据网络</a:t>
          </a:r>
          <a:r>
            <a:rPr lang="zh-CN" altLang="en-US" sz="1800" b="0" kern="1200" dirty="0">
              <a:solidFill>
                <a:srgbClr val="C00000"/>
              </a:solidFill>
              <a:latin typeface="Montserrat" panose="00000500000000000000" pitchFamily="2" charset="0"/>
              <a:ea typeface="微软雅黑 Light" panose="020B0502040204020203" pitchFamily="34" charset="-122"/>
            </a:rPr>
            <a:t>当前运行状态</a:t>
          </a:r>
          <a:r>
            <a:rPr lang="zh-CN" altLang="en-US" sz="1800" b="0" kern="1200" dirty="0">
              <a:latin typeface="Montserrat" panose="00000500000000000000" pitchFamily="2" charset="0"/>
              <a:ea typeface="微软雅黑 Light" panose="020B0502040204020203" pitchFamily="34" charset="-122"/>
            </a:rPr>
            <a:t>采取相应控制措施。</a:t>
          </a:r>
        </a:p>
        <a:p>
          <a:pPr marL="171450" lvl="1" indent="-171450" algn="l" defTabSz="800100">
            <a:lnSpc>
              <a:spcPct val="90000"/>
            </a:lnSpc>
            <a:spcBef>
              <a:spcPct val="0"/>
            </a:spcBef>
            <a:spcAft>
              <a:spcPct val="15000"/>
            </a:spcAft>
            <a:buChar char="•"/>
          </a:pPr>
          <a:r>
            <a:rPr lang="zh-CN" altLang="en-US" sz="1800" b="0" kern="1200" dirty="0">
              <a:solidFill>
                <a:srgbClr val="0000FF"/>
              </a:solidFill>
              <a:latin typeface="Montserrat" panose="00000500000000000000" pitchFamily="2" charset="0"/>
              <a:ea typeface="微软雅黑 Light" panose="020B0502040204020203" pitchFamily="34" charset="-122"/>
            </a:rPr>
            <a:t>思路：</a:t>
          </a:r>
          <a:r>
            <a:rPr lang="zh-CN" altLang="en-US" sz="1800" b="0" kern="1200" dirty="0">
              <a:latin typeface="Montserrat" panose="00000500000000000000" pitchFamily="2" charset="0"/>
              <a:ea typeface="微软雅黑 Light" panose="020B0502040204020203" pitchFamily="34" charset="-122"/>
            </a:rPr>
            <a:t>在发生拥塞后，采取措施进行控制，</a:t>
          </a:r>
          <a:r>
            <a:rPr lang="zh-CN" altLang="en-US" sz="1800" b="0" kern="1200" dirty="0">
              <a:solidFill>
                <a:srgbClr val="0000FF"/>
              </a:solidFill>
              <a:latin typeface="Montserrat" panose="00000500000000000000" pitchFamily="2" charset="0"/>
              <a:ea typeface="微软雅黑 Light" panose="020B0502040204020203" pitchFamily="34" charset="-122"/>
            </a:rPr>
            <a:t>消除</a:t>
          </a:r>
          <a:r>
            <a:rPr lang="zh-CN" altLang="en-US" sz="1800" b="0" kern="1200" dirty="0">
              <a:latin typeface="Montserrat" panose="00000500000000000000" pitchFamily="2" charset="0"/>
              <a:ea typeface="微软雅黑 Light" panose="020B0502040204020203" pitchFamily="34" charset="-122"/>
            </a:rPr>
            <a:t>拥塞。</a:t>
          </a:r>
        </a:p>
      </dsp:txBody>
      <dsp:txXfrm>
        <a:off x="3788074" y="633697"/>
        <a:ext cx="3322842" cy="207522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收到 </a:t>
          </a:r>
          <a:r>
            <a:rPr lang="en-US" altLang="en-US" sz="1800" b="1" kern="1200" dirty="0">
              <a:latin typeface="微软雅黑" panose="020B0503020204020204" pitchFamily="34" charset="-122"/>
              <a:ea typeface="微软雅黑" panose="020B0503020204020204" pitchFamily="34" charset="-122"/>
            </a:rPr>
            <a:t>3 </a:t>
          </a:r>
          <a:r>
            <a:rPr lang="zh-CN" altLang="en-US" sz="1800" b="1" kern="1200" dirty="0">
              <a:latin typeface="微软雅黑" panose="020B0503020204020204" pitchFamily="34" charset="-122"/>
              <a:ea typeface="微软雅黑" panose="020B0503020204020204" pitchFamily="34" charset="-122"/>
            </a:rPr>
            <a:t>个重复的确认</a:t>
          </a:r>
        </a:p>
      </dsp:txBody>
      <dsp:txXfrm>
        <a:off x="37508" y="844296"/>
        <a:ext cx="2599772" cy="693335"/>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2025/11/21</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61</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93</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94</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95</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105</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108</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140</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193</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5.wmf"/></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45.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3.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5.xml"/><Relationship Id="rId5" Type="http://schemas.openxmlformats.org/officeDocument/2006/relationships/image" Target="../media/image14.svg"/><Relationship Id="rId4" Type="http://schemas.openxmlformats.org/officeDocument/2006/relationships/image" Target="../media/image13.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prstGeom prst="rect">
            <a:avLst/>
          </a:prstGeom>
        </p:spPr>
        <p:txBody>
          <a:bodyPr/>
          <a:lstStyle/>
          <a:p>
            <a:r>
              <a:rPr lang="zh-CN" altLang="en-US" dirty="0"/>
              <a:t>计算机网络体系结构</a:t>
            </a:r>
          </a:p>
        </p:txBody>
      </p:sp>
      <p:sp>
        <p:nvSpPr>
          <p:cNvPr id="4" name="立方体 3">
            <a:extLst>
              <a:ext uri="{FF2B5EF4-FFF2-40B4-BE49-F238E27FC236}">
                <a16:creationId xmlns:a16="http://schemas.microsoft.com/office/drawing/2014/main" id="{D33CA743-054A-BE5D-BDE6-CFC7F93B8757}"/>
              </a:ext>
            </a:extLst>
          </p:cNvPr>
          <p:cNvSpPr/>
          <p:nvPr/>
        </p:nvSpPr>
        <p:spPr>
          <a:xfrm>
            <a:off x="5983013"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2122B32A-D0EF-6AB3-9A57-600FD3C24511}"/>
              </a:ext>
            </a:extLst>
          </p:cNvPr>
          <p:cNvSpPr/>
          <p:nvPr/>
        </p:nvSpPr>
        <p:spPr>
          <a:xfrm>
            <a:off x="5983013"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E7DD729-B989-53E1-3DAF-EE1B6E466102}"/>
              </a:ext>
            </a:extLst>
          </p:cNvPr>
          <p:cNvSpPr/>
          <p:nvPr/>
        </p:nvSpPr>
        <p:spPr>
          <a:xfrm>
            <a:off x="5983013"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70F1386D-C583-C301-A069-D436D5331999}"/>
              </a:ext>
            </a:extLst>
          </p:cNvPr>
          <p:cNvSpPr/>
          <p:nvPr/>
        </p:nvSpPr>
        <p:spPr>
          <a:xfrm>
            <a:off x="5983013"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8BB8BAB7-B7F0-4C81-03AA-FEAB21ABD62C}"/>
              </a:ext>
            </a:extLst>
          </p:cNvPr>
          <p:cNvSpPr/>
          <p:nvPr/>
        </p:nvSpPr>
        <p:spPr>
          <a:xfrm>
            <a:off x="5983013"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Text Box 13">
            <a:extLst>
              <a:ext uri="{FF2B5EF4-FFF2-40B4-BE49-F238E27FC236}">
                <a16:creationId xmlns:a16="http://schemas.microsoft.com/office/drawing/2014/main" id="{C2843937-7961-B922-1CB5-074F9BCDF605}"/>
              </a:ext>
            </a:extLst>
          </p:cNvPr>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1" name="Text Box 12">
            <a:extLst>
              <a:ext uri="{FF2B5EF4-FFF2-40B4-BE49-F238E27FC236}">
                <a16:creationId xmlns:a16="http://schemas.microsoft.com/office/drawing/2014/main" id="{E16D3BF7-6063-B1A7-991D-60D892FD6962}"/>
              </a:ext>
            </a:extLst>
          </p:cNvPr>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2" name="Text Box 113">
            <a:extLst>
              <a:ext uri="{FF2B5EF4-FFF2-40B4-BE49-F238E27FC236}">
                <a16:creationId xmlns:a16="http://schemas.microsoft.com/office/drawing/2014/main" id="{837308FE-E63D-4269-92B0-1B2B882AAF44}"/>
              </a:ext>
            </a:extLst>
          </p:cNvPr>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14" name="立方体 13">
            <a:extLst>
              <a:ext uri="{FF2B5EF4-FFF2-40B4-BE49-F238E27FC236}">
                <a16:creationId xmlns:a16="http://schemas.microsoft.com/office/drawing/2014/main" id="{99B4904F-D501-0CC2-29E9-A9CB4C58ABA4}"/>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1E0D48EC-AC35-E89F-F9BD-9F05F9FEBC54}"/>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61393E26-548A-5A52-C3BE-B1102CA9A552}"/>
              </a:ext>
            </a:extLst>
          </p:cNvPr>
          <p:cNvSpPr/>
          <p:nvPr/>
        </p:nvSpPr>
        <p:spPr>
          <a:xfrm>
            <a:off x="1079467"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A952F0B2-34BB-EA05-5E70-9E12A999BE41}"/>
              </a:ext>
            </a:extLst>
          </p:cNvPr>
          <p:cNvSpPr/>
          <p:nvPr/>
        </p:nvSpPr>
        <p:spPr>
          <a:xfrm>
            <a:off x="1079467"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1ED0A4D-2001-0B4E-22E8-CB8C747EECF9}"/>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5A581EAB-A311-FE5D-C43C-D28A3C956571}"/>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DFC7F83B-4C87-7CC3-AF15-F2BE53F16E92}"/>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2" name="立方体 21">
            <a:extLst>
              <a:ext uri="{FF2B5EF4-FFF2-40B4-BE49-F238E27FC236}">
                <a16:creationId xmlns:a16="http://schemas.microsoft.com/office/drawing/2014/main" id="{88DB8F8C-1AEF-52E0-A864-6A2A96404695}"/>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3" name="立方体 22">
            <a:extLst>
              <a:ext uri="{FF2B5EF4-FFF2-40B4-BE49-F238E27FC236}">
                <a16:creationId xmlns:a16="http://schemas.microsoft.com/office/drawing/2014/main" id="{AAAD7765-521D-342F-0D1E-89576F612806}"/>
              </a:ext>
            </a:extLst>
          </p:cNvPr>
          <p:cNvSpPr/>
          <p:nvPr/>
        </p:nvSpPr>
        <p:spPr>
          <a:xfrm>
            <a:off x="3531240"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4" name="立方体 23">
            <a:extLst>
              <a:ext uri="{FF2B5EF4-FFF2-40B4-BE49-F238E27FC236}">
                <a16:creationId xmlns:a16="http://schemas.microsoft.com/office/drawing/2014/main" id="{9D46417E-E369-91F5-47BA-BF180625BA60}"/>
              </a:ext>
            </a:extLst>
          </p:cNvPr>
          <p:cNvSpPr/>
          <p:nvPr/>
        </p:nvSpPr>
        <p:spPr>
          <a:xfrm>
            <a:off x="3531240"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p>
        </p:txBody>
      </p:sp>
      <p:sp>
        <p:nvSpPr>
          <p:cNvPr id="25" name="立方体 24">
            <a:extLst>
              <a:ext uri="{FF2B5EF4-FFF2-40B4-BE49-F238E27FC236}">
                <a16:creationId xmlns:a16="http://schemas.microsoft.com/office/drawing/2014/main" id="{67C18096-DE37-8429-A913-ECF73128F034}"/>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圆角 1">
            <a:extLst>
              <a:ext uri="{FF2B5EF4-FFF2-40B4-BE49-F238E27FC236}">
                <a16:creationId xmlns:a16="http://schemas.microsoft.com/office/drawing/2014/main" id="{EA1617AA-3BC5-A6C2-7966-463E2BC3AC46}"/>
              </a:ext>
            </a:extLst>
          </p:cNvPr>
          <p:cNvSpPr/>
          <p:nvPr/>
        </p:nvSpPr>
        <p:spPr>
          <a:xfrm>
            <a:off x="4324401" y="874268"/>
            <a:ext cx="108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3" name="矩形: 圆角 2">
            <a:extLst>
              <a:ext uri="{FF2B5EF4-FFF2-40B4-BE49-F238E27FC236}">
                <a16:creationId xmlns:a16="http://schemas.microsoft.com/office/drawing/2014/main" id="{9D801BA9-9C6A-24D0-E174-E3604316CB49}"/>
              </a:ext>
            </a:extLst>
          </p:cNvPr>
          <p:cNvSpPr/>
          <p:nvPr/>
        </p:nvSpPr>
        <p:spPr>
          <a:xfrm>
            <a:off x="5650407" y="3819032"/>
            <a:ext cx="174345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Congestion  Control</a:t>
            </a:r>
            <a:endParaRPr lang="zh-CN" altLang="en-US" sz="1200" dirty="0">
              <a:solidFill>
                <a:schemeClr val="tx1"/>
              </a:solidFill>
              <a:latin typeface="Montserrat" panose="00000500000000000000" pitchFamily="2" charset="0"/>
            </a:endParaRPr>
          </a:p>
        </p:txBody>
      </p:sp>
      <p:sp>
        <p:nvSpPr>
          <p:cNvPr id="4" name="矩形: 圆角 3">
            <a:extLst>
              <a:ext uri="{FF2B5EF4-FFF2-40B4-BE49-F238E27FC236}">
                <a16:creationId xmlns:a16="http://schemas.microsoft.com/office/drawing/2014/main" id="{B7D33566-285E-1CCB-5E98-A8DFB5DC5691}"/>
              </a:ext>
            </a:extLst>
          </p:cNvPr>
          <p:cNvSpPr/>
          <p:nvPr/>
        </p:nvSpPr>
        <p:spPr>
          <a:xfrm>
            <a:off x="5650407" y="4133081"/>
            <a:ext cx="1832473"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Transmission Control</a:t>
            </a:r>
            <a:endParaRPr lang="zh-CN" altLang="en-US" sz="1200" dirty="0">
              <a:solidFill>
                <a:schemeClr val="tx1"/>
              </a:solidFill>
              <a:latin typeface="Montserrat" panose="00000500000000000000" pitchFamily="2" charset="0"/>
            </a:endParaRPr>
          </a:p>
        </p:txBody>
      </p:sp>
      <p:cxnSp>
        <p:nvCxnSpPr>
          <p:cNvPr id="10" name="连接符: 曲线 9">
            <a:extLst>
              <a:ext uri="{FF2B5EF4-FFF2-40B4-BE49-F238E27FC236}">
                <a16:creationId xmlns:a16="http://schemas.microsoft.com/office/drawing/2014/main" id="{56D54B0A-0C00-1FA5-AA24-AB208E9F3E39}"/>
              </a:ext>
            </a:extLst>
          </p:cNvPr>
          <p:cNvCxnSpPr>
            <a:cxnSpLocks/>
            <a:stCxn id="16" idx="3"/>
            <a:endCxn id="4" idx="1"/>
          </p:cNvCxnSpPr>
          <p:nvPr/>
        </p:nvCxnSpPr>
        <p:spPr>
          <a:xfrm>
            <a:off x="5404401" y="3344167"/>
            <a:ext cx="246006" cy="942148"/>
          </a:xfrm>
          <a:prstGeom prst="curvedConnector3">
            <a:avLst>
              <a:gd name="adj1" fmla="val 50000"/>
            </a:avLst>
          </a:prstGeom>
          <a:ln w="6350">
            <a:solidFill>
              <a:srgbClr val="E46C0A"/>
            </a:solidFill>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AD181E9B-9708-8757-6641-0EC70B8857D3}"/>
              </a:ext>
            </a:extLst>
          </p:cNvPr>
          <p:cNvSpPr/>
          <p:nvPr/>
        </p:nvSpPr>
        <p:spPr>
          <a:xfrm>
            <a:off x="5650407" y="3504983"/>
            <a:ext cx="123073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Flow Control</a:t>
            </a:r>
            <a:endParaRPr lang="zh-CN" altLang="en-US" sz="1200" dirty="0">
              <a:solidFill>
                <a:schemeClr val="tx1"/>
              </a:solidFill>
              <a:latin typeface="Montserrat" panose="00000500000000000000" pitchFamily="2" charset="0"/>
            </a:endParaRPr>
          </a:p>
        </p:txBody>
      </p:sp>
      <p:cxnSp>
        <p:nvCxnSpPr>
          <p:cNvPr id="14" name="连接符: 曲线 13">
            <a:extLst>
              <a:ext uri="{FF2B5EF4-FFF2-40B4-BE49-F238E27FC236}">
                <a16:creationId xmlns:a16="http://schemas.microsoft.com/office/drawing/2014/main" id="{94161A20-9CEA-26C5-90F1-7284ECA5C704}"/>
              </a:ext>
            </a:extLst>
          </p:cNvPr>
          <p:cNvCxnSpPr>
            <a:cxnSpLocks/>
            <a:stCxn id="40" idx="1"/>
            <a:endCxn id="16" idx="3"/>
          </p:cNvCxnSpPr>
          <p:nvPr/>
        </p:nvCxnSpPr>
        <p:spPr>
          <a:xfrm rot="10800000" flipV="1">
            <a:off x="5404401" y="2402021"/>
            <a:ext cx="246006" cy="942146"/>
          </a:xfrm>
          <a:prstGeom prst="curvedConnector3">
            <a:avLst>
              <a:gd name="adj1" fmla="val 50000"/>
            </a:avLst>
          </a:prstGeom>
          <a:ln w="6350">
            <a:solidFill>
              <a:srgbClr val="E46C0A"/>
            </a:solidFill>
          </a:ln>
        </p:spPr>
        <p:style>
          <a:lnRef idx="1">
            <a:schemeClr val="accent1"/>
          </a:lnRef>
          <a:fillRef idx="0">
            <a:schemeClr val="accent1"/>
          </a:fillRef>
          <a:effectRef idx="0">
            <a:schemeClr val="accent1"/>
          </a:effectRef>
          <a:fontRef idx="minor">
            <a:schemeClr val="tx1"/>
          </a:fontRef>
        </p:style>
      </p:cxnSp>
      <p:sp>
        <p:nvSpPr>
          <p:cNvPr id="36" name="矩形: 圆角 35">
            <a:extLst>
              <a:ext uri="{FF2B5EF4-FFF2-40B4-BE49-F238E27FC236}">
                <a16:creationId xmlns:a16="http://schemas.microsoft.com/office/drawing/2014/main" id="{C6587821-DD92-9679-7756-3E8C2C8D118E}"/>
              </a:ext>
            </a:extLst>
          </p:cNvPr>
          <p:cNvSpPr/>
          <p:nvPr/>
        </p:nvSpPr>
        <p:spPr>
          <a:xfrm>
            <a:off x="2600845" y="2158243"/>
            <a:ext cx="1440000" cy="360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Transport Layer</a:t>
            </a:r>
            <a:endParaRPr lang="zh-CN" altLang="en-US" sz="1200" dirty="0">
              <a:latin typeface="Montserrat" panose="00000500000000000000" pitchFamily="2" charset="0"/>
              <a:ea typeface="微软雅黑" panose="020B0503020204020204" pitchFamily="34" charset="-122"/>
            </a:endParaRPr>
          </a:p>
        </p:txBody>
      </p:sp>
      <p:cxnSp>
        <p:nvCxnSpPr>
          <p:cNvPr id="42" name="连接符: 曲线 41">
            <a:extLst>
              <a:ext uri="{FF2B5EF4-FFF2-40B4-BE49-F238E27FC236}">
                <a16:creationId xmlns:a16="http://schemas.microsoft.com/office/drawing/2014/main" id="{6589FE98-C76F-3ED9-8AB2-A810BAC61631}"/>
              </a:ext>
            </a:extLst>
          </p:cNvPr>
          <p:cNvCxnSpPr>
            <a:cxnSpLocks/>
            <a:stCxn id="36" idx="3"/>
            <a:endCxn id="2" idx="1"/>
          </p:cNvCxnSpPr>
          <p:nvPr/>
        </p:nvCxnSpPr>
        <p:spPr>
          <a:xfrm flipV="1">
            <a:off x="4040845" y="1018268"/>
            <a:ext cx="283556" cy="1319975"/>
          </a:xfrm>
          <a:prstGeom prst="curvedConnector3">
            <a:avLst>
              <a:gd name="adj1" fmla="val 50000"/>
            </a:avLst>
          </a:prstGeom>
          <a:ln>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C4F8D70D-848F-8E10-57D5-0246D0F22858}"/>
              </a:ext>
            </a:extLst>
          </p:cNvPr>
          <p:cNvSpPr/>
          <p:nvPr/>
        </p:nvSpPr>
        <p:spPr>
          <a:xfrm>
            <a:off x="4324401" y="3200167"/>
            <a:ext cx="1080000" cy="288000"/>
          </a:xfrm>
          <a:prstGeom prst="roundRect">
            <a:avLst/>
          </a:prstGeom>
          <a:solidFill>
            <a:schemeClr val="accent6">
              <a:lumMod val="7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TCP</a:t>
            </a:r>
            <a:endParaRPr lang="zh-CN" altLang="en-US" sz="1200" dirty="0">
              <a:latin typeface="Montserrat" panose="00000500000000000000" pitchFamily="2" charset="0"/>
            </a:endParaRPr>
          </a:p>
        </p:txBody>
      </p:sp>
      <p:sp>
        <p:nvSpPr>
          <p:cNvPr id="19" name="矩形: 圆角 18">
            <a:extLst>
              <a:ext uri="{FF2B5EF4-FFF2-40B4-BE49-F238E27FC236}">
                <a16:creationId xmlns:a16="http://schemas.microsoft.com/office/drawing/2014/main" id="{81530229-6710-AE17-7125-34E7C102D265}"/>
              </a:ext>
            </a:extLst>
          </p:cNvPr>
          <p:cNvSpPr/>
          <p:nvPr/>
        </p:nvSpPr>
        <p:spPr>
          <a:xfrm>
            <a:off x="4324401" y="1629922"/>
            <a:ext cx="108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cxnSp>
        <p:nvCxnSpPr>
          <p:cNvPr id="22" name="连接符: 曲线 21">
            <a:extLst>
              <a:ext uri="{FF2B5EF4-FFF2-40B4-BE49-F238E27FC236}">
                <a16:creationId xmlns:a16="http://schemas.microsoft.com/office/drawing/2014/main" id="{983C1AC8-3735-FBF8-1D52-F46340D06312}"/>
              </a:ext>
            </a:extLst>
          </p:cNvPr>
          <p:cNvCxnSpPr>
            <a:cxnSpLocks/>
            <a:stCxn id="36" idx="3"/>
            <a:endCxn id="19" idx="1"/>
          </p:cNvCxnSpPr>
          <p:nvPr/>
        </p:nvCxnSpPr>
        <p:spPr>
          <a:xfrm flipV="1">
            <a:off x="4040845" y="1773922"/>
            <a:ext cx="283556" cy="564321"/>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31C4FEB9-FBBB-890B-3160-A38155D0F51D}"/>
              </a:ext>
            </a:extLst>
          </p:cNvPr>
          <p:cNvSpPr txBox="1"/>
          <p:nvPr/>
        </p:nvSpPr>
        <p:spPr>
          <a:xfrm>
            <a:off x="5650407" y="737478"/>
            <a:ext cx="957313" cy="276999"/>
          </a:xfrm>
          <a:prstGeom prst="rect">
            <a:avLst/>
          </a:prstGeom>
          <a:noFill/>
        </p:spPr>
        <p:txBody>
          <a:bodyPr wrap="none" rtlCol="0">
            <a:spAutoFit/>
          </a:bodyPr>
          <a:lstStyle/>
          <a:p>
            <a:r>
              <a:rPr lang="en-US" altLang="zh-CN" sz="1200" dirty="0">
                <a:latin typeface="Montserrat" panose="00000500000000000000" pitchFamily="2" charset="0"/>
              </a:rPr>
              <a:t>Functions</a:t>
            </a:r>
            <a:endParaRPr lang="zh-CN" altLang="en-US" sz="1200" dirty="0">
              <a:latin typeface="Montserrat" panose="00000500000000000000" pitchFamily="2" charset="0"/>
            </a:endParaRPr>
          </a:p>
        </p:txBody>
      </p:sp>
      <p:sp>
        <p:nvSpPr>
          <p:cNvPr id="11" name="文本框 10">
            <a:extLst>
              <a:ext uri="{FF2B5EF4-FFF2-40B4-BE49-F238E27FC236}">
                <a16:creationId xmlns:a16="http://schemas.microsoft.com/office/drawing/2014/main" id="{C8975B58-284E-2BCD-EE8C-8DA80EA195B8}"/>
              </a:ext>
            </a:extLst>
          </p:cNvPr>
          <p:cNvSpPr txBox="1"/>
          <p:nvPr/>
        </p:nvSpPr>
        <p:spPr>
          <a:xfrm>
            <a:off x="5650407" y="1022059"/>
            <a:ext cx="1197764" cy="276999"/>
          </a:xfrm>
          <a:prstGeom prst="rect">
            <a:avLst/>
          </a:prstGeom>
          <a:noFill/>
        </p:spPr>
        <p:txBody>
          <a:bodyPr wrap="none" rtlCol="0">
            <a:spAutoFit/>
          </a:bodyPr>
          <a:lstStyle/>
          <a:p>
            <a:r>
              <a:rPr lang="en-US" altLang="zh-CN" sz="1200" dirty="0">
                <a:latin typeface="Montserrat" panose="00000500000000000000" pitchFamily="2" charset="0"/>
              </a:rPr>
              <a:t>Classification</a:t>
            </a:r>
            <a:endParaRPr lang="zh-CN" altLang="en-US" sz="1200" dirty="0">
              <a:latin typeface="Montserrat" panose="00000500000000000000" pitchFamily="2" charset="0"/>
            </a:endParaRPr>
          </a:p>
        </p:txBody>
      </p:sp>
      <p:cxnSp>
        <p:nvCxnSpPr>
          <p:cNvPr id="12" name="连接符: 曲线 11">
            <a:extLst>
              <a:ext uri="{FF2B5EF4-FFF2-40B4-BE49-F238E27FC236}">
                <a16:creationId xmlns:a16="http://schemas.microsoft.com/office/drawing/2014/main" id="{B34D95B4-6834-6852-CCCB-C6AB9D5FBA50}"/>
              </a:ext>
            </a:extLst>
          </p:cNvPr>
          <p:cNvCxnSpPr>
            <a:cxnSpLocks/>
            <a:stCxn id="2" idx="3"/>
            <a:endCxn id="7" idx="1"/>
          </p:cNvCxnSpPr>
          <p:nvPr/>
        </p:nvCxnSpPr>
        <p:spPr>
          <a:xfrm flipV="1">
            <a:off x="5404401" y="875978"/>
            <a:ext cx="246006" cy="142290"/>
          </a:xfrm>
          <a:prstGeom prst="curvedConnector3">
            <a:avLst>
              <a:gd name="adj1" fmla="val 50000"/>
            </a:avLst>
          </a:prstGeom>
          <a:ln>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连接符: 曲线 19">
            <a:extLst>
              <a:ext uri="{FF2B5EF4-FFF2-40B4-BE49-F238E27FC236}">
                <a16:creationId xmlns:a16="http://schemas.microsoft.com/office/drawing/2014/main" id="{1B496FC4-39F6-AE00-724D-4ED7F635417B}"/>
              </a:ext>
            </a:extLst>
          </p:cNvPr>
          <p:cNvCxnSpPr>
            <a:cxnSpLocks/>
            <a:stCxn id="2" idx="3"/>
            <a:endCxn id="11" idx="1"/>
          </p:cNvCxnSpPr>
          <p:nvPr/>
        </p:nvCxnSpPr>
        <p:spPr>
          <a:xfrm>
            <a:off x="5404401" y="1018268"/>
            <a:ext cx="246006" cy="142291"/>
          </a:xfrm>
          <a:prstGeom prst="curvedConnector3">
            <a:avLst>
              <a:gd name="adj1" fmla="val 50000"/>
            </a:avLst>
          </a:prstGeom>
          <a:ln>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连接符: 曲线 23">
            <a:extLst>
              <a:ext uri="{FF2B5EF4-FFF2-40B4-BE49-F238E27FC236}">
                <a16:creationId xmlns:a16="http://schemas.microsoft.com/office/drawing/2014/main" id="{3DA28828-58BF-9B1A-291D-0957A943AB17}"/>
              </a:ext>
            </a:extLst>
          </p:cNvPr>
          <p:cNvCxnSpPr>
            <a:cxnSpLocks/>
            <a:stCxn id="36" idx="3"/>
            <a:endCxn id="16" idx="1"/>
          </p:cNvCxnSpPr>
          <p:nvPr/>
        </p:nvCxnSpPr>
        <p:spPr>
          <a:xfrm>
            <a:off x="4040845" y="2338243"/>
            <a:ext cx="283556" cy="1005924"/>
          </a:xfrm>
          <a:prstGeom prst="curvedConnector3">
            <a:avLst>
              <a:gd name="adj1" fmla="val 50000"/>
            </a:avLst>
          </a:prstGeom>
          <a:ln w="6350">
            <a:solidFill>
              <a:srgbClr val="E46C0A"/>
            </a:solidFill>
          </a:ln>
        </p:spPr>
        <p:style>
          <a:lnRef idx="1">
            <a:schemeClr val="accent1"/>
          </a:lnRef>
          <a:fillRef idx="0">
            <a:schemeClr val="accent1"/>
          </a:fillRef>
          <a:effectRef idx="0">
            <a:schemeClr val="accent1"/>
          </a:effectRef>
          <a:fontRef idx="minor">
            <a:schemeClr val="tx1"/>
          </a:fontRef>
        </p:style>
      </p:cxnSp>
      <p:sp>
        <p:nvSpPr>
          <p:cNvPr id="5" name="矩形: 圆角 4">
            <a:extLst>
              <a:ext uri="{FF2B5EF4-FFF2-40B4-BE49-F238E27FC236}">
                <a16:creationId xmlns:a16="http://schemas.microsoft.com/office/drawing/2014/main" id="{905996E1-56AA-82E7-6CF1-E2487C38B700}"/>
              </a:ext>
            </a:extLst>
          </p:cNvPr>
          <p:cNvSpPr/>
          <p:nvPr/>
        </p:nvSpPr>
        <p:spPr>
          <a:xfrm>
            <a:off x="5650407" y="1306640"/>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27" name="矩形: 圆角 26">
            <a:extLst>
              <a:ext uri="{FF2B5EF4-FFF2-40B4-BE49-F238E27FC236}">
                <a16:creationId xmlns:a16="http://schemas.microsoft.com/office/drawing/2014/main" id="{898AEF52-F490-0F36-A470-B464CBBB3A09}"/>
              </a:ext>
            </a:extLst>
          </p:cNvPr>
          <p:cNvSpPr/>
          <p:nvPr/>
        </p:nvSpPr>
        <p:spPr>
          <a:xfrm>
            <a:off x="5650407" y="1934738"/>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30" name="矩形: 圆角 29">
            <a:extLst>
              <a:ext uri="{FF2B5EF4-FFF2-40B4-BE49-F238E27FC236}">
                <a16:creationId xmlns:a16="http://schemas.microsoft.com/office/drawing/2014/main" id="{ED9F41D9-8A87-74D1-8F6F-37331E80A992}"/>
              </a:ext>
            </a:extLst>
          </p:cNvPr>
          <p:cNvSpPr/>
          <p:nvPr/>
        </p:nvSpPr>
        <p:spPr>
          <a:xfrm>
            <a:off x="5650407" y="1620689"/>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cxnSp>
        <p:nvCxnSpPr>
          <p:cNvPr id="32" name="连接符: 曲线 31">
            <a:extLst>
              <a:ext uri="{FF2B5EF4-FFF2-40B4-BE49-F238E27FC236}">
                <a16:creationId xmlns:a16="http://schemas.microsoft.com/office/drawing/2014/main" id="{D08E4A9E-E361-3112-58CA-69602652C745}"/>
              </a:ext>
            </a:extLst>
          </p:cNvPr>
          <p:cNvCxnSpPr>
            <a:cxnSpLocks/>
            <a:stCxn id="19" idx="3"/>
            <a:endCxn id="5" idx="1"/>
          </p:cNvCxnSpPr>
          <p:nvPr/>
        </p:nvCxnSpPr>
        <p:spPr>
          <a:xfrm flipV="1">
            <a:off x="5404401" y="1459874"/>
            <a:ext cx="246006" cy="314048"/>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AF9E3494-5E84-62F5-D89D-02754C7A641C}"/>
              </a:ext>
            </a:extLst>
          </p:cNvPr>
          <p:cNvCxnSpPr>
            <a:cxnSpLocks/>
            <a:stCxn id="19" idx="3"/>
            <a:endCxn id="27" idx="1"/>
          </p:cNvCxnSpPr>
          <p:nvPr/>
        </p:nvCxnSpPr>
        <p:spPr>
          <a:xfrm>
            <a:off x="5404401" y="1773922"/>
            <a:ext cx="246006" cy="314050"/>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sp>
        <p:nvSpPr>
          <p:cNvPr id="40" name="矩形: 圆角 39">
            <a:extLst>
              <a:ext uri="{FF2B5EF4-FFF2-40B4-BE49-F238E27FC236}">
                <a16:creationId xmlns:a16="http://schemas.microsoft.com/office/drawing/2014/main" id="{08774DFB-316F-2054-8747-D046465FF42D}"/>
              </a:ext>
            </a:extLst>
          </p:cNvPr>
          <p:cNvSpPr/>
          <p:nvPr/>
        </p:nvSpPr>
        <p:spPr>
          <a:xfrm>
            <a:off x="5650407" y="2248787"/>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41" name="矩形: 圆角 40">
            <a:extLst>
              <a:ext uri="{FF2B5EF4-FFF2-40B4-BE49-F238E27FC236}">
                <a16:creationId xmlns:a16="http://schemas.microsoft.com/office/drawing/2014/main" id="{651E765E-43FC-7A97-9E05-4DD50A8CE83F}"/>
              </a:ext>
            </a:extLst>
          </p:cNvPr>
          <p:cNvSpPr/>
          <p:nvPr/>
        </p:nvSpPr>
        <p:spPr>
          <a:xfrm>
            <a:off x="5650407" y="2876885"/>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43" name="矩形: 圆角 42">
            <a:extLst>
              <a:ext uri="{FF2B5EF4-FFF2-40B4-BE49-F238E27FC236}">
                <a16:creationId xmlns:a16="http://schemas.microsoft.com/office/drawing/2014/main" id="{ED1C1ABE-74E2-F973-EF21-B1BAEAC354A8}"/>
              </a:ext>
            </a:extLst>
          </p:cNvPr>
          <p:cNvSpPr/>
          <p:nvPr/>
        </p:nvSpPr>
        <p:spPr>
          <a:xfrm>
            <a:off x="5650407" y="2562836"/>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sp>
        <p:nvSpPr>
          <p:cNvPr id="45" name="文本框 44">
            <a:extLst>
              <a:ext uri="{FF2B5EF4-FFF2-40B4-BE49-F238E27FC236}">
                <a16:creationId xmlns:a16="http://schemas.microsoft.com/office/drawing/2014/main" id="{B63C1D9F-248B-6391-9C9F-C11D00357A79}"/>
              </a:ext>
            </a:extLst>
          </p:cNvPr>
          <p:cNvSpPr txBox="1"/>
          <p:nvPr/>
        </p:nvSpPr>
        <p:spPr>
          <a:xfrm>
            <a:off x="1674704" y="2355572"/>
            <a:ext cx="737702" cy="276999"/>
          </a:xfrm>
          <a:prstGeom prst="rect">
            <a:avLst/>
          </a:prstGeom>
          <a:noFill/>
        </p:spPr>
        <p:txBody>
          <a:bodyPr wrap="none" rtlCol="0">
            <a:spAutoFit/>
          </a:bodyPr>
          <a:lstStyle/>
          <a:p>
            <a:pPr algn="r"/>
            <a:r>
              <a:rPr lang="en-US" altLang="zh-CN" sz="1200" dirty="0">
                <a:latin typeface="Montserrat" panose="00000500000000000000" pitchFamily="2" charset="0"/>
              </a:rPr>
              <a:t>Service</a:t>
            </a:r>
            <a:endParaRPr lang="zh-CN" altLang="en-US" sz="1200" dirty="0">
              <a:latin typeface="Montserrat" panose="00000500000000000000" pitchFamily="2" charset="0"/>
            </a:endParaRPr>
          </a:p>
        </p:txBody>
      </p:sp>
      <p:sp>
        <p:nvSpPr>
          <p:cNvPr id="47" name="文本框 46">
            <a:extLst>
              <a:ext uri="{FF2B5EF4-FFF2-40B4-BE49-F238E27FC236}">
                <a16:creationId xmlns:a16="http://schemas.microsoft.com/office/drawing/2014/main" id="{C46D948E-2C8E-46A3-325D-C75748993BB3}"/>
              </a:ext>
            </a:extLst>
          </p:cNvPr>
          <p:cNvSpPr txBox="1"/>
          <p:nvPr/>
        </p:nvSpPr>
        <p:spPr>
          <a:xfrm>
            <a:off x="1645849" y="2070991"/>
            <a:ext cx="766557" cy="276999"/>
          </a:xfrm>
          <a:prstGeom prst="rect">
            <a:avLst/>
          </a:prstGeom>
          <a:noFill/>
        </p:spPr>
        <p:txBody>
          <a:bodyPr wrap="none" rtlCol="0">
            <a:spAutoFit/>
          </a:bodyPr>
          <a:lstStyle/>
          <a:p>
            <a:pPr algn="r"/>
            <a:r>
              <a:rPr lang="en-US" altLang="zh-CN" sz="1200" dirty="0">
                <a:latin typeface="Montserrat" panose="00000500000000000000" pitchFamily="2" charset="0"/>
              </a:rPr>
              <a:t>Mission</a:t>
            </a:r>
            <a:endParaRPr lang="zh-CN" altLang="en-US" sz="1200" dirty="0">
              <a:latin typeface="Montserrat" panose="00000500000000000000" pitchFamily="2" charset="0"/>
            </a:endParaRPr>
          </a:p>
        </p:txBody>
      </p:sp>
      <p:cxnSp>
        <p:nvCxnSpPr>
          <p:cNvPr id="48" name="连接符: 曲线 47">
            <a:extLst>
              <a:ext uri="{FF2B5EF4-FFF2-40B4-BE49-F238E27FC236}">
                <a16:creationId xmlns:a16="http://schemas.microsoft.com/office/drawing/2014/main" id="{0BD5F33A-F972-4E85-59BF-B38A559A84E5}"/>
              </a:ext>
            </a:extLst>
          </p:cNvPr>
          <p:cNvCxnSpPr>
            <a:cxnSpLocks/>
            <a:stCxn id="36" idx="1"/>
            <a:endCxn id="47" idx="3"/>
          </p:cNvCxnSpPr>
          <p:nvPr/>
        </p:nvCxnSpPr>
        <p:spPr>
          <a:xfrm rot="10800000">
            <a:off x="2412407" y="2209491"/>
            <a:ext cx="188439" cy="128752"/>
          </a:xfrm>
          <a:prstGeom prst="curvedConnector3">
            <a:avLst>
              <a:gd name="adj1" fmla="val 50000"/>
            </a:avLst>
          </a:prstGeom>
          <a:ln>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51" name="连接符: 曲线 50">
            <a:extLst>
              <a:ext uri="{FF2B5EF4-FFF2-40B4-BE49-F238E27FC236}">
                <a16:creationId xmlns:a16="http://schemas.microsoft.com/office/drawing/2014/main" id="{52985972-F2EC-AC88-56CA-9B9D5CF1048C}"/>
              </a:ext>
            </a:extLst>
          </p:cNvPr>
          <p:cNvCxnSpPr>
            <a:cxnSpLocks/>
            <a:stCxn id="36" idx="1"/>
            <a:endCxn id="45" idx="3"/>
          </p:cNvCxnSpPr>
          <p:nvPr/>
        </p:nvCxnSpPr>
        <p:spPr>
          <a:xfrm rot="10800000" flipV="1">
            <a:off x="2412407" y="2338242"/>
            <a:ext cx="188439" cy="155829"/>
          </a:xfrm>
          <a:prstGeom prst="curvedConnector3">
            <a:avLst>
              <a:gd name="adj1" fmla="val 50000"/>
            </a:avLst>
          </a:prstGeom>
          <a:ln>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sp>
        <p:nvSpPr>
          <p:cNvPr id="55" name="矩形: 圆角 54">
            <a:extLst>
              <a:ext uri="{FF2B5EF4-FFF2-40B4-BE49-F238E27FC236}">
                <a16:creationId xmlns:a16="http://schemas.microsoft.com/office/drawing/2014/main" id="{E8714F0E-B58F-F69E-78D3-8DE639F4A248}"/>
              </a:ext>
            </a:extLst>
          </p:cNvPr>
          <p:cNvSpPr/>
          <p:nvPr/>
        </p:nvSpPr>
        <p:spPr>
          <a:xfrm>
            <a:off x="5650407" y="3190934"/>
            <a:ext cx="56163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ARQ</a:t>
            </a:r>
            <a:endParaRPr lang="zh-CN" altLang="en-US" sz="1200" dirty="0">
              <a:solidFill>
                <a:schemeClr val="tx1"/>
              </a:solidFill>
              <a:latin typeface="Montserrat" panose="00000500000000000000" pitchFamily="2" charset="0"/>
            </a:endParaRPr>
          </a:p>
        </p:txBody>
      </p:sp>
    </p:spTree>
    <p:extLst>
      <p:ext uri="{BB962C8B-B14F-4D97-AF65-F5344CB8AC3E}">
        <p14:creationId xmlns:p14="http://schemas.microsoft.com/office/powerpoint/2010/main" val="36119662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8" name="内容占位符 7">
            <a:extLst>
              <a:ext uri="{FF2B5EF4-FFF2-40B4-BE49-F238E27FC236}">
                <a16:creationId xmlns:a16="http://schemas.microsoft.com/office/drawing/2014/main" id="{AF1F4A1A-8E80-FFA6-4C1D-5E900FFA08A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486000" y="550723"/>
            <a:ext cx="8172000" cy="338554"/>
          </a:xfrm>
          <a:prstGeom prst="rect">
            <a:avLst/>
          </a:prstGeo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6" name="内容占位符 5">
            <a:extLst>
              <a:ext uri="{FF2B5EF4-FFF2-40B4-BE49-F238E27FC236}">
                <a16:creationId xmlns:a16="http://schemas.microsoft.com/office/drawing/2014/main" id="{75E72351-2DD0-9977-21EF-7B92BBF4CC7F}"/>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486000" y="550723"/>
            <a:ext cx="8172000" cy="338554"/>
          </a:xfrm>
          <a:prstGeom prst="rect">
            <a:avLst/>
          </a:prstGeo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900000"/>
            <a:ext cx="8172000" cy="3703500"/>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486000" y="550723"/>
            <a:ext cx="8172000" cy="338554"/>
          </a:xfrm>
          <a:prstGeom prst="rect">
            <a:avLst/>
          </a:prstGeo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5" name="内容占位符 4">
            <a:extLst>
              <a:ext uri="{FF2B5EF4-FFF2-40B4-BE49-F238E27FC236}">
                <a16:creationId xmlns:a16="http://schemas.microsoft.com/office/drawing/2014/main" id="{42E46087-56DF-AB9A-FD8E-7723430836B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486000" y="550723"/>
            <a:ext cx="8172000" cy="338554"/>
          </a:xfrm>
          <a:prstGeom prst="rect">
            <a:avLst/>
          </a:prstGeo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900000"/>
            <a:ext cx="8172000" cy="3703500"/>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486000" y="550723"/>
            <a:ext cx="8172000" cy="338554"/>
          </a:xfrm>
          <a:prstGeom prst="rect">
            <a:avLst/>
          </a:prstGeo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900000"/>
            <a:ext cx="8172000" cy="3703500"/>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486000" y="550723"/>
            <a:ext cx="8172000" cy="338554"/>
          </a:xfrm>
          <a:prstGeom prst="rect">
            <a:avLst/>
          </a:prstGeo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3EECAD3E-CF73-B4B6-2CC5-DFBE20198986}"/>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8" name="内容占位符 7">
            <a:extLst>
              <a:ext uri="{FF2B5EF4-FFF2-40B4-BE49-F238E27FC236}">
                <a16:creationId xmlns:a16="http://schemas.microsoft.com/office/drawing/2014/main" id="{6E11F39F-5D25-8131-4A85-FE263830786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486000" y="550723"/>
            <a:ext cx="8172000" cy="338554"/>
          </a:xfrm>
          <a:prstGeom prst="rect">
            <a:avLst/>
          </a:prstGeo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900000"/>
            <a:ext cx="8172000" cy="3703500"/>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486000" y="550723"/>
            <a:ext cx="8172000" cy="338554"/>
          </a:xfrm>
          <a:prstGeom prst="rect">
            <a:avLst/>
          </a:prstGeo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900000"/>
            <a:ext cx="8172000" cy="3703500"/>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486000" y="550723"/>
            <a:ext cx="8172000" cy="338554"/>
          </a:xfrm>
          <a:prstGeom prst="rect">
            <a:avLst/>
          </a:prstGeo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900000"/>
            <a:ext cx="8172000" cy="3703500"/>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486000" y="550723"/>
            <a:ext cx="8172000" cy="338554"/>
          </a:xfrm>
          <a:prstGeom prst="rect">
            <a:avLst/>
          </a:prstGeo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F3CF8926-F5C8-5D18-B548-8FFD0B738D1D}"/>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486000" y="550723"/>
            <a:ext cx="8172000" cy="338554"/>
          </a:xfrm>
          <a:prstGeom prst="rect">
            <a:avLst/>
          </a:prstGeo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900000"/>
            <a:ext cx="8172000" cy="3703500"/>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486000" y="550723"/>
            <a:ext cx="8172000" cy="338554"/>
          </a:xfrm>
          <a:prstGeom prst="rect">
            <a:avLst/>
          </a:prstGeo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5" name="内容占位符 4">
            <a:extLst>
              <a:ext uri="{FF2B5EF4-FFF2-40B4-BE49-F238E27FC236}">
                <a16:creationId xmlns:a16="http://schemas.microsoft.com/office/drawing/2014/main" id="{4ADCA5A6-9A5C-7953-E15F-A98D666D8207}"/>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486000" y="550723"/>
            <a:ext cx="8172000" cy="338554"/>
          </a:xfrm>
          <a:prstGeom prst="rect">
            <a:avLst/>
          </a:prstGeo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6" name="内容占位符 5">
            <a:extLst>
              <a:ext uri="{FF2B5EF4-FFF2-40B4-BE49-F238E27FC236}">
                <a16:creationId xmlns:a16="http://schemas.microsoft.com/office/drawing/2014/main" id="{4728D037-D6BE-A401-556C-C26749DD072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486000" y="550723"/>
            <a:ext cx="8172000" cy="338554"/>
          </a:xfrm>
          <a:prstGeom prst="rect">
            <a:avLst/>
          </a:prstGeo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900000"/>
            <a:ext cx="8172000" cy="3703500"/>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486000" y="550723"/>
            <a:ext cx="8172000" cy="338554"/>
          </a:xfrm>
          <a:prstGeom prst="rect">
            <a:avLst/>
          </a:prstGeo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900000"/>
            <a:ext cx="8172000" cy="3703500"/>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2949740881"/>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3744981484"/>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2335547081"/>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13" name="内容占位符 12">
            <a:extLst>
              <a:ext uri="{FF2B5EF4-FFF2-40B4-BE49-F238E27FC236}">
                <a16:creationId xmlns:a16="http://schemas.microsoft.com/office/drawing/2014/main" id="{A3431638-A226-8093-CA6C-9E4EA4A50EA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6" name="内容占位符 5">
            <a:extLst>
              <a:ext uri="{FF2B5EF4-FFF2-40B4-BE49-F238E27FC236}">
                <a16:creationId xmlns:a16="http://schemas.microsoft.com/office/drawing/2014/main" id="{54D2578F-6AC2-F6B4-FB41-6F54CA2C738E}"/>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prstGeom prst="rect">
            <a:avLst/>
          </a:prstGeom>
        </p:spPr>
        <p:txBody>
          <a:bodyPr/>
          <a:lstStyle/>
          <a:p>
            <a:r>
              <a:rPr lang="zh-CN" altLang="en-US" dirty="0"/>
              <a:t>多对一</a:t>
            </a:r>
          </a:p>
        </p:txBody>
      </p:sp>
      <p:grpSp>
        <p:nvGrpSpPr>
          <p:cNvPr id="29" name="组合 28">
            <a:extLst>
              <a:ext uri="{FF2B5EF4-FFF2-40B4-BE49-F238E27FC236}">
                <a16:creationId xmlns:a16="http://schemas.microsoft.com/office/drawing/2014/main" id="{D434A184-88A3-DE24-481F-853F175E1C0D}"/>
              </a:ext>
            </a:extLst>
          </p:cNvPr>
          <p:cNvGrpSpPr/>
          <p:nvPr/>
        </p:nvGrpSpPr>
        <p:grpSpPr>
          <a:xfrm>
            <a:off x="2368256"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62782" y="2792707"/>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2944256"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782170"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787350"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5277845" y="2426213"/>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439834" y="2792707"/>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429845" y="2426213"/>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255050" y="1769912"/>
            <a:ext cx="12700" cy="3485589"/>
          </a:xfrm>
          <a:prstGeom prst="bentConnector3">
            <a:avLst>
              <a:gd name="adj1" fmla="val 487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5447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512256"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5421845"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a:stCxn id="102" idx="2"/>
            <a:endCxn id="137" idx="2"/>
          </p:cNvCxnSpPr>
          <p:nvPr/>
        </p:nvCxnSpPr>
        <p:spPr>
          <a:xfrm>
            <a:off x="1926170" y="2786213"/>
            <a:ext cx="586086"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a:endCxn id="137"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a:stCxn id="137" idx="0"/>
            <a:endCxn id="137" idx="2"/>
          </p:cNvCxnSpPr>
          <p:nvPr/>
        </p:nvCxnSpPr>
        <p:spPr>
          <a:xfrm>
            <a:off x="2512256" y="2792707"/>
            <a:ext cx="0" cy="720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a:stCxn id="142"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a:stCxn id="142"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329354"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88137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88137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52" name="组合 51">
            <a:extLst>
              <a:ext uri="{FF2B5EF4-FFF2-40B4-BE49-F238E27FC236}">
                <a16:creationId xmlns:a16="http://schemas.microsoft.com/office/drawing/2014/main" id="{6BE7C96B-F754-569E-859A-FA934D0F236B}"/>
              </a:ext>
            </a:extLst>
          </p:cNvPr>
          <p:cNvGrpSpPr/>
          <p:nvPr/>
        </p:nvGrpSpPr>
        <p:grpSpPr>
          <a:xfrm>
            <a:off x="5277845" y="1474901"/>
            <a:ext cx="1440000" cy="720000"/>
            <a:chOff x="5277845" y="1779701"/>
            <a:chExt cx="1440000" cy="720000"/>
          </a:xfrm>
        </p:grpSpPr>
        <p:grpSp>
          <p:nvGrpSpPr>
            <p:cNvPr id="27" name="组合 26">
              <a:extLst>
                <a:ext uri="{FF2B5EF4-FFF2-40B4-BE49-F238E27FC236}">
                  <a16:creationId xmlns:a16="http://schemas.microsoft.com/office/drawing/2014/main" id="{95A4CA25-4E60-E661-A5B3-84F28F8418B1}"/>
                </a:ext>
              </a:extLst>
            </p:cNvPr>
            <p:cNvGrpSpPr/>
            <p:nvPr/>
          </p:nvGrpSpPr>
          <p:grpSpPr>
            <a:xfrm>
              <a:off x="6336009" y="1789913"/>
              <a:ext cx="381836" cy="619527"/>
              <a:chOff x="7787527" y="1370364"/>
              <a:chExt cx="381836" cy="619527"/>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41" name="矩形 140">
              <a:extLst>
                <a:ext uri="{FF2B5EF4-FFF2-40B4-BE49-F238E27FC236}">
                  <a16:creationId xmlns:a16="http://schemas.microsoft.com/office/drawing/2014/main" id="{A26A7F80-6C9E-9BE8-071B-3BC24ACBC445}"/>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36" name="组合 35">
              <a:extLst>
                <a:ext uri="{FF2B5EF4-FFF2-40B4-BE49-F238E27FC236}">
                  <a16:creationId xmlns:a16="http://schemas.microsoft.com/office/drawing/2014/main" id="{77E5DFFD-612A-A62E-CB7A-E1BEA3A13F07}"/>
                </a:ext>
              </a:extLst>
            </p:cNvPr>
            <p:cNvGrpSpPr/>
            <p:nvPr/>
          </p:nvGrpSpPr>
          <p:grpSpPr>
            <a:xfrm>
              <a:off x="5277845" y="1789913"/>
              <a:ext cx="396262" cy="619527"/>
              <a:chOff x="7787527" y="1370364"/>
              <a:chExt cx="396262" cy="619527"/>
            </a:xfrm>
          </p:grpSpPr>
          <p:pic>
            <p:nvPicPr>
              <p:cNvPr id="37" name="图形 36" descr="文档">
                <a:extLst>
                  <a:ext uri="{FF2B5EF4-FFF2-40B4-BE49-F238E27FC236}">
                    <a16:creationId xmlns:a16="http://schemas.microsoft.com/office/drawing/2014/main" id="{A2261D8D-EC4D-3CD1-3870-6DFC67974B7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38" name="文本框 37">
                <a:extLst>
                  <a:ext uri="{FF2B5EF4-FFF2-40B4-BE49-F238E27FC236}">
                    <a16:creationId xmlns:a16="http://schemas.microsoft.com/office/drawing/2014/main" id="{88FB19AE-539B-0E06-48E1-43C4BDCDC414}"/>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51" name="组合 50">
            <a:extLst>
              <a:ext uri="{FF2B5EF4-FFF2-40B4-BE49-F238E27FC236}">
                <a16:creationId xmlns:a16="http://schemas.microsoft.com/office/drawing/2014/main" id="{AB96C985-9C70-24A7-253D-864B2A21E0E1}"/>
              </a:ext>
            </a:extLst>
          </p:cNvPr>
          <p:cNvGrpSpPr/>
          <p:nvPr/>
        </p:nvGrpSpPr>
        <p:grpSpPr>
          <a:xfrm>
            <a:off x="1792256" y="1474901"/>
            <a:ext cx="1440000" cy="720000"/>
            <a:chOff x="5430245" y="1932101"/>
            <a:chExt cx="1440000" cy="720000"/>
          </a:xfrm>
        </p:grpSpPr>
        <p:grpSp>
          <p:nvGrpSpPr>
            <p:cNvPr id="39" name="组合 38">
              <a:extLst>
                <a:ext uri="{FF2B5EF4-FFF2-40B4-BE49-F238E27FC236}">
                  <a16:creationId xmlns:a16="http://schemas.microsoft.com/office/drawing/2014/main" id="{08BFF0EF-2E37-087C-69D8-B82CCC090D7D}"/>
                </a:ext>
              </a:extLst>
            </p:cNvPr>
            <p:cNvGrpSpPr/>
            <p:nvPr/>
          </p:nvGrpSpPr>
          <p:grpSpPr>
            <a:xfrm>
              <a:off x="6488409" y="1942313"/>
              <a:ext cx="381836" cy="619527"/>
              <a:chOff x="7787527" y="1370364"/>
              <a:chExt cx="381836" cy="619527"/>
            </a:xfrm>
          </p:grpSpPr>
          <p:pic>
            <p:nvPicPr>
              <p:cNvPr id="40" name="图形 39" descr="文档">
                <a:extLst>
                  <a:ext uri="{FF2B5EF4-FFF2-40B4-BE49-F238E27FC236}">
                    <a16:creationId xmlns:a16="http://schemas.microsoft.com/office/drawing/2014/main" id="{BC6FCD56-AE6B-AB0E-6839-91C867097B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1" name="文本框 40">
                <a:extLst>
                  <a:ext uri="{FF2B5EF4-FFF2-40B4-BE49-F238E27FC236}">
                    <a16:creationId xmlns:a16="http://schemas.microsoft.com/office/drawing/2014/main" id="{25C44E4E-FDA5-E661-AA16-725B25B8F04B}"/>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42" name="矩形 41">
              <a:extLst>
                <a:ext uri="{FF2B5EF4-FFF2-40B4-BE49-F238E27FC236}">
                  <a16:creationId xmlns:a16="http://schemas.microsoft.com/office/drawing/2014/main" id="{A7D1BB8D-3362-3322-827F-C13147F9A30C}"/>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43" name="组合 42">
              <a:extLst>
                <a:ext uri="{FF2B5EF4-FFF2-40B4-BE49-F238E27FC236}">
                  <a16:creationId xmlns:a16="http://schemas.microsoft.com/office/drawing/2014/main" id="{71797B1C-154A-E1EB-868E-8BDAD41FB273}"/>
                </a:ext>
              </a:extLst>
            </p:cNvPr>
            <p:cNvGrpSpPr/>
            <p:nvPr/>
          </p:nvGrpSpPr>
          <p:grpSpPr>
            <a:xfrm>
              <a:off x="5959327" y="1942313"/>
              <a:ext cx="383438" cy="619527"/>
              <a:chOff x="7787527" y="1370364"/>
              <a:chExt cx="383438" cy="619527"/>
            </a:xfrm>
          </p:grpSpPr>
          <p:pic>
            <p:nvPicPr>
              <p:cNvPr id="44" name="图形 43" descr="文档">
                <a:extLst>
                  <a:ext uri="{FF2B5EF4-FFF2-40B4-BE49-F238E27FC236}">
                    <a16:creationId xmlns:a16="http://schemas.microsoft.com/office/drawing/2014/main" id="{547DBF5C-E73B-4990-21BC-BEB100969C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5" name="文本框 44">
                <a:extLst>
                  <a:ext uri="{FF2B5EF4-FFF2-40B4-BE49-F238E27FC236}">
                    <a16:creationId xmlns:a16="http://schemas.microsoft.com/office/drawing/2014/main" id="{FA0A3919-E7C3-7DCC-572B-15281AF21C9A}"/>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47" name="组合 46">
              <a:extLst>
                <a:ext uri="{FF2B5EF4-FFF2-40B4-BE49-F238E27FC236}">
                  <a16:creationId xmlns:a16="http://schemas.microsoft.com/office/drawing/2014/main" id="{8089A18D-AC4F-5BA3-5ED6-323FD5D542AE}"/>
                </a:ext>
              </a:extLst>
            </p:cNvPr>
            <p:cNvGrpSpPr/>
            <p:nvPr/>
          </p:nvGrpSpPr>
          <p:grpSpPr>
            <a:xfrm>
              <a:off x="5430245" y="1942313"/>
              <a:ext cx="370918" cy="619527"/>
              <a:chOff x="7787527" y="1370364"/>
              <a:chExt cx="370918" cy="619527"/>
            </a:xfrm>
          </p:grpSpPr>
          <p:pic>
            <p:nvPicPr>
              <p:cNvPr id="49" name="图形 48" descr="文档">
                <a:extLst>
                  <a:ext uri="{FF2B5EF4-FFF2-40B4-BE49-F238E27FC236}">
                    <a16:creationId xmlns:a16="http://schemas.microsoft.com/office/drawing/2014/main" id="{3252380E-EB05-89E7-FFAC-F2753D8F07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50" name="文本框 49">
                <a:extLst>
                  <a:ext uri="{FF2B5EF4-FFF2-40B4-BE49-F238E27FC236}">
                    <a16:creationId xmlns:a16="http://schemas.microsoft.com/office/drawing/2014/main" id="{0854450B-3476-42EF-BCB4-E11EAE526C6F}"/>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7" name="内容占位符 6">
            <a:extLst>
              <a:ext uri="{FF2B5EF4-FFF2-40B4-BE49-F238E27FC236}">
                <a16:creationId xmlns:a16="http://schemas.microsoft.com/office/drawing/2014/main" id="{043E1115-FDE6-8B9F-3E23-31EE057C306C}"/>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prstGeom prst="rect">
            <a:avLst/>
          </a:prstGeom>
        </p:spPr>
        <p:txBody>
          <a:bodyPr/>
          <a:lstStyle/>
          <a:p>
            <a:r>
              <a:rPr lang="zh-CN" altLang="en-US" dirty="0"/>
              <a:t>一对多</a:t>
            </a:r>
          </a:p>
        </p:txBody>
      </p:sp>
      <p:grpSp>
        <p:nvGrpSpPr>
          <p:cNvPr id="11" name="组合 10">
            <a:extLst>
              <a:ext uri="{FF2B5EF4-FFF2-40B4-BE49-F238E27FC236}">
                <a16:creationId xmlns:a16="http://schemas.microsoft.com/office/drawing/2014/main" id="{B35F5542-7CAF-A8FB-00BA-ED441C7CD1B1}"/>
              </a:ext>
            </a:extLst>
          </p:cNvPr>
          <p:cNvGrpSpPr/>
          <p:nvPr/>
        </p:nvGrpSpPr>
        <p:grpSpPr>
          <a:xfrm>
            <a:off x="5854406" y="2426213"/>
            <a:ext cx="288000" cy="360000"/>
            <a:chOff x="6541210" y="2426213"/>
            <a:chExt cx="288000" cy="360000"/>
          </a:xfrm>
        </p:grpSpPr>
        <p:sp>
          <p:nvSpPr>
            <p:cNvPr id="12" name="矩形 11">
              <a:extLst>
                <a:ext uri="{FF2B5EF4-FFF2-40B4-BE49-F238E27FC236}">
                  <a16:creationId xmlns:a16="http://schemas.microsoft.com/office/drawing/2014/main" id="{D186CCFA-DE92-FA5B-F0B1-1D0D9C329FD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 name="矩形 13">
              <a:extLst>
                <a:ext uri="{FF2B5EF4-FFF2-40B4-BE49-F238E27FC236}">
                  <a16:creationId xmlns:a16="http://schemas.microsoft.com/office/drawing/2014/main" id="{B6C6AF97-9711-E6D8-8E76-CFADB1F9689C}"/>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3" name="矩形 22">
              <a:extLst>
                <a:ext uri="{FF2B5EF4-FFF2-40B4-BE49-F238E27FC236}">
                  <a16:creationId xmlns:a16="http://schemas.microsoft.com/office/drawing/2014/main" id="{C8724B2E-7C8A-5C65-40D1-996F6A8A80E7}"/>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4" name="矩形 23">
              <a:extLst>
                <a:ext uri="{FF2B5EF4-FFF2-40B4-BE49-F238E27FC236}">
                  <a16:creationId xmlns:a16="http://schemas.microsoft.com/office/drawing/2014/main" id="{3617703E-F424-5924-824E-64C20F971CC2}"/>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5" name="矩形 24">
              <a:extLst>
                <a:ext uri="{FF2B5EF4-FFF2-40B4-BE49-F238E27FC236}">
                  <a16:creationId xmlns:a16="http://schemas.microsoft.com/office/drawing/2014/main" id="{B31DE7D5-F64A-D67D-AC4F-2A009D3BC3E2}"/>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9" name="矩形 28">
              <a:extLst>
                <a:ext uri="{FF2B5EF4-FFF2-40B4-BE49-F238E27FC236}">
                  <a16:creationId xmlns:a16="http://schemas.microsoft.com/office/drawing/2014/main" id="{8D5CB780-4727-608A-71CD-C1D4383CEE79}"/>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30" name="文本框 29">
            <a:extLst>
              <a:ext uri="{FF2B5EF4-FFF2-40B4-BE49-F238E27FC236}">
                <a16:creationId xmlns:a16="http://schemas.microsoft.com/office/drawing/2014/main" id="{AA9DB545-6EC4-3955-F09A-5D013D5A666C}"/>
              </a:ext>
            </a:extLst>
          </p:cNvPr>
          <p:cNvSpPr txBox="1"/>
          <p:nvPr/>
        </p:nvSpPr>
        <p:spPr>
          <a:xfrm>
            <a:off x="5864636" y="2792707"/>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33" name="组合 32">
            <a:extLst>
              <a:ext uri="{FF2B5EF4-FFF2-40B4-BE49-F238E27FC236}">
                <a16:creationId xmlns:a16="http://schemas.microsoft.com/office/drawing/2014/main" id="{60000E0E-81F3-8328-9370-5BF9B0A1F837}"/>
              </a:ext>
            </a:extLst>
          </p:cNvPr>
          <p:cNvGrpSpPr/>
          <p:nvPr/>
        </p:nvGrpSpPr>
        <p:grpSpPr>
          <a:xfrm>
            <a:off x="2944256" y="2426213"/>
            <a:ext cx="288000" cy="360000"/>
            <a:chOff x="3158808" y="2426213"/>
            <a:chExt cx="288000" cy="360000"/>
          </a:xfrm>
        </p:grpSpPr>
        <p:sp>
          <p:nvSpPr>
            <p:cNvPr id="34" name="矩形 33">
              <a:extLst>
                <a:ext uri="{FF2B5EF4-FFF2-40B4-BE49-F238E27FC236}">
                  <a16:creationId xmlns:a16="http://schemas.microsoft.com/office/drawing/2014/main" id="{AC6488E1-5F2E-BDAE-6267-FE5DFB4FF5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2BFCCCDC-07FB-BE1D-11E6-2114BC4525DC}"/>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B9240387-CF10-22BD-0C62-7A21FEB1FC0D}"/>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4C405444-2334-BCCE-7624-F036BE2584A1}"/>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9" name="矩形 48">
              <a:extLst>
                <a:ext uri="{FF2B5EF4-FFF2-40B4-BE49-F238E27FC236}">
                  <a16:creationId xmlns:a16="http://schemas.microsoft.com/office/drawing/2014/main" id="{F0DD9783-436E-3362-8B46-29275718F5B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0" name="矩形 49">
              <a:extLst>
                <a:ext uri="{FF2B5EF4-FFF2-40B4-BE49-F238E27FC236}">
                  <a16:creationId xmlns:a16="http://schemas.microsoft.com/office/drawing/2014/main" id="{EB04B9C8-273E-5274-889A-B9FC3D698743}"/>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8" name="文本框 57">
            <a:extLst>
              <a:ext uri="{FF2B5EF4-FFF2-40B4-BE49-F238E27FC236}">
                <a16:creationId xmlns:a16="http://schemas.microsoft.com/office/drawing/2014/main" id="{A1A2F068-647F-F7F5-4115-A0A50928DB2C}"/>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6" name="组合 65">
            <a:extLst>
              <a:ext uri="{FF2B5EF4-FFF2-40B4-BE49-F238E27FC236}">
                <a16:creationId xmlns:a16="http://schemas.microsoft.com/office/drawing/2014/main" id="{840CE5D3-C28F-1924-5E46-D1A72941FF06}"/>
              </a:ext>
            </a:extLst>
          </p:cNvPr>
          <p:cNvGrpSpPr/>
          <p:nvPr/>
        </p:nvGrpSpPr>
        <p:grpSpPr>
          <a:xfrm>
            <a:off x="1792256" y="2426213"/>
            <a:ext cx="288000" cy="360000"/>
            <a:chOff x="1907273" y="2426213"/>
            <a:chExt cx="288000" cy="360000"/>
          </a:xfrm>
        </p:grpSpPr>
        <p:sp>
          <p:nvSpPr>
            <p:cNvPr id="67" name="矩形 66">
              <a:extLst>
                <a:ext uri="{FF2B5EF4-FFF2-40B4-BE49-F238E27FC236}">
                  <a16:creationId xmlns:a16="http://schemas.microsoft.com/office/drawing/2014/main" id="{CCD4E9BE-DFF9-D36A-71C2-B3D80571F56E}"/>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8" name="矩形 67">
              <a:extLst>
                <a:ext uri="{FF2B5EF4-FFF2-40B4-BE49-F238E27FC236}">
                  <a16:creationId xmlns:a16="http://schemas.microsoft.com/office/drawing/2014/main" id="{CB314D64-A335-1C9B-DEF5-5C424B3FC51B}"/>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9" name="矩形 68">
              <a:extLst>
                <a:ext uri="{FF2B5EF4-FFF2-40B4-BE49-F238E27FC236}">
                  <a16:creationId xmlns:a16="http://schemas.microsoft.com/office/drawing/2014/main" id="{64228073-F14A-5CA2-1FBF-51A67A2B2658}"/>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0" name="矩形 69">
              <a:extLst>
                <a:ext uri="{FF2B5EF4-FFF2-40B4-BE49-F238E27FC236}">
                  <a16:creationId xmlns:a16="http://schemas.microsoft.com/office/drawing/2014/main" id="{EB39AF97-5F41-6513-2828-1821248E9EAC}"/>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047DE1E2-BE8A-7F8A-2CA3-FD4139414608}"/>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0B972B15-298F-6738-3F41-C417EC64A348}"/>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0" name="文本框 79">
            <a:extLst>
              <a:ext uri="{FF2B5EF4-FFF2-40B4-BE49-F238E27FC236}">
                <a16:creationId xmlns:a16="http://schemas.microsoft.com/office/drawing/2014/main" id="{C3FA45CA-C67F-2F30-8B37-633A5957212E}"/>
              </a:ext>
            </a:extLst>
          </p:cNvPr>
          <p:cNvSpPr txBox="1"/>
          <p:nvPr/>
        </p:nvSpPr>
        <p:spPr>
          <a:xfrm>
            <a:off x="1797436"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1" name="组合 80">
            <a:extLst>
              <a:ext uri="{FF2B5EF4-FFF2-40B4-BE49-F238E27FC236}">
                <a16:creationId xmlns:a16="http://schemas.microsoft.com/office/drawing/2014/main" id="{6849257E-DD2F-CA34-34BE-76B45215C1C6}"/>
              </a:ext>
            </a:extLst>
          </p:cNvPr>
          <p:cNvGrpSpPr/>
          <p:nvPr/>
        </p:nvGrpSpPr>
        <p:grpSpPr>
          <a:xfrm>
            <a:off x="5277845" y="2426213"/>
            <a:ext cx="288000" cy="360000"/>
            <a:chOff x="7097072" y="2452049"/>
            <a:chExt cx="288000" cy="360000"/>
          </a:xfrm>
        </p:grpSpPr>
        <p:sp>
          <p:nvSpPr>
            <p:cNvPr id="82" name="矩形 81">
              <a:extLst>
                <a:ext uri="{FF2B5EF4-FFF2-40B4-BE49-F238E27FC236}">
                  <a16:creationId xmlns:a16="http://schemas.microsoft.com/office/drawing/2014/main" id="{AA1F75F2-09B0-1BFD-A023-73D631758690}"/>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3" name="矩形 82">
              <a:extLst>
                <a:ext uri="{FF2B5EF4-FFF2-40B4-BE49-F238E27FC236}">
                  <a16:creationId xmlns:a16="http://schemas.microsoft.com/office/drawing/2014/main" id="{3EF3C7A3-931D-F732-128A-E003ACDFF8B4}"/>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4" name="矩形 83">
              <a:extLst>
                <a:ext uri="{FF2B5EF4-FFF2-40B4-BE49-F238E27FC236}">
                  <a16:creationId xmlns:a16="http://schemas.microsoft.com/office/drawing/2014/main" id="{FDAD5BB5-481C-B2B0-DE06-3100BCFD8E44}"/>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8" name="矩形 97">
              <a:extLst>
                <a:ext uri="{FF2B5EF4-FFF2-40B4-BE49-F238E27FC236}">
                  <a16:creationId xmlns:a16="http://schemas.microsoft.com/office/drawing/2014/main" id="{1AAD010A-0A73-89D3-C983-5022940CCF86}"/>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677C3F7B-D35C-A306-23F5-9576B06D782A}"/>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65B3A2DD-B092-C441-090D-D4A0B2C72C3B}"/>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03" name="文本框 102">
            <a:extLst>
              <a:ext uri="{FF2B5EF4-FFF2-40B4-BE49-F238E27FC236}">
                <a16:creationId xmlns:a16="http://schemas.microsoft.com/office/drawing/2014/main" id="{14847BDE-22F8-508B-FFC6-2588671359F0}"/>
              </a:ext>
            </a:extLst>
          </p:cNvPr>
          <p:cNvSpPr txBox="1"/>
          <p:nvPr/>
        </p:nvSpPr>
        <p:spPr>
          <a:xfrm>
            <a:off x="6442238" y="2792707"/>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04" name="组合 103">
            <a:extLst>
              <a:ext uri="{FF2B5EF4-FFF2-40B4-BE49-F238E27FC236}">
                <a16:creationId xmlns:a16="http://schemas.microsoft.com/office/drawing/2014/main" id="{783364B6-6CA1-0185-4524-796808F75C5E}"/>
              </a:ext>
            </a:extLst>
          </p:cNvPr>
          <p:cNvGrpSpPr/>
          <p:nvPr/>
        </p:nvGrpSpPr>
        <p:grpSpPr>
          <a:xfrm>
            <a:off x="6429845" y="2426213"/>
            <a:ext cx="288000" cy="360000"/>
            <a:chOff x="6014097" y="2452049"/>
            <a:chExt cx="288000" cy="360000"/>
          </a:xfrm>
        </p:grpSpPr>
        <p:sp>
          <p:nvSpPr>
            <p:cNvPr id="105" name="矩形 104">
              <a:extLst>
                <a:ext uri="{FF2B5EF4-FFF2-40B4-BE49-F238E27FC236}">
                  <a16:creationId xmlns:a16="http://schemas.microsoft.com/office/drawing/2014/main" id="{8213CFE1-33C0-8BBA-7C94-CED85A05A43C}"/>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1" name="矩形 110">
              <a:extLst>
                <a:ext uri="{FF2B5EF4-FFF2-40B4-BE49-F238E27FC236}">
                  <a16:creationId xmlns:a16="http://schemas.microsoft.com/office/drawing/2014/main" id="{E0D24AA1-DAEA-2AD8-BE8D-D720C8E85EEC}"/>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2" name="矩形 111">
              <a:extLst>
                <a:ext uri="{FF2B5EF4-FFF2-40B4-BE49-F238E27FC236}">
                  <a16:creationId xmlns:a16="http://schemas.microsoft.com/office/drawing/2014/main" id="{DA6B4E51-8297-3ED7-1C6A-E3830945E98B}"/>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6" name="矩形 115">
              <a:extLst>
                <a:ext uri="{FF2B5EF4-FFF2-40B4-BE49-F238E27FC236}">
                  <a16:creationId xmlns:a16="http://schemas.microsoft.com/office/drawing/2014/main" id="{A56CF638-37E6-5EBC-93F2-C0AA424B0A12}"/>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ED8BF45B-5F31-2EF8-54A2-F3AABE0EAFF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AAA2EE00-6F28-2A2D-4E0A-B937BE450629}"/>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0" name="文本框 119">
            <a:extLst>
              <a:ext uri="{FF2B5EF4-FFF2-40B4-BE49-F238E27FC236}">
                <a16:creationId xmlns:a16="http://schemas.microsoft.com/office/drawing/2014/main" id="{9D0C730E-4C2C-CFAE-0573-99AD6C3C6B1D}"/>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21" name="矩形 120">
            <a:extLst>
              <a:ext uri="{FF2B5EF4-FFF2-40B4-BE49-F238E27FC236}">
                <a16:creationId xmlns:a16="http://schemas.microsoft.com/office/drawing/2014/main" id="{7FC7D3CE-DEED-4F7A-7873-C992226AB5B4}"/>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文本框 121">
            <a:extLst>
              <a:ext uri="{FF2B5EF4-FFF2-40B4-BE49-F238E27FC236}">
                <a16:creationId xmlns:a16="http://schemas.microsoft.com/office/drawing/2014/main" id="{3D8ECAB6-DCEC-BAE5-7025-435C6F847539}"/>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3" name="文本框 122">
            <a:extLst>
              <a:ext uri="{FF2B5EF4-FFF2-40B4-BE49-F238E27FC236}">
                <a16:creationId xmlns:a16="http://schemas.microsoft.com/office/drawing/2014/main" id="{8109B174-8168-7E78-E91B-705A04FDE570}"/>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4" name="文本框 123">
            <a:extLst>
              <a:ext uri="{FF2B5EF4-FFF2-40B4-BE49-F238E27FC236}">
                <a16:creationId xmlns:a16="http://schemas.microsoft.com/office/drawing/2014/main" id="{7CE115D3-138F-067D-4725-47B352BCDCD0}"/>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6" name="矩形 125">
            <a:extLst>
              <a:ext uri="{FF2B5EF4-FFF2-40B4-BE49-F238E27FC236}">
                <a16:creationId xmlns:a16="http://schemas.microsoft.com/office/drawing/2014/main" id="{240211E1-738A-32AF-BDCF-67F228CED559}"/>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27" name="连接符: 肘形 126">
            <a:extLst>
              <a:ext uri="{FF2B5EF4-FFF2-40B4-BE49-F238E27FC236}">
                <a16:creationId xmlns:a16="http://schemas.microsoft.com/office/drawing/2014/main" id="{C5B25C89-41F9-F523-391A-A49D06732233}"/>
              </a:ext>
            </a:extLst>
          </p:cNvPr>
          <p:cNvCxnSpPr>
            <a:cxnSpLocks/>
            <a:stCxn id="121" idx="2"/>
            <a:endCxn id="126" idx="2"/>
          </p:cNvCxnSpPr>
          <p:nvPr/>
        </p:nvCxnSpPr>
        <p:spPr>
          <a:xfrm rot="16200000" flipH="1">
            <a:off x="4255050" y="1769912"/>
            <a:ext cx="12700" cy="3485589"/>
          </a:xfrm>
          <a:prstGeom prst="bentConnector3">
            <a:avLst>
              <a:gd name="adj1" fmla="val 502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29" name="文本框 128">
            <a:extLst>
              <a:ext uri="{FF2B5EF4-FFF2-40B4-BE49-F238E27FC236}">
                <a16:creationId xmlns:a16="http://schemas.microsoft.com/office/drawing/2014/main" id="{D8F904EF-DF49-7E3E-3F9E-BAEDF0844712}"/>
              </a:ext>
            </a:extLst>
          </p:cNvPr>
          <p:cNvSpPr txBox="1"/>
          <p:nvPr/>
        </p:nvSpPr>
        <p:spPr>
          <a:xfrm>
            <a:off x="35451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31" name="直接箭头连接符 130">
            <a:extLst>
              <a:ext uri="{FF2B5EF4-FFF2-40B4-BE49-F238E27FC236}">
                <a16:creationId xmlns:a16="http://schemas.microsoft.com/office/drawing/2014/main" id="{30F14E70-0E38-0702-C732-FAA388AB9BBE}"/>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接箭头连接符 131">
            <a:extLst>
              <a:ext uri="{FF2B5EF4-FFF2-40B4-BE49-F238E27FC236}">
                <a16:creationId xmlns:a16="http://schemas.microsoft.com/office/drawing/2014/main" id="{3E5AFDF5-E0FA-C5BD-37DD-FA10624C6A3A}"/>
              </a:ext>
            </a:extLst>
          </p:cNvPr>
          <p:cNvCxnSpPr>
            <a:cxnSpLocks/>
          </p:cNvCxnSpPr>
          <p:nvPr/>
        </p:nvCxnSpPr>
        <p:spPr>
          <a:xfrm>
            <a:off x="599840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直接箭头连接符 134">
            <a:extLst>
              <a:ext uri="{FF2B5EF4-FFF2-40B4-BE49-F238E27FC236}">
                <a16:creationId xmlns:a16="http://schemas.microsoft.com/office/drawing/2014/main" id="{1BCDF8DE-C697-C760-2C02-551A9D49B19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直接箭头连接符 135">
            <a:extLst>
              <a:ext uri="{FF2B5EF4-FFF2-40B4-BE49-F238E27FC236}">
                <a16:creationId xmlns:a16="http://schemas.microsoft.com/office/drawing/2014/main" id="{03A92B04-1EEF-6394-31E2-E48A7B051E07}"/>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直接箭头连接符 136">
            <a:extLst>
              <a:ext uri="{FF2B5EF4-FFF2-40B4-BE49-F238E27FC236}">
                <a16:creationId xmlns:a16="http://schemas.microsoft.com/office/drawing/2014/main" id="{D929EAD9-F491-5EA6-6E99-64B76B1DF5E0}"/>
              </a:ext>
            </a:extLst>
          </p:cNvPr>
          <p:cNvCxnSpPr>
            <a:cxnSpLocks/>
          </p:cNvCxnSpPr>
          <p:nvPr/>
        </p:nvCxnSpPr>
        <p:spPr>
          <a:xfrm>
            <a:off x="5421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文本框 137">
            <a:extLst>
              <a:ext uri="{FF2B5EF4-FFF2-40B4-BE49-F238E27FC236}">
                <a16:creationId xmlns:a16="http://schemas.microsoft.com/office/drawing/2014/main" id="{9C30A58B-77A3-6FB2-AB48-C2E75539D156}"/>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D6C8193A-4A77-2952-BFD8-3D5F68F04E81}"/>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0" name="直接箭头连接符 139">
            <a:extLst>
              <a:ext uri="{FF2B5EF4-FFF2-40B4-BE49-F238E27FC236}">
                <a16:creationId xmlns:a16="http://schemas.microsoft.com/office/drawing/2014/main" id="{81FB46A3-0BC0-AE78-2134-A38716AA8528}"/>
              </a:ext>
            </a:extLst>
          </p:cNvPr>
          <p:cNvCxnSpPr>
            <a:cxnSpLocks/>
            <a:stCxn id="69" idx="2"/>
            <a:endCxn id="121" idx="2"/>
          </p:cNvCxnSpPr>
          <p:nvPr/>
        </p:nvCxnSpPr>
        <p:spPr>
          <a:xfrm>
            <a:off x="1936256" y="2786213"/>
            <a:ext cx="576000"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接箭头连接符 140">
            <a:extLst>
              <a:ext uri="{FF2B5EF4-FFF2-40B4-BE49-F238E27FC236}">
                <a16:creationId xmlns:a16="http://schemas.microsoft.com/office/drawing/2014/main" id="{CD98C054-EFBD-D394-3D34-76E0A90B2B08}"/>
              </a:ext>
            </a:extLst>
          </p:cNvPr>
          <p:cNvCxnSpPr>
            <a:cxnSpLocks/>
            <a:stCxn id="46" idx="2"/>
            <a:endCxn id="121"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直接箭头连接符 141">
            <a:extLst>
              <a:ext uri="{FF2B5EF4-FFF2-40B4-BE49-F238E27FC236}">
                <a16:creationId xmlns:a16="http://schemas.microsoft.com/office/drawing/2014/main" id="{9B4F6203-E6B2-37D7-21ED-5A0BC2D21EC5}"/>
              </a:ext>
            </a:extLst>
          </p:cNvPr>
          <p:cNvCxnSpPr>
            <a:cxnSpLocks/>
            <a:stCxn id="23" idx="2"/>
            <a:endCxn id="126" idx="2"/>
          </p:cNvCxnSpPr>
          <p:nvPr/>
        </p:nvCxnSpPr>
        <p:spPr>
          <a:xfrm flipH="1">
            <a:off x="5997845" y="2786213"/>
            <a:ext cx="561" cy="726494"/>
          </a:xfrm>
          <a:prstGeom prst="straightConnector1">
            <a:avLst/>
          </a:prstGeom>
          <a:ln w="12700">
            <a:solidFill>
              <a:srgbClr val="EB3B5A"/>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3" name="直接箭头连接符 142">
            <a:extLst>
              <a:ext uri="{FF2B5EF4-FFF2-40B4-BE49-F238E27FC236}">
                <a16:creationId xmlns:a16="http://schemas.microsoft.com/office/drawing/2014/main" id="{7E6D2004-A337-1D90-3939-5BE6977ECAE9}"/>
              </a:ext>
            </a:extLst>
          </p:cNvPr>
          <p:cNvCxnSpPr>
            <a:cxnSpLocks/>
            <a:stCxn id="126"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D867F08A-4984-0C24-67D5-E63C0AF00467}"/>
              </a:ext>
            </a:extLst>
          </p:cNvPr>
          <p:cNvCxnSpPr>
            <a:cxnSpLocks/>
            <a:stCxn id="126"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B4749F90-5964-8103-3F66-8B12D8BBF7A4}"/>
              </a:ext>
            </a:extLst>
          </p:cNvPr>
          <p:cNvSpPr txBox="1"/>
          <p:nvPr/>
        </p:nvSpPr>
        <p:spPr>
          <a:xfrm>
            <a:off x="2330155"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6" name="文本框 145">
            <a:extLst>
              <a:ext uri="{FF2B5EF4-FFF2-40B4-BE49-F238E27FC236}">
                <a16:creationId xmlns:a16="http://schemas.microsoft.com/office/drawing/2014/main" id="{0EC9A186-3D74-E902-A993-656C40B456AC}"/>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7" name="文本框 146">
            <a:extLst>
              <a:ext uri="{FF2B5EF4-FFF2-40B4-BE49-F238E27FC236}">
                <a16:creationId xmlns:a16="http://schemas.microsoft.com/office/drawing/2014/main" id="{CEF87110-753B-CF88-1E0B-689332E88726}"/>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8" name="文本框 147">
            <a:extLst>
              <a:ext uri="{FF2B5EF4-FFF2-40B4-BE49-F238E27FC236}">
                <a16:creationId xmlns:a16="http://schemas.microsoft.com/office/drawing/2014/main" id="{5036F3D0-0B97-2583-F76D-9BD18B279EC9}"/>
              </a:ext>
            </a:extLst>
          </p:cNvPr>
          <p:cNvSpPr txBox="1"/>
          <p:nvPr/>
        </p:nvSpPr>
        <p:spPr>
          <a:xfrm>
            <a:off x="4132413" y="388137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9" name="文本框 148">
            <a:extLst>
              <a:ext uri="{FF2B5EF4-FFF2-40B4-BE49-F238E27FC236}">
                <a16:creationId xmlns:a16="http://schemas.microsoft.com/office/drawing/2014/main" id="{EA32EB4B-9EBF-941E-FA18-3ACF560AA058}"/>
              </a:ext>
            </a:extLst>
          </p:cNvPr>
          <p:cNvSpPr txBox="1"/>
          <p:nvPr/>
        </p:nvSpPr>
        <p:spPr>
          <a:xfrm>
            <a:off x="4689593" y="388137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50" name="组合 149">
            <a:extLst>
              <a:ext uri="{FF2B5EF4-FFF2-40B4-BE49-F238E27FC236}">
                <a16:creationId xmlns:a16="http://schemas.microsoft.com/office/drawing/2014/main" id="{AE318408-159B-A0B0-27A6-0824B024BBC0}"/>
              </a:ext>
            </a:extLst>
          </p:cNvPr>
          <p:cNvGrpSpPr/>
          <p:nvPr/>
        </p:nvGrpSpPr>
        <p:grpSpPr>
          <a:xfrm>
            <a:off x="5277845" y="1474901"/>
            <a:ext cx="1440000" cy="720000"/>
            <a:chOff x="5277845" y="1779701"/>
            <a:chExt cx="1440000" cy="720000"/>
          </a:xfrm>
        </p:grpSpPr>
        <p:grpSp>
          <p:nvGrpSpPr>
            <p:cNvPr id="151" name="组合 150">
              <a:extLst>
                <a:ext uri="{FF2B5EF4-FFF2-40B4-BE49-F238E27FC236}">
                  <a16:creationId xmlns:a16="http://schemas.microsoft.com/office/drawing/2014/main" id="{5537CBDE-74F3-B96E-DBA7-AD28155F27DB}"/>
                </a:ext>
              </a:extLst>
            </p:cNvPr>
            <p:cNvGrpSpPr/>
            <p:nvPr/>
          </p:nvGrpSpPr>
          <p:grpSpPr>
            <a:xfrm>
              <a:off x="6336009" y="1789913"/>
              <a:ext cx="381836" cy="619527"/>
              <a:chOff x="7787527" y="1370364"/>
              <a:chExt cx="381836" cy="619527"/>
            </a:xfrm>
          </p:grpSpPr>
          <p:pic>
            <p:nvPicPr>
              <p:cNvPr id="159" name="图形 158" descr="文档">
                <a:extLst>
                  <a:ext uri="{FF2B5EF4-FFF2-40B4-BE49-F238E27FC236}">
                    <a16:creationId xmlns:a16="http://schemas.microsoft.com/office/drawing/2014/main" id="{1D41E14A-4765-E702-800B-FF1176D2E11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0" name="文本框 159">
                <a:extLst>
                  <a:ext uri="{FF2B5EF4-FFF2-40B4-BE49-F238E27FC236}">
                    <a16:creationId xmlns:a16="http://schemas.microsoft.com/office/drawing/2014/main" id="{74C336F9-0FB1-CF75-4634-CCD0B998E0FE}"/>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52" name="矩形 151">
              <a:extLst>
                <a:ext uri="{FF2B5EF4-FFF2-40B4-BE49-F238E27FC236}">
                  <a16:creationId xmlns:a16="http://schemas.microsoft.com/office/drawing/2014/main" id="{C4E09F4D-DDDC-63C7-D348-E65A53427849}"/>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53" name="组合 152">
              <a:extLst>
                <a:ext uri="{FF2B5EF4-FFF2-40B4-BE49-F238E27FC236}">
                  <a16:creationId xmlns:a16="http://schemas.microsoft.com/office/drawing/2014/main" id="{4C02CEDE-D582-AC6F-ABA4-D49D57E235BA}"/>
                </a:ext>
              </a:extLst>
            </p:cNvPr>
            <p:cNvGrpSpPr/>
            <p:nvPr/>
          </p:nvGrpSpPr>
          <p:grpSpPr>
            <a:xfrm>
              <a:off x="5806927" y="1789913"/>
              <a:ext cx="396262" cy="619527"/>
              <a:chOff x="7787527" y="1370364"/>
              <a:chExt cx="396262" cy="619527"/>
            </a:xfrm>
          </p:grpSpPr>
          <p:pic>
            <p:nvPicPr>
              <p:cNvPr id="157" name="图形 156" descr="文档">
                <a:extLst>
                  <a:ext uri="{FF2B5EF4-FFF2-40B4-BE49-F238E27FC236}">
                    <a16:creationId xmlns:a16="http://schemas.microsoft.com/office/drawing/2014/main" id="{D167D7AE-363B-638B-602A-A8D3D34B6F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8" name="文本框 157">
                <a:extLst>
                  <a:ext uri="{FF2B5EF4-FFF2-40B4-BE49-F238E27FC236}">
                    <a16:creationId xmlns:a16="http://schemas.microsoft.com/office/drawing/2014/main" id="{7A7DD118-7499-0B20-46D3-F64CA162D606}"/>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54" name="组合 153">
              <a:extLst>
                <a:ext uri="{FF2B5EF4-FFF2-40B4-BE49-F238E27FC236}">
                  <a16:creationId xmlns:a16="http://schemas.microsoft.com/office/drawing/2014/main" id="{4D23F33F-DB6C-7E15-4D74-92612CDF31E9}"/>
                </a:ext>
              </a:extLst>
            </p:cNvPr>
            <p:cNvGrpSpPr/>
            <p:nvPr/>
          </p:nvGrpSpPr>
          <p:grpSpPr>
            <a:xfrm>
              <a:off x="5277845" y="1789913"/>
              <a:ext cx="381836" cy="619527"/>
              <a:chOff x="7787527" y="1370364"/>
              <a:chExt cx="381836" cy="619527"/>
            </a:xfrm>
          </p:grpSpPr>
          <p:pic>
            <p:nvPicPr>
              <p:cNvPr id="155" name="图形 154" descr="文档">
                <a:extLst>
                  <a:ext uri="{FF2B5EF4-FFF2-40B4-BE49-F238E27FC236}">
                    <a16:creationId xmlns:a16="http://schemas.microsoft.com/office/drawing/2014/main" id="{4FF86915-A78A-E36C-A207-8339A5E6394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6" name="文本框 155">
                <a:extLst>
                  <a:ext uri="{FF2B5EF4-FFF2-40B4-BE49-F238E27FC236}">
                    <a16:creationId xmlns:a16="http://schemas.microsoft.com/office/drawing/2014/main" id="{557AF157-AA9C-4D34-09A3-C2EF3A3958D9}"/>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161" name="组合 160">
            <a:extLst>
              <a:ext uri="{FF2B5EF4-FFF2-40B4-BE49-F238E27FC236}">
                <a16:creationId xmlns:a16="http://schemas.microsoft.com/office/drawing/2014/main" id="{107B02F9-32BE-C93A-D001-E17C3E11CB50}"/>
              </a:ext>
            </a:extLst>
          </p:cNvPr>
          <p:cNvGrpSpPr/>
          <p:nvPr/>
        </p:nvGrpSpPr>
        <p:grpSpPr>
          <a:xfrm>
            <a:off x="1792256" y="1474901"/>
            <a:ext cx="1441602" cy="720000"/>
            <a:chOff x="5430245" y="1932101"/>
            <a:chExt cx="1441602" cy="720000"/>
          </a:xfrm>
        </p:grpSpPr>
        <p:grpSp>
          <p:nvGrpSpPr>
            <p:cNvPr id="162" name="组合 161">
              <a:extLst>
                <a:ext uri="{FF2B5EF4-FFF2-40B4-BE49-F238E27FC236}">
                  <a16:creationId xmlns:a16="http://schemas.microsoft.com/office/drawing/2014/main" id="{3732A27B-FFEB-9524-5993-8650A56AFF1F}"/>
                </a:ext>
              </a:extLst>
            </p:cNvPr>
            <p:cNvGrpSpPr/>
            <p:nvPr/>
          </p:nvGrpSpPr>
          <p:grpSpPr>
            <a:xfrm>
              <a:off x="6488409" y="1942313"/>
              <a:ext cx="383438" cy="619527"/>
              <a:chOff x="7787527" y="1370364"/>
              <a:chExt cx="383438" cy="619527"/>
            </a:xfrm>
          </p:grpSpPr>
          <p:pic>
            <p:nvPicPr>
              <p:cNvPr id="170" name="图形 169" descr="文档">
                <a:extLst>
                  <a:ext uri="{FF2B5EF4-FFF2-40B4-BE49-F238E27FC236}">
                    <a16:creationId xmlns:a16="http://schemas.microsoft.com/office/drawing/2014/main" id="{D145E361-93A8-89D0-7DBB-35284AB6701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71" name="文本框 170">
                <a:extLst>
                  <a:ext uri="{FF2B5EF4-FFF2-40B4-BE49-F238E27FC236}">
                    <a16:creationId xmlns:a16="http://schemas.microsoft.com/office/drawing/2014/main" id="{5DA5FF2E-ABFA-1D47-9496-0D0D0BE432D4}"/>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63" name="矩形 162">
              <a:extLst>
                <a:ext uri="{FF2B5EF4-FFF2-40B4-BE49-F238E27FC236}">
                  <a16:creationId xmlns:a16="http://schemas.microsoft.com/office/drawing/2014/main" id="{6FC8AA3B-00CE-D18B-B994-8E48797C1F34}"/>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65" name="组合 164">
              <a:extLst>
                <a:ext uri="{FF2B5EF4-FFF2-40B4-BE49-F238E27FC236}">
                  <a16:creationId xmlns:a16="http://schemas.microsoft.com/office/drawing/2014/main" id="{55EE3067-1C65-3FEC-E4D3-7ED494E004D9}"/>
                </a:ext>
              </a:extLst>
            </p:cNvPr>
            <p:cNvGrpSpPr/>
            <p:nvPr/>
          </p:nvGrpSpPr>
          <p:grpSpPr>
            <a:xfrm>
              <a:off x="5430245" y="1942313"/>
              <a:ext cx="370918" cy="619527"/>
              <a:chOff x="7787527" y="1370364"/>
              <a:chExt cx="370918" cy="619527"/>
            </a:xfrm>
          </p:grpSpPr>
          <p:pic>
            <p:nvPicPr>
              <p:cNvPr id="166" name="图形 165" descr="文档">
                <a:extLst>
                  <a:ext uri="{FF2B5EF4-FFF2-40B4-BE49-F238E27FC236}">
                    <a16:creationId xmlns:a16="http://schemas.microsoft.com/office/drawing/2014/main" id="{489F7B9A-E2DF-DDAF-FBA5-F049333223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7" name="文本框 166">
                <a:extLst>
                  <a:ext uri="{FF2B5EF4-FFF2-40B4-BE49-F238E27FC236}">
                    <a16:creationId xmlns:a16="http://schemas.microsoft.com/office/drawing/2014/main" id="{4EAE7A9A-63D6-FDFE-1853-1138B677FB3A}"/>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900000"/>
            <a:ext cx="8172000" cy="3703500"/>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prstGeom prst="rect">
            <a:avLst/>
          </a:prstGeo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dirty="0">
                <a:solidFill>
                  <a:schemeClr val="bg1"/>
                </a:solidFill>
                <a:latin typeface="微软雅黑" pitchFamily="34" charset="-122"/>
                <a:ea typeface="微软雅黑" pitchFamily="34" charset="-122"/>
              </a:rPr>
              <a:t>在计算检验和时，临时把 </a:t>
            </a:r>
            <a:r>
              <a:rPr lang="en-US" altLang="zh-CN" dirty="0">
                <a:solidFill>
                  <a:schemeClr val="bg1"/>
                </a:solidFill>
                <a:latin typeface="微软雅黑" pitchFamily="34" charset="-122"/>
                <a:ea typeface="微软雅黑" pitchFamily="34" charset="-122"/>
              </a:rPr>
              <a:t>12 </a:t>
            </a:r>
            <a:r>
              <a:rPr lang="zh-CN" altLang="en-US" dirty="0">
                <a:solidFill>
                  <a:schemeClr val="bg1"/>
                </a:solidFill>
                <a:latin typeface="微软雅黑" pitchFamily="34" charset="-122"/>
                <a:ea typeface="微软雅黑" pitchFamily="34" charset="-122"/>
              </a:rPr>
              <a:t>字节的“</a:t>
            </a:r>
            <a:r>
              <a:rPr lang="zh-CN" altLang="en-US" dirty="0">
                <a:solidFill>
                  <a:srgbClr val="FFFF00"/>
                </a:solidFill>
                <a:latin typeface="微软雅黑" pitchFamily="34" charset="-122"/>
                <a:ea typeface="微软雅黑" pitchFamily="34" charset="-122"/>
              </a:rPr>
              <a:t>伪首部</a:t>
            </a:r>
            <a:r>
              <a:rPr lang="zh-CN" altLang="en-US" dirty="0">
                <a:solidFill>
                  <a:schemeClr val="bg1"/>
                </a:solidFill>
                <a:latin typeface="微软雅黑" pitchFamily="34" charset="-122"/>
                <a:ea typeface="微软雅黑" pitchFamily="34" charset="-122"/>
              </a:rPr>
              <a:t>”和 </a:t>
            </a:r>
            <a:r>
              <a:rPr lang="en-US" altLang="zh-CN" dirty="0">
                <a:solidFill>
                  <a:schemeClr val="bg1"/>
                </a:solidFill>
                <a:latin typeface="微软雅黑" pitchFamily="34" charset="-122"/>
                <a:ea typeface="微软雅黑" pitchFamily="34" charset="-122"/>
              </a:rPr>
              <a:t>UDP </a:t>
            </a:r>
            <a:r>
              <a:rPr lang="zh-CN" altLang="en-US"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chemeClr val="tx2">
              <a:lumMod val="60000"/>
              <a:lumOff val="40000"/>
            </a:schemeClr>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Rectangle 8"/>
          <p:cNvSpPr>
            <a:spLocks noChangeArrowheads="1"/>
          </p:cNvSpPr>
          <p:nvPr/>
        </p:nvSpPr>
        <p:spPr bwMode="auto">
          <a:xfrm>
            <a:off x="3314219" y="2398740"/>
            <a:ext cx="33165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Rectangle 11"/>
          <p:cNvSpPr>
            <a:spLocks noChangeArrowheads="1"/>
          </p:cNvSpPr>
          <p:nvPr/>
        </p:nvSpPr>
        <p:spPr bwMode="auto">
          <a:xfrm>
            <a:off x="1915585" y="1726120"/>
            <a:ext cx="478444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chemeClr val="tx2">
              <a:lumMod val="60000"/>
              <a:lumOff val="40000"/>
            </a:schemeClr>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Montserrat" panose="00000500000000000000" pitchFamily="2" charset="0"/>
                <a:ea typeface="微软雅黑 Light" panose="020B0502040204020203"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检验和</a:t>
            </a:r>
          </a:p>
        </p:txBody>
      </p:sp>
      <p:sp>
        <p:nvSpPr>
          <p:cNvPr id="22" name="Text Box 21"/>
          <p:cNvSpPr txBox="1">
            <a:spLocks noChangeArrowheads="1"/>
          </p:cNvSpPr>
          <p:nvPr/>
        </p:nvSpPr>
        <p:spPr bwMode="auto">
          <a:xfrm>
            <a:off x="5160505" y="3545540"/>
            <a:ext cx="8531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数         据</a:t>
            </a:r>
          </a:p>
        </p:txBody>
      </p:sp>
      <p:sp>
        <p:nvSpPr>
          <p:cNvPr id="23" name="Text Box 22"/>
          <p:cNvSpPr txBox="1">
            <a:spLocks noChangeArrowheads="1"/>
          </p:cNvSpPr>
          <p:nvPr/>
        </p:nvSpPr>
        <p:spPr bwMode="auto">
          <a:xfrm>
            <a:off x="2982509" y="3536396"/>
            <a:ext cx="64953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chemeClr val="bg1"/>
                </a:solidFill>
                <a:latin typeface="Montserrat" panose="00000500000000000000" pitchFamily="2" charset="0"/>
                <a:ea typeface="微软雅黑 Light" panose="020B0502040204020203" pitchFamily="34" charset="-122"/>
              </a:rPr>
              <a:t>IP</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7" name="Text Box 26"/>
          <p:cNvSpPr txBox="1">
            <a:spLocks noChangeArrowheads="1"/>
          </p:cNvSpPr>
          <p:nvPr/>
        </p:nvSpPr>
        <p:spPr bwMode="auto">
          <a:xfrm>
            <a:off x="5866236" y="1751455"/>
            <a:ext cx="8467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UDP</a:t>
            </a:r>
            <a:r>
              <a:rPr kumimoji="1" lang="zh-CN" altLang="en-US" sz="1200" dirty="0">
                <a:latin typeface="Montserrat" panose="00000500000000000000" pitchFamily="2" charset="0"/>
                <a:ea typeface="微软雅黑 Light" panose="020B0502040204020203"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源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30" name="Text Box 29"/>
          <p:cNvSpPr txBox="1">
            <a:spLocks noChangeArrowheads="1"/>
          </p:cNvSpPr>
          <p:nvPr/>
        </p:nvSpPr>
        <p:spPr bwMode="auto">
          <a:xfrm>
            <a:off x="5178684" y="1751455"/>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0</a:t>
            </a:r>
          </a:p>
        </p:txBody>
      </p:sp>
      <p:sp>
        <p:nvSpPr>
          <p:cNvPr id="31" name="Text Box 30"/>
          <p:cNvSpPr txBox="1">
            <a:spLocks noChangeArrowheads="1"/>
          </p:cNvSpPr>
          <p:nvPr/>
        </p:nvSpPr>
        <p:spPr bwMode="auto">
          <a:xfrm>
            <a:off x="5488861" y="1751455"/>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17</a:t>
            </a:r>
          </a:p>
        </p:txBody>
      </p:sp>
      <p:sp>
        <p:nvSpPr>
          <p:cNvPr id="32" name="Line 31"/>
          <p:cNvSpPr>
            <a:spLocks noChangeShapeType="1"/>
          </p:cNvSpPr>
          <p:nvPr/>
        </p:nvSpPr>
        <p:spPr bwMode="auto">
          <a:xfrm>
            <a:off x="2867701" y="3971343"/>
            <a:ext cx="4248000"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4" name="Text Box 33"/>
          <p:cNvSpPr txBox="1">
            <a:spLocks noChangeArrowheads="1"/>
          </p:cNvSpPr>
          <p:nvPr/>
        </p:nvSpPr>
        <p:spPr bwMode="auto">
          <a:xfrm>
            <a:off x="4737953" y="3835615"/>
            <a:ext cx="845103"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36" name="Text Box 35"/>
          <p:cNvSpPr txBox="1">
            <a:spLocks noChangeArrowheads="1"/>
          </p:cNvSpPr>
          <p:nvPr/>
        </p:nvSpPr>
        <p:spPr bwMode="auto">
          <a:xfrm>
            <a:off x="2585929"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7" name="Text Box 36"/>
          <p:cNvSpPr txBox="1">
            <a:spLocks noChangeArrowheads="1"/>
          </p:cNvSpPr>
          <p:nvPr/>
        </p:nvSpPr>
        <p:spPr bwMode="auto">
          <a:xfrm>
            <a:off x="4179985"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8" name="Text Box 37"/>
          <p:cNvSpPr txBox="1">
            <a:spLocks noChangeArrowheads="1"/>
          </p:cNvSpPr>
          <p:nvPr/>
        </p:nvSpPr>
        <p:spPr bwMode="auto">
          <a:xfrm>
            <a:off x="5178684"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39" name="Text Box 38"/>
          <p:cNvSpPr txBox="1">
            <a:spLocks noChangeArrowheads="1"/>
          </p:cNvSpPr>
          <p:nvPr/>
        </p:nvSpPr>
        <p:spPr bwMode="auto">
          <a:xfrm>
            <a:off x="5551351"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1" name="Text Box 40"/>
          <p:cNvSpPr txBox="1">
            <a:spLocks noChangeArrowheads="1"/>
          </p:cNvSpPr>
          <p:nvPr/>
        </p:nvSpPr>
        <p:spPr bwMode="auto">
          <a:xfrm>
            <a:off x="2675687" y="2149130"/>
            <a:ext cx="328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用户数据报</a:t>
            </a:r>
          </a:p>
        </p:txBody>
      </p:sp>
      <p:sp>
        <p:nvSpPr>
          <p:cNvPr id="10" name="Rectangle 9"/>
          <p:cNvSpPr>
            <a:spLocks noChangeArrowheads="1"/>
          </p:cNvSpPr>
          <p:nvPr/>
        </p:nvSpPr>
        <p:spPr bwMode="auto">
          <a:xfrm>
            <a:off x="3670979" y="3518271"/>
            <a:ext cx="340060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8" name="Rectangle 48"/>
          <p:cNvSpPr>
            <a:spLocks noChangeArrowheads="1"/>
          </p:cNvSpPr>
          <p:nvPr/>
        </p:nvSpPr>
        <p:spPr bwMode="auto">
          <a:xfrm>
            <a:off x="4443580" y="2932034"/>
            <a:ext cx="26280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Rectangle 4"/>
          <p:cNvSpPr>
            <a:spLocks noChangeArrowheads="1"/>
          </p:cNvSpPr>
          <p:nvPr/>
        </p:nvSpPr>
        <p:spPr bwMode="auto">
          <a:xfrm>
            <a:off x="3669842" y="2932034"/>
            <a:ext cx="773737" cy="302048"/>
          </a:xfrm>
          <a:prstGeom prst="rect">
            <a:avLst/>
          </a:prstGeom>
          <a:solidFill>
            <a:schemeClr val="tx2">
              <a:lumMod val="60000"/>
              <a:lumOff val="40000"/>
            </a:schemeClr>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0" name="Text Box 50"/>
          <p:cNvSpPr txBox="1">
            <a:spLocks noChangeArrowheads="1"/>
          </p:cNvSpPr>
          <p:nvPr/>
        </p:nvSpPr>
        <p:spPr bwMode="auto">
          <a:xfrm>
            <a:off x="3647200" y="2931904"/>
            <a:ext cx="8515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chemeClr val="bg1"/>
                </a:solidFill>
                <a:latin typeface="Montserrat" panose="00000500000000000000" pitchFamily="2" charset="0"/>
                <a:ea typeface="微软雅黑 Light" panose="020B0502040204020203" pitchFamily="34" charset="-122"/>
              </a:rPr>
              <a:t>UDP</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49" name="Text Box 49"/>
          <p:cNvSpPr txBox="1">
            <a:spLocks noChangeArrowheads="1"/>
          </p:cNvSpPr>
          <p:nvPr/>
        </p:nvSpPr>
        <p:spPr bwMode="auto">
          <a:xfrm>
            <a:off x="5536712" y="2929872"/>
            <a:ext cx="9621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数         据</a:t>
            </a:r>
          </a:p>
        </p:txBody>
      </p:sp>
      <p:sp>
        <p:nvSpPr>
          <p:cNvPr id="2" name="AutoShape 6">
            <a:extLst>
              <a:ext uri="{FF2B5EF4-FFF2-40B4-BE49-F238E27FC236}">
                <a16:creationId xmlns:a16="http://schemas.microsoft.com/office/drawing/2014/main" id="{65711CE2-2339-CFC8-33BB-F212F7DD7E43}"/>
              </a:ext>
            </a:extLst>
          </p:cNvPr>
          <p:cNvSpPr>
            <a:spLocks noChangeArrowheads="1"/>
          </p:cNvSpPr>
          <p:nvPr/>
        </p:nvSpPr>
        <p:spPr bwMode="auto">
          <a:xfrm rot="16200000">
            <a:off x="5335351" y="3287099"/>
            <a:ext cx="432000" cy="190878"/>
          </a:xfrm>
          <a:prstGeom prst="leftArrow">
            <a:avLst>
              <a:gd name="adj1" fmla="val 50000"/>
              <a:gd name="adj2" fmla="val 69093"/>
            </a:avLst>
          </a:prstGeom>
          <a:solidFill>
            <a:srgbClr val="E95420"/>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51203" y="1309482"/>
            <a:ext cx="2749036" cy="2021473"/>
            <a:chOff x="1640108" y="1280222"/>
            <a:chExt cx="2501023"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3"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solidFill>
                    <a:srgbClr val="000099"/>
                  </a:solidFill>
                  <a:latin typeface="微软雅黑" pitchFamily="34" charset="-122"/>
                  <a:ea typeface="微软雅黑" pitchFamily="34" charset="-122"/>
                </a:rPr>
                <a:t>12 </a:t>
              </a:r>
              <a:r>
                <a:rPr kumimoji="1" lang="zh-CN" altLang="en-US" sz="1100" dirty="0">
                  <a:solidFill>
                    <a:srgbClr val="000099"/>
                  </a:solidFill>
                  <a:latin typeface="微软雅黑" pitchFamily="34" charset="-122"/>
                  <a:ea typeface="微软雅黑" pitchFamily="34" charset="-122"/>
                </a:rPr>
                <a:t>字节</a:t>
              </a:r>
            </a:p>
            <a:p>
              <a:pPr algn="r"/>
              <a:r>
                <a:rPr kumimoji="1" lang="zh-CN" altLang="en-US" sz="1100"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40108"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8 </a:t>
              </a:r>
              <a:r>
                <a:rPr kumimoji="1" lang="zh-CN" altLang="en-US" sz="1100" dirty="0">
                  <a:solidFill>
                    <a:srgbClr val="000099"/>
                  </a:solidFill>
                  <a:latin typeface="微软雅黑" pitchFamily="34" charset="-122"/>
                  <a:ea typeface="微软雅黑" pitchFamily="34" charset="-122"/>
                </a:rPr>
                <a:t>字节</a:t>
              </a:r>
            </a:p>
            <a:p>
              <a:pPr algn="r"/>
              <a:r>
                <a:rPr kumimoji="1" lang="en-US" altLang="zh-CN" sz="1100" dirty="0">
                  <a:solidFill>
                    <a:srgbClr val="000099"/>
                  </a:solidFill>
                  <a:latin typeface="微软雅黑" pitchFamily="34" charset="-122"/>
                  <a:ea typeface="微软雅黑" pitchFamily="34" charset="-122"/>
                </a:rPr>
                <a:t>UDP </a:t>
              </a:r>
              <a:r>
                <a:rPr kumimoji="1" lang="zh-CN" altLang="en-US" sz="1100"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847198" y="2415891"/>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7 </a:t>
              </a:r>
              <a:r>
                <a:rPr kumimoji="1" lang="zh-CN" altLang="en-US" sz="1100" dirty="0">
                  <a:solidFill>
                    <a:srgbClr val="000099"/>
                  </a:solidFill>
                  <a:latin typeface="微软雅黑" pitchFamily="34" charset="-122"/>
                  <a:ea typeface="微软雅黑" pitchFamily="34" charset="-122"/>
                </a:rPr>
                <a:t>字节</a:t>
              </a:r>
              <a:endParaRPr kumimoji="1" lang="en-US" altLang="zh-CN" sz="1100" dirty="0">
                <a:solidFill>
                  <a:srgbClr val="000099"/>
                </a:solidFill>
                <a:latin typeface="微软雅黑" pitchFamily="34" charset="-122"/>
                <a:ea typeface="微软雅黑" pitchFamily="34" charset="-122"/>
              </a:endParaRPr>
            </a:p>
            <a:p>
              <a:pPr algn="r"/>
              <a:r>
                <a:rPr kumimoji="1" lang="zh-CN" altLang="en-US" sz="1100" dirty="0">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15=8+7</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prstGeom prst="rect">
            <a:avLst/>
          </a:prstGeo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1FF99-2F87-8640-F39F-3CC5E9E144BD}"/>
            </a:ext>
          </a:extLst>
        </p:cNvPr>
        <p:cNvGrpSpPr/>
        <p:nvPr/>
      </p:nvGrpSpPr>
      <p:grpSpPr>
        <a:xfrm>
          <a:off x="0" y="0"/>
          <a:ext cx="0" cy="0"/>
          <a:chOff x="0" y="0"/>
          <a:chExt cx="0" cy="0"/>
        </a:xfrm>
      </p:grpSpPr>
      <p:grpSp>
        <p:nvGrpSpPr>
          <p:cNvPr id="42" name="组合 41">
            <a:extLst>
              <a:ext uri="{FF2B5EF4-FFF2-40B4-BE49-F238E27FC236}">
                <a16:creationId xmlns:a16="http://schemas.microsoft.com/office/drawing/2014/main" id="{0F924299-1493-C114-735E-80AE282E3A2B}"/>
              </a:ext>
            </a:extLst>
          </p:cNvPr>
          <p:cNvGrpSpPr/>
          <p:nvPr/>
        </p:nvGrpSpPr>
        <p:grpSpPr>
          <a:xfrm>
            <a:off x="2809248" y="1099293"/>
            <a:ext cx="4838720" cy="3287054"/>
            <a:chOff x="2662944" y="1099293"/>
            <a:chExt cx="4838720" cy="3287054"/>
          </a:xfrm>
        </p:grpSpPr>
        <p:sp>
          <p:nvSpPr>
            <p:cNvPr id="7" name="Text Box 7">
              <a:extLst>
                <a:ext uri="{FF2B5EF4-FFF2-40B4-BE49-F238E27FC236}">
                  <a16:creationId xmlns:a16="http://schemas.microsoft.com/office/drawing/2014/main" id="{54F517C5-7A21-8BC3-4192-E96D8112CDE9}"/>
                </a:ext>
              </a:extLst>
            </p:cNvPr>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10011001 00010011  →  153.19</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00001000 01101000  →  8.104</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10101011 00000011  →  171.3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00001110 00001011  →  14.11</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00010001  →  0 </a:t>
              </a:r>
              <a:r>
                <a:rPr kumimoji="1" lang="zh-CN" altLang="en-US" sz="1200" dirty="0">
                  <a:latin typeface="Calibri" panose="020F0502020204030204" pitchFamily="34" charset="0"/>
                  <a:ea typeface="微软雅黑" pitchFamily="34" charset="-122"/>
                  <a:cs typeface="Calibri" panose="020F0502020204030204" pitchFamily="34" charset="0"/>
                </a:rPr>
                <a:t>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17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00000100 00111111  →  1087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00001101  →  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00000000  →  0</a:t>
              </a:r>
              <a:r>
                <a:rPr kumimoji="1" lang="zh-CN" altLang="en-US" sz="1200" dirty="0">
                  <a:latin typeface="Calibri" panose="020F0502020204030204" pitchFamily="34" charset="0"/>
                  <a:ea typeface="微软雅黑" pitchFamily="34" charset="-122"/>
                  <a:cs typeface="Calibri" panose="020F0502020204030204" pitchFamily="34" charset="0"/>
                </a:rPr>
                <a:t>（检验和）</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01010100 01000101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01010011 01010100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01001001 01001110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01000111 00000000  →  </a:t>
              </a:r>
              <a:r>
                <a:rPr kumimoji="1" lang="zh-CN" altLang="en-US" sz="1200" dirty="0">
                  <a:latin typeface="Calibri" panose="020F0502020204030204" pitchFamily="34" charset="0"/>
                  <a:ea typeface="微软雅黑" pitchFamily="34" charset="-122"/>
                  <a:cs typeface="Calibri" panose="020F0502020204030204" pitchFamily="34" charset="0"/>
                </a:rPr>
                <a:t>数据和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a:t>
              </a:r>
              <a:r>
                <a:rPr kumimoji="1" lang="zh-CN" altLang="en-US" sz="1200" dirty="0">
                  <a:latin typeface="Calibri" panose="020F0502020204030204" pitchFamily="34" charset="0"/>
                  <a:ea typeface="微软雅黑" pitchFamily="34" charset="-122"/>
                  <a:cs typeface="Calibri" panose="020F0502020204030204" pitchFamily="34" charset="0"/>
                </a:rPr>
                <a:t>（填充）</a:t>
              </a:r>
            </a:p>
            <a:p>
              <a:endParaRPr kumimoji="1" lang="zh-CN" altLang="en-US" sz="1200" dirty="0">
                <a:latin typeface="Calibri" panose="020F0502020204030204" pitchFamily="34" charset="0"/>
                <a:ea typeface="微软雅黑" pitchFamily="34" charset="-122"/>
                <a:cs typeface="Calibri" panose="020F0502020204030204" pitchFamily="34" charset="0"/>
              </a:endParaRP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10010110 11101101  →  </a:t>
              </a:r>
              <a:r>
                <a:rPr kumimoji="1" lang="zh-CN" altLang="en-US" sz="1200" dirty="0">
                  <a:latin typeface="Calibri" panose="020F0502020204030204" pitchFamily="34" charset="0"/>
                  <a:ea typeface="微软雅黑" pitchFamily="34" charset="-122"/>
                  <a:cs typeface="Calibri" panose="020F0502020204030204" pitchFamily="34" charset="0"/>
                </a:rPr>
                <a:t>求和得出的结果</a:t>
              </a:r>
            </a:p>
            <a:p>
              <a:pPr>
                <a:lnSpc>
                  <a:spcPct val="13000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01101001 00010010  →  </a:t>
              </a:r>
              <a:r>
                <a:rPr kumimoji="1" lang="zh-CN" altLang="en-US" sz="1200" dirty="0">
                  <a:latin typeface="Calibri" panose="020F0502020204030204" pitchFamily="34" charset="0"/>
                  <a:ea typeface="微软雅黑" pitchFamily="34" charset="-122"/>
                  <a:cs typeface="Calibri" panose="020F0502020204030204" pitchFamily="34" charset="0"/>
                </a:rPr>
                <a:t>检验和 </a:t>
              </a:r>
            </a:p>
          </p:txBody>
        </p:sp>
        <p:sp>
          <p:nvSpPr>
            <p:cNvPr id="32" name="Line 30">
              <a:extLst>
                <a:ext uri="{FF2B5EF4-FFF2-40B4-BE49-F238E27FC236}">
                  <a16:creationId xmlns:a16="http://schemas.microsoft.com/office/drawing/2014/main" id="{BA1646D6-73C4-3510-F81D-98170D89638A}"/>
                </a:ext>
              </a:extLst>
            </p:cNvPr>
            <p:cNvSpPr>
              <a:spLocks noChangeShapeType="1"/>
            </p:cNvSpPr>
            <p:nvPr/>
          </p:nvSpPr>
          <p:spPr bwMode="auto">
            <a:xfrm flipV="1">
              <a:off x="4235251" y="3795900"/>
              <a:ext cx="3164240" cy="577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Calibri" panose="020F0502020204030204" pitchFamily="34" charset="0"/>
                <a:ea typeface="微软雅黑" pitchFamily="34" charset="-122"/>
                <a:cs typeface="Calibri" panose="020F0502020204030204" pitchFamily="34" charset="0"/>
              </a:endParaRPr>
            </a:p>
          </p:txBody>
        </p:sp>
        <p:sp>
          <p:nvSpPr>
            <p:cNvPr id="33" name="Text Box 31">
              <a:extLst>
                <a:ext uri="{FF2B5EF4-FFF2-40B4-BE49-F238E27FC236}">
                  <a16:creationId xmlns:a16="http://schemas.microsoft.com/office/drawing/2014/main" id="{ABB05A92-A9EE-3129-D7C9-98F914654666}"/>
                </a:ext>
              </a:extLst>
            </p:cNvPr>
            <p:cNvSpPr txBox="1">
              <a:spLocks noChangeArrowheads="1"/>
            </p:cNvSpPr>
            <p:nvPr/>
          </p:nvSpPr>
          <p:spPr bwMode="auto">
            <a:xfrm>
              <a:off x="2662944" y="3848835"/>
              <a:ext cx="1723549" cy="4936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dirty="0">
                  <a:latin typeface="Calibri" panose="020F0502020204030204" pitchFamily="34" charset="0"/>
                  <a:ea typeface="微软雅黑" pitchFamily="34" charset="-122"/>
                  <a:cs typeface="Calibri" panose="020F0502020204030204" pitchFamily="34" charset="0"/>
                </a:rPr>
                <a:t>按二进制反码运算求和</a:t>
              </a:r>
            </a:p>
            <a:p>
              <a:pPr algn="r">
                <a:lnSpc>
                  <a:spcPct val="130000"/>
                </a:lnSpc>
              </a:pPr>
              <a:r>
                <a:rPr kumimoji="1" lang="zh-CN" altLang="en-US" sz="1200" dirty="0">
                  <a:latin typeface="Calibri" panose="020F0502020204030204" pitchFamily="34" charset="0"/>
                  <a:ea typeface="微软雅黑" pitchFamily="34" charset="-122"/>
                  <a:cs typeface="Calibri" panose="020F0502020204030204" pitchFamily="34" charset="0"/>
                </a:rPr>
                <a:t>将得出的结果求反码</a:t>
              </a:r>
            </a:p>
          </p:txBody>
        </p:sp>
      </p:grpSp>
      <p:grpSp>
        <p:nvGrpSpPr>
          <p:cNvPr id="37" name="组合 36">
            <a:extLst>
              <a:ext uri="{FF2B5EF4-FFF2-40B4-BE49-F238E27FC236}">
                <a16:creationId xmlns:a16="http://schemas.microsoft.com/office/drawing/2014/main" id="{1F1989C5-FBF5-0474-DB62-EE2FB277593C}"/>
              </a:ext>
            </a:extLst>
          </p:cNvPr>
          <p:cNvGrpSpPr/>
          <p:nvPr/>
        </p:nvGrpSpPr>
        <p:grpSpPr>
          <a:xfrm>
            <a:off x="1520962" y="1309482"/>
            <a:ext cx="2679279" cy="1597202"/>
            <a:chOff x="1703572" y="1280222"/>
            <a:chExt cx="2437559" cy="1453105"/>
          </a:xfrm>
        </p:grpSpPr>
        <p:sp>
          <p:nvSpPr>
            <p:cNvPr id="6" name="Rectangle 35">
              <a:extLst>
                <a:ext uri="{FF2B5EF4-FFF2-40B4-BE49-F238E27FC236}">
                  <a16:creationId xmlns:a16="http://schemas.microsoft.com/office/drawing/2014/main" id="{08DC8278-1AE7-FFC0-3EA8-428BD40405CC}"/>
                </a:ext>
              </a:extLst>
            </p:cNvPr>
            <p:cNvSpPr>
              <a:spLocks noChangeArrowheads="1"/>
            </p:cNvSpPr>
            <p:nvPr/>
          </p:nvSpPr>
          <p:spPr bwMode="auto">
            <a:xfrm>
              <a:off x="2438255" y="1903528"/>
              <a:ext cx="1688985" cy="43146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8" name="Freeform 5">
              <a:extLst>
                <a:ext uri="{FF2B5EF4-FFF2-40B4-BE49-F238E27FC236}">
                  <a16:creationId xmlns:a16="http://schemas.microsoft.com/office/drawing/2014/main" id="{A578BF9A-83D6-74F5-984A-42AC23ED4867}"/>
                </a:ext>
              </a:extLst>
            </p:cNvPr>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no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9" name="Rectangle 6">
              <a:extLst>
                <a:ext uri="{FF2B5EF4-FFF2-40B4-BE49-F238E27FC236}">
                  <a16:creationId xmlns:a16="http://schemas.microsoft.com/office/drawing/2014/main" id="{A2125F9F-94E5-E44F-7836-974B8A649DB7}"/>
                </a:ext>
              </a:extLst>
            </p:cNvPr>
            <p:cNvSpPr>
              <a:spLocks noChangeArrowheads="1"/>
            </p:cNvSpPr>
            <p:nvPr/>
          </p:nvSpPr>
          <p:spPr bwMode="auto">
            <a:xfrm>
              <a:off x="2435465" y="1303319"/>
              <a:ext cx="1705666" cy="61207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0" name="Rectangle 8">
              <a:extLst>
                <a:ext uri="{FF2B5EF4-FFF2-40B4-BE49-F238E27FC236}">
                  <a16:creationId xmlns:a16="http://schemas.microsoft.com/office/drawing/2014/main" id="{DC877491-5843-411B-EBEA-94D41D449391}"/>
                </a:ext>
              </a:extLst>
            </p:cNvPr>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1" name="Line 9">
              <a:extLst>
                <a:ext uri="{FF2B5EF4-FFF2-40B4-BE49-F238E27FC236}">
                  <a16:creationId xmlns:a16="http://schemas.microsoft.com/office/drawing/2014/main" id="{8FA7A823-AE8A-5FBB-402F-29798C4F7085}"/>
                </a:ext>
              </a:extLst>
            </p:cNvPr>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2" name="Line 10">
              <a:extLst>
                <a:ext uri="{FF2B5EF4-FFF2-40B4-BE49-F238E27FC236}">
                  <a16:creationId xmlns:a16="http://schemas.microsoft.com/office/drawing/2014/main" id="{7CB31BE8-1EE2-8F73-EE5E-CB81221F94A3}"/>
                </a:ext>
              </a:extLst>
            </p:cNvPr>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3" name="Line 11">
              <a:extLst>
                <a:ext uri="{FF2B5EF4-FFF2-40B4-BE49-F238E27FC236}">
                  <a16:creationId xmlns:a16="http://schemas.microsoft.com/office/drawing/2014/main" id="{50076565-18A0-CC04-CD87-2F01E33617FE}"/>
                </a:ext>
              </a:extLst>
            </p:cNvPr>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4" name="Line 12">
              <a:extLst>
                <a:ext uri="{FF2B5EF4-FFF2-40B4-BE49-F238E27FC236}">
                  <a16:creationId xmlns:a16="http://schemas.microsoft.com/office/drawing/2014/main" id="{606AC02D-B6E5-5BB3-F1E7-77EDFED22E40}"/>
                </a:ext>
              </a:extLst>
            </p:cNvPr>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5" name="Line 13">
              <a:extLst>
                <a:ext uri="{FF2B5EF4-FFF2-40B4-BE49-F238E27FC236}">
                  <a16:creationId xmlns:a16="http://schemas.microsoft.com/office/drawing/2014/main" id="{2CD10EEC-45AD-AEC8-6E77-8204DFA5DC4E}"/>
                </a:ext>
              </a:extLst>
            </p:cNvPr>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6" name="Line 14">
              <a:extLst>
                <a:ext uri="{FF2B5EF4-FFF2-40B4-BE49-F238E27FC236}">
                  <a16:creationId xmlns:a16="http://schemas.microsoft.com/office/drawing/2014/main" id="{F31CBD67-C869-1C53-771E-B3BDEDD784C2}"/>
                </a:ext>
              </a:extLst>
            </p:cNvPr>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7" name="Line 15">
              <a:extLst>
                <a:ext uri="{FF2B5EF4-FFF2-40B4-BE49-F238E27FC236}">
                  <a16:creationId xmlns:a16="http://schemas.microsoft.com/office/drawing/2014/main" id="{08CC66CB-3A0A-6A06-215F-BA96BD4BFD2C}"/>
                </a:ext>
              </a:extLst>
            </p:cNvPr>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8" name="Line 16">
              <a:extLst>
                <a:ext uri="{FF2B5EF4-FFF2-40B4-BE49-F238E27FC236}">
                  <a16:creationId xmlns:a16="http://schemas.microsoft.com/office/drawing/2014/main" id="{5FA06387-9B9F-981C-311D-AF1E680BD655}"/>
                </a:ext>
              </a:extLst>
            </p:cNvPr>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9" name="Line 17">
              <a:extLst>
                <a:ext uri="{FF2B5EF4-FFF2-40B4-BE49-F238E27FC236}">
                  <a16:creationId xmlns:a16="http://schemas.microsoft.com/office/drawing/2014/main" id="{9FF4A1C1-DBE9-D7A3-8E26-9966FB942D7D}"/>
                </a:ext>
              </a:extLst>
            </p:cNvPr>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0" name="Line 18">
              <a:extLst>
                <a:ext uri="{FF2B5EF4-FFF2-40B4-BE49-F238E27FC236}">
                  <a16:creationId xmlns:a16="http://schemas.microsoft.com/office/drawing/2014/main" id="{0D05D3EF-C615-9ED3-C992-9415605A37C4}"/>
                </a:ext>
              </a:extLst>
            </p:cNvPr>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1" name="Text Box 19">
              <a:extLst>
                <a:ext uri="{FF2B5EF4-FFF2-40B4-BE49-F238E27FC236}">
                  <a16:creationId xmlns:a16="http://schemas.microsoft.com/office/drawing/2014/main" id="{275E9E12-C8B5-A0F7-C82C-E9F427AA108B}"/>
                </a:ext>
              </a:extLst>
            </p:cNvPr>
            <p:cNvSpPr txBox="1">
              <a:spLocks noChangeArrowheads="1"/>
            </p:cNvSpPr>
            <p:nvPr/>
          </p:nvSpPr>
          <p:spPr bwMode="auto">
            <a:xfrm>
              <a:off x="2767006" y="1291771"/>
              <a:ext cx="866572"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153.19.8.104</a:t>
              </a:r>
            </a:p>
          </p:txBody>
        </p:sp>
        <p:sp>
          <p:nvSpPr>
            <p:cNvPr id="22" name="Text Box 20">
              <a:extLst>
                <a:ext uri="{FF2B5EF4-FFF2-40B4-BE49-F238E27FC236}">
                  <a16:creationId xmlns:a16="http://schemas.microsoft.com/office/drawing/2014/main" id="{86C46CB1-C6F4-A071-81E1-87B63C3901D1}"/>
                </a:ext>
              </a:extLst>
            </p:cNvPr>
            <p:cNvSpPr txBox="1">
              <a:spLocks noChangeArrowheads="1"/>
            </p:cNvSpPr>
            <p:nvPr/>
          </p:nvSpPr>
          <p:spPr bwMode="auto">
            <a:xfrm>
              <a:off x="2788901" y="1498684"/>
              <a:ext cx="789277"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171.3.14.11</a:t>
              </a:r>
            </a:p>
          </p:txBody>
        </p:sp>
        <p:sp>
          <p:nvSpPr>
            <p:cNvPr id="23" name="AutoShape 22">
              <a:extLst>
                <a:ext uri="{FF2B5EF4-FFF2-40B4-BE49-F238E27FC236}">
                  <a16:creationId xmlns:a16="http://schemas.microsoft.com/office/drawing/2014/main" id="{7909A81E-7522-4252-45AE-7835BCF9E01A}"/>
                </a:ext>
              </a:extLst>
            </p:cNvPr>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4" name="AutoShape 23">
              <a:extLst>
                <a:ext uri="{FF2B5EF4-FFF2-40B4-BE49-F238E27FC236}">
                  <a16:creationId xmlns:a16="http://schemas.microsoft.com/office/drawing/2014/main" id="{C827FE79-23C0-7538-C381-6722CF2E95F0}"/>
                </a:ext>
              </a:extLst>
            </p:cNvPr>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5" name="AutoShape 24">
              <a:extLst>
                <a:ext uri="{FF2B5EF4-FFF2-40B4-BE49-F238E27FC236}">
                  <a16:creationId xmlns:a16="http://schemas.microsoft.com/office/drawing/2014/main" id="{1A42FEBB-0544-D851-33E7-CC19E42A5A32}"/>
                </a:ext>
              </a:extLst>
            </p:cNvPr>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6" name="Text Box 25">
              <a:extLst>
                <a:ext uri="{FF2B5EF4-FFF2-40B4-BE49-F238E27FC236}">
                  <a16:creationId xmlns:a16="http://schemas.microsoft.com/office/drawing/2014/main" id="{0BC5827A-FB54-973C-0F46-E8866DB337B8}"/>
                </a:ext>
              </a:extLst>
            </p:cNvPr>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12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伪首部</a:t>
              </a:r>
            </a:p>
          </p:txBody>
        </p:sp>
        <p:sp>
          <p:nvSpPr>
            <p:cNvPr id="27" name="Text Box 26">
              <a:extLst>
                <a:ext uri="{FF2B5EF4-FFF2-40B4-BE49-F238E27FC236}">
                  <a16:creationId xmlns:a16="http://schemas.microsoft.com/office/drawing/2014/main" id="{8DF54B97-AE4B-E92D-2E8B-48AA75A9D4C9}"/>
                </a:ext>
              </a:extLst>
            </p:cNvPr>
            <p:cNvSpPr txBox="1">
              <a:spLocks noChangeArrowheads="1"/>
            </p:cNvSpPr>
            <p:nvPr/>
          </p:nvSpPr>
          <p:spPr bwMode="auto">
            <a:xfrm>
              <a:off x="1708653" y="1889316"/>
              <a:ext cx="679897"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8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UDP </a:t>
              </a:r>
              <a:r>
                <a:rPr kumimoji="1" lang="zh-CN" altLang="en-US" sz="1100" dirty="0">
                  <a:latin typeface="Calibri" panose="020F0502020204030204" pitchFamily="34" charset="0"/>
                  <a:ea typeface="微软雅黑" pitchFamily="34" charset="-122"/>
                  <a:cs typeface="Calibri" panose="020F0502020204030204" pitchFamily="34" charset="0"/>
                </a:rPr>
                <a:t>首部</a:t>
              </a:r>
            </a:p>
          </p:txBody>
        </p:sp>
        <p:sp>
          <p:nvSpPr>
            <p:cNvPr id="28" name="Text Box 27">
              <a:extLst>
                <a:ext uri="{FF2B5EF4-FFF2-40B4-BE49-F238E27FC236}">
                  <a16:creationId xmlns:a16="http://schemas.microsoft.com/office/drawing/2014/main" id="{8120E176-FC7B-C7B4-52A8-6C39AE549638}"/>
                </a:ext>
              </a:extLst>
            </p:cNvPr>
            <p:cNvSpPr txBox="1">
              <a:spLocks noChangeArrowheads="1"/>
            </p:cNvSpPr>
            <p:nvPr/>
          </p:nvSpPr>
          <p:spPr bwMode="auto">
            <a:xfrm>
              <a:off x="1869074" y="2334279"/>
              <a:ext cx="519475"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7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数据</a:t>
              </a:r>
            </a:p>
          </p:txBody>
        </p:sp>
      </p:grpSp>
      <p:sp>
        <p:nvSpPr>
          <p:cNvPr id="41" name="Text Box 21">
            <a:extLst>
              <a:ext uri="{FF2B5EF4-FFF2-40B4-BE49-F238E27FC236}">
                <a16:creationId xmlns:a16="http://schemas.microsoft.com/office/drawing/2014/main" id="{2222DA98-BC8A-19DB-2413-A1FA506FC1F7}"/>
              </a:ext>
            </a:extLst>
          </p:cNvPr>
          <p:cNvSpPr txBox="1">
            <a:spLocks noChangeArrowheads="1"/>
          </p:cNvSpPr>
          <p:nvPr/>
        </p:nvSpPr>
        <p:spPr bwMode="auto">
          <a:xfrm>
            <a:off x="2327764" y="1762003"/>
            <a:ext cx="1870186" cy="1182375"/>
          </a:xfrm>
          <a:prstGeom prst="rect">
            <a:avLst/>
          </a:prstGeom>
          <a:noFill/>
          <a:ln>
            <a:noFill/>
          </a:ln>
          <a:effectLst/>
        </p:spPr>
        <p:txBody>
          <a:bodyPr wrap="square">
            <a:spAutoFit/>
          </a:bodyPr>
          <a:lstStyle/>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全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         17           15 = 8+7</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1087                    13</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15 = 8+7                </a:t>
            </a:r>
            <a:r>
              <a:rPr kumimoji="1" lang="zh-CN" altLang="en-US" sz="1200" dirty="0">
                <a:solidFill>
                  <a:srgbClr val="C00000"/>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rgbClr val="C00000"/>
                </a:solidFill>
                <a:latin typeface="Calibri" panose="020F0502020204030204" pitchFamily="34" charset="0"/>
                <a:ea typeface="Calibri" panose="020F0502020204030204" pitchFamily="34" charset="0"/>
                <a:cs typeface="Calibri" panose="020F0502020204030204" pitchFamily="34" charset="0"/>
              </a:rPr>
              <a:t>0</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数据</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a:t>
            </a:r>
            <a:r>
              <a:rPr kumimoji="1" lang="zh-CN" altLang="en-US" sz="1200" dirty="0">
                <a:solidFill>
                  <a:schemeClr val="tx2">
                    <a:lumMod val="60000"/>
                    <a:lumOff val="40000"/>
                  </a:schemeClr>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chemeClr val="tx2">
                    <a:lumMod val="60000"/>
                    <a:lumOff val="40000"/>
                  </a:schemeClr>
                </a:solidFill>
                <a:latin typeface="Calibri" panose="020F0502020204030204" pitchFamily="34" charset="0"/>
                <a:ea typeface="Calibri" panose="020F0502020204030204" pitchFamily="34" charset="0"/>
                <a:cs typeface="Calibri" panose="020F0502020204030204" pitchFamily="34" charset="0"/>
              </a:rPr>
              <a:t>0</a:t>
            </a:r>
          </a:p>
        </p:txBody>
      </p:sp>
      <p:sp>
        <p:nvSpPr>
          <p:cNvPr id="3" name="矩形 2">
            <a:extLst>
              <a:ext uri="{FF2B5EF4-FFF2-40B4-BE49-F238E27FC236}">
                <a16:creationId xmlns:a16="http://schemas.microsoft.com/office/drawing/2014/main" id="{8516D012-DB29-A708-5394-13BC4208FDF3}"/>
              </a:ext>
            </a:extLst>
          </p:cNvPr>
          <p:cNvSpPr/>
          <p:nvPr/>
        </p:nvSpPr>
        <p:spPr>
          <a:xfrm>
            <a:off x="1146412" y="948519"/>
            <a:ext cx="3235143" cy="23747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404172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dirty="0">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内容占位符 2">
            <a:extLst>
              <a:ext uri="{FF2B5EF4-FFF2-40B4-BE49-F238E27FC236}">
                <a16:creationId xmlns:a16="http://schemas.microsoft.com/office/drawing/2014/main" id="{A8586DB0-BF05-A8F5-257A-F5021A6D96E9}"/>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不关心应用进程一次把多长的报文发送到 </a:t>
            </a:r>
            <a:r>
              <a:rPr lang="en-US" altLang="zh-CN" dirty="0"/>
              <a:t>TCP </a:t>
            </a:r>
            <a:r>
              <a:rPr lang="zh-CN" altLang="en-US" dirty="0"/>
              <a:t>缓存</a:t>
            </a:r>
            <a:endParaRPr lang="en-US" altLang="zh-CN" dirty="0"/>
          </a:p>
          <a:p>
            <a:r>
              <a:rPr lang="en-US" altLang="zh-CN" dirty="0"/>
              <a:t>TCP </a:t>
            </a:r>
            <a:r>
              <a:rPr lang="zh-CN" altLang="en-US" dirty="0"/>
              <a:t>根据对方给出的窗口值和当前网络拥塞程度来决定一个报文段应包含多少个字节，形成 </a:t>
            </a:r>
            <a:r>
              <a:rPr lang="en-US" altLang="zh-CN" dirty="0"/>
              <a:t>TCP </a:t>
            </a:r>
            <a:r>
              <a:rPr lang="zh-CN" altLang="en-US" dirty="0"/>
              <a:t>报文段</a:t>
            </a:r>
          </a:p>
          <a:p>
            <a:endParaRPr lang="zh-CN" altLang="en-US" dirty="0"/>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
        <p:nvSpPr>
          <p:cNvPr id="53" name="Text Box 8"/>
          <p:cNvSpPr txBox="1">
            <a:spLocks noChangeArrowheads="1"/>
          </p:cNvSpPr>
          <p:nvPr/>
        </p:nvSpPr>
        <p:spPr bwMode="auto">
          <a:xfrm>
            <a:off x="1751861" y="2826961"/>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54" name="Line 9"/>
          <p:cNvSpPr>
            <a:spLocks noChangeShapeType="1"/>
          </p:cNvSpPr>
          <p:nvPr/>
        </p:nvSpPr>
        <p:spPr bwMode="auto">
          <a:xfrm>
            <a:off x="2285044" y="2339422"/>
            <a:ext cx="5311" cy="797207"/>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5" name="Text Box 10"/>
          <p:cNvSpPr txBox="1">
            <a:spLocks noChangeArrowheads="1"/>
          </p:cNvSpPr>
          <p:nvPr/>
        </p:nvSpPr>
        <p:spPr bwMode="auto">
          <a:xfrm rot="5400000">
            <a:off x="2356733" y="273025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56" name="Rectangle 12"/>
          <p:cNvSpPr>
            <a:spLocks noChangeArrowheads="1"/>
          </p:cNvSpPr>
          <p:nvPr/>
        </p:nvSpPr>
        <p:spPr bwMode="auto">
          <a:xfrm>
            <a:off x="2394441" y="2457289"/>
            <a:ext cx="436530" cy="114652"/>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7" name="Rectangle 13"/>
          <p:cNvSpPr>
            <a:spLocks noChangeArrowheads="1"/>
          </p:cNvSpPr>
          <p:nvPr/>
        </p:nvSpPr>
        <p:spPr bwMode="auto">
          <a:xfrm>
            <a:off x="2394441" y="2629802"/>
            <a:ext cx="108336"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8" name="Rectangle 14"/>
          <p:cNvSpPr>
            <a:spLocks noChangeArrowheads="1"/>
          </p:cNvSpPr>
          <p:nvPr/>
        </p:nvSpPr>
        <p:spPr bwMode="auto">
          <a:xfrm>
            <a:off x="2394441" y="2978045"/>
            <a:ext cx="272964"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9" name="Rectangle 15"/>
          <p:cNvSpPr>
            <a:spLocks noChangeArrowheads="1"/>
          </p:cNvSpPr>
          <p:nvPr/>
        </p:nvSpPr>
        <p:spPr bwMode="auto">
          <a:xfrm>
            <a:off x="1628656" y="3197776"/>
            <a:ext cx="1312775"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60" name="Line 16"/>
          <p:cNvSpPr>
            <a:spLocks noChangeShapeType="1"/>
          </p:cNvSpPr>
          <p:nvPr/>
        </p:nvSpPr>
        <p:spPr bwMode="auto">
          <a:xfrm flipV="1">
            <a:off x="5953827" y="2339422"/>
            <a:ext cx="0" cy="871142"/>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Text Box 17"/>
          <p:cNvSpPr txBox="1">
            <a:spLocks noChangeArrowheads="1"/>
          </p:cNvSpPr>
          <p:nvPr/>
        </p:nvSpPr>
        <p:spPr bwMode="auto">
          <a:xfrm rot="5400000">
            <a:off x="6024454" y="27334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62" name="Rectangle 18"/>
          <p:cNvSpPr>
            <a:spLocks noChangeArrowheads="1"/>
          </p:cNvSpPr>
          <p:nvPr/>
        </p:nvSpPr>
        <p:spPr bwMode="auto">
          <a:xfrm>
            <a:off x="6063225" y="2978045"/>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3" name="Rectangle 19"/>
          <p:cNvSpPr>
            <a:spLocks noChangeArrowheads="1"/>
          </p:cNvSpPr>
          <p:nvPr/>
        </p:nvSpPr>
        <p:spPr bwMode="auto">
          <a:xfrm>
            <a:off x="5297439" y="3197776"/>
            <a:ext cx="1311713"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71" name="Rectangle 27"/>
          <p:cNvSpPr>
            <a:spLocks noChangeArrowheads="1"/>
          </p:cNvSpPr>
          <p:nvPr/>
        </p:nvSpPr>
        <p:spPr bwMode="auto">
          <a:xfrm>
            <a:off x="6063225" y="2629802"/>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2" name="Rectangle 28"/>
          <p:cNvSpPr>
            <a:spLocks noChangeArrowheads="1"/>
          </p:cNvSpPr>
          <p:nvPr/>
        </p:nvSpPr>
        <p:spPr bwMode="auto">
          <a:xfrm>
            <a:off x="6063225" y="2457289"/>
            <a:ext cx="328194" cy="114652"/>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3" name="Text Box 29"/>
          <p:cNvSpPr txBox="1">
            <a:spLocks noChangeArrowheads="1"/>
          </p:cNvSpPr>
          <p:nvPr/>
        </p:nvSpPr>
        <p:spPr bwMode="auto">
          <a:xfrm>
            <a:off x="5401527" y="2844106"/>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74" name="Text Box 30"/>
          <p:cNvSpPr txBox="1">
            <a:spLocks noChangeArrowheads="1"/>
          </p:cNvSpPr>
          <p:nvPr/>
        </p:nvSpPr>
        <p:spPr bwMode="auto">
          <a:xfrm>
            <a:off x="1961879"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dirty="0">
                <a:latin typeface="微软雅黑 Light" panose="020B0502040204020203" pitchFamily="34" charset="-122"/>
                <a:ea typeface="微软雅黑 Light" panose="020B0502040204020203" pitchFamily="34" charset="-122"/>
              </a:rPr>
              <a:t>发送端</a:t>
            </a:r>
          </a:p>
        </p:txBody>
      </p:sp>
      <p:sp>
        <p:nvSpPr>
          <p:cNvPr id="75" name="Text Box 31"/>
          <p:cNvSpPr txBox="1">
            <a:spLocks noChangeArrowheads="1"/>
          </p:cNvSpPr>
          <p:nvPr/>
        </p:nvSpPr>
        <p:spPr bwMode="auto">
          <a:xfrm>
            <a:off x="5626914"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a:latin typeface="微软雅黑 Light" panose="020B0502040204020203" pitchFamily="34" charset="-122"/>
                <a:ea typeface="微软雅黑 Light" panose="020B0502040204020203" pitchFamily="34" charset="-122"/>
              </a:rPr>
              <a:t>接收端</a:t>
            </a:r>
          </a:p>
        </p:txBody>
      </p:sp>
      <p:sp>
        <p:nvSpPr>
          <p:cNvPr id="43" name="AutoShape 108"/>
          <p:cNvSpPr>
            <a:spLocks noChangeArrowheads="1"/>
          </p:cNvSpPr>
          <p:nvPr/>
        </p:nvSpPr>
        <p:spPr bwMode="auto">
          <a:xfrm rot="16200000">
            <a:off x="3971292" y="2322240"/>
            <a:ext cx="346183" cy="3348000"/>
          </a:xfrm>
          <a:prstGeom prst="can">
            <a:avLst>
              <a:gd name="adj" fmla="val 28603"/>
            </a:avLst>
          </a:prstGeom>
          <a:noFill/>
          <a:ln w="9525">
            <a:solidFill>
              <a:schemeClr val="tx1"/>
            </a:solidFill>
            <a:round/>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4" name="Text Box 109"/>
          <p:cNvSpPr txBox="1">
            <a:spLocks noChangeArrowheads="1"/>
          </p:cNvSpPr>
          <p:nvPr/>
        </p:nvSpPr>
        <p:spPr bwMode="auto">
          <a:xfrm>
            <a:off x="3385425" y="4813337"/>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微软雅黑 Light" panose="020B0502040204020203" pitchFamily="34" charset="-122"/>
                <a:ea typeface="微软雅黑 Light" panose="020B0502040204020203" pitchFamily="34" charset="-122"/>
              </a:rPr>
              <a:t>TCP </a:t>
            </a:r>
            <a:r>
              <a:rPr kumimoji="1" lang="zh-CN" altLang="en-US" sz="1200" dirty="0">
                <a:latin typeface="微软雅黑 Light" panose="020B0502040204020203" pitchFamily="34" charset="-122"/>
                <a:ea typeface="微软雅黑 Light" panose="020B0502040204020203" pitchFamily="34" charset="-122"/>
              </a:rPr>
              <a:t>连接（虚连接，逻辑连接）</a:t>
            </a:r>
          </a:p>
        </p:txBody>
      </p:sp>
      <p:sp>
        <p:nvSpPr>
          <p:cNvPr id="50" name="AutoShape 5"/>
          <p:cNvSpPr>
            <a:spLocks noChangeArrowheads="1"/>
          </p:cNvSpPr>
          <p:nvPr/>
        </p:nvSpPr>
        <p:spPr bwMode="auto">
          <a:xfrm>
            <a:off x="3561241" y="3937635"/>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1" name="AutoShape 6"/>
          <p:cNvSpPr>
            <a:spLocks noChangeArrowheads="1"/>
          </p:cNvSpPr>
          <p:nvPr/>
        </p:nvSpPr>
        <p:spPr bwMode="auto">
          <a:xfrm>
            <a:off x="5367094" y="3937635"/>
            <a:ext cx="206050" cy="144000"/>
          </a:xfrm>
          <a:prstGeom prst="rightArrow">
            <a:avLst>
              <a:gd name="adj1" fmla="val 50000"/>
              <a:gd name="adj2" fmla="val 31290"/>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7" name="Rectangle 23"/>
          <p:cNvSpPr>
            <a:spLocks noChangeArrowheads="1"/>
          </p:cNvSpPr>
          <p:nvPr/>
        </p:nvSpPr>
        <p:spPr bwMode="auto">
          <a:xfrm>
            <a:off x="2819756"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70" name="Rectangle 26"/>
          <p:cNvSpPr>
            <a:spLocks noChangeArrowheads="1"/>
          </p:cNvSpPr>
          <p:nvPr/>
        </p:nvSpPr>
        <p:spPr bwMode="auto">
          <a:xfrm>
            <a:off x="4626650"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68" name="Text Box 24"/>
          <p:cNvSpPr txBox="1">
            <a:spLocks noChangeArrowheads="1"/>
          </p:cNvSpPr>
          <p:nvPr/>
        </p:nvSpPr>
        <p:spPr bwMode="auto">
          <a:xfrm>
            <a:off x="4172379" y="387113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86" name="Freeform 44"/>
          <p:cNvSpPr>
            <a:spLocks/>
          </p:cNvSpPr>
          <p:nvPr/>
        </p:nvSpPr>
        <p:spPr bwMode="auto">
          <a:xfrm>
            <a:off x="5807597" y="3576119"/>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7" name="Freeform 110"/>
          <p:cNvSpPr>
            <a:spLocks/>
          </p:cNvSpPr>
          <p:nvPr/>
        </p:nvSpPr>
        <p:spPr bwMode="auto">
          <a:xfrm>
            <a:off x="2278145" y="3576583"/>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3" name="Rectangle 39"/>
          <p:cNvSpPr>
            <a:spLocks noChangeArrowheads="1"/>
          </p:cNvSpPr>
          <p:nvPr/>
        </p:nvSpPr>
        <p:spPr bwMode="auto">
          <a:xfrm>
            <a:off x="2211758"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84" name="Rectangle 40"/>
          <p:cNvSpPr>
            <a:spLocks noChangeArrowheads="1"/>
          </p:cNvSpPr>
          <p:nvPr/>
        </p:nvSpPr>
        <p:spPr bwMode="auto">
          <a:xfrm>
            <a:off x="5872044"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486000" y="550723"/>
            <a:ext cx="8172000" cy="338554"/>
          </a:xfrm>
          <a:prstGeom prst="rect">
            <a:avLst/>
          </a:prstGeo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21" name="内容占位符 20">
            <a:extLst>
              <a:ext uri="{FF2B5EF4-FFF2-40B4-BE49-F238E27FC236}">
                <a16:creationId xmlns:a16="http://schemas.microsoft.com/office/drawing/2014/main" id="{32BE528A-742A-8B4F-6F21-E1AA756848C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486000" y="550723"/>
            <a:ext cx="8172000" cy="338554"/>
          </a:xfrm>
          <a:prstGeom prst="rect">
            <a:avLst/>
          </a:prstGeo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486000" y="550723"/>
            <a:ext cx="8172000" cy="338554"/>
          </a:xfrm>
          <a:prstGeom prst="rect">
            <a:avLst/>
          </a:prstGeo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900000"/>
            <a:ext cx="8172000" cy="3703500"/>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486000" y="550723"/>
            <a:ext cx="8172000" cy="338554"/>
          </a:xfrm>
          <a:prstGeom prst="rect">
            <a:avLst/>
          </a:prstGeo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D8CA39D5-B03B-BE8F-2C31-5D69B12E4A8B}"/>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486000" y="550723"/>
            <a:ext cx="8172000" cy="338554"/>
          </a:xfrm>
          <a:prstGeom prst="rect">
            <a:avLst/>
          </a:prstGeo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900000"/>
            <a:ext cx="8172000" cy="3703500"/>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486000" y="550723"/>
            <a:ext cx="8172000" cy="338554"/>
          </a:xfrm>
          <a:prstGeom prst="rect">
            <a:avLst/>
          </a:prstGeo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a:xfrm>
            <a:off x="486000" y="900000"/>
            <a:ext cx="8172000" cy="3703500"/>
          </a:xfrm>
        </p:spPr>
        <p:txBody>
          <a:bodyPr/>
          <a:lstStyle/>
          <a:p>
            <a:r>
              <a:rPr lang="zh-CN" altLang="en-US" dirty="0"/>
              <a:t>每发送完一个分组就停止发送，等待对方的确认。在收到确认后再发送下一个分组。</a:t>
            </a:r>
          </a:p>
          <a:p>
            <a:r>
              <a:rPr lang="zh-CN" altLang="en-US" dirty="0"/>
              <a:t>全双工通信的双方既是发送方也是接收方。</a:t>
            </a:r>
          </a:p>
          <a:p>
            <a:r>
              <a:rPr lang="zh-CN" altLang="en-US" dirty="0"/>
              <a:t>假设仅考虑 </a:t>
            </a:r>
            <a:r>
              <a:rPr lang="en-US" altLang="zh-CN" dirty="0"/>
              <a:t>A </a:t>
            </a:r>
            <a:r>
              <a:rPr lang="zh-CN" altLang="en-US" dirty="0"/>
              <a:t>发送数据，而 </a:t>
            </a:r>
            <a:r>
              <a:rPr lang="en-US" altLang="zh-CN" dirty="0"/>
              <a:t>B </a:t>
            </a:r>
            <a:r>
              <a:rPr lang="zh-CN" altLang="en-US" dirty="0"/>
              <a:t>接收数据并发送确认。因此 </a:t>
            </a:r>
            <a:r>
              <a:rPr lang="en-US" altLang="zh-CN" dirty="0"/>
              <a:t>A </a:t>
            </a:r>
            <a:r>
              <a:rPr lang="zh-CN" altLang="en-US" dirty="0"/>
              <a:t>叫做发送方，而 </a:t>
            </a:r>
            <a:r>
              <a:rPr lang="en-US" altLang="zh-CN" dirty="0"/>
              <a:t>B </a:t>
            </a:r>
            <a:r>
              <a:rPr lang="zh-CN" altLang="en-US" dirty="0"/>
              <a:t>叫做接收方。</a:t>
            </a:r>
          </a:p>
          <a:p>
            <a:endParaRPr lang="zh-CN" altLang="en-US" dirty="0"/>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486000" y="550723"/>
            <a:ext cx="8172000" cy="338554"/>
          </a:xfrm>
        </p:spPr>
        <p:txBody>
          <a:bodyPr/>
          <a:lstStyle/>
          <a:p>
            <a:r>
              <a:rPr lang="en-US" altLang="zh-CN" dirty="0"/>
              <a:t>5.4.1  </a:t>
            </a:r>
            <a:r>
              <a:rPr lang="zh-CN" altLang="en-US" dirty="0"/>
              <a:t>停止等待协议</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6145420" y="3372327"/>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sp>
        <p:nvSpPr>
          <p:cNvPr id="68" name="Freeform 17"/>
          <p:cNvSpPr>
            <a:spLocks/>
          </p:cNvSpPr>
          <p:nvPr/>
        </p:nvSpPr>
        <p:spPr bwMode="auto">
          <a:xfrm>
            <a:off x="3104636" y="1473745"/>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9" name="AutoShape 18"/>
          <p:cNvSpPr>
            <a:spLocks noChangeArrowheads="1"/>
          </p:cNvSpPr>
          <p:nvPr/>
        </p:nvSpPr>
        <p:spPr bwMode="auto">
          <a:xfrm rot="480000">
            <a:off x="3961075"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0" name="Rectangle 19"/>
          <p:cNvSpPr>
            <a:spLocks noChangeArrowheads="1"/>
          </p:cNvSpPr>
          <p:nvPr/>
        </p:nvSpPr>
        <p:spPr bwMode="auto">
          <a:xfrm rot="540000">
            <a:off x="3356252"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72" name="Freeform 21"/>
          <p:cNvSpPr>
            <a:spLocks/>
          </p:cNvSpPr>
          <p:nvPr/>
        </p:nvSpPr>
        <p:spPr bwMode="auto">
          <a:xfrm>
            <a:off x="3103455" y="2458943"/>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3" name="AutoShape 22"/>
          <p:cNvSpPr>
            <a:spLocks noChangeArrowheads="1"/>
          </p:cNvSpPr>
          <p:nvPr/>
        </p:nvSpPr>
        <p:spPr bwMode="auto">
          <a:xfrm rot="480000">
            <a:off x="3959894"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4" name="Rectangle 23"/>
          <p:cNvSpPr>
            <a:spLocks noChangeArrowheads="1"/>
          </p:cNvSpPr>
          <p:nvPr/>
        </p:nvSpPr>
        <p:spPr bwMode="auto">
          <a:xfrm rot="540000">
            <a:off x="3344439" y="2573529"/>
            <a:ext cx="385102"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
        <p:nvSpPr>
          <p:cNvPr id="76" name="Line 26"/>
          <p:cNvSpPr>
            <a:spLocks noChangeShapeType="1"/>
          </p:cNvSpPr>
          <p:nvPr/>
        </p:nvSpPr>
        <p:spPr bwMode="auto">
          <a:xfrm flipH="1">
            <a:off x="3114893" y="214472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rot="21169770">
            <a:off x="3331126"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79" name="Line 29"/>
          <p:cNvSpPr>
            <a:spLocks noChangeShapeType="1"/>
          </p:cNvSpPr>
          <p:nvPr/>
        </p:nvSpPr>
        <p:spPr bwMode="auto">
          <a:xfrm flipH="1">
            <a:off x="3105443" y="317953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0" name="Text Box 30"/>
          <p:cNvSpPr txBox="1">
            <a:spLocks noChangeArrowheads="1"/>
          </p:cNvSpPr>
          <p:nvPr/>
        </p:nvSpPr>
        <p:spPr bwMode="auto">
          <a:xfrm rot="21169770">
            <a:off x="3321676" y="3059038"/>
            <a:ext cx="608011" cy="276423"/>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2</a:t>
            </a:r>
          </a:p>
        </p:txBody>
      </p:sp>
      <p:grpSp>
        <p:nvGrpSpPr>
          <p:cNvPr id="81" name="Group 33"/>
          <p:cNvGrpSpPr>
            <a:grpSpLocks/>
          </p:cNvGrpSpPr>
          <p:nvPr/>
        </p:nvGrpSpPr>
        <p:grpSpPr bwMode="auto">
          <a:xfrm>
            <a:off x="46186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46186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90" name="Line 4"/>
          <p:cNvSpPr>
            <a:spLocks noChangeShapeType="1"/>
          </p:cNvSpPr>
          <p:nvPr/>
        </p:nvSpPr>
        <p:spPr bwMode="auto">
          <a:xfrm>
            <a:off x="3105911" y="1374516"/>
            <a:ext cx="0" cy="236613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1" name="Line 5"/>
          <p:cNvSpPr>
            <a:spLocks noChangeShapeType="1"/>
          </p:cNvSpPr>
          <p:nvPr/>
        </p:nvSpPr>
        <p:spPr bwMode="auto">
          <a:xfrm>
            <a:off x="4467756" y="1374516"/>
            <a:ext cx="0" cy="2351954"/>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33" name="Group 33"/>
          <p:cNvGrpSpPr>
            <a:grpSpLocks/>
          </p:cNvGrpSpPr>
          <p:nvPr/>
        </p:nvGrpSpPr>
        <p:grpSpPr bwMode="auto">
          <a:xfrm>
            <a:off x="46186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37" name="Rectangle 39"/>
          <p:cNvSpPr>
            <a:spLocks noChangeArrowheads="1"/>
          </p:cNvSpPr>
          <p:nvPr/>
        </p:nvSpPr>
        <p:spPr bwMode="auto">
          <a:xfrm>
            <a:off x="4306259"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prstGeom prst="rect">
            <a:avLst/>
          </a:prstGeom>
        </p:spPr>
        <p:txBody>
          <a:bodyPr/>
          <a:lstStyle/>
          <a:p>
            <a:r>
              <a:rPr lang="en-US" altLang="zh-CN" dirty="0"/>
              <a:t>1. </a:t>
            </a:r>
            <a:r>
              <a:rPr lang="zh-CN" altLang="en-US" dirty="0"/>
              <a:t>无差</a:t>
            </a:r>
            <a:r>
              <a:rPr lang="en-US" altLang="zh-CN" dirty="0"/>
              <a:t>a</a:t>
            </a:r>
            <a:r>
              <a:rPr lang="zh-CN" altLang="en-US" dirty="0"/>
              <a:t>错情况</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1000"/>
                                        <p:tgtEl>
                                          <p:spTgt spid="81"/>
                                        </p:tgtEl>
                                      </p:cBhvr>
                                    </p:animEffect>
                                  </p:childTnLst>
                                </p:cTn>
                              </p:par>
                            </p:childTnLst>
                          </p:cTn>
                        </p:par>
                        <p:par>
                          <p:cTn id="8" fill="hold">
                            <p:stCondLst>
                              <p:cond delay="1000"/>
                            </p:stCondLst>
                            <p:childTnLst>
                              <p:par>
                                <p:cTn id="9" presetID="22" presetClass="entr" presetSubtype="8" fill="hold" nodeType="afterEffect">
                                  <p:stCondLst>
                                    <p:cond delay="1000"/>
                                  </p:stCondLst>
                                  <p:childTnLst>
                                    <p:set>
                                      <p:cBhvr>
                                        <p:cTn id="10" dur="1" fill="hold">
                                          <p:stCondLst>
                                            <p:cond delay="0"/>
                                          </p:stCondLst>
                                        </p:cTn>
                                        <p:tgtEl>
                                          <p:spTgt spid="84"/>
                                        </p:tgtEl>
                                        <p:attrNameLst>
                                          <p:attrName>style.visibility</p:attrName>
                                        </p:attrNameLst>
                                      </p:cBhvr>
                                      <p:to>
                                        <p:strVal val="visible"/>
                                      </p:to>
                                    </p:set>
                                    <p:animEffect transition="in" filter="wipe(left)">
                                      <p:cBhvr>
                                        <p:cTn id="11" dur="1000"/>
                                        <p:tgtEl>
                                          <p:spTgt spid="84"/>
                                        </p:tgtEl>
                                      </p:cBhvr>
                                    </p:animEffect>
                                  </p:childTnLst>
                                </p:cTn>
                              </p:par>
                            </p:childTnLst>
                          </p:cTn>
                        </p:par>
                        <p:par>
                          <p:cTn id="12" fill="hold">
                            <p:stCondLst>
                              <p:cond delay="3000"/>
                            </p:stCondLst>
                            <p:childTnLst>
                              <p:par>
                                <p:cTn id="13" presetID="2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left)">
                                      <p:cBhvr>
                                        <p:cTn id="15" dur="1000"/>
                                        <p:tgtEl>
                                          <p:spTgt spid="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900000"/>
            <a:ext cx="8172000" cy="3703500"/>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900000"/>
            <a:ext cx="8172000" cy="3703500"/>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Box 28"/>
          <p:cNvSpPr txBox="1">
            <a:spLocks noChangeArrowheads="1"/>
          </p:cNvSpPr>
          <p:nvPr/>
        </p:nvSpPr>
        <p:spPr bwMode="auto">
          <a:xfrm>
            <a:off x="2565148" y="419845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Montserrat" panose="00000500000000000000" pitchFamily="2" charset="0"/>
                <a:ea typeface="微软雅黑 Light" panose="020B0502040204020203" pitchFamily="34" charset="-122"/>
              </a:rPr>
              <a:t>分组错误</a:t>
            </a:r>
          </a:p>
        </p:txBody>
      </p:sp>
      <p:sp>
        <p:nvSpPr>
          <p:cNvPr id="38" name="Line 36"/>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9" name="Line 37"/>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0" name="Rectangle 38"/>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41" name="Rectangle 39"/>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43" name="Freeform 41"/>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4" name="AutoShape 42"/>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5" name="Rectangle 43"/>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47" name="Freeform 45"/>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8" name="AutoShape 46"/>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9" name="Rectangle 47"/>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51" name="Line 52"/>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2" name="Text Box 53"/>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54" name="AutoShape 60"/>
          <p:cNvSpPr>
            <a:spLocks noChangeArrowheads="1"/>
          </p:cNvSpPr>
          <p:nvPr/>
        </p:nvSpPr>
        <p:spPr bwMode="auto">
          <a:xfrm>
            <a:off x="3421520" y="1941161"/>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7" name="AutoShape 26"/>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525584" y="1644075"/>
            <a:ext cx="46296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sp>
        <p:nvSpPr>
          <p:cNvPr id="82" name="Text Box 31"/>
          <p:cNvSpPr txBox="1">
            <a:spLocks noChangeArrowheads="1"/>
          </p:cNvSpPr>
          <p:nvPr/>
        </p:nvSpPr>
        <p:spPr bwMode="auto">
          <a:xfrm>
            <a:off x="389174" y="1854628"/>
            <a:ext cx="1052534" cy="799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prstGeom prst="rect">
            <a:avLst/>
          </a:prstGeom>
        </p:spPr>
        <p:txBody>
          <a:bodyPr/>
          <a:lstStyle/>
          <a:p>
            <a:r>
              <a:rPr lang="en-US" altLang="zh-CN" dirty="0"/>
              <a:t>2. </a:t>
            </a:r>
            <a:r>
              <a:rPr lang="zh-CN" altLang="en-US" dirty="0"/>
              <a:t>出现差错</a:t>
            </a:r>
          </a:p>
        </p:txBody>
      </p:sp>
      <p:pic>
        <p:nvPicPr>
          <p:cNvPr id="3" name="图形 2" descr="时钟">
            <a:extLst>
              <a:ext uri="{FF2B5EF4-FFF2-40B4-BE49-F238E27FC236}">
                <a16:creationId xmlns:a16="http://schemas.microsoft.com/office/drawing/2014/main" id="{30AC21A3-FF3E-7D70-69B0-854E958EE93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4" name="TextBox 86">
            <a:extLst>
              <a:ext uri="{FF2B5EF4-FFF2-40B4-BE49-F238E27FC236}">
                <a16:creationId xmlns:a16="http://schemas.microsoft.com/office/drawing/2014/main" id="{8335279F-3770-8B98-DD9F-1D6A34CE9A76}"/>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5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5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2000"/>
                                  </p:stCondLst>
                                  <p:childTnLst>
                                    <p:set>
                                      <p:cBhvr>
                                        <p:cTn id="13" dur="1" fill="hold">
                                          <p:stCondLst>
                                            <p:cond delay="0"/>
                                          </p:stCondLst>
                                        </p:cTn>
                                        <p:tgtEl>
                                          <p:spTgt spid="64"/>
                                        </p:tgtEl>
                                        <p:attrNameLst>
                                          <p:attrName>style.visibility</p:attrName>
                                        </p:attrNameLst>
                                      </p:cBhvr>
                                      <p:to>
                                        <p:strVal val="visible"/>
                                      </p:to>
                                    </p:set>
                                    <p:animEffect transition="in" filter="wipe(left)">
                                      <p:cBhvr>
                                        <p:cTn id="14" dur="2000"/>
                                        <p:tgtEl>
                                          <p:spTgt spid="64"/>
                                        </p:tgtEl>
                                      </p:cBhvr>
                                    </p:animEffect>
                                  </p:childTnLst>
                                </p:cTn>
                              </p:par>
                            </p:childTnLst>
                          </p:cTn>
                        </p:par>
                        <p:par>
                          <p:cTn id="15" fill="hold">
                            <p:stCondLst>
                              <p:cond delay="4000"/>
                            </p:stCondLst>
                            <p:childTnLst>
                              <p:par>
                                <p:cTn id="16" presetID="22" presetClass="entr" presetSubtype="8" fill="hold" nodeType="afterEffect">
                                  <p:stCondLst>
                                    <p:cond delay="0"/>
                                  </p:stCondLst>
                                  <p:childTnLst>
                                    <p:set>
                                      <p:cBhvr>
                                        <p:cTn id="17" dur="1" fill="hold">
                                          <p:stCondLst>
                                            <p:cond delay="0"/>
                                          </p:stCondLst>
                                        </p:cTn>
                                        <p:tgtEl>
                                          <p:spTgt spid="84"/>
                                        </p:tgtEl>
                                        <p:attrNameLst>
                                          <p:attrName>style.visibility</p:attrName>
                                        </p:attrNameLst>
                                      </p:cBhvr>
                                      <p:to>
                                        <p:strVal val="visible"/>
                                      </p:to>
                                    </p:set>
                                    <p:animEffect transition="in" filter="wipe(left)">
                                      <p:cBhvr>
                                        <p:cTn id="18" dur="1000"/>
                                        <p:tgtEl>
                                          <p:spTgt spid="84"/>
                                        </p:tgtEl>
                                      </p:cBhvr>
                                    </p:animEffect>
                                  </p:childTnLst>
                                </p:cTn>
                              </p:par>
                            </p:childTnLst>
                          </p:cTn>
                        </p:par>
                        <p:par>
                          <p:cTn id="19" fill="hold">
                            <p:stCondLst>
                              <p:cond delay="5000"/>
                            </p:stCondLst>
                            <p:childTnLst>
                              <p:par>
                                <p:cTn id="20" presetID="1" presetClass="entr" presetSubtype="0" fill="hold" grpId="0" nodeType="afterEffect">
                                  <p:stCondLst>
                                    <p:cond delay="1000"/>
                                  </p:stCondLst>
                                  <p:childTnLst>
                                    <p:set>
                                      <p:cBhvr>
                                        <p:cTn id="21" dur="1" fill="hold">
                                          <p:stCondLst>
                                            <p:cond delay="0"/>
                                          </p:stCondLst>
                                        </p:cTn>
                                        <p:tgtEl>
                                          <p:spTgt spid="76"/>
                                        </p:tgtEl>
                                        <p:attrNameLst>
                                          <p:attrName>style.visibility</p:attrName>
                                        </p:attrNameLst>
                                      </p:cBhvr>
                                      <p:to>
                                        <p:strVal val="visible"/>
                                      </p:to>
                                    </p:set>
                                  </p:childTnLst>
                                </p:cTn>
                              </p:par>
                            </p:childTnLst>
                          </p:cTn>
                        </p:par>
                        <p:par>
                          <p:cTn id="22" fill="hold">
                            <p:stCondLst>
                              <p:cond delay="6000"/>
                            </p:stCondLst>
                            <p:childTnLst>
                              <p:par>
                                <p:cTn id="23" presetID="35" presetClass="emph" presetSubtype="0" repeatCount="3000" fill="hold" grpId="1" nodeType="afterEffect">
                                  <p:stCondLst>
                                    <p:cond delay="0"/>
                                  </p:stCondLst>
                                  <p:childTnLst>
                                    <p:anim calcmode="discrete" valueType="str">
                                      <p:cBhvr>
                                        <p:cTn id="24" dur="500" fill="hold"/>
                                        <p:tgtEl>
                                          <p:spTgt spid="76"/>
                                        </p:tgtEl>
                                        <p:attrNameLst>
                                          <p:attrName>style.visibility</p:attrName>
                                        </p:attrNameLst>
                                      </p:cBhvr>
                                      <p:tavLst>
                                        <p:tav tm="0">
                                          <p:val>
                                            <p:strVal val="hidden"/>
                                          </p:val>
                                        </p:tav>
                                        <p:tav tm="50000">
                                          <p:val>
                                            <p:strVal val="visible"/>
                                          </p:val>
                                        </p:tav>
                                      </p:tavLst>
                                    </p:anim>
                                  </p:childTnLst>
                                </p:cTn>
                              </p:par>
                            </p:childTnLst>
                          </p:cTn>
                        </p:par>
                        <p:par>
                          <p:cTn id="25" fill="hold">
                            <p:stCondLst>
                              <p:cond delay="7500"/>
                            </p:stCondLst>
                            <p:childTnLst>
                              <p:par>
                                <p:cTn id="26" presetID="1" presetClass="entr" presetSubtype="0" fill="hold" nodeType="afterEffect">
                                  <p:stCondLst>
                                    <p:cond delay="0"/>
                                  </p:stCondLst>
                                  <p:childTnLst>
                                    <p:set>
                                      <p:cBhvr>
                                        <p:cTn id="27" dur="1" fill="hold">
                                          <p:stCondLst>
                                            <p:cond delay="0"/>
                                          </p:stCondLst>
                                        </p:cTn>
                                        <p:tgtEl>
                                          <p:spTgt spid="78"/>
                                        </p:tgtEl>
                                        <p:attrNameLst>
                                          <p:attrName>style.visibility</p:attrName>
                                        </p:attrNameLst>
                                      </p:cBhvr>
                                      <p:to>
                                        <p:strVal val="visible"/>
                                      </p:to>
                                    </p:set>
                                  </p:childTnLst>
                                </p:cTn>
                              </p:par>
                            </p:childTnLst>
                          </p:cTn>
                        </p:par>
                        <p:par>
                          <p:cTn id="28" fill="hold">
                            <p:stCondLst>
                              <p:cond delay="7500"/>
                            </p:stCondLst>
                            <p:childTnLst>
                              <p:par>
                                <p:cTn id="29" presetID="35" presetClass="emph" presetSubtype="0" repeatCount="3000" fill="hold" nodeType="afterEffect">
                                  <p:stCondLst>
                                    <p:cond delay="0"/>
                                  </p:stCondLst>
                                  <p:childTnLst>
                                    <p:anim calcmode="discrete" valueType="str">
                                      <p:cBhvr>
                                        <p:cTn id="30" dur="500" fill="hold"/>
                                        <p:tgtEl>
                                          <p:spTgt spid="78"/>
                                        </p:tgtEl>
                                        <p:attrNameLst>
                                          <p:attrName>style.visibility</p:attrName>
                                        </p:attrNameLst>
                                      </p:cBhvr>
                                      <p:tavLst>
                                        <p:tav tm="0">
                                          <p:val>
                                            <p:strVal val="hidden"/>
                                          </p:val>
                                        </p:tav>
                                        <p:tav tm="50000">
                                          <p:val>
                                            <p:strVal val="visible"/>
                                          </p:val>
                                        </p:tav>
                                      </p:tavLst>
                                    </p:anim>
                                  </p:childTnLst>
                                </p:cTn>
                              </p:par>
                            </p:childTnLst>
                          </p:cTn>
                        </p:par>
                        <p:par>
                          <p:cTn id="31" fill="hold">
                            <p:stCondLst>
                              <p:cond delay="9000"/>
                            </p:stCondLst>
                            <p:childTnLst>
                              <p:par>
                                <p:cTn id="32" presetID="1" presetClass="entr" presetSubtype="0" fill="hold" grpId="0" nodeType="afterEffect">
                                  <p:stCondLst>
                                    <p:cond delay="1000"/>
                                  </p:stCondLst>
                                  <p:childTnLst>
                                    <p:set>
                                      <p:cBhvr>
                                        <p:cTn id="33" dur="1" fill="hold">
                                          <p:stCondLst>
                                            <p:cond delay="0"/>
                                          </p:stCondLst>
                                        </p:cTn>
                                        <p:tgtEl>
                                          <p:spTgt spid="77"/>
                                        </p:tgtEl>
                                        <p:attrNameLst>
                                          <p:attrName>style.visibility</p:attrName>
                                        </p:attrNameLst>
                                      </p:cBhvr>
                                      <p:to>
                                        <p:strVal val="visible"/>
                                      </p:to>
                                    </p:set>
                                  </p:childTnLst>
                                </p:cTn>
                              </p:par>
                            </p:childTnLst>
                          </p:cTn>
                        </p:par>
                        <p:par>
                          <p:cTn id="34" fill="hold">
                            <p:stCondLst>
                              <p:cond delay="10000"/>
                            </p:stCondLst>
                            <p:childTnLst>
                              <p:par>
                                <p:cTn id="35" presetID="35" presetClass="emph" presetSubtype="0" repeatCount="3000" fill="hold" grpId="1" nodeType="afterEffect">
                                  <p:stCondLst>
                                    <p:cond delay="0"/>
                                  </p:stCondLst>
                                  <p:childTnLst>
                                    <p:anim calcmode="discrete" valueType="str">
                                      <p:cBhvr>
                                        <p:cTn id="36" dur="500" fill="hold"/>
                                        <p:tgtEl>
                                          <p:spTgt spid="77"/>
                                        </p:tgtEl>
                                        <p:attrNameLst>
                                          <p:attrName>style.visibility</p:attrName>
                                        </p:attrNameLst>
                                      </p:cBhvr>
                                      <p:tavLst>
                                        <p:tav tm="0">
                                          <p:val>
                                            <p:strVal val="hidden"/>
                                          </p:val>
                                        </p:tav>
                                        <p:tav tm="50000">
                                          <p:val>
                                            <p:strVal val="visible"/>
                                          </p:val>
                                        </p:tav>
                                      </p:tavLst>
                                    </p:anim>
                                  </p:childTnLst>
                                </p:cTn>
                              </p:par>
                            </p:childTnLst>
                          </p:cTn>
                        </p:par>
                        <p:par>
                          <p:cTn id="37" fill="hold">
                            <p:stCondLst>
                              <p:cond delay="11500"/>
                            </p:stCondLst>
                            <p:childTnLst>
                              <p:par>
                                <p:cTn id="38" presetID="22" presetClass="entr" presetSubtype="8" fill="hold" nodeType="after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wipe(left)">
                                      <p:cBhvr>
                                        <p:cTn id="40" dur="2000"/>
                                        <p:tgtEl>
                                          <p:spTgt spid="68"/>
                                        </p:tgtEl>
                                      </p:cBhvr>
                                    </p:animEffect>
                                  </p:childTnLst>
                                </p:cTn>
                              </p:par>
                            </p:childTnLst>
                          </p:cTn>
                        </p:par>
                        <p:par>
                          <p:cTn id="41" fill="hold">
                            <p:stCondLst>
                              <p:cond delay="13500"/>
                            </p:stCondLst>
                            <p:childTnLst>
                              <p:par>
                                <p:cTn id="42" presetID="1" presetClass="entr" presetSubtype="0" fill="hold" grpId="0" nodeType="afterEffect">
                                  <p:stCondLst>
                                    <p:cond delay="0"/>
                                  </p:stCondLst>
                                  <p:childTnLst>
                                    <p:set>
                                      <p:cBhvr>
                                        <p:cTn id="43" dur="1" fill="hold">
                                          <p:stCondLst>
                                            <p:cond delay="999"/>
                                          </p:stCondLst>
                                        </p:cTn>
                                        <p:tgtEl>
                                          <p:spTgt spid="88"/>
                                        </p:tgtEl>
                                        <p:attrNameLst>
                                          <p:attrName>style.visibility</p:attrName>
                                        </p:attrNameLst>
                                      </p:cBhvr>
                                      <p:to>
                                        <p:strVal val="visible"/>
                                      </p:to>
                                    </p:set>
                                  </p:childTnLst>
                                </p:cTn>
                              </p:par>
                            </p:childTnLst>
                          </p:cTn>
                        </p:par>
                        <p:par>
                          <p:cTn id="44" fill="hold">
                            <p:stCondLst>
                              <p:cond delay="14500"/>
                            </p:stCondLst>
                            <p:childTnLst>
                              <p:par>
                                <p:cTn id="45" presetID="35" presetClass="emph" presetSubtype="0" repeatCount="3000" fill="hold" grpId="1" nodeType="afterEffect">
                                  <p:stCondLst>
                                    <p:cond delay="0"/>
                                  </p:stCondLst>
                                  <p:childTnLst>
                                    <p:anim calcmode="discrete" valueType="str">
                                      <p:cBhvr>
                                        <p:cTn id="46"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7" fill="hold">
                            <p:stCondLst>
                              <p:cond delay="16000"/>
                            </p:stCondLst>
                            <p:childTnLst>
                              <p:par>
                                <p:cTn id="48" presetID="22" presetClass="entr" presetSubtype="2" fill="hold" nodeType="afterEffect">
                                  <p:stCondLst>
                                    <p:cond delay="500"/>
                                  </p:stCondLst>
                                  <p:childTnLst>
                                    <p:set>
                                      <p:cBhvr>
                                        <p:cTn id="49" dur="1" fill="hold">
                                          <p:stCondLst>
                                            <p:cond delay="0"/>
                                          </p:stCondLst>
                                        </p:cTn>
                                        <p:tgtEl>
                                          <p:spTgt spid="73"/>
                                        </p:tgtEl>
                                        <p:attrNameLst>
                                          <p:attrName>style.visibility</p:attrName>
                                        </p:attrNameLst>
                                      </p:cBhvr>
                                      <p:to>
                                        <p:strVal val="visible"/>
                                      </p:to>
                                    </p:set>
                                    <p:animEffect transition="in" filter="wipe(right)">
                                      <p:cBhvr>
                                        <p:cTn id="50" dur="2000"/>
                                        <p:tgtEl>
                                          <p:spTgt spid="73"/>
                                        </p:tgtEl>
                                      </p:cBhvr>
                                    </p:animEffect>
                                  </p:childTnLst>
                                </p:cTn>
                              </p:par>
                            </p:childTnLst>
                          </p:cTn>
                        </p:par>
                        <p:par>
                          <p:cTn id="51" fill="hold">
                            <p:stCondLst>
                              <p:cond delay="18500"/>
                            </p:stCondLst>
                            <p:childTnLst>
                              <p:par>
                                <p:cTn id="52" presetID="1" presetClass="entr" presetSubtype="0" fill="hold" grpId="0" nodeType="afterEffect">
                                  <p:stCondLst>
                                    <p:cond delay="0"/>
                                  </p:stCondLst>
                                  <p:childTnLst>
                                    <p:set>
                                      <p:cBhvr>
                                        <p:cTn id="53" dur="1" fill="hold">
                                          <p:stCondLst>
                                            <p:cond delay="999"/>
                                          </p:stCondLst>
                                        </p:cTn>
                                        <p:tgtEl>
                                          <p:spTgt spid="4"/>
                                        </p:tgtEl>
                                        <p:attrNameLst>
                                          <p:attrName>style.visibility</p:attrName>
                                        </p:attrNameLst>
                                      </p:cBhvr>
                                      <p:to>
                                        <p:strVal val="visible"/>
                                      </p:to>
                                    </p:set>
                                  </p:childTnLst>
                                </p:cTn>
                              </p:par>
                              <p:par>
                                <p:cTn id="54" presetID="35" presetClass="emph" presetSubtype="0" repeatCount="3000" fill="hold" grpId="1" nodeType="withEffect">
                                  <p:stCondLst>
                                    <p:cond delay="0"/>
                                  </p:stCondLst>
                                  <p:childTnLst>
                                    <p:anim calcmode="discrete" valueType="str">
                                      <p:cBhvr>
                                        <p:cTn id="55" dur="5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4" grpId="1" animBg="1"/>
      <p:bldP spid="76" grpId="0" animBg="1"/>
      <p:bldP spid="76" grpId="1" animBg="1"/>
      <p:bldP spid="77" grpId="0"/>
      <p:bldP spid="77" grpId="1"/>
      <p:bldP spid="88" grpId="0"/>
      <p:bldP spid="88" grpId="1"/>
      <p:bldP spid="4" grpId="0"/>
      <p:bldP spid="4" grpId="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900000"/>
            <a:ext cx="8172000" cy="3703500"/>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900000"/>
            <a:ext cx="8172000" cy="3703500"/>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A2D8C35-B046-98A8-EDB9-7F850AAB986B}"/>
              </a:ext>
            </a:extLst>
          </p:cNvPr>
          <p:cNvSpPr>
            <a:spLocks noGrp="1"/>
          </p:cNvSpPr>
          <p:nvPr>
            <p:ph type="title"/>
          </p:nvPr>
        </p:nvSpPr>
        <p:spPr>
          <a:xfrm>
            <a:off x="486000" y="550723"/>
            <a:ext cx="8172000" cy="338554"/>
          </a:xfrm>
        </p:spPr>
        <p:txBody>
          <a:bodyPr/>
          <a:lstStyle/>
          <a:p>
            <a:r>
              <a:rPr lang="zh-CN" altLang="en-US" dirty="0"/>
              <a:t>确认丢失</a:t>
            </a:r>
          </a:p>
        </p:txBody>
      </p:sp>
      <p:sp>
        <p:nvSpPr>
          <p:cNvPr id="5" name="Line 36">
            <a:extLst>
              <a:ext uri="{FF2B5EF4-FFF2-40B4-BE49-F238E27FC236}">
                <a16:creationId xmlns:a16="http://schemas.microsoft.com/office/drawing/2014/main" id="{EDE38C5F-DF9E-3812-85E2-C2AAA2712F59}"/>
              </a:ext>
            </a:extLst>
          </p:cNvPr>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F1B97DBF-8DF8-31BA-48DE-88A3397FFA9B}"/>
              </a:ext>
            </a:extLst>
          </p:cNvPr>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EB097374-2ED8-3A29-8994-0BF89B44B462}"/>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D3EEB67E-D265-8C32-4BB5-587502B062CB}"/>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60663EF3-E6E6-E448-75CB-9CB6735EFC2C}"/>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E40D72A3-A7B5-7BEB-E8ED-2EAC1D7024DF}"/>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D01A62F4-59BB-AA2D-50E8-12ABFC59B516}"/>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17B0FF49-C60B-7ED4-AE37-8CA18CD7DB7E}"/>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BADEC1B6-B3E5-10F2-0566-0E850E8A7444}"/>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A548E8A1-15AB-2036-B8EB-10554C634D7A}"/>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CC9E091A-2083-9FFF-5D06-C0CD6B1BD8D6}"/>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6D3D487E-07D9-F11B-0AE5-A161C46098E9}"/>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49E5BE39-1BE0-AE83-0E54-C83D3668C27A}"/>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218FDD7B-5B2E-DE27-0184-892B3EB53C7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2" name="Line 52">
            <a:extLst>
              <a:ext uri="{FF2B5EF4-FFF2-40B4-BE49-F238E27FC236}">
                <a16:creationId xmlns:a16="http://schemas.microsoft.com/office/drawing/2014/main" id="{16DA1BD4-A363-11AD-6304-7FC5FA71857A}"/>
              </a:ext>
            </a:extLst>
          </p:cNvPr>
          <p:cNvSpPr>
            <a:spLocks noChangeShapeType="1"/>
          </p:cNvSpPr>
          <p:nvPr/>
        </p:nvSpPr>
        <p:spPr bwMode="auto">
          <a:xfrm flipH="1">
            <a:off x="2427078" y="2206096"/>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AutoShape 60">
            <a:extLst>
              <a:ext uri="{FF2B5EF4-FFF2-40B4-BE49-F238E27FC236}">
                <a16:creationId xmlns:a16="http://schemas.microsoft.com/office/drawing/2014/main" id="{D1F08D59-B957-8C84-93D1-2330B537E75E}"/>
              </a:ext>
            </a:extLst>
          </p:cNvPr>
          <p:cNvSpPr>
            <a:spLocks noChangeArrowheads="1"/>
          </p:cNvSpPr>
          <p:nvPr/>
        </p:nvSpPr>
        <p:spPr bwMode="auto">
          <a:xfrm>
            <a:off x="2669557" y="2113377"/>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4" name="TextBox 86">
            <a:extLst>
              <a:ext uri="{FF2B5EF4-FFF2-40B4-BE49-F238E27FC236}">
                <a16:creationId xmlns:a16="http://schemas.microsoft.com/office/drawing/2014/main" id="{0DDFB30D-8DD4-8A08-60C4-F0AA610E86F1}"/>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
        <p:nvSpPr>
          <p:cNvPr id="25" name="TextBox 86">
            <a:extLst>
              <a:ext uri="{FF2B5EF4-FFF2-40B4-BE49-F238E27FC236}">
                <a16:creationId xmlns:a16="http://schemas.microsoft.com/office/drawing/2014/main" id="{A1705A10-CAF1-E97C-F291-F98758FAB7ED}"/>
              </a:ext>
            </a:extLst>
          </p:cNvPr>
          <p:cNvSpPr txBox="1"/>
          <p:nvPr/>
        </p:nvSpPr>
        <p:spPr>
          <a:xfrm>
            <a:off x="3575313" y="28509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Tree>
    <p:extLst>
      <p:ext uri="{BB962C8B-B14F-4D97-AF65-F5344CB8AC3E}">
        <p14:creationId xmlns:p14="http://schemas.microsoft.com/office/powerpoint/2010/main" val="28145133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3"/>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23"/>
                                        </p:tgtEl>
                                        <p:attrNameLst>
                                          <p:attrName>style.visibility</p:attrName>
                                        </p:attrNameLst>
                                      </p:cBhvr>
                                      <p:tavLst>
                                        <p:tav tm="0">
                                          <p:val>
                                            <p:strVal val="hidden"/>
                                          </p:val>
                                        </p:tav>
                                        <p:tav tm="50000">
                                          <p:val>
                                            <p:strVal val="visible"/>
                                          </p:val>
                                        </p:tav>
                                      </p:tavLst>
                                    </p:anim>
                                  </p:childTnLst>
                                </p:cTn>
                              </p:par>
                            </p:childTnLst>
                          </p:cTn>
                        </p:par>
                        <p:par>
                          <p:cTn id="10" fill="hold">
                            <p:stCondLst>
                              <p:cond delay="2500"/>
                            </p:stCondLst>
                            <p:childTnLst>
                              <p:par>
                                <p:cTn id="11" presetID="1" presetClass="entr" presetSubtype="0" fill="hold" grpId="0" nodeType="afterEffect">
                                  <p:stCondLst>
                                    <p:cond delay="0"/>
                                  </p:stCondLst>
                                  <p:childTnLst>
                                    <p:set>
                                      <p:cBhvr>
                                        <p:cTn id="12" dur="1" fill="hold">
                                          <p:stCondLst>
                                            <p:cond delay="999"/>
                                          </p:stCondLst>
                                        </p:cTn>
                                        <p:tgtEl>
                                          <p:spTgt spid="24"/>
                                        </p:tgtEl>
                                        <p:attrNameLst>
                                          <p:attrName>style.visibility</p:attrName>
                                        </p:attrNameLst>
                                      </p:cBhvr>
                                      <p:to>
                                        <p:strVal val="visible"/>
                                      </p:to>
                                    </p:set>
                                  </p:childTnLst>
                                </p:cTn>
                              </p:par>
                              <p:par>
                                <p:cTn id="13" presetID="35" presetClass="emph" presetSubtype="0" repeatCount="3000" fill="hold" grpId="1" nodeType="withEffect">
                                  <p:stCondLst>
                                    <p:cond delay="0"/>
                                  </p:stCondLst>
                                  <p:childTnLst>
                                    <p:anim calcmode="discrete" valueType="str">
                                      <p:cBhvr>
                                        <p:cTn id="14" dur="500" fill="hold"/>
                                        <p:tgtEl>
                                          <p:spTgt spid="24"/>
                                        </p:tgtEl>
                                        <p:attrNameLst>
                                          <p:attrName>style.visibility</p:attrName>
                                        </p:attrNameLst>
                                      </p:cBhvr>
                                      <p:tavLst>
                                        <p:tav tm="0">
                                          <p:val>
                                            <p:strVal val="hidden"/>
                                          </p:val>
                                        </p:tav>
                                        <p:tav tm="50000">
                                          <p:val>
                                            <p:strVal val="visible"/>
                                          </p:val>
                                        </p:tav>
                                      </p:tavLst>
                                    </p:anim>
                                  </p:childTnLst>
                                </p:cTn>
                              </p:par>
                            </p:childTnLst>
                          </p:cTn>
                        </p:par>
                        <p:par>
                          <p:cTn id="15" fill="hold">
                            <p:stCondLst>
                              <p:cond delay="4000"/>
                            </p:stCondLst>
                            <p:childTnLst>
                              <p:par>
                                <p:cTn id="16" presetID="1" presetClass="entr" presetSubtype="0" fill="hold" grpId="0" nodeType="afterEffect">
                                  <p:stCondLst>
                                    <p:cond delay="0"/>
                                  </p:stCondLst>
                                  <p:childTnLst>
                                    <p:set>
                                      <p:cBhvr>
                                        <p:cTn id="17" dur="1" fill="hold">
                                          <p:stCondLst>
                                            <p:cond delay="999"/>
                                          </p:stCondLst>
                                        </p:cTn>
                                        <p:tgtEl>
                                          <p:spTgt spid="25"/>
                                        </p:tgtEl>
                                        <p:attrNameLst>
                                          <p:attrName>style.visibility</p:attrName>
                                        </p:attrNameLst>
                                      </p:cBhvr>
                                      <p:to>
                                        <p:strVal val="visible"/>
                                      </p:to>
                                    </p:set>
                                  </p:childTnLst>
                                </p:cTn>
                              </p:par>
                              <p:par>
                                <p:cTn id="18" presetID="35" presetClass="emph" presetSubtype="0" repeatCount="3000" fill="hold" grpId="1" nodeType="withEffect">
                                  <p:stCondLst>
                                    <p:cond delay="0"/>
                                  </p:stCondLst>
                                  <p:childTnLst>
                                    <p:anim calcmode="discrete" valueType="str">
                                      <p:cBhvr>
                                        <p:cTn id="19" dur="5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p:bldP spid="24" grpId="1"/>
      <p:bldP spid="25" grpId="0"/>
      <p:bldP spid="25" grpId="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3AFE1-EF08-1B4A-A269-7918C3E05A7B}"/>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6F31D1F-7528-F6A1-2EE1-650D50D3C5BD}"/>
              </a:ext>
            </a:extLst>
          </p:cNvPr>
          <p:cNvSpPr>
            <a:spLocks noGrp="1"/>
          </p:cNvSpPr>
          <p:nvPr>
            <p:ph type="title"/>
          </p:nvPr>
        </p:nvSpPr>
        <p:spPr>
          <a:xfrm>
            <a:off x="486000" y="550723"/>
            <a:ext cx="8172000" cy="338554"/>
          </a:xfrm>
        </p:spPr>
        <p:txBody>
          <a:bodyPr/>
          <a:lstStyle/>
          <a:p>
            <a:r>
              <a:rPr lang="zh-CN" altLang="en-US" dirty="0"/>
              <a:t>确认迟到</a:t>
            </a:r>
          </a:p>
        </p:txBody>
      </p:sp>
      <p:sp>
        <p:nvSpPr>
          <p:cNvPr id="5" name="Line 36">
            <a:extLst>
              <a:ext uri="{FF2B5EF4-FFF2-40B4-BE49-F238E27FC236}">
                <a16:creationId xmlns:a16="http://schemas.microsoft.com/office/drawing/2014/main" id="{6EE7DF07-4C45-3180-3B33-9347DD32BD2F}"/>
              </a:ext>
            </a:extLst>
          </p:cNvPr>
          <p:cNvSpPr>
            <a:spLocks noChangeShapeType="1"/>
          </p:cNvSpPr>
          <p:nvPr/>
        </p:nvSpPr>
        <p:spPr bwMode="auto">
          <a:xfrm>
            <a:off x="2442953"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48E9E65A-49D4-FF20-43C7-146D227DBDFC}"/>
              </a:ext>
            </a:extLst>
          </p:cNvPr>
          <p:cNvSpPr>
            <a:spLocks noChangeShapeType="1"/>
          </p:cNvSpPr>
          <p:nvPr/>
        </p:nvSpPr>
        <p:spPr bwMode="auto">
          <a:xfrm>
            <a:off x="3602105"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4AC51222-3625-E6E7-A23E-6FEAB0D04D66}"/>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2F2A92B4-507E-EA5D-CD4B-537A853A1C92}"/>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8524BFE0-5EE8-3255-426E-22346002D55E}"/>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1E1CF055-91C1-B1E2-D24D-5F1F7F547FC5}"/>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09CC7468-AB34-D728-8C50-C1B5F7FD0F5D}"/>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C1F58B55-120D-7E9E-2D78-128D3A9CE0F5}"/>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CA0F74FF-0117-A7A2-31FA-2E2D0B0FE28B}"/>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9AD99B57-18BD-0089-D024-9CFC1F6BDAE8}"/>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5E09CEEC-08E5-BF08-1EE3-F9CF992B0AA8}"/>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751A4A9C-9532-AAAB-A1B2-AFBCDE20EA9D}"/>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77282E2F-D10B-91DB-C4C6-8504F4BC2B51}"/>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46FD57B0-9D73-BE57-DAF0-086353C31D9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1" name="Freeform 45">
            <a:extLst>
              <a:ext uri="{FF2B5EF4-FFF2-40B4-BE49-F238E27FC236}">
                <a16:creationId xmlns:a16="http://schemas.microsoft.com/office/drawing/2014/main" id="{41F0A645-8F46-FE24-0B05-9FEB92382F1B}"/>
              </a:ext>
            </a:extLst>
          </p:cNvPr>
          <p:cNvSpPr>
            <a:spLocks/>
          </p:cNvSpPr>
          <p:nvPr/>
        </p:nvSpPr>
        <p:spPr bwMode="auto">
          <a:xfrm>
            <a:off x="2459313" y="3521041"/>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4" name="AutoShape 46">
            <a:extLst>
              <a:ext uri="{FF2B5EF4-FFF2-40B4-BE49-F238E27FC236}">
                <a16:creationId xmlns:a16="http://schemas.microsoft.com/office/drawing/2014/main" id="{7C4C1FAA-0325-3C97-1534-EAA1AFC8F2A7}"/>
              </a:ext>
            </a:extLst>
          </p:cNvPr>
          <p:cNvSpPr>
            <a:spLocks noChangeArrowheads="1"/>
          </p:cNvSpPr>
          <p:nvPr/>
        </p:nvSpPr>
        <p:spPr bwMode="auto">
          <a:xfrm rot="480000">
            <a:off x="3163781" y="3759022"/>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Rectangle 47">
            <a:extLst>
              <a:ext uri="{FF2B5EF4-FFF2-40B4-BE49-F238E27FC236}">
                <a16:creationId xmlns:a16="http://schemas.microsoft.com/office/drawing/2014/main" id="{92A2FEE6-98A0-6F14-D57A-375C523A4739}"/>
              </a:ext>
            </a:extLst>
          </p:cNvPr>
          <p:cNvSpPr>
            <a:spLocks noChangeArrowheads="1"/>
          </p:cNvSpPr>
          <p:nvPr/>
        </p:nvSpPr>
        <p:spPr bwMode="auto">
          <a:xfrm rot="540000">
            <a:off x="2668945" y="3604806"/>
            <a:ext cx="384722" cy="27443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2</a:t>
            </a:r>
          </a:p>
        </p:txBody>
      </p:sp>
      <p:sp>
        <p:nvSpPr>
          <p:cNvPr id="26" name="TextBox 86">
            <a:extLst>
              <a:ext uri="{FF2B5EF4-FFF2-40B4-BE49-F238E27FC236}">
                <a16:creationId xmlns:a16="http://schemas.microsoft.com/office/drawing/2014/main" id="{B731CAC9-AF66-8F40-2509-EA7262D5A790}"/>
              </a:ext>
            </a:extLst>
          </p:cNvPr>
          <p:cNvSpPr txBox="1"/>
          <p:nvPr/>
        </p:nvSpPr>
        <p:spPr>
          <a:xfrm>
            <a:off x="3575313" y="21651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27" name="TextBox 86">
            <a:extLst>
              <a:ext uri="{FF2B5EF4-FFF2-40B4-BE49-F238E27FC236}">
                <a16:creationId xmlns:a16="http://schemas.microsoft.com/office/drawing/2014/main" id="{4AC911D0-8A3D-A0DF-8B71-3C33B0E3FA2B}"/>
              </a:ext>
            </a:extLst>
          </p:cNvPr>
          <p:cNvSpPr txBox="1"/>
          <p:nvPr/>
        </p:nvSpPr>
        <p:spPr>
          <a:xfrm>
            <a:off x="3619857" y="2992108"/>
            <a:ext cx="982833" cy="461665"/>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重复、丢弃</a:t>
            </a:r>
            <a:endParaRPr lang="en-US" altLang="zh-CN" sz="1200" dirty="0">
              <a:latin typeface="微软雅黑 Light" panose="020B0502040204020203" pitchFamily="34" charset="-122"/>
              <a:ea typeface="微软雅黑 Light" panose="020B0502040204020203" pitchFamily="34" charset="-122"/>
            </a:endParaRPr>
          </a:p>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30" name="TextBox 86">
            <a:extLst>
              <a:ext uri="{FF2B5EF4-FFF2-40B4-BE49-F238E27FC236}">
                <a16:creationId xmlns:a16="http://schemas.microsoft.com/office/drawing/2014/main" id="{E2620326-DDC6-408A-386B-6CF66076CBFB}"/>
              </a:ext>
            </a:extLst>
          </p:cNvPr>
          <p:cNvSpPr txBox="1"/>
          <p:nvPr/>
        </p:nvSpPr>
        <p:spPr>
          <a:xfrm>
            <a:off x="1100729" y="3838320"/>
            <a:ext cx="1349921" cy="461665"/>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重复 </a:t>
            </a:r>
            <a:r>
              <a:rPr lang="en-US" altLang="zh-CN" sz="1200" dirty="0">
                <a:latin typeface="微软雅黑 Light" panose="020B0502040204020203" pitchFamily="34" charset="-122"/>
                <a:ea typeface="微软雅黑 Light" panose="020B0502040204020203" pitchFamily="34" charset="-122"/>
              </a:rPr>
              <a:t>ACK1</a:t>
            </a:r>
            <a:r>
              <a:rPr lang="zh-CN" altLang="en-US" sz="1200" dirty="0">
                <a:latin typeface="微软雅黑 Light" panose="020B0502040204020203" pitchFamily="34" charset="-122"/>
                <a:ea typeface="微软雅黑 Light" panose="020B0502040204020203" pitchFamily="34" charset="-122"/>
              </a:rPr>
              <a:t>，丢弃</a:t>
            </a:r>
          </a:p>
          <a:p>
            <a:pPr algn="r" defTabSz="762000" eaLnBrk="0" hangingPunct="0"/>
            <a:r>
              <a:rPr lang="zh-CN" altLang="en-US" sz="1200" dirty="0">
                <a:latin typeface="微软雅黑 Light" panose="020B0502040204020203" pitchFamily="34" charset="-122"/>
                <a:ea typeface="微软雅黑 Light" panose="020B0502040204020203" pitchFamily="34" charset="-122"/>
              </a:rPr>
              <a:t>等待 </a:t>
            </a:r>
            <a:r>
              <a:rPr lang="en-US" altLang="zh-CN" sz="1200" dirty="0">
                <a:latin typeface="微软雅黑 Light" panose="020B0502040204020203" pitchFamily="34" charset="-122"/>
                <a:ea typeface="微软雅黑 Light" panose="020B0502040204020203" pitchFamily="34" charset="-122"/>
              </a:rPr>
              <a:t>ACK2 </a:t>
            </a:r>
          </a:p>
        </p:txBody>
      </p:sp>
      <p:sp>
        <p:nvSpPr>
          <p:cNvPr id="31" name="Line 52">
            <a:extLst>
              <a:ext uri="{FF2B5EF4-FFF2-40B4-BE49-F238E27FC236}">
                <a16:creationId xmlns:a16="http://schemas.microsoft.com/office/drawing/2014/main" id="{4D3F3009-10AB-C497-FF54-7868C97C0A37}"/>
              </a:ext>
            </a:extLst>
          </p:cNvPr>
          <p:cNvSpPr>
            <a:spLocks noChangeShapeType="1"/>
          </p:cNvSpPr>
          <p:nvPr/>
        </p:nvSpPr>
        <p:spPr bwMode="auto">
          <a:xfrm flipH="1">
            <a:off x="2435256" y="2266841"/>
            <a:ext cx="1147737" cy="1744159"/>
          </a:xfrm>
          <a:prstGeom prst="line">
            <a:avLst/>
          </a:prstGeom>
          <a:noFill/>
          <a:ln w="12700">
            <a:solidFill>
              <a:srgbClr val="FF0000"/>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7070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999"/>
                                          </p:stCondLst>
                                        </p:cTn>
                                        <p:tgtEl>
                                          <p:spTgt spid="26"/>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500" fill="hold"/>
                                        <p:tgtEl>
                                          <p:spTgt spid="26"/>
                                        </p:tgtEl>
                                        <p:attrNameLst>
                                          <p:attrName>style.visibility</p:attrName>
                                        </p:attrNameLst>
                                      </p:cBhvr>
                                      <p:tavLst>
                                        <p:tav tm="0">
                                          <p:val>
                                            <p:strVal val="hidden"/>
                                          </p:val>
                                        </p:tav>
                                        <p:tav tm="50000">
                                          <p:val>
                                            <p:strVal val="visible"/>
                                          </p:val>
                                        </p:tav>
                                      </p:tavLst>
                                    </p:anim>
                                  </p:childTnLst>
                                </p:cTn>
                              </p:par>
                            </p:childTnLst>
                          </p:cTn>
                        </p:par>
                        <p:par>
                          <p:cTn id="9" fill="hold">
                            <p:stCondLst>
                              <p:cond delay="1500"/>
                            </p:stCondLst>
                            <p:childTnLst>
                              <p:par>
                                <p:cTn id="10" presetID="1" presetClass="entr" presetSubtype="0" fill="hold" grpId="0" nodeType="afterEffect">
                                  <p:stCondLst>
                                    <p:cond delay="0"/>
                                  </p:stCondLst>
                                  <p:childTnLst>
                                    <p:set>
                                      <p:cBhvr>
                                        <p:cTn id="11" dur="1" fill="hold">
                                          <p:stCondLst>
                                            <p:cond delay="999"/>
                                          </p:stCondLst>
                                        </p:cTn>
                                        <p:tgtEl>
                                          <p:spTgt spid="27"/>
                                        </p:tgtEl>
                                        <p:attrNameLst>
                                          <p:attrName>style.visibility</p:attrName>
                                        </p:attrNameLst>
                                      </p:cBhvr>
                                      <p:to>
                                        <p:strVal val="visible"/>
                                      </p:to>
                                    </p:set>
                                  </p:childTnLst>
                                </p:cTn>
                              </p:par>
                              <p:par>
                                <p:cTn id="12" presetID="35" presetClass="emph" presetSubtype="0" repeatCount="3000" fill="hold" grpId="1" nodeType="withEffect">
                                  <p:stCondLst>
                                    <p:cond delay="0"/>
                                  </p:stCondLst>
                                  <p:childTnLst>
                                    <p:anim calcmode="discrete" valueType="str">
                                      <p:cBhvr>
                                        <p:cTn id="13" dur="500" fill="hold"/>
                                        <p:tgtEl>
                                          <p:spTgt spid="27"/>
                                        </p:tgtEl>
                                        <p:attrNameLst>
                                          <p:attrName>style.visibility</p:attrName>
                                        </p:attrNameLst>
                                      </p:cBhvr>
                                      <p:tavLst>
                                        <p:tav tm="0">
                                          <p:val>
                                            <p:strVal val="hidden"/>
                                          </p:val>
                                        </p:tav>
                                        <p:tav tm="50000">
                                          <p:val>
                                            <p:strVal val="visible"/>
                                          </p:val>
                                        </p:tav>
                                      </p:tavLst>
                                    </p:anim>
                                  </p:childTnLst>
                                </p:cTn>
                              </p:par>
                            </p:childTnLst>
                          </p:cTn>
                        </p:par>
                        <p:par>
                          <p:cTn id="14" fill="hold">
                            <p:stCondLst>
                              <p:cond delay="3000"/>
                            </p:stCondLst>
                            <p:childTnLst>
                              <p:par>
                                <p:cTn id="15" presetID="1" presetClass="entr" presetSubtype="0" fill="hold" grpId="0" nodeType="afterEffect">
                                  <p:stCondLst>
                                    <p:cond delay="0"/>
                                  </p:stCondLst>
                                  <p:childTnLst>
                                    <p:set>
                                      <p:cBhvr>
                                        <p:cTn id="16" dur="1" fill="hold">
                                          <p:stCondLst>
                                            <p:cond delay="999"/>
                                          </p:stCondLst>
                                        </p:cTn>
                                        <p:tgtEl>
                                          <p:spTgt spid="30"/>
                                        </p:tgtEl>
                                        <p:attrNameLst>
                                          <p:attrName>style.visibility</p:attrName>
                                        </p:attrNameLst>
                                      </p:cBhvr>
                                      <p:to>
                                        <p:strVal val="visible"/>
                                      </p:to>
                                    </p:set>
                                  </p:childTnLst>
                                </p:cTn>
                              </p:par>
                              <p:par>
                                <p:cTn id="17" presetID="35" presetClass="emph" presetSubtype="0" repeatCount="3000" fill="hold" grpId="1" nodeType="withEffect">
                                  <p:stCondLst>
                                    <p:cond delay="0"/>
                                  </p:stCondLst>
                                  <p:childTnLst>
                                    <p:anim calcmode="discrete" valueType="str">
                                      <p:cBhvr>
                                        <p:cTn id="18" dur="5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6" grpId="1"/>
      <p:bldP spid="27" grpId="0"/>
      <p:bldP spid="27" grpId="1"/>
      <p:bldP spid="30" grpId="0"/>
      <p:bldP spid="30" grpId="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D</a:t>
            </a:r>
            <a:r>
              <a:rPr lang="en-US" altLang="zh-CN" sz="1200" b="1" dirty="0">
                <a:solidFill>
                  <a:srgbClr val="0000FF"/>
                </a:solidFill>
                <a:latin typeface="微软雅黑" pitchFamily="34" charset="-122"/>
                <a:ea typeface="微软雅黑" pitchFamily="34" charset="-122"/>
              </a:rPr>
              <a:t> + RTT + </a:t>
            </a:r>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9" name="内容占位符 8">
            <a:extLst>
              <a:ext uri="{FF2B5EF4-FFF2-40B4-BE49-F238E27FC236}">
                <a16:creationId xmlns:a16="http://schemas.microsoft.com/office/drawing/2014/main" id="{1F882924-89B4-26A7-4A9D-33B0C18F5EF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486000" y="550723"/>
            <a:ext cx="8172000" cy="338554"/>
          </a:xfrm>
          <a:prstGeom prst="rect">
            <a:avLst/>
          </a:prstGeo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900000"/>
            <a:ext cx="8172000" cy="3703500"/>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486000" y="550723"/>
            <a:ext cx="8172000" cy="338554"/>
          </a:xfrm>
          <a:prstGeom prst="rect">
            <a:avLst/>
          </a:prstGeo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486000" y="550723"/>
            <a:ext cx="8172000" cy="338554"/>
          </a:xfrm>
        </p:spPr>
        <p:txBody>
          <a:bodyPr/>
          <a:lstStyle/>
          <a:p>
            <a:r>
              <a:rPr lang="zh-CN" altLang="en-US" dirty="0"/>
              <a:t>提高传输效率：流水线传输</a:t>
            </a:r>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a:xfrm>
            <a:off x="486000" y="900000"/>
            <a:ext cx="8172000" cy="3703500"/>
          </a:xfrm>
        </p:spPr>
        <p:txBody>
          <a:bodyPr/>
          <a:lstStyle/>
          <a:p>
            <a:r>
              <a:rPr lang="zh-CN" altLang="en-US" dirty="0"/>
              <a:t>发送窗口：发送方维持一个发送窗口，位于发送窗口内的分组都可被连续发送出去，而不需要等待对方的确认。</a:t>
            </a:r>
            <a:endParaRPr lang="en-US" altLang="zh-CN" dirty="0"/>
          </a:p>
          <a:p>
            <a:r>
              <a:rPr lang="zh-CN" altLang="en-US" dirty="0"/>
              <a:t>发送窗口滑动：发送方每收到一个确认，就把发送窗口向前滑动一个分组的位置。</a:t>
            </a:r>
            <a:endParaRPr lang="en-US" altLang="zh-CN" dirty="0"/>
          </a:p>
          <a:p>
            <a:r>
              <a:rPr lang="zh-CN" altLang="en-US" dirty="0"/>
              <a:t>累积确认：接收方对按序到达的最后一个分组发送确认，表示：到这个分组为止的所有分组都已正确收到了。</a:t>
            </a:r>
            <a:endParaRPr lang="en-US" altLang="zh-CN" dirty="0"/>
          </a:p>
          <a:p>
            <a:endParaRPr lang="zh-CN" altLang="en-US" dirty="0"/>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486000" y="550723"/>
            <a:ext cx="8172000" cy="338554"/>
          </a:xfrm>
        </p:spPr>
        <p:txBody>
          <a:bodyPr/>
          <a:lstStyle/>
          <a:p>
            <a:r>
              <a:rPr lang="en-US" altLang="zh-CN" dirty="0"/>
              <a:t>5.4.2   </a:t>
            </a:r>
            <a:r>
              <a:rPr lang="zh-CN" altLang="en-US" dirty="0"/>
              <a:t>连续 </a:t>
            </a:r>
            <a:r>
              <a:rPr lang="en-US" altLang="zh-CN" dirty="0"/>
              <a:t>ARQ </a:t>
            </a:r>
            <a:r>
              <a:rPr lang="zh-CN" altLang="en-US" dirty="0"/>
              <a:t>协议</a:t>
            </a:r>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86CC97-3CD7-9D5B-1634-5383FA9E0FEA}"/>
              </a:ext>
            </a:extLst>
          </p:cNvPr>
          <p:cNvSpPr>
            <a:spLocks noGrp="1"/>
          </p:cNvSpPr>
          <p:nvPr>
            <p:ph type="title" idx="4294967295"/>
          </p:nvPr>
        </p:nvSpPr>
        <p:spPr>
          <a:xfrm>
            <a:off x="0" y="550863"/>
            <a:ext cx="8172450" cy="338137"/>
          </a:xfrm>
          <a:prstGeom prst="rect">
            <a:avLst/>
          </a:prstGeom>
        </p:spPr>
        <p:txBody>
          <a:bodyPr/>
          <a:lstStyle/>
          <a:p>
            <a:r>
              <a:rPr lang="zh-CN" altLang="en-US" dirty="0"/>
              <a:t>发送窗口</a:t>
            </a:r>
          </a:p>
        </p:txBody>
      </p:sp>
      <p:grpSp>
        <p:nvGrpSpPr>
          <p:cNvPr id="5" name="组合 4"/>
          <p:cNvGrpSpPr/>
          <p:nvPr/>
        </p:nvGrpSpPr>
        <p:grpSpPr>
          <a:xfrm>
            <a:off x="2077542"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CB8ADEDB-CD5B-E37C-6460-67AF5DA3053C}"/>
              </a:ext>
            </a:extLst>
          </p:cNvPr>
          <p:cNvSpPr>
            <a:spLocks noChangeArrowheads="1"/>
          </p:cNvSpPr>
          <p:nvPr/>
        </p:nvSpPr>
        <p:spPr bwMode="auto">
          <a:xfrm>
            <a:off x="2077541" y="1367482"/>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0" name="Text Box 31">
            <a:extLst>
              <a:ext uri="{FF2B5EF4-FFF2-40B4-BE49-F238E27FC236}">
                <a16:creationId xmlns:a16="http://schemas.microsoft.com/office/drawing/2014/main" id="{CE160EBD-7171-0F42-2D6E-B1E26D0B76BA}"/>
              </a:ext>
            </a:extLst>
          </p:cNvPr>
          <p:cNvSpPr txBox="1">
            <a:spLocks noChangeArrowheads="1"/>
          </p:cNvSpPr>
          <p:nvPr/>
        </p:nvSpPr>
        <p:spPr bwMode="auto">
          <a:xfrm>
            <a:off x="3342431" y="103875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31" name="表格 30">
            <a:extLst>
              <a:ext uri="{FF2B5EF4-FFF2-40B4-BE49-F238E27FC236}">
                <a16:creationId xmlns:a16="http://schemas.microsoft.com/office/drawing/2014/main" id="{3A93FFC0-D82B-A3A2-A5C2-0A4EEDE22CB2}"/>
              </a:ext>
            </a:extLst>
          </p:cNvPr>
          <p:cNvGraphicFramePr>
            <a:graphicFrameLocks noGrp="1"/>
          </p:cNvGraphicFramePr>
          <p:nvPr>
            <p:extLst>
              <p:ext uri="{D42A27DB-BD31-4B8C-83A1-F6EECF244321}">
                <p14:modId xmlns:p14="http://schemas.microsoft.com/office/powerpoint/2010/main" val="3169804642"/>
              </p:ext>
            </p:extLst>
          </p:nvPr>
        </p:nvGraphicFramePr>
        <p:xfrm>
          <a:off x="642065" y="1460684"/>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32" name="AutoShape 26">
            <a:extLst>
              <a:ext uri="{FF2B5EF4-FFF2-40B4-BE49-F238E27FC236}">
                <a16:creationId xmlns:a16="http://schemas.microsoft.com/office/drawing/2014/main" id="{6E6E67BF-0C2B-64DE-7126-350FD971904F}"/>
              </a:ext>
            </a:extLst>
          </p:cNvPr>
          <p:cNvSpPr>
            <a:spLocks/>
          </p:cNvSpPr>
          <p:nvPr/>
        </p:nvSpPr>
        <p:spPr bwMode="auto">
          <a:xfrm rot="16200000">
            <a:off x="4409693"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AutoShape 26">
            <a:extLst>
              <a:ext uri="{FF2B5EF4-FFF2-40B4-BE49-F238E27FC236}">
                <a16:creationId xmlns:a16="http://schemas.microsoft.com/office/drawing/2014/main" id="{27556AE5-7E0A-B51E-5AC8-DB9D1E58A796}"/>
              </a:ext>
            </a:extLst>
          </p:cNvPr>
          <p:cNvSpPr>
            <a:spLocks/>
          </p:cNvSpPr>
          <p:nvPr/>
        </p:nvSpPr>
        <p:spPr bwMode="auto">
          <a:xfrm rot="16200000">
            <a:off x="2743541"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AutoShape 26">
            <a:extLst>
              <a:ext uri="{FF2B5EF4-FFF2-40B4-BE49-F238E27FC236}">
                <a16:creationId xmlns:a16="http://schemas.microsoft.com/office/drawing/2014/main" id="{2BEA4913-768B-DEA7-66B5-78C630B78707}"/>
              </a:ext>
            </a:extLst>
          </p:cNvPr>
          <p:cNvSpPr>
            <a:spLocks/>
          </p:cNvSpPr>
          <p:nvPr/>
        </p:nvSpPr>
        <p:spPr bwMode="auto">
          <a:xfrm rot="16200000">
            <a:off x="1308065" y="141202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AutoShape 26">
            <a:extLst>
              <a:ext uri="{FF2B5EF4-FFF2-40B4-BE49-F238E27FC236}">
                <a16:creationId xmlns:a16="http://schemas.microsoft.com/office/drawing/2014/main" id="{34B5F3B1-1EAE-E2E9-21E3-95D5158A20CB}"/>
              </a:ext>
            </a:extLst>
          </p:cNvPr>
          <p:cNvSpPr>
            <a:spLocks/>
          </p:cNvSpPr>
          <p:nvPr/>
        </p:nvSpPr>
        <p:spPr bwMode="auto">
          <a:xfrm rot="16200000">
            <a:off x="6060069"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文本框 36">
            <a:extLst>
              <a:ext uri="{FF2B5EF4-FFF2-40B4-BE49-F238E27FC236}">
                <a16:creationId xmlns:a16="http://schemas.microsoft.com/office/drawing/2014/main" id="{E06DADD9-1CB5-5A33-3373-B55F0CC83092}"/>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38" name="文本框 37">
            <a:extLst>
              <a:ext uri="{FF2B5EF4-FFF2-40B4-BE49-F238E27FC236}">
                <a16:creationId xmlns:a16="http://schemas.microsoft.com/office/drawing/2014/main" id="{F165BC0C-9023-BCF4-DC4A-9565937E9C5C}"/>
              </a:ext>
            </a:extLst>
          </p:cNvPr>
          <p:cNvSpPr txBox="1"/>
          <p:nvPr/>
        </p:nvSpPr>
        <p:spPr>
          <a:xfrm>
            <a:off x="4136879" y="225776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39" name="文本框 38">
            <a:extLst>
              <a:ext uri="{FF2B5EF4-FFF2-40B4-BE49-F238E27FC236}">
                <a16:creationId xmlns:a16="http://schemas.microsoft.com/office/drawing/2014/main" id="{89C38842-852D-6020-61F3-3B2EAC3805B9}"/>
              </a:ext>
            </a:extLst>
          </p:cNvPr>
          <p:cNvSpPr txBox="1"/>
          <p:nvPr/>
        </p:nvSpPr>
        <p:spPr>
          <a:xfrm>
            <a:off x="1038900"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C0C0ACD1-9DC4-B41A-CB4B-E106BF866FFB}"/>
              </a:ext>
            </a:extLst>
          </p:cNvPr>
          <p:cNvSpPr txBox="1"/>
          <p:nvPr/>
        </p:nvSpPr>
        <p:spPr>
          <a:xfrm>
            <a:off x="5790903"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 name="Rectangle 29">
            <a:extLst>
              <a:ext uri="{FF2B5EF4-FFF2-40B4-BE49-F238E27FC236}">
                <a16:creationId xmlns:a16="http://schemas.microsoft.com/office/drawing/2014/main" id="{5236DE82-61C0-C0AE-FEAB-22478EAB46A7}"/>
              </a:ext>
            </a:extLst>
          </p:cNvPr>
          <p:cNvSpPr>
            <a:spLocks noChangeArrowheads="1"/>
          </p:cNvSpPr>
          <p:nvPr/>
        </p:nvSpPr>
        <p:spPr bwMode="auto">
          <a:xfrm>
            <a:off x="2077541" y="3266269"/>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0E46EBBD-5D4F-4C71-20A9-C8F8626F2570}"/>
              </a:ext>
            </a:extLst>
          </p:cNvPr>
          <p:cNvSpPr txBox="1">
            <a:spLocks noChangeArrowheads="1"/>
          </p:cNvSpPr>
          <p:nvPr/>
        </p:nvSpPr>
        <p:spPr bwMode="auto">
          <a:xfrm>
            <a:off x="3342432" y="2937537"/>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接收窗口</a:t>
            </a:r>
          </a:p>
        </p:txBody>
      </p:sp>
      <p:graphicFrame>
        <p:nvGraphicFramePr>
          <p:cNvPr id="5" name="表格 4">
            <a:extLst>
              <a:ext uri="{FF2B5EF4-FFF2-40B4-BE49-F238E27FC236}">
                <a16:creationId xmlns:a16="http://schemas.microsoft.com/office/drawing/2014/main" id="{25CD0DED-9755-3BEE-57D7-83BFBF16E324}"/>
              </a:ext>
            </a:extLst>
          </p:cNvPr>
          <p:cNvGraphicFramePr>
            <a:graphicFrameLocks noGrp="1"/>
          </p:cNvGraphicFramePr>
          <p:nvPr>
            <p:extLst>
              <p:ext uri="{D42A27DB-BD31-4B8C-83A1-F6EECF244321}">
                <p14:modId xmlns:p14="http://schemas.microsoft.com/office/powerpoint/2010/main" val="1648239173"/>
              </p:ext>
            </p:extLst>
          </p:nvPr>
        </p:nvGraphicFramePr>
        <p:xfrm>
          <a:off x="642065" y="3359471"/>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40830B2F-6354-BA21-249E-D098B656A358}"/>
              </a:ext>
            </a:extLst>
          </p:cNvPr>
          <p:cNvSpPr>
            <a:spLocks/>
          </p:cNvSpPr>
          <p:nvPr/>
        </p:nvSpPr>
        <p:spPr bwMode="auto">
          <a:xfrm rot="16200000">
            <a:off x="4409693" y="3112811"/>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3486C548-2C08-2175-E240-55DED8817CB8}"/>
              </a:ext>
            </a:extLst>
          </p:cNvPr>
          <p:cNvSpPr>
            <a:spLocks/>
          </p:cNvSpPr>
          <p:nvPr/>
        </p:nvSpPr>
        <p:spPr bwMode="auto">
          <a:xfrm rot="16200000">
            <a:off x="2257541" y="3796811"/>
            <a:ext cx="108000" cy="4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61B1B53D-FB4C-75A7-877E-B37D0F093897}"/>
              </a:ext>
            </a:extLst>
          </p:cNvPr>
          <p:cNvSpPr>
            <a:spLocks/>
          </p:cNvSpPr>
          <p:nvPr/>
        </p:nvSpPr>
        <p:spPr bwMode="auto">
          <a:xfrm rot="16200000">
            <a:off x="1308065" y="3310810"/>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文本框 9">
            <a:extLst>
              <a:ext uri="{FF2B5EF4-FFF2-40B4-BE49-F238E27FC236}">
                <a16:creationId xmlns:a16="http://schemas.microsoft.com/office/drawing/2014/main" id="{0B232B86-25D1-DBF1-7423-4FA2C61BDAEA}"/>
              </a:ext>
            </a:extLst>
          </p:cNvPr>
          <p:cNvSpPr txBox="1"/>
          <p:nvPr/>
        </p:nvSpPr>
        <p:spPr>
          <a:xfrm>
            <a:off x="2700875"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1" name="文本框 10">
            <a:extLst>
              <a:ext uri="{FF2B5EF4-FFF2-40B4-BE49-F238E27FC236}">
                <a16:creationId xmlns:a16="http://schemas.microsoft.com/office/drawing/2014/main" id="{AC8E8E76-F025-6645-D6FD-6C6A13C78A45}"/>
              </a:ext>
            </a:extLst>
          </p:cNvPr>
          <p:cNvSpPr txBox="1"/>
          <p:nvPr/>
        </p:nvSpPr>
        <p:spPr>
          <a:xfrm>
            <a:off x="4135280" y="4156556"/>
            <a:ext cx="649537"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可接收</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F1D801A5-B9EB-BEB2-56CF-E41AD520508E}"/>
              </a:ext>
            </a:extLst>
          </p:cNvPr>
          <p:cNvSpPr txBox="1"/>
          <p:nvPr/>
        </p:nvSpPr>
        <p:spPr>
          <a:xfrm>
            <a:off x="1038900"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AutoShape 26">
            <a:extLst>
              <a:ext uri="{FF2B5EF4-FFF2-40B4-BE49-F238E27FC236}">
                <a16:creationId xmlns:a16="http://schemas.microsoft.com/office/drawing/2014/main" id="{783E87A3-EA8B-DB21-C0C4-4DD83FA846FB}"/>
              </a:ext>
            </a:extLst>
          </p:cNvPr>
          <p:cNvSpPr>
            <a:spLocks/>
          </p:cNvSpPr>
          <p:nvPr/>
        </p:nvSpPr>
        <p:spPr bwMode="auto">
          <a:xfrm rot="16200000">
            <a:off x="2970040" y="3562811"/>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文本框 14">
            <a:extLst>
              <a:ext uri="{FF2B5EF4-FFF2-40B4-BE49-F238E27FC236}">
                <a16:creationId xmlns:a16="http://schemas.microsoft.com/office/drawing/2014/main" id="{6C92EF24-CF68-F2D8-A0B6-A3C383863063}"/>
              </a:ext>
            </a:extLst>
          </p:cNvPr>
          <p:cNvSpPr txBox="1"/>
          <p:nvPr/>
        </p:nvSpPr>
        <p:spPr>
          <a:xfrm>
            <a:off x="1982872" y="4156556"/>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未收到</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105388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9">
            <a:extLst>
              <a:ext uri="{FF2B5EF4-FFF2-40B4-BE49-F238E27FC236}">
                <a16:creationId xmlns:a16="http://schemas.microsoft.com/office/drawing/2014/main" id="{510585FD-76E3-2C51-737E-8E9D058C27B9}"/>
              </a:ext>
            </a:extLst>
          </p:cNvPr>
          <p:cNvSpPr>
            <a:spLocks noChangeArrowheads="1"/>
          </p:cNvSpPr>
          <p:nvPr/>
        </p:nvSpPr>
        <p:spPr bwMode="auto">
          <a:xfrm>
            <a:off x="2077541" y="1367482"/>
            <a:ext cx="1899779"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A30B284D-F4D5-B8C7-5CA1-126D85378BD7}"/>
              </a:ext>
            </a:extLst>
          </p:cNvPr>
          <p:cNvSpPr txBox="1">
            <a:spLocks noChangeArrowheads="1"/>
          </p:cNvSpPr>
          <p:nvPr/>
        </p:nvSpPr>
        <p:spPr bwMode="auto">
          <a:xfrm>
            <a:off x="2627321" y="104388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4" name="表格 3">
            <a:extLst>
              <a:ext uri="{FF2B5EF4-FFF2-40B4-BE49-F238E27FC236}">
                <a16:creationId xmlns:a16="http://schemas.microsoft.com/office/drawing/2014/main" id="{09C3C181-F605-FFBE-8753-3A98212D8394}"/>
              </a:ext>
            </a:extLst>
          </p:cNvPr>
          <p:cNvGraphicFramePr>
            <a:graphicFrameLocks noGrp="1"/>
          </p:cNvGraphicFramePr>
          <p:nvPr>
            <p:extLst>
              <p:ext uri="{D42A27DB-BD31-4B8C-83A1-F6EECF244321}">
                <p14:modId xmlns:p14="http://schemas.microsoft.com/office/powerpoint/2010/main" val="2909457646"/>
              </p:ext>
            </p:extLst>
          </p:nvPr>
        </p:nvGraphicFramePr>
        <p:xfrm>
          <a:off x="2077541" y="1460684"/>
          <a:ext cx="381046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tblGrid>
              <a:tr h="370840">
                <a:tc>
                  <a:txBody>
                    <a:bodyPr/>
                    <a:lstStyle/>
                    <a:p>
                      <a:pPr algn="ctr"/>
                      <a:r>
                        <a:rPr lang="en-US" altLang="zh-CN" sz="1200" b="0" dirty="0">
                          <a:solidFill>
                            <a:schemeClr val="bg1"/>
                          </a:solidFill>
                          <a:latin typeface="Montserrat" panose="00000500000000000000" pitchFamily="2" charset="0"/>
                        </a:rPr>
                        <a:t>1</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2</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97555976-9D9F-DBF8-B4BB-59EC46CC0D6C}"/>
              </a:ext>
            </a:extLst>
          </p:cNvPr>
          <p:cNvSpPr>
            <a:spLocks/>
          </p:cNvSpPr>
          <p:nvPr/>
        </p:nvSpPr>
        <p:spPr bwMode="auto">
          <a:xfrm rot="16200000">
            <a:off x="2959541" y="1196024"/>
            <a:ext cx="108000" cy="1872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5DA8E950-E41F-7F2F-5B94-9137AFD5B77B}"/>
              </a:ext>
            </a:extLst>
          </p:cNvPr>
          <p:cNvSpPr>
            <a:spLocks/>
          </p:cNvSpPr>
          <p:nvPr/>
        </p:nvSpPr>
        <p:spPr bwMode="auto">
          <a:xfrm rot="16200000">
            <a:off x="4889670"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 name="文本框 8">
            <a:extLst>
              <a:ext uri="{FF2B5EF4-FFF2-40B4-BE49-F238E27FC236}">
                <a16:creationId xmlns:a16="http://schemas.microsoft.com/office/drawing/2014/main" id="{5248DE04-6313-6A3F-1CE9-2BCE48AF65C6}"/>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363798F4-B72C-9CD2-B2B8-BD7B4A556B75}"/>
              </a:ext>
            </a:extLst>
          </p:cNvPr>
          <p:cNvSpPr txBox="1"/>
          <p:nvPr/>
        </p:nvSpPr>
        <p:spPr>
          <a:xfrm>
            <a:off x="4620504"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13" name="Rectangle 29">
            <a:extLst>
              <a:ext uri="{FF2B5EF4-FFF2-40B4-BE49-F238E27FC236}">
                <a16:creationId xmlns:a16="http://schemas.microsoft.com/office/drawing/2014/main" id="{27586C2A-7AA8-282A-342D-A518FB16A6D7}"/>
              </a:ext>
            </a:extLst>
          </p:cNvPr>
          <p:cNvSpPr>
            <a:spLocks noChangeArrowheads="1"/>
          </p:cNvSpPr>
          <p:nvPr/>
        </p:nvSpPr>
        <p:spPr bwMode="auto">
          <a:xfrm>
            <a:off x="2077541" y="3061624"/>
            <a:ext cx="1899779"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4" name="Text Box 31">
            <a:extLst>
              <a:ext uri="{FF2B5EF4-FFF2-40B4-BE49-F238E27FC236}">
                <a16:creationId xmlns:a16="http://schemas.microsoft.com/office/drawing/2014/main" id="{5325A869-A051-377D-88C6-85257C27932C}"/>
              </a:ext>
            </a:extLst>
          </p:cNvPr>
          <p:cNvSpPr txBox="1">
            <a:spLocks noChangeArrowheads="1"/>
          </p:cNvSpPr>
          <p:nvPr/>
        </p:nvSpPr>
        <p:spPr bwMode="auto">
          <a:xfrm>
            <a:off x="2627321" y="273802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15" name="表格 14">
            <a:extLst>
              <a:ext uri="{FF2B5EF4-FFF2-40B4-BE49-F238E27FC236}">
                <a16:creationId xmlns:a16="http://schemas.microsoft.com/office/drawing/2014/main" id="{01C39073-D782-19A6-200E-C32A195B6D28}"/>
              </a:ext>
            </a:extLst>
          </p:cNvPr>
          <p:cNvGraphicFramePr>
            <a:graphicFrameLocks noGrp="1"/>
          </p:cNvGraphicFramePr>
          <p:nvPr>
            <p:extLst>
              <p:ext uri="{D42A27DB-BD31-4B8C-83A1-F6EECF244321}">
                <p14:modId xmlns:p14="http://schemas.microsoft.com/office/powerpoint/2010/main" val="1277884119"/>
              </p:ext>
            </p:extLst>
          </p:nvPr>
        </p:nvGraphicFramePr>
        <p:xfrm>
          <a:off x="1124777" y="3154826"/>
          <a:ext cx="3810472" cy="370840"/>
        </p:xfrm>
        <a:graphic>
          <a:graphicData uri="http://schemas.openxmlformats.org/drawingml/2006/table">
            <a:tbl>
              <a:tblPr firstRow="1" bandRow="1">
                <a:tableStyleId>{5C22544A-7EE6-4342-B048-85BDC9FD1C3A}</a:tableStyleId>
              </a:tblPr>
              <a:tblGrid>
                <a:gridCol w="476309">
                  <a:extLst>
                    <a:ext uri="{9D8B030D-6E8A-4147-A177-3AD203B41FA5}">
                      <a16:colId xmlns:a16="http://schemas.microsoft.com/office/drawing/2014/main" val="1392981243"/>
                    </a:ext>
                  </a:extLst>
                </a:gridCol>
                <a:gridCol w="476309">
                  <a:extLst>
                    <a:ext uri="{9D8B030D-6E8A-4147-A177-3AD203B41FA5}">
                      <a16:colId xmlns:a16="http://schemas.microsoft.com/office/drawing/2014/main" val="212317948"/>
                    </a:ext>
                  </a:extLst>
                </a:gridCol>
                <a:gridCol w="476309">
                  <a:extLst>
                    <a:ext uri="{9D8B030D-6E8A-4147-A177-3AD203B41FA5}">
                      <a16:colId xmlns:a16="http://schemas.microsoft.com/office/drawing/2014/main" val="4122724786"/>
                    </a:ext>
                  </a:extLst>
                </a:gridCol>
                <a:gridCol w="476309">
                  <a:extLst>
                    <a:ext uri="{9D8B030D-6E8A-4147-A177-3AD203B41FA5}">
                      <a16:colId xmlns:a16="http://schemas.microsoft.com/office/drawing/2014/main" val="1728774863"/>
                    </a:ext>
                  </a:extLst>
                </a:gridCol>
                <a:gridCol w="476309">
                  <a:extLst>
                    <a:ext uri="{9D8B030D-6E8A-4147-A177-3AD203B41FA5}">
                      <a16:colId xmlns:a16="http://schemas.microsoft.com/office/drawing/2014/main" val="855356992"/>
                    </a:ext>
                  </a:extLst>
                </a:gridCol>
                <a:gridCol w="476309">
                  <a:extLst>
                    <a:ext uri="{9D8B030D-6E8A-4147-A177-3AD203B41FA5}">
                      <a16:colId xmlns:a16="http://schemas.microsoft.com/office/drawing/2014/main" val="1700185165"/>
                    </a:ext>
                  </a:extLst>
                </a:gridCol>
                <a:gridCol w="476309">
                  <a:extLst>
                    <a:ext uri="{9D8B030D-6E8A-4147-A177-3AD203B41FA5}">
                      <a16:colId xmlns:a16="http://schemas.microsoft.com/office/drawing/2014/main" val="3830274490"/>
                    </a:ext>
                  </a:extLst>
                </a:gridCol>
                <a:gridCol w="476309">
                  <a:extLst>
                    <a:ext uri="{9D8B030D-6E8A-4147-A177-3AD203B41FA5}">
                      <a16:colId xmlns:a16="http://schemas.microsoft.com/office/drawing/2014/main" val="916734300"/>
                    </a:ext>
                  </a:extLst>
                </a:gridCol>
              </a:tblGrid>
              <a:tr h="370840">
                <a:tc>
                  <a:txBody>
                    <a:bodyPr/>
                    <a:lstStyle/>
                    <a:p>
                      <a:pPr algn="ctr"/>
                      <a:r>
                        <a:rPr lang="en-US" altLang="zh-CN" sz="1200" b="0" dirty="0">
                          <a:solidFill>
                            <a:sysClr val="windowText" lastClr="000000"/>
                          </a:solidFill>
                          <a:latin typeface="Montserrat" panose="00000500000000000000" pitchFamily="2" charset="0"/>
                        </a:rPr>
                        <a:t>1</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ysClr val="windowText" lastClr="000000"/>
                          </a:solidFill>
                          <a:latin typeface="Montserrat" panose="00000500000000000000" pitchFamily="2" charset="0"/>
                        </a:rPr>
                        <a:t>2</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16" name="AutoShape 26">
            <a:extLst>
              <a:ext uri="{FF2B5EF4-FFF2-40B4-BE49-F238E27FC236}">
                <a16:creationId xmlns:a16="http://schemas.microsoft.com/office/drawing/2014/main" id="{89CDD3BD-7E8C-CB72-5F4E-E9C352C657A1}"/>
              </a:ext>
            </a:extLst>
          </p:cNvPr>
          <p:cNvSpPr>
            <a:spLocks/>
          </p:cNvSpPr>
          <p:nvPr/>
        </p:nvSpPr>
        <p:spPr bwMode="auto">
          <a:xfrm rot="16200000">
            <a:off x="2491541" y="3358166"/>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 name="AutoShape 26">
            <a:extLst>
              <a:ext uri="{FF2B5EF4-FFF2-40B4-BE49-F238E27FC236}">
                <a16:creationId xmlns:a16="http://schemas.microsoft.com/office/drawing/2014/main" id="{5D509D0B-E1D8-5232-2A70-FDF6C1D0EACD}"/>
              </a:ext>
            </a:extLst>
          </p:cNvPr>
          <p:cNvSpPr>
            <a:spLocks/>
          </p:cNvSpPr>
          <p:nvPr/>
        </p:nvSpPr>
        <p:spPr bwMode="auto">
          <a:xfrm rot="16200000">
            <a:off x="1556012" y="3376165"/>
            <a:ext cx="108000" cy="90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 name="AutoShape 26">
            <a:extLst>
              <a:ext uri="{FF2B5EF4-FFF2-40B4-BE49-F238E27FC236}">
                <a16:creationId xmlns:a16="http://schemas.microsoft.com/office/drawing/2014/main" id="{C803CF8D-A891-2BC4-3827-F29363E42178}"/>
              </a:ext>
            </a:extLst>
          </p:cNvPr>
          <p:cNvSpPr>
            <a:spLocks/>
          </p:cNvSpPr>
          <p:nvPr/>
        </p:nvSpPr>
        <p:spPr bwMode="auto">
          <a:xfrm rot="16200000">
            <a:off x="4655670" y="3142166"/>
            <a:ext cx="108000" cy="13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9" name="文本框 18">
            <a:extLst>
              <a:ext uri="{FF2B5EF4-FFF2-40B4-BE49-F238E27FC236}">
                <a16:creationId xmlns:a16="http://schemas.microsoft.com/office/drawing/2014/main" id="{A120F788-1AF6-38A3-4D72-2F6CFB3B5712}"/>
              </a:ext>
            </a:extLst>
          </p:cNvPr>
          <p:cNvSpPr txBox="1"/>
          <p:nvPr/>
        </p:nvSpPr>
        <p:spPr>
          <a:xfrm>
            <a:off x="2222376"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20" name="文本框 19">
            <a:extLst>
              <a:ext uri="{FF2B5EF4-FFF2-40B4-BE49-F238E27FC236}">
                <a16:creationId xmlns:a16="http://schemas.microsoft.com/office/drawing/2014/main" id="{951C26E7-8F9C-4058-82A5-252516D11D04}"/>
              </a:ext>
            </a:extLst>
          </p:cNvPr>
          <p:cNvSpPr txBox="1"/>
          <p:nvPr/>
        </p:nvSpPr>
        <p:spPr>
          <a:xfrm>
            <a:off x="1286847"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21" name="文本框 20">
            <a:extLst>
              <a:ext uri="{FF2B5EF4-FFF2-40B4-BE49-F238E27FC236}">
                <a16:creationId xmlns:a16="http://schemas.microsoft.com/office/drawing/2014/main" id="{FA8E5AEA-FAC9-BEC5-E749-69CC20384CA0}"/>
              </a:ext>
            </a:extLst>
          </p:cNvPr>
          <p:cNvSpPr txBox="1"/>
          <p:nvPr/>
        </p:nvSpPr>
        <p:spPr>
          <a:xfrm>
            <a:off x="4620504" y="3951911"/>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2" name="AutoShape 26">
            <a:extLst>
              <a:ext uri="{FF2B5EF4-FFF2-40B4-BE49-F238E27FC236}">
                <a16:creationId xmlns:a16="http://schemas.microsoft.com/office/drawing/2014/main" id="{CD6C5CD8-DD48-59E2-64DC-A687840DDE7A}"/>
              </a:ext>
            </a:extLst>
          </p:cNvPr>
          <p:cNvSpPr>
            <a:spLocks/>
          </p:cNvSpPr>
          <p:nvPr/>
        </p:nvSpPr>
        <p:spPr bwMode="auto">
          <a:xfrm rot="16200000">
            <a:off x="3465606" y="3368623"/>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3" name="文本框 22">
            <a:extLst>
              <a:ext uri="{FF2B5EF4-FFF2-40B4-BE49-F238E27FC236}">
                <a16:creationId xmlns:a16="http://schemas.microsoft.com/office/drawing/2014/main" id="{0B176486-8A19-551C-56D3-42941DA3AAE6}"/>
              </a:ext>
            </a:extLst>
          </p:cNvPr>
          <p:cNvSpPr txBox="1"/>
          <p:nvPr/>
        </p:nvSpPr>
        <p:spPr>
          <a:xfrm>
            <a:off x="3196441" y="3962368"/>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48850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5" name="标题 4">
            <a:extLst>
              <a:ext uri="{FF2B5EF4-FFF2-40B4-BE49-F238E27FC236}">
                <a16:creationId xmlns:a16="http://schemas.microsoft.com/office/drawing/2014/main" id="{30DE72BD-E175-7485-4B6E-D5FB710E05D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4" name="标题 3">
            <a:extLst>
              <a:ext uri="{FF2B5EF4-FFF2-40B4-BE49-F238E27FC236}">
                <a16:creationId xmlns:a16="http://schemas.microsoft.com/office/drawing/2014/main" id="{A01005FA-B250-5FC3-74E9-64C088C11A0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虽然是面向字节流的，但 </a:t>
            </a:r>
            <a:r>
              <a:rPr lang="en-US" altLang="zh-CN" dirty="0"/>
              <a:t>TCP </a:t>
            </a:r>
            <a:r>
              <a:rPr lang="zh-CN" altLang="en-US" dirty="0"/>
              <a:t>传送的数据单元却是报文段。</a:t>
            </a:r>
          </a:p>
          <a:p>
            <a:r>
              <a:rPr lang="zh-CN" altLang="en-US" dirty="0"/>
              <a:t>一个 </a:t>
            </a:r>
            <a:r>
              <a:rPr lang="en-US" altLang="zh-CN" dirty="0"/>
              <a:t>TCP </a:t>
            </a:r>
            <a:r>
              <a:rPr lang="zh-CN" altLang="en-US" dirty="0"/>
              <a:t>报文段分为首部和数据两部分，而 </a:t>
            </a:r>
            <a:r>
              <a:rPr lang="en-US" altLang="zh-CN" dirty="0"/>
              <a:t>TCP </a:t>
            </a:r>
            <a:r>
              <a:rPr lang="zh-CN" altLang="en-US" dirty="0"/>
              <a:t>的全部功能都体现在它首部中各字段的作用。</a:t>
            </a:r>
          </a:p>
          <a:p>
            <a:r>
              <a:rPr lang="en-US" altLang="zh-CN" dirty="0"/>
              <a:t>TCP </a:t>
            </a:r>
            <a:r>
              <a:rPr lang="zh-CN" altLang="en-US" dirty="0"/>
              <a:t>报文段首部的前 </a:t>
            </a:r>
            <a:r>
              <a:rPr lang="en-US" altLang="zh-CN" dirty="0"/>
              <a:t>20 </a:t>
            </a:r>
            <a:r>
              <a:rPr lang="zh-CN" altLang="en-US" dirty="0"/>
              <a:t>个字节是固定的，后面有 </a:t>
            </a:r>
            <a:r>
              <a:rPr lang="en-US" altLang="zh-CN" dirty="0"/>
              <a:t>4n </a:t>
            </a:r>
            <a:r>
              <a:rPr lang="zh-CN" altLang="en-US" dirty="0"/>
              <a:t>字节是根据需要而增加的选项 </a:t>
            </a:r>
            <a:r>
              <a:rPr lang="en-US" altLang="zh-CN" dirty="0"/>
              <a:t>(n </a:t>
            </a:r>
            <a:r>
              <a:rPr lang="zh-CN" altLang="en-US" dirty="0"/>
              <a:t>是整数</a:t>
            </a:r>
            <a:r>
              <a:rPr lang="en-US" altLang="zh-CN" dirty="0"/>
              <a:t>)</a:t>
            </a:r>
            <a:r>
              <a:rPr lang="zh-CN" altLang="en-US" dirty="0"/>
              <a:t>。因此 </a:t>
            </a:r>
            <a:r>
              <a:rPr lang="en-US" altLang="zh-CN" dirty="0"/>
              <a:t>TCP </a:t>
            </a:r>
            <a:r>
              <a:rPr lang="zh-CN" altLang="en-US" dirty="0"/>
              <a:t>首部的最小长度是 </a:t>
            </a:r>
            <a:r>
              <a:rPr lang="en-US" altLang="zh-CN" dirty="0"/>
              <a:t>20 </a:t>
            </a:r>
            <a:r>
              <a:rPr lang="zh-CN" altLang="en-US" dirty="0"/>
              <a:t>字节。</a:t>
            </a:r>
          </a:p>
          <a:p>
            <a:endParaRPr lang="zh-CN" altLang="en-US" dirty="0"/>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Y</a:t>
            </a:r>
          </a:p>
          <a:p>
            <a:pP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4" name="标题 3">
            <a:extLst>
              <a:ext uri="{FF2B5EF4-FFF2-40B4-BE49-F238E27FC236}">
                <a16:creationId xmlns:a16="http://schemas.microsoft.com/office/drawing/2014/main" id="{7717DACD-46B0-0082-928A-6DFD363F605A}"/>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93321A-6517-5D01-BD9B-13A6E3F9BF40}"/>
              </a:ext>
            </a:extLst>
          </p:cNvPr>
          <p:cNvSpPr>
            <a:spLocks noGrp="1"/>
          </p:cNvSpPr>
          <p:nvPr>
            <p:ph type="title"/>
          </p:nvPr>
        </p:nvSpPr>
        <p:spPr/>
        <p:txBody>
          <a:bodyPr/>
          <a:lstStyle/>
          <a:p>
            <a:endParaRPr lang="zh-CN" altLang="en-US"/>
          </a:p>
        </p:txBody>
      </p:sp>
      <p:sp>
        <p:nvSpPr>
          <p:cNvPr id="3" name="AutoShape 37">
            <a:extLst>
              <a:ext uri="{FF2B5EF4-FFF2-40B4-BE49-F238E27FC236}">
                <a16:creationId xmlns:a16="http://schemas.microsoft.com/office/drawing/2014/main" id="{CB6545F6-53F2-0C41-ADAE-0A9BA8B94161}"/>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4" name="表格 3">
            <a:extLst>
              <a:ext uri="{FF2B5EF4-FFF2-40B4-BE49-F238E27FC236}">
                <a16:creationId xmlns:a16="http://schemas.microsoft.com/office/drawing/2014/main" id="{E88BF332-EBA1-1485-61DB-338C16D3D8A1}"/>
              </a:ext>
            </a:extLst>
          </p:cNvPr>
          <p:cNvGraphicFramePr>
            <a:graphicFrameLocks noGrp="1"/>
          </p:cNvGraphicFramePr>
          <p:nvPr>
            <p:extLst>
              <p:ext uri="{D42A27DB-BD31-4B8C-83A1-F6EECF244321}">
                <p14:modId xmlns:p14="http://schemas.microsoft.com/office/powerpoint/2010/main" val="2461671469"/>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217F7E6B-2AAC-C7C7-155D-4481E0B871DF}"/>
              </a:ext>
            </a:extLst>
          </p:cNvPr>
          <p:cNvGraphicFramePr>
            <a:graphicFrameLocks noGrp="1"/>
          </p:cNvGraphicFramePr>
          <p:nvPr>
            <p:extLst>
              <p:ext uri="{D42A27DB-BD31-4B8C-83A1-F6EECF244321}">
                <p14:modId xmlns:p14="http://schemas.microsoft.com/office/powerpoint/2010/main" val="358748969"/>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6" name="AutoShape 66">
            <a:extLst>
              <a:ext uri="{FF2B5EF4-FFF2-40B4-BE49-F238E27FC236}">
                <a16:creationId xmlns:a16="http://schemas.microsoft.com/office/drawing/2014/main" id="{B5E814C1-4714-F7F3-931E-CB4D1692B4FA}"/>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7" name="表格 6">
            <a:extLst>
              <a:ext uri="{FF2B5EF4-FFF2-40B4-BE49-F238E27FC236}">
                <a16:creationId xmlns:a16="http://schemas.microsoft.com/office/drawing/2014/main" id="{1EA31795-1739-B752-FDC4-1F14B30567D4}"/>
              </a:ext>
            </a:extLst>
          </p:cNvPr>
          <p:cNvGraphicFramePr>
            <a:graphicFrameLocks noGrp="1"/>
          </p:cNvGraphicFramePr>
          <p:nvPr>
            <p:extLst>
              <p:ext uri="{D42A27DB-BD31-4B8C-83A1-F6EECF244321}">
                <p14:modId xmlns:p14="http://schemas.microsoft.com/office/powerpoint/2010/main" val="3903281030"/>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8" name="AutoShape 70">
            <a:extLst>
              <a:ext uri="{FF2B5EF4-FFF2-40B4-BE49-F238E27FC236}">
                <a16:creationId xmlns:a16="http://schemas.microsoft.com/office/drawing/2014/main" id="{7534E1FB-F31F-20B5-E217-BC4026DA8E8C}"/>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208598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5">
            <a:extLst>
              <a:ext uri="{FF2B5EF4-FFF2-40B4-BE49-F238E27FC236}">
                <a16:creationId xmlns:a16="http://schemas.microsoft.com/office/drawing/2014/main" id="{B935FF4B-37D5-4943-86F6-6A482461867E}"/>
              </a:ext>
            </a:extLst>
          </p:cNvPr>
          <p:cNvSpPr>
            <a:spLocks noChangeArrowheads="1"/>
          </p:cNvSpPr>
          <p:nvPr/>
        </p:nvSpPr>
        <p:spPr bwMode="auto">
          <a:xfrm>
            <a:off x="2267485" y="1612340"/>
            <a:ext cx="4464000" cy="1584000"/>
          </a:xfrm>
          <a:prstGeom prst="rect">
            <a:avLst/>
          </a:prstGeom>
          <a:noFill/>
          <a:ln w="19050">
            <a:solidFill>
              <a:schemeClr val="tx1"/>
            </a:solidFill>
            <a:miter lim="800000"/>
            <a:headEnd/>
            <a:tailEnd/>
          </a:ln>
          <a:effec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5" name="Line 6">
            <a:extLst>
              <a:ext uri="{FF2B5EF4-FFF2-40B4-BE49-F238E27FC236}">
                <a16:creationId xmlns:a16="http://schemas.microsoft.com/office/drawing/2014/main" id="{EA585CC3-7D83-0D87-0948-B997442D4197}"/>
              </a:ext>
            </a:extLst>
          </p:cNvPr>
          <p:cNvSpPr>
            <a:spLocks noChangeShapeType="1"/>
          </p:cNvSpPr>
          <p:nvPr/>
        </p:nvSpPr>
        <p:spPr bwMode="auto">
          <a:xfrm>
            <a:off x="2267485" y="1879616"/>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6" name="Line 7">
            <a:extLst>
              <a:ext uri="{FF2B5EF4-FFF2-40B4-BE49-F238E27FC236}">
                <a16:creationId xmlns:a16="http://schemas.microsoft.com/office/drawing/2014/main" id="{94E9D290-1F8E-6CAE-0EB7-7E884E5AF453}"/>
              </a:ext>
            </a:extLst>
          </p:cNvPr>
          <p:cNvSpPr>
            <a:spLocks noChangeShapeType="1"/>
          </p:cNvSpPr>
          <p:nvPr/>
        </p:nvSpPr>
        <p:spPr bwMode="auto">
          <a:xfrm>
            <a:off x="2267485" y="2144183"/>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7" name="Line 8">
            <a:extLst>
              <a:ext uri="{FF2B5EF4-FFF2-40B4-BE49-F238E27FC236}">
                <a16:creationId xmlns:a16="http://schemas.microsoft.com/office/drawing/2014/main" id="{4A5E5BD1-EE5D-0914-71DB-3CF7255A7043}"/>
              </a:ext>
            </a:extLst>
          </p:cNvPr>
          <p:cNvSpPr>
            <a:spLocks noChangeShapeType="1"/>
          </p:cNvSpPr>
          <p:nvPr/>
        </p:nvSpPr>
        <p:spPr bwMode="auto">
          <a:xfrm>
            <a:off x="2267485" y="2407847"/>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31AA4835-DFFA-F14D-01D5-981475D05F93}"/>
              </a:ext>
            </a:extLst>
          </p:cNvPr>
          <p:cNvSpPr>
            <a:spLocks noChangeShapeType="1"/>
          </p:cNvSpPr>
          <p:nvPr/>
        </p:nvSpPr>
        <p:spPr bwMode="auto">
          <a:xfrm>
            <a:off x="2267485" y="2671511"/>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9" name="Line 10">
            <a:extLst>
              <a:ext uri="{FF2B5EF4-FFF2-40B4-BE49-F238E27FC236}">
                <a16:creationId xmlns:a16="http://schemas.microsoft.com/office/drawing/2014/main" id="{4B32149E-86E4-5AF1-BA63-2AEEF3D0C065}"/>
              </a:ext>
            </a:extLst>
          </p:cNvPr>
          <p:cNvSpPr>
            <a:spLocks noChangeShapeType="1"/>
          </p:cNvSpPr>
          <p:nvPr/>
        </p:nvSpPr>
        <p:spPr bwMode="auto">
          <a:xfrm>
            <a:off x="2267485" y="2936078"/>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0" name="Line 11">
            <a:extLst>
              <a:ext uri="{FF2B5EF4-FFF2-40B4-BE49-F238E27FC236}">
                <a16:creationId xmlns:a16="http://schemas.microsoft.com/office/drawing/2014/main" id="{DF86B5BA-B378-2383-FA50-1C80B90B6DD0}"/>
              </a:ext>
            </a:extLst>
          </p:cNvPr>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1" name="Rectangle 12">
            <a:extLst>
              <a:ext uri="{FF2B5EF4-FFF2-40B4-BE49-F238E27FC236}">
                <a16:creationId xmlns:a16="http://schemas.microsoft.com/office/drawing/2014/main" id="{C3D83F00-B70A-8BF7-6A88-136E9616275F}"/>
              </a:ext>
            </a:extLst>
          </p:cNvPr>
          <p:cNvSpPr>
            <a:spLocks noChangeArrowheads="1"/>
          </p:cNvSpPr>
          <p:nvPr/>
        </p:nvSpPr>
        <p:spPr bwMode="auto">
          <a:xfrm>
            <a:off x="5107202" y="1619919"/>
            <a:ext cx="1126913"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Destination port</a:t>
            </a:r>
            <a:endParaRPr kumimoji="1" lang="zh-CN" altLang="en-US" sz="900" dirty="0">
              <a:latin typeface="Montserrat" panose="00000500000000000000" pitchFamily="2" charset="0"/>
              <a:ea typeface="微软雅黑 Light" panose="020B0502040204020203" pitchFamily="34" charset="-122"/>
            </a:endParaRPr>
          </a:p>
        </p:txBody>
      </p:sp>
      <p:sp>
        <p:nvSpPr>
          <p:cNvPr id="12" name="Rectangle 13">
            <a:extLst>
              <a:ext uri="{FF2B5EF4-FFF2-40B4-BE49-F238E27FC236}">
                <a16:creationId xmlns:a16="http://schemas.microsoft.com/office/drawing/2014/main" id="{92C13079-2671-33EA-BCA9-1B4AAE05427D}"/>
              </a:ext>
            </a:extLst>
          </p:cNvPr>
          <p:cNvSpPr>
            <a:spLocks noChangeArrowheads="1"/>
          </p:cNvSpPr>
          <p:nvPr/>
        </p:nvSpPr>
        <p:spPr bwMode="auto">
          <a:xfrm>
            <a:off x="2170010" y="2418327"/>
            <a:ext cx="988332"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Data Offset</a:t>
            </a:r>
            <a:endParaRPr kumimoji="1" lang="zh-CN" altLang="en-US" sz="900" dirty="0">
              <a:latin typeface="Montserrat" panose="00000500000000000000" pitchFamily="2" charset="0"/>
              <a:ea typeface="微软雅黑 Light" panose="020B0502040204020203" pitchFamily="34" charset="-122"/>
            </a:endParaRPr>
          </a:p>
        </p:txBody>
      </p:sp>
      <p:sp>
        <p:nvSpPr>
          <p:cNvPr id="13" name="Rectangle 14">
            <a:extLst>
              <a:ext uri="{FF2B5EF4-FFF2-40B4-BE49-F238E27FC236}">
                <a16:creationId xmlns:a16="http://schemas.microsoft.com/office/drawing/2014/main" id="{48D53D57-EB1B-2D7D-5D25-57369B589D95}"/>
              </a:ext>
            </a:extLst>
          </p:cNvPr>
          <p:cNvSpPr>
            <a:spLocks noChangeArrowheads="1"/>
          </p:cNvSpPr>
          <p:nvPr/>
        </p:nvSpPr>
        <p:spPr bwMode="auto">
          <a:xfrm>
            <a:off x="3131253" y="2687308"/>
            <a:ext cx="80310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Checksum</a:t>
            </a:r>
            <a:endParaRPr kumimoji="1" lang="zh-CN" altLang="en-US" sz="900" dirty="0">
              <a:latin typeface="Montserrat" panose="00000500000000000000" pitchFamily="2" charset="0"/>
              <a:ea typeface="微软雅黑 Light" panose="020B0502040204020203" pitchFamily="34" charset="-122"/>
            </a:endParaRPr>
          </a:p>
        </p:txBody>
      </p:sp>
      <p:sp>
        <p:nvSpPr>
          <p:cNvPr id="14" name="Rectangle 15">
            <a:extLst>
              <a:ext uri="{FF2B5EF4-FFF2-40B4-BE49-F238E27FC236}">
                <a16:creationId xmlns:a16="http://schemas.microsoft.com/office/drawing/2014/main" id="{CEF88FFC-AD40-0EE0-69A0-7E8EBABE93FD}"/>
              </a:ext>
            </a:extLst>
          </p:cNvPr>
          <p:cNvSpPr>
            <a:spLocks noChangeArrowheads="1"/>
          </p:cNvSpPr>
          <p:nvPr/>
        </p:nvSpPr>
        <p:spPr bwMode="auto">
          <a:xfrm>
            <a:off x="3244195" y="2931107"/>
            <a:ext cx="174609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Options </a:t>
            </a:r>
            <a:endParaRPr kumimoji="1" lang="zh-CN" altLang="en-US" sz="900" dirty="0">
              <a:latin typeface="Montserrat" panose="00000500000000000000" pitchFamily="2" charset="0"/>
              <a:ea typeface="微软雅黑 Light" panose="020B0502040204020203" pitchFamily="34" charset="-122"/>
            </a:endParaRPr>
          </a:p>
        </p:txBody>
      </p:sp>
      <p:sp>
        <p:nvSpPr>
          <p:cNvPr id="15" name="Rectangle 16">
            <a:extLst>
              <a:ext uri="{FF2B5EF4-FFF2-40B4-BE49-F238E27FC236}">
                <a16:creationId xmlns:a16="http://schemas.microsoft.com/office/drawing/2014/main" id="{6D241AF6-07D6-13F1-D79B-05F392211653}"/>
              </a:ext>
            </a:extLst>
          </p:cNvPr>
          <p:cNvSpPr>
            <a:spLocks noChangeArrowheads="1"/>
          </p:cNvSpPr>
          <p:nvPr/>
        </p:nvSpPr>
        <p:spPr bwMode="auto">
          <a:xfrm>
            <a:off x="3128138" y="1619919"/>
            <a:ext cx="857607"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Source port</a:t>
            </a:r>
            <a:endParaRPr kumimoji="1" lang="zh-CN" altLang="en-US" sz="900" dirty="0">
              <a:latin typeface="Montserrat" panose="00000500000000000000" pitchFamily="2" charset="0"/>
              <a:ea typeface="微软雅黑 Light" panose="020B0502040204020203" pitchFamily="34" charset="-122"/>
            </a:endParaRPr>
          </a:p>
        </p:txBody>
      </p:sp>
      <p:sp>
        <p:nvSpPr>
          <p:cNvPr id="16" name="Rectangle 17">
            <a:extLst>
              <a:ext uri="{FF2B5EF4-FFF2-40B4-BE49-F238E27FC236}">
                <a16:creationId xmlns:a16="http://schemas.microsoft.com/office/drawing/2014/main" id="{D096231D-0E10-C407-A1EB-D6E1E5843CE2}"/>
              </a:ext>
            </a:extLst>
          </p:cNvPr>
          <p:cNvSpPr>
            <a:spLocks noChangeArrowheads="1"/>
          </p:cNvSpPr>
          <p:nvPr/>
        </p:nvSpPr>
        <p:spPr bwMode="auto">
          <a:xfrm>
            <a:off x="3494447" y="1880873"/>
            <a:ext cx="2128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Sequence number</a:t>
            </a:r>
            <a:endParaRPr kumimoji="1" lang="zh-CN" altLang="en-US" sz="900" dirty="0">
              <a:latin typeface="Montserrat" panose="00000500000000000000" pitchFamily="2" charset="0"/>
              <a:ea typeface="微软雅黑 Light" panose="020B0502040204020203" pitchFamily="34" charset="-122"/>
            </a:endParaRPr>
          </a:p>
        </p:txBody>
      </p:sp>
      <p:sp>
        <p:nvSpPr>
          <p:cNvPr id="17" name="Line 18">
            <a:extLst>
              <a:ext uri="{FF2B5EF4-FFF2-40B4-BE49-F238E27FC236}">
                <a16:creationId xmlns:a16="http://schemas.microsoft.com/office/drawing/2014/main" id="{5713FE7F-8707-78E4-BD8B-7B74C25843F8}"/>
              </a:ext>
            </a:extLst>
          </p:cNvPr>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8" name="Rectangle 19">
            <a:extLst>
              <a:ext uri="{FF2B5EF4-FFF2-40B4-BE49-F238E27FC236}">
                <a16:creationId xmlns:a16="http://schemas.microsoft.com/office/drawing/2014/main" id="{1711B409-3053-5402-6E42-4E92B8460559}"/>
              </a:ext>
            </a:extLst>
          </p:cNvPr>
          <p:cNvSpPr>
            <a:spLocks noChangeArrowheads="1"/>
          </p:cNvSpPr>
          <p:nvPr/>
        </p:nvSpPr>
        <p:spPr bwMode="auto">
          <a:xfrm>
            <a:off x="5145674" y="2687308"/>
            <a:ext cx="104996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Urgent Pointer</a:t>
            </a:r>
            <a:endParaRPr kumimoji="1" lang="zh-CN" altLang="en-US" sz="900" dirty="0">
              <a:latin typeface="Montserrat" panose="00000500000000000000" pitchFamily="2" charset="0"/>
              <a:ea typeface="微软雅黑 Light" panose="020B0502040204020203" pitchFamily="34" charset="-122"/>
            </a:endParaRPr>
          </a:p>
        </p:txBody>
      </p:sp>
      <p:sp>
        <p:nvSpPr>
          <p:cNvPr id="19" name="Rectangle 20">
            <a:extLst>
              <a:ext uri="{FF2B5EF4-FFF2-40B4-BE49-F238E27FC236}">
                <a16:creationId xmlns:a16="http://schemas.microsoft.com/office/drawing/2014/main" id="{48A8DA76-57C5-D132-6047-EC0B24EACDF4}"/>
              </a:ext>
            </a:extLst>
          </p:cNvPr>
          <p:cNvSpPr>
            <a:spLocks noChangeArrowheads="1"/>
          </p:cNvSpPr>
          <p:nvPr/>
        </p:nvSpPr>
        <p:spPr bwMode="auto">
          <a:xfrm>
            <a:off x="5342719" y="2413711"/>
            <a:ext cx="67165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Window</a:t>
            </a:r>
            <a:endParaRPr kumimoji="1" lang="zh-CN" altLang="en-US" sz="900" dirty="0">
              <a:latin typeface="Montserrat" panose="00000500000000000000" pitchFamily="2" charset="0"/>
              <a:ea typeface="微软雅黑 Light" panose="020B0502040204020203" pitchFamily="34" charset="-122"/>
            </a:endParaRPr>
          </a:p>
        </p:txBody>
      </p:sp>
      <p:sp>
        <p:nvSpPr>
          <p:cNvPr id="20" name="Rectangle 21">
            <a:extLst>
              <a:ext uri="{FF2B5EF4-FFF2-40B4-BE49-F238E27FC236}">
                <a16:creationId xmlns:a16="http://schemas.microsoft.com/office/drawing/2014/main" id="{C35AAB0A-1570-718D-EE53-9B7DA87596A2}"/>
              </a:ext>
            </a:extLst>
          </p:cNvPr>
          <p:cNvSpPr>
            <a:spLocks noChangeArrowheads="1"/>
          </p:cNvSpPr>
          <p:nvPr/>
        </p:nvSpPr>
        <p:spPr bwMode="auto">
          <a:xfrm>
            <a:off x="3270335" y="2148961"/>
            <a:ext cx="257713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Acknowledgment Number</a:t>
            </a:r>
            <a:endParaRPr kumimoji="1" lang="zh-CN" altLang="en-US" sz="900" dirty="0">
              <a:latin typeface="Montserrat" panose="00000500000000000000" pitchFamily="2" charset="0"/>
              <a:ea typeface="微软雅黑 Light" panose="020B0502040204020203" pitchFamily="34" charset="-122"/>
            </a:endParaRPr>
          </a:p>
        </p:txBody>
      </p:sp>
      <p:sp>
        <p:nvSpPr>
          <p:cNvPr id="21" name="Line 22">
            <a:extLst>
              <a:ext uri="{FF2B5EF4-FFF2-40B4-BE49-F238E27FC236}">
                <a16:creationId xmlns:a16="http://schemas.microsoft.com/office/drawing/2014/main" id="{0929215A-54BB-A794-2E65-4142084714F2}"/>
              </a:ext>
            </a:extLst>
          </p:cNvPr>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2" name="Line 23">
            <a:extLst>
              <a:ext uri="{FF2B5EF4-FFF2-40B4-BE49-F238E27FC236}">
                <a16:creationId xmlns:a16="http://schemas.microsoft.com/office/drawing/2014/main" id="{18821F3F-5585-0BDE-F2F3-00C19253C810}"/>
              </a:ext>
            </a:extLst>
          </p:cNvPr>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3" name="Line 24">
            <a:extLst>
              <a:ext uri="{FF2B5EF4-FFF2-40B4-BE49-F238E27FC236}">
                <a16:creationId xmlns:a16="http://schemas.microsoft.com/office/drawing/2014/main" id="{2A5A18F2-E548-C967-8D5A-695CE2AC256A}"/>
              </a:ext>
            </a:extLst>
          </p:cNvPr>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4" name="Line 25">
            <a:extLst>
              <a:ext uri="{FF2B5EF4-FFF2-40B4-BE49-F238E27FC236}">
                <a16:creationId xmlns:a16="http://schemas.microsoft.com/office/drawing/2014/main" id="{058FA106-A17D-CBF8-E1C7-72090D1D3AB4}"/>
              </a:ext>
            </a:extLst>
          </p:cNvPr>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5" name="Line 26">
            <a:extLst>
              <a:ext uri="{FF2B5EF4-FFF2-40B4-BE49-F238E27FC236}">
                <a16:creationId xmlns:a16="http://schemas.microsoft.com/office/drawing/2014/main" id="{A0630D12-71A9-3E68-7161-341AAB7FD53E}"/>
              </a:ext>
            </a:extLst>
          </p:cNvPr>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6" name="Line 27">
            <a:extLst>
              <a:ext uri="{FF2B5EF4-FFF2-40B4-BE49-F238E27FC236}">
                <a16:creationId xmlns:a16="http://schemas.microsoft.com/office/drawing/2014/main" id="{67819EFC-EED9-3E14-7513-98283D6F3D7C}"/>
              </a:ext>
            </a:extLst>
          </p:cNvPr>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7" name="Line 28">
            <a:extLst>
              <a:ext uri="{FF2B5EF4-FFF2-40B4-BE49-F238E27FC236}">
                <a16:creationId xmlns:a16="http://schemas.microsoft.com/office/drawing/2014/main" id="{C784DDBA-7ABB-CD07-B546-CEC55A339BA6}"/>
              </a:ext>
            </a:extLst>
          </p:cNvPr>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8" name="Rectangle 29">
            <a:extLst>
              <a:ext uri="{FF2B5EF4-FFF2-40B4-BE49-F238E27FC236}">
                <a16:creationId xmlns:a16="http://schemas.microsoft.com/office/drawing/2014/main" id="{615EDD3E-ED4B-CCC6-0304-290D86848934}"/>
              </a:ext>
            </a:extLst>
          </p:cNvPr>
          <p:cNvSpPr>
            <a:spLocks noChangeArrowheads="1"/>
          </p:cNvSpPr>
          <p:nvPr/>
        </p:nvSpPr>
        <p:spPr bwMode="auto">
          <a:xfrm>
            <a:off x="3038170" y="2419129"/>
            <a:ext cx="716544"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Light" panose="020B0502040204020203" pitchFamily="34" charset="-122"/>
              </a:rPr>
              <a:t>Reserved</a:t>
            </a:r>
            <a:endParaRPr kumimoji="1" lang="zh-CN" altLang="en-US" sz="900" dirty="0">
              <a:latin typeface="Montserrat" panose="00000500000000000000" pitchFamily="2" charset="0"/>
              <a:ea typeface="微软雅黑 Light" panose="020B0502040204020203" pitchFamily="34" charset="-122"/>
            </a:endParaRPr>
          </a:p>
        </p:txBody>
      </p:sp>
      <p:sp>
        <p:nvSpPr>
          <p:cNvPr id="29" name="Rectangle 30">
            <a:extLst>
              <a:ext uri="{FF2B5EF4-FFF2-40B4-BE49-F238E27FC236}">
                <a16:creationId xmlns:a16="http://schemas.microsoft.com/office/drawing/2014/main" id="{3F209370-8E3C-763F-FF49-2A186DBCE07C}"/>
              </a:ext>
            </a:extLst>
          </p:cNvPr>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F</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I</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0" name="Rectangle 76">
            <a:extLst>
              <a:ext uri="{FF2B5EF4-FFF2-40B4-BE49-F238E27FC236}">
                <a16:creationId xmlns:a16="http://schemas.microsoft.com/office/drawing/2014/main" id="{3ADAE363-1375-25D0-635B-AB6261E19FD1}"/>
              </a:ext>
            </a:extLst>
          </p:cNvPr>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Y</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1" name="Rectangle 77">
            <a:extLst>
              <a:ext uri="{FF2B5EF4-FFF2-40B4-BE49-F238E27FC236}">
                <a16:creationId xmlns:a16="http://schemas.microsoft.com/office/drawing/2014/main" id="{D63CF201-167C-3531-F8AA-F4EC81056E68}"/>
              </a:ext>
            </a:extLst>
          </p:cNvPr>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T</a:t>
            </a:r>
          </a:p>
        </p:txBody>
      </p:sp>
      <p:sp>
        <p:nvSpPr>
          <p:cNvPr id="32" name="Rectangle 78">
            <a:extLst>
              <a:ext uri="{FF2B5EF4-FFF2-40B4-BE49-F238E27FC236}">
                <a16:creationId xmlns:a16="http://schemas.microsoft.com/office/drawing/2014/main" id="{82B969E7-CD96-4EBC-8CEB-D531C2F91C0A}"/>
              </a:ext>
            </a:extLst>
          </p:cNvPr>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P</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H</a:t>
            </a:r>
          </a:p>
        </p:txBody>
      </p:sp>
      <p:sp>
        <p:nvSpPr>
          <p:cNvPr id="33" name="Rectangle 79">
            <a:extLst>
              <a:ext uri="{FF2B5EF4-FFF2-40B4-BE49-F238E27FC236}">
                <a16:creationId xmlns:a16="http://schemas.microsoft.com/office/drawing/2014/main" id="{71BC4ED5-2DE7-63C8-9C34-A5F38C1BC546}"/>
              </a:ext>
            </a:extLst>
          </p:cNvPr>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A</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C</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K</a:t>
            </a:r>
          </a:p>
        </p:txBody>
      </p:sp>
      <p:sp>
        <p:nvSpPr>
          <p:cNvPr id="34" name="Rectangle 80">
            <a:extLst>
              <a:ext uri="{FF2B5EF4-FFF2-40B4-BE49-F238E27FC236}">
                <a16:creationId xmlns:a16="http://schemas.microsoft.com/office/drawing/2014/main" id="{63132564-3958-9F43-34CA-FE73D7CC7B6D}"/>
              </a:ext>
            </a:extLst>
          </p:cNvPr>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U</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G</a:t>
            </a:r>
          </a:p>
        </p:txBody>
      </p:sp>
      <p:sp>
        <p:nvSpPr>
          <p:cNvPr id="35" name="Line 82">
            <a:extLst>
              <a:ext uri="{FF2B5EF4-FFF2-40B4-BE49-F238E27FC236}">
                <a16:creationId xmlns:a16="http://schemas.microsoft.com/office/drawing/2014/main" id="{065A1FF5-B66F-F38B-7B80-F00439B2641B}"/>
              </a:ext>
            </a:extLst>
          </p:cNvPr>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a:latin typeface="Montserrat" panose="00000500000000000000" pitchFamily="2" charset="0"/>
              <a:ea typeface="微软雅黑 Light" panose="020B0502040204020203" pitchFamily="34" charset="-122"/>
            </a:endParaRPr>
          </a:p>
        </p:txBody>
      </p:sp>
      <p:sp>
        <p:nvSpPr>
          <p:cNvPr id="36" name="Rectangle 83">
            <a:extLst>
              <a:ext uri="{FF2B5EF4-FFF2-40B4-BE49-F238E27FC236}">
                <a16:creationId xmlns:a16="http://schemas.microsoft.com/office/drawing/2014/main" id="{4704E885-0EE0-E572-990B-30AA34359299}"/>
              </a:ext>
            </a:extLst>
          </p:cNvPr>
          <p:cNvSpPr>
            <a:spLocks noChangeArrowheads="1"/>
          </p:cNvSpPr>
          <p:nvPr/>
        </p:nvSpPr>
        <p:spPr bwMode="auto">
          <a:xfrm>
            <a:off x="5592087" y="2931107"/>
            <a:ext cx="110771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Padding</a:t>
            </a:r>
            <a:endParaRPr kumimoji="1" lang="zh-CN" altLang="en-US" sz="900" dirty="0">
              <a:latin typeface="Montserrat" panose="00000500000000000000" pitchFamily="2" charset="0"/>
              <a:ea typeface="微软雅黑 Light" panose="020B0502040204020203" pitchFamily="34" charset="-122"/>
            </a:endParaRPr>
          </a:p>
        </p:txBody>
      </p:sp>
      <p:sp>
        <p:nvSpPr>
          <p:cNvPr id="2" name="Rectangle 81">
            <a:extLst>
              <a:ext uri="{FF2B5EF4-FFF2-40B4-BE49-F238E27FC236}">
                <a16:creationId xmlns:a16="http://schemas.microsoft.com/office/drawing/2014/main" id="{E050A056-0D8E-13F2-DAE3-CCCC3842379C}"/>
              </a:ext>
            </a:extLst>
          </p:cNvPr>
          <p:cNvSpPr>
            <a:spLocks noChangeArrowheads="1"/>
          </p:cNvSpPr>
          <p:nvPr/>
        </p:nvSpPr>
        <p:spPr bwMode="auto">
          <a:xfrm>
            <a:off x="2173199" y="1296751"/>
            <a:ext cx="4716036"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pitchFamily="34" charset="-122"/>
              </a:rPr>
              <a:t>0                                    8                                 16                                  24                             31</a:t>
            </a:r>
          </a:p>
        </p:txBody>
      </p:sp>
    </p:spTree>
    <p:extLst>
      <p:ext uri="{BB962C8B-B14F-4D97-AF65-F5344CB8AC3E}">
        <p14:creationId xmlns:p14="http://schemas.microsoft.com/office/powerpoint/2010/main" val="14884978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3"/>
          <p:cNvSpPr>
            <a:spLocks noChangeShapeType="1"/>
          </p:cNvSpPr>
          <p:nvPr/>
        </p:nvSpPr>
        <p:spPr bwMode="auto">
          <a:xfrm flipH="1">
            <a:off x="1909886" y="2242447"/>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3222395"/>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2237076"/>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2844870"/>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2240656"/>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2637199"/>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3029267"/>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342044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3810718"/>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4202786"/>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2245132"/>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2316742"/>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3386117"/>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388859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4250227"/>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2316742"/>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2689705"/>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3425811"/>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3888594"/>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3475784"/>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3097885"/>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3421336"/>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348384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3414608"/>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3414608"/>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7" name="Rectangle 76"/>
          <p:cNvSpPr>
            <a:spLocks noChangeArrowheads="1"/>
          </p:cNvSpPr>
          <p:nvPr/>
        </p:nvSpPr>
        <p:spPr bwMode="auto">
          <a:xfrm>
            <a:off x="4021820" y="3414608"/>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3414608"/>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3414608"/>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3414608"/>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4212632"/>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4250227"/>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2227228"/>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41983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456083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2232599"/>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2" name="组合 1"/>
          <p:cNvGrpSpPr/>
          <p:nvPr/>
        </p:nvGrpSpPr>
        <p:grpSpPr>
          <a:xfrm>
            <a:off x="1827330" y="1874296"/>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2" name="内容占位符 71">
            <a:extLst>
              <a:ext uri="{FF2B5EF4-FFF2-40B4-BE49-F238E27FC236}">
                <a16:creationId xmlns:a16="http://schemas.microsoft.com/office/drawing/2014/main" id="{51D84DBB-2605-08BA-15C8-43B9A8483C5B}"/>
              </a:ext>
            </a:extLst>
          </p:cNvPr>
          <p:cNvSpPr>
            <a:spLocks noGrp="1"/>
          </p:cNvSpPr>
          <p:nvPr>
            <p:ph sz="quarter" idx="11"/>
          </p:nvPr>
        </p:nvSpPr>
        <p:spPr>
          <a:xfrm>
            <a:off x="486000" y="900000"/>
            <a:ext cx="8172000" cy="3703500"/>
          </a:xfrm>
        </p:spPr>
        <p:txBody>
          <a:bodyPr/>
          <a:lstStyle/>
          <a:p>
            <a:r>
              <a:rPr lang="zh-CN" altLang="en-US" dirty="0"/>
              <a:t>源端口和目的端口：各占 </a:t>
            </a:r>
            <a:r>
              <a:rPr lang="en-US" altLang="zh-CN" dirty="0"/>
              <a:t>2 </a:t>
            </a:r>
            <a:r>
              <a:rPr lang="zh-CN" altLang="en-US" dirty="0"/>
              <a:t>字节。端口是运输层与应用层的服务接口。</a:t>
            </a:r>
            <a:endParaRPr lang="en-US" altLang="zh-CN" dirty="0"/>
          </a:p>
          <a:p>
            <a:r>
              <a:rPr lang="zh-CN" altLang="en-US" dirty="0"/>
              <a:t>运输层的复用和分用功能通过端口实现。 </a:t>
            </a:r>
          </a:p>
          <a:p>
            <a:endParaRPr lang="zh-CN" altLang="en-US" dirty="0"/>
          </a:p>
        </p:txBody>
      </p:sp>
      <p:sp>
        <p:nvSpPr>
          <p:cNvPr id="74" name="标题 73">
            <a:extLst>
              <a:ext uri="{FF2B5EF4-FFF2-40B4-BE49-F238E27FC236}">
                <a16:creationId xmlns:a16="http://schemas.microsoft.com/office/drawing/2014/main" id="{0AB75E9C-A731-D428-986A-B54B7E5AC81C}"/>
              </a:ext>
            </a:extLst>
          </p:cNvPr>
          <p:cNvSpPr>
            <a:spLocks noGrp="1"/>
          </p:cNvSpPr>
          <p:nvPr>
            <p:ph type="title"/>
          </p:nvPr>
        </p:nvSpPr>
        <p:spPr>
          <a:xfrm>
            <a:off x="486000" y="550723"/>
            <a:ext cx="8172000" cy="338554"/>
          </a:xfrm>
        </p:spPr>
        <p:txBody>
          <a:bodyPr/>
          <a:lstStyle/>
          <a:p>
            <a:r>
              <a:rPr lang="zh-CN" altLang="en-US" dirty="0"/>
              <a:t>源端口和目的端口</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2351629"/>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2346257"/>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2954052"/>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2349837"/>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2746381"/>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3138449"/>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3529622"/>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391990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4311968"/>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2354313"/>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2425923"/>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34952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399777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4359409"/>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2425923"/>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2798887"/>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3534993"/>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399777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358496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3207067"/>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3530517"/>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3593022"/>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3523789"/>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3523789"/>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3523789"/>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3523789"/>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3523789"/>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3523789"/>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4321814"/>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4359409"/>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23364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4307492"/>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2357893"/>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4670021"/>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2754478"/>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1983478"/>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3331577"/>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6C02A3FA-823D-0E67-4021-B89DC13BB97F}"/>
              </a:ext>
            </a:extLst>
          </p:cNvPr>
          <p:cNvSpPr>
            <a:spLocks noGrp="1"/>
          </p:cNvSpPr>
          <p:nvPr>
            <p:ph sz="quarter" idx="11"/>
          </p:nvPr>
        </p:nvSpPr>
        <p:spPr>
          <a:xfrm>
            <a:off x="486000" y="900000"/>
            <a:ext cx="8172000" cy="3703500"/>
          </a:xfrm>
        </p:spPr>
        <p:txBody>
          <a:bodyPr/>
          <a:lstStyle/>
          <a:p>
            <a:r>
              <a:rPr lang="zh-CN" altLang="en-US" dirty="0"/>
              <a:t>序号：占 </a:t>
            </a:r>
            <a:r>
              <a:rPr lang="en-US" altLang="zh-CN" dirty="0"/>
              <a:t>4 </a:t>
            </a:r>
            <a:r>
              <a:rPr lang="zh-CN" altLang="en-US" dirty="0"/>
              <a:t>字节。</a:t>
            </a:r>
            <a:r>
              <a:rPr lang="en-US" altLang="zh-CN" dirty="0"/>
              <a:t>TCP </a:t>
            </a:r>
            <a:r>
              <a:rPr lang="zh-CN" altLang="en-US" dirty="0"/>
              <a:t>连接中传送的数据流中的每一个字节都有一个序号。序号字段的值则指的是本报文段所发送的数据的第一个字节的序号。 </a:t>
            </a:r>
          </a:p>
          <a:p>
            <a:endParaRPr lang="zh-CN" altLang="en-US" dirty="0"/>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486000" y="550723"/>
            <a:ext cx="8172000" cy="338554"/>
          </a:xfrm>
        </p:spPr>
        <p:txBody>
          <a:bodyPr/>
          <a:lstStyle/>
          <a:p>
            <a:r>
              <a:rPr lang="zh-CN" altLang="en-US" dirty="0"/>
              <a:t>序号</a:t>
            </a:r>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5" name="标题 4">
            <a:extLst>
              <a:ext uri="{FF2B5EF4-FFF2-40B4-BE49-F238E27FC236}">
                <a16:creationId xmlns:a16="http://schemas.microsoft.com/office/drawing/2014/main" id="{4FCAB39E-6807-5CD4-6CE4-4B352B028848}"/>
              </a:ext>
            </a:extLst>
          </p:cNvPr>
          <p:cNvSpPr>
            <a:spLocks noGrp="1"/>
          </p:cNvSpPr>
          <p:nvPr>
            <p:ph type="title"/>
          </p:nvPr>
        </p:nvSpPr>
        <p:spPr>
          <a:xfrm>
            <a:off x="486000" y="550723"/>
            <a:ext cx="8172000" cy="338554"/>
          </a:xfrm>
        </p:spPr>
        <p:txBody>
          <a:bodyPr/>
          <a:lstStyle/>
          <a:p>
            <a:r>
              <a:rPr lang="zh-CN" altLang="en-US" dirty="0"/>
              <a:t>确认号</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7" name="标题 6">
            <a:extLst>
              <a:ext uri="{FF2B5EF4-FFF2-40B4-BE49-F238E27FC236}">
                <a16:creationId xmlns:a16="http://schemas.microsoft.com/office/drawing/2014/main" id="{EA13F588-3935-700F-FB4A-73F08E61EC46}"/>
              </a:ext>
            </a:extLst>
          </p:cNvPr>
          <p:cNvSpPr>
            <a:spLocks noGrp="1"/>
          </p:cNvSpPr>
          <p:nvPr>
            <p:ph type="title"/>
          </p:nvPr>
        </p:nvSpPr>
        <p:spPr>
          <a:xfrm>
            <a:off x="486000" y="550723"/>
            <a:ext cx="8172000" cy="338554"/>
          </a:xfrm>
        </p:spPr>
        <p:txBody>
          <a:bodyPr/>
          <a:lstStyle/>
          <a:p>
            <a:r>
              <a:rPr lang="zh-CN" altLang="en-US" dirty="0"/>
              <a:t>数据偏移</a:t>
            </a:r>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E31E7A35-4FCB-A58F-3EEE-E05345CB6489}"/>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64230A14-FE0C-96BD-7EC3-D10C1F7E3B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7F2CE067-7C21-5482-42CF-469F3C48F953}"/>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5A4713DB-19A9-D343-34DC-A71A019BE3A8}"/>
              </a:ext>
            </a:extLst>
          </p:cNvPr>
          <p:cNvSpPr>
            <a:spLocks noGrp="1"/>
          </p:cNvSpPr>
          <p:nvPr>
            <p:ph type="title"/>
          </p:nvPr>
        </p:nvSpPr>
        <p:spPr/>
        <p:txBody>
          <a:bodyPr/>
          <a:lstStyle/>
          <a:p>
            <a:r>
              <a:rPr lang="en-US" altLang="zh-CN" dirty="0"/>
              <a:t>URG</a:t>
            </a:r>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E2DB623C-F615-D7FF-523E-1A596C21744B}"/>
              </a:ext>
            </a:extLst>
          </p:cNvPr>
          <p:cNvSpPr>
            <a:spLocks noGrp="1"/>
          </p:cNvSpPr>
          <p:nvPr>
            <p:ph type="title"/>
          </p:nvPr>
        </p:nvSpPr>
        <p:spPr/>
        <p:txBody>
          <a:bodyPr/>
          <a:lstStyle/>
          <a:p>
            <a:r>
              <a:rPr lang="en-US" altLang="zh-CN" dirty="0"/>
              <a:t>ACK</a:t>
            </a:r>
            <a:endParaRPr lang="zh-CN" altLang="en-US" dirty="0"/>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344325"/>
          </a:xfrm>
          <a:prstGeom prst="rect">
            <a:avLst/>
          </a:prstGeom>
          <a:solidFill>
            <a:srgbClr val="0000FF"/>
          </a:solidFill>
          <a:ln w="9525">
            <a:noFill/>
            <a:miter lim="800000"/>
            <a:headEnd/>
            <a:tailEnd/>
          </a:ln>
          <a:effectLst/>
        </p:spPr>
        <p:txBody>
          <a:bodyPr wrap="square">
            <a:spAutoFit/>
          </a:bodyPr>
          <a:lstStyle/>
          <a:p>
            <a:pPr algn="ctr">
              <a:lnSpc>
                <a:spcPct val="110000"/>
              </a:lnSpc>
            </a:pPr>
            <a:endParaRPr lang="zh-CN" altLang="en-US"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内容占位符 7">
            <a:extLst>
              <a:ext uri="{FF2B5EF4-FFF2-40B4-BE49-F238E27FC236}">
                <a16:creationId xmlns:a16="http://schemas.microsoft.com/office/drawing/2014/main" id="{2B9D5E3B-3E1A-58EA-8AF6-5529834707DE}"/>
              </a:ext>
            </a:extLst>
          </p:cNvPr>
          <p:cNvSpPr>
            <a:spLocks noGrp="1"/>
          </p:cNvSpPr>
          <p:nvPr>
            <p:ph sz="quarter" idx="11"/>
          </p:nvPr>
        </p:nvSpPr>
        <p:spPr>
          <a:xfrm>
            <a:off x="486000" y="900000"/>
            <a:ext cx="8172000" cy="3703500"/>
          </a:xfrm>
        </p:spPr>
        <p:txBody>
          <a:bodyPr/>
          <a:lstStyle/>
          <a:p>
            <a:r>
              <a:rPr lang="zh-CN" altLang="en-US" dirty="0"/>
              <a:t>推送 </a:t>
            </a:r>
            <a:r>
              <a:rPr lang="en-US" altLang="zh-CN" dirty="0"/>
              <a:t>PSH (</a:t>
            </a:r>
            <a:r>
              <a:rPr lang="en-US" altLang="zh-CN" dirty="0" err="1"/>
              <a:t>PuSH</a:t>
            </a:r>
            <a:r>
              <a:rPr lang="en-US" altLang="zh-CN" dirty="0"/>
              <a:t>) </a:t>
            </a:r>
            <a:r>
              <a:rPr lang="zh-CN" altLang="en-US" dirty="0"/>
              <a:t>：控制位。接收 </a:t>
            </a:r>
            <a:r>
              <a:rPr lang="en-US" altLang="zh-CN" dirty="0"/>
              <a:t>TCP </a:t>
            </a:r>
            <a:r>
              <a:rPr lang="zh-CN" altLang="en-US" dirty="0"/>
              <a:t>收到 </a:t>
            </a:r>
            <a:r>
              <a:rPr lang="en-US" altLang="zh-CN" dirty="0"/>
              <a:t>PSH = 1 </a:t>
            </a:r>
            <a:r>
              <a:rPr lang="zh-CN" altLang="en-US" dirty="0"/>
              <a:t>的报文段后，就尽快（即“推送”向前）交付接收应用进程，而不再等到整个缓存都填满后再交付。 </a:t>
            </a:r>
          </a:p>
          <a:p>
            <a:endParaRPr lang="zh-CN" altLang="en-US" dirty="0"/>
          </a:p>
        </p:txBody>
      </p:sp>
      <p:sp>
        <p:nvSpPr>
          <p:cNvPr id="38" name="标题 37">
            <a:extLst>
              <a:ext uri="{FF2B5EF4-FFF2-40B4-BE49-F238E27FC236}">
                <a16:creationId xmlns:a16="http://schemas.microsoft.com/office/drawing/2014/main" id="{FAC11441-FC94-CF2F-2867-9E5101BDD6A4}"/>
              </a:ext>
            </a:extLst>
          </p:cNvPr>
          <p:cNvSpPr>
            <a:spLocks noGrp="1"/>
          </p:cNvSpPr>
          <p:nvPr>
            <p:ph type="title"/>
          </p:nvPr>
        </p:nvSpPr>
        <p:spPr>
          <a:xfrm>
            <a:off x="486000" y="550723"/>
            <a:ext cx="8172000" cy="338554"/>
          </a:xfrm>
        </p:spPr>
        <p:txBody>
          <a:bodyPr/>
          <a:lstStyle/>
          <a:p>
            <a:r>
              <a:rPr lang="en-US" altLang="zh-CN" dirty="0"/>
              <a:t>PSH</a:t>
            </a:r>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B8D2BF87-1B8B-487D-94C9-261F68DE9995}"/>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A2C0DAF-8950-765B-6872-3E6CAFD58283}"/>
              </a:ext>
            </a:extLst>
          </p:cNvPr>
          <p:cNvSpPr>
            <a:spLocks noGrp="1"/>
          </p:cNvSpPr>
          <p:nvPr>
            <p:ph type="title"/>
          </p:nvPr>
        </p:nvSpPr>
        <p:spPr/>
        <p:txBody>
          <a:bodyPr/>
          <a:lstStyle/>
          <a:p>
            <a:r>
              <a:rPr lang="en-US" altLang="zh-CN" dirty="0"/>
              <a:t>RST</a:t>
            </a:r>
            <a:endParaRPr lang="zh-CN" altLang="en-US" dirty="0"/>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F34AB039-3078-0833-7EA9-3C1D1D850568}"/>
              </a:ext>
            </a:extLst>
          </p:cNvPr>
          <p:cNvSpPr>
            <a:spLocks noGrp="1"/>
          </p:cNvSpPr>
          <p:nvPr>
            <p:ph type="title"/>
          </p:nvPr>
        </p:nvSpPr>
        <p:spPr/>
        <p:txBody>
          <a:bodyPr/>
          <a:lstStyle/>
          <a:p>
            <a:r>
              <a:rPr lang="en-US" altLang="zh-CN" dirty="0"/>
              <a:t>SYN</a:t>
            </a:r>
            <a:endParaRPr lang="zh-CN" altLang="en-US" dirty="0"/>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045242A2-7A2F-5488-36B3-C8AA249DC00D}"/>
              </a:ext>
            </a:extLst>
          </p:cNvPr>
          <p:cNvSpPr>
            <a:spLocks noGrp="1"/>
          </p:cNvSpPr>
          <p:nvPr>
            <p:ph type="title"/>
          </p:nvPr>
        </p:nvSpPr>
        <p:spPr>
          <a:xfrm>
            <a:off x="486000" y="550723"/>
            <a:ext cx="8172000" cy="338554"/>
          </a:xfrm>
        </p:spPr>
        <p:txBody>
          <a:bodyPr/>
          <a:lstStyle/>
          <a:p>
            <a:r>
              <a:rPr lang="en-US" altLang="zh-CN" dirty="0"/>
              <a:t>FIN</a:t>
            </a:r>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5" name="标题 4">
            <a:extLst>
              <a:ext uri="{FF2B5EF4-FFF2-40B4-BE49-F238E27FC236}">
                <a16:creationId xmlns:a16="http://schemas.microsoft.com/office/drawing/2014/main" id="{CC31D665-7B92-DF22-A713-1C65165284D1}"/>
              </a:ext>
            </a:extLst>
          </p:cNvPr>
          <p:cNvSpPr>
            <a:spLocks noGrp="1"/>
          </p:cNvSpPr>
          <p:nvPr>
            <p:ph type="title"/>
          </p:nvPr>
        </p:nvSpPr>
        <p:spPr/>
        <p:txBody>
          <a:bodyPr/>
          <a:lstStyle/>
          <a:p>
            <a:r>
              <a:rPr lang="en-US" altLang="zh-CN" dirty="0"/>
              <a:t>Window</a:t>
            </a:r>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614653"/>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609281"/>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2217076"/>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612861"/>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200940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240147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79264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3182924"/>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574992"/>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617337"/>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688947"/>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758323"/>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3260800"/>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622433"/>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688947"/>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2061911"/>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798017"/>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3260800"/>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84799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470090"/>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793541"/>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85604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786813"/>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786813"/>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786813"/>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786813"/>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786813"/>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786813"/>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584838"/>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622433"/>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599434"/>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570516"/>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620917"/>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933045"/>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992856"/>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3177774"/>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1246502"/>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594601"/>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A49A2CEE-63CD-D8FF-3D51-B80B5F2365A1}"/>
              </a:ext>
            </a:extLst>
          </p:cNvPr>
          <p:cNvSpPr>
            <a:spLocks noGrp="1"/>
          </p:cNvSpPr>
          <p:nvPr>
            <p:ph type="title"/>
          </p:nvPr>
        </p:nvSpPr>
        <p:spPr/>
        <p:txBody>
          <a:bodyPr/>
          <a:lstStyle/>
          <a:p>
            <a:r>
              <a:rPr lang="zh-CN" altLang="en-US" dirty="0"/>
              <a:t>校验和</a:t>
            </a: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28687F51-ABB0-CF24-4C99-8BADBDB7B072}"/>
              </a:ext>
            </a:extLst>
          </p:cNvPr>
          <p:cNvSpPr>
            <a:spLocks noGrp="1"/>
          </p:cNvSpPr>
          <p:nvPr>
            <p:ph type="title"/>
          </p:nvPr>
        </p:nvSpPr>
        <p:spPr>
          <a:xfrm>
            <a:off x="486000" y="550723"/>
            <a:ext cx="8172000" cy="338554"/>
          </a:xfrm>
        </p:spPr>
        <p:txBody>
          <a:bodyPr/>
          <a:lstStyle/>
          <a:p>
            <a:r>
              <a:rPr lang="zh-CN" altLang="en-US" dirty="0"/>
              <a:t>紧急指针</a:t>
            </a: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47FAFAFE-0D0B-04C8-D4FB-4D68A0E56D0B}"/>
              </a:ext>
            </a:extLst>
          </p:cNvPr>
          <p:cNvSpPr>
            <a:spLocks noGrp="1"/>
          </p:cNvSpPr>
          <p:nvPr>
            <p:ph type="title"/>
          </p:nvPr>
        </p:nvSpPr>
        <p:spPr>
          <a:xfrm>
            <a:off x="486000" y="550723"/>
            <a:ext cx="8172000" cy="338554"/>
          </a:xfrm>
        </p:spPr>
        <p:txBody>
          <a:bodyPr/>
          <a:lstStyle/>
          <a:p>
            <a:r>
              <a:rPr lang="zh-CN" altLang="en-US" dirty="0"/>
              <a:t>选项</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FD1192AF-990D-BADD-130A-7FFDEA7D1066}"/>
              </a:ext>
            </a:extLst>
          </p:cNvPr>
          <p:cNvSpPr>
            <a:spLocks noGrp="1"/>
          </p:cNvSpPr>
          <p:nvPr>
            <p:ph type="title"/>
          </p:nvPr>
        </p:nvSpPr>
        <p:spPr>
          <a:xfrm>
            <a:off x="486000" y="550723"/>
            <a:ext cx="8172000" cy="338554"/>
          </a:xfrm>
        </p:spPr>
        <p:txBody>
          <a:bodyPr/>
          <a:lstStyle/>
          <a:p>
            <a:r>
              <a:rPr lang="zh-CN" altLang="en-US" dirty="0"/>
              <a:t>填充</a:t>
            </a:r>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a:xfrm>
            <a:off x="486000" y="900000"/>
            <a:ext cx="8172000" cy="3703500"/>
          </a:xfrm>
        </p:spPr>
        <p:txBody>
          <a:bodyPr/>
          <a:lstStyle/>
          <a:p>
            <a:r>
              <a:rPr lang="zh-CN" altLang="en-US" dirty="0"/>
              <a:t>最大报文段长度 </a:t>
            </a:r>
            <a:r>
              <a:rPr lang="en-US" altLang="zh-CN" dirty="0"/>
              <a:t>MSS  (Maximum Segment Size) </a:t>
            </a:r>
            <a:r>
              <a:rPr lang="zh-CN" altLang="en-US" dirty="0"/>
              <a:t>是每个 </a:t>
            </a:r>
            <a:r>
              <a:rPr lang="en-US" altLang="zh-CN" dirty="0"/>
              <a:t>TCP </a:t>
            </a:r>
            <a:r>
              <a:rPr lang="zh-CN" altLang="en-US" dirty="0"/>
              <a:t>报文段中的数据字段的最大长度。</a:t>
            </a:r>
            <a:endParaRPr lang="en-US" altLang="zh-CN" dirty="0"/>
          </a:p>
          <a:p>
            <a:r>
              <a:rPr lang="zh-CN" altLang="en-US" dirty="0"/>
              <a:t>与接收窗口值没有关系。</a:t>
            </a:r>
            <a:endParaRPr lang="en-US" altLang="zh-CN" dirty="0"/>
          </a:p>
          <a:p>
            <a:endParaRPr lang="zh-CN" altLang="en-US" dirty="0"/>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endParaRPr lang="zh-CN" altLang="en-US" dirty="0"/>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网络利用率降低。</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例如：仅 </a:t>
              </a:r>
              <a:r>
                <a:rPr lang="en-US" altLang="zh-CN" sz="1400" b="1" kern="1200" dirty="0">
                  <a:latin typeface="微软雅黑" panose="020B0503020204020204" pitchFamily="34" charset="-122"/>
                  <a:ea typeface="微软雅黑" panose="020B0503020204020204" pitchFamily="34" charset="-122"/>
                </a:rPr>
                <a:t>1 </a:t>
              </a:r>
              <a:r>
                <a:rPr lang="zh-CN" altLang="en-US" sz="1400" b="1" kern="1200" dirty="0">
                  <a:latin typeface="微软雅黑" panose="020B0503020204020204" pitchFamily="34" charset="-122"/>
                  <a:ea typeface="微软雅黑" panose="020B0503020204020204" pitchFamily="34" charset="-122"/>
                </a:rPr>
                <a:t>个字节。利用率就不会超过</a:t>
              </a:r>
              <a:r>
                <a:rPr lang="en-US" altLang="en-US" sz="1400" b="1" kern="1200" dirty="0">
                  <a:latin typeface="微软雅黑" panose="020B0503020204020204" pitchFamily="34" charset="-122"/>
                  <a:ea typeface="微软雅黑" panose="020B0503020204020204" pitchFamily="34" charset="-122"/>
                </a:rPr>
                <a:t>1/41</a:t>
              </a:r>
              <a:r>
                <a:rPr lang="zh-CN" altLang="en-US" sz="1400" b="1" kern="1200" dirty="0">
                  <a:latin typeface="微软雅黑" panose="020B0503020204020204" pitchFamily="34" charset="-122"/>
                  <a:ea typeface="微软雅黑" panose="020B0503020204020204"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开销增大。</a:t>
              </a:r>
            </a:p>
            <a:p>
              <a:pPr marL="114300" lvl="1" indent="-114300" algn="l" defTabSz="533400">
                <a:lnSpc>
                  <a:spcPts val="2400"/>
                </a:lnSpc>
                <a:spcBef>
                  <a:spcPct val="0"/>
                </a:spcBef>
                <a:spcAft>
                  <a:spcPts val="0"/>
                </a:spcAft>
                <a:buChar char="••"/>
              </a:pP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层传输时要分片，终点要装配。</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chemeClr val="bg1"/>
                  </a:solidFill>
                  <a:latin typeface="微软雅黑" panose="020B0503020204020204" pitchFamily="34" charset="-122"/>
                  <a:ea typeface="微软雅黑" panose="020B0503020204020204"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只要在 </a:t>
              </a: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层传输时不再分片。</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默认值</a:t>
              </a:r>
              <a:r>
                <a:rPr lang="en-US" altLang="zh-CN"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b="1" kern="1200" dirty="0">
                  <a:solidFill>
                    <a:srgbClr val="C00000"/>
                  </a:solidFill>
                  <a:latin typeface="微软雅黑" panose="020B0503020204020204" pitchFamily="34" charset="-122"/>
                  <a:ea typeface="微软雅黑" panose="020B0503020204020204" pitchFamily="34" charset="-122"/>
                </a:rPr>
                <a:t>报文段长度 </a:t>
              </a:r>
              <a:r>
                <a:rPr lang="en-US" altLang="zh-CN" sz="1400" b="1" kern="1200" dirty="0">
                  <a:latin typeface="微软雅黑" panose="020B0503020204020204" pitchFamily="34" charset="-122"/>
                  <a:ea typeface="微软雅黑" panose="020B0503020204020204" pitchFamily="34" charset="-122"/>
                </a:rPr>
                <a:t>=</a:t>
              </a:r>
              <a:r>
                <a:rPr lang="zh-CN" altLang="en-US"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en-US" altLang="zh-CN" sz="1400" b="1" kern="1200" dirty="0">
                  <a:latin typeface="微软雅黑" panose="020B0503020204020204" pitchFamily="34" charset="-122"/>
                  <a:ea typeface="微软雅黑" panose="020B0503020204020204" pitchFamily="34" charset="-122"/>
                </a:rPr>
                <a:t>+</a:t>
              </a:r>
              <a:r>
                <a:rPr lang="en-US" altLang="en-US" sz="1400" b="1" kern="1200" dirty="0">
                  <a:latin typeface="微软雅黑" panose="020B0503020204020204" pitchFamily="34" charset="-122"/>
                  <a:ea typeface="微软雅黑" panose="020B0503020204020204" pitchFamily="34" charset="-122"/>
                </a:rPr>
                <a:t> 20 </a:t>
              </a:r>
              <a:r>
                <a:rPr lang="en-US" altLang="zh-CN" sz="1400" b="1" kern="1200" dirty="0">
                  <a:latin typeface="微软雅黑" panose="020B0503020204020204" pitchFamily="34" charset="-122"/>
                  <a:ea typeface="微软雅黑" panose="020B0503020204020204" pitchFamily="34" charset="-122"/>
                </a:rPr>
                <a:t>= 556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b="1" dirty="0">
                  <a:solidFill>
                    <a:srgbClr val="C00000"/>
                  </a:solidFill>
                  <a:latin typeface="微软雅黑" panose="020B0503020204020204" pitchFamily="34" charset="-122"/>
                  <a:ea typeface="微软雅黑" panose="020B0503020204020204" pitchFamily="34" charset="-122"/>
                </a:rPr>
                <a:t>IP </a:t>
              </a:r>
              <a:r>
                <a:rPr lang="zh-CN" altLang="en-US" sz="1400" b="1" dirty="0">
                  <a:solidFill>
                    <a:srgbClr val="C00000"/>
                  </a:solidFill>
                  <a:latin typeface="微软雅黑" panose="020B0503020204020204" pitchFamily="34" charset="-122"/>
                  <a:ea typeface="微软雅黑" panose="020B0503020204020204" pitchFamily="34" charset="-122"/>
                </a:rPr>
                <a:t>数据报长度 </a:t>
              </a:r>
              <a:r>
                <a:rPr lang="en-US" altLang="zh-CN" sz="1400" b="1" dirty="0">
                  <a:latin typeface="微软雅黑" panose="020B0503020204020204" pitchFamily="34" charset="-122"/>
                  <a:ea typeface="微软雅黑" panose="020B0503020204020204" pitchFamily="34" charset="-122"/>
                </a:rPr>
                <a:t>= 576 </a:t>
              </a:r>
              <a:r>
                <a:rPr lang="zh-CN" altLang="en-US" sz="1400" b="1" dirty="0">
                  <a:latin typeface="微软雅黑" panose="020B0503020204020204" pitchFamily="34" charset="-122"/>
                  <a:ea typeface="微软雅黑" panose="020B0503020204020204" pitchFamily="34" charset="-122"/>
                </a:rPr>
                <a:t>字节。</a:t>
              </a:r>
              <a:endParaRPr lang="zh-CN" altLang="en-US" sz="1400" b="1" kern="1200" dirty="0">
                <a:latin typeface="微软雅黑" panose="020B0503020204020204" pitchFamily="34" charset="-122"/>
                <a:ea typeface="微软雅黑" panose="020B0503020204020204" pitchFamily="34" charset="-122"/>
              </a:endParaRPr>
            </a:p>
          </p:txBody>
        </p:sp>
      </p:grpSp>
      <p:sp>
        <p:nvSpPr>
          <p:cNvPr id="4" name="标题 3">
            <a:extLst>
              <a:ext uri="{FF2B5EF4-FFF2-40B4-BE49-F238E27FC236}">
                <a16:creationId xmlns:a16="http://schemas.microsoft.com/office/drawing/2014/main" id="{4646C5FD-99D9-0421-C8B9-893FB939EEC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1595338"/>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595338"/>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2205895"/>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911225"/>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2245577"/>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897314"/>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616885"/>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978735"/>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3347206"/>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57102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936159"/>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3325664"/>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2463071"/>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83059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319811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565640"/>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6" name="内容占位符 5">
            <a:extLst>
              <a:ext uri="{FF2B5EF4-FFF2-40B4-BE49-F238E27FC236}">
                <a16:creationId xmlns:a16="http://schemas.microsoft.com/office/drawing/2014/main" id="{49D9B153-A0DF-608D-611D-28BDBE08EB8B}"/>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窗口字段长度</a:t>
            </a:r>
            <a:r>
              <a:rPr lang="en-US" altLang="zh-CN" dirty="0"/>
              <a:t>= 16 </a:t>
            </a:r>
            <a:r>
              <a:rPr lang="zh-CN" altLang="en-US" dirty="0"/>
              <a:t>位，最大窗口大小 </a:t>
            </a:r>
            <a:r>
              <a:rPr lang="en-US" altLang="zh-CN" dirty="0"/>
              <a:t>= 64 K </a:t>
            </a:r>
            <a:r>
              <a:rPr lang="zh-CN" altLang="en-US" dirty="0"/>
              <a:t>字节。</a:t>
            </a:r>
          </a:p>
          <a:p>
            <a:r>
              <a:rPr lang="zh-CN" altLang="en-US" dirty="0"/>
              <a:t>对于传播时延和带宽都很大的网络，为获得高吞吐率较，需要更大的窗口。</a:t>
            </a:r>
            <a:endParaRPr lang="en-US" altLang="zh-CN" dirty="0"/>
          </a:p>
          <a:p>
            <a:endParaRPr lang="zh-CN" altLang="en-US" dirty="0"/>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2448324"/>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2448324"/>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2764211"/>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3424013"/>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 name="组合 3"/>
          <p:cNvGrpSpPr/>
          <p:nvPr/>
        </p:nvGrpSpPr>
        <p:grpSpPr>
          <a:xfrm>
            <a:off x="2402902" y="2750301"/>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a:xfrm>
            <a:off x="486000" y="900000"/>
            <a:ext cx="8172000" cy="3703500"/>
          </a:xfrm>
        </p:spPr>
        <p:txBody>
          <a:bodyPr/>
          <a:lstStyle/>
          <a:p>
            <a:r>
              <a:rPr lang="zh-CN" altLang="en-US" dirty="0"/>
              <a:t>窗口扩大选项：占 </a:t>
            </a:r>
            <a:r>
              <a:rPr lang="en-US" altLang="zh-CN" dirty="0"/>
              <a:t>3 </a:t>
            </a:r>
            <a:r>
              <a:rPr lang="zh-CN" altLang="en-US" dirty="0"/>
              <a:t>字节，其中一个字节表示移位值 </a:t>
            </a:r>
            <a:r>
              <a:rPr lang="en-US" altLang="zh-CN" dirty="0"/>
              <a:t>S</a:t>
            </a:r>
            <a:r>
              <a:rPr lang="zh-CN" altLang="en-US" dirty="0"/>
              <a:t>。</a:t>
            </a:r>
          </a:p>
          <a:p>
            <a:r>
              <a:rPr lang="zh-CN" altLang="en-US" dirty="0"/>
              <a:t>新的窗口值位数从 </a:t>
            </a:r>
            <a:r>
              <a:rPr lang="en-US" altLang="zh-CN" dirty="0"/>
              <a:t>16 </a:t>
            </a:r>
            <a:r>
              <a:rPr lang="zh-CN" altLang="en-US" dirty="0"/>
              <a:t>增大到 </a:t>
            </a:r>
            <a:r>
              <a:rPr lang="en-US" altLang="zh-CN" dirty="0"/>
              <a:t>(16 + S)</a:t>
            </a:r>
            <a:r>
              <a:rPr lang="zh-CN" altLang="en-US" dirty="0"/>
              <a:t>，相当于把窗口值向左移动 </a:t>
            </a:r>
            <a:r>
              <a:rPr lang="en-US" altLang="zh-CN" dirty="0"/>
              <a:t>S </a:t>
            </a:r>
            <a:r>
              <a:rPr lang="zh-CN" altLang="en-US" dirty="0"/>
              <a:t>位。</a:t>
            </a:r>
          </a:p>
          <a:p>
            <a:r>
              <a:rPr lang="zh-CN" altLang="en-US" dirty="0"/>
              <a:t>移位值允许使用的最大值是 </a:t>
            </a:r>
            <a:r>
              <a:rPr lang="en-US" altLang="zh-CN" dirty="0"/>
              <a:t>14</a:t>
            </a:r>
            <a:r>
              <a:rPr lang="zh-CN" altLang="en-US" dirty="0"/>
              <a:t>，窗口最大值增大到 </a:t>
            </a:r>
            <a:r>
              <a:rPr lang="en-US" altLang="zh-CN" dirty="0"/>
              <a:t>2(16 + 14) – 1 = 230 – 1</a:t>
            </a:r>
            <a:r>
              <a:rPr lang="zh-CN" altLang="en-US" dirty="0"/>
              <a:t>。</a:t>
            </a:r>
          </a:p>
          <a:p>
            <a:r>
              <a:rPr lang="zh-CN" altLang="en-US" dirty="0"/>
              <a:t>窗口扩大选项可以在双方初始建立 </a:t>
            </a:r>
            <a:r>
              <a:rPr lang="en-US" altLang="zh-CN" dirty="0"/>
              <a:t>TCP </a:t>
            </a:r>
            <a:r>
              <a:rPr lang="zh-CN" altLang="en-US" dirty="0"/>
              <a:t>连接时进行协商。</a:t>
            </a:r>
          </a:p>
          <a:p>
            <a:endParaRPr lang="zh-CN" altLang="en-US" dirty="0"/>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a:xfrm>
            <a:off x="486000" y="900000"/>
            <a:ext cx="8172000" cy="3703500"/>
          </a:xfrm>
        </p:spPr>
        <p:txBody>
          <a:bodyPr/>
          <a:lstStyle/>
          <a:p>
            <a:r>
              <a:rPr lang="zh-CN" altLang="en-US" dirty="0"/>
              <a:t>占 </a:t>
            </a:r>
            <a:r>
              <a:rPr lang="en-US" altLang="zh-CN" dirty="0"/>
              <a:t>10 </a:t>
            </a:r>
            <a:r>
              <a:rPr lang="zh-CN" altLang="en-US" dirty="0"/>
              <a:t>字节。最主要的 </a:t>
            </a:r>
            <a:r>
              <a:rPr lang="en-US" altLang="zh-CN" dirty="0"/>
              <a:t>2 </a:t>
            </a:r>
            <a:r>
              <a:rPr lang="zh-CN" altLang="en-US" dirty="0"/>
              <a:t>个字段：</a:t>
            </a:r>
            <a:endParaRPr lang="en-US" altLang="zh-CN" dirty="0"/>
          </a:p>
          <a:p>
            <a:r>
              <a:rPr lang="zh-CN" altLang="en-US" dirty="0"/>
              <a:t>时间戳值字段（</a:t>
            </a:r>
            <a:r>
              <a:rPr lang="en-US" altLang="zh-CN" dirty="0"/>
              <a:t>4</a:t>
            </a:r>
            <a:r>
              <a:rPr lang="zh-CN" altLang="en-US" dirty="0"/>
              <a:t>字节）和时间戳回送回答字段（</a:t>
            </a:r>
            <a:r>
              <a:rPr lang="en-US" altLang="zh-CN" dirty="0"/>
              <a:t>4</a:t>
            </a:r>
            <a:r>
              <a:rPr lang="zh-CN" altLang="en-US" dirty="0"/>
              <a:t>字节）。</a:t>
            </a:r>
            <a:endParaRPr lang="en-US" altLang="zh-CN" dirty="0"/>
          </a:p>
          <a:p>
            <a:r>
              <a:rPr lang="en-US" altLang="zh-CN" dirty="0"/>
              <a:t>2 </a:t>
            </a:r>
            <a:r>
              <a:rPr lang="zh-CN" altLang="en-US" dirty="0"/>
              <a:t>个主要功能：</a:t>
            </a:r>
            <a:endParaRPr lang="en-US" altLang="zh-CN" dirty="0"/>
          </a:p>
          <a:p>
            <a:r>
              <a:rPr lang="zh-CN" altLang="en-US" dirty="0"/>
              <a:t>计算往返时间 </a:t>
            </a:r>
            <a:r>
              <a:rPr lang="en-US" altLang="zh-CN" dirty="0"/>
              <a:t>RTT</a:t>
            </a:r>
          </a:p>
          <a:p>
            <a:r>
              <a:rPr lang="zh-CN" altLang="en-US" dirty="0"/>
              <a:t>防止序号绕回 </a:t>
            </a:r>
            <a:r>
              <a:rPr lang="en-US" altLang="zh-CN" dirty="0"/>
              <a:t>PAWS (Protect Against Wrapped Sequence numbers)</a:t>
            </a:r>
            <a:r>
              <a:rPr lang="zh-CN" altLang="en-US" dirty="0"/>
              <a:t>。</a:t>
            </a:r>
            <a:endParaRPr lang="en-US" altLang="zh-CN" dirty="0"/>
          </a:p>
          <a:p>
            <a:pPr lvl="1"/>
            <a:r>
              <a:rPr lang="zh-CN" altLang="en-US" dirty="0"/>
              <a:t>序号重复时，为了使接收方能够把新报文段和迟到很久的旧报文段区分开，可以在报文段中加上时间戳。</a:t>
            </a:r>
            <a:endParaRPr lang="en-US" altLang="zh-CN" dirty="0"/>
          </a:p>
          <a:p>
            <a:endParaRPr lang="zh-CN" altLang="en-US" dirty="0"/>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486000" y="550723"/>
            <a:ext cx="8172000" cy="338554"/>
          </a:xfrm>
        </p:spPr>
        <p:txBody>
          <a:bodyPr/>
          <a:lstStyle/>
          <a:p>
            <a:r>
              <a:rPr lang="zh-CN" altLang="en-US" dirty="0"/>
              <a:t>选项（</a:t>
            </a:r>
            <a:r>
              <a:rPr lang="en-US" altLang="zh-CN" dirty="0"/>
              <a:t>8</a:t>
            </a:r>
            <a:r>
              <a:rPr lang="zh-CN" altLang="en-US" dirty="0"/>
              <a:t>）：时间戳</a:t>
            </a:r>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使用流水线传输和滑动窗口协议实现高效、可靠的传输。</a:t>
            </a:r>
            <a:endParaRPr lang="en-US" altLang="zh-CN" dirty="0"/>
          </a:p>
          <a:p>
            <a:r>
              <a:rPr lang="en-US" altLang="zh-CN" dirty="0"/>
              <a:t>TCP </a:t>
            </a:r>
            <a:r>
              <a:rPr lang="zh-CN" altLang="en-US" dirty="0"/>
              <a:t>的滑动窗口是以字节为单位的。</a:t>
            </a:r>
            <a:endParaRPr lang="en-US" altLang="zh-CN" dirty="0"/>
          </a:p>
          <a:p>
            <a:r>
              <a:rPr lang="zh-CN" altLang="en-US" dirty="0"/>
              <a:t>发送方 </a:t>
            </a:r>
            <a:r>
              <a:rPr lang="en-US" altLang="zh-CN" dirty="0"/>
              <a:t>A </a:t>
            </a:r>
            <a:r>
              <a:rPr lang="zh-CN" altLang="en-US" dirty="0"/>
              <a:t>和接收方 </a:t>
            </a:r>
            <a:r>
              <a:rPr lang="en-US" altLang="zh-CN" dirty="0"/>
              <a:t>B </a:t>
            </a:r>
            <a:r>
              <a:rPr lang="zh-CN" altLang="en-US" dirty="0"/>
              <a:t>分别维持一个发送窗口和一个接收窗口。</a:t>
            </a:r>
            <a:endParaRPr lang="en-US" altLang="zh-CN" dirty="0"/>
          </a:p>
          <a:p>
            <a:r>
              <a:rPr lang="zh-CN" altLang="en-US" dirty="0"/>
              <a:t>发送窗口：在没有收到确认的情况下，发送方可以连续把窗口内的数据全部发送出去。凡是已经发送过的数据，在未收到确认之前都必须暂时保留，以便在超时重传时使用。</a:t>
            </a:r>
            <a:endParaRPr lang="en-US" altLang="zh-CN" dirty="0"/>
          </a:p>
          <a:p>
            <a:r>
              <a:rPr lang="zh-CN" altLang="en-US" dirty="0"/>
              <a:t>接收窗口：只允许接收落入窗口内的数据。</a:t>
            </a:r>
            <a:endParaRPr lang="en-US" altLang="zh-CN" dirty="0"/>
          </a:p>
          <a:p>
            <a:endParaRPr lang="zh-CN" altLang="en-US" dirty="0"/>
          </a:p>
        </p:txBody>
      </p:sp>
      <p:sp>
        <p:nvSpPr>
          <p:cNvPr id="3" name="标题 2">
            <a:extLst>
              <a:ext uri="{FF2B5EF4-FFF2-40B4-BE49-F238E27FC236}">
                <a16:creationId xmlns:a16="http://schemas.microsoft.com/office/drawing/2014/main" id="{34799894-B7D1-1D8A-28B5-7512C748674A}"/>
              </a:ext>
            </a:extLst>
          </p:cNvPr>
          <p:cNvSpPr>
            <a:spLocks noGrp="1"/>
          </p:cNvSpPr>
          <p:nvPr>
            <p:ph type="title"/>
          </p:nvPr>
        </p:nvSpPr>
        <p:spPr>
          <a:xfrm>
            <a:off x="486000" y="550723"/>
            <a:ext cx="8172000" cy="338554"/>
          </a:xfrm>
        </p:spPr>
        <p:txBody>
          <a:bodyPr/>
          <a:lstStyle/>
          <a:p>
            <a:r>
              <a:rPr lang="en-US" altLang="zh-CN" dirty="0"/>
              <a:t>5.6.1   </a:t>
            </a:r>
            <a:r>
              <a:rPr lang="zh-CN" altLang="en-US" dirty="0"/>
              <a:t>以字节为单位的滑动窗口</a:t>
            </a:r>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56D74304-3855-8340-73FA-3FFFD0CFF647}"/>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0" name="标题 59">
            <a:extLst>
              <a:ext uri="{FF2B5EF4-FFF2-40B4-BE49-F238E27FC236}">
                <a16:creationId xmlns:a16="http://schemas.microsoft.com/office/drawing/2014/main" id="{BD15A372-01EC-5697-D647-AE48B772A680}"/>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8" name="标题 7">
            <a:extLst>
              <a:ext uri="{FF2B5EF4-FFF2-40B4-BE49-F238E27FC236}">
                <a16:creationId xmlns:a16="http://schemas.microsoft.com/office/drawing/2014/main" id="{BD1AE9B4-C5D7-F4EB-1293-C6E9AA45BE2A}"/>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2" name="标题 1">
            <a:extLst>
              <a:ext uri="{FF2B5EF4-FFF2-40B4-BE49-F238E27FC236}">
                <a16:creationId xmlns:a16="http://schemas.microsoft.com/office/drawing/2014/main" id="{F7785425-0860-D3D9-8A2D-85F4C6C6A220}"/>
              </a:ext>
            </a:extLst>
          </p:cNvPr>
          <p:cNvSpPr>
            <a:spLocks noGrp="1"/>
          </p:cNvSpPr>
          <p:nvPr>
            <p:ph type="title"/>
          </p:nvPr>
        </p:nvSpPr>
        <p:spPr>
          <a:xfrm>
            <a:off x="486000" y="550723"/>
            <a:ext cx="8172000" cy="338554"/>
          </a:xfrm>
        </p:spPr>
        <p:txBody>
          <a:bodyPr/>
          <a:lstStyle/>
          <a:p>
            <a:r>
              <a:rPr lang="zh-CN" altLang="en-US" dirty="0"/>
              <a:t>接收窗口</a:t>
            </a:r>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627C2A6A-6781-B725-00EE-13DB61463681}"/>
              </a:ext>
            </a:extLst>
          </p:cNvPr>
          <p:cNvSpPr>
            <a:spLocks noGrp="1"/>
          </p:cNvSpPr>
          <p:nvPr>
            <p:ph type="title"/>
          </p:nvPr>
        </p:nvSpPr>
        <p:spPr>
          <a:xfrm>
            <a:off x="486000" y="550723"/>
            <a:ext cx="8172000" cy="338554"/>
          </a:xfrm>
        </p:spPr>
        <p:txBody>
          <a:bodyPr/>
          <a:lstStyle/>
          <a:p>
            <a:r>
              <a:rPr lang="zh-CN" altLang="en-US" dirty="0"/>
              <a:t>窗口的滑动</a:t>
            </a:r>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8" name="Rectangle 6"/>
          <p:cNvSpPr>
            <a:spLocks noChangeArrowheads="1"/>
          </p:cNvSpPr>
          <p:nvPr/>
        </p:nvSpPr>
        <p:spPr bwMode="auto">
          <a:xfrm>
            <a:off x="3278387"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发送缓存与发送窗口 </a:t>
            </a:r>
          </a:p>
        </p:txBody>
      </p:sp>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41" name="Rectangle 6"/>
          <p:cNvSpPr>
            <a:spLocks noChangeArrowheads="1"/>
          </p:cNvSpPr>
          <p:nvPr/>
        </p:nvSpPr>
        <p:spPr bwMode="auto">
          <a:xfrm>
            <a:off x="3278393"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接收缓存与接收窗口 </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a:xfrm>
            <a:off x="486000" y="900000"/>
            <a:ext cx="8172000" cy="3703500"/>
          </a:xfrm>
        </p:spPr>
        <p:txBody>
          <a:bodyPr/>
          <a:lstStyle/>
          <a:p>
            <a:r>
              <a:rPr lang="zh-CN" altLang="en-US" dirty="0"/>
              <a:t>第一，发送窗口是根据接收窗口设置的，但在同一时刻，发送窗口并不总是和接收窗口一样大（因为有一定的时间滞后）。</a:t>
            </a:r>
          </a:p>
          <a:p>
            <a:r>
              <a:rPr lang="zh-CN" altLang="en-US" dirty="0"/>
              <a:t>第二，</a:t>
            </a:r>
            <a:r>
              <a:rPr lang="en-US" altLang="zh-CN" dirty="0"/>
              <a:t>TCP </a:t>
            </a:r>
            <a:r>
              <a:rPr lang="zh-CN" altLang="en-US" dirty="0"/>
              <a:t>标准没有规定对不按序到达的数据应如何处理。通常是先临时存放在接收窗口中，等到字节流中所缺少的字节收到后，再按序交付上层的应用进程。</a:t>
            </a:r>
          </a:p>
          <a:p>
            <a:r>
              <a:rPr lang="zh-CN" altLang="en-US" dirty="0"/>
              <a:t>第三，</a:t>
            </a:r>
            <a:r>
              <a:rPr lang="en-US" altLang="zh-CN" dirty="0"/>
              <a:t>TCP </a:t>
            </a:r>
            <a:r>
              <a:rPr lang="zh-CN" altLang="en-US" dirty="0"/>
              <a:t>要求接收方必须有累积确认的功能，以减小传输开销。接收方可以在合适的时候发送确认，也可以在自己有数据要发送时把确认信息顺便捎带上。但接收方不应过分推迟发送确认，否则会导致发送方不必要的重传，捎带确认实际上并不经常发生。</a:t>
            </a:r>
          </a:p>
          <a:p>
            <a:endParaRPr lang="zh-CN" altLang="en-US" dirty="0"/>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486000" y="550723"/>
            <a:ext cx="8172000" cy="338554"/>
          </a:xfrm>
        </p:spPr>
        <p:txBody>
          <a:bodyPr/>
          <a:lstStyle/>
          <a:p>
            <a:r>
              <a:rPr lang="zh-CN" altLang="en-US" dirty="0"/>
              <a:t>需要强调三点</a:t>
            </a:r>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发送方在规定的时间内没有收到确认就要重传已发送的报文段。</a:t>
            </a:r>
            <a:endParaRPr lang="en-US" altLang="zh-CN" dirty="0"/>
          </a:p>
          <a:p>
            <a:r>
              <a:rPr lang="zh-CN" altLang="en-US" dirty="0"/>
              <a:t>但重传时间的选择是 </a:t>
            </a:r>
            <a:r>
              <a:rPr lang="en-US" altLang="zh-CN" dirty="0"/>
              <a:t>TCP </a:t>
            </a:r>
            <a:r>
              <a:rPr lang="zh-CN" altLang="en-US" dirty="0"/>
              <a:t>最复杂的问题之一。</a:t>
            </a:r>
            <a:endParaRPr lang="en-US" altLang="zh-CN" dirty="0"/>
          </a:p>
          <a:p>
            <a:r>
              <a:rPr lang="zh-CN" altLang="en-US" dirty="0"/>
              <a:t>互联网环境复杂，</a:t>
            </a:r>
            <a:r>
              <a:rPr lang="en-US" altLang="zh-CN" dirty="0"/>
              <a:t>IP </a:t>
            </a:r>
            <a:r>
              <a:rPr lang="zh-CN" altLang="en-US" dirty="0"/>
              <a:t>数据报所选择的路由变化很大，导致运输层的往返时间 </a:t>
            </a:r>
            <a:r>
              <a:rPr lang="en-US" altLang="zh-CN" dirty="0"/>
              <a:t>(RTT) </a:t>
            </a:r>
            <a:r>
              <a:rPr lang="zh-CN" altLang="en-US" dirty="0"/>
              <a:t>的变化也很大。</a:t>
            </a:r>
          </a:p>
          <a:p>
            <a:endParaRPr lang="zh-CN" altLang="en-US" dirty="0"/>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486000" y="550723"/>
            <a:ext cx="8172000" cy="338554"/>
          </a:xfrm>
        </p:spPr>
        <p:txBody>
          <a:bodyPr/>
          <a:lstStyle/>
          <a:p>
            <a:r>
              <a:rPr lang="en-US" altLang="zh-CN" dirty="0"/>
              <a:t>5.6.2   </a:t>
            </a:r>
            <a:r>
              <a:rPr lang="zh-CN" altLang="en-US" dirty="0"/>
              <a:t>超时重传时间的选择</a:t>
            </a:r>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a:xfrm>
            <a:off x="486000" y="900000"/>
            <a:ext cx="8172000" cy="3703500"/>
          </a:xfrm>
        </p:spPr>
        <p:txBody>
          <a:bodyPr/>
          <a:lstStyle/>
          <a:p>
            <a:r>
              <a:rPr lang="zh-CN" altLang="en-US" dirty="0"/>
              <a:t>不能太短，否则会引起很多报文段的不必要的重传，使网络负荷增大。</a:t>
            </a:r>
          </a:p>
          <a:p>
            <a:r>
              <a:rPr lang="zh-CN" altLang="en-US" dirty="0"/>
              <a:t>不能过长，会使网络的空闲时间增大，降低了传输效率。</a:t>
            </a:r>
          </a:p>
          <a:p>
            <a:endParaRPr lang="zh-CN" altLang="en-US" dirty="0"/>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486000" y="550723"/>
            <a:ext cx="8172000" cy="338554"/>
          </a:xfrm>
        </p:spPr>
        <p:txBody>
          <a:bodyPr/>
          <a:lstStyle/>
          <a:p>
            <a:r>
              <a:rPr lang="en-US" altLang="zh-CN" dirty="0"/>
              <a:t>TCP </a:t>
            </a:r>
            <a:r>
              <a:rPr lang="zh-CN" altLang="en-US" dirty="0"/>
              <a:t>超时重传时间设置</a:t>
            </a:r>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58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059269" y="583372"/>
            <a:ext cx="30441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加权平均往返时间 </a:t>
            </a:r>
            <a:r>
              <a:rPr lang="en-US" altLang="zh-CN" sz="2000" b="1" dirty="0">
                <a:solidFill>
                  <a:schemeClr val="bg1"/>
                </a:solidFill>
                <a:latin typeface="微软雅黑" pitchFamily="34" charset="-122"/>
                <a:ea typeface="微软雅黑" pitchFamily="34" charset="-122"/>
              </a:rPr>
              <a:t>RTT</a:t>
            </a:r>
            <a:r>
              <a:rPr lang="en-US" altLang="zh-CN" sz="2000" b="1" baseline="-25000" dirty="0">
                <a:solidFill>
                  <a:schemeClr val="bg1"/>
                </a:solidFill>
                <a:latin typeface="微软雅黑" pitchFamily="34" charset="-122"/>
                <a:ea typeface="微软雅黑" pitchFamily="34" charset="-122"/>
              </a:rPr>
              <a:t>S</a:t>
            </a:r>
            <a:r>
              <a:rPr lang="en-US" altLang="zh-CN" sz="2000" b="1" dirty="0">
                <a:solidFill>
                  <a:schemeClr val="bg1"/>
                </a:solidFill>
                <a:latin typeface="微软雅黑" pitchFamily="34" charset="-122"/>
                <a:ea typeface="微软雅黑" pitchFamily="34" charset="-122"/>
              </a:rPr>
              <a:t> </a:t>
            </a:r>
            <a:endParaRPr lang="zh-CN" altLang="en-US" sz="2000" b="1" dirty="0">
              <a:solidFill>
                <a:schemeClr val="bg1"/>
              </a:solidFill>
              <a:latin typeface="微软雅黑" pitchFamily="34" charset="-122"/>
              <a:ea typeface="微软雅黑" pitchFamily="34" charset="-122"/>
            </a:endParaRPr>
          </a:p>
        </p:txBody>
      </p:sp>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11" name="内容占位符 10">
            <a:extLst>
              <a:ext uri="{FF2B5EF4-FFF2-40B4-BE49-F238E27FC236}">
                <a16:creationId xmlns:a16="http://schemas.microsoft.com/office/drawing/2014/main" id="{56C6C8F0-BD37-9F15-AB48-2D004B668FA5}"/>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7B73AF17-72EA-2365-3E47-E88F65717ED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255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414270" y="592333"/>
            <a:ext cx="233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超时重传时间 </a:t>
            </a:r>
            <a:r>
              <a:rPr lang="en-US" altLang="zh-CN" sz="2000" b="1" dirty="0">
                <a:solidFill>
                  <a:schemeClr val="bg1"/>
                </a:solidFill>
                <a:latin typeface="微软雅黑" pitchFamily="34" charset="-122"/>
                <a:ea typeface="微软雅黑" pitchFamily="34" charset="-122"/>
              </a:rPr>
              <a:t>RTO</a:t>
            </a:r>
            <a:endParaRPr lang="zh-CN" altLang="en-US" sz="2000" b="1" dirty="0">
              <a:solidFill>
                <a:schemeClr val="bg1"/>
              </a:solidFill>
              <a:latin typeface="微软雅黑" pitchFamily="34" charset="-122"/>
              <a:ea typeface="微软雅黑" pitchFamily="34" charset="-122"/>
            </a:endParaRPr>
          </a:p>
        </p:txBody>
      </p:sp>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D853AE8A-083E-3AD7-EFD6-0132FE4B1B6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C5C7168-1D1A-87AD-B151-7E84F8F55AB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601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13634" y="592799"/>
            <a:ext cx="39354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往返时间 </a:t>
            </a:r>
            <a:r>
              <a:rPr lang="en-US" altLang="zh-CN" sz="2000" b="1" dirty="0">
                <a:solidFill>
                  <a:schemeClr val="bg1"/>
                </a:solidFill>
                <a:latin typeface="微软雅黑" pitchFamily="34" charset="-122"/>
                <a:ea typeface="微软雅黑" pitchFamily="34" charset="-122"/>
              </a:rPr>
              <a:t>(RTT) </a:t>
            </a:r>
            <a:r>
              <a:rPr lang="zh-CN" altLang="en-US" sz="2000" b="1" dirty="0">
                <a:solidFill>
                  <a:schemeClr val="bg1"/>
                </a:solidFill>
                <a:latin typeface="微软雅黑" pitchFamily="34" charset="-122"/>
                <a:ea typeface="微软雅黑" pitchFamily="34" charset="-122"/>
              </a:rPr>
              <a:t>的测量相当复杂</a:t>
            </a:r>
          </a:p>
        </p:txBody>
      </p:sp>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 name="内容占位符 3">
            <a:extLst>
              <a:ext uri="{FF2B5EF4-FFF2-40B4-BE49-F238E27FC236}">
                <a16:creationId xmlns:a16="http://schemas.microsoft.com/office/drawing/2014/main" id="{5387FEAB-F396-285F-A763-094ACA8C83C3}"/>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CF585AE0-3767-7B3F-A607-B8E08C7CF8D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9" name="内容占位符 8">
            <a:extLst>
              <a:ext uri="{FF2B5EF4-FFF2-40B4-BE49-F238E27FC236}">
                <a16:creationId xmlns:a16="http://schemas.microsoft.com/office/drawing/2014/main" id="{2A265066-F9F2-52EA-626D-4FFE422E56F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3F8BE0E0-0CCF-76A4-F57D-75C943DE5C6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6" name="内容占位符 5">
            <a:extLst>
              <a:ext uri="{FF2B5EF4-FFF2-40B4-BE49-F238E27FC236}">
                <a16:creationId xmlns:a16="http://schemas.microsoft.com/office/drawing/2014/main" id="{6DD6E603-DD80-E748-89AD-866116C8568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8D584D8-123E-BD46-52AB-F9323336AD1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56963" y="1058278"/>
            <a:ext cx="8048776" cy="20117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11" name="内容占位符 10">
            <a:extLst>
              <a:ext uri="{FF2B5EF4-FFF2-40B4-BE49-F238E27FC236}">
                <a16:creationId xmlns:a16="http://schemas.microsoft.com/office/drawing/2014/main" id="{B94BBE8F-E567-DB8B-D86B-D6C075763CF7}"/>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49848B2A-974F-7E5D-EAF2-670A4A48B2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9" name="内容占位符 28">
            <a:extLst>
              <a:ext uri="{FF2B5EF4-FFF2-40B4-BE49-F238E27FC236}">
                <a16:creationId xmlns:a16="http://schemas.microsoft.com/office/drawing/2014/main" id="{2631BAED-7D48-0CA1-D38F-F64439D8ED84}"/>
              </a:ext>
            </a:extLst>
          </p:cNvPr>
          <p:cNvSpPr>
            <a:spLocks noGrp="1"/>
          </p:cNvSpPr>
          <p:nvPr>
            <p:ph sz="quarter" idx="11"/>
          </p:nvPr>
        </p:nvSpPr>
        <p:spPr/>
        <p:txBody>
          <a:bodyPr/>
          <a:lstStyle/>
          <a:p>
            <a:endParaRPr lang="zh-CN" altLang="en-US"/>
          </a:p>
        </p:txBody>
      </p:sp>
      <p:sp>
        <p:nvSpPr>
          <p:cNvPr id="28" name="标题 27">
            <a:extLst>
              <a:ext uri="{FF2B5EF4-FFF2-40B4-BE49-F238E27FC236}">
                <a16:creationId xmlns:a16="http://schemas.microsoft.com/office/drawing/2014/main" id="{6C718BEC-F1AB-E5CD-70E9-CF4CA122962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8" name="标题 7">
            <a:extLst>
              <a:ext uri="{FF2B5EF4-FFF2-40B4-BE49-F238E27FC236}">
                <a16:creationId xmlns:a16="http://schemas.microsoft.com/office/drawing/2014/main" id="{DF02B8CD-193F-B2D5-70CC-240076ED56AA}"/>
              </a:ext>
            </a:extLst>
          </p:cNvPr>
          <p:cNvSpPr>
            <a:spLocks noGrp="1"/>
          </p:cNvSpPr>
          <p:nvPr>
            <p:ph type="title"/>
          </p:nvPr>
        </p:nvSpPr>
        <p:spPr>
          <a:xfrm>
            <a:off x="486000" y="550723"/>
            <a:ext cx="8172000" cy="338554"/>
          </a:xfrm>
        </p:spPr>
        <p:txBody>
          <a:bodyPr/>
          <a:lstStyle/>
          <a:p>
            <a:r>
              <a:rPr lang="en-US" altLang="zh-CN" dirty="0"/>
              <a:t>SACK</a:t>
            </a:r>
            <a:endParaRPr lang="zh-CN" altLang="en-US" dirty="0"/>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a:xfrm>
            <a:off x="486000" y="900000"/>
            <a:ext cx="8172000" cy="3703500"/>
          </a:xfrm>
        </p:spPr>
        <p:txBody>
          <a:bodyPr/>
          <a:lstStyle/>
          <a:p>
            <a:r>
              <a:rPr lang="zh-CN" altLang="en-US" dirty="0"/>
              <a:t>流量控制 </a:t>
            </a:r>
            <a:r>
              <a:rPr lang="en-US" altLang="zh-CN" dirty="0"/>
              <a:t>(flow control) </a:t>
            </a:r>
            <a:r>
              <a:rPr lang="zh-CN" altLang="en-US" dirty="0"/>
              <a:t>：让发送方的发送速率不要太快，使接收方来得及接收。</a:t>
            </a:r>
            <a:endParaRPr lang="en-US" altLang="zh-CN" dirty="0"/>
          </a:p>
          <a:p>
            <a:r>
              <a:rPr lang="zh-CN" altLang="en-US" dirty="0"/>
              <a:t>利用滑动窗口机制可以很方便地在 </a:t>
            </a:r>
            <a:r>
              <a:rPr lang="en-US" altLang="zh-CN" dirty="0"/>
              <a:t>TCP </a:t>
            </a:r>
            <a:r>
              <a:rPr lang="zh-CN" altLang="en-US" dirty="0"/>
              <a:t>连接上实现对发送方的流量控制。 </a:t>
            </a:r>
            <a:endParaRPr lang="en-US" altLang="zh-CN" dirty="0"/>
          </a:p>
          <a:p>
            <a:endParaRPr lang="zh-CN" altLang="en-US" dirty="0"/>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486000" y="550723"/>
            <a:ext cx="8172000" cy="338554"/>
          </a:xfrm>
        </p:spPr>
        <p:txBody>
          <a:bodyPr/>
          <a:lstStyle/>
          <a:p>
            <a:r>
              <a:rPr lang="en-US" altLang="zh-CN" dirty="0"/>
              <a:t>5.7.1   </a:t>
            </a:r>
            <a:r>
              <a:rPr lang="zh-CN" altLang="en-US" dirty="0"/>
              <a:t>利用滑动窗口实现流量控制</a:t>
            </a:r>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内容占位符 53">
            <a:extLst>
              <a:ext uri="{FF2B5EF4-FFF2-40B4-BE49-F238E27FC236}">
                <a16:creationId xmlns:a16="http://schemas.microsoft.com/office/drawing/2014/main" id="{EFB877AD-56DC-5147-EF6B-B9AA1F50B5D1}"/>
              </a:ext>
            </a:extLst>
          </p:cNvPr>
          <p:cNvSpPr>
            <a:spLocks noGrp="1"/>
          </p:cNvSpPr>
          <p:nvPr>
            <p:ph sz="quarter" idx="11"/>
          </p:nvPr>
        </p:nvSpPr>
        <p:spPr>
          <a:xfrm>
            <a:off x="486000" y="900000"/>
            <a:ext cx="8172000" cy="3703500"/>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8" name="标题 7">
            <a:extLst>
              <a:ext uri="{FF2B5EF4-FFF2-40B4-BE49-F238E27FC236}">
                <a16:creationId xmlns:a16="http://schemas.microsoft.com/office/drawing/2014/main" id="{162E63FA-FCE2-5882-1AC7-79D142EE7B49}"/>
              </a:ext>
            </a:extLst>
          </p:cNvPr>
          <p:cNvSpPr>
            <a:spLocks noGrp="1"/>
          </p:cNvSpPr>
          <p:nvPr>
            <p:ph type="title"/>
          </p:nvPr>
        </p:nvSpPr>
        <p:spPr>
          <a:xfrm>
            <a:off x="486000" y="550723"/>
            <a:ext cx="8172000" cy="338554"/>
          </a:xfrm>
        </p:spPr>
        <p:txBody>
          <a:bodyPr/>
          <a:lstStyle/>
          <a:p>
            <a:r>
              <a:rPr lang="en-US" altLang="zh-CN" dirty="0"/>
              <a:t>5.7.1   </a:t>
            </a:r>
            <a:r>
              <a:rPr lang="zh-CN" altLang="en-US" dirty="0"/>
              <a:t>利用滑动窗口实现流量控制</a:t>
            </a:r>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矩形 56">
            <a:extLst>
              <a:ext uri="{FF2B5EF4-FFF2-40B4-BE49-F238E27FC236}">
                <a16:creationId xmlns:a16="http://schemas.microsoft.com/office/drawing/2014/main" id="{D541A28C-54A2-E921-E839-97CFBA2536BB}"/>
              </a:ext>
            </a:extLst>
          </p:cNvPr>
          <p:cNvSpPr/>
          <p:nvPr/>
        </p:nvSpPr>
        <p:spPr>
          <a:xfrm>
            <a:off x="0" y="0"/>
            <a:ext cx="9144000"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Line 4">
            <a:extLst>
              <a:ext uri="{FF2B5EF4-FFF2-40B4-BE49-F238E27FC236}">
                <a16:creationId xmlns:a16="http://schemas.microsoft.com/office/drawing/2014/main" id="{1E20D6B6-09AD-7D32-267A-984819B57C82}"/>
              </a:ext>
            </a:extLst>
          </p:cNvPr>
          <p:cNvSpPr>
            <a:spLocks noChangeShapeType="1"/>
          </p:cNvSpPr>
          <p:nvPr/>
        </p:nvSpPr>
        <p:spPr bwMode="auto">
          <a:xfrm>
            <a:off x="3013348"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6" name="Line 19">
            <a:extLst>
              <a:ext uri="{FF2B5EF4-FFF2-40B4-BE49-F238E27FC236}">
                <a16:creationId xmlns:a16="http://schemas.microsoft.com/office/drawing/2014/main" id="{8CF6DE64-D143-37D2-686F-E43512857FDA}"/>
              </a:ext>
            </a:extLst>
          </p:cNvPr>
          <p:cNvSpPr>
            <a:spLocks noChangeShapeType="1"/>
          </p:cNvSpPr>
          <p:nvPr/>
        </p:nvSpPr>
        <p:spPr bwMode="auto">
          <a:xfrm flipH="1">
            <a:off x="515315" y="1290647"/>
            <a:ext cx="2498033"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7" name="Rectangle 20">
            <a:extLst>
              <a:ext uri="{FF2B5EF4-FFF2-40B4-BE49-F238E27FC236}">
                <a16:creationId xmlns:a16="http://schemas.microsoft.com/office/drawing/2014/main" id="{325B524B-F7E6-DB4B-CE73-13512669B055}"/>
              </a:ext>
            </a:extLst>
          </p:cNvPr>
          <p:cNvSpPr>
            <a:spLocks noChangeArrowheads="1"/>
          </p:cNvSpPr>
          <p:nvPr/>
        </p:nvSpPr>
        <p:spPr bwMode="auto">
          <a:xfrm flipH="1">
            <a:off x="661611" y="1052558"/>
            <a:ext cx="205665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201, </a:t>
            </a:r>
            <a:r>
              <a:rPr kumimoji="1" lang="en-US" altLang="zh-CN" sz="1000" dirty="0">
                <a:solidFill>
                  <a:srgbClr val="00B050"/>
                </a:solidFill>
                <a:latin typeface="Montserrat" panose="00000500000000000000" pitchFamily="2" charset="0"/>
                <a:ea typeface="微软雅黑 Light" panose="020B0502040204020203" pitchFamily="34" charset="-122"/>
              </a:rPr>
              <a:t>rwnd = 300</a:t>
            </a:r>
          </a:p>
        </p:txBody>
      </p:sp>
      <p:sp>
        <p:nvSpPr>
          <p:cNvPr id="9" name="Line 21">
            <a:extLst>
              <a:ext uri="{FF2B5EF4-FFF2-40B4-BE49-F238E27FC236}">
                <a16:creationId xmlns:a16="http://schemas.microsoft.com/office/drawing/2014/main" id="{CB25839B-FFB6-0838-39A0-0D8D1EA01E65}"/>
              </a:ext>
            </a:extLst>
          </p:cNvPr>
          <p:cNvSpPr>
            <a:spLocks noChangeShapeType="1"/>
          </p:cNvSpPr>
          <p:nvPr/>
        </p:nvSpPr>
        <p:spPr bwMode="auto">
          <a:xfrm flipH="1">
            <a:off x="522828" y="3107225"/>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0" name="Rectangle 22">
            <a:extLst>
              <a:ext uri="{FF2B5EF4-FFF2-40B4-BE49-F238E27FC236}">
                <a16:creationId xmlns:a16="http://schemas.microsoft.com/office/drawing/2014/main" id="{2C6F0227-B1D3-CCDB-BD13-21033402836C}"/>
              </a:ext>
            </a:extLst>
          </p:cNvPr>
          <p:cNvSpPr>
            <a:spLocks noChangeArrowheads="1"/>
          </p:cNvSpPr>
          <p:nvPr/>
        </p:nvSpPr>
        <p:spPr bwMode="auto">
          <a:xfrm flipH="1">
            <a:off x="740158" y="2855646"/>
            <a:ext cx="190597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0</a:t>
            </a:r>
          </a:p>
        </p:txBody>
      </p:sp>
      <p:sp>
        <p:nvSpPr>
          <p:cNvPr id="12" name="Line 23">
            <a:extLst>
              <a:ext uri="{FF2B5EF4-FFF2-40B4-BE49-F238E27FC236}">
                <a16:creationId xmlns:a16="http://schemas.microsoft.com/office/drawing/2014/main" id="{741AC5B4-A673-592E-5F4A-B1EF48EA312C}"/>
              </a:ext>
            </a:extLst>
          </p:cNvPr>
          <p:cNvSpPr>
            <a:spLocks noChangeShapeType="1"/>
          </p:cNvSpPr>
          <p:nvPr/>
        </p:nvSpPr>
        <p:spPr bwMode="auto">
          <a:xfrm flipH="1">
            <a:off x="513436" y="2501699"/>
            <a:ext cx="2499912"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3" name="Rectangle 24">
            <a:extLst>
              <a:ext uri="{FF2B5EF4-FFF2-40B4-BE49-F238E27FC236}">
                <a16:creationId xmlns:a16="http://schemas.microsoft.com/office/drawing/2014/main" id="{B4D5672F-ADCF-7B0F-3B19-2F9632375A64}"/>
              </a:ext>
            </a:extLst>
          </p:cNvPr>
          <p:cNvSpPr>
            <a:spLocks noChangeArrowheads="1"/>
          </p:cNvSpPr>
          <p:nvPr/>
        </p:nvSpPr>
        <p:spPr bwMode="auto">
          <a:xfrm flipH="1">
            <a:off x="661611" y="2254327"/>
            <a:ext cx="203100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501, </a:t>
            </a:r>
            <a:r>
              <a:rPr kumimoji="1" lang="en-US" altLang="zh-CN" sz="1000" dirty="0">
                <a:solidFill>
                  <a:srgbClr val="00B050"/>
                </a:solidFill>
                <a:latin typeface="Montserrat" panose="00000500000000000000" pitchFamily="2" charset="0"/>
                <a:ea typeface="微软雅黑 Light" panose="020B0502040204020203" pitchFamily="34" charset="-122"/>
              </a:rPr>
              <a:t>rwnd = 100</a:t>
            </a:r>
          </a:p>
        </p:txBody>
      </p:sp>
      <p:sp>
        <p:nvSpPr>
          <p:cNvPr id="14" name="Rectangle 25">
            <a:extLst>
              <a:ext uri="{FF2B5EF4-FFF2-40B4-BE49-F238E27FC236}">
                <a16:creationId xmlns:a16="http://schemas.microsoft.com/office/drawing/2014/main" id="{41704CF8-A9D1-58BA-BFF7-4C12EED553D8}"/>
              </a:ext>
            </a:extLst>
          </p:cNvPr>
          <p:cNvSpPr>
            <a:spLocks noChangeArrowheads="1"/>
          </p:cNvSpPr>
          <p:nvPr/>
        </p:nvSpPr>
        <p:spPr bwMode="auto">
          <a:xfrm>
            <a:off x="375721"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A</a:t>
            </a:r>
          </a:p>
        </p:txBody>
      </p:sp>
      <p:sp>
        <p:nvSpPr>
          <p:cNvPr id="15" name="Rectangle 26">
            <a:extLst>
              <a:ext uri="{FF2B5EF4-FFF2-40B4-BE49-F238E27FC236}">
                <a16:creationId xmlns:a16="http://schemas.microsoft.com/office/drawing/2014/main" id="{AEFD902F-FC46-9A71-9CCE-D4ADE1F365C0}"/>
              </a:ext>
            </a:extLst>
          </p:cNvPr>
          <p:cNvSpPr>
            <a:spLocks noChangeArrowheads="1"/>
          </p:cNvSpPr>
          <p:nvPr/>
        </p:nvSpPr>
        <p:spPr bwMode="auto">
          <a:xfrm>
            <a:off x="2868366"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B</a:t>
            </a:r>
          </a:p>
        </p:txBody>
      </p:sp>
      <p:sp>
        <p:nvSpPr>
          <p:cNvPr id="16" name="Rectangle 27">
            <a:extLst>
              <a:ext uri="{FF2B5EF4-FFF2-40B4-BE49-F238E27FC236}">
                <a16:creationId xmlns:a16="http://schemas.microsoft.com/office/drawing/2014/main" id="{2B603B4D-8954-82D0-04F1-64346E619452}"/>
              </a:ext>
            </a:extLst>
          </p:cNvPr>
          <p:cNvSpPr>
            <a:spLocks noChangeArrowheads="1"/>
          </p:cNvSpPr>
          <p:nvPr/>
        </p:nvSpPr>
        <p:spPr bwMode="auto">
          <a:xfrm>
            <a:off x="3013348" y="1171016"/>
            <a:ext cx="2511907"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[201,500]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18" name="Line 13">
            <a:extLst>
              <a:ext uri="{FF2B5EF4-FFF2-40B4-BE49-F238E27FC236}">
                <a16:creationId xmlns:a16="http://schemas.microsoft.com/office/drawing/2014/main" id="{4A245983-ACE8-1A61-703D-66C1477B9FEE}"/>
              </a:ext>
            </a:extLst>
          </p:cNvPr>
          <p:cNvSpPr>
            <a:spLocks noChangeShapeType="1"/>
          </p:cNvSpPr>
          <p:nvPr/>
        </p:nvSpPr>
        <p:spPr bwMode="auto">
          <a:xfrm>
            <a:off x="514373" y="685121"/>
            <a:ext cx="2509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9" name="Rectangle 14">
            <a:extLst>
              <a:ext uri="{FF2B5EF4-FFF2-40B4-BE49-F238E27FC236}">
                <a16:creationId xmlns:a16="http://schemas.microsoft.com/office/drawing/2014/main" id="{C28AD02C-FB17-785F-D77A-0722C590F2B4}"/>
              </a:ext>
            </a:extLst>
          </p:cNvPr>
          <p:cNvSpPr>
            <a:spLocks noChangeArrowheads="1"/>
          </p:cNvSpPr>
          <p:nvPr/>
        </p:nvSpPr>
        <p:spPr bwMode="auto">
          <a:xfrm>
            <a:off x="1142512" y="433027"/>
            <a:ext cx="115095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101, DATA</a:t>
            </a:r>
          </a:p>
        </p:txBody>
      </p:sp>
      <p:sp>
        <p:nvSpPr>
          <p:cNvPr id="20" name="Rectangle 28">
            <a:extLst>
              <a:ext uri="{FF2B5EF4-FFF2-40B4-BE49-F238E27FC236}">
                <a16:creationId xmlns:a16="http://schemas.microsoft.com/office/drawing/2014/main" id="{2542EBB7-B01D-D2AB-ADCC-43ABFFEF9A66}"/>
              </a:ext>
            </a:extLst>
          </p:cNvPr>
          <p:cNvSpPr>
            <a:spLocks noChangeArrowheads="1"/>
          </p:cNvSpPr>
          <p:nvPr/>
        </p:nvSpPr>
        <p:spPr bwMode="auto">
          <a:xfrm>
            <a:off x="3013348" y="558896"/>
            <a:ext cx="268984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[101,200]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200 </a:t>
            </a:r>
            <a:r>
              <a:rPr kumimoji="1" lang="zh-CN" altLang="en-US" sz="1100" dirty="0">
                <a:latin typeface="Montserrat" panose="00000500000000000000" pitchFamily="2" charset="0"/>
                <a:ea typeface="微软雅黑 Light" panose="020B0502040204020203" pitchFamily="34" charset="-122"/>
              </a:rPr>
              <a:t>字节</a:t>
            </a:r>
          </a:p>
        </p:txBody>
      </p:sp>
      <p:sp>
        <p:nvSpPr>
          <p:cNvPr id="22" name="Line 11">
            <a:extLst>
              <a:ext uri="{FF2B5EF4-FFF2-40B4-BE49-F238E27FC236}">
                <a16:creationId xmlns:a16="http://schemas.microsoft.com/office/drawing/2014/main" id="{DFCECF88-3070-B572-D03A-F0B4EC6E1F1E}"/>
              </a:ext>
            </a:extLst>
          </p:cNvPr>
          <p:cNvSpPr>
            <a:spLocks noChangeShapeType="1"/>
          </p:cNvSpPr>
          <p:nvPr/>
        </p:nvSpPr>
        <p:spPr bwMode="auto">
          <a:xfrm>
            <a:off x="514373" y="1593410"/>
            <a:ext cx="248206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3" name="Rectangle 12">
            <a:extLst>
              <a:ext uri="{FF2B5EF4-FFF2-40B4-BE49-F238E27FC236}">
                <a16:creationId xmlns:a16="http://schemas.microsoft.com/office/drawing/2014/main" id="{9C8A4256-AF4D-3AAC-B85D-CF39F3576D1D}"/>
              </a:ext>
            </a:extLst>
          </p:cNvPr>
          <p:cNvSpPr>
            <a:spLocks noChangeArrowheads="1"/>
          </p:cNvSpPr>
          <p:nvPr/>
        </p:nvSpPr>
        <p:spPr bwMode="auto">
          <a:xfrm>
            <a:off x="1142512" y="134975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301, DATA</a:t>
            </a:r>
          </a:p>
        </p:txBody>
      </p:sp>
      <p:sp>
        <p:nvSpPr>
          <p:cNvPr id="24" name="Rectangle 29">
            <a:extLst>
              <a:ext uri="{FF2B5EF4-FFF2-40B4-BE49-F238E27FC236}">
                <a16:creationId xmlns:a16="http://schemas.microsoft.com/office/drawing/2014/main" id="{D0C48892-8A4E-D8DE-735F-862544AD42B7}"/>
              </a:ext>
            </a:extLst>
          </p:cNvPr>
          <p:cNvSpPr>
            <a:spLocks noChangeArrowheads="1"/>
          </p:cNvSpPr>
          <p:nvPr/>
        </p:nvSpPr>
        <p:spPr bwMode="auto">
          <a:xfrm>
            <a:off x="3013348" y="1477076"/>
            <a:ext cx="2947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[301,400]</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字节新数据</a:t>
            </a:r>
          </a:p>
        </p:txBody>
      </p:sp>
      <p:sp>
        <p:nvSpPr>
          <p:cNvPr id="26" name="Line 5">
            <a:extLst>
              <a:ext uri="{FF2B5EF4-FFF2-40B4-BE49-F238E27FC236}">
                <a16:creationId xmlns:a16="http://schemas.microsoft.com/office/drawing/2014/main" id="{61880D64-B5CE-5865-D457-21480DFEFE0C}"/>
              </a:ext>
            </a:extLst>
          </p:cNvPr>
          <p:cNvSpPr>
            <a:spLocks noChangeShapeType="1"/>
          </p:cNvSpPr>
          <p:nvPr/>
        </p:nvSpPr>
        <p:spPr bwMode="auto">
          <a:xfrm>
            <a:off x="514373" y="382358"/>
            <a:ext cx="248018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7" name="Rectangle 6">
            <a:extLst>
              <a:ext uri="{FF2B5EF4-FFF2-40B4-BE49-F238E27FC236}">
                <a16:creationId xmlns:a16="http://schemas.microsoft.com/office/drawing/2014/main" id="{3874EBE0-10F1-666C-9E9C-B813D13B9550}"/>
              </a:ext>
            </a:extLst>
          </p:cNvPr>
          <p:cNvSpPr>
            <a:spLocks noChangeArrowheads="1"/>
          </p:cNvSpPr>
          <p:nvPr/>
        </p:nvSpPr>
        <p:spPr bwMode="auto">
          <a:xfrm>
            <a:off x="1221059" y="144509"/>
            <a:ext cx="101951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 DATA</a:t>
            </a:r>
          </a:p>
        </p:txBody>
      </p:sp>
      <p:sp>
        <p:nvSpPr>
          <p:cNvPr id="28" name="Rectangle 30">
            <a:extLst>
              <a:ext uri="{FF2B5EF4-FFF2-40B4-BE49-F238E27FC236}">
                <a16:creationId xmlns:a16="http://schemas.microsoft.com/office/drawing/2014/main" id="{1C424C09-5122-7B4D-62C3-8C9906FB4686}"/>
              </a:ext>
            </a:extLst>
          </p:cNvPr>
          <p:cNvSpPr>
            <a:spLocks noChangeArrowheads="1"/>
          </p:cNvSpPr>
          <p:nvPr/>
        </p:nvSpPr>
        <p:spPr bwMode="auto">
          <a:xfrm>
            <a:off x="3013348" y="252836"/>
            <a:ext cx="255358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 100]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30" name="Line 9">
            <a:extLst>
              <a:ext uri="{FF2B5EF4-FFF2-40B4-BE49-F238E27FC236}">
                <a16:creationId xmlns:a16="http://schemas.microsoft.com/office/drawing/2014/main" id="{4C536EC5-D803-919B-74B0-165E12391C09}"/>
              </a:ext>
            </a:extLst>
          </p:cNvPr>
          <p:cNvSpPr>
            <a:spLocks noChangeShapeType="1"/>
          </p:cNvSpPr>
          <p:nvPr/>
        </p:nvSpPr>
        <p:spPr bwMode="auto">
          <a:xfrm>
            <a:off x="514373" y="1896173"/>
            <a:ext cx="247830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1" name="Rectangle 10">
            <a:extLst>
              <a:ext uri="{FF2B5EF4-FFF2-40B4-BE49-F238E27FC236}">
                <a16:creationId xmlns:a16="http://schemas.microsoft.com/office/drawing/2014/main" id="{8AA8CF74-D8BE-667D-878A-76C91044F2BF}"/>
              </a:ext>
            </a:extLst>
          </p:cNvPr>
          <p:cNvSpPr>
            <a:spLocks noChangeArrowheads="1"/>
          </p:cNvSpPr>
          <p:nvPr/>
        </p:nvSpPr>
        <p:spPr bwMode="auto">
          <a:xfrm>
            <a:off x="1142512" y="1638266"/>
            <a:ext cx="118942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401, DATA</a:t>
            </a:r>
          </a:p>
        </p:txBody>
      </p:sp>
      <p:sp>
        <p:nvSpPr>
          <p:cNvPr id="32" name="Rectangle 31">
            <a:extLst>
              <a:ext uri="{FF2B5EF4-FFF2-40B4-BE49-F238E27FC236}">
                <a16:creationId xmlns:a16="http://schemas.microsoft.com/office/drawing/2014/main" id="{41BC5FF7-A9DB-D9EE-20BD-708B64C9ED3F}"/>
              </a:ext>
            </a:extLst>
          </p:cNvPr>
          <p:cNvSpPr>
            <a:spLocks noChangeArrowheads="1"/>
          </p:cNvSpPr>
          <p:nvPr/>
        </p:nvSpPr>
        <p:spPr bwMode="auto">
          <a:xfrm>
            <a:off x="3013348" y="1783136"/>
            <a:ext cx="2391681"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[401,500]</a:t>
            </a:r>
            <a:r>
              <a:rPr kumimoji="1" lang="zh-CN" altLang="en-US" sz="1100" dirty="0">
                <a:latin typeface="Montserrat" panose="00000500000000000000" pitchFamily="2" charset="0"/>
                <a:ea typeface="微软雅黑 Light" panose="020B0502040204020203" pitchFamily="34" charset="-122"/>
              </a:rPr>
              <a:t>，不能再发新数据</a:t>
            </a:r>
          </a:p>
        </p:txBody>
      </p:sp>
      <p:sp>
        <p:nvSpPr>
          <p:cNvPr id="34" name="Line 7">
            <a:extLst>
              <a:ext uri="{FF2B5EF4-FFF2-40B4-BE49-F238E27FC236}">
                <a16:creationId xmlns:a16="http://schemas.microsoft.com/office/drawing/2014/main" id="{65E7B78E-2182-293C-F22E-D179C28F39BB}"/>
              </a:ext>
            </a:extLst>
          </p:cNvPr>
          <p:cNvSpPr>
            <a:spLocks noChangeShapeType="1"/>
          </p:cNvSpPr>
          <p:nvPr/>
        </p:nvSpPr>
        <p:spPr bwMode="auto">
          <a:xfrm>
            <a:off x="514373" y="2198936"/>
            <a:ext cx="247924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5" name="Rectangle 8">
            <a:extLst>
              <a:ext uri="{FF2B5EF4-FFF2-40B4-BE49-F238E27FC236}">
                <a16:creationId xmlns:a16="http://schemas.microsoft.com/office/drawing/2014/main" id="{AA16BD31-835D-EA5E-668C-57B3CFB7F0A3}"/>
              </a:ext>
            </a:extLst>
          </p:cNvPr>
          <p:cNvSpPr>
            <a:spLocks noChangeArrowheads="1"/>
          </p:cNvSpPr>
          <p:nvPr/>
        </p:nvSpPr>
        <p:spPr bwMode="auto">
          <a:xfrm>
            <a:off x="1142512" y="1934588"/>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36" name="Rectangle 32">
            <a:extLst>
              <a:ext uri="{FF2B5EF4-FFF2-40B4-BE49-F238E27FC236}">
                <a16:creationId xmlns:a16="http://schemas.microsoft.com/office/drawing/2014/main" id="{C745EF8C-2F86-9ACC-7F3F-2A88B09644E0}"/>
              </a:ext>
            </a:extLst>
          </p:cNvPr>
          <p:cNvSpPr>
            <a:spLocks noChangeArrowheads="1"/>
          </p:cNvSpPr>
          <p:nvPr/>
        </p:nvSpPr>
        <p:spPr bwMode="auto">
          <a:xfrm>
            <a:off x="3013348" y="2089196"/>
            <a:ext cx="243656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超时重传旧数据，不能发送新数据</a:t>
            </a:r>
          </a:p>
        </p:txBody>
      </p:sp>
      <p:sp>
        <p:nvSpPr>
          <p:cNvPr id="37" name="Rectangle 33">
            <a:extLst>
              <a:ext uri="{FF2B5EF4-FFF2-40B4-BE49-F238E27FC236}">
                <a16:creationId xmlns:a16="http://schemas.microsoft.com/office/drawing/2014/main" id="{A84F8A74-5EF8-6445-D192-BA8763AE0A51}"/>
              </a:ext>
            </a:extLst>
          </p:cNvPr>
          <p:cNvSpPr>
            <a:spLocks noChangeArrowheads="1"/>
          </p:cNvSpPr>
          <p:nvPr/>
        </p:nvSpPr>
        <p:spPr bwMode="auto">
          <a:xfrm>
            <a:off x="3013348" y="2395256"/>
            <a:ext cx="30665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a:t>
            </a:r>
          </a:p>
        </p:txBody>
      </p:sp>
      <p:sp>
        <p:nvSpPr>
          <p:cNvPr id="39" name="Line 17">
            <a:extLst>
              <a:ext uri="{FF2B5EF4-FFF2-40B4-BE49-F238E27FC236}">
                <a16:creationId xmlns:a16="http://schemas.microsoft.com/office/drawing/2014/main" id="{DF8B367A-9B6F-E61F-3D8A-513071E182AE}"/>
              </a:ext>
            </a:extLst>
          </p:cNvPr>
          <p:cNvSpPr>
            <a:spLocks noChangeShapeType="1"/>
          </p:cNvSpPr>
          <p:nvPr/>
        </p:nvSpPr>
        <p:spPr bwMode="auto">
          <a:xfrm>
            <a:off x="514373" y="2804462"/>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0" name="Rectangle 18">
            <a:extLst>
              <a:ext uri="{FF2B5EF4-FFF2-40B4-BE49-F238E27FC236}">
                <a16:creationId xmlns:a16="http://schemas.microsoft.com/office/drawing/2014/main" id="{386CEF66-7D2E-63D6-E95D-A626A4944B6F}"/>
              </a:ext>
            </a:extLst>
          </p:cNvPr>
          <p:cNvSpPr>
            <a:spLocks noChangeArrowheads="1"/>
          </p:cNvSpPr>
          <p:nvPr/>
        </p:nvSpPr>
        <p:spPr bwMode="auto">
          <a:xfrm>
            <a:off x="1142512" y="4373863"/>
            <a:ext cx="120866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602, DATA</a:t>
            </a:r>
          </a:p>
        </p:txBody>
      </p:sp>
      <p:sp>
        <p:nvSpPr>
          <p:cNvPr id="41" name="Rectangle 34">
            <a:extLst>
              <a:ext uri="{FF2B5EF4-FFF2-40B4-BE49-F238E27FC236}">
                <a16:creationId xmlns:a16="http://schemas.microsoft.com/office/drawing/2014/main" id="{358F85C5-0610-F7C8-D56A-EB1D80760CAB}"/>
              </a:ext>
            </a:extLst>
          </p:cNvPr>
          <p:cNvSpPr>
            <a:spLocks noChangeArrowheads="1"/>
          </p:cNvSpPr>
          <p:nvPr/>
        </p:nvSpPr>
        <p:spPr bwMode="auto">
          <a:xfrm>
            <a:off x="3013348" y="2701316"/>
            <a:ext cx="25712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a:t>
            </a:r>
            <a:r>
              <a:rPr kumimoji="1" lang="zh-CN" altLang="en-US" sz="1100" dirty="0">
                <a:latin typeface="Montserrat" panose="00000500000000000000" pitchFamily="2" charset="0"/>
                <a:ea typeface="微软雅黑 Light" panose="020B0502040204020203" pitchFamily="34" charset="-122"/>
              </a:rPr>
              <a:t>，不能再发送新数据</a:t>
            </a:r>
          </a:p>
        </p:txBody>
      </p:sp>
      <p:sp>
        <p:nvSpPr>
          <p:cNvPr id="42" name="Rectangle 35">
            <a:extLst>
              <a:ext uri="{FF2B5EF4-FFF2-40B4-BE49-F238E27FC236}">
                <a16:creationId xmlns:a16="http://schemas.microsoft.com/office/drawing/2014/main" id="{C8446E18-A0E2-6FCA-C3B0-A8ACA33624DC}"/>
              </a:ext>
            </a:extLst>
          </p:cNvPr>
          <p:cNvSpPr>
            <a:spLocks noChangeArrowheads="1"/>
          </p:cNvSpPr>
          <p:nvPr/>
        </p:nvSpPr>
        <p:spPr bwMode="auto">
          <a:xfrm>
            <a:off x="3013348" y="3007376"/>
            <a:ext cx="134652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不允许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再发送</a:t>
            </a:r>
          </a:p>
        </p:txBody>
      </p:sp>
      <p:sp>
        <p:nvSpPr>
          <p:cNvPr id="44" name="Line 15">
            <a:extLst>
              <a:ext uri="{FF2B5EF4-FFF2-40B4-BE49-F238E27FC236}">
                <a16:creationId xmlns:a16="http://schemas.microsoft.com/office/drawing/2014/main" id="{271D627A-C4F0-8A09-06AA-523088EB3C41}"/>
              </a:ext>
            </a:extLst>
          </p:cNvPr>
          <p:cNvSpPr>
            <a:spLocks noChangeShapeType="1"/>
          </p:cNvSpPr>
          <p:nvPr/>
        </p:nvSpPr>
        <p:spPr bwMode="auto">
          <a:xfrm>
            <a:off x="514373" y="987884"/>
            <a:ext cx="148108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5" name="Rectangle 16">
            <a:extLst>
              <a:ext uri="{FF2B5EF4-FFF2-40B4-BE49-F238E27FC236}">
                <a16:creationId xmlns:a16="http://schemas.microsoft.com/office/drawing/2014/main" id="{34FB149F-24D2-9D7D-EB58-87D39A309E89}"/>
              </a:ext>
            </a:extLst>
          </p:cNvPr>
          <p:cNvSpPr>
            <a:spLocks noChangeArrowheads="1"/>
          </p:cNvSpPr>
          <p:nvPr/>
        </p:nvSpPr>
        <p:spPr bwMode="auto">
          <a:xfrm>
            <a:off x="842261" y="752765"/>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47" name="AutoShape 36">
            <a:extLst>
              <a:ext uri="{FF2B5EF4-FFF2-40B4-BE49-F238E27FC236}">
                <a16:creationId xmlns:a16="http://schemas.microsoft.com/office/drawing/2014/main" id="{BB8357D9-461C-06F1-C161-759068BE7F0A}"/>
              </a:ext>
            </a:extLst>
          </p:cNvPr>
          <p:cNvSpPr>
            <a:spLocks noChangeArrowheads="1"/>
          </p:cNvSpPr>
          <p:nvPr/>
        </p:nvSpPr>
        <p:spPr bwMode="auto">
          <a:xfrm>
            <a:off x="2077584" y="657149"/>
            <a:ext cx="688658" cy="415665"/>
          </a:xfrm>
          <a:prstGeom prst="irregularSeal1">
            <a:avLst/>
          </a:prstGeom>
          <a:solidFill>
            <a:srgbClr val="C00000"/>
          </a:solidFill>
          <a:ln w="6350">
            <a:noFill/>
            <a:miter lim="800000"/>
            <a:headEnd/>
            <a:tailEnd/>
          </a:ln>
          <a:effectLst/>
        </p:spPr>
        <p:txBody>
          <a:bodyPr wrap="none" anchor="ctr"/>
          <a:lstStyle/>
          <a:p>
            <a:r>
              <a:rPr kumimoji="1" lang="zh-CN" altLang="en-US" sz="1100" dirty="0">
                <a:solidFill>
                  <a:schemeClr val="bg1"/>
                </a:solidFill>
                <a:latin typeface="Montserrat" panose="00000500000000000000" pitchFamily="2" charset="0"/>
                <a:ea typeface="微软雅黑 Light" panose="020B0502040204020203" pitchFamily="34" charset="-122"/>
              </a:rPr>
              <a:t>丢失</a:t>
            </a:r>
          </a:p>
        </p:txBody>
      </p:sp>
      <p:sp>
        <p:nvSpPr>
          <p:cNvPr id="48" name="Rectangle 37">
            <a:extLst>
              <a:ext uri="{FF2B5EF4-FFF2-40B4-BE49-F238E27FC236}">
                <a16:creationId xmlns:a16="http://schemas.microsoft.com/office/drawing/2014/main" id="{34298651-C8D3-A223-9BA6-1DD9A2DC3C1A}"/>
              </a:ext>
            </a:extLst>
          </p:cNvPr>
          <p:cNvSpPr>
            <a:spLocks noChangeArrowheads="1"/>
          </p:cNvSpPr>
          <p:nvPr/>
        </p:nvSpPr>
        <p:spPr bwMode="auto">
          <a:xfrm>
            <a:off x="2197304" y="737872"/>
            <a:ext cx="18280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endParaRPr kumimoji="1" lang="zh-CN" altLang="en-US" sz="1000" dirty="0">
              <a:solidFill>
                <a:schemeClr val="bg1"/>
              </a:solidFill>
              <a:latin typeface="Montserrat" panose="00000500000000000000" pitchFamily="2" charset="0"/>
              <a:ea typeface="微软雅黑 Light" panose="020B0502040204020203" pitchFamily="34" charset="-122"/>
            </a:endParaRPr>
          </a:p>
        </p:txBody>
      </p:sp>
      <p:sp>
        <p:nvSpPr>
          <p:cNvPr id="49" name="Line 38">
            <a:extLst>
              <a:ext uri="{FF2B5EF4-FFF2-40B4-BE49-F238E27FC236}">
                <a16:creationId xmlns:a16="http://schemas.microsoft.com/office/drawing/2014/main" id="{0A7208C7-5715-F8AA-B887-C54D2935EF97}"/>
              </a:ext>
            </a:extLst>
          </p:cNvPr>
          <p:cNvSpPr>
            <a:spLocks noChangeShapeType="1"/>
          </p:cNvSpPr>
          <p:nvPr/>
        </p:nvSpPr>
        <p:spPr bwMode="auto">
          <a:xfrm>
            <a:off x="514373"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graphicFrame>
        <p:nvGraphicFramePr>
          <p:cNvPr id="50" name="表格 49">
            <a:extLst>
              <a:ext uri="{FF2B5EF4-FFF2-40B4-BE49-F238E27FC236}">
                <a16:creationId xmlns:a16="http://schemas.microsoft.com/office/drawing/2014/main" id="{FD9DF24A-440C-BC93-80EE-3B930DCFA0FE}"/>
              </a:ext>
            </a:extLst>
          </p:cNvPr>
          <p:cNvGraphicFramePr>
            <a:graphicFrameLocks noGrp="1"/>
          </p:cNvGraphicFramePr>
          <p:nvPr>
            <p:extLst>
              <p:ext uri="{D42A27DB-BD31-4B8C-83A1-F6EECF244321}">
                <p14:modId xmlns:p14="http://schemas.microsoft.com/office/powerpoint/2010/main" val="1638817001"/>
              </p:ext>
            </p:extLst>
          </p:nvPr>
        </p:nvGraphicFramePr>
        <p:xfrm>
          <a:off x="5967304" y="244165"/>
          <a:ext cx="2880000" cy="45360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43390362"/>
                    </a:ext>
                  </a:extLst>
                </a:gridCol>
                <a:gridCol w="720000">
                  <a:extLst>
                    <a:ext uri="{9D8B030D-6E8A-4147-A177-3AD203B41FA5}">
                      <a16:colId xmlns:a16="http://schemas.microsoft.com/office/drawing/2014/main" val="3195879906"/>
                    </a:ext>
                  </a:extLst>
                </a:gridCol>
                <a:gridCol w="720000">
                  <a:extLst>
                    <a:ext uri="{9D8B030D-6E8A-4147-A177-3AD203B41FA5}">
                      <a16:colId xmlns:a16="http://schemas.microsoft.com/office/drawing/2014/main" val="2688598970"/>
                    </a:ext>
                  </a:extLst>
                </a:gridCol>
                <a:gridCol w="720000">
                  <a:extLst>
                    <a:ext uri="{9D8B030D-6E8A-4147-A177-3AD203B41FA5}">
                      <a16:colId xmlns:a16="http://schemas.microsoft.com/office/drawing/2014/main" val="1776593180"/>
                    </a:ext>
                  </a:extLst>
                </a:gridCol>
              </a:tblGrid>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68312"/>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3275141"/>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330698"/>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0043573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6018702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2256197055"/>
                  </a:ext>
                </a:extLst>
              </a:tr>
              <a:tr h="302400">
                <a:tc>
                  <a:txBody>
                    <a:bodyPr/>
                    <a:lstStyle/>
                    <a:p>
                      <a:pPr algn="ctr"/>
                      <a:r>
                        <a:rPr lang="en-US" altLang="zh-CN" sz="1000" b="0" baseline="0" dirty="0">
                          <a:solidFill>
                            <a:srgbClr val="00B050"/>
                          </a:solidFill>
                          <a:latin typeface="Montserrat" panose="00000500000000000000" pitchFamily="2" charset="0"/>
                          <a:ea typeface="微软雅黑 Light" panose="020B0502040204020203" pitchFamily="34" charset="-122"/>
                        </a:rPr>
                        <a:t>201-300</a:t>
                      </a:r>
                      <a:endParaRPr lang="zh-CN" altLang="en-US" sz="1000" b="0" baseline="0" dirty="0">
                        <a:solidFill>
                          <a:srgbClr val="00B05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72907929"/>
                  </a:ext>
                </a:extLst>
              </a:tr>
              <a:tr h="302400">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236701213"/>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501-600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776333326"/>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41576982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9546364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94455559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936927741"/>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78714267"/>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602-701</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9666323"/>
                  </a:ext>
                </a:extLst>
              </a:tr>
            </a:tbl>
          </a:graphicData>
        </a:graphic>
      </p:graphicFrame>
      <p:sp>
        <p:nvSpPr>
          <p:cNvPr id="2" name="Rectangle 27">
            <a:extLst>
              <a:ext uri="{FF2B5EF4-FFF2-40B4-BE49-F238E27FC236}">
                <a16:creationId xmlns:a16="http://schemas.microsoft.com/office/drawing/2014/main" id="{E4AE02B8-A353-7C84-A955-7AAAF965632A}"/>
              </a:ext>
            </a:extLst>
          </p:cNvPr>
          <p:cNvSpPr>
            <a:spLocks noChangeArrowheads="1"/>
          </p:cNvSpPr>
          <p:nvPr/>
        </p:nvSpPr>
        <p:spPr bwMode="auto">
          <a:xfrm>
            <a:off x="3024097" y="3313436"/>
            <a:ext cx="1473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允许 </a:t>
            </a:r>
            <a:r>
              <a:rPr kumimoji="1" lang="en-US" altLang="zh-CN" sz="1000" dirty="0">
                <a:latin typeface="Montserrat" panose="00000500000000000000" pitchFamily="2" charset="0"/>
                <a:ea typeface="微软雅黑 Light" panose="020B0502040204020203" pitchFamily="34" charset="-122"/>
              </a:rPr>
              <a:t>A </a:t>
            </a:r>
            <a:r>
              <a:rPr kumimoji="1" lang="zh-CN" altLang="en-US" sz="1000" dirty="0">
                <a:latin typeface="Montserrat" panose="00000500000000000000" pitchFamily="2" charset="0"/>
                <a:ea typeface="微软雅黑 Light" panose="020B0502040204020203" pitchFamily="34" charset="-122"/>
              </a:rPr>
              <a:t>发送</a:t>
            </a:r>
            <a:r>
              <a:rPr kumimoji="1" lang="en-US" altLang="zh-CN" sz="1000" dirty="0">
                <a:latin typeface="Montserrat" panose="00000500000000000000" pitchFamily="2" charset="0"/>
                <a:ea typeface="微软雅黑 Light" panose="020B0502040204020203" pitchFamily="34" charset="-122"/>
              </a:rPr>
              <a:t>[601,1000]</a:t>
            </a:r>
            <a:endParaRPr kumimoji="1" lang="zh-CN" altLang="en-US" sz="1000" dirty="0">
              <a:latin typeface="Montserrat" panose="00000500000000000000" pitchFamily="2" charset="0"/>
              <a:ea typeface="微软雅黑 Light" panose="020B0502040204020203" pitchFamily="34" charset="-122"/>
            </a:endParaRPr>
          </a:p>
        </p:txBody>
      </p:sp>
      <p:sp>
        <p:nvSpPr>
          <p:cNvPr id="5" name="Rectangle 22">
            <a:extLst>
              <a:ext uri="{FF2B5EF4-FFF2-40B4-BE49-F238E27FC236}">
                <a16:creationId xmlns:a16="http://schemas.microsoft.com/office/drawing/2014/main" id="{7081D618-6BF3-4514-BB91-16AB916DE279}"/>
              </a:ext>
            </a:extLst>
          </p:cNvPr>
          <p:cNvSpPr>
            <a:spLocks noChangeArrowheads="1"/>
          </p:cNvSpPr>
          <p:nvPr/>
        </p:nvSpPr>
        <p:spPr bwMode="auto">
          <a:xfrm flipH="1">
            <a:off x="1023858" y="3165249"/>
            <a:ext cx="207589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400</a:t>
            </a:r>
          </a:p>
        </p:txBody>
      </p:sp>
      <p:sp>
        <p:nvSpPr>
          <p:cNvPr id="8" name="Line 21">
            <a:extLst>
              <a:ext uri="{FF2B5EF4-FFF2-40B4-BE49-F238E27FC236}">
                <a16:creationId xmlns:a16="http://schemas.microsoft.com/office/drawing/2014/main" id="{E920EEC0-75A5-93A8-7D47-FBF3C6B0A78C}"/>
              </a:ext>
            </a:extLst>
          </p:cNvPr>
          <p:cNvSpPr>
            <a:spLocks noChangeShapeType="1"/>
          </p:cNvSpPr>
          <p:nvPr/>
        </p:nvSpPr>
        <p:spPr bwMode="auto">
          <a:xfrm flipH="1">
            <a:off x="1213348" y="3409988"/>
            <a:ext cx="180000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7" name="AutoShape 36">
            <a:extLst>
              <a:ext uri="{FF2B5EF4-FFF2-40B4-BE49-F238E27FC236}">
                <a16:creationId xmlns:a16="http://schemas.microsoft.com/office/drawing/2014/main" id="{2B5928A1-B132-D148-2FA2-312DE86FAC4B}"/>
              </a:ext>
            </a:extLst>
          </p:cNvPr>
          <p:cNvSpPr>
            <a:spLocks noChangeArrowheads="1"/>
          </p:cNvSpPr>
          <p:nvPr/>
        </p:nvSpPr>
        <p:spPr bwMode="auto">
          <a:xfrm>
            <a:off x="513338" y="3133678"/>
            <a:ext cx="688658" cy="415665"/>
          </a:xfrm>
          <a:prstGeom prst="irregularSeal1">
            <a:avLst/>
          </a:prstGeom>
          <a:solidFill>
            <a:srgbClr val="C00000"/>
          </a:solidFill>
          <a:ln w="6350">
            <a:noFill/>
            <a:miter lim="800000"/>
            <a:headEnd/>
            <a:tailEnd/>
          </a:ln>
          <a:effectLst/>
        </p:spPr>
        <p:txBody>
          <a:bodyPr wrap="none" anchor="ctr"/>
          <a:lstStyle/>
          <a:p>
            <a:pPr algn="ctr"/>
            <a:r>
              <a:rPr kumimoji="1" lang="zh-CN" altLang="en-US" sz="1000" dirty="0">
                <a:solidFill>
                  <a:schemeClr val="bg1"/>
                </a:solidFill>
                <a:latin typeface="Montserrat" panose="00000500000000000000" pitchFamily="2" charset="0"/>
                <a:ea typeface="微软雅黑 Light" panose="020B0502040204020203" pitchFamily="34" charset="-122"/>
              </a:rPr>
              <a:t>丢失</a:t>
            </a:r>
            <a:endParaRPr lang="zh-CN" altLang="en-US" sz="1000" dirty="0">
              <a:latin typeface="Montserrat" panose="00000500000000000000" pitchFamily="2" charset="0"/>
              <a:ea typeface="微软雅黑 Light" panose="020B0502040204020203" pitchFamily="34" charset="-122"/>
            </a:endParaRPr>
          </a:p>
        </p:txBody>
      </p:sp>
      <p:sp>
        <p:nvSpPr>
          <p:cNvPr id="29" name="Rectangle 28">
            <a:extLst>
              <a:ext uri="{FF2B5EF4-FFF2-40B4-BE49-F238E27FC236}">
                <a16:creationId xmlns:a16="http://schemas.microsoft.com/office/drawing/2014/main" id="{68C2D8A2-57CB-57FE-7857-DF874EAAECFB}"/>
              </a:ext>
            </a:extLst>
          </p:cNvPr>
          <p:cNvSpPr>
            <a:spLocks noChangeArrowheads="1"/>
          </p:cNvSpPr>
          <p:nvPr/>
        </p:nvSpPr>
        <p:spPr bwMode="auto">
          <a:xfrm>
            <a:off x="3024097" y="3604107"/>
            <a:ext cx="268663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在等待非</a:t>
            </a:r>
            <a:r>
              <a:rPr kumimoji="1" lang="en-US" altLang="zh-CN" sz="1000" dirty="0">
                <a:latin typeface="Montserrat" panose="00000500000000000000" pitchFamily="2" charset="0"/>
                <a:ea typeface="微软雅黑 Light" panose="020B0502040204020203" pitchFamily="34" charset="-122"/>
              </a:rPr>
              <a:t>0</a:t>
            </a:r>
            <a:r>
              <a:rPr kumimoji="1" lang="zh-CN" altLang="en-US" sz="1000" dirty="0">
                <a:latin typeface="Montserrat" panose="00000500000000000000" pitchFamily="2" charset="0"/>
                <a:ea typeface="微软雅黑 Light" panose="020B0502040204020203" pitchFamily="34" charset="-122"/>
              </a:rPr>
              <a:t>窗口；</a:t>
            </a:r>
            <a:r>
              <a:rPr kumimoji="1" lang="en-US" altLang="zh-CN" sz="1000" dirty="0">
                <a:latin typeface="Montserrat" panose="00000500000000000000" pitchFamily="2" charset="0"/>
                <a:ea typeface="微软雅黑 Light" panose="020B0502040204020203" pitchFamily="34" charset="-122"/>
              </a:rPr>
              <a:t>B</a:t>
            </a:r>
            <a:r>
              <a:rPr kumimoji="1" lang="zh-CN" altLang="en-US" sz="1000" dirty="0">
                <a:latin typeface="Montserrat" panose="00000500000000000000" pitchFamily="2" charset="0"/>
                <a:ea typeface="微软雅黑 Light" panose="020B0502040204020203" pitchFamily="34" charset="-122"/>
              </a:rPr>
              <a:t>处理数据并等待</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探测</a:t>
            </a:r>
          </a:p>
        </p:txBody>
      </p:sp>
      <p:pic>
        <p:nvPicPr>
          <p:cNvPr id="43" name="图形 42" descr="时钟">
            <a:extLst>
              <a:ext uri="{FF2B5EF4-FFF2-40B4-BE49-F238E27FC236}">
                <a16:creationId xmlns:a16="http://schemas.microsoft.com/office/drawing/2014/main" id="{24F052FE-215D-D2B3-288F-E305FD909A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244698"/>
            <a:ext cx="288000" cy="288000"/>
          </a:xfrm>
          <a:prstGeom prst="rect">
            <a:avLst/>
          </a:prstGeom>
        </p:spPr>
      </p:pic>
      <p:pic>
        <p:nvPicPr>
          <p:cNvPr id="51" name="图形 50" descr="时钟">
            <a:extLst>
              <a:ext uri="{FF2B5EF4-FFF2-40B4-BE49-F238E27FC236}">
                <a16:creationId xmlns:a16="http://schemas.microsoft.com/office/drawing/2014/main" id="{69904A81-81B0-421C-847E-DD0D5363F4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2938410"/>
            <a:ext cx="288000" cy="288000"/>
          </a:xfrm>
          <a:prstGeom prst="rect">
            <a:avLst/>
          </a:prstGeom>
        </p:spPr>
      </p:pic>
      <p:sp>
        <p:nvSpPr>
          <p:cNvPr id="52" name="Rectangle 28">
            <a:extLst>
              <a:ext uri="{FF2B5EF4-FFF2-40B4-BE49-F238E27FC236}">
                <a16:creationId xmlns:a16="http://schemas.microsoft.com/office/drawing/2014/main" id="{44FB65D5-07F7-9C18-72D6-3F30AEC9352D}"/>
              </a:ext>
            </a:extLst>
          </p:cNvPr>
          <p:cNvSpPr>
            <a:spLocks noChangeArrowheads="1"/>
          </p:cNvSpPr>
          <p:nvPr/>
        </p:nvSpPr>
        <p:spPr bwMode="auto">
          <a:xfrm>
            <a:off x="907014" y="3775698"/>
            <a:ext cx="160460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it-IT" altLang="zh-CN" sz="1000" dirty="0">
                <a:latin typeface="Montserrat" panose="00000500000000000000" pitchFamily="2" charset="0"/>
                <a:ea typeface="微软雅黑 Light" panose="020B0502040204020203" pitchFamily="34" charset="-122"/>
              </a:rPr>
              <a:t>[Probe: seq=601, 1 byte</a:t>
            </a:r>
            <a:endParaRPr kumimoji="1" lang="zh-CN" altLang="en-US" sz="1000" dirty="0">
              <a:latin typeface="Montserrat" panose="00000500000000000000" pitchFamily="2" charset="0"/>
              <a:ea typeface="微软雅黑 Light" panose="020B0502040204020203" pitchFamily="34" charset="-122"/>
            </a:endParaRPr>
          </a:p>
        </p:txBody>
      </p:sp>
      <p:sp>
        <p:nvSpPr>
          <p:cNvPr id="53" name="Line 17">
            <a:extLst>
              <a:ext uri="{FF2B5EF4-FFF2-40B4-BE49-F238E27FC236}">
                <a16:creationId xmlns:a16="http://schemas.microsoft.com/office/drawing/2014/main" id="{056B5341-3751-C922-51D3-6B3F670341AC}"/>
              </a:ext>
            </a:extLst>
          </p:cNvPr>
          <p:cNvSpPr>
            <a:spLocks noChangeShapeType="1"/>
          </p:cNvSpPr>
          <p:nvPr/>
        </p:nvSpPr>
        <p:spPr bwMode="auto">
          <a:xfrm>
            <a:off x="504526" y="4015514"/>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4" name="Line 21">
            <a:extLst>
              <a:ext uri="{FF2B5EF4-FFF2-40B4-BE49-F238E27FC236}">
                <a16:creationId xmlns:a16="http://schemas.microsoft.com/office/drawing/2014/main" id="{84AE0B99-3C90-6547-ED35-894F09CC1609}"/>
              </a:ext>
            </a:extLst>
          </p:cNvPr>
          <p:cNvSpPr>
            <a:spLocks noChangeShapeType="1"/>
          </p:cNvSpPr>
          <p:nvPr/>
        </p:nvSpPr>
        <p:spPr bwMode="auto">
          <a:xfrm flipH="1">
            <a:off x="502257" y="4318277"/>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5" name="Rectangle 22">
            <a:extLst>
              <a:ext uri="{FF2B5EF4-FFF2-40B4-BE49-F238E27FC236}">
                <a16:creationId xmlns:a16="http://schemas.microsoft.com/office/drawing/2014/main" id="{DF68ECCE-C90C-DD3C-884C-326D72318079}"/>
              </a:ext>
            </a:extLst>
          </p:cNvPr>
          <p:cNvSpPr>
            <a:spLocks noChangeArrowheads="1"/>
          </p:cNvSpPr>
          <p:nvPr/>
        </p:nvSpPr>
        <p:spPr bwMode="auto">
          <a:xfrm flipH="1">
            <a:off x="719587" y="4087597"/>
            <a:ext cx="210153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602, rwnd = 400</a:t>
            </a:r>
            <a:endParaRPr kumimoji="1" lang="en-US" altLang="zh-CN" sz="1000" dirty="0">
              <a:solidFill>
                <a:srgbClr val="00B050"/>
              </a:solidFill>
              <a:latin typeface="Montserrat" panose="00000500000000000000" pitchFamily="2" charset="0"/>
              <a:ea typeface="微软雅黑 Light" panose="020B0502040204020203" pitchFamily="34" charset="-122"/>
            </a:endParaRPr>
          </a:p>
        </p:txBody>
      </p:sp>
      <p:sp>
        <p:nvSpPr>
          <p:cNvPr id="58" name="Rectangle 28">
            <a:extLst>
              <a:ext uri="{FF2B5EF4-FFF2-40B4-BE49-F238E27FC236}">
                <a16:creationId xmlns:a16="http://schemas.microsoft.com/office/drawing/2014/main" id="{170D961C-597D-76B0-3470-CA6DA03EDF89}"/>
              </a:ext>
            </a:extLst>
          </p:cNvPr>
          <p:cNvSpPr>
            <a:spLocks noChangeArrowheads="1"/>
          </p:cNvSpPr>
          <p:nvPr/>
        </p:nvSpPr>
        <p:spPr bwMode="auto">
          <a:xfrm>
            <a:off x="2999533" y="3894778"/>
            <a:ext cx="289662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持续计时器超时后，</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发送探测报，消耗</a:t>
            </a:r>
            <a:r>
              <a:rPr kumimoji="1" lang="en-US" altLang="zh-CN" sz="1000" dirty="0">
                <a:latin typeface="Montserrat" panose="00000500000000000000" pitchFamily="2" charset="0"/>
                <a:ea typeface="微软雅黑 Light" panose="020B0502040204020203" pitchFamily="34" charset="-122"/>
              </a:rPr>
              <a:t>1</a:t>
            </a:r>
            <a:r>
              <a:rPr kumimoji="1" lang="zh-CN" altLang="en-US" sz="1000" dirty="0">
                <a:latin typeface="Montserrat" panose="00000500000000000000" pitchFamily="2" charset="0"/>
                <a:ea typeface="微软雅黑 Light" panose="020B0502040204020203" pitchFamily="34" charset="-122"/>
              </a:rPr>
              <a:t>个序号</a:t>
            </a:r>
          </a:p>
        </p:txBody>
      </p:sp>
      <p:sp>
        <p:nvSpPr>
          <p:cNvPr id="60" name="Rectangle 33">
            <a:extLst>
              <a:ext uri="{FF2B5EF4-FFF2-40B4-BE49-F238E27FC236}">
                <a16:creationId xmlns:a16="http://schemas.microsoft.com/office/drawing/2014/main" id="{460031EA-DF7B-FC4F-F777-FC924C615B59}"/>
              </a:ext>
            </a:extLst>
          </p:cNvPr>
          <p:cNvSpPr>
            <a:spLocks noChangeArrowheads="1"/>
          </p:cNvSpPr>
          <p:nvPr/>
        </p:nvSpPr>
        <p:spPr bwMode="auto">
          <a:xfrm>
            <a:off x="3010003" y="4185449"/>
            <a:ext cx="289662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[602,1001]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400 </a:t>
            </a:r>
            <a:r>
              <a:rPr kumimoji="1" lang="zh-CN" altLang="en-US" sz="1100" dirty="0">
                <a:latin typeface="Montserrat" panose="00000500000000000000" pitchFamily="2" charset="0"/>
                <a:ea typeface="微软雅黑 Light" panose="020B0502040204020203" pitchFamily="34" charset="-122"/>
              </a:rPr>
              <a:t>字节</a:t>
            </a:r>
          </a:p>
        </p:txBody>
      </p:sp>
      <p:sp>
        <p:nvSpPr>
          <p:cNvPr id="62" name="Line 17">
            <a:extLst>
              <a:ext uri="{FF2B5EF4-FFF2-40B4-BE49-F238E27FC236}">
                <a16:creationId xmlns:a16="http://schemas.microsoft.com/office/drawing/2014/main" id="{AF7881AA-5A02-08E1-4AB7-AD34B4C17D22}"/>
              </a:ext>
            </a:extLst>
          </p:cNvPr>
          <p:cNvSpPr>
            <a:spLocks noChangeShapeType="1"/>
          </p:cNvSpPr>
          <p:nvPr/>
        </p:nvSpPr>
        <p:spPr bwMode="auto">
          <a:xfrm>
            <a:off x="519350" y="4621037"/>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63" name="Rectangle 29">
            <a:extLst>
              <a:ext uri="{FF2B5EF4-FFF2-40B4-BE49-F238E27FC236}">
                <a16:creationId xmlns:a16="http://schemas.microsoft.com/office/drawing/2014/main" id="{D75CB23B-9E9E-BEB1-53B6-ED1EB52AB409}"/>
              </a:ext>
            </a:extLst>
          </p:cNvPr>
          <p:cNvSpPr>
            <a:spLocks noChangeArrowheads="1"/>
          </p:cNvSpPr>
          <p:nvPr/>
        </p:nvSpPr>
        <p:spPr bwMode="auto">
          <a:xfrm>
            <a:off x="2999533" y="4491515"/>
            <a:ext cx="296074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[602,701]</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字节新数据</a:t>
            </a:r>
          </a:p>
        </p:txBody>
      </p:sp>
      <p:pic>
        <p:nvPicPr>
          <p:cNvPr id="64" name="图形 63" descr="时钟">
            <a:extLst>
              <a:ext uri="{FF2B5EF4-FFF2-40B4-BE49-F238E27FC236}">
                <a16:creationId xmlns:a16="http://schemas.microsoft.com/office/drawing/2014/main" id="{C996295E-DE67-D481-B922-47BF99A597C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550985"/>
            <a:ext cx="288000" cy="288000"/>
          </a:xfrm>
          <a:prstGeom prst="rect">
            <a:avLst/>
          </a:prstGeom>
        </p:spPr>
      </p:pic>
      <p:sp>
        <p:nvSpPr>
          <p:cNvPr id="3" name="Rectangle 8">
            <a:extLst>
              <a:ext uri="{FF2B5EF4-FFF2-40B4-BE49-F238E27FC236}">
                <a16:creationId xmlns:a16="http://schemas.microsoft.com/office/drawing/2014/main" id="{170DC06B-F78A-7599-CF78-8745E451EA03}"/>
              </a:ext>
            </a:extLst>
          </p:cNvPr>
          <p:cNvSpPr>
            <a:spLocks noChangeArrowheads="1"/>
          </p:cNvSpPr>
          <p:nvPr/>
        </p:nvSpPr>
        <p:spPr bwMode="auto">
          <a:xfrm>
            <a:off x="1166162" y="256466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501, DATA</a:t>
            </a:r>
          </a:p>
        </p:txBody>
      </p:sp>
    </p:spTree>
    <p:extLst>
      <p:ext uri="{BB962C8B-B14F-4D97-AF65-F5344CB8AC3E}">
        <p14:creationId xmlns:p14="http://schemas.microsoft.com/office/powerpoint/2010/main" val="33726510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1"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35" presetClass="emph" presetSubtype="0" repeatCount="3000" fill="hold" grpId="0" nodeType="withEffect">
                                  <p:stCondLst>
                                    <p:cond delay="0"/>
                                  </p:stCondLst>
                                  <p:childTnLst>
                                    <p:anim calcmode="discrete" valueType="str">
                                      <p:cBhvr>
                                        <p:cTn id="8"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1" nodeType="afterEffect">
                                  <p:stCondLst>
                                    <p:cond delay="0"/>
                                  </p:stCondLst>
                                  <p:childTnLst>
                                    <p:set>
                                      <p:cBhvr>
                                        <p:cTn id="11" dur="1" fill="hold">
                                          <p:stCondLst>
                                            <p:cond delay="0"/>
                                          </p:stCondLst>
                                        </p:cTn>
                                        <p:tgtEl>
                                          <p:spTgt spid="37"/>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0" nodeType="after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6000"/>
                            </p:stCondLst>
                            <p:childTnLst>
                              <p:par>
                                <p:cTn id="16" presetID="1" presetClass="entr" presetSubtype="0" fill="hold" grpId="1" nodeType="afterEffect">
                                  <p:stCondLst>
                                    <p:cond delay="0"/>
                                  </p:stCondLst>
                                  <p:childTnLst>
                                    <p:set>
                                      <p:cBhvr>
                                        <p:cTn id="17" dur="1" fill="hold">
                                          <p:stCondLst>
                                            <p:cond delay="0"/>
                                          </p:stCondLst>
                                        </p:cTn>
                                        <p:tgtEl>
                                          <p:spTgt spid="42"/>
                                        </p:tgtEl>
                                        <p:attrNameLst>
                                          <p:attrName>style.visibility</p:attrName>
                                        </p:attrNameLst>
                                      </p:cBhvr>
                                      <p:to>
                                        <p:strVal val="visible"/>
                                      </p:to>
                                    </p:set>
                                  </p:childTnLst>
                                </p:cTn>
                              </p:par>
                            </p:childTnLst>
                          </p:cTn>
                        </p:par>
                        <p:par>
                          <p:cTn id="18" fill="hold">
                            <p:stCondLst>
                              <p:cond delay="6000"/>
                            </p:stCondLst>
                            <p:childTnLst>
                              <p:par>
                                <p:cTn id="19" presetID="35" presetClass="emph" presetSubtype="0" repeatCount="3000" fill="hold" grpId="0" nodeType="afterEffect">
                                  <p:stCondLst>
                                    <p:cond delay="0"/>
                                  </p:stCondLst>
                                  <p:childTnLst>
                                    <p:anim calcmode="discrete" valueType="str">
                                      <p:cBhvr>
                                        <p:cTn id="20" dur="1000" fill="hold"/>
                                        <p:tgtEl>
                                          <p:spTgt spid="42"/>
                                        </p:tgtEl>
                                        <p:attrNameLst>
                                          <p:attrName>style.visibility</p:attrName>
                                        </p:attrNameLst>
                                      </p:cBhvr>
                                      <p:tavLst>
                                        <p:tav tm="0">
                                          <p:val>
                                            <p:strVal val="hidden"/>
                                          </p:val>
                                        </p:tav>
                                        <p:tav tm="50000">
                                          <p:val>
                                            <p:strVal val="visible"/>
                                          </p:val>
                                        </p:tav>
                                      </p:tavLst>
                                    </p:anim>
                                  </p:childTnLst>
                                </p:cTn>
                              </p:par>
                              <p:par>
                                <p:cTn id="21" presetID="1"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35" presetClass="emph" presetSubtype="0" repeatCount="3000" fill="hold" grpId="1" nodeType="withEffect">
                                  <p:stCondLst>
                                    <p:cond delay="0"/>
                                  </p:stCondLst>
                                  <p:childTnLst>
                                    <p:anim calcmode="discrete" valueType="str">
                                      <p:cBhvr>
                                        <p:cTn id="24" dur="1000" fill="hold"/>
                                        <p:tgtEl>
                                          <p:spTgt spid="2"/>
                                        </p:tgtEl>
                                        <p:attrNameLst>
                                          <p:attrName>style.visibility</p:attrName>
                                        </p:attrNameLst>
                                      </p:cBhvr>
                                      <p:tavLst>
                                        <p:tav tm="0">
                                          <p:val>
                                            <p:strVal val="hidden"/>
                                          </p:val>
                                        </p:tav>
                                        <p:tav tm="50000">
                                          <p:val>
                                            <p:strVal val="visible"/>
                                          </p:val>
                                        </p:tav>
                                      </p:tavLst>
                                    </p:anim>
                                  </p:childTnLst>
                                </p:cTn>
                              </p:par>
                            </p:childTnLst>
                          </p:cTn>
                        </p:par>
                        <p:par>
                          <p:cTn id="25" fill="hold">
                            <p:stCondLst>
                              <p:cond delay="9000"/>
                            </p:stCondLst>
                            <p:childTnLst>
                              <p:par>
                                <p:cTn id="26" presetID="1" presetClass="entr" presetSubtype="0" fill="hold" grpId="1" nodeType="afterEffect">
                                  <p:stCondLst>
                                    <p:cond delay="0"/>
                                  </p:stCondLst>
                                  <p:childTnLst>
                                    <p:set>
                                      <p:cBhvr>
                                        <p:cTn id="27" dur="1" fill="hold">
                                          <p:stCondLst>
                                            <p:cond delay="0"/>
                                          </p:stCondLst>
                                        </p:cTn>
                                        <p:tgtEl>
                                          <p:spTgt spid="60"/>
                                        </p:tgtEl>
                                        <p:attrNameLst>
                                          <p:attrName>style.visibility</p:attrName>
                                        </p:attrNameLst>
                                      </p:cBhvr>
                                      <p:to>
                                        <p:strVal val="visible"/>
                                      </p:to>
                                    </p:set>
                                  </p:childTnLst>
                                </p:cTn>
                              </p:par>
                            </p:childTnLst>
                          </p:cTn>
                        </p:par>
                        <p:par>
                          <p:cTn id="28" fill="hold">
                            <p:stCondLst>
                              <p:cond delay="9000"/>
                            </p:stCondLst>
                            <p:childTnLst>
                              <p:par>
                                <p:cTn id="29" presetID="35" presetClass="emph" presetSubtype="0" repeatCount="3000" fill="hold" grpId="0" nodeType="afterEffect">
                                  <p:stCondLst>
                                    <p:cond delay="0"/>
                                  </p:stCondLst>
                                  <p:childTnLst>
                                    <p:anim calcmode="discrete" valueType="str">
                                      <p:cBhvr>
                                        <p:cTn id="30"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37" grpId="0"/>
      <p:bldP spid="37" grpId="1"/>
      <p:bldP spid="42" grpId="0"/>
      <p:bldP spid="42" grpId="1"/>
      <p:bldP spid="2" grpId="0"/>
      <p:bldP spid="2" grpId="1"/>
      <p:bldP spid="60" grpId="0"/>
      <p:bldP spid="60" grpId="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7EF9FA09-DFEB-C7D3-BFDF-026EE13E5413}"/>
              </a:ext>
            </a:extLst>
          </p:cNvPr>
          <p:cNvSpPr>
            <a:spLocks noGrp="1"/>
          </p:cNvSpPr>
          <p:nvPr>
            <p:ph sz="quarter" idx="11"/>
          </p:nvPr>
        </p:nvSpPr>
        <p:spPr>
          <a:xfrm>
            <a:off x="486000" y="900000"/>
            <a:ext cx="8172000" cy="3703500"/>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56" name="标题 55">
            <a:extLst>
              <a:ext uri="{FF2B5EF4-FFF2-40B4-BE49-F238E27FC236}">
                <a16:creationId xmlns:a16="http://schemas.microsoft.com/office/drawing/2014/main" id="{37AF30DC-1A36-BC67-F6E6-8D25D425F1D9}"/>
              </a:ext>
            </a:extLst>
          </p:cNvPr>
          <p:cNvSpPr>
            <a:spLocks noGrp="1"/>
          </p:cNvSpPr>
          <p:nvPr>
            <p:ph type="title"/>
          </p:nvPr>
        </p:nvSpPr>
        <p:spPr>
          <a:xfrm>
            <a:off x="486000" y="550723"/>
            <a:ext cx="8172000" cy="338554"/>
          </a:xfrm>
        </p:spPr>
        <p:txBody>
          <a:bodyPr/>
          <a:lstStyle/>
          <a:p>
            <a:r>
              <a:rPr lang="zh-CN" altLang="en-US" dirty="0"/>
              <a:t>可能发生死锁</a:t>
            </a:r>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a:xfrm>
            <a:off x="486000" y="900000"/>
            <a:ext cx="8172000" cy="3703500"/>
          </a:xfrm>
        </p:spPr>
        <p:txBody>
          <a:bodyPr/>
          <a:lstStyle/>
          <a:p>
            <a:r>
              <a:rPr lang="zh-CN" altLang="en-US" dirty="0"/>
              <a:t>持续计时器  </a:t>
            </a:r>
            <a:r>
              <a:rPr lang="en-US" altLang="zh-CN" dirty="0"/>
              <a:t>(persistence timer)</a:t>
            </a:r>
            <a:r>
              <a:rPr lang="zh-CN" altLang="en-US" dirty="0"/>
              <a:t>：只要 </a:t>
            </a:r>
            <a:r>
              <a:rPr lang="en-US" altLang="zh-CN" dirty="0"/>
              <a:t>TCP </a:t>
            </a:r>
            <a:r>
              <a:rPr lang="zh-CN" altLang="en-US" dirty="0"/>
              <a:t>连接的一方收到对方的零窗口通知，就启动该持续计时器。</a:t>
            </a:r>
          </a:p>
          <a:p>
            <a:pPr lvl="1"/>
            <a:r>
              <a:rPr lang="zh-CN" altLang="en-US" dirty="0"/>
              <a:t>若持续计时器设置的时间到期，就发送一个零窗口探测报文段（仅携带 </a:t>
            </a:r>
            <a:r>
              <a:rPr lang="en-US" altLang="zh-CN" dirty="0"/>
              <a:t>1 </a:t>
            </a:r>
            <a:r>
              <a:rPr lang="zh-CN" altLang="en-US" dirty="0"/>
              <a:t>字节的数据），对方在确认这个探测报文段时给出当前窗口值。</a:t>
            </a:r>
          </a:p>
          <a:p>
            <a:pPr lvl="1"/>
            <a:r>
              <a:rPr lang="zh-CN" altLang="en-US" dirty="0"/>
              <a:t>若窗口仍然是零，收到这个报文段的一方就重新设置持续计时器。</a:t>
            </a:r>
          </a:p>
          <a:p>
            <a:pPr lvl="1"/>
            <a:r>
              <a:rPr lang="zh-CN" altLang="en-US" dirty="0"/>
              <a:t>若窗口不是零，则死锁的僵局就可以打破了。 </a:t>
            </a:r>
          </a:p>
          <a:p>
            <a:endParaRPr lang="zh-CN" altLang="en-US" dirty="0"/>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486000" y="550723"/>
            <a:ext cx="8172000" cy="338554"/>
          </a:xfrm>
        </p:spPr>
        <p:txBody>
          <a:bodyPr/>
          <a:lstStyle/>
          <a:p>
            <a:r>
              <a:rPr lang="zh-CN" altLang="en-US" dirty="0"/>
              <a:t>持续计时器</a:t>
            </a:r>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a:xfrm>
            <a:off x="486000" y="900000"/>
            <a:ext cx="8172000" cy="3703500"/>
          </a:xfrm>
        </p:spPr>
        <p:txBody>
          <a:bodyPr/>
          <a:lstStyle/>
          <a:p>
            <a:r>
              <a:rPr lang="zh-CN" altLang="en-US" dirty="0"/>
              <a:t>控制</a:t>
            </a:r>
            <a:r>
              <a:rPr lang="en-US" altLang="zh-CN" dirty="0"/>
              <a:t>TCP</a:t>
            </a:r>
            <a:r>
              <a:rPr lang="zh-CN" altLang="en-US" dirty="0"/>
              <a:t>发送报文段的时机：三种机制</a:t>
            </a:r>
            <a:endParaRPr lang="en-US" altLang="zh-CN" dirty="0"/>
          </a:p>
          <a:p>
            <a:r>
              <a:rPr lang="en-US" altLang="zh-CN" dirty="0"/>
              <a:t>TCP </a:t>
            </a:r>
            <a:r>
              <a:rPr lang="zh-CN" altLang="en-US" dirty="0"/>
              <a:t>维持一个变量，它等于最大报文段长度 </a:t>
            </a:r>
            <a:r>
              <a:rPr lang="en-US" altLang="zh-CN" dirty="0"/>
              <a:t>MSS</a:t>
            </a:r>
            <a:r>
              <a:rPr lang="zh-CN" altLang="en-US" dirty="0"/>
              <a:t>。只要缓存中存放的数据达到 </a:t>
            </a:r>
            <a:r>
              <a:rPr lang="en-US" altLang="zh-CN" dirty="0"/>
              <a:t>MSS </a:t>
            </a:r>
            <a:r>
              <a:rPr lang="zh-CN" altLang="en-US" dirty="0"/>
              <a:t>字节时，就组装成一个 </a:t>
            </a:r>
            <a:r>
              <a:rPr lang="en-US" altLang="zh-CN" dirty="0"/>
              <a:t>TCP </a:t>
            </a:r>
            <a:r>
              <a:rPr lang="zh-CN" altLang="en-US" dirty="0"/>
              <a:t>报文段发送出去。</a:t>
            </a:r>
          </a:p>
          <a:p>
            <a:r>
              <a:rPr lang="zh-CN" altLang="en-US" dirty="0"/>
              <a:t>由发送方的应用进程指明要求发送报文段，即 </a:t>
            </a:r>
            <a:r>
              <a:rPr lang="en-US" altLang="zh-CN" dirty="0"/>
              <a:t>TCP </a:t>
            </a:r>
            <a:r>
              <a:rPr lang="zh-CN" altLang="en-US" dirty="0"/>
              <a:t>支持的推送 </a:t>
            </a:r>
            <a:r>
              <a:rPr lang="en-US" altLang="zh-CN" dirty="0"/>
              <a:t>(push) </a:t>
            </a:r>
            <a:r>
              <a:rPr lang="zh-CN" altLang="en-US" dirty="0"/>
              <a:t>操作。</a:t>
            </a:r>
          </a:p>
          <a:p>
            <a:r>
              <a:rPr lang="zh-CN" altLang="en-US" dirty="0"/>
              <a:t>发送方的一个计时器期限到了，这时就把当前已有的缓存数据装入报文段（但长度不能超过 </a:t>
            </a:r>
            <a:r>
              <a:rPr lang="en-US" altLang="zh-CN" dirty="0"/>
              <a:t>MSS</a:t>
            </a:r>
            <a:r>
              <a:rPr lang="zh-CN" altLang="en-US" dirty="0"/>
              <a:t>）发送出去。</a:t>
            </a:r>
          </a:p>
          <a:p>
            <a:endParaRPr lang="zh-CN" altLang="en-US" dirty="0"/>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486000" y="550723"/>
            <a:ext cx="8172000" cy="338554"/>
          </a:xfrm>
        </p:spPr>
        <p:txBody>
          <a:bodyPr/>
          <a:lstStyle/>
          <a:p>
            <a:r>
              <a:rPr lang="en-US" altLang="zh-CN" dirty="0"/>
              <a:t>5.7.2   TCP </a:t>
            </a:r>
            <a:r>
              <a:rPr lang="zh-CN" altLang="en-US" dirty="0"/>
              <a:t>的传输效率</a:t>
            </a:r>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5999256" y="2287616"/>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数据</a:t>
            </a:r>
          </a:p>
        </p:txBody>
      </p:sp>
      <p:sp>
        <p:nvSpPr>
          <p:cNvPr id="7" name="矩形 6"/>
          <p:cNvSpPr/>
          <p:nvPr/>
        </p:nvSpPr>
        <p:spPr>
          <a:xfrm>
            <a:off x="5999256" y="2770942"/>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9" name="矩形 8"/>
          <p:cNvSpPr/>
          <p:nvPr/>
        </p:nvSpPr>
        <p:spPr>
          <a:xfrm>
            <a:off x="5999256" y="3267330"/>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a:t>
            </a:r>
          </a:p>
        </p:txBody>
      </p:sp>
      <p:sp>
        <p:nvSpPr>
          <p:cNvPr id="4" name="矩形 3"/>
          <p:cNvSpPr/>
          <p:nvPr/>
        </p:nvSpPr>
        <p:spPr>
          <a:xfrm>
            <a:off x="2408898" y="3770606"/>
            <a:ext cx="4104009" cy="338554"/>
          </a:xfrm>
          <a:prstGeom prst="rect">
            <a:avLst/>
          </a:prstGeom>
        </p:spPr>
        <p:txBody>
          <a:bodyPr wrap="none">
            <a:spAutoFit/>
          </a:bodyPr>
          <a:lstStyle/>
          <a:p>
            <a:r>
              <a:rPr lang="zh-CN" altLang="en-US" sz="1600" b="1" dirty="0">
                <a:latin typeface="微软雅黑" pitchFamily="34" charset="-122"/>
                <a:ea typeface="微软雅黑" pitchFamily="34" charset="-122"/>
              </a:rPr>
              <a:t>此时，有效数据传输效率 </a:t>
            </a:r>
            <a:r>
              <a:rPr lang="en-US" altLang="zh-CN" sz="1600" b="1" dirty="0">
                <a:latin typeface="微软雅黑" pitchFamily="34" charset="-122"/>
                <a:ea typeface="微软雅黑" pitchFamily="34" charset="-122"/>
              </a:rPr>
              <a:t>= 1/41 = 2.44%</a:t>
            </a:r>
            <a:endParaRPr lang="zh-CN" altLang="en-US" sz="1600" dirty="0"/>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a:xfrm>
            <a:off x="486000" y="900000"/>
            <a:ext cx="8172000" cy="3703500"/>
          </a:xfrm>
        </p:spPr>
        <p:txBody>
          <a:bodyPr/>
          <a:lstStyle/>
          <a:p>
            <a:r>
              <a:rPr lang="zh-CN" altLang="en-US" dirty="0"/>
              <a:t>糊涂窗口综合症：每次仅发送一个字节或很少几个字节的数据时，有效数据传输效率变得很低的现象。</a:t>
            </a:r>
          </a:p>
          <a:p>
            <a:endParaRPr lang="zh-CN" altLang="en-US" dirty="0"/>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486000" y="550723"/>
            <a:ext cx="8172000" cy="338554"/>
          </a:xfrm>
        </p:spPr>
        <p:txBody>
          <a:bodyPr/>
          <a:lstStyle/>
          <a:p>
            <a:r>
              <a:rPr lang="zh-CN" altLang="en-US" dirty="0"/>
              <a:t>糊涂窗口综合症</a:t>
            </a:r>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703293" y="2289634"/>
            <a:ext cx="6033247" cy="1900517"/>
            <a:chOff x="1442554" y="1293222"/>
            <a:chExt cx="6186146" cy="2913016"/>
          </a:xfrm>
        </p:grpSpPr>
        <p:sp>
          <p:nvSpPr>
            <p:cNvPr id="7" name="矩形 6"/>
            <p:cNvSpPr/>
            <p:nvPr/>
          </p:nvSpPr>
          <p:spPr>
            <a:xfrm>
              <a:off x="1442554" y="1293222"/>
              <a:ext cx="2592000" cy="41801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发送第 </a:t>
              </a:r>
              <a:r>
                <a:rPr lang="en-US" altLang="zh-CN" sz="1100" b="1" dirty="0">
                  <a:solidFill>
                    <a:schemeClr val="tx1"/>
                  </a:solidFill>
                  <a:latin typeface="微软雅黑" pitchFamily="34" charset="-122"/>
                  <a:ea typeface="微软雅黑" pitchFamily="34" charset="-122"/>
                </a:rPr>
                <a:t>1 </a:t>
              </a:r>
              <a:r>
                <a:rPr lang="zh-CN" altLang="en-US" sz="1100" b="1" dirty="0">
                  <a:solidFill>
                    <a:schemeClr val="tx1"/>
                  </a:solidFill>
                  <a:latin typeface="微软雅黑" pitchFamily="34" charset="-122"/>
                  <a:ea typeface="微软雅黑"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bg1"/>
                  </a:solidFill>
                  <a:latin typeface="微软雅黑" pitchFamily="34" charset="-122"/>
                  <a:ea typeface="微软雅黑" pitchFamily="34" charset="-122"/>
                </a:rPr>
                <a:t>收到确认？</a:t>
              </a:r>
            </a:p>
          </p:txBody>
        </p:sp>
        <p:sp>
          <p:nvSpPr>
            <p:cNvPr id="9" name="矩形 8"/>
            <p:cNvSpPr/>
            <p:nvPr/>
          </p:nvSpPr>
          <p:spPr>
            <a:xfrm>
              <a:off x="1442554"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b="1" dirty="0">
                  <a:solidFill>
                    <a:schemeClr val="bg1"/>
                  </a:solidFill>
                  <a:latin typeface="微软雅黑" pitchFamily="34" charset="-122"/>
                  <a:ea typeface="微软雅黑" pitchFamily="34" charset="-122"/>
                </a:rPr>
                <a:t>到达的数据</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已达到发送窗口一半 或 </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已达到报文段的最大长度时？</a:t>
              </a:r>
            </a:p>
          </p:txBody>
        </p:sp>
        <p:sp>
          <p:nvSpPr>
            <p:cNvPr id="14" name="矩形 13"/>
            <p:cNvSpPr/>
            <p:nvPr/>
          </p:nvSpPr>
          <p:spPr>
            <a:xfrm>
              <a:off x="4532808"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立即发送数据</a:t>
              </a:r>
            </a:p>
          </p:txBody>
        </p:sp>
        <p:cxnSp>
          <p:nvCxnSpPr>
            <p:cNvPr id="15" name="直接箭头连接符 14"/>
            <p:cNvCxnSpPr>
              <a:stCxn id="7" idx="2"/>
              <a:endCxn id="8" idx="0"/>
            </p:cNvCxnSpPr>
            <p:nvPr/>
          </p:nvCxnSpPr>
          <p:spPr>
            <a:xfrm>
              <a:off x="2738554" y="1711233"/>
              <a:ext cx="0" cy="3526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8"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a:off x="5828808"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318658"/>
              <a:chOff x="2744151" y="1952894"/>
              <a:chExt cx="5694455" cy="2462354"/>
            </a:xfrm>
          </p:grpSpPr>
          <p:cxnSp>
            <p:nvCxnSpPr>
              <p:cNvPr id="28" name="直接箭头连接符 27"/>
              <p:cNvCxnSpPr/>
              <p:nvPr/>
            </p:nvCxnSpPr>
            <p:spPr>
              <a:xfrm flipV="1">
                <a:off x="2744151" y="4415247"/>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318658"/>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grpSp>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a:xfrm>
            <a:off x="486000" y="900000"/>
            <a:ext cx="8172000" cy="3703500"/>
          </a:xfrm>
        </p:spPr>
        <p:txBody>
          <a:bodyPr/>
          <a:lstStyle/>
          <a:p>
            <a:r>
              <a:rPr lang="zh-CN" altLang="en-US" dirty="0"/>
              <a:t>发送方 </a:t>
            </a:r>
            <a:r>
              <a:rPr lang="en-US" altLang="zh-CN" dirty="0"/>
              <a:t>TCP </a:t>
            </a:r>
            <a:r>
              <a:rPr lang="zh-CN" altLang="en-US" dirty="0"/>
              <a:t>每次接收到一字节的数据后就发送。</a:t>
            </a:r>
          </a:p>
          <a:p>
            <a:r>
              <a:rPr lang="zh-CN" altLang="en-US" dirty="0"/>
              <a:t>发送一个字节需要形成 </a:t>
            </a:r>
            <a:r>
              <a:rPr lang="en-US" altLang="zh-CN" dirty="0"/>
              <a:t>41 </a:t>
            </a:r>
            <a:r>
              <a:rPr lang="zh-CN" altLang="en-US" dirty="0"/>
              <a:t>字节长的 </a:t>
            </a:r>
            <a:r>
              <a:rPr lang="en-US" altLang="zh-CN" dirty="0"/>
              <a:t>IP </a:t>
            </a:r>
            <a:r>
              <a:rPr lang="zh-CN" altLang="en-US" dirty="0"/>
              <a:t>数据报。效率很低。</a:t>
            </a:r>
          </a:p>
          <a:p>
            <a:r>
              <a:rPr lang="zh-CN" altLang="en-US" dirty="0"/>
              <a:t>解决方法：使用 </a:t>
            </a:r>
            <a:r>
              <a:rPr lang="en-US" altLang="zh-CN" dirty="0"/>
              <a:t>Nagle </a:t>
            </a:r>
            <a:r>
              <a:rPr lang="zh-CN" altLang="en-US" dirty="0"/>
              <a:t>算法。</a:t>
            </a:r>
          </a:p>
          <a:p>
            <a:endParaRPr lang="zh-CN" altLang="en-US" dirty="0"/>
          </a:p>
        </p:txBody>
      </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486000" y="550723"/>
            <a:ext cx="8172000" cy="338554"/>
          </a:xfrm>
        </p:spPr>
        <p:txBody>
          <a:bodyPr/>
          <a:lstStyle/>
          <a:p>
            <a:r>
              <a:rPr lang="zh-CN" altLang="en-US" dirty="0"/>
              <a:t>发送方糊涂窗口综合症</a:t>
            </a:r>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内容占位符 3">
            <a:extLst>
              <a:ext uri="{FF2B5EF4-FFF2-40B4-BE49-F238E27FC236}">
                <a16:creationId xmlns:a16="http://schemas.microsoft.com/office/drawing/2014/main" id="{0A1F291F-8833-84C8-A1C6-3EA2DFED59F0}"/>
              </a:ext>
            </a:extLst>
          </p:cNvPr>
          <p:cNvSpPr>
            <a:spLocks noGrp="1"/>
          </p:cNvSpPr>
          <p:nvPr>
            <p:ph sz="quarter" idx="11"/>
          </p:nvPr>
        </p:nvSpPr>
        <p:spPr>
          <a:xfrm>
            <a:off x="486000" y="900000"/>
            <a:ext cx="8172000" cy="3703500"/>
          </a:xfrm>
        </p:spPr>
        <p:txBody>
          <a:bodyPr/>
          <a:lstStyle/>
          <a:p>
            <a:r>
              <a:rPr lang="zh-CN" altLang="en-US" dirty="0"/>
              <a:t>原因：接收方应用进程消耗数据太慢，例如：每次只读取一个字节。</a:t>
            </a:r>
          </a:p>
          <a:p>
            <a:endParaRPr lang="zh-CN" altLang="en-US" dirty="0"/>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486000" y="550723"/>
            <a:ext cx="8172000" cy="338554"/>
          </a:xfrm>
        </p:spPr>
        <p:txBody>
          <a:bodyPr/>
          <a:lstStyle/>
          <a:p>
            <a:r>
              <a:rPr lang="zh-CN" altLang="en-US" dirty="0"/>
              <a:t>接收方糊涂窗口综合症</a:t>
            </a:r>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a:xfrm>
            <a:off x="486000" y="900000"/>
            <a:ext cx="8172000" cy="3703500"/>
          </a:xfrm>
        </p:spPr>
        <p:txBody>
          <a:bodyPr/>
          <a:lstStyle/>
          <a:p>
            <a:r>
              <a:rPr lang="zh-CN" altLang="en-US" dirty="0"/>
              <a:t>解决方法：让接收方等待一段时间，使得或者接收缓存已有足够空间容纳一个最长的报文段，或者等到接收缓存已有一半空闲的空间。只要出现这两种情况之一，接收方就发出确认报文，并向发送方通知当前的窗口大小。</a:t>
            </a:r>
          </a:p>
          <a:p>
            <a:r>
              <a:rPr lang="zh-CN" altLang="en-US" dirty="0"/>
              <a:t>上述两种方法可配合使用，使得在发送方不发送很小的报文段的同时，接收方也不要在缓存刚刚有了一点小的空间就急忙把这个很小的窗口大小信息通知给发送方。</a:t>
            </a:r>
          </a:p>
          <a:p>
            <a:endParaRPr lang="zh-CN" altLang="en-US" dirty="0"/>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486000" y="550723"/>
            <a:ext cx="8172000" cy="338554"/>
          </a:xfrm>
        </p:spPr>
        <p:txBody>
          <a:bodyPr/>
          <a:lstStyle/>
          <a:p>
            <a:r>
              <a:rPr lang="zh-CN" altLang="en-US" dirty="0"/>
              <a:t>接收方糊涂窗口综合症</a:t>
            </a:r>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5.8.1                                 </a:t>
            </a:r>
            <a:r>
              <a:rPr lang="zh-CN" altLang="en-US" sz="2000" b="1" dirty="0">
                <a:solidFill>
                  <a:schemeClr val="bg1"/>
                </a:solidFill>
                <a:latin typeface="微软雅黑" pitchFamily="34" charset="-122"/>
                <a:ea typeface="微软雅黑" pitchFamily="34" charset="-122"/>
              </a:rPr>
              <a:t>拥塞控制的一般原理</a:t>
            </a:r>
          </a:p>
          <a:p>
            <a:pPr eaLnBrk="0" hangingPunct="0">
              <a:lnSpc>
                <a:spcPct val="200000"/>
              </a:lnSpc>
            </a:pPr>
            <a:r>
              <a:rPr lang="en-US" altLang="zh-CN" sz="2000" b="1" dirty="0">
                <a:solidFill>
                  <a:schemeClr val="bg1"/>
                </a:solidFill>
                <a:latin typeface="微软雅黑" pitchFamily="34" charset="-122"/>
                <a:ea typeface="微软雅黑" pitchFamily="34" charset="-122"/>
              </a:rPr>
              <a:t>5.8.2                                TCP </a:t>
            </a:r>
            <a:r>
              <a:rPr lang="zh-CN" altLang="en-US" sz="2000" b="1" dirty="0">
                <a:solidFill>
                  <a:schemeClr val="bg1"/>
                </a:solidFill>
                <a:latin typeface="微软雅黑" pitchFamily="34" charset="-122"/>
                <a:ea typeface="微软雅黑" pitchFamily="34" charset="-122"/>
              </a:rPr>
              <a:t>的拥塞控制方法</a:t>
            </a:r>
          </a:p>
          <a:p>
            <a:pPr eaLnBrk="0" hangingPunct="0">
              <a:lnSpc>
                <a:spcPct val="200000"/>
              </a:lnSpc>
            </a:pPr>
            <a:r>
              <a:rPr lang="en-US" altLang="zh-CN" sz="2000" b="1" dirty="0">
                <a:solidFill>
                  <a:schemeClr val="bg1"/>
                </a:solidFill>
                <a:latin typeface="微软雅黑" pitchFamily="34" charset="-122"/>
                <a:ea typeface="微软雅黑" pitchFamily="34" charset="-122"/>
              </a:rPr>
              <a:t>5.8.3                                 </a:t>
            </a: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p>
        </p:txBody>
      </p:sp>
      <p:sp>
        <p:nvSpPr>
          <p:cNvPr id="10" name="Rectangle 27"/>
          <p:cNvSpPr>
            <a:spLocks noChangeArrowheads="1"/>
          </p:cNvSpPr>
          <p:nvPr/>
        </p:nvSpPr>
        <p:spPr bwMode="auto">
          <a:xfrm>
            <a:off x="639730" y="143396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52889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5.8</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的拥塞控制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a:spLocks noChangeArrowheads="1"/>
          </p:cNvSpPr>
          <p:nvPr/>
        </p:nvSpPr>
        <p:spPr bwMode="auto">
          <a:xfrm>
            <a:off x="6798893" y="1586270"/>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b="1">
              <a:latin typeface="微软雅黑" pitchFamily="34" charset="-122"/>
              <a:ea typeface="微软雅黑" pitchFamily="34" charset="-122"/>
            </a:endParaRPr>
          </a:p>
        </p:txBody>
      </p:sp>
      <p:grpSp>
        <p:nvGrpSpPr>
          <p:cNvPr id="3" name="组合 2"/>
          <p:cNvGrpSpPr/>
          <p:nvPr/>
        </p:nvGrpSpPr>
        <p:grpSpPr>
          <a:xfrm>
            <a:off x="5018115" y="1419034"/>
            <a:ext cx="3122419" cy="2737100"/>
            <a:chOff x="4857857" y="1639611"/>
            <a:chExt cx="3122419" cy="2737100"/>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2" name="Text Box 17"/>
            <p:cNvSpPr txBox="1">
              <a:spLocks noChangeArrowheads="1"/>
            </p:cNvSpPr>
            <p:nvPr/>
          </p:nvSpPr>
          <p:spPr bwMode="auto">
            <a:xfrm>
              <a:off x="7152187" y="4124276"/>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3" name="Text Box 18"/>
            <p:cNvSpPr txBox="1">
              <a:spLocks noChangeArrowheads="1"/>
            </p:cNvSpPr>
            <p:nvPr/>
          </p:nvSpPr>
          <p:spPr bwMode="auto">
            <a:xfrm>
              <a:off x="7152187" y="2775953"/>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4" name="Text Box 19"/>
            <p:cNvSpPr txBox="1">
              <a:spLocks noChangeArrowheads="1"/>
            </p:cNvSpPr>
            <p:nvPr/>
          </p:nvSpPr>
          <p:spPr bwMode="auto">
            <a:xfrm rot="16200000">
              <a:off x="4695016" y="1958209"/>
              <a:ext cx="592753"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吞量率</a:t>
              </a:r>
              <a:endParaRPr kumimoji="0" lang="en-US" altLang="zh-CN" sz="1200" b="1" dirty="0">
                <a:latin typeface="微软雅黑" pitchFamily="34" charset="-122"/>
                <a:ea typeface="微软雅黑" pitchFamily="34" charset="-122"/>
              </a:endParaRPr>
            </a:p>
          </p:txBody>
        </p:sp>
        <p:sp>
          <p:nvSpPr>
            <p:cNvPr id="25" name="Text Box 20"/>
            <p:cNvSpPr txBox="1">
              <a:spLocks noChangeArrowheads="1"/>
            </p:cNvSpPr>
            <p:nvPr/>
          </p:nvSpPr>
          <p:spPr bwMode="auto">
            <a:xfrm rot="16200000">
              <a:off x="4763550" y="3001052"/>
              <a:ext cx="451200"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延迟</a:t>
              </a:r>
              <a:endParaRPr kumimoji="0" lang="en-US" altLang="zh-CN" sz="1200" b="1" dirty="0">
                <a:latin typeface="微软雅黑" pitchFamily="34" charset="-122"/>
                <a:ea typeface="微软雅黑"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00000"/>
                  </a:solidFill>
                  <a:latin typeface="微软雅黑" pitchFamily="34" charset="-122"/>
                  <a:ea typeface="微软雅黑" pitchFamily="34" charset="-122"/>
                </a:rPr>
                <a:t>系统</a:t>
              </a:r>
              <a:endParaRPr kumimoji="0" lang="en-US" altLang="zh-CN" sz="1200" b="1" dirty="0">
                <a:solidFill>
                  <a:srgbClr val="C00000"/>
                </a:solidFill>
                <a:latin typeface="微软雅黑" pitchFamily="34" charset="-122"/>
                <a:ea typeface="微软雅黑" pitchFamily="34" charset="-122"/>
              </a:endParaRPr>
            </a:p>
            <a:p>
              <a:r>
                <a:rPr kumimoji="0" lang="zh-CN" altLang="en-US" sz="1200" b="1" dirty="0">
                  <a:solidFill>
                    <a:srgbClr val="C00000"/>
                  </a:solidFill>
                  <a:latin typeface="微软雅黑" pitchFamily="34" charset="-122"/>
                  <a:ea typeface="微软雅黑" pitchFamily="34" charset="-122"/>
                </a:rPr>
                <a:t>崩溃</a:t>
              </a:r>
              <a:endParaRPr kumimoji="0" lang="en-US" altLang="zh-CN" sz="1200" b="1" dirty="0">
                <a:solidFill>
                  <a:srgbClr val="C00000"/>
                </a:solidFill>
                <a:latin typeface="微软雅黑" pitchFamily="34" charset="-122"/>
                <a:ea typeface="微软雅黑"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31" name="Text Box 26"/>
            <p:cNvSpPr txBox="1">
              <a:spLocks noChangeArrowheads="1"/>
            </p:cNvSpPr>
            <p:nvPr/>
          </p:nvSpPr>
          <p:spPr bwMode="auto">
            <a:xfrm>
              <a:off x="7289563" y="1639611"/>
              <a:ext cx="690713" cy="439298"/>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C00CC"/>
                  </a:solidFill>
                  <a:latin typeface="微软雅黑" pitchFamily="34" charset="-122"/>
                  <a:ea typeface="微软雅黑" pitchFamily="34" charset="-122"/>
                </a:rPr>
                <a:t>分组丢失增多</a:t>
              </a:r>
              <a:endParaRPr kumimoji="0" lang="en-US" altLang="zh-CN" sz="1200" b="1" dirty="0">
                <a:solidFill>
                  <a:srgbClr val="CC00CC"/>
                </a:solidFill>
                <a:latin typeface="微软雅黑" pitchFamily="34" charset="-122"/>
                <a:ea typeface="微软雅黑"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grpSp>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a:xfrm>
            <a:off x="486000" y="900000"/>
            <a:ext cx="8172000" cy="3703500"/>
          </a:xfrm>
        </p:spPr>
        <p:txBody>
          <a:bodyPr/>
          <a:lstStyle/>
          <a:p>
            <a:r>
              <a:rPr lang="zh-CN" altLang="en-US" dirty="0"/>
              <a:t>在某段时间，若对网络中某资源的需求超过了该资源所能提供的可用部分，网络的性能就要明显变坏，整个网络的吞吐量将随输入负荷的增大而下降。这种现象称为拥塞 </a:t>
            </a:r>
            <a:r>
              <a:rPr lang="en-US" altLang="zh-CN" dirty="0"/>
              <a:t>(congestion)</a:t>
            </a:r>
            <a:r>
              <a:rPr lang="zh-CN" altLang="en-US" dirty="0"/>
              <a:t>。</a:t>
            </a:r>
            <a:endParaRPr lang="en-US" altLang="zh-CN" dirty="0"/>
          </a:p>
          <a:p>
            <a:r>
              <a:rPr lang="zh-CN" altLang="en-US" dirty="0"/>
              <a:t>最坏结果：系统崩溃。</a:t>
            </a:r>
          </a:p>
          <a:p>
            <a:endParaRPr lang="zh-CN" altLang="en-US" dirty="0"/>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486000" y="550723"/>
            <a:ext cx="8172000" cy="338554"/>
          </a:xfrm>
        </p:spPr>
        <p:txBody>
          <a:bodyPr/>
          <a:lstStyle/>
          <a:p>
            <a:r>
              <a:rPr lang="en-US" altLang="zh-CN" dirty="0"/>
              <a:t>5.8.1   </a:t>
            </a:r>
            <a:r>
              <a:rPr lang="zh-CN" altLang="en-US" dirty="0"/>
              <a:t>拥塞控制的一般原理</a:t>
            </a:r>
          </a:p>
        </p:txBody>
      </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a:xfrm>
            <a:off x="486000" y="900000"/>
            <a:ext cx="8172000" cy="3703500"/>
          </a:xfrm>
        </p:spPr>
        <p:txBody>
          <a:bodyPr/>
          <a:lstStyle/>
          <a:p>
            <a:r>
              <a:rPr lang="zh-CN" altLang="en-US" dirty="0"/>
              <a:t>由许多因素引起。例如：</a:t>
            </a:r>
            <a:endParaRPr lang="en-US" altLang="zh-CN" dirty="0"/>
          </a:p>
          <a:p>
            <a:r>
              <a:rPr lang="zh-CN" altLang="en-US" dirty="0"/>
              <a:t>节点缓存容量太小；</a:t>
            </a:r>
            <a:endParaRPr lang="en-US" altLang="zh-CN" dirty="0"/>
          </a:p>
          <a:p>
            <a:r>
              <a:rPr lang="zh-CN" altLang="en-US" dirty="0"/>
              <a:t>链路容量不足；</a:t>
            </a:r>
            <a:endParaRPr lang="en-US" altLang="zh-CN" dirty="0"/>
          </a:p>
          <a:p>
            <a:r>
              <a:rPr lang="zh-CN" altLang="en-US" dirty="0"/>
              <a:t>处理机处理速率太慢；</a:t>
            </a:r>
            <a:endParaRPr lang="en-US" altLang="zh-CN" dirty="0"/>
          </a:p>
          <a:p>
            <a:r>
              <a:rPr lang="zh-CN" altLang="en-US" dirty="0"/>
              <a:t>拥塞本身会进一步加剧拥塞；</a:t>
            </a:r>
            <a:endParaRPr lang="en-US" altLang="zh-CN" dirty="0"/>
          </a:p>
          <a:p>
            <a:r>
              <a:rPr lang="zh-CN" altLang="en-US" dirty="0"/>
              <a:t>出现网络拥塞的条件：</a:t>
            </a:r>
          </a:p>
          <a:p>
            <a:endParaRPr lang="zh-CN" altLang="en-US" dirty="0"/>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486000" y="550723"/>
            <a:ext cx="8172000" cy="338554"/>
          </a:xfrm>
        </p:spPr>
        <p:txBody>
          <a:bodyPr/>
          <a:lstStyle/>
          <a:p>
            <a:r>
              <a:rPr lang="zh-CN" altLang="en-US" dirty="0"/>
              <a:t>拥塞产生的原因</a:t>
            </a:r>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a:xfrm>
            <a:off x="486000" y="900000"/>
            <a:ext cx="8172000" cy="3703500"/>
          </a:xfrm>
        </p:spPr>
        <p:txBody>
          <a:bodyPr/>
          <a:lstStyle/>
          <a:p>
            <a:r>
              <a:rPr lang="zh-CN" altLang="en-US" dirty="0"/>
              <a:t>不能，而且还可能使网络的性能更坏。</a:t>
            </a:r>
          </a:p>
          <a:p>
            <a:r>
              <a:rPr lang="zh-CN" altLang="en-US" dirty="0"/>
              <a:t>例如：</a:t>
            </a:r>
          </a:p>
          <a:p>
            <a:r>
              <a:rPr lang="zh-CN" altLang="en-US" dirty="0"/>
              <a:t>增大缓存，但未提高输出链路的容量和处理机的速度，排队等待时间将会大大增加，引起大量超时重传，解决不了网络拥塞；</a:t>
            </a:r>
          </a:p>
          <a:p>
            <a:r>
              <a:rPr lang="zh-CN" altLang="en-US" dirty="0"/>
              <a:t>提高处理机处理的速率会将瓶颈转移到其他地方；</a:t>
            </a:r>
            <a:endParaRPr lang="en-US" altLang="zh-CN" dirty="0"/>
          </a:p>
          <a:p>
            <a:r>
              <a:rPr lang="zh-CN" altLang="en-US" dirty="0"/>
              <a:t>拥塞引起的重传并不会缓解网络的拥塞，反而会加剧网络的拥塞。</a:t>
            </a:r>
          </a:p>
          <a:p>
            <a:endParaRPr lang="zh-CN" altLang="en-US" dirty="0"/>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486000" y="550723"/>
            <a:ext cx="8172000" cy="338554"/>
          </a:xfrm>
        </p:spPr>
        <p:txBody>
          <a:bodyPr/>
          <a:lstStyle/>
          <a:p>
            <a:r>
              <a:rPr lang="zh-CN" altLang="en-US" dirty="0"/>
              <a:t>增加资源能解决拥塞吗？</a:t>
            </a:r>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744610048"/>
              </p:ext>
            </p:extLst>
          </p:nvPr>
        </p:nvGraphicFramePr>
        <p:xfrm>
          <a:off x="1062087" y="1042331"/>
          <a:ext cx="7110952" cy="34448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253A8BC7-CDF5-C9AA-24C9-06A26920A1FA}"/>
              </a:ext>
            </a:extLst>
          </p:cNvPr>
          <p:cNvSpPr>
            <a:spLocks noGrp="1"/>
          </p:cNvSpPr>
          <p:nvPr>
            <p:ph type="title"/>
          </p:nvPr>
        </p:nvSpPr>
        <p:spPr>
          <a:xfrm>
            <a:off x="486000" y="550723"/>
            <a:ext cx="8172000" cy="338554"/>
          </a:xfrm>
        </p:spPr>
        <p:txBody>
          <a:bodyPr/>
          <a:lstStyle/>
          <a:p>
            <a:r>
              <a:rPr lang="zh-CN" altLang="en-US" dirty="0"/>
              <a:t>拥塞控制与流量控制的区别</a:t>
            </a:r>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23"/>
          <p:cNvGrpSpPr>
            <a:grpSpLocks/>
          </p:cNvGrpSpPr>
          <p:nvPr/>
        </p:nvGrpSpPr>
        <p:grpSpPr bwMode="auto">
          <a:xfrm>
            <a:off x="1727122" y="2465424"/>
            <a:ext cx="4605001" cy="1692477"/>
            <a:chOff x="651" y="2544"/>
            <a:chExt cx="3908"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nvGrpSpPr>
            <p:cNvPr id="64" name="Group 26"/>
            <p:cNvGrpSpPr>
              <a:grpSpLocks/>
            </p:cNvGrpSpPr>
            <p:nvPr/>
          </p:nvGrpSpPr>
          <p:grpSpPr bwMode="auto">
            <a:xfrm>
              <a:off x="651" y="2544"/>
              <a:ext cx="3908" cy="1556"/>
              <a:chOff x="651" y="2544"/>
              <a:chExt cx="3908" cy="1556"/>
            </a:xfrm>
          </p:grpSpPr>
          <p:grpSp>
            <p:nvGrpSpPr>
              <p:cNvPr id="65" name="Group 27"/>
              <p:cNvGrpSpPr>
                <a:grpSpLocks/>
              </p:cNvGrpSpPr>
              <p:nvPr/>
            </p:nvGrpSpPr>
            <p:grpSpPr bwMode="auto">
              <a:xfrm>
                <a:off x="651" y="2544"/>
                <a:ext cx="3908" cy="1252"/>
                <a:chOff x="651" y="2544"/>
                <a:chExt cx="3908"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0" name="Text Box 30"/>
                <p:cNvSpPr txBox="1">
                  <a:spLocks noChangeArrowheads="1"/>
                </p:cNvSpPr>
                <p:nvPr/>
              </p:nvSpPr>
              <p:spPr bwMode="auto">
                <a:xfrm>
                  <a:off x="3532" y="2544"/>
                  <a:ext cx="1027"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66"/>
                      </a:solidFill>
                      <a:latin typeface="微软雅黑" pitchFamily="34" charset="-122"/>
                      <a:ea typeface="微软雅黑"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dirty="0">
                    <a:latin typeface="微软雅黑" pitchFamily="34" charset="-122"/>
                    <a:ea typeface="微软雅黑" pitchFamily="34" charset="-122"/>
                  </a:rPr>
                  <a:t>轻度</a:t>
                </a:r>
              </a:p>
              <a:p>
                <a:pPr algn="ctr" eaLnBrk="1" hangingPunct="1"/>
                <a:r>
                  <a:rPr lang="zh-CN" altLang="en-US" sz="1400" dirty="0">
                    <a:latin typeface="微软雅黑" pitchFamily="34" charset="-122"/>
                    <a:ea typeface="微软雅黑" pitchFamily="34" charset="-122"/>
                  </a:rPr>
                  <a:t>拥塞</a:t>
                </a:r>
              </a:p>
            </p:txBody>
          </p:sp>
        </p:grpSp>
      </p:gr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7" name="Text Box 9"/>
            <p:cNvSpPr txBox="1">
              <a:spLocks noChangeArrowheads="1"/>
            </p:cNvSpPr>
            <p:nvPr/>
          </p:nvSpPr>
          <p:spPr bwMode="auto">
            <a:xfrm>
              <a:off x="2901" y="1764"/>
              <a:ext cx="1376"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C00CC"/>
                  </a:solidFill>
                  <a:latin typeface="微软雅黑" pitchFamily="34" charset="-122"/>
                  <a:ea typeface="微软雅黑"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nvGrpSpPr>
            <p:cNvPr id="51" name="Group 13"/>
            <p:cNvGrpSpPr>
              <a:grpSpLocks/>
            </p:cNvGrpSpPr>
            <p:nvPr/>
          </p:nvGrpSpPr>
          <p:grpSpPr bwMode="auto">
            <a:xfrm>
              <a:off x="2451" y="2124"/>
              <a:ext cx="1376" cy="439"/>
              <a:chOff x="2451" y="2124"/>
              <a:chExt cx="1376" cy="439"/>
            </a:xfrm>
          </p:grpSpPr>
          <p:sp>
            <p:nvSpPr>
              <p:cNvPr id="52" name="Text Box 14"/>
              <p:cNvSpPr txBox="1">
                <a:spLocks noChangeArrowheads="1"/>
              </p:cNvSpPr>
              <p:nvPr/>
            </p:nvSpPr>
            <p:spPr bwMode="auto">
              <a:xfrm>
                <a:off x="2451" y="2124"/>
                <a:ext cx="1376" cy="311"/>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FF"/>
                    </a:solidFill>
                    <a:latin typeface="微软雅黑" pitchFamily="34" charset="-122"/>
                    <a:ea typeface="微软雅黑"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Text Box 17"/>
          <p:cNvSpPr txBox="1">
            <a:spLocks noChangeArrowheads="1"/>
          </p:cNvSpPr>
          <p:nvPr/>
        </p:nvSpPr>
        <p:spPr bwMode="auto">
          <a:xfrm>
            <a:off x="1442736" y="3422881"/>
            <a:ext cx="31130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600" dirty="0">
                <a:solidFill>
                  <a:srgbClr val="333399"/>
                </a:solidFill>
                <a:latin typeface="微软雅黑" pitchFamily="34" charset="-122"/>
                <a:ea typeface="微软雅黑" pitchFamily="34" charset="-122"/>
              </a:rPr>
              <a:t>0</a:t>
            </a:r>
          </a:p>
        </p:txBody>
      </p:sp>
      <p:grpSp>
        <p:nvGrpSpPr>
          <p:cNvPr id="56" name="Group 18"/>
          <p:cNvGrpSpPr>
            <a:grpSpLocks/>
          </p:cNvGrpSpPr>
          <p:nvPr/>
        </p:nvGrpSpPr>
        <p:grpSpPr bwMode="auto">
          <a:xfrm>
            <a:off x="4906315" y="2847212"/>
            <a:ext cx="2651294" cy="792941"/>
            <a:chOff x="3349" y="2890"/>
            <a:chExt cx="2250" cy="729"/>
          </a:xfrm>
        </p:grpSpPr>
        <p:grpSp>
          <p:nvGrpSpPr>
            <p:cNvPr id="57" name="Group 19"/>
            <p:cNvGrpSpPr>
              <a:grpSpLocks/>
            </p:cNvGrpSpPr>
            <p:nvPr/>
          </p:nvGrpSpPr>
          <p:grpSpPr bwMode="auto">
            <a:xfrm>
              <a:off x="3477" y="2890"/>
              <a:ext cx="2122" cy="600"/>
              <a:chOff x="3477" y="2890"/>
              <a:chExt cx="2122" cy="600"/>
            </a:xfrm>
          </p:grpSpPr>
          <p:sp>
            <p:nvSpPr>
              <p:cNvPr id="59" name="Text Box 20"/>
              <p:cNvSpPr txBox="1">
                <a:spLocks noChangeArrowheads="1"/>
              </p:cNvSpPr>
              <p:nvPr/>
            </p:nvSpPr>
            <p:spPr bwMode="auto">
              <a:xfrm>
                <a:off x="3881" y="2890"/>
                <a:ext cx="1718"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00000"/>
                    </a:solidFill>
                    <a:latin typeface="微软雅黑" pitchFamily="34" charset="-122"/>
                    <a:ea typeface="微软雅黑" pitchFamily="34" charset="-122"/>
                  </a:rPr>
                  <a:t>死锁（吞吐量 </a:t>
                </a:r>
                <a:r>
                  <a:rPr lang="en-US" altLang="zh-CN" sz="1600" dirty="0">
                    <a:solidFill>
                      <a:srgbClr val="C00000"/>
                    </a:solidFill>
                    <a:latin typeface="微软雅黑" pitchFamily="34" charset="-122"/>
                    <a:ea typeface="微软雅黑" pitchFamily="34" charset="-122"/>
                  </a:rPr>
                  <a:t>= 0</a:t>
                </a:r>
                <a:r>
                  <a:rPr lang="zh-CN" altLang="en-US" sz="1600" dirty="0">
                    <a:solidFill>
                      <a:srgbClr val="C00000"/>
                    </a:solidFill>
                    <a:latin typeface="微软雅黑" pitchFamily="34" charset="-122"/>
                    <a:ea typeface="微软雅黑"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C0E458C-CF8D-1C39-69ED-302644E2F4C2}"/>
              </a:ext>
            </a:extLst>
          </p:cNvPr>
          <p:cNvSpPr>
            <a:spLocks noGrp="1"/>
          </p:cNvSpPr>
          <p:nvPr>
            <p:ph type="title"/>
          </p:nvPr>
        </p:nvSpPr>
        <p:spPr>
          <a:xfrm>
            <a:off x="486000" y="550723"/>
            <a:ext cx="8172000" cy="338554"/>
          </a:xfrm>
        </p:spPr>
        <p:txBody>
          <a:bodyPr/>
          <a:lstStyle/>
          <a:p>
            <a:r>
              <a:rPr lang="zh-CN" altLang="en-US" dirty="0"/>
              <a:t>拥塞控制所起的作用</a:t>
            </a:r>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a:xfrm>
            <a:off x="486000" y="900000"/>
            <a:ext cx="8172000" cy="3703500"/>
          </a:xfrm>
        </p:spPr>
        <p:txBody>
          <a:bodyPr/>
          <a:lstStyle/>
          <a:p>
            <a:r>
              <a:rPr lang="zh-CN" altLang="en-US" dirty="0"/>
              <a:t>拥塞控制的前提：网络能够承受现有的网络负荷。</a:t>
            </a:r>
            <a:endParaRPr lang="en-US" altLang="zh-CN" dirty="0"/>
          </a:p>
          <a:p>
            <a:r>
              <a:rPr lang="zh-CN" altLang="en-US" dirty="0"/>
              <a:t>实践证明，拥塞控制是很难设计的，因为它是一个动态问题。</a:t>
            </a:r>
          </a:p>
          <a:p>
            <a:r>
              <a:rPr lang="zh-CN" altLang="en-US" dirty="0"/>
              <a:t>分组的丢失是网络发生拥塞的征兆，而不是原因。</a:t>
            </a:r>
          </a:p>
          <a:p>
            <a:r>
              <a:rPr lang="zh-CN" altLang="en-US" dirty="0"/>
              <a:t>在许多情况下，甚至正是拥塞控制本身成为引起网络性能恶化、甚至发生死锁的原因。</a:t>
            </a:r>
          </a:p>
          <a:p>
            <a:endParaRPr lang="zh-CN" altLang="en-US" dirty="0"/>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486000" y="550723"/>
            <a:ext cx="8172000" cy="338554"/>
          </a:xfrm>
        </p:spPr>
        <p:txBody>
          <a:bodyPr/>
          <a:lstStyle/>
          <a:p>
            <a:r>
              <a:rPr lang="zh-CN" altLang="en-US" dirty="0"/>
              <a:t>拥塞控制的一般原理</a:t>
            </a:r>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图示 12"/>
          <p:cNvGraphicFramePr/>
          <p:nvPr>
            <p:extLst>
              <p:ext uri="{D42A27DB-BD31-4B8C-83A1-F6EECF244321}">
                <p14:modId xmlns:p14="http://schemas.microsoft.com/office/powerpoint/2010/main" val="368467618"/>
              </p:ext>
            </p:extLst>
          </p:nvPr>
        </p:nvGraphicFramePr>
        <p:xfrm>
          <a:off x="1062087" y="1042332"/>
          <a:ext cx="7110952" cy="27378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C731252-D192-BAF5-6F74-2658026BD46C}"/>
              </a:ext>
            </a:extLst>
          </p:cNvPr>
          <p:cNvSpPr>
            <a:spLocks noGrp="1"/>
          </p:cNvSpPr>
          <p:nvPr>
            <p:ph type="title"/>
          </p:nvPr>
        </p:nvSpPr>
        <p:spPr>
          <a:xfrm>
            <a:off x="486000" y="550723"/>
            <a:ext cx="8172000" cy="338554"/>
          </a:xfrm>
        </p:spPr>
        <p:txBody>
          <a:bodyPr/>
          <a:lstStyle/>
          <a:p>
            <a:r>
              <a:rPr lang="zh-CN" altLang="en-US" dirty="0"/>
              <a:t>开环控制和闭环控制</a:t>
            </a:r>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406505213"/>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DEB1ADA9-363C-ABF9-EE21-2CDB0933B504}"/>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主要指标有：</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平均队列长度；</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超时重传的分组数；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平均分组时延；</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分组时延的标准差，等等。</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这些指标的上升都标志着拥塞的增长。</a:t>
            </a:r>
          </a:p>
        </p:txBody>
      </p:sp>
      <p:sp>
        <p:nvSpPr>
          <p:cNvPr id="4" name="标题 3">
            <a:extLst>
              <a:ext uri="{FF2B5EF4-FFF2-40B4-BE49-F238E27FC236}">
                <a16:creationId xmlns:a16="http://schemas.microsoft.com/office/drawing/2014/main" id="{6AA3CC6C-A7CA-CF61-4A4D-E6F8E22160DD}"/>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4" name="标题 3">
            <a:extLst>
              <a:ext uri="{FF2B5EF4-FFF2-40B4-BE49-F238E27FC236}">
                <a16:creationId xmlns:a16="http://schemas.microsoft.com/office/drawing/2014/main" id="{B8654CCE-1278-D2CF-12D6-942618BB19FF}"/>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4" name="标题 3">
            <a:extLst>
              <a:ext uri="{FF2B5EF4-FFF2-40B4-BE49-F238E27FC236}">
                <a16:creationId xmlns:a16="http://schemas.microsoft.com/office/drawing/2014/main" id="{FA77A60E-F80B-D74A-B511-3D74FB29D4E2}"/>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矩形 39"/>
          <p:cNvSpPr/>
          <p:nvPr/>
        </p:nvSpPr>
        <p:spPr>
          <a:xfrm>
            <a:off x="556963" y="3686475"/>
            <a:ext cx="8048776" cy="499026"/>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真正的发送窗口值 </a:t>
            </a:r>
            <a:r>
              <a:rPr lang="en-US" altLang="zh-CN" sz="2000" b="1" dirty="0">
                <a:latin typeface="微软雅黑" pitchFamily="34" charset="-122"/>
                <a:ea typeface="微软雅黑" pitchFamily="34" charset="-122"/>
              </a:rPr>
              <a:t>= Min (</a:t>
            </a:r>
            <a:r>
              <a:rPr lang="zh-CN" altLang="en-US" sz="2000" b="1" dirty="0">
                <a:latin typeface="微软雅黑" pitchFamily="34" charset="-122"/>
                <a:ea typeface="微软雅黑" pitchFamily="34" charset="-122"/>
              </a:rPr>
              <a:t>接收方通知的窗口值，拥塞窗口值</a:t>
            </a:r>
            <a:r>
              <a:rPr lang="en-US" altLang="zh-CN" sz="2000" b="1" dirty="0">
                <a:latin typeface="微软雅黑" pitchFamily="34" charset="-122"/>
                <a:ea typeface="微软雅黑"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采用基于滑动窗口的方法进行拥塞控制，属于闭环控制方法。</a:t>
            </a:r>
          </a:p>
          <a:p>
            <a:r>
              <a:rPr lang="en-US" altLang="zh-CN" dirty="0"/>
              <a:t>TCP </a:t>
            </a:r>
            <a:r>
              <a:rPr lang="zh-CN" altLang="en-US" dirty="0"/>
              <a:t>发送方维持一个拥塞窗口 </a:t>
            </a:r>
            <a:r>
              <a:rPr lang="en-US" altLang="zh-CN" dirty="0" err="1"/>
              <a:t>cwnd</a:t>
            </a:r>
            <a:r>
              <a:rPr lang="en-US" altLang="zh-CN" dirty="0"/>
              <a:t> (Congestion Window)</a:t>
            </a:r>
          </a:p>
          <a:p>
            <a:r>
              <a:rPr lang="zh-CN" altLang="en-US" dirty="0"/>
              <a:t>拥塞窗口的大小取决于网络的拥塞程度，并且是动态变化的。</a:t>
            </a:r>
            <a:endParaRPr lang="en-US" altLang="zh-CN" dirty="0"/>
          </a:p>
          <a:p>
            <a:r>
              <a:rPr lang="zh-CN" altLang="en-US" dirty="0"/>
              <a:t>发送端利用拥塞窗口根据网络的拥塞情况调整发送的数据量。</a:t>
            </a:r>
            <a:endParaRPr lang="en-US" altLang="zh-CN" dirty="0"/>
          </a:p>
          <a:p>
            <a:r>
              <a:rPr lang="zh-CN" altLang="en-US" dirty="0"/>
              <a:t>发送窗口大小不仅取决于接收方窗口，还取决于网络的拥塞状况。</a:t>
            </a:r>
            <a:endParaRPr lang="en-US" altLang="zh-CN" dirty="0"/>
          </a:p>
          <a:p>
            <a:r>
              <a:rPr lang="zh-CN" altLang="en-US" dirty="0"/>
              <a:t>真正的发送窗口值：</a:t>
            </a:r>
          </a:p>
          <a:p>
            <a:endParaRPr lang="zh-CN" altLang="en-US" dirty="0"/>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486000" y="550723"/>
            <a:ext cx="8172000" cy="338554"/>
          </a:xfrm>
        </p:spPr>
        <p:txBody>
          <a:bodyPr/>
          <a:lstStyle/>
          <a:p>
            <a:r>
              <a:rPr lang="en-US" altLang="zh-CN" dirty="0"/>
              <a:t>5.8.2  TCP </a:t>
            </a:r>
            <a:r>
              <a:rPr lang="zh-CN" altLang="en-US" dirty="0"/>
              <a:t>的拥塞控制方法</a:t>
            </a:r>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a:xfrm>
            <a:off x="486000" y="900000"/>
            <a:ext cx="8172000" cy="3703500"/>
          </a:xfrm>
        </p:spPr>
        <p:txBody>
          <a:bodyPr/>
          <a:lstStyle/>
          <a:p>
            <a:r>
              <a:rPr lang="zh-CN" altLang="en-US" dirty="0"/>
              <a:t>只要网络没有出现拥塞，拥塞窗口就可以再增大一些，以便把更多的分组发送出去，提高网络的利用率。</a:t>
            </a:r>
          </a:p>
          <a:p>
            <a:r>
              <a:rPr lang="zh-CN" altLang="en-US" dirty="0"/>
              <a:t>但只要网络出现拥塞或有可能出现拥塞，就必须把拥塞窗口减小一些，以减少注入到网络中的分组数，缓解网络出现的拥塞。</a:t>
            </a:r>
          </a:p>
          <a:p>
            <a:endParaRPr lang="zh-CN" altLang="en-US" dirty="0"/>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486000" y="550723"/>
            <a:ext cx="8172000" cy="338554"/>
          </a:xfrm>
        </p:spPr>
        <p:txBody>
          <a:bodyPr/>
          <a:lstStyle/>
          <a:p>
            <a:r>
              <a:rPr lang="zh-CN" altLang="en-US" dirty="0"/>
              <a:t>控制拥塞窗口变化的原则</a:t>
            </a:r>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61774"/>
          </a:xfrm>
          <a:prstGeom prst="rect">
            <a:avLst/>
          </a:prstGeom>
        </p:spPr>
        <p:txBody>
          <a:bodyPr wrap="square">
            <a:spAutoFit/>
          </a:bodyPr>
          <a:lstStyle/>
          <a:p>
            <a:pPr>
              <a:lnSpc>
                <a:spcPts val="3000"/>
              </a:lnSpc>
            </a:pPr>
            <a:r>
              <a:rPr lang="zh-CN" altLang="en-US" b="1" dirty="0">
                <a:latin typeface="微软雅黑" panose="020B0503020204020204" pitchFamily="34" charset="-122"/>
                <a:ea typeface="微软雅黑" panose="020B0503020204020204" pitchFamily="34" charset="-122"/>
              </a:rPr>
              <a:t>因传输出差错而丢弃分组的</a:t>
            </a:r>
            <a:r>
              <a:rPr lang="zh-CN" altLang="en-US" b="1" dirty="0">
                <a:solidFill>
                  <a:srgbClr val="C00000"/>
                </a:solidFill>
                <a:latin typeface="微软雅黑" panose="020B0503020204020204" pitchFamily="34" charset="-122"/>
                <a:ea typeface="微软雅黑" panose="020B0503020204020204" pitchFamily="34" charset="-122"/>
              </a:rPr>
              <a:t>概率很小</a:t>
            </a:r>
            <a:r>
              <a:rPr lang="zh-CN" altLang="en-US" b="1" dirty="0">
                <a:latin typeface="微软雅黑" panose="020B0503020204020204" pitchFamily="34" charset="-122"/>
                <a:ea typeface="微软雅黑" panose="020B0503020204020204" pitchFamily="34" charset="-122"/>
              </a:rPr>
              <a:t>（远小于</a:t>
            </a:r>
            <a:r>
              <a:rPr lang="en-US" altLang="zh-CN" b="1" dirty="0">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a:t>
            </a:r>
            <a:endParaRPr lang="en-US" altLang="zh-CN" b="1" dirty="0">
              <a:latin typeface="微软雅黑" panose="020B0503020204020204" pitchFamily="34" charset="-122"/>
              <a:ea typeface="微软雅黑" panose="020B0503020204020204" pitchFamily="34" charset="-122"/>
            </a:endParaRPr>
          </a:p>
          <a:p>
            <a:pPr>
              <a:lnSpc>
                <a:spcPts val="3000"/>
              </a:lnSpc>
            </a:pPr>
            <a:r>
              <a:rPr lang="zh-CN" altLang="en-US" b="1" dirty="0">
                <a:latin typeface="微软雅黑" panose="020B0503020204020204" pitchFamily="34" charset="-122"/>
                <a:ea typeface="微软雅黑" panose="020B0503020204020204" pitchFamily="34" charset="-122"/>
              </a:rPr>
              <a:t>因此，发送方在超时重传计时器启动时，</a:t>
            </a:r>
            <a:r>
              <a:rPr lang="zh-CN" altLang="en-US" b="1" dirty="0">
                <a:solidFill>
                  <a:srgbClr val="C00000"/>
                </a:solidFill>
                <a:latin typeface="微软雅黑" panose="020B0503020204020204" pitchFamily="34" charset="-122"/>
                <a:ea typeface="微软雅黑" panose="020B0503020204020204" pitchFamily="34" charset="-122"/>
              </a:rPr>
              <a:t>就判断网络出现了拥塞。</a:t>
            </a:r>
          </a:p>
        </p:txBody>
      </p:sp>
      <p:sp>
        <p:nvSpPr>
          <p:cNvPr id="3" name="标题 2">
            <a:extLst>
              <a:ext uri="{FF2B5EF4-FFF2-40B4-BE49-F238E27FC236}">
                <a16:creationId xmlns:a16="http://schemas.microsoft.com/office/drawing/2014/main" id="{495D013B-2310-E411-41E9-EFB63C1687A1}"/>
              </a:ext>
            </a:extLst>
          </p:cNvPr>
          <p:cNvSpPr>
            <a:spLocks noGrp="1"/>
          </p:cNvSpPr>
          <p:nvPr>
            <p:ph type="title"/>
          </p:nvPr>
        </p:nvSpPr>
        <p:spPr>
          <a:xfrm>
            <a:off x="486000" y="550723"/>
            <a:ext cx="8172000" cy="338554"/>
          </a:xfrm>
        </p:spPr>
        <p:txBody>
          <a:bodyPr/>
          <a:lstStyle/>
          <a:p>
            <a:r>
              <a:rPr lang="zh-CN" altLang="en-US" dirty="0"/>
              <a:t>发送方判断拥塞的方法：隐式反馈</a:t>
            </a:r>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a:xfrm>
            <a:off x="486000" y="900000"/>
            <a:ext cx="8172000" cy="3703500"/>
          </a:xfrm>
        </p:spPr>
        <p:txBody>
          <a:bodyPr/>
          <a:lstStyle/>
          <a:p>
            <a:r>
              <a:rPr lang="zh-CN" altLang="en-US" dirty="0"/>
              <a:t>四种拥塞控制算法（ </a:t>
            </a:r>
            <a:r>
              <a:rPr lang="en-US" altLang="zh-CN" dirty="0"/>
              <a:t>RFC 5681</a:t>
            </a:r>
            <a:r>
              <a:rPr lang="zh-CN" altLang="en-US" dirty="0"/>
              <a:t>） ：</a:t>
            </a:r>
          </a:p>
          <a:p>
            <a:r>
              <a:rPr lang="zh-CN" altLang="en-US" dirty="0"/>
              <a:t>慢开始 </a:t>
            </a:r>
            <a:r>
              <a:rPr lang="en-US" altLang="zh-CN" dirty="0"/>
              <a:t>(slow-start)</a:t>
            </a:r>
          </a:p>
          <a:p>
            <a:r>
              <a:rPr lang="zh-CN" altLang="en-US" dirty="0"/>
              <a:t>拥塞避免 </a:t>
            </a:r>
            <a:r>
              <a:rPr lang="en-US" altLang="zh-CN" dirty="0"/>
              <a:t>(congestion avoidance)</a:t>
            </a:r>
          </a:p>
          <a:p>
            <a:r>
              <a:rPr lang="zh-CN" altLang="en-US" dirty="0"/>
              <a:t>快重传 </a:t>
            </a:r>
            <a:r>
              <a:rPr lang="en-US" altLang="zh-CN" dirty="0"/>
              <a:t>(fast retransmit)</a:t>
            </a:r>
          </a:p>
          <a:p>
            <a:r>
              <a:rPr lang="zh-CN" altLang="en-US" dirty="0"/>
              <a:t>快恢复 </a:t>
            </a:r>
            <a:r>
              <a:rPr lang="en-US" altLang="zh-CN" dirty="0"/>
              <a:t>(fast recovery)</a:t>
            </a:r>
          </a:p>
          <a:p>
            <a:endParaRPr lang="zh-CN" altLang="en-US" dirty="0"/>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486000" y="550723"/>
            <a:ext cx="8172000" cy="338554"/>
          </a:xfrm>
        </p:spPr>
        <p:txBody>
          <a:bodyPr/>
          <a:lstStyle/>
          <a:p>
            <a:r>
              <a:rPr lang="en-US" altLang="zh-CN" dirty="0"/>
              <a:t>TCP </a:t>
            </a:r>
            <a:r>
              <a:rPr lang="zh-CN" altLang="en-US" dirty="0"/>
              <a:t>拥塞控制算法</a:t>
            </a:r>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a:xfrm>
            <a:off x="486000" y="900000"/>
            <a:ext cx="8172000" cy="3703500"/>
          </a:xfrm>
        </p:spPr>
        <p:txBody>
          <a:bodyPr/>
          <a:lstStyle/>
          <a:p>
            <a:r>
              <a:rPr lang="zh-CN" altLang="en-US" dirty="0"/>
              <a:t>目的：探测网络的负载能力或拥塞程度。</a:t>
            </a:r>
          </a:p>
          <a:p>
            <a:r>
              <a:rPr lang="zh-CN" altLang="en-US" dirty="0"/>
              <a:t>算法：由小到大逐渐增大注入到网络中的数据字节，即：由小到大逐渐增大拥塞窗口数值。</a:t>
            </a:r>
            <a:endParaRPr lang="en-US" altLang="zh-CN" dirty="0"/>
          </a:p>
          <a:p>
            <a:r>
              <a:rPr lang="en-US" altLang="zh-CN" dirty="0"/>
              <a:t>2 </a:t>
            </a:r>
            <a:r>
              <a:rPr lang="zh-CN" altLang="en-US" dirty="0"/>
              <a:t>个控制变量：</a:t>
            </a:r>
          </a:p>
          <a:p>
            <a:endParaRPr lang="zh-CN" altLang="en-US" dirty="0"/>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486000" y="550723"/>
            <a:ext cx="8172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矩形 38"/>
          <p:cNvSpPr/>
          <p:nvPr/>
        </p:nvSpPr>
        <p:spPr>
          <a:xfrm>
            <a:off x="1042543" y="2261782"/>
            <a:ext cx="7213799" cy="57568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b="1" dirty="0">
                <a:latin typeface="微软雅黑" pitchFamily="34" charset="-122"/>
                <a:ea typeface="微软雅黑" pitchFamily="34" charset="-122"/>
              </a:rPr>
              <a:t>拥塞窗口 </a:t>
            </a:r>
            <a:r>
              <a:rPr lang="en-US" altLang="zh-CN" b="1" dirty="0" err="1">
                <a:latin typeface="微软雅黑" pitchFamily="34" charset="-122"/>
                <a:ea typeface="微软雅黑" pitchFamily="34" charset="-122"/>
              </a:rPr>
              <a:t>cwnd</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每次的增加量 </a:t>
            </a:r>
            <a:r>
              <a:rPr lang="en-US" altLang="zh-CN" b="1" dirty="0">
                <a:latin typeface="微软雅黑" pitchFamily="34" charset="-122"/>
                <a:ea typeface="微软雅黑" pitchFamily="34" charset="-122"/>
              </a:rPr>
              <a:t>= min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SMSS)          (5-8)</a:t>
            </a:r>
          </a:p>
        </p:txBody>
      </p:sp>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a:xfrm>
            <a:off x="486000" y="900000"/>
            <a:ext cx="8172000" cy="3703500"/>
          </a:xfrm>
        </p:spPr>
        <p:txBody>
          <a:bodyPr/>
          <a:lstStyle/>
          <a:p>
            <a:r>
              <a:rPr lang="zh-CN" altLang="en-US" dirty="0"/>
              <a:t>拥塞窗口 </a:t>
            </a:r>
            <a:r>
              <a:rPr lang="en-US" altLang="zh-CN" dirty="0" err="1"/>
              <a:t>cwnd</a:t>
            </a:r>
            <a:r>
              <a:rPr lang="en-US" altLang="zh-CN" dirty="0"/>
              <a:t> </a:t>
            </a:r>
            <a:r>
              <a:rPr lang="zh-CN" altLang="en-US" dirty="0"/>
              <a:t>增大：在每收到一个对新的报文段的确认，就把拥塞窗口增加最多一个发送方的最大报文段 </a:t>
            </a:r>
            <a:r>
              <a:rPr lang="en-US" altLang="zh-CN" dirty="0"/>
              <a:t>SMSS  (Sender Maximum Segment Size) </a:t>
            </a:r>
            <a:r>
              <a:rPr lang="zh-CN" altLang="en-US" dirty="0"/>
              <a:t>的数值。</a:t>
            </a:r>
          </a:p>
          <a:p>
            <a:r>
              <a:rPr lang="zh-CN" altLang="en-US" dirty="0"/>
              <a:t>其中 </a:t>
            </a:r>
            <a:r>
              <a:rPr lang="en-US" altLang="zh-CN" dirty="0"/>
              <a:t>N </a:t>
            </a:r>
            <a:r>
              <a:rPr lang="zh-CN" altLang="en-US" dirty="0"/>
              <a:t>是原先未被确认的、但现在被刚收到的确认报文段所确认的字节数。</a:t>
            </a:r>
          </a:p>
          <a:p>
            <a:endParaRPr lang="zh-CN" altLang="en-US" dirty="0"/>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486000" y="550723"/>
            <a:ext cx="8172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360605" y="1224875"/>
            <a:ext cx="2592000" cy="41801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 1</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p>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SSTH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n</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8" name="矩形 7"/>
          <p:cNvSpPr/>
          <p:nvPr/>
        </p:nvSpPr>
        <p:spPr>
          <a:xfrm>
            <a:off x="5736553" y="3635415"/>
            <a:ext cx="1765717" cy="41801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执行拥塞避免算法</a:t>
            </a:r>
          </a:p>
        </p:txBody>
      </p:sp>
      <p:cxnSp>
        <p:nvCxnSpPr>
          <p:cNvPr id="11" name="直接箭头连接符 10"/>
          <p:cNvCxnSpPr>
            <a:stCxn id="2" idx="2"/>
            <a:endCxn id="27" idx="0"/>
          </p:cNvCxnSpPr>
          <p:nvPr/>
        </p:nvCxnSpPr>
        <p:spPr>
          <a:xfrm>
            <a:off x="3656605" y="1642886"/>
            <a:ext cx="0" cy="354264"/>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3656605" y="2283488"/>
            <a:ext cx="0" cy="281668"/>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3656605" y="3286248"/>
            <a:ext cx="0" cy="287119"/>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3" name="直接箭头连接符 42"/>
          <p:cNvCxnSpPr>
            <a:stCxn id="42" idx="3"/>
            <a:endCxn id="8" idx="1"/>
          </p:cNvCxnSpPr>
          <p:nvPr/>
        </p:nvCxnSpPr>
        <p:spPr>
          <a:xfrm flipV="1">
            <a:off x="4952605" y="3844421"/>
            <a:ext cx="783948" cy="1"/>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009700" y="3594889"/>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是</a:t>
            </a:r>
          </a:p>
        </p:txBody>
      </p:sp>
      <p:sp>
        <p:nvSpPr>
          <p:cNvPr id="48" name="TextBox 47"/>
          <p:cNvSpPr txBox="1"/>
          <p:nvPr/>
        </p:nvSpPr>
        <p:spPr>
          <a:xfrm>
            <a:off x="4942929" y="3595051"/>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否</a:t>
            </a:r>
          </a:p>
        </p:txBody>
      </p:sp>
      <p:sp>
        <p:nvSpPr>
          <p:cNvPr id="27" name="矩形 26"/>
          <p:cNvSpPr/>
          <p:nvPr/>
        </p:nvSpPr>
        <p:spPr>
          <a:xfrm>
            <a:off x="2360605" y="1997150"/>
            <a:ext cx="2592000" cy="286338"/>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发送报文段</a:t>
            </a:r>
          </a:p>
        </p:txBody>
      </p:sp>
      <p:sp>
        <p:nvSpPr>
          <p:cNvPr id="37" name="矩形 36"/>
          <p:cNvSpPr/>
          <p:nvPr/>
        </p:nvSpPr>
        <p:spPr>
          <a:xfrm>
            <a:off x="2360605" y="2565156"/>
            <a:ext cx="2592000" cy="72109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（重传定时器未超时）</a:t>
            </a:r>
            <a:endParaRPr lang="en-US" altLang="zh-CN" sz="1200" dirty="0">
              <a:solidFill>
                <a:sysClr val="windowText" lastClr="000000"/>
              </a:solidFill>
              <a:latin typeface="Montserrat" panose="00000500000000000000" pitchFamily="2" charset="0"/>
              <a:ea typeface="微软雅黑 Light" panose="020B0502040204020203" pitchFamily="34" charset="-122"/>
            </a:endParaRPr>
          </a:p>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每收到一个对新的报文段的确认</a:t>
            </a:r>
          </a:p>
          <a:p>
            <a:pPr algn="ctr">
              <a:lnSpc>
                <a:spcPts val="18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cwnd +1</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2" name="流程图: 决策 41"/>
          <p:cNvSpPr/>
          <p:nvPr/>
        </p:nvSpPr>
        <p:spPr>
          <a:xfrm>
            <a:off x="2360605" y="3573367"/>
            <a:ext cx="2592000" cy="542110"/>
          </a:xfrm>
          <a:prstGeom prst="flowChartDecis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cwnd &lt; SSTH</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9" name="矩形 8"/>
          <p:cNvSpPr/>
          <p:nvPr/>
        </p:nvSpPr>
        <p:spPr>
          <a:xfrm>
            <a:off x="4800205" y="1271450"/>
            <a:ext cx="3388665"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（假设发送方设置 </a:t>
            </a:r>
            <a:r>
              <a:rPr lang="en-US" altLang="zh-CN" sz="1200" dirty="0">
                <a:latin typeface="Montserrat" panose="00000500000000000000" pitchFamily="2" charset="0"/>
                <a:ea typeface="微软雅黑 Light" panose="020B0502040204020203" pitchFamily="34" charset="-122"/>
              </a:rPr>
              <a:t>cwnd = 1 </a:t>
            </a:r>
            <a:r>
              <a:rPr lang="zh-CN" altLang="en-US" sz="1200" dirty="0">
                <a:latin typeface="Montserrat" panose="00000500000000000000" pitchFamily="2" charset="0"/>
                <a:ea typeface="微软雅黑 Light" panose="020B0502040204020203" pitchFamily="34" charset="-122"/>
              </a:rPr>
              <a:t>个 </a:t>
            </a:r>
            <a:r>
              <a:rPr lang="en-US" altLang="zh-CN" sz="1200" dirty="0">
                <a:latin typeface="Montserrat" panose="00000500000000000000" pitchFamily="2" charset="0"/>
                <a:ea typeface="微软雅黑 Light" panose="020B0502040204020203" pitchFamily="34" charset="-122"/>
              </a:rPr>
              <a:t>SMSS</a:t>
            </a:r>
            <a:r>
              <a:rPr lang="zh-CN" altLang="en-US" sz="1200" dirty="0">
                <a:latin typeface="Montserrat" panose="00000500000000000000" pitchFamily="2" charset="0"/>
                <a:ea typeface="微软雅黑 Light" panose="020B0502040204020203" pitchFamily="34" charset="-122"/>
              </a:rPr>
              <a:t>）</a:t>
            </a:r>
          </a:p>
        </p:txBody>
      </p:sp>
      <p:sp>
        <p:nvSpPr>
          <p:cNvPr id="3" name="标题 2">
            <a:extLst>
              <a:ext uri="{FF2B5EF4-FFF2-40B4-BE49-F238E27FC236}">
                <a16:creationId xmlns:a16="http://schemas.microsoft.com/office/drawing/2014/main" id="{F1D38EF7-7D0E-6ED8-1C33-57A1FF6E2D86}"/>
              </a:ext>
            </a:extLst>
          </p:cNvPr>
          <p:cNvSpPr>
            <a:spLocks noGrp="1"/>
          </p:cNvSpPr>
          <p:nvPr>
            <p:ph type="title"/>
          </p:nvPr>
        </p:nvSpPr>
        <p:spPr>
          <a:xfrm>
            <a:off x="486000" y="550723"/>
            <a:ext cx="8172000" cy="338554"/>
          </a:xfrm>
        </p:spPr>
        <p:txBody>
          <a:bodyPr/>
          <a:lstStyle/>
          <a:p>
            <a:r>
              <a:rPr lang="en-US" altLang="zh-CN" dirty="0"/>
              <a:t>1. </a:t>
            </a:r>
            <a:r>
              <a:rPr lang="zh-CN" altLang="en-US" dirty="0"/>
              <a:t>慢开始 </a:t>
            </a:r>
            <a:r>
              <a:rPr lang="en-US" altLang="zh-CN" dirty="0"/>
              <a:t>(Slow start)</a:t>
            </a:r>
            <a:endParaRPr lang="zh-CN" altLang="en-US" dirty="0"/>
          </a:p>
        </p:txBody>
      </p:sp>
      <p:cxnSp>
        <p:nvCxnSpPr>
          <p:cNvPr id="14" name="连接符: 肘形 13">
            <a:extLst>
              <a:ext uri="{FF2B5EF4-FFF2-40B4-BE49-F238E27FC236}">
                <a16:creationId xmlns:a16="http://schemas.microsoft.com/office/drawing/2014/main" id="{826859FF-45E2-532D-7865-0C81A7DFA3FA}"/>
              </a:ext>
            </a:extLst>
          </p:cNvPr>
          <p:cNvCxnSpPr>
            <a:cxnSpLocks/>
            <a:stCxn id="42" idx="1"/>
          </p:cNvCxnSpPr>
          <p:nvPr/>
        </p:nvCxnSpPr>
        <p:spPr>
          <a:xfrm rot="10800000" flipH="1">
            <a:off x="2360605" y="1777248"/>
            <a:ext cx="1283300" cy="2067175"/>
          </a:xfrm>
          <a:prstGeom prst="bentConnector4">
            <a:avLst>
              <a:gd name="adj1" fmla="val -71627"/>
              <a:gd name="adj2" fmla="val 10048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 Box 155"/>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
        <p:nvSpPr>
          <p:cNvPr id="117" name="Rectangle 3"/>
          <p:cNvSpPr>
            <a:spLocks noChangeArrowheads="1"/>
          </p:cNvSpPr>
          <p:nvPr/>
        </p:nvSpPr>
        <p:spPr bwMode="auto">
          <a:xfrm>
            <a:off x="3613957" y="2904955"/>
            <a:ext cx="3600000" cy="885249"/>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8" name="Rectangle 4"/>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121" name="Text Box 7"/>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122" name="Line 8"/>
          <p:cNvSpPr>
            <a:spLocks noChangeShapeType="1"/>
          </p:cNvSpPr>
          <p:nvPr/>
        </p:nvSpPr>
        <p:spPr bwMode="auto">
          <a:xfrm>
            <a:off x="3613957" y="1788558"/>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3" name="Line 9"/>
          <p:cNvSpPr>
            <a:spLocks noChangeShapeType="1"/>
          </p:cNvSpPr>
          <p:nvPr/>
        </p:nvSpPr>
        <p:spPr bwMode="auto">
          <a:xfrm>
            <a:off x="3613957" y="229921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5" name="Text Box 11"/>
          <p:cNvSpPr txBox="1">
            <a:spLocks noChangeArrowheads="1"/>
          </p:cNvSpPr>
          <p:nvPr/>
        </p:nvSpPr>
        <p:spPr bwMode="auto">
          <a:xfrm>
            <a:off x="5322980" y="187118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26" name="Line 12"/>
          <p:cNvSpPr>
            <a:spLocks noChangeShapeType="1"/>
          </p:cNvSpPr>
          <p:nvPr/>
        </p:nvSpPr>
        <p:spPr bwMode="auto">
          <a:xfrm>
            <a:off x="3613957" y="3855202"/>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9" name="Line 15"/>
          <p:cNvSpPr>
            <a:spLocks noChangeShapeType="1"/>
          </p:cNvSpPr>
          <p:nvPr/>
        </p:nvSpPr>
        <p:spPr bwMode="auto">
          <a:xfrm>
            <a:off x="3613957"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0" name="Line 16"/>
          <p:cNvSpPr>
            <a:spLocks noChangeShapeType="1"/>
          </p:cNvSpPr>
          <p:nvPr/>
        </p:nvSpPr>
        <p:spPr bwMode="auto">
          <a:xfrm>
            <a:off x="5322980"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1" name="Text Box 17"/>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32" name="Line 18"/>
          <p:cNvSpPr>
            <a:spLocks noChangeShapeType="1"/>
          </p:cNvSpPr>
          <p:nvPr/>
        </p:nvSpPr>
        <p:spPr bwMode="auto">
          <a:xfrm>
            <a:off x="3613957" y="246397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3" name="Text Box 19"/>
          <p:cNvSpPr txBox="1">
            <a:spLocks noChangeArrowheads="1"/>
          </p:cNvSpPr>
          <p:nvPr/>
        </p:nvSpPr>
        <p:spPr bwMode="auto">
          <a:xfrm>
            <a:off x="5322980" y="24024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6" name="Text Box 22"/>
          <p:cNvSpPr txBox="1">
            <a:spLocks noChangeArrowheads="1"/>
          </p:cNvSpPr>
          <p:nvPr/>
        </p:nvSpPr>
        <p:spPr bwMode="auto">
          <a:xfrm>
            <a:off x="2578097" y="273405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sp>
        <p:nvSpPr>
          <p:cNvPr id="137" name="Text Box 23"/>
          <p:cNvSpPr txBox="1">
            <a:spLocks noChangeArrowheads="1"/>
          </p:cNvSpPr>
          <p:nvPr/>
        </p:nvSpPr>
        <p:spPr bwMode="auto">
          <a:xfrm>
            <a:off x="5322980" y="3016431"/>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2" name="Text Box 28"/>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143" name="Text Box 29"/>
          <p:cNvSpPr txBox="1">
            <a:spLocks noChangeArrowheads="1"/>
          </p:cNvSpPr>
          <p:nvPr/>
        </p:nvSpPr>
        <p:spPr bwMode="auto">
          <a:xfrm>
            <a:off x="1729480" y="2734052"/>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144" name="Text Box 30"/>
          <p:cNvSpPr txBox="1">
            <a:spLocks noChangeArrowheads="1"/>
          </p:cNvSpPr>
          <p:nvPr/>
        </p:nvSpPr>
        <p:spPr bwMode="auto">
          <a:xfrm>
            <a:off x="2538021" y="3796877"/>
            <a:ext cx="1075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8</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15</a:t>
            </a:r>
          </a:p>
        </p:txBody>
      </p:sp>
      <p:sp>
        <p:nvSpPr>
          <p:cNvPr id="146" name="Text Box 32"/>
          <p:cNvSpPr txBox="1">
            <a:spLocks noChangeArrowheads="1"/>
          </p:cNvSpPr>
          <p:nvPr/>
        </p:nvSpPr>
        <p:spPr bwMode="auto">
          <a:xfrm rot="5400000">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147" name="Line 33"/>
          <p:cNvSpPr>
            <a:spLocks noChangeShapeType="1"/>
          </p:cNvSpPr>
          <p:nvPr/>
        </p:nvSpPr>
        <p:spPr bwMode="auto">
          <a:xfrm>
            <a:off x="3613957" y="290413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8" name="Line 34"/>
          <p:cNvSpPr>
            <a:spLocks noChangeShapeType="1"/>
          </p:cNvSpPr>
          <p:nvPr/>
        </p:nvSpPr>
        <p:spPr bwMode="auto">
          <a:xfrm>
            <a:off x="3613957" y="306889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9" name="Line 35"/>
          <p:cNvSpPr>
            <a:spLocks noChangeShapeType="1"/>
          </p:cNvSpPr>
          <p:nvPr/>
        </p:nvSpPr>
        <p:spPr bwMode="auto">
          <a:xfrm>
            <a:off x="3613957" y="3233645"/>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0" name="Line 36"/>
          <p:cNvSpPr>
            <a:spLocks noChangeShapeType="1"/>
          </p:cNvSpPr>
          <p:nvPr/>
        </p:nvSpPr>
        <p:spPr bwMode="auto">
          <a:xfrm>
            <a:off x="3613957" y="339840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42" name="Text Box 29"/>
          <p:cNvSpPr txBox="1">
            <a:spLocks noChangeArrowheads="1"/>
          </p:cNvSpPr>
          <p:nvPr/>
        </p:nvSpPr>
        <p:spPr bwMode="auto">
          <a:xfrm>
            <a:off x="1729480" y="3796877"/>
            <a:ext cx="920445"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8 </a:t>
            </a:r>
          </a:p>
        </p:txBody>
      </p:sp>
      <p:sp>
        <p:nvSpPr>
          <p:cNvPr id="43" name="Text Box 40"/>
          <p:cNvSpPr txBox="1">
            <a:spLocks noChangeArrowheads="1"/>
          </p:cNvSpPr>
          <p:nvPr/>
        </p:nvSpPr>
        <p:spPr bwMode="auto">
          <a:xfrm>
            <a:off x="6686248" y="1871180"/>
            <a:ext cx="52770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20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Text Box 41"/>
          <p:cNvSpPr txBox="1">
            <a:spLocks noChangeArrowheads="1"/>
          </p:cNvSpPr>
          <p:nvPr/>
        </p:nvSpPr>
        <p:spPr bwMode="auto">
          <a:xfrm>
            <a:off x="6654188" y="2402495"/>
            <a:ext cx="55976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45" name="Text Box 42"/>
          <p:cNvSpPr txBox="1">
            <a:spLocks noChangeArrowheads="1"/>
          </p:cNvSpPr>
          <p:nvPr/>
        </p:nvSpPr>
        <p:spPr bwMode="auto">
          <a:xfrm>
            <a:off x="6655791" y="3016431"/>
            <a:ext cx="558166"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7" name="Text Box 28">
            <a:extLst>
              <a:ext uri="{FF2B5EF4-FFF2-40B4-BE49-F238E27FC236}">
                <a16:creationId xmlns:a16="http://schemas.microsoft.com/office/drawing/2014/main" id="{D226BD6E-F656-E2ED-22E3-116E5D61A751}"/>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44" grpId="0"/>
      <p:bldP spid="45" grpId="0"/>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2" name="Text Box 155">
            <a:extLst>
              <a:ext uri="{FF2B5EF4-FFF2-40B4-BE49-F238E27FC236}">
                <a16:creationId xmlns:a16="http://schemas.microsoft.com/office/drawing/2014/main" id="{648358DC-C7C1-8DED-3B22-2F7F8D7AE69F}"/>
              </a:ext>
            </a:extLst>
          </p:cNvPr>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err="1">
                <a:solidFill>
                  <a:schemeClr val="bg1"/>
                </a:solidFill>
                <a:latin typeface="Montserrat" panose="00000500000000000000" pitchFamily="2" charset="0"/>
                <a:ea typeface="微软雅黑 Light" panose="020B0502040204020203" pitchFamily="34" charset="-122"/>
              </a:rPr>
              <a:t>cwnd</a:t>
            </a:r>
            <a:r>
              <a:rPr lang="en-US" altLang="zh-CN" sz="1200" dirty="0">
                <a:solidFill>
                  <a:schemeClr val="bg1"/>
                </a:solidFill>
                <a:latin typeface="Montserrat" panose="00000500000000000000" pitchFamily="2" charset="0"/>
                <a:ea typeface="微软雅黑 Light" panose="020B0502040204020203" pitchFamily="34" charset="-122"/>
              </a:rPr>
              <a:t>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a:xfrm>
            <a:off x="486000" y="900000"/>
            <a:ext cx="8172000" cy="3703500"/>
          </a:xfrm>
        </p:spPr>
        <p:txBody>
          <a:bodyPr/>
          <a:lstStyle/>
          <a:p>
            <a:r>
              <a:rPr lang="zh-CN" altLang="en-US" dirty="0"/>
              <a:t>一个传输轮次所经历的时间其实就是往返时间 </a:t>
            </a:r>
            <a:r>
              <a:rPr lang="en-US" altLang="zh-CN" dirty="0"/>
              <a:t>RTT</a:t>
            </a:r>
            <a:r>
              <a:rPr lang="zh-CN" altLang="en-US" dirty="0"/>
              <a:t>。</a:t>
            </a:r>
          </a:p>
          <a:p>
            <a:r>
              <a:rPr lang="zh-CN" altLang="en-US" dirty="0"/>
              <a:t>传输轮次强调：把拥塞窗口 </a:t>
            </a:r>
            <a:r>
              <a:rPr lang="en-US" altLang="zh-CN" dirty="0" err="1"/>
              <a:t>cwnd</a:t>
            </a:r>
            <a:r>
              <a:rPr lang="en-US" altLang="zh-CN" dirty="0"/>
              <a:t> </a:t>
            </a:r>
            <a:r>
              <a:rPr lang="zh-CN" altLang="en-US" dirty="0"/>
              <a:t>所允许发送的报文段都连续发送出去，并收到了对已发送的最后一个字节的确认。</a:t>
            </a:r>
          </a:p>
          <a:p>
            <a:r>
              <a:rPr lang="zh-CN" altLang="en-US" dirty="0"/>
              <a:t>例如：拥塞窗口 </a:t>
            </a:r>
            <a:r>
              <a:rPr lang="en-US" altLang="zh-CN" dirty="0" err="1"/>
              <a:t>cwnd</a:t>
            </a:r>
            <a:r>
              <a:rPr lang="en-US" altLang="zh-CN" dirty="0"/>
              <a:t> = 4</a:t>
            </a:r>
            <a:r>
              <a:rPr lang="zh-CN" altLang="en-US" dirty="0"/>
              <a:t>，这时的往返时间 </a:t>
            </a:r>
            <a:r>
              <a:rPr lang="en-US" altLang="zh-CN" dirty="0"/>
              <a:t>RTT </a:t>
            </a:r>
            <a:r>
              <a:rPr lang="zh-CN" altLang="en-US" dirty="0"/>
              <a:t>就是发送方连续发送 </a:t>
            </a:r>
            <a:r>
              <a:rPr lang="en-US" altLang="zh-CN" dirty="0"/>
              <a:t>4 </a:t>
            </a:r>
            <a:r>
              <a:rPr lang="zh-CN" altLang="en-US" dirty="0"/>
              <a:t>个报文段，并收到这 </a:t>
            </a:r>
            <a:r>
              <a:rPr lang="en-US" altLang="zh-CN" dirty="0"/>
              <a:t>4 </a:t>
            </a:r>
            <a:r>
              <a:rPr lang="zh-CN" altLang="en-US" dirty="0"/>
              <a:t>个报文段的确认，总共经历的时间。 </a:t>
            </a:r>
          </a:p>
          <a:p>
            <a:endParaRPr lang="zh-CN" altLang="en-US" dirty="0"/>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486000" y="550723"/>
            <a:ext cx="8172000" cy="338554"/>
          </a:xfrm>
        </p:spPr>
        <p:txBody>
          <a:bodyPr/>
          <a:lstStyle/>
          <a:p>
            <a:r>
              <a:rPr lang="zh-CN" altLang="en-US" dirty="0"/>
              <a:t>传输轮次（</a:t>
            </a:r>
            <a:r>
              <a:rPr lang="en-US" altLang="zh-CN" dirty="0"/>
              <a:t>transmission round</a:t>
            </a:r>
            <a:r>
              <a:rPr lang="zh-CN" altLang="en-US" dirty="0"/>
              <a:t>）</a:t>
            </a:r>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a:xfrm>
            <a:off x="486000" y="900000"/>
            <a:ext cx="8172000" cy="3703500"/>
          </a:xfrm>
        </p:spPr>
        <p:txBody>
          <a:bodyPr/>
          <a:lstStyle/>
          <a:p>
            <a:r>
              <a:rPr lang="zh-CN" altLang="en-US" dirty="0"/>
              <a:t>防止拥塞窗口 </a:t>
            </a:r>
            <a:r>
              <a:rPr lang="en-US" altLang="zh-CN" dirty="0" err="1"/>
              <a:t>cwnd</a:t>
            </a:r>
            <a:r>
              <a:rPr lang="en-US" altLang="zh-CN" dirty="0"/>
              <a:t> </a:t>
            </a:r>
            <a:r>
              <a:rPr lang="zh-CN" altLang="en-US" dirty="0"/>
              <a:t>增长过大引起网络拥塞。</a:t>
            </a:r>
            <a:endParaRPr lang="en-US" altLang="zh-CN" dirty="0"/>
          </a:p>
          <a:p>
            <a:r>
              <a:rPr lang="zh-CN" altLang="en-US" dirty="0"/>
              <a:t>用法：</a:t>
            </a:r>
          </a:p>
          <a:p>
            <a:r>
              <a:rPr lang="zh-CN" altLang="en-US" dirty="0"/>
              <a:t>当 </a:t>
            </a:r>
            <a:r>
              <a:rPr lang="en-US" altLang="zh-CN" dirty="0" err="1"/>
              <a:t>cwnd</a:t>
            </a:r>
            <a:r>
              <a:rPr lang="en-US" altLang="zh-CN" dirty="0"/>
              <a:t> &lt; </a:t>
            </a:r>
            <a:r>
              <a:rPr lang="en-US" altLang="zh-CN" dirty="0" err="1"/>
              <a:t>ssthresh</a:t>
            </a:r>
            <a:r>
              <a:rPr lang="en-US" altLang="zh-CN" dirty="0"/>
              <a:t> </a:t>
            </a:r>
            <a:r>
              <a:rPr lang="zh-CN" altLang="en-US" dirty="0"/>
              <a:t>时，使用慢开始算法。</a:t>
            </a:r>
          </a:p>
          <a:p>
            <a:r>
              <a:rPr lang="zh-CN" altLang="en-US" dirty="0"/>
              <a:t>当 </a:t>
            </a:r>
            <a:r>
              <a:rPr lang="en-US" altLang="zh-CN" dirty="0" err="1"/>
              <a:t>cwnd</a:t>
            </a:r>
            <a:r>
              <a:rPr lang="en-US" altLang="zh-CN" dirty="0"/>
              <a:t> &gt; </a:t>
            </a:r>
            <a:r>
              <a:rPr lang="en-US" altLang="zh-CN" dirty="0" err="1"/>
              <a:t>ssthresh</a:t>
            </a:r>
            <a:r>
              <a:rPr lang="en-US" altLang="zh-CN" dirty="0"/>
              <a:t> </a:t>
            </a:r>
            <a:r>
              <a:rPr lang="zh-CN" altLang="en-US" dirty="0"/>
              <a:t>时，停止使用慢开始算法，改用拥塞避免算法。</a:t>
            </a:r>
          </a:p>
          <a:p>
            <a:r>
              <a:rPr lang="zh-CN" altLang="en-US" dirty="0"/>
              <a:t>当 </a:t>
            </a:r>
            <a:r>
              <a:rPr lang="en-US" altLang="zh-CN" dirty="0" err="1"/>
              <a:t>cwnd</a:t>
            </a:r>
            <a:r>
              <a:rPr lang="en-US" altLang="zh-CN" dirty="0"/>
              <a:t> = </a:t>
            </a:r>
            <a:r>
              <a:rPr lang="en-US" altLang="zh-CN" dirty="0" err="1"/>
              <a:t>ssthresh</a:t>
            </a:r>
            <a:r>
              <a:rPr lang="en-US" altLang="zh-CN" dirty="0"/>
              <a:t> </a:t>
            </a:r>
            <a:r>
              <a:rPr lang="zh-CN" altLang="en-US" dirty="0"/>
              <a:t>时，既可使用慢开始算法，也可使用拥塞避免算法。</a:t>
            </a:r>
          </a:p>
          <a:p>
            <a:endParaRPr lang="zh-CN" altLang="en-US" dirty="0"/>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486000" y="550723"/>
            <a:ext cx="8172000" cy="338554"/>
          </a:xfrm>
        </p:spPr>
        <p:txBody>
          <a:bodyPr/>
          <a:lstStyle/>
          <a:p>
            <a:r>
              <a:rPr lang="zh-CN" altLang="en-US" dirty="0"/>
              <a:t>慢开始门限 </a:t>
            </a:r>
            <a:r>
              <a:rPr lang="en-US" altLang="zh-CN" dirty="0" err="1"/>
              <a:t>ssthresh</a:t>
            </a:r>
            <a:endParaRPr lang="zh-CN" altLang="en-US" dirty="0"/>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a:xfrm>
            <a:off x="486000" y="900000"/>
            <a:ext cx="8172000" cy="3703500"/>
          </a:xfrm>
        </p:spPr>
        <p:txBody>
          <a:bodyPr/>
          <a:lstStyle/>
          <a:p>
            <a:r>
              <a:rPr lang="zh-CN" altLang="en-US" dirty="0"/>
              <a:t>目的：让拥塞窗口 </a:t>
            </a:r>
            <a:r>
              <a:rPr lang="en-US" altLang="zh-CN" dirty="0" err="1"/>
              <a:t>cwnd</a:t>
            </a:r>
            <a:r>
              <a:rPr lang="en-US" altLang="zh-CN" dirty="0"/>
              <a:t> </a:t>
            </a:r>
            <a:r>
              <a:rPr lang="zh-CN" altLang="en-US" dirty="0"/>
              <a:t>缓慢地增大，避免出现拥塞。</a:t>
            </a:r>
            <a:endParaRPr lang="en-US" altLang="zh-CN" dirty="0"/>
          </a:p>
          <a:p>
            <a:r>
              <a:rPr lang="zh-CN" altLang="en-US" dirty="0"/>
              <a:t>拥塞窗口 </a:t>
            </a:r>
            <a:r>
              <a:rPr lang="en-US" altLang="zh-CN" dirty="0" err="1"/>
              <a:t>cwnd</a:t>
            </a:r>
            <a:r>
              <a:rPr lang="en-US" altLang="zh-CN" dirty="0"/>
              <a:t> </a:t>
            </a:r>
            <a:r>
              <a:rPr lang="zh-CN" altLang="en-US" dirty="0"/>
              <a:t>增大：每经过一个往返时间 </a:t>
            </a:r>
            <a:r>
              <a:rPr lang="en-US" altLang="zh-CN" dirty="0"/>
              <a:t>RTT</a:t>
            </a:r>
            <a:r>
              <a:rPr lang="zh-CN" altLang="en-US" dirty="0"/>
              <a:t>（不管在此期间收到了多少确认），发送方的拥塞窗口 </a:t>
            </a:r>
            <a:r>
              <a:rPr lang="en-US" altLang="zh-CN" dirty="0" err="1"/>
              <a:t>cwnd</a:t>
            </a:r>
            <a:r>
              <a:rPr lang="en-US" altLang="zh-CN" dirty="0"/>
              <a:t> = </a:t>
            </a:r>
            <a:r>
              <a:rPr lang="en-US" altLang="zh-CN" dirty="0" err="1"/>
              <a:t>cwnd</a:t>
            </a:r>
            <a:r>
              <a:rPr lang="en-US" altLang="zh-CN" dirty="0"/>
              <a:t> + 1</a:t>
            </a:r>
            <a:r>
              <a:rPr lang="zh-CN" altLang="en-US" dirty="0"/>
              <a:t>。</a:t>
            </a:r>
            <a:endParaRPr lang="en-US" altLang="zh-CN" dirty="0"/>
          </a:p>
          <a:p>
            <a:r>
              <a:rPr lang="zh-CN" altLang="en-US" dirty="0"/>
              <a:t>具有加法增大 </a:t>
            </a:r>
            <a:r>
              <a:rPr lang="en-US" altLang="zh-CN" dirty="0"/>
              <a:t>AI</a:t>
            </a:r>
            <a:r>
              <a:rPr lang="zh-CN" altLang="en-US" dirty="0"/>
              <a:t> </a:t>
            </a:r>
            <a:r>
              <a:rPr lang="en-US" altLang="zh-CN" dirty="0"/>
              <a:t>(Additive Increase) </a:t>
            </a:r>
            <a:r>
              <a:rPr lang="zh-CN" altLang="en-US" dirty="0"/>
              <a:t>特点：使拥塞窗口 </a:t>
            </a:r>
            <a:r>
              <a:rPr lang="en-US" altLang="zh-CN" dirty="0" err="1"/>
              <a:t>cwnd</a:t>
            </a:r>
            <a:r>
              <a:rPr lang="en-US" altLang="zh-CN" dirty="0"/>
              <a:t> </a:t>
            </a:r>
            <a:r>
              <a:rPr lang="zh-CN" altLang="en-US" dirty="0"/>
              <a:t>按线性规律缓慢增长。</a:t>
            </a:r>
          </a:p>
          <a:p>
            <a:endParaRPr lang="zh-CN" altLang="en-US" dirty="0"/>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486000" y="550723"/>
            <a:ext cx="8172000" cy="338554"/>
          </a:xfrm>
        </p:spPr>
        <p:txBody>
          <a:bodyPr/>
          <a:lstStyle/>
          <a:p>
            <a:r>
              <a:rPr lang="en-US" altLang="zh-CN" dirty="0"/>
              <a:t>2. </a:t>
            </a:r>
            <a:r>
              <a:rPr lang="zh-CN" altLang="en-US" dirty="0"/>
              <a:t>拥塞避免</a:t>
            </a:r>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E726A29-6B44-8912-798E-303AFA03E364}"/>
              </a:ext>
            </a:extLst>
          </p:cNvPr>
          <p:cNvSpPr>
            <a:spLocks noChangeArrowheads="1"/>
          </p:cNvSpPr>
          <p:nvPr/>
        </p:nvSpPr>
        <p:spPr bwMode="auto">
          <a:xfrm>
            <a:off x="3613957" y="2904955"/>
            <a:ext cx="3600000" cy="742805"/>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5" name="Rectangle 4">
            <a:extLst>
              <a:ext uri="{FF2B5EF4-FFF2-40B4-BE49-F238E27FC236}">
                <a16:creationId xmlns:a16="http://schemas.microsoft.com/office/drawing/2014/main" id="{50ECC536-9AF2-70BF-0247-7069CFF1F643}"/>
              </a:ext>
            </a:extLst>
          </p:cNvPr>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6" name="Text Box 5">
            <a:extLst>
              <a:ext uri="{FF2B5EF4-FFF2-40B4-BE49-F238E27FC236}">
                <a16:creationId xmlns:a16="http://schemas.microsoft.com/office/drawing/2014/main" id="{3344078A-A3FF-351A-6799-D3F2DBF36CDB}"/>
              </a:ext>
            </a:extLst>
          </p:cNvPr>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 name="Text Box 6">
            <a:extLst>
              <a:ext uri="{FF2B5EF4-FFF2-40B4-BE49-F238E27FC236}">
                <a16:creationId xmlns:a16="http://schemas.microsoft.com/office/drawing/2014/main" id="{66DD75BA-918C-ACC0-685E-C4CE4C1F92D6}"/>
              </a:ext>
            </a:extLst>
          </p:cNvPr>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 name="Text Box 7">
            <a:extLst>
              <a:ext uri="{FF2B5EF4-FFF2-40B4-BE49-F238E27FC236}">
                <a16:creationId xmlns:a16="http://schemas.microsoft.com/office/drawing/2014/main" id="{AD97A86B-840E-2C8A-3ADD-34B02A059834}"/>
              </a:ext>
            </a:extLst>
          </p:cNvPr>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9" name="Line 8">
            <a:extLst>
              <a:ext uri="{FF2B5EF4-FFF2-40B4-BE49-F238E27FC236}">
                <a16:creationId xmlns:a16="http://schemas.microsoft.com/office/drawing/2014/main" id="{3BDC03A7-7DA9-5C11-0151-768C4F76E12D}"/>
              </a:ext>
            </a:extLst>
          </p:cNvPr>
          <p:cNvSpPr>
            <a:spLocks noChangeShapeType="1"/>
          </p:cNvSpPr>
          <p:nvPr/>
        </p:nvSpPr>
        <p:spPr bwMode="auto">
          <a:xfrm>
            <a:off x="3613957" y="1788558"/>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0" name="Line 9">
            <a:extLst>
              <a:ext uri="{FF2B5EF4-FFF2-40B4-BE49-F238E27FC236}">
                <a16:creationId xmlns:a16="http://schemas.microsoft.com/office/drawing/2014/main" id="{86D27867-74A9-4834-865A-1ED7946A02C1}"/>
              </a:ext>
            </a:extLst>
          </p:cNvPr>
          <p:cNvSpPr>
            <a:spLocks noChangeShapeType="1"/>
          </p:cNvSpPr>
          <p:nvPr/>
        </p:nvSpPr>
        <p:spPr bwMode="auto">
          <a:xfrm>
            <a:off x="3613957" y="229921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 name="Line 10">
            <a:extLst>
              <a:ext uri="{FF2B5EF4-FFF2-40B4-BE49-F238E27FC236}">
                <a16:creationId xmlns:a16="http://schemas.microsoft.com/office/drawing/2014/main" id="{B6BBDAC5-D1EE-7347-E9C4-ABA4D7CAD105}"/>
              </a:ext>
            </a:extLst>
          </p:cNvPr>
          <p:cNvSpPr>
            <a:spLocks noChangeShapeType="1"/>
          </p:cNvSpPr>
          <p:nvPr/>
        </p:nvSpPr>
        <p:spPr bwMode="auto">
          <a:xfrm flipH="1">
            <a:off x="3613957" y="2023805"/>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 name="Text Box 11">
            <a:extLst>
              <a:ext uri="{FF2B5EF4-FFF2-40B4-BE49-F238E27FC236}">
                <a16:creationId xmlns:a16="http://schemas.microsoft.com/office/drawing/2014/main" id="{045C86C1-8C6C-8F11-F8F0-354CCE44AB47}"/>
              </a:ext>
            </a:extLst>
          </p:cNvPr>
          <p:cNvSpPr txBox="1">
            <a:spLocks noChangeArrowheads="1"/>
          </p:cNvSpPr>
          <p:nvPr/>
        </p:nvSpPr>
        <p:spPr bwMode="auto">
          <a:xfrm>
            <a:off x="5322980" y="187118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 name="Line 12">
            <a:extLst>
              <a:ext uri="{FF2B5EF4-FFF2-40B4-BE49-F238E27FC236}">
                <a16:creationId xmlns:a16="http://schemas.microsoft.com/office/drawing/2014/main" id="{BF005F77-3F5B-2760-F855-2D8A3993CC0A}"/>
              </a:ext>
            </a:extLst>
          </p:cNvPr>
          <p:cNvSpPr>
            <a:spLocks noChangeShapeType="1"/>
          </p:cNvSpPr>
          <p:nvPr/>
        </p:nvSpPr>
        <p:spPr bwMode="auto">
          <a:xfrm>
            <a:off x="3613957" y="372554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 name="Line 13">
            <a:extLst>
              <a:ext uri="{FF2B5EF4-FFF2-40B4-BE49-F238E27FC236}">
                <a16:creationId xmlns:a16="http://schemas.microsoft.com/office/drawing/2014/main" id="{FDC25AC4-2865-625A-FD86-42C8E59FA2A0}"/>
              </a:ext>
            </a:extLst>
          </p:cNvPr>
          <p:cNvSpPr>
            <a:spLocks noChangeShapeType="1"/>
          </p:cNvSpPr>
          <p:nvPr/>
        </p:nvSpPr>
        <p:spPr bwMode="auto">
          <a:xfrm flipH="1">
            <a:off x="3613957" y="3122989"/>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 name="Line 15">
            <a:extLst>
              <a:ext uri="{FF2B5EF4-FFF2-40B4-BE49-F238E27FC236}">
                <a16:creationId xmlns:a16="http://schemas.microsoft.com/office/drawing/2014/main" id="{9E829163-7B9F-DD25-CD9A-331FC3AA05C4}"/>
              </a:ext>
            </a:extLst>
          </p:cNvPr>
          <p:cNvSpPr>
            <a:spLocks noChangeShapeType="1"/>
          </p:cNvSpPr>
          <p:nvPr/>
        </p:nvSpPr>
        <p:spPr bwMode="auto">
          <a:xfrm>
            <a:off x="3613957"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6" name="Line 16">
            <a:extLst>
              <a:ext uri="{FF2B5EF4-FFF2-40B4-BE49-F238E27FC236}">
                <a16:creationId xmlns:a16="http://schemas.microsoft.com/office/drawing/2014/main" id="{50F19E67-601C-98C0-92F0-81663A0908E2}"/>
              </a:ext>
            </a:extLst>
          </p:cNvPr>
          <p:cNvSpPr>
            <a:spLocks noChangeShapeType="1"/>
          </p:cNvSpPr>
          <p:nvPr/>
        </p:nvSpPr>
        <p:spPr bwMode="auto">
          <a:xfrm>
            <a:off x="5322980"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7" name="Text Box 17">
            <a:extLst>
              <a:ext uri="{FF2B5EF4-FFF2-40B4-BE49-F238E27FC236}">
                <a16:creationId xmlns:a16="http://schemas.microsoft.com/office/drawing/2014/main" id="{FFA6B4B6-9CC0-68D3-1941-030FFC02B8B2}"/>
              </a:ext>
            </a:extLst>
          </p:cNvPr>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8" name="Line 18">
            <a:extLst>
              <a:ext uri="{FF2B5EF4-FFF2-40B4-BE49-F238E27FC236}">
                <a16:creationId xmlns:a16="http://schemas.microsoft.com/office/drawing/2014/main" id="{03B7D948-3DA5-B5BB-CCB5-0F21D5D8F3B5}"/>
              </a:ext>
            </a:extLst>
          </p:cNvPr>
          <p:cNvSpPr>
            <a:spLocks noChangeShapeType="1"/>
          </p:cNvSpPr>
          <p:nvPr/>
        </p:nvSpPr>
        <p:spPr bwMode="auto">
          <a:xfrm>
            <a:off x="3613957" y="246397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9" name="Text Box 19">
            <a:extLst>
              <a:ext uri="{FF2B5EF4-FFF2-40B4-BE49-F238E27FC236}">
                <a16:creationId xmlns:a16="http://schemas.microsoft.com/office/drawing/2014/main" id="{B126D505-BAAF-AF9A-F56B-41B5428D3581}"/>
              </a:ext>
            </a:extLst>
          </p:cNvPr>
          <p:cNvSpPr txBox="1">
            <a:spLocks noChangeArrowheads="1"/>
          </p:cNvSpPr>
          <p:nvPr/>
        </p:nvSpPr>
        <p:spPr bwMode="auto">
          <a:xfrm>
            <a:off x="5322980" y="24024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0" name="Line 20">
            <a:extLst>
              <a:ext uri="{FF2B5EF4-FFF2-40B4-BE49-F238E27FC236}">
                <a16:creationId xmlns:a16="http://schemas.microsoft.com/office/drawing/2014/main" id="{778936B2-01AC-37CF-DACD-EBD0CD723803}"/>
              </a:ext>
            </a:extLst>
          </p:cNvPr>
          <p:cNvSpPr>
            <a:spLocks noChangeShapeType="1"/>
          </p:cNvSpPr>
          <p:nvPr/>
        </p:nvSpPr>
        <p:spPr bwMode="auto">
          <a:xfrm flipH="1">
            <a:off x="3613957" y="2519708"/>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1" name="Line 21">
            <a:extLst>
              <a:ext uri="{FF2B5EF4-FFF2-40B4-BE49-F238E27FC236}">
                <a16:creationId xmlns:a16="http://schemas.microsoft.com/office/drawing/2014/main" id="{BD6711AE-1254-1648-70B5-348465E26F74}"/>
              </a:ext>
            </a:extLst>
          </p:cNvPr>
          <p:cNvSpPr>
            <a:spLocks noChangeShapeType="1"/>
          </p:cNvSpPr>
          <p:nvPr/>
        </p:nvSpPr>
        <p:spPr bwMode="auto">
          <a:xfrm flipH="1">
            <a:off x="3613957" y="2684463"/>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2" name="Text Box 22">
            <a:extLst>
              <a:ext uri="{FF2B5EF4-FFF2-40B4-BE49-F238E27FC236}">
                <a16:creationId xmlns:a16="http://schemas.microsoft.com/office/drawing/2014/main" id="{E356FD9A-893B-6474-FF75-360080B1AF36}"/>
              </a:ext>
            </a:extLst>
          </p:cNvPr>
          <p:cNvSpPr txBox="1">
            <a:spLocks noChangeArrowheads="1"/>
          </p:cNvSpPr>
          <p:nvPr/>
        </p:nvSpPr>
        <p:spPr bwMode="auto">
          <a:xfrm>
            <a:off x="2568478" y="2734052"/>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23" name="Text Box 23">
            <a:extLst>
              <a:ext uri="{FF2B5EF4-FFF2-40B4-BE49-F238E27FC236}">
                <a16:creationId xmlns:a16="http://schemas.microsoft.com/office/drawing/2014/main" id="{94826B90-6A69-DF62-FE50-BA49FE60B1CB}"/>
              </a:ext>
            </a:extLst>
          </p:cNvPr>
          <p:cNvSpPr txBox="1">
            <a:spLocks noChangeArrowheads="1"/>
          </p:cNvSpPr>
          <p:nvPr/>
        </p:nvSpPr>
        <p:spPr bwMode="auto">
          <a:xfrm>
            <a:off x="5322980" y="3016431"/>
            <a:ext cx="111280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4" name="Line 24">
            <a:extLst>
              <a:ext uri="{FF2B5EF4-FFF2-40B4-BE49-F238E27FC236}">
                <a16:creationId xmlns:a16="http://schemas.microsoft.com/office/drawing/2014/main" id="{A73A5FD9-18EE-1E90-B7FC-C5B138866081}"/>
              </a:ext>
            </a:extLst>
          </p:cNvPr>
          <p:cNvSpPr>
            <a:spLocks noChangeShapeType="1"/>
          </p:cNvSpPr>
          <p:nvPr/>
        </p:nvSpPr>
        <p:spPr bwMode="auto">
          <a:xfrm flipH="1">
            <a:off x="3613957" y="3287744"/>
            <a:ext cx="1709023" cy="16557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5" name="Line 25">
            <a:extLst>
              <a:ext uri="{FF2B5EF4-FFF2-40B4-BE49-F238E27FC236}">
                <a16:creationId xmlns:a16="http://schemas.microsoft.com/office/drawing/2014/main" id="{1021ECF0-B03F-5BBF-D029-72F1D931012A}"/>
              </a:ext>
            </a:extLst>
          </p:cNvPr>
          <p:cNvSpPr>
            <a:spLocks noChangeShapeType="1"/>
          </p:cNvSpPr>
          <p:nvPr/>
        </p:nvSpPr>
        <p:spPr bwMode="auto">
          <a:xfrm flipH="1">
            <a:off x="3613957" y="3453318"/>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E5CC01CD-22DB-90DB-85E5-3A6E6C4EDC02}"/>
              </a:ext>
            </a:extLst>
          </p:cNvPr>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28" name="Text Box 29">
            <a:extLst>
              <a:ext uri="{FF2B5EF4-FFF2-40B4-BE49-F238E27FC236}">
                <a16:creationId xmlns:a16="http://schemas.microsoft.com/office/drawing/2014/main" id="{9B7D22D6-2DA2-7989-7BED-56B6D342BB8F}"/>
              </a:ext>
            </a:extLst>
          </p:cNvPr>
          <p:cNvSpPr txBox="1">
            <a:spLocks noChangeArrowheads="1"/>
          </p:cNvSpPr>
          <p:nvPr/>
        </p:nvSpPr>
        <p:spPr bwMode="auto">
          <a:xfrm>
            <a:off x="1729480" y="2734052"/>
            <a:ext cx="909223"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3 </a:t>
            </a:r>
          </a:p>
        </p:txBody>
      </p:sp>
      <p:sp>
        <p:nvSpPr>
          <p:cNvPr id="29" name="Text Box 30">
            <a:extLst>
              <a:ext uri="{FF2B5EF4-FFF2-40B4-BE49-F238E27FC236}">
                <a16:creationId xmlns:a16="http://schemas.microsoft.com/office/drawing/2014/main" id="{11DEA278-582E-7CF1-41A9-27939BFCD747}"/>
              </a:ext>
            </a:extLst>
          </p:cNvPr>
          <p:cNvSpPr txBox="1">
            <a:spLocks noChangeArrowheads="1"/>
          </p:cNvSpPr>
          <p:nvPr/>
        </p:nvSpPr>
        <p:spPr bwMode="auto">
          <a:xfrm>
            <a:off x="2533212" y="3667221"/>
            <a:ext cx="10807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10</a:t>
            </a:r>
          </a:p>
        </p:txBody>
      </p:sp>
      <p:sp>
        <p:nvSpPr>
          <p:cNvPr id="30" name="Text Box 32">
            <a:extLst>
              <a:ext uri="{FF2B5EF4-FFF2-40B4-BE49-F238E27FC236}">
                <a16:creationId xmlns:a16="http://schemas.microsoft.com/office/drawing/2014/main" id="{3C95150C-C5ED-6A9A-78DF-57D09F65C53F}"/>
              </a:ext>
            </a:extLst>
          </p:cNvPr>
          <p:cNvSpPr txBox="1">
            <a:spLocks noChangeArrowheads="1"/>
          </p:cNvSpPr>
          <p:nvPr/>
        </p:nvSpPr>
        <p:spPr bwMode="auto">
          <a:xfrm rot="5400000">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31" name="Line 33">
            <a:extLst>
              <a:ext uri="{FF2B5EF4-FFF2-40B4-BE49-F238E27FC236}">
                <a16:creationId xmlns:a16="http://schemas.microsoft.com/office/drawing/2014/main" id="{7E2FF849-5151-E0CF-8D05-8C89140BCB47}"/>
              </a:ext>
            </a:extLst>
          </p:cNvPr>
          <p:cNvSpPr>
            <a:spLocks noChangeShapeType="1"/>
          </p:cNvSpPr>
          <p:nvPr/>
        </p:nvSpPr>
        <p:spPr bwMode="auto">
          <a:xfrm>
            <a:off x="3613957" y="290413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58C9076A-1C96-1703-31C4-784705013F59}"/>
              </a:ext>
            </a:extLst>
          </p:cNvPr>
          <p:cNvSpPr>
            <a:spLocks noChangeShapeType="1"/>
          </p:cNvSpPr>
          <p:nvPr/>
        </p:nvSpPr>
        <p:spPr bwMode="auto">
          <a:xfrm>
            <a:off x="3613957" y="306889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3" name="Line 35">
            <a:extLst>
              <a:ext uri="{FF2B5EF4-FFF2-40B4-BE49-F238E27FC236}">
                <a16:creationId xmlns:a16="http://schemas.microsoft.com/office/drawing/2014/main" id="{1C2FA6EF-7724-227A-2A6E-D60A4082B8F9}"/>
              </a:ext>
            </a:extLst>
          </p:cNvPr>
          <p:cNvSpPr>
            <a:spLocks noChangeShapeType="1"/>
          </p:cNvSpPr>
          <p:nvPr/>
        </p:nvSpPr>
        <p:spPr bwMode="auto">
          <a:xfrm>
            <a:off x="3613957" y="3233645"/>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5" name="Text Box 29">
            <a:extLst>
              <a:ext uri="{FF2B5EF4-FFF2-40B4-BE49-F238E27FC236}">
                <a16:creationId xmlns:a16="http://schemas.microsoft.com/office/drawing/2014/main" id="{722A49B8-7141-0D9C-9E46-13F43A7D4B51}"/>
              </a:ext>
            </a:extLst>
          </p:cNvPr>
          <p:cNvSpPr txBox="1">
            <a:spLocks noChangeArrowheads="1"/>
          </p:cNvSpPr>
          <p:nvPr/>
        </p:nvSpPr>
        <p:spPr bwMode="auto">
          <a:xfrm>
            <a:off x="1729480" y="3667221"/>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36" name="Text Box 40">
            <a:extLst>
              <a:ext uri="{FF2B5EF4-FFF2-40B4-BE49-F238E27FC236}">
                <a16:creationId xmlns:a16="http://schemas.microsoft.com/office/drawing/2014/main" id="{02941E61-3BD5-EC48-03CB-C6D0A15E9548}"/>
              </a:ext>
            </a:extLst>
          </p:cNvPr>
          <p:cNvSpPr txBox="1">
            <a:spLocks noChangeArrowheads="1"/>
          </p:cNvSpPr>
          <p:nvPr/>
        </p:nvSpPr>
        <p:spPr bwMode="auto">
          <a:xfrm>
            <a:off x="6686248" y="1871180"/>
            <a:ext cx="52770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20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Text Box 41">
            <a:extLst>
              <a:ext uri="{FF2B5EF4-FFF2-40B4-BE49-F238E27FC236}">
                <a16:creationId xmlns:a16="http://schemas.microsoft.com/office/drawing/2014/main" id="{8D1EBEEB-0E61-8856-4A93-482724586048}"/>
              </a:ext>
            </a:extLst>
          </p:cNvPr>
          <p:cNvSpPr txBox="1">
            <a:spLocks noChangeArrowheads="1"/>
          </p:cNvSpPr>
          <p:nvPr/>
        </p:nvSpPr>
        <p:spPr bwMode="auto">
          <a:xfrm>
            <a:off x="6654188" y="2402495"/>
            <a:ext cx="55976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38" name="Text Box 42">
            <a:extLst>
              <a:ext uri="{FF2B5EF4-FFF2-40B4-BE49-F238E27FC236}">
                <a16:creationId xmlns:a16="http://schemas.microsoft.com/office/drawing/2014/main" id="{7F99B511-54C8-E195-2DED-F348AB011E84}"/>
              </a:ext>
            </a:extLst>
          </p:cNvPr>
          <p:cNvSpPr txBox="1">
            <a:spLocks noChangeArrowheads="1"/>
          </p:cNvSpPr>
          <p:nvPr/>
        </p:nvSpPr>
        <p:spPr bwMode="auto">
          <a:xfrm>
            <a:off x="6655791" y="3016431"/>
            <a:ext cx="558166"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39" name="Text Box 28">
            <a:extLst>
              <a:ext uri="{FF2B5EF4-FFF2-40B4-BE49-F238E27FC236}">
                <a16:creationId xmlns:a16="http://schemas.microsoft.com/office/drawing/2014/main" id="{C633C733-9D92-F871-E60F-E52BA3C94C2D}"/>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40" name="Text Box 155">
            <a:extLst>
              <a:ext uri="{FF2B5EF4-FFF2-40B4-BE49-F238E27FC236}">
                <a16:creationId xmlns:a16="http://schemas.microsoft.com/office/drawing/2014/main" id="{8F771EAA-3ACD-5A31-83B7-0C1473164D10}"/>
              </a:ext>
            </a:extLst>
          </p:cNvPr>
          <p:cNvSpPr txBox="1">
            <a:spLocks noChangeArrowheads="1"/>
          </p:cNvSpPr>
          <p:nvPr/>
        </p:nvSpPr>
        <p:spPr bwMode="auto">
          <a:xfrm>
            <a:off x="1659118" y="642816"/>
            <a:ext cx="5910606" cy="282641"/>
          </a:xfrm>
          <a:prstGeom prst="rect">
            <a:avLst/>
          </a:prstGeom>
          <a:solidFill>
            <a:srgbClr val="000099"/>
          </a:solidFill>
          <a:ln w="9525">
            <a:noFill/>
            <a:miter lim="800000"/>
            <a:headEnd/>
            <a:tailEnd/>
          </a:ln>
          <a:effectLst/>
        </p:spPr>
        <p:txBody>
          <a:bodyPr wrap="square">
            <a:spAutoFit/>
          </a:bodyPr>
          <a:lstStyle>
            <a:defPPr>
              <a:defRPr lang="zh-CN"/>
            </a:defPPr>
            <a:lvl1pPr algn="ctr">
              <a:lnSpc>
                <a:spcPct val="110000"/>
              </a:lnSpc>
              <a:defRPr sz="1200">
                <a:solidFill>
                  <a:schemeClr val="bg1"/>
                </a:solidFill>
                <a:latin typeface="Montserrat" panose="00000500000000000000" pitchFamily="2" charset="0"/>
                <a:ea typeface="微软雅黑 Light" panose="020B0502040204020203" pitchFamily="34" charset="-122"/>
              </a:defRPr>
            </a:lvl1pPr>
          </a:lstStyle>
          <a:p>
            <a:r>
              <a:rPr lang="zh-CN" altLang="en-US" dirty="0"/>
              <a:t>每经过一个往返时间 </a:t>
            </a:r>
            <a:r>
              <a:rPr lang="en-US" altLang="zh-CN" dirty="0"/>
              <a:t>RTT</a:t>
            </a:r>
            <a:r>
              <a:rPr lang="zh-CN" altLang="en-US" dirty="0"/>
              <a:t>，发送方就把拥塞窗口 </a:t>
            </a:r>
            <a:r>
              <a:rPr lang="en-US" altLang="zh-CN" dirty="0"/>
              <a:t>cwnd </a:t>
            </a:r>
            <a:r>
              <a:rPr lang="zh-CN" altLang="en-US" dirty="0"/>
              <a:t>加 </a:t>
            </a:r>
            <a:r>
              <a:rPr lang="en-US" altLang="zh-CN" dirty="0"/>
              <a:t>1</a:t>
            </a:r>
            <a:r>
              <a:rPr lang="zh-CN" altLang="en-US" dirty="0"/>
              <a:t>。 </a:t>
            </a:r>
          </a:p>
        </p:txBody>
      </p:sp>
    </p:spTree>
    <p:extLst>
      <p:ext uri="{BB962C8B-B14F-4D97-AF65-F5344CB8AC3E}">
        <p14:creationId xmlns:p14="http://schemas.microsoft.com/office/powerpoint/2010/main" val="10009050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38"/>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37"/>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3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P spid="37" grpId="0"/>
      <p:bldP spid="38" grpId="0"/>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983B389-E38D-BE4A-32AC-05557FA075A6}"/>
              </a:ext>
            </a:extLst>
          </p:cNvPr>
          <p:cNvSpPr>
            <a:spLocks noGrp="1"/>
          </p:cNvSpPr>
          <p:nvPr>
            <p:ph sz="quarter" idx="11"/>
          </p:nvPr>
        </p:nvSpPr>
        <p:spPr>
          <a:xfrm>
            <a:off x="486000" y="900000"/>
            <a:ext cx="8172000" cy="3703500"/>
          </a:xfrm>
        </p:spPr>
        <p:txBody>
          <a:bodyPr/>
          <a:lstStyle/>
          <a:p>
            <a:r>
              <a:rPr lang="zh-CN" altLang="en-US" dirty="0"/>
              <a:t>无论在慢开始阶段还是在拥塞避免阶段，只要发送方判断网络出现拥塞（重传定时器超时）：</a:t>
            </a:r>
          </a:p>
          <a:p>
            <a:pPr lvl="1"/>
            <a:r>
              <a:rPr lang="en-US" altLang="zh-CN" dirty="0" err="1"/>
              <a:t>ssthresh</a:t>
            </a:r>
            <a:r>
              <a:rPr lang="en-US" altLang="zh-CN" dirty="0"/>
              <a:t> = max (</a:t>
            </a:r>
            <a:r>
              <a:rPr lang="en-US" altLang="zh-CN" dirty="0" err="1"/>
              <a:t>cwnd</a:t>
            </a:r>
            <a:r>
              <a:rPr lang="en-US" altLang="zh-CN" dirty="0"/>
              <a:t>/2</a:t>
            </a:r>
            <a:r>
              <a:rPr lang="zh-CN" altLang="en-US" dirty="0"/>
              <a:t>，</a:t>
            </a:r>
            <a:r>
              <a:rPr lang="en-US" altLang="zh-CN" dirty="0"/>
              <a:t>2)</a:t>
            </a:r>
          </a:p>
          <a:p>
            <a:pPr lvl="1"/>
            <a:r>
              <a:rPr lang="en-US" altLang="zh-CN" dirty="0" err="1"/>
              <a:t>cwnd</a:t>
            </a:r>
            <a:r>
              <a:rPr lang="en-US" altLang="zh-CN" dirty="0"/>
              <a:t> = 1</a:t>
            </a:r>
          </a:p>
          <a:p>
            <a:pPr lvl="1"/>
            <a:r>
              <a:rPr lang="zh-CN" altLang="en-US" dirty="0"/>
              <a:t>执行慢开始算法</a:t>
            </a:r>
          </a:p>
          <a:p>
            <a:r>
              <a:rPr lang="zh-CN" altLang="en-US" dirty="0"/>
              <a:t>目的：迅速减少主机发送到网络中的分组数，使得发生拥塞的路由器有足够时间把队列中积压的分组处理完毕。 </a:t>
            </a:r>
          </a:p>
          <a:p>
            <a:endParaRPr lang="zh-CN" altLang="en-US" dirty="0"/>
          </a:p>
        </p:txBody>
      </p:sp>
      <p:sp>
        <p:nvSpPr>
          <p:cNvPr id="2" name="标题 1">
            <a:extLst>
              <a:ext uri="{FF2B5EF4-FFF2-40B4-BE49-F238E27FC236}">
                <a16:creationId xmlns:a16="http://schemas.microsoft.com/office/drawing/2014/main" id="{3BB718E9-CFD1-EF48-7320-866540EC23D3}"/>
              </a:ext>
            </a:extLst>
          </p:cNvPr>
          <p:cNvSpPr>
            <a:spLocks noGrp="1"/>
          </p:cNvSpPr>
          <p:nvPr>
            <p:ph type="title"/>
          </p:nvPr>
        </p:nvSpPr>
        <p:spPr>
          <a:xfrm>
            <a:off x="486000" y="550723"/>
            <a:ext cx="8172000" cy="338554"/>
          </a:xfrm>
        </p:spPr>
        <p:txBody>
          <a:bodyPr/>
          <a:lstStyle/>
          <a:p>
            <a:r>
              <a:rPr lang="zh-CN" altLang="en-US"/>
              <a:t>当网络出现拥塞时</a:t>
            </a:r>
            <a:endParaRPr lang="zh-CN" altLang="en-US" dirty="0"/>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 name="标题 1">
            <a:extLst>
              <a:ext uri="{FF2B5EF4-FFF2-40B4-BE49-F238E27FC236}">
                <a16:creationId xmlns:a16="http://schemas.microsoft.com/office/drawing/2014/main" id="{3A1F63B5-2F2A-459B-5352-943DCBE5B957}"/>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9BE35F-D1C3-2411-6F72-DC0A252AFD9B}"/>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A1F374F8-EA85-B314-D0F0-96E3C1A781D4}"/>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CD88A09C-5201-6E5B-0478-4D168B78C294}"/>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D4AC7CA-8C6A-A7E1-E10B-C21D5CC4B3D9}"/>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3" name="标题 2">
            <a:extLst>
              <a:ext uri="{FF2B5EF4-FFF2-40B4-BE49-F238E27FC236}">
                <a16:creationId xmlns:a16="http://schemas.microsoft.com/office/drawing/2014/main" id="{5B70A799-DB1A-60A3-A65F-6B258813BA21}"/>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369E398E-F377-439A-28A3-20DDADF7533C}"/>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 name="标题 1">
            <a:extLst>
              <a:ext uri="{FF2B5EF4-FFF2-40B4-BE49-F238E27FC236}">
                <a16:creationId xmlns:a16="http://schemas.microsoft.com/office/drawing/2014/main" id="{5A3C3EBF-CE3A-9BAF-F0A6-9A32B753E69C}"/>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67C52BE-6B3E-97A7-F652-F86B0174BB33}"/>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C816E65-F579-7033-0EE5-516B57D0BD7A}"/>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a:xfrm>
            <a:off x="486000" y="900000"/>
            <a:ext cx="8172000" cy="3703500"/>
          </a:xfrm>
        </p:spPr>
        <p:txBody>
          <a:bodyPr/>
          <a:lstStyle/>
          <a:p>
            <a:r>
              <a:rPr lang="zh-CN" altLang="en-US" dirty="0"/>
              <a:t>目的：让发送方尽早知道发生了个别报文段的丢失。</a:t>
            </a:r>
            <a:endParaRPr lang="en-US" altLang="zh-CN" dirty="0"/>
          </a:p>
          <a:p>
            <a:r>
              <a:rPr lang="zh-CN" altLang="en-US" dirty="0"/>
              <a:t>发送方只要连续收到三个重复的确认，就立即进行重传（即“快重传”），这样就不会出现超时。</a:t>
            </a:r>
          </a:p>
          <a:p>
            <a:r>
              <a:rPr lang="zh-CN" altLang="en-US" dirty="0"/>
              <a:t>使用快重传可以使整个网络的吞吐量提高约 </a:t>
            </a:r>
            <a:r>
              <a:rPr lang="en-US" altLang="zh-CN" dirty="0"/>
              <a:t>20%</a:t>
            </a:r>
            <a:r>
              <a:rPr lang="zh-CN" altLang="en-US" dirty="0"/>
              <a:t>。</a:t>
            </a:r>
            <a:endParaRPr lang="en-US" altLang="zh-CN" dirty="0"/>
          </a:p>
          <a:p>
            <a:r>
              <a:rPr lang="zh-CN" altLang="en-US" dirty="0"/>
              <a:t>快重传算法要求接收方立即发送确认，即使收到了失序的报文段，也要立即发出对已收到的报文段的重复确认。</a:t>
            </a:r>
          </a:p>
          <a:p>
            <a:endParaRPr lang="zh-CN" altLang="en-US" dirty="0"/>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486000" y="550723"/>
            <a:ext cx="8172000" cy="338554"/>
          </a:xfrm>
        </p:spPr>
        <p:txBody>
          <a:bodyPr/>
          <a:lstStyle/>
          <a:p>
            <a:r>
              <a:rPr lang="zh-CN" altLang="en-US" dirty="0"/>
              <a:t>快重传 </a:t>
            </a:r>
            <a:r>
              <a:rPr lang="en-US" altLang="zh-CN" dirty="0"/>
              <a:t>FR (Fast Retransmission) </a:t>
            </a:r>
            <a:r>
              <a:rPr lang="zh-CN" altLang="en-US" dirty="0"/>
              <a:t>算法</a:t>
            </a:r>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0" name="Text Box 5"/>
          <p:cNvSpPr txBox="1">
            <a:spLocks noChangeArrowheads="1"/>
          </p:cNvSpPr>
          <p:nvPr/>
        </p:nvSpPr>
        <p:spPr bwMode="auto">
          <a:xfrm>
            <a:off x="3776205" y="1332324"/>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81" name="Line 6"/>
          <p:cNvSpPr>
            <a:spLocks noChangeShapeType="1"/>
          </p:cNvSpPr>
          <p:nvPr/>
        </p:nvSpPr>
        <p:spPr bwMode="auto">
          <a:xfrm>
            <a:off x="4493304" y="1492800"/>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2" name="Line 7"/>
          <p:cNvSpPr>
            <a:spLocks noChangeShapeType="1"/>
          </p:cNvSpPr>
          <p:nvPr/>
        </p:nvSpPr>
        <p:spPr bwMode="auto">
          <a:xfrm flipH="1">
            <a:off x="4493304" y="1773888"/>
            <a:ext cx="2189423" cy="20238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3" name="Text Box 8"/>
          <p:cNvSpPr txBox="1">
            <a:spLocks noChangeArrowheads="1"/>
          </p:cNvSpPr>
          <p:nvPr/>
        </p:nvSpPr>
        <p:spPr bwMode="auto">
          <a:xfrm>
            <a:off x="6617310" y="165736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6" name="Line 11"/>
          <p:cNvSpPr>
            <a:spLocks noChangeShapeType="1"/>
          </p:cNvSpPr>
          <p:nvPr/>
        </p:nvSpPr>
        <p:spPr bwMode="auto">
          <a:xfrm>
            <a:off x="4493304" y="1393652"/>
            <a:ext cx="0" cy="2798618"/>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7" name="Line 12"/>
          <p:cNvSpPr>
            <a:spLocks noChangeShapeType="1"/>
          </p:cNvSpPr>
          <p:nvPr/>
        </p:nvSpPr>
        <p:spPr bwMode="auto">
          <a:xfrm>
            <a:off x="6682727" y="1393652"/>
            <a:ext cx="0" cy="2798618"/>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p>
        </p:txBody>
      </p:sp>
      <p:sp>
        <p:nvSpPr>
          <p:cNvPr id="96" name="Line 21"/>
          <p:cNvSpPr>
            <a:spLocks noChangeShapeType="1"/>
          </p:cNvSpPr>
          <p:nvPr/>
        </p:nvSpPr>
        <p:spPr bwMode="auto">
          <a:xfrm>
            <a:off x="4493304" y="2512896"/>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0" name="Line 15"/>
          <p:cNvSpPr>
            <a:spLocks noChangeShapeType="1"/>
          </p:cNvSpPr>
          <p:nvPr/>
        </p:nvSpPr>
        <p:spPr bwMode="auto">
          <a:xfrm flipH="1">
            <a:off x="4493304" y="2783762"/>
            <a:ext cx="2189423" cy="200339"/>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0" name="Text Box 25"/>
          <p:cNvSpPr txBox="1">
            <a:spLocks noChangeArrowheads="1"/>
          </p:cNvSpPr>
          <p:nvPr/>
        </p:nvSpPr>
        <p:spPr bwMode="auto">
          <a:xfrm>
            <a:off x="6617310" y="259671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1" name="Line 16"/>
          <p:cNvSpPr>
            <a:spLocks noChangeShapeType="1"/>
          </p:cNvSpPr>
          <p:nvPr/>
        </p:nvSpPr>
        <p:spPr bwMode="auto">
          <a:xfrm flipH="1">
            <a:off x="4493304" y="3118002"/>
            <a:ext cx="2189423" cy="20238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2" name="Line 17"/>
          <p:cNvSpPr>
            <a:spLocks noChangeShapeType="1"/>
          </p:cNvSpPr>
          <p:nvPr/>
        </p:nvSpPr>
        <p:spPr bwMode="auto">
          <a:xfrm flipH="1">
            <a:off x="4493304" y="3452241"/>
            <a:ext cx="2189423" cy="203406"/>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07" name="Line 32"/>
          <p:cNvSpPr>
            <a:spLocks noChangeShapeType="1"/>
          </p:cNvSpPr>
          <p:nvPr/>
        </p:nvSpPr>
        <p:spPr bwMode="auto">
          <a:xfrm>
            <a:off x="4497392" y="3520725"/>
            <a:ext cx="2188400"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grpSp>
        <p:nvGrpSpPr>
          <p:cNvPr id="109" name="Group 34"/>
          <p:cNvGrpSpPr>
            <a:grpSpLocks/>
          </p:cNvGrpSpPr>
          <p:nvPr/>
        </p:nvGrpSpPr>
        <p:grpSpPr bwMode="auto">
          <a:xfrm>
            <a:off x="1416328" y="2939639"/>
            <a:ext cx="3018729" cy="830998"/>
            <a:chOff x="91" y="2556"/>
            <a:chExt cx="2765" cy="813"/>
          </a:xfrm>
        </p:grpSpPr>
        <p:sp>
          <p:nvSpPr>
            <p:cNvPr id="114" name="Line 38"/>
            <p:cNvSpPr>
              <a:spLocks noChangeShapeType="1"/>
            </p:cNvSpPr>
            <p:nvPr/>
          </p:nvSpPr>
          <p:spPr bwMode="auto">
            <a:xfrm>
              <a:off x="1919" y="3270"/>
              <a:ext cx="937"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p>
        </p:txBody>
      </p:sp>
      <p:sp>
        <p:nvSpPr>
          <p:cNvPr id="117" name="Line 42"/>
          <p:cNvSpPr>
            <a:spLocks noChangeShapeType="1"/>
          </p:cNvSpPr>
          <p:nvPr/>
        </p:nvSpPr>
        <p:spPr bwMode="auto">
          <a:xfrm>
            <a:off x="4493304" y="1843394"/>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15" name="AutoShape 40"/>
          <p:cNvSpPr>
            <a:spLocks noChangeArrowheads="1"/>
          </p:cNvSpPr>
          <p:nvPr/>
        </p:nvSpPr>
        <p:spPr bwMode="auto">
          <a:xfrm>
            <a:off x="5615613" y="1938453"/>
            <a:ext cx="561154" cy="706298"/>
          </a:xfrm>
          <a:prstGeom prst="irregularSeal1">
            <a:avLst/>
          </a:prstGeom>
          <a:solidFill>
            <a:srgbClr val="C00000"/>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5</a:t>
            </a:r>
          </a:p>
        </p:txBody>
      </p:sp>
      <p:sp>
        <p:nvSpPr>
          <p:cNvPr id="119" name="Line 44"/>
          <p:cNvSpPr>
            <a:spLocks noChangeShapeType="1"/>
          </p:cNvSpPr>
          <p:nvPr/>
        </p:nvSpPr>
        <p:spPr bwMode="auto">
          <a:xfrm>
            <a:off x="4497392" y="2848157"/>
            <a:ext cx="2188400" cy="20340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120" name="Line 45"/>
          <p:cNvSpPr>
            <a:spLocks noChangeShapeType="1"/>
          </p:cNvSpPr>
          <p:nvPr/>
        </p:nvSpPr>
        <p:spPr bwMode="auto">
          <a:xfrm>
            <a:off x="4497392" y="3184441"/>
            <a:ext cx="2188400"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2" name="Line 27"/>
          <p:cNvSpPr>
            <a:spLocks noChangeShapeType="1"/>
          </p:cNvSpPr>
          <p:nvPr/>
        </p:nvSpPr>
        <p:spPr bwMode="auto">
          <a:xfrm>
            <a:off x="4493304" y="3789547"/>
            <a:ext cx="2189423" cy="203406"/>
          </a:xfrm>
          <a:prstGeom prst="line">
            <a:avLst/>
          </a:prstGeom>
          <a:noFill/>
          <a:ln w="127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60" name="Text Box 33"/>
          <p:cNvSpPr txBox="1">
            <a:spLocks noChangeArrowheads="1"/>
          </p:cNvSpPr>
          <p:nvPr/>
        </p:nvSpPr>
        <p:spPr bwMode="auto">
          <a:xfrm>
            <a:off x="3483631" y="3666889"/>
            <a:ext cx="10679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kern="0" dirty="0">
                <a:solidFill>
                  <a:srgbClr val="C00000"/>
                </a:solidFill>
                <a:latin typeface="Montserrat" panose="00000500000000000000" pitchFamily="2" charset="0"/>
                <a:ea typeface="微软雅黑 Light" panose="020B0502040204020203" pitchFamily="34" charset="-122"/>
              </a:rPr>
              <a:t>立即重传</a:t>
            </a:r>
            <a:r>
              <a:rPr kumimoji="0" lang="zh-CN" altLang="en-US"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solidFill>
                  <a:srgbClr val="C00000"/>
                </a:solidFill>
                <a:effectLst/>
                <a:uLnTx/>
                <a:uFillTx/>
                <a:latin typeface="Montserrat" panose="00000500000000000000" pitchFamily="2" charset="0"/>
                <a:ea typeface="微软雅黑 Light" panose="020B0502040204020203" pitchFamily="34" charset="-122"/>
              </a:rPr>
              <a:t>3</a:t>
            </a:r>
          </a:p>
        </p:txBody>
      </p:sp>
      <p:sp>
        <p:nvSpPr>
          <p:cNvPr id="64" name="Line 17"/>
          <p:cNvSpPr>
            <a:spLocks noChangeShapeType="1"/>
          </p:cNvSpPr>
          <p:nvPr/>
        </p:nvSpPr>
        <p:spPr bwMode="auto">
          <a:xfrm flipH="1">
            <a:off x="6154051" y="3780345"/>
            <a:ext cx="528675" cy="7666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65" name="Text Box 30"/>
          <p:cNvSpPr txBox="1">
            <a:spLocks noChangeArrowheads="1"/>
          </p:cNvSpPr>
          <p:nvPr/>
        </p:nvSpPr>
        <p:spPr bwMode="auto">
          <a:xfrm>
            <a:off x="6617310" y="361782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FAC2682C-5518-F468-83E5-39EC0DBF90BB}"/>
              </a:ext>
            </a:extLst>
          </p:cNvPr>
          <p:cNvSpPr>
            <a:spLocks noGrp="1"/>
          </p:cNvSpPr>
          <p:nvPr>
            <p:ph type="title"/>
          </p:nvPr>
        </p:nvSpPr>
        <p:spPr>
          <a:xfrm>
            <a:off x="486000" y="550723"/>
            <a:ext cx="8172000" cy="338554"/>
          </a:xfrm>
        </p:spPr>
        <p:txBody>
          <a:bodyPr/>
          <a:lstStyle/>
          <a:p>
            <a:r>
              <a:rPr lang="zh-CN" altLang="en-US" dirty="0"/>
              <a:t>快重传举例</a:t>
            </a:r>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animEffect transition="in" filter="wipe(right)">
                                      <p:cBhvr>
                                        <p:cTn id="7" dur="10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a:xfrm>
            <a:off x="486000" y="900000"/>
            <a:ext cx="8172000" cy="3703500"/>
          </a:xfrm>
        </p:spPr>
        <p:txBody>
          <a:bodyPr/>
          <a:lstStyle/>
          <a:p>
            <a:r>
              <a:rPr lang="zh-CN" altLang="en-US" dirty="0"/>
              <a:t>当发送端收到连续三个重复的确认时，不执行慢开始算法，而是执行快恢复算法 </a:t>
            </a:r>
            <a:r>
              <a:rPr lang="en-US" altLang="zh-CN" dirty="0"/>
              <a:t>FR (Fast Recovery) </a:t>
            </a:r>
            <a:r>
              <a:rPr lang="zh-CN" altLang="en-US" dirty="0"/>
              <a:t>算法：</a:t>
            </a:r>
          </a:p>
          <a:p>
            <a:pPr lvl="1"/>
            <a:r>
              <a:rPr lang="zh-CN" altLang="en-US" dirty="0"/>
              <a:t>慢开始门限 </a:t>
            </a:r>
            <a:r>
              <a:rPr lang="en-US" altLang="zh-CN" dirty="0" err="1"/>
              <a:t>ssthresh</a:t>
            </a:r>
            <a:r>
              <a:rPr lang="en-US" altLang="zh-CN" dirty="0"/>
              <a:t> = </a:t>
            </a:r>
            <a:r>
              <a:rPr lang="zh-CN" altLang="en-US" dirty="0"/>
              <a:t>当前拥塞窗口 </a:t>
            </a:r>
            <a:r>
              <a:rPr lang="en-US" altLang="zh-CN" dirty="0" err="1"/>
              <a:t>cwnd</a:t>
            </a:r>
            <a:r>
              <a:rPr lang="en-US" altLang="zh-CN" dirty="0"/>
              <a:t> / 2 </a:t>
            </a:r>
            <a:r>
              <a:rPr lang="zh-CN" altLang="en-US" dirty="0"/>
              <a:t>；</a:t>
            </a:r>
          </a:p>
          <a:p>
            <a:pPr lvl="1"/>
            <a:r>
              <a:rPr lang="zh-CN" altLang="en-US" dirty="0"/>
              <a:t>乘法减小 </a:t>
            </a:r>
            <a:r>
              <a:rPr lang="en-US" altLang="zh-CN" dirty="0"/>
              <a:t>MD (Multiplicative Decrease) </a:t>
            </a:r>
            <a:r>
              <a:rPr lang="zh-CN" altLang="en-US" dirty="0"/>
              <a:t>拥塞窗口。</a:t>
            </a:r>
            <a:endParaRPr lang="en-US" altLang="zh-CN" dirty="0"/>
          </a:p>
          <a:p>
            <a:pPr lvl="1"/>
            <a:r>
              <a:rPr lang="en-US" altLang="zh-CN" dirty="0"/>
              <a:t>     </a:t>
            </a:r>
            <a:r>
              <a:rPr lang="zh-CN" altLang="en-US" dirty="0"/>
              <a:t>新拥塞窗口 </a:t>
            </a:r>
            <a:r>
              <a:rPr lang="en-US" altLang="zh-CN" dirty="0" err="1"/>
              <a:t>cwnd</a:t>
            </a:r>
            <a:r>
              <a:rPr lang="en-US" altLang="zh-CN" dirty="0"/>
              <a:t> = </a:t>
            </a:r>
            <a:r>
              <a:rPr lang="zh-CN" altLang="en-US" dirty="0"/>
              <a:t>慢开始门限 </a:t>
            </a:r>
            <a:r>
              <a:rPr lang="en-US" altLang="zh-CN" dirty="0" err="1"/>
              <a:t>ssthresh</a:t>
            </a:r>
            <a:r>
              <a:rPr lang="en-US" altLang="zh-CN" dirty="0"/>
              <a:t> </a:t>
            </a:r>
            <a:r>
              <a:rPr lang="zh-CN" altLang="en-US" dirty="0"/>
              <a:t>；</a:t>
            </a:r>
          </a:p>
          <a:p>
            <a:pPr lvl="1"/>
            <a:r>
              <a:rPr lang="zh-CN" altLang="en-US" dirty="0"/>
              <a:t>执行拥塞避免算法，使拥塞窗口缓慢地线性增大（加法增大 </a:t>
            </a:r>
            <a:r>
              <a:rPr lang="en-US" altLang="zh-CN" dirty="0"/>
              <a:t>AI</a:t>
            </a:r>
            <a:r>
              <a:rPr lang="zh-CN" altLang="en-US" dirty="0"/>
              <a:t>）。 </a:t>
            </a:r>
            <a:endParaRPr lang="en-US" altLang="zh-CN" dirty="0"/>
          </a:p>
          <a:p>
            <a:endParaRPr lang="zh-CN" altLang="en-US" dirty="0"/>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486000" y="550723"/>
            <a:ext cx="8172000" cy="338554"/>
          </a:xfrm>
        </p:spPr>
        <p:txBody>
          <a:bodyPr/>
          <a:lstStyle/>
          <a:p>
            <a:r>
              <a:rPr lang="zh-CN" altLang="en-US" dirty="0"/>
              <a:t>快恢复 </a:t>
            </a:r>
            <a:r>
              <a:rPr lang="en-US" altLang="zh-CN" dirty="0"/>
              <a:t>FR (Fast Recovery)</a:t>
            </a:r>
            <a:r>
              <a:rPr lang="zh-CN" altLang="en-US" dirty="0"/>
              <a:t>算法</a:t>
            </a:r>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EC75BA6F-C9B8-2A82-B169-5AFD00331ED1}"/>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412B77-4845-D994-E517-FDDA9FAF0975}"/>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肘形连接符 105"/>
          <p:cNvCxnSpPr>
            <a:cxnSpLocks/>
            <a:stCxn id="21" idx="3"/>
            <a:endCxn id="12" idx="0"/>
          </p:cNvCxnSpPr>
          <p:nvPr/>
        </p:nvCxnSpPr>
        <p:spPr>
          <a:xfrm>
            <a:off x="6166318" y="2139186"/>
            <a:ext cx="1019605" cy="485512"/>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cxnSpLocks/>
            <a:stCxn id="25" idx="3"/>
            <a:endCxn id="12" idx="2"/>
          </p:cNvCxnSpPr>
          <p:nvPr/>
        </p:nvCxnSpPr>
        <p:spPr>
          <a:xfrm flipV="1">
            <a:off x="6166318" y="3086363"/>
            <a:ext cx="1019605" cy="421549"/>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a:cxnSpLocks/>
            <a:stCxn id="6" idx="2"/>
            <a:endCxn id="19" idx="0"/>
          </p:cNvCxnSpPr>
          <p:nvPr/>
        </p:nvCxnSpPr>
        <p:spPr>
          <a:xfrm>
            <a:off x="4620953" y="1416151"/>
            <a:ext cx="0" cy="290430"/>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49930" y="1139152"/>
            <a:ext cx="114204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连接建立</a:t>
            </a:r>
          </a:p>
        </p:txBody>
      </p:sp>
      <p:cxnSp>
        <p:nvCxnSpPr>
          <p:cNvPr id="7" name="直接箭头连接符 6"/>
          <p:cNvCxnSpPr>
            <a:cxnSpLocks/>
            <a:stCxn id="18" idx="2"/>
            <a:endCxn id="24" idx="0"/>
          </p:cNvCxnSpPr>
          <p:nvPr/>
        </p:nvCxnSpPr>
        <p:spPr>
          <a:xfrm>
            <a:off x="4620952" y="2574331"/>
            <a:ext cx="1" cy="513577"/>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3105135" y="3120414"/>
            <a:ext cx="3031634" cy="728202"/>
          </a:xfrm>
          <a:prstGeom prst="flowChartProcess">
            <a:avLst/>
          </a:prstGeom>
          <a:noFill/>
          <a:ln w="9525">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9" name="TextBox 65"/>
          <p:cNvSpPr txBox="1">
            <a:spLocks noChangeArrowheads="1"/>
          </p:cNvSpPr>
          <p:nvPr/>
        </p:nvSpPr>
        <p:spPr bwMode="auto">
          <a:xfrm>
            <a:off x="1382573" y="1251663"/>
            <a:ext cx="1701612" cy="461665"/>
          </a:xfrm>
          <a:prstGeom prst="rect">
            <a:avLst/>
          </a:prstGeom>
          <a:noFill/>
          <a:ln w="9525">
            <a:solidFill>
              <a:schemeClr val="tx1"/>
            </a:solidFill>
            <a:miter lim="800000"/>
            <a:headEnd/>
            <a:tailEnd/>
          </a:ln>
        </p:spPr>
        <p:txBody>
          <a:bodyPr wrap="none" anchor="ctr"/>
          <a:lstStyle>
            <a:defPPr>
              <a:defRPr lang="zh-CN"/>
            </a:defPPr>
            <a:lvl1pPr algn="ctr">
              <a:defRPr sz="1200">
                <a:solidFill>
                  <a:sysClr val="windowText" lastClr="000000"/>
                </a:solidFill>
                <a:latin typeface="Montserrat" panose="00000500000000000000" pitchFamily="2" charset="0"/>
                <a:ea typeface="微软雅黑 Light" panose="020B0502040204020203" pitchFamily="34"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r>
              <a:rPr lang="en-US" altLang="zh-CN"/>
              <a:t>ssthresh</a:t>
            </a:r>
            <a:r>
              <a:rPr lang="en-US" altLang="zh-CN" dirty="0"/>
              <a:t> </a:t>
            </a:r>
            <a:r>
              <a:rPr lang="en-US" altLang="zh-CN"/>
              <a:t>= cwnd</a:t>
            </a:r>
            <a:r>
              <a:rPr lang="en-US" altLang="zh-CN" dirty="0"/>
              <a:t> / 2</a:t>
            </a:r>
          </a:p>
          <a:p>
            <a:r>
              <a:rPr lang="en-US" altLang="zh-CN"/>
              <a:t>cwnd</a:t>
            </a:r>
            <a:r>
              <a:rPr lang="en-US" altLang="zh-CN" dirty="0"/>
              <a:t> = 1</a:t>
            </a:r>
            <a:endParaRPr lang="zh-CN" altLang="en-US" dirty="0"/>
          </a:p>
        </p:txBody>
      </p:sp>
      <p:cxnSp>
        <p:nvCxnSpPr>
          <p:cNvPr id="10" name="肘形连接符 9"/>
          <p:cNvCxnSpPr>
            <a:stCxn id="22" idx="1"/>
            <a:endCxn id="9" idx="2"/>
          </p:cNvCxnSpPr>
          <p:nvPr/>
        </p:nvCxnSpPr>
        <p:spPr>
          <a:xfrm rot="10800000">
            <a:off x="2233379" y="1713328"/>
            <a:ext cx="872890" cy="422450"/>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2233379" y="1713329"/>
            <a:ext cx="871756" cy="1771187"/>
          </a:xfrm>
          <a:prstGeom prst="bentConnector2">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6245181" y="2624698"/>
            <a:ext cx="1881484" cy="461665"/>
          </a:xfrm>
          <a:prstGeom prst="rect">
            <a:avLst/>
          </a:prstGeom>
          <a:noFill/>
          <a:ln w="9525">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a:solidFill>
                  <a:sysClr val="windowText" lastClr="000000"/>
                </a:solidFill>
                <a:latin typeface="Montserrat" panose="00000500000000000000" pitchFamily="2" charset="0"/>
                <a:ea typeface="微软雅黑 Light" panose="020B0502040204020203" pitchFamily="34" charset="-122"/>
                <a:cs typeface="Times New Roman" pitchFamily="18" charset="0"/>
              </a:rPr>
              <a:t>ssthresh = cwnd / 2</a:t>
            </a:r>
          </a:p>
          <a:p>
            <a:pPr algn="ctr" eaLnBrk="1" hangingPunct="1"/>
            <a:r>
              <a:rPr lang="en-US" altLang="zh-CN" sz="1200">
                <a:solidFill>
                  <a:sysClr val="windowText" lastClr="000000"/>
                </a:solidFill>
                <a:latin typeface="Montserrat" panose="00000500000000000000" pitchFamily="2" charset="0"/>
                <a:ea typeface="微软雅黑 Light" panose="020B0502040204020203" pitchFamily="34" charset="-122"/>
                <a:cs typeface="Times New Roman" pitchFamily="18" charset="0"/>
              </a:rPr>
              <a:t>cwnd = ssthresh</a:t>
            </a:r>
            <a:endParaRPr lang="zh-CN" altLang="en-US" sz="1200">
              <a:solidFill>
                <a:sysClr val="windowText" lastClr="000000"/>
              </a:solidFill>
              <a:latin typeface="Montserrat" panose="00000500000000000000" pitchFamily="2" charset="0"/>
              <a:ea typeface="微软雅黑 Light" panose="020B0502040204020203" pitchFamily="34" charset="-122"/>
              <a:cs typeface="Times New Roman" pitchFamily="18" charset="0"/>
            </a:endParaRPr>
          </a:p>
        </p:txBody>
      </p:sp>
      <p:cxnSp>
        <p:nvCxnSpPr>
          <p:cNvPr id="13" name="直接箭头连接符 12"/>
          <p:cNvCxnSpPr>
            <a:cxnSpLocks/>
            <a:stCxn id="12" idx="1"/>
          </p:cNvCxnSpPr>
          <p:nvPr/>
        </p:nvCxnSpPr>
        <p:spPr>
          <a:xfrm flipH="1">
            <a:off x="4620952" y="2855531"/>
            <a:ext cx="1624229" cy="0"/>
          </a:xfrm>
          <a:prstGeom prst="straightConnector1">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cxnSpLocks/>
            <a:stCxn id="8" idx="2"/>
            <a:endCxn id="17" idx="0"/>
          </p:cNvCxnSpPr>
          <p:nvPr/>
        </p:nvCxnSpPr>
        <p:spPr>
          <a:xfrm>
            <a:off x="4620952" y="3848616"/>
            <a:ext cx="1" cy="26247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049931" y="4111088"/>
            <a:ext cx="11420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连接释放</a:t>
            </a:r>
          </a:p>
        </p:txBody>
      </p:sp>
      <p:sp>
        <p:nvSpPr>
          <p:cNvPr id="18" name="AutoShape 5"/>
          <p:cNvSpPr>
            <a:spLocks noChangeArrowheads="1"/>
          </p:cNvSpPr>
          <p:nvPr/>
        </p:nvSpPr>
        <p:spPr bwMode="auto">
          <a:xfrm>
            <a:off x="3105135" y="1728525"/>
            <a:ext cx="3031634" cy="845806"/>
          </a:xfrm>
          <a:prstGeom prst="flowChartProcess">
            <a:avLst/>
          </a:prstGeom>
          <a:noFill/>
          <a:ln w="9525">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19" name="Text Box 15"/>
          <p:cNvSpPr txBox="1">
            <a:spLocks noChangeArrowheads="1"/>
          </p:cNvSpPr>
          <p:nvPr/>
        </p:nvSpPr>
        <p:spPr bwMode="auto">
          <a:xfrm>
            <a:off x="4297787" y="1706581"/>
            <a:ext cx="646331"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慢开始</a:t>
            </a:r>
          </a:p>
        </p:txBody>
      </p:sp>
      <p:sp>
        <p:nvSpPr>
          <p:cNvPr id="20" name="Text Box 16"/>
          <p:cNvSpPr txBox="1">
            <a:spLocks noChangeArrowheads="1"/>
          </p:cNvSpPr>
          <p:nvPr/>
        </p:nvSpPr>
        <p:spPr bwMode="auto">
          <a:xfrm>
            <a:off x="3625782" y="2008202"/>
            <a:ext cx="19903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初始拥塞窗口 </a:t>
            </a:r>
            <a:r>
              <a:rPr lang="en-US" altLang="zh-CN" sz="1200" dirty="0">
                <a:solidFill>
                  <a:sysClr val="windowText" lastClr="000000"/>
                </a:solidFill>
                <a:latin typeface="Montserrat" panose="00000500000000000000" pitchFamily="2" charset="0"/>
                <a:ea typeface="微软雅黑 Light" panose="020B0502040204020203" pitchFamily="34" charset="-122"/>
              </a:rPr>
              <a:t>cwnd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1 </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按指数规律增大</a:t>
            </a:r>
            <a:endParaRPr lang="en-US" altLang="zh-CN" sz="1200" u="sng" dirty="0">
              <a:solidFill>
                <a:sysClr val="windowText" lastClr="000000"/>
              </a:solidFill>
              <a:latin typeface="Montserrat" panose="00000500000000000000" pitchFamily="2" charset="0"/>
              <a:ea typeface="微软雅黑 Light" panose="020B0502040204020203" pitchFamily="34" charset="-122"/>
              <a:sym typeface="Symbol" pitchFamily="18" charset="2"/>
            </a:endParaRPr>
          </a:p>
        </p:txBody>
      </p:sp>
      <p:sp>
        <p:nvSpPr>
          <p:cNvPr id="21" name="TextBox 25"/>
          <p:cNvSpPr txBox="1">
            <a:spLocks noChangeArrowheads="1"/>
          </p:cNvSpPr>
          <p:nvPr/>
        </p:nvSpPr>
        <p:spPr bwMode="auto">
          <a:xfrm>
            <a:off x="5297863" y="1908353"/>
            <a:ext cx="86845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3 </a:t>
            </a:r>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的 </a:t>
            </a:r>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ACK</a:t>
            </a:r>
            <a:endPar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endParaRPr>
          </a:p>
        </p:txBody>
      </p:sp>
      <p:sp>
        <p:nvSpPr>
          <p:cNvPr id="22" name="TextBox 26"/>
          <p:cNvSpPr txBox="1">
            <a:spLocks noChangeArrowheads="1"/>
          </p:cNvSpPr>
          <p:nvPr/>
        </p:nvSpPr>
        <p:spPr bwMode="auto">
          <a:xfrm>
            <a:off x="3106269" y="1997278"/>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超时</a:t>
            </a:r>
          </a:p>
        </p:txBody>
      </p:sp>
      <p:sp>
        <p:nvSpPr>
          <p:cNvPr id="24" name="Text Box 15"/>
          <p:cNvSpPr txBox="1">
            <a:spLocks noChangeArrowheads="1"/>
          </p:cNvSpPr>
          <p:nvPr/>
        </p:nvSpPr>
        <p:spPr bwMode="auto">
          <a:xfrm>
            <a:off x="4220843" y="3087908"/>
            <a:ext cx="800219"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拥塞避免</a:t>
            </a:r>
          </a:p>
        </p:txBody>
      </p:sp>
      <p:sp>
        <p:nvSpPr>
          <p:cNvPr id="25" name="TextBox 41"/>
          <p:cNvSpPr txBox="1">
            <a:spLocks noChangeArrowheads="1"/>
          </p:cNvSpPr>
          <p:nvPr/>
        </p:nvSpPr>
        <p:spPr bwMode="auto">
          <a:xfrm>
            <a:off x="5327413" y="3277079"/>
            <a:ext cx="83890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latin typeface="Montserrat" panose="00000500000000000000" pitchFamily="2" charset="0"/>
                <a:ea typeface="微软雅黑 Light" panose="020B0502040204020203" pitchFamily="34" charset="-122"/>
                <a:cs typeface="Times New Roman" pitchFamily="18" charset="0"/>
              </a:rPr>
              <a:t>3 </a:t>
            </a:r>
            <a:r>
              <a:rPr lang="zh-CN" altLang="en-US" sz="1200" dirty="0">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latin typeface="Montserrat" panose="00000500000000000000" pitchFamily="2" charset="0"/>
                <a:ea typeface="微软雅黑 Light" panose="020B0502040204020203" pitchFamily="34" charset="-122"/>
                <a:cs typeface="Times New Roman" pitchFamily="18" charset="0"/>
              </a:rPr>
              <a:t>的 </a:t>
            </a:r>
            <a:r>
              <a:rPr lang="en-US" altLang="zh-CN" sz="1200" dirty="0">
                <a:latin typeface="Montserrat" panose="00000500000000000000" pitchFamily="2" charset="0"/>
                <a:ea typeface="微软雅黑 Light" panose="020B0502040204020203" pitchFamily="34" charset="-122"/>
                <a:cs typeface="Times New Roman" pitchFamily="18" charset="0"/>
              </a:rPr>
              <a:t>ACK</a:t>
            </a:r>
            <a:endParaRPr lang="zh-CN" altLang="en-US" sz="1200" dirty="0">
              <a:latin typeface="Montserrat" panose="00000500000000000000" pitchFamily="2" charset="0"/>
              <a:ea typeface="微软雅黑 Light" panose="020B0502040204020203" pitchFamily="34" charset="-122"/>
              <a:cs typeface="Times New Roman" pitchFamily="18" charset="0"/>
            </a:endParaRPr>
          </a:p>
        </p:txBody>
      </p:sp>
      <p:sp>
        <p:nvSpPr>
          <p:cNvPr id="26" name="TextBox 42"/>
          <p:cNvSpPr txBox="1">
            <a:spLocks noChangeArrowheads="1"/>
          </p:cNvSpPr>
          <p:nvPr/>
        </p:nvSpPr>
        <p:spPr bwMode="auto">
          <a:xfrm>
            <a:off x="3106269" y="332251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超时</a:t>
            </a:r>
          </a:p>
        </p:txBody>
      </p:sp>
      <p:sp>
        <p:nvSpPr>
          <p:cNvPr id="27" name="Text Box 16"/>
          <p:cNvSpPr txBox="1">
            <a:spLocks noChangeArrowheads="1"/>
          </p:cNvSpPr>
          <p:nvPr/>
        </p:nvSpPr>
        <p:spPr bwMode="auto">
          <a:xfrm>
            <a:off x="3929972" y="3364758"/>
            <a:ext cx="13819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latin typeface="Montserrat" panose="00000500000000000000" pitchFamily="2" charset="0"/>
                <a:ea typeface="微软雅黑 Light" panose="020B0502040204020203" pitchFamily="34" charset="-122"/>
              </a:rPr>
              <a:t>拥塞窗口 </a:t>
            </a:r>
            <a:r>
              <a:rPr lang="en-US" altLang="zh-CN" sz="1200" dirty="0">
                <a:latin typeface="Montserrat" panose="00000500000000000000" pitchFamily="2" charset="0"/>
                <a:ea typeface="微软雅黑 Light" panose="020B0502040204020203" pitchFamily="34" charset="-122"/>
              </a:rPr>
              <a:t>cwnd </a:t>
            </a:r>
            <a:endParaRPr lang="zh-CN" altLang="en-US" sz="1200" dirty="0">
              <a:latin typeface="Montserrat" panose="00000500000000000000" pitchFamily="2" charset="0"/>
              <a:ea typeface="微软雅黑 Light" panose="020B0502040204020203" pitchFamily="34" charset="-122"/>
            </a:endParaRPr>
          </a:p>
          <a:p>
            <a:pPr algn="ctr" eaLnBrk="1" hangingPunct="1"/>
            <a:r>
              <a:rPr lang="zh-CN" altLang="en-US" sz="1200" dirty="0">
                <a:latin typeface="Montserrat" panose="00000500000000000000" pitchFamily="2" charset="0"/>
                <a:ea typeface="微软雅黑 Light" panose="020B0502040204020203" pitchFamily="34" charset="-122"/>
              </a:rPr>
              <a:t>按线性规律增大</a:t>
            </a:r>
            <a:endParaRPr lang="en-US" altLang="zh-CN" sz="1200" u="sng" dirty="0">
              <a:latin typeface="Montserrat" panose="00000500000000000000" pitchFamily="2" charset="0"/>
              <a:ea typeface="微软雅黑 Light" panose="020B0502040204020203" pitchFamily="34" charset="-122"/>
              <a:sym typeface="Symbol" pitchFamily="18" charset="2"/>
            </a:endParaRPr>
          </a:p>
        </p:txBody>
      </p:sp>
      <p:cxnSp>
        <p:nvCxnSpPr>
          <p:cNvPr id="29" name="直接连接符 28"/>
          <p:cNvCxnSpPr/>
          <p:nvPr/>
        </p:nvCxnSpPr>
        <p:spPr bwMode="auto">
          <a:xfrm>
            <a:off x="3084185" y="1481084"/>
            <a:ext cx="727878" cy="3"/>
          </a:xfrm>
          <a:prstGeom prst="line">
            <a:avLst/>
          </a:pr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812063" y="1481084"/>
            <a:ext cx="0" cy="24744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32" name="标题 31">
            <a:extLst>
              <a:ext uri="{FF2B5EF4-FFF2-40B4-BE49-F238E27FC236}">
                <a16:creationId xmlns:a16="http://schemas.microsoft.com/office/drawing/2014/main" id="{43575F59-197D-36C7-F34F-985F2B8E6855}"/>
              </a:ext>
            </a:extLst>
          </p:cNvPr>
          <p:cNvSpPr>
            <a:spLocks noGrp="1"/>
          </p:cNvSpPr>
          <p:nvPr>
            <p:ph type="title"/>
          </p:nvPr>
        </p:nvSpPr>
        <p:spPr>
          <a:xfrm>
            <a:off x="486000" y="550723"/>
            <a:ext cx="8172000" cy="338554"/>
          </a:xfrm>
        </p:spPr>
        <p:txBody>
          <a:bodyPr/>
          <a:lstStyle/>
          <a:p>
            <a:r>
              <a:rPr lang="en-US" altLang="zh-CN" dirty="0"/>
              <a:t>TCP </a:t>
            </a:r>
            <a:r>
              <a:rPr lang="zh-CN" altLang="en-US" dirty="0"/>
              <a:t>拥塞控制流程图</a:t>
            </a:r>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38358" y="3335408"/>
            <a:ext cx="7267284" cy="531100"/>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发送窗口的上限值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Min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(5-9)</a:t>
            </a:r>
          </a:p>
        </p:txBody>
      </p:sp>
      <p:sp>
        <p:nvSpPr>
          <p:cNvPr id="7" name="内容占位符 6">
            <a:extLst>
              <a:ext uri="{FF2B5EF4-FFF2-40B4-BE49-F238E27FC236}">
                <a16:creationId xmlns:a16="http://schemas.microsoft.com/office/drawing/2014/main" id="{13AAC761-E54D-56E8-5AA7-C0BF0B5A82EE}"/>
              </a:ext>
            </a:extLst>
          </p:cNvPr>
          <p:cNvSpPr>
            <a:spLocks noGrp="1"/>
          </p:cNvSpPr>
          <p:nvPr>
            <p:ph sz="quarter" idx="11"/>
          </p:nvPr>
        </p:nvSpPr>
        <p:spPr>
          <a:xfrm>
            <a:off x="486000" y="900000"/>
            <a:ext cx="8172000" cy="3703500"/>
          </a:xfrm>
        </p:spPr>
        <p:txBody>
          <a:bodyPr/>
          <a:lstStyle/>
          <a:p>
            <a:r>
              <a:rPr lang="zh-CN" altLang="en-US" dirty="0"/>
              <a:t>当 </a:t>
            </a:r>
            <a:r>
              <a:rPr lang="en-US" altLang="zh-CN" dirty="0" err="1"/>
              <a:t>rwnd</a:t>
            </a:r>
            <a:r>
              <a:rPr lang="en-US" altLang="zh-CN" dirty="0"/>
              <a:t> &lt; </a:t>
            </a:r>
            <a:r>
              <a:rPr lang="en-US" altLang="zh-CN" dirty="0" err="1"/>
              <a:t>cwnd</a:t>
            </a:r>
            <a:r>
              <a:rPr lang="en-US" altLang="zh-CN" dirty="0"/>
              <a:t> </a:t>
            </a:r>
            <a:r>
              <a:rPr lang="zh-CN" altLang="en-US" dirty="0"/>
              <a:t>时，是接收方的接收能力限制发送窗口的最大值。</a:t>
            </a:r>
          </a:p>
          <a:p>
            <a:r>
              <a:rPr lang="zh-CN" altLang="en-US" dirty="0"/>
              <a:t>当 </a:t>
            </a:r>
            <a:r>
              <a:rPr lang="en-US" altLang="zh-CN" dirty="0" err="1"/>
              <a:t>cwnd</a:t>
            </a:r>
            <a:r>
              <a:rPr lang="en-US" altLang="zh-CN" dirty="0"/>
              <a:t> &lt; </a:t>
            </a:r>
            <a:r>
              <a:rPr lang="en-US" altLang="zh-CN" dirty="0" err="1"/>
              <a:t>rwnd</a:t>
            </a:r>
            <a:r>
              <a:rPr lang="en-US" altLang="zh-CN" dirty="0"/>
              <a:t> </a:t>
            </a:r>
            <a:r>
              <a:rPr lang="zh-CN" altLang="en-US" dirty="0"/>
              <a:t>时，是网络拥塞限制发送窗口的最大值。 </a:t>
            </a:r>
          </a:p>
          <a:p>
            <a:endParaRPr lang="zh-CN" altLang="en-US" dirty="0"/>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486000" y="550723"/>
            <a:ext cx="8172000" cy="338554"/>
          </a:xfrm>
        </p:spPr>
        <p:txBody>
          <a:bodyPr/>
          <a:lstStyle/>
          <a:p>
            <a:r>
              <a:rPr lang="zh-CN" altLang="en-US" dirty="0"/>
              <a:t>发送窗口的上限值</a:t>
            </a:r>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拥塞控制和网络层采取的策略有密切联系。</a:t>
            </a:r>
            <a:endParaRPr lang="en-US" altLang="zh-CN" dirty="0"/>
          </a:p>
          <a:p>
            <a:r>
              <a:rPr lang="zh-CN" altLang="en-US" dirty="0"/>
              <a:t>例如：</a:t>
            </a:r>
            <a:endParaRPr lang="en-US" altLang="zh-CN" dirty="0"/>
          </a:p>
          <a:p>
            <a:pPr lvl="1"/>
            <a:r>
              <a:rPr lang="zh-CN" altLang="en-US" dirty="0"/>
              <a:t>若路由器对某些分组的处理时间特别长，就可能引起发送方 </a:t>
            </a:r>
            <a:r>
              <a:rPr lang="en-US" altLang="zh-CN" dirty="0"/>
              <a:t>TCP </a:t>
            </a:r>
            <a:r>
              <a:rPr lang="zh-CN" altLang="en-US" dirty="0"/>
              <a:t>超时，对这些报文段进行重传。</a:t>
            </a:r>
          </a:p>
          <a:p>
            <a:pPr lvl="1"/>
            <a:r>
              <a:rPr lang="zh-CN" altLang="en-US" dirty="0"/>
              <a:t>重传会使 </a:t>
            </a:r>
            <a:r>
              <a:rPr lang="en-US" altLang="zh-CN" dirty="0"/>
              <a:t>TCP </a:t>
            </a:r>
            <a:r>
              <a:rPr lang="zh-CN" altLang="en-US" dirty="0"/>
              <a:t>连接的发送端认为在网络中发生了拥塞，但实际上网络并没有发生拥塞。</a:t>
            </a:r>
            <a:endParaRPr lang="en-US" altLang="zh-CN" dirty="0"/>
          </a:p>
          <a:p>
            <a:r>
              <a:rPr lang="zh-CN" altLang="en-US" dirty="0"/>
              <a:t>对 </a:t>
            </a:r>
            <a:r>
              <a:rPr lang="en-US" altLang="zh-CN" dirty="0"/>
              <a:t>TCP </a:t>
            </a:r>
            <a:r>
              <a:rPr lang="zh-CN" altLang="en-US" dirty="0"/>
              <a:t>拥塞控制影响最大的就是路由器的分组丢弃策略。</a:t>
            </a:r>
          </a:p>
          <a:p>
            <a:endParaRPr lang="zh-CN" altLang="en-US" dirty="0"/>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486000" y="550723"/>
            <a:ext cx="8172000" cy="338554"/>
          </a:xfrm>
        </p:spPr>
        <p:txBody>
          <a:bodyPr/>
          <a:lstStyle/>
          <a:p>
            <a:r>
              <a:rPr lang="en-US" altLang="zh-CN" dirty="0"/>
              <a:t>5.8.3   </a:t>
            </a:r>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a:xfrm>
            <a:off x="486000" y="900000"/>
            <a:ext cx="8172000" cy="3703500"/>
          </a:xfrm>
        </p:spPr>
        <p:txBody>
          <a:bodyPr/>
          <a:lstStyle/>
          <a:p>
            <a:r>
              <a:rPr lang="zh-CN" altLang="en-US" dirty="0"/>
              <a:t>先进先出</a:t>
            </a:r>
            <a:r>
              <a:rPr lang="en-US" altLang="zh-CN" dirty="0"/>
              <a:t>FIFO (First In First Out) </a:t>
            </a:r>
            <a:r>
              <a:rPr lang="zh-CN" altLang="en-US" dirty="0"/>
              <a:t>处理规则：</a:t>
            </a:r>
          </a:p>
          <a:p>
            <a:r>
              <a:rPr lang="zh-CN" altLang="en-US" dirty="0"/>
              <a:t>尾部丢弃策略 </a:t>
            </a:r>
            <a:r>
              <a:rPr lang="en-US" altLang="zh-CN" dirty="0"/>
              <a:t>(tail-drop policy)</a:t>
            </a:r>
            <a:r>
              <a:rPr lang="zh-CN" altLang="en-US" dirty="0"/>
              <a:t>：当队列已满时，以后到达的所有分组（如果能够继续排队，这些分组都将排在队列的尾部）将都被丢弃。</a:t>
            </a:r>
            <a:endParaRPr lang="en-US" altLang="zh-CN" dirty="0"/>
          </a:p>
          <a:p>
            <a:r>
              <a:rPr lang="zh-CN" altLang="en-US" dirty="0"/>
              <a:t>路由器的尾部丢弃往往会导致一连串分组的丢失，这就使发送方出现超时重传，使 </a:t>
            </a:r>
            <a:r>
              <a:rPr lang="en-US" altLang="zh-CN" dirty="0"/>
              <a:t>TCP </a:t>
            </a:r>
            <a:r>
              <a:rPr lang="zh-CN" altLang="en-US" dirty="0"/>
              <a:t>进入拥塞控制的慢开始状态，结果使 </a:t>
            </a:r>
            <a:r>
              <a:rPr lang="en-US" altLang="zh-CN" dirty="0"/>
              <a:t>TCP </a:t>
            </a:r>
            <a:r>
              <a:rPr lang="zh-CN" altLang="en-US" dirty="0"/>
              <a:t>连接的发送方突然把数据的发送速率降低到很小的数值。</a:t>
            </a:r>
          </a:p>
          <a:p>
            <a:endParaRPr lang="zh-CN" altLang="en-US" dirty="0"/>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486000" y="550723"/>
            <a:ext cx="8172000" cy="338554"/>
          </a:xfrm>
        </p:spPr>
        <p:txBody>
          <a:bodyPr/>
          <a:lstStyle/>
          <a:p>
            <a:r>
              <a:rPr lang="zh-CN" altLang="en-US" dirty="0"/>
              <a:t>“先进先出”</a:t>
            </a:r>
            <a:r>
              <a:rPr lang="en-US" altLang="zh-CN" dirty="0"/>
              <a:t>FIFO </a:t>
            </a:r>
            <a:r>
              <a:rPr lang="zh-CN" altLang="en-US" dirty="0"/>
              <a:t>处理规则</a:t>
            </a:r>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4" name="标题 3">
            <a:extLst>
              <a:ext uri="{FF2B5EF4-FFF2-40B4-BE49-F238E27FC236}">
                <a16:creationId xmlns:a16="http://schemas.microsoft.com/office/drawing/2014/main" id="{F5D4AF3C-D8B6-48C7-FC44-AB41A0112914}"/>
              </a:ext>
            </a:extLst>
          </p:cNvPr>
          <p:cNvSpPr>
            <a:spLocks noGrp="1"/>
          </p:cNvSpPr>
          <p:nvPr>
            <p:ph type="title"/>
          </p:nvPr>
        </p:nvSpPr>
        <p:spPr>
          <a:xfrm>
            <a:off x="486000" y="550723"/>
            <a:ext cx="8172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 name="标题 1">
            <a:extLst>
              <a:ext uri="{FF2B5EF4-FFF2-40B4-BE49-F238E27FC236}">
                <a16:creationId xmlns:a16="http://schemas.microsoft.com/office/drawing/2014/main" id="{7693F21C-AE30-D8E6-15F5-5BCBA0421B0A}"/>
              </a:ext>
            </a:extLst>
          </p:cNvPr>
          <p:cNvSpPr>
            <a:spLocks noGrp="1"/>
          </p:cNvSpPr>
          <p:nvPr>
            <p:ph type="title"/>
          </p:nvPr>
        </p:nvSpPr>
        <p:spPr>
          <a:xfrm>
            <a:off x="486000" y="550723"/>
            <a:ext cx="8172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6DFDA73C-C3E4-10C7-E297-530F756E8235}"/>
              </a:ext>
            </a:extLst>
          </p:cNvPr>
          <p:cNvSpPr>
            <a:spLocks noGrp="1"/>
          </p:cNvSpPr>
          <p:nvPr>
            <p:ph type="title"/>
          </p:nvPr>
        </p:nvSpPr>
        <p:spPr>
          <a:xfrm>
            <a:off x="486000" y="550723"/>
            <a:ext cx="8172000" cy="338554"/>
          </a:xfrm>
        </p:spPr>
        <p:txBody>
          <a:bodyPr/>
          <a:lstStyle/>
          <a:p>
            <a:r>
              <a:rPr lang="zh-CN" altLang="en-US" dirty="0"/>
              <a:t>严重问题：全局同步</a:t>
            </a:r>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2" name="标题 1">
            <a:extLst>
              <a:ext uri="{FF2B5EF4-FFF2-40B4-BE49-F238E27FC236}">
                <a16:creationId xmlns:a16="http://schemas.microsoft.com/office/drawing/2014/main" id="{42B8B07D-D531-22EC-12BC-FF49825F50BB}"/>
              </a:ext>
            </a:extLst>
          </p:cNvPr>
          <p:cNvSpPr>
            <a:spLocks noGrp="1"/>
          </p:cNvSpPr>
          <p:nvPr>
            <p:ph type="title"/>
          </p:nvPr>
        </p:nvSpPr>
        <p:spPr>
          <a:xfrm>
            <a:off x="486000" y="550723"/>
            <a:ext cx="8172000" cy="338554"/>
          </a:xfrm>
        </p:spPr>
        <p:txBody>
          <a:bodyPr/>
          <a:lstStyle/>
          <a:p>
            <a:r>
              <a:rPr lang="zh-CN" altLang="en-US" dirty="0"/>
              <a:t>严重问题：全局同步</a:t>
            </a:r>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a:xfrm>
            <a:off x="486000" y="900000"/>
            <a:ext cx="8172000" cy="3703500"/>
          </a:xfrm>
        </p:spPr>
        <p:txBody>
          <a:bodyPr/>
          <a:lstStyle/>
          <a:p>
            <a:r>
              <a:rPr lang="en-US" altLang="zh-CN" dirty="0"/>
              <a:t>1998 </a:t>
            </a:r>
            <a:r>
              <a:rPr lang="zh-CN" altLang="en-US" dirty="0"/>
              <a:t>年提出了主动队列管理 </a:t>
            </a:r>
            <a:r>
              <a:rPr lang="en-US" altLang="zh-CN" dirty="0"/>
              <a:t>AQM (Active Queue Management)</a:t>
            </a:r>
            <a:r>
              <a:rPr lang="zh-CN" altLang="en-US" dirty="0"/>
              <a:t>。</a:t>
            </a:r>
          </a:p>
          <a:p>
            <a:r>
              <a:rPr lang="zh-CN" altLang="en-US" dirty="0"/>
              <a:t>主动：不要等到路由器的队列长度已经达到最大值时才不得不丢弃后面到达的分组，而是在队列长度达到某个值得警惕的数值时（即当网络拥塞有了某些拥塞征兆时），就主动丢弃到达的分组。</a:t>
            </a:r>
          </a:p>
          <a:p>
            <a:r>
              <a:rPr lang="en-US" altLang="zh-CN" dirty="0"/>
              <a:t>AQM </a:t>
            </a:r>
            <a:r>
              <a:rPr lang="zh-CN" altLang="en-US" dirty="0"/>
              <a:t>可以有不同实现方法，其中曾流行多年的就是随机早期检测 </a:t>
            </a:r>
            <a:r>
              <a:rPr lang="en-US" altLang="zh-CN" dirty="0"/>
              <a:t>RED (Random Early Detection)</a:t>
            </a:r>
            <a:r>
              <a:rPr lang="zh-CN" altLang="en-US" dirty="0"/>
              <a:t>。</a:t>
            </a:r>
          </a:p>
          <a:p>
            <a:endParaRPr lang="zh-CN" altLang="en-US" dirty="0"/>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486000" y="550723"/>
            <a:ext cx="8172000" cy="338554"/>
          </a:xfrm>
        </p:spPr>
        <p:txBody>
          <a:bodyPr/>
          <a:lstStyle/>
          <a:p>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a:xfrm>
            <a:off x="486000" y="900000"/>
            <a:ext cx="8172000" cy="3703500"/>
          </a:xfrm>
        </p:spPr>
        <p:txBody>
          <a:bodyPr/>
          <a:lstStyle/>
          <a:p>
            <a:r>
              <a:rPr lang="zh-CN" altLang="en-US" dirty="0"/>
              <a:t>路由器队列维持两个参数：</a:t>
            </a:r>
            <a:endParaRPr lang="en-US" altLang="zh-CN" dirty="0"/>
          </a:p>
          <a:p>
            <a:pPr lvl="1"/>
            <a:r>
              <a:rPr lang="zh-CN" altLang="en-US" dirty="0"/>
              <a:t>队列长度最小门限 </a:t>
            </a:r>
            <a:r>
              <a:rPr lang="en-US" altLang="zh-CN" dirty="0" err="1"/>
              <a:t>THmin</a:t>
            </a:r>
            <a:r>
              <a:rPr lang="en-US" altLang="zh-CN" dirty="0"/>
              <a:t> </a:t>
            </a:r>
          </a:p>
          <a:p>
            <a:pPr lvl="1"/>
            <a:r>
              <a:rPr lang="zh-CN" altLang="en-US" dirty="0"/>
              <a:t>队列长度最大门限 </a:t>
            </a:r>
            <a:r>
              <a:rPr lang="en-US" altLang="zh-CN" dirty="0" err="1"/>
              <a:t>THmax</a:t>
            </a:r>
            <a:r>
              <a:rPr lang="en-US" altLang="zh-CN" dirty="0"/>
              <a:t> </a:t>
            </a:r>
            <a:r>
              <a:rPr lang="zh-CN" altLang="en-US" dirty="0"/>
              <a:t>。</a:t>
            </a:r>
          </a:p>
          <a:p>
            <a:r>
              <a:rPr lang="en-US" altLang="zh-CN" dirty="0"/>
              <a:t>RED </a:t>
            </a:r>
            <a:r>
              <a:rPr lang="zh-CN" altLang="en-US" dirty="0"/>
              <a:t>对每一个到达的分组都先计算平均队列长度 </a:t>
            </a:r>
            <a:r>
              <a:rPr lang="en-US" altLang="zh-CN" dirty="0"/>
              <a:t>LAV </a:t>
            </a:r>
            <a:r>
              <a:rPr lang="zh-CN" altLang="en-US" dirty="0"/>
              <a:t>。</a:t>
            </a:r>
          </a:p>
          <a:p>
            <a:r>
              <a:rPr lang="zh-CN" altLang="en-US" dirty="0"/>
              <a:t>若平均队列长度小于最小门限 </a:t>
            </a:r>
            <a:r>
              <a:rPr lang="en-US" altLang="zh-CN" dirty="0" err="1"/>
              <a:t>THmin</a:t>
            </a:r>
            <a:r>
              <a:rPr lang="zh-CN" altLang="en-US" dirty="0"/>
              <a:t>，则将新到达的分组放入队列进行排队。</a:t>
            </a:r>
          </a:p>
          <a:p>
            <a:r>
              <a:rPr lang="zh-CN" altLang="en-US" dirty="0"/>
              <a:t>若平均队列长度超过最大门限 </a:t>
            </a:r>
            <a:r>
              <a:rPr lang="en-US" altLang="zh-CN" dirty="0" err="1"/>
              <a:t>THmax</a:t>
            </a:r>
            <a:r>
              <a:rPr lang="en-US" altLang="zh-CN" dirty="0"/>
              <a:t> </a:t>
            </a:r>
            <a:r>
              <a:rPr lang="zh-CN" altLang="en-US" dirty="0"/>
              <a:t>，则将新到达的分组丢弃。</a:t>
            </a:r>
          </a:p>
          <a:p>
            <a:r>
              <a:rPr lang="zh-CN" altLang="en-US" dirty="0"/>
              <a:t>若平均队列长度介于在最小门限 </a:t>
            </a:r>
            <a:r>
              <a:rPr lang="en-US" altLang="zh-CN" dirty="0" err="1"/>
              <a:t>THmin</a:t>
            </a:r>
            <a:r>
              <a:rPr lang="en-US" altLang="zh-CN" dirty="0"/>
              <a:t> </a:t>
            </a:r>
            <a:r>
              <a:rPr lang="zh-CN" altLang="en-US" dirty="0"/>
              <a:t>和最大门限 </a:t>
            </a:r>
            <a:r>
              <a:rPr lang="en-US" altLang="zh-CN" dirty="0" err="1"/>
              <a:t>THax</a:t>
            </a:r>
            <a:r>
              <a:rPr lang="en-US" altLang="zh-CN" dirty="0"/>
              <a:t> </a:t>
            </a:r>
            <a:r>
              <a:rPr lang="zh-CN" altLang="en-US" dirty="0"/>
              <a:t>之间，则按照某一概率 </a:t>
            </a:r>
            <a:r>
              <a:rPr lang="en-US" altLang="zh-CN" dirty="0"/>
              <a:t>p </a:t>
            </a:r>
            <a:r>
              <a:rPr lang="zh-CN" altLang="en-US" dirty="0"/>
              <a:t>将新到达的分组丢弃。</a:t>
            </a:r>
          </a:p>
          <a:p>
            <a:endParaRPr lang="zh-CN" altLang="en-US" dirty="0"/>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38" name="标题 37">
            <a:extLst>
              <a:ext uri="{FF2B5EF4-FFF2-40B4-BE49-F238E27FC236}">
                <a16:creationId xmlns:a16="http://schemas.microsoft.com/office/drawing/2014/main" id="{A7F7AEC9-06C0-DFBE-3300-4839DF72DDD1}"/>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52C58593-1B4A-8015-D83E-07287AC8F83D}"/>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a:xfrm>
            <a:off x="486000" y="900000"/>
            <a:ext cx="8172000" cy="3703500"/>
          </a:xfrm>
        </p:spPr>
        <p:txBody>
          <a:bodyPr/>
          <a:lstStyle/>
          <a:p>
            <a:r>
              <a:rPr lang="zh-CN" altLang="en-US" dirty="0"/>
              <a:t>多年的实践证明，</a:t>
            </a:r>
            <a:r>
              <a:rPr lang="en-US" altLang="zh-CN" dirty="0"/>
              <a:t>RED </a:t>
            </a:r>
            <a:r>
              <a:rPr lang="zh-CN" altLang="en-US" dirty="0"/>
              <a:t>的使用效果并不太理想。</a:t>
            </a:r>
          </a:p>
          <a:p>
            <a:r>
              <a:rPr lang="en-US" altLang="zh-CN" dirty="0"/>
              <a:t>2015 </a:t>
            </a:r>
            <a:r>
              <a:rPr lang="zh-CN" altLang="en-US" dirty="0"/>
              <a:t>年公布的 </a:t>
            </a:r>
            <a:r>
              <a:rPr lang="en-US" altLang="zh-CN" dirty="0"/>
              <a:t>RFC 7567 </a:t>
            </a:r>
            <a:r>
              <a:rPr lang="zh-CN" altLang="en-US" dirty="0"/>
              <a:t>已经把 </a:t>
            </a:r>
            <a:r>
              <a:rPr lang="en-US" altLang="zh-CN" dirty="0"/>
              <a:t>RFC 2309 </a:t>
            </a:r>
            <a:r>
              <a:rPr lang="zh-CN" altLang="en-US" dirty="0"/>
              <a:t>列为“陈旧的”，并且不再推荐使用 </a:t>
            </a:r>
            <a:r>
              <a:rPr lang="en-US" altLang="zh-CN" dirty="0"/>
              <a:t>RED</a:t>
            </a:r>
            <a:r>
              <a:rPr lang="zh-CN" altLang="en-US" dirty="0"/>
              <a:t>。</a:t>
            </a:r>
          </a:p>
          <a:p>
            <a:r>
              <a:rPr lang="zh-CN" altLang="en-US" dirty="0"/>
              <a:t>但对路由器进行主动队列管理 </a:t>
            </a:r>
            <a:r>
              <a:rPr lang="en-US" altLang="zh-CN" dirty="0"/>
              <a:t>AQM </a:t>
            </a:r>
            <a:r>
              <a:rPr lang="zh-CN" altLang="en-US" dirty="0"/>
              <a:t>仍是必要的。</a:t>
            </a:r>
          </a:p>
          <a:p>
            <a:r>
              <a:rPr lang="en-US" altLang="zh-CN" dirty="0"/>
              <a:t>AQM </a:t>
            </a:r>
            <a:r>
              <a:rPr lang="zh-CN" altLang="en-US" dirty="0"/>
              <a:t>实际上就是对路由器中的分组排队进行智能管理，而不是简单地把队列的尾部丢弃。</a:t>
            </a:r>
          </a:p>
          <a:p>
            <a:r>
              <a:rPr lang="zh-CN" altLang="en-US" dirty="0"/>
              <a:t>现在已经有几种不同的算法来代替旧的 </a:t>
            </a:r>
            <a:r>
              <a:rPr lang="en-US" altLang="zh-CN" dirty="0"/>
              <a:t>RED</a:t>
            </a:r>
            <a:r>
              <a:rPr lang="zh-CN" altLang="en-US" dirty="0"/>
              <a:t>，但都还在实验阶段。</a:t>
            </a:r>
          </a:p>
          <a:p>
            <a:endParaRPr lang="zh-CN" altLang="en-US" dirty="0"/>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3" name="内容占位符 12">
            <a:extLst>
              <a:ext uri="{FF2B5EF4-FFF2-40B4-BE49-F238E27FC236}">
                <a16:creationId xmlns:a16="http://schemas.microsoft.com/office/drawing/2014/main" id="{5736946C-C987-41F9-21CE-F61C6FAD992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B9EED616-A22D-4859-EFD2-6C84DD14E18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是面向连接的协议。</a:t>
            </a:r>
          </a:p>
          <a:p>
            <a:r>
              <a:rPr lang="en-US" altLang="zh-CN" dirty="0"/>
              <a:t>TCP </a:t>
            </a:r>
            <a:r>
              <a:rPr lang="zh-CN" altLang="en-US" dirty="0"/>
              <a:t>连接有三个阶段：</a:t>
            </a:r>
          </a:p>
          <a:p>
            <a:pPr lvl="1"/>
            <a:r>
              <a:rPr lang="zh-CN" altLang="en-US" dirty="0"/>
              <a:t>连接建立</a:t>
            </a:r>
          </a:p>
          <a:p>
            <a:pPr lvl="1"/>
            <a:r>
              <a:rPr lang="zh-CN" altLang="en-US" dirty="0"/>
              <a:t>数据传送</a:t>
            </a:r>
          </a:p>
          <a:p>
            <a:pPr lvl="1"/>
            <a:r>
              <a:rPr lang="zh-CN" altLang="en-US" dirty="0"/>
              <a:t>连接释放</a:t>
            </a:r>
          </a:p>
          <a:p>
            <a:r>
              <a:rPr lang="en-US" altLang="zh-CN" dirty="0"/>
              <a:t>TCP </a:t>
            </a:r>
            <a:r>
              <a:rPr lang="zh-CN" altLang="en-US" dirty="0"/>
              <a:t>的连接管理就是使 </a:t>
            </a:r>
            <a:r>
              <a:rPr lang="en-US" altLang="zh-CN" dirty="0"/>
              <a:t>TCP </a:t>
            </a:r>
            <a:r>
              <a:rPr lang="zh-CN" altLang="en-US" dirty="0"/>
              <a:t>连接的建立和释放都能正常地进行。</a:t>
            </a:r>
          </a:p>
          <a:p>
            <a:endParaRPr lang="zh-CN" altLang="en-US" dirty="0"/>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486000" y="550723"/>
            <a:ext cx="8172000" cy="338554"/>
          </a:xfrm>
        </p:spPr>
        <p:txBody>
          <a:bodyPr/>
          <a:lstStyle/>
          <a:p>
            <a:r>
              <a:rPr lang="zh-CN" altLang="en-US" dirty="0"/>
              <a:t>运输连接的三个阶段</a:t>
            </a:r>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a:xfrm>
            <a:off x="486000" y="900000"/>
            <a:ext cx="8172000" cy="3703500"/>
          </a:xfrm>
        </p:spPr>
        <p:txBody>
          <a:bodyPr/>
          <a:lstStyle/>
          <a:p>
            <a:r>
              <a:rPr lang="zh-CN" altLang="en-US" dirty="0"/>
              <a:t>要使每一方能够确知对方的存在。</a:t>
            </a:r>
          </a:p>
          <a:p>
            <a:r>
              <a:rPr lang="zh-CN" altLang="en-US" dirty="0"/>
              <a:t>要允许双方协商一些参数（如最大窗口值、是否使用窗口扩大选项和时间戳选项以及服务质量等）。</a:t>
            </a:r>
          </a:p>
          <a:p>
            <a:r>
              <a:rPr lang="zh-CN" altLang="en-US" dirty="0"/>
              <a:t>能够对运输实体资源（如缓存大小、连接表中的项目等）进行分配。</a:t>
            </a:r>
          </a:p>
          <a:p>
            <a:endParaRPr lang="zh-CN" altLang="en-US" dirty="0"/>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486000" y="550723"/>
            <a:ext cx="8172000" cy="338554"/>
          </a:xfrm>
        </p:spPr>
        <p:txBody>
          <a:bodyPr/>
          <a:lstStyle/>
          <a:p>
            <a:r>
              <a:rPr lang="en-US" altLang="zh-CN" dirty="0"/>
              <a:t>TCP </a:t>
            </a:r>
            <a:r>
              <a:rPr lang="zh-CN" altLang="en-US" dirty="0"/>
              <a:t>连接建立过程中要解决的三个问题</a:t>
            </a:r>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建立连接的过程叫做握手。</a:t>
            </a:r>
          </a:p>
          <a:p>
            <a:r>
              <a:rPr lang="zh-CN" altLang="en-US" dirty="0"/>
              <a:t>采用三报文握手：在客户和服务器之间交换三个 </a:t>
            </a:r>
            <a:r>
              <a:rPr lang="en-US" altLang="zh-CN" dirty="0"/>
              <a:t>TCP </a:t>
            </a:r>
            <a:r>
              <a:rPr lang="zh-CN" altLang="en-US" dirty="0"/>
              <a:t>报文段，以防止已失效的连接请求报文段突然又传送到了，因而产生 </a:t>
            </a:r>
            <a:r>
              <a:rPr lang="en-US" altLang="zh-CN" dirty="0"/>
              <a:t>TCP </a:t>
            </a:r>
            <a:r>
              <a:rPr lang="zh-CN" altLang="en-US" dirty="0"/>
              <a:t>连接建立错误。</a:t>
            </a:r>
          </a:p>
          <a:p>
            <a:endParaRPr lang="zh-CN" altLang="en-US" dirty="0"/>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486000" y="550723"/>
            <a:ext cx="8172000" cy="338554"/>
          </a:xfrm>
        </p:spPr>
        <p:txBody>
          <a:bodyPr/>
          <a:lstStyle/>
          <a:p>
            <a:r>
              <a:rPr lang="en-US" altLang="zh-CN" dirty="0"/>
              <a:t>5.9.1  TCP </a:t>
            </a:r>
            <a:r>
              <a:rPr lang="zh-CN" altLang="en-US" dirty="0"/>
              <a:t>的连接建立</a:t>
            </a:r>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箭头连接符 6">
            <a:extLst>
              <a:ext uri="{FF2B5EF4-FFF2-40B4-BE49-F238E27FC236}">
                <a16:creationId xmlns:a16="http://schemas.microsoft.com/office/drawing/2014/main" id="{C80FF363-BC0E-F513-0462-96F884DB1FDC}"/>
              </a:ext>
            </a:extLst>
          </p:cNvPr>
          <p:cNvCxnSpPr>
            <a:cxnSpLocks/>
          </p:cNvCxnSpPr>
          <p:nvPr/>
        </p:nvCxnSpPr>
        <p:spPr>
          <a:xfrm>
            <a:off x="2644083" y="1332655"/>
            <a:ext cx="0" cy="2897133"/>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22E1B91C-93FA-1433-6508-4A43CD8D807B}"/>
              </a:ext>
            </a:extLst>
          </p:cNvPr>
          <p:cNvCxnSpPr>
            <a:cxnSpLocks/>
            <a:stCxn id="22" idx="2"/>
          </p:cNvCxnSpPr>
          <p:nvPr/>
        </p:nvCxnSpPr>
        <p:spPr>
          <a:xfrm>
            <a:off x="5773427" y="1349788"/>
            <a:ext cx="0" cy="2880000"/>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A3720D08-6F14-38E6-12AA-2F942A367B46}"/>
              </a:ext>
            </a:extLst>
          </p:cNvPr>
          <p:cNvSpPr txBox="1"/>
          <p:nvPr/>
        </p:nvSpPr>
        <p:spPr>
          <a:xfrm>
            <a:off x="2889737" y="1055656"/>
            <a:ext cx="50045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0" name="文本框 9">
            <a:extLst>
              <a:ext uri="{FF2B5EF4-FFF2-40B4-BE49-F238E27FC236}">
                <a16:creationId xmlns:a16="http://schemas.microsoft.com/office/drawing/2014/main" id="{C2D2F0C1-4F48-4565-097F-21C3E7248276}"/>
              </a:ext>
            </a:extLst>
          </p:cNvPr>
          <p:cNvSpPr txBox="1"/>
          <p:nvPr/>
        </p:nvSpPr>
        <p:spPr>
          <a:xfrm>
            <a:off x="5035260" y="1055656"/>
            <a:ext cx="5581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 name="文本框 10">
            <a:extLst>
              <a:ext uri="{FF2B5EF4-FFF2-40B4-BE49-F238E27FC236}">
                <a16:creationId xmlns:a16="http://schemas.microsoft.com/office/drawing/2014/main" id="{2AB7995F-7501-3414-56E0-2CC9D159BB4D}"/>
              </a:ext>
            </a:extLst>
          </p:cNvPr>
          <p:cNvSpPr txBox="1"/>
          <p:nvPr/>
        </p:nvSpPr>
        <p:spPr>
          <a:xfrm>
            <a:off x="2908073" y="1658349"/>
            <a:ext cx="258917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I would like to talk to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 name="文本框 11">
            <a:extLst>
              <a:ext uri="{FF2B5EF4-FFF2-40B4-BE49-F238E27FC236}">
                <a16:creationId xmlns:a16="http://schemas.microsoft.com/office/drawing/2014/main" id="{D90B4BF5-F870-456B-089B-598433C770CC}"/>
              </a:ext>
            </a:extLst>
          </p:cNvPr>
          <p:cNvSpPr txBox="1"/>
          <p:nvPr/>
        </p:nvSpPr>
        <p:spPr>
          <a:xfrm>
            <a:off x="3436262" y="2400090"/>
            <a:ext cx="153279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let’s talk. 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文本框 12">
            <a:extLst>
              <a:ext uri="{FF2B5EF4-FFF2-40B4-BE49-F238E27FC236}">
                <a16:creationId xmlns:a16="http://schemas.microsoft.com/office/drawing/2014/main" id="{2D5DC4C4-2CE4-FDE6-CB90-80F89118B614}"/>
              </a:ext>
            </a:extLst>
          </p:cNvPr>
          <p:cNvSpPr txBox="1"/>
          <p:nvPr/>
        </p:nvSpPr>
        <p:spPr>
          <a:xfrm>
            <a:off x="3334472" y="3291955"/>
            <a:ext cx="173637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thank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 name="直接箭头连接符 14">
            <a:extLst>
              <a:ext uri="{FF2B5EF4-FFF2-40B4-BE49-F238E27FC236}">
                <a16:creationId xmlns:a16="http://schemas.microsoft.com/office/drawing/2014/main" id="{32FF09AF-22D3-1EEF-0F0D-F8D9ECD231A4}"/>
              </a:ext>
            </a:extLst>
          </p:cNvPr>
          <p:cNvCxnSpPr>
            <a:cxnSpLocks/>
          </p:cNvCxnSpPr>
          <p:nvPr/>
        </p:nvCxnSpPr>
        <p:spPr>
          <a:xfrm>
            <a:off x="2672658" y="1935348"/>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D3A9630C-36DC-3779-A1FB-26718B3A1CA9}"/>
              </a:ext>
            </a:extLst>
          </p:cNvPr>
          <p:cNvCxnSpPr>
            <a:cxnSpLocks/>
          </p:cNvCxnSpPr>
          <p:nvPr/>
        </p:nvCxnSpPr>
        <p:spPr>
          <a:xfrm>
            <a:off x="2672658" y="3568954"/>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8D5AF9-308A-50B4-85CD-E6F7CC8B17FA}"/>
              </a:ext>
            </a:extLst>
          </p:cNvPr>
          <p:cNvCxnSpPr>
            <a:cxnSpLocks/>
          </p:cNvCxnSpPr>
          <p:nvPr/>
        </p:nvCxnSpPr>
        <p:spPr>
          <a:xfrm flipH="1">
            <a:off x="2672658" y="2677089"/>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1" name="图片 20">
            <a:extLst>
              <a:ext uri="{FF2B5EF4-FFF2-40B4-BE49-F238E27FC236}">
                <a16:creationId xmlns:a16="http://schemas.microsoft.com/office/drawing/2014/main" id="{6F333424-1B0A-FC44-A9BD-30232A0B43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64083" y="972655"/>
            <a:ext cx="360000" cy="360000"/>
          </a:xfrm>
          <a:prstGeom prst="rect">
            <a:avLst/>
          </a:prstGeom>
        </p:spPr>
      </p:pic>
      <p:pic>
        <p:nvPicPr>
          <p:cNvPr id="22" name="图片 21">
            <a:extLst>
              <a:ext uri="{FF2B5EF4-FFF2-40B4-BE49-F238E27FC236}">
                <a16:creationId xmlns:a16="http://schemas.microsoft.com/office/drawing/2014/main" id="{BA33F9E0-DA70-90DC-6252-77C04D78C2FF}"/>
              </a:ext>
            </a:extLst>
          </p:cNvPr>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5593427" y="881788"/>
            <a:ext cx="360000" cy="468000"/>
          </a:xfrm>
          <a:prstGeom prst="rect">
            <a:avLst/>
          </a:prstGeom>
        </p:spPr>
      </p:pic>
    </p:spTree>
    <p:extLst>
      <p:ext uri="{BB962C8B-B14F-4D97-AF65-F5344CB8AC3E}">
        <p14:creationId xmlns:p14="http://schemas.microsoft.com/office/powerpoint/2010/main" val="1643966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6" name="标题 15">
            <a:extLst>
              <a:ext uri="{FF2B5EF4-FFF2-40B4-BE49-F238E27FC236}">
                <a16:creationId xmlns:a16="http://schemas.microsoft.com/office/drawing/2014/main" id="{E832566C-F22D-93FB-A599-5D92EFC91B90}"/>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16" name="标题 15">
            <a:extLst>
              <a:ext uri="{FF2B5EF4-FFF2-40B4-BE49-F238E27FC236}">
                <a16:creationId xmlns:a16="http://schemas.microsoft.com/office/drawing/2014/main" id="{1DECCECE-B6C9-F192-5AD6-47B4743F6EDC}"/>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33" name="标题 32">
            <a:extLst>
              <a:ext uri="{FF2B5EF4-FFF2-40B4-BE49-F238E27FC236}">
                <a16:creationId xmlns:a16="http://schemas.microsoft.com/office/drawing/2014/main" id="{95C3F8EF-4D9C-0886-235F-BB23F5B68E65}"/>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6" name="标题 35">
            <a:extLst>
              <a:ext uri="{FF2B5EF4-FFF2-40B4-BE49-F238E27FC236}">
                <a16:creationId xmlns:a16="http://schemas.microsoft.com/office/drawing/2014/main" id="{26CC9722-6784-35B5-4BF8-8485296921E2}"/>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9" name="标题 38">
            <a:extLst>
              <a:ext uri="{FF2B5EF4-FFF2-40B4-BE49-F238E27FC236}">
                <a16:creationId xmlns:a16="http://schemas.microsoft.com/office/drawing/2014/main" id="{C2FFC152-2147-E6AF-D473-D35C5E34A1B9}"/>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41" name="标题 40">
            <a:extLst>
              <a:ext uri="{FF2B5EF4-FFF2-40B4-BE49-F238E27FC236}">
                <a16:creationId xmlns:a16="http://schemas.microsoft.com/office/drawing/2014/main" id="{FA31AAF7-E286-72B8-A25D-17D80ED786EB}"/>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39" name="标题 38">
            <a:extLst>
              <a:ext uri="{FF2B5EF4-FFF2-40B4-BE49-F238E27FC236}">
                <a16:creationId xmlns:a16="http://schemas.microsoft.com/office/drawing/2014/main" id="{69F05BA6-8912-393B-FF3C-30C94CF2F82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47D15CC1-5781-A9FD-7949-A7C95335D57C}"/>
              </a:ext>
            </a:extLst>
          </p:cNvPr>
          <p:cNvCxnSpPr>
            <a:cxnSpLocks/>
          </p:cNvCxnSpPr>
          <p:nvPr/>
        </p:nvCxnSpPr>
        <p:spPr>
          <a:xfrm>
            <a:off x="264408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FEC8E802-DCFB-F2C8-1459-2F22F0E42B88}"/>
              </a:ext>
            </a:extLst>
          </p:cNvPr>
          <p:cNvCxnSpPr>
            <a:cxnSpLocks/>
          </p:cNvCxnSpPr>
          <p:nvPr/>
        </p:nvCxnSpPr>
        <p:spPr>
          <a:xfrm>
            <a:off x="577073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 name="组合 26">
            <a:extLst>
              <a:ext uri="{FF2B5EF4-FFF2-40B4-BE49-F238E27FC236}">
                <a16:creationId xmlns:a16="http://schemas.microsoft.com/office/drawing/2014/main" id="{0E40880E-C15E-C1D0-10F3-32FF3925B801}"/>
              </a:ext>
            </a:extLst>
          </p:cNvPr>
          <p:cNvGrpSpPr/>
          <p:nvPr/>
        </p:nvGrpSpPr>
        <p:grpSpPr>
          <a:xfrm>
            <a:off x="2428083" y="553196"/>
            <a:ext cx="432000" cy="432000"/>
            <a:chOff x="1637508" y="547157"/>
            <a:chExt cx="432000" cy="432000"/>
          </a:xfrm>
        </p:grpSpPr>
        <p:pic>
          <p:nvPicPr>
            <p:cNvPr id="5" name="图形 4" descr="监视器">
              <a:extLst>
                <a:ext uri="{FF2B5EF4-FFF2-40B4-BE49-F238E27FC236}">
                  <a16:creationId xmlns:a16="http://schemas.microsoft.com/office/drawing/2014/main" id="{5BB9EDD4-3F0E-0283-7864-426C18E2721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37508" y="547157"/>
              <a:ext cx="432000" cy="432000"/>
            </a:xfrm>
            <a:prstGeom prst="rect">
              <a:avLst/>
            </a:prstGeom>
          </p:spPr>
        </p:pic>
        <p:sp>
          <p:nvSpPr>
            <p:cNvPr id="7" name="文本框 6">
              <a:extLst>
                <a:ext uri="{FF2B5EF4-FFF2-40B4-BE49-F238E27FC236}">
                  <a16:creationId xmlns:a16="http://schemas.microsoft.com/office/drawing/2014/main" id="{290FE7E5-A3E5-74B3-343D-D431DFB1D4EB}"/>
                </a:ext>
              </a:extLst>
            </p:cNvPr>
            <p:cNvSpPr txBox="1"/>
            <p:nvPr/>
          </p:nvSpPr>
          <p:spPr>
            <a:xfrm>
              <a:off x="1705871" y="624658"/>
              <a:ext cx="2952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grpSp>
        <p:nvGrpSpPr>
          <p:cNvPr id="26" name="组合 25">
            <a:extLst>
              <a:ext uri="{FF2B5EF4-FFF2-40B4-BE49-F238E27FC236}">
                <a16:creationId xmlns:a16="http://schemas.microsoft.com/office/drawing/2014/main" id="{E7C871D1-5F7D-B69A-DC4D-EA2E74592C7E}"/>
              </a:ext>
            </a:extLst>
          </p:cNvPr>
          <p:cNvGrpSpPr/>
          <p:nvPr/>
        </p:nvGrpSpPr>
        <p:grpSpPr>
          <a:xfrm>
            <a:off x="5554733" y="553196"/>
            <a:ext cx="432000" cy="432000"/>
            <a:chOff x="6107183" y="559236"/>
            <a:chExt cx="432000" cy="432000"/>
          </a:xfrm>
        </p:grpSpPr>
        <p:pic>
          <p:nvPicPr>
            <p:cNvPr id="8" name="图形 7" descr="监视器">
              <a:extLst>
                <a:ext uri="{FF2B5EF4-FFF2-40B4-BE49-F238E27FC236}">
                  <a16:creationId xmlns:a16="http://schemas.microsoft.com/office/drawing/2014/main" id="{17145CFB-63B6-38AB-DAF9-92A4D5D9A29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07183" y="559236"/>
              <a:ext cx="432000" cy="432000"/>
            </a:xfrm>
            <a:prstGeom prst="rect">
              <a:avLst/>
            </a:prstGeom>
          </p:spPr>
        </p:pic>
        <p:sp>
          <p:nvSpPr>
            <p:cNvPr id="9" name="文本框 8">
              <a:extLst>
                <a:ext uri="{FF2B5EF4-FFF2-40B4-BE49-F238E27FC236}">
                  <a16:creationId xmlns:a16="http://schemas.microsoft.com/office/drawing/2014/main" id="{8117EFBA-A8D8-4770-E94A-0CEC266FF99C}"/>
                </a:ext>
              </a:extLst>
            </p:cNvPr>
            <p:cNvSpPr txBox="1"/>
            <p:nvPr/>
          </p:nvSpPr>
          <p:spPr>
            <a:xfrm>
              <a:off x="6173142" y="636737"/>
              <a:ext cx="30008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B</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cxnSp>
        <p:nvCxnSpPr>
          <p:cNvPr id="10" name="直接箭头连接符 9">
            <a:extLst>
              <a:ext uri="{FF2B5EF4-FFF2-40B4-BE49-F238E27FC236}">
                <a16:creationId xmlns:a16="http://schemas.microsoft.com/office/drawing/2014/main" id="{AF485F0E-7474-25C5-73FB-A9FC88D067E7}"/>
              </a:ext>
            </a:extLst>
          </p:cNvPr>
          <p:cNvCxnSpPr>
            <a:cxnSpLocks/>
            <a:stCxn id="19" idx="3"/>
            <a:endCxn id="20" idx="1"/>
          </p:cNvCxnSpPr>
          <p:nvPr/>
        </p:nvCxnSpPr>
        <p:spPr>
          <a:xfrm>
            <a:off x="2644083" y="1656019"/>
            <a:ext cx="3126650" cy="477824"/>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41A7C4B1-6D99-D0F8-E504-DF8806B5DA27}"/>
              </a:ext>
            </a:extLst>
          </p:cNvPr>
          <p:cNvCxnSpPr>
            <a:cxnSpLocks/>
            <a:stCxn id="20" idx="1"/>
            <a:endCxn id="21" idx="3"/>
          </p:cNvCxnSpPr>
          <p:nvPr/>
        </p:nvCxnSpPr>
        <p:spPr>
          <a:xfrm flipH="1">
            <a:off x="2644083" y="2133843"/>
            <a:ext cx="3126650" cy="736480"/>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09DAF7F8-8ADD-CB8E-B31A-ACF047960F45}"/>
              </a:ext>
            </a:extLst>
          </p:cNvPr>
          <p:cNvCxnSpPr>
            <a:cxnSpLocks/>
            <a:stCxn id="21" idx="3"/>
            <a:endCxn id="22" idx="1"/>
          </p:cNvCxnSpPr>
          <p:nvPr/>
        </p:nvCxnSpPr>
        <p:spPr>
          <a:xfrm>
            <a:off x="2644083" y="2870323"/>
            <a:ext cx="3126650" cy="493253"/>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B5D1F939-D92A-7D02-6527-37ECCF436B8B}"/>
              </a:ext>
            </a:extLst>
          </p:cNvPr>
          <p:cNvSpPr txBox="1"/>
          <p:nvPr/>
        </p:nvSpPr>
        <p:spPr>
          <a:xfrm rot="540000">
            <a:off x="3642991" y="1585272"/>
            <a:ext cx="112883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SYN=1 seq=x</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90CD8884-3B11-5208-1AB1-8A9658CAFCA0}"/>
              </a:ext>
            </a:extLst>
          </p:cNvPr>
          <p:cNvSpPr txBox="1"/>
          <p:nvPr/>
        </p:nvSpPr>
        <p:spPr>
          <a:xfrm rot="20808004">
            <a:off x="3314375" y="2255155"/>
            <a:ext cx="1786066"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SYN=1 ACK=1 ack=x+1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seq=y </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5" name="文本框 14">
            <a:extLst>
              <a:ext uri="{FF2B5EF4-FFF2-40B4-BE49-F238E27FC236}">
                <a16:creationId xmlns:a16="http://schemas.microsoft.com/office/drawing/2014/main" id="{34365C8C-B898-59E8-021B-19121C4387CF}"/>
              </a:ext>
            </a:extLst>
          </p:cNvPr>
          <p:cNvSpPr txBox="1"/>
          <p:nvPr/>
        </p:nvSpPr>
        <p:spPr>
          <a:xfrm rot="525163">
            <a:off x="3564444" y="2888112"/>
            <a:ext cx="128592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ACK=1 ack=y+1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Seq = x+1</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6" name="矩形 15">
            <a:extLst>
              <a:ext uri="{FF2B5EF4-FFF2-40B4-BE49-F238E27FC236}">
                <a16:creationId xmlns:a16="http://schemas.microsoft.com/office/drawing/2014/main" id="{CDB39CFD-E5ED-7063-B40E-9F1A61FB0739}"/>
              </a:ext>
            </a:extLst>
          </p:cNvPr>
          <p:cNvSpPr/>
          <p:nvPr/>
        </p:nvSpPr>
        <p:spPr>
          <a:xfrm>
            <a:off x="1204083" y="960670"/>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17" name="矩形 16">
            <a:extLst>
              <a:ext uri="{FF2B5EF4-FFF2-40B4-BE49-F238E27FC236}">
                <a16:creationId xmlns:a16="http://schemas.microsoft.com/office/drawing/2014/main" id="{A5BF2568-8721-B52F-81EB-DE4D8ABF589D}"/>
              </a:ext>
            </a:extLst>
          </p:cNvPr>
          <p:cNvSpPr/>
          <p:nvPr/>
        </p:nvSpPr>
        <p:spPr>
          <a:xfrm>
            <a:off x="5770733" y="960669"/>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8" name="矩形 17">
            <a:extLst>
              <a:ext uri="{FF2B5EF4-FFF2-40B4-BE49-F238E27FC236}">
                <a16:creationId xmlns:a16="http://schemas.microsoft.com/office/drawing/2014/main" id="{6B9B0A21-91AF-6659-B7A4-16AB52CAB229}"/>
              </a:ext>
            </a:extLst>
          </p:cNvPr>
          <p:cNvSpPr/>
          <p:nvPr/>
        </p:nvSpPr>
        <p:spPr>
          <a:xfrm>
            <a:off x="5770733" y="1386134"/>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LISTEN</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9" name="矩形 18">
            <a:extLst>
              <a:ext uri="{FF2B5EF4-FFF2-40B4-BE49-F238E27FC236}">
                <a16:creationId xmlns:a16="http://schemas.microsoft.com/office/drawing/2014/main" id="{B6FE02D6-3420-13E5-C262-350FD1A3B95F}"/>
              </a:ext>
            </a:extLst>
          </p:cNvPr>
          <p:cNvSpPr/>
          <p:nvPr/>
        </p:nvSpPr>
        <p:spPr>
          <a:xfrm>
            <a:off x="1204083" y="1517519"/>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SYN-SENT</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0" name="矩形 19">
            <a:extLst>
              <a:ext uri="{FF2B5EF4-FFF2-40B4-BE49-F238E27FC236}">
                <a16:creationId xmlns:a16="http://schemas.microsoft.com/office/drawing/2014/main" id="{B3CBFDAE-63CF-7D49-CA70-9CDB0EC06F82}"/>
              </a:ext>
            </a:extLst>
          </p:cNvPr>
          <p:cNvSpPr/>
          <p:nvPr/>
        </p:nvSpPr>
        <p:spPr>
          <a:xfrm>
            <a:off x="5770733" y="1995343"/>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SYN-RCVD</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1" name="矩形 20">
            <a:extLst>
              <a:ext uri="{FF2B5EF4-FFF2-40B4-BE49-F238E27FC236}">
                <a16:creationId xmlns:a16="http://schemas.microsoft.com/office/drawing/2014/main" id="{4567E7F4-B634-36C9-D3BB-E52637B13DAE}"/>
              </a:ext>
            </a:extLst>
          </p:cNvPr>
          <p:cNvSpPr/>
          <p:nvPr/>
        </p:nvSpPr>
        <p:spPr>
          <a:xfrm>
            <a:off x="1204083" y="2731823"/>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2" name="矩形 21">
            <a:extLst>
              <a:ext uri="{FF2B5EF4-FFF2-40B4-BE49-F238E27FC236}">
                <a16:creationId xmlns:a16="http://schemas.microsoft.com/office/drawing/2014/main" id="{EDC68764-2D0B-5CBA-9ADD-355F87844811}"/>
              </a:ext>
            </a:extLst>
          </p:cNvPr>
          <p:cNvSpPr/>
          <p:nvPr/>
        </p:nvSpPr>
        <p:spPr>
          <a:xfrm>
            <a:off x="5770733" y="3225076"/>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箭头: 左右 22">
            <a:extLst>
              <a:ext uri="{FF2B5EF4-FFF2-40B4-BE49-F238E27FC236}">
                <a16:creationId xmlns:a16="http://schemas.microsoft.com/office/drawing/2014/main" id="{7C8E832C-28A8-33B7-ECE1-CE4A4A0D10A3}"/>
              </a:ext>
            </a:extLst>
          </p:cNvPr>
          <p:cNvSpPr/>
          <p:nvPr/>
        </p:nvSpPr>
        <p:spPr>
          <a:xfrm>
            <a:off x="2767408" y="3846627"/>
            <a:ext cx="2880000" cy="653501"/>
          </a:xfrm>
          <a:prstGeom prst="leftRightArrow">
            <a:avLst>
              <a:gd name="adj1" fmla="val 58746"/>
              <a:gd name="adj2" fmla="val 59067"/>
            </a:avLst>
          </a:prstGeom>
          <a:solidFill>
            <a:schemeClr val="tx2">
              <a:lumMod val="40000"/>
              <a:lumOff val="6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数据传输</a:t>
            </a:r>
          </a:p>
        </p:txBody>
      </p:sp>
      <p:sp>
        <p:nvSpPr>
          <p:cNvPr id="24" name="文本框 23">
            <a:extLst>
              <a:ext uri="{FF2B5EF4-FFF2-40B4-BE49-F238E27FC236}">
                <a16:creationId xmlns:a16="http://schemas.microsoft.com/office/drawing/2014/main" id="{96AC86E7-ACD9-6D38-15BB-DAA07DF5B35E}"/>
              </a:ext>
            </a:extLst>
          </p:cNvPr>
          <p:cNvSpPr txBox="1"/>
          <p:nvPr/>
        </p:nvSpPr>
        <p:spPr>
          <a:xfrm>
            <a:off x="2795185"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5" name="文本框 24">
            <a:extLst>
              <a:ext uri="{FF2B5EF4-FFF2-40B4-BE49-F238E27FC236}">
                <a16:creationId xmlns:a16="http://schemas.microsoft.com/office/drawing/2014/main" id="{D3E3829D-EEEE-FFC9-BB5B-BD35FC5F6147}"/>
              </a:ext>
            </a:extLst>
          </p:cNvPr>
          <p:cNvSpPr txBox="1"/>
          <p:nvPr/>
        </p:nvSpPr>
        <p:spPr>
          <a:xfrm>
            <a:off x="4968506"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27377392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连接释放过程比较复杂。</a:t>
            </a:r>
          </a:p>
          <a:p>
            <a:r>
              <a:rPr lang="zh-CN" altLang="en-US" dirty="0"/>
              <a:t>数据传输结束后，通信的双方都可释放连接。</a:t>
            </a:r>
          </a:p>
          <a:p>
            <a:r>
              <a:rPr lang="en-US" altLang="zh-CN" dirty="0"/>
              <a:t>TCP </a:t>
            </a:r>
            <a:r>
              <a:rPr lang="zh-CN" altLang="en-US" dirty="0"/>
              <a:t>连接释放过程是四报文握手。</a:t>
            </a:r>
          </a:p>
          <a:p>
            <a:endParaRPr lang="zh-CN" altLang="en-US" dirty="0"/>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486000" y="550723"/>
            <a:ext cx="8172000" cy="338554"/>
          </a:xfrm>
        </p:spPr>
        <p:txBody>
          <a:bodyPr/>
          <a:lstStyle/>
          <a:p>
            <a:r>
              <a:rPr lang="en-US" altLang="zh-CN" dirty="0"/>
              <a:t>5.9.2  TCP </a:t>
            </a:r>
            <a:r>
              <a:rPr lang="zh-CN" altLang="en-US" dirty="0"/>
              <a:t>的连接释放</a:t>
            </a:r>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4" name="标题 3">
            <a:extLst>
              <a:ext uri="{FF2B5EF4-FFF2-40B4-BE49-F238E27FC236}">
                <a16:creationId xmlns:a16="http://schemas.microsoft.com/office/drawing/2014/main" id="{DCF2A2B3-8CD5-AC28-82C8-D2C18F4757B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 name="标题 3">
            <a:extLst>
              <a:ext uri="{FF2B5EF4-FFF2-40B4-BE49-F238E27FC236}">
                <a16:creationId xmlns:a16="http://schemas.microsoft.com/office/drawing/2014/main" id="{B0E9E113-0318-8150-A7C1-2379A1F8B50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7" name="标题 6">
            <a:extLst>
              <a:ext uri="{FF2B5EF4-FFF2-40B4-BE49-F238E27FC236}">
                <a16:creationId xmlns:a16="http://schemas.microsoft.com/office/drawing/2014/main" id="{4EBEF774-C65C-3951-CBF0-60AB1FB89E75}"/>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1" name="标题 50">
            <a:extLst>
              <a:ext uri="{FF2B5EF4-FFF2-40B4-BE49-F238E27FC236}">
                <a16:creationId xmlns:a16="http://schemas.microsoft.com/office/drawing/2014/main" id="{D7359099-2363-1B71-4D58-BED7F9715A2A}"/>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1" name="标题 10">
            <a:extLst>
              <a:ext uri="{FF2B5EF4-FFF2-40B4-BE49-F238E27FC236}">
                <a16:creationId xmlns:a16="http://schemas.microsoft.com/office/drawing/2014/main" id="{76E2E0E9-FCB8-882B-4CFE-13B39CDA59F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01FF476F-3D5C-F064-1FBC-C1DF3B53EB2E}"/>
              </a:ext>
            </a:extLst>
          </p:cNvPr>
          <p:cNvCxnSpPr>
            <a:cxnSpLocks/>
          </p:cNvCxnSpPr>
          <p:nvPr/>
        </p:nvCxnSpPr>
        <p:spPr>
          <a:xfrm>
            <a:off x="264408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419C406F-4EA6-48C8-E54C-9BB46A9CAFC3}"/>
              </a:ext>
            </a:extLst>
          </p:cNvPr>
          <p:cNvCxnSpPr>
            <a:cxnSpLocks/>
          </p:cNvCxnSpPr>
          <p:nvPr/>
        </p:nvCxnSpPr>
        <p:spPr>
          <a:xfrm>
            <a:off x="577073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5" name="组合 4">
            <a:extLst>
              <a:ext uri="{FF2B5EF4-FFF2-40B4-BE49-F238E27FC236}">
                <a16:creationId xmlns:a16="http://schemas.microsoft.com/office/drawing/2014/main" id="{B6312439-9150-A9E3-BCA7-92C196ABF0AC}"/>
              </a:ext>
            </a:extLst>
          </p:cNvPr>
          <p:cNvGrpSpPr/>
          <p:nvPr/>
        </p:nvGrpSpPr>
        <p:grpSpPr>
          <a:xfrm>
            <a:off x="2428083" y="553196"/>
            <a:ext cx="432000" cy="432000"/>
            <a:chOff x="1637508" y="547157"/>
            <a:chExt cx="432000" cy="432000"/>
          </a:xfrm>
        </p:grpSpPr>
        <p:pic>
          <p:nvPicPr>
            <p:cNvPr id="6" name="图形 5" descr="监视器">
              <a:extLst>
                <a:ext uri="{FF2B5EF4-FFF2-40B4-BE49-F238E27FC236}">
                  <a16:creationId xmlns:a16="http://schemas.microsoft.com/office/drawing/2014/main" id="{CEACB10B-4689-AE57-C19E-FA5447BEA40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37508" y="547157"/>
              <a:ext cx="432000" cy="432000"/>
            </a:xfrm>
            <a:prstGeom prst="rect">
              <a:avLst/>
            </a:prstGeom>
          </p:spPr>
        </p:pic>
        <p:sp>
          <p:nvSpPr>
            <p:cNvPr id="7" name="文本框 6">
              <a:extLst>
                <a:ext uri="{FF2B5EF4-FFF2-40B4-BE49-F238E27FC236}">
                  <a16:creationId xmlns:a16="http://schemas.microsoft.com/office/drawing/2014/main" id="{DCEA9356-61CD-92F3-D75C-9AEE0ECA246E}"/>
                </a:ext>
              </a:extLst>
            </p:cNvPr>
            <p:cNvSpPr txBox="1"/>
            <p:nvPr/>
          </p:nvSpPr>
          <p:spPr>
            <a:xfrm>
              <a:off x="1705871" y="624658"/>
              <a:ext cx="2952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grpSp>
        <p:nvGrpSpPr>
          <p:cNvPr id="8" name="组合 7">
            <a:extLst>
              <a:ext uri="{FF2B5EF4-FFF2-40B4-BE49-F238E27FC236}">
                <a16:creationId xmlns:a16="http://schemas.microsoft.com/office/drawing/2014/main" id="{F8F48B44-2E38-A68F-6C82-1925A759FD49}"/>
              </a:ext>
            </a:extLst>
          </p:cNvPr>
          <p:cNvGrpSpPr/>
          <p:nvPr/>
        </p:nvGrpSpPr>
        <p:grpSpPr>
          <a:xfrm>
            <a:off x="5554733" y="553196"/>
            <a:ext cx="432000" cy="432000"/>
            <a:chOff x="6107183" y="559236"/>
            <a:chExt cx="432000" cy="432000"/>
          </a:xfrm>
        </p:grpSpPr>
        <p:pic>
          <p:nvPicPr>
            <p:cNvPr id="9" name="图形 8" descr="监视器">
              <a:extLst>
                <a:ext uri="{FF2B5EF4-FFF2-40B4-BE49-F238E27FC236}">
                  <a16:creationId xmlns:a16="http://schemas.microsoft.com/office/drawing/2014/main" id="{0DD150A7-5A10-5C86-EBA8-5BF0E13BDA0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07183" y="559236"/>
              <a:ext cx="432000" cy="432000"/>
            </a:xfrm>
            <a:prstGeom prst="rect">
              <a:avLst/>
            </a:prstGeom>
          </p:spPr>
        </p:pic>
        <p:sp>
          <p:nvSpPr>
            <p:cNvPr id="10" name="文本框 9">
              <a:extLst>
                <a:ext uri="{FF2B5EF4-FFF2-40B4-BE49-F238E27FC236}">
                  <a16:creationId xmlns:a16="http://schemas.microsoft.com/office/drawing/2014/main" id="{E0F37203-A5E6-837B-9C5F-2578670C41E9}"/>
                </a:ext>
              </a:extLst>
            </p:cNvPr>
            <p:cNvSpPr txBox="1"/>
            <p:nvPr/>
          </p:nvSpPr>
          <p:spPr>
            <a:xfrm>
              <a:off x="6173142" y="636737"/>
              <a:ext cx="30008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B</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cxnSp>
        <p:nvCxnSpPr>
          <p:cNvPr id="11" name="直接箭头连接符 10">
            <a:extLst>
              <a:ext uri="{FF2B5EF4-FFF2-40B4-BE49-F238E27FC236}">
                <a16:creationId xmlns:a16="http://schemas.microsoft.com/office/drawing/2014/main" id="{D4ED6286-38B8-6E25-ACE6-C6CD528EB5C3}"/>
              </a:ext>
            </a:extLst>
          </p:cNvPr>
          <p:cNvCxnSpPr>
            <a:cxnSpLocks/>
          </p:cNvCxnSpPr>
          <p:nvPr/>
        </p:nvCxnSpPr>
        <p:spPr>
          <a:xfrm>
            <a:off x="2644082" y="3187843"/>
            <a:ext cx="3141051" cy="453028"/>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F33B9178-3137-321E-1AAE-DA8E5E4AC547}"/>
              </a:ext>
            </a:extLst>
          </p:cNvPr>
          <p:cNvCxnSpPr>
            <a:cxnSpLocks/>
          </p:cNvCxnSpPr>
          <p:nvPr/>
        </p:nvCxnSpPr>
        <p:spPr>
          <a:xfrm flipH="1">
            <a:off x="2629683" y="1777742"/>
            <a:ext cx="3155450" cy="447077"/>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6192A20-58C2-5D98-F3EE-0A55199611F8}"/>
              </a:ext>
            </a:extLst>
          </p:cNvPr>
          <p:cNvCxnSpPr>
            <a:cxnSpLocks/>
          </p:cNvCxnSpPr>
          <p:nvPr/>
        </p:nvCxnSpPr>
        <p:spPr>
          <a:xfrm>
            <a:off x="2644082" y="1237668"/>
            <a:ext cx="3126650" cy="496020"/>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A595DD58-2259-1E9F-2E57-06E46AC02A24}"/>
              </a:ext>
            </a:extLst>
          </p:cNvPr>
          <p:cNvSpPr/>
          <p:nvPr/>
        </p:nvSpPr>
        <p:spPr>
          <a:xfrm>
            <a:off x="5785133" y="1768841"/>
            <a:ext cx="1296000" cy="9176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CLOSE-WAIT</a:t>
            </a:r>
          </a:p>
        </p:txBody>
      </p:sp>
      <p:sp>
        <p:nvSpPr>
          <p:cNvPr id="20" name="矩形 19">
            <a:extLst>
              <a:ext uri="{FF2B5EF4-FFF2-40B4-BE49-F238E27FC236}">
                <a16:creationId xmlns:a16="http://schemas.microsoft.com/office/drawing/2014/main" id="{DFBE2719-A7EA-67B7-ACCC-E94464D6C0E0}"/>
              </a:ext>
            </a:extLst>
          </p:cNvPr>
          <p:cNvSpPr/>
          <p:nvPr/>
        </p:nvSpPr>
        <p:spPr>
          <a:xfrm>
            <a:off x="1333683" y="1287183"/>
            <a:ext cx="1296000" cy="9393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FIN-WAIT1</a:t>
            </a:r>
          </a:p>
        </p:txBody>
      </p:sp>
      <p:sp>
        <p:nvSpPr>
          <p:cNvPr id="21" name="矩形 20">
            <a:extLst>
              <a:ext uri="{FF2B5EF4-FFF2-40B4-BE49-F238E27FC236}">
                <a16:creationId xmlns:a16="http://schemas.microsoft.com/office/drawing/2014/main" id="{5967DC4E-DA6C-280C-28FF-06023C016624}"/>
              </a:ext>
            </a:extLst>
          </p:cNvPr>
          <p:cNvSpPr/>
          <p:nvPr/>
        </p:nvSpPr>
        <p:spPr>
          <a:xfrm>
            <a:off x="5785133" y="2741784"/>
            <a:ext cx="1296000" cy="8222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LAST-ACK</a:t>
            </a:r>
          </a:p>
        </p:txBody>
      </p:sp>
      <p:sp>
        <p:nvSpPr>
          <p:cNvPr id="22" name="矩形 21">
            <a:extLst>
              <a:ext uri="{FF2B5EF4-FFF2-40B4-BE49-F238E27FC236}">
                <a16:creationId xmlns:a16="http://schemas.microsoft.com/office/drawing/2014/main" id="{E753C140-972A-E175-7A82-9DE4ACDF00FE}"/>
              </a:ext>
            </a:extLst>
          </p:cNvPr>
          <p:cNvSpPr/>
          <p:nvPr/>
        </p:nvSpPr>
        <p:spPr>
          <a:xfrm>
            <a:off x="1333683" y="960669"/>
            <a:ext cx="1296000" cy="2769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矩形 22">
            <a:extLst>
              <a:ext uri="{FF2B5EF4-FFF2-40B4-BE49-F238E27FC236}">
                <a16:creationId xmlns:a16="http://schemas.microsoft.com/office/drawing/2014/main" id="{3415ABEA-50A8-8B88-1574-35B03FFC9672}"/>
              </a:ext>
            </a:extLst>
          </p:cNvPr>
          <p:cNvSpPr/>
          <p:nvPr/>
        </p:nvSpPr>
        <p:spPr>
          <a:xfrm>
            <a:off x="5785133" y="960669"/>
            <a:ext cx="1296000" cy="7618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4" name="矩形 23">
            <a:extLst>
              <a:ext uri="{FF2B5EF4-FFF2-40B4-BE49-F238E27FC236}">
                <a16:creationId xmlns:a16="http://schemas.microsoft.com/office/drawing/2014/main" id="{D81515A6-1DB0-A00E-CFA8-B99C19CA6753}"/>
              </a:ext>
            </a:extLst>
          </p:cNvPr>
          <p:cNvSpPr/>
          <p:nvPr/>
        </p:nvSpPr>
        <p:spPr>
          <a:xfrm rot="21120000">
            <a:off x="2767408" y="2256478"/>
            <a:ext cx="2880000" cy="276999"/>
          </a:xfrm>
          <a:prstGeom prst="rect">
            <a:avLst/>
          </a:prstGeom>
          <a:no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spAutoFit/>
          </a:bodyP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data</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23AFDE80-4B50-73E9-7084-4F39ACEC3161}"/>
              </a:ext>
            </a:extLst>
          </p:cNvPr>
          <p:cNvSpPr txBox="1"/>
          <p:nvPr/>
        </p:nvSpPr>
        <p:spPr>
          <a:xfrm>
            <a:off x="2795185"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6" name="文本框 25">
            <a:extLst>
              <a:ext uri="{FF2B5EF4-FFF2-40B4-BE49-F238E27FC236}">
                <a16:creationId xmlns:a16="http://schemas.microsoft.com/office/drawing/2014/main" id="{2FA47CD2-8807-CEF9-6524-74B872B5CBD6}"/>
              </a:ext>
            </a:extLst>
          </p:cNvPr>
          <p:cNvSpPr txBox="1"/>
          <p:nvPr/>
        </p:nvSpPr>
        <p:spPr>
          <a:xfrm>
            <a:off x="4968506"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31A98A1D-E483-21BF-837D-A8D5E671CBCC}"/>
              </a:ext>
            </a:extLst>
          </p:cNvPr>
          <p:cNvSpPr txBox="1"/>
          <p:nvPr/>
        </p:nvSpPr>
        <p:spPr>
          <a:xfrm rot="540000">
            <a:off x="3559635" y="1254072"/>
            <a:ext cx="1295547"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FIN = 1 seq = u</a:t>
            </a:r>
          </a:p>
        </p:txBody>
      </p:sp>
      <p:sp>
        <p:nvSpPr>
          <p:cNvPr id="15" name="文本框 14">
            <a:extLst>
              <a:ext uri="{FF2B5EF4-FFF2-40B4-BE49-F238E27FC236}">
                <a16:creationId xmlns:a16="http://schemas.microsoft.com/office/drawing/2014/main" id="{50683C56-D6B5-28DE-EF64-659B03076EBF}"/>
              </a:ext>
            </a:extLst>
          </p:cNvPr>
          <p:cNvSpPr txBox="1"/>
          <p:nvPr/>
        </p:nvSpPr>
        <p:spPr>
          <a:xfrm rot="21120000">
            <a:off x="3473876" y="1756930"/>
            <a:ext cx="146706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 = 1 ack = u+1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seq = v</a:t>
            </a:r>
          </a:p>
        </p:txBody>
      </p:sp>
      <p:sp>
        <p:nvSpPr>
          <p:cNvPr id="16" name="文本框 15">
            <a:extLst>
              <a:ext uri="{FF2B5EF4-FFF2-40B4-BE49-F238E27FC236}">
                <a16:creationId xmlns:a16="http://schemas.microsoft.com/office/drawing/2014/main" id="{057F6AC0-A91C-D0FE-125C-8414C43D71F7}"/>
              </a:ext>
            </a:extLst>
          </p:cNvPr>
          <p:cNvSpPr txBox="1"/>
          <p:nvPr/>
        </p:nvSpPr>
        <p:spPr>
          <a:xfrm rot="525163">
            <a:off x="3458647" y="3177087"/>
            <a:ext cx="1497526"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p>
        </p:txBody>
      </p:sp>
      <p:sp>
        <p:nvSpPr>
          <p:cNvPr id="27" name="文本框 26">
            <a:extLst>
              <a:ext uri="{FF2B5EF4-FFF2-40B4-BE49-F238E27FC236}">
                <a16:creationId xmlns:a16="http://schemas.microsoft.com/office/drawing/2014/main" id="{3363F0B2-383E-264A-6F52-190739009C25}"/>
              </a:ext>
            </a:extLst>
          </p:cNvPr>
          <p:cNvSpPr txBox="1"/>
          <p:nvPr/>
        </p:nvSpPr>
        <p:spPr>
          <a:xfrm rot="21120000">
            <a:off x="3453840" y="2652541"/>
            <a:ext cx="1507143"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FIN</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a:t>
            </a:r>
          </a:p>
        </p:txBody>
      </p:sp>
      <p:sp>
        <p:nvSpPr>
          <p:cNvPr id="30" name="矩形 29">
            <a:extLst>
              <a:ext uri="{FF2B5EF4-FFF2-40B4-BE49-F238E27FC236}">
                <a16:creationId xmlns:a16="http://schemas.microsoft.com/office/drawing/2014/main" id="{75CA5390-80EA-581F-6D40-4B6F0B129469}"/>
              </a:ext>
            </a:extLst>
          </p:cNvPr>
          <p:cNvSpPr/>
          <p:nvPr/>
        </p:nvSpPr>
        <p:spPr>
          <a:xfrm>
            <a:off x="5785133" y="3619271"/>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32" name="矩形 31">
            <a:extLst>
              <a:ext uri="{FF2B5EF4-FFF2-40B4-BE49-F238E27FC236}">
                <a16:creationId xmlns:a16="http://schemas.microsoft.com/office/drawing/2014/main" id="{D54E7638-FF7C-ED85-4FAD-ECD462515673}"/>
              </a:ext>
            </a:extLst>
          </p:cNvPr>
          <p:cNvSpPr/>
          <p:nvPr/>
        </p:nvSpPr>
        <p:spPr>
          <a:xfrm>
            <a:off x="1333683" y="2276030"/>
            <a:ext cx="1296000" cy="86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FIN-WAIT2</a:t>
            </a:r>
          </a:p>
        </p:txBody>
      </p:sp>
      <p:sp>
        <p:nvSpPr>
          <p:cNvPr id="33" name="矩形 32">
            <a:extLst>
              <a:ext uri="{FF2B5EF4-FFF2-40B4-BE49-F238E27FC236}">
                <a16:creationId xmlns:a16="http://schemas.microsoft.com/office/drawing/2014/main" id="{AF953AB2-01D7-2107-6A17-439341E400AD}"/>
              </a:ext>
            </a:extLst>
          </p:cNvPr>
          <p:cNvSpPr/>
          <p:nvPr/>
        </p:nvSpPr>
        <p:spPr>
          <a:xfrm>
            <a:off x="1326483" y="3189542"/>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TIME-WAIT</a:t>
            </a:r>
          </a:p>
        </p:txBody>
      </p:sp>
      <p:cxnSp>
        <p:nvCxnSpPr>
          <p:cNvPr id="50" name="直接箭头连接符 49">
            <a:extLst>
              <a:ext uri="{FF2B5EF4-FFF2-40B4-BE49-F238E27FC236}">
                <a16:creationId xmlns:a16="http://schemas.microsoft.com/office/drawing/2014/main" id="{25B448BF-6444-2833-67FA-44B89CD0FE4E}"/>
              </a:ext>
            </a:extLst>
          </p:cNvPr>
          <p:cNvCxnSpPr>
            <a:cxnSpLocks/>
          </p:cNvCxnSpPr>
          <p:nvPr/>
        </p:nvCxnSpPr>
        <p:spPr>
          <a:xfrm flipH="1">
            <a:off x="2629683" y="2664542"/>
            <a:ext cx="3155450" cy="447077"/>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8" name="箭头: 下 57">
            <a:extLst>
              <a:ext uri="{FF2B5EF4-FFF2-40B4-BE49-F238E27FC236}">
                <a16:creationId xmlns:a16="http://schemas.microsoft.com/office/drawing/2014/main" id="{E54BC953-6699-9B5D-98F0-FD30BB4ABDD9}"/>
              </a:ext>
            </a:extLst>
          </p:cNvPr>
          <p:cNvSpPr/>
          <p:nvPr/>
        </p:nvSpPr>
        <p:spPr>
          <a:xfrm rot="4920000">
            <a:off x="4649065" y="195491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箭头: 下 58">
            <a:extLst>
              <a:ext uri="{FF2B5EF4-FFF2-40B4-BE49-F238E27FC236}">
                <a16:creationId xmlns:a16="http://schemas.microsoft.com/office/drawing/2014/main" id="{5FF2FF3A-C735-86F2-4696-DE3FA441DDDB}"/>
              </a:ext>
            </a:extLst>
          </p:cNvPr>
          <p:cNvSpPr/>
          <p:nvPr/>
        </p:nvSpPr>
        <p:spPr>
          <a:xfrm rot="4920000">
            <a:off x="3538783" y="213176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59">
            <a:extLst>
              <a:ext uri="{FF2B5EF4-FFF2-40B4-BE49-F238E27FC236}">
                <a16:creationId xmlns:a16="http://schemas.microsoft.com/office/drawing/2014/main" id="{70BDD34B-53C1-32D8-8A5D-2A27DC04CA2F}"/>
              </a:ext>
            </a:extLst>
          </p:cNvPr>
          <p:cNvSpPr/>
          <p:nvPr/>
        </p:nvSpPr>
        <p:spPr>
          <a:xfrm>
            <a:off x="1326483" y="3887054"/>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pic>
        <p:nvPicPr>
          <p:cNvPr id="61" name="图形 60" descr="时钟">
            <a:extLst>
              <a:ext uri="{FF2B5EF4-FFF2-40B4-BE49-F238E27FC236}">
                <a16:creationId xmlns:a16="http://schemas.microsoft.com/office/drawing/2014/main" id="{3DD24FFC-95D2-E32B-BDB7-1FCDD1AECE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26483" y="3333542"/>
            <a:ext cx="360000" cy="360000"/>
          </a:xfrm>
          <a:prstGeom prst="rect">
            <a:avLst/>
          </a:prstGeom>
        </p:spPr>
      </p:pic>
      <p:sp>
        <p:nvSpPr>
          <p:cNvPr id="62" name="文本框 61">
            <a:extLst>
              <a:ext uri="{FF2B5EF4-FFF2-40B4-BE49-F238E27FC236}">
                <a16:creationId xmlns:a16="http://schemas.microsoft.com/office/drawing/2014/main" id="{D4AA236A-B378-88A9-7277-6FDE77CCF8E5}"/>
              </a:ext>
            </a:extLst>
          </p:cNvPr>
          <p:cNvSpPr txBox="1"/>
          <p:nvPr/>
        </p:nvSpPr>
        <p:spPr>
          <a:xfrm>
            <a:off x="1268883" y="3613090"/>
            <a:ext cx="532518" cy="246221"/>
          </a:xfrm>
          <a:prstGeom prst="rect">
            <a:avLst/>
          </a:prstGeom>
          <a:noFill/>
        </p:spPr>
        <p:txBody>
          <a:bodyPr wrap="none" rtlCol="0">
            <a:spAutoFit/>
          </a:bodyPr>
          <a:lstStyle/>
          <a:p>
            <a:pPr algn="l">
              <a:buClr>
                <a:srgbClr val="C00000"/>
              </a:buClr>
            </a:pPr>
            <a:r>
              <a:rPr lang="en-US" altLang="zh-CN" sz="1000" dirty="0">
                <a:latin typeface="Montserrat" panose="00000500000000000000" pitchFamily="2" charset="0"/>
                <a:ea typeface="微软雅黑 Light" panose="020B0502040204020203" pitchFamily="34" charset="-122"/>
                <a:cs typeface="Courier New" panose="02070309020205020404" pitchFamily="49" charset="0"/>
              </a:rPr>
              <a:t>2MSL</a:t>
            </a:r>
            <a:endParaRPr lang="zh-CN" altLang="en-US" sz="10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1749792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a:xfrm>
            <a:off x="486000" y="900000"/>
            <a:ext cx="8172000" cy="3703500"/>
          </a:xfrm>
        </p:spPr>
        <p:txBody>
          <a:bodyPr/>
          <a:lstStyle/>
          <a:p>
            <a:r>
              <a:rPr lang="zh-CN" altLang="en-US" dirty="0"/>
              <a:t>第一，保证发送的最后一个 </a:t>
            </a:r>
            <a:r>
              <a:rPr lang="en-US" altLang="zh-CN" dirty="0"/>
              <a:t>ACK </a:t>
            </a:r>
            <a:r>
              <a:rPr lang="zh-CN" altLang="en-US" dirty="0"/>
              <a:t>报文段能够到达 </a:t>
            </a:r>
            <a:r>
              <a:rPr lang="en-US" altLang="zh-CN" dirty="0"/>
              <a:t>B</a:t>
            </a:r>
            <a:r>
              <a:rPr lang="zh-CN" altLang="en-US" dirty="0"/>
              <a:t>。</a:t>
            </a:r>
          </a:p>
          <a:p>
            <a:r>
              <a:rPr lang="zh-CN" altLang="en-US" dirty="0"/>
              <a:t>第二，防止“已失效的连接请求报文段”出现在本连接中。</a:t>
            </a:r>
          </a:p>
          <a:p>
            <a:endParaRPr lang="zh-CN" altLang="en-US" dirty="0"/>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486000" y="550723"/>
            <a:ext cx="8172000" cy="338554"/>
          </a:xfrm>
        </p:spPr>
        <p:txBody>
          <a:bodyPr/>
          <a:lstStyle/>
          <a:p>
            <a:r>
              <a:rPr lang="zh-CN" altLang="en-US" dirty="0"/>
              <a:t>必须等待 </a:t>
            </a:r>
            <a:r>
              <a:rPr lang="en-US" altLang="zh-CN" dirty="0"/>
              <a:t>2MSL </a:t>
            </a:r>
            <a:r>
              <a:rPr lang="zh-CN" altLang="en-US" dirty="0"/>
              <a:t>的时间</a:t>
            </a:r>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a:xfrm>
            <a:off x="486000" y="900000"/>
            <a:ext cx="8172000" cy="3703500"/>
          </a:xfrm>
        </p:spPr>
        <p:txBody>
          <a:bodyPr/>
          <a:lstStyle/>
          <a:p>
            <a:r>
              <a:rPr lang="zh-CN" altLang="en-US"/>
              <a:t>用来防止在 </a:t>
            </a:r>
            <a:r>
              <a:rPr lang="en-US" altLang="zh-CN"/>
              <a:t>TCP </a:t>
            </a:r>
            <a:r>
              <a:rPr lang="zh-CN" altLang="en-US"/>
              <a:t>连接出现长时期空闲。</a:t>
            </a:r>
            <a:endParaRPr lang="en-US" altLang="zh-CN"/>
          </a:p>
          <a:p>
            <a:r>
              <a:rPr lang="zh-CN" altLang="en-US"/>
              <a:t>通常设置为 </a:t>
            </a:r>
            <a:r>
              <a:rPr lang="en-US" altLang="zh-CN"/>
              <a:t>2 </a:t>
            </a:r>
            <a:r>
              <a:rPr lang="zh-CN" altLang="en-US"/>
              <a:t>小时 。</a:t>
            </a:r>
            <a:endParaRPr lang="en-US" altLang="zh-CN"/>
          </a:p>
          <a:p>
            <a:r>
              <a:rPr lang="zh-CN" altLang="en-US"/>
              <a:t>若服务器过了 </a:t>
            </a:r>
            <a:r>
              <a:rPr lang="en-US" altLang="zh-CN"/>
              <a:t>2 </a:t>
            </a:r>
            <a:r>
              <a:rPr lang="zh-CN" altLang="en-US"/>
              <a:t>小时还没有收到客户的信息，它就发送探测报文段。</a:t>
            </a:r>
            <a:endParaRPr lang="en-US" altLang="zh-CN"/>
          </a:p>
          <a:p>
            <a:r>
              <a:rPr lang="zh-CN" altLang="en-US"/>
              <a:t>若发送了 </a:t>
            </a:r>
            <a:r>
              <a:rPr lang="en-US" altLang="zh-CN"/>
              <a:t>10 </a:t>
            </a:r>
            <a:r>
              <a:rPr lang="zh-CN" altLang="en-US"/>
              <a:t>个探测报文段（每一个相隔 </a:t>
            </a:r>
            <a:r>
              <a:rPr lang="en-US" altLang="zh-CN"/>
              <a:t>75 </a:t>
            </a:r>
            <a:r>
              <a:rPr lang="zh-CN" altLang="en-US"/>
              <a:t>秒）还没有响应，就假定客户出了故障，因而就终止该连接。 </a:t>
            </a:r>
          </a:p>
          <a:p>
            <a:endParaRPr lang="zh-CN" altLang="en-US" dirty="0"/>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486000" y="550723"/>
            <a:ext cx="8172000" cy="338554"/>
          </a:xfrm>
        </p:spPr>
        <p:txBody>
          <a:bodyPr/>
          <a:lstStyle/>
          <a:p>
            <a:r>
              <a:rPr lang="zh-CN" altLang="en-US"/>
              <a:t>保活计时器</a:t>
            </a:r>
            <a:endParaRPr lang="zh-CN" altLang="en-US" dirty="0"/>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3" name="标题 72">
            <a:extLst>
              <a:ext uri="{FF2B5EF4-FFF2-40B4-BE49-F238E27FC236}">
                <a16:creationId xmlns:a16="http://schemas.microsoft.com/office/drawing/2014/main" id="{EAAD8B8B-BC0C-B76E-DE46-0358639803BA}"/>
              </a:ext>
            </a:extLst>
          </p:cNvPr>
          <p:cNvSpPr>
            <a:spLocks noGrp="1"/>
          </p:cNvSpPr>
          <p:nvPr>
            <p:ph type="title"/>
          </p:nvPr>
        </p:nvSpPr>
        <p:spPr>
          <a:xfrm>
            <a:off x="486000" y="550723"/>
            <a:ext cx="8172000" cy="338554"/>
          </a:xfrm>
        </p:spPr>
        <p:txBody>
          <a:bodyPr/>
          <a:lstStyle/>
          <a:p>
            <a:r>
              <a:rPr lang="en-US" altLang="zh-CN" dirty="0"/>
              <a:t>5.9.3  TCP </a:t>
            </a:r>
            <a:r>
              <a:rPr lang="zh-CN" altLang="en-US" dirty="0"/>
              <a:t>的有限状态机</a:t>
            </a:r>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8028</TotalTime>
  <Words>17850</Words>
  <Application>Microsoft Office PowerPoint</Application>
  <PresentationFormat>全屏显示(16:9)</PresentationFormat>
  <Paragraphs>4216</Paragraphs>
  <Slides>212</Slides>
  <Notes>21</Notes>
  <HiddenSlides>3</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2</vt:i4>
      </vt:variant>
      <vt:variant>
        <vt:lpstr>幻灯片标题</vt:lpstr>
      </vt:variant>
      <vt:variant>
        <vt:i4>212</vt:i4>
      </vt:variant>
    </vt:vector>
  </HeadingPairs>
  <TitlesOfParts>
    <vt:vector size="225" baseType="lpstr">
      <vt:lpstr>微软雅黑</vt:lpstr>
      <vt:lpstr>Calibri</vt:lpstr>
      <vt:lpstr>Wingdings</vt:lpstr>
      <vt:lpstr>宋体</vt:lpstr>
      <vt:lpstr>Arial</vt:lpstr>
      <vt:lpstr>Symbol</vt:lpstr>
      <vt:lpstr>Cambria Math</vt:lpstr>
      <vt:lpstr>Montserrat</vt:lpstr>
      <vt:lpstr>微软雅黑 Light</vt:lpstr>
      <vt:lpstr>Courier New</vt:lpstr>
      <vt:lpstr>network</vt:lpstr>
      <vt:lpstr>Visio</vt:lpstr>
      <vt:lpstr>公式</vt:lpstr>
      <vt:lpstr>PowerPoint 演示文稿</vt:lpstr>
      <vt:lpstr>计算机网络体系结构</vt:lpstr>
      <vt:lpstr>PowerPoint 演示文稿</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PowerPoint 演示文稿</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PowerPoint 演示文稿</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5.4.1  停止等待协议</vt:lpstr>
      <vt:lpstr>1. 无差a错情况</vt:lpstr>
      <vt:lpstr>2. 出现差错</vt:lpstr>
      <vt:lpstr>2. 出现差错</vt:lpstr>
      <vt:lpstr>2. 出现差错</vt:lpstr>
      <vt:lpstr>3. 确认丢失和确认迟到</vt:lpstr>
      <vt:lpstr>3. 确认丢失和确认迟到</vt:lpstr>
      <vt:lpstr>确认丢失</vt:lpstr>
      <vt:lpstr>3. 确认丢失和确认迟到</vt:lpstr>
      <vt:lpstr>确认迟到</vt:lpstr>
      <vt:lpstr>4. 信道利用率</vt:lpstr>
      <vt:lpstr>停止等待协议要点</vt:lpstr>
      <vt:lpstr>提高传输效率：流水线传输</vt:lpstr>
      <vt:lpstr>5.4.2   连续 ARQ 协议</vt:lpstr>
      <vt:lpstr>发送窗口</vt:lpstr>
      <vt:lpstr>PowerPoint 演示文稿</vt:lpstr>
      <vt:lpstr>PowerPoint 演示文稿</vt:lpstr>
      <vt:lpstr>累积确认</vt:lpstr>
      <vt:lpstr>累积确认</vt:lpstr>
      <vt:lpstr>5.5  TCP 报文段的首部格式</vt:lpstr>
      <vt:lpstr>5.5  TCP 报文段的首部格式</vt:lpstr>
      <vt:lpstr>PowerPoint 演示文稿</vt:lpstr>
      <vt:lpstr>PowerPoint 演示文稿</vt:lpstr>
      <vt:lpstr>源端口和目的端口</vt:lpstr>
      <vt:lpstr>序号</vt:lpstr>
      <vt:lpstr>PowerPoint 演示文稿</vt:lpstr>
      <vt:lpstr>确认号</vt:lpstr>
      <vt:lpstr>数据偏移</vt:lpstr>
      <vt:lpstr>PowerPoint 演示文稿</vt:lpstr>
      <vt:lpstr>URG</vt:lpstr>
      <vt:lpstr>ACK</vt:lpstr>
      <vt:lpstr>PSH</vt:lpstr>
      <vt:lpstr>RST</vt:lpstr>
      <vt:lpstr>SYN</vt:lpstr>
      <vt:lpstr>FIN</vt:lpstr>
      <vt:lpstr>Window</vt:lpstr>
      <vt:lpstr>校验和</vt:lpstr>
      <vt:lpstr>PowerPoint 演示文稿</vt:lpstr>
      <vt:lpstr>紧急指针</vt:lpstr>
      <vt:lpstr>选项</vt:lpstr>
      <vt:lpstr>填充</vt:lpstr>
      <vt:lpstr>PowerPoint 演示文稿</vt:lpstr>
      <vt:lpstr>选项（2）：最大报文段长度 MSS</vt:lpstr>
      <vt:lpstr>选项（2）：最大报文段长度 MSS</vt:lpstr>
      <vt:lpstr>选项（3）：窗口扩大</vt:lpstr>
      <vt:lpstr>选项（3）：窗口扩大</vt:lpstr>
      <vt:lpstr>选项（8）：时间戳</vt:lpstr>
      <vt:lpstr>PowerPoint 演示文稿</vt:lpstr>
      <vt:lpstr>5.6.1   以字节为单位的滑动窗口</vt:lpstr>
      <vt:lpstr>发送窗口</vt:lpstr>
      <vt:lpstr>发送窗口</vt:lpstr>
      <vt:lpstr>发送窗口</vt:lpstr>
      <vt:lpstr>接收窗口</vt:lpstr>
      <vt:lpstr>窗口的滑动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需要强调三点</vt:lpstr>
      <vt:lpstr>5.6.2   超时重传时间的选择</vt:lpstr>
      <vt:lpstr>TCP 超时重传时间设置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SACK</vt:lpstr>
      <vt:lpstr>PowerPoint 演示文稿</vt:lpstr>
      <vt:lpstr>5.7.1   利用滑动窗口实现流量控制</vt:lpstr>
      <vt:lpstr>5.7.1   利用滑动窗口实现流量控制</vt:lpstr>
      <vt:lpstr>PowerPoint 演示文稿</vt:lpstr>
      <vt:lpstr>可能发生死锁</vt:lpstr>
      <vt:lpstr>持续计时器</vt:lpstr>
      <vt:lpstr>5.7.2   TCP 的传输效率</vt:lpstr>
      <vt:lpstr>糊涂窗口综合症</vt:lpstr>
      <vt:lpstr>发送方糊涂窗口综合症</vt:lpstr>
      <vt:lpstr>接收方糊涂窗口综合症</vt:lpstr>
      <vt:lpstr>接收方糊涂窗口综合症</vt:lpstr>
      <vt:lpstr>PowerPoint 演示文稿</vt:lpstr>
      <vt:lpstr>5.8.1   拥塞控制的一般原理</vt:lpstr>
      <vt:lpstr>拥塞产生的原因</vt:lpstr>
      <vt:lpstr>增加资源能解决拥塞吗？</vt:lpstr>
      <vt:lpstr>拥塞控制与流量控制的区别</vt:lpstr>
      <vt:lpstr>拥塞控制所起的作用</vt:lpstr>
      <vt:lpstr>拥塞控制的一般原理</vt:lpstr>
      <vt:lpstr>开环控制和闭环控制</vt:lpstr>
      <vt:lpstr>闭环控制措施</vt:lpstr>
      <vt:lpstr>闭环控制措施</vt:lpstr>
      <vt:lpstr>闭环控制措施</vt:lpstr>
      <vt:lpstr>闭环控制措施</vt:lpstr>
      <vt:lpstr>5.8.2  TCP 的拥塞控制方法</vt:lpstr>
      <vt:lpstr>控制拥塞窗口变化的原则</vt:lpstr>
      <vt:lpstr>发送方判断拥塞的方法：隐式反馈</vt:lpstr>
      <vt:lpstr>TCP 拥塞控制算法</vt:lpstr>
      <vt:lpstr>1. 慢开始 (Slow start)</vt:lpstr>
      <vt:lpstr>1. 慢开始 (Slow start)</vt:lpstr>
      <vt:lpstr>1. 慢开始 (Slow start)</vt:lpstr>
      <vt:lpstr>PowerPoint 演示文稿</vt:lpstr>
      <vt:lpstr>PowerPoint 演示文稿</vt:lpstr>
      <vt:lpstr>传输轮次（transmission round）</vt:lpstr>
      <vt:lpstr>慢开始门限 ssthresh</vt:lpstr>
      <vt:lpstr>2. 拥塞避免</vt:lpstr>
      <vt:lpstr>PowerPoint 演示文稿</vt:lpstr>
      <vt:lpstr>当网络出现拥塞时</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快重传 FR (Fast Retransmission) 算法</vt:lpstr>
      <vt:lpstr>快重传举例</vt:lpstr>
      <vt:lpstr>快恢复 FR (Fast Recovery)算法</vt:lpstr>
      <vt:lpstr>慢开始和拥塞避免算法的实现举例</vt:lpstr>
      <vt:lpstr>慢开始和拥塞避免算法的实现举例</vt:lpstr>
      <vt:lpstr>TCP 拥塞控制流程图</vt:lpstr>
      <vt:lpstr>发送窗口的上限值</vt:lpstr>
      <vt:lpstr>5.8.3   主动队列管理 AQM</vt:lpstr>
      <vt:lpstr>“先进先出”FIFO 处理规则</vt:lpstr>
      <vt:lpstr>先进先出（FIFO）处理规则与尾部丢弃策略</vt:lpstr>
      <vt:lpstr>先进先出（FIFO）处理规则与尾部丢弃策略</vt:lpstr>
      <vt:lpstr>严重问题：全局同步</vt:lpstr>
      <vt:lpstr>严重问题：全局同步</vt:lpstr>
      <vt:lpstr>主动队列管理 AQM</vt:lpstr>
      <vt:lpstr>随机早期检测 RED</vt:lpstr>
      <vt:lpstr>随机早期检测 RED</vt:lpstr>
      <vt:lpstr>随机早期检测 RED</vt:lpstr>
      <vt:lpstr>随机早期检测 RED</vt:lpstr>
      <vt:lpstr>PowerPoint 演示文稿</vt:lpstr>
      <vt:lpstr>运输连接的三个阶段</vt:lpstr>
      <vt:lpstr>TCP 连接建立过程中要解决的三个问题</vt:lpstr>
      <vt:lpstr>5.9.1  TCP 的连接建立</vt:lpstr>
      <vt:lpstr>PowerPoint 演示文稿</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PowerPoint 演示文稿</vt:lpstr>
      <vt:lpstr>5.9.2  TCP 的连接释放</vt:lpstr>
      <vt:lpstr>TCP 的连接释放-采用四报文握手</vt:lpstr>
      <vt:lpstr>TCP 的连接释放-采用四报文握手</vt:lpstr>
      <vt:lpstr>TCP 的连接释放-采用四报文握手</vt:lpstr>
      <vt:lpstr>TCP 的连接释放-采用四报文握手</vt:lpstr>
      <vt:lpstr>TCP 的连接释放-采用四报文握手</vt:lpstr>
      <vt:lpstr>PowerPoint 演示文稿</vt:lpstr>
      <vt:lpstr>必须等待 2MSL 的时间</vt:lpstr>
      <vt:lpstr>保活计时器</vt:lpstr>
      <vt:lpstr>5.9.3  TCP 的有限状态机</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686</cp:revision>
  <dcterms:created xsi:type="dcterms:W3CDTF">2018-07-18T08:51:30Z</dcterms:created>
  <dcterms:modified xsi:type="dcterms:W3CDTF">2025-11-21T13:19:24Z</dcterms:modified>
</cp:coreProperties>
</file>