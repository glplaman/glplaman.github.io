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02"/>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498" r:id="rId57"/>
    <p:sldId id="501" r:id="rId58"/>
    <p:sldId id="505" r:id="rId59"/>
    <p:sldId id="504" r:id="rId60"/>
    <p:sldId id="509" r:id="rId61"/>
    <p:sldId id="676" r:id="rId62"/>
    <p:sldId id="513" r:id="rId63"/>
    <p:sldId id="698" r:id="rId64"/>
    <p:sldId id="680" r:id="rId65"/>
    <p:sldId id="520" r:id="rId66"/>
    <p:sldId id="521" r:id="rId67"/>
    <p:sldId id="522" r:id="rId68"/>
    <p:sldId id="523" r:id="rId69"/>
    <p:sldId id="524" r:id="rId70"/>
    <p:sldId id="525" r:id="rId71"/>
    <p:sldId id="526" r:id="rId72"/>
    <p:sldId id="527" r:id="rId73"/>
    <p:sldId id="528" r:id="rId74"/>
    <p:sldId id="529" r:id="rId75"/>
    <p:sldId id="530" r:id="rId76"/>
    <p:sldId id="531" r:id="rId77"/>
    <p:sldId id="532" r:id="rId78"/>
    <p:sldId id="533" r:id="rId79"/>
    <p:sldId id="534" r:id="rId80"/>
    <p:sldId id="535" r:id="rId81"/>
    <p:sldId id="536" r:id="rId82"/>
    <p:sldId id="537" r:id="rId83"/>
    <p:sldId id="702" r:id="rId84"/>
    <p:sldId id="701" r:id="rId85"/>
    <p:sldId id="703" r:id="rId86"/>
    <p:sldId id="705" r:id="rId87"/>
    <p:sldId id="707" r:id="rId88"/>
    <p:sldId id="708" r:id="rId89"/>
    <p:sldId id="709" r:id="rId90"/>
    <p:sldId id="541" r:id="rId91"/>
    <p:sldId id="542" r:id="rId92"/>
    <p:sldId id="543" r:id="rId93"/>
    <p:sldId id="710" r:id="rId94"/>
    <p:sldId id="546" r:id="rId95"/>
    <p:sldId id="711" r:id="rId96"/>
    <p:sldId id="713" r:id="rId97"/>
    <p:sldId id="715" r:id="rId98"/>
    <p:sldId id="716" r:id="rId99"/>
    <p:sldId id="717" r:id="rId100"/>
    <p:sldId id="718" r:id="rId101"/>
    <p:sldId id="721" r:id="rId102"/>
    <p:sldId id="722" r:id="rId103"/>
    <p:sldId id="719" r:id="rId104"/>
    <p:sldId id="552" r:id="rId105"/>
    <p:sldId id="554" r:id="rId106"/>
    <p:sldId id="555" r:id="rId107"/>
    <p:sldId id="557" r:id="rId108"/>
    <p:sldId id="559" r:id="rId109"/>
    <p:sldId id="560" r:id="rId110"/>
    <p:sldId id="561" r:id="rId111"/>
    <p:sldId id="562" r:id="rId112"/>
    <p:sldId id="563" r:id="rId113"/>
    <p:sldId id="564" r:id="rId114"/>
    <p:sldId id="723" r:id="rId115"/>
    <p:sldId id="567" r:id="rId116"/>
    <p:sldId id="566" r:id="rId117"/>
    <p:sldId id="568" r:id="rId118"/>
    <p:sldId id="569" r:id="rId119"/>
    <p:sldId id="571" r:id="rId120"/>
    <p:sldId id="724" r:id="rId121"/>
    <p:sldId id="573" r:id="rId122"/>
    <p:sldId id="574" r:id="rId123"/>
    <p:sldId id="575" r:id="rId124"/>
    <p:sldId id="576" r:id="rId125"/>
    <p:sldId id="578" r:id="rId126"/>
    <p:sldId id="579" r:id="rId127"/>
    <p:sldId id="580" r:id="rId128"/>
    <p:sldId id="581" r:id="rId129"/>
    <p:sldId id="582" r:id="rId130"/>
    <p:sldId id="685" r:id="rId131"/>
    <p:sldId id="583" r:id="rId132"/>
    <p:sldId id="727" r:id="rId133"/>
    <p:sldId id="585" r:id="rId134"/>
    <p:sldId id="586" r:id="rId135"/>
    <p:sldId id="587" r:id="rId136"/>
    <p:sldId id="731" r:id="rId137"/>
    <p:sldId id="729" r:id="rId138"/>
    <p:sldId id="730" r:id="rId139"/>
    <p:sldId id="592" r:id="rId140"/>
    <p:sldId id="593" r:id="rId141"/>
    <p:sldId id="594" r:id="rId142"/>
    <p:sldId id="595" r:id="rId143"/>
    <p:sldId id="596" r:id="rId144"/>
    <p:sldId id="597" r:id="rId145"/>
    <p:sldId id="598" r:id="rId146"/>
    <p:sldId id="599" r:id="rId147"/>
    <p:sldId id="600" r:id="rId148"/>
    <p:sldId id="686" r:id="rId149"/>
    <p:sldId id="687" r:id="rId150"/>
    <p:sldId id="601" r:id="rId151"/>
    <p:sldId id="602" r:id="rId152"/>
    <p:sldId id="603" r:id="rId153"/>
    <p:sldId id="604" r:id="rId154"/>
    <p:sldId id="605" r:id="rId155"/>
    <p:sldId id="606" r:id="rId156"/>
    <p:sldId id="607" r:id="rId157"/>
    <p:sldId id="608" r:id="rId158"/>
    <p:sldId id="609" r:id="rId159"/>
    <p:sldId id="611" r:id="rId160"/>
    <p:sldId id="612" r:id="rId161"/>
    <p:sldId id="613" r:id="rId162"/>
    <p:sldId id="614" r:id="rId163"/>
    <p:sldId id="616" r:id="rId164"/>
    <p:sldId id="618" r:id="rId165"/>
    <p:sldId id="619" r:id="rId166"/>
    <p:sldId id="732" r:id="rId167"/>
    <p:sldId id="733" r:id="rId168"/>
    <p:sldId id="622" r:id="rId169"/>
    <p:sldId id="623" r:id="rId170"/>
    <p:sldId id="624" r:id="rId171"/>
    <p:sldId id="689" r:id="rId172"/>
    <p:sldId id="625" r:id="rId173"/>
    <p:sldId id="626" r:id="rId174"/>
    <p:sldId id="627" r:id="rId175"/>
    <p:sldId id="628" r:id="rId176"/>
    <p:sldId id="629" r:id="rId177"/>
    <p:sldId id="691" r:id="rId178"/>
    <p:sldId id="630" r:id="rId179"/>
    <p:sldId id="631" r:id="rId180"/>
    <p:sldId id="632" r:id="rId181"/>
    <p:sldId id="633" r:id="rId182"/>
    <p:sldId id="634" r:id="rId183"/>
    <p:sldId id="635" r:id="rId184"/>
    <p:sldId id="637" r:id="rId185"/>
    <p:sldId id="638" r:id="rId186"/>
    <p:sldId id="639" r:id="rId187"/>
    <p:sldId id="640" r:id="rId188"/>
    <p:sldId id="641" r:id="rId189"/>
    <p:sldId id="642" r:id="rId190"/>
    <p:sldId id="643" r:id="rId191"/>
    <p:sldId id="644" r:id="rId192"/>
    <p:sldId id="645" r:id="rId193"/>
    <p:sldId id="646" r:id="rId194"/>
    <p:sldId id="647" r:id="rId195"/>
    <p:sldId id="649" r:id="rId196"/>
    <p:sldId id="650" r:id="rId197"/>
    <p:sldId id="652" r:id="rId198"/>
    <p:sldId id="653" r:id="rId199"/>
    <p:sldId id="654" r:id="rId200"/>
    <p:sldId id="655" r:id="rId201"/>
  </p:sldIdLst>
  <p:sldSz cx="9144000" cy="5143500" type="screen16x9"/>
  <p:notesSz cx="6858000" cy="9144000"/>
  <p:embeddedFontLst>
    <p:embeddedFont>
      <p:font typeface="Cambria Math" panose="02040503050406030204" pitchFamily="18" charset="0"/>
      <p:regular r:id="rId203"/>
    </p:embeddedFont>
    <p:embeddedFont>
      <p:font typeface="Montserrat" panose="00000500000000000000" pitchFamily="2" charset="0"/>
      <p:regular r:id="rId204"/>
    </p:embeddedFont>
    <p:embeddedFont>
      <p:font typeface="微软雅黑" panose="020B0503020204020204" pitchFamily="34" charset="-122"/>
      <p:regular r:id="rId205"/>
      <p:bold r:id="rId20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131F"/>
    <a:srgbClr val="0000FF"/>
    <a:srgbClr val="85D1F7"/>
    <a:srgbClr val="FFFF00"/>
    <a:srgbClr val="00FF99"/>
    <a:srgbClr val="3366FF"/>
    <a:srgbClr val="0000CC"/>
    <a:srgbClr val="FFFF99"/>
    <a:srgbClr val="A50021"/>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782"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font" Target="fonts/font3.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font" Target="fonts/font4.fntdata"/><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presProps" Target="presProp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font" Target="fonts/font1.fntdata"/><Relationship Id="rId208"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theme" Target="theme/theme1.xml"/><Relationship Id="rId190" Type="http://schemas.openxmlformats.org/officeDocument/2006/relationships/slide" Target="slides/slide189.xml"/><Relationship Id="rId204" Type="http://schemas.openxmlformats.org/officeDocument/2006/relationships/font" Target="fonts/font2.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tableStyles" Target="tableStyle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notesMaster" Target="notesMasters/notesMaster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拥塞控制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376B25E-A50F-4935-9A84-A2AE7897CCCF}">
      <dgm:prSet phldrT="[文本]" custT="1"/>
      <dgm:spPr/>
      <dgm:t>
        <a:bodyPr/>
        <a:lstStyle/>
        <a:p>
          <a:r>
            <a:rPr lang="zh-CN" altLang="en-US" sz="1800" b="1"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637746-0510-4A3C-90B7-D93A16B92D57}" type="sib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流量控制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1A8C11-D03E-479A-A84F-C3458AEF2E9A}">
      <dgm:prSet phldrT="[文本]" custT="1"/>
      <dgm:spPr/>
      <dgm:t>
        <a:bodyPr/>
        <a:lstStyle/>
        <a:p>
          <a:r>
            <a:rPr lang="zh-CN" altLang="en-US" sz="1800" b="1" dirty="0">
              <a:latin typeface="微软雅黑" panose="020B0503020204020204" pitchFamily="34" charset="-122"/>
              <a:ea typeface="微软雅黑" panose="020B0503020204020204"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553568A-AD7C-418C-9424-82556C1E75C3}" type="sib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开环控制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在设计网络时，事先</a:t>
          </a:r>
          <a:r>
            <a:rPr lang="zh-CN" altLang="en-US" sz="1800" b="1" dirty="0">
              <a:solidFill>
                <a:srgbClr val="C00000"/>
              </a:solidFill>
              <a:latin typeface="微软雅黑" panose="020B0503020204020204" pitchFamily="34" charset="-122"/>
              <a:ea typeface="微软雅黑" panose="020B0503020204020204" pitchFamily="34" charset="-122"/>
            </a:rPr>
            <a:t>考虑周全，</a:t>
          </a:r>
          <a:r>
            <a:rPr lang="zh-CN" altLang="en-US" sz="1800" b="1" dirty="0">
              <a:latin typeface="微软雅黑" panose="020B0503020204020204" pitchFamily="34" charset="-122"/>
              <a:ea typeface="微软雅黑" panose="020B0503020204020204"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闭环控制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基于反馈环路的概念。</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C2448606-BF7E-4CD3-8BBC-E63E41446859}">
      <dgm:prSet phldrT="[文本]" custT="1"/>
      <dgm:spPr/>
      <dgm:t>
        <a:bodyPr/>
        <a:lstStyle/>
        <a:p>
          <a:r>
            <a:rPr lang="zh-CN" altLang="en-US" sz="1800" b="1" dirty="0">
              <a:solidFill>
                <a:srgbClr val="0000FF"/>
              </a:solidFill>
              <a:latin typeface="微软雅黑" pitchFamily="34" charset="-122"/>
              <a:ea typeface="微软雅黑" pitchFamily="34" charset="-122"/>
            </a:rPr>
            <a:t>思路：</a:t>
          </a:r>
          <a:r>
            <a:rPr lang="zh-CN" altLang="en-US" sz="1800" b="1" dirty="0">
              <a:latin typeface="微软雅黑" pitchFamily="34" charset="-122"/>
              <a:ea typeface="微软雅黑" pitchFamily="34" charset="-122"/>
            </a:rPr>
            <a:t>力争</a:t>
          </a:r>
          <a:r>
            <a:rPr lang="zh-CN" altLang="en-US" sz="1800" b="1" dirty="0">
              <a:solidFill>
                <a:srgbClr val="0000FF"/>
              </a:solidFill>
              <a:latin typeface="微软雅黑" pitchFamily="34" charset="-122"/>
              <a:ea typeface="微软雅黑" pitchFamily="34" charset="-122"/>
            </a:rPr>
            <a:t>避免</a:t>
          </a:r>
          <a:r>
            <a:rPr lang="zh-CN" altLang="en-US" sz="1800" b="1" dirty="0">
              <a:latin typeface="微软雅黑" pitchFamily="34" charset="-122"/>
              <a:ea typeface="微软雅黑" pitchFamily="34" charset="-122"/>
            </a:rPr>
            <a:t>发生拥塞。</a:t>
          </a:r>
        </a:p>
      </dgm:t>
    </dgm:pt>
    <dgm:pt modelId="{2DDFBD46-B857-474E-8B27-CCB24E2F9B0D}" type="parTrans" cxnId="{7A27A0D6-C7AD-41E7-9686-374209348154}">
      <dgm:prSet/>
      <dgm:spPr/>
      <dgm:t>
        <a:bodyPr/>
        <a:lstStyle/>
        <a:p>
          <a:endParaRPr lang="zh-CN" altLang="en-US"/>
        </a:p>
      </dgm:t>
    </dgm:pt>
    <dgm:pt modelId="{C3B707A5-D44C-439A-8798-74A2B4D73421}" type="sibTrans" cxnId="{7A27A0D6-C7AD-41E7-9686-374209348154}">
      <dgm:prSet/>
      <dgm:spPr/>
      <dgm:t>
        <a:bodyPr/>
        <a:lstStyle/>
        <a:p>
          <a:endParaRPr lang="zh-CN" altLang="en-US"/>
        </a:p>
      </dgm:t>
    </dgm:pt>
    <dgm:pt modelId="{69230521-20F8-455C-9DE0-EB64591477B4}">
      <dgm:prSet custT="1"/>
      <dgm:spPr/>
      <dgm:t>
        <a:bodyPr/>
        <a:lstStyle/>
        <a:p>
          <a:r>
            <a:rPr lang="zh-CN" altLang="en-US" sz="1800" b="1" dirty="0">
              <a:latin typeface="微软雅黑" panose="020B0503020204020204" pitchFamily="34" charset="-122"/>
              <a:ea typeface="微软雅黑" panose="020B0503020204020204" pitchFamily="34" charset="-122"/>
            </a:rPr>
            <a:t>根据网络</a:t>
          </a:r>
          <a:r>
            <a:rPr lang="zh-CN" altLang="en-US" sz="1800" b="1" dirty="0">
              <a:solidFill>
                <a:srgbClr val="C00000"/>
              </a:solidFill>
              <a:latin typeface="微软雅黑" panose="020B0503020204020204" pitchFamily="34" charset="-122"/>
              <a:ea typeface="微软雅黑" panose="020B0503020204020204" pitchFamily="34" charset="-122"/>
            </a:rPr>
            <a:t>当前运行状态</a:t>
          </a:r>
          <a:r>
            <a:rPr lang="zh-CN" altLang="en-US" sz="1800" b="1" dirty="0">
              <a:latin typeface="微软雅黑" panose="020B0503020204020204" pitchFamily="34" charset="-122"/>
              <a:ea typeface="微软雅黑" panose="020B0503020204020204" pitchFamily="34" charset="-122"/>
            </a:rPr>
            <a:t>采取相应控制措施。</a:t>
          </a:r>
        </a:p>
      </dgm:t>
    </dgm:pt>
    <dgm:pt modelId="{12D5CF6D-3ECF-44C8-8A00-2243EEE11BB5}" type="parTrans" cxnId="{68D7CDFF-D5B6-4B82-BCD9-4ADC99E5D786}">
      <dgm:prSet/>
      <dgm:spPr/>
      <dgm:t>
        <a:bodyPr/>
        <a:lstStyle/>
        <a:p>
          <a:endParaRPr lang="zh-CN" altLang="en-US"/>
        </a:p>
      </dgm:t>
    </dgm:pt>
    <dgm:pt modelId="{3125DBAA-2F9E-499F-A3BE-6A4DF87D05F3}" type="sibTrans" cxnId="{68D7CDFF-D5B6-4B82-BCD9-4ADC99E5D786}">
      <dgm:prSet/>
      <dgm:spPr/>
      <dgm:t>
        <a:bodyPr/>
        <a:lstStyle/>
        <a:p>
          <a:endParaRPr lang="zh-CN" altLang="en-US"/>
        </a:p>
      </dgm:t>
    </dgm:pt>
    <dgm:pt modelId="{238D7AE3-4A96-4FFA-8329-EDA2C3555B30}">
      <dgm:prSet custT="1"/>
      <dgm:spPr/>
      <dgm:t>
        <a:bodyPr/>
        <a:lstStyle/>
        <a:p>
          <a:r>
            <a:rPr lang="zh-CN" altLang="en-US" sz="1800" b="1" dirty="0">
              <a:solidFill>
                <a:srgbClr val="0000FF"/>
              </a:solidFill>
              <a:latin typeface="微软雅黑" panose="020B0503020204020204" pitchFamily="34" charset="-122"/>
              <a:ea typeface="微软雅黑" panose="020B0503020204020204" pitchFamily="34" charset="-122"/>
            </a:rPr>
            <a:t>思路：</a:t>
          </a:r>
          <a:r>
            <a:rPr lang="zh-CN" altLang="en-US" sz="1800" b="1" dirty="0">
              <a:latin typeface="微软雅黑" panose="020B0503020204020204" pitchFamily="34" charset="-122"/>
              <a:ea typeface="微软雅黑" panose="020B0503020204020204" pitchFamily="34" charset="-122"/>
            </a:rPr>
            <a:t>在发生拥塞后，采取措施进行控制，</a:t>
          </a:r>
          <a:r>
            <a:rPr lang="zh-CN" altLang="en-US" sz="1800" b="1" dirty="0">
              <a:solidFill>
                <a:srgbClr val="0000FF"/>
              </a:solidFill>
              <a:latin typeface="微软雅黑" panose="020B0503020204020204" pitchFamily="34" charset="-122"/>
              <a:ea typeface="微软雅黑" panose="020B0503020204020204" pitchFamily="34" charset="-122"/>
            </a:rPr>
            <a:t>消除</a:t>
          </a:r>
          <a:r>
            <a:rPr lang="zh-CN" altLang="en-US" sz="1800" b="1" dirty="0">
              <a:latin typeface="微软雅黑" panose="020B0503020204020204" pitchFamily="34" charset="-122"/>
              <a:ea typeface="微软雅黑" panose="020B0503020204020204" pitchFamily="34" charset="-122"/>
            </a:rPr>
            <a:t>拥塞。</a:t>
          </a:r>
        </a:p>
      </dgm:t>
    </dgm:pt>
    <dgm:pt modelId="{8F3ECFA1-802E-4A72-BEC6-F40B249AD54A}" type="parTrans" cxnId="{AD39759F-59CA-49CB-B3FD-19EAB19B2916}">
      <dgm:prSet/>
      <dgm:spPr/>
      <dgm:t>
        <a:bodyPr/>
        <a:lstStyle/>
        <a:p>
          <a:endParaRPr lang="zh-CN" altLang="en-US"/>
        </a:p>
      </dgm:t>
    </dgm:pt>
    <dgm:pt modelId="{E88472DA-7723-4EBC-9681-94AC3B0DDFFF}" type="sibTrans" cxnId="{AD39759F-59CA-49CB-B3FD-19EAB19B2916}">
      <dgm:prSet/>
      <dgm:spPr/>
      <dgm:t>
        <a:bodyPr/>
        <a:lstStyle/>
        <a:p>
          <a:endParaRPr lang="zh-CN" altLang="en-US"/>
        </a:p>
      </dgm:t>
    </dgm:pt>
    <dgm:pt modelId="{654DBB23-7453-4B2A-8F48-11AC62514B72}">
      <dgm:prSet phldrT="[文本]" custT="1"/>
      <dgm:spPr/>
      <dgm:t>
        <a:bodyPr/>
        <a:lstStyle/>
        <a:p>
          <a:r>
            <a:rPr lang="zh-CN" altLang="en-US" sz="1800" b="1" dirty="0">
              <a:latin typeface="微软雅黑" panose="020B0503020204020204" pitchFamily="34" charset="-122"/>
              <a:ea typeface="微软雅黑" panose="020B0503020204020204"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p>
      </dgm:t>
    </dgm:pt>
    <dgm:pt modelId="{DD57D3ED-98B7-4B38-92D2-CBFD5CB8FFB1}" type="sibTrans" cxnId="{DE96F142-2113-4AC2-8084-749F805247C8}">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a:latin typeface="微软雅黑" panose="020B0503020204020204" pitchFamily="34" charset="-122"/>
              <a:ea typeface="微软雅黑" panose="020B0503020204020204" pitchFamily="34" charset="-122"/>
            </a:rPr>
            <a:t>收到 </a:t>
          </a:r>
          <a:r>
            <a:rPr lang="en-US" altLang="en-US" sz="1800" b="1">
              <a:latin typeface="微软雅黑" panose="020B0503020204020204" pitchFamily="34" charset="-122"/>
              <a:ea typeface="微软雅黑" panose="020B0503020204020204" pitchFamily="34" charset="-122"/>
            </a:rPr>
            <a:t>3 </a:t>
          </a:r>
          <a:r>
            <a:rPr lang="zh-CN" altLang="en-US" sz="1800" b="1">
              <a:latin typeface="微软雅黑" panose="020B0503020204020204" pitchFamily="34" charset="-122"/>
              <a:ea typeface="微软雅黑" panose="020B0503020204020204" pitchFamily="34" charset="-122"/>
            </a:rPr>
            <a:t>个重复的确认</a:t>
          </a:r>
          <a:endParaRPr lang="zh-CN" altLang="en-US" sz="1800" b="1" dirty="0">
            <a:latin typeface="微软雅黑" panose="020B0503020204020204" pitchFamily="34" charset="-122"/>
            <a:ea typeface="微软雅黑" panose="020B0503020204020204" pitchFamily="34" charset="-122"/>
          </a:endParaRP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711"/>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拥塞控制</a:t>
          </a:r>
        </a:p>
      </dsp:txBody>
      <dsp:txXfrm>
        <a:off x="34" y="7711"/>
        <a:ext cx="3322842" cy="604800"/>
      </dsp:txXfrm>
    </dsp:sp>
    <dsp:sp modelId="{72C5BA33-78B4-45DE-B9CA-22A272DDBE2C}">
      <dsp:nvSpPr>
        <dsp:cNvPr id="0" name=""/>
        <dsp:cNvSpPr/>
      </dsp:nvSpPr>
      <dsp:spPr>
        <a:xfrm>
          <a:off x="34" y="612511"/>
          <a:ext cx="3322842" cy="282460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sp:txBody>
      <dsp:txXfrm>
        <a:off x="34" y="612511"/>
        <a:ext cx="3322842" cy="2824605"/>
      </dsp:txXfrm>
    </dsp:sp>
    <dsp:sp modelId="{3ACFDD6B-963A-45AA-AED6-29B2C66DA9EB}">
      <dsp:nvSpPr>
        <dsp:cNvPr id="0" name=""/>
        <dsp:cNvSpPr/>
      </dsp:nvSpPr>
      <dsp:spPr>
        <a:xfrm>
          <a:off x="3788074" y="7711"/>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流量控制</a:t>
          </a:r>
        </a:p>
      </dsp:txBody>
      <dsp:txXfrm>
        <a:off x="3788074" y="7711"/>
        <a:ext cx="3322842" cy="604800"/>
      </dsp:txXfrm>
    </dsp:sp>
    <dsp:sp modelId="{AAB91EAD-75AE-4168-8A7F-B7A023AD8367}">
      <dsp:nvSpPr>
        <dsp:cNvPr id="0" name=""/>
        <dsp:cNvSpPr/>
      </dsp:nvSpPr>
      <dsp:spPr>
        <a:xfrm>
          <a:off x="3788074" y="612511"/>
          <a:ext cx="3322842" cy="282460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点对点通信量的控制，是个端到端的问题。</a:t>
          </a:r>
        </a:p>
      </dsp:txBody>
      <dsp:txXfrm>
        <a:off x="3788074" y="612511"/>
        <a:ext cx="3322842" cy="2824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4"/>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开环控制</a:t>
          </a:r>
        </a:p>
      </dsp:txBody>
      <dsp:txXfrm>
        <a:off x="34" y="74"/>
        <a:ext cx="3322842" cy="604800"/>
      </dsp:txXfrm>
    </dsp:sp>
    <dsp:sp modelId="{72C5BA33-78B4-45DE-B9CA-22A272DDBE2C}">
      <dsp:nvSpPr>
        <dsp:cNvPr id="0" name=""/>
        <dsp:cNvSpPr/>
      </dsp:nvSpPr>
      <dsp:spPr>
        <a:xfrm>
          <a:off x="34" y="604875"/>
          <a:ext cx="3322842" cy="213286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在设计网络时，事先</a:t>
          </a:r>
          <a:r>
            <a:rPr lang="zh-CN" altLang="en-US" sz="1800" b="1" kern="1200" dirty="0">
              <a:solidFill>
                <a:srgbClr val="C00000"/>
              </a:solidFill>
              <a:latin typeface="微软雅黑" panose="020B0503020204020204" pitchFamily="34" charset="-122"/>
              <a:ea typeface="微软雅黑" panose="020B0503020204020204" pitchFamily="34" charset="-122"/>
            </a:rPr>
            <a:t>考虑周全，</a:t>
          </a:r>
          <a:r>
            <a:rPr lang="zh-CN" altLang="en-US" sz="1800" b="1" kern="1200" dirty="0">
              <a:latin typeface="微软雅黑" panose="020B0503020204020204" pitchFamily="34" charset="-122"/>
              <a:ea typeface="微软雅黑" panose="020B0503020204020204" pitchFamily="34" charset="-122"/>
            </a:rPr>
            <a:t>力求工作时不发生拥塞。</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itchFamily="34" charset="-122"/>
              <a:ea typeface="微软雅黑" pitchFamily="34" charset="-122"/>
            </a:rPr>
            <a:t>思路：</a:t>
          </a:r>
          <a:r>
            <a:rPr lang="zh-CN" altLang="en-US" sz="1800" b="1" kern="1200" dirty="0">
              <a:latin typeface="微软雅黑" pitchFamily="34" charset="-122"/>
              <a:ea typeface="微软雅黑" pitchFamily="34" charset="-122"/>
            </a:rPr>
            <a:t>力争</a:t>
          </a:r>
          <a:r>
            <a:rPr lang="zh-CN" altLang="en-US" sz="1800" b="1" kern="1200" dirty="0">
              <a:solidFill>
                <a:srgbClr val="0000FF"/>
              </a:solidFill>
              <a:latin typeface="微软雅黑" pitchFamily="34" charset="-122"/>
              <a:ea typeface="微软雅黑" pitchFamily="34" charset="-122"/>
            </a:rPr>
            <a:t>避免</a:t>
          </a:r>
          <a:r>
            <a:rPr lang="zh-CN" altLang="en-US" sz="1800" b="1" kern="1200" dirty="0">
              <a:latin typeface="微软雅黑" pitchFamily="34" charset="-122"/>
              <a:ea typeface="微软雅黑" pitchFamily="34" charset="-122"/>
            </a:rPr>
            <a:t>发生拥塞。</a:t>
          </a:r>
        </a:p>
        <a:p>
          <a:pPr marL="171450" lvl="1" indent="-171450" algn="l" defTabSz="800100">
            <a:lnSpc>
              <a:spcPct val="90000"/>
            </a:lnSpc>
            <a:spcBef>
              <a:spcPct val="0"/>
            </a:spcBef>
            <a:spcAft>
              <a:spcPct val="15000"/>
            </a:spcAft>
            <a:buChar char="•"/>
          </a:pPr>
          <a:r>
            <a:rPr lang="zh-CN" altLang="en-US" sz="1800" b="1" kern="1200" dirty="0">
              <a:latin typeface="微软雅黑" pitchFamily="34" charset="-122"/>
              <a:ea typeface="微软雅黑" pitchFamily="34" charset="-122"/>
            </a:rPr>
            <a:t>但一旦整个系统运行起来，就不再中途进行改正了。</a:t>
          </a:r>
        </a:p>
      </dsp:txBody>
      <dsp:txXfrm>
        <a:off x="34" y="604875"/>
        <a:ext cx="3322842" cy="2132865"/>
      </dsp:txXfrm>
    </dsp:sp>
    <dsp:sp modelId="{3ACFDD6B-963A-45AA-AED6-29B2C66DA9EB}">
      <dsp:nvSpPr>
        <dsp:cNvPr id="0" name=""/>
        <dsp:cNvSpPr/>
      </dsp:nvSpPr>
      <dsp:spPr>
        <a:xfrm>
          <a:off x="3788074" y="74"/>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闭环控制</a:t>
          </a:r>
        </a:p>
      </dsp:txBody>
      <dsp:txXfrm>
        <a:off x="3788074" y="74"/>
        <a:ext cx="3322842" cy="604800"/>
      </dsp:txXfrm>
    </dsp:sp>
    <dsp:sp modelId="{AAB91EAD-75AE-4168-8A7F-B7A023AD8367}">
      <dsp:nvSpPr>
        <dsp:cNvPr id="0" name=""/>
        <dsp:cNvSpPr/>
      </dsp:nvSpPr>
      <dsp:spPr>
        <a:xfrm>
          <a:off x="3788074" y="604875"/>
          <a:ext cx="3322842" cy="213286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基于反馈环路的概念。</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根据网络</a:t>
          </a:r>
          <a:r>
            <a:rPr lang="zh-CN" altLang="en-US" sz="1800" b="1" kern="1200" dirty="0">
              <a:solidFill>
                <a:srgbClr val="C00000"/>
              </a:solidFill>
              <a:latin typeface="微软雅黑" panose="020B0503020204020204" pitchFamily="34" charset="-122"/>
              <a:ea typeface="微软雅黑" panose="020B0503020204020204" pitchFamily="34" charset="-122"/>
            </a:rPr>
            <a:t>当前运行状态</a:t>
          </a:r>
          <a:r>
            <a:rPr lang="zh-CN" altLang="en-US" sz="1800" b="1" kern="1200" dirty="0">
              <a:latin typeface="微软雅黑" panose="020B0503020204020204" pitchFamily="34" charset="-122"/>
              <a:ea typeface="微软雅黑" panose="020B0503020204020204" pitchFamily="34" charset="-122"/>
            </a:rPr>
            <a:t>采取相应控制措施。</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anose="020B0503020204020204" pitchFamily="34" charset="-122"/>
              <a:ea typeface="微软雅黑" panose="020B0503020204020204" pitchFamily="34" charset="-122"/>
            </a:rPr>
            <a:t>思路：</a:t>
          </a:r>
          <a:r>
            <a:rPr lang="zh-CN" altLang="en-US" sz="1800" b="1" kern="1200" dirty="0">
              <a:latin typeface="微软雅黑" panose="020B0503020204020204" pitchFamily="34" charset="-122"/>
              <a:ea typeface="微软雅黑" panose="020B0503020204020204" pitchFamily="34" charset="-122"/>
            </a:rPr>
            <a:t>在发生拥塞后，采取措施进行控制，</a:t>
          </a:r>
          <a:r>
            <a:rPr lang="zh-CN" altLang="en-US" sz="1800" b="1" kern="1200" dirty="0">
              <a:solidFill>
                <a:srgbClr val="0000FF"/>
              </a:solidFill>
              <a:latin typeface="微软雅黑" panose="020B0503020204020204" pitchFamily="34" charset="-122"/>
              <a:ea typeface="微软雅黑" panose="020B0503020204020204" pitchFamily="34" charset="-122"/>
            </a:rPr>
            <a:t>消除</a:t>
          </a:r>
          <a:r>
            <a:rPr lang="zh-CN" altLang="en-US" sz="1800" b="1" kern="1200" dirty="0">
              <a:latin typeface="微软雅黑" panose="020B0503020204020204" pitchFamily="34" charset="-122"/>
              <a:ea typeface="微软雅黑" panose="020B0503020204020204" pitchFamily="34" charset="-122"/>
            </a:rPr>
            <a:t>拥塞。</a:t>
          </a:r>
        </a:p>
      </dsp:txBody>
      <dsp:txXfrm>
        <a:off x="3788074" y="604875"/>
        <a:ext cx="3322842" cy="2132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a:latin typeface="微软雅黑" panose="020B0503020204020204" pitchFamily="34" charset="-122"/>
              <a:ea typeface="微软雅黑" panose="020B0503020204020204" pitchFamily="34" charset="-122"/>
            </a:rPr>
            <a:t>收到 </a:t>
          </a:r>
          <a:r>
            <a:rPr lang="en-US" altLang="en-US" sz="1800" b="1" kern="1200">
              <a:latin typeface="微软雅黑" panose="020B0503020204020204" pitchFamily="34" charset="-122"/>
              <a:ea typeface="微软雅黑" panose="020B0503020204020204" pitchFamily="34" charset="-122"/>
            </a:rPr>
            <a:t>3 </a:t>
          </a:r>
          <a:r>
            <a:rPr lang="zh-CN" altLang="en-US" sz="1800" b="1" kern="1200">
              <a:latin typeface="微软雅黑" panose="020B0503020204020204" pitchFamily="34" charset="-122"/>
              <a:ea typeface="微软雅黑" panose="020B0503020204020204" pitchFamily="34" charset="-122"/>
            </a:rPr>
            <a:t>个重复的确认</a:t>
          </a:r>
          <a:endParaRPr lang="zh-CN" altLang="en-US" sz="1800" b="1" kern="1200" dirty="0">
            <a:latin typeface="微软雅黑" panose="020B0503020204020204" pitchFamily="34" charset="-122"/>
            <a:ea typeface="微软雅黑" panose="020B0503020204020204" pitchFamily="34" charset="-122"/>
          </a:endParaRP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2025/11/8</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57</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85</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86</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87</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131</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3.wmf"/></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3.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3.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3.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3.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5" name="内容占位符 4">
            <a:extLst>
              <a:ext uri="{FF2B5EF4-FFF2-40B4-BE49-F238E27FC236}">
                <a16:creationId xmlns:a16="http://schemas.microsoft.com/office/drawing/2014/main" id="{84C19AA5-4130-D91B-3868-B75B334F240B}"/>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486000" y="550723"/>
            <a:ext cx="8172000" cy="338554"/>
          </a:xfrm>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LAN</a:t>
            </a:r>
            <a:r>
              <a:rPr lang="en-US" altLang="zh-CN" sz="1200" b="1" baseline="-25000">
                <a:latin typeface="微软雅黑" panose="020B0503020204020204" pitchFamily="34" charset="-122"/>
                <a:ea typeface="微软雅黑" panose="020B0503020204020204" pitchFamily="34" charset="-122"/>
              </a:rPr>
              <a:t>2</a:t>
            </a:r>
            <a:endParaRPr lang="en-US" altLang="zh-CN" sz="1200" b="1">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1773858" y="2092019"/>
            <a:ext cx="5806747"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1773858" y="2690259"/>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1773858" y="1502689"/>
            <a:ext cx="5806747"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319846315"/>
              </p:ext>
            </p:extLst>
          </p:nvPr>
        </p:nvGraphicFramePr>
        <p:xfrm>
          <a:off x="2839640" y="2209568"/>
          <a:ext cx="3963183" cy="360000"/>
        </p:xfrm>
        <a:graphic>
          <a:graphicData uri="http://schemas.openxmlformats.org/drawingml/2006/table">
            <a:tbl>
              <a:tblPr firstRow="1" bandRow="1">
                <a:tableStyleId>{5C22544A-7EE6-4342-B048-85BDC9FD1C3A}</a:tableStyleId>
              </a:tblPr>
              <a:tblGrid>
                <a:gridCol w="1138205">
                  <a:extLst>
                    <a:ext uri="{9D8B030D-6E8A-4147-A177-3AD203B41FA5}">
                      <a16:colId xmlns:a16="http://schemas.microsoft.com/office/drawing/2014/main" val="3192344591"/>
                    </a:ext>
                  </a:extLst>
                </a:gridCol>
                <a:gridCol w="282497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931423215"/>
              </p:ext>
            </p:extLst>
          </p:nvPr>
        </p:nvGraphicFramePr>
        <p:xfrm>
          <a:off x="3984239" y="1633419"/>
          <a:ext cx="2818585" cy="360000"/>
        </p:xfrm>
        <a:graphic>
          <a:graphicData uri="http://schemas.openxmlformats.org/drawingml/2006/table">
            <a:tbl>
              <a:tblPr firstRow="1" bandRow="1">
                <a:tableStyleId>{5C22544A-7EE6-4342-B048-85BDC9FD1C3A}</a:tableStyleId>
              </a:tblPr>
              <a:tblGrid>
                <a:gridCol w="2818585">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939349205"/>
              </p:ext>
            </p:extLst>
          </p:nvPr>
        </p:nvGraphicFramePr>
        <p:xfrm>
          <a:off x="1778320" y="2785718"/>
          <a:ext cx="5024504" cy="360000"/>
        </p:xfrm>
        <a:graphic>
          <a:graphicData uri="http://schemas.openxmlformats.org/drawingml/2006/table">
            <a:tbl>
              <a:tblPr firstRow="1" bandRow="1">
                <a:tableStyleId>{5C22544A-7EE6-4342-B048-85BDC9FD1C3A}</a:tableStyleId>
              </a:tblPr>
              <a:tblGrid>
                <a:gridCol w="1061321">
                  <a:extLst>
                    <a:ext uri="{9D8B030D-6E8A-4147-A177-3AD203B41FA5}">
                      <a16:colId xmlns:a16="http://schemas.microsoft.com/office/drawing/2014/main" val="3192344591"/>
                    </a:ext>
                  </a:extLst>
                </a:gridCol>
                <a:gridCol w="3963183">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ADFCCCC0-3489-8A7B-BE82-9954915ED1D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486000" y="550723"/>
            <a:ext cx="8172000" cy="338554"/>
          </a:xfrm>
        </p:spPr>
        <p:txBody>
          <a:bodyPr/>
          <a:lstStyle/>
          <a:p>
            <a:r>
              <a:rPr lang="zh-CN" altLang="en-US" dirty="0"/>
              <a:t>多对一</a:t>
            </a:r>
          </a:p>
        </p:txBody>
      </p:sp>
      <p:sp>
        <p:nvSpPr>
          <p:cNvPr id="4" name="矩形 3">
            <a:extLst>
              <a:ext uri="{FF2B5EF4-FFF2-40B4-BE49-F238E27FC236}">
                <a16:creationId xmlns:a16="http://schemas.microsoft.com/office/drawing/2014/main" id="{64A3D374-39EB-90E8-31AD-3145C9401F09}"/>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1" name="组合 10">
            <a:extLst>
              <a:ext uri="{FF2B5EF4-FFF2-40B4-BE49-F238E27FC236}">
                <a16:creationId xmlns:a16="http://schemas.microsoft.com/office/drawing/2014/main" id="{B8C0BFE5-063B-3BD9-8342-EA0545DB3540}"/>
              </a:ext>
            </a:extLst>
          </p:cNvPr>
          <p:cNvGrpSpPr/>
          <p:nvPr/>
        </p:nvGrpSpPr>
        <p:grpSpPr>
          <a:xfrm>
            <a:off x="1632154" y="1933158"/>
            <a:ext cx="590549" cy="360000"/>
            <a:chOff x="1385885" y="1017493"/>
            <a:chExt cx="590549" cy="360000"/>
          </a:xfrm>
        </p:grpSpPr>
        <p:pic>
          <p:nvPicPr>
            <p:cNvPr id="12" name="图形 11" descr="文档">
              <a:extLst>
                <a:ext uri="{FF2B5EF4-FFF2-40B4-BE49-F238E27FC236}">
                  <a16:creationId xmlns:a16="http://schemas.microsoft.com/office/drawing/2014/main" id="{02A900F7-C9AD-DC8F-8722-51BE8F0F33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13" name="文本框 12">
              <a:extLst>
                <a:ext uri="{FF2B5EF4-FFF2-40B4-BE49-F238E27FC236}">
                  <a16:creationId xmlns:a16="http://schemas.microsoft.com/office/drawing/2014/main" id="{105EA964-30F8-704B-FC3E-67D7F1BC86E8}"/>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4" name="组合 13">
            <a:extLst>
              <a:ext uri="{FF2B5EF4-FFF2-40B4-BE49-F238E27FC236}">
                <a16:creationId xmlns:a16="http://schemas.microsoft.com/office/drawing/2014/main" id="{3C02DA1A-6614-5AFE-C347-7143BD002C88}"/>
              </a:ext>
            </a:extLst>
          </p:cNvPr>
          <p:cNvGrpSpPr/>
          <p:nvPr/>
        </p:nvGrpSpPr>
        <p:grpSpPr>
          <a:xfrm>
            <a:off x="2258055" y="1933158"/>
            <a:ext cx="590549" cy="360000"/>
            <a:chOff x="1890159" y="1017493"/>
            <a:chExt cx="590549" cy="360000"/>
          </a:xfrm>
        </p:grpSpPr>
        <p:pic>
          <p:nvPicPr>
            <p:cNvPr id="15" name="图形 14" descr="文档">
              <a:extLst>
                <a:ext uri="{FF2B5EF4-FFF2-40B4-BE49-F238E27FC236}">
                  <a16:creationId xmlns:a16="http://schemas.microsoft.com/office/drawing/2014/main" id="{9EC2499B-5E16-43E6-CAAA-42832F7D546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16" name="文本框 15">
              <a:extLst>
                <a:ext uri="{FF2B5EF4-FFF2-40B4-BE49-F238E27FC236}">
                  <a16:creationId xmlns:a16="http://schemas.microsoft.com/office/drawing/2014/main" id="{401DDB37-1B65-5639-08B3-91724BB40FBD}"/>
                </a:ext>
              </a:extLst>
            </p:cNvPr>
            <p:cNvSpPr txBox="1"/>
            <p:nvPr/>
          </p:nvSpPr>
          <p:spPr>
            <a:xfrm>
              <a:off x="1890159" y="1058994"/>
              <a:ext cx="383438"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7" name="组合 16">
            <a:extLst>
              <a:ext uri="{FF2B5EF4-FFF2-40B4-BE49-F238E27FC236}">
                <a16:creationId xmlns:a16="http://schemas.microsoft.com/office/drawing/2014/main" id="{6E333EC5-D078-DA63-3DE3-88DF8302962C}"/>
              </a:ext>
            </a:extLst>
          </p:cNvPr>
          <p:cNvGrpSpPr/>
          <p:nvPr/>
        </p:nvGrpSpPr>
        <p:grpSpPr>
          <a:xfrm>
            <a:off x="2892119" y="1933158"/>
            <a:ext cx="590549" cy="360000"/>
            <a:chOff x="2394433" y="1017493"/>
            <a:chExt cx="590549" cy="360000"/>
          </a:xfrm>
        </p:grpSpPr>
        <p:pic>
          <p:nvPicPr>
            <p:cNvPr id="18" name="图形 17" descr="文档">
              <a:extLst>
                <a:ext uri="{FF2B5EF4-FFF2-40B4-BE49-F238E27FC236}">
                  <a16:creationId xmlns:a16="http://schemas.microsoft.com/office/drawing/2014/main" id="{B9D866C1-3406-66C6-64C5-217BC9417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9" name="文本框 18">
              <a:extLst>
                <a:ext uri="{FF2B5EF4-FFF2-40B4-BE49-F238E27FC236}">
                  <a16:creationId xmlns:a16="http://schemas.microsoft.com/office/drawing/2014/main" id="{BB3E275A-116A-55A4-61BF-4BC3791BDFA6}"/>
                </a:ext>
              </a:extLst>
            </p:cNvPr>
            <p:cNvSpPr txBox="1"/>
            <p:nvPr/>
          </p:nvSpPr>
          <p:spPr>
            <a:xfrm>
              <a:off x="2394433"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0" name="组合 19">
            <a:extLst>
              <a:ext uri="{FF2B5EF4-FFF2-40B4-BE49-F238E27FC236}">
                <a16:creationId xmlns:a16="http://schemas.microsoft.com/office/drawing/2014/main" id="{59A3A814-EDF3-9DE7-1915-BBE45D7F3023}"/>
              </a:ext>
            </a:extLst>
          </p:cNvPr>
          <p:cNvGrpSpPr/>
          <p:nvPr/>
        </p:nvGrpSpPr>
        <p:grpSpPr>
          <a:xfrm>
            <a:off x="5743326" y="1933158"/>
            <a:ext cx="590549" cy="360000"/>
            <a:chOff x="1385885" y="1017493"/>
            <a:chExt cx="590549" cy="360000"/>
          </a:xfrm>
        </p:grpSpPr>
        <p:pic>
          <p:nvPicPr>
            <p:cNvPr id="21" name="图形 20" descr="文档">
              <a:extLst>
                <a:ext uri="{FF2B5EF4-FFF2-40B4-BE49-F238E27FC236}">
                  <a16:creationId xmlns:a16="http://schemas.microsoft.com/office/drawing/2014/main" id="{61385D39-453A-F611-63E9-73BC925383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22" name="文本框 21">
              <a:extLst>
                <a:ext uri="{FF2B5EF4-FFF2-40B4-BE49-F238E27FC236}">
                  <a16:creationId xmlns:a16="http://schemas.microsoft.com/office/drawing/2014/main" id="{8555CB03-6923-1324-BD38-68F10DD24FAD}"/>
                </a:ext>
              </a:extLst>
            </p:cNvPr>
            <p:cNvSpPr txBox="1"/>
            <p:nvPr/>
          </p:nvSpPr>
          <p:spPr>
            <a:xfrm>
              <a:off x="1385885" y="105899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3" name="组合 22">
            <a:extLst>
              <a:ext uri="{FF2B5EF4-FFF2-40B4-BE49-F238E27FC236}">
                <a16:creationId xmlns:a16="http://schemas.microsoft.com/office/drawing/2014/main" id="{9DB808A9-A32E-71FD-AE45-7CBCA92A8473}"/>
              </a:ext>
            </a:extLst>
          </p:cNvPr>
          <p:cNvGrpSpPr/>
          <p:nvPr/>
        </p:nvGrpSpPr>
        <p:grpSpPr>
          <a:xfrm>
            <a:off x="6817069" y="1933158"/>
            <a:ext cx="590549" cy="360000"/>
            <a:chOff x="1890159" y="1017493"/>
            <a:chExt cx="590549" cy="360000"/>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9" name="组合 28">
            <a:extLst>
              <a:ext uri="{FF2B5EF4-FFF2-40B4-BE49-F238E27FC236}">
                <a16:creationId xmlns:a16="http://schemas.microsoft.com/office/drawing/2014/main" id="{D434A184-88A3-DE24-481F-853F175E1C0D}"/>
              </a:ext>
            </a:extLst>
          </p:cNvPr>
          <p:cNvGrpSpPr/>
          <p:nvPr/>
        </p:nvGrpSpPr>
        <p:grpSpPr>
          <a:xfrm>
            <a:off x="2515110"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02746" y="2480632"/>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3158808"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907273"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7097072" y="2452049"/>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884708" y="2480632"/>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014097" y="2452049"/>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1" name="矩形 140">
            <a:extLst>
              <a:ext uri="{FF2B5EF4-FFF2-40B4-BE49-F238E27FC236}">
                <a16:creationId xmlns:a16="http://schemas.microsoft.com/office/drawing/2014/main" id="{A26A7F80-6C9E-9BE8-071B-3BC24ACBC445}"/>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6491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p:cNvCxnSpPr>
          <p:nvPr/>
        </p:nvCxnSpPr>
        <p:spPr>
          <a:xfrm flipH="1">
            <a:off x="2681785" y="2786213"/>
            <a:ext cx="621023" cy="65554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p:cNvCxnSpPr>
          <p:nvPr/>
        </p:nvCxnSpPr>
        <p:spPr>
          <a:xfrm>
            <a:off x="26491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63372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63372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7BFE180E-ABE5-8E60-4B59-6CA2D6B23612}"/>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28" name="组合 27">
            <a:extLst>
              <a:ext uri="{FF2B5EF4-FFF2-40B4-BE49-F238E27FC236}">
                <a16:creationId xmlns:a16="http://schemas.microsoft.com/office/drawing/2014/main" id="{EEE51978-A443-A483-9810-F30672E49154}"/>
              </a:ext>
            </a:extLst>
          </p:cNvPr>
          <p:cNvGrpSpPr/>
          <p:nvPr/>
        </p:nvGrpSpPr>
        <p:grpSpPr>
          <a:xfrm>
            <a:off x="1632154" y="1933158"/>
            <a:ext cx="590549" cy="360000"/>
            <a:chOff x="1385885" y="1017493"/>
            <a:chExt cx="590549" cy="360000"/>
          </a:xfrm>
        </p:grpSpPr>
        <p:pic>
          <p:nvPicPr>
            <p:cNvPr id="5" name="图形 4" descr="文档">
              <a:extLst>
                <a:ext uri="{FF2B5EF4-FFF2-40B4-BE49-F238E27FC236}">
                  <a16:creationId xmlns:a16="http://schemas.microsoft.com/office/drawing/2014/main" id="{D592AA54-6817-6628-8E43-B1C0A007507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8" name="文本框 7">
              <a:extLst>
                <a:ext uri="{FF2B5EF4-FFF2-40B4-BE49-F238E27FC236}">
                  <a16:creationId xmlns:a16="http://schemas.microsoft.com/office/drawing/2014/main" id="{106CC44C-DDBD-2221-C55E-AB74FEF9A77C}"/>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7" name="组合 26">
            <a:extLst>
              <a:ext uri="{FF2B5EF4-FFF2-40B4-BE49-F238E27FC236}">
                <a16:creationId xmlns:a16="http://schemas.microsoft.com/office/drawing/2014/main" id="{EF8C590D-AE02-7479-0F90-FBBDFC7F636A}"/>
              </a:ext>
            </a:extLst>
          </p:cNvPr>
          <p:cNvGrpSpPr/>
          <p:nvPr/>
        </p:nvGrpSpPr>
        <p:grpSpPr>
          <a:xfrm>
            <a:off x="6284155" y="1933158"/>
            <a:ext cx="590549" cy="360000"/>
            <a:chOff x="1890159" y="1017493"/>
            <a:chExt cx="590549" cy="360000"/>
          </a:xfrm>
        </p:grpSpPr>
        <p:pic>
          <p:nvPicPr>
            <p:cNvPr id="6" name="图形 5" descr="文档">
              <a:extLst>
                <a:ext uri="{FF2B5EF4-FFF2-40B4-BE49-F238E27FC236}">
                  <a16:creationId xmlns:a16="http://schemas.microsoft.com/office/drawing/2014/main" id="{30029A1D-3142-A849-40F0-98C81931F4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9" name="文本框 8">
              <a:extLst>
                <a:ext uri="{FF2B5EF4-FFF2-40B4-BE49-F238E27FC236}">
                  <a16:creationId xmlns:a16="http://schemas.microsoft.com/office/drawing/2014/main" id="{C6AF8BFB-BC01-EA81-BBA3-2AEBB263CB35}"/>
                </a:ext>
              </a:extLst>
            </p:cNvPr>
            <p:cNvSpPr txBox="1"/>
            <p:nvPr/>
          </p:nvSpPr>
          <p:spPr>
            <a:xfrm>
              <a:off x="1890159" y="1058994"/>
              <a:ext cx="3962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32CF8815-FB37-8F08-135C-44B7A215A80F}"/>
              </a:ext>
            </a:extLst>
          </p:cNvPr>
          <p:cNvGrpSpPr/>
          <p:nvPr/>
        </p:nvGrpSpPr>
        <p:grpSpPr>
          <a:xfrm>
            <a:off x="2892119" y="1933158"/>
            <a:ext cx="590549" cy="360000"/>
            <a:chOff x="2394433" y="1017493"/>
            <a:chExt cx="590549" cy="360000"/>
          </a:xfrm>
        </p:grpSpPr>
        <p:pic>
          <p:nvPicPr>
            <p:cNvPr id="7" name="图形 6" descr="文档">
              <a:extLst>
                <a:ext uri="{FF2B5EF4-FFF2-40B4-BE49-F238E27FC236}">
                  <a16:creationId xmlns:a16="http://schemas.microsoft.com/office/drawing/2014/main" id="{F9DE4040-A3A2-D7C4-282B-42E9C18507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0" name="文本框 9">
              <a:extLst>
                <a:ext uri="{FF2B5EF4-FFF2-40B4-BE49-F238E27FC236}">
                  <a16:creationId xmlns:a16="http://schemas.microsoft.com/office/drawing/2014/main" id="{AEBB5379-D08A-58CF-929D-278588283330}"/>
                </a:ext>
              </a:extLst>
            </p:cNvPr>
            <p:cNvSpPr txBox="1"/>
            <p:nvPr/>
          </p:nvSpPr>
          <p:spPr>
            <a:xfrm>
              <a:off x="2394433" y="105899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1" name="组合 30">
            <a:extLst>
              <a:ext uri="{FF2B5EF4-FFF2-40B4-BE49-F238E27FC236}">
                <a16:creationId xmlns:a16="http://schemas.microsoft.com/office/drawing/2014/main" id="{FFF33479-772D-E44E-423D-6B3E220FAB77}"/>
              </a:ext>
            </a:extLst>
          </p:cNvPr>
          <p:cNvGrpSpPr/>
          <p:nvPr/>
        </p:nvGrpSpPr>
        <p:grpSpPr>
          <a:xfrm>
            <a:off x="5743326" y="1933158"/>
            <a:ext cx="590549" cy="360000"/>
            <a:chOff x="1385885" y="1017493"/>
            <a:chExt cx="590549" cy="360000"/>
          </a:xfrm>
        </p:grpSpPr>
        <p:pic>
          <p:nvPicPr>
            <p:cNvPr id="38" name="图形 37" descr="文档">
              <a:extLst>
                <a:ext uri="{FF2B5EF4-FFF2-40B4-BE49-F238E27FC236}">
                  <a16:creationId xmlns:a16="http://schemas.microsoft.com/office/drawing/2014/main" id="{DDBB9DFE-CD76-50F1-DA80-6B5074DDC0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39" name="文本框 38">
              <a:extLst>
                <a:ext uri="{FF2B5EF4-FFF2-40B4-BE49-F238E27FC236}">
                  <a16:creationId xmlns:a16="http://schemas.microsoft.com/office/drawing/2014/main" id="{2D63B797-FD37-FC99-7EA7-971D5F5AD65A}"/>
                </a:ext>
              </a:extLst>
            </p:cNvPr>
            <p:cNvSpPr txBox="1"/>
            <p:nvPr/>
          </p:nvSpPr>
          <p:spPr>
            <a:xfrm>
              <a:off x="1385885" y="105899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2" name="组合 31">
            <a:extLst>
              <a:ext uri="{FF2B5EF4-FFF2-40B4-BE49-F238E27FC236}">
                <a16:creationId xmlns:a16="http://schemas.microsoft.com/office/drawing/2014/main" id="{DCCFFB73-5D89-6A4D-E232-39B07CB34469}"/>
              </a:ext>
            </a:extLst>
          </p:cNvPr>
          <p:cNvGrpSpPr/>
          <p:nvPr/>
        </p:nvGrpSpPr>
        <p:grpSpPr>
          <a:xfrm>
            <a:off x="6817069" y="1933158"/>
            <a:ext cx="590549" cy="360000"/>
            <a:chOff x="1890159" y="1017493"/>
            <a:chExt cx="590549" cy="360000"/>
          </a:xfrm>
        </p:grpSpPr>
        <p:pic>
          <p:nvPicPr>
            <p:cNvPr id="36" name="图形 35" descr="文档">
              <a:extLst>
                <a:ext uri="{FF2B5EF4-FFF2-40B4-BE49-F238E27FC236}">
                  <a16:creationId xmlns:a16="http://schemas.microsoft.com/office/drawing/2014/main" id="{1930C0F1-9FF2-AC85-BE65-1154DEE47C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37" name="文本框 36">
              <a:extLst>
                <a:ext uri="{FF2B5EF4-FFF2-40B4-BE49-F238E27FC236}">
                  <a16:creationId xmlns:a16="http://schemas.microsoft.com/office/drawing/2014/main" id="{CCBEDC82-7F2D-2DD6-B054-1BA61E5F6B8E}"/>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2" name="组合 21">
            <a:extLst>
              <a:ext uri="{FF2B5EF4-FFF2-40B4-BE49-F238E27FC236}">
                <a16:creationId xmlns:a16="http://schemas.microsoft.com/office/drawing/2014/main" id="{9FE595A1-73F9-DDBA-635B-2F3557369F85}"/>
              </a:ext>
            </a:extLst>
          </p:cNvPr>
          <p:cNvGrpSpPr/>
          <p:nvPr/>
        </p:nvGrpSpPr>
        <p:grpSpPr>
          <a:xfrm>
            <a:off x="6541210" y="2426213"/>
            <a:ext cx="288000" cy="360000"/>
            <a:chOff x="6541210" y="2426213"/>
            <a:chExt cx="288000" cy="360000"/>
          </a:xfrm>
        </p:grpSpPr>
        <p:sp>
          <p:nvSpPr>
            <p:cNvPr id="40" name="矩形 39">
              <a:extLst>
                <a:ext uri="{FF2B5EF4-FFF2-40B4-BE49-F238E27FC236}">
                  <a16:creationId xmlns:a16="http://schemas.microsoft.com/office/drawing/2014/main" id="{2C4388B8-41C7-7966-AF7E-68FC733CD07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1" name="矩形 40">
              <a:extLst>
                <a:ext uri="{FF2B5EF4-FFF2-40B4-BE49-F238E27FC236}">
                  <a16:creationId xmlns:a16="http://schemas.microsoft.com/office/drawing/2014/main" id="{1FA6612F-5465-D46C-E103-4027D25A0D7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2" name="矩形 41">
              <a:extLst>
                <a:ext uri="{FF2B5EF4-FFF2-40B4-BE49-F238E27FC236}">
                  <a16:creationId xmlns:a16="http://schemas.microsoft.com/office/drawing/2014/main" id="{C2FC505B-0DC7-5836-2B96-0A02A442F905}"/>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3" name="矩形 42">
              <a:extLst>
                <a:ext uri="{FF2B5EF4-FFF2-40B4-BE49-F238E27FC236}">
                  <a16:creationId xmlns:a16="http://schemas.microsoft.com/office/drawing/2014/main" id="{B4830477-DBD1-836B-1EA6-0CCBBBFA3971}"/>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4" name="矩形 43">
              <a:extLst>
                <a:ext uri="{FF2B5EF4-FFF2-40B4-BE49-F238E27FC236}">
                  <a16:creationId xmlns:a16="http://schemas.microsoft.com/office/drawing/2014/main" id="{40C3A5DF-752B-5061-EFA6-D5EBE06C766F}"/>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5" name="矩形 44">
              <a:extLst>
                <a:ext uri="{FF2B5EF4-FFF2-40B4-BE49-F238E27FC236}">
                  <a16:creationId xmlns:a16="http://schemas.microsoft.com/office/drawing/2014/main" id="{0C62FA6C-2638-63CB-F4A7-A2A3D9BDC1EA}"/>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47" name="文本框 46">
            <a:extLst>
              <a:ext uri="{FF2B5EF4-FFF2-40B4-BE49-F238E27FC236}">
                <a16:creationId xmlns:a16="http://schemas.microsoft.com/office/drawing/2014/main" id="{A53E4717-44C1-8BA9-0660-C66F67B79A6A}"/>
              </a:ext>
            </a:extLst>
          </p:cNvPr>
          <p:cNvSpPr txBox="1"/>
          <p:nvPr/>
        </p:nvSpPr>
        <p:spPr>
          <a:xfrm>
            <a:off x="6328846" y="2480632"/>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9" name="组合 18">
            <a:extLst>
              <a:ext uri="{FF2B5EF4-FFF2-40B4-BE49-F238E27FC236}">
                <a16:creationId xmlns:a16="http://schemas.microsoft.com/office/drawing/2014/main" id="{BD8171D4-96D5-4548-100E-6022AE3C0FD5}"/>
              </a:ext>
            </a:extLst>
          </p:cNvPr>
          <p:cNvGrpSpPr/>
          <p:nvPr/>
        </p:nvGrpSpPr>
        <p:grpSpPr>
          <a:xfrm>
            <a:off x="3158808" y="2426213"/>
            <a:ext cx="288000" cy="360000"/>
            <a:chOff x="3158808" y="2426213"/>
            <a:chExt cx="288000" cy="360000"/>
          </a:xfrm>
        </p:grpSpPr>
        <p:sp>
          <p:nvSpPr>
            <p:cNvPr id="51" name="矩形 50">
              <a:extLst>
                <a:ext uri="{FF2B5EF4-FFF2-40B4-BE49-F238E27FC236}">
                  <a16:creationId xmlns:a16="http://schemas.microsoft.com/office/drawing/2014/main" id="{9082ED9C-9ACF-F7E4-A84A-02C00C613563}"/>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2" name="矩形 51">
              <a:extLst>
                <a:ext uri="{FF2B5EF4-FFF2-40B4-BE49-F238E27FC236}">
                  <a16:creationId xmlns:a16="http://schemas.microsoft.com/office/drawing/2014/main" id="{0FD4FFCB-DE31-D71C-87FD-EA974E2AA517}"/>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3" name="矩形 52">
              <a:extLst>
                <a:ext uri="{FF2B5EF4-FFF2-40B4-BE49-F238E27FC236}">
                  <a16:creationId xmlns:a16="http://schemas.microsoft.com/office/drawing/2014/main" id="{F4FFC7B0-91DF-0748-7AB7-DACE9A82AB79}"/>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4" name="矩形 53">
              <a:extLst>
                <a:ext uri="{FF2B5EF4-FFF2-40B4-BE49-F238E27FC236}">
                  <a16:creationId xmlns:a16="http://schemas.microsoft.com/office/drawing/2014/main" id="{11E2C48D-8950-5CCC-D008-F49615A59FBD}"/>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5" name="矩形 54">
              <a:extLst>
                <a:ext uri="{FF2B5EF4-FFF2-40B4-BE49-F238E27FC236}">
                  <a16:creationId xmlns:a16="http://schemas.microsoft.com/office/drawing/2014/main" id="{09855BE9-6824-6113-9C56-6EEB90FD44D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6" name="矩形 55">
              <a:extLst>
                <a:ext uri="{FF2B5EF4-FFF2-40B4-BE49-F238E27FC236}">
                  <a16:creationId xmlns:a16="http://schemas.microsoft.com/office/drawing/2014/main" id="{5F15DDE4-E238-28A7-9CEE-3C2EDBC4FA9C}"/>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7" name="文本框 56">
            <a:extLst>
              <a:ext uri="{FF2B5EF4-FFF2-40B4-BE49-F238E27FC236}">
                <a16:creationId xmlns:a16="http://schemas.microsoft.com/office/drawing/2014/main" id="{6161DDB2-F975-84F5-5B00-B5161DB14BF6}"/>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8" name="组合 17">
            <a:extLst>
              <a:ext uri="{FF2B5EF4-FFF2-40B4-BE49-F238E27FC236}">
                <a16:creationId xmlns:a16="http://schemas.microsoft.com/office/drawing/2014/main" id="{B45015AE-C619-40E4-BE63-2AD6D9D1A25E}"/>
              </a:ext>
            </a:extLst>
          </p:cNvPr>
          <p:cNvGrpSpPr/>
          <p:nvPr/>
        </p:nvGrpSpPr>
        <p:grpSpPr>
          <a:xfrm>
            <a:off x="1907273" y="2426213"/>
            <a:ext cx="288000" cy="360000"/>
            <a:chOff x="1907273" y="2426213"/>
            <a:chExt cx="288000" cy="360000"/>
          </a:xfrm>
        </p:grpSpPr>
        <p:sp>
          <p:nvSpPr>
            <p:cNvPr id="59" name="矩形 58">
              <a:extLst>
                <a:ext uri="{FF2B5EF4-FFF2-40B4-BE49-F238E27FC236}">
                  <a16:creationId xmlns:a16="http://schemas.microsoft.com/office/drawing/2014/main" id="{3715DD3C-8625-A078-FF3D-F0F2F3852838}"/>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0" name="矩形 59">
              <a:extLst>
                <a:ext uri="{FF2B5EF4-FFF2-40B4-BE49-F238E27FC236}">
                  <a16:creationId xmlns:a16="http://schemas.microsoft.com/office/drawing/2014/main" id="{9AAE2502-F9AE-97E3-D9D5-65B7435CBB0D}"/>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1" name="矩形 60">
              <a:extLst>
                <a:ext uri="{FF2B5EF4-FFF2-40B4-BE49-F238E27FC236}">
                  <a16:creationId xmlns:a16="http://schemas.microsoft.com/office/drawing/2014/main" id="{475CDBC5-00DF-80C3-4168-758A9ADA89F1}"/>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2" name="矩形 61">
              <a:extLst>
                <a:ext uri="{FF2B5EF4-FFF2-40B4-BE49-F238E27FC236}">
                  <a16:creationId xmlns:a16="http://schemas.microsoft.com/office/drawing/2014/main" id="{31EEF486-C12F-D047-04A9-5D1104BAEC13}"/>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3" name="矩形 62">
              <a:extLst>
                <a:ext uri="{FF2B5EF4-FFF2-40B4-BE49-F238E27FC236}">
                  <a16:creationId xmlns:a16="http://schemas.microsoft.com/office/drawing/2014/main" id="{73F12FC0-126E-07F4-5A0F-606B0F6654ED}"/>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4" name="矩形 63">
              <a:extLst>
                <a:ext uri="{FF2B5EF4-FFF2-40B4-BE49-F238E27FC236}">
                  <a16:creationId xmlns:a16="http://schemas.microsoft.com/office/drawing/2014/main" id="{66214CFD-5A95-AB58-CCC7-78F786972EE4}"/>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5" name="文本框 64">
            <a:extLst>
              <a:ext uri="{FF2B5EF4-FFF2-40B4-BE49-F238E27FC236}">
                <a16:creationId xmlns:a16="http://schemas.microsoft.com/office/drawing/2014/main" id="{21FC1B37-AA45-139E-926B-8232672ED33E}"/>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1" name="组合 20">
            <a:extLst>
              <a:ext uri="{FF2B5EF4-FFF2-40B4-BE49-F238E27FC236}">
                <a16:creationId xmlns:a16="http://schemas.microsoft.com/office/drawing/2014/main" id="{E6FD1F21-10F4-E5AF-F8D0-C0D07B417F8D}"/>
              </a:ext>
            </a:extLst>
          </p:cNvPr>
          <p:cNvGrpSpPr/>
          <p:nvPr/>
        </p:nvGrpSpPr>
        <p:grpSpPr>
          <a:xfrm>
            <a:off x="7097072" y="2452049"/>
            <a:ext cx="288000" cy="360000"/>
            <a:chOff x="7097072" y="2452049"/>
            <a:chExt cx="288000" cy="360000"/>
          </a:xfrm>
        </p:grpSpPr>
        <p:sp>
          <p:nvSpPr>
            <p:cNvPr id="85" name="矩形 84">
              <a:extLst>
                <a:ext uri="{FF2B5EF4-FFF2-40B4-BE49-F238E27FC236}">
                  <a16:creationId xmlns:a16="http://schemas.microsoft.com/office/drawing/2014/main" id="{87AE1995-3315-FF77-9797-224E963023E2}"/>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6" name="矩形 85">
              <a:extLst>
                <a:ext uri="{FF2B5EF4-FFF2-40B4-BE49-F238E27FC236}">
                  <a16:creationId xmlns:a16="http://schemas.microsoft.com/office/drawing/2014/main" id="{0054F01C-EBA5-E10B-EAE0-71A9FBB1D7B6}"/>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7" name="矩形 86">
              <a:extLst>
                <a:ext uri="{FF2B5EF4-FFF2-40B4-BE49-F238E27FC236}">
                  <a16:creationId xmlns:a16="http://schemas.microsoft.com/office/drawing/2014/main" id="{E602ABC8-D041-30A2-8AE4-0C9805219317}"/>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8" name="矩形 87">
              <a:extLst>
                <a:ext uri="{FF2B5EF4-FFF2-40B4-BE49-F238E27FC236}">
                  <a16:creationId xmlns:a16="http://schemas.microsoft.com/office/drawing/2014/main" id="{49D9C45B-A327-2671-EE42-6E8D0FE16228}"/>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9" name="矩形 88">
              <a:extLst>
                <a:ext uri="{FF2B5EF4-FFF2-40B4-BE49-F238E27FC236}">
                  <a16:creationId xmlns:a16="http://schemas.microsoft.com/office/drawing/2014/main" id="{FF177BA0-2E68-0AA8-EA55-74B6FEF924C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0" name="矩形 89">
              <a:extLst>
                <a:ext uri="{FF2B5EF4-FFF2-40B4-BE49-F238E27FC236}">
                  <a16:creationId xmlns:a16="http://schemas.microsoft.com/office/drawing/2014/main" id="{DA8B6111-A2C8-D837-66B9-08FF5E94D914}"/>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91" name="文本框 90">
            <a:extLst>
              <a:ext uri="{FF2B5EF4-FFF2-40B4-BE49-F238E27FC236}">
                <a16:creationId xmlns:a16="http://schemas.microsoft.com/office/drawing/2014/main" id="{110E5261-1043-DF12-D880-DEF63B8F92BC}"/>
              </a:ext>
            </a:extLst>
          </p:cNvPr>
          <p:cNvSpPr txBox="1"/>
          <p:nvPr/>
        </p:nvSpPr>
        <p:spPr>
          <a:xfrm>
            <a:off x="6884708" y="2480632"/>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0" name="组合 19">
            <a:extLst>
              <a:ext uri="{FF2B5EF4-FFF2-40B4-BE49-F238E27FC236}">
                <a16:creationId xmlns:a16="http://schemas.microsoft.com/office/drawing/2014/main" id="{76249CA4-E001-F283-19A9-E669731164BB}"/>
              </a:ext>
            </a:extLst>
          </p:cNvPr>
          <p:cNvGrpSpPr/>
          <p:nvPr/>
        </p:nvGrpSpPr>
        <p:grpSpPr>
          <a:xfrm>
            <a:off x="6014097" y="2452049"/>
            <a:ext cx="288000" cy="360000"/>
            <a:chOff x="6014097" y="2452049"/>
            <a:chExt cx="288000" cy="360000"/>
          </a:xfrm>
        </p:grpSpPr>
        <p:sp>
          <p:nvSpPr>
            <p:cNvPr id="71" name="矩形 70">
              <a:extLst>
                <a:ext uri="{FF2B5EF4-FFF2-40B4-BE49-F238E27FC236}">
                  <a16:creationId xmlns:a16="http://schemas.microsoft.com/office/drawing/2014/main" id="{689147F5-2DB7-469C-C9A4-79A2786B0E6B}"/>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2" name="矩形 71">
              <a:extLst>
                <a:ext uri="{FF2B5EF4-FFF2-40B4-BE49-F238E27FC236}">
                  <a16:creationId xmlns:a16="http://schemas.microsoft.com/office/drawing/2014/main" id="{CFB970BC-9D0D-39D5-1B66-92FE6DDC6D53}"/>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3" name="矩形 72">
              <a:extLst>
                <a:ext uri="{FF2B5EF4-FFF2-40B4-BE49-F238E27FC236}">
                  <a16:creationId xmlns:a16="http://schemas.microsoft.com/office/drawing/2014/main" id="{869461EA-2F46-387F-11AF-9273E85AC66A}"/>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4" name="矩形 73">
              <a:extLst>
                <a:ext uri="{FF2B5EF4-FFF2-40B4-BE49-F238E27FC236}">
                  <a16:creationId xmlns:a16="http://schemas.microsoft.com/office/drawing/2014/main" id="{B26B85BE-6EA5-3297-ACE5-4AAE406AA7E0}"/>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5" name="矩形 74">
              <a:extLst>
                <a:ext uri="{FF2B5EF4-FFF2-40B4-BE49-F238E27FC236}">
                  <a16:creationId xmlns:a16="http://schemas.microsoft.com/office/drawing/2014/main" id="{1FFB968D-EB71-EB02-A7E9-2B84CF0C40D1}"/>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6" name="矩形 75">
              <a:extLst>
                <a:ext uri="{FF2B5EF4-FFF2-40B4-BE49-F238E27FC236}">
                  <a16:creationId xmlns:a16="http://schemas.microsoft.com/office/drawing/2014/main" id="{72A919FF-CEC4-0191-4D11-35D51B49966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77" name="文本框 76">
            <a:extLst>
              <a:ext uri="{FF2B5EF4-FFF2-40B4-BE49-F238E27FC236}">
                <a16:creationId xmlns:a16="http://schemas.microsoft.com/office/drawing/2014/main" id="{DA2B652A-F8C1-8697-AF28-C510F9E58D30}"/>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92" name="矩形 91">
            <a:extLst>
              <a:ext uri="{FF2B5EF4-FFF2-40B4-BE49-F238E27FC236}">
                <a16:creationId xmlns:a16="http://schemas.microsoft.com/office/drawing/2014/main" id="{888FEABB-73F0-04A3-E7F6-03CDE808B5F5}"/>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3" name="文本框 92">
            <a:extLst>
              <a:ext uri="{FF2B5EF4-FFF2-40B4-BE49-F238E27FC236}">
                <a16:creationId xmlns:a16="http://schemas.microsoft.com/office/drawing/2014/main" id="{7BFFA76B-7CCC-1BDD-0519-E31C2CEF215C}"/>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文本框 93">
            <a:extLst>
              <a:ext uri="{FF2B5EF4-FFF2-40B4-BE49-F238E27FC236}">
                <a16:creationId xmlns:a16="http://schemas.microsoft.com/office/drawing/2014/main" id="{78B4EAAF-8F9E-AE2E-0B18-C4FFF109669A}"/>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5" name="文本框 94">
            <a:extLst>
              <a:ext uri="{FF2B5EF4-FFF2-40B4-BE49-F238E27FC236}">
                <a16:creationId xmlns:a16="http://schemas.microsoft.com/office/drawing/2014/main" id="{BB7A9DAC-57B6-3ACD-5E13-83AEE7073E74}"/>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6" name="矩形 95">
            <a:extLst>
              <a:ext uri="{FF2B5EF4-FFF2-40B4-BE49-F238E27FC236}">
                <a16:creationId xmlns:a16="http://schemas.microsoft.com/office/drawing/2014/main" id="{0BE6DD7B-018D-19B4-2101-31B944A8B234}"/>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7" name="矩形 96">
            <a:extLst>
              <a:ext uri="{FF2B5EF4-FFF2-40B4-BE49-F238E27FC236}">
                <a16:creationId xmlns:a16="http://schemas.microsoft.com/office/drawing/2014/main" id="{3EF20692-7A2A-6BCC-4AE5-92FF63D2F76B}"/>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99" name="连接符: 肘形 98">
            <a:extLst>
              <a:ext uri="{FF2B5EF4-FFF2-40B4-BE49-F238E27FC236}">
                <a16:creationId xmlns:a16="http://schemas.microsoft.com/office/drawing/2014/main" id="{3C5353EC-0C26-3DA5-91BB-A7A2D466E8DB}"/>
              </a:ext>
            </a:extLst>
          </p:cNvPr>
          <p:cNvCxnSpPr>
            <a:cxnSpLocks/>
            <a:stCxn id="92" idx="2"/>
            <a:endCxn id="97"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01" name="文本框 100">
            <a:extLst>
              <a:ext uri="{FF2B5EF4-FFF2-40B4-BE49-F238E27FC236}">
                <a16:creationId xmlns:a16="http://schemas.microsoft.com/office/drawing/2014/main" id="{ED49EBE7-C4F1-6FC3-1679-222C90BC5C16}"/>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06" name="直接箭头连接符 105">
            <a:extLst>
              <a:ext uri="{FF2B5EF4-FFF2-40B4-BE49-F238E27FC236}">
                <a16:creationId xmlns:a16="http://schemas.microsoft.com/office/drawing/2014/main" id="{9F95E230-B855-5A29-A91F-4D13421FE8F3}"/>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F64A9B7-628A-1A23-350B-C708056CA88D}"/>
              </a:ext>
            </a:extLst>
          </p:cNvPr>
          <p:cNvCxnSpPr>
            <a:cxnSpLocks/>
          </p:cNvCxnSpPr>
          <p:nvPr/>
        </p:nvCxnSpPr>
        <p:spPr>
          <a:xfrm>
            <a:off x="66752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直接箭头连接符 107">
            <a:extLst>
              <a:ext uri="{FF2B5EF4-FFF2-40B4-BE49-F238E27FC236}">
                <a16:creationId xmlns:a16="http://schemas.microsoft.com/office/drawing/2014/main" id="{84A5B23B-C6FE-8F0E-60A0-FF0E219AC4F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F82FD08F-3A64-FD6C-A2E3-B71D5DB39489}"/>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B58085E8-4B1F-E09F-657B-59008B7DC38A}"/>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文本框 112">
            <a:extLst>
              <a:ext uri="{FF2B5EF4-FFF2-40B4-BE49-F238E27FC236}">
                <a16:creationId xmlns:a16="http://schemas.microsoft.com/office/drawing/2014/main" id="{31D96E86-612C-59A6-07F0-4553D172F74A}"/>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4" name="文本框 113">
            <a:extLst>
              <a:ext uri="{FF2B5EF4-FFF2-40B4-BE49-F238E27FC236}">
                <a16:creationId xmlns:a16="http://schemas.microsoft.com/office/drawing/2014/main" id="{E1F78B75-9A57-987F-F596-E2F4E0AF2A96}"/>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22EF6EB-A31C-327C-6988-F23967A32403}"/>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接箭头连接符 116">
            <a:extLst>
              <a:ext uri="{FF2B5EF4-FFF2-40B4-BE49-F238E27FC236}">
                <a16:creationId xmlns:a16="http://schemas.microsoft.com/office/drawing/2014/main" id="{AADAE543-12BC-DB03-2563-BF2956BD561C}"/>
              </a:ext>
            </a:extLst>
          </p:cNvPr>
          <p:cNvCxnSpPr>
            <a:cxnSpLocks/>
            <a:stCxn id="53" idx="2"/>
            <a:endCxn id="92" idx="2"/>
          </p:cNvCxnSpPr>
          <p:nvPr/>
        </p:nvCxnSpPr>
        <p:spPr>
          <a:xfrm flipH="1">
            <a:off x="2584506" y="2786213"/>
            <a:ext cx="718302" cy="6734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直接箭头连接符 124">
            <a:extLst>
              <a:ext uri="{FF2B5EF4-FFF2-40B4-BE49-F238E27FC236}">
                <a16:creationId xmlns:a16="http://schemas.microsoft.com/office/drawing/2014/main" id="{59A3AE77-7CC2-78DE-0312-42231F1660DF}"/>
              </a:ext>
            </a:extLst>
          </p:cNvPr>
          <p:cNvCxnSpPr>
            <a:cxnSpLocks/>
          </p:cNvCxnSpPr>
          <p:nvPr/>
        </p:nvCxnSpPr>
        <p:spPr>
          <a:xfrm flipV="1">
            <a:off x="66752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直接箭头连接符 127">
            <a:extLst>
              <a:ext uri="{FF2B5EF4-FFF2-40B4-BE49-F238E27FC236}">
                <a16:creationId xmlns:a16="http://schemas.microsoft.com/office/drawing/2014/main" id="{E7AAC13A-7877-C8E2-C121-22971E49B0C1}"/>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直接箭头连接符 129">
            <a:extLst>
              <a:ext uri="{FF2B5EF4-FFF2-40B4-BE49-F238E27FC236}">
                <a16:creationId xmlns:a16="http://schemas.microsoft.com/office/drawing/2014/main" id="{F8896D3E-8D00-8E4F-BE16-F2F757596011}"/>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3" name="文本框 132">
            <a:extLst>
              <a:ext uri="{FF2B5EF4-FFF2-40B4-BE49-F238E27FC236}">
                <a16:creationId xmlns:a16="http://schemas.microsoft.com/office/drawing/2014/main" id="{AE814C0F-52D6-33B1-47C2-8CB08BA624A7}"/>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4" name="文本框 133">
            <a:extLst>
              <a:ext uri="{FF2B5EF4-FFF2-40B4-BE49-F238E27FC236}">
                <a16:creationId xmlns:a16="http://schemas.microsoft.com/office/drawing/2014/main" id="{C0E3A1EE-675E-B52B-E72D-37290E277572}"/>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内容占位符 12">
            <a:extLst>
              <a:ext uri="{FF2B5EF4-FFF2-40B4-BE49-F238E27FC236}">
                <a16:creationId xmlns:a16="http://schemas.microsoft.com/office/drawing/2014/main" id="{24ABC0D8-32D1-6EC6-2E65-3DBEF29A3EE0}"/>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486000" y="550723"/>
            <a:ext cx="8172000" cy="338554"/>
          </a:xfrm>
        </p:spPr>
        <p:txBody>
          <a:bodyPr/>
          <a:lstStyle/>
          <a:p>
            <a:r>
              <a:rPr lang="zh-CN" altLang="en-US" dirty="0"/>
              <a:t>一对多</a:t>
            </a:r>
          </a:p>
        </p:txBody>
      </p:sp>
      <p:sp>
        <p:nvSpPr>
          <p:cNvPr id="15" name="文本框 14">
            <a:extLst>
              <a:ext uri="{FF2B5EF4-FFF2-40B4-BE49-F238E27FC236}">
                <a16:creationId xmlns:a16="http://schemas.microsoft.com/office/drawing/2014/main" id="{6DF6327D-0E18-8097-1D6A-B158C88C9362}"/>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文本框 15">
            <a:extLst>
              <a:ext uri="{FF2B5EF4-FFF2-40B4-BE49-F238E27FC236}">
                <a16:creationId xmlns:a16="http://schemas.microsoft.com/office/drawing/2014/main" id="{12E07A00-FFF8-F8A7-3EB5-7E0E6F99C5C2}"/>
              </a:ext>
            </a:extLst>
          </p:cNvPr>
          <p:cNvSpPr txBox="1"/>
          <p:nvPr/>
        </p:nvSpPr>
        <p:spPr>
          <a:xfrm>
            <a:off x="4132413" y="363372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7" name="文本框 16">
            <a:extLst>
              <a:ext uri="{FF2B5EF4-FFF2-40B4-BE49-F238E27FC236}">
                <a16:creationId xmlns:a16="http://schemas.microsoft.com/office/drawing/2014/main" id="{AA428F3E-9FF0-7226-7920-C310FB8A4EED}"/>
              </a:ext>
            </a:extLst>
          </p:cNvPr>
          <p:cNvSpPr txBox="1"/>
          <p:nvPr/>
        </p:nvSpPr>
        <p:spPr>
          <a:xfrm>
            <a:off x="4689593" y="363372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81" name="内容占位符 80">
            <a:extLst>
              <a:ext uri="{FF2B5EF4-FFF2-40B4-BE49-F238E27FC236}">
                <a16:creationId xmlns:a16="http://schemas.microsoft.com/office/drawing/2014/main" id="{6235EBF4-10F9-39F6-91CC-FAF17990DE70}"/>
              </a:ext>
            </a:extLst>
          </p:cNvPr>
          <p:cNvSpPr>
            <a:spLocks noGrp="1"/>
          </p:cNvSpPr>
          <p:nvPr>
            <p:ph sz="quarter" idx="11"/>
          </p:nvPr>
        </p:nvSpPr>
        <p:spPr/>
        <p:txBody>
          <a:bodyPr/>
          <a:lstStyle/>
          <a:p>
            <a:endParaRPr lang="zh-CN" altLang="en-US"/>
          </a:p>
        </p:txBody>
      </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49" name="Text Box 4"/>
          <p:cNvSpPr txBox="1">
            <a:spLocks noChangeArrowheads="1"/>
          </p:cNvSpPr>
          <p:nvPr/>
        </p:nvSpPr>
        <p:spPr bwMode="auto">
          <a:xfrm>
            <a:off x="1977030" y="1449416"/>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dirty="0">
                <a:solidFill>
                  <a:srgbClr val="0033CC"/>
                </a:solidFill>
                <a:latin typeface="微软雅黑" pitchFamily="34" charset="-122"/>
                <a:ea typeface="微软雅黑" pitchFamily="34" charset="-122"/>
                <a:sym typeface="Wingdings" pitchFamily="2" charset="2"/>
              </a:rPr>
              <a:t></a:t>
            </a:r>
            <a:endParaRPr lang="en-US" altLang="zh-CN" sz="4800" dirty="0">
              <a:solidFill>
                <a:srgbClr val="0033CC"/>
              </a:solidFill>
              <a:latin typeface="微软雅黑" pitchFamily="34" charset="-122"/>
              <a:ea typeface="微软雅黑" pitchFamily="34" charset="-122"/>
            </a:endParaRPr>
          </a:p>
        </p:txBody>
      </p:sp>
      <p:sp>
        <p:nvSpPr>
          <p:cNvPr id="53" name="Text Box 8"/>
          <p:cNvSpPr txBox="1">
            <a:spLocks noChangeArrowheads="1"/>
          </p:cNvSpPr>
          <p:nvPr/>
        </p:nvSpPr>
        <p:spPr bwMode="auto">
          <a:xfrm>
            <a:off x="1751861" y="2552005"/>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54" name="Line 9"/>
          <p:cNvSpPr>
            <a:spLocks noChangeShapeType="1"/>
          </p:cNvSpPr>
          <p:nvPr/>
        </p:nvSpPr>
        <p:spPr bwMode="auto">
          <a:xfrm>
            <a:off x="2285044" y="2064466"/>
            <a:ext cx="5311" cy="79720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Text Box 10"/>
          <p:cNvSpPr txBox="1">
            <a:spLocks noChangeArrowheads="1"/>
          </p:cNvSpPr>
          <p:nvPr/>
        </p:nvSpPr>
        <p:spPr bwMode="auto">
          <a:xfrm rot="5400000">
            <a:off x="2331321" y="2445098"/>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56" name="Rectangle 12"/>
          <p:cNvSpPr>
            <a:spLocks noChangeArrowheads="1"/>
          </p:cNvSpPr>
          <p:nvPr/>
        </p:nvSpPr>
        <p:spPr bwMode="auto">
          <a:xfrm>
            <a:off x="2394441" y="2182333"/>
            <a:ext cx="436530" cy="114652"/>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Rectangle 13"/>
          <p:cNvSpPr>
            <a:spLocks noChangeArrowheads="1"/>
          </p:cNvSpPr>
          <p:nvPr/>
        </p:nvSpPr>
        <p:spPr bwMode="auto">
          <a:xfrm>
            <a:off x="2394441" y="2354846"/>
            <a:ext cx="108336"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Rectangle 14"/>
          <p:cNvSpPr>
            <a:spLocks noChangeArrowheads="1"/>
          </p:cNvSpPr>
          <p:nvPr/>
        </p:nvSpPr>
        <p:spPr bwMode="auto">
          <a:xfrm>
            <a:off x="2394441" y="2703089"/>
            <a:ext cx="272964"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Rectangle 15"/>
          <p:cNvSpPr>
            <a:spLocks noChangeArrowheads="1"/>
          </p:cNvSpPr>
          <p:nvPr/>
        </p:nvSpPr>
        <p:spPr bwMode="auto">
          <a:xfrm>
            <a:off x="1628656" y="2935608"/>
            <a:ext cx="1312775"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latin typeface="微软雅黑" pitchFamily="34" charset="-122"/>
              <a:ea typeface="微软雅黑" pitchFamily="34" charset="-122"/>
            </a:endParaRPr>
          </a:p>
          <a:p>
            <a:endParaRPr lang="en-US" altLang="zh-CN" sz="1400" b="1" dirty="0">
              <a:latin typeface="微软雅黑" pitchFamily="34" charset="-122"/>
              <a:ea typeface="微软雅黑" pitchFamily="34" charset="-122"/>
            </a:endParaRPr>
          </a:p>
        </p:txBody>
      </p:sp>
      <p:sp>
        <p:nvSpPr>
          <p:cNvPr id="60" name="Line 16"/>
          <p:cNvSpPr>
            <a:spLocks noChangeShapeType="1"/>
          </p:cNvSpPr>
          <p:nvPr/>
        </p:nvSpPr>
        <p:spPr bwMode="auto">
          <a:xfrm flipV="1">
            <a:off x="6823465" y="2064466"/>
            <a:ext cx="0" cy="871142"/>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1" name="Text Box 17"/>
          <p:cNvSpPr txBox="1">
            <a:spLocks noChangeArrowheads="1"/>
          </p:cNvSpPr>
          <p:nvPr/>
        </p:nvSpPr>
        <p:spPr bwMode="auto">
          <a:xfrm rot="5400000">
            <a:off x="6868680" y="2448313"/>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62" name="Rectangle 18"/>
          <p:cNvSpPr>
            <a:spLocks noChangeArrowheads="1"/>
          </p:cNvSpPr>
          <p:nvPr/>
        </p:nvSpPr>
        <p:spPr bwMode="auto">
          <a:xfrm>
            <a:off x="6932863" y="2703089"/>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3" name="Rectangle 19"/>
          <p:cNvSpPr>
            <a:spLocks noChangeArrowheads="1"/>
          </p:cNvSpPr>
          <p:nvPr/>
        </p:nvSpPr>
        <p:spPr bwMode="auto">
          <a:xfrm>
            <a:off x="6167077" y="2935608"/>
            <a:ext cx="1311713"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solidFill>
                <a:schemeClr val="bg1"/>
              </a:solidFill>
              <a:latin typeface="微软雅黑" pitchFamily="34" charset="-122"/>
              <a:ea typeface="微软雅黑" pitchFamily="34" charset="-122"/>
            </a:endParaRPr>
          </a:p>
          <a:p>
            <a:endParaRPr lang="en-US" altLang="zh-CN" sz="1400" b="1" dirty="0">
              <a:solidFill>
                <a:schemeClr val="bg1"/>
              </a:solidFill>
              <a:latin typeface="微软雅黑" pitchFamily="34" charset="-122"/>
              <a:ea typeface="微软雅黑" pitchFamily="34" charset="-122"/>
            </a:endParaRPr>
          </a:p>
        </p:txBody>
      </p:sp>
      <p:sp>
        <p:nvSpPr>
          <p:cNvPr id="64" name="Rectangle 20"/>
          <p:cNvSpPr>
            <a:spLocks noChangeArrowheads="1"/>
          </p:cNvSpPr>
          <p:nvPr/>
        </p:nvSpPr>
        <p:spPr bwMode="auto">
          <a:xfrm>
            <a:off x="6310463" y="3306352"/>
            <a:ext cx="1039811"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接收缓存</a:t>
            </a:r>
          </a:p>
        </p:txBody>
      </p:sp>
      <p:sp>
        <p:nvSpPr>
          <p:cNvPr id="66" name="Rectangle 22"/>
          <p:cNvSpPr>
            <a:spLocks noChangeArrowheads="1"/>
          </p:cNvSpPr>
          <p:nvPr/>
        </p:nvSpPr>
        <p:spPr bwMode="auto">
          <a:xfrm>
            <a:off x="1773104" y="3306352"/>
            <a:ext cx="1037687"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发送缓存</a:t>
            </a:r>
          </a:p>
        </p:txBody>
      </p:sp>
      <p:sp>
        <p:nvSpPr>
          <p:cNvPr id="71" name="Rectangle 27"/>
          <p:cNvSpPr>
            <a:spLocks noChangeArrowheads="1"/>
          </p:cNvSpPr>
          <p:nvPr/>
        </p:nvSpPr>
        <p:spPr bwMode="auto">
          <a:xfrm>
            <a:off x="6932863" y="2354846"/>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Rectangle 28"/>
          <p:cNvSpPr>
            <a:spLocks noChangeArrowheads="1"/>
          </p:cNvSpPr>
          <p:nvPr/>
        </p:nvSpPr>
        <p:spPr bwMode="auto">
          <a:xfrm>
            <a:off x="6932863" y="2182333"/>
            <a:ext cx="328194" cy="114652"/>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29"/>
          <p:cNvSpPr txBox="1">
            <a:spLocks noChangeArrowheads="1"/>
          </p:cNvSpPr>
          <p:nvPr/>
        </p:nvSpPr>
        <p:spPr bwMode="auto">
          <a:xfrm>
            <a:off x="6271165" y="2569150"/>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74" name="Text Box 30"/>
          <p:cNvSpPr txBox="1">
            <a:spLocks noChangeArrowheads="1"/>
          </p:cNvSpPr>
          <p:nvPr/>
        </p:nvSpPr>
        <p:spPr bwMode="auto">
          <a:xfrm>
            <a:off x="1906930" y="1299404"/>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solidFill>
                  <a:srgbClr val="0000FF"/>
                </a:solidFill>
                <a:latin typeface="微软雅黑" pitchFamily="34" charset="-122"/>
                <a:ea typeface="微软雅黑" pitchFamily="34" charset="-122"/>
              </a:rPr>
              <a:t>发送端</a:t>
            </a:r>
          </a:p>
        </p:txBody>
      </p:sp>
      <p:sp>
        <p:nvSpPr>
          <p:cNvPr id="75" name="Text Box 31"/>
          <p:cNvSpPr txBox="1">
            <a:spLocks noChangeArrowheads="1"/>
          </p:cNvSpPr>
          <p:nvPr/>
        </p:nvSpPr>
        <p:spPr bwMode="auto">
          <a:xfrm>
            <a:off x="6442165" y="1300476"/>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a:solidFill>
                  <a:srgbClr val="0000FF"/>
                </a:solidFill>
                <a:latin typeface="微软雅黑" pitchFamily="34" charset="-122"/>
                <a:ea typeface="微软雅黑" pitchFamily="34" charset="-122"/>
              </a:rPr>
              <a:t>接收端</a:t>
            </a:r>
          </a:p>
        </p:txBody>
      </p:sp>
      <p:sp>
        <p:nvSpPr>
          <p:cNvPr id="76" name="AutoShape 32"/>
          <p:cNvSpPr>
            <a:spLocks noChangeArrowheads="1"/>
          </p:cNvSpPr>
          <p:nvPr/>
        </p:nvSpPr>
        <p:spPr bwMode="auto">
          <a:xfrm>
            <a:off x="3084867" y="2454702"/>
            <a:ext cx="1211874" cy="468191"/>
          </a:xfrm>
          <a:prstGeom prst="wedgeRoundRectCallout">
            <a:avLst>
              <a:gd name="adj1" fmla="val -78065"/>
              <a:gd name="adj2" fmla="val 147193"/>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7" name="Text Box 33"/>
          <p:cNvSpPr txBox="1">
            <a:spLocks noChangeArrowheads="1"/>
          </p:cNvSpPr>
          <p:nvPr/>
        </p:nvSpPr>
        <p:spPr bwMode="auto">
          <a:xfrm>
            <a:off x="3139719" y="2425352"/>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向发送缓存</a:t>
            </a:r>
          </a:p>
          <a:p>
            <a:pPr eaLnBrk="1" hangingPunct="1"/>
            <a:r>
              <a:rPr lang="zh-CN" altLang="en-US" sz="1400" dirty="0">
                <a:latin typeface="微软雅黑" pitchFamily="34" charset="-122"/>
                <a:ea typeface="微软雅黑" pitchFamily="34" charset="-122"/>
              </a:rPr>
              <a:t>写入数据块</a:t>
            </a:r>
          </a:p>
        </p:txBody>
      </p:sp>
      <p:sp>
        <p:nvSpPr>
          <p:cNvPr id="78" name="AutoShape 34"/>
          <p:cNvSpPr>
            <a:spLocks noChangeArrowheads="1"/>
          </p:cNvSpPr>
          <p:nvPr/>
        </p:nvSpPr>
        <p:spPr bwMode="auto">
          <a:xfrm>
            <a:off x="4798060" y="2459530"/>
            <a:ext cx="1172576" cy="484793"/>
          </a:xfrm>
          <a:prstGeom prst="wedgeRoundRectCallout">
            <a:avLst>
              <a:gd name="adj1" fmla="val 84105"/>
              <a:gd name="adj2" fmla="val 139389"/>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9" name="Text Box 35"/>
          <p:cNvSpPr txBox="1">
            <a:spLocks noChangeArrowheads="1"/>
          </p:cNvSpPr>
          <p:nvPr/>
        </p:nvSpPr>
        <p:spPr bwMode="auto">
          <a:xfrm>
            <a:off x="4852912" y="2437139"/>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从接收缓存</a:t>
            </a:r>
          </a:p>
          <a:p>
            <a:pPr eaLnBrk="1" hangingPunct="1"/>
            <a:r>
              <a:rPr lang="zh-CN" altLang="en-US" sz="1400" dirty="0">
                <a:latin typeface="微软雅黑" pitchFamily="34" charset="-122"/>
                <a:ea typeface="微软雅黑" pitchFamily="34" charset="-122"/>
              </a:rPr>
              <a:t>读取数据块</a:t>
            </a:r>
          </a:p>
        </p:txBody>
      </p:sp>
      <p:sp>
        <p:nvSpPr>
          <p:cNvPr id="80" name="Text Box 36"/>
          <p:cNvSpPr txBox="1">
            <a:spLocks noChangeArrowheads="1"/>
          </p:cNvSpPr>
          <p:nvPr/>
        </p:nvSpPr>
        <p:spPr bwMode="auto">
          <a:xfrm>
            <a:off x="1263288" y="1626216"/>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1" name="Text Box 37"/>
          <p:cNvSpPr txBox="1">
            <a:spLocks noChangeArrowheads="1"/>
          </p:cNvSpPr>
          <p:nvPr/>
        </p:nvSpPr>
        <p:spPr bwMode="auto">
          <a:xfrm>
            <a:off x="6966850" y="1627288"/>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2" name="Text Box 38"/>
          <p:cNvSpPr txBox="1">
            <a:spLocks noChangeArrowheads="1"/>
          </p:cNvSpPr>
          <p:nvPr/>
        </p:nvSpPr>
        <p:spPr bwMode="auto">
          <a:xfrm>
            <a:off x="6511203" y="1481562"/>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a:solidFill>
                  <a:srgbClr val="0033CC"/>
                </a:solidFill>
                <a:latin typeface="微软雅黑" pitchFamily="34" charset="-122"/>
                <a:ea typeface="微软雅黑" pitchFamily="34" charset="-122"/>
                <a:sym typeface="Wingdings" pitchFamily="2" charset="2"/>
              </a:rPr>
              <a:t></a:t>
            </a:r>
            <a:endParaRPr lang="en-US" altLang="zh-CN" sz="4800">
              <a:solidFill>
                <a:srgbClr val="0033CC"/>
              </a:solidFill>
              <a:latin typeface="微软雅黑" pitchFamily="34" charset="-122"/>
              <a:ea typeface="微软雅黑" pitchFamily="34" charset="-122"/>
            </a:endParaRPr>
          </a:p>
        </p:txBody>
      </p:sp>
      <p:sp>
        <p:nvSpPr>
          <p:cNvPr id="83" name="Rectangle 39"/>
          <p:cNvSpPr>
            <a:spLocks noChangeArrowheads="1"/>
          </p:cNvSpPr>
          <p:nvPr/>
        </p:nvSpPr>
        <p:spPr bwMode="auto">
          <a:xfrm>
            <a:off x="2211758"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Rectangle 40"/>
          <p:cNvSpPr>
            <a:spLocks noChangeArrowheads="1"/>
          </p:cNvSpPr>
          <p:nvPr/>
        </p:nvSpPr>
        <p:spPr bwMode="auto">
          <a:xfrm>
            <a:off x="6741682"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矩形 84"/>
          <p:cNvSpPr/>
          <p:nvPr/>
        </p:nvSpPr>
        <p:spPr>
          <a:xfrm>
            <a:off x="2900010" y="1091437"/>
            <a:ext cx="3572958" cy="1246495"/>
          </a:xfrm>
          <a:prstGeom prst="rect">
            <a:avLst/>
          </a:prstGeom>
          <a:solidFill>
            <a:srgbClr val="99FFCC"/>
          </a:solidFill>
          <a:ln>
            <a:solidFill>
              <a:schemeClr val="tx1"/>
            </a:solidFill>
          </a:ln>
        </p:spPr>
        <p:txBody>
          <a:bodyPr wrap="square">
            <a:spAutoFit/>
          </a:bodyPr>
          <a:lstStyle/>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不关心应用进程一次把多长的报文发送到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缓存。</a:t>
            </a:r>
            <a:endParaRPr lang="en-US" altLang="zh-CN" sz="1400" b="1" dirty="0">
              <a:latin typeface="微软雅黑" pitchFamily="34" charset="-122"/>
              <a:ea typeface="微软雅黑" pitchFamily="34" charset="-122"/>
            </a:endParaRPr>
          </a:p>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根据对方给出的</a:t>
            </a:r>
            <a:r>
              <a:rPr lang="zh-CN" altLang="en-US" sz="1400" b="1" dirty="0">
                <a:solidFill>
                  <a:srgbClr val="C00000"/>
                </a:solidFill>
                <a:latin typeface="微软雅黑" pitchFamily="34" charset="-122"/>
                <a:ea typeface="微软雅黑" pitchFamily="34" charset="-122"/>
              </a:rPr>
              <a:t>窗口值</a:t>
            </a:r>
            <a:r>
              <a:rPr lang="zh-CN" altLang="en-US" sz="1400" b="1" dirty="0">
                <a:latin typeface="微软雅黑" pitchFamily="34" charset="-122"/>
                <a:ea typeface="微软雅黑" pitchFamily="34" charset="-122"/>
              </a:rPr>
              <a:t>和当前</a:t>
            </a:r>
            <a:r>
              <a:rPr lang="zh-CN" altLang="en-US" sz="1400" b="1" dirty="0">
                <a:solidFill>
                  <a:srgbClr val="C00000"/>
                </a:solidFill>
                <a:latin typeface="微软雅黑" pitchFamily="34" charset="-122"/>
                <a:ea typeface="微软雅黑" pitchFamily="34" charset="-122"/>
              </a:rPr>
              <a:t>网络拥塞</a:t>
            </a:r>
            <a:r>
              <a:rPr lang="zh-CN" altLang="en-US" sz="1400" b="1" dirty="0">
                <a:latin typeface="微软雅黑" pitchFamily="34" charset="-122"/>
                <a:ea typeface="微软雅黑" pitchFamily="34" charset="-122"/>
              </a:rPr>
              <a:t>程度来决定一个报文段应包含多少个字节，形成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43" name="AutoShape 108"/>
          <p:cNvSpPr>
            <a:spLocks noChangeArrowheads="1"/>
          </p:cNvSpPr>
          <p:nvPr/>
        </p:nvSpPr>
        <p:spPr bwMode="auto">
          <a:xfrm rot="16200000">
            <a:off x="4400718" y="1982333"/>
            <a:ext cx="346183" cy="4206853"/>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109"/>
          <p:cNvSpPr txBox="1">
            <a:spLocks noChangeArrowheads="1"/>
          </p:cNvSpPr>
          <p:nvPr/>
        </p:nvSpPr>
        <p:spPr bwMode="auto">
          <a:xfrm>
            <a:off x="3467553" y="4248894"/>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50" name="AutoShape 5"/>
          <p:cNvSpPr>
            <a:spLocks noChangeArrowheads="1"/>
          </p:cNvSpPr>
          <p:nvPr/>
        </p:nvSpPr>
        <p:spPr bwMode="auto">
          <a:xfrm>
            <a:off x="352287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AutoShape 6"/>
          <p:cNvSpPr>
            <a:spLocks noChangeArrowheads="1"/>
          </p:cNvSpPr>
          <p:nvPr/>
        </p:nvSpPr>
        <p:spPr bwMode="auto">
          <a:xfrm>
            <a:off x="6191974" y="4010100"/>
            <a:ext cx="206050" cy="166085"/>
          </a:xfrm>
          <a:prstGeom prst="rightArrow">
            <a:avLst>
              <a:gd name="adj1" fmla="val 50000"/>
              <a:gd name="adj2" fmla="val 31290"/>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AutoShape 7"/>
          <p:cNvSpPr>
            <a:spLocks noChangeArrowheads="1"/>
          </p:cNvSpPr>
          <p:nvPr/>
        </p:nvSpPr>
        <p:spPr bwMode="auto">
          <a:xfrm>
            <a:off x="461718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23"/>
          <p:cNvSpPr>
            <a:spLocks noChangeArrowheads="1"/>
          </p:cNvSpPr>
          <p:nvPr/>
        </p:nvSpPr>
        <p:spPr bwMode="auto">
          <a:xfrm>
            <a:off x="2819756"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9" name="Rectangle 25"/>
          <p:cNvSpPr>
            <a:spLocks noChangeArrowheads="1"/>
          </p:cNvSpPr>
          <p:nvPr/>
        </p:nvSpPr>
        <p:spPr bwMode="auto">
          <a:xfrm>
            <a:off x="3935309"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a:latin typeface="微软雅黑" pitchFamily="34" charset="-122"/>
                <a:ea typeface="微软雅黑" pitchFamily="34" charset="-122"/>
              </a:rPr>
              <a:t>报文段</a:t>
            </a:r>
          </a:p>
        </p:txBody>
      </p:sp>
      <p:sp>
        <p:nvSpPr>
          <p:cNvPr id="70" name="Rectangle 26"/>
          <p:cNvSpPr>
            <a:spLocks noChangeArrowheads="1"/>
          </p:cNvSpPr>
          <p:nvPr/>
        </p:nvSpPr>
        <p:spPr bwMode="auto">
          <a:xfrm>
            <a:off x="5496288"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8" name="Text Box 24"/>
          <p:cNvSpPr txBox="1">
            <a:spLocks noChangeArrowheads="1"/>
          </p:cNvSpPr>
          <p:nvPr/>
        </p:nvSpPr>
        <p:spPr bwMode="auto">
          <a:xfrm>
            <a:off x="5042017" y="3886394"/>
            <a:ext cx="345188" cy="297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latin typeface="微软雅黑" pitchFamily="34" charset="-122"/>
                <a:ea typeface="微软雅黑" pitchFamily="34" charset="-122"/>
              </a:rPr>
              <a:t>…</a:t>
            </a:r>
          </a:p>
        </p:txBody>
      </p:sp>
      <p:sp>
        <p:nvSpPr>
          <p:cNvPr id="86" name="Freeform 44"/>
          <p:cNvSpPr>
            <a:spLocks/>
          </p:cNvSpPr>
          <p:nvPr/>
        </p:nvSpPr>
        <p:spPr bwMode="auto">
          <a:xfrm>
            <a:off x="6677235" y="3665638"/>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Freeform 110"/>
          <p:cNvSpPr>
            <a:spLocks/>
          </p:cNvSpPr>
          <p:nvPr/>
        </p:nvSpPr>
        <p:spPr bwMode="auto">
          <a:xfrm>
            <a:off x="2278145" y="3666102"/>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 name="内容占位符 9">
            <a:extLst>
              <a:ext uri="{FF2B5EF4-FFF2-40B4-BE49-F238E27FC236}">
                <a16:creationId xmlns:a16="http://schemas.microsoft.com/office/drawing/2014/main" id="{F1756939-A855-1C54-DD40-F5775D0D0244}"/>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AutoShape 5"/>
          <p:cNvSpPr>
            <a:spLocks noChangeArrowheads="1"/>
          </p:cNvSpPr>
          <p:nvPr/>
        </p:nvSpPr>
        <p:spPr bwMode="auto">
          <a:xfrm>
            <a:off x="545143" y="626213"/>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5" name="Rectangle 6"/>
          <p:cNvSpPr>
            <a:spLocks noChangeArrowheads="1"/>
          </p:cNvSpPr>
          <p:nvPr/>
        </p:nvSpPr>
        <p:spPr bwMode="auto">
          <a:xfrm>
            <a:off x="3093072" y="583942"/>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5.4.1  </a:t>
            </a:r>
            <a:r>
              <a:rPr lang="zh-CN" altLang="en-US" sz="2400" b="1" dirty="0">
                <a:solidFill>
                  <a:schemeClr val="bg1"/>
                </a:solidFill>
                <a:latin typeface="微软雅黑" pitchFamily="34" charset="-122"/>
                <a:ea typeface="微软雅黑" pitchFamily="34" charset="-122"/>
              </a:rPr>
              <a:t>停止等待协议</a:t>
            </a:r>
          </a:p>
        </p:txBody>
      </p:sp>
      <p:sp>
        <p:nvSpPr>
          <p:cNvPr id="26" name="Rectangle 8"/>
          <p:cNvSpPr>
            <a:spLocks noChangeArrowheads="1"/>
          </p:cNvSpPr>
          <p:nvPr/>
        </p:nvSpPr>
        <p:spPr bwMode="auto">
          <a:xfrm>
            <a:off x="545143" y="1012343"/>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每发送完一个分组就</a:t>
            </a:r>
            <a:r>
              <a:rPr lang="zh-CN" altLang="en-US" sz="2000" b="1" dirty="0">
                <a:solidFill>
                  <a:srgbClr val="C00000"/>
                </a:solidFill>
                <a:latin typeface="微软雅黑" pitchFamily="34" charset="-122"/>
                <a:ea typeface="微软雅黑" pitchFamily="34" charset="-122"/>
              </a:rPr>
              <a:t>停止</a:t>
            </a:r>
            <a:r>
              <a:rPr lang="zh-CN" altLang="en-US" sz="2000" b="1" dirty="0">
                <a:latin typeface="微软雅黑" pitchFamily="34" charset="-122"/>
                <a:ea typeface="微软雅黑" pitchFamily="34" charset="-122"/>
              </a:rPr>
              <a:t>发送，</a:t>
            </a:r>
            <a:r>
              <a:rPr lang="zh-CN" altLang="en-US" sz="2000" b="1" dirty="0">
                <a:solidFill>
                  <a:srgbClr val="C00000"/>
                </a:solidFill>
                <a:latin typeface="微软雅黑" pitchFamily="34" charset="-122"/>
                <a:ea typeface="微软雅黑" pitchFamily="34" charset="-122"/>
              </a:rPr>
              <a:t>等待</a:t>
            </a:r>
            <a:r>
              <a:rPr lang="zh-CN" altLang="en-US" sz="2000" b="1" dirty="0">
                <a:latin typeface="微软雅黑" pitchFamily="34" charset="-122"/>
                <a:ea typeface="微软雅黑" pitchFamily="34" charset="-122"/>
              </a:rPr>
              <a:t>对方的确认。在收到确认后再发送下一个分组。</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全双工通信的双方既是发送方也是接收方。</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假设仅考虑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发送数据，而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接收数据并发送确认。因此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发送方</a:t>
            </a:r>
            <a:r>
              <a:rPr lang="zh-CN" altLang="en-US" sz="2000" b="1" dirty="0">
                <a:latin typeface="微软雅黑" pitchFamily="34" charset="-122"/>
                <a:ea typeface="微软雅黑" pitchFamily="34" charset="-122"/>
              </a:rPr>
              <a:t>，而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接收方</a:t>
            </a:r>
            <a:r>
              <a:rPr lang="zh-CN" altLang="en-US"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5451577" y="1725674"/>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grpSp>
        <p:nvGrpSpPr>
          <p:cNvPr id="67" name="Group 16"/>
          <p:cNvGrpSpPr>
            <a:grpSpLocks/>
          </p:cNvGrpSpPr>
          <p:nvPr/>
        </p:nvGrpSpPr>
        <p:grpSpPr bwMode="auto">
          <a:xfrm>
            <a:off x="3104636" y="1473745"/>
            <a:ext cx="1365577" cy="578834"/>
            <a:chOff x="3439" y="3564"/>
            <a:chExt cx="1156" cy="490"/>
          </a:xfrm>
        </p:grpSpPr>
        <p:sp>
          <p:nvSpPr>
            <p:cNvPr id="68" name="Freeform 1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69" name="AutoShape 1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0" name="Rectangle 19"/>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71" name="Group 20"/>
          <p:cNvGrpSpPr>
            <a:grpSpLocks/>
          </p:cNvGrpSpPr>
          <p:nvPr/>
        </p:nvGrpSpPr>
        <p:grpSpPr bwMode="auto">
          <a:xfrm>
            <a:off x="3103455" y="2458943"/>
            <a:ext cx="1365577" cy="578834"/>
            <a:chOff x="3439" y="3564"/>
            <a:chExt cx="1156" cy="490"/>
          </a:xfrm>
        </p:grpSpPr>
        <p:sp>
          <p:nvSpPr>
            <p:cNvPr id="72" name="Freeform 2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73" name="AutoShape 2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4" name="Rectangle 23"/>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grpSp>
        <p:nvGrpSpPr>
          <p:cNvPr id="75" name="Group 25"/>
          <p:cNvGrpSpPr>
            <a:grpSpLocks/>
          </p:cNvGrpSpPr>
          <p:nvPr/>
        </p:nvGrpSpPr>
        <p:grpSpPr bwMode="auto">
          <a:xfrm>
            <a:off x="3114893" y="2014780"/>
            <a:ext cx="1368315" cy="367382"/>
            <a:chOff x="2012" y="2305"/>
            <a:chExt cx="1177" cy="311"/>
          </a:xfrm>
        </p:grpSpPr>
        <p:sp>
          <p:nvSpPr>
            <p:cNvPr id="76" name="Line 26"/>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77" name="Text Box 27"/>
            <p:cNvSpPr txBox="1">
              <a:spLocks noChangeArrowheads="1"/>
            </p:cNvSpPr>
            <p:nvPr/>
          </p:nvSpPr>
          <p:spPr bwMode="auto">
            <a:xfrm rot="21169770">
              <a:off x="2159" y="2305"/>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grpSp>
        <p:nvGrpSpPr>
          <p:cNvPr id="78" name="Group 28"/>
          <p:cNvGrpSpPr>
            <a:grpSpLocks/>
          </p:cNvGrpSpPr>
          <p:nvPr/>
        </p:nvGrpSpPr>
        <p:grpSpPr bwMode="auto">
          <a:xfrm>
            <a:off x="3105443" y="3043683"/>
            <a:ext cx="1368315" cy="373289"/>
            <a:chOff x="2012" y="2300"/>
            <a:chExt cx="1177" cy="316"/>
          </a:xfrm>
        </p:grpSpPr>
        <p:sp>
          <p:nvSpPr>
            <p:cNvPr id="79" name="Line 29"/>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80" name="Text Box 30"/>
            <p:cNvSpPr txBox="1">
              <a:spLocks noChangeArrowheads="1"/>
            </p:cNvSpPr>
            <p:nvPr/>
          </p:nvSpPr>
          <p:spPr bwMode="auto">
            <a:xfrm rot="21169770">
              <a:off x="2167" y="2300"/>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2</a:t>
              </a:r>
            </a:p>
          </p:txBody>
        </p:sp>
      </p:grpSp>
      <p:grpSp>
        <p:nvGrpSpPr>
          <p:cNvPr id="81" name="Group 33"/>
          <p:cNvGrpSpPr>
            <a:grpSpLocks/>
          </p:cNvGrpSpPr>
          <p:nvPr/>
        </p:nvGrpSpPr>
        <p:grpSpPr bwMode="auto">
          <a:xfrm>
            <a:off x="124291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124291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4451069" y="1966259"/>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7"/>
          <p:cNvSpPr txBox="1"/>
          <p:nvPr/>
        </p:nvSpPr>
        <p:spPr>
          <a:xfrm>
            <a:off x="4451069" y="2954720"/>
            <a:ext cx="854721" cy="307777"/>
          </a:xfrm>
          <a:prstGeom prst="rect">
            <a:avLst/>
          </a:prstGeom>
          <a:noFill/>
        </p:spPr>
        <p:txBody>
          <a:bodyPr wrap="none" rtlCol="0">
            <a:spAutoFit/>
          </a:bodyPr>
          <a:lstStyle/>
          <a:p>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endParaRPr lang="zh-CN" altLang="en-US" sz="1400" b="1" baseline="-25000" dirty="0">
              <a:solidFill>
                <a:srgbClr val="0000FF"/>
              </a:solidFill>
              <a:latin typeface="微软雅黑" pitchFamily="34" charset="-122"/>
              <a:ea typeface="微软雅黑" pitchFamily="34" charset="-122"/>
            </a:endParaRPr>
          </a:p>
        </p:txBody>
      </p:sp>
      <p:grpSp>
        <p:nvGrpSpPr>
          <p:cNvPr id="89" name="组合 88"/>
          <p:cNvGrpSpPr/>
          <p:nvPr/>
        </p:nvGrpSpPr>
        <p:grpSpPr>
          <a:xfrm>
            <a:off x="2822657" y="1374516"/>
            <a:ext cx="1930174" cy="2673907"/>
            <a:chOff x="3674443" y="2912516"/>
            <a:chExt cx="2593891" cy="3593374"/>
          </a:xfrm>
        </p:grpSpPr>
        <p:sp>
          <p:nvSpPr>
            <p:cNvPr id="90" name="Line 4"/>
            <p:cNvSpPr>
              <a:spLocks noChangeShapeType="1"/>
            </p:cNvSpPr>
            <p:nvPr/>
          </p:nvSpPr>
          <p:spPr bwMode="auto">
            <a:xfrm>
              <a:off x="4055098" y="2912516"/>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5"/>
            <p:cNvSpPr>
              <a:spLocks noChangeShapeType="1"/>
            </p:cNvSpPr>
            <p:nvPr/>
          </p:nvSpPr>
          <p:spPr bwMode="auto">
            <a:xfrm>
              <a:off x="5885232" y="2912516"/>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TextBox 91"/>
            <p:cNvSpPr txBox="1"/>
            <p:nvPr/>
          </p:nvSpPr>
          <p:spPr>
            <a:xfrm>
              <a:off x="5537622"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sp>
          <p:nvSpPr>
            <p:cNvPr id="93" name="TextBox 92"/>
            <p:cNvSpPr txBox="1"/>
            <p:nvPr/>
          </p:nvSpPr>
          <p:spPr>
            <a:xfrm>
              <a:off x="3674443"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grpSp>
      <p:grpSp>
        <p:nvGrpSpPr>
          <p:cNvPr id="33" name="Group 33"/>
          <p:cNvGrpSpPr>
            <a:grpSpLocks/>
          </p:cNvGrpSpPr>
          <p:nvPr/>
        </p:nvGrpSpPr>
        <p:grpSpPr bwMode="auto">
          <a:xfrm>
            <a:off x="124291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37" name="Rectangle 39"/>
          <p:cNvSpPr>
            <a:spLocks noChangeArrowheads="1"/>
          </p:cNvSpPr>
          <p:nvPr/>
        </p:nvSpPr>
        <p:spPr bwMode="auto">
          <a:xfrm>
            <a:off x="4306259" y="1110083"/>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sp>
        <p:nvSpPr>
          <p:cNvPr id="8" name="内容占位符 7">
            <a:extLst>
              <a:ext uri="{FF2B5EF4-FFF2-40B4-BE49-F238E27FC236}">
                <a16:creationId xmlns:a16="http://schemas.microsoft.com/office/drawing/2014/main" id="{6FE545E4-0CD4-D79F-8BDA-7A154DA3E6F6}"/>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486000" y="550723"/>
            <a:ext cx="8172000" cy="338554"/>
          </a:xfr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1000"/>
                                        <p:tgtEl>
                                          <p:spTgt spid="6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2000"/>
                            </p:stCondLst>
                            <p:childTnLst>
                              <p:par>
                                <p:cTn id="13" presetID="1" presetClass="entr" presetSubtype="0" fill="hold" grpId="0" nodeType="afterEffect">
                                  <p:stCondLst>
                                    <p:cond delay="1000"/>
                                  </p:stCondLst>
                                  <p:childTnLst>
                                    <p:set>
                                      <p:cBhvr>
                                        <p:cTn id="14" dur="1" fill="hold">
                                          <p:stCondLst>
                                            <p:cond delay="999"/>
                                          </p:stCondLst>
                                        </p:cTn>
                                        <p:tgtEl>
                                          <p:spTgt spid="87"/>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87"/>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22" presetClass="entr" presetSubtype="2" fill="hold" nodeType="afterEffect">
                                  <p:stCondLst>
                                    <p:cond delay="1000"/>
                                  </p:stCondLst>
                                  <p:childTnLst>
                                    <p:set>
                                      <p:cBhvr>
                                        <p:cTn id="20" dur="1" fill="hold">
                                          <p:stCondLst>
                                            <p:cond delay="0"/>
                                          </p:stCondLst>
                                        </p:cTn>
                                        <p:tgtEl>
                                          <p:spTgt spid="75"/>
                                        </p:tgtEl>
                                        <p:attrNameLst>
                                          <p:attrName>style.visibility</p:attrName>
                                        </p:attrNameLst>
                                      </p:cBhvr>
                                      <p:to>
                                        <p:strVal val="visible"/>
                                      </p:to>
                                    </p:set>
                                    <p:animEffect transition="in" filter="wipe(right)">
                                      <p:cBhvr>
                                        <p:cTn id="21" dur="1000"/>
                                        <p:tgtEl>
                                          <p:spTgt spid="75"/>
                                        </p:tgtEl>
                                      </p:cBhvr>
                                    </p:animEffect>
                                  </p:childTnLst>
                                </p:cTn>
                              </p:par>
                            </p:childTnLst>
                          </p:cTn>
                        </p:par>
                        <p:par>
                          <p:cTn id="22" fill="hold">
                            <p:stCondLst>
                              <p:cond delay="7500"/>
                            </p:stCondLst>
                            <p:childTnLst>
                              <p:par>
                                <p:cTn id="23" presetID="22" presetClass="entr" presetSubtype="8" fill="hold" nodeType="afterEffect">
                                  <p:stCondLst>
                                    <p:cond delay="1000"/>
                                  </p:stCondLst>
                                  <p:childTnLst>
                                    <p:set>
                                      <p:cBhvr>
                                        <p:cTn id="24" dur="1" fill="hold">
                                          <p:stCondLst>
                                            <p:cond delay="0"/>
                                          </p:stCondLst>
                                        </p:cTn>
                                        <p:tgtEl>
                                          <p:spTgt spid="84"/>
                                        </p:tgtEl>
                                        <p:attrNameLst>
                                          <p:attrName>style.visibility</p:attrName>
                                        </p:attrNameLst>
                                      </p:cBhvr>
                                      <p:to>
                                        <p:strVal val="visible"/>
                                      </p:to>
                                    </p:set>
                                    <p:animEffect transition="in" filter="wipe(left)">
                                      <p:cBhvr>
                                        <p:cTn id="25" dur="1000"/>
                                        <p:tgtEl>
                                          <p:spTgt spid="84"/>
                                        </p:tgtEl>
                                      </p:cBhvr>
                                    </p:animEffect>
                                  </p:childTnLst>
                                </p:cTn>
                              </p:par>
                            </p:childTnLst>
                          </p:cTn>
                        </p:par>
                        <p:par>
                          <p:cTn id="26" fill="hold">
                            <p:stCondLst>
                              <p:cond delay="9500"/>
                            </p:stCondLst>
                            <p:childTnLst>
                              <p:par>
                                <p:cTn id="27" presetID="22" presetClass="entr" presetSubtype="8" fill="hold" nodeType="afterEffect">
                                  <p:stCondLst>
                                    <p:cond delay="1000"/>
                                  </p:stCondLst>
                                  <p:childTnLst>
                                    <p:set>
                                      <p:cBhvr>
                                        <p:cTn id="28" dur="1" fill="hold">
                                          <p:stCondLst>
                                            <p:cond delay="0"/>
                                          </p:stCondLst>
                                        </p:cTn>
                                        <p:tgtEl>
                                          <p:spTgt spid="71"/>
                                        </p:tgtEl>
                                        <p:attrNameLst>
                                          <p:attrName>style.visibility</p:attrName>
                                        </p:attrNameLst>
                                      </p:cBhvr>
                                      <p:to>
                                        <p:strVal val="visible"/>
                                      </p:to>
                                    </p:set>
                                    <p:animEffect transition="in" filter="wipe(left)">
                                      <p:cBhvr>
                                        <p:cTn id="29" dur="1000"/>
                                        <p:tgtEl>
                                          <p:spTgt spid="71"/>
                                        </p:tgtEl>
                                      </p:cBhvr>
                                    </p:animEffect>
                                  </p:childTnLst>
                                </p:cTn>
                              </p:par>
                            </p:childTnLst>
                          </p:cTn>
                        </p:par>
                        <p:par>
                          <p:cTn id="30" fill="hold">
                            <p:stCondLst>
                              <p:cond delay="11500"/>
                            </p:stCondLst>
                            <p:childTnLst>
                              <p:par>
                                <p:cTn id="31" presetID="22" presetClass="entr" presetSubtype="8" fill="hold" nodeType="after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wipe(left)">
                                      <p:cBhvr>
                                        <p:cTn id="33" dur="1000"/>
                                        <p:tgtEl>
                                          <p:spTgt spid="33"/>
                                        </p:tgtEl>
                                      </p:cBhvr>
                                    </p:animEffect>
                                  </p:childTnLst>
                                </p:cTn>
                              </p:par>
                            </p:childTnLst>
                          </p:cTn>
                        </p:par>
                        <p:par>
                          <p:cTn id="34" fill="hold">
                            <p:stCondLst>
                              <p:cond delay="12500"/>
                            </p:stCondLst>
                            <p:childTnLst>
                              <p:par>
                                <p:cTn id="35" presetID="1" presetClass="entr" presetSubtype="0" fill="hold" grpId="0" nodeType="afterEffect">
                                  <p:stCondLst>
                                    <p:cond delay="1000"/>
                                  </p:stCondLst>
                                  <p:childTnLst>
                                    <p:set>
                                      <p:cBhvr>
                                        <p:cTn id="36" dur="1" fill="hold">
                                          <p:stCondLst>
                                            <p:cond delay="0"/>
                                          </p:stCondLst>
                                        </p:cTn>
                                        <p:tgtEl>
                                          <p:spTgt spid="88"/>
                                        </p:tgtEl>
                                        <p:attrNameLst>
                                          <p:attrName>style.visibility</p:attrName>
                                        </p:attrNameLst>
                                      </p:cBhvr>
                                      <p:to>
                                        <p:strVal val="visible"/>
                                      </p:to>
                                    </p:set>
                                  </p:childTnLst>
                                </p:cTn>
                              </p:par>
                            </p:childTnLst>
                          </p:cTn>
                        </p:par>
                        <p:par>
                          <p:cTn id="37" fill="hold">
                            <p:stCondLst>
                              <p:cond delay="13500"/>
                            </p:stCondLst>
                            <p:childTnLst>
                              <p:par>
                                <p:cTn id="38" presetID="35" presetClass="emph" presetSubtype="0" repeatCount="3000" fill="hold" grpId="1" nodeType="afterEffect">
                                  <p:stCondLst>
                                    <p:cond delay="0"/>
                                  </p:stCondLst>
                                  <p:childTnLst>
                                    <p:anim calcmode="discrete" valueType="str">
                                      <p:cBhvr>
                                        <p:cTn id="39"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0" fill="hold">
                            <p:stCondLst>
                              <p:cond delay="15000"/>
                            </p:stCondLst>
                            <p:childTnLst>
                              <p:par>
                                <p:cTn id="41" presetID="22" presetClass="entr" presetSubtype="2" fill="hold" nodeType="afterEffect">
                                  <p:stCondLst>
                                    <p:cond delay="1000"/>
                                  </p:stCondLst>
                                  <p:childTnLst>
                                    <p:set>
                                      <p:cBhvr>
                                        <p:cTn id="42" dur="1" fill="hold">
                                          <p:stCondLst>
                                            <p:cond delay="0"/>
                                          </p:stCondLst>
                                        </p:cTn>
                                        <p:tgtEl>
                                          <p:spTgt spid="78"/>
                                        </p:tgtEl>
                                        <p:attrNameLst>
                                          <p:attrName>style.visibility</p:attrName>
                                        </p:attrNameLst>
                                      </p:cBhvr>
                                      <p:to>
                                        <p:strVal val="visible"/>
                                      </p:to>
                                    </p:set>
                                    <p:animEffect transition="in" filter="wipe(right)">
                                      <p:cBhvr>
                                        <p:cTn id="43" dur="1000"/>
                                        <p:tgtEl>
                                          <p:spTgt spid="7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66"/>
                                        </p:tgtEl>
                                        <p:attrNameLst>
                                          <p:attrName>style.visibility</p:attrName>
                                        </p:attrNameLst>
                                      </p:cBhvr>
                                      <p:to>
                                        <p:strVal val="visible"/>
                                      </p:to>
                                    </p:set>
                                    <p:animEffect transition="in" filter="fade">
                                      <p:cBhvr>
                                        <p:cTn id="48"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87" grpId="0"/>
      <p:bldP spid="87" grpId="1"/>
      <p:bldP spid="88" grpId="0"/>
      <p:bldP spid="88" grpId="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分组错误</a:t>
            </a:r>
          </a:p>
        </p:txBody>
      </p:sp>
      <p:grpSp>
        <p:nvGrpSpPr>
          <p:cNvPr id="37" name="组合 36"/>
          <p:cNvGrpSpPr/>
          <p:nvPr/>
        </p:nvGrpSpPr>
        <p:grpSpPr>
          <a:xfrm>
            <a:off x="2442953" y="1581642"/>
            <a:ext cx="1159152" cy="2263658"/>
            <a:chOff x="1968664" y="1662782"/>
            <a:chExt cx="1840305" cy="3179762"/>
          </a:xfrm>
        </p:grpSpPr>
        <p:sp>
          <p:nvSpPr>
            <p:cNvPr id="38" name="Line 36"/>
            <p:cNvSpPr>
              <a:spLocks noChangeShapeType="1"/>
            </p:cNvSpPr>
            <p:nvPr/>
          </p:nvSpPr>
          <p:spPr bwMode="auto">
            <a:xfrm>
              <a:off x="1968664" y="1662782"/>
              <a:ext cx="0" cy="317976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7"/>
            <p:cNvSpPr>
              <a:spLocks noChangeShapeType="1"/>
            </p:cNvSpPr>
            <p:nvPr/>
          </p:nvSpPr>
          <p:spPr bwMode="auto">
            <a:xfrm>
              <a:off x="3808969" y="1662782"/>
              <a:ext cx="0" cy="3160711"/>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grpSp>
      <p:sp>
        <p:nvSpPr>
          <p:cNvPr id="40" name="Rectangle 38"/>
          <p:cNvSpPr>
            <a:spLocks noChangeArrowheads="1"/>
          </p:cNvSpPr>
          <p:nvPr/>
        </p:nvSpPr>
        <p:spPr bwMode="auto">
          <a:xfrm>
            <a:off x="2321087" y="1297665"/>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41" name="Rectangle 39"/>
          <p:cNvSpPr>
            <a:spLocks noChangeArrowheads="1"/>
          </p:cNvSpPr>
          <p:nvPr/>
        </p:nvSpPr>
        <p:spPr bwMode="auto">
          <a:xfrm>
            <a:off x="3495991" y="1297665"/>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42" name="Group 40"/>
          <p:cNvGrpSpPr>
            <a:grpSpLocks/>
          </p:cNvGrpSpPr>
          <p:nvPr/>
        </p:nvGrpSpPr>
        <p:grpSpPr bwMode="auto">
          <a:xfrm>
            <a:off x="2445077" y="1665635"/>
            <a:ext cx="1155905" cy="489960"/>
            <a:chOff x="3439" y="3564"/>
            <a:chExt cx="1156" cy="490"/>
          </a:xfrm>
        </p:grpSpPr>
        <p:sp>
          <p:nvSpPr>
            <p:cNvPr id="43" name="Freeform 4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4" name="AutoShape 4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Rectangle 43"/>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46" name="Group 44"/>
          <p:cNvGrpSpPr>
            <a:grpSpLocks/>
          </p:cNvGrpSpPr>
          <p:nvPr/>
        </p:nvGrpSpPr>
        <p:grpSpPr bwMode="auto">
          <a:xfrm>
            <a:off x="2444077" y="2649335"/>
            <a:ext cx="1155905" cy="489960"/>
            <a:chOff x="3439" y="3564"/>
            <a:chExt cx="1156" cy="490"/>
          </a:xfrm>
        </p:grpSpPr>
        <p:sp>
          <p:nvSpPr>
            <p:cNvPr id="47" name="Freeform 45"/>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8" name="AutoShape 46"/>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Rectangle 47"/>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50" name="Group 51"/>
          <p:cNvGrpSpPr>
            <a:grpSpLocks/>
          </p:cNvGrpSpPr>
          <p:nvPr/>
        </p:nvGrpSpPr>
        <p:grpSpPr bwMode="auto">
          <a:xfrm>
            <a:off x="2427078" y="3124300"/>
            <a:ext cx="1176904" cy="335973"/>
            <a:chOff x="2012" y="2280"/>
            <a:chExt cx="1177" cy="336"/>
          </a:xfrm>
        </p:grpSpPr>
        <p:sp>
          <p:nvSpPr>
            <p:cNvPr id="51" name="Line 5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52" name="Text Box 53"/>
            <p:cNvSpPr txBox="1">
              <a:spLocks noChangeArrowheads="1"/>
            </p:cNvSpPr>
            <p:nvPr/>
          </p:nvSpPr>
          <p:spPr bwMode="auto">
            <a:xfrm rot="21169770">
              <a:off x="2127" y="2280"/>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sp>
        <p:nvSpPr>
          <p:cNvPr id="53" name="Rectangle 56"/>
          <p:cNvSpPr>
            <a:spLocks noChangeArrowheads="1"/>
          </p:cNvSpPr>
          <p:nvPr/>
        </p:nvSpPr>
        <p:spPr bwMode="auto">
          <a:xfrm>
            <a:off x="4023679" y="1906605"/>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zh-CN" altLang="en-US" sz="1400" b="1" dirty="0">
                <a:solidFill>
                  <a:srgbClr val="CC00CC"/>
                </a:solidFill>
                <a:latin typeface="微软雅黑" pitchFamily="34" charset="-122"/>
                <a:ea typeface="微软雅黑" pitchFamily="34" charset="-122"/>
              </a:rPr>
              <a:t>丢弃</a:t>
            </a:r>
            <a:endParaRPr lang="zh-CN" altLang="en-US" sz="1400" b="1" baseline="-25000" dirty="0">
              <a:solidFill>
                <a:srgbClr val="CC00CC"/>
              </a:solidFill>
              <a:latin typeface="微软雅黑" pitchFamily="34" charset="-122"/>
              <a:ea typeface="微软雅黑" pitchFamily="34" charset="-122"/>
            </a:endParaRPr>
          </a:p>
        </p:txBody>
      </p:sp>
      <p:sp>
        <p:nvSpPr>
          <p:cNvPr id="54" name="AutoShape 60"/>
          <p:cNvSpPr>
            <a:spLocks noChangeArrowheads="1"/>
          </p:cNvSpPr>
          <p:nvPr/>
        </p:nvSpPr>
        <p:spPr bwMode="auto">
          <a:xfrm>
            <a:off x="3632979" y="1839621"/>
            <a:ext cx="433965" cy="415966"/>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55" name="Text Box 24"/>
          <p:cNvSpPr txBox="1">
            <a:spLocks noChangeArrowheads="1"/>
          </p:cNvSpPr>
          <p:nvPr/>
        </p:nvSpPr>
        <p:spPr bwMode="auto">
          <a:xfrm>
            <a:off x="1556001" y="267884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56" name="Group 25"/>
          <p:cNvGrpSpPr>
            <a:grpSpLocks/>
          </p:cNvGrpSpPr>
          <p:nvPr/>
        </p:nvGrpSpPr>
        <p:grpSpPr bwMode="auto">
          <a:xfrm>
            <a:off x="1879539" y="2010185"/>
            <a:ext cx="502959" cy="583952"/>
            <a:chOff x="3188" y="2204"/>
            <a:chExt cx="503" cy="584"/>
          </a:xfrm>
        </p:grpSpPr>
        <p:sp>
          <p:nvSpPr>
            <p:cNvPr id="57"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81" name="Group 33"/>
          <p:cNvGrpSpPr>
            <a:grpSpLocks/>
          </p:cNvGrpSpPr>
          <p:nvPr/>
        </p:nvGrpSpPr>
        <p:grpSpPr bwMode="auto">
          <a:xfrm>
            <a:off x="955137" y="1854628"/>
            <a:ext cx="1383297" cy="799738"/>
            <a:chOff x="749" y="1800"/>
            <a:chExt cx="1171" cy="677"/>
          </a:xfrm>
        </p:grpSpPr>
        <p:sp>
          <p:nvSpPr>
            <p:cNvPr id="82" name="Text Box 31"/>
            <p:cNvSpPr txBox="1">
              <a:spLocks noChangeArrowheads="1"/>
            </p:cNvSpPr>
            <p:nvPr/>
          </p:nvSpPr>
          <p:spPr bwMode="auto">
            <a:xfrm>
              <a:off x="749" y="1800"/>
              <a:ext cx="891"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3582107" y="3047752"/>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 name="内容占位符 10">
            <a:extLst>
              <a:ext uri="{FF2B5EF4-FFF2-40B4-BE49-F238E27FC236}">
                <a16:creationId xmlns:a16="http://schemas.microsoft.com/office/drawing/2014/main" id="{429C1144-0666-4877-CC28-844700325AA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486000" y="550723"/>
            <a:ext cx="8172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wipe(left)">
                                      <p:cBhvr>
                                        <p:cTn id="7" dur="2000"/>
                                        <p:tgtEl>
                                          <p:spTgt spid="42"/>
                                        </p:tgtEl>
                                      </p:cBhvr>
                                    </p:animEffect>
                                  </p:childTnLst>
                                </p:cTn>
                              </p:par>
                            </p:childTnLst>
                          </p:cTn>
                        </p:par>
                        <p:par>
                          <p:cTn id="8" fill="hold">
                            <p:stCondLst>
                              <p:cond delay="2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3000"/>
                            </p:stCondLst>
                            <p:childTnLst>
                              <p:par>
                                <p:cTn id="13" presetID="1" presetClass="entr" presetSubtype="0" fill="hold" grpId="0" nodeType="afterEffect">
                                  <p:stCondLst>
                                    <p:cond delay="1000"/>
                                  </p:stCondLst>
                                  <p:childTnLst>
                                    <p:set>
                                      <p:cBhvr>
                                        <p:cTn id="14" dur="1" fill="hold">
                                          <p:stCondLst>
                                            <p:cond delay="0"/>
                                          </p:stCondLst>
                                        </p:cTn>
                                        <p:tgtEl>
                                          <p:spTgt spid="54"/>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54"/>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1" presetClass="entr" presetSubtype="0" fill="hold" grpId="0" nodeType="afterEffect">
                                  <p:stCondLst>
                                    <p:cond delay="0"/>
                                  </p:stCondLst>
                                  <p:childTnLst>
                                    <p:set>
                                      <p:cBhvr>
                                        <p:cTn id="20" dur="1" fill="hold">
                                          <p:stCondLst>
                                            <p:cond delay="999"/>
                                          </p:stCondLst>
                                        </p:cTn>
                                        <p:tgtEl>
                                          <p:spTgt spid="53"/>
                                        </p:tgtEl>
                                        <p:attrNameLst>
                                          <p:attrName>style.visibility</p:attrName>
                                        </p:attrNameLst>
                                      </p:cBhvr>
                                      <p:to>
                                        <p:strVal val="visible"/>
                                      </p:to>
                                    </p:set>
                                  </p:childTnLst>
                                </p:cTn>
                              </p:par>
                            </p:childTnLst>
                          </p:cTn>
                        </p:par>
                        <p:par>
                          <p:cTn id="21" fill="hold">
                            <p:stCondLst>
                              <p:cond delay="6500"/>
                            </p:stCondLst>
                            <p:childTnLst>
                              <p:par>
                                <p:cTn id="22" presetID="1" presetClass="entr" presetSubtype="0" fill="hold" nodeType="afterEffect">
                                  <p:stCondLst>
                                    <p:cond delay="1000"/>
                                  </p:stCondLst>
                                  <p:childTnLst>
                                    <p:set>
                                      <p:cBhvr>
                                        <p:cTn id="23" dur="1" fill="hold">
                                          <p:stCondLst>
                                            <p:cond delay="0"/>
                                          </p:stCondLst>
                                        </p:cTn>
                                        <p:tgtEl>
                                          <p:spTgt spid="56"/>
                                        </p:tgtEl>
                                        <p:attrNameLst>
                                          <p:attrName>style.visibility</p:attrName>
                                        </p:attrNameLst>
                                      </p:cBhvr>
                                      <p:to>
                                        <p:strVal val="visible"/>
                                      </p:to>
                                    </p:set>
                                  </p:childTnLst>
                                </p:cTn>
                              </p:par>
                            </p:childTnLst>
                          </p:cTn>
                        </p:par>
                        <p:par>
                          <p:cTn id="24" fill="hold">
                            <p:stCondLst>
                              <p:cond delay="7500"/>
                            </p:stCondLst>
                            <p:childTnLst>
                              <p:par>
                                <p:cTn id="25" presetID="35" presetClass="emph" presetSubtype="0" repeatCount="3000" fill="hold" nodeType="afterEffect">
                                  <p:stCondLst>
                                    <p:cond delay="0"/>
                                  </p:stCondLst>
                                  <p:childTnLst>
                                    <p:anim calcmode="discrete" valueType="str">
                                      <p:cBhvr>
                                        <p:cTn id="26" dur="533" fill="hold"/>
                                        <p:tgtEl>
                                          <p:spTgt spid="56"/>
                                        </p:tgtEl>
                                        <p:attrNameLst>
                                          <p:attrName>style.visibility</p:attrName>
                                        </p:attrNameLst>
                                      </p:cBhvr>
                                      <p:tavLst>
                                        <p:tav tm="0">
                                          <p:val>
                                            <p:strVal val="hidden"/>
                                          </p:val>
                                        </p:tav>
                                        <p:tav tm="50000">
                                          <p:val>
                                            <p:strVal val="visible"/>
                                          </p:val>
                                        </p:tav>
                                      </p:tavLst>
                                    </p:anim>
                                  </p:childTnLst>
                                </p:cTn>
                              </p:par>
                            </p:childTnLst>
                          </p:cTn>
                        </p:par>
                        <p:par>
                          <p:cTn id="27" fill="hold">
                            <p:stCondLst>
                              <p:cond delay="9100"/>
                            </p:stCondLst>
                            <p:childTnLst>
                              <p:par>
                                <p:cTn id="28" presetID="1" presetClass="entr" presetSubtype="0" fill="hold" grpId="0" nodeType="afterEffect">
                                  <p:stCondLst>
                                    <p:cond delay="1000"/>
                                  </p:stCondLst>
                                  <p:childTnLst>
                                    <p:set>
                                      <p:cBhvr>
                                        <p:cTn id="29" dur="1" fill="hold">
                                          <p:stCondLst>
                                            <p:cond delay="0"/>
                                          </p:stCondLst>
                                        </p:cTn>
                                        <p:tgtEl>
                                          <p:spTgt spid="55"/>
                                        </p:tgtEl>
                                        <p:attrNameLst>
                                          <p:attrName>style.visibility</p:attrName>
                                        </p:attrNameLst>
                                      </p:cBhvr>
                                      <p:to>
                                        <p:strVal val="visible"/>
                                      </p:to>
                                    </p:set>
                                  </p:childTnLst>
                                </p:cTn>
                              </p:par>
                            </p:childTnLst>
                          </p:cTn>
                        </p:par>
                        <p:par>
                          <p:cTn id="30" fill="hold">
                            <p:stCondLst>
                              <p:cond delay="10100"/>
                            </p:stCondLst>
                            <p:childTnLst>
                              <p:par>
                                <p:cTn id="31" presetID="35" presetClass="emph" presetSubtype="0" repeatCount="3000" fill="hold" grpId="1" nodeType="afterEffect">
                                  <p:stCondLst>
                                    <p:cond delay="0"/>
                                  </p:stCondLst>
                                  <p:childTnLst>
                                    <p:anim calcmode="discrete" valueType="str">
                                      <p:cBhvr>
                                        <p:cTn id="32" dur="500" fill="hold"/>
                                        <p:tgtEl>
                                          <p:spTgt spid="55"/>
                                        </p:tgtEl>
                                        <p:attrNameLst>
                                          <p:attrName>style.visibility</p:attrName>
                                        </p:attrNameLst>
                                      </p:cBhvr>
                                      <p:tavLst>
                                        <p:tav tm="0">
                                          <p:val>
                                            <p:strVal val="hidden"/>
                                          </p:val>
                                        </p:tav>
                                        <p:tav tm="50000">
                                          <p:val>
                                            <p:strVal val="visible"/>
                                          </p:val>
                                        </p:tav>
                                      </p:tavLst>
                                    </p:anim>
                                  </p:childTnLst>
                                </p:cTn>
                              </p:par>
                            </p:childTnLst>
                          </p:cTn>
                        </p:par>
                        <p:par>
                          <p:cTn id="33" fill="hold">
                            <p:stCondLst>
                              <p:cond delay="11600"/>
                            </p:stCondLst>
                            <p:childTnLst>
                              <p:par>
                                <p:cTn id="34" presetID="22" presetClass="entr" presetSubtype="8" fill="hold" nodeType="after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wipe(left)">
                                      <p:cBhvr>
                                        <p:cTn id="36" dur="2000"/>
                                        <p:tgtEl>
                                          <p:spTgt spid="46"/>
                                        </p:tgtEl>
                                      </p:cBhvr>
                                    </p:animEffect>
                                  </p:childTnLst>
                                </p:cTn>
                              </p:par>
                            </p:childTnLst>
                          </p:cTn>
                        </p:par>
                        <p:par>
                          <p:cTn id="37" fill="hold">
                            <p:stCondLst>
                              <p:cond delay="13600"/>
                            </p:stCondLst>
                            <p:childTnLst>
                              <p:par>
                                <p:cTn id="38" presetID="1" presetClass="entr" presetSubtype="0" fill="hold" grpId="0" nodeType="afterEffect">
                                  <p:stCondLst>
                                    <p:cond delay="0"/>
                                  </p:stCondLst>
                                  <p:childTnLst>
                                    <p:set>
                                      <p:cBhvr>
                                        <p:cTn id="39" dur="1" fill="hold">
                                          <p:stCondLst>
                                            <p:cond delay="999"/>
                                          </p:stCondLst>
                                        </p:cTn>
                                        <p:tgtEl>
                                          <p:spTgt spid="87"/>
                                        </p:tgtEl>
                                        <p:attrNameLst>
                                          <p:attrName>style.visibility</p:attrName>
                                        </p:attrNameLst>
                                      </p:cBhvr>
                                      <p:to>
                                        <p:strVal val="visible"/>
                                      </p:to>
                                    </p:set>
                                  </p:childTnLst>
                                </p:cTn>
                              </p:par>
                            </p:childTnLst>
                          </p:cTn>
                        </p:par>
                        <p:par>
                          <p:cTn id="40" fill="hold">
                            <p:stCondLst>
                              <p:cond delay="14600"/>
                            </p:stCondLst>
                            <p:childTnLst>
                              <p:par>
                                <p:cTn id="41" presetID="35" presetClass="emph" presetSubtype="0" repeatCount="3000" fill="hold" grpId="1" nodeType="afterEffect">
                                  <p:stCondLst>
                                    <p:cond delay="0"/>
                                  </p:stCondLst>
                                  <p:childTnLst>
                                    <p:anim calcmode="discrete" valueType="str">
                                      <p:cBhvr>
                                        <p:cTn id="42" dur="500" fill="hold"/>
                                        <p:tgtEl>
                                          <p:spTgt spid="87"/>
                                        </p:tgtEl>
                                        <p:attrNameLst>
                                          <p:attrName>style.visibility</p:attrName>
                                        </p:attrNameLst>
                                      </p:cBhvr>
                                      <p:tavLst>
                                        <p:tav tm="0">
                                          <p:val>
                                            <p:strVal val="hidden"/>
                                          </p:val>
                                        </p:tav>
                                        <p:tav tm="50000">
                                          <p:val>
                                            <p:strVal val="visible"/>
                                          </p:val>
                                        </p:tav>
                                      </p:tavLst>
                                    </p:anim>
                                  </p:childTnLst>
                                </p:cTn>
                              </p:par>
                            </p:childTnLst>
                          </p:cTn>
                        </p:par>
                        <p:par>
                          <p:cTn id="43" fill="hold">
                            <p:stCondLst>
                              <p:cond delay="16100"/>
                            </p:stCondLst>
                            <p:childTnLst>
                              <p:par>
                                <p:cTn id="44" presetID="22" presetClass="entr" presetSubtype="2" fill="hold" nodeType="afterEffect">
                                  <p:stCondLst>
                                    <p:cond delay="500"/>
                                  </p:stCondLst>
                                  <p:childTnLst>
                                    <p:set>
                                      <p:cBhvr>
                                        <p:cTn id="45" dur="1" fill="hold">
                                          <p:stCondLst>
                                            <p:cond delay="0"/>
                                          </p:stCondLst>
                                        </p:cTn>
                                        <p:tgtEl>
                                          <p:spTgt spid="50"/>
                                        </p:tgtEl>
                                        <p:attrNameLst>
                                          <p:attrName>style.visibility</p:attrName>
                                        </p:attrNameLst>
                                      </p:cBhvr>
                                      <p:to>
                                        <p:strVal val="visible"/>
                                      </p:to>
                                    </p:set>
                                    <p:animEffect transition="in" filter="wipe(right)">
                                      <p:cBhvr>
                                        <p:cTn id="46" dur="2000"/>
                                        <p:tgtEl>
                                          <p:spTgt spid="5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2000"/>
                                  </p:stCondLst>
                                  <p:childTnLst>
                                    <p:set>
                                      <p:cBhvr>
                                        <p:cTn id="50" dur="1" fill="hold">
                                          <p:stCondLst>
                                            <p:cond delay="0"/>
                                          </p:stCondLst>
                                        </p:cTn>
                                        <p:tgtEl>
                                          <p:spTgt spid="64"/>
                                        </p:tgtEl>
                                        <p:attrNameLst>
                                          <p:attrName>style.visibility</p:attrName>
                                        </p:attrNameLst>
                                      </p:cBhvr>
                                      <p:to>
                                        <p:strVal val="visible"/>
                                      </p:to>
                                    </p:set>
                                    <p:animEffect transition="in" filter="wipe(left)">
                                      <p:cBhvr>
                                        <p:cTn id="51" dur="2000"/>
                                        <p:tgtEl>
                                          <p:spTgt spid="64"/>
                                        </p:tgtEl>
                                      </p:cBhvr>
                                    </p:animEffect>
                                  </p:childTnLst>
                                </p:cTn>
                              </p:par>
                            </p:childTnLst>
                          </p:cTn>
                        </p:par>
                        <p:par>
                          <p:cTn id="52" fill="hold">
                            <p:stCondLst>
                              <p:cond delay="4000"/>
                            </p:stCondLst>
                            <p:childTnLst>
                              <p:par>
                                <p:cTn id="53" presetID="22" presetClass="entr" presetSubtype="8" fill="hold" nodeType="afterEffect">
                                  <p:stCondLst>
                                    <p:cond delay="0"/>
                                  </p:stCondLst>
                                  <p:childTnLst>
                                    <p:set>
                                      <p:cBhvr>
                                        <p:cTn id="54" dur="1" fill="hold">
                                          <p:stCondLst>
                                            <p:cond delay="0"/>
                                          </p:stCondLst>
                                        </p:cTn>
                                        <p:tgtEl>
                                          <p:spTgt spid="84"/>
                                        </p:tgtEl>
                                        <p:attrNameLst>
                                          <p:attrName>style.visibility</p:attrName>
                                        </p:attrNameLst>
                                      </p:cBhvr>
                                      <p:to>
                                        <p:strVal val="visible"/>
                                      </p:to>
                                    </p:set>
                                    <p:animEffect transition="in" filter="wipe(left)">
                                      <p:cBhvr>
                                        <p:cTn id="55" dur="1000"/>
                                        <p:tgtEl>
                                          <p:spTgt spid="84"/>
                                        </p:tgtEl>
                                      </p:cBhvr>
                                    </p:animEffect>
                                  </p:childTnLst>
                                </p:cTn>
                              </p:par>
                            </p:childTnLst>
                          </p:cTn>
                        </p:par>
                        <p:par>
                          <p:cTn id="56" fill="hold">
                            <p:stCondLst>
                              <p:cond delay="5000"/>
                            </p:stCondLst>
                            <p:childTnLst>
                              <p:par>
                                <p:cTn id="57" presetID="1" presetClass="entr" presetSubtype="0" fill="hold" grpId="0" nodeType="afterEffect">
                                  <p:stCondLst>
                                    <p:cond delay="1000"/>
                                  </p:stCondLst>
                                  <p:childTnLst>
                                    <p:set>
                                      <p:cBhvr>
                                        <p:cTn id="58" dur="1" fill="hold">
                                          <p:stCondLst>
                                            <p:cond delay="0"/>
                                          </p:stCondLst>
                                        </p:cTn>
                                        <p:tgtEl>
                                          <p:spTgt spid="76"/>
                                        </p:tgtEl>
                                        <p:attrNameLst>
                                          <p:attrName>style.visibility</p:attrName>
                                        </p:attrNameLst>
                                      </p:cBhvr>
                                      <p:to>
                                        <p:strVal val="visible"/>
                                      </p:to>
                                    </p:set>
                                  </p:childTnLst>
                                </p:cTn>
                              </p:par>
                            </p:childTnLst>
                          </p:cTn>
                        </p:par>
                        <p:par>
                          <p:cTn id="59" fill="hold">
                            <p:stCondLst>
                              <p:cond delay="6000"/>
                            </p:stCondLst>
                            <p:childTnLst>
                              <p:par>
                                <p:cTn id="60" presetID="35" presetClass="emph" presetSubtype="0" repeatCount="3000" fill="hold" grpId="1" nodeType="afterEffect">
                                  <p:stCondLst>
                                    <p:cond delay="0"/>
                                  </p:stCondLst>
                                  <p:childTnLst>
                                    <p:anim calcmode="discrete" valueType="str">
                                      <p:cBhvr>
                                        <p:cTn id="61" dur="500" fill="hold"/>
                                        <p:tgtEl>
                                          <p:spTgt spid="76"/>
                                        </p:tgtEl>
                                        <p:attrNameLst>
                                          <p:attrName>style.visibility</p:attrName>
                                        </p:attrNameLst>
                                      </p:cBhvr>
                                      <p:tavLst>
                                        <p:tav tm="0">
                                          <p:val>
                                            <p:strVal val="hidden"/>
                                          </p:val>
                                        </p:tav>
                                        <p:tav tm="50000">
                                          <p:val>
                                            <p:strVal val="visible"/>
                                          </p:val>
                                        </p:tav>
                                      </p:tavLst>
                                    </p:anim>
                                  </p:childTnLst>
                                </p:cTn>
                              </p:par>
                            </p:childTnLst>
                          </p:cTn>
                        </p:par>
                        <p:par>
                          <p:cTn id="62" fill="hold">
                            <p:stCondLst>
                              <p:cond delay="7500"/>
                            </p:stCondLst>
                            <p:childTnLst>
                              <p:par>
                                <p:cTn id="63" presetID="1" presetClass="entr" presetSubtype="0" fill="hold" nodeType="afterEffect">
                                  <p:stCondLst>
                                    <p:cond delay="0"/>
                                  </p:stCondLst>
                                  <p:childTnLst>
                                    <p:set>
                                      <p:cBhvr>
                                        <p:cTn id="64" dur="1" fill="hold">
                                          <p:stCondLst>
                                            <p:cond delay="0"/>
                                          </p:stCondLst>
                                        </p:cTn>
                                        <p:tgtEl>
                                          <p:spTgt spid="78"/>
                                        </p:tgtEl>
                                        <p:attrNameLst>
                                          <p:attrName>style.visibility</p:attrName>
                                        </p:attrNameLst>
                                      </p:cBhvr>
                                      <p:to>
                                        <p:strVal val="visible"/>
                                      </p:to>
                                    </p:set>
                                  </p:childTnLst>
                                </p:cTn>
                              </p:par>
                            </p:childTnLst>
                          </p:cTn>
                        </p:par>
                        <p:par>
                          <p:cTn id="65" fill="hold">
                            <p:stCondLst>
                              <p:cond delay="7500"/>
                            </p:stCondLst>
                            <p:childTnLst>
                              <p:par>
                                <p:cTn id="66" presetID="35" presetClass="emph" presetSubtype="0" repeatCount="3000" fill="hold" nodeType="afterEffect">
                                  <p:stCondLst>
                                    <p:cond delay="0"/>
                                  </p:stCondLst>
                                  <p:childTnLst>
                                    <p:anim calcmode="discrete" valueType="str">
                                      <p:cBhvr>
                                        <p:cTn id="67" dur="500" fill="hold"/>
                                        <p:tgtEl>
                                          <p:spTgt spid="78"/>
                                        </p:tgtEl>
                                        <p:attrNameLst>
                                          <p:attrName>style.visibility</p:attrName>
                                        </p:attrNameLst>
                                      </p:cBhvr>
                                      <p:tavLst>
                                        <p:tav tm="0">
                                          <p:val>
                                            <p:strVal val="hidden"/>
                                          </p:val>
                                        </p:tav>
                                        <p:tav tm="50000">
                                          <p:val>
                                            <p:strVal val="visible"/>
                                          </p:val>
                                        </p:tav>
                                      </p:tavLst>
                                    </p:anim>
                                  </p:childTnLst>
                                </p:cTn>
                              </p:par>
                            </p:childTnLst>
                          </p:cTn>
                        </p:par>
                        <p:par>
                          <p:cTn id="68" fill="hold">
                            <p:stCondLst>
                              <p:cond delay="9000"/>
                            </p:stCondLst>
                            <p:childTnLst>
                              <p:par>
                                <p:cTn id="69" presetID="1" presetClass="entr" presetSubtype="0" fill="hold" grpId="0" nodeType="afterEffect">
                                  <p:stCondLst>
                                    <p:cond delay="1000"/>
                                  </p:stCondLst>
                                  <p:childTnLst>
                                    <p:set>
                                      <p:cBhvr>
                                        <p:cTn id="70" dur="1" fill="hold">
                                          <p:stCondLst>
                                            <p:cond delay="0"/>
                                          </p:stCondLst>
                                        </p:cTn>
                                        <p:tgtEl>
                                          <p:spTgt spid="77"/>
                                        </p:tgtEl>
                                        <p:attrNameLst>
                                          <p:attrName>style.visibility</p:attrName>
                                        </p:attrNameLst>
                                      </p:cBhvr>
                                      <p:to>
                                        <p:strVal val="visible"/>
                                      </p:to>
                                    </p:set>
                                  </p:childTnLst>
                                </p:cTn>
                              </p:par>
                            </p:childTnLst>
                          </p:cTn>
                        </p:par>
                        <p:par>
                          <p:cTn id="71" fill="hold">
                            <p:stCondLst>
                              <p:cond delay="10000"/>
                            </p:stCondLst>
                            <p:childTnLst>
                              <p:par>
                                <p:cTn id="72" presetID="35" presetClass="emph" presetSubtype="0" repeatCount="3000" fill="hold" grpId="1" nodeType="afterEffect">
                                  <p:stCondLst>
                                    <p:cond delay="0"/>
                                  </p:stCondLst>
                                  <p:childTnLst>
                                    <p:anim calcmode="discrete" valueType="str">
                                      <p:cBhvr>
                                        <p:cTn id="7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74" fill="hold">
                            <p:stCondLst>
                              <p:cond delay="11500"/>
                            </p:stCondLst>
                            <p:childTnLst>
                              <p:par>
                                <p:cTn id="75" presetID="22" presetClass="entr" presetSubtype="8" fill="hold" nodeType="afterEffect">
                                  <p:stCondLst>
                                    <p:cond delay="0"/>
                                  </p:stCondLst>
                                  <p:childTnLst>
                                    <p:set>
                                      <p:cBhvr>
                                        <p:cTn id="76" dur="1" fill="hold">
                                          <p:stCondLst>
                                            <p:cond delay="0"/>
                                          </p:stCondLst>
                                        </p:cTn>
                                        <p:tgtEl>
                                          <p:spTgt spid="68"/>
                                        </p:tgtEl>
                                        <p:attrNameLst>
                                          <p:attrName>style.visibility</p:attrName>
                                        </p:attrNameLst>
                                      </p:cBhvr>
                                      <p:to>
                                        <p:strVal val="visible"/>
                                      </p:to>
                                    </p:set>
                                    <p:animEffect transition="in" filter="wipe(left)">
                                      <p:cBhvr>
                                        <p:cTn id="77" dur="2000"/>
                                        <p:tgtEl>
                                          <p:spTgt spid="68"/>
                                        </p:tgtEl>
                                      </p:cBhvr>
                                    </p:animEffect>
                                  </p:childTnLst>
                                </p:cTn>
                              </p:par>
                            </p:childTnLst>
                          </p:cTn>
                        </p:par>
                        <p:par>
                          <p:cTn id="78" fill="hold">
                            <p:stCondLst>
                              <p:cond delay="13500"/>
                            </p:stCondLst>
                            <p:childTnLst>
                              <p:par>
                                <p:cTn id="79" presetID="1" presetClass="entr" presetSubtype="0" fill="hold" grpId="0" nodeType="afterEffect">
                                  <p:stCondLst>
                                    <p:cond delay="0"/>
                                  </p:stCondLst>
                                  <p:childTnLst>
                                    <p:set>
                                      <p:cBhvr>
                                        <p:cTn id="80" dur="1" fill="hold">
                                          <p:stCondLst>
                                            <p:cond delay="999"/>
                                          </p:stCondLst>
                                        </p:cTn>
                                        <p:tgtEl>
                                          <p:spTgt spid="88"/>
                                        </p:tgtEl>
                                        <p:attrNameLst>
                                          <p:attrName>style.visibility</p:attrName>
                                        </p:attrNameLst>
                                      </p:cBhvr>
                                      <p:to>
                                        <p:strVal val="visible"/>
                                      </p:to>
                                    </p:set>
                                  </p:childTnLst>
                                </p:cTn>
                              </p:par>
                            </p:childTnLst>
                          </p:cTn>
                        </p:par>
                        <p:par>
                          <p:cTn id="81" fill="hold">
                            <p:stCondLst>
                              <p:cond delay="14500"/>
                            </p:stCondLst>
                            <p:childTnLst>
                              <p:par>
                                <p:cTn id="82" presetID="35" presetClass="emph" presetSubtype="0" repeatCount="3000" fill="hold" grpId="1" nodeType="afterEffect">
                                  <p:stCondLst>
                                    <p:cond delay="0"/>
                                  </p:stCondLst>
                                  <p:childTnLst>
                                    <p:anim calcmode="discrete" valueType="str">
                                      <p:cBhvr>
                                        <p:cTn id="83" dur="500" fill="hold"/>
                                        <p:tgtEl>
                                          <p:spTgt spid="88"/>
                                        </p:tgtEl>
                                        <p:attrNameLst>
                                          <p:attrName>style.visibility</p:attrName>
                                        </p:attrNameLst>
                                      </p:cBhvr>
                                      <p:tavLst>
                                        <p:tav tm="0">
                                          <p:val>
                                            <p:strVal val="hidden"/>
                                          </p:val>
                                        </p:tav>
                                        <p:tav tm="50000">
                                          <p:val>
                                            <p:strVal val="visible"/>
                                          </p:val>
                                        </p:tav>
                                      </p:tavLst>
                                    </p:anim>
                                  </p:childTnLst>
                                </p:cTn>
                              </p:par>
                            </p:childTnLst>
                          </p:cTn>
                        </p:par>
                        <p:par>
                          <p:cTn id="84" fill="hold">
                            <p:stCondLst>
                              <p:cond delay="16000"/>
                            </p:stCondLst>
                            <p:childTnLst>
                              <p:par>
                                <p:cTn id="85" presetID="22" presetClass="entr" presetSubtype="2" fill="hold" nodeType="afterEffect">
                                  <p:stCondLst>
                                    <p:cond delay="500"/>
                                  </p:stCondLst>
                                  <p:childTnLst>
                                    <p:set>
                                      <p:cBhvr>
                                        <p:cTn id="86" dur="1" fill="hold">
                                          <p:stCondLst>
                                            <p:cond delay="0"/>
                                          </p:stCondLst>
                                        </p:cTn>
                                        <p:tgtEl>
                                          <p:spTgt spid="73"/>
                                        </p:tgtEl>
                                        <p:attrNameLst>
                                          <p:attrName>style.visibility</p:attrName>
                                        </p:attrNameLst>
                                      </p:cBhvr>
                                      <p:to>
                                        <p:strVal val="visible"/>
                                      </p:to>
                                    </p:set>
                                    <p:animEffect transition="in" filter="wipe(right)">
                                      <p:cBhvr>
                                        <p:cTn id="87" dur="20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4" grpId="0" animBg="1"/>
      <p:bldP spid="54" grpId="1" animBg="1"/>
      <p:bldP spid="55" grpId="0"/>
      <p:bldP spid="55" grpId="1"/>
      <p:bldP spid="76" grpId="0" animBg="1"/>
      <p:bldP spid="76" grpId="1" animBg="1"/>
      <p:bldP spid="77" grpId="0"/>
      <p:bldP spid="77" grpId="1"/>
      <p:bldP spid="87" grpId="0"/>
      <p:bldP spid="87" grpId="1"/>
      <p:bldP spid="88" grpId="0"/>
      <p:bldP spid="88"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86A6BAAA-BA6D-E653-B4D4-53386F62A7C4}"/>
              </a:ext>
            </a:extLst>
          </p:cNvPr>
          <p:cNvSpPr>
            <a:spLocks noGrp="1"/>
          </p:cNvSpPr>
          <p:nvPr>
            <p:ph sz="quarter" idx="11"/>
          </p:nvPr>
        </p:nvSpPr>
        <p:spPr>
          <a:xfrm>
            <a:off x="486000" y="900000"/>
            <a:ext cx="8172000" cy="3703500"/>
          </a:xfrm>
        </p:spPr>
        <p:txBody>
          <a:bodyPr/>
          <a:lstStyle/>
          <a:p>
            <a:endParaRPr lang="zh-CN" altLang="en-US" dirty="0"/>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486000" y="550723"/>
            <a:ext cx="8172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D</a:t>
            </a:r>
            <a:r>
              <a:rPr lang="en-US" altLang="zh-CN" sz="1200" b="1">
                <a:solidFill>
                  <a:srgbClr val="0000FF"/>
                </a:solidFill>
                <a:latin typeface="微软雅黑" pitchFamily="34" charset="-122"/>
                <a:ea typeface="微软雅黑" pitchFamily="34" charset="-122"/>
              </a:rPr>
              <a:t> + RTT + </a:t>
            </a:r>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圆角矩形 23"/>
          <p:cNvSpPr/>
          <p:nvPr/>
        </p:nvSpPr>
        <p:spPr>
          <a:xfrm>
            <a:off x="545144" y="1025024"/>
            <a:ext cx="8053711" cy="230984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66"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7" name="Rectangle 6"/>
          <p:cNvSpPr>
            <a:spLocks noChangeArrowheads="1"/>
          </p:cNvSpPr>
          <p:nvPr/>
        </p:nvSpPr>
        <p:spPr bwMode="auto">
          <a:xfrm>
            <a:off x="2950134" y="587638"/>
            <a:ext cx="32624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提高传输效率：流水线传输</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
        <p:nvSpPr>
          <p:cNvPr id="9" name="内容占位符 8">
            <a:extLst>
              <a:ext uri="{FF2B5EF4-FFF2-40B4-BE49-F238E27FC236}">
                <a16:creationId xmlns:a16="http://schemas.microsoft.com/office/drawing/2014/main" id="{013AC399-1393-9B59-65EF-1BB7B06F7B7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3" y="628758"/>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916871" y="586487"/>
            <a:ext cx="331026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5.4.2   </a:t>
            </a:r>
            <a:r>
              <a:rPr lang="zh-CN" altLang="en-US" sz="2400" b="1" dirty="0">
                <a:solidFill>
                  <a:schemeClr val="bg1"/>
                </a:solidFill>
                <a:latin typeface="微软雅黑" pitchFamily="34" charset="-122"/>
                <a:ea typeface="微软雅黑" pitchFamily="34" charset="-122"/>
              </a:rPr>
              <a:t>连续 </a:t>
            </a:r>
            <a:r>
              <a:rPr lang="en-US" altLang="zh-CN" sz="2400" b="1" dirty="0">
                <a:solidFill>
                  <a:schemeClr val="bg1"/>
                </a:solidFill>
                <a:latin typeface="微软雅黑" pitchFamily="34" charset="-122"/>
                <a:ea typeface="微软雅黑" pitchFamily="34" charset="-122"/>
              </a:rPr>
              <a:t>ARQ </a:t>
            </a:r>
            <a:r>
              <a:rPr lang="zh-CN" altLang="en-US" sz="2400" b="1" dirty="0">
                <a:solidFill>
                  <a:schemeClr val="bg1"/>
                </a:solidFill>
                <a:latin typeface="微软雅黑" pitchFamily="34" charset="-122"/>
                <a:ea typeface="微软雅黑" pitchFamily="34" charset="-122"/>
              </a:rPr>
              <a:t>协议</a:t>
            </a:r>
          </a:p>
        </p:txBody>
      </p:sp>
      <p:sp>
        <p:nvSpPr>
          <p:cNvPr id="7" name="Rectangle 8"/>
          <p:cNvSpPr>
            <a:spLocks noChangeArrowheads="1"/>
          </p:cNvSpPr>
          <p:nvPr/>
        </p:nvSpPr>
        <p:spPr bwMode="auto">
          <a:xfrm>
            <a:off x="545143" y="1014888"/>
            <a:ext cx="8053711"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发送方维持一个发送窗口，位于发送窗口内的分组都可被</a:t>
            </a:r>
            <a:r>
              <a:rPr lang="zh-CN" altLang="en-US" sz="2000" b="1" dirty="0">
                <a:solidFill>
                  <a:srgbClr val="0000FF"/>
                </a:solidFill>
                <a:latin typeface="微软雅黑" pitchFamily="34" charset="-122"/>
                <a:ea typeface="微软雅黑" pitchFamily="34" charset="-122"/>
              </a:rPr>
              <a:t>连续发送</a:t>
            </a:r>
            <a:r>
              <a:rPr lang="zh-CN" altLang="en-US" sz="2000" b="1" dirty="0">
                <a:latin typeface="微软雅黑" pitchFamily="34" charset="-122"/>
                <a:ea typeface="微软雅黑" pitchFamily="34" charset="-122"/>
              </a:rPr>
              <a:t>出去，而不需要等待对方的确认。</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发送窗口滑动：</a:t>
            </a:r>
            <a:r>
              <a:rPr lang="zh-CN" altLang="en-US" sz="2000" b="1" dirty="0">
                <a:latin typeface="微软雅黑" pitchFamily="34" charset="-122"/>
                <a:ea typeface="微软雅黑" pitchFamily="34" charset="-122"/>
              </a:rPr>
              <a:t>发送方每收到一个确认，就把发送窗口</a:t>
            </a:r>
            <a:r>
              <a:rPr lang="zh-CN" altLang="en-US" sz="2000" b="1" dirty="0">
                <a:solidFill>
                  <a:srgbClr val="0000FF"/>
                </a:solidFill>
                <a:latin typeface="微软雅黑" pitchFamily="34" charset="-122"/>
                <a:ea typeface="微软雅黑" pitchFamily="34" charset="-122"/>
              </a:rPr>
              <a:t>向前滑动一个分组的位置。</a:t>
            </a:r>
            <a:endParaRPr lang="en-US" altLang="zh-CN" sz="2000" b="1" dirty="0">
              <a:solidFill>
                <a:srgbClr val="0000FF"/>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接收方对</a:t>
            </a:r>
            <a:r>
              <a:rPr lang="zh-CN" altLang="en-US" sz="2000" b="1" dirty="0">
                <a:solidFill>
                  <a:srgbClr val="0000FF"/>
                </a:solidFill>
                <a:latin typeface="微软雅黑" pitchFamily="34" charset="-122"/>
                <a:ea typeface="微软雅黑" pitchFamily="34" charset="-122"/>
              </a:rPr>
              <a:t>按序到达</a:t>
            </a:r>
            <a:r>
              <a:rPr lang="zh-CN" altLang="en-US" sz="2000" b="1" dirty="0">
                <a:latin typeface="微软雅黑" pitchFamily="34" charset="-122"/>
                <a:ea typeface="微软雅黑" pitchFamily="34" charset="-122"/>
              </a:rPr>
              <a:t>的</a:t>
            </a:r>
            <a:r>
              <a:rPr lang="zh-CN" altLang="en-US" sz="2000" b="1" dirty="0">
                <a:solidFill>
                  <a:srgbClr val="0000FF"/>
                </a:solidFill>
                <a:latin typeface="微软雅黑" pitchFamily="34" charset="-122"/>
                <a:ea typeface="微软雅黑" pitchFamily="34" charset="-122"/>
              </a:rPr>
              <a:t>最后</a:t>
            </a:r>
            <a:r>
              <a:rPr lang="zh-CN" altLang="en-US" sz="2000" b="1" dirty="0">
                <a:latin typeface="微软雅黑" pitchFamily="34" charset="-122"/>
                <a:ea typeface="微软雅黑" pitchFamily="34" charset="-122"/>
              </a:rPr>
              <a:t>一个分组发送确认，表示：到这个分组为止的所有分组都已正确收到了。</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27708"/>
            <a:ext cx="8053710" cy="309200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2063225"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sp>
        <p:nvSpPr>
          <p:cNvPr id="64"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68" name="内容占位符 67">
            <a:extLst>
              <a:ext uri="{FF2B5EF4-FFF2-40B4-BE49-F238E27FC236}">
                <a16:creationId xmlns:a16="http://schemas.microsoft.com/office/drawing/2014/main" id="{4CAD0F2E-9C38-0429-AEE4-6B441BEB958A}"/>
              </a:ext>
            </a:extLst>
          </p:cNvPr>
          <p:cNvSpPr>
            <a:spLocks noGrp="1"/>
          </p:cNvSpPr>
          <p:nvPr>
            <p:ph sz="quarter" idx="11"/>
          </p:nvPr>
        </p:nvSpPr>
        <p:spPr/>
        <p:txBody>
          <a:bodyPr/>
          <a:lstStyle/>
          <a:p>
            <a:endParaRPr lang="zh-CN" altLang="en-US"/>
          </a:p>
        </p:txBody>
      </p:sp>
      <p:sp>
        <p:nvSpPr>
          <p:cNvPr id="63" name="标题 62">
            <a:extLst>
              <a:ext uri="{FF2B5EF4-FFF2-40B4-BE49-F238E27FC236}">
                <a16:creationId xmlns:a16="http://schemas.microsoft.com/office/drawing/2014/main" id="{F5717DC6-68B3-FBD6-7960-04B46C73168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圆角矩形 105"/>
          <p:cNvSpPr/>
          <p:nvPr/>
        </p:nvSpPr>
        <p:spPr>
          <a:xfrm>
            <a:off x="556963" y="1019422"/>
            <a:ext cx="8048776" cy="31546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AutoShape 5"/>
          <p:cNvSpPr>
            <a:spLocks noChangeArrowheads="1"/>
          </p:cNvSpPr>
          <p:nvPr/>
        </p:nvSpPr>
        <p:spPr bwMode="auto">
          <a:xfrm>
            <a:off x="556963" y="62060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7" y="58739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27" name="内容占位符 26">
            <a:extLst>
              <a:ext uri="{FF2B5EF4-FFF2-40B4-BE49-F238E27FC236}">
                <a16:creationId xmlns:a16="http://schemas.microsoft.com/office/drawing/2014/main" id="{BDA0F5B8-6120-FA31-9636-B77F9244FAB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6E63B2BC-413D-0311-535E-105C440662A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3"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8" name="内容占位符 7">
            <a:extLst>
              <a:ext uri="{FF2B5EF4-FFF2-40B4-BE49-F238E27FC236}">
                <a16:creationId xmlns:a16="http://schemas.microsoft.com/office/drawing/2014/main" id="{195490A3-914C-118A-0AE4-47FD7BF6AA8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0520863D-6402-0479-8989-DB537E91EAB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45145" y="1065923"/>
            <a:ext cx="7940488"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虽然是面向字节流的，但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传送的数据单元却是报文段。</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一个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报文段分为首部和数据两部分，而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的全部功能都体现在它首部中各字段的作用。</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报文段首部的前 </a:t>
            </a:r>
            <a:r>
              <a:rPr lang="en-US" altLang="zh-CN" sz="2000" b="1" dirty="0">
                <a:latin typeface="微软雅黑" pitchFamily="34" charset="-122"/>
                <a:ea typeface="微软雅黑" pitchFamily="34" charset="-122"/>
              </a:rPr>
              <a:t>20 </a:t>
            </a:r>
            <a:r>
              <a:rPr lang="zh-CN" altLang="en-US" sz="2000" b="1" dirty="0">
                <a:latin typeface="微软雅黑" pitchFamily="34" charset="-122"/>
                <a:ea typeface="微软雅黑" pitchFamily="34" charset="-122"/>
              </a:rPr>
              <a:t>个字节是固定的，后面有 </a:t>
            </a:r>
            <a:r>
              <a:rPr lang="en-US" altLang="zh-CN" sz="2000" b="1" dirty="0">
                <a:latin typeface="微软雅黑" pitchFamily="34" charset="-122"/>
                <a:ea typeface="微软雅黑" pitchFamily="34" charset="-122"/>
              </a:rPr>
              <a:t>4</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字节是根据需要而增加的选项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是整数</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因此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首部的最小长度是 </a:t>
            </a:r>
            <a:r>
              <a:rPr lang="en-US" altLang="zh-CN" sz="2000" b="1" dirty="0">
                <a:solidFill>
                  <a:srgbClr val="0000FF"/>
                </a:solidFill>
                <a:latin typeface="微软雅黑" pitchFamily="34" charset="-122"/>
                <a:ea typeface="微软雅黑" pitchFamily="34" charset="-122"/>
              </a:rPr>
              <a:t>20 </a:t>
            </a:r>
            <a:r>
              <a:rPr lang="zh-CN" altLang="en-US" sz="2000" b="1" dirty="0">
                <a:solidFill>
                  <a:srgbClr val="0000FF"/>
                </a:solidFill>
                <a:latin typeface="微软雅黑" pitchFamily="34" charset="-122"/>
                <a:ea typeface="微软雅黑" pitchFamily="34" charset="-122"/>
              </a:rPr>
              <a:t>字节。</a:t>
            </a:r>
          </a:p>
        </p:txBody>
      </p:sp>
      <p:sp>
        <p:nvSpPr>
          <p:cNvPr id="3" name="AutoShape 5"/>
          <p:cNvSpPr>
            <a:spLocks noChangeArrowheads="1"/>
          </p:cNvSpPr>
          <p:nvPr/>
        </p:nvSpPr>
        <p:spPr bwMode="auto">
          <a:xfrm>
            <a:off x="545144" y="614832"/>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4" name="Rectangle 6"/>
          <p:cNvSpPr>
            <a:spLocks noChangeArrowheads="1"/>
          </p:cNvSpPr>
          <p:nvPr/>
        </p:nvSpPr>
        <p:spPr bwMode="auto">
          <a:xfrm>
            <a:off x="2583732" y="572561"/>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圆角矩形 107"/>
          <p:cNvSpPr/>
          <p:nvPr/>
        </p:nvSpPr>
        <p:spPr>
          <a:xfrm>
            <a:off x="545144" y="1030659"/>
            <a:ext cx="8053712" cy="33979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Y</a:t>
            </a:r>
          </a:p>
          <a:p>
            <a:pPr defTabSz="762000" eaLnBrk="0" hangingPunct="0">
              <a:lnSpc>
                <a:spcPct val="75000"/>
              </a:lnSpc>
            </a:pPr>
            <a:r>
              <a:rPr kumimoji="1" lang="en-US" altLang="zh-CN" sz="700" b="1">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R</a:t>
            </a:r>
          </a:p>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06" name="AutoShape 5"/>
          <p:cNvSpPr>
            <a:spLocks noChangeArrowheads="1"/>
          </p:cNvSpPr>
          <p:nvPr/>
        </p:nvSpPr>
        <p:spPr bwMode="auto">
          <a:xfrm>
            <a:off x="545144" y="573653"/>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109" name="Rectangle 6"/>
          <p:cNvSpPr>
            <a:spLocks noChangeArrowheads="1"/>
          </p:cNvSpPr>
          <p:nvPr/>
        </p:nvSpPr>
        <p:spPr bwMode="auto">
          <a:xfrm>
            <a:off x="2418309" y="531382"/>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76" name="内容占位符 75">
            <a:extLst>
              <a:ext uri="{FF2B5EF4-FFF2-40B4-BE49-F238E27FC236}">
                <a16:creationId xmlns:a16="http://schemas.microsoft.com/office/drawing/2014/main" id="{7708343B-4B1E-FF5D-1E86-54FAE6C0D275}"/>
              </a:ext>
            </a:extLst>
          </p:cNvPr>
          <p:cNvSpPr>
            <a:spLocks noGrp="1"/>
          </p:cNvSpPr>
          <p:nvPr>
            <p:ph sz="quarter" idx="11"/>
          </p:nvPr>
        </p:nvSpPr>
        <p:spPr/>
        <p:txBody>
          <a:bodyPr/>
          <a:lstStyle/>
          <a:p>
            <a:endParaRPr lang="zh-CN" altLang="en-US"/>
          </a:p>
        </p:txBody>
      </p:sp>
      <p:sp>
        <p:nvSpPr>
          <p:cNvPr id="43" name="标题 42">
            <a:extLst>
              <a:ext uri="{FF2B5EF4-FFF2-40B4-BE49-F238E27FC236}">
                <a16:creationId xmlns:a16="http://schemas.microsoft.com/office/drawing/2014/main" id="{AA835E0C-628C-7C54-43D8-3A2AF393701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1145253"/>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1148833"/>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1153309"/>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1224919"/>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1224919"/>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2329513"/>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2322785"/>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2322785"/>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7" name="Rectangle 76"/>
          <p:cNvSpPr>
            <a:spLocks noChangeArrowheads="1"/>
          </p:cNvSpPr>
          <p:nvPr/>
        </p:nvSpPr>
        <p:spPr bwMode="auto">
          <a:xfrm>
            <a:off x="4021820" y="2322785"/>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2322785"/>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2322785"/>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2322785"/>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1140776"/>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Text Box 155"/>
          <p:cNvSpPr txBox="1">
            <a:spLocks noChangeArrowheads="1"/>
          </p:cNvSpPr>
          <p:nvPr/>
        </p:nvSpPr>
        <p:spPr bwMode="auto">
          <a:xfrm>
            <a:off x="1237129" y="3554287"/>
            <a:ext cx="6813177"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源端口和目的端口：各占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字节。端口是运输层与应用层的服务接口。</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运输层的复用和分用功能通过端口实现。 </a:t>
            </a:r>
          </a:p>
        </p:txBody>
      </p:sp>
      <p:grpSp>
        <p:nvGrpSpPr>
          <p:cNvPr id="2" name="组合 1"/>
          <p:cNvGrpSpPr/>
          <p:nvPr/>
        </p:nvGrpSpPr>
        <p:grpSpPr>
          <a:xfrm>
            <a:off x="1827330" y="782473"/>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 name="内容占位符 6">
            <a:extLst>
              <a:ext uri="{FF2B5EF4-FFF2-40B4-BE49-F238E27FC236}">
                <a16:creationId xmlns:a16="http://schemas.microsoft.com/office/drawing/2014/main" id="{78175866-19BF-CCB9-CE11-C2D89E79FAD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860C50-C463-4442-BF31-5891AC0052A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553473"/>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950259" y="3546756"/>
            <a:ext cx="7360023"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序号：占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连接中传送的数据流中的</a:t>
            </a:r>
            <a:r>
              <a:rPr lang="zh-CN" altLang="en-US" sz="1600" b="1" dirty="0">
                <a:solidFill>
                  <a:srgbClr val="FFC000"/>
                </a:solidFill>
                <a:latin typeface="微软雅黑" pitchFamily="34" charset="-122"/>
                <a:ea typeface="微软雅黑" pitchFamily="34" charset="-122"/>
              </a:rPr>
              <a:t>每一个字节</a:t>
            </a:r>
            <a:r>
              <a:rPr lang="zh-CN" altLang="en-US" sz="1600" b="1" dirty="0">
                <a:solidFill>
                  <a:schemeClr val="bg1"/>
                </a:solidFill>
                <a:latin typeface="微软雅黑" pitchFamily="34" charset="-122"/>
                <a:ea typeface="微软雅黑" pitchFamily="34" charset="-122"/>
              </a:rPr>
              <a:t>都有一个序号。序号字段的值则指的是本报文段</a:t>
            </a:r>
            <a:r>
              <a:rPr lang="zh-CN" altLang="en-US" sz="1600" b="1" dirty="0">
                <a:solidFill>
                  <a:srgbClr val="FFC000"/>
                </a:solidFill>
                <a:latin typeface="微软雅黑" pitchFamily="34" charset="-122"/>
                <a:ea typeface="微软雅黑" pitchFamily="34" charset="-122"/>
              </a:rPr>
              <a:t>所发送</a:t>
            </a:r>
            <a:r>
              <a:rPr lang="zh-CN" altLang="en-US" sz="1600" b="1" dirty="0">
                <a:solidFill>
                  <a:schemeClr val="bg1"/>
                </a:solidFill>
                <a:latin typeface="微软雅黑" pitchFamily="34" charset="-122"/>
                <a:ea typeface="微软雅黑" pitchFamily="34" charset="-122"/>
              </a:rPr>
              <a:t>的数据的</a:t>
            </a:r>
            <a:r>
              <a:rPr lang="zh-CN" altLang="en-US" sz="1600" b="1" dirty="0">
                <a:solidFill>
                  <a:srgbClr val="FFC000"/>
                </a:solidFill>
                <a:latin typeface="微软雅黑" pitchFamily="34" charset="-122"/>
                <a:ea typeface="微软雅黑" pitchFamily="34" charset="-122"/>
              </a:rPr>
              <a:t>第一个字</a:t>
            </a:r>
            <a:r>
              <a:rPr lang="zh-CN" altLang="en-US" sz="1600" b="1" dirty="0">
                <a:solidFill>
                  <a:schemeClr val="bg1"/>
                </a:solidFill>
                <a:latin typeface="微软雅黑" pitchFamily="34" charset="-122"/>
                <a:ea typeface="微软雅黑" pitchFamily="34" charset="-122"/>
              </a:rPr>
              <a:t>节的序号。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35756386-600D-A929-8467-D709D747AB7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50432"/>
            <a:ext cx="8053712" cy="322232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
        <p:nvSpPr>
          <p:cNvPr id="7" name="内容占位符 6">
            <a:extLst>
              <a:ext uri="{FF2B5EF4-FFF2-40B4-BE49-F238E27FC236}">
                <a16:creationId xmlns:a16="http://schemas.microsoft.com/office/drawing/2014/main" id="{420A33B3-0167-0E49-F00D-FEBE4BCEE60F}"/>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D7A4BDC5-EFA2-D925-33F3-BA74FCDB815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2555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8" name="内容占位符 7">
            <a:extLst>
              <a:ext uri="{FF2B5EF4-FFF2-40B4-BE49-F238E27FC236}">
                <a16:creationId xmlns:a16="http://schemas.microsoft.com/office/drawing/2014/main" id="{688D4E16-8E10-B1E8-7DD4-D88A3C88253E}"/>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D3DFCFAD-A972-55F2-9F64-D1FCF7B7549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p>
        </p:txBody>
      </p:sp>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932766A4-C4ED-4B82-65BC-85AB71E1996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8E7740E-EE11-6551-6930-B5E479DF1DF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圆角矩形 82"/>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0E383614-0B9E-4930-3478-87F04142730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97E529-286E-9265-EA82-1B4B4AC4681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EBE477EF-2A5B-3C2F-3654-D5BC5FCA6A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EE770A-8CE2-CF74-9583-EE650A75312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67B792AA-1031-8CEC-CCEF-25E255A3DB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8CE6494-1775-D83D-E95F-618DA0654B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推送 </a:t>
            </a:r>
            <a:r>
              <a:rPr lang="en-US" altLang="zh-CN" sz="1600" b="1" dirty="0">
                <a:solidFill>
                  <a:schemeClr val="bg1"/>
                </a:solidFill>
                <a:latin typeface="微软雅黑" pitchFamily="34" charset="-122"/>
                <a:ea typeface="微软雅黑" pitchFamily="34" charset="-122"/>
              </a:rPr>
              <a:t>PSH (</a:t>
            </a:r>
            <a:r>
              <a:rPr lang="en-US" altLang="zh-CN" sz="1600" b="1" dirty="0" err="1">
                <a:solidFill>
                  <a:schemeClr val="bg1"/>
                </a:solidFill>
                <a:latin typeface="微软雅黑" pitchFamily="34" charset="-122"/>
                <a:ea typeface="微软雅黑" pitchFamily="34" charset="-122"/>
              </a:rPr>
              <a:t>PuSH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：控制位。接收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收到 </a:t>
            </a:r>
            <a:r>
              <a:rPr lang="en-US" altLang="zh-CN" sz="1600" b="1" dirty="0">
                <a:solidFill>
                  <a:schemeClr val="bg1"/>
                </a:solidFill>
                <a:latin typeface="微软雅黑" pitchFamily="34" charset="-122"/>
                <a:ea typeface="微软雅黑" pitchFamily="34" charset="-122"/>
              </a:rPr>
              <a:t>PSH = 1 </a:t>
            </a:r>
            <a:r>
              <a:rPr lang="zh-CN" altLang="en-US" sz="1600" b="1" dirty="0">
                <a:solidFill>
                  <a:schemeClr val="bg1"/>
                </a:solidFill>
                <a:latin typeface="微软雅黑" pitchFamily="34" charset="-122"/>
                <a:ea typeface="微软雅黑" pitchFamily="34" charset="-122"/>
              </a:rPr>
              <a:t>的报文段后，就尽快（即“推送”向前）交付接收应用进程，而不再等到整个缓存都填满后再交付。 </a:t>
            </a: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E563005B-8826-B601-627D-14041C07C36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6D982E-751F-7AD4-F868-5D8D440AFC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42B9E740-1812-90AD-F299-B516D58069A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2A872275-B8A7-EC6F-ED61-DCE9A7EF6C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7C0E9290-2197-4C68-A01B-7A56B04BDDE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3D9435F-E41B-275E-7807-8252F27BBE3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41F522CD-7330-0405-24E0-7580B74252A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D7A6EA0-437D-F5C7-F449-40E1BA494C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8" name="内容占位符 7">
            <a:extLst>
              <a:ext uri="{FF2B5EF4-FFF2-40B4-BE49-F238E27FC236}">
                <a16:creationId xmlns:a16="http://schemas.microsoft.com/office/drawing/2014/main" id="{B4072DEC-4725-B8D3-2CE0-C016B9CE8BB5}"/>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12A6329-3178-0F92-F57C-0652564788B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271374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648CFE5A-62F3-268F-FE08-80D21405EF4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93B61F8-CDB2-98ED-C050-D9E6CD55030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11342"/>
            <a:ext cx="8053711" cy="37764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19" name="内容占位符 18">
            <a:extLst>
              <a:ext uri="{FF2B5EF4-FFF2-40B4-BE49-F238E27FC236}">
                <a16:creationId xmlns:a16="http://schemas.microsoft.com/office/drawing/2014/main" id="{12572548-FC54-1EE4-D1A7-DBB3B83700B9}"/>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1A1185CD-C165-C1D3-916E-1EBF6D4A1E9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6C3D615B-C4A5-4BB6-55E3-371CD566378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4DE44D-152D-0B1C-3E5C-C2CD9AE2DE7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DE32B770-9F71-07CF-AF47-A8AF3BA3D11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F699D5D-6CB2-9744-8F00-B5CF652D335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749F71FE-4395-08D3-2431-B8C6EFA5689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1573995-0A2D-04FA-3D07-16B8FDDC978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2179086F-F093-D0B1-C116-CDA7F7C1CC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DD78615-1EA8-B30B-7B08-748C806193A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8" y="587638"/>
            <a:ext cx="40703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endParaRPr lang="zh-CN" altLang="en-US" sz="20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56963" y="986547"/>
            <a:ext cx="8048776"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最大报文段长度 </a:t>
            </a:r>
            <a:r>
              <a:rPr lang="en-US" altLang="zh-CN" sz="2000" b="1" dirty="0">
                <a:solidFill>
                  <a:srgbClr val="C00000"/>
                </a:solidFill>
                <a:latin typeface="微软雅黑" pitchFamily="34" charset="-122"/>
                <a:ea typeface="微软雅黑" pitchFamily="34" charset="-122"/>
              </a:rPr>
              <a:t>MSS  </a:t>
            </a:r>
            <a:r>
              <a:rPr lang="en-US" altLang="zh-CN" sz="2000" b="1" dirty="0">
                <a:latin typeface="微软雅黑" pitchFamily="34" charset="-122"/>
                <a:ea typeface="微软雅黑" pitchFamily="34" charset="-122"/>
              </a:rPr>
              <a:t>(Maximum Segment Size) </a:t>
            </a:r>
            <a:r>
              <a:rPr lang="zh-CN" altLang="en-US" sz="2000" b="1" dirty="0">
                <a:latin typeface="微软雅黑" pitchFamily="34" charset="-122"/>
                <a:ea typeface="微软雅黑" pitchFamily="34" charset="-122"/>
              </a:rPr>
              <a:t>是每个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报文段中的</a:t>
            </a:r>
            <a:r>
              <a:rPr lang="zh-CN" altLang="en-US" sz="2000" b="1" dirty="0">
                <a:solidFill>
                  <a:srgbClr val="0000FF"/>
                </a:solidFill>
                <a:latin typeface="微软雅黑" pitchFamily="34" charset="-122"/>
                <a:ea typeface="微软雅黑" pitchFamily="34" charset="-122"/>
              </a:rPr>
              <a:t>数据字段</a:t>
            </a:r>
            <a:r>
              <a:rPr lang="zh-CN" altLang="en-US" sz="2000" b="1" dirty="0">
                <a:latin typeface="微软雅黑" pitchFamily="34" charset="-122"/>
                <a:ea typeface="微软雅黑" pitchFamily="34" charset="-122"/>
              </a:rPr>
              <a:t>的最大长度。</a:t>
            </a:r>
            <a:endParaRPr lang="en-US" altLang="zh-CN" sz="2000" b="1" dirty="0">
              <a:latin typeface="微软雅黑" pitchFamily="34" charset="-122"/>
              <a:ea typeface="微软雅黑" pitchFamily="34" charset="-122"/>
            </a:endParaRPr>
          </a:p>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与接收窗口值没有关系。</a:t>
            </a:r>
            <a:endParaRPr lang="en-US" altLang="zh-CN" sz="2000" b="1" dirty="0">
              <a:solidFill>
                <a:srgbClr val="C00000"/>
              </a:solidFill>
              <a:latin typeface="微软雅黑" pitchFamily="34" charset="-122"/>
              <a:ea typeface="微软雅黑" pitchFamily="34" charset="-122"/>
            </a:endParaRPr>
          </a:p>
        </p:txBody>
      </p:sp>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7" y="587638"/>
            <a:ext cx="40703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p>
        </p:txBody>
      </p:sp>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15" name="内容占位符 14">
            <a:extLst>
              <a:ext uri="{FF2B5EF4-FFF2-40B4-BE49-F238E27FC236}">
                <a16:creationId xmlns:a16="http://schemas.microsoft.com/office/drawing/2014/main" id="{1F32BC04-D50D-B590-CB97-76046027AE1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F6FEF21-7840-90F7-8168-9D93A606ECD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8"/>
            <a:ext cx="8053712" cy="256503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1761080"/>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412817"/>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132388"/>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494238"/>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2862709"/>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451662"/>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284116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2713620"/>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081143"/>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57" name="矩形 56"/>
          <p:cNvSpPr/>
          <p:nvPr/>
        </p:nvSpPr>
        <p:spPr>
          <a:xfrm>
            <a:off x="1777021" y="3565515"/>
            <a:ext cx="6102957" cy="1092607"/>
          </a:xfrm>
          <a:prstGeom prst="rect">
            <a:avLst/>
          </a:prstGeom>
        </p:spPr>
        <p:txBody>
          <a:bodyPr wrap="square">
            <a:spAutoFit/>
          </a:bodyPr>
          <a:lstStyle/>
          <a:p>
            <a:pPr>
              <a:lnSpc>
                <a:spcPts val="2600"/>
              </a:lnSpc>
              <a:buClr>
                <a:srgbClr val="0070C0"/>
              </a:buClr>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窗口字段长度</a:t>
            </a:r>
            <a:r>
              <a:rPr lang="en-US" altLang="zh-CN" b="1" dirty="0">
                <a:latin typeface="微软雅黑" pitchFamily="34" charset="-122"/>
                <a:ea typeface="微软雅黑" pitchFamily="34" charset="-122"/>
              </a:rPr>
              <a:t>= 16 </a:t>
            </a:r>
            <a:r>
              <a:rPr lang="zh-CN" altLang="en-US" b="1" dirty="0">
                <a:latin typeface="微软雅黑" pitchFamily="34" charset="-122"/>
                <a:ea typeface="微软雅黑" pitchFamily="34" charset="-122"/>
              </a:rPr>
              <a:t>位，最大窗口大小 </a:t>
            </a:r>
            <a:r>
              <a:rPr lang="en-US" altLang="zh-CN" b="1" dirty="0">
                <a:latin typeface="微软雅黑" pitchFamily="34" charset="-122"/>
                <a:ea typeface="微软雅黑" pitchFamily="34" charset="-122"/>
              </a:rPr>
              <a:t>= 64 K </a:t>
            </a:r>
            <a:r>
              <a:rPr lang="zh-CN" altLang="en-US" b="1" dirty="0">
                <a:latin typeface="微软雅黑" pitchFamily="34" charset="-122"/>
                <a:ea typeface="微软雅黑" pitchFamily="34" charset="-122"/>
              </a:rPr>
              <a:t>字节。</a:t>
            </a:r>
          </a:p>
          <a:p>
            <a:pPr>
              <a:lnSpc>
                <a:spcPts val="2600"/>
              </a:lnSpc>
              <a:buClr>
                <a:srgbClr val="0070C0"/>
              </a:buClr>
            </a:pPr>
            <a:r>
              <a:rPr lang="zh-CN" altLang="en-US" b="1" dirty="0">
                <a:latin typeface="微软雅黑" pitchFamily="34" charset="-122"/>
                <a:ea typeface="微软雅黑" pitchFamily="34" charset="-122"/>
              </a:rPr>
              <a:t>对于传播时延和带宽都很大的网络，为获得高吞吐率较，需要更大的窗口。</a:t>
            </a:r>
            <a:endParaRPr lang="en-US" altLang="zh-CN" b="1" dirty="0">
              <a:latin typeface="微软雅黑" pitchFamily="34" charset="-122"/>
              <a:ea typeface="微软雅黑" pitchFamily="34" charset="-122"/>
            </a:endParaRPr>
          </a:p>
        </p:txBody>
      </p:sp>
      <p:sp>
        <p:nvSpPr>
          <p:cNvPr id="22" name="内容占位符 21">
            <a:extLst>
              <a:ext uri="{FF2B5EF4-FFF2-40B4-BE49-F238E27FC236}">
                <a16:creationId xmlns:a16="http://schemas.microsoft.com/office/drawing/2014/main" id="{42914F57-8130-40BE-3151-A7409D9B7B88}"/>
              </a:ext>
            </a:extLst>
          </p:cNvPr>
          <p:cNvSpPr>
            <a:spLocks noGrp="1"/>
          </p:cNvSpPr>
          <p:nvPr>
            <p:ph sz="quarter" idx="11"/>
          </p:nvPr>
        </p:nvSpPr>
        <p:spPr/>
        <p:txBody>
          <a:bodyPr/>
          <a:lstStyle/>
          <a:p>
            <a:endParaRPr lang="zh-CN" altLang="en-US"/>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9"/>
            <a:ext cx="8053712" cy="197526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2086530"/>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sp>
        <p:nvSpPr>
          <p:cNvPr id="57" name="矩形 56"/>
          <p:cNvSpPr/>
          <p:nvPr/>
        </p:nvSpPr>
        <p:spPr>
          <a:xfrm>
            <a:off x="1129553" y="2969860"/>
            <a:ext cx="7420837" cy="1426031"/>
          </a:xfrm>
          <a:prstGeom prst="rect">
            <a:avLst/>
          </a:prstGeom>
        </p:spPr>
        <p:txBody>
          <a:bodyPr wrap="square">
            <a:spAutoFit/>
          </a:bodyPr>
          <a:lstStyle/>
          <a:p>
            <a:pPr>
              <a:lnSpc>
                <a:spcPts val="2600"/>
              </a:lnSpc>
              <a:buClr>
                <a:srgbClr val="0070C0"/>
              </a:buClr>
            </a:pPr>
            <a:r>
              <a:rPr lang="zh-CN" altLang="en-US" sz="1700" b="1" dirty="0">
                <a:solidFill>
                  <a:srgbClr val="C00000"/>
                </a:solidFill>
                <a:latin typeface="微软雅黑" pitchFamily="34" charset="-122"/>
                <a:ea typeface="微软雅黑" pitchFamily="34" charset="-122"/>
              </a:rPr>
              <a:t>窗口扩大选项：</a:t>
            </a:r>
            <a:r>
              <a:rPr lang="zh-CN" altLang="en-US" sz="1700" b="1" dirty="0">
                <a:latin typeface="微软雅黑" pitchFamily="34" charset="-122"/>
                <a:ea typeface="微软雅黑" pitchFamily="34" charset="-122"/>
              </a:rPr>
              <a:t>占 </a:t>
            </a:r>
            <a:r>
              <a:rPr lang="en-US" altLang="zh-CN" sz="1700" b="1" dirty="0">
                <a:latin typeface="微软雅黑" pitchFamily="34" charset="-122"/>
                <a:ea typeface="微软雅黑" pitchFamily="34" charset="-122"/>
              </a:rPr>
              <a:t>3 </a:t>
            </a:r>
            <a:r>
              <a:rPr lang="zh-CN" altLang="en-US" sz="1700" b="1" dirty="0">
                <a:latin typeface="微软雅黑" pitchFamily="34" charset="-122"/>
                <a:ea typeface="微软雅黑" pitchFamily="34" charset="-122"/>
              </a:rPr>
              <a:t>字节，其中一个字节表示</a:t>
            </a:r>
            <a:r>
              <a:rPr lang="zh-CN" altLang="en-US" sz="1700" b="1" dirty="0">
                <a:solidFill>
                  <a:srgbClr val="0000FF"/>
                </a:solidFill>
                <a:latin typeface="微软雅黑" pitchFamily="34" charset="-122"/>
                <a:ea typeface="微软雅黑" pitchFamily="34" charset="-122"/>
              </a:rPr>
              <a:t>移位值 </a:t>
            </a:r>
            <a:r>
              <a:rPr lang="en-US" altLang="zh-CN" sz="1700" b="1" dirty="0">
                <a:solidFill>
                  <a:srgbClr val="0000FF"/>
                </a:solidFill>
                <a:latin typeface="微软雅黑" pitchFamily="34" charset="-122"/>
                <a:ea typeface="微软雅黑" pitchFamily="34" charset="-122"/>
              </a:rPr>
              <a:t>S</a:t>
            </a:r>
            <a:r>
              <a:rPr lang="zh-CN" altLang="en-US" sz="1700" b="1" dirty="0">
                <a:solidFill>
                  <a:srgbClr val="0000FF"/>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新的窗口值位数从 </a:t>
            </a:r>
            <a:r>
              <a:rPr lang="en-US" altLang="zh-CN" sz="1700" b="1" dirty="0">
                <a:latin typeface="微软雅黑" pitchFamily="34" charset="-122"/>
                <a:ea typeface="微软雅黑" pitchFamily="34" charset="-122"/>
              </a:rPr>
              <a:t>16 </a:t>
            </a:r>
            <a:r>
              <a:rPr lang="zh-CN" altLang="en-US" sz="1700" b="1" dirty="0">
                <a:latin typeface="微软雅黑" pitchFamily="34" charset="-122"/>
                <a:ea typeface="微软雅黑" pitchFamily="34" charset="-122"/>
              </a:rPr>
              <a:t>增大到 </a:t>
            </a:r>
            <a:r>
              <a:rPr lang="en-US" altLang="zh-CN" sz="1700" b="1" dirty="0">
                <a:solidFill>
                  <a:srgbClr val="C00000"/>
                </a:solidFill>
                <a:latin typeface="微软雅黑" pitchFamily="34" charset="-122"/>
                <a:ea typeface="微软雅黑" pitchFamily="34" charset="-122"/>
              </a:rPr>
              <a:t>(16 + S)</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相当于把窗口值</a:t>
            </a:r>
            <a:r>
              <a:rPr lang="zh-CN" altLang="en-US" sz="1700" b="1" dirty="0">
                <a:solidFill>
                  <a:srgbClr val="C00000"/>
                </a:solidFill>
                <a:latin typeface="微软雅黑" pitchFamily="34" charset="-122"/>
                <a:ea typeface="微软雅黑" pitchFamily="34" charset="-122"/>
              </a:rPr>
              <a:t>向左移动 </a:t>
            </a:r>
            <a:r>
              <a:rPr lang="en-US" altLang="zh-CN" sz="1700" b="1" dirty="0">
                <a:solidFill>
                  <a:srgbClr val="C00000"/>
                </a:solidFill>
                <a:latin typeface="微软雅黑" pitchFamily="34" charset="-122"/>
                <a:ea typeface="微软雅黑" pitchFamily="34" charset="-122"/>
              </a:rPr>
              <a:t>S </a:t>
            </a:r>
            <a:r>
              <a:rPr lang="zh-CN" altLang="en-US" sz="1700" b="1" dirty="0">
                <a:solidFill>
                  <a:srgbClr val="C00000"/>
                </a:solidFill>
                <a:latin typeface="微软雅黑" pitchFamily="34" charset="-122"/>
                <a:ea typeface="微软雅黑" pitchFamily="34" charset="-122"/>
              </a:rPr>
              <a:t>位。</a:t>
            </a:r>
          </a:p>
          <a:p>
            <a:pPr>
              <a:lnSpc>
                <a:spcPts val="2600"/>
              </a:lnSpc>
              <a:buClr>
                <a:srgbClr val="0070C0"/>
              </a:buClr>
            </a:pPr>
            <a:r>
              <a:rPr lang="zh-CN" altLang="en-US" sz="1700" b="1" dirty="0">
                <a:latin typeface="微软雅黑" pitchFamily="34" charset="-122"/>
                <a:ea typeface="微软雅黑" pitchFamily="34" charset="-122"/>
              </a:rPr>
              <a:t>移位值允许使用的</a:t>
            </a:r>
            <a:r>
              <a:rPr lang="zh-CN" altLang="en-US" sz="1700" b="1" dirty="0">
                <a:solidFill>
                  <a:srgbClr val="C00000"/>
                </a:solidFill>
                <a:latin typeface="微软雅黑" pitchFamily="34" charset="-122"/>
                <a:ea typeface="微软雅黑" pitchFamily="34" charset="-122"/>
              </a:rPr>
              <a:t>最大值是 </a:t>
            </a:r>
            <a:r>
              <a:rPr lang="en-US" altLang="zh-CN" sz="1700" b="1" dirty="0">
                <a:solidFill>
                  <a:srgbClr val="C00000"/>
                </a:solidFill>
                <a:latin typeface="微软雅黑" pitchFamily="34" charset="-122"/>
                <a:ea typeface="微软雅黑" pitchFamily="34" charset="-122"/>
              </a:rPr>
              <a:t>14</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窗口最大值增大到 </a:t>
            </a:r>
            <a:r>
              <a:rPr lang="en-US" altLang="zh-CN" sz="1700" b="1" dirty="0">
                <a:latin typeface="微软雅黑" pitchFamily="34" charset="-122"/>
                <a:ea typeface="微软雅黑" pitchFamily="34" charset="-122"/>
              </a:rPr>
              <a:t>2</a:t>
            </a:r>
            <a:r>
              <a:rPr lang="en-US" altLang="zh-CN" sz="1700" b="1" baseline="30000" dirty="0">
                <a:latin typeface="微软雅黑" pitchFamily="34" charset="-122"/>
                <a:ea typeface="微软雅黑" pitchFamily="34" charset="-122"/>
              </a:rPr>
              <a:t>(16 + 14)</a:t>
            </a:r>
            <a:r>
              <a:rPr lang="en-US" altLang="zh-CN" sz="1700" b="1" dirty="0">
                <a:latin typeface="微软雅黑" pitchFamily="34" charset="-122"/>
                <a:ea typeface="微软雅黑" pitchFamily="34" charset="-122"/>
              </a:rPr>
              <a:t> – 1 = </a:t>
            </a:r>
            <a:r>
              <a:rPr lang="en-US" altLang="zh-CN" sz="1700" b="1" dirty="0">
                <a:solidFill>
                  <a:srgbClr val="C00000"/>
                </a:solidFill>
                <a:latin typeface="微软雅黑" pitchFamily="34" charset="-122"/>
                <a:ea typeface="微软雅黑" pitchFamily="34" charset="-122"/>
              </a:rPr>
              <a:t>2</a:t>
            </a:r>
            <a:r>
              <a:rPr lang="en-US" altLang="zh-CN" sz="1700" b="1" baseline="30000" dirty="0">
                <a:solidFill>
                  <a:srgbClr val="C00000"/>
                </a:solidFill>
                <a:latin typeface="微软雅黑" pitchFamily="34" charset="-122"/>
                <a:ea typeface="微软雅黑" pitchFamily="34" charset="-122"/>
              </a:rPr>
              <a:t>30</a:t>
            </a:r>
            <a:r>
              <a:rPr lang="en-US" altLang="zh-CN" sz="1700" b="1" dirty="0">
                <a:solidFill>
                  <a:srgbClr val="C00000"/>
                </a:solidFill>
                <a:latin typeface="微软雅黑" pitchFamily="34" charset="-122"/>
                <a:ea typeface="微软雅黑" pitchFamily="34" charset="-122"/>
              </a:rPr>
              <a:t> – 1</a:t>
            </a:r>
            <a:r>
              <a:rPr lang="zh-CN" altLang="en-US" sz="1700" b="1" dirty="0">
                <a:solidFill>
                  <a:srgbClr val="C00000"/>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窗口扩大选项可以在双方初始建立 </a:t>
            </a:r>
            <a:r>
              <a:rPr lang="en-US" altLang="zh-CN" sz="1700" b="1" dirty="0">
                <a:latin typeface="微软雅黑" pitchFamily="34" charset="-122"/>
                <a:ea typeface="微软雅黑" pitchFamily="34" charset="-122"/>
              </a:rPr>
              <a:t>TCP </a:t>
            </a:r>
            <a:r>
              <a:rPr lang="zh-CN" altLang="en-US" sz="1700" b="1" dirty="0">
                <a:latin typeface="微软雅黑" pitchFamily="34" charset="-122"/>
                <a:ea typeface="微软雅黑" pitchFamily="34" charset="-122"/>
              </a:rPr>
              <a:t>连接时进行协商。</a:t>
            </a:r>
          </a:p>
        </p:txBody>
      </p:sp>
      <p:grpSp>
        <p:nvGrpSpPr>
          <p:cNvPr id="4" name="组合 3"/>
          <p:cNvGrpSpPr/>
          <p:nvPr/>
        </p:nvGrpSpPr>
        <p:grpSpPr>
          <a:xfrm>
            <a:off x="2402902" y="1412818"/>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p:txBody>
          <a:bodyPr/>
          <a:lstStyle/>
          <a:p>
            <a:endParaRPr lang="zh-CN" altLang="en-US"/>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3745" y="587638"/>
            <a:ext cx="23952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8</a:t>
            </a:r>
            <a:r>
              <a:rPr lang="zh-CN" altLang="en-US" sz="2000" b="1" dirty="0">
                <a:solidFill>
                  <a:schemeClr val="bg1"/>
                </a:solidFill>
                <a:latin typeface="微软雅黑" pitchFamily="34" charset="-122"/>
                <a:ea typeface="微软雅黑" pitchFamily="34" charset="-122"/>
              </a:rPr>
              <a:t>）：时间戳</a:t>
            </a:r>
          </a:p>
        </p:txBody>
      </p:sp>
      <p:sp>
        <p:nvSpPr>
          <p:cNvPr id="4" name="Rectangle 8"/>
          <p:cNvSpPr>
            <a:spLocks noChangeArrowheads="1"/>
          </p:cNvSpPr>
          <p:nvPr/>
        </p:nvSpPr>
        <p:spPr bwMode="auto">
          <a:xfrm>
            <a:off x="556963" y="986547"/>
            <a:ext cx="8048776" cy="3298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占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字节。最主要的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个字段：</a:t>
            </a:r>
            <a:endParaRPr lang="en-US" altLang="zh-CN" sz="2000" b="1" dirty="0">
              <a:latin typeface="微软雅黑" pitchFamily="34" charset="-122"/>
              <a:ea typeface="微软雅黑" pitchFamily="34" charset="-122"/>
            </a:endParaRPr>
          </a:p>
          <a:p>
            <a:pPr>
              <a:lnSpc>
                <a:spcPts val="3000"/>
              </a:lnSpc>
              <a:buClr>
                <a:srgbClr val="0070C0"/>
              </a:buClr>
            </a:pPr>
            <a:r>
              <a:rPr lang="en-US" altLang="zh-CN" sz="2000" b="1" dirty="0">
                <a:latin typeface="微软雅黑" pitchFamily="34" charset="-122"/>
                <a:ea typeface="微软雅黑" pitchFamily="34" charset="-122"/>
              </a:rPr>
              <a:t>	</a:t>
            </a:r>
            <a:r>
              <a:rPr lang="zh-CN" altLang="en-US" sz="2000" b="1" dirty="0">
                <a:solidFill>
                  <a:srgbClr val="0000CC"/>
                </a:solidFill>
                <a:latin typeface="微软雅黑" pitchFamily="34" charset="-122"/>
                <a:ea typeface="微软雅黑" pitchFamily="34" charset="-122"/>
              </a:rPr>
              <a:t>时间戳值字段</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字节）和</a:t>
            </a:r>
            <a:r>
              <a:rPr lang="zh-CN" altLang="en-US" sz="2000" b="1" dirty="0">
                <a:solidFill>
                  <a:srgbClr val="0000CC"/>
                </a:solidFill>
                <a:latin typeface="微软雅黑" pitchFamily="34" charset="-122"/>
                <a:ea typeface="微软雅黑" pitchFamily="34" charset="-122"/>
              </a:rPr>
              <a:t>时间戳回送回答</a:t>
            </a:r>
            <a:r>
              <a:rPr lang="zh-CN" altLang="en-US" sz="2000" b="1" dirty="0">
                <a:latin typeface="微软雅黑" pitchFamily="34" charset="-122"/>
                <a:ea typeface="微软雅黑" pitchFamily="34" charset="-122"/>
              </a:rPr>
              <a:t>字段（</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个主要功能：</a:t>
            </a:r>
            <a:endParaRPr lang="en-US" altLang="zh-CN" sz="2000" b="1" dirty="0">
              <a:latin typeface="微软雅黑" pitchFamily="34" charset="-122"/>
              <a:ea typeface="微软雅黑" pitchFamily="34" charset="-122"/>
            </a:endParaRP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计算往返时间 </a:t>
            </a:r>
            <a:r>
              <a:rPr lang="en-US" altLang="zh-CN" sz="2000" b="1" dirty="0">
                <a:latin typeface="微软雅黑" pitchFamily="34" charset="-122"/>
                <a:ea typeface="微软雅黑" pitchFamily="34" charset="-122"/>
              </a:rPr>
              <a:t>RTT</a:t>
            </a: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防止序号绕回 </a:t>
            </a:r>
            <a:r>
              <a:rPr lang="en-US" altLang="zh-CN" sz="2000" b="1" dirty="0">
                <a:latin typeface="微软雅黑" pitchFamily="34" charset="-122"/>
                <a:ea typeface="微软雅黑" pitchFamily="34" charset="-122"/>
              </a:rPr>
              <a:t>PAWS (Protect Against Wrapped Sequence numbers)</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990600" lvl="1" indent="-342900">
              <a:lnSpc>
                <a:spcPts val="3200"/>
              </a:lnSpc>
              <a:buClr>
                <a:srgbClr val="993300"/>
              </a:buClr>
              <a:buSzPct val="80000"/>
              <a:buFont typeface="Wingdings" panose="05000000000000000000" pitchFamily="2" charset="2"/>
              <a:buChar char="p"/>
            </a:pPr>
            <a:r>
              <a:rPr lang="zh-CN" altLang="en-US" sz="2000" b="1" dirty="0">
                <a:latin typeface="微软雅黑" pitchFamily="34" charset="-122"/>
                <a:ea typeface="微软雅黑" pitchFamily="34" charset="-122"/>
              </a:rPr>
              <a:t>序号重复时，为了使接收方能够把</a:t>
            </a:r>
            <a:r>
              <a:rPr lang="zh-CN" altLang="en-US" sz="2000" b="1" dirty="0">
                <a:solidFill>
                  <a:srgbClr val="C00000"/>
                </a:solidFill>
                <a:latin typeface="微软雅黑" pitchFamily="34" charset="-122"/>
                <a:ea typeface="微软雅黑" pitchFamily="34" charset="-122"/>
              </a:rPr>
              <a:t>新报文段</a:t>
            </a:r>
            <a:r>
              <a:rPr lang="zh-CN" altLang="en-US" sz="2000" b="1" dirty="0">
                <a:latin typeface="微软雅黑" pitchFamily="34" charset="-122"/>
                <a:ea typeface="微软雅黑" pitchFamily="34" charset="-122"/>
              </a:rPr>
              <a:t>和迟到很久的</a:t>
            </a:r>
            <a:r>
              <a:rPr lang="zh-CN" altLang="en-US" sz="2000" b="1" dirty="0">
                <a:solidFill>
                  <a:srgbClr val="C00000"/>
                </a:solidFill>
                <a:latin typeface="微软雅黑" pitchFamily="34" charset="-122"/>
                <a:ea typeface="微软雅黑" pitchFamily="34" charset="-122"/>
              </a:rPr>
              <a:t>旧报文段</a:t>
            </a:r>
            <a:r>
              <a:rPr lang="zh-CN" altLang="en-US" sz="2000" b="1" dirty="0">
                <a:latin typeface="微软雅黑" pitchFamily="34" charset="-122"/>
                <a:ea typeface="微软雅黑" pitchFamily="34" charset="-122"/>
              </a:rPr>
              <a:t>区分开，可以在报文段中加上时间戳。</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953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5" name="Rectangle 6"/>
          <p:cNvSpPr>
            <a:spLocks noChangeArrowheads="1"/>
          </p:cNvSpPr>
          <p:nvPr/>
        </p:nvSpPr>
        <p:spPr bwMode="auto">
          <a:xfrm>
            <a:off x="2277946" y="586409"/>
            <a:ext cx="458811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5.6.1   </a:t>
            </a:r>
            <a:r>
              <a:rPr lang="zh-CN" altLang="en-US" sz="2400" b="1" dirty="0">
                <a:solidFill>
                  <a:schemeClr val="bg1"/>
                </a:solidFill>
                <a:latin typeface="微软雅黑" pitchFamily="34" charset="-122"/>
                <a:ea typeface="微软雅黑" pitchFamily="34" charset="-122"/>
              </a:rPr>
              <a:t>以字节为单位的滑动窗口</a:t>
            </a:r>
          </a:p>
        </p:txBody>
      </p:sp>
      <p:sp>
        <p:nvSpPr>
          <p:cNvPr id="36" name="Rectangle 8"/>
          <p:cNvSpPr>
            <a:spLocks noChangeArrowheads="1"/>
          </p:cNvSpPr>
          <p:nvPr/>
        </p:nvSpPr>
        <p:spPr bwMode="auto">
          <a:xfrm>
            <a:off x="556963" y="1032561"/>
            <a:ext cx="8048776"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使用流水线传输和滑动窗口协议实现高效、可靠的传输。</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的滑动窗口是</a:t>
            </a:r>
            <a:r>
              <a:rPr lang="zh-CN" altLang="en-US" sz="2000" b="1" dirty="0">
                <a:solidFill>
                  <a:srgbClr val="C00000"/>
                </a:solidFill>
                <a:latin typeface="微软雅黑" pitchFamily="34" charset="-122"/>
                <a:ea typeface="微软雅黑" pitchFamily="34" charset="-122"/>
              </a:rPr>
              <a:t>以字节为单位</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和接收方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分别维持一个</a:t>
            </a: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和一个</a:t>
            </a:r>
            <a:r>
              <a:rPr lang="zh-CN" altLang="en-US" sz="2000" b="1" dirty="0">
                <a:solidFill>
                  <a:srgbClr val="C00000"/>
                </a:solidFill>
                <a:latin typeface="微软雅黑" pitchFamily="34" charset="-122"/>
                <a:ea typeface="微软雅黑" pitchFamily="34" charset="-122"/>
              </a:rPr>
              <a:t>接收窗口。</a:t>
            </a:r>
            <a:endParaRPr lang="en-US" altLang="zh-CN" sz="2000" b="1" dirty="0">
              <a:solidFill>
                <a:srgbClr val="C00000"/>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：在没有收到确认的情况下，发送方可以</a:t>
            </a:r>
            <a:r>
              <a:rPr lang="zh-CN" altLang="en-US" sz="2000" b="1" dirty="0">
                <a:solidFill>
                  <a:srgbClr val="C00000"/>
                </a:solidFill>
                <a:latin typeface="微软雅黑" pitchFamily="34" charset="-122"/>
                <a:ea typeface="微软雅黑" pitchFamily="34" charset="-122"/>
              </a:rPr>
              <a:t>连续</a:t>
            </a:r>
            <a:r>
              <a:rPr lang="zh-CN" altLang="en-US" sz="2000" b="1" dirty="0">
                <a:latin typeface="微软雅黑" pitchFamily="34" charset="-122"/>
                <a:ea typeface="微软雅黑" pitchFamily="34" charset="-122"/>
              </a:rPr>
              <a:t>把窗口内的数据</a:t>
            </a:r>
            <a:r>
              <a:rPr lang="zh-CN" altLang="en-US" sz="2000" b="1" dirty="0">
                <a:solidFill>
                  <a:srgbClr val="C00000"/>
                </a:solidFill>
                <a:latin typeface="微软雅黑" pitchFamily="34" charset="-122"/>
                <a:ea typeface="微软雅黑" pitchFamily="34" charset="-122"/>
              </a:rPr>
              <a:t>全部发送</a:t>
            </a:r>
            <a:r>
              <a:rPr lang="zh-CN" altLang="en-US" sz="2000" b="1" dirty="0">
                <a:latin typeface="微软雅黑" pitchFamily="34" charset="-122"/>
                <a:ea typeface="微软雅黑" pitchFamily="34" charset="-122"/>
              </a:rPr>
              <a:t>出去。凡是已经发送过的数据，在未收到确认之前都必须</a:t>
            </a:r>
            <a:r>
              <a:rPr lang="zh-CN" altLang="en-US" sz="2000" b="1" dirty="0">
                <a:solidFill>
                  <a:srgbClr val="C00000"/>
                </a:solidFill>
                <a:latin typeface="微软雅黑" pitchFamily="34" charset="-122"/>
                <a:ea typeface="微软雅黑" pitchFamily="34" charset="-122"/>
              </a:rPr>
              <a:t>暂时保留，</a:t>
            </a:r>
            <a:r>
              <a:rPr lang="zh-CN" altLang="en-US" sz="2000" b="1" dirty="0">
                <a:latin typeface="微软雅黑" pitchFamily="34" charset="-122"/>
                <a:ea typeface="微软雅黑" pitchFamily="34" charset="-122"/>
              </a:rPr>
              <a:t>以便在超时重传时使用。</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接收窗口</a:t>
            </a:r>
            <a:r>
              <a:rPr lang="zh-CN" altLang="en-US" sz="2000" b="1" dirty="0">
                <a:latin typeface="微软雅黑" pitchFamily="34" charset="-122"/>
                <a:ea typeface="微软雅黑" pitchFamily="34" charset="-122"/>
              </a:rPr>
              <a:t>：只允许接收</a:t>
            </a:r>
            <a:r>
              <a:rPr lang="zh-CN" altLang="en-US" sz="2000" b="1" dirty="0">
                <a:solidFill>
                  <a:srgbClr val="C00000"/>
                </a:solidFill>
                <a:latin typeface="微软雅黑" pitchFamily="34" charset="-122"/>
                <a:ea typeface="微软雅黑" pitchFamily="34" charset="-122"/>
              </a:rPr>
              <a:t>落入</a:t>
            </a:r>
            <a:r>
              <a:rPr lang="zh-CN" altLang="en-US" sz="2000" b="1" dirty="0">
                <a:latin typeface="微软雅黑" pitchFamily="34" charset="-122"/>
                <a:ea typeface="微软雅黑" pitchFamily="34" charset="-122"/>
              </a:rPr>
              <a:t>窗口内的数据。</a:t>
            </a:r>
            <a:endParaRPr lang="en-US" altLang="zh-CN" sz="2000" b="1" dirty="0">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B5FFE7D8-747E-C918-E197-E6B9CD508F5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59"/>
            <a:ext cx="8053712" cy="339864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2"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57" name="内容占位符 56">
            <a:extLst>
              <a:ext uri="{FF2B5EF4-FFF2-40B4-BE49-F238E27FC236}">
                <a16:creationId xmlns:a16="http://schemas.microsoft.com/office/drawing/2014/main" id="{302B7657-CDC8-4EB3-FF47-047C3840AB2C}"/>
              </a:ext>
            </a:extLst>
          </p:cNvPr>
          <p:cNvSpPr>
            <a:spLocks noGrp="1"/>
          </p:cNvSpPr>
          <p:nvPr>
            <p:ph sz="quarter" idx="11"/>
          </p:nvPr>
        </p:nvSpPr>
        <p:spPr/>
        <p:txBody>
          <a:bodyPr/>
          <a:lstStyle/>
          <a:p>
            <a:endParaRPr lang="zh-CN" altLang="en-US"/>
          </a:p>
        </p:txBody>
      </p:sp>
      <p:sp>
        <p:nvSpPr>
          <p:cNvPr id="56" name="标题 55">
            <a:extLst>
              <a:ext uri="{FF2B5EF4-FFF2-40B4-BE49-F238E27FC236}">
                <a16:creationId xmlns:a16="http://schemas.microsoft.com/office/drawing/2014/main" id="{6B451BB3-EB47-DEB5-3380-F873DC9CDA7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60"/>
            <a:ext cx="8053712" cy="339264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3"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67" name="内容占位符 66">
            <a:extLst>
              <a:ext uri="{FF2B5EF4-FFF2-40B4-BE49-F238E27FC236}">
                <a16:creationId xmlns:a16="http://schemas.microsoft.com/office/drawing/2014/main" id="{7D947513-D325-57EC-980D-63CFD02B3334}"/>
              </a:ext>
            </a:extLst>
          </p:cNvPr>
          <p:cNvSpPr>
            <a:spLocks noGrp="1"/>
          </p:cNvSpPr>
          <p:nvPr>
            <p:ph sz="quarter" idx="11"/>
          </p:nvPr>
        </p:nvSpPr>
        <p:spPr/>
        <p:txBody>
          <a:bodyPr/>
          <a:lstStyle/>
          <a:p>
            <a:endParaRPr lang="zh-CN" altLang="en-US"/>
          </a:p>
        </p:txBody>
      </p:sp>
      <p:sp>
        <p:nvSpPr>
          <p:cNvPr id="66" name="标题 65">
            <a:extLst>
              <a:ext uri="{FF2B5EF4-FFF2-40B4-BE49-F238E27FC236}">
                <a16:creationId xmlns:a16="http://schemas.microsoft.com/office/drawing/2014/main" id="{9908F342-509C-2EAA-91C3-31BA9F654F1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0959"/>
            <a:ext cx="8053712" cy="344346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12" name="内容占位符 11">
            <a:extLst>
              <a:ext uri="{FF2B5EF4-FFF2-40B4-BE49-F238E27FC236}">
                <a16:creationId xmlns:a16="http://schemas.microsoft.com/office/drawing/2014/main" id="{55A53329-0EEC-6BA9-980B-9FEBCC8EAA10}"/>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D55F9C17-FA89-AC51-5688-ABD97CA0CC8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接收窗口</a:t>
            </a:r>
          </a:p>
        </p:txBody>
      </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8" name="内容占位符 7">
            <a:extLst>
              <a:ext uri="{FF2B5EF4-FFF2-40B4-BE49-F238E27FC236}">
                <a16:creationId xmlns:a16="http://schemas.microsoft.com/office/drawing/2014/main" id="{343472E6-2A72-603C-E3DB-9DE4E571ACD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487A45A-3E68-FC93-42BF-F9E4F812DCA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0" name="内容占位符 9">
            <a:extLst>
              <a:ext uri="{FF2B5EF4-FFF2-40B4-BE49-F238E27FC236}">
                <a16:creationId xmlns:a16="http://schemas.microsoft.com/office/drawing/2014/main" id="{952DB070-BA88-E395-7062-1444357EAA79}"/>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27129A50-21E6-220B-96DA-6B93438BD77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9" name="内容占位符 8">
            <a:extLst>
              <a:ext uri="{FF2B5EF4-FFF2-40B4-BE49-F238E27FC236}">
                <a16:creationId xmlns:a16="http://schemas.microsoft.com/office/drawing/2014/main" id="{DC05D432-B5BC-6B74-361D-A1A4C4B6B43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DD96DF20-6E00-FE9A-F1D3-4355285C018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11" name="内容占位符 10">
            <a:extLst>
              <a:ext uri="{FF2B5EF4-FFF2-40B4-BE49-F238E27FC236}">
                <a16:creationId xmlns:a16="http://schemas.microsoft.com/office/drawing/2014/main" id="{CABFF834-C504-3B45-F0C2-FF31498EADB0}"/>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1888B37F-FA52-D9E1-C542-9202FFFA2C4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0" name="内容占位符 9">
            <a:extLst>
              <a:ext uri="{FF2B5EF4-FFF2-40B4-BE49-F238E27FC236}">
                <a16:creationId xmlns:a16="http://schemas.microsoft.com/office/drawing/2014/main" id="{2CE6FA17-4F8F-CBFE-FF96-AEB3A517119B}"/>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ACFE2E86-8C4B-0874-81C9-7B38676B1E6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2" name="内容占位符 11">
            <a:extLst>
              <a:ext uri="{FF2B5EF4-FFF2-40B4-BE49-F238E27FC236}">
                <a16:creationId xmlns:a16="http://schemas.microsoft.com/office/drawing/2014/main" id="{218D7CB5-D745-0664-CE59-85E065458506}"/>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63BFBDE7-C12B-58AE-E76C-58E0992208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3" name="内容占位符 12">
            <a:extLst>
              <a:ext uri="{FF2B5EF4-FFF2-40B4-BE49-F238E27FC236}">
                <a16:creationId xmlns:a16="http://schemas.microsoft.com/office/drawing/2014/main" id="{7736E540-75E2-A69A-F619-1D840CA535AD}"/>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812BCE56-B6A3-028E-FE26-0D99C0589A7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8" name="内容占位符 7">
            <a:extLst>
              <a:ext uri="{FF2B5EF4-FFF2-40B4-BE49-F238E27FC236}">
                <a16:creationId xmlns:a16="http://schemas.microsoft.com/office/drawing/2014/main" id="{BB94F5CB-D3A8-091F-64DD-2D8423577B2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03C4A2B8-D090-1BE3-6FFE-BE76B0FC0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7" name="内容占位符 6">
            <a:extLst>
              <a:ext uri="{FF2B5EF4-FFF2-40B4-BE49-F238E27FC236}">
                <a16:creationId xmlns:a16="http://schemas.microsoft.com/office/drawing/2014/main" id="{E132A327-FB5C-8FB4-C6BD-D5F49CDD6D67}"/>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20F989CC-A567-7A27-52AB-8B84C9CBC12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19" name="圆角矩形 18"/>
          <p:cNvSpPr/>
          <p:nvPr/>
        </p:nvSpPr>
        <p:spPr>
          <a:xfrm>
            <a:off x="556963" y="1016059"/>
            <a:ext cx="8048776" cy="32152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5" name="内容占位符 14">
            <a:extLst>
              <a:ext uri="{FF2B5EF4-FFF2-40B4-BE49-F238E27FC236}">
                <a16:creationId xmlns:a16="http://schemas.microsoft.com/office/drawing/2014/main" id="{EE44ED0D-1C21-E435-80B3-DCBD8BCE7FCC}"/>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83854B0D-BF54-D45D-A1D1-E86B02B39FE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3" name="圆角矩形 42"/>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
        <p:nvSpPr>
          <p:cNvPr id="8" name="内容占位符 7">
            <a:extLst>
              <a:ext uri="{FF2B5EF4-FFF2-40B4-BE49-F238E27FC236}">
                <a16:creationId xmlns:a16="http://schemas.microsoft.com/office/drawing/2014/main" id="{2E03B27C-5227-B87C-F10B-03190C4CFEAA}"/>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C35BA838-399A-14EC-5F7B-CD258C0B16B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719577" y="58248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需要强调三点</a:t>
            </a:r>
          </a:p>
        </p:txBody>
      </p:sp>
      <p:sp>
        <p:nvSpPr>
          <p:cNvPr id="17" name="Rectangle 68"/>
          <p:cNvSpPr>
            <a:spLocks noChangeArrowheads="1"/>
          </p:cNvSpPr>
          <p:nvPr/>
        </p:nvSpPr>
        <p:spPr bwMode="auto">
          <a:xfrm>
            <a:off x="556963" y="97879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，发送窗口是根据接收窗口设置的，但在同一时刻，发送窗口并</a:t>
            </a:r>
            <a:r>
              <a:rPr lang="zh-CN" altLang="en-US" sz="2000" b="1" dirty="0">
                <a:solidFill>
                  <a:srgbClr val="C00000"/>
                </a:solidFill>
                <a:latin typeface="微软雅黑" pitchFamily="34" charset="-122"/>
                <a:ea typeface="微软雅黑" pitchFamily="34" charset="-122"/>
              </a:rPr>
              <a:t>不总是</a:t>
            </a:r>
            <a:r>
              <a:rPr lang="zh-CN" altLang="en-US" sz="2000" b="1" dirty="0">
                <a:latin typeface="微软雅黑" pitchFamily="34" charset="-122"/>
                <a:ea typeface="微软雅黑" pitchFamily="34" charset="-122"/>
              </a:rPr>
              <a:t>和接收窗口</a:t>
            </a:r>
            <a:r>
              <a:rPr lang="zh-CN" altLang="en-US" sz="2000" b="1" dirty="0">
                <a:solidFill>
                  <a:srgbClr val="C00000"/>
                </a:solidFill>
                <a:latin typeface="微软雅黑" pitchFamily="34" charset="-122"/>
                <a:ea typeface="微软雅黑" pitchFamily="34" charset="-122"/>
              </a:rPr>
              <a:t>一样大</a:t>
            </a:r>
            <a:r>
              <a:rPr lang="zh-CN" altLang="en-US" sz="2000" b="1" dirty="0">
                <a:latin typeface="微软雅黑" pitchFamily="34" charset="-122"/>
                <a:ea typeface="微软雅黑" pitchFamily="34" charset="-122"/>
              </a:rPr>
              <a:t>（因为有一定的时间滞后）。</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标准</a:t>
            </a:r>
            <a:r>
              <a:rPr lang="zh-CN" altLang="en-US" sz="2000" b="1" dirty="0">
                <a:solidFill>
                  <a:srgbClr val="C00000"/>
                </a:solidFill>
                <a:latin typeface="微软雅黑" pitchFamily="34" charset="-122"/>
                <a:ea typeface="微软雅黑" pitchFamily="34" charset="-122"/>
              </a:rPr>
              <a:t>没有规定</a:t>
            </a:r>
            <a:r>
              <a:rPr lang="zh-CN" altLang="en-US" sz="2000" b="1" dirty="0">
                <a:latin typeface="微软雅黑" pitchFamily="34" charset="-122"/>
                <a:ea typeface="微软雅黑" pitchFamily="34" charset="-122"/>
              </a:rPr>
              <a:t>对不按序到达的数据应如何处理。通常是先临时存放在接收窗口中，等到字节流中所缺少的字节收到后，再</a:t>
            </a:r>
            <a:r>
              <a:rPr lang="zh-CN" altLang="en-US" sz="2000" b="1" dirty="0">
                <a:solidFill>
                  <a:srgbClr val="C00000"/>
                </a:solidFill>
                <a:latin typeface="微软雅黑" pitchFamily="34" charset="-122"/>
                <a:ea typeface="微软雅黑" pitchFamily="34" charset="-122"/>
              </a:rPr>
              <a:t>按序交付</a:t>
            </a:r>
            <a:r>
              <a:rPr lang="zh-CN" altLang="en-US" sz="2000" b="1" dirty="0">
                <a:latin typeface="微软雅黑" pitchFamily="34" charset="-122"/>
                <a:ea typeface="微软雅黑" pitchFamily="34" charset="-122"/>
              </a:rPr>
              <a:t>上层的应用进程。</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第三</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要求接收方必须有</a:t>
            </a: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的功能，以减小传输开销。接收方可以在合适的时候发送确认，也可以在自己有数据要发送时把确认信息顺便</a:t>
            </a:r>
            <a:r>
              <a:rPr lang="zh-CN" altLang="en-US" sz="2000" b="1" dirty="0">
                <a:solidFill>
                  <a:srgbClr val="C00000"/>
                </a:solidFill>
                <a:latin typeface="微软雅黑" pitchFamily="34" charset="-122"/>
                <a:ea typeface="微软雅黑" pitchFamily="34" charset="-122"/>
              </a:rPr>
              <a:t>捎带</a:t>
            </a:r>
            <a:r>
              <a:rPr lang="zh-CN" altLang="en-US" sz="2000" b="1" dirty="0">
                <a:latin typeface="微软雅黑" pitchFamily="34" charset="-122"/>
                <a:ea typeface="微软雅黑" pitchFamily="34" charset="-122"/>
              </a:rPr>
              <a:t>上。但接收方</a:t>
            </a:r>
            <a:r>
              <a:rPr lang="zh-CN" altLang="en-US" sz="2000" b="1" dirty="0">
                <a:solidFill>
                  <a:srgbClr val="C00000"/>
                </a:solidFill>
                <a:latin typeface="微软雅黑" pitchFamily="34" charset="-122"/>
                <a:ea typeface="微软雅黑" pitchFamily="34" charset="-122"/>
              </a:rPr>
              <a:t>不应过分推迟</a:t>
            </a:r>
            <a:r>
              <a:rPr lang="zh-CN" altLang="en-US" sz="2000" b="1" dirty="0">
                <a:latin typeface="微软雅黑" pitchFamily="34" charset="-122"/>
                <a:ea typeface="微软雅黑" pitchFamily="34" charset="-122"/>
              </a:rPr>
              <a:t>发送确认，否则会导致发送方不必要的重传，</a:t>
            </a:r>
            <a:r>
              <a:rPr lang="zh-CN" altLang="en-US" sz="2000" b="1" dirty="0">
                <a:solidFill>
                  <a:srgbClr val="C00000"/>
                </a:solidFill>
                <a:latin typeface="微软雅黑" pitchFamily="34" charset="-122"/>
                <a:ea typeface="微软雅黑" pitchFamily="34" charset="-122"/>
              </a:rPr>
              <a:t>捎带确认</a:t>
            </a:r>
            <a:r>
              <a:rPr lang="zh-CN" altLang="en-US" sz="2000" b="1" dirty="0">
                <a:latin typeface="微软雅黑" pitchFamily="34" charset="-122"/>
                <a:ea typeface="微软雅黑" pitchFamily="34" charset="-122"/>
              </a:rPr>
              <a:t>实际上并不经常发生。</a:t>
            </a:r>
            <a:endParaRPr lang="zh-CN" altLang="en-US" sz="2000" b="1" dirty="0">
              <a:solidFill>
                <a:srgbClr val="0000FF"/>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圆角矩形 25"/>
          <p:cNvSpPr/>
          <p:nvPr/>
        </p:nvSpPr>
        <p:spPr>
          <a:xfrm>
            <a:off x="556963" y="2598733"/>
            <a:ext cx="8048776" cy="16326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1724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4120"/>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5.6.2   </a:t>
            </a:r>
            <a:r>
              <a:rPr lang="zh-CN" altLang="en-US" sz="2400" b="1" dirty="0">
                <a:solidFill>
                  <a:schemeClr val="bg1"/>
                </a:solidFill>
                <a:latin typeface="微软雅黑" pitchFamily="34" charset="-122"/>
                <a:ea typeface="微软雅黑" pitchFamily="34" charset="-122"/>
              </a:rPr>
              <a:t>超时重传时间的选择</a:t>
            </a:r>
          </a:p>
        </p:txBody>
      </p:sp>
      <p:sp>
        <p:nvSpPr>
          <p:cNvPr id="7" name="Rectangle 8"/>
          <p:cNvSpPr>
            <a:spLocks noChangeArrowheads="1"/>
          </p:cNvSpPr>
          <p:nvPr/>
        </p:nvSpPr>
        <p:spPr bwMode="auto">
          <a:xfrm>
            <a:off x="556963" y="1003377"/>
            <a:ext cx="8048776"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发送方在规定的时间内没有收到确认就要</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已发送的报文段。</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重传时间</a:t>
            </a:r>
            <a:r>
              <a:rPr lang="zh-CN" altLang="en-US" sz="2000" b="1" dirty="0">
                <a:latin typeface="微软雅黑" pitchFamily="34" charset="-122"/>
                <a:ea typeface="微软雅黑" pitchFamily="34" charset="-122"/>
              </a:rPr>
              <a:t>的选择是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最复杂的问题之一。</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互联网环境复杂，</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数据报所选择的路由变化很大，导致运输层的往返时间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的变化也很大。</a:t>
            </a:r>
          </a:p>
        </p:txBody>
      </p:sp>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p:txBody>
          <a:bodyPr/>
          <a:lstStyle/>
          <a:p>
            <a:endParaRPr lang="zh-CN" altLang="en-US"/>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65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178756" y="583375"/>
            <a:ext cx="28051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超时重传时间设置</a:t>
            </a:r>
          </a:p>
        </p:txBody>
      </p:sp>
      <p:sp>
        <p:nvSpPr>
          <p:cNvPr id="20" name="Rectangle 68"/>
          <p:cNvSpPr>
            <a:spLocks noChangeArrowheads="1"/>
          </p:cNvSpPr>
          <p:nvPr/>
        </p:nvSpPr>
        <p:spPr bwMode="auto">
          <a:xfrm>
            <a:off x="556962" y="979685"/>
            <a:ext cx="817466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不能太短，</a:t>
            </a:r>
            <a:r>
              <a:rPr lang="zh-CN" altLang="en-US" sz="2000" b="1" dirty="0">
                <a:latin typeface="微软雅黑" pitchFamily="34" charset="-122"/>
                <a:ea typeface="微软雅黑" pitchFamily="34" charset="-122"/>
              </a:rPr>
              <a:t>否则会引起很多报文段的不必要的重传，使网络负荷增大。</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不能过长，</a:t>
            </a:r>
            <a:r>
              <a:rPr lang="zh-CN" altLang="en-US" sz="2000" b="1" dirty="0">
                <a:latin typeface="微软雅黑" pitchFamily="34" charset="-122"/>
                <a:ea typeface="微软雅黑" pitchFamily="34" charset="-122"/>
              </a:rPr>
              <a:t>会使网络的空闲时间增大，降低了传输效率。</a:t>
            </a:r>
          </a:p>
        </p:txBody>
      </p:sp>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圆角矩形 8"/>
          <p:cNvSpPr/>
          <p:nvPr/>
        </p:nvSpPr>
        <p:spPr>
          <a:xfrm>
            <a:off x="556963" y="1830404"/>
            <a:ext cx="8048776" cy="19706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内容占位符 20">
            <a:extLst>
              <a:ext uri="{FF2B5EF4-FFF2-40B4-BE49-F238E27FC236}">
                <a16:creationId xmlns:a16="http://schemas.microsoft.com/office/drawing/2014/main" id="{43C0AB7E-0CD0-277C-F8CE-76CD38E661B4}"/>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A705B68C-0787-2224-E5F7-9DDF22DFD78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820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4124420" y="605119"/>
            <a:ext cx="8778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SACK</a:t>
            </a:r>
            <a:endParaRPr lang="zh-CN" altLang="en-US" sz="2000" b="1" dirty="0">
              <a:solidFill>
                <a:schemeClr val="bg1"/>
              </a:solidFill>
              <a:latin typeface="微软雅黑" pitchFamily="34" charset="-122"/>
              <a:ea typeface="微软雅黑" pitchFamily="34" charset="-122"/>
            </a:endParaRPr>
          </a:p>
        </p:txBody>
      </p:sp>
      <p:sp>
        <p:nvSpPr>
          <p:cNvPr id="7" name="圆角矩形 6"/>
          <p:cNvSpPr/>
          <p:nvPr/>
        </p:nvSpPr>
        <p:spPr>
          <a:xfrm>
            <a:off x="556963" y="1025024"/>
            <a:ext cx="8048776" cy="29015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39" name="内容占位符 38">
            <a:extLst>
              <a:ext uri="{FF2B5EF4-FFF2-40B4-BE49-F238E27FC236}">
                <a16:creationId xmlns:a16="http://schemas.microsoft.com/office/drawing/2014/main" id="{C859CBF9-55D9-27D2-C4E8-7287F477854A}"/>
              </a:ext>
            </a:extLst>
          </p:cNvPr>
          <p:cNvSpPr>
            <a:spLocks noGrp="1"/>
          </p:cNvSpPr>
          <p:nvPr>
            <p:ph sz="quarter" idx="11"/>
          </p:nvPr>
        </p:nvSpPr>
        <p:spPr/>
        <p:txBody>
          <a:bodyPr/>
          <a:lstStyle/>
          <a:p>
            <a:endParaRPr lang="zh-CN" altLang="en-US"/>
          </a:p>
        </p:txBody>
      </p:sp>
      <p:sp>
        <p:nvSpPr>
          <p:cNvPr id="36" name="标题 35">
            <a:extLst>
              <a:ext uri="{FF2B5EF4-FFF2-40B4-BE49-F238E27FC236}">
                <a16:creationId xmlns:a16="http://schemas.microsoft.com/office/drawing/2014/main" id="{35E90A62-4C90-DCD6-DA1D-4901A891EC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041"/>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124057" y="576770"/>
            <a:ext cx="48958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5.7.1   </a:t>
            </a:r>
            <a:r>
              <a:rPr lang="zh-CN" altLang="en-US" sz="2400" b="1" dirty="0">
                <a:solidFill>
                  <a:schemeClr val="bg1"/>
                </a:solidFill>
                <a:latin typeface="微软雅黑" pitchFamily="34" charset="-122"/>
                <a:ea typeface="微软雅黑" pitchFamily="34" charset="-122"/>
              </a:rPr>
              <a:t>利用滑动窗口实现流量控制</a:t>
            </a:r>
          </a:p>
        </p:txBody>
      </p:sp>
      <p:sp>
        <p:nvSpPr>
          <p:cNvPr id="7" name="Rectangle 8"/>
          <p:cNvSpPr>
            <a:spLocks noChangeArrowheads="1"/>
          </p:cNvSpPr>
          <p:nvPr/>
        </p:nvSpPr>
        <p:spPr bwMode="auto">
          <a:xfrm>
            <a:off x="556963" y="1005171"/>
            <a:ext cx="8048776"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流量控制</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(flow control) </a:t>
            </a:r>
            <a:r>
              <a:rPr lang="zh-CN" altLang="en-US" sz="2000" b="1" dirty="0">
                <a:latin typeface="微软雅黑" pitchFamily="34" charset="-122"/>
                <a:ea typeface="微软雅黑" pitchFamily="34" charset="-122"/>
              </a:rPr>
              <a:t>：让发送方的发送速率不要太快，使接收方来得及接收。</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利用</a:t>
            </a:r>
            <a:r>
              <a:rPr lang="zh-CN" altLang="en-US" sz="2000" b="1" dirty="0">
                <a:solidFill>
                  <a:srgbClr val="0000FF"/>
                </a:solidFill>
                <a:latin typeface="微软雅黑" pitchFamily="34" charset="-122"/>
                <a:ea typeface="微软雅黑" pitchFamily="34" charset="-122"/>
              </a:rPr>
              <a:t>滑动窗口机制</a:t>
            </a:r>
            <a:r>
              <a:rPr lang="zh-CN" altLang="en-US" sz="2000" b="1" dirty="0">
                <a:latin typeface="微软雅黑" pitchFamily="34" charset="-122"/>
                <a:ea typeface="微软雅黑" pitchFamily="34" charset="-122"/>
              </a:rPr>
              <a:t>可以很方便地在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连接上实现对发送方的流量控制。 </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75658" y="596154"/>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利用可变窗口进行流量控制举例</a:t>
            </a:r>
          </a:p>
        </p:txBody>
      </p:sp>
      <p:sp>
        <p:nvSpPr>
          <p:cNvPr id="7" name="圆角矩形 6"/>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6" name="内容占位符 55">
            <a:extLst>
              <a:ext uri="{FF2B5EF4-FFF2-40B4-BE49-F238E27FC236}">
                <a16:creationId xmlns:a16="http://schemas.microsoft.com/office/drawing/2014/main" id="{D0B3988B-B0E8-D6D8-3D4D-31CB2A192292}"/>
              </a:ext>
            </a:extLst>
          </p:cNvPr>
          <p:cNvSpPr>
            <a:spLocks noGrp="1"/>
          </p:cNvSpPr>
          <p:nvPr>
            <p:ph sz="quarter" idx="11"/>
          </p:nvPr>
        </p:nvSpPr>
        <p:spPr/>
        <p:txBody>
          <a:bodyPr/>
          <a:lstStyle/>
          <a:p>
            <a:endParaRPr lang="zh-CN" altLang="en-US"/>
          </a:p>
        </p:txBody>
      </p:sp>
      <p:sp>
        <p:nvSpPr>
          <p:cNvPr id="55" name="标题 54">
            <a:extLst>
              <a:ext uri="{FF2B5EF4-FFF2-40B4-BE49-F238E27FC236}">
                <a16:creationId xmlns:a16="http://schemas.microsoft.com/office/drawing/2014/main" id="{BF23B0D1-2E31-E5C4-BD3C-FD9B6A9BA0E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01580" y="5961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C000"/>
                </a:solidFill>
                <a:latin typeface="微软雅黑" pitchFamily="34" charset="-122"/>
                <a:ea typeface="微软雅黑" pitchFamily="34" charset="-122"/>
              </a:rPr>
              <a:t>可能发生死锁</a:t>
            </a:r>
          </a:p>
        </p:txBody>
      </p:sp>
      <p:sp>
        <p:nvSpPr>
          <p:cNvPr id="7" name="圆角矩形 6"/>
          <p:cNvSpPr/>
          <p:nvPr/>
        </p:nvSpPr>
        <p:spPr>
          <a:xfrm>
            <a:off x="556963" y="1016058"/>
            <a:ext cx="8048776" cy="375316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
        <p:nvSpPr>
          <p:cNvPr id="66" name="内容占位符 65">
            <a:extLst>
              <a:ext uri="{FF2B5EF4-FFF2-40B4-BE49-F238E27FC236}">
                <a16:creationId xmlns:a16="http://schemas.microsoft.com/office/drawing/2014/main" id="{BA2CC5CB-8762-2A69-4394-4763E7BEC2D0}"/>
              </a:ext>
            </a:extLst>
          </p:cNvPr>
          <p:cNvSpPr>
            <a:spLocks noGrp="1"/>
          </p:cNvSpPr>
          <p:nvPr>
            <p:ph sz="quarter" idx="11"/>
          </p:nvPr>
        </p:nvSpPr>
        <p:spPr/>
        <p:txBody>
          <a:bodyPr/>
          <a:lstStyle/>
          <a:p>
            <a:endParaRPr lang="zh-CN" altLang="en-US"/>
          </a:p>
        </p:txBody>
      </p:sp>
      <p:sp>
        <p:nvSpPr>
          <p:cNvPr id="65" name="标题 64">
            <a:extLst>
              <a:ext uri="{FF2B5EF4-FFF2-40B4-BE49-F238E27FC236}">
                <a16:creationId xmlns:a16="http://schemas.microsoft.com/office/drawing/2014/main" id="{E69165EB-D45B-F9F4-C23D-50E8A6E13BF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56963" y="618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0" name="Rectangle 6"/>
          <p:cNvSpPr>
            <a:spLocks noChangeArrowheads="1"/>
          </p:cNvSpPr>
          <p:nvPr/>
        </p:nvSpPr>
        <p:spPr bwMode="auto">
          <a:xfrm>
            <a:off x="3847818" y="585160"/>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持续计时器</a:t>
            </a:r>
          </a:p>
        </p:txBody>
      </p:sp>
      <p:sp>
        <p:nvSpPr>
          <p:cNvPr id="41" name="Rectangle 68"/>
          <p:cNvSpPr>
            <a:spLocks noChangeArrowheads="1"/>
          </p:cNvSpPr>
          <p:nvPr/>
        </p:nvSpPr>
        <p:spPr bwMode="auto">
          <a:xfrm>
            <a:off x="556963" y="967072"/>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持续计时器  </a:t>
            </a:r>
            <a:r>
              <a:rPr lang="en-US" altLang="zh-CN" sz="2000" b="1" dirty="0">
                <a:latin typeface="微软雅黑" pitchFamily="34" charset="-122"/>
                <a:ea typeface="微软雅黑" pitchFamily="34" charset="-122"/>
              </a:rPr>
              <a:t>(persistence timer)</a:t>
            </a:r>
            <a:r>
              <a:rPr lang="zh-CN" altLang="en-US" sz="2000" b="1" dirty="0">
                <a:latin typeface="微软雅黑" pitchFamily="34" charset="-122"/>
                <a:ea typeface="微软雅黑" pitchFamily="34" charset="-122"/>
              </a:rPr>
              <a:t>：只要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连接的一方收到对方的</a:t>
            </a:r>
            <a:r>
              <a:rPr lang="zh-CN" altLang="en-US" sz="2000" b="1" dirty="0">
                <a:solidFill>
                  <a:srgbClr val="0000FF"/>
                </a:solidFill>
                <a:latin typeface="微软雅黑" pitchFamily="34" charset="-122"/>
                <a:ea typeface="微软雅黑" pitchFamily="34" charset="-122"/>
              </a:rPr>
              <a:t>零窗口</a:t>
            </a:r>
            <a:r>
              <a:rPr lang="zh-CN" altLang="en-US" sz="2000" b="1" dirty="0">
                <a:latin typeface="微软雅黑" pitchFamily="34" charset="-122"/>
                <a:ea typeface="微软雅黑" pitchFamily="34" charset="-122"/>
              </a:rPr>
              <a:t>通知，就启动该持续计时器。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若持续计时器设置的时间到期，就发送一个</a:t>
            </a:r>
            <a:r>
              <a:rPr lang="zh-CN" altLang="en-US" sz="2000" b="1" dirty="0">
                <a:solidFill>
                  <a:srgbClr val="0000FF"/>
                </a:solidFill>
                <a:latin typeface="微软雅黑" pitchFamily="34" charset="-122"/>
                <a:ea typeface="微软雅黑" pitchFamily="34" charset="-122"/>
              </a:rPr>
              <a:t>零窗口探测报文段</a:t>
            </a:r>
            <a:r>
              <a:rPr lang="zh-CN" altLang="en-US" sz="2000" b="1" dirty="0">
                <a:latin typeface="微软雅黑" pitchFamily="34" charset="-122"/>
                <a:ea typeface="微软雅黑" pitchFamily="34" charset="-122"/>
              </a:rPr>
              <a:t>（仅携带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字节的数据），对方在确认这个探测报文段时给出当前窗口值。</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若窗口仍然是零，收到这个报文段的一方就重新设置持续计时器。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若窗口不是零，则死锁的僵局就可以打破了。 </a:t>
            </a:r>
          </a:p>
        </p:txBody>
      </p:sp>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AutoShape 5"/>
          <p:cNvSpPr>
            <a:spLocks noChangeArrowheads="1"/>
          </p:cNvSpPr>
          <p:nvPr/>
        </p:nvSpPr>
        <p:spPr bwMode="auto">
          <a:xfrm>
            <a:off x="556963" y="61706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52" name="Rectangle 6"/>
          <p:cNvSpPr>
            <a:spLocks noChangeArrowheads="1"/>
          </p:cNvSpPr>
          <p:nvPr/>
        </p:nvSpPr>
        <p:spPr bwMode="auto">
          <a:xfrm>
            <a:off x="2861053" y="574796"/>
            <a:ext cx="34218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5.7.2   TCP </a:t>
            </a:r>
            <a:r>
              <a:rPr lang="zh-CN" altLang="en-US" sz="2400" b="1" dirty="0">
                <a:solidFill>
                  <a:schemeClr val="bg1"/>
                </a:solidFill>
                <a:latin typeface="微软雅黑" pitchFamily="34" charset="-122"/>
                <a:ea typeface="微软雅黑" pitchFamily="34" charset="-122"/>
              </a:rPr>
              <a:t>的传输效率</a:t>
            </a:r>
          </a:p>
        </p:txBody>
      </p:sp>
      <p:sp>
        <p:nvSpPr>
          <p:cNvPr id="53" name="Rectangle 8"/>
          <p:cNvSpPr>
            <a:spLocks noChangeArrowheads="1"/>
          </p:cNvSpPr>
          <p:nvPr/>
        </p:nvSpPr>
        <p:spPr bwMode="auto">
          <a:xfrm>
            <a:off x="556963" y="1030092"/>
            <a:ext cx="8048776" cy="2516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a:t>
            </a:r>
            <a:r>
              <a:rPr lang="en-US" altLang="zh-CN" b="1" dirty="0">
                <a:latin typeface="微软雅黑" pitchFamily="34" charset="-122"/>
                <a:ea typeface="微软雅黑" pitchFamily="34" charset="-122"/>
              </a:rPr>
              <a:t>TCP</a:t>
            </a:r>
            <a:r>
              <a:rPr lang="zh-CN" altLang="en-US" b="1" dirty="0">
                <a:latin typeface="微软雅黑" pitchFamily="34" charset="-122"/>
                <a:ea typeface="微软雅黑" pitchFamily="34" charset="-122"/>
              </a:rPr>
              <a:t>发送报文段的时机：三种机制</a:t>
            </a:r>
            <a:endParaRPr lang="en-US" altLang="zh-CN" b="1" dirty="0">
              <a:latin typeface="微软雅黑" pitchFamily="34" charset="-122"/>
              <a:ea typeface="微软雅黑" pitchFamily="34" charset="-122"/>
            </a:endParaRPr>
          </a:p>
          <a:p>
            <a:pPr marL="633413" indent="-342900">
              <a:lnSpc>
                <a:spcPts val="2700"/>
              </a:lnSpc>
              <a:buClr>
                <a:srgbClr val="7030A0"/>
              </a:buClr>
              <a:buFont typeface="+mj-lt"/>
              <a:buAutoNum type="arabicPeriod"/>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维持一个变量，它等于最大报文段长度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。只要缓存中存放的数据达到 </a:t>
            </a:r>
            <a:r>
              <a:rPr lang="en-US" altLang="zh-CN" b="1" dirty="0">
                <a:latin typeface="微软雅黑" pitchFamily="34" charset="-122"/>
                <a:ea typeface="微软雅黑" pitchFamily="34" charset="-122"/>
              </a:rPr>
              <a:t>MSS </a:t>
            </a:r>
            <a:r>
              <a:rPr lang="zh-CN" altLang="en-US" b="1" dirty="0">
                <a:latin typeface="微软雅黑" pitchFamily="34" charset="-122"/>
                <a:ea typeface="微软雅黑" pitchFamily="34" charset="-122"/>
              </a:rPr>
              <a:t>字节时，就组装成一个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报文段发送出去。</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由发送方的应用进程指明要求发送报文段，即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支持的</a:t>
            </a:r>
            <a:r>
              <a:rPr lang="zh-CN" altLang="en-US" b="1" dirty="0">
                <a:solidFill>
                  <a:srgbClr val="0000FF"/>
                </a:solidFill>
                <a:latin typeface="微软雅黑" pitchFamily="34" charset="-122"/>
                <a:ea typeface="微软雅黑" pitchFamily="34" charset="-122"/>
              </a:rPr>
              <a:t>推送 </a:t>
            </a:r>
            <a:r>
              <a:rPr lang="en-US" altLang="zh-CN" b="1" dirty="0">
                <a:latin typeface="微软雅黑" pitchFamily="34" charset="-122"/>
                <a:ea typeface="微软雅黑" pitchFamily="34" charset="-122"/>
              </a:rPr>
              <a:t>(push) </a:t>
            </a:r>
            <a:r>
              <a:rPr lang="zh-CN" altLang="en-US" b="1" dirty="0">
                <a:latin typeface="微软雅黑" pitchFamily="34" charset="-122"/>
                <a:ea typeface="微软雅黑" pitchFamily="34" charset="-122"/>
              </a:rPr>
              <a:t>操作。</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发送方的一个计时器期限到了，这时就把当前已有的缓存数据装入报文段（但长度不能超过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）发送出去。</a:t>
            </a:r>
          </a:p>
        </p:txBody>
      </p:sp>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圆角矩形 18"/>
          <p:cNvSpPr/>
          <p:nvPr/>
        </p:nvSpPr>
        <p:spPr>
          <a:xfrm>
            <a:off x="556963" y="1875124"/>
            <a:ext cx="8048776" cy="23473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AutoShape 5"/>
          <p:cNvSpPr>
            <a:spLocks noChangeArrowheads="1"/>
          </p:cNvSpPr>
          <p:nvPr/>
        </p:nvSpPr>
        <p:spPr bwMode="auto">
          <a:xfrm>
            <a:off x="556963" y="61824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591337" y="58503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糊涂窗口综合症</a:t>
            </a:r>
          </a:p>
        </p:txBody>
      </p:sp>
      <p:sp>
        <p:nvSpPr>
          <p:cNvPr id="12" name="Rectangle 68"/>
          <p:cNvSpPr>
            <a:spLocks noChangeArrowheads="1"/>
          </p:cNvSpPr>
          <p:nvPr/>
        </p:nvSpPr>
        <p:spPr bwMode="auto">
          <a:xfrm>
            <a:off x="556963" y="977425"/>
            <a:ext cx="8184960"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糊涂窗口综合症</a:t>
            </a:r>
            <a:r>
              <a:rPr lang="zh-CN" altLang="en-US" sz="2000" b="1" dirty="0">
                <a:latin typeface="微软雅黑" pitchFamily="34" charset="-122"/>
                <a:ea typeface="微软雅黑" pitchFamily="34" charset="-122"/>
              </a:rPr>
              <a:t>：每次仅发送一个字节或很少几个字节的数据时，有效数据传输效率变得很低的现象。</a:t>
            </a:r>
          </a:p>
        </p:txBody>
      </p:sp>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p:txBody>
          <a:bodyPr/>
          <a:lstStyle/>
          <a:p>
            <a:endParaRPr lang="zh-CN" altLang="en-US"/>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utoShape 5"/>
          <p:cNvSpPr>
            <a:spLocks noChangeArrowheads="1"/>
          </p:cNvSpPr>
          <p:nvPr/>
        </p:nvSpPr>
        <p:spPr bwMode="auto">
          <a:xfrm>
            <a:off x="556963" y="61883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206617" y="585623"/>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发送方糊涂窗口综合症</a:t>
            </a:r>
          </a:p>
        </p:txBody>
      </p:sp>
      <p:sp>
        <p:nvSpPr>
          <p:cNvPr id="12" name="Rectangle 68"/>
          <p:cNvSpPr>
            <a:spLocks noChangeArrowheads="1"/>
          </p:cNvSpPr>
          <p:nvPr/>
        </p:nvSpPr>
        <p:spPr bwMode="auto">
          <a:xfrm>
            <a:off x="556963" y="982112"/>
            <a:ext cx="8048776" cy="1140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TCP </a:t>
            </a:r>
            <a:r>
              <a:rPr lang="zh-CN" altLang="en-US" sz="2000" b="1" dirty="0">
                <a:solidFill>
                  <a:srgbClr val="C00000"/>
                </a:solidFill>
                <a:latin typeface="微软雅黑" pitchFamily="34" charset="-122"/>
                <a:ea typeface="微软雅黑" pitchFamily="34" charset="-122"/>
              </a:rPr>
              <a:t>每次接收到一字节</a:t>
            </a:r>
            <a:r>
              <a:rPr lang="zh-CN" altLang="en-US" sz="2000" b="1" dirty="0">
                <a:latin typeface="微软雅黑" pitchFamily="34" charset="-122"/>
                <a:ea typeface="微软雅黑" pitchFamily="34" charset="-122"/>
              </a:rPr>
              <a:t>的数据后就发送。</a:t>
            </a:r>
          </a:p>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发送一个字节需要形成 </a:t>
            </a:r>
            <a:r>
              <a:rPr lang="en-US" altLang="zh-CN" sz="2000" b="1" dirty="0">
                <a:latin typeface="微软雅黑" pitchFamily="34" charset="-122"/>
                <a:ea typeface="微软雅黑" pitchFamily="34" charset="-122"/>
              </a:rPr>
              <a:t>41 </a:t>
            </a:r>
            <a:r>
              <a:rPr lang="zh-CN" altLang="en-US" sz="2000" b="1" dirty="0">
                <a:latin typeface="微软雅黑" pitchFamily="34" charset="-122"/>
                <a:ea typeface="微软雅黑" pitchFamily="34" charset="-122"/>
              </a:rPr>
              <a:t>字节长的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数据报。效率很低。</a:t>
            </a:r>
          </a:p>
          <a:p>
            <a:pPr marL="342900" indent="-342900">
              <a:lnSpc>
                <a:spcPts val="28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解决方法</a:t>
            </a: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Nagle </a:t>
            </a:r>
            <a:r>
              <a:rPr lang="zh-CN" altLang="en-US" sz="2000" b="1" dirty="0">
                <a:latin typeface="微软雅黑" pitchFamily="34" charset="-122"/>
                <a:ea typeface="微软雅黑" pitchFamily="34" charset="-122"/>
              </a:rPr>
              <a:t>算法。</a:t>
            </a:r>
          </a:p>
        </p:txBody>
      </p:sp>
      <p:sp>
        <p:nvSpPr>
          <p:cNvPr id="5" name="圆角矩形 4"/>
          <p:cNvSpPr/>
          <p:nvPr/>
        </p:nvSpPr>
        <p:spPr>
          <a:xfrm>
            <a:off x="556963" y="2122938"/>
            <a:ext cx="8048776" cy="2233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p:txBody>
          <a:bodyPr/>
          <a:lstStyle/>
          <a:p>
            <a:endParaRPr lang="zh-CN" altLang="en-US"/>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12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990"/>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8" name="圆角矩形 7"/>
          <p:cNvSpPr/>
          <p:nvPr/>
        </p:nvSpPr>
        <p:spPr>
          <a:xfrm>
            <a:off x="556963" y="104533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Text Box 155"/>
          <p:cNvSpPr txBox="1">
            <a:spLocks noChangeArrowheads="1"/>
          </p:cNvSpPr>
          <p:nvPr/>
        </p:nvSpPr>
        <p:spPr bwMode="auto">
          <a:xfrm>
            <a:off x="1470212" y="1138986"/>
            <a:ext cx="6480767"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原因：接收方应用进程消耗数据太慢，例如：每次只读取一个字节。</a:t>
            </a:r>
          </a:p>
        </p:txBody>
      </p:sp>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14" name="内容占位符 13">
            <a:extLst>
              <a:ext uri="{FF2B5EF4-FFF2-40B4-BE49-F238E27FC236}">
                <a16:creationId xmlns:a16="http://schemas.microsoft.com/office/drawing/2014/main" id="{EADDC715-6E3D-034C-E2B2-51B71F4A0F69}"/>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03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113"/>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7" name="Rectangle 68"/>
          <p:cNvSpPr>
            <a:spLocks noChangeArrowheads="1"/>
          </p:cNvSpPr>
          <p:nvPr/>
        </p:nvSpPr>
        <p:spPr bwMode="auto">
          <a:xfrm>
            <a:off x="547819" y="983423"/>
            <a:ext cx="818496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解决方法：</a:t>
            </a:r>
            <a:r>
              <a:rPr lang="zh-CN" altLang="en-US" b="1" dirty="0">
                <a:latin typeface="微软雅黑" pitchFamily="34" charset="-122"/>
                <a:ea typeface="微软雅黑" pitchFamily="34" charset="-122"/>
              </a:rPr>
              <a:t>让接收方等待一段时间，使得或者接收缓存</a:t>
            </a:r>
            <a:r>
              <a:rPr lang="zh-CN" altLang="en-US" b="1" dirty="0">
                <a:solidFill>
                  <a:srgbClr val="C00000"/>
                </a:solidFill>
                <a:latin typeface="微软雅黑" pitchFamily="34" charset="-122"/>
                <a:ea typeface="微软雅黑" pitchFamily="34" charset="-122"/>
              </a:rPr>
              <a:t>已有足够空间</a:t>
            </a:r>
            <a:r>
              <a:rPr lang="zh-CN" altLang="en-US" b="1" dirty="0">
                <a:latin typeface="微软雅黑" pitchFamily="34" charset="-122"/>
                <a:ea typeface="微软雅黑" pitchFamily="34" charset="-122"/>
              </a:rPr>
              <a:t>容纳一个最长的报文段，或者等到接收缓存</a:t>
            </a:r>
            <a:r>
              <a:rPr lang="zh-CN" altLang="en-US" b="1" dirty="0">
                <a:solidFill>
                  <a:srgbClr val="C00000"/>
                </a:solidFill>
                <a:latin typeface="微软雅黑" pitchFamily="34" charset="-122"/>
                <a:ea typeface="微软雅黑" pitchFamily="34" charset="-122"/>
              </a:rPr>
              <a:t>已有一半空闲的空间。</a:t>
            </a:r>
            <a:r>
              <a:rPr lang="zh-CN" altLang="en-US" b="1" dirty="0">
                <a:solidFill>
                  <a:srgbClr val="0000FF"/>
                </a:solidFill>
                <a:latin typeface="微软雅黑" pitchFamily="34" charset="-122"/>
                <a:ea typeface="微软雅黑" pitchFamily="34" charset="-122"/>
              </a:rPr>
              <a:t>只要出现这两种情况之一，</a:t>
            </a:r>
            <a:r>
              <a:rPr lang="zh-CN" altLang="en-US" b="1" dirty="0">
                <a:latin typeface="微软雅黑" pitchFamily="34" charset="-122"/>
                <a:ea typeface="微软雅黑" pitchFamily="34" charset="-122"/>
              </a:rPr>
              <a:t>接收方就发出确认报文，并向发送方通知当前的窗口大小。</a:t>
            </a:r>
          </a:p>
        </p:txBody>
      </p:sp>
      <p:grpSp>
        <p:nvGrpSpPr>
          <p:cNvPr id="8" name="组合 7"/>
          <p:cNvGrpSpPr/>
          <p:nvPr/>
        </p:nvGrpSpPr>
        <p:grpSpPr>
          <a:xfrm>
            <a:off x="1264885" y="2398384"/>
            <a:ext cx="6758814" cy="1438510"/>
            <a:chOff x="502922" y="2655525"/>
            <a:chExt cx="8129014" cy="1438510"/>
          </a:xfrm>
        </p:grpSpPr>
        <p:sp>
          <p:nvSpPr>
            <p:cNvPr id="9" name="对角圆角矩形 8"/>
            <p:cNvSpPr/>
            <p:nvPr/>
          </p:nvSpPr>
          <p:spPr>
            <a:xfrm>
              <a:off x="502922" y="2655525"/>
              <a:ext cx="8129014" cy="143851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797141" y="2778402"/>
              <a:ext cx="7699646" cy="1169551"/>
            </a:xfrm>
            <a:prstGeom prst="rect">
              <a:avLst/>
            </a:prstGeom>
          </p:spPr>
          <p:txBody>
            <a:bodyPr wrap="square">
              <a:spAutoFit/>
            </a:bodyPr>
            <a:lstStyle/>
            <a:p>
              <a:pPr>
                <a:lnSpc>
                  <a:spcPts val="2800"/>
                </a:lnSpc>
              </a:pPr>
              <a:r>
                <a:rPr lang="zh-CN" altLang="en-US" b="1" dirty="0">
                  <a:solidFill>
                    <a:schemeClr val="bg1"/>
                  </a:solidFill>
                  <a:latin typeface="微软雅黑" pitchFamily="34" charset="-122"/>
                  <a:ea typeface="微软雅黑" pitchFamily="34" charset="-122"/>
                </a:rPr>
                <a:t>上述两种方法可配合使用，使得在发送方不发送很小的报文段的同时，接收方也不要在缓存刚刚有了一点小的空间就急忙把这个很小的窗口大小信息通知给发送方。</a:t>
              </a:r>
            </a:p>
          </p:txBody>
        </p:sp>
      </p:grpSp>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498429" y="1164624"/>
            <a:ext cx="4107310" cy="31005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2250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0235"/>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5.8.1   </a:t>
            </a:r>
            <a:r>
              <a:rPr lang="zh-CN" altLang="en-US" sz="2400" b="1" dirty="0">
                <a:solidFill>
                  <a:schemeClr val="bg1"/>
                </a:solidFill>
                <a:latin typeface="微软雅黑" pitchFamily="34" charset="-122"/>
                <a:ea typeface="微软雅黑" pitchFamily="34" charset="-122"/>
              </a:rPr>
              <a:t>拥塞控制的一般原理</a:t>
            </a:r>
          </a:p>
        </p:txBody>
      </p:sp>
      <p:sp>
        <p:nvSpPr>
          <p:cNvPr id="7" name="Rectangle 8"/>
          <p:cNvSpPr>
            <a:spLocks noChangeArrowheads="1"/>
          </p:cNvSpPr>
          <p:nvPr/>
        </p:nvSpPr>
        <p:spPr bwMode="auto">
          <a:xfrm>
            <a:off x="556963" y="1035531"/>
            <a:ext cx="355258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在某段时间，若对网络中某资源的需求超过了该资源所能提供的可用部分，</a:t>
            </a:r>
            <a:r>
              <a:rPr lang="zh-CN" altLang="en-US" sz="2000" b="1" dirty="0">
                <a:solidFill>
                  <a:srgbClr val="0000FF"/>
                </a:solidFill>
                <a:latin typeface="微软雅黑" pitchFamily="34" charset="-122"/>
                <a:ea typeface="微软雅黑" pitchFamily="34" charset="-122"/>
              </a:rPr>
              <a:t>网络的性能就要明显变坏，</a:t>
            </a:r>
            <a:r>
              <a:rPr lang="zh-CN" altLang="en-US" sz="2000" b="1" dirty="0">
                <a:latin typeface="微软雅黑" pitchFamily="34" charset="-122"/>
                <a:ea typeface="微软雅黑" pitchFamily="34" charset="-122"/>
              </a:rPr>
              <a:t>整个网络的吞吐量将随输入负荷的增大而下降。这种现象称为</a:t>
            </a:r>
            <a:r>
              <a:rPr lang="zh-CN" altLang="en-US" sz="2000" b="1" dirty="0">
                <a:solidFill>
                  <a:srgbClr val="0000FF"/>
                </a:solidFill>
                <a:latin typeface="微软雅黑" pitchFamily="34" charset="-122"/>
                <a:ea typeface="微软雅黑" pitchFamily="34" charset="-122"/>
              </a:rPr>
              <a:t>拥塞 </a:t>
            </a:r>
            <a:r>
              <a:rPr lang="en-US" altLang="zh-CN" sz="2000" b="1" dirty="0">
                <a:latin typeface="微软雅黑" pitchFamily="34" charset="-122"/>
                <a:ea typeface="微软雅黑" pitchFamily="34" charset="-122"/>
              </a:rPr>
              <a:t>(congestion)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最坏结果：</a:t>
            </a:r>
            <a:r>
              <a:rPr lang="zh-CN" altLang="en-US" sz="2000" b="1" dirty="0">
                <a:solidFill>
                  <a:srgbClr val="C00000"/>
                </a:solidFill>
                <a:latin typeface="微软雅黑" pitchFamily="34" charset="-122"/>
                <a:ea typeface="微软雅黑" pitchFamily="34" charset="-122"/>
              </a:rPr>
              <a:t>系统崩溃。</a:t>
            </a:r>
          </a:p>
        </p:txBody>
      </p:sp>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AutoShape 5"/>
          <p:cNvSpPr>
            <a:spLocks noChangeArrowheads="1"/>
          </p:cNvSpPr>
          <p:nvPr/>
        </p:nvSpPr>
        <p:spPr bwMode="auto">
          <a:xfrm>
            <a:off x="556963" y="6207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50" name="Rectangle 6"/>
          <p:cNvSpPr>
            <a:spLocks noChangeArrowheads="1"/>
          </p:cNvSpPr>
          <p:nvPr/>
        </p:nvSpPr>
        <p:spPr bwMode="auto">
          <a:xfrm>
            <a:off x="3591338" y="587513"/>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拥塞产生的原因</a:t>
            </a:r>
          </a:p>
        </p:txBody>
      </p:sp>
      <p:sp>
        <p:nvSpPr>
          <p:cNvPr id="51" name="Rectangle 68"/>
          <p:cNvSpPr>
            <a:spLocks noChangeArrowheads="1"/>
          </p:cNvSpPr>
          <p:nvPr/>
        </p:nvSpPr>
        <p:spPr bwMode="auto">
          <a:xfrm>
            <a:off x="556963" y="98382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由许多因素引起。例如：</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节点缓存容量太小；</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链路容量不足；</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处理机处理速率太慢；</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拥塞本身会进一步加剧拥塞；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出现网络拥塞的条件：</a:t>
            </a:r>
          </a:p>
        </p:txBody>
      </p:sp>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558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078377" y="592369"/>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增加资源能解决拥塞吗？</a:t>
            </a:r>
          </a:p>
        </p:txBody>
      </p:sp>
      <p:sp>
        <p:nvSpPr>
          <p:cNvPr id="4" name="Rectangle 68"/>
          <p:cNvSpPr>
            <a:spLocks noChangeArrowheads="1"/>
          </p:cNvSpPr>
          <p:nvPr/>
        </p:nvSpPr>
        <p:spPr bwMode="auto">
          <a:xfrm>
            <a:off x="556963" y="979252"/>
            <a:ext cx="8048776"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不能，而且还可能使网络的性能更坏。</a:t>
            </a:r>
            <a:endParaRPr lang="zh-CN" altLang="en-US" sz="2000" b="1" dirty="0">
              <a:latin typeface="微软雅黑" pitchFamily="34" charset="-122"/>
              <a:ea typeface="微软雅黑" pitchFamily="34" charset="-122"/>
            </a:endParaRPr>
          </a:p>
        </p:txBody>
      </p:sp>
      <p:sp>
        <p:nvSpPr>
          <p:cNvPr id="6" name="Rectangle 68"/>
          <p:cNvSpPr>
            <a:spLocks noChangeArrowheads="1"/>
          </p:cNvSpPr>
          <p:nvPr/>
        </p:nvSpPr>
        <p:spPr bwMode="auto">
          <a:xfrm>
            <a:off x="556963" y="1412885"/>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增大缓存，但未提高输出链路的容量和处理机的速度，排队等待时间将会大大增加，引起大量超时重传，解决不了网络拥塞；</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提高处理机处理的速率会将瓶颈转移到其他地方；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拥塞引起的</a:t>
            </a:r>
            <a:r>
              <a:rPr lang="zh-CN" altLang="en-US" sz="2000" b="1" dirty="0">
                <a:solidFill>
                  <a:srgbClr val="0000FF"/>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并不会缓解网络的拥塞，反而会加剧网络的拥塞。</a:t>
            </a:r>
          </a:p>
        </p:txBody>
      </p:sp>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up)">
                                      <p:cBhvr>
                                        <p:cTn id="1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911664" y="590156"/>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拥塞控制与流量控制的区别</a:t>
            </a:r>
          </a:p>
        </p:txBody>
      </p:sp>
      <p:graphicFrame>
        <p:nvGraphicFramePr>
          <p:cNvPr id="2" name="图示 1"/>
          <p:cNvGraphicFramePr/>
          <p:nvPr>
            <p:extLst>
              <p:ext uri="{D42A27DB-BD31-4B8C-83A1-F6EECF244321}">
                <p14:modId xmlns:p14="http://schemas.microsoft.com/office/powerpoint/2010/main" val="711734731"/>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内容占位符 6">
            <a:extLst>
              <a:ext uri="{FF2B5EF4-FFF2-40B4-BE49-F238E27FC236}">
                <a16:creationId xmlns:a16="http://schemas.microsoft.com/office/drawing/2014/main" id="{D0A64F38-6FCE-25DD-5574-A25FC48F28D3}"/>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BCFA98-0C70-AFD4-2639-1A5244A877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556963" y="1012072"/>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38" name="AutoShape 5"/>
          <p:cNvSpPr>
            <a:spLocks noChangeArrowheads="1"/>
          </p:cNvSpPr>
          <p:nvPr/>
        </p:nvSpPr>
        <p:spPr bwMode="auto">
          <a:xfrm>
            <a:off x="556963" y="61878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78387" y="595692"/>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拥塞控制所起的作用</a:t>
            </a:r>
          </a:p>
        </p:txBody>
      </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C76840EB-F2FA-0BC0-1228-95A9F4A1A21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2B439D2-EA95-EB40-F9D0-8BC6EB80BA7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629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96385" y="593083"/>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拥塞控制的一般原理</a:t>
            </a:r>
          </a:p>
        </p:txBody>
      </p:sp>
      <p:sp>
        <p:nvSpPr>
          <p:cNvPr id="40" name="Rectangle 68"/>
          <p:cNvSpPr>
            <a:spLocks noChangeArrowheads="1"/>
          </p:cNvSpPr>
          <p:nvPr/>
        </p:nvSpPr>
        <p:spPr bwMode="auto">
          <a:xfrm>
            <a:off x="556963" y="989393"/>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拥塞控制的前提：</a:t>
            </a:r>
            <a:r>
              <a:rPr lang="zh-CN" altLang="en-US" sz="2000" b="1" dirty="0">
                <a:latin typeface="微软雅黑" pitchFamily="34" charset="-122"/>
                <a:ea typeface="微软雅黑" pitchFamily="34" charset="-122"/>
              </a:rPr>
              <a:t>网络能够</a:t>
            </a:r>
            <a:r>
              <a:rPr lang="zh-CN" altLang="en-US" sz="2000" b="1" dirty="0">
                <a:solidFill>
                  <a:srgbClr val="0000FF"/>
                </a:solidFill>
                <a:latin typeface="微软雅黑" pitchFamily="34" charset="-122"/>
                <a:ea typeface="微软雅黑" pitchFamily="34" charset="-122"/>
              </a:rPr>
              <a:t>承受</a:t>
            </a:r>
            <a:r>
              <a:rPr lang="zh-CN" altLang="en-US" sz="2000" b="1" dirty="0">
                <a:latin typeface="微软雅黑" pitchFamily="34" charset="-122"/>
                <a:ea typeface="微软雅黑" pitchFamily="34" charset="-122"/>
              </a:rPr>
              <a:t>现有的网络负荷。</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实践证明，拥塞控制是很难设计的，因为它是一个</a:t>
            </a:r>
            <a:r>
              <a:rPr lang="zh-CN" altLang="en-US" sz="2000" b="1" dirty="0">
                <a:solidFill>
                  <a:srgbClr val="C00000"/>
                </a:solidFill>
                <a:latin typeface="微软雅黑" pitchFamily="34" charset="-122"/>
                <a:ea typeface="微软雅黑" pitchFamily="34" charset="-122"/>
              </a:rPr>
              <a:t>动态问题。</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分组的丢失是网络发生拥塞的</a:t>
            </a:r>
            <a:r>
              <a:rPr lang="zh-CN" altLang="en-US" sz="2000" b="1" dirty="0">
                <a:solidFill>
                  <a:srgbClr val="C00000"/>
                </a:solidFill>
                <a:latin typeface="微软雅黑" pitchFamily="34" charset="-122"/>
                <a:ea typeface="微软雅黑" pitchFamily="34" charset="-122"/>
              </a:rPr>
              <a:t>征兆，</a:t>
            </a:r>
            <a:r>
              <a:rPr lang="zh-CN" altLang="en-US" sz="2000" b="1" dirty="0">
                <a:latin typeface="微软雅黑" pitchFamily="34" charset="-122"/>
                <a:ea typeface="微软雅黑" pitchFamily="34" charset="-122"/>
              </a:rPr>
              <a:t>而不是原因。</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在许多情况下，甚至正是</a:t>
            </a:r>
            <a:r>
              <a:rPr lang="zh-CN" altLang="en-US" sz="2000" b="1" dirty="0">
                <a:solidFill>
                  <a:srgbClr val="C00000"/>
                </a:solidFill>
                <a:latin typeface="微软雅黑" pitchFamily="34" charset="-122"/>
                <a:ea typeface="微软雅黑" pitchFamily="34" charset="-122"/>
              </a:rPr>
              <a:t>拥塞控制本身</a:t>
            </a:r>
            <a:r>
              <a:rPr lang="zh-CN" altLang="en-US" sz="2000" b="1" dirty="0">
                <a:latin typeface="微软雅黑" pitchFamily="34" charset="-122"/>
                <a:ea typeface="微软雅黑" pitchFamily="34" charset="-122"/>
              </a:rPr>
              <a:t>成为引起网络性能恶化、甚至发生死锁的原因。</a:t>
            </a:r>
          </a:p>
        </p:txBody>
      </p:sp>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34857" y="590156"/>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开环控制和闭环控制</a:t>
            </a:r>
          </a:p>
        </p:txBody>
      </p:sp>
      <p:graphicFrame>
        <p:nvGraphicFramePr>
          <p:cNvPr id="13" name="图示 12"/>
          <p:cNvGraphicFramePr/>
          <p:nvPr>
            <p:extLst>
              <p:ext uri="{D42A27DB-BD31-4B8C-83A1-F6EECF244321}">
                <p14:modId xmlns:p14="http://schemas.microsoft.com/office/powerpoint/2010/main" val="3329579859"/>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16E25463-6F7C-9335-53DD-FD326EC3CCD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6817199-2BDA-A17D-2C4C-395D3ED03BA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EA551652-C492-CC4C-FB7D-70A5F76735F4}"/>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62C08E8E-C6FA-4134-50F2-FF8E5F33AAB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8" name="内容占位符 7">
            <a:extLst>
              <a:ext uri="{FF2B5EF4-FFF2-40B4-BE49-F238E27FC236}">
                <a16:creationId xmlns:a16="http://schemas.microsoft.com/office/drawing/2014/main" id="{001E62BF-5057-43D5-8144-D302EF5359D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8626822F-B276-4858-8FAF-AF9F4945B92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8" name="内容占位符 7">
            <a:extLst>
              <a:ext uri="{FF2B5EF4-FFF2-40B4-BE49-F238E27FC236}">
                <a16:creationId xmlns:a16="http://schemas.microsoft.com/office/drawing/2014/main" id="{19A407F6-53B4-9D8E-C81D-97BC9E8A3B97}"/>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490E1554-11B4-7C58-BD30-7AF9C848D99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8" name="内容占位符 7">
            <a:extLst>
              <a:ext uri="{FF2B5EF4-FFF2-40B4-BE49-F238E27FC236}">
                <a16:creationId xmlns:a16="http://schemas.microsoft.com/office/drawing/2014/main" id="{B4651270-C27F-DDC4-0A3B-20F83C00DBE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F5F49CA-175F-979B-28D6-69C0172FE0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765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2598963" y="566241"/>
            <a:ext cx="39460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5.8.2  TCP </a:t>
            </a:r>
            <a:r>
              <a:rPr lang="zh-CN" altLang="en-US" sz="2400" b="1" dirty="0">
                <a:solidFill>
                  <a:schemeClr val="bg1"/>
                </a:solidFill>
                <a:latin typeface="微软雅黑" pitchFamily="34" charset="-122"/>
                <a:ea typeface="微软雅黑" pitchFamily="34" charset="-122"/>
              </a:rPr>
              <a:t>的拥塞控制方法</a:t>
            </a:r>
          </a:p>
        </p:txBody>
      </p:sp>
      <p:sp>
        <p:nvSpPr>
          <p:cNvPr id="38" name="Rectangle 8"/>
          <p:cNvSpPr>
            <a:spLocks noChangeArrowheads="1"/>
          </p:cNvSpPr>
          <p:nvPr/>
        </p:nvSpPr>
        <p:spPr bwMode="auto">
          <a:xfrm>
            <a:off x="556963" y="1021254"/>
            <a:ext cx="8048776"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采用基于</a:t>
            </a:r>
            <a:r>
              <a:rPr lang="zh-CN" altLang="en-US" sz="2000" b="1" dirty="0">
                <a:solidFill>
                  <a:srgbClr val="C00000"/>
                </a:solidFill>
                <a:latin typeface="微软雅黑" pitchFamily="34" charset="-122"/>
                <a:ea typeface="微软雅黑" pitchFamily="34" charset="-122"/>
              </a:rPr>
              <a:t>滑动窗口的方法</a:t>
            </a:r>
            <a:r>
              <a:rPr lang="zh-CN" altLang="en-US" sz="2000" b="1" dirty="0">
                <a:latin typeface="微软雅黑" pitchFamily="34" charset="-122"/>
                <a:ea typeface="微软雅黑" pitchFamily="34" charset="-122"/>
              </a:rPr>
              <a:t>进行拥塞控制，属于闭环控制方法。</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发送方维持一个</a:t>
            </a: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(Congestion Window)</a:t>
            </a: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的大小取决于网络的拥塞程度，并且是</a:t>
            </a:r>
            <a:r>
              <a:rPr lang="zh-CN" altLang="en-US" sz="2000" b="1" dirty="0">
                <a:solidFill>
                  <a:srgbClr val="C00000"/>
                </a:solidFill>
                <a:latin typeface="微软雅黑" pitchFamily="34" charset="-122"/>
                <a:ea typeface="微软雅黑" pitchFamily="34" charset="-122"/>
              </a:rPr>
              <a:t>动态变化</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发送端利用</a:t>
            </a: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根据网络的拥塞情况调整发送的数据量。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发送窗口大小不仅取决于接收方窗口，还取决于网络的拥塞状况。</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真正的发送窗口值</a:t>
            </a:r>
            <a:r>
              <a:rPr lang="zh-CN" altLang="en-US" sz="2000" b="1" dirty="0">
                <a:latin typeface="微软雅黑" pitchFamily="34" charset="-122"/>
                <a:ea typeface="微软雅黑" pitchFamily="34" charset="-122"/>
              </a:rPr>
              <a:t>：</a:t>
            </a:r>
          </a:p>
        </p:txBody>
      </p:sp>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005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078377" y="58684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控制拥塞窗口变化的原则</a:t>
            </a:r>
          </a:p>
        </p:txBody>
      </p:sp>
      <p:sp>
        <p:nvSpPr>
          <p:cNvPr id="38" name="Rectangle 68"/>
          <p:cNvSpPr>
            <a:spLocks noChangeArrowheads="1"/>
          </p:cNvSpPr>
          <p:nvPr/>
        </p:nvSpPr>
        <p:spPr bwMode="auto">
          <a:xfrm>
            <a:off x="556963" y="98315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只要网络没有出现拥塞，拥塞窗口就可以再增大一些，以便把更多的分组发送出去，提高网络的利用率。</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但只要网络出现拥塞或有可能出现拥塞，就必须把拥塞窗口减小一些，以减少注入到网络中的分组数，缓解网络出现的拥塞。</a:t>
            </a:r>
          </a:p>
        </p:txBody>
      </p:sp>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203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565420" y="588820"/>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发送方判断拥塞的方法：隐式反馈</a:t>
            </a:r>
          </a:p>
        </p:txBody>
      </p:sp>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7" name="内容占位符 6">
            <a:extLst>
              <a:ext uri="{FF2B5EF4-FFF2-40B4-BE49-F238E27FC236}">
                <a16:creationId xmlns:a16="http://schemas.microsoft.com/office/drawing/2014/main" id="{3F05A17B-8542-4612-BBBF-933823F675DB}"/>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54B9EAF-B789-FB06-C401-D874B8837FF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195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435237" y="5863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拥塞控制算法</a:t>
            </a:r>
          </a:p>
        </p:txBody>
      </p:sp>
      <p:sp>
        <p:nvSpPr>
          <p:cNvPr id="38" name="Rectangle 68"/>
          <p:cNvSpPr>
            <a:spLocks noChangeArrowheads="1"/>
          </p:cNvSpPr>
          <p:nvPr/>
        </p:nvSpPr>
        <p:spPr bwMode="auto">
          <a:xfrm>
            <a:off x="556963" y="97999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四种拥塞控制算法（ </a:t>
            </a:r>
            <a:r>
              <a:rPr lang="en-US" altLang="zh-CN" sz="2000" b="1" dirty="0">
                <a:latin typeface="微软雅黑" pitchFamily="34" charset="-122"/>
                <a:ea typeface="微软雅黑" pitchFamily="34" charset="-122"/>
              </a:rPr>
              <a:t>RFC 5681</a:t>
            </a:r>
            <a:r>
              <a:rPr lang="zh-CN" altLang="en-US" sz="2000" b="1" dirty="0">
                <a:latin typeface="微软雅黑" pitchFamily="34" charset="-122"/>
                <a:ea typeface="微软雅黑" pitchFamily="34" charset="-122"/>
              </a:rPr>
              <a:t>） ：</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慢开始 </a:t>
            </a:r>
            <a:r>
              <a:rPr lang="en-US" altLang="zh-CN" sz="2000" b="1" dirty="0">
                <a:latin typeface="微软雅黑" pitchFamily="34" charset="-122"/>
                <a:ea typeface="微软雅黑" pitchFamily="34" charset="-122"/>
              </a:rPr>
              <a:t>(slow-start)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拥塞避免 </a:t>
            </a:r>
            <a:r>
              <a:rPr lang="en-US" altLang="zh-CN" sz="2000" b="1" dirty="0">
                <a:latin typeface="微软雅黑" pitchFamily="34" charset="-122"/>
                <a:ea typeface="微软雅黑" pitchFamily="34" charset="-122"/>
              </a:rPr>
              <a:t>(congestion avoidance)</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快重传 </a:t>
            </a:r>
            <a:r>
              <a:rPr lang="en-US" altLang="zh-CN" sz="2000" b="1" dirty="0">
                <a:latin typeface="微软雅黑" pitchFamily="34" charset="-122"/>
                <a:ea typeface="微软雅黑" pitchFamily="34" charset="-122"/>
              </a:rPr>
              <a:t>(fast retransmit)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快恢复 </a:t>
            </a:r>
            <a:r>
              <a:rPr lang="en-US" altLang="zh-CN" sz="2000" b="1" dirty="0">
                <a:latin typeface="微软雅黑" pitchFamily="34" charset="-122"/>
                <a:ea typeface="微软雅黑" pitchFamily="34" charset="-122"/>
              </a:rPr>
              <a:t>(fast recovery)</a:t>
            </a:r>
          </a:p>
        </p:txBody>
      </p:sp>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8" name="Rectangle 68"/>
          <p:cNvSpPr>
            <a:spLocks noChangeArrowheads="1"/>
          </p:cNvSpPr>
          <p:nvPr/>
        </p:nvSpPr>
        <p:spPr bwMode="auto">
          <a:xfrm>
            <a:off x="556963" y="989138"/>
            <a:ext cx="8184960" cy="15799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探测网络的负载能力或拥塞程度。</a:t>
            </a:r>
          </a:p>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a:t>
            </a:r>
            <a:r>
              <a:rPr lang="zh-CN" altLang="en-US" sz="2000" b="1" dirty="0">
                <a:latin typeface="微软雅黑" pitchFamily="34" charset="-122"/>
                <a:ea typeface="微软雅黑" pitchFamily="34" charset="-122"/>
              </a:rPr>
              <a:t>由小到大逐渐增大注入到网络中的数据字节，即：由小到大逐渐</a:t>
            </a:r>
            <a:r>
              <a:rPr lang="zh-CN" altLang="en-US" sz="2000" b="1" dirty="0">
                <a:solidFill>
                  <a:srgbClr val="0000FF"/>
                </a:solidFill>
                <a:latin typeface="微软雅黑" pitchFamily="34" charset="-122"/>
                <a:ea typeface="微软雅黑" pitchFamily="34" charset="-122"/>
              </a:rPr>
              <a:t>增大拥塞窗口</a:t>
            </a:r>
            <a:r>
              <a:rPr lang="zh-CN" altLang="en-US" sz="2000" b="1" dirty="0">
                <a:latin typeface="微软雅黑" pitchFamily="34" charset="-122"/>
                <a:ea typeface="微软雅黑" pitchFamily="34" charset="-122"/>
              </a:rPr>
              <a:t>数值。</a:t>
            </a:r>
            <a:endParaRPr lang="en-US" altLang="zh-CN" sz="2000" b="1" dirty="0">
              <a:latin typeface="微软雅黑" pitchFamily="34" charset="-122"/>
              <a:ea typeface="微软雅黑" pitchFamily="34" charset="-122"/>
            </a:endParaRPr>
          </a:p>
          <a:p>
            <a:pPr marL="342900" indent="-342900">
              <a:lnSpc>
                <a:spcPts val="29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个控制变量：</a:t>
            </a:r>
            <a:endParaRPr lang="zh-CN" altLang="en-US" sz="2000" b="1" dirty="0">
              <a:solidFill>
                <a:srgbClr val="0000FF"/>
              </a:solidFill>
              <a:latin typeface="微软雅黑" pitchFamily="34" charset="-122"/>
              <a:ea typeface="微软雅黑" pitchFamily="34" charset="-122"/>
            </a:endParaRPr>
          </a:p>
        </p:txBody>
      </p:sp>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68"/>
          <p:cNvSpPr>
            <a:spLocks noChangeArrowheads="1"/>
          </p:cNvSpPr>
          <p:nvPr/>
        </p:nvSpPr>
        <p:spPr bwMode="auto">
          <a:xfrm>
            <a:off x="556963" y="958363"/>
            <a:ext cx="8184960"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在每收到一个</a:t>
            </a:r>
            <a:r>
              <a:rPr lang="zh-CN" altLang="en-US" sz="2000" b="1" dirty="0">
                <a:solidFill>
                  <a:srgbClr val="0000FF"/>
                </a:solidFill>
                <a:latin typeface="微软雅黑" pitchFamily="34" charset="-122"/>
                <a:ea typeface="微软雅黑" pitchFamily="34" charset="-122"/>
              </a:rPr>
              <a:t>对</a:t>
            </a:r>
            <a:r>
              <a:rPr lang="zh-CN" altLang="en-US" sz="2000" b="1" dirty="0">
                <a:solidFill>
                  <a:srgbClr val="C00000"/>
                </a:solidFill>
                <a:latin typeface="微软雅黑" pitchFamily="34" charset="-122"/>
                <a:ea typeface="微软雅黑" pitchFamily="34" charset="-122"/>
              </a:rPr>
              <a:t>新的</a:t>
            </a:r>
            <a:r>
              <a:rPr lang="zh-CN" altLang="en-US" sz="2000" b="1" dirty="0">
                <a:solidFill>
                  <a:srgbClr val="0000FF"/>
                </a:solidFill>
                <a:latin typeface="微软雅黑" pitchFamily="34" charset="-122"/>
                <a:ea typeface="微软雅黑" pitchFamily="34" charset="-122"/>
              </a:rPr>
              <a:t>报文段的确认</a:t>
            </a:r>
            <a:r>
              <a:rPr lang="zh-CN" altLang="en-US" sz="2000" b="1" dirty="0">
                <a:latin typeface="微软雅黑" pitchFamily="34" charset="-122"/>
                <a:ea typeface="微软雅黑" pitchFamily="34" charset="-122"/>
              </a:rPr>
              <a:t>，就把拥塞窗口增加最多一个</a:t>
            </a:r>
            <a:r>
              <a:rPr lang="zh-CN" altLang="en-US" sz="2000" b="1" dirty="0">
                <a:solidFill>
                  <a:srgbClr val="0000FF"/>
                </a:solidFill>
                <a:latin typeface="微软雅黑" pitchFamily="34" charset="-122"/>
                <a:ea typeface="微软雅黑" pitchFamily="34" charset="-122"/>
              </a:rPr>
              <a:t>发送方的最大报文段 </a:t>
            </a:r>
            <a:r>
              <a:rPr lang="en-US" altLang="zh-CN" sz="2000" b="1" dirty="0">
                <a:solidFill>
                  <a:srgbClr val="0000FF"/>
                </a:solidFill>
                <a:latin typeface="微软雅黑" pitchFamily="34" charset="-122"/>
                <a:ea typeface="微软雅黑" pitchFamily="34" charset="-122"/>
              </a:rPr>
              <a:t>SMSS</a:t>
            </a:r>
            <a:r>
              <a:rPr lang="en-US" altLang="zh-CN" sz="2000" b="1" dirty="0">
                <a:latin typeface="微软雅黑" pitchFamily="34" charset="-122"/>
                <a:ea typeface="微软雅黑" pitchFamily="34" charset="-122"/>
              </a:rPr>
              <a:t>  (Sender Maximum Segment Size) </a:t>
            </a:r>
            <a:r>
              <a:rPr lang="zh-CN" altLang="en-US" sz="2000" b="1" dirty="0">
                <a:latin typeface="微软雅黑" pitchFamily="34" charset="-122"/>
                <a:ea typeface="微软雅黑" pitchFamily="34" charset="-122"/>
              </a:rPr>
              <a:t>的数值。</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其中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是原先未被确认的、但现在被刚收到的确认报文段所确认的字节数。</a:t>
            </a:r>
          </a:p>
        </p:txBody>
      </p:sp>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圆角矩形 52"/>
          <p:cNvSpPr/>
          <p:nvPr/>
        </p:nvSpPr>
        <p:spPr>
          <a:xfrm>
            <a:off x="556963" y="1022411"/>
            <a:ext cx="8048776" cy="32794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0" name="组合 9"/>
          <p:cNvGrpSpPr/>
          <p:nvPr/>
        </p:nvGrpSpPr>
        <p:grpSpPr>
          <a:xfrm>
            <a:off x="1212822" y="1167329"/>
            <a:ext cx="6289448" cy="2890602"/>
            <a:chOff x="1646458" y="1195610"/>
            <a:chExt cx="6289448" cy="2890602"/>
          </a:xfrm>
        </p:grpSpPr>
        <p:sp>
          <p:nvSpPr>
            <p:cNvPr id="2" name="矩形 1"/>
            <p:cNvSpPr/>
            <p:nvPr/>
          </p:nvSpPr>
          <p:spPr>
            <a:xfrm>
              <a:off x="2794241" y="1195610"/>
              <a:ext cx="2592000" cy="418011"/>
            </a:xfrm>
            <a:prstGeom prst="rect">
              <a:avLst/>
            </a:prstGeom>
            <a:solidFill>
              <a:srgbClr val="66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zh-CN" altLang="en-US" sz="1200" b="1" dirty="0">
                  <a:solidFill>
                    <a:schemeClr val="tx1"/>
                  </a:solidFill>
                  <a:latin typeface="微软雅黑" pitchFamily="34" charset="-122"/>
                  <a:ea typeface="微软雅黑" pitchFamily="34" charset="-122"/>
                </a:rPr>
                <a:t>初始拥塞窗口 </a:t>
              </a:r>
              <a:r>
                <a:rPr lang="en-US" altLang="zh-CN" sz="1200" b="1" dirty="0" err="1">
                  <a:solidFill>
                    <a:schemeClr val="tx1"/>
                  </a:solidFill>
                  <a:latin typeface="微软雅黑" pitchFamily="34" charset="-122"/>
                  <a:ea typeface="微软雅黑" pitchFamily="34" charset="-122"/>
                </a:rPr>
                <a:t>cwnd</a:t>
              </a:r>
              <a:r>
                <a:rPr lang="en-US" altLang="zh-CN" sz="1200" b="1" dirty="0">
                  <a:solidFill>
                    <a:schemeClr val="tx1"/>
                  </a:solidFill>
                  <a:latin typeface="微软雅黑" pitchFamily="34" charset="-122"/>
                  <a:ea typeface="微软雅黑" pitchFamily="34" charset="-122"/>
                </a:rPr>
                <a:t> = 1</a:t>
              </a:r>
              <a:r>
                <a:rPr lang="zh-CN" altLang="en-US" sz="1200" b="1" dirty="0">
                  <a:solidFill>
                    <a:schemeClr val="tx1"/>
                  </a:solidFill>
                  <a:latin typeface="微软雅黑" pitchFamily="34" charset="-122"/>
                  <a:ea typeface="微软雅黑" pitchFamily="34" charset="-122"/>
                </a:rPr>
                <a:t>； </a:t>
              </a:r>
            </a:p>
            <a:p>
              <a:pPr algn="ctr">
                <a:lnSpc>
                  <a:spcPts val="1600"/>
                </a:lnSpc>
              </a:pPr>
              <a:r>
                <a:rPr lang="zh-CN" altLang="en-US" sz="1200" b="1" dirty="0">
                  <a:solidFill>
                    <a:schemeClr val="tx1"/>
                  </a:solidFill>
                  <a:latin typeface="微软雅黑" pitchFamily="34" charset="-122"/>
                  <a:ea typeface="微软雅黑" pitchFamily="34" charset="-122"/>
                </a:rPr>
                <a:t>慢开始门限 </a:t>
              </a:r>
              <a:r>
                <a:rPr lang="en-US" altLang="zh-CN" sz="1200" b="1" dirty="0">
                  <a:solidFill>
                    <a:schemeClr val="tx1"/>
                  </a:solidFill>
                  <a:latin typeface="微软雅黑" pitchFamily="34" charset="-122"/>
                  <a:ea typeface="微软雅黑" pitchFamily="34" charset="-122"/>
                </a:rPr>
                <a:t>SSTH </a:t>
              </a:r>
              <a:r>
                <a:rPr lang="zh-CN" altLang="en-US" sz="1200" b="1" dirty="0">
                  <a:solidFill>
                    <a:schemeClr val="tx1"/>
                  </a:solidFill>
                  <a:latin typeface="微软雅黑" pitchFamily="34" charset="-122"/>
                  <a:ea typeface="微软雅黑" pitchFamily="34" charset="-122"/>
                </a:rPr>
                <a:t>＝ </a:t>
              </a:r>
              <a:r>
                <a:rPr lang="en-US" altLang="zh-CN" sz="1200" b="1" i="1" dirty="0">
                  <a:solidFill>
                    <a:schemeClr val="tx1"/>
                  </a:solidFill>
                  <a:latin typeface="微软雅黑" pitchFamily="34" charset="-122"/>
                  <a:ea typeface="微软雅黑" pitchFamily="34" charset="-122"/>
                </a:rPr>
                <a:t>n</a:t>
              </a:r>
              <a:r>
                <a:rPr lang="zh-CN" altLang="en-US" sz="1200" b="1" dirty="0">
                  <a:solidFill>
                    <a:schemeClr val="tx1"/>
                  </a:solidFill>
                  <a:latin typeface="微软雅黑" pitchFamily="34" charset="-122"/>
                  <a:ea typeface="微软雅黑" pitchFamily="34" charset="-122"/>
                </a:rPr>
                <a:t>；</a:t>
              </a:r>
            </a:p>
          </p:txBody>
        </p:sp>
        <p:sp>
          <p:nvSpPr>
            <p:cNvPr id="8" name="矩形 7"/>
            <p:cNvSpPr/>
            <p:nvPr/>
          </p:nvSpPr>
          <p:spPr>
            <a:xfrm>
              <a:off x="6170189" y="3606150"/>
              <a:ext cx="1765717"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执行拥塞避免算法</a:t>
              </a:r>
            </a:p>
          </p:txBody>
        </p:sp>
        <p:cxnSp>
          <p:nvCxnSpPr>
            <p:cNvPr id="11" name="直接箭头连接符 10"/>
            <p:cNvCxnSpPr>
              <a:stCxn id="2" idx="2"/>
              <a:endCxn id="27" idx="0"/>
            </p:cNvCxnSpPr>
            <p:nvPr/>
          </p:nvCxnSpPr>
          <p:spPr>
            <a:xfrm>
              <a:off x="4090241" y="1613621"/>
              <a:ext cx="0" cy="35426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4090241" y="2254223"/>
              <a:ext cx="0" cy="281668"/>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4090241" y="3256983"/>
              <a:ext cx="0" cy="28711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flipH="1">
              <a:off x="1646458" y="1807082"/>
              <a:ext cx="2420309" cy="2008075"/>
              <a:chOff x="3328850" y="1780018"/>
              <a:chExt cx="4331082" cy="2120155"/>
            </a:xfrm>
          </p:grpSpPr>
          <p:cxnSp>
            <p:nvCxnSpPr>
              <p:cNvPr id="38" name="直接箭头连接符 37"/>
              <p:cNvCxnSpPr/>
              <p:nvPr/>
            </p:nvCxnSpPr>
            <p:spPr>
              <a:xfrm>
                <a:off x="4674447" y="3900172"/>
                <a:ext cx="2975527"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H="1" flipV="1">
                <a:off x="3328850" y="1780018"/>
                <a:ext cx="433108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直接箭头连接符 40"/>
              <p:cNvCxnSpPr/>
              <p:nvPr/>
            </p:nvCxnSpPr>
            <p:spPr>
              <a:xfrm>
                <a:off x="7659932" y="1780018"/>
                <a:ext cx="0" cy="212015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43" name="直接箭头连接符 42"/>
            <p:cNvCxnSpPr>
              <a:stCxn id="42" idx="3"/>
              <a:endCxn id="8" idx="1"/>
            </p:cNvCxnSpPr>
            <p:nvPr/>
          </p:nvCxnSpPr>
          <p:spPr>
            <a:xfrm flipV="1">
              <a:off x="5386241" y="3815156"/>
              <a:ext cx="783948"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443336" y="3565624"/>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是</a:t>
              </a:r>
            </a:p>
          </p:txBody>
        </p:sp>
        <p:sp>
          <p:nvSpPr>
            <p:cNvPr id="48" name="TextBox 47"/>
            <p:cNvSpPr txBox="1"/>
            <p:nvPr/>
          </p:nvSpPr>
          <p:spPr>
            <a:xfrm>
              <a:off x="5376565" y="3565786"/>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否</a:t>
              </a:r>
            </a:p>
          </p:txBody>
        </p:sp>
        <p:sp>
          <p:nvSpPr>
            <p:cNvPr id="27" name="矩形 26"/>
            <p:cNvSpPr/>
            <p:nvPr/>
          </p:nvSpPr>
          <p:spPr>
            <a:xfrm>
              <a:off x="2794241" y="1967885"/>
              <a:ext cx="2592000" cy="286338"/>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itchFamily="34" charset="-122"/>
                  <a:ea typeface="微软雅黑" pitchFamily="34" charset="-122"/>
                </a:rPr>
                <a:t>发送报文段</a:t>
              </a:r>
            </a:p>
          </p:txBody>
        </p:sp>
        <p:sp>
          <p:nvSpPr>
            <p:cNvPr id="37" name="矩形 36"/>
            <p:cNvSpPr/>
            <p:nvPr/>
          </p:nvSpPr>
          <p:spPr>
            <a:xfrm>
              <a:off x="2794241" y="2535891"/>
              <a:ext cx="2592000" cy="721092"/>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b="1" dirty="0">
                  <a:solidFill>
                    <a:srgbClr val="000066"/>
                  </a:solidFill>
                  <a:latin typeface="微软雅黑" pitchFamily="34" charset="-122"/>
                  <a:ea typeface="微软雅黑" pitchFamily="34" charset="-122"/>
                </a:rPr>
                <a:t>（重传定时器未超时）</a:t>
              </a:r>
              <a:endParaRPr lang="en-US" altLang="zh-CN" sz="1200" b="1" dirty="0">
                <a:solidFill>
                  <a:srgbClr val="000066"/>
                </a:solidFill>
                <a:latin typeface="微软雅黑" pitchFamily="34" charset="-122"/>
                <a:ea typeface="微软雅黑" pitchFamily="34" charset="-122"/>
              </a:endParaRPr>
            </a:p>
            <a:p>
              <a:pPr algn="ctr">
                <a:lnSpc>
                  <a:spcPts val="1800"/>
                </a:lnSpc>
              </a:pPr>
              <a:r>
                <a:rPr lang="zh-CN" altLang="en-US" sz="1200" b="1" dirty="0">
                  <a:solidFill>
                    <a:srgbClr val="000066"/>
                  </a:solidFill>
                  <a:latin typeface="微软雅黑" pitchFamily="34" charset="-122"/>
                  <a:ea typeface="微软雅黑" pitchFamily="34" charset="-122"/>
                </a:rPr>
                <a:t>每收到一个对新的报文段的确认</a:t>
              </a:r>
            </a:p>
            <a:p>
              <a:pPr algn="ctr">
                <a:lnSpc>
                  <a:spcPts val="1800"/>
                </a:lnSpc>
              </a:pP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a:t>
              </a: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+1</a:t>
              </a:r>
              <a:endParaRPr lang="zh-CN" altLang="en-US" sz="1200" b="1" dirty="0">
                <a:solidFill>
                  <a:srgbClr val="000066"/>
                </a:solidFill>
                <a:latin typeface="微软雅黑" pitchFamily="34" charset="-122"/>
                <a:ea typeface="微软雅黑" pitchFamily="34" charset="-122"/>
              </a:endParaRPr>
            </a:p>
          </p:txBody>
        </p:sp>
        <p:sp>
          <p:nvSpPr>
            <p:cNvPr id="42" name="流程图: 决策 41"/>
            <p:cNvSpPr/>
            <p:nvPr/>
          </p:nvSpPr>
          <p:spPr>
            <a:xfrm>
              <a:off x="2794241" y="3544102"/>
              <a:ext cx="2592000" cy="542110"/>
            </a:xfrm>
            <a:prstGeom prst="flowChartDecision">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&lt; SSTH</a:t>
              </a:r>
              <a:r>
                <a:rPr lang="zh-CN" altLang="en-US" sz="1200" b="1" dirty="0">
                  <a:solidFill>
                    <a:srgbClr val="000066"/>
                  </a:solidFill>
                  <a:latin typeface="微软雅黑" pitchFamily="34" charset="-122"/>
                  <a:ea typeface="微软雅黑" pitchFamily="34" charset="-122"/>
                </a:rPr>
                <a:t>？</a:t>
              </a:r>
            </a:p>
          </p:txBody>
        </p:sp>
      </p:grpSp>
      <p:sp>
        <p:nvSpPr>
          <p:cNvPr id="20"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1"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9" name="矩形 8"/>
          <p:cNvSpPr/>
          <p:nvPr/>
        </p:nvSpPr>
        <p:spPr>
          <a:xfrm>
            <a:off x="4952605" y="1201058"/>
            <a:ext cx="3388665" cy="307777"/>
          </a:xfrm>
          <a:prstGeom prst="rect">
            <a:avLst/>
          </a:prstGeom>
        </p:spPr>
        <p:txBody>
          <a:bodyPr wrap="square">
            <a:spAutoFit/>
          </a:bodyPr>
          <a:lstStyle/>
          <a:p>
            <a:r>
              <a:rPr lang="zh-CN" altLang="en-US" sz="1400" b="1" dirty="0">
                <a:latin typeface="微软雅黑" panose="020B0503020204020204" pitchFamily="34" charset="-122"/>
                <a:ea typeface="微软雅黑" panose="020B0503020204020204" pitchFamily="34" charset="-122"/>
              </a:rPr>
              <a:t>（假设发送方设置 </a:t>
            </a:r>
            <a:r>
              <a:rPr lang="en-US" altLang="zh-CN" sz="1400" b="1" dirty="0" err="1">
                <a:latin typeface="微软雅黑" panose="020B0503020204020204" pitchFamily="34" charset="-122"/>
                <a:ea typeface="微软雅黑" panose="020B0503020204020204" pitchFamily="34" charset="-122"/>
              </a:rPr>
              <a:t>cwnd</a:t>
            </a:r>
            <a:r>
              <a:rPr lang="en-US" altLang="zh-CN" sz="1400" b="1" dirty="0">
                <a:latin typeface="微软雅黑" panose="020B0503020204020204" pitchFamily="34" charset="-122"/>
                <a:ea typeface="微软雅黑" panose="020B0503020204020204" pitchFamily="34" charset="-122"/>
              </a:rPr>
              <a:t> = 1 </a:t>
            </a:r>
            <a:r>
              <a:rPr lang="zh-CN" altLang="en-US" sz="1400" b="1" dirty="0">
                <a:latin typeface="微软雅黑" panose="020B0503020204020204" pitchFamily="34" charset="-122"/>
                <a:ea typeface="微软雅黑" panose="020B0503020204020204" pitchFamily="34" charset="-122"/>
              </a:rPr>
              <a:t>个 </a:t>
            </a:r>
            <a:r>
              <a:rPr lang="en-US" altLang="zh-CN" sz="1400" b="1" dirty="0">
                <a:latin typeface="微软雅黑" panose="020B0503020204020204" pitchFamily="34" charset="-122"/>
                <a:ea typeface="微软雅黑" panose="020B0503020204020204" pitchFamily="34" charset="-122"/>
              </a:rPr>
              <a:t>SMSS</a:t>
            </a:r>
            <a:r>
              <a:rPr lang="zh-CN" altLang="en-US" sz="1400" b="1" dirty="0">
                <a:latin typeface="微软雅黑" panose="020B0503020204020204" pitchFamily="34" charset="-122"/>
                <a:ea typeface="微软雅黑" panose="020B0503020204020204" pitchFamily="34" charset="-122"/>
              </a:rPr>
              <a:t>）</a:t>
            </a:r>
          </a:p>
        </p:txBody>
      </p:sp>
      <p:sp>
        <p:nvSpPr>
          <p:cNvPr id="7" name="内容占位符 6">
            <a:extLst>
              <a:ext uri="{FF2B5EF4-FFF2-40B4-BE49-F238E27FC236}">
                <a16:creationId xmlns:a16="http://schemas.microsoft.com/office/drawing/2014/main" id="{0C08B837-C265-B96A-581C-96951EFA321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4A198DE-DCD8-8209-3038-91019F82D30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116" name="Rectangle 2"/>
          <p:cNvSpPr>
            <a:spLocks noChangeArrowheads="1"/>
          </p:cNvSpPr>
          <p:nvPr/>
        </p:nvSpPr>
        <p:spPr bwMode="auto">
          <a:xfrm>
            <a:off x="3613957" y="2286101"/>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1"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42"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3"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endParaRPr kumimoji="0" lang="en-US" altLang="zh-CN" sz="12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sp>
        <p:nvSpPr>
          <p:cNvPr id="44"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45"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6" name="内容占位符 5">
            <a:extLst>
              <a:ext uri="{FF2B5EF4-FFF2-40B4-BE49-F238E27FC236}">
                <a16:creationId xmlns:a16="http://schemas.microsoft.com/office/drawing/2014/main" id="{DF5E871E-C041-E609-A383-311114CE828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ACFD07-B143-550A-DD09-CC0E09C095E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6" name="内容占位符 5">
            <a:extLst>
              <a:ext uri="{FF2B5EF4-FFF2-40B4-BE49-F238E27FC236}">
                <a16:creationId xmlns:a16="http://schemas.microsoft.com/office/drawing/2014/main" id="{FE55FA80-F64C-D179-DD1A-353C1C7B8A1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0ECC931-3A6F-B1FE-5B81-8DBB9DDFD15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675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451609" y="593539"/>
            <a:ext cx="42595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传输轮次（</a:t>
            </a:r>
            <a:r>
              <a:rPr lang="en-US" altLang="zh-CN" sz="2000" b="1" dirty="0">
                <a:solidFill>
                  <a:schemeClr val="bg1"/>
                </a:solidFill>
                <a:latin typeface="微软雅黑" pitchFamily="34" charset="-122"/>
                <a:ea typeface="微软雅黑" pitchFamily="34" charset="-122"/>
              </a:rPr>
              <a:t>transmission round</a:t>
            </a:r>
            <a:r>
              <a:rPr lang="zh-CN" altLang="en-US" sz="2000" b="1" dirty="0">
                <a:solidFill>
                  <a:schemeClr val="bg1"/>
                </a:solidFill>
                <a:latin typeface="微软雅黑" pitchFamily="34" charset="-122"/>
                <a:ea typeface="微软雅黑" pitchFamily="34" charset="-122"/>
              </a:rPr>
              <a:t>）</a:t>
            </a:r>
          </a:p>
        </p:txBody>
      </p:sp>
      <p:sp>
        <p:nvSpPr>
          <p:cNvPr id="4" name="Rectangle 68"/>
          <p:cNvSpPr>
            <a:spLocks noChangeArrowheads="1"/>
          </p:cNvSpPr>
          <p:nvPr/>
        </p:nvSpPr>
        <p:spPr bwMode="auto">
          <a:xfrm>
            <a:off x="556963" y="989566"/>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一个传输轮次</a:t>
            </a:r>
            <a:r>
              <a:rPr lang="zh-CN" altLang="en-US" sz="2000" b="1" dirty="0">
                <a:latin typeface="微软雅黑" pitchFamily="34" charset="-122"/>
                <a:ea typeface="微软雅黑" pitchFamily="34" charset="-122"/>
              </a:rPr>
              <a:t>所经历的时间其实就是</a:t>
            </a:r>
            <a:r>
              <a:rPr lang="zh-CN" altLang="en-US" sz="2000" b="1" dirty="0">
                <a:solidFill>
                  <a:srgbClr val="C00000"/>
                </a:solidFill>
                <a:latin typeface="微软雅黑" pitchFamily="34" charset="-122"/>
                <a:ea typeface="微软雅黑" pitchFamily="34" charset="-122"/>
              </a:rPr>
              <a:t>往返时间 </a:t>
            </a:r>
            <a:r>
              <a:rPr lang="en-US" altLang="zh-CN" sz="2000" b="1" dirty="0">
                <a:latin typeface="微软雅黑" pitchFamily="34" charset="-122"/>
                <a:ea typeface="微软雅黑" pitchFamily="34" charset="-122"/>
              </a:rPr>
              <a:t>RTT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传输轮次</a:t>
            </a:r>
            <a:r>
              <a:rPr lang="zh-CN" altLang="en-US" sz="2000" b="1" dirty="0">
                <a:solidFill>
                  <a:srgbClr val="C00000"/>
                </a:solidFill>
                <a:latin typeface="微软雅黑" pitchFamily="34" charset="-122"/>
                <a:ea typeface="微软雅黑" pitchFamily="34" charset="-122"/>
              </a:rPr>
              <a:t>强调：</a:t>
            </a:r>
            <a:r>
              <a:rPr lang="zh-CN" altLang="en-US" sz="2000" b="1" dirty="0">
                <a:latin typeface="微软雅黑" pitchFamily="34" charset="-122"/>
                <a:ea typeface="微软雅黑" pitchFamily="34" charset="-122"/>
              </a:rPr>
              <a:t>把拥塞窗口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所允许发送的报文段都连续发送出去，并收到了对已发送的最后一个字节的确认。</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4</a:t>
            </a:r>
            <a:r>
              <a:rPr lang="zh-CN" altLang="en-US" sz="2000" b="1" dirty="0">
                <a:latin typeface="微软雅黑" pitchFamily="34" charset="-122"/>
                <a:ea typeface="微软雅黑" pitchFamily="34" charset="-122"/>
              </a:rPr>
              <a:t>，这时的往返时间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就是发送方连续发送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个报文段，并收到这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个报文段的确认，总共经历的时间。 </a:t>
            </a:r>
          </a:p>
        </p:txBody>
      </p:sp>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090"/>
            <a:ext cx="8048776" cy="353930"/>
          </a:xfrm>
          <a:prstGeom prst="roundRect">
            <a:avLst>
              <a:gd name="adj" fmla="val 16667"/>
            </a:avLst>
          </a:prstGeom>
          <a:solidFill>
            <a:srgbClr val="00B050"/>
          </a:solidFill>
          <a:ln>
            <a:noFill/>
          </a:ln>
          <a:effectLst/>
        </p:spPr>
        <p:txBody>
          <a:bodyPr wrap="none" anchor="ctr"/>
          <a:lstStyle/>
          <a:p>
            <a:endParaRPr lang="zh-CN" altLang="en-US" dirty="0"/>
          </a:p>
        </p:txBody>
      </p:sp>
      <p:sp>
        <p:nvSpPr>
          <p:cNvPr id="3" name="Rectangle 6"/>
          <p:cNvSpPr>
            <a:spLocks noChangeArrowheads="1"/>
          </p:cNvSpPr>
          <p:nvPr/>
        </p:nvSpPr>
        <p:spPr bwMode="auto">
          <a:xfrm>
            <a:off x="3272981" y="587879"/>
            <a:ext cx="26167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慢开始门限 </a:t>
            </a:r>
            <a:r>
              <a:rPr lang="en-US" altLang="zh-CN" sz="2000" b="1" dirty="0" err="1">
                <a:solidFill>
                  <a:schemeClr val="bg1"/>
                </a:solidFill>
                <a:latin typeface="微软雅黑" pitchFamily="34" charset="-122"/>
                <a:ea typeface="微软雅黑" pitchFamily="34" charset="-122"/>
              </a:rPr>
              <a:t>ssthresh</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189"/>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防止拥塞窗口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增长过大引起网络拥塞。</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用法：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时，使用慢开始算法。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&gt;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时，停止使用慢开始算法，改用拥塞避免算法。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时，既可使用慢开始算法，也可使用拥塞避免算法。</a:t>
            </a:r>
          </a:p>
        </p:txBody>
      </p:sp>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56963" y="6255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821367" y="592354"/>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拥塞避免</a:t>
            </a:r>
          </a:p>
        </p:txBody>
      </p:sp>
      <p:sp>
        <p:nvSpPr>
          <p:cNvPr id="62" name="Rectangle 68"/>
          <p:cNvSpPr>
            <a:spLocks noChangeArrowheads="1"/>
          </p:cNvSpPr>
          <p:nvPr/>
        </p:nvSpPr>
        <p:spPr bwMode="auto">
          <a:xfrm>
            <a:off x="556963" y="992181"/>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缓慢地</a:t>
            </a:r>
            <a:r>
              <a:rPr lang="zh-CN" altLang="en-US" sz="2000" b="1" dirty="0">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避免</a:t>
            </a:r>
            <a:r>
              <a:rPr lang="zh-CN" altLang="en-US" sz="2000" b="1" dirty="0">
                <a:latin typeface="微软雅黑" pitchFamily="34" charset="-122"/>
                <a:ea typeface="微软雅黑" pitchFamily="34" charset="-122"/>
              </a:rPr>
              <a:t>出现拥塞。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每经过一个往返时间 </a:t>
            </a:r>
            <a:r>
              <a:rPr lang="en-US" altLang="zh-CN" sz="2000" b="1" dirty="0">
                <a:solidFill>
                  <a:srgbClr val="0000FF"/>
                </a:solidFill>
                <a:latin typeface="微软雅黑" pitchFamily="34" charset="-122"/>
                <a:ea typeface="微软雅黑" pitchFamily="34" charset="-122"/>
              </a:rPr>
              <a:t>RTT</a:t>
            </a:r>
            <a:r>
              <a:rPr lang="zh-CN" altLang="en-US" sz="2000" b="1" dirty="0">
                <a:latin typeface="微软雅黑" pitchFamily="34" charset="-122"/>
                <a:ea typeface="微软雅黑" pitchFamily="34" charset="-122"/>
              </a:rPr>
              <a:t>（不管在此期间收到了多少确认），发送方的拥塞窗口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具有</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(Additive Increase) </a:t>
            </a:r>
            <a:r>
              <a:rPr lang="zh-CN" altLang="en-US" sz="2000" b="1" dirty="0">
                <a:latin typeface="微软雅黑" pitchFamily="34" charset="-122"/>
                <a:ea typeface="微软雅黑" pitchFamily="34" charset="-122"/>
              </a:rPr>
              <a:t>特点：使拥塞窗口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线性</a:t>
            </a:r>
            <a:r>
              <a:rPr lang="zh-CN" altLang="en-US" sz="2000" b="1" dirty="0">
                <a:latin typeface="微软雅黑" pitchFamily="34" charset="-122"/>
                <a:ea typeface="微软雅黑" pitchFamily="34" charset="-122"/>
              </a:rPr>
              <a:t>规律缓慢增长。</a:t>
            </a:r>
          </a:p>
        </p:txBody>
      </p:sp>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048866"/>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667719"/>
            <a:ext cx="4761551" cy="756000"/>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7" y="1534929"/>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16033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15951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41197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551323"/>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06198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1786570"/>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633945"/>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45419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2885754"/>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470175"/>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193730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22673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165260"/>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2824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44722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49681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endParaRPr kumimoji="0" lang="en-US" altLang="zh-CN" sz="12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137" name="Text Box 23"/>
          <p:cNvSpPr txBox="1">
            <a:spLocks noChangeArrowheads="1"/>
          </p:cNvSpPr>
          <p:nvPr/>
        </p:nvSpPr>
        <p:spPr bwMode="auto">
          <a:xfrm>
            <a:off x="5281176" y="2915676"/>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050509"/>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21608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01928" y="1416077"/>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01928" y="1971816"/>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01928" y="2536572"/>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3 </a:t>
            </a:r>
          </a:p>
        </p:txBody>
      </p:sp>
      <p:sp>
        <p:nvSpPr>
          <p:cNvPr id="144" name="Text Box 30"/>
          <p:cNvSpPr txBox="1">
            <a:spLocks noChangeArrowheads="1"/>
          </p:cNvSpPr>
          <p:nvPr/>
        </p:nvSpPr>
        <p:spPr bwMode="auto">
          <a:xfrm>
            <a:off x="2496349" y="3313978"/>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7</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10</a:t>
            </a:r>
          </a:p>
        </p:txBody>
      </p:sp>
      <p:sp>
        <p:nvSpPr>
          <p:cNvPr id="145" name="Text Box 31"/>
          <p:cNvSpPr txBox="1">
            <a:spLocks noChangeArrowheads="1"/>
          </p:cNvSpPr>
          <p:nvPr/>
        </p:nvSpPr>
        <p:spPr bwMode="auto">
          <a:xfrm>
            <a:off x="1401928" y="3325756"/>
            <a:ext cx="677585" cy="251573"/>
          </a:xfrm>
          <a:prstGeom prst="rect">
            <a:avLst/>
          </a:prstGeom>
          <a:solidFill>
            <a:srgbClr val="FF66FF"/>
          </a:solidFill>
          <a:ln>
            <a:noFill/>
          </a:ln>
          <a:effectLst/>
        </p:spPr>
        <p:txBody>
          <a:bodyPr wrap="none">
            <a:no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6" name="Text Box 32"/>
          <p:cNvSpPr txBox="1">
            <a:spLocks noChangeArrowheads="1"/>
          </p:cNvSpPr>
          <p:nvPr/>
        </p:nvSpPr>
        <p:spPr bwMode="auto">
          <a:xfrm rot="5400000">
            <a:off x="4349938" y="3563400"/>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66690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283165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2983741"/>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614436"/>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18411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3" name="Text Box 42"/>
          <p:cNvSpPr txBox="1">
            <a:spLocks noChangeArrowheads="1"/>
          </p:cNvSpPr>
          <p:nvPr/>
        </p:nvSpPr>
        <p:spPr bwMode="auto">
          <a:xfrm>
            <a:off x="6474163" y="2924644"/>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40" name="Text Box 155"/>
          <p:cNvSpPr txBox="1">
            <a:spLocks noChangeArrowheads="1"/>
          </p:cNvSpPr>
          <p:nvPr/>
        </p:nvSpPr>
        <p:spPr bwMode="auto">
          <a:xfrm>
            <a:off x="1659118" y="731528"/>
            <a:ext cx="5910606"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每经过一个往返时间 </a:t>
            </a:r>
            <a:r>
              <a:rPr lang="en-US" altLang="zh-CN" sz="1600" b="1" dirty="0">
                <a:solidFill>
                  <a:schemeClr val="bg1"/>
                </a:solidFill>
                <a:latin typeface="微软雅黑" pitchFamily="34" charset="-122"/>
                <a:ea typeface="微软雅黑" pitchFamily="34" charset="-122"/>
              </a:rPr>
              <a:t>RTT</a:t>
            </a:r>
            <a:r>
              <a:rPr lang="zh-CN" altLang="en-US" sz="1600" b="1" dirty="0">
                <a:solidFill>
                  <a:schemeClr val="bg1"/>
                </a:solidFill>
                <a:latin typeface="微软雅黑" pitchFamily="34" charset="-122"/>
                <a:ea typeface="微软雅黑" pitchFamily="34" charset="-122"/>
              </a:rPr>
              <a:t>，发送方就把拥塞窗口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6" name="内容占位符 5">
            <a:extLst>
              <a:ext uri="{FF2B5EF4-FFF2-40B4-BE49-F238E27FC236}">
                <a16:creationId xmlns:a16="http://schemas.microsoft.com/office/drawing/2014/main" id="{184C4D18-4F5A-5A1D-94D4-1F417F70F37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4DCE551-62E7-012F-5A85-8DB386F8BAE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14155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AutoShape 5"/>
          <p:cNvSpPr>
            <a:spLocks noChangeArrowheads="1"/>
          </p:cNvSpPr>
          <p:nvPr/>
        </p:nvSpPr>
        <p:spPr bwMode="auto">
          <a:xfrm>
            <a:off x="556963" y="61732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5" name="Rectangle 6"/>
          <p:cNvSpPr>
            <a:spLocks noChangeArrowheads="1"/>
          </p:cNvSpPr>
          <p:nvPr/>
        </p:nvSpPr>
        <p:spPr bwMode="auto">
          <a:xfrm>
            <a:off x="3463097" y="584112"/>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当网络出现拥塞时</a:t>
            </a:r>
          </a:p>
        </p:txBody>
      </p:sp>
      <p:sp>
        <p:nvSpPr>
          <p:cNvPr id="58" name="Rectangle 68"/>
          <p:cNvSpPr>
            <a:spLocks noChangeArrowheads="1"/>
          </p:cNvSpPr>
          <p:nvPr/>
        </p:nvSpPr>
        <p:spPr bwMode="auto">
          <a:xfrm>
            <a:off x="556963" y="980422"/>
            <a:ext cx="8048776"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无论在慢开始阶段还是在拥塞避免阶段，只要发送方判断网络出现拥塞（</a:t>
            </a:r>
            <a:r>
              <a:rPr lang="zh-CN" altLang="en-US" sz="2000" b="1" dirty="0">
                <a:solidFill>
                  <a:srgbClr val="0000FF"/>
                </a:solidFill>
                <a:latin typeface="微软雅黑" pitchFamily="34" charset="-122"/>
                <a:ea typeface="微软雅黑" pitchFamily="34" charset="-122"/>
              </a:rPr>
              <a:t>重传定时器超时</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ssthresh</a:t>
            </a:r>
            <a:r>
              <a:rPr lang="en-US" altLang="zh-CN" sz="2000" b="1" dirty="0">
                <a:solidFill>
                  <a:srgbClr val="0000FF"/>
                </a:solidFill>
                <a:latin typeface="微软雅黑" pitchFamily="34" charset="-122"/>
                <a:ea typeface="微软雅黑" pitchFamily="34" charset="-122"/>
              </a:rPr>
              <a:t> = max (</a:t>
            </a: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/2</a:t>
            </a:r>
            <a:r>
              <a:rPr lang="zh-CN" altLang="en-US" sz="2000" b="1" dirty="0">
                <a:solidFill>
                  <a:srgbClr val="0000FF"/>
                </a:solidFill>
                <a:latin typeface="微软雅黑" pitchFamily="34" charset="-122"/>
                <a:ea typeface="微软雅黑" pitchFamily="34" charset="-122"/>
              </a:rPr>
              <a:t>，</a:t>
            </a:r>
            <a:r>
              <a:rPr lang="en-US" altLang="zh-CN" sz="2000" b="1" dirty="0">
                <a:solidFill>
                  <a:srgbClr val="0000FF"/>
                </a:solidFill>
                <a:latin typeface="微软雅黑" pitchFamily="34" charset="-122"/>
                <a:ea typeface="微软雅黑" pitchFamily="34" charset="-122"/>
              </a:rPr>
              <a:t>2)</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 = 1</a:t>
            </a:r>
          </a:p>
          <a:p>
            <a:pPr marL="633413" indent="-342900">
              <a:lnSpc>
                <a:spcPts val="30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执行慢开始算法</a:t>
            </a:r>
          </a:p>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迅速减少主机发送到网络中的分组数，使得发生拥塞的路由器有足够时间把队列中积压的分组处理完毕。 </a:t>
            </a:r>
          </a:p>
        </p:txBody>
      </p:sp>
      <p:sp>
        <p:nvSpPr>
          <p:cNvPr id="6" name="内容占位符 5">
            <a:extLst>
              <a:ext uri="{FF2B5EF4-FFF2-40B4-BE49-F238E27FC236}">
                <a16:creationId xmlns:a16="http://schemas.microsoft.com/office/drawing/2014/main" id="{0E56A59E-18CF-7DBD-258C-34A9DF2BB9E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361397-1F02-7DCC-CB05-2CA8920A727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矩形 39"/>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1" name="圆角矩形 4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6" name="内容占位符 5">
            <a:extLst>
              <a:ext uri="{FF2B5EF4-FFF2-40B4-BE49-F238E27FC236}">
                <a16:creationId xmlns:a16="http://schemas.microsoft.com/office/drawing/2014/main" id="{9C0F22B8-6A26-32FC-99BE-D2068C1D64E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26AF6AB-D601-52A6-78B5-E0EBD10EE0B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圆角矩形 123"/>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18B61293-B018-1337-E9D6-A9D13EEBBE9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D778F9-691A-6893-CCD2-1E31C89B648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678224D-77D3-DE85-29CD-D144C1F6617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6E9A05C-CD55-8EA9-CC94-4D9E646FCCA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6FEDC817-5E6A-DE13-B61C-C4ABD06345F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FCACCBA-68BC-6785-1AC3-40A5B2A3878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50"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1" name="矩形 350"/>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E258B72D-B6AA-1993-5919-444576157C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7A721D1-076D-2AA7-436F-323F0B533BF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圆角矩形 15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5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矩形 15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7" name="内容占位符 6">
            <a:extLst>
              <a:ext uri="{FF2B5EF4-FFF2-40B4-BE49-F238E27FC236}">
                <a16:creationId xmlns:a16="http://schemas.microsoft.com/office/drawing/2014/main" id="{A8BC7B2A-490C-2B96-3586-A6B9A5216379}"/>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B818F90D-44B8-8941-CE7D-365B41B61E3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123"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矩形 123"/>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7FCF89BF-10F8-CBFF-A764-28E3825544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D83FA92-5B44-B52A-9B25-1112DCC8FB7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圆角矩形 145"/>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61"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2" name="矩形 261"/>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F31A903C-8B73-B9C0-CC95-635A5D04C54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59BDD3-EA27-EFEC-54D0-75BEBDAC6B8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712555B8-D511-7FFA-91BB-1B99494A92F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A471817-1839-8117-A4B9-72236707C30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D622BCC-60FE-84D9-A8C7-4BACC5EDA8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0882014-F58E-9F0E-79D4-F86DA547142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5"/>
          <p:cNvSpPr>
            <a:spLocks noChangeArrowheads="1"/>
          </p:cNvSpPr>
          <p:nvPr/>
        </p:nvSpPr>
        <p:spPr bwMode="auto">
          <a:xfrm>
            <a:off x="556963" y="63447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6" name="Rectangle 6"/>
          <p:cNvSpPr>
            <a:spLocks noChangeArrowheads="1"/>
          </p:cNvSpPr>
          <p:nvPr/>
        </p:nvSpPr>
        <p:spPr bwMode="auto">
          <a:xfrm>
            <a:off x="2192460" y="601267"/>
            <a:ext cx="47777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快重传 </a:t>
            </a:r>
            <a:r>
              <a:rPr lang="en-US" altLang="zh-CN" sz="2000" b="1" dirty="0">
                <a:solidFill>
                  <a:schemeClr val="bg1"/>
                </a:solidFill>
                <a:latin typeface="微软雅黑" pitchFamily="34" charset="-122"/>
                <a:ea typeface="微软雅黑" pitchFamily="34" charset="-122"/>
              </a:rPr>
              <a:t>FR (Fast Retransmission) </a:t>
            </a:r>
            <a:r>
              <a:rPr lang="zh-CN" altLang="en-US" sz="2000" b="1" dirty="0">
                <a:solidFill>
                  <a:schemeClr val="bg1"/>
                </a:solidFill>
                <a:latin typeface="微软雅黑" pitchFamily="34" charset="-122"/>
                <a:ea typeface="微软雅黑" pitchFamily="34" charset="-122"/>
              </a:rPr>
              <a:t>算法</a:t>
            </a:r>
          </a:p>
        </p:txBody>
      </p:sp>
      <p:sp>
        <p:nvSpPr>
          <p:cNvPr id="47" name="Rectangle 68"/>
          <p:cNvSpPr>
            <a:spLocks noChangeArrowheads="1"/>
          </p:cNvSpPr>
          <p:nvPr/>
        </p:nvSpPr>
        <p:spPr bwMode="auto">
          <a:xfrm>
            <a:off x="556963" y="997577"/>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让发送方</a:t>
            </a:r>
            <a:r>
              <a:rPr lang="zh-CN" altLang="en-US" sz="2000" b="1" dirty="0">
                <a:solidFill>
                  <a:srgbClr val="0000FF"/>
                </a:solidFill>
                <a:latin typeface="微软雅黑" pitchFamily="34" charset="-122"/>
                <a:ea typeface="微软雅黑" pitchFamily="34" charset="-122"/>
              </a:rPr>
              <a:t>尽早</a:t>
            </a:r>
            <a:r>
              <a:rPr lang="zh-CN" altLang="en-US" sz="2000" b="1" dirty="0">
                <a:latin typeface="微软雅黑" pitchFamily="34" charset="-122"/>
                <a:ea typeface="微软雅黑" pitchFamily="34" charset="-122"/>
              </a:rPr>
              <a:t>知道发生了个别报文段的丢失。</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发送方只要连续收到</a:t>
            </a:r>
            <a:r>
              <a:rPr lang="zh-CN" altLang="en-US" sz="2000" b="1" dirty="0">
                <a:solidFill>
                  <a:srgbClr val="0000FF"/>
                </a:solidFill>
                <a:latin typeface="微软雅黑" pitchFamily="34" charset="-122"/>
                <a:ea typeface="微软雅黑" pitchFamily="34" charset="-122"/>
              </a:rPr>
              <a:t>三个重复的确认，</a:t>
            </a:r>
            <a:r>
              <a:rPr lang="zh-CN" altLang="en-US" sz="2000" b="1" dirty="0">
                <a:latin typeface="微软雅黑" pitchFamily="34" charset="-122"/>
                <a:ea typeface="微软雅黑" pitchFamily="34" charset="-122"/>
              </a:rPr>
              <a:t>就</a:t>
            </a:r>
            <a:r>
              <a:rPr lang="zh-CN" altLang="en-US" sz="2000" b="1" dirty="0">
                <a:solidFill>
                  <a:srgbClr val="C00000"/>
                </a:solidFill>
                <a:latin typeface="微软雅黑" pitchFamily="34" charset="-122"/>
                <a:ea typeface="微软雅黑" pitchFamily="34" charset="-122"/>
              </a:rPr>
              <a:t>立即进行重传</a:t>
            </a:r>
            <a:r>
              <a:rPr lang="zh-CN" altLang="en-US" sz="2000" b="1" dirty="0">
                <a:solidFill>
                  <a:srgbClr val="0000FF"/>
                </a:solidFill>
                <a:latin typeface="微软雅黑" pitchFamily="34" charset="-122"/>
                <a:ea typeface="微软雅黑" pitchFamily="34" charset="-122"/>
              </a:rPr>
              <a:t>（即“快重传”）</a:t>
            </a:r>
            <a:r>
              <a:rPr lang="zh-CN" altLang="en-US" sz="2000" b="1" dirty="0">
                <a:latin typeface="微软雅黑" pitchFamily="34" charset="-122"/>
                <a:ea typeface="微软雅黑" pitchFamily="34" charset="-122"/>
              </a:rPr>
              <a:t>，这样就不会出现超时。</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使用快重传可以使整个网络的吞吐量提高约 </a:t>
            </a:r>
            <a:r>
              <a:rPr lang="en-US" altLang="zh-CN" sz="2000" b="1" dirty="0">
                <a:latin typeface="微软雅黑" pitchFamily="34" charset="-122"/>
                <a:ea typeface="微软雅黑" pitchFamily="34" charset="-122"/>
              </a:rPr>
              <a:t>20%</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快重传算法要求接收方</a:t>
            </a:r>
            <a:r>
              <a:rPr lang="zh-CN" altLang="en-US" sz="2000" b="1" dirty="0">
                <a:solidFill>
                  <a:srgbClr val="C00000"/>
                </a:solidFill>
                <a:latin typeface="微软雅黑" pitchFamily="34" charset="-122"/>
                <a:ea typeface="微软雅黑" pitchFamily="34" charset="-122"/>
              </a:rPr>
              <a:t>立即发送确认，</a:t>
            </a:r>
            <a:r>
              <a:rPr lang="zh-CN" altLang="en-US" sz="2000" b="1" dirty="0">
                <a:latin typeface="微软雅黑" pitchFamily="34" charset="-122"/>
                <a:ea typeface="微软雅黑" pitchFamily="34" charset="-122"/>
              </a:rPr>
              <a:t>即使收到了失序的报文段，也要立即发出对已收到的报文段的重复确认。</a:t>
            </a:r>
          </a:p>
        </p:txBody>
      </p:sp>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AutoShape 5"/>
          <p:cNvSpPr>
            <a:spLocks noChangeArrowheads="1"/>
          </p:cNvSpPr>
          <p:nvPr/>
        </p:nvSpPr>
        <p:spPr bwMode="auto">
          <a:xfrm>
            <a:off x="545144" y="630731"/>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矩形 75"/>
          <p:cNvSpPr/>
          <p:nvPr/>
        </p:nvSpPr>
        <p:spPr>
          <a:xfrm>
            <a:off x="616085" y="588491"/>
            <a:ext cx="1467068" cy="400110"/>
          </a:xfrm>
          <a:prstGeom prst="rect">
            <a:avLst/>
          </a:prstGeom>
        </p:spPr>
        <p:txBody>
          <a:bodyPr wrap="none">
            <a:spAutoFit/>
          </a:bodyPr>
          <a:lstStyle/>
          <a:p>
            <a:r>
              <a:rPr lang="zh-CN" altLang="en-US" sz="2000" b="1" dirty="0">
                <a:latin typeface="微软雅黑" pitchFamily="34" charset="-122"/>
                <a:ea typeface="微软雅黑" pitchFamily="34" charset="-122"/>
              </a:rPr>
              <a:t>快重传举例</a:t>
            </a:r>
          </a:p>
        </p:txBody>
      </p:sp>
      <p:sp>
        <p:nvSpPr>
          <p:cNvPr id="77" name="圆角矩形 76"/>
          <p:cNvSpPr/>
          <p:nvPr/>
        </p:nvSpPr>
        <p:spPr>
          <a:xfrm>
            <a:off x="545144" y="1013286"/>
            <a:ext cx="8053711" cy="33607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grpSp>
        <p:nvGrpSpPr>
          <p:cNvPr id="9" name="组合 8"/>
          <p:cNvGrpSpPr/>
          <p:nvPr/>
        </p:nvGrpSpPr>
        <p:grpSpPr>
          <a:xfrm>
            <a:off x="3776205" y="1332324"/>
            <a:ext cx="2906522" cy="362860"/>
            <a:chOff x="3776205" y="1332324"/>
            <a:chExt cx="2906522" cy="362860"/>
          </a:xfrm>
        </p:grpSpPr>
        <p:sp>
          <p:nvSpPr>
            <p:cNvPr id="80" name="Text Box 5"/>
            <p:cNvSpPr txBox="1">
              <a:spLocks noChangeArrowheads="1"/>
            </p:cNvSpPr>
            <p:nvPr/>
          </p:nvSpPr>
          <p:spPr bwMode="auto">
            <a:xfrm>
              <a:off x="3776205" y="133232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81" name="Line 6"/>
            <p:cNvSpPr>
              <a:spLocks noChangeShapeType="1"/>
            </p:cNvSpPr>
            <p:nvPr/>
          </p:nvSpPr>
          <p:spPr bwMode="auto">
            <a:xfrm>
              <a:off x="4493304" y="1492800"/>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 name="组合 2"/>
          <p:cNvGrpSpPr/>
          <p:nvPr/>
        </p:nvGrpSpPr>
        <p:grpSpPr>
          <a:xfrm>
            <a:off x="4493304" y="1657364"/>
            <a:ext cx="2930637" cy="318908"/>
            <a:chOff x="4493304" y="1657364"/>
            <a:chExt cx="2930637" cy="318908"/>
          </a:xfrm>
        </p:grpSpPr>
        <p:sp>
          <p:nvSpPr>
            <p:cNvPr id="82" name="Line 7"/>
            <p:cNvSpPr>
              <a:spLocks noChangeShapeType="1"/>
            </p:cNvSpPr>
            <p:nvPr/>
          </p:nvSpPr>
          <p:spPr bwMode="auto">
            <a:xfrm flipH="1">
              <a:off x="4493304" y="1773888"/>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3" name="Text Box 8"/>
            <p:cNvSpPr txBox="1">
              <a:spLocks noChangeArrowheads="1"/>
            </p:cNvSpPr>
            <p:nvPr/>
          </p:nvSpPr>
          <p:spPr bwMode="auto">
            <a:xfrm>
              <a:off x="6617310" y="1657364"/>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5" name="Group 10"/>
          <p:cNvGrpSpPr>
            <a:grpSpLocks/>
          </p:cNvGrpSpPr>
          <p:nvPr/>
        </p:nvGrpSpPr>
        <p:grpSpPr bwMode="auto">
          <a:xfrm>
            <a:off x="4493304" y="1393652"/>
            <a:ext cx="2189423" cy="2798618"/>
            <a:chOff x="1607" y="677"/>
            <a:chExt cx="1640" cy="2728"/>
          </a:xfrm>
        </p:grpSpPr>
        <p:sp>
          <p:nvSpPr>
            <p:cNvPr id="86" name="Line 11"/>
            <p:cNvSpPr>
              <a:spLocks noChangeShapeType="1"/>
            </p:cNvSpPr>
            <p:nvPr/>
          </p:nvSpPr>
          <p:spPr bwMode="auto">
            <a:xfrm>
              <a:off x="160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7" name="Line 12"/>
            <p:cNvSpPr>
              <a:spLocks noChangeShapeType="1"/>
            </p:cNvSpPr>
            <p:nvPr/>
          </p:nvSpPr>
          <p:spPr bwMode="auto">
            <a:xfrm>
              <a:off x="324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4" name="组合 3"/>
          <p:cNvGrpSpPr/>
          <p:nvPr/>
        </p:nvGrpSpPr>
        <p:grpSpPr>
          <a:xfrm>
            <a:off x="4493304" y="1974228"/>
            <a:ext cx="3086862" cy="338328"/>
            <a:chOff x="4493304" y="1974228"/>
            <a:chExt cx="3086862" cy="338328"/>
          </a:xfrm>
        </p:grpSpPr>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2" name="组合 11"/>
          <p:cNvGrpSpPr/>
          <p:nvPr/>
        </p:nvGrpSpPr>
        <p:grpSpPr>
          <a:xfrm>
            <a:off x="3776205" y="2310512"/>
            <a:ext cx="2906522" cy="404768"/>
            <a:chOff x="3776205" y="2310512"/>
            <a:chExt cx="2906522" cy="404768"/>
          </a:xfrm>
        </p:grpSpPr>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96" name="Line 21"/>
            <p:cNvSpPr>
              <a:spLocks noChangeShapeType="1"/>
            </p:cNvSpPr>
            <p:nvPr/>
          </p:nvSpPr>
          <p:spPr bwMode="auto">
            <a:xfrm>
              <a:off x="4493304" y="2512896"/>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6" name="组合 5"/>
          <p:cNvGrpSpPr/>
          <p:nvPr/>
        </p:nvGrpSpPr>
        <p:grpSpPr>
          <a:xfrm>
            <a:off x="4493304" y="2596711"/>
            <a:ext cx="2961095" cy="387390"/>
            <a:chOff x="4493304" y="2596711"/>
            <a:chExt cx="2961095" cy="387390"/>
          </a:xfrm>
        </p:grpSpPr>
        <p:sp>
          <p:nvSpPr>
            <p:cNvPr id="90" name="Line 15"/>
            <p:cNvSpPr>
              <a:spLocks noChangeShapeType="1"/>
            </p:cNvSpPr>
            <p:nvPr/>
          </p:nvSpPr>
          <p:spPr bwMode="auto">
            <a:xfrm flipH="1">
              <a:off x="4493304" y="2783762"/>
              <a:ext cx="2189423" cy="20033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0" name="Text Box 25"/>
            <p:cNvSpPr txBox="1">
              <a:spLocks noChangeArrowheads="1"/>
            </p:cNvSpPr>
            <p:nvPr/>
          </p:nvSpPr>
          <p:spPr bwMode="auto">
            <a:xfrm>
              <a:off x="6617310" y="2596711"/>
              <a:ext cx="83708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7" name="组合 6"/>
          <p:cNvGrpSpPr/>
          <p:nvPr/>
        </p:nvGrpSpPr>
        <p:grpSpPr>
          <a:xfrm>
            <a:off x="4493304" y="2953436"/>
            <a:ext cx="3268871" cy="366950"/>
            <a:chOff x="4493304" y="2953436"/>
            <a:chExt cx="3268871" cy="366950"/>
          </a:xfrm>
        </p:grpSpPr>
        <p:sp>
          <p:nvSpPr>
            <p:cNvPr id="91" name="Line 16"/>
            <p:cNvSpPr>
              <a:spLocks noChangeShapeType="1"/>
            </p:cNvSpPr>
            <p:nvPr/>
          </p:nvSpPr>
          <p:spPr bwMode="auto">
            <a:xfrm flipH="1">
              <a:off x="4493304" y="3118002"/>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 name="组合 7"/>
          <p:cNvGrpSpPr/>
          <p:nvPr/>
        </p:nvGrpSpPr>
        <p:grpSpPr>
          <a:xfrm>
            <a:off x="4493304" y="3289722"/>
            <a:ext cx="3268871" cy="365925"/>
            <a:chOff x="4493304" y="3289722"/>
            <a:chExt cx="3268871" cy="365925"/>
          </a:xfrm>
        </p:grpSpPr>
        <p:sp>
          <p:nvSpPr>
            <p:cNvPr id="92" name="Line 17"/>
            <p:cNvSpPr>
              <a:spLocks noChangeShapeType="1"/>
            </p:cNvSpPr>
            <p:nvPr/>
          </p:nvSpPr>
          <p:spPr bwMode="auto">
            <a:xfrm flipH="1">
              <a:off x="4493304" y="3452241"/>
              <a:ext cx="2189423" cy="20340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15" name="组合 14"/>
          <p:cNvGrpSpPr/>
          <p:nvPr/>
        </p:nvGrpSpPr>
        <p:grpSpPr>
          <a:xfrm>
            <a:off x="3776205" y="3355138"/>
            <a:ext cx="2909587" cy="367971"/>
            <a:chOff x="3776205" y="3355138"/>
            <a:chExt cx="2909587" cy="367971"/>
          </a:xfrm>
        </p:grpSpPr>
        <p:sp>
          <p:nvSpPr>
            <p:cNvPr id="107" name="Line 32"/>
            <p:cNvSpPr>
              <a:spLocks noChangeShapeType="1"/>
            </p:cNvSpPr>
            <p:nvPr/>
          </p:nvSpPr>
          <p:spPr bwMode="auto">
            <a:xfrm>
              <a:off x="4497392" y="3520725"/>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grpSp>
      <p:grpSp>
        <p:nvGrpSpPr>
          <p:cNvPr id="109" name="Group 34"/>
          <p:cNvGrpSpPr>
            <a:grpSpLocks/>
          </p:cNvGrpSpPr>
          <p:nvPr/>
        </p:nvGrpSpPr>
        <p:grpSpPr bwMode="auto">
          <a:xfrm>
            <a:off x="1488265" y="2924811"/>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grpSp>
        <p:nvGrpSpPr>
          <p:cNvPr id="10" name="组合 9"/>
          <p:cNvGrpSpPr/>
          <p:nvPr/>
        </p:nvGrpSpPr>
        <p:grpSpPr>
          <a:xfrm>
            <a:off x="3776205" y="1656343"/>
            <a:ext cx="2906522" cy="389435"/>
            <a:chOff x="3776205" y="1656343"/>
            <a:chExt cx="2906522" cy="389435"/>
          </a:xfrm>
        </p:grpSpPr>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17" name="Line 42"/>
            <p:cNvSpPr>
              <a:spLocks noChangeShapeType="1"/>
            </p:cNvSpPr>
            <p:nvPr/>
          </p:nvSpPr>
          <p:spPr bwMode="auto">
            <a:xfrm>
              <a:off x="4493304" y="1843394"/>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1" name="组合 10"/>
          <p:cNvGrpSpPr/>
          <p:nvPr/>
        </p:nvGrpSpPr>
        <p:grpSpPr>
          <a:xfrm>
            <a:off x="3776205" y="1938453"/>
            <a:ext cx="2400562" cy="706298"/>
            <a:chOff x="3776205" y="1938453"/>
            <a:chExt cx="2400562" cy="706298"/>
          </a:xfrm>
        </p:grpSpPr>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grpSp>
          <p:nvGrpSpPr>
            <p:cNvPr id="5" name="组合 4"/>
            <p:cNvGrpSpPr/>
            <p:nvPr/>
          </p:nvGrpSpPr>
          <p:grpSpPr>
            <a:xfrm>
              <a:off x="4493304" y="1938453"/>
              <a:ext cx="1683463" cy="706298"/>
              <a:chOff x="4493304" y="1938453"/>
              <a:chExt cx="1683463" cy="706298"/>
            </a:xfrm>
          </p:grpSpPr>
          <p:sp>
            <p:nvSpPr>
              <p:cNvPr id="115" name="AutoShape 40"/>
              <p:cNvSpPr>
                <a:spLocks noChangeArrowheads="1"/>
              </p:cNvSpPr>
              <p:nvPr/>
            </p:nvSpPr>
            <p:spPr bwMode="auto">
              <a:xfrm>
                <a:off x="5615613" y="1938453"/>
                <a:ext cx="561154" cy="706298"/>
              </a:xfrm>
              <a:prstGeom prst="irregularSeal1">
                <a:avLst/>
              </a:prstGeom>
              <a:solidFill>
                <a:srgbClr val="C00000"/>
              </a:solidFill>
              <a:ln w="9525">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13" name="组合 12"/>
          <p:cNvGrpSpPr/>
          <p:nvPr/>
        </p:nvGrpSpPr>
        <p:grpSpPr>
          <a:xfrm>
            <a:off x="3776205" y="2663150"/>
            <a:ext cx="2909587" cy="388412"/>
            <a:chOff x="3776205" y="2663150"/>
            <a:chExt cx="2909587" cy="388412"/>
          </a:xfrm>
        </p:grpSpPr>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19" name="Line 44"/>
            <p:cNvSpPr>
              <a:spLocks noChangeShapeType="1"/>
            </p:cNvSpPr>
            <p:nvPr/>
          </p:nvSpPr>
          <p:spPr bwMode="auto">
            <a:xfrm>
              <a:off x="4497392" y="2848157"/>
              <a:ext cx="2188400" cy="203405"/>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4" name="组合 13"/>
          <p:cNvGrpSpPr/>
          <p:nvPr/>
        </p:nvGrpSpPr>
        <p:grpSpPr>
          <a:xfrm>
            <a:off x="3776205" y="2998412"/>
            <a:ext cx="2909587" cy="388413"/>
            <a:chOff x="3776205" y="2998412"/>
            <a:chExt cx="2909587" cy="388413"/>
          </a:xfrm>
        </p:grpSpPr>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6</a:t>
              </a:r>
            </a:p>
          </p:txBody>
        </p:sp>
        <p:sp>
          <p:nvSpPr>
            <p:cNvPr id="120" name="Line 45"/>
            <p:cNvSpPr>
              <a:spLocks noChangeShapeType="1"/>
            </p:cNvSpPr>
            <p:nvPr/>
          </p:nvSpPr>
          <p:spPr bwMode="auto">
            <a:xfrm>
              <a:off x="4497392" y="3184441"/>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6" name="组合 15"/>
          <p:cNvGrpSpPr/>
          <p:nvPr/>
        </p:nvGrpSpPr>
        <p:grpSpPr>
          <a:xfrm>
            <a:off x="3483631" y="3666889"/>
            <a:ext cx="3199096" cy="326064"/>
            <a:chOff x="3483631" y="3666889"/>
            <a:chExt cx="3199096" cy="326064"/>
          </a:xfrm>
        </p:grpSpPr>
        <p:sp>
          <p:nvSpPr>
            <p:cNvPr id="102" name="Line 27"/>
            <p:cNvSpPr>
              <a:spLocks noChangeShapeType="1"/>
            </p:cNvSpPr>
            <p:nvPr/>
          </p:nvSpPr>
          <p:spPr bwMode="auto">
            <a:xfrm>
              <a:off x="4493304" y="3789547"/>
              <a:ext cx="2189423" cy="203406"/>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kern="0" dirty="0">
                  <a:solidFill>
                    <a:srgbClr val="C00000"/>
                  </a:solidFill>
                  <a:latin typeface="微软雅黑" pitchFamily="34" charset="-122"/>
                  <a:ea typeface="微软雅黑" pitchFamily="34" charset="-122"/>
                </a:rPr>
                <a:t>立即重传</a:t>
              </a:r>
              <a:r>
                <a:rPr kumimoji="0" lang="zh-CN" altLang="en-US"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 </a:t>
              </a:r>
              <a:r>
                <a:rPr kumimoji="0" lang="en-US" altLang="zh-CN"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solidFill>
                    <a:srgbClr val="C00000"/>
                  </a:solidFill>
                  <a:effectLst/>
                  <a:uLnTx/>
                  <a:uFillTx/>
                  <a:latin typeface="微软雅黑" pitchFamily="34" charset="-122"/>
                  <a:ea typeface="微软雅黑" pitchFamily="34" charset="-122"/>
                </a:rPr>
                <a:t>3</a:t>
              </a:r>
            </a:p>
          </p:txBody>
        </p:sp>
      </p:grpSp>
      <p:grpSp>
        <p:nvGrpSpPr>
          <p:cNvPr id="63" name="组合 62"/>
          <p:cNvGrpSpPr/>
          <p:nvPr/>
        </p:nvGrpSpPr>
        <p:grpSpPr>
          <a:xfrm>
            <a:off x="6154051" y="3617826"/>
            <a:ext cx="1608124" cy="276999"/>
            <a:chOff x="6154051" y="3289722"/>
            <a:chExt cx="1608124" cy="276999"/>
          </a:xfrm>
        </p:grpSpPr>
        <p:sp>
          <p:nvSpPr>
            <p:cNvPr id="64" name="Line 17"/>
            <p:cNvSpPr>
              <a:spLocks noChangeShapeType="1"/>
            </p:cNvSpPr>
            <p:nvPr/>
          </p:nvSpPr>
          <p:spPr bwMode="auto">
            <a:xfrm flipH="1">
              <a:off x="6154051" y="3452241"/>
              <a:ext cx="528675" cy="766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20" name="内容占位符 19">
            <a:extLst>
              <a:ext uri="{FF2B5EF4-FFF2-40B4-BE49-F238E27FC236}">
                <a16:creationId xmlns:a16="http://schemas.microsoft.com/office/drawing/2014/main" id="{26EEE0D2-1AF0-0760-D277-5AC6970180CC}"/>
              </a:ext>
            </a:extLst>
          </p:cNvPr>
          <p:cNvSpPr>
            <a:spLocks noGrp="1"/>
          </p:cNvSpPr>
          <p:nvPr>
            <p:ph sz="quarter" idx="11"/>
          </p:nvPr>
        </p:nvSpPr>
        <p:spPr/>
        <p:txBody>
          <a:bodyPr/>
          <a:lstStyle/>
          <a:p>
            <a:endParaRPr lang="zh-CN" altLang="en-US"/>
          </a:p>
        </p:txBody>
      </p:sp>
      <p:sp>
        <p:nvSpPr>
          <p:cNvPr id="19" name="标题 18">
            <a:extLst>
              <a:ext uri="{FF2B5EF4-FFF2-40B4-BE49-F238E27FC236}">
                <a16:creationId xmlns:a16="http://schemas.microsoft.com/office/drawing/2014/main" id="{B5D78B42-07E6-2481-8AF9-8183A9D3D9B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1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1000"/>
                                        <p:tgtEl>
                                          <p:spTgt spid="10"/>
                                        </p:tgtEl>
                                      </p:cBhvr>
                                    </p:animEffect>
                                  </p:childTnLst>
                                </p:cTn>
                              </p:par>
                            </p:childTnLst>
                          </p:cTn>
                        </p:par>
                        <p:par>
                          <p:cTn id="17" fill="hold">
                            <p:stCondLst>
                              <p:cond delay="1000"/>
                            </p:stCondLst>
                            <p:childTnLst>
                              <p:par>
                                <p:cTn id="18" presetID="22" presetClass="entr" presetSubtype="2" fill="hold" nodeType="after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10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10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1000"/>
                                        <p:tgtEl>
                                          <p:spTgt spid="12"/>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right)">
                                      <p:cBhvr>
                                        <p:cTn id="34" dur="10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000"/>
                                        <p:tgtEl>
                                          <p:spTgt spid="13"/>
                                        </p:tgtEl>
                                      </p:cBhvr>
                                    </p:animEffect>
                                  </p:childTnLst>
                                </p:cTn>
                              </p:par>
                            </p:childTnLst>
                          </p:cTn>
                        </p:par>
                        <p:par>
                          <p:cTn id="40" fill="hold">
                            <p:stCondLst>
                              <p:cond delay="1000"/>
                            </p:stCondLst>
                            <p:childTnLst>
                              <p:par>
                                <p:cTn id="41" presetID="22" presetClass="entr" presetSubtype="2"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wipe(right)">
                                      <p:cBhvr>
                                        <p:cTn id="43" dur="10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1000"/>
                                        <p:tgtEl>
                                          <p:spTgt spid="14"/>
                                        </p:tgtEl>
                                      </p:cBhvr>
                                    </p:animEffect>
                                  </p:childTnLst>
                                </p:cTn>
                              </p:par>
                            </p:childTnLst>
                          </p:cTn>
                        </p:par>
                        <p:par>
                          <p:cTn id="49" fill="hold">
                            <p:stCondLst>
                              <p:cond delay="1000"/>
                            </p:stCondLst>
                            <p:childTnLst>
                              <p:par>
                                <p:cTn id="50" presetID="22" presetClass="entr" presetSubtype="2" fill="hold" nodeType="after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wipe(right)">
                                      <p:cBhvr>
                                        <p:cTn id="52" dur="1000"/>
                                        <p:tgtEl>
                                          <p:spTgt spid="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1000"/>
                                        <p:tgtEl>
                                          <p:spTgt spid="15"/>
                                        </p:tgtEl>
                                      </p:cBhvr>
                                    </p:animEffect>
                                  </p:childTnLst>
                                </p:cTn>
                              </p:par>
                            </p:childTnLst>
                          </p:cTn>
                        </p:par>
                        <p:par>
                          <p:cTn id="58" fill="hold">
                            <p:stCondLst>
                              <p:cond delay="1000"/>
                            </p:stCondLst>
                            <p:childTnLst>
                              <p:par>
                                <p:cTn id="59" presetID="22" presetClass="entr" presetSubtype="2" fill="hold" nodeType="after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wipe(right)">
                                      <p:cBhvr>
                                        <p:cTn id="61" dur="10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109"/>
                                        </p:tgtEl>
                                        <p:attrNameLst>
                                          <p:attrName>style.visibility</p:attrName>
                                        </p:attrNameLst>
                                      </p:cBhvr>
                                      <p:to>
                                        <p:strVal val="visible"/>
                                      </p:to>
                                    </p:set>
                                    <p:animEffect transition="in" filter="wipe(right)">
                                      <p:cBhvr>
                                        <p:cTn id="66" dur="1000"/>
                                        <p:tgtEl>
                                          <p:spTgt spid="109"/>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AutoShape 5"/>
          <p:cNvSpPr>
            <a:spLocks noChangeArrowheads="1"/>
          </p:cNvSpPr>
          <p:nvPr/>
        </p:nvSpPr>
        <p:spPr bwMode="auto">
          <a:xfrm>
            <a:off x="556963" y="6308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5" name="Rectangle 6"/>
          <p:cNvSpPr>
            <a:spLocks noChangeArrowheads="1"/>
          </p:cNvSpPr>
          <p:nvPr/>
        </p:nvSpPr>
        <p:spPr bwMode="auto">
          <a:xfrm>
            <a:off x="2622738" y="597590"/>
            <a:ext cx="39172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快恢复 </a:t>
            </a:r>
            <a:r>
              <a:rPr lang="en-US" altLang="zh-CN" sz="2000" b="1" dirty="0">
                <a:solidFill>
                  <a:schemeClr val="bg1"/>
                </a:solidFill>
                <a:latin typeface="微软雅黑" pitchFamily="34" charset="-122"/>
                <a:ea typeface="微软雅黑" pitchFamily="34" charset="-122"/>
              </a:rPr>
              <a:t>FR (Fast Recovery)</a:t>
            </a:r>
            <a:r>
              <a:rPr lang="zh-CN" altLang="en-US" sz="2000" b="1" dirty="0">
                <a:solidFill>
                  <a:schemeClr val="bg1"/>
                </a:solidFill>
                <a:latin typeface="微软雅黑" pitchFamily="34" charset="-122"/>
                <a:ea typeface="微软雅黑" pitchFamily="34" charset="-122"/>
              </a:rPr>
              <a:t>算法</a:t>
            </a:r>
          </a:p>
        </p:txBody>
      </p:sp>
      <p:sp>
        <p:nvSpPr>
          <p:cNvPr id="106" name="Rectangle 68"/>
          <p:cNvSpPr>
            <a:spLocks noChangeArrowheads="1"/>
          </p:cNvSpPr>
          <p:nvPr/>
        </p:nvSpPr>
        <p:spPr bwMode="auto">
          <a:xfrm>
            <a:off x="556963" y="993900"/>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当发送端收到连续三个重复的确认时，</a:t>
            </a:r>
            <a:r>
              <a:rPr lang="zh-CN" altLang="en-US" sz="2000" b="1" dirty="0">
                <a:solidFill>
                  <a:srgbClr val="C00000"/>
                </a:solidFill>
                <a:latin typeface="微软雅黑" pitchFamily="34" charset="-122"/>
                <a:ea typeface="微软雅黑" pitchFamily="34" charset="-122"/>
              </a:rPr>
              <a:t>不执行</a:t>
            </a:r>
            <a:r>
              <a:rPr lang="zh-CN" altLang="en-US" sz="2000" b="1" dirty="0">
                <a:latin typeface="微软雅黑" pitchFamily="34" charset="-122"/>
                <a:ea typeface="微软雅黑" pitchFamily="34" charset="-122"/>
              </a:rPr>
              <a:t>慢开始算法，而是</a:t>
            </a:r>
            <a:r>
              <a:rPr lang="zh-CN" altLang="en-US" sz="2000" b="1" dirty="0">
                <a:solidFill>
                  <a:srgbClr val="0000FF"/>
                </a:solidFill>
                <a:latin typeface="微软雅黑" pitchFamily="34" charset="-122"/>
                <a:ea typeface="微软雅黑" pitchFamily="34" charset="-122"/>
              </a:rPr>
              <a:t>执行</a:t>
            </a:r>
            <a:r>
              <a:rPr lang="zh-CN" altLang="en-US" sz="2000" b="1" dirty="0">
                <a:solidFill>
                  <a:srgbClr val="C00000"/>
                </a:solidFill>
                <a:latin typeface="微软雅黑" pitchFamily="34" charset="-122"/>
                <a:ea typeface="微软雅黑" pitchFamily="34" charset="-122"/>
              </a:rPr>
              <a:t>快恢复算法 </a:t>
            </a:r>
            <a:r>
              <a:rPr lang="en-US" altLang="zh-CN" sz="2000" b="1" dirty="0">
                <a:solidFill>
                  <a:srgbClr val="C00000"/>
                </a:solidFill>
                <a:latin typeface="微软雅黑" pitchFamily="34" charset="-122"/>
                <a:ea typeface="微软雅黑" pitchFamily="34" charset="-122"/>
              </a:rPr>
              <a:t>FR </a:t>
            </a:r>
            <a:r>
              <a:rPr lang="en-US" altLang="zh-CN" sz="2000" b="1" dirty="0">
                <a:latin typeface="微软雅黑" pitchFamily="34" charset="-122"/>
                <a:ea typeface="微软雅黑" pitchFamily="34" charset="-122"/>
              </a:rPr>
              <a:t>(Fast Recovery) </a:t>
            </a:r>
            <a:r>
              <a:rPr lang="zh-CN" altLang="en-US" sz="2000" b="1" dirty="0">
                <a:latin typeface="微软雅黑" pitchFamily="34" charset="-122"/>
                <a:ea typeface="微软雅黑" pitchFamily="34" charset="-122"/>
              </a:rPr>
              <a:t>算法：</a:t>
            </a:r>
          </a:p>
          <a:p>
            <a:pPr marL="633413"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当前拥塞窗口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2 </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乘法减小 </a:t>
            </a:r>
            <a:r>
              <a:rPr lang="en-US" altLang="zh-CN" sz="2000" b="1" dirty="0">
                <a:solidFill>
                  <a:srgbClr val="C00000"/>
                </a:solidFill>
                <a:latin typeface="微软雅黑" pitchFamily="34" charset="-122"/>
                <a:ea typeface="微软雅黑" pitchFamily="34" charset="-122"/>
              </a:rPr>
              <a:t>MD </a:t>
            </a:r>
            <a:r>
              <a:rPr lang="en-US" altLang="zh-CN" sz="2000" b="1" dirty="0">
                <a:latin typeface="微软雅黑" pitchFamily="34" charset="-122"/>
                <a:ea typeface="微软雅黑" pitchFamily="34" charset="-122"/>
              </a:rPr>
              <a:t>(Multiplicative Decrease) </a:t>
            </a:r>
            <a:r>
              <a:rPr lang="zh-CN" altLang="en-US" sz="2000" b="1" dirty="0">
                <a:latin typeface="微软雅黑" pitchFamily="34" charset="-122"/>
                <a:ea typeface="微软雅黑" pitchFamily="34" charset="-122"/>
              </a:rPr>
              <a:t>拥塞窗口。</a:t>
            </a:r>
            <a:endParaRPr lang="en-US" altLang="zh-CN" sz="2000" b="1" dirty="0">
              <a:latin typeface="微软雅黑" pitchFamily="34" charset="-122"/>
              <a:ea typeface="微软雅黑" pitchFamily="34" charset="-122"/>
            </a:endParaRPr>
          </a:p>
          <a:p>
            <a:pPr marL="290513">
              <a:lnSpc>
                <a:spcPts val="3000"/>
              </a:lnSpc>
              <a:buClr>
                <a:srgbClr val="7030A0"/>
              </a:buClr>
            </a:pP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新拥塞窗口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631825" indent="-341313">
              <a:lnSpc>
                <a:spcPts val="3000"/>
              </a:lnSpc>
              <a:buClr>
                <a:srgbClr val="7030A0"/>
              </a:buClr>
              <a:buFont typeface="+mj-lt"/>
              <a:buAutoNum type="arabicPeriod" startAt="3"/>
            </a:pPr>
            <a:r>
              <a:rPr lang="zh-CN" altLang="en-US" sz="2000" b="1" dirty="0">
                <a:latin typeface="微软雅黑" pitchFamily="34" charset="-122"/>
                <a:ea typeface="微软雅黑" pitchFamily="34" charset="-122"/>
              </a:rPr>
              <a:t>执行拥塞避免算法，使拥塞窗口缓慢地</a:t>
            </a:r>
            <a:r>
              <a:rPr lang="zh-CN" altLang="en-US" sz="2000" b="1" dirty="0">
                <a:solidFill>
                  <a:srgbClr val="C00000"/>
                </a:solidFill>
                <a:latin typeface="微软雅黑" pitchFamily="34" charset="-122"/>
                <a:ea typeface="微软雅黑" pitchFamily="34" charset="-122"/>
              </a:rPr>
              <a:t>线性增大</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p:txBody>
      </p:sp>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A0596160-30A2-DC28-7C29-151AE4CB1E1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434A54-4808-EF91-04EA-C9B27B00087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8509B21C-559E-2BAB-FB9B-D530E23765E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CAA5AB4-6E76-A84A-BBFC-D1E5DAE1A27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5" y="1069848"/>
            <a:ext cx="8053710"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5" y="62820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278387" y="605119"/>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拥塞控制流程图</a:t>
            </a:r>
          </a:p>
        </p:txBody>
      </p:sp>
      <p:grpSp>
        <p:nvGrpSpPr>
          <p:cNvPr id="31" name="组合 30"/>
          <p:cNvGrpSpPr/>
          <p:nvPr/>
        </p:nvGrpSpPr>
        <p:grpSpPr>
          <a:xfrm>
            <a:off x="1382573" y="1139152"/>
            <a:ext cx="6744092" cy="3248935"/>
            <a:chOff x="41479" y="1207205"/>
            <a:chExt cx="10835585" cy="5219993"/>
          </a:xfrm>
        </p:grpSpPr>
        <p:cxnSp>
          <p:nvCxnSpPr>
            <p:cNvPr id="15" name="肘形连接符 105"/>
            <p:cNvCxnSpPr>
              <a:endCxn id="12" idx="0"/>
            </p:cNvCxnSpPr>
            <p:nvPr/>
          </p:nvCxnSpPr>
          <p:spPr>
            <a:xfrm>
              <a:off x="7565199" y="2730400"/>
              <a:ext cx="1800394" cy="863599"/>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endCxn id="12" idx="2"/>
            </p:cNvCxnSpPr>
            <p:nvPr/>
          </p:nvCxnSpPr>
          <p:spPr>
            <a:xfrm flipV="1">
              <a:off x="7565199" y="4335747"/>
              <a:ext cx="1800394" cy="555172"/>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p:nvPr/>
          </p:nvCxnSpPr>
          <p:spPr>
            <a:xfrm>
              <a:off x="5005388" y="1668870"/>
              <a:ext cx="0" cy="499555"/>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91988" y="1207205"/>
              <a:ext cx="1834898"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连接建立</a:t>
              </a:r>
            </a:p>
          </p:txBody>
        </p:sp>
        <p:cxnSp>
          <p:nvCxnSpPr>
            <p:cNvPr id="7" name="直接箭头连接符 6"/>
            <p:cNvCxnSpPr/>
            <p:nvPr/>
          </p:nvCxnSpPr>
          <p:spPr>
            <a:xfrm>
              <a:off x="5023645" y="3451125"/>
              <a:ext cx="0" cy="939330"/>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2809082" y="4390456"/>
              <a:ext cx="4870860" cy="1169986"/>
            </a:xfrm>
            <a:prstGeom prst="flowChartProcess">
              <a:avLst/>
            </a:prstGeom>
            <a:solidFill>
              <a:srgbClr val="66FFCC"/>
            </a:solidFill>
            <a:ln w="9525">
              <a:solidFill>
                <a:schemeClr val="tx1"/>
              </a:solidFill>
              <a:miter lim="800000"/>
              <a:headEnd/>
              <a:tailEnd/>
            </a:ln>
          </p:spPr>
          <p:txBody>
            <a:bodyPr wrap="none" anchor="ctr"/>
            <a:lstStyle/>
            <a:p>
              <a:pPr algn="ctr"/>
              <a:endParaRPr lang="zh-CN" altLang="zh-CN" sz="1200" b="1">
                <a:latin typeface="微软雅黑" pitchFamily="34" charset="-122"/>
                <a:ea typeface="微软雅黑" pitchFamily="34" charset="-122"/>
              </a:endParaRPr>
            </a:p>
          </p:txBody>
        </p:sp>
        <p:sp>
          <p:nvSpPr>
            <p:cNvPr id="9" name="TextBox 65"/>
            <p:cNvSpPr txBox="1">
              <a:spLocks noChangeArrowheads="1"/>
            </p:cNvSpPr>
            <p:nvPr/>
          </p:nvSpPr>
          <p:spPr bwMode="auto">
            <a:xfrm>
              <a:off x="41479" y="1387974"/>
              <a:ext cx="2733943" cy="741747"/>
            </a:xfrm>
            <a:prstGeom prst="rect">
              <a:avLst/>
            </a:prstGeom>
            <a:solidFill>
              <a:srgbClr val="FFFF99"/>
            </a:solidFill>
            <a:ln w="1270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latin typeface="微软雅黑" pitchFamily="34" charset="-122"/>
                  <a:ea typeface="微软雅黑" pitchFamily="34" charset="-122"/>
                  <a:cs typeface="Times New Roman" pitchFamily="18" charset="0"/>
                </a:rPr>
                <a:t>ssthresh</a:t>
              </a:r>
              <a:r>
                <a:rPr lang="en-US" altLang="zh-CN" sz="1200" b="1" dirty="0">
                  <a:latin typeface="微软雅黑" pitchFamily="34" charset="-122"/>
                  <a:ea typeface="微软雅黑" pitchFamily="34" charset="-122"/>
                  <a:cs typeface="Times New Roman" pitchFamily="18" charset="0"/>
                </a:rPr>
                <a:t> = </a:t>
              </a:r>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2</a:t>
              </a:r>
            </a:p>
            <a:p>
              <a:pPr algn="ctr" eaLnBrk="1" hangingPunct="1"/>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1</a:t>
              </a:r>
              <a:endParaRPr lang="zh-CN" altLang="en-US" sz="1200" b="1" dirty="0">
                <a:latin typeface="微软雅黑" pitchFamily="34" charset="-122"/>
                <a:ea typeface="微软雅黑" pitchFamily="34" charset="-122"/>
                <a:cs typeface="Times New Roman" pitchFamily="18" charset="0"/>
              </a:endParaRPr>
            </a:p>
          </p:txBody>
        </p:sp>
        <p:cxnSp>
          <p:nvCxnSpPr>
            <p:cNvPr id="10" name="肘形连接符 9"/>
            <p:cNvCxnSpPr>
              <a:stCxn id="22" idx="1"/>
              <a:endCxn id="9" idx="2"/>
            </p:cNvCxnSpPr>
            <p:nvPr/>
          </p:nvCxnSpPr>
          <p:spPr>
            <a:xfrm rot="10800000">
              <a:off x="1408450" y="2129721"/>
              <a:ext cx="1402453" cy="678741"/>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1408450" y="2129723"/>
              <a:ext cx="1400631" cy="2845728"/>
            </a:xfrm>
            <a:prstGeom prst="bentConnector2">
              <a:avLst/>
            </a:prstGeom>
            <a:ln w="12700">
              <a:solidFill>
                <a:srgbClr val="0033CC"/>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7854125" y="3594000"/>
              <a:ext cx="3022939" cy="741747"/>
            </a:xfrm>
            <a:prstGeom prst="rect">
              <a:avLst/>
            </a:prstGeom>
            <a:solidFill>
              <a:srgbClr val="FFFF99"/>
            </a:solid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a:latin typeface="微软雅黑" pitchFamily="34" charset="-122"/>
                  <a:ea typeface="微软雅黑" pitchFamily="34" charset="-122"/>
                  <a:cs typeface="Times New Roman" pitchFamily="18" charset="0"/>
                </a:rPr>
                <a:t>ssthresh = cwnd / 2</a:t>
              </a:r>
            </a:p>
            <a:p>
              <a:pPr algn="ctr" eaLnBrk="1" hangingPunct="1"/>
              <a:r>
                <a:rPr lang="en-US" altLang="zh-CN" sz="1200" b="1">
                  <a:latin typeface="微软雅黑" pitchFamily="34" charset="-122"/>
                  <a:ea typeface="微软雅黑" pitchFamily="34" charset="-122"/>
                  <a:cs typeface="Times New Roman" pitchFamily="18" charset="0"/>
                </a:rPr>
                <a:t>cwnd = ssthresh</a:t>
              </a:r>
              <a:endParaRPr lang="zh-CN" altLang="en-US" sz="1200" b="1">
                <a:latin typeface="微软雅黑" pitchFamily="34" charset="-122"/>
                <a:ea typeface="微软雅黑" pitchFamily="34" charset="-122"/>
                <a:cs typeface="Times New Roman" pitchFamily="18" charset="0"/>
              </a:endParaRPr>
            </a:p>
          </p:txBody>
        </p:sp>
        <p:cxnSp>
          <p:nvCxnSpPr>
            <p:cNvPr id="13" name="直接箭头连接符 12"/>
            <p:cNvCxnSpPr>
              <a:stCxn id="12" idx="1"/>
            </p:cNvCxnSpPr>
            <p:nvPr/>
          </p:nvCxnSpPr>
          <p:spPr>
            <a:xfrm flipH="1">
              <a:off x="5022057" y="3964874"/>
              <a:ext cx="2832067" cy="1271"/>
            </a:xfrm>
            <a:prstGeom prst="straightConnector1">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022057" y="5558286"/>
              <a:ext cx="4762" cy="466726"/>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119516" y="5982150"/>
              <a:ext cx="18348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连接释放</a:t>
              </a:r>
            </a:p>
          </p:txBody>
        </p:sp>
        <p:sp>
          <p:nvSpPr>
            <p:cNvPr id="18" name="AutoShape 5"/>
            <p:cNvSpPr>
              <a:spLocks noChangeArrowheads="1"/>
            </p:cNvSpPr>
            <p:nvPr/>
          </p:nvSpPr>
          <p:spPr bwMode="auto">
            <a:xfrm>
              <a:off x="2809081" y="2154138"/>
              <a:ext cx="4870860" cy="1358938"/>
            </a:xfrm>
            <a:prstGeom prst="flowChartProcess">
              <a:avLst/>
            </a:prstGeom>
            <a:solidFill>
              <a:srgbClr val="0000FF"/>
            </a:solidFill>
            <a:ln w="12700">
              <a:solidFill>
                <a:schemeClr val="tx1"/>
              </a:solidFill>
              <a:miter lim="800000"/>
              <a:headEnd/>
              <a:tailEnd/>
            </a:ln>
            <a:effectLst>
              <a:outerShdw blurRad="50800" dist="38100" dir="2700000" algn="tl" rotWithShape="0">
                <a:prstClr val="black">
                  <a:alpha val="40000"/>
                </a:prstClr>
              </a:outerShdw>
            </a:effectLst>
          </p:spPr>
          <p:txBody>
            <a:bodyPr wrap="none" anchor="ctr"/>
            <a:lstStyle/>
            <a:p>
              <a:pPr algn="ctr">
                <a:defRPr/>
              </a:pPr>
              <a:endParaRPr lang="zh-CN" altLang="zh-CN" sz="1200" b="1">
                <a:effectLst>
                  <a:outerShdw blurRad="38100" dist="38100" dir="2700000" algn="tl">
                    <a:srgbClr val="000000">
                      <a:alpha val="43137"/>
                    </a:srgbClr>
                  </a:outerShdw>
                </a:effectLst>
                <a:latin typeface="微软雅黑" pitchFamily="34" charset="-122"/>
                <a:ea typeface="微软雅黑" pitchFamily="34" charset="-122"/>
              </a:endParaRPr>
            </a:p>
          </p:txBody>
        </p:sp>
        <p:sp>
          <p:nvSpPr>
            <p:cNvPr id="19" name="Text Box 15"/>
            <p:cNvSpPr txBox="1">
              <a:spLocks noChangeArrowheads="1"/>
            </p:cNvSpPr>
            <p:nvPr/>
          </p:nvSpPr>
          <p:spPr bwMode="auto">
            <a:xfrm>
              <a:off x="4472450" y="2118881"/>
              <a:ext cx="1038446"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FFFF00"/>
                  </a:solidFill>
                  <a:latin typeface="微软雅黑" pitchFamily="34" charset="-122"/>
                  <a:ea typeface="微软雅黑" pitchFamily="34" charset="-122"/>
                </a:rPr>
                <a:t>慢开始</a:t>
              </a:r>
            </a:p>
          </p:txBody>
        </p:sp>
        <p:sp>
          <p:nvSpPr>
            <p:cNvPr id="20" name="Text Box 16"/>
            <p:cNvSpPr txBox="1">
              <a:spLocks noChangeArrowheads="1"/>
            </p:cNvSpPr>
            <p:nvPr/>
          </p:nvSpPr>
          <p:spPr bwMode="auto">
            <a:xfrm>
              <a:off x="3449325" y="2461317"/>
              <a:ext cx="3197835"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00FFFF"/>
                  </a:solidFill>
                  <a:latin typeface="微软雅黑" pitchFamily="34" charset="-122"/>
                  <a:ea typeface="微软雅黑" pitchFamily="34" charset="-122"/>
                </a:rPr>
                <a:t>初始拥塞窗口 </a:t>
              </a:r>
              <a:r>
                <a:rPr lang="en-US" altLang="zh-CN" sz="1200" b="1" dirty="0" err="1">
                  <a:solidFill>
                    <a:srgbClr val="00FFFF"/>
                  </a:solidFill>
                  <a:latin typeface="微软雅黑" pitchFamily="34" charset="-122"/>
                  <a:ea typeface="微软雅黑" pitchFamily="34" charset="-122"/>
                </a:rPr>
                <a:t>cwnd</a:t>
              </a:r>
              <a:r>
                <a:rPr lang="en-US" altLang="zh-CN" sz="1200" b="1" dirty="0">
                  <a:solidFill>
                    <a:srgbClr val="00FFFF"/>
                  </a:solidFill>
                  <a:latin typeface="微软雅黑" pitchFamily="34" charset="-122"/>
                  <a:ea typeface="微软雅黑" pitchFamily="34" charset="-122"/>
                </a:rPr>
                <a:t> =</a:t>
              </a:r>
              <a:r>
                <a:rPr lang="zh-CN" altLang="en-US" sz="1200" b="1" dirty="0">
                  <a:solidFill>
                    <a:srgbClr val="00FFFF"/>
                  </a:solidFill>
                  <a:latin typeface="微软雅黑" pitchFamily="34" charset="-122"/>
                  <a:ea typeface="微软雅黑" pitchFamily="34" charset="-122"/>
                </a:rPr>
                <a:t> </a:t>
              </a:r>
              <a:r>
                <a:rPr lang="en-US" altLang="zh-CN" sz="1200" b="1" dirty="0">
                  <a:solidFill>
                    <a:srgbClr val="00FFFF"/>
                  </a:solidFill>
                  <a:latin typeface="微软雅黑" pitchFamily="34" charset="-122"/>
                  <a:ea typeface="微软雅黑" pitchFamily="34" charset="-122"/>
                </a:rPr>
                <a:t>1 </a:t>
              </a:r>
              <a:endParaRPr lang="zh-CN" altLang="en-US" sz="1200" b="1" dirty="0">
                <a:solidFill>
                  <a:srgbClr val="00FFFF"/>
                </a:solidFill>
                <a:latin typeface="微软雅黑" pitchFamily="34" charset="-122"/>
                <a:ea typeface="微软雅黑" pitchFamily="34" charset="-122"/>
              </a:endParaRPr>
            </a:p>
            <a:p>
              <a:pPr algn="ctr" eaLnBrk="1" hangingPunct="1"/>
              <a:r>
                <a:rPr lang="zh-CN" altLang="en-US" sz="1200" b="1" dirty="0">
                  <a:solidFill>
                    <a:srgbClr val="00FFFF"/>
                  </a:solidFill>
                  <a:latin typeface="微软雅黑" pitchFamily="34" charset="-122"/>
                  <a:ea typeface="微软雅黑" pitchFamily="34" charset="-122"/>
                </a:rPr>
                <a:t>按指数规律</a:t>
              </a:r>
              <a:r>
                <a:rPr lang="zh-CN" altLang="en-US" sz="1100" b="1" dirty="0">
                  <a:solidFill>
                    <a:srgbClr val="00FFFF"/>
                  </a:solidFill>
                  <a:latin typeface="微软雅黑" pitchFamily="34" charset="-122"/>
                  <a:ea typeface="微软雅黑" pitchFamily="34" charset="-122"/>
                </a:rPr>
                <a:t>增大</a:t>
              </a:r>
              <a:endParaRPr lang="en-US" altLang="zh-CN" sz="1200" b="1" u="sng" dirty="0">
                <a:solidFill>
                  <a:srgbClr val="00FFFF"/>
                </a:solidFill>
                <a:latin typeface="微软雅黑" pitchFamily="34" charset="-122"/>
                <a:ea typeface="微软雅黑" pitchFamily="34" charset="-122"/>
                <a:sym typeface="Symbol" pitchFamily="18" charset="2"/>
              </a:endParaRPr>
            </a:p>
          </p:txBody>
        </p:sp>
        <p:sp>
          <p:nvSpPr>
            <p:cNvPr id="21" name="TextBox 25"/>
            <p:cNvSpPr txBox="1">
              <a:spLocks noChangeArrowheads="1"/>
            </p:cNvSpPr>
            <p:nvPr/>
          </p:nvSpPr>
          <p:spPr bwMode="auto">
            <a:xfrm>
              <a:off x="6332090" y="2443063"/>
              <a:ext cx="1395328"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chemeClr val="bg1"/>
                  </a:solidFill>
                  <a:latin typeface="微软雅黑" pitchFamily="34" charset="-122"/>
                  <a:ea typeface="微软雅黑" pitchFamily="34" charset="-122"/>
                  <a:cs typeface="Times New Roman" pitchFamily="18" charset="0"/>
                </a:rPr>
                <a:t>3 </a:t>
              </a:r>
              <a:r>
                <a:rPr lang="zh-CN" altLang="en-US" sz="1200" b="1" dirty="0">
                  <a:solidFill>
                    <a:schemeClr val="bg1"/>
                  </a:solidFill>
                  <a:latin typeface="微软雅黑" pitchFamily="34" charset="-122"/>
                  <a:ea typeface="微软雅黑" pitchFamily="34" charset="-122"/>
                  <a:cs typeface="Times New Roman" pitchFamily="18" charset="0"/>
                </a:rPr>
                <a:t>个重复</a:t>
              </a:r>
              <a:endParaRPr lang="en-US" altLang="zh-CN" sz="1200" b="1" dirty="0">
                <a:solidFill>
                  <a:schemeClr val="bg1"/>
                </a:solidFill>
                <a:latin typeface="微软雅黑" pitchFamily="34" charset="-122"/>
                <a:ea typeface="微软雅黑" pitchFamily="34" charset="-122"/>
                <a:cs typeface="Times New Roman" pitchFamily="18" charset="0"/>
              </a:endParaRPr>
            </a:p>
            <a:p>
              <a:pPr algn="r" eaLnBrk="1" hangingPunct="1"/>
              <a:r>
                <a:rPr lang="zh-CN" altLang="en-US" sz="1200" b="1" dirty="0">
                  <a:solidFill>
                    <a:schemeClr val="bg1"/>
                  </a:solidFill>
                  <a:latin typeface="微软雅黑" pitchFamily="34" charset="-122"/>
                  <a:ea typeface="微软雅黑" pitchFamily="34" charset="-122"/>
                  <a:cs typeface="Times New Roman" pitchFamily="18" charset="0"/>
                </a:rPr>
                <a:t>的 </a:t>
              </a:r>
              <a:r>
                <a:rPr lang="en-US" altLang="zh-CN" sz="1200" b="1" dirty="0">
                  <a:solidFill>
                    <a:schemeClr val="bg1"/>
                  </a:solidFill>
                  <a:latin typeface="微软雅黑" pitchFamily="34" charset="-122"/>
                  <a:ea typeface="微软雅黑" pitchFamily="34" charset="-122"/>
                  <a:cs typeface="Times New Roman" pitchFamily="18" charset="0"/>
                </a:rPr>
                <a:t>ACK</a:t>
              </a:r>
              <a:endParaRPr lang="zh-CN" altLang="en-US" sz="1200" b="1" dirty="0">
                <a:solidFill>
                  <a:schemeClr val="bg1"/>
                </a:solidFill>
                <a:latin typeface="微软雅黑" pitchFamily="34" charset="-122"/>
                <a:ea typeface="微软雅黑" pitchFamily="34" charset="-122"/>
                <a:cs typeface="Times New Roman" pitchFamily="18" charset="0"/>
              </a:endParaRPr>
            </a:p>
          </p:txBody>
        </p:sp>
        <p:sp>
          <p:nvSpPr>
            <p:cNvPr id="22" name="TextBox 26"/>
            <p:cNvSpPr txBox="1">
              <a:spLocks noChangeArrowheads="1"/>
            </p:cNvSpPr>
            <p:nvPr/>
          </p:nvSpPr>
          <p:spPr bwMode="auto">
            <a:xfrm>
              <a:off x="2810904" y="2585937"/>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chemeClr val="bg1"/>
                  </a:solidFill>
                  <a:latin typeface="微软雅黑" pitchFamily="34" charset="-122"/>
                  <a:ea typeface="微软雅黑" pitchFamily="34" charset="-122"/>
                </a:rPr>
                <a:t>超时</a:t>
              </a:r>
            </a:p>
          </p:txBody>
        </p:sp>
        <p:sp>
          <p:nvSpPr>
            <p:cNvPr id="23" name="TextBox 32"/>
            <p:cNvSpPr txBox="1">
              <a:spLocks noChangeArrowheads="1"/>
            </p:cNvSpPr>
            <p:nvPr/>
          </p:nvSpPr>
          <p:spPr bwMode="auto">
            <a:xfrm>
              <a:off x="3871432" y="3072779"/>
              <a:ext cx="2281180"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solidFill>
                    <a:schemeClr val="bg1"/>
                  </a:solidFill>
                  <a:latin typeface="微软雅黑" pitchFamily="34" charset="-122"/>
                  <a:ea typeface="微软雅黑" pitchFamily="34" charset="-122"/>
                </a:rPr>
                <a:t>cwnd</a:t>
              </a:r>
              <a:r>
                <a:rPr lang="en-US" altLang="zh-CN" sz="1200" b="1" dirty="0">
                  <a:solidFill>
                    <a:schemeClr val="bg1"/>
                  </a:solidFill>
                  <a:latin typeface="微软雅黑" pitchFamily="34" charset="-122"/>
                  <a:ea typeface="微软雅黑" pitchFamily="34" charset="-122"/>
                </a:rPr>
                <a:t> </a:t>
              </a:r>
              <a:r>
                <a:rPr lang="en-US" altLang="zh-CN" sz="1200" b="1" dirty="0">
                  <a:solidFill>
                    <a:schemeClr val="bg1"/>
                  </a:solidFill>
                  <a:latin typeface="微软雅黑" pitchFamily="34" charset="-122"/>
                  <a:ea typeface="微软雅黑" pitchFamily="34" charset="-122"/>
                  <a:sym typeface="Symbol" pitchFamily="18" charset="2"/>
                </a:rPr>
                <a:t> </a:t>
              </a:r>
              <a:r>
                <a:rPr lang="en-US" altLang="zh-CN" sz="1200" b="1" dirty="0" err="1">
                  <a:solidFill>
                    <a:schemeClr val="bg1"/>
                  </a:solidFill>
                  <a:latin typeface="微软雅黑" pitchFamily="34" charset="-122"/>
                  <a:ea typeface="微软雅黑" pitchFamily="34" charset="-122"/>
                  <a:sym typeface="Symbol" pitchFamily="18" charset="2"/>
                </a:rPr>
                <a:t>ssthresh</a:t>
              </a:r>
              <a:endParaRPr lang="zh-CN" altLang="en-US" sz="1200" b="1" dirty="0">
                <a:solidFill>
                  <a:schemeClr val="bg1"/>
                </a:solidFill>
                <a:latin typeface="微软雅黑" pitchFamily="34" charset="-122"/>
                <a:ea typeface="微软雅黑" pitchFamily="34" charset="-122"/>
              </a:endParaRPr>
            </a:p>
          </p:txBody>
        </p:sp>
        <p:sp>
          <p:nvSpPr>
            <p:cNvPr id="24" name="Text Box 15"/>
            <p:cNvSpPr txBox="1">
              <a:spLocks noChangeArrowheads="1"/>
            </p:cNvSpPr>
            <p:nvPr/>
          </p:nvSpPr>
          <p:spPr bwMode="auto">
            <a:xfrm>
              <a:off x="4411395" y="4338229"/>
              <a:ext cx="12856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A50021"/>
                  </a:solidFill>
                  <a:latin typeface="微软雅黑" pitchFamily="34" charset="-122"/>
                  <a:ea typeface="微软雅黑" pitchFamily="34" charset="-122"/>
                </a:rPr>
                <a:t>拥塞避免</a:t>
              </a:r>
            </a:p>
          </p:txBody>
        </p:sp>
        <p:sp>
          <p:nvSpPr>
            <p:cNvPr id="25" name="TextBox 41"/>
            <p:cNvSpPr txBox="1">
              <a:spLocks noChangeArrowheads="1"/>
            </p:cNvSpPr>
            <p:nvPr/>
          </p:nvSpPr>
          <p:spPr bwMode="auto">
            <a:xfrm>
              <a:off x="6379567" y="4642166"/>
              <a:ext cx="1347850"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rgbClr val="0000FF"/>
                  </a:solidFill>
                  <a:latin typeface="微软雅黑" pitchFamily="34" charset="-122"/>
                  <a:ea typeface="微软雅黑" pitchFamily="34" charset="-122"/>
                  <a:cs typeface="Times New Roman" pitchFamily="18" charset="0"/>
                </a:rPr>
                <a:t>3 </a:t>
              </a:r>
              <a:r>
                <a:rPr lang="zh-CN" altLang="en-US" sz="1200" b="1" dirty="0">
                  <a:solidFill>
                    <a:srgbClr val="0000FF"/>
                  </a:solidFill>
                  <a:latin typeface="微软雅黑" pitchFamily="34" charset="-122"/>
                  <a:ea typeface="微软雅黑" pitchFamily="34" charset="-122"/>
                  <a:cs typeface="Times New Roman" pitchFamily="18" charset="0"/>
                </a:rPr>
                <a:t>个重复</a:t>
              </a:r>
              <a:endParaRPr lang="en-US" altLang="zh-CN" sz="1200" b="1" dirty="0">
                <a:solidFill>
                  <a:srgbClr val="0000FF"/>
                </a:solidFill>
                <a:latin typeface="微软雅黑" pitchFamily="34" charset="-122"/>
                <a:ea typeface="微软雅黑" pitchFamily="34" charset="-122"/>
                <a:cs typeface="Times New Roman" pitchFamily="18" charset="0"/>
              </a:endParaRPr>
            </a:p>
            <a:p>
              <a:pPr algn="r" eaLnBrk="1" hangingPunct="1"/>
              <a:r>
                <a:rPr lang="zh-CN" altLang="en-US" sz="1200" b="1" dirty="0">
                  <a:solidFill>
                    <a:srgbClr val="0000FF"/>
                  </a:solidFill>
                  <a:latin typeface="微软雅黑" pitchFamily="34" charset="-122"/>
                  <a:ea typeface="微软雅黑" pitchFamily="34" charset="-122"/>
                  <a:cs typeface="Times New Roman" pitchFamily="18" charset="0"/>
                </a:rPr>
                <a:t>的 </a:t>
              </a:r>
              <a:r>
                <a:rPr lang="en-US" altLang="zh-CN" sz="1200" b="1" dirty="0">
                  <a:solidFill>
                    <a:srgbClr val="0000FF"/>
                  </a:solidFill>
                  <a:latin typeface="微软雅黑" pitchFamily="34" charset="-122"/>
                  <a:ea typeface="微软雅黑" pitchFamily="34" charset="-122"/>
                  <a:cs typeface="Times New Roman" pitchFamily="18" charset="0"/>
                </a:rPr>
                <a:t>ACK</a:t>
              </a:r>
              <a:endParaRPr lang="zh-CN" altLang="en-US" sz="1200" b="1" dirty="0">
                <a:solidFill>
                  <a:srgbClr val="0000FF"/>
                </a:solidFill>
                <a:latin typeface="微软雅黑" pitchFamily="34" charset="-122"/>
                <a:ea typeface="微软雅黑" pitchFamily="34" charset="-122"/>
                <a:cs typeface="Times New Roman" pitchFamily="18" charset="0"/>
              </a:endParaRPr>
            </a:p>
          </p:txBody>
        </p:sp>
        <p:sp>
          <p:nvSpPr>
            <p:cNvPr id="26" name="TextBox 42"/>
            <p:cNvSpPr txBox="1">
              <a:spLocks noChangeArrowheads="1"/>
            </p:cNvSpPr>
            <p:nvPr/>
          </p:nvSpPr>
          <p:spPr bwMode="auto">
            <a:xfrm>
              <a:off x="2810904" y="4715163"/>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超时</a:t>
              </a:r>
            </a:p>
          </p:txBody>
        </p:sp>
        <p:sp>
          <p:nvSpPr>
            <p:cNvPr id="27" name="Text Box 16"/>
            <p:cNvSpPr txBox="1">
              <a:spLocks noChangeArrowheads="1"/>
            </p:cNvSpPr>
            <p:nvPr/>
          </p:nvSpPr>
          <p:spPr bwMode="auto">
            <a:xfrm>
              <a:off x="3932016" y="4664561"/>
              <a:ext cx="2220366"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latin typeface="微软雅黑" pitchFamily="34" charset="-122"/>
                  <a:ea typeface="微软雅黑" pitchFamily="34" charset="-122"/>
                </a:rPr>
                <a:t>拥塞窗口 </a:t>
              </a:r>
              <a:r>
                <a:rPr lang="en-US" altLang="zh-CN" sz="1200" b="1" dirty="0" err="1">
                  <a:latin typeface="微软雅黑" pitchFamily="34" charset="-122"/>
                  <a:ea typeface="微软雅黑" pitchFamily="34" charset="-122"/>
                </a:rPr>
                <a:t>cwnd</a:t>
              </a:r>
              <a:r>
                <a:rPr lang="en-US" altLang="zh-CN" sz="1200" b="1" dirty="0">
                  <a:latin typeface="微软雅黑" pitchFamily="34" charset="-122"/>
                  <a:ea typeface="微软雅黑" pitchFamily="34" charset="-122"/>
                </a:rPr>
                <a:t> </a:t>
              </a:r>
              <a:endParaRPr lang="zh-CN" altLang="en-US" sz="1200" b="1" dirty="0">
                <a:latin typeface="微软雅黑" pitchFamily="34" charset="-122"/>
                <a:ea typeface="微软雅黑" pitchFamily="34" charset="-122"/>
              </a:endParaRPr>
            </a:p>
            <a:p>
              <a:pPr algn="ctr" eaLnBrk="1" hangingPunct="1"/>
              <a:r>
                <a:rPr lang="zh-CN" altLang="en-US" sz="1200" b="1" dirty="0">
                  <a:latin typeface="微软雅黑" pitchFamily="34" charset="-122"/>
                  <a:ea typeface="微软雅黑" pitchFamily="34" charset="-122"/>
                </a:rPr>
                <a:t>按线性规律增大</a:t>
              </a:r>
              <a:endParaRPr lang="en-US" altLang="zh-CN" sz="1200" b="1" u="sng" dirty="0">
                <a:latin typeface="微软雅黑" pitchFamily="34" charset="-122"/>
                <a:ea typeface="微软雅黑" pitchFamily="34" charset="-122"/>
                <a:sym typeface="Symbol" pitchFamily="18" charset="2"/>
              </a:endParaRPr>
            </a:p>
          </p:txBody>
        </p:sp>
        <p:grpSp>
          <p:nvGrpSpPr>
            <p:cNvPr id="28" name="组合 27"/>
            <p:cNvGrpSpPr/>
            <p:nvPr/>
          </p:nvGrpSpPr>
          <p:grpSpPr>
            <a:xfrm>
              <a:off x="2775422" y="1756579"/>
              <a:ext cx="1169466" cy="397559"/>
              <a:chOff x="2775422" y="1756579"/>
              <a:chExt cx="1169466" cy="397559"/>
            </a:xfrm>
          </p:grpSpPr>
          <p:cxnSp>
            <p:nvCxnSpPr>
              <p:cNvPr id="29" name="直接连接符 28"/>
              <p:cNvCxnSpPr/>
              <p:nvPr/>
            </p:nvCxnSpPr>
            <p:spPr bwMode="auto">
              <a:xfrm>
                <a:off x="2775422" y="1756579"/>
                <a:ext cx="1169466" cy="5"/>
              </a:xfrm>
              <a:prstGeom prst="line">
                <a:avLst/>
              </a:prstGeom>
              <a:solidFill>
                <a:schemeClr val="accent1"/>
              </a:solidFill>
              <a:ln w="12700" cap="flat" cmpd="sng" algn="ctr">
                <a:solidFill>
                  <a:srgbClr val="0033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944888" y="1756579"/>
                <a:ext cx="0" cy="397559"/>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sp>
        <p:nvSpPr>
          <p:cNvPr id="36" name="内容占位符 35">
            <a:extLst>
              <a:ext uri="{FF2B5EF4-FFF2-40B4-BE49-F238E27FC236}">
                <a16:creationId xmlns:a16="http://schemas.microsoft.com/office/drawing/2014/main" id="{B1B91335-7DA2-F41B-1459-0936169FC8F3}"/>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00A20A48-D1B6-50D1-8FAD-5BA1E06136F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75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63096" y="59438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发送窗口的上限值</a:t>
            </a:r>
          </a:p>
        </p:txBody>
      </p:sp>
      <p:sp>
        <p:nvSpPr>
          <p:cNvPr id="4" name="Rectangle 68"/>
          <p:cNvSpPr>
            <a:spLocks noChangeArrowheads="1"/>
          </p:cNvSpPr>
          <p:nvPr/>
        </p:nvSpPr>
        <p:spPr bwMode="auto">
          <a:xfrm>
            <a:off x="556963" y="1895671"/>
            <a:ext cx="8184960"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时，是接收方的</a:t>
            </a:r>
            <a:r>
              <a:rPr lang="zh-CN" altLang="en-US" sz="2000" b="1" dirty="0">
                <a:solidFill>
                  <a:srgbClr val="0000FF"/>
                </a:solidFill>
                <a:latin typeface="微软雅黑" pitchFamily="34" charset="-122"/>
                <a:ea typeface="微软雅黑" pitchFamily="34" charset="-122"/>
              </a:rPr>
              <a:t>接收能力</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a:t>
            </a:r>
            <a:r>
              <a:rPr lang="zh-CN" altLang="en-US" sz="2000" b="1" dirty="0">
                <a:solidFill>
                  <a:srgbClr val="0000FF"/>
                </a:solidFill>
                <a:latin typeface="微软雅黑" pitchFamily="34" charset="-122"/>
                <a:ea typeface="微软雅黑" pitchFamily="34" charset="-122"/>
              </a:rPr>
              <a:t>网络拥塞</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 </a:t>
            </a:r>
          </a:p>
        </p:txBody>
      </p:sp>
      <p:sp>
        <p:nvSpPr>
          <p:cNvPr id="5" name="矩形 4"/>
          <p:cNvSpPr/>
          <p:nvPr/>
        </p:nvSpPr>
        <p:spPr>
          <a:xfrm>
            <a:off x="868047" y="1241137"/>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10" name="内容占位符 9">
            <a:extLst>
              <a:ext uri="{FF2B5EF4-FFF2-40B4-BE49-F238E27FC236}">
                <a16:creationId xmlns:a16="http://schemas.microsoft.com/office/drawing/2014/main" id="{E7DF95F4-E4BC-5BA6-8CB9-7B4A420CE952}"/>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591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602553" y="583648"/>
            <a:ext cx="39389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5.8.3   </a:t>
            </a:r>
            <a:r>
              <a:rPr lang="zh-CN" altLang="en-US" sz="2400" b="1" dirty="0">
                <a:solidFill>
                  <a:schemeClr val="bg1"/>
                </a:solidFill>
                <a:latin typeface="微软雅黑" pitchFamily="34" charset="-122"/>
                <a:ea typeface="微软雅黑" pitchFamily="34" charset="-122"/>
              </a:rPr>
              <a:t>主动队列管理 </a:t>
            </a:r>
            <a:r>
              <a:rPr lang="en-US" altLang="zh-CN" sz="2400" b="1" dirty="0">
                <a:solidFill>
                  <a:schemeClr val="bg1"/>
                </a:solidFill>
                <a:latin typeface="微软雅黑" pitchFamily="34" charset="-122"/>
                <a:ea typeface="微软雅黑" pitchFamily="34" charset="-122"/>
              </a:rPr>
              <a:t>AQM</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29517"/>
            <a:ext cx="8053711" cy="2750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拥塞控制和网络层采取的策略有密切联系。</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若路由器对某些分组的处理时间特别长，就可能引起发送方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超时，对这些报文段进行重传。</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重传会使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连接的发送端认为在网络中发生了拥塞，但实际上网络并没有发生拥塞。</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对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拥塞控制</a:t>
            </a:r>
            <a:r>
              <a:rPr lang="zh-CN" altLang="en-US" sz="2000" b="1" dirty="0">
                <a:solidFill>
                  <a:srgbClr val="C00000"/>
                </a:solidFill>
                <a:latin typeface="微软雅黑" pitchFamily="34" charset="-122"/>
                <a:ea typeface="微软雅黑" pitchFamily="34" charset="-122"/>
              </a:rPr>
              <a:t>影响最大</a:t>
            </a:r>
            <a:r>
              <a:rPr lang="zh-CN" altLang="en-US" sz="2000" b="1" dirty="0">
                <a:solidFill>
                  <a:srgbClr val="0000FF"/>
                </a:solidFill>
                <a:latin typeface="微软雅黑" pitchFamily="34" charset="-122"/>
                <a:ea typeface="微软雅黑" pitchFamily="34" charset="-122"/>
              </a:rPr>
              <a:t>的就是路由器的</a:t>
            </a:r>
            <a:r>
              <a:rPr lang="zh-CN" altLang="en-US" sz="2000" b="1" dirty="0">
                <a:solidFill>
                  <a:srgbClr val="C00000"/>
                </a:solidFill>
                <a:latin typeface="微软雅黑" pitchFamily="34" charset="-122"/>
                <a:ea typeface="微软雅黑" pitchFamily="34" charset="-122"/>
              </a:rPr>
              <a:t>分组丢弃策略。</a:t>
            </a:r>
          </a:p>
        </p:txBody>
      </p:sp>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23498" y="589202"/>
            <a:ext cx="35157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 </a:t>
            </a:r>
            <a:r>
              <a:rPr lang="zh-CN" altLang="en-US" sz="2000" b="1" dirty="0">
                <a:solidFill>
                  <a:schemeClr val="bg1"/>
                </a:solidFill>
                <a:latin typeface="微软雅黑" pitchFamily="34" charset="-122"/>
                <a:ea typeface="微软雅黑" pitchFamily="34" charset="-122"/>
              </a:rPr>
              <a:t>处理规则</a:t>
            </a:r>
          </a:p>
        </p:txBody>
      </p:sp>
      <p:sp>
        <p:nvSpPr>
          <p:cNvPr id="4" name="Rectangle 68"/>
          <p:cNvSpPr>
            <a:spLocks noChangeArrowheads="1"/>
          </p:cNvSpPr>
          <p:nvPr/>
        </p:nvSpPr>
        <p:spPr bwMode="auto">
          <a:xfrm>
            <a:off x="556963" y="985512"/>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先进先出</a:t>
            </a:r>
            <a:r>
              <a:rPr lang="en-US" altLang="zh-CN" sz="2000" b="1" dirty="0">
                <a:solidFill>
                  <a:srgbClr val="C00000"/>
                </a:solidFill>
                <a:latin typeface="微软雅黑" pitchFamily="34" charset="-122"/>
                <a:ea typeface="微软雅黑" pitchFamily="34" charset="-122"/>
              </a:rPr>
              <a:t>FIFO </a:t>
            </a:r>
            <a:r>
              <a:rPr lang="en-US" altLang="zh-CN" sz="2000" b="1" dirty="0">
                <a:latin typeface="微软雅黑" pitchFamily="34" charset="-122"/>
                <a:ea typeface="微软雅黑" pitchFamily="34" charset="-122"/>
              </a:rPr>
              <a:t>(First In First Out) </a:t>
            </a:r>
            <a:r>
              <a:rPr lang="zh-CN" altLang="en-US" sz="2000" b="1" dirty="0">
                <a:latin typeface="微软雅黑" pitchFamily="34" charset="-122"/>
                <a:ea typeface="微软雅黑" pitchFamily="34" charset="-122"/>
              </a:rPr>
              <a:t>处理规则：</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尾部丢弃策略 </a:t>
            </a:r>
            <a:r>
              <a:rPr lang="en-US" altLang="zh-CN" sz="2000" b="1" dirty="0">
                <a:latin typeface="微软雅黑" pitchFamily="34" charset="-122"/>
                <a:ea typeface="微软雅黑" pitchFamily="34" charset="-122"/>
              </a:rPr>
              <a:t>(tail-drop policy)</a:t>
            </a:r>
            <a:r>
              <a:rPr lang="zh-CN" altLang="en-US" sz="2000" b="1" dirty="0">
                <a:latin typeface="微软雅黑" pitchFamily="34" charset="-122"/>
                <a:ea typeface="微软雅黑" pitchFamily="34" charset="-122"/>
              </a:rPr>
              <a:t>：当队列已满时，以后到达的所有分组（如果能够继续排队，这些分组都将排在队列的尾部）将都被丢弃。</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路由器的尾部丢弃往往会导致一连串分组的丢失，这就使发送方出现超时重传，使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进入拥塞控制的慢开始状态，结果使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连接的发送方突然把数据的发送速率降低到很小的数值。</a:t>
            </a:r>
          </a:p>
        </p:txBody>
      </p:sp>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15398"/>
            <a:ext cx="8048776" cy="32078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5" name="内容占位符 14">
            <a:extLst>
              <a:ext uri="{FF2B5EF4-FFF2-40B4-BE49-F238E27FC236}">
                <a16:creationId xmlns:a16="http://schemas.microsoft.com/office/drawing/2014/main" id="{4E695EA1-3371-3B90-8227-0101435A8FB0}"/>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ADC8FA35-F415-FF99-5C36-23C05C6F2A6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8799"/>
            <a:ext cx="8048776" cy="331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7"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8"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6" name="内容占位符 5">
            <a:extLst>
              <a:ext uri="{FF2B5EF4-FFF2-40B4-BE49-F238E27FC236}">
                <a16:creationId xmlns:a16="http://schemas.microsoft.com/office/drawing/2014/main" id="{D64E6BDC-57E6-6BC8-E9FA-43CD69B97E6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98F9295-56CC-A398-F6D9-64B8B43B26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5" name="圆角矩形 4"/>
          <p:cNvSpPr/>
          <p:nvPr/>
        </p:nvSpPr>
        <p:spPr>
          <a:xfrm>
            <a:off x="556963" y="1005971"/>
            <a:ext cx="8048776" cy="28868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19" name="内容占位符 18">
            <a:extLst>
              <a:ext uri="{FF2B5EF4-FFF2-40B4-BE49-F238E27FC236}">
                <a16:creationId xmlns:a16="http://schemas.microsoft.com/office/drawing/2014/main" id="{EB542B0E-3ECC-974E-F900-C0483BFBAAA7}"/>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82188499-3004-C322-5C6E-295D98FB9C9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1687"/>
            <a:ext cx="8048776" cy="33912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46"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7" name="内容占位符 6">
            <a:extLst>
              <a:ext uri="{FF2B5EF4-FFF2-40B4-BE49-F238E27FC236}">
                <a16:creationId xmlns:a16="http://schemas.microsoft.com/office/drawing/2014/main" id="{29449913-5B0B-23F6-B99B-1D1500932FC8}"/>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D1CEE4E-9713-F96E-178F-E66AD7B27FC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8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47680" y="588636"/>
            <a:ext cx="24673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946"/>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1998 </a:t>
            </a:r>
            <a:r>
              <a:rPr lang="zh-CN" altLang="en-US" sz="2000" b="1" dirty="0">
                <a:latin typeface="微软雅黑" pitchFamily="34" charset="-122"/>
                <a:ea typeface="微软雅黑" pitchFamily="34" charset="-122"/>
              </a:rPr>
              <a:t>年提出了主动队列管理 </a:t>
            </a:r>
            <a:r>
              <a:rPr lang="en-US" altLang="zh-CN" sz="2000" b="1" dirty="0">
                <a:latin typeface="微软雅黑" pitchFamily="34" charset="-122"/>
                <a:ea typeface="微软雅黑" pitchFamily="34" charset="-122"/>
              </a:rPr>
              <a:t>AQM (Active Queue Management)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主动：</a:t>
            </a:r>
            <a:r>
              <a:rPr lang="zh-CN" altLang="en-US" sz="2000" b="1" dirty="0">
                <a:latin typeface="微软雅黑" pitchFamily="34" charset="-122"/>
                <a:ea typeface="微软雅黑" pitchFamily="34" charset="-122"/>
              </a:rPr>
              <a:t>不要等到路由器的队列长度已经达到最大值时才不得不丢弃后面到达的分组，而是在队列长度</a:t>
            </a:r>
            <a:r>
              <a:rPr lang="zh-CN" altLang="en-US" sz="2000" b="1" dirty="0">
                <a:solidFill>
                  <a:srgbClr val="0000FF"/>
                </a:solidFill>
                <a:latin typeface="微软雅黑" pitchFamily="34" charset="-122"/>
                <a:ea typeface="微软雅黑" pitchFamily="34" charset="-122"/>
              </a:rPr>
              <a:t>达到某个值得警惕的数值时</a:t>
            </a:r>
            <a:r>
              <a:rPr lang="zh-CN" altLang="en-US" sz="2000" b="1" dirty="0">
                <a:latin typeface="微软雅黑" pitchFamily="34" charset="-122"/>
                <a:ea typeface="微软雅黑" pitchFamily="34" charset="-122"/>
              </a:rPr>
              <a:t>（即当网络拥塞有了某些拥塞征兆时），就</a:t>
            </a:r>
            <a:r>
              <a:rPr lang="zh-CN" altLang="en-US" sz="2000" b="1" dirty="0">
                <a:solidFill>
                  <a:srgbClr val="0000FF"/>
                </a:solidFill>
                <a:latin typeface="微软雅黑" pitchFamily="34" charset="-122"/>
                <a:ea typeface="微软雅黑" pitchFamily="34" charset="-122"/>
              </a:rPr>
              <a:t>主动丢弃</a:t>
            </a:r>
            <a:r>
              <a:rPr lang="zh-CN" altLang="en-US" sz="2000" b="1" dirty="0">
                <a:latin typeface="微软雅黑" pitchFamily="34" charset="-122"/>
                <a:ea typeface="微软雅黑" pitchFamily="34" charset="-122"/>
              </a:rPr>
              <a:t>到达的分组。</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可以有不同实现方法，其中曾流行多年的就是</a:t>
            </a:r>
            <a:r>
              <a:rPr lang="zh-CN" altLang="en-US" sz="2000" b="1" dirty="0">
                <a:solidFill>
                  <a:srgbClr val="C00000"/>
                </a:solidFill>
                <a:latin typeface="微软雅黑" pitchFamily="34" charset="-122"/>
                <a:ea typeface="微软雅黑" pitchFamily="34" charset="-122"/>
              </a:rPr>
              <a:t>随机早期检测 </a:t>
            </a:r>
            <a:r>
              <a:rPr lang="en-US" altLang="zh-CN" sz="2000" b="1" dirty="0">
                <a:solidFill>
                  <a:srgbClr val="C00000"/>
                </a:solidFill>
                <a:latin typeface="微软雅黑" pitchFamily="34" charset="-122"/>
                <a:ea typeface="微软雅黑" pitchFamily="34" charset="-122"/>
              </a:rPr>
              <a:t>RED</a:t>
            </a:r>
            <a:r>
              <a:rPr lang="en-US" altLang="zh-CN" sz="2000" b="1" dirty="0">
                <a:solidFill>
                  <a:srgbClr val="0000FF"/>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(Random Early Detection)</a:t>
            </a:r>
            <a:r>
              <a:rPr lang="zh-CN" altLang="en-US" sz="2000" b="1" dirty="0">
                <a:latin typeface="微软雅黑" pitchFamily="34" charset="-122"/>
                <a:ea typeface="微软雅黑" pitchFamily="34" charset="-122"/>
              </a:rPr>
              <a:t>。</a:t>
            </a:r>
          </a:p>
        </p:txBody>
      </p:sp>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1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8919"/>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48653"/>
            <a:ext cx="8184960" cy="39010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路由器队列维持两个参数：</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RED </a:t>
            </a:r>
            <a:r>
              <a:rPr lang="zh-CN" altLang="en-US" sz="2000" b="1" dirty="0">
                <a:latin typeface="微软雅黑" pitchFamily="34" charset="-122"/>
                <a:ea typeface="微软雅黑" pitchFamily="34" charset="-122"/>
              </a:rPr>
              <a:t>对每一个到达的分组都先计算平均队列长度 </a:t>
            </a:r>
            <a:r>
              <a:rPr lang="en-US" altLang="zh-CN" sz="2000" b="1" i="1" dirty="0">
                <a:latin typeface="微软雅黑" pitchFamily="34" charset="-122"/>
                <a:ea typeface="微软雅黑" pitchFamily="34" charset="-122"/>
              </a:rPr>
              <a:t>L</a:t>
            </a:r>
            <a:r>
              <a:rPr lang="en-US" altLang="zh-CN" sz="2000" b="1" baseline="-25000" dirty="0">
                <a:latin typeface="微软雅黑" pitchFamily="34" charset="-122"/>
                <a:ea typeface="微软雅黑" pitchFamily="34" charset="-122"/>
              </a:rPr>
              <a:t>AV</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小于最小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zh-CN" altLang="en-US" sz="2000" b="1" dirty="0">
                <a:latin typeface="微软雅黑" pitchFamily="34" charset="-122"/>
                <a:ea typeface="微软雅黑" pitchFamily="34" charset="-122"/>
              </a:rPr>
              <a:t>，则将新到达的分组放入队列进行排队。</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超过最大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，则将新到达的分组丢弃。</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介于</a:t>
            </a:r>
            <a:r>
              <a:rPr lang="zh-CN" altLang="en-US" sz="2000" b="1" dirty="0">
                <a:latin typeface="微软雅黑" pitchFamily="34" charset="-122"/>
                <a:ea typeface="微软雅黑" pitchFamily="34" charset="-122"/>
              </a:rPr>
              <a:t>在最小门限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和最大门限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ax</a:t>
            </a: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之间</a:t>
            </a:r>
            <a:r>
              <a:rPr lang="zh-CN" altLang="en-US" sz="2000" b="1" dirty="0">
                <a:latin typeface="微软雅黑" pitchFamily="34" charset="-122"/>
                <a:ea typeface="微软雅黑" pitchFamily="34" charset="-122"/>
              </a:rPr>
              <a:t>，则按照某一</a:t>
            </a:r>
            <a:r>
              <a:rPr lang="zh-CN" altLang="en-US" sz="2000" b="1" dirty="0">
                <a:solidFill>
                  <a:srgbClr val="0000FF"/>
                </a:solidFill>
                <a:latin typeface="微软雅黑" pitchFamily="34" charset="-122"/>
                <a:ea typeface="微软雅黑" pitchFamily="34" charset="-122"/>
              </a:rPr>
              <a:t>概率 </a:t>
            </a:r>
            <a:r>
              <a:rPr lang="en-US" altLang="zh-CN" sz="2000" b="1" i="1" dirty="0">
                <a:solidFill>
                  <a:srgbClr val="0000FF"/>
                </a:solidFill>
                <a:latin typeface="微软雅黑" pitchFamily="34" charset="-122"/>
                <a:ea typeface="微软雅黑" pitchFamily="34" charset="-122"/>
              </a:rPr>
              <a:t>p</a:t>
            </a:r>
            <a:r>
              <a:rPr lang="en-US" altLang="zh-CN" sz="2000" b="1" dirty="0">
                <a:solidFill>
                  <a:srgbClr val="0000FF"/>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将新到达的分组丢弃。</a:t>
            </a:r>
          </a:p>
        </p:txBody>
      </p:sp>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427955"/>
            <a:ext cx="8048776" cy="286415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627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3636"/>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42" name="内容占位符 41">
            <a:extLst>
              <a:ext uri="{FF2B5EF4-FFF2-40B4-BE49-F238E27FC236}">
                <a16:creationId xmlns:a16="http://schemas.microsoft.com/office/drawing/2014/main" id="{A4D9958E-2AFD-5E52-64DF-FD85CF19C058}"/>
              </a:ext>
            </a:extLst>
          </p:cNvPr>
          <p:cNvSpPr>
            <a:spLocks noGrp="1"/>
          </p:cNvSpPr>
          <p:nvPr>
            <p:ph sz="quarter" idx="11"/>
          </p:nvPr>
        </p:nvSpPr>
        <p:spPr/>
        <p:txBody>
          <a:bodyPr/>
          <a:lstStyle/>
          <a:p>
            <a:endParaRPr lang="zh-CN" altLang="en-US"/>
          </a:p>
        </p:txBody>
      </p:sp>
      <p:sp>
        <p:nvSpPr>
          <p:cNvPr id="41" name="标题 40">
            <a:extLst>
              <a:ext uri="{FF2B5EF4-FFF2-40B4-BE49-F238E27FC236}">
                <a16:creationId xmlns:a16="http://schemas.microsoft.com/office/drawing/2014/main" id="{0C51DEE7-D517-F729-C285-6224C35F4B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56963" y="2071154"/>
            <a:ext cx="8048776" cy="22905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内容占位符 13">
            <a:extLst>
              <a:ext uri="{FF2B5EF4-FFF2-40B4-BE49-F238E27FC236}">
                <a16:creationId xmlns:a16="http://schemas.microsoft.com/office/drawing/2014/main" id="{D8EBB747-5C82-8D85-74DC-851C454B1389}"/>
              </a:ext>
            </a:extLst>
          </p:cNvPr>
          <p:cNvSpPr>
            <a:spLocks noGrp="1"/>
          </p:cNvSpPr>
          <p:nvPr>
            <p:ph sz="quarter" idx="11"/>
          </p:nvPr>
        </p:nvSpPr>
        <p:spPr/>
        <p:txBody>
          <a:bodyPr/>
          <a:lstStyle/>
          <a:p>
            <a:endParaRPr lang="zh-CN" altLang="en-US"/>
          </a:p>
        </p:txBody>
      </p:sp>
      <p:sp>
        <p:nvSpPr>
          <p:cNvPr id="13" name="标题 12">
            <a:extLst>
              <a:ext uri="{FF2B5EF4-FFF2-40B4-BE49-F238E27FC236}">
                <a16:creationId xmlns:a16="http://schemas.microsoft.com/office/drawing/2014/main" id="{614D9BD1-F728-0F54-8902-98AA9C55488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9283"/>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多年的实践证明，</a:t>
            </a:r>
            <a:r>
              <a:rPr lang="en-US" altLang="zh-CN" sz="2000" b="1" dirty="0">
                <a:solidFill>
                  <a:srgbClr val="0000FF"/>
                </a:solidFill>
                <a:latin typeface="微软雅黑" pitchFamily="34" charset="-122"/>
                <a:ea typeface="微软雅黑" pitchFamily="34" charset="-122"/>
              </a:rPr>
              <a:t>RED </a:t>
            </a:r>
            <a:r>
              <a:rPr lang="zh-CN" altLang="en-US" sz="2000" b="1" dirty="0">
                <a:solidFill>
                  <a:srgbClr val="0000FF"/>
                </a:solidFill>
                <a:latin typeface="微软雅黑" pitchFamily="34" charset="-122"/>
                <a:ea typeface="微软雅黑" pitchFamily="34" charset="-122"/>
              </a:rPr>
              <a:t>的使用效果并不太理想</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2015 </a:t>
            </a:r>
            <a:r>
              <a:rPr lang="zh-CN" altLang="en-US" sz="2000" b="1" dirty="0">
                <a:latin typeface="微软雅黑" pitchFamily="34" charset="-122"/>
                <a:ea typeface="微软雅黑" pitchFamily="34" charset="-122"/>
              </a:rPr>
              <a:t>年公布的 </a:t>
            </a:r>
            <a:r>
              <a:rPr lang="en-US" altLang="zh-CN" sz="2000" b="1" dirty="0">
                <a:latin typeface="微软雅黑" pitchFamily="34" charset="-122"/>
                <a:ea typeface="微软雅黑" pitchFamily="34" charset="-122"/>
              </a:rPr>
              <a:t>RFC 7567 </a:t>
            </a:r>
            <a:r>
              <a:rPr lang="zh-CN" altLang="en-US" sz="2000" b="1" dirty="0">
                <a:latin typeface="微软雅黑" pitchFamily="34" charset="-122"/>
                <a:ea typeface="微软雅黑" pitchFamily="34" charset="-122"/>
              </a:rPr>
              <a:t>已经把 </a:t>
            </a:r>
            <a:r>
              <a:rPr lang="en-US" altLang="zh-CN" sz="2000" b="1" dirty="0">
                <a:latin typeface="微软雅黑" pitchFamily="34" charset="-122"/>
                <a:ea typeface="微软雅黑" pitchFamily="34" charset="-122"/>
              </a:rPr>
              <a:t>RFC 2309 </a:t>
            </a:r>
            <a:r>
              <a:rPr lang="zh-CN" altLang="en-US" sz="2000" b="1" dirty="0">
                <a:latin typeface="微软雅黑" pitchFamily="34" charset="-122"/>
                <a:ea typeface="微软雅黑" pitchFamily="34" charset="-122"/>
              </a:rPr>
              <a:t>列为“陈旧的”，并且不再推荐使用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但对路由器进行主动队列管理 </a:t>
            </a: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仍是必要的。</a:t>
            </a:r>
          </a:p>
          <a:p>
            <a:pPr marL="342900" indent="-342900">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AQM </a:t>
            </a:r>
            <a:r>
              <a:rPr lang="zh-CN" altLang="en-US" sz="2000" b="1" dirty="0">
                <a:solidFill>
                  <a:srgbClr val="0000FF"/>
                </a:solidFill>
                <a:latin typeface="微软雅黑" pitchFamily="34" charset="-122"/>
                <a:ea typeface="微软雅黑" pitchFamily="34" charset="-122"/>
              </a:rPr>
              <a:t>实际上就是对路由器中的分组排队进行</a:t>
            </a:r>
            <a:r>
              <a:rPr lang="zh-CN" altLang="en-US" sz="2000" b="1" dirty="0">
                <a:solidFill>
                  <a:srgbClr val="C00000"/>
                </a:solidFill>
                <a:latin typeface="微软雅黑" pitchFamily="34" charset="-122"/>
                <a:ea typeface="微软雅黑" pitchFamily="34" charset="-122"/>
              </a:rPr>
              <a:t>智能管理，</a:t>
            </a:r>
            <a:r>
              <a:rPr lang="zh-CN" altLang="en-US" sz="2000" b="1" dirty="0">
                <a:solidFill>
                  <a:srgbClr val="0000FF"/>
                </a:solidFill>
                <a:latin typeface="微软雅黑" pitchFamily="34" charset="-122"/>
                <a:ea typeface="微软雅黑" pitchFamily="34" charset="-122"/>
              </a:rPr>
              <a:t>而不是简单地把队列的尾部丢弃。</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现在已经有几种不同的算法来代替旧的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，但都还在实验阶段。</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2891"/>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4676" y="571476"/>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运输连接的三个阶段</a:t>
            </a:r>
          </a:p>
        </p:txBody>
      </p:sp>
      <p:sp>
        <p:nvSpPr>
          <p:cNvPr id="4" name="Rectangle 8"/>
          <p:cNvSpPr>
            <a:spLocks noChangeArrowheads="1"/>
          </p:cNvSpPr>
          <p:nvPr/>
        </p:nvSpPr>
        <p:spPr bwMode="auto">
          <a:xfrm>
            <a:off x="545143" y="1017062"/>
            <a:ext cx="8053711"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是面向连接的协议。</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连接有</a:t>
            </a:r>
            <a:r>
              <a:rPr lang="zh-CN" altLang="en-US" sz="2000" b="1" dirty="0">
                <a:solidFill>
                  <a:srgbClr val="C00000"/>
                </a:solidFill>
                <a:latin typeface="微软雅黑" pitchFamily="34" charset="-122"/>
                <a:ea typeface="微软雅黑" pitchFamily="34" charset="-122"/>
              </a:rPr>
              <a:t>三个阶段：</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连接建立</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数据传送</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连接释放</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的连接</a:t>
            </a:r>
            <a:r>
              <a:rPr lang="zh-CN" altLang="en-US" sz="2000" b="1" dirty="0">
                <a:solidFill>
                  <a:srgbClr val="C00000"/>
                </a:solidFill>
                <a:latin typeface="微软雅黑" pitchFamily="34" charset="-122"/>
                <a:ea typeface="微软雅黑" pitchFamily="34" charset="-122"/>
              </a:rPr>
              <a:t>管理</a:t>
            </a:r>
            <a:r>
              <a:rPr lang="zh-CN" altLang="en-US" sz="2000" b="1" dirty="0">
                <a:latin typeface="微软雅黑" pitchFamily="34" charset="-122"/>
                <a:ea typeface="微软雅黑" pitchFamily="34" charset="-122"/>
              </a:rPr>
              <a:t>就是使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连接的建立和释放都能正常地进行。</a:t>
            </a:r>
          </a:p>
        </p:txBody>
      </p:sp>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1855"/>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831125" y="579584"/>
            <a:ext cx="548175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连接建立过程中要解决的三个问题</a:t>
            </a:r>
          </a:p>
        </p:txBody>
      </p:sp>
      <p:sp>
        <p:nvSpPr>
          <p:cNvPr id="4" name="Rectangle 8"/>
          <p:cNvSpPr>
            <a:spLocks noChangeArrowheads="1"/>
          </p:cNvSpPr>
          <p:nvPr/>
        </p:nvSpPr>
        <p:spPr bwMode="auto">
          <a:xfrm>
            <a:off x="545143" y="1016026"/>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要使每一方能够确知对方的</a:t>
            </a:r>
            <a:r>
              <a:rPr lang="zh-CN" altLang="en-US" sz="2000" b="1" dirty="0">
                <a:solidFill>
                  <a:srgbClr val="C00000"/>
                </a:solidFill>
                <a:latin typeface="微软雅黑" pitchFamily="34" charset="-122"/>
                <a:ea typeface="微软雅黑" pitchFamily="34" charset="-122"/>
              </a:rPr>
              <a:t>存在。</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要允许双方</a:t>
            </a:r>
            <a:r>
              <a:rPr lang="zh-CN" altLang="en-US" sz="2000" b="1" dirty="0">
                <a:solidFill>
                  <a:srgbClr val="C00000"/>
                </a:solidFill>
                <a:latin typeface="微软雅黑" pitchFamily="34" charset="-122"/>
                <a:ea typeface="微软雅黑" pitchFamily="34" charset="-122"/>
              </a:rPr>
              <a:t>协商</a:t>
            </a:r>
            <a:r>
              <a:rPr lang="zh-CN" altLang="en-US" sz="2000" b="1" dirty="0">
                <a:latin typeface="微软雅黑" pitchFamily="34" charset="-122"/>
                <a:ea typeface="微软雅黑" pitchFamily="34" charset="-122"/>
              </a:rPr>
              <a:t>一些参数（如最大窗口值、是否使用窗口扩大选项和时间戳选项以及服务质量等）。</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能够对运输实体资源（如缓存大小、连接表中的项目等）进行</a:t>
            </a:r>
            <a:r>
              <a:rPr lang="zh-CN" altLang="en-US" sz="2000" b="1" dirty="0">
                <a:solidFill>
                  <a:srgbClr val="C00000"/>
                </a:solidFill>
                <a:latin typeface="微软雅黑" pitchFamily="34" charset="-122"/>
                <a:ea typeface="微软雅黑" pitchFamily="34" charset="-122"/>
              </a:rPr>
              <a:t>分配。</a:t>
            </a:r>
          </a:p>
        </p:txBody>
      </p:sp>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609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3828"/>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5.9.1  TCP </a:t>
            </a:r>
            <a:r>
              <a:rPr lang="zh-CN" altLang="en-US" sz="2400" b="1" dirty="0">
                <a:solidFill>
                  <a:schemeClr val="bg1"/>
                </a:solidFill>
                <a:latin typeface="微软雅黑" pitchFamily="34" charset="-122"/>
                <a:ea typeface="微软雅黑" pitchFamily="34" charset="-122"/>
              </a:rPr>
              <a:t>的连接建立</a:t>
            </a:r>
          </a:p>
        </p:txBody>
      </p:sp>
      <p:sp>
        <p:nvSpPr>
          <p:cNvPr id="4" name="Rectangle 8"/>
          <p:cNvSpPr>
            <a:spLocks noChangeArrowheads="1"/>
          </p:cNvSpPr>
          <p:nvPr/>
        </p:nvSpPr>
        <p:spPr bwMode="auto">
          <a:xfrm>
            <a:off x="545143" y="1029697"/>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建立连接的过程叫做</a:t>
            </a:r>
            <a:r>
              <a:rPr lang="zh-CN" altLang="en-US" sz="2000" b="1" dirty="0">
                <a:solidFill>
                  <a:srgbClr val="C00000"/>
                </a:solidFill>
                <a:latin typeface="微软雅黑" pitchFamily="34" charset="-122"/>
                <a:ea typeface="微软雅黑" pitchFamily="34" charset="-122"/>
              </a:rPr>
              <a:t>握手。</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三报文握手：</a:t>
            </a:r>
            <a:r>
              <a:rPr lang="zh-CN" altLang="en-US" sz="2000" b="1" dirty="0">
                <a:latin typeface="微软雅黑" pitchFamily="34" charset="-122"/>
                <a:ea typeface="微软雅黑" pitchFamily="34" charset="-122"/>
              </a:rPr>
              <a:t>在客户和服务器之间交换三个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报文段，以防止已失效的连接请求报文段突然又传送到了，因而产生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连接建立错误。</a:t>
            </a:r>
          </a:p>
        </p:txBody>
      </p:sp>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5" name="内容占位符 14">
            <a:extLst>
              <a:ext uri="{FF2B5EF4-FFF2-40B4-BE49-F238E27FC236}">
                <a16:creationId xmlns:a16="http://schemas.microsoft.com/office/drawing/2014/main" id="{047A6874-979E-3029-A8C3-259A60CF0F26}"/>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E4A16614-0FFA-EB9D-0786-0FBD923A65F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5" name="内容占位符 14">
            <a:extLst>
              <a:ext uri="{FF2B5EF4-FFF2-40B4-BE49-F238E27FC236}">
                <a16:creationId xmlns:a16="http://schemas.microsoft.com/office/drawing/2014/main" id="{4B78686D-2AE3-1C77-2894-9C0FBD7A903E}"/>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09C63D11-D029-342E-D0FA-0532FBFA035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2" name="内容占位符 31">
            <a:extLst>
              <a:ext uri="{FF2B5EF4-FFF2-40B4-BE49-F238E27FC236}">
                <a16:creationId xmlns:a16="http://schemas.microsoft.com/office/drawing/2014/main" id="{8FBB5076-855A-4B69-133D-DBE32DBEED9B}"/>
              </a:ext>
            </a:extLst>
          </p:cNvPr>
          <p:cNvSpPr>
            <a:spLocks noGrp="1"/>
          </p:cNvSpPr>
          <p:nvPr>
            <p:ph sz="quarter" idx="11"/>
          </p:nvPr>
        </p:nvSpPr>
        <p:spPr/>
        <p:txBody>
          <a:bodyPr/>
          <a:lstStyle/>
          <a:p>
            <a:endParaRPr lang="zh-CN" altLang="en-US"/>
          </a:p>
        </p:txBody>
      </p:sp>
      <p:sp>
        <p:nvSpPr>
          <p:cNvPr id="31" name="标题 30">
            <a:extLst>
              <a:ext uri="{FF2B5EF4-FFF2-40B4-BE49-F238E27FC236}">
                <a16:creationId xmlns:a16="http://schemas.microsoft.com/office/drawing/2014/main" id="{CA728FE8-177E-3CE4-64A7-085401A1101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圆角矩形 30"/>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5" name="内容占位符 34">
            <a:extLst>
              <a:ext uri="{FF2B5EF4-FFF2-40B4-BE49-F238E27FC236}">
                <a16:creationId xmlns:a16="http://schemas.microsoft.com/office/drawing/2014/main" id="{33D7A034-F409-B220-9F06-DBB22B8684FC}"/>
              </a:ext>
            </a:extLst>
          </p:cNvPr>
          <p:cNvSpPr>
            <a:spLocks noGrp="1"/>
          </p:cNvSpPr>
          <p:nvPr>
            <p:ph sz="quarter" idx="11"/>
          </p:nvPr>
        </p:nvSpPr>
        <p:spPr/>
        <p:txBody>
          <a:bodyPr/>
          <a:lstStyle/>
          <a:p>
            <a:endParaRPr lang="zh-CN" altLang="en-US"/>
          </a:p>
        </p:txBody>
      </p:sp>
      <p:sp>
        <p:nvSpPr>
          <p:cNvPr id="34" name="标题 33">
            <a:extLst>
              <a:ext uri="{FF2B5EF4-FFF2-40B4-BE49-F238E27FC236}">
                <a16:creationId xmlns:a16="http://schemas.microsoft.com/office/drawing/2014/main" id="{2EF2E450-44F0-F732-1CAB-D3A964BBAB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圆角矩形 3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8" name="内容占位符 37">
            <a:extLst>
              <a:ext uri="{FF2B5EF4-FFF2-40B4-BE49-F238E27FC236}">
                <a16:creationId xmlns:a16="http://schemas.microsoft.com/office/drawing/2014/main" id="{0EA209CD-418F-EEA7-DBC6-1FCF1953AAD4}"/>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3E6E9E2C-0D70-FD2F-033F-CAAE63AD24C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圆角矩形 3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0" name="内容占位符 39">
            <a:extLst>
              <a:ext uri="{FF2B5EF4-FFF2-40B4-BE49-F238E27FC236}">
                <a16:creationId xmlns:a16="http://schemas.microsoft.com/office/drawing/2014/main" id="{41CC26C4-9B96-68A0-E704-0F4834CCF070}"/>
              </a:ext>
            </a:extLst>
          </p:cNvPr>
          <p:cNvSpPr>
            <a:spLocks noGrp="1"/>
          </p:cNvSpPr>
          <p:nvPr>
            <p:ph sz="quarter" idx="11"/>
          </p:nvPr>
        </p:nvSpPr>
        <p:spPr/>
        <p:txBody>
          <a:bodyPr/>
          <a:lstStyle/>
          <a:p>
            <a:endParaRPr lang="zh-CN" altLang="en-US"/>
          </a:p>
        </p:txBody>
      </p:sp>
      <p:sp>
        <p:nvSpPr>
          <p:cNvPr id="39" name="标题 38">
            <a:extLst>
              <a:ext uri="{FF2B5EF4-FFF2-40B4-BE49-F238E27FC236}">
                <a16:creationId xmlns:a16="http://schemas.microsoft.com/office/drawing/2014/main" id="{6B1B90CD-7904-D7EC-5510-86C52949B06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645300" y="731252"/>
            <a:ext cx="4160853"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采用三报文握手建立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连接的各个状态 </a:t>
            </a:r>
          </a:p>
        </p:txBody>
      </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8" name="内容占位符 37">
            <a:extLst>
              <a:ext uri="{FF2B5EF4-FFF2-40B4-BE49-F238E27FC236}">
                <a16:creationId xmlns:a16="http://schemas.microsoft.com/office/drawing/2014/main" id="{2EE459F5-4FAE-E025-192D-E74A637662DB}"/>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F905790C-7AB5-9664-8D60-74DF231A0FC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36184"/>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4769"/>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5.9.2  TCP </a:t>
            </a:r>
            <a:r>
              <a:rPr lang="zh-CN" altLang="en-US" sz="2400" b="1" dirty="0">
                <a:solidFill>
                  <a:schemeClr val="bg1"/>
                </a:solidFill>
                <a:latin typeface="微软雅黑" pitchFamily="34" charset="-122"/>
                <a:ea typeface="微软雅黑" pitchFamily="34" charset="-122"/>
              </a:rPr>
              <a:t>的连接释放</a:t>
            </a:r>
          </a:p>
        </p:txBody>
      </p:sp>
      <p:sp>
        <p:nvSpPr>
          <p:cNvPr id="4" name="Rectangle 8"/>
          <p:cNvSpPr>
            <a:spLocks noChangeArrowheads="1"/>
          </p:cNvSpPr>
          <p:nvPr/>
        </p:nvSpPr>
        <p:spPr bwMode="auto">
          <a:xfrm>
            <a:off x="545143" y="1039782"/>
            <a:ext cx="766500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连接释放过程比较复杂。</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数据传输结束后，通信的</a:t>
            </a:r>
            <a:r>
              <a:rPr lang="zh-CN" altLang="en-US" sz="2000" b="1" dirty="0">
                <a:solidFill>
                  <a:srgbClr val="C00000"/>
                </a:solidFill>
                <a:latin typeface="微软雅黑" pitchFamily="34" charset="-122"/>
                <a:ea typeface="微软雅黑" pitchFamily="34" charset="-122"/>
              </a:rPr>
              <a:t>双方</a:t>
            </a:r>
            <a:r>
              <a:rPr lang="zh-CN" altLang="en-US" sz="2000" b="1" dirty="0">
                <a:latin typeface="微软雅黑" pitchFamily="34" charset="-122"/>
                <a:ea typeface="微软雅黑" pitchFamily="34" charset="-122"/>
              </a:rPr>
              <a:t>都可释放连接。</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连接释放过程是</a:t>
            </a:r>
            <a:r>
              <a:rPr lang="zh-CN" altLang="en-US" sz="2000" b="1" dirty="0">
                <a:solidFill>
                  <a:srgbClr val="C00000"/>
                </a:solidFill>
                <a:latin typeface="微软雅黑" pitchFamily="34" charset="-122"/>
                <a:ea typeface="微软雅黑" pitchFamily="34" charset="-122"/>
              </a:rPr>
              <a:t>四报文握手。</a:t>
            </a:r>
          </a:p>
        </p:txBody>
      </p:sp>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圆角矩形 2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5"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6" name="内容占位符 5">
            <a:extLst>
              <a:ext uri="{FF2B5EF4-FFF2-40B4-BE49-F238E27FC236}">
                <a16:creationId xmlns:a16="http://schemas.microsoft.com/office/drawing/2014/main" id="{BFF2ECFC-9256-4EA6-393E-F71DD3A8126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A1F1ABA-C5ED-CAB0-9953-96DFED5914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圆角矩形 5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9EAE2916-4B15-7BA7-2D04-6D27E7CF2AD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9E2B9DA-66A0-C871-38FA-E4D04536916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6"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6" name="内容占位符 5">
            <a:extLst>
              <a:ext uri="{FF2B5EF4-FFF2-40B4-BE49-F238E27FC236}">
                <a16:creationId xmlns:a16="http://schemas.microsoft.com/office/drawing/2014/main" id="{7BA56D61-E990-C8F8-C327-3A90E8A74D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BB0F1F6-E51D-AE4F-6F07-96392C45B1B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圆角矩形 4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0" name="内容占位符 49">
            <a:extLst>
              <a:ext uri="{FF2B5EF4-FFF2-40B4-BE49-F238E27FC236}">
                <a16:creationId xmlns:a16="http://schemas.microsoft.com/office/drawing/2014/main" id="{3D6C09CC-ABB9-440A-8A03-2226D38725C6}"/>
              </a:ext>
            </a:extLst>
          </p:cNvPr>
          <p:cNvSpPr>
            <a:spLocks noGrp="1"/>
          </p:cNvSpPr>
          <p:nvPr>
            <p:ph sz="quarter" idx="11"/>
          </p:nvPr>
        </p:nvSpPr>
        <p:spPr/>
        <p:txBody>
          <a:bodyPr/>
          <a:lstStyle/>
          <a:p>
            <a:endParaRPr lang="zh-CN" altLang="en-US"/>
          </a:p>
        </p:txBody>
      </p:sp>
      <p:sp>
        <p:nvSpPr>
          <p:cNvPr id="49" name="标题 48">
            <a:extLst>
              <a:ext uri="{FF2B5EF4-FFF2-40B4-BE49-F238E27FC236}">
                <a16:creationId xmlns:a16="http://schemas.microsoft.com/office/drawing/2014/main" id="{823C4A66-DA2C-0B7C-B687-366BA2E333D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圆角矩形 57"/>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3" name="内容占位符 12">
            <a:extLst>
              <a:ext uri="{FF2B5EF4-FFF2-40B4-BE49-F238E27FC236}">
                <a16:creationId xmlns:a16="http://schemas.microsoft.com/office/drawing/2014/main" id="{5147E6D8-3021-9D0D-4826-99547161664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22F713BD-4966-14E8-3349-1C8D16D62E2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69"/>
            <a:ext cx="8053711"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，保证发送的</a:t>
            </a:r>
            <a:r>
              <a:rPr lang="zh-CN" altLang="en-US" sz="2000" b="1" dirty="0">
                <a:solidFill>
                  <a:srgbClr val="C00000"/>
                </a:solidFill>
                <a:latin typeface="微软雅黑" pitchFamily="34" charset="-122"/>
                <a:ea typeface="微软雅黑" pitchFamily="34" charset="-122"/>
              </a:rPr>
              <a:t>最后一个 </a:t>
            </a:r>
            <a:r>
              <a:rPr lang="en-US" altLang="zh-CN" sz="2000" b="1" dirty="0">
                <a:solidFill>
                  <a:srgbClr val="C00000"/>
                </a:solidFill>
                <a:latin typeface="微软雅黑" pitchFamily="34" charset="-122"/>
                <a:ea typeface="微软雅黑" pitchFamily="34" charset="-122"/>
              </a:rPr>
              <a:t>ACK </a:t>
            </a:r>
            <a:r>
              <a:rPr lang="zh-CN" altLang="en-US" sz="2000" b="1" dirty="0">
                <a:latin typeface="微软雅黑" pitchFamily="34" charset="-122"/>
                <a:ea typeface="微软雅黑" pitchFamily="34" charset="-122"/>
              </a:rPr>
              <a:t>报文段能够到达 </a:t>
            </a:r>
            <a:r>
              <a:rPr lang="en-US" altLang="zh-CN" sz="2000" b="1" dirty="0">
                <a:latin typeface="微软雅黑" pitchFamily="34" charset="-122"/>
                <a:ea typeface="微软雅黑" pitchFamily="34" charset="-122"/>
              </a:rPr>
              <a:t>B</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，防止“</a:t>
            </a:r>
            <a:r>
              <a:rPr lang="zh-CN" altLang="en-US" sz="2000" b="1" dirty="0">
                <a:solidFill>
                  <a:srgbClr val="C00000"/>
                </a:solidFill>
                <a:latin typeface="微软雅黑" pitchFamily="34" charset="-122"/>
                <a:ea typeface="微软雅黑" pitchFamily="34" charset="-122"/>
              </a:rPr>
              <a:t>已失效的连接请求报文段</a:t>
            </a:r>
            <a:r>
              <a:rPr lang="zh-CN" altLang="en-US" sz="2000" b="1" dirty="0">
                <a:latin typeface="微软雅黑" pitchFamily="34" charset="-122"/>
                <a:ea typeface="微软雅黑" pitchFamily="34" charset="-122"/>
              </a:rPr>
              <a:t>”出现在本连接中。</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55319" y="589768"/>
            <a:ext cx="28520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必须等待 </a:t>
            </a:r>
            <a:r>
              <a:rPr lang="en-US" altLang="zh-CN" sz="2000" b="1" dirty="0">
                <a:solidFill>
                  <a:schemeClr val="bg1"/>
                </a:solidFill>
                <a:latin typeface="微软雅黑" pitchFamily="34" charset="-122"/>
                <a:ea typeface="微软雅黑" pitchFamily="34" charset="-122"/>
              </a:rPr>
              <a:t>2MSL </a:t>
            </a:r>
            <a:r>
              <a:rPr lang="zh-CN" altLang="en-US" sz="2000" b="1" dirty="0">
                <a:solidFill>
                  <a:schemeClr val="bg1"/>
                </a:solidFill>
                <a:latin typeface="微软雅黑" pitchFamily="34" charset="-122"/>
                <a:ea typeface="微软雅黑" pitchFamily="34" charset="-122"/>
              </a:rPr>
              <a:t>的时间</a:t>
            </a:r>
          </a:p>
        </p:txBody>
      </p:sp>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7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用来</a:t>
            </a:r>
            <a:r>
              <a:rPr lang="zh-CN" altLang="en-US" sz="2000" b="1" dirty="0">
                <a:solidFill>
                  <a:srgbClr val="C00000"/>
                </a:solidFill>
                <a:latin typeface="微软雅黑" pitchFamily="34" charset="-122"/>
                <a:ea typeface="微软雅黑" pitchFamily="34" charset="-122"/>
              </a:rPr>
              <a:t>防止</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连接出现</a:t>
            </a:r>
            <a:r>
              <a:rPr lang="zh-CN" altLang="en-US" sz="2000" b="1" dirty="0">
                <a:solidFill>
                  <a:srgbClr val="C00000"/>
                </a:solidFill>
                <a:latin typeface="微软雅黑" pitchFamily="34" charset="-122"/>
                <a:ea typeface="微软雅黑" pitchFamily="34" charset="-122"/>
              </a:rPr>
              <a:t>长时期空闲。</a:t>
            </a:r>
            <a:endParaRPr lang="en-US" altLang="zh-CN" sz="2000" b="1" dirty="0">
              <a:solidFill>
                <a:srgbClr val="C00000"/>
              </a:solidFill>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通常设置为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 。</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若服务器过了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小时还没有收到客户的信息，它就发送</a:t>
            </a:r>
            <a:r>
              <a:rPr lang="zh-CN" altLang="en-US" sz="2000" b="1" dirty="0">
                <a:solidFill>
                  <a:srgbClr val="C00000"/>
                </a:solidFill>
                <a:latin typeface="微软雅黑" pitchFamily="34" charset="-122"/>
                <a:ea typeface="微软雅黑" pitchFamily="34" charset="-122"/>
              </a:rPr>
              <a:t>探测</a:t>
            </a:r>
            <a:r>
              <a:rPr lang="zh-CN" altLang="en-US" sz="2000" b="1" dirty="0">
                <a:latin typeface="微软雅黑" pitchFamily="34" charset="-122"/>
                <a:ea typeface="微软雅黑" pitchFamily="34" charset="-122"/>
              </a:rPr>
              <a:t>报文段。</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若发送了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个探测报文段（每一个相隔 </a:t>
            </a:r>
            <a:r>
              <a:rPr lang="en-US" altLang="zh-CN" sz="2000" b="1" dirty="0">
                <a:latin typeface="微软雅黑" pitchFamily="34" charset="-122"/>
                <a:ea typeface="微软雅黑" pitchFamily="34" charset="-122"/>
              </a:rPr>
              <a:t>75 </a:t>
            </a:r>
            <a:r>
              <a:rPr lang="zh-CN" altLang="en-US" sz="2000" b="1" dirty="0">
                <a:latin typeface="微软雅黑" pitchFamily="34" charset="-122"/>
                <a:ea typeface="微软雅黑" pitchFamily="34" charset="-122"/>
              </a:rPr>
              <a:t>秒）还没有响应，就假定客户出了故障，因而就</a:t>
            </a:r>
            <a:r>
              <a:rPr lang="zh-CN" altLang="en-US" sz="2000" b="1" dirty="0">
                <a:solidFill>
                  <a:srgbClr val="C00000"/>
                </a:solidFill>
                <a:latin typeface="微软雅黑" pitchFamily="34" charset="-122"/>
                <a:ea typeface="微软雅黑" pitchFamily="34" charset="-122"/>
              </a:rPr>
              <a:t>终止</a:t>
            </a:r>
            <a:r>
              <a:rPr lang="zh-CN" altLang="en-US" sz="2000" b="1" dirty="0">
                <a:latin typeface="微软雅黑" pitchFamily="34" charset="-122"/>
                <a:ea typeface="微软雅黑" pitchFamily="34" charset="-122"/>
              </a:rPr>
              <a:t>该连接。 </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47816" y="58976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保活计时器</a:t>
            </a:r>
          </a:p>
        </p:txBody>
      </p:sp>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3" y="993781"/>
            <a:ext cx="7797580" cy="37131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sp>
        <p:nvSpPr>
          <p:cNvPr id="70" name="AutoShape 5"/>
          <p:cNvSpPr>
            <a:spLocks noChangeArrowheads="1"/>
          </p:cNvSpPr>
          <p:nvPr/>
        </p:nvSpPr>
        <p:spPr bwMode="auto">
          <a:xfrm>
            <a:off x="545143" y="574386"/>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1" name="Rectangle 6"/>
          <p:cNvSpPr>
            <a:spLocks noChangeArrowheads="1"/>
          </p:cNvSpPr>
          <p:nvPr/>
        </p:nvSpPr>
        <p:spPr bwMode="auto">
          <a:xfrm>
            <a:off x="2752851" y="532115"/>
            <a:ext cx="363830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5.9.3  TCP </a:t>
            </a:r>
            <a:r>
              <a:rPr lang="zh-CN" altLang="en-US" sz="2400" b="1" dirty="0">
                <a:solidFill>
                  <a:schemeClr val="bg1"/>
                </a:solidFill>
                <a:latin typeface="微软雅黑" pitchFamily="34" charset="-122"/>
                <a:ea typeface="微软雅黑" pitchFamily="34" charset="-122"/>
              </a:rPr>
              <a:t>的有限状态机</a:t>
            </a:r>
          </a:p>
        </p:txBody>
      </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5" name="内容占位符 74">
            <a:extLst>
              <a:ext uri="{FF2B5EF4-FFF2-40B4-BE49-F238E27FC236}">
                <a16:creationId xmlns:a16="http://schemas.microsoft.com/office/drawing/2014/main" id="{7831954A-0DB2-4A62-6FB0-F646EC471266}"/>
              </a:ext>
            </a:extLst>
          </p:cNvPr>
          <p:cNvSpPr>
            <a:spLocks noGrp="1"/>
          </p:cNvSpPr>
          <p:nvPr>
            <p:ph sz="quarter" idx="11"/>
          </p:nvPr>
        </p:nvSpPr>
        <p:spPr/>
        <p:txBody>
          <a:bodyPr/>
          <a:lstStyle/>
          <a:p>
            <a:endParaRPr lang="zh-CN" altLang="en-US"/>
          </a:p>
        </p:txBody>
      </p:sp>
      <p:sp>
        <p:nvSpPr>
          <p:cNvPr id="74" name="标题 73">
            <a:extLst>
              <a:ext uri="{FF2B5EF4-FFF2-40B4-BE49-F238E27FC236}">
                <a16:creationId xmlns:a16="http://schemas.microsoft.com/office/drawing/2014/main" id="{CAB5771B-6BAF-010A-6844-DAF3C06B367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6307</TotalTime>
  <Words>17235</Words>
  <Application>Microsoft Office PowerPoint</Application>
  <PresentationFormat>全屏显示(16:9)</PresentationFormat>
  <Paragraphs>4006</Paragraphs>
  <Slides>200</Slides>
  <Notes>21</Notes>
  <HiddenSlides>3</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2</vt:i4>
      </vt:variant>
      <vt:variant>
        <vt:lpstr>幻灯片标题</vt:lpstr>
      </vt:variant>
      <vt:variant>
        <vt:i4>200</vt:i4>
      </vt:variant>
    </vt:vector>
  </HeadingPairs>
  <TitlesOfParts>
    <vt:vector size="212" baseType="lpstr">
      <vt:lpstr>Montserrat</vt:lpstr>
      <vt:lpstr>微软雅黑</vt:lpstr>
      <vt:lpstr>Calibri</vt:lpstr>
      <vt:lpstr>Wingdings</vt:lpstr>
      <vt:lpstr>宋体</vt:lpstr>
      <vt:lpstr>Arial</vt:lpstr>
      <vt:lpstr>Symbol</vt:lpstr>
      <vt:lpstr>Cambria Math</vt:lpstr>
      <vt:lpstr>Courier New</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PowerPoint 演示文稿</vt:lpstr>
      <vt:lpstr>1. 无差a错情况</vt:lpstr>
      <vt:lpstr>2. 出现差错</vt:lpstr>
      <vt:lpstr>2. 出现差错</vt:lpstr>
      <vt:lpstr>2. 出现差错</vt:lpstr>
      <vt:lpstr>3. 确认丢失和确认迟到</vt:lpstr>
      <vt:lpstr>3. 确认丢失和确认迟到</vt:lpstr>
      <vt:lpstr>3. 确认丢失和确认迟到</vt:lpstr>
      <vt:lpstr>4. 信道利用率</vt:lpstr>
      <vt:lpstr>停止等待协议要点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639</cp:revision>
  <dcterms:created xsi:type="dcterms:W3CDTF">2018-07-18T08:51:30Z</dcterms:created>
  <dcterms:modified xsi:type="dcterms:W3CDTF">2025-11-08T11:52:47Z</dcterms:modified>
</cp:coreProperties>
</file>