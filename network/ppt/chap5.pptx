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2"/>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738" r:id="rId57"/>
    <p:sldId id="498" r:id="rId58"/>
    <p:sldId id="739" r:id="rId59"/>
    <p:sldId id="501" r:id="rId60"/>
    <p:sldId id="505" r:id="rId61"/>
    <p:sldId id="504" r:id="rId62"/>
    <p:sldId id="509" r:id="rId63"/>
    <p:sldId id="676" r:id="rId64"/>
    <p:sldId id="740" r:id="rId65"/>
    <p:sldId id="749" r:id="rId66"/>
    <p:sldId id="513" r:id="rId67"/>
    <p:sldId id="698" r:id="rId68"/>
    <p:sldId id="680" r:id="rId69"/>
    <p:sldId id="520" r:id="rId70"/>
    <p:sldId id="742" r:id="rId71"/>
    <p:sldId id="741" r:id="rId72"/>
    <p:sldId id="521" r:id="rId73"/>
    <p:sldId id="522" r:id="rId74"/>
    <p:sldId id="523" r:id="rId75"/>
    <p:sldId id="524" r:id="rId76"/>
    <p:sldId id="525" r:id="rId77"/>
    <p:sldId id="526" r:id="rId78"/>
    <p:sldId id="527" r:id="rId79"/>
    <p:sldId id="528" r:id="rId80"/>
    <p:sldId id="529" r:id="rId81"/>
    <p:sldId id="530" r:id="rId82"/>
    <p:sldId id="531" r:id="rId83"/>
    <p:sldId id="532" r:id="rId84"/>
    <p:sldId id="533" r:id="rId85"/>
    <p:sldId id="534" r:id="rId86"/>
    <p:sldId id="535" r:id="rId87"/>
    <p:sldId id="536" r:id="rId88"/>
    <p:sldId id="537" r:id="rId89"/>
    <p:sldId id="702" r:id="rId90"/>
    <p:sldId id="701" r:id="rId91"/>
    <p:sldId id="703" r:id="rId92"/>
    <p:sldId id="705" r:id="rId93"/>
    <p:sldId id="707" r:id="rId94"/>
    <p:sldId id="708" r:id="rId95"/>
    <p:sldId id="709" r:id="rId96"/>
    <p:sldId id="541" r:id="rId97"/>
    <p:sldId id="542" r:id="rId98"/>
    <p:sldId id="543" r:id="rId99"/>
    <p:sldId id="710" r:id="rId100"/>
    <p:sldId id="546" r:id="rId101"/>
    <p:sldId id="711" r:id="rId102"/>
    <p:sldId id="713" r:id="rId103"/>
    <p:sldId id="715" r:id="rId104"/>
    <p:sldId id="716" r:id="rId105"/>
    <p:sldId id="717" r:id="rId106"/>
    <p:sldId id="718" r:id="rId107"/>
    <p:sldId id="721" r:id="rId108"/>
    <p:sldId id="722" r:id="rId109"/>
    <p:sldId id="719" r:id="rId110"/>
    <p:sldId id="552" r:id="rId111"/>
    <p:sldId id="554" r:id="rId112"/>
    <p:sldId id="555" r:id="rId113"/>
    <p:sldId id="557" r:id="rId114"/>
    <p:sldId id="559" r:id="rId115"/>
    <p:sldId id="560" r:id="rId116"/>
    <p:sldId id="561" r:id="rId117"/>
    <p:sldId id="562" r:id="rId118"/>
    <p:sldId id="563" r:id="rId119"/>
    <p:sldId id="564" r:id="rId120"/>
    <p:sldId id="723" r:id="rId121"/>
    <p:sldId id="567" r:id="rId122"/>
    <p:sldId id="566" r:id="rId123"/>
    <p:sldId id="568" r:id="rId124"/>
    <p:sldId id="569" r:id="rId125"/>
    <p:sldId id="571" r:id="rId126"/>
    <p:sldId id="743" r:id="rId127"/>
    <p:sldId id="724" r:id="rId128"/>
    <p:sldId id="573" r:id="rId129"/>
    <p:sldId id="574" r:id="rId130"/>
    <p:sldId id="575" r:id="rId131"/>
    <p:sldId id="576" r:id="rId132"/>
    <p:sldId id="578" r:id="rId133"/>
    <p:sldId id="579" r:id="rId134"/>
    <p:sldId id="580" r:id="rId135"/>
    <p:sldId id="581" r:id="rId136"/>
    <p:sldId id="582" r:id="rId137"/>
    <p:sldId id="685" r:id="rId138"/>
    <p:sldId id="583" r:id="rId139"/>
    <p:sldId id="727" r:id="rId140"/>
    <p:sldId id="585" r:id="rId141"/>
    <p:sldId id="586" r:id="rId142"/>
    <p:sldId id="587" r:id="rId143"/>
    <p:sldId id="731" r:id="rId144"/>
    <p:sldId id="729" r:id="rId145"/>
    <p:sldId id="730" r:id="rId146"/>
    <p:sldId id="592" r:id="rId147"/>
    <p:sldId id="593" r:id="rId148"/>
    <p:sldId id="594" r:id="rId149"/>
    <p:sldId id="595" r:id="rId150"/>
    <p:sldId id="596" r:id="rId151"/>
    <p:sldId id="597" r:id="rId152"/>
    <p:sldId id="598" r:id="rId153"/>
    <p:sldId id="599" r:id="rId154"/>
    <p:sldId id="600" r:id="rId155"/>
    <p:sldId id="686" r:id="rId156"/>
    <p:sldId id="687" r:id="rId157"/>
    <p:sldId id="601" r:id="rId158"/>
    <p:sldId id="744" r:id="rId159"/>
    <p:sldId id="603" r:id="rId160"/>
    <p:sldId id="604" r:id="rId161"/>
    <p:sldId id="605" r:id="rId162"/>
    <p:sldId id="606" r:id="rId163"/>
    <p:sldId id="607" r:id="rId164"/>
    <p:sldId id="608" r:id="rId165"/>
    <p:sldId id="609" r:id="rId166"/>
    <p:sldId id="611" r:id="rId167"/>
    <p:sldId id="612" r:id="rId168"/>
    <p:sldId id="613" r:id="rId169"/>
    <p:sldId id="614" r:id="rId170"/>
    <p:sldId id="616" r:id="rId171"/>
    <p:sldId id="618" r:id="rId172"/>
    <p:sldId id="619" r:id="rId173"/>
    <p:sldId id="732" r:id="rId174"/>
    <p:sldId id="733" r:id="rId175"/>
    <p:sldId id="622" r:id="rId176"/>
    <p:sldId id="623" r:id="rId177"/>
    <p:sldId id="624" r:id="rId178"/>
    <p:sldId id="689" r:id="rId179"/>
    <p:sldId id="625" r:id="rId180"/>
    <p:sldId id="626" r:id="rId181"/>
    <p:sldId id="627" r:id="rId182"/>
    <p:sldId id="628" r:id="rId183"/>
    <p:sldId id="629" r:id="rId184"/>
    <p:sldId id="691" r:id="rId185"/>
    <p:sldId id="630" r:id="rId186"/>
    <p:sldId id="631" r:id="rId187"/>
    <p:sldId id="632" r:id="rId188"/>
    <p:sldId id="633" r:id="rId189"/>
    <p:sldId id="634" r:id="rId190"/>
    <p:sldId id="635" r:id="rId191"/>
    <p:sldId id="637" r:id="rId192"/>
    <p:sldId id="745" r:id="rId193"/>
    <p:sldId id="638" r:id="rId194"/>
    <p:sldId id="639" r:id="rId195"/>
    <p:sldId id="640" r:id="rId196"/>
    <p:sldId id="641" r:id="rId197"/>
    <p:sldId id="642" r:id="rId198"/>
    <p:sldId id="643" r:id="rId199"/>
    <p:sldId id="644" r:id="rId200"/>
    <p:sldId id="746" r:id="rId201"/>
    <p:sldId id="645" r:id="rId202"/>
    <p:sldId id="646" r:id="rId203"/>
    <p:sldId id="647" r:id="rId204"/>
    <p:sldId id="649" r:id="rId205"/>
    <p:sldId id="650" r:id="rId206"/>
    <p:sldId id="652" r:id="rId207"/>
    <p:sldId id="748" r:id="rId208"/>
    <p:sldId id="653" r:id="rId209"/>
    <p:sldId id="654" r:id="rId210"/>
    <p:sldId id="655" r:id="rId211"/>
  </p:sldIdLst>
  <p:sldSz cx="9144000" cy="5143500" type="screen16x9"/>
  <p:notesSz cx="6858000" cy="9144000"/>
  <p:embeddedFontLst>
    <p:embeddedFont>
      <p:font typeface="Cambria Math" panose="02040503050406030204" pitchFamily="18" charset="0"/>
      <p:regular r:id="rId213"/>
    </p:embeddedFont>
    <p:embeddedFont>
      <p:font typeface="Montserrat" panose="00000500000000000000" pitchFamily="2" charset="0"/>
      <p:regular r:id="rId214"/>
    </p:embeddedFont>
    <p:embeddedFont>
      <p:font typeface="微软雅黑" panose="020B0503020204020204" pitchFamily="34" charset="-122"/>
      <p:regular r:id="rId215"/>
      <p:bold r:id="rId216"/>
    </p:embeddedFont>
    <p:embeddedFont>
      <p:font typeface="微软雅黑 Light" panose="020B0502040204020203" pitchFamily="34" charset="-122"/>
      <p:regular r:id="rId21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5420"/>
    <a:srgbClr val="00B050"/>
    <a:srgbClr val="7F131F"/>
    <a:srgbClr val="0000FF"/>
    <a:srgbClr val="85D1F7"/>
    <a:srgbClr val="FFFF00"/>
    <a:srgbClr val="00FF99"/>
    <a:srgbClr val="3366FF"/>
    <a:srgbClr val="0000CC"/>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30" d="100"/>
          <a:sy n="130" d="100"/>
        </p:scale>
        <p:origin x="942" y="44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font" Target="fonts/font4.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font" Target="fonts/font5.fntdata"/><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presProps" Target="presProp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viewProps" Target="viewProps.xml"/><Relationship Id="rId3" Type="http://schemas.openxmlformats.org/officeDocument/2006/relationships/slide" Target="slides/slide2.xml"/><Relationship Id="rId214" Type="http://schemas.openxmlformats.org/officeDocument/2006/relationships/font" Target="fonts/font2.fntdata"/><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font" Target="fonts/font3.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tableStyles" Target="tableStyle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notesMaster" Target="notesMasters/notes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font" Target="fonts/font1.fntdata"/><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拥塞控制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3376B25E-A50F-4935-9A84-A2AE7897CCC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F637746-0510-4A3C-90B7-D93A16B92D57}" type="sib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流量控制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541A8C11-D03E-479A-A84F-C3458AEF2E9A}">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9553568A-AD7C-418C-9424-82556C1E75C3}" type="sib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开环控制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dgm:t>
        <a:bodyPr/>
        <a:lstStyle/>
        <a:p>
          <a:r>
            <a:rPr lang="zh-CN" altLang="en-US" sz="1800" b="0" dirty="0">
              <a:latin typeface="Montserrat" panose="00000500000000000000" pitchFamily="2" charset="0"/>
              <a:ea typeface="微软雅黑 Light" panose="020B0502040204020203" pitchFamily="34" charset="-122"/>
            </a:rPr>
            <a:t>在设计网络时，事先</a:t>
          </a:r>
          <a:r>
            <a:rPr lang="zh-CN" altLang="en-US" sz="1800" b="0" dirty="0">
              <a:solidFill>
                <a:srgbClr val="C00000"/>
              </a:solidFill>
              <a:latin typeface="Montserrat" panose="00000500000000000000" pitchFamily="2" charset="0"/>
              <a:ea typeface="微软雅黑 Light" panose="020B0502040204020203" pitchFamily="34" charset="-122"/>
            </a:rPr>
            <a:t>考虑周全，</a:t>
          </a:r>
          <a:r>
            <a:rPr lang="zh-CN" altLang="en-US" sz="1800" b="0" dirty="0">
              <a:latin typeface="Montserrat" panose="00000500000000000000" pitchFamily="2" charset="0"/>
              <a:ea typeface="微软雅黑 Light" panose="020B0502040204020203"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闭环控制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dgm:t>
        <a:bodyPr/>
        <a:lstStyle/>
        <a:p>
          <a:r>
            <a:rPr lang="zh-CN" altLang="en-US" sz="1800" b="0" dirty="0">
              <a:latin typeface="Montserrat" panose="00000500000000000000" pitchFamily="2" charset="0"/>
              <a:ea typeface="微软雅黑 Light" panose="020B0502040204020203" pitchFamily="34" charset="-122"/>
            </a:rPr>
            <a:t>基于反馈环路的概念。</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C2448606-BF7E-4CD3-8BBC-E63E41446859}">
      <dgm:prSet phldrT="[文本]"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力争</a:t>
          </a:r>
          <a:r>
            <a:rPr lang="zh-CN" altLang="en-US" sz="1800" b="0" dirty="0">
              <a:solidFill>
                <a:srgbClr val="0000FF"/>
              </a:solidFill>
              <a:latin typeface="Montserrat" panose="00000500000000000000" pitchFamily="2" charset="0"/>
              <a:ea typeface="微软雅黑 Light" panose="020B0502040204020203" pitchFamily="34" charset="-122"/>
            </a:rPr>
            <a:t>避免</a:t>
          </a:r>
          <a:r>
            <a:rPr lang="zh-CN" altLang="en-US" sz="1800" b="0" dirty="0">
              <a:latin typeface="Montserrat" panose="00000500000000000000" pitchFamily="2" charset="0"/>
              <a:ea typeface="微软雅黑 Light" panose="020B0502040204020203" pitchFamily="34" charset="-122"/>
            </a:rPr>
            <a:t>发生拥塞。</a:t>
          </a:r>
        </a:p>
      </dgm:t>
    </dgm:pt>
    <dgm:pt modelId="{2DDFBD46-B857-474E-8B27-CCB24E2F9B0D}" type="par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C3B707A5-D44C-439A-8798-74A2B4D73421}" type="sib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69230521-20F8-455C-9DE0-EB64591477B4}">
      <dgm:prSet custT="1"/>
      <dgm:spPr/>
      <dgm:t>
        <a:bodyPr/>
        <a:lstStyle/>
        <a:p>
          <a:r>
            <a:rPr lang="zh-CN" altLang="en-US" sz="1800" b="0" dirty="0">
              <a:latin typeface="Montserrat" panose="00000500000000000000" pitchFamily="2" charset="0"/>
              <a:ea typeface="微软雅黑 Light" panose="020B0502040204020203" pitchFamily="34" charset="-122"/>
            </a:rPr>
            <a:t>根据网络</a:t>
          </a:r>
          <a:r>
            <a:rPr lang="zh-CN" altLang="en-US" sz="1800" b="0" dirty="0">
              <a:solidFill>
                <a:srgbClr val="C00000"/>
              </a:solidFill>
              <a:latin typeface="Montserrat" panose="00000500000000000000" pitchFamily="2" charset="0"/>
              <a:ea typeface="微软雅黑 Light" panose="020B0502040204020203" pitchFamily="34" charset="-122"/>
            </a:rPr>
            <a:t>当前运行状态</a:t>
          </a:r>
          <a:r>
            <a:rPr lang="zh-CN" altLang="en-US" sz="1800" b="0" dirty="0">
              <a:latin typeface="Montserrat" panose="00000500000000000000" pitchFamily="2" charset="0"/>
              <a:ea typeface="微软雅黑 Light" panose="020B0502040204020203" pitchFamily="34" charset="-122"/>
            </a:rPr>
            <a:t>采取相应控制措施。</a:t>
          </a:r>
        </a:p>
      </dgm:t>
    </dgm:pt>
    <dgm:pt modelId="{12D5CF6D-3ECF-44C8-8A00-2243EEE11BB5}" type="par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3125DBAA-2F9E-499F-A3BE-6A4DF87D05F3}" type="sib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238D7AE3-4A96-4FFA-8329-EDA2C3555B30}">
      <dgm:prSet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在发生拥塞后，采取措施进行控制，</a:t>
          </a:r>
          <a:r>
            <a:rPr lang="zh-CN" altLang="en-US" sz="1800" b="0" dirty="0">
              <a:solidFill>
                <a:srgbClr val="0000FF"/>
              </a:solidFill>
              <a:latin typeface="Montserrat" panose="00000500000000000000" pitchFamily="2" charset="0"/>
              <a:ea typeface="微软雅黑 Light" panose="020B0502040204020203" pitchFamily="34" charset="-122"/>
            </a:rPr>
            <a:t>消除</a:t>
          </a:r>
          <a:r>
            <a:rPr lang="zh-CN" altLang="en-US" sz="1800" b="0" dirty="0">
              <a:latin typeface="Montserrat" panose="00000500000000000000" pitchFamily="2" charset="0"/>
              <a:ea typeface="微软雅黑 Light" panose="020B0502040204020203" pitchFamily="34" charset="-122"/>
            </a:rPr>
            <a:t>拥塞。</a:t>
          </a:r>
        </a:p>
      </dgm:t>
    </dgm:pt>
    <dgm:pt modelId="{8F3ECFA1-802E-4A72-BEC6-F40B249AD54A}" type="par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E88472DA-7723-4EBC-9681-94AC3B0DDFFF}" type="sib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654DBB23-7453-4B2A-8F48-11AC62514B72}">
      <dgm:prSet phldrT="[文本]" custT="1"/>
      <dgm:spPr/>
      <dgm:t>
        <a:bodyPr/>
        <a:lstStyle/>
        <a:p>
          <a:r>
            <a:rPr lang="zh-CN" altLang="en-US" sz="1800" b="0" dirty="0">
              <a:latin typeface="Montserrat" panose="00000500000000000000" pitchFamily="2" charset="0"/>
              <a:ea typeface="微软雅黑 Light" panose="020B0502040204020203"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DD57D3ED-98B7-4B38-92D2-CBFD5CB8FFB1}" type="sib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6273"/>
          <a:ext cx="3322842" cy="6912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拥塞控制</a:t>
          </a:r>
        </a:p>
      </dsp:txBody>
      <dsp:txXfrm>
        <a:off x="34" y="26273"/>
        <a:ext cx="3322842" cy="691200"/>
      </dsp:txXfrm>
    </dsp:sp>
    <dsp:sp modelId="{72C5BA33-78B4-45DE-B9CA-22A272DDBE2C}">
      <dsp:nvSpPr>
        <dsp:cNvPr id="0" name=""/>
        <dsp:cNvSpPr/>
      </dsp:nvSpPr>
      <dsp:spPr>
        <a:xfrm>
          <a:off x="34" y="717473"/>
          <a:ext cx="3322842" cy="270108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sp:txBody>
      <dsp:txXfrm>
        <a:off x="34" y="717473"/>
        <a:ext cx="3322842" cy="2701080"/>
      </dsp:txXfrm>
    </dsp:sp>
    <dsp:sp modelId="{3ACFDD6B-963A-45AA-AED6-29B2C66DA9EB}">
      <dsp:nvSpPr>
        <dsp:cNvPr id="0" name=""/>
        <dsp:cNvSpPr/>
      </dsp:nvSpPr>
      <dsp:spPr>
        <a:xfrm>
          <a:off x="3788074" y="26273"/>
          <a:ext cx="3322842" cy="6912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流量控制</a:t>
          </a:r>
        </a:p>
      </dsp:txBody>
      <dsp:txXfrm>
        <a:off x="3788074" y="26273"/>
        <a:ext cx="3322842" cy="691200"/>
      </dsp:txXfrm>
    </dsp:sp>
    <dsp:sp modelId="{AAB91EAD-75AE-4168-8A7F-B7A023AD8367}">
      <dsp:nvSpPr>
        <dsp:cNvPr id="0" name=""/>
        <dsp:cNvSpPr/>
      </dsp:nvSpPr>
      <dsp:spPr>
        <a:xfrm>
          <a:off x="3788074" y="717473"/>
          <a:ext cx="3322842" cy="2701080"/>
        </a:xfrm>
        <a:prstGeom prst="rect">
          <a:avLst/>
        </a:prstGeom>
        <a:no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点对点通信量的控制，是个端到端的问题。</a:t>
          </a:r>
        </a:p>
      </dsp:txBody>
      <dsp:txXfrm>
        <a:off x="3788074" y="717473"/>
        <a:ext cx="3322842" cy="27010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8897"/>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开环控制</a:t>
          </a:r>
        </a:p>
      </dsp:txBody>
      <dsp:txXfrm>
        <a:off x="34" y="28897"/>
        <a:ext cx="3322842" cy="604800"/>
      </dsp:txXfrm>
    </dsp:sp>
    <dsp:sp modelId="{72C5BA33-78B4-45DE-B9CA-22A272DDBE2C}">
      <dsp:nvSpPr>
        <dsp:cNvPr id="0" name=""/>
        <dsp:cNvSpPr/>
      </dsp:nvSpPr>
      <dsp:spPr>
        <a:xfrm>
          <a:off x="34" y="633697"/>
          <a:ext cx="3322842" cy="2075220"/>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在设计网络时，事先</a:t>
          </a:r>
          <a:r>
            <a:rPr lang="zh-CN" altLang="en-US" sz="1800" b="0" kern="1200" dirty="0">
              <a:solidFill>
                <a:srgbClr val="C00000"/>
              </a:solidFill>
              <a:latin typeface="Montserrat" panose="00000500000000000000" pitchFamily="2" charset="0"/>
              <a:ea typeface="微软雅黑 Light" panose="020B0502040204020203" pitchFamily="34" charset="-122"/>
            </a:rPr>
            <a:t>考虑周全，</a:t>
          </a:r>
          <a:r>
            <a:rPr lang="zh-CN" altLang="en-US" sz="1800" b="0" kern="1200" dirty="0">
              <a:latin typeface="Montserrat" panose="00000500000000000000" pitchFamily="2" charset="0"/>
              <a:ea typeface="微软雅黑 Light" panose="020B0502040204020203" pitchFamily="34" charset="-122"/>
            </a:rPr>
            <a:t>力求工作时不发生拥塞。</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力争</a:t>
          </a:r>
          <a:r>
            <a:rPr lang="zh-CN" altLang="en-US" sz="1800" b="0" kern="1200" dirty="0">
              <a:solidFill>
                <a:srgbClr val="0000FF"/>
              </a:solidFill>
              <a:latin typeface="Montserrat" panose="00000500000000000000" pitchFamily="2" charset="0"/>
              <a:ea typeface="微软雅黑 Light" panose="020B0502040204020203" pitchFamily="34" charset="-122"/>
            </a:rPr>
            <a:t>避免</a:t>
          </a:r>
          <a:r>
            <a:rPr lang="zh-CN" altLang="en-US" sz="1800" b="0" kern="1200" dirty="0">
              <a:latin typeface="Montserrat" panose="00000500000000000000" pitchFamily="2" charset="0"/>
              <a:ea typeface="微软雅黑 Light" panose="020B0502040204020203" pitchFamily="34" charset="-122"/>
            </a:rPr>
            <a:t>发生拥塞。</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但一旦整个系统运行起来，就不再中途进行改正了。</a:t>
          </a:r>
        </a:p>
      </dsp:txBody>
      <dsp:txXfrm>
        <a:off x="34" y="633697"/>
        <a:ext cx="3322842" cy="2075220"/>
      </dsp:txXfrm>
    </dsp:sp>
    <dsp:sp modelId="{3ACFDD6B-963A-45AA-AED6-29B2C66DA9EB}">
      <dsp:nvSpPr>
        <dsp:cNvPr id="0" name=""/>
        <dsp:cNvSpPr/>
      </dsp:nvSpPr>
      <dsp:spPr>
        <a:xfrm>
          <a:off x="3788074" y="28897"/>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闭环控制</a:t>
          </a:r>
        </a:p>
      </dsp:txBody>
      <dsp:txXfrm>
        <a:off x="3788074" y="28897"/>
        <a:ext cx="3322842" cy="604800"/>
      </dsp:txXfrm>
    </dsp:sp>
    <dsp:sp modelId="{AAB91EAD-75AE-4168-8A7F-B7A023AD8367}">
      <dsp:nvSpPr>
        <dsp:cNvPr id="0" name=""/>
        <dsp:cNvSpPr/>
      </dsp:nvSpPr>
      <dsp:spPr>
        <a:xfrm>
          <a:off x="3788074" y="633697"/>
          <a:ext cx="3322842" cy="2075220"/>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基于反馈环路的概念。</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根据网络</a:t>
          </a:r>
          <a:r>
            <a:rPr lang="zh-CN" altLang="en-US" sz="1800" b="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800" b="0" kern="1200" dirty="0">
              <a:latin typeface="Montserrat" panose="00000500000000000000" pitchFamily="2" charset="0"/>
              <a:ea typeface="微软雅黑 Light" panose="020B0502040204020203" pitchFamily="34" charset="-122"/>
            </a:rPr>
            <a:t>采取相应控制措施。</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在发生拥塞后，采取措施进行控制，</a:t>
          </a:r>
          <a:r>
            <a:rPr lang="zh-CN" altLang="en-US" sz="1800" b="0" kern="1200" dirty="0">
              <a:solidFill>
                <a:srgbClr val="0000FF"/>
              </a:solidFill>
              <a:latin typeface="Montserrat" panose="00000500000000000000" pitchFamily="2" charset="0"/>
              <a:ea typeface="微软雅黑 Light" panose="020B0502040204020203" pitchFamily="34" charset="-122"/>
            </a:rPr>
            <a:t>消除</a:t>
          </a:r>
          <a:r>
            <a:rPr lang="zh-CN" altLang="en-US" sz="1800" b="0" kern="1200" dirty="0">
              <a:latin typeface="Montserrat" panose="00000500000000000000" pitchFamily="2" charset="0"/>
              <a:ea typeface="微软雅黑 Light" panose="020B0502040204020203" pitchFamily="34" charset="-122"/>
            </a:rPr>
            <a:t>拥塞。</a:t>
          </a:r>
        </a:p>
      </dsp:txBody>
      <dsp:txXfrm>
        <a:off x="3788074" y="633697"/>
        <a:ext cx="3322842" cy="20752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2025/11/19</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59</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138</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185</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191</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 Id="rId5" Type="http://schemas.openxmlformats.org/officeDocument/2006/relationships/image" Target="../media/image14.svg"/><Relationship Id="rId4" Type="http://schemas.openxmlformats.org/officeDocument/2006/relationships/image" Target="../media/image13.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prstGeom prst="rect">
            <a:avLst/>
          </a:prstGeo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949740881"/>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744981484"/>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2335547081"/>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prstGeom prst="rect">
            <a:avLst/>
          </a:prstGeo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prstGeom prst="rect">
            <a:avLst/>
          </a:prstGeo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2909457646"/>
              </p:ext>
            </p:extLst>
          </p:nvPr>
        </p:nvGraphicFramePr>
        <p:xfrm>
          <a:off x="2077541" y="1460684"/>
          <a:ext cx="381046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7084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1277884119"/>
              </p:ext>
            </p:extLst>
          </p:nvPr>
        </p:nvGraphicFramePr>
        <p:xfrm>
          <a:off x="1124777" y="3154826"/>
          <a:ext cx="3810472" cy="37084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7084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3321A-6517-5D01-BD9B-13A6E3F9BF40}"/>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900000"/>
            <a:ext cx="8172000" cy="3703500"/>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900000"/>
            <a:ext cx="8172000" cy="3703500"/>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内容占位符 3">
            <a:extLst>
              <a:ext uri="{FF2B5EF4-FFF2-40B4-BE49-F238E27FC236}">
                <a16:creationId xmlns:a16="http://schemas.microsoft.com/office/drawing/2014/main" id="{5387FEAB-F396-285F-A763-094ACA8C83C3}"/>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F585AE0-3767-7B3F-A607-B8E08C7CF8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486000" y="550723"/>
            <a:ext cx="8172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900000"/>
            <a:ext cx="8172000" cy="3703500"/>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9064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10722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50169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8512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9341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497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9617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9893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80446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788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40998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551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31827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08759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56466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486000" y="550723"/>
            <a:ext cx="8172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900000"/>
            <a:ext cx="8172000" cy="3703500"/>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900000"/>
            <a:ext cx="8172000" cy="3703500"/>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900000"/>
            <a:ext cx="8172000" cy="3703500"/>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900000"/>
            <a:ext cx="8172000" cy="3703500"/>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900000"/>
            <a:ext cx="8172000" cy="3703500"/>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900000"/>
            <a:ext cx="8172000" cy="3703500"/>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900000"/>
            <a:ext cx="8172000" cy="3703500"/>
          </a:xfrm>
        </p:spPr>
        <p:txBody>
          <a:bodyPr/>
          <a:lstStyle/>
          <a:p>
            <a:r>
              <a:rPr lang="zh-CN" altLang="en-US" dirty="0"/>
              <a:t>在某段时间，若对网络中某资源的需求超过了该资源所能提供的可用部分，网络的性能就要明显变坏，整个网络的吞吐量将随输入负荷的增大而下降。这种现象称为拥塞 </a:t>
            </a:r>
            <a:r>
              <a:rPr lang="en-US" altLang="zh-CN" dirty="0"/>
              <a:t>(congestion)</a:t>
            </a:r>
            <a:r>
              <a:rPr lang="zh-CN" altLang="en-US" dirty="0"/>
              <a:t>。</a:t>
            </a:r>
            <a:endParaRPr lang="en-US" altLang="zh-CN" dirty="0"/>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p:spPr>
        <p:txBody>
          <a:bodyPr/>
          <a:lstStyle/>
          <a:p>
            <a:r>
              <a:rPr lang="en-US" altLang="zh-CN" dirty="0"/>
              <a:t>5.8.1   </a:t>
            </a:r>
            <a:r>
              <a:rPr lang="zh-CN" altLang="en-US" dirty="0"/>
              <a:t>拥塞控制的一般原理</a:t>
            </a:r>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900000"/>
            <a:ext cx="8172000" cy="3703500"/>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900000"/>
            <a:ext cx="8172000" cy="3703500"/>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744610048"/>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486000" y="550723"/>
            <a:ext cx="8172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486000" y="550723"/>
            <a:ext cx="8172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900000"/>
            <a:ext cx="8172000" cy="3703500"/>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图示 12"/>
          <p:cNvGraphicFramePr/>
          <p:nvPr>
            <p:extLst>
              <p:ext uri="{D42A27DB-BD31-4B8C-83A1-F6EECF244321}">
                <p14:modId xmlns:p14="http://schemas.microsoft.com/office/powerpoint/2010/main" val="368467618"/>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486000" y="550723"/>
            <a:ext cx="8172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err="1"/>
              <a:t>cwnd</a:t>
            </a:r>
            <a:r>
              <a:rPr lang="en-US" altLang="zh-CN" dirty="0"/>
              <a:t>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900000"/>
            <a:ext cx="8172000" cy="3703500"/>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486000" y="550723"/>
            <a:ext cx="8172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900000"/>
            <a:ext cx="8172000" cy="3703500"/>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900000"/>
            <a:ext cx="8172000" cy="3703500"/>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900000"/>
            <a:ext cx="8172000" cy="3703500"/>
          </a:xfrm>
        </p:spPr>
        <p:txBody>
          <a:bodyPr/>
          <a:lstStyle/>
          <a:p>
            <a:r>
              <a:rPr lang="zh-CN" altLang="en-US" dirty="0"/>
              <a:t>拥塞窗口 </a:t>
            </a:r>
            <a:r>
              <a:rPr lang="en-US" altLang="zh-CN" dirty="0" err="1"/>
              <a:t>cwnd</a:t>
            </a:r>
            <a:r>
              <a:rPr lang="en-US" altLang="zh-CN" dirty="0"/>
              <a:t>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12714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322980" y="301643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43" name="Text Box 40"/>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err="1">
                <a:solidFill>
                  <a:schemeClr val="bg1"/>
                </a:solidFill>
                <a:latin typeface="Montserrat" panose="00000500000000000000" pitchFamily="2" charset="0"/>
                <a:ea typeface="微软雅黑 Light" panose="020B0502040204020203" pitchFamily="34" charset="-122"/>
              </a:rPr>
              <a:t>cwnd</a:t>
            </a:r>
            <a:r>
              <a:rPr lang="en-US" altLang="zh-CN" sz="1200" dirty="0">
                <a:solidFill>
                  <a:schemeClr val="bg1"/>
                </a:solidFill>
                <a:latin typeface="Montserrat" panose="00000500000000000000" pitchFamily="2" charset="0"/>
                <a:ea typeface="微软雅黑 Light" panose="020B0502040204020203" pitchFamily="34" charset="-122"/>
              </a:rPr>
              <a:t>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900000"/>
            <a:ext cx="8172000" cy="3703500"/>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err="1"/>
              <a:t>cwnd</a:t>
            </a:r>
            <a:r>
              <a:rPr lang="en-US" altLang="zh-CN" dirty="0"/>
              <a:t> </a:t>
            </a:r>
            <a:r>
              <a:rPr lang="zh-CN" altLang="en-US" dirty="0"/>
              <a:t>所允许发送的报文段都连续发送出去，并收到了对已发送的最后一个字节的确认。</a:t>
            </a:r>
          </a:p>
          <a:p>
            <a:r>
              <a:rPr lang="zh-CN" altLang="en-US" dirty="0"/>
              <a:t>例如：拥塞窗口 </a:t>
            </a:r>
            <a:r>
              <a:rPr lang="en-US" altLang="zh-CN" dirty="0" err="1"/>
              <a:t>cwnd</a:t>
            </a:r>
            <a:r>
              <a:rPr lang="en-US" altLang="zh-CN" dirty="0"/>
              <a:t>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900000"/>
            <a:ext cx="8172000" cy="3703500"/>
          </a:xfrm>
        </p:spPr>
        <p:txBody>
          <a:bodyPr/>
          <a:lstStyle/>
          <a:p>
            <a:r>
              <a:rPr lang="zh-CN" altLang="en-US" dirty="0"/>
              <a:t>防止拥塞窗口 </a:t>
            </a:r>
            <a:r>
              <a:rPr lang="en-US" altLang="zh-CN" dirty="0" err="1"/>
              <a:t>cwnd</a:t>
            </a:r>
            <a:r>
              <a:rPr lang="en-US" altLang="zh-CN" dirty="0"/>
              <a:t> </a:t>
            </a:r>
            <a:r>
              <a:rPr lang="zh-CN" altLang="en-US" dirty="0"/>
              <a:t>增长过大引起网络拥塞。</a:t>
            </a:r>
            <a:endParaRPr lang="en-US" altLang="zh-CN" dirty="0"/>
          </a:p>
          <a:p>
            <a:r>
              <a:rPr lang="zh-CN" altLang="en-US" dirty="0"/>
              <a:t>用法：</a:t>
            </a:r>
          </a:p>
          <a:p>
            <a:r>
              <a:rPr lang="zh-CN" altLang="en-US" dirty="0"/>
              <a:t>当 </a:t>
            </a:r>
            <a:r>
              <a:rPr lang="en-US" altLang="zh-CN" dirty="0" err="1"/>
              <a:t>cwnd</a:t>
            </a:r>
            <a:r>
              <a:rPr lang="en-US" altLang="zh-CN" dirty="0"/>
              <a:t> &lt; </a:t>
            </a:r>
            <a:r>
              <a:rPr lang="en-US" altLang="zh-CN" dirty="0" err="1"/>
              <a:t>ssthresh</a:t>
            </a:r>
            <a:r>
              <a:rPr lang="en-US" altLang="zh-CN" dirty="0"/>
              <a:t> </a:t>
            </a:r>
            <a:r>
              <a:rPr lang="zh-CN" altLang="en-US" dirty="0"/>
              <a:t>时，使用慢开始算法。</a:t>
            </a:r>
          </a:p>
          <a:p>
            <a:r>
              <a:rPr lang="zh-CN" altLang="en-US" dirty="0"/>
              <a:t>当 </a:t>
            </a:r>
            <a:r>
              <a:rPr lang="en-US" altLang="zh-CN" dirty="0" err="1"/>
              <a:t>cwnd</a:t>
            </a:r>
            <a:r>
              <a:rPr lang="en-US" altLang="zh-CN" dirty="0"/>
              <a:t> &gt; </a:t>
            </a:r>
            <a:r>
              <a:rPr lang="en-US" altLang="zh-CN" dirty="0" err="1"/>
              <a:t>ssthresh</a:t>
            </a:r>
            <a:r>
              <a:rPr lang="en-US" altLang="zh-CN" dirty="0"/>
              <a:t> </a:t>
            </a:r>
            <a:r>
              <a:rPr lang="zh-CN" altLang="en-US" dirty="0"/>
              <a:t>时，停止使用慢开始算法，改用拥塞避免算法。</a:t>
            </a:r>
          </a:p>
          <a:p>
            <a:r>
              <a:rPr lang="zh-CN" altLang="en-US" dirty="0"/>
              <a:t>当 </a:t>
            </a:r>
            <a:r>
              <a:rPr lang="en-US" altLang="zh-CN" dirty="0" err="1"/>
              <a:t>cwnd</a:t>
            </a:r>
            <a:r>
              <a:rPr lang="en-US" altLang="zh-CN" dirty="0"/>
              <a:t> = </a:t>
            </a:r>
            <a:r>
              <a:rPr lang="en-US" altLang="zh-CN" dirty="0" err="1"/>
              <a:t>ssthresh</a:t>
            </a:r>
            <a:r>
              <a:rPr lang="en-US" altLang="zh-CN" dirty="0"/>
              <a:t>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p:spPr>
        <p:txBody>
          <a:bodyPr/>
          <a:lstStyle/>
          <a:p>
            <a:r>
              <a:rPr lang="zh-CN" altLang="en-US" dirty="0"/>
              <a:t>慢开始门限 </a:t>
            </a:r>
            <a:r>
              <a:rPr lang="en-US" altLang="zh-CN" dirty="0" err="1"/>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900000"/>
            <a:ext cx="8172000" cy="3703500"/>
          </a:xfrm>
        </p:spPr>
        <p:txBody>
          <a:bodyPr/>
          <a:lstStyle/>
          <a:p>
            <a:r>
              <a:rPr lang="zh-CN" altLang="en-US" dirty="0"/>
              <a:t>目的：让拥塞窗口 </a:t>
            </a:r>
            <a:r>
              <a:rPr lang="en-US" altLang="zh-CN" dirty="0" err="1"/>
              <a:t>cwnd</a:t>
            </a:r>
            <a:r>
              <a:rPr lang="en-US" altLang="zh-CN" dirty="0"/>
              <a:t> </a:t>
            </a:r>
            <a:r>
              <a:rPr lang="zh-CN" altLang="en-US" dirty="0"/>
              <a:t>缓慢地增大，避免出现拥塞。</a:t>
            </a:r>
            <a:endParaRPr lang="en-US" altLang="zh-CN" dirty="0"/>
          </a:p>
          <a:p>
            <a:r>
              <a:rPr lang="zh-CN" altLang="en-US" dirty="0"/>
              <a:t>拥塞窗口 </a:t>
            </a:r>
            <a:r>
              <a:rPr lang="en-US" altLang="zh-CN" dirty="0" err="1"/>
              <a:t>cwnd</a:t>
            </a:r>
            <a:r>
              <a:rPr lang="en-US" altLang="zh-CN" dirty="0"/>
              <a:t> </a:t>
            </a:r>
            <a:r>
              <a:rPr lang="zh-CN" altLang="en-US" dirty="0"/>
              <a:t>增大：每经过一个往返时间 </a:t>
            </a:r>
            <a:r>
              <a:rPr lang="en-US" altLang="zh-CN" dirty="0"/>
              <a:t>RTT</a:t>
            </a:r>
            <a:r>
              <a:rPr lang="zh-CN" altLang="en-US" dirty="0"/>
              <a:t>（不管在此期间收到了多少确认），发送方的拥塞窗口 </a:t>
            </a:r>
            <a:r>
              <a:rPr lang="en-US" altLang="zh-CN" dirty="0" err="1"/>
              <a:t>cwnd</a:t>
            </a:r>
            <a:r>
              <a:rPr lang="en-US" altLang="zh-CN" dirty="0"/>
              <a:t> = </a:t>
            </a:r>
            <a:r>
              <a:rPr lang="en-US" altLang="zh-CN" dirty="0" err="1"/>
              <a:t>cwnd</a:t>
            </a:r>
            <a:r>
              <a:rPr lang="en-US" altLang="zh-CN" dirty="0"/>
              <a:t>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err="1"/>
              <a:t>cwnd</a:t>
            </a:r>
            <a:r>
              <a:rPr lang="en-US" altLang="zh-CN" dirty="0"/>
              <a:t>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726A29-6B44-8912-798E-303AFA03E364}"/>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50ECC536-9AF2-70BF-0247-7069CFF1F643}"/>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3344078A-A3FF-351A-6799-D3F2DBF36CDB}"/>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66DD75BA-918C-ACC0-685E-C4CE4C1F92D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AD97A86B-840E-2C8A-3ADD-34B02A059834}"/>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3BDC03A7-7DA9-5C11-0151-768C4F76E12D}"/>
              </a:ext>
            </a:extLst>
          </p:cNvPr>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86D27867-74A9-4834-865A-1ED7946A02C1}"/>
              </a:ext>
            </a:extLst>
          </p:cNvPr>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B6BBDAC5-D1EE-7347-E9C4-ABA4D7CAD105}"/>
              </a:ext>
            </a:extLst>
          </p:cNvPr>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045C86C1-8C6C-8F11-F8F0-354CCE44AB47}"/>
              </a:ext>
            </a:extLst>
          </p:cNvPr>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BF005F77-3F5B-2760-F855-2D8A3993CC0A}"/>
              </a:ext>
            </a:extLst>
          </p:cNvPr>
          <p:cNvSpPr>
            <a:spLocks noChangeShapeType="1"/>
          </p:cNvSpPr>
          <p:nvPr/>
        </p:nvSpPr>
        <p:spPr bwMode="auto">
          <a:xfrm>
            <a:off x="3613957" y="372554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FDC25AC4-2865-625A-FD86-42C8E59FA2A0}"/>
              </a:ext>
            </a:extLst>
          </p:cNvPr>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9E829163-7B9F-DD25-CD9A-331FC3AA05C4}"/>
              </a:ext>
            </a:extLst>
          </p:cNvPr>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50F19E67-601C-98C0-92F0-81663A0908E2}"/>
              </a:ext>
            </a:extLst>
          </p:cNvPr>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FFA6B4B6-9CC0-68D3-1941-030FFC02B8B2}"/>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03B7D948-3DA5-B5BB-CCB5-0F21D5D8F3B5}"/>
              </a:ext>
            </a:extLst>
          </p:cNvPr>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B126D505-BAAF-AF9A-F56B-41B5428D3581}"/>
              </a:ext>
            </a:extLst>
          </p:cNvPr>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778936B2-01AC-37CF-DACD-EBD0CD723803}"/>
              </a:ext>
            </a:extLst>
          </p:cNvPr>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D6711AE-1254-1648-70B5-348465E26F74}"/>
              </a:ext>
            </a:extLst>
          </p:cNvPr>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356FD9A-893B-6474-FF75-360080B1AF36}"/>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94826B90-6A69-DF62-FE50-BA49FE60B1CB}"/>
              </a:ext>
            </a:extLst>
          </p:cNvPr>
          <p:cNvSpPr txBox="1">
            <a:spLocks noChangeArrowheads="1"/>
          </p:cNvSpPr>
          <p:nvPr/>
        </p:nvSpPr>
        <p:spPr bwMode="auto">
          <a:xfrm>
            <a:off x="5322980" y="3016431"/>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A73A5FD9-18EE-1E90-B7FC-C5B138866081}"/>
              </a:ext>
            </a:extLst>
          </p:cNvPr>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1021ECF0-B03F-5BBF-D029-72F1D931012A}"/>
              </a:ext>
            </a:extLst>
          </p:cNvPr>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E5CC01CD-22DB-90DB-85E5-3A6E6C4EDC02}"/>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9B7D22D6-2DA2-7989-7BED-56B6D342BB8F}"/>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11DEA278-582E-7CF1-41A9-27939BFCD747}"/>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3C95150C-C5ED-6A9A-78DF-57D09F65C53F}"/>
              </a:ext>
            </a:extLst>
          </p:cNvPr>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7E2FF849-5151-E0CF-8D05-8C89140BCB47}"/>
              </a:ext>
            </a:extLst>
          </p:cNvPr>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58C9076A-1C96-1703-31C4-784705013F59}"/>
              </a:ext>
            </a:extLst>
          </p:cNvPr>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1C2FA6EF-7724-227A-2A6E-D60A4082B8F9}"/>
              </a:ext>
            </a:extLst>
          </p:cNvPr>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722A49B8-7141-0D9C-9E46-13F43A7D4B51}"/>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6" name="Text Box 40">
            <a:extLst>
              <a:ext uri="{FF2B5EF4-FFF2-40B4-BE49-F238E27FC236}">
                <a16:creationId xmlns:a16="http://schemas.microsoft.com/office/drawing/2014/main" id="{02941E61-3BD5-EC48-03CB-C6D0A15E9548}"/>
              </a:ext>
            </a:extLst>
          </p:cNvPr>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Text Box 41">
            <a:extLst>
              <a:ext uri="{FF2B5EF4-FFF2-40B4-BE49-F238E27FC236}">
                <a16:creationId xmlns:a16="http://schemas.microsoft.com/office/drawing/2014/main" id="{8D1EBEEB-0E61-8856-4A93-482724586048}"/>
              </a:ext>
            </a:extLst>
          </p:cNvPr>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8" name="Text Box 42">
            <a:extLst>
              <a:ext uri="{FF2B5EF4-FFF2-40B4-BE49-F238E27FC236}">
                <a16:creationId xmlns:a16="http://schemas.microsoft.com/office/drawing/2014/main" id="{7F99B511-54C8-E195-2DED-F348AB011E84}"/>
              </a:ext>
            </a:extLst>
          </p:cNvPr>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39" name="Text Box 28">
            <a:extLst>
              <a:ext uri="{FF2B5EF4-FFF2-40B4-BE49-F238E27FC236}">
                <a16:creationId xmlns:a16="http://schemas.microsoft.com/office/drawing/2014/main" id="{C633C733-9D92-F871-E60F-E52BA3C94C2D}"/>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8F771EAA-3ACD-5A31-83B7-0C1473164D10}"/>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Tree>
    <p:extLst>
      <p:ext uri="{BB962C8B-B14F-4D97-AF65-F5344CB8AC3E}">
        <p14:creationId xmlns:p14="http://schemas.microsoft.com/office/powerpoint/2010/main" val="10009050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7" grpId="0"/>
      <p:bldP spid="38"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900000"/>
            <a:ext cx="8172000" cy="3703500"/>
          </a:xfrm>
        </p:spPr>
        <p:txBody>
          <a:bodyPr/>
          <a:lstStyle/>
          <a:p>
            <a:r>
              <a:rPr lang="zh-CN" altLang="en-US" dirty="0"/>
              <a:t>无论在慢开始阶段还是在拥塞避免阶段，只要发送方判断网络出现拥塞（重传定时器超时）：</a:t>
            </a:r>
          </a:p>
          <a:p>
            <a:pPr lvl="1"/>
            <a:r>
              <a:rPr lang="en-US" altLang="zh-CN" dirty="0" err="1"/>
              <a:t>ssthresh</a:t>
            </a:r>
            <a:r>
              <a:rPr lang="en-US" altLang="zh-CN" dirty="0"/>
              <a:t> = max (</a:t>
            </a:r>
            <a:r>
              <a:rPr lang="en-US" altLang="zh-CN" dirty="0" err="1"/>
              <a:t>cwnd</a:t>
            </a:r>
            <a:r>
              <a:rPr lang="en-US" altLang="zh-CN" dirty="0"/>
              <a:t>/2</a:t>
            </a:r>
            <a:r>
              <a:rPr lang="zh-CN" altLang="en-US" dirty="0"/>
              <a:t>，</a:t>
            </a:r>
            <a:r>
              <a:rPr lang="en-US" altLang="zh-CN" dirty="0"/>
              <a:t>2)</a:t>
            </a:r>
          </a:p>
          <a:p>
            <a:pPr lvl="1"/>
            <a:r>
              <a:rPr lang="en-US" altLang="zh-CN" dirty="0" err="1"/>
              <a:t>cwnd</a:t>
            </a:r>
            <a:r>
              <a:rPr lang="en-US" altLang="zh-CN" dirty="0"/>
              <a:t>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486000" y="550723"/>
            <a:ext cx="8172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900000"/>
            <a:ext cx="8172000" cy="3703500"/>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p:spPr>
        <p:txBody>
          <a:bodyPr/>
          <a:lstStyle/>
          <a:p>
            <a:r>
              <a:rPr lang="zh-CN" altLang="en-US" dirty="0"/>
              <a:t>快重传 </a:t>
            </a:r>
            <a:r>
              <a:rPr lang="en-US" altLang="zh-CN" dirty="0"/>
              <a:t>FR (Fast Retransmission) </a:t>
            </a:r>
            <a:r>
              <a:rPr lang="zh-CN" altLang="en-US" dirty="0"/>
              <a:t>算法</a:t>
            </a:r>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65736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5967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1416328" y="2939639"/>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127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3780345"/>
            <a:ext cx="528675" cy="7666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361782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486000" y="550723"/>
            <a:ext cx="8172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900000"/>
            <a:ext cx="8172000" cy="3703500"/>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err="1"/>
              <a:t>ssthresh</a:t>
            </a:r>
            <a:r>
              <a:rPr lang="en-US" altLang="zh-CN" dirty="0"/>
              <a:t> = </a:t>
            </a:r>
            <a:r>
              <a:rPr lang="zh-CN" altLang="en-US" dirty="0"/>
              <a:t>当前拥塞窗口 </a:t>
            </a:r>
            <a:r>
              <a:rPr lang="en-US" altLang="zh-CN" dirty="0" err="1"/>
              <a:t>cwnd</a:t>
            </a:r>
            <a:r>
              <a:rPr lang="en-US" altLang="zh-CN" dirty="0"/>
              <a:t>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err="1"/>
              <a:t>cwnd</a:t>
            </a:r>
            <a:r>
              <a:rPr lang="en-US" altLang="zh-CN" dirty="0"/>
              <a:t> = </a:t>
            </a:r>
            <a:r>
              <a:rPr lang="zh-CN" altLang="en-US" dirty="0"/>
              <a:t>慢开始门限 </a:t>
            </a:r>
            <a:r>
              <a:rPr lang="en-US" altLang="zh-CN" dirty="0" err="1"/>
              <a:t>ssthresh</a:t>
            </a:r>
            <a:r>
              <a:rPr lang="en-US" altLang="zh-CN" dirty="0"/>
              <a:t>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p:spPr>
        <p:txBody>
          <a:bodyPr/>
          <a:lstStyle/>
          <a:p>
            <a:r>
              <a:rPr lang="zh-CN" altLang="en-US" dirty="0"/>
              <a:t>快恢复 </a:t>
            </a:r>
            <a:r>
              <a:rPr lang="en-US" altLang="zh-CN" dirty="0"/>
              <a:t>FR (Fast Recovery)</a:t>
            </a:r>
            <a:r>
              <a:rPr lang="zh-CN" altLang="en-US" dirty="0"/>
              <a:t>算法</a:t>
            </a:r>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701612" cy="461665"/>
          </a:xfrm>
          <a:prstGeom prst="rect">
            <a:avLst/>
          </a:prstGeom>
          <a:noFill/>
          <a:ln w="9525">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a:t>ssthresh</a:t>
            </a:r>
            <a:r>
              <a:rPr lang="en-US" altLang="zh-CN" dirty="0"/>
              <a:t> </a:t>
            </a:r>
            <a:r>
              <a:rPr lang="en-US" altLang="zh-CN"/>
              <a:t>= cwnd</a:t>
            </a:r>
            <a:r>
              <a:rPr lang="en-US" altLang="zh-CN" dirty="0"/>
              <a:t> / 2</a:t>
            </a:r>
          </a:p>
          <a:p>
            <a:r>
              <a:rPr lang="en-US" altLang="zh-CN"/>
              <a:t>cwnd</a:t>
            </a:r>
            <a:r>
              <a:rPr lang="en-US" altLang="zh-CN" dirty="0"/>
              <a:t> = 1</a:t>
            </a:r>
            <a:endParaRPr lang="zh-CN" altLang="en-US" dirty="0"/>
          </a:p>
        </p:txBody>
      </p:sp>
      <p:cxnSp>
        <p:nvCxnSpPr>
          <p:cNvPr id="10" name="肘形连接符 9"/>
          <p:cNvCxnSpPr>
            <a:stCxn id="22" idx="1"/>
            <a:endCxn id="9" idx="2"/>
          </p:cNvCxnSpPr>
          <p:nvPr/>
        </p:nvCxnSpPr>
        <p:spPr>
          <a:xfrm rot="10800000">
            <a:off x="2233379" y="1713328"/>
            <a:ext cx="872890" cy="422450"/>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33379" y="1713329"/>
            <a:ext cx="871756" cy="1771187"/>
          </a:xfrm>
          <a:prstGeom prst="bentConnector2">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84185" y="1481084"/>
            <a:ext cx="727878" cy="3"/>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900000"/>
            <a:ext cx="8172000" cy="3703500"/>
          </a:xfrm>
        </p:spPr>
        <p:txBody>
          <a:bodyPr/>
          <a:lstStyle/>
          <a:p>
            <a:r>
              <a:rPr lang="zh-CN" altLang="en-US" dirty="0"/>
              <a:t>当 </a:t>
            </a:r>
            <a:r>
              <a:rPr lang="en-US" altLang="zh-CN" dirty="0" err="1"/>
              <a:t>rwnd</a:t>
            </a:r>
            <a:r>
              <a:rPr lang="en-US" altLang="zh-CN" dirty="0"/>
              <a:t> &lt; </a:t>
            </a:r>
            <a:r>
              <a:rPr lang="en-US" altLang="zh-CN" dirty="0" err="1"/>
              <a:t>cwnd</a:t>
            </a:r>
            <a:r>
              <a:rPr lang="en-US" altLang="zh-CN" dirty="0"/>
              <a:t> </a:t>
            </a:r>
            <a:r>
              <a:rPr lang="zh-CN" altLang="en-US" dirty="0"/>
              <a:t>时，是接收方的接收能力限制发送窗口的最大值。</a:t>
            </a:r>
          </a:p>
          <a:p>
            <a:r>
              <a:rPr lang="zh-CN" altLang="en-US" dirty="0"/>
              <a:t>当 </a:t>
            </a:r>
            <a:r>
              <a:rPr lang="en-US" altLang="zh-CN" dirty="0" err="1"/>
              <a:t>cwnd</a:t>
            </a:r>
            <a:r>
              <a:rPr lang="en-US" altLang="zh-CN" dirty="0"/>
              <a:t> &lt; </a:t>
            </a:r>
            <a:r>
              <a:rPr lang="en-US" altLang="zh-CN" dirty="0" err="1"/>
              <a:t>rwnd</a:t>
            </a:r>
            <a:r>
              <a:rPr lang="en-US" altLang="zh-CN" dirty="0"/>
              <a:t>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900000"/>
            <a:ext cx="8172000" cy="3703500"/>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 </a:t>
            </a:r>
            <a:r>
              <a:rPr lang="zh-CN" altLang="en-US" dirty="0"/>
              <a:t>处理规则</a:t>
            </a:r>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900000"/>
            <a:ext cx="8172000" cy="3703500"/>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900000"/>
            <a:ext cx="8172000" cy="3703500"/>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900000"/>
            <a:ext cx="8172000" cy="3703500"/>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900000"/>
            <a:ext cx="8172000" cy="3703500"/>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p:spPr>
        <p:txBody>
          <a:bodyPr/>
          <a:lstStyle/>
          <a:p>
            <a:r>
              <a:rPr lang="en-US" altLang="zh-CN" dirty="0"/>
              <a:t>TCP </a:t>
            </a:r>
            <a:r>
              <a:rPr lang="zh-CN" altLang="en-US" dirty="0"/>
              <a:t>连接建立过程中要解决的三个问题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47D15CC1-5781-A9FD-7949-A7C95335D57C}"/>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EC8E802-DCFB-F2C8-1459-2F22F0E42B88}"/>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组合 26">
            <a:extLst>
              <a:ext uri="{FF2B5EF4-FFF2-40B4-BE49-F238E27FC236}">
                <a16:creationId xmlns:a16="http://schemas.microsoft.com/office/drawing/2014/main" id="{0E40880E-C15E-C1D0-10F3-32FF3925B801}"/>
              </a:ext>
            </a:extLst>
          </p:cNvPr>
          <p:cNvGrpSpPr/>
          <p:nvPr/>
        </p:nvGrpSpPr>
        <p:grpSpPr>
          <a:xfrm>
            <a:off x="2428083" y="553196"/>
            <a:ext cx="432000" cy="432000"/>
            <a:chOff x="1637508" y="547157"/>
            <a:chExt cx="432000" cy="432000"/>
          </a:xfrm>
        </p:grpSpPr>
        <p:pic>
          <p:nvPicPr>
            <p:cNvPr id="5" name="图形 4" descr="监视器">
              <a:extLst>
                <a:ext uri="{FF2B5EF4-FFF2-40B4-BE49-F238E27FC236}">
                  <a16:creationId xmlns:a16="http://schemas.microsoft.com/office/drawing/2014/main" id="{5BB9EDD4-3F0E-0283-7864-426C18E272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290FE7E5-A3E5-74B3-343D-D431DFB1D4EB}"/>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E7C871D1-5F7D-B69A-DC4D-EA2E74592C7E}"/>
              </a:ext>
            </a:extLst>
          </p:cNvPr>
          <p:cNvGrpSpPr/>
          <p:nvPr/>
        </p:nvGrpSpPr>
        <p:grpSpPr>
          <a:xfrm>
            <a:off x="5554733" y="553196"/>
            <a:ext cx="432000" cy="432000"/>
            <a:chOff x="6107183" y="559236"/>
            <a:chExt cx="432000" cy="432000"/>
          </a:xfrm>
        </p:grpSpPr>
        <p:pic>
          <p:nvPicPr>
            <p:cNvPr id="8" name="图形 7" descr="监视器">
              <a:extLst>
                <a:ext uri="{FF2B5EF4-FFF2-40B4-BE49-F238E27FC236}">
                  <a16:creationId xmlns:a16="http://schemas.microsoft.com/office/drawing/2014/main" id="{17145CFB-63B6-38AB-DAF9-92A4D5D9A29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9" name="文本框 8">
              <a:extLst>
                <a:ext uri="{FF2B5EF4-FFF2-40B4-BE49-F238E27FC236}">
                  <a16:creationId xmlns:a16="http://schemas.microsoft.com/office/drawing/2014/main" id="{8117EFBA-A8D8-4770-E94A-0CEC266FF99C}"/>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0" name="直接箭头连接符 9">
            <a:extLst>
              <a:ext uri="{FF2B5EF4-FFF2-40B4-BE49-F238E27FC236}">
                <a16:creationId xmlns:a16="http://schemas.microsoft.com/office/drawing/2014/main" id="{AF485F0E-7474-25C5-73FB-A9FC88D067E7}"/>
              </a:ext>
            </a:extLst>
          </p:cNvPr>
          <p:cNvCxnSpPr>
            <a:cxnSpLocks/>
            <a:stCxn id="19" idx="3"/>
            <a:endCxn id="20" idx="1"/>
          </p:cNvCxnSpPr>
          <p:nvPr/>
        </p:nvCxnSpPr>
        <p:spPr>
          <a:xfrm>
            <a:off x="2644083" y="1656019"/>
            <a:ext cx="3126650" cy="477824"/>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41A7C4B1-6D99-D0F8-E504-DF8806B5DA27}"/>
              </a:ext>
            </a:extLst>
          </p:cNvPr>
          <p:cNvCxnSpPr>
            <a:cxnSpLocks/>
            <a:stCxn id="20" idx="1"/>
            <a:endCxn id="21" idx="3"/>
          </p:cNvCxnSpPr>
          <p:nvPr/>
        </p:nvCxnSpPr>
        <p:spPr>
          <a:xfrm flipH="1">
            <a:off x="2644083" y="2133843"/>
            <a:ext cx="3126650" cy="73648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09DAF7F8-8ADD-CB8E-B31A-ACF047960F45}"/>
              </a:ext>
            </a:extLst>
          </p:cNvPr>
          <p:cNvCxnSpPr>
            <a:cxnSpLocks/>
            <a:stCxn id="21" idx="3"/>
            <a:endCxn id="22" idx="1"/>
          </p:cNvCxnSpPr>
          <p:nvPr/>
        </p:nvCxnSpPr>
        <p:spPr>
          <a:xfrm>
            <a:off x="2644083" y="2870323"/>
            <a:ext cx="3126650" cy="49325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B5D1F939-D92A-7D02-6527-37ECCF436B8B}"/>
              </a:ext>
            </a:extLst>
          </p:cNvPr>
          <p:cNvSpPr txBox="1"/>
          <p:nvPr/>
        </p:nvSpPr>
        <p:spPr>
          <a:xfrm rot="540000">
            <a:off x="3642991" y="1585272"/>
            <a:ext cx="112883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seq=x</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90CD8884-3B11-5208-1AB1-8A9658CAFCA0}"/>
              </a:ext>
            </a:extLst>
          </p:cNvPr>
          <p:cNvSpPr txBox="1"/>
          <p:nvPr/>
        </p:nvSpPr>
        <p:spPr>
          <a:xfrm rot="20808004">
            <a:off x="3314375" y="2255155"/>
            <a:ext cx="1786066"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ACK=1 ack=x+1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seq=y </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5" name="文本框 14">
            <a:extLst>
              <a:ext uri="{FF2B5EF4-FFF2-40B4-BE49-F238E27FC236}">
                <a16:creationId xmlns:a16="http://schemas.microsoft.com/office/drawing/2014/main" id="{34365C8C-B898-59E8-021B-19121C4387CF}"/>
              </a:ext>
            </a:extLst>
          </p:cNvPr>
          <p:cNvSpPr txBox="1"/>
          <p:nvPr/>
        </p:nvSpPr>
        <p:spPr>
          <a:xfrm rot="525163">
            <a:off x="3564444" y="2888112"/>
            <a:ext cx="128592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ACK=1 ack=y+1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 = x+1</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6" name="矩形 15">
            <a:extLst>
              <a:ext uri="{FF2B5EF4-FFF2-40B4-BE49-F238E27FC236}">
                <a16:creationId xmlns:a16="http://schemas.microsoft.com/office/drawing/2014/main" id="{CDB39CFD-E5ED-7063-B40E-9F1A61FB0739}"/>
              </a:ext>
            </a:extLst>
          </p:cNvPr>
          <p:cNvSpPr/>
          <p:nvPr/>
        </p:nvSpPr>
        <p:spPr>
          <a:xfrm>
            <a:off x="1204083" y="960670"/>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17" name="矩形 16">
            <a:extLst>
              <a:ext uri="{FF2B5EF4-FFF2-40B4-BE49-F238E27FC236}">
                <a16:creationId xmlns:a16="http://schemas.microsoft.com/office/drawing/2014/main" id="{A5BF2568-8721-B52F-81EB-DE4D8ABF589D}"/>
              </a:ext>
            </a:extLst>
          </p:cNvPr>
          <p:cNvSpPr/>
          <p:nvPr/>
        </p:nvSpPr>
        <p:spPr>
          <a:xfrm>
            <a:off x="5770733" y="96066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8" name="矩形 17">
            <a:extLst>
              <a:ext uri="{FF2B5EF4-FFF2-40B4-BE49-F238E27FC236}">
                <a16:creationId xmlns:a16="http://schemas.microsoft.com/office/drawing/2014/main" id="{6B9B0A21-91AF-6659-B7A4-16AB52CAB229}"/>
              </a:ext>
            </a:extLst>
          </p:cNvPr>
          <p:cNvSpPr/>
          <p:nvPr/>
        </p:nvSpPr>
        <p:spPr>
          <a:xfrm>
            <a:off x="5770733" y="1386134"/>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LISTEN</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9" name="矩形 18">
            <a:extLst>
              <a:ext uri="{FF2B5EF4-FFF2-40B4-BE49-F238E27FC236}">
                <a16:creationId xmlns:a16="http://schemas.microsoft.com/office/drawing/2014/main" id="{B6FE02D6-3420-13E5-C262-350FD1A3B95F}"/>
              </a:ext>
            </a:extLst>
          </p:cNvPr>
          <p:cNvSpPr/>
          <p:nvPr/>
        </p:nvSpPr>
        <p:spPr>
          <a:xfrm>
            <a:off x="1204083" y="151751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SYN-SENT</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0" name="矩形 19">
            <a:extLst>
              <a:ext uri="{FF2B5EF4-FFF2-40B4-BE49-F238E27FC236}">
                <a16:creationId xmlns:a16="http://schemas.microsoft.com/office/drawing/2014/main" id="{B3CBFDAE-63CF-7D49-CA70-9CDB0EC06F82}"/>
              </a:ext>
            </a:extLst>
          </p:cNvPr>
          <p:cNvSpPr/>
          <p:nvPr/>
        </p:nvSpPr>
        <p:spPr>
          <a:xfrm>
            <a:off x="5770733" y="199534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SYN-RCVD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1" name="矩形 20">
            <a:extLst>
              <a:ext uri="{FF2B5EF4-FFF2-40B4-BE49-F238E27FC236}">
                <a16:creationId xmlns:a16="http://schemas.microsoft.com/office/drawing/2014/main" id="{4567E7F4-B634-36C9-D3BB-E52637B13DAE}"/>
              </a:ext>
            </a:extLst>
          </p:cNvPr>
          <p:cNvSpPr/>
          <p:nvPr/>
        </p:nvSpPr>
        <p:spPr>
          <a:xfrm>
            <a:off x="1204083" y="273182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2" name="矩形 21">
            <a:extLst>
              <a:ext uri="{FF2B5EF4-FFF2-40B4-BE49-F238E27FC236}">
                <a16:creationId xmlns:a16="http://schemas.microsoft.com/office/drawing/2014/main" id="{EDC68764-2D0B-5CBA-9ADD-355F87844811}"/>
              </a:ext>
            </a:extLst>
          </p:cNvPr>
          <p:cNvSpPr/>
          <p:nvPr/>
        </p:nvSpPr>
        <p:spPr>
          <a:xfrm>
            <a:off x="5770733" y="3225076"/>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箭头: 左右 22">
            <a:extLst>
              <a:ext uri="{FF2B5EF4-FFF2-40B4-BE49-F238E27FC236}">
                <a16:creationId xmlns:a16="http://schemas.microsoft.com/office/drawing/2014/main" id="{7C8E832C-28A8-33B7-ECE1-CE4A4A0D10A3}"/>
              </a:ext>
            </a:extLst>
          </p:cNvPr>
          <p:cNvSpPr/>
          <p:nvPr/>
        </p:nvSpPr>
        <p:spPr>
          <a:xfrm>
            <a:off x="2767408" y="3846627"/>
            <a:ext cx="2880000" cy="653501"/>
          </a:xfrm>
          <a:prstGeom prst="leftRightArrow">
            <a:avLst>
              <a:gd name="adj1" fmla="val 58746"/>
              <a:gd name="adj2" fmla="val 59067"/>
            </a:avLst>
          </a:prstGeom>
          <a:solidFill>
            <a:schemeClr val="tx2">
              <a:lumMod val="40000"/>
              <a:lumOff val="6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数据传输</a:t>
            </a:r>
          </a:p>
        </p:txBody>
      </p:sp>
      <p:sp>
        <p:nvSpPr>
          <p:cNvPr id="24" name="文本框 23">
            <a:extLst>
              <a:ext uri="{FF2B5EF4-FFF2-40B4-BE49-F238E27FC236}">
                <a16:creationId xmlns:a16="http://schemas.microsoft.com/office/drawing/2014/main" id="{96AC86E7-ACD9-6D38-15BB-DAA07DF5B35E}"/>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5" name="文本框 24">
            <a:extLst>
              <a:ext uri="{FF2B5EF4-FFF2-40B4-BE49-F238E27FC236}">
                <a16:creationId xmlns:a16="http://schemas.microsoft.com/office/drawing/2014/main" id="{D3E3829D-EEEE-FFC9-BB5B-BD35FC5F6147}"/>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7377392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B6312439-9150-A9E3-BCA7-92C196ABF0AC}"/>
              </a:ext>
            </a:extLst>
          </p:cNvPr>
          <p:cNvGrpSpPr/>
          <p:nvPr/>
        </p:nvGrpSpPr>
        <p:grpSpPr>
          <a:xfrm>
            <a:off x="2428083" y="553196"/>
            <a:ext cx="432000" cy="432000"/>
            <a:chOff x="1637508" y="547157"/>
            <a:chExt cx="432000" cy="432000"/>
          </a:xfrm>
        </p:grpSpPr>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DCEA9356-61CD-92F3-D75C-9AEE0ECA246E}"/>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8" name="组合 7">
            <a:extLst>
              <a:ext uri="{FF2B5EF4-FFF2-40B4-BE49-F238E27FC236}">
                <a16:creationId xmlns:a16="http://schemas.microsoft.com/office/drawing/2014/main" id="{F8F48B44-2E38-A68F-6C82-1925A759FD49}"/>
              </a:ext>
            </a:extLst>
          </p:cNvPr>
          <p:cNvGrpSpPr/>
          <p:nvPr/>
        </p:nvGrpSpPr>
        <p:grpSpPr>
          <a:xfrm>
            <a:off x="5554733" y="553196"/>
            <a:ext cx="432000" cy="432000"/>
            <a:chOff x="6107183" y="559236"/>
            <a:chExt cx="432000" cy="432000"/>
          </a:xfrm>
        </p:grpSpPr>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10" name="文本框 9">
              <a:extLst>
                <a:ext uri="{FF2B5EF4-FFF2-40B4-BE49-F238E27FC236}">
                  <a16:creationId xmlns:a16="http://schemas.microsoft.com/office/drawing/2014/main" id="{E0F37203-A5E6-837B-9C5F-2578670C41E9}"/>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2644082" y="3187843"/>
            <a:ext cx="3141051" cy="453028"/>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2629683" y="17777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2644082" y="1237668"/>
            <a:ext cx="3126650" cy="49602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5785133"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333683"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5785133"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333683"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5785133"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2767408"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559635"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473876"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458647"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453840"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5785133"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333683"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326483"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2629683" y="26645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4649065"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538783"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326483"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26483"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268883"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900000"/>
            <a:ext cx="8172000" cy="3703500"/>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900000"/>
            <a:ext cx="8172000" cy="3703500"/>
          </a:xfrm>
        </p:spPr>
        <p:txBody>
          <a:bodyPr/>
          <a:lstStyle/>
          <a:p>
            <a:r>
              <a:rPr lang="zh-CN" altLang="en-US"/>
              <a:t>用来防止在 </a:t>
            </a:r>
            <a:r>
              <a:rPr lang="en-US" altLang="zh-CN"/>
              <a:t>TCP </a:t>
            </a:r>
            <a:r>
              <a:rPr lang="zh-CN" altLang="en-US"/>
              <a:t>连接出现长时期空闲。</a:t>
            </a:r>
            <a:endParaRPr lang="en-US" altLang="zh-CN"/>
          </a:p>
          <a:p>
            <a:r>
              <a:rPr lang="zh-CN" altLang="en-US"/>
              <a:t>通常设置为 </a:t>
            </a:r>
            <a:r>
              <a:rPr lang="en-US" altLang="zh-CN"/>
              <a:t>2 </a:t>
            </a:r>
            <a:r>
              <a:rPr lang="zh-CN" altLang="en-US"/>
              <a:t>小时 。</a:t>
            </a:r>
            <a:endParaRPr lang="en-US" altLang="zh-CN"/>
          </a:p>
          <a:p>
            <a:r>
              <a:rPr lang="zh-CN" altLang="en-US"/>
              <a:t>若服务器过了 </a:t>
            </a:r>
            <a:r>
              <a:rPr lang="en-US" altLang="zh-CN"/>
              <a:t>2 </a:t>
            </a:r>
            <a:r>
              <a:rPr lang="zh-CN" altLang="en-US"/>
              <a:t>小时还没有收到客户的信息，它就发送探测报文段。</a:t>
            </a:r>
            <a:endParaRPr lang="en-US" altLang="zh-CN"/>
          </a:p>
          <a:p>
            <a:r>
              <a:rPr lang="zh-CN" altLang="en-US"/>
              <a:t>若发送了 </a:t>
            </a:r>
            <a:r>
              <a:rPr lang="en-US" altLang="zh-CN"/>
              <a:t>10 </a:t>
            </a:r>
            <a:r>
              <a:rPr lang="zh-CN" altLang="en-US"/>
              <a:t>个探测报文段（每一个相隔 </a:t>
            </a:r>
            <a:r>
              <a:rPr lang="en-US" altLang="zh-CN"/>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486000" y="550723"/>
            <a:ext cx="8172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7943</TotalTime>
  <Words>17706</Words>
  <Application>Microsoft Office PowerPoint</Application>
  <PresentationFormat>全屏显示(16:9)</PresentationFormat>
  <Paragraphs>4169</Paragraphs>
  <Slides>210</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210</vt:i4>
      </vt:variant>
    </vt:vector>
  </HeadingPairs>
  <TitlesOfParts>
    <vt:vector size="223" baseType="lpstr">
      <vt:lpstr>Courier New</vt:lpstr>
      <vt:lpstr>Symbol</vt:lpstr>
      <vt:lpstr>Arial</vt:lpstr>
      <vt:lpstr>Cambria Math</vt:lpstr>
      <vt:lpstr>微软雅黑 Light</vt:lpstr>
      <vt:lpstr>Calibri</vt:lpstr>
      <vt:lpstr>Wingdings</vt:lpstr>
      <vt:lpstr>Montserrat</vt:lpstr>
      <vt:lpstr>微软雅黑</vt:lpstr>
      <vt:lpstr>宋体</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需要强调三点</vt:lpstr>
      <vt:lpstr>5.6.2   超时重传时间的选择</vt:lpstr>
      <vt:lpstr>TCP 超时重传时间设置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拥塞控制的一般原理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PowerPoint 演示文稿</vt:lpstr>
      <vt:lpstr>PowerPoint 演示文稿</vt:lpstr>
      <vt:lpstr>传输轮次（transmission round）</vt:lpstr>
      <vt:lpstr>慢开始门限 ssthresh</vt:lpstr>
      <vt:lpstr>2. 拥塞避免</vt:lpstr>
      <vt:lpstr>PowerPoint 演示文稿</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FR (Fast Retransmission) 算法</vt:lpstr>
      <vt:lpstr>快重传举例</vt:lpstr>
      <vt:lpstr>快恢复 FR (Fast Recovery)算法</vt:lpstr>
      <vt:lpstr>慢开始和拥塞避免算法的实现举例</vt:lpstr>
      <vt:lpstr>慢开始和拥塞避免算法的实现举例</vt:lpstr>
      <vt:lpstr>TCP 拥塞控制流程图</vt:lpstr>
      <vt:lpstr>发送窗口的上限值</vt:lpstr>
      <vt:lpstr>5.8.3   主动队列管理 AQM</vt:lpstr>
      <vt:lpstr>“先进先出”FIFO 处理规则</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TCP 连接建立过程中要解决的三个问题</vt:lpstr>
      <vt:lpstr>5.9.1  TCP 的连接建立</vt:lpstr>
      <vt:lpstr>PowerPoint 演示文稿</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PowerPoint 演示文稿</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681</cp:revision>
  <dcterms:created xsi:type="dcterms:W3CDTF">2018-07-18T08:51:30Z</dcterms:created>
  <dcterms:modified xsi:type="dcterms:W3CDTF">2025-11-19T13:35:25Z</dcterms:modified>
</cp:coreProperties>
</file>