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53" r:id="rId1"/>
  </p:sldMasterIdLst>
  <p:notesMasterIdLst>
    <p:notesMasterId r:id="rId218"/>
  </p:notesMasterIdLst>
  <p:sldIdLst>
    <p:sldId id="257" r:id="rId2"/>
    <p:sldId id="693" r:id="rId3"/>
    <p:sldId id="446" r:id="rId4"/>
    <p:sldId id="750" r:id="rId5"/>
    <p:sldId id="449" r:id="rId6"/>
    <p:sldId id="470" r:id="rId7"/>
    <p:sldId id="450" r:id="rId8"/>
    <p:sldId id="265" r:id="rId9"/>
    <p:sldId id="267" r:id="rId10"/>
    <p:sldId id="268" r:id="rId11"/>
    <p:sldId id="659" r:id="rId12"/>
    <p:sldId id="468" r:id="rId13"/>
    <p:sldId id="458" r:id="rId14"/>
    <p:sldId id="661" r:id="rId15"/>
    <p:sldId id="662" r:id="rId16"/>
    <p:sldId id="663" r:id="rId17"/>
    <p:sldId id="276" r:id="rId18"/>
    <p:sldId id="277" r:id="rId19"/>
    <p:sldId id="278" r:id="rId20"/>
    <p:sldId id="279" r:id="rId21"/>
    <p:sldId id="737" r:id="rId22"/>
    <p:sldId id="471" r:id="rId23"/>
    <p:sldId id="472" r:id="rId24"/>
    <p:sldId id="473" r:id="rId25"/>
    <p:sldId id="667" r:id="rId26"/>
    <p:sldId id="734" r:id="rId27"/>
    <p:sldId id="475" r:id="rId28"/>
    <p:sldId id="694" r:id="rId29"/>
    <p:sldId id="736" r:id="rId30"/>
    <p:sldId id="696" r:id="rId31"/>
    <p:sldId id="735" r:id="rId32"/>
    <p:sldId id="476" r:id="rId33"/>
    <p:sldId id="668" r:id="rId34"/>
    <p:sldId id="477" r:id="rId35"/>
    <p:sldId id="478" r:id="rId36"/>
    <p:sldId id="479" r:id="rId37"/>
    <p:sldId id="751" r:id="rId38"/>
    <p:sldId id="480" r:id="rId39"/>
    <p:sldId id="752" r:id="rId40"/>
    <p:sldId id="753" r:id="rId41"/>
    <p:sldId id="481" r:id="rId42"/>
    <p:sldId id="482" r:id="rId43"/>
    <p:sldId id="669" r:id="rId44"/>
    <p:sldId id="483" r:id="rId45"/>
    <p:sldId id="484" r:id="rId46"/>
    <p:sldId id="671" r:id="rId47"/>
    <p:sldId id="486" r:id="rId48"/>
    <p:sldId id="488" r:id="rId49"/>
    <p:sldId id="672" r:id="rId50"/>
    <p:sldId id="489" r:id="rId51"/>
    <p:sldId id="490" r:id="rId52"/>
    <p:sldId id="491" r:id="rId53"/>
    <p:sldId id="492" r:id="rId54"/>
    <p:sldId id="493" r:id="rId55"/>
    <p:sldId id="494" r:id="rId56"/>
    <p:sldId id="495" r:id="rId57"/>
    <p:sldId id="497" r:id="rId58"/>
    <p:sldId id="673" r:id="rId59"/>
    <p:sldId id="697" r:id="rId60"/>
    <p:sldId id="738" r:id="rId61"/>
    <p:sldId id="498" r:id="rId62"/>
    <p:sldId id="739" r:id="rId63"/>
    <p:sldId id="501" r:id="rId64"/>
    <p:sldId id="505" r:id="rId65"/>
    <p:sldId id="504" r:id="rId66"/>
    <p:sldId id="509" r:id="rId67"/>
    <p:sldId id="676" r:id="rId68"/>
    <p:sldId id="740" r:id="rId69"/>
    <p:sldId id="749" r:id="rId70"/>
    <p:sldId id="513" r:id="rId71"/>
    <p:sldId id="698" r:id="rId72"/>
    <p:sldId id="680" r:id="rId73"/>
    <p:sldId id="520" r:id="rId74"/>
    <p:sldId id="742" r:id="rId75"/>
    <p:sldId id="741" r:id="rId76"/>
    <p:sldId id="521" r:id="rId77"/>
    <p:sldId id="522" r:id="rId78"/>
    <p:sldId id="523" r:id="rId79"/>
    <p:sldId id="524" r:id="rId80"/>
    <p:sldId id="525" r:id="rId81"/>
    <p:sldId id="526" r:id="rId82"/>
    <p:sldId id="527" r:id="rId83"/>
    <p:sldId id="528" r:id="rId84"/>
    <p:sldId id="529" r:id="rId85"/>
    <p:sldId id="530" r:id="rId86"/>
    <p:sldId id="531" r:id="rId87"/>
    <p:sldId id="532" r:id="rId88"/>
    <p:sldId id="533" r:id="rId89"/>
    <p:sldId id="534" r:id="rId90"/>
    <p:sldId id="535" r:id="rId91"/>
    <p:sldId id="536" r:id="rId92"/>
    <p:sldId id="537" r:id="rId93"/>
    <p:sldId id="702" r:id="rId94"/>
    <p:sldId id="701" r:id="rId95"/>
    <p:sldId id="703" r:id="rId96"/>
    <p:sldId id="705" r:id="rId97"/>
    <p:sldId id="707" r:id="rId98"/>
    <p:sldId id="708" r:id="rId99"/>
    <p:sldId id="709" r:id="rId100"/>
    <p:sldId id="541" r:id="rId101"/>
    <p:sldId id="542" r:id="rId102"/>
    <p:sldId id="543" r:id="rId103"/>
    <p:sldId id="710" r:id="rId104"/>
    <p:sldId id="546" r:id="rId105"/>
    <p:sldId id="711" r:id="rId106"/>
    <p:sldId id="713" r:id="rId107"/>
    <p:sldId id="715" r:id="rId108"/>
    <p:sldId id="716" r:id="rId109"/>
    <p:sldId id="717" r:id="rId110"/>
    <p:sldId id="718" r:id="rId111"/>
    <p:sldId id="721" r:id="rId112"/>
    <p:sldId id="722" r:id="rId113"/>
    <p:sldId id="719" r:id="rId114"/>
    <p:sldId id="552" r:id="rId115"/>
    <p:sldId id="554" r:id="rId116"/>
    <p:sldId id="555" r:id="rId117"/>
    <p:sldId id="557" r:id="rId118"/>
    <p:sldId id="559" r:id="rId119"/>
    <p:sldId id="560" r:id="rId120"/>
    <p:sldId id="561" r:id="rId121"/>
    <p:sldId id="562" r:id="rId122"/>
    <p:sldId id="563" r:id="rId123"/>
    <p:sldId id="564" r:id="rId124"/>
    <p:sldId id="723" r:id="rId125"/>
    <p:sldId id="567" r:id="rId126"/>
    <p:sldId id="566" r:id="rId127"/>
    <p:sldId id="568" r:id="rId128"/>
    <p:sldId id="569" r:id="rId129"/>
    <p:sldId id="571" r:id="rId130"/>
    <p:sldId id="743" r:id="rId131"/>
    <p:sldId id="724" r:id="rId132"/>
    <p:sldId id="573" r:id="rId133"/>
    <p:sldId id="574" r:id="rId134"/>
    <p:sldId id="575" r:id="rId135"/>
    <p:sldId id="576" r:id="rId136"/>
    <p:sldId id="578" r:id="rId137"/>
    <p:sldId id="579" r:id="rId138"/>
    <p:sldId id="580" r:id="rId139"/>
    <p:sldId id="581" r:id="rId140"/>
    <p:sldId id="582" r:id="rId141"/>
    <p:sldId id="685" r:id="rId142"/>
    <p:sldId id="583" r:id="rId143"/>
    <p:sldId id="727" r:id="rId144"/>
    <p:sldId id="585" r:id="rId145"/>
    <p:sldId id="586" r:id="rId146"/>
    <p:sldId id="587" r:id="rId147"/>
    <p:sldId id="731" r:id="rId148"/>
    <p:sldId id="729" r:id="rId149"/>
    <p:sldId id="730" r:id="rId150"/>
    <p:sldId id="592" r:id="rId151"/>
    <p:sldId id="593" r:id="rId152"/>
    <p:sldId id="594" r:id="rId153"/>
    <p:sldId id="595" r:id="rId154"/>
    <p:sldId id="596" r:id="rId155"/>
    <p:sldId id="597" r:id="rId156"/>
    <p:sldId id="598" r:id="rId157"/>
    <p:sldId id="599" r:id="rId158"/>
    <p:sldId id="756" r:id="rId159"/>
    <p:sldId id="600" r:id="rId160"/>
    <p:sldId id="686" r:id="rId161"/>
    <p:sldId id="687" r:id="rId162"/>
    <p:sldId id="601" r:id="rId163"/>
    <p:sldId id="755" r:id="rId164"/>
    <p:sldId id="603" r:id="rId165"/>
    <p:sldId id="604" r:id="rId166"/>
    <p:sldId id="605" r:id="rId167"/>
    <p:sldId id="606" r:id="rId168"/>
    <p:sldId id="607" r:id="rId169"/>
    <p:sldId id="608" r:id="rId170"/>
    <p:sldId id="609" r:id="rId171"/>
    <p:sldId id="611" r:id="rId172"/>
    <p:sldId id="612" r:id="rId173"/>
    <p:sldId id="613" r:id="rId174"/>
    <p:sldId id="614" r:id="rId175"/>
    <p:sldId id="616" r:id="rId176"/>
    <p:sldId id="618" r:id="rId177"/>
    <p:sldId id="754" r:id="rId178"/>
    <p:sldId id="619" r:id="rId179"/>
    <p:sldId id="732" r:id="rId180"/>
    <p:sldId id="733" r:id="rId181"/>
    <p:sldId id="622" r:id="rId182"/>
    <p:sldId id="623" r:id="rId183"/>
    <p:sldId id="624" r:id="rId184"/>
    <p:sldId id="689" r:id="rId185"/>
    <p:sldId id="625" r:id="rId186"/>
    <p:sldId id="626" r:id="rId187"/>
    <p:sldId id="627" r:id="rId188"/>
    <p:sldId id="628" r:id="rId189"/>
    <p:sldId id="629" r:id="rId190"/>
    <p:sldId id="691" r:id="rId191"/>
    <p:sldId id="630" r:id="rId192"/>
    <p:sldId id="631" r:id="rId193"/>
    <p:sldId id="632" r:id="rId194"/>
    <p:sldId id="633" r:id="rId195"/>
    <p:sldId id="634" r:id="rId196"/>
    <p:sldId id="635" r:id="rId197"/>
    <p:sldId id="637" r:id="rId198"/>
    <p:sldId id="745" r:id="rId199"/>
    <p:sldId id="638" r:id="rId200"/>
    <p:sldId id="639" r:id="rId201"/>
    <p:sldId id="640" r:id="rId202"/>
    <p:sldId id="641" r:id="rId203"/>
    <p:sldId id="642" r:id="rId204"/>
    <p:sldId id="643" r:id="rId205"/>
    <p:sldId id="644" r:id="rId206"/>
    <p:sldId id="746" r:id="rId207"/>
    <p:sldId id="645" r:id="rId208"/>
    <p:sldId id="646" r:id="rId209"/>
    <p:sldId id="647" r:id="rId210"/>
    <p:sldId id="649" r:id="rId211"/>
    <p:sldId id="650" r:id="rId212"/>
    <p:sldId id="652" r:id="rId213"/>
    <p:sldId id="748" r:id="rId214"/>
    <p:sldId id="653" r:id="rId215"/>
    <p:sldId id="654" r:id="rId216"/>
    <p:sldId id="655" r:id="rId217"/>
  </p:sldIdLst>
  <p:sldSz cx="9144000" cy="5143500" type="screen16x9"/>
  <p:notesSz cx="6858000" cy="9144000"/>
  <p:embeddedFontLst>
    <p:embeddedFont>
      <p:font typeface="Cambria Math" panose="02040503050406030204" pitchFamily="18" charset="0"/>
      <p:regular r:id="rId219"/>
    </p:embeddedFont>
    <p:embeddedFont>
      <p:font typeface="Montserrat" panose="00000500000000000000" pitchFamily="2" charset="0"/>
      <p:regular r:id="rId220"/>
    </p:embeddedFont>
    <p:embeddedFont>
      <p:font typeface="微软雅黑" panose="020B0503020204020204" pitchFamily="34" charset="-122"/>
      <p:regular r:id="rId221"/>
      <p:bold r:id="rId222"/>
    </p:embeddedFont>
    <p:embeddedFont>
      <p:font typeface="微软雅黑 Light" panose="020B0502040204020203" pitchFamily="34" charset="-122"/>
      <p:regular r:id="rId223"/>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D1F7"/>
    <a:srgbClr val="EBF1DE"/>
    <a:srgbClr val="FAC090"/>
    <a:srgbClr val="E95420"/>
    <a:srgbClr val="E46C0A"/>
    <a:srgbClr val="00B050"/>
    <a:srgbClr val="7F131F"/>
    <a:srgbClr val="0000FF"/>
    <a:srgbClr val="FFFF00"/>
    <a:srgbClr val="00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20" autoAdjust="0"/>
    <p:restoredTop sz="73893" autoAdjust="0"/>
  </p:normalViewPr>
  <p:slideViewPr>
    <p:cSldViewPr snapToGrid="0">
      <p:cViewPr>
        <p:scale>
          <a:sx n="100" d="100"/>
          <a:sy n="100" d="100"/>
        </p:scale>
        <p:origin x="1782" y="91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tableStyles" Target="tableStyle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notesMaster" Target="notesMasters/notesMaster1.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font" Target="fonts/font1.fntdata"/><Relationship Id="rId3" Type="http://schemas.openxmlformats.org/officeDocument/2006/relationships/slide" Target="slides/slide2.xml"/><Relationship Id="rId214" Type="http://schemas.openxmlformats.org/officeDocument/2006/relationships/slide" Target="slides/slide213.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font" Target="fonts/font2.fntdata"/><Relationship Id="rId225"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font" Target="fonts/font3.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font" Target="fonts/font4.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font" Target="fonts/font5.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presProps" Target="presProps.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s>
</file>

<file path=ppt/diagrams/colors1.xml><?xml version="1.0" encoding="utf-8"?>
<dgm:colorsDef xmlns:dgm="http://schemas.openxmlformats.org/drawingml/2006/diagram" xmlns:a="http://schemas.openxmlformats.org/drawingml/2006/main" uniqueId="urn:microsoft.com/office/officeart/2005/8/colors/colorful1#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C10DAB-C322-41A1-8658-7422865E490A}" type="doc">
      <dgm:prSet loTypeId="urn:microsoft.com/office/officeart/2005/8/layout/hList1" loCatId="list" qsTypeId="urn:microsoft.com/office/officeart/2005/8/quickstyle/simple1" qsCatId="simple" csTypeId="urn:microsoft.com/office/officeart/2005/8/colors/colorful1#11" csCatId="colorful" phldr="1"/>
      <dgm:spPr/>
      <dgm:t>
        <a:bodyPr/>
        <a:lstStyle/>
        <a:p>
          <a:endParaRPr lang="zh-CN" altLang="en-US"/>
        </a:p>
      </dgm:t>
    </dgm:pt>
    <dgm:pt modelId="{3075A9A9-DD2E-4ACB-A0C6-88FAC2CB324D}">
      <dgm:prSet phldrT="[文本]" custT="1"/>
      <dgm:spPr>
        <a:solidFill>
          <a:srgbClr val="C0504D"/>
        </a:solidFill>
      </dgm:spPr>
      <dgm:t>
        <a:bodyPr/>
        <a:lstStyle/>
        <a:p>
          <a:r>
            <a:rPr lang="en-US" altLang="zh-CN" sz="1800" b="1" dirty="0">
              <a:solidFill>
                <a:schemeClr val="bg1"/>
              </a:solidFill>
              <a:latin typeface="微软雅黑" pitchFamily="34" charset="-122"/>
              <a:ea typeface="微软雅黑" pitchFamily="34" charset="-122"/>
            </a:rPr>
            <a:t>UDP</a:t>
          </a:r>
          <a:endParaRPr lang="zh-CN" altLang="en-US" sz="1800" b="1" dirty="0">
            <a:latin typeface="微软雅黑" panose="020B0503020204020204" pitchFamily="34" charset="-122"/>
            <a:ea typeface="微软雅黑" panose="020B0503020204020204" pitchFamily="34" charset="-122"/>
          </a:endParaRPr>
        </a:p>
      </dgm:t>
    </dgm:pt>
    <dgm:pt modelId="{134ADAE1-C064-4534-8CC6-D8807540061D}" type="par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F624114-D0F6-4468-B3D2-38948A17DC0E}" type="sibTrans" cxnId="{1B76BF6E-B58C-43DD-ABD1-393617A9515D}">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C47DCA6-96CD-4A2C-B62F-8CC71D8C8E12}">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传送数据之前不需要先建立连接</a:t>
          </a:r>
        </a:p>
      </dgm:t>
    </dgm:pt>
    <dgm:pt modelId="{BA4E6060-3E02-4DC9-999E-664C75AD2B17}" type="par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9E651337-55A0-4BC4-9468-6DF1B9931A2F}" type="sibTrans" cxnId="{19202F06-C0A8-40BF-8887-E7FE766C333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62B41182-6C2B-4ED8-86B0-330C06986AB9}">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收到 </a:t>
          </a:r>
          <a:r>
            <a:rPr lang="en-US" altLang="en-US" sz="1600" b="0" dirty="0">
              <a:latin typeface="微软雅黑" panose="020B0503020204020204" pitchFamily="34" charset="-122"/>
              <a:ea typeface="微软雅黑" panose="020B0503020204020204" pitchFamily="34" charset="-122"/>
            </a:rPr>
            <a:t>UDP </a:t>
          </a:r>
          <a:r>
            <a:rPr lang="zh-CN" altLang="en-US" sz="1600" b="0" dirty="0">
              <a:latin typeface="微软雅黑" panose="020B0503020204020204" pitchFamily="34" charset="-122"/>
              <a:ea typeface="微软雅黑" panose="020B0503020204020204" pitchFamily="34" charset="-122"/>
            </a:rPr>
            <a:t>报后，不需要确认</a:t>
          </a:r>
        </a:p>
      </dgm:t>
    </dgm:pt>
    <dgm:pt modelId="{14660C25-94E9-44AA-8120-86B7535088DC}" type="par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6C2EA0F-7C5D-48A1-939A-F6DC2EAF8E49}" type="sibTrans" cxnId="{D3F3DB79-2D41-47CA-8548-09ECF5FD47D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A66170F-1B7D-4E19-B7BD-4417131220A6}">
      <dgm:prSet phldrT="[文本]" custT="1"/>
      <dgm:spPr>
        <a:solidFill>
          <a:srgbClr val="9BBB59"/>
        </a:solidFill>
      </dgm:spPr>
      <dgm:t>
        <a:bodyPr/>
        <a:lstStyle/>
        <a:p>
          <a:r>
            <a:rPr lang="en-US" altLang="zh-CN" sz="1800" b="1" dirty="0">
              <a:latin typeface="微软雅黑" panose="020B0503020204020204" pitchFamily="34" charset="-122"/>
              <a:ea typeface="微软雅黑" panose="020B0503020204020204" pitchFamily="34" charset="-122"/>
            </a:rPr>
            <a:t>TCP</a:t>
          </a:r>
          <a:endParaRPr lang="zh-CN" altLang="en-US" sz="1800" b="1" dirty="0">
            <a:latin typeface="微软雅黑" panose="020B0503020204020204" pitchFamily="34" charset="-122"/>
            <a:ea typeface="微软雅黑" panose="020B0503020204020204" pitchFamily="34" charset="-122"/>
          </a:endParaRPr>
        </a:p>
      </dgm:t>
    </dgm:pt>
    <dgm:pt modelId="{06BA1478-58FB-4D43-BF44-9A355D9E65BD}" type="par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1E75602-6CB5-4223-93A0-FA12226535A1}" type="sibTrans" cxnId="{FF770F7E-D93D-4DE8-9457-9F05FD2C318C}">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7807EAE-F440-4658-B827-5A1F27B59CA8}">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提供可靠的、面向连接的运输服务</a:t>
          </a:r>
        </a:p>
      </dgm:t>
    </dgm:pt>
    <dgm:pt modelId="{4C79C7E3-84BC-4917-A660-55DC2889DDFE}" type="par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3093545-D9A0-40EC-9533-504A4E4F3697}" type="sibTrans" cxnId="{0206AF9E-0AA2-401E-A57A-3788F874CBA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E4C76DC-1E47-45AB-BE80-0358F9AAF2BB}">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不提供广播或多播服务</a:t>
          </a:r>
        </a:p>
      </dgm:t>
    </dgm:pt>
    <dgm:pt modelId="{A37EC585-898F-4A6A-A6D3-CCBF473A8093}" type="par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03978C8-2BEF-4B29-BD68-9757A4000D0F}" type="sibTrans" cxnId="{7A925762-4E87-4156-84DA-A16DF7BB27F4}">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F4EEA15-2E9E-47C9-AF1B-1FA23A7F9F5C}">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不提供可靠交付</a:t>
          </a:r>
        </a:p>
      </dgm:t>
    </dgm:pt>
    <dgm:pt modelId="{88C0A744-4143-491F-A5CD-918E86655471}" type="parTrans" cxnId="{A0F5CD58-7D66-4E31-8BE8-9A8140F8DDDE}">
      <dgm:prSet/>
      <dgm:spPr/>
      <dgm:t>
        <a:bodyPr/>
        <a:lstStyle/>
        <a:p>
          <a:endParaRPr lang="zh-CN" altLang="en-US"/>
        </a:p>
      </dgm:t>
    </dgm:pt>
    <dgm:pt modelId="{11767EBD-491B-430F-93EF-1FCFBD1DD6C2}" type="sibTrans" cxnId="{A0F5CD58-7D66-4E31-8BE8-9A8140F8DDDE}">
      <dgm:prSet/>
      <dgm:spPr/>
      <dgm:t>
        <a:bodyPr/>
        <a:lstStyle/>
        <a:p>
          <a:endParaRPr lang="zh-CN" altLang="en-US"/>
        </a:p>
      </dgm:t>
    </dgm:pt>
    <dgm:pt modelId="{6BB890E6-C93F-4FDE-8B20-12E45554DE2D}">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开销较多</a:t>
          </a:r>
        </a:p>
      </dgm:t>
    </dgm:pt>
    <dgm:pt modelId="{E2FD646B-AB14-4F5F-B1AA-B554A5CD8FD7}" type="parTrans" cxnId="{69177F15-D5F8-42DD-B545-C8F48846BCD7}">
      <dgm:prSet/>
      <dgm:spPr/>
      <dgm:t>
        <a:bodyPr/>
        <a:lstStyle/>
        <a:p>
          <a:endParaRPr lang="zh-CN" altLang="en-US"/>
        </a:p>
      </dgm:t>
    </dgm:pt>
    <dgm:pt modelId="{2528E0E1-90EC-425F-A7EF-C5EBCC899327}" type="sibTrans" cxnId="{69177F15-D5F8-42DD-B545-C8F48846BCD7}">
      <dgm:prSet/>
      <dgm:spPr/>
      <dgm:t>
        <a:bodyPr/>
        <a:lstStyle/>
        <a:p>
          <a:endParaRPr lang="zh-CN" altLang="en-US"/>
        </a:p>
      </dgm:t>
    </dgm:pt>
    <dgm:pt modelId="{CBA26ECA-C7B3-4A78-B984-ACD88FA53B11}">
      <dgm:prSet phldrT="[文本]" custT="1"/>
      <dgm:spPr>
        <a:solidFill>
          <a:schemeClr val="bg1">
            <a:alpha val="90000"/>
          </a:schemeClr>
        </a:solidFill>
      </dgm:spPr>
      <dgm:t>
        <a:bodyPr/>
        <a:lstStyle/>
        <a:p>
          <a:r>
            <a:rPr lang="zh-CN" altLang="en-US" sz="1600" b="0" dirty="0">
              <a:latin typeface="微软雅黑" panose="020B0503020204020204" pitchFamily="34" charset="-122"/>
              <a:ea typeface="微软雅黑" panose="020B0503020204020204" pitchFamily="34" charset="-122"/>
            </a:rPr>
            <a:t>有效的工作方式</a:t>
          </a:r>
        </a:p>
      </dgm:t>
    </dgm:pt>
    <dgm:pt modelId="{383BD263-4825-4DCA-8A6E-10220A321191}" type="parTrans" cxnId="{01342211-C592-4633-933C-1445F425ED10}">
      <dgm:prSet/>
      <dgm:spPr/>
      <dgm:t>
        <a:bodyPr/>
        <a:lstStyle/>
        <a:p>
          <a:endParaRPr lang="zh-CN" altLang="en-US"/>
        </a:p>
      </dgm:t>
    </dgm:pt>
    <dgm:pt modelId="{499946FF-271C-45F0-92AD-7DC72345F790}" type="sibTrans" cxnId="{01342211-C592-4633-933C-1445F425ED10}">
      <dgm:prSet/>
      <dgm:spPr/>
      <dgm:t>
        <a:bodyPr/>
        <a:lstStyle/>
        <a:p>
          <a:endParaRPr lang="zh-CN" altLang="en-US"/>
        </a:p>
      </dgm:t>
    </dgm:pt>
    <dgm:pt modelId="{DE876C50-400B-4C67-BF7B-A3BDE0F7CC3A}" type="pres">
      <dgm:prSet presAssocID="{D0C10DAB-C322-41A1-8658-7422865E490A}" presName="Name0" presStyleCnt="0">
        <dgm:presLayoutVars>
          <dgm:dir/>
          <dgm:animLvl val="lvl"/>
          <dgm:resizeHandles val="exact"/>
        </dgm:presLayoutVars>
      </dgm:prSet>
      <dgm:spPr/>
    </dgm:pt>
    <dgm:pt modelId="{42F4FCBB-D76E-47E8-A477-0D70F2776DF9}" type="pres">
      <dgm:prSet presAssocID="{3075A9A9-DD2E-4ACB-A0C6-88FAC2CB324D}" presName="composite" presStyleCnt="0"/>
      <dgm:spPr/>
    </dgm:pt>
    <dgm:pt modelId="{1E36D97B-D0F6-4762-BF60-A7904357B6F6}" type="pres">
      <dgm:prSet presAssocID="{3075A9A9-DD2E-4ACB-A0C6-88FAC2CB324D}" presName="parTx" presStyleLbl="alignNode1" presStyleIdx="0" presStyleCnt="2">
        <dgm:presLayoutVars>
          <dgm:chMax val="0"/>
          <dgm:chPref val="0"/>
          <dgm:bulletEnabled val="1"/>
        </dgm:presLayoutVars>
      </dgm:prSet>
      <dgm:spPr/>
    </dgm:pt>
    <dgm:pt modelId="{81374FB4-E28E-4844-BBFA-75610456881B}" type="pres">
      <dgm:prSet presAssocID="{3075A9A9-DD2E-4ACB-A0C6-88FAC2CB324D}" presName="desTx" presStyleLbl="alignAccFollowNode1" presStyleIdx="0" presStyleCnt="2">
        <dgm:presLayoutVars>
          <dgm:bulletEnabled val="1"/>
        </dgm:presLayoutVars>
      </dgm:prSet>
      <dgm:spPr/>
    </dgm:pt>
    <dgm:pt modelId="{213495E3-C14A-4543-A860-9E76BFAFB119}" type="pres">
      <dgm:prSet presAssocID="{5F624114-D0F6-4468-B3D2-38948A17DC0E}" presName="space" presStyleCnt="0"/>
      <dgm:spPr/>
    </dgm:pt>
    <dgm:pt modelId="{D3AF8276-52BD-4521-9B9D-F338C7E38BEC}" type="pres">
      <dgm:prSet presAssocID="{2A66170F-1B7D-4E19-B7BD-4417131220A6}" presName="composite" presStyleCnt="0"/>
      <dgm:spPr/>
    </dgm:pt>
    <dgm:pt modelId="{71294ECD-550A-476F-A96D-56F889AD84F9}" type="pres">
      <dgm:prSet presAssocID="{2A66170F-1B7D-4E19-B7BD-4417131220A6}" presName="parTx" presStyleLbl="alignNode1" presStyleIdx="1" presStyleCnt="2">
        <dgm:presLayoutVars>
          <dgm:chMax val="0"/>
          <dgm:chPref val="0"/>
          <dgm:bulletEnabled val="1"/>
        </dgm:presLayoutVars>
      </dgm:prSet>
      <dgm:spPr/>
    </dgm:pt>
    <dgm:pt modelId="{45D2AA96-01C3-4DB8-BDEC-FDACF0C5239B}" type="pres">
      <dgm:prSet presAssocID="{2A66170F-1B7D-4E19-B7BD-4417131220A6}" presName="desTx" presStyleLbl="alignAccFollowNode1" presStyleIdx="1" presStyleCnt="2">
        <dgm:presLayoutVars>
          <dgm:bulletEnabled val="1"/>
        </dgm:presLayoutVars>
      </dgm:prSet>
      <dgm:spPr/>
    </dgm:pt>
  </dgm:ptLst>
  <dgm:cxnLst>
    <dgm:cxn modelId="{19202F06-C0A8-40BF-8887-E7FE766C333C}" srcId="{3075A9A9-DD2E-4ACB-A0C6-88FAC2CB324D}" destId="{DC47DCA6-96CD-4A2C-B62F-8CC71D8C8E12}" srcOrd="0" destOrd="0" parTransId="{BA4E6060-3E02-4DC9-999E-664C75AD2B17}" sibTransId="{9E651337-55A0-4BC4-9468-6DF1B9931A2F}"/>
    <dgm:cxn modelId="{56BBA20B-548D-44B9-8BF7-2807E2FE840B}" type="presOf" srcId="{2A66170F-1B7D-4E19-B7BD-4417131220A6}" destId="{71294ECD-550A-476F-A96D-56F889AD84F9}" srcOrd="0" destOrd="0" presId="urn:microsoft.com/office/officeart/2005/8/layout/hList1"/>
    <dgm:cxn modelId="{A9063E10-8BD5-4A2C-9F88-B48BA07AF79A}" type="presOf" srcId="{6BB890E6-C93F-4FDE-8B20-12E45554DE2D}" destId="{45D2AA96-01C3-4DB8-BDEC-FDACF0C5239B}" srcOrd="0" destOrd="2" presId="urn:microsoft.com/office/officeart/2005/8/layout/hList1"/>
    <dgm:cxn modelId="{01342211-C592-4633-933C-1445F425ED10}" srcId="{3075A9A9-DD2E-4ACB-A0C6-88FAC2CB324D}" destId="{CBA26ECA-C7B3-4A78-B984-ACD88FA53B11}" srcOrd="3" destOrd="0" parTransId="{383BD263-4825-4DCA-8A6E-10220A321191}" sibTransId="{499946FF-271C-45F0-92AD-7DC72345F790}"/>
    <dgm:cxn modelId="{69177F15-D5F8-42DD-B545-C8F48846BCD7}" srcId="{2A66170F-1B7D-4E19-B7BD-4417131220A6}" destId="{6BB890E6-C93F-4FDE-8B20-12E45554DE2D}" srcOrd="2" destOrd="0" parTransId="{E2FD646B-AB14-4F5F-B1AA-B554A5CD8FD7}" sibTransId="{2528E0E1-90EC-425F-A7EF-C5EBCC899327}"/>
    <dgm:cxn modelId="{CF82A724-BF8B-4C07-82B8-D8881DD39949}" type="presOf" srcId="{3075A9A9-DD2E-4ACB-A0C6-88FAC2CB324D}" destId="{1E36D97B-D0F6-4762-BF60-A7904357B6F6}" srcOrd="0" destOrd="0" presId="urn:microsoft.com/office/officeart/2005/8/layout/hList1"/>
    <dgm:cxn modelId="{7A925762-4E87-4156-84DA-A16DF7BB27F4}" srcId="{2A66170F-1B7D-4E19-B7BD-4417131220A6}" destId="{7E4C76DC-1E47-45AB-BE80-0358F9AAF2BB}" srcOrd="1" destOrd="0" parTransId="{A37EC585-898F-4A6A-A6D3-CCBF473A8093}" sibTransId="{003978C8-2BEF-4B29-BD68-9757A4000D0F}"/>
    <dgm:cxn modelId="{1B76BF6E-B58C-43DD-ABD1-393617A9515D}" srcId="{D0C10DAB-C322-41A1-8658-7422865E490A}" destId="{3075A9A9-DD2E-4ACB-A0C6-88FAC2CB324D}" srcOrd="0" destOrd="0" parTransId="{134ADAE1-C064-4534-8CC6-D8807540061D}" sibTransId="{5F624114-D0F6-4468-B3D2-38948A17DC0E}"/>
    <dgm:cxn modelId="{A0F5CD58-7D66-4E31-8BE8-9A8140F8DDDE}" srcId="{3075A9A9-DD2E-4ACB-A0C6-88FAC2CB324D}" destId="{7F4EEA15-2E9E-47C9-AF1B-1FA23A7F9F5C}" srcOrd="2" destOrd="0" parTransId="{88C0A744-4143-491F-A5CD-918E86655471}" sibTransId="{11767EBD-491B-430F-93EF-1FCFBD1DD6C2}"/>
    <dgm:cxn modelId="{D3F3DB79-2D41-47CA-8548-09ECF5FD47DB}" srcId="{3075A9A9-DD2E-4ACB-A0C6-88FAC2CB324D}" destId="{62B41182-6C2B-4ED8-86B0-330C06986AB9}" srcOrd="1" destOrd="0" parTransId="{14660C25-94E9-44AA-8120-86B7535088DC}" sibTransId="{76C2EA0F-7C5D-48A1-939A-F6DC2EAF8E49}"/>
    <dgm:cxn modelId="{FF770F7E-D93D-4DE8-9457-9F05FD2C318C}" srcId="{D0C10DAB-C322-41A1-8658-7422865E490A}" destId="{2A66170F-1B7D-4E19-B7BD-4417131220A6}" srcOrd="1" destOrd="0" parTransId="{06BA1478-58FB-4D43-BF44-9A355D9E65BD}" sibTransId="{21E75602-6CB5-4223-93A0-FA12226535A1}"/>
    <dgm:cxn modelId="{D244EB88-696E-40BA-B388-666EF06B1575}" type="presOf" srcId="{DC47DCA6-96CD-4A2C-B62F-8CC71D8C8E12}" destId="{81374FB4-E28E-4844-BBFA-75610456881B}" srcOrd="0" destOrd="0" presId="urn:microsoft.com/office/officeart/2005/8/layout/hList1"/>
    <dgm:cxn modelId="{0206AF9E-0AA2-401E-A57A-3788F874CBA8}" srcId="{2A66170F-1B7D-4E19-B7BD-4417131220A6}" destId="{D7807EAE-F440-4658-B827-5A1F27B59CA8}" srcOrd="0" destOrd="0" parTransId="{4C79C7E3-84BC-4917-A660-55DC2889DDFE}" sibTransId="{D3093545-D9A0-40EC-9533-504A4E4F3697}"/>
    <dgm:cxn modelId="{7014E3B2-AC2F-4E5C-BA53-9F75842E2605}" type="presOf" srcId="{CBA26ECA-C7B3-4A78-B984-ACD88FA53B11}" destId="{81374FB4-E28E-4844-BBFA-75610456881B}" srcOrd="0" destOrd="3" presId="urn:microsoft.com/office/officeart/2005/8/layout/hList1"/>
    <dgm:cxn modelId="{219A75B4-3B21-4EC2-887E-AA87C2A792B0}" type="presOf" srcId="{D7807EAE-F440-4658-B827-5A1F27B59CA8}" destId="{45D2AA96-01C3-4DB8-BDEC-FDACF0C5239B}" srcOrd="0" destOrd="0" presId="urn:microsoft.com/office/officeart/2005/8/layout/hList1"/>
    <dgm:cxn modelId="{F0EF6BBD-F780-40B8-83BA-E52CB6A6E7D4}" type="presOf" srcId="{62B41182-6C2B-4ED8-86B0-330C06986AB9}" destId="{81374FB4-E28E-4844-BBFA-75610456881B}" srcOrd="0" destOrd="1" presId="urn:microsoft.com/office/officeart/2005/8/layout/hList1"/>
    <dgm:cxn modelId="{496DBFC5-ADDF-4EF7-B5EB-3F50DAA61EFC}" type="presOf" srcId="{7F4EEA15-2E9E-47C9-AF1B-1FA23A7F9F5C}" destId="{81374FB4-E28E-4844-BBFA-75610456881B}" srcOrd="0" destOrd="2" presId="urn:microsoft.com/office/officeart/2005/8/layout/hList1"/>
    <dgm:cxn modelId="{FC9686D4-C57A-4E87-BC03-70CE77BD83EE}" type="presOf" srcId="{D0C10DAB-C322-41A1-8658-7422865E490A}" destId="{DE876C50-400B-4C67-BF7B-A3BDE0F7CC3A}" srcOrd="0" destOrd="0" presId="urn:microsoft.com/office/officeart/2005/8/layout/hList1"/>
    <dgm:cxn modelId="{410A7EFB-3D04-4D32-ADAD-DB37BDCF08EA}" type="presOf" srcId="{7E4C76DC-1E47-45AB-BE80-0358F9AAF2BB}" destId="{45D2AA96-01C3-4DB8-BDEC-FDACF0C5239B}" srcOrd="0" destOrd="1" presId="urn:microsoft.com/office/officeart/2005/8/layout/hList1"/>
    <dgm:cxn modelId="{E653A648-1832-4D3A-B30F-463D8A5CDC1B}" type="presParOf" srcId="{DE876C50-400B-4C67-BF7B-A3BDE0F7CC3A}" destId="{42F4FCBB-D76E-47E8-A477-0D70F2776DF9}" srcOrd="0" destOrd="0" presId="urn:microsoft.com/office/officeart/2005/8/layout/hList1"/>
    <dgm:cxn modelId="{41A76362-7E27-4B13-AD4A-9651BDBA0E08}" type="presParOf" srcId="{42F4FCBB-D76E-47E8-A477-0D70F2776DF9}" destId="{1E36D97B-D0F6-4762-BF60-A7904357B6F6}" srcOrd="0" destOrd="0" presId="urn:microsoft.com/office/officeart/2005/8/layout/hList1"/>
    <dgm:cxn modelId="{C9B1AC32-FF34-4087-85E1-46FB57989DE3}" type="presParOf" srcId="{42F4FCBB-D76E-47E8-A477-0D70F2776DF9}" destId="{81374FB4-E28E-4844-BBFA-75610456881B}" srcOrd="1" destOrd="0" presId="urn:microsoft.com/office/officeart/2005/8/layout/hList1"/>
    <dgm:cxn modelId="{0AD10E8D-1E67-4109-899E-87E9CF86C77D}" type="presParOf" srcId="{DE876C50-400B-4C67-BF7B-A3BDE0F7CC3A}" destId="{213495E3-C14A-4543-A860-9E76BFAFB119}" srcOrd="1" destOrd="0" presId="urn:microsoft.com/office/officeart/2005/8/layout/hList1"/>
    <dgm:cxn modelId="{E77936ED-B943-4183-888F-A45F2660EC99}" type="presParOf" srcId="{DE876C50-400B-4C67-BF7B-A3BDE0F7CC3A}" destId="{D3AF8276-52BD-4521-9B9D-F338C7E38BEC}" srcOrd="2" destOrd="0" presId="urn:microsoft.com/office/officeart/2005/8/layout/hList1"/>
    <dgm:cxn modelId="{C308F207-F28B-4450-BB83-A342D0C1583A}" type="presParOf" srcId="{D3AF8276-52BD-4521-9B9D-F338C7E38BEC}" destId="{71294ECD-550A-476F-A96D-56F889AD84F9}" srcOrd="0" destOrd="0" presId="urn:microsoft.com/office/officeart/2005/8/layout/hList1"/>
    <dgm:cxn modelId="{E2098CA0-0A0E-4689-9772-66210B88B591}" type="presParOf" srcId="{D3AF8276-52BD-4521-9B9D-F338C7E38BEC}" destId="{45D2AA96-01C3-4DB8-BDEC-FDACF0C5239B}"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4AD03C-1C75-4B8A-A257-13A36496BE0E}" type="doc">
      <dgm:prSet loTypeId="urn:microsoft.com/office/officeart/2005/8/layout/vList2" loCatId="list" qsTypeId="urn:microsoft.com/office/officeart/2005/8/quickstyle/simple3" qsCatId="simple" csTypeId="urn:microsoft.com/office/officeart/2005/8/colors/colorful5" csCatId="colorful" phldr="1"/>
      <dgm:spPr/>
      <dgm:t>
        <a:bodyPr/>
        <a:lstStyle/>
        <a:p>
          <a:endParaRPr lang="zh-CN" altLang="en-US"/>
        </a:p>
      </dgm:t>
    </dgm:pt>
    <dgm:pt modelId="{13BCED24-4096-4D95-BB59-1A2417AE9510}">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软件端口</a:t>
          </a:r>
        </a:p>
      </dgm:t>
    </dgm:pt>
    <dgm:pt modelId="{B378CA2A-F92D-4CA5-B587-28839AD79485}" type="par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DC7EF1-106C-4176-B053-AD0DC97C013E}" type="sibTrans" cxnId="{FBA9404E-14C2-49AE-B7B8-6E7D87C72F99}">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E97DE7A7-1FE9-436A-8279-0D6800531FF9}">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协议栈层间的</a:t>
          </a:r>
          <a:r>
            <a:rPr lang="zh-CN" altLang="en-US" sz="1800" b="1" dirty="0">
              <a:solidFill>
                <a:srgbClr val="C00000"/>
              </a:solidFill>
              <a:latin typeface="微软雅黑" panose="020B0503020204020204" pitchFamily="34" charset="-122"/>
              <a:ea typeface="微软雅黑" panose="020B0503020204020204" pitchFamily="34" charset="-122"/>
            </a:rPr>
            <a:t>抽象</a:t>
          </a:r>
          <a:r>
            <a:rPr lang="zh-CN" altLang="en-US" sz="1800" b="1" dirty="0">
              <a:latin typeface="微软雅黑" panose="020B0503020204020204" pitchFamily="34" charset="-122"/>
              <a:ea typeface="微软雅黑" panose="020B0503020204020204" pitchFamily="34" charset="-122"/>
            </a:rPr>
            <a:t>的协议端口。</a:t>
          </a:r>
        </a:p>
      </dgm:t>
    </dgm:pt>
    <dgm:pt modelId="{545878C0-AED5-48A0-A334-3F993F07AD58}" type="par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2C3CD3E4-2543-47DF-99B3-EB55CAFFA2EC}" type="sibTrans" cxnId="{055AD085-5B69-475B-8B94-523B02655748}">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8C99ACD2-4A47-4B21-A036-902EB77CF7CB}">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硬件端口</a:t>
          </a:r>
        </a:p>
      </dgm:t>
    </dgm:pt>
    <dgm:pt modelId="{AEA2AECB-9BB5-4E2F-99E5-B1AF2E10398B}" type="par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4D36EB6A-5038-4ECC-A9E9-B9D80013F6E8}" type="sibTrans" cxnId="{89469622-F54D-4383-A342-76CFE0A6942A}">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120660D5-C1AE-4A1C-9559-40532481D3D3}">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不同硬件</a:t>
          </a:r>
          <a:r>
            <a:rPr lang="zh-CN" altLang="en-US" sz="1800" b="1" dirty="0">
              <a:solidFill>
                <a:srgbClr val="C00000"/>
              </a:solidFill>
              <a:latin typeface="微软雅黑" panose="020B0503020204020204" pitchFamily="34" charset="-122"/>
              <a:ea typeface="微软雅黑" panose="020B0503020204020204" pitchFamily="34" charset="-122"/>
            </a:rPr>
            <a:t>设备</a:t>
          </a:r>
          <a:r>
            <a:rPr lang="zh-CN" altLang="en-US" sz="1800" b="1" dirty="0">
              <a:latin typeface="微软雅黑" panose="020B0503020204020204" pitchFamily="34" charset="-122"/>
              <a:ea typeface="微软雅黑" panose="020B0503020204020204" pitchFamily="34" charset="-122"/>
            </a:rPr>
            <a:t>进行</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的接口。</a:t>
          </a:r>
        </a:p>
      </dgm:t>
    </dgm:pt>
    <dgm:pt modelId="{420AEFAB-064F-436D-B8B2-8D683E498E64}" type="par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32737782-2094-48D0-ADCD-ECAF84F4BF05}" type="sibTrans" cxnId="{EAC7F3A6-021A-4D25-8E33-EC131B236F26}">
      <dgm:prSet/>
      <dgm:spPr/>
      <dgm:t>
        <a:bodyPr/>
        <a:lstStyle/>
        <a:p>
          <a:pPr>
            <a:lnSpc>
              <a:spcPts val="3000"/>
            </a:lnSpc>
            <a:spcBef>
              <a:spcPts val="0"/>
            </a:spcBef>
            <a:spcAft>
              <a:spcPts val="0"/>
            </a:spcAft>
          </a:pPr>
          <a:endParaRPr lang="zh-CN" altLang="en-US" sz="1600" b="1">
            <a:latin typeface="微软雅黑" panose="020B0503020204020204" pitchFamily="34" charset="-122"/>
            <a:ea typeface="微软雅黑" panose="020B0503020204020204" pitchFamily="34" charset="-122"/>
          </a:endParaRPr>
        </a:p>
      </dgm:t>
    </dgm:pt>
    <dgm:pt modelId="{BA0809C8-6B97-4A27-B726-56F1206ECA08}">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是应用层的各种协议</a:t>
          </a:r>
          <a:r>
            <a:rPr lang="zh-CN" altLang="en-US" sz="1800" b="1" dirty="0">
              <a:solidFill>
                <a:srgbClr val="C00000"/>
              </a:solidFill>
              <a:latin typeface="微软雅黑" panose="020B0503020204020204" pitchFamily="34" charset="-122"/>
              <a:ea typeface="微软雅黑" panose="020B0503020204020204" pitchFamily="34" charset="-122"/>
            </a:rPr>
            <a:t>进程</a:t>
          </a:r>
          <a:r>
            <a:rPr lang="zh-CN" altLang="en-US" sz="1800" b="1" dirty="0">
              <a:latin typeface="微软雅黑" panose="020B0503020204020204" pitchFamily="34" charset="-122"/>
              <a:ea typeface="微软雅黑" panose="020B0503020204020204" pitchFamily="34" charset="-122"/>
            </a:rPr>
            <a:t>与运输</a:t>
          </a:r>
          <a:r>
            <a:rPr lang="zh-CN" altLang="en-US" sz="1800" b="1" dirty="0">
              <a:solidFill>
                <a:srgbClr val="C00000"/>
              </a:solidFill>
              <a:latin typeface="微软雅黑" panose="020B0503020204020204" pitchFamily="34" charset="-122"/>
              <a:ea typeface="微软雅黑" panose="020B0503020204020204" pitchFamily="34" charset="-122"/>
            </a:rPr>
            <a:t>实体</a:t>
          </a:r>
          <a:r>
            <a:rPr lang="zh-CN" altLang="en-US" sz="1800" b="1" dirty="0">
              <a:latin typeface="微软雅黑" panose="020B0503020204020204" pitchFamily="34" charset="-122"/>
              <a:ea typeface="微软雅黑" panose="020B0503020204020204" pitchFamily="34" charset="-122"/>
            </a:rPr>
            <a:t>进行层间</a:t>
          </a:r>
          <a:r>
            <a:rPr lang="zh-CN" altLang="en-US" sz="1800" b="1" dirty="0">
              <a:solidFill>
                <a:srgbClr val="C00000"/>
              </a:solidFill>
              <a:latin typeface="微软雅黑" panose="020B0503020204020204" pitchFamily="34" charset="-122"/>
              <a:ea typeface="微软雅黑" panose="020B0503020204020204" pitchFamily="34" charset="-122"/>
            </a:rPr>
            <a:t>交互</a:t>
          </a:r>
          <a:r>
            <a:rPr lang="zh-CN" altLang="en-US" sz="1800" b="1" dirty="0">
              <a:latin typeface="微软雅黑" panose="020B0503020204020204" pitchFamily="34" charset="-122"/>
              <a:ea typeface="微软雅黑" panose="020B0503020204020204" pitchFamily="34" charset="-122"/>
            </a:rPr>
            <a:t>的地点。</a:t>
          </a:r>
        </a:p>
      </dgm:t>
    </dgm:pt>
    <dgm:pt modelId="{F1B82ECC-4D0C-4A85-A69C-268A9707C912}" type="parTrans" cxnId="{26121E0E-6011-4B09-A0AE-0728A295D5D4}">
      <dgm:prSet/>
      <dgm:spPr/>
      <dgm:t>
        <a:bodyPr/>
        <a:lstStyle/>
        <a:p>
          <a:pPr>
            <a:lnSpc>
              <a:spcPts val="3000"/>
            </a:lnSpc>
            <a:spcBef>
              <a:spcPts val="0"/>
            </a:spcBef>
            <a:spcAft>
              <a:spcPts val="0"/>
            </a:spcAft>
          </a:pPr>
          <a:endParaRPr lang="zh-CN" altLang="en-US" sz="1600"/>
        </a:p>
      </dgm:t>
    </dgm:pt>
    <dgm:pt modelId="{9E95C9D8-0F4D-48FC-9666-2E471E19A3AE}" type="sibTrans" cxnId="{26121E0E-6011-4B09-A0AE-0728A295D5D4}">
      <dgm:prSet/>
      <dgm:spPr/>
      <dgm:t>
        <a:bodyPr/>
        <a:lstStyle/>
        <a:p>
          <a:pPr>
            <a:lnSpc>
              <a:spcPts val="3000"/>
            </a:lnSpc>
            <a:spcBef>
              <a:spcPts val="0"/>
            </a:spcBef>
            <a:spcAft>
              <a:spcPts val="0"/>
            </a:spcAft>
          </a:pPr>
          <a:endParaRPr lang="zh-CN" altLang="en-US" sz="1600"/>
        </a:p>
      </dgm:t>
    </dgm:pt>
    <dgm:pt modelId="{0583638A-92F7-4F6B-B1ED-5BA4E801AA27}">
      <dgm:prSet phldrT="[文本]" custT="1"/>
      <dgm:spPr/>
      <dgm:t>
        <a:bodyPr/>
        <a:lstStyle/>
        <a:p>
          <a:pPr>
            <a:lnSpc>
              <a:spcPts val="3000"/>
            </a:lnSpc>
            <a:spcBef>
              <a:spcPts val="0"/>
            </a:spcBef>
            <a:spcAft>
              <a:spcPts val="0"/>
            </a:spcAft>
          </a:pPr>
          <a:r>
            <a:rPr lang="zh-CN" altLang="en-US" sz="1800" b="1" dirty="0">
              <a:latin typeface="微软雅黑" panose="020B0503020204020204" pitchFamily="34" charset="-122"/>
              <a:ea typeface="微软雅黑" panose="020B0503020204020204" pitchFamily="34" charset="-122"/>
            </a:rPr>
            <a:t>不同系统实现端口的方法可以不同。</a:t>
          </a:r>
        </a:p>
      </dgm:t>
    </dgm:pt>
    <dgm:pt modelId="{59BD5D79-1150-4488-B961-6DD67B917D89}" type="parTrans" cxnId="{03E8BBB5-EA19-4071-9A3C-C21329AF7D38}">
      <dgm:prSet/>
      <dgm:spPr/>
      <dgm:t>
        <a:bodyPr/>
        <a:lstStyle/>
        <a:p>
          <a:pPr>
            <a:lnSpc>
              <a:spcPts val="3000"/>
            </a:lnSpc>
          </a:pPr>
          <a:endParaRPr lang="zh-CN" altLang="en-US" sz="1600"/>
        </a:p>
      </dgm:t>
    </dgm:pt>
    <dgm:pt modelId="{C0234743-99CE-4444-B3BC-B79B431250E9}" type="sibTrans" cxnId="{03E8BBB5-EA19-4071-9A3C-C21329AF7D38}">
      <dgm:prSet/>
      <dgm:spPr/>
      <dgm:t>
        <a:bodyPr/>
        <a:lstStyle/>
        <a:p>
          <a:pPr>
            <a:lnSpc>
              <a:spcPts val="3000"/>
            </a:lnSpc>
          </a:pPr>
          <a:endParaRPr lang="zh-CN" altLang="en-US" sz="1600"/>
        </a:p>
      </dgm:t>
    </dgm:pt>
    <dgm:pt modelId="{C9ADDDC0-CA56-4FDB-86C5-3E95B594DA47}" type="pres">
      <dgm:prSet presAssocID="{104AD03C-1C75-4B8A-A257-13A36496BE0E}" presName="linear" presStyleCnt="0">
        <dgm:presLayoutVars>
          <dgm:animLvl val="lvl"/>
          <dgm:resizeHandles val="exact"/>
        </dgm:presLayoutVars>
      </dgm:prSet>
      <dgm:spPr/>
    </dgm:pt>
    <dgm:pt modelId="{9C10F1EF-CFB5-483B-9844-3B7759FDE926}" type="pres">
      <dgm:prSet presAssocID="{13BCED24-4096-4D95-BB59-1A2417AE9510}" presName="parentText" presStyleLbl="node1" presStyleIdx="0" presStyleCnt="2" custLinFactNeighborX="3821" custLinFactNeighborY="-4601">
        <dgm:presLayoutVars>
          <dgm:chMax val="0"/>
          <dgm:bulletEnabled val="1"/>
        </dgm:presLayoutVars>
      </dgm:prSet>
      <dgm:spPr/>
    </dgm:pt>
    <dgm:pt modelId="{2487C381-8EF1-485B-9441-46EEB8C1886B}" type="pres">
      <dgm:prSet presAssocID="{13BCED24-4096-4D95-BB59-1A2417AE9510}" presName="childText" presStyleLbl="revTx" presStyleIdx="0" presStyleCnt="2">
        <dgm:presLayoutVars>
          <dgm:bulletEnabled val="1"/>
        </dgm:presLayoutVars>
      </dgm:prSet>
      <dgm:spPr/>
    </dgm:pt>
    <dgm:pt modelId="{F24B62DD-54BA-47D1-83D7-96B45A39A82E}" type="pres">
      <dgm:prSet presAssocID="{8C99ACD2-4A47-4B21-A036-902EB77CF7CB}" presName="parentText" presStyleLbl="node1" presStyleIdx="1" presStyleCnt="2">
        <dgm:presLayoutVars>
          <dgm:chMax val="0"/>
          <dgm:bulletEnabled val="1"/>
        </dgm:presLayoutVars>
      </dgm:prSet>
      <dgm:spPr/>
    </dgm:pt>
    <dgm:pt modelId="{81781325-F072-4444-84B0-DFA10747A74F}" type="pres">
      <dgm:prSet presAssocID="{8C99ACD2-4A47-4B21-A036-902EB77CF7CB}" presName="childText" presStyleLbl="revTx" presStyleIdx="1" presStyleCnt="2">
        <dgm:presLayoutVars>
          <dgm:bulletEnabled val="1"/>
        </dgm:presLayoutVars>
      </dgm:prSet>
      <dgm:spPr/>
    </dgm:pt>
  </dgm:ptLst>
  <dgm:cxnLst>
    <dgm:cxn modelId="{26121E0E-6011-4B09-A0AE-0728A295D5D4}" srcId="{13BCED24-4096-4D95-BB59-1A2417AE9510}" destId="{BA0809C8-6B97-4A27-B726-56F1206ECA08}" srcOrd="1" destOrd="0" parTransId="{F1B82ECC-4D0C-4A85-A69C-268A9707C912}" sibTransId="{9E95C9D8-0F4D-48FC-9666-2E471E19A3AE}"/>
    <dgm:cxn modelId="{07D6D911-B85F-4E23-95A6-675277936701}" type="presOf" srcId="{104AD03C-1C75-4B8A-A257-13A36496BE0E}" destId="{C9ADDDC0-CA56-4FDB-86C5-3E95B594DA47}" srcOrd="0" destOrd="0" presId="urn:microsoft.com/office/officeart/2005/8/layout/vList2"/>
    <dgm:cxn modelId="{89469622-F54D-4383-A342-76CFE0A6942A}" srcId="{104AD03C-1C75-4B8A-A257-13A36496BE0E}" destId="{8C99ACD2-4A47-4B21-A036-902EB77CF7CB}" srcOrd="1" destOrd="0" parTransId="{AEA2AECB-9BB5-4E2F-99E5-B1AF2E10398B}" sibTransId="{4D36EB6A-5038-4ECC-A9E9-B9D80013F6E8}"/>
    <dgm:cxn modelId="{9C8C4731-D8D4-4BC3-B344-38512BD3B100}" type="presOf" srcId="{8C99ACD2-4A47-4B21-A036-902EB77CF7CB}" destId="{F24B62DD-54BA-47D1-83D7-96B45A39A82E}" srcOrd="0" destOrd="0" presId="urn:microsoft.com/office/officeart/2005/8/layout/vList2"/>
    <dgm:cxn modelId="{0147F531-CDCA-4F2C-92E7-822A420CED88}" type="presOf" srcId="{BA0809C8-6B97-4A27-B726-56F1206ECA08}" destId="{2487C381-8EF1-485B-9441-46EEB8C1886B}" srcOrd="0" destOrd="1" presId="urn:microsoft.com/office/officeart/2005/8/layout/vList2"/>
    <dgm:cxn modelId="{ECAF5460-1969-4586-8EA2-CDF3F3064C0E}" type="presOf" srcId="{13BCED24-4096-4D95-BB59-1A2417AE9510}" destId="{9C10F1EF-CFB5-483B-9844-3B7759FDE926}" srcOrd="0" destOrd="0" presId="urn:microsoft.com/office/officeart/2005/8/layout/vList2"/>
    <dgm:cxn modelId="{FBA9404E-14C2-49AE-B7B8-6E7D87C72F99}" srcId="{104AD03C-1C75-4B8A-A257-13A36496BE0E}" destId="{13BCED24-4096-4D95-BB59-1A2417AE9510}" srcOrd="0" destOrd="0" parTransId="{B378CA2A-F92D-4CA5-B587-28839AD79485}" sibTransId="{BADC7EF1-106C-4176-B053-AD0DC97C013E}"/>
    <dgm:cxn modelId="{021C7071-A411-4B1C-8213-A6F2D7397BD0}" type="presOf" srcId="{120660D5-C1AE-4A1C-9559-40532481D3D3}" destId="{81781325-F072-4444-84B0-DFA10747A74F}" srcOrd="0" destOrd="0" presId="urn:microsoft.com/office/officeart/2005/8/layout/vList2"/>
    <dgm:cxn modelId="{F8861C79-D164-44E4-9331-7D2F5BEF0A66}" type="presOf" srcId="{E97DE7A7-1FE9-436A-8279-0D6800531FF9}" destId="{2487C381-8EF1-485B-9441-46EEB8C1886B}" srcOrd="0" destOrd="0" presId="urn:microsoft.com/office/officeart/2005/8/layout/vList2"/>
    <dgm:cxn modelId="{055AD085-5B69-475B-8B94-523B02655748}" srcId="{13BCED24-4096-4D95-BB59-1A2417AE9510}" destId="{E97DE7A7-1FE9-436A-8279-0D6800531FF9}" srcOrd="0" destOrd="0" parTransId="{545878C0-AED5-48A0-A334-3F993F07AD58}" sibTransId="{2C3CD3E4-2543-47DF-99B3-EB55CAFFA2EC}"/>
    <dgm:cxn modelId="{EAC7F3A6-021A-4D25-8E33-EC131B236F26}" srcId="{8C99ACD2-4A47-4B21-A036-902EB77CF7CB}" destId="{120660D5-C1AE-4A1C-9559-40532481D3D3}" srcOrd="0" destOrd="0" parTransId="{420AEFAB-064F-436D-B8B2-8D683E498E64}" sibTransId="{32737782-2094-48D0-ADCD-ECAF84F4BF05}"/>
    <dgm:cxn modelId="{03E8BBB5-EA19-4071-9A3C-C21329AF7D38}" srcId="{13BCED24-4096-4D95-BB59-1A2417AE9510}" destId="{0583638A-92F7-4F6B-B1ED-5BA4E801AA27}" srcOrd="2" destOrd="0" parTransId="{59BD5D79-1150-4488-B961-6DD67B917D89}" sibTransId="{C0234743-99CE-4444-B3BC-B79B431250E9}"/>
    <dgm:cxn modelId="{B7A2C6ED-3688-45DF-B435-0079234F6441}" type="presOf" srcId="{0583638A-92F7-4F6B-B1ED-5BA4E801AA27}" destId="{2487C381-8EF1-485B-9441-46EEB8C1886B}" srcOrd="0" destOrd="2" presId="urn:microsoft.com/office/officeart/2005/8/layout/vList2"/>
    <dgm:cxn modelId="{533ECA1A-4BA7-416B-84E3-3EAA1411FE77}" type="presParOf" srcId="{C9ADDDC0-CA56-4FDB-86C5-3E95B594DA47}" destId="{9C10F1EF-CFB5-483B-9844-3B7759FDE926}" srcOrd="0" destOrd="0" presId="urn:microsoft.com/office/officeart/2005/8/layout/vList2"/>
    <dgm:cxn modelId="{C062389F-6E21-45F6-8921-26A4EA6A3889}" type="presParOf" srcId="{C9ADDDC0-CA56-4FDB-86C5-3E95B594DA47}" destId="{2487C381-8EF1-485B-9441-46EEB8C1886B}" srcOrd="1" destOrd="0" presId="urn:microsoft.com/office/officeart/2005/8/layout/vList2"/>
    <dgm:cxn modelId="{32841B28-552E-4B51-92EC-515B401FD141}" type="presParOf" srcId="{C9ADDDC0-CA56-4FDB-86C5-3E95B594DA47}" destId="{F24B62DD-54BA-47D1-83D7-96B45A39A82E}" srcOrd="2" destOrd="0" presId="urn:microsoft.com/office/officeart/2005/8/layout/vList2"/>
    <dgm:cxn modelId="{EC614032-2C37-42D7-ACDE-E77A4B55988C}" type="presParOf" srcId="{C9ADDDC0-CA56-4FDB-86C5-3E95B594DA47}" destId="{81781325-F072-4444-84B0-DFA10747A74F}"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58629DE-649B-4EB1-8AB5-333FFA185FC5}"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7670711-51FA-4CA7-A1F6-5DD30611F091}">
      <dgm:prSet phldrT="[文本]" custT="1"/>
      <dgm:spPr/>
      <dgm:t>
        <a:bodyPr/>
        <a:lstStyle/>
        <a:p>
          <a:r>
            <a:rPr lang="zh-CN" altLang="en-US" sz="1800" b="1" dirty="0">
              <a:latin typeface="微软雅黑" panose="020B0503020204020204" pitchFamily="34" charset="-122"/>
              <a:ea typeface="微软雅黑" panose="020B0503020204020204" pitchFamily="34" charset="-122"/>
            </a:rPr>
            <a:t>优点</a:t>
          </a:r>
        </a:p>
      </dgm:t>
    </dgm:pt>
    <dgm:pt modelId="{837FFAB1-AE50-491A-95BA-57C47683C122}" type="par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1B3A3E75-AB55-4656-8514-E6B9A254AC17}" type="sibTrans" cxnId="{D562945D-4A2A-4F4B-8B5B-33CDF058F3EF}">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FF931C1-E237-48FE-832A-306188408C80}">
      <dgm:prSet phldrT="[文本]" custT="1"/>
      <dgm:spPr/>
      <dgm:t>
        <a:bodyPr/>
        <a:lstStyle/>
        <a:p>
          <a:r>
            <a:rPr lang="zh-CN" altLang="en-US" sz="1800" b="1" dirty="0">
              <a:latin typeface="微软雅黑" panose="020B0503020204020204" pitchFamily="34" charset="-122"/>
              <a:ea typeface="微软雅黑" panose="020B0503020204020204" pitchFamily="34" charset="-122"/>
            </a:rPr>
            <a:t>容易实现，即使确认丢失也不必重传。</a:t>
          </a:r>
        </a:p>
      </dgm:t>
    </dgm:pt>
    <dgm:pt modelId="{670764A7-F9E9-436B-A984-E0B47A956ABA}" type="par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2B0E522F-2BCD-43D1-B8E9-5D7C22E5A569}" type="sibTrans" cxnId="{42A4B9EE-396E-4188-B8BA-842E030279B7}">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18EC68-061C-4D58-82C9-348641BCBA19}">
      <dgm:prSet phldrT="[文本]" custT="1"/>
      <dgm:spPr/>
      <dgm:t>
        <a:bodyPr/>
        <a:lstStyle/>
        <a:p>
          <a:r>
            <a:rPr lang="zh-CN" altLang="en-US" sz="1800" b="1" dirty="0">
              <a:latin typeface="微软雅黑" panose="020B0503020204020204" pitchFamily="34" charset="-122"/>
              <a:ea typeface="微软雅黑" panose="020B0503020204020204" pitchFamily="34" charset="-122"/>
            </a:rPr>
            <a:t>缺点</a:t>
          </a:r>
        </a:p>
      </dgm:t>
    </dgm:pt>
    <dgm:pt modelId="{1B6B8DC7-606B-4CCC-BB50-1B246A3511F3}" type="par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A30CA18-94A7-4AEB-8557-8081699B2010}" type="sibTrans" cxnId="{79EB6A16-C89F-4860-A352-FD7C7EC795C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0ECE5D7B-2AA1-44DB-9DB6-183262D592C7}">
      <dgm:prSet phldrT="[文本]" custT="1"/>
      <dgm:spPr/>
      <dgm:t>
        <a:bodyPr/>
        <a:lstStyle/>
        <a:p>
          <a:r>
            <a:rPr lang="zh-CN" altLang="en-US" sz="1800" b="1" dirty="0">
              <a:latin typeface="微软雅黑" panose="020B0503020204020204" pitchFamily="34" charset="-122"/>
              <a:ea typeface="微软雅黑" panose="020B0503020204020204" pitchFamily="34" charset="-122"/>
            </a:rPr>
            <a:t>不能向发送方反映出接收方已经正确收到的所有分组的信息。</a:t>
          </a:r>
        </a:p>
      </dgm:t>
    </dgm:pt>
    <dgm:pt modelId="{47FF6F4E-D461-4089-B7B9-7456FA0CE972}" type="par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5DFF412-CBF7-4CA1-B397-ADAA67FE182C}" type="sibTrans" cxnId="{F38771FE-2226-49DD-8F85-6A1535BA0119}">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DFD159-FE4F-4210-8329-3F9EEBE4C07E}" type="pres">
      <dgm:prSet presAssocID="{E58629DE-649B-4EB1-8AB5-333FFA185FC5}" presName="linear" presStyleCnt="0">
        <dgm:presLayoutVars>
          <dgm:animLvl val="lvl"/>
          <dgm:resizeHandles val="exact"/>
        </dgm:presLayoutVars>
      </dgm:prSet>
      <dgm:spPr/>
    </dgm:pt>
    <dgm:pt modelId="{33B224D6-3FF2-46C4-8268-9A5307B6CCA2}" type="pres">
      <dgm:prSet presAssocID="{17670711-51FA-4CA7-A1F6-5DD30611F091}" presName="parentText" presStyleLbl="node1" presStyleIdx="0" presStyleCnt="2" custScaleY="65789">
        <dgm:presLayoutVars>
          <dgm:chMax val="0"/>
          <dgm:bulletEnabled val="1"/>
        </dgm:presLayoutVars>
      </dgm:prSet>
      <dgm:spPr/>
    </dgm:pt>
    <dgm:pt modelId="{769DA413-89B9-4221-A6BC-35722015CED6}" type="pres">
      <dgm:prSet presAssocID="{17670711-51FA-4CA7-A1F6-5DD30611F091}" presName="childText" presStyleLbl="revTx" presStyleIdx="0" presStyleCnt="2">
        <dgm:presLayoutVars>
          <dgm:bulletEnabled val="1"/>
        </dgm:presLayoutVars>
      </dgm:prSet>
      <dgm:spPr/>
    </dgm:pt>
    <dgm:pt modelId="{22292CD0-ACC3-4A3E-B075-1AF230BC97FF}" type="pres">
      <dgm:prSet presAssocID="{0E18EC68-061C-4D58-82C9-348641BCBA19}" presName="parentText" presStyleLbl="node1" presStyleIdx="1" presStyleCnt="2" custScaleY="65789">
        <dgm:presLayoutVars>
          <dgm:chMax val="0"/>
          <dgm:bulletEnabled val="1"/>
        </dgm:presLayoutVars>
      </dgm:prSet>
      <dgm:spPr/>
    </dgm:pt>
    <dgm:pt modelId="{CB9D41E1-F2ED-4448-86ED-9FD25B52E29B}" type="pres">
      <dgm:prSet presAssocID="{0E18EC68-061C-4D58-82C9-348641BCBA19}" presName="childText" presStyleLbl="revTx" presStyleIdx="1" presStyleCnt="2">
        <dgm:presLayoutVars>
          <dgm:bulletEnabled val="1"/>
        </dgm:presLayoutVars>
      </dgm:prSet>
      <dgm:spPr/>
    </dgm:pt>
  </dgm:ptLst>
  <dgm:cxnLst>
    <dgm:cxn modelId="{79EB6A16-C89F-4860-A352-FD7C7EC795CA}" srcId="{E58629DE-649B-4EB1-8AB5-333FFA185FC5}" destId="{0E18EC68-061C-4D58-82C9-348641BCBA19}" srcOrd="1" destOrd="0" parTransId="{1B6B8DC7-606B-4CCC-BB50-1B246A3511F3}" sibTransId="{EA30CA18-94A7-4AEB-8557-8081699B2010}"/>
    <dgm:cxn modelId="{D562945D-4A2A-4F4B-8B5B-33CDF058F3EF}" srcId="{E58629DE-649B-4EB1-8AB5-333FFA185FC5}" destId="{17670711-51FA-4CA7-A1F6-5DD30611F091}" srcOrd="0" destOrd="0" parTransId="{837FFAB1-AE50-491A-95BA-57C47683C122}" sibTransId="{1B3A3E75-AB55-4656-8514-E6B9A254AC17}"/>
    <dgm:cxn modelId="{40843663-2859-450B-9690-312A01A4364F}" type="presOf" srcId="{0E18EC68-061C-4D58-82C9-348641BCBA19}" destId="{22292CD0-ACC3-4A3E-B075-1AF230BC97FF}" srcOrd="0" destOrd="0" presId="urn:microsoft.com/office/officeart/2005/8/layout/vList2"/>
    <dgm:cxn modelId="{D9C72B59-CF77-4AA5-A3C2-3B59AC50C3BE}" type="presOf" srcId="{17670711-51FA-4CA7-A1F6-5DD30611F091}" destId="{33B224D6-3FF2-46C4-8268-9A5307B6CCA2}" srcOrd="0" destOrd="0" presId="urn:microsoft.com/office/officeart/2005/8/layout/vList2"/>
    <dgm:cxn modelId="{BEAD6A89-5190-405E-9797-D12F931F84CF}" type="presOf" srcId="{0ECE5D7B-2AA1-44DB-9DB6-183262D592C7}" destId="{CB9D41E1-F2ED-4448-86ED-9FD25B52E29B}" srcOrd="0" destOrd="0" presId="urn:microsoft.com/office/officeart/2005/8/layout/vList2"/>
    <dgm:cxn modelId="{5CABB98F-0430-4FBE-A4A6-44F6F6542A31}" type="presOf" srcId="{DFF931C1-E237-48FE-832A-306188408C80}" destId="{769DA413-89B9-4221-A6BC-35722015CED6}" srcOrd="0" destOrd="0" presId="urn:microsoft.com/office/officeart/2005/8/layout/vList2"/>
    <dgm:cxn modelId="{1FB1CFB4-2259-4A36-B013-D92E2EFF6AFC}" type="presOf" srcId="{E58629DE-649B-4EB1-8AB5-333FFA185FC5}" destId="{71DFD159-FE4F-4210-8329-3F9EEBE4C07E}" srcOrd="0" destOrd="0" presId="urn:microsoft.com/office/officeart/2005/8/layout/vList2"/>
    <dgm:cxn modelId="{42A4B9EE-396E-4188-B8BA-842E030279B7}" srcId="{17670711-51FA-4CA7-A1F6-5DD30611F091}" destId="{DFF931C1-E237-48FE-832A-306188408C80}" srcOrd="0" destOrd="0" parTransId="{670764A7-F9E9-436B-A984-E0B47A956ABA}" sibTransId="{2B0E522F-2BCD-43D1-B8E9-5D7C22E5A569}"/>
    <dgm:cxn modelId="{F38771FE-2226-49DD-8F85-6A1535BA0119}" srcId="{0E18EC68-061C-4D58-82C9-348641BCBA19}" destId="{0ECE5D7B-2AA1-44DB-9DB6-183262D592C7}" srcOrd="0" destOrd="0" parTransId="{47FF6F4E-D461-4089-B7B9-7456FA0CE972}" sibTransId="{D5DFF412-CBF7-4CA1-B397-ADAA67FE182C}"/>
    <dgm:cxn modelId="{EBD25F5D-9456-4C92-A167-65664FA2A62C}" type="presParOf" srcId="{71DFD159-FE4F-4210-8329-3F9EEBE4C07E}" destId="{33B224D6-3FF2-46C4-8268-9A5307B6CCA2}" srcOrd="0" destOrd="0" presId="urn:microsoft.com/office/officeart/2005/8/layout/vList2"/>
    <dgm:cxn modelId="{2466FA99-CBD1-46F3-96A2-88006BE3CAFF}" type="presParOf" srcId="{71DFD159-FE4F-4210-8329-3F9EEBE4C07E}" destId="{769DA413-89B9-4221-A6BC-35722015CED6}" srcOrd="1" destOrd="0" presId="urn:microsoft.com/office/officeart/2005/8/layout/vList2"/>
    <dgm:cxn modelId="{5178D59C-7D44-46B1-A182-8E20BCC471DC}" type="presParOf" srcId="{71DFD159-FE4F-4210-8329-3F9EEBE4C07E}" destId="{22292CD0-ACC3-4A3E-B075-1AF230BC97FF}" srcOrd="2" destOrd="0" presId="urn:microsoft.com/office/officeart/2005/8/layout/vList2"/>
    <dgm:cxn modelId="{794ACC4F-9FE8-4C1D-B7FE-0CA2E5BAAE1B}" type="presParOf" srcId="{71DFD159-FE4F-4210-8329-3F9EEBE4C07E}" destId="{CB9D41E1-F2ED-4448-86ED-9FD25B52E29B}"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600" b="0" dirty="0">
              <a:solidFill>
                <a:schemeClr val="bg1"/>
              </a:solidFill>
              <a:latin typeface="Montserrat" panose="00000500000000000000" pitchFamily="2" charset="0"/>
              <a:ea typeface="微软雅黑 Light" panose="020B0502040204020203" pitchFamily="34" charset="-122"/>
            </a:rPr>
            <a:t>1</a:t>
          </a:r>
          <a:r>
            <a:rPr lang="zh-CN" altLang="en-US" sz="1600" b="0" dirty="0">
              <a:solidFill>
                <a:schemeClr val="bg1"/>
              </a:solidFill>
              <a:latin typeface="Montserrat" panose="00000500000000000000" pitchFamily="2" charset="0"/>
              <a:ea typeface="微软雅黑 Light" panose="020B0502040204020203" pitchFamily="34" charset="-122"/>
            </a:rPr>
            <a:t>，监测</a:t>
          </a:r>
        </a:p>
      </dgm:t>
    </dgm:pt>
    <dgm:pt modelId="{44CB9315-4D10-4A42-8F72-3E9848B40F7E}" type="parTrans" cxnId="{5FFBF780-EF82-4C7B-B65D-7D169A22BC08}">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59F111A3-8B10-4CBC-8988-6D6887B08325}" type="sibTrans" cxnId="{5FFBF780-EF82-4C7B-B65D-7D169A22BC08}">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4B1C92E2-7636-49C1-BF40-059D1DCC39AD}">
      <dgm:prSet phldrT="[文本]" custT="1"/>
      <dgm:spPr/>
      <dgm:t>
        <a:bodyPr/>
        <a:lstStyle/>
        <a:p>
          <a:r>
            <a:rPr lang="en-US" altLang="zh-CN" sz="1600" b="0" dirty="0">
              <a:solidFill>
                <a:schemeClr val="bg1"/>
              </a:solidFill>
              <a:latin typeface="Montserrat" panose="00000500000000000000" pitchFamily="2" charset="0"/>
              <a:ea typeface="微软雅黑 Light" panose="020B0502040204020203" pitchFamily="34" charset="-122"/>
            </a:rPr>
            <a:t>2</a:t>
          </a:r>
          <a:r>
            <a:rPr lang="zh-CN" altLang="en-US" sz="1600" b="0" dirty="0">
              <a:solidFill>
                <a:schemeClr val="bg1"/>
              </a:solidFill>
              <a:latin typeface="Montserrat" panose="00000500000000000000" pitchFamily="2" charset="0"/>
              <a:ea typeface="微软雅黑 Light" panose="020B0502040204020203" pitchFamily="34" charset="-122"/>
            </a:rPr>
            <a:t>，传送</a:t>
          </a:r>
        </a:p>
      </dgm:t>
    </dgm:pt>
    <dgm:pt modelId="{21AAF4E5-69AF-4C41-93F3-EC6C16982352}" type="parTrans" cxnId="{9B78F294-58B9-473B-8C21-7F51266D5975}">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E375B598-83FA-4739-BC24-308DF11DC7CA}" type="sibTrans" cxnId="{9B78F294-58B9-473B-8C21-7F51266D5975}">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BFEC3037-4009-4C92-8BB3-BA004A9EDEF3}">
      <dgm:prSet phldrT="[文本]" custT="1"/>
      <dgm:spPr/>
      <dgm:t>
        <a:bodyPr/>
        <a:lstStyle/>
        <a:p>
          <a:r>
            <a:rPr lang="en-US" altLang="zh-CN" sz="1600" b="0" dirty="0">
              <a:solidFill>
                <a:schemeClr val="bg1"/>
              </a:solidFill>
              <a:latin typeface="Montserrat" panose="00000500000000000000" pitchFamily="2" charset="0"/>
              <a:ea typeface="微软雅黑 Light" panose="020B0502040204020203" pitchFamily="34" charset="-122"/>
            </a:rPr>
            <a:t>3</a:t>
          </a:r>
          <a:r>
            <a:rPr lang="zh-CN" altLang="en-US" sz="1600" b="0" dirty="0">
              <a:solidFill>
                <a:schemeClr val="bg1"/>
              </a:solidFill>
              <a:latin typeface="Montserrat" panose="00000500000000000000" pitchFamily="2" charset="0"/>
              <a:ea typeface="微软雅黑 Light" panose="020B0502040204020203" pitchFamily="34" charset="-122"/>
            </a:rPr>
            <a:t>，调整</a:t>
          </a:r>
        </a:p>
      </dgm:t>
    </dgm:pt>
    <dgm:pt modelId="{299766ED-4FD8-49B8-8966-BB112C1AF417}" type="parTrans" cxnId="{1DCB8519-3671-4A11-987F-101833158C0A}">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E362DCE1-5C72-4E17-8F99-D370708BAF3E}" type="sibTrans" cxnId="{1DCB8519-3671-4A11-987F-101833158C0A}">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42AA590A-EE21-4EB6-BB9F-B28697A25CB4}">
      <dgm:prSet phldrT="[文本]" custT="1"/>
      <dgm:spPr/>
      <dgm:t>
        <a:bodyPr/>
        <a:lstStyle/>
        <a:p>
          <a:r>
            <a:rPr lang="zh-CN" altLang="en-US" sz="1600" b="0" dirty="0">
              <a:latin typeface="Montserrat" panose="00000500000000000000" pitchFamily="2" charset="0"/>
              <a:ea typeface="微软雅黑 Light" panose="020B0502040204020203" pitchFamily="34" charset="-122"/>
            </a:rPr>
            <a:t>监测网络系统，检测拥塞在何时、何处发生。</a:t>
          </a:r>
        </a:p>
      </dgm:t>
    </dgm:pt>
    <dgm:pt modelId="{0C98080D-3654-474A-825B-D81CD9A72ADE}" type="parTrans" cxnId="{F0F6B874-547A-491D-B7F3-72295B08FF37}">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F55A7609-F61D-45B1-8BFC-84CC6700C8D4}" type="sibTrans" cxnId="{F0F6B874-547A-491D-B7F3-72295B08FF37}">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4CA39C50-B6AD-43B9-8AA3-4AB1AB59AC80}">
      <dgm:prSet phldrT="[文本]" custT="1"/>
      <dgm:spPr/>
      <dgm:t>
        <a:bodyPr/>
        <a:lstStyle/>
        <a:p>
          <a:r>
            <a:rPr lang="zh-CN" altLang="en-US" sz="1600" b="0" dirty="0">
              <a:latin typeface="Montserrat" panose="00000500000000000000" pitchFamily="2" charset="0"/>
              <a:ea typeface="微软雅黑 Light" panose="020B0502040204020203"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A854CB13-5B4C-47C5-ACEA-5A400774CEFF}" type="sibTrans" cxnId="{A52CF45B-6B18-4411-9839-89F985A7649D}">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59D49692-B4B1-4D68-A9E2-E3D245C6255F}">
      <dgm:prSet phldrT="[文本]" custT="1"/>
      <dgm:spPr/>
      <dgm:t>
        <a:bodyPr/>
        <a:lstStyle/>
        <a:p>
          <a:r>
            <a:rPr lang="zh-CN" altLang="en-US" sz="1600" b="0" dirty="0">
              <a:latin typeface="Montserrat" panose="00000500000000000000" pitchFamily="2" charset="0"/>
              <a:ea typeface="微软雅黑 Light" panose="020B0502040204020203" pitchFamily="34" charset="-122"/>
            </a:rPr>
            <a:t>调整网络系统的运行以解决出现的问题。</a:t>
          </a:r>
        </a:p>
      </dgm:t>
    </dgm:pt>
    <dgm:pt modelId="{17E9933C-7CE1-4429-A3B4-A3589880FB60}" type="parTrans" cxnId="{6CA83F09-C467-488E-869D-ABC010CAF2D8}">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7F25A2CD-3124-47ED-9234-CB2EC135A7DC}" type="sibTrans" cxnId="{6CA83F09-C467-488E-869D-ABC010CAF2D8}">
      <dgm:prSet/>
      <dgm:spPr/>
      <dgm:t>
        <a:bodyPr/>
        <a:lstStyle/>
        <a:p>
          <a:endParaRPr lang="zh-CN" altLang="en-US" sz="1600" b="0">
            <a:latin typeface="Montserrat" panose="00000500000000000000" pitchFamily="2" charset="0"/>
            <a:ea typeface="微软雅黑 Light" panose="020B0502040204020203" pitchFamily="34" charset="-122"/>
          </a:endParaRPr>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A9A4429-076D-4858-8D8F-88C39D4CCEEC}" type="doc">
      <dgm:prSet loTypeId="urn:microsoft.com/office/officeart/2005/8/layout/process4" loCatId="process" qsTypeId="urn:microsoft.com/office/officeart/2005/8/quickstyle/simple4" qsCatId="simple" csTypeId="urn:microsoft.com/office/officeart/2005/8/colors/colorful2" csCatId="colorful" phldr="1"/>
      <dgm:spPr/>
      <dgm:t>
        <a:bodyPr/>
        <a:lstStyle/>
        <a:p>
          <a:endParaRPr lang="zh-CN" altLang="en-US"/>
        </a:p>
      </dgm:t>
    </dgm:pt>
    <dgm:pt modelId="{3947F608-ABD1-4FAB-9C0B-DE329E429A37}">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1</a:t>
          </a:r>
          <a:r>
            <a:rPr lang="zh-CN" altLang="en-US" sz="1800" b="1" dirty="0">
              <a:solidFill>
                <a:schemeClr val="bg1"/>
              </a:solidFill>
              <a:latin typeface="微软雅黑" panose="020B0503020204020204" pitchFamily="34" charset="-122"/>
              <a:ea typeface="微软雅黑" panose="020B0503020204020204" pitchFamily="34" charset="-122"/>
            </a:rPr>
            <a:t>，监测</a:t>
          </a:r>
        </a:p>
      </dgm:t>
    </dgm:pt>
    <dgm:pt modelId="{44CB9315-4D10-4A42-8F72-3E9848B40F7E}" type="par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59F111A3-8B10-4CBC-8988-6D6887B08325}" type="sibTrans" cxnId="{5FFBF780-EF82-4C7B-B65D-7D169A22BC08}">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B1C92E2-7636-49C1-BF40-059D1DCC39AD}">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2</a:t>
          </a:r>
          <a:r>
            <a:rPr lang="zh-CN" altLang="en-US" sz="1800" b="1" dirty="0">
              <a:solidFill>
                <a:schemeClr val="bg1"/>
              </a:solidFill>
              <a:latin typeface="微软雅黑" panose="020B0503020204020204" pitchFamily="34" charset="-122"/>
              <a:ea typeface="微软雅黑" panose="020B0503020204020204" pitchFamily="34" charset="-122"/>
            </a:rPr>
            <a:t>，传送</a:t>
          </a:r>
        </a:p>
      </dgm:t>
    </dgm:pt>
    <dgm:pt modelId="{21AAF4E5-69AF-4C41-93F3-EC6C16982352}" type="par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75B598-83FA-4739-BC24-308DF11DC7CA}" type="sibTrans" cxnId="{9B78F294-58B9-473B-8C21-7F51266D5975}">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FEC3037-4009-4C92-8BB3-BA004A9EDEF3}">
      <dgm:prSet phldrT="[文本]" custT="1"/>
      <dgm:spPr/>
      <dgm:t>
        <a:bodyPr/>
        <a:lstStyle/>
        <a:p>
          <a:r>
            <a:rPr lang="en-US" altLang="zh-CN" sz="1800" b="1" dirty="0">
              <a:solidFill>
                <a:schemeClr val="bg1"/>
              </a:solidFill>
              <a:latin typeface="微软雅黑" panose="020B0503020204020204" pitchFamily="34" charset="-122"/>
              <a:ea typeface="微软雅黑" panose="020B0503020204020204" pitchFamily="34" charset="-122"/>
            </a:rPr>
            <a:t>3</a:t>
          </a:r>
          <a:r>
            <a:rPr lang="zh-CN" altLang="en-US" sz="1800" b="1" dirty="0">
              <a:solidFill>
                <a:schemeClr val="bg1"/>
              </a:solidFill>
              <a:latin typeface="微软雅黑" panose="020B0503020204020204" pitchFamily="34" charset="-122"/>
              <a:ea typeface="微软雅黑" panose="020B0503020204020204" pitchFamily="34" charset="-122"/>
            </a:rPr>
            <a:t>，调整</a:t>
          </a:r>
        </a:p>
      </dgm:t>
    </dgm:pt>
    <dgm:pt modelId="{299766ED-4FD8-49B8-8966-BB112C1AF417}" type="par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E362DCE1-5C72-4E17-8F99-D370708BAF3E}" type="sibTrans" cxnId="{1DCB8519-3671-4A11-987F-101833158C0A}">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42AA590A-EE21-4EB6-BB9F-B28697A25CB4}">
      <dgm:prSet phldrT="[文本]" custT="1"/>
      <dgm:spPr/>
      <dgm:t>
        <a:bodyPr/>
        <a:lstStyle/>
        <a:p>
          <a:r>
            <a:rPr lang="zh-CN" altLang="en-US" sz="1600" b="1" dirty="0">
              <a:latin typeface="微软雅黑" panose="020B0503020204020204" pitchFamily="34" charset="-122"/>
              <a:ea typeface="微软雅黑" panose="020B0503020204020204" pitchFamily="34" charset="-122"/>
            </a:rPr>
            <a:t>监测网络系统，检测拥塞在何时、何处发生。</a:t>
          </a:r>
        </a:p>
      </dgm:t>
    </dgm:pt>
    <dgm:pt modelId="{0C98080D-3654-474A-825B-D81CD9A72ADE}" type="parTrans" cxnId="{F0F6B874-547A-491D-B7F3-72295B08FF37}">
      <dgm:prSet/>
      <dgm:spPr/>
      <dgm:t>
        <a:bodyPr/>
        <a:lstStyle/>
        <a:p>
          <a:endParaRPr lang="zh-CN" altLang="en-US"/>
        </a:p>
      </dgm:t>
    </dgm:pt>
    <dgm:pt modelId="{F55A7609-F61D-45B1-8BFC-84CC6700C8D4}" type="sibTrans" cxnId="{F0F6B874-547A-491D-B7F3-72295B08FF37}">
      <dgm:prSet/>
      <dgm:spPr/>
      <dgm:t>
        <a:bodyPr/>
        <a:lstStyle/>
        <a:p>
          <a:endParaRPr lang="zh-CN" altLang="en-US"/>
        </a:p>
      </dgm:t>
    </dgm:pt>
    <dgm:pt modelId="{4CA39C50-B6AD-43B9-8AA3-4AB1AB59AC80}">
      <dgm:prSet phldrT="[文本]" custT="1"/>
      <dgm:spPr/>
      <dgm:t>
        <a:bodyPr/>
        <a:lstStyle/>
        <a:p>
          <a:r>
            <a:rPr lang="zh-CN" altLang="en-US" sz="1600" b="1" dirty="0">
              <a:latin typeface="微软雅黑" panose="020B0503020204020204" pitchFamily="34" charset="-122"/>
              <a:ea typeface="微软雅黑" panose="020B0503020204020204" pitchFamily="34" charset="-122"/>
            </a:rPr>
            <a:t>将拥塞发生的信息传送到可采取行动的地方。</a:t>
          </a:r>
        </a:p>
      </dgm:t>
    </dgm:pt>
    <dgm:pt modelId="{84A258E1-F007-4F07-8C44-4F27BB480876}" type="parTrans" cxnId="{A52CF45B-6B18-4411-9839-89F985A7649D}">
      <dgm:prSet/>
      <dgm:spPr/>
      <dgm:t>
        <a:bodyPr/>
        <a:lstStyle/>
        <a:p>
          <a:endParaRPr lang="zh-CN" altLang="en-US"/>
        </a:p>
      </dgm:t>
    </dgm:pt>
    <dgm:pt modelId="{A854CB13-5B4C-47C5-ACEA-5A400774CEFF}" type="sibTrans" cxnId="{A52CF45B-6B18-4411-9839-89F985A7649D}">
      <dgm:prSet/>
      <dgm:spPr/>
      <dgm:t>
        <a:bodyPr/>
        <a:lstStyle/>
        <a:p>
          <a:endParaRPr lang="zh-CN" altLang="en-US"/>
        </a:p>
      </dgm:t>
    </dgm:pt>
    <dgm:pt modelId="{59D49692-B4B1-4D68-A9E2-E3D245C6255F}">
      <dgm:prSet phldrT="[文本]" custT="1"/>
      <dgm:spPr/>
      <dgm:t>
        <a:bodyPr/>
        <a:lstStyle/>
        <a:p>
          <a:r>
            <a:rPr lang="zh-CN" altLang="en-US" sz="1600" b="1" dirty="0">
              <a:latin typeface="微软雅黑" panose="020B0503020204020204" pitchFamily="34" charset="-122"/>
              <a:ea typeface="微软雅黑" panose="020B0503020204020204" pitchFamily="34" charset="-122"/>
            </a:rPr>
            <a:t>调整网络系统的运行以解决出现的问题。</a:t>
          </a:r>
        </a:p>
      </dgm:t>
    </dgm:pt>
    <dgm:pt modelId="{17E9933C-7CE1-4429-A3B4-A3589880FB60}" type="parTrans" cxnId="{6CA83F09-C467-488E-869D-ABC010CAF2D8}">
      <dgm:prSet/>
      <dgm:spPr/>
      <dgm:t>
        <a:bodyPr/>
        <a:lstStyle/>
        <a:p>
          <a:endParaRPr lang="zh-CN" altLang="en-US"/>
        </a:p>
      </dgm:t>
    </dgm:pt>
    <dgm:pt modelId="{7F25A2CD-3124-47ED-9234-CB2EC135A7DC}" type="sibTrans" cxnId="{6CA83F09-C467-488E-869D-ABC010CAF2D8}">
      <dgm:prSet/>
      <dgm:spPr/>
      <dgm:t>
        <a:bodyPr/>
        <a:lstStyle/>
        <a:p>
          <a:endParaRPr lang="zh-CN" altLang="en-US"/>
        </a:p>
      </dgm:t>
    </dgm:pt>
    <dgm:pt modelId="{2286B00D-FCEB-4810-B271-7980421C2465}" type="pres">
      <dgm:prSet presAssocID="{DA9A4429-076D-4858-8D8F-88C39D4CCEEC}" presName="Name0" presStyleCnt="0">
        <dgm:presLayoutVars>
          <dgm:dir/>
          <dgm:animLvl val="lvl"/>
          <dgm:resizeHandles val="exact"/>
        </dgm:presLayoutVars>
      </dgm:prSet>
      <dgm:spPr/>
    </dgm:pt>
    <dgm:pt modelId="{2FBF6006-4AED-459B-8F63-678827403CA9}" type="pres">
      <dgm:prSet presAssocID="{BFEC3037-4009-4C92-8BB3-BA004A9EDEF3}" presName="boxAndChildren" presStyleCnt="0"/>
      <dgm:spPr/>
    </dgm:pt>
    <dgm:pt modelId="{61E0189D-AC2C-4458-BB6D-CE80D867E62E}" type="pres">
      <dgm:prSet presAssocID="{BFEC3037-4009-4C92-8BB3-BA004A9EDEF3}" presName="parentTextBox" presStyleLbl="node1" presStyleIdx="0" presStyleCnt="3"/>
      <dgm:spPr/>
    </dgm:pt>
    <dgm:pt modelId="{6CB4AA41-5371-4B42-9534-5C50524AC84F}" type="pres">
      <dgm:prSet presAssocID="{BFEC3037-4009-4C92-8BB3-BA004A9EDEF3}" presName="entireBox" presStyleLbl="node1" presStyleIdx="0" presStyleCnt="3"/>
      <dgm:spPr/>
    </dgm:pt>
    <dgm:pt modelId="{EF3A0D82-70E5-4211-B583-833B59D3D5B1}" type="pres">
      <dgm:prSet presAssocID="{BFEC3037-4009-4C92-8BB3-BA004A9EDEF3}" presName="descendantBox" presStyleCnt="0"/>
      <dgm:spPr/>
    </dgm:pt>
    <dgm:pt modelId="{7AD1C28F-030D-4602-84E6-F93CC486F863}" type="pres">
      <dgm:prSet presAssocID="{59D49692-B4B1-4D68-A9E2-E3D245C6255F}" presName="childTextBox" presStyleLbl="fgAccFollowNode1" presStyleIdx="0" presStyleCnt="3">
        <dgm:presLayoutVars>
          <dgm:bulletEnabled val="1"/>
        </dgm:presLayoutVars>
      </dgm:prSet>
      <dgm:spPr/>
    </dgm:pt>
    <dgm:pt modelId="{548CA5A2-2EC9-4CCB-90F0-ED3F5DB25203}" type="pres">
      <dgm:prSet presAssocID="{E375B598-83FA-4739-BC24-308DF11DC7CA}" presName="sp" presStyleCnt="0"/>
      <dgm:spPr/>
    </dgm:pt>
    <dgm:pt modelId="{E88A927F-314E-494F-B4B3-47F8024FA7EE}" type="pres">
      <dgm:prSet presAssocID="{4B1C92E2-7636-49C1-BF40-059D1DCC39AD}" presName="arrowAndChildren" presStyleCnt="0"/>
      <dgm:spPr/>
    </dgm:pt>
    <dgm:pt modelId="{AF7D01B2-BC2D-433A-8E10-8649D35D0293}" type="pres">
      <dgm:prSet presAssocID="{4B1C92E2-7636-49C1-BF40-059D1DCC39AD}" presName="parentTextArrow" presStyleLbl="node1" presStyleIdx="0" presStyleCnt="3"/>
      <dgm:spPr/>
    </dgm:pt>
    <dgm:pt modelId="{DC00D219-7831-4F88-9472-DCEE38BA17C2}" type="pres">
      <dgm:prSet presAssocID="{4B1C92E2-7636-49C1-BF40-059D1DCC39AD}" presName="arrow" presStyleLbl="node1" presStyleIdx="1" presStyleCnt="3"/>
      <dgm:spPr/>
    </dgm:pt>
    <dgm:pt modelId="{2105EC85-3522-4F98-B7D3-9E6A3A276794}" type="pres">
      <dgm:prSet presAssocID="{4B1C92E2-7636-49C1-BF40-059D1DCC39AD}" presName="descendantArrow" presStyleCnt="0"/>
      <dgm:spPr/>
    </dgm:pt>
    <dgm:pt modelId="{37CDBDB6-2170-404B-8F3F-363B34CA7CAF}" type="pres">
      <dgm:prSet presAssocID="{4CA39C50-B6AD-43B9-8AA3-4AB1AB59AC80}" presName="childTextArrow" presStyleLbl="fgAccFollowNode1" presStyleIdx="1" presStyleCnt="3">
        <dgm:presLayoutVars>
          <dgm:bulletEnabled val="1"/>
        </dgm:presLayoutVars>
      </dgm:prSet>
      <dgm:spPr/>
    </dgm:pt>
    <dgm:pt modelId="{5210526D-0F2D-4B5A-B8DD-A7BAED0A6C55}" type="pres">
      <dgm:prSet presAssocID="{59F111A3-8B10-4CBC-8988-6D6887B08325}" presName="sp" presStyleCnt="0"/>
      <dgm:spPr/>
    </dgm:pt>
    <dgm:pt modelId="{EDD5798D-DC70-4992-B6D8-B3932DF1CB09}" type="pres">
      <dgm:prSet presAssocID="{3947F608-ABD1-4FAB-9C0B-DE329E429A37}" presName="arrowAndChildren" presStyleCnt="0"/>
      <dgm:spPr/>
    </dgm:pt>
    <dgm:pt modelId="{092FD4CA-400B-4A96-B39D-0C58C1B0630A}" type="pres">
      <dgm:prSet presAssocID="{3947F608-ABD1-4FAB-9C0B-DE329E429A37}" presName="parentTextArrow" presStyleLbl="node1" presStyleIdx="1" presStyleCnt="3"/>
      <dgm:spPr/>
    </dgm:pt>
    <dgm:pt modelId="{021834F7-9CCD-4967-A129-E4F8A64E9A64}" type="pres">
      <dgm:prSet presAssocID="{3947F608-ABD1-4FAB-9C0B-DE329E429A37}" presName="arrow" presStyleLbl="node1" presStyleIdx="2" presStyleCnt="3"/>
      <dgm:spPr/>
    </dgm:pt>
    <dgm:pt modelId="{4B0C8B5F-B57F-4270-A69A-4A528C7EFD6B}" type="pres">
      <dgm:prSet presAssocID="{3947F608-ABD1-4FAB-9C0B-DE329E429A37}" presName="descendantArrow" presStyleCnt="0"/>
      <dgm:spPr/>
    </dgm:pt>
    <dgm:pt modelId="{131D3D73-943A-4F48-82DD-E5FF9CD6CF04}" type="pres">
      <dgm:prSet presAssocID="{42AA590A-EE21-4EB6-BB9F-B28697A25CB4}" presName="childTextArrow" presStyleLbl="fgAccFollowNode1" presStyleIdx="2" presStyleCnt="3">
        <dgm:presLayoutVars>
          <dgm:bulletEnabled val="1"/>
        </dgm:presLayoutVars>
      </dgm:prSet>
      <dgm:spPr/>
    </dgm:pt>
  </dgm:ptLst>
  <dgm:cxnLst>
    <dgm:cxn modelId="{9A0A1A06-B9B1-4D90-B09B-A11586934B87}" type="presOf" srcId="{4B1C92E2-7636-49C1-BF40-059D1DCC39AD}" destId="{DC00D219-7831-4F88-9472-DCEE38BA17C2}" srcOrd="1" destOrd="0" presId="urn:microsoft.com/office/officeart/2005/8/layout/process4"/>
    <dgm:cxn modelId="{53FDCF08-CDCF-4C3F-8C30-41778A598BBA}" type="presOf" srcId="{BFEC3037-4009-4C92-8BB3-BA004A9EDEF3}" destId="{6CB4AA41-5371-4B42-9534-5C50524AC84F}" srcOrd="1" destOrd="0" presId="urn:microsoft.com/office/officeart/2005/8/layout/process4"/>
    <dgm:cxn modelId="{6CA83F09-C467-488E-869D-ABC010CAF2D8}" srcId="{BFEC3037-4009-4C92-8BB3-BA004A9EDEF3}" destId="{59D49692-B4B1-4D68-A9E2-E3D245C6255F}" srcOrd="0" destOrd="0" parTransId="{17E9933C-7CE1-4429-A3B4-A3589880FB60}" sibTransId="{7F25A2CD-3124-47ED-9234-CB2EC135A7DC}"/>
    <dgm:cxn modelId="{3BB6C109-83DA-4E9E-9557-5D1A6489A0D7}" type="presOf" srcId="{DA9A4429-076D-4858-8D8F-88C39D4CCEEC}" destId="{2286B00D-FCEB-4810-B271-7980421C2465}" srcOrd="0" destOrd="0" presId="urn:microsoft.com/office/officeart/2005/8/layout/process4"/>
    <dgm:cxn modelId="{1DCB8519-3671-4A11-987F-101833158C0A}" srcId="{DA9A4429-076D-4858-8D8F-88C39D4CCEEC}" destId="{BFEC3037-4009-4C92-8BB3-BA004A9EDEF3}" srcOrd="2" destOrd="0" parTransId="{299766ED-4FD8-49B8-8966-BB112C1AF417}" sibTransId="{E362DCE1-5C72-4E17-8F99-D370708BAF3E}"/>
    <dgm:cxn modelId="{4AD52D27-DA43-4854-9E38-64A5CB34D58E}" type="presOf" srcId="{59D49692-B4B1-4D68-A9E2-E3D245C6255F}" destId="{7AD1C28F-030D-4602-84E6-F93CC486F863}" srcOrd="0" destOrd="0" presId="urn:microsoft.com/office/officeart/2005/8/layout/process4"/>
    <dgm:cxn modelId="{A52CF45B-6B18-4411-9839-89F985A7649D}" srcId="{4B1C92E2-7636-49C1-BF40-059D1DCC39AD}" destId="{4CA39C50-B6AD-43B9-8AA3-4AB1AB59AC80}" srcOrd="0" destOrd="0" parTransId="{84A258E1-F007-4F07-8C44-4F27BB480876}" sibTransId="{A854CB13-5B4C-47C5-ACEA-5A400774CEFF}"/>
    <dgm:cxn modelId="{E84B9572-2768-4579-8818-5044E41255F7}" type="presOf" srcId="{4CA39C50-B6AD-43B9-8AA3-4AB1AB59AC80}" destId="{37CDBDB6-2170-404B-8F3F-363B34CA7CAF}" srcOrd="0" destOrd="0" presId="urn:microsoft.com/office/officeart/2005/8/layout/process4"/>
    <dgm:cxn modelId="{F0F6B874-547A-491D-B7F3-72295B08FF37}" srcId="{3947F608-ABD1-4FAB-9C0B-DE329E429A37}" destId="{42AA590A-EE21-4EB6-BB9F-B28697A25CB4}" srcOrd="0" destOrd="0" parTransId="{0C98080D-3654-474A-825B-D81CD9A72ADE}" sibTransId="{F55A7609-F61D-45B1-8BFC-84CC6700C8D4}"/>
    <dgm:cxn modelId="{D5878276-BA0A-41CF-9C42-C7DB676582A4}" type="presOf" srcId="{3947F608-ABD1-4FAB-9C0B-DE329E429A37}" destId="{021834F7-9CCD-4967-A129-E4F8A64E9A64}" srcOrd="1" destOrd="0" presId="urn:microsoft.com/office/officeart/2005/8/layout/process4"/>
    <dgm:cxn modelId="{BE30047A-FD80-4334-BA7C-5BD67CB291B4}" type="presOf" srcId="{4B1C92E2-7636-49C1-BF40-059D1DCC39AD}" destId="{AF7D01B2-BC2D-433A-8E10-8649D35D0293}" srcOrd="0" destOrd="0" presId="urn:microsoft.com/office/officeart/2005/8/layout/process4"/>
    <dgm:cxn modelId="{9B755F7D-538C-4834-A609-4F93FC5B27C6}" type="presOf" srcId="{3947F608-ABD1-4FAB-9C0B-DE329E429A37}" destId="{092FD4CA-400B-4A96-B39D-0C58C1B0630A}" srcOrd="0" destOrd="0" presId="urn:microsoft.com/office/officeart/2005/8/layout/process4"/>
    <dgm:cxn modelId="{5FFBF780-EF82-4C7B-B65D-7D169A22BC08}" srcId="{DA9A4429-076D-4858-8D8F-88C39D4CCEEC}" destId="{3947F608-ABD1-4FAB-9C0B-DE329E429A37}" srcOrd="0" destOrd="0" parTransId="{44CB9315-4D10-4A42-8F72-3E9848B40F7E}" sibTransId="{59F111A3-8B10-4CBC-8988-6D6887B08325}"/>
    <dgm:cxn modelId="{9B78F294-58B9-473B-8C21-7F51266D5975}" srcId="{DA9A4429-076D-4858-8D8F-88C39D4CCEEC}" destId="{4B1C92E2-7636-49C1-BF40-059D1DCC39AD}" srcOrd="1" destOrd="0" parTransId="{21AAF4E5-69AF-4C41-93F3-EC6C16982352}" sibTransId="{E375B598-83FA-4739-BC24-308DF11DC7CA}"/>
    <dgm:cxn modelId="{A88545A1-BB63-4FF4-B28B-E7FED65FA6F0}" type="presOf" srcId="{42AA590A-EE21-4EB6-BB9F-B28697A25CB4}" destId="{131D3D73-943A-4F48-82DD-E5FF9CD6CF04}" srcOrd="0" destOrd="0" presId="urn:microsoft.com/office/officeart/2005/8/layout/process4"/>
    <dgm:cxn modelId="{A46303C5-3B31-4B58-AA0A-704688CDED60}" type="presOf" srcId="{BFEC3037-4009-4C92-8BB3-BA004A9EDEF3}" destId="{61E0189D-AC2C-4458-BB6D-CE80D867E62E}" srcOrd="0" destOrd="0" presId="urn:microsoft.com/office/officeart/2005/8/layout/process4"/>
    <dgm:cxn modelId="{55803B55-3F5F-46B1-A67D-4FE25D058A92}" type="presParOf" srcId="{2286B00D-FCEB-4810-B271-7980421C2465}" destId="{2FBF6006-4AED-459B-8F63-678827403CA9}" srcOrd="0" destOrd="0" presId="urn:microsoft.com/office/officeart/2005/8/layout/process4"/>
    <dgm:cxn modelId="{ED1BDFC8-9156-4101-AC95-7E3079A5C89A}" type="presParOf" srcId="{2FBF6006-4AED-459B-8F63-678827403CA9}" destId="{61E0189D-AC2C-4458-BB6D-CE80D867E62E}" srcOrd="0" destOrd="0" presId="urn:microsoft.com/office/officeart/2005/8/layout/process4"/>
    <dgm:cxn modelId="{31059BF7-99FB-43E1-AEB5-6A730E00A930}" type="presParOf" srcId="{2FBF6006-4AED-459B-8F63-678827403CA9}" destId="{6CB4AA41-5371-4B42-9534-5C50524AC84F}" srcOrd="1" destOrd="0" presId="urn:microsoft.com/office/officeart/2005/8/layout/process4"/>
    <dgm:cxn modelId="{90740B48-36A5-4173-A28C-ED0C3F1ADB23}" type="presParOf" srcId="{2FBF6006-4AED-459B-8F63-678827403CA9}" destId="{EF3A0D82-70E5-4211-B583-833B59D3D5B1}" srcOrd="2" destOrd="0" presId="urn:microsoft.com/office/officeart/2005/8/layout/process4"/>
    <dgm:cxn modelId="{E269CEDF-5F34-4736-BC6E-B4593202D218}" type="presParOf" srcId="{EF3A0D82-70E5-4211-B583-833B59D3D5B1}" destId="{7AD1C28F-030D-4602-84E6-F93CC486F863}" srcOrd="0" destOrd="0" presId="urn:microsoft.com/office/officeart/2005/8/layout/process4"/>
    <dgm:cxn modelId="{81661390-1F69-49E9-88F3-0C40E8213CE5}" type="presParOf" srcId="{2286B00D-FCEB-4810-B271-7980421C2465}" destId="{548CA5A2-2EC9-4CCB-90F0-ED3F5DB25203}" srcOrd="1" destOrd="0" presId="urn:microsoft.com/office/officeart/2005/8/layout/process4"/>
    <dgm:cxn modelId="{E7722B6B-24D3-4927-B24E-80C990998D93}" type="presParOf" srcId="{2286B00D-FCEB-4810-B271-7980421C2465}" destId="{E88A927F-314E-494F-B4B3-47F8024FA7EE}" srcOrd="2" destOrd="0" presId="urn:microsoft.com/office/officeart/2005/8/layout/process4"/>
    <dgm:cxn modelId="{FAA2CC2B-CA76-44DF-B5E9-5E6B2BA5EE3A}" type="presParOf" srcId="{E88A927F-314E-494F-B4B3-47F8024FA7EE}" destId="{AF7D01B2-BC2D-433A-8E10-8649D35D0293}" srcOrd="0" destOrd="0" presId="urn:microsoft.com/office/officeart/2005/8/layout/process4"/>
    <dgm:cxn modelId="{A156E01D-94A0-4166-8A25-7B7206493F65}" type="presParOf" srcId="{E88A927F-314E-494F-B4B3-47F8024FA7EE}" destId="{DC00D219-7831-4F88-9472-DCEE38BA17C2}" srcOrd="1" destOrd="0" presId="urn:microsoft.com/office/officeart/2005/8/layout/process4"/>
    <dgm:cxn modelId="{38937B28-7926-4CA6-805F-927EC0AA743E}" type="presParOf" srcId="{E88A927F-314E-494F-B4B3-47F8024FA7EE}" destId="{2105EC85-3522-4F98-B7D3-9E6A3A276794}" srcOrd="2" destOrd="0" presId="urn:microsoft.com/office/officeart/2005/8/layout/process4"/>
    <dgm:cxn modelId="{1E5E020C-823A-45F8-AE0F-FF57350F9DE3}" type="presParOf" srcId="{2105EC85-3522-4F98-B7D3-9E6A3A276794}" destId="{37CDBDB6-2170-404B-8F3F-363B34CA7CAF}" srcOrd="0" destOrd="0" presId="urn:microsoft.com/office/officeart/2005/8/layout/process4"/>
    <dgm:cxn modelId="{CE264962-ADBC-44A7-8D41-3D1BB08E325F}" type="presParOf" srcId="{2286B00D-FCEB-4810-B271-7980421C2465}" destId="{5210526D-0F2D-4B5A-B8DD-A7BAED0A6C55}" srcOrd="3" destOrd="0" presId="urn:microsoft.com/office/officeart/2005/8/layout/process4"/>
    <dgm:cxn modelId="{13DC494B-5DD8-4D75-8AF1-60E0BA87A1FD}" type="presParOf" srcId="{2286B00D-FCEB-4810-B271-7980421C2465}" destId="{EDD5798D-DC70-4992-B6D8-B3932DF1CB09}" srcOrd="4" destOrd="0" presId="urn:microsoft.com/office/officeart/2005/8/layout/process4"/>
    <dgm:cxn modelId="{C6EE832E-F94E-48F1-BF96-FA7757D90066}" type="presParOf" srcId="{EDD5798D-DC70-4992-B6D8-B3932DF1CB09}" destId="{092FD4CA-400B-4A96-B39D-0C58C1B0630A}" srcOrd="0" destOrd="0" presId="urn:microsoft.com/office/officeart/2005/8/layout/process4"/>
    <dgm:cxn modelId="{394B3FF1-12AB-43E0-A05D-85AA72D86332}" type="presParOf" srcId="{EDD5798D-DC70-4992-B6D8-B3932DF1CB09}" destId="{021834F7-9CCD-4967-A129-E4F8A64E9A64}" srcOrd="1" destOrd="0" presId="urn:microsoft.com/office/officeart/2005/8/layout/process4"/>
    <dgm:cxn modelId="{0A581534-DB42-4CEA-9AC9-59850C56396E}" type="presParOf" srcId="{EDD5798D-DC70-4992-B6D8-B3932DF1CB09}" destId="{4B0C8B5F-B57F-4270-A69A-4A528C7EFD6B}" srcOrd="2" destOrd="0" presId="urn:microsoft.com/office/officeart/2005/8/layout/process4"/>
    <dgm:cxn modelId="{37F0E545-D07C-4E8D-8E34-4C49C38E5F5E}" type="presParOf" srcId="{4B0C8B5F-B57F-4270-A69A-4A528C7EFD6B}" destId="{131D3D73-943A-4F48-82DD-E5FF9CD6CF04}"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12BEBDF-C69E-49A9-B731-0929408024D8}" type="doc">
      <dgm:prSet loTypeId="urn:microsoft.com/office/officeart/2005/8/layout/vList5" loCatId="list" qsTypeId="urn:microsoft.com/office/officeart/2005/8/quickstyle/simple3" qsCatId="simple" csTypeId="urn:microsoft.com/office/officeart/2005/8/colors/colorful5" csCatId="colorful" phldr="1"/>
      <dgm:spPr/>
      <dgm:t>
        <a:bodyPr/>
        <a:lstStyle/>
        <a:p>
          <a:endParaRPr lang="zh-CN" altLang="en-US"/>
        </a:p>
      </dgm:t>
    </dgm:pt>
    <dgm:pt modelId="{4EE007B2-F612-44FB-B13F-E78B8586155B}">
      <dgm:prSet phldrT="[文本]" custT="1"/>
      <dgm:spPr/>
      <dgm:t>
        <a:bodyPr/>
        <a:lstStyle/>
        <a:p>
          <a:r>
            <a:rPr lang="zh-CN" altLang="en-US" sz="1800" b="1" dirty="0">
              <a:latin typeface="微软雅黑" panose="020B0503020204020204" pitchFamily="34" charset="-122"/>
              <a:ea typeface="微软雅黑" panose="020B0503020204020204" pitchFamily="34" charset="-122"/>
            </a:rPr>
            <a:t>超时重传计时器超时</a:t>
          </a:r>
        </a:p>
      </dgm:t>
    </dgm:pt>
    <dgm:pt modelId="{72B0F351-ECBB-41B6-83F8-2E44095783F4}" type="par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B73030B4-A5E0-40C1-9AE1-02B25975AA00}" type="sibTrans" cxnId="{1A846D18-8F00-461A-939E-949F0AB8AB06}">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10B3081-F341-4301-9185-BE738C183BBB}">
      <dgm:prSet phldrT="[文本]" custT="1"/>
      <dgm:spPr/>
      <dgm:t>
        <a:bodyPr/>
        <a:lstStyle/>
        <a:p>
          <a:r>
            <a:rPr lang="zh-CN" altLang="en-US" sz="1800" b="1" dirty="0">
              <a:latin typeface="微软雅黑" panose="020B0503020204020204" pitchFamily="34" charset="-122"/>
              <a:ea typeface="微软雅黑" panose="020B0503020204020204" pitchFamily="34" charset="-122"/>
            </a:rPr>
            <a:t>网络已经出现了拥塞。</a:t>
          </a:r>
        </a:p>
      </dgm:t>
    </dgm:pt>
    <dgm:pt modelId="{B9937F06-A3DB-4499-9BB1-8E62176A896E}" type="par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8D13681-61CB-42A0-AAD2-CF508B0ED4F0}" type="sibTrans" cxnId="{74E18B3E-A839-4FBD-B46E-F54F7588502B}">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DACD2956-BF18-4584-AF2D-3FD839777DF7}">
      <dgm:prSet phldrT="[文本]" custT="1"/>
      <dgm:spPr/>
      <dgm:t>
        <a:bodyPr/>
        <a:lstStyle/>
        <a:p>
          <a:r>
            <a:rPr lang="zh-CN" altLang="en-US" sz="1800" b="1" dirty="0">
              <a:latin typeface="微软雅黑" panose="020B0503020204020204" pitchFamily="34" charset="-122"/>
              <a:ea typeface="微软雅黑" panose="020B0503020204020204" pitchFamily="34" charset="-122"/>
            </a:rPr>
            <a:t>收到 </a:t>
          </a:r>
          <a:r>
            <a:rPr lang="en-US" altLang="en-US" sz="1800" b="1" dirty="0">
              <a:latin typeface="微软雅黑" panose="020B0503020204020204" pitchFamily="34" charset="-122"/>
              <a:ea typeface="微软雅黑" panose="020B0503020204020204" pitchFamily="34" charset="-122"/>
            </a:rPr>
            <a:t>3 </a:t>
          </a:r>
          <a:r>
            <a:rPr lang="zh-CN" altLang="en-US" sz="1800" b="1" dirty="0">
              <a:latin typeface="微软雅黑" panose="020B0503020204020204" pitchFamily="34" charset="-122"/>
              <a:ea typeface="微软雅黑" panose="020B0503020204020204" pitchFamily="34" charset="-122"/>
            </a:rPr>
            <a:t>个重复的确认</a:t>
          </a:r>
        </a:p>
      </dgm:t>
    </dgm:pt>
    <dgm:pt modelId="{98DB6D87-467D-4D2D-AF82-D4E303370A2F}" type="par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AFE01F61-F8E8-44D6-97EE-DEA0356464A7}" type="sibTrans" cxnId="{06F307EA-748F-443B-9B61-7B9DD73BB963}">
      <dgm:prSet/>
      <dgm:spPr/>
      <dgm:t>
        <a:bodyPr/>
        <a:lstStyle/>
        <a:p>
          <a:endParaRPr lang="zh-CN" altLang="en-US" sz="1800" b="1">
            <a:latin typeface="微软雅黑" panose="020B0503020204020204" pitchFamily="34" charset="-122"/>
            <a:ea typeface="微软雅黑" panose="020B0503020204020204" pitchFamily="34" charset="-122"/>
          </a:endParaRPr>
        </a:p>
      </dgm:t>
    </dgm:pt>
    <dgm:pt modelId="{7B38BB22-10D0-455B-AB19-4EC1F24B8A2F}">
      <dgm:prSet phldrT="[文本]" custT="1"/>
      <dgm:spPr/>
      <dgm:t>
        <a:bodyPr/>
        <a:lstStyle/>
        <a:p>
          <a:r>
            <a:rPr lang="zh-CN" altLang="en-US" sz="1800" b="1" dirty="0">
              <a:latin typeface="微软雅黑" panose="020B0503020204020204" pitchFamily="34" charset="-122"/>
              <a:ea typeface="微软雅黑" panose="020B0503020204020204" pitchFamily="34" charset="-122"/>
            </a:rPr>
            <a:t>预示网络可能会出现拥塞。</a:t>
          </a:r>
        </a:p>
      </dgm:t>
    </dgm:pt>
    <dgm:pt modelId="{6383180C-1983-48A1-B1E4-F574E14CDBD1}" type="parTrans" cxnId="{E9F7BDEC-B0B2-4D70-9C76-A3B73A9A92CD}">
      <dgm:prSet/>
      <dgm:spPr/>
      <dgm:t>
        <a:bodyPr/>
        <a:lstStyle/>
        <a:p>
          <a:endParaRPr lang="zh-CN" altLang="en-US" sz="1800"/>
        </a:p>
      </dgm:t>
    </dgm:pt>
    <dgm:pt modelId="{0F0ABCB1-B289-4DF9-9D7E-62CB7D38863E}" type="sibTrans" cxnId="{E9F7BDEC-B0B2-4D70-9C76-A3B73A9A92CD}">
      <dgm:prSet/>
      <dgm:spPr/>
      <dgm:t>
        <a:bodyPr/>
        <a:lstStyle/>
        <a:p>
          <a:endParaRPr lang="zh-CN" altLang="en-US" sz="1800"/>
        </a:p>
      </dgm:t>
    </dgm:pt>
    <dgm:pt modelId="{C564FC20-C6E3-4CAE-946B-A83F6E8038BC}" type="pres">
      <dgm:prSet presAssocID="{112BEBDF-C69E-49A9-B731-0929408024D8}" presName="Name0" presStyleCnt="0">
        <dgm:presLayoutVars>
          <dgm:dir/>
          <dgm:animLvl val="lvl"/>
          <dgm:resizeHandles val="exact"/>
        </dgm:presLayoutVars>
      </dgm:prSet>
      <dgm:spPr/>
    </dgm:pt>
    <dgm:pt modelId="{395CF0BF-C9D2-45EE-B71D-7D7ABD3952E9}" type="pres">
      <dgm:prSet presAssocID="{4EE007B2-F612-44FB-B13F-E78B8586155B}" presName="linNode" presStyleCnt="0"/>
      <dgm:spPr/>
    </dgm:pt>
    <dgm:pt modelId="{5ED00335-F589-4BA4-BB17-2781BB242E82}" type="pres">
      <dgm:prSet presAssocID="{4EE007B2-F612-44FB-B13F-E78B8586155B}" presName="parentText" presStyleLbl="node1" presStyleIdx="0" presStyleCnt="2">
        <dgm:presLayoutVars>
          <dgm:chMax val="1"/>
          <dgm:bulletEnabled val="1"/>
        </dgm:presLayoutVars>
      </dgm:prSet>
      <dgm:spPr/>
    </dgm:pt>
    <dgm:pt modelId="{A512784D-6662-4391-87B7-A8A7A5C6CD55}" type="pres">
      <dgm:prSet presAssocID="{4EE007B2-F612-44FB-B13F-E78B8586155B}" presName="descendantText" presStyleLbl="alignAccFollowNode1" presStyleIdx="0" presStyleCnt="2">
        <dgm:presLayoutVars>
          <dgm:bulletEnabled val="1"/>
        </dgm:presLayoutVars>
      </dgm:prSet>
      <dgm:spPr/>
    </dgm:pt>
    <dgm:pt modelId="{A632911B-FCAC-415E-AF61-977E94D9EEE1}" type="pres">
      <dgm:prSet presAssocID="{B73030B4-A5E0-40C1-9AE1-02B25975AA00}" presName="sp" presStyleCnt="0"/>
      <dgm:spPr/>
    </dgm:pt>
    <dgm:pt modelId="{2A5AB3E8-DAF4-4A11-9BC2-049225AF2EEB}" type="pres">
      <dgm:prSet presAssocID="{DACD2956-BF18-4584-AF2D-3FD839777DF7}" presName="linNode" presStyleCnt="0"/>
      <dgm:spPr/>
    </dgm:pt>
    <dgm:pt modelId="{A154C679-5D7E-4C77-AEB3-2EDD606A8CBC}" type="pres">
      <dgm:prSet presAssocID="{DACD2956-BF18-4584-AF2D-3FD839777DF7}" presName="parentText" presStyleLbl="node1" presStyleIdx="1" presStyleCnt="2">
        <dgm:presLayoutVars>
          <dgm:chMax val="1"/>
          <dgm:bulletEnabled val="1"/>
        </dgm:presLayoutVars>
      </dgm:prSet>
      <dgm:spPr/>
    </dgm:pt>
    <dgm:pt modelId="{45B4962A-C5E4-485B-B75C-CD9AAA63DA58}" type="pres">
      <dgm:prSet presAssocID="{DACD2956-BF18-4584-AF2D-3FD839777DF7}" presName="descendantText" presStyleLbl="alignAccFollowNode1" presStyleIdx="1" presStyleCnt="2">
        <dgm:presLayoutVars>
          <dgm:bulletEnabled val="1"/>
        </dgm:presLayoutVars>
      </dgm:prSet>
      <dgm:spPr/>
    </dgm:pt>
  </dgm:ptLst>
  <dgm:cxnLst>
    <dgm:cxn modelId="{1A846D18-8F00-461A-939E-949F0AB8AB06}" srcId="{112BEBDF-C69E-49A9-B731-0929408024D8}" destId="{4EE007B2-F612-44FB-B13F-E78B8586155B}" srcOrd="0" destOrd="0" parTransId="{72B0F351-ECBB-41B6-83F8-2E44095783F4}" sibTransId="{B73030B4-A5E0-40C1-9AE1-02B25975AA00}"/>
    <dgm:cxn modelId="{FA35CF31-4473-4EE2-B5DD-A540C9B99CEB}" type="presOf" srcId="{112BEBDF-C69E-49A9-B731-0929408024D8}" destId="{C564FC20-C6E3-4CAE-946B-A83F6E8038BC}" srcOrd="0" destOrd="0" presId="urn:microsoft.com/office/officeart/2005/8/layout/vList5"/>
    <dgm:cxn modelId="{74E18B3E-A839-4FBD-B46E-F54F7588502B}" srcId="{4EE007B2-F612-44FB-B13F-E78B8586155B}" destId="{710B3081-F341-4301-9185-BE738C183BBB}" srcOrd="0" destOrd="0" parTransId="{B9937F06-A3DB-4499-9BB1-8E62176A896E}" sibTransId="{A8D13681-61CB-42A0-AAD2-CF508B0ED4F0}"/>
    <dgm:cxn modelId="{A2ACEA76-06A3-4479-A736-4EC1198A69EB}" type="presOf" srcId="{DACD2956-BF18-4584-AF2D-3FD839777DF7}" destId="{A154C679-5D7E-4C77-AEB3-2EDD606A8CBC}" srcOrd="0" destOrd="0" presId="urn:microsoft.com/office/officeart/2005/8/layout/vList5"/>
    <dgm:cxn modelId="{8EA4B857-75D3-4D56-BC1C-25BFE0E28391}" type="presOf" srcId="{7B38BB22-10D0-455B-AB19-4EC1F24B8A2F}" destId="{45B4962A-C5E4-485B-B75C-CD9AAA63DA58}" srcOrd="0" destOrd="0" presId="urn:microsoft.com/office/officeart/2005/8/layout/vList5"/>
    <dgm:cxn modelId="{06F307EA-748F-443B-9B61-7B9DD73BB963}" srcId="{112BEBDF-C69E-49A9-B731-0929408024D8}" destId="{DACD2956-BF18-4584-AF2D-3FD839777DF7}" srcOrd="1" destOrd="0" parTransId="{98DB6D87-467D-4D2D-AF82-D4E303370A2F}" sibTransId="{AFE01F61-F8E8-44D6-97EE-DEA0356464A7}"/>
    <dgm:cxn modelId="{E9F7BDEC-B0B2-4D70-9C76-A3B73A9A92CD}" srcId="{DACD2956-BF18-4584-AF2D-3FD839777DF7}" destId="{7B38BB22-10D0-455B-AB19-4EC1F24B8A2F}" srcOrd="0" destOrd="0" parTransId="{6383180C-1983-48A1-B1E4-F574E14CDBD1}" sibTransId="{0F0ABCB1-B289-4DF9-9D7E-62CB7D38863E}"/>
    <dgm:cxn modelId="{47F58FEF-09EB-49F5-A456-67A625DBAAA8}" type="presOf" srcId="{710B3081-F341-4301-9185-BE738C183BBB}" destId="{A512784D-6662-4391-87B7-A8A7A5C6CD55}" srcOrd="0" destOrd="0" presId="urn:microsoft.com/office/officeart/2005/8/layout/vList5"/>
    <dgm:cxn modelId="{5485FEFD-C078-4726-933D-5B9B2AE81CDA}" type="presOf" srcId="{4EE007B2-F612-44FB-B13F-E78B8586155B}" destId="{5ED00335-F589-4BA4-BB17-2781BB242E82}" srcOrd="0" destOrd="0" presId="urn:microsoft.com/office/officeart/2005/8/layout/vList5"/>
    <dgm:cxn modelId="{943ABE90-8388-4378-9350-5147907CF0BA}" type="presParOf" srcId="{C564FC20-C6E3-4CAE-946B-A83F6E8038BC}" destId="{395CF0BF-C9D2-45EE-B71D-7D7ABD3952E9}" srcOrd="0" destOrd="0" presId="urn:microsoft.com/office/officeart/2005/8/layout/vList5"/>
    <dgm:cxn modelId="{F76D8D80-C8AF-4238-B3EB-D72698B0E51C}" type="presParOf" srcId="{395CF0BF-C9D2-45EE-B71D-7D7ABD3952E9}" destId="{5ED00335-F589-4BA4-BB17-2781BB242E82}" srcOrd="0" destOrd="0" presId="urn:microsoft.com/office/officeart/2005/8/layout/vList5"/>
    <dgm:cxn modelId="{57DF685F-1B95-439A-AD2F-1D59E380B704}" type="presParOf" srcId="{395CF0BF-C9D2-45EE-B71D-7D7ABD3952E9}" destId="{A512784D-6662-4391-87B7-A8A7A5C6CD55}" srcOrd="1" destOrd="0" presId="urn:microsoft.com/office/officeart/2005/8/layout/vList5"/>
    <dgm:cxn modelId="{2BC3CE4B-EA7E-461A-A3BC-5C58474ECD2E}" type="presParOf" srcId="{C564FC20-C6E3-4CAE-946B-A83F6E8038BC}" destId="{A632911B-FCAC-415E-AF61-977E94D9EEE1}" srcOrd="1" destOrd="0" presId="urn:microsoft.com/office/officeart/2005/8/layout/vList5"/>
    <dgm:cxn modelId="{1DA4CD5D-4525-4911-BC59-649280EAA66F}" type="presParOf" srcId="{C564FC20-C6E3-4CAE-946B-A83F6E8038BC}" destId="{2A5AB3E8-DAF4-4A11-9BC2-049225AF2EEB}" srcOrd="2" destOrd="0" presId="urn:microsoft.com/office/officeart/2005/8/layout/vList5"/>
    <dgm:cxn modelId="{FC41A692-14E7-4095-A2F2-D70B911DD5D8}" type="presParOf" srcId="{2A5AB3E8-DAF4-4A11-9BC2-049225AF2EEB}" destId="{A154C679-5D7E-4C77-AEB3-2EDD606A8CBC}" srcOrd="0" destOrd="0" presId="urn:microsoft.com/office/officeart/2005/8/layout/vList5"/>
    <dgm:cxn modelId="{ABF4989C-6D36-438E-BE49-D45D2E828992}" type="presParOf" srcId="{2A5AB3E8-DAF4-4A11-9BC2-049225AF2EEB}" destId="{45B4962A-C5E4-485B-B75C-CD9AAA63DA58}"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570DD816-BDFD-458D-8B8B-B2C6B353304A}" type="doc">
      <dgm:prSet loTypeId="urn:microsoft.com/office/officeart/2005/8/layout/vList2" loCatId="list" qsTypeId="urn:microsoft.com/office/officeart/2005/8/quickstyle/simple3" qsCatId="simple" csTypeId="urn:microsoft.com/office/officeart/2005/8/colors/colorful2" csCatId="colorful" phldr="1"/>
      <dgm:spPr/>
      <dgm:t>
        <a:bodyPr/>
        <a:lstStyle/>
        <a:p>
          <a:endParaRPr lang="zh-CN" altLang="en-US"/>
        </a:p>
      </dgm:t>
    </dgm:pt>
    <dgm:pt modelId="{183C2942-ED0C-4183-B612-698A35B0CCA4}">
      <dgm:prSet phldrT="[文本]" custT="1"/>
      <dgm:spPr/>
      <dgm:t>
        <a:bodyPr/>
        <a:lstStyle/>
        <a:p>
          <a:r>
            <a:rPr lang="zh-CN" altLang="en-US" sz="1600" b="1" dirty="0">
              <a:latin typeface="微软雅黑" panose="020B0503020204020204" pitchFamily="34" charset="-122"/>
              <a:ea typeface="微软雅黑" panose="020B0503020204020204" pitchFamily="34" charset="-122"/>
            </a:rPr>
            <a:t>拥塞窗口 </a:t>
          </a:r>
          <a:r>
            <a:rPr lang="en-US" altLang="en-US" sz="1600" b="1" dirty="0">
              <a:latin typeface="微软雅黑" panose="020B0503020204020204" pitchFamily="34" charset="-122"/>
              <a:ea typeface="微软雅黑" panose="020B0503020204020204" pitchFamily="34" charset="-122"/>
            </a:rPr>
            <a:t>cwnd</a:t>
          </a:r>
          <a:endParaRPr lang="zh-CN" altLang="en-US" sz="1600" b="1" dirty="0">
            <a:latin typeface="微软雅黑" panose="020B0503020204020204" pitchFamily="34" charset="-122"/>
            <a:ea typeface="微软雅黑" panose="020B0503020204020204" pitchFamily="34" charset="-122"/>
          </a:endParaRPr>
        </a:p>
      </dgm:t>
    </dgm:pt>
    <dgm:pt modelId="{C104DA9C-0D2E-45D3-B7BE-C412B5DAFD5C}" type="par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5729F05-D028-436F-A3D3-A6682A55538D}" type="sibTrans" cxnId="{1619D295-5227-45B2-9CD0-58B8E026F7F4}">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31E54949-960A-477A-8FC3-9C4391417A3F}">
      <dgm:prSet phldrT="[文本]" custT="1"/>
      <dgm:spPr/>
      <dgm:t>
        <a:bodyPr/>
        <a:lstStyle/>
        <a:p>
          <a:pPr>
            <a:lnSpc>
              <a:spcPct val="90000"/>
            </a:lnSpc>
            <a:spcAft>
              <a:spcPct val="20000"/>
            </a:spcAft>
          </a:pPr>
          <a:r>
            <a:rPr lang="zh-CN" altLang="en-US" sz="1600" b="1" dirty="0">
              <a:latin typeface="微软雅黑" panose="020B0503020204020204" pitchFamily="34" charset="-122"/>
              <a:ea typeface="微软雅黑" panose="020B0503020204020204" pitchFamily="34" charset="-122"/>
            </a:rPr>
            <a:t>初始值：</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种设置方法。</a:t>
          </a:r>
        </a:p>
      </dgm:t>
    </dgm:pt>
    <dgm:pt modelId="{332F67AE-D9DF-4B9D-8C4A-85EAA0CA9327}" type="par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84703DF8-717E-4D51-B348-F5DB13D87435}" type="sibTrans" cxnId="{DD9710E7-9F46-494D-8B58-E16F348257FB}">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F0F7EFC8-A225-421F-89B6-3F68CE2853DC}">
      <dgm:prSet phldrT="[文本]" custT="1"/>
      <dgm:spPr/>
      <dgm:t>
        <a:bodyPr/>
        <a:lstStyle/>
        <a:p>
          <a:r>
            <a:rPr lang="zh-CN" altLang="en-US" sz="1600" b="1" dirty="0">
              <a:latin typeface="微软雅黑" panose="020B0503020204020204" pitchFamily="34" charset="-122"/>
              <a:ea typeface="微软雅黑" panose="020B0503020204020204" pitchFamily="34" charset="-122"/>
            </a:rPr>
            <a:t>慢开始门限 </a:t>
          </a:r>
          <a:r>
            <a:rPr lang="en-US" altLang="en-US" sz="1600" b="1" dirty="0">
              <a:latin typeface="微软雅黑" panose="020B0503020204020204" pitchFamily="34" charset="-122"/>
              <a:ea typeface="微软雅黑" panose="020B0503020204020204" pitchFamily="34" charset="-122"/>
            </a:rPr>
            <a:t>ssthresh</a:t>
          </a:r>
          <a:endParaRPr lang="zh-CN" altLang="en-US" sz="1600" b="1" dirty="0">
            <a:latin typeface="微软雅黑" panose="020B0503020204020204" pitchFamily="34" charset="-122"/>
            <a:ea typeface="微软雅黑" panose="020B0503020204020204" pitchFamily="34" charset="-122"/>
          </a:endParaRPr>
        </a:p>
      </dgm:t>
    </dgm:pt>
    <dgm:pt modelId="{60B4D278-B7F4-4772-A90A-948C6EAF09CC}" type="par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425F900E-3CBA-46F7-B5CC-1DDB0FC5F957}" type="sibTrans" cxnId="{2EB1029B-F1C5-41D3-8709-900F7E72D61C}">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DF75F5EF-3774-4B9A-AFBA-18481269C53B}">
      <dgm:prSet phldrT="[文本]" custT="1"/>
      <dgm:spPr/>
      <dgm:t>
        <a:bodyPr/>
        <a:lstStyle/>
        <a:p>
          <a:pPr>
            <a:lnSpc>
              <a:spcPct val="90000"/>
            </a:lnSpc>
            <a:spcAft>
              <a:spcPts val="0"/>
            </a:spcAft>
          </a:pPr>
          <a:r>
            <a:rPr lang="zh-CN" altLang="en-US" sz="1600" b="1" dirty="0">
              <a:latin typeface="微软雅黑" panose="020B0503020204020204" pitchFamily="34" charset="-122"/>
              <a:ea typeface="微软雅黑" panose="020B0503020204020204" pitchFamily="34" charset="-122"/>
            </a:rPr>
            <a:t>防止拥塞窗口增长过大引起网络拥塞。</a:t>
          </a:r>
        </a:p>
      </dgm:t>
    </dgm:pt>
    <dgm:pt modelId="{E2409CDF-E3A2-4EDB-B258-A5056E2B2EFE}" type="par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5983E41B-14C1-40CB-A368-FCA23E9040EA}" type="sibTrans" cxnId="{47FC1360-467D-4D53-A7DD-513438872BCE}">
      <dgm:prSet/>
      <dgm:spPr/>
      <dgm:t>
        <a:bodyPr/>
        <a:lstStyle/>
        <a:p>
          <a:endParaRPr lang="zh-CN" altLang="en-US" sz="1600" b="1">
            <a:latin typeface="微软雅黑" panose="020B0503020204020204" pitchFamily="34" charset="-122"/>
            <a:ea typeface="微软雅黑" panose="020B0503020204020204" pitchFamily="34" charset="-122"/>
          </a:endParaRPr>
        </a:p>
      </dgm:t>
    </dgm:pt>
    <dgm:pt modelId="{14B2E8A6-D214-46FA-AD27-3B822E40910B}">
      <dgm:prSet custT="1"/>
      <dgm:spPr/>
      <dgm:t>
        <a:bodyPr/>
        <a:lstStyle/>
        <a:p>
          <a:pPr>
            <a:lnSpc>
              <a:spcPct val="50000"/>
            </a:lnSpc>
            <a:spcAft>
              <a:spcPts val="0"/>
            </a:spcAft>
          </a:pPr>
          <a:r>
            <a:rPr lang="en-US" altLang="en-US" sz="1600" b="1" dirty="0">
              <a:latin typeface="微软雅黑" panose="020B0503020204020204" pitchFamily="34" charset="-122"/>
              <a:ea typeface="微软雅黑" panose="020B0503020204020204" pitchFamily="34" charset="-122"/>
            </a:rPr>
            <a:t>1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 （旧标准）</a:t>
          </a:r>
        </a:p>
      </dgm:t>
    </dgm:pt>
    <dgm:pt modelId="{1B082D85-33EF-40ED-91C2-F76833749E13}" type="parTrans" cxnId="{0BD17FD3-9D5E-4909-BA93-14B869C1C3F1}">
      <dgm:prSet/>
      <dgm:spPr/>
      <dgm:t>
        <a:bodyPr/>
        <a:lstStyle/>
        <a:p>
          <a:endParaRPr lang="zh-CN" altLang="en-US" sz="1600"/>
        </a:p>
      </dgm:t>
    </dgm:pt>
    <dgm:pt modelId="{16F4FCE2-3C1A-435F-88E3-1F55DD9134FD}" type="sibTrans" cxnId="{0BD17FD3-9D5E-4909-BA93-14B869C1C3F1}">
      <dgm:prSet/>
      <dgm:spPr/>
      <dgm:t>
        <a:bodyPr/>
        <a:lstStyle/>
        <a:p>
          <a:endParaRPr lang="zh-CN" altLang="en-US" sz="1600"/>
        </a:p>
      </dgm:t>
    </dgm:pt>
    <dgm:pt modelId="{C2FC9CED-CD36-4B24-8E6B-CCDC24506AF1}">
      <dgm:prSet custT="1"/>
      <dgm:spPr/>
      <dgm:t>
        <a:bodyPr/>
        <a:lstStyle/>
        <a:p>
          <a:pPr>
            <a:lnSpc>
              <a:spcPct val="90000"/>
            </a:lnSpc>
            <a:spcAft>
              <a:spcPct val="20000"/>
            </a:spcAft>
          </a:pPr>
          <a:r>
            <a:rPr lang="en-US" altLang="en-US" sz="1600" b="1" dirty="0">
              <a:latin typeface="微软雅黑" panose="020B0503020204020204" pitchFamily="34" charset="-122"/>
              <a:ea typeface="微软雅黑" panose="020B0503020204020204" pitchFamily="34" charset="-122"/>
            </a:rPr>
            <a:t>2 </a:t>
          </a:r>
          <a:r>
            <a:rPr lang="zh-CN" altLang="en-US" sz="1600" b="1" dirty="0">
              <a:latin typeface="微软雅黑" panose="020B0503020204020204" pitchFamily="34" charset="-122"/>
              <a:ea typeface="微软雅黑" panose="020B0503020204020204" pitchFamily="34" charset="-122"/>
            </a:rPr>
            <a:t>至 </a:t>
          </a:r>
          <a:r>
            <a:rPr lang="en-US" altLang="en-US" sz="1600" b="1" dirty="0">
              <a:latin typeface="微软雅黑" panose="020B0503020204020204" pitchFamily="34" charset="-122"/>
              <a:ea typeface="微软雅黑" panose="020B0503020204020204" pitchFamily="34" charset="-122"/>
            </a:rPr>
            <a:t>4 </a:t>
          </a:r>
          <a:r>
            <a:rPr lang="zh-CN" altLang="en-US" sz="1600" b="1" dirty="0">
              <a:latin typeface="微软雅黑" panose="020B0503020204020204" pitchFamily="34" charset="-122"/>
              <a:ea typeface="微软雅黑" panose="020B0503020204020204" pitchFamily="34" charset="-122"/>
            </a:rPr>
            <a:t>个最大报文段 </a:t>
          </a:r>
          <a:r>
            <a:rPr lang="en-US" altLang="zh-CN" sz="1600" b="1" dirty="0">
              <a:latin typeface="微软雅黑" panose="020B0503020204020204" pitchFamily="34" charset="-122"/>
              <a:ea typeface="微软雅黑" panose="020B0503020204020204" pitchFamily="34" charset="-122"/>
            </a:rPr>
            <a:t>MSS</a:t>
          </a:r>
          <a:r>
            <a:rPr lang="zh-CN" altLang="en-US" sz="1600" b="1" dirty="0">
              <a:latin typeface="微软雅黑" panose="020B0503020204020204" pitchFamily="34" charset="-122"/>
              <a:ea typeface="微软雅黑" panose="020B0503020204020204" pitchFamily="34" charset="-122"/>
            </a:rPr>
            <a:t>（</a:t>
          </a:r>
          <a:r>
            <a:rPr lang="en-US" altLang="en-US" sz="1600" b="1" dirty="0">
              <a:latin typeface="微软雅黑" panose="020B0503020204020204" pitchFamily="34" charset="-122"/>
              <a:ea typeface="微软雅黑" panose="020B0503020204020204" pitchFamily="34" charset="-122"/>
            </a:rPr>
            <a:t>RFC 5681</a:t>
          </a:r>
          <a:r>
            <a:rPr lang="zh-CN" altLang="en-US" sz="1600" b="1" dirty="0">
              <a:latin typeface="微软雅黑" panose="020B0503020204020204" pitchFamily="34" charset="-122"/>
              <a:ea typeface="微软雅黑" panose="020B0503020204020204" pitchFamily="34" charset="-122"/>
            </a:rPr>
            <a:t>）</a:t>
          </a:r>
        </a:p>
      </dgm:t>
    </dgm:pt>
    <dgm:pt modelId="{3F9BB3B8-6AD6-495D-B7BE-D5916872277B}" type="parTrans" cxnId="{0827BB40-965E-46D8-89C0-C54BA1352446}">
      <dgm:prSet/>
      <dgm:spPr/>
      <dgm:t>
        <a:bodyPr/>
        <a:lstStyle/>
        <a:p>
          <a:endParaRPr lang="zh-CN" altLang="en-US" sz="1600"/>
        </a:p>
      </dgm:t>
    </dgm:pt>
    <dgm:pt modelId="{1A7711CA-6279-42ED-97E0-91C0434960FC}" type="sibTrans" cxnId="{0827BB40-965E-46D8-89C0-C54BA1352446}">
      <dgm:prSet/>
      <dgm:spPr/>
      <dgm:t>
        <a:bodyPr/>
        <a:lstStyle/>
        <a:p>
          <a:endParaRPr lang="zh-CN" altLang="en-US" sz="1600"/>
        </a:p>
      </dgm:t>
    </dgm:pt>
    <dgm:pt modelId="{8771C144-2922-4340-B073-BA112563706F}" type="pres">
      <dgm:prSet presAssocID="{570DD816-BDFD-458D-8B8B-B2C6B353304A}" presName="linear" presStyleCnt="0">
        <dgm:presLayoutVars>
          <dgm:animLvl val="lvl"/>
          <dgm:resizeHandles val="exact"/>
        </dgm:presLayoutVars>
      </dgm:prSet>
      <dgm:spPr/>
    </dgm:pt>
    <dgm:pt modelId="{177F862E-94BD-4785-B015-5AD165AECE92}" type="pres">
      <dgm:prSet presAssocID="{183C2942-ED0C-4183-B612-698A35B0CCA4}" presName="parentText" presStyleLbl="node1" presStyleIdx="0" presStyleCnt="2" custLinFactNeighborX="1399" custLinFactNeighborY="-10983">
        <dgm:presLayoutVars>
          <dgm:chMax val="0"/>
          <dgm:bulletEnabled val="1"/>
        </dgm:presLayoutVars>
      </dgm:prSet>
      <dgm:spPr/>
    </dgm:pt>
    <dgm:pt modelId="{52E83724-B715-4079-82F3-6EDE3B6F4C27}" type="pres">
      <dgm:prSet presAssocID="{183C2942-ED0C-4183-B612-698A35B0CCA4}" presName="childText" presStyleLbl="revTx" presStyleIdx="0" presStyleCnt="2">
        <dgm:presLayoutVars>
          <dgm:bulletEnabled val="1"/>
        </dgm:presLayoutVars>
      </dgm:prSet>
      <dgm:spPr/>
    </dgm:pt>
    <dgm:pt modelId="{0ACFF9AA-D159-4169-9A52-90FB187B15AF}" type="pres">
      <dgm:prSet presAssocID="{F0F7EFC8-A225-421F-89B6-3F68CE2853DC}" presName="parentText" presStyleLbl="node1" presStyleIdx="1" presStyleCnt="2">
        <dgm:presLayoutVars>
          <dgm:chMax val="0"/>
          <dgm:bulletEnabled val="1"/>
        </dgm:presLayoutVars>
      </dgm:prSet>
      <dgm:spPr/>
    </dgm:pt>
    <dgm:pt modelId="{A5F6C106-6A44-408A-BCD6-9853C05BAD0C}" type="pres">
      <dgm:prSet presAssocID="{F0F7EFC8-A225-421F-89B6-3F68CE2853DC}" presName="childText" presStyleLbl="revTx" presStyleIdx="1" presStyleCnt="2">
        <dgm:presLayoutVars>
          <dgm:bulletEnabled val="1"/>
        </dgm:presLayoutVars>
      </dgm:prSet>
      <dgm:spPr/>
    </dgm:pt>
  </dgm:ptLst>
  <dgm:cxnLst>
    <dgm:cxn modelId="{26D16311-116A-45C2-8DF1-F3652376DEED}" type="presOf" srcId="{C2FC9CED-CD36-4B24-8E6B-CCDC24506AF1}" destId="{52E83724-B715-4079-82F3-6EDE3B6F4C27}" srcOrd="0" destOrd="2" presId="urn:microsoft.com/office/officeart/2005/8/layout/vList2"/>
    <dgm:cxn modelId="{23ABEE13-5FDB-4329-9238-15FC3CC1CA17}" type="presOf" srcId="{570DD816-BDFD-458D-8B8B-B2C6B353304A}" destId="{8771C144-2922-4340-B073-BA112563706F}" srcOrd="0" destOrd="0" presId="urn:microsoft.com/office/officeart/2005/8/layout/vList2"/>
    <dgm:cxn modelId="{93F6F233-4B48-44EC-9D05-71B537AF7567}" type="presOf" srcId="{183C2942-ED0C-4183-B612-698A35B0CCA4}" destId="{177F862E-94BD-4785-B015-5AD165AECE92}" srcOrd="0" destOrd="0" presId="urn:microsoft.com/office/officeart/2005/8/layout/vList2"/>
    <dgm:cxn modelId="{0827BB40-965E-46D8-89C0-C54BA1352446}" srcId="{31E54949-960A-477A-8FC3-9C4391417A3F}" destId="{C2FC9CED-CD36-4B24-8E6B-CCDC24506AF1}" srcOrd="1" destOrd="0" parTransId="{3F9BB3B8-6AD6-495D-B7BE-D5916872277B}" sibTransId="{1A7711CA-6279-42ED-97E0-91C0434960FC}"/>
    <dgm:cxn modelId="{47FC1360-467D-4D53-A7DD-513438872BCE}" srcId="{F0F7EFC8-A225-421F-89B6-3F68CE2853DC}" destId="{DF75F5EF-3774-4B9A-AFBA-18481269C53B}" srcOrd="0" destOrd="0" parTransId="{E2409CDF-E3A2-4EDB-B258-A5056E2B2EFE}" sibTransId="{5983E41B-14C1-40CB-A368-FCA23E9040EA}"/>
    <dgm:cxn modelId="{46FC167E-80D3-45AC-AA95-769099E32FC3}" type="presOf" srcId="{DF75F5EF-3774-4B9A-AFBA-18481269C53B}" destId="{A5F6C106-6A44-408A-BCD6-9853C05BAD0C}" srcOrd="0" destOrd="0" presId="urn:microsoft.com/office/officeart/2005/8/layout/vList2"/>
    <dgm:cxn modelId="{0FF1F087-9483-4C28-830D-590CFCC3C091}" type="presOf" srcId="{31E54949-960A-477A-8FC3-9C4391417A3F}" destId="{52E83724-B715-4079-82F3-6EDE3B6F4C27}" srcOrd="0" destOrd="0" presId="urn:microsoft.com/office/officeart/2005/8/layout/vList2"/>
    <dgm:cxn modelId="{1619D295-5227-45B2-9CD0-58B8E026F7F4}" srcId="{570DD816-BDFD-458D-8B8B-B2C6B353304A}" destId="{183C2942-ED0C-4183-B612-698A35B0CCA4}" srcOrd="0" destOrd="0" parTransId="{C104DA9C-0D2E-45D3-B7BE-C412B5DAFD5C}" sibTransId="{35729F05-D028-436F-A3D3-A6682A55538D}"/>
    <dgm:cxn modelId="{2EB1029B-F1C5-41D3-8709-900F7E72D61C}" srcId="{570DD816-BDFD-458D-8B8B-B2C6B353304A}" destId="{F0F7EFC8-A225-421F-89B6-3F68CE2853DC}" srcOrd="1" destOrd="0" parTransId="{60B4D278-B7F4-4772-A90A-948C6EAF09CC}" sibTransId="{425F900E-3CBA-46F7-B5CC-1DDB0FC5F957}"/>
    <dgm:cxn modelId="{E2F253CE-A0E4-4FFD-AD75-D8D3DA5EF6F8}" type="presOf" srcId="{F0F7EFC8-A225-421F-89B6-3F68CE2853DC}" destId="{0ACFF9AA-D159-4169-9A52-90FB187B15AF}" srcOrd="0" destOrd="0" presId="urn:microsoft.com/office/officeart/2005/8/layout/vList2"/>
    <dgm:cxn modelId="{0BD17FD3-9D5E-4909-BA93-14B869C1C3F1}" srcId="{31E54949-960A-477A-8FC3-9C4391417A3F}" destId="{14B2E8A6-D214-46FA-AD27-3B822E40910B}" srcOrd="0" destOrd="0" parTransId="{1B082D85-33EF-40ED-91C2-F76833749E13}" sibTransId="{16F4FCE2-3C1A-435F-88E3-1F55DD9134FD}"/>
    <dgm:cxn modelId="{F7C5FDDD-1BC4-45F1-B3E0-497F997D88C3}" type="presOf" srcId="{14B2E8A6-D214-46FA-AD27-3B822E40910B}" destId="{52E83724-B715-4079-82F3-6EDE3B6F4C27}" srcOrd="0" destOrd="1" presId="urn:microsoft.com/office/officeart/2005/8/layout/vList2"/>
    <dgm:cxn modelId="{DD9710E7-9F46-494D-8B58-E16F348257FB}" srcId="{183C2942-ED0C-4183-B612-698A35B0CCA4}" destId="{31E54949-960A-477A-8FC3-9C4391417A3F}" srcOrd="0" destOrd="0" parTransId="{332F67AE-D9DF-4B9D-8C4A-85EAA0CA9327}" sibTransId="{84703DF8-717E-4D51-B348-F5DB13D87435}"/>
    <dgm:cxn modelId="{DDCE9859-CB55-4C6F-BC3C-936DA78BF604}" type="presParOf" srcId="{8771C144-2922-4340-B073-BA112563706F}" destId="{177F862E-94BD-4785-B015-5AD165AECE92}" srcOrd="0" destOrd="0" presId="urn:microsoft.com/office/officeart/2005/8/layout/vList2"/>
    <dgm:cxn modelId="{62032D61-96D3-4477-A4D1-AE5F9516B8C4}" type="presParOf" srcId="{8771C144-2922-4340-B073-BA112563706F}" destId="{52E83724-B715-4079-82F3-6EDE3B6F4C27}" srcOrd="1" destOrd="0" presId="urn:microsoft.com/office/officeart/2005/8/layout/vList2"/>
    <dgm:cxn modelId="{462A4AF1-F801-4D89-824E-739DAD86C36B}" type="presParOf" srcId="{8771C144-2922-4340-B073-BA112563706F}" destId="{0ACFF9AA-D159-4169-9A52-90FB187B15AF}" srcOrd="2" destOrd="0" presId="urn:microsoft.com/office/officeart/2005/8/layout/vList2"/>
    <dgm:cxn modelId="{3A56FBCC-C4EF-47CC-BB4E-66D698C8F98C}" type="presParOf" srcId="{8771C144-2922-4340-B073-BA112563706F}" destId="{A5F6C106-6A44-408A-BCD6-9853C05BAD0C}"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36D97B-D0F6-4762-BF60-A7904357B6F6}">
      <dsp:nvSpPr>
        <dsp:cNvPr id="0" name=""/>
        <dsp:cNvSpPr/>
      </dsp:nvSpPr>
      <dsp:spPr>
        <a:xfrm>
          <a:off x="38" y="5411"/>
          <a:ext cx="3700174" cy="1180800"/>
        </a:xfrm>
        <a:prstGeom prst="rect">
          <a:avLst/>
        </a:prstGeom>
        <a:solidFill>
          <a:srgbClr val="C0504D"/>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itchFamily="34" charset="-122"/>
              <a:ea typeface="微软雅黑" pitchFamily="34" charset="-122"/>
            </a:rPr>
            <a:t>UDP</a:t>
          </a:r>
          <a:endParaRPr lang="zh-CN" altLang="en-US" sz="1800" b="1" kern="1200" dirty="0">
            <a:latin typeface="微软雅黑" pitchFamily="34" charset="-122"/>
            <a:ea typeface="微软雅黑" pitchFamily="34" charset="-122"/>
          </a:endParaRPr>
        </a:p>
      </dsp:txBody>
      <dsp:txXfrm>
        <a:off x="38" y="5411"/>
        <a:ext cx="3700174" cy="1180800"/>
      </dsp:txXfrm>
    </dsp:sp>
    <dsp:sp modelId="{81374FB4-E28E-4844-BBFA-75610456881B}">
      <dsp:nvSpPr>
        <dsp:cNvPr id="0" name=""/>
        <dsp:cNvSpPr/>
      </dsp:nvSpPr>
      <dsp:spPr>
        <a:xfrm>
          <a:off x="38" y="1186211"/>
          <a:ext cx="3700174" cy="1800720"/>
        </a:xfrm>
        <a:prstGeom prst="rect">
          <a:avLst/>
        </a:prstGeom>
        <a:solidFill>
          <a:schemeClr val="bg1">
            <a:alpha val="9000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传送数据之前不需要先建立连接</a:t>
          </a:r>
        </a:p>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收到 </a:t>
          </a:r>
          <a:r>
            <a:rPr lang="en-US" altLang="en-US" sz="1600" b="0" kern="1200" dirty="0">
              <a:latin typeface="微软雅黑" panose="020B0503020204020204" pitchFamily="34" charset="-122"/>
              <a:ea typeface="微软雅黑" panose="020B0503020204020204" pitchFamily="34" charset="-122"/>
            </a:rPr>
            <a:t>UDP </a:t>
          </a:r>
          <a:r>
            <a:rPr lang="zh-CN" altLang="en-US" sz="1600" b="0" kern="1200" dirty="0">
              <a:latin typeface="微软雅黑" panose="020B0503020204020204" pitchFamily="34" charset="-122"/>
              <a:ea typeface="微软雅黑" panose="020B0503020204020204" pitchFamily="34" charset="-122"/>
            </a:rPr>
            <a:t>报后，不需要确认</a:t>
          </a:r>
        </a:p>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不提供可靠交付</a:t>
          </a:r>
        </a:p>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有效的工作方式</a:t>
          </a:r>
        </a:p>
      </dsp:txBody>
      <dsp:txXfrm>
        <a:off x="38" y="1186211"/>
        <a:ext cx="3700174" cy="1800720"/>
      </dsp:txXfrm>
    </dsp:sp>
    <dsp:sp modelId="{71294ECD-550A-476F-A96D-56F889AD84F9}">
      <dsp:nvSpPr>
        <dsp:cNvPr id="0" name=""/>
        <dsp:cNvSpPr/>
      </dsp:nvSpPr>
      <dsp:spPr>
        <a:xfrm>
          <a:off x="4218237" y="5411"/>
          <a:ext cx="3700174" cy="1180800"/>
        </a:xfrm>
        <a:prstGeom prst="rect">
          <a:avLst/>
        </a:prstGeom>
        <a:solidFill>
          <a:srgbClr val="9BBB59"/>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latin typeface="微软雅黑" panose="020B0503020204020204" pitchFamily="34" charset="-122"/>
              <a:ea typeface="微软雅黑" panose="020B0503020204020204" pitchFamily="34" charset="-122"/>
            </a:rPr>
            <a:t>TCP</a:t>
          </a:r>
          <a:endParaRPr lang="zh-CN" altLang="en-US" sz="1800" b="1" kern="1200" dirty="0">
            <a:latin typeface="微软雅黑" panose="020B0503020204020204" pitchFamily="34" charset="-122"/>
            <a:ea typeface="微软雅黑" panose="020B0503020204020204" pitchFamily="34" charset="-122"/>
          </a:endParaRPr>
        </a:p>
      </dsp:txBody>
      <dsp:txXfrm>
        <a:off x="4218237" y="5411"/>
        <a:ext cx="3700174" cy="1180800"/>
      </dsp:txXfrm>
    </dsp:sp>
    <dsp:sp modelId="{45D2AA96-01C3-4DB8-BDEC-FDACF0C5239B}">
      <dsp:nvSpPr>
        <dsp:cNvPr id="0" name=""/>
        <dsp:cNvSpPr/>
      </dsp:nvSpPr>
      <dsp:spPr>
        <a:xfrm>
          <a:off x="4218237" y="1186211"/>
          <a:ext cx="3700174" cy="1800720"/>
        </a:xfrm>
        <a:prstGeom prst="rect">
          <a:avLst/>
        </a:prstGeom>
        <a:solidFill>
          <a:schemeClr val="bg1">
            <a:alpha val="9000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提供可靠的、面向连接的运输服务</a:t>
          </a:r>
        </a:p>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不提供广播或多播服务</a:t>
          </a:r>
        </a:p>
        <a:p>
          <a:pPr marL="171450" lvl="1" indent="-171450" algn="l" defTabSz="711200">
            <a:lnSpc>
              <a:spcPct val="90000"/>
            </a:lnSpc>
            <a:spcBef>
              <a:spcPct val="0"/>
            </a:spcBef>
            <a:spcAft>
              <a:spcPct val="15000"/>
            </a:spcAft>
            <a:buChar char="•"/>
          </a:pPr>
          <a:r>
            <a:rPr lang="zh-CN" altLang="en-US" sz="1600" b="0" kern="1200" dirty="0">
              <a:latin typeface="微软雅黑" panose="020B0503020204020204" pitchFamily="34" charset="-122"/>
              <a:ea typeface="微软雅黑" panose="020B0503020204020204" pitchFamily="34" charset="-122"/>
            </a:rPr>
            <a:t>开销较多</a:t>
          </a:r>
        </a:p>
      </dsp:txBody>
      <dsp:txXfrm>
        <a:off x="4218237" y="1186211"/>
        <a:ext cx="3700174" cy="18007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10F1EF-CFB5-483B-9844-3B7759FDE926}">
      <dsp:nvSpPr>
        <dsp:cNvPr id="0" name=""/>
        <dsp:cNvSpPr/>
      </dsp:nvSpPr>
      <dsp:spPr>
        <a:xfrm>
          <a:off x="0" y="0"/>
          <a:ext cx="6377146" cy="580320"/>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ts val="0"/>
            </a:spcBef>
            <a:spcAft>
              <a:spcPts val="0"/>
            </a:spcAft>
            <a:buNone/>
          </a:pPr>
          <a:r>
            <a:rPr lang="zh-CN" altLang="en-US" sz="1800" b="1" kern="1200" dirty="0">
              <a:latin typeface="微软雅黑" panose="020B0503020204020204" pitchFamily="34" charset="-122"/>
              <a:ea typeface="微软雅黑" panose="020B0503020204020204" pitchFamily="34" charset="-122"/>
            </a:rPr>
            <a:t>软件端口</a:t>
          </a:r>
        </a:p>
      </dsp:txBody>
      <dsp:txXfrm>
        <a:off x="28329" y="28329"/>
        <a:ext cx="6320488" cy="523662"/>
      </dsp:txXfrm>
    </dsp:sp>
    <dsp:sp modelId="{2487C381-8EF1-485B-9441-46EEB8C1886B}">
      <dsp:nvSpPr>
        <dsp:cNvPr id="0" name=""/>
        <dsp:cNvSpPr/>
      </dsp:nvSpPr>
      <dsp:spPr>
        <a:xfrm>
          <a:off x="0" y="581503"/>
          <a:ext cx="6377146"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协议栈层间的</a:t>
          </a:r>
          <a:r>
            <a:rPr lang="zh-CN" altLang="en-US" sz="1800" b="1" kern="1200" dirty="0">
              <a:solidFill>
                <a:srgbClr val="C00000"/>
              </a:solidFill>
              <a:latin typeface="微软雅黑" panose="020B0503020204020204" pitchFamily="34" charset="-122"/>
              <a:ea typeface="微软雅黑" panose="020B0503020204020204" pitchFamily="34" charset="-122"/>
            </a:rPr>
            <a:t>抽象</a:t>
          </a:r>
          <a:r>
            <a:rPr lang="zh-CN" altLang="en-US" sz="1800" b="1" kern="1200" dirty="0">
              <a:latin typeface="微软雅黑" panose="020B0503020204020204" pitchFamily="34" charset="-122"/>
              <a:ea typeface="微软雅黑" panose="020B0503020204020204" pitchFamily="34" charset="-122"/>
            </a:rPr>
            <a:t>的协议端口。</a:t>
          </a:r>
        </a:p>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是应用层的各种协议</a:t>
          </a:r>
          <a:r>
            <a:rPr lang="zh-CN" altLang="en-US" sz="1800" b="1" kern="1200" dirty="0">
              <a:solidFill>
                <a:srgbClr val="C00000"/>
              </a:solidFill>
              <a:latin typeface="微软雅黑" panose="020B0503020204020204" pitchFamily="34" charset="-122"/>
              <a:ea typeface="微软雅黑" panose="020B0503020204020204" pitchFamily="34" charset="-122"/>
            </a:rPr>
            <a:t>进程</a:t>
          </a:r>
          <a:r>
            <a:rPr lang="zh-CN" altLang="en-US" sz="1800" b="1" kern="1200" dirty="0">
              <a:latin typeface="微软雅黑" panose="020B0503020204020204" pitchFamily="34" charset="-122"/>
              <a:ea typeface="微软雅黑" panose="020B0503020204020204" pitchFamily="34" charset="-122"/>
            </a:rPr>
            <a:t>与运输</a:t>
          </a:r>
          <a:r>
            <a:rPr lang="zh-CN" altLang="en-US" sz="1800" b="1" kern="1200" dirty="0">
              <a:solidFill>
                <a:srgbClr val="C00000"/>
              </a:solidFill>
              <a:latin typeface="微软雅黑" panose="020B0503020204020204" pitchFamily="34" charset="-122"/>
              <a:ea typeface="微软雅黑" panose="020B0503020204020204" pitchFamily="34" charset="-122"/>
            </a:rPr>
            <a:t>实体</a:t>
          </a:r>
          <a:r>
            <a:rPr lang="zh-CN" altLang="en-US" sz="1800" b="1" kern="1200" dirty="0">
              <a:latin typeface="微软雅黑" panose="020B0503020204020204" pitchFamily="34" charset="-122"/>
              <a:ea typeface="微软雅黑" panose="020B0503020204020204" pitchFamily="34" charset="-122"/>
            </a:rPr>
            <a:t>进行层间</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的地点。</a:t>
          </a:r>
        </a:p>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不同系统实现端口的方法可以不同。</a:t>
          </a:r>
        </a:p>
      </dsp:txBody>
      <dsp:txXfrm>
        <a:off x="0" y="581503"/>
        <a:ext cx="6377146" cy="1219230"/>
      </dsp:txXfrm>
    </dsp:sp>
    <dsp:sp modelId="{F24B62DD-54BA-47D1-83D7-96B45A39A82E}">
      <dsp:nvSpPr>
        <dsp:cNvPr id="0" name=""/>
        <dsp:cNvSpPr/>
      </dsp:nvSpPr>
      <dsp:spPr>
        <a:xfrm>
          <a:off x="0" y="1800733"/>
          <a:ext cx="6377146" cy="580320"/>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ts val="3000"/>
            </a:lnSpc>
            <a:spcBef>
              <a:spcPts val="0"/>
            </a:spcBef>
            <a:spcAft>
              <a:spcPts val="0"/>
            </a:spcAft>
            <a:buNone/>
          </a:pPr>
          <a:r>
            <a:rPr lang="zh-CN" altLang="en-US" sz="1800" b="1" kern="1200" dirty="0">
              <a:latin typeface="微软雅黑" panose="020B0503020204020204" pitchFamily="34" charset="-122"/>
              <a:ea typeface="微软雅黑" panose="020B0503020204020204" pitchFamily="34" charset="-122"/>
            </a:rPr>
            <a:t>硬件端口</a:t>
          </a:r>
        </a:p>
      </dsp:txBody>
      <dsp:txXfrm>
        <a:off x="28329" y="1829062"/>
        <a:ext cx="6320488" cy="523662"/>
      </dsp:txXfrm>
    </dsp:sp>
    <dsp:sp modelId="{81781325-F072-4444-84B0-DFA10747A74F}">
      <dsp:nvSpPr>
        <dsp:cNvPr id="0" name=""/>
        <dsp:cNvSpPr/>
      </dsp:nvSpPr>
      <dsp:spPr>
        <a:xfrm>
          <a:off x="0" y="2381053"/>
          <a:ext cx="6377146" cy="513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474" tIns="22860" rIns="128016" bIns="22860" numCol="1" spcCol="1270" anchor="t" anchorCtr="0">
          <a:noAutofit/>
        </a:bodyPr>
        <a:lstStyle/>
        <a:p>
          <a:pPr marL="171450" lvl="1" indent="-171450" algn="l" defTabSz="800100">
            <a:lnSpc>
              <a:spcPts val="3000"/>
            </a:lnSpc>
            <a:spcBef>
              <a:spcPts val="0"/>
            </a:spcBef>
            <a:spcAft>
              <a:spcPts val="0"/>
            </a:spcAft>
            <a:buChar char="•"/>
          </a:pPr>
          <a:r>
            <a:rPr lang="zh-CN" altLang="en-US" sz="1800" b="1" kern="1200" dirty="0">
              <a:latin typeface="微软雅黑" panose="020B0503020204020204" pitchFamily="34" charset="-122"/>
              <a:ea typeface="微软雅黑" panose="020B0503020204020204" pitchFamily="34" charset="-122"/>
            </a:rPr>
            <a:t>不同硬件</a:t>
          </a:r>
          <a:r>
            <a:rPr lang="zh-CN" altLang="en-US" sz="1800" b="1" kern="1200" dirty="0">
              <a:solidFill>
                <a:srgbClr val="C00000"/>
              </a:solidFill>
              <a:latin typeface="微软雅黑" panose="020B0503020204020204" pitchFamily="34" charset="-122"/>
              <a:ea typeface="微软雅黑" panose="020B0503020204020204" pitchFamily="34" charset="-122"/>
            </a:rPr>
            <a:t>设备</a:t>
          </a:r>
          <a:r>
            <a:rPr lang="zh-CN" altLang="en-US" sz="1800" b="1" kern="1200" dirty="0">
              <a:latin typeface="微软雅黑" panose="020B0503020204020204" pitchFamily="34" charset="-122"/>
              <a:ea typeface="微软雅黑" panose="020B0503020204020204" pitchFamily="34" charset="-122"/>
            </a:rPr>
            <a:t>进行</a:t>
          </a:r>
          <a:r>
            <a:rPr lang="zh-CN" altLang="en-US" sz="1800" b="1" kern="1200" dirty="0">
              <a:solidFill>
                <a:srgbClr val="C00000"/>
              </a:solidFill>
              <a:latin typeface="微软雅黑" panose="020B0503020204020204" pitchFamily="34" charset="-122"/>
              <a:ea typeface="微软雅黑" panose="020B0503020204020204" pitchFamily="34" charset="-122"/>
            </a:rPr>
            <a:t>交互</a:t>
          </a:r>
          <a:r>
            <a:rPr lang="zh-CN" altLang="en-US" sz="1800" b="1" kern="1200" dirty="0">
              <a:latin typeface="微软雅黑" panose="020B0503020204020204" pitchFamily="34" charset="-122"/>
              <a:ea typeface="微软雅黑" panose="020B0503020204020204" pitchFamily="34" charset="-122"/>
            </a:rPr>
            <a:t>的接口。</a:t>
          </a:r>
        </a:p>
      </dsp:txBody>
      <dsp:txXfrm>
        <a:off x="0" y="2381053"/>
        <a:ext cx="6377146" cy="5133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B224D6-3FF2-46C4-8268-9A5307B6CCA2}">
      <dsp:nvSpPr>
        <dsp:cNvPr id="0" name=""/>
        <dsp:cNvSpPr/>
      </dsp:nvSpPr>
      <dsp:spPr>
        <a:xfrm>
          <a:off x="0" y="6974"/>
          <a:ext cx="5325036" cy="45568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优点</a:t>
          </a:r>
        </a:p>
      </dsp:txBody>
      <dsp:txXfrm>
        <a:off x="22244" y="29218"/>
        <a:ext cx="5280548" cy="411192"/>
      </dsp:txXfrm>
    </dsp:sp>
    <dsp:sp modelId="{769DA413-89B9-4221-A6BC-35722015CED6}">
      <dsp:nvSpPr>
        <dsp:cNvPr id="0" name=""/>
        <dsp:cNvSpPr/>
      </dsp:nvSpPr>
      <dsp:spPr>
        <a:xfrm>
          <a:off x="0" y="462655"/>
          <a:ext cx="5325036" cy="612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容易实现，即使确认丢失也不必重传。</a:t>
          </a:r>
        </a:p>
      </dsp:txBody>
      <dsp:txXfrm>
        <a:off x="0" y="462655"/>
        <a:ext cx="5325036" cy="612720"/>
      </dsp:txXfrm>
    </dsp:sp>
    <dsp:sp modelId="{22292CD0-ACC3-4A3E-B075-1AF230BC97FF}">
      <dsp:nvSpPr>
        <dsp:cNvPr id="0" name=""/>
        <dsp:cNvSpPr/>
      </dsp:nvSpPr>
      <dsp:spPr>
        <a:xfrm>
          <a:off x="0" y="1075375"/>
          <a:ext cx="5325036" cy="45568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缺点</a:t>
          </a:r>
        </a:p>
      </dsp:txBody>
      <dsp:txXfrm>
        <a:off x="22244" y="1097619"/>
        <a:ext cx="5280548" cy="411192"/>
      </dsp:txXfrm>
    </dsp:sp>
    <dsp:sp modelId="{CB9D41E1-F2ED-4448-86ED-9FD25B52E29B}">
      <dsp:nvSpPr>
        <dsp:cNvPr id="0" name=""/>
        <dsp:cNvSpPr/>
      </dsp:nvSpPr>
      <dsp:spPr>
        <a:xfrm>
          <a:off x="0" y="1531056"/>
          <a:ext cx="5325036" cy="765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9070"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zh-CN" altLang="en-US" sz="1800" b="1" kern="1200" dirty="0">
              <a:latin typeface="微软雅黑" panose="020B0503020204020204" pitchFamily="34" charset="-122"/>
              <a:ea typeface="微软雅黑" panose="020B0503020204020204" pitchFamily="34" charset="-122"/>
            </a:rPr>
            <a:t>不能向发送方反映出接收方已经正确收到的所有分组的信息。</a:t>
          </a:r>
        </a:p>
      </dsp:txBody>
      <dsp:txXfrm>
        <a:off x="0" y="1531056"/>
        <a:ext cx="5325036" cy="7659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altLang="zh-CN" sz="1600" b="0" kern="1200" dirty="0">
              <a:solidFill>
                <a:schemeClr val="bg1"/>
              </a:solidFill>
              <a:latin typeface="Montserrat" panose="00000500000000000000" pitchFamily="2" charset="0"/>
              <a:ea typeface="微软雅黑 Light" panose="020B0502040204020203" pitchFamily="34" charset="-122"/>
            </a:rPr>
            <a:t>3</a:t>
          </a:r>
          <a:r>
            <a:rPr lang="zh-CN" altLang="en-US" sz="1600" b="0" kern="1200" dirty="0">
              <a:solidFill>
                <a:schemeClr val="bg1"/>
              </a:solidFill>
              <a:latin typeface="Montserrat" panose="00000500000000000000" pitchFamily="2" charset="0"/>
              <a:ea typeface="微软雅黑 Light" panose="020B0502040204020203"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Montserrat" panose="00000500000000000000" pitchFamily="2" charset="0"/>
              <a:ea typeface="微软雅黑 Light" panose="020B0502040204020203"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altLang="zh-CN" sz="1600" b="0" kern="1200" dirty="0">
              <a:solidFill>
                <a:schemeClr val="bg1"/>
              </a:solidFill>
              <a:latin typeface="Montserrat" panose="00000500000000000000" pitchFamily="2" charset="0"/>
              <a:ea typeface="微软雅黑 Light" panose="020B0502040204020203" pitchFamily="34" charset="-122"/>
            </a:rPr>
            <a:t>2</a:t>
          </a:r>
          <a:r>
            <a:rPr lang="zh-CN" altLang="en-US" sz="1600" b="0" kern="1200" dirty="0">
              <a:solidFill>
                <a:schemeClr val="bg1"/>
              </a:solidFill>
              <a:latin typeface="Montserrat" panose="00000500000000000000" pitchFamily="2" charset="0"/>
              <a:ea typeface="微软雅黑 Light" panose="020B0502040204020203"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Montserrat" panose="00000500000000000000" pitchFamily="2" charset="0"/>
              <a:ea typeface="微软雅黑 Light" panose="020B0502040204020203"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3792" tIns="113792" rIns="113792" bIns="113792" numCol="1" spcCol="1270" anchor="ctr" anchorCtr="0">
          <a:noAutofit/>
        </a:bodyPr>
        <a:lstStyle/>
        <a:p>
          <a:pPr marL="0" lvl="0" indent="0" algn="ctr" defTabSz="711200">
            <a:lnSpc>
              <a:spcPct val="90000"/>
            </a:lnSpc>
            <a:spcBef>
              <a:spcPct val="0"/>
            </a:spcBef>
            <a:spcAft>
              <a:spcPct val="35000"/>
            </a:spcAft>
            <a:buNone/>
          </a:pPr>
          <a:r>
            <a:rPr lang="en-US" altLang="zh-CN" sz="1600" b="0" kern="1200" dirty="0">
              <a:solidFill>
                <a:schemeClr val="bg1"/>
              </a:solidFill>
              <a:latin typeface="Montserrat" panose="00000500000000000000" pitchFamily="2" charset="0"/>
              <a:ea typeface="微软雅黑 Light" panose="020B0502040204020203" pitchFamily="34" charset="-122"/>
            </a:rPr>
            <a:t>1</a:t>
          </a:r>
          <a:r>
            <a:rPr lang="zh-CN" altLang="en-US" sz="1600" b="0" kern="1200" dirty="0">
              <a:solidFill>
                <a:schemeClr val="bg1"/>
              </a:solidFill>
              <a:latin typeface="Montserrat" panose="00000500000000000000" pitchFamily="2" charset="0"/>
              <a:ea typeface="微软雅黑 Light" panose="020B0502040204020203"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Montserrat" panose="00000500000000000000" pitchFamily="2" charset="0"/>
              <a:ea typeface="微软雅黑 Light" panose="020B0502040204020203" pitchFamily="34" charset="-122"/>
            </a:rPr>
            <a:t>监测网络系统，检测拥塞在何时、何处发生。</a:t>
          </a:r>
        </a:p>
      </dsp:txBody>
      <dsp:txXfrm>
        <a:off x="0" y="376483"/>
        <a:ext cx="4409319" cy="3202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B4AA41-5371-4B42-9534-5C50524AC84F}">
      <dsp:nvSpPr>
        <dsp:cNvPr id="0" name=""/>
        <dsp:cNvSpPr/>
      </dsp:nvSpPr>
      <dsp:spPr>
        <a:xfrm>
          <a:off x="0" y="2121967"/>
          <a:ext cx="4409319" cy="696477"/>
        </a:xfrm>
        <a:prstGeom prst="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3</a:t>
          </a:r>
          <a:r>
            <a:rPr lang="zh-CN" altLang="en-US" sz="1800" b="1" kern="1200" dirty="0">
              <a:solidFill>
                <a:schemeClr val="bg1"/>
              </a:solidFill>
              <a:latin typeface="微软雅黑" panose="020B0503020204020204" pitchFamily="34" charset="-122"/>
              <a:ea typeface="微软雅黑" panose="020B0503020204020204" pitchFamily="34" charset="-122"/>
            </a:rPr>
            <a:t>，调整</a:t>
          </a:r>
        </a:p>
      </dsp:txBody>
      <dsp:txXfrm>
        <a:off x="0" y="2121967"/>
        <a:ext cx="4409319" cy="376097"/>
      </dsp:txXfrm>
    </dsp:sp>
    <dsp:sp modelId="{7AD1C28F-030D-4602-84E6-F93CC486F863}">
      <dsp:nvSpPr>
        <dsp:cNvPr id="0" name=""/>
        <dsp:cNvSpPr/>
      </dsp:nvSpPr>
      <dsp:spPr>
        <a:xfrm>
          <a:off x="0" y="2484135"/>
          <a:ext cx="4409319" cy="320379"/>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调整网络系统的运行以解决出现的问题。</a:t>
          </a:r>
        </a:p>
      </dsp:txBody>
      <dsp:txXfrm>
        <a:off x="0" y="2484135"/>
        <a:ext cx="4409319" cy="320379"/>
      </dsp:txXfrm>
    </dsp:sp>
    <dsp:sp modelId="{DC00D219-7831-4F88-9472-DCEE38BA17C2}">
      <dsp:nvSpPr>
        <dsp:cNvPr id="0" name=""/>
        <dsp:cNvSpPr/>
      </dsp:nvSpPr>
      <dsp:spPr>
        <a:xfrm rot="10800000">
          <a:off x="0" y="1061232"/>
          <a:ext cx="4409319" cy="1071181"/>
        </a:xfrm>
        <a:prstGeom prst="upArrowCallout">
          <a:avLst/>
        </a:prstGeom>
        <a:gradFill rotWithShape="0">
          <a:gsLst>
            <a:gs pos="0">
              <a:schemeClr val="accent2">
                <a:hueOff val="2340759"/>
                <a:satOff val="-2919"/>
                <a:lumOff val="686"/>
                <a:alphaOff val="0"/>
                <a:shade val="51000"/>
                <a:satMod val="130000"/>
              </a:schemeClr>
            </a:gs>
            <a:gs pos="80000">
              <a:schemeClr val="accent2">
                <a:hueOff val="2340759"/>
                <a:satOff val="-2919"/>
                <a:lumOff val="686"/>
                <a:alphaOff val="0"/>
                <a:shade val="93000"/>
                <a:satMod val="130000"/>
              </a:schemeClr>
            </a:gs>
            <a:gs pos="100000">
              <a:schemeClr val="accent2">
                <a:hueOff val="2340759"/>
                <a:satOff val="-2919"/>
                <a:lumOff val="686"/>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2</a:t>
          </a:r>
          <a:r>
            <a:rPr lang="zh-CN" altLang="en-US" sz="1800" b="1" kern="1200" dirty="0">
              <a:solidFill>
                <a:schemeClr val="bg1"/>
              </a:solidFill>
              <a:latin typeface="微软雅黑" panose="020B0503020204020204" pitchFamily="34" charset="-122"/>
              <a:ea typeface="微软雅黑" panose="020B0503020204020204" pitchFamily="34" charset="-122"/>
            </a:rPr>
            <a:t>，传送</a:t>
          </a:r>
        </a:p>
      </dsp:txBody>
      <dsp:txXfrm rot="-10800000">
        <a:off x="0" y="1061232"/>
        <a:ext cx="4409319" cy="375984"/>
      </dsp:txXfrm>
    </dsp:sp>
    <dsp:sp modelId="{37CDBDB6-2170-404B-8F3F-363B34CA7CAF}">
      <dsp:nvSpPr>
        <dsp:cNvPr id="0" name=""/>
        <dsp:cNvSpPr/>
      </dsp:nvSpPr>
      <dsp:spPr>
        <a:xfrm>
          <a:off x="0" y="1437217"/>
          <a:ext cx="4409319" cy="320283"/>
        </a:xfrm>
        <a:prstGeom prst="rect">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将拥塞发生的信息传送到可采取行动的地方。</a:t>
          </a:r>
        </a:p>
      </dsp:txBody>
      <dsp:txXfrm>
        <a:off x="0" y="1437217"/>
        <a:ext cx="4409319" cy="320283"/>
      </dsp:txXfrm>
    </dsp:sp>
    <dsp:sp modelId="{021834F7-9CCD-4967-A129-E4F8A64E9A64}">
      <dsp:nvSpPr>
        <dsp:cNvPr id="0" name=""/>
        <dsp:cNvSpPr/>
      </dsp:nvSpPr>
      <dsp:spPr>
        <a:xfrm rot="10800000">
          <a:off x="0" y="498"/>
          <a:ext cx="4409319" cy="1071181"/>
        </a:xfrm>
        <a:prstGeom prst="upArrowCallout">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altLang="zh-CN" sz="1800" b="1" kern="1200" dirty="0">
              <a:solidFill>
                <a:schemeClr val="bg1"/>
              </a:solidFill>
              <a:latin typeface="微软雅黑" panose="020B0503020204020204" pitchFamily="34" charset="-122"/>
              <a:ea typeface="微软雅黑" panose="020B0503020204020204" pitchFamily="34" charset="-122"/>
            </a:rPr>
            <a:t>1</a:t>
          </a:r>
          <a:r>
            <a:rPr lang="zh-CN" altLang="en-US" sz="1800" b="1" kern="1200" dirty="0">
              <a:solidFill>
                <a:schemeClr val="bg1"/>
              </a:solidFill>
              <a:latin typeface="微软雅黑" panose="020B0503020204020204" pitchFamily="34" charset="-122"/>
              <a:ea typeface="微软雅黑" panose="020B0503020204020204" pitchFamily="34" charset="-122"/>
            </a:rPr>
            <a:t>，监测</a:t>
          </a:r>
        </a:p>
      </dsp:txBody>
      <dsp:txXfrm rot="-10800000">
        <a:off x="0" y="498"/>
        <a:ext cx="4409319" cy="375984"/>
      </dsp:txXfrm>
    </dsp:sp>
    <dsp:sp modelId="{131D3D73-943A-4F48-82DD-E5FF9CD6CF04}">
      <dsp:nvSpPr>
        <dsp:cNvPr id="0" name=""/>
        <dsp:cNvSpPr/>
      </dsp:nvSpPr>
      <dsp:spPr>
        <a:xfrm>
          <a:off x="0" y="376483"/>
          <a:ext cx="4409319" cy="320283"/>
        </a:xfrm>
        <a:prstGeom prst="rect">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3792" tIns="20320" rIns="113792" bIns="20320" numCol="1" spcCol="1270" anchor="ctr" anchorCtr="0">
          <a:noAutofit/>
        </a:bodyPr>
        <a:lstStyle/>
        <a:p>
          <a:pPr marL="0" lvl="0" indent="0" algn="ctr"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监测网络系统，检测拥塞在何时、何处发生。</a:t>
          </a:r>
        </a:p>
      </dsp:txBody>
      <dsp:txXfrm>
        <a:off x="0" y="376483"/>
        <a:ext cx="4409319" cy="3202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12784D-6662-4391-87B7-A8A7A5C6CD55}">
      <dsp:nvSpPr>
        <dsp:cNvPr id="0" name=""/>
        <dsp:cNvSpPr/>
      </dsp:nvSpPr>
      <dsp:spPr>
        <a:xfrm rot="5400000">
          <a:off x="4745037" y="-1993394"/>
          <a:ext cx="614681" cy="4755179"/>
        </a:xfrm>
        <a:prstGeom prst="round2SameRect">
          <a:avLst/>
        </a:prstGeom>
        <a:solidFill>
          <a:schemeClr val="accent5">
            <a:tint val="40000"/>
            <a:alpha val="90000"/>
            <a:hueOff val="0"/>
            <a:satOff val="0"/>
            <a:lumOff val="0"/>
            <a:alphaOff val="0"/>
          </a:schemeClr>
        </a:solidFill>
        <a:ln w="9525" cap="flat" cmpd="sng" algn="ctr">
          <a:solidFill>
            <a:schemeClr val="accent5">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网络已经出现了拥塞。</a:t>
          </a:r>
        </a:p>
      </dsp:txBody>
      <dsp:txXfrm rot="-5400000">
        <a:off x="2674788" y="106861"/>
        <a:ext cx="4725173" cy="554669"/>
      </dsp:txXfrm>
    </dsp:sp>
    <dsp:sp modelId="{5ED00335-F589-4BA4-BB17-2781BB242E82}">
      <dsp:nvSpPr>
        <dsp:cNvPr id="0" name=""/>
        <dsp:cNvSpPr/>
      </dsp:nvSpPr>
      <dsp:spPr>
        <a:xfrm>
          <a:off x="0" y="19"/>
          <a:ext cx="2674788" cy="768351"/>
        </a:xfrm>
        <a:prstGeom prst="roundRect">
          <a:avLst/>
        </a:prstGeom>
        <a:gradFill rotWithShape="0">
          <a:gsLst>
            <a:gs pos="0">
              <a:schemeClr val="accent5">
                <a:hueOff val="0"/>
                <a:satOff val="0"/>
                <a:lumOff val="0"/>
                <a:alphaOff val="0"/>
                <a:tint val="50000"/>
                <a:satMod val="300000"/>
              </a:schemeClr>
            </a:gs>
            <a:gs pos="35000">
              <a:schemeClr val="accent5">
                <a:hueOff val="0"/>
                <a:satOff val="0"/>
                <a:lumOff val="0"/>
                <a:alphaOff val="0"/>
                <a:tint val="37000"/>
                <a:satMod val="300000"/>
              </a:schemeClr>
            </a:gs>
            <a:gs pos="100000">
              <a:schemeClr val="accent5">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超时重传计时器超时</a:t>
          </a:r>
        </a:p>
      </dsp:txBody>
      <dsp:txXfrm>
        <a:off x="37508" y="37527"/>
        <a:ext cx="2599772" cy="693335"/>
      </dsp:txXfrm>
    </dsp:sp>
    <dsp:sp modelId="{45B4962A-C5E4-485B-B75C-CD9AAA63DA58}">
      <dsp:nvSpPr>
        <dsp:cNvPr id="0" name=""/>
        <dsp:cNvSpPr/>
      </dsp:nvSpPr>
      <dsp:spPr>
        <a:xfrm rot="5400000">
          <a:off x="4745037" y="-1186625"/>
          <a:ext cx="614681" cy="4755179"/>
        </a:xfrm>
        <a:prstGeom prst="round2SameRect">
          <a:avLst/>
        </a:prstGeom>
        <a:solidFill>
          <a:schemeClr val="accent5">
            <a:tint val="40000"/>
            <a:alpha val="90000"/>
            <a:hueOff val="-10740482"/>
            <a:satOff val="48253"/>
            <a:lumOff val="3317"/>
            <a:alphaOff val="0"/>
          </a:schemeClr>
        </a:solidFill>
        <a:ln w="9525" cap="flat" cmpd="sng" algn="ctr">
          <a:solidFill>
            <a:schemeClr val="accent5">
              <a:tint val="40000"/>
              <a:alpha val="90000"/>
              <a:hueOff val="-10740482"/>
              <a:satOff val="48253"/>
              <a:lumOff val="3317"/>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zh-CN" altLang="en-US" sz="1800" b="1" kern="1200" dirty="0">
              <a:latin typeface="微软雅黑" panose="020B0503020204020204" pitchFamily="34" charset="-122"/>
              <a:ea typeface="微软雅黑" panose="020B0503020204020204" pitchFamily="34" charset="-122"/>
            </a:rPr>
            <a:t>预示网络可能会出现拥塞。</a:t>
          </a:r>
        </a:p>
      </dsp:txBody>
      <dsp:txXfrm rot="-5400000">
        <a:off x="2674788" y="913630"/>
        <a:ext cx="4725173" cy="554669"/>
      </dsp:txXfrm>
    </dsp:sp>
    <dsp:sp modelId="{A154C679-5D7E-4C77-AEB3-2EDD606A8CBC}">
      <dsp:nvSpPr>
        <dsp:cNvPr id="0" name=""/>
        <dsp:cNvSpPr/>
      </dsp:nvSpPr>
      <dsp:spPr>
        <a:xfrm>
          <a:off x="0" y="806788"/>
          <a:ext cx="2674788" cy="768351"/>
        </a:xfrm>
        <a:prstGeom prst="roundRect">
          <a:avLst/>
        </a:prstGeom>
        <a:gradFill rotWithShape="0">
          <a:gsLst>
            <a:gs pos="0">
              <a:schemeClr val="accent5">
                <a:hueOff val="-9933876"/>
                <a:satOff val="39811"/>
                <a:lumOff val="8628"/>
                <a:alphaOff val="0"/>
                <a:tint val="50000"/>
                <a:satMod val="300000"/>
              </a:schemeClr>
            </a:gs>
            <a:gs pos="35000">
              <a:schemeClr val="accent5">
                <a:hueOff val="-9933876"/>
                <a:satOff val="39811"/>
                <a:lumOff val="8628"/>
                <a:alphaOff val="0"/>
                <a:tint val="37000"/>
                <a:satMod val="300000"/>
              </a:schemeClr>
            </a:gs>
            <a:gs pos="100000">
              <a:schemeClr val="accent5">
                <a:hueOff val="-9933876"/>
                <a:satOff val="39811"/>
                <a:lumOff val="8628"/>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34290" rIns="68580" bIns="3429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latin typeface="微软雅黑" panose="020B0503020204020204" pitchFamily="34" charset="-122"/>
              <a:ea typeface="微软雅黑" panose="020B0503020204020204" pitchFamily="34" charset="-122"/>
            </a:rPr>
            <a:t>收到 </a:t>
          </a:r>
          <a:r>
            <a:rPr lang="en-US" altLang="en-US" sz="1800" b="1" kern="1200" dirty="0">
              <a:latin typeface="微软雅黑" panose="020B0503020204020204" pitchFamily="34" charset="-122"/>
              <a:ea typeface="微软雅黑" panose="020B0503020204020204" pitchFamily="34" charset="-122"/>
            </a:rPr>
            <a:t>3 </a:t>
          </a:r>
          <a:r>
            <a:rPr lang="zh-CN" altLang="en-US" sz="1800" b="1" kern="1200" dirty="0">
              <a:latin typeface="微软雅黑" panose="020B0503020204020204" pitchFamily="34" charset="-122"/>
              <a:ea typeface="微软雅黑" panose="020B0503020204020204" pitchFamily="34" charset="-122"/>
            </a:rPr>
            <a:t>个重复的确认</a:t>
          </a:r>
        </a:p>
      </dsp:txBody>
      <dsp:txXfrm>
        <a:off x="37508" y="844296"/>
        <a:ext cx="2599772" cy="693335"/>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7F862E-94BD-4785-B015-5AD165AECE92}">
      <dsp:nvSpPr>
        <dsp:cNvPr id="0" name=""/>
        <dsp:cNvSpPr/>
      </dsp:nvSpPr>
      <dsp:spPr>
        <a:xfrm>
          <a:off x="0" y="0"/>
          <a:ext cx="4448995" cy="497250"/>
        </a:xfrm>
        <a:prstGeom prst="roundRect">
          <a:avLst/>
        </a:prstGeom>
        <a:gradFill rotWithShape="0">
          <a:gsLst>
            <a:gs pos="0">
              <a:schemeClr val="accent2">
                <a:hueOff val="0"/>
                <a:satOff val="0"/>
                <a:lumOff val="0"/>
                <a:alphaOff val="0"/>
                <a:tint val="50000"/>
                <a:satMod val="300000"/>
              </a:schemeClr>
            </a:gs>
            <a:gs pos="35000">
              <a:schemeClr val="accent2">
                <a:hueOff val="0"/>
                <a:satOff val="0"/>
                <a:lumOff val="0"/>
                <a:alphaOff val="0"/>
                <a:tint val="37000"/>
                <a:satMod val="300000"/>
              </a:schemeClr>
            </a:gs>
            <a:gs pos="100000">
              <a:schemeClr val="accent2">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拥塞窗口 </a:t>
          </a:r>
          <a:r>
            <a:rPr lang="en-US" altLang="en-US" sz="1600" b="1" kern="1200" dirty="0">
              <a:latin typeface="微软雅黑" panose="020B0503020204020204" pitchFamily="34" charset="-122"/>
              <a:ea typeface="微软雅黑" panose="020B0503020204020204" pitchFamily="34" charset="-122"/>
            </a:rPr>
            <a:t>cwnd</a:t>
          </a:r>
          <a:endParaRPr lang="zh-CN" altLang="en-US" sz="1600" b="1" kern="1200" dirty="0">
            <a:latin typeface="微软雅黑" panose="020B0503020204020204" pitchFamily="34" charset="-122"/>
            <a:ea typeface="微软雅黑" panose="020B0503020204020204" pitchFamily="34" charset="-122"/>
          </a:endParaRPr>
        </a:p>
      </dsp:txBody>
      <dsp:txXfrm>
        <a:off x="24274" y="24274"/>
        <a:ext cx="4400447" cy="448702"/>
      </dsp:txXfrm>
    </dsp:sp>
    <dsp:sp modelId="{52E83724-B715-4079-82F3-6EDE3B6F4C27}">
      <dsp:nvSpPr>
        <dsp:cNvPr id="0" name=""/>
        <dsp:cNvSpPr/>
      </dsp:nvSpPr>
      <dsp:spPr>
        <a:xfrm>
          <a:off x="0" y="505601"/>
          <a:ext cx="4448995" cy="931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ct val="20000"/>
            </a:spcAft>
            <a:buChar char="•"/>
          </a:pPr>
          <a:r>
            <a:rPr lang="zh-CN" altLang="en-US" sz="1600" b="1" kern="1200" dirty="0">
              <a:latin typeface="微软雅黑" panose="020B0503020204020204" pitchFamily="34" charset="-122"/>
              <a:ea typeface="微软雅黑" panose="020B0503020204020204" pitchFamily="34" charset="-122"/>
            </a:rPr>
            <a:t>初始值：</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种设置方法。</a:t>
          </a:r>
        </a:p>
        <a:p>
          <a:pPr marL="342900" lvl="2" indent="-171450" algn="l" defTabSz="711200">
            <a:lnSpc>
              <a:spcPct val="50000"/>
            </a:lnSpc>
            <a:spcBef>
              <a:spcPct val="0"/>
            </a:spcBef>
            <a:spcAft>
              <a:spcPts val="0"/>
            </a:spcAft>
            <a:buChar char="•"/>
          </a:pPr>
          <a:r>
            <a:rPr lang="en-US" altLang="en-US" sz="1600" b="1" kern="1200" dirty="0">
              <a:latin typeface="微软雅黑" panose="020B0503020204020204" pitchFamily="34" charset="-122"/>
              <a:ea typeface="微软雅黑" panose="020B0503020204020204" pitchFamily="34" charset="-122"/>
            </a:rPr>
            <a:t>1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 （旧标准）</a:t>
          </a:r>
        </a:p>
        <a:p>
          <a:pPr marL="342900" lvl="2" indent="-171450" algn="l" defTabSz="711200">
            <a:lnSpc>
              <a:spcPct val="90000"/>
            </a:lnSpc>
            <a:spcBef>
              <a:spcPct val="0"/>
            </a:spcBef>
            <a:spcAft>
              <a:spcPct val="20000"/>
            </a:spcAft>
            <a:buChar char="•"/>
          </a:pPr>
          <a:r>
            <a:rPr lang="en-US" altLang="en-US" sz="1600" b="1" kern="1200" dirty="0">
              <a:latin typeface="微软雅黑" panose="020B0503020204020204" pitchFamily="34" charset="-122"/>
              <a:ea typeface="微软雅黑" panose="020B0503020204020204" pitchFamily="34" charset="-122"/>
            </a:rPr>
            <a:t>2 </a:t>
          </a:r>
          <a:r>
            <a:rPr lang="zh-CN" altLang="en-US" sz="1600" b="1" kern="1200" dirty="0">
              <a:latin typeface="微软雅黑" panose="020B0503020204020204" pitchFamily="34" charset="-122"/>
              <a:ea typeface="微软雅黑" panose="020B0503020204020204" pitchFamily="34" charset="-122"/>
            </a:rPr>
            <a:t>至 </a:t>
          </a:r>
          <a:r>
            <a:rPr lang="en-US" altLang="en-US" sz="1600" b="1" kern="1200" dirty="0">
              <a:latin typeface="微软雅黑" panose="020B0503020204020204" pitchFamily="34" charset="-122"/>
              <a:ea typeface="微软雅黑" panose="020B0503020204020204" pitchFamily="34" charset="-122"/>
            </a:rPr>
            <a:t>4 </a:t>
          </a:r>
          <a:r>
            <a:rPr lang="zh-CN" altLang="en-US" sz="1600" b="1" kern="1200" dirty="0">
              <a:latin typeface="微软雅黑" panose="020B0503020204020204" pitchFamily="34" charset="-122"/>
              <a:ea typeface="微软雅黑" panose="020B0503020204020204" pitchFamily="34" charset="-122"/>
            </a:rPr>
            <a:t>个最大报文段 </a:t>
          </a:r>
          <a:r>
            <a:rPr lang="en-US" altLang="zh-CN" sz="1600" b="1" kern="1200" dirty="0">
              <a:latin typeface="微软雅黑" panose="020B0503020204020204" pitchFamily="34" charset="-122"/>
              <a:ea typeface="微软雅黑" panose="020B0503020204020204" pitchFamily="34" charset="-122"/>
            </a:rPr>
            <a:t>MSS</a:t>
          </a:r>
          <a:r>
            <a:rPr lang="zh-CN" altLang="en-US" sz="1600" b="1" kern="1200" dirty="0">
              <a:latin typeface="微软雅黑" panose="020B0503020204020204" pitchFamily="34" charset="-122"/>
              <a:ea typeface="微软雅黑" panose="020B0503020204020204" pitchFamily="34" charset="-122"/>
            </a:rPr>
            <a:t>（</a:t>
          </a:r>
          <a:r>
            <a:rPr lang="en-US" altLang="en-US" sz="1600" b="1" kern="1200" dirty="0">
              <a:latin typeface="微软雅黑" panose="020B0503020204020204" pitchFamily="34" charset="-122"/>
              <a:ea typeface="微软雅黑" panose="020B0503020204020204" pitchFamily="34" charset="-122"/>
            </a:rPr>
            <a:t>RFC 5681</a:t>
          </a:r>
          <a:r>
            <a:rPr lang="zh-CN" altLang="en-US" sz="1600" b="1" kern="1200" dirty="0">
              <a:latin typeface="微软雅黑" panose="020B0503020204020204" pitchFamily="34" charset="-122"/>
              <a:ea typeface="微软雅黑" panose="020B0503020204020204" pitchFamily="34" charset="-122"/>
            </a:rPr>
            <a:t>）</a:t>
          </a:r>
        </a:p>
      </dsp:txBody>
      <dsp:txXfrm>
        <a:off x="0" y="505601"/>
        <a:ext cx="4448995" cy="931500"/>
      </dsp:txXfrm>
    </dsp:sp>
    <dsp:sp modelId="{0ACFF9AA-D159-4169-9A52-90FB187B15AF}">
      <dsp:nvSpPr>
        <dsp:cNvPr id="0" name=""/>
        <dsp:cNvSpPr/>
      </dsp:nvSpPr>
      <dsp:spPr>
        <a:xfrm>
          <a:off x="0" y="1437101"/>
          <a:ext cx="4448995" cy="497250"/>
        </a:xfrm>
        <a:prstGeom prst="roundRect">
          <a:avLst/>
        </a:prstGeom>
        <a:gradFill rotWithShape="0">
          <a:gsLst>
            <a:gs pos="0">
              <a:schemeClr val="accent2">
                <a:hueOff val="4681519"/>
                <a:satOff val="-5839"/>
                <a:lumOff val="1373"/>
                <a:alphaOff val="0"/>
                <a:tint val="50000"/>
                <a:satMod val="300000"/>
              </a:schemeClr>
            </a:gs>
            <a:gs pos="35000">
              <a:schemeClr val="accent2">
                <a:hueOff val="4681519"/>
                <a:satOff val="-5839"/>
                <a:lumOff val="1373"/>
                <a:alphaOff val="0"/>
                <a:tint val="37000"/>
                <a:satMod val="300000"/>
              </a:schemeClr>
            </a:gs>
            <a:gs pos="100000">
              <a:schemeClr val="accent2">
                <a:hueOff val="4681519"/>
                <a:satOff val="-5839"/>
                <a:lumOff val="1373"/>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zh-CN" altLang="en-US" sz="1600" b="1" kern="1200" dirty="0">
              <a:latin typeface="微软雅黑" panose="020B0503020204020204" pitchFamily="34" charset="-122"/>
              <a:ea typeface="微软雅黑" panose="020B0503020204020204" pitchFamily="34" charset="-122"/>
            </a:rPr>
            <a:t>慢开始门限 </a:t>
          </a:r>
          <a:r>
            <a:rPr lang="en-US" altLang="en-US" sz="1600" b="1" kern="1200" dirty="0">
              <a:latin typeface="微软雅黑" panose="020B0503020204020204" pitchFamily="34" charset="-122"/>
              <a:ea typeface="微软雅黑" panose="020B0503020204020204" pitchFamily="34" charset="-122"/>
            </a:rPr>
            <a:t>ssthresh</a:t>
          </a:r>
          <a:endParaRPr lang="zh-CN" altLang="en-US" sz="1600" b="1" kern="1200" dirty="0">
            <a:latin typeface="微软雅黑" panose="020B0503020204020204" pitchFamily="34" charset="-122"/>
            <a:ea typeface="微软雅黑" panose="020B0503020204020204" pitchFamily="34" charset="-122"/>
          </a:endParaRPr>
        </a:p>
      </dsp:txBody>
      <dsp:txXfrm>
        <a:off x="24274" y="1461375"/>
        <a:ext cx="4400447" cy="448702"/>
      </dsp:txXfrm>
    </dsp:sp>
    <dsp:sp modelId="{A5F6C106-6A44-408A-BCD6-9853C05BAD0C}">
      <dsp:nvSpPr>
        <dsp:cNvPr id="0" name=""/>
        <dsp:cNvSpPr/>
      </dsp:nvSpPr>
      <dsp:spPr>
        <a:xfrm>
          <a:off x="0" y="1934351"/>
          <a:ext cx="4448995" cy="414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1256" tIns="20320" rIns="113792" bIns="20320" numCol="1" spcCol="1270" anchor="t" anchorCtr="0">
          <a:noAutofit/>
        </a:bodyPr>
        <a:lstStyle/>
        <a:p>
          <a:pPr marL="171450" lvl="1" indent="-171450" algn="l" defTabSz="711200">
            <a:lnSpc>
              <a:spcPct val="90000"/>
            </a:lnSpc>
            <a:spcBef>
              <a:spcPct val="0"/>
            </a:spcBef>
            <a:spcAft>
              <a:spcPts val="0"/>
            </a:spcAft>
            <a:buChar char="•"/>
          </a:pPr>
          <a:r>
            <a:rPr lang="zh-CN" altLang="en-US" sz="1600" b="1" kern="1200" dirty="0">
              <a:latin typeface="微软雅黑" panose="020B0503020204020204" pitchFamily="34" charset="-122"/>
              <a:ea typeface="微软雅黑" panose="020B0503020204020204" pitchFamily="34" charset="-122"/>
            </a:rPr>
            <a:t>防止拥塞窗口增长过大引起网络拥塞。</a:t>
          </a:r>
        </a:p>
      </dsp:txBody>
      <dsp:txXfrm>
        <a:off x="0" y="1934351"/>
        <a:ext cx="4448995" cy="41400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F7A0F7-AD19-4993-8574-730EC50C92A6}" type="datetimeFigureOut">
              <a:rPr lang="zh-CN" altLang="en-US" smtClean="0"/>
              <a:pPr/>
              <a:t>2025/11/25</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B14BD24-89E3-4C51-B736-BCCE6C13A884}" type="slidenum">
              <a:rPr lang="zh-CN" altLang="en-US" smtClean="0"/>
              <a:pPr/>
              <a:t>‹#›</a:t>
            </a:fld>
            <a:endParaRPr lang="zh-CN" altLang="en-US"/>
          </a:p>
        </p:txBody>
      </p:sp>
    </p:spTree>
    <p:extLst>
      <p:ext uri="{BB962C8B-B14F-4D97-AF65-F5344CB8AC3E}">
        <p14:creationId xmlns:p14="http://schemas.microsoft.com/office/powerpoint/2010/main" val="2173373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3</a:t>
            </a:fld>
            <a:endParaRPr lang="zh-CN" altLang="en-US"/>
          </a:p>
        </p:txBody>
      </p:sp>
    </p:spTree>
    <p:extLst>
      <p:ext uri="{BB962C8B-B14F-4D97-AF65-F5344CB8AC3E}">
        <p14:creationId xmlns:p14="http://schemas.microsoft.com/office/powerpoint/2010/main" val="41827944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7</a:t>
            </a:fld>
            <a:endParaRPr lang="zh-CN" altLang="en-US"/>
          </a:p>
        </p:txBody>
      </p:sp>
    </p:spTree>
    <p:extLst>
      <p:ext uri="{BB962C8B-B14F-4D97-AF65-F5344CB8AC3E}">
        <p14:creationId xmlns:p14="http://schemas.microsoft.com/office/powerpoint/2010/main" val="13905061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13</a:t>
            </a:fld>
            <a:endParaRPr lang="zh-CN" altLang="en-US"/>
          </a:p>
        </p:txBody>
      </p:sp>
    </p:spTree>
    <p:extLst>
      <p:ext uri="{BB962C8B-B14F-4D97-AF65-F5344CB8AC3E}">
        <p14:creationId xmlns:p14="http://schemas.microsoft.com/office/powerpoint/2010/main" val="18221425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63</a:t>
            </a:fld>
            <a:endParaRPr lang="zh-CN" altLang="en-US"/>
          </a:p>
        </p:txBody>
      </p:sp>
    </p:spTree>
    <p:extLst>
      <p:ext uri="{BB962C8B-B14F-4D97-AF65-F5344CB8AC3E}">
        <p14:creationId xmlns:p14="http://schemas.microsoft.com/office/powerpoint/2010/main" val="2006336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95</a:t>
            </a:fld>
            <a:endParaRPr lang="zh-CN" altLang="en-US"/>
          </a:p>
        </p:txBody>
      </p:sp>
    </p:spTree>
    <p:extLst>
      <p:ext uri="{BB962C8B-B14F-4D97-AF65-F5344CB8AC3E}">
        <p14:creationId xmlns:p14="http://schemas.microsoft.com/office/powerpoint/2010/main" val="3311582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96</a:t>
            </a:fld>
            <a:endParaRPr lang="zh-CN" altLang="en-US"/>
          </a:p>
        </p:txBody>
      </p:sp>
    </p:spTree>
    <p:extLst>
      <p:ext uri="{BB962C8B-B14F-4D97-AF65-F5344CB8AC3E}">
        <p14:creationId xmlns:p14="http://schemas.microsoft.com/office/powerpoint/2010/main" val="23785500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97</a:t>
            </a:fld>
            <a:endParaRPr lang="zh-CN" altLang="en-US"/>
          </a:p>
        </p:txBody>
      </p:sp>
    </p:spTree>
    <p:extLst>
      <p:ext uri="{BB962C8B-B14F-4D97-AF65-F5344CB8AC3E}">
        <p14:creationId xmlns:p14="http://schemas.microsoft.com/office/powerpoint/2010/main" val="4068373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98</a:t>
            </a:fld>
            <a:endParaRPr lang="zh-CN" altLang="en-US"/>
          </a:p>
        </p:txBody>
      </p:sp>
    </p:spTree>
    <p:extLst>
      <p:ext uri="{BB962C8B-B14F-4D97-AF65-F5344CB8AC3E}">
        <p14:creationId xmlns:p14="http://schemas.microsoft.com/office/powerpoint/2010/main" val="42710662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99</a:t>
            </a:fld>
            <a:endParaRPr lang="zh-CN" altLang="en-US"/>
          </a:p>
        </p:txBody>
      </p:sp>
    </p:spTree>
    <p:extLst>
      <p:ext uri="{BB962C8B-B14F-4D97-AF65-F5344CB8AC3E}">
        <p14:creationId xmlns:p14="http://schemas.microsoft.com/office/powerpoint/2010/main" val="6604815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103</a:t>
            </a:fld>
            <a:endParaRPr lang="zh-CN" altLang="en-US"/>
          </a:p>
        </p:txBody>
      </p:sp>
    </p:spTree>
    <p:extLst>
      <p:ext uri="{BB962C8B-B14F-4D97-AF65-F5344CB8AC3E}">
        <p14:creationId xmlns:p14="http://schemas.microsoft.com/office/powerpoint/2010/main" val="39740720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106</a:t>
            </a:fld>
            <a:endParaRPr lang="zh-CN" altLang="en-US"/>
          </a:p>
        </p:txBody>
      </p:sp>
    </p:spTree>
    <p:extLst>
      <p:ext uri="{BB962C8B-B14F-4D97-AF65-F5344CB8AC3E}">
        <p14:creationId xmlns:p14="http://schemas.microsoft.com/office/powerpoint/2010/main" val="601656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107</a:t>
            </a:fld>
            <a:endParaRPr lang="zh-CN" altLang="en-US"/>
          </a:p>
        </p:txBody>
      </p:sp>
    </p:spTree>
    <p:extLst>
      <p:ext uri="{BB962C8B-B14F-4D97-AF65-F5344CB8AC3E}">
        <p14:creationId xmlns:p14="http://schemas.microsoft.com/office/powerpoint/2010/main" val="41913262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108</a:t>
            </a:fld>
            <a:endParaRPr lang="zh-CN" altLang="en-US"/>
          </a:p>
        </p:txBody>
      </p:sp>
    </p:spTree>
    <p:extLst>
      <p:ext uri="{BB962C8B-B14F-4D97-AF65-F5344CB8AC3E}">
        <p14:creationId xmlns:p14="http://schemas.microsoft.com/office/powerpoint/2010/main" val="4630614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109</a:t>
            </a:fld>
            <a:endParaRPr lang="zh-CN" altLang="en-US"/>
          </a:p>
        </p:txBody>
      </p:sp>
    </p:spTree>
    <p:extLst>
      <p:ext uri="{BB962C8B-B14F-4D97-AF65-F5344CB8AC3E}">
        <p14:creationId xmlns:p14="http://schemas.microsoft.com/office/powerpoint/2010/main" val="21023680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110</a:t>
            </a:fld>
            <a:endParaRPr lang="zh-CN" altLang="en-US"/>
          </a:p>
        </p:txBody>
      </p:sp>
    </p:spTree>
    <p:extLst>
      <p:ext uri="{BB962C8B-B14F-4D97-AF65-F5344CB8AC3E}">
        <p14:creationId xmlns:p14="http://schemas.microsoft.com/office/powerpoint/2010/main" val="34026396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111</a:t>
            </a:fld>
            <a:endParaRPr lang="zh-CN" altLang="en-US"/>
          </a:p>
        </p:txBody>
      </p:sp>
    </p:spTree>
    <p:extLst>
      <p:ext uri="{BB962C8B-B14F-4D97-AF65-F5344CB8AC3E}">
        <p14:creationId xmlns:p14="http://schemas.microsoft.com/office/powerpoint/2010/main" val="3453403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112</a:t>
            </a:fld>
            <a:endParaRPr lang="zh-CN" altLang="en-US"/>
          </a:p>
        </p:txBody>
      </p:sp>
    </p:spTree>
    <p:extLst>
      <p:ext uri="{BB962C8B-B14F-4D97-AF65-F5344CB8AC3E}">
        <p14:creationId xmlns:p14="http://schemas.microsoft.com/office/powerpoint/2010/main" val="2458753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113</a:t>
            </a:fld>
            <a:endParaRPr lang="zh-CN" altLang="en-US"/>
          </a:p>
        </p:txBody>
      </p:sp>
    </p:spTree>
    <p:extLst>
      <p:ext uri="{BB962C8B-B14F-4D97-AF65-F5344CB8AC3E}">
        <p14:creationId xmlns:p14="http://schemas.microsoft.com/office/powerpoint/2010/main" val="3250512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142</a:t>
            </a:fld>
            <a:endParaRPr lang="zh-CN" altLang="en-US"/>
          </a:p>
        </p:txBody>
      </p:sp>
    </p:spTree>
    <p:extLst>
      <p:ext uri="{BB962C8B-B14F-4D97-AF65-F5344CB8AC3E}">
        <p14:creationId xmlns:p14="http://schemas.microsoft.com/office/powerpoint/2010/main" val="12548379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191</a:t>
            </a:fld>
            <a:endParaRPr lang="zh-CN" altLang="en-US"/>
          </a:p>
        </p:txBody>
      </p:sp>
    </p:spTree>
    <p:extLst>
      <p:ext uri="{BB962C8B-B14F-4D97-AF65-F5344CB8AC3E}">
        <p14:creationId xmlns:p14="http://schemas.microsoft.com/office/powerpoint/2010/main" val="24475841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B14BD24-89E3-4C51-B736-BCCE6C13A884}" type="slidenum">
              <a:rPr lang="zh-CN" altLang="en-US" smtClean="0"/>
              <a:pPr/>
              <a:t>197</a:t>
            </a:fld>
            <a:endParaRPr lang="zh-CN" altLang="en-US"/>
          </a:p>
        </p:txBody>
      </p:sp>
    </p:spTree>
    <p:extLst>
      <p:ext uri="{BB962C8B-B14F-4D97-AF65-F5344CB8AC3E}">
        <p14:creationId xmlns:p14="http://schemas.microsoft.com/office/powerpoint/2010/main" val="40509294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13" name="图片占位符 12">
            <a:extLst>
              <a:ext uri="{FF2B5EF4-FFF2-40B4-BE49-F238E27FC236}">
                <a16:creationId xmlns:a16="http://schemas.microsoft.com/office/drawing/2014/main" id="{8B78042A-5179-0C3E-C3DD-06774642CF04}"/>
              </a:ext>
            </a:extLst>
          </p:cNvPr>
          <p:cNvSpPr>
            <a:spLocks noGrp="1" noChangeAspect="1"/>
          </p:cNvSpPr>
          <p:nvPr>
            <p:ph type="pic" sz="quarter" idx="12"/>
          </p:nvPr>
        </p:nvSpPr>
        <p:spPr>
          <a:xfrm>
            <a:off x="5079431" y="1178017"/>
            <a:ext cx="3600000" cy="2787466"/>
          </a:xfrm>
          <a:custGeom>
            <a:avLst/>
            <a:gdLst>
              <a:gd name="connsiteX0" fmla="*/ 895609 w 3600000"/>
              <a:gd name="connsiteY0" fmla="*/ 2704927 h 2787466"/>
              <a:gd name="connsiteX1" fmla="*/ 902204 w 3600000"/>
              <a:gd name="connsiteY1" fmla="*/ 2714989 h 2787466"/>
              <a:gd name="connsiteX2" fmla="*/ 895609 w 3600000"/>
              <a:gd name="connsiteY2" fmla="*/ 2704927 h 2787466"/>
              <a:gd name="connsiteX3" fmla="*/ 696344 w 3600000"/>
              <a:gd name="connsiteY3" fmla="*/ 2533081 h 2787466"/>
              <a:gd name="connsiteX4" fmla="*/ 689955 w 3600000"/>
              <a:gd name="connsiteY4" fmla="*/ 2539998 h 2787466"/>
              <a:gd name="connsiteX5" fmla="*/ 701702 w 3600000"/>
              <a:gd name="connsiteY5" fmla="*/ 2541098 h 2787466"/>
              <a:gd name="connsiteX6" fmla="*/ 696344 w 3600000"/>
              <a:gd name="connsiteY6" fmla="*/ 2533081 h 2787466"/>
              <a:gd name="connsiteX7" fmla="*/ 1008945 w 3600000"/>
              <a:gd name="connsiteY7" fmla="*/ 2532137 h 2787466"/>
              <a:gd name="connsiteX8" fmla="*/ 1012860 w 3600000"/>
              <a:gd name="connsiteY8" fmla="*/ 2538112 h 2787466"/>
              <a:gd name="connsiteX9" fmla="*/ 1014097 w 3600000"/>
              <a:gd name="connsiteY9" fmla="*/ 2534181 h 2787466"/>
              <a:gd name="connsiteX10" fmla="*/ 1008945 w 3600000"/>
              <a:gd name="connsiteY10" fmla="*/ 2532137 h 2787466"/>
              <a:gd name="connsiteX11" fmla="*/ 995963 w 3600000"/>
              <a:gd name="connsiteY11" fmla="*/ 2529150 h 2787466"/>
              <a:gd name="connsiteX12" fmla="*/ 990811 w 3600000"/>
              <a:gd name="connsiteY12" fmla="*/ 2538112 h 2787466"/>
              <a:gd name="connsiteX13" fmla="*/ 982981 w 3600000"/>
              <a:gd name="connsiteY13" fmla="*/ 2535125 h 2787466"/>
              <a:gd name="connsiteX14" fmla="*/ 980302 w 3600000"/>
              <a:gd name="connsiteY14" fmla="*/ 2556978 h 2787466"/>
              <a:gd name="connsiteX15" fmla="*/ 1007709 w 3600000"/>
              <a:gd name="connsiteY15" fmla="*/ 2556978 h 2787466"/>
              <a:gd name="connsiteX16" fmla="*/ 989369 w 3600000"/>
              <a:gd name="connsiteY16" fmla="*/ 2554934 h 2787466"/>
              <a:gd name="connsiteX17" fmla="*/ 1006473 w 3600000"/>
              <a:gd name="connsiteY17" fmla="*/ 2550061 h 2787466"/>
              <a:gd name="connsiteX18" fmla="*/ 1007709 w 3600000"/>
              <a:gd name="connsiteY18" fmla="*/ 2542985 h 2787466"/>
              <a:gd name="connsiteX19" fmla="*/ 995963 w 3600000"/>
              <a:gd name="connsiteY19" fmla="*/ 2529150 h 2787466"/>
              <a:gd name="connsiteX20" fmla="*/ 985454 w 3600000"/>
              <a:gd name="connsiteY20" fmla="*/ 2525219 h 2787466"/>
              <a:gd name="connsiteX21" fmla="*/ 982981 w 3600000"/>
              <a:gd name="connsiteY21" fmla="*/ 2533081 h 2787466"/>
              <a:gd name="connsiteX22" fmla="*/ 985454 w 3600000"/>
              <a:gd name="connsiteY22" fmla="*/ 2525219 h 2787466"/>
              <a:gd name="connsiteX23" fmla="*/ 825341 w 3600000"/>
              <a:gd name="connsiteY23" fmla="*/ 2520188 h 2787466"/>
              <a:gd name="connsiteX24" fmla="*/ 828020 w 3600000"/>
              <a:gd name="connsiteY24" fmla="*/ 2528207 h 2787466"/>
              <a:gd name="connsiteX25" fmla="*/ 825341 w 3600000"/>
              <a:gd name="connsiteY25" fmla="*/ 2520188 h 2787466"/>
              <a:gd name="connsiteX26" fmla="*/ 841002 w 3600000"/>
              <a:gd name="connsiteY26" fmla="*/ 2511226 h 2787466"/>
              <a:gd name="connsiteX27" fmla="*/ 830492 w 3600000"/>
              <a:gd name="connsiteY27" fmla="*/ 2515157 h 2787466"/>
              <a:gd name="connsiteX28" fmla="*/ 838323 w 3600000"/>
              <a:gd name="connsiteY28" fmla="*/ 2523176 h 2787466"/>
              <a:gd name="connsiteX29" fmla="*/ 841002 w 3600000"/>
              <a:gd name="connsiteY29" fmla="*/ 2520188 h 2787466"/>
              <a:gd name="connsiteX30" fmla="*/ 851305 w 3600000"/>
              <a:gd name="connsiteY30" fmla="*/ 2519245 h 2787466"/>
              <a:gd name="connsiteX31" fmla="*/ 841002 w 3600000"/>
              <a:gd name="connsiteY31" fmla="*/ 2511226 h 2787466"/>
              <a:gd name="connsiteX32" fmla="*/ 993284 w 3600000"/>
              <a:gd name="connsiteY32" fmla="*/ 2497391 h 2787466"/>
              <a:gd name="connsiteX33" fmla="*/ 992048 w 3600000"/>
              <a:gd name="connsiteY33" fmla="*/ 2513271 h 2787466"/>
              <a:gd name="connsiteX34" fmla="*/ 993284 w 3600000"/>
              <a:gd name="connsiteY34" fmla="*/ 2497391 h 2787466"/>
              <a:gd name="connsiteX35" fmla="*/ 1005030 w 3600000"/>
              <a:gd name="connsiteY35" fmla="*/ 2477423 h 2787466"/>
              <a:gd name="connsiteX36" fmla="*/ 1002557 w 3600000"/>
              <a:gd name="connsiteY36" fmla="*/ 2484499 h 2787466"/>
              <a:gd name="connsiteX37" fmla="*/ 1005030 w 3600000"/>
              <a:gd name="connsiteY37" fmla="*/ 2477423 h 2787466"/>
              <a:gd name="connsiteX38" fmla="*/ 718599 w 3600000"/>
              <a:gd name="connsiteY38" fmla="*/ 2437645 h 2787466"/>
              <a:gd name="connsiteX39" fmla="*/ 710768 w 3600000"/>
              <a:gd name="connsiteY39" fmla="*/ 2441733 h 2787466"/>
              <a:gd name="connsiteX40" fmla="*/ 729108 w 3600000"/>
              <a:gd name="connsiteY40" fmla="*/ 2464530 h 2787466"/>
              <a:gd name="connsiteX41" fmla="*/ 718599 w 3600000"/>
              <a:gd name="connsiteY41" fmla="*/ 2437645 h 2787466"/>
              <a:gd name="connsiteX42" fmla="*/ 1338145 w 3600000"/>
              <a:gd name="connsiteY42" fmla="*/ 2420888 h 2787466"/>
              <a:gd name="connsiteX43" fmla="*/ 1343250 w 3600000"/>
              <a:gd name="connsiteY43" fmla="*/ 2433521 h 2787466"/>
              <a:gd name="connsiteX44" fmla="*/ 1317522 w 3600000"/>
              <a:gd name="connsiteY44" fmla="*/ 2426743 h 2787466"/>
              <a:gd name="connsiteX45" fmla="*/ 1335491 w 3600000"/>
              <a:gd name="connsiteY45" fmla="*/ 2429670 h 2787466"/>
              <a:gd name="connsiteX46" fmla="*/ 1338145 w 3600000"/>
              <a:gd name="connsiteY46" fmla="*/ 2420888 h 2787466"/>
              <a:gd name="connsiteX47" fmla="*/ 714684 w 3600000"/>
              <a:gd name="connsiteY47" fmla="*/ 2411861 h 2787466"/>
              <a:gd name="connsiteX48" fmla="*/ 713447 w 3600000"/>
              <a:gd name="connsiteY48" fmla="*/ 2433715 h 2787466"/>
              <a:gd name="connsiteX49" fmla="*/ 723750 w 3600000"/>
              <a:gd name="connsiteY49" fmla="*/ 2431828 h 2787466"/>
              <a:gd name="connsiteX50" fmla="*/ 714684 w 3600000"/>
              <a:gd name="connsiteY50" fmla="*/ 2411861 h 2787466"/>
              <a:gd name="connsiteX51" fmla="*/ 1133310 w 3600000"/>
              <a:gd name="connsiteY51" fmla="*/ 2397717 h 2787466"/>
              <a:gd name="connsiteX52" fmla="*/ 1138379 w 3600000"/>
              <a:gd name="connsiteY52" fmla="*/ 2401623 h 2787466"/>
              <a:gd name="connsiteX53" fmla="*/ 1114048 w 3600000"/>
              <a:gd name="connsiteY53" fmla="*/ 2401623 h 2787466"/>
              <a:gd name="connsiteX54" fmla="*/ 1133310 w 3600000"/>
              <a:gd name="connsiteY54" fmla="*/ 2397717 h 2787466"/>
              <a:gd name="connsiteX55" fmla="*/ 1151513 w 3600000"/>
              <a:gd name="connsiteY55" fmla="*/ 2395630 h 2787466"/>
              <a:gd name="connsiteX56" fmla="*/ 1157126 w 3600000"/>
              <a:gd name="connsiteY56" fmla="*/ 2398484 h 2787466"/>
              <a:gd name="connsiteX57" fmla="*/ 1157717 w 3600000"/>
              <a:gd name="connsiteY57" fmla="*/ 2397956 h 2787466"/>
              <a:gd name="connsiteX58" fmla="*/ 1394595 w 3600000"/>
              <a:gd name="connsiteY58" fmla="*/ 2385531 h 2787466"/>
              <a:gd name="connsiteX59" fmla="*/ 1402219 w 3600000"/>
              <a:gd name="connsiteY59" fmla="*/ 2395515 h 2787466"/>
              <a:gd name="connsiteX60" fmla="*/ 1394595 w 3600000"/>
              <a:gd name="connsiteY60" fmla="*/ 2385531 h 2787466"/>
              <a:gd name="connsiteX61" fmla="*/ 719836 w 3600000"/>
              <a:gd name="connsiteY61" fmla="*/ 2378057 h 2787466"/>
              <a:gd name="connsiteX62" fmla="*/ 712005 w 3600000"/>
              <a:gd name="connsiteY62" fmla="*/ 2379158 h 2787466"/>
              <a:gd name="connsiteX63" fmla="*/ 717363 w 3600000"/>
              <a:gd name="connsiteY63" fmla="*/ 2399912 h 2787466"/>
              <a:gd name="connsiteX64" fmla="*/ 731581 w 3600000"/>
              <a:gd name="connsiteY64" fmla="*/ 2403999 h 2787466"/>
              <a:gd name="connsiteX65" fmla="*/ 719836 w 3600000"/>
              <a:gd name="connsiteY65" fmla="*/ 2378057 h 2787466"/>
              <a:gd name="connsiteX66" fmla="*/ 1343843 w 3600000"/>
              <a:gd name="connsiteY66" fmla="*/ 2373053 h 2787466"/>
              <a:gd name="connsiteX67" fmla="*/ 1334858 w 3600000"/>
              <a:gd name="connsiteY67" fmla="*/ 2383614 h 2787466"/>
              <a:gd name="connsiteX68" fmla="*/ 1343843 w 3600000"/>
              <a:gd name="connsiteY68" fmla="*/ 2373053 h 2787466"/>
              <a:gd name="connsiteX69" fmla="*/ 1340102 w 3600000"/>
              <a:gd name="connsiteY69" fmla="*/ 2364025 h 2787466"/>
              <a:gd name="connsiteX70" fmla="*/ 1337606 w 3600000"/>
              <a:gd name="connsiteY70" fmla="*/ 2377053 h 2787466"/>
              <a:gd name="connsiteX71" fmla="*/ 1325749 w 3600000"/>
              <a:gd name="connsiteY71" fmla="*/ 2374035 h 2787466"/>
              <a:gd name="connsiteX72" fmla="*/ 1323045 w 3600000"/>
              <a:gd name="connsiteY72" fmla="*/ 2372128 h 2787466"/>
              <a:gd name="connsiteX73" fmla="*/ 1340102 w 3600000"/>
              <a:gd name="connsiteY73" fmla="*/ 2364025 h 2787466"/>
              <a:gd name="connsiteX74" fmla="*/ 1374822 w 3600000"/>
              <a:gd name="connsiteY74" fmla="*/ 2356335 h 2787466"/>
              <a:gd name="connsiteX75" fmla="*/ 1422795 w 3600000"/>
              <a:gd name="connsiteY75" fmla="*/ 2360316 h 2787466"/>
              <a:gd name="connsiteX76" fmla="*/ 1390281 w 3600000"/>
              <a:gd name="connsiteY76" fmla="*/ 2379332 h 2787466"/>
              <a:gd name="connsiteX77" fmla="*/ 1343362 w 3600000"/>
              <a:gd name="connsiteY77" fmla="*/ 2371250 h 2787466"/>
              <a:gd name="connsiteX78" fmla="*/ 1374822 w 3600000"/>
              <a:gd name="connsiteY78" fmla="*/ 2356335 h 2787466"/>
              <a:gd name="connsiteX79" fmla="*/ 1302964 w 3600000"/>
              <a:gd name="connsiteY79" fmla="*/ 2316362 h 2787466"/>
              <a:gd name="connsiteX80" fmla="*/ 1300638 w 3600000"/>
              <a:gd name="connsiteY80" fmla="*/ 2317209 h 2787466"/>
              <a:gd name="connsiteX81" fmla="*/ 1286231 w 3600000"/>
              <a:gd name="connsiteY81" fmla="*/ 2336409 h 2787466"/>
              <a:gd name="connsiteX82" fmla="*/ 1289981 w 3600000"/>
              <a:gd name="connsiteY82" fmla="*/ 2341203 h 2787466"/>
              <a:gd name="connsiteX83" fmla="*/ 1296576 w 3600000"/>
              <a:gd name="connsiteY83" fmla="*/ 2330197 h 2787466"/>
              <a:gd name="connsiteX84" fmla="*/ 1309559 w 3600000"/>
              <a:gd name="connsiteY84" fmla="*/ 2339159 h 2787466"/>
              <a:gd name="connsiteX85" fmla="*/ 1326458 w 3600000"/>
              <a:gd name="connsiteY85" fmla="*/ 2330197 h 2787466"/>
              <a:gd name="connsiteX86" fmla="*/ 1336968 w 3600000"/>
              <a:gd name="connsiteY86" fmla="*/ 2316362 h 2787466"/>
              <a:gd name="connsiteX87" fmla="*/ 1318627 w 3600000"/>
              <a:gd name="connsiteY87" fmla="*/ 2317305 h 2787466"/>
              <a:gd name="connsiteX88" fmla="*/ 1321305 w 3600000"/>
              <a:gd name="connsiteY88" fmla="*/ 2326267 h 2787466"/>
              <a:gd name="connsiteX89" fmla="*/ 1308322 w 3600000"/>
              <a:gd name="connsiteY89" fmla="*/ 2329253 h 2787466"/>
              <a:gd name="connsiteX90" fmla="*/ 1302964 w 3600000"/>
              <a:gd name="connsiteY90" fmla="*/ 2316362 h 2787466"/>
              <a:gd name="connsiteX91" fmla="*/ 1359020 w 3600000"/>
              <a:gd name="connsiteY91" fmla="*/ 2312274 h 2787466"/>
              <a:gd name="connsiteX92" fmla="*/ 1343357 w 3600000"/>
              <a:gd name="connsiteY92" fmla="*/ 2315261 h 2787466"/>
              <a:gd name="connsiteX93" fmla="*/ 1349952 w 3600000"/>
              <a:gd name="connsiteY93" fmla="*/ 2321236 h 2787466"/>
              <a:gd name="connsiteX94" fmla="*/ 1359020 w 3600000"/>
              <a:gd name="connsiteY94" fmla="*/ 2312274 h 2787466"/>
              <a:gd name="connsiteX95" fmla="*/ 1479103 w 3600000"/>
              <a:gd name="connsiteY95" fmla="*/ 2234134 h 2787466"/>
              <a:gd name="connsiteX96" fmla="*/ 1489134 w 3600000"/>
              <a:gd name="connsiteY96" fmla="*/ 2234970 h 2787466"/>
              <a:gd name="connsiteX97" fmla="*/ 1481510 w 3600000"/>
              <a:gd name="connsiteY97" fmla="*/ 2241168 h 2787466"/>
              <a:gd name="connsiteX98" fmla="*/ 1473887 w 3600000"/>
              <a:gd name="connsiteY98" fmla="*/ 2237090 h 2787466"/>
              <a:gd name="connsiteX99" fmla="*/ 1479103 w 3600000"/>
              <a:gd name="connsiteY99" fmla="*/ 2234134 h 2787466"/>
              <a:gd name="connsiteX100" fmla="*/ 1484374 w 3600000"/>
              <a:gd name="connsiteY100" fmla="*/ 2205975 h 2787466"/>
              <a:gd name="connsiteX101" fmla="*/ 1468715 w 3600000"/>
              <a:gd name="connsiteY101" fmla="*/ 2209883 h 2787466"/>
              <a:gd name="connsiteX102" fmla="*/ 1484374 w 3600000"/>
              <a:gd name="connsiteY102" fmla="*/ 2205975 h 2787466"/>
              <a:gd name="connsiteX103" fmla="*/ 1419177 w 3600000"/>
              <a:gd name="connsiteY103" fmla="*/ 2182772 h 2787466"/>
              <a:gd name="connsiteX104" fmla="*/ 1419120 w 3600000"/>
              <a:gd name="connsiteY104" fmla="*/ 2183899 h 2787466"/>
              <a:gd name="connsiteX105" fmla="*/ 1421463 w 3600000"/>
              <a:gd name="connsiteY105" fmla="*/ 2183196 h 2787466"/>
              <a:gd name="connsiteX106" fmla="*/ 1379834 w 3600000"/>
              <a:gd name="connsiteY106" fmla="*/ 2127539 h 2787466"/>
              <a:gd name="connsiteX107" fmla="*/ 1369530 w 3600000"/>
              <a:gd name="connsiteY107" fmla="*/ 2133514 h 2787466"/>
              <a:gd name="connsiteX108" fmla="*/ 1379834 w 3600000"/>
              <a:gd name="connsiteY108" fmla="*/ 2127539 h 2787466"/>
              <a:gd name="connsiteX109" fmla="*/ 1443721 w 3600000"/>
              <a:gd name="connsiteY109" fmla="*/ 2121565 h 2787466"/>
              <a:gd name="connsiteX110" fmla="*/ 1439805 w 3600000"/>
              <a:gd name="connsiteY110" fmla="*/ 2132571 h 2787466"/>
              <a:gd name="connsiteX111" fmla="*/ 1443721 w 3600000"/>
              <a:gd name="connsiteY111" fmla="*/ 2121565 h 2787466"/>
              <a:gd name="connsiteX112" fmla="*/ 1392126 w 3600000"/>
              <a:gd name="connsiteY112" fmla="*/ 2113736 h 2787466"/>
              <a:gd name="connsiteX113" fmla="*/ 1388902 w 3600000"/>
              <a:gd name="connsiteY113" fmla="*/ 2116692 h 2787466"/>
              <a:gd name="connsiteX114" fmla="*/ 1392545 w 3600000"/>
              <a:gd name="connsiteY114" fmla="*/ 2116692 h 2787466"/>
              <a:gd name="connsiteX115" fmla="*/ 1425094 w 3600000"/>
              <a:gd name="connsiteY115" fmla="*/ 2112185 h 2787466"/>
              <a:gd name="connsiteX116" fmla="*/ 1424932 w 3600000"/>
              <a:gd name="connsiteY116" fmla="*/ 2113799 h 2787466"/>
              <a:gd name="connsiteX117" fmla="*/ 1426822 w 3600000"/>
              <a:gd name="connsiteY117" fmla="*/ 2113704 h 2787466"/>
              <a:gd name="connsiteX118" fmla="*/ 1435889 w 3600000"/>
              <a:gd name="connsiteY118" fmla="*/ 2125495 h 2787466"/>
              <a:gd name="connsiteX119" fmla="*/ 1431974 w 3600000"/>
              <a:gd name="connsiteY119" fmla="*/ 2119521 h 2787466"/>
              <a:gd name="connsiteX120" fmla="*/ 1435889 w 3600000"/>
              <a:gd name="connsiteY120" fmla="*/ 2115590 h 2787466"/>
              <a:gd name="connsiteX121" fmla="*/ 1428831 w 3600000"/>
              <a:gd name="connsiteY121" fmla="*/ 2112506 h 2787466"/>
              <a:gd name="connsiteX122" fmla="*/ 1443721 w 3600000"/>
              <a:gd name="connsiteY122" fmla="*/ 2110717 h 2787466"/>
              <a:gd name="connsiteX123" fmla="*/ 1457940 w 3600000"/>
              <a:gd name="connsiteY123" fmla="*/ 2114647 h 2787466"/>
              <a:gd name="connsiteX124" fmla="*/ 1443721 w 3600000"/>
              <a:gd name="connsiteY124" fmla="*/ 2110717 h 2787466"/>
              <a:gd name="connsiteX125" fmla="*/ 1390576 w 3600000"/>
              <a:gd name="connsiteY125" fmla="*/ 2095093 h 2787466"/>
              <a:gd name="connsiteX126" fmla="*/ 1383750 w 3600000"/>
              <a:gd name="connsiteY126" fmla="*/ 2098768 h 2787466"/>
              <a:gd name="connsiteX127" fmla="*/ 1399412 w 3600000"/>
              <a:gd name="connsiteY127" fmla="*/ 2096724 h 2787466"/>
              <a:gd name="connsiteX128" fmla="*/ 1390576 w 3600000"/>
              <a:gd name="connsiteY128" fmla="*/ 2095093 h 2787466"/>
              <a:gd name="connsiteX129" fmla="*/ 1469044 w 3600000"/>
              <a:gd name="connsiteY129" fmla="*/ 2093012 h 2787466"/>
              <a:gd name="connsiteX130" fmla="*/ 1473022 w 3600000"/>
              <a:gd name="connsiteY130" fmla="*/ 2099747 h 2787466"/>
              <a:gd name="connsiteX131" fmla="*/ 1461165 w 3600000"/>
              <a:gd name="connsiteY131" fmla="*/ 2096736 h 2787466"/>
              <a:gd name="connsiteX132" fmla="*/ 1469044 w 3600000"/>
              <a:gd name="connsiteY132" fmla="*/ 2093012 h 2787466"/>
              <a:gd name="connsiteX133" fmla="*/ 1473603 w 3600000"/>
              <a:gd name="connsiteY133" fmla="*/ 2050030 h 2787466"/>
              <a:gd name="connsiteX134" fmla="*/ 1455468 w 3600000"/>
              <a:gd name="connsiteY134" fmla="*/ 2065909 h 2787466"/>
              <a:gd name="connsiteX135" fmla="*/ 1473603 w 3600000"/>
              <a:gd name="connsiteY135" fmla="*/ 2058991 h 2787466"/>
              <a:gd name="connsiteX136" fmla="*/ 1477518 w 3600000"/>
              <a:gd name="connsiteY136" fmla="*/ 2058991 h 2787466"/>
              <a:gd name="connsiteX137" fmla="*/ 1473603 w 3600000"/>
              <a:gd name="connsiteY137" fmla="*/ 2050030 h 2787466"/>
              <a:gd name="connsiteX138" fmla="*/ 1489265 w 3600000"/>
              <a:gd name="connsiteY138" fmla="*/ 2034150 h 2787466"/>
              <a:gd name="connsiteX139" fmla="*/ 1478755 w 3600000"/>
              <a:gd name="connsiteY139" fmla="*/ 2037138 h 2787466"/>
              <a:gd name="connsiteX140" fmla="*/ 1482671 w 3600000"/>
              <a:gd name="connsiteY140" fmla="*/ 2042169 h 2787466"/>
              <a:gd name="connsiteX141" fmla="*/ 1489265 w 3600000"/>
              <a:gd name="connsiteY141" fmla="*/ 2034150 h 2787466"/>
              <a:gd name="connsiteX142" fmla="*/ 596196 w 3600000"/>
              <a:gd name="connsiteY142" fmla="*/ 2000562 h 2787466"/>
              <a:gd name="connsiteX143" fmla="*/ 589602 w 3600000"/>
              <a:gd name="connsiteY143" fmla="*/ 2002606 h 2787466"/>
              <a:gd name="connsiteX144" fmla="*/ 593517 w 3600000"/>
              <a:gd name="connsiteY144" fmla="*/ 2007480 h 2787466"/>
              <a:gd name="connsiteX145" fmla="*/ 596196 w 3600000"/>
              <a:gd name="connsiteY145" fmla="*/ 2000562 h 2787466"/>
              <a:gd name="connsiteX146" fmla="*/ 587129 w 3600000"/>
              <a:gd name="connsiteY146" fmla="*/ 1988613 h 2787466"/>
              <a:gd name="connsiteX147" fmla="*/ 583214 w 3600000"/>
              <a:gd name="connsiteY147" fmla="*/ 1997575 h 2787466"/>
              <a:gd name="connsiteX148" fmla="*/ 598875 w 3600000"/>
              <a:gd name="connsiteY148" fmla="*/ 1998676 h 2787466"/>
              <a:gd name="connsiteX149" fmla="*/ 587129 w 3600000"/>
              <a:gd name="connsiteY149" fmla="*/ 1988613 h 2787466"/>
              <a:gd name="connsiteX150" fmla="*/ 597432 w 3600000"/>
              <a:gd name="connsiteY150" fmla="*/ 1971790 h 2787466"/>
              <a:gd name="connsiteX151" fmla="*/ 587129 w 3600000"/>
              <a:gd name="connsiteY151" fmla="*/ 1977765 h 2787466"/>
              <a:gd name="connsiteX152" fmla="*/ 605262 w 3600000"/>
              <a:gd name="connsiteY152" fmla="*/ 1981695 h 2787466"/>
              <a:gd name="connsiteX153" fmla="*/ 597432 w 3600000"/>
              <a:gd name="connsiteY153" fmla="*/ 1971790 h 2787466"/>
              <a:gd name="connsiteX154" fmla="*/ 587129 w 3600000"/>
              <a:gd name="connsiteY154" fmla="*/ 1956854 h 2787466"/>
              <a:gd name="connsiteX155" fmla="*/ 596196 w 3600000"/>
              <a:gd name="connsiteY155" fmla="*/ 1963772 h 2787466"/>
              <a:gd name="connsiteX156" fmla="*/ 592280 w 3600000"/>
              <a:gd name="connsiteY156" fmla="*/ 1967860 h 2787466"/>
              <a:gd name="connsiteX157" fmla="*/ 607941 w 3600000"/>
              <a:gd name="connsiteY157" fmla="*/ 1971790 h 2787466"/>
              <a:gd name="connsiteX158" fmla="*/ 597432 w 3600000"/>
              <a:gd name="connsiteY158" fmla="*/ 1957955 h 2787466"/>
              <a:gd name="connsiteX159" fmla="*/ 587129 w 3600000"/>
              <a:gd name="connsiteY159" fmla="*/ 1956854 h 2787466"/>
              <a:gd name="connsiteX160" fmla="*/ 1554788 w 3600000"/>
              <a:gd name="connsiteY160" fmla="*/ 1949919 h 2787466"/>
              <a:gd name="connsiteX161" fmla="*/ 1545672 w 3600000"/>
              <a:gd name="connsiteY161" fmla="*/ 1952778 h 2787466"/>
              <a:gd name="connsiteX162" fmla="*/ 1554788 w 3600000"/>
              <a:gd name="connsiteY162" fmla="*/ 1949919 h 2787466"/>
              <a:gd name="connsiteX163" fmla="*/ 1579484 w 3600000"/>
              <a:gd name="connsiteY163" fmla="*/ 1884182 h 2787466"/>
              <a:gd name="connsiteX164" fmla="*/ 1581784 w 3600000"/>
              <a:gd name="connsiteY164" fmla="*/ 1886033 h 2787466"/>
              <a:gd name="connsiteX165" fmla="*/ 1591815 w 3600000"/>
              <a:gd name="connsiteY165" fmla="*/ 1886963 h 2787466"/>
              <a:gd name="connsiteX166" fmla="*/ 1588003 w 3600000"/>
              <a:gd name="connsiteY166" fmla="*/ 1891770 h 2787466"/>
              <a:gd name="connsiteX167" fmla="*/ 1579484 w 3600000"/>
              <a:gd name="connsiteY167" fmla="*/ 1884182 h 2787466"/>
              <a:gd name="connsiteX168" fmla="*/ 1543878 w 3600000"/>
              <a:gd name="connsiteY168" fmla="*/ 1883219 h 2787466"/>
              <a:gd name="connsiteX169" fmla="*/ 1551710 w 3600000"/>
              <a:gd name="connsiteY169" fmla="*/ 1891080 h 2787466"/>
              <a:gd name="connsiteX170" fmla="*/ 1543878 w 3600000"/>
              <a:gd name="connsiteY170" fmla="*/ 1883219 h 2787466"/>
              <a:gd name="connsiteX171" fmla="*/ 412877 w 3600000"/>
              <a:gd name="connsiteY171" fmla="*/ 1882219 h 2787466"/>
              <a:gd name="connsiteX172" fmla="*/ 435052 w 3600000"/>
              <a:gd name="connsiteY172" fmla="*/ 1891077 h 2787466"/>
              <a:gd name="connsiteX173" fmla="*/ 412877 w 3600000"/>
              <a:gd name="connsiteY173" fmla="*/ 1882219 h 2787466"/>
              <a:gd name="connsiteX174" fmla="*/ 49134 w 3600000"/>
              <a:gd name="connsiteY174" fmla="*/ 1866274 h 2787466"/>
              <a:gd name="connsiteX175" fmla="*/ 57039 w 3600000"/>
              <a:gd name="connsiteY175" fmla="*/ 1869361 h 2787466"/>
              <a:gd name="connsiteX176" fmla="*/ 39982 w 3600000"/>
              <a:gd name="connsiteY176" fmla="*/ 1873424 h 2787466"/>
              <a:gd name="connsiteX177" fmla="*/ 49134 w 3600000"/>
              <a:gd name="connsiteY177" fmla="*/ 1866274 h 2787466"/>
              <a:gd name="connsiteX178" fmla="*/ 358930 w 3600000"/>
              <a:gd name="connsiteY178" fmla="*/ 1842703 h 2787466"/>
              <a:gd name="connsiteX179" fmla="*/ 372348 w 3600000"/>
              <a:gd name="connsiteY179" fmla="*/ 1850863 h 2787466"/>
              <a:gd name="connsiteX180" fmla="*/ 358930 w 3600000"/>
              <a:gd name="connsiteY180" fmla="*/ 1842703 h 2787466"/>
              <a:gd name="connsiteX181" fmla="*/ 1632348 w 3600000"/>
              <a:gd name="connsiteY181" fmla="*/ 1835770 h 2787466"/>
              <a:gd name="connsiteX182" fmla="*/ 1639058 w 3600000"/>
              <a:gd name="connsiteY182" fmla="*/ 1840890 h 2787466"/>
              <a:gd name="connsiteX183" fmla="*/ 1635074 w 3600000"/>
              <a:gd name="connsiteY183" fmla="*/ 1843930 h 2787466"/>
              <a:gd name="connsiteX184" fmla="*/ 1632348 w 3600000"/>
              <a:gd name="connsiteY184" fmla="*/ 1835770 h 2787466"/>
              <a:gd name="connsiteX185" fmla="*/ 1548570 w 3600000"/>
              <a:gd name="connsiteY185" fmla="*/ 1835049 h 2787466"/>
              <a:gd name="connsiteX186" fmla="*/ 1547628 w 3600000"/>
              <a:gd name="connsiteY186" fmla="*/ 1836411 h 2787466"/>
              <a:gd name="connsiteX187" fmla="*/ 1550499 w 3600000"/>
              <a:gd name="connsiteY187" fmla="*/ 1839059 h 2787466"/>
              <a:gd name="connsiteX188" fmla="*/ 1546558 w 3600000"/>
              <a:gd name="connsiteY188" fmla="*/ 1840454 h 2787466"/>
              <a:gd name="connsiteX189" fmla="*/ 1555625 w 3600000"/>
              <a:gd name="connsiteY189" fmla="*/ 1837467 h 2787466"/>
              <a:gd name="connsiteX190" fmla="*/ 1551742 w 3600000"/>
              <a:gd name="connsiteY190" fmla="*/ 1837760 h 2787466"/>
              <a:gd name="connsiteX191" fmla="*/ 1615403 w 3600000"/>
              <a:gd name="connsiteY191" fmla="*/ 1834854 h 2787466"/>
              <a:gd name="connsiteX192" fmla="*/ 1621794 w 3600000"/>
              <a:gd name="connsiteY192" fmla="*/ 1837890 h 2787466"/>
              <a:gd name="connsiteX193" fmla="*/ 1619309 w 3600000"/>
              <a:gd name="connsiteY193" fmla="*/ 1841851 h 2787466"/>
              <a:gd name="connsiteX194" fmla="*/ 1615403 w 3600000"/>
              <a:gd name="connsiteY194" fmla="*/ 1834854 h 2787466"/>
              <a:gd name="connsiteX195" fmla="*/ 1564693 w 3600000"/>
              <a:gd name="connsiteY195" fmla="*/ 1834480 h 2787466"/>
              <a:gd name="connsiteX196" fmla="*/ 1575203 w 3600000"/>
              <a:gd name="connsiteY196" fmla="*/ 1842341 h 2787466"/>
              <a:gd name="connsiteX197" fmla="*/ 1566135 w 3600000"/>
              <a:gd name="connsiteY197" fmla="*/ 1842341 h 2787466"/>
              <a:gd name="connsiteX198" fmla="*/ 1576439 w 3600000"/>
              <a:gd name="connsiteY198" fmla="*/ 1842341 h 2787466"/>
              <a:gd name="connsiteX199" fmla="*/ 1564693 w 3600000"/>
              <a:gd name="connsiteY199" fmla="*/ 1834480 h 2787466"/>
              <a:gd name="connsiteX200" fmla="*/ 551354 w 3600000"/>
              <a:gd name="connsiteY200" fmla="*/ 1831707 h 2787466"/>
              <a:gd name="connsiteX201" fmla="*/ 546552 w 3600000"/>
              <a:gd name="connsiteY201" fmla="*/ 1833360 h 2787466"/>
              <a:gd name="connsiteX202" fmla="*/ 553927 w 3600000"/>
              <a:gd name="connsiteY202" fmla="*/ 1840909 h 2787466"/>
              <a:gd name="connsiteX203" fmla="*/ 547789 w 3600000"/>
              <a:gd name="connsiteY203" fmla="*/ 1842321 h 2787466"/>
              <a:gd name="connsiteX204" fmla="*/ 554385 w 3600000"/>
              <a:gd name="connsiteY204" fmla="*/ 1841378 h 2787466"/>
              <a:gd name="connsiteX205" fmla="*/ 553927 w 3600000"/>
              <a:gd name="connsiteY205" fmla="*/ 1840909 h 2787466"/>
              <a:gd name="connsiteX206" fmla="*/ 560774 w 3600000"/>
              <a:gd name="connsiteY206" fmla="*/ 1839334 h 2787466"/>
              <a:gd name="connsiteX207" fmla="*/ 551354 w 3600000"/>
              <a:gd name="connsiteY207" fmla="*/ 1831707 h 2787466"/>
              <a:gd name="connsiteX208" fmla="*/ 1637158 w 3600000"/>
              <a:gd name="connsiteY208" fmla="*/ 1830086 h 2787466"/>
              <a:gd name="connsiteX209" fmla="*/ 1642699 w 3600000"/>
              <a:gd name="connsiteY209" fmla="*/ 1832662 h 2787466"/>
              <a:gd name="connsiteX210" fmla="*/ 1640051 w 3600000"/>
              <a:gd name="connsiteY210" fmla="*/ 1835615 h 2787466"/>
              <a:gd name="connsiteX211" fmla="*/ 1637158 w 3600000"/>
              <a:gd name="connsiteY211" fmla="*/ 1830086 h 2787466"/>
              <a:gd name="connsiteX212" fmla="*/ 1628598 w 3600000"/>
              <a:gd name="connsiteY212" fmla="*/ 1815947 h 2787466"/>
              <a:gd name="connsiteX213" fmla="*/ 1636337 w 3600000"/>
              <a:gd name="connsiteY213" fmla="*/ 1822122 h 2787466"/>
              <a:gd name="connsiteX214" fmla="*/ 1629820 w 3600000"/>
              <a:gd name="connsiteY214" fmla="*/ 1824071 h 2787466"/>
              <a:gd name="connsiteX215" fmla="*/ 1628598 w 3600000"/>
              <a:gd name="connsiteY215" fmla="*/ 1815947 h 2787466"/>
              <a:gd name="connsiteX216" fmla="*/ 1647042 w 3600000"/>
              <a:gd name="connsiteY216" fmla="*/ 1801800 h 2787466"/>
              <a:gd name="connsiteX217" fmla="*/ 1649465 w 3600000"/>
              <a:gd name="connsiteY217" fmla="*/ 1808793 h 2787466"/>
              <a:gd name="connsiteX218" fmla="*/ 1647042 w 3600000"/>
              <a:gd name="connsiteY218" fmla="*/ 1801800 h 2787466"/>
              <a:gd name="connsiteX219" fmla="*/ 1641061 w 3600000"/>
              <a:gd name="connsiteY219" fmla="*/ 1792884 h 2787466"/>
              <a:gd name="connsiteX220" fmla="*/ 1645418 w 3600000"/>
              <a:gd name="connsiteY220" fmla="*/ 1794092 h 2787466"/>
              <a:gd name="connsiteX221" fmla="*/ 1640176 w 3600000"/>
              <a:gd name="connsiteY221" fmla="*/ 1800051 h 2787466"/>
              <a:gd name="connsiteX222" fmla="*/ 1641061 w 3600000"/>
              <a:gd name="connsiteY222" fmla="*/ 1792884 h 2787466"/>
              <a:gd name="connsiteX223" fmla="*/ 377170 w 3600000"/>
              <a:gd name="connsiteY223" fmla="*/ 1783082 h 2787466"/>
              <a:gd name="connsiteX224" fmla="*/ 385016 w 3600000"/>
              <a:gd name="connsiteY224" fmla="*/ 1785098 h 2787466"/>
              <a:gd name="connsiteX225" fmla="*/ 385059 w 3600000"/>
              <a:gd name="connsiteY225" fmla="*/ 1785134 h 2787466"/>
              <a:gd name="connsiteX226" fmla="*/ 382006 w 3600000"/>
              <a:gd name="connsiteY226" fmla="*/ 1789507 h 2787466"/>
              <a:gd name="connsiteX227" fmla="*/ 379874 w 3600000"/>
              <a:gd name="connsiteY227" fmla="*/ 1794018 h 2787466"/>
              <a:gd name="connsiteX228" fmla="*/ 369265 w 3600000"/>
              <a:gd name="connsiteY228" fmla="*/ 1788081 h 2787466"/>
              <a:gd name="connsiteX229" fmla="*/ 377170 w 3600000"/>
              <a:gd name="connsiteY229" fmla="*/ 1783082 h 2787466"/>
              <a:gd name="connsiteX230" fmla="*/ 1608988 w 3600000"/>
              <a:gd name="connsiteY230" fmla="*/ 1773935 h 2787466"/>
              <a:gd name="connsiteX231" fmla="*/ 1607764 w 3600000"/>
              <a:gd name="connsiteY231" fmla="*/ 1774893 h 2787466"/>
              <a:gd name="connsiteX232" fmla="*/ 1615595 w 3600000"/>
              <a:gd name="connsiteY232" fmla="*/ 1781811 h 2787466"/>
              <a:gd name="connsiteX233" fmla="*/ 1615595 w 3600000"/>
              <a:gd name="connsiteY233" fmla="*/ 1775836 h 2787466"/>
              <a:gd name="connsiteX234" fmla="*/ 1608988 w 3600000"/>
              <a:gd name="connsiteY234" fmla="*/ 1773935 h 2787466"/>
              <a:gd name="connsiteX235" fmla="*/ 427210 w 3600000"/>
              <a:gd name="connsiteY235" fmla="*/ 1767185 h 2787466"/>
              <a:gd name="connsiteX236" fmla="*/ 425693 w 3600000"/>
              <a:gd name="connsiteY236" fmla="*/ 1769523 h 2787466"/>
              <a:gd name="connsiteX237" fmla="*/ 424128 w 3600000"/>
              <a:gd name="connsiteY237" fmla="*/ 1774873 h 2787466"/>
              <a:gd name="connsiteX238" fmla="*/ 422686 w 3600000"/>
              <a:gd name="connsiteY238" fmla="*/ 1783835 h 2787466"/>
              <a:gd name="connsiteX239" fmla="*/ 441029 w 3600000"/>
              <a:gd name="connsiteY239" fmla="*/ 1783835 h 2787466"/>
              <a:gd name="connsiteX240" fmla="*/ 432218 w 3600000"/>
              <a:gd name="connsiteY240" fmla="*/ 1772449 h 2787466"/>
              <a:gd name="connsiteX241" fmla="*/ 432946 w 3600000"/>
              <a:gd name="connsiteY241" fmla="*/ 1767590 h 2787466"/>
              <a:gd name="connsiteX242" fmla="*/ 428358 w 3600000"/>
              <a:gd name="connsiteY242" fmla="*/ 1769060 h 2787466"/>
              <a:gd name="connsiteX243" fmla="*/ 1649207 w 3600000"/>
              <a:gd name="connsiteY243" fmla="*/ 1763872 h 2787466"/>
              <a:gd name="connsiteX244" fmla="*/ 1657485 w 3600000"/>
              <a:gd name="connsiteY244" fmla="*/ 1767830 h 2787466"/>
              <a:gd name="connsiteX245" fmla="*/ 1653532 w 3600000"/>
              <a:gd name="connsiteY245" fmla="*/ 1776684 h 2787466"/>
              <a:gd name="connsiteX246" fmla="*/ 1651037 w 3600000"/>
              <a:gd name="connsiteY246" fmla="*/ 1771783 h 2787466"/>
              <a:gd name="connsiteX247" fmla="*/ 1654781 w 3600000"/>
              <a:gd name="connsiteY247" fmla="*/ 1767830 h 2787466"/>
              <a:gd name="connsiteX248" fmla="*/ 1651037 w 3600000"/>
              <a:gd name="connsiteY248" fmla="*/ 1767830 h 2787466"/>
              <a:gd name="connsiteX249" fmla="*/ 1649207 w 3600000"/>
              <a:gd name="connsiteY249" fmla="*/ 1763872 h 2787466"/>
              <a:gd name="connsiteX250" fmla="*/ 470824 w 3600000"/>
              <a:gd name="connsiteY250" fmla="*/ 1762045 h 2787466"/>
              <a:gd name="connsiteX251" fmla="*/ 468494 w 3600000"/>
              <a:gd name="connsiteY251" fmla="*/ 1762968 h 2787466"/>
              <a:gd name="connsiteX252" fmla="*/ 466281 w 3600000"/>
              <a:gd name="connsiteY252" fmla="*/ 1763714 h 2787466"/>
              <a:gd name="connsiteX253" fmla="*/ 480110 w 3600000"/>
              <a:gd name="connsiteY253" fmla="*/ 1769607 h 2787466"/>
              <a:gd name="connsiteX254" fmla="*/ 502240 w 3600000"/>
              <a:gd name="connsiteY254" fmla="*/ 1778804 h 2787466"/>
              <a:gd name="connsiteX255" fmla="*/ 504920 w 3600000"/>
              <a:gd name="connsiteY255" fmla="*/ 1768899 h 2787466"/>
              <a:gd name="connsiteX256" fmla="*/ 474430 w 3600000"/>
              <a:gd name="connsiteY256" fmla="*/ 1762134 h 2787466"/>
              <a:gd name="connsiteX257" fmla="*/ 1598697 w 3600000"/>
              <a:gd name="connsiteY257" fmla="*/ 1760900 h 2787466"/>
              <a:gd name="connsiteX258" fmla="*/ 1597254 w 3600000"/>
              <a:gd name="connsiteY258" fmla="*/ 1764988 h 2787466"/>
              <a:gd name="connsiteX259" fmla="*/ 1611681 w 3600000"/>
              <a:gd name="connsiteY259" fmla="*/ 1769862 h 2787466"/>
              <a:gd name="connsiteX260" fmla="*/ 1598697 w 3600000"/>
              <a:gd name="connsiteY260" fmla="*/ 1760900 h 2787466"/>
              <a:gd name="connsiteX261" fmla="*/ 1563456 w 3600000"/>
              <a:gd name="connsiteY261" fmla="*/ 1759014 h 2787466"/>
              <a:gd name="connsiteX262" fmla="*/ 1559541 w 3600000"/>
              <a:gd name="connsiteY262" fmla="*/ 1767975 h 2787466"/>
              <a:gd name="connsiteX263" fmla="*/ 1563456 w 3600000"/>
              <a:gd name="connsiteY263" fmla="*/ 1759014 h 2787466"/>
              <a:gd name="connsiteX264" fmla="*/ 1643372 w 3600000"/>
              <a:gd name="connsiteY264" fmla="*/ 1753997 h 2787466"/>
              <a:gd name="connsiteX265" fmla="*/ 1641946 w 3600000"/>
              <a:gd name="connsiteY265" fmla="*/ 1762122 h 2787466"/>
              <a:gd name="connsiteX266" fmla="*/ 1643372 w 3600000"/>
              <a:gd name="connsiteY266" fmla="*/ 1753997 h 2787466"/>
              <a:gd name="connsiteX267" fmla="*/ 1596018 w 3600000"/>
              <a:gd name="connsiteY267" fmla="*/ 1753983 h 2787466"/>
              <a:gd name="connsiteX268" fmla="*/ 1606528 w 3600000"/>
              <a:gd name="connsiteY268" fmla="*/ 1763888 h 2787466"/>
              <a:gd name="connsiteX269" fmla="*/ 1596018 w 3600000"/>
              <a:gd name="connsiteY269" fmla="*/ 1753983 h 2787466"/>
              <a:gd name="connsiteX270" fmla="*/ 328909 w 3600000"/>
              <a:gd name="connsiteY270" fmla="*/ 1745945 h 2787466"/>
              <a:gd name="connsiteX271" fmla="*/ 317162 w 3600000"/>
              <a:gd name="connsiteY271" fmla="*/ 1753020 h 2787466"/>
              <a:gd name="connsiteX272" fmla="*/ 326437 w 3600000"/>
              <a:gd name="connsiteY272" fmla="*/ 1753020 h 2787466"/>
              <a:gd name="connsiteX273" fmla="*/ 328909 w 3600000"/>
              <a:gd name="connsiteY273" fmla="*/ 1745945 h 2787466"/>
              <a:gd name="connsiteX274" fmla="*/ 152244 w 3600000"/>
              <a:gd name="connsiteY274" fmla="*/ 1735246 h 2787466"/>
              <a:gd name="connsiteX275" fmla="*/ 128758 w 3600000"/>
              <a:gd name="connsiteY275" fmla="*/ 1780888 h 2787466"/>
              <a:gd name="connsiteX276" fmla="*/ 111865 w 3600000"/>
              <a:gd name="connsiteY276" fmla="*/ 1792651 h 2787466"/>
              <a:gd name="connsiteX277" fmla="*/ 98886 w 3600000"/>
              <a:gd name="connsiteY277" fmla="*/ 1794690 h 2787466"/>
              <a:gd name="connsiteX278" fmla="*/ 93736 w 3600000"/>
              <a:gd name="connsiteY278" fmla="*/ 1805669 h 2787466"/>
              <a:gd name="connsiteX279" fmla="*/ 120929 w 3600000"/>
              <a:gd name="connsiteY279" fmla="*/ 1846292 h 2787466"/>
              <a:gd name="connsiteX280" fmla="*/ 113101 w 3600000"/>
              <a:gd name="connsiteY280" fmla="*/ 1851154 h 2787466"/>
              <a:gd name="connsiteX281" fmla="*/ 91058 w 3600000"/>
              <a:gd name="connsiteY281" fmla="*/ 1837352 h 2787466"/>
              <a:gd name="connsiteX282" fmla="*/ 75401 w 3600000"/>
              <a:gd name="connsiteY282" fmla="*/ 1837352 h 2787466"/>
              <a:gd name="connsiteX283" fmla="*/ 69014 w 3600000"/>
              <a:gd name="connsiteY283" fmla="*/ 1836254 h 2787466"/>
              <a:gd name="connsiteX284" fmla="*/ 72928 w 3600000"/>
              <a:gd name="connsiteY284" fmla="*/ 1850213 h 2787466"/>
              <a:gd name="connsiteX285" fmla="*/ 58507 w 3600000"/>
              <a:gd name="connsiteY285" fmla="*/ 1851154 h 2787466"/>
              <a:gd name="connsiteX286" fmla="*/ 53358 w 3600000"/>
              <a:gd name="connsiteY286" fmla="*/ 1839234 h 2787466"/>
              <a:gd name="connsiteX287" fmla="*/ 44293 w 3600000"/>
              <a:gd name="connsiteY287" fmla="*/ 1807552 h 2787466"/>
              <a:gd name="connsiteX288" fmla="*/ 35023 w 3600000"/>
              <a:gd name="connsiteY288" fmla="*/ 1829353 h 2787466"/>
              <a:gd name="connsiteX289" fmla="*/ 23280 w 3600000"/>
              <a:gd name="connsiteY289" fmla="*/ 1832333 h 2787466"/>
              <a:gd name="connsiteX290" fmla="*/ 29872 w 3600000"/>
              <a:gd name="connsiteY290" fmla="*/ 1802689 h 2787466"/>
              <a:gd name="connsiteX291" fmla="*/ 40378 w 3600000"/>
              <a:gd name="connsiteY291" fmla="*/ 1804572 h 2787466"/>
              <a:gd name="connsiteX292" fmla="*/ 83229 w 3600000"/>
              <a:gd name="connsiteY292" fmla="*/ 1784809 h 2787466"/>
              <a:gd name="connsiteX293" fmla="*/ 81993 w 3600000"/>
              <a:gd name="connsiteY293" fmla="*/ 1778849 h 2787466"/>
              <a:gd name="connsiteX294" fmla="*/ 93736 w 3600000"/>
              <a:gd name="connsiteY294" fmla="*/ 1778849 h 2787466"/>
              <a:gd name="connsiteX295" fmla="*/ 101564 w 3600000"/>
              <a:gd name="connsiteY295" fmla="*/ 1771948 h 2787466"/>
              <a:gd name="connsiteX296" fmla="*/ 97650 w 3600000"/>
              <a:gd name="connsiteY296" fmla="*/ 1766929 h 2787466"/>
              <a:gd name="connsiteX297" fmla="*/ 110629 w 3600000"/>
              <a:gd name="connsiteY297" fmla="*/ 1763008 h 2787466"/>
              <a:gd name="connsiteX298" fmla="*/ 106714 w 3600000"/>
              <a:gd name="connsiteY298" fmla="*/ 1757047 h 2787466"/>
              <a:gd name="connsiteX299" fmla="*/ 128758 w 3600000"/>
              <a:gd name="connsiteY299" fmla="*/ 1749049 h 2787466"/>
              <a:gd name="connsiteX300" fmla="*/ 152244 w 3600000"/>
              <a:gd name="connsiteY300" fmla="*/ 1735246 h 2787466"/>
              <a:gd name="connsiteX301" fmla="*/ 1709045 w 3600000"/>
              <a:gd name="connsiteY301" fmla="*/ 1724563 h 2787466"/>
              <a:gd name="connsiteX302" fmla="*/ 1717210 w 3600000"/>
              <a:gd name="connsiteY302" fmla="*/ 1727328 h 2787466"/>
              <a:gd name="connsiteX303" fmla="*/ 1713319 w 3600000"/>
              <a:gd name="connsiteY303" fmla="*/ 1740168 h 2787466"/>
              <a:gd name="connsiteX304" fmla="*/ 1706766 w 3600000"/>
              <a:gd name="connsiteY304" fmla="*/ 1739085 h 2787466"/>
              <a:gd name="connsiteX305" fmla="*/ 1708200 w 3600000"/>
              <a:gd name="connsiteY305" fmla="*/ 1731351 h 2787466"/>
              <a:gd name="connsiteX306" fmla="*/ 1702875 w 3600000"/>
              <a:gd name="connsiteY306" fmla="*/ 1728411 h 2787466"/>
              <a:gd name="connsiteX307" fmla="*/ 1709045 w 3600000"/>
              <a:gd name="connsiteY307" fmla="*/ 1724563 h 2787466"/>
              <a:gd name="connsiteX308" fmla="*/ 1681772 w 3600000"/>
              <a:gd name="connsiteY308" fmla="*/ 1720902 h 2787466"/>
              <a:gd name="connsiteX309" fmla="*/ 1677907 w 3600000"/>
              <a:gd name="connsiteY309" fmla="*/ 1744795 h 2787466"/>
              <a:gd name="connsiteX310" fmla="*/ 1676686 w 3600000"/>
              <a:gd name="connsiteY310" fmla="*/ 1729861 h 2787466"/>
              <a:gd name="connsiteX311" fmla="*/ 1671600 w 3600000"/>
              <a:gd name="connsiteY311" fmla="*/ 1726875 h 2787466"/>
              <a:gd name="connsiteX312" fmla="*/ 1668955 w 3600000"/>
              <a:gd name="connsiteY312" fmla="*/ 1735835 h 2787466"/>
              <a:gd name="connsiteX313" fmla="*/ 1658580 w 3600000"/>
              <a:gd name="connsiteY313" fmla="*/ 1732848 h 2787466"/>
              <a:gd name="connsiteX314" fmla="*/ 1657360 w 3600000"/>
              <a:gd name="connsiteY314" fmla="*/ 1725932 h 2787466"/>
              <a:gd name="connsiteX315" fmla="*/ 1670176 w 3600000"/>
              <a:gd name="connsiteY315" fmla="*/ 1724988 h 2787466"/>
              <a:gd name="connsiteX316" fmla="*/ 1666311 w 3600000"/>
              <a:gd name="connsiteY316" fmla="*/ 1723888 h 2787466"/>
              <a:gd name="connsiteX317" fmla="*/ 1681772 w 3600000"/>
              <a:gd name="connsiteY317" fmla="*/ 1720902 h 2787466"/>
              <a:gd name="connsiteX318" fmla="*/ 1645478 w 3600000"/>
              <a:gd name="connsiteY318" fmla="*/ 1703357 h 2787466"/>
              <a:gd name="connsiteX319" fmla="*/ 1641563 w 3600000"/>
              <a:gd name="connsiteY319" fmla="*/ 1707288 h 2787466"/>
              <a:gd name="connsiteX320" fmla="*/ 1648157 w 3600000"/>
              <a:gd name="connsiteY320" fmla="*/ 1714206 h 2787466"/>
              <a:gd name="connsiteX321" fmla="*/ 1645478 w 3600000"/>
              <a:gd name="connsiteY321" fmla="*/ 1703357 h 2787466"/>
              <a:gd name="connsiteX322" fmla="*/ 41269 w 3600000"/>
              <a:gd name="connsiteY322" fmla="*/ 1700583 h 2787466"/>
              <a:gd name="connsiteX323" fmla="*/ 29400 w 3600000"/>
              <a:gd name="connsiteY323" fmla="*/ 1719147 h 2787466"/>
              <a:gd name="connsiteX324" fmla="*/ 41269 w 3600000"/>
              <a:gd name="connsiteY324" fmla="*/ 1700583 h 2787466"/>
              <a:gd name="connsiteX325" fmla="*/ 1739122 w 3600000"/>
              <a:gd name="connsiteY325" fmla="*/ 1699197 h 2787466"/>
              <a:gd name="connsiteX326" fmla="*/ 1734074 w 3600000"/>
              <a:gd name="connsiteY326" fmla="*/ 1705047 h 2787466"/>
              <a:gd name="connsiteX327" fmla="*/ 1739122 w 3600000"/>
              <a:gd name="connsiteY327" fmla="*/ 1699197 h 2787466"/>
              <a:gd name="connsiteX328" fmla="*/ 71523 w 3600000"/>
              <a:gd name="connsiteY328" fmla="*/ 1697117 h 2787466"/>
              <a:gd name="connsiteX329" fmla="*/ 89997 w 3600000"/>
              <a:gd name="connsiteY329" fmla="*/ 1697117 h 2787466"/>
              <a:gd name="connsiteX330" fmla="*/ 107017 w 3600000"/>
              <a:gd name="connsiteY330" fmla="*/ 1701893 h 2787466"/>
              <a:gd name="connsiteX331" fmla="*/ 89997 w 3600000"/>
              <a:gd name="connsiteY331" fmla="*/ 1713601 h 2787466"/>
              <a:gd name="connsiteX332" fmla="*/ 74221 w 3600000"/>
              <a:gd name="connsiteY332" fmla="*/ 1703896 h 2787466"/>
              <a:gd name="connsiteX333" fmla="*/ 75466 w 3600000"/>
              <a:gd name="connsiteY333" fmla="*/ 1708826 h 2787466"/>
              <a:gd name="connsiteX334" fmla="*/ 71523 w 3600000"/>
              <a:gd name="connsiteY334" fmla="*/ 1697117 h 2787466"/>
              <a:gd name="connsiteX335" fmla="*/ 1715830 w 3600000"/>
              <a:gd name="connsiteY335" fmla="*/ 1696345 h 2787466"/>
              <a:gd name="connsiteX336" fmla="*/ 1721101 w 3600000"/>
              <a:gd name="connsiteY336" fmla="*/ 1699328 h 2787466"/>
              <a:gd name="connsiteX337" fmla="*/ 1721101 w 3600000"/>
              <a:gd name="connsiteY337" fmla="*/ 1706234 h 2787466"/>
              <a:gd name="connsiteX338" fmla="*/ 1732659 w 3600000"/>
              <a:gd name="connsiteY338" fmla="*/ 1717065 h 2787466"/>
              <a:gd name="connsiteX339" fmla="*/ 1719682 w 3600000"/>
              <a:gd name="connsiteY339" fmla="*/ 1712198 h 2787466"/>
              <a:gd name="connsiteX340" fmla="*/ 1709544 w 3600000"/>
              <a:gd name="connsiteY340" fmla="*/ 1700269 h 2787466"/>
              <a:gd name="connsiteX341" fmla="*/ 1715830 w 3600000"/>
              <a:gd name="connsiteY341" fmla="*/ 1696345 h 2787466"/>
              <a:gd name="connsiteX342" fmla="*/ 1678040 w 3600000"/>
              <a:gd name="connsiteY342" fmla="*/ 1695339 h 2787466"/>
              <a:gd name="connsiteX343" fmla="*/ 1689787 w 3600000"/>
              <a:gd name="connsiteY343" fmla="*/ 1703357 h 2787466"/>
              <a:gd name="connsiteX344" fmla="*/ 1689787 w 3600000"/>
              <a:gd name="connsiteY344" fmla="*/ 1696440 h 2787466"/>
              <a:gd name="connsiteX345" fmla="*/ 1678040 w 3600000"/>
              <a:gd name="connsiteY345" fmla="*/ 1695339 h 2787466"/>
              <a:gd name="connsiteX346" fmla="*/ 1654546 w 3600000"/>
              <a:gd name="connsiteY346" fmla="*/ 1691409 h 2787466"/>
              <a:gd name="connsiteX347" fmla="*/ 1648157 w 3600000"/>
              <a:gd name="connsiteY347" fmla="*/ 1694396 h 2787466"/>
              <a:gd name="connsiteX348" fmla="*/ 1654546 w 3600000"/>
              <a:gd name="connsiteY348" fmla="*/ 1704301 h 2787466"/>
              <a:gd name="connsiteX349" fmla="*/ 1662378 w 3600000"/>
              <a:gd name="connsiteY349" fmla="*/ 1703357 h 2787466"/>
              <a:gd name="connsiteX350" fmla="*/ 1654546 w 3600000"/>
              <a:gd name="connsiteY350" fmla="*/ 1691409 h 2787466"/>
              <a:gd name="connsiteX351" fmla="*/ 1724036 w 3600000"/>
              <a:gd name="connsiteY351" fmla="*/ 1691142 h 2787466"/>
              <a:gd name="connsiteX352" fmla="*/ 1731749 w 3600000"/>
              <a:gd name="connsiteY352" fmla="*/ 1692156 h 2787466"/>
              <a:gd name="connsiteX353" fmla="*/ 1722788 w 3600000"/>
              <a:gd name="connsiteY353" fmla="*/ 1699044 h 2787466"/>
              <a:gd name="connsiteX354" fmla="*/ 1720140 w 3600000"/>
              <a:gd name="connsiteY354" fmla="*/ 1695064 h 2787466"/>
              <a:gd name="connsiteX355" fmla="*/ 1724036 w 3600000"/>
              <a:gd name="connsiteY355" fmla="*/ 1691142 h 2787466"/>
              <a:gd name="connsiteX356" fmla="*/ 1689787 w 3600000"/>
              <a:gd name="connsiteY356" fmla="*/ 1684491 h 2787466"/>
              <a:gd name="connsiteX357" fmla="*/ 1687314 w 3600000"/>
              <a:gd name="connsiteY357" fmla="*/ 1690465 h 2787466"/>
              <a:gd name="connsiteX358" fmla="*/ 1692465 w 3600000"/>
              <a:gd name="connsiteY358" fmla="*/ 1700370 h 2787466"/>
              <a:gd name="connsiteX359" fmla="*/ 1689787 w 3600000"/>
              <a:gd name="connsiteY359" fmla="*/ 1684491 h 2787466"/>
              <a:gd name="connsiteX360" fmla="*/ 1672888 w 3600000"/>
              <a:gd name="connsiteY360" fmla="*/ 1670498 h 2787466"/>
              <a:gd name="connsiteX361" fmla="*/ 1671651 w 3600000"/>
              <a:gd name="connsiteY361" fmla="*/ 1675529 h 2787466"/>
              <a:gd name="connsiteX362" fmla="*/ 1671651 w 3600000"/>
              <a:gd name="connsiteY362" fmla="*/ 1681504 h 2787466"/>
              <a:gd name="connsiteX363" fmla="*/ 1680719 w 3600000"/>
              <a:gd name="connsiteY363" fmla="*/ 1690465 h 2787466"/>
              <a:gd name="connsiteX364" fmla="*/ 1684634 w 3600000"/>
              <a:gd name="connsiteY364" fmla="*/ 1683390 h 2787466"/>
              <a:gd name="connsiteX365" fmla="*/ 1672888 w 3600000"/>
              <a:gd name="connsiteY365" fmla="*/ 1670498 h 2787466"/>
              <a:gd name="connsiteX366" fmla="*/ 1660143 w 3600000"/>
              <a:gd name="connsiteY366" fmla="*/ 1667454 h 2787466"/>
              <a:gd name="connsiteX367" fmla="*/ 1658462 w 3600000"/>
              <a:gd name="connsiteY367" fmla="*/ 1670498 h 2787466"/>
              <a:gd name="connsiteX368" fmla="*/ 1667736 w 3600000"/>
              <a:gd name="connsiteY368" fmla="*/ 1679460 h 2787466"/>
              <a:gd name="connsiteX369" fmla="*/ 1660143 w 3600000"/>
              <a:gd name="connsiteY369" fmla="*/ 1667454 h 2787466"/>
              <a:gd name="connsiteX370" fmla="*/ 1718686 w 3600000"/>
              <a:gd name="connsiteY370" fmla="*/ 1666613 h 2787466"/>
              <a:gd name="connsiteX371" fmla="*/ 1734471 w 3600000"/>
              <a:gd name="connsiteY371" fmla="*/ 1670530 h 2787466"/>
              <a:gd name="connsiteX372" fmla="*/ 1713494 w 3600000"/>
              <a:gd name="connsiteY372" fmla="*/ 1689334 h 2787466"/>
              <a:gd name="connsiteX373" fmla="*/ 1708301 w 3600000"/>
              <a:gd name="connsiteY373" fmla="*/ 1679462 h 2787466"/>
              <a:gd name="connsiteX374" fmla="*/ 1705601 w 3600000"/>
              <a:gd name="connsiteY374" fmla="*/ 1680403 h 2787466"/>
              <a:gd name="connsiteX375" fmla="*/ 1718686 w 3600000"/>
              <a:gd name="connsiteY375" fmla="*/ 1666613 h 2787466"/>
              <a:gd name="connsiteX376" fmla="*/ 1818746 w 3600000"/>
              <a:gd name="connsiteY376" fmla="*/ 1665627 h 2787466"/>
              <a:gd name="connsiteX377" fmla="*/ 1815084 w 3600000"/>
              <a:gd name="connsiteY377" fmla="*/ 1674376 h 2787466"/>
              <a:gd name="connsiteX378" fmla="*/ 1818746 w 3600000"/>
              <a:gd name="connsiteY378" fmla="*/ 1665627 h 2787466"/>
              <a:gd name="connsiteX379" fmla="*/ 1845048 w 3600000"/>
              <a:gd name="connsiteY379" fmla="*/ 1664421 h 2787466"/>
              <a:gd name="connsiteX380" fmla="*/ 1850790 w 3600000"/>
              <a:gd name="connsiteY380" fmla="*/ 1669679 h 2787466"/>
              <a:gd name="connsiteX381" fmla="*/ 1838151 w 3600000"/>
              <a:gd name="connsiteY381" fmla="*/ 1672694 h 2787466"/>
              <a:gd name="connsiteX382" fmla="*/ 1835543 w 3600000"/>
              <a:gd name="connsiteY382" fmla="*/ 1666663 h 2787466"/>
              <a:gd name="connsiteX383" fmla="*/ 1845048 w 3600000"/>
              <a:gd name="connsiteY383" fmla="*/ 1664421 h 2787466"/>
              <a:gd name="connsiteX384" fmla="*/ 1793170 w 3600000"/>
              <a:gd name="connsiteY384" fmla="*/ 1662454 h 2787466"/>
              <a:gd name="connsiteX385" fmla="*/ 1793170 w 3600000"/>
              <a:gd name="connsiteY385" fmla="*/ 1664315 h 2787466"/>
              <a:gd name="connsiteX386" fmla="*/ 1797168 w 3600000"/>
              <a:gd name="connsiteY386" fmla="*/ 1668346 h 2787466"/>
              <a:gd name="connsiteX387" fmla="*/ 1777388 w 3600000"/>
              <a:gd name="connsiteY387" fmla="*/ 1673153 h 2787466"/>
              <a:gd name="connsiteX388" fmla="*/ 1793170 w 3600000"/>
              <a:gd name="connsiteY388" fmla="*/ 1662454 h 2787466"/>
              <a:gd name="connsiteX389" fmla="*/ 1759606 w 3600000"/>
              <a:gd name="connsiteY389" fmla="*/ 1660604 h 2787466"/>
              <a:gd name="connsiteX390" fmla="*/ 1765366 w 3600000"/>
              <a:gd name="connsiteY390" fmla="*/ 1664605 h 2787466"/>
              <a:gd name="connsiteX391" fmla="*/ 1754737 w 3600000"/>
              <a:gd name="connsiteY391" fmla="*/ 1673453 h 2787466"/>
              <a:gd name="connsiteX392" fmla="*/ 1745567 w 3600000"/>
              <a:gd name="connsiteY392" fmla="*/ 1672522 h 2787466"/>
              <a:gd name="connsiteX393" fmla="*/ 1759606 w 3600000"/>
              <a:gd name="connsiteY393" fmla="*/ 1660604 h 2787466"/>
              <a:gd name="connsiteX394" fmla="*/ 1674124 w 3600000"/>
              <a:gd name="connsiteY394" fmla="*/ 1657606 h 2787466"/>
              <a:gd name="connsiteX395" fmla="*/ 1689787 w 3600000"/>
              <a:gd name="connsiteY395" fmla="*/ 1679460 h 2787466"/>
              <a:gd name="connsiteX396" fmla="*/ 1696382 w 3600000"/>
              <a:gd name="connsiteY396" fmla="*/ 1678517 h 2787466"/>
              <a:gd name="connsiteX397" fmla="*/ 1685871 w 3600000"/>
              <a:gd name="connsiteY397" fmla="*/ 1659650 h 2787466"/>
              <a:gd name="connsiteX398" fmla="*/ 1674124 w 3600000"/>
              <a:gd name="connsiteY398" fmla="*/ 1657606 h 2787466"/>
              <a:gd name="connsiteX399" fmla="*/ 1793832 w 3600000"/>
              <a:gd name="connsiteY399" fmla="*/ 1656163 h 2787466"/>
              <a:gd name="connsiteX400" fmla="*/ 1792834 w 3600000"/>
              <a:gd name="connsiteY400" fmla="*/ 1657986 h 2787466"/>
              <a:gd name="connsiteX401" fmla="*/ 1793016 w 3600000"/>
              <a:gd name="connsiteY401" fmla="*/ 1656277 h 2787466"/>
              <a:gd name="connsiteX402" fmla="*/ 1701534 w 3600000"/>
              <a:gd name="connsiteY402" fmla="*/ 1650689 h 2787466"/>
              <a:gd name="connsiteX403" fmla="*/ 1702770 w 3600000"/>
              <a:gd name="connsiteY403" fmla="*/ 1656663 h 2787466"/>
              <a:gd name="connsiteX404" fmla="*/ 1711838 w 3600000"/>
              <a:gd name="connsiteY404" fmla="*/ 1651632 h 2787466"/>
              <a:gd name="connsiteX405" fmla="*/ 1701534 w 3600000"/>
              <a:gd name="connsiteY405" fmla="*/ 1650689 h 2787466"/>
              <a:gd name="connsiteX406" fmla="*/ 1819040 w 3600000"/>
              <a:gd name="connsiteY406" fmla="*/ 1649975 h 2787466"/>
              <a:gd name="connsiteX407" fmla="*/ 1816357 w 3600000"/>
              <a:gd name="connsiteY407" fmla="*/ 1660027 h 2787466"/>
              <a:gd name="connsiteX408" fmla="*/ 1820278 w 3600000"/>
              <a:gd name="connsiteY408" fmla="*/ 1652017 h 2787466"/>
              <a:gd name="connsiteX409" fmla="*/ 1839880 w 3600000"/>
              <a:gd name="connsiteY409" fmla="*/ 1657043 h 2787466"/>
              <a:gd name="connsiteX410" fmla="*/ 1819040 w 3600000"/>
              <a:gd name="connsiteY410" fmla="*/ 1658928 h 2787466"/>
              <a:gd name="connsiteX411" fmla="*/ 1822960 w 3600000"/>
              <a:gd name="connsiteY411" fmla="*/ 1663011 h 2787466"/>
              <a:gd name="connsiteX412" fmla="*/ 1807279 w 3600000"/>
              <a:gd name="connsiteY412" fmla="*/ 1657986 h 2787466"/>
              <a:gd name="connsiteX413" fmla="*/ 1800676 w 3600000"/>
              <a:gd name="connsiteY413" fmla="*/ 1663954 h 2787466"/>
              <a:gd name="connsiteX414" fmla="*/ 1792834 w 3600000"/>
              <a:gd name="connsiteY414" fmla="*/ 1660027 h 2787466"/>
              <a:gd name="connsiteX415" fmla="*/ 1794279 w 3600000"/>
              <a:gd name="connsiteY415" fmla="*/ 1656101 h 2787466"/>
              <a:gd name="connsiteX416" fmla="*/ 1793832 w 3600000"/>
              <a:gd name="connsiteY416" fmla="*/ 1656163 h 2787466"/>
              <a:gd name="connsiteX417" fmla="*/ 1795465 w 3600000"/>
              <a:gd name="connsiteY417" fmla="*/ 1653175 h 2787466"/>
              <a:gd name="connsiteX418" fmla="*/ 1802120 w 3600000"/>
              <a:gd name="connsiteY418" fmla="*/ 1652017 h 2787466"/>
              <a:gd name="connsiteX419" fmla="*/ 1819040 w 3600000"/>
              <a:gd name="connsiteY419" fmla="*/ 1649975 h 2787466"/>
              <a:gd name="connsiteX420" fmla="*/ 1841696 w 3600000"/>
              <a:gd name="connsiteY420" fmla="*/ 1637669 h 2787466"/>
              <a:gd name="connsiteX421" fmla="*/ 1827365 w 3600000"/>
              <a:gd name="connsiteY421" fmla="*/ 1646353 h 2787466"/>
              <a:gd name="connsiteX422" fmla="*/ 1841696 w 3600000"/>
              <a:gd name="connsiteY422" fmla="*/ 1637669 h 2787466"/>
              <a:gd name="connsiteX423" fmla="*/ 1852323 w 3600000"/>
              <a:gd name="connsiteY423" fmla="*/ 1636953 h 2787466"/>
              <a:gd name="connsiteX424" fmla="*/ 1866236 w 3600000"/>
              <a:gd name="connsiteY424" fmla="*/ 1641064 h 2787466"/>
              <a:gd name="connsiteX425" fmla="*/ 1852102 w 3600000"/>
              <a:gd name="connsiteY425" fmla="*/ 1639032 h 2787466"/>
              <a:gd name="connsiteX426" fmla="*/ 1852323 w 3600000"/>
              <a:gd name="connsiteY426" fmla="*/ 1636953 h 2787466"/>
              <a:gd name="connsiteX427" fmla="*/ 2372369 w 3600000"/>
              <a:gd name="connsiteY427" fmla="*/ 1631657 h 2787466"/>
              <a:gd name="connsiteX428" fmla="*/ 2346224 w 3600000"/>
              <a:gd name="connsiteY428" fmla="*/ 1638531 h 2787466"/>
              <a:gd name="connsiteX429" fmla="*/ 2372369 w 3600000"/>
              <a:gd name="connsiteY429" fmla="*/ 1631657 h 2787466"/>
              <a:gd name="connsiteX430" fmla="*/ 2412352 w 3600000"/>
              <a:gd name="connsiteY430" fmla="*/ 1628721 h 2787466"/>
              <a:gd name="connsiteX431" fmla="*/ 2379845 w 3600000"/>
              <a:gd name="connsiteY431" fmla="*/ 1636644 h 2787466"/>
              <a:gd name="connsiteX432" fmla="*/ 2412352 w 3600000"/>
              <a:gd name="connsiteY432" fmla="*/ 1628721 h 2787466"/>
              <a:gd name="connsiteX433" fmla="*/ 2116676 w 3600000"/>
              <a:gd name="connsiteY433" fmla="*/ 1617934 h 2787466"/>
              <a:gd name="connsiteX434" fmla="*/ 2129754 w 3600000"/>
              <a:gd name="connsiteY434" fmla="*/ 1622179 h 2787466"/>
              <a:gd name="connsiteX435" fmla="*/ 2119616 w 3600000"/>
              <a:gd name="connsiteY435" fmla="*/ 1624129 h 2787466"/>
              <a:gd name="connsiteX436" fmla="*/ 2105422 w 3600000"/>
              <a:gd name="connsiteY436" fmla="*/ 1625266 h 2787466"/>
              <a:gd name="connsiteX437" fmla="*/ 2116676 w 3600000"/>
              <a:gd name="connsiteY437" fmla="*/ 1617934 h 2787466"/>
              <a:gd name="connsiteX438" fmla="*/ 2448054 w 3600000"/>
              <a:gd name="connsiteY438" fmla="*/ 1607492 h 2787466"/>
              <a:gd name="connsiteX439" fmla="*/ 2446673 w 3600000"/>
              <a:gd name="connsiteY439" fmla="*/ 1608243 h 2787466"/>
              <a:gd name="connsiteX440" fmla="*/ 2447878 w 3600000"/>
              <a:gd name="connsiteY440" fmla="*/ 1609256 h 2787466"/>
              <a:gd name="connsiteX441" fmla="*/ 2449474 w 3600000"/>
              <a:gd name="connsiteY441" fmla="*/ 1607560 h 2787466"/>
              <a:gd name="connsiteX442" fmla="*/ 2719491 w 3600000"/>
              <a:gd name="connsiteY442" fmla="*/ 1595206 h 2787466"/>
              <a:gd name="connsiteX443" fmla="*/ 2702933 w 3600000"/>
              <a:gd name="connsiteY443" fmla="*/ 1607087 h 2787466"/>
              <a:gd name="connsiteX444" fmla="*/ 2719491 w 3600000"/>
              <a:gd name="connsiteY444" fmla="*/ 1595206 h 2787466"/>
              <a:gd name="connsiteX445" fmla="*/ 216267 w 3600000"/>
              <a:gd name="connsiteY445" fmla="*/ 1595206 h 2787466"/>
              <a:gd name="connsiteX446" fmla="*/ 225405 w 3600000"/>
              <a:gd name="connsiteY446" fmla="*/ 1596131 h 2787466"/>
              <a:gd name="connsiteX447" fmla="*/ 221459 w 3600000"/>
              <a:gd name="connsiteY447" fmla="*/ 1601985 h 2787466"/>
              <a:gd name="connsiteX448" fmla="*/ 216267 w 3600000"/>
              <a:gd name="connsiteY448" fmla="*/ 1595206 h 2787466"/>
              <a:gd name="connsiteX449" fmla="*/ 1892846 w 3600000"/>
              <a:gd name="connsiteY449" fmla="*/ 1595000 h 2787466"/>
              <a:gd name="connsiteX450" fmla="*/ 1887629 w 3600000"/>
              <a:gd name="connsiteY450" fmla="*/ 1602894 h 2787466"/>
              <a:gd name="connsiteX451" fmla="*/ 1882271 w 3600000"/>
              <a:gd name="connsiteY451" fmla="*/ 1605881 h 2787466"/>
              <a:gd name="connsiteX452" fmla="*/ 1897933 w 3600000"/>
              <a:gd name="connsiteY452" fmla="*/ 1595032 h 2787466"/>
              <a:gd name="connsiteX453" fmla="*/ 1892846 w 3600000"/>
              <a:gd name="connsiteY453" fmla="*/ 1595000 h 2787466"/>
              <a:gd name="connsiteX454" fmla="*/ 1853625 w 3600000"/>
              <a:gd name="connsiteY454" fmla="*/ 1592988 h 2787466"/>
              <a:gd name="connsiteX455" fmla="*/ 1854011 w 3600000"/>
              <a:gd name="connsiteY455" fmla="*/ 1600751 h 2787466"/>
              <a:gd name="connsiteX456" fmla="*/ 1853704 w 3600000"/>
              <a:gd name="connsiteY456" fmla="*/ 1601930 h 2787466"/>
              <a:gd name="connsiteX457" fmla="*/ 1856865 w 3600000"/>
              <a:gd name="connsiteY457" fmla="*/ 1605264 h 2787466"/>
              <a:gd name="connsiteX458" fmla="*/ 1857309 w 3600000"/>
              <a:gd name="connsiteY458" fmla="*/ 1604584 h 2787466"/>
              <a:gd name="connsiteX459" fmla="*/ 1860220 w 3600000"/>
              <a:gd name="connsiteY459" fmla="*/ 1600063 h 2787466"/>
              <a:gd name="connsiteX460" fmla="*/ 1862899 w 3600000"/>
              <a:gd name="connsiteY460" fmla="*/ 1600063 h 2787466"/>
              <a:gd name="connsiteX461" fmla="*/ 1853625 w 3600000"/>
              <a:gd name="connsiteY461" fmla="*/ 1592988 h 2787466"/>
              <a:gd name="connsiteX462" fmla="*/ 2576823 w 3600000"/>
              <a:gd name="connsiteY462" fmla="*/ 1590354 h 2787466"/>
              <a:gd name="connsiteX463" fmla="*/ 2565217 w 3600000"/>
              <a:gd name="connsiteY463" fmla="*/ 1600593 h 2787466"/>
              <a:gd name="connsiteX464" fmla="*/ 2565217 w 3600000"/>
              <a:gd name="connsiteY464" fmla="*/ 1591473 h 2787466"/>
              <a:gd name="connsiteX465" fmla="*/ 2576823 w 3600000"/>
              <a:gd name="connsiteY465" fmla="*/ 1590354 h 2787466"/>
              <a:gd name="connsiteX466" fmla="*/ 2091776 w 3600000"/>
              <a:gd name="connsiteY466" fmla="*/ 1589048 h 2787466"/>
              <a:gd name="connsiteX467" fmla="*/ 2091335 w 3600000"/>
              <a:gd name="connsiteY467" fmla="*/ 1592126 h 2787466"/>
              <a:gd name="connsiteX468" fmla="*/ 2084234 w 3600000"/>
              <a:gd name="connsiteY468" fmla="*/ 1600063 h 2787466"/>
              <a:gd name="connsiteX469" fmla="*/ 2103813 w 3600000"/>
              <a:gd name="connsiteY469" fmla="*/ 1597076 h 2787466"/>
              <a:gd name="connsiteX470" fmla="*/ 2096239 w 3600000"/>
              <a:gd name="connsiteY470" fmla="*/ 1590827 h 2787466"/>
              <a:gd name="connsiteX471" fmla="*/ 2096022 w 3600000"/>
              <a:gd name="connsiteY471" fmla="*/ 1589455 h 2787466"/>
              <a:gd name="connsiteX472" fmla="*/ 2029391 w 3600000"/>
              <a:gd name="connsiteY472" fmla="*/ 1584095 h 2787466"/>
              <a:gd name="connsiteX473" fmla="*/ 2029416 w 3600000"/>
              <a:gd name="connsiteY473" fmla="*/ 1584184 h 2787466"/>
              <a:gd name="connsiteX474" fmla="*/ 2030632 w 3600000"/>
              <a:gd name="connsiteY474" fmla="*/ 1584161 h 2787466"/>
              <a:gd name="connsiteX475" fmla="*/ 2018014 w 3600000"/>
              <a:gd name="connsiteY475" fmla="*/ 1582586 h 2787466"/>
              <a:gd name="connsiteX476" fmla="*/ 2017875 w 3600000"/>
              <a:gd name="connsiteY476" fmla="*/ 1583084 h 2787466"/>
              <a:gd name="connsiteX477" fmla="*/ 2020101 w 3600000"/>
              <a:gd name="connsiteY477" fmla="*/ 1582890 h 2787466"/>
              <a:gd name="connsiteX478" fmla="*/ 2003546 w 3600000"/>
              <a:gd name="connsiteY478" fmla="*/ 1580477 h 2787466"/>
              <a:gd name="connsiteX479" fmla="*/ 2003449 w 3600000"/>
              <a:gd name="connsiteY479" fmla="*/ 1581197 h 2787466"/>
              <a:gd name="connsiteX480" fmla="*/ 2011280 w 3600000"/>
              <a:gd name="connsiteY480" fmla="*/ 1583084 h 2787466"/>
              <a:gd name="connsiteX481" fmla="*/ 2011743 w 3600000"/>
              <a:gd name="connsiteY481" fmla="*/ 1581672 h 2787466"/>
              <a:gd name="connsiteX482" fmla="*/ 2547869 w 3600000"/>
              <a:gd name="connsiteY482" fmla="*/ 1579743 h 2787466"/>
              <a:gd name="connsiteX483" fmla="*/ 2570463 w 3600000"/>
              <a:gd name="connsiteY483" fmla="*/ 1581550 h 2787466"/>
              <a:gd name="connsiteX484" fmla="*/ 2515131 w 3600000"/>
              <a:gd name="connsiteY484" fmla="*/ 1608698 h 2787466"/>
              <a:gd name="connsiteX485" fmla="*/ 2509843 w 3600000"/>
              <a:gd name="connsiteY485" fmla="*/ 1608747 h 2787466"/>
              <a:gd name="connsiteX486" fmla="*/ 2508894 w 3600000"/>
              <a:gd name="connsiteY486" fmla="*/ 1608918 h 2787466"/>
              <a:gd name="connsiteX487" fmla="*/ 2478892 w 3600000"/>
              <a:gd name="connsiteY487" fmla="*/ 1611691 h 2787466"/>
              <a:gd name="connsiteX488" fmla="*/ 2478892 w 3600000"/>
              <a:gd name="connsiteY488" fmla="*/ 1608970 h 2787466"/>
              <a:gd name="connsiteX489" fmla="*/ 2457657 w 3600000"/>
              <a:gd name="connsiteY489" fmla="*/ 1607952 h 2787466"/>
              <a:gd name="connsiteX490" fmla="*/ 2457684 w 3600000"/>
              <a:gd name="connsiteY490" fmla="*/ 1608058 h 2787466"/>
              <a:gd name="connsiteX491" fmla="*/ 2456706 w 3600000"/>
              <a:gd name="connsiteY491" fmla="*/ 1613481 h 2787466"/>
              <a:gd name="connsiteX492" fmla="*/ 2447878 w 3600000"/>
              <a:gd name="connsiteY492" fmla="*/ 1614455 h 2787466"/>
              <a:gd name="connsiteX493" fmla="*/ 2445270 w 3600000"/>
              <a:gd name="connsiteY493" fmla="*/ 1609256 h 2787466"/>
              <a:gd name="connsiteX494" fmla="*/ 2446115 w 3600000"/>
              <a:gd name="connsiteY494" fmla="*/ 1608545 h 2787466"/>
              <a:gd name="connsiteX495" fmla="*/ 2429713 w 3600000"/>
              <a:gd name="connsiteY495" fmla="*/ 1617457 h 2787466"/>
              <a:gd name="connsiteX496" fmla="*/ 2358204 w 3600000"/>
              <a:gd name="connsiteY496" fmla="*/ 1619514 h 2787466"/>
              <a:gd name="connsiteX497" fmla="*/ 2294321 w 3600000"/>
              <a:gd name="connsiteY497" fmla="*/ 1627423 h 2787466"/>
              <a:gd name="connsiteX498" fmla="*/ 2177270 w 3600000"/>
              <a:gd name="connsiteY498" fmla="*/ 1613503 h 2787466"/>
              <a:gd name="connsiteX499" fmla="*/ 2135437 w 3600000"/>
              <a:gd name="connsiteY499" fmla="*/ 1617457 h 2787466"/>
              <a:gd name="connsiteX500" fmla="*/ 2131521 w 3600000"/>
              <a:gd name="connsiteY500" fmla="*/ 1612396 h 2787466"/>
              <a:gd name="connsiteX501" fmla="*/ 2138116 w 3600000"/>
              <a:gd name="connsiteY501" fmla="*/ 1596419 h 2787466"/>
              <a:gd name="connsiteX502" fmla="*/ 2158929 w 3600000"/>
              <a:gd name="connsiteY502" fmla="*/ 1603380 h 2787466"/>
              <a:gd name="connsiteX503" fmla="*/ 2228508 w 3600000"/>
              <a:gd name="connsiteY503" fmla="*/ 1605271 h 2787466"/>
              <a:gd name="connsiteX504" fmla="*/ 2236738 w 3600000"/>
              <a:gd name="connsiteY504" fmla="*/ 1605330 h 2787466"/>
              <a:gd name="connsiteX505" fmla="*/ 2236719 w 3600000"/>
              <a:gd name="connsiteY505" fmla="*/ 1604869 h 2787466"/>
              <a:gd name="connsiteX506" fmla="*/ 2257874 w 3600000"/>
              <a:gd name="connsiteY506" fmla="*/ 1602833 h 2787466"/>
              <a:gd name="connsiteX507" fmla="*/ 2257226 w 3600000"/>
              <a:gd name="connsiteY507" fmla="*/ 1604136 h 2787466"/>
              <a:gd name="connsiteX508" fmla="*/ 2271730 w 3600000"/>
              <a:gd name="connsiteY508" fmla="*/ 1600868 h 2787466"/>
              <a:gd name="connsiteX509" fmla="*/ 2293084 w 3600000"/>
              <a:gd name="connsiteY509" fmla="*/ 1595470 h 2787466"/>
              <a:gd name="connsiteX510" fmla="*/ 2337623 w 3600000"/>
              <a:gd name="connsiteY510" fmla="*/ 1590665 h 2787466"/>
              <a:gd name="connsiteX511" fmla="*/ 2344918 w 3600000"/>
              <a:gd name="connsiteY511" fmla="*/ 1590331 h 2787466"/>
              <a:gd name="connsiteX512" fmla="*/ 2345084 w 3600000"/>
              <a:gd name="connsiteY512" fmla="*/ 1590297 h 2787466"/>
              <a:gd name="connsiteX513" fmla="*/ 2385433 w 3600000"/>
              <a:gd name="connsiteY513" fmla="*/ 1586194 h 2787466"/>
              <a:gd name="connsiteX514" fmla="*/ 2386158 w 3600000"/>
              <a:gd name="connsiteY514" fmla="*/ 1588478 h 2787466"/>
              <a:gd name="connsiteX515" fmla="*/ 2472783 w 3600000"/>
              <a:gd name="connsiteY515" fmla="*/ 1585505 h 2787466"/>
              <a:gd name="connsiteX516" fmla="*/ 2547869 w 3600000"/>
              <a:gd name="connsiteY516" fmla="*/ 1579743 h 2787466"/>
              <a:gd name="connsiteX517" fmla="*/ 1990936 w 3600000"/>
              <a:gd name="connsiteY517" fmla="*/ 1577389 h 2787466"/>
              <a:gd name="connsiteX518" fmla="*/ 1990466 w 3600000"/>
              <a:gd name="connsiteY518" fmla="*/ 1578210 h 2787466"/>
              <a:gd name="connsiteX519" fmla="*/ 1991702 w 3600000"/>
              <a:gd name="connsiteY519" fmla="*/ 1583084 h 2787466"/>
              <a:gd name="connsiteX520" fmla="*/ 1998648 w 3600000"/>
              <a:gd name="connsiteY520" fmla="*/ 1579351 h 2787466"/>
              <a:gd name="connsiteX521" fmla="*/ 2659515 w 3600000"/>
              <a:gd name="connsiteY521" fmla="*/ 1576029 h 2787466"/>
              <a:gd name="connsiteX522" fmla="*/ 2590660 w 3600000"/>
              <a:gd name="connsiteY522" fmla="*/ 1589961 h 2787466"/>
              <a:gd name="connsiteX523" fmla="*/ 2659515 w 3600000"/>
              <a:gd name="connsiteY523" fmla="*/ 1576029 h 2787466"/>
              <a:gd name="connsiteX524" fmla="*/ 1949081 w 3600000"/>
              <a:gd name="connsiteY524" fmla="*/ 1573398 h 2787466"/>
              <a:gd name="connsiteX525" fmla="*/ 1943169 w 3600000"/>
              <a:gd name="connsiteY525" fmla="*/ 1576229 h 2787466"/>
              <a:gd name="connsiteX526" fmla="*/ 1942950 w 3600000"/>
              <a:gd name="connsiteY526" fmla="*/ 1578384 h 2787466"/>
              <a:gd name="connsiteX527" fmla="*/ 1944921 w 3600000"/>
              <a:gd name="connsiteY527" fmla="*/ 1585127 h 2787466"/>
              <a:gd name="connsiteX528" fmla="*/ 1961820 w 3600000"/>
              <a:gd name="connsiteY528" fmla="*/ 1585127 h 2787466"/>
              <a:gd name="connsiteX529" fmla="*/ 1966972 w 3600000"/>
              <a:gd name="connsiteY529" fmla="*/ 1575223 h 2787466"/>
              <a:gd name="connsiteX530" fmla="*/ 1948836 w 3600000"/>
              <a:gd name="connsiteY530" fmla="*/ 1583084 h 2787466"/>
              <a:gd name="connsiteX531" fmla="*/ 1953879 w 3600000"/>
              <a:gd name="connsiteY531" fmla="*/ 1576959 h 2787466"/>
              <a:gd name="connsiteX532" fmla="*/ 1953977 w 3600000"/>
              <a:gd name="connsiteY532" fmla="*/ 1573553 h 2787466"/>
              <a:gd name="connsiteX533" fmla="*/ 2086708 w 3600000"/>
              <a:gd name="connsiteY533" fmla="*/ 1570192 h 2787466"/>
              <a:gd name="connsiteX534" fmla="*/ 2080318 w 3600000"/>
              <a:gd name="connsiteY534" fmla="*/ 1581197 h 2787466"/>
              <a:gd name="connsiteX535" fmla="*/ 2076403 w 3600000"/>
              <a:gd name="connsiteY535" fmla="*/ 1576165 h 2787466"/>
              <a:gd name="connsiteX536" fmla="*/ 2075167 w 3600000"/>
              <a:gd name="connsiteY536" fmla="*/ 1583084 h 2787466"/>
              <a:gd name="connsiteX537" fmla="*/ 2086013 w 3600000"/>
              <a:gd name="connsiteY537" fmla="*/ 1583988 h 2787466"/>
              <a:gd name="connsiteX538" fmla="*/ 2088971 w 3600000"/>
              <a:gd name="connsiteY538" fmla="*/ 1585467 h 2787466"/>
              <a:gd name="connsiteX539" fmla="*/ 2095399 w 3600000"/>
              <a:gd name="connsiteY539" fmla="*/ 1585524 h 2787466"/>
              <a:gd name="connsiteX540" fmla="*/ 2094539 w 3600000"/>
              <a:gd name="connsiteY540" fmla="*/ 1580096 h 2787466"/>
              <a:gd name="connsiteX541" fmla="*/ 2103813 w 3600000"/>
              <a:gd name="connsiteY541" fmla="*/ 1585127 h 2787466"/>
              <a:gd name="connsiteX542" fmla="*/ 2086708 w 3600000"/>
              <a:gd name="connsiteY542" fmla="*/ 1570192 h 2787466"/>
              <a:gd name="connsiteX543" fmla="*/ 2007365 w 3600000"/>
              <a:gd name="connsiteY543" fmla="*/ 1569248 h 2787466"/>
              <a:gd name="connsiteX544" fmla="*/ 2005922 w 3600000"/>
              <a:gd name="connsiteY544" fmla="*/ 1571613 h 2787466"/>
              <a:gd name="connsiteX545" fmla="*/ 2014821 w 3600000"/>
              <a:gd name="connsiteY545" fmla="*/ 1572635 h 2787466"/>
              <a:gd name="connsiteX546" fmla="*/ 2013701 w 3600000"/>
              <a:gd name="connsiteY546" fmla="*/ 1571332 h 2787466"/>
              <a:gd name="connsiteX547" fmla="*/ 2007365 w 3600000"/>
              <a:gd name="connsiteY547" fmla="*/ 1569248 h 2787466"/>
              <a:gd name="connsiteX548" fmla="*/ 2025706 w 3600000"/>
              <a:gd name="connsiteY548" fmla="*/ 1565160 h 2787466"/>
              <a:gd name="connsiteX549" fmla="*/ 2022872 w 3600000"/>
              <a:gd name="connsiteY549" fmla="*/ 1570054 h 2787466"/>
              <a:gd name="connsiteX550" fmla="*/ 2019943 w 3600000"/>
              <a:gd name="connsiteY550" fmla="*/ 1573223 h 2787466"/>
              <a:gd name="connsiteX551" fmla="*/ 2030348 w 3600000"/>
              <a:gd name="connsiteY551" fmla="*/ 1574418 h 2787466"/>
              <a:gd name="connsiteX552" fmla="*/ 2030858 w 3600000"/>
              <a:gd name="connsiteY552" fmla="*/ 1574122 h 2787466"/>
              <a:gd name="connsiteX553" fmla="*/ 2030738 w 3600000"/>
              <a:gd name="connsiteY553" fmla="*/ 1574463 h 2787466"/>
              <a:gd name="connsiteX554" fmla="*/ 2035103 w 3600000"/>
              <a:gd name="connsiteY554" fmla="*/ 1574964 h 2787466"/>
              <a:gd name="connsiteX555" fmla="*/ 2035263 w 3600000"/>
              <a:gd name="connsiteY555" fmla="*/ 1572923 h 2787466"/>
              <a:gd name="connsiteX556" fmla="*/ 2038690 w 3600000"/>
              <a:gd name="connsiteY556" fmla="*/ 1565160 h 2787466"/>
              <a:gd name="connsiteX557" fmla="*/ 2026943 w 3600000"/>
              <a:gd name="connsiteY557" fmla="*/ 1572235 h 2787466"/>
              <a:gd name="connsiteX558" fmla="*/ 2025706 w 3600000"/>
              <a:gd name="connsiteY558" fmla="*/ 1565160 h 2787466"/>
              <a:gd name="connsiteX559" fmla="*/ 2054146 w 3600000"/>
              <a:gd name="connsiteY559" fmla="*/ 1563274 h 2787466"/>
              <a:gd name="connsiteX560" fmla="*/ 2051673 w 3600000"/>
              <a:gd name="connsiteY560" fmla="*/ 1577109 h 2787466"/>
              <a:gd name="connsiteX561" fmla="*/ 2043687 w 3600000"/>
              <a:gd name="connsiteY561" fmla="*/ 1574004 h 2787466"/>
              <a:gd name="connsiteX562" fmla="*/ 2040877 w 3600000"/>
              <a:gd name="connsiteY562" fmla="*/ 1575628 h 2787466"/>
              <a:gd name="connsiteX563" fmla="*/ 2042000 w 3600000"/>
              <a:gd name="connsiteY563" fmla="*/ 1575757 h 2787466"/>
              <a:gd name="connsiteX564" fmla="*/ 2060350 w 3600000"/>
              <a:gd name="connsiteY564" fmla="*/ 1579667 h 2787466"/>
              <a:gd name="connsiteX565" fmla="*/ 2060624 w 3600000"/>
              <a:gd name="connsiteY565" fmla="*/ 1579771 h 2787466"/>
              <a:gd name="connsiteX566" fmla="*/ 2061169 w 3600000"/>
              <a:gd name="connsiteY566" fmla="*/ 1578617 h 2787466"/>
              <a:gd name="connsiteX567" fmla="*/ 2062183 w 3600000"/>
              <a:gd name="connsiteY567" fmla="*/ 1573179 h 2787466"/>
              <a:gd name="connsiteX568" fmla="*/ 2065378 w 3600000"/>
              <a:gd name="connsiteY568" fmla="*/ 1578131 h 2787466"/>
              <a:gd name="connsiteX569" fmla="*/ 2064843 w 3600000"/>
              <a:gd name="connsiteY569" fmla="*/ 1581365 h 2787466"/>
              <a:gd name="connsiteX570" fmla="*/ 2068571 w 3600000"/>
              <a:gd name="connsiteY570" fmla="*/ 1582774 h 2787466"/>
              <a:gd name="connsiteX571" fmla="*/ 2068546 w 3600000"/>
              <a:gd name="connsiteY571" fmla="*/ 1574692 h 2787466"/>
              <a:gd name="connsiteX572" fmla="*/ 2064656 w 3600000"/>
              <a:gd name="connsiteY572" fmla="*/ 1569248 h 2787466"/>
              <a:gd name="connsiteX573" fmla="*/ 2054146 w 3600000"/>
              <a:gd name="connsiteY573" fmla="*/ 1563274 h 2787466"/>
              <a:gd name="connsiteX574" fmla="*/ 2415002 w 3600000"/>
              <a:gd name="connsiteY574" fmla="*/ 1558243 h 2787466"/>
              <a:gd name="connsiteX575" fmla="*/ 2398103 w 3600000"/>
              <a:gd name="connsiteY575" fmla="*/ 1563274 h 2787466"/>
              <a:gd name="connsiteX576" fmla="*/ 2415002 w 3600000"/>
              <a:gd name="connsiteY576" fmla="*/ 1558243 h 2787466"/>
              <a:gd name="connsiteX577" fmla="*/ 2713949 w 3600000"/>
              <a:gd name="connsiteY577" fmla="*/ 1557270 h 2787466"/>
              <a:gd name="connsiteX578" fmla="*/ 2704924 w 3600000"/>
              <a:gd name="connsiteY578" fmla="*/ 1558235 h 2787466"/>
              <a:gd name="connsiteX579" fmla="*/ 2687302 w 3600000"/>
              <a:gd name="connsiteY579" fmla="*/ 1564993 h 2787466"/>
              <a:gd name="connsiteX580" fmla="*/ 2679068 w 3600000"/>
              <a:gd name="connsiteY580" fmla="*/ 1566567 h 2787466"/>
              <a:gd name="connsiteX581" fmla="*/ 2683374 w 3600000"/>
              <a:gd name="connsiteY581" fmla="*/ 1566383 h 2787466"/>
              <a:gd name="connsiteX582" fmla="*/ 2707053 w 3600000"/>
              <a:gd name="connsiteY582" fmla="*/ 1558833 h 2787466"/>
              <a:gd name="connsiteX583" fmla="*/ 2481810 w 3600000"/>
              <a:gd name="connsiteY583" fmla="*/ 1544664 h 2787466"/>
              <a:gd name="connsiteX584" fmla="*/ 2480124 w 3600000"/>
              <a:gd name="connsiteY584" fmla="*/ 1545351 h 2787466"/>
              <a:gd name="connsiteX585" fmla="*/ 2481467 w 3600000"/>
              <a:gd name="connsiteY585" fmla="*/ 1547985 h 2787466"/>
              <a:gd name="connsiteX586" fmla="*/ 2481680 w 3600000"/>
              <a:gd name="connsiteY586" fmla="*/ 1545090 h 2787466"/>
              <a:gd name="connsiteX587" fmla="*/ 2236935 w 3600000"/>
              <a:gd name="connsiteY587" fmla="*/ 1541211 h 2787466"/>
              <a:gd name="connsiteX588" fmla="*/ 2234059 w 3600000"/>
              <a:gd name="connsiteY588" fmla="*/ 1542364 h 2787466"/>
              <a:gd name="connsiteX589" fmla="*/ 2234059 w 3600000"/>
              <a:gd name="connsiteY589" fmla="*/ 1551325 h 2787466"/>
              <a:gd name="connsiteX590" fmla="*/ 2245600 w 3600000"/>
              <a:gd name="connsiteY590" fmla="*/ 1549281 h 2787466"/>
              <a:gd name="connsiteX591" fmla="*/ 2241761 w 3600000"/>
              <a:gd name="connsiteY591" fmla="*/ 1542108 h 2787466"/>
              <a:gd name="connsiteX592" fmla="*/ 2236935 w 3600000"/>
              <a:gd name="connsiteY592" fmla="*/ 1541211 h 2787466"/>
              <a:gd name="connsiteX593" fmla="*/ 2541603 w 3600000"/>
              <a:gd name="connsiteY593" fmla="*/ 1533555 h 2787466"/>
              <a:gd name="connsiteX594" fmla="*/ 2539966 w 3600000"/>
              <a:gd name="connsiteY594" fmla="*/ 1535673 h 2787466"/>
              <a:gd name="connsiteX595" fmla="*/ 2539994 w 3600000"/>
              <a:gd name="connsiteY595" fmla="*/ 1535884 h 2787466"/>
              <a:gd name="connsiteX596" fmla="*/ 2543651 w 3600000"/>
              <a:gd name="connsiteY596" fmla="*/ 1535443 h 2787466"/>
              <a:gd name="connsiteX597" fmla="*/ 2545226 w 3600000"/>
              <a:gd name="connsiteY597" fmla="*/ 1535711 h 2787466"/>
              <a:gd name="connsiteX598" fmla="*/ 2265178 w 3600000"/>
              <a:gd name="connsiteY598" fmla="*/ 1531358 h 2787466"/>
              <a:gd name="connsiteX599" fmla="*/ 2250958 w 3600000"/>
              <a:gd name="connsiteY599" fmla="*/ 1536389 h 2787466"/>
              <a:gd name="connsiteX600" fmla="*/ 2266621 w 3600000"/>
              <a:gd name="connsiteY600" fmla="*/ 1548337 h 2787466"/>
              <a:gd name="connsiteX601" fmla="*/ 2265178 w 3600000"/>
              <a:gd name="connsiteY601" fmla="*/ 1531358 h 2787466"/>
              <a:gd name="connsiteX602" fmla="*/ 2205413 w 3600000"/>
              <a:gd name="connsiteY602" fmla="*/ 1529471 h 2787466"/>
              <a:gd name="connsiteX603" fmla="*/ 2205413 w 3600000"/>
              <a:gd name="connsiteY603" fmla="*/ 1543307 h 2787466"/>
              <a:gd name="connsiteX604" fmla="*/ 2205413 w 3600000"/>
              <a:gd name="connsiteY604" fmla="*/ 1529471 h 2787466"/>
              <a:gd name="connsiteX605" fmla="*/ 2171409 w 3600000"/>
              <a:gd name="connsiteY605" fmla="*/ 1529471 h 2787466"/>
              <a:gd name="connsiteX606" fmla="*/ 2161104 w 3600000"/>
              <a:gd name="connsiteY606" fmla="*/ 1542364 h 2787466"/>
              <a:gd name="connsiteX607" fmla="*/ 2154510 w 3600000"/>
              <a:gd name="connsiteY607" fmla="*/ 1535446 h 2787466"/>
              <a:gd name="connsiteX608" fmla="*/ 2167493 w 3600000"/>
              <a:gd name="connsiteY608" fmla="*/ 1545351 h 2787466"/>
              <a:gd name="connsiteX609" fmla="*/ 2171409 w 3600000"/>
              <a:gd name="connsiteY609" fmla="*/ 1529471 h 2787466"/>
              <a:gd name="connsiteX610" fmla="*/ 2314638 w 3600000"/>
              <a:gd name="connsiteY610" fmla="*/ 1528528 h 2787466"/>
              <a:gd name="connsiteX611" fmla="*/ 2316081 w 3600000"/>
              <a:gd name="connsiteY611" fmla="*/ 1540319 h 2787466"/>
              <a:gd name="connsiteX612" fmla="*/ 2323912 w 3600000"/>
              <a:gd name="connsiteY612" fmla="*/ 1533402 h 2787466"/>
              <a:gd name="connsiteX613" fmla="*/ 2339368 w 3600000"/>
              <a:gd name="connsiteY613" fmla="*/ 1542364 h 2787466"/>
              <a:gd name="connsiteX614" fmla="*/ 2314638 w 3600000"/>
              <a:gd name="connsiteY614" fmla="*/ 1528528 h 2787466"/>
              <a:gd name="connsiteX615" fmla="*/ 2351115 w 3600000"/>
              <a:gd name="connsiteY615" fmla="*/ 1526484 h 2787466"/>
              <a:gd name="connsiteX616" fmla="*/ 2355031 w 3600000"/>
              <a:gd name="connsiteY616" fmla="*/ 1540319 h 2787466"/>
              <a:gd name="connsiteX617" fmla="*/ 2360389 w 3600000"/>
              <a:gd name="connsiteY617" fmla="*/ 1545351 h 2787466"/>
              <a:gd name="connsiteX618" fmla="*/ 2364304 w 3600000"/>
              <a:gd name="connsiteY618" fmla="*/ 1531358 h 2787466"/>
              <a:gd name="connsiteX619" fmla="*/ 2374609 w 3600000"/>
              <a:gd name="connsiteY619" fmla="*/ 1526484 h 2787466"/>
              <a:gd name="connsiteX620" fmla="*/ 2351115 w 3600000"/>
              <a:gd name="connsiteY620" fmla="*/ 1526484 h 2787466"/>
              <a:gd name="connsiteX621" fmla="*/ 2230143 w 3600000"/>
              <a:gd name="connsiteY621" fmla="*/ 1525541 h 2787466"/>
              <a:gd name="connsiteX622" fmla="*/ 2219633 w 3600000"/>
              <a:gd name="connsiteY622" fmla="*/ 1537332 h 2787466"/>
              <a:gd name="connsiteX623" fmla="*/ 2230143 w 3600000"/>
              <a:gd name="connsiteY623" fmla="*/ 1525541 h 2787466"/>
              <a:gd name="connsiteX624" fmla="*/ 2297693 w 3600000"/>
              <a:gd name="connsiteY624" fmla="*/ 1525462 h 2787466"/>
              <a:gd name="connsiteX625" fmla="*/ 2304219 w 3600000"/>
              <a:gd name="connsiteY625" fmla="*/ 1526723 h 2787466"/>
              <a:gd name="connsiteX626" fmla="*/ 2284673 w 3600000"/>
              <a:gd name="connsiteY626" fmla="*/ 1537509 h 2787466"/>
              <a:gd name="connsiteX627" fmla="*/ 2297693 w 3600000"/>
              <a:gd name="connsiteY627" fmla="*/ 1525462 h 2787466"/>
              <a:gd name="connsiteX628" fmla="*/ 2517839 w 3600000"/>
              <a:gd name="connsiteY628" fmla="*/ 1524440 h 2787466"/>
              <a:gd name="connsiteX629" fmla="*/ 2520518 w 3600000"/>
              <a:gd name="connsiteY629" fmla="*/ 1535446 h 2787466"/>
              <a:gd name="connsiteX630" fmla="*/ 2517839 w 3600000"/>
              <a:gd name="connsiteY630" fmla="*/ 1524440 h 2787466"/>
              <a:gd name="connsiteX631" fmla="*/ 2487956 w 3600000"/>
              <a:gd name="connsiteY631" fmla="*/ 1524440 h 2787466"/>
              <a:gd name="connsiteX632" fmla="*/ 2477445 w 3600000"/>
              <a:gd name="connsiteY632" fmla="*/ 1539376 h 2787466"/>
              <a:gd name="connsiteX633" fmla="*/ 2483714 w 3600000"/>
              <a:gd name="connsiteY633" fmla="*/ 1538402 h 2787466"/>
              <a:gd name="connsiteX634" fmla="*/ 2484950 w 3600000"/>
              <a:gd name="connsiteY634" fmla="*/ 1534343 h 2787466"/>
              <a:gd name="connsiteX635" fmla="*/ 2488120 w 3600000"/>
              <a:gd name="connsiteY635" fmla="*/ 1533594 h 2787466"/>
              <a:gd name="connsiteX636" fmla="*/ 2487132 w 3600000"/>
              <a:gd name="connsiteY636" fmla="*/ 1533544 h 2787466"/>
              <a:gd name="connsiteX637" fmla="*/ 2485277 w 3600000"/>
              <a:gd name="connsiteY637" fmla="*/ 1531358 h 2787466"/>
              <a:gd name="connsiteX638" fmla="*/ 2487956 w 3600000"/>
              <a:gd name="connsiteY638" fmla="*/ 1524440 h 2787466"/>
              <a:gd name="connsiteX639" fmla="*/ 2505734 w 3600000"/>
              <a:gd name="connsiteY639" fmla="*/ 1522856 h 2787466"/>
              <a:gd name="connsiteX640" fmla="*/ 2502298 w 3600000"/>
              <a:gd name="connsiteY640" fmla="*/ 1523556 h 2787466"/>
              <a:gd name="connsiteX641" fmla="*/ 2500469 w 3600000"/>
              <a:gd name="connsiteY641" fmla="*/ 1523472 h 2787466"/>
              <a:gd name="connsiteX642" fmla="*/ 2500469 w 3600000"/>
              <a:gd name="connsiteY642" fmla="*/ 1523475 h 2787466"/>
              <a:gd name="connsiteX643" fmla="*/ 2498260 w 3600000"/>
              <a:gd name="connsiteY643" fmla="*/ 1526484 h 2787466"/>
              <a:gd name="connsiteX644" fmla="*/ 2603375 w 3600000"/>
              <a:gd name="connsiteY644" fmla="*/ 1521720 h 2787466"/>
              <a:gd name="connsiteX645" fmla="*/ 2622846 w 3600000"/>
              <a:gd name="connsiteY645" fmla="*/ 1521720 h 2787466"/>
              <a:gd name="connsiteX646" fmla="*/ 2597021 w 3600000"/>
              <a:gd name="connsiteY646" fmla="*/ 1536813 h 2787466"/>
              <a:gd name="connsiteX647" fmla="*/ 2603375 w 3600000"/>
              <a:gd name="connsiteY647" fmla="*/ 1521720 h 2787466"/>
              <a:gd name="connsiteX648" fmla="*/ 2240447 w 3600000"/>
              <a:gd name="connsiteY648" fmla="*/ 1521453 h 2787466"/>
              <a:gd name="connsiteX649" fmla="*/ 2237768 w 3600000"/>
              <a:gd name="connsiteY649" fmla="*/ 1535446 h 2787466"/>
              <a:gd name="connsiteX650" fmla="*/ 2249515 w 3600000"/>
              <a:gd name="connsiteY650" fmla="*/ 1529471 h 2787466"/>
              <a:gd name="connsiteX651" fmla="*/ 2241684 w 3600000"/>
              <a:gd name="connsiteY651" fmla="*/ 1526484 h 2787466"/>
              <a:gd name="connsiteX652" fmla="*/ 2240447 w 3600000"/>
              <a:gd name="connsiteY652" fmla="*/ 1521453 h 2787466"/>
              <a:gd name="connsiteX653" fmla="*/ 2871236 w 3600000"/>
              <a:gd name="connsiteY653" fmla="*/ 1518704 h 2787466"/>
              <a:gd name="connsiteX654" fmla="*/ 2851453 w 3600000"/>
              <a:gd name="connsiteY654" fmla="*/ 1526510 h 2787466"/>
              <a:gd name="connsiteX655" fmla="*/ 2871236 w 3600000"/>
              <a:gd name="connsiteY655" fmla="*/ 1518704 h 2787466"/>
              <a:gd name="connsiteX656" fmla="*/ 2435816 w 3600000"/>
              <a:gd name="connsiteY656" fmla="*/ 1518466 h 2787466"/>
              <a:gd name="connsiteX657" fmla="*/ 2434579 w 3600000"/>
              <a:gd name="connsiteY657" fmla="*/ 1527427 h 2787466"/>
              <a:gd name="connsiteX658" fmla="*/ 2440968 w 3600000"/>
              <a:gd name="connsiteY658" fmla="*/ 1522554 h 2787466"/>
              <a:gd name="connsiteX659" fmla="*/ 2448799 w 3600000"/>
              <a:gd name="connsiteY659" fmla="*/ 1524440 h 2787466"/>
              <a:gd name="connsiteX660" fmla="*/ 2435816 w 3600000"/>
              <a:gd name="connsiteY660" fmla="*/ 1518466 h 2787466"/>
              <a:gd name="connsiteX661" fmla="*/ 2396866 w 3600000"/>
              <a:gd name="connsiteY661" fmla="*/ 1517523 h 2787466"/>
              <a:gd name="connsiteX662" fmla="*/ 2381204 w 3600000"/>
              <a:gd name="connsiteY662" fmla="*/ 1521453 h 2787466"/>
              <a:gd name="connsiteX663" fmla="*/ 2375846 w 3600000"/>
              <a:gd name="connsiteY663" fmla="*/ 1540319 h 2787466"/>
              <a:gd name="connsiteX664" fmla="*/ 2387593 w 3600000"/>
              <a:gd name="connsiteY664" fmla="*/ 1528528 h 2787466"/>
              <a:gd name="connsiteX665" fmla="*/ 2386356 w 3600000"/>
              <a:gd name="connsiteY665" fmla="*/ 1537332 h 2787466"/>
              <a:gd name="connsiteX666" fmla="*/ 2396866 w 3600000"/>
              <a:gd name="connsiteY666" fmla="*/ 1517523 h 2787466"/>
              <a:gd name="connsiteX667" fmla="*/ 2262431 w 3600000"/>
              <a:gd name="connsiteY667" fmla="*/ 1516720 h 2787466"/>
              <a:gd name="connsiteX668" fmla="*/ 2260025 w 3600000"/>
              <a:gd name="connsiteY668" fmla="*/ 1517523 h 2787466"/>
              <a:gd name="connsiteX669" fmla="*/ 2257347 w 3600000"/>
              <a:gd name="connsiteY669" fmla="*/ 1531358 h 2787466"/>
              <a:gd name="connsiteX670" fmla="*/ 2273008 w 3600000"/>
              <a:gd name="connsiteY670" fmla="*/ 1518466 h 2787466"/>
              <a:gd name="connsiteX671" fmla="*/ 2262431 w 3600000"/>
              <a:gd name="connsiteY671" fmla="*/ 1516720 h 2787466"/>
              <a:gd name="connsiteX672" fmla="*/ 2465455 w 3600000"/>
              <a:gd name="connsiteY672" fmla="*/ 1515140 h 2787466"/>
              <a:gd name="connsiteX673" fmla="*/ 2465586 w 3600000"/>
              <a:gd name="connsiteY673" fmla="*/ 1515864 h 2787466"/>
              <a:gd name="connsiteX674" fmla="*/ 2456630 w 3600000"/>
              <a:gd name="connsiteY674" fmla="*/ 1517523 h 2787466"/>
              <a:gd name="connsiteX675" fmla="*/ 2474973 w 3600000"/>
              <a:gd name="connsiteY675" fmla="*/ 1527427 h 2787466"/>
              <a:gd name="connsiteX676" fmla="*/ 2474973 w 3600000"/>
              <a:gd name="connsiteY676" fmla="*/ 1520510 h 2787466"/>
              <a:gd name="connsiteX677" fmla="*/ 2482495 w 3600000"/>
              <a:gd name="connsiteY677" fmla="*/ 1523752 h 2787466"/>
              <a:gd name="connsiteX678" fmla="*/ 2485140 w 3600000"/>
              <a:gd name="connsiteY678" fmla="*/ 1522709 h 2787466"/>
              <a:gd name="connsiteX679" fmla="*/ 2475315 w 3600000"/>
              <a:gd name="connsiteY679" fmla="*/ 1519884 h 2787466"/>
              <a:gd name="connsiteX680" fmla="*/ 2466063 w 3600000"/>
              <a:gd name="connsiteY680" fmla="*/ 1515428 h 2787466"/>
              <a:gd name="connsiteX681" fmla="*/ 2304334 w 3600000"/>
              <a:gd name="connsiteY681" fmla="*/ 1514535 h 2787466"/>
              <a:gd name="connsiteX682" fmla="*/ 2273008 w 3600000"/>
              <a:gd name="connsiteY682" fmla="*/ 1529471 h 2787466"/>
              <a:gd name="connsiteX683" fmla="*/ 2280840 w 3600000"/>
              <a:gd name="connsiteY683" fmla="*/ 1544407 h 2787466"/>
              <a:gd name="connsiteX684" fmla="*/ 2301655 w 3600000"/>
              <a:gd name="connsiteY684" fmla="*/ 1533402 h 2787466"/>
              <a:gd name="connsiteX685" fmla="*/ 2299182 w 3600000"/>
              <a:gd name="connsiteY685" fmla="*/ 1542364 h 2787466"/>
              <a:gd name="connsiteX686" fmla="*/ 2316081 w 3600000"/>
              <a:gd name="connsiteY686" fmla="*/ 1524440 h 2787466"/>
              <a:gd name="connsiteX687" fmla="*/ 2304334 w 3600000"/>
              <a:gd name="connsiteY687" fmla="*/ 1514535 h 2787466"/>
              <a:gd name="connsiteX688" fmla="*/ 2425190 w 3600000"/>
              <a:gd name="connsiteY688" fmla="*/ 1512214 h 2787466"/>
              <a:gd name="connsiteX689" fmla="*/ 2412323 w 3600000"/>
              <a:gd name="connsiteY689" fmla="*/ 1514535 h 2787466"/>
              <a:gd name="connsiteX690" fmla="*/ 2411086 w 3600000"/>
              <a:gd name="connsiteY690" fmla="*/ 1523497 h 2787466"/>
              <a:gd name="connsiteX691" fmla="*/ 2404492 w 3600000"/>
              <a:gd name="connsiteY691" fmla="*/ 1519566 h 2787466"/>
              <a:gd name="connsiteX692" fmla="*/ 2400782 w 3600000"/>
              <a:gd name="connsiteY692" fmla="*/ 1528528 h 2787466"/>
              <a:gd name="connsiteX693" fmla="*/ 2426749 w 3600000"/>
              <a:gd name="connsiteY693" fmla="*/ 1525541 h 2787466"/>
              <a:gd name="connsiteX694" fmla="*/ 2427985 w 3600000"/>
              <a:gd name="connsiteY694" fmla="*/ 1513592 h 2787466"/>
              <a:gd name="connsiteX695" fmla="*/ 2425190 w 3600000"/>
              <a:gd name="connsiteY695" fmla="*/ 1512214 h 2787466"/>
              <a:gd name="connsiteX696" fmla="*/ 2652216 w 3600000"/>
              <a:gd name="connsiteY696" fmla="*/ 1510862 h 2787466"/>
              <a:gd name="connsiteX697" fmla="*/ 2656115 w 3600000"/>
              <a:gd name="connsiteY697" fmla="*/ 1520831 h 2787466"/>
              <a:gd name="connsiteX698" fmla="*/ 2662681 w 3600000"/>
              <a:gd name="connsiteY698" fmla="*/ 1519881 h 2787466"/>
              <a:gd name="connsiteX699" fmla="*/ 2663912 w 3600000"/>
              <a:gd name="connsiteY699" fmla="*/ 1512918 h 2787466"/>
              <a:gd name="connsiteX700" fmla="*/ 2666579 w 3600000"/>
              <a:gd name="connsiteY700" fmla="*/ 1528901 h 2787466"/>
              <a:gd name="connsiteX701" fmla="*/ 2639289 w 3600000"/>
              <a:gd name="connsiteY701" fmla="*/ 1535864 h 2787466"/>
              <a:gd name="connsiteX702" fmla="*/ 2628824 w 3600000"/>
              <a:gd name="connsiteY702" fmla="*/ 1520831 h 2787466"/>
              <a:gd name="connsiteX703" fmla="*/ 2647087 w 3600000"/>
              <a:gd name="connsiteY703" fmla="*/ 1517824 h 2787466"/>
              <a:gd name="connsiteX704" fmla="*/ 2641956 w 3600000"/>
              <a:gd name="connsiteY704" fmla="*/ 1516875 h 2787466"/>
              <a:gd name="connsiteX705" fmla="*/ 2652216 w 3600000"/>
              <a:gd name="connsiteY705" fmla="*/ 1510862 h 2787466"/>
              <a:gd name="connsiteX706" fmla="*/ 2439591 w 3600000"/>
              <a:gd name="connsiteY706" fmla="*/ 1509389 h 2787466"/>
              <a:gd name="connsiteX707" fmla="*/ 2429171 w 3600000"/>
              <a:gd name="connsiteY707" fmla="*/ 1510166 h 2787466"/>
              <a:gd name="connsiteX708" fmla="*/ 2427985 w 3600000"/>
              <a:gd name="connsiteY708" fmla="*/ 1511548 h 2787466"/>
              <a:gd name="connsiteX709" fmla="*/ 2440968 w 3600000"/>
              <a:gd name="connsiteY709" fmla="*/ 1515479 h 2787466"/>
              <a:gd name="connsiteX710" fmla="*/ 2440273 w 3600000"/>
              <a:gd name="connsiteY710" fmla="*/ 1511076 h 2787466"/>
              <a:gd name="connsiteX711" fmla="*/ 2447675 w 3600000"/>
              <a:gd name="connsiteY711" fmla="*/ 1508786 h 2787466"/>
              <a:gd name="connsiteX712" fmla="*/ 2443792 w 3600000"/>
              <a:gd name="connsiteY712" fmla="*/ 1509076 h 2787466"/>
              <a:gd name="connsiteX713" fmla="*/ 2443783 w 3600000"/>
              <a:gd name="connsiteY713" fmla="*/ 1509642 h 2787466"/>
              <a:gd name="connsiteX714" fmla="*/ 2448799 w 3600000"/>
              <a:gd name="connsiteY714" fmla="*/ 1515479 h 2787466"/>
              <a:gd name="connsiteX715" fmla="*/ 2449331 w 3600000"/>
              <a:gd name="connsiteY715" fmla="*/ 1509204 h 2787466"/>
              <a:gd name="connsiteX716" fmla="*/ 2610130 w 3600000"/>
              <a:gd name="connsiteY716" fmla="*/ 1507419 h 2787466"/>
              <a:gd name="connsiteX717" fmla="*/ 2611355 w 3600000"/>
              <a:gd name="connsiteY717" fmla="*/ 1513440 h 2787466"/>
              <a:gd name="connsiteX718" fmla="*/ 2599717 w 3600000"/>
              <a:gd name="connsiteY718" fmla="*/ 1517402 h 2787466"/>
              <a:gd name="connsiteX719" fmla="*/ 2594611 w 3600000"/>
              <a:gd name="connsiteY719" fmla="*/ 1516451 h 2787466"/>
              <a:gd name="connsiteX720" fmla="*/ 2597266 w 3600000"/>
              <a:gd name="connsiteY720" fmla="*/ 1508370 h 2787466"/>
              <a:gd name="connsiteX721" fmla="*/ 2599717 w 3600000"/>
              <a:gd name="connsiteY721" fmla="*/ 1513440 h 2787466"/>
              <a:gd name="connsiteX722" fmla="*/ 2610130 w 3600000"/>
              <a:gd name="connsiteY722" fmla="*/ 1507419 h 2787466"/>
              <a:gd name="connsiteX723" fmla="*/ 2410231 w 3600000"/>
              <a:gd name="connsiteY723" fmla="*/ 1506973 h 2787466"/>
              <a:gd name="connsiteX724" fmla="*/ 2409264 w 3600000"/>
              <a:gd name="connsiteY724" fmla="*/ 1507284 h 2787466"/>
              <a:gd name="connsiteX725" fmla="*/ 2409850 w 3600000"/>
              <a:gd name="connsiteY725" fmla="*/ 1507618 h 2787466"/>
              <a:gd name="connsiteX726" fmla="*/ 2391234 w 3600000"/>
              <a:gd name="connsiteY726" fmla="*/ 1506811 h 2787466"/>
              <a:gd name="connsiteX727" fmla="*/ 2394187 w 3600000"/>
              <a:gd name="connsiteY727" fmla="*/ 1510604 h 2787466"/>
              <a:gd name="connsiteX728" fmla="*/ 2396694 w 3600000"/>
              <a:gd name="connsiteY728" fmla="*/ 1509949 h 2787466"/>
              <a:gd name="connsiteX729" fmla="*/ 2851249 w 3600000"/>
              <a:gd name="connsiteY729" fmla="*/ 1506468 h 2787466"/>
              <a:gd name="connsiteX730" fmla="*/ 2824148 w 3600000"/>
              <a:gd name="connsiteY730" fmla="*/ 1520178 h 2787466"/>
              <a:gd name="connsiteX731" fmla="*/ 2851249 w 3600000"/>
              <a:gd name="connsiteY731" fmla="*/ 1506468 h 2787466"/>
              <a:gd name="connsiteX732" fmla="*/ 2206108 w 3600000"/>
              <a:gd name="connsiteY732" fmla="*/ 1506380 h 2787466"/>
              <a:gd name="connsiteX733" fmla="*/ 2202734 w 3600000"/>
              <a:gd name="connsiteY733" fmla="*/ 1507618 h 2787466"/>
              <a:gd name="connsiteX734" fmla="*/ 2200055 w 3600000"/>
              <a:gd name="connsiteY734" fmla="*/ 1519566 h 2787466"/>
              <a:gd name="connsiteX735" fmla="*/ 2213244 w 3600000"/>
              <a:gd name="connsiteY735" fmla="*/ 1508561 h 2787466"/>
              <a:gd name="connsiteX736" fmla="*/ 2210565 w 3600000"/>
              <a:gd name="connsiteY736" fmla="*/ 1506674 h 2787466"/>
              <a:gd name="connsiteX737" fmla="*/ 2206108 w 3600000"/>
              <a:gd name="connsiteY737" fmla="*/ 1506380 h 2787466"/>
              <a:gd name="connsiteX738" fmla="*/ 2908173 w 3600000"/>
              <a:gd name="connsiteY738" fmla="*/ 1501616 h 2787466"/>
              <a:gd name="connsiteX739" fmla="*/ 2888703 w 3600000"/>
              <a:gd name="connsiteY739" fmla="*/ 1514643 h 2787466"/>
              <a:gd name="connsiteX740" fmla="*/ 2908173 w 3600000"/>
              <a:gd name="connsiteY740" fmla="*/ 1501616 h 2787466"/>
              <a:gd name="connsiteX741" fmla="*/ 2379916 w 3600000"/>
              <a:gd name="connsiteY741" fmla="*/ 1501589 h 2787466"/>
              <a:gd name="connsiteX742" fmla="*/ 2376215 w 3600000"/>
              <a:gd name="connsiteY742" fmla="*/ 1501703 h 2787466"/>
              <a:gd name="connsiteX743" fmla="*/ 2378344 w 3600000"/>
              <a:gd name="connsiteY743" fmla="*/ 1501722 h 2787466"/>
              <a:gd name="connsiteX744" fmla="*/ 2382440 w 3600000"/>
              <a:gd name="connsiteY744" fmla="*/ 1505574 h 2787466"/>
              <a:gd name="connsiteX745" fmla="*/ 2383444 w 3600000"/>
              <a:gd name="connsiteY745" fmla="*/ 1502933 h 2787466"/>
              <a:gd name="connsiteX746" fmla="*/ 2369958 w 3600000"/>
              <a:gd name="connsiteY746" fmla="*/ 1500624 h 2787466"/>
              <a:gd name="connsiteX747" fmla="*/ 2369456 w 3600000"/>
              <a:gd name="connsiteY747" fmla="*/ 1501643 h 2787466"/>
              <a:gd name="connsiteX748" fmla="*/ 2370675 w 3600000"/>
              <a:gd name="connsiteY748" fmla="*/ 1501654 h 2787466"/>
              <a:gd name="connsiteX749" fmla="*/ 2734027 w 3600000"/>
              <a:gd name="connsiteY749" fmla="*/ 1498843 h 2787466"/>
              <a:gd name="connsiteX750" fmla="*/ 2715971 w 3600000"/>
              <a:gd name="connsiteY750" fmla="*/ 1505709 h 2787466"/>
              <a:gd name="connsiteX751" fmla="*/ 2712072 w 3600000"/>
              <a:gd name="connsiteY751" fmla="*/ 1515542 h 2787466"/>
              <a:gd name="connsiteX752" fmla="*/ 2676985 w 3600000"/>
              <a:gd name="connsiteY752" fmla="*/ 1524438 h 2787466"/>
              <a:gd name="connsiteX753" fmla="*/ 2676985 w 3600000"/>
              <a:gd name="connsiteY753" fmla="*/ 1512733 h 2787466"/>
              <a:gd name="connsiteX754" fmla="*/ 2734027 w 3600000"/>
              <a:gd name="connsiteY754" fmla="*/ 1498843 h 2787466"/>
              <a:gd name="connsiteX755" fmla="*/ 2354100 w 3600000"/>
              <a:gd name="connsiteY755" fmla="*/ 1494876 h 2787466"/>
              <a:gd name="connsiteX756" fmla="*/ 2349878 w 3600000"/>
              <a:gd name="connsiteY756" fmla="*/ 1496612 h 2787466"/>
              <a:gd name="connsiteX757" fmla="*/ 2352558 w 3600000"/>
              <a:gd name="connsiteY757" fmla="*/ 1501643 h 2787466"/>
              <a:gd name="connsiteX758" fmla="*/ 2342048 w 3600000"/>
              <a:gd name="connsiteY758" fmla="*/ 1503687 h 2787466"/>
              <a:gd name="connsiteX759" fmla="*/ 2339368 w 3600000"/>
              <a:gd name="connsiteY759" fmla="*/ 1498656 h 2787466"/>
              <a:gd name="connsiteX760" fmla="*/ 2338131 w 3600000"/>
              <a:gd name="connsiteY760" fmla="*/ 1508561 h 2787466"/>
              <a:gd name="connsiteX761" fmla="*/ 2351115 w 3600000"/>
              <a:gd name="connsiteY761" fmla="*/ 1508561 h 2787466"/>
              <a:gd name="connsiteX762" fmla="*/ 2354100 w 3600000"/>
              <a:gd name="connsiteY762" fmla="*/ 1494876 h 2787466"/>
              <a:gd name="connsiteX763" fmla="*/ 2274245 w 3600000"/>
              <a:gd name="connsiteY763" fmla="*/ 1492682 h 2787466"/>
              <a:gd name="connsiteX764" fmla="*/ 2263941 w 3600000"/>
              <a:gd name="connsiteY764" fmla="*/ 1508561 h 2787466"/>
              <a:gd name="connsiteX765" fmla="*/ 2265178 w 3600000"/>
              <a:gd name="connsiteY765" fmla="*/ 1513592 h 2787466"/>
              <a:gd name="connsiteX766" fmla="*/ 2279603 w 3600000"/>
              <a:gd name="connsiteY766" fmla="*/ 1495669 h 2787466"/>
              <a:gd name="connsiteX767" fmla="*/ 2274245 w 3600000"/>
              <a:gd name="connsiteY767" fmla="*/ 1492682 h 2787466"/>
              <a:gd name="connsiteX768" fmla="*/ 2465699 w 3600000"/>
              <a:gd name="connsiteY768" fmla="*/ 1491738 h 2787466"/>
              <a:gd name="connsiteX769" fmla="*/ 2465236 w 3600000"/>
              <a:gd name="connsiteY769" fmla="*/ 1492383 h 2787466"/>
              <a:gd name="connsiteX770" fmla="*/ 2472398 w 3600000"/>
              <a:gd name="connsiteY770" fmla="*/ 1491965 h 2787466"/>
              <a:gd name="connsiteX771" fmla="*/ 2472243 w 3600000"/>
              <a:gd name="connsiteY771" fmla="*/ 1492830 h 2787466"/>
              <a:gd name="connsiteX772" fmla="*/ 2471612 w 3600000"/>
              <a:gd name="connsiteY772" fmla="*/ 1496364 h 2787466"/>
              <a:gd name="connsiteX773" fmla="*/ 2476879 w 3600000"/>
              <a:gd name="connsiteY773" fmla="*/ 1497182 h 2787466"/>
              <a:gd name="connsiteX774" fmla="*/ 2482598 w 3600000"/>
              <a:gd name="connsiteY774" fmla="*/ 1492682 h 2787466"/>
              <a:gd name="connsiteX775" fmla="*/ 2465699 w 3600000"/>
              <a:gd name="connsiteY775" fmla="*/ 1491738 h 2787466"/>
              <a:gd name="connsiteX776" fmla="*/ 175697 w 3600000"/>
              <a:gd name="connsiteY776" fmla="*/ 1490832 h 2787466"/>
              <a:gd name="connsiteX777" fmla="*/ 161272 w 3600000"/>
              <a:gd name="connsiteY777" fmla="*/ 1493818 h 2787466"/>
              <a:gd name="connsiteX778" fmla="*/ 171782 w 3600000"/>
              <a:gd name="connsiteY778" fmla="*/ 1495863 h 2787466"/>
              <a:gd name="connsiteX779" fmla="*/ 175697 w 3600000"/>
              <a:gd name="connsiteY779" fmla="*/ 1490832 h 2787466"/>
              <a:gd name="connsiteX780" fmla="*/ 2857355 w 3600000"/>
              <a:gd name="connsiteY780" fmla="*/ 1490524 h 2787466"/>
              <a:gd name="connsiteX781" fmla="*/ 2861243 w 3600000"/>
              <a:gd name="connsiteY781" fmla="*/ 1499491 h 2787466"/>
              <a:gd name="connsiteX782" fmla="*/ 2816014 w 3600000"/>
              <a:gd name="connsiteY782" fmla="*/ 1512550 h 2787466"/>
              <a:gd name="connsiteX783" fmla="*/ 2857355 w 3600000"/>
              <a:gd name="connsiteY783" fmla="*/ 1490524 h 2787466"/>
              <a:gd name="connsiteX784" fmla="*/ 2967301 w 3600000"/>
              <a:gd name="connsiteY784" fmla="*/ 1488821 h 2787466"/>
              <a:gd name="connsiteX785" fmla="*/ 2953163 w 3600000"/>
              <a:gd name="connsiteY785" fmla="*/ 1499382 h 2787466"/>
              <a:gd name="connsiteX786" fmla="*/ 2967301 w 3600000"/>
              <a:gd name="connsiteY786" fmla="*/ 1488821 h 2787466"/>
              <a:gd name="connsiteX787" fmla="*/ 2937800 w 3600000"/>
              <a:gd name="connsiteY787" fmla="*/ 1488705 h 2787466"/>
              <a:gd name="connsiteX788" fmla="*/ 2942119 w 3600000"/>
              <a:gd name="connsiteY788" fmla="*/ 1494796 h 2787466"/>
              <a:gd name="connsiteX789" fmla="*/ 2925561 w 3600000"/>
              <a:gd name="connsiteY789" fmla="*/ 1500765 h 2787466"/>
              <a:gd name="connsiteX790" fmla="*/ 2937800 w 3600000"/>
              <a:gd name="connsiteY790" fmla="*/ 1488705 h 2787466"/>
              <a:gd name="connsiteX791" fmla="*/ 2661329 w 3600000"/>
              <a:gd name="connsiteY791" fmla="*/ 1487750 h 2787466"/>
              <a:gd name="connsiteX792" fmla="*/ 2646998 w 3600000"/>
              <a:gd name="connsiteY792" fmla="*/ 1494742 h 2787466"/>
              <a:gd name="connsiteX793" fmla="*/ 2661329 w 3600000"/>
              <a:gd name="connsiteY793" fmla="*/ 1487750 h 2787466"/>
              <a:gd name="connsiteX794" fmla="*/ 2444884 w 3600000"/>
              <a:gd name="connsiteY794" fmla="*/ 1485764 h 2787466"/>
              <a:gd name="connsiteX795" fmla="*/ 2445496 w 3600000"/>
              <a:gd name="connsiteY795" fmla="*/ 1493369 h 2787466"/>
              <a:gd name="connsiteX796" fmla="*/ 2445490 w 3600000"/>
              <a:gd name="connsiteY796" fmla="*/ 1493403 h 2787466"/>
              <a:gd name="connsiteX797" fmla="*/ 2446126 w 3600000"/>
              <a:gd name="connsiteY797" fmla="*/ 1493498 h 2787466"/>
              <a:gd name="connsiteX798" fmla="*/ 2456244 w 3600000"/>
              <a:gd name="connsiteY798" fmla="*/ 1492907 h 2787466"/>
              <a:gd name="connsiteX799" fmla="*/ 2458074 w 3600000"/>
              <a:gd name="connsiteY799" fmla="*/ 1491738 h 2787466"/>
              <a:gd name="connsiteX800" fmla="*/ 2458074 w 3600000"/>
              <a:gd name="connsiteY800" fmla="*/ 1487651 h 2787466"/>
              <a:gd name="connsiteX801" fmla="*/ 2447563 w 3600000"/>
              <a:gd name="connsiteY801" fmla="*/ 1489694 h 2787466"/>
              <a:gd name="connsiteX802" fmla="*/ 2444884 w 3600000"/>
              <a:gd name="connsiteY802" fmla="*/ 1485764 h 2787466"/>
              <a:gd name="connsiteX803" fmla="*/ 3002096 w 3600000"/>
              <a:gd name="connsiteY803" fmla="*/ 1480818 h 2787466"/>
              <a:gd name="connsiteX804" fmla="*/ 3008450 w 3600000"/>
              <a:gd name="connsiteY804" fmla="*/ 1488828 h 2787466"/>
              <a:gd name="connsiteX805" fmla="*/ 2982624 w 3600000"/>
              <a:gd name="connsiteY805" fmla="*/ 1499665 h 2787466"/>
              <a:gd name="connsiteX806" fmla="*/ 3002096 w 3600000"/>
              <a:gd name="connsiteY806" fmla="*/ 1480818 h 2787466"/>
              <a:gd name="connsiteX807" fmla="*/ 2829838 w 3600000"/>
              <a:gd name="connsiteY807" fmla="*/ 1479385 h 2787466"/>
              <a:gd name="connsiteX808" fmla="*/ 2836190 w 3600000"/>
              <a:gd name="connsiteY808" fmla="*/ 1479585 h 2787466"/>
              <a:gd name="connsiteX809" fmla="*/ 2807836 w 3600000"/>
              <a:gd name="connsiteY809" fmla="*/ 1493142 h 2787466"/>
              <a:gd name="connsiteX810" fmla="*/ 2829838 w 3600000"/>
              <a:gd name="connsiteY810" fmla="*/ 1479385 h 2787466"/>
              <a:gd name="connsiteX811" fmla="*/ 2485277 w 3600000"/>
              <a:gd name="connsiteY811" fmla="*/ 1478846 h 2787466"/>
              <a:gd name="connsiteX812" fmla="*/ 2498260 w 3600000"/>
              <a:gd name="connsiteY812" fmla="*/ 1489694 h 2787466"/>
              <a:gd name="connsiteX813" fmla="*/ 2485277 w 3600000"/>
              <a:gd name="connsiteY813" fmla="*/ 1478846 h 2787466"/>
              <a:gd name="connsiteX814" fmla="*/ 2647033 w 3600000"/>
              <a:gd name="connsiteY814" fmla="*/ 1478737 h 2787466"/>
              <a:gd name="connsiteX815" fmla="*/ 2605199 w 3600000"/>
              <a:gd name="connsiteY815" fmla="*/ 1486573 h 2787466"/>
              <a:gd name="connsiteX816" fmla="*/ 2615554 w 3600000"/>
              <a:gd name="connsiteY816" fmla="*/ 1483595 h 2787466"/>
              <a:gd name="connsiteX817" fmla="*/ 2623423 w 3600000"/>
              <a:gd name="connsiteY817" fmla="*/ 1489550 h 2787466"/>
              <a:gd name="connsiteX818" fmla="*/ 2647033 w 3600000"/>
              <a:gd name="connsiteY818" fmla="*/ 1478737 h 2787466"/>
              <a:gd name="connsiteX819" fmla="*/ 3012939 w 3600000"/>
              <a:gd name="connsiteY819" fmla="*/ 1478628 h 2787466"/>
              <a:gd name="connsiteX820" fmla="*/ 3013191 w 3600000"/>
              <a:gd name="connsiteY820" fmla="*/ 1478637 h 2787466"/>
              <a:gd name="connsiteX821" fmla="*/ 3011693 w 3600000"/>
              <a:gd name="connsiteY821" fmla="*/ 1482505 h 2787466"/>
              <a:gd name="connsiteX822" fmla="*/ 3012939 w 3600000"/>
              <a:gd name="connsiteY822" fmla="*/ 1478628 h 2787466"/>
              <a:gd name="connsiteX823" fmla="*/ 2792180 w 3600000"/>
              <a:gd name="connsiteY823" fmla="*/ 1466259 h 2787466"/>
              <a:gd name="connsiteX824" fmla="*/ 2775178 w 3600000"/>
              <a:gd name="connsiteY824" fmla="*/ 1489009 h 2787466"/>
              <a:gd name="connsiteX825" fmla="*/ 2732049 w 3600000"/>
              <a:gd name="connsiteY825" fmla="*/ 1489950 h 2787466"/>
              <a:gd name="connsiteX826" fmla="*/ 2730597 w 3600000"/>
              <a:gd name="connsiteY826" fmla="*/ 1483988 h 2787466"/>
              <a:gd name="connsiteX827" fmla="*/ 2792180 w 3600000"/>
              <a:gd name="connsiteY827" fmla="*/ 1466259 h 2787466"/>
              <a:gd name="connsiteX828" fmla="*/ 2923941 w 3600000"/>
              <a:gd name="connsiteY828" fmla="*/ 1464179 h 2787466"/>
              <a:gd name="connsiteX829" fmla="*/ 2871730 w 3600000"/>
              <a:gd name="connsiteY829" fmla="*/ 1493832 h 2787466"/>
              <a:gd name="connsiteX830" fmla="*/ 2867809 w 3600000"/>
              <a:gd name="connsiteY830" fmla="*/ 1486929 h 2787466"/>
              <a:gd name="connsiteX831" fmla="*/ 2923941 w 3600000"/>
              <a:gd name="connsiteY831" fmla="*/ 1464179 h 2787466"/>
              <a:gd name="connsiteX832" fmla="*/ 2263483 w 3600000"/>
              <a:gd name="connsiteY832" fmla="*/ 1463266 h 2787466"/>
              <a:gd name="connsiteX833" fmla="*/ 2257812 w 3600000"/>
              <a:gd name="connsiteY833" fmla="*/ 1463482 h 2787466"/>
              <a:gd name="connsiteX834" fmla="*/ 2253349 w 3600000"/>
              <a:gd name="connsiteY834" fmla="*/ 1466294 h 2787466"/>
              <a:gd name="connsiteX835" fmla="*/ 2247127 w 3600000"/>
              <a:gd name="connsiteY835" fmla="*/ 1466142 h 2787466"/>
              <a:gd name="connsiteX836" fmla="*/ 2245092 w 3600000"/>
              <a:gd name="connsiteY836" fmla="*/ 1463965 h 2787466"/>
              <a:gd name="connsiteX837" fmla="*/ 2232347 w 3600000"/>
              <a:gd name="connsiteY837" fmla="*/ 1464450 h 2787466"/>
              <a:gd name="connsiteX838" fmla="*/ 2231457 w 3600000"/>
              <a:gd name="connsiteY838" fmla="*/ 1466082 h 2787466"/>
              <a:gd name="connsiteX839" fmla="*/ 2227463 w 3600000"/>
              <a:gd name="connsiteY839" fmla="*/ 1474758 h 2787466"/>
              <a:gd name="connsiteX840" fmla="*/ 2243127 w 3600000"/>
              <a:gd name="connsiteY840" fmla="*/ 1475859 h 2787466"/>
              <a:gd name="connsiteX841" fmla="*/ 2247042 w 3600000"/>
              <a:gd name="connsiteY841" fmla="*/ 1468941 h 2787466"/>
              <a:gd name="connsiteX842" fmla="*/ 2256882 w 3600000"/>
              <a:gd name="connsiteY842" fmla="*/ 1471813 h 2787466"/>
              <a:gd name="connsiteX843" fmla="*/ 2266914 w 3600000"/>
              <a:gd name="connsiteY843" fmla="*/ 1471189 h 2787466"/>
              <a:gd name="connsiteX844" fmla="*/ 2266548 w 3600000"/>
              <a:gd name="connsiteY844" fmla="*/ 1469209 h 2787466"/>
              <a:gd name="connsiteX845" fmla="*/ 2265723 w 3600000"/>
              <a:gd name="connsiteY845" fmla="*/ 1465110 h 2787466"/>
              <a:gd name="connsiteX846" fmla="*/ 2262885 w 3600000"/>
              <a:gd name="connsiteY846" fmla="*/ 1464936 h 2787466"/>
              <a:gd name="connsiteX847" fmla="*/ 3051156 w 3600000"/>
              <a:gd name="connsiteY847" fmla="*/ 1462966 h 2787466"/>
              <a:gd name="connsiteX848" fmla="*/ 3024080 w 3600000"/>
              <a:gd name="connsiteY848" fmla="*/ 1479037 h 2787466"/>
              <a:gd name="connsiteX849" fmla="*/ 3013191 w 3600000"/>
              <a:gd name="connsiteY849" fmla="*/ 1478637 h 2787466"/>
              <a:gd name="connsiteX850" fmla="*/ 3014150 w 3600000"/>
              <a:gd name="connsiteY850" fmla="*/ 1476159 h 2787466"/>
              <a:gd name="connsiteX851" fmla="*/ 3051156 w 3600000"/>
              <a:gd name="connsiteY851" fmla="*/ 1462966 h 2787466"/>
              <a:gd name="connsiteX852" fmla="*/ 2866729 w 3600000"/>
              <a:gd name="connsiteY852" fmla="*/ 1462792 h 2787466"/>
              <a:gd name="connsiteX853" fmla="*/ 2871872 w 3600000"/>
              <a:gd name="connsiteY853" fmla="*/ 1463731 h 2787466"/>
              <a:gd name="connsiteX854" fmla="*/ 2875781 w 3600000"/>
              <a:gd name="connsiteY854" fmla="*/ 1464668 h 2787466"/>
              <a:gd name="connsiteX855" fmla="*/ 2847183 w 3600000"/>
              <a:gd name="connsiteY855" fmla="*/ 1476549 h 2787466"/>
              <a:gd name="connsiteX856" fmla="*/ 2866729 w 3600000"/>
              <a:gd name="connsiteY856" fmla="*/ 1462792 h 2787466"/>
              <a:gd name="connsiteX857" fmla="*/ 157356 w 3600000"/>
              <a:gd name="connsiteY857" fmla="*/ 1462066 h 2787466"/>
              <a:gd name="connsiteX858" fmla="*/ 150967 w 3600000"/>
              <a:gd name="connsiteY858" fmla="*/ 1468040 h 2787466"/>
              <a:gd name="connsiteX859" fmla="*/ 157356 w 3600000"/>
              <a:gd name="connsiteY859" fmla="*/ 1479043 h 2787466"/>
              <a:gd name="connsiteX860" fmla="*/ 191360 w 3600000"/>
              <a:gd name="connsiteY860" fmla="*/ 1485959 h 2787466"/>
              <a:gd name="connsiteX861" fmla="*/ 200428 w 3600000"/>
              <a:gd name="connsiteY861" fmla="*/ 1476999 h 2787466"/>
              <a:gd name="connsiteX862" fmla="*/ 169103 w 3600000"/>
              <a:gd name="connsiteY862" fmla="*/ 1471970 h 2787466"/>
              <a:gd name="connsiteX863" fmla="*/ 157356 w 3600000"/>
              <a:gd name="connsiteY863" fmla="*/ 1462066 h 2787466"/>
              <a:gd name="connsiteX864" fmla="*/ 2188045 w 3600000"/>
              <a:gd name="connsiteY864" fmla="*/ 1461987 h 2787466"/>
              <a:gd name="connsiteX865" fmla="*/ 2187818 w 3600000"/>
              <a:gd name="connsiteY865" fmla="*/ 1462908 h 2787466"/>
              <a:gd name="connsiteX866" fmla="*/ 2184392 w 3600000"/>
              <a:gd name="connsiteY866" fmla="*/ 1476802 h 2787466"/>
              <a:gd name="connsiteX867" fmla="*/ 2200055 w 3600000"/>
              <a:gd name="connsiteY867" fmla="*/ 1477746 h 2787466"/>
              <a:gd name="connsiteX868" fmla="*/ 2207886 w 3600000"/>
              <a:gd name="connsiteY868" fmla="*/ 1465954 h 2787466"/>
              <a:gd name="connsiteX869" fmla="*/ 2207886 w 3600000"/>
              <a:gd name="connsiteY869" fmla="*/ 1475859 h 2787466"/>
              <a:gd name="connsiteX870" fmla="*/ 2227463 w 3600000"/>
              <a:gd name="connsiteY870" fmla="*/ 1467841 h 2787466"/>
              <a:gd name="connsiteX871" fmla="*/ 2223658 w 3600000"/>
              <a:gd name="connsiteY871" fmla="*/ 1465622 h 2787466"/>
              <a:gd name="connsiteX872" fmla="*/ 2223083 w 3600000"/>
              <a:gd name="connsiteY872" fmla="*/ 1464719 h 2787466"/>
              <a:gd name="connsiteX873" fmla="*/ 2138538 w 3600000"/>
              <a:gd name="connsiteY873" fmla="*/ 1458237 h 2787466"/>
              <a:gd name="connsiteX874" fmla="*/ 2141526 w 3600000"/>
              <a:gd name="connsiteY874" fmla="*/ 1471771 h 2787466"/>
              <a:gd name="connsiteX875" fmla="*/ 2151831 w 3600000"/>
              <a:gd name="connsiteY875" fmla="*/ 1469885 h 2787466"/>
              <a:gd name="connsiteX876" fmla="*/ 2146679 w 3600000"/>
              <a:gd name="connsiteY876" fmla="*/ 1478846 h 2787466"/>
              <a:gd name="connsiteX877" fmla="*/ 2165020 w 3600000"/>
              <a:gd name="connsiteY877" fmla="*/ 1467841 h 2787466"/>
              <a:gd name="connsiteX878" fmla="*/ 2155952 w 3600000"/>
              <a:gd name="connsiteY878" fmla="*/ 1481833 h 2787466"/>
              <a:gd name="connsiteX879" fmla="*/ 2179803 w 3600000"/>
              <a:gd name="connsiteY879" fmla="*/ 1465296 h 2787466"/>
              <a:gd name="connsiteX880" fmla="*/ 2186477 w 3600000"/>
              <a:gd name="connsiteY880" fmla="*/ 1461864 h 2787466"/>
              <a:gd name="connsiteX881" fmla="*/ 2185655 w 3600000"/>
              <a:gd name="connsiteY881" fmla="*/ 1461801 h 2787466"/>
              <a:gd name="connsiteX882" fmla="*/ 2167445 w 3600000"/>
              <a:gd name="connsiteY882" fmla="*/ 1460045 h 2787466"/>
              <a:gd name="connsiteX883" fmla="*/ 2166655 w 3600000"/>
              <a:gd name="connsiteY883" fmla="*/ 1460557 h 2787466"/>
              <a:gd name="connsiteX884" fmla="*/ 2166227 w 3600000"/>
              <a:gd name="connsiteY884" fmla="*/ 1459928 h 2787466"/>
              <a:gd name="connsiteX885" fmla="*/ 2148981 w 3600000"/>
              <a:gd name="connsiteY885" fmla="*/ 1458266 h 2787466"/>
              <a:gd name="connsiteX886" fmla="*/ 2126006 w 3600000"/>
              <a:gd name="connsiteY886" fmla="*/ 1458204 h 2787466"/>
              <a:gd name="connsiteX887" fmla="*/ 2126688 w 3600000"/>
              <a:gd name="connsiteY887" fmla="*/ 1464028 h 2787466"/>
              <a:gd name="connsiteX888" fmla="*/ 2132459 w 3600000"/>
              <a:gd name="connsiteY888" fmla="*/ 1468941 h 2787466"/>
              <a:gd name="connsiteX889" fmla="*/ 2134932 w 3600000"/>
              <a:gd name="connsiteY889" fmla="*/ 1458879 h 2787466"/>
              <a:gd name="connsiteX890" fmla="*/ 2131760 w 3600000"/>
              <a:gd name="connsiteY890" fmla="*/ 1458219 h 2787466"/>
              <a:gd name="connsiteX891" fmla="*/ 2120634 w 3600000"/>
              <a:gd name="connsiteY891" fmla="*/ 1458189 h 2787466"/>
              <a:gd name="connsiteX892" fmla="*/ 2118960 w 3600000"/>
              <a:gd name="connsiteY892" fmla="*/ 1463635 h 2787466"/>
              <a:gd name="connsiteX893" fmla="*/ 2114117 w 3600000"/>
              <a:gd name="connsiteY893" fmla="*/ 1464854 h 2787466"/>
              <a:gd name="connsiteX894" fmla="*/ 2116796 w 3600000"/>
              <a:gd name="connsiteY894" fmla="*/ 1460923 h 2787466"/>
              <a:gd name="connsiteX895" fmla="*/ 2111214 w 3600000"/>
              <a:gd name="connsiteY895" fmla="*/ 1459657 h 2787466"/>
              <a:gd name="connsiteX896" fmla="*/ 2109274 w 3600000"/>
              <a:gd name="connsiteY896" fmla="*/ 1458459 h 2787466"/>
              <a:gd name="connsiteX897" fmla="*/ 2106227 w 3600000"/>
              <a:gd name="connsiteY897" fmla="*/ 1458806 h 2787466"/>
              <a:gd name="connsiteX898" fmla="*/ 2105049 w 3600000"/>
              <a:gd name="connsiteY898" fmla="*/ 1459980 h 2787466"/>
              <a:gd name="connsiteX899" fmla="*/ 2106286 w 3600000"/>
              <a:gd name="connsiteY899" fmla="*/ 1466897 h 2787466"/>
              <a:gd name="connsiteX900" fmla="*/ 2121948 w 3600000"/>
              <a:gd name="connsiteY900" fmla="*/ 1469885 h 2787466"/>
              <a:gd name="connsiteX901" fmla="*/ 2124267 w 3600000"/>
              <a:gd name="connsiteY901" fmla="*/ 1463910 h 2787466"/>
              <a:gd name="connsiteX902" fmla="*/ 2120863 w 3600000"/>
              <a:gd name="connsiteY902" fmla="*/ 1458190 h 2787466"/>
              <a:gd name="connsiteX903" fmla="*/ 3004541 w 3600000"/>
              <a:gd name="connsiteY903" fmla="*/ 1453780 h 2787466"/>
              <a:gd name="connsiteX904" fmla="*/ 3014810 w 3600000"/>
              <a:gd name="connsiteY904" fmla="*/ 1467716 h 2787466"/>
              <a:gd name="connsiteX905" fmla="*/ 3004541 w 3600000"/>
              <a:gd name="connsiteY905" fmla="*/ 1477692 h 2787466"/>
              <a:gd name="connsiteX906" fmla="*/ 2990164 w 3600000"/>
              <a:gd name="connsiteY906" fmla="*/ 1468824 h 2787466"/>
              <a:gd name="connsiteX907" fmla="*/ 2955043 w 3600000"/>
              <a:gd name="connsiteY907" fmla="*/ 1480701 h 2787466"/>
              <a:gd name="connsiteX908" fmla="*/ 3004541 w 3600000"/>
              <a:gd name="connsiteY908" fmla="*/ 1453780 h 2787466"/>
              <a:gd name="connsiteX909" fmla="*/ 2477214 w 3600000"/>
              <a:gd name="connsiteY909" fmla="*/ 1453750 h 2787466"/>
              <a:gd name="connsiteX910" fmla="*/ 2473530 w 3600000"/>
              <a:gd name="connsiteY910" fmla="*/ 1460923 h 2787466"/>
              <a:gd name="connsiteX911" fmla="*/ 2487956 w 3600000"/>
              <a:gd name="connsiteY911" fmla="*/ 1464854 h 2787466"/>
              <a:gd name="connsiteX912" fmla="*/ 2490635 w 3600000"/>
              <a:gd name="connsiteY912" fmla="*/ 1454005 h 2787466"/>
              <a:gd name="connsiteX913" fmla="*/ 2477214 w 3600000"/>
              <a:gd name="connsiteY913" fmla="*/ 1453750 h 2787466"/>
              <a:gd name="connsiteX914" fmla="*/ 2607235 w 3600000"/>
              <a:gd name="connsiteY914" fmla="*/ 1453284 h 2787466"/>
              <a:gd name="connsiteX915" fmla="*/ 2614076 w 3600000"/>
              <a:gd name="connsiteY915" fmla="*/ 1453915 h 2787466"/>
              <a:gd name="connsiteX916" fmla="*/ 2614076 w 3600000"/>
              <a:gd name="connsiteY916" fmla="*/ 1457741 h 2787466"/>
              <a:gd name="connsiteX917" fmla="*/ 2603381 w 3600000"/>
              <a:gd name="connsiteY917" fmla="*/ 1459731 h 2787466"/>
              <a:gd name="connsiteX918" fmla="*/ 2603381 w 3600000"/>
              <a:gd name="connsiteY918" fmla="*/ 1454833 h 2787466"/>
              <a:gd name="connsiteX919" fmla="*/ 2607235 w 3600000"/>
              <a:gd name="connsiteY919" fmla="*/ 1453284 h 2787466"/>
              <a:gd name="connsiteX920" fmla="*/ 2533500 w 3600000"/>
              <a:gd name="connsiteY920" fmla="*/ 1451962 h 2787466"/>
              <a:gd name="connsiteX921" fmla="*/ 2536180 w 3600000"/>
              <a:gd name="connsiteY921" fmla="*/ 1460923 h 2787466"/>
              <a:gd name="connsiteX922" fmla="*/ 2547927 w 3600000"/>
              <a:gd name="connsiteY922" fmla="*/ 1454949 h 2787466"/>
              <a:gd name="connsiteX923" fmla="*/ 2536180 w 3600000"/>
              <a:gd name="connsiteY923" fmla="*/ 1454005 h 2787466"/>
              <a:gd name="connsiteX924" fmla="*/ 2533500 w 3600000"/>
              <a:gd name="connsiteY924" fmla="*/ 1451962 h 2787466"/>
              <a:gd name="connsiteX925" fmla="*/ 3041166 w 3600000"/>
              <a:gd name="connsiteY925" fmla="*/ 1451959 h 2787466"/>
              <a:gd name="connsiteX926" fmla="*/ 3023194 w 3600000"/>
              <a:gd name="connsiteY926" fmla="*/ 1463068 h 2787466"/>
              <a:gd name="connsiteX927" fmla="*/ 3041166 w 3600000"/>
              <a:gd name="connsiteY927" fmla="*/ 1451959 h 2787466"/>
              <a:gd name="connsiteX928" fmla="*/ 2445400 w 3600000"/>
              <a:gd name="connsiteY928" fmla="*/ 1448385 h 2787466"/>
              <a:gd name="connsiteX929" fmla="*/ 2439732 w 3600000"/>
              <a:gd name="connsiteY929" fmla="*/ 1454005 h 2787466"/>
              <a:gd name="connsiteX930" fmla="*/ 2451479 w 3600000"/>
              <a:gd name="connsiteY930" fmla="*/ 1455892 h 2787466"/>
              <a:gd name="connsiteX931" fmla="*/ 2440968 w 3600000"/>
              <a:gd name="connsiteY931" fmla="*/ 1460923 h 2787466"/>
              <a:gd name="connsiteX932" fmla="*/ 2424069 w 3600000"/>
              <a:gd name="connsiteY932" fmla="*/ 1458879 h 2787466"/>
              <a:gd name="connsiteX933" fmla="*/ 2416238 w 3600000"/>
              <a:gd name="connsiteY933" fmla="*/ 1463910 h 2787466"/>
              <a:gd name="connsiteX934" fmla="*/ 2422833 w 3600000"/>
              <a:gd name="connsiteY934" fmla="*/ 1474758 h 2787466"/>
              <a:gd name="connsiteX935" fmla="*/ 2427985 w 3600000"/>
              <a:gd name="connsiteY935" fmla="*/ 1467841 h 2787466"/>
              <a:gd name="connsiteX936" fmla="*/ 2443648 w 3600000"/>
              <a:gd name="connsiteY936" fmla="*/ 1473815 h 2787466"/>
              <a:gd name="connsiteX937" fmla="*/ 2458074 w 3600000"/>
              <a:gd name="connsiteY937" fmla="*/ 1473815 h 2787466"/>
              <a:gd name="connsiteX938" fmla="*/ 2463226 w 3600000"/>
              <a:gd name="connsiteY938" fmla="*/ 1456992 h 2787466"/>
              <a:gd name="connsiteX939" fmla="*/ 2454158 w 3600000"/>
              <a:gd name="connsiteY939" fmla="*/ 1451018 h 2787466"/>
              <a:gd name="connsiteX940" fmla="*/ 2445400 w 3600000"/>
              <a:gd name="connsiteY940" fmla="*/ 1448385 h 2787466"/>
              <a:gd name="connsiteX941" fmla="*/ 2960558 w 3600000"/>
              <a:gd name="connsiteY941" fmla="*/ 1446585 h 2787466"/>
              <a:gd name="connsiteX942" fmla="*/ 2969377 w 3600000"/>
              <a:gd name="connsiteY942" fmla="*/ 1449698 h 2787466"/>
              <a:gd name="connsiteX943" fmla="*/ 2942012 w 3600000"/>
              <a:gd name="connsiteY943" fmla="*/ 1458479 h 2787466"/>
              <a:gd name="connsiteX944" fmla="*/ 2960558 w 3600000"/>
              <a:gd name="connsiteY944" fmla="*/ 1446585 h 2787466"/>
              <a:gd name="connsiteX945" fmla="*/ 2611877 w 3600000"/>
              <a:gd name="connsiteY945" fmla="*/ 1444376 h 2787466"/>
              <a:gd name="connsiteX946" fmla="*/ 2617715 w 3600000"/>
              <a:gd name="connsiteY946" fmla="*/ 1449053 h 2787466"/>
              <a:gd name="connsiteX947" fmla="*/ 2587934 w 3600000"/>
              <a:gd name="connsiteY947" fmla="*/ 1452972 h 2787466"/>
              <a:gd name="connsiteX948" fmla="*/ 2611877 w 3600000"/>
              <a:gd name="connsiteY948" fmla="*/ 1444376 h 2787466"/>
              <a:gd name="connsiteX949" fmla="*/ 2319853 w 3600000"/>
              <a:gd name="connsiteY949" fmla="*/ 1443298 h 2787466"/>
              <a:gd name="connsiteX950" fmla="*/ 2316948 w 3600000"/>
              <a:gd name="connsiteY950" fmla="*/ 1445418 h 2787466"/>
              <a:gd name="connsiteX951" fmla="*/ 2322470 w 3600000"/>
              <a:gd name="connsiteY951" fmla="*/ 1445987 h 2787466"/>
              <a:gd name="connsiteX952" fmla="*/ 2319382 w 3600000"/>
              <a:gd name="connsiteY952" fmla="*/ 1451044 h 2787466"/>
              <a:gd name="connsiteX953" fmla="*/ 2324178 w 3600000"/>
              <a:gd name="connsiteY953" fmla="*/ 1451273 h 2787466"/>
              <a:gd name="connsiteX954" fmla="*/ 2324402 w 3600000"/>
              <a:gd name="connsiteY954" fmla="*/ 1451329 h 2787466"/>
              <a:gd name="connsiteX955" fmla="*/ 2324637 w 3600000"/>
              <a:gd name="connsiteY955" fmla="*/ 1450414 h 2787466"/>
              <a:gd name="connsiteX956" fmla="*/ 2327828 w 3600000"/>
              <a:gd name="connsiteY956" fmla="*/ 1445987 h 2787466"/>
              <a:gd name="connsiteX957" fmla="*/ 2323500 w 3600000"/>
              <a:gd name="connsiteY957" fmla="*/ 1443727 h 2787466"/>
              <a:gd name="connsiteX958" fmla="*/ 3025625 w 3600000"/>
              <a:gd name="connsiteY958" fmla="*/ 1442267 h 2787466"/>
              <a:gd name="connsiteX959" fmla="*/ 3032198 w 3600000"/>
              <a:gd name="connsiteY959" fmla="*/ 1451347 h 2787466"/>
              <a:gd name="connsiteX960" fmla="*/ 3019559 w 3600000"/>
              <a:gd name="connsiteY960" fmla="*/ 1444312 h 2787466"/>
              <a:gd name="connsiteX961" fmla="*/ 3025625 w 3600000"/>
              <a:gd name="connsiteY961" fmla="*/ 1442267 h 2787466"/>
              <a:gd name="connsiteX962" fmla="*/ 2305333 w 3600000"/>
              <a:gd name="connsiteY962" fmla="*/ 1441301 h 2787466"/>
              <a:gd name="connsiteX963" fmla="*/ 2308498 w 3600000"/>
              <a:gd name="connsiteY963" fmla="*/ 1441962 h 2787466"/>
              <a:gd name="connsiteX964" fmla="*/ 2309625 w 3600000"/>
              <a:gd name="connsiteY964" fmla="*/ 1442198 h 2787466"/>
              <a:gd name="connsiteX965" fmla="*/ 2532264 w 3600000"/>
              <a:gd name="connsiteY965" fmla="*/ 1436082 h 2787466"/>
              <a:gd name="connsiteX966" fmla="*/ 2510008 w 3600000"/>
              <a:gd name="connsiteY966" fmla="*/ 1451962 h 2787466"/>
              <a:gd name="connsiteX967" fmla="*/ 2517839 w 3600000"/>
              <a:gd name="connsiteY967" fmla="*/ 1457936 h 2787466"/>
              <a:gd name="connsiteX968" fmla="*/ 2532264 w 3600000"/>
              <a:gd name="connsiteY968" fmla="*/ 1436082 h 2787466"/>
              <a:gd name="connsiteX969" fmla="*/ 2431421 w 3600000"/>
              <a:gd name="connsiteY969" fmla="*/ 1435320 h 2787466"/>
              <a:gd name="connsiteX970" fmla="*/ 2425305 w 3600000"/>
              <a:gd name="connsiteY970" fmla="*/ 1441113 h 2787466"/>
              <a:gd name="connsiteX971" fmla="*/ 2420154 w 3600000"/>
              <a:gd name="connsiteY971" fmla="*/ 1439069 h 2787466"/>
              <a:gd name="connsiteX972" fmla="*/ 2425305 w 3600000"/>
              <a:gd name="connsiteY972" fmla="*/ 1448031 h 2787466"/>
              <a:gd name="connsiteX973" fmla="*/ 2431901 w 3600000"/>
              <a:gd name="connsiteY973" fmla="*/ 1446930 h 2787466"/>
              <a:gd name="connsiteX974" fmla="*/ 2435816 w 3600000"/>
              <a:gd name="connsiteY974" fmla="*/ 1436082 h 2787466"/>
              <a:gd name="connsiteX975" fmla="*/ 2431421 w 3600000"/>
              <a:gd name="connsiteY975" fmla="*/ 1435320 h 2787466"/>
              <a:gd name="connsiteX976" fmla="*/ 2439732 w 3600000"/>
              <a:gd name="connsiteY976" fmla="*/ 1435139 h 2787466"/>
              <a:gd name="connsiteX977" fmla="*/ 2442411 w 3600000"/>
              <a:gd name="connsiteY977" fmla="*/ 1446930 h 2787466"/>
              <a:gd name="connsiteX978" fmla="*/ 2445940 w 3600000"/>
              <a:gd name="connsiteY978" fmla="*/ 1440327 h 2787466"/>
              <a:gd name="connsiteX979" fmla="*/ 2441842 w 3600000"/>
              <a:gd name="connsiteY979" fmla="*/ 1436902 h 2787466"/>
              <a:gd name="connsiteX980" fmla="*/ 2439818 w 3600000"/>
              <a:gd name="connsiteY980" fmla="*/ 1437042 h 2787466"/>
              <a:gd name="connsiteX981" fmla="*/ 2441127 w 3600000"/>
              <a:gd name="connsiteY981" fmla="*/ 1436304 h 2787466"/>
              <a:gd name="connsiteX982" fmla="*/ 2719712 w 3600000"/>
              <a:gd name="connsiteY982" fmla="*/ 1434392 h 2787466"/>
              <a:gd name="connsiteX983" fmla="*/ 2723688 w 3600000"/>
              <a:gd name="connsiteY983" fmla="*/ 1435061 h 2787466"/>
              <a:gd name="connsiteX984" fmla="*/ 2709111 w 3600000"/>
              <a:gd name="connsiteY984" fmla="*/ 1441141 h 2787466"/>
              <a:gd name="connsiteX985" fmla="*/ 2719712 w 3600000"/>
              <a:gd name="connsiteY985" fmla="*/ 1434392 h 2787466"/>
              <a:gd name="connsiteX986" fmla="*/ 2467964 w 3600000"/>
              <a:gd name="connsiteY986" fmla="*/ 1433186 h 2787466"/>
              <a:gd name="connsiteX987" fmla="*/ 2459310 w 3600000"/>
              <a:gd name="connsiteY987" fmla="*/ 1439069 h 2787466"/>
              <a:gd name="connsiteX988" fmla="*/ 2471495 w 3600000"/>
              <a:gd name="connsiteY988" fmla="*/ 1437301 h 2787466"/>
              <a:gd name="connsiteX989" fmla="*/ 2474852 w 3600000"/>
              <a:gd name="connsiteY989" fmla="*/ 1434463 h 2787466"/>
              <a:gd name="connsiteX990" fmla="*/ 2478888 w 3600000"/>
              <a:gd name="connsiteY990" fmla="*/ 1431051 h 2787466"/>
              <a:gd name="connsiteX991" fmla="*/ 2476688 w 3600000"/>
              <a:gd name="connsiteY991" fmla="*/ 1431366 h 2787466"/>
              <a:gd name="connsiteX992" fmla="*/ 2477250 w 3600000"/>
              <a:gd name="connsiteY992" fmla="*/ 1432436 h 2787466"/>
              <a:gd name="connsiteX993" fmla="*/ 2458388 w 3600000"/>
              <a:gd name="connsiteY993" fmla="*/ 1426784 h 2787466"/>
              <a:gd name="connsiteX994" fmla="*/ 2458074 w 3600000"/>
              <a:gd name="connsiteY994" fmla="*/ 1428064 h 2787466"/>
              <a:gd name="connsiteX995" fmla="*/ 2460806 w 3600000"/>
              <a:gd name="connsiteY995" fmla="*/ 1427350 h 2787466"/>
              <a:gd name="connsiteX996" fmla="*/ 2460634 w 3600000"/>
              <a:gd name="connsiteY996" fmla="*/ 1427141 h 2787466"/>
              <a:gd name="connsiteX997" fmla="*/ 2511147 w 3600000"/>
              <a:gd name="connsiteY997" fmla="*/ 1426150 h 2787466"/>
              <a:gd name="connsiteX998" fmla="*/ 2495788 w 3600000"/>
              <a:gd name="connsiteY998" fmla="*/ 1430107 h 2787466"/>
              <a:gd name="connsiteX999" fmla="*/ 2495788 w 3600000"/>
              <a:gd name="connsiteY999" fmla="*/ 1437025 h 2787466"/>
              <a:gd name="connsiteX1000" fmla="*/ 2515365 w 3600000"/>
              <a:gd name="connsiteY1000" fmla="*/ 1428064 h 2787466"/>
              <a:gd name="connsiteX1001" fmla="*/ 2511147 w 3600000"/>
              <a:gd name="connsiteY1001" fmla="*/ 1426150 h 2787466"/>
              <a:gd name="connsiteX1002" fmla="*/ 2495788 w 3600000"/>
              <a:gd name="connsiteY1002" fmla="*/ 1423190 h 2787466"/>
              <a:gd name="connsiteX1003" fmla="*/ 2495697 w 3600000"/>
              <a:gd name="connsiteY1003" fmla="*/ 1423411 h 2787466"/>
              <a:gd name="connsiteX1004" fmla="*/ 2490635 w 3600000"/>
              <a:gd name="connsiteY1004" fmla="*/ 1424133 h 2787466"/>
              <a:gd name="connsiteX1005" fmla="*/ 2495788 w 3600000"/>
              <a:gd name="connsiteY1005" fmla="*/ 1423190 h 2787466"/>
              <a:gd name="connsiteX1006" fmla="*/ 2390409 w 3600000"/>
              <a:gd name="connsiteY1006" fmla="*/ 1420405 h 2787466"/>
              <a:gd name="connsiteX1007" fmla="*/ 2351256 w 3600000"/>
              <a:gd name="connsiteY1007" fmla="*/ 1428266 h 2787466"/>
              <a:gd name="connsiteX1008" fmla="*/ 2334359 w 3600000"/>
              <a:gd name="connsiteY1008" fmla="*/ 1429366 h 2787466"/>
              <a:gd name="connsiteX1009" fmla="*/ 2322612 w 3600000"/>
              <a:gd name="connsiteY1009" fmla="*/ 1421348 h 2787466"/>
              <a:gd name="connsiteX1010" fmla="*/ 2305715 w 3600000"/>
              <a:gd name="connsiteY1010" fmla="*/ 1438329 h 2787466"/>
              <a:gd name="connsiteX1011" fmla="*/ 2295412 w 3600000"/>
              <a:gd name="connsiteY1011" fmla="*/ 1431254 h 2787466"/>
              <a:gd name="connsiteX1012" fmla="*/ 2303243 w 3600000"/>
              <a:gd name="connsiteY1012" fmla="*/ 1424335 h 2787466"/>
              <a:gd name="connsiteX1013" fmla="*/ 2280060 w 3600000"/>
              <a:gd name="connsiteY1013" fmla="*/ 1427386 h 2787466"/>
              <a:gd name="connsiteX1014" fmla="*/ 2276502 w 3600000"/>
              <a:gd name="connsiteY1014" fmla="*/ 1430644 h 2787466"/>
              <a:gd name="connsiteX1015" fmla="*/ 2277050 w 3600000"/>
              <a:gd name="connsiteY1015" fmla="*/ 1431256 h 2787466"/>
              <a:gd name="connsiteX1016" fmla="*/ 2284259 w 3600000"/>
              <a:gd name="connsiteY1016" fmla="*/ 1431273 h 2787466"/>
              <a:gd name="connsiteX1017" fmla="*/ 2288818 w 3600000"/>
              <a:gd name="connsiteY1017" fmla="*/ 1434240 h 2787466"/>
              <a:gd name="connsiteX1018" fmla="*/ 2281894 w 3600000"/>
              <a:gd name="connsiteY1018" fmla="*/ 1435516 h 2787466"/>
              <a:gd name="connsiteX1019" fmla="*/ 2290286 w 3600000"/>
              <a:gd name="connsiteY1019" fmla="*/ 1442092 h 2787466"/>
              <a:gd name="connsiteX1020" fmla="*/ 2291350 w 3600000"/>
              <a:gd name="connsiteY1020" fmla="*/ 1440013 h 2787466"/>
              <a:gd name="connsiteX1021" fmla="*/ 2303030 w 3600000"/>
              <a:gd name="connsiteY1021" fmla="*/ 1444766 h 2787466"/>
              <a:gd name="connsiteX1022" fmla="*/ 2303843 w 3600000"/>
              <a:gd name="connsiteY1022" fmla="*/ 1447979 h 2787466"/>
              <a:gd name="connsiteX1023" fmla="*/ 2304273 w 3600000"/>
              <a:gd name="connsiteY1023" fmla="*/ 1448038 h 2787466"/>
              <a:gd name="connsiteX1024" fmla="*/ 2306126 w 3600000"/>
              <a:gd name="connsiteY1024" fmla="*/ 1448893 h 2787466"/>
              <a:gd name="connsiteX1025" fmla="*/ 2312938 w 3600000"/>
              <a:gd name="connsiteY1025" fmla="*/ 1445004 h 2787466"/>
              <a:gd name="connsiteX1026" fmla="*/ 2314553 w 3600000"/>
              <a:gd name="connsiteY1026" fmla="*/ 1445171 h 2787466"/>
              <a:gd name="connsiteX1027" fmla="*/ 2311387 w 3600000"/>
              <a:gd name="connsiteY1027" fmla="*/ 1443532 h 2787466"/>
              <a:gd name="connsiteX1028" fmla="*/ 2311046 w 3600000"/>
              <a:gd name="connsiteY1028" fmla="*/ 1442494 h 2787466"/>
              <a:gd name="connsiteX1029" fmla="*/ 2310615 w 3600000"/>
              <a:gd name="connsiteY1029" fmla="*/ 1441181 h 2787466"/>
              <a:gd name="connsiteX1030" fmla="*/ 2316152 w 3600000"/>
              <a:gd name="connsiteY1030" fmla="*/ 1437141 h 2787466"/>
              <a:gd name="connsiteX1031" fmla="*/ 2318814 w 3600000"/>
              <a:gd name="connsiteY1031" fmla="*/ 1439278 h 2787466"/>
              <a:gd name="connsiteX1032" fmla="*/ 2320408 w 3600000"/>
              <a:gd name="connsiteY1032" fmla="*/ 1440975 h 2787466"/>
              <a:gd name="connsiteX1033" fmla="*/ 2326772 w 3600000"/>
              <a:gd name="connsiteY1033" fmla="*/ 1436809 h 2787466"/>
              <a:gd name="connsiteX1034" fmla="*/ 2322470 w 3600000"/>
              <a:gd name="connsiteY1034" fmla="*/ 1432152 h 2787466"/>
              <a:gd name="connsiteX1035" fmla="*/ 2337462 w 3600000"/>
              <a:gd name="connsiteY1035" fmla="*/ 1433114 h 2787466"/>
              <a:gd name="connsiteX1036" fmla="*/ 2340244 w 3600000"/>
              <a:gd name="connsiteY1036" fmla="*/ 1435819 h 2787466"/>
              <a:gd name="connsiteX1037" fmla="*/ 2345644 w 3600000"/>
              <a:gd name="connsiteY1037" fmla="*/ 1433685 h 2787466"/>
              <a:gd name="connsiteX1038" fmla="*/ 2354152 w 3600000"/>
              <a:gd name="connsiteY1038" fmla="*/ 1430209 h 2787466"/>
              <a:gd name="connsiteX1039" fmla="*/ 2360792 w 3600000"/>
              <a:gd name="connsiteY1039" fmla="*/ 1438134 h 2787466"/>
              <a:gd name="connsiteX1040" fmla="*/ 2343051 w 3600000"/>
              <a:gd name="connsiteY1040" fmla="*/ 1437238 h 2787466"/>
              <a:gd name="connsiteX1041" fmla="*/ 2341658 w 3600000"/>
              <a:gd name="connsiteY1041" fmla="*/ 1437192 h 2787466"/>
              <a:gd name="connsiteX1042" fmla="*/ 2343045 w 3600000"/>
              <a:gd name="connsiteY1042" fmla="*/ 1438541 h 2787466"/>
              <a:gd name="connsiteX1043" fmla="*/ 2344727 w 3600000"/>
              <a:gd name="connsiteY1043" fmla="*/ 1445987 h 2787466"/>
              <a:gd name="connsiteX1044" fmla="*/ 2334731 w 3600000"/>
              <a:gd name="connsiteY1044" fmla="*/ 1451588 h 2787466"/>
              <a:gd name="connsiteX1045" fmla="*/ 2333467 w 3600000"/>
              <a:gd name="connsiteY1045" fmla="*/ 1453615 h 2787466"/>
              <a:gd name="connsiteX1046" fmla="*/ 2345123 w 3600000"/>
              <a:gd name="connsiteY1046" fmla="*/ 1456554 h 2787466"/>
              <a:gd name="connsiteX1047" fmla="*/ 2364616 w 3600000"/>
              <a:gd name="connsiteY1047" fmla="*/ 1465367 h 2787466"/>
              <a:gd name="connsiteX1048" fmla="*/ 2369456 w 3600000"/>
              <a:gd name="connsiteY1048" fmla="*/ 1464854 h 2787466"/>
              <a:gd name="connsiteX1049" fmla="*/ 2370309 w 3600000"/>
              <a:gd name="connsiteY1049" fmla="*/ 1467941 h 2787466"/>
              <a:gd name="connsiteX1050" fmla="*/ 2377280 w 3600000"/>
              <a:gd name="connsiteY1050" fmla="*/ 1471093 h 2787466"/>
              <a:gd name="connsiteX1051" fmla="*/ 2378525 w 3600000"/>
              <a:gd name="connsiteY1051" fmla="*/ 1470828 h 2787466"/>
              <a:gd name="connsiteX1052" fmla="*/ 2379761 w 3600000"/>
              <a:gd name="connsiteY1052" fmla="*/ 1457936 h 2787466"/>
              <a:gd name="connsiteX1053" fmla="*/ 2389035 w 3600000"/>
              <a:gd name="connsiteY1053" fmla="*/ 1463910 h 2787466"/>
              <a:gd name="connsiteX1054" fmla="*/ 2383677 w 3600000"/>
              <a:gd name="connsiteY1054" fmla="*/ 1468941 h 2787466"/>
              <a:gd name="connsiteX1055" fmla="*/ 2387593 w 3600000"/>
              <a:gd name="connsiteY1055" fmla="*/ 1473815 h 2787466"/>
              <a:gd name="connsiteX1056" fmla="*/ 2394187 w 3600000"/>
              <a:gd name="connsiteY1056" fmla="*/ 1463910 h 2787466"/>
              <a:gd name="connsiteX1057" fmla="*/ 2394187 w 3600000"/>
              <a:gd name="connsiteY1057" fmla="*/ 1454949 h 2787466"/>
              <a:gd name="connsiteX1058" fmla="*/ 2382440 w 3600000"/>
              <a:gd name="connsiteY1058" fmla="*/ 1454949 h 2787466"/>
              <a:gd name="connsiteX1059" fmla="*/ 2380637 w 3600000"/>
              <a:gd name="connsiteY1059" fmla="*/ 1445221 h 2787466"/>
              <a:gd name="connsiteX1060" fmla="*/ 2380628 w 3600000"/>
              <a:gd name="connsiteY1060" fmla="*/ 1445139 h 2787466"/>
              <a:gd name="connsiteX1061" fmla="*/ 2378500 w 3600000"/>
              <a:gd name="connsiteY1061" fmla="*/ 1445998 h 2787466"/>
              <a:gd name="connsiteX1062" fmla="*/ 2373485 w 3600000"/>
              <a:gd name="connsiteY1062" fmla="*/ 1443039 h 2787466"/>
              <a:gd name="connsiteX1063" fmla="*/ 2379779 w 3600000"/>
              <a:gd name="connsiteY1063" fmla="*/ 1437313 h 2787466"/>
              <a:gd name="connsiteX1064" fmla="*/ 2379790 w 3600000"/>
              <a:gd name="connsiteY1064" fmla="*/ 1437292 h 2787466"/>
              <a:gd name="connsiteX1065" fmla="*/ 2379761 w 3600000"/>
              <a:gd name="connsiteY1065" fmla="*/ 1437025 h 2787466"/>
              <a:gd name="connsiteX1066" fmla="*/ 2379905 w 3600000"/>
              <a:gd name="connsiteY1066" fmla="*/ 1437063 h 2787466"/>
              <a:gd name="connsiteX1067" fmla="*/ 2382312 w 3600000"/>
              <a:gd name="connsiteY1067" fmla="*/ 1432289 h 2787466"/>
              <a:gd name="connsiteX1068" fmla="*/ 2388732 w 3600000"/>
              <a:gd name="connsiteY1068" fmla="*/ 1437118 h 2787466"/>
              <a:gd name="connsiteX1069" fmla="*/ 2384389 w 3600000"/>
              <a:gd name="connsiteY1069" fmla="*/ 1439609 h 2787466"/>
              <a:gd name="connsiteX1070" fmla="*/ 2385145 w 3600000"/>
              <a:gd name="connsiteY1070" fmla="*/ 1441408 h 2787466"/>
              <a:gd name="connsiteX1071" fmla="*/ 2387593 w 3600000"/>
              <a:gd name="connsiteY1071" fmla="*/ 1448031 h 2787466"/>
              <a:gd name="connsiteX1072" fmla="*/ 2405934 w 3600000"/>
              <a:gd name="connsiteY1072" fmla="*/ 1441113 h 2787466"/>
              <a:gd name="connsiteX1073" fmla="*/ 2390271 w 3600000"/>
              <a:gd name="connsiteY1073" fmla="*/ 1432152 h 2787466"/>
              <a:gd name="connsiteX1074" fmla="*/ 2396789 w 3600000"/>
              <a:gd name="connsiteY1074" fmla="*/ 1431031 h 2787466"/>
              <a:gd name="connsiteX1075" fmla="*/ 2396611 w 3600000"/>
              <a:gd name="connsiteY1075" fmla="*/ 1428331 h 2787466"/>
              <a:gd name="connsiteX1076" fmla="*/ 2393088 w 3600000"/>
              <a:gd name="connsiteY1076" fmla="*/ 1431254 h 2787466"/>
              <a:gd name="connsiteX1077" fmla="*/ 2390641 w 3600000"/>
              <a:gd name="connsiteY1077" fmla="*/ 1428718 h 2787466"/>
              <a:gd name="connsiteX1078" fmla="*/ 2391638 w 3600000"/>
              <a:gd name="connsiteY1078" fmla="*/ 1426884 h 2787466"/>
              <a:gd name="connsiteX1079" fmla="*/ 2388638 w 3600000"/>
              <a:gd name="connsiteY1079" fmla="*/ 1430303 h 2787466"/>
              <a:gd name="connsiteX1080" fmla="*/ 2380165 w 3600000"/>
              <a:gd name="connsiteY1080" fmla="*/ 1431910 h 2787466"/>
              <a:gd name="connsiteX1081" fmla="*/ 2380796 w 3600000"/>
              <a:gd name="connsiteY1081" fmla="*/ 1428511 h 2787466"/>
              <a:gd name="connsiteX1082" fmla="*/ 2379178 w 3600000"/>
              <a:gd name="connsiteY1082" fmla="*/ 1429622 h 2787466"/>
              <a:gd name="connsiteX1083" fmla="*/ 2367786 w 3600000"/>
              <a:gd name="connsiteY1083" fmla="*/ 1434214 h 2787466"/>
              <a:gd name="connsiteX1084" fmla="*/ 2362581 w 3600000"/>
              <a:gd name="connsiteY1084" fmla="*/ 1431287 h 2787466"/>
              <a:gd name="connsiteX1085" fmla="*/ 2373956 w 3600000"/>
              <a:gd name="connsiteY1085" fmla="*/ 1428668 h 2787466"/>
              <a:gd name="connsiteX1086" fmla="*/ 2380957 w 3600000"/>
              <a:gd name="connsiteY1086" fmla="*/ 1427642 h 2787466"/>
              <a:gd name="connsiteX1087" fmla="*/ 2381147 w 3600000"/>
              <a:gd name="connsiteY1087" fmla="*/ 1426616 h 2787466"/>
              <a:gd name="connsiteX1088" fmla="*/ 2384798 w 3600000"/>
              <a:gd name="connsiteY1088" fmla="*/ 1423760 h 2787466"/>
              <a:gd name="connsiteX1089" fmla="*/ 2392630 w 3600000"/>
              <a:gd name="connsiteY1089" fmla="*/ 1424927 h 2787466"/>
              <a:gd name="connsiteX1090" fmla="*/ 2393552 w 3600000"/>
              <a:gd name="connsiteY1090" fmla="*/ 1422940 h 2787466"/>
              <a:gd name="connsiteX1091" fmla="*/ 2390409 w 3600000"/>
              <a:gd name="connsiteY1091" fmla="*/ 1420405 h 2787466"/>
              <a:gd name="connsiteX1092" fmla="*/ 2467141 w 3600000"/>
              <a:gd name="connsiteY1092" fmla="*/ 1420202 h 2787466"/>
              <a:gd name="connsiteX1093" fmla="*/ 2466331 w 3600000"/>
              <a:gd name="connsiteY1093" fmla="*/ 1420384 h 2787466"/>
              <a:gd name="connsiteX1094" fmla="*/ 2463932 w 3600000"/>
              <a:gd name="connsiteY1094" fmla="*/ 1421440 h 2787466"/>
              <a:gd name="connsiteX1095" fmla="*/ 2461708 w 3600000"/>
              <a:gd name="connsiteY1095" fmla="*/ 1425214 h 2787466"/>
              <a:gd name="connsiteX1096" fmla="*/ 2464870 w 3600000"/>
              <a:gd name="connsiteY1096" fmla="*/ 1425589 h 2787466"/>
              <a:gd name="connsiteX1097" fmla="*/ 2614078 w 3600000"/>
              <a:gd name="connsiteY1097" fmla="*/ 1419116 h 2787466"/>
              <a:gd name="connsiteX1098" fmla="*/ 2603469 w 3600000"/>
              <a:gd name="connsiteY1098" fmla="*/ 1432132 h 2787466"/>
              <a:gd name="connsiteX1099" fmla="*/ 2597021 w 3600000"/>
              <a:gd name="connsiteY1099" fmla="*/ 1424134 h 2787466"/>
              <a:gd name="connsiteX1100" fmla="*/ 2614078 w 3600000"/>
              <a:gd name="connsiteY1100" fmla="*/ 1419116 h 2787466"/>
              <a:gd name="connsiteX1101" fmla="*/ 2484129 w 3600000"/>
              <a:gd name="connsiteY1101" fmla="*/ 1418940 h 2787466"/>
              <a:gd name="connsiteX1102" fmla="*/ 2484530 w 3600000"/>
              <a:gd name="connsiteY1102" fmla="*/ 1421657 h 2787466"/>
              <a:gd name="connsiteX1103" fmla="*/ 2486513 w 3600000"/>
              <a:gd name="connsiteY1103" fmla="*/ 1438126 h 2787466"/>
              <a:gd name="connsiteX1104" fmla="*/ 2490635 w 3600000"/>
              <a:gd name="connsiteY1104" fmla="*/ 1437025 h 2787466"/>
              <a:gd name="connsiteX1105" fmla="*/ 2492670 w 3600000"/>
              <a:gd name="connsiteY1105" fmla="*/ 1430816 h 2787466"/>
              <a:gd name="connsiteX1106" fmla="*/ 2495697 w 3600000"/>
              <a:gd name="connsiteY1106" fmla="*/ 1423411 h 2787466"/>
              <a:gd name="connsiteX1107" fmla="*/ 2509139 w 3600000"/>
              <a:gd name="connsiteY1107" fmla="*/ 1421494 h 2787466"/>
              <a:gd name="connsiteX1108" fmla="*/ 2504981 w 3600000"/>
              <a:gd name="connsiteY1108" fmla="*/ 1419304 h 2787466"/>
              <a:gd name="connsiteX1109" fmla="*/ 2491278 w 3600000"/>
              <a:gd name="connsiteY1109" fmla="*/ 1420601 h 2787466"/>
              <a:gd name="connsiteX1110" fmla="*/ 2403040 w 3600000"/>
              <a:gd name="connsiteY1110" fmla="*/ 1418479 h 2787466"/>
              <a:gd name="connsiteX1111" fmla="*/ 2398239 w 3600000"/>
              <a:gd name="connsiteY1111" fmla="*/ 1419304 h 2787466"/>
              <a:gd name="connsiteX1112" fmla="*/ 2395058 w 3600000"/>
              <a:gd name="connsiteY1112" fmla="*/ 1422608 h 2787466"/>
              <a:gd name="connsiteX1113" fmla="*/ 2395931 w 3600000"/>
              <a:gd name="connsiteY1113" fmla="*/ 1424839 h 2787466"/>
              <a:gd name="connsiteX1114" fmla="*/ 2395423 w 3600000"/>
              <a:gd name="connsiteY1114" fmla="*/ 1423190 h 2787466"/>
              <a:gd name="connsiteX1115" fmla="*/ 2398103 w 3600000"/>
              <a:gd name="connsiteY1115" fmla="*/ 1423190 h 2787466"/>
              <a:gd name="connsiteX1116" fmla="*/ 2400782 w 3600000"/>
              <a:gd name="connsiteY1116" fmla="*/ 1420202 h 2787466"/>
              <a:gd name="connsiteX1117" fmla="*/ 2399565 w 3600000"/>
              <a:gd name="connsiteY1117" fmla="*/ 1432164 h 2787466"/>
              <a:gd name="connsiteX1118" fmla="*/ 2400303 w 3600000"/>
              <a:gd name="connsiteY1118" fmla="*/ 1432381 h 2787466"/>
              <a:gd name="connsiteX1119" fmla="*/ 2402628 w 3600000"/>
              <a:gd name="connsiteY1119" fmla="*/ 1430903 h 2787466"/>
              <a:gd name="connsiteX1120" fmla="*/ 2403616 w 3600000"/>
              <a:gd name="connsiteY1120" fmla="*/ 1431266 h 2787466"/>
              <a:gd name="connsiteX1121" fmla="*/ 2406734 w 3600000"/>
              <a:gd name="connsiteY1121" fmla="*/ 1432413 h 2787466"/>
              <a:gd name="connsiteX1122" fmla="*/ 2410356 w 3600000"/>
              <a:gd name="connsiteY1122" fmla="*/ 1425049 h 2787466"/>
              <a:gd name="connsiteX1123" fmla="*/ 2406353 w 3600000"/>
              <a:gd name="connsiteY1123" fmla="*/ 1420719 h 2787466"/>
              <a:gd name="connsiteX1124" fmla="*/ 2403040 w 3600000"/>
              <a:gd name="connsiteY1124" fmla="*/ 1418479 h 2787466"/>
              <a:gd name="connsiteX1125" fmla="*/ 2935868 w 3600000"/>
              <a:gd name="connsiteY1125" fmla="*/ 1418055 h 2787466"/>
              <a:gd name="connsiteX1126" fmla="*/ 2941199 w 3600000"/>
              <a:gd name="connsiteY1126" fmla="*/ 1422201 h 2787466"/>
              <a:gd name="connsiteX1127" fmla="*/ 2927783 w 3600000"/>
              <a:gd name="connsiteY1127" fmla="*/ 1427290 h 2787466"/>
              <a:gd name="connsiteX1128" fmla="*/ 2935868 w 3600000"/>
              <a:gd name="connsiteY1128" fmla="*/ 1418055 h 2787466"/>
              <a:gd name="connsiteX1129" fmla="*/ 2287298 w 3600000"/>
              <a:gd name="connsiteY1129" fmla="*/ 1415531 h 2787466"/>
              <a:gd name="connsiteX1130" fmla="*/ 2278309 w 3600000"/>
              <a:gd name="connsiteY1130" fmla="*/ 1418361 h 2787466"/>
              <a:gd name="connsiteX1131" fmla="*/ 2291497 w 3600000"/>
              <a:gd name="connsiteY1131" fmla="*/ 1419304 h 2787466"/>
              <a:gd name="connsiteX1132" fmla="*/ 2287298 w 3600000"/>
              <a:gd name="connsiteY1132" fmla="*/ 1415531 h 2787466"/>
              <a:gd name="connsiteX1133" fmla="*/ 2270697 w 3600000"/>
              <a:gd name="connsiteY1133" fmla="*/ 1412235 h 2787466"/>
              <a:gd name="connsiteX1134" fmla="*/ 2267076 w 3600000"/>
              <a:gd name="connsiteY1134" fmla="*/ 1412298 h 2787466"/>
              <a:gd name="connsiteX1135" fmla="*/ 2267902 w 3600000"/>
              <a:gd name="connsiteY1135" fmla="*/ 1415457 h 2787466"/>
              <a:gd name="connsiteX1136" fmla="*/ 2448478 w 3600000"/>
              <a:gd name="connsiteY1136" fmla="*/ 1409333 h 2787466"/>
              <a:gd name="connsiteX1137" fmla="*/ 2447176 w 3600000"/>
              <a:gd name="connsiteY1137" fmla="*/ 1411856 h 2787466"/>
              <a:gd name="connsiteX1138" fmla="*/ 2438628 w 3600000"/>
              <a:gd name="connsiteY1138" fmla="*/ 1412387 h 2787466"/>
              <a:gd name="connsiteX1139" fmla="*/ 2438628 w 3600000"/>
              <a:gd name="connsiteY1139" fmla="*/ 1421348 h 2787466"/>
              <a:gd name="connsiteX1140" fmla="*/ 2447694 w 3600000"/>
              <a:gd name="connsiteY1140" fmla="*/ 1423393 h 2787466"/>
              <a:gd name="connsiteX1141" fmla="*/ 2442717 w 3600000"/>
              <a:gd name="connsiteY1141" fmla="*/ 1422819 h 2787466"/>
              <a:gd name="connsiteX1142" fmla="*/ 2447563 w 3600000"/>
              <a:gd name="connsiteY1142" fmla="*/ 1428064 h 2787466"/>
              <a:gd name="connsiteX1143" fmla="*/ 2458074 w 3600000"/>
              <a:gd name="connsiteY1143" fmla="*/ 1411241 h 2787466"/>
              <a:gd name="connsiteX1144" fmla="*/ 2456303 w 3600000"/>
              <a:gd name="connsiteY1144" fmla="*/ 1410870 h 2787466"/>
              <a:gd name="connsiteX1145" fmla="*/ 2454855 w 3600000"/>
              <a:gd name="connsiteY1145" fmla="*/ 1415511 h 2787466"/>
              <a:gd name="connsiteX1146" fmla="*/ 2448931 w 3600000"/>
              <a:gd name="connsiteY1146" fmla="*/ 1416317 h 2787466"/>
              <a:gd name="connsiteX1147" fmla="*/ 2452670 w 3600000"/>
              <a:gd name="connsiteY1147" fmla="*/ 1410789 h 2787466"/>
              <a:gd name="connsiteX1148" fmla="*/ 2451025 w 3600000"/>
              <a:gd name="connsiteY1148" fmla="*/ 1409763 h 2787466"/>
              <a:gd name="connsiteX1149" fmla="*/ 2449264 w 3600000"/>
              <a:gd name="connsiteY1149" fmla="*/ 1409394 h 2787466"/>
              <a:gd name="connsiteX1150" fmla="*/ 2285343 w 3600000"/>
              <a:gd name="connsiteY1150" fmla="*/ 1409250 h 2787466"/>
              <a:gd name="connsiteX1151" fmla="*/ 2276964 w 3600000"/>
              <a:gd name="connsiteY1151" fmla="*/ 1411590 h 2787466"/>
              <a:gd name="connsiteX1152" fmla="*/ 2274393 w 3600000"/>
              <a:gd name="connsiteY1152" fmla="*/ 1413487 h 2787466"/>
              <a:gd name="connsiteX1153" fmla="*/ 2291497 w 3600000"/>
              <a:gd name="connsiteY1153" fmla="*/ 1409399 h 2787466"/>
              <a:gd name="connsiteX1154" fmla="*/ 2481489 w 3600000"/>
              <a:gd name="connsiteY1154" fmla="*/ 1405468 h 2787466"/>
              <a:gd name="connsiteX1155" fmla="*/ 2478418 w 3600000"/>
              <a:gd name="connsiteY1155" fmla="*/ 1405957 h 2787466"/>
              <a:gd name="connsiteX1156" fmla="*/ 2477445 w 3600000"/>
              <a:gd name="connsiteY1156" fmla="*/ 1413285 h 2787466"/>
              <a:gd name="connsiteX1157" fmla="*/ 2479291 w 3600000"/>
              <a:gd name="connsiteY1157" fmla="*/ 1412931 h 2787466"/>
              <a:gd name="connsiteX1158" fmla="*/ 2479996 w 3600000"/>
              <a:gd name="connsiteY1158" fmla="*/ 1411089 h 2787466"/>
              <a:gd name="connsiteX1159" fmla="*/ 2481489 w 3600000"/>
              <a:gd name="connsiteY1159" fmla="*/ 1405468 h 2787466"/>
              <a:gd name="connsiteX1160" fmla="*/ 3111915 w 3600000"/>
              <a:gd name="connsiteY1160" fmla="*/ 1403428 h 2787466"/>
              <a:gd name="connsiteX1161" fmla="*/ 3092450 w 3600000"/>
              <a:gd name="connsiteY1161" fmla="*/ 1421475 h 2787466"/>
              <a:gd name="connsiteX1162" fmla="*/ 3111915 w 3600000"/>
              <a:gd name="connsiteY1162" fmla="*/ 1403428 h 2787466"/>
              <a:gd name="connsiteX1163" fmla="*/ 2509210 w 3600000"/>
              <a:gd name="connsiteY1163" fmla="*/ 1403318 h 2787466"/>
              <a:gd name="connsiteX1164" fmla="*/ 2503464 w 3600000"/>
              <a:gd name="connsiteY1164" fmla="*/ 1405169 h 2787466"/>
              <a:gd name="connsiteX1165" fmla="*/ 2502969 w 3600000"/>
              <a:gd name="connsiteY1165" fmla="*/ 1405184 h 2787466"/>
              <a:gd name="connsiteX1166" fmla="*/ 2502869 w 3600000"/>
              <a:gd name="connsiteY1166" fmla="*/ 1405331 h 2787466"/>
              <a:gd name="connsiteX1167" fmla="*/ 2502302 w 3600000"/>
              <a:gd name="connsiteY1167" fmla="*/ 1409399 h 2787466"/>
              <a:gd name="connsiteX1168" fmla="*/ 2499314 w 3600000"/>
              <a:gd name="connsiteY1168" fmla="*/ 1406942 h 2787466"/>
              <a:gd name="connsiteX1169" fmla="*/ 2498767 w 3600000"/>
              <a:gd name="connsiteY1169" fmla="*/ 1405312 h 2787466"/>
              <a:gd name="connsiteX1170" fmla="*/ 2490789 w 3600000"/>
              <a:gd name="connsiteY1170" fmla="*/ 1405554 h 2787466"/>
              <a:gd name="connsiteX1171" fmla="*/ 2489173 w 3600000"/>
              <a:gd name="connsiteY1171" fmla="*/ 1404481 h 2787466"/>
              <a:gd name="connsiteX1172" fmla="*/ 2487903 w 3600000"/>
              <a:gd name="connsiteY1172" fmla="*/ 1407571 h 2787466"/>
              <a:gd name="connsiteX1173" fmla="*/ 2487580 w 3600000"/>
              <a:gd name="connsiteY1173" fmla="*/ 1408276 h 2787466"/>
              <a:gd name="connsiteX1174" fmla="*/ 2489193 w 3600000"/>
              <a:gd name="connsiteY1174" fmla="*/ 1408254 h 2787466"/>
              <a:gd name="connsiteX1175" fmla="*/ 2483621 w 3600000"/>
              <a:gd name="connsiteY1175" fmla="*/ 1414759 h 2787466"/>
              <a:gd name="connsiteX1176" fmla="*/ 2489124 w 3600000"/>
              <a:gd name="connsiteY1176" fmla="*/ 1415607 h 2787466"/>
              <a:gd name="connsiteX1177" fmla="*/ 2496352 w 3600000"/>
              <a:gd name="connsiteY1177" fmla="*/ 1414292 h 2787466"/>
              <a:gd name="connsiteX1178" fmla="*/ 2499440 w 3600000"/>
              <a:gd name="connsiteY1178" fmla="*/ 1413443 h 2787466"/>
              <a:gd name="connsiteX1179" fmla="*/ 2493431 w 3600000"/>
              <a:gd name="connsiteY1179" fmla="*/ 1412348 h 2787466"/>
              <a:gd name="connsiteX1180" fmla="*/ 2501344 w 3600000"/>
              <a:gd name="connsiteY1180" fmla="*/ 1411413 h 2787466"/>
              <a:gd name="connsiteX1181" fmla="*/ 2504442 w 3600000"/>
              <a:gd name="connsiteY1181" fmla="*/ 1407868 h 2787466"/>
              <a:gd name="connsiteX1182" fmla="*/ 2510494 w 3600000"/>
              <a:gd name="connsiteY1182" fmla="*/ 1406431 h 2787466"/>
              <a:gd name="connsiteX1183" fmla="*/ 2510648 w 3600000"/>
              <a:gd name="connsiteY1183" fmla="*/ 1404702 h 2787466"/>
              <a:gd name="connsiteX1184" fmla="*/ 2579552 w 3600000"/>
              <a:gd name="connsiteY1184" fmla="*/ 1401092 h 2787466"/>
              <a:gd name="connsiteX1185" fmla="*/ 2539774 w 3600000"/>
              <a:gd name="connsiteY1185" fmla="*/ 1405993 h 2787466"/>
              <a:gd name="connsiteX1186" fmla="*/ 2579552 w 3600000"/>
              <a:gd name="connsiteY1186" fmla="*/ 1401092 h 2787466"/>
              <a:gd name="connsiteX1187" fmla="*/ 2481361 w 3600000"/>
              <a:gd name="connsiteY1187" fmla="*/ 1399292 h 2787466"/>
              <a:gd name="connsiteX1188" fmla="*/ 2481298 w 3600000"/>
              <a:gd name="connsiteY1188" fmla="*/ 1399429 h 2787466"/>
              <a:gd name="connsiteX1189" fmla="*/ 2481489 w 3600000"/>
              <a:gd name="connsiteY1189" fmla="*/ 1399494 h 2787466"/>
              <a:gd name="connsiteX1190" fmla="*/ 2481571 w 3600000"/>
              <a:gd name="connsiteY1190" fmla="*/ 1399432 h 2787466"/>
              <a:gd name="connsiteX1191" fmla="*/ 2949758 w 3600000"/>
              <a:gd name="connsiteY1191" fmla="*/ 1399012 h 2787466"/>
              <a:gd name="connsiteX1192" fmla="*/ 2953620 w 3600000"/>
              <a:gd name="connsiteY1192" fmla="*/ 1408057 h 2787466"/>
              <a:gd name="connsiteX1193" fmla="*/ 2939595 w 3600000"/>
              <a:gd name="connsiteY1193" fmla="*/ 1407105 h 2787466"/>
              <a:gd name="connsiteX1194" fmla="*/ 2949758 w 3600000"/>
              <a:gd name="connsiteY1194" fmla="*/ 1399012 h 2787466"/>
              <a:gd name="connsiteX1195" fmla="*/ 2690992 w 3600000"/>
              <a:gd name="connsiteY1195" fmla="*/ 1398112 h 2787466"/>
              <a:gd name="connsiteX1196" fmla="*/ 2666304 w 3600000"/>
              <a:gd name="connsiteY1196" fmla="*/ 1412026 h 2787466"/>
              <a:gd name="connsiteX1197" fmla="*/ 2662395 w 3600000"/>
              <a:gd name="connsiteY1197" fmla="*/ 1404120 h 2787466"/>
              <a:gd name="connsiteX1198" fmla="*/ 2681734 w 3600000"/>
              <a:gd name="connsiteY1198" fmla="*/ 1405068 h 2787466"/>
              <a:gd name="connsiteX1199" fmla="*/ 2690992 w 3600000"/>
              <a:gd name="connsiteY1199" fmla="*/ 1398112 h 2787466"/>
              <a:gd name="connsiteX1200" fmla="*/ 2468053 w 3600000"/>
              <a:gd name="connsiteY1200" fmla="*/ 1397199 h 2787466"/>
              <a:gd name="connsiteX1201" fmla="*/ 2466358 w 3600000"/>
              <a:gd name="connsiteY1201" fmla="*/ 1399785 h 2787466"/>
              <a:gd name="connsiteX1202" fmla="*/ 2468378 w 3600000"/>
              <a:gd name="connsiteY1202" fmla="*/ 1397406 h 2787466"/>
              <a:gd name="connsiteX1203" fmla="*/ 2646558 w 3600000"/>
              <a:gd name="connsiteY1203" fmla="*/ 1396749 h 2787466"/>
              <a:gd name="connsiteX1204" fmla="*/ 2650427 w 3600000"/>
              <a:gd name="connsiteY1204" fmla="*/ 1398809 h 2787466"/>
              <a:gd name="connsiteX1205" fmla="*/ 2642630 w 3600000"/>
              <a:gd name="connsiteY1205" fmla="*/ 1399683 h 2787466"/>
              <a:gd name="connsiteX1206" fmla="*/ 2639106 w 3600000"/>
              <a:gd name="connsiteY1206" fmla="*/ 1405157 h 2787466"/>
              <a:gd name="connsiteX1207" fmla="*/ 2642246 w 3600000"/>
              <a:gd name="connsiteY1207" fmla="*/ 1406121 h 2787466"/>
              <a:gd name="connsiteX1208" fmla="*/ 2642246 w 3600000"/>
              <a:gd name="connsiteY1208" fmla="*/ 1418847 h 2787466"/>
              <a:gd name="connsiteX1209" fmla="*/ 2631552 w 3600000"/>
              <a:gd name="connsiteY1209" fmla="*/ 1407207 h 2787466"/>
              <a:gd name="connsiteX1210" fmla="*/ 2634277 w 3600000"/>
              <a:gd name="connsiteY1210" fmla="*/ 1405189 h 2787466"/>
              <a:gd name="connsiteX1211" fmla="*/ 2636591 w 3600000"/>
              <a:gd name="connsiteY1211" fmla="*/ 1405020 h 2787466"/>
              <a:gd name="connsiteX1212" fmla="*/ 2634832 w 3600000"/>
              <a:gd name="connsiteY1212" fmla="*/ 1404368 h 2787466"/>
              <a:gd name="connsiteX1213" fmla="*/ 2626959 w 3600000"/>
              <a:gd name="connsiteY1213" fmla="*/ 1402781 h 2787466"/>
              <a:gd name="connsiteX1214" fmla="*/ 2646558 w 3600000"/>
              <a:gd name="connsiteY1214" fmla="*/ 1396749 h 2787466"/>
              <a:gd name="connsiteX1215" fmla="*/ 2526216 w 3600000"/>
              <a:gd name="connsiteY1215" fmla="*/ 1389660 h 2787466"/>
              <a:gd name="connsiteX1216" fmla="*/ 2522843 w 3600000"/>
              <a:gd name="connsiteY1216" fmla="*/ 1391451 h 2787466"/>
              <a:gd name="connsiteX1217" fmla="*/ 2522986 w 3600000"/>
              <a:gd name="connsiteY1217" fmla="*/ 1391633 h 2787466"/>
              <a:gd name="connsiteX1218" fmla="*/ 2524557 w 3600000"/>
              <a:gd name="connsiteY1218" fmla="*/ 1394620 h 2787466"/>
              <a:gd name="connsiteX1219" fmla="*/ 2530430 w 3600000"/>
              <a:gd name="connsiteY1219" fmla="*/ 1393107 h 2787466"/>
              <a:gd name="connsiteX1220" fmla="*/ 2534164 w 3600000"/>
              <a:gd name="connsiteY1220" fmla="*/ 1390270 h 2787466"/>
              <a:gd name="connsiteX1221" fmla="*/ 140457 w 3600000"/>
              <a:gd name="connsiteY1221" fmla="*/ 1389601 h 2787466"/>
              <a:gd name="connsiteX1222" fmla="*/ 131389 w 3600000"/>
              <a:gd name="connsiteY1222" fmla="*/ 1406421 h 2787466"/>
              <a:gd name="connsiteX1223" fmla="*/ 140457 w 3600000"/>
              <a:gd name="connsiteY1223" fmla="*/ 1389601 h 2787466"/>
              <a:gd name="connsiteX1224" fmla="*/ 2643157 w 3600000"/>
              <a:gd name="connsiteY1224" fmla="*/ 1388571 h 2787466"/>
              <a:gd name="connsiteX1225" fmla="*/ 2634070 w 3600000"/>
              <a:gd name="connsiteY1225" fmla="*/ 1397505 h 2787466"/>
              <a:gd name="connsiteX1226" fmla="*/ 2626222 w 3600000"/>
              <a:gd name="connsiteY1226" fmla="*/ 1391549 h 2787466"/>
              <a:gd name="connsiteX1227" fmla="*/ 2605365 w 3600000"/>
              <a:gd name="connsiteY1227" fmla="*/ 1402363 h 2787466"/>
              <a:gd name="connsiteX1228" fmla="*/ 2584299 w 3600000"/>
              <a:gd name="connsiteY1228" fmla="*/ 1400326 h 2787466"/>
              <a:gd name="connsiteX1229" fmla="*/ 2643157 w 3600000"/>
              <a:gd name="connsiteY1229" fmla="*/ 1388571 h 2787466"/>
              <a:gd name="connsiteX1230" fmla="*/ 2522114 w 3600000"/>
              <a:gd name="connsiteY1230" fmla="*/ 1388479 h 2787466"/>
              <a:gd name="connsiteX1231" fmla="*/ 2520642 w 3600000"/>
              <a:gd name="connsiteY1231" fmla="*/ 1388646 h 2787466"/>
              <a:gd name="connsiteX1232" fmla="*/ 2521074 w 3600000"/>
              <a:gd name="connsiteY1232" fmla="*/ 1389198 h 2787466"/>
              <a:gd name="connsiteX1233" fmla="*/ 2522011 w 3600000"/>
              <a:gd name="connsiteY1233" fmla="*/ 1388573 h 2787466"/>
              <a:gd name="connsiteX1234" fmla="*/ 2570098 w 3600000"/>
              <a:gd name="connsiteY1234" fmla="*/ 1381571 h 2787466"/>
              <a:gd name="connsiteX1235" fmla="*/ 2553819 w 3600000"/>
              <a:gd name="connsiteY1235" fmla="*/ 1384341 h 2787466"/>
              <a:gd name="connsiteX1236" fmla="*/ 2545151 w 3600000"/>
              <a:gd name="connsiteY1236" fmla="*/ 1386633 h 2787466"/>
              <a:gd name="connsiteX1237" fmla="*/ 2543981 w 3600000"/>
              <a:gd name="connsiteY1237" fmla="*/ 1388186 h 2787466"/>
              <a:gd name="connsiteX1238" fmla="*/ 2551861 w 3600000"/>
              <a:gd name="connsiteY1238" fmla="*/ 1387623 h 2787466"/>
              <a:gd name="connsiteX1239" fmla="*/ 2566183 w 3600000"/>
              <a:gd name="connsiteY1239" fmla="*/ 1386602 h 2787466"/>
              <a:gd name="connsiteX1240" fmla="*/ 2570098 w 3600000"/>
              <a:gd name="connsiteY1240" fmla="*/ 1381571 h 2787466"/>
              <a:gd name="connsiteX1241" fmla="*/ 2658693 w 3600000"/>
              <a:gd name="connsiteY1241" fmla="*/ 1378849 h 2787466"/>
              <a:gd name="connsiteX1242" fmla="*/ 2665881 w 3600000"/>
              <a:gd name="connsiteY1242" fmla="*/ 1379572 h 2787466"/>
              <a:gd name="connsiteX1243" fmla="*/ 2651837 w 3600000"/>
              <a:gd name="connsiteY1243" fmla="*/ 1390534 h 2787466"/>
              <a:gd name="connsiteX1244" fmla="*/ 2658693 w 3600000"/>
              <a:gd name="connsiteY1244" fmla="*/ 1378849 h 2787466"/>
              <a:gd name="connsiteX1245" fmla="*/ 2592713 w 3600000"/>
              <a:gd name="connsiteY1245" fmla="*/ 1376497 h 2787466"/>
              <a:gd name="connsiteX1246" fmla="*/ 2576486 w 3600000"/>
              <a:gd name="connsiteY1246" fmla="*/ 1376697 h 2787466"/>
              <a:gd name="connsiteX1247" fmla="*/ 2575249 w 3600000"/>
              <a:gd name="connsiteY1247" fmla="*/ 1382671 h 2787466"/>
              <a:gd name="connsiteX1248" fmla="*/ 2594825 w 3600000"/>
              <a:gd name="connsiteY1248" fmla="*/ 1378583 h 2787466"/>
              <a:gd name="connsiteX1249" fmla="*/ 2592713 w 3600000"/>
              <a:gd name="connsiteY1249" fmla="*/ 1376497 h 2787466"/>
              <a:gd name="connsiteX1250" fmla="*/ 3203815 w 3600000"/>
              <a:gd name="connsiteY1250" fmla="*/ 1371282 h 2787466"/>
              <a:gd name="connsiteX1251" fmla="*/ 3193430 w 3600000"/>
              <a:gd name="connsiteY1251" fmla="*/ 1384992 h 2787466"/>
              <a:gd name="connsiteX1252" fmla="*/ 3203815 w 3600000"/>
              <a:gd name="connsiteY1252" fmla="*/ 1371282 h 2787466"/>
              <a:gd name="connsiteX1253" fmla="*/ 2617769 w 3600000"/>
              <a:gd name="connsiteY1253" fmla="*/ 1371188 h 2787466"/>
              <a:gd name="connsiteX1254" fmla="*/ 2599977 w 3600000"/>
              <a:gd name="connsiteY1254" fmla="*/ 1373709 h 2787466"/>
              <a:gd name="connsiteX1255" fmla="*/ 2606571 w 3600000"/>
              <a:gd name="connsiteY1255" fmla="*/ 1377640 h 2787466"/>
              <a:gd name="connsiteX1256" fmla="*/ 2596062 w 3600000"/>
              <a:gd name="connsiteY1256" fmla="*/ 1386602 h 2787466"/>
              <a:gd name="connsiteX1257" fmla="*/ 2610976 w 3600000"/>
              <a:gd name="connsiteY1257" fmla="*/ 1382749 h 2787466"/>
              <a:gd name="connsiteX1258" fmla="*/ 2619638 w 3600000"/>
              <a:gd name="connsiteY1258" fmla="*/ 1374769 h 2787466"/>
              <a:gd name="connsiteX1259" fmla="*/ 2616759 w 3600000"/>
              <a:gd name="connsiteY1259" fmla="*/ 1373508 h 2787466"/>
              <a:gd name="connsiteX1260" fmla="*/ 2617770 w 3600000"/>
              <a:gd name="connsiteY1260" fmla="*/ 1371558 h 2787466"/>
              <a:gd name="connsiteX1261" fmla="*/ 2618217 w 3600000"/>
              <a:gd name="connsiteY1261" fmla="*/ 1371563 h 2787466"/>
              <a:gd name="connsiteX1262" fmla="*/ 2663816 w 3600000"/>
              <a:gd name="connsiteY1262" fmla="*/ 1370966 h 2787466"/>
              <a:gd name="connsiteX1263" fmla="*/ 2665506 w 3600000"/>
              <a:gd name="connsiteY1263" fmla="*/ 1371312 h 2787466"/>
              <a:gd name="connsiteX1264" fmla="*/ 2666536 w 3600000"/>
              <a:gd name="connsiteY1264" fmla="*/ 1372609 h 2787466"/>
              <a:gd name="connsiteX1265" fmla="*/ 2662970 w 3600000"/>
              <a:gd name="connsiteY1265" fmla="*/ 1370455 h 2787466"/>
              <a:gd name="connsiteX1266" fmla="*/ 2663816 w 3600000"/>
              <a:gd name="connsiteY1266" fmla="*/ 1370966 h 2787466"/>
              <a:gd name="connsiteX1267" fmla="*/ 2662621 w 3600000"/>
              <a:gd name="connsiteY1267" fmla="*/ 1370722 h 2787466"/>
              <a:gd name="connsiteX1268" fmla="*/ 54842 w 3600000"/>
              <a:gd name="connsiteY1268" fmla="*/ 1368333 h 2787466"/>
              <a:gd name="connsiteX1269" fmla="*/ 74307 w 3600000"/>
              <a:gd name="connsiteY1269" fmla="*/ 1368333 h 2787466"/>
              <a:gd name="connsiteX1270" fmla="*/ 57505 w 3600000"/>
              <a:gd name="connsiteY1270" fmla="*/ 1377378 h 2787466"/>
              <a:gd name="connsiteX1271" fmla="*/ 54842 w 3600000"/>
              <a:gd name="connsiteY1271" fmla="*/ 1368333 h 2787466"/>
              <a:gd name="connsiteX1272" fmla="*/ 2884866 w 3600000"/>
              <a:gd name="connsiteY1272" fmla="*/ 1364349 h 2787466"/>
              <a:gd name="connsiteX1273" fmla="*/ 2865082 w 3600000"/>
              <a:gd name="connsiteY1273" fmla="*/ 1375299 h 2787466"/>
              <a:gd name="connsiteX1274" fmla="*/ 2884866 w 3600000"/>
              <a:gd name="connsiteY1274" fmla="*/ 1364349 h 2787466"/>
              <a:gd name="connsiteX1275" fmla="*/ 2643045 w 3600000"/>
              <a:gd name="connsiteY1275" fmla="*/ 1361761 h 2787466"/>
              <a:gd name="connsiteX1276" fmla="*/ 2638794 w 3600000"/>
              <a:gd name="connsiteY1276" fmla="*/ 1366870 h 2787466"/>
              <a:gd name="connsiteX1277" fmla="*/ 2637540 w 3600000"/>
              <a:gd name="connsiteY1277" fmla="*/ 1367427 h 2787466"/>
              <a:gd name="connsiteX1278" fmla="*/ 2637423 w 3600000"/>
              <a:gd name="connsiteY1278" fmla="*/ 1369838 h 2787466"/>
              <a:gd name="connsiteX1279" fmla="*/ 2631211 w 3600000"/>
              <a:gd name="connsiteY1279" fmla="*/ 1374727 h 2787466"/>
              <a:gd name="connsiteX1280" fmla="*/ 2626749 w 3600000"/>
              <a:gd name="connsiteY1280" fmla="*/ 1375560 h 2787466"/>
              <a:gd name="connsiteX1281" fmla="*/ 2625841 w 3600000"/>
              <a:gd name="connsiteY1281" fmla="*/ 1377913 h 2787466"/>
              <a:gd name="connsiteX1282" fmla="*/ 2630063 w 3600000"/>
              <a:gd name="connsiteY1282" fmla="*/ 1380627 h 2787466"/>
              <a:gd name="connsiteX1283" fmla="*/ 2649433 w 3600000"/>
              <a:gd name="connsiteY1283" fmla="*/ 1366792 h 2787466"/>
              <a:gd name="connsiteX1284" fmla="*/ 2648915 w 3600000"/>
              <a:gd name="connsiteY1284" fmla="*/ 1364435 h 2787466"/>
              <a:gd name="connsiteX1285" fmla="*/ 2647098 w 3600000"/>
              <a:gd name="connsiteY1285" fmla="*/ 1364238 h 2787466"/>
              <a:gd name="connsiteX1286" fmla="*/ 2643766 w 3600000"/>
              <a:gd name="connsiteY1286" fmla="*/ 1361983 h 2787466"/>
              <a:gd name="connsiteX1287" fmla="*/ 3170215 w 3600000"/>
              <a:gd name="connsiteY1287" fmla="*/ 1356722 h 2787466"/>
              <a:gd name="connsiteX1288" fmla="*/ 3170215 w 3600000"/>
              <a:gd name="connsiteY1288" fmla="*/ 1363707 h 2787466"/>
              <a:gd name="connsiteX1289" fmla="*/ 3183067 w 3600000"/>
              <a:gd name="connsiteY1289" fmla="*/ 1362620 h 2787466"/>
              <a:gd name="connsiteX1290" fmla="*/ 3181843 w 3600000"/>
              <a:gd name="connsiteY1290" fmla="*/ 1373485 h 2787466"/>
              <a:gd name="connsiteX1291" fmla="*/ 3162464 w 3600000"/>
              <a:gd name="connsiteY1291" fmla="*/ 1372398 h 2787466"/>
              <a:gd name="connsiteX1292" fmla="*/ 3170215 w 3600000"/>
              <a:gd name="connsiteY1292" fmla="*/ 1356722 h 2787466"/>
              <a:gd name="connsiteX1293" fmla="*/ 3018196 w 3600000"/>
              <a:gd name="connsiteY1293" fmla="*/ 1356722 h 2787466"/>
              <a:gd name="connsiteX1294" fmla="*/ 3018196 w 3600000"/>
              <a:gd name="connsiteY1294" fmla="*/ 1367658 h 2787466"/>
              <a:gd name="connsiteX1295" fmla="*/ 3018196 w 3600000"/>
              <a:gd name="connsiteY1295" fmla="*/ 1356722 h 2787466"/>
              <a:gd name="connsiteX1296" fmla="*/ 2697217 w 3600000"/>
              <a:gd name="connsiteY1296" fmla="*/ 1352493 h 2787466"/>
              <a:gd name="connsiteX1297" fmla="*/ 2689605 w 3600000"/>
              <a:gd name="connsiteY1297" fmla="*/ 1352793 h 2787466"/>
              <a:gd name="connsiteX1298" fmla="*/ 2684820 w 3600000"/>
              <a:gd name="connsiteY1298" fmla="*/ 1355266 h 2787466"/>
              <a:gd name="connsiteX1299" fmla="*/ 2684697 w 3600000"/>
              <a:gd name="connsiteY1299" fmla="*/ 1356104 h 2787466"/>
              <a:gd name="connsiteX1300" fmla="*/ 2690787 w 3600000"/>
              <a:gd name="connsiteY1300" fmla="*/ 1354698 h 2787466"/>
              <a:gd name="connsiteX1301" fmla="*/ 3031777 w 3600000"/>
              <a:gd name="connsiteY1301" fmla="*/ 1348403 h 2787466"/>
              <a:gd name="connsiteX1302" fmla="*/ 3034402 w 3600000"/>
              <a:gd name="connsiteY1302" fmla="*/ 1354578 h 2787466"/>
              <a:gd name="connsiteX1303" fmla="*/ 3038238 w 3600000"/>
              <a:gd name="connsiteY1303" fmla="*/ 1351490 h 2787466"/>
              <a:gd name="connsiteX1304" fmla="*/ 3029353 w 3600000"/>
              <a:gd name="connsiteY1304" fmla="*/ 1357665 h 2787466"/>
              <a:gd name="connsiteX1305" fmla="*/ 3024103 w 3600000"/>
              <a:gd name="connsiteY1305" fmla="*/ 1352466 h 2787466"/>
              <a:gd name="connsiteX1306" fmla="*/ 3031777 w 3600000"/>
              <a:gd name="connsiteY1306" fmla="*/ 1348403 h 2787466"/>
              <a:gd name="connsiteX1307" fmla="*/ 14158 w 3600000"/>
              <a:gd name="connsiteY1307" fmla="*/ 1340084 h 2787466"/>
              <a:gd name="connsiteX1308" fmla="*/ 25854 w 3600000"/>
              <a:gd name="connsiteY1308" fmla="*/ 1364717 h 2787466"/>
              <a:gd name="connsiteX1309" fmla="*/ 32420 w 3600000"/>
              <a:gd name="connsiteY1309" fmla="*/ 1363781 h 2787466"/>
              <a:gd name="connsiteX1310" fmla="*/ 30983 w 3600000"/>
              <a:gd name="connsiteY1310" fmla="*/ 1350997 h 2787466"/>
              <a:gd name="connsiteX1311" fmla="*/ 54375 w 3600000"/>
              <a:gd name="connsiteY1311" fmla="*/ 1348035 h 2787466"/>
              <a:gd name="connsiteX1312" fmla="*/ 33650 w 3600000"/>
              <a:gd name="connsiteY1312" fmla="*/ 1368614 h 2787466"/>
              <a:gd name="connsiteX1313" fmla="*/ 11695 w 3600000"/>
              <a:gd name="connsiteY1313" fmla="*/ 1372512 h 2787466"/>
              <a:gd name="connsiteX1314" fmla="*/ 0 w 3600000"/>
              <a:gd name="connsiteY1314" fmla="*/ 1358793 h 2787466"/>
              <a:gd name="connsiteX1315" fmla="*/ 12926 w 3600000"/>
              <a:gd name="connsiteY1315" fmla="*/ 1350997 h 2787466"/>
              <a:gd name="connsiteX1316" fmla="*/ 14158 w 3600000"/>
              <a:gd name="connsiteY1316" fmla="*/ 1340084 h 2787466"/>
              <a:gd name="connsiteX1317" fmla="*/ 34499 w 3600000"/>
              <a:gd name="connsiteY1317" fmla="*/ 1334569 h 2787466"/>
              <a:gd name="connsiteX1318" fmla="*/ 43688 w 3600000"/>
              <a:gd name="connsiteY1318" fmla="*/ 1345474 h 2787466"/>
              <a:gd name="connsiteX1319" fmla="*/ 33274 w 3600000"/>
              <a:gd name="connsiteY1319" fmla="*/ 1343449 h 2787466"/>
              <a:gd name="connsiteX1320" fmla="*/ 34499 w 3600000"/>
              <a:gd name="connsiteY1320" fmla="*/ 1334569 h 2787466"/>
              <a:gd name="connsiteX1321" fmla="*/ 2291600 w 3600000"/>
              <a:gd name="connsiteY1321" fmla="*/ 1331259 h 2787466"/>
              <a:gd name="connsiteX1322" fmla="*/ 2280833 w 3600000"/>
              <a:gd name="connsiteY1322" fmla="*/ 1332806 h 2787466"/>
              <a:gd name="connsiteX1323" fmla="*/ 2278276 w 3600000"/>
              <a:gd name="connsiteY1323" fmla="*/ 1332904 h 2787466"/>
              <a:gd name="connsiteX1324" fmla="*/ 2278473 w 3600000"/>
              <a:gd name="connsiteY1324" fmla="*/ 1333694 h 2787466"/>
              <a:gd name="connsiteX1325" fmla="*/ 2283519 w 3600000"/>
              <a:gd name="connsiteY1325" fmla="*/ 1333731 h 2787466"/>
              <a:gd name="connsiteX1326" fmla="*/ 2282753 w 3600000"/>
              <a:gd name="connsiteY1326" fmla="*/ 1335796 h 2787466"/>
              <a:gd name="connsiteX1327" fmla="*/ 2285727 w 3600000"/>
              <a:gd name="connsiteY1327" fmla="*/ 1335740 h 2787466"/>
              <a:gd name="connsiteX1328" fmla="*/ 2304479 w 3600000"/>
              <a:gd name="connsiteY1328" fmla="*/ 1336919 h 2787466"/>
              <a:gd name="connsiteX1329" fmla="*/ 2291600 w 3600000"/>
              <a:gd name="connsiteY1329" fmla="*/ 1331259 h 2787466"/>
              <a:gd name="connsiteX1330" fmla="*/ 2390889 w 3600000"/>
              <a:gd name="connsiteY1330" fmla="*/ 1329992 h 2787466"/>
              <a:gd name="connsiteX1331" fmla="*/ 2387730 w 3600000"/>
              <a:gd name="connsiteY1331" fmla="*/ 1331101 h 2787466"/>
              <a:gd name="connsiteX1332" fmla="*/ 2390696 w 3600000"/>
              <a:gd name="connsiteY1332" fmla="*/ 1330936 h 2787466"/>
              <a:gd name="connsiteX1333" fmla="*/ 2343670 w 3600000"/>
              <a:gd name="connsiteY1333" fmla="*/ 1328790 h 2787466"/>
              <a:gd name="connsiteX1334" fmla="*/ 2336574 w 3600000"/>
              <a:gd name="connsiteY1334" fmla="*/ 1330012 h 2787466"/>
              <a:gd name="connsiteX1335" fmla="*/ 2335489 w 3600000"/>
              <a:gd name="connsiteY1335" fmla="*/ 1330750 h 2787466"/>
              <a:gd name="connsiteX1336" fmla="*/ 2333426 w 3600000"/>
              <a:gd name="connsiteY1336" fmla="*/ 1331245 h 2787466"/>
              <a:gd name="connsiteX1337" fmla="*/ 2327674 w 3600000"/>
              <a:gd name="connsiteY1337" fmla="*/ 1333521 h 2787466"/>
              <a:gd name="connsiteX1338" fmla="*/ 2320140 w 3600000"/>
              <a:gd name="connsiteY1338" fmla="*/ 1335975 h 2787466"/>
              <a:gd name="connsiteX1339" fmla="*/ 2346105 w 3600000"/>
              <a:gd name="connsiteY1339" fmla="*/ 1333145 h 2787466"/>
              <a:gd name="connsiteX1340" fmla="*/ 2344882 w 3600000"/>
              <a:gd name="connsiteY1340" fmla="*/ 1330957 h 2787466"/>
              <a:gd name="connsiteX1341" fmla="*/ 2344727 w 3600000"/>
              <a:gd name="connsiteY1341" fmla="*/ 1330902 h 2787466"/>
              <a:gd name="connsiteX1342" fmla="*/ 2344803 w 3600000"/>
              <a:gd name="connsiteY1342" fmla="*/ 1330817 h 2787466"/>
              <a:gd name="connsiteX1343" fmla="*/ 3237627 w 3600000"/>
              <a:gd name="connsiteY1343" fmla="*/ 1327697 h 2787466"/>
              <a:gd name="connsiteX1344" fmla="*/ 3242893 w 3600000"/>
              <a:gd name="connsiteY1344" fmla="*/ 1330123 h 2787466"/>
              <a:gd name="connsiteX1345" fmla="*/ 3228902 w 3600000"/>
              <a:gd name="connsiteY1345" fmla="*/ 1339926 h 2787466"/>
              <a:gd name="connsiteX1346" fmla="*/ 3237627 w 3600000"/>
              <a:gd name="connsiteY1346" fmla="*/ 1327697 h 2787466"/>
              <a:gd name="connsiteX1347" fmla="*/ 2401748 w 3600000"/>
              <a:gd name="connsiteY1347" fmla="*/ 1326180 h 2787466"/>
              <a:gd name="connsiteX1348" fmla="*/ 2400574 w 3600000"/>
              <a:gd name="connsiteY1348" fmla="*/ 1326592 h 2787466"/>
              <a:gd name="connsiteX1349" fmla="*/ 2402018 w 3600000"/>
              <a:gd name="connsiteY1349" fmla="*/ 1326971 h 2787466"/>
              <a:gd name="connsiteX1350" fmla="*/ 2223109 w 3600000"/>
              <a:gd name="connsiteY1350" fmla="*/ 1323555 h 2787466"/>
              <a:gd name="connsiteX1351" fmla="*/ 2213398 w 3600000"/>
              <a:gd name="connsiteY1351" fmla="*/ 1324184 h 2787466"/>
              <a:gd name="connsiteX1352" fmla="*/ 2213163 w 3600000"/>
              <a:gd name="connsiteY1352" fmla="*/ 1324710 h 2787466"/>
              <a:gd name="connsiteX1353" fmla="*/ 2213244 w 3600000"/>
              <a:gd name="connsiteY1353" fmla="*/ 1324927 h 2787466"/>
              <a:gd name="connsiteX1354" fmla="*/ 2213106 w 3600000"/>
              <a:gd name="connsiteY1354" fmla="*/ 1324834 h 2787466"/>
              <a:gd name="connsiteX1355" fmla="*/ 2211414 w 3600000"/>
              <a:gd name="connsiteY1355" fmla="*/ 1328606 h 2787466"/>
              <a:gd name="connsiteX1356" fmla="*/ 2210066 w 3600000"/>
              <a:gd name="connsiteY1356" fmla="*/ 1330308 h 2787466"/>
              <a:gd name="connsiteX1357" fmla="*/ 2209222 w 3600000"/>
              <a:gd name="connsiteY1357" fmla="*/ 1330840 h 2787466"/>
              <a:gd name="connsiteX1358" fmla="*/ 2208752 w 3600000"/>
              <a:gd name="connsiteY1358" fmla="*/ 1333085 h 2787466"/>
              <a:gd name="connsiteX1359" fmla="*/ 2207219 w 3600000"/>
              <a:gd name="connsiteY1359" fmla="*/ 1333250 h 2787466"/>
              <a:gd name="connsiteX1360" fmla="*/ 2211318 w 3600000"/>
              <a:gd name="connsiteY1360" fmla="*/ 1333509 h 2787466"/>
              <a:gd name="connsiteX1361" fmla="*/ 2224938 w 3600000"/>
              <a:gd name="connsiteY1361" fmla="*/ 1328115 h 2787466"/>
              <a:gd name="connsiteX1362" fmla="*/ 2226101 w 3600000"/>
              <a:gd name="connsiteY1362" fmla="*/ 1324637 h 2787466"/>
              <a:gd name="connsiteX1363" fmla="*/ 2226053 w 3600000"/>
              <a:gd name="connsiteY1363" fmla="*/ 1324559 h 2787466"/>
              <a:gd name="connsiteX1364" fmla="*/ 2186885 w 3600000"/>
              <a:gd name="connsiteY1364" fmla="*/ 1323087 h 2787466"/>
              <a:gd name="connsiteX1365" fmla="*/ 2186487 w 3600000"/>
              <a:gd name="connsiteY1365" fmla="*/ 1325080 h 2787466"/>
              <a:gd name="connsiteX1366" fmla="*/ 2188464 w 3600000"/>
              <a:gd name="connsiteY1366" fmla="*/ 1323240 h 2787466"/>
              <a:gd name="connsiteX1367" fmla="*/ 2360529 w 3600000"/>
              <a:gd name="connsiteY1367" fmla="*/ 1322140 h 2787466"/>
              <a:gd name="connsiteX1368" fmla="*/ 2360294 w 3600000"/>
              <a:gd name="connsiteY1368" fmla="*/ 1322498 h 2787466"/>
              <a:gd name="connsiteX1369" fmla="*/ 2360968 w 3600000"/>
              <a:gd name="connsiteY1369" fmla="*/ 1322369 h 2787466"/>
              <a:gd name="connsiteX1370" fmla="*/ 3265555 w 3600000"/>
              <a:gd name="connsiteY1370" fmla="*/ 1321366 h 2787466"/>
              <a:gd name="connsiteX1371" fmla="*/ 3252441 w 3600000"/>
              <a:gd name="connsiteY1371" fmla="*/ 1336457 h 2787466"/>
              <a:gd name="connsiteX1372" fmla="*/ 3265555 w 3600000"/>
              <a:gd name="connsiteY1372" fmla="*/ 1321366 h 2787466"/>
              <a:gd name="connsiteX1373" fmla="*/ 2279184 w 3600000"/>
              <a:gd name="connsiteY1373" fmla="*/ 1316873 h 2787466"/>
              <a:gd name="connsiteX1374" fmla="*/ 2273157 w 3600000"/>
              <a:gd name="connsiteY1374" fmla="*/ 1320253 h 2787466"/>
              <a:gd name="connsiteX1375" fmla="*/ 2278752 w 3600000"/>
              <a:gd name="connsiteY1375" fmla="*/ 1320984 h 2787466"/>
              <a:gd name="connsiteX1376" fmla="*/ 2279603 w 3600000"/>
              <a:gd name="connsiteY1376" fmla="*/ 1320053 h 2787466"/>
              <a:gd name="connsiteX1377" fmla="*/ 2279406 w 3600000"/>
              <a:gd name="connsiteY1377" fmla="*/ 1321069 h 2787466"/>
              <a:gd name="connsiteX1378" fmla="*/ 2281580 w 3600000"/>
              <a:gd name="connsiteY1378" fmla="*/ 1321353 h 2787466"/>
              <a:gd name="connsiteX1379" fmla="*/ 2286139 w 3600000"/>
              <a:gd name="connsiteY1379" fmla="*/ 1317266 h 2787466"/>
              <a:gd name="connsiteX1380" fmla="*/ 2279184 w 3600000"/>
              <a:gd name="connsiteY1380" fmla="*/ 1316873 h 2787466"/>
              <a:gd name="connsiteX1381" fmla="*/ 2375281 w 3600000"/>
              <a:gd name="connsiteY1381" fmla="*/ 1315297 h 2787466"/>
              <a:gd name="connsiteX1382" fmla="*/ 2373192 w 3600000"/>
              <a:gd name="connsiteY1382" fmla="*/ 1316790 h 2787466"/>
              <a:gd name="connsiteX1383" fmla="*/ 2374747 w 3600000"/>
              <a:gd name="connsiteY1383" fmla="*/ 1317266 h 2787466"/>
              <a:gd name="connsiteX1384" fmla="*/ 2209944 w 3600000"/>
              <a:gd name="connsiteY1384" fmla="*/ 1314941 h 2787466"/>
              <a:gd name="connsiteX1385" fmla="*/ 2209280 w 3600000"/>
              <a:gd name="connsiteY1385" fmla="*/ 1314971 h 2787466"/>
              <a:gd name="connsiteX1386" fmla="*/ 2209019 w 3600000"/>
              <a:gd name="connsiteY1386" fmla="*/ 1315104 h 2787466"/>
              <a:gd name="connsiteX1387" fmla="*/ 2209586 w 3600000"/>
              <a:gd name="connsiteY1387" fmla="*/ 1315238 h 2787466"/>
              <a:gd name="connsiteX1388" fmla="*/ 2211109 w 3600000"/>
              <a:gd name="connsiteY1388" fmla="*/ 1319273 h 2787466"/>
              <a:gd name="connsiteX1389" fmla="*/ 2216334 w 3600000"/>
              <a:gd name="connsiteY1389" fmla="*/ 1318838 h 2787466"/>
              <a:gd name="connsiteX1390" fmla="*/ 2222768 w 3600000"/>
              <a:gd name="connsiteY1390" fmla="*/ 1319226 h 2787466"/>
              <a:gd name="connsiteX1391" fmla="*/ 2222790 w 3600000"/>
              <a:gd name="connsiteY1391" fmla="*/ 1319241 h 2787466"/>
              <a:gd name="connsiteX1392" fmla="*/ 2222643 w 3600000"/>
              <a:gd name="connsiteY1392" fmla="*/ 1319001 h 2787466"/>
              <a:gd name="connsiteX1393" fmla="*/ 2231633 w 3600000"/>
              <a:gd name="connsiteY1393" fmla="*/ 1317141 h 2787466"/>
              <a:gd name="connsiteX1394" fmla="*/ 2234791 w 3600000"/>
              <a:gd name="connsiteY1394" fmla="*/ 1317008 h 2787466"/>
              <a:gd name="connsiteX1395" fmla="*/ 2235448 w 3600000"/>
              <a:gd name="connsiteY1395" fmla="*/ 1316165 h 2787466"/>
              <a:gd name="connsiteX1396" fmla="*/ 2221824 w 3600000"/>
              <a:gd name="connsiteY1396" fmla="*/ 1314958 h 2787466"/>
              <a:gd name="connsiteX1397" fmla="*/ 2220770 w 3600000"/>
              <a:gd name="connsiteY1397" fmla="*/ 1315228 h 2787466"/>
              <a:gd name="connsiteX1398" fmla="*/ 2212034 w 3600000"/>
              <a:gd name="connsiteY1398" fmla="*/ 1315596 h 2787466"/>
              <a:gd name="connsiteX1399" fmla="*/ 2378390 w 3600000"/>
              <a:gd name="connsiteY1399" fmla="*/ 1313074 h 2787466"/>
              <a:gd name="connsiteX1400" fmla="*/ 2378092 w 3600000"/>
              <a:gd name="connsiteY1400" fmla="*/ 1313288 h 2787466"/>
              <a:gd name="connsiteX1401" fmla="*/ 2378649 w 3600000"/>
              <a:gd name="connsiteY1401" fmla="*/ 1313180 h 2787466"/>
              <a:gd name="connsiteX1402" fmla="*/ 2378643 w 3600000"/>
              <a:gd name="connsiteY1402" fmla="*/ 1313171 h 2787466"/>
              <a:gd name="connsiteX1403" fmla="*/ 2353909 w 3600000"/>
              <a:gd name="connsiteY1403" fmla="*/ 1312862 h 2787466"/>
              <a:gd name="connsiteX1404" fmla="*/ 2348783 w 3600000"/>
              <a:gd name="connsiteY1404" fmla="*/ 1315222 h 2787466"/>
              <a:gd name="connsiteX1405" fmla="*/ 2361765 w 3600000"/>
              <a:gd name="connsiteY1405" fmla="*/ 1315477 h 2787466"/>
              <a:gd name="connsiteX1406" fmla="*/ 2361877 w 3600000"/>
              <a:gd name="connsiteY1406" fmla="*/ 1315473 h 2787466"/>
              <a:gd name="connsiteX1407" fmla="*/ 2353795 w 3600000"/>
              <a:gd name="connsiteY1407" fmla="*/ 1312978 h 2787466"/>
              <a:gd name="connsiteX1408" fmla="*/ 3191096 w 3600000"/>
              <a:gd name="connsiteY1408" fmla="*/ 1308888 h 2787466"/>
              <a:gd name="connsiteX1409" fmla="*/ 3164041 w 3600000"/>
              <a:gd name="connsiteY1409" fmla="*/ 1334382 h 2787466"/>
              <a:gd name="connsiteX1410" fmla="*/ 3191096 w 3600000"/>
              <a:gd name="connsiteY1410" fmla="*/ 1308888 h 2787466"/>
              <a:gd name="connsiteX1411" fmla="*/ 1956711 w 3600000"/>
              <a:gd name="connsiteY1411" fmla="*/ 1307638 h 2787466"/>
              <a:gd name="connsiteX1412" fmla="*/ 1951599 w 3600000"/>
              <a:gd name="connsiteY1412" fmla="*/ 1310672 h 2787466"/>
              <a:gd name="connsiteX1413" fmla="*/ 1951574 w 3600000"/>
              <a:gd name="connsiteY1413" fmla="*/ 1311875 h 2787466"/>
              <a:gd name="connsiteX1414" fmla="*/ 1955224 w 3600000"/>
              <a:gd name="connsiteY1414" fmla="*/ 1314079 h 2787466"/>
              <a:gd name="connsiteX1415" fmla="*/ 2481455 w 3600000"/>
              <a:gd name="connsiteY1415" fmla="*/ 1307045 h 2787466"/>
              <a:gd name="connsiteX1416" fmla="*/ 2475786 w 3600000"/>
              <a:gd name="connsiteY1416" fmla="*/ 1307145 h 2787466"/>
              <a:gd name="connsiteX1417" fmla="*/ 2477677 w 3600000"/>
              <a:gd name="connsiteY1417" fmla="*/ 1311583 h 2787466"/>
              <a:gd name="connsiteX1418" fmla="*/ 2479943 w 3600000"/>
              <a:gd name="connsiteY1418" fmla="*/ 1312933 h 2787466"/>
              <a:gd name="connsiteX1419" fmla="*/ 2480479 w 3600000"/>
              <a:gd name="connsiteY1419" fmla="*/ 1312647 h 2787466"/>
              <a:gd name="connsiteX1420" fmla="*/ 2481489 w 3600000"/>
              <a:gd name="connsiteY1420" fmla="*/ 1309248 h 2787466"/>
              <a:gd name="connsiteX1421" fmla="*/ 2481824 w 3600000"/>
              <a:gd name="connsiteY1421" fmla="*/ 1312235 h 2787466"/>
              <a:gd name="connsiteX1422" fmla="*/ 2483472 w 3600000"/>
              <a:gd name="connsiteY1422" fmla="*/ 1314334 h 2787466"/>
              <a:gd name="connsiteX1423" fmla="*/ 2489193 w 3600000"/>
              <a:gd name="connsiteY1423" fmla="*/ 1312035 h 2787466"/>
              <a:gd name="connsiteX1424" fmla="*/ 2483963 w 3600000"/>
              <a:gd name="connsiteY1424" fmla="*/ 1308930 h 2787466"/>
              <a:gd name="connsiteX1425" fmla="*/ 2513923 w 3600000"/>
              <a:gd name="connsiteY1425" fmla="*/ 1307004 h 2787466"/>
              <a:gd name="connsiteX1426" fmla="*/ 2513846 w 3600000"/>
              <a:gd name="connsiteY1426" fmla="*/ 1307306 h 2787466"/>
              <a:gd name="connsiteX1427" fmla="*/ 2514950 w 3600000"/>
              <a:gd name="connsiteY1427" fmla="*/ 1307202 h 2787466"/>
              <a:gd name="connsiteX1428" fmla="*/ 187225 w 3600000"/>
              <a:gd name="connsiteY1428" fmla="*/ 1306205 h 2787466"/>
              <a:gd name="connsiteX1429" fmla="*/ 167866 w 3600000"/>
              <a:gd name="connsiteY1429" fmla="*/ 1319180 h 2787466"/>
              <a:gd name="connsiteX1430" fmla="*/ 202901 w 3600000"/>
              <a:gd name="connsiteY1430" fmla="*/ 1318237 h 2787466"/>
              <a:gd name="connsiteX1431" fmla="*/ 196512 w 3600000"/>
              <a:gd name="connsiteY1431" fmla="*/ 1306291 h 2787466"/>
              <a:gd name="connsiteX1432" fmla="*/ 187225 w 3600000"/>
              <a:gd name="connsiteY1432" fmla="*/ 1306205 h 2787466"/>
              <a:gd name="connsiteX1433" fmla="*/ 3004785 w 3600000"/>
              <a:gd name="connsiteY1433" fmla="*/ 1306076 h 2787466"/>
              <a:gd name="connsiteX1434" fmla="*/ 2978605 w 3600000"/>
              <a:gd name="connsiteY1434" fmla="*/ 1323982 h 2787466"/>
              <a:gd name="connsiteX1435" fmla="*/ 2974689 w 3600000"/>
              <a:gd name="connsiteY1435" fmla="*/ 1318013 h 2787466"/>
              <a:gd name="connsiteX1436" fmla="*/ 2966855 w 3600000"/>
              <a:gd name="connsiteY1436" fmla="*/ 1320055 h 2787466"/>
              <a:gd name="connsiteX1437" fmla="*/ 3004785 w 3600000"/>
              <a:gd name="connsiteY1437" fmla="*/ 1306076 h 2787466"/>
              <a:gd name="connsiteX1438" fmla="*/ 2524433 w 3600000"/>
              <a:gd name="connsiteY1438" fmla="*/ 1306061 h 2787466"/>
              <a:gd name="connsiteX1439" fmla="*/ 2524387 w 3600000"/>
              <a:gd name="connsiteY1439" fmla="*/ 1306309 h 2787466"/>
              <a:gd name="connsiteX1440" fmla="*/ 2524857 w 3600000"/>
              <a:gd name="connsiteY1440" fmla="*/ 1306264 h 2787466"/>
              <a:gd name="connsiteX1441" fmla="*/ 2130091 w 3600000"/>
              <a:gd name="connsiteY1441" fmla="*/ 1305746 h 2787466"/>
              <a:gd name="connsiteX1442" fmla="*/ 2130035 w 3600000"/>
              <a:gd name="connsiteY1442" fmla="*/ 1305760 h 2787466"/>
              <a:gd name="connsiteX1443" fmla="*/ 2123220 w 3600000"/>
              <a:gd name="connsiteY1443" fmla="*/ 1307346 h 2787466"/>
              <a:gd name="connsiteX1444" fmla="*/ 2124310 w 3600000"/>
              <a:gd name="connsiteY1444" fmla="*/ 1308414 h 2787466"/>
              <a:gd name="connsiteX1445" fmla="*/ 2126722 w 3600000"/>
              <a:gd name="connsiteY1445" fmla="*/ 1308402 h 2787466"/>
              <a:gd name="connsiteX1446" fmla="*/ 2129472 w 3600000"/>
              <a:gd name="connsiteY1446" fmla="*/ 1308341 h 2787466"/>
              <a:gd name="connsiteX1447" fmla="*/ 2130294 w 3600000"/>
              <a:gd name="connsiteY1447" fmla="*/ 1306238 h 2787466"/>
              <a:gd name="connsiteX1448" fmla="*/ 2563853 w 3600000"/>
              <a:gd name="connsiteY1448" fmla="*/ 1304238 h 2787466"/>
              <a:gd name="connsiteX1449" fmla="*/ 2553846 w 3600000"/>
              <a:gd name="connsiteY1449" fmla="*/ 1306783 h 2787466"/>
              <a:gd name="connsiteX1450" fmla="*/ 2553479 w 3600000"/>
              <a:gd name="connsiteY1450" fmla="*/ 1306665 h 2787466"/>
              <a:gd name="connsiteX1451" fmla="*/ 2550866 w 3600000"/>
              <a:gd name="connsiteY1451" fmla="*/ 1307926 h 2787466"/>
              <a:gd name="connsiteX1452" fmla="*/ 2545370 w 3600000"/>
              <a:gd name="connsiteY1452" fmla="*/ 1309248 h 2787466"/>
              <a:gd name="connsiteX1453" fmla="*/ 2551964 w 3600000"/>
              <a:gd name="connsiteY1453" fmla="*/ 1313178 h 2787466"/>
              <a:gd name="connsiteX1454" fmla="*/ 2553324 w 3600000"/>
              <a:gd name="connsiteY1454" fmla="*/ 1311971 h 2787466"/>
              <a:gd name="connsiteX1455" fmla="*/ 2553447 w 3600000"/>
              <a:gd name="connsiteY1455" fmla="*/ 1310967 h 2787466"/>
              <a:gd name="connsiteX1456" fmla="*/ 2553954 w 3600000"/>
              <a:gd name="connsiteY1456" fmla="*/ 1311412 h 2787466"/>
              <a:gd name="connsiteX1457" fmla="*/ 2555241 w 3600000"/>
              <a:gd name="connsiteY1457" fmla="*/ 1310269 h 2787466"/>
              <a:gd name="connsiteX1458" fmla="*/ 2568861 w 3600000"/>
              <a:gd name="connsiteY1458" fmla="*/ 1305317 h 2787466"/>
              <a:gd name="connsiteX1459" fmla="*/ 2575806 w 3600000"/>
              <a:gd name="connsiteY1459" fmla="*/ 1302989 h 2787466"/>
              <a:gd name="connsiteX1460" fmla="*/ 2575249 w 3600000"/>
              <a:gd name="connsiteY1460" fmla="*/ 1303273 h 2787466"/>
              <a:gd name="connsiteX1461" fmla="*/ 2576350 w 3600000"/>
              <a:gd name="connsiteY1461" fmla="*/ 1303358 h 2787466"/>
              <a:gd name="connsiteX1462" fmla="*/ 2516314 w 3600000"/>
              <a:gd name="connsiteY1462" fmla="*/ 1300718 h 2787466"/>
              <a:gd name="connsiteX1463" fmla="*/ 2509915 w 3600000"/>
              <a:gd name="connsiteY1463" fmla="*/ 1302752 h 2787466"/>
              <a:gd name="connsiteX1464" fmla="*/ 2519075 w 3600000"/>
              <a:gd name="connsiteY1464" fmla="*/ 1305117 h 2787466"/>
              <a:gd name="connsiteX1465" fmla="*/ 2524555 w 3600000"/>
              <a:gd name="connsiteY1465" fmla="*/ 1301393 h 2787466"/>
              <a:gd name="connsiteX1466" fmla="*/ 3201869 w 3600000"/>
              <a:gd name="connsiteY1466" fmla="*/ 1297860 h 2787466"/>
              <a:gd name="connsiteX1467" fmla="*/ 3205635 w 3600000"/>
              <a:gd name="connsiteY1467" fmla="*/ 1299852 h 2787466"/>
              <a:gd name="connsiteX1468" fmla="*/ 3195192 w 3600000"/>
              <a:gd name="connsiteY1468" fmla="*/ 1308731 h 2787466"/>
              <a:gd name="connsiteX1469" fmla="*/ 3191301 w 3600000"/>
              <a:gd name="connsiteY1469" fmla="*/ 1302812 h 2787466"/>
              <a:gd name="connsiteX1470" fmla="*/ 3201869 w 3600000"/>
              <a:gd name="connsiteY1470" fmla="*/ 1297860 h 2787466"/>
              <a:gd name="connsiteX1471" fmla="*/ 2616610 w 3600000"/>
              <a:gd name="connsiteY1471" fmla="*/ 1297484 h 2787466"/>
              <a:gd name="connsiteX1472" fmla="*/ 2606215 w 3600000"/>
              <a:gd name="connsiteY1472" fmla="*/ 1297697 h 2787466"/>
              <a:gd name="connsiteX1473" fmla="*/ 2604904 w 3600000"/>
              <a:gd name="connsiteY1473" fmla="*/ 1297502 h 2787466"/>
              <a:gd name="connsiteX1474" fmla="*/ 2601342 w 3600000"/>
              <a:gd name="connsiteY1474" fmla="*/ 1300814 h 2787466"/>
              <a:gd name="connsiteX1475" fmla="*/ 2594825 w 3600000"/>
              <a:gd name="connsiteY1475" fmla="*/ 1302329 h 2787466"/>
              <a:gd name="connsiteX1476" fmla="*/ 2611893 w 3600000"/>
              <a:gd name="connsiteY1476" fmla="*/ 1299920 h 2787466"/>
              <a:gd name="connsiteX1477" fmla="*/ 2613657 w 3600000"/>
              <a:gd name="connsiteY1477" fmla="*/ 1299761 h 2787466"/>
              <a:gd name="connsiteX1478" fmla="*/ 2616885 w 3600000"/>
              <a:gd name="connsiteY1478" fmla="*/ 1297783 h 2787466"/>
              <a:gd name="connsiteX1479" fmla="*/ 2593615 w 3600000"/>
              <a:gd name="connsiteY1479" fmla="*/ 1296727 h 2787466"/>
              <a:gd name="connsiteX1480" fmla="*/ 2590343 w 3600000"/>
              <a:gd name="connsiteY1480" fmla="*/ 1297226 h 2787466"/>
              <a:gd name="connsiteX1481" fmla="*/ 2589376 w 3600000"/>
              <a:gd name="connsiteY1481" fmla="*/ 1299531 h 2787466"/>
              <a:gd name="connsiteX1482" fmla="*/ 2583142 w 3600000"/>
              <a:gd name="connsiteY1482" fmla="*/ 1302567 h 2787466"/>
              <a:gd name="connsiteX1483" fmla="*/ 2582732 w 3600000"/>
              <a:gd name="connsiteY1483" fmla="*/ 1303851 h 2787466"/>
              <a:gd name="connsiteX1484" fmla="*/ 2583131 w 3600000"/>
              <a:gd name="connsiteY1484" fmla="*/ 1303882 h 2787466"/>
              <a:gd name="connsiteX1485" fmla="*/ 2586995 w 3600000"/>
              <a:gd name="connsiteY1485" fmla="*/ 1305317 h 2787466"/>
              <a:gd name="connsiteX1486" fmla="*/ 2594001 w 3600000"/>
              <a:gd name="connsiteY1486" fmla="*/ 1301543 h 2787466"/>
              <a:gd name="connsiteX1487" fmla="*/ 2595743 w 3600000"/>
              <a:gd name="connsiteY1487" fmla="*/ 1297158 h 2787466"/>
              <a:gd name="connsiteX1488" fmla="*/ 3320713 w 3600000"/>
              <a:gd name="connsiteY1488" fmla="*/ 1295510 h 2787466"/>
              <a:gd name="connsiteX1489" fmla="*/ 3326492 w 3600000"/>
              <a:gd name="connsiteY1489" fmla="*/ 1297168 h 2787466"/>
              <a:gd name="connsiteX1490" fmla="*/ 3312502 w 3600000"/>
              <a:gd name="connsiteY1490" fmla="*/ 1305262 h 2787466"/>
              <a:gd name="connsiteX1491" fmla="*/ 3320713 w 3600000"/>
              <a:gd name="connsiteY1491" fmla="*/ 1295510 h 2787466"/>
              <a:gd name="connsiteX1492" fmla="*/ 2561031 w 3600000"/>
              <a:gd name="connsiteY1492" fmla="*/ 1292424 h 2787466"/>
              <a:gd name="connsiteX1493" fmla="*/ 2554308 w 3600000"/>
              <a:gd name="connsiteY1493" fmla="*/ 1295844 h 2787466"/>
              <a:gd name="connsiteX1494" fmla="*/ 2553045 w 3600000"/>
              <a:gd name="connsiteY1494" fmla="*/ 1298007 h 2787466"/>
              <a:gd name="connsiteX1495" fmla="*/ 2563865 w 3600000"/>
              <a:gd name="connsiteY1495" fmla="*/ 1297221 h 2787466"/>
              <a:gd name="connsiteX1496" fmla="*/ 2564388 w 3600000"/>
              <a:gd name="connsiteY1496" fmla="*/ 1297019 h 2787466"/>
              <a:gd name="connsiteX1497" fmla="*/ 2562731 w 3600000"/>
              <a:gd name="connsiteY1497" fmla="*/ 1295529 h 2787466"/>
              <a:gd name="connsiteX1498" fmla="*/ 2561031 w 3600000"/>
              <a:gd name="connsiteY1498" fmla="*/ 1292424 h 2787466"/>
              <a:gd name="connsiteX1499" fmla="*/ 2994759 w 3600000"/>
              <a:gd name="connsiteY1499" fmla="*/ 1292249 h 2787466"/>
              <a:gd name="connsiteX1500" fmla="*/ 3006629 w 3600000"/>
              <a:gd name="connsiteY1500" fmla="*/ 1297161 h 2787466"/>
              <a:gd name="connsiteX1501" fmla="*/ 2992052 w 3600000"/>
              <a:gd name="connsiteY1501" fmla="*/ 1302232 h 2787466"/>
              <a:gd name="connsiteX1502" fmla="*/ 2994759 w 3600000"/>
              <a:gd name="connsiteY1502" fmla="*/ 1292249 h 2787466"/>
              <a:gd name="connsiteX1503" fmla="*/ 3026772 w 3600000"/>
              <a:gd name="connsiteY1503" fmla="*/ 1285383 h 2787466"/>
              <a:gd name="connsiteX1504" fmla="*/ 3016454 w 3600000"/>
              <a:gd name="connsiteY1504" fmla="*/ 1295402 h 2787466"/>
              <a:gd name="connsiteX1505" fmla="*/ 3026772 w 3600000"/>
              <a:gd name="connsiteY1505" fmla="*/ 1285383 h 2787466"/>
              <a:gd name="connsiteX1506" fmla="*/ 3217047 w 3600000"/>
              <a:gd name="connsiteY1506" fmla="*/ 1282543 h 2787466"/>
              <a:gd name="connsiteX1507" fmla="*/ 3207693 w 3600000"/>
              <a:gd name="connsiteY1507" fmla="*/ 1298332 h 2787466"/>
              <a:gd name="connsiteX1508" fmla="*/ 3217047 w 3600000"/>
              <a:gd name="connsiteY1508" fmla="*/ 1282543 h 2787466"/>
              <a:gd name="connsiteX1509" fmla="*/ 2532515 w 3600000"/>
              <a:gd name="connsiteY1509" fmla="*/ 1282213 h 2787466"/>
              <a:gd name="connsiteX1510" fmla="*/ 2530590 w 3600000"/>
              <a:gd name="connsiteY1510" fmla="*/ 1285995 h 2787466"/>
              <a:gd name="connsiteX1511" fmla="*/ 2525669 w 3600000"/>
              <a:gd name="connsiteY1511" fmla="*/ 1290181 h 2787466"/>
              <a:gd name="connsiteX1512" fmla="*/ 2524228 w 3600000"/>
              <a:gd name="connsiteY1512" fmla="*/ 1283146 h 2787466"/>
              <a:gd name="connsiteX1513" fmla="*/ 2524648 w 3600000"/>
              <a:gd name="connsiteY1513" fmla="*/ 1282319 h 2787466"/>
              <a:gd name="connsiteX1514" fmla="*/ 2523114 w 3600000"/>
              <a:gd name="connsiteY1514" fmla="*/ 1282519 h 2787466"/>
              <a:gd name="connsiteX1515" fmla="*/ 2519200 w 3600000"/>
              <a:gd name="connsiteY1515" fmla="*/ 1290381 h 2787466"/>
              <a:gd name="connsiteX1516" fmla="*/ 2519200 w 3600000"/>
              <a:gd name="connsiteY1516" fmla="*/ 1293368 h 2787466"/>
              <a:gd name="connsiteX1517" fmla="*/ 2516726 w 3600000"/>
              <a:gd name="connsiteY1517" fmla="*/ 1296355 h 2787466"/>
              <a:gd name="connsiteX1518" fmla="*/ 2525793 w 3600000"/>
              <a:gd name="connsiteY1518" fmla="*/ 1297299 h 2787466"/>
              <a:gd name="connsiteX1519" fmla="*/ 2534860 w 3600000"/>
              <a:gd name="connsiteY1519" fmla="*/ 1282519 h 2787466"/>
              <a:gd name="connsiteX1520" fmla="*/ 22975 w 3600000"/>
              <a:gd name="connsiteY1520" fmla="*/ 1279077 h 2787466"/>
              <a:gd name="connsiteX1521" fmla="*/ 26884 w 3600000"/>
              <a:gd name="connsiteY1521" fmla="*/ 1291895 h 2787466"/>
              <a:gd name="connsiteX1522" fmla="*/ 8778 w 3600000"/>
              <a:gd name="connsiteY1522" fmla="*/ 1290801 h 2787466"/>
              <a:gd name="connsiteX1523" fmla="*/ 22975 w 3600000"/>
              <a:gd name="connsiteY1523" fmla="*/ 1279077 h 2787466"/>
              <a:gd name="connsiteX1524" fmla="*/ 3099608 w 3600000"/>
              <a:gd name="connsiteY1524" fmla="*/ 1277690 h 2787466"/>
              <a:gd name="connsiteX1525" fmla="*/ 3098388 w 3600000"/>
              <a:gd name="connsiteY1525" fmla="*/ 1281657 h 2787466"/>
              <a:gd name="connsiteX1526" fmla="*/ 3102047 w 3600000"/>
              <a:gd name="connsiteY1526" fmla="*/ 1287688 h 2787466"/>
              <a:gd name="connsiteX1527" fmla="*/ 3094526 w 3600000"/>
              <a:gd name="connsiteY1527" fmla="*/ 1290703 h 2787466"/>
              <a:gd name="connsiteX1528" fmla="*/ 3099608 w 3600000"/>
              <a:gd name="connsiteY1528" fmla="*/ 1277690 h 2787466"/>
              <a:gd name="connsiteX1529" fmla="*/ 3066419 w 3600000"/>
              <a:gd name="connsiteY1529" fmla="*/ 1272144 h 2787466"/>
              <a:gd name="connsiteX1530" fmla="*/ 3059863 w 3600000"/>
              <a:gd name="connsiteY1530" fmla="*/ 1283080 h 2787466"/>
              <a:gd name="connsiteX1531" fmla="*/ 3066419 w 3600000"/>
              <a:gd name="connsiteY1531" fmla="*/ 1272144 h 2787466"/>
              <a:gd name="connsiteX1532" fmla="*/ 2719841 w 3600000"/>
              <a:gd name="connsiteY1532" fmla="*/ 1270616 h 2787466"/>
              <a:gd name="connsiteX1533" fmla="*/ 2715989 w 3600000"/>
              <a:gd name="connsiteY1533" fmla="*/ 1272132 h 2787466"/>
              <a:gd name="connsiteX1534" fmla="*/ 2718588 w 3600000"/>
              <a:gd name="connsiteY1534" fmla="*/ 1272628 h 2787466"/>
              <a:gd name="connsiteX1535" fmla="*/ 3285117 w 3600000"/>
              <a:gd name="connsiteY1535" fmla="*/ 1269188 h 2787466"/>
              <a:gd name="connsiteX1536" fmla="*/ 3287787 w 3600000"/>
              <a:gd name="connsiteY1536" fmla="*/ 1285158 h 2787466"/>
              <a:gd name="connsiteX1537" fmla="*/ 3285117 w 3600000"/>
              <a:gd name="connsiteY1537" fmla="*/ 1269188 h 2787466"/>
              <a:gd name="connsiteX1538" fmla="*/ 3043695 w 3600000"/>
              <a:gd name="connsiteY1538" fmla="*/ 1261745 h 2787466"/>
              <a:gd name="connsiteX1539" fmla="*/ 3024090 w 3600000"/>
              <a:gd name="connsiteY1539" fmla="*/ 1281469 h 2787466"/>
              <a:gd name="connsiteX1540" fmla="*/ 3059379 w 3600000"/>
              <a:gd name="connsiteY1540" fmla="*/ 1261745 h 2787466"/>
              <a:gd name="connsiteX1541" fmla="*/ 3058140 w 3600000"/>
              <a:gd name="connsiteY1541" fmla="*/ 1266598 h 2787466"/>
              <a:gd name="connsiteX1542" fmla="*/ 3060617 w 3600000"/>
              <a:gd name="connsiteY1542" fmla="*/ 1273642 h 2787466"/>
              <a:gd name="connsiteX1543" fmla="*/ 3011088 w 3600000"/>
              <a:gd name="connsiteY1543" fmla="*/ 1305264 h 2787466"/>
              <a:gd name="connsiteX1544" fmla="*/ 3005929 w 3600000"/>
              <a:gd name="connsiteY1544" fmla="*/ 1294306 h 2787466"/>
              <a:gd name="connsiteX1545" fmla="*/ 3043695 w 3600000"/>
              <a:gd name="connsiteY1545" fmla="*/ 1261745 h 2787466"/>
              <a:gd name="connsiteX1546" fmla="*/ 2756381 w 3600000"/>
              <a:gd name="connsiteY1546" fmla="*/ 1247616 h 2787466"/>
              <a:gd name="connsiteX1547" fmla="*/ 2755891 w 3600000"/>
              <a:gd name="connsiteY1547" fmla="*/ 1248500 h 2787466"/>
              <a:gd name="connsiteX1548" fmla="*/ 2754497 w 3600000"/>
              <a:gd name="connsiteY1548" fmla="*/ 1251020 h 2787466"/>
              <a:gd name="connsiteX1549" fmla="*/ 2754540 w 3600000"/>
              <a:gd name="connsiteY1549" fmla="*/ 1251213 h 2787466"/>
              <a:gd name="connsiteX1550" fmla="*/ 2755173 w 3600000"/>
              <a:gd name="connsiteY1550" fmla="*/ 1254180 h 2787466"/>
              <a:gd name="connsiteX1551" fmla="*/ 2758622 w 3600000"/>
              <a:gd name="connsiteY1551" fmla="*/ 1253531 h 2787466"/>
              <a:gd name="connsiteX1552" fmla="*/ 2762769 w 3600000"/>
              <a:gd name="connsiteY1552" fmla="*/ 1248716 h 2787466"/>
              <a:gd name="connsiteX1553" fmla="*/ 2756381 w 3600000"/>
              <a:gd name="connsiteY1553" fmla="*/ 1247616 h 2787466"/>
              <a:gd name="connsiteX1554" fmla="*/ 3248384 w 3600000"/>
              <a:gd name="connsiteY1554" fmla="*/ 1247186 h 2787466"/>
              <a:gd name="connsiteX1555" fmla="*/ 3227374 w 3600000"/>
              <a:gd name="connsiteY1555" fmla="*/ 1278920 h 2787466"/>
              <a:gd name="connsiteX1556" fmla="*/ 3219470 w 3600000"/>
              <a:gd name="connsiteY1556" fmla="*/ 1271885 h 2787466"/>
              <a:gd name="connsiteX1557" fmla="*/ 3248384 w 3600000"/>
              <a:gd name="connsiteY1557" fmla="*/ 1247186 h 2787466"/>
              <a:gd name="connsiteX1558" fmla="*/ 3364651 w 3600000"/>
              <a:gd name="connsiteY1558" fmla="*/ 1242334 h 2787466"/>
              <a:gd name="connsiteX1559" fmla="*/ 3354043 w 3600000"/>
              <a:gd name="connsiteY1559" fmla="*/ 1262138 h 2787466"/>
              <a:gd name="connsiteX1560" fmla="*/ 3338234 w 3600000"/>
              <a:gd name="connsiteY1560" fmla="*/ 1281000 h 2787466"/>
              <a:gd name="connsiteX1561" fmla="*/ 3330330 w 3600000"/>
              <a:gd name="connsiteY1561" fmla="*/ 1277070 h 2787466"/>
              <a:gd name="connsiteX1562" fmla="*/ 3364651 w 3600000"/>
              <a:gd name="connsiteY1562" fmla="*/ 1242334 h 2787466"/>
              <a:gd name="connsiteX1563" fmla="*/ 2687668 w 3600000"/>
              <a:gd name="connsiteY1563" fmla="*/ 1239199 h 2787466"/>
              <a:gd name="connsiteX1564" fmla="*/ 2684026 w 3600000"/>
              <a:gd name="connsiteY1564" fmla="*/ 1240030 h 2787466"/>
              <a:gd name="connsiteX1565" fmla="*/ 2679346 w 3600000"/>
              <a:gd name="connsiteY1565" fmla="*/ 1245254 h 2787466"/>
              <a:gd name="connsiteX1566" fmla="*/ 2689261 w 3600000"/>
              <a:gd name="connsiteY1566" fmla="*/ 1241004 h 2787466"/>
              <a:gd name="connsiteX1567" fmla="*/ 2747108 w 3600000"/>
              <a:gd name="connsiteY1567" fmla="*/ 1237710 h 2787466"/>
              <a:gd name="connsiteX1568" fmla="*/ 2745784 w 3600000"/>
              <a:gd name="connsiteY1568" fmla="*/ 1238032 h 2787466"/>
              <a:gd name="connsiteX1569" fmla="*/ 2744580 w 3600000"/>
              <a:gd name="connsiteY1569" fmla="*/ 1240402 h 2787466"/>
              <a:gd name="connsiteX1570" fmla="*/ 2747293 w 3600000"/>
              <a:gd name="connsiteY1570" fmla="*/ 1238021 h 2787466"/>
              <a:gd name="connsiteX1571" fmla="*/ 2766684 w 3600000"/>
              <a:gd name="connsiteY1571" fmla="*/ 1235666 h 2787466"/>
              <a:gd name="connsiteX1572" fmla="*/ 2761532 w 3600000"/>
              <a:gd name="connsiteY1572" fmla="*/ 1240697 h 2787466"/>
              <a:gd name="connsiteX1573" fmla="*/ 2766684 w 3600000"/>
              <a:gd name="connsiteY1573" fmla="*/ 1249659 h 2787466"/>
              <a:gd name="connsiteX1574" fmla="*/ 2776936 w 3600000"/>
              <a:gd name="connsiteY1574" fmla="*/ 1243921 h 2787466"/>
              <a:gd name="connsiteX1575" fmla="*/ 2779168 w 3600000"/>
              <a:gd name="connsiteY1575" fmla="*/ 1242807 h 2787466"/>
              <a:gd name="connsiteX1576" fmla="*/ 2775542 w 3600000"/>
              <a:gd name="connsiteY1576" fmla="*/ 1238953 h 2787466"/>
              <a:gd name="connsiteX1577" fmla="*/ 2775329 w 3600000"/>
              <a:gd name="connsiteY1577" fmla="*/ 1238677 h 2787466"/>
              <a:gd name="connsiteX1578" fmla="*/ 2770599 w 3600000"/>
              <a:gd name="connsiteY1578" fmla="*/ 1242742 h 2787466"/>
              <a:gd name="connsiteX1579" fmla="*/ 2766684 w 3600000"/>
              <a:gd name="connsiteY1579" fmla="*/ 1235666 h 2787466"/>
              <a:gd name="connsiteX1580" fmla="*/ 2639130 w 3600000"/>
              <a:gd name="connsiteY1580" fmla="*/ 1235666 h 2787466"/>
              <a:gd name="connsiteX1581" fmla="*/ 2633979 w 3600000"/>
              <a:gd name="connsiteY1581" fmla="*/ 1241641 h 2787466"/>
              <a:gd name="connsiteX1582" fmla="*/ 2640598 w 3600000"/>
              <a:gd name="connsiteY1582" fmla="*/ 1241798 h 2787466"/>
              <a:gd name="connsiteX1583" fmla="*/ 2641868 w 3600000"/>
              <a:gd name="connsiteY1583" fmla="*/ 1240063 h 2787466"/>
              <a:gd name="connsiteX1584" fmla="*/ 2640158 w 3600000"/>
              <a:gd name="connsiteY1584" fmla="*/ 1237789 h 2787466"/>
              <a:gd name="connsiteX1585" fmla="*/ 2639221 w 3600000"/>
              <a:gd name="connsiteY1585" fmla="*/ 1235685 h 2787466"/>
              <a:gd name="connsiteX1586" fmla="*/ 3140414 w 3600000"/>
              <a:gd name="connsiteY1586" fmla="*/ 1235401 h 2787466"/>
              <a:gd name="connsiteX1587" fmla="*/ 3155825 w 3600000"/>
              <a:gd name="connsiteY1587" fmla="*/ 1252573 h 2787466"/>
              <a:gd name="connsiteX1588" fmla="*/ 3140414 w 3600000"/>
              <a:gd name="connsiteY1588" fmla="*/ 1235401 h 2787466"/>
              <a:gd name="connsiteX1589" fmla="*/ 2770448 w 3600000"/>
              <a:gd name="connsiteY1589" fmla="*/ 1232345 h 2787466"/>
              <a:gd name="connsiteX1590" fmla="*/ 2770290 w 3600000"/>
              <a:gd name="connsiteY1590" fmla="*/ 1232503 h 2787466"/>
              <a:gd name="connsiteX1591" fmla="*/ 2769363 w 3600000"/>
              <a:gd name="connsiteY1591" fmla="*/ 1234723 h 2787466"/>
              <a:gd name="connsiteX1592" fmla="*/ 2771552 w 3600000"/>
              <a:gd name="connsiteY1592" fmla="*/ 1233778 h 2787466"/>
              <a:gd name="connsiteX1593" fmla="*/ 2756381 w 3600000"/>
              <a:gd name="connsiteY1593" fmla="*/ 1230792 h 2787466"/>
              <a:gd name="connsiteX1594" fmla="*/ 2750099 w 3600000"/>
              <a:gd name="connsiteY1594" fmla="*/ 1231621 h 2787466"/>
              <a:gd name="connsiteX1595" fmla="*/ 2748479 w 3600000"/>
              <a:gd name="connsiteY1595" fmla="*/ 1232728 h 2787466"/>
              <a:gd name="connsiteX1596" fmla="*/ 2746768 w 3600000"/>
              <a:gd name="connsiteY1596" fmla="*/ 1236097 h 2787466"/>
              <a:gd name="connsiteX1597" fmla="*/ 2748336 w 3600000"/>
              <a:gd name="connsiteY1597" fmla="*/ 1237107 h 2787466"/>
              <a:gd name="connsiteX1598" fmla="*/ 2748700 w 3600000"/>
              <a:gd name="connsiteY1598" fmla="*/ 1236787 h 2787466"/>
              <a:gd name="connsiteX1599" fmla="*/ 2748966 w 3600000"/>
              <a:gd name="connsiteY1599" fmla="*/ 1237513 h 2787466"/>
              <a:gd name="connsiteX1600" fmla="*/ 2750096 w 3600000"/>
              <a:gd name="connsiteY1600" fmla="*/ 1238241 h 2787466"/>
              <a:gd name="connsiteX1601" fmla="*/ 2753702 w 3600000"/>
              <a:gd name="connsiteY1601" fmla="*/ 1241641 h 2787466"/>
              <a:gd name="connsiteX1602" fmla="*/ 2756381 w 3600000"/>
              <a:gd name="connsiteY1602" fmla="*/ 1230792 h 2787466"/>
              <a:gd name="connsiteX1603" fmla="*/ 3371396 w 3600000"/>
              <a:gd name="connsiteY1603" fmla="*/ 1229271 h 2787466"/>
              <a:gd name="connsiteX1604" fmla="*/ 3377377 w 3600000"/>
              <a:gd name="connsiteY1604" fmla="*/ 1230942 h 2787466"/>
              <a:gd name="connsiteX1605" fmla="*/ 3366932 w 3600000"/>
              <a:gd name="connsiteY1605" fmla="*/ 1240791 h 2787466"/>
              <a:gd name="connsiteX1606" fmla="*/ 3371396 w 3600000"/>
              <a:gd name="connsiteY1606" fmla="*/ 1229271 h 2787466"/>
              <a:gd name="connsiteX1607" fmla="*/ 2756160 w 3600000"/>
              <a:gd name="connsiteY1607" fmla="*/ 1227472 h 2787466"/>
              <a:gd name="connsiteX1608" fmla="*/ 2755663 w 3600000"/>
              <a:gd name="connsiteY1608" fmla="*/ 1227813 h 2787466"/>
              <a:gd name="connsiteX1609" fmla="*/ 2756381 w 3600000"/>
              <a:gd name="connsiteY1609" fmla="*/ 1227806 h 2787466"/>
              <a:gd name="connsiteX1610" fmla="*/ 2782546 w 3600000"/>
              <a:gd name="connsiteY1610" fmla="*/ 1226865 h 2787466"/>
              <a:gd name="connsiteX1611" fmla="*/ 2779878 w 3600000"/>
              <a:gd name="connsiteY1611" fmla="*/ 1229681 h 2787466"/>
              <a:gd name="connsiteX1612" fmla="*/ 2780139 w 3600000"/>
              <a:gd name="connsiteY1612" fmla="*/ 1230079 h 2787466"/>
              <a:gd name="connsiteX1613" fmla="*/ 2785972 w 3600000"/>
              <a:gd name="connsiteY1613" fmla="*/ 1229036 h 2787466"/>
              <a:gd name="connsiteX1614" fmla="*/ 2800608 w 3600000"/>
              <a:gd name="connsiteY1614" fmla="*/ 1225769 h 2787466"/>
              <a:gd name="connsiteX1615" fmla="*/ 2802045 w 3600000"/>
              <a:gd name="connsiteY1615" fmla="*/ 1233750 h 2787466"/>
              <a:gd name="connsiteX1616" fmla="*/ 2787959 w 3600000"/>
              <a:gd name="connsiteY1616" fmla="*/ 1230296 h 2787466"/>
              <a:gd name="connsiteX1617" fmla="*/ 2787475 w 3600000"/>
              <a:gd name="connsiteY1617" fmla="*/ 1229989 h 2787466"/>
              <a:gd name="connsiteX1618" fmla="*/ 2785088 w 3600000"/>
              <a:gd name="connsiteY1618" fmla="*/ 1230957 h 2787466"/>
              <a:gd name="connsiteX1619" fmla="*/ 2782125 w 3600000"/>
              <a:gd name="connsiteY1619" fmla="*/ 1233101 h 2787466"/>
              <a:gd name="connsiteX1620" fmla="*/ 2782530 w 3600000"/>
              <a:gd name="connsiteY1620" fmla="*/ 1233716 h 2787466"/>
              <a:gd name="connsiteX1621" fmla="*/ 2781061 w 3600000"/>
              <a:gd name="connsiteY1621" fmla="*/ 1241081 h 2787466"/>
              <a:gd name="connsiteX1622" fmla="*/ 2781551 w 3600000"/>
              <a:gd name="connsiteY1622" fmla="*/ 1241619 h 2787466"/>
              <a:gd name="connsiteX1623" fmla="*/ 2782274 w 3600000"/>
              <a:gd name="connsiteY1623" fmla="*/ 1241257 h 2787466"/>
              <a:gd name="connsiteX1624" fmla="*/ 2786261 w 3600000"/>
              <a:gd name="connsiteY1624" fmla="*/ 1236767 h 2787466"/>
              <a:gd name="connsiteX1625" fmla="*/ 2799243 w 3600000"/>
              <a:gd name="connsiteY1625" fmla="*/ 1239755 h 2787466"/>
              <a:gd name="connsiteX1626" fmla="*/ 2805920 w 3600000"/>
              <a:gd name="connsiteY1626" fmla="*/ 1232854 h 2787466"/>
              <a:gd name="connsiteX1627" fmla="*/ 2806778 w 3600000"/>
              <a:gd name="connsiteY1627" fmla="*/ 1231680 h 2787466"/>
              <a:gd name="connsiteX1628" fmla="*/ 2802892 w 3600000"/>
              <a:gd name="connsiteY1628" fmla="*/ 1231325 h 2787466"/>
              <a:gd name="connsiteX1629" fmla="*/ 2800608 w 3600000"/>
              <a:gd name="connsiteY1629" fmla="*/ 1225769 h 2787466"/>
              <a:gd name="connsiteX1630" fmla="*/ 3268900 w 3600000"/>
              <a:gd name="connsiteY1630" fmla="*/ 1225695 h 2787466"/>
              <a:gd name="connsiteX1631" fmla="*/ 3259978 w 3600000"/>
              <a:gd name="connsiteY1631" fmla="*/ 1242868 h 2787466"/>
              <a:gd name="connsiteX1632" fmla="*/ 3268900 w 3600000"/>
              <a:gd name="connsiteY1632" fmla="*/ 1225695 h 2787466"/>
              <a:gd name="connsiteX1633" fmla="*/ 2792735 w 3600000"/>
              <a:gd name="connsiteY1633" fmla="*/ 1215181 h 2787466"/>
              <a:gd name="connsiteX1634" fmla="*/ 2791694 w 3600000"/>
              <a:gd name="connsiteY1634" fmla="*/ 1215840 h 2787466"/>
              <a:gd name="connsiteX1635" fmla="*/ 2793014 w 3600000"/>
              <a:gd name="connsiteY1635" fmla="*/ 1219823 h 2787466"/>
              <a:gd name="connsiteX1636" fmla="*/ 2797595 w 3600000"/>
              <a:gd name="connsiteY1636" fmla="*/ 1217690 h 2787466"/>
              <a:gd name="connsiteX1637" fmla="*/ 2795044 w 3600000"/>
              <a:gd name="connsiteY1637" fmla="*/ 1216229 h 2787466"/>
              <a:gd name="connsiteX1638" fmla="*/ 2792735 w 3600000"/>
              <a:gd name="connsiteY1638" fmla="*/ 1215181 h 2787466"/>
              <a:gd name="connsiteX1639" fmla="*/ 2251687 w 3600000"/>
              <a:gd name="connsiteY1639" fmla="*/ 1213764 h 2787466"/>
              <a:gd name="connsiteX1640" fmla="*/ 2247941 w 3600000"/>
              <a:gd name="connsiteY1640" fmla="*/ 1217154 h 2787466"/>
              <a:gd name="connsiteX1641" fmla="*/ 2247842 w 3600000"/>
              <a:gd name="connsiteY1641" fmla="*/ 1217348 h 2787466"/>
              <a:gd name="connsiteX1642" fmla="*/ 2251108 w 3600000"/>
              <a:gd name="connsiteY1642" fmla="*/ 1218843 h 2787466"/>
              <a:gd name="connsiteX1643" fmla="*/ 2251867 w 3600000"/>
              <a:gd name="connsiteY1643" fmla="*/ 1213941 h 2787466"/>
              <a:gd name="connsiteX1644" fmla="*/ 2252749 w 3600000"/>
              <a:gd name="connsiteY1644" fmla="*/ 1206325 h 2787466"/>
              <a:gd name="connsiteX1645" fmla="*/ 2250902 w 3600000"/>
              <a:gd name="connsiteY1645" fmla="*/ 1206874 h 2787466"/>
              <a:gd name="connsiteX1646" fmla="*/ 2245519 w 3600000"/>
              <a:gd name="connsiteY1646" fmla="*/ 1209273 h 2787466"/>
              <a:gd name="connsiteX1647" fmla="*/ 2245214 w 3600000"/>
              <a:gd name="connsiteY1647" fmla="*/ 1209630 h 2787466"/>
              <a:gd name="connsiteX1648" fmla="*/ 2250455 w 3600000"/>
              <a:gd name="connsiteY1648" fmla="*/ 1210957 h 2787466"/>
              <a:gd name="connsiteX1649" fmla="*/ 2253637 w 3600000"/>
              <a:gd name="connsiteY1649" fmla="*/ 1206572 h 2787466"/>
              <a:gd name="connsiteX1650" fmla="*/ 2253674 w 3600000"/>
              <a:gd name="connsiteY1650" fmla="*/ 1206410 h 2787466"/>
              <a:gd name="connsiteX1651" fmla="*/ 3402921 w 3600000"/>
              <a:gd name="connsiteY1651" fmla="*/ 1200738 h 2787466"/>
              <a:gd name="connsiteX1652" fmla="*/ 3414632 w 3600000"/>
              <a:gd name="connsiteY1652" fmla="*/ 1207887 h 2787466"/>
              <a:gd name="connsiteX1653" fmla="*/ 3392649 w 3600000"/>
              <a:gd name="connsiteY1653" fmla="*/ 1215831 h 2787466"/>
              <a:gd name="connsiteX1654" fmla="*/ 3402921 w 3600000"/>
              <a:gd name="connsiteY1654" fmla="*/ 1200738 h 2787466"/>
              <a:gd name="connsiteX1655" fmla="*/ 2341516 w 3600000"/>
              <a:gd name="connsiteY1655" fmla="*/ 1199181 h 2787466"/>
              <a:gd name="connsiteX1656" fmla="*/ 2338764 w 3600000"/>
              <a:gd name="connsiteY1656" fmla="*/ 1201628 h 2787466"/>
              <a:gd name="connsiteX1657" fmla="*/ 2334814 w 3600000"/>
              <a:gd name="connsiteY1657" fmla="*/ 1209028 h 2787466"/>
              <a:gd name="connsiteX1658" fmla="*/ 2343001 w 3600000"/>
              <a:gd name="connsiteY1658" fmla="*/ 1211021 h 2787466"/>
              <a:gd name="connsiteX1659" fmla="*/ 2340846 w 3600000"/>
              <a:gd name="connsiteY1659" fmla="*/ 1212191 h 2787466"/>
              <a:gd name="connsiteX1660" fmla="*/ 2342035 w 3600000"/>
              <a:gd name="connsiteY1660" fmla="*/ 1212613 h 2787466"/>
              <a:gd name="connsiteX1661" fmla="*/ 2348783 w 3600000"/>
              <a:gd name="connsiteY1661" fmla="*/ 1210982 h 2787466"/>
              <a:gd name="connsiteX1662" fmla="*/ 2346105 w 3600000"/>
              <a:gd name="connsiteY1662" fmla="*/ 1199976 h 2787466"/>
              <a:gd name="connsiteX1663" fmla="*/ 2341516 w 3600000"/>
              <a:gd name="connsiteY1663" fmla="*/ 1199181 h 2787466"/>
              <a:gd name="connsiteX1664" fmla="*/ 2809502 w 3600000"/>
              <a:gd name="connsiteY1664" fmla="*/ 1198262 h 2787466"/>
              <a:gd name="connsiteX1665" fmla="*/ 2809752 w 3600000"/>
              <a:gd name="connsiteY1665" fmla="*/ 1199976 h 2787466"/>
              <a:gd name="connsiteX1666" fmla="*/ 2812582 w 3600000"/>
              <a:gd name="connsiteY1666" fmla="*/ 1199092 h 2787466"/>
              <a:gd name="connsiteX1667" fmla="*/ 2827885 w 3600000"/>
              <a:gd name="connsiteY1667" fmla="*/ 1196046 h 2787466"/>
              <a:gd name="connsiteX1668" fmla="*/ 2807196 w 3600000"/>
              <a:gd name="connsiteY1668" fmla="*/ 1206880 h 2787466"/>
              <a:gd name="connsiteX1669" fmla="*/ 2808281 w 3600000"/>
              <a:gd name="connsiteY1669" fmla="*/ 1212716 h 2787466"/>
              <a:gd name="connsiteX1670" fmla="*/ 2816207 w 3600000"/>
              <a:gd name="connsiteY1670" fmla="*/ 1209025 h 2787466"/>
              <a:gd name="connsiteX1671" fmla="*/ 2837110 w 3600000"/>
              <a:gd name="connsiteY1671" fmla="*/ 1198401 h 2787466"/>
              <a:gd name="connsiteX1672" fmla="*/ 2834899 w 3600000"/>
              <a:gd name="connsiteY1672" fmla="*/ 1199208 h 2787466"/>
              <a:gd name="connsiteX1673" fmla="*/ 2827885 w 3600000"/>
              <a:gd name="connsiteY1673" fmla="*/ 1196046 h 2787466"/>
              <a:gd name="connsiteX1674" fmla="*/ 2842638 w 3600000"/>
              <a:gd name="connsiteY1674" fmla="*/ 1189889 h 2787466"/>
              <a:gd name="connsiteX1675" fmla="*/ 2837947 w 3600000"/>
              <a:gd name="connsiteY1675" fmla="*/ 1191973 h 2787466"/>
              <a:gd name="connsiteX1676" fmla="*/ 2835759 w 3600000"/>
              <a:gd name="connsiteY1676" fmla="*/ 1192778 h 2787466"/>
              <a:gd name="connsiteX1677" fmla="*/ 2838320 w 3600000"/>
              <a:gd name="connsiteY1677" fmla="*/ 1197786 h 2787466"/>
              <a:gd name="connsiteX1678" fmla="*/ 2839606 w 3600000"/>
              <a:gd name="connsiteY1678" fmla="*/ 1197133 h 2787466"/>
              <a:gd name="connsiteX1679" fmla="*/ 2842205 w 3600000"/>
              <a:gd name="connsiteY1679" fmla="*/ 1194855 h 2787466"/>
              <a:gd name="connsiteX1680" fmla="*/ 2841974 w 3600000"/>
              <a:gd name="connsiteY1680" fmla="*/ 1195031 h 2787466"/>
              <a:gd name="connsiteX1681" fmla="*/ 2419052 w 3600000"/>
              <a:gd name="connsiteY1681" fmla="*/ 1188027 h 2787466"/>
              <a:gd name="connsiteX1682" fmla="*/ 2409985 w 3600000"/>
              <a:gd name="connsiteY1682" fmla="*/ 1199033 h 2787466"/>
              <a:gd name="connsiteX1683" fmla="*/ 2411379 w 3600000"/>
              <a:gd name="connsiteY1683" fmla="*/ 1198696 h 2787466"/>
              <a:gd name="connsiteX1684" fmla="*/ 2411457 w 3600000"/>
              <a:gd name="connsiteY1684" fmla="*/ 1197962 h 2787466"/>
              <a:gd name="connsiteX1685" fmla="*/ 2414518 w 3600000"/>
              <a:gd name="connsiteY1685" fmla="*/ 1197936 h 2787466"/>
              <a:gd name="connsiteX1686" fmla="*/ 2418021 w 3600000"/>
              <a:gd name="connsiteY1686" fmla="*/ 1197088 h 2787466"/>
              <a:gd name="connsiteX1687" fmla="*/ 2421537 w 3600000"/>
              <a:gd name="connsiteY1687" fmla="*/ 1193097 h 2787466"/>
              <a:gd name="connsiteX1688" fmla="*/ 2421607 w 3600000"/>
              <a:gd name="connsiteY1688" fmla="*/ 1191032 h 2787466"/>
              <a:gd name="connsiteX1689" fmla="*/ 2423357 w 3600000"/>
              <a:gd name="connsiteY1689" fmla="*/ 1191032 h 2787466"/>
              <a:gd name="connsiteX1690" fmla="*/ 2424203 w 3600000"/>
              <a:gd name="connsiteY1690" fmla="*/ 1190071 h 2787466"/>
              <a:gd name="connsiteX1691" fmla="*/ 2419052 w 3600000"/>
              <a:gd name="connsiteY1691" fmla="*/ 1188027 h 2787466"/>
              <a:gd name="connsiteX1692" fmla="*/ 2429355 w 3600000"/>
              <a:gd name="connsiteY1692" fmla="*/ 1185984 h 2787466"/>
              <a:gd name="connsiteX1693" fmla="*/ 2430395 w 3600000"/>
              <a:gd name="connsiteY1693" fmla="*/ 1189684 h 2787466"/>
              <a:gd name="connsiteX1694" fmla="*/ 2429111 w 3600000"/>
              <a:gd name="connsiteY1694" fmla="*/ 1191032 h 2787466"/>
              <a:gd name="connsiteX1695" fmla="*/ 2429414 w 3600000"/>
              <a:gd name="connsiteY1695" fmla="*/ 1191032 h 2787466"/>
              <a:gd name="connsiteX1696" fmla="*/ 2430529 w 3600000"/>
              <a:gd name="connsiteY1696" fmla="*/ 1191032 h 2787466"/>
              <a:gd name="connsiteX1697" fmla="*/ 2429835 w 3600000"/>
              <a:gd name="connsiteY1697" fmla="*/ 1193942 h 2787466"/>
              <a:gd name="connsiteX1698" fmla="*/ 2431802 w 3600000"/>
              <a:gd name="connsiteY1698" fmla="*/ 1191997 h 2787466"/>
              <a:gd name="connsiteX1699" fmla="*/ 2429355 w 3600000"/>
              <a:gd name="connsiteY1699" fmla="*/ 1185984 h 2787466"/>
              <a:gd name="connsiteX1700" fmla="*/ 2528665 w 3600000"/>
              <a:gd name="connsiteY1700" fmla="*/ 1183273 h 2787466"/>
              <a:gd name="connsiteX1701" fmla="*/ 2526911 w 3600000"/>
              <a:gd name="connsiteY1701" fmla="*/ 1183378 h 2787466"/>
              <a:gd name="connsiteX1702" fmla="*/ 2527054 w 3600000"/>
              <a:gd name="connsiteY1702" fmla="*/ 1185154 h 2787466"/>
              <a:gd name="connsiteX1703" fmla="*/ 2528730 w 3600000"/>
              <a:gd name="connsiteY1703" fmla="*/ 1184333 h 2787466"/>
              <a:gd name="connsiteX1704" fmla="*/ 2866959 w 3600000"/>
              <a:gd name="connsiteY1704" fmla="*/ 1179246 h 2787466"/>
              <a:gd name="connsiteX1705" fmla="*/ 2868204 w 3600000"/>
              <a:gd name="connsiteY1705" fmla="*/ 1183280 h 2787466"/>
              <a:gd name="connsiteX1706" fmla="*/ 2869222 w 3600000"/>
              <a:gd name="connsiteY1706" fmla="*/ 1183156 h 2787466"/>
              <a:gd name="connsiteX1707" fmla="*/ 2869340 w 3600000"/>
              <a:gd name="connsiteY1707" fmla="*/ 1186967 h 2787466"/>
              <a:gd name="connsiteX1708" fmla="*/ 2869367 w 3600000"/>
              <a:gd name="connsiteY1708" fmla="*/ 1187052 h 2787466"/>
              <a:gd name="connsiteX1709" fmla="*/ 2870771 w 3600000"/>
              <a:gd name="connsiteY1709" fmla="*/ 1187052 h 2787466"/>
              <a:gd name="connsiteX1710" fmla="*/ 2868163 w 3600000"/>
              <a:gd name="connsiteY1710" fmla="*/ 1189960 h 2787466"/>
              <a:gd name="connsiteX1711" fmla="*/ 2865249 w 3600000"/>
              <a:gd name="connsiteY1711" fmla="*/ 1189279 h 2787466"/>
              <a:gd name="connsiteX1712" fmla="*/ 2854078 w 3600000"/>
              <a:gd name="connsiteY1712" fmla="*/ 1192256 h 2787466"/>
              <a:gd name="connsiteX1713" fmla="*/ 2857334 w 3600000"/>
              <a:gd name="connsiteY1713" fmla="*/ 1184599 h 2787466"/>
              <a:gd name="connsiteX1714" fmla="*/ 2863640 w 3600000"/>
              <a:gd name="connsiteY1714" fmla="*/ 1183834 h 2787466"/>
              <a:gd name="connsiteX1715" fmla="*/ 2480253 w 3600000"/>
              <a:gd name="connsiteY1715" fmla="*/ 1173091 h 2787466"/>
              <a:gd name="connsiteX1716" fmla="*/ 2481489 w 3600000"/>
              <a:gd name="connsiteY1716" fmla="*/ 1181110 h 2787466"/>
              <a:gd name="connsiteX1717" fmla="*/ 2473658 w 3600000"/>
              <a:gd name="connsiteY1717" fmla="*/ 1176079 h 2787466"/>
              <a:gd name="connsiteX1718" fmla="*/ 2467271 w 3600000"/>
              <a:gd name="connsiteY1718" fmla="*/ 1182053 h 2787466"/>
              <a:gd name="connsiteX1719" fmla="*/ 2479017 w 3600000"/>
              <a:gd name="connsiteY1719" fmla="*/ 1184097 h 2787466"/>
              <a:gd name="connsiteX1720" fmla="*/ 2463355 w 3600000"/>
              <a:gd name="connsiteY1720" fmla="*/ 1191015 h 2787466"/>
              <a:gd name="connsiteX1721" fmla="*/ 2451610 w 3600000"/>
              <a:gd name="connsiteY1721" fmla="*/ 1185040 h 2787466"/>
              <a:gd name="connsiteX1722" fmla="*/ 2456761 w 3600000"/>
              <a:gd name="connsiteY1722" fmla="*/ 1190071 h 2787466"/>
              <a:gd name="connsiteX1723" fmla="*/ 2441101 w 3600000"/>
              <a:gd name="connsiteY1723" fmla="*/ 1196046 h 2787466"/>
              <a:gd name="connsiteX1724" fmla="*/ 2442153 w 3600000"/>
              <a:gd name="connsiteY1724" fmla="*/ 1195973 h 2787466"/>
              <a:gd name="connsiteX1725" fmla="*/ 2443250 w 3600000"/>
              <a:gd name="connsiteY1725" fmla="*/ 1195007 h 2787466"/>
              <a:gd name="connsiteX1726" fmla="*/ 2447042 w 3600000"/>
              <a:gd name="connsiteY1726" fmla="*/ 1195563 h 2787466"/>
              <a:gd name="connsiteX1727" fmla="*/ 2447086 w 3600000"/>
              <a:gd name="connsiteY1727" fmla="*/ 1195631 h 2787466"/>
              <a:gd name="connsiteX1728" fmla="*/ 2470285 w 3600000"/>
              <a:gd name="connsiteY1728" fmla="*/ 1194022 h 2787466"/>
              <a:gd name="connsiteX1729" fmla="*/ 2498387 w 3600000"/>
              <a:gd name="connsiteY1729" fmla="*/ 1185984 h 2787466"/>
              <a:gd name="connsiteX1730" fmla="*/ 2488084 w 3600000"/>
              <a:gd name="connsiteY1730" fmla="*/ 1185040 h 2787466"/>
              <a:gd name="connsiteX1731" fmla="*/ 2489320 w 3600000"/>
              <a:gd name="connsiteY1731" fmla="*/ 1173091 h 2787466"/>
              <a:gd name="connsiteX1732" fmla="*/ 2480253 w 3600000"/>
              <a:gd name="connsiteY1732" fmla="*/ 1173091 h 2787466"/>
              <a:gd name="connsiteX1733" fmla="*/ 2533624 w 3600000"/>
              <a:gd name="connsiteY1733" fmla="*/ 1163186 h 2787466"/>
              <a:gd name="connsiteX1734" fmla="*/ 2530945 w 3600000"/>
              <a:gd name="connsiteY1734" fmla="*/ 1172148 h 2787466"/>
              <a:gd name="connsiteX1735" fmla="*/ 2533624 w 3600000"/>
              <a:gd name="connsiteY1735" fmla="*/ 1163186 h 2787466"/>
              <a:gd name="connsiteX1736" fmla="*/ 2525252 w 3600000"/>
              <a:gd name="connsiteY1736" fmla="*/ 1156347 h 2787466"/>
              <a:gd name="connsiteX1737" fmla="*/ 2519200 w 3600000"/>
              <a:gd name="connsiteY1737" fmla="*/ 1159255 h 2787466"/>
              <a:gd name="connsiteX1738" fmla="*/ 2511574 w 3600000"/>
              <a:gd name="connsiteY1738" fmla="*/ 1167117 h 2787466"/>
              <a:gd name="connsiteX1739" fmla="*/ 2510133 w 3600000"/>
              <a:gd name="connsiteY1739" fmla="*/ 1158312 h 2787466"/>
              <a:gd name="connsiteX1740" fmla="*/ 2504981 w 3600000"/>
              <a:gd name="connsiteY1740" fmla="*/ 1167117 h 2787466"/>
              <a:gd name="connsiteX1741" fmla="*/ 2515490 w 3600000"/>
              <a:gd name="connsiteY1741" fmla="*/ 1170104 h 2787466"/>
              <a:gd name="connsiteX1742" fmla="*/ 2501065 w 3600000"/>
              <a:gd name="connsiteY1742" fmla="*/ 1173091 h 2787466"/>
              <a:gd name="connsiteX1743" fmla="*/ 2498387 w 3600000"/>
              <a:gd name="connsiteY1743" fmla="*/ 1180166 h 2787466"/>
              <a:gd name="connsiteX1744" fmla="*/ 2511574 w 3600000"/>
              <a:gd name="connsiteY1744" fmla="*/ 1178123 h 2787466"/>
              <a:gd name="connsiteX1745" fmla="*/ 2503745 w 3600000"/>
              <a:gd name="connsiteY1745" fmla="*/ 1185984 h 2787466"/>
              <a:gd name="connsiteX1746" fmla="*/ 2513609 w 3600000"/>
              <a:gd name="connsiteY1746" fmla="*/ 1184019 h 2787466"/>
              <a:gd name="connsiteX1747" fmla="*/ 2524228 w 3600000"/>
              <a:gd name="connsiteY1747" fmla="*/ 1182112 h 2787466"/>
              <a:gd name="connsiteX1748" fmla="*/ 2525010 w 3600000"/>
              <a:gd name="connsiteY1748" fmla="*/ 1178349 h 2787466"/>
              <a:gd name="connsiteX1749" fmla="*/ 2523884 w 3600000"/>
              <a:gd name="connsiteY1749" fmla="*/ 1178700 h 2787466"/>
              <a:gd name="connsiteX1750" fmla="*/ 2516726 w 3600000"/>
              <a:gd name="connsiteY1750" fmla="*/ 1179065 h 2787466"/>
              <a:gd name="connsiteX1751" fmla="*/ 2523114 w 3600000"/>
              <a:gd name="connsiteY1751" fmla="*/ 1177179 h 2787466"/>
              <a:gd name="connsiteX1752" fmla="*/ 2517963 w 3600000"/>
              <a:gd name="connsiteY1752" fmla="*/ 1171204 h 2787466"/>
              <a:gd name="connsiteX1753" fmla="*/ 2523114 w 3600000"/>
              <a:gd name="connsiteY1753" fmla="*/ 1174192 h 2787466"/>
              <a:gd name="connsiteX1754" fmla="*/ 2520642 w 3600000"/>
              <a:gd name="connsiteY1754" fmla="*/ 1167117 h 2787466"/>
              <a:gd name="connsiteX1755" fmla="*/ 2532388 w 3600000"/>
              <a:gd name="connsiteY1755" fmla="*/ 1157212 h 2787466"/>
              <a:gd name="connsiteX1756" fmla="*/ 2525252 w 3600000"/>
              <a:gd name="connsiteY1756" fmla="*/ 1156347 h 2787466"/>
              <a:gd name="connsiteX1757" fmla="*/ 2595946 w 3600000"/>
              <a:gd name="connsiteY1757" fmla="*/ 1155862 h 2787466"/>
              <a:gd name="connsiteX1758" fmla="*/ 2604998 w 3600000"/>
              <a:gd name="connsiteY1758" fmla="*/ 1155942 h 2787466"/>
              <a:gd name="connsiteX1759" fmla="*/ 2602390 w 3600000"/>
              <a:gd name="connsiteY1759" fmla="*/ 1161061 h 2787466"/>
              <a:gd name="connsiteX1760" fmla="*/ 2589752 w 3600000"/>
              <a:gd name="connsiteY1760" fmla="*/ 1161061 h 2787466"/>
              <a:gd name="connsiteX1761" fmla="*/ 2595946 w 3600000"/>
              <a:gd name="connsiteY1761" fmla="*/ 1155862 h 2787466"/>
              <a:gd name="connsiteX1762" fmla="*/ 2904387 w 3600000"/>
              <a:gd name="connsiteY1762" fmla="*/ 1151041 h 2787466"/>
              <a:gd name="connsiteX1763" fmla="*/ 2899596 w 3600000"/>
              <a:gd name="connsiteY1763" fmla="*/ 1155324 h 2787466"/>
              <a:gd name="connsiteX1764" fmla="*/ 2915051 w 3600000"/>
              <a:gd name="connsiteY1764" fmla="*/ 1151237 h 2787466"/>
              <a:gd name="connsiteX1765" fmla="*/ 2904387 w 3600000"/>
              <a:gd name="connsiteY1765" fmla="*/ 1151041 h 2787466"/>
              <a:gd name="connsiteX1766" fmla="*/ 2615054 w 3600000"/>
              <a:gd name="connsiteY1766" fmla="*/ 1141342 h 2787466"/>
              <a:gd name="connsiteX1767" fmla="*/ 2616282 w 3600000"/>
              <a:gd name="connsiteY1767" fmla="*/ 1145168 h 2787466"/>
              <a:gd name="connsiteX1768" fmla="*/ 2603381 w 3600000"/>
              <a:gd name="connsiteY1768" fmla="*/ 1148076 h 2787466"/>
              <a:gd name="connsiteX1769" fmla="*/ 2613825 w 3600000"/>
              <a:gd name="connsiteY1769" fmla="*/ 1142260 h 2787466"/>
              <a:gd name="connsiteX1770" fmla="*/ 2615054 w 3600000"/>
              <a:gd name="connsiteY1770" fmla="*/ 1141342 h 2787466"/>
              <a:gd name="connsiteX1771" fmla="*/ 2927815 w 3600000"/>
              <a:gd name="connsiteY1771" fmla="*/ 1140770 h 2787466"/>
              <a:gd name="connsiteX1772" fmla="*/ 2928041 w 3600000"/>
              <a:gd name="connsiteY1772" fmla="*/ 1141313 h 2787466"/>
              <a:gd name="connsiteX1773" fmla="*/ 2929511 w 3600000"/>
              <a:gd name="connsiteY1773" fmla="*/ 1141056 h 2787466"/>
              <a:gd name="connsiteX1774" fmla="*/ 3003660 w 3600000"/>
              <a:gd name="connsiteY1774" fmla="*/ 1137402 h 2787466"/>
              <a:gd name="connsiteX1775" fmla="*/ 2995829 w 3600000"/>
              <a:gd name="connsiteY1775" fmla="*/ 1140388 h 2787466"/>
              <a:gd name="connsiteX1776" fmla="*/ 2996035 w 3600000"/>
              <a:gd name="connsiteY1776" fmla="*/ 1145204 h 2787466"/>
              <a:gd name="connsiteX1777" fmla="*/ 3001069 w 3600000"/>
              <a:gd name="connsiteY1777" fmla="*/ 1146336 h 2787466"/>
              <a:gd name="connsiteX1778" fmla="*/ 3001262 w 3600000"/>
              <a:gd name="connsiteY1778" fmla="*/ 1146093 h 2787466"/>
              <a:gd name="connsiteX1779" fmla="*/ 2964366 w 3600000"/>
              <a:gd name="connsiteY1779" fmla="*/ 1136957 h 2787466"/>
              <a:gd name="connsiteX1780" fmla="*/ 2962961 w 3600000"/>
              <a:gd name="connsiteY1780" fmla="*/ 1146012 h 2787466"/>
              <a:gd name="connsiteX1781" fmla="*/ 2964366 w 3600000"/>
              <a:gd name="connsiteY1781" fmla="*/ 1136957 h 2787466"/>
              <a:gd name="connsiteX1782" fmla="*/ 2620949 w 3600000"/>
              <a:gd name="connsiteY1782" fmla="*/ 1136957 h 2787466"/>
              <a:gd name="connsiteX1783" fmla="*/ 2628622 w 3600000"/>
              <a:gd name="connsiteY1783" fmla="*/ 1138960 h 2787466"/>
              <a:gd name="connsiteX1784" fmla="*/ 2619738 w 3600000"/>
              <a:gd name="connsiteY1784" fmla="*/ 1143735 h 2787466"/>
              <a:gd name="connsiteX1785" fmla="*/ 2620949 w 3600000"/>
              <a:gd name="connsiteY1785" fmla="*/ 1136957 h 2787466"/>
              <a:gd name="connsiteX1786" fmla="*/ 2928264 w 3600000"/>
              <a:gd name="connsiteY1786" fmla="*/ 1129384 h 2787466"/>
              <a:gd name="connsiteX1787" fmla="*/ 2928240 w 3600000"/>
              <a:gd name="connsiteY1787" fmla="*/ 1129395 h 2787466"/>
              <a:gd name="connsiteX1788" fmla="*/ 2928303 w 3600000"/>
              <a:gd name="connsiteY1788" fmla="*/ 1131018 h 2787466"/>
              <a:gd name="connsiteX1789" fmla="*/ 2930068 w 3600000"/>
              <a:gd name="connsiteY1789" fmla="*/ 1129892 h 2787466"/>
              <a:gd name="connsiteX1790" fmla="*/ 2930506 w 3600000"/>
              <a:gd name="connsiteY1790" fmla="*/ 1129527 h 2787466"/>
              <a:gd name="connsiteX1791" fmla="*/ 2966934 w 3600000"/>
              <a:gd name="connsiteY1791" fmla="*/ 1126557 h 2787466"/>
              <a:gd name="connsiteX1792" fmla="*/ 2973580 w 3600000"/>
              <a:gd name="connsiteY1792" fmla="*/ 1126557 h 2787466"/>
              <a:gd name="connsiteX1793" fmla="*/ 2968388 w 3600000"/>
              <a:gd name="connsiteY1793" fmla="*/ 1134717 h 2787466"/>
              <a:gd name="connsiteX1794" fmla="*/ 2960495 w 3600000"/>
              <a:gd name="connsiteY1794" fmla="*/ 1130717 h 2787466"/>
              <a:gd name="connsiteX1795" fmla="*/ 2966934 w 3600000"/>
              <a:gd name="connsiteY1795" fmla="*/ 1126557 h 2787466"/>
              <a:gd name="connsiteX1796" fmla="*/ 2944714 w 3600000"/>
              <a:gd name="connsiteY1796" fmla="*/ 1121996 h 2787466"/>
              <a:gd name="connsiteX1797" fmla="*/ 2942725 w 3600000"/>
              <a:gd name="connsiteY1797" fmla="*/ 1122840 h 2787466"/>
              <a:gd name="connsiteX1798" fmla="*/ 2941172 w 3600000"/>
              <a:gd name="connsiteY1798" fmla="*/ 1128244 h 2787466"/>
              <a:gd name="connsiteX1799" fmla="*/ 2942884 w 3600000"/>
              <a:gd name="connsiteY1799" fmla="*/ 1128516 h 2787466"/>
              <a:gd name="connsiteX1800" fmla="*/ 2944227 w 3600000"/>
              <a:gd name="connsiteY1800" fmla="*/ 1123920 h 2787466"/>
              <a:gd name="connsiteX1801" fmla="*/ 2999410 w 3600000"/>
              <a:gd name="connsiteY1801" fmla="*/ 1115807 h 2787466"/>
              <a:gd name="connsiteX1802" fmla="*/ 2993043 w 3600000"/>
              <a:gd name="connsiteY1802" fmla="*/ 1117698 h 2787466"/>
              <a:gd name="connsiteX1803" fmla="*/ 2995893 w 3600000"/>
              <a:gd name="connsiteY1803" fmla="*/ 1121127 h 2787466"/>
              <a:gd name="connsiteX1804" fmla="*/ 2996051 w 3600000"/>
              <a:gd name="connsiteY1804" fmla="*/ 1121384 h 2787466"/>
              <a:gd name="connsiteX1805" fmla="*/ 3002783 w 3600000"/>
              <a:gd name="connsiteY1805" fmla="*/ 1117229 h 2787466"/>
              <a:gd name="connsiteX1806" fmla="*/ 2708615 w 3600000"/>
              <a:gd name="connsiteY1806" fmla="*/ 1112937 h 2787466"/>
              <a:gd name="connsiteX1807" fmla="*/ 2714381 w 3600000"/>
              <a:gd name="connsiteY1807" fmla="*/ 1114242 h 2787466"/>
              <a:gd name="connsiteX1808" fmla="*/ 2707880 w 3600000"/>
              <a:gd name="connsiteY1808" fmla="*/ 1118483 h 2787466"/>
              <a:gd name="connsiteX1809" fmla="*/ 2708615 w 3600000"/>
              <a:gd name="connsiteY1809" fmla="*/ 1112937 h 2787466"/>
              <a:gd name="connsiteX1810" fmla="*/ 2680660 w 3600000"/>
              <a:gd name="connsiteY1810" fmla="*/ 1106453 h 2787466"/>
              <a:gd name="connsiteX1811" fmla="*/ 2688846 w 3600000"/>
              <a:gd name="connsiteY1811" fmla="*/ 1112345 h 2787466"/>
              <a:gd name="connsiteX1812" fmla="*/ 2694736 w 3600000"/>
              <a:gd name="connsiteY1812" fmla="*/ 1109226 h 2787466"/>
              <a:gd name="connsiteX1813" fmla="*/ 2677894 w 3600000"/>
              <a:gd name="connsiteY1813" fmla="*/ 1117161 h 2787466"/>
              <a:gd name="connsiteX1814" fmla="*/ 2684654 w 3600000"/>
              <a:gd name="connsiteY1814" fmla="*/ 1114424 h 2787466"/>
              <a:gd name="connsiteX1815" fmla="*/ 2683315 w 3600000"/>
              <a:gd name="connsiteY1815" fmla="*/ 1112407 h 2787466"/>
              <a:gd name="connsiteX1816" fmla="*/ 2658812 w 3600000"/>
              <a:gd name="connsiteY1816" fmla="*/ 1129174 h 2787466"/>
              <a:gd name="connsiteX1817" fmla="*/ 2658940 w 3600000"/>
              <a:gd name="connsiteY1817" fmla="*/ 1128854 h 2787466"/>
              <a:gd name="connsiteX1818" fmla="*/ 2658230 w 3600000"/>
              <a:gd name="connsiteY1818" fmla="*/ 1129711 h 2787466"/>
              <a:gd name="connsiteX1819" fmla="*/ 2647907 w 3600000"/>
              <a:gd name="connsiteY1819" fmla="*/ 1134723 h 2787466"/>
              <a:gd name="connsiteX1820" fmla="*/ 2654798 w 3600000"/>
              <a:gd name="connsiteY1820" fmla="*/ 1128621 h 2787466"/>
              <a:gd name="connsiteX1821" fmla="*/ 2660444 w 3600000"/>
              <a:gd name="connsiteY1821" fmla="*/ 1125120 h 2787466"/>
              <a:gd name="connsiteX1822" fmla="*/ 2661651 w 3600000"/>
              <a:gd name="connsiteY1822" fmla="*/ 1122120 h 2787466"/>
              <a:gd name="connsiteX1823" fmla="*/ 2680660 w 3600000"/>
              <a:gd name="connsiteY1823" fmla="*/ 1106453 h 2787466"/>
              <a:gd name="connsiteX1824" fmla="*/ 30238 w 3600000"/>
              <a:gd name="connsiteY1824" fmla="*/ 1105760 h 2787466"/>
              <a:gd name="connsiteX1825" fmla="*/ 37962 w 3600000"/>
              <a:gd name="connsiteY1825" fmla="*/ 1110567 h 2787466"/>
              <a:gd name="connsiteX1826" fmla="*/ 21295 w 3600000"/>
              <a:gd name="connsiteY1826" fmla="*/ 1126229 h 2787466"/>
              <a:gd name="connsiteX1827" fmla="*/ 13571 w 3600000"/>
              <a:gd name="connsiteY1827" fmla="*/ 1129176 h 2787466"/>
              <a:gd name="connsiteX1828" fmla="*/ 18652 w 3600000"/>
              <a:gd name="connsiteY1828" fmla="*/ 1115529 h 2787466"/>
              <a:gd name="connsiteX1829" fmla="*/ 30238 w 3600000"/>
              <a:gd name="connsiteY1829" fmla="*/ 1105760 h 2787466"/>
              <a:gd name="connsiteX1830" fmla="*/ 175697 w 3600000"/>
              <a:gd name="connsiteY1830" fmla="*/ 1102728 h 2787466"/>
              <a:gd name="connsiteX1831" fmla="*/ 157356 w 3600000"/>
              <a:gd name="connsiteY1831" fmla="*/ 1118605 h 2787466"/>
              <a:gd name="connsiteX1832" fmla="*/ 147051 w 3600000"/>
              <a:gd name="connsiteY1832" fmla="*/ 1115618 h 2787466"/>
              <a:gd name="connsiteX1833" fmla="*/ 136541 w 3600000"/>
              <a:gd name="connsiteY1833" fmla="*/ 1146428 h 2787466"/>
              <a:gd name="connsiteX1834" fmla="*/ 144372 w 3600000"/>
              <a:gd name="connsiteY1834" fmla="*/ 1148314 h 2787466"/>
              <a:gd name="connsiteX1835" fmla="*/ 160034 w 3600000"/>
              <a:gd name="connsiteY1835" fmla="*/ 1138411 h 2787466"/>
              <a:gd name="connsiteX1836" fmla="*/ 175697 w 3600000"/>
              <a:gd name="connsiteY1836" fmla="*/ 1102728 h 2787466"/>
              <a:gd name="connsiteX1837" fmla="*/ 2708890 w 3600000"/>
              <a:gd name="connsiteY1837" fmla="*/ 1102238 h 2787466"/>
              <a:gd name="connsiteX1838" fmla="*/ 2698793 w 3600000"/>
              <a:gd name="connsiteY1838" fmla="*/ 1107068 h 2787466"/>
              <a:gd name="connsiteX1839" fmla="*/ 2708890 w 3600000"/>
              <a:gd name="connsiteY1839" fmla="*/ 1102238 h 2787466"/>
              <a:gd name="connsiteX1840" fmla="*/ 2744620 w 3600000"/>
              <a:gd name="connsiteY1840" fmla="*/ 1097441 h 2787466"/>
              <a:gd name="connsiteX1841" fmla="*/ 2740749 w 3600000"/>
              <a:gd name="connsiteY1841" fmla="*/ 1104219 h 2787466"/>
              <a:gd name="connsiteX1842" fmla="*/ 2744620 w 3600000"/>
              <a:gd name="connsiteY1842" fmla="*/ 1097441 h 2787466"/>
              <a:gd name="connsiteX1843" fmla="*/ 3370763 w 3600000"/>
              <a:gd name="connsiteY1843" fmla="*/ 1093281 h 2787466"/>
              <a:gd name="connsiteX1844" fmla="*/ 3362939 w 3600000"/>
              <a:gd name="connsiteY1844" fmla="*/ 1102247 h 2787466"/>
              <a:gd name="connsiteX1845" fmla="*/ 3360467 w 3600000"/>
              <a:gd name="connsiteY1845" fmla="*/ 1111213 h 2787466"/>
              <a:gd name="connsiteX1846" fmla="*/ 3380030 w 3600000"/>
              <a:gd name="connsiteY1846" fmla="*/ 1105236 h 2787466"/>
              <a:gd name="connsiteX1847" fmla="*/ 3382501 w 3600000"/>
              <a:gd name="connsiteY1847" fmla="*/ 1112157 h 2787466"/>
              <a:gd name="connsiteX1848" fmla="*/ 3365615 w 3600000"/>
              <a:gd name="connsiteY1848" fmla="*/ 1114045 h 2787466"/>
              <a:gd name="connsiteX1849" fmla="*/ 3364380 w 3600000"/>
              <a:gd name="connsiteY1849" fmla="*/ 1141887 h 2787466"/>
              <a:gd name="connsiteX1850" fmla="*/ 3339670 w 3600000"/>
              <a:gd name="connsiteY1850" fmla="*/ 1173819 h 2787466"/>
              <a:gd name="connsiteX1851" fmla="*/ 3321343 w 3600000"/>
              <a:gd name="connsiteY1851" fmla="*/ 1206538 h 2787466"/>
              <a:gd name="connsiteX1852" fmla="*/ 3301781 w 3600000"/>
              <a:gd name="connsiteY1852" fmla="*/ 1246336 h 2787466"/>
              <a:gd name="connsiteX1853" fmla="*/ 3305692 w 3600000"/>
              <a:gd name="connsiteY1853" fmla="*/ 1217549 h 2787466"/>
              <a:gd name="connsiteX1854" fmla="*/ 3317430 w 3600000"/>
              <a:gd name="connsiteY1854" fmla="*/ 1182785 h 2787466"/>
              <a:gd name="connsiteX1855" fmla="*/ 3327134 w 3600000"/>
              <a:gd name="connsiteY1855" fmla="*/ 1165089 h 2787466"/>
              <a:gd name="connsiteX1856" fmla="*/ 3331389 w 3600000"/>
              <a:gd name="connsiteY1856" fmla="*/ 1155658 h 2787466"/>
              <a:gd name="connsiteX1857" fmla="*/ 3331437 w 3600000"/>
              <a:gd name="connsiteY1857" fmla="*/ 1152304 h 2787466"/>
              <a:gd name="connsiteX1858" fmla="*/ 3337996 w 3600000"/>
              <a:gd name="connsiteY1858" fmla="*/ 1141810 h 2787466"/>
              <a:gd name="connsiteX1859" fmla="*/ 3341031 w 3600000"/>
              <a:gd name="connsiteY1859" fmla="*/ 1147023 h 2787466"/>
              <a:gd name="connsiteX1860" fmla="*/ 3342697 w 3600000"/>
              <a:gd name="connsiteY1860" fmla="*/ 1147354 h 2787466"/>
              <a:gd name="connsiteX1861" fmla="*/ 3349966 w 3600000"/>
              <a:gd name="connsiteY1861" fmla="*/ 1134966 h 2787466"/>
              <a:gd name="connsiteX1862" fmla="*/ 3340905 w 3600000"/>
              <a:gd name="connsiteY1862" fmla="*/ 1139056 h 2787466"/>
              <a:gd name="connsiteX1863" fmla="*/ 3357791 w 3600000"/>
              <a:gd name="connsiteY1863" fmla="*/ 1094225 h 2787466"/>
              <a:gd name="connsiteX1864" fmla="*/ 3365615 w 3600000"/>
              <a:gd name="connsiteY1864" fmla="*/ 1098157 h 2787466"/>
              <a:gd name="connsiteX1865" fmla="*/ 3370763 w 3600000"/>
              <a:gd name="connsiteY1865" fmla="*/ 1093281 h 2787466"/>
              <a:gd name="connsiteX1866" fmla="*/ 2755892 w 3600000"/>
              <a:gd name="connsiteY1866" fmla="*/ 1093044 h 2787466"/>
              <a:gd name="connsiteX1867" fmla="*/ 2758580 w 3600000"/>
              <a:gd name="connsiteY1867" fmla="*/ 1093221 h 2787466"/>
              <a:gd name="connsiteX1868" fmla="*/ 2749428 w 3600000"/>
              <a:gd name="connsiteY1868" fmla="*/ 1100058 h 2787466"/>
              <a:gd name="connsiteX1869" fmla="*/ 2755892 w 3600000"/>
              <a:gd name="connsiteY1869" fmla="*/ 1093044 h 2787466"/>
              <a:gd name="connsiteX1870" fmla="*/ 2746747 w 3600000"/>
              <a:gd name="connsiteY1870" fmla="*/ 1084269 h 2787466"/>
              <a:gd name="connsiteX1871" fmla="*/ 2735141 w 3600000"/>
              <a:gd name="connsiteY1871" fmla="*/ 1091047 h 2787466"/>
              <a:gd name="connsiteX1872" fmla="*/ 2746747 w 3600000"/>
              <a:gd name="connsiteY1872" fmla="*/ 1084269 h 2787466"/>
              <a:gd name="connsiteX1873" fmla="*/ 3370662 w 3600000"/>
              <a:gd name="connsiteY1873" fmla="*/ 1083496 h 2787466"/>
              <a:gd name="connsiteX1874" fmla="*/ 3379191 w 3600000"/>
              <a:gd name="connsiteY1874" fmla="*/ 1086468 h 2787466"/>
              <a:gd name="connsiteX1875" fmla="*/ 3362134 w 3600000"/>
              <a:gd name="connsiteY1875" fmla="*/ 1086468 h 2787466"/>
              <a:gd name="connsiteX1876" fmla="*/ 3370662 w 3600000"/>
              <a:gd name="connsiteY1876" fmla="*/ 1083496 h 2787466"/>
              <a:gd name="connsiteX1877" fmla="*/ 3050301 w 3600000"/>
              <a:gd name="connsiteY1877" fmla="*/ 1082390 h 2787466"/>
              <a:gd name="connsiteX1878" fmla="*/ 3046233 w 3600000"/>
              <a:gd name="connsiteY1878" fmla="*/ 1085858 h 2787466"/>
              <a:gd name="connsiteX1879" fmla="*/ 3031858 w 3600000"/>
              <a:gd name="connsiteY1879" fmla="*/ 1089956 h 2787466"/>
              <a:gd name="connsiteX1880" fmla="*/ 3020358 w 3600000"/>
              <a:gd name="connsiteY1880" fmla="*/ 1098783 h 2787466"/>
              <a:gd name="connsiteX1881" fmla="*/ 3024054 w 3600000"/>
              <a:gd name="connsiteY1881" fmla="*/ 1104773 h 2787466"/>
              <a:gd name="connsiteX1882" fmla="*/ 3016332 w 3600000"/>
              <a:gd name="connsiteY1882" fmla="*/ 1108298 h 2787466"/>
              <a:gd name="connsiteX1883" fmla="*/ 3018084 w 3600000"/>
              <a:gd name="connsiteY1883" fmla="*/ 1111617 h 2787466"/>
              <a:gd name="connsiteX1884" fmla="*/ 3033745 w 3600000"/>
              <a:gd name="connsiteY1884" fmla="*/ 1105642 h 2787466"/>
              <a:gd name="connsiteX1885" fmla="*/ 3025915 w 3600000"/>
              <a:gd name="connsiteY1885" fmla="*/ 1113503 h 2787466"/>
              <a:gd name="connsiteX1886" fmla="*/ 3042811 w 3600000"/>
              <a:gd name="connsiteY1886" fmla="*/ 1103598 h 2787466"/>
              <a:gd name="connsiteX1887" fmla="*/ 3042811 w 3600000"/>
              <a:gd name="connsiteY1887" fmla="*/ 1107529 h 2787466"/>
              <a:gd name="connsiteX1888" fmla="*/ 3045285 w 3600000"/>
              <a:gd name="connsiteY1888" fmla="*/ 1110516 h 2787466"/>
              <a:gd name="connsiteX1889" fmla="*/ 3034982 w 3600000"/>
              <a:gd name="connsiteY1889" fmla="*/ 1114447 h 2787466"/>
              <a:gd name="connsiteX1890" fmla="*/ 3036218 w 3600000"/>
              <a:gd name="connsiteY1890" fmla="*/ 1119478 h 2787466"/>
              <a:gd name="connsiteX1891" fmla="*/ 3048202 w 3600000"/>
              <a:gd name="connsiteY1891" fmla="*/ 1111536 h 2787466"/>
              <a:gd name="connsiteX1892" fmla="*/ 3048511 w 3600000"/>
              <a:gd name="connsiteY1892" fmla="*/ 1109477 h 2787466"/>
              <a:gd name="connsiteX1893" fmla="*/ 3047842 w 3600000"/>
              <a:gd name="connsiteY1893" fmla="*/ 1092813 h 2787466"/>
              <a:gd name="connsiteX1894" fmla="*/ 3156148 w 3600000"/>
              <a:gd name="connsiteY1894" fmla="*/ 1080801 h 2787466"/>
              <a:gd name="connsiteX1895" fmla="*/ 3145355 w 3600000"/>
              <a:gd name="connsiteY1895" fmla="*/ 1089330 h 2787466"/>
              <a:gd name="connsiteX1896" fmla="*/ 3138535 w 3600000"/>
              <a:gd name="connsiteY1896" fmla="*/ 1096502 h 2787466"/>
              <a:gd name="connsiteX1897" fmla="*/ 3138646 w 3600000"/>
              <a:gd name="connsiteY1897" fmla="*/ 1096667 h 2787466"/>
              <a:gd name="connsiteX1898" fmla="*/ 3138641 w 3600000"/>
              <a:gd name="connsiteY1898" fmla="*/ 1097460 h 2787466"/>
              <a:gd name="connsiteX1899" fmla="*/ 3149761 w 3600000"/>
              <a:gd name="connsiteY1899" fmla="*/ 1091511 h 2787466"/>
              <a:gd name="connsiteX1900" fmla="*/ 3156148 w 3600000"/>
              <a:gd name="connsiteY1900" fmla="*/ 1080801 h 2787466"/>
              <a:gd name="connsiteX1901" fmla="*/ 2798006 w 3600000"/>
              <a:gd name="connsiteY1901" fmla="*/ 1079700 h 2787466"/>
              <a:gd name="connsiteX1902" fmla="*/ 2788939 w 3600000"/>
              <a:gd name="connsiteY1902" fmla="*/ 1091649 h 2787466"/>
              <a:gd name="connsiteX1903" fmla="*/ 2791946 w 3600000"/>
              <a:gd name="connsiteY1903" fmla="*/ 1091525 h 2787466"/>
              <a:gd name="connsiteX1904" fmla="*/ 2793013 w 3600000"/>
              <a:gd name="connsiteY1904" fmla="*/ 1088428 h 2787466"/>
              <a:gd name="connsiteX1905" fmla="*/ 2794984 w 3600000"/>
              <a:gd name="connsiteY1905" fmla="*/ 1091399 h 2787466"/>
              <a:gd name="connsiteX1906" fmla="*/ 2794999 w 3600000"/>
              <a:gd name="connsiteY1906" fmla="*/ 1091398 h 2787466"/>
              <a:gd name="connsiteX1907" fmla="*/ 2805837 w 3600000"/>
              <a:gd name="connsiteY1907" fmla="*/ 1082687 h 2787466"/>
              <a:gd name="connsiteX1908" fmla="*/ 2798006 w 3600000"/>
              <a:gd name="connsiteY1908" fmla="*/ 1079700 h 2787466"/>
              <a:gd name="connsiteX1909" fmla="*/ 3211190 w 3600000"/>
              <a:gd name="connsiteY1909" fmla="*/ 1075950 h 2787466"/>
              <a:gd name="connsiteX1910" fmla="*/ 3204931 w 3600000"/>
              <a:gd name="connsiteY1910" fmla="*/ 1097975 h 2787466"/>
              <a:gd name="connsiteX1911" fmla="*/ 3211190 w 3600000"/>
              <a:gd name="connsiteY1911" fmla="*/ 1075950 h 2787466"/>
              <a:gd name="connsiteX1912" fmla="*/ 3029358 w 3600000"/>
              <a:gd name="connsiteY1912" fmla="*/ 1064857 h 2787466"/>
              <a:gd name="connsiteX1913" fmla="*/ 3034481 w 3600000"/>
              <a:gd name="connsiteY1913" fmla="*/ 1077870 h 2787466"/>
              <a:gd name="connsiteX1914" fmla="*/ 3029358 w 3600000"/>
              <a:gd name="connsiteY1914" fmla="*/ 1064857 h 2787466"/>
              <a:gd name="connsiteX1915" fmla="*/ 3373435 w 3600000"/>
              <a:gd name="connsiteY1915" fmla="*/ 1063471 h 2787466"/>
              <a:gd name="connsiteX1916" fmla="*/ 3360316 w 3600000"/>
              <a:gd name="connsiteY1916" fmla="*/ 1071438 h 2787466"/>
              <a:gd name="connsiteX1917" fmla="*/ 3373435 w 3600000"/>
              <a:gd name="connsiteY1917" fmla="*/ 1063471 h 2787466"/>
              <a:gd name="connsiteX1918" fmla="*/ 2824896 w 3600000"/>
              <a:gd name="connsiteY1918" fmla="*/ 1060936 h 2787466"/>
              <a:gd name="connsiteX1919" fmla="*/ 2822234 w 3600000"/>
              <a:gd name="connsiteY1919" fmla="*/ 1068861 h 2787466"/>
              <a:gd name="connsiteX1920" fmla="*/ 2811790 w 3600000"/>
              <a:gd name="connsiteY1920" fmla="*/ 1068861 h 2787466"/>
              <a:gd name="connsiteX1921" fmla="*/ 2814452 w 3600000"/>
              <a:gd name="connsiteY1921" fmla="*/ 1062024 h 2787466"/>
              <a:gd name="connsiteX1922" fmla="*/ 2821005 w 3600000"/>
              <a:gd name="connsiteY1922" fmla="*/ 1063888 h 2787466"/>
              <a:gd name="connsiteX1923" fmla="*/ 2824896 w 3600000"/>
              <a:gd name="connsiteY1923" fmla="*/ 1060936 h 2787466"/>
              <a:gd name="connsiteX1924" fmla="*/ 143367 w 3600000"/>
              <a:gd name="connsiteY1924" fmla="*/ 1059545 h 2787466"/>
              <a:gd name="connsiteX1925" fmla="*/ 135586 w 3600000"/>
              <a:gd name="connsiteY1925" fmla="*/ 1076484 h 2787466"/>
              <a:gd name="connsiteX1926" fmla="*/ 143367 w 3600000"/>
              <a:gd name="connsiteY1926" fmla="*/ 1059545 h 2787466"/>
              <a:gd name="connsiteX1927" fmla="*/ 3390971 w 3600000"/>
              <a:gd name="connsiteY1927" fmla="*/ 1053071 h 2787466"/>
              <a:gd name="connsiteX1928" fmla="*/ 3384686 w 3600000"/>
              <a:gd name="connsiteY1928" fmla="*/ 1103523 h 2787466"/>
              <a:gd name="connsiteX1929" fmla="*/ 3390971 w 3600000"/>
              <a:gd name="connsiteY1929" fmla="*/ 1053071 h 2787466"/>
              <a:gd name="connsiteX1930" fmla="*/ 3456430 w 3600000"/>
              <a:gd name="connsiteY1930" fmla="*/ 1049605 h 2787466"/>
              <a:gd name="connsiteX1931" fmla="*/ 3433011 w 3600000"/>
              <a:gd name="connsiteY1931" fmla="*/ 1082032 h 2787466"/>
              <a:gd name="connsiteX1932" fmla="*/ 3456430 w 3600000"/>
              <a:gd name="connsiteY1932" fmla="*/ 1049605 h 2787466"/>
              <a:gd name="connsiteX1933" fmla="*/ 2850402 w 3600000"/>
              <a:gd name="connsiteY1933" fmla="*/ 1048792 h 2787466"/>
              <a:gd name="connsiteX1934" fmla="*/ 2849755 w 3600000"/>
              <a:gd name="connsiteY1934" fmla="*/ 1049277 h 2787466"/>
              <a:gd name="connsiteX1935" fmla="*/ 2848548 w 3600000"/>
              <a:gd name="connsiteY1935" fmla="*/ 1051717 h 2787466"/>
              <a:gd name="connsiteX1936" fmla="*/ 2849975 w 3600000"/>
              <a:gd name="connsiteY1936" fmla="*/ 1052885 h 2787466"/>
              <a:gd name="connsiteX1937" fmla="*/ 2851457 w 3600000"/>
              <a:gd name="connsiteY1937" fmla="*/ 1052278 h 2787466"/>
              <a:gd name="connsiteX1938" fmla="*/ 3344934 w 3600000"/>
              <a:gd name="connsiteY1938" fmla="*/ 1046832 h 2787466"/>
              <a:gd name="connsiteX1939" fmla="*/ 3342230 w 3600000"/>
              <a:gd name="connsiteY1939" fmla="*/ 1059845 h 2787466"/>
              <a:gd name="connsiteX1940" fmla="*/ 3344934 w 3600000"/>
              <a:gd name="connsiteY1940" fmla="*/ 1046832 h 2787466"/>
              <a:gd name="connsiteX1941" fmla="*/ 2830849 w 3600000"/>
              <a:gd name="connsiteY1941" fmla="*/ 1045849 h 2787466"/>
              <a:gd name="connsiteX1942" fmla="*/ 2832097 w 3600000"/>
              <a:gd name="connsiteY1942" fmla="*/ 1058702 h 2787466"/>
              <a:gd name="connsiteX1943" fmla="*/ 2825648 w 3600000"/>
              <a:gd name="connsiteY1943" fmla="*/ 1056664 h 2787466"/>
              <a:gd name="connsiteX1944" fmla="*/ 2825648 w 3600000"/>
              <a:gd name="connsiteY1944" fmla="*/ 1048827 h 2787466"/>
              <a:gd name="connsiteX1945" fmla="*/ 2832097 w 3600000"/>
              <a:gd name="connsiteY1945" fmla="*/ 1047730 h 2787466"/>
              <a:gd name="connsiteX1946" fmla="*/ 2830849 w 3600000"/>
              <a:gd name="connsiteY1946" fmla="*/ 1045849 h 2787466"/>
              <a:gd name="connsiteX1947" fmla="*/ 3038897 w 3600000"/>
              <a:gd name="connsiteY1947" fmla="*/ 1044954 h 2787466"/>
              <a:gd name="connsiteX1948" fmla="*/ 3034982 w 3600000"/>
              <a:gd name="connsiteY1948" fmla="*/ 1049985 h 2787466"/>
              <a:gd name="connsiteX1949" fmla="*/ 3037660 w 3600000"/>
              <a:gd name="connsiteY1949" fmla="*/ 1060833 h 2787466"/>
              <a:gd name="connsiteX1950" fmla="*/ 3035411 w 3600000"/>
              <a:gd name="connsiteY1950" fmla="*/ 1060655 h 2787466"/>
              <a:gd name="connsiteX1951" fmla="*/ 3034797 w 3600000"/>
              <a:gd name="connsiteY1951" fmla="*/ 1062617 h 2787466"/>
              <a:gd name="connsiteX1952" fmla="*/ 3029555 w 3600000"/>
              <a:gd name="connsiteY1952" fmla="*/ 1054458 h 2787466"/>
              <a:gd name="connsiteX1953" fmla="*/ 3030436 w 3600000"/>
              <a:gd name="connsiteY1953" fmla="*/ 1054952 h 2787466"/>
              <a:gd name="connsiteX1954" fmla="*/ 3030271 w 3600000"/>
              <a:gd name="connsiteY1954" fmla="*/ 1054487 h 2787466"/>
              <a:gd name="connsiteX1955" fmla="*/ 3027426 w 3600000"/>
              <a:gd name="connsiteY1955" fmla="*/ 1053106 h 2787466"/>
              <a:gd name="connsiteX1956" fmla="*/ 3025797 w 3600000"/>
              <a:gd name="connsiteY1956" fmla="*/ 1068917 h 2787466"/>
              <a:gd name="connsiteX1957" fmla="*/ 3011091 w 3600000"/>
              <a:gd name="connsiteY1957" fmla="*/ 1077466 h 2787466"/>
              <a:gd name="connsiteX1958" fmla="*/ 2998526 w 3600000"/>
              <a:gd name="connsiteY1958" fmla="*/ 1086742 h 2787466"/>
              <a:gd name="connsiteX1959" fmla="*/ 2998508 w 3600000"/>
              <a:gd name="connsiteY1959" fmla="*/ 1087719 h 2787466"/>
              <a:gd name="connsiteX1960" fmla="*/ 3015406 w 3600000"/>
              <a:gd name="connsiteY1960" fmla="*/ 1087719 h 2787466"/>
              <a:gd name="connsiteX1961" fmla="*/ 2985526 w 3600000"/>
              <a:gd name="connsiteY1961" fmla="*/ 1111617 h 2787466"/>
              <a:gd name="connsiteX1962" fmla="*/ 2989442 w 3600000"/>
              <a:gd name="connsiteY1962" fmla="*/ 1113503 h 2787466"/>
              <a:gd name="connsiteX1963" fmla="*/ 2981148 w 3600000"/>
              <a:gd name="connsiteY1963" fmla="*/ 1109926 h 2787466"/>
              <a:gd name="connsiteX1964" fmla="*/ 2979212 w 3600000"/>
              <a:gd name="connsiteY1964" fmla="*/ 1106760 h 2787466"/>
              <a:gd name="connsiteX1965" fmla="*/ 2975543 w 3600000"/>
              <a:gd name="connsiteY1965" fmla="*/ 1113587 h 2787466"/>
              <a:gd name="connsiteX1966" fmla="*/ 2975543 w 3600000"/>
              <a:gd name="connsiteY1966" fmla="*/ 1106673 h 2787466"/>
              <a:gd name="connsiteX1967" fmla="*/ 2973411 w 3600000"/>
              <a:gd name="connsiteY1967" fmla="*/ 1107076 h 2787466"/>
              <a:gd name="connsiteX1968" fmla="*/ 2972637 w 3600000"/>
              <a:gd name="connsiteY1968" fmla="*/ 1110078 h 2787466"/>
              <a:gd name="connsiteX1969" fmla="*/ 2970996 w 3600000"/>
              <a:gd name="connsiteY1969" fmla="*/ 1110612 h 2787466"/>
              <a:gd name="connsiteX1970" fmla="*/ 2971151 w 3600000"/>
              <a:gd name="connsiteY1970" fmla="*/ 1111505 h 2787466"/>
              <a:gd name="connsiteX1971" fmla="*/ 2972055 w 3600000"/>
              <a:gd name="connsiteY1971" fmla="*/ 1115203 h 2787466"/>
              <a:gd name="connsiteX1972" fmla="*/ 2970022 w 3600000"/>
              <a:gd name="connsiteY1972" fmla="*/ 1115402 h 2787466"/>
              <a:gd name="connsiteX1973" fmla="*/ 2972261 w 3600000"/>
              <a:gd name="connsiteY1973" fmla="*/ 1115761 h 2787466"/>
              <a:gd name="connsiteX1974" fmla="*/ 2973752 w 3600000"/>
              <a:gd name="connsiteY1974" fmla="*/ 1118281 h 2787466"/>
              <a:gd name="connsiteX1975" fmla="*/ 2974752 w 3600000"/>
              <a:gd name="connsiteY1975" fmla="*/ 1118371 h 2787466"/>
              <a:gd name="connsiteX1976" fmla="*/ 2976991 w 3600000"/>
              <a:gd name="connsiteY1976" fmla="*/ 1120502 h 2787466"/>
              <a:gd name="connsiteX1977" fmla="*/ 2964046 w 3600000"/>
              <a:gd name="connsiteY1977" fmla="*/ 1122700 h 2787466"/>
              <a:gd name="connsiteX1978" fmla="*/ 2956754 w 3600000"/>
              <a:gd name="connsiteY1978" fmla="*/ 1126048 h 2787466"/>
              <a:gd name="connsiteX1979" fmla="*/ 2955440 w 3600000"/>
              <a:gd name="connsiteY1979" fmla="*/ 1132370 h 2787466"/>
              <a:gd name="connsiteX1980" fmla="*/ 2946123 w 3600000"/>
              <a:gd name="connsiteY1980" fmla="*/ 1137457 h 2787466"/>
              <a:gd name="connsiteX1981" fmla="*/ 2942884 w 3600000"/>
              <a:gd name="connsiteY1981" fmla="*/ 1142346 h 2787466"/>
              <a:gd name="connsiteX1982" fmla="*/ 2940087 w 3600000"/>
              <a:gd name="connsiteY1982" fmla="*/ 1140686 h 2787466"/>
              <a:gd name="connsiteX1983" fmla="*/ 2937043 w 3600000"/>
              <a:gd name="connsiteY1983" fmla="*/ 1142227 h 2787466"/>
              <a:gd name="connsiteX1984" fmla="*/ 2939143 w 3600000"/>
              <a:gd name="connsiteY1984" fmla="*/ 1143805 h 2787466"/>
              <a:gd name="connsiteX1985" fmla="*/ 2939720 w 3600000"/>
              <a:gd name="connsiteY1985" fmla="*/ 1150224 h 2787466"/>
              <a:gd name="connsiteX1986" fmla="*/ 2933189 w 3600000"/>
              <a:gd name="connsiteY1986" fmla="*/ 1148075 h 2787466"/>
              <a:gd name="connsiteX1987" fmla="*/ 2930086 w 3600000"/>
              <a:gd name="connsiteY1987" fmla="*/ 1145746 h 2787466"/>
              <a:gd name="connsiteX1988" fmla="*/ 2927003 w 3600000"/>
              <a:gd name="connsiteY1988" fmla="*/ 1147307 h 2787466"/>
              <a:gd name="connsiteX1989" fmla="*/ 2927515 w 3600000"/>
              <a:gd name="connsiteY1989" fmla="*/ 1145242 h 2787466"/>
              <a:gd name="connsiteX1990" fmla="*/ 2926811 w 3600000"/>
              <a:gd name="connsiteY1990" fmla="*/ 1145222 h 2787466"/>
              <a:gd name="connsiteX1991" fmla="*/ 2925275 w 3600000"/>
              <a:gd name="connsiteY1991" fmla="*/ 1141431 h 2787466"/>
              <a:gd name="connsiteX1992" fmla="*/ 2925511 w 3600000"/>
              <a:gd name="connsiteY1992" fmla="*/ 1140955 h 2787466"/>
              <a:gd name="connsiteX1993" fmla="*/ 2925152 w 3600000"/>
              <a:gd name="connsiteY1993" fmla="*/ 1141171 h 2787466"/>
              <a:gd name="connsiteX1994" fmla="*/ 2918941 w 3600000"/>
              <a:gd name="connsiteY1994" fmla="*/ 1153045 h 2787466"/>
              <a:gd name="connsiteX1995" fmla="*/ 2903512 w 3600000"/>
              <a:gd name="connsiteY1995" fmla="*/ 1164287 h 2787466"/>
              <a:gd name="connsiteX1996" fmla="*/ 2893002 w 3600000"/>
              <a:gd name="connsiteY1996" fmla="*/ 1161299 h 2787466"/>
              <a:gd name="connsiteX1997" fmla="*/ 2882699 w 3600000"/>
              <a:gd name="connsiteY1997" fmla="*/ 1172148 h 2787466"/>
              <a:gd name="connsiteX1998" fmla="*/ 2875435 w 3600000"/>
              <a:gd name="connsiteY1998" fmla="*/ 1170694 h 2787466"/>
              <a:gd name="connsiteX1999" fmla="*/ 2874850 w 3600000"/>
              <a:gd name="connsiteY1999" fmla="*/ 1169878 h 2787466"/>
              <a:gd name="connsiteX2000" fmla="*/ 2857675 w 3600000"/>
              <a:gd name="connsiteY2000" fmla="*/ 1183208 h 2787466"/>
              <a:gd name="connsiteX2001" fmla="*/ 2848416 w 3600000"/>
              <a:gd name="connsiteY2001" fmla="*/ 1187321 h 2787466"/>
              <a:gd name="connsiteX2002" fmla="*/ 2846649 w 3600000"/>
              <a:gd name="connsiteY2002" fmla="*/ 1191478 h 2787466"/>
              <a:gd name="connsiteX2003" fmla="*/ 2843789 w 3600000"/>
              <a:gd name="connsiteY2003" fmla="*/ 1193652 h 2787466"/>
              <a:gd name="connsiteX2004" fmla="*/ 2848380 w 3600000"/>
              <a:gd name="connsiteY2004" fmla="*/ 1191983 h 2787466"/>
              <a:gd name="connsiteX2005" fmla="*/ 2853973 w 3600000"/>
              <a:gd name="connsiteY2005" fmla="*/ 1196194 h 2787466"/>
              <a:gd name="connsiteX2006" fmla="*/ 2814805 w 3600000"/>
              <a:gd name="connsiteY2006" fmla="*/ 1218683 h 2787466"/>
              <a:gd name="connsiteX2007" fmla="*/ 2808890 w 3600000"/>
              <a:gd name="connsiteY2007" fmla="*/ 1228789 h 2787466"/>
              <a:gd name="connsiteX2008" fmla="*/ 2810628 w 3600000"/>
              <a:gd name="connsiteY2008" fmla="*/ 1226410 h 2787466"/>
              <a:gd name="connsiteX2009" fmla="*/ 2827885 w 3600000"/>
              <a:gd name="connsiteY2009" fmla="*/ 1219787 h 2787466"/>
              <a:gd name="connsiteX2010" fmla="*/ 2829328 w 3600000"/>
              <a:gd name="connsiteY2010" fmla="*/ 1227806 h 2787466"/>
              <a:gd name="connsiteX2011" fmla="*/ 2839632 w 3600000"/>
              <a:gd name="connsiteY2011" fmla="*/ 1214913 h 2787466"/>
              <a:gd name="connsiteX2012" fmla="*/ 2839632 w 3600000"/>
              <a:gd name="connsiteY2012" fmla="*/ 1225761 h 2787466"/>
              <a:gd name="connsiteX2013" fmla="*/ 2843547 w 3600000"/>
              <a:gd name="connsiteY2013" fmla="*/ 1209881 h 2787466"/>
              <a:gd name="connsiteX2014" fmla="*/ 2852614 w 3600000"/>
              <a:gd name="connsiteY2014" fmla="*/ 1218843 h 2787466"/>
              <a:gd name="connsiteX2015" fmla="*/ 2855292 w 3600000"/>
              <a:gd name="connsiteY2015" fmla="*/ 1205951 h 2787466"/>
              <a:gd name="connsiteX2016" fmla="*/ 2870953 w 3600000"/>
              <a:gd name="connsiteY2016" fmla="*/ 1197933 h 2787466"/>
              <a:gd name="connsiteX2017" fmla="*/ 2876105 w 3600000"/>
              <a:gd name="connsiteY2017" fmla="*/ 1194002 h 2787466"/>
              <a:gd name="connsiteX2018" fmla="*/ 2890529 w 3600000"/>
              <a:gd name="connsiteY2018" fmla="*/ 1196046 h 2787466"/>
              <a:gd name="connsiteX2019" fmla="*/ 2885172 w 3600000"/>
              <a:gd name="connsiteY2019" fmla="*/ 1187084 h 2787466"/>
              <a:gd name="connsiteX2020" fmla="*/ 2904748 w 3600000"/>
              <a:gd name="connsiteY2020" fmla="*/ 1179065 h 2787466"/>
              <a:gd name="connsiteX2021" fmla="*/ 2890529 w 3600000"/>
              <a:gd name="connsiteY2021" fmla="*/ 1187084 h 2787466"/>
              <a:gd name="connsiteX2022" fmla="*/ 2929476 w 3600000"/>
              <a:gd name="connsiteY2022" fmla="*/ 1178123 h 2787466"/>
              <a:gd name="connsiteX2023" fmla="*/ 2947816 w 3600000"/>
              <a:gd name="connsiteY2023" fmla="*/ 1162243 h 2787466"/>
              <a:gd name="connsiteX2024" fmla="*/ 2930713 w 3600000"/>
              <a:gd name="connsiteY2024" fmla="*/ 1173091 h 2787466"/>
              <a:gd name="connsiteX2025" fmla="*/ 2920409 w 3600000"/>
              <a:gd name="connsiteY2025" fmla="*/ 1173091 h 2787466"/>
              <a:gd name="connsiteX2026" fmla="*/ 2923087 w 3600000"/>
              <a:gd name="connsiteY2026" fmla="*/ 1166173 h 2787466"/>
              <a:gd name="connsiteX2027" fmla="*/ 2949052 w 3600000"/>
              <a:gd name="connsiteY2027" fmla="*/ 1157212 h 2787466"/>
              <a:gd name="connsiteX2028" fmla="*/ 2956883 w 3600000"/>
              <a:gd name="connsiteY2028" fmla="*/ 1164287 h 2787466"/>
              <a:gd name="connsiteX2029" fmla="*/ 2981611 w 3600000"/>
              <a:gd name="connsiteY2029" fmla="*/ 1147307 h 2787466"/>
              <a:gd name="connsiteX2030" fmla="*/ 2980375 w 3600000"/>
              <a:gd name="connsiteY2030" fmla="*/ 1132370 h 2787466"/>
              <a:gd name="connsiteX2031" fmla="*/ 2982847 w 3600000"/>
              <a:gd name="connsiteY2031" fmla="*/ 1128439 h 2787466"/>
              <a:gd name="connsiteX2032" fmla="*/ 2998508 w 3600000"/>
              <a:gd name="connsiteY2032" fmla="*/ 1134414 h 2787466"/>
              <a:gd name="connsiteX2033" fmla="*/ 3001110 w 3600000"/>
              <a:gd name="connsiteY2033" fmla="*/ 1126789 h 2787466"/>
              <a:gd name="connsiteX2034" fmla="*/ 2996620 w 3600000"/>
              <a:gd name="connsiteY2034" fmla="*/ 1122311 h 2787466"/>
              <a:gd name="connsiteX2035" fmla="*/ 2997001 w 3600000"/>
              <a:gd name="connsiteY2035" fmla="*/ 1122929 h 2787466"/>
              <a:gd name="connsiteX2036" fmla="*/ 2993043 w 3600000"/>
              <a:gd name="connsiteY2036" fmla="*/ 1126683 h 2787466"/>
              <a:gd name="connsiteX2037" fmla="*/ 2978669 w 3600000"/>
              <a:gd name="connsiteY2037" fmla="*/ 1127787 h 2787466"/>
              <a:gd name="connsiteX2038" fmla="*/ 3024054 w 3600000"/>
              <a:gd name="connsiteY2038" fmla="*/ 1086961 h 2787466"/>
              <a:gd name="connsiteX2039" fmla="*/ 3035760 w 3600000"/>
              <a:gd name="connsiteY2039" fmla="*/ 1086961 h 2787466"/>
              <a:gd name="connsiteX2040" fmla="*/ 3033295 w 3600000"/>
              <a:gd name="connsiteY2040" fmla="*/ 1081917 h 2787466"/>
              <a:gd name="connsiteX2041" fmla="*/ 3043094 w 3600000"/>
              <a:gd name="connsiteY2041" fmla="*/ 1076107 h 2787466"/>
              <a:gd name="connsiteX2042" fmla="*/ 3052658 w 3600000"/>
              <a:gd name="connsiteY2042" fmla="*/ 1072454 h 2787466"/>
              <a:gd name="connsiteX2043" fmla="*/ 3054435 w 3600000"/>
              <a:gd name="connsiteY2043" fmla="*/ 1064987 h 2787466"/>
              <a:gd name="connsiteX2044" fmla="*/ 3052587 w 3600000"/>
              <a:gd name="connsiteY2044" fmla="*/ 1055825 h 2787466"/>
              <a:gd name="connsiteX2045" fmla="*/ 3051246 w 3600000"/>
              <a:gd name="connsiteY2045" fmla="*/ 1051530 h 2787466"/>
              <a:gd name="connsiteX2046" fmla="*/ 3047629 w 3600000"/>
              <a:gd name="connsiteY2046" fmla="*/ 1052527 h 2787466"/>
              <a:gd name="connsiteX2047" fmla="*/ 3044048 w 3600000"/>
              <a:gd name="connsiteY2047" fmla="*/ 1055959 h 2787466"/>
              <a:gd name="connsiteX2048" fmla="*/ 3038897 w 3600000"/>
              <a:gd name="connsiteY2048" fmla="*/ 1044954 h 2787466"/>
              <a:gd name="connsiteX2049" fmla="*/ 2683434 w 3600000"/>
              <a:gd name="connsiteY2049" fmla="*/ 1042909 h 2787466"/>
              <a:gd name="connsiteX2050" fmla="*/ 2681992 w 3600000"/>
              <a:gd name="connsiteY2050" fmla="*/ 1053915 h 2787466"/>
              <a:gd name="connsiteX2051" fmla="*/ 2689822 w 3600000"/>
              <a:gd name="connsiteY2051" fmla="*/ 1042909 h 2787466"/>
              <a:gd name="connsiteX2052" fmla="*/ 2687350 w 3600000"/>
              <a:gd name="connsiteY2052" fmla="*/ 1044010 h 2787466"/>
              <a:gd name="connsiteX2053" fmla="*/ 2683434 w 3600000"/>
              <a:gd name="connsiteY2053" fmla="*/ 1042909 h 2787466"/>
              <a:gd name="connsiteX2054" fmla="*/ 3235377 w 3600000"/>
              <a:gd name="connsiteY2054" fmla="*/ 1039206 h 2787466"/>
              <a:gd name="connsiteX2055" fmla="*/ 3234152 w 3600000"/>
              <a:gd name="connsiteY2055" fmla="*/ 1053119 h 2787466"/>
              <a:gd name="connsiteX2056" fmla="*/ 3221287 w 3600000"/>
              <a:gd name="connsiteY2056" fmla="*/ 1050149 h 2787466"/>
              <a:gd name="connsiteX2057" fmla="*/ 3235377 w 3600000"/>
              <a:gd name="connsiteY2057" fmla="*/ 1039206 h 2787466"/>
              <a:gd name="connsiteX2058" fmla="*/ 2880020 w 3600000"/>
              <a:gd name="connsiteY2058" fmla="*/ 1038036 h 2787466"/>
              <a:gd name="connsiteX2059" fmla="*/ 2867038 w 3600000"/>
              <a:gd name="connsiteY2059" fmla="*/ 1053915 h 2787466"/>
              <a:gd name="connsiteX2060" fmla="*/ 2880020 w 3600000"/>
              <a:gd name="connsiteY2060" fmla="*/ 1038036 h 2787466"/>
              <a:gd name="connsiteX2061" fmla="*/ 2811221 w 3600000"/>
              <a:gd name="connsiteY2061" fmla="*/ 1037336 h 2787466"/>
              <a:gd name="connsiteX2062" fmla="*/ 2819445 w 3600000"/>
              <a:gd name="connsiteY2062" fmla="*/ 1040809 h 2787466"/>
              <a:gd name="connsiteX2063" fmla="*/ 2811705 w 3600000"/>
              <a:gd name="connsiteY2063" fmla="*/ 1040809 h 2787466"/>
              <a:gd name="connsiteX2064" fmla="*/ 2811221 w 3600000"/>
              <a:gd name="connsiteY2064" fmla="*/ 1037336 h 2787466"/>
              <a:gd name="connsiteX2065" fmla="*/ 195275 w 3600000"/>
              <a:gd name="connsiteY2065" fmla="*/ 1031207 h 2787466"/>
              <a:gd name="connsiteX2066" fmla="*/ 183528 w 3600000"/>
              <a:gd name="connsiteY2066" fmla="*/ 1036080 h 2787466"/>
              <a:gd name="connsiteX2067" fmla="*/ 180849 w 3600000"/>
              <a:gd name="connsiteY2067" fmla="*/ 1048027 h 2787466"/>
              <a:gd name="connsiteX2068" fmla="*/ 195275 w 3600000"/>
              <a:gd name="connsiteY2068" fmla="*/ 1031207 h 2787466"/>
              <a:gd name="connsiteX2069" fmla="*/ 3163978 w 3600000"/>
              <a:gd name="connsiteY2069" fmla="*/ 1030018 h 2787466"/>
              <a:gd name="connsiteX2070" fmla="*/ 3146875 w 3600000"/>
              <a:gd name="connsiteY2070" fmla="*/ 1035992 h 2787466"/>
              <a:gd name="connsiteX2071" fmla="*/ 3160063 w 3600000"/>
              <a:gd name="connsiteY2071" fmla="*/ 1037093 h 2787466"/>
              <a:gd name="connsiteX2072" fmla="*/ 3145639 w 3600000"/>
              <a:gd name="connsiteY2072" fmla="*/ 1047940 h 2787466"/>
              <a:gd name="connsiteX2073" fmla="*/ 3145639 w 3600000"/>
              <a:gd name="connsiteY2073" fmla="*/ 1053915 h 2787466"/>
              <a:gd name="connsiteX2074" fmla="*/ 3163978 w 3600000"/>
              <a:gd name="connsiteY2074" fmla="*/ 1030018 h 2787466"/>
              <a:gd name="connsiteX2075" fmla="*/ 3491773 w 3600000"/>
              <a:gd name="connsiteY2075" fmla="*/ 1025341 h 2787466"/>
              <a:gd name="connsiteX2076" fmla="*/ 3491773 w 3600000"/>
              <a:gd name="connsiteY2076" fmla="*/ 1040432 h 2787466"/>
              <a:gd name="connsiteX2077" fmla="*/ 3491773 w 3600000"/>
              <a:gd name="connsiteY2077" fmla="*/ 1025341 h 2787466"/>
              <a:gd name="connsiteX2078" fmla="*/ 3407359 w 3600000"/>
              <a:gd name="connsiteY2078" fmla="*/ 1019795 h 2787466"/>
              <a:gd name="connsiteX2079" fmla="*/ 3403299 w 3600000"/>
              <a:gd name="connsiteY2079" fmla="*/ 1032740 h 2787466"/>
              <a:gd name="connsiteX2080" fmla="*/ 3394445 w 3600000"/>
              <a:gd name="connsiteY2080" fmla="*/ 1048394 h 2787466"/>
              <a:gd name="connsiteX2081" fmla="*/ 3394291 w 3600000"/>
              <a:gd name="connsiteY2081" fmla="*/ 1048755 h 2787466"/>
              <a:gd name="connsiteX2082" fmla="*/ 3394257 w 3600000"/>
              <a:gd name="connsiteY2082" fmla="*/ 1048726 h 2787466"/>
              <a:gd name="connsiteX2083" fmla="*/ 3394240 w 3600000"/>
              <a:gd name="connsiteY2083" fmla="*/ 1048754 h 2787466"/>
              <a:gd name="connsiteX2084" fmla="*/ 3394237 w 3600000"/>
              <a:gd name="connsiteY2084" fmla="*/ 1048710 h 2787466"/>
              <a:gd name="connsiteX2085" fmla="*/ 3390657 w 3600000"/>
              <a:gd name="connsiteY2085" fmla="*/ 1045676 h 2787466"/>
              <a:gd name="connsiteX2086" fmla="*/ 3392464 w 3600000"/>
              <a:gd name="connsiteY2086" fmla="*/ 1041290 h 2787466"/>
              <a:gd name="connsiteX2087" fmla="*/ 3393524 w 3600000"/>
              <a:gd name="connsiteY2087" fmla="*/ 1039497 h 2787466"/>
              <a:gd name="connsiteX2088" fmla="*/ 3392913 w 3600000"/>
              <a:gd name="connsiteY2088" fmla="*/ 1031618 h 2787466"/>
              <a:gd name="connsiteX2089" fmla="*/ 3407359 w 3600000"/>
              <a:gd name="connsiteY2089" fmla="*/ 1019795 h 2787466"/>
              <a:gd name="connsiteX2090" fmla="*/ 3361929 w 3600000"/>
              <a:gd name="connsiteY2090" fmla="*/ 1017885 h 2787466"/>
              <a:gd name="connsiteX2091" fmla="*/ 3352918 w 3600000"/>
              <a:gd name="connsiteY2091" fmla="*/ 1037662 h 2787466"/>
              <a:gd name="connsiteX2092" fmla="*/ 3361929 w 3600000"/>
              <a:gd name="connsiteY2092" fmla="*/ 1017885 h 2787466"/>
              <a:gd name="connsiteX2093" fmla="*/ 2873678 w 3600000"/>
              <a:gd name="connsiteY2093" fmla="*/ 1014942 h 2787466"/>
              <a:gd name="connsiteX2094" fmla="*/ 2863266 w 3600000"/>
              <a:gd name="connsiteY2094" fmla="*/ 1031426 h 2787466"/>
              <a:gd name="connsiteX2095" fmla="*/ 2873678 w 3600000"/>
              <a:gd name="connsiteY2095" fmla="*/ 1014942 h 2787466"/>
              <a:gd name="connsiteX2096" fmla="*/ 2041131 w 3600000"/>
              <a:gd name="connsiteY2096" fmla="*/ 1012566 h 2787466"/>
              <a:gd name="connsiteX2097" fmla="*/ 2041176 w 3600000"/>
              <a:gd name="connsiteY2097" fmla="*/ 1012899 h 2787466"/>
              <a:gd name="connsiteX2098" fmla="*/ 2044296 w 3600000"/>
              <a:gd name="connsiteY2098" fmla="*/ 1013027 h 2787466"/>
              <a:gd name="connsiteX2099" fmla="*/ 2044191 w 3600000"/>
              <a:gd name="connsiteY2099" fmla="*/ 1013010 h 2787466"/>
              <a:gd name="connsiteX2100" fmla="*/ 3044048 w 3600000"/>
              <a:gd name="connsiteY2100" fmla="*/ 1012251 h 2787466"/>
              <a:gd name="connsiteX2101" fmla="*/ 3041575 w 3600000"/>
              <a:gd name="connsiteY2101" fmla="*/ 1016181 h 2787466"/>
              <a:gd name="connsiteX2102" fmla="*/ 3029830 w 3600000"/>
              <a:gd name="connsiteY2102" fmla="*/ 1038036 h 2787466"/>
              <a:gd name="connsiteX2103" fmla="*/ 3046727 w 3600000"/>
              <a:gd name="connsiteY2103" fmla="*/ 1020112 h 2787466"/>
              <a:gd name="connsiteX2104" fmla="*/ 3044048 w 3600000"/>
              <a:gd name="connsiteY2104" fmla="*/ 1012251 h 2787466"/>
              <a:gd name="connsiteX2105" fmla="*/ 2045866 w 3600000"/>
              <a:gd name="connsiteY2105" fmla="*/ 1010639 h 2787466"/>
              <a:gd name="connsiteX2106" fmla="*/ 2045924 w 3600000"/>
              <a:gd name="connsiteY2106" fmla="*/ 1011241 h 2787466"/>
              <a:gd name="connsiteX2107" fmla="*/ 2046236 w 3600000"/>
              <a:gd name="connsiteY2107" fmla="*/ 1013107 h 2787466"/>
              <a:gd name="connsiteX2108" fmla="*/ 2054321 w 3600000"/>
              <a:gd name="connsiteY2108" fmla="*/ 1013437 h 2787466"/>
              <a:gd name="connsiteX2109" fmla="*/ 2054272 w 3600000"/>
              <a:gd name="connsiteY2109" fmla="*/ 1012722 h 2787466"/>
              <a:gd name="connsiteX2110" fmla="*/ 2046612 w 3600000"/>
              <a:gd name="connsiteY2110" fmla="*/ 1011757 h 2787466"/>
              <a:gd name="connsiteX2111" fmla="*/ 3149013 w 3600000"/>
              <a:gd name="connsiteY2111" fmla="*/ 1010157 h 2787466"/>
              <a:gd name="connsiteX2112" fmla="*/ 3146093 w 3600000"/>
              <a:gd name="connsiteY2112" fmla="*/ 1012420 h 2787466"/>
              <a:gd name="connsiteX2113" fmla="*/ 3137310 w 3600000"/>
              <a:gd name="connsiteY2113" fmla="*/ 1023102 h 2787466"/>
              <a:gd name="connsiteX2114" fmla="*/ 3132924 w 3600000"/>
              <a:gd name="connsiteY2114" fmla="*/ 1022723 h 2787466"/>
              <a:gd name="connsiteX2115" fmla="*/ 3133835 w 3600000"/>
              <a:gd name="connsiteY2115" fmla="*/ 1031306 h 2787466"/>
              <a:gd name="connsiteX2116" fmla="*/ 3142213 w 3600000"/>
              <a:gd name="connsiteY2116" fmla="*/ 1024038 h 2787466"/>
              <a:gd name="connsiteX2117" fmla="*/ 3150183 w 3600000"/>
              <a:gd name="connsiteY2117" fmla="*/ 1020164 h 2787466"/>
              <a:gd name="connsiteX2118" fmla="*/ 3146126 w 3600000"/>
              <a:gd name="connsiteY2118" fmla="*/ 1018644 h 2787466"/>
              <a:gd name="connsiteX2119" fmla="*/ 3147095 w 3600000"/>
              <a:gd name="connsiteY2119" fmla="*/ 1013928 h 2787466"/>
              <a:gd name="connsiteX2120" fmla="*/ 2086954 w 3600000"/>
              <a:gd name="connsiteY2120" fmla="*/ 1009051 h 2787466"/>
              <a:gd name="connsiteX2121" fmla="*/ 2082661 w 3600000"/>
              <a:gd name="connsiteY2121" fmla="*/ 1010313 h 2787466"/>
              <a:gd name="connsiteX2122" fmla="*/ 2081932 w 3600000"/>
              <a:gd name="connsiteY2122" fmla="*/ 1013269 h 2787466"/>
              <a:gd name="connsiteX2123" fmla="*/ 2081991 w 3600000"/>
              <a:gd name="connsiteY2123" fmla="*/ 1013287 h 2787466"/>
              <a:gd name="connsiteX2124" fmla="*/ 2081923 w 3600000"/>
              <a:gd name="connsiteY2124" fmla="*/ 1013306 h 2787466"/>
              <a:gd name="connsiteX2125" fmla="*/ 2081752 w 3600000"/>
              <a:gd name="connsiteY2125" fmla="*/ 1013996 h 2787466"/>
              <a:gd name="connsiteX2126" fmla="*/ 2086847 w 3600000"/>
              <a:gd name="connsiteY2126" fmla="*/ 1011395 h 2787466"/>
              <a:gd name="connsiteX2127" fmla="*/ 3393938 w 3600000"/>
              <a:gd name="connsiteY2127" fmla="*/ 1005236 h 2787466"/>
              <a:gd name="connsiteX2128" fmla="*/ 3400648 w 3600000"/>
              <a:gd name="connsiteY2128" fmla="*/ 1018947 h 2787466"/>
              <a:gd name="connsiteX2129" fmla="*/ 3393938 w 3600000"/>
              <a:gd name="connsiteY2129" fmla="*/ 1005236 h 2787466"/>
              <a:gd name="connsiteX2130" fmla="*/ 2123550 w 3600000"/>
              <a:gd name="connsiteY2130" fmla="*/ 1002753 h 2787466"/>
              <a:gd name="connsiteX2131" fmla="*/ 2123399 w 3600000"/>
              <a:gd name="connsiteY2131" fmla="*/ 1004238 h 2787466"/>
              <a:gd name="connsiteX2132" fmla="*/ 2128537 w 3600000"/>
              <a:gd name="connsiteY2132" fmla="*/ 1003081 h 2787466"/>
              <a:gd name="connsiteX2133" fmla="*/ 2075995 w 3600000"/>
              <a:gd name="connsiteY2133" fmla="*/ 1002318 h 2787466"/>
              <a:gd name="connsiteX2134" fmla="*/ 2075900 w 3600000"/>
              <a:gd name="connsiteY2134" fmla="*/ 1002327 h 2787466"/>
              <a:gd name="connsiteX2135" fmla="*/ 2071419 w 3600000"/>
              <a:gd name="connsiteY2135" fmla="*/ 1004232 h 2787466"/>
              <a:gd name="connsiteX2136" fmla="*/ 2071788 w 3600000"/>
              <a:gd name="connsiteY2136" fmla="*/ 1002729 h 2787466"/>
              <a:gd name="connsiteX2137" fmla="*/ 2065092 w 3600000"/>
              <a:gd name="connsiteY2137" fmla="*/ 1003385 h 2787466"/>
              <a:gd name="connsiteX2138" fmla="*/ 2065092 w 3600000"/>
              <a:gd name="connsiteY2138" fmla="*/ 1005271 h 2787466"/>
              <a:gd name="connsiteX2139" fmla="*/ 2057222 w 3600000"/>
              <a:gd name="connsiteY2139" fmla="*/ 1004163 h 2787466"/>
              <a:gd name="connsiteX2140" fmla="*/ 2056215 w 3600000"/>
              <a:gd name="connsiteY2140" fmla="*/ 1003576 h 2787466"/>
              <a:gd name="connsiteX2141" fmla="*/ 2052541 w 3600000"/>
              <a:gd name="connsiteY2141" fmla="*/ 1005724 h 2787466"/>
              <a:gd name="connsiteX2142" fmla="*/ 2045322 w 3600000"/>
              <a:gd name="connsiteY2142" fmla="*/ 1004963 h 2787466"/>
              <a:gd name="connsiteX2143" fmla="*/ 2045435 w 3600000"/>
              <a:gd name="connsiteY2143" fmla="*/ 1006144 h 2787466"/>
              <a:gd name="connsiteX2144" fmla="*/ 2048035 w 3600000"/>
              <a:gd name="connsiteY2144" fmla="*/ 1005998 h 2787466"/>
              <a:gd name="connsiteX2145" fmla="*/ 2054581 w 3600000"/>
              <a:gd name="connsiteY2145" fmla="*/ 1007314 h 2787466"/>
              <a:gd name="connsiteX2146" fmla="*/ 2056660 w 3600000"/>
              <a:gd name="connsiteY2146" fmla="*/ 1013533 h 2787466"/>
              <a:gd name="connsiteX2147" fmla="*/ 2067633 w 3600000"/>
              <a:gd name="connsiteY2147" fmla="*/ 1013983 h 2787466"/>
              <a:gd name="connsiteX2148" fmla="*/ 2070630 w 3600000"/>
              <a:gd name="connsiteY2148" fmla="*/ 1013130 h 2787466"/>
              <a:gd name="connsiteX2149" fmla="*/ 2073181 w 3600000"/>
              <a:gd name="connsiteY2149" fmla="*/ 1012582 h 2787466"/>
              <a:gd name="connsiteX2150" fmla="*/ 2071908 w 3600000"/>
              <a:gd name="connsiteY2150" fmla="*/ 1008638 h 2787466"/>
              <a:gd name="connsiteX2151" fmla="*/ 2076649 w 3600000"/>
              <a:gd name="connsiteY2151" fmla="*/ 1003076 h 2787466"/>
              <a:gd name="connsiteX2152" fmla="*/ 2115778 w 3600000"/>
              <a:gd name="connsiteY2152" fmla="*/ 1001943 h 2787466"/>
              <a:gd name="connsiteX2153" fmla="*/ 2110365 w 3600000"/>
              <a:gd name="connsiteY2153" fmla="*/ 1005176 h 2787466"/>
              <a:gd name="connsiteX2154" fmla="*/ 2109673 w 3600000"/>
              <a:gd name="connsiteY2154" fmla="*/ 1003502 h 2787466"/>
              <a:gd name="connsiteX2155" fmla="*/ 2105481 w 3600000"/>
              <a:gd name="connsiteY2155" fmla="*/ 1007802 h 2787466"/>
              <a:gd name="connsiteX2156" fmla="*/ 2118030 w 3600000"/>
              <a:gd name="connsiteY2156" fmla="*/ 1005447 h 2787466"/>
              <a:gd name="connsiteX2157" fmla="*/ 2121926 w 3600000"/>
              <a:gd name="connsiteY2157" fmla="*/ 1004570 h 2787466"/>
              <a:gd name="connsiteX2158" fmla="*/ 2119510 w 3600000"/>
              <a:gd name="connsiteY2158" fmla="*/ 1002364 h 2787466"/>
              <a:gd name="connsiteX2159" fmla="*/ 2834480 w 3600000"/>
              <a:gd name="connsiteY2159" fmla="*/ 1001245 h 2787466"/>
              <a:gd name="connsiteX2160" fmla="*/ 2820055 w 3600000"/>
              <a:gd name="connsiteY2160" fmla="*/ 1004232 h 2787466"/>
              <a:gd name="connsiteX2161" fmla="*/ 2831801 w 3600000"/>
              <a:gd name="connsiteY2161" fmla="*/ 1011150 h 2787466"/>
              <a:gd name="connsiteX2162" fmla="*/ 2834480 w 3600000"/>
              <a:gd name="connsiteY2162" fmla="*/ 1001245 h 2787466"/>
              <a:gd name="connsiteX2163" fmla="*/ 2093398 w 3600000"/>
              <a:gd name="connsiteY2163" fmla="*/ 1000488 h 2787466"/>
              <a:gd name="connsiteX2164" fmla="*/ 2091075 w 3600000"/>
              <a:gd name="connsiteY2164" fmla="*/ 1000647 h 2787466"/>
              <a:gd name="connsiteX2165" fmla="*/ 2093704 w 3600000"/>
              <a:gd name="connsiteY2165" fmla="*/ 1003508 h 2787466"/>
              <a:gd name="connsiteX2166" fmla="*/ 2090961 w 3600000"/>
              <a:gd name="connsiteY2166" fmla="*/ 1010527 h 2787466"/>
              <a:gd name="connsiteX2167" fmla="*/ 2104598 w 3600000"/>
              <a:gd name="connsiteY2167" fmla="*/ 1007968 h 2787466"/>
              <a:gd name="connsiteX2168" fmla="*/ 2101897 w 3600000"/>
              <a:gd name="connsiteY2168" fmla="*/ 1007225 h 2787466"/>
              <a:gd name="connsiteX2169" fmla="*/ 2100751 w 3600000"/>
              <a:gd name="connsiteY2169" fmla="*/ 1004976 h 2787466"/>
              <a:gd name="connsiteX2170" fmla="*/ 2098117 w 3600000"/>
              <a:gd name="connsiteY2170" fmla="*/ 1004016 h 2787466"/>
              <a:gd name="connsiteX2171" fmla="*/ 2095619 w 3600000"/>
              <a:gd name="connsiteY2171" fmla="*/ 1004291 h 2787466"/>
              <a:gd name="connsiteX2172" fmla="*/ 2095917 w 3600000"/>
              <a:gd name="connsiteY2172" fmla="*/ 1002039 h 2787466"/>
              <a:gd name="connsiteX2173" fmla="*/ 2094827 w 3600000"/>
              <a:gd name="connsiteY2173" fmla="*/ 1002087 h 2787466"/>
              <a:gd name="connsiteX2174" fmla="*/ 2095001 w 3600000"/>
              <a:gd name="connsiteY2174" fmla="*/ 1001305 h 2787466"/>
              <a:gd name="connsiteX2175" fmla="*/ 2047600 w 3600000"/>
              <a:gd name="connsiteY2175" fmla="*/ 1000107 h 2787466"/>
              <a:gd name="connsiteX2176" fmla="*/ 2047687 w 3600000"/>
              <a:gd name="connsiteY2176" fmla="*/ 1000468 h 2787466"/>
              <a:gd name="connsiteX2177" fmla="*/ 2048820 w 3600000"/>
              <a:gd name="connsiteY2177" fmla="*/ 1000408 h 2787466"/>
              <a:gd name="connsiteX2178" fmla="*/ 2062868 w 3600000"/>
              <a:gd name="connsiteY2178" fmla="*/ 999633 h 2787466"/>
              <a:gd name="connsiteX2179" fmla="*/ 2062141 w 3600000"/>
              <a:gd name="connsiteY2179" fmla="*/ 999643 h 2787466"/>
              <a:gd name="connsiteX2180" fmla="*/ 2060229 w 3600000"/>
              <a:gd name="connsiteY2180" fmla="*/ 1000974 h 2787466"/>
              <a:gd name="connsiteX2181" fmla="*/ 2063952 w 3600000"/>
              <a:gd name="connsiteY2181" fmla="*/ 1001697 h 2787466"/>
              <a:gd name="connsiteX2182" fmla="*/ 2068243 w 3600000"/>
              <a:gd name="connsiteY2182" fmla="*/ 999964 h 2787466"/>
              <a:gd name="connsiteX2183" fmla="*/ 2067394 w 3600000"/>
              <a:gd name="connsiteY2183" fmla="*/ 1000110 h 2787466"/>
              <a:gd name="connsiteX2184" fmla="*/ 2062868 w 3600000"/>
              <a:gd name="connsiteY2184" fmla="*/ 999633 h 2787466"/>
              <a:gd name="connsiteX2185" fmla="*/ 2891650 w 3600000"/>
              <a:gd name="connsiteY2185" fmla="*/ 999463 h 2787466"/>
              <a:gd name="connsiteX2186" fmla="*/ 2894300 w 3600000"/>
              <a:gd name="connsiteY2186" fmla="*/ 1001053 h 2787466"/>
              <a:gd name="connsiteX2187" fmla="*/ 2891784 w 3600000"/>
              <a:gd name="connsiteY2187" fmla="*/ 1004947 h 2787466"/>
              <a:gd name="connsiteX2188" fmla="*/ 2891784 w 3600000"/>
              <a:gd name="connsiteY2188" fmla="*/ 1008998 h 2787466"/>
              <a:gd name="connsiteX2189" fmla="*/ 2887800 w 3600000"/>
              <a:gd name="connsiteY2189" fmla="*/ 1009933 h 2787466"/>
              <a:gd name="connsiteX2190" fmla="*/ 2885074 w 3600000"/>
              <a:gd name="connsiteY2190" fmla="*/ 1007907 h 2787466"/>
              <a:gd name="connsiteX2191" fmla="*/ 2885074 w 3600000"/>
              <a:gd name="connsiteY2191" fmla="*/ 1003078 h 2787466"/>
              <a:gd name="connsiteX2192" fmla="*/ 2891650 w 3600000"/>
              <a:gd name="connsiteY2192" fmla="*/ 999463 h 2787466"/>
              <a:gd name="connsiteX2193" fmla="*/ 2137772 w 3600000"/>
              <a:gd name="connsiteY2193" fmla="*/ 999201 h 2787466"/>
              <a:gd name="connsiteX2194" fmla="*/ 2130543 w 3600000"/>
              <a:gd name="connsiteY2194" fmla="*/ 1002629 h 2787466"/>
              <a:gd name="connsiteX2195" fmla="*/ 2138128 w 3600000"/>
              <a:gd name="connsiteY2195" fmla="*/ 1000920 h 2787466"/>
              <a:gd name="connsiteX2196" fmla="*/ 2107893 w 3600000"/>
              <a:gd name="connsiteY2196" fmla="*/ 999201 h 2787466"/>
              <a:gd name="connsiteX2197" fmla="*/ 2107827 w 3600000"/>
              <a:gd name="connsiteY2197" fmla="*/ 999233 h 2787466"/>
              <a:gd name="connsiteX2198" fmla="*/ 2107565 w 3600000"/>
              <a:gd name="connsiteY2198" fmla="*/ 1000392 h 2787466"/>
              <a:gd name="connsiteX2199" fmla="*/ 2109463 w 3600000"/>
              <a:gd name="connsiteY2199" fmla="*/ 1002994 h 2787466"/>
              <a:gd name="connsiteX2200" fmla="*/ 3211992 w 3600000"/>
              <a:gd name="connsiteY2200" fmla="*/ 998258 h 2787466"/>
              <a:gd name="connsiteX2201" fmla="*/ 3197773 w 3600000"/>
              <a:gd name="connsiteY2201" fmla="*/ 1008163 h 2787466"/>
              <a:gd name="connsiteX2202" fmla="*/ 3211992 w 3600000"/>
              <a:gd name="connsiteY2202" fmla="*/ 998258 h 2787466"/>
              <a:gd name="connsiteX2203" fmla="*/ 2134121 w 3600000"/>
              <a:gd name="connsiteY2203" fmla="*/ 991102 h 2787466"/>
              <a:gd name="connsiteX2204" fmla="*/ 2133341 w 3600000"/>
              <a:gd name="connsiteY2204" fmla="*/ 991891 h 2787466"/>
              <a:gd name="connsiteX2205" fmla="*/ 2133857 w 3600000"/>
              <a:gd name="connsiteY2205" fmla="*/ 996371 h 2787466"/>
              <a:gd name="connsiteX2206" fmla="*/ 2139240 w 3600000"/>
              <a:gd name="connsiteY2206" fmla="*/ 994858 h 2787466"/>
              <a:gd name="connsiteX2207" fmla="*/ 2140264 w 3600000"/>
              <a:gd name="connsiteY2207" fmla="*/ 992991 h 2787466"/>
              <a:gd name="connsiteX2208" fmla="*/ 2135832 w 3600000"/>
              <a:gd name="connsiteY2208" fmla="*/ 992019 h 2787466"/>
              <a:gd name="connsiteX2209" fmla="*/ 3153372 w 3600000"/>
              <a:gd name="connsiteY2209" fmla="*/ 989984 h 2787466"/>
              <a:gd name="connsiteX2210" fmla="*/ 3143140 w 3600000"/>
              <a:gd name="connsiteY2210" fmla="*/ 998668 h 2787466"/>
              <a:gd name="connsiteX2211" fmla="*/ 3153372 w 3600000"/>
              <a:gd name="connsiteY2211" fmla="*/ 989984 h 2787466"/>
              <a:gd name="connsiteX2212" fmla="*/ 3218585 w 3600000"/>
              <a:gd name="connsiteY2212" fmla="*/ 985366 h 2787466"/>
              <a:gd name="connsiteX2213" fmla="*/ 3213434 w 3600000"/>
              <a:gd name="connsiteY2213" fmla="*/ 997315 h 2787466"/>
              <a:gd name="connsiteX2214" fmla="*/ 3230331 w 3600000"/>
              <a:gd name="connsiteY2214" fmla="*/ 993384 h 2787466"/>
              <a:gd name="connsiteX2215" fmla="*/ 3218585 w 3600000"/>
              <a:gd name="connsiteY2215" fmla="*/ 985366 h 2787466"/>
              <a:gd name="connsiteX2216" fmla="*/ 2886614 w 3600000"/>
              <a:gd name="connsiteY2216" fmla="*/ 985366 h 2787466"/>
              <a:gd name="connsiteX2217" fmla="*/ 2886474 w 3600000"/>
              <a:gd name="connsiteY2217" fmla="*/ 985563 h 2787466"/>
              <a:gd name="connsiteX2218" fmla="*/ 2886659 w 3600000"/>
              <a:gd name="connsiteY2218" fmla="*/ 985366 h 2787466"/>
              <a:gd name="connsiteX2219" fmla="*/ 3199009 w 3600000"/>
              <a:gd name="connsiteY2219" fmla="*/ 982378 h 2787466"/>
              <a:gd name="connsiteX2220" fmla="*/ 3191179 w 3600000"/>
              <a:gd name="connsiteY2220" fmla="*/ 996371 h 2787466"/>
              <a:gd name="connsiteX2221" fmla="*/ 3199009 w 3600000"/>
              <a:gd name="connsiteY2221" fmla="*/ 998258 h 2787466"/>
              <a:gd name="connsiteX2222" fmla="*/ 3214670 w 3600000"/>
              <a:gd name="connsiteY2222" fmla="*/ 985366 h 2787466"/>
              <a:gd name="connsiteX2223" fmla="*/ 3200246 w 3600000"/>
              <a:gd name="connsiteY2223" fmla="*/ 993384 h 2787466"/>
              <a:gd name="connsiteX2224" fmla="*/ 3199009 w 3600000"/>
              <a:gd name="connsiteY2224" fmla="*/ 982378 h 2787466"/>
              <a:gd name="connsiteX2225" fmla="*/ 3480958 w 3600000"/>
              <a:gd name="connsiteY2225" fmla="*/ 981665 h 2787466"/>
              <a:gd name="connsiteX2226" fmla="*/ 3471588 w 3600000"/>
              <a:gd name="connsiteY2226" fmla="*/ 998149 h 2787466"/>
              <a:gd name="connsiteX2227" fmla="*/ 3480958 w 3600000"/>
              <a:gd name="connsiteY2227" fmla="*/ 981665 h 2787466"/>
              <a:gd name="connsiteX2228" fmla="*/ 2869511 w 3600000"/>
              <a:gd name="connsiteY2228" fmla="*/ 974517 h 2787466"/>
              <a:gd name="connsiteX2229" fmla="*/ 2868274 w 3600000"/>
              <a:gd name="connsiteY2229" fmla="*/ 987409 h 2787466"/>
              <a:gd name="connsiteX2230" fmla="*/ 2855292 w 3600000"/>
              <a:gd name="connsiteY2230" fmla="*/ 1007220 h 2787466"/>
              <a:gd name="connsiteX2231" fmla="*/ 2840868 w 3600000"/>
              <a:gd name="connsiteY2231" fmla="*/ 998258 h 2787466"/>
              <a:gd name="connsiteX2232" fmla="*/ 2846225 w 3600000"/>
              <a:gd name="connsiteY2232" fmla="*/ 1010207 h 2787466"/>
              <a:gd name="connsiteX2233" fmla="*/ 2834480 w 3600000"/>
              <a:gd name="connsiteY2233" fmla="*/ 1022156 h 2787466"/>
              <a:gd name="connsiteX2234" fmla="*/ 2821498 w 3600000"/>
              <a:gd name="connsiteY2234" fmla="*/ 1016181 h 2787466"/>
              <a:gd name="connsiteX2235" fmla="*/ 2821498 w 3600000"/>
              <a:gd name="connsiteY2235" fmla="*/ 1027030 h 2787466"/>
              <a:gd name="connsiteX2236" fmla="*/ 2803158 w 3600000"/>
              <a:gd name="connsiteY2236" fmla="*/ 1029074 h 2787466"/>
              <a:gd name="connsiteX2237" fmla="*/ 2804394 w 3600000"/>
              <a:gd name="connsiteY2237" fmla="*/ 1034105 h 2787466"/>
              <a:gd name="connsiteX2238" fmla="*/ 2790176 w 3600000"/>
              <a:gd name="connsiteY2238" fmla="*/ 1052972 h 2787466"/>
              <a:gd name="connsiteX2239" fmla="*/ 2778430 w 3600000"/>
              <a:gd name="connsiteY2239" fmla="*/ 1059890 h 2787466"/>
              <a:gd name="connsiteX2240" fmla="*/ 2756381 w 3600000"/>
              <a:gd name="connsiteY2240" fmla="*/ 1069795 h 2787466"/>
              <a:gd name="connsiteX2241" fmla="*/ 2753702 w 3600000"/>
              <a:gd name="connsiteY2241" fmla="*/ 1073725 h 2787466"/>
              <a:gd name="connsiteX2242" fmla="*/ 2758854 w 3600000"/>
              <a:gd name="connsiteY2242" fmla="*/ 1076713 h 2787466"/>
              <a:gd name="connsiteX2243" fmla="*/ 2749786 w 3600000"/>
              <a:gd name="connsiteY2243" fmla="*/ 1085675 h 2787466"/>
              <a:gd name="connsiteX2244" fmla="*/ 2751023 w 3600000"/>
              <a:gd name="connsiteY2244" fmla="*/ 1075770 h 2787466"/>
              <a:gd name="connsiteX2245" fmla="*/ 2719907 w 3600000"/>
              <a:gd name="connsiteY2245" fmla="*/ 1085675 h 2787466"/>
              <a:gd name="connsiteX2246" fmla="*/ 2721144 w 3600000"/>
              <a:gd name="connsiteY2246" fmla="*/ 1095580 h 2787466"/>
              <a:gd name="connsiteX2247" fmla="*/ 2730210 w 3600000"/>
              <a:gd name="connsiteY2247" fmla="*/ 1085675 h 2787466"/>
              <a:gd name="connsiteX2248" fmla="*/ 2738041 w 3600000"/>
              <a:gd name="connsiteY2248" fmla="*/ 1098567 h 2787466"/>
              <a:gd name="connsiteX2249" fmla="*/ 2718465 w 3600000"/>
              <a:gd name="connsiteY2249" fmla="*/ 1100611 h 2787466"/>
              <a:gd name="connsiteX2250" fmla="*/ 2710634 w 3600000"/>
              <a:gd name="connsiteY2250" fmla="*/ 1090706 h 2787466"/>
              <a:gd name="connsiteX2251" fmla="*/ 2708162 w 3600000"/>
              <a:gd name="connsiteY2251" fmla="*/ 1098567 h 2787466"/>
              <a:gd name="connsiteX2252" fmla="*/ 2705483 w 3600000"/>
              <a:gd name="connsiteY2252" fmla="*/ 1093693 h 2787466"/>
              <a:gd name="connsiteX2253" fmla="*/ 2692501 w 3600000"/>
              <a:gd name="connsiteY2253" fmla="*/ 1104541 h 2787466"/>
              <a:gd name="connsiteX2254" fmla="*/ 2659942 w 3600000"/>
              <a:gd name="connsiteY2254" fmla="*/ 1113503 h 2787466"/>
              <a:gd name="connsiteX2255" fmla="*/ 2662621 w 3600000"/>
              <a:gd name="connsiteY2255" fmla="*/ 1119478 h 2787466"/>
              <a:gd name="connsiteX2256" fmla="*/ 2654791 w 3600000"/>
              <a:gd name="connsiteY2256" fmla="*/ 1124508 h 2787466"/>
              <a:gd name="connsiteX2257" fmla="*/ 2633979 w 3600000"/>
              <a:gd name="connsiteY2257" fmla="*/ 1132370 h 2787466"/>
              <a:gd name="connsiteX2258" fmla="*/ 2626148 w 3600000"/>
              <a:gd name="connsiteY2258" fmla="*/ 1128439 h 2787466"/>
              <a:gd name="connsiteX2259" fmla="*/ 2633979 w 3600000"/>
              <a:gd name="connsiteY2259" fmla="*/ 1120421 h 2787466"/>
              <a:gd name="connsiteX2260" fmla="*/ 2610486 w 3600000"/>
              <a:gd name="connsiteY2260" fmla="*/ 1127496 h 2787466"/>
              <a:gd name="connsiteX2261" fmla="*/ 2623468 w 3600000"/>
              <a:gd name="connsiteY2261" fmla="*/ 1126396 h 2787466"/>
              <a:gd name="connsiteX2262" fmla="*/ 2590910 w 3600000"/>
              <a:gd name="connsiteY2262" fmla="*/ 1146363 h 2787466"/>
              <a:gd name="connsiteX2263" fmla="*/ 2596062 w 3600000"/>
              <a:gd name="connsiteY2263" fmla="*/ 1149350 h 2787466"/>
              <a:gd name="connsiteX2264" fmla="*/ 2592147 w 3600000"/>
              <a:gd name="connsiteY2264" fmla="*/ 1157212 h 2787466"/>
              <a:gd name="connsiteX2265" fmla="*/ 2583080 w 3600000"/>
              <a:gd name="connsiteY2265" fmla="*/ 1148249 h 2787466"/>
              <a:gd name="connsiteX2266" fmla="*/ 2566183 w 3600000"/>
              <a:gd name="connsiteY2266" fmla="*/ 1152338 h 2787466"/>
              <a:gd name="connsiteX2267" fmla="*/ 2581844 w 3600000"/>
              <a:gd name="connsiteY2267" fmla="*/ 1156268 h 2787466"/>
              <a:gd name="connsiteX2268" fmla="*/ 2570098 w 3600000"/>
              <a:gd name="connsiteY2268" fmla="*/ 1165230 h 2787466"/>
              <a:gd name="connsiteX2269" fmla="*/ 2555673 w 3600000"/>
              <a:gd name="connsiteY2269" fmla="*/ 1150294 h 2787466"/>
              <a:gd name="connsiteX2270" fmla="*/ 2537540 w 3600000"/>
              <a:gd name="connsiteY2270" fmla="*/ 1172148 h 2787466"/>
              <a:gd name="connsiteX2271" fmla="*/ 2554436 w 3600000"/>
              <a:gd name="connsiteY2271" fmla="*/ 1162243 h 2787466"/>
              <a:gd name="connsiteX2272" fmla="*/ 2551964 w 3600000"/>
              <a:gd name="connsiteY2272" fmla="*/ 1171204 h 2787466"/>
              <a:gd name="connsiteX2273" fmla="*/ 2532877 w 3600000"/>
              <a:gd name="connsiteY2273" fmla="*/ 1175902 h 2787466"/>
              <a:gd name="connsiteX2274" fmla="*/ 2527956 w 3600000"/>
              <a:gd name="connsiteY2274" fmla="*/ 1177433 h 2787466"/>
              <a:gd name="connsiteX2275" fmla="*/ 2528914 w 3600000"/>
              <a:gd name="connsiteY2275" fmla="*/ 1178515 h 2787466"/>
              <a:gd name="connsiteX2276" fmla="*/ 2531951 w 3600000"/>
              <a:gd name="connsiteY2276" fmla="*/ 1179162 h 2787466"/>
              <a:gd name="connsiteX2277" fmla="*/ 2533230 w 3600000"/>
              <a:gd name="connsiteY2277" fmla="*/ 1179719 h 2787466"/>
              <a:gd name="connsiteX2278" fmla="*/ 2539549 w 3600000"/>
              <a:gd name="connsiteY2278" fmla="*/ 1179125 h 2787466"/>
              <a:gd name="connsiteX2279" fmla="*/ 2546607 w 3600000"/>
              <a:gd name="connsiteY2279" fmla="*/ 1175135 h 2787466"/>
              <a:gd name="connsiteX2280" fmla="*/ 2551964 w 3600000"/>
              <a:gd name="connsiteY2280" fmla="*/ 1173091 h 2787466"/>
              <a:gd name="connsiteX2281" fmla="*/ 2557116 w 3600000"/>
              <a:gd name="connsiteY2281" fmla="*/ 1177179 h 2787466"/>
              <a:gd name="connsiteX2282" fmla="*/ 2563504 w 3600000"/>
              <a:gd name="connsiteY2282" fmla="*/ 1170104 h 2787466"/>
              <a:gd name="connsiteX2283" fmla="*/ 2584316 w 3600000"/>
              <a:gd name="connsiteY2283" fmla="*/ 1164287 h 2787466"/>
              <a:gd name="connsiteX2284" fmla="*/ 2589673 w 3600000"/>
              <a:gd name="connsiteY2284" fmla="*/ 1170104 h 2787466"/>
              <a:gd name="connsiteX2285" fmla="*/ 2607808 w 3600000"/>
              <a:gd name="connsiteY2285" fmla="*/ 1163186 h 2787466"/>
              <a:gd name="connsiteX2286" fmla="*/ 2620789 w 3600000"/>
              <a:gd name="connsiteY2286" fmla="*/ 1153281 h 2787466"/>
              <a:gd name="connsiteX2287" fmla="*/ 2631299 w 3600000"/>
              <a:gd name="connsiteY2287" fmla="*/ 1147307 h 2787466"/>
              <a:gd name="connsiteX2288" fmla="*/ 2636866 w 3600000"/>
              <a:gd name="connsiteY2288" fmla="*/ 1149439 h 2787466"/>
              <a:gd name="connsiteX2289" fmla="*/ 2636094 w 3600000"/>
              <a:gd name="connsiteY2289" fmla="*/ 1147453 h 2787466"/>
              <a:gd name="connsiteX2290" fmla="*/ 2664964 w 3600000"/>
              <a:gd name="connsiteY2290" fmla="*/ 1135571 h 2787466"/>
              <a:gd name="connsiteX2291" fmla="*/ 2661398 w 3600000"/>
              <a:gd name="connsiteY2291" fmla="*/ 1144309 h 2787466"/>
              <a:gd name="connsiteX2292" fmla="*/ 2660633 w 3600000"/>
              <a:gd name="connsiteY2292" fmla="*/ 1145011 h 2787466"/>
              <a:gd name="connsiteX2293" fmla="*/ 2663735 w 3600000"/>
              <a:gd name="connsiteY2293" fmla="*/ 1144820 h 2787466"/>
              <a:gd name="connsiteX2294" fmla="*/ 2671688 w 3600000"/>
              <a:gd name="connsiteY2294" fmla="*/ 1142275 h 2787466"/>
              <a:gd name="connsiteX2295" fmla="*/ 2669009 w 3600000"/>
              <a:gd name="connsiteY2295" fmla="*/ 1136458 h 2787466"/>
              <a:gd name="connsiteX2296" fmla="*/ 2685906 w 3600000"/>
              <a:gd name="connsiteY2296" fmla="*/ 1129383 h 2787466"/>
              <a:gd name="connsiteX2297" fmla="*/ 2687350 w 3600000"/>
              <a:gd name="connsiteY2297" fmla="*/ 1138345 h 2787466"/>
              <a:gd name="connsiteX2298" fmla="*/ 2692703 w 3600000"/>
              <a:gd name="connsiteY2298" fmla="*/ 1127874 h 2787466"/>
              <a:gd name="connsiteX2299" fmla="*/ 2692950 w 3600000"/>
              <a:gd name="connsiteY2299" fmla="*/ 1127743 h 2787466"/>
              <a:gd name="connsiteX2300" fmla="*/ 2693163 w 3600000"/>
              <a:gd name="connsiteY2300" fmla="*/ 1124090 h 2787466"/>
              <a:gd name="connsiteX2301" fmla="*/ 2706769 w 3600000"/>
              <a:gd name="connsiteY2301" fmla="*/ 1116159 h 2787466"/>
              <a:gd name="connsiteX2302" fmla="*/ 2705289 w 3600000"/>
              <a:gd name="connsiteY2302" fmla="*/ 1121422 h 2787466"/>
              <a:gd name="connsiteX2303" fmla="*/ 2717167 w 3600000"/>
              <a:gd name="connsiteY2303" fmla="*/ 1117783 h 2787466"/>
              <a:gd name="connsiteX2304" fmla="*/ 2721603 w 3600000"/>
              <a:gd name="connsiteY2304" fmla="*/ 1115987 h 2787466"/>
              <a:gd name="connsiteX2305" fmla="*/ 2716967 w 3600000"/>
              <a:gd name="connsiteY2305" fmla="*/ 1112289 h 2787466"/>
              <a:gd name="connsiteX2306" fmla="*/ 2722015 w 3600000"/>
              <a:gd name="connsiteY2306" fmla="*/ 1108409 h 2787466"/>
              <a:gd name="connsiteX2307" fmla="*/ 2724168 w 3600000"/>
              <a:gd name="connsiteY2307" fmla="*/ 1110132 h 2787466"/>
              <a:gd name="connsiteX2308" fmla="*/ 2723823 w 3600000"/>
              <a:gd name="connsiteY2308" fmla="*/ 1106586 h 2787466"/>
              <a:gd name="connsiteX2309" fmla="*/ 2738041 w 3600000"/>
              <a:gd name="connsiteY2309" fmla="*/ 1099668 h 2787466"/>
              <a:gd name="connsiteX2310" fmla="*/ 2739483 w 3600000"/>
              <a:gd name="connsiteY2310" fmla="*/ 1110516 h 2787466"/>
              <a:gd name="connsiteX2311" fmla="*/ 2774694 w 3600000"/>
              <a:gd name="connsiteY2311" fmla="*/ 1088583 h 2787466"/>
              <a:gd name="connsiteX2312" fmla="*/ 2789587 w 3600000"/>
              <a:gd name="connsiteY2312" fmla="*/ 1079208 h 2787466"/>
              <a:gd name="connsiteX2313" fmla="*/ 2786801 w 3600000"/>
              <a:gd name="connsiteY2313" fmla="*/ 1076523 h 2787466"/>
              <a:gd name="connsiteX2314" fmla="*/ 2783292 w 3600000"/>
              <a:gd name="connsiteY2314" fmla="*/ 1077676 h 2787466"/>
              <a:gd name="connsiteX2315" fmla="*/ 2796406 w 3600000"/>
              <a:gd name="connsiteY2315" fmla="*/ 1064857 h 2787466"/>
              <a:gd name="connsiteX2316" fmla="*/ 2792512 w 3600000"/>
              <a:gd name="connsiteY2316" fmla="*/ 1072673 h 2787466"/>
              <a:gd name="connsiteX2317" fmla="*/ 2790336 w 3600000"/>
              <a:gd name="connsiteY2317" fmla="*/ 1075898 h 2787466"/>
              <a:gd name="connsiteX2318" fmla="*/ 2790740 w 3600000"/>
              <a:gd name="connsiteY2318" fmla="*/ 1078483 h 2787466"/>
              <a:gd name="connsiteX2319" fmla="*/ 2791904 w 3600000"/>
              <a:gd name="connsiteY2319" fmla="*/ 1077749 h 2787466"/>
              <a:gd name="connsiteX2320" fmla="*/ 2810988 w 3600000"/>
              <a:gd name="connsiteY2320" fmla="*/ 1071839 h 2787466"/>
              <a:gd name="connsiteX2321" fmla="*/ 2804394 w 3600000"/>
              <a:gd name="connsiteY2321" fmla="*/ 1077813 h 2787466"/>
              <a:gd name="connsiteX2322" fmla="*/ 2814903 w 3600000"/>
              <a:gd name="connsiteY2322" fmla="*/ 1079700 h 2787466"/>
              <a:gd name="connsiteX2323" fmla="*/ 2820647 w 3600000"/>
              <a:gd name="connsiteY2323" fmla="*/ 1073647 h 2787466"/>
              <a:gd name="connsiteX2324" fmla="*/ 2825409 w 3600000"/>
              <a:gd name="connsiteY2324" fmla="*/ 1073724 h 2787466"/>
              <a:gd name="connsiteX2325" fmla="*/ 2827561 w 3600000"/>
              <a:gd name="connsiteY2325" fmla="*/ 1070487 h 2787466"/>
              <a:gd name="connsiteX2326" fmla="*/ 2828591 w 3600000"/>
              <a:gd name="connsiteY2326" fmla="*/ 1069370 h 2787466"/>
              <a:gd name="connsiteX2327" fmla="*/ 2828143 w 3600000"/>
              <a:gd name="connsiteY2327" fmla="*/ 1067299 h 2787466"/>
              <a:gd name="connsiteX2328" fmla="*/ 2827885 w 3600000"/>
              <a:gd name="connsiteY2328" fmla="*/ 1061934 h 2787466"/>
              <a:gd name="connsiteX2329" fmla="*/ 2830333 w 3600000"/>
              <a:gd name="connsiteY2329" fmla="*/ 1062230 h 2787466"/>
              <a:gd name="connsiteX2330" fmla="*/ 2830257 w 3600000"/>
              <a:gd name="connsiteY2330" fmla="*/ 1061638 h 2787466"/>
              <a:gd name="connsiteX2331" fmla="*/ 2837317 w 3600000"/>
              <a:gd name="connsiteY2331" fmla="*/ 1062488 h 2787466"/>
              <a:gd name="connsiteX2332" fmla="*/ 2841689 w 3600000"/>
              <a:gd name="connsiteY2332" fmla="*/ 1061039 h 2787466"/>
              <a:gd name="connsiteX2333" fmla="*/ 2838139 w 3600000"/>
              <a:gd name="connsiteY2333" fmla="*/ 1058637 h 2787466"/>
              <a:gd name="connsiteX2334" fmla="*/ 2840894 w 3600000"/>
              <a:gd name="connsiteY2334" fmla="*/ 1057712 h 2787466"/>
              <a:gd name="connsiteX2335" fmla="*/ 2838396 w 3600000"/>
              <a:gd name="connsiteY2335" fmla="*/ 1055959 h 2787466"/>
              <a:gd name="connsiteX2336" fmla="*/ 2850247 w 3600000"/>
              <a:gd name="connsiteY2336" fmla="*/ 1045590 h 2787466"/>
              <a:gd name="connsiteX2337" fmla="*/ 2851827 w 3600000"/>
              <a:gd name="connsiteY2337" fmla="*/ 1045782 h 2787466"/>
              <a:gd name="connsiteX2338" fmla="*/ 2852903 w 3600000"/>
              <a:gd name="connsiteY2338" fmla="*/ 1044592 h 2787466"/>
              <a:gd name="connsiteX2339" fmla="*/ 2858001 w 3600000"/>
              <a:gd name="connsiteY2339" fmla="*/ 1037820 h 2787466"/>
              <a:gd name="connsiteX2340" fmla="*/ 2859204 w 3600000"/>
              <a:gd name="connsiteY2340" fmla="*/ 1046498 h 2787466"/>
              <a:gd name="connsiteX2341" fmla="*/ 2853213 w 3600000"/>
              <a:gd name="connsiteY2341" fmla="*/ 1051585 h 2787466"/>
              <a:gd name="connsiteX2342" fmla="*/ 2856374 w 3600000"/>
              <a:gd name="connsiteY2342" fmla="*/ 1052402 h 2787466"/>
              <a:gd name="connsiteX2343" fmla="*/ 2864360 w 3600000"/>
              <a:gd name="connsiteY2343" fmla="*/ 1056903 h 2787466"/>
              <a:gd name="connsiteX2344" fmla="*/ 2860444 w 3600000"/>
              <a:gd name="connsiteY2344" fmla="*/ 1049041 h 2787466"/>
              <a:gd name="connsiteX2345" fmla="*/ 2889087 w 3600000"/>
              <a:gd name="connsiteY2345" fmla="*/ 1029074 h 2787466"/>
              <a:gd name="connsiteX2346" fmla="*/ 2887851 w 3600000"/>
              <a:gd name="connsiteY2346" fmla="*/ 1016181 h 2787466"/>
              <a:gd name="connsiteX2347" fmla="*/ 2899596 w 3600000"/>
              <a:gd name="connsiteY2347" fmla="*/ 1020112 h 2787466"/>
              <a:gd name="connsiteX2348" fmla="*/ 2903512 w 3600000"/>
              <a:gd name="connsiteY2348" fmla="*/ 1004232 h 2787466"/>
              <a:gd name="connsiteX2349" fmla="*/ 2896917 w 3600000"/>
              <a:gd name="connsiteY2349" fmla="*/ 1004232 h 2787466"/>
              <a:gd name="connsiteX2350" fmla="*/ 2895681 w 3600000"/>
              <a:gd name="connsiteY2350" fmla="*/ 996371 h 2787466"/>
              <a:gd name="connsiteX2351" fmla="*/ 2900550 w 3600000"/>
              <a:gd name="connsiteY2351" fmla="*/ 992303 h 2787466"/>
              <a:gd name="connsiteX2352" fmla="*/ 2902338 w 3600000"/>
              <a:gd name="connsiteY2352" fmla="*/ 991276 h 2787466"/>
              <a:gd name="connsiteX2353" fmla="*/ 2899787 w 3600000"/>
              <a:gd name="connsiteY2353" fmla="*/ 990222 h 2787466"/>
              <a:gd name="connsiteX2354" fmla="*/ 2889286 w 3600000"/>
              <a:gd name="connsiteY2354" fmla="*/ 998145 h 2787466"/>
              <a:gd name="connsiteX2355" fmla="*/ 2884627 w 3600000"/>
              <a:gd name="connsiteY2355" fmla="*/ 987548 h 2787466"/>
              <a:gd name="connsiteX2356" fmla="*/ 2885081 w 3600000"/>
              <a:gd name="connsiteY2356" fmla="*/ 987061 h 2787466"/>
              <a:gd name="connsiteX2357" fmla="*/ 2883446 w 3600000"/>
              <a:gd name="connsiteY2357" fmla="*/ 980786 h 2787466"/>
              <a:gd name="connsiteX2358" fmla="*/ 2878784 w 3600000"/>
              <a:gd name="connsiteY2358" fmla="*/ 976404 h 2787466"/>
              <a:gd name="connsiteX2359" fmla="*/ 2869511 w 3600000"/>
              <a:gd name="connsiteY2359" fmla="*/ 974517 h 2787466"/>
              <a:gd name="connsiteX2360" fmla="*/ 3235448 w 3600000"/>
              <a:gd name="connsiteY2360" fmla="*/ 970573 h 2787466"/>
              <a:gd name="connsiteX2361" fmla="*/ 3236878 w 3600000"/>
              <a:gd name="connsiteY2361" fmla="*/ 977821 h 2787466"/>
              <a:gd name="connsiteX2362" fmla="*/ 3235547 w 3600000"/>
              <a:gd name="connsiteY2362" fmla="*/ 985123 h 2787466"/>
              <a:gd name="connsiteX2363" fmla="*/ 3235276 w 3600000"/>
              <a:gd name="connsiteY2363" fmla="*/ 985397 h 2787466"/>
              <a:gd name="connsiteX2364" fmla="*/ 3231612 w 3600000"/>
              <a:gd name="connsiteY2364" fmla="*/ 979668 h 2787466"/>
              <a:gd name="connsiteX2365" fmla="*/ 3235448 w 3600000"/>
              <a:gd name="connsiteY2365" fmla="*/ 970573 h 2787466"/>
              <a:gd name="connsiteX2366" fmla="*/ 3163536 w 3600000"/>
              <a:gd name="connsiteY2366" fmla="*/ 970573 h 2787466"/>
              <a:gd name="connsiteX2367" fmla="*/ 3164747 w 3600000"/>
              <a:gd name="connsiteY2367" fmla="*/ 977772 h 2787466"/>
              <a:gd name="connsiteX2368" fmla="*/ 3155862 w 3600000"/>
              <a:gd name="connsiteY2368" fmla="*/ 978732 h 2787466"/>
              <a:gd name="connsiteX2369" fmla="*/ 3163536 w 3600000"/>
              <a:gd name="connsiteY2369" fmla="*/ 970573 h 2787466"/>
              <a:gd name="connsiteX2370" fmla="*/ 3240635 w 3600000"/>
              <a:gd name="connsiteY2370" fmla="*/ 966499 h 2787466"/>
              <a:gd name="connsiteX2371" fmla="*/ 3223737 w 3600000"/>
              <a:gd name="connsiteY2371" fmla="*/ 974517 h 2787466"/>
              <a:gd name="connsiteX2372" fmla="*/ 3230331 w 3600000"/>
              <a:gd name="connsiteY2372" fmla="*/ 990397 h 2787466"/>
              <a:gd name="connsiteX2373" fmla="*/ 3235276 w 3600000"/>
              <a:gd name="connsiteY2373" fmla="*/ 985397 h 2787466"/>
              <a:gd name="connsiteX2374" fmla="*/ 3235448 w 3600000"/>
              <a:gd name="connsiteY2374" fmla="*/ 985666 h 2787466"/>
              <a:gd name="connsiteX2375" fmla="*/ 3235547 w 3600000"/>
              <a:gd name="connsiteY2375" fmla="*/ 985123 h 2787466"/>
              <a:gd name="connsiteX2376" fmla="*/ 3238883 w 3600000"/>
              <a:gd name="connsiteY2376" fmla="*/ 981749 h 2787466"/>
              <a:gd name="connsiteX2377" fmla="*/ 3240635 w 3600000"/>
              <a:gd name="connsiteY2377" fmla="*/ 966499 h 2787466"/>
              <a:gd name="connsiteX2378" fmla="*/ 2902164 w 3600000"/>
              <a:gd name="connsiteY2378" fmla="*/ 966370 h 2787466"/>
              <a:gd name="connsiteX2379" fmla="*/ 2899059 w 3600000"/>
              <a:gd name="connsiteY2379" fmla="*/ 968783 h 2787466"/>
              <a:gd name="connsiteX2380" fmla="*/ 2899229 w 3600000"/>
              <a:gd name="connsiteY2380" fmla="*/ 971530 h 2787466"/>
              <a:gd name="connsiteX2381" fmla="*/ 2899596 w 3600000"/>
              <a:gd name="connsiteY2381" fmla="*/ 971530 h 2787466"/>
              <a:gd name="connsiteX2382" fmla="*/ 2950288 w 3600000"/>
              <a:gd name="connsiteY2382" fmla="*/ 965555 h 2787466"/>
              <a:gd name="connsiteX2383" fmla="*/ 2946664 w 3600000"/>
              <a:gd name="connsiteY2383" fmla="*/ 968337 h 2787466"/>
              <a:gd name="connsiteX2384" fmla="*/ 2946270 w 3600000"/>
              <a:gd name="connsiteY2384" fmla="*/ 967992 h 2787466"/>
              <a:gd name="connsiteX2385" fmla="*/ 2950288 w 3600000"/>
              <a:gd name="connsiteY2385" fmla="*/ 965555 h 2787466"/>
              <a:gd name="connsiteX2386" fmla="*/ 2904540 w 3600000"/>
              <a:gd name="connsiteY2386" fmla="*/ 964523 h 2787466"/>
              <a:gd name="connsiteX2387" fmla="*/ 2904129 w 3600000"/>
              <a:gd name="connsiteY2387" fmla="*/ 964842 h 2787466"/>
              <a:gd name="connsiteX2388" fmla="*/ 2904603 w 3600000"/>
              <a:gd name="connsiteY2388" fmla="*/ 964730 h 2787466"/>
              <a:gd name="connsiteX2389" fmla="*/ 3515767 w 3600000"/>
              <a:gd name="connsiteY2389" fmla="*/ 960174 h 2787466"/>
              <a:gd name="connsiteX2390" fmla="*/ 3518263 w 3600000"/>
              <a:gd name="connsiteY2390" fmla="*/ 972235 h 2787466"/>
              <a:gd name="connsiteX2391" fmla="*/ 3515767 w 3600000"/>
              <a:gd name="connsiteY2391" fmla="*/ 960174 h 2787466"/>
              <a:gd name="connsiteX2392" fmla="*/ 2818818 w 3600000"/>
              <a:gd name="connsiteY2392" fmla="*/ 954550 h 2787466"/>
              <a:gd name="connsiteX2393" fmla="*/ 2820055 w 3600000"/>
              <a:gd name="connsiteY2393" fmla="*/ 960524 h 2787466"/>
              <a:gd name="connsiteX2394" fmla="*/ 2818818 w 3600000"/>
              <a:gd name="connsiteY2394" fmla="*/ 954550 h 2787466"/>
              <a:gd name="connsiteX2395" fmla="*/ 2889087 w 3600000"/>
              <a:gd name="connsiteY2395" fmla="*/ 953606 h 2787466"/>
              <a:gd name="connsiteX2396" fmla="*/ 2879299 w 3600000"/>
              <a:gd name="connsiteY2396" fmla="*/ 961802 h 2787466"/>
              <a:gd name="connsiteX2397" fmla="*/ 2874834 w 3600000"/>
              <a:gd name="connsiteY2397" fmla="*/ 966239 h 2787466"/>
              <a:gd name="connsiteX2398" fmla="*/ 2877971 w 3600000"/>
              <a:gd name="connsiteY2398" fmla="*/ 966815 h 2787466"/>
              <a:gd name="connsiteX2399" fmla="*/ 2882312 w 3600000"/>
              <a:gd name="connsiteY2399" fmla="*/ 964395 h 2787466"/>
              <a:gd name="connsiteX2400" fmla="*/ 2889087 w 3600000"/>
              <a:gd name="connsiteY2400" fmla="*/ 953606 h 2787466"/>
              <a:gd name="connsiteX2401" fmla="*/ 3377510 w 3600000"/>
              <a:gd name="connsiteY2401" fmla="*/ 950468 h 2787466"/>
              <a:gd name="connsiteX2402" fmla="*/ 3376281 w 3600000"/>
              <a:gd name="connsiteY2402" fmla="*/ 971110 h 2787466"/>
              <a:gd name="connsiteX2403" fmla="*/ 3377510 w 3600000"/>
              <a:gd name="connsiteY2403" fmla="*/ 950468 h 2787466"/>
              <a:gd name="connsiteX2404" fmla="*/ 2984286 w 3600000"/>
              <a:gd name="connsiteY2404" fmla="*/ 947735 h 2787466"/>
              <a:gd name="connsiteX2405" fmla="*/ 2980375 w 3600000"/>
              <a:gd name="connsiteY2405" fmla="*/ 948575 h 2787466"/>
              <a:gd name="connsiteX2406" fmla="*/ 2969864 w 3600000"/>
              <a:gd name="connsiteY2406" fmla="*/ 961467 h 2787466"/>
              <a:gd name="connsiteX2407" fmla="*/ 2986762 w 3600000"/>
              <a:gd name="connsiteY2407" fmla="*/ 948575 h 2787466"/>
              <a:gd name="connsiteX2408" fmla="*/ 2984286 w 3600000"/>
              <a:gd name="connsiteY2408" fmla="*/ 947735 h 2787466"/>
              <a:gd name="connsiteX2409" fmla="*/ 3404287 w 3600000"/>
              <a:gd name="connsiteY2409" fmla="*/ 945615 h 2787466"/>
              <a:gd name="connsiteX2410" fmla="*/ 3402883 w 3600000"/>
              <a:gd name="connsiteY2410" fmla="*/ 958628 h 2787466"/>
              <a:gd name="connsiteX2411" fmla="*/ 3404287 w 3600000"/>
              <a:gd name="connsiteY2411" fmla="*/ 945615 h 2787466"/>
              <a:gd name="connsiteX2412" fmla="*/ 3227652 w 3600000"/>
              <a:gd name="connsiteY2412" fmla="*/ 945588 h 2787466"/>
              <a:gd name="connsiteX2413" fmla="*/ 3225180 w 3600000"/>
              <a:gd name="connsiteY2413" fmla="*/ 962568 h 2787466"/>
              <a:gd name="connsiteX2414" fmla="*/ 3227652 w 3600000"/>
              <a:gd name="connsiteY2414" fmla="*/ 945588 h 2787466"/>
              <a:gd name="connsiteX2415" fmla="*/ 3144403 w 3600000"/>
              <a:gd name="connsiteY2415" fmla="*/ 940714 h 2787466"/>
              <a:gd name="connsiteX2416" fmla="*/ 3141683 w 3600000"/>
              <a:gd name="connsiteY2416" fmla="*/ 941691 h 2787466"/>
              <a:gd name="connsiteX2417" fmla="*/ 3136384 w 3600000"/>
              <a:gd name="connsiteY2417" fmla="*/ 952544 h 2787466"/>
              <a:gd name="connsiteX2418" fmla="*/ 3134638 w 3600000"/>
              <a:gd name="connsiteY2418" fmla="*/ 958692 h 2787466"/>
              <a:gd name="connsiteX2419" fmla="*/ 3137963 w 3600000"/>
              <a:gd name="connsiteY2419" fmla="*/ 956711 h 2787466"/>
              <a:gd name="connsiteX2420" fmla="*/ 3146875 w 3600000"/>
              <a:gd name="connsiteY2420" fmla="*/ 952662 h 2787466"/>
              <a:gd name="connsiteX2421" fmla="*/ 3144403 w 3600000"/>
              <a:gd name="connsiteY2421" fmla="*/ 940714 h 2787466"/>
              <a:gd name="connsiteX2422" fmla="*/ 1712372 w 3600000"/>
              <a:gd name="connsiteY2422" fmla="*/ 937359 h 2787466"/>
              <a:gd name="connsiteX2423" fmla="*/ 1711261 w 3600000"/>
              <a:gd name="connsiteY2423" fmla="*/ 939324 h 2787466"/>
              <a:gd name="connsiteX2424" fmla="*/ 1712784 w 3600000"/>
              <a:gd name="connsiteY2424" fmla="*/ 938360 h 2787466"/>
              <a:gd name="connsiteX2425" fmla="*/ 3511259 w 3600000"/>
              <a:gd name="connsiteY2425" fmla="*/ 935909 h 2787466"/>
              <a:gd name="connsiteX2426" fmla="*/ 3508633 w 3600000"/>
              <a:gd name="connsiteY2426" fmla="*/ 953778 h 2787466"/>
              <a:gd name="connsiteX2427" fmla="*/ 3511259 w 3600000"/>
              <a:gd name="connsiteY2427" fmla="*/ 935909 h 2787466"/>
              <a:gd name="connsiteX2428" fmla="*/ 3487161 w 3600000"/>
              <a:gd name="connsiteY2428" fmla="*/ 935909 h 2787466"/>
              <a:gd name="connsiteX2429" fmla="*/ 3492297 w 3600000"/>
              <a:gd name="connsiteY2429" fmla="*/ 958905 h 2787466"/>
              <a:gd name="connsiteX2430" fmla="*/ 3479354 w 3600000"/>
              <a:gd name="connsiteY2430" fmla="*/ 958905 h 2787466"/>
              <a:gd name="connsiteX2431" fmla="*/ 3487161 w 3600000"/>
              <a:gd name="connsiteY2431" fmla="*/ 935909 h 2787466"/>
              <a:gd name="connsiteX2432" fmla="*/ 1710819 w 3600000"/>
              <a:gd name="connsiteY2432" fmla="*/ 933584 h 2787466"/>
              <a:gd name="connsiteX2433" fmla="*/ 1710747 w 3600000"/>
              <a:gd name="connsiteY2433" fmla="*/ 934362 h 2787466"/>
              <a:gd name="connsiteX2434" fmla="*/ 1711086 w 3600000"/>
              <a:gd name="connsiteY2434" fmla="*/ 934232 h 2787466"/>
              <a:gd name="connsiteX2435" fmla="*/ 2011788 w 3600000"/>
              <a:gd name="connsiteY2435" fmla="*/ 930779 h 2787466"/>
              <a:gd name="connsiteX2436" fmla="*/ 2009220 w 3600000"/>
              <a:gd name="connsiteY2436" fmla="*/ 933294 h 2787466"/>
              <a:gd name="connsiteX2437" fmla="*/ 2009037 w 3600000"/>
              <a:gd name="connsiteY2437" fmla="*/ 933505 h 2787466"/>
              <a:gd name="connsiteX2438" fmla="*/ 2009037 w 3600000"/>
              <a:gd name="connsiteY2438" fmla="*/ 935792 h 2787466"/>
              <a:gd name="connsiteX2439" fmla="*/ 2013802 w 3600000"/>
              <a:gd name="connsiteY2439" fmla="*/ 934692 h 2787466"/>
              <a:gd name="connsiteX2440" fmla="*/ 2015018 w 3600000"/>
              <a:gd name="connsiteY2440" fmla="*/ 931453 h 2787466"/>
              <a:gd name="connsiteX2441" fmla="*/ 2927253 w 3600000"/>
              <a:gd name="connsiteY2441" fmla="*/ 929670 h 2787466"/>
              <a:gd name="connsiteX2442" fmla="*/ 2929695 w 3600000"/>
              <a:gd name="connsiteY2442" fmla="*/ 939906 h 2787466"/>
              <a:gd name="connsiteX2443" fmla="*/ 2927253 w 3600000"/>
              <a:gd name="connsiteY2443" fmla="*/ 929670 h 2787466"/>
              <a:gd name="connsiteX2444" fmla="*/ 1703617 w 3600000"/>
              <a:gd name="connsiteY2444" fmla="*/ 929092 h 2787466"/>
              <a:gd name="connsiteX2445" fmla="*/ 1698645 w 3600000"/>
              <a:gd name="connsiteY2445" fmla="*/ 930946 h 2787466"/>
              <a:gd name="connsiteX2446" fmla="*/ 1698422 w 3600000"/>
              <a:gd name="connsiteY2446" fmla="*/ 931278 h 2787466"/>
              <a:gd name="connsiteX2447" fmla="*/ 1705950 w 3600000"/>
              <a:gd name="connsiteY2447" fmla="*/ 929909 h 2787466"/>
              <a:gd name="connsiteX2448" fmla="*/ 1708146 w 3600000"/>
              <a:gd name="connsiteY2448" fmla="*/ 929418 h 2787466"/>
              <a:gd name="connsiteX2449" fmla="*/ 3207454 w 3600000"/>
              <a:gd name="connsiteY2449" fmla="*/ 928976 h 2787466"/>
              <a:gd name="connsiteX2450" fmla="*/ 3198492 w 3600000"/>
              <a:gd name="connsiteY2450" fmla="*/ 941990 h 2787466"/>
              <a:gd name="connsiteX2451" fmla="*/ 3207454 w 3600000"/>
              <a:gd name="connsiteY2451" fmla="*/ 928976 h 2787466"/>
              <a:gd name="connsiteX2452" fmla="*/ 287248 w 3600000"/>
              <a:gd name="connsiteY2452" fmla="*/ 928976 h 2787466"/>
              <a:gd name="connsiteX2453" fmla="*/ 278109 w 3600000"/>
              <a:gd name="connsiteY2453" fmla="*/ 944765 h 2787466"/>
              <a:gd name="connsiteX2454" fmla="*/ 287248 w 3600000"/>
              <a:gd name="connsiteY2454" fmla="*/ 928976 h 2787466"/>
              <a:gd name="connsiteX2455" fmla="*/ 1941613 w 3600000"/>
              <a:gd name="connsiteY2455" fmla="*/ 928622 h 2787466"/>
              <a:gd name="connsiteX2456" fmla="*/ 1946363 w 3600000"/>
              <a:gd name="connsiteY2456" fmla="*/ 928779 h 2787466"/>
              <a:gd name="connsiteX2457" fmla="*/ 1947549 w 3600000"/>
              <a:gd name="connsiteY2457" fmla="*/ 933849 h 2787466"/>
              <a:gd name="connsiteX2458" fmla="*/ 1940042 w 3600000"/>
              <a:gd name="connsiteY2458" fmla="*/ 930680 h 2787466"/>
              <a:gd name="connsiteX2459" fmla="*/ 1941613 w 3600000"/>
              <a:gd name="connsiteY2459" fmla="*/ 928622 h 2787466"/>
              <a:gd name="connsiteX2460" fmla="*/ 1788082 w 3600000"/>
              <a:gd name="connsiteY2460" fmla="*/ 927857 h 2787466"/>
              <a:gd name="connsiteX2461" fmla="*/ 1768300 w 3600000"/>
              <a:gd name="connsiteY2461" fmla="*/ 928976 h 2787466"/>
              <a:gd name="connsiteX2462" fmla="*/ 1788082 w 3600000"/>
              <a:gd name="connsiteY2462" fmla="*/ 927857 h 2787466"/>
              <a:gd name="connsiteX2463" fmla="*/ 3161762 w 3600000"/>
              <a:gd name="connsiteY2463" fmla="*/ 927765 h 2787466"/>
              <a:gd name="connsiteX2464" fmla="*/ 3154101 w 3600000"/>
              <a:gd name="connsiteY2464" fmla="*/ 930643 h 2787466"/>
              <a:gd name="connsiteX2465" fmla="*/ 3154284 w 3600000"/>
              <a:gd name="connsiteY2465" fmla="*/ 931595 h 2787466"/>
              <a:gd name="connsiteX2466" fmla="*/ 3157475 w 3600000"/>
              <a:gd name="connsiteY2466" fmla="*/ 930858 h 2787466"/>
              <a:gd name="connsiteX2467" fmla="*/ 3156942 w 3600000"/>
              <a:gd name="connsiteY2467" fmla="*/ 932315 h 2787466"/>
              <a:gd name="connsiteX2468" fmla="*/ 3160681 w 3600000"/>
              <a:gd name="connsiteY2468" fmla="*/ 929838 h 2787466"/>
              <a:gd name="connsiteX2469" fmla="*/ 2057257 w 3600000"/>
              <a:gd name="connsiteY2469" fmla="*/ 926869 h 2787466"/>
              <a:gd name="connsiteX2470" fmla="*/ 2049959 w 3600000"/>
              <a:gd name="connsiteY2470" fmla="*/ 927925 h 2787466"/>
              <a:gd name="connsiteX2471" fmla="*/ 2048218 w 3600000"/>
              <a:gd name="connsiteY2471" fmla="*/ 929099 h 2787466"/>
              <a:gd name="connsiteX2472" fmla="*/ 2055405 w 3600000"/>
              <a:gd name="connsiteY2472" fmla="*/ 927343 h 2787466"/>
              <a:gd name="connsiteX2473" fmla="*/ 3015406 w 3600000"/>
              <a:gd name="connsiteY2473" fmla="*/ 926720 h 2787466"/>
              <a:gd name="connsiteX2474" fmla="*/ 3014989 w 3600000"/>
              <a:gd name="connsiteY2474" fmla="*/ 926864 h 2787466"/>
              <a:gd name="connsiteX2475" fmla="*/ 3013833 w 3600000"/>
              <a:gd name="connsiteY2475" fmla="*/ 928130 h 2787466"/>
              <a:gd name="connsiteX2476" fmla="*/ 3012950 w 3600000"/>
              <a:gd name="connsiteY2476" fmla="*/ 927566 h 2787466"/>
              <a:gd name="connsiteX2477" fmla="*/ 3008553 w 3600000"/>
              <a:gd name="connsiteY2477" fmla="*/ 929079 h 2787466"/>
              <a:gd name="connsiteX2478" fmla="*/ 3007575 w 3600000"/>
              <a:gd name="connsiteY2478" fmla="*/ 933796 h 2787466"/>
              <a:gd name="connsiteX2479" fmla="*/ 3015406 w 3600000"/>
              <a:gd name="connsiteY2479" fmla="*/ 926720 h 2787466"/>
              <a:gd name="connsiteX2480" fmla="*/ 2522986 w 3600000"/>
              <a:gd name="connsiteY2480" fmla="*/ 926387 h 2787466"/>
              <a:gd name="connsiteX2481" fmla="*/ 2519200 w 3600000"/>
              <a:gd name="connsiteY2481" fmla="*/ 929708 h 2787466"/>
              <a:gd name="connsiteX2482" fmla="*/ 2529709 w 3600000"/>
              <a:gd name="connsiteY2482" fmla="*/ 926720 h 2787466"/>
              <a:gd name="connsiteX2483" fmla="*/ 2522986 w 3600000"/>
              <a:gd name="connsiteY2483" fmla="*/ 926387 h 2787466"/>
              <a:gd name="connsiteX2484" fmla="*/ 3383933 w 3600000"/>
              <a:gd name="connsiteY2484" fmla="*/ 922737 h 2787466"/>
              <a:gd name="connsiteX2485" fmla="*/ 3387827 w 3600000"/>
              <a:gd name="connsiteY2485" fmla="*/ 948233 h 2787466"/>
              <a:gd name="connsiteX2486" fmla="*/ 3378811 w 3600000"/>
              <a:gd name="connsiteY2486" fmla="*/ 946367 h 2787466"/>
              <a:gd name="connsiteX2487" fmla="*/ 3383933 w 3600000"/>
              <a:gd name="connsiteY2487" fmla="*/ 922737 h 2787466"/>
              <a:gd name="connsiteX2488" fmla="*/ 1846794 w 3600000"/>
              <a:gd name="connsiteY2488" fmla="*/ 922097 h 2787466"/>
              <a:gd name="connsiteX2489" fmla="*/ 1850793 w 3600000"/>
              <a:gd name="connsiteY2489" fmla="*/ 923697 h 2787466"/>
              <a:gd name="connsiteX2490" fmla="*/ 1844472 w 3600000"/>
              <a:gd name="connsiteY2490" fmla="*/ 928817 h 2787466"/>
              <a:gd name="connsiteX2491" fmla="*/ 1843314 w 3600000"/>
              <a:gd name="connsiteY2491" fmla="*/ 926784 h 2787466"/>
              <a:gd name="connsiteX2492" fmla="*/ 1826457 w 3600000"/>
              <a:gd name="connsiteY2492" fmla="*/ 931594 h 2787466"/>
              <a:gd name="connsiteX2493" fmla="*/ 1842448 w 3600000"/>
              <a:gd name="connsiteY2493" fmla="*/ 924121 h 2787466"/>
              <a:gd name="connsiteX2494" fmla="*/ 1843596 w 3600000"/>
              <a:gd name="connsiteY2494" fmla="*/ 924504 h 2787466"/>
              <a:gd name="connsiteX2495" fmla="*/ 2978909 w 3600000"/>
              <a:gd name="connsiteY2495" fmla="*/ 922044 h 2787466"/>
              <a:gd name="connsiteX2496" fmla="*/ 2985725 w 3600000"/>
              <a:gd name="connsiteY2496" fmla="*/ 926945 h 2787466"/>
              <a:gd name="connsiteX2497" fmla="*/ 2973585 w 3600000"/>
              <a:gd name="connsiteY2497" fmla="*/ 925996 h 2787466"/>
              <a:gd name="connsiteX2498" fmla="*/ 2978909 w 3600000"/>
              <a:gd name="connsiteY2498" fmla="*/ 922044 h 2787466"/>
              <a:gd name="connsiteX2499" fmla="*/ 1796835 w 3600000"/>
              <a:gd name="connsiteY2499" fmla="*/ 920371 h 2787466"/>
              <a:gd name="connsiteX2500" fmla="*/ 1801724 w 3600000"/>
              <a:gd name="connsiteY2500" fmla="*/ 921924 h 2787466"/>
              <a:gd name="connsiteX2501" fmla="*/ 1800341 w 3600000"/>
              <a:gd name="connsiteY2501" fmla="*/ 921924 h 2787466"/>
              <a:gd name="connsiteX2502" fmla="*/ 1792834 w 3600000"/>
              <a:gd name="connsiteY2502" fmla="*/ 924877 h 2787466"/>
              <a:gd name="connsiteX2503" fmla="*/ 1796835 w 3600000"/>
              <a:gd name="connsiteY2503" fmla="*/ 920371 h 2787466"/>
              <a:gd name="connsiteX2504" fmla="*/ 1965011 w 3600000"/>
              <a:gd name="connsiteY2504" fmla="*/ 919042 h 2787466"/>
              <a:gd name="connsiteX2505" fmla="*/ 1973459 w 3600000"/>
              <a:gd name="connsiteY2505" fmla="*/ 920324 h 2787466"/>
              <a:gd name="connsiteX2506" fmla="*/ 1960558 w 3600000"/>
              <a:gd name="connsiteY2506" fmla="*/ 927059 h 2787466"/>
              <a:gd name="connsiteX2507" fmla="*/ 1965011 w 3600000"/>
              <a:gd name="connsiteY2507" fmla="*/ 919042 h 2787466"/>
              <a:gd name="connsiteX2508" fmla="*/ 2076649 w 3600000"/>
              <a:gd name="connsiteY2508" fmla="*/ 918649 h 2787466"/>
              <a:gd name="connsiteX2509" fmla="*/ 2076420 w 3600000"/>
              <a:gd name="connsiteY2509" fmla="*/ 918892 h 2787466"/>
              <a:gd name="connsiteX2510" fmla="*/ 2071496 w 3600000"/>
              <a:gd name="connsiteY2510" fmla="*/ 919592 h 2787466"/>
              <a:gd name="connsiteX2511" fmla="*/ 2076649 w 3600000"/>
              <a:gd name="connsiteY2511" fmla="*/ 918649 h 2787466"/>
              <a:gd name="connsiteX2512" fmla="*/ 2583755 w 3600000"/>
              <a:gd name="connsiteY2512" fmla="*/ 917765 h 2787466"/>
              <a:gd name="connsiteX2513" fmla="*/ 2582152 w 3600000"/>
              <a:gd name="connsiteY2513" fmla="*/ 918545 h 2787466"/>
              <a:gd name="connsiteX2514" fmla="*/ 2562596 w 3600000"/>
              <a:gd name="connsiteY2514" fmla="*/ 927514 h 2787466"/>
              <a:gd name="connsiteX2515" fmla="*/ 2565809 w 3600000"/>
              <a:gd name="connsiteY2515" fmla="*/ 927449 h 2787466"/>
              <a:gd name="connsiteX2516" fmla="*/ 2579430 w 3600000"/>
              <a:gd name="connsiteY2516" fmla="*/ 921154 h 2787466"/>
              <a:gd name="connsiteX2517" fmla="*/ 3545762 w 3600000"/>
              <a:gd name="connsiteY2517" fmla="*/ 916775 h 2787466"/>
              <a:gd name="connsiteX2518" fmla="*/ 3555755 w 3600000"/>
              <a:gd name="connsiteY2518" fmla="*/ 928818 h 2787466"/>
              <a:gd name="connsiteX2519" fmla="*/ 3546770 w 3600000"/>
              <a:gd name="connsiteY2519" fmla="*/ 927705 h 2787466"/>
              <a:gd name="connsiteX2520" fmla="*/ 3540236 w 3600000"/>
              <a:gd name="connsiteY2520" fmla="*/ 917697 h 2787466"/>
              <a:gd name="connsiteX2521" fmla="*/ 3545762 w 3600000"/>
              <a:gd name="connsiteY2521" fmla="*/ 916775 h 2787466"/>
              <a:gd name="connsiteX2522" fmla="*/ 2561263 w 3600000"/>
              <a:gd name="connsiteY2522" fmla="*/ 915342 h 2787466"/>
              <a:gd name="connsiteX2523" fmla="*/ 2559588 w 3600000"/>
              <a:gd name="connsiteY2523" fmla="*/ 917759 h 2787466"/>
              <a:gd name="connsiteX2524" fmla="*/ 2564946 w 3600000"/>
              <a:gd name="connsiteY2524" fmla="*/ 915873 h 2787466"/>
              <a:gd name="connsiteX2525" fmla="*/ 2561263 w 3600000"/>
              <a:gd name="connsiteY2525" fmla="*/ 915342 h 2787466"/>
              <a:gd name="connsiteX2526" fmla="*/ 2006563 w 3600000"/>
              <a:gd name="connsiteY2526" fmla="*/ 914886 h 2787466"/>
              <a:gd name="connsiteX2527" fmla="*/ 2007143 w 3600000"/>
              <a:gd name="connsiteY2527" fmla="*/ 918164 h 2787466"/>
              <a:gd name="connsiteX2528" fmla="*/ 2009829 w 3600000"/>
              <a:gd name="connsiteY2528" fmla="*/ 917882 h 2787466"/>
              <a:gd name="connsiteX2529" fmla="*/ 2009449 w 3600000"/>
              <a:gd name="connsiteY2529" fmla="*/ 916693 h 2787466"/>
              <a:gd name="connsiteX2530" fmla="*/ 2006563 w 3600000"/>
              <a:gd name="connsiteY2530" fmla="*/ 914886 h 2787466"/>
              <a:gd name="connsiteX2531" fmla="*/ 3530032 w 3600000"/>
              <a:gd name="connsiteY2531" fmla="*/ 913032 h 2787466"/>
              <a:gd name="connsiteX2532" fmla="*/ 3519632 w 3600000"/>
              <a:gd name="connsiteY2532" fmla="*/ 960015 h 2787466"/>
              <a:gd name="connsiteX2533" fmla="*/ 3530032 w 3600000"/>
              <a:gd name="connsiteY2533" fmla="*/ 913032 h 2787466"/>
              <a:gd name="connsiteX2534" fmla="*/ 1983070 w 3600000"/>
              <a:gd name="connsiteY2534" fmla="*/ 913000 h 2787466"/>
              <a:gd name="connsiteX2535" fmla="*/ 1981911 w 3600000"/>
              <a:gd name="connsiteY2535" fmla="*/ 916203 h 2787466"/>
              <a:gd name="connsiteX2536" fmla="*/ 1981843 w 3600000"/>
              <a:gd name="connsiteY2536" fmla="*/ 917642 h 2787466"/>
              <a:gd name="connsiteX2537" fmla="*/ 1982064 w 3600000"/>
              <a:gd name="connsiteY2537" fmla="*/ 919746 h 2787466"/>
              <a:gd name="connsiteX2538" fmla="*/ 1986788 w 3600000"/>
              <a:gd name="connsiteY2538" fmla="*/ 929497 h 2787466"/>
              <a:gd name="connsiteX2539" fmla="*/ 1993630 w 3600000"/>
              <a:gd name="connsiteY2539" fmla="*/ 914826 h 2787466"/>
              <a:gd name="connsiteX2540" fmla="*/ 1993374 w 3600000"/>
              <a:gd name="connsiteY2540" fmla="*/ 913942 h 2787466"/>
              <a:gd name="connsiteX2541" fmla="*/ 1983070 w 3600000"/>
              <a:gd name="connsiteY2541" fmla="*/ 913000 h 2787466"/>
              <a:gd name="connsiteX2542" fmla="*/ 1874413 w 3600000"/>
              <a:gd name="connsiteY2542" fmla="*/ 911645 h 2787466"/>
              <a:gd name="connsiteX2543" fmla="*/ 1862804 w 3600000"/>
              <a:gd name="connsiteY2543" fmla="*/ 920764 h 2787466"/>
              <a:gd name="connsiteX2544" fmla="*/ 1874413 w 3600000"/>
              <a:gd name="connsiteY2544" fmla="*/ 911645 h 2787466"/>
              <a:gd name="connsiteX2545" fmla="*/ 3390652 w 3600000"/>
              <a:gd name="connsiteY2545" fmla="*/ 910952 h 2787466"/>
              <a:gd name="connsiteX2546" fmla="*/ 3397363 w 3600000"/>
              <a:gd name="connsiteY2546" fmla="*/ 917826 h 2787466"/>
              <a:gd name="connsiteX2547" fmla="*/ 3383942 w 3600000"/>
              <a:gd name="connsiteY2547" fmla="*/ 920794 h 2787466"/>
              <a:gd name="connsiteX2548" fmla="*/ 3390652 w 3600000"/>
              <a:gd name="connsiteY2548" fmla="*/ 910952 h 2787466"/>
              <a:gd name="connsiteX2549" fmla="*/ 1913406 w 3600000"/>
              <a:gd name="connsiteY2549" fmla="*/ 909020 h 2787466"/>
              <a:gd name="connsiteX2550" fmla="*/ 1920750 w 3600000"/>
              <a:gd name="connsiteY2550" fmla="*/ 910769 h 2787466"/>
              <a:gd name="connsiteX2551" fmla="*/ 1912781 w 3600000"/>
              <a:gd name="connsiteY2551" fmla="*/ 913773 h 2787466"/>
              <a:gd name="connsiteX2552" fmla="*/ 1912781 w 3600000"/>
              <a:gd name="connsiteY2552" fmla="*/ 909223 h 2787466"/>
              <a:gd name="connsiteX2553" fmla="*/ 2931518 w 3600000"/>
              <a:gd name="connsiteY2553" fmla="*/ 908992 h 2787466"/>
              <a:gd name="connsiteX2554" fmla="*/ 2931057 w 3600000"/>
              <a:gd name="connsiteY2554" fmla="*/ 911551 h 2787466"/>
              <a:gd name="connsiteX2555" fmla="*/ 2928240 w 3600000"/>
              <a:gd name="connsiteY2555" fmla="*/ 913828 h 2787466"/>
              <a:gd name="connsiteX2556" fmla="*/ 2935478 w 3600000"/>
              <a:gd name="connsiteY2556" fmla="*/ 911883 h 2787466"/>
              <a:gd name="connsiteX2557" fmla="*/ 2935668 w 3600000"/>
              <a:gd name="connsiteY2557" fmla="*/ 909340 h 2787466"/>
              <a:gd name="connsiteX2558" fmla="*/ 2935440 w 3600000"/>
              <a:gd name="connsiteY2558" fmla="*/ 909321 h 2787466"/>
              <a:gd name="connsiteX2559" fmla="*/ 1848550 w 3600000"/>
              <a:gd name="connsiteY2559" fmla="*/ 906682 h 2787466"/>
              <a:gd name="connsiteX2560" fmla="*/ 1847332 w 3600000"/>
              <a:gd name="connsiteY2560" fmla="*/ 906863 h 2787466"/>
              <a:gd name="connsiteX2561" fmla="*/ 1848636 w 3600000"/>
              <a:gd name="connsiteY2561" fmla="*/ 911126 h 2787466"/>
              <a:gd name="connsiteX2562" fmla="*/ 1848727 w 3600000"/>
              <a:gd name="connsiteY2562" fmla="*/ 908755 h 2787466"/>
              <a:gd name="connsiteX2563" fmla="*/ 1848550 w 3600000"/>
              <a:gd name="connsiteY2563" fmla="*/ 906682 h 2787466"/>
              <a:gd name="connsiteX2564" fmla="*/ 2079205 w 3600000"/>
              <a:gd name="connsiteY2564" fmla="*/ 905855 h 2787466"/>
              <a:gd name="connsiteX2565" fmla="*/ 2077792 w 3600000"/>
              <a:gd name="connsiteY2565" fmla="*/ 906069 h 2787466"/>
              <a:gd name="connsiteX2566" fmla="*/ 2081532 w 3600000"/>
              <a:gd name="connsiteY2566" fmla="*/ 906842 h 2787466"/>
              <a:gd name="connsiteX2567" fmla="*/ 2081583 w 3600000"/>
              <a:gd name="connsiteY2567" fmla="*/ 906775 h 2787466"/>
              <a:gd name="connsiteX2568" fmla="*/ 2011715 w 3600000"/>
              <a:gd name="connsiteY2568" fmla="*/ 904982 h 2787466"/>
              <a:gd name="connsiteX2569" fmla="*/ 2012123 w 3600000"/>
              <a:gd name="connsiteY2569" fmla="*/ 905035 h 2787466"/>
              <a:gd name="connsiteX2570" fmla="*/ 2011938 w 3600000"/>
              <a:gd name="connsiteY2570" fmla="*/ 905194 h 2787466"/>
              <a:gd name="connsiteX2571" fmla="*/ 2936070 w 3600000"/>
              <a:gd name="connsiteY2571" fmla="*/ 903923 h 2787466"/>
              <a:gd name="connsiteX2572" fmla="*/ 2932442 w 3600000"/>
              <a:gd name="connsiteY2572" fmla="*/ 905582 h 2787466"/>
              <a:gd name="connsiteX2573" fmla="*/ 2931851 w 3600000"/>
              <a:gd name="connsiteY2573" fmla="*/ 907635 h 2787466"/>
              <a:gd name="connsiteX2574" fmla="*/ 2934747 w 3600000"/>
              <a:gd name="connsiteY2574" fmla="*/ 906099 h 2787466"/>
              <a:gd name="connsiteX2575" fmla="*/ 2935968 w 3600000"/>
              <a:gd name="connsiteY2575" fmla="*/ 905301 h 2787466"/>
              <a:gd name="connsiteX2576" fmla="*/ 2017087 w 3600000"/>
              <a:gd name="connsiteY2576" fmla="*/ 903841 h 2787466"/>
              <a:gd name="connsiteX2577" fmla="*/ 2028615 w 3600000"/>
              <a:gd name="connsiteY2577" fmla="*/ 907027 h 2787466"/>
              <a:gd name="connsiteX2578" fmla="*/ 2020165 w 3600000"/>
              <a:gd name="connsiteY2578" fmla="*/ 906064 h 2787466"/>
              <a:gd name="connsiteX2579" fmla="*/ 2015437 w 3600000"/>
              <a:gd name="connsiteY2579" fmla="*/ 905459 h 2787466"/>
              <a:gd name="connsiteX2580" fmla="*/ 2015437 w 3600000"/>
              <a:gd name="connsiteY2580" fmla="*/ 908529 h 2787466"/>
              <a:gd name="connsiteX2581" fmla="*/ 2015680 w 3600000"/>
              <a:gd name="connsiteY2581" fmla="*/ 908760 h 2787466"/>
              <a:gd name="connsiteX2582" fmla="*/ 2029851 w 3600000"/>
              <a:gd name="connsiteY2582" fmla="*/ 911900 h 2787466"/>
              <a:gd name="connsiteX2583" fmla="*/ 2023462 w 3600000"/>
              <a:gd name="connsiteY2583" fmla="*/ 917873 h 2787466"/>
              <a:gd name="connsiteX2584" fmla="*/ 2016868 w 3600000"/>
              <a:gd name="connsiteY2584" fmla="*/ 910956 h 2787466"/>
              <a:gd name="connsiteX2585" fmla="*/ 2012099 w 3600000"/>
              <a:gd name="connsiteY2585" fmla="*/ 917643 h 2787466"/>
              <a:gd name="connsiteX2586" fmla="*/ 2013943 w 3600000"/>
              <a:gd name="connsiteY2586" fmla="*/ 917450 h 2787466"/>
              <a:gd name="connsiteX2587" fmla="*/ 2028421 w 3600000"/>
              <a:gd name="connsiteY2587" fmla="*/ 923522 h 2787466"/>
              <a:gd name="connsiteX2588" fmla="*/ 2038933 w 3600000"/>
              <a:gd name="connsiteY2588" fmla="*/ 906699 h 2787466"/>
              <a:gd name="connsiteX2589" fmla="*/ 2032153 w 3600000"/>
              <a:gd name="connsiteY2589" fmla="*/ 905278 h 2787466"/>
              <a:gd name="connsiteX2590" fmla="*/ 2029851 w 3600000"/>
              <a:gd name="connsiteY2590" fmla="*/ 904982 h 2787466"/>
              <a:gd name="connsiteX2591" fmla="*/ 2030090 w 3600000"/>
              <a:gd name="connsiteY2591" fmla="*/ 904850 h 2787466"/>
              <a:gd name="connsiteX2592" fmla="*/ 1989664 w 3600000"/>
              <a:gd name="connsiteY2592" fmla="*/ 901054 h 2787466"/>
              <a:gd name="connsiteX2593" fmla="*/ 1990901 w 3600000"/>
              <a:gd name="connsiteY2593" fmla="*/ 909070 h 2787466"/>
              <a:gd name="connsiteX2594" fmla="*/ 1994816 w 3600000"/>
              <a:gd name="connsiteY2594" fmla="*/ 907969 h 2787466"/>
              <a:gd name="connsiteX2595" fmla="*/ 1989664 w 3600000"/>
              <a:gd name="connsiteY2595" fmla="*/ 901054 h 2787466"/>
              <a:gd name="connsiteX2596" fmla="*/ 2000920 w 3600000"/>
              <a:gd name="connsiteY2596" fmla="*/ 900932 h 2787466"/>
              <a:gd name="connsiteX2597" fmla="*/ 2001129 w 3600000"/>
              <a:gd name="connsiteY2597" fmla="*/ 902441 h 2787466"/>
              <a:gd name="connsiteX2598" fmla="*/ 2001282 w 3600000"/>
              <a:gd name="connsiteY2598" fmla="*/ 901564 h 2787466"/>
              <a:gd name="connsiteX2599" fmla="*/ 1974001 w 3600000"/>
              <a:gd name="connsiteY2599" fmla="*/ 900110 h 2787466"/>
              <a:gd name="connsiteX2600" fmla="*/ 1972559 w 3600000"/>
              <a:gd name="connsiteY2600" fmla="*/ 914886 h 2787466"/>
              <a:gd name="connsiteX2601" fmla="*/ 1966053 w 3600000"/>
              <a:gd name="connsiteY2601" fmla="*/ 912338 h 2787466"/>
              <a:gd name="connsiteX2602" fmla="*/ 1965813 w 3600000"/>
              <a:gd name="connsiteY2602" fmla="*/ 912479 h 2787466"/>
              <a:gd name="connsiteX2603" fmla="*/ 1963035 w 3600000"/>
              <a:gd name="connsiteY2603" fmla="*/ 911816 h 2787466"/>
              <a:gd name="connsiteX2604" fmla="*/ 1961662 w 3600000"/>
              <a:gd name="connsiteY2604" fmla="*/ 911769 h 2787466"/>
              <a:gd name="connsiteX2605" fmla="*/ 1956897 w 3600000"/>
              <a:gd name="connsiteY2605" fmla="*/ 913942 h 2787466"/>
              <a:gd name="connsiteX2606" fmla="*/ 1959164 w 3600000"/>
              <a:gd name="connsiteY2606" fmla="*/ 909522 h 2787466"/>
              <a:gd name="connsiteX2607" fmla="*/ 1958374 w 3600000"/>
              <a:gd name="connsiteY2607" fmla="*/ 905175 h 2787466"/>
              <a:gd name="connsiteX2608" fmla="*/ 1958453 w 3600000"/>
              <a:gd name="connsiteY2608" fmla="*/ 905068 h 2787466"/>
              <a:gd name="connsiteX2609" fmla="*/ 1961946 w 3600000"/>
              <a:gd name="connsiteY2609" fmla="*/ 907655 h 2787466"/>
              <a:gd name="connsiteX2610" fmla="*/ 1963087 w 3600000"/>
              <a:gd name="connsiteY2610" fmla="*/ 907721 h 2787466"/>
              <a:gd name="connsiteX2611" fmla="*/ 1964873 w 3600000"/>
              <a:gd name="connsiteY2611" fmla="*/ 904727 h 2787466"/>
              <a:gd name="connsiteX2612" fmla="*/ 1963552 w 3600000"/>
              <a:gd name="connsiteY2612" fmla="*/ 903038 h 2787466"/>
              <a:gd name="connsiteX2613" fmla="*/ 1958983 w 3600000"/>
              <a:gd name="connsiteY2613" fmla="*/ 904355 h 2787466"/>
              <a:gd name="connsiteX2614" fmla="*/ 1958453 w 3600000"/>
              <a:gd name="connsiteY2614" fmla="*/ 905068 h 2787466"/>
              <a:gd name="connsiteX2615" fmla="*/ 1958339 w 3600000"/>
              <a:gd name="connsiteY2615" fmla="*/ 904982 h 2787466"/>
              <a:gd name="connsiteX2616" fmla="*/ 1958374 w 3600000"/>
              <a:gd name="connsiteY2616" fmla="*/ 905175 h 2787466"/>
              <a:gd name="connsiteX2617" fmla="*/ 1955379 w 3600000"/>
              <a:gd name="connsiteY2617" fmla="*/ 909207 h 2787466"/>
              <a:gd name="connsiteX2618" fmla="*/ 1954424 w 3600000"/>
              <a:gd name="connsiteY2618" fmla="*/ 914886 h 2787466"/>
              <a:gd name="connsiteX2619" fmla="*/ 1943914 w 3600000"/>
              <a:gd name="connsiteY2619" fmla="*/ 910956 h 2787466"/>
              <a:gd name="connsiteX2620" fmla="*/ 1941440 w 3600000"/>
              <a:gd name="connsiteY2620" fmla="*/ 920859 h 2787466"/>
              <a:gd name="connsiteX2621" fmla="*/ 1945356 w 3600000"/>
              <a:gd name="connsiteY2621" fmla="*/ 904982 h 2787466"/>
              <a:gd name="connsiteX2622" fmla="*/ 1932372 w 3600000"/>
              <a:gd name="connsiteY2622" fmla="*/ 910956 h 2787466"/>
              <a:gd name="connsiteX2623" fmla="*/ 1930930 w 3600000"/>
              <a:gd name="connsiteY2623" fmla="*/ 907027 h 2787466"/>
              <a:gd name="connsiteX2624" fmla="*/ 1929694 w 3600000"/>
              <a:gd name="connsiteY2624" fmla="*/ 913000 h 2787466"/>
              <a:gd name="connsiteX2625" fmla="*/ 1918101 w 3600000"/>
              <a:gd name="connsiteY2625" fmla="*/ 907498 h 2787466"/>
              <a:gd name="connsiteX2626" fmla="*/ 1913406 w 3600000"/>
              <a:gd name="connsiteY2626" fmla="*/ 909020 h 2787466"/>
              <a:gd name="connsiteX2627" fmla="*/ 1912781 w 3600000"/>
              <a:gd name="connsiteY2627" fmla="*/ 908872 h 2787466"/>
              <a:gd name="connsiteX2628" fmla="*/ 1912781 w 3600000"/>
              <a:gd name="connsiteY2628" fmla="*/ 909223 h 2787466"/>
              <a:gd name="connsiteX2629" fmla="*/ 1907436 w 3600000"/>
              <a:gd name="connsiteY2629" fmla="*/ 910956 h 2787466"/>
              <a:gd name="connsiteX2630" fmla="*/ 1898368 w 3600000"/>
              <a:gd name="connsiteY2630" fmla="*/ 906083 h 2787466"/>
              <a:gd name="connsiteX2631" fmla="*/ 1894453 w 3600000"/>
              <a:gd name="connsiteY2631" fmla="*/ 913942 h 2787466"/>
              <a:gd name="connsiteX2632" fmla="*/ 1850144 w 3600000"/>
              <a:gd name="connsiteY2632" fmla="*/ 911900 h 2787466"/>
              <a:gd name="connsiteX2633" fmla="*/ 1848657 w 3600000"/>
              <a:gd name="connsiteY2633" fmla="*/ 911193 h 2787466"/>
              <a:gd name="connsiteX2634" fmla="*/ 1849875 w 3600000"/>
              <a:gd name="connsiteY2634" fmla="*/ 915174 h 2787466"/>
              <a:gd name="connsiteX2635" fmla="*/ 1843450 w 3600000"/>
              <a:gd name="connsiteY2635" fmla="*/ 921192 h 2787466"/>
              <a:gd name="connsiteX2636" fmla="*/ 1842130 w 3600000"/>
              <a:gd name="connsiteY2636" fmla="*/ 915966 h 2787466"/>
              <a:gd name="connsiteX2637" fmla="*/ 1833417 w 3600000"/>
              <a:gd name="connsiteY2637" fmla="*/ 912385 h 2787466"/>
              <a:gd name="connsiteX2638" fmla="*/ 1832653 w 3600000"/>
              <a:gd name="connsiteY2638" fmla="*/ 912705 h 2787466"/>
              <a:gd name="connsiteX2639" fmla="*/ 1832128 w 3600000"/>
              <a:gd name="connsiteY2639" fmla="*/ 912789 h 2787466"/>
              <a:gd name="connsiteX2640" fmla="*/ 1830394 w 3600000"/>
              <a:gd name="connsiteY2640" fmla="*/ 914224 h 2787466"/>
              <a:gd name="connsiteX2641" fmla="*/ 1830189 w 3600000"/>
              <a:gd name="connsiteY2641" fmla="*/ 913098 h 2787466"/>
              <a:gd name="connsiteX2642" fmla="*/ 1826551 w 3600000"/>
              <a:gd name="connsiteY2642" fmla="*/ 913680 h 2787466"/>
              <a:gd name="connsiteX2643" fmla="*/ 1822941 w 3600000"/>
              <a:gd name="connsiteY2643" fmla="*/ 910956 h 2787466"/>
              <a:gd name="connsiteX2644" fmla="*/ 1830773 w 3600000"/>
              <a:gd name="connsiteY2644" fmla="*/ 907969 h 2787466"/>
              <a:gd name="connsiteX2645" fmla="*/ 1817582 w 3600000"/>
              <a:gd name="connsiteY2645" fmla="*/ 909070 h 2787466"/>
              <a:gd name="connsiteX2646" fmla="*/ 1809752 w 3600000"/>
              <a:gd name="connsiteY2646" fmla="*/ 914886 h 2787466"/>
              <a:gd name="connsiteX2647" fmla="*/ 1815110 w 3600000"/>
              <a:gd name="connsiteY2647" fmla="*/ 911900 h 2787466"/>
              <a:gd name="connsiteX2648" fmla="*/ 1815110 w 3600000"/>
              <a:gd name="connsiteY2648" fmla="*/ 909070 h 2787466"/>
              <a:gd name="connsiteX2649" fmla="*/ 1777396 w 3600000"/>
              <a:gd name="connsiteY2649" fmla="*/ 910956 h 2787466"/>
              <a:gd name="connsiteX2650" fmla="*/ 1785021 w 3600000"/>
              <a:gd name="connsiteY2650" fmla="*/ 922902 h 2787466"/>
              <a:gd name="connsiteX2651" fmla="*/ 1754521 w 3600000"/>
              <a:gd name="connsiteY2651" fmla="*/ 920034 h 2787466"/>
              <a:gd name="connsiteX2652" fmla="*/ 1722864 w 3600000"/>
              <a:gd name="connsiteY2652" fmla="*/ 926815 h 2787466"/>
              <a:gd name="connsiteX2653" fmla="*/ 1722872 w 3600000"/>
              <a:gd name="connsiteY2653" fmla="*/ 926847 h 2787466"/>
              <a:gd name="connsiteX2654" fmla="*/ 1734350 w 3600000"/>
              <a:gd name="connsiteY2654" fmla="*/ 928699 h 2787466"/>
              <a:gd name="connsiteX2655" fmla="*/ 1741125 w 3600000"/>
              <a:gd name="connsiteY2655" fmla="*/ 932806 h 2787466"/>
              <a:gd name="connsiteX2656" fmla="*/ 1728193 w 3600000"/>
              <a:gd name="connsiteY2656" fmla="*/ 930703 h 2787466"/>
              <a:gd name="connsiteX2657" fmla="*/ 1723536 w 3600000"/>
              <a:gd name="connsiteY2657" fmla="*/ 929568 h 2787466"/>
              <a:gd name="connsiteX2658" fmla="*/ 1725036 w 3600000"/>
              <a:gd name="connsiteY2658" fmla="*/ 935712 h 2787466"/>
              <a:gd name="connsiteX2659" fmla="*/ 1726466 w 3600000"/>
              <a:gd name="connsiteY2659" fmla="*/ 935683 h 2787466"/>
              <a:gd name="connsiteX2660" fmla="*/ 1725153 w 3600000"/>
              <a:gd name="connsiteY2660" fmla="*/ 936191 h 2787466"/>
              <a:gd name="connsiteX2661" fmla="*/ 1725246 w 3600000"/>
              <a:gd name="connsiteY2661" fmla="*/ 936572 h 2787466"/>
              <a:gd name="connsiteX2662" fmla="*/ 1722193 w 3600000"/>
              <a:gd name="connsiteY2662" fmla="*/ 939775 h 2787466"/>
              <a:gd name="connsiteX2663" fmla="*/ 1726803 w 3600000"/>
              <a:gd name="connsiteY2663" fmla="*/ 940098 h 2787466"/>
              <a:gd name="connsiteX2664" fmla="*/ 1736975 w 3600000"/>
              <a:gd name="connsiteY2664" fmla="*/ 933796 h 2787466"/>
              <a:gd name="connsiteX2665" fmla="*/ 1744805 w 3600000"/>
              <a:gd name="connsiteY2665" fmla="*/ 938670 h 2787466"/>
              <a:gd name="connsiteX2666" fmla="*/ 1749946 w 3600000"/>
              <a:gd name="connsiteY2666" fmla="*/ 938268 h 2787466"/>
              <a:gd name="connsiteX2667" fmla="*/ 1750431 w 3600000"/>
              <a:gd name="connsiteY2667" fmla="*/ 937934 h 2787466"/>
              <a:gd name="connsiteX2668" fmla="*/ 1753442 w 3600000"/>
              <a:gd name="connsiteY2668" fmla="*/ 937732 h 2787466"/>
              <a:gd name="connsiteX2669" fmla="*/ 1753547 w 3600000"/>
              <a:gd name="connsiteY2669" fmla="*/ 937985 h 2787466"/>
              <a:gd name="connsiteX2670" fmla="*/ 1807037 w 3600000"/>
              <a:gd name="connsiteY2670" fmla="*/ 933796 h 2787466"/>
              <a:gd name="connsiteX2671" fmla="*/ 1856310 w 3600000"/>
              <a:gd name="connsiteY2671" fmla="*/ 930437 h 2787466"/>
              <a:gd name="connsiteX2672" fmla="*/ 1855123 w 3600000"/>
              <a:gd name="connsiteY2672" fmla="*/ 927604 h 2787466"/>
              <a:gd name="connsiteX2673" fmla="*/ 1852690 w 3600000"/>
              <a:gd name="connsiteY2673" fmla="*/ 928944 h 2787466"/>
              <a:gd name="connsiteX2674" fmla="*/ 1853894 w 3600000"/>
              <a:gd name="connsiteY2674" fmla="*/ 923745 h 2787466"/>
              <a:gd name="connsiteX2675" fmla="*/ 1856503 w 3600000"/>
              <a:gd name="connsiteY2675" fmla="*/ 921795 h 2787466"/>
              <a:gd name="connsiteX2676" fmla="*/ 1862671 w 3600000"/>
              <a:gd name="connsiteY2676" fmla="*/ 924029 h 2787466"/>
              <a:gd name="connsiteX2677" fmla="*/ 1856952 w 3600000"/>
              <a:gd name="connsiteY2677" fmla="*/ 930393 h 2787466"/>
              <a:gd name="connsiteX2678" fmla="*/ 1867003 w 3600000"/>
              <a:gd name="connsiteY2678" fmla="*/ 929708 h 2787466"/>
              <a:gd name="connsiteX2679" fmla="*/ 1868239 w 3600000"/>
              <a:gd name="connsiteY2679" fmla="*/ 933796 h 2787466"/>
              <a:gd name="connsiteX2680" fmla="*/ 1877306 w 3600000"/>
              <a:gd name="connsiteY2680" fmla="*/ 929708 h 2787466"/>
              <a:gd name="connsiteX2681" fmla="*/ 1907872 w 3600000"/>
              <a:gd name="connsiteY2681" fmla="*/ 931792 h 2787466"/>
              <a:gd name="connsiteX2682" fmla="*/ 1909150 w 3600000"/>
              <a:gd name="connsiteY2682" fmla="*/ 929482 h 2787466"/>
              <a:gd name="connsiteX2683" fmla="*/ 1903318 w 3600000"/>
              <a:gd name="connsiteY2683" fmla="*/ 927453 h 2787466"/>
              <a:gd name="connsiteX2684" fmla="*/ 1918389 w 3600000"/>
              <a:gd name="connsiteY2684" fmla="*/ 928494 h 2787466"/>
              <a:gd name="connsiteX2685" fmla="*/ 1920704 w 3600000"/>
              <a:gd name="connsiteY2685" fmla="*/ 932667 h 2787466"/>
              <a:gd name="connsiteX2686" fmla="*/ 1937271 w 3600000"/>
              <a:gd name="connsiteY2686" fmla="*/ 933796 h 2787466"/>
              <a:gd name="connsiteX2687" fmla="*/ 1950485 w 3600000"/>
              <a:gd name="connsiteY2687" fmla="*/ 934194 h 2787466"/>
              <a:gd name="connsiteX2688" fmla="*/ 1961011 w 3600000"/>
              <a:gd name="connsiteY2688" fmla="*/ 934511 h 2787466"/>
              <a:gd name="connsiteX2689" fmla="*/ 1960820 w 3600000"/>
              <a:gd name="connsiteY2689" fmla="*/ 932484 h 2787466"/>
              <a:gd name="connsiteX2690" fmla="*/ 1964594 w 3600000"/>
              <a:gd name="connsiteY2690" fmla="*/ 933519 h 2787466"/>
              <a:gd name="connsiteX2691" fmla="*/ 1964949 w 3600000"/>
              <a:gd name="connsiteY2691" fmla="*/ 934630 h 2787466"/>
              <a:gd name="connsiteX2692" fmla="*/ 1968592 w 3600000"/>
              <a:gd name="connsiteY2692" fmla="*/ 934739 h 2787466"/>
              <a:gd name="connsiteX2693" fmla="*/ 1970859 w 3600000"/>
              <a:gd name="connsiteY2693" fmla="*/ 934739 h 2787466"/>
              <a:gd name="connsiteX2694" fmla="*/ 1975448 w 3600000"/>
              <a:gd name="connsiteY2694" fmla="*/ 934739 h 2787466"/>
              <a:gd name="connsiteX2695" fmla="*/ 1971805 w 3600000"/>
              <a:gd name="connsiteY2695" fmla="*/ 933675 h 2787466"/>
              <a:gd name="connsiteX2696" fmla="*/ 1969889 w 3600000"/>
              <a:gd name="connsiteY2696" fmla="*/ 927453 h 2787466"/>
              <a:gd name="connsiteX2697" fmla="*/ 1976278 w 3600000"/>
              <a:gd name="connsiteY2697" fmla="*/ 918649 h 2787466"/>
              <a:gd name="connsiteX2698" fmla="*/ 1978957 w 3600000"/>
              <a:gd name="connsiteY2698" fmla="*/ 918649 h 2787466"/>
              <a:gd name="connsiteX2699" fmla="*/ 1980940 w 3600000"/>
              <a:gd name="connsiteY2699" fmla="*/ 916437 h 2787466"/>
              <a:gd name="connsiteX2700" fmla="*/ 1978948 w 3600000"/>
              <a:gd name="connsiteY2700" fmla="*/ 913235 h 2787466"/>
              <a:gd name="connsiteX2701" fmla="*/ 1979154 w 3600000"/>
              <a:gd name="connsiteY2701" fmla="*/ 910013 h 2787466"/>
              <a:gd name="connsiteX2702" fmla="*/ 1988222 w 3600000"/>
              <a:gd name="connsiteY2702" fmla="*/ 906083 h 2787466"/>
              <a:gd name="connsiteX2703" fmla="*/ 1974001 w 3600000"/>
              <a:gd name="connsiteY2703" fmla="*/ 900110 h 2787466"/>
              <a:gd name="connsiteX2704" fmla="*/ 2899596 w 3600000"/>
              <a:gd name="connsiteY2704" fmla="*/ 898892 h 2787466"/>
              <a:gd name="connsiteX2705" fmla="*/ 2895681 w 3600000"/>
              <a:gd name="connsiteY2705" fmla="*/ 909898 h 2787466"/>
              <a:gd name="connsiteX2706" fmla="*/ 2898154 w 3600000"/>
              <a:gd name="connsiteY2706" fmla="*/ 904867 h 2787466"/>
              <a:gd name="connsiteX2707" fmla="*/ 2900833 w 3600000"/>
              <a:gd name="connsiteY2707" fmla="*/ 905967 h 2787466"/>
              <a:gd name="connsiteX2708" fmla="*/ 2899596 w 3600000"/>
              <a:gd name="connsiteY2708" fmla="*/ 898892 h 2787466"/>
              <a:gd name="connsiteX2709" fmla="*/ 2014891 w 3600000"/>
              <a:gd name="connsiteY2709" fmla="*/ 897364 h 2787466"/>
              <a:gd name="connsiteX2710" fmla="*/ 2005121 w 3600000"/>
              <a:gd name="connsiteY2710" fmla="*/ 901996 h 2787466"/>
              <a:gd name="connsiteX2711" fmla="*/ 2009037 w 3600000"/>
              <a:gd name="connsiteY2711" fmla="*/ 904982 h 2787466"/>
              <a:gd name="connsiteX2712" fmla="*/ 2000818 w 3600000"/>
              <a:gd name="connsiteY2712" fmla="*/ 910741 h 2787466"/>
              <a:gd name="connsiteX2713" fmla="*/ 1998645 w 3600000"/>
              <a:gd name="connsiteY2713" fmla="*/ 913695 h 2787466"/>
              <a:gd name="connsiteX2714" fmla="*/ 2002386 w 3600000"/>
              <a:gd name="connsiteY2714" fmla="*/ 916373 h 2787466"/>
              <a:gd name="connsiteX2715" fmla="*/ 2006770 w 3600000"/>
              <a:gd name="connsiteY2715" fmla="*/ 909605 h 2787466"/>
              <a:gd name="connsiteX2716" fmla="*/ 2011938 w 3600000"/>
              <a:gd name="connsiteY2716" fmla="*/ 905194 h 2787466"/>
              <a:gd name="connsiteX2717" fmla="*/ 2014286 w 3600000"/>
              <a:gd name="connsiteY2717" fmla="*/ 907432 h 2787466"/>
              <a:gd name="connsiteX2718" fmla="*/ 2013205 w 3600000"/>
              <a:gd name="connsiteY2718" fmla="*/ 906201 h 2787466"/>
              <a:gd name="connsiteX2719" fmla="*/ 2013500 w 3600000"/>
              <a:gd name="connsiteY2719" fmla="*/ 905211 h 2787466"/>
              <a:gd name="connsiteX2720" fmla="*/ 2012123 w 3600000"/>
              <a:gd name="connsiteY2720" fmla="*/ 905035 h 2787466"/>
              <a:gd name="connsiteX2721" fmla="*/ 2014039 w 3600000"/>
              <a:gd name="connsiteY2721" fmla="*/ 903400 h 2787466"/>
              <a:gd name="connsiteX2722" fmla="*/ 2014432 w 3600000"/>
              <a:gd name="connsiteY2722" fmla="*/ 902081 h 2787466"/>
              <a:gd name="connsiteX2723" fmla="*/ 2594825 w 3600000"/>
              <a:gd name="connsiteY2723" fmla="*/ 895905 h 2787466"/>
              <a:gd name="connsiteX2724" fmla="*/ 2583080 w 3600000"/>
              <a:gd name="connsiteY2724" fmla="*/ 900936 h 2787466"/>
              <a:gd name="connsiteX2725" fmla="*/ 2586995 w 3600000"/>
              <a:gd name="connsiteY2725" fmla="*/ 908954 h 2787466"/>
              <a:gd name="connsiteX2726" fmla="*/ 2591188 w 3600000"/>
              <a:gd name="connsiteY2726" fmla="*/ 910839 h 2787466"/>
              <a:gd name="connsiteX2727" fmla="*/ 2593104 w 3600000"/>
              <a:gd name="connsiteY2727" fmla="*/ 910254 h 2787466"/>
              <a:gd name="connsiteX2728" fmla="*/ 2596627 w 3600000"/>
              <a:gd name="connsiteY2728" fmla="*/ 907210 h 2787466"/>
              <a:gd name="connsiteX2729" fmla="*/ 2592147 w 3600000"/>
              <a:gd name="connsiteY2729" fmla="*/ 903923 h 2787466"/>
              <a:gd name="connsiteX2730" fmla="*/ 2598740 w 3600000"/>
              <a:gd name="connsiteY2730" fmla="*/ 904867 h 2787466"/>
              <a:gd name="connsiteX2731" fmla="*/ 2594825 w 3600000"/>
              <a:gd name="connsiteY2731" fmla="*/ 895905 h 2787466"/>
              <a:gd name="connsiteX2732" fmla="*/ 2063844 w 3600000"/>
              <a:gd name="connsiteY2732" fmla="*/ 895725 h 2787466"/>
              <a:gd name="connsiteX2733" fmla="*/ 2061263 w 3600000"/>
              <a:gd name="connsiteY2733" fmla="*/ 897059 h 2787466"/>
              <a:gd name="connsiteX2734" fmla="*/ 2059285 w 3600000"/>
              <a:gd name="connsiteY2734" fmla="*/ 900981 h 2787466"/>
              <a:gd name="connsiteX2735" fmla="*/ 2057069 w 3600000"/>
              <a:gd name="connsiteY2735" fmla="*/ 908744 h 2787466"/>
              <a:gd name="connsiteX2736" fmla="*/ 2058768 w 3600000"/>
              <a:gd name="connsiteY2736" fmla="*/ 908473 h 2787466"/>
              <a:gd name="connsiteX2737" fmla="*/ 2063495 w 3600000"/>
              <a:gd name="connsiteY2737" fmla="*/ 904197 h 2787466"/>
              <a:gd name="connsiteX2738" fmla="*/ 2064857 w 3600000"/>
              <a:gd name="connsiteY2738" fmla="*/ 896421 h 2787466"/>
              <a:gd name="connsiteX2739" fmla="*/ 2018658 w 3600000"/>
              <a:gd name="connsiteY2739" fmla="*/ 895578 h 2787466"/>
              <a:gd name="connsiteX2740" fmla="*/ 2016316 w 3600000"/>
              <a:gd name="connsiteY2740" fmla="*/ 896689 h 2787466"/>
              <a:gd name="connsiteX2741" fmla="*/ 2018251 w 3600000"/>
              <a:gd name="connsiteY2741" fmla="*/ 898812 h 2787466"/>
              <a:gd name="connsiteX2742" fmla="*/ 2032337 w 3600000"/>
              <a:gd name="connsiteY2742" fmla="*/ 902769 h 2787466"/>
              <a:gd name="connsiteX2743" fmla="*/ 2035224 w 3600000"/>
              <a:gd name="connsiteY2743" fmla="*/ 901982 h 2787466"/>
              <a:gd name="connsiteX2744" fmla="*/ 2037118 w 3600000"/>
              <a:gd name="connsiteY2744" fmla="*/ 900923 h 2787466"/>
              <a:gd name="connsiteX2745" fmla="*/ 2039233 w 3600000"/>
              <a:gd name="connsiteY2745" fmla="*/ 900888 h 2787466"/>
              <a:gd name="connsiteX2746" fmla="*/ 2042565 w 3600000"/>
              <a:gd name="connsiteY2746" fmla="*/ 899978 h 2787466"/>
              <a:gd name="connsiteX2747" fmla="*/ 2044700 w 3600000"/>
              <a:gd name="connsiteY2747" fmla="*/ 897123 h 2787466"/>
              <a:gd name="connsiteX2748" fmla="*/ 2032736 w 3600000"/>
              <a:gd name="connsiteY2748" fmla="*/ 896043 h 2787466"/>
              <a:gd name="connsiteX2749" fmla="*/ 2018658 w 3600000"/>
              <a:gd name="connsiteY2749" fmla="*/ 895578 h 2787466"/>
              <a:gd name="connsiteX2750" fmla="*/ 3388803 w 3600000"/>
              <a:gd name="connsiteY2750" fmla="*/ 895006 h 2787466"/>
              <a:gd name="connsiteX2751" fmla="*/ 3401908 w 3600000"/>
              <a:gd name="connsiteY2751" fmla="*/ 900090 h 2787466"/>
              <a:gd name="connsiteX2752" fmla="*/ 3392755 w 3600000"/>
              <a:gd name="connsiteY2752" fmla="*/ 910099 h 2787466"/>
              <a:gd name="connsiteX2753" fmla="*/ 3392755 w 3600000"/>
              <a:gd name="connsiteY2753" fmla="*/ 901043 h 2787466"/>
              <a:gd name="connsiteX2754" fmla="*/ 3388803 w 3600000"/>
              <a:gd name="connsiteY2754" fmla="*/ 895006 h 2787466"/>
              <a:gd name="connsiteX2755" fmla="*/ 2211000 w 3600000"/>
              <a:gd name="connsiteY2755" fmla="*/ 892094 h 2787466"/>
              <a:gd name="connsiteX2756" fmla="*/ 2170608 w 3600000"/>
              <a:gd name="connsiteY2756" fmla="*/ 901996 h 2787466"/>
              <a:gd name="connsiteX2757" fmla="*/ 2170608 w 3600000"/>
              <a:gd name="connsiteY2757" fmla="*/ 897123 h 2787466"/>
              <a:gd name="connsiteX2758" fmla="*/ 2140725 w 3600000"/>
              <a:gd name="connsiteY2758" fmla="*/ 901054 h 2787466"/>
              <a:gd name="connsiteX2759" fmla="*/ 2109400 w 3600000"/>
              <a:gd name="connsiteY2759" fmla="*/ 897123 h 2787466"/>
              <a:gd name="connsiteX2760" fmla="*/ 2100332 w 3600000"/>
              <a:gd name="connsiteY2760" fmla="*/ 896023 h 2787466"/>
              <a:gd name="connsiteX2761" fmla="*/ 2091059 w 3600000"/>
              <a:gd name="connsiteY2761" fmla="*/ 901996 h 2787466"/>
              <a:gd name="connsiteX2762" fmla="*/ 2094974 w 3600000"/>
              <a:gd name="connsiteY2762" fmla="*/ 904040 h 2787466"/>
              <a:gd name="connsiteX2763" fmla="*/ 2091316 w 3600000"/>
              <a:gd name="connsiteY2763" fmla="*/ 902920 h 2787466"/>
              <a:gd name="connsiteX2764" fmla="*/ 2090884 w 3600000"/>
              <a:gd name="connsiteY2764" fmla="*/ 902722 h 2787466"/>
              <a:gd name="connsiteX2765" fmla="*/ 2091475 w 3600000"/>
              <a:gd name="connsiteY2765" fmla="*/ 905714 h 2787466"/>
              <a:gd name="connsiteX2766" fmla="*/ 2093738 w 3600000"/>
              <a:gd name="connsiteY2766" fmla="*/ 907027 h 2787466"/>
              <a:gd name="connsiteX2767" fmla="*/ 2091718 w 3600000"/>
              <a:gd name="connsiteY2767" fmla="*/ 906946 h 2787466"/>
              <a:gd name="connsiteX2768" fmla="*/ 2091944 w 3600000"/>
              <a:gd name="connsiteY2768" fmla="*/ 908092 h 2787466"/>
              <a:gd name="connsiteX2769" fmla="*/ 2088196 w 3600000"/>
              <a:gd name="connsiteY2769" fmla="*/ 912872 h 2787466"/>
              <a:gd name="connsiteX2770" fmla="*/ 2073619 w 3600000"/>
              <a:gd name="connsiteY2770" fmla="*/ 907794 h 2787466"/>
              <a:gd name="connsiteX2771" fmla="*/ 2075810 w 3600000"/>
              <a:gd name="connsiteY2771" fmla="*/ 906369 h 2787466"/>
              <a:gd name="connsiteX2772" fmla="*/ 2073412 w 3600000"/>
              <a:gd name="connsiteY2772" fmla="*/ 906732 h 2787466"/>
              <a:gd name="connsiteX2773" fmla="*/ 2068354 w 3600000"/>
              <a:gd name="connsiteY2773" fmla="*/ 907991 h 2787466"/>
              <a:gd name="connsiteX2774" fmla="*/ 2066057 w 3600000"/>
              <a:gd name="connsiteY2774" fmla="*/ 907312 h 2787466"/>
              <a:gd name="connsiteX2775" fmla="*/ 2064907 w 3600000"/>
              <a:gd name="connsiteY2775" fmla="*/ 908812 h 2787466"/>
              <a:gd name="connsiteX2776" fmla="*/ 2064474 w 3600000"/>
              <a:gd name="connsiteY2776" fmla="*/ 913000 h 2787466"/>
              <a:gd name="connsiteX2777" fmla="*/ 2064438 w 3600000"/>
              <a:gd name="connsiteY2777" fmla="*/ 913338 h 2787466"/>
              <a:gd name="connsiteX2778" fmla="*/ 2065081 w 3600000"/>
              <a:gd name="connsiteY2778" fmla="*/ 916762 h 2787466"/>
              <a:gd name="connsiteX2779" fmla="*/ 2067504 w 3600000"/>
              <a:gd name="connsiteY2779" fmla="*/ 924249 h 2787466"/>
              <a:gd name="connsiteX2780" fmla="*/ 2073070 w 3600000"/>
              <a:gd name="connsiteY2780" fmla="*/ 922825 h 2787466"/>
              <a:gd name="connsiteX2781" fmla="*/ 2073090 w 3600000"/>
              <a:gd name="connsiteY2781" fmla="*/ 922446 h 2787466"/>
              <a:gd name="connsiteX2782" fmla="*/ 2076420 w 3600000"/>
              <a:gd name="connsiteY2782" fmla="*/ 918892 h 2787466"/>
              <a:gd name="connsiteX2783" fmla="*/ 2094605 w 3600000"/>
              <a:gd name="connsiteY2783" fmla="*/ 916310 h 2787466"/>
              <a:gd name="connsiteX2784" fmla="*/ 2119724 w 3600000"/>
              <a:gd name="connsiteY2784" fmla="*/ 914560 h 2787466"/>
              <a:gd name="connsiteX2785" fmla="*/ 2121265 w 3600000"/>
              <a:gd name="connsiteY2785" fmla="*/ 918296 h 2787466"/>
              <a:gd name="connsiteX2786" fmla="*/ 2124668 w 3600000"/>
              <a:gd name="connsiteY2786" fmla="*/ 917626 h 2787466"/>
              <a:gd name="connsiteX2787" fmla="*/ 2122197 w 3600000"/>
              <a:gd name="connsiteY2787" fmla="*/ 914560 h 2787466"/>
              <a:gd name="connsiteX2788" fmla="*/ 2125572 w 3600000"/>
              <a:gd name="connsiteY2788" fmla="*/ 915013 h 2787466"/>
              <a:gd name="connsiteX2789" fmla="*/ 2127023 w 3600000"/>
              <a:gd name="connsiteY2789" fmla="*/ 917162 h 2787466"/>
              <a:gd name="connsiteX2790" fmla="*/ 2131934 w 3600000"/>
              <a:gd name="connsiteY2790" fmla="*/ 916195 h 2787466"/>
              <a:gd name="connsiteX2791" fmla="*/ 2144435 w 3600000"/>
              <a:gd name="connsiteY2791" fmla="*/ 906083 h 2787466"/>
              <a:gd name="connsiteX2792" fmla="*/ 2152266 w 3600000"/>
              <a:gd name="connsiteY2792" fmla="*/ 907027 h 2787466"/>
              <a:gd name="connsiteX2793" fmla="*/ 2144435 w 3600000"/>
              <a:gd name="connsiteY2793" fmla="*/ 913000 h 2787466"/>
              <a:gd name="connsiteX2794" fmla="*/ 2167928 w 3600000"/>
              <a:gd name="connsiteY2794" fmla="*/ 904040 h 2787466"/>
              <a:gd name="connsiteX2795" fmla="*/ 2211000 w 3600000"/>
              <a:gd name="connsiteY2795" fmla="*/ 892094 h 2787466"/>
              <a:gd name="connsiteX2796" fmla="*/ 2894239 w 3600000"/>
              <a:gd name="connsiteY2796" fmla="*/ 891974 h 2787466"/>
              <a:gd name="connsiteX2797" fmla="*/ 2887851 w 3600000"/>
              <a:gd name="connsiteY2797" fmla="*/ 897006 h 2787466"/>
              <a:gd name="connsiteX2798" fmla="*/ 2896917 w 3600000"/>
              <a:gd name="connsiteY2798" fmla="*/ 897006 h 2787466"/>
              <a:gd name="connsiteX2799" fmla="*/ 2630761 w 3600000"/>
              <a:gd name="connsiteY2799" fmla="*/ 891447 h 2787466"/>
              <a:gd name="connsiteX2800" fmla="*/ 2618317 w 3600000"/>
              <a:gd name="connsiteY2800" fmla="*/ 898892 h 2787466"/>
              <a:gd name="connsiteX2801" fmla="*/ 2618290 w 3600000"/>
              <a:gd name="connsiteY2801" fmla="*/ 898914 h 2787466"/>
              <a:gd name="connsiteX2802" fmla="*/ 2630127 w 3600000"/>
              <a:gd name="connsiteY2802" fmla="*/ 891956 h 2787466"/>
              <a:gd name="connsiteX2803" fmla="*/ 2961873 w 3600000"/>
              <a:gd name="connsiteY2803" fmla="*/ 890846 h 2787466"/>
              <a:gd name="connsiteX2804" fmla="*/ 2954134 w 3600000"/>
              <a:gd name="connsiteY2804" fmla="*/ 894925 h 2787466"/>
              <a:gd name="connsiteX2805" fmla="*/ 2954134 w 3600000"/>
              <a:gd name="connsiteY2805" fmla="*/ 891825 h 2787466"/>
              <a:gd name="connsiteX2806" fmla="*/ 2961873 w 3600000"/>
              <a:gd name="connsiteY2806" fmla="*/ 890846 h 2787466"/>
              <a:gd name="connsiteX2807" fmla="*/ 3501113 w 3600000"/>
              <a:gd name="connsiteY2807" fmla="*/ 889271 h 2787466"/>
              <a:gd name="connsiteX2808" fmla="*/ 3501339 w 3600000"/>
              <a:gd name="connsiteY2808" fmla="*/ 894790 h 2787466"/>
              <a:gd name="connsiteX2809" fmla="*/ 3512775 w 3600000"/>
              <a:gd name="connsiteY2809" fmla="*/ 895743 h 2787466"/>
              <a:gd name="connsiteX2810" fmla="*/ 3500135 w 3600000"/>
              <a:gd name="connsiteY2810" fmla="*/ 900827 h 2787466"/>
              <a:gd name="connsiteX2811" fmla="*/ 3498932 w 3600000"/>
              <a:gd name="connsiteY2811" fmla="*/ 890818 h 2787466"/>
              <a:gd name="connsiteX2812" fmla="*/ 3501113 w 3600000"/>
              <a:gd name="connsiteY2812" fmla="*/ 889271 h 2787466"/>
              <a:gd name="connsiteX2813" fmla="*/ 3264494 w 3600000"/>
              <a:gd name="connsiteY2813" fmla="*/ 885849 h 2787466"/>
              <a:gd name="connsiteX2814" fmla="*/ 3261006 w 3600000"/>
              <a:gd name="connsiteY2814" fmla="*/ 887095 h 2787466"/>
              <a:gd name="connsiteX2815" fmla="*/ 3260437 w 3600000"/>
              <a:gd name="connsiteY2815" fmla="*/ 889302 h 2787466"/>
              <a:gd name="connsiteX2816" fmla="*/ 3259237 w 3600000"/>
              <a:gd name="connsiteY2816" fmla="*/ 887727 h 2787466"/>
              <a:gd name="connsiteX2817" fmla="*/ 3249752 w 3600000"/>
              <a:gd name="connsiteY2817" fmla="*/ 891115 h 2787466"/>
              <a:gd name="connsiteX2818" fmla="*/ 3198631 w 3600000"/>
              <a:gd name="connsiteY2818" fmla="*/ 913910 h 2787466"/>
              <a:gd name="connsiteX2819" fmla="*/ 3197209 w 3600000"/>
              <a:gd name="connsiteY2819" fmla="*/ 914444 h 2787466"/>
              <a:gd name="connsiteX2820" fmla="*/ 3197773 w 3600000"/>
              <a:gd name="connsiteY2820" fmla="*/ 914772 h 2787466"/>
              <a:gd name="connsiteX2821" fmla="*/ 3196780 w 3600000"/>
              <a:gd name="connsiteY2821" fmla="*/ 914606 h 2787466"/>
              <a:gd name="connsiteX2822" fmla="*/ 3168685 w 3600000"/>
              <a:gd name="connsiteY2822" fmla="*/ 925163 h 2787466"/>
              <a:gd name="connsiteX2823" fmla="*/ 3167894 w 3600000"/>
              <a:gd name="connsiteY2823" fmla="*/ 927664 h 2787466"/>
              <a:gd name="connsiteX2824" fmla="*/ 3175518 w 3600000"/>
              <a:gd name="connsiteY2824" fmla="*/ 924834 h 2787466"/>
              <a:gd name="connsiteX2825" fmla="*/ 3165215 w 3600000"/>
              <a:gd name="connsiteY2825" fmla="*/ 954550 h 2787466"/>
              <a:gd name="connsiteX2826" fmla="*/ 3133893 w 3600000"/>
              <a:gd name="connsiteY2826" fmla="*/ 977504 h 2787466"/>
              <a:gd name="connsiteX2827" fmla="*/ 3132194 w 3600000"/>
              <a:gd name="connsiteY2827" fmla="*/ 982987 h 2787466"/>
              <a:gd name="connsiteX2828" fmla="*/ 3131285 w 3600000"/>
              <a:gd name="connsiteY2828" fmla="*/ 984427 h 2787466"/>
              <a:gd name="connsiteX2829" fmla="*/ 3131285 w 3600000"/>
              <a:gd name="connsiteY2829" fmla="*/ 988732 h 2787466"/>
              <a:gd name="connsiteX2830" fmla="*/ 3131421 w 3600000"/>
              <a:gd name="connsiteY2830" fmla="*/ 989296 h 2787466"/>
              <a:gd name="connsiteX2831" fmla="*/ 3139045 w 3600000"/>
              <a:gd name="connsiteY2831" fmla="*/ 989296 h 2787466"/>
              <a:gd name="connsiteX2832" fmla="*/ 3131407 w 3600000"/>
              <a:gd name="connsiteY2832" fmla="*/ 993465 h 2787466"/>
              <a:gd name="connsiteX2833" fmla="*/ 3131285 w 3600000"/>
              <a:gd name="connsiteY2833" fmla="*/ 993674 h 2787466"/>
              <a:gd name="connsiteX2834" fmla="*/ 3131285 w 3600000"/>
              <a:gd name="connsiteY2834" fmla="*/ 1007292 h 2787466"/>
              <a:gd name="connsiteX2835" fmla="*/ 3131840 w 3600000"/>
              <a:gd name="connsiteY2835" fmla="*/ 1012516 h 2787466"/>
              <a:gd name="connsiteX2836" fmla="*/ 3137310 w 3600000"/>
              <a:gd name="connsiteY2836" fmla="*/ 1014063 h 2787466"/>
              <a:gd name="connsiteX2837" fmla="*/ 3155656 w 3600000"/>
              <a:gd name="connsiteY2837" fmla="*/ 1001058 h 2787466"/>
              <a:gd name="connsiteX2838" fmla="*/ 3152976 w 3600000"/>
              <a:gd name="connsiteY2838" fmla="*/ 1007085 h 2787466"/>
              <a:gd name="connsiteX2839" fmla="*/ 3149745 w 3600000"/>
              <a:gd name="connsiteY2839" fmla="*/ 1009589 h 2787466"/>
              <a:gd name="connsiteX2840" fmla="*/ 3153927 w 3600000"/>
              <a:gd name="connsiteY2840" fmla="*/ 1011929 h 2787466"/>
              <a:gd name="connsiteX2841" fmla="*/ 3154836 w 3600000"/>
              <a:gd name="connsiteY2841" fmla="*/ 1014090 h 2787466"/>
              <a:gd name="connsiteX2842" fmla="*/ 3151005 w 3600000"/>
              <a:gd name="connsiteY2842" fmla="*/ 1019765 h 2787466"/>
              <a:gd name="connsiteX2843" fmla="*/ 3152233 w 3600000"/>
              <a:gd name="connsiteY2843" fmla="*/ 1019168 h 2787466"/>
              <a:gd name="connsiteX2844" fmla="*/ 3153469 w 3600000"/>
              <a:gd name="connsiteY2844" fmla="*/ 1025143 h 2787466"/>
              <a:gd name="connsiteX2845" fmla="*/ 3167894 w 3600000"/>
              <a:gd name="connsiteY2845" fmla="*/ 1023099 h 2787466"/>
              <a:gd name="connsiteX2846" fmla="*/ 3157385 w 3600000"/>
              <a:gd name="connsiteY2846" fmla="*/ 1018225 h 2787466"/>
              <a:gd name="connsiteX2847" fmla="*/ 3171809 w 3600000"/>
              <a:gd name="connsiteY2847" fmla="*/ 995271 h 2787466"/>
              <a:gd name="connsiteX2848" fmla="*/ 3157385 w 3600000"/>
              <a:gd name="connsiteY2848" fmla="*/ 995271 h 2787466"/>
              <a:gd name="connsiteX2849" fmla="*/ 3169130 w 3600000"/>
              <a:gd name="connsiteY2849" fmla="*/ 982378 h 2787466"/>
              <a:gd name="connsiteX2850" fmla="*/ 3176961 w 3600000"/>
              <a:gd name="connsiteY2850" fmla="*/ 985366 h 2787466"/>
              <a:gd name="connsiteX2851" fmla="*/ 3161300 w 3600000"/>
              <a:gd name="connsiteY2851" fmla="*/ 996371 h 2787466"/>
              <a:gd name="connsiteX2852" fmla="*/ 3174281 w 3600000"/>
              <a:gd name="connsiteY2852" fmla="*/ 994327 h 2787466"/>
              <a:gd name="connsiteX2853" fmla="*/ 3185620 w 3600000"/>
              <a:gd name="connsiteY2853" fmla="*/ 982604 h 2787466"/>
              <a:gd name="connsiteX2854" fmla="*/ 3181881 w 3600000"/>
              <a:gd name="connsiteY2854" fmla="*/ 975347 h 2787466"/>
              <a:gd name="connsiteX2855" fmla="*/ 3185236 w 3600000"/>
              <a:gd name="connsiteY2855" fmla="*/ 966413 h 2787466"/>
              <a:gd name="connsiteX2856" fmla="*/ 3190436 w 3600000"/>
              <a:gd name="connsiteY2856" fmla="*/ 975347 h 2787466"/>
              <a:gd name="connsiteX2857" fmla="*/ 3188579 w 3600000"/>
              <a:gd name="connsiteY2857" fmla="*/ 979544 h 2787466"/>
              <a:gd name="connsiteX2858" fmla="*/ 3196331 w 3600000"/>
              <a:gd name="connsiteY2858" fmla="*/ 971530 h 2787466"/>
              <a:gd name="connsiteX2859" fmla="*/ 3211992 w 3600000"/>
              <a:gd name="connsiteY2859" fmla="*/ 972473 h 2787466"/>
              <a:gd name="connsiteX2860" fmla="*/ 3204161 w 3600000"/>
              <a:gd name="connsiteY2860" fmla="*/ 982378 h 2787466"/>
              <a:gd name="connsiteX2861" fmla="*/ 3219821 w 3600000"/>
              <a:gd name="connsiteY2861" fmla="*/ 965555 h 2787466"/>
              <a:gd name="connsiteX2862" fmla="*/ 3209519 w 3600000"/>
              <a:gd name="connsiteY2862" fmla="*/ 963511 h 2787466"/>
              <a:gd name="connsiteX2863" fmla="*/ 3201688 w 3600000"/>
              <a:gd name="connsiteY2863" fmla="*/ 975461 h 2787466"/>
              <a:gd name="connsiteX2864" fmla="*/ 3201688 w 3600000"/>
              <a:gd name="connsiteY2864" fmla="*/ 963511 h 2787466"/>
              <a:gd name="connsiteX2865" fmla="*/ 3229094 w 3600000"/>
              <a:gd name="connsiteY2865" fmla="*/ 926720 h 2787466"/>
              <a:gd name="connsiteX2866" fmla="*/ 3243314 w 3600000"/>
              <a:gd name="connsiteY2866" fmla="*/ 923734 h 2787466"/>
              <a:gd name="connsiteX2867" fmla="*/ 3244550 w 3600000"/>
              <a:gd name="connsiteY2867" fmla="*/ 918859 h 2787466"/>
              <a:gd name="connsiteX2868" fmla="*/ 3242077 w 3600000"/>
              <a:gd name="connsiteY2868" fmla="*/ 911784 h 2787466"/>
              <a:gd name="connsiteX2869" fmla="*/ 3265115 w 3600000"/>
              <a:gd name="connsiteY2869" fmla="*/ 888105 h 2787466"/>
              <a:gd name="connsiteX2870" fmla="*/ 2253866 w 3600000"/>
              <a:gd name="connsiteY2870" fmla="*/ 883133 h 2787466"/>
              <a:gd name="connsiteX2871" fmla="*/ 2212236 w 3600000"/>
              <a:gd name="connsiteY2871" fmla="*/ 897123 h 2787466"/>
              <a:gd name="connsiteX2872" fmla="*/ 2253866 w 3600000"/>
              <a:gd name="connsiteY2872" fmla="*/ 883133 h 2787466"/>
              <a:gd name="connsiteX2873" fmla="*/ 2593589 w 3600000"/>
              <a:gd name="connsiteY2873" fmla="*/ 883012 h 2787466"/>
              <a:gd name="connsiteX2874" fmla="*/ 2603892 w 3600000"/>
              <a:gd name="connsiteY2874" fmla="*/ 899993 h 2787466"/>
              <a:gd name="connsiteX2875" fmla="*/ 2610486 w 3600000"/>
              <a:gd name="connsiteY2875" fmla="*/ 899993 h 2787466"/>
              <a:gd name="connsiteX2876" fmla="*/ 2603892 w 3600000"/>
              <a:gd name="connsiteY2876" fmla="*/ 891031 h 2787466"/>
              <a:gd name="connsiteX2877" fmla="*/ 2610486 w 3600000"/>
              <a:gd name="connsiteY2877" fmla="*/ 897006 h 2787466"/>
              <a:gd name="connsiteX2878" fmla="*/ 2614401 w 3600000"/>
              <a:gd name="connsiteY2878" fmla="*/ 883956 h 2787466"/>
              <a:gd name="connsiteX2879" fmla="*/ 2593589 w 3600000"/>
              <a:gd name="connsiteY2879" fmla="*/ 883012 h 2787466"/>
              <a:gd name="connsiteX2880" fmla="*/ 2632535 w 3600000"/>
              <a:gd name="connsiteY2880" fmla="*/ 879082 h 2787466"/>
              <a:gd name="connsiteX2881" fmla="*/ 2631299 w 3600000"/>
              <a:gd name="connsiteY2881" fmla="*/ 881126 h 2787466"/>
              <a:gd name="connsiteX2882" fmla="*/ 2633875 w 3600000"/>
              <a:gd name="connsiteY2882" fmla="*/ 884526 h 2787466"/>
              <a:gd name="connsiteX2883" fmla="*/ 2635917 w 3600000"/>
              <a:gd name="connsiteY2883" fmla="*/ 887314 h 2787466"/>
              <a:gd name="connsiteX2884" fmla="*/ 2642303 w 3600000"/>
              <a:gd name="connsiteY2884" fmla="*/ 882194 h 2787466"/>
              <a:gd name="connsiteX2885" fmla="*/ 2639323 w 3600000"/>
              <a:gd name="connsiteY2885" fmla="*/ 882927 h 2787466"/>
              <a:gd name="connsiteX2886" fmla="*/ 2632535 w 3600000"/>
              <a:gd name="connsiteY2886" fmla="*/ 879082 h 2787466"/>
              <a:gd name="connsiteX2887" fmla="*/ 3535133 w 3600000"/>
              <a:gd name="connsiteY2887" fmla="*/ 878291 h 2787466"/>
              <a:gd name="connsiteX2888" fmla="*/ 3537860 w 3600000"/>
              <a:gd name="connsiteY2888" fmla="*/ 892772 h 2787466"/>
              <a:gd name="connsiteX2889" fmla="*/ 3535133 w 3600000"/>
              <a:gd name="connsiteY2889" fmla="*/ 878291 h 2787466"/>
              <a:gd name="connsiteX2890" fmla="*/ 3361868 w 3600000"/>
              <a:gd name="connsiteY2890" fmla="*/ 876981 h 2787466"/>
              <a:gd name="connsiteX2891" fmla="*/ 3361868 w 3600000"/>
              <a:gd name="connsiteY2891" fmla="*/ 904556 h 2787466"/>
              <a:gd name="connsiteX2892" fmla="*/ 3361868 w 3600000"/>
              <a:gd name="connsiteY2892" fmla="*/ 876981 h 2787466"/>
              <a:gd name="connsiteX2893" fmla="*/ 2306212 w 3600000"/>
              <a:gd name="connsiteY2893" fmla="*/ 873977 h 2787466"/>
              <a:gd name="connsiteX2894" fmla="*/ 2304769 w 3600000"/>
              <a:gd name="connsiteY2894" fmla="*/ 878260 h 2787466"/>
              <a:gd name="connsiteX2895" fmla="*/ 2312601 w 3600000"/>
              <a:gd name="connsiteY2895" fmla="*/ 874173 h 2787466"/>
              <a:gd name="connsiteX2896" fmla="*/ 2306212 w 3600000"/>
              <a:gd name="connsiteY2896" fmla="*/ 873977 h 2787466"/>
              <a:gd name="connsiteX2897" fmla="*/ 2628620 w 3600000"/>
              <a:gd name="connsiteY2897" fmla="*/ 873107 h 2787466"/>
              <a:gd name="connsiteX2898" fmla="*/ 2626148 w 3600000"/>
              <a:gd name="connsiteY2898" fmla="*/ 877038 h 2787466"/>
              <a:gd name="connsiteX2899" fmla="*/ 2628620 w 3600000"/>
              <a:gd name="connsiteY2899" fmla="*/ 873107 h 2787466"/>
              <a:gd name="connsiteX2900" fmla="*/ 3328008 w 3600000"/>
              <a:gd name="connsiteY2900" fmla="*/ 872128 h 2787466"/>
              <a:gd name="connsiteX2901" fmla="*/ 3322959 w 3600000"/>
              <a:gd name="connsiteY2901" fmla="*/ 887220 h 2787466"/>
              <a:gd name="connsiteX2902" fmla="*/ 3328008 w 3600000"/>
              <a:gd name="connsiteY2902" fmla="*/ 872128 h 2787466"/>
              <a:gd name="connsiteX2903" fmla="*/ 2644281 w 3600000"/>
              <a:gd name="connsiteY2903" fmla="*/ 870121 h 2787466"/>
              <a:gd name="connsiteX2904" fmla="*/ 2645724 w 3600000"/>
              <a:gd name="connsiteY2904" fmla="*/ 876094 h 2787466"/>
              <a:gd name="connsiteX2905" fmla="*/ 2650505 w 3600000"/>
              <a:gd name="connsiteY2905" fmla="*/ 874260 h 2787466"/>
              <a:gd name="connsiteX2906" fmla="*/ 2651561 w 3600000"/>
              <a:gd name="connsiteY2906" fmla="*/ 874941 h 2787466"/>
              <a:gd name="connsiteX2907" fmla="*/ 2657669 w 3600000"/>
              <a:gd name="connsiteY2907" fmla="*/ 870625 h 2787466"/>
              <a:gd name="connsiteX2908" fmla="*/ 2655586 w 3600000"/>
              <a:gd name="connsiteY2908" fmla="*/ 871528 h 2787466"/>
              <a:gd name="connsiteX2909" fmla="*/ 2644281 w 3600000"/>
              <a:gd name="connsiteY2909" fmla="*/ 870121 h 2787466"/>
              <a:gd name="connsiteX2910" fmla="*/ 2916767 w 3600000"/>
              <a:gd name="connsiteY2910" fmla="*/ 867511 h 2787466"/>
              <a:gd name="connsiteX2911" fmla="*/ 2909900 w 3600000"/>
              <a:gd name="connsiteY2911" fmla="*/ 880025 h 2787466"/>
              <a:gd name="connsiteX2912" fmla="*/ 2923087 w 3600000"/>
              <a:gd name="connsiteY2912" fmla="*/ 869177 h 2787466"/>
              <a:gd name="connsiteX2913" fmla="*/ 2916767 w 3600000"/>
              <a:gd name="connsiteY2913" fmla="*/ 867511 h 2787466"/>
              <a:gd name="connsiteX2914" fmla="*/ 3392965 w 3600000"/>
              <a:gd name="connsiteY2914" fmla="*/ 863374 h 2787466"/>
              <a:gd name="connsiteX2915" fmla="*/ 3390303 w 3600000"/>
              <a:gd name="connsiteY2915" fmla="*/ 871297 h 2787466"/>
              <a:gd name="connsiteX2916" fmla="*/ 3392965 w 3600000"/>
              <a:gd name="connsiteY2916" fmla="*/ 863374 h 2787466"/>
              <a:gd name="connsiteX2917" fmla="*/ 2356909 w 3600000"/>
              <a:gd name="connsiteY2917" fmla="*/ 860341 h 2787466"/>
              <a:gd name="connsiteX2918" fmla="*/ 2354577 w 3600000"/>
              <a:gd name="connsiteY2918" fmla="*/ 863249 h 2787466"/>
              <a:gd name="connsiteX2919" fmla="*/ 2354230 w 3600000"/>
              <a:gd name="connsiteY2919" fmla="*/ 863327 h 2787466"/>
              <a:gd name="connsiteX2920" fmla="*/ 2356909 w 3600000"/>
              <a:gd name="connsiteY2920" fmla="*/ 860341 h 2787466"/>
              <a:gd name="connsiteX2921" fmla="*/ 2707335 w 3600000"/>
              <a:gd name="connsiteY2921" fmla="*/ 854114 h 2787466"/>
              <a:gd name="connsiteX2922" fmla="*/ 2706882 w 3600000"/>
              <a:gd name="connsiteY2922" fmla="*/ 855552 h 2787466"/>
              <a:gd name="connsiteX2923" fmla="*/ 2708162 w 3600000"/>
              <a:gd name="connsiteY2923" fmla="*/ 855184 h 2787466"/>
              <a:gd name="connsiteX2924" fmla="*/ 2477200 w 3600000"/>
              <a:gd name="connsiteY2924" fmla="*/ 849944 h 2787466"/>
              <a:gd name="connsiteX2925" fmla="*/ 2473306 w 3600000"/>
              <a:gd name="connsiteY2925" fmla="*/ 862005 h 2787466"/>
              <a:gd name="connsiteX2926" fmla="*/ 2467467 w 3600000"/>
              <a:gd name="connsiteY2926" fmla="*/ 861985 h 2787466"/>
              <a:gd name="connsiteX2927" fmla="*/ 2464637 w 3600000"/>
              <a:gd name="connsiteY2927" fmla="*/ 860534 h 2787466"/>
              <a:gd name="connsiteX2928" fmla="*/ 2463254 w 3600000"/>
              <a:gd name="connsiteY2928" fmla="*/ 864888 h 2787466"/>
              <a:gd name="connsiteX2929" fmla="*/ 2446180 w 3600000"/>
              <a:gd name="connsiteY2929" fmla="*/ 871293 h 2787466"/>
              <a:gd name="connsiteX2930" fmla="*/ 2453466 w 3600000"/>
              <a:gd name="connsiteY2930" fmla="*/ 865461 h 2787466"/>
              <a:gd name="connsiteX2931" fmla="*/ 2464468 w 3600000"/>
              <a:gd name="connsiteY2931" fmla="*/ 860447 h 2787466"/>
              <a:gd name="connsiteX2932" fmla="*/ 2461626 w 3600000"/>
              <a:gd name="connsiteY2932" fmla="*/ 858990 h 2787466"/>
              <a:gd name="connsiteX2933" fmla="*/ 2477200 w 3600000"/>
              <a:gd name="connsiteY2933" fmla="*/ 849944 h 2787466"/>
              <a:gd name="connsiteX2934" fmla="*/ 2727738 w 3600000"/>
              <a:gd name="connsiteY2934" fmla="*/ 841348 h 2787466"/>
              <a:gd name="connsiteX2935" fmla="*/ 2717228 w 3600000"/>
              <a:gd name="connsiteY2935" fmla="*/ 851253 h 2787466"/>
              <a:gd name="connsiteX2936" fmla="*/ 2727738 w 3600000"/>
              <a:gd name="connsiteY2936" fmla="*/ 841348 h 2787466"/>
              <a:gd name="connsiteX2937" fmla="*/ 2941222 w 3600000"/>
              <a:gd name="connsiteY2937" fmla="*/ 839305 h 2787466"/>
              <a:gd name="connsiteX2938" fmla="*/ 2937307 w 3600000"/>
              <a:gd name="connsiteY2938" fmla="*/ 848266 h 2787466"/>
              <a:gd name="connsiteX2939" fmla="*/ 2941222 w 3600000"/>
              <a:gd name="connsiteY2939" fmla="*/ 839305 h 2787466"/>
              <a:gd name="connsiteX2940" fmla="*/ 3399248 w 3600000"/>
              <a:gd name="connsiteY2940" fmla="*/ 831225 h 2787466"/>
              <a:gd name="connsiteX2941" fmla="*/ 3406871 w 3600000"/>
              <a:gd name="connsiteY2941" fmla="*/ 853976 h 2787466"/>
              <a:gd name="connsiteX2942" fmla="*/ 3396841 w 3600000"/>
              <a:gd name="connsiteY2942" fmla="*/ 856957 h 2787466"/>
              <a:gd name="connsiteX2943" fmla="*/ 3399248 w 3600000"/>
              <a:gd name="connsiteY2943" fmla="*/ 831225 h 2787466"/>
              <a:gd name="connsiteX2944" fmla="*/ 3571924 w 3600000"/>
              <a:gd name="connsiteY2944" fmla="*/ 830597 h 2787466"/>
              <a:gd name="connsiteX2945" fmla="*/ 3582737 w 3600000"/>
              <a:gd name="connsiteY2945" fmla="*/ 835385 h 2787466"/>
              <a:gd name="connsiteX2946" fmla="*/ 3581493 w 3600000"/>
              <a:gd name="connsiteY2946" fmla="*/ 842164 h 2787466"/>
              <a:gd name="connsiteX2947" fmla="*/ 3559318 w 3600000"/>
              <a:gd name="connsiteY2947" fmla="*/ 832458 h 2787466"/>
              <a:gd name="connsiteX2948" fmla="*/ 3568437 w 3600000"/>
              <a:gd name="connsiteY2948" fmla="*/ 832458 h 2787466"/>
              <a:gd name="connsiteX2949" fmla="*/ 3571924 w 3600000"/>
              <a:gd name="connsiteY2949" fmla="*/ 830597 h 2787466"/>
              <a:gd name="connsiteX2950" fmla="*/ 2539570 w 3600000"/>
              <a:gd name="connsiteY2950" fmla="*/ 826373 h 2787466"/>
              <a:gd name="connsiteX2951" fmla="*/ 2482527 w 3600000"/>
              <a:gd name="connsiteY2951" fmla="*/ 853948 h 2787466"/>
              <a:gd name="connsiteX2952" fmla="*/ 2539570 w 3600000"/>
              <a:gd name="connsiteY2952" fmla="*/ 826373 h 2787466"/>
              <a:gd name="connsiteX2953" fmla="*/ 3380102 w 3600000"/>
              <a:gd name="connsiteY2953" fmla="*/ 821520 h 2787466"/>
              <a:gd name="connsiteX2954" fmla="*/ 3374779 w 3600000"/>
              <a:gd name="connsiteY2954" fmla="*/ 850479 h 2787466"/>
              <a:gd name="connsiteX2955" fmla="*/ 3380102 w 3600000"/>
              <a:gd name="connsiteY2955" fmla="*/ 821520 h 2787466"/>
              <a:gd name="connsiteX2956" fmla="*/ 3010094 w 3600000"/>
              <a:gd name="connsiteY2956" fmla="*/ 821520 h 2787466"/>
              <a:gd name="connsiteX2957" fmla="*/ 3024275 w 3600000"/>
              <a:gd name="connsiteY2957" fmla="*/ 826639 h 2787466"/>
              <a:gd name="connsiteX2958" fmla="*/ 3012561 w 3600000"/>
              <a:gd name="connsiteY2958" fmla="*/ 827599 h 2787466"/>
              <a:gd name="connsiteX2959" fmla="*/ 3010094 w 3600000"/>
              <a:gd name="connsiteY2959" fmla="*/ 821520 h 2787466"/>
              <a:gd name="connsiteX2960" fmla="*/ 2713191 w 3600000"/>
              <a:gd name="connsiteY2960" fmla="*/ 820579 h 2787466"/>
              <a:gd name="connsiteX2961" fmla="*/ 2719489 w 3600000"/>
              <a:gd name="connsiteY2961" fmla="*/ 821325 h 2787466"/>
              <a:gd name="connsiteX2962" fmla="*/ 2717560 w 3600000"/>
              <a:gd name="connsiteY2962" fmla="*/ 822349 h 2787466"/>
              <a:gd name="connsiteX2963" fmla="*/ 2719402 w 3600000"/>
              <a:gd name="connsiteY2963" fmla="*/ 825429 h 2787466"/>
              <a:gd name="connsiteX2964" fmla="*/ 2712958 w 3600000"/>
              <a:gd name="connsiteY2964" fmla="*/ 828817 h 2787466"/>
              <a:gd name="connsiteX2965" fmla="*/ 2711073 w 3600000"/>
              <a:gd name="connsiteY2965" fmla="*/ 827347 h 2787466"/>
              <a:gd name="connsiteX2966" fmla="*/ 2709086 w 3600000"/>
              <a:gd name="connsiteY2966" fmla="*/ 832427 h 2787466"/>
              <a:gd name="connsiteX2967" fmla="*/ 2701334 w 3600000"/>
              <a:gd name="connsiteY2967" fmla="*/ 831475 h 2787466"/>
              <a:gd name="connsiteX2968" fmla="*/ 2703986 w 3600000"/>
              <a:gd name="connsiteY2968" fmla="*/ 835440 h 2787466"/>
              <a:gd name="connsiteX2969" fmla="*/ 2695011 w 3600000"/>
              <a:gd name="connsiteY2969" fmla="*/ 833378 h 2787466"/>
              <a:gd name="connsiteX2970" fmla="*/ 2695011 w 3600000"/>
              <a:gd name="connsiteY2970" fmla="*/ 835440 h 2787466"/>
              <a:gd name="connsiteX2971" fmla="*/ 2700110 w 3600000"/>
              <a:gd name="connsiteY2971" fmla="*/ 839405 h 2787466"/>
              <a:gd name="connsiteX2972" fmla="*/ 2695011 w 3600000"/>
              <a:gd name="connsiteY2972" fmla="*/ 841466 h 2787466"/>
              <a:gd name="connsiteX2973" fmla="*/ 2691135 w 3600000"/>
              <a:gd name="connsiteY2973" fmla="*/ 831475 h 2787466"/>
              <a:gd name="connsiteX2974" fmla="*/ 2700110 w 3600000"/>
              <a:gd name="connsiteY2974" fmla="*/ 826400 h 2787466"/>
              <a:gd name="connsiteX2975" fmla="*/ 2713191 w 3600000"/>
              <a:gd name="connsiteY2975" fmla="*/ 820579 h 2787466"/>
              <a:gd name="connsiteX2976" fmla="*/ 2705521 w 3600000"/>
              <a:gd name="connsiteY2976" fmla="*/ 815281 h 2787466"/>
              <a:gd name="connsiteX2977" fmla="*/ 2703034 w 3600000"/>
              <a:gd name="connsiteY2977" fmla="*/ 824185 h 2787466"/>
              <a:gd name="connsiteX2978" fmla="*/ 2695159 w 3600000"/>
              <a:gd name="connsiteY2978" fmla="*/ 822311 h 2787466"/>
              <a:gd name="connsiteX2979" fmla="*/ 2705521 w 3600000"/>
              <a:gd name="connsiteY2979" fmla="*/ 815281 h 2787466"/>
              <a:gd name="connsiteX2980" fmla="*/ 2950288 w 3600000"/>
              <a:gd name="connsiteY2980" fmla="*/ 811475 h 2787466"/>
              <a:gd name="connsiteX2981" fmla="*/ 2938543 w 3600000"/>
              <a:gd name="connsiteY2981" fmla="*/ 818393 h 2787466"/>
              <a:gd name="connsiteX2982" fmla="*/ 2951525 w 3600000"/>
              <a:gd name="connsiteY2982" fmla="*/ 824368 h 2787466"/>
              <a:gd name="connsiteX2983" fmla="*/ 2943900 w 3600000"/>
              <a:gd name="connsiteY2983" fmla="*/ 835374 h 2787466"/>
              <a:gd name="connsiteX2984" fmla="*/ 2951525 w 3600000"/>
              <a:gd name="connsiteY2984" fmla="*/ 840247 h 2787466"/>
              <a:gd name="connsiteX2985" fmla="*/ 2955440 w 3600000"/>
              <a:gd name="connsiteY2985" fmla="*/ 823425 h 2787466"/>
              <a:gd name="connsiteX2986" fmla="*/ 2965949 w 3600000"/>
              <a:gd name="connsiteY2986" fmla="*/ 820437 h 2787466"/>
              <a:gd name="connsiteX2987" fmla="*/ 2967186 w 3600000"/>
              <a:gd name="connsiteY2987" fmla="*/ 814463 h 2787466"/>
              <a:gd name="connsiteX2988" fmla="*/ 2952967 w 3600000"/>
              <a:gd name="connsiteY2988" fmla="*/ 822481 h 2787466"/>
              <a:gd name="connsiteX2989" fmla="*/ 2950288 w 3600000"/>
              <a:gd name="connsiteY2989" fmla="*/ 811475 h 2787466"/>
              <a:gd name="connsiteX2990" fmla="*/ 578183 w 3600000"/>
              <a:gd name="connsiteY2990" fmla="*/ 809725 h 2787466"/>
              <a:gd name="connsiteX2991" fmla="*/ 564993 w 3600000"/>
              <a:gd name="connsiteY2991" fmla="*/ 820571 h 2787466"/>
              <a:gd name="connsiteX2992" fmla="*/ 568909 w 3600000"/>
              <a:gd name="connsiteY2992" fmla="*/ 826545 h 2787466"/>
              <a:gd name="connsiteX2993" fmla="*/ 578183 w 3600000"/>
              <a:gd name="connsiteY2993" fmla="*/ 809725 h 2787466"/>
              <a:gd name="connsiteX2994" fmla="*/ 2639130 w 3600000"/>
              <a:gd name="connsiteY2994" fmla="*/ 809589 h 2787466"/>
              <a:gd name="connsiteX2995" fmla="*/ 2639130 w 3600000"/>
              <a:gd name="connsiteY2995" fmla="*/ 815406 h 2787466"/>
              <a:gd name="connsiteX2996" fmla="*/ 2639130 w 3600000"/>
              <a:gd name="connsiteY2996" fmla="*/ 809589 h 2787466"/>
              <a:gd name="connsiteX2997" fmla="*/ 2961582 w 3600000"/>
              <a:gd name="connsiteY2997" fmla="*/ 808881 h 2787466"/>
              <a:gd name="connsiteX2998" fmla="*/ 2958248 w 3600000"/>
              <a:gd name="connsiteY2998" fmla="*/ 810237 h 2787466"/>
              <a:gd name="connsiteX2999" fmla="*/ 2958119 w 3600000"/>
              <a:gd name="connsiteY2999" fmla="*/ 815406 h 2787466"/>
              <a:gd name="connsiteX3000" fmla="*/ 2964661 w 3600000"/>
              <a:gd name="connsiteY3000" fmla="*/ 812124 h 2787466"/>
              <a:gd name="connsiteX3001" fmla="*/ 2965180 w 3600000"/>
              <a:gd name="connsiteY3001" fmla="*/ 810990 h 2787466"/>
              <a:gd name="connsiteX3002" fmla="*/ 2962766 w 3600000"/>
              <a:gd name="connsiteY3002" fmla="*/ 808905 h 2787466"/>
              <a:gd name="connsiteX3003" fmla="*/ 3545187 w 3600000"/>
              <a:gd name="connsiteY3003" fmla="*/ 806683 h 2787466"/>
              <a:gd name="connsiteX3004" fmla="*/ 3542535 w 3600000"/>
              <a:gd name="connsiteY3004" fmla="*/ 845626 h 2787466"/>
              <a:gd name="connsiteX3005" fmla="*/ 3545187 w 3600000"/>
              <a:gd name="connsiteY3005" fmla="*/ 806683 h 2787466"/>
              <a:gd name="connsiteX3006" fmla="*/ 3182112 w 3600000"/>
              <a:gd name="connsiteY3006" fmla="*/ 803614 h 2787466"/>
              <a:gd name="connsiteX3007" fmla="*/ 3176961 w 3600000"/>
              <a:gd name="connsiteY3007" fmla="*/ 808489 h 2787466"/>
              <a:gd name="connsiteX3008" fmla="*/ 3184791 w 3600000"/>
              <a:gd name="connsiteY3008" fmla="*/ 820437 h 2787466"/>
              <a:gd name="connsiteX3009" fmla="*/ 3182112 w 3600000"/>
              <a:gd name="connsiteY3009" fmla="*/ 803614 h 2787466"/>
              <a:gd name="connsiteX3010" fmla="*/ 3600000 w 3600000"/>
              <a:gd name="connsiteY3010" fmla="*/ 802109 h 2787466"/>
              <a:gd name="connsiteX3011" fmla="*/ 3600000 w 3600000"/>
              <a:gd name="connsiteY3011" fmla="*/ 802109 h 2787466"/>
              <a:gd name="connsiteX3012" fmla="*/ 3591047 w 3600000"/>
              <a:gd name="connsiteY3012" fmla="*/ 809806 h 2787466"/>
              <a:gd name="connsiteX3013" fmla="*/ 3580218 w 3600000"/>
              <a:gd name="connsiteY3013" fmla="*/ 815122 h 2787466"/>
              <a:gd name="connsiteX3014" fmla="*/ 3587064 w 3600000"/>
              <a:gd name="connsiteY3014" fmla="*/ 806770 h 2787466"/>
              <a:gd name="connsiteX3015" fmla="*/ 2716039 w 3600000"/>
              <a:gd name="connsiteY3015" fmla="*/ 801673 h 2787466"/>
              <a:gd name="connsiteX3016" fmla="*/ 2731865 w 3600000"/>
              <a:gd name="connsiteY3016" fmla="*/ 806743 h 2787466"/>
              <a:gd name="connsiteX3017" fmla="*/ 2726452 w 3600000"/>
              <a:gd name="connsiteY3017" fmla="*/ 811655 h 2787466"/>
              <a:gd name="connsiteX3018" fmla="*/ 2721246 w 3600000"/>
              <a:gd name="connsiteY3018" fmla="*/ 805634 h 2787466"/>
              <a:gd name="connsiteX3019" fmla="*/ 2713333 w 3600000"/>
              <a:gd name="connsiteY3019" fmla="*/ 807694 h 2787466"/>
              <a:gd name="connsiteX3020" fmla="*/ 2716039 w 3600000"/>
              <a:gd name="connsiteY3020" fmla="*/ 801673 h 2787466"/>
              <a:gd name="connsiteX3021" fmla="*/ 2585850 w 3600000"/>
              <a:gd name="connsiteY3021" fmla="*/ 801377 h 2787466"/>
              <a:gd name="connsiteX3022" fmla="*/ 2558307 w 3600000"/>
              <a:gd name="connsiteY3022" fmla="*/ 819283 h 2787466"/>
              <a:gd name="connsiteX3023" fmla="*/ 2555615 w 3600000"/>
              <a:gd name="connsiteY3023" fmla="*/ 813315 h 2787466"/>
              <a:gd name="connsiteX3024" fmla="*/ 2547952 w 3600000"/>
              <a:gd name="connsiteY3024" fmla="*/ 815200 h 2787466"/>
              <a:gd name="connsiteX3025" fmla="*/ 2585850 w 3600000"/>
              <a:gd name="connsiteY3025" fmla="*/ 801377 h 2787466"/>
              <a:gd name="connsiteX3026" fmla="*/ 3085299 w 3600000"/>
              <a:gd name="connsiteY3026" fmla="*/ 799700 h 2787466"/>
              <a:gd name="connsiteX3027" fmla="*/ 3082483 w 3600000"/>
              <a:gd name="connsiteY3027" fmla="*/ 800256 h 2787466"/>
              <a:gd name="connsiteX3028" fmla="*/ 3081095 w 3600000"/>
              <a:gd name="connsiteY3028" fmla="*/ 800218 h 2787466"/>
              <a:gd name="connsiteX3029" fmla="*/ 3082128 w 3600000"/>
              <a:gd name="connsiteY3029" fmla="*/ 806637 h 2787466"/>
              <a:gd name="connsiteX3030" fmla="*/ 3083870 w 3600000"/>
              <a:gd name="connsiteY3030" fmla="*/ 802926 h 2787466"/>
              <a:gd name="connsiteX3031" fmla="*/ 3525276 w 3600000"/>
              <a:gd name="connsiteY3031" fmla="*/ 799336 h 2787466"/>
              <a:gd name="connsiteX3032" fmla="*/ 3517571 w 3600000"/>
              <a:gd name="connsiteY3032" fmla="*/ 805304 h 2787466"/>
              <a:gd name="connsiteX3033" fmla="*/ 3529129 w 3600000"/>
              <a:gd name="connsiteY3033" fmla="*/ 808288 h 2787466"/>
              <a:gd name="connsiteX3034" fmla="*/ 3525276 w 3600000"/>
              <a:gd name="connsiteY3034" fmla="*/ 799336 h 2787466"/>
              <a:gd name="connsiteX3035" fmla="*/ 3287495 w 3600000"/>
              <a:gd name="connsiteY3035" fmla="*/ 798092 h 2787466"/>
              <a:gd name="connsiteX3036" fmla="*/ 3282054 w 3600000"/>
              <a:gd name="connsiteY3036" fmla="*/ 801639 h 2787466"/>
              <a:gd name="connsiteX3037" fmla="*/ 3261653 w 3600000"/>
              <a:gd name="connsiteY3037" fmla="*/ 824368 h 2787466"/>
              <a:gd name="connsiteX3038" fmla="*/ 3260211 w 3600000"/>
              <a:gd name="connsiteY3038" fmla="*/ 833330 h 2787466"/>
              <a:gd name="connsiteX3039" fmla="*/ 3249908 w 3600000"/>
              <a:gd name="connsiteY3039" fmla="*/ 837417 h 2787466"/>
              <a:gd name="connsiteX3040" fmla="*/ 3236642 w 3600000"/>
              <a:gd name="connsiteY3040" fmla="*/ 859351 h 2787466"/>
              <a:gd name="connsiteX3041" fmla="*/ 3226214 w 3600000"/>
              <a:gd name="connsiteY3041" fmla="*/ 867920 h 2787466"/>
              <a:gd name="connsiteX3042" fmla="*/ 3249417 w 3600000"/>
              <a:gd name="connsiteY3042" fmla="*/ 860754 h 2787466"/>
              <a:gd name="connsiteX3043" fmla="*/ 3295760 w 3600000"/>
              <a:gd name="connsiteY3043" fmla="*/ 843571 h 2787466"/>
              <a:gd name="connsiteX3044" fmla="*/ 3295449 w 3600000"/>
              <a:gd name="connsiteY3044" fmla="*/ 841348 h 2787466"/>
              <a:gd name="connsiteX3045" fmla="*/ 3298801 w 3600000"/>
              <a:gd name="connsiteY3045" fmla="*/ 842444 h 2787466"/>
              <a:gd name="connsiteX3046" fmla="*/ 3301728 w 3600000"/>
              <a:gd name="connsiteY3046" fmla="*/ 841358 h 2787466"/>
              <a:gd name="connsiteX3047" fmla="*/ 3303588 w 3600000"/>
              <a:gd name="connsiteY3047" fmla="*/ 839580 h 2787466"/>
              <a:gd name="connsiteX3048" fmla="*/ 3307503 w 3600000"/>
              <a:gd name="connsiteY3048" fmla="*/ 835157 h 2787466"/>
              <a:gd name="connsiteX3049" fmla="*/ 3308080 w 3600000"/>
              <a:gd name="connsiteY3049" fmla="*/ 834984 h 2787466"/>
              <a:gd name="connsiteX3050" fmla="*/ 3309304 w 3600000"/>
              <a:gd name="connsiteY3050" fmla="*/ 829855 h 2787466"/>
              <a:gd name="connsiteX3051" fmla="*/ 3304350 w 3600000"/>
              <a:gd name="connsiteY3051" fmla="*/ 807637 h 2787466"/>
              <a:gd name="connsiteX3052" fmla="*/ 3301581 w 3600000"/>
              <a:gd name="connsiteY3052" fmla="*/ 805984 h 2787466"/>
              <a:gd name="connsiteX3053" fmla="*/ 3301193 w 3600000"/>
              <a:gd name="connsiteY3053" fmla="*/ 807775 h 2787466"/>
              <a:gd name="connsiteX3054" fmla="*/ 3304698 w 3600000"/>
              <a:gd name="connsiteY3054" fmla="*/ 811656 h 2787466"/>
              <a:gd name="connsiteX3055" fmla="*/ 3298034 w 3600000"/>
              <a:gd name="connsiteY3055" fmla="*/ 820669 h 2787466"/>
              <a:gd name="connsiteX3056" fmla="*/ 3298034 w 3600000"/>
              <a:gd name="connsiteY3056" fmla="*/ 809758 h 2787466"/>
              <a:gd name="connsiteX3057" fmla="*/ 3287622 w 3600000"/>
              <a:gd name="connsiteY3057" fmla="*/ 808652 h 2787466"/>
              <a:gd name="connsiteX3058" fmla="*/ 3295733 w 3600000"/>
              <a:gd name="connsiteY3058" fmla="*/ 802493 h 2787466"/>
              <a:gd name="connsiteX3059" fmla="*/ 3290159 w 3600000"/>
              <a:gd name="connsiteY3059" fmla="*/ 799165 h 2787466"/>
              <a:gd name="connsiteX3060" fmla="*/ 3342225 w 3600000"/>
              <a:gd name="connsiteY3060" fmla="*/ 797639 h 2787466"/>
              <a:gd name="connsiteX3061" fmla="*/ 3334469 w 3600000"/>
              <a:gd name="connsiteY3061" fmla="*/ 807597 h 2787466"/>
              <a:gd name="connsiteX3062" fmla="*/ 3338664 w 3600000"/>
              <a:gd name="connsiteY3062" fmla="*/ 810974 h 2787466"/>
              <a:gd name="connsiteX3063" fmla="*/ 3345985 w 3600000"/>
              <a:gd name="connsiteY3063" fmla="*/ 804322 h 2787466"/>
              <a:gd name="connsiteX3064" fmla="*/ 3342225 w 3600000"/>
              <a:gd name="connsiteY3064" fmla="*/ 797639 h 2787466"/>
              <a:gd name="connsiteX3065" fmla="*/ 3145639 w 3600000"/>
              <a:gd name="connsiteY3065" fmla="*/ 794653 h 2787466"/>
              <a:gd name="connsiteX3066" fmla="*/ 3135336 w 3600000"/>
              <a:gd name="connsiteY3066" fmla="*/ 806602 h 2787466"/>
              <a:gd name="connsiteX3067" fmla="*/ 3145639 w 3600000"/>
              <a:gd name="connsiteY3067" fmla="*/ 794653 h 2787466"/>
              <a:gd name="connsiteX3068" fmla="*/ 3188706 w 3600000"/>
              <a:gd name="connsiteY3068" fmla="*/ 791665 h 2787466"/>
              <a:gd name="connsiteX3069" fmla="*/ 3201688 w 3600000"/>
              <a:gd name="connsiteY3069" fmla="*/ 813519 h 2787466"/>
              <a:gd name="connsiteX3070" fmla="*/ 3191179 w 3600000"/>
              <a:gd name="connsiteY3070" fmla="*/ 829399 h 2787466"/>
              <a:gd name="connsiteX3071" fmla="*/ 3204161 w 3600000"/>
              <a:gd name="connsiteY3071" fmla="*/ 823425 h 2787466"/>
              <a:gd name="connsiteX3072" fmla="*/ 3217349 w 3600000"/>
              <a:gd name="connsiteY3072" fmla="*/ 810532 h 2787466"/>
              <a:gd name="connsiteX3073" fmla="*/ 3214670 w 3600000"/>
              <a:gd name="connsiteY3073" fmla="*/ 801570 h 2787466"/>
              <a:gd name="connsiteX3074" fmla="*/ 3188706 w 3600000"/>
              <a:gd name="connsiteY3074" fmla="*/ 791665 h 2787466"/>
              <a:gd name="connsiteX3075" fmla="*/ 2745922 w 3600000"/>
              <a:gd name="connsiteY3075" fmla="*/ 787550 h 2787466"/>
              <a:gd name="connsiteX3076" fmla="*/ 2733106 w 3600000"/>
              <a:gd name="connsiteY3076" fmla="*/ 801107 h 2787466"/>
              <a:gd name="connsiteX3077" fmla="*/ 2740837 w 3600000"/>
              <a:gd name="connsiteY3077" fmla="*/ 801107 h 2787466"/>
              <a:gd name="connsiteX3078" fmla="*/ 2729241 w 3600000"/>
              <a:gd name="connsiteY3078" fmla="*/ 803110 h 2787466"/>
              <a:gd name="connsiteX3079" fmla="*/ 2729241 w 3600000"/>
              <a:gd name="connsiteY3079" fmla="*/ 789399 h 2787466"/>
              <a:gd name="connsiteX3080" fmla="*/ 2736972 w 3600000"/>
              <a:gd name="connsiteY3080" fmla="*/ 794329 h 2787466"/>
              <a:gd name="connsiteX3081" fmla="*/ 2745922 w 3600000"/>
              <a:gd name="connsiteY3081" fmla="*/ 787550 h 2787466"/>
              <a:gd name="connsiteX3082" fmla="*/ 2575288 w 3600000"/>
              <a:gd name="connsiteY3082" fmla="*/ 787550 h 2787466"/>
              <a:gd name="connsiteX3083" fmla="*/ 2585909 w 3600000"/>
              <a:gd name="connsiteY3083" fmla="*/ 792462 h 2787466"/>
              <a:gd name="connsiteX3084" fmla="*/ 2572790 w 3600000"/>
              <a:gd name="connsiteY3084" fmla="*/ 797533 h 2787466"/>
              <a:gd name="connsiteX3085" fmla="*/ 2575288 w 3600000"/>
              <a:gd name="connsiteY3085" fmla="*/ 787550 h 2787466"/>
              <a:gd name="connsiteX3086" fmla="*/ 2981611 w 3600000"/>
              <a:gd name="connsiteY3086" fmla="*/ 785690 h 2787466"/>
              <a:gd name="connsiteX3087" fmla="*/ 2976459 w 3600000"/>
              <a:gd name="connsiteY3087" fmla="*/ 787735 h 2787466"/>
              <a:gd name="connsiteX3088" fmla="*/ 2971102 w 3600000"/>
              <a:gd name="connsiteY3088" fmla="*/ 795596 h 2787466"/>
              <a:gd name="connsiteX3089" fmla="*/ 2975017 w 3600000"/>
              <a:gd name="connsiteY3089" fmla="*/ 801570 h 2787466"/>
              <a:gd name="connsiteX3090" fmla="*/ 2981611 w 3600000"/>
              <a:gd name="connsiteY3090" fmla="*/ 785690 h 2787466"/>
              <a:gd name="connsiteX3091" fmla="*/ 3255627 w 3600000"/>
              <a:gd name="connsiteY3091" fmla="*/ 783426 h 2787466"/>
              <a:gd name="connsiteX3092" fmla="*/ 3255060 w 3600000"/>
              <a:gd name="connsiteY3092" fmla="*/ 783647 h 2787466"/>
              <a:gd name="connsiteX3093" fmla="*/ 3257851 w 3600000"/>
              <a:gd name="connsiteY3093" fmla="*/ 785910 h 2787466"/>
              <a:gd name="connsiteX3094" fmla="*/ 3259436 w 3600000"/>
              <a:gd name="connsiteY3094" fmla="*/ 785874 h 2787466"/>
              <a:gd name="connsiteX3095" fmla="*/ 2606841 w 3600000"/>
              <a:gd name="connsiteY3095" fmla="*/ 780684 h 2787466"/>
              <a:gd name="connsiteX3096" fmla="*/ 2597813 w 3600000"/>
              <a:gd name="connsiteY3096" fmla="*/ 790703 h 2787466"/>
              <a:gd name="connsiteX3097" fmla="*/ 2606841 w 3600000"/>
              <a:gd name="connsiteY3097" fmla="*/ 780684 h 2787466"/>
              <a:gd name="connsiteX3098" fmla="*/ 3018084 w 3600000"/>
              <a:gd name="connsiteY3098" fmla="*/ 777672 h 2787466"/>
              <a:gd name="connsiteX3099" fmla="*/ 3007575 w 3600000"/>
              <a:gd name="connsiteY3099" fmla="*/ 787735 h 2787466"/>
              <a:gd name="connsiteX3100" fmla="*/ 3018084 w 3600000"/>
              <a:gd name="connsiteY3100" fmla="*/ 777672 h 2787466"/>
              <a:gd name="connsiteX3101" fmla="*/ 624965 w 3600000"/>
              <a:gd name="connsiteY3101" fmla="*/ 777440 h 2787466"/>
              <a:gd name="connsiteX3102" fmla="*/ 621049 w 3600000"/>
              <a:gd name="connsiteY3102" fmla="*/ 778916 h 2787466"/>
              <a:gd name="connsiteX3103" fmla="*/ 623727 w 3600000"/>
              <a:gd name="connsiteY3103" fmla="*/ 784889 h 2787466"/>
              <a:gd name="connsiteX3104" fmla="*/ 614454 w 3600000"/>
              <a:gd name="connsiteY3104" fmla="*/ 782846 h 2787466"/>
              <a:gd name="connsiteX3105" fmla="*/ 581892 w 3600000"/>
              <a:gd name="connsiteY3105" fmla="*/ 804696 h 2787466"/>
              <a:gd name="connsiteX3106" fmla="*/ 588488 w 3600000"/>
              <a:gd name="connsiteY3106" fmla="*/ 812555 h 2787466"/>
              <a:gd name="connsiteX3107" fmla="*/ 637948 w 3600000"/>
              <a:gd name="connsiteY3107" fmla="*/ 777816 h 2787466"/>
              <a:gd name="connsiteX3108" fmla="*/ 624965 w 3600000"/>
              <a:gd name="connsiteY3108" fmla="*/ 777440 h 2787466"/>
              <a:gd name="connsiteX3109" fmla="*/ 3109165 w 3600000"/>
              <a:gd name="connsiteY3109" fmla="*/ 776729 h 2787466"/>
              <a:gd name="connsiteX3110" fmla="*/ 3100098 w 3600000"/>
              <a:gd name="connsiteY3110" fmla="*/ 790722 h 2787466"/>
              <a:gd name="connsiteX3111" fmla="*/ 3109165 w 3600000"/>
              <a:gd name="connsiteY3111" fmla="*/ 788678 h 2787466"/>
              <a:gd name="connsiteX3112" fmla="*/ 3109165 w 3600000"/>
              <a:gd name="connsiteY3112" fmla="*/ 776729 h 2787466"/>
              <a:gd name="connsiteX3113" fmla="*/ 2795327 w 3600000"/>
              <a:gd name="connsiteY3113" fmla="*/ 769811 h 2787466"/>
              <a:gd name="connsiteX3114" fmla="*/ 2795327 w 3600000"/>
              <a:gd name="connsiteY3114" fmla="*/ 777672 h 2787466"/>
              <a:gd name="connsiteX3115" fmla="*/ 2795327 w 3600000"/>
              <a:gd name="connsiteY3115" fmla="*/ 769811 h 2787466"/>
              <a:gd name="connsiteX3116" fmla="*/ 3468626 w 3600000"/>
              <a:gd name="connsiteY3116" fmla="*/ 767445 h 2787466"/>
              <a:gd name="connsiteX3117" fmla="*/ 3475047 w 3600000"/>
              <a:gd name="connsiteY3117" fmla="*/ 767445 h 2787466"/>
              <a:gd name="connsiteX3118" fmla="*/ 3477454 w 3600000"/>
              <a:gd name="connsiteY3118" fmla="*/ 774441 h 2787466"/>
              <a:gd name="connsiteX3119" fmla="*/ 3470031 w 3600000"/>
              <a:gd name="connsiteY3119" fmla="*/ 784618 h 2787466"/>
              <a:gd name="connsiteX3120" fmla="*/ 3468626 w 3600000"/>
              <a:gd name="connsiteY3120" fmla="*/ 767445 h 2787466"/>
              <a:gd name="connsiteX3121" fmla="*/ 2646796 w 3600000"/>
              <a:gd name="connsiteY3121" fmla="*/ 767445 h 2787466"/>
              <a:gd name="connsiteX3122" fmla="*/ 2640334 w 3600000"/>
              <a:gd name="connsiteY3122" fmla="*/ 778381 h 2787466"/>
              <a:gd name="connsiteX3123" fmla="*/ 2646796 w 3600000"/>
              <a:gd name="connsiteY3123" fmla="*/ 767445 h 2787466"/>
              <a:gd name="connsiteX3124" fmla="*/ 3442879 w 3600000"/>
              <a:gd name="connsiteY3124" fmla="*/ 764672 h 2787466"/>
              <a:gd name="connsiteX3125" fmla="*/ 3444157 w 3600000"/>
              <a:gd name="connsiteY3125" fmla="*/ 776305 h 2787466"/>
              <a:gd name="connsiteX3126" fmla="*/ 3442879 w 3600000"/>
              <a:gd name="connsiteY3126" fmla="*/ 764672 h 2787466"/>
              <a:gd name="connsiteX3127" fmla="*/ 3186028 w 3600000"/>
              <a:gd name="connsiteY3127" fmla="*/ 763837 h 2787466"/>
              <a:gd name="connsiteX3128" fmla="*/ 3182112 w 3600000"/>
              <a:gd name="connsiteY3128" fmla="*/ 777672 h 2787466"/>
              <a:gd name="connsiteX3129" fmla="*/ 3186028 w 3600000"/>
              <a:gd name="connsiteY3129" fmla="*/ 763837 h 2787466"/>
              <a:gd name="connsiteX3130" fmla="*/ 2761997 w 3600000"/>
              <a:gd name="connsiteY3130" fmla="*/ 762593 h 2787466"/>
              <a:gd name="connsiteX3131" fmla="*/ 2764623 w 3600000"/>
              <a:gd name="connsiteY3131" fmla="*/ 771466 h 2787466"/>
              <a:gd name="connsiteX3132" fmla="*/ 2749276 w 3600000"/>
              <a:gd name="connsiteY3132" fmla="*/ 770515 h 2787466"/>
              <a:gd name="connsiteX3133" fmla="*/ 2761997 w 3600000"/>
              <a:gd name="connsiteY3133" fmla="*/ 762593 h 2787466"/>
              <a:gd name="connsiteX3134" fmla="*/ 3536458 w 3600000"/>
              <a:gd name="connsiteY3134" fmla="*/ 761456 h 2787466"/>
              <a:gd name="connsiteX3135" fmla="*/ 3554344 w 3600000"/>
              <a:gd name="connsiteY3135" fmla="*/ 761456 h 2787466"/>
              <a:gd name="connsiteX3136" fmla="*/ 3555767 w 3600000"/>
              <a:gd name="connsiteY3136" fmla="*/ 771367 h 2787466"/>
              <a:gd name="connsiteX3137" fmla="*/ 3541539 w 3600000"/>
              <a:gd name="connsiteY3137" fmla="*/ 763501 h 2787466"/>
              <a:gd name="connsiteX3138" fmla="*/ 3546824 w 3600000"/>
              <a:gd name="connsiteY3138" fmla="*/ 797325 h 2787466"/>
              <a:gd name="connsiteX3139" fmla="*/ 3544181 w 3600000"/>
              <a:gd name="connsiteY3139" fmla="*/ 801258 h 2787466"/>
              <a:gd name="connsiteX3140" fmla="*/ 3532595 w 3600000"/>
              <a:gd name="connsiteY3140" fmla="*/ 799213 h 2787466"/>
              <a:gd name="connsiteX3141" fmla="*/ 3536458 w 3600000"/>
              <a:gd name="connsiteY3141" fmla="*/ 761456 h 2787466"/>
              <a:gd name="connsiteX3142" fmla="*/ 713581 w 3600000"/>
              <a:gd name="connsiteY3142" fmla="*/ 760053 h 2787466"/>
              <a:gd name="connsiteX3143" fmla="*/ 691324 w 3600000"/>
              <a:gd name="connsiteY3143" fmla="*/ 766969 h 2787466"/>
              <a:gd name="connsiteX3144" fmla="*/ 713581 w 3600000"/>
              <a:gd name="connsiteY3144" fmla="*/ 760053 h 2787466"/>
              <a:gd name="connsiteX3145" fmla="*/ 3515197 w 3600000"/>
              <a:gd name="connsiteY3145" fmla="*/ 759819 h 2787466"/>
              <a:gd name="connsiteX3146" fmla="*/ 3524082 w 3600000"/>
              <a:gd name="connsiteY3146" fmla="*/ 784801 h 2787466"/>
              <a:gd name="connsiteX3147" fmla="*/ 3522870 w 3600000"/>
              <a:gd name="connsiteY3147" fmla="*/ 795711 h 2787466"/>
              <a:gd name="connsiteX3148" fmla="*/ 3507523 w 3600000"/>
              <a:gd name="connsiteY3148" fmla="*/ 769780 h 2787466"/>
              <a:gd name="connsiteX3149" fmla="*/ 3515197 w 3600000"/>
              <a:gd name="connsiteY3149" fmla="*/ 759819 h 2787466"/>
              <a:gd name="connsiteX3150" fmla="*/ 3373452 w 3600000"/>
              <a:gd name="connsiteY3150" fmla="*/ 757460 h 2787466"/>
              <a:gd name="connsiteX3151" fmla="*/ 3373153 w 3600000"/>
              <a:gd name="connsiteY3151" fmla="*/ 760909 h 2787466"/>
              <a:gd name="connsiteX3152" fmla="*/ 3377462 w 3600000"/>
              <a:gd name="connsiteY3152" fmla="*/ 759906 h 2787466"/>
              <a:gd name="connsiteX3153" fmla="*/ 3374362 w 3600000"/>
              <a:gd name="connsiteY3153" fmla="*/ 759113 h 2787466"/>
              <a:gd name="connsiteX3154" fmla="*/ 659999 w 3600000"/>
              <a:gd name="connsiteY3154" fmla="*/ 757067 h 2787466"/>
              <a:gd name="connsiteX3155" fmla="*/ 635474 w 3600000"/>
              <a:gd name="connsiteY3155" fmla="*/ 776872 h 2787466"/>
              <a:gd name="connsiteX3156" fmla="*/ 663914 w 3600000"/>
              <a:gd name="connsiteY3156" fmla="*/ 760996 h 2787466"/>
              <a:gd name="connsiteX3157" fmla="*/ 659999 w 3600000"/>
              <a:gd name="connsiteY3157" fmla="*/ 757067 h 2787466"/>
              <a:gd name="connsiteX3158" fmla="*/ 3282992 w 3600000"/>
              <a:gd name="connsiteY3158" fmla="*/ 757046 h 2787466"/>
              <a:gd name="connsiteX3159" fmla="*/ 3285548 w 3600000"/>
              <a:gd name="connsiteY3159" fmla="*/ 764029 h 2787466"/>
              <a:gd name="connsiteX3160" fmla="*/ 3274900 w 3600000"/>
              <a:gd name="connsiteY3160" fmla="*/ 764981 h 2787466"/>
              <a:gd name="connsiteX3161" fmla="*/ 3282992 w 3600000"/>
              <a:gd name="connsiteY3161" fmla="*/ 757046 h 2787466"/>
              <a:gd name="connsiteX3162" fmla="*/ 2624897 w 3600000"/>
              <a:gd name="connsiteY3162" fmla="*/ 757046 h 2787466"/>
              <a:gd name="connsiteX3163" fmla="*/ 2605610 w 3600000"/>
              <a:gd name="connsiteY3163" fmla="*/ 776770 h 2787466"/>
              <a:gd name="connsiteX3164" fmla="*/ 2640491 w 3600000"/>
              <a:gd name="connsiteY3164" fmla="*/ 757046 h 2787466"/>
              <a:gd name="connsiteX3165" fmla="*/ 2639260 w 3600000"/>
              <a:gd name="connsiteY3165" fmla="*/ 761899 h 2787466"/>
              <a:gd name="connsiteX3166" fmla="*/ 2641928 w 3600000"/>
              <a:gd name="connsiteY3166" fmla="*/ 768787 h 2787466"/>
              <a:gd name="connsiteX3167" fmla="*/ 2591246 w 3600000"/>
              <a:gd name="connsiteY3167" fmla="*/ 800565 h 2787466"/>
              <a:gd name="connsiteX3168" fmla="*/ 2586117 w 3600000"/>
              <a:gd name="connsiteY3168" fmla="*/ 789608 h 2787466"/>
              <a:gd name="connsiteX3169" fmla="*/ 2624897 w 3600000"/>
              <a:gd name="connsiteY3169" fmla="*/ 757046 h 2787466"/>
              <a:gd name="connsiteX3170" fmla="*/ 2767153 w 3600000"/>
              <a:gd name="connsiteY3170" fmla="*/ 753824 h 2787466"/>
              <a:gd name="connsiteX3171" fmla="*/ 2770632 w 3600000"/>
              <a:gd name="connsiteY3171" fmla="*/ 754468 h 2787466"/>
              <a:gd name="connsiteX3172" fmla="*/ 2771878 w 3600000"/>
              <a:gd name="connsiteY3172" fmla="*/ 757437 h 2787466"/>
              <a:gd name="connsiteX3173" fmla="*/ 2766685 w 3600000"/>
              <a:gd name="connsiteY3173" fmla="*/ 762436 h 2787466"/>
              <a:gd name="connsiteX3174" fmla="*/ 2762738 w 3600000"/>
              <a:gd name="connsiteY3174" fmla="*/ 755405 h 2787466"/>
              <a:gd name="connsiteX3175" fmla="*/ 2767153 w 3600000"/>
              <a:gd name="connsiteY3175" fmla="*/ 753824 h 2787466"/>
              <a:gd name="connsiteX3176" fmla="*/ 3498593 w 3600000"/>
              <a:gd name="connsiteY3176" fmla="*/ 753580 h 2787466"/>
              <a:gd name="connsiteX3177" fmla="*/ 3498593 w 3600000"/>
              <a:gd name="connsiteY3177" fmla="*/ 769369 h 2787466"/>
              <a:gd name="connsiteX3178" fmla="*/ 3498593 w 3600000"/>
              <a:gd name="connsiteY3178" fmla="*/ 753580 h 2787466"/>
              <a:gd name="connsiteX3179" fmla="*/ 2700331 w 3600000"/>
              <a:gd name="connsiteY3179" fmla="*/ 750944 h 2787466"/>
              <a:gd name="connsiteX3180" fmla="*/ 2697653 w 3600000"/>
              <a:gd name="connsiteY3180" fmla="*/ 758805 h 2787466"/>
              <a:gd name="connsiteX3181" fmla="*/ 2700331 w 3600000"/>
              <a:gd name="connsiteY3181" fmla="*/ 750944 h 2787466"/>
              <a:gd name="connsiteX3182" fmla="*/ 2999810 w 3600000"/>
              <a:gd name="connsiteY3182" fmla="*/ 748727 h 2787466"/>
              <a:gd name="connsiteX3183" fmla="*/ 3001300 w 3600000"/>
              <a:gd name="connsiteY3183" fmla="*/ 761740 h 2787466"/>
              <a:gd name="connsiteX3184" fmla="*/ 2999810 w 3600000"/>
              <a:gd name="connsiteY3184" fmla="*/ 748727 h 2787466"/>
              <a:gd name="connsiteX3185" fmla="*/ 3373668 w 3600000"/>
              <a:gd name="connsiteY3185" fmla="*/ 748375 h 2787466"/>
              <a:gd name="connsiteX3186" fmla="*/ 3374104 w 3600000"/>
              <a:gd name="connsiteY3186" fmla="*/ 749958 h 2787466"/>
              <a:gd name="connsiteX3187" fmla="*/ 3373612 w 3600000"/>
              <a:gd name="connsiteY3187" fmla="*/ 755625 h 2787466"/>
              <a:gd name="connsiteX3188" fmla="*/ 3373955 w 3600000"/>
              <a:gd name="connsiteY3188" fmla="*/ 754931 h 2787466"/>
              <a:gd name="connsiteX3189" fmla="*/ 3377462 w 3600000"/>
              <a:gd name="connsiteY3189" fmla="*/ 755818 h 2787466"/>
              <a:gd name="connsiteX3190" fmla="*/ 3376097 w 3600000"/>
              <a:gd name="connsiteY3190" fmla="*/ 750512 h 2787466"/>
              <a:gd name="connsiteX3191" fmla="*/ 3200246 w 3600000"/>
              <a:gd name="connsiteY3191" fmla="*/ 745913 h 2787466"/>
              <a:gd name="connsiteX3192" fmla="*/ 3192621 w 3600000"/>
              <a:gd name="connsiteY3192" fmla="*/ 753932 h 2787466"/>
              <a:gd name="connsiteX3193" fmla="*/ 3204161 w 3600000"/>
              <a:gd name="connsiteY3193" fmla="*/ 751887 h 2787466"/>
              <a:gd name="connsiteX3194" fmla="*/ 3200246 w 3600000"/>
              <a:gd name="connsiteY3194" fmla="*/ 745913 h 2787466"/>
              <a:gd name="connsiteX3195" fmla="*/ 2808309 w 3600000"/>
              <a:gd name="connsiteY3195" fmla="*/ 744970 h 2787466"/>
              <a:gd name="connsiteX3196" fmla="*/ 2801921 w 3600000"/>
              <a:gd name="connsiteY3196" fmla="*/ 752831 h 2787466"/>
              <a:gd name="connsiteX3197" fmla="*/ 2808309 w 3600000"/>
              <a:gd name="connsiteY3197" fmla="*/ 744970 h 2787466"/>
              <a:gd name="connsiteX3198" fmla="*/ 3309744 w 3600000"/>
              <a:gd name="connsiteY3198" fmla="*/ 742454 h 2787466"/>
              <a:gd name="connsiteX3199" fmla="*/ 3303279 w 3600000"/>
              <a:gd name="connsiteY3199" fmla="*/ 745913 h 2787466"/>
              <a:gd name="connsiteX3200" fmla="*/ 3312346 w 3600000"/>
              <a:gd name="connsiteY3200" fmla="*/ 747957 h 2787466"/>
              <a:gd name="connsiteX3201" fmla="*/ 3309744 w 3600000"/>
              <a:gd name="connsiteY3201" fmla="*/ 742454 h 2787466"/>
              <a:gd name="connsiteX3202" fmla="*/ 654847 w 3600000"/>
              <a:gd name="connsiteY3202" fmla="*/ 742133 h 2787466"/>
              <a:gd name="connsiteX3203" fmla="*/ 644542 w 3600000"/>
              <a:gd name="connsiteY3203" fmla="*/ 752980 h 2787466"/>
              <a:gd name="connsiteX3204" fmla="*/ 657525 w 3600000"/>
              <a:gd name="connsiteY3204" fmla="*/ 748107 h 2787466"/>
              <a:gd name="connsiteX3205" fmla="*/ 654847 w 3600000"/>
              <a:gd name="connsiteY3205" fmla="*/ 742133 h 2787466"/>
              <a:gd name="connsiteX3206" fmla="*/ 2580139 w 3600000"/>
              <a:gd name="connsiteY3206" fmla="*/ 739715 h 2787466"/>
              <a:gd name="connsiteX3207" fmla="*/ 2569738 w 3600000"/>
              <a:gd name="connsiteY3207" fmla="*/ 749954 h 2787466"/>
              <a:gd name="connsiteX3208" fmla="*/ 2580139 w 3600000"/>
              <a:gd name="connsiteY3208" fmla="*/ 739715 h 2787466"/>
              <a:gd name="connsiteX3209" fmla="*/ 3496091 w 3600000"/>
              <a:gd name="connsiteY3209" fmla="*/ 739021 h 2787466"/>
              <a:gd name="connsiteX3210" fmla="*/ 3494869 w 3600000"/>
              <a:gd name="connsiteY3210" fmla="*/ 754114 h 2787466"/>
              <a:gd name="connsiteX3211" fmla="*/ 3496091 w 3600000"/>
              <a:gd name="connsiteY3211" fmla="*/ 739021 h 2787466"/>
              <a:gd name="connsiteX3212" fmla="*/ 3281561 w 3600000"/>
              <a:gd name="connsiteY3212" fmla="*/ 738391 h 2787466"/>
              <a:gd name="connsiteX3213" fmla="*/ 3273194 w 3600000"/>
              <a:gd name="connsiteY3213" fmla="*/ 742926 h 2787466"/>
              <a:gd name="connsiteX3214" fmla="*/ 3282467 w 3600000"/>
              <a:gd name="connsiteY3214" fmla="*/ 742926 h 2787466"/>
              <a:gd name="connsiteX3215" fmla="*/ 3268041 w 3600000"/>
              <a:gd name="connsiteY3215" fmla="*/ 753932 h 2787466"/>
              <a:gd name="connsiteX3216" fmla="*/ 3264152 w 3600000"/>
              <a:gd name="connsiteY3216" fmla="*/ 761517 h 2787466"/>
              <a:gd name="connsiteX3217" fmla="*/ 3263041 w 3600000"/>
              <a:gd name="connsiteY3217" fmla="*/ 763661 h 2787466"/>
              <a:gd name="connsiteX3218" fmla="*/ 3263967 w 3600000"/>
              <a:gd name="connsiteY3218" fmla="*/ 764876 h 2787466"/>
              <a:gd name="connsiteX3219" fmla="*/ 3272760 w 3600000"/>
              <a:gd name="connsiteY3219" fmla="*/ 769157 h 2787466"/>
              <a:gd name="connsiteX3220" fmla="*/ 3278551 w 3600000"/>
              <a:gd name="connsiteY3220" fmla="*/ 766823 h 2787466"/>
              <a:gd name="connsiteX3221" fmla="*/ 3278452 w 3600000"/>
              <a:gd name="connsiteY3221" fmla="*/ 769307 h 2787466"/>
              <a:gd name="connsiteX3222" fmla="*/ 3276511 w 3600000"/>
              <a:gd name="connsiteY3222" fmla="*/ 770983 h 2787466"/>
              <a:gd name="connsiteX3223" fmla="*/ 3280069 w 3600000"/>
              <a:gd name="connsiteY3223" fmla="*/ 772715 h 2787466"/>
              <a:gd name="connsiteX3224" fmla="*/ 3280252 w 3600000"/>
              <a:gd name="connsiteY3224" fmla="*/ 772582 h 2787466"/>
              <a:gd name="connsiteX3225" fmla="*/ 3281553 w 3600000"/>
              <a:gd name="connsiteY3225" fmla="*/ 772182 h 2787466"/>
              <a:gd name="connsiteX3226" fmla="*/ 3283406 w 3600000"/>
              <a:gd name="connsiteY3226" fmla="*/ 774340 h 2787466"/>
              <a:gd name="connsiteX3227" fmla="*/ 3283797 w 3600000"/>
              <a:gd name="connsiteY3227" fmla="*/ 774530 h 2787466"/>
              <a:gd name="connsiteX3228" fmla="*/ 3291534 w 3600000"/>
              <a:gd name="connsiteY3228" fmla="*/ 761793 h 2787466"/>
              <a:gd name="connsiteX3229" fmla="*/ 3294006 w 3600000"/>
              <a:gd name="connsiteY3229" fmla="*/ 766823 h 2787466"/>
              <a:gd name="connsiteX3230" fmla="*/ 3303279 w 3600000"/>
              <a:gd name="connsiteY3230" fmla="*/ 758805 h 2787466"/>
              <a:gd name="connsiteX3231" fmla="*/ 3297922 w 3600000"/>
              <a:gd name="connsiteY3231" fmla="*/ 750944 h 2787466"/>
              <a:gd name="connsiteX3232" fmla="*/ 3288854 w 3600000"/>
              <a:gd name="connsiteY3232" fmla="*/ 753932 h 2787466"/>
              <a:gd name="connsiteX3233" fmla="*/ 3292770 w 3600000"/>
              <a:gd name="connsiteY3233" fmla="*/ 747013 h 2787466"/>
              <a:gd name="connsiteX3234" fmla="*/ 3300600 w 3600000"/>
              <a:gd name="connsiteY3234" fmla="*/ 747013 h 2787466"/>
              <a:gd name="connsiteX3235" fmla="*/ 3281561 w 3600000"/>
              <a:gd name="connsiteY3235" fmla="*/ 738391 h 2787466"/>
              <a:gd name="connsiteX3236" fmla="*/ 3003376 w 3600000"/>
              <a:gd name="connsiteY3236" fmla="*/ 737010 h 2787466"/>
              <a:gd name="connsiteX3237" fmla="*/ 2993357 w 3600000"/>
              <a:gd name="connsiteY3237" fmla="*/ 738052 h 2787466"/>
              <a:gd name="connsiteX3238" fmla="*/ 2985526 w 3600000"/>
              <a:gd name="connsiteY3238" fmla="*/ 741982 h 2787466"/>
              <a:gd name="connsiteX3239" fmla="*/ 2980375 w 3600000"/>
              <a:gd name="connsiteY3239" fmla="*/ 763837 h 2787466"/>
              <a:gd name="connsiteX3240" fmla="*/ 2972544 w 3600000"/>
              <a:gd name="connsiteY3240" fmla="*/ 765880 h 2787466"/>
              <a:gd name="connsiteX3241" fmla="*/ 2972544 w 3600000"/>
              <a:gd name="connsiteY3241" fmla="*/ 772798 h 2787466"/>
              <a:gd name="connsiteX3242" fmla="*/ 2977695 w 3600000"/>
              <a:gd name="connsiteY3242" fmla="*/ 783647 h 2787466"/>
              <a:gd name="connsiteX3243" fmla="*/ 2977695 w 3600000"/>
              <a:gd name="connsiteY3243" fmla="*/ 767767 h 2787466"/>
              <a:gd name="connsiteX3244" fmla="*/ 2989442 w 3600000"/>
              <a:gd name="connsiteY3244" fmla="*/ 758805 h 2787466"/>
              <a:gd name="connsiteX3245" fmla="*/ 2990678 w 3600000"/>
              <a:gd name="connsiteY3245" fmla="*/ 761793 h 2787466"/>
              <a:gd name="connsiteX3246" fmla="*/ 2991914 w 3600000"/>
              <a:gd name="connsiteY3246" fmla="*/ 779716 h 2787466"/>
              <a:gd name="connsiteX3247" fmla="*/ 2994593 w 3600000"/>
              <a:gd name="connsiteY3247" fmla="*/ 766823 h 2787466"/>
              <a:gd name="connsiteX3248" fmla="*/ 3005102 w 3600000"/>
              <a:gd name="connsiteY3248" fmla="*/ 763837 h 2787466"/>
              <a:gd name="connsiteX3249" fmla="*/ 2998508 w 3600000"/>
              <a:gd name="connsiteY3249" fmla="*/ 741039 h 2787466"/>
              <a:gd name="connsiteX3250" fmla="*/ 3003660 w 3600000"/>
              <a:gd name="connsiteY3250" fmla="*/ 741982 h 2787466"/>
              <a:gd name="connsiteX3251" fmla="*/ 3003376 w 3600000"/>
              <a:gd name="connsiteY3251" fmla="*/ 737010 h 2787466"/>
              <a:gd name="connsiteX3252" fmla="*/ 2779589 w 3600000"/>
              <a:gd name="connsiteY3252" fmla="*/ 736248 h 2787466"/>
              <a:gd name="connsiteX3253" fmla="*/ 2771766 w 3600000"/>
              <a:gd name="connsiteY3253" fmla="*/ 752733 h 2787466"/>
              <a:gd name="connsiteX3254" fmla="*/ 2775677 w 3600000"/>
              <a:gd name="connsiteY3254" fmla="*/ 737173 h 2787466"/>
              <a:gd name="connsiteX3255" fmla="*/ 2779589 w 3600000"/>
              <a:gd name="connsiteY3255" fmla="*/ 736248 h 2787466"/>
              <a:gd name="connsiteX3256" fmla="*/ 3093567 w 3600000"/>
              <a:gd name="connsiteY3256" fmla="*/ 734862 h 2787466"/>
              <a:gd name="connsiteX3257" fmla="*/ 3096192 w 3600000"/>
              <a:gd name="connsiteY3257" fmla="*/ 745098 h 2787466"/>
              <a:gd name="connsiteX3258" fmla="*/ 3093567 w 3600000"/>
              <a:gd name="connsiteY3258" fmla="*/ 734862 h 2787466"/>
              <a:gd name="connsiteX3259" fmla="*/ 2787684 w 3600000"/>
              <a:gd name="connsiteY3259" fmla="*/ 725849 h 2787466"/>
              <a:gd name="connsiteX3260" fmla="*/ 2795809 w 3600000"/>
              <a:gd name="connsiteY3260" fmla="*/ 727807 h 2787466"/>
              <a:gd name="connsiteX3261" fmla="*/ 2786402 w 3600000"/>
              <a:gd name="connsiteY3261" fmla="*/ 732048 h 2787466"/>
              <a:gd name="connsiteX3262" fmla="*/ 2787684 w 3600000"/>
              <a:gd name="connsiteY3262" fmla="*/ 725849 h 2787466"/>
              <a:gd name="connsiteX3263" fmla="*/ 2711301 w 3600000"/>
              <a:gd name="connsiteY3263" fmla="*/ 722383 h 2787466"/>
              <a:gd name="connsiteX3264" fmla="*/ 2701894 w 3600000"/>
              <a:gd name="connsiteY3264" fmla="*/ 736093 h 2787466"/>
              <a:gd name="connsiteX3265" fmla="*/ 2711301 w 3600000"/>
              <a:gd name="connsiteY3265" fmla="*/ 722383 h 2787466"/>
              <a:gd name="connsiteX3266" fmla="*/ 3239399 w 3600000"/>
              <a:gd name="connsiteY3266" fmla="*/ 722172 h 2787466"/>
              <a:gd name="connsiteX3267" fmla="*/ 3235483 w 3600000"/>
              <a:gd name="connsiteY3267" fmla="*/ 741982 h 2787466"/>
              <a:gd name="connsiteX3268" fmla="*/ 3245992 w 3600000"/>
              <a:gd name="connsiteY3268" fmla="*/ 723116 h 2787466"/>
              <a:gd name="connsiteX3269" fmla="*/ 3239399 w 3600000"/>
              <a:gd name="connsiteY3269" fmla="*/ 722172 h 2787466"/>
              <a:gd name="connsiteX3270" fmla="*/ 3141724 w 3600000"/>
              <a:gd name="connsiteY3270" fmla="*/ 720128 h 2787466"/>
              <a:gd name="connsiteX3271" fmla="*/ 3133893 w 3600000"/>
              <a:gd name="connsiteY3271" fmla="*/ 735064 h 2787466"/>
              <a:gd name="connsiteX3272" fmla="*/ 3141724 w 3600000"/>
              <a:gd name="connsiteY3272" fmla="*/ 720128 h 2787466"/>
              <a:gd name="connsiteX3273" fmla="*/ 3556208 w 3600000"/>
              <a:gd name="connsiteY3273" fmla="*/ 718916 h 2787466"/>
              <a:gd name="connsiteX3274" fmla="*/ 3567881 w 3600000"/>
              <a:gd name="connsiteY3274" fmla="*/ 720821 h 2787466"/>
              <a:gd name="connsiteX3275" fmla="*/ 3561328 w 3600000"/>
              <a:gd name="connsiteY3275" fmla="*/ 731930 h 2787466"/>
              <a:gd name="connsiteX3276" fmla="*/ 3556208 w 3600000"/>
              <a:gd name="connsiteY3276" fmla="*/ 718916 h 2787466"/>
              <a:gd name="connsiteX3277" fmla="*/ 2800396 w 3600000"/>
              <a:gd name="connsiteY3277" fmla="*/ 717067 h 2787466"/>
              <a:gd name="connsiteX3278" fmla="*/ 2791233 w 3600000"/>
              <a:gd name="connsiteY3278" fmla="*/ 721997 h 2787466"/>
              <a:gd name="connsiteX3279" fmla="*/ 2800396 w 3600000"/>
              <a:gd name="connsiteY3279" fmla="*/ 717067 h 2787466"/>
              <a:gd name="connsiteX3280" fmla="*/ 3266239 w 3600000"/>
              <a:gd name="connsiteY3280" fmla="*/ 709742 h 2787466"/>
              <a:gd name="connsiteX3281" fmla="*/ 3260211 w 3600000"/>
              <a:gd name="connsiteY3281" fmla="*/ 716197 h 2787466"/>
              <a:gd name="connsiteX3282" fmla="*/ 3265569 w 3600000"/>
              <a:gd name="connsiteY3282" fmla="*/ 723116 h 2787466"/>
              <a:gd name="connsiteX3283" fmla="*/ 3278551 w 3600000"/>
              <a:gd name="connsiteY3283" fmla="*/ 718085 h 2787466"/>
              <a:gd name="connsiteX3284" fmla="*/ 3265569 w 3600000"/>
              <a:gd name="connsiteY3284" fmla="*/ 719185 h 2787466"/>
              <a:gd name="connsiteX3285" fmla="*/ 3269278 w 3600000"/>
              <a:gd name="connsiteY3285" fmla="*/ 710223 h 2787466"/>
              <a:gd name="connsiteX3286" fmla="*/ 3266239 w 3600000"/>
              <a:gd name="connsiteY3286" fmla="*/ 709742 h 2787466"/>
              <a:gd name="connsiteX3287" fmla="*/ 3128097 w 3600000"/>
              <a:gd name="connsiteY3287" fmla="*/ 705745 h 2787466"/>
              <a:gd name="connsiteX3288" fmla="*/ 3107702 w 3600000"/>
              <a:gd name="connsiteY3288" fmla="*/ 709663 h 2787466"/>
              <a:gd name="connsiteX3289" fmla="*/ 3128097 w 3600000"/>
              <a:gd name="connsiteY3289" fmla="*/ 705745 h 2787466"/>
              <a:gd name="connsiteX3290" fmla="*/ 2846225 w 3600000"/>
              <a:gd name="connsiteY3290" fmla="*/ 705192 h 2787466"/>
              <a:gd name="connsiteX3291" fmla="*/ 2835716 w 3600000"/>
              <a:gd name="connsiteY3291" fmla="*/ 714154 h 2787466"/>
              <a:gd name="connsiteX3292" fmla="*/ 2846225 w 3600000"/>
              <a:gd name="connsiteY3292" fmla="*/ 705192 h 2787466"/>
              <a:gd name="connsiteX3293" fmla="*/ 3541246 w 3600000"/>
              <a:gd name="connsiteY3293" fmla="*/ 705051 h 2787466"/>
              <a:gd name="connsiteX3294" fmla="*/ 3548919 w 3600000"/>
              <a:gd name="connsiteY3294" fmla="*/ 726126 h 2787466"/>
              <a:gd name="connsiteX3295" fmla="*/ 3531149 w 3600000"/>
              <a:gd name="connsiteY3295" fmla="*/ 713132 h 2787466"/>
              <a:gd name="connsiteX3296" fmla="*/ 3537409 w 3600000"/>
              <a:gd name="connsiteY3296" fmla="*/ 711072 h 2787466"/>
              <a:gd name="connsiteX3297" fmla="*/ 3541246 w 3600000"/>
              <a:gd name="connsiteY3297" fmla="*/ 705051 h 2787466"/>
              <a:gd name="connsiteX3298" fmla="*/ 3175393 w 3600000"/>
              <a:gd name="connsiteY3298" fmla="*/ 701760 h 2787466"/>
              <a:gd name="connsiteX3299" fmla="*/ 3170366 w 3600000"/>
              <a:gd name="connsiteY3299" fmla="*/ 703148 h 2787466"/>
              <a:gd name="connsiteX3300" fmla="*/ 3178197 w 3600000"/>
              <a:gd name="connsiteY3300" fmla="*/ 709122 h 2787466"/>
              <a:gd name="connsiteX3301" fmla="*/ 3171809 w 3600000"/>
              <a:gd name="connsiteY3301" fmla="*/ 708179 h 2787466"/>
              <a:gd name="connsiteX3302" fmla="*/ 3174281 w 3600000"/>
              <a:gd name="connsiteY3302" fmla="*/ 717141 h 2787466"/>
              <a:gd name="connsiteX3303" fmla="*/ 3180876 w 3600000"/>
              <a:gd name="connsiteY3303" fmla="*/ 719185 h 2787466"/>
              <a:gd name="connsiteX3304" fmla="*/ 3181855 w 3600000"/>
              <a:gd name="connsiteY3304" fmla="*/ 718674 h 2787466"/>
              <a:gd name="connsiteX3305" fmla="*/ 3183743 w 3600000"/>
              <a:gd name="connsiteY3305" fmla="*/ 717688 h 2787466"/>
              <a:gd name="connsiteX3306" fmla="*/ 3182148 w 3600000"/>
              <a:gd name="connsiteY3306" fmla="*/ 714339 h 2787466"/>
              <a:gd name="connsiteX3307" fmla="*/ 3182000 w 3600000"/>
              <a:gd name="connsiteY3307" fmla="*/ 713893 h 2787466"/>
              <a:gd name="connsiteX3308" fmla="*/ 3178197 w 3600000"/>
              <a:gd name="connsiteY3308" fmla="*/ 713210 h 2787466"/>
              <a:gd name="connsiteX3309" fmla="*/ 3180103 w 3600000"/>
              <a:gd name="connsiteY3309" fmla="*/ 711166 h 2787466"/>
              <a:gd name="connsiteX3310" fmla="*/ 3180995 w 3600000"/>
              <a:gd name="connsiteY3310" fmla="*/ 710859 h 2787466"/>
              <a:gd name="connsiteX3311" fmla="*/ 3178474 w 3600000"/>
              <a:gd name="connsiteY3311" fmla="*/ 703248 h 2787466"/>
              <a:gd name="connsiteX3312" fmla="*/ 3245992 w 3600000"/>
              <a:gd name="connsiteY3312" fmla="*/ 701261 h 2787466"/>
              <a:gd name="connsiteX3313" fmla="*/ 3242077 w 3600000"/>
              <a:gd name="connsiteY3313" fmla="*/ 710223 h 2787466"/>
              <a:gd name="connsiteX3314" fmla="*/ 3252380 w 3600000"/>
              <a:gd name="connsiteY3314" fmla="*/ 709122 h 2787466"/>
              <a:gd name="connsiteX3315" fmla="*/ 3245992 w 3600000"/>
              <a:gd name="connsiteY3315" fmla="*/ 701261 h 2787466"/>
              <a:gd name="connsiteX3316" fmla="*/ 3390652 w 3600000"/>
              <a:gd name="connsiteY3316" fmla="*/ 700891 h 2787466"/>
              <a:gd name="connsiteX3317" fmla="*/ 3390652 w 3600000"/>
              <a:gd name="connsiteY3317" fmla="*/ 717376 h 2787466"/>
              <a:gd name="connsiteX3318" fmla="*/ 3390652 w 3600000"/>
              <a:gd name="connsiteY3318" fmla="*/ 700891 h 2787466"/>
              <a:gd name="connsiteX3319" fmla="*/ 3262890 w 3600000"/>
              <a:gd name="connsiteY3319" fmla="*/ 698274 h 2787466"/>
              <a:gd name="connsiteX3320" fmla="*/ 3257738 w 3600000"/>
              <a:gd name="connsiteY3320" fmla="*/ 706135 h 2787466"/>
              <a:gd name="connsiteX3321" fmla="*/ 3266805 w 3600000"/>
              <a:gd name="connsiteY3321" fmla="*/ 704248 h 2787466"/>
              <a:gd name="connsiteX3322" fmla="*/ 3135786 w 3600000"/>
              <a:gd name="connsiteY3322" fmla="*/ 697425 h 2787466"/>
              <a:gd name="connsiteX3323" fmla="*/ 3138341 w 3600000"/>
              <a:gd name="connsiteY3323" fmla="*/ 703504 h 2787466"/>
              <a:gd name="connsiteX3324" fmla="*/ 3127693 w 3600000"/>
              <a:gd name="connsiteY3324" fmla="*/ 701585 h 2787466"/>
              <a:gd name="connsiteX3325" fmla="*/ 3135786 w 3600000"/>
              <a:gd name="connsiteY3325" fmla="*/ 697425 h 2787466"/>
              <a:gd name="connsiteX3326" fmla="*/ 3024472 w 3600000"/>
              <a:gd name="connsiteY3326" fmla="*/ 696230 h 2787466"/>
              <a:gd name="connsiteX3327" fmla="*/ 3018084 w 3600000"/>
              <a:gd name="connsiteY3327" fmla="*/ 706135 h 2787466"/>
              <a:gd name="connsiteX3328" fmla="*/ 3016848 w 3600000"/>
              <a:gd name="connsiteY3328" fmla="*/ 701261 h 2787466"/>
              <a:gd name="connsiteX3329" fmla="*/ 3010254 w 3600000"/>
              <a:gd name="connsiteY3329" fmla="*/ 719185 h 2787466"/>
              <a:gd name="connsiteX3330" fmla="*/ 2998508 w 3600000"/>
              <a:gd name="connsiteY3330" fmla="*/ 724059 h 2787466"/>
              <a:gd name="connsiteX3331" fmla="*/ 3011490 w 3600000"/>
              <a:gd name="connsiteY3331" fmla="*/ 744970 h 2787466"/>
              <a:gd name="connsiteX3332" fmla="*/ 3011490 w 3600000"/>
              <a:gd name="connsiteY3332" fmla="*/ 732077 h 2787466"/>
              <a:gd name="connsiteX3333" fmla="*/ 3025915 w 3600000"/>
              <a:gd name="connsiteY3333" fmla="*/ 715097 h 2787466"/>
              <a:gd name="connsiteX3334" fmla="*/ 3019320 w 3600000"/>
              <a:gd name="connsiteY3334" fmla="*/ 704248 h 2787466"/>
              <a:gd name="connsiteX3335" fmla="*/ 3024472 w 3600000"/>
              <a:gd name="connsiteY3335" fmla="*/ 696230 h 2787466"/>
              <a:gd name="connsiteX3336" fmla="*/ 2814902 w 3600000"/>
              <a:gd name="connsiteY3336" fmla="*/ 693090 h 2787466"/>
              <a:gd name="connsiteX3337" fmla="*/ 2803292 w 3600000"/>
              <a:gd name="connsiteY3337" fmla="*/ 701184 h 2787466"/>
              <a:gd name="connsiteX3338" fmla="*/ 2814902 w 3600000"/>
              <a:gd name="connsiteY3338" fmla="*/ 693090 h 2787466"/>
              <a:gd name="connsiteX3339" fmla="*/ 3047963 w 3600000"/>
              <a:gd name="connsiteY3339" fmla="*/ 692300 h 2787466"/>
              <a:gd name="connsiteX3340" fmla="*/ 3047963 w 3600000"/>
              <a:gd name="connsiteY3340" fmla="*/ 698274 h 2787466"/>
              <a:gd name="connsiteX3341" fmla="*/ 3055794 w 3600000"/>
              <a:gd name="connsiteY3341" fmla="*/ 695287 h 2787466"/>
              <a:gd name="connsiteX3342" fmla="*/ 3047963 w 3600000"/>
              <a:gd name="connsiteY3342" fmla="*/ 692300 h 2787466"/>
              <a:gd name="connsiteX3343" fmla="*/ 2627815 w 3600000"/>
              <a:gd name="connsiteY3343" fmla="*/ 691218 h 2787466"/>
              <a:gd name="connsiteX3344" fmla="*/ 2618930 w 3600000"/>
              <a:gd name="connsiteY3344" fmla="*/ 699342 h 2787466"/>
              <a:gd name="connsiteX3345" fmla="*/ 2627815 w 3600000"/>
              <a:gd name="connsiteY3345" fmla="*/ 691218 h 2787466"/>
              <a:gd name="connsiteX3346" fmla="*/ 2779299 w 3600000"/>
              <a:gd name="connsiteY3346" fmla="*/ 691186 h 2787466"/>
              <a:gd name="connsiteX3347" fmla="*/ 2788548 w 3600000"/>
              <a:gd name="connsiteY3347" fmla="*/ 696043 h 2787466"/>
              <a:gd name="connsiteX3348" fmla="*/ 2783204 w 3600000"/>
              <a:gd name="connsiteY3348" fmla="*/ 713907 h 2787466"/>
              <a:gd name="connsiteX3349" fmla="*/ 2774160 w 3600000"/>
              <a:gd name="connsiteY3349" fmla="*/ 709989 h 2787466"/>
              <a:gd name="connsiteX3350" fmla="*/ 2776832 w 3600000"/>
              <a:gd name="connsiteY3350" fmla="*/ 696983 h 2787466"/>
              <a:gd name="connsiteX3351" fmla="*/ 2784643 w 3600000"/>
              <a:gd name="connsiteY3351" fmla="*/ 695103 h 2787466"/>
              <a:gd name="connsiteX3352" fmla="*/ 2779299 w 3600000"/>
              <a:gd name="connsiteY3352" fmla="*/ 691186 h 2787466"/>
              <a:gd name="connsiteX3353" fmla="*/ 3204621 w 3600000"/>
              <a:gd name="connsiteY3353" fmla="*/ 689849 h 2787466"/>
              <a:gd name="connsiteX3354" fmla="*/ 3206443 w 3600000"/>
              <a:gd name="connsiteY3354" fmla="*/ 695209 h 2787466"/>
              <a:gd name="connsiteX3355" fmla="*/ 3207197 w 3600000"/>
              <a:gd name="connsiteY3355" fmla="*/ 692113 h 2787466"/>
              <a:gd name="connsiteX3356" fmla="*/ 3019320 w 3600000"/>
              <a:gd name="connsiteY3356" fmla="*/ 688369 h 2787466"/>
              <a:gd name="connsiteX3357" fmla="*/ 3032302 w 3600000"/>
              <a:gd name="connsiteY3357" fmla="*/ 698274 h 2787466"/>
              <a:gd name="connsiteX3358" fmla="*/ 3031066 w 3600000"/>
              <a:gd name="connsiteY3358" fmla="*/ 692300 h 2787466"/>
              <a:gd name="connsiteX3359" fmla="*/ 3019320 w 3600000"/>
              <a:gd name="connsiteY3359" fmla="*/ 688369 h 2787466"/>
              <a:gd name="connsiteX3360" fmla="*/ 2626342 w 3600000"/>
              <a:gd name="connsiteY3360" fmla="*/ 682619 h 2787466"/>
              <a:gd name="connsiteX3361" fmla="*/ 2629536 w 3600000"/>
              <a:gd name="connsiteY3361" fmla="*/ 684156 h 2787466"/>
              <a:gd name="connsiteX3362" fmla="*/ 2625783 w 3600000"/>
              <a:gd name="connsiteY3362" fmla="*/ 686268 h 2787466"/>
              <a:gd name="connsiteX3363" fmla="*/ 2625783 w 3600000"/>
              <a:gd name="connsiteY3363" fmla="*/ 690330 h 2787466"/>
              <a:gd name="connsiteX3364" fmla="*/ 2620647 w 3600000"/>
              <a:gd name="connsiteY3364" fmla="*/ 685292 h 2787466"/>
              <a:gd name="connsiteX3365" fmla="*/ 2626342 w 3600000"/>
              <a:gd name="connsiteY3365" fmla="*/ 682619 h 2787466"/>
              <a:gd name="connsiteX3366" fmla="*/ 619812 w 3600000"/>
              <a:gd name="connsiteY3366" fmla="*/ 681458 h 2787466"/>
              <a:gd name="connsiteX3367" fmla="*/ 606622 w 3600000"/>
              <a:gd name="connsiteY3367" fmla="*/ 683501 h 2787466"/>
              <a:gd name="connsiteX3368" fmla="*/ 575504 w 3600000"/>
              <a:gd name="connsiteY3368" fmla="*/ 700320 h 2787466"/>
              <a:gd name="connsiteX3369" fmla="*/ 576740 w 3600000"/>
              <a:gd name="connsiteY3369" fmla="*/ 712267 h 2787466"/>
              <a:gd name="connsiteX3370" fmla="*/ 598998 w 3600000"/>
              <a:gd name="connsiteY3370" fmla="*/ 698434 h 2787466"/>
              <a:gd name="connsiteX3371" fmla="*/ 619812 w 3600000"/>
              <a:gd name="connsiteY3371" fmla="*/ 681458 h 2787466"/>
              <a:gd name="connsiteX3372" fmla="*/ 2851377 w 3600000"/>
              <a:gd name="connsiteY3372" fmla="*/ 681294 h 2787466"/>
              <a:gd name="connsiteX3373" fmla="*/ 2847462 w 3600000"/>
              <a:gd name="connsiteY3373" fmla="*/ 689312 h 2787466"/>
              <a:gd name="connsiteX3374" fmla="*/ 2851377 w 3600000"/>
              <a:gd name="connsiteY3374" fmla="*/ 681294 h 2787466"/>
              <a:gd name="connsiteX3375" fmla="*/ 3059709 w 3600000"/>
              <a:gd name="connsiteY3375" fmla="*/ 679408 h 2787466"/>
              <a:gd name="connsiteX3376" fmla="*/ 3063624 w 3600000"/>
              <a:gd name="connsiteY3376" fmla="*/ 686325 h 2787466"/>
              <a:gd name="connsiteX3377" fmla="*/ 3059709 w 3600000"/>
              <a:gd name="connsiteY3377" fmla="*/ 679408 h 2787466"/>
              <a:gd name="connsiteX3378" fmla="*/ 2816089 w 3600000"/>
              <a:gd name="connsiteY3378" fmla="*/ 679400 h 2787466"/>
              <a:gd name="connsiteX3379" fmla="*/ 2826710 w 3600000"/>
              <a:gd name="connsiteY3379" fmla="*/ 683362 h 2787466"/>
              <a:gd name="connsiteX3380" fmla="*/ 2820046 w 3600000"/>
              <a:gd name="connsiteY3380" fmla="*/ 687324 h 2787466"/>
              <a:gd name="connsiteX3381" fmla="*/ 2817547 w 3600000"/>
              <a:gd name="connsiteY3381" fmla="*/ 682411 h 2787466"/>
              <a:gd name="connsiteX3382" fmla="*/ 2806927 w 3600000"/>
              <a:gd name="connsiteY3382" fmla="*/ 685422 h 2787466"/>
              <a:gd name="connsiteX3383" fmla="*/ 2816089 w 3600000"/>
              <a:gd name="connsiteY3383" fmla="*/ 679400 h 2787466"/>
              <a:gd name="connsiteX3384" fmla="*/ 2737279 w 3600000"/>
              <a:gd name="connsiteY3384" fmla="*/ 679400 h 2787466"/>
              <a:gd name="connsiteX3385" fmla="*/ 2731934 w 3600000"/>
              <a:gd name="connsiteY3385" fmla="*/ 687556 h 2787466"/>
              <a:gd name="connsiteX3386" fmla="*/ 2737279 w 3600000"/>
              <a:gd name="connsiteY3386" fmla="*/ 679400 h 2787466"/>
              <a:gd name="connsiteX3387" fmla="*/ 2959355 w 3600000"/>
              <a:gd name="connsiteY3387" fmla="*/ 678464 h 2787466"/>
              <a:gd name="connsiteX3388" fmla="*/ 2955440 w 3600000"/>
              <a:gd name="connsiteY3388" fmla="*/ 687269 h 2787466"/>
              <a:gd name="connsiteX3389" fmla="*/ 2959355 w 3600000"/>
              <a:gd name="connsiteY3389" fmla="*/ 678464 h 2787466"/>
              <a:gd name="connsiteX3390" fmla="*/ 3271316 w 3600000"/>
              <a:gd name="connsiteY3390" fmla="*/ 677960 h 2787466"/>
              <a:gd name="connsiteX3391" fmla="*/ 3268041 w 3600000"/>
              <a:gd name="connsiteY3391" fmla="*/ 687269 h 2787466"/>
              <a:gd name="connsiteX3392" fmla="*/ 3275872 w 3600000"/>
              <a:gd name="connsiteY3392" fmla="*/ 679408 h 2787466"/>
              <a:gd name="connsiteX3393" fmla="*/ 3271316 w 3600000"/>
              <a:gd name="connsiteY3393" fmla="*/ 677960 h 2787466"/>
              <a:gd name="connsiteX3394" fmla="*/ 3408860 w 3600000"/>
              <a:gd name="connsiteY3394" fmla="*/ 675906 h 2787466"/>
              <a:gd name="connsiteX3395" fmla="*/ 3410999 w 3600000"/>
              <a:gd name="connsiteY3395" fmla="*/ 676537 h 2787466"/>
              <a:gd name="connsiteX3396" fmla="*/ 3404686 w 3600000"/>
              <a:gd name="connsiteY3396" fmla="*/ 686179 h 2787466"/>
              <a:gd name="connsiteX3397" fmla="*/ 3402037 w 3600000"/>
              <a:gd name="connsiteY3397" fmla="*/ 679446 h 2787466"/>
              <a:gd name="connsiteX3398" fmla="*/ 3408555 w 3600000"/>
              <a:gd name="connsiteY3398" fmla="*/ 677455 h 2787466"/>
              <a:gd name="connsiteX3399" fmla="*/ 3408860 w 3600000"/>
              <a:gd name="connsiteY3399" fmla="*/ 675906 h 2787466"/>
              <a:gd name="connsiteX3400" fmla="*/ 3256296 w 3600000"/>
              <a:gd name="connsiteY3400" fmla="*/ 675477 h 2787466"/>
              <a:gd name="connsiteX3401" fmla="*/ 3247229 w 3600000"/>
              <a:gd name="connsiteY3401" fmla="*/ 686325 h 2787466"/>
              <a:gd name="connsiteX3402" fmla="*/ 3256296 w 3600000"/>
              <a:gd name="connsiteY3402" fmla="*/ 675477 h 2787466"/>
              <a:gd name="connsiteX3403" fmla="*/ 2634764 w 3600000"/>
              <a:gd name="connsiteY3403" fmla="*/ 670388 h 2787466"/>
              <a:gd name="connsiteX3404" fmla="*/ 2630858 w 3600000"/>
              <a:gd name="connsiteY3404" fmla="*/ 682020 h 2787466"/>
              <a:gd name="connsiteX3405" fmla="*/ 2626954 w 3600000"/>
              <a:gd name="connsiteY3405" fmla="*/ 675286 h 2787466"/>
              <a:gd name="connsiteX3406" fmla="*/ 2634764 w 3600000"/>
              <a:gd name="connsiteY3406" fmla="*/ 670388 h 2787466"/>
              <a:gd name="connsiteX3407" fmla="*/ 632796 w 3600000"/>
              <a:gd name="connsiteY3407" fmla="*/ 669669 h 2787466"/>
              <a:gd name="connsiteX3408" fmla="*/ 622285 w 3600000"/>
              <a:gd name="connsiteY3408" fmla="*/ 680514 h 2787466"/>
              <a:gd name="connsiteX3409" fmla="*/ 632796 w 3600000"/>
              <a:gd name="connsiteY3409" fmla="*/ 669669 h 2787466"/>
              <a:gd name="connsiteX3410" fmla="*/ 3218585 w 3600000"/>
              <a:gd name="connsiteY3410" fmla="*/ 665414 h 2787466"/>
              <a:gd name="connsiteX3411" fmla="*/ 3208076 w 3600000"/>
              <a:gd name="connsiteY3411" fmla="*/ 675477 h 2787466"/>
              <a:gd name="connsiteX3412" fmla="*/ 3213434 w 3600000"/>
              <a:gd name="connsiteY3412" fmla="*/ 681294 h 2787466"/>
              <a:gd name="connsiteX3413" fmla="*/ 3221265 w 3600000"/>
              <a:gd name="connsiteY3413" fmla="*/ 681294 h 2787466"/>
              <a:gd name="connsiteX3414" fmla="*/ 3218585 w 3600000"/>
              <a:gd name="connsiteY3414" fmla="*/ 665414 h 2787466"/>
              <a:gd name="connsiteX3415" fmla="*/ 2751171 w 3600000"/>
              <a:gd name="connsiteY3415" fmla="*/ 665323 h 2787466"/>
              <a:gd name="connsiteX3416" fmla="*/ 2751154 w 3600000"/>
              <a:gd name="connsiteY3416" fmla="*/ 665383 h 2787466"/>
              <a:gd name="connsiteX3417" fmla="*/ 2751103 w 3600000"/>
              <a:gd name="connsiteY3417" fmla="*/ 665382 h 2787466"/>
              <a:gd name="connsiteX3418" fmla="*/ 617133 w 3600000"/>
              <a:gd name="connsiteY3418" fmla="*/ 664638 h 2787466"/>
              <a:gd name="connsiteX3419" fmla="*/ 608065 w 3600000"/>
              <a:gd name="connsiteY3419" fmla="*/ 670612 h 2787466"/>
              <a:gd name="connsiteX3420" fmla="*/ 617133 w 3600000"/>
              <a:gd name="connsiteY3420" fmla="*/ 664638 h 2787466"/>
              <a:gd name="connsiteX3421" fmla="*/ 3147016 w 3600000"/>
              <a:gd name="connsiteY3421" fmla="*/ 663455 h 2787466"/>
              <a:gd name="connsiteX3422" fmla="*/ 3151063 w 3600000"/>
              <a:gd name="connsiteY3422" fmla="*/ 679939 h 2787466"/>
              <a:gd name="connsiteX3423" fmla="*/ 3140414 w 3600000"/>
              <a:gd name="connsiteY3423" fmla="*/ 674084 h 2787466"/>
              <a:gd name="connsiteX3424" fmla="*/ 3147016 w 3600000"/>
              <a:gd name="connsiteY3424" fmla="*/ 663455 h 2787466"/>
              <a:gd name="connsiteX3425" fmla="*/ 3268041 w 3600000"/>
              <a:gd name="connsiteY3425" fmla="*/ 660540 h 2787466"/>
              <a:gd name="connsiteX3426" fmla="*/ 3261653 w 3600000"/>
              <a:gd name="connsiteY3426" fmla="*/ 662427 h 2787466"/>
              <a:gd name="connsiteX3427" fmla="*/ 3261653 w 3600000"/>
              <a:gd name="connsiteY3427" fmla="*/ 678464 h 2787466"/>
              <a:gd name="connsiteX3428" fmla="*/ 3268041 w 3600000"/>
              <a:gd name="connsiteY3428" fmla="*/ 660540 h 2787466"/>
              <a:gd name="connsiteX3429" fmla="*/ 2752466 w 3600000"/>
              <a:gd name="connsiteY3429" fmla="*/ 660540 h 2787466"/>
              <a:gd name="connsiteX3430" fmla="*/ 2752543 w 3600000"/>
              <a:gd name="connsiteY3430" fmla="*/ 664097 h 2787466"/>
              <a:gd name="connsiteX3431" fmla="*/ 2751171 w 3600000"/>
              <a:gd name="connsiteY3431" fmla="*/ 665323 h 2787466"/>
              <a:gd name="connsiteX3432" fmla="*/ 2669751 w 3600000"/>
              <a:gd name="connsiteY3432" fmla="*/ 655136 h 2787466"/>
              <a:gd name="connsiteX3433" fmla="*/ 2663532 w 3600000"/>
              <a:gd name="connsiteY3433" fmla="*/ 670228 h 2787466"/>
              <a:gd name="connsiteX3434" fmla="*/ 2669751 w 3600000"/>
              <a:gd name="connsiteY3434" fmla="*/ 655136 h 2787466"/>
              <a:gd name="connsiteX3435" fmla="*/ 744700 w 3600000"/>
              <a:gd name="connsiteY3435" fmla="*/ 654736 h 2787466"/>
              <a:gd name="connsiteX3436" fmla="*/ 730480 w 3600000"/>
              <a:gd name="connsiteY3436" fmla="*/ 664638 h 2787466"/>
              <a:gd name="connsiteX3437" fmla="*/ 744700 w 3600000"/>
              <a:gd name="connsiteY3437" fmla="*/ 654736 h 2787466"/>
              <a:gd name="connsiteX3438" fmla="*/ 3301836 w 3600000"/>
              <a:gd name="connsiteY3438" fmla="*/ 653465 h 2787466"/>
              <a:gd name="connsiteX3439" fmla="*/ 3286382 w 3600000"/>
              <a:gd name="connsiteY3439" fmla="*/ 681294 h 2787466"/>
              <a:gd name="connsiteX3440" fmla="*/ 3275872 w 3600000"/>
              <a:gd name="connsiteY3440" fmla="*/ 687269 h 2787466"/>
              <a:gd name="connsiteX3441" fmla="*/ 3284939 w 3600000"/>
              <a:gd name="connsiteY3441" fmla="*/ 686325 h 2787466"/>
              <a:gd name="connsiteX3442" fmla="*/ 3275872 w 3600000"/>
              <a:gd name="connsiteY3442" fmla="*/ 711166 h 2787466"/>
              <a:gd name="connsiteX3443" fmla="*/ 3295449 w 3600000"/>
              <a:gd name="connsiteY3443" fmla="*/ 694344 h 2787466"/>
              <a:gd name="connsiteX3444" fmla="*/ 3292770 w 3600000"/>
              <a:gd name="connsiteY3444" fmla="*/ 676420 h 2787466"/>
              <a:gd name="connsiteX3445" fmla="*/ 3305752 w 3600000"/>
              <a:gd name="connsiteY3445" fmla="*/ 678464 h 2787466"/>
              <a:gd name="connsiteX3446" fmla="*/ 3309667 w 3600000"/>
              <a:gd name="connsiteY3446" fmla="*/ 668402 h 2787466"/>
              <a:gd name="connsiteX3447" fmla="*/ 3299363 w 3600000"/>
              <a:gd name="connsiteY3447" fmla="*/ 663528 h 2787466"/>
              <a:gd name="connsiteX3448" fmla="*/ 3301836 w 3600000"/>
              <a:gd name="connsiteY3448" fmla="*/ 653465 h 2787466"/>
              <a:gd name="connsiteX3449" fmla="*/ 2835446 w 3600000"/>
              <a:gd name="connsiteY3449" fmla="*/ 653056 h 2787466"/>
              <a:gd name="connsiteX3450" fmla="*/ 2842157 w 3600000"/>
              <a:gd name="connsiteY3450" fmla="*/ 656008 h 2787466"/>
              <a:gd name="connsiteX3451" fmla="*/ 2831461 w 3600000"/>
              <a:gd name="connsiteY3451" fmla="*/ 658961 h 2787466"/>
              <a:gd name="connsiteX3452" fmla="*/ 2838172 w 3600000"/>
              <a:gd name="connsiteY3452" fmla="*/ 658029 h 2787466"/>
              <a:gd name="connsiteX3453" fmla="*/ 2835446 w 3600000"/>
              <a:gd name="connsiteY3453" fmla="*/ 653056 h 2787466"/>
              <a:gd name="connsiteX3454" fmla="*/ 3100821 w 3600000"/>
              <a:gd name="connsiteY3454" fmla="*/ 646124 h 2787466"/>
              <a:gd name="connsiteX3455" fmla="*/ 3098370 w 3600000"/>
              <a:gd name="connsiteY3455" fmla="*/ 656360 h 2787466"/>
              <a:gd name="connsiteX3456" fmla="*/ 3100821 w 3600000"/>
              <a:gd name="connsiteY3456" fmla="*/ 646124 h 2787466"/>
              <a:gd name="connsiteX3457" fmla="*/ 3204556 w 3600000"/>
              <a:gd name="connsiteY3457" fmla="*/ 643972 h 2787466"/>
              <a:gd name="connsiteX3458" fmla="*/ 3202844 w 3600000"/>
              <a:gd name="connsiteY3458" fmla="*/ 649159 h 2787466"/>
              <a:gd name="connsiteX3459" fmla="*/ 3205500 w 3600000"/>
              <a:gd name="connsiteY3459" fmla="*/ 650969 h 2787466"/>
              <a:gd name="connsiteX3460" fmla="*/ 3211992 w 3600000"/>
              <a:gd name="connsiteY3460" fmla="*/ 654566 h 2787466"/>
              <a:gd name="connsiteX3461" fmla="*/ 3217349 w 3600000"/>
              <a:gd name="connsiteY3461" fmla="*/ 648592 h 2787466"/>
              <a:gd name="connsiteX3462" fmla="*/ 3208076 w 3600000"/>
              <a:gd name="connsiteY3462" fmla="*/ 647648 h 2787466"/>
              <a:gd name="connsiteX3463" fmla="*/ 2683030 w 3600000"/>
              <a:gd name="connsiteY3463" fmla="*/ 641270 h 2787466"/>
              <a:gd name="connsiteX3464" fmla="*/ 2679277 w 3600000"/>
              <a:gd name="connsiteY3464" fmla="*/ 652204 h 2787466"/>
              <a:gd name="connsiteX3465" fmla="*/ 2683030 w 3600000"/>
              <a:gd name="connsiteY3465" fmla="*/ 641270 h 2787466"/>
              <a:gd name="connsiteX3466" fmla="*/ 3275872 w 3600000"/>
              <a:gd name="connsiteY3466" fmla="*/ 639629 h 2787466"/>
              <a:gd name="connsiteX3467" fmla="*/ 3271958 w 3600000"/>
              <a:gd name="connsiteY3467" fmla="*/ 642617 h 2787466"/>
              <a:gd name="connsiteX3468" fmla="*/ 3272435 w 3600000"/>
              <a:gd name="connsiteY3468" fmla="*/ 642684 h 2787466"/>
              <a:gd name="connsiteX3469" fmla="*/ 3268068 w 3600000"/>
              <a:gd name="connsiteY3469" fmla="*/ 646567 h 2787466"/>
              <a:gd name="connsiteX3470" fmla="*/ 3264127 w 3600000"/>
              <a:gd name="connsiteY3470" fmla="*/ 656453 h 2787466"/>
              <a:gd name="connsiteX3471" fmla="*/ 3281024 w 3600000"/>
              <a:gd name="connsiteY3471" fmla="*/ 651578 h 2787466"/>
              <a:gd name="connsiteX3472" fmla="*/ 3286382 w 3600000"/>
              <a:gd name="connsiteY3472" fmla="*/ 644661 h 2787466"/>
              <a:gd name="connsiteX3473" fmla="*/ 3272435 w 3600000"/>
              <a:gd name="connsiteY3473" fmla="*/ 642684 h 2787466"/>
              <a:gd name="connsiteX3474" fmla="*/ 3208506 w 3600000"/>
              <a:gd name="connsiteY3474" fmla="*/ 635736 h 2787466"/>
              <a:gd name="connsiteX3475" fmla="*/ 3207759 w 3600000"/>
              <a:gd name="connsiteY3475" fmla="*/ 637003 h 2787466"/>
              <a:gd name="connsiteX3476" fmla="*/ 3208681 w 3600000"/>
              <a:gd name="connsiteY3476" fmla="*/ 636281 h 2787466"/>
              <a:gd name="connsiteX3477" fmla="*/ 2838347 w 3600000"/>
              <a:gd name="connsiteY3477" fmla="*/ 635316 h 2787466"/>
              <a:gd name="connsiteX3478" fmla="*/ 2851248 w 3600000"/>
              <a:gd name="connsiteY3478" fmla="*/ 636295 h 2787466"/>
              <a:gd name="connsiteX3479" fmla="*/ 2844695 w 3600000"/>
              <a:gd name="connsiteY3479" fmla="*/ 642494 h 2787466"/>
              <a:gd name="connsiteX3480" fmla="*/ 2838347 w 3600000"/>
              <a:gd name="connsiteY3480" fmla="*/ 635316 h 2787466"/>
              <a:gd name="connsiteX3481" fmla="*/ 2813366 w 3600000"/>
              <a:gd name="connsiteY3481" fmla="*/ 633515 h 2787466"/>
              <a:gd name="connsiteX3482" fmla="*/ 2808070 w 3600000"/>
              <a:gd name="connsiteY3482" fmla="*/ 639689 h 2787466"/>
              <a:gd name="connsiteX3483" fmla="*/ 2813366 w 3600000"/>
              <a:gd name="connsiteY3483" fmla="*/ 633515 h 2787466"/>
              <a:gd name="connsiteX3484" fmla="*/ 3268763 w 3600000"/>
              <a:gd name="connsiteY3484" fmla="*/ 632063 h 2787466"/>
              <a:gd name="connsiteX3485" fmla="*/ 3265569 w 3600000"/>
              <a:gd name="connsiteY3485" fmla="*/ 633655 h 2787466"/>
              <a:gd name="connsiteX3486" fmla="*/ 3269278 w 3600000"/>
              <a:gd name="connsiteY3486" fmla="*/ 639629 h 2787466"/>
              <a:gd name="connsiteX3487" fmla="*/ 3271958 w 3600000"/>
              <a:gd name="connsiteY3487" fmla="*/ 632712 h 2787466"/>
              <a:gd name="connsiteX3488" fmla="*/ 3268763 w 3600000"/>
              <a:gd name="connsiteY3488" fmla="*/ 632063 h 2787466"/>
              <a:gd name="connsiteX3489" fmla="*/ 3564630 w 3600000"/>
              <a:gd name="connsiteY3489" fmla="*/ 630438 h 2787466"/>
              <a:gd name="connsiteX3490" fmla="*/ 3560739 w 3600000"/>
              <a:gd name="connsiteY3490" fmla="*/ 637429 h 2787466"/>
              <a:gd name="connsiteX3491" fmla="*/ 3567292 w 3600000"/>
              <a:gd name="connsiteY3491" fmla="*/ 640447 h 2787466"/>
              <a:gd name="connsiteX3492" fmla="*/ 3564630 w 3600000"/>
              <a:gd name="connsiteY3492" fmla="*/ 630438 h 2787466"/>
              <a:gd name="connsiteX3493" fmla="*/ 3481953 w 3600000"/>
              <a:gd name="connsiteY3493" fmla="*/ 626712 h 2787466"/>
              <a:gd name="connsiteX3494" fmla="*/ 3488767 w 3600000"/>
              <a:gd name="connsiteY3494" fmla="*/ 638552 h 2787466"/>
              <a:gd name="connsiteX3495" fmla="*/ 3481953 w 3600000"/>
              <a:gd name="connsiteY3495" fmla="*/ 626712 h 2787466"/>
              <a:gd name="connsiteX3496" fmla="*/ 2124670 w 3600000"/>
              <a:gd name="connsiteY3496" fmla="*/ 624139 h 2787466"/>
              <a:gd name="connsiteX3497" fmla="*/ 2118468 w 3600000"/>
              <a:gd name="connsiteY3497" fmla="*/ 631943 h 2787466"/>
              <a:gd name="connsiteX3498" fmla="*/ 2127535 w 3600000"/>
              <a:gd name="connsiteY3498" fmla="*/ 624869 h 2787466"/>
              <a:gd name="connsiteX3499" fmla="*/ 2124670 w 3600000"/>
              <a:gd name="connsiteY3499" fmla="*/ 624139 h 2787466"/>
              <a:gd name="connsiteX3500" fmla="*/ 1000040 w 3600000"/>
              <a:gd name="connsiteY3500" fmla="*/ 614966 h 2787466"/>
              <a:gd name="connsiteX3501" fmla="*/ 983142 w 3600000"/>
              <a:gd name="connsiteY3501" fmla="*/ 619996 h 2787466"/>
              <a:gd name="connsiteX3502" fmla="*/ 989530 w 3600000"/>
              <a:gd name="connsiteY3502" fmla="*/ 621882 h 2787466"/>
              <a:gd name="connsiteX3503" fmla="*/ 1003956 w 3600000"/>
              <a:gd name="connsiteY3503" fmla="*/ 617010 h 2787466"/>
              <a:gd name="connsiteX3504" fmla="*/ 1000040 w 3600000"/>
              <a:gd name="connsiteY3504" fmla="*/ 614966 h 2787466"/>
              <a:gd name="connsiteX3505" fmla="*/ 1070316 w 3600000"/>
              <a:gd name="connsiteY3505" fmla="*/ 611980 h 2787466"/>
              <a:gd name="connsiteX3506" fmla="*/ 1060012 w 3600000"/>
              <a:gd name="connsiteY3506" fmla="*/ 617010 h 2787466"/>
              <a:gd name="connsiteX3507" fmla="*/ 1067843 w 3600000"/>
              <a:gd name="connsiteY3507" fmla="*/ 621882 h 2787466"/>
              <a:gd name="connsiteX3508" fmla="*/ 1070316 w 3600000"/>
              <a:gd name="connsiteY3508" fmla="*/ 611980 h 2787466"/>
              <a:gd name="connsiteX3509" fmla="*/ 3079229 w 3600000"/>
              <a:gd name="connsiteY3509" fmla="*/ 611460 h 2787466"/>
              <a:gd name="connsiteX3510" fmla="*/ 3081653 w 3600000"/>
              <a:gd name="connsiteY3510" fmla="*/ 627249 h 2787466"/>
              <a:gd name="connsiteX3511" fmla="*/ 3075393 w 3600000"/>
              <a:gd name="connsiteY3511" fmla="*/ 626310 h 2787466"/>
              <a:gd name="connsiteX3512" fmla="*/ 3079229 w 3600000"/>
              <a:gd name="connsiteY3512" fmla="*/ 611460 h 2787466"/>
              <a:gd name="connsiteX3513" fmla="*/ 3247448 w 3600000"/>
              <a:gd name="connsiteY3513" fmla="*/ 610767 h 2787466"/>
              <a:gd name="connsiteX3514" fmla="*/ 3238277 w 3600000"/>
              <a:gd name="connsiteY3514" fmla="*/ 635381 h 2787466"/>
              <a:gd name="connsiteX3515" fmla="*/ 3247448 w 3600000"/>
              <a:gd name="connsiteY3515" fmla="*/ 610767 h 2787466"/>
              <a:gd name="connsiteX3516" fmla="*/ 2012333 w 3600000"/>
              <a:gd name="connsiteY3516" fmla="*/ 609779 h 2787466"/>
              <a:gd name="connsiteX3517" fmla="*/ 2009037 w 3600000"/>
              <a:gd name="connsiteY3517" fmla="*/ 609936 h 2787466"/>
              <a:gd name="connsiteX3518" fmla="*/ 2015631 w 3600000"/>
              <a:gd name="connsiteY3518" fmla="*/ 611036 h 2787466"/>
              <a:gd name="connsiteX3519" fmla="*/ 2012333 w 3600000"/>
              <a:gd name="connsiteY3519" fmla="*/ 609779 h 2787466"/>
              <a:gd name="connsiteX3520" fmla="*/ 1093810 w 3600000"/>
              <a:gd name="connsiteY3520" fmla="*/ 607107 h 2787466"/>
              <a:gd name="connsiteX3521" fmla="*/ 1085978 w 3600000"/>
              <a:gd name="connsiteY3521" fmla="*/ 615909 h 2787466"/>
              <a:gd name="connsiteX3522" fmla="*/ 1092367 w 3600000"/>
              <a:gd name="connsiteY3522" fmla="*/ 617953 h 2787466"/>
              <a:gd name="connsiteX3523" fmla="*/ 1104320 w 3600000"/>
              <a:gd name="connsiteY3523" fmla="*/ 612922 h 2787466"/>
              <a:gd name="connsiteX3524" fmla="*/ 1093810 w 3600000"/>
              <a:gd name="connsiteY3524" fmla="*/ 608993 h 2787466"/>
              <a:gd name="connsiteX3525" fmla="*/ 1093810 w 3600000"/>
              <a:gd name="connsiteY3525" fmla="*/ 607107 h 2787466"/>
              <a:gd name="connsiteX3526" fmla="*/ 1119776 w 3600000"/>
              <a:gd name="connsiteY3526" fmla="*/ 606006 h 2787466"/>
              <a:gd name="connsiteX3527" fmla="*/ 1106793 w 3600000"/>
              <a:gd name="connsiteY3527" fmla="*/ 612922 h 2787466"/>
              <a:gd name="connsiteX3528" fmla="*/ 1119776 w 3600000"/>
              <a:gd name="connsiteY3528" fmla="*/ 606006 h 2787466"/>
              <a:gd name="connsiteX3529" fmla="*/ 3481179 w 3600000"/>
              <a:gd name="connsiteY3529" fmla="*/ 604527 h 2787466"/>
              <a:gd name="connsiteX3530" fmla="*/ 3487754 w 3600000"/>
              <a:gd name="connsiteY3530" fmla="*/ 620316 h 2787466"/>
              <a:gd name="connsiteX3531" fmla="*/ 3478713 w 3600000"/>
              <a:gd name="connsiteY3531" fmla="*/ 620316 h 2787466"/>
              <a:gd name="connsiteX3532" fmla="*/ 3481179 w 3600000"/>
              <a:gd name="connsiteY3532" fmla="*/ 604527 h 2787466"/>
              <a:gd name="connsiteX3533" fmla="*/ 2678647 w 3600000"/>
              <a:gd name="connsiteY3533" fmla="*/ 604527 h 2787466"/>
              <a:gd name="connsiteX3534" fmla="*/ 2657669 w 3600000"/>
              <a:gd name="connsiteY3534" fmla="*/ 616160 h 2787466"/>
              <a:gd name="connsiteX3535" fmla="*/ 2678647 w 3600000"/>
              <a:gd name="connsiteY3535" fmla="*/ 604527 h 2787466"/>
              <a:gd name="connsiteX3536" fmla="*/ 2193969 w 3600000"/>
              <a:gd name="connsiteY3536" fmla="*/ 602448 h 2787466"/>
              <a:gd name="connsiteX3537" fmla="*/ 2186296 w 3600000"/>
              <a:gd name="connsiteY3537" fmla="*/ 608527 h 2787466"/>
              <a:gd name="connsiteX3538" fmla="*/ 2193969 w 3600000"/>
              <a:gd name="connsiteY3538" fmla="*/ 602448 h 2787466"/>
              <a:gd name="connsiteX3539" fmla="*/ 2775752 w 3600000"/>
              <a:gd name="connsiteY3539" fmla="*/ 601896 h 2787466"/>
              <a:gd name="connsiteX3540" fmla="*/ 2777194 w 3600000"/>
              <a:gd name="connsiteY3540" fmla="*/ 619819 h 2787466"/>
              <a:gd name="connsiteX3541" fmla="*/ 2770599 w 3600000"/>
              <a:gd name="connsiteY3541" fmla="*/ 628624 h 2787466"/>
              <a:gd name="connsiteX3542" fmla="*/ 2762769 w 3600000"/>
              <a:gd name="connsiteY3542" fmla="*/ 631768 h 2787466"/>
              <a:gd name="connsiteX3543" fmla="*/ 2775752 w 3600000"/>
              <a:gd name="connsiteY3543" fmla="*/ 601896 h 2787466"/>
              <a:gd name="connsiteX3544" fmla="*/ 2102487 w 3600000"/>
              <a:gd name="connsiteY3544" fmla="*/ 601754 h 2787466"/>
              <a:gd name="connsiteX3545" fmla="*/ 2098503 w 3600000"/>
              <a:gd name="connsiteY3545" fmla="*/ 606460 h 2787466"/>
              <a:gd name="connsiteX3546" fmla="*/ 2102487 w 3600000"/>
              <a:gd name="connsiteY3546" fmla="*/ 601754 h 2787466"/>
              <a:gd name="connsiteX3547" fmla="*/ 2111589 w 3600000"/>
              <a:gd name="connsiteY3547" fmla="*/ 600794 h 2787466"/>
              <a:gd name="connsiteX3548" fmla="*/ 2109057 w 3600000"/>
              <a:gd name="connsiteY3548" fmla="*/ 607833 h 2787466"/>
              <a:gd name="connsiteX3549" fmla="*/ 2111589 w 3600000"/>
              <a:gd name="connsiteY3549" fmla="*/ 600794 h 2787466"/>
              <a:gd name="connsiteX3550" fmla="*/ 3551840 w 3600000"/>
              <a:gd name="connsiteY3550" fmla="*/ 598981 h 2787466"/>
              <a:gd name="connsiteX3551" fmla="*/ 3549133 w 3600000"/>
              <a:gd name="connsiteY3551" fmla="*/ 640421 h 2787466"/>
              <a:gd name="connsiteX3552" fmla="*/ 3551840 w 3600000"/>
              <a:gd name="connsiteY3552" fmla="*/ 598981 h 2787466"/>
              <a:gd name="connsiteX3553" fmla="*/ 3247142 w 3600000"/>
              <a:gd name="connsiteY3553" fmla="*/ 597595 h 2787466"/>
              <a:gd name="connsiteX3554" fmla="*/ 3256514 w 3600000"/>
              <a:gd name="connsiteY3554" fmla="*/ 606640 h 2787466"/>
              <a:gd name="connsiteX3555" fmla="*/ 3247142 w 3600000"/>
              <a:gd name="connsiteY3555" fmla="*/ 597595 h 2787466"/>
              <a:gd name="connsiteX3556" fmla="*/ 3076154 w 3600000"/>
              <a:gd name="connsiteY3556" fmla="*/ 596901 h 2787466"/>
              <a:gd name="connsiteX3557" fmla="*/ 3078816 w 3600000"/>
              <a:gd name="connsiteY3557" fmla="*/ 608534 h 2787466"/>
              <a:gd name="connsiteX3558" fmla="*/ 3076154 w 3600000"/>
              <a:gd name="connsiteY3558" fmla="*/ 596901 h 2787466"/>
              <a:gd name="connsiteX3559" fmla="*/ 1933332 w 3600000"/>
              <a:gd name="connsiteY3559" fmla="*/ 596703 h 2787466"/>
              <a:gd name="connsiteX3560" fmla="*/ 1934845 w 3600000"/>
              <a:gd name="connsiteY3560" fmla="*/ 599090 h 2787466"/>
              <a:gd name="connsiteX3561" fmla="*/ 1933291 w 3600000"/>
              <a:gd name="connsiteY3561" fmla="*/ 596718 h 2787466"/>
              <a:gd name="connsiteX3562" fmla="*/ 3284305 w 3600000"/>
              <a:gd name="connsiteY3562" fmla="*/ 595739 h 2787466"/>
              <a:gd name="connsiteX3563" fmla="*/ 3277109 w 3600000"/>
              <a:gd name="connsiteY3563" fmla="*/ 595921 h 2787466"/>
              <a:gd name="connsiteX3564" fmla="*/ 3278551 w 3600000"/>
              <a:gd name="connsiteY3564" fmla="*/ 602839 h 2787466"/>
              <a:gd name="connsiteX3565" fmla="*/ 3288854 w 3600000"/>
              <a:gd name="connsiteY3565" fmla="*/ 609757 h 2787466"/>
              <a:gd name="connsiteX3566" fmla="*/ 3284305 w 3600000"/>
              <a:gd name="connsiteY3566" fmla="*/ 595739 h 2787466"/>
              <a:gd name="connsiteX3567" fmla="*/ 2165395 w 3600000"/>
              <a:gd name="connsiteY3567" fmla="*/ 594822 h 2787466"/>
              <a:gd name="connsiteX3568" fmla="*/ 2170638 w 3600000"/>
              <a:gd name="connsiteY3568" fmla="*/ 600637 h 2787466"/>
              <a:gd name="connsiteX3569" fmla="*/ 2161412 w 3600000"/>
              <a:gd name="connsiteY3569" fmla="*/ 602474 h 2787466"/>
              <a:gd name="connsiteX3570" fmla="*/ 2165395 w 3600000"/>
              <a:gd name="connsiteY3570" fmla="*/ 594822 h 2787466"/>
              <a:gd name="connsiteX3571" fmla="*/ 1915834 w 3600000"/>
              <a:gd name="connsiteY3571" fmla="*/ 594453 h 2787466"/>
              <a:gd name="connsiteX3572" fmla="*/ 1906200 w 3600000"/>
              <a:gd name="connsiteY3572" fmla="*/ 597047 h 2787466"/>
              <a:gd name="connsiteX3573" fmla="*/ 1924541 w 3600000"/>
              <a:gd name="connsiteY3573" fmla="*/ 597047 h 2787466"/>
              <a:gd name="connsiteX3574" fmla="*/ 1915834 w 3600000"/>
              <a:gd name="connsiteY3574" fmla="*/ 594453 h 2787466"/>
              <a:gd name="connsiteX3575" fmla="*/ 1128716 w 3600000"/>
              <a:gd name="connsiteY3575" fmla="*/ 591780 h 2787466"/>
              <a:gd name="connsiteX3576" fmla="*/ 1123692 w 3600000"/>
              <a:gd name="connsiteY3576" fmla="*/ 596103 h 2787466"/>
              <a:gd name="connsiteX3577" fmla="*/ 1136675 w 3600000"/>
              <a:gd name="connsiteY3577" fmla="*/ 594060 h 2787466"/>
              <a:gd name="connsiteX3578" fmla="*/ 1128716 w 3600000"/>
              <a:gd name="connsiteY3578" fmla="*/ 591780 h 2787466"/>
              <a:gd name="connsiteX3579" fmla="*/ 2074519 w 3600000"/>
              <a:gd name="connsiteY3579" fmla="*/ 590609 h 2787466"/>
              <a:gd name="connsiteX3580" fmla="*/ 2077953 w 3600000"/>
              <a:gd name="connsiteY3580" fmla="*/ 593009 h 2787466"/>
              <a:gd name="connsiteX3581" fmla="*/ 2069984 w 3600000"/>
              <a:gd name="connsiteY3581" fmla="*/ 592049 h 2787466"/>
              <a:gd name="connsiteX3582" fmla="*/ 2074519 w 3600000"/>
              <a:gd name="connsiteY3582" fmla="*/ 590609 h 2787466"/>
              <a:gd name="connsiteX3583" fmla="*/ 3181020 w 3600000"/>
              <a:gd name="connsiteY3583" fmla="*/ 589968 h 2787466"/>
              <a:gd name="connsiteX3584" fmla="*/ 3187459 w 3600000"/>
              <a:gd name="connsiteY3584" fmla="*/ 593968 h 2787466"/>
              <a:gd name="connsiteX3585" fmla="*/ 3183513 w 3600000"/>
              <a:gd name="connsiteY3585" fmla="*/ 598128 h 2787466"/>
              <a:gd name="connsiteX3586" fmla="*/ 3181020 w 3600000"/>
              <a:gd name="connsiteY3586" fmla="*/ 589968 h 2787466"/>
              <a:gd name="connsiteX3587" fmla="*/ 748546 w 3600000"/>
              <a:gd name="connsiteY3587" fmla="*/ 589968 h 2787466"/>
              <a:gd name="connsiteX3588" fmla="*/ 731290 w 3600000"/>
              <a:gd name="connsiteY3588" fmla="*/ 602982 h 2787466"/>
              <a:gd name="connsiteX3589" fmla="*/ 748546 w 3600000"/>
              <a:gd name="connsiteY3589" fmla="*/ 589968 h 2787466"/>
              <a:gd name="connsiteX3590" fmla="*/ 1982803 w 3600000"/>
              <a:gd name="connsiteY3590" fmla="*/ 588821 h 2787466"/>
              <a:gd name="connsiteX3591" fmla="*/ 1975238 w 3600000"/>
              <a:gd name="connsiteY3591" fmla="*/ 594060 h 2787466"/>
              <a:gd name="connsiteX3592" fmla="*/ 1983070 w 3600000"/>
              <a:gd name="connsiteY3592" fmla="*/ 593117 h 2787466"/>
              <a:gd name="connsiteX3593" fmla="*/ 1982803 w 3600000"/>
              <a:gd name="connsiteY3593" fmla="*/ 588821 h 2787466"/>
              <a:gd name="connsiteX3594" fmla="*/ 2993208 w 3600000"/>
              <a:gd name="connsiteY3594" fmla="*/ 587674 h 2787466"/>
              <a:gd name="connsiteX3595" fmla="*/ 3002092 w 3600000"/>
              <a:gd name="connsiteY3595" fmla="*/ 587674 h 2787466"/>
              <a:gd name="connsiteX3596" fmla="*/ 2995631 w 3600000"/>
              <a:gd name="connsiteY3596" fmla="*/ 592646 h 2787466"/>
              <a:gd name="connsiteX3597" fmla="*/ 2993208 w 3600000"/>
              <a:gd name="connsiteY3597" fmla="*/ 587674 h 2787466"/>
              <a:gd name="connsiteX3598" fmla="*/ 2203043 w 3600000"/>
              <a:gd name="connsiteY3598" fmla="*/ 587195 h 2787466"/>
              <a:gd name="connsiteX3599" fmla="*/ 2192656 w 3600000"/>
              <a:gd name="connsiteY3599" fmla="*/ 594070 h 2787466"/>
              <a:gd name="connsiteX3600" fmla="*/ 2203043 w 3600000"/>
              <a:gd name="connsiteY3600" fmla="*/ 587195 h 2787466"/>
              <a:gd name="connsiteX3601" fmla="*/ 2223712 w 3600000"/>
              <a:gd name="connsiteY3601" fmla="*/ 585739 h 2787466"/>
              <a:gd name="connsiteX3602" fmla="*/ 2227887 w 3600000"/>
              <a:gd name="connsiteY3602" fmla="*/ 587834 h 2787466"/>
              <a:gd name="connsiteX3603" fmla="*/ 2209562 w 3600000"/>
              <a:gd name="connsiteY3603" fmla="*/ 592837 h 2787466"/>
              <a:gd name="connsiteX3604" fmla="*/ 2208104 w 3600000"/>
              <a:gd name="connsiteY3604" fmla="*/ 585958 h 2787466"/>
              <a:gd name="connsiteX3605" fmla="*/ 2223712 w 3600000"/>
              <a:gd name="connsiteY3605" fmla="*/ 585739 h 2787466"/>
              <a:gd name="connsiteX3606" fmla="*/ 1828428 w 3600000"/>
              <a:gd name="connsiteY3606" fmla="*/ 585277 h 2787466"/>
              <a:gd name="connsiteX3607" fmla="*/ 1824177 w 3600000"/>
              <a:gd name="connsiteY3607" fmla="*/ 590130 h 2787466"/>
              <a:gd name="connsiteX3608" fmla="*/ 1834688 w 3600000"/>
              <a:gd name="connsiteY3608" fmla="*/ 587143 h 2787466"/>
              <a:gd name="connsiteX3609" fmla="*/ 1828428 w 3600000"/>
              <a:gd name="connsiteY3609" fmla="*/ 585277 h 2787466"/>
              <a:gd name="connsiteX3610" fmla="*/ 1006032 w 3600000"/>
              <a:gd name="connsiteY3610" fmla="*/ 585116 h 2787466"/>
              <a:gd name="connsiteX3611" fmla="*/ 1008440 w 3600000"/>
              <a:gd name="connsiteY3611" fmla="*/ 590236 h 2787466"/>
              <a:gd name="connsiteX3612" fmla="*/ 994597 w 3600000"/>
              <a:gd name="connsiteY3612" fmla="*/ 589276 h 2787466"/>
              <a:gd name="connsiteX3613" fmla="*/ 1006032 w 3600000"/>
              <a:gd name="connsiteY3613" fmla="*/ 585116 h 2787466"/>
              <a:gd name="connsiteX3614" fmla="*/ 953060 w 3600000"/>
              <a:gd name="connsiteY3614" fmla="*/ 585116 h 2787466"/>
              <a:gd name="connsiteX3615" fmla="*/ 933749 w 3600000"/>
              <a:gd name="connsiteY3615" fmla="*/ 598131 h 2787466"/>
              <a:gd name="connsiteX3616" fmla="*/ 953060 w 3600000"/>
              <a:gd name="connsiteY3616" fmla="*/ 585116 h 2787466"/>
              <a:gd name="connsiteX3617" fmla="*/ 2104791 w 3600000"/>
              <a:gd name="connsiteY3617" fmla="*/ 584408 h 2787466"/>
              <a:gd name="connsiteX3618" fmla="*/ 2107946 w 3600000"/>
              <a:gd name="connsiteY3618" fmla="*/ 585689 h 2787466"/>
              <a:gd name="connsiteX3619" fmla="*/ 2102696 w 3600000"/>
              <a:gd name="connsiteY3619" fmla="*/ 587554 h 2787466"/>
              <a:gd name="connsiteX3620" fmla="*/ 2104791 w 3600000"/>
              <a:gd name="connsiteY3620" fmla="*/ 584408 h 2787466"/>
              <a:gd name="connsiteX3621" fmla="*/ 1242295 w 3600000"/>
              <a:gd name="connsiteY3621" fmla="*/ 583331 h 2787466"/>
              <a:gd name="connsiteX3622" fmla="*/ 1231887 w 3600000"/>
              <a:gd name="connsiteY3622" fmla="*/ 589187 h 2787466"/>
              <a:gd name="connsiteX3623" fmla="*/ 1252702 w 3600000"/>
              <a:gd name="connsiteY3623" fmla="*/ 587143 h 2787466"/>
              <a:gd name="connsiteX3624" fmla="*/ 1242295 w 3600000"/>
              <a:gd name="connsiteY3624" fmla="*/ 583331 h 2787466"/>
              <a:gd name="connsiteX3625" fmla="*/ 3587220 w 3600000"/>
              <a:gd name="connsiteY3625" fmla="*/ 583036 h 2787466"/>
              <a:gd name="connsiteX3626" fmla="*/ 3591113 w 3600000"/>
              <a:gd name="connsiteY3626" fmla="*/ 595097 h 2787466"/>
              <a:gd name="connsiteX3627" fmla="*/ 3587220 w 3600000"/>
              <a:gd name="connsiteY3627" fmla="*/ 583036 h 2787466"/>
              <a:gd name="connsiteX3628" fmla="*/ 2165901 w 3600000"/>
              <a:gd name="connsiteY3628" fmla="*/ 581649 h 2787466"/>
              <a:gd name="connsiteX3629" fmla="*/ 2167112 w 3600000"/>
              <a:gd name="connsiteY3629" fmla="*/ 588680 h 2787466"/>
              <a:gd name="connsiteX3630" fmla="*/ 2162064 w 3600000"/>
              <a:gd name="connsiteY3630" fmla="*/ 588680 h 2787466"/>
              <a:gd name="connsiteX3631" fmla="*/ 2165901 w 3600000"/>
              <a:gd name="connsiteY3631" fmla="*/ 581649 h 2787466"/>
              <a:gd name="connsiteX3632" fmla="*/ 2686025 w 3600000"/>
              <a:gd name="connsiteY3632" fmla="*/ 580263 h 2787466"/>
              <a:gd name="connsiteX3633" fmla="*/ 2688673 w 3600000"/>
              <a:gd name="connsiteY3633" fmla="*/ 590246 h 2787466"/>
              <a:gd name="connsiteX3634" fmla="*/ 2680934 w 3600000"/>
              <a:gd name="connsiteY3634" fmla="*/ 591197 h 2787466"/>
              <a:gd name="connsiteX3635" fmla="*/ 2686025 w 3600000"/>
              <a:gd name="connsiteY3635" fmla="*/ 580263 h 2787466"/>
              <a:gd name="connsiteX3636" fmla="*/ 2020887 w 3600000"/>
              <a:gd name="connsiteY3636" fmla="*/ 578400 h 2787466"/>
              <a:gd name="connsiteX3637" fmla="*/ 2015631 w 3600000"/>
              <a:gd name="connsiteY3637" fmla="*/ 580227 h 2787466"/>
              <a:gd name="connsiteX3638" fmla="*/ 2026142 w 3600000"/>
              <a:gd name="connsiteY3638" fmla="*/ 580227 h 2787466"/>
              <a:gd name="connsiteX3639" fmla="*/ 2020887 w 3600000"/>
              <a:gd name="connsiteY3639" fmla="*/ 578400 h 2787466"/>
              <a:gd name="connsiteX3640" fmla="*/ 1294331 w 3600000"/>
              <a:gd name="connsiteY3640" fmla="*/ 578183 h 2787466"/>
              <a:gd name="connsiteX3641" fmla="*/ 1272279 w 3600000"/>
              <a:gd name="connsiteY3641" fmla="*/ 585100 h 2787466"/>
              <a:gd name="connsiteX3642" fmla="*/ 1293094 w 3600000"/>
              <a:gd name="connsiteY3642" fmla="*/ 583214 h 2787466"/>
              <a:gd name="connsiteX3643" fmla="*/ 1294331 w 3600000"/>
              <a:gd name="connsiteY3643" fmla="*/ 578183 h 2787466"/>
              <a:gd name="connsiteX3644" fmla="*/ 1057332 w 3600000"/>
              <a:gd name="connsiteY3644" fmla="*/ 578183 h 2787466"/>
              <a:gd name="connsiteX3645" fmla="*/ 1045586 w 3600000"/>
              <a:gd name="connsiteY3645" fmla="*/ 582114 h 2787466"/>
              <a:gd name="connsiteX3646" fmla="*/ 1057332 w 3600000"/>
              <a:gd name="connsiteY3646" fmla="*/ 578183 h 2787466"/>
              <a:gd name="connsiteX3647" fmla="*/ 1970086 w 3600000"/>
              <a:gd name="connsiteY3647" fmla="*/ 577240 h 2787466"/>
              <a:gd name="connsiteX3648" fmla="*/ 1970086 w 3600000"/>
              <a:gd name="connsiteY3648" fmla="*/ 584157 h 2787466"/>
              <a:gd name="connsiteX3649" fmla="*/ 1980390 w 3600000"/>
              <a:gd name="connsiteY3649" fmla="*/ 578183 h 2787466"/>
              <a:gd name="connsiteX3650" fmla="*/ 1970086 w 3600000"/>
              <a:gd name="connsiteY3650" fmla="*/ 577240 h 2787466"/>
              <a:gd name="connsiteX3651" fmla="*/ 2190636 w 3600000"/>
              <a:gd name="connsiteY3651" fmla="*/ 575206 h 2787466"/>
              <a:gd name="connsiteX3652" fmla="*/ 2174079 w 3600000"/>
              <a:gd name="connsiteY3652" fmla="*/ 589119 h 2787466"/>
              <a:gd name="connsiteX3653" fmla="*/ 2169030 w 3600000"/>
              <a:gd name="connsiteY3653" fmla="*/ 582084 h 2787466"/>
              <a:gd name="connsiteX3654" fmla="*/ 2181752 w 3600000"/>
              <a:gd name="connsiteY3654" fmla="*/ 579271 h 2787466"/>
              <a:gd name="connsiteX3655" fmla="*/ 2190636 w 3600000"/>
              <a:gd name="connsiteY3655" fmla="*/ 575206 h 2787466"/>
              <a:gd name="connsiteX3656" fmla="*/ 1530248 w 3600000"/>
              <a:gd name="connsiteY3656" fmla="*/ 575001 h 2787466"/>
              <a:gd name="connsiteX3657" fmla="*/ 1523498 w 3600000"/>
              <a:gd name="connsiteY3657" fmla="*/ 578183 h 2787466"/>
              <a:gd name="connsiteX3658" fmla="*/ 1537925 w 3600000"/>
              <a:gd name="connsiteY3658" fmla="*/ 576297 h 2787466"/>
              <a:gd name="connsiteX3659" fmla="*/ 1530248 w 3600000"/>
              <a:gd name="connsiteY3659" fmla="*/ 575001 h 2787466"/>
              <a:gd name="connsiteX3660" fmla="*/ 3500933 w 3600000"/>
              <a:gd name="connsiteY3660" fmla="*/ 573330 h 2787466"/>
              <a:gd name="connsiteX3661" fmla="*/ 3515493 w 3600000"/>
              <a:gd name="connsiteY3661" fmla="*/ 605758 h 2787466"/>
              <a:gd name="connsiteX3662" fmla="*/ 3500933 w 3600000"/>
              <a:gd name="connsiteY3662" fmla="*/ 573330 h 2787466"/>
              <a:gd name="connsiteX3663" fmla="*/ 3043107 w 3600000"/>
              <a:gd name="connsiteY3663" fmla="*/ 573330 h 2787466"/>
              <a:gd name="connsiteX3664" fmla="*/ 3052068 w 3600000"/>
              <a:gd name="connsiteY3664" fmla="*/ 577181 h 2787466"/>
              <a:gd name="connsiteX3665" fmla="*/ 3043107 w 3600000"/>
              <a:gd name="connsiteY3665" fmla="*/ 578106 h 2787466"/>
              <a:gd name="connsiteX3666" fmla="*/ 3041885 w 3600000"/>
              <a:gd name="connsiteY3666" fmla="*/ 579184 h 2787466"/>
              <a:gd name="connsiteX3667" fmla="*/ 3043107 w 3600000"/>
              <a:gd name="connsiteY3667" fmla="*/ 573330 h 2787466"/>
              <a:gd name="connsiteX3668" fmla="*/ 2198335 w 3600000"/>
              <a:gd name="connsiteY3668" fmla="*/ 573330 h 2787466"/>
              <a:gd name="connsiteX3669" fmla="*/ 2198335 w 3600000"/>
              <a:gd name="connsiteY3669" fmla="*/ 582185 h 2787466"/>
              <a:gd name="connsiteX3670" fmla="*/ 2196745 w 3600000"/>
              <a:gd name="connsiteY3670" fmla="*/ 577283 h 2787466"/>
              <a:gd name="connsiteX3671" fmla="*/ 2198335 w 3600000"/>
              <a:gd name="connsiteY3671" fmla="*/ 573330 h 2787466"/>
              <a:gd name="connsiteX3672" fmla="*/ 1580790 w 3600000"/>
              <a:gd name="connsiteY3672" fmla="*/ 573311 h 2787466"/>
              <a:gd name="connsiteX3673" fmla="*/ 1543076 w 3600000"/>
              <a:gd name="connsiteY3673" fmla="*/ 578183 h 2787466"/>
              <a:gd name="connsiteX3674" fmla="*/ 1576874 w 3600000"/>
              <a:gd name="connsiteY3674" fmla="*/ 580227 h 2787466"/>
              <a:gd name="connsiteX3675" fmla="*/ 1580790 w 3600000"/>
              <a:gd name="connsiteY3675" fmla="*/ 573311 h 2787466"/>
              <a:gd name="connsiteX3676" fmla="*/ 1922304 w 3600000"/>
              <a:gd name="connsiteY3676" fmla="*/ 573288 h 2787466"/>
              <a:gd name="connsiteX3677" fmla="*/ 1924974 w 3600000"/>
              <a:gd name="connsiteY3677" fmla="*/ 577206 h 2787466"/>
              <a:gd name="connsiteX3678" fmla="*/ 1902793 w 3600000"/>
              <a:gd name="connsiteY3678" fmla="*/ 583162 h 2787466"/>
              <a:gd name="connsiteX3679" fmla="*/ 1906695 w 3600000"/>
              <a:gd name="connsiteY3679" fmla="*/ 585043 h 2787466"/>
              <a:gd name="connsiteX3680" fmla="*/ 1901868 w 3600000"/>
              <a:gd name="connsiteY3680" fmla="*/ 585847 h 2787466"/>
              <a:gd name="connsiteX3681" fmla="*/ 1900426 w 3600000"/>
              <a:gd name="connsiteY3681" fmla="*/ 584467 h 2787466"/>
              <a:gd name="connsiteX3682" fmla="*/ 1899057 w 3600000"/>
              <a:gd name="connsiteY3682" fmla="*/ 582902 h 2787466"/>
              <a:gd name="connsiteX3683" fmla="*/ 1898889 w 3600000"/>
              <a:gd name="connsiteY3683" fmla="*/ 579244 h 2787466"/>
              <a:gd name="connsiteX3684" fmla="*/ 1904230 w 3600000"/>
              <a:gd name="connsiteY3684" fmla="*/ 574228 h 2787466"/>
              <a:gd name="connsiteX3685" fmla="*/ 1922304 w 3600000"/>
              <a:gd name="connsiteY3685" fmla="*/ 573288 h 2787466"/>
              <a:gd name="connsiteX3686" fmla="*/ 1939088 w 3600000"/>
              <a:gd name="connsiteY3686" fmla="*/ 572800 h 2787466"/>
              <a:gd name="connsiteX3687" fmla="*/ 1941667 w 3600000"/>
              <a:gd name="connsiteY3687" fmla="*/ 578020 h 2787466"/>
              <a:gd name="connsiteX3688" fmla="*/ 1935498 w 3600000"/>
              <a:gd name="connsiteY3688" fmla="*/ 572963 h 2787466"/>
              <a:gd name="connsiteX3689" fmla="*/ 1939088 w 3600000"/>
              <a:gd name="connsiteY3689" fmla="*/ 572800 h 2787466"/>
              <a:gd name="connsiteX3690" fmla="*/ 1896222 w 3600000"/>
              <a:gd name="connsiteY3690" fmla="*/ 572175 h 2787466"/>
              <a:gd name="connsiteX3691" fmla="*/ 1895006 w 3600000"/>
              <a:gd name="connsiteY3691" fmla="*/ 578029 h 2787466"/>
              <a:gd name="connsiteX3692" fmla="*/ 1887301 w 3600000"/>
              <a:gd name="connsiteY3692" fmla="*/ 575102 h 2787466"/>
              <a:gd name="connsiteX3693" fmla="*/ 1896222 w 3600000"/>
              <a:gd name="connsiteY3693" fmla="*/ 572175 h 2787466"/>
              <a:gd name="connsiteX3694" fmla="*/ 1815892 w 3600000"/>
              <a:gd name="connsiteY3694" fmla="*/ 571728 h 2787466"/>
              <a:gd name="connsiteX3695" fmla="*/ 1825044 w 3600000"/>
              <a:gd name="connsiteY3695" fmla="*/ 572816 h 2787466"/>
              <a:gd name="connsiteX3696" fmla="*/ 1818596 w 3600000"/>
              <a:gd name="connsiteY3696" fmla="*/ 578721 h 2787466"/>
              <a:gd name="connsiteX3697" fmla="*/ 1815892 w 3600000"/>
              <a:gd name="connsiteY3697" fmla="*/ 571728 h 2787466"/>
              <a:gd name="connsiteX3698" fmla="*/ 3082903 w 3600000"/>
              <a:gd name="connsiteY3698" fmla="*/ 569170 h 2787466"/>
              <a:gd name="connsiteX3699" fmla="*/ 3095508 w 3600000"/>
              <a:gd name="connsiteY3699" fmla="*/ 575374 h 2787466"/>
              <a:gd name="connsiteX3700" fmla="*/ 3095779 w 3600000"/>
              <a:gd name="connsiteY3700" fmla="*/ 575682 h 2787466"/>
              <a:gd name="connsiteX3701" fmla="*/ 3101136 w 3600000"/>
              <a:gd name="connsiteY3701" fmla="*/ 574896 h 2787466"/>
              <a:gd name="connsiteX3702" fmla="*/ 3098306 w 3600000"/>
              <a:gd name="connsiteY3702" fmla="*/ 577848 h 2787466"/>
              <a:gd name="connsiteX3703" fmla="*/ 3097748 w 3600000"/>
              <a:gd name="connsiteY3703" fmla="*/ 577923 h 2787466"/>
              <a:gd name="connsiteX3704" fmla="*/ 3098892 w 3600000"/>
              <a:gd name="connsiteY3704" fmla="*/ 579226 h 2787466"/>
              <a:gd name="connsiteX3705" fmla="*/ 3097220 w 3600000"/>
              <a:gd name="connsiteY3705" fmla="*/ 582172 h 2787466"/>
              <a:gd name="connsiteX3706" fmla="*/ 3086845 w 3600000"/>
              <a:gd name="connsiteY3706" fmla="*/ 593270 h 2787466"/>
              <a:gd name="connsiteX3707" fmla="*/ 3089335 w 3600000"/>
              <a:gd name="connsiteY3707" fmla="*/ 601356 h 2787466"/>
              <a:gd name="connsiteX3708" fmla="*/ 3084148 w 3600000"/>
              <a:gd name="connsiteY3708" fmla="*/ 604369 h 2787466"/>
              <a:gd name="connsiteX3709" fmla="*/ 3081113 w 3600000"/>
              <a:gd name="connsiteY3709" fmla="*/ 586710 h 2787466"/>
              <a:gd name="connsiteX3710" fmla="*/ 3082008 w 3600000"/>
              <a:gd name="connsiteY3710" fmla="*/ 577942 h 2787466"/>
              <a:gd name="connsiteX3711" fmla="*/ 3080441 w 3600000"/>
              <a:gd name="connsiteY3711" fmla="*/ 577848 h 2787466"/>
              <a:gd name="connsiteX3712" fmla="*/ 3082133 w 3600000"/>
              <a:gd name="connsiteY3712" fmla="*/ 576713 h 2787466"/>
              <a:gd name="connsiteX3713" fmla="*/ 1134202 w 3600000"/>
              <a:gd name="connsiteY3713" fmla="*/ 568281 h 2787466"/>
              <a:gd name="connsiteX3714" fmla="*/ 1121219 w 3600000"/>
              <a:gd name="connsiteY3714" fmla="*/ 575197 h 2787466"/>
              <a:gd name="connsiteX3715" fmla="*/ 1134202 w 3600000"/>
              <a:gd name="connsiteY3715" fmla="*/ 568281 h 2787466"/>
              <a:gd name="connsiteX3716" fmla="*/ 2140302 w 3600000"/>
              <a:gd name="connsiteY3716" fmla="*/ 566874 h 2787466"/>
              <a:gd name="connsiteX3717" fmla="*/ 2141560 w 3600000"/>
              <a:gd name="connsiteY3717" fmla="*/ 568781 h 2787466"/>
              <a:gd name="connsiteX3718" fmla="*/ 2140302 w 3600000"/>
              <a:gd name="connsiteY3718" fmla="*/ 566909 h 2787466"/>
              <a:gd name="connsiteX3719" fmla="*/ 2896021 w 3600000"/>
              <a:gd name="connsiteY3719" fmla="*/ 566824 h 2787466"/>
              <a:gd name="connsiteX3720" fmla="*/ 2906669 w 3600000"/>
              <a:gd name="connsiteY3720" fmla="*/ 571784 h 2787466"/>
              <a:gd name="connsiteX3721" fmla="*/ 2902623 w 3600000"/>
              <a:gd name="connsiteY3721" fmla="*/ 575943 h 2787466"/>
              <a:gd name="connsiteX3722" fmla="*/ 2896021 w 3600000"/>
              <a:gd name="connsiteY3722" fmla="*/ 566824 h 2787466"/>
              <a:gd name="connsiteX3723" fmla="*/ 1157696 w 3600000"/>
              <a:gd name="connsiteY3723" fmla="*/ 566237 h 2787466"/>
              <a:gd name="connsiteX3724" fmla="*/ 1140591 w 3600000"/>
              <a:gd name="connsiteY3724" fmla="*/ 572210 h 2787466"/>
              <a:gd name="connsiteX3725" fmla="*/ 1157696 w 3600000"/>
              <a:gd name="connsiteY3725" fmla="*/ 566237 h 2787466"/>
              <a:gd name="connsiteX3726" fmla="*/ 2139166 w 3600000"/>
              <a:gd name="connsiteY3726" fmla="*/ 565219 h 2787466"/>
              <a:gd name="connsiteX3727" fmla="*/ 2140302 w 3600000"/>
              <a:gd name="connsiteY3727" fmla="*/ 566909 h 2787466"/>
              <a:gd name="connsiteX3728" fmla="*/ 2140302 w 3600000"/>
              <a:gd name="connsiteY3728" fmla="*/ 568781 h 2787466"/>
              <a:gd name="connsiteX3729" fmla="*/ 2133592 w 3600000"/>
              <a:gd name="connsiteY3729" fmla="*/ 573865 h 2787466"/>
              <a:gd name="connsiteX3730" fmla="*/ 2139166 w 3600000"/>
              <a:gd name="connsiteY3730" fmla="*/ 565219 h 2787466"/>
              <a:gd name="connsiteX3731" fmla="*/ 1650139 w 3600000"/>
              <a:gd name="connsiteY3731" fmla="*/ 564391 h 2787466"/>
              <a:gd name="connsiteX3732" fmla="*/ 1659963 w 3600000"/>
              <a:gd name="connsiteY3732" fmla="*/ 567210 h 2787466"/>
              <a:gd name="connsiteX3733" fmla="*/ 1648354 w 3600000"/>
              <a:gd name="connsiteY3733" fmla="*/ 569075 h 2787466"/>
              <a:gd name="connsiteX3734" fmla="*/ 1648354 w 3600000"/>
              <a:gd name="connsiteY3734" fmla="*/ 565190 h 2787466"/>
              <a:gd name="connsiteX3735" fmla="*/ 1650139 w 3600000"/>
              <a:gd name="connsiteY3735" fmla="*/ 564391 h 2787466"/>
              <a:gd name="connsiteX3736" fmla="*/ 2114509 w 3600000"/>
              <a:gd name="connsiteY3736" fmla="*/ 564318 h 2787466"/>
              <a:gd name="connsiteX3737" fmla="*/ 2118825 w 3600000"/>
              <a:gd name="connsiteY3737" fmla="*/ 570492 h 2787466"/>
              <a:gd name="connsiteX3738" fmla="*/ 2116100 w 3600000"/>
              <a:gd name="connsiteY3738" fmla="*/ 574554 h 2787466"/>
              <a:gd name="connsiteX3739" fmla="*/ 2114509 w 3600000"/>
              <a:gd name="connsiteY3739" fmla="*/ 564318 h 2787466"/>
              <a:gd name="connsiteX3740" fmla="*/ 2111556 w 3600000"/>
              <a:gd name="connsiteY3740" fmla="*/ 564318 h 2787466"/>
              <a:gd name="connsiteX3741" fmla="*/ 2114282 w 3600000"/>
              <a:gd name="connsiteY3741" fmla="*/ 569148 h 2787466"/>
              <a:gd name="connsiteX3742" fmla="*/ 2111556 w 3600000"/>
              <a:gd name="connsiteY3742" fmla="*/ 578027 h 2787466"/>
              <a:gd name="connsiteX3743" fmla="*/ 2112919 w 3600000"/>
              <a:gd name="connsiteY3743" fmla="*/ 571172 h 2787466"/>
              <a:gd name="connsiteX3744" fmla="*/ 2109966 w 3600000"/>
              <a:gd name="connsiteY3744" fmla="*/ 566188 h 2787466"/>
              <a:gd name="connsiteX3745" fmla="*/ 2111556 w 3600000"/>
              <a:gd name="connsiteY3745" fmla="*/ 564318 h 2787466"/>
              <a:gd name="connsiteX3746" fmla="*/ 3007388 w 3600000"/>
              <a:gd name="connsiteY3746" fmla="*/ 563687 h 2787466"/>
              <a:gd name="connsiteX3747" fmla="*/ 3006085 w 3600000"/>
              <a:gd name="connsiteY3747" fmla="*/ 563708 h 2787466"/>
              <a:gd name="connsiteX3748" fmla="*/ 3007575 w 3600000"/>
              <a:gd name="connsiteY3748" fmla="*/ 564161 h 2787466"/>
              <a:gd name="connsiteX3749" fmla="*/ 2649757 w 3600000"/>
              <a:gd name="connsiteY3749" fmla="*/ 559321 h 2787466"/>
              <a:gd name="connsiteX3750" fmla="*/ 2644605 w 3600000"/>
              <a:gd name="connsiteY3750" fmla="*/ 567337 h 2787466"/>
              <a:gd name="connsiteX3751" fmla="*/ 2649757 w 3600000"/>
              <a:gd name="connsiteY3751" fmla="*/ 559321 h 2787466"/>
              <a:gd name="connsiteX3752" fmla="*/ 2995829 w 3600000"/>
              <a:gd name="connsiteY3752" fmla="*/ 559130 h 2787466"/>
              <a:gd name="connsiteX3753" fmla="*/ 2995694 w 3600000"/>
              <a:gd name="connsiteY3753" fmla="*/ 559421 h 2787466"/>
              <a:gd name="connsiteX3754" fmla="*/ 2995983 w 3600000"/>
              <a:gd name="connsiteY3754" fmla="*/ 559436 h 2787466"/>
              <a:gd name="connsiteX3755" fmla="*/ 2938543 w 3600000"/>
              <a:gd name="connsiteY3755" fmla="*/ 559130 h 2787466"/>
              <a:gd name="connsiteX3756" fmla="*/ 2937307 w 3600000"/>
              <a:gd name="connsiteY3756" fmla="*/ 567149 h 2787466"/>
              <a:gd name="connsiteX3757" fmla="*/ 2938543 w 3600000"/>
              <a:gd name="connsiteY3757" fmla="*/ 559130 h 2787466"/>
              <a:gd name="connsiteX3758" fmla="*/ 2125802 w 3600000"/>
              <a:gd name="connsiteY3758" fmla="*/ 557730 h 2787466"/>
              <a:gd name="connsiteX3759" fmla="*/ 2130349 w 3600000"/>
              <a:gd name="connsiteY3759" fmla="*/ 560754 h 2787466"/>
              <a:gd name="connsiteX3760" fmla="*/ 2137018 w 3600000"/>
              <a:gd name="connsiteY3760" fmla="*/ 560754 h 2787466"/>
              <a:gd name="connsiteX3761" fmla="*/ 2119928 w 3600000"/>
              <a:gd name="connsiteY3761" fmla="*/ 569707 h 2787466"/>
              <a:gd name="connsiteX3762" fmla="*/ 2131599 w 3600000"/>
              <a:gd name="connsiteY3762" fmla="*/ 565623 h 2787466"/>
              <a:gd name="connsiteX3763" fmla="*/ 3325327 w 3600000"/>
              <a:gd name="connsiteY3763" fmla="*/ 557244 h 2787466"/>
              <a:gd name="connsiteX3764" fmla="*/ 3313582 w 3600000"/>
              <a:gd name="connsiteY3764" fmla="*/ 563218 h 2787466"/>
              <a:gd name="connsiteX3765" fmla="*/ 3312346 w 3600000"/>
              <a:gd name="connsiteY3765" fmla="*/ 574067 h 2787466"/>
              <a:gd name="connsiteX3766" fmla="*/ 3325327 w 3600000"/>
              <a:gd name="connsiteY3766" fmla="*/ 557244 h 2787466"/>
              <a:gd name="connsiteX3767" fmla="*/ 2125139 w 3600000"/>
              <a:gd name="connsiteY3767" fmla="*/ 556827 h 2787466"/>
              <a:gd name="connsiteX3768" fmla="*/ 2125802 w 3600000"/>
              <a:gd name="connsiteY3768" fmla="*/ 557730 h 2787466"/>
              <a:gd name="connsiteX3769" fmla="*/ 2124886 w 3600000"/>
              <a:gd name="connsiteY3769" fmla="*/ 557121 h 2787466"/>
              <a:gd name="connsiteX3770" fmla="*/ 1275855 w 3600000"/>
              <a:gd name="connsiteY3770" fmla="*/ 555998 h 2787466"/>
              <a:gd name="connsiteX3771" fmla="*/ 1278314 w 3600000"/>
              <a:gd name="connsiteY3771" fmla="*/ 559038 h 2787466"/>
              <a:gd name="connsiteX3772" fmla="*/ 1251259 w 3600000"/>
              <a:gd name="connsiteY3772" fmla="*/ 564158 h 2787466"/>
              <a:gd name="connsiteX3773" fmla="*/ 1275855 w 3600000"/>
              <a:gd name="connsiteY3773" fmla="*/ 555998 h 2787466"/>
              <a:gd name="connsiteX3774" fmla="*/ 925972 w 3600000"/>
              <a:gd name="connsiteY3774" fmla="*/ 555305 h 2787466"/>
              <a:gd name="connsiteX3775" fmla="*/ 928468 w 3600000"/>
              <a:gd name="connsiteY3775" fmla="*/ 559132 h 2787466"/>
              <a:gd name="connsiteX3776" fmla="*/ 911411 w 3600000"/>
              <a:gd name="connsiteY3776" fmla="*/ 560203 h 2787466"/>
              <a:gd name="connsiteX3777" fmla="*/ 2121491 w 3600000"/>
              <a:gd name="connsiteY3777" fmla="*/ 554864 h 2787466"/>
              <a:gd name="connsiteX3778" fmla="*/ 2124886 w 3600000"/>
              <a:gd name="connsiteY3778" fmla="*/ 557121 h 2787466"/>
              <a:gd name="connsiteX3779" fmla="*/ 2121778 w 3600000"/>
              <a:gd name="connsiteY3779" fmla="*/ 560734 h 2787466"/>
              <a:gd name="connsiteX3780" fmla="*/ 2114509 w 3600000"/>
              <a:gd name="connsiteY3780" fmla="*/ 561696 h 2787466"/>
              <a:gd name="connsiteX3781" fmla="*/ 2121491 w 3600000"/>
              <a:gd name="connsiteY3781" fmla="*/ 554864 h 2787466"/>
              <a:gd name="connsiteX3782" fmla="*/ 2380196 w 3600000"/>
              <a:gd name="connsiteY3782" fmla="*/ 553347 h 2787466"/>
              <a:gd name="connsiteX3783" fmla="*/ 2377724 w 3600000"/>
              <a:gd name="connsiteY3783" fmla="*/ 561364 h 2787466"/>
              <a:gd name="connsiteX3784" fmla="*/ 2384113 w 3600000"/>
              <a:gd name="connsiteY3784" fmla="*/ 557435 h 2787466"/>
              <a:gd name="connsiteX3785" fmla="*/ 2380196 w 3600000"/>
              <a:gd name="connsiteY3785" fmla="*/ 553347 h 2787466"/>
              <a:gd name="connsiteX3786" fmla="*/ 2693265 w 3600000"/>
              <a:gd name="connsiteY3786" fmla="*/ 553225 h 2787466"/>
              <a:gd name="connsiteX3787" fmla="*/ 2695927 w 3600000"/>
              <a:gd name="connsiteY3787" fmla="*/ 561385 h 2787466"/>
              <a:gd name="connsiteX3788" fmla="*/ 2684255 w 3600000"/>
              <a:gd name="connsiteY3788" fmla="*/ 560425 h 2787466"/>
              <a:gd name="connsiteX3789" fmla="*/ 2693265 w 3600000"/>
              <a:gd name="connsiteY3789" fmla="*/ 553225 h 2787466"/>
              <a:gd name="connsiteX3790" fmla="*/ 2676682 w 3600000"/>
              <a:gd name="connsiteY3790" fmla="*/ 553225 h 2787466"/>
              <a:gd name="connsiteX3791" fmla="*/ 2670220 w 3600000"/>
              <a:gd name="connsiteY3791" fmla="*/ 569014 h 2787466"/>
              <a:gd name="connsiteX3792" fmla="*/ 2676682 w 3600000"/>
              <a:gd name="connsiteY3792" fmla="*/ 553225 h 2787466"/>
              <a:gd name="connsiteX3793" fmla="*/ 1295088 w 3600000"/>
              <a:gd name="connsiteY3793" fmla="*/ 553225 h 2787466"/>
              <a:gd name="connsiteX3794" fmla="*/ 1296493 w 3600000"/>
              <a:gd name="connsiteY3794" fmla="*/ 557385 h 2787466"/>
              <a:gd name="connsiteX3795" fmla="*/ 1281245 w 3600000"/>
              <a:gd name="connsiteY3795" fmla="*/ 559305 h 2787466"/>
              <a:gd name="connsiteX3796" fmla="*/ 1295088 w 3600000"/>
              <a:gd name="connsiteY3796" fmla="*/ 553225 h 2787466"/>
              <a:gd name="connsiteX3797" fmla="*/ 1279223 w 3600000"/>
              <a:gd name="connsiteY3797" fmla="*/ 551146 h 2787466"/>
              <a:gd name="connsiteX3798" fmla="*/ 1237629 w 3600000"/>
              <a:gd name="connsiteY3798" fmla="*/ 564855 h 2787466"/>
              <a:gd name="connsiteX3799" fmla="*/ 1279223 w 3600000"/>
              <a:gd name="connsiteY3799" fmla="*/ 551146 h 2787466"/>
              <a:gd name="connsiteX3800" fmla="*/ 2133927 w 3600000"/>
              <a:gd name="connsiteY3800" fmla="*/ 549312 h 2787466"/>
              <a:gd name="connsiteX3801" fmla="*/ 2143045 w 3600000"/>
              <a:gd name="connsiteY3801" fmla="*/ 553284 h 2787466"/>
              <a:gd name="connsiteX3802" fmla="*/ 2137864 w 3600000"/>
              <a:gd name="connsiteY3802" fmla="*/ 559321 h 2787466"/>
              <a:gd name="connsiteX3803" fmla="*/ 2133927 w 3600000"/>
              <a:gd name="connsiteY3803" fmla="*/ 549312 h 2787466"/>
              <a:gd name="connsiteX3804" fmla="*/ 1350628 w 3600000"/>
              <a:gd name="connsiteY3804" fmla="*/ 549305 h 2787466"/>
              <a:gd name="connsiteX3805" fmla="*/ 1361003 w 3600000"/>
              <a:gd name="connsiteY3805" fmla="*/ 550237 h 2787466"/>
              <a:gd name="connsiteX3806" fmla="*/ 1341498 w 3600000"/>
              <a:gd name="connsiteY3806" fmla="*/ 557230 h 2787466"/>
              <a:gd name="connsiteX3807" fmla="*/ 1350628 w 3600000"/>
              <a:gd name="connsiteY3807" fmla="*/ 549305 h 2787466"/>
              <a:gd name="connsiteX3808" fmla="*/ 2151083 w 3600000"/>
              <a:gd name="connsiteY3808" fmla="*/ 549066 h 2787466"/>
              <a:gd name="connsiteX3809" fmla="*/ 2148131 w 3600000"/>
              <a:gd name="connsiteY3809" fmla="*/ 552742 h 2787466"/>
              <a:gd name="connsiteX3810" fmla="*/ 2151083 w 3600000"/>
              <a:gd name="connsiteY3810" fmla="*/ 549066 h 2787466"/>
              <a:gd name="connsiteX3811" fmla="*/ 2145632 w 3600000"/>
              <a:gd name="connsiteY3811" fmla="*/ 548373 h 2787466"/>
              <a:gd name="connsiteX3812" fmla="*/ 2144041 w 3600000"/>
              <a:gd name="connsiteY3812" fmla="*/ 554452 h 2787466"/>
              <a:gd name="connsiteX3813" fmla="*/ 2145632 w 3600000"/>
              <a:gd name="connsiteY3813" fmla="*/ 548373 h 2787466"/>
              <a:gd name="connsiteX3814" fmla="*/ 1080417 w 3600000"/>
              <a:gd name="connsiteY3814" fmla="*/ 546763 h 2787466"/>
              <a:gd name="connsiteX3815" fmla="*/ 1092032 w 3600000"/>
              <a:gd name="connsiteY3815" fmla="*/ 548774 h 2787466"/>
              <a:gd name="connsiteX3816" fmla="*/ 1054075 w 3600000"/>
              <a:gd name="connsiteY3816" fmla="*/ 560530 h 2787466"/>
              <a:gd name="connsiteX3817" fmla="*/ 1065897 w 3600000"/>
              <a:gd name="connsiteY3817" fmla="*/ 552641 h 2787466"/>
              <a:gd name="connsiteX3818" fmla="*/ 1080417 w 3600000"/>
              <a:gd name="connsiteY3818" fmla="*/ 546763 h 2787466"/>
              <a:gd name="connsiteX3819" fmla="*/ 2403691 w 3600000"/>
              <a:gd name="connsiteY3819" fmla="*/ 545488 h 2787466"/>
              <a:gd name="connsiteX3820" fmla="*/ 2399775 w 3600000"/>
              <a:gd name="connsiteY3820" fmla="*/ 549418 h 2787466"/>
              <a:gd name="connsiteX3821" fmla="*/ 2403691 w 3600000"/>
              <a:gd name="connsiteY3821" fmla="*/ 545488 h 2787466"/>
              <a:gd name="connsiteX3822" fmla="*/ 3035713 w 3600000"/>
              <a:gd name="connsiteY3822" fmla="*/ 544906 h 2787466"/>
              <a:gd name="connsiteX3823" fmla="*/ 3014107 w 3600000"/>
              <a:gd name="connsiteY3823" fmla="*/ 577334 h 2787466"/>
              <a:gd name="connsiteX3824" fmla="*/ 3035713 w 3600000"/>
              <a:gd name="connsiteY3824" fmla="*/ 544906 h 2787466"/>
              <a:gd name="connsiteX3825" fmla="*/ 2158318 w 3600000"/>
              <a:gd name="connsiteY3825" fmla="*/ 544816 h 2787466"/>
              <a:gd name="connsiteX3826" fmla="*/ 2162209 w 3600000"/>
              <a:gd name="connsiteY3826" fmla="*/ 545734 h 2787466"/>
              <a:gd name="connsiteX3827" fmla="*/ 2162209 w 3600000"/>
              <a:gd name="connsiteY3827" fmla="*/ 550632 h 2787466"/>
              <a:gd name="connsiteX3828" fmla="*/ 2159547 w 3600000"/>
              <a:gd name="connsiteY3828" fmla="*/ 549561 h 2787466"/>
              <a:gd name="connsiteX3829" fmla="*/ 2159547 w 3600000"/>
              <a:gd name="connsiteY3829" fmla="*/ 547725 h 2787466"/>
              <a:gd name="connsiteX3830" fmla="*/ 2158318 w 3600000"/>
              <a:gd name="connsiteY3830" fmla="*/ 544816 h 2787466"/>
              <a:gd name="connsiteX3831" fmla="*/ 2166097 w 3600000"/>
              <a:gd name="connsiteY3831" fmla="*/ 542532 h 2787466"/>
              <a:gd name="connsiteX3832" fmla="*/ 2171085 w 3600000"/>
              <a:gd name="connsiteY3832" fmla="*/ 543399 h 2787466"/>
              <a:gd name="connsiteX3833" fmla="*/ 2172467 w 3600000"/>
              <a:gd name="connsiteY3833" fmla="*/ 548222 h 2787466"/>
              <a:gd name="connsiteX3834" fmla="*/ 2164961 w 3600000"/>
              <a:gd name="connsiteY3834" fmla="*/ 548222 h 2787466"/>
              <a:gd name="connsiteX3835" fmla="*/ 2166097 w 3600000"/>
              <a:gd name="connsiteY3835" fmla="*/ 542532 h 2787466"/>
              <a:gd name="connsiteX3836" fmla="*/ 1122929 w 3600000"/>
              <a:gd name="connsiteY3836" fmla="*/ 541440 h 2787466"/>
              <a:gd name="connsiteX3837" fmla="*/ 1102235 w 3600000"/>
              <a:gd name="connsiteY3837" fmla="*/ 547519 h 2787466"/>
              <a:gd name="connsiteX3838" fmla="*/ 1122929 w 3600000"/>
              <a:gd name="connsiteY3838" fmla="*/ 541440 h 2787466"/>
              <a:gd name="connsiteX3839" fmla="*/ 2946841 w 3600000"/>
              <a:gd name="connsiteY3839" fmla="*/ 540942 h 2787466"/>
              <a:gd name="connsiteX3840" fmla="*/ 2941222 w 3600000"/>
              <a:gd name="connsiteY3840" fmla="*/ 543251 h 2787466"/>
              <a:gd name="connsiteX3841" fmla="*/ 2933391 w 3600000"/>
              <a:gd name="connsiteY3841" fmla="*/ 546238 h 2787466"/>
              <a:gd name="connsiteX3842" fmla="*/ 2934627 w 3600000"/>
              <a:gd name="connsiteY3842" fmla="*/ 549225 h 2787466"/>
              <a:gd name="connsiteX3843" fmla="*/ 2930815 w 3600000"/>
              <a:gd name="connsiteY3843" fmla="*/ 547732 h 2787466"/>
              <a:gd name="connsiteX3844" fmla="*/ 2929221 w 3600000"/>
              <a:gd name="connsiteY3844" fmla="*/ 547107 h 2787466"/>
              <a:gd name="connsiteX3845" fmla="*/ 2929047 w 3600000"/>
              <a:gd name="connsiteY3845" fmla="*/ 548580 h 2787466"/>
              <a:gd name="connsiteX3846" fmla="*/ 2927302 w 3600000"/>
              <a:gd name="connsiteY3846" fmla="*/ 550224 h 2787466"/>
              <a:gd name="connsiteX3847" fmla="*/ 2933391 w 3600000"/>
              <a:gd name="connsiteY3847" fmla="*/ 550169 h 2787466"/>
              <a:gd name="connsiteX3848" fmla="*/ 2942458 w 3600000"/>
              <a:gd name="connsiteY3848" fmla="*/ 557244 h 2787466"/>
              <a:gd name="connsiteX3849" fmla="*/ 2940037 w 3600000"/>
              <a:gd name="connsiteY3849" fmla="*/ 553589 h 2787466"/>
              <a:gd name="connsiteX3850" fmla="*/ 2938746 w 3600000"/>
              <a:gd name="connsiteY3850" fmla="*/ 552310 h 2787466"/>
              <a:gd name="connsiteX3851" fmla="*/ 2937859 w 3600000"/>
              <a:gd name="connsiteY3851" fmla="*/ 552083 h 2787466"/>
              <a:gd name="connsiteX3852" fmla="*/ 2937936 w 3600000"/>
              <a:gd name="connsiteY3852" fmla="*/ 551507 h 2787466"/>
              <a:gd name="connsiteX3853" fmla="*/ 2937879 w 3600000"/>
              <a:gd name="connsiteY3853" fmla="*/ 551451 h 2787466"/>
              <a:gd name="connsiteX3854" fmla="*/ 2937995 w 3600000"/>
              <a:gd name="connsiteY3854" fmla="*/ 551065 h 2787466"/>
              <a:gd name="connsiteX3855" fmla="*/ 2938156 w 3600000"/>
              <a:gd name="connsiteY3855" fmla="*/ 549854 h 2787466"/>
              <a:gd name="connsiteX3856" fmla="*/ 2937650 w 3600000"/>
              <a:gd name="connsiteY3856" fmla="*/ 545913 h 2787466"/>
              <a:gd name="connsiteX3857" fmla="*/ 2941097 w 3600000"/>
              <a:gd name="connsiteY3857" fmla="*/ 545157 h 2787466"/>
              <a:gd name="connsiteX3858" fmla="*/ 2943598 w 3600000"/>
              <a:gd name="connsiteY3858" fmla="*/ 548202 h 2787466"/>
              <a:gd name="connsiteX3859" fmla="*/ 2943121 w 3600000"/>
              <a:gd name="connsiteY3859" fmla="*/ 549421 h 2787466"/>
              <a:gd name="connsiteX3860" fmla="*/ 2944956 w 3600000"/>
              <a:gd name="connsiteY3860" fmla="*/ 548341 h 2787466"/>
              <a:gd name="connsiteX3861" fmla="*/ 2950288 w 3600000"/>
              <a:gd name="connsiteY3861" fmla="*/ 548282 h 2787466"/>
              <a:gd name="connsiteX3862" fmla="*/ 2946841 w 3600000"/>
              <a:gd name="connsiteY3862" fmla="*/ 540942 h 2787466"/>
              <a:gd name="connsiteX3863" fmla="*/ 3196086 w 3600000"/>
              <a:gd name="connsiteY3863" fmla="*/ 540053 h 2787466"/>
              <a:gd name="connsiteX3864" fmla="*/ 3202901 w 3600000"/>
              <a:gd name="connsiteY3864" fmla="*/ 549902 h 2787466"/>
              <a:gd name="connsiteX3865" fmla="*/ 3196086 w 3600000"/>
              <a:gd name="connsiteY3865" fmla="*/ 540053 h 2787466"/>
              <a:gd name="connsiteX3866" fmla="*/ 1246093 w 3600000"/>
              <a:gd name="connsiteY3866" fmla="*/ 539599 h 2787466"/>
              <a:gd name="connsiteX3867" fmla="*/ 1252559 w 3600000"/>
              <a:gd name="connsiteY3867" fmla="*/ 539986 h 2787466"/>
              <a:gd name="connsiteX3868" fmla="*/ 1243597 w 3600000"/>
              <a:gd name="connsiteY3868" fmla="*/ 546797 h 2787466"/>
              <a:gd name="connsiteX3869" fmla="*/ 1248690 w 3600000"/>
              <a:gd name="connsiteY3869" fmla="*/ 545869 h 2787466"/>
              <a:gd name="connsiteX3870" fmla="*/ 1243597 w 3600000"/>
              <a:gd name="connsiteY3870" fmla="*/ 542927 h 2787466"/>
              <a:gd name="connsiteX3871" fmla="*/ 1246093 w 3600000"/>
              <a:gd name="connsiteY3871" fmla="*/ 539599 h 2787466"/>
              <a:gd name="connsiteX3872" fmla="*/ 3067322 w 3600000"/>
              <a:gd name="connsiteY3872" fmla="*/ 537974 h 2787466"/>
              <a:gd name="connsiteX3873" fmla="*/ 3059542 w 3600000"/>
              <a:gd name="connsiteY3873" fmla="*/ 547092 h 2787466"/>
              <a:gd name="connsiteX3874" fmla="*/ 3067322 w 3600000"/>
              <a:gd name="connsiteY3874" fmla="*/ 537974 h 2787466"/>
              <a:gd name="connsiteX3875" fmla="*/ 1505485 w 3600000"/>
              <a:gd name="connsiteY3875" fmla="*/ 537974 h 2787466"/>
              <a:gd name="connsiteX3876" fmla="*/ 1472978 w 3600000"/>
              <a:gd name="connsiteY3876" fmla="*/ 544053 h 2787466"/>
              <a:gd name="connsiteX3877" fmla="*/ 1505485 w 3600000"/>
              <a:gd name="connsiteY3877" fmla="*/ 537974 h 2787466"/>
              <a:gd name="connsiteX3878" fmla="*/ 1139535 w 3600000"/>
              <a:gd name="connsiteY3878" fmla="*/ 537538 h 2787466"/>
              <a:gd name="connsiteX3879" fmla="*/ 1136830 w 3600000"/>
              <a:gd name="connsiteY3879" fmla="*/ 545620 h 2787466"/>
              <a:gd name="connsiteX3880" fmla="*/ 1127677 w 3600000"/>
              <a:gd name="connsiteY3880" fmla="*/ 542608 h 2787466"/>
              <a:gd name="connsiteX3881" fmla="*/ 1139535 w 3600000"/>
              <a:gd name="connsiteY3881" fmla="*/ 537538 h 2787466"/>
              <a:gd name="connsiteX3882" fmla="*/ 1278570 w 3600000"/>
              <a:gd name="connsiteY3882" fmla="*/ 535940 h 2787466"/>
              <a:gd name="connsiteX3883" fmla="*/ 1283764 w 3600000"/>
              <a:gd name="connsiteY3883" fmla="*/ 536125 h 2787466"/>
              <a:gd name="connsiteX3884" fmla="*/ 1257620 w 3600000"/>
              <a:gd name="connsiteY3884" fmla="*/ 540901 h 2787466"/>
              <a:gd name="connsiteX3885" fmla="*/ 1278570 w 3600000"/>
              <a:gd name="connsiteY3885" fmla="*/ 535940 h 2787466"/>
              <a:gd name="connsiteX3886" fmla="*/ 2816392 w 3600000"/>
              <a:gd name="connsiteY3886" fmla="*/ 534507 h 2787466"/>
              <a:gd name="connsiteX3887" fmla="*/ 2815143 w 3600000"/>
              <a:gd name="connsiteY3887" fmla="*/ 548420 h 2787466"/>
              <a:gd name="connsiteX3888" fmla="*/ 2800566 w 3600000"/>
              <a:gd name="connsiteY3888" fmla="*/ 545450 h 2787466"/>
              <a:gd name="connsiteX3889" fmla="*/ 2816392 w 3600000"/>
              <a:gd name="connsiteY3889" fmla="*/ 534507 h 2787466"/>
              <a:gd name="connsiteX3890" fmla="*/ 3102820 w 3600000"/>
              <a:gd name="connsiteY3890" fmla="*/ 533351 h 2787466"/>
              <a:gd name="connsiteX3891" fmla="*/ 3112040 w 3600000"/>
              <a:gd name="connsiteY3891" fmla="*/ 535407 h 2787466"/>
              <a:gd name="connsiteX3892" fmla="*/ 3102820 w 3600000"/>
              <a:gd name="connsiteY3892" fmla="*/ 543313 h 2787466"/>
              <a:gd name="connsiteX3893" fmla="*/ 3112040 w 3600000"/>
              <a:gd name="connsiteY3893" fmla="*/ 553274 h 2787466"/>
              <a:gd name="connsiteX3894" fmla="*/ 3102820 w 3600000"/>
              <a:gd name="connsiteY3894" fmla="*/ 558333 h 2787466"/>
              <a:gd name="connsiteX3895" fmla="*/ 3106712 w 3600000"/>
              <a:gd name="connsiteY3895" fmla="*/ 566239 h 2787466"/>
              <a:gd name="connsiteX3896" fmla="*/ 3091346 w 3600000"/>
              <a:gd name="connsiteY3896" fmla="*/ 561338 h 2787466"/>
              <a:gd name="connsiteX3897" fmla="*/ 3102820 w 3600000"/>
              <a:gd name="connsiteY3897" fmla="*/ 535407 h 2787466"/>
              <a:gd name="connsiteX3898" fmla="*/ 3102820 w 3600000"/>
              <a:gd name="connsiteY3898" fmla="*/ 533351 h 2787466"/>
              <a:gd name="connsiteX3899" fmla="*/ 3219821 w 3600000"/>
              <a:gd name="connsiteY3899" fmla="*/ 533346 h 2787466"/>
              <a:gd name="connsiteX3900" fmla="*/ 3213073 w 3600000"/>
              <a:gd name="connsiteY3900" fmla="*/ 543762 h 2787466"/>
              <a:gd name="connsiteX3901" fmla="*/ 3215638 w 3600000"/>
              <a:gd name="connsiteY3901" fmla="*/ 555963 h 2787466"/>
              <a:gd name="connsiteX3902" fmla="*/ 3216435 w 3600000"/>
              <a:gd name="connsiteY3902" fmla="*/ 555431 h 2787466"/>
              <a:gd name="connsiteX3903" fmla="*/ 3219410 w 3600000"/>
              <a:gd name="connsiteY3903" fmla="*/ 545236 h 2787466"/>
              <a:gd name="connsiteX3904" fmla="*/ 3219434 w 3600000"/>
              <a:gd name="connsiteY3904" fmla="*/ 544537 h 2787466"/>
              <a:gd name="connsiteX3905" fmla="*/ 3219333 w 3600000"/>
              <a:gd name="connsiteY3905" fmla="*/ 540813 h 2787466"/>
              <a:gd name="connsiteX3906" fmla="*/ 3219589 w 3600000"/>
              <a:gd name="connsiteY3906" fmla="*/ 540073 h 2787466"/>
              <a:gd name="connsiteX3907" fmla="*/ 2407106 w 3600000"/>
              <a:gd name="connsiteY3907" fmla="*/ 533044 h 2787466"/>
              <a:gd name="connsiteX3908" fmla="*/ 2414845 w 3600000"/>
              <a:gd name="connsiteY3908" fmla="*/ 533044 h 2787466"/>
              <a:gd name="connsiteX3909" fmla="*/ 2407106 w 3600000"/>
              <a:gd name="connsiteY3909" fmla="*/ 533044 h 2787466"/>
              <a:gd name="connsiteX3910" fmla="*/ 2392318 w 3600000"/>
              <a:gd name="connsiteY3910" fmla="*/ 532965 h 2787466"/>
              <a:gd name="connsiteX3911" fmla="*/ 2400541 w 3600000"/>
              <a:gd name="connsiteY3911" fmla="*/ 536804 h 2787466"/>
              <a:gd name="connsiteX3912" fmla="*/ 2392802 w 3600000"/>
              <a:gd name="connsiteY3912" fmla="*/ 536804 h 2787466"/>
              <a:gd name="connsiteX3913" fmla="*/ 2392318 w 3600000"/>
              <a:gd name="connsiteY3913" fmla="*/ 532965 h 2787466"/>
              <a:gd name="connsiteX3914" fmla="*/ 2712524 w 3600000"/>
              <a:gd name="connsiteY3914" fmla="*/ 532960 h 2787466"/>
              <a:gd name="connsiteX3915" fmla="*/ 2711889 w 3600000"/>
              <a:gd name="connsiteY3915" fmla="*/ 535010 h 2787466"/>
              <a:gd name="connsiteX3916" fmla="*/ 2710004 w 3600000"/>
              <a:gd name="connsiteY3916" fmla="*/ 537104 h 2787466"/>
              <a:gd name="connsiteX3917" fmla="*/ 2711764 w 3600000"/>
              <a:gd name="connsiteY3917" fmla="*/ 537429 h 2787466"/>
              <a:gd name="connsiteX3918" fmla="*/ 2719491 w 3600000"/>
              <a:gd name="connsiteY3918" fmla="*/ 541111 h 2787466"/>
              <a:gd name="connsiteX3919" fmla="*/ 2701519 w 3600000"/>
              <a:gd name="connsiteY3919" fmla="*/ 539250 h 2787466"/>
              <a:gd name="connsiteX3920" fmla="*/ 2705056 w 3600000"/>
              <a:gd name="connsiteY3920" fmla="*/ 536499 h 2787466"/>
              <a:gd name="connsiteX3921" fmla="*/ 2704246 w 3600000"/>
              <a:gd name="connsiteY3921" fmla="*/ 535320 h 2787466"/>
              <a:gd name="connsiteX3922" fmla="*/ 2710874 w 3600000"/>
              <a:gd name="connsiteY3922" fmla="*/ 533299 h 2787466"/>
              <a:gd name="connsiteX3923" fmla="*/ 2712524 w 3600000"/>
              <a:gd name="connsiteY3923" fmla="*/ 532960 h 2787466"/>
              <a:gd name="connsiteX3924" fmla="*/ 3024247 w 3600000"/>
              <a:gd name="connsiteY3924" fmla="*/ 532932 h 2787466"/>
              <a:gd name="connsiteX3925" fmla="*/ 3026624 w 3600000"/>
              <a:gd name="connsiteY3925" fmla="*/ 533318 h 2787466"/>
              <a:gd name="connsiteX3926" fmla="*/ 3017613 w 3600000"/>
              <a:gd name="connsiteY3926" fmla="*/ 546137 h 2787466"/>
              <a:gd name="connsiteX3927" fmla="*/ 3016386 w 3600000"/>
              <a:gd name="connsiteY3927" fmla="*/ 535350 h 2787466"/>
              <a:gd name="connsiteX3928" fmla="*/ 3024247 w 3600000"/>
              <a:gd name="connsiteY3928" fmla="*/ 532932 h 2787466"/>
              <a:gd name="connsiteX3929" fmla="*/ 3279509 w 3600000"/>
              <a:gd name="connsiteY3929" fmla="*/ 531041 h 2787466"/>
              <a:gd name="connsiteX3930" fmla="*/ 3279509 w 3600000"/>
              <a:gd name="connsiteY3930" fmla="*/ 546134 h 2787466"/>
              <a:gd name="connsiteX3931" fmla="*/ 3274309 w 3600000"/>
              <a:gd name="connsiteY3931" fmla="*/ 539144 h 2787466"/>
              <a:gd name="connsiteX3932" fmla="*/ 3270356 w 3600000"/>
              <a:gd name="connsiteY3932" fmla="*/ 540096 h 2787466"/>
              <a:gd name="connsiteX3933" fmla="*/ 3279509 w 3600000"/>
              <a:gd name="connsiteY3933" fmla="*/ 531041 h 2787466"/>
              <a:gd name="connsiteX3934" fmla="*/ 1487043 w 3600000"/>
              <a:gd name="connsiteY3934" fmla="*/ 529655 h 2787466"/>
              <a:gd name="connsiteX3935" fmla="*/ 1490946 w 3600000"/>
              <a:gd name="connsiteY3935" fmla="*/ 536719 h 2787466"/>
              <a:gd name="connsiteX3936" fmla="*/ 1470197 w 3600000"/>
              <a:gd name="connsiteY3936" fmla="*/ 534631 h 2787466"/>
              <a:gd name="connsiteX3937" fmla="*/ 1487043 w 3600000"/>
              <a:gd name="connsiteY3937" fmla="*/ 529655 h 2787466"/>
              <a:gd name="connsiteX3938" fmla="*/ 1820153 w 3600000"/>
              <a:gd name="connsiteY3938" fmla="*/ 527514 h 2787466"/>
              <a:gd name="connsiteX3939" fmla="*/ 1808325 w 3600000"/>
              <a:gd name="connsiteY3939" fmla="*/ 534352 h 2787466"/>
              <a:gd name="connsiteX3940" fmla="*/ 1820153 w 3600000"/>
              <a:gd name="connsiteY3940" fmla="*/ 527514 h 2787466"/>
              <a:gd name="connsiteX3941" fmla="*/ 1769917 w 3600000"/>
              <a:gd name="connsiteY3941" fmla="*/ 527112 h 2787466"/>
              <a:gd name="connsiteX3942" fmla="*/ 1768714 w 3600000"/>
              <a:gd name="connsiteY3942" fmla="*/ 532967 h 2787466"/>
              <a:gd name="connsiteX3943" fmla="*/ 1754670 w 3600000"/>
              <a:gd name="connsiteY3943" fmla="*/ 530964 h 2787466"/>
              <a:gd name="connsiteX3944" fmla="*/ 1769917 w 3600000"/>
              <a:gd name="connsiteY3944" fmla="*/ 527112 h 2787466"/>
              <a:gd name="connsiteX3945" fmla="*/ 2654704 w 3600000"/>
              <a:gd name="connsiteY3945" fmla="*/ 526188 h 2787466"/>
              <a:gd name="connsiteX3946" fmla="*/ 2649432 w 3600000"/>
              <a:gd name="connsiteY3946" fmla="*/ 546134 h 2787466"/>
              <a:gd name="connsiteX3947" fmla="*/ 2654704 w 3600000"/>
              <a:gd name="connsiteY3947" fmla="*/ 526188 h 2787466"/>
              <a:gd name="connsiteX3948" fmla="*/ 3467281 w 3600000"/>
              <a:gd name="connsiteY3948" fmla="*/ 523415 h 2787466"/>
              <a:gd name="connsiteX3949" fmla="*/ 3467281 w 3600000"/>
              <a:gd name="connsiteY3949" fmla="*/ 527241 h 2787466"/>
              <a:gd name="connsiteX3950" fmla="*/ 3473701 w 3600000"/>
              <a:gd name="connsiteY3950" fmla="*/ 530149 h 2787466"/>
              <a:gd name="connsiteX3951" fmla="*/ 3462266 w 3600000"/>
              <a:gd name="connsiteY3951" fmla="*/ 535048 h 2787466"/>
              <a:gd name="connsiteX3952" fmla="*/ 3467281 w 3600000"/>
              <a:gd name="connsiteY3952" fmla="*/ 523415 h 2787466"/>
              <a:gd name="connsiteX3953" fmla="*/ 3339752 w 3600000"/>
              <a:gd name="connsiteY3953" fmla="*/ 522340 h 2787466"/>
              <a:gd name="connsiteX3954" fmla="*/ 3334395 w 3600000"/>
              <a:gd name="connsiteY3954" fmla="*/ 532402 h 2787466"/>
              <a:gd name="connsiteX3955" fmla="*/ 3339752 w 3600000"/>
              <a:gd name="connsiteY3955" fmla="*/ 522340 h 2787466"/>
              <a:gd name="connsiteX3956" fmla="*/ 3111109 w 3600000"/>
              <a:gd name="connsiteY3956" fmla="*/ 521833 h 2787466"/>
              <a:gd name="connsiteX3957" fmla="*/ 3112289 w 3600000"/>
              <a:gd name="connsiteY3957" fmla="*/ 522388 h 2787466"/>
              <a:gd name="connsiteX3958" fmla="*/ 3112289 w 3600000"/>
              <a:gd name="connsiteY3958" fmla="*/ 530194 h 2787466"/>
              <a:gd name="connsiteX3959" fmla="*/ 3100432 w 3600000"/>
              <a:gd name="connsiteY3959" fmla="*/ 528205 h 2787466"/>
              <a:gd name="connsiteX3960" fmla="*/ 3111109 w 3600000"/>
              <a:gd name="connsiteY3960" fmla="*/ 521833 h 2787466"/>
              <a:gd name="connsiteX3961" fmla="*/ 1132923 w 3600000"/>
              <a:gd name="connsiteY3961" fmla="*/ 521574 h 2787466"/>
              <a:gd name="connsiteX3962" fmla="*/ 1110721 w 3600000"/>
              <a:gd name="connsiteY3962" fmla="*/ 529499 h 2787466"/>
              <a:gd name="connsiteX3963" fmla="*/ 1132923 w 3600000"/>
              <a:gd name="connsiteY3963" fmla="*/ 521574 h 2787466"/>
              <a:gd name="connsiteX3964" fmla="*/ 3540938 w 3600000"/>
              <a:gd name="connsiteY3964" fmla="*/ 520642 h 2787466"/>
              <a:gd name="connsiteX3965" fmla="*/ 3540938 w 3600000"/>
              <a:gd name="connsiteY3965" fmla="*/ 530651 h 2787466"/>
              <a:gd name="connsiteX3966" fmla="*/ 3531899 w 3600000"/>
              <a:gd name="connsiteY3966" fmla="*/ 529698 h 2787466"/>
              <a:gd name="connsiteX3967" fmla="*/ 3531899 w 3600000"/>
              <a:gd name="connsiteY3967" fmla="*/ 535735 h 2787466"/>
              <a:gd name="connsiteX3968" fmla="*/ 3540938 w 3600000"/>
              <a:gd name="connsiteY3968" fmla="*/ 520642 h 2787466"/>
              <a:gd name="connsiteX3969" fmla="*/ 3071960 w 3600000"/>
              <a:gd name="connsiteY3969" fmla="*/ 520642 h 2787466"/>
              <a:gd name="connsiteX3970" fmla="*/ 3071960 w 3600000"/>
              <a:gd name="connsiteY3970" fmla="*/ 535735 h 2787466"/>
              <a:gd name="connsiteX3971" fmla="*/ 3071960 w 3600000"/>
              <a:gd name="connsiteY3971" fmla="*/ 520642 h 2787466"/>
              <a:gd name="connsiteX3972" fmla="*/ 2727174 w 3600000"/>
              <a:gd name="connsiteY3972" fmla="*/ 520516 h 2787466"/>
              <a:gd name="connsiteX3973" fmla="*/ 2721242 w 3600000"/>
              <a:gd name="connsiteY3973" fmla="*/ 539204 h 2787466"/>
              <a:gd name="connsiteX3974" fmla="*/ 2713317 w 3600000"/>
              <a:gd name="connsiteY3974" fmla="*/ 530308 h 2787466"/>
              <a:gd name="connsiteX3975" fmla="*/ 2724615 w 3600000"/>
              <a:gd name="connsiteY3975" fmla="*/ 520855 h 2787466"/>
              <a:gd name="connsiteX3976" fmla="*/ 2727174 w 3600000"/>
              <a:gd name="connsiteY3976" fmla="*/ 520516 h 2787466"/>
              <a:gd name="connsiteX3977" fmla="*/ 3496968 w 3600000"/>
              <a:gd name="connsiteY3977" fmla="*/ 519255 h 2787466"/>
              <a:gd name="connsiteX3978" fmla="*/ 3506405 w 3600000"/>
              <a:gd name="connsiteY3978" fmla="*/ 555842 h 2787466"/>
              <a:gd name="connsiteX3979" fmla="*/ 3496968 w 3600000"/>
              <a:gd name="connsiteY3979" fmla="*/ 519255 h 2787466"/>
              <a:gd name="connsiteX3980" fmla="*/ 1879409 w 3600000"/>
              <a:gd name="connsiteY3980" fmla="*/ 515754 h 2787466"/>
              <a:gd name="connsiteX3981" fmla="*/ 1886223 w 3600000"/>
              <a:gd name="connsiteY3981" fmla="*/ 517056 h 2787466"/>
              <a:gd name="connsiteX3982" fmla="*/ 1874617 w 3600000"/>
              <a:gd name="connsiteY3982" fmla="*/ 515968 h 2787466"/>
              <a:gd name="connsiteX3983" fmla="*/ 1879409 w 3600000"/>
              <a:gd name="connsiteY3983" fmla="*/ 515754 h 2787466"/>
              <a:gd name="connsiteX3984" fmla="*/ 1938013 w 3600000"/>
              <a:gd name="connsiteY3984" fmla="*/ 514389 h 2787466"/>
              <a:gd name="connsiteX3985" fmla="*/ 1945281 w 3600000"/>
              <a:gd name="connsiteY3985" fmla="*/ 517709 h 2787466"/>
              <a:gd name="connsiteX3986" fmla="*/ 1931864 w 3600000"/>
              <a:gd name="connsiteY3986" fmla="*/ 515629 h 2787466"/>
              <a:gd name="connsiteX3987" fmla="*/ 1938013 w 3600000"/>
              <a:gd name="connsiteY3987" fmla="*/ 514389 h 2787466"/>
              <a:gd name="connsiteX3988" fmla="*/ 3112160 w 3600000"/>
              <a:gd name="connsiteY3988" fmla="*/ 510243 h 2787466"/>
              <a:gd name="connsiteX3989" fmla="*/ 3117484 w 3600000"/>
              <a:gd name="connsiteY3989" fmla="*/ 515242 h 2787466"/>
              <a:gd name="connsiteX3990" fmla="*/ 3104067 w 3600000"/>
              <a:gd name="connsiteY3990" fmla="*/ 517273 h 2787466"/>
              <a:gd name="connsiteX3991" fmla="*/ 3112160 w 3600000"/>
              <a:gd name="connsiteY3991" fmla="*/ 510243 h 2787466"/>
              <a:gd name="connsiteX3992" fmla="*/ 1899883 w 3600000"/>
              <a:gd name="connsiteY3992" fmla="*/ 510108 h 2787466"/>
              <a:gd name="connsiteX3993" fmla="*/ 1904401 w 3600000"/>
              <a:gd name="connsiteY3993" fmla="*/ 511090 h 2787466"/>
              <a:gd name="connsiteX3994" fmla="*/ 1895517 w 3600000"/>
              <a:gd name="connsiteY3994" fmla="*/ 512014 h 2787466"/>
              <a:gd name="connsiteX3995" fmla="*/ 1899883 w 3600000"/>
              <a:gd name="connsiteY3995" fmla="*/ 510108 h 2787466"/>
              <a:gd name="connsiteX3996" fmla="*/ 1112971 w 3600000"/>
              <a:gd name="connsiteY3996" fmla="*/ 510039 h 2787466"/>
              <a:gd name="connsiteX3997" fmla="*/ 1121110 w 3600000"/>
              <a:gd name="connsiteY3997" fmla="*/ 514426 h 2787466"/>
              <a:gd name="connsiteX3998" fmla="*/ 1104052 w 3600000"/>
              <a:gd name="connsiteY3998" fmla="*/ 515375 h 2787466"/>
              <a:gd name="connsiteX3999" fmla="*/ 1112971 w 3600000"/>
              <a:gd name="connsiteY3999" fmla="*/ 510039 h 2787466"/>
              <a:gd name="connsiteX4000" fmla="*/ 1334650 w 3600000"/>
              <a:gd name="connsiteY4000" fmla="*/ 508394 h 2787466"/>
              <a:gd name="connsiteX4001" fmla="*/ 1317593 w 3600000"/>
              <a:gd name="connsiteY4001" fmla="*/ 514248 h 2787466"/>
              <a:gd name="connsiteX4002" fmla="*/ 1334650 w 3600000"/>
              <a:gd name="connsiteY4002" fmla="*/ 508394 h 2787466"/>
              <a:gd name="connsiteX4003" fmla="*/ 1822473 w 3600000"/>
              <a:gd name="connsiteY4003" fmla="*/ 507220 h 2787466"/>
              <a:gd name="connsiteX4004" fmla="*/ 1834425 w 3600000"/>
              <a:gd name="connsiteY4004" fmla="*/ 509171 h 2787466"/>
              <a:gd name="connsiteX4005" fmla="*/ 1821004 w 3600000"/>
              <a:gd name="connsiteY4005" fmla="*/ 512257 h 2787466"/>
              <a:gd name="connsiteX4006" fmla="*/ 1822473 w 3600000"/>
              <a:gd name="connsiteY4006" fmla="*/ 507220 h 2787466"/>
              <a:gd name="connsiteX4007" fmla="*/ 2696126 w 3600000"/>
              <a:gd name="connsiteY4007" fmla="*/ 506083 h 2787466"/>
              <a:gd name="connsiteX4008" fmla="*/ 2697331 w 3600000"/>
              <a:gd name="connsiteY4008" fmla="*/ 517019 h 2787466"/>
              <a:gd name="connsiteX4009" fmla="*/ 2696126 w 3600000"/>
              <a:gd name="connsiteY4009" fmla="*/ 506083 h 2787466"/>
              <a:gd name="connsiteX4010" fmla="*/ 1876819 w 3600000"/>
              <a:gd name="connsiteY4010" fmla="*/ 505740 h 2787466"/>
              <a:gd name="connsiteX4011" fmla="*/ 1879859 w 3600000"/>
              <a:gd name="connsiteY4011" fmla="*/ 508208 h 2787466"/>
              <a:gd name="connsiteX4012" fmla="*/ 1871891 w 3600000"/>
              <a:gd name="connsiteY4012" fmla="*/ 509127 h 2787466"/>
              <a:gd name="connsiteX4013" fmla="*/ 1876819 w 3600000"/>
              <a:gd name="connsiteY4013" fmla="*/ 505740 h 2787466"/>
              <a:gd name="connsiteX4014" fmla="*/ 3548440 w 3600000"/>
              <a:gd name="connsiteY4014" fmla="*/ 504697 h 2787466"/>
              <a:gd name="connsiteX4015" fmla="*/ 3561525 w 3600000"/>
              <a:gd name="connsiteY4015" fmla="*/ 544057 h 2787466"/>
              <a:gd name="connsiteX4016" fmla="*/ 3548440 w 3600000"/>
              <a:gd name="connsiteY4016" fmla="*/ 504697 h 2787466"/>
              <a:gd name="connsiteX4017" fmla="*/ 2729903 w 3600000"/>
              <a:gd name="connsiteY4017" fmla="*/ 504697 h 2787466"/>
              <a:gd name="connsiteX4018" fmla="*/ 2731333 w 3600000"/>
              <a:gd name="connsiteY4018" fmla="*/ 515631 h 2787466"/>
              <a:gd name="connsiteX4019" fmla="*/ 2729903 w 3600000"/>
              <a:gd name="connsiteY4019" fmla="*/ 504697 h 2787466"/>
              <a:gd name="connsiteX4020" fmla="*/ 3079887 w 3600000"/>
              <a:gd name="connsiteY4020" fmla="*/ 503310 h 2787466"/>
              <a:gd name="connsiteX4021" fmla="*/ 3072263 w 3600000"/>
              <a:gd name="connsiteY4021" fmla="*/ 512034 h 2787466"/>
              <a:gd name="connsiteX4022" fmla="*/ 3079887 w 3600000"/>
              <a:gd name="connsiteY4022" fmla="*/ 503310 h 2787466"/>
              <a:gd name="connsiteX4023" fmla="*/ 2836842 w 3600000"/>
              <a:gd name="connsiteY4023" fmla="*/ 502617 h 2787466"/>
              <a:gd name="connsiteX4024" fmla="*/ 2847292 w 3600000"/>
              <a:gd name="connsiteY4024" fmla="*/ 506546 h 2787466"/>
              <a:gd name="connsiteX4025" fmla="*/ 2846063 w 3600000"/>
              <a:gd name="connsiteY4025" fmla="*/ 514564 h 2787466"/>
              <a:gd name="connsiteX4026" fmla="*/ 2839506 w 3600000"/>
              <a:gd name="connsiteY4026" fmla="*/ 515506 h 2787466"/>
              <a:gd name="connsiteX4027" fmla="*/ 2848521 w 3600000"/>
              <a:gd name="connsiteY4027" fmla="*/ 521480 h 2787466"/>
              <a:gd name="connsiteX4028" fmla="*/ 2842170 w 3600000"/>
              <a:gd name="connsiteY4028" fmla="*/ 529497 h 2787466"/>
              <a:gd name="connsiteX4029" fmla="*/ 2827827 w 3600000"/>
              <a:gd name="connsiteY4029" fmla="*/ 518494 h 2787466"/>
              <a:gd name="connsiteX4030" fmla="*/ 2840736 w 3600000"/>
              <a:gd name="connsiteY4030" fmla="*/ 510477 h 2787466"/>
              <a:gd name="connsiteX4031" fmla="*/ 2834384 w 3600000"/>
              <a:gd name="connsiteY4031" fmla="*/ 504660 h 2787466"/>
              <a:gd name="connsiteX4032" fmla="*/ 2836842 w 3600000"/>
              <a:gd name="connsiteY4032" fmla="*/ 502617 h 2787466"/>
              <a:gd name="connsiteX4033" fmla="*/ 2672229 w 3600000"/>
              <a:gd name="connsiteY4033" fmla="*/ 502617 h 2787466"/>
              <a:gd name="connsiteX4034" fmla="*/ 2661367 w 3600000"/>
              <a:gd name="connsiteY4034" fmla="*/ 526723 h 2787466"/>
              <a:gd name="connsiteX4035" fmla="*/ 2672229 w 3600000"/>
              <a:gd name="connsiteY4035" fmla="*/ 502617 h 2787466"/>
              <a:gd name="connsiteX4036" fmla="*/ 2458398 w 3600000"/>
              <a:gd name="connsiteY4036" fmla="*/ 502192 h 2787466"/>
              <a:gd name="connsiteX4037" fmla="*/ 2465963 w 3600000"/>
              <a:gd name="connsiteY4037" fmla="*/ 503331 h 2787466"/>
              <a:gd name="connsiteX4038" fmla="*/ 2459539 w 3600000"/>
              <a:gd name="connsiteY4038" fmla="*/ 505243 h 2787466"/>
              <a:gd name="connsiteX4039" fmla="*/ 2458398 w 3600000"/>
              <a:gd name="connsiteY4039" fmla="*/ 502192 h 2787466"/>
              <a:gd name="connsiteX4040" fmla="*/ 3343667 w 3600000"/>
              <a:gd name="connsiteY4040" fmla="*/ 500486 h 2787466"/>
              <a:gd name="connsiteX4041" fmla="*/ 3344904 w 3600000"/>
              <a:gd name="connsiteY4041" fmla="*/ 510391 h 2787466"/>
              <a:gd name="connsiteX4042" fmla="*/ 3350055 w 3600000"/>
              <a:gd name="connsiteY4042" fmla="*/ 504574 h 2787466"/>
              <a:gd name="connsiteX4043" fmla="*/ 3343667 w 3600000"/>
              <a:gd name="connsiteY4043" fmla="*/ 500486 h 2787466"/>
              <a:gd name="connsiteX4044" fmla="*/ 1795250 w 3600000"/>
              <a:gd name="connsiteY4044" fmla="*/ 499459 h 2787466"/>
              <a:gd name="connsiteX4045" fmla="*/ 1804435 w 3600000"/>
              <a:gd name="connsiteY4045" fmla="*/ 499723 h 2787466"/>
              <a:gd name="connsiteX4046" fmla="*/ 1799111 w 3600000"/>
              <a:gd name="connsiteY4046" fmla="*/ 500628 h 2787466"/>
              <a:gd name="connsiteX4047" fmla="*/ 1799111 w 3600000"/>
              <a:gd name="connsiteY4047" fmla="*/ 502587 h 2787466"/>
              <a:gd name="connsiteX4048" fmla="*/ 1791018 w 3600000"/>
              <a:gd name="connsiteY4048" fmla="*/ 503491 h 2787466"/>
              <a:gd name="connsiteX4049" fmla="*/ 1795250 w 3600000"/>
              <a:gd name="connsiteY4049" fmla="*/ 499459 h 2787466"/>
              <a:gd name="connsiteX4050" fmla="*/ 1868605 w 3600000"/>
              <a:gd name="connsiteY4050" fmla="*/ 499150 h 2787466"/>
              <a:gd name="connsiteX4051" fmla="*/ 1872590 w 3600000"/>
              <a:gd name="connsiteY4051" fmla="*/ 501154 h 2787466"/>
              <a:gd name="connsiteX4052" fmla="*/ 1871331 w 3600000"/>
              <a:gd name="connsiteY4052" fmla="*/ 505929 h 2787466"/>
              <a:gd name="connsiteX4053" fmla="*/ 1868605 w 3600000"/>
              <a:gd name="connsiteY4053" fmla="*/ 499150 h 2787466"/>
              <a:gd name="connsiteX4054" fmla="*/ 1383454 w 3600000"/>
              <a:gd name="connsiteY4054" fmla="*/ 499150 h 2787466"/>
              <a:gd name="connsiteX4055" fmla="*/ 1387356 w 3600000"/>
              <a:gd name="connsiteY4055" fmla="*/ 502103 h 2787466"/>
              <a:gd name="connsiteX4056" fmla="*/ 1357575 w 3600000"/>
              <a:gd name="connsiteY4056" fmla="*/ 504123 h 2787466"/>
              <a:gd name="connsiteX4057" fmla="*/ 1383454 w 3600000"/>
              <a:gd name="connsiteY4057" fmla="*/ 499150 h 2787466"/>
              <a:gd name="connsiteX4058" fmla="*/ 1626736 w 3600000"/>
              <a:gd name="connsiteY4058" fmla="*/ 495768 h 2787466"/>
              <a:gd name="connsiteX4059" fmla="*/ 1620381 w 3600000"/>
              <a:gd name="connsiteY4059" fmla="*/ 498785 h 2787466"/>
              <a:gd name="connsiteX4060" fmla="*/ 1636024 w 3600000"/>
              <a:gd name="connsiteY4060" fmla="*/ 495808 h 2787466"/>
              <a:gd name="connsiteX4061" fmla="*/ 1626736 w 3600000"/>
              <a:gd name="connsiteY4061" fmla="*/ 495768 h 2787466"/>
              <a:gd name="connsiteX4062" fmla="*/ 1681673 w 3600000"/>
              <a:gd name="connsiteY4062" fmla="*/ 495684 h 2787466"/>
              <a:gd name="connsiteX4063" fmla="*/ 1686923 w 3600000"/>
              <a:gd name="connsiteY4063" fmla="*/ 495684 h 2787466"/>
              <a:gd name="connsiteX4064" fmla="*/ 1688135 w 3600000"/>
              <a:gd name="connsiteY4064" fmla="*/ 497549 h 2787466"/>
              <a:gd name="connsiteX4065" fmla="*/ 1670163 w 3600000"/>
              <a:gd name="connsiteY4065" fmla="*/ 504542 h 2787466"/>
              <a:gd name="connsiteX4066" fmla="*/ 1681673 w 3600000"/>
              <a:gd name="connsiteY4066" fmla="*/ 495684 h 2787466"/>
              <a:gd name="connsiteX4067" fmla="*/ 2639158 w 3600000"/>
              <a:gd name="connsiteY4067" fmla="*/ 494298 h 2787466"/>
              <a:gd name="connsiteX4068" fmla="*/ 2643104 w 3600000"/>
              <a:gd name="connsiteY4068" fmla="*/ 494298 h 2787466"/>
              <a:gd name="connsiteX4069" fmla="*/ 2647051 w 3600000"/>
              <a:gd name="connsiteY4069" fmla="*/ 496377 h 2787466"/>
              <a:gd name="connsiteX4070" fmla="*/ 2639158 w 3600000"/>
              <a:gd name="connsiteY4070" fmla="*/ 498457 h 2787466"/>
              <a:gd name="connsiteX4071" fmla="*/ 2639158 w 3600000"/>
              <a:gd name="connsiteY4071" fmla="*/ 494298 h 2787466"/>
              <a:gd name="connsiteX4072" fmla="*/ 1477017 w 3600000"/>
              <a:gd name="connsiteY4072" fmla="*/ 494298 h 2787466"/>
              <a:gd name="connsiteX4073" fmla="*/ 1478228 w 3600000"/>
              <a:gd name="connsiteY4073" fmla="*/ 501185 h 2787466"/>
              <a:gd name="connsiteX4074" fmla="*/ 1469343 w 3600000"/>
              <a:gd name="connsiteY4074" fmla="*/ 500114 h 2787466"/>
              <a:gd name="connsiteX4075" fmla="*/ 1456622 w 3600000"/>
              <a:gd name="connsiteY4075" fmla="*/ 499196 h 2787466"/>
              <a:gd name="connsiteX4076" fmla="*/ 1477017 w 3600000"/>
              <a:gd name="connsiteY4076" fmla="*/ 494298 h 2787466"/>
              <a:gd name="connsiteX4077" fmla="*/ 2763077 w 3600000"/>
              <a:gd name="connsiteY4077" fmla="*/ 494168 h 2787466"/>
              <a:gd name="connsiteX4078" fmla="*/ 2772216 w 3600000"/>
              <a:gd name="connsiteY4078" fmla="*/ 502455 h 2787466"/>
              <a:gd name="connsiteX4079" fmla="*/ 2763077 w 3600000"/>
              <a:gd name="connsiteY4079" fmla="*/ 494168 h 2787466"/>
              <a:gd name="connsiteX4080" fmla="*/ 2610807 w 3600000"/>
              <a:gd name="connsiteY4080" fmla="*/ 493772 h 2787466"/>
              <a:gd name="connsiteX4081" fmla="*/ 2617196 w 3600000"/>
              <a:gd name="connsiteY4081" fmla="*/ 501789 h 2787466"/>
              <a:gd name="connsiteX4082" fmla="*/ 2615959 w 3600000"/>
              <a:gd name="connsiteY4082" fmla="*/ 494716 h 2787466"/>
              <a:gd name="connsiteX4083" fmla="*/ 2610807 w 3600000"/>
              <a:gd name="connsiteY4083" fmla="*/ 493772 h 2787466"/>
              <a:gd name="connsiteX4084" fmla="*/ 2844732 w 3600000"/>
              <a:gd name="connsiteY4084" fmla="*/ 492218 h 2787466"/>
              <a:gd name="connsiteX4085" fmla="*/ 2846157 w 3600000"/>
              <a:gd name="connsiteY4085" fmla="*/ 502455 h 2787466"/>
              <a:gd name="connsiteX4086" fmla="*/ 2844732 w 3600000"/>
              <a:gd name="connsiteY4086" fmla="*/ 492218 h 2787466"/>
              <a:gd name="connsiteX4087" fmla="*/ 3044029 w 3600000"/>
              <a:gd name="connsiteY4087" fmla="*/ 491252 h 2787466"/>
              <a:gd name="connsiteX4088" fmla="*/ 3048429 w 3600000"/>
              <a:gd name="connsiteY4088" fmla="*/ 491698 h 2787466"/>
              <a:gd name="connsiteX4089" fmla="*/ 3034098 w 3600000"/>
              <a:gd name="connsiteY4089" fmla="*/ 499452 h 2787466"/>
              <a:gd name="connsiteX4090" fmla="*/ 3044029 w 3600000"/>
              <a:gd name="connsiteY4090" fmla="*/ 491252 h 2787466"/>
              <a:gd name="connsiteX4091" fmla="*/ 3303197 w 3600000"/>
              <a:gd name="connsiteY4091" fmla="*/ 490831 h 2787466"/>
              <a:gd name="connsiteX4092" fmla="*/ 3297873 w 3600000"/>
              <a:gd name="connsiteY4092" fmla="*/ 504543 h 2787466"/>
              <a:gd name="connsiteX4093" fmla="*/ 3303197 w 3600000"/>
              <a:gd name="connsiteY4093" fmla="*/ 490831 h 2787466"/>
              <a:gd name="connsiteX4094" fmla="*/ 1679044 w 3600000"/>
              <a:gd name="connsiteY4094" fmla="*/ 483899 h 2787466"/>
              <a:gd name="connsiteX4095" fmla="*/ 1659490 w 3600000"/>
              <a:gd name="connsiteY4095" fmla="*/ 486876 h 2787466"/>
              <a:gd name="connsiteX4096" fmla="*/ 1672457 w 3600000"/>
              <a:gd name="connsiteY4096" fmla="*/ 490793 h 2787466"/>
              <a:gd name="connsiteX4097" fmla="*/ 1671222 w 3600000"/>
              <a:gd name="connsiteY4097" fmla="*/ 495808 h 2787466"/>
              <a:gd name="connsiteX4098" fmla="*/ 1638700 w 3600000"/>
              <a:gd name="connsiteY4098" fmla="*/ 495808 h 2787466"/>
              <a:gd name="connsiteX4099" fmla="*/ 1661959 w 3600000"/>
              <a:gd name="connsiteY4099" fmla="*/ 502703 h 2787466"/>
              <a:gd name="connsiteX4100" fmla="*/ 1636024 w 3600000"/>
              <a:gd name="connsiteY4100" fmla="*/ 504739 h 2787466"/>
              <a:gd name="connsiteX4101" fmla="*/ 1604737 w 3600000"/>
              <a:gd name="connsiteY4101" fmla="*/ 499725 h 2787466"/>
              <a:gd name="connsiteX4102" fmla="*/ 1591769 w 3600000"/>
              <a:gd name="connsiteY4102" fmla="*/ 503642 h 2787466"/>
              <a:gd name="connsiteX4103" fmla="*/ 1589299 w 3600000"/>
              <a:gd name="connsiteY4103" fmla="*/ 497688 h 2787466"/>
              <a:gd name="connsiteX4104" fmla="*/ 1581478 w 3600000"/>
              <a:gd name="connsiteY4104" fmla="*/ 503642 h 2787466"/>
              <a:gd name="connsiteX4105" fmla="*/ 1535988 w 3600000"/>
              <a:gd name="connsiteY4105" fmla="*/ 501762 h 2787466"/>
              <a:gd name="connsiteX4106" fmla="*/ 1581478 w 3600000"/>
              <a:gd name="connsiteY4106" fmla="*/ 493770 h 2787466"/>
              <a:gd name="connsiteX4107" fmla="*/ 1528167 w 3600000"/>
              <a:gd name="connsiteY4107" fmla="*/ 489853 h 2787466"/>
              <a:gd name="connsiteX4108" fmla="*/ 1522815 w 3600000"/>
              <a:gd name="connsiteY4108" fmla="*/ 500665 h 2787466"/>
              <a:gd name="connsiteX4109" fmla="*/ 1499555 w 3600000"/>
              <a:gd name="connsiteY4109" fmla="*/ 501762 h 2787466"/>
              <a:gd name="connsiteX4110" fmla="*/ 1517669 w 3600000"/>
              <a:gd name="connsiteY4110" fmla="*/ 495808 h 2787466"/>
              <a:gd name="connsiteX4111" fmla="*/ 1512523 w 3600000"/>
              <a:gd name="connsiteY4111" fmla="*/ 493770 h 2787466"/>
              <a:gd name="connsiteX4112" fmla="*/ 1517669 w 3600000"/>
              <a:gd name="connsiteY4112" fmla="*/ 491890 h 2787466"/>
              <a:gd name="connsiteX4113" fmla="*/ 1502026 w 3600000"/>
              <a:gd name="connsiteY4113" fmla="*/ 487816 h 2787466"/>
              <a:gd name="connsiteX4114" fmla="*/ 1594446 w 3600000"/>
              <a:gd name="connsiteY4114" fmla="*/ 485936 h 2787466"/>
              <a:gd name="connsiteX4115" fmla="*/ 1679044 w 3600000"/>
              <a:gd name="connsiteY4115" fmla="*/ 483899 h 2787466"/>
              <a:gd name="connsiteX4116" fmla="*/ 3061145 w 3600000"/>
              <a:gd name="connsiteY4116" fmla="*/ 476677 h 2787466"/>
              <a:gd name="connsiteX4117" fmla="*/ 3051775 w 3600000"/>
              <a:gd name="connsiteY4117" fmla="*/ 493448 h 2787466"/>
              <a:gd name="connsiteX4118" fmla="*/ 3061145 w 3600000"/>
              <a:gd name="connsiteY4118" fmla="*/ 476677 h 2787466"/>
              <a:gd name="connsiteX4119" fmla="*/ 2834201 w 3600000"/>
              <a:gd name="connsiteY4119" fmla="*/ 474886 h 2787466"/>
              <a:gd name="connsiteX4120" fmla="*/ 2830336 w 3600000"/>
              <a:gd name="connsiteY4120" fmla="*/ 496912 h 2787466"/>
              <a:gd name="connsiteX4121" fmla="*/ 2834201 w 3600000"/>
              <a:gd name="connsiteY4121" fmla="*/ 474886 h 2787466"/>
              <a:gd name="connsiteX4122" fmla="*/ 3267417 w 3600000"/>
              <a:gd name="connsiteY4122" fmla="*/ 467622 h 2787466"/>
              <a:gd name="connsiteX4123" fmla="*/ 3264649 w 3600000"/>
              <a:gd name="connsiteY4123" fmla="*/ 473349 h 2787466"/>
              <a:gd name="connsiteX4124" fmla="*/ 3254000 w 3600000"/>
              <a:gd name="connsiteY4124" fmla="*/ 470486 h 2787466"/>
              <a:gd name="connsiteX4125" fmla="*/ 3267417 w 3600000"/>
              <a:gd name="connsiteY4125" fmla="*/ 467622 h 2787466"/>
              <a:gd name="connsiteX4126" fmla="*/ 2853884 w 3600000"/>
              <a:gd name="connsiteY4126" fmla="*/ 466567 h 2787466"/>
              <a:gd name="connsiteX4127" fmla="*/ 2860332 w 3600000"/>
              <a:gd name="connsiteY4127" fmla="*/ 470486 h 2787466"/>
              <a:gd name="connsiteX4128" fmla="*/ 2843274 w 3600000"/>
              <a:gd name="connsiteY4128" fmla="*/ 472294 h 2787466"/>
              <a:gd name="connsiteX4129" fmla="*/ 2853884 w 3600000"/>
              <a:gd name="connsiteY4129" fmla="*/ 466567 h 2787466"/>
              <a:gd name="connsiteX4130" fmla="*/ 2815636 w 3600000"/>
              <a:gd name="connsiteY4130" fmla="*/ 465874 h 2787466"/>
              <a:gd name="connsiteX4131" fmla="*/ 2815636 w 3600000"/>
              <a:gd name="connsiteY4131" fmla="*/ 480967 h 2787466"/>
              <a:gd name="connsiteX4132" fmla="*/ 2815636 w 3600000"/>
              <a:gd name="connsiteY4132" fmla="*/ 465874 h 2787466"/>
              <a:gd name="connsiteX4133" fmla="*/ 3016373 w 3600000"/>
              <a:gd name="connsiteY4133" fmla="*/ 464488 h 2787466"/>
              <a:gd name="connsiteX4134" fmla="*/ 3014939 w 3600000"/>
              <a:gd name="connsiteY4134" fmla="*/ 475421 h 2787466"/>
              <a:gd name="connsiteX4135" fmla="*/ 3016373 w 3600000"/>
              <a:gd name="connsiteY4135" fmla="*/ 464488 h 2787466"/>
              <a:gd name="connsiteX4136" fmla="*/ 2765423 w 3600000"/>
              <a:gd name="connsiteY4136" fmla="*/ 461714 h 2787466"/>
              <a:gd name="connsiteX4137" fmla="*/ 2770623 w 3600000"/>
              <a:gd name="connsiteY4137" fmla="*/ 470649 h 2787466"/>
              <a:gd name="connsiteX4138" fmla="*/ 2766671 w 3600000"/>
              <a:gd name="connsiteY4138" fmla="*/ 479582 h 2787466"/>
              <a:gd name="connsiteX4139" fmla="*/ 2765423 w 3600000"/>
              <a:gd name="connsiteY4139" fmla="*/ 461714 h 2787466"/>
              <a:gd name="connsiteX4140" fmla="*/ 2634978 w 3600000"/>
              <a:gd name="connsiteY4140" fmla="*/ 461699 h 2787466"/>
              <a:gd name="connsiteX4141" fmla="*/ 2624369 w 3600000"/>
              <a:gd name="connsiteY4141" fmla="*/ 474727 h 2787466"/>
              <a:gd name="connsiteX4142" fmla="*/ 2634978 w 3600000"/>
              <a:gd name="connsiteY4142" fmla="*/ 461699 h 2787466"/>
              <a:gd name="connsiteX4143" fmla="*/ 2453234 w 3600000"/>
              <a:gd name="connsiteY4143" fmla="*/ 461062 h 2787466"/>
              <a:gd name="connsiteX4144" fmla="*/ 2462325 w 3600000"/>
              <a:gd name="connsiteY4144" fmla="*/ 462715 h 2787466"/>
              <a:gd name="connsiteX4145" fmla="*/ 2450541 w 3600000"/>
              <a:gd name="connsiteY4145" fmla="*/ 470572 h 2787466"/>
              <a:gd name="connsiteX4146" fmla="*/ 2453234 w 3600000"/>
              <a:gd name="connsiteY4146" fmla="*/ 461062 h 2787466"/>
              <a:gd name="connsiteX4147" fmla="*/ 3256348 w 3600000"/>
              <a:gd name="connsiteY4147" fmla="*/ 455475 h 2787466"/>
              <a:gd name="connsiteX4148" fmla="*/ 3252537 w 3600000"/>
              <a:gd name="connsiteY4148" fmla="*/ 466409 h 2787466"/>
              <a:gd name="connsiteX4149" fmla="*/ 3256348 w 3600000"/>
              <a:gd name="connsiteY4149" fmla="*/ 455475 h 2787466"/>
              <a:gd name="connsiteX4150" fmla="*/ 3095955 w 3600000"/>
              <a:gd name="connsiteY4150" fmla="*/ 455475 h 2787466"/>
              <a:gd name="connsiteX4151" fmla="*/ 3097202 w 3600000"/>
              <a:gd name="connsiteY4151" fmla="*/ 467536 h 2787466"/>
              <a:gd name="connsiteX4152" fmla="*/ 3095955 w 3600000"/>
              <a:gd name="connsiteY4152" fmla="*/ 455475 h 2787466"/>
              <a:gd name="connsiteX4153" fmla="*/ 2721013 w 3600000"/>
              <a:gd name="connsiteY4153" fmla="*/ 454639 h 2787466"/>
              <a:gd name="connsiteX4154" fmla="*/ 2728230 w 3600000"/>
              <a:gd name="connsiteY4154" fmla="*/ 454644 h 2787466"/>
              <a:gd name="connsiteX4155" fmla="*/ 2714891 w 3600000"/>
              <a:gd name="connsiteY4155" fmla="*/ 469185 h 2787466"/>
              <a:gd name="connsiteX4156" fmla="*/ 2706972 w 3600000"/>
              <a:gd name="connsiteY4156" fmla="*/ 468257 h 2787466"/>
              <a:gd name="connsiteX4157" fmla="*/ 2710932 w 3600000"/>
              <a:gd name="connsiteY4157" fmla="*/ 458511 h 2787466"/>
              <a:gd name="connsiteX4158" fmla="*/ 2721013 w 3600000"/>
              <a:gd name="connsiteY4158" fmla="*/ 454639 h 2787466"/>
              <a:gd name="connsiteX4159" fmla="*/ 3267872 w 3600000"/>
              <a:gd name="connsiteY4159" fmla="*/ 453634 h 2787466"/>
              <a:gd name="connsiteX4160" fmla="*/ 3265316 w 3600000"/>
              <a:gd name="connsiteY4160" fmla="*/ 461559 h 2787466"/>
              <a:gd name="connsiteX4161" fmla="*/ 3267872 w 3600000"/>
              <a:gd name="connsiteY4161" fmla="*/ 453634 h 2787466"/>
              <a:gd name="connsiteX4162" fmla="*/ 2859545 w 3600000"/>
              <a:gd name="connsiteY4162" fmla="*/ 453395 h 2787466"/>
              <a:gd name="connsiteX4163" fmla="*/ 2858055 w 3600000"/>
              <a:gd name="connsiteY4163" fmla="*/ 462252 h 2787466"/>
              <a:gd name="connsiteX4164" fmla="*/ 2851453 w 3600000"/>
              <a:gd name="connsiteY4164" fmla="*/ 457435 h 2787466"/>
              <a:gd name="connsiteX4165" fmla="*/ 2859545 w 3600000"/>
              <a:gd name="connsiteY4165" fmla="*/ 453395 h 2787466"/>
              <a:gd name="connsiteX4166" fmla="*/ 2629632 w 3600000"/>
              <a:gd name="connsiteY4166" fmla="*/ 450622 h 2787466"/>
              <a:gd name="connsiteX4167" fmla="*/ 2627008 w 3600000"/>
              <a:gd name="connsiteY4167" fmla="*/ 458781 h 2787466"/>
              <a:gd name="connsiteX4168" fmla="*/ 2629632 w 3600000"/>
              <a:gd name="connsiteY4168" fmla="*/ 450622 h 2787466"/>
              <a:gd name="connsiteX4169" fmla="*/ 2579049 w 3600000"/>
              <a:gd name="connsiteY4169" fmla="*/ 447849 h 2787466"/>
              <a:gd name="connsiteX4170" fmla="*/ 2584098 w 3600000"/>
              <a:gd name="connsiteY4170" fmla="*/ 452939 h 2787466"/>
              <a:gd name="connsiteX4171" fmla="*/ 2575213 w 3600000"/>
              <a:gd name="connsiteY4171" fmla="*/ 450804 h 2787466"/>
              <a:gd name="connsiteX4172" fmla="*/ 2579049 w 3600000"/>
              <a:gd name="connsiteY4172" fmla="*/ 447849 h 2787466"/>
              <a:gd name="connsiteX4173" fmla="*/ 2957698 w 3600000"/>
              <a:gd name="connsiteY4173" fmla="*/ 445769 h 2787466"/>
              <a:gd name="connsiteX4174" fmla="*/ 2956468 w 3600000"/>
              <a:gd name="connsiteY4174" fmla="*/ 466410 h 2787466"/>
              <a:gd name="connsiteX4175" fmla="*/ 2957698 w 3600000"/>
              <a:gd name="connsiteY4175" fmla="*/ 445769 h 2787466"/>
              <a:gd name="connsiteX4176" fmla="*/ 2561346 w 3600000"/>
              <a:gd name="connsiteY4176" fmla="*/ 442214 h 2787466"/>
              <a:gd name="connsiteX4177" fmla="*/ 2558667 w 3600000"/>
              <a:gd name="connsiteY4177" fmla="*/ 447087 h 2787466"/>
              <a:gd name="connsiteX4178" fmla="*/ 2563819 w 3600000"/>
              <a:gd name="connsiteY4178" fmla="*/ 448187 h 2787466"/>
              <a:gd name="connsiteX4179" fmla="*/ 2563819 w 3600000"/>
              <a:gd name="connsiteY4179" fmla="*/ 450073 h 2787466"/>
              <a:gd name="connsiteX4180" fmla="*/ 2569177 w 3600000"/>
              <a:gd name="connsiteY4180" fmla="*/ 446144 h 2787466"/>
              <a:gd name="connsiteX4181" fmla="*/ 2561346 w 3600000"/>
              <a:gd name="connsiteY4181" fmla="*/ 442214 h 2787466"/>
              <a:gd name="connsiteX4182" fmla="*/ 2587757 w 3600000"/>
              <a:gd name="connsiteY4182" fmla="*/ 440916 h 2787466"/>
              <a:gd name="connsiteX4183" fmla="*/ 2581338 w 3600000"/>
              <a:gd name="connsiteY4183" fmla="*/ 446995 h 2787466"/>
              <a:gd name="connsiteX4184" fmla="*/ 2587757 w 3600000"/>
              <a:gd name="connsiteY4184" fmla="*/ 440916 h 2787466"/>
              <a:gd name="connsiteX4185" fmla="*/ 3021680 w 3600000"/>
              <a:gd name="connsiteY4185" fmla="*/ 433983 h 2787466"/>
              <a:gd name="connsiteX4186" fmla="*/ 3025516 w 3600000"/>
              <a:gd name="connsiteY4186" fmla="*/ 442840 h 2787466"/>
              <a:gd name="connsiteX4187" fmla="*/ 3021680 w 3600000"/>
              <a:gd name="connsiteY4187" fmla="*/ 433983 h 2787466"/>
              <a:gd name="connsiteX4188" fmla="*/ 2633823 w 3600000"/>
              <a:gd name="connsiteY4188" fmla="*/ 433983 h 2787466"/>
              <a:gd name="connsiteX4189" fmla="*/ 2635101 w 3600000"/>
              <a:gd name="connsiteY4189" fmla="*/ 450468 h 2787466"/>
              <a:gd name="connsiteX4190" fmla="*/ 2633823 w 3600000"/>
              <a:gd name="connsiteY4190" fmla="*/ 433983 h 2787466"/>
              <a:gd name="connsiteX4191" fmla="*/ 2691652 w 3600000"/>
              <a:gd name="connsiteY4191" fmla="*/ 431996 h 2787466"/>
              <a:gd name="connsiteX4192" fmla="*/ 2685557 w 3600000"/>
              <a:gd name="connsiteY4192" fmla="*/ 434640 h 2787466"/>
              <a:gd name="connsiteX4193" fmla="*/ 2698836 w 3600000"/>
              <a:gd name="connsiteY4193" fmla="*/ 433700 h 2787466"/>
              <a:gd name="connsiteX4194" fmla="*/ 2691652 w 3600000"/>
              <a:gd name="connsiteY4194" fmla="*/ 431996 h 2787466"/>
              <a:gd name="connsiteX4195" fmla="*/ 3091030 w 3600000"/>
              <a:gd name="connsiteY4195" fmla="*/ 431210 h 2787466"/>
              <a:gd name="connsiteX4196" fmla="*/ 3089647 w 3600000"/>
              <a:gd name="connsiteY4196" fmla="*/ 449079 h 2787466"/>
              <a:gd name="connsiteX4197" fmla="*/ 3091030 w 3600000"/>
              <a:gd name="connsiteY4197" fmla="*/ 431210 h 2787466"/>
              <a:gd name="connsiteX4198" fmla="*/ 3067348 w 3600000"/>
              <a:gd name="connsiteY4198" fmla="*/ 431210 h 2787466"/>
              <a:gd name="connsiteX4199" fmla="*/ 3072484 w 3600000"/>
              <a:gd name="connsiteY4199" fmla="*/ 454206 h 2787466"/>
              <a:gd name="connsiteX4200" fmla="*/ 3059542 w 3600000"/>
              <a:gd name="connsiteY4200" fmla="*/ 454206 h 2787466"/>
              <a:gd name="connsiteX4201" fmla="*/ 3067348 w 3600000"/>
              <a:gd name="connsiteY4201" fmla="*/ 431210 h 2787466"/>
              <a:gd name="connsiteX4202" fmla="*/ 2737663 w 3600000"/>
              <a:gd name="connsiteY4202" fmla="*/ 426159 h 2787466"/>
              <a:gd name="connsiteX4203" fmla="*/ 2728702 w 3600000"/>
              <a:gd name="connsiteY4203" fmla="*/ 442146 h 2787466"/>
              <a:gd name="connsiteX4204" fmla="*/ 2737663 w 3600000"/>
              <a:gd name="connsiteY4204" fmla="*/ 426159 h 2787466"/>
              <a:gd name="connsiteX4205" fmla="*/ 3360651 w 3600000"/>
              <a:gd name="connsiteY4205" fmla="*/ 424971 h 2787466"/>
              <a:gd name="connsiteX4206" fmla="*/ 3371013 w 3600000"/>
              <a:gd name="connsiteY4206" fmla="*/ 440760 h 2787466"/>
              <a:gd name="connsiteX4207" fmla="*/ 3360651 w 3600000"/>
              <a:gd name="connsiteY4207" fmla="*/ 424971 h 2787466"/>
              <a:gd name="connsiteX4208" fmla="*/ 2635535 w 3600000"/>
              <a:gd name="connsiteY4208" fmla="*/ 424971 h 2787466"/>
              <a:gd name="connsiteX4209" fmla="*/ 2634277 w 3600000"/>
              <a:gd name="connsiteY4209" fmla="*/ 429901 h 2787466"/>
              <a:gd name="connsiteX4210" fmla="*/ 2635535 w 3600000"/>
              <a:gd name="connsiteY4210" fmla="*/ 424971 h 2787466"/>
              <a:gd name="connsiteX4211" fmla="*/ 2507840 w 3600000"/>
              <a:gd name="connsiteY4211" fmla="*/ 424971 h 2787466"/>
              <a:gd name="connsiteX4212" fmla="*/ 2509069 w 3600000"/>
              <a:gd name="connsiteY4212" fmla="*/ 435208 h 2787466"/>
              <a:gd name="connsiteX4213" fmla="*/ 2507840 w 3600000"/>
              <a:gd name="connsiteY4213" fmla="*/ 424971 h 2787466"/>
              <a:gd name="connsiteX4214" fmla="*/ 2467716 w 3600000"/>
              <a:gd name="connsiteY4214" fmla="*/ 416547 h 2787466"/>
              <a:gd name="connsiteX4215" fmla="*/ 2471976 w 3600000"/>
              <a:gd name="connsiteY4215" fmla="*/ 420215 h 2787466"/>
              <a:gd name="connsiteX4216" fmla="*/ 2470773 w 3600000"/>
              <a:gd name="connsiteY4216" fmla="*/ 424122 h 2787466"/>
              <a:gd name="connsiteX4217" fmla="*/ 2464354 w 3600000"/>
              <a:gd name="connsiteY4217" fmla="*/ 417248 h 2787466"/>
              <a:gd name="connsiteX4218" fmla="*/ 2467716 w 3600000"/>
              <a:gd name="connsiteY4218" fmla="*/ 416547 h 2787466"/>
              <a:gd name="connsiteX4219" fmla="*/ 2998508 w 3600000"/>
              <a:gd name="connsiteY4219" fmla="*/ 415113 h 2787466"/>
              <a:gd name="connsiteX4220" fmla="*/ 2993357 w 3600000"/>
              <a:gd name="connsiteY4220" fmla="*/ 424075 h 2787466"/>
              <a:gd name="connsiteX4221" fmla="*/ 2997271 w 3600000"/>
              <a:gd name="connsiteY4221" fmla="*/ 427062 h 2787466"/>
              <a:gd name="connsiteX4222" fmla="*/ 2998508 w 3600000"/>
              <a:gd name="connsiteY4222" fmla="*/ 415113 h 2787466"/>
              <a:gd name="connsiteX4223" fmla="*/ 2475543 w 3600000"/>
              <a:gd name="connsiteY4223" fmla="*/ 413186 h 2787466"/>
              <a:gd name="connsiteX4224" fmla="*/ 2476789 w 3600000"/>
              <a:gd name="connsiteY4224" fmla="*/ 419265 h 2787466"/>
              <a:gd name="connsiteX4225" fmla="*/ 2475543 w 3600000"/>
              <a:gd name="connsiteY4225" fmla="*/ 413186 h 2787466"/>
              <a:gd name="connsiteX4226" fmla="*/ 3125949 w 3600000"/>
              <a:gd name="connsiteY4226" fmla="*/ 412077 h 2787466"/>
              <a:gd name="connsiteX4227" fmla="*/ 3135943 w 3600000"/>
              <a:gd name="connsiteY4227" fmla="*/ 424119 h 2787466"/>
              <a:gd name="connsiteX4228" fmla="*/ 3126958 w 3600000"/>
              <a:gd name="connsiteY4228" fmla="*/ 423006 h 2787466"/>
              <a:gd name="connsiteX4229" fmla="*/ 3120424 w 3600000"/>
              <a:gd name="connsiteY4229" fmla="*/ 412998 h 2787466"/>
              <a:gd name="connsiteX4230" fmla="*/ 3125949 w 3600000"/>
              <a:gd name="connsiteY4230" fmla="*/ 412077 h 2787466"/>
              <a:gd name="connsiteX4231" fmla="*/ 2596521 w 3600000"/>
              <a:gd name="connsiteY4231" fmla="*/ 411799 h 2787466"/>
              <a:gd name="connsiteX4232" fmla="*/ 2595270 w 3600000"/>
              <a:gd name="connsiteY4232" fmla="*/ 422733 h 2787466"/>
              <a:gd name="connsiteX4233" fmla="*/ 2596521 w 3600000"/>
              <a:gd name="connsiteY4233" fmla="*/ 411799 h 2787466"/>
              <a:gd name="connsiteX4234" fmla="*/ 2983836 w 3600000"/>
              <a:gd name="connsiteY4234" fmla="*/ 410807 h 2787466"/>
              <a:gd name="connsiteX4235" fmla="*/ 2983836 w 3600000"/>
              <a:gd name="connsiteY4235" fmla="*/ 418576 h 2787466"/>
              <a:gd name="connsiteX4236" fmla="*/ 2983836 w 3600000"/>
              <a:gd name="connsiteY4236" fmla="*/ 410807 h 2787466"/>
              <a:gd name="connsiteX4237" fmla="*/ 3360728 w 3600000"/>
              <a:gd name="connsiteY4237" fmla="*/ 409026 h 2787466"/>
              <a:gd name="connsiteX4238" fmla="*/ 3370099 w 3600000"/>
              <a:gd name="connsiteY4238" fmla="*/ 415760 h 2787466"/>
              <a:gd name="connsiteX4239" fmla="*/ 3364774 w 3600000"/>
              <a:gd name="connsiteY4239" fmla="*/ 419739 h 2787466"/>
              <a:gd name="connsiteX4240" fmla="*/ 3360728 w 3600000"/>
              <a:gd name="connsiteY4240" fmla="*/ 409026 h 2787466"/>
              <a:gd name="connsiteX4241" fmla="*/ 3110220 w 3600000"/>
              <a:gd name="connsiteY4241" fmla="*/ 408332 h 2787466"/>
              <a:gd name="connsiteX4242" fmla="*/ 3099819 w 3600000"/>
              <a:gd name="connsiteY4242" fmla="*/ 455316 h 2787466"/>
              <a:gd name="connsiteX4243" fmla="*/ 3110220 w 3600000"/>
              <a:gd name="connsiteY4243" fmla="*/ 408332 h 2787466"/>
              <a:gd name="connsiteX4244" fmla="*/ 2660421 w 3600000"/>
              <a:gd name="connsiteY4244" fmla="*/ 408251 h 2787466"/>
              <a:gd name="connsiteX4245" fmla="*/ 2670157 w 3600000"/>
              <a:gd name="connsiteY4245" fmla="*/ 408290 h 2787466"/>
              <a:gd name="connsiteX4246" fmla="*/ 2659772 w 3600000"/>
              <a:gd name="connsiteY4246" fmla="*/ 437906 h 2787466"/>
              <a:gd name="connsiteX4247" fmla="*/ 2668910 w 3600000"/>
              <a:gd name="connsiteY4247" fmla="*/ 439003 h 2787466"/>
              <a:gd name="connsiteX4248" fmla="*/ 2661018 w 3600000"/>
              <a:gd name="connsiteY4248" fmla="*/ 444957 h 2787466"/>
              <a:gd name="connsiteX4249" fmla="*/ 2649179 w 3600000"/>
              <a:gd name="connsiteY4249" fmla="*/ 442920 h 2787466"/>
              <a:gd name="connsiteX4250" fmla="*/ 2647933 w 3600000"/>
              <a:gd name="connsiteY4250" fmla="*/ 445897 h 2787466"/>
              <a:gd name="connsiteX4251" fmla="*/ 2655825 w 3600000"/>
              <a:gd name="connsiteY4251" fmla="*/ 449814 h 2787466"/>
              <a:gd name="connsiteX4252" fmla="*/ 2646687 w 3600000"/>
              <a:gd name="connsiteY4252" fmla="*/ 433048 h 2787466"/>
              <a:gd name="connsiteX4253" fmla="*/ 2654579 w 3600000"/>
              <a:gd name="connsiteY4253" fmla="*/ 436025 h 2787466"/>
              <a:gd name="connsiteX4254" fmla="*/ 2664964 w 3600000"/>
              <a:gd name="connsiteY4254" fmla="*/ 425997 h 2787466"/>
              <a:gd name="connsiteX4255" fmla="*/ 2650633 w 3600000"/>
              <a:gd name="connsiteY4255" fmla="*/ 421139 h 2787466"/>
              <a:gd name="connsiteX4256" fmla="*/ 2662472 w 3600000"/>
              <a:gd name="connsiteY4256" fmla="*/ 413148 h 2787466"/>
              <a:gd name="connsiteX4257" fmla="*/ 2654579 w 3600000"/>
              <a:gd name="connsiteY4257" fmla="*/ 411267 h 2787466"/>
              <a:gd name="connsiteX4258" fmla="*/ 2660421 w 3600000"/>
              <a:gd name="connsiteY4258" fmla="*/ 408251 h 2787466"/>
              <a:gd name="connsiteX4259" fmla="*/ 2970363 w 3600000"/>
              <a:gd name="connsiteY4259" fmla="*/ 406253 h 2787466"/>
              <a:gd name="connsiteX4260" fmla="*/ 2978456 w 3600000"/>
              <a:gd name="connsiteY4260" fmla="*/ 413127 h 2787466"/>
              <a:gd name="connsiteX4261" fmla="*/ 2965039 w 3600000"/>
              <a:gd name="connsiteY4261" fmla="*/ 416095 h 2787466"/>
              <a:gd name="connsiteX4262" fmla="*/ 2970363 w 3600000"/>
              <a:gd name="connsiteY4262" fmla="*/ 406253 h 2787466"/>
              <a:gd name="connsiteX4263" fmla="*/ 2730039 w 3600000"/>
              <a:gd name="connsiteY4263" fmla="*/ 405112 h 2787466"/>
              <a:gd name="connsiteX4264" fmla="*/ 2737924 w 3600000"/>
              <a:gd name="connsiteY4264" fmla="*/ 407018 h 2787466"/>
              <a:gd name="connsiteX4265" fmla="*/ 2743112 w 3600000"/>
              <a:gd name="connsiteY4265" fmla="*/ 411149 h 2787466"/>
              <a:gd name="connsiteX4266" fmla="*/ 2730039 w 3600000"/>
              <a:gd name="connsiteY4266" fmla="*/ 413055 h 2787466"/>
              <a:gd name="connsiteX4267" fmla="*/ 2730039 w 3600000"/>
              <a:gd name="connsiteY4267" fmla="*/ 405112 h 2787466"/>
              <a:gd name="connsiteX4268" fmla="*/ 2491495 w 3600000"/>
              <a:gd name="connsiteY4268" fmla="*/ 403017 h 2787466"/>
              <a:gd name="connsiteX4269" fmla="*/ 2504135 w 3600000"/>
              <a:gd name="connsiteY4269" fmla="*/ 408871 h 2787466"/>
              <a:gd name="connsiteX4270" fmla="*/ 2491495 w 3600000"/>
              <a:gd name="connsiteY4270" fmla="*/ 403017 h 2787466"/>
              <a:gd name="connsiteX4271" fmla="*/ 2713154 w 3600000"/>
              <a:gd name="connsiteY4271" fmla="*/ 400013 h 2787466"/>
              <a:gd name="connsiteX4272" fmla="*/ 2701326 w 3600000"/>
              <a:gd name="connsiteY4272" fmla="*/ 449525 h 2787466"/>
              <a:gd name="connsiteX4273" fmla="*/ 2671239 w 3600000"/>
              <a:gd name="connsiteY4273" fmla="*/ 501073 h 2787466"/>
              <a:gd name="connsiteX4274" fmla="*/ 2679124 w 3600000"/>
              <a:gd name="connsiteY4274" fmla="*/ 471304 h 2787466"/>
              <a:gd name="connsiteX4275" fmla="*/ 2683067 w 3600000"/>
              <a:gd name="connsiteY4275" fmla="*/ 457516 h 2787466"/>
              <a:gd name="connsiteX4276" fmla="*/ 2675182 w 3600000"/>
              <a:gd name="connsiteY4276" fmla="*/ 454539 h 2787466"/>
              <a:gd name="connsiteX4277" fmla="*/ 2683067 w 3600000"/>
              <a:gd name="connsiteY4277" fmla="*/ 424769 h 2787466"/>
              <a:gd name="connsiteX4278" fmla="*/ 2697384 w 3600000"/>
              <a:gd name="connsiteY4278" fmla="*/ 428686 h 2787466"/>
              <a:gd name="connsiteX4279" fmla="*/ 2698836 w 3600000"/>
              <a:gd name="connsiteY4279" fmla="*/ 422732 h 2787466"/>
              <a:gd name="connsiteX4280" fmla="*/ 2690952 w 3600000"/>
              <a:gd name="connsiteY4280" fmla="*/ 419912 h 2787466"/>
              <a:gd name="connsiteX4281" fmla="*/ 2713154 w 3600000"/>
              <a:gd name="connsiteY4281" fmla="*/ 400013 h 2787466"/>
              <a:gd name="connsiteX4282" fmla="*/ 2758508 w 3600000"/>
              <a:gd name="connsiteY4282" fmla="*/ 398177 h 2787466"/>
              <a:gd name="connsiteX4283" fmla="*/ 2756008 w 3600000"/>
              <a:gd name="connsiteY4283" fmla="*/ 408176 h 2787466"/>
              <a:gd name="connsiteX4284" fmla="*/ 2758508 w 3600000"/>
              <a:gd name="connsiteY4284" fmla="*/ 398177 h 2787466"/>
              <a:gd name="connsiteX4285" fmla="*/ 2520388 w 3600000"/>
              <a:gd name="connsiteY4285" fmla="*/ 397934 h 2787466"/>
              <a:gd name="connsiteX4286" fmla="*/ 2524225 w 3600000"/>
              <a:gd name="connsiteY4286" fmla="*/ 405133 h 2787466"/>
              <a:gd name="connsiteX4287" fmla="*/ 2521600 w 3600000"/>
              <a:gd name="connsiteY4287" fmla="*/ 405133 h 2787466"/>
              <a:gd name="connsiteX4288" fmla="*/ 2508878 w 3600000"/>
              <a:gd name="connsiteY4288" fmla="*/ 404013 h 2787466"/>
              <a:gd name="connsiteX4289" fmla="*/ 2520388 w 3600000"/>
              <a:gd name="connsiteY4289" fmla="*/ 397934 h 2787466"/>
              <a:gd name="connsiteX4290" fmla="*/ 2981611 w 3600000"/>
              <a:gd name="connsiteY4290" fmla="*/ 394203 h 2787466"/>
              <a:gd name="connsiteX4291" fmla="*/ 2981193 w 3600000"/>
              <a:gd name="connsiteY4291" fmla="*/ 394404 h 2787466"/>
              <a:gd name="connsiteX4292" fmla="*/ 2981562 w 3600000"/>
              <a:gd name="connsiteY4292" fmla="*/ 394573 h 2787466"/>
              <a:gd name="connsiteX4293" fmla="*/ 2995829 w 3600000"/>
              <a:gd name="connsiteY4293" fmla="*/ 389328 h 2787466"/>
              <a:gd name="connsiteX4294" fmla="*/ 3000360 w 3600000"/>
              <a:gd name="connsiteY4294" fmla="*/ 393542 h 2787466"/>
              <a:gd name="connsiteX4295" fmla="*/ 3001090 w 3600000"/>
              <a:gd name="connsiteY4295" fmla="*/ 393032 h 2787466"/>
              <a:gd name="connsiteX4296" fmla="*/ 3006291 w 3600000"/>
              <a:gd name="connsiteY4296" fmla="*/ 398969 h 2787466"/>
              <a:gd name="connsiteX4297" fmla="*/ 3002288 w 3600000"/>
              <a:gd name="connsiteY4297" fmla="*/ 399276 h 2787466"/>
              <a:gd name="connsiteX4298" fmla="*/ 3002423 w 3600000"/>
              <a:gd name="connsiteY4298" fmla="*/ 400177 h 2787466"/>
              <a:gd name="connsiteX4299" fmla="*/ 3007575 w 3600000"/>
              <a:gd name="connsiteY4299" fmla="*/ 399233 h 2787466"/>
              <a:gd name="connsiteX4300" fmla="*/ 3010254 w 3600000"/>
              <a:gd name="connsiteY4300" fmla="*/ 391215 h 2787466"/>
              <a:gd name="connsiteX4301" fmla="*/ 3011490 w 3600000"/>
              <a:gd name="connsiteY4301" fmla="*/ 412126 h 2787466"/>
              <a:gd name="connsiteX4302" fmla="*/ 3020763 w 3600000"/>
              <a:gd name="connsiteY4302" fmla="*/ 410082 h 2787466"/>
              <a:gd name="connsiteX4303" fmla="*/ 3014169 w 3600000"/>
              <a:gd name="connsiteY4303" fmla="*/ 418100 h 2787466"/>
              <a:gd name="connsiteX4304" fmla="*/ 3007575 w 3600000"/>
              <a:gd name="connsiteY4304" fmla="*/ 416056 h 2787466"/>
              <a:gd name="connsiteX4305" fmla="*/ 3018084 w 3600000"/>
              <a:gd name="connsiteY4305" fmla="*/ 427062 h 2787466"/>
              <a:gd name="connsiteX4306" fmla="*/ 3008811 w 3600000"/>
              <a:gd name="connsiteY4306" fmla="*/ 434924 h 2787466"/>
              <a:gd name="connsiteX4307" fmla="*/ 3007575 w 3600000"/>
              <a:gd name="connsiteY4307" fmla="*/ 425019 h 2787466"/>
              <a:gd name="connsiteX4308" fmla="*/ 2991914 w 3600000"/>
              <a:gd name="connsiteY4308" fmla="*/ 437911 h 2787466"/>
              <a:gd name="connsiteX4309" fmla="*/ 2994593 w 3600000"/>
              <a:gd name="connsiteY4309" fmla="*/ 441999 h 2787466"/>
              <a:gd name="connsiteX4310" fmla="*/ 3001187 w 3600000"/>
              <a:gd name="connsiteY4310" fmla="*/ 437911 h 2787466"/>
              <a:gd name="connsiteX4311" fmla="*/ 3008811 w 3600000"/>
              <a:gd name="connsiteY4311" fmla="*/ 439011 h 2787466"/>
              <a:gd name="connsiteX4312" fmla="*/ 3014169 w 3600000"/>
              <a:gd name="connsiteY4312" fmla="*/ 448916 h 2787466"/>
              <a:gd name="connsiteX4313" fmla="*/ 3023235 w 3600000"/>
              <a:gd name="connsiteY4313" fmla="*/ 443885 h 2787466"/>
              <a:gd name="connsiteX4314" fmla="*/ 3015406 w 3600000"/>
              <a:gd name="connsiteY4314" fmla="*/ 461809 h 2787466"/>
              <a:gd name="connsiteX4315" fmla="*/ 3010254 w 3600000"/>
              <a:gd name="connsiteY4315" fmla="*/ 454891 h 2787466"/>
              <a:gd name="connsiteX4316" fmla="*/ 3002423 w 3600000"/>
              <a:gd name="connsiteY4316" fmla="*/ 477688 h 2787466"/>
              <a:gd name="connsiteX4317" fmla="*/ 3010254 w 3600000"/>
              <a:gd name="connsiteY4317" fmla="*/ 476745 h 2787466"/>
              <a:gd name="connsiteX4318" fmla="*/ 3015406 w 3600000"/>
              <a:gd name="connsiteY4318" fmla="*/ 486650 h 2787466"/>
              <a:gd name="connsiteX4319" fmla="*/ 3008811 w 3600000"/>
              <a:gd name="connsiteY4319" fmla="*/ 516366 h 2787466"/>
              <a:gd name="connsiteX4320" fmla="*/ 3002423 w 3600000"/>
              <a:gd name="connsiteY4320" fmla="*/ 510391 h 2787466"/>
              <a:gd name="connsiteX4321" fmla="*/ 3003660 w 3600000"/>
              <a:gd name="connsiteY4321" fmla="*/ 523441 h 2787466"/>
              <a:gd name="connsiteX4322" fmla="*/ 2993357 w 3600000"/>
              <a:gd name="connsiteY4322" fmla="*/ 523441 h 2787466"/>
              <a:gd name="connsiteX4323" fmla="*/ 2999745 w 3600000"/>
              <a:gd name="connsiteY4323" fmla="*/ 527372 h 2787466"/>
              <a:gd name="connsiteX4324" fmla="*/ 3005102 w 3600000"/>
              <a:gd name="connsiteY4324" fmla="*/ 547182 h 2787466"/>
              <a:gd name="connsiteX4325" fmla="*/ 2998070 w 3600000"/>
              <a:gd name="connsiteY4325" fmla="*/ 557558 h 2787466"/>
              <a:gd name="connsiteX4326" fmla="*/ 2999444 w 3600000"/>
              <a:gd name="connsiteY4326" fmla="*/ 559608 h 2787466"/>
              <a:gd name="connsiteX4327" fmla="*/ 3005912 w 3600000"/>
              <a:gd name="connsiteY4327" fmla="*/ 559932 h 2787466"/>
              <a:gd name="connsiteX4328" fmla="*/ 3005798 w 3600000"/>
              <a:gd name="connsiteY4328" fmla="*/ 559642 h 2787466"/>
              <a:gd name="connsiteX4329" fmla="*/ 3008811 w 3600000"/>
              <a:gd name="connsiteY4329" fmla="*/ 558187 h 2787466"/>
              <a:gd name="connsiteX4330" fmla="*/ 3016848 w 3600000"/>
              <a:gd name="connsiteY4330" fmla="*/ 559130 h 2787466"/>
              <a:gd name="connsiteX4331" fmla="*/ 3012965 w 3600000"/>
              <a:gd name="connsiteY4331" fmla="*/ 562405 h 2787466"/>
              <a:gd name="connsiteX4332" fmla="*/ 3013899 w 3600000"/>
              <a:gd name="connsiteY4332" fmla="*/ 563584 h 2787466"/>
              <a:gd name="connsiteX4333" fmla="*/ 3011523 w 3600000"/>
              <a:gd name="connsiteY4333" fmla="*/ 563621 h 2787466"/>
              <a:gd name="connsiteX4334" fmla="*/ 3005102 w 3600000"/>
              <a:gd name="connsiteY4334" fmla="*/ 569035 h 2787466"/>
              <a:gd name="connsiteX4335" fmla="*/ 2998534 w 3600000"/>
              <a:gd name="connsiteY4335" fmla="*/ 564496 h 2787466"/>
              <a:gd name="connsiteX4336" fmla="*/ 2997790 w 3600000"/>
              <a:gd name="connsiteY4336" fmla="*/ 563020 h 2787466"/>
              <a:gd name="connsiteX4337" fmla="*/ 2996094 w 3600000"/>
              <a:gd name="connsiteY4337" fmla="*/ 562620 h 2787466"/>
              <a:gd name="connsiteX4338" fmla="*/ 2995028 w 3600000"/>
              <a:gd name="connsiteY4338" fmla="*/ 560854 h 2787466"/>
              <a:gd name="connsiteX4339" fmla="*/ 2989338 w 3600000"/>
              <a:gd name="connsiteY4339" fmla="*/ 573084 h 2787466"/>
              <a:gd name="connsiteX4340" fmla="*/ 2994593 w 3600000"/>
              <a:gd name="connsiteY4340" fmla="*/ 583972 h 2787466"/>
              <a:gd name="connsiteX4341" fmla="*/ 2984290 w 3600000"/>
              <a:gd name="connsiteY4341" fmla="*/ 589946 h 2787466"/>
              <a:gd name="connsiteX4342" fmla="*/ 2982847 w 3600000"/>
              <a:gd name="connsiteY4342" fmla="*/ 602839 h 2787466"/>
              <a:gd name="connsiteX4343" fmla="*/ 2991914 w 3600000"/>
              <a:gd name="connsiteY4343" fmla="*/ 610857 h 2787466"/>
              <a:gd name="connsiteX4344" fmla="*/ 2977695 w 3600000"/>
              <a:gd name="connsiteY4344" fmla="*/ 610857 h 2787466"/>
              <a:gd name="connsiteX4345" fmla="*/ 2976459 w 3600000"/>
              <a:gd name="connsiteY4345" fmla="*/ 624693 h 2787466"/>
              <a:gd name="connsiteX4346" fmla="*/ 2984290 w 3600000"/>
              <a:gd name="connsiteY4346" fmla="*/ 624693 h 2787466"/>
              <a:gd name="connsiteX4347" fmla="*/ 2973780 w 3600000"/>
              <a:gd name="connsiteY4347" fmla="*/ 632712 h 2787466"/>
              <a:gd name="connsiteX4348" fmla="*/ 2971102 w 3600000"/>
              <a:gd name="connsiteY4348" fmla="*/ 658496 h 2787466"/>
              <a:gd name="connsiteX4349" fmla="*/ 2976459 w 3600000"/>
              <a:gd name="connsiteY4349" fmla="*/ 662427 h 2787466"/>
              <a:gd name="connsiteX4350" fmla="*/ 2965949 w 3600000"/>
              <a:gd name="connsiteY4350" fmla="*/ 660540 h 2787466"/>
              <a:gd name="connsiteX4351" fmla="*/ 2965949 w 3600000"/>
              <a:gd name="connsiteY4351" fmla="*/ 682394 h 2787466"/>
              <a:gd name="connsiteX4352" fmla="*/ 2972544 w 3600000"/>
              <a:gd name="connsiteY4352" fmla="*/ 675477 h 2787466"/>
              <a:gd name="connsiteX4353" fmla="*/ 2964713 w 3600000"/>
              <a:gd name="connsiteY4353" fmla="*/ 692300 h 2787466"/>
              <a:gd name="connsiteX4354" fmla="*/ 2964713 w 3600000"/>
              <a:gd name="connsiteY4354" fmla="*/ 686325 h 2787466"/>
              <a:gd name="connsiteX4355" fmla="*/ 2962035 w 3600000"/>
              <a:gd name="connsiteY4355" fmla="*/ 700160 h 2787466"/>
              <a:gd name="connsiteX4356" fmla="*/ 2969864 w 3600000"/>
              <a:gd name="connsiteY4356" fmla="*/ 697173 h 2787466"/>
              <a:gd name="connsiteX4357" fmla="*/ 2960798 w 3600000"/>
              <a:gd name="connsiteY4357" fmla="*/ 702205 h 2787466"/>
              <a:gd name="connsiteX4358" fmla="*/ 2964713 w 3600000"/>
              <a:gd name="connsiteY4358" fmla="*/ 712110 h 2787466"/>
              <a:gd name="connsiteX4359" fmla="*/ 2970663 w 3600000"/>
              <a:gd name="connsiteY4359" fmla="*/ 708710 h 2787466"/>
              <a:gd name="connsiteX4360" fmla="*/ 2974380 w 3600000"/>
              <a:gd name="connsiteY4360" fmla="*/ 706851 h 2787466"/>
              <a:gd name="connsiteX4361" fmla="*/ 2975416 w 3600000"/>
              <a:gd name="connsiteY4361" fmla="*/ 704360 h 2787466"/>
              <a:gd name="connsiteX4362" fmla="*/ 2976703 w 3600000"/>
              <a:gd name="connsiteY4362" fmla="*/ 703129 h 2787466"/>
              <a:gd name="connsiteX4363" fmla="*/ 2976202 w 3600000"/>
              <a:gd name="connsiteY4363" fmla="*/ 702086 h 2787466"/>
              <a:gd name="connsiteX4364" fmla="*/ 2973780 w 3600000"/>
              <a:gd name="connsiteY4364" fmla="*/ 698274 h 2787466"/>
              <a:gd name="connsiteX4365" fmla="*/ 2997271 w 3600000"/>
              <a:gd name="connsiteY4365" fmla="*/ 667458 h 2787466"/>
              <a:gd name="connsiteX4366" fmla="*/ 2999745 w 3600000"/>
              <a:gd name="connsiteY4366" fmla="*/ 648592 h 2787466"/>
              <a:gd name="connsiteX4367" fmla="*/ 3012726 w 3600000"/>
              <a:gd name="connsiteY4367" fmla="*/ 616832 h 2787466"/>
              <a:gd name="connsiteX4368" fmla="*/ 3024472 w 3600000"/>
              <a:gd name="connsiteY4368" fmla="*/ 616832 h 2787466"/>
              <a:gd name="connsiteX4369" fmla="*/ 3025915 w 3600000"/>
              <a:gd name="connsiteY4369" fmla="*/ 608813 h 2787466"/>
              <a:gd name="connsiteX4370" fmla="*/ 3042811 w 3600000"/>
              <a:gd name="connsiteY4370" fmla="*/ 604883 h 2787466"/>
              <a:gd name="connsiteX4371" fmla="*/ 3032302 w 3600000"/>
              <a:gd name="connsiteY4371" fmla="*/ 597965 h 2787466"/>
              <a:gd name="connsiteX4372" fmla="*/ 3044048 w 3600000"/>
              <a:gd name="connsiteY4372" fmla="*/ 589003 h 2787466"/>
              <a:gd name="connsiteX4373" fmla="*/ 3038897 w 3600000"/>
              <a:gd name="connsiteY4373" fmla="*/ 581928 h 2787466"/>
              <a:gd name="connsiteX4374" fmla="*/ 3051879 w 3600000"/>
              <a:gd name="connsiteY4374" fmla="*/ 587902 h 2787466"/>
              <a:gd name="connsiteX4375" fmla="*/ 3057030 w 3600000"/>
              <a:gd name="connsiteY4375" fmla="*/ 577998 h 2787466"/>
              <a:gd name="connsiteX4376" fmla="*/ 3054558 w 3600000"/>
              <a:gd name="connsiteY4376" fmla="*/ 570136 h 2787466"/>
              <a:gd name="connsiteX4377" fmla="*/ 3041575 w 3600000"/>
              <a:gd name="connsiteY4377" fmla="*/ 566049 h 2787466"/>
              <a:gd name="connsiteX4378" fmla="*/ 3051879 w 3600000"/>
              <a:gd name="connsiteY4378" fmla="*/ 566049 h 2787466"/>
              <a:gd name="connsiteX4379" fmla="*/ 3057030 w 3600000"/>
              <a:gd name="connsiteY4379" fmla="*/ 548282 h 2787466"/>
              <a:gd name="connsiteX4380" fmla="*/ 3070219 w 3600000"/>
              <a:gd name="connsiteY4380" fmla="*/ 554257 h 2787466"/>
              <a:gd name="connsiteX4381" fmla="*/ 3075370 w 3600000"/>
              <a:gd name="connsiteY4381" fmla="*/ 560231 h 2787466"/>
              <a:gd name="connsiteX4382" fmla="*/ 3071455 w 3600000"/>
              <a:gd name="connsiteY4382" fmla="*/ 572023 h 2787466"/>
              <a:gd name="connsiteX4383" fmla="*/ 3064861 w 3600000"/>
              <a:gd name="connsiteY4383" fmla="*/ 566049 h 2787466"/>
              <a:gd name="connsiteX4384" fmla="*/ 3067539 w 3600000"/>
              <a:gd name="connsiteY4384" fmla="*/ 577998 h 2787466"/>
              <a:gd name="connsiteX4385" fmla="*/ 3049200 w 3600000"/>
              <a:gd name="connsiteY4385" fmla="*/ 597965 h 2787466"/>
              <a:gd name="connsiteX4386" fmla="*/ 3051248 w 3600000"/>
              <a:gd name="connsiteY4386" fmla="*/ 599186 h 2787466"/>
              <a:gd name="connsiteX4387" fmla="*/ 3054787 w 3600000"/>
              <a:gd name="connsiteY4387" fmla="*/ 594686 h 2787466"/>
              <a:gd name="connsiteX4388" fmla="*/ 3066606 w 3600000"/>
              <a:gd name="connsiteY4388" fmla="*/ 592742 h 2787466"/>
              <a:gd name="connsiteX4389" fmla="*/ 3051461 w 3600000"/>
              <a:gd name="connsiteY4389" fmla="*/ 599313 h 2787466"/>
              <a:gd name="connsiteX4390" fmla="*/ 3055794 w 3600000"/>
              <a:gd name="connsiteY4390" fmla="*/ 601896 h 2787466"/>
              <a:gd name="connsiteX4391" fmla="*/ 3055794 w 3600000"/>
              <a:gd name="connsiteY4391" fmla="*/ 605826 h 2787466"/>
              <a:gd name="connsiteX4392" fmla="*/ 3045285 w 3600000"/>
              <a:gd name="connsiteY4392" fmla="*/ 605826 h 2787466"/>
              <a:gd name="connsiteX4393" fmla="*/ 3051879 w 3600000"/>
              <a:gd name="connsiteY4393" fmla="*/ 613844 h 2787466"/>
              <a:gd name="connsiteX4394" fmla="*/ 3041575 w 3600000"/>
              <a:gd name="connsiteY4394" fmla="*/ 616832 h 2787466"/>
              <a:gd name="connsiteX4395" fmla="*/ 3033745 w 3600000"/>
              <a:gd name="connsiteY4395" fmla="*/ 632712 h 2787466"/>
              <a:gd name="connsiteX4396" fmla="*/ 3041575 w 3600000"/>
              <a:gd name="connsiteY4396" fmla="*/ 635699 h 2787466"/>
              <a:gd name="connsiteX4397" fmla="*/ 3044048 w 3600000"/>
              <a:gd name="connsiteY4397" fmla="*/ 640573 h 2787466"/>
              <a:gd name="connsiteX4398" fmla="*/ 3036218 w 3600000"/>
              <a:gd name="connsiteY4398" fmla="*/ 649534 h 2787466"/>
              <a:gd name="connsiteX4399" fmla="*/ 3021999 w 3600000"/>
              <a:gd name="connsiteY4399" fmla="*/ 678464 h 2787466"/>
              <a:gd name="connsiteX4400" fmla="*/ 3037660 w 3600000"/>
              <a:gd name="connsiteY4400" fmla="*/ 687269 h 2787466"/>
              <a:gd name="connsiteX4401" fmla="*/ 3032302 w 3600000"/>
              <a:gd name="connsiteY4401" fmla="*/ 681294 h 2787466"/>
              <a:gd name="connsiteX4402" fmla="*/ 3041575 w 3600000"/>
              <a:gd name="connsiteY4402" fmla="*/ 680350 h 2787466"/>
              <a:gd name="connsiteX4403" fmla="*/ 3067539 w 3600000"/>
              <a:gd name="connsiteY4403" fmla="*/ 632712 h 2787466"/>
              <a:gd name="connsiteX4404" fmla="*/ 3068776 w 3600000"/>
              <a:gd name="connsiteY4404" fmla="*/ 642617 h 2787466"/>
              <a:gd name="connsiteX4405" fmla="*/ 3080522 w 3600000"/>
              <a:gd name="connsiteY4405" fmla="*/ 642617 h 2787466"/>
              <a:gd name="connsiteX4406" fmla="*/ 3072691 w 3600000"/>
              <a:gd name="connsiteY4406" fmla="*/ 644661 h 2787466"/>
              <a:gd name="connsiteX4407" fmla="*/ 3079285 w 3600000"/>
              <a:gd name="connsiteY4407" fmla="*/ 658496 h 2787466"/>
              <a:gd name="connsiteX4408" fmla="*/ 3067539 w 3600000"/>
              <a:gd name="connsiteY4408" fmla="*/ 652522 h 2787466"/>
              <a:gd name="connsiteX4409" fmla="*/ 3074133 w 3600000"/>
              <a:gd name="connsiteY4409" fmla="*/ 647648 h 2787466"/>
              <a:gd name="connsiteX4410" fmla="*/ 3060946 w 3600000"/>
              <a:gd name="connsiteY4410" fmla="*/ 646547 h 2787466"/>
              <a:gd name="connsiteX4411" fmla="*/ 3064861 w 3600000"/>
              <a:gd name="connsiteY4411" fmla="*/ 657553 h 2787466"/>
              <a:gd name="connsiteX4412" fmla="*/ 3074133 w 3600000"/>
              <a:gd name="connsiteY4412" fmla="*/ 664471 h 2787466"/>
              <a:gd name="connsiteX4413" fmla="*/ 3055794 w 3600000"/>
              <a:gd name="connsiteY4413" fmla="*/ 704248 h 2787466"/>
              <a:gd name="connsiteX4414" fmla="*/ 3066303 w 3600000"/>
              <a:gd name="connsiteY4414" fmla="*/ 707236 h 2787466"/>
              <a:gd name="connsiteX4415" fmla="*/ 3047963 w 3600000"/>
              <a:gd name="connsiteY4415" fmla="*/ 720128 h 2787466"/>
              <a:gd name="connsiteX4416" fmla="*/ 3045285 w 3600000"/>
              <a:gd name="connsiteY4416" fmla="*/ 710223 h 2787466"/>
              <a:gd name="connsiteX4417" fmla="*/ 3051879 w 3600000"/>
              <a:gd name="connsiteY4417" fmla="*/ 711166 h 2787466"/>
              <a:gd name="connsiteX4418" fmla="*/ 3044048 w 3600000"/>
              <a:gd name="connsiteY4418" fmla="*/ 702205 h 2787466"/>
              <a:gd name="connsiteX4419" fmla="*/ 3049200 w 3600000"/>
              <a:gd name="connsiteY4419" fmla="*/ 724059 h 2787466"/>
              <a:gd name="connsiteX4420" fmla="*/ 3042811 w 3600000"/>
              <a:gd name="connsiteY4420" fmla="*/ 736007 h 2787466"/>
              <a:gd name="connsiteX4421" fmla="*/ 3033745 w 3600000"/>
              <a:gd name="connsiteY4421" fmla="*/ 727046 h 2787466"/>
              <a:gd name="connsiteX4422" fmla="*/ 3032302 w 3600000"/>
              <a:gd name="connsiteY4422" fmla="*/ 739938 h 2787466"/>
              <a:gd name="connsiteX4423" fmla="*/ 3038897 w 3600000"/>
              <a:gd name="connsiteY4423" fmla="*/ 757862 h 2787466"/>
              <a:gd name="connsiteX4424" fmla="*/ 3032302 w 3600000"/>
              <a:gd name="connsiteY4424" fmla="*/ 754874 h 2787466"/>
              <a:gd name="connsiteX4425" fmla="*/ 3031066 w 3600000"/>
              <a:gd name="connsiteY4425" fmla="*/ 763837 h 2787466"/>
              <a:gd name="connsiteX4426" fmla="*/ 3020763 w 3600000"/>
              <a:gd name="connsiteY4426" fmla="*/ 769811 h 2787466"/>
              <a:gd name="connsiteX4427" fmla="*/ 3027151 w 3600000"/>
              <a:gd name="connsiteY4427" fmla="*/ 780659 h 2787466"/>
              <a:gd name="connsiteX4428" fmla="*/ 3018084 w 3600000"/>
              <a:gd name="connsiteY4428" fmla="*/ 783647 h 2787466"/>
              <a:gd name="connsiteX4429" fmla="*/ 3019320 w 3600000"/>
              <a:gd name="connsiteY4429" fmla="*/ 793709 h 2787466"/>
              <a:gd name="connsiteX4430" fmla="*/ 3012726 w 3600000"/>
              <a:gd name="connsiteY4430" fmla="*/ 790722 h 2787466"/>
              <a:gd name="connsiteX4431" fmla="*/ 3018084 w 3600000"/>
              <a:gd name="connsiteY4431" fmla="*/ 795596 h 2787466"/>
              <a:gd name="connsiteX4432" fmla="*/ 3011490 w 3600000"/>
              <a:gd name="connsiteY4432" fmla="*/ 799526 h 2787466"/>
              <a:gd name="connsiteX4433" fmla="*/ 3006338 w 3600000"/>
              <a:gd name="connsiteY4433" fmla="*/ 792609 h 2787466"/>
              <a:gd name="connsiteX4434" fmla="*/ 3012726 w 3600000"/>
              <a:gd name="connsiteY4434" fmla="*/ 806602 h 2787466"/>
              <a:gd name="connsiteX4435" fmla="*/ 3003660 w 3600000"/>
              <a:gd name="connsiteY4435" fmla="*/ 815406 h 2787466"/>
              <a:gd name="connsiteX4436" fmla="*/ 2994593 w 3600000"/>
              <a:gd name="connsiteY4436" fmla="*/ 816506 h 2787466"/>
              <a:gd name="connsiteX4437" fmla="*/ 2980375 w 3600000"/>
              <a:gd name="connsiteY4437" fmla="*/ 850310 h 2787466"/>
              <a:gd name="connsiteX4438" fmla="*/ 2968628 w 3600000"/>
              <a:gd name="connsiteY4438" fmla="*/ 850310 h 2787466"/>
              <a:gd name="connsiteX4439" fmla="*/ 2962035 w 3600000"/>
              <a:gd name="connsiteY4439" fmla="*/ 865246 h 2787466"/>
              <a:gd name="connsiteX4440" fmla="*/ 2960798 w 3600000"/>
              <a:gd name="connsiteY4440" fmla="*/ 876094 h 2787466"/>
              <a:gd name="connsiteX4441" fmla="*/ 2954204 w 3600000"/>
              <a:gd name="connsiteY4441" fmla="*/ 876094 h 2787466"/>
              <a:gd name="connsiteX4442" fmla="*/ 2942458 w 3600000"/>
              <a:gd name="connsiteY4442" fmla="*/ 894961 h 2787466"/>
              <a:gd name="connsiteX4443" fmla="*/ 2943765 w 3600000"/>
              <a:gd name="connsiteY4443" fmla="*/ 904608 h 2787466"/>
              <a:gd name="connsiteX4444" fmla="*/ 2944058 w 3600000"/>
              <a:gd name="connsiteY4444" fmla="*/ 904763 h 2787466"/>
              <a:gd name="connsiteX4445" fmla="*/ 2943859 w 3600000"/>
              <a:gd name="connsiteY4445" fmla="*/ 905298 h 2787466"/>
              <a:gd name="connsiteX4446" fmla="*/ 2943952 w 3600000"/>
              <a:gd name="connsiteY4446" fmla="*/ 905986 h 2787466"/>
              <a:gd name="connsiteX4447" fmla="*/ 2946373 w 3600000"/>
              <a:gd name="connsiteY4447" fmla="*/ 914772 h 2787466"/>
              <a:gd name="connsiteX4448" fmla="*/ 2917730 w 3600000"/>
              <a:gd name="connsiteY4448" fmla="*/ 930651 h 2787466"/>
              <a:gd name="connsiteX4449" fmla="*/ 2911342 w 3600000"/>
              <a:gd name="connsiteY4449" fmla="*/ 939613 h 2787466"/>
              <a:gd name="connsiteX4450" fmla="*/ 2909900 w 3600000"/>
              <a:gd name="connsiteY4450" fmla="*/ 933796 h 2787466"/>
              <a:gd name="connsiteX4451" fmla="*/ 2905984 w 3600000"/>
              <a:gd name="connsiteY4451" fmla="*/ 948575 h 2787466"/>
              <a:gd name="connsiteX4452" fmla="*/ 2915051 w 3600000"/>
              <a:gd name="connsiteY4452" fmla="*/ 942600 h 2787466"/>
              <a:gd name="connsiteX4453" fmla="*/ 2890529 w 3600000"/>
              <a:gd name="connsiteY4453" fmla="*/ 958480 h 2787466"/>
              <a:gd name="connsiteX4454" fmla="*/ 2895681 w 3600000"/>
              <a:gd name="connsiteY4454" fmla="*/ 964455 h 2787466"/>
              <a:gd name="connsiteX4455" fmla="*/ 2886614 w 3600000"/>
              <a:gd name="connsiteY4455" fmla="*/ 971530 h 2787466"/>
              <a:gd name="connsiteX4456" fmla="*/ 2894110 w 3600000"/>
              <a:gd name="connsiteY4456" fmla="*/ 971530 h 2787466"/>
              <a:gd name="connsiteX4457" fmla="*/ 2893202 w 3600000"/>
              <a:gd name="connsiteY4457" fmla="*/ 971010 h 2787466"/>
              <a:gd name="connsiteX4458" fmla="*/ 2901875 w 3600000"/>
              <a:gd name="connsiteY4458" fmla="*/ 962638 h 2787466"/>
              <a:gd name="connsiteX4459" fmla="*/ 2906519 w 3600000"/>
              <a:gd name="connsiteY4459" fmla="*/ 964281 h 2787466"/>
              <a:gd name="connsiteX4460" fmla="*/ 2909208 w 3600000"/>
              <a:gd name="connsiteY4460" fmla="*/ 963649 h 2787466"/>
              <a:gd name="connsiteX4461" fmla="*/ 2916219 w 3600000"/>
              <a:gd name="connsiteY4461" fmla="*/ 960596 h 2787466"/>
              <a:gd name="connsiteX4462" fmla="*/ 2903310 w 3600000"/>
              <a:gd name="connsiteY4462" fmla="*/ 960596 h 2787466"/>
              <a:gd name="connsiteX4463" fmla="*/ 2921341 w 3600000"/>
              <a:gd name="connsiteY4463" fmla="*/ 956669 h 2787466"/>
              <a:gd name="connsiteX4464" fmla="*/ 2924004 w 3600000"/>
              <a:gd name="connsiteY4464" fmla="*/ 968607 h 2787466"/>
              <a:gd name="connsiteX4465" fmla="*/ 2910891 w 3600000"/>
              <a:gd name="connsiteY4465" fmla="*/ 967684 h 2787466"/>
              <a:gd name="connsiteX4466" fmla="*/ 2908665 w 3600000"/>
              <a:gd name="connsiteY4466" fmla="*/ 967309 h 2787466"/>
              <a:gd name="connsiteX4467" fmla="*/ 2904748 w 3600000"/>
              <a:gd name="connsiteY4467" fmla="*/ 972473 h 2787466"/>
              <a:gd name="connsiteX4468" fmla="*/ 2899332 w 3600000"/>
              <a:gd name="connsiteY4468" fmla="*/ 973204 h 2787466"/>
              <a:gd name="connsiteX4469" fmla="*/ 2899418 w 3600000"/>
              <a:gd name="connsiteY4469" fmla="*/ 974575 h 2787466"/>
              <a:gd name="connsiteX4470" fmla="*/ 2897223 w 3600000"/>
              <a:gd name="connsiteY4470" fmla="*/ 973317 h 2787466"/>
              <a:gd name="connsiteX4471" fmla="*/ 2892101 w 3600000"/>
              <a:gd name="connsiteY4471" fmla="*/ 972964 h 2787466"/>
              <a:gd name="connsiteX4472" fmla="*/ 2885172 w 3600000"/>
              <a:gd name="connsiteY4472" fmla="*/ 976404 h 2787466"/>
              <a:gd name="connsiteX4473" fmla="*/ 2888006 w 3600000"/>
              <a:gd name="connsiteY4473" fmla="*/ 980944 h 2787466"/>
              <a:gd name="connsiteX4474" fmla="*/ 2889327 w 3600000"/>
              <a:gd name="connsiteY4474" fmla="*/ 982498 h 2787466"/>
              <a:gd name="connsiteX4475" fmla="*/ 2890589 w 3600000"/>
              <a:gd name="connsiteY4475" fmla="*/ 981143 h 2787466"/>
              <a:gd name="connsiteX4476" fmla="*/ 2898346 w 3600000"/>
              <a:gd name="connsiteY4476" fmla="*/ 976119 h 2787466"/>
              <a:gd name="connsiteX4477" fmla="*/ 2907612 w 3600000"/>
              <a:gd name="connsiteY4477" fmla="*/ 978179 h 2787466"/>
              <a:gd name="connsiteX4478" fmla="*/ 2908848 w 3600000"/>
              <a:gd name="connsiteY4478" fmla="*/ 985151 h 2787466"/>
              <a:gd name="connsiteX4479" fmla="*/ 2904935 w 3600000"/>
              <a:gd name="connsiteY4479" fmla="*/ 981189 h 2787466"/>
              <a:gd name="connsiteX4480" fmla="*/ 2895876 w 3600000"/>
              <a:gd name="connsiteY4480" fmla="*/ 980239 h 2787466"/>
              <a:gd name="connsiteX4481" fmla="*/ 2898346 w 3600000"/>
              <a:gd name="connsiteY4481" fmla="*/ 987211 h 2787466"/>
              <a:gd name="connsiteX4482" fmla="*/ 2912760 w 3600000"/>
              <a:gd name="connsiteY4482" fmla="*/ 995134 h 2787466"/>
              <a:gd name="connsiteX4483" fmla="*/ 2906782 w 3600000"/>
              <a:gd name="connsiteY4483" fmla="*/ 993044 h 2787466"/>
              <a:gd name="connsiteX4484" fmla="*/ 2903512 w 3600000"/>
              <a:gd name="connsiteY4484" fmla="*/ 995271 h 2787466"/>
              <a:gd name="connsiteX4485" fmla="*/ 2905984 w 3600000"/>
              <a:gd name="connsiteY4485" fmla="*/ 1000302 h 2787466"/>
              <a:gd name="connsiteX4486" fmla="*/ 2924324 w 3600000"/>
              <a:gd name="connsiteY4486" fmla="*/ 995271 h 2787466"/>
              <a:gd name="connsiteX4487" fmla="*/ 2921645 w 3600000"/>
              <a:gd name="connsiteY4487" fmla="*/ 1000302 h 2787466"/>
              <a:gd name="connsiteX4488" fmla="*/ 2936070 w 3600000"/>
              <a:gd name="connsiteY4488" fmla="*/ 977504 h 2787466"/>
              <a:gd name="connsiteX4489" fmla="*/ 2945136 w 3600000"/>
              <a:gd name="connsiteY4489" fmla="*/ 984422 h 2787466"/>
              <a:gd name="connsiteX4490" fmla="*/ 2941376 w 3600000"/>
              <a:gd name="connsiteY4490" fmla="*/ 972395 h 2787466"/>
              <a:gd name="connsiteX4491" fmla="*/ 2946664 w 3600000"/>
              <a:gd name="connsiteY4491" fmla="*/ 968337 h 2787466"/>
              <a:gd name="connsiteX4492" fmla="*/ 2949052 w 3600000"/>
              <a:gd name="connsiteY4492" fmla="*/ 970429 h 2787466"/>
              <a:gd name="connsiteX4493" fmla="*/ 2960798 w 3600000"/>
              <a:gd name="connsiteY4493" fmla="*/ 954550 h 2787466"/>
              <a:gd name="connsiteX4494" fmla="*/ 2972544 w 3600000"/>
              <a:gd name="connsiteY4494" fmla="*/ 954550 h 2787466"/>
              <a:gd name="connsiteX4495" fmla="*/ 2969864 w 3600000"/>
              <a:gd name="connsiteY4495" fmla="*/ 944645 h 2787466"/>
              <a:gd name="connsiteX4496" fmla="*/ 2977695 w 3600000"/>
              <a:gd name="connsiteY4496" fmla="*/ 941657 h 2787466"/>
              <a:gd name="connsiteX4497" fmla="*/ 2982847 w 3600000"/>
              <a:gd name="connsiteY4497" fmla="*/ 943701 h 2787466"/>
              <a:gd name="connsiteX4498" fmla="*/ 3001187 w 3600000"/>
              <a:gd name="connsiteY4498" fmla="*/ 911784 h 2787466"/>
              <a:gd name="connsiteX4499" fmla="*/ 3012726 w 3600000"/>
              <a:gd name="connsiteY4499" fmla="*/ 918859 h 2787466"/>
              <a:gd name="connsiteX4500" fmla="*/ 3016848 w 3600000"/>
              <a:gd name="connsiteY4500" fmla="*/ 905967 h 2787466"/>
              <a:gd name="connsiteX4501" fmla="*/ 3007575 w 3600000"/>
              <a:gd name="connsiteY4501" fmla="*/ 911784 h 2787466"/>
              <a:gd name="connsiteX4502" fmla="*/ 3027151 w 3600000"/>
              <a:gd name="connsiteY4502" fmla="*/ 899993 h 2787466"/>
              <a:gd name="connsiteX4503" fmla="*/ 3014169 w 3600000"/>
              <a:gd name="connsiteY4503" fmla="*/ 897949 h 2787466"/>
              <a:gd name="connsiteX4504" fmla="*/ 3033745 w 3600000"/>
              <a:gd name="connsiteY4504" fmla="*/ 862259 h 2787466"/>
              <a:gd name="connsiteX4505" fmla="*/ 3032302 w 3600000"/>
              <a:gd name="connsiteY4505" fmla="*/ 869177 h 2787466"/>
              <a:gd name="connsiteX4506" fmla="*/ 3040967 w 3600000"/>
              <a:gd name="connsiteY4506" fmla="*/ 870017 h 2787466"/>
              <a:gd name="connsiteX4507" fmla="*/ 3042086 w 3600000"/>
              <a:gd name="connsiteY4507" fmla="*/ 869711 h 2787466"/>
              <a:gd name="connsiteX4508" fmla="*/ 3044578 w 3600000"/>
              <a:gd name="connsiteY4508" fmla="*/ 858321 h 2787466"/>
              <a:gd name="connsiteX4509" fmla="*/ 3044599 w 3600000"/>
              <a:gd name="connsiteY4509" fmla="*/ 857898 h 2787466"/>
              <a:gd name="connsiteX4510" fmla="*/ 3044702 w 3600000"/>
              <a:gd name="connsiteY4510" fmla="*/ 857752 h 2787466"/>
              <a:gd name="connsiteX4511" fmla="*/ 3048364 w 3600000"/>
              <a:gd name="connsiteY4511" fmla="*/ 841014 h 2787466"/>
              <a:gd name="connsiteX4512" fmla="*/ 3045314 w 3600000"/>
              <a:gd name="connsiteY4512" fmla="*/ 842161 h 2787466"/>
              <a:gd name="connsiteX4513" fmla="*/ 3047654 w 3600000"/>
              <a:gd name="connsiteY4513" fmla="*/ 836143 h 2787466"/>
              <a:gd name="connsiteX4514" fmla="*/ 3051295 w 3600000"/>
              <a:gd name="connsiteY4514" fmla="*/ 827614 h 2787466"/>
              <a:gd name="connsiteX4515" fmla="*/ 3052132 w 3600000"/>
              <a:gd name="connsiteY4515" fmla="*/ 823790 h 2787466"/>
              <a:gd name="connsiteX4516" fmla="*/ 3049284 w 3600000"/>
              <a:gd name="connsiteY4516" fmla="*/ 824411 h 2787466"/>
              <a:gd name="connsiteX4517" fmla="*/ 3051955 w 3600000"/>
              <a:gd name="connsiteY4517" fmla="*/ 823469 h 2787466"/>
              <a:gd name="connsiteX4518" fmla="*/ 3055857 w 3600000"/>
              <a:gd name="connsiteY4518" fmla="*/ 806673 h 2787466"/>
              <a:gd name="connsiteX4519" fmla="*/ 3055875 w 3600000"/>
              <a:gd name="connsiteY4519" fmla="*/ 806676 h 2787466"/>
              <a:gd name="connsiteX4520" fmla="*/ 3059586 w 3600000"/>
              <a:gd name="connsiteY4520" fmla="*/ 789715 h 2787466"/>
              <a:gd name="connsiteX4521" fmla="*/ 3067414 w 3600000"/>
              <a:gd name="connsiteY4521" fmla="*/ 772895 h 2787466"/>
              <a:gd name="connsiteX4522" fmla="*/ 3079648 w 3600000"/>
              <a:gd name="connsiteY4522" fmla="*/ 791228 h 2787466"/>
              <a:gd name="connsiteX4523" fmla="*/ 3080617 w 3600000"/>
              <a:gd name="connsiteY4523" fmla="*/ 797256 h 2787466"/>
              <a:gd name="connsiteX4524" fmla="*/ 3085351 w 3600000"/>
              <a:gd name="connsiteY4524" fmla="*/ 797256 h 2787466"/>
              <a:gd name="connsiteX4525" fmla="*/ 3086380 w 3600000"/>
              <a:gd name="connsiteY4525" fmla="*/ 797256 h 2787466"/>
              <a:gd name="connsiteX4526" fmla="*/ 3087329 w 3600000"/>
              <a:gd name="connsiteY4526" fmla="*/ 795112 h 2787466"/>
              <a:gd name="connsiteX4527" fmla="*/ 3087116 w 3600000"/>
              <a:gd name="connsiteY4527" fmla="*/ 786634 h 2787466"/>
              <a:gd name="connsiteX4528" fmla="*/ 3094946 w 3600000"/>
              <a:gd name="connsiteY4528" fmla="*/ 789621 h 2787466"/>
              <a:gd name="connsiteX4529" fmla="*/ 3113081 w 3600000"/>
              <a:gd name="connsiteY4529" fmla="*/ 762893 h 2787466"/>
              <a:gd name="connsiteX4530" fmla="*/ 3120912 w 3600000"/>
              <a:gd name="connsiteY4530" fmla="*/ 766823 h 2787466"/>
              <a:gd name="connsiteX4531" fmla="*/ 3124826 w 3600000"/>
              <a:gd name="connsiteY4531" fmla="*/ 757862 h 2787466"/>
              <a:gd name="connsiteX4532" fmla="*/ 3116995 w 3600000"/>
              <a:gd name="connsiteY4532" fmla="*/ 751887 h 2787466"/>
              <a:gd name="connsiteX4533" fmla="*/ 3123590 w 3600000"/>
              <a:gd name="connsiteY4533" fmla="*/ 744970 h 2787466"/>
              <a:gd name="connsiteX4534" fmla="*/ 3115759 w 3600000"/>
              <a:gd name="connsiteY4534" fmla="*/ 744970 h 2787466"/>
              <a:gd name="connsiteX4535" fmla="*/ 3117716 w 3600000"/>
              <a:gd name="connsiteY4535" fmla="*/ 742903 h 2787466"/>
              <a:gd name="connsiteX4536" fmla="*/ 3117490 w 3600000"/>
              <a:gd name="connsiteY4536" fmla="*/ 742911 h 2787466"/>
              <a:gd name="connsiteX4537" fmla="*/ 3114374 w 3600000"/>
              <a:gd name="connsiteY4537" fmla="*/ 743027 h 2787466"/>
              <a:gd name="connsiteX4538" fmla="*/ 3116428 w 3600000"/>
              <a:gd name="connsiteY4538" fmla="*/ 739481 h 2787466"/>
              <a:gd name="connsiteX4539" fmla="*/ 3122698 w 3600000"/>
              <a:gd name="connsiteY4539" fmla="*/ 738812 h 2787466"/>
              <a:gd name="connsiteX4540" fmla="*/ 3124308 w 3600000"/>
              <a:gd name="connsiteY4540" fmla="*/ 737541 h 2787466"/>
              <a:gd name="connsiteX4541" fmla="*/ 3127505 w 3600000"/>
              <a:gd name="connsiteY4541" fmla="*/ 733021 h 2787466"/>
              <a:gd name="connsiteX4542" fmla="*/ 3116995 w 3600000"/>
              <a:gd name="connsiteY4542" fmla="*/ 733021 h 2787466"/>
              <a:gd name="connsiteX4543" fmla="*/ 3146875 w 3600000"/>
              <a:gd name="connsiteY4543" fmla="*/ 714154 h 2787466"/>
              <a:gd name="connsiteX4544" fmla="*/ 3152233 w 3600000"/>
              <a:gd name="connsiteY4544" fmla="*/ 697173 h 2787466"/>
              <a:gd name="connsiteX4545" fmla="*/ 3157385 w 3600000"/>
              <a:gd name="connsiteY4545" fmla="*/ 700160 h 2787466"/>
              <a:gd name="connsiteX4546" fmla="*/ 3166452 w 3600000"/>
              <a:gd name="connsiteY4546" fmla="*/ 688369 h 2787466"/>
              <a:gd name="connsiteX4547" fmla="*/ 3146875 w 3600000"/>
              <a:gd name="connsiteY4547" fmla="*/ 684281 h 2787466"/>
              <a:gd name="connsiteX4548" fmla="*/ 3156148 w 3600000"/>
              <a:gd name="connsiteY4548" fmla="*/ 669502 h 2787466"/>
              <a:gd name="connsiteX4549" fmla="*/ 3163257 w 3600000"/>
              <a:gd name="connsiteY4549" fmla="*/ 654363 h 2787466"/>
              <a:gd name="connsiteX4550" fmla="*/ 3163196 w 3600000"/>
              <a:gd name="connsiteY4550" fmla="*/ 653998 h 2787466"/>
              <a:gd name="connsiteX4551" fmla="*/ 3163837 w 3600000"/>
              <a:gd name="connsiteY4551" fmla="*/ 640682 h 2787466"/>
              <a:gd name="connsiteX4552" fmla="*/ 3180732 w 3600000"/>
              <a:gd name="connsiteY4552" fmla="*/ 616943 h 2787466"/>
              <a:gd name="connsiteX4553" fmla="*/ 3178053 w 3600000"/>
              <a:gd name="connsiteY4553" fmla="*/ 609869 h 2787466"/>
              <a:gd name="connsiteX4554" fmla="*/ 3184365 w 3600000"/>
              <a:gd name="connsiteY4554" fmla="*/ 602726 h 2787466"/>
              <a:gd name="connsiteX4555" fmla="*/ 3186857 w 3600000"/>
              <a:gd name="connsiteY4555" fmla="*/ 600568 h 2787466"/>
              <a:gd name="connsiteX4556" fmla="*/ 3200246 w 3600000"/>
              <a:gd name="connsiteY4556" fmla="*/ 564161 h 2787466"/>
              <a:gd name="connsiteX4557" fmla="*/ 3200246 w 3600000"/>
              <a:gd name="connsiteY4557" fmla="*/ 575010 h 2787466"/>
              <a:gd name="connsiteX4558" fmla="*/ 3208076 w 3600000"/>
              <a:gd name="connsiteY4558" fmla="*/ 577054 h 2787466"/>
              <a:gd name="connsiteX4559" fmla="*/ 3209519 w 3600000"/>
              <a:gd name="connsiteY4559" fmla="*/ 573124 h 2787466"/>
              <a:gd name="connsiteX4560" fmla="*/ 3202925 w 3600000"/>
              <a:gd name="connsiteY4560" fmla="*/ 569035 h 2787466"/>
              <a:gd name="connsiteX4561" fmla="*/ 3207999 w 3600000"/>
              <a:gd name="connsiteY4561" fmla="*/ 566618 h 2787466"/>
              <a:gd name="connsiteX4562" fmla="*/ 3209884 w 3600000"/>
              <a:gd name="connsiteY4562" fmla="*/ 566869 h 2787466"/>
              <a:gd name="connsiteX4563" fmla="*/ 3209653 w 3600000"/>
              <a:gd name="connsiteY4563" fmla="*/ 564514 h 2787466"/>
              <a:gd name="connsiteX4564" fmla="*/ 3211485 w 3600000"/>
              <a:gd name="connsiteY4564" fmla="*/ 558732 h 2787466"/>
              <a:gd name="connsiteX4565" fmla="*/ 3211655 w 3600000"/>
              <a:gd name="connsiteY4565" fmla="*/ 558618 h 2787466"/>
              <a:gd name="connsiteX4566" fmla="*/ 3208076 w 3600000"/>
              <a:gd name="connsiteY4566" fmla="*/ 558187 h 2787466"/>
              <a:gd name="connsiteX4567" fmla="*/ 3188706 w 3600000"/>
              <a:gd name="connsiteY4567" fmla="*/ 565105 h 2787466"/>
              <a:gd name="connsiteX4568" fmla="*/ 3193858 w 3600000"/>
              <a:gd name="connsiteY4568" fmla="*/ 556143 h 2787466"/>
              <a:gd name="connsiteX4569" fmla="*/ 3202925 w 3600000"/>
              <a:gd name="connsiteY4569" fmla="*/ 558187 h 2787466"/>
              <a:gd name="connsiteX4570" fmla="*/ 3209519 w 3600000"/>
              <a:gd name="connsiteY4570" fmla="*/ 532402 h 2787466"/>
              <a:gd name="connsiteX4571" fmla="*/ 3210755 w 3600000"/>
              <a:gd name="connsiteY4571" fmla="*/ 527372 h 2787466"/>
              <a:gd name="connsiteX4572" fmla="*/ 3218585 w 3600000"/>
              <a:gd name="connsiteY4572" fmla="*/ 518409 h 2787466"/>
              <a:gd name="connsiteX4573" fmla="*/ 3220543 w 3600000"/>
              <a:gd name="connsiteY4573" fmla="*/ 525759 h 2787466"/>
              <a:gd name="connsiteX4574" fmla="*/ 3222381 w 3600000"/>
              <a:gd name="connsiteY4574" fmla="*/ 531994 h 2787466"/>
              <a:gd name="connsiteX4575" fmla="*/ 3223766 w 3600000"/>
              <a:gd name="connsiteY4575" fmla="*/ 527983 h 2787466"/>
              <a:gd name="connsiteX4576" fmla="*/ 3229590 w 3600000"/>
              <a:gd name="connsiteY4576" fmla="*/ 521676 h 2787466"/>
              <a:gd name="connsiteX4577" fmla="*/ 3229662 w 3600000"/>
              <a:gd name="connsiteY4577" fmla="*/ 521279 h 2787466"/>
              <a:gd name="connsiteX4578" fmla="*/ 3229094 w 3600000"/>
              <a:gd name="connsiteY4578" fmla="*/ 509448 h 2787466"/>
              <a:gd name="connsiteX4579" fmla="*/ 3238162 w 3600000"/>
              <a:gd name="connsiteY4579" fmla="*/ 499542 h 2787466"/>
              <a:gd name="connsiteX4580" fmla="*/ 3255060 w 3600000"/>
              <a:gd name="connsiteY4580" fmla="*/ 505517 h 2787466"/>
              <a:gd name="connsiteX4581" fmla="*/ 3252380 w 3600000"/>
              <a:gd name="connsiteY4581" fmla="*/ 490581 h 2787466"/>
              <a:gd name="connsiteX4582" fmla="*/ 3240635 w 3600000"/>
              <a:gd name="connsiteY4582" fmla="*/ 485707 h 2787466"/>
              <a:gd name="connsiteX4583" fmla="*/ 3253823 w 3600000"/>
              <a:gd name="connsiteY4583" fmla="*/ 476745 h 2787466"/>
              <a:gd name="connsiteX4584" fmla="*/ 3268041 w 3600000"/>
              <a:gd name="connsiteY4584" fmla="*/ 479732 h 2787466"/>
              <a:gd name="connsiteX4585" fmla="*/ 3269278 w 3600000"/>
              <a:gd name="connsiteY4585" fmla="*/ 491682 h 2787466"/>
              <a:gd name="connsiteX4586" fmla="*/ 3258962 w 3600000"/>
              <a:gd name="connsiteY4586" fmla="*/ 515228 h 2787466"/>
              <a:gd name="connsiteX4587" fmla="*/ 3256276 w 3600000"/>
              <a:gd name="connsiteY4587" fmla="*/ 521530 h 2787466"/>
              <a:gd name="connsiteX4588" fmla="*/ 3255839 w 3600000"/>
              <a:gd name="connsiteY4588" fmla="*/ 523547 h 2787466"/>
              <a:gd name="connsiteX4589" fmla="*/ 3262731 w 3600000"/>
              <a:gd name="connsiteY4589" fmla="*/ 527492 h 2787466"/>
              <a:gd name="connsiteX4590" fmla="*/ 3260102 w 3600000"/>
              <a:gd name="connsiteY4590" fmla="*/ 529818 h 2787466"/>
              <a:gd name="connsiteX4591" fmla="*/ 3258924 w 3600000"/>
              <a:gd name="connsiteY4591" fmla="*/ 534781 h 2787466"/>
              <a:gd name="connsiteX4592" fmla="*/ 3255060 w 3600000"/>
              <a:gd name="connsiteY4592" fmla="*/ 545295 h 2787466"/>
              <a:gd name="connsiteX4593" fmla="*/ 3261653 w 3600000"/>
              <a:gd name="connsiteY4593" fmla="*/ 545295 h 2787466"/>
              <a:gd name="connsiteX4594" fmla="*/ 3256815 w 3600000"/>
              <a:gd name="connsiteY4594" fmla="*/ 552812 h 2787466"/>
              <a:gd name="connsiteX4595" fmla="*/ 3255739 w 3600000"/>
              <a:gd name="connsiteY4595" fmla="*/ 553391 h 2787466"/>
              <a:gd name="connsiteX4596" fmla="*/ 3255801 w 3600000"/>
              <a:gd name="connsiteY4596" fmla="*/ 553921 h 2787466"/>
              <a:gd name="connsiteX4597" fmla="*/ 3253611 w 3600000"/>
              <a:gd name="connsiteY4597" fmla="*/ 561319 h 2787466"/>
              <a:gd name="connsiteX4598" fmla="*/ 3257738 w 3600000"/>
              <a:gd name="connsiteY4598" fmla="*/ 564161 h 2787466"/>
              <a:gd name="connsiteX4599" fmla="*/ 3256296 w 3600000"/>
              <a:gd name="connsiteY4599" fmla="*/ 575010 h 2787466"/>
              <a:gd name="connsiteX4600" fmla="*/ 3249908 w 3600000"/>
              <a:gd name="connsiteY4600" fmla="*/ 577054 h 2787466"/>
              <a:gd name="connsiteX4601" fmla="*/ 3253823 w 3600000"/>
              <a:gd name="connsiteY4601" fmla="*/ 586959 h 2787466"/>
              <a:gd name="connsiteX4602" fmla="*/ 3249186 w 3600000"/>
              <a:gd name="connsiteY4602" fmla="*/ 576081 h 2787466"/>
              <a:gd name="connsiteX4603" fmla="*/ 3249560 w 3600000"/>
              <a:gd name="connsiteY4603" fmla="*/ 573491 h 2787466"/>
              <a:gd name="connsiteX4604" fmla="*/ 3240599 w 3600000"/>
              <a:gd name="connsiteY4604" fmla="*/ 589209 h 2787466"/>
              <a:gd name="connsiteX4605" fmla="*/ 3236533 w 3600000"/>
              <a:gd name="connsiteY4605" fmla="*/ 595045 h 2787466"/>
              <a:gd name="connsiteX4606" fmla="*/ 3238162 w 3600000"/>
              <a:gd name="connsiteY4606" fmla="*/ 596865 h 2787466"/>
              <a:gd name="connsiteX4607" fmla="*/ 3234465 w 3600000"/>
              <a:gd name="connsiteY4607" fmla="*/ 598012 h 2787466"/>
              <a:gd name="connsiteX4608" fmla="*/ 3230203 w 3600000"/>
              <a:gd name="connsiteY4608" fmla="*/ 604130 h 2787466"/>
              <a:gd name="connsiteX4609" fmla="*/ 3231233 w 3600000"/>
              <a:gd name="connsiteY4609" fmla="*/ 605414 h 2787466"/>
              <a:gd name="connsiteX4610" fmla="*/ 3232805 w 3600000"/>
              <a:gd name="connsiteY4610" fmla="*/ 609757 h 2787466"/>
              <a:gd name="connsiteX4611" fmla="*/ 3225720 w 3600000"/>
              <a:gd name="connsiteY4611" fmla="*/ 612037 h 2787466"/>
              <a:gd name="connsiteX4612" fmla="*/ 3223617 w 3600000"/>
              <a:gd name="connsiteY4612" fmla="*/ 612984 h 2787466"/>
              <a:gd name="connsiteX4613" fmla="*/ 3222580 w 3600000"/>
              <a:gd name="connsiteY4613" fmla="*/ 614356 h 2787466"/>
              <a:gd name="connsiteX4614" fmla="*/ 3222501 w 3600000"/>
              <a:gd name="connsiteY4614" fmla="*/ 615731 h 2787466"/>
              <a:gd name="connsiteX4615" fmla="*/ 3239399 w 3600000"/>
              <a:gd name="connsiteY4615" fmla="*/ 618718 h 2787466"/>
              <a:gd name="connsiteX4616" fmla="*/ 3221265 w 3600000"/>
              <a:gd name="connsiteY4616" fmla="*/ 626737 h 2787466"/>
              <a:gd name="connsiteX4617" fmla="*/ 3227652 w 3600000"/>
              <a:gd name="connsiteY4617" fmla="*/ 636642 h 2787466"/>
              <a:gd name="connsiteX4618" fmla="*/ 3236720 w 3600000"/>
              <a:gd name="connsiteY4618" fmla="*/ 625637 h 2787466"/>
              <a:gd name="connsiteX4619" fmla="*/ 3227652 w 3600000"/>
              <a:gd name="connsiteY4619" fmla="*/ 646547 h 2787466"/>
              <a:gd name="connsiteX4620" fmla="*/ 3226416 w 3600000"/>
              <a:gd name="connsiteY4620" fmla="*/ 671389 h 2787466"/>
              <a:gd name="connsiteX4621" fmla="*/ 3256296 w 3600000"/>
              <a:gd name="connsiteY4621" fmla="*/ 653465 h 2787466"/>
              <a:gd name="connsiteX4622" fmla="*/ 3255060 w 3600000"/>
              <a:gd name="connsiteY4622" fmla="*/ 645604 h 2787466"/>
              <a:gd name="connsiteX4623" fmla="*/ 3247229 w 3600000"/>
              <a:gd name="connsiteY4623" fmla="*/ 645604 h 2787466"/>
              <a:gd name="connsiteX4624" fmla="*/ 3242077 w 3600000"/>
              <a:gd name="connsiteY4624" fmla="*/ 630668 h 2787466"/>
              <a:gd name="connsiteX4625" fmla="*/ 3251144 w 3600000"/>
              <a:gd name="connsiteY4625" fmla="*/ 635699 h 2787466"/>
              <a:gd name="connsiteX4626" fmla="*/ 3255060 w 3600000"/>
              <a:gd name="connsiteY4626" fmla="*/ 629724 h 2787466"/>
              <a:gd name="connsiteX4627" fmla="*/ 3249908 w 3600000"/>
              <a:gd name="connsiteY4627" fmla="*/ 623750 h 2787466"/>
              <a:gd name="connsiteX4628" fmla="*/ 3260211 w 3600000"/>
              <a:gd name="connsiteY4628" fmla="*/ 613844 h 2787466"/>
              <a:gd name="connsiteX4629" fmla="*/ 3265569 w 3600000"/>
              <a:gd name="connsiteY4629" fmla="*/ 625637 h 2787466"/>
              <a:gd name="connsiteX4630" fmla="*/ 3270721 w 3600000"/>
              <a:gd name="connsiteY4630" fmla="*/ 618718 h 2787466"/>
              <a:gd name="connsiteX4631" fmla="*/ 3262890 w 3600000"/>
              <a:gd name="connsiteY4631" fmla="*/ 610857 h 2787466"/>
              <a:gd name="connsiteX4632" fmla="*/ 3256296 w 3600000"/>
              <a:gd name="connsiteY4632" fmla="*/ 612744 h 2787466"/>
              <a:gd name="connsiteX4633" fmla="*/ 3266805 w 3600000"/>
              <a:gd name="connsiteY4633" fmla="*/ 589946 h 2787466"/>
              <a:gd name="connsiteX4634" fmla="*/ 3269278 w 3600000"/>
              <a:gd name="connsiteY4634" fmla="*/ 544194 h 2787466"/>
              <a:gd name="connsiteX4635" fmla="*/ 3282467 w 3600000"/>
              <a:gd name="connsiteY4635" fmla="*/ 551269 h 2787466"/>
              <a:gd name="connsiteX4636" fmla="*/ 3273194 w 3600000"/>
              <a:gd name="connsiteY4636" fmla="*/ 574067 h 2787466"/>
              <a:gd name="connsiteX4637" fmla="*/ 3265569 w 3600000"/>
              <a:gd name="connsiteY4637" fmla="*/ 586959 h 2787466"/>
              <a:gd name="connsiteX4638" fmla="*/ 3278551 w 3600000"/>
              <a:gd name="connsiteY4638" fmla="*/ 580985 h 2787466"/>
              <a:gd name="connsiteX4639" fmla="*/ 3274636 w 3600000"/>
              <a:gd name="connsiteY4639" fmla="*/ 566049 h 2787466"/>
              <a:gd name="connsiteX4640" fmla="*/ 3287618 w 3600000"/>
              <a:gd name="connsiteY4640" fmla="*/ 547182 h 2787466"/>
              <a:gd name="connsiteX4641" fmla="*/ 3295449 w 3600000"/>
              <a:gd name="connsiteY4641" fmla="*/ 551269 h 2787466"/>
              <a:gd name="connsiteX4642" fmla="*/ 3301836 w 3600000"/>
              <a:gd name="connsiteY4642" fmla="*/ 547182 h 2787466"/>
              <a:gd name="connsiteX4643" fmla="*/ 3295449 w 3600000"/>
              <a:gd name="connsiteY4643" fmla="*/ 538219 h 2787466"/>
              <a:gd name="connsiteX4644" fmla="*/ 3288854 w 3600000"/>
              <a:gd name="connsiteY4644" fmla="*/ 540264 h 2787466"/>
              <a:gd name="connsiteX4645" fmla="*/ 3299363 w 3600000"/>
              <a:gd name="connsiteY4645" fmla="*/ 525327 h 2787466"/>
              <a:gd name="connsiteX4646" fmla="*/ 3307194 w 3600000"/>
              <a:gd name="connsiteY4646" fmla="*/ 529415 h 2787466"/>
              <a:gd name="connsiteX4647" fmla="*/ 3299363 w 3600000"/>
              <a:gd name="connsiteY4647" fmla="*/ 516366 h 2787466"/>
              <a:gd name="connsiteX4648" fmla="*/ 3318940 w 3600000"/>
              <a:gd name="connsiteY4648" fmla="*/ 501587 h 2787466"/>
              <a:gd name="connsiteX4649" fmla="*/ 3328007 w 3600000"/>
              <a:gd name="connsiteY4649" fmla="*/ 484606 h 2787466"/>
              <a:gd name="connsiteX4650" fmla="*/ 3335837 w 3600000"/>
              <a:gd name="connsiteY4650" fmla="*/ 488694 h 2787466"/>
              <a:gd name="connsiteX4651" fmla="*/ 3337074 w 3600000"/>
              <a:gd name="connsiteY4651" fmla="*/ 478632 h 2787466"/>
              <a:gd name="connsiteX4652" fmla="*/ 3347377 w 3600000"/>
              <a:gd name="connsiteY4652" fmla="*/ 474701 h 2787466"/>
              <a:gd name="connsiteX4653" fmla="*/ 3350055 w 3600000"/>
              <a:gd name="connsiteY4653" fmla="*/ 466682 h 2787466"/>
              <a:gd name="connsiteX4654" fmla="*/ 3342225 w 3600000"/>
              <a:gd name="connsiteY4654" fmla="*/ 472657 h 2787466"/>
              <a:gd name="connsiteX4655" fmla="*/ 3334395 w 3600000"/>
              <a:gd name="connsiteY4655" fmla="*/ 466682 h 2787466"/>
              <a:gd name="connsiteX4656" fmla="*/ 3335837 w 3600000"/>
              <a:gd name="connsiteY4656" fmla="*/ 458821 h 2787466"/>
              <a:gd name="connsiteX4657" fmla="*/ 3348819 w 3600000"/>
              <a:gd name="connsiteY4657" fmla="*/ 453790 h 2787466"/>
              <a:gd name="connsiteX4658" fmla="*/ 3346140 w 3600000"/>
              <a:gd name="connsiteY4658" fmla="*/ 464796 h 2787466"/>
              <a:gd name="connsiteX4659" fmla="*/ 3363038 w 3600000"/>
              <a:gd name="connsiteY4659" fmla="*/ 457878 h 2787466"/>
              <a:gd name="connsiteX4660" fmla="*/ 3365716 w 3600000"/>
              <a:gd name="connsiteY4660" fmla="*/ 441999 h 2787466"/>
              <a:gd name="connsiteX4661" fmla="*/ 3373547 w 3600000"/>
              <a:gd name="connsiteY4661" fmla="*/ 449860 h 2787466"/>
              <a:gd name="connsiteX4662" fmla="*/ 3366953 w 3600000"/>
              <a:gd name="connsiteY4662" fmla="*/ 463853 h 2787466"/>
              <a:gd name="connsiteX4663" fmla="*/ 3370867 w 3600000"/>
              <a:gd name="connsiteY4663" fmla="*/ 464796 h 2787466"/>
              <a:gd name="connsiteX4664" fmla="*/ 3373547 w 3600000"/>
              <a:gd name="connsiteY4664" fmla="*/ 485707 h 2787466"/>
              <a:gd name="connsiteX4665" fmla="*/ 3363038 w 3600000"/>
              <a:gd name="connsiteY4665" fmla="*/ 490581 h 2787466"/>
              <a:gd name="connsiteX4666" fmla="*/ 3359328 w 3600000"/>
              <a:gd name="connsiteY4666" fmla="*/ 506460 h 2787466"/>
              <a:gd name="connsiteX4667" fmla="*/ 3361801 w 3600000"/>
              <a:gd name="connsiteY4667" fmla="*/ 498599 h 2787466"/>
              <a:gd name="connsiteX4668" fmla="*/ 3347377 w 3600000"/>
              <a:gd name="connsiteY4668" fmla="*/ 493568 h 2787466"/>
              <a:gd name="connsiteX4669" fmla="*/ 3353971 w 3600000"/>
              <a:gd name="connsiteY4669" fmla="*/ 499542 h 2787466"/>
              <a:gd name="connsiteX4670" fmla="*/ 3351498 w 3600000"/>
              <a:gd name="connsiteY4670" fmla="*/ 510391 h 2787466"/>
              <a:gd name="connsiteX4671" fmla="*/ 3340989 w 3600000"/>
              <a:gd name="connsiteY4671" fmla="*/ 512435 h 2787466"/>
              <a:gd name="connsiteX4672" fmla="*/ 3348819 w 3600000"/>
              <a:gd name="connsiteY4672" fmla="*/ 525327 h 2787466"/>
              <a:gd name="connsiteX4673" fmla="*/ 3361801 w 3600000"/>
              <a:gd name="connsiteY4673" fmla="*/ 529415 h 2787466"/>
              <a:gd name="connsiteX4674" fmla="*/ 3353971 w 3600000"/>
              <a:gd name="connsiteY4674" fmla="*/ 550169 h 2787466"/>
              <a:gd name="connsiteX4675" fmla="*/ 3348819 w 3600000"/>
              <a:gd name="connsiteY4675" fmla="*/ 545295 h 2787466"/>
              <a:gd name="connsiteX4676" fmla="*/ 3346140 w 3600000"/>
              <a:gd name="connsiteY4676" fmla="*/ 560231 h 2787466"/>
              <a:gd name="connsiteX4677" fmla="*/ 3335837 w 3600000"/>
              <a:gd name="connsiteY4677" fmla="*/ 577054 h 2787466"/>
              <a:gd name="connsiteX4678" fmla="*/ 3318940 w 3600000"/>
              <a:gd name="connsiteY4678" fmla="*/ 580985 h 2787466"/>
              <a:gd name="connsiteX4679" fmla="*/ 3329243 w 3600000"/>
              <a:gd name="connsiteY4679" fmla="*/ 591991 h 2787466"/>
              <a:gd name="connsiteX4680" fmla="*/ 3324091 w 3600000"/>
              <a:gd name="connsiteY4680" fmla="*/ 598908 h 2787466"/>
              <a:gd name="connsiteX4681" fmla="*/ 3317498 w 3600000"/>
              <a:gd name="connsiteY4681" fmla="*/ 596865 h 2787466"/>
              <a:gd name="connsiteX4682" fmla="*/ 3320176 w 3600000"/>
              <a:gd name="connsiteY4682" fmla="*/ 603940 h 2787466"/>
              <a:gd name="connsiteX4683" fmla="*/ 3307194 w 3600000"/>
              <a:gd name="connsiteY4683" fmla="*/ 604883 h 2787466"/>
              <a:gd name="connsiteX4684" fmla="*/ 3309667 w 3600000"/>
              <a:gd name="connsiteY4684" fmla="*/ 620762 h 2787466"/>
              <a:gd name="connsiteX4685" fmla="*/ 3321413 w 3600000"/>
              <a:gd name="connsiteY4685" fmla="*/ 607870 h 2787466"/>
              <a:gd name="connsiteX4686" fmla="*/ 3313582 w 3600000"/>
              <a:gd name="connsiteY4686" fmla="*/ 633655 h 2787466"/>
              <a:gd name="connsiteX4687" fmla="*/ 3331922 w 3600000"/>
              <a:gd name="connsiteY4687" fmla="*/ 602839 h 2787466"/>
              <a:gd name="connsiteX4688" fmla="*/ 3324091 w 3600000"/>
              <a:gd name="connsiteY4688" fmla="*/ 603940 h 2787466"/>
              <a:gd name="connsiteX4689" fmla="*/ 3334395 w 3600000"/>
              <a:gd name="connsiteY4689" fmla="*/ 596865 h 2787466"/>
              <a:gd name="connsiteX4690" fmla="*/ 3344904 w 3600000"/>
              <a:gd name="connsiteY4690" fmla="*/ 600952 h 2787466"/>
              <a:gd name="connsiteX4691" fmla="*/ 3331922 w 3600000"/>
              <a:gd name="connsiteY4691" fmla="*/ 632712 h 2787466"/>
              <a:gd name="connsiteX4692" fmla="*/ 3329243 w 3600000"/>
              <a:gd name="connsiteY4692" fmla="*/ 638686 h 2787466"/>
              <a:gd name="connsiteX4693" fmla="*/ 3316261 w 3600000"/>
              <a:gd name="connsiteY4693" fmla="*/ 637586 h 2787466"/>
              <a:gd name="connsiteX4694" fmla="*/ 3313582 w 3600000"/>
              <a:gd name="connsiteY4694" fmla="*/ 647648 h 2787466"/>
              <a:gd name="connsiteX4695" fmla="*/ 3324091 w 3600000"/>
              <a:gd name="connsiteY4695" fmla="*/ 643560 h 2787466"/>
              <a:gd name="connsiteX4696" fmla="*/ 3318940 w 3600000"/>
              <a:gd name="connsiteY4696" fmla="*/ 650635 h 2787466"/>
              <a:gd name="connsiteX4697" fmla="*/ 3328007 w 3600000"/>
              <a:gd name="connsiteY4697" fmla="*/ 660540 h 2787466"/>
              <a:gd name="connsiteX4698" fmla="*/ 3338310 w 3600000"/>
              <a:gd name="connsiteY4698" fmla="*/ 660540 h 2787466"/>
              <a:gd name="connsiteX4699" fmla="*/ 3343667 w 3600000"/>
              <a:gd name="connsiteY4699" fmla="*/ 670445 h 2787466"/>
              <a:gd name="connsiteX4700" fmla="*/ 3328007 w 3600000"/>
              <a:gd name="connsiteY4700" fmla="*/ 668402 h 2787466"/>
              <a:gd name="connsiteX4701" fmla="*/ 3325327 w 3600000"/>
              <a:gd name="connsiteY4701" fmla="*/ 685381 h 2787466"/>
              <a:gd name="connsiteX4702" fmla="*/ 3318940 w 3600000"/>
              <a:gd name="connsiteY4702" fmla="*/ 680350 h 2787466"/>
              <a:gd name="connsiteX4703" fmla="*/ 3307194 w 3600000"/>
              <a:gd name="connsiteY4703" fmla="*/ 686325 h 2787466"/>
              <a:gd name="connsiteX4704" fmla="*/ 3297922 w 3600000"/>
              <a:gd name="connsiteY4704" fmla="*/ 697173 h 2787466"/>
              <a:gd name="connsiteX4705" fmla="*/ 3308431 w 3600000"/>
              <a:gd name="connsiteY4705" fmla="*/ 708179 h 2787466"/>
              <a:gd name="connsiteX4706" fmla="*/ 3291534 w 3600000"/>
              <a:gd name="connsiteY4706" fmla="*/ 711166 h 2787466"/>
              <a:gd name="connsiteX4707" fmla="*/ 3295449 w 3600000"/>
              <a:gd name="connsiteY4707" fmla="*/ 727989 h 2787466"/>
              <a:gd name="connsiteX4708" fmla="*/ 3286382 w 3600000"/>
              <a:gd name="connsiteY4708" fmla="*/ 733964 h 2787466"/>
              <a:gd name="connsiteX4709" fmla="*/ 3316261 w 3600000"/>
              <a:gd name="connsiteY4709" fmla="*/ 714154 h 2787466"/>
              <a:gd name="connsiteX4710" fmla="*/ 3301836 w 3600000"/>
              <a:gd name="connsiteY4710" fmla="*/ 733021 h 2787466"/>
              <a:gd name="connsiteX4711" fmla="*/ 3333158 w 3600000"/>
              <a:gd name="connsiteY4711" fmla="*/ 742926 h 2787466"/>
              <a:gd name="connsiteX4712" fmla="*/ 3321413 w 3600000"/>
              <a:gd name="connsiteY4712" fmla="*/ 775786 h 2787466"/>
              <a:gd name="connsiteX4713" fmla="*/ 3315024 w 3600000"/>
              <a:gd name="connsiteY4713" fmla="*/ 760849 h 2787466"/>
              <a:gd name="connsiteX4714" fmla="*/ 3297484 w 3600000"/>
              <a:gd name="connsiteY4714" fmla="*/ 776631 h 2787466"/>
              <a:gd name="connsiteX4715" fmla="*/ 3295419 w 3600000"/>
              <a:gd name="connsiteY4715" fmla="*/ 780715 h 2787466"/>
              <a:gd name="connsiteX4716" fmla="*/ 3317330 w 3600000"/>
              <a:gd name="connsiteY4716" fmla="*/ 793803 h 2787466"/>
              <a:gd name="connsiteX4717" fmla="*/ 3329887 w 3600000"/>
              <a:gd name="connsiteY4717" fmla="*/ 803910 h 2787466"/>
              <a:gd name="connsiteX4718" fmla="*/ 3339752 w 3600000"/>
              <a:gd name="connsiteY4718" fmla="*/ 793709 h 2787466"/>
              <a:gd name="connsiteX4719" fmla="*/ 3344904 w 3600000"/>
              <a:gd name="connsiteY4719" fmla="*/ 787735 h 2787466"/>
              <a:gd name="connsiteX4720" fmla="*/ 3360565 w 3600000"/>
              <a:gd name="connsiteY4720" fmla="*/ 759906 h 2787466"/>
              <a:gd name="connsiteX4721" fmla="*/ 3365227 w 3600000"/>
              <a:gd name="connsiteY4721" fmla="*/ 747328 h 2787466"/>
              <a:gd name="connsiteX4722" fmla="*/ 3368169 w 3600000"/>
              <a:gd name="connsiteY4722" fmla="*/ 745402 h 2787466"/>
              <a:gd name="connsiteX4723" fmla="*/ 3369753 w 3600000"/>
              <a:gd name="connsiteY4723" fmla="*/ 734168 h 2787466"/>
              <a:gd name="connsiteX4724" fmla="*/ 3372133 w 3600000"/>
              <a:gd name="connsiteY4724" fmla="*/ 742808 h 2787466"/>
              <a:gd name="connsiteX4725" fmla="*/ 3372764 w 3600000"/>
              <a:gd name="connsiteY4725" fmla="*/ 742395 h 2787466"/>
              <a:gd name="connsiteX4726" fmla="*/ 3378698 w 3600000"/>
              <a:gd name="connsiteY4726" fmla="*/ 739938 h 2787466"/>
              <a:gd name="connsiteX4727" fmla="*/ 3378698 w 3600000"/>
              <a:gd name="connsiteY4727" fmla="*/ 745913 h 2787466"/>
              <a:gd name="connsiteX4728" fmla="*/ 3382614 w 3600000"/>
              <a:gd name="connsiteY4728" fmla="*/ 735064 h 2787466"/>
              <a:gd name="connsiteX4729" fmla="*/ 3377462 w 3600000"/>
              <a:gd name="connsiteY4729" fmla="*/ 733964 h 2787466"/>
              <a:gd name="connsiteX4730" fmla="*/ 3381378 w 3600000"/>
              <a:gd name="connsiteY4730" fmla="*/ 717141 h 2787466"/>
              <a:gd name="connsiteX4731" fmla="*/ 3385293 w 3600000"/>
              <a:gd name="connsiteY4731" fmla="*/ 742926 h 2787466"/>
              <a:gd name="connsiteX4732" fmla="*/ 3382614 w 3600000"/>
              <a:gd name="connsiteY4732" fmla="*/ 765880 h 2787466"/>
              <a:gd name="connsiteX4733" fmla="*/ 3370867 w 3600000"/>
              <a:gd name="connsiteY4733" fmla="*/ 771698 h 2787466"/>
              <a:gd name="connsiteX4734" fmla="*/ 3370211 w 3600000"/>
              <a:gd name="connsiteY4734" fmla="*/ 768675 h 2787466"/>
              <a:gd name="connsiteX4735" fmla="*/ 3365920 w 3600000"/>
              <a:gd name="connsiteY4735" fmla="*/ 768675 h 2787466"/>
              <a:gd name="connsiteX4736" fmla="*/ 3359663 w 3600000"/>
              <a:gd name="connsiteY4736" fmla="*/ 785612 h 2787466"/>
              <a:gd name="connsiteX4737" fmla="*/ 3363038 w 3600000"/>
              <a:gd name="connsiteY4737" fmla="*/ 801570 h 2787466"/>
              <a:gd name="connsiteX4738" fmla="*/ 3347377 w 3600000"/>
              <a:gd name="connsiteY4738" fmla="*/ 802514 h 2787466"/>
              <a:gd name="connsiteX4739" fmla="*/ 3345702 w 3600000"/>
              <a:gd name="connsiteY4739" fmla="*/ 814974 h 2787466"/>
              <a:gd name="connsiteX4740" fmla="*/ 3343814 w 3600000"/>
              <a:gd name="connsiteY4740" fmla="*/ 816797 h 2787466"/>
              <a:gd name="connsiteX4741" fmla="*/ 3356475 w 3600000"/>
              <a:gd name="connsiteY4741" fmla="*/ 835463 h 2787466"/>
              <a:gd name="connsiteX4742" fmla="*/ 3336062 w 3600000"/>
              <a:gd name="connsiteY4742" fmla="*/ 854947 h 2787466"/>
              <a:gd name="connsiteX4743" fmla="*/ 3315432 w 3600000"/>
              <a:gd name="connsiteY4743" fmla="*/ 866517 h 2787466"/>
              <a:gd name="connsiteX4744" fmla="*/ 3313582 w 3600000"/>
              <a:gd name="connsiteY4744" fmla="*/ 870121 h 2787466"/>
              <a:gd name="connsiteX4745" fmla="*/ 3301836 w 3600000"/>
              <a:gd name="connsiteY4745" fmla="*/ 873107 h 2787466"/>
              <a:gd name="connsiteX4746" fmla="*/ 3301836 w 3600000"/>
              <a:gd name="connsiteY4746" fmla="*/ 888043 h 2787466"/>
              <a:gd name="connsiteX4747" fmla="*/ 3295577 w 3600000"/>
              <a:gd name="connsiteY4747" fmla="*/ 882836 h 2787466"/>
              <a:gd name="connsiteX4748" fmla="*/ 3290477 w 3600000"/>
              <a:gd name="connsiteY4748" fmla="*/ 876570 h 2787466"/>
              <a:gd name="connsiteX4749" fmla="*/ 3289251 w 3600000"/>
              <a:gd name="connsiteY4749" fmla="*/ 877008 h 2787466"/>
              <a:gd name="connsiteX4750" fmla="*/ 3285969 w 3600000"/>
              <a:gd name="connsiteY4750" fmla="*/ 880576 h 2787466"/>
              <a:gd name="connsiteX4751" fmla="*/ 3283703 w 3600000"/>
              <a:gd name="connsiteY4751" fmla="*/ 885057 h 2787466"/>
              <a:gd name="connsiteX4752" fmla="*/ 3282467 w 3600000"/>
              <a:gd name="connsiteY4752" fmla="*/ 895905 h 2787466"/>
              <a:gd name="connsiteX4753" fmla="*/ 3287618 w 3600000"/>
              <a:gd name="connsiteY4753" fmla="*/ 903923 h 2787466"/>
              <a:gd name="connsiteX4754" fmla="*/ 3291534 w 3600000"/>
              <a:gd name="connsiteY4754" fmla="*/ 904867 h 2787466"/>
              <a:gd name="connsiteX4755" fmla="*/ 3278551 w 3600000"/>
              <a:gd name="connsiteY4755" fmla="*/ 903923 h 2787466"/>
              <a:gd name="connsiteX4756" fmla="*/ 3274636 w 3600000"/>
              <a:gd name="connsiteY4756" fmla="*/ 925777 h 2787466"/>
              <a:gd name="connsiteX4757" fmla="*/ 3268041 w 3600000"/>
              <a:gd name="connsiteY4757" fmla="*/ 919803 h 2787466"/>
              <a:gd name="connsiteX4758" fmla="*/ 3268041 w 3600000"/>
              <a:gd name="connsiteY4758" fmla="*/ 944645 h 2787466"/>
              <a:gd name="connsiteX4759" fmla="*/ 3256296 w 3600000"/>
              <a:gd name="connsiteY4759" fmla="*/ 942600 h 2787466"/>
              <a:gd name="connsiteX4760" fmla="*/ 3255060 w 3600000"/>
              <a:gd name="connsiteY4760" fmla="*/ 926720 h 2787466"/>
              <a:gd name="connsiteX4761" fmla="*/ 3249908 w 3600000"/>
              <a:gd name="connsiteY4761" fmla="*/ 954550 h 2787466"/>
              <a:gd name="connsiteX4762" fmla="*/ 3240635 w 3600000"/>
              <a:gd name="connsiteY4762" fmla="*/ 956593 h 2787466"/>
              <a:gd name="connsiteX4763" fmla="*/ 3243314 w 3600000"/>
              <a:gd name="connsiteY4763" fmla="*/ 967442 h 2787466"/>
              <a:gd name="connsiteX4764" fmla="*/ 3253823 w 3600000"/>
              <a:gd name="connsiteY4764" fmla="*/ 959581 h 2787466"/>
              <a:gd name="connsiteX4765" fmla="*/ 3242077 w 3600000"/>
              <a:gd name="connsiteY4765" fmla="*/ 975461 h 2787466"/>
              <a:gd name="connsiteX4766" fmla="*/ 3281024 w 3600000"/>
              <a:gd name="connsiteY4766" fmla="*/ 930651 h 2787466"/>
              <a:gd name="connsiteX4767" fmla="*/ 3255060 w 3600000"/>
              <a:gd name="connsiteY4767" fmla="*/ 977504 h 2787466"/>
              <a:gd name="connsiteX4768" fmla="*/ 3254174 w 3600000"/>
              <a:gd name="connsiteY4768" fmla="*/ 980515 h 2787466"/>
              <a:gd name="connsiteX4769" fmla="*/ 3257393 w 3600000"/>
              <a:gd name="connsiteY4769" fmla="*/ 983316 h 2787466"/>
              <a:gd name="connsiteX4770" fmla="*/ 3249239 w 3600000"/>
              <a:gd name="connsiteY4770" fmla="*/ 1001611 h 2787466"/>
              <a:gd name="connsiteX4771" fmla="*/ 3248273 w 3600000"/>
              <a:gd name="connsiteY4771" fmla="*/ 990597 h 2787466"/>
              <a:gd name="connsiteX4772" fmla="*/ 3252115 w 3600000"/>
              <a:gd name="connsiteY4772" fmla="*/ 985257 h 2787466"/>
              <a:gd name="connsiteX4773" fmla="*/ 3247229 w 3600000"/>
              <a:gd name="connsiteY4773" fmla="*/ 990397 h 2787466"/>
              <a:gd name="connsiteX4774" fmla="*/ 3244550 w 3600000"/>
              <a:gd name="connsiteY4774" fmla="*/ 985366 h 2787466"/>
              <a:gd name="connsiteX4775" fmla="*/ 3218585 w 3600000"/>
              <a:gd name="connsiteY4775" fmla="*/ 1008163 h 2787466"/>
              <a:gd name="connsiteX4776" fmla="*/ 3214670 w 3600000"/>
              <a:gd name="connsiteY4776" fmla="*/ 1003289 h 2787466"/>
              <a:gd name="connsiteX4777" fmla="*/ 3206840 w 3600000"/>
              <a:gd name="connsiteY4777" fmla="*/ 1015238 h 2787466"/>
              <a:gd name="connsiteX4778" fmla="*/ 3218585 w 3600000"/>
              <a:gd name="connsiteY4778" fmla="*/ 1008163 h 2787466"/>
              <a:gd name="connsiteX4779" fmla="*/ 3215907 w 3600000"/>
              <a:gd name="connsiteY4779" fmla="*/ 1034105 h 2787466"/>
              <a:gd name="connsiteX4780" fmla="*/ 3200246 w 3600000"/>
              <a:gd name="connsiteY4780" fmla="*/ 1049041 h 2787466"/>
              <a:gd name="connsiteX4781" fmla="*/ 3163978 w 3600000"/>
              <a:gd name="connsiteY4781" fmla="*/ 1088662 h 2787466"/>
              <a:gd name="connsiteX4782" fmla="*/ 3161300 w 3600000"/>
              <a:gd name="connsiteY4782" fmla="*/ 1082687 h 2787466"/>
              <a:gd name="connsiteX4783" fmla="*/ 3156148 w 3600000"/>
              <a:gd name="connsiteY4783" fmla="*/ 1086775 h 2787466"/>
              <a:gd name="connsiteX4784" fmla="*/ 3150790 w 3600000"/>
              <a:gd name="connsiteY4784" fmla="*/ 1099668 h 2787466"/>
              <a:gd name="connsiteX4785" fmla="*/ 3145639 w 3600000"/>
              <a:gd name="connsiteY4785" fmla="*/ 1096680 h 2787466"/>
              <a:gd name="connsiteX4786" fmla="*/ 3145639 w 3600000"/>
              <a:gd name="connsiteY4786" fmla="*/ 1104541 h 2787466"/>
              <a:gd name="connsiteX4787" fmla="*/ 3139045 w 3600000"/>
              <a:gd name="connsiteY4787" fmla="*/ 1102655 h 2787466"/>
              <a:gd name="connsiteX4788" fmla="*/ 3140488 w 3600000"/>
              <a:gd name="connsiteY4788" fmla="*/ 1109572 h 2787466"/>
              <a:gd name="connsiteX4789" fmla="*/ 3137437 w 3600000"/>
              <a:gd name="connsiteY4789" fmla="*/ 1112213 h 2787466"/>
              <a:gd name="connsiteX4790" fmla="*/ 3135833 w 3600000"/>
              <a:gd name="connsiteY4790" fmla="*/ 1118878 h 2787466"/>
              <a:gd name="connsiteX4791" fmla="*/ 3135198 w 3600000"/>
              <a:gd name="connsiteY4791" fmla="*/ 1131486 h 2787466"/>
              <a:gd name="connsiteX4792" fmla="*/ 3122013 w 3600000"/>
              <a:gd name="connsiteY4792" fmla="*/ 1133530 h 2787466"/>
              <a:gd name="connsiteX4793" fmla="*/ 3122013 w 3600000"/>
              <a:gd name="connsiteY4793" fmla="*/ 1157269 h 2787466"/>
              <a:gd name="connsiteX4794" fmla="*/ 3105119 w 3600000"/>
              <a:gd name="connsiteY4794" fmla="*/ 1179121 h 2787466"/>
              <a:gd name="connsiteX4795" fmla="*/ 3072565 w 3600000"/>
              <a:gd name="connsiteY4795" fmla="*/ 1218894 h 2787466"/>
              <a:gd name="connsiteX4796" fmla="*/ 3043927 w 3600000"/>
              <a:gd name="connsiteY4796" fmla="*/ 1235715 h 2787466"/>
              <a:gd name="connsiteX4797" fmla="*/ 3033756 w 3600000"/>
              <a:gd name="connsiteY4797" fmla="*/ 1244025 h 2787466"/>
              <a:gd name="connsiteX4798" fmla="*/ 3034043 w 3600000"/>
              <a:gd name="connsiteY4798" fmla="*/ 1244228 h 2787466"/>
              <a:gd name="connsiteX4799" fmla="*/ 3032664 w 3600000"/>
              <a:gd name="connsiteY4799" fmla="*/ 1251192 h 2787466"/>
              <a:gd name="connsiteX4800" fmla="*/ 3029179 w 3600000"/>
              <a:gd name="connsiteY4800" fmla="*/ 1247765 h 2787466"/>
              <a:gd name="connsiteX4801" fmla="*/ 3023637 w 3600000"/>
              <a:gd name="connsiteY4801" fmla="*/ 1252293 h 2787466"/>
              <a:gd name="connsiteX4802" fmla="*/ 3024093 w 3600000"/>
              <a:gd name="connsiteY4802" fmla="*/ 1256038 h 2787466"/>
              <a:gd name="connsiteX4803" fmla="*/ 3023709 w 3600000"/>
              <a:gd name="connsiteY4803" fmla="*/ 1260705 h 2787466"/>
              <a:gd name="connsiteX4804" fmla="*/ 3017208 w 3600000"/>
              <a:gd name="connsiteY4804" fmla="*/ 1256993 h 2787466"/>
              <a:gd name="connsiteX4805" fmla="*/ 2995432 w 3600000"/>
              <a:gd name="connsiteY4805" fmla="*/ 1271284 h 2787466"/>
              <a:gd name="connsiteX4806" fmla="*/ 2968520 w 3600000"/>
              <a:gd name="connsiteY4806" fmla="*/ 1280520 h 2787466"/>
              <a:gd name="connsiteX4807" fmla="*/ 2942354 w 3600000"/>
              <a:gd name="connsiteY4807" fmla="*/ 1294354 h 2787466"/>
              <a:gd name="connsiteX4808" fmla="*/ 2916394 w 3600000"/>
              <a:gd name="connsiteY4808" fmla="*/ 1306302 h 2787466"/>
              <a:gd name="connsiteX4809" fmla="*/ 2890434 w 3600000"/>
              <a:gd name="connsiteY4809" fmla="*/ 1318250 h 2787466"/>
              <a:gd name="connsiteX4810" fmla="*/ 2864268 w 3600000"/>
              <a:gd name="connsiteY4810" fmla="*/ 1329097 h 2787466"/>
              <a:gd name="connsiteX4811" fmla="*/ 2848611 w 3600000"/>
              <a:gd name="connsiteY4811" fmla="*/ 1337901 h 2787466"/>
              <a:gd name="connsiteX4812" fmla="*/ 2835630 w 3600000"/>
              <a:gd name="connsiteY4812" fmla="*/ 1348905 h 2787466"/>
              <a:gd name="connsiteX4813" fmla="*/ 2806992 w 3600000"/>
              <a:gd name="connsiteY4813" fmla="*/ 1370757 h 2787466"/>
              <a:gd name="connsiteX4814" fmla="*/ 2775675 w 3600000"/>
              <a:gd name="connsiteY4814" fmla="*/ 1374687 h 2787466"/>
              <a:gd name="connsiteX4815" fmla="*/ 2758781 w 3600000"/>
              <a:gd name="connsiteY4815" fmla="*/ 1382705 h 2787466"/>
              <a:gd name="connsiteX4816" fmla="*/ 2741255 w 3600000"/>
              <a:gd name="connsiteY4816" fmla="*/ 1377198 h 2787466"/>
              <a:gd name="connsiteX4817" fmla="*/ 2726680 w 3600000"/>
              <a:gd name="connsiteY4817" fmla="*/ 1366292 h 2787466"/>
              <a:gd name="connsiteX4818" fmla="*/ 2726484 w 3600000"/>
              <a:gd name="connsiteY4818" fmla="*/ 1366338 h 2787466"/>
              <a:gd name="connsiteX4819" fmla="*/ 2722420 w 3600000"/>
              <a:gd name="connsiteY4819" fmla="*/ 1364739 h 2787466"/>
              <a:gd name="connsiteX4820" fmla="*/ 2723847 w 3600000"/>
              <a:gd name="connsiteY4820" fmla="*/ 1364377 h 2787466"/>
              <a:gd name="connsiteX4821" fmla="*/ 2713594 w 3600000"/>
              <a:gd name="connsiteY4821" fmla="*/ 1357862 h 2787466"/>
              <a:gd name="connsiteX4822" fmla="*/ 2701980 w 3600000"/>
              <a:gd name="connsiteY4822" fmla="*/ 1357889 h 2787466"/>
              <a:gd name="connsiteX4823" fmla="*/ 2689822 w 3600000"/>
              <a:gd name="connsiteY4823" fmla="*/ 1367735 h 2787466"/>
              <a:gd name="connsiteX4824" fmla="*/ 2672924 w 3600000"/>
              <a:gd name="connsiteY4824" fmla="*/ 1370722 h 2787466"/>
              <a:gd name="connsiteX4825" fmla="*/ 2680662 w 3600000"/>
              <a:gd name="connsiteY4825" fmla="*/ 1364973 h 2787466"/>
              <a:gd name="connsiteX4826" fmla="*/ 2679780 w 3600000"/>
              <a:gd name="connsiteY4826" fmla="*/ 1364071 h 2787466"/>
              <a:gd name="connsiteX4827" fmla="*/ 2675129 w 3600000"/>
              <a:gd name="connsiteY4827" fmla="*/ 1364370 h 2787466"/>
              <a:gd name="connsiteX4828" fmla="*/ 2670065 w 3600000"/>
              <a:gd name="connsiteY4828" fmla="*/ 1365022 h 2787466"/>
              <a:gd name="connsiteX4829" fmla="*/ 2662970 w 3600000"/>
              <a:gd name="connsiteY4829" fmla="*/ 1370455 h 2787466"/>
              <a:gd name="connsiteX4830" fmla="*/ 2660483 w 3600000"/>
              <a:gd name="connsiteY4830" fmla="*/ 1368953 h 2787466"/>
              <a:gd name="connsiteX4831" fmla="*/ 2662625 w 3600000"/>
              <a:gd name="connsiteY4831" fmla="*/ 1365173 h 2787466"/>
              <a:gd name="connsiteX4832" fmla="*/ 2658289 w 3600000"/>
              <a:gd name="connsiteY4832" fmla="*/ 1365452 h 2787466"/>
              <a:gd name="connsiteX4833" fmla="*/ 2654219 w 3600000"/>
              <a:gd name="connsiteY4833" fmla="*/ 1365010 h 2787466"/>
              <a:gd name="connsiteX4834" fmla="*/ 2648763 w 3600000"/>
              <a:gd name="connsiteY4834" fmla="*/ 1372058 h 2787466"/>
              <a:gd name="connsiteX4835" fmla="*/ 2626148 w 3600000"/>
              <a:gd name="connsiteY4835" fmla="*/ 1385658 h 2787466"/>
              <a:gd name="connsiteX4836" fmla="*/ 2616875 w 3600000"/>
              <a:gd name="connsiteY4836" fmla="*/ 1382671 h 2787466"/>
              <a:gd name="connsiteX4837" fmla="*/ 2586995 w 3600000"/>
              <a:gd name="connsiteY4837" fmla="*/ 1390532 h 2787466"/>
              <a:gd name="connsiteX4838" fmla="*/ 2590910 w 3600000"/>
              <a:gd name="connsiteY4838" fmla="*/ 1383614 h 2787466"/>
              <a:gd name="connsiteX4839" fmla="*/ 2574013 w 3600000"/>
              <a:gd name="connsiteY4839" fmla="*/ 1395563 h 2787466"/>
              <a:gd name="connsiteX4840" fmla="*/ 2561031 w 3600000"/>
              <a:gd name="connsiteY4840" fmla="*/ 1397607 h 2787466"/>
              <a:gd name="connsiteX4841" fmla="*/ 2550522 w 3600000"/>
              <a:gd name="connsiteY4841" fmla="*/ 1391633 h 2787466"/>
              <a:gd name="connsiteX4842" fmla="*/ 2541455 w 3600000"/>
              <a:gd name="connsiteY4842" fmla="*/ 1396507 h 2787466"/>
              <a:gd name="connsiteX4843" fmla="*/ 2550522 w 3600000"/>
              <a:gd name="connsiteY4843" fmla="*/ 1399494 h 2787466"/>
              <a:gd name="connsiteX4844" fmla="*/ 2534860 w 3600000"/>
              <a:gd name="connsiteY4844" fmla="*/ 1406412 h 2787466"/>
              <a:gd name="connsiteX4845" fmla="*/ 2529709 w 3600000"/>
              <a:gd name="connsiteY4845" fmla="*/ 1400438 h 2787466"/>
              <a:gd name="connsiteX4846" fmla="*/ 2516726 w 3600000"/>
              <a:gd name="connsiteY4846" fmla="*/ 1404525 h 2787466"/>
              <a:gd name="connsiteX4847" fmla="*/ 2516726 w 3600000"/>
              <a:gd name="connsiteY4847" fmla="*/ 1412387 h 2787466"/>
              <a:gd name="connsiteX4848" fmla="*/ 2538776 w 3600000"/>
              <a:gd name="connsiteY4848" fmla="*/ 1408456 h 2787466"/>
              <a:gd name="connsiteX4849" fmla="*/ 2537540 w 3600000"/>
              <a:gd name="connsiteY4849" fmla="*/ 1416317 h 2787466"/>
              <a:gd name="connsiteX4850" fmla="*/ 2528550 w 3600000"/>
              <a:gd name="connsiteY4850" fmla="*/ 1416828 h 2787466"/>
              <a:gd name="connsiteX4851" fmla="*/ 2520754 w 3600000"/>
              <a:gd name="connsiteY4851" fmla="*/ 1420354 h 2787466"/>
              <a:gd name="connsiteX4852" fmla="*/ 2538653 w 3600000"/>
              <a:gd name="connsiteY4852" fmla="*/ 1419102 h 2787466"/>
              <a:gd name="connsiteX4853" fmla="*/ 2540096 w 3600000"/>
              <a:gd name="connsiteY4853" fmla="*/ 1431051 h 2787466"/>
              <a:gd name="connsiteX4854" fmla="*/ 2546484 w 3600000"/>
              <a:gd name="connsiteY4854" fmla="*/ 1430107 h 2787466"/>
              <a:gd name="connsiteX4855" fmla="*/ 2541333 w 3600000"/>
              <a:gd name="connsiteY4855" fmla="*/ 1419102 h 2787466"/>
              <a:gd name="connsiteX4856" fmla="*/ 2549164 w 3600000"/>
              <a:gd name="connsiteY4856" fmla="*/ 1425076 h 2787466"/>
              <a:gd name="connsiteX4857" fmla="*/ 2567299 w 3600000"/>
              <a:gd name="connsiteY4857" fmla="*/ 1419102 h 2787466"/>
              <a:gd name="connsiteX4858" fmla="*/ 2588320 w 3600000"/>
              <a:gd name="connsiteY4858" fmla="*/ 1425076 h 2787466"/>
              <a:gd name="connsiteX4859" fmla="*/ 2571214 w 3600000"/>
              <a:gd name="connsiteY4859" fmla="*/ 1437025 h 2787466"/>
              <a:gd name="connsiteX4860" fmla="*/ 2542569 w 3600000"/>
              <a:gd name="connsiteY4860" fmla="*/ 1442057 h 2787466"/>
              <a:gd name="connsiteX4861" fmla="*/ 2554315 w 3600000"/>
              <a:gd name="connsiteY4861" fmla="*/ 1443000 h 2787466"/>
              <a:gd name="connsiteX4862" fmla="*/ 2575130 w 3600000"/>
              <a:gd name="connsiteY4862" fmla="*/ 1443000 h 2787466"/>
              <a:gd name="connsiteX4863" fmla="*/ 2579046 w 3600000"/>
              <a:gd name="connsiteY4863" fmla="*/ 1467841 h 2787466"/>
              <a:gd name="connsiteX4864" fmla="*/ 2566062 w 3600000"/>
              <a:gd name="connsiteY4864" fmla="*/ 1459980 h 2787466"/>
              <a:gd name="connsiteX4865" fmla="*/ 2554315 w 3600000"/>
              <a:gd name="connsiteY4865" fmla="*/ 1472871 h 2787466"/>
              <a:gd name="connsiteX4866" fmla="*/ 2546484 w 3600000"/>
              <a:gd name="connsiteY4866" fmla="*/ 1464854 h 2787466"/>
              <a:gd name="connsiteX4867" fmla="*/ 2529586 w 3600000"/>
              <a:gd name="connsiteY4867" fmla="*/ 1481833 h 2787466"/>
              <a:gd name="connsiteX4868" fmla="*/ 2536180 w 3600000"/>
              <a:gd name="connsiteY4868" fmla="*/ 1476802 h 2787466"/>
              <a:gd name="connsiteX4869" fmla="*/ 2526906 w 3600000"/>
              <a:gd name="connsiteY4869" fmla="*/ 1486707 h 2787466"/>
              <a:gd name="connsiteX4870" fmla="*/ 2521754 w 3600000"/>
              <a:gd name="connsiteY4870" fmla="*/ 1478846 h 2787466"/>
              <a:gd name="connsiteX4871" fmla="*/ 2506091 w 3600000"/>
              <a:gd name="connsiteY4871" fmla="*/ 1490637 h 2787466"/>
              <a:gd name="connsiteX4872" fmla="*/ 2516602 w 3600000"/>
              <a:gd name="connsiteY4872" fmla="*/ 1492682 h 2787466"/>
              <a:gd name="connsiteX4873" fmla="*/ 2506091 w 3600000"/>
              <a:gd name="connsiteY4873" fmla="*/ 1500700 h 2787466"/>
              <a:gd name="connsiteX4874" fmla="*/ 2509488 w 3600000"/>
              <a:gd name="connsiteY4874" fmla="*/ 1504427 h 2787466"/>
              <a:gd name="connsiteX4875" fmla="*/ 2515630 w 3600000"/>
              <a:gd name="connsiteY4875" fmla="*/ 1503011 h 2787466"/>
              <a:gd name="connsiteX4876" fmla="*/ 2515649 w 3600000"/>
              <a:gd name="connsiteY4876" fmla="*/ 1502953 h 2787466"/>
              <a:gd name="connsiteX4877" fmla="*/ 2516966 w 3600000"/>
              <a:gd name="connsiteY4877" fmla="*/ 1499796 h 2787466"/>
              <a:gd name="connsiteX4878" fmla="*/ 2524139 w 3600000"/>
              <a:gd name="connsiteY4878" fmla="*/ 1500709 h 2787466"/>
              <a:gd name="connsiteX4879" fmla="*/ 2524361 w 3600000"/>
              <a:gd name="connsiteY4879" fmla="*/ 1500715 h 2787466"/>
              <a:gd name="connsiteX4880" fmla="*/ 2534335 w 3600000"/>
              <a:gd name="connsiteY4880" fmla="*/ 1495268 h 2787466"/>
              <a:gd name="connsiteX4881" fmla="*/ 2534081 w 3600000"/>
              <a:gd name="connsiteY4881" fmla="*/ 1494644 h 2787466"/>
              <a:gd name="connsiteX4882" fmla="*/ 2530006 w 3600000"/>
              <a:gd name="connsiteY4882" fmla="*/ 1493683 h 2787466"/>
              <a:gd name="connsiteX4883" fmla="*/ 2540505 w 3600000"/>
              <a:gd name="connsiteY4883" fmla="*/ 1487775 h 2787466"/>
              <a:gd name="connsiteX4884" fmla="*/ 2541542 w 3600000"/>
              <a:gd name="connsiteY4884" fmla="*/ 1490618 h 2787466"/>
              <a:gd name="connsiteX4885" fmla="*/ 2550176 w 3600000"/>
              <a:gd name="connsiteY4885" fmla="*/ 1484227 h 2787466"/>
              <a:gd name="connsiteX4886" fmla="*/ 2549206 w 3600000"/>
              <a:gd name="connsiteY4886" fmla="*/ 1480725 h 2787466"/>
              <a:gd name="connsiteX4887" fmla="*/ 2540285 w 3600000"/>
              <a:gd name="connsiteY4887" fmla="*/ 1487565 h 2787466"/>
              <a:gd name="connsiteX4888" fmla="*/ 2538865 w 3600000"/>
              <a:gd name="connsiteY4888" fmla="*/ 1478859 h 2787466"/>
              <a:gd name="connsiteX4889" fmla="*/ 2551842 w 3600000"/>
              <a:gd name="connsiteY4889" fmla="*/ 1475906 h 2787466"/>
              <a:gd name="connsiteX4890" fmla="*/ 2554282 w 3600000"/>
              <a:gd name="connsiteY4890" fmla="*/ 1481090 h 2787466"/>
              <a:gd name="connsiteX4891" fmla="*/ 2562227 w 3600000"/>
              <a:gd name="connsiteY4891" fmla="*/ 1474986 h 2787466"/>
              <a:gd name="connsiteX4892" fmla="*/ 2575207 w 3600000"/>
              <a:gd name="connsiteY4892" fmla="*/ 1485048 h 2787466"/>
              <a:gd name="connsiteX4893" fmla="*/ 2567227 w 3600000"/>
              <a:gd name="connsiteY4893" fmla="*/ 1494949 h 2787466"/>
              <a:gd name="connsiteX4894" fmla="*/ 2563179 w 3600000"/>
              <a:gd name="connsiteY4894" fmla="*/ 1497483 h 2787466"/>
              <a:gd name="connsiteX4895" fmla="*/ 2563197 w 3600000"/>
              <a:gd name="connsiteY4895" fmla="*/ 1497515 h 2787466"/>
              <a:gd name="connsiteX4896" fmla="*/ 2563104 w 3600000"/>
              <a:gd name="connsiteY4896" fmla="*/ 1497530 h 2787466"/>
              <a:gd name="connsiteX4897" fmla="*/ 2556329 w 3600000"/>
              <a:gd name="connsiteY4897" fmla="*/ 1501771 h 2787466"/>
              <a:gd name="connsiteX4898" fmla="*/ 2545336 w 3600000"/>
              <a:gd name="connsiteY4898" fmla="*/ 1506606 h 2787466"/>
              <a:gd name="connsiteX4899" fmla="*/ 2544417 w 3600000"/>
              <a:gd name="connsiteY4899" fmla="*/ 1510472 h 2787466"/>
              <a:gd name="connsiteX4900" fmla="*/ 2541551 w 3600000"/>
              <a:gd name="connsiteY4900" fmla="*/ 1508271 h 2787466"/>
              <a:gd name="connsiteX4901" fmla="*/ 2533589 w 3600000"/>
              <a:gd name="connsiteY4901" fmla="*/ 1511773 h 2787466"/>
              <a:gd name="connsiteX4902" fmla="*/ 2514892 w 3600000"/>
              <a:gd name="connsiteY4902" fmla="*/ 1520990 h 2787466"/>
              <a:gd name="connsiteX4903" fmla="*/ 2510951 w 3600000"/>
              <a:gd name="connsiteY4903" fmla="*/ 1521793 h 2787466"/>
              <a:gd name="connsiteX4904" fmla="*/ 2511450 w 3600000"/>
              <a:gd name="connsiteY4904" fmla="*/ 1522554 h 2787466"/>
              <a:gd name="connsiteX4905" fmla="*/ 2522990 w 3600000"/>
              <a:gd name="connsiteY4905" fmla="*/ 1517523 h 2787466"/>
              <a:gd name="connsiteX4906" fmla="*/ 2533500 w 3600000"/>
              <a:gd name="connsiteY4906" fmla="*/ 1522554 h 2787466"/>
              <a:gd name="connsiteX4907" fmla="*/ 2530384 w 3600000"/>
              <a:gd name="connsiteY4907" fmla="*/ 1533009 h 2787466"/>
              <a:gd name="connsiteX4908" fmla="*/ 2529824 w 3600000"/>
              <a:gd name="connsiteY4908" fmla="*/ 1536143 h 2787466"/>
              <a:gd name="connsiteX4909" fmla="*/ 2534280 w 3600000"/>
              <a:gd name="connsiteY4909" fmla="*/ 1536573 h 2787466"/>
              <a:gd name="connsiteX4910" fmla="*/ 2536786 w 3600000"/>
              <a:gd name="connsiteY4910" fmla="*/ 1536271 h 2787466"/>
              <a:gd name="connsiteX4911" fmla="*/ 2536780 w 3600000"/>
              <a:gd name="connsiteY4911" fmla="*/ 1536267 h 2787466"/>
              <a:gd name="connsiteX4912" fmla="*/ 2541603 w 3600000"/>
              <a:gd name="connsiteY4912" fmla="*/ 1517561 h 2787466"/>
              <a:gd name="connsiteX4913" fmla="*/ 2551606 w 3600000"/>
              <a:gd name="connsiteY4913" fmla="*/ 1529061 h 2787466"/>
              <a:gd name="connsiteX4914" fmla="*/ 2555712 w 3600000"/>
              <a:gd name="connsiteY4914" fmla="*/ 1537496 h 2787466"/>
              <a:gd name="connsiteX4915" fmla="*/ 2561754 w 3600000"/>
              <a:gd name="connsiteY4915" fmla="*/ 1538524 h 2787466"/>
              <a:gd name="connsiteX4916" fmla="*/ 2565779 w 3600000"/>
              <a:gd name="connsiteY4916" fmla="*/ 1526818 h 2787466"/>
              <a:gd name="connsiteX4917" fmla="*/ 2595387 w 3600000"/>
              <a:gd name="connsiteY4917" fmla="*/ 1525880 h 2787466"/>
              <a:gd name="connsiteX4918" fmla="*/ 2587832 w 3600000"/>
              <a:gd name="connsiteY4918" fmla="*/ 1533696 h 2787466"/>
              <a:gd name="connsiteX4919" fmla="*/ 2590283 w 3600000"/>
              <a:gd name="connsiteY4919" fmla="*/ 1535729 h 2787466"/>
              <a:gd name="connsiteX4920" fmla="*/ 2575938 w 3600000"/>
              <a:gd name="connsiteY4920" fmla="*/ 1537526 h 2787466"/>
              <a:gd name="connsiteX4921" fmla="*/ 2568210 w 3600000"/>
              <a:gd name="connsiteY4921" fmla="*/ 1539623 h 2787466"/>
              <a:gd name="connsiteX4922" fmla="*/ 2572280 w 3600000"/>
              <a:gd name="connsiteY4922" fmla="*/ 1540316 h 2787466"/>
              <a:gd name="connsiteX4923" fmla="*/ 2602146 w 3600000"/>
              <a:gd name="connsiteY4923" fmla="*/ 1541416 h 2787466"/>
              <a:gd name="connsiteX4924" fmla="*/ 2668467 w 3600000"/>
              <a:gd name="connsiteY4924" fmla="*/ 1536386 h 2787466"/>
              <a:gd name="connsiteX4925" fmla="*/ 2813058 w 3600000"/>
              <a:gd name="connsiteY4925" fmla="*/ 1515481 h 2787466"/>
              <a:gd name="connsiteX4926" fmla="*/ 2806467 w 3600000"/>
              <a:gd name="connsiteY4926" fmla="*/ 1532457 h 2787466"/>
              <a:gd name="connsiteX4927" fmla="*/ 2755798 w 3600000"/>
              <a:gd name="connsiteY4927" fmla="*/ 1547389 h 2787466"/>
              <a:gd name="connsiteX4928" fmla="*/ 2744330 w 3600000"/>
              <a:gd name="connsiteY4928" fmla="*/ 1551152 h 2787466"/>
              <a:gd name="connsiteX4929" fmla="*/ 2746269 w 3600000"/>
              <a:gd name="connsiteY4929" fmla="*/ 1553312 h 2787466"/>
              <a:gd name="connsiteX4930" fmla="*/ 2744732 w 3600000"/>
              <a:gd name="connsiteY4930" fmla="*/ 1559272 h 2787466"/>
              <a:gd name="connsiteX4931" fmla="*/ 2732011 w 3600000"/>
              <a:gd name="connsiteY4931" fmla="*/ 1557365 h 2787466"/>
              <a:gd name="connsiteX4932" fmla="*/ 2732158 w 3600000"/>
              <a:gd name="connsiteY4932" fmla="*/ 1555145 h 2787466"/>
              <a:gd name="connsiteX4933" fmla="*/ 2731365 w 3600000"/>
              <a:gd name="connsiteY4933" fmla="*/ 1555406 h 2787466"/>
              <a:gd name="connsiteX4934" fmla="*/ 2718493 w 3600000"/>
              <a:gd name="connsiteY4934" fmla="*/ 1556783 h 2787466"/>
              <a:gd name="connsiteX4935" fmla="*/ 2729482 w 3600000"/>
              <a:gd name="connsiteY4935" fmla="*/ 1560017 h 2787466"/>
              <a:gd name="connsiteX4936" fmla="*/ 2669142 w 3600000"/>
              <a:gd name="connsiteY4936" fmla="*/ 1573857 h 2787466"/>
              <a:gd name="connsiteX4937" fmla="*/ 2669298 w 3600000"/>
              <a:gd name="connsiteY4937" fmla="*/ 1570396 h 2787466"/>
              <a:gd name="connsiteX4938" fmla="*/ 2669955 w 3600000"/>
              <a:gd name="connsiteY4938" fmla="*/ 1568309 h 2787466"/>
              <a:gd name="connsiteX4939" fmla="*/ 2668796 w 3600000"/>
              <a:gd name="connsiteY4939" fmla="*/ 1568530 h 2787466"/>
              <a:gd name="connsiteX4940" fmla="*/ 2557863 w 3600000"/>
              <a:gd name="connsiteY4940" fmla="*/ 1562165 h 2787466"/>
              <a:gd name="connsiteX4941" fmla="*/ 2524006 w 3600000"/>
              <a:gd name="connsiteY4941" fmla="*/ 1553814 h 2787466"/>
              <a:gd name="connsiteX4942" fmla="*/ 2507334 w 3600000"/>
              <a:gd name="connsiteY4942" fmla="*/ 1554010 h 2787466"/>
              <a:gd name="connsiteX4943" fmla="*/ 2503660 w 3600000"/>
              <a:gd name="connsiteY4943" fmla="*/ 1555182 h 2787466"/>
              <a:gd name="connsiteX4944" fmla="*/ 2498260 w 3600000"/>
              <a:gd name="connsiteY4944" fmla="*/ 1560287 h 2787466"/>
              <a:gd name="connsiteX4945" fmla="*/ 2492454 w 3600000"/>
              <a:gd name="connsiteY4945" fmla="*/ 1554186 h 2787466"/>
              <a:gd name="connsiteX4946" fmla="*/ 2484004 w 3600000"/>
              <a:gd name="connsiteY4946" fmla="*/ 1554285 h 2787466"/>
              <a:gd name="connsiteX4947" fmla="*/ 2485277 w 3600000"/>
              <a:gd name="connsiteY4947" fmla="*/ 1561230 h 2787466"/>
              <a:gd name="connsiteX4948" fmla="*/ 2455394 w 3600000"/>
              <a:gd name="connsiteY4948" fmla="*/ 1570192 h 2787466"/>
              <a:gd name="connsiteX4949" fmla="*/ 2448799 w 3600000"/>
              <a:gd name="connsiteY4949" fmla="*/ 1563274 h 2787466"/>
              <a:gd name="connsiteX4950" fmla="*/ 2379761 w 3600000"/>
              <a:gd name="connsiteY4950" fmla="*/ 1574122 h 2787466"/>
              <a:gd name="connsiteX4951" fmla="*/ 2312165 w 3600000"/>
              <a:gd name="connsiteY4951" fmla="*/ 1577109 h 2787466"/>
              <a:gd name="connsiteX4952" fmla="*/ 2308249 w 3600000"/>
              <a:gd name="connsiteY4952" fmla="*/ 1568148 h 2787466"/>
              <a:gd name="connsiteX4953" fmla="*/ 2309486 w 3600000"/>
              <a:gd name="connsiteY4953" fmla="*/ 1582140 h 2787466"/>
              <a:gd name="connsiteX4954" fmla="*/ 2185835 w 3600000"/>
              <a:gd name="connsiteY4954" fmla="*/ 1581197 h 2787466"/>
              <a:gd name="connsiteX4955" fmla="*/ 2189750 w 3600000"/>
              <a:gd name="connsiteY4955" fmla="*/ 1588115 h 2787466"/>
              <a:gd name="connsiteX4956" fmla="*/ 2175324 w 3600000"/>
              <a:gd name="connsiteY4956" fmla="*/ 1590001 h 2787466"/>
              <a:gd name="connsiteX4957" fmla="*/ 2172851 w 3600000"/>
              <a:gd name="connsiteY4957" fmla="*/ 1580096 h 2787466"/>
              <a:gd name="connsiteX4958" fmla="*/ 2167493 w 3600000"/>
              <a:gd name="connsiteY4958" fmla="*/ 1589058 h 2787466"/>
              <a:gd name="connsiteX4959" fmla="*/ 2165020 w 3600000"/>
              <a:gd name="connsiteY4959" fmla="*/ 1580096 h 2787466"/>
              <a:gd name="connsiteX4960" fmla="*/ 2128543 w 3600000"/>
              <a:gd name="connsiteY4960" fmla="*/ 1577109 h 2787466"/>
              <a:gd name="connsiteX4961" fmla="*/ 2138847 w 3600000"/>
              <a:gd name="connsiteY4961" fmla="*/ 1587014 h 2787466"/>
              <a:gd name="connsiteX4962" fmla="*/ 2125864 w 3600000"/>
              <a:gd name="connsiteY4962" fmla="*/ 1583084 h 2787466"/>
              <a:gd name="connsiteX4963" fmla="*/ 2108965 w 3600000"/>
              <a:gd name="connsiteY4963" fmla="*/ 1574122 h 2787466"/>
              <a:gd name="connsiteX4964" fmla="*/ 2119475 w 3600000"/>
              <a:gd name="connsiteY4964" fmla="*/ 1584184 h 2787466"/>
              <a:gd name="connsiteX4965" fmla="*/ 2115908 w 3600000"/>
              <a:gd name="connsiteY4965" fmla="*/ 1588618 h 2787466"/>
              <a:gd name="connsiteX4966" fmla="*/ 2115735 w 3600000"/>
              <a:gd name="connsiteY4966" fmla="*/ 1590211 h 2787466"/>
              <a:gd name="connsiteX4967" fmla="*/ 2126060 w 3600000"/>
              <a:gd name="connsiteY4967" fmla="*/ 1593207 h 2787466"/>
              <a:gd name="connsiteX4968" fmla="*/ 2119371 w 3600000"/>
              <a:gd name="connsiteY4968" fmla="*/ 1596676 h 2787466"/>
              <a:gd name="connsiteX4969" fmla="*/ 2115527 w 3600000"/>
              <a:gd name="connsiteY4969" fmla="*/ 1595807 h 2787466"/>
              <a:gd name="connsiteX4970" fmla="*/ 2115559 w 3600000"/>
              <a:gd name="connsiteY4970" fmla="*/ 1601950 h 2787466"/>
              <a:gd name="connsiteX4971" fmla="*/ 2123184 w 3600000"/>
              <a:gd name="connsiteY4971" fmla="*/ 1598020 h 2787466"/>
              <a:gd name="connsiteX4972" fmla="*/ 2121948 w 3600000"/>
              <a:gd name="connsiteY4972" fmla="*/ 1603994 h 2787466"/>
              <a:gd name="connsiteX4973" fmla="*/ 2131016 w 3600000"/>
              <a:gd name="connsiteY4973" fmla="*/ 1602894 h 2787466"/>
              <a:gd name="connsiteX4974" fmla="*/ 2103813 w 3600000"/>
              <a:gd name="connsiteY4974" fmla="*/ 1610912 h 2787466"/>
              <a:gd name="connsiteX4975" fmla="*/ 2101133 w 3600000"/>
              <a:gd name="connsiteY4975" fmla="*/ 1603994 h 2787466"/>
              <a:gd name="connsiteX4976" fmla="*/ 2036011 w 3600000"/>
              <a:gd name="connsiteY4976" fmla="*/ 1601950 h 2787466"/>
              <a:gd name="connsiteX4977" fmla="*/ 2047757 w 3600000"/>
              <a:gd name="connsiteY4977" fmla="*/ 1598020 h 2787466"/>
              <a:gd name="connsiteX4978" fmla="*/ 2041162 w 3600000"/>
              <a:gd name="connsiteY4978" fmla="*/ 1588115 h 2787466"/>
              <a:gd name="connsiteX4979" fmla="*/ 2016433 w 3600000"/>
              <a:gd name="connsiteY4979" fmla="*/ 1590001 h 2787466"/>
              <a:gd name="connsiteX4980" fmla="*/ 2017875 w 3600000"/>
              <a:gd name="connsiteY4980" fmla="*/ 1597076 h 2787466"/>
              <a:gd name="connsiteX4981" fmla="*/ 2020347 w 3600000"/>
              <a:gd name="connsiteY4981" fmla="*/ 1608868 h 2787466"/>
              <a:gd name="connsiteX4982" fmla="*/ 2011280 w 3600000"/>
              <a:gd name="connsiteY4982" fmla="*/ 1598963 h 2787466"/>
              <a:gd name="connsiteX4983" fmla="*/ 2000770 w 3600000"/>
              <a:gd name="connsiteY4983" fmla="*/ 1605881 h 2787466"/>
              <a:gd name="connsiteX4984" fmla="*/ 2002212 w 3600000"/>
              <a:gd name="connsiteY4984" fmla="*/ 1597076 h 2787466"/>
              <a:gd name="connsiteX4985" fmla="*/ 1979955 w 3600000"/>
              <a:gd name="connsiteY4985" fmla="*/ 1602894 h 2787466"/>
              <a:gd name="connsiteX4986" fmla="*/ 1951310 w 3600000"/>
              <a:gd name="connsiteY4986" fmla="*/ 1598963 h 2787466"/>
              <a:gd name="connsiteX4987" fmla="*/ 1952752 w 3600000"/>
              <a:gd name="connsiteY4987" fmla="*/ 1589058 h 2787466"/>
              <a:gd name="connsiteX4988" fmla="*/ 1937090 w 3600000"/>
              <a:gd name="connsiteY4988" fmla="*/ 1598963 h 2787466"/>
              <a:gd name="connsiteX4989" fmla="*/ 1899170 w 3600000"/>
              <a:gd name="connsiteY4989" fmla="*/ 1592988 h 2787466"/>
              <a:gd name="connsiteX4990" fmla="*/ 1899170 w 3600000"/>
              <a:gd name="connsiteY4990" fmla="*/ 1598020 h 2787466"/>
              <a:gd name="connsiteX4991" fmla="*/ 1909680 w 3600000"/>
              <a:gd name="connsiteY4991" fmla="*/ 1598963 h 2787466"/>
              <a:gd name="connsiteX4992" fmla="*/ 1906641 w 3600000"/>
              <a:gd name="connsiteY4992" fmla="*/ 1603562 h 2787466"/>
              <a:gd name="connsiteX4993" fmla="*/ 1906438 w 3600000"/>
              <a:gd name="connsiteY4993" fmla="*/ 1604071 h 2787466"/>
              <a:gd name="connsiteX4994" fmla="*/ 1915521 w 3600000"/>
              <a:gd name="connsiteY4994" fmla="*/ 1603296 h 2787466"/>
              <a:gd name="connsiteX4995" fmla="*/ 1915873 w 3600000"/>
              <a:gd name="connsiteY4995" fmla="*/ 1601612 h 2787466"/>
              <a:gd name="connsiteX4996" fmla="*/ 1916054 w 3600000"/>
              <a:gd name="connsiteY4996" fmla="*/ 1600738 h 2787466"/>
              <a:gd name="connsiteX4997" fmla="*/ 1933112 w 3600000"/>
              <a:gd name="connsiteY4997" fmla="*/ 1598673 h 2787466"/>
              <a:gd name="connsiteX4998" fmla="*/ 1933953 w 3600000"/>
              <a:gd name="connsiteY4998" fmla="*/ 1601724 h 2787466"/>
              <a:gd name="connsiteX4999" fmla="*/ 1939809 w 3600000"/>
              <a:gd name="connsiteY4999" fmla="*/ 1601225 h 2787466"/>
              <a:gd name="connsiteX5000" fmla="*/ 1937131 w 3600000"/>
              <a:gd name="connsiteY5000" fmla="*/ 1606592 h 2787466"/>
              <a:gd name="connsiteX5001" fmla="*/ 1944968 w 3600000"/>
              <a:gd name="connsiteY5001" fmla="*/ 1600738 h 2787466"/>
              <a:gd name="connsiteX5002" fmla="*/ 1948921 w 3600000"/>
              <a:gd name="connsiteY5002" fmla="*/ 1607729 h 2787466"/>
              <a:gd name="connsiteX5003" fmla="*/ 1939846 w 3600000"/>
              <a:gd name="connsiteY5003" fmla="*/ 1611641 h 2787466"/>
              <a:gd name="connsiteX5004" fmla="*/ 1936035 w 3600000"/>
              <a:gd name="connsiteY5004" fmla="*/ 1608787 h 2787466"/>
              <a:gd name="connsiteX5005" fmla="*/ 1932862 w 3600000"/>
              <a:gd name="connsiteY5005" fmla="*/ 1615147 h 2787466"/>
              <a:gd name="connsiteX5006" fmla="*/ 1899427 w 3600000"/>
              <a:gd name="connsiteY5006" fmla="*/ 1632038 h 2787466"/>
              <a:gd name="connsiteX5007" fmla="*/ 1882532 w 3600000"/>
              <a:gd name="connsiteY5007" fmla="*/ 1624020 h 2787466"/>
              <a:gd name="connsiteX5008" fmla="*/ 1839580 w 3600000"/>
              <a:gd name="connsiteY5008" fmla="*/ 1631345 h 2787466"/>
              <a:gd name="connsiteX5009" fmla="*/ 1839405 w 3600000"/>
              <a:gd name="connsiteY5009" fmla="*/ 1631823 h 2787466"/>
              <a:gd name="connsiteX5010" fmla="*/ 1838783 w 3600000"/>
              <a:gd name="connsiteY5010" fmla="*/ 1631482 h 2787466"/>
              <a:gd name="connsiteX5011" fmla="*/ 1836330 w 3600000"/>
              <a:gd name="connsiteY5011" fmla="*/ 1631900 h 2787466"/>
              <a:gd name="connsiteX5012" fmla="*/ 1825907 w 3600000"/>
              <a:gd name="connsiteY5012" fmla="*/ 1633643 h 2787466"/>
              <a:gd name="connsiteX5013" fmla="*/ 1824979 w 3600000"/>
              <a:gd name="connsiteY5013" fmla="*/ 1635753 h 2787466"/>
              <a:gd name="connsiteX5014" fmla="*/ 1822228 w 3600000"/>
              <a:gd name="connsiteY5014" fmla="*/ 1634258 h 2787466"/>
              <a:gd name="connsiteX5015" fmla="*/ 1808064 w 3600000"/>
              <a:gd name="connsiteY5015" fmla="*/ 1636627 h 2787466"/>
              <a:gd name="connsiteX5016" fmla="*/ 1808080 w 3600000"/>
              <a:gd name="connsiteY5016" fmla="*/ 1636696 h 2787466"/>
              <a:gd name="connsiteX5017" fmla="*/ 1796333 w 3600000"/>
              <a:gd name="connsiteY5017" fmla="*/ 1638740 h 2787466"/>
              <a:gd name="connsiteX5018" fmla="*/ 1801691 w 3600000"/>
              <a:gd name="connsiteY5018" fmla="*/ 1644714 h 2787466"/>
              <a:gd name="connsiteX5019" fmla="*/ 1792521 w 3600000"/>
              <a:gd name="connsiteY5019" fmla="*/ 1644223 h 2787466"/>
              <a:gd name="connsiteX5020" fmla="*/ 1789587 w 3600000"/>
              <a:gd name="connsiteY5020" fmla="*/ 1639372 h 2787466"/>
              <a:gd name="connsiteX5021" fmla="*/ 1773667 w 3600000"/>
              <a:gd name="connsiteY5021" fmla="*/ 1640833 h 2787466"/>
              <a:gd name="connsiteX5022" fmla="*/ 1775519 w 3600000"/>
              <a:gd name="connsiteY5022" fmla="*/ 1641727 h 2787466"/>
              <a:gd name="connsiteX5023" fmla="*/ 1773251 w 3600000"/>
              <a:gd name="connsiteY5023" fmla="*/ 1644714 h 2787466"/>
              <a:gd name="connsiteX5024" fmla="*/ 1765832 w 3600000"/>
              <a:gd name="connsiteY5024" fmla="*/ 1642305 h 2787466"/>
              <a:gd name="connsiteX5025" fmla="*/ 1763127 w 3600000"/>
              <a:gd name="connsiteY5025" fmla="*/ 1641799 h 2787466"/>
              <a:gd name="connsiteX5026" fmla="*/ 1762769 w 3600000"/>
              <a:gd name="connsiteY5026" fmla="*/ 1641832 h 2787466"/>
              <a:gd name="connsiteX5027" fmla="*/ 1763694 w 3600000"/>
              <a:gd name="connsiteY5027" fmla="*/ 1645343 h 2787466"/>
              <a:gd name="connsiteX5028" fmla="*/ 1766657 w 3600000"/>
              <a:gd name="connsiteY5028" fmla="*/ 1652733 h 2787466"/>
              <a:gd name="connsiteX5029" fmla="*/ 1763977 w 3600000"/>
              <a:gd name="connsiteY5029" fmla="*/ 1655720 h 2787466"/>
              <a:gd name="connsiteX5030" fmla="*/ 1759778 w 3600000"/>
              <a:gd name="connsiteY5030" fmla="*/ 1649176 h 2787466"/>
              <a:gd name="connsiteX5031" fmla="*/ 1758182 w 3600000"/>
              <a:gd name="connsiteY5031" fmla="*/ 1642253 h 2787466"/>
              <a:gd name="connsiteX5032" fmla="*/ 1751291 w 3600000"/>
              <a:gd name="connsiteY5032" fmla="*/ 1642885 h 2787466"/>
              <a:gd name="connsiteX5033" fmla="*/ 1746975 w 3600000"/>
              <a:gd name="connsiteY5033" fmla="*/ 1642797 h 2787466"/>
              <a:gd name="connsiteX5034" fmla="*/ 1747078 w 3600000"/>
              <a:gd name="connsiteY5034" fmla="*/ 1644714 h 2787466"/>
              <a:gd name="connsiteX5035" fmla="*/ 1750994 w 3600000"/>
              <a:gd name="connsiteY5035" fmla="*/ 1645658 h 2787466"/>
              <a:gd name="connsiteX5036" fmla="*/ 1740921 w 3600000"/>
              <a:gd name="connsiteY5036" fmla="*/ 1642847 h 2787466"/>
              <a:gd name="connsiteX5037" fmla="*/ 1740391 w 3600000"/>
              <a:gd name="connsiteY5037" fmla="*/ 1642662 h 2787466"/>
              <a:gd name="connsiteX5038" fmla="*/ 1732918 w 3600000"/>
              <a:gd name="connsiteY5038" fmla="*/ 1642509 h 2787466"/>
              <a:gd name="connsiteX5039" fmla="*/ 1732565 w 3600000"/>
              <a:gd name="connsiteY5039" fmla="*/ 1643055 h 2787466"/>
              <a:gd name="connsiteX5040" fmla="*/ 1732859 w 3600000"/>
              <a:gd name="connsiteY5040" fmla="*/ 1649589 h 2787466"/>
              <a:gd name="connsiteX5041" fmla="*/ 1713280 w 3600000"/>
              <a:gd name="connsiteY5041" fmla="*/ 1649589 h 2787466"/>
              <a:gd name="connsiteX5042" fmla="*/ 1714517 w 3600000"/>
              <a:gd name="connsiteY5042" fmla="*/ 1653676 h 2787466"/>
              <a:gd name="connsiteX5043" fmla="*/ 1727500 w 3600000"/>
              <a:gd name="connsiteY5043" fmla="*/ 1667511 h 2787466"/>
              <a:gd name="connsiteX5044" fmla="*/ 1715754 w 3600000"/>
              <a:gd name="connsiteY5044" fmla="*/ 1665625 h 2787466"/>
              <a:gd name="connsiteX5045" fmla="*/ 1708129 w 3600000"/>
              <a:gd name="connsiteY5045" fmla="*/ 1657606 h 2787466"/>
              <a:gd name="connsiteX5046" fmla="*/ 1710601 w 3600000"/>
              <a:gd name="connsiteY5046" fmla="*/ 1666568 h 2787466"/>
              <a:gd name="connsiteX5047" fmla="*/ 1706685 w 3600000"/>
              <a:gd name="connsiteY5047" fmla="*/ 1667511 h 2787466"/>
              <a:gd name="connsiteX5048" fmla="*/ 1693703 w 3600000"/>
              <a:gd name="connsiteY5048" fmla="*/ 1654619 h 2787466"/>
              <a:gd name="connsiteX5049" fmla="*/ 1708129 w 3600000"/>
              <a:gd name="connsiteY5049" fmla="*/ 1686378 h 2787466"/>
              <a:gd name="connsiteX5050" fmla="*/ 1706685 w 3600000"/>
              <a:gd name="connsiteY5050" fmla="*/ 1689365 h 2787466"/>
              <a:gd name="connsiteX5051" fmla="*/ 1694939 w 3600000"/>
              <a:gd name="connsiteY5051" fmla="*/ 1683390 h 2787466"/>
              <a:gd name="connsiteX5052" fmla="*/ 1698854 w 3600000"/>
              <a:gd name="connsiteY5052" fmla="*/ 1705244 h 2787466"/>
              <a:gd name="connsiteX5053" fmla="*/ 1719669 w 3600000"/>
              <a:gd name="connsiteY5053" fmla="*/ 1712319 h 2787466"/>
              <a:gd name="connsiteX5054" fmla="*/ 1709365 w 3600000"/>
              <a:gd name="connsiteY5054" fmla="*/ 1707288 h 2787466"/>
              <a:gd name="connsiteX5055" fmla="*/ 1702770 w 3600000"/>
              <a:gd name="connsiteY5055" fmla="*/ 1719237 h 2787466"/>
              <a:gd name="connsiteX5056" fmla="*/ 1696382 w 3600000"/>
              <a:gd name="connsiteY5056" fmla="*/ 1708231 h 2787466"/>
              <a:gd name="connsiteX5057" fmla="*/ 1696382 w 3600000"/>
              <a:gd name="connsiteY5057" fmla="*/ 1730085 h 2787466"/>
              <a:gd name="connsiteX5058" fmla="*/ 1689787 w 3600000"/>
              <a:gd name="connsiteY5058" fmla="*/ 1721123 h 2787466"/>
              <a:gd name="connsiteX5059" fmla="*/ 1693703 w 3600000"/>
              <a:gd name="connsiteY5059" fmla="*/ 1717193 h 2787466"/>
              <a:gd name="connsiteX5060" fmla="*/ 1693703 w 3600000"/>
              <a:gd name="connsiteY5060" fmla="*/ 1712319 h 2787466"/>
              <a:gd name="connsiteX5061" fmla="*/ 1687314 w 3600000"/>
              <a:gd name="connsiteY5061" fmla="*/ 1704301 h 2787466"/>
              <a:gd name="connsiteX5062" fmla="*/ 1691023 w 3600000"/>
              <a:gd name="connsiteY5062" fmla="*/ 1710275 h 2787466"/>
              <a:gd name="connsiteX5063" fmla="*/ 1683398 w 3600000"/>
              <a:gd name="connsiteY5063" fmla="*/ 1711219 h 2787466"/>
              <a:gd name="connsiteX5064" fmla="*/ 1671651 w 3600000"/>
              <a:gd name="connsiteY5064" fmla="*/ 1698327 h 2787466"/>
              <a:gd name="connsiteX5065" fmla="*/ 1662378 w 3600000"/>
              <a:gd name="connsiteY5065" fmla="*/ 1698327 h 2787466"/>
              <a:gd name="connsiteX5066" fmla="*/ 1679482 w 3600000"/>
              <a:gd name="connsiteY5066" fmla="*/ 1715306 h 2787466"/>
              <a:gd name="connsiteX5067" fmla="*/ 1674124 w 3600000"/>
              <a:gd name="connsiteY5067" fmla="*/ 1719237 h 2787466"/>
              <a:gd name="connsiteX5068" fmla="*/ 1671651 w 3600000"/>
              <a:gd name="connsiteY5068" fmla="*/ 1710275 h 2787466"/>
              <a:gd name="connsiteX5069" fmla="*/ 1663820 w 3600000"/>
              <a:gd name="connsiteY5069" fmla="*/ 1710275 h 2787466"/>
              <a:gd name="connsiteX5070" fmla="*/ 1670209 w 3600000"/>
              <a:gd name="connsiteY5070" fmla="*/ 1715306 h 2787466"/>
              <a:gd name="connsiteX5071" fmla="*/ 1663820 w 3600000"/>
              <a:gd name="connsiteY5071" fmla="*/ 1723168 h 2787466"/>
              <a:gd name="connsiteX5072" fmla="*/ 1641563 w 3600000"/>
              <a:gd name="connsiteY5072" fmla="*/ 1727098 h 2787466"/>
              <a:gd name="connsiteX5073" fmla="*/ 1643005 w 3600000"/>
              <a:gd name="connsiteY5073" fmla="*/ 1724111 h 2787466"/>
              <a:gd name="connsiteX5074" fmla="*/ 1639090 w 3600000"/>
              <a:gd name="connsiteY5074" fmla="*/ 1723168 h 2787466"/>
              <a:gd name="connsiteX5075" fmla="*/ 1646921 w 3600000"/>
              <a:gd name="connsiteY5075" fmla="*/ 1720180 h 2787466"/>
              <a:gd name="connsiteX5076" fmla="*/ 1644242 w 3600000"/>
              <a:gd name="connsiteY5076" fmla="*/ 1716250 h 2787466"/>
              <a:gd name="connsiteX5077" fmla="*/ 1631259 w 3600000"/>
              <a:gd name="connsiteY5077" fmla="*/ 1711219 h 2787466"/>
              <a:gd name="connsiteX5078" fmla="*/ 1650837 w 3600000"/>
              <a:gd name="connsiteY5078" fmla="*/ 1736060 h 2787466"/>
              <a:gd name="connsiteX5079" fmla="*/ 1646921 w 3600000"/>
              <a:gd name="connsiteY5079" fmla="*/ 1738103 h 2787466"/>
              <a:gd name="connsiteX5080" fmla="*/ 1637647 w 3600000"/>
              <a:gd name="connsiteY5080" fmla="*/ 1735117 h 2787466"/>
              <a:gd name="connsiteX5081" fmla="*/ 1645478 w 3600000"/>
              <a:gd name="connsiteY5081" fmla="*/ 1741090 h 2787466"/>
              <a:gd name="connsiteX5082" fmla="*/ 1645478 w 3600000"/>
              <a:gd name="connsiteY5082" fmla="*/ 1754926 h 2787466"/>
              <a:gd name="connsiteX5083" fmla="*/ 1643005 w 3600000"/>
              <a:gd name="connsiteY5083" fmla="*/ 1750996 h 2787466"/>
              <a:gd name="connsiteX5084" fmla="*/ 1633732 w 3600000"/>
              <a:gd name="connsiteY5084" fmla="*/ 1745021 h 2787466"/>
              <a:gd name="connsiteX5085" fmla="*/ 1639090 w 3600000"/>
              <a:gd name="connsiteY5085" fmla="*/ 1742034 h 2787466"/>
              <a:gd name="connsiteX5086" fmla="*/ 1632495 w 3600000"/>
              <a:gd name="connsiteY5086" fmla="*/ 1737160 h 2787466"/>
              <a:gd name="connsiteX5087" fmla="*/ 1628579 w 3600000"/>
              <a:gd name="connsiteY5087" fmla="*/ 1742034 h 2787466"/>
              <a:gd name="connsiteX5088" fmla="*/ 1631259 w 3600000"/>
              <a:gd name="connsiteY5088" fmla="*/ 1756970 h 2787466"/>
              <a:gd name="connsiteX5089" fmla="*/ 1625900 w 3600000"/>
              <a:gd name="connsiteY5089" fmla="*/ 1743135 h 2787466"/>
              <a:gd name="connsiteX5090" fmla="*/ 1620748 w 3600000"/>
              <a:gd name="connsiteY5090" fmla="*/ 1738103 h 2787466"/>
              <a:gd name="connsiteX5091" fmla="*/ 1624664 w 3600000"/>
              <a:gd name="connsiteY5091" fmla="*/ 1750053 h 2787466"/>
              <a:gd name="connsiteX5092" fmla="*/ 1614359 w 3600000"/>
              <a:gd name="connsiteY5092" fmla="*/ 1742034 h 2787466"/>
              <a:gd name="connsiteX5093" fmla="*/ 1611681 w 3600000"/>
              <a:gd name="connsiteY5093" fmla="*/ 1748952 h 2787466"/>
              <a:gd name="connsiteX5094" fmla="*/ 1619511 w 3600000"/>
              <a:gd name="connsiteY5094" fmla="*/ 1754926 h 2787466"/>
              <a:gd name="connsiteX5095" fmla="*/ 1614359 w 3600000"/>
              <a:gd name="connsiteY5095" fmla="*/ 1753039 h 2787466"/>
              <a:gd name="connsiteX5096" fmla="*/ 1612917 w 3600000"/>
              <a:gd name="connsiteY5096" fmla="*/ 1756970 h 2787466"/>
              <a:gd name="connsiteX5097" fmla="*/ 1625900 w 3600000"/>
              <a:gd name="connsiteY5097" fmla="*/ 1771906 h 2787466"/>
              <a:gd name="connsiteX5098" fmla="*/ 1636410 w 3600000"/>
              <a:gd name="connsiteY5098" fmla="*/ 1772850 h 2787466"/>
              <a:gd name="connsiteX5099" fmla="*/ 1631259 w 3600000"/>
              <a:gd name="connsiteY5099" fmla="*/ 1764988 h 2787466"/>
              <a:gd name="connsiteX5100" fmla="*/ 1636410 w 3600000"/>
              <a:gd name="connsiteY5100" fmla="*/ 1764988 h 2787466"/>
              <a:gd name="connsiteX5101" fmla="*/ 1648157 w 3600000"/>
              <a:gd name="connsiteY5101" fmla="*/ 1780867 h 2787466"/>
              <a:gd name="connsiteX5102" fmla="*/ 1640326 w 3600000"/>
              <a:gd name="connsiteY5102" fmla="*/ 1773792 h 2787466"/>
              <a:gd name="connsiteX5103" fmla="*/ 1639090 w 3600000"/>
              <a:gd name="connsiteY5103" fmla="*/ 1782754 h 2787466"/>
              <a:gd name="connsiteX5104" fmla="*/ 1645478 w 3600000"/>
              <a:gd name="connsiteY5104" fmla="*/ 1786842 h 2787466"/>
              <a:gd name="connsiteX5105" fmla="*/ 1636410 w 3600000"/>
              <a:gd name="connsiteY5105" fmla="*/ 1790772 h 2787466"/>
              <a:gd name="connsiteX5106" fmla="*/ 1629816 w 3600000"/>
              <a:gd name="connsiteY5106" fmla="*/ 1783855 h 2787466"/>
              <a:gd name="connsiteX5107" fmla="*/ 1636410 w 3600000"/>
              <a:gd name="connsiteY5107" fmla="*/ 1793759 h 2787466"/>
              <a:gd name="connsiteX5108" fmla="*/ 1625900 w 3600000"/>
              <a:gd name="connsiteY5108" fmla="*/ 1786842 h 2787466"/>
              <a:gd name="connsiteX5109" fmla="*/ 1609001 w 3600000"/>
              <a:gd name="connsiteY5109" fmla="*/ 1789672 h 2787466"/>
              <a:gd name="connsiteX5110" fmla="*/ 1621984 w 3600000"/>
              <a:gd name="connsiteY5110" fmla="*/ 1794703 h 2787466"/>
              <a:gd name="connsiteX5111" fmla="*/ 1611681 w 3600000"/>
              <a:gd name="connsiteY5111" fmla="*/ 1793759 h 2787466"/>
              <a:gd name="connsiteX5112" fmla="*/ 1607764 w 3600000"/>
              <a:gd name="connsiteY5112" fmla="*/ 1799734 h 2787466"/>
              <a:gd name="connsiteX5113" fmla="*/ 1615595 w 3600000"/>
              <a:gd name="connsiteY5113" fmla="*/ 1800678 h 2787466"/>
              <a:gd name="connsiteX5114" fmla="*/ 1603849 w 3600000"/>
              <a:gd name="connsiteY5114" fmla="*/ 1813569 h 2787466"/>
              <a:gd name="connsiteX5115" fmla="*/ 1606528 w 3600000"/>
              <a:gd name="connsiteY5115" fmla="*/ 1801621 h 2787466"/>
              <a:gd name="connsiteX5116" fmla="*/ 1593339 w 3600000"/>
              <a:gd name="connsiteY5116" fmla="*/ 1788729 h 2787466"/>
              <a:gd name="connsiteX5117" fmla="*/ 1586950 w 3600000"/>
              <a:gd name="connsiteY5117" fmla="*/ 1791716 h 2787466"/>
              <a:gd name="connsiteX5118" fmla="*/ 1601170 w 3600000"/>
              <a:gd name="connsiteY5118" fmla="*/ 1805708 h 2787466"/>
              <a:gd name="connsiteX5119" fmla="*/ 1588186 w 3600000"/>
              <a:gd name="connsiteY5119" fmla="*/ 1807595 h 2787466"/>
              <a:gd name="connsiteX5120" fmla="*/ 1603849 w 3600000"/>
              <a:gd name="connsiteY5120" fmla="*/ 1813569 h 2787466"/>
              <a:gd name="connsiteX5121" fmla="*/ 1614359 w 3600000"/>
              <a:gd name="connsiteY5121" fmla="*/ 1824575 h 2787466"/>
              <a:gd name="connsiteX5122" fmla="*/ 1602613 w 3600000"/>
              <a:gd name="connsiteY5122" fmla="*/ 1821588 h 2787466"/>
              <a:gd name="connsiteX5123" fmla="*/ 1603849 w 3600000"/>
              <a:gd name="connsiteY5123" fmla="*/ 1817500 h 2787466"/>
              <a:gd name="connsiteX5124" fmla="*/ 1596018 w 3600000"/>
              <a:gd name="connsiteY5124" fmla="*/ 1824575 h 2787466"/>
              <a:gd name="connsiteX5125" fmla="*/ 1599933 w 3600000"/>
              <a:gd name="connsiteY5125" fmla="*/ 1820487 h 2787466"/>
              <a:gd name="connsiteX5126" fmla="*/ 1602613 w 3600000"/>
              <a:gd name="connsiteY5126" fmla="*/ 1836366 h 2787466"/>
              <a:gd name="connsiteX5127" fmla="*/ 1592103 w 3600000"/>
              <a:gd name="connsiteY5127" fmla="*/ 1831492 h 2787466"/>
              <a:gd name="connsiteX5128" fmla="*/ 1586950 w 3600000"/>
              <a:gd name="connsiteY5128" fmla="*/ 1825519 h 2787466"/>
              <a:gd name="connsiteX5129" fmla="*/ 1584271 w 3600000"/>
              <a:gd name="connsiteY5129" fmla="*/ 1829449 h 2787466"/>
              <a:gd name="connsiteX5130" fmla="*/ 1572524 w 3600000"/>
              <a:gd name="connsiteY5130" fmla="*/ 1822531 h 2787466"/>
              <a:gd name="connsiteX5131" fmla="*/ 1586950 w 3600000"/>
              <a:gd name="connsiteY5131" fmla="*/ 1837467 h 2787466"/>
              <a:gd name="connsiteX5132" fmla="*/ 1583034 w 3600000"/>
              <a:gd name="connsiteY5132" fmla="*/ 1845328 h 2787466"/>
              <a:gd name="connsiteX5133" fmla="*/ 1568608 w 3600000"/>
              <a:gd name="connsiteY5133" fmla="*/ 1846429 h 2787466"/>
              <a:gd name="connsiteX5134" fmla="*/ 1583034 w 3600000"/>
              <a:gd name="connsiteY5134" fmla="*/ 1853347 h 2787466"/>
              <a:gd name="connsiteX5135" fmla="*/ 1568608 w 3600000"/>
              <a:gd name="connsiteY5135" fmla="*/ 1851302 h 2787466"/>
              <a:gd name="connsiteX5136" fmla="*/ 1564693 w 3600000"/>
              <a:gd name="connsiteY5136" fmla="*/ 1855390 h 2787466"/>
              <a:gd name="connsiteX5137" fmla="*/ 1553152 w 3600000"/>
              <a:gd name="connsiteY5137" fmla="*/ 1849416 h 2787466"/>
              <a:gd name="connsiteX5138" fmla="*/ 1566135 w 3600000"/>
              <a:gd name="connsiteY5138" fmla="*/ 1858378 h 2787466"/>
              <a:gd name="connsiteX5139" fmla="*/ 1570051 w 3600000"/>
              <a:gd name="connsiteY5139" fmla="*/ 1857277 h 2787466"/>
              <a:gd name="connsiteX5140" fmla="*/ 1567372 w 3600000"/>
              <a:gd name="connsiteY5140" fmla="*/ 1860264 h 2787466"/>
              <a:gd name="connsiteX5141" fmla="*/ 1572524 w 3600000"/>
              <a:gd name="connsiteY5141" fmla="*/ 1867182 h 2787466"/>
              <a:gd name="connsiteX5142" fmla="*/ 1556862 w 3600000"/>
              <a:gd name="connsiteY5142" fmla="*/ 1870169 h 2787466"/>
              <a:gd name="connsiteX5143" fmla="*/ 1572524 w 3600000"/>
              <a:gd name="connsiteY5143" fmla="*/ 1872213 h 2787466"/>
              <a:gd name="connsiteX5144" fmla="*/ 1568608 w 3600000"/>
              <a:gd name="connsiteY5144" fmla="*/ 1882118 h 2787466"/>
              <a:gd name="connsiteX5145" fmla="*/ 1568608 w 3600000"/>
              <a:gd name="connsiteY5145" fmla="*/ 1876144 h 2787466"/>
              <a:gd name="connsiteX5146" fmla="*/ 1556862 w 3600000"/>
              <a:gd name="connsiteY5146" fmla="*/ 1885105 h 2787466"/>
              <a:gd name="connsiteX5147" fmla="*/ 1568608 w 3600000"/>
              <a:gd name="connsiteY5147" fmla="*/ 1890136 h 2787466"/>
              <a:gd name="connsiteX5148" fmla="*/ 1554388 w 3600000"/>
              <a:gd name="connsiteY5148" fmla="*/ 1892023 h 2787466"/>
              <a:gd name="connsiteX5149" fmla="*/ 1563456 w 3600000"/>
              <a:gd name="connsiteY5149" fmla="*/ 1900041 h 2787466"/>
              <a:gd name="connsiteX5150" fmla="*/ 1547794 w 3600000"/>
              <a:gd name="connsiteY5150" fmla="*/ 1917964 h 2787466"/>
              <a:gd name="connsiteX5151" fmla="*/ 1537489 w 3600000"/>
              <a:gd name="connsiteY5151" fmla="*/ 1913876 h 2787466"/>
              <a:gd name="connsiteX5152" fmla="*/ 1526979 w 3600000"/>
              <a:gd name="connsiteY5152" fmla="*/ 1949723 h 2787466"/>
              <a:gd name="connsiteX5153" fmla="*/ 1525743 w 3600000"/>
              <a:gd name="connsiteY5153" fmla="*/ 1953654 h 2787466"/>
              <a:gd name="connsiteX5154" fmla="*/ 1526979 w 3600000"/>
              <a:gd name="connsiteY5154" fmla="*/ 1956641 h 2787466"/>
              <a:gd name="connsiteX5155" fmla="*/ 1534810 w 3600000"/>
              <a:gd name="connsiteY5155" fmla="*/ 1954596 h 2787466"/>
              <a:gd name="connsiteX5156" fmla="*/ 1533574 w 3600000"/>
              <a:gd name="connsiteY5156" fmla="*/ 1974563 h 2787466"/>
              <a:gd name="connsiteX5157" fmla="*/ 1524300 w 3600000"/>
              <a:gd name="connsiteY5157" fmla="*/ 1989500 h 2787466"/>
              <a:gd name="connsiteX5158" fmla="*/ 1506164 w 3600000"/>
              <a:gd name="connsiteY5158" fmla="*/ 2025188 h 2787466"/>
              <a:gd name="connsiteX5159" fmla="*/ 1498333 w 3600000"/>
              <a:gd name="connsiteY5159" fmla="*/ 2021258 h 2787466"/>
              <a:gd name="connsiteX5160" fmla="*/ 1490502 w 3600000"/>
              <a:gd name="connsiteY5160" fmla="*/ 2031163 h 2787466"/>
              <a:gd name="connsiteX5161" fmla="*/ 1499776 w 3600000"/>
              <a:gd name="connsiteY5161" fmla="*/ 2032107 h 2787466"/>
              <a:gd name="connsiteX5162" fmla="*/ 1484113 w 3600000"/>
              <a:gd name="connsiteY5162" fmla="*/ 2063865 h 2787466"/>
              <a:gd name="connsiteX5163" fmla="*/ 1469687 w 3600000"/>
              <a:gd name="connsiteY5163" fmla="*/ 2062922 h 2787466"/>
              <a:gd name="connsiteX5164" fmla="*/ 1472366 w 3600000"/>
              <a:gd name="connsiteY5164" fmla="*/ 2072984 h 2787466"/>
              <a:gd name="connsiteX5165" fmla="*/ 1461856 w 3600000"/>
              <a:gd name="connsiteY5165" fmla="*/ 2076915 h 2787466"/>
              <a:gd name="connsiteX5166" fmla="*/ 1478755 w 3600000"/>
              <a:gd name="connsiteY5166" fmla="*/ 2076915 h 2787466"/>
              <a:gd name="connsiteX5167" fmla="*/ 1473603 w 3600000"/>
              <a:gd name="connsiteY5167" fmla="*/ 2086819 h 2787466"/>
              <a:gd name="connsiteX5168" fmla="*/ 1451551 w 3600000"/>
              <a:gd name="connsiteY5168" fmla="*/ 2106629 h 2787466"/>
              <a:gd name="connsiteX5169" fmla="*/ 1468451 w 3600000"/>
              <a:gd name="connsiteY5169" fmla="*/ 2102698 h 2787466"/>
              <a:gd name="connsiteX5170" fmla="*/ 1463299 w 3600000"/>
              <a:gd name="connsiteY5170" fmla="*/ 2104743 h 2787466"/>
              <a:gd name="connsiteX5171" fmla="*/ 1455468 w 3600000"/>
              <a:gd name="connsiteY5171" fmla="*/ 2120622 h 2787466"/>
              <a:gd name="connsiteX5172" fmla="*/ 1464535 w 3600000"/>
              <a:gd name="connsiteY5172" fmla="*/ 2121565 h 2787466"/>
              <a:gd name="connsiteX5173" fmla="*/ 1451551 w 3600000"/>
              <a:gd name="connsiteY5173" fmla="*/ 2132571 h 2787466"/>
              <a:gd name="connsiteX5174" fmla="*/ 1448873 w 3600000"/>
              <a:gd name="connsiteY5174" fmla="*/ 2142476 h 2787466"/>
              <a:gd name="connsiteX5175" fmla="*/ 1443721 w 3600000"/>
              <a:gd name="connsiteY5175" fmla="*/ 2148450 h 2787466"/>
              <a:gd name="connsiteX5176" fmla="*/ 1450109 w 3600000"/>
              <a:gd name="connsiteY5176" fmla="*/ 2156311 h 2787466"/>
              <a:gd name="connsiteX5177" fmla="*/ 1455468 w 3600000"/>
              <a:gd name="connsiteY5177" fmla="*/ 2148450 h 2787466"/>
              <a:gd name="connsiteX5178" fmla="*/ 1498333 w 3600000"/>
              <a:gd name="connsiteY5178" fmla="*/ 2151437 h 2787466"/>
              <a:gd name="connsiteX5179" fmla="*/ 1457322 w 3600000"/>
              <a:gd name="connsiteY5179" fmla="*/ 2163916 h 2787466"/>
              <a:gd name="connsiteX5180" fmla="*/ 1419515 w 3600000"/>
              <a:gd name="connsiteY5180" fmla="*/ 2176182 h 2787466"/>
              <a:gd name="connsiteX5181" fmla="*/ 1419399 w 3600000"/>
              <a:gd name="connsiteY5181" fmla="*/ 2178443 h 2787466"/>
              <a:gd name="connsiteX5182" fmla="*/ 1420420 w 3600000"/>
              <a:gd name="connsiteY5182" fmla="*/ 2178848 h 2787466"/>
              <a:gd name="connsiteX5183" fmla="*/ 1430737 w 3600000"/>
              <a:gd name="connsiteY5183" fmla="*/ 2182252 h 2787466"/>
              <a:gd name="connsiteX5184" fmla="*/ 1443721 w 3600000"/>
              <a:gd name="connsiteY5184" fmla="*/ 2180209 h 2787466"/>
              <a:gd name="connsiteX5185" fmla="*/ 1446193 w 3600000"/>
              <a:gd name="connsiteY5185" fmla="*/ 2171247 h 2787466"/>
              <a:gd name="connsiteX5186" fmla="*/ 1448873 w 3600000"/>
              <a:gd name="connsiteY5186" fmla="*/ 2180209 h 2787466"/>
              <a:gd name="connsiteX5187" fmla="*/ 1470924 w 3600000"/>
              <a:gd name="connsiteY5187" fmla="*/ 2180209 h 2787466"/>
              <a:gd name="connsiteX5188" fmla="*/ 1495860 w 3600000"/>
              <a:gd name="connsiteY5188" fmla="*/ 2176278 h 2787466"/>
              <a:gd name="connsiteX5189" fmla="*/ 1486587 w 3600000"/>
              <a:gd name="connsiteY5189" fmla="*/ 2187126 h 2787466"/>
              <a:gd name="connsiteX5190" fmla="*/ 1443721 w 3600000"/>
              <a:gd name="connsiteY5190" fmla="*/ 2190113 h 2787466"/>
              <a:gd name="connsiteX5191" fmla="*/ 1420226 w 3600000"/>
              <a:gd name="connsiteY5191" fmla="*/ 2195145 h 2787466"/>
              <a:gd name="connsiteX5192" fmla="*/ 1420797 w 3600000"/>
              <a:gd name="connsiteY5192" fmla="*/ 2199888 h 2787466"/>
              <a:gd name="connsiteX5193" fmla="*/ 1420499 w 3600000"/>
              <a:gd name="connsiteY5193" fmla="*/ 2200664 h 2787466"/>
              <a:gd name="connsiteX5194" fmla="*/ 1421602 w 3600000"/>
              <a:gd name="connsiteY5194" fmla="*/ 2212372 h 2787466"/>
              <a:gd name="connsiteX5195" fmla="*/ 1420946 w 3600000"/>
              <a:gd name="connsiteY5195" fmla="*/ 2212374 h 2787466"/>
              <a:gd name="connsiteX5196" fmla="*/ 1421463 w 3600000"/>
              <a:gd name="connsiteY5196" fmla="*/ 2212911 h 2787466"/>
              <a:gd name="connsiteX5197" fmla="*/ 1428058 w 3600000"/>
              <a:gd name="connsiteY5197" fmla="*/ 2203006 h 2787466"/>
              <a:gd name="connsiteX5198" fmla="*/ 1460620 w 3600000"/>
              <a:gd name="connsiteY5198" fmla="*/ 2205993 h 2787466"/>
              <a:gd name="connsiteX5199" fmla="*/ 1460620 w 3600000"/>
              <a:gd name="connsiteY5199" fmla="*/ 2215898 h 2787466"/>
              <a:gd name="connsiteX5200" fmla="*/ 1429294 w 3600000"/>
              <a:gd name="connsiteY5200" fmla="*/ 2220929 h 2787466"/>
              <a:gd name="connsiteX5201" fmla="*/ 1424143 w 3600000"/>
              <a:gd name="connsiteY5201" fmla="*/ 2214954 h 2787466"/>
              <a:gd name="connsiteX5202" fmla="*/ 1399412 w 3600000"/>
              <a:gd name="connsiteY5202" fmla="*/ 2226903 h 2787466"/>
              <a:gd name="connsiteX5203" fmla="*/ 1413632 w 3600000"/>
              <a:gd name="connsiteY5203" fmla="*/ 2231934 h 2787466"/>
              <a:gd name="connsiteX5204" fmla="*/ 1416312 w 3600000"/>
              <a:gd name="connsiteY5204" fmla="*/ 2242782 h 2787466"/>
              <a:gd name="connsiteX5205" fmla="*/ 1422906 w 3600000"/>
              <a:gd name="connsiteY5205" fmla="*/ 2232878 h 2787466"/>
              <a:gd name="connsiteX5206" fmla="*/ 1454025 w 3600000"/>
              <a:gd name="connsiteY5206" fmla="*/ 2229890 h 2787466"/>
              <a:gd name="connsiteX5207" fmla="*/ 1470924 w 3600000"/>
              <a:gd name="connsiteY5207" fmla="*/ 2234764 h 2787466"/>
              <a:gd name="connsiteX5208" fmla="*/ 1472366 w 3600000"/>
              <a:gd name="connsiteY5208" fmla="*/ 2239795 h 2787466"/>
              <a:gd name="connsiteX5209" fmla="*/ 1420226 w 3600000"/>
              <a:gd name="connsiteY5209" fmla="*/ 2262592 h 2787466"/>
              <a:gd name="connsiteX5210" fmla="*/ 1450109 w 3600000"/>
              <a:gd name="connsiteY5210" fmla="*/ 2266680 h 2787466"/>
              <a:gd name="connsiteX5211" fmla="*/ 1481435 w 3600000"/>
              <a:gd name="connsiteY5211" fmla="*/ 2263693 h 2787466"/>
              <a:gd name="connsiteX5212" fmla="*/ 1373239 w 3600000"/>
              <a:gd name="connsiteY5212" fmla="*/ 2291520 h 2787466"/>
              <a:gd name="connsiteX5213" fmla="*/ 1386428 w 3600000"/>
              <a:gd name="connsiteY5213" fmla="*/ 2298439 h 2787466"/>
              <a:gd name="connsiteX5214" fmla="*/ 1467008 w 3600000"/>
              <a:gd name="connsiteY5214" fmla="*/ 2293407 h 2787466"/>
              <a:gd name="connsiteX5215" fmla="*/ 1426822 w 3600000"/>
              <a:gd name="connsiteY5215" fmla="*/ 2307400 h 2787466"/>
              <a:gd name="connsiteX5216" fmla="*/ 1372003 w 3600000"/>
              <a:gd name="connsiteY5216" fmla="*/ 2310387 h 2787466"/>
              <a:gd name="connsiteX5217" fmla="*/ 1372003 w 3600000"/>
              <a:gd name="connsiteY5217" fmla="*/ 2317305 h 2787466"/>
              <a:gd name="connsiteX5218" fmla="*/ 1364172 w 3600000"/>
              <a:gd name="connsiteY5218" fmla="*/ 2313375 h 2787466"/>
              <a:gd name="connsiteX5219" fmla="*/ 1348715 w 3600000"/>
              <a:gd name="connsiteY5219" fmla="*/ 2328153 h 2787466"/>
              <a:gd name="connsiteX5220" fmla="*/ 1396733 w 3600000"/>
              <a:gd name="connsiteY5220" fmla="*/ 2330197 h 2787466"/>
              <a:gd name="connsiteX5221" fmla="*/ 1439805 w 3600000"/>
              <a:gd name="connsiteY5221" fmla="*/ 2330197 h 2787466"/>
              <a:gd name="connsiteX5222" fmla="*/ 1366851 w 3600000"/>
              <a:gd name="connsiteY5222" fmla="*/ 2341203 h 2787466"/>
              <a:gd name="connsiteX5223" fmla="*/ 1356341 w 3600000"/>
              <a:gd name="connsiteY5223" fmla="*/ 2348120 h 2787466"/>
              <a:gd name="connsiteX5224" fmla="*/ 1302964 w 3600000"/>
              <a:gd name="connsiteY5224" fmla="*/ 2342146 h 2787466"/>
              <a:gd name="connsiteX5225" fmla="*/ 1287302 w 3600000"/>
              <a:gd name="connsiteY5225" fmla="*/ 2343089 h 2787466"/>
              <a:gd name="connsiteX5226" fmla="*/ 1280840 w 3600000"/>
              <a:gd name="connsiteY5226" fmla="*/ 2347141 h 2787466"/>
              <a:gd name="connsiteX5227" fmla="*/ 1271542 w 3600000"/>
              <a:gd name="connsiteY5227" fmla="*/ 2367467 h 2787466"/>
              <a:gd name="connsiteX5228" fmla="*/ 1280553 w 3600000"/>
              <a:gd name="connsiteY5228" fmla="*/ 2365709 h 2787466"/>
              <a:gd name="connsiteX5229" fmla="*/ 1286065 w 3600000"/>
              <a:gd name="connsiteY5229" fmla="*/ 2370917 h 2787466"/>
              <a:gd name="connsiteX5230" fmla="*/ 1293897 w 3600000"/>
              <a:gd name="connsiteY5230" fmla="*/ 2364000 h 2787466"/>
              <a:gd name="connsiteX5231" fmla="*/ 1304407 w 3600000"/>
              <a:gd name="connsiteY5231" fmla="*/ 2369974 h 2787466"/>
              <a:gd name="connsiteX5232" fmla="*/ 1309559 w 3600000"/>
              <a:gd name="connsiteY5232" fmla="*/ 2364943 h 2787466"/>
              <a:gd name="connsiteX5233" fmla="*/ 1315947 w 3600000"/>
              <a:gd name="connsiteY5233" fmla="*/ 2370917 h 2787466"/>
              <a:gd name="connsiteX5234" fmla="*/ 1283386 w 3600000"/>
              <a:gd name="connsiteY5234" fmla="*/ 2379879 h 2787466"/>
              <a:gd name="connsiteX5235" fmla="*/ 1270402 w 3600000"/>
              <a:gd name="connsiteY5235" fmla="*/ 2375006 h 2787466"/>
              <a:gd name="connsiteX5236" fmla="*/ 1270402 w 3600000"/>
              <a:gd name="connsiteY5236" fmla="*/ 2386797 h 2787466"/>
              <a:gd name="connsiteX5237" fmla="*/ 1255951 w 3600000"/>
              <a:gd name="connsiteY5237" fmla="*/ 2383102 h 2787466"/>
              <a:gd name="connsiteX5238" fmla="*/ 1253331 w 3600000"/>
              <a:gd name="connsiteY5238" fmla="*/ 2382583 h 2787466"/>
              <a:gd name="connsiteX5239" fmla="*/ 1243683 w 3600000"/>
              <a:gd name="connsiteY5239" fmla="*/ 2390057 h 2787466"/>
              <a:gd name="connsiteX5240" fmla="*/ 1227559 w 3600000"/>
              <a:gd name="connsiteY5240" fmla="*/ 2398019 h 2787466"/>
              <a:gd name="connsiteX5241" fmla="*/ 1228354 w 3600000"/>
              <a:gd name="connsiteY5241" fmla="*/ 2398373 h 2787466"/>
              <a:gd name="connsiteX5242" fmla="*/ 1272425 w 3600000"/>
              <a:gd name="connsiteY5242" fmla="*/ 2394685 h 2787466"/>
              <a:gd name="connsiteX5243" fmla="*/ 1280049 w 3600000"/>
              <a:gd name="connsiteY5243" fmla="*/ 2398587 h 2787466"/>
              <a:gd name="connsiteX5244" fmla="*/ 1349280 w 3600000"/>
              <a:gd name="connsiteY5244" fmla="*/ 2390784 h 2787466"/>
              <a:gd name="connsiteX5245" fmla="*/ 1370091 w 3600000"/>
              <a:gd name="connsiteY5245" fmla="*/ 2389691 h 2787466"/>
              <a:gd name="connsiteX5246" fmla="*/ 1359582 w 3600000"/>
              <a:gd name="connsiteY5246" fmla="*/ 2410449 h 2787466"/>
              <a:gd name="connsiteX5247" fmla="*/ 1351753 w 3600000"/>
              <a:gd name="connsiteY5247" fmla="*/ 2401553 h 2787466"/>
              <a:gd name="connsiteX5248" fmla="*/ 1327027 w 3600000"/>
              <a:gd name="connsiteY5248" fmla="*/ 2405455 h 2787466"/>
              <a:gd name="connsiteX5249" fmla="*/ 1321876 w 3600000"/>
              <a:gd name="connsiteY5249" fmla="*/ 2413414 h 2787466"/>
              <a:gd name="connsiteX5250" fmla="*/ 1302302 w 3600000"/>
              <a:gd name="connsiteY5250" fmla="*/ 2419346 h 2787466"/>
              <a:gd name="connsiteX5251" fmla="*/ 1291793 w 3600000"/>
              <a:gd name="connsiteY5251" fmla="*/ 2410449 h 2787466"/>
              <a:gd name="connsiteX5252" fmla="*/ 1255323 w 3600000"/>
              <a:gd name="connsiteY5252" fmla="*/ 2408420 h 2787466"/>
              <a:gd name="connsiteX5253" fmla="*/ 1217308 w 3600000"/>
              <a:gd name="connsiteY5253" fmla="*/ 2403877 h 2787466"/>
              <a:gd name="connsiteX5254" fmla="*/ 1217414 w 3600000"/>
              <a:gd name="connsiteY5254" fmla="*/ 2400326 h 2787466"/>
              <a:gd name="connsiteX5255" fmla="*/ 1205722 w 3600000"/>
              <a:gd name="connsiteY5255" fmla="*/ 2402830 h 2787466"/>
              <a:gd name="connsiteX5256" fmla="*/ 1190063 w 3600000"/>
              <a:gd name="connsiteY5256" fmla="*/ 2415878 h 2787466"/>
              <a:gd name="connsiteX5257" fmla="*/ 1152360 w 3600000"/>
              <a:gd name="connsiteY5257" fmla="*/ 2407860 h 2787466"/>
              <a:gd name="connsiteX5258" fmla="*/ 1152441 w 3600000"/>
              <a:gd name="connsiteY5258" fmla="*/ 2406330 h 2787466"/>
              <a:gd name="connsiteX5259" fmla="*/ 1151831 w 3600000"/>
              <a:gd name="connsiteY5259" fmla="*/ 2406133 h 2787466"/>
              <a:gd name="connsiteX5260" fmla="*/ 1147963 w 3600000"/>
              <a:gd name="connsiteY5260" fmla="*/ 2402158 h 2787466"/>
              <a:gd name="connsiteX5261" fmla="*/ 1149326 w 3600000"/>
              <a:gd name="connsiteY5261" fmla="*/ 2394811 h 2787466"/>
              <a:gd name="connsiteX5262" fmla="*/ 1137873 w 3600000"/>
              <a:gd name="connsiteY5262" fmla="*/ 2390519 h 2787466"/>
              <a:gd name="connsiteX5263" fmla="*/ 1112853 w 3600000"/>
              <a:gd name="connsiteY5263" fmla="*/ 2385379 h 2787466"/>
              <a:gd name="connsiteX5264" fmla="*/ 1090479 w 3600000"/>
              <a:gd name="connsiteY5264" fmla="*/ 2380087 h 2787466"/>
              <a:gd name="connsiteX5265" fmla="*/ 1084595 w 3600000"/>
              <a:gd name="connsiteY5265" fmla="*/ 2380484 h 2787466"/>
              <a:gd name="connsiteX5266" fmla="*/ 1084536 w 3600000"/>
              <a:gd name="connsiteY5266" fmla="*/ 2380647 h 2787466"/>
              <a:gd name="connsiteX5267" fmla="*/ 1076741 w 3600000"/>
              <a:gd name="connsiteY5267" fmla="*/ 2381045 h 2787466"/>
              <a:gd name="connsiteX5268" fmla="*/ 1087044 w 3600000"/>
              <a:gd name="connsiteY5268" fmla="*/ 2392051 h 2787466"/>
              <a:gd name="connsiteX5269" fmla="*/ 1083129 w 3600000"/>
              <a:gd name="connsiteY5269" fmla="*/ 2401955 h 2787466"/>
              <a:gd name="connsiteX5270" fmla="*/ 1088486 w 3600000"/>
              <a:gd name="connsiteY5270" fmla="*/ 2395981 h 2787466"/>
              <a:gd name="connsiteX5271" fmla="*/ 1100232 w 3600000"/>
              <a:gd name="connsiteY5271" fmla="*/ 2401955 h 2787466"/>
              <a:gd name="connsiteX5272" fmla="*/ 1093638 w 3600000"/>
              <a:gd name="connsiteY5272" fmla="*/ 2410917 h 2787466"/>
              <a:gd name="connsiteX5273" fmla="*/ 1080656 w 3600000"/>
              <a:gd name="connsiteY5273" fmla="*/ 2409974 h 2787466"/>
              <a:gd name="connsiteX5274" fmla="*/ 1102705 w 3600000"/>
              <a:gd name="connsiteY5274" fmla="*/ 2425853 h 2787466"/>
              <a:gd name="connsiteX5275" fmla="*/ 1101468 w 3600000"/>
              <a:gd name="connsiteY5275" fmla="*/ 2439689 h 2787466"/>
              <a:gd name="connsiteX5276" fmla="*/ 1090959 w 3600000"/>
              <a:gd name="connsiteY5276" fmla="*/ 2435759 h 2787466"/>
              <a:gd name="connsiteX5277" fmla="*/ 1090959 w 3600000"/>
              <a:gd name="connsiteY5277" fmla="*/ 2427740 h 2787466"/>
              <a:gd name="connsiteX5278" fmla="*/ 1081892 w 3600000"/>
              <a:gd name="connsiteY5278" fmla="*/ 2429784 h 2787466"/>
              <a:gd name="connsiteX5279" fmla="*/ 1089723 w 3600000"/>
              <a:gd name="connsiteY5279" fmla="*/ 2436702 h 2787466"/>
              <a:gd name="connsiteX5280" fmla="*/ 1081892 w 3600000"/>
              <a:gd name="connsiteY5280" fmla="*/ 2447708 h 2787466"/>
              <a:gd name="connsiteX5281" fmla="*/ 1062317 w 3600000"/>
              <a:gd name="connsiteY5281" fmla="*/ 2423810 h 2787466"/>
              <a:gd name="connsiteX5282" fmla="*/ 1055928 w 3600000"/>
              <a:gd name="connsiteY5282" fmla="*/ 2451639 h 2787466"/>
              <a:gd name="connsiteX5283" fmla="*/ 1061080 w 3600000"/>
              <a:gd name="connsiteY5283" fmla="*/ 2459657 h 2787466"/>
              <a:gd name="connsiteX5284" fmla="*/ 1067674 w 3600000"/>
              <a:gd name="connsiteY5284" fmla="*/ 2458557 h 2787466"/>
              <a:gd name="connsiteX5285" fmla="*/ 1059844 w 3600000"/>
              <a:gd name="connsiteY5285" fmla="*/ 2503365 h 2787466"/>
              <a:gd name="connsiteX5286" fmla="*/ 1067674 w 3600000"/>
              <a:gd name="connsiteY5286" fmla="*/ 2505252 h 2787466"/>
              <a:gd name="connsiteX5287" fmla="*/ 1062317 w 3600000"/>
              <a:gd name="connsiteY5287" fmla="*/ 2514213 h 2787466"/>
              <a:gd name="connsiteX5288" fmla="*/ 1053250 w 3600000"/>
              <a:gd name="connsiteY5288" fmla="*/ 2508239 h 2787466"/>
              <a:gd name="connsiteX5289" fmla="*/ 1050571 w 3600000"/>
              <a:gd name="connsiteY5289" fmla="*/ 2526162 h 2787466"/>
              <a:gd name="connsiteX5290" fmla="*/ 1040268 w 3600000"/>
              <a:gd name="connsiteY5290" fmla="*/ 2530093 h 2787466"/>
              <a:gd name="connsiteX5291" fmla="*/ 1046655 w 3600000"/>
              <a:gd name="connsiteY5291" fmla="*/ 2533081 h 2787466"/>
              <a:gd name="connsiteX5292" fmla="*/ 1034910 w 3600000"/>
              <a:gd name="connsiteY5292" fmla="*/ 2537011 h 2787466"/>
              <a:gd name="connsiteX5293" fmla="*/ 1041504 w 3600000"/>
              <a:gd name="connsiteY5293" fmla="*/ 2544086 h 2787466"/>
              <a:gd name="connsiteX5294" fmla="*/ 1023370 w 3600000"/>
              <a:gd name="connsiteY5294" fmla="*/ 2545029 h 2787466"/>
              <a:gd name="connsiteX5295" fmla="*/ 1021928 w 3600000"/>
              <a:gd name="connsiteY5295" fmla="*/ 2556978 h 2787466"/>
              <a:gd name="connsiteX5296" fmla="*/ 1019455 w 3600000"/>
              <a:gd name="connsiteY5296" fmla="*/ 2554934 h 2787466"/>
              <a:gd name="connsiteX5297" fmla="*/ 1016776 w 3600000"/>
              <a:gd name="connsiteY5297" fmla="*/ 2554934 h 2787466"/>
              <a:gd name="connsiteX5298" fmla="*/ 1016776 w 3600000"/>
              <a:gd name="connsiteY5298" fmla="*/ 2547073 h 2787466"/>
              <a:gd name="connsiteX5299" fmla="*/ 1020691 w 3600000"/>
              <a:gd name="connsiteY5299" fmla="*/ 2566884 h 2787466"/>
              <a:gd name="connsiteX5300" fmla="*/ 1008945 w 3600000"/>
              <a:gd name="connsiteY5300" fmla="*/ 2571915 h 2787466"/>
              <a:gd name="connsiteX5301" fmla="*/ 1012860 w 3600000"/>
              <a:gd name="connsiteY5301" fmla="*/ 2577889 h 2787466"/>
              <a:gd name="connsiteX5302" fmla="*/ 993284 w 3600000"/>
              <a:gd name="connsiteY5302" fmla="*/ 2575846 h 2787466"/>
              <a:gd name="connsiteX5303" fmla="*/ 992048 w 3600000"/>
              <a:gd name="connsiteY5303" fmla="*/ 2562953 h 2787466"/>
              <a:gd name="connsiteX5304" fmla="*/ 979066 w 3600000"/>
              <a:gd name="connsiteY5304" fmla="*/ 2563897 h 2787466"/>
              <a:gd name="connsiteX5305" fmla="*/ 988133 w 3600000"/>
              <a:gd name="connsiteY5305" fmla="*/ 2583707 h 2787466"/>
              <a:gd name="connsiteX5306" fmla="*/ 998642 w 3600000"/>
              <a:gd name="connsiteY5306" fmla="*/ 2592669 h 2787466"/>
              <a:gd name="connsiteX5307" fmla="*/ 992048 w 3600000"/>
              <a:gd name="connsiteY5307" fmla="*/ 2584807 h 2787466"/>
              <a:gd name="connsiteX5308" fmla="*/ 981539 w 3600000"/>
              <a:gd name="connsiteY5308" fmla="*/ 2590782 h 2787466"/>
              <a:gd name="connsiteX5309" fmla="*/ 989369 w 3600000"/>
              <a:gd name="connsiteY5309" fmla="*/ 2595656 h 2787466"/>
              <a:gd name="connsiteX5310" fmla="*/ 982981 w 3600000"/>
              <a:gd name="connsiteY5310" fmla="*/ 2596756 h 2787466"/>
              <a:gd name="connsiteX5311" fmla="*/ 994727 w 3600000"/>
              <a:gd name="connsiteY5311" fmla="*/ 2603674 h 2787466"/>
              <a:gd name="connsiteX5312" fmla="*/ 982981 w 3600000"/>
              <a:gd name="connsiteY5312" fmla="*/ 2607605 h 2787466"/>
              <a:gd name="connsiteX5313" fmla="*/ 995963 w 3600000"/>
              <a:gd name="connsiteY5313" fmla="*/ 2614523 h 2787466"/>
              <a:gd name="connsiteX5314" fmla="*/ 986897 w 3600000"/>
              <a:gd name="connsiteY5314" fmla="*/ 2612636 h 2787466"/>
              <a:gd name="connsiteX5315" fmla="*/ 981539 w 3600000"/>
              <a:gd name="connsiteY5315" fmla="*/ 2616566 h 2787466"/>
              <a:gd name="connsiteX5316" fmla="*/ 990811 w 3600000"/>
              <a:gd name="connsiteY5316" fmla="*/ 2634490 h 2787466"/>
              <a:gd name="connsiteX5317" fmla="*/ 1003793 w 3600000"/>
              <a:gd name="connsiteY5317" fmla="*/ 2636377 h 2787466"/>
              <a:gd name="connsiteX5318" fmla="*/ 1006473 w 3600000"/>
              <a:gd name="connsiteY5318" fmla="*/ 2641408 h 2787466"/>
              <a:gd name="connsiteX5319" fmla="*/ 1001115 w 3600000"/>
              <a:gd name="connsiteY5319" fmla="*/ 2649426 h 2787466"/>
              <a:gd name="connsiteX5320" fmla="*/ 988133 w 3600000"/>
              <a:gd name="connsiteY5320" fmla="*/ 2629459 h 2787466"/>
              <a:gd name="connsiteX5321" fmla="*/ 982981 w 3600000"/>
              <a:gd name="connsiteY5321" fmla="*/ 2629459 h 2787466"/>
              <a:gd name="connsiteX5322" fmla="*/ 994727 w 3600000"/>
              <a:gd name="connsiteY5322" fmla="*/ 2678198 h 2787466"/>
              <a:gd name="connsiteX5323" fmla="*/ 985454 w 3600000"/>
              <a:gd name="connsiteY5323" fmla="*/ 2684173 h 2787466"/>
              <a:gd name="connsiteX5324" fmla="*/ 963405 w 3600000"/>
              <a:gd name="connsiteY5324" fmla="*/ 2659332 h 2787466"/>
              <a:gd name="connsiteX5325" fmla="*/ 959489 w 3600000"/>
              <a:gd name="connsiteY5325" fmla="*/ 2660275 h 2787466"/>
              <a:gd name="connsiteX5326" fmla="*/ 967320 w 3600000"/>
              <a:gd name="connsiteY5326" fmla="*/ 2698009 h 2787466"/>
              <a:gd name="connsiteX5327" fmla="*/ 963405 w 3600000"/>
              <a:gd name="connsiteY5327" fmla="*/ 2730869 h 2787466"/>
              <a:gd name="connsiteX5328" fmla="*/ 966084 w 3600000"/>
              <a:gd name="connsiteY5328" fmla="*/ 2735743 h 2787466"/>
              <a:gd name="connsiteX5329" fmla="*/ 955574 w 3600000"/>
              <a:gd name="connsiteY5329" fmla="*/ 2733856 h 2787466"/>
              <a:gd name="connsiteX5330" fmla="*/ 946507 w 3600000"/>
              <a:gd name="connsiteY5330" fmla="*/ 2741717 h 2787466"/>
              <a:gd name="connsiteX5331" fmla="*/ 952895 w 3600000"/>
              <a:gd name="connsiteY5331" fmla="*/ 2745647 h 2787466"/>
              <a:gd name="connsiteX5332" fmla="*/ 951659 w 3600000"/>
              <a:gd name="connsiteY5332" fmla="*/ 2741717 h 2787466"/>
              <a:gd name="connsiteX5333" fmla="*/ 963405 w 3600000"/>
              <a:gd name="connsiteY5333" fmla="*/ 2755710 h 2787466"/>
              <a:gd name="connsiteX5334" fmla="*/ 930846 w 3600000"/>
              <a:gd name="connsiteY5334" fmla="*/ 2780551 h 2787466"/>
              <a:gd name="connsiteX5335" fmla="*/ 921058 w 3600000"/>
              <a:gd name="connsiteY5335" fmla="*/ 2781770 h 2787466"/>
              <a:gd name="connsiteX5336" fmla="*/ 911276 w 3600000"/>
              <a:gd name="connsiteY5336" fmla="*/ 2787466 h 2787466"/>
              <a:gd name="connsiteX5337" fmla="*/ 911265 w 3600000"/>
              <a:gd name="connsiteY5337" fmla="*/ 2787466 h 2787466"/>
              <a:gd name="connsiteX5338" fmla="*/ 886388 w 3600000"/>
              <a:gd name="connsiteY5338" fmla="*/ 2773653 h 2787466"/>
              <a:gd name="connsiteX5339" fmla="*/ 872324 w 3600000"/>
              <a:gd name="connsiteY5339" fmla="*/ 2748635 h 2787466"/>
              <a:gd name="connsiteX5340" fmla="*/ 882627 w 3600000"/>
              <a:gd name="connsiteY5340" fmla="*/ 2752723 h 2787466"/>
              <a:gd name="connsiteX5341" fmla="*/ 881391 w 3600000"/>
              <a:gd name="connsiteY5341" fmla="*/ 2734799 h 2787466"/>
              <a:gd name="connsiteX5342" fmla="*/ 864493 w 3600000"/>
              <a:gd name="connsiteY5342" fmla="*/ 2691091 h 2787466"/>
              <a:gd name="connsiteX5343" fmla="*/ 866966 w 3600000"/>
              <a:gd name="connsiteY5343" fmla="*/ 2652257 h 2787466"/>
              <a:gd name="connsiteX5344" fmla="*/ 860578 w 3600000"/>
              <a:gd name="connsiteY5344" fmla="*/ 2663262 h 2787466"/>
              <a:gd name="connsiteX5345" fmla="*/ 856663 w 3600000"/>
              <a:gd name="connsiteY5345" fmla="*/ 2640465 h 2787466"/>
              <a:gd name="connsiteX5346" fmla="*/ 853984 w 3600000"/>
              <a:gd name="connsiteY5346" fmla="*/ 2616566 h 2787466"/>
              <a:gd name="connsiteX5347" fmla="*/ 863051 w 3600000"/>
              <a:gd name="connsiteY5347" fmla="*/ 2613580 h 2787466"/>
              <a:gd name="connsiteX5348" fmla="*/ 859136 w 3600000"/>
              <a:gd name="connsiteY5348" fmla="*/ 2596756 h 2787466"/>
              <a:gd name="connsiteX5349" fmla="*/ 861814 w 3600000"/>
              <a:gd name="connsiteY5349" fmla="*/ 2603674 h 2787466"/>
              <a:gd name="connsiteX5350" fmla="*/ 857899 w 3600000"/>
              <a:gd name="connsiteY5350" fmla="*/ 2591725 h 2787466"/>
              <a:gd name="connsiteX5351" fmla="*/ 864493 w 3600000"/>
              <a:gd name="connsiteY5351" fmla="*/ 2552891 h 2787466"/>
              <a:gd name="connsiteX5352" fmla="*/ 843680 w 3600000"/>
              <a:gd name="connsiteY5352" fmla="*/ 2528207 h 2787466"/>
              <a:gd name="connsiteX5353" fmla="*/ 824104 w 3600000"/>
              <a:gd name="connsiteY5353" fmla="*/ 2530093 h 2787466"/>
              <a:gd name="connsiteX5354" fmla="*/ 828020 w 3600000"/>
              <a:gd name="connsiteY5354" fmla="*/ 2537011 h 2787466"/>
              <a:gd name="connsiteX5355" fmla="*/ 841002 w 3600000"/>
              <a:gd name="connsiteY5355" fmla="*/ 2538112 h 2787466"/>
              <a:gd name="connsiteX5356" fmla="*/ 837086 w 3600000"/>
              <a:gd name="connsiteY5356" fmla="*/ 2558865 h 2787466"/>
              <a:gd name="connsiteX5357" fmla="*/ 828020 w 3600000"/>
              <a:gd name="connsiteY5357" fmla="*/ 2560909 h 2787466"/>
              <a:gd name="connsiteX5358" fmla="*/ 831934 w 3600000"/>
              <a:gd name="connsiteY5358" fmla="*/ 2569871 h 2787466"/>
              <a:gd name="connsiteX5359" fmla="*/ 837086 w 3600000"/>
              <a:gd name="connsiteY5359" fmla="*/ 2569871 h 2787466"/>
              <a:gd name="connsiteX5360" fmla="*/ 830492 w 3600000"/>
              <a:gd name="connsiteY5360" fmla="*/ 2574903 h 2787466"/>
              <a:gd name="connsiteX5361" fmla="*/ 813595 w 3600000"/>
              <a:gd name="connsiteY5361" fmla="*/ 2560909 h 2787466"/>
              <a:gd name="connsiteX5362" fmla="*/ 818952 w 3600000"/>
              <a:gd name="connsiteY5362" fmla="*/ 2583707 h 2787466"/>
              <a:gd name="connsiteX5363" fmla="*/ 807207 w 3600000"/>
              <a:gd name="connsiteY5363" fmla="*/ 2583707 h 2787466"/>
              <a:gd name="connsiteX5364" fmla="*/ 801849 w 3600000"/>
              <a:gd name="connsiteY5364" fmla="*/ 2600687 h 2787466"/>
              <a:gd name="connsiteX5365" fmla="*/ 791546 w 3600000"/>
              <a:gd name="connsiteY5365" fmla="*/ 2596756 h 2787466"/>
              <a:gd name="connsiteX5366" fmla="*/ 783716 w 3600000"/>
              <a:gd name="connsiteY5366" fmla="*/ 2609649 h 2787466"/>
              <a:gd name="connsiteX5367" fmla="*/ 788867 w 3600000"/>
              <a:gd name="connsiteY5367" fmla="*/ 2611535 h 2787466"/>
              <a:gd name="connsiteX5368" fmla="*/ 778564 w 3600000"/>
              <a:gd name="connsiteY5368" fmla="*/ 2629459 h 2787466"/>
              <a:gd name="connsiteX5369" fmla="*/ 761460 w 3600000"/>
              <a:gd name="connsiteY5369" fmla="*/ 2644395 h 2787466"/>
              <a:gd name="connsiteX5370" fmla="*/ 748478 w 3600000"/>
              <a:gd name="connsiteY5370" fmla="*/ 2566884 h 2787466"/>
              <a:gd name="connsiteX5371" fmla="*/ 744563 w 3600000"/>
              <a:gd name="connsiteY5371" fmla="*/ 2542042 h 2787466"/>
              <a:gd name="connsiteX5372" fmla="*/ 739411 w 3600000"/>
              <a:gd name="connsiteY5372" fmla="*/ 2518144 h 2787466"/>
              <a:gd name="connsiteX5373" fmla="*/ 746005 w 3600000"/>
              <a:gd name="connsiteY5373" fmla="*/ 2538112 h 2787466"/>
              <a:gd name="connsiteX5374" fmla="*/ 738175 w 3600000"/>
              <a:gd name="connsiteY5374" fmla="*/ 2506352 h 2787466"/>
              <a:gd name="connsiteX5375" fmla="*/ 730345 w 3600000"/>
              <a:gd name="connsiteY5375" fmla="*/ 2496290 h 2787466"/>
              <a:gd name="connsiteX5376" fmla="*/ 744563 w 3600000"/>
              <a:gd name="connsiteY5376" fmla="*/ 2507296 h 2787466"/>
              <a:gd name="connsiteX5377" fmla="*/ 725193 w 3600000"/>
              <a:gd name="connsiteY5377" fmla="*/ 2486385 h 2787466"/>
              <a:gd name="connsiteX5378" fmla="*/ 734260 w 3600000"/>
              <a:gd name="connsiteY5378" fmla="*/ 2483397 h 2787466"/>
              <a:gd name="connsiteX5379" fmla="*/ 738175 w 3600000"/>
              <a:gd name="connsiteY5379" fmla="*/ 2473493 h 2787466"/>
              <a:gd name="connsiteX5380" fmla="*/ 736732 w 3600000"/>
              <a:gd name="connsiteY5380" fmla="*/ 2470505 h 2787466"/>
              <a:gd name="connsiteX5381" fmla="*/ 722514 w 3600000"/>
              <a:gd name="connsiteY5381" fmla="*/ 2464530 h 2787466"/>
              <a:gd name="connsiteX5382" fmla="*/ 721277 w 3600000"/>
              <a:gd name="connsiteY5382" fmla="*/ 2468461 h 2787466"/>
              <a:gd name="connsiteX5383" fmla="*/ 730345 w 3600000"/>
              <a:gd name="connsiteY5383" fmla="*/ 2473493 h 2787466"/>
              <a:gd name="connsiteX5384" fmla="*/ 729108 w 3600000"/>
              <a:gd name="connsiteY5384" fmla="*/ 2481511 h 2787466"/>
              <a:gd name="connsiteX5385" fmla="*/ 721277 w 3600000"/>
              <a:gd name="connsiteY5385" fmla="*/ 2470505 h 2787466"/>
              <a:gd name="connsiteX5386" fmla="*/ 710768 w 3600000"/>
              <a:gd name="connsiteY5386" fmla="*/ 2477423 h 2787466"/>
              <a:gd name="connsiteX5387" fmla="*/ 696344 w 3600000"/>
              <a:gd name="connsiteY5387" fmla="*/ 2471449 h 2787466"/>
              <a:gd name="connsiteX5388" fmla="*/ 709532 w 3600000"/>
              <a:gd name="connsiteY5388" fmla="*/ 2495346 h 2787466"/>
              <a:gd name="connsiteX5389" fmla="*/ 712005 w 3600000"/>
              <a:gd name="connsiteY5389" fmla="*/ 2505252 h 2787466"/>
              <a:gd name="connsiteX5390" fmla="*/ 719836 w 3600000"/>
              <a:gd name="connsiteY5390" fmla="*/ 2504308 h 2787466"/>
              <a:gd name="connsiteX5391" fmla="*/ 714684 w 3600000"/>
              <a:gd name="connsiteY5391" fmla="*/ 2512170 h 2787466"/>
              <a:gd name="connsiteX5392" fmla="*/ 719836 w 3600000"/>
              <a:gd name="connsiteY5392" fmla="*/ 2601630 h 2787466"/>
              <a:gd name="connsiteX5393" fmla="*/ 702938 w 3600000"/>
              <a:gd name="connsiteY5393" fmla="*/ 2582764 h 2787466"/>
              <a:gd name="connsiteX5394" fmla="*/ 701702 w 3600000"/>
              <a:gd name="connsiteY5394" fmla="*/ 2603674 h 2787466"/>
              <a:gd name="connsiteX5395" fmla="*/ 691192 w 3600000"/>
              <a:gd name="connsiteY5395" fmla="*/ 2609649 h 2787466"/>
              <a:gd name="connsiteX5396" fmla="*/ 695107 w 3600000"/>
              <a:gd name="connsiteY5396" fmla="*/ 2626472 h 2787466"/>
              <a:gd name="connsiteX5397" fmla="*/ 688719 w 3600000"/>
              <a:gd name="connsiteY5397" fmla="*/ 2636377 h 2787466"/>
              <a:gd name="connsiteX5398" fmla="*/ 684804 w 3600000"/>
              <a:gd name="connsiteY5398" fmla="*/ 2627415 h 2787466"/>
              <a:gd name="connsiteX5399" fmla="*/ 673058 w 3600000"/>
              <a:gd name="connsiteY5399" fmla="*/ 2632446 h 2787466"/>
              <a:gd name="connsiteX5400" fmla="*/ 644415 w 3600000"/>
              <a:gd name="connsiteY5400" fmla="*/ 2591725 h 2787466"/>
              <a:gd name="connsiteX5401" fmla="*/ 629991 w 3600000"/>
              <a:gd name="connsiteY5401" fmla="*/ 2550061 h 2787466"/>
              <a:gd name="connsiteX5402" fmla="*/ 615772 w 3600000"/>
              <a:gd name="connsiteY5402" fmla="*/ 2498334 h 2787466"/>
              <a:gd name="connsiteX5403" fmla="*/ 605262 w 3600000"/>
              <a:gd name="connsiteY5403" fmla="*/ 2455569 h 2787466"/>
              <a:gd name="connsiteX5404" fmla="*/ 611857 w 3600000"/>
              <a:gd name="connsiteY5404" fmla="*/ 2455569 h 2787466"/>
              <a:gd name="connsiteX5405" fmla="*/ 602584 w 3600000"/>
              <a:gd name="connsiteY5405" fmla="*/ 2440633 h 2787466"/>
              <a:gd name="connsiteX5406" fmla="*/ 613093 w 3600000"/>
              <a:gd name="connsiteY5406" fmla="*/ 2435759 h 2787466"/>
              <a:gd name="connsiteX5407" fmla="*/ 581771 w 3600000"/>
              <a:gd name="connsiteY5407" fmla="*/ 2384032 h 2787466"/>
              <a:gd name="connsiteX5408" fmla="*/ 575383 w 3600000"/>
              <a:gd name="connsiteY5408" fmla="*/ 2368152 h 2787466"/>
              <a:gd name="connsiteX5409" fmla="*/ 594959 w 3600000"/>
              <a:gd name="connsiteY5409" fmla="*/ 2314539 h 2787466"/>
              <a:gd name="connsiteX5410" fmla="*/ 592280 w 3600000"/>
              <a:gd name="connsiteY5410" fmla="*/ 2320513 h 2787466"/>
              <a:gd name="connsiteX5411" fmla="*/ 579299 w 3600000"/>
              <a:gd name="connsiteY5411" fmla="*/ 2312494 h 2787466"/>
              <a:gd name="connsiteX5412" fmla="*/ 578062 w 3600000"/>
              <a:gd name="connsiteY5412" fmla="*/ 2302590 h 2787466"/>
              <a:gd name="connsiteX5413" fmla="*/ 587129 w 3600000"/>
              <a:gd name="connsiteY5413" fmla="*/ 2292684 h 2787466"/>
              <a:gd name="connsiteX5414" fmla="*/ 574147 w 3600000"/>
              <a:gd name="connsiteY5414" fmla="*/ 2286710 h 2787466"/>
              <a:gd name="connsiteX5415" fmla="*/ 589602 w 3600000"/>
              <a:gd name="connsiteY5415" fmla="*/ 2219104 h 2787466"/>
              <a:gd name="connsiteX5416" fmla="*/ 589602 w 3600000"/>
              <a:gd name="connsiteY5416" fmla="*/ 2201338 h 2787466"/>
              <a:gd name="connsiteX5417" fmla="*/ 566110 w 3600000"/>
              <a:gd name="connsiteY5417" fmla="*/ 2183414 h 2787466"/>
              <a:gd name="connsiteX5418" fmla="*/ 583214 w 3600000"/>
              <a:gd name="connsiteY5418" fmla="*/ 2096941 h 2787466"/>
              <a:gd name="connsiteX5419" fmla="*/ 579299 w 3600000"/>
              <a:gd name="connsiteY5419" fmla="*/ 2063137 h 2787466"/>
              <a:gd name="connsiteX5420" fmla="*/ 581771 w 3600000"/>
              <a:gd name="connsiteY5420" fmla="*/ 2010467 h 2787466"/>
              <a:gd name="connsiteX5421" fmla="*/ 574147 w 3600000"/>
              <a:gd name="connsiteY5421" fmla="*/ 1972734 h 2787466"/>
              <a:gd name="connsiteX5422" fmla="*/ 584450 w 3600000"/>
              <a:gd name="connsiteY5422" fmla="*/ 1968803 h 2787466"/>
              <a:gd name="connsiteX5423" fmla="*/ 578062 w 3600000"/>
              <a:gd name="connsiteY5423" fmla="*/ 1943961 h 2787466"/>
              <a:gd name="connsiteX5424" fmla="*/ 583214 w 3600000"/>
              <a:gd name="connsiteY5424" fmla="*/ 1948835 h 2787466"/>
              <a:gd name="connsiteX5425" fmla="*/ 591044 w 3600000"/>
              <a:gd name="connsiteY5425" fmla="*/ 1901197 h 2787466"/>
              <a:gd name="connsiteX5426" fmla="*/ 584450 w 3600000"/>
              <a:gd name="connsiteY5426" fmla="*/ 1922108 h 2787466"/>
              <a:gd name="connsiteX5427" fmla="*/ 592280 w 3600000"/>
              <a:gd name="connsiteY5427" fmla="*/ 1943961 h 2787466"/>
              <a:gd name="connsiteX5428" fmla="*/ 600111 w 3600000"/>
              <a:gd name="connsiteY5428" fmla="*/ 1938930 h 2787466"/>
              <a:gd name="connsiteX5429" fmla="*/ 602584 w 3600000"/>
              <a:gd name="connsiteY5429" fmla="*/ 1953866 h 2787466"/>
              <a:gd name="connsiteX5430" fmla="*/ 597432 w 3600000"/>
              <a:gd name="connsiteY5430" fmla="*/ 1929025 h 2787466"/>
              <a:gd name="connsiteX5431" fmla="*/ 610028 w 3600000"/>
              <a:gd name="connsiteY5431" fmla="*/ 1901236 h 2787466"/>
              <a:gd name="connsiteX5432" fmla="*/ 610935 w 3600000"/>
              <a:gd name="connsiteY5432" fmla="*/ 1889355 h 2787466"/>
              <a:gd name="connsiteX5433" fmla="*/ 610705 w 3600000"/>
              <a:gd name="connsiteY5433" fmla="*/ 1889143 h 2787466"/>
              <a:gd name="connsiteX5434" fmla="*/ 611016 w 3600000"/>
              <a:gd name="connsiteY5434" fmla="*/ 1888293 h 2787466"/>
              <a:gd name="connsiteX5435" fmla="*/ 611255 w 3600000"/>
              <a:gd name="connsiteY5435" fmla="*/ 1885159 h 2787466"/>
              <a:gd name="connsiteX5436" fmla="*/ 618292 w 3600000"/>
              <a:gd name="connsiteY5436" fmla="*/ 1872827 h 2787466"/>
              <a:gd name="connsiteX5437" fmla="*/ 599130 w 3600000"/>
              <a:gd name="connsiteY5437" fmla="*/ 1869286 h 2787466"/>
              <a:gd name="connsiteX5438" fmla="*/ 599719 w 3600000"/>
              <a:gd name="connsiteY5438" fmla="*/ 1873677 h 2787466"/>
              <a:gd name="connsiteX5439" fmla="*/ 598679 w 3600000"/>
              <a:gd name="connsiteY5439" fmla="*/ 1877649 h 2787466"/>
              <a:gd name="connsiteX5440" fmla="*/ 605030 w 3600000"/>
              <a:gd name="connsiteY5440" fmla="*/ 1877298 h 2787466"/>
              <a:gd name="connsiteX5441" fmla="*/ 607704 w 3600000"/>
              <a:gd name="connsiteY5441" fmla="*/ 1893850 h 2787466"/>
              <a:gd name="connsiteX5442" fmla="*/ 596285 w 3600000"/>
              <a:gd name="connsiteY5442" fmla="*/ 1892284 h 2787466"/>
              <a:gd name="connsiteX5443" fmla="*/ 593375 w 3600000"/>
              <a:gd name="connsiteY5443" fmla="*/ 1892424 h 2787466"/>
              <a:gd name="connsiteX5444" fmla="*/ 591903 w 3600000"/>
              <a:gd name="connsiteY5444" fmla="*/ 1898705 h 2787466"/>
              <a:gd name="connsiteX5445" fmla="*/ 589446 w 3600000"/>
              <a:gd name="connsiteY5445" fmla="*/ 1892613 h 2787466"/>
              <a:gd name="connsiteX5446" fmla="*/ 583015 w 3600000"/>
              <a:gd name="connsiteY5446" fmla="*/ 1892922 h 2787466"/>
              <a:gd name="connsiteX5447" fmla="*/ 575197 w 3600000"/>
              <a:gd name="connsiteY5447" fmla="*/ 1875287 h 2787466"/>
              <a:gd name="connsiteX5448" fmla="*/ 590834 w 3600000"/>
              <a:gd name="connsiteY5448" fmla="*/ 1886115 h 2787466"/>
              <a:gd name="connsiteX5449" fmla="*/ 596842 w 3600000"/>
              <a:gd name="connsiteY5449" fmla="*/ 1883998 h 2787466"/>
              <a:gd name="connsiteX5450" fmla="*/ 597272 w 3600000"/>
              <a:gd name="connsiteY5450" fmla="*/ 1881297 h 2787466"/>
              <a:gd name="connsiteX5451" fmla="*/ 591169 w 3600000"/>
              <a:gd name="connsiteY5451" fmla="*/ 1884836 h 2787466"/>
              <a:gd name="connsiteX5452" fmla="*/ 597517 w 3600000"/>
              <a:gd name="connsiteY5452" fmla="*/ 1857261 h 2787466"/>
              <a:gd name="connsiteX5453" fmla="*/ 598939 w 3600000"/>
              <a:gd name="connsiteY5453" fmla="*/ 1867862 h 2787466"/>
              <a:gd name="connsiteX5454" fmla="*/ 600422 w 3600000"/>
              <a:gd name="connsiteY5454" fmla="*/ 1859674 h 2787466"/>
              <a:gd name="connsiteX5455" fmla="*/ 605085 w 3600000"/>
              <a:gd name="connsiteY5455" fmla="*/ 1852384 h 2787466"/>
              <a:gd name="connsiteX5456" fmla="*/ 603849 w 3600000"/>
              <a:gd name="connsiteY5456" fmla="*/ 1848295 h 2787466"/>
              <a:gd name="connsiteX5457" fmla="*/ 599933 w 3600000"/>
              <a:gd name="connsiteY5457" fmla="*/ 1852384 h 2787466"/>
              <a:gd name="connsiteX5458" fmla="*/ 607765 w 3600000"/>
              <a:gd name="connsiteY5458" fmla="*/ 1843421 h 2787466"/>
              <a:gd name="connsiteX5459" fmla="*/ 565926 w 3600000"/>
              <a:gd name="connsiteY5459" fmla="*/ 1840434 h 2787466"/>
              <a:gd name="connsiteX5460" fmla="*/ 564689 w 3600000"/>
              <a:gd name="connsiteY5460" fmla="*/ 1857257 h 2787466"/>
              <a:gd name="connsiteX5461" fmla="*/ 491730 w 3600000"/>
              <a:gd name="connsiteY5461" fmla="*/ 1832416 h 2787466"/>
              <a:gd name="connsiteX5462" fmla="*/ 494409 w 3600000"/>
              <a:gd name="connsiteY5462" fmla="*/ 1850340 h 2787466"/>
              <a:gd name="connsiteX5463" fmla="*/ 472356 w 3600000"/>
              <a:gd name="connsiteY5463" fmla="*/ 1863231 h 2787466"/>
              <a:gd name="connsiteX5464" fmla="*/ 448861 w 3600000"/>
              <a:gd name="connsiteY5464" fmla="*/ 1862288 h 2787466"/>
              <a:gd name="connsiteX5465" fmla="*/ 421449 w 3600000"/>
              <a:gd name="connsiteY5465" fmla="*/ 1837448 h 2787466"/>
              <a:gd name="connsiteX5466" fmla="*/ 431960 w 3600000"/>
              <a:gd name="connsiteY5466" fmla="*/ 1830529 h 2787466"/>
              <a:gd name="connsiteX5467" fmla="*/ 431960 w 3600000"/>
              <a:gd name="connsiteY5467" fmla="*/ 1807576 h 2787466"/>
              <a:gd name="connsiteX5468" fmla="*/ 422686 w 3600000"/>
              <a:gd name="connsiteY5468" fmla="*/ 1791696 h 2787466"/>
              <a:gd name="connsiteX5469" fmla="*/ 386412 w 3600000"/>
              <a:gd name="connsiteY5469" fmla="*/ 1807576 h 2787466"/>
              <a:gd name="connsiteX5470" fmla="*/ 384969 w 3600000"/>
              <a:gd name="connsiteY5470" fmla="*/ 1809619 h 2787466"/>
              <a:gd name="connsiteX5471" fmla="*/ 394037 w 3600000"/>
              <a:gd name="connsiteY5471" fmla="*/ 1810562 h 2787466"/>
              <a:gd name="connsiteX5472" fmla="*/ 390121 w 3600000"/>
              <a:gd name="connsiteY5472" fmla="*/ 1815594 h 2787466"/>
              <a:gd name="connsiteX5473" fmla="*/ 411144 w 3600000"/>
              <a:gd name="connsiteY5473" fmla="*/ 1826442 h 2787466"/>
              <a:gd name="connsiteX5474" fmla="*/ 401870 w 3600000"/>
              <a:gd name="connsiteY5474" fmla="*/ 1841378 h 2787466"/>
              <a:gd name="connsiteX5475" fmla="*/ 377137 w 3600000"/>
              <a:gd name="connsiteY5475" fmla="*/ 1830529 h 2787466"/>
              <a:gd name="connsiteX5476" fmla="*/ 370748 w 3600000"/>
              <a:gd name="connsiteY5476" fmla="*/ 1818581 h 2787466"/>
              <a:gd name="connsiteX5477" fmla="*/ 379817 w 3600000"/>
              <a:gd name="connsiteY5477" fmla="*/ 1807576 h 2787466"/>
              <a:gd name="connsiteX5478" fmla="*/ 362916 w 3600000"/>
              <a:gd name="connsiteY5478" fmla="*/ 1800658 h 2787466"/>
              <a:gd name="connsiteX5479" fmla="*/ 384969 w 3600000"/>
              <a:gd name="connsiteY5479" fmla="*/ 1800658 h 2787466"/>
              <a:gd name="connsiteX5480" fmla="*/ 395481 w 3600000"/>
              <a:gd name="connsiteY5480" fmla="*/ 1793740 h 2787466"/>
              <a:gd name="connsiteX5481" fmla="*/ 385059 w 3600000"/>
              <a:gd name="connsiteY5481" fmla="*/ 1785134 h 2787466"/>
              <a:gd name="connsiteX5482" fmla="*/ 385074 w 3600000"/>
              <a:gd name="connsiteY5482" fmla="*/ 1785113 h 2787466"/>
              <a:gd name="connsiteX5483" fmla="*/ 385016 w 3600000"/>
              <a:gd name="connsiteY5483" fmla="*/ 1785098 h 2787466"/>
              <a:gd name="connsiteX5484" fmla="*/ 376750 w 3600000"/>
              <a:gd name="connsiteY5484" fmla="*/ 1778273 h 2787466"/>
              <a:gd name="connsiteX5485" fmla="*/ 355084 w 3600000"/>
              <a:gd name="connsiteY5485" fmla="*/ 1762925 h 2787466"/>
              <a:gd name="connsiteX5486" fmla="*/ 346016 w 3600000"/>
              <a:gd name="connsiteY5486" fmla="*/ 1773773 h 2787466"/>
              <a:gd name="connsiteX5487" fmla="*/ 352405 w 3600000"/>
              <a:gd name="connsiteY5487" fmla="*/ 1772829 h 2787466"/>
              <a:gd name="connsiteX5488" fmla="*/ 353642 w 3600000"/>
              <a:gd name="connsiteY5488" fmla="*/ 1778804 h 2787466"/>
              <a:gd name="connsiteX5489" fmla="*/ 340657 w 3600000"/>
              <a:gd name="connsiteY5489" fmla="*/ 1783835 h 2787466"/>
              <a:gd name="connsiteX5490" fmla="*/ 312009 w 3600000"/>
              <a:gd name="connsiteY5490" fmla="*/ 1775817 h 2787466"/>
              <a:gd name="connsiteX5491" fmla="*/ 293872 w 3600000"/>
              <a:gd name="connsiteY5491" fmla="*/ 1764968 h 2787466"/>
              <a:gd name="connsiteX5492" fmla="*/ 283361 w 3600000"/>
              <a:gd name="connsiteY5492" fmla="*/ 1744058 h 2787466"/>
              <a:gd name="connsiteX5493" fmla="*/ 267697 w 3600000"/>
              <a:gd name="connsiteY5493" fmla="*/ 1743115 h 2787466"/>
              <a:gd name="connsiteX5494" fmla="*/ 267697 w 3600000"/>
              <a:gd name="connsiteY5494" fmla="*/ 1723148 h 2787466"/>
              <a:gd name="connsiteX5495" fmla="*/ 286040 w 3600000"/>
              <a:gd name="connsiteY5495" fmla="*/ 1723148 h 2787466"/>
              <a:gd name="connsiteX5496" fmla="*/ 286040 w 3600000"/>
              <a:gd name="connsiteY5496" fmla="*/ 1733052 h 2787466"/>
              <a:gd name="connsiteX5497" fmla="*/ 295109 w 3600000"/>
              <a:gd name="connsiteY5497" fmla="*/ 1733052 h 2787466"/>
              <a:gd name="connsiteX5498" fmla="*/ 304177 w 3600000"/>
              <a:gd name="connsiteY5498" fmla="*/ 1724091 h 2787466"/>
              <a:gd name="connsiteX5499" fmla="*/ 295109 w 3600000"/>
              <a:gd name="connsiteY5499" fmla="*/ 1723148 h 2787466"/>
              <a:gd name="connsiteX5500" fmla="*/ 292636 w 3600000"/>
              <a:gd name="connsiteY5500" fmla="*/ 1707268 h 2787466"/>
              <a:gd name="connsiteX5501" fmla="*/ 280321 w 3600000"/>
              <a:gd name="connsiteY5501" fmla="*/ 1706561 h 2787466"/>
              <a:gd name="connsiteX5502" fmla="*/ 279193 w 3600000"/>
              <a:gd name="connsiteY5502" fmla="*/ 1703780 h 2787466"/>
              <a:gd name="connsiteX5503" fmla="*/ 272494 w 3600000"/>
              <a:gd name="connsiteY5503" fmla="*/ 1704995 h 2787466"/>
              <a:gd name="connsiteX5504" fmla="*/ 271974 w 3600000"/>
              <a:gd name="connsiteY5504" fmla="*/ 1708762 h 2787466"/>
              <a:gd name="connsiteX5505" fmla="*/ 269140 w 3600000"/>
              <a:gd name="connsiteY5505" fmla="*/ 1719217 h 2787466"/>
              <a:gd name="connsiteX5506" fmla="*/ 262809 w 3600000"/>
              <a:gd name="connsiteY5506" fmla="*/ 1709010 h 2787466"/>
              <a:gd name="connsiteX5507" fmla="*/ 263122 w 3600000"/>
              <a:gd name="connsiteY5507" fmla="*/ 1706694 h 2787466"/>
              <a:gd name="connsiteX5508" fmla="*/ 253804 w 3600000"/>
              <a:gd name="connsiteY5508" fmla="*/ 1708384 h 2787466"/>
              <a:gd name="connsiteX5509" fmla="*/ 256483 w 3600000"/>
              <a:gd name="connsiteY5509" fmla="*/ 1713414 h 2787466"/>
              <a:gd name="connsiteX5510" fmla="*/ 214647 w 3600000"/>
              <a:gd name="connsiteY5510" fmla="*/ 1720331 h 2787466"/>
              <a:gd name="connsiteX5511" fmla="*/ 182086 w 3600000"/>
              <a:gd name="connsiteY5511" fmla="*/ 1744223 h 2787466"/>
              <a:gd name="connsiteX5512" fmla="*/ 204343 w 3600000"/>
              <a:gd name="connsiteY5512" fmla="*/ 1707441 h 2787466"/>
              <a:gd name="connsiteX5513" fmla="*/ 200428 w 3600000"/>
              <a:gd name="connsiteY5513" fmla="*/ 1702411 h 2787466"/>
              <a:gd name="connsiteX5514" fmla="*/ 188681 w 3600000"/>
              <a:gd name="connsiteY5514" fmla="*/ 1698481 h 2787466"/>
              <a:gd name="connsiteX5515" fmla="*/ 169103 w 3600000"/>
              <a:gd name="connsiteY5515" fmla="*/ 1701467 h 2787466"/>
              <a:gd name="connsiteX5516" fmla="*/ 161272 w 3600000"/>
              <a:gd name="connsiteY5516" fmla="*/ 1709485 h 2787466"/>
              <a:gd name="connsiteX5517" fmla="*/ 165186 w 3600000"/>
              <a:gd name="connsiteY5517" fmla="*/ 1720331 h 2787466"/>
              <a:gd name="connsiteX5518" fmla="*/ 156119 w 3600000"/>
              <a:gd name="connsiteY5518" fmla="*/ 1719387 h 2787466"/>
              <a:gd name="connsiteX5519" fmla="*/ 102743 w 3600000"/>
              <a:gd name="connsiteY5519" fmla="*/ 1745167 h 2787466"/>
              <a:gd name="connsiteX5520" fmla="*/ 98827 w 3600000"/>
              <a:gd name="connsiteY5520" fmla="*/ 1753183 h 2787466"/>
              <a:gd name="connsiteX5521" fmla="*/ 127473 w 3600000"/>
              <a:gd name="connsiteY5521" fmla="*/ 1718287 h 2787466"/>
              <a:gd name="connsiteX5522" fmla="*/ 110574 w 3600000"/>
              <a:gd name="connsiteY5522" fmla="*/ 1714357 h 2787466"/>
              <a:gd name="connsiteX5523" fmla="*/ 111811 w 3600000"/>
              <a:gd name="connsiteY5523" fmla="*/ 1707441 h 2787466"/>
              <a:gd name="connsiteX5524" fmla="*/ 122321 w 3600000"/>
              <a:gd name="connsiteY5524" fmla="*/ 1700525 h 2787466"/>
              <a:gd name="connsiteX5525" fmla="*/ 120878 w 3600000"/>
              <a:gd name="connsiteY5525" fmla="*/ 1706498 h 2787466"/>
              <a:gd name="connsiteX5526" fmla="*/ 129947 w 3600000"/>
              <a:gd name="connsiteY5526" fmla="*/ 1695494 h 2787466"/>
              <a:gd name="connsiteX5527" fmla="*/ 169103 w 3600000"/>
              <a:gd name="connsiteY5527" fmla="*/ 1690621 h 2787466"/>
              <a:gd name="connsiteX5528" fmla="*/ 176934 w 3600000"/>
              <a:gd name="connsiteY5528" fmla="*/ 1696595 h 2787466"/>
              <a:gd name="connsiteX5529" fmla="*/ 171782 w 3600000"/>
              <a:gd name="connsiteY5529" fmla="*/ 1683548 h 2787466"/>
              <a:gd name="connsiteX5530" fmla="*/ 195275 w 3600000"/>
              <a:gd name="connsiteY5530" fmla="*/ 1666729 h 2787466"/>
              <a:gd name="connsiteX5531" fmla="*/ 227631 w 3600000"/>
              <a:gd name="connsiteY5531" fmla="*/ 1673645 h 2787466"/>
              <a:gd name="connsiteX5532" fmla="*/ 244736 w 3600000"/>
              <a:gd name="connsiteY5532" fmla="*/ 1659812 h 2787466"/>
              <a:gd name="connsiteX5533" fmla="*/ 260370 w 3600000"/>
              <a:gd name="connsiteY5533" fmla="*/ 1655963 h 2787466"/>
              <a:gd name="connsiteX5534" fmla="*/ 268149 w 3600000"/>
              <a:gd name="connsiteY5534" fmla="*/ 1649247 h 2787466"/>
              <a:gd name="connsiteX5535" fmla="*/ 262287 w 3600000"/>
              <a:gd name="connsiteY5535" fmla="*/ 1635261 h 2787466"/>
              <a:gd name="connsiteX5536" fmla="*/ 279445 w 3600000"/>
              <a:gd name="connsiteY5536" fmla="*/ 1570172 h 2787466"/>
              <a:gd name="connsiteX5537" fmla="*/ 269140 w 3600000"/>
              <a:gd name="connsiteY5537" fmla="*/ 1575203 h 2787466"/>
              <a:gd name="connsiteX5538" fmla="*/ 273056 w 3600000"/>
              <a:gd name="connsiteY5538" fmla="*/ 1535426 h 2787466"/>
              <a:gd name="connsiteX5539" fmla="*/ 286040 w 3600000"/>
              <a:gd name="connsiteY5539" fmla="*/ 1539356 h 2787466"/>
              <a:gd name="connsiteX5540" fmla="*/ 287277 w 3600000"/>
              <a:gd name="connsiteY5540" fmla="*/ 1535426 h 2787466"/>
              <a:gd name="connsiteX5541" fmla="*/ 275529 w 3600000"/>
              <a:gd name="connsiteY5541" fmla="*/ 1533382 h 2787466"/>
              <a:gd name="connsiteX5542" fmla="*/ 293872 w 3600000"/>
              <a:gd name="connsiteY5542" fmla="*/ 1527408 h 2787466"/>
              <a:gd name="connsiteX5543" fmla="*/ 291280 w 3600000"/>
              <a:gd name="connsiteY5543" fmla="*/ 1523819 h 2787466"/>
              <a:gd name="connsiteX5544" fmla="*/ 288273 w 3600000"/>
              <a:gd name="connsiteY5544" fmla="*/ 1523286 h 2787466"/>
              <a:gd name="connsiteX5545" fmla="*/ 278534 w 3600000"/>
              <a:gd name="connsiteY5545" fmla="*/ 1527615 h 2787466"/>
              <a:gd name="connsiteX5546" fmla="*/ 145815 w 3600000"/>
              <a:gd name="connsiteY5546" fmla="*/ 1539561 h 2787466"/>
              <a:gd name="connsiteX5547" fmla="*/ 140457 w 3600000"/>
              <a:gd name="connsiteY5547" fmla="*/ 1544592 h 2787466"/>
              <a:gd name="connsiteX5548" fmla="*/ 128710 w 3600000"/>
              <a:gd name="connsiteY5548" fmla="*/ 1537518 h 2787466"/>
              <a:gd name="connsiteX5549" fmla="*/ 122321 w 3600000"/>
              <a:gd name="connsiteY5549" fmla="*/ 1541605 h 2787466"/>
              <a:gd name="connsiteX5550" fmla="*/ 81928 w 3600000"/>
              <a:gd name="connsiteY5550" fmla="*/ 1534531 h 2787466"/>
              <a:gd name="connsiteX5551" fmla="*/ 80485 w 3600000"/>
              <a:gd name="connsiteY5551" fmla="*/ 1528715 h 2787466"/>
              <a:gd name="connsiteX5552" fmla="*/ 33704 w 3600000"/>
              <a:gd name="connsiteY5552" fmla="*/ 1522742 h 2787466"/>
              <a:gd name="connsiteX5553" fmla="*/ 5059 w 3600000"/>
              <a:gd name="connsiteY5553" fmla="*/ 1442261 h 2787466"/>
              <a:gd name="connsiteX5554" fmla="*/ 28552 w 3600000"/>
              <a:gd name="connsiteY5554" fmla="*/ 1434243 h 2787466"/>
              <a:gd name="connsiteX5555" fmla="*/ 61113 w 3600000"/>
              <a:gd name="connsiteY5555" fmla="*/ 1487845 h 2787466"/>
              <a:gd name="connsiteX5556" fmla="*/ 74097 w 3600000"/>
              <a:gd name="connsiteY5556" fmla="*/ 1485016 h 2787466"/>
              <a:gd name="connsiteX5557" fmla="*/ 68945 w 3600000"/>
              <a:gd name="connsiteY5557" fmla="*/ 1479986 h 2787466"/>
              <a:gd name="connsiteX5558" fmla="*/ 83165 w 3600000"/>
              <a:gd name="connsiteY5558" fmla="*/ 1447134 h 2787466"/>
              <a:gd name="connsiteX5559" fmla="*/ 94911 w 3600000"/>
              <a:gd name="connsiteY5559" fmla="*/ 1441317 h 2787466"/>
              <a:gd name="connsiteX5560" fmla="*/ 100063 w 3600000"/>
              <a:gd name="connsiteY5560" fmla="*/ 1412394 h 2787466"/>
              <a:gd name="connsiteX5561" fmla="*/ 97591 w 3600000"/>
              <a:gd name="connsiteY5561" fmla="*/ 1386615 h 2787466"/>
              <a:gd name="connsiteX5562" fmla="*/ 110574 w 3600000"/>
              <a:gd name="connsiteY5562" fmla="*/ 1365708 h 2787466"/>
              <a:gd name="connsiteX5563" fmla="*/ 109338 w 3600000"/>
              <a:gd name="connsiteY5563" fmla="*/ 1417424 h 2787466"/>
              <a:gd name="connsiteX5564" fmla="*/ 113047 w 3600000"/>
              <a:gd name="connsiteY5564" fmla="*/ 1399505 h 2787466"/>
              <a:gd name="connsiteX5565" fmla="*/ 120878 w 3600000"/>
              <a:gd name="connsiteY5565" fmla="*/ 1409408 h 2787466"/>
              <a:gd name="connsiteX5566" fmla="*/ 120878 w 3600000"/>
              <a:gd name="connsiteY5566" fmla="*/ 1391645 h 2787466"/>
              <a:gd name="connsiteX5567" fmla="*/ 135305 w 3600000"/>
              <a:gd name="connsiteY5567" fmla="*/ 1359735 h 2787466"/>
              <a:gd name="connsiteX5568" fmla="*/ 122321 w 3600000"/>
              <a:gd name="connsiteY5568" fmla="*/ 1364765 h 2787466"/>
              <a:gd name="connsiteX5569" fmla="*/ 115726 w 3600000"/>
              <a:gd name="connsiteY5569" fmla="*/ 1356749 h 2787466"/>
              <a:gd name="connsiteX5570" fmla="*/ 105422 w 3600000"/>
              <a:gd name="connsiteY5570" fmla="*/ 1364765 h 2787466"/>
              <a:gd name="connsiteX5571" fmla="*/ 81928 w 3600000"/>
              <a:gd name="connsiteY5571" fmla="*/ 1372625 h 2787466"/>
              <a:gd name="connsiteX5572" fmla="*/ 92233 w 3600000"/>
              <a:gd name="connsiteY5572" fmla="*/ 1364765 h 2787466"/>
              <a:gd name="connsiteX5573" fmla="*/ 90996 w 3600000"/>
              <a:gd name="connsiteY5573" fmla="*/ 1361778 h 2787466"/>
              <a:gd name="connsiteX5574" fmla="*/ 92233 w 3600000"/>
              <a:gd name="connsiteY5574" fmla="*/ 1356749 h 2787466"/>
              <a:gd name="connsiteX5575" fmla="*/ 70182 w 3600000"/>
              <a:gd name="connsiteY5575" fmla="*/ 1351876 h 2787466"/>
              <a:gd name="connsiteX5576" fmla="*/ 61113 w 3600000"/>
              <a:gd name="connsiteY5576" fmla="*/ 1326254 h 2787466"/>
              <a:gd name="connsiteX5577" fmla="*/ 50603 w 3600000"/>
              <a:gd name="connsiteY5577" fmla="*/ 1326254 h 2787466"/>
              <a:gd name="connsiteX5578" fmla="*/ 55755 w 3600000"/>
              <a:gd name="connsiteY5578" fmla="*/ 1323267 h 2787466"/>
              <a:gd name="connsiteX5579" fmla="*/ 62350 w 3600000"/>
              <a:gd name="connsiteY5579" fmla="*/ 1296388 h 2787466"/>
              <a:gd name="connsiteX5580" fmla="*/ 55755 w 3600000"/>
              <a:gd name="connsiteY5580" fmla="*/ 1269508 h 2787466"/>
              <a:gd name="connsiteX5581" fmla="*/ 28552 w 3600000"/>
              <a:gd name="connsiteY5581" fmla="*/ 1266521 h 2787466"/>
              <a:gd name="connsiteX5582" fmla="*/ 52046 w 3600000"/>
              <a:gd name="connsiteY5582" fmla="*/ 1225809 h 2787466"/>
              <a:gd name="connsiteX5583" fmla="*/ 55755 w 3600000"/>
              <a:gd name="connsiteY5583" fmla="*/ 1187140 h 2787466"/>
              <a:gd name="connsiteX5584" fmla="*/ 75334 w 3600000"/>
              <a:gd name="connsiteY5584" fmla="*/ 1190126 h 2787466"/>
              <a:gd name="connsiteX5585" fmla="*/ 152203 w 3600000"/>
              <a:gd name="connsiteY5585" fmla="*/ 1097699 h 2787466"/>
              <a:gd name="connsiteX5586" fmla="*/ 133862 w 3600000"/>
              <a:gd name="connsiteY5586" fmla="*/ 1101629 h 2787466"/>
              <a:gd name="connsiteX5587" fmla="*/ 111811 w 3600000"/>
              <a:gd name="connsiteY5587" fmla="*/ 1094712 h 2787466"/>
              <a:gd name="connsiteX5588" fmla="*/ 129947 w 3600000"/>
              <a:gd name="connsiteY5588" fmla="*/ 1080880 h 2787466"/>
              <a:gd name="connsiteX5589" fmla="*/ 137983 w 3600000"/>
              <a:gd name="connsiteY5589" fmla="*/ 1080880 h 2787466"/>
              <a:gd name="connsiteX5590" fmla="*/ 139220 w 3600000"/>
              <a:gd name="connsiteY5590" fmla="*/ 1088739 h 2787466"/>
              <a:gd name="connsiteX5591" fmla="*/ 150967 w 3600000"/>
              <a:gd name="connsiteY5591" fmla="*/ 1077893 h 2787466"/>
              <a:gd name="connsiteX5592" fmla="*/ 145815 w 3600000"/>
              <a:gd name="connsiteY5592" fmla="*/ 1070819 h 2787466"/>
              <a:gd name="connsiteX5593" fmla="*/ 161272 w 3600000"/>
              <a:gd name="connsiteY5593" fmla="*/ 1068933 h 2787466"/>
              <a:gd name="connsiteX5594" fmla="*/ 171782 w 3600000"/>
              <a:gd name="connsiteY5594" fmla="*/ 1062016 h 2787466"/>
              <a:gd name="connsiteX5595" fmla="*/ 163950 w 3600000"/>
              <a:gd name="connsiteY5595" fmla="*/ 1059030 h 2787466"/>
              <a:gd name="connsiteX5596" fmla="*/ 179613 w 3600000"/>
              <a:gd name="connsiteY5596" fmla="*/ 1027120 h 2787466"/>
              <a:gd name="connsiteX5597" fmla="*/ 189917 w 3600000"/>
              <a:gd name="connsiteY5597" fmla="*/ 1026177 h 2787466"/>
              <a:gd name="connsiteX5598" fmla="*/ 247209 w 3600000"/>
              <a:gd name="connsiteY5598" fmla="*/ 973518 h 2787466"/>
              <a:gd name="connsiteX5599" fmla="*/ 243293 w 3600000"/>
              <a:gd name="connsiteY5599" fmla="*/ 968645 h 2787466"/>
              <a:gd name="connsiteX5600" fmla="*/ 282450 w 3600000"/>
              <a:gd name="connsiteY5600" fmla="*/ 952769 h 2787466"/>
              <a:gd name="connsiteX5601" fmla="*/ 303265 w 3600000"/>
              <a:gd name="connsiteY5601" fmla="*/ 925889 h 2787466"/>
              <a:gd name="connsiteX5602" fmla="*/ 295433 w 3600000"/>
              <a:gd name="connsiteY5602" fmla="*/ 927776 h 2787466"/>
              <a:gd name="connsiteX5603" fmla="*/ 311096 w 3600000"/>
              <a:gd name="connsiteY5603" fmla="*/ 921960 h 2787466"/>
              <a:gd name="connsiteX5604" fmla="*/ 339742 w 3600000"/>
              <a:gd name="connsiteY5604" fmla="*/ 885177 h 2787466"/>
              <a:gd name="connsiteX5605" fmla="*/ 355404 w 3600000"/>
              <a:gd name="connsiteY5605" fmla="*/ 886120 h 2787466"/>
              <a:gd name="connsiteX5606" fmla="*/ 356641 w 3600000"/>
              <a:gd name="connsiteY5606" fmla="*/ 878260 h 2787466"/>
              <a:gd name="connsiteX5607" fmla="*/ 348809 w 3600000"/>
              <a:gd name="connsiteY5607" fmla="*/ 884076 h 2787466"/>
              <a:gd name="connsiteX5608" fmla="*/ 387966 w 3600000"/>
              <a:gd name="connsiteY5608" fmla="*/ 831575 h 2787466"/>
              <a:gd name="connsiteX5609" fmla="*/ 397033 w 3600000"/>
              <a:gd name="connsiteY5609" fmla="*/ 834561 h 2787466"/>
              <a:gd name="connsiteX5610" fmla="*/ 411459 w 3600000"/>
              <a:gd name="connsiteY5610" fmla="*/ 811611 h 2787466"/>
              <a:gd name="connsiteX5611" fmla="*/ 407544 w 3600000"/>
              <a:gd name="connsiteY5611" fmla="*/ 829531 h 2787466"/>
              <a:gd name="connsiteX5612" fmla="*/ 432274 w 3600000"/>
              <a:gd name="connsiteY5612" fmla="*/ 816642 h 2787466"/>
              <a:gd name="connsiteX5613" fmla="*/ 434747 w 3600000"/>
              <a:gd name="connsiteY5613" fmla="*/ 809725 h 2787466"/>
              <a:gd name="connsiteX5614" fmla="*/ 420527 w 3600000"/>
              <a:gd name="connsiteY5614" fmla="*/ 805638 h 2787466"/>
              <a:gd name="connsiteX5615" fmla="*/ 437426 w 3600000"/>
              <a:gd name="connsiteY5615" fmla="*/ 807682 h 2787466"/>
              <a:gd name="connsiteX5616" fmla="*/ 446494 w 3600000"/>
              <a:gd name="connsiteY5616" fmla="*/ 804696 h 2787466"/>
              <a:gd name="connsiteX5617" fmla="*/ 455562 w 3600000"/>
              <a:gd name="connsiteY5617" fmla="*/ 787876 h 2787466"/>
              <a:gd name="connsiteX5618" fmla="*/ 445257 w 3600000"/>
              <a:gd name="connsiteY5618" fmla="*/ 795736 h 2787466"/>
              <a:gd name="connsiteX5619" fmla="*/ 463393 w 3600000"/>
              <a:gd name="connsiteY5619" fmla="*/ 768855 h 2787466"/>
              <a:gd name="connsiteX5620" fmla="*/ 457004 w 3600000"/>
              <a:gd name="connsiteY5620" fmla="*/ 785832 h 2787466"/>
              <a:gd name="connsiteX5621" fmla="*/ 472667 w 3600000"/>
              <a:gd name="connsiteY5621" fmla="*/ 775929 h 2787466"/>
              <a:gd name="connsiteX5622" fmla="*/ 475140 w 3600000"/>
              <a:gd name="connsiteY5622" fmla="*/ 780803 h 2787466"/>
              <a:gd name="connsiteX5623" fmla="*/ 502549 w 3600000"/>
              <a:gd name="connsiteY5623" fmla="*/ 754080 h 2787466"/>
              <a:gd name="connsiteX5624" fmla="*/ 512854 w 3600000"/>
              <a:gd name="connsiteY5624" fmla="*/ 752980 h 2787466"/>
              <a:gd name="connsiteX5625" fmla="*/ 526043 w 3600000"/>
              <a:gd name="connsiteY5625" fmla="*/ 744177 h 2787466"/>
              <a:gd name="connsiteX5626" fmla="*/ 527279 w 3600000"/>
              <a:gd name="connsiteY5626" fmla="*/ 738204 h 2787466"/>
              <a:gd name="connsiteX5627" fmla="*/ 512854 w 3600000"/>
              <a:gd name="connsiteY5627" fmla="*/ 744177 h 2787466"/>
              <a:gd name="connsiteX5628" fmla="*/ 529959 w 3600000"/>
              <a:gd name="connsiteY5628" fmla="*/ 734116 h 2787466"/>
              <a:gd name="connsiteX5629" fmla="*/ 540263 w 3600000"/>
              <a:gd name="connsiteY5629" fmla="*/ 717297 h 2787466"/>
              <a:gd name="connsiteX5630" fmla="*/ 540263 w 3600000"/>
              <a:gd name="connsiteY5630" fmla="*/ 720284 h 2787466"/>
              <a:gd name="connsiteX5631" fmla="*/ 583335 w 3600000"/>
              <a:gd name="connsiteY5631" fmla="*/ 685545 h 2787466"/>
              <a:gd name="connsiteX5632" fmla="*/ 632796 w 3600000"/>
              <a:gd name="connsiteY5632" fmla="*/ 654736 h 2787466"/>
              <a:gd name="connsiteX5633" fmla="*/ 645779 w 3600000"/>
              <a:gd name="connsiteY5633" fmla="*/ 642789 h 2787466"/>
              <a:gd name="connsiteX5634" fmla="*/ 653611 w 3600000"/>
              <a:gd name="connsiteY5634" fmla="*/ 646719 h 2787466"/>
              <a:gd name="connsiteX5635" fmla="*/ 663914 w 3600000"/>
              <a:gd name="connsiteY5635" fmla="*/ 642789 h 2787466"/>
              <a:gd name="connsiteX5636" fmla="*/ 663914 w 3600000"/>
              <a:gd name="connsiteY5636" fmla="*/ 634930 h 2787466"/>
              <a:gd name="connsiteX5637" fmla="*/ 673188 w 3600000"/>
              <a:gd name="connsiteY5637" fmla="*/ 635872 h 2787466"/>
              <a:gd name="connsiteX5638" fmla="*/ 694003 w 3600000"/>
              <a:gd name="connsiteY5638" fmla="*/ 628799 h 2787466"/>
              <a:gd name="connsiteX5639" fmla="*/ 681019 w 3600000"/>
              <a:gd name="connsiteY5639" fmla="*/ 629899 h 2787466"/>
              <a:gd name="connsiteX5640" fmla="*/ 718734 w 3600000"/>
              <a:gd name="connsiteY5640" fmla="*/ 604120 h 2787466"/>
              <a:gd name="connsiteX5641" fmla="*/ 710902 w 3600000"/>
              <a:gd name="connsiteY5641" fmla="*/ 611980 h 2787466"/>
              <a:gd name="connsiteX5642" fmla="*/ 750059 w 3600000"/>
              <a:gd name="connsiteY5642" fmla="*/ 608993 h 2787466"/>
              <a:gd name="connsiteX5643" fmla="*/ 713581 w 3600000"/>
              <a:gd name="connsiteY5643" fmla="*/ 617953 h 2787466"/>
              <a:gd name="connsiteX5644" fmla="*/ 671952 w 3600000"/>
              <a:gd name="connsiteY5644" fmla="*/ 642789 h 2787466"/>
              <a:gd name="connsiteX5645" fmla="*/ 668036 w 3600000"/>
              <a:gd name="connsiteY5645" fmla="*/ 646719 h 2787466"/>
              <a:gd name="connsiteX5646" fmla="*/ 675661 w 3600000"/>
              <a:gd name="connsiteY5646" fmla="*/ 646719 h 2787466"/>
              <a:gd name="connsiteX5647" fmla="*/ 643100 w 3600000"/>
              <a:gd name="connsiteY5647" fmla="*/ 669669 h 2787466"/>
              <a:gd name="connsiteX5648" fmla="*/ 661441 w 3600000"/>
              <a:gd name="connsiteY5648" fmla="*/ 664638 h 2787466"/>
              <a:gd name="connsiteX5649" fmla="*/ 673188 w 3600000"/>
              <a:gd name="connsiteY5649" fmla="*/ 655678 h 2787466"/>
              <a:gd name="connsiteX5650" fmla="*/ 587250 w 3600000"/>
              <a:gd name="connsiteY5650" fmla="*/ 717297 h 2787466"/>
              <a:gd name="connsiteX5651" fmla="*/ 624964 w 3600000"/>
              <a:gd name="connsiteY5651" fmla="*/ 704408 h 2787466"/>
              <a:gd name="connsiteX5652" fmla="*/ 622285 w 3600000"/>
              <a:gd name="connsiteY5652" fmla="*/ 712267 h 2787466"/>
              <a:gd name="connsiteX5653" fmla="*/ 645779 w 3600000"/>
              <a:gd name="connsiteY5653" fmla="*/ 703307 h 2787466"/>
              <a:gd name="connsiteX5654" fmla="*/ 637948 w 3600000"/>
              <a:gd name="connsiteY5654" fmla="*/ 699378 h 2787466"/>
              <a:gd name="connsiteX5655" fmla="*/ 645779 w 3600000"/>
              <a:gd name="connsiteY5655" fmla="*/ 693405 h 2787466"/>
              <a:gd name="connsiteX5656" fmla="*/ 714817 w 3600000"/>
              <a:gd name="connsiteY5656" fmla="*/ 658665 h 2787466"/>
              <a:gd name="connsiteX5657" fmla="*/ 716054 w 3600000"/>
              <a:gd name="connsiteY5657" fmla="*/ 668568 h 2787466"/>
              <a:gd name="connsiteX5658" fmla="*/ 746142 w 3600000"/>
              <a:gd name="connsiteY5658" fmla="*/ 644832 h 2787466"/>
              <a:gd name="connsiteX5659" fmla="*/ 752531 w 3600000"/>
              <a:gd name="connsiteY5659" fmla="*/ 647819 h 2787466"/>
              <a:gd name="connsiteX5660" fmla="*/ 755210 w 3600000"/>
              <a:gd name="connsiteY5660" fmla="*/ 639802 h 2787466"/>
              <a:gd name="connsiteX5661" fmla="*/ 772109 w 3600000"/>
              <a:gd name="connsiteY5661" fmla="*/ 642789 h 2787466"/>
              <a:gd name="connsiteX5662" fmla="*/ 792924 w 3600000"/>
              <a:gd name="connsiteY5662" fmla="*/ 624869 h 2787466"/>
              <a:gd name="connsiteX5663" fmla="*/ 791687 w 3600000"/>
              <a:gd name="connsiteY5663" fmla="*/ 631943 h 2787466"/>
              <a:gd name="connsiteX5664" fmla="*/ 838469 w 3600000"/>
              <a:gd name="connsiteY5664" fmla="*/ 604120 h 2787466"/>
              <a:gd name="connsiteX5665" fmla="*/ 838469 w 3600000"/>
              <a:gd name="connsiteY5665" fmla="*/ 608050 h 2787466"/>
              <a:gd name="connsiteX5666" fmla="*/ 898440 w 3600000"/>
              <a:gd name="connsiteY5666" fmla="*/ 585100 h 2787466"/>
              <a:gd name="connsiteX5667" fmla="*/ 953053 w 3600000"/>
              <a:gd name="connsiteY5667" fmla="*/ 563408 h 2787466"/>
              <a:gd name="connsiteX5668" fmla="*/ 940069 w 3600000"/>
              <a:gd name="connsiteY5668" fmla="*/ 573311 h 2787466"/>
              <a:gd name="connsiteX5669" fmla="*/ 992209 w 3600000"/>
              <a:gd name="connsiteY5669" fmla="*/ 559321 h 2787466"/>
              <a:gd name="connsiteX5670" fmla="*/ 1005192 w 3600000"/>
              <a:gd name="connsiteY5670" fmla="*/ 561364 h 2787466"/>
              <a:gd name="connsiteX5671" fmla="*/ 1007872 w 3600000"/>
              <a:gd name="connsiteY5671" fmla="*/ 554448 h 2787466"/>
              <a:gd name="connsiteX5672" fmla="*/ 1042907 w 3600000"/>
              <a:gd name="connsiteY5672" fmla="*/ 548475 h 2787466"/>
              <a:gd name="connsiteX5673" fmla="*/ 1016940 w 3600000"/>
              <a:gd name="connsiteY5673" fmla="*/ 559321 h 2787466"/>
              <a:gd name="connsiteX5674" fmla="*/ 1053417 w 3600000"/>
              <a:gd name="connsiteY5674" fmla="*/ 563408 h 2787466"/>
              <a:gd name="connsiteX5675" fmla="*/ 1022092 w 3600000"/>
              <a:gd name="connsiteY5675" fmla="*/ 570324 h 2787466"/>
              <a:gd name="connsiteX5676" fmla="*/ 1027450 w 3600000"/>
              <a:gd name="connsiteY5676" fmla="*/ 563408 h 2787466"/>
              <a:gd name="connsiteX5677" fmla="*/ 1020855 w 3600000"/>
              <a:gd name="connsiteY5677" fmla="*/ 561364 h 2787466"/>
              <a:gd name="connsiteX5678" fmla="*/ 967479 w 3600000"/>
              <a:gd name="connsiteY5678" fmla="*/ 580227 h 2787466"/>
              <a:gd name="connsiteX5679" fmla="*/ 915339 w 3600000"/>
              <a:gd name="connsiteY5679" fmla="*/ 607107 h 2787466"/>
              <a:gd name="connsiteX5680" fmla="*/ 848979 w 3600000"/>
              <a:gd name="connsiteY5680" fmla="*/ 630842 h 2787466"/>
              <a:gd name="connsiteX5681" fmla="*/ 851452 w 3600000"/>
              <a:gd name="connsiteY5681" fmla="*/ 621882 h 2787466"/>
              <a:gd name="connsiteX5682" fmla="*/ 843827 w 3600000"/>
              <a:gd name="connsiteY5682" fmla="*/ 632886 h 2787466"/>
              <a:gd name="connsiteX5683" fmla="*/ 824249 w 3600000"/>
              <a:gd name="connsiteY5683" fmla="*/ 639802 h 2787466"/>
              <a:gd name="connsiteX5684" fmla="*/ 792924 w 3600000"/>
              <a:gd name="connsiteY5684" fmla="*/ 644832 h 2787466"/>
              <a:gd name="connsiteX5685" fmla="*/ 789009 w 3600000"/>
              <a:gd name="connsiteY5685" fmla="*/ 648762 h 2787466"/>
              <a:gd name="connsiteX5686" fmla="*/ 803435 w 3600000"/>
              <a:gd name="connsiteY5686" fmla="*/ 649705 h 2787466"/>
              <a:gd name="connsiteX5687" fmla="*/ 723886 w 3600000"/>
              <a:gd name="connsiteY5687" fmla="*/ 676585 h 2787466"/>
              <a:gd name="connsiteX5688" fmla="*/ 719970 w 3600000"/>
              <a:gd name="connsiteY5688" fmla="*/ 686488 h 2787466"/>
              <a:gd name="connsiteX5689" fmla="*/ 701834 w 3600000"/>
              <a:gd name="connsiteY5689" fmla="*/ 689474 h 2787466"/>
              <a:gd name="connsiteX5690" fmla="*/ 688850 w 3600000"/>
              <a:gd name="connsiteY5690" fmla="*/ 711324 h 2787466"/>
              <a:gd name="connsiteX5691" fmla="*/ 679577 w 3600000"/>
              <a:gd name="connsiteY5691" fmla="*/ 709280 h 2787466"/>
              <a:gd name="connsiteX5692" fmla="*/ 690087 w 3600000"/>
              <a:gd name="connsiteY5692" fmla="*/ 701421 h 2787466"/>
              <a:gd name="connsiteX5693" fmla="*/ 650931 w 3600000"/>
              <a:gd name="connsiteY5693" fmla="*/ 721227 h 2787466"/>
              <a:gd name="connsiteX5694" fmla="*/ 673188 w 3600000"/>
              <a:gd name="connsiteY5694" fmla="*/ 716354 h 2787466"/>
              <a:gd name="connsiteX5695" fmla="*/ 674425 w 3600000"/>
              <a:gd name="connsiteY5695" fmla="*/ 728143 h 2787466"/>
              <a:gd name="connsiteX5696" fmla="*/ 657525 w 3600000"/>
              <a:gd name="connsiteY5696" fmla="*/ 742133 h 2787466"/>
              <a:gd name="connsiteX5697" fmla="*/ 669273 w 3600000"/>
              <a:gd name="connsiteY5697" fmla="*/ 739147 h 2787466"/>
              <a:gd name="connsiteX5698" fmla="*/ 644542 w 3600000"/>
              <a:gd name="connsiteY5698" fmla="*/ 758953 h 2787466"/>
              <a:gd name="connsiteX5699" fmla="*/ 665357 w 3600000"/>
              <a:gd name="connsiteY5699" fmla="*/ 748107 h 2787466"/>
              <a:gd name="connsiteX5700" fmla="*/ 665357 w 3600000"/>
              <a:gd name="connsiteY5700" fmla="*/ 755023 h 2787466"/>
              <a:gd name="connsiteX5701" fmla="*/ 734396 w 3600000"/>
              <a:gd name="connsiteY5701" fmla="*/ 733173 h 2787466"/>
              <a:gd name="connsiteX5702" fmla="*/ 766957 w 3600000"/>
              <a:gd name="connsiteY5702" fmla="*/ 723271 h 2787466"/>
              <a:gd name="connsiteX5703" fmla="*/ 754380 w 3600000"/>
              <a:gd name="connsiteY5703" fmla="*/ 734301 h 2787466"/>
              <a:gd name="connsiteX5704" fmla="*/ 757596 w 3600000"/>
              <a:gd name="connsiteY5704" fmla="*/ 738101 h 2787466"/>
              <a:gd name="connsiteX5705" fmla="*/ 757479 w 3600000"/>
              <a:gd name="connsiteY5705" fmla="*/ 738303 h 2787466"/>
              <a:gd name="connsiteX5706" fmla="*/ 753736 w 3600000"/>
              <a:gd name="connsiteY5706" fmla="*/ 740119 h 2787466"/>
              <a:gd name="connsiteX5707" fmla="*/ 746142 w 3600000"/>
              <a:gd name="connsiteY5707" fmla="*/ 739147 h 2787466"/>
              <a:gd name="connsiteX5708" fmla="*/ 756447 w 3600000"/>
              <a:gd name="connsiteY5708" fmla="*/ 740090 h 2787466"/>
              <a:gd name="connsiteX5709" fmla="*/ 757479 w 3600000"/>
              <a:gd name="connsiteY5709" fmla="*/ 738303 h 2787466"/>
              <a:gd name="connsiteX5710" fmla="*/ 757684 w 3600000"/>
              <a:gd name="connsiteY5710" fmla="*/ 738204 h 2787466"/>
              <a:gd name="connsiteX5711" fmla="*/ 757596 w 3600000"/>
              <a:gd name="connsiteY5711" fmla="*/ 738101 h 2787466"/>
              <a:gd name="connsiteX5712" fmla="*/ 760801 w 3600000"/>
              <a:gd name="connsiteY5712" fmla="*/ 732552 h 2787466"/>
              <a:gd name="connsiteX5713" fmla="*/ 768555 w 3600000"/>
              <a:gd name="connsiteY5713" fmla="*/ 728713 h 2787466"/>
              <a:gd name="connsiteX5714" fmla="*/ 776005 w 3600000"/>
              <a:gd name="connsiteY5714" fmla="*/ 726207 h 2787466"/>
              <a:gd name="connsiteX5715" fmla="*/ 776025 w 3600000"/>
              <a:gd name="connsiteY5715" fmla="*/ 726257 h 2787466"/>
              <a:gd name="connsiteX5716" fmla="*/ 776151 w 3600000"/>
              <a:gd name="connsiteY5716" fmla="*/ 726159 h 2787466"/>
              <a:gd name="connsiteX5717" fmla="*/ 777777 w 3600000"/>
              <a:gd name="connsiteY5717" fmla="*/ 725612 h 2787466"/>
              <a:gd name="connsiteX5718" fmla="*/ 786535 w 3600000"/>
              <a:gd name="connsiteY5718" fmla="*/ 720284 h 2787466"/>
              <a:gd name="connsiteX5719" fmla="*/ 781744 w 3600000"/>
              <a:gd name="connsiteY5719" fmla="*/ 721738 h 2787466"/>
              <a:gd name="connsiteX5720" fmla="*/ 776151 w 3600000"/>
              <a:gd name="connsiteY5720" fmla="*/ 726159 h 2787466"/>
              <a:gd name="connsiteX5721" fmla="*/ 776005 w 3600000"/>
              <a:gd name="connsiteY5721" fmla="*/ 726207 h 2787466"/>
              <a:gd name="connsiteX5722" fmla="*/ 773346 w 3600000"/>
              <a:gd name="connsiteY5722" fmla="*/ 719341 h 2787466"/>
              <a:gd name="connsiteX5723" fmla="*/ 792924 w 3600000"/>
              <a:gd name="connsiteY5723" fmla="*/ 721227 h 2787466"/>
              <a:gd name="connsiteX5724" fmla="*/ 830638 w 3600000"/>
              <a:gd name="connsiteY5724" fmla="*/ 699378 h 2787466"/>
              <a:gd name="connsiteX5725" fmla="*/ 826722 w 3600000"/>
              <a:gd name="connsiteY5725" fmla="*/ 694505 h 2787466"/>
              <a:gd name="connsiteX5726" fmla="*/ 845064 w 3600000"/>
              <a:gd name="connsiteY5726" fmla="*/ 695448 h 2787466"/>
              <a:gd name="connsiteX5727" fmla="*/ 856811 w 3600000"/>
              <a:gd name="connsiteY5727" fmla="*/ 687432 h 2787466"/>
              <a:gd name="connsiteX5728" fmla="*/ 847537 w 3600000"/>
              <a:gd name="connsiteY5728" fmla="*/ 686488 h 2787466"/>
              <a:gd name="connsiteX5729" fmla="*/ 878862 w 3600000"/>
              <a:gd name="connsiteY5729" fmla="*/ 671555 h 2787466"/>
              <a:gd name="connsiteX5730" fmla="*/ 941306 w 3600000"/>
              <a:gd name="connsiteY5730" fmla="*/ 647819 h 2787466"/>
              <a:gd name="connsiteX5731" fmla="*/ 946664 w 3600000"/>
              <a:gd name="connsiteY5731" fmla="*/ 655678 h 2787466"/>
              <a:gd name="connsiteX5732" fmla="*/ 981699 w 3600000"/>
              <a:gd name="connsiteY5732" fmla="*/ 647819 h 2787466"/>
              <a:gd name="connsiteX5733" fmla="*/ 1006635 w 3600000"/>
              <a:gd name="connsiteY5733" fmla="*/ 631943 h 2787466"/>
              <a:gd name="connsiteX5734" fmla="*/ 990973 w 3600000"/>
              <a:gd name="connsiteY5734" fmla="*/ 629899 h 2787466"/>
              <a:gd name="connsiteX5735" fmla="*/ 1010551 w 3600000"/>
              <a:gd name="connsiteY5735" fmla="*/ 623926 h 2787466"/>
              <a:gd name="connsiteX5736" fmla="*/ 1019619 w 3600000"/>
              <a:gd name="connsiteY5736" fmla="*/ 630842 h 2787466"/>
              <a:gd name="connsiteX5737" fmla="*/ 1041670 w 3600000"/>
              <a:gd name="connsiteY5737" fmla="*/ 620939 h 2787466"/>
              <a:gd name="connsiteX5738" fmla="*/ 1026007 w 3600000"/>
              <a:gd name="connsiteY5738" fmla="*/ 617010 h 2787466"/>
              <a:gd name="connsiteX5739" fmla="*/ 960884 w 3600000"/>
              <a:gd name="connsiteY5739" fmla="*/ 636816 h 2787466"/>
              <a:gd name="connsiteX5740" fmla="*/ 934917 w 3600000"/>
              <a:gd name="connsiteY5740" fmla="*/ 646719 h 2787466"/>
              <a:gd name="connsiteX5741" fmla="*/ 906272 w 3600000"/>
              <a:gd name="connsiteY5741" fmla="*/ 652692 h 2787466"/>
              <a:gd name="connsiteX5742" fmla="*/ 891845 w 3600000"/>
              <a:gd name="connsiteY5742" fmla="*/ 625812 h 2787466"/>
              <a:gd name="connsiteX5743" fmla="*/ 901119 w 3600000"/>
              <a:gd name="connsiteY5743" fmla="*/ 612922 h 2787466"/>
              <a:gd name="connsiteX5744" fmla="*/ 937597 w 3600000"/>
              <a:gd name="connsiteY5744" fmla="*/ 604120 h 2787466"/>
              <a:gd name="connsiteX5745" fmla="*/ 960884 w 3600000"/>
              <a:gd name="connsiteY5745" fmla="*/ 597047 h 2787466"/>
              <a:gd name="connsiteX5746" fmla="*/ 987057 w 3600000"/>
              <a:gd name="connsiteY5746" fmla="*/ 603020 h 2787466"/>
              <a:gd name="connsiteX5747" fmla="*/ 993446 w 3600000"/>
              <a:gd name="connsiteY5747" fmla="*/ 593117 h 2787466"/>
              <a:gd name="connsiteX5748" fmla="*/ 1020855 w 3600000"/>
              <a:gd name="connsiteY5748" fmla="*/ 590130 h 2787466"/>
              <a:gd name="connsiteX5749" fmla="*/ 1014261 w 3600000"/>
              <a:gd name="connsiteY5749" fmla="*/ 588087 h 2787466"/>
              <a:gd name="connsiteX5750" fmla="*/ 1078147 w 3600000"/>
              <a:gd name="connsiteY5750" fmla="*/ 573311 h 2787466"/>
              <a:gd name="connsiteX5751" fmla="*/ 1078147 w 3600000"/>
              <a:gd name="connsiteY5751" fmla="*/ 567337 h 2787466"/>
              <a:gd name="connsiteX5752" fmla="*/ 1170680 w 3600000"/>
              <a:gd name="connsiteY5752" fmla="*/ 554448 h 2787466"/>
              <a:gd name="connsiteX5753" fmla="*/ 1169236 w 3600000"/>
              <a:gd name="connsiteY5753" fmla="*/ 560421 h 2787466"/>
              <a:gd name="connsiteX5754" fmla="*/ 1200562 w 3600000"/>
              <a:gd name="connsiteY5754" fmla="*/ 557435 h 2787466"/>
              <a:gd name="connsiteX5755" fmla="*/ 1145949 w 3600000"/>
              <a:gd name="connsiteY5755" fmla="*/ 576297 h 2787466"/>
              <a:gd name="connsiteX5756" fmla="*/ 1186136 w 3600000"/>
              <a:gd name="connsiteY5756" fmla="*/ 577240 h 2787466"/>
              <a:gd name="connsiteX5757" fmla="*/ 1201798 w 3600000"/>
              <a:gd name="connsiteY5757" fmla="*/ 574254 h 2787466"/>
              <a:gd name="connsiteX5758" fmla="*/ 1230445 w 3600000"/>
              <a:gd name="connsiteY5758" fmla="*/ 563408 h 2787466"/>
              <a:gd name="connsiteX5759" fmla="*/ 1231887 w 3600000"/>
              <a:gd name="connsiteY5759" fmla="*/ 570324 h 2787466"/>
              <a:gd name="connsiteX5760" fmla="*/ 1192731 w 3600000"/>
              <a:gd name="connsiteY5760" fmla="*/ 586200 h 2787466"/>
              <a:gd name="connsiteX5761" fmla="*/ 1187579 w 3600000"/>
              <a:gd name="connsiteY5761" fmla="*/ 580227 h 2787466"/>
              <a:gd name="connsiteX5762" fmla="*/ 1178511 w 3600000"/>
              <a:gd name="connsiteY5762" fmla="*/ 593117 h 2787466"/>
              <a:gd name="connsiteX5763" fmla="*/ 1214988 w 3600000"/>
              <a:gd name="connsiteY5763" fmla="*/ 582114 h 2787466"/>
              <a:gd name="connsiteX5764" fmla="*/ 1300926 w 3600000"/>
              <a:gd name="connsiteY5764" fmla="*/ 565294 h 2787466"/>
              <a:gd name="connsiteX5765" fmla="*/ 1307315 w 3600000"/>
              <a:gd name="connsiteY5765" fmla="*/ 571267 h 2787466"/>
              <a:gd name="connsiteX5766" fmla="*/ 1366049 w 3600000"/>
              <a:gd name="connsiteY5766" fmla="*/ 551461 h 2787466"/>
              <a:gd name="connsiteX5767" fmla="*/ 1369964 w 3600000"/>
              <a:gd name="connsiteY5767" fmla="*/ 559321 h 2787466"/>
              <a:gd name="connsiteX5768" fmla="*/ 1297010 w 3600000"/>
              <a:gd name="connsiteY5768" fmla="*/ 579284 h 2787466"/>
              <a:gd name="connsiteX5769" fmla="*/ 1308757 w 3600000"/>
              <a:gd name="connsiteY5769" fmla="*/ 584157 h 2787466"/>
              <a:gd name="connsiteX5770" fmla="*/ 1414067 w 3600000"/>
              <a:gd name="connsiteY5770" fmla="*/ 568281 h 2787466"/>
              <a:gd name="connsiteX5771" fmla="*/ 1404999 w 3600000"/>
              <a:gd name="connsiteY5771" fmla="*/ 574254 h 2787466"/>
              <a:gd name="connsiteX5772" fmla="*/ 1509278 w 3600000"/>
              <a:gd name="connsiteY5772" fmla="*/ 558378 h 2787466"/>
              <a:gd name="connsiteX5773" fmla="*/ 1501447 w 3600000"/>
              <a:gd name="connsiteY5773" fmla="*/ 566237 h 2787466"/>
              <a:gd name="connsiteX5774" fmla="*/ 1550908 w 3600000"/>
              <a:gd name="connsiteY5774" fmla="*/ 565294 h 2787466"/>
              <a:gd name="connsiteX5775" fmla="*/ 1558739 w 3600000"/>
              <a:gd name="connsiteY5775" fmla="*/ 572210 h 2787466"/>
              <a:gd name="connsiteX5776" fmla="*/ 1590064 w 3600000"/>
              <a:gd name="connsiteY5776" fmla="*/ 568281 h 2787466"/>
              <a:gd name="connsiteX5777" fmla="*/ 1583469 w 3600000"/>
              <a:gd name="connsiteY5777" fmla="*/ 570324 h 2787466"/>
              <a:gd name="connsiteX5778" fmla="*/ 1587385 w 3600000"/>
              <a:gd name="connsiteY5778" fmla="*/ 571267 h 2787466"/>
              <a:gd name="connsiteX5779" fmla="*/ 1617267 w 3600000"/>
              <a:gd name="connsiteY5779" fmla="*/ 579284 h 2787466"/>
              <a:gd name="connsiteX5780" fmla="*/ 1626335 w 3600000"/>
              <a:gd name="connsiteY5780" fmla="*/ 577240 h 2787466"/>
              <a:gd name="connsiteX5781" fmla="*/ 1632930 w 3600000"/>
              <a:gd name="connsiteY5781" fmla="*/ 576297 h 2787466"/>
              <a:gd name="connsiteX5782" fmla="*/ 1647356 w 3600000"/>
              <a:gd name="connsiteY5782" fmla="*/ 574254 h 2787466"/>
              <a:gd name="connsiteX5783" fmla="*/ 1666728 w 3600000"/>
              <a:gd name="connsiteY5783" fmla="*/ 571267 h 2787466"/>
              <a:gd name="connsiteX5784" fmla="*/ 1665491 w 3600000"/>
              <a:gd name="connsiteY5784" fmla="*/ 574254 h 2787466"/>
              <a:gd name="connsiteX5785" fmla="*/ 1711036 w 3600000"/>
              <a:gd name="connsiteY5785" fmla="*/ 574254 h 2787466"/>
              <a:gd name="connsiteX5786" fmla="*/ 1734530 w 3600000"/>
              <a:gd name="connsiteY5786" fmla="*/ 574254 h 2787466"/>
              <a:gd name="connsiteX5787" fmla="*/ 1756581 w 3600000"/>
              <a:gd name="connsiteY5787" fmla="*/ 576297 h 2787466"/>
              <a:gd name="connsiteX5788" fmla="*/ 1755345 w 3600000"/>
              <a:gd name="connsiteY5788" fmla="*/ 573311 h 2787466"/>
              <a:gd name="connsiteX5789" fmla="*/ 1794295 w 3600000"/>
              <a:gd name="connsiteY5789" fmla="*/ 576297 h 2787466"/>
              <a:gd name="connsiteX5790" fmla="*/ 1788937 w 3600000"/>
              <a:gd name="connsiteY5790" fmla="*/ 581170 h 2787466"/>
              <a:gd name="connsiteX5791" fmla="*/ 1804599 w 3600000"/>
              <a:gd name="connsiteY5791" fmla="*/ 573311 h 2787466"/>
              <a:gd name="connsiteX5792" fmla="*/ 1800684 w 3600000"/>
              <a:gd name="connsiteY5792" fmla="*/ 580227 h 2787466"/>
              <a:gd name="connsiteX5793" fmla="*/ 1833245 w 3600000"/>
              <a:gd name="connsiteY5793" fmla="*/ 583214 h 2787466"/>
              <a:gd name="connsiteX5794" fmla="*/ 1843755 w 3600000"/>
              <a:gd name="connsiteY5794" fmla="*/ 581170 h 2787466"/>
              <a:gd name="connsiteX5795" fmla="*/ 1841077 w 3600000"/>
              <a:gd name="connsiteY5795" fmla="*/ 572210 h 2787466"/>
              <a:gd name="connsiteX5796" fmla="*/ 1844992 w 3600000"/>
              <a:gd name="connsiteY5796" fmla="*/ 574254 h 2787466"/>
              <a:gd name="connsiteX5797" fmla="*/ 1848908 w 3600000"/>
              <a:gd name="connsiteY5797" fmla="*/ 574254 h 2787466"/>
              <a:gd name="connsiteX5798" fmla="*/ 1844992 w 3600000"/>
              <a:gd name="connsiteY5798" fmla="*/ 579284 h 2787466"/>
              <a:gd name="connsiteX5799" fmla="*/ 1847671 w 3600000"/>
              <a:gd name="connsiteY5799" fmla="*/ 582114 h 2787466"/>
              <a:gd name="connsiteX5800" fmla="*/ 1855502 w 3600000"/>
              <a:gd name="connsiteY5800" fmla="*/ 576297 h 2787466"/>
              <a:gd name="connsiteX5801" fmla="*/ 1855502 w 3600000"/>
              <a:gd name="connsiteY5801" fmla="*/ 583214 h 2787466"/>
              <a:gd name="connsiteX5802" fmla="*/ 1895895 w 3600000"/>
              <a:gd name="connsiteY5802" fmla="*/ 579284 h 2787466"/>
              <a:gd name="connsiteX5803" fmla="*/ 1899057 w 3600000"/>
              <a:gd name="connsiteY5803" fmla="*/ 582902 h 2787466"/>
              <a:gd name="connsiteX5804" fmla="*/ 1899069 w 3600000"/>
              <a:gd name="connsiteY5804" fmla="*/ 583170 h 2787466"/>
              <a:gd name="connsiteX5805" fmla="*/ 1900426 w 3600000"/>
              <a:gd name="connsiteY5805" fmla="*/ 584467 h 2787466"/>
              <a:gd name="connsiteX5806" fmla="*/ 1904448 w 3600000"/>
              <a:gd name="connsiteY5806" fmla="*/ 589069 h 2787466"/>
              <a:gd name="connsiteX5807" fmla="*/ 1917947 w 3600000"/>
              <a:gd name="connsiteY5807" fmla="*/ 589187 h 2787466"/>
              <a:gd name="connsiteX5808" fmla="*/ 1925778 w 3600000"/>
              <a:gd name="connsiteY5808" fmla="*/ 597047 h 2787466"/>
              <a:gd name="connsiteX5809" fmla="*/ 1928457 w 3600000"/>
              <a:gd name="connsiteY5809" fmla="*/ 595160 h 2787466"/>
              <a:gd name="connsiteX5810" fmla="*/ 1927014 w 3600000"/>
              <a:gd name="connsiteY5810" fmla="*/ 587143 h 2787466"/>
              <a:gd name="connsiteX5811" fmla="*/ 1933291 w 3600000"/>
              <a:gd name="connsiteY5811" fmla="*/ 596718 h 2787466"/>
              <a:gd name="connsiteX5812" fmla="*/ 1932012 w 3600000"/>
              <a:gd name="connsiteY5812" fmla="*/ 597204 h 2787466"/>
              <a:gd name="connsiteX5813" fmla="*/ 1927014 w 3600000"/>
              <a:gd name="connsiteY5813" fmla="*/ 599090 h 2787466"/>
              <a:gd name="connsiteX5814" fmla="*/ 1938761 w 3600000"/>
              <a:gd name="connsiteY5814" fmla="*/ 599090 h 2787466"/>
              <a:gd name="connsiteX5815" fmla="*/ 1934845 w 3600000"/>
              <a:gd name="connsiteY5815" fmla="*/ 594060 h 2787466"/>
              <a:gd name="connsiteX5816" fmla="*/ 1961019 w 3600000"/>
              <a:gd name="connsiteY5816" fmla="*/ 599090 h 2787466"/>
              <a:gd name="connsiteX5817" fmla="*/ 1964934 w 3600000"/>
              <a:gd name="connsiteY5817" fmla="*/ 587143 h 2787466"/>
              <a:gd name="connsiteX5818" fmla="*/ 1941440 w 3600000"/>
              <a:gd name="connsiteY5818" fmla="*/ 580227 h 2787466"/>
              <a:gd name="connsiteX5819" fmla="*/ 1950508 w 3600000"/>
              <a:gd name="connsiteY5819" fmla="*/ 573311 h 2787466"/>
              <a:gd name="connsiteX5820" fmla="*/ 1963491 w 3600000"/>
              <a:gd name="connsiteY5820" fmla="*/ 577240 h 2787466"/>
              <a:gd name="connsiteX5821" fmla="*/ 1971323 w 3600000"/>
              <a:gd name="connsiteY5821" fmla="*/ 572210 h 2787466"/>
              <a:gd name="connsiteX5822" fmla="*/ 2001205 w 3600000"/>
              <a:gd name="connsiteY5822" fmla="*/ 577240 h 2787466"/>
              <a:gd name="connsiteX5823" fmla="*/ 1996053 w 3600000"/>
              <a:gd name="connsiteY5823" fmla="*/ 576297 h 2787466"/>
              <a:gd name="connsiteX5824" fmla="*/ 2003884 w 3600000"/>
              <a:gd name="connsiteY5824" fmla="*/ 577240 h 2787466"/>
              <a:gd name="connsiteX5825" fmla="*/ 2003884 w 3600000"/>
              <a:gd name="connsiteY5825" fmla="*/ 574254 h 2787466"/>
              <a:gd name="connsiteX5826" fmla="*/ 2031294 w 3600000"/>
              <a:gd name="connsiteY5826" fmla="*/ 573311 h 2787466"/>
              <a:gd name="connsiteX5827" fmla="*/ 2053345 w 3600000"/>
              <a:gd name="connsiteY5827" fmla="*/ 564351 h 2787466"/>
              <a:gd name="connsiteX5828" fmla="*/ 2059940 w 3600000"/>
              <a:gd name="connsiteY5828" fmla="*/ 574254 h 2787466"/>
              <a:gd name="connsiteX5829" fmla="*/ 2063855 w 3600000"/>
              <a:gd name="connsiteY5829" fmla="*/ 574254 h 2787466"/>
              <a:gd name="connsiteX5830" fmla="*/ 2084670 w 3600000"/>
              <a:gd name="connsiteY5830" fmla="*/ 569224 h 2787466"/>
              <a:gd name="connsiteX5831" fmla="*/ 2100332 w 3600000"/>
              <a:gd name="connsiteY5831" fmla="*/ 559321 h 2787466"/>
              <a:gd name="connsiteX5832" fmla="*/ 2102805 w 3600000"/>
              <a:gd name="connsiteY5832" fmla="*/ 564351 h 2787466"/>
              <a:gd name="connsiteX5833" fmla="*/ 2101569 w 3600000"/>
              <a:gd name="connsiteY5833" fmla="*/ 557435 h 2787466"/>
              <a:gd name="connsiteX5834" fmla="*/ 2106721 w 3600000"/>
              <a:gd name="connsiteY5834" fmla="*/ 562307 h 2787466"/>
              <a:gd name="connsiteX5835" fmla="*/ 2108164 w 3600000"/>
              <a:gd name="connsiteY5835" fmla="*/ 568281 h 2787466"/>
              <a:gd name="connsiteX5836" fmla="*/ 2101569 w 3600000"/>
              <a:gd name="connsiteY5836" fmla="*/ 566237 h 2787466"/>
              <a:gd name="connsiteX5837" fmla="*/ 2105484 w 3600000"/>
              <a:gd name="connsiteY5837" fmla="*/ 569224 h 2787466"/>
              <a:gd name="connsiteX5838" fmla="*/ 2101569 w 3600000"/>
              <a:gd name="connsiteY5838" fmla="*/ 569224 h 2787466"/>
              <a:gd name="connsiteX5839" fmla="*/ 2110636 w 3600000"/>
              <a:gd name="connsiteY5839" fmla="*/ 575197 h 2787466"/>
              <a:gd name="connsiteX5840" fmla="*/ 2087143 w 3600000"/>
              <a:gd name="connsiteY5840" fmla="*/ 575197 h 2787466"/>
              <a:gd name="connsiteX5841" fmla="*/ 2075602 w 3600000"/>
              <a:gd name="connsiteY5841" fmla="*/ 576297 h 2787466"/>
              <a:gd name="connsiteX5842" fmla="*/ 2058703 w 3600000"/>
              <a:gd name="connsiteY5842" fmla="*/ 583214 h 2787466"/>
              <a:gd name="connsiteX5843" fmla="*/ 2052109 w 3600000"/>
              <a:gd name="connsiteY5843" fmla="*/ 576297 h 2787466"/>
              <a:gd name="connsiteX5844" fmla="*/ 2048193 w 3600000"/>
              <a:gd name="connsiteY5844" fmla="*/ 582114 h 2787466"/>
              <a:gd name="connsiteX5845" fmla="*/ 2041598 w 3600000"/>
              <a:gd name="connsiteY5845" fmla="*/ 577240 h 2787466"/>
              <a:gd name="connsiteX5846" fmla="*/ 2033766 w 3600000"/>
              <a:gd name="connsiteY5846" fmla="*/ 588087 h 2787466"/>
              <a:gd name="connsiteX5847" fmla="*/ 2029851 w 3600000"/>
              <a:gd name="connsiteY5847" fmla="*/ 583214 h 2787466"/>
              <a:gd name="connsiteX5848" fmla="*/ 2009037 w 3600000"/>
              <a:gd name="connsiteY5848" fmla="*/ 591074 h 2787466"/>
              <a:gd name="connsiteX5849" fmla="*/ 1990901 w 3600000"/>
              <a:gd name="connsiteY5849" fmla="*/ 591074 h 2787466"/>
              <a:gd name="connsiteX5850" fmla="*/ 2007800 w 3600000"/>
              <a:gd name="connsiteY5850" fmla="*/ 594060 h 2787466"/>
              <a:gd name="connsiteX5851" fmla="*/ 2027378 w 3600000"/>
              <a:gd name="connsiteY5851" fmla="*/ 599090 h 2787466"/>
              <a:gd name="connsiteX5852" fmla="*/ 2024699 w 3600000"/>
              <a:gd name="connsiteY5852" fmla="*/ 606006 h 2787466"/>
              <a:gd name="connsiteX5853" fmla="*/ 2024699 w 3600000"/>
              <a:gd name="connsiteY5853" fmla="*/ 611036 h 2787466"/>
              <a:gd name="connsiteX5854" fmla="*/ 2037682 w 3600000"/>
              <a:gd name="connsiteY5854" fmla="*/ 605063 h 2787466"/>
              <a:gd name="connsiteX5855" fmla="*/ 2066328 w 3600000"/>
              <a:gd name="connsiteY5855" fmla="*/ 614966 h 2787466"/>
              <a:gd name="connsiteX5856" fmla="*/ 2075602 w 3600000"/>
              <a:gd name="connsiteY5856" fmla="*/ 609936 h 2787466"/>
              <a:gd name="connsiteX5857" fmla="*/ 2071686 w 3600000"/>
              <a:gd name="connsiteY5857" fmla="*/ 612922 h 2787466"/>
              <a:gd name="connsiteX5858" fmla="*/ 2084670 w 3600000"/>
              <a:gd name="connsiteY5858" fmla="*/ 614023 h 2787466"/>
              <a:gd name="connsiteX5859" fmla="*/ 2079518 w 3600000"/>
              <a:gd name="connsiteY5859" fmla="*/ 612922 h 2787466"/>
              <a:gd name="connsiteX5860" fmla="*/ 2089822 w 3600000"/>
              <a:gd name="connsiteY5860" fmla="*/ 608050 h 2787466"/>
              <a:gd name="connsiteX5861" fmla="*/ 2087143 w 3600000"/>
              <a:gd name="connsiteY5861" fmla="*/ 611980 h 2787466"/>
              <a:gd name="connsiteX5862" fmla="*/ 2102805 w 3600000"/>
              <a:gd name="connsiteY5862" fmla="*/ 614966 h 2787466"/>
              <a:gd name="connsiteX5863" fmla="*/ 2100332 w 3600000"/>
              <a:gd name="connsiteY5863" fmla="*/ 608993 h 2787466"/>
              <a:gd name="connsiteX5864" fmla="*/ 2104248 w 3600000"/>
              <a:gd name="connsiteY5864" fmla="*/ 608050 h 2787466"/>
              <a:gd name="connsiteX5865" fmla="*/ 2113316 w 3600000"/>
              <a:gd name="connsiteY5865" fmla="*/ 607107 h 2787466"/>
              <a:gd name="connsiteX5866" fmla="*/ 2119910 w 3600000"/>
              <a:gd name="connsiteY5866" fmla="*/ 609936 h 2787466"/>
              <a:gd name="connsiteX5867" fmla="*/ 2105484 w 3600000"/>
              <a:gd name="connsiteY5867" fmla="*/ 617010 h 2787466"/>
              <a:gd name="connsiteX5868" fmla="*/ 2115995 w 3600000"/>
              <a:gd name="connsiteY5868" fmla="*/ 618896 h 2787466"/>
              <a:gd name="connsiteX5869" fmla="*/ 2132894 w 3600000"/>
              <a:gd name="connsiteY5869" fmla="*/ 627856 h 2787466"/>
              <a:gd name="connsiteX5870" fmla="*/ 2158861 w 3600000"/>
              <a:gd name="connsiteY5870" fmla="*/ 624869 h 2787466"/>
              <a:gd name="connsiteX5871" fmla="*/ 2169371 w 3600000"/>
              <a:gd name="connsiteY5871" fmla="*/ 626913 h 2787466"/>
              <a:gd name="connsiteX5872" fmla="*/ 2164013 w 3600000"/>
              <a:gd name="connsiteY5872" fmla="*/ 620939 h 2787466"/>
              <a:gd name="connsiteX5873" fmla="*/ 2161540 w 3600000"/>
              <a:gd name="connsiteY5873" fmla="*/ 625812 h 2787466"/>
              <a:gd name="connsiteX5874" fmla="*/ 2170608 w 3600000"/>
              <a:gd name="connsiteY5874" fmla="*/ 623926 h 2787466"/>
              <a:gd name="connsiteX5875" fmla="*/ 2200490 w 3600000"/>
              <a:gd name="connsiteY5875" fmla="*/ 625812 h 2787466"/>
              <a:gd name="connsiteX5876" fmla="*/ 2195338 w 3600000"/>
              <a:gd name="connsiteY5876" fmla="*/ 621882 h 2787466"/>
              <a:gd name="connsiteX5877" fmla="*/ 2222747 w 3600000"/>
              <a:gd name="connsiteY5877" fmla="*/ 615909 h 2787466"/>
              <a:gd name="connsiteX5878" fmla="*/ 2246034 w 3600000"/>
              <a:gd name="connsiteY5878" fmla="*/ 611036 h 2787466"/>
              <a:gd name="connsiteX5879" fmla="*/ 2243562 w 3600000"/>
              <a:gd name="connsiteY5879" fmla="*/ 609936 h 2787466"/>
              <a:gd name="connsiteX5880" fmla="*/ 2298175 w 3600000"/>
              <a:gd name="connsiteY5880" fmla="*/ 585100 h 2787466"/>
              <a:gd name="connsiteX5881" fmla="*/ 2302090 w 3600000"/>
              <a:gd name="connsiteY5881" fmla="*/ 591074 h 2787466"/>
              <a:gd name="connsiteX5882" fmla="*/ 2303533 w 3600000"/>
              <a:gd name="connsiteY5882" fmla="*/ 584157 h 2787466"/>
              <a:gd name="connsiteX5883" fmla="*/ 2320432 w 3600000"/>
              <a:gd name="connsiteY5883" fmla="*/ 576297 h 2787466"/>
              <a:gd name="connsiteX5884" fmla="*/ 2338568 w 3600000"/>
              <a:gd name="connsiteY5884" fmla="*/ 565294 h 2787466"/>
              <a:gd name="connsiteX5885" fmla="*/ 2341246 w 3600000"/>
              <a:gd name="connsiteY5885" fmla="*/ 567337 h 2787466"/>
              <a:gd name="connsiteX5886" fmla="*/ 2345162 w 3600000"/>
              <a:gd name="connsiteY5886" fmla="*/ 567337 h 2787466"/>
              <a:gd name="connsiteX5887" fmla="*/ 2355466 w 3600000"/>
              <a:gd name="connsiteY5887" fmla="*/ 551461 h 2787466"/>
              <a:gd name="connsiteX5888" fmla="*/ 2363298 w 3600000"/>
              <a:gd name="connsiteY5888" fmla="*/ 556334 h 2787466"/>
              <a:gd name="connsiteX5889" fmla="*/ 2365977 w 3600000"/>
              <a:gd name="connsiteY5889" fmla="*/ 553347 h 2787466"/>
              <a:gd name="connsiteX5890" fmla="*/ 2359382 w 3600000"/>
              <a:gd name="connsiteY5890" fmla="*/ 548475 h 2787466"/>
              <a:gd name="connsiteX5891" fmla="*/ 2377724 w 3600000"/>
              <a:gd name="connsiteY5891" fmla="*/ 542501 h 2787466"/>
              <a:gd name="connsiteX5892" fmla="*/ 2385555 w 3600000"/>
              <a:gd name="connsiteY5892" fmla="*/ 546431 h 2787466"/>
              <a:gd name="connsiteX5893" fmla="*/ 2393386 w 3600000"/>
              <a:gd name="connsiteY5893" fmla="*/ 539515 h 2787466"/>
              <a:gd name="connsiteX5894" fmla="*/ 2397302 w 3600000"/>
              <a:gd name="connsiteY5894" fmla="*/ 546431 h 2787466"/>
              <a:gd name="connsiteX5895" fmla="*/ 2423269 w 3600000"/>
              <a:gd name="connsiteY5895" fmla="*/ 530555 h 2787466"/>
              <a:gd name="connsiteX5896" fmla="*/ 2427185 w 3600000"/>
              <a:gd name="connsiteY5896" fmla="*/ 538414 h 2787466"/>
              <a:gd name="connsiteX5897" fmla="*/ 2441404 w 3600000"/>
              <a:gd name="connsiteY5897" fmla="*/ 521595 h 2787466"/>
              <a:gd name="connsiteX5898" fmla="*/ 2437489 w 3600000"/>
              <a:gd name="connsiteY5898" fmla="*/ 517665 h 2787466"/>
              <a:gd name="connsiteX5899" fmla="*/ 2451914 w 3600000"/>
              <a:gd name="connsiteY5899" fmla="*/ 504776 h 2787466"/>
              <a:gd name="connsiteX5900" fmla="*/ 2485712 w 3600000"/>
              <a:gd name="connsiteY5900" fmla="*/ 495816 h 2787466"/>
              <a:gd name="connsiteX5901" fmla="*/ 2488023 w 3600000"/>
              <a:gd name="connsiteY5901" fmla="*/ 488804 h 2787466"/>
              <a:gd name="connsiteX5902" fmla="*/ 2485535 w 3600000"/>
              <a:gd name="connsiteY5902" fmla="*/ 487979 h 2787466"/>
              <a:gd name="connsiteX5903" fmla="*/ 2479975 w 3600000"/>
              <a:gd name="connsiteY5903" fmla="*/ 485523 h 2787466"/>
              <a:gd name="connsiteX5904" fmla="*/ 2469474 w 3600000"/>
              <a:gd name="connsiteY5904" fmla="*/ 493446 h 2787466"/>
              <a:gd name="connsiteX5905" fmla="*/ 2478740 w 3600000"/>
              <a:gd name="connsiteY5905" fmla="*/ 471420 h 2787466"/>
              <a:gd name="connsiteX5906" fmla="*/ 2487800 w 3600000"/>
              <a:gd name="connsiteY5906" fmla="*/ 472371 h 2787466"/>
              <a:gd name="connsiteX5907" fmla="*/ 2489036 w 3600000"/>
              <a:gd name="connsiteY5907" fmla="*/ 480453 h 2787466"/>
              <a:gd name="connsiteX5908" fmla="*/ 2485123 w 3600000"/>
              <a:gd name="connsiteY5908" fmla="*/ 476491 h 2787466"/>
              <a:gd name="connsiteX5909" fmla="*/ 2476063 w 3600000"/>
              <a:gd name="connsiteY5909" fmla="*/ 475381 h 2787466"/>
              <a:gd name="connsiteX5910" fmla="*/ 2478740 w 3600000"/>
              <a:gd name="connsiteY5910" fmla="*/ 482512 h 2787466"/>
              <a:gd name="connsiteX5911" fmla="*/ 2488237 w 3600000"/>
              <a:gd name="connsiteY5911" fmla="*/ 483859 h 2787466"/>
              <a:gd name="connsiteX5912" fmla="*/ 2490390 w 3600000"/>
              <a:gd name="connsiteY5912" fmla="*/ 486866 h 2787466"/>
              <a:gd name="connsiteX5913" fmla="*/ 2498696 w 3600000"/>
              <a:gd name="connsiteY5913" fmla="*/ 482926 h 2787466"/>
              <a:gd name="connsiteX5914" fmla="*/ 2494986 w 3600000"/>
              <a:gd name="connsiteY5914" fmla="*/ 477896 h 2787466"/>
              <a:gd name="connsiteX5915" fmla="*/ 2501375 w 3600000"/>
              <a:gd name="connsiteY5915" fmla="*/ 478839 h 2787466"/>
              <a:gd name="connsiteX5916" fmla="*/ 2498696 w 3600000"/>
              <a:gd name="connsiteY5916" fmla="*/ 473966 h 2787466"/>
              <a:gd name="connsiteX5917" fmla="*/ 2496223 w 3600000"/>
              <a:gd name="connsiteY5917" fmla="*/ 474909 h 2787466"/>
              <a:gd name="connsiteX5918" fmla="*/ 2498129 w 3600000"/>
              <a:gd name="connsiteY5918" fmla="*/ 467089 h 2787466"/>
              <a:gd name="connsiteX5919" fmla="*/ 2500934 w 3600000"/>
              <a:gd name="connsiteY5919" fmla="*/ 463722 h 2787466"/>
              <a:gd name="connsiteX5920" fmla="*/ 2491987 w 3600000"/>
              <a:gd name="connsiteY5920" fmla="*/ 463088 h 2787466"/>
              <a:gd name="connsiteX5921" fmla="*/ 2485636 w 3600000"/>
              <a:gd name="connsiteY5921" fmla="*/ 459901 h 2787466"/>
              <a:gd name="connsiteX5922" fmla="*/ 2480514 w 3600000"/>
              <a:gd name="connsiteY5922" fmla="*/ 469875 h 2787466"/>
              <a:gd name="connsiteX5923" fmla="*/ 2482972 w 3600000"/>
              <a:gd name="connsiteY5923" fmla="*/ 456894 h 2787466"/>
              <a:gd name="connsiteX5924" fmla="*/ 2488300 w 3600000"/>
              <a:gd name="connsiteY5924" fmla="*/ 459901 h 2787466"/>
              <a:gd name="connsiteX5925" fmla="*/ 2497315 w 3600000"/>
              <a:gd name="connsiteY5925" fmla="*/ 455944 h 2787466"/>
              <a:gd name="connsiteX5926" fmla="*/ 2484406 w 3600000"/>
              <a:gd name="connsiteY5926" fmla="*/ 455944 h 2787466"/>
              <a:gd name="connsiteX5927" fmla="*/ 2502438 w 3600000"/>
              <a:gd name="connsiteY5927" fmla="*/ 451986 h 2787466"/>
              <a:gd name="connsiteX5928" fmla="*/ 2499470 w 3600000"/>
              <a:gd name="connsiteY5928" fmla="*/ 460557 h 2787466"/>
              <a:gd name="connsiteX5929" fmla="*/ 2502182 w 3600000"/>
              <a:gd name="connsiteY5929" fmla="*/ 462224 h 2787466"/>
              <a:gd name="connsiteX5930" fmla="*/ 2504054 w 3600000"/>
              <a:gd name="connsiteY5930" fmla="*/ 459976 h 2787466"/>
              <a:gd name="connsiteX5931" fmla="*/ 2504606 w 3600000"/>
              <a:gd name="connsiteY5931" fmla="*/ 463713 h 2787466"/>
              <a:gd name="connsiteX5932" fmla="*/ 2505101 w 3600000"/>
              <a:gd name="connsiteY5932" fmla="*/ 464018 h 2787466"/>
              <a:gd name="connsiteX5933" fmla="*/ 2504646 w 3600000"/>
              <a:gd name="connsiteY5933" fmla="*/ 463985 h 2787466"/>
              <a:gd name="connsiteX5934" fmla="*/ 2505162 w 3600000"/>
              <a:gd name="connsiteY5934" fmla="*/ 467482 h 2787466"/>
              <a:gd name="connsiteX5935" fmla="*/ 2497460 w 3600000"/>
              <a:gd name="connsiteY5935" fmla="*/ 471923 h 2787466"/>
              <a:gd name="connsiteX5936" fmla="*/ 2501375 w 3600000"/>
              <a:gd name="connsiteY5936" fmla="*/ 474909 h 2787466"/>
              <a:gd name="connsiteX5937" fmla="*/ 2507970 w 3600000"/>
              <a:gd name="connsiteY5937" fmla="*/ 469879 h 2787466"/>
              <a:gd name="connsiteX5938" fmla="*/ 2522190 w 3600000"/>
              <a:gd name="connsiteY5938" fmla="*/ 466892 h 2787466"/>
              <a:gd name="connsiteX5939" fmla="*/ 2513122 w 3600000"/>
              <a:gd name="connsiteY5939" fmla="*/ 459976 h 2787466"/>
              <a:gd name="connsiteX5940" fmla="*/ 2539088 w 3600000"/>
              <a:gd name="connsiteY5940" fmla="*/ 450073 h 2787466"/>
              <a:gd name="connsiteX5941" fmla="*/ 2550835 w 3600000"/>
              <a:gd name="connsiteY5941" fmla="*/ 431210 h 2787466"/>
              <a:gd name="connsiteX5942" fmla="*/ 2562582 w 3600000"/>
              <a:gd name="connsiteY5942" fmla="*/ 432154 h 2787466"/>
              <a:gd name="connsiteX5943" fmla="*/ 2558667 w 3600000"/>
              <a:gd name="connsiteY5943" fmla="*/ 441114 h 2787466"/>
              <a:gd name="connsiteX5944" fmla="*/ 2569177 w 3600000"/>
              <a:gd name="connsiteY5944" fmla="*/ 439227 h 2787466"/>
              <a:gd name="connsiteX5945" fmla="*/ 2566498 w 3600000"/>
              <a:gd name="connsiteY5945" fmla="*/ 435140 h 2787466"/>
              <a:gd name="connsiteX5946" fmla="*/ 2575566 w 3600000"/>
              <a:gd name="connsiteY5946" fmla="*/ 439227 h 2787466"/>
              <a:gd name="connsiteX5947" fmla="*/ 2575566 w 3600000"/>
              <a:gd name="connsiteY5947" fmla="*/ 465950 h 2787466"/>
              <a:gd name="connsiteX5948" fmla="*/ 2582160 w 3600000"/>
              <a:gd name="connsiteY5948" fmla="*/ 456990 h 2787466"/>
              <a:gd name="connsiteX5949" fmla="*/ 2574329 w 3600000"/>
              <a:gd name="connsiteY5949" fmla="*/ 458090 h 2787466"/>
              <a:gd name="connsiteX5950" fmla="*/ 2574329 w 3600000"/>
              <a:gd name="connsiteY5950" fmla="*/ 454003 h 2787466"/>
              <a:gd name="connsiteX5951" fmla="*/ 2587313 w 3600000"/>
              <a:gd name="connsiteY5951" fmla="*/ 455104 h 2787466"/>
              <a:gd name="connsiteX5952" fmla="*/ 2586076 w 3600000"/>
              <a:gd name="connsiteY5952" fmla="*/ 459976 h 2787466"/>
              <a:gd name="connsiteX5953" fmla="*/ 2590682 w 3600000"/>
              <a:gd name="connsiteY5953" fmla="*/ 460121 h 2787466"/>
              <a:gd name="connsiteX5954" fmla="*/ 2594671 w 3600000"/>
              <a:gd name="connsiteY5954" fmla="*/ 452793 h 2787466"/>
              <a:gd name="connsiteX5955" fmla="*/ 2594313 w 3600000"/>
              <a:gd name="connsiteY5955" fmla="*/ 445012 h 2787466"/>
              <a:gd name="connsiteX5956" fmla="*/ 2608593 w 3600000"/>
              <a:gd name="connsiteY5956" fmla="*/ 440916 h 2787466"/>
              <a:gd name="connsiteX5957" fmla="*/ 2598189 w 3600000"/>
              <a:gd name="connsiteY5957" fmla="*/ 450843 h 2787466"/>
              <a:gd name="connsiteX5958" fmla="*/ 2598129 w 3600000"/>
              <a:gd name="connsiteY5958" fmla="*/ 452245 h 2787466"/>
              <a:gd name="connsiteX5959" fmla="*/ 2600577 w 3600000"/>
              <a:gd name="connsiteY5959" fmla="*/ 453271 h 2787466"/>
              <a:gd name="connsiteX5960" fmla="*/ 2599292 w 3600000"/>
              <a:gd name="connsiteY5960" fmla="*/ 454278 h 2787466"/>
              <a:gd name="connsiteX5961" fmla="*/ 2597886 w 3600000"/>
              <a:gd name="connsiteY5961" fmla="*/ 457928 h 2787466"/>
              <a:gd name="connsiteX5962" fmla="*/ 2597879 w 3600000"/>
              <a:gd name="connsiteY5962" fmla="*/ 458091 h 2787466"/>
              <a:gd name="connsiteX5963" fmla="*/ 2604383 w 3600000"/>
              <a:gd name="connsiteY5963" fmla="*/ 458217 h 2787466"/>
              <a:gd name="connsiteX5964" fmla="*/ 2609570 w 3600000"/>
              <a:gd name="connsiteY5964" fmla="*/ 452117 h 2787466"/>
              <a:gd name="connsiteX5965" fmla="*/ 2610807 w 3600000"/>
              <a:gd name="connsiteY5965" fmla="*/ 465950 h 2787466"/>
              <a:gd name="connsiteX5966" fmla="*/ 2609570 w 3600000"/>
              <a:gd name="connsiteY5966" fmla="*/ 471923 h 2787466"/>
              <a:gd name="connsiteX5967" fmla="*/ 2615959 w 3600000"/>
              <a:gd name="connsiteY5967" fmla="*/ 484812 h 2787466"/>
              <a:gd name="connsiteX5968" fmla="*/ 2610807 w 3600000"/>
              <a:gd name="connsiteY5968" fmla="*/ 481826 h 2787466"/>
              <a:gd name="connsiteX5969" fmla="*/ 2613047 w 3600000"/>
              <a:gd name="connsiteY5969" fmla="*/ 489234 h 2787466"/>
              <a:gd name="connsiteX5970" fmla="*/ 2618163 w 3600000"/>
              <a:gd name="connsiteY5970" fmla="*/ 492044 h 2787466"/>
              <a:gd name="connsiteX5971" fmla="*/ 2619634 w 3600000"/>
              <a:gd name="connsiteY5971" fmla="*/ 489484 h 2787466"/>
              <a:gd name="connsiteX5972" fmla="*/ 2627683 w 3600000"/>
              <a:gd name="connsiteY5972" fmla="*/ 483899 h 2787466"/>
              <a:gd name="connsiteX5973" fmla="*/ 2622490 w 3600000"/>
              <a:gd name="connsiteY5973" fmla="*/ 492931 h 2787466"/>
              <a:gd name="connsiteX5974" fmla="*/ 2619142 w 3600000"/>
              <a:gd name="connsiteY5974" fmla="*/ 492582 h 2787466"/>
              <a:gd name="connsiteX5975" fmla="*/ 2625027 w 3600000"/>
              <a:gd name="connsiteY5975" fmla="*/ 495816 h 2787466"/>
              <a:gd name="connsiteX5976" fmla="*/ 2628942 w 3600000"/>
              <a:gd name="connsiteY5976" fmla="*/ 491886 h 2787466"/>
              <a:gd name="connsiteX5977" fmla="*/ 2642132 w 3600000"/>
              <a:gd name="connsiteY5977" fmla="*/ 502732 h 2787466"/>
              <a:gd name="connsiteX5978" fmla="*/ 2643368 w 3600000"/>
              <a:gd name="connsiteY5978" fmla="*/ 517665 h 2787466"/>
              <a:gd name="connsiteX5979" fmla="*/ 2642132 w 3600000"/>
              <a:gd name="connsiteY5979" fmla="*/ 537471 h 2787466"/>
              <a:gd name="connsiteX5980" fmla="*/ 2635537 w 3600000"/>
              <a:gd name="connsiteY5980" fmla="*/ 557435 h 2787466"/>
              <a:gd name="connsiteX5981" fmla="*/ 2638314 w 3600000"/>
              <a:gd name="connsiteY5981" fmla="*/ 556133 h 2787466"/>
              <a:gd name="connsiteX5982" fmla="*/ 2637923 w 3600000"/>
              <a:gd name="connsiteY5982" fmla="*/ 555443 h 2787466"/>
              <a:gd name="connsiteX5983" fmla="*/ 2642097 w 3600000"/>
              <a:gd name="connsiteY5983" fmla="*/ 552005 h 2787466"/>
              <a:gd name="connsiteX5984" fmla="*/ 2644524 w 3600000"/>
              <a:gd name="connsiteY5984" fmla="*/ 552365 h 2787466"/>
              <a:gd name="connsiteX5985" fmla="*/ 2647283 w 3600000"/>
              <a:gd name="connsiteY5985" fmla="*/ 547374 h 2787466"/>
              <a:gd name="connsiteX5986" fmla="*/ 2649757 w 3600000"/>
              <a:gd name="connsiteY5986" fmla="*/ 555391 h 2787466"/>
              <a:gd name="connsiteX5987" fmla="*/ 2657588 w 3600000"/>
              <a:gd name="connsiteY5987" fmla="*/ 561364 h 2787466"/>
              <a:gd name="connsiteX5988" fmla="*/ 2669334 w 3600000"/>
              <a:gd name="connsiteY5988" fmla="*/ 548475 h 2787466"/>
              <a:gd name="connsiteX5989" fmla="*/ 2664183 w 3600000"/>
              <a:gd name="connsiteY5989" fmla="*/ 573311 h 2787466"/>
              <a:gd name="connsiteX5990" fmla="*/ 2659030 w 3600000"/>
              <a:gd name="connsiteY5990" fmla="*/ 585100 h 2787466"/>
              <a:gd name="connsiteX5991" fmla="*/ 2657588 w 3600000"/>
              <a:gd name="connsiteY5991" fmla="*/ 601134 h 2787466"/>
              <a:gd name="connsiteX5992" fmla="*/ 2623790 w 3600000"/>
              <a:gd name="connsiteY5992" fmla="*/ 655678 h 2787466"/>
              <a:gd name="connsiteX5993" fmla="*/ 2630385 w 3600000"/>
              <a:gd name="connsiteY5993" fmla="*/ 651749 h 2787466"/>
              <a:gd name="connsiteX5994" fmla="*/ 2638216 w 3600000"/>
              <a:gd name="connsiteY5994" fmla="*/ 654736 h 2787466"/>
              <a:gd name="connsiteX5995" fmla="*/ 2622554 w 3600000"/>
              <a:gd name="connsiteY5995" fmla="*/ 657722 h 2787466"/>
              <a:gd name="connsiteX5996" fmla="*/ 2606891 w 3600000"/>
              <a:gd name="connsiteY5996" fmla="*/ 686488 h 2787466"/>
              <a:gd name="connsiteX5997" fmla="*/ 2604212 w 3600000"/>
              <a:gd name="connsiteY5997" fmla="*/ 693405 h 2787466"/>
              <a:gd name="connsiteX5998" fmla="*/ 2588756 w 3600000"/>
              <a:gd name="connsiteY5998" fmla="*/ 709280 h 2787466"/>
              <a:gd name="connsiteX5999" fmla="*/ 2617196 w 3600000"/>
              <a:gd name="connsiteY5999" fmla="*/ 699378 h 2787466"/>
              <a:gd name="connsiteX6000" fmla="*/ 2597112 w 3600000"/>
              <a:gd name="connsiteY6000" fmla="*/ 722278 h 2787466"/>
              <a:gd name="connsiteX6001" fmla="*/ 2594343 w 3600000"/>
              <a:gd name="connsiteY6001" fmla="*/ 727552 h 2787466"/>
              <a:gd name="connsiteX6002" fmla="*/ 2596943 w 3600000"/>
              <a:gd name="connsiteY6002" fmla="*/ 729629 h 2787466"/>
              <a:gd name="connsiteX6003" fmla="*/ 2585757 w 3600000"/>
              <a:gd name="connsiteY6003" fmla="*/ 736783 h 2787466"/>
              <a:gd name="connsiteX6004" fmla="*/ 2586974 w 3600000"/>
              <a:gd name="connsiteY6004" fmla="*/ 733777 h 2787466"/>
              <a:gd name="connsiteX6005" fmla="*/ 2574329 w 3600000"/>
              <a:gd name="connsiteY6005" fmla="*/ 739874 h 2787466"/>
              <a:gd name="connsiteX6006" fmla="*/ 2559903 w 3600000"/>
              <a:gd name="connsiteY6006" fmla="*/ 750150 h 2787466"/>
              <a:gd name="connsiteX6007" fmla="*/ 2575566 w 3600000"/>
              <a:gd name="connsiteY6007" fmla="*/ 750150 h 2787466"/>
              <a:gd name="connsiteX6008" fmla="*/ 2570413 w 3600000"/>
              <a:gd name="connsiteY6008" fmla="*/ 755966 h 2787466"/>
              <a:gd name="connsiteX6009" fmla="*/ 2566783 w 3600000"/>
              <a:gd name="connsiteY6009" fmla="*/ 755046 h 2787466"/>
              <a:gd name="connsiteX6010" fmla="*/ 2560221 w 3600000"/>
              <a:gd name="connsiteY6010" fmla="*/ 761846 h 2787466"/>
              <a:gd name="connsiteX6011" fmla="*/ 2552692 w 3600000"/>
              <a:gd name="connsiteY6011" fmla="*/ 767980 h 2787466"/>
              <a:gd name="connsiteX6012" fmla="*/ 2549861 w 3600000"/>
              <a:gd name="connsiteY6012" fmla="*/ 763301 h 2787466"/>
              <a:gd name="connsiteX6013" fmla="*/ 2545632 w 3600000"/>
              <a:gd name="connsiteY6013" fmla="*/ 765594 h 2787466"/>
              <a:gd name="connsiteX6014" fmla="*/ 2531257 w 3600000"/>
              <a:gd name="connsiteY6014" fmla="*/ 776872 h 2787466"/>
              <a:gd name="connsiteX6015" fmla="*/ 2528784 w 3600000"/>
              <a:gd name="connsiteY6015" fmla="*/ 773886 h 2787466"/>
              <a:gd name="connsiteX6016" fmla="*/ 2481797 w 3600000"/>
              <a:gd name="connsiteY6016" fmla="*/ 794792 h 2787466"/>
              <a:gd name="connsiteX6017" fmla="*/ 2436252 w 3600000"/>
              <a:gd name="connsiteY6017" fmla="*/ 812555 h 2787466"/>
              <a:gd name="connsiteX6018" fmla="*/ 2363298 w 3600000"/>
              <a:gd name="connsiteY6018" fmla="*/ 838491 h 2787466"/>
              <a:gd name="connsiteX6019" fmla="*/ 2372366 w 3600000"/>
              <a:gd name="connsiteY6019" fmla="*/ 844464 h 2787466"/>
              <a:gd name="connsiteX6020" fmla="*/ 2350315 w 3600000"/>
              <a:gd name="connsiteY6020" fmla="*/ 853424 h 2787466"/>
              <a:gd name="connsiteX6021" fmla="*/ 2352993 w 3600000"/>
              <a:gd name="connsiteY6021" fmla="*/ 849338 h 2787466"/>
              <a:gd name="connsiteX6022" fmla="*/ 2345162 w 3600000"/>
              <a:gd name="connsiteY6022" fmla="*/ 850438 h 2787466"/>
              <a:gd name="connsiteX6023" fmla="*/ 2346399 w 3600000"/>
              <a:gd name="connsiteY6023" fmla="*/ 854367 h 2787466"/>
              <a:gd name="connsiteX6024" fmla="*/ 2260461 w 3600000"/>
              <a:gd name="connsiteY6024" fmla="*/ 877160 h 2787466"/>
              <a:gd name="connsiteX6025" fmla="*/ 2296938 w 3600000"/>
              <a:gd name="connsiteY6025" fmla="*/ 878260 h 2787466"/>
              <a:gd name="connsiteX6026" fmla="*/ 2276123 w 3600000"/>
              <a:gd name="connsiteY6026" fmla="*/ 883133 h 2787466"/>
              <a:gd name="connsiteX6027" fmla="*/ 2291786 w 3600000"/>
              <a:gd name="connsiteY6027" fmla="*/ 879204 h 2787466"/>
              <a:gd name="connsiteX6028" fmla="*/ 2294259 w 3600000"/>
              <a:gd name="connsiteY6028" fmla="*/ 884076 h 2787466"/>
              <a:gd name="connsiteX6029" fmla="*/ 2302090 w 3600000"/>
              <a:gd name="connsiteY6029" fmla="*/ 880146 h 2787466"/>
              <a:gd name="connsiteX6030" fmla="*/ 2300854 w 3600000"/>
              <a:gd name="connsiteY6030" fmla="*/ 870244 h 2787466"/>
              <a:gd name="connsiteX6031" fmla="*/ 2315074 w 3600000"/>
              <a:gd name="connsiteY6031" fmla="*/ 873230 h 2787466"/>
              <a:gd name="connsiteX6032" fmla="*/ 2324348 w 3600000"/>
              <a:gd name="connsiteY6032" fmla="*/ 867257 h 2787466"/>
              <a:gd name="connsiteX6033" fmla="*/ 2324348 w 3600000"/>
              <a:gd name="connsiteY6033" fmla="*/ 874173 h 2787466"/>
              <a:gd name="connsiteX6034" fmla="*/ 2330736 w 3600000"/>
              <a:gd name="connsiteY6034" fmla="*/ 870244 h 2787466"/>
              <a:gd name="connsiteX6035" fmla="*/ 2325584 w 3600000"/>
              <a:gd name="connsiteY6035" fmla="*/ 865371 h 2787466"/>
              <a:gd name="connsiteX6036" fmla="*/ 2347635 w 3600000"/>
              <a:gd name="connsiteY6036" fmla="*/ 859398 h 2787466"/>
              <a:gd name="connsiteX6037" fmla="*/ 2351551 w 3600000"/>
              <a:gd name="connsiteY6037" fmla="*/ 866314 h 2787466"/>
              <a:gd name="connsiteX6038" fmla="*/ 2354230 w 3600000"/>
              <a:gd name="connsiteY6038" fmla="*/ 863681 h 2787466"/>
              <a:gd name="connsiteX6039" fmla="*/ 2354577 w 3600000"/>
              <a:gd name="connsiteY6039" fmla="*/ 863249 h 2787466"/>
              <a:gd name="connsiteX6040" fmla="*/ 2384344 w 3600000"/>
              <a:gd name="connsiteY6040" fmla="*/ 856509 h 2787466"/>
              <a:gd name="connsiteX6041" fmla="*/ 2411522 w 3600000"/>
              <a:gd name="connsiteY6041" fmla="*/ 847451 h 2787466"/>
              <a:gd name="connsiteX6042" fmla="*/ 2463661 w 3600000"/>
              <a:gd name="connsiteY6042" fmla="*/ 827488 h 2787466"/>
              <a:gd name="connsiteX6043" fmla="*/ 2462218 w 3600000"/>
              <a:gd name="connsiteY6043" fmla="*/ 822615 h 2787466"/>
              <a:gd name="connsiteX6044" fmla="*/ 2480561 w 3600000"/>
              <a:gd name="connsiteY6044" fmla="*/ 819629 h 2787466"/>
              <a:gd name="connsiteX6045" fmla="*/ 2493544 w 3600000"/>
              <a:gd name="connsiteY6045" fmla="*/ 806739 h 2787466"/>
              <a:gd name="connsiteX6046" fmla="*/ 2505291 w 3600000"/>
              <a:gd name="connsiteY6046" fmla="*/ 806739 h 2787466"/>
              <a:gd name="connsiteX6047" fmla="*/ 2504054 w 3600000"/>
              <a:gd name="connsiteY6047" fmla="*/ 798722 h 2787466"/>
              <a:gd name="connsiteX6048" fmla="*/ 2524869 w 3600000"/>
              <a:gd name="connsiteY6048" fmla="*/ 789763 h 2787466"/>
              <a:gd name="connsiteX6049" fmla="*/ 2548362 w 3600000"/>
              <a:gd name="connsiteY6049" fmla="*/ 785832 h 2787466"/>
              <a:gd name="connsiteX6050" fmla="*/ 2546920 w 3600000"/>
              <a:gd name="connsiteY6050" fmla="*/ 775929 h 2787466"/>
              <a:gd name="connsiteX6051" fmla="*/ 2552278 w 3600000"/>
              <a:gd name="connsiteY6051" fmla="*/ 779859 h 2787466"/>
              <a:gd name="connsiteX6052" fmla="*/ 2586076 w 3600000"/>
              <a:gd name="connsiteY6052" fmla="*/ 755023 h 2787466"/>
              <a:gd name="connsiteX6053" fmla="*/ 2606891 w 3600000"/>
              <a:gd name="connsiteY6053" fmla="*/ 743076 h 2787466"/>
              <a:gd name="connsiteX6054" fmla="*/ 2607985 w 3600000"/>
              <a:gd name="connsiteY6054" fmla="*/ 741927 h 2787466"/>
              <a:gd name="connsiteX6055" fmla="*/ 2607006 w 3600000"/>
              <a:gd name="connsiteY6055" fmla="*/ 741022 h 2787466"/>
              <a:gd name="connsiteX6056" fmla="*/ 2607823 w 3600000"/>
              <a:gd name="connsiteY6056" fmla="*/ 734862 h 2787466"/>
              <a:gd name="connsiteX6057" fmla="*/ 2611759 w 3600000"/>
              <a:gd name="connsiteY6057" fmla="*/ 737965 h 2787466"/>
              <a:gd name="connsiteX6058" fmla="*/ 2621111 w 3600000"/>
              <a:gd name="connsiteY6058" fmla="*/ 728143 h 2787466"/>
              <a:gd name="connsiteX6059" fmla="*/ 2631621 w 3600000"/>
              <a:gd name="connsiteY6059" fmla="*/ 728143 h 2787466"/>
              <a:gd name="connsiteX6060" fmla="*/ 2724154 w 3600000"/>
              <a:gd name="connsiteY6060" fmla="*/ 628799 h 2787466"/>
              <a:gd name="connsiteX6061" fmla="*/ 2670572 w 3600000"/>
              <a:gd name="connsiteY6061" fmla="*/ 697334 h 2787466"/>
              <a:gd name="connsiteX6062" fmla="*/ 2636439 w 3600000"/>
              <a:gd name="connsiteY6062" fmla="*/ 726689 h 2787466"/>
              <a:gd name="connsiteX6063" fmla="*/ 2613505 w 3600000"/>
              <a:gd name="connsiteY6063" fmla="*/ 741576 h 2787466"/>
              <a:gd name="connsiteX6064" fmla="*/ 2612929 w 3600000"/>
              <a:gd name="connsiteY6064" fmla="*/ 746494 h 2787466"/>
              <a:gd name="connsiteX6065" fmla="*/ 2610040 w 3600000"/>
              <a:gd name="connsiteY6065" fmla="*/ 743826 h 2787466"/>
              <a:gd name="connsiteX6066" fmla="*/ 2604698 w 3600000"/>
              <a:gd name="connsiteY6066" fmla="*/ 747293 h 2787466"/>
              <a:gd name="connsiteX6067" fmla="*/ 2605189 w 3600000"/>
              <a:gd name="connsiteY6067" fmla="*/ 751339 h 2787466"/>
              <a:gd name="connsiteX6068" fmla="*/ 2606734 w 3600000"/>
              <a:gd name="connsiteY6068" fmla="*/ 755715 h 2787466"/>
              <a:gd name="connsiteX6069" fmla="*/ 2605025 w 3600000"/>
              <a:gd name="connsiteY6069" fmla="*/ 755974 h 2787466"/>
              <a:gd name="connsiteX6070" fmla="*/ 2606891 w 3600000"/>
              <a:gd name="connsiteY6070" fmla="*/ 758953 h 2787466"/>
              <a:gd name="connsiteX6071" fmla="*/ 2593907 w 3600000"/>
              <a:gd name="connsiteY6071" fmla="*/ 761940 h 2787466"/>
              <a:gd name="connsiteX6072" fmla="*/ 2579482 w 3600000"/>
              <a:gd name="connsiteY6072" fmla="*/ 767913 h 2787466"/>
              <a:gd name="connsiteX6073" fmla="*/ 2584634 w 3600000"/>
              <a:gd name="connsiteY6073" fmla="*/ 770899 h 2787466"/>
              <a:gd name="connsiteX6074" fmla="*/ 2571650 w 3600000"/>
              <a:gd name="connsiteY6074" fmla="*/ 776872 h 2787466"/>
              <a:gd name="connsiteX6075" fmla="*/ 2563819 w 3600000"/>
              <a:gd name="connsiteY6075" fmla="*/ 788819 h 2787466"/>
              <a:gd name="connsiteX6076" fmla="*/ 2559903 w 3600000"/>
              <a:gd name="connsiteY6076" fmla="*/ 784889 h 2787466"/>
              <a:gd name="connsiteX6077" fmla="*/ 2524869 w 3600000"/>
              <a:gd name="connsiteY6077" fmla="*/ 802651 h 2787466"/>
              <a:gd name="connsiteX6078" fmla="*/ 2536616 w 3600000"/>
              <a:gd name="connsiteY6078" fmla="*/ 810669 h 2787466"/>
              <a:gd name="connsiteX6079" fmla="*/ 2522190 w 3600000"/>
              <a:gd name="connsiteY6079" fmla="*/ 805638 h 2787466"/>
              <a:gd name="connsiteX6080" fmla="*/ 2491071 w 3600000"/>
              <a:gd name="connsiteY6080" fmla="*/ 824501 h 2787466"/>
              <a:gd name="connsiteX6081" fmla="*/ 2451914 w 3600000"/>
              <a:gd name="connsiteY6081" fmla="*/ 835504 h 2787466"/>
              <a:gd name="connsiteX6082" fmla="*/ 2458510 w 3600000"/>
              <a:gd name="connsiteY6082" fmla="*/ 836448 h 2787466"/>
              <a:gd name="connsiteX6083" fmla="*/ 2414201 w 3600000"/>
              <a:gd name="connsiteY6083" fmla="*/ 853424 h 2787466"/>
              <a:gd name="connsiteX6084" fmla="*/ 2368450 w 3600000"/>
              <a:gd name="connsiteY6084" fmla="*/ 874173 h 2787466"/>
              <a:gd name="connsiteX6085" fmla="*/ 2321668 w 3600000"/>
              <a:gd name="connsiteY6085" fmla="*/ 893036 h 2787466"/>
              <a:gd name="connsiteX6086" fmla="*/ 2272208 w 3600000"/>
              <a:gd name="connsiteY6086" fmla="*/ 906083 h 2787466"/>
              <a:gd name="connsiteX6087" fmla="*/ 2269529 w 3600000"/>
              <a:gd name="connsiteY6087" fmla="*/ 911900 h 2787466"/>
              <a:gd name="connsiteX6088" fmla="*/ 2186270 w 3600000"/>
              <a:gd name="connsiteY6088" fmla="*/ 932806 h 2787466"/>
              <a:gd name="connsiteX6089" fmla="*/ 2186089 w 3600000"/>
              <a:gd name="connsiteY6089" fmla="*/ 931941 h 2787466"/>
              <a:gd name="connsiteX6090" fmla="*/ 2185016 w 3600000"/>
              <a:gd name="connsiteY6090" fmla="*/ 926793 h 2787466"/>
              <a:gd name="connsiteX6091" fmla="*/ 2184566 w 3600000"/>
              <a:gd name="connsiteY6091" fmla="*/ 927431 h 2787466"/>
              <a:gd name="connsiteX6092" fmla="*/ 2183728 w 3600000"/>
              <a:gd name="connsiteY6092" fmla="*/ 926401 h 2787466"/>
              <a:gd name="connsiteX6093" fmla="*/ 2167671 w 3600000"/>
              <a:gd name="connsiteY6093" fmla="*/ 933867 h 2787466"/>
              <a:gd name="connsiteX6094" fmla="*/ 2148350 w 3600000"/>
              <a:gd name="connsiteY6094" fmla="*/ 938779 h 2787466"/>
              <a:gd name="connsiteX6095" fmla="*/ 2141968 w 3600000"/>
              <a:gd name="connsiteY6095" fmla="*/ 939584 h 2787466"/>
              <a:gd name="connsiteX6096" fmla="*/ 2144076 w 3600000"/>
              <a:gd name="connsiteY6096" fmla="*/ 940154 h 2787466"/>
              <a:gd name="connsiteX6097" fmla="*/ 2153176 w 3600000"/>
              <a:gd name="connsiteY6097" fmla="*/ 939339 h 2787466"/>
              <a:gd name="connsiteX6098" fmla="*/ 2155359 w 3600000"/>
              <a:gd name="connsiteY6098" fmla="*/ 939181 h 2787466"/>
              <a:gd name="connsiteX6099" fmla="*/ 2156204 w 3600000"/>
              <a:gd name="connsiteY6099" fmla="*/ 938458 h 2787466"/>
              <a:gd name="connsiteX6100" fmla="*/ 2155774 w 3600000"/>
              <a:gd name="connsiteY6100" fmla="*/ 939151 h 2787466"/>
              <a:gd name="connsiteX6101" fmla="*/ 2162043 w 3600000"/>
              <a:gd name="connsiteY6101" fmla="*/ 938700 h 2787466"/>
              <a:gd name="connsiteX6102" fmla="*/ 2170331 w 3600000"/>
              <a:gd name="connsiteY6102" fmla="*/ 941657 h 2787466"/>
              <a:gd name="connsiteX6103" fmla="*/ 2245751 w 3600000"/>
              <a:gd name="connsiteY6103" fmla="*/ 932695 h 2787466"/>
              <a:gd name="connsiteX6104" fmla="*/ 2249666 w 3600000"/>
              <a:gd name="connsiteY6104" fmla="*/ 937726 h 2787466"/>
              <a:gd name="connsiteX6105" fmla="*/ 2279700 w 3600000"/>
              <a:gd name="connsiteY6105" fmla="*/ 933462 h 2787466"/>
              <a:gd name="connsiteX6106" fmla="*/ 2291932 w 3600000"/>
              <a:gd name="connsiteY6106" fmla="*/ 932495 h 2787466"/>
              <a:gd name="connsiteX6107" fmla="*/ 2292367 w 3600000"/>
              <a:gd name="connsiteY6107" fmla="*/ 931323 h 2787466"/>
              <a:gd name="connsiteX6108" fmla="*/ 2298095 w 3600000"/>
              <a:gd name="connsiteY6108" fmla="*/ 930642 h 2787466"/>
              <a:gd name="connsiteX6109" fmla="*/ 2305715 w 3600000"/>
              <a:gd name="connsiteY6109" fmla="*/ 927664 h 2787466"/>
              <a:gd name="connsiteX6110" fmla="*/ 2324055 w 3600000"/>
              <a:gd name="connsiteY6110" fmla="*/ 931752 h 2787466"/>
              <a:gd name="connsiteX6111" fmla="*/ 2326528 w 3600000"/>
              <a:gd name="connsiteY6111" fmla="*/ 925777 h 2787466"/>
              <a:gd name="connsiteX6112" fmla="*/ 2344868 w 3600000"/>
              <a:gd name="connsiteY6112" fmla="*/ 924834 h 2787466"/>
              <a:gd name="connsiteX6113" fmla="*/ 2366917 w 3600000"/>
              <a:gd name="connsiteY6113" fmla="*/ 923734 h 2787466"/>
              <a:gd name="connsiteX6114" fmla="*/ 2379899 w 3600000"/>
              <a:gd name="connsiteY6114" fmla="*/ 918859 h 2787466"/>
              <a:gd name="connsiteX6115" fmla="*/ 2400918 w 3600000"/>
              <a:gd name="connsiteY6115" fmla="*/ 915873 h 2787466"/>
              <a:gd name="connsiteX6116" fmla="*/ 2420288 w 3600000"/>
              <a:gd name="connsiteY6116" fmla="*/ 910841 h 2787466"/>
              <a:gd name="connsiteX6117" fmla="*/ 2438628 w 3600000"/>
              <a:gd name="connsiteY6117" fmla="*/ 905967 h 2787466"/>
              <a:gd name="connsiteX6118" fmla="*/ 2458203 w 3600000"/>
              <a:gd name="connsiteY6118" fmla="*/ 902980 h 2787466"/>
              <a:gd name="connsiteX6119" fmla="*/ 2456761 w 3600000"/>
              <a:gd name="connsiteY6119" fmla="*/ 898892 h 2787466"/>
              <a:gd name="connsiteX6120" fmla="*/ 2479017 w 3600000"/>
              <a:gd name="connsiteY6120" fmla="*/ 895905 h 2787466"/>
              <a:gd name="connsiteX6121" fmla="*/ 2494678 w 3600000"/>
              <a:gd name="connsiteY6121" fmla="*/ 886000 h 2787466"/>
              <a:gd name="connsiteX6122" fmla="*/ 2503745 w 3600000"/>
              <a:gd name="connsiteY6122" fmla="*/ 891031 h 2787466"/>
              <a:gd name="connsiteX6123" fmla="*/ 2516726 w 3600000"/>
              <a:gd name="connsiteY6123" fmla="*/ 885057 h 2787466"/>
              <a:gd name="connsiteX6124" fmla="*/ 2512811 w 3600000"/>
              <a:gd name="connsiteY6124" fmla="*/ 881126 h 2787466"/>
              <a:gd name="connsiteX6125" fmla="*/ 2524557 w 3600000"/>
              <a:gd name="connsiteY6125" fmla="*/ 881126 h 2787466"/>
              <a:gd name="connsiteX6126" fmla="*/ 2538776 w 3600000"/>
              <a:gd name="connsiteY6126" fmla="*/ 870121 h 2787466"/>
              <a:gd name="connsiteX6127" fmla="*/ 2559588 w 3600000"/>
              <a:gd name="connsiteY6127" fmla="*/ 864146 h 2787466"/>
              <a:gd name="connsiteX6128" fmla="*/ 2553200 w 3600000"/>
              <a:gd name="connsiteY6128" fmla="*/ 860215 h 2787466"/>
              <a:gd name="connsiteX6129" fmla="*/ 2576486 w 3600000"/>
              <a:gd name="connsiteY6129" fmla="*/ 851253 h 2787466"/>
              <a:gd name="connsiteX6130" fmla="*/ 2594825 w 3600000"/>
              <a:gd name="connsiteY6130" fmla="*/ 837417 h 2787466"/>
              <a:gd name="connsiteX6131" fmla="*/ 2603892 w 3600000"/>
              <a:gd name="connsiteY6131" fmla="*/ 839305 h 2787466"/>
              <a:gd name="connsiteX6132" fmla="*/ 2601420 w 3600000"/>
              <a:gd name="connsiteY6132" fmla="*/ 829399 h 2787466"/>
              <a:gd name="connsiteX6133" fmla="*/ 2620789 w 3600000"/>
              <a:gd name="connsiteY6133" fmla="*/ 824368 h 2787466"/>
              <a:gd name="connsiteX6134" fmla="*/ 2639130 w 3600000"/>
              <a:gd name="connsiteY6134" fmla="*/ 804558 h 2787466"/>
              <a:gd name="connsiteX6135" fmla="*/ 2658706 w 3600000"/>
              <a:gd name="connsiteY6135" fmla="*/ 791665 h 2787466"/>
              <a:gd name="connsiteX6136" fmla="*/ 2650875 w 3600000"/>
              <a:gd name="connsiteY6136" fmla="*/ 787735 h 2787466"/>
              <a:gd name="connsiteX6137" fmla="*/ 2657263 w 3600000"/>
              <a:gd name="connsiteY6137" fmla="*/ 781760 h 2787466"/>
              <a:gd name="connsiteX6138" fmla="*/ 2676839 w 3600000"/>
              <a:gd name="connsiteY6138" fmla="*/ 763837 h 2787466"/>
              <a:gd name="connsiteX6139" fmla="*/ 2689822 w 3600000"/>
              <a:gd name="connsiteY6139" fmla="*/ 766823 h 2787466"/>
              <a:gd name="connsiteX6140" fmla="*/ 2692501 w 3600000"/>
              <a:gd name="connsiteY6140" fmla="*/ 741982 h 2787466"/>
              <a:gd name="connsiteX6141" fmla="*/ 2696416 w 3600000"/>
              <a:gd name="connsiteY6141" fmla="*/ 748900 h 2787466"/>
              <a:gd name="connsiteX6142" fmla="*/ 2708162 w 3600000"/>
              <a:gd name="connsiteY6142" fmla="*/ 750001 h 2787466"/>
              <a:gd name="connsiteX6143" fmla="*/ 2710634 w 3600000"/>
              <a:gd name="connsiteY6143" fmla="*/ 736951 h 2787466"/>
              <a:gd name="connsiteX6144" fmla="*/ 2712077 w 3600000"/>
              <a:gd name="connsiteY6144" fmla="*/ 742926 h 2787466"/>
              <a:gd name="connsiteX6145" fmla="*/ 2715992 w 3600000"/>
              <a:gd name="connsiteY6145" fmla="*/ 727989 h 2787466"/>
              <a:gd name="connsiteX6146" fmla="*/ 2726295 w 3600000"/>
              <a:gd name="connsiteY6146" fmla="*/ 727046 h 2787466"/>
              <a:gd name="connsiteX6147" fmla="*/ 2721144 w 3600000"/>
              <a:gd name="connsiteY6147" fmla="*/ 717141 h 2787466"/>
              <a:gd name="connsiteX6148" fmla="*/ 2732890 w 3600000"/>
              <a:gd name="connsiteY6148" fmla="*/ 699218 h 2787466"/>
              <a:gd name="connsiteX6149" fmla="*/ 2721144 w 3600000"/>
              <a:gd name="connsiteY6149" fmla="*/ 698274 h 2787466"/>
              <a:gd name="connsiteX6150" fmla="*/ 2735568 w 3600000"/>
              <a:gd name="connsiteY6150" fmla="*/ 695287 h 2787466"/>
              <a:gd name="connsiteX6151" fmla="*/ 2730210 w 3600000"/>
              <a:gd name="connsiteY6151" fmla="*/ 688369 h 2787466"/>
              <a:gd name="connsiteX6152" fmla="*/ 2736805 w 3600000"/>
              <a:gd name="connsiteY6152" fmla="*/ 692300 h 2787466"/>
              <a:gd name="connsiteX6153" fmla="*/ 2747957 w 3600000"/>
              <a:gd name="connsiteY6153" fmla="*/ 677186 h 2787466"/>
              <a:gd name="connsiteX6154" fmla="*/ 2751154 w 3600000"/>
              <a:gd name="connsiteY6154" fmla="*/ 665383 h 2787466"/>
              <a:gd name="connsiteX6155" fmla="*/ 2753702 w 3600000"/>
              <a:gd name="connsiteY6155" fmla="*/ 665414 h 2787466"/>
              <a:gd name="connsiteX6156" fmla="*/ 2760296 w 3600000"/>
              <a:gd name="connsiteY6156" fmla="*/ 644661 h 2787466"/>
              <a:gd name="connsiteX6157" fmla="*/ 2764005 w 3600000"/>
              <a:gd name="connsiteY6157" fmla="*/ 640573 h 2787466"/>
              <a:gd name="connsiteX6158" fmla="*/ 2770599 w 3600000"/>
              <a:gd name="connsiteY6158" fmla="*/ 641673 h 2787466"/>
              <a:gd name="connsiteX6159" fmla="*/ 2766684 w 3600000"/>
              <a:gd name="connsiteY6159" fmla="*/ 634756 h 2787466"/>
              <a:gd name="connsiteX6160" fmla="*/ 2762769 w 3600000"/>
              <a:gd name="connsiteY6160" fmla="*/ 639629 h 2787466"/>
              <a:gd name="connsiteX6161" fmla="*/ 2770599 w 3600000"/>
              <a:gd name="connsiteY6161" fmla="*/ 628624 h 2787466"/>
              <a:gd name="connsiteX6162" fmla="*/ 2777194 w 3600000"/>
              <a:gd name="connsiteY6162" fmla="*/ 621706 h 2787466"/>
              <a:gd name="connsiteX6163" fmla="*/ 2782345 w 3600000"/>
              <a:gd name="connsiteY6163" fmla="*/ 625637 h 2787466"/>
              <a:gd name="connsiteX6164" fmla="*/ 2786261 w 3600000"/>
              <a:gd name="connsiteY6164" fmla="*/ 603940 h 2787466"/>
              <a:gd name="connsiteX6165" fmla="*/ 2794091 w 3600000"/>
              <a:gd name="connsiteY6165" fmla="*/ 604883 h 2787466"/>
              <a:gd name="connsiteX6166" fmla="*/ 2794091 w 3600000"/>
              <a:gd name="connsiteY6166" fmla="*/ 598908 h 2787466"/>
              <a:gd name="connsiteX6167" fmla="*/ 2786261 w 3600000"/>
              <a:gd name="connsiteY6167" fmla="*/ 597965 h 2787466"/>
              <a:gd name="connsiteX6168" fmla="*/ 2794091 w 3600000"/>
              <a:gd name="connsiteY6168" fmla="*/ 589003 h 2787466"/>
              <a:gd name="connsiteX6169" fmla="*/ 2788321 w 3600000"/>
              <a:gd name="connsiteY6169" fmla="*/ 589101 h 2787466"/>
              <a:gd name="connsiteX6170" fmla="*/ 2787700 w 3600000"/>
              <a:gd name="connsiteY6170" fmla="*/ 588819 h 2787466"/>
              <a:gd name="connsiteX6171" fmla="*/ 2784700 w 3600000"/>
              <a:gd name="connsiteY6171" fmla="*/ 593277 h 2787466"/>
              <a:gd name="connsiteX6172" fmla="*/ 2784675 w 3600000"/>
              <a:gd name="connsiteY6172" fmla="*/ 582977 h 2787466"/>
              <a:gd name="connsiteX6173" fmla="*/ 2785853 w 3600000"/>
              <a:gd name="connsiteY6173" fmla="*/ 581202 h 2787466"/>
              <a:gd name="connsiteX6174" fmla="*/ 2783886 w 3600000"/>
              <a:gd name="connsiteY6174" fmla="*/ 580185 h 2787466"/>
              <a:gd name="connsiteX6175" fmla="*/ 2787635 w 3600000"/>
              <a:gd name="connsiteY6175" fmla="*/ 576103 h 2787466"/>
              <a:gd name="connsiteX6176" fmla="*/ 2788299 w 3600000"/>
              <a:gd name="connsiteY6176" fmla="*/ 577517 h 2787466"/>
              <a:gd name="connsiteX6177" fmla="*/ 2792460 w 3600000"/>
              <a:gd name="connsiteY6177" fmla="*/ 571250 h 2787466"/>
              <a:gd name="connsiteX6178" fmla="*/ 2791873 w 3600000"/>
              <a:gd name="connsiteY6178" fmla="*/ 582620 h 2787466"/>
              <a:gd name="connsiteX6179" fmla="*/ 2788929 w 3600000"/>
              <a:gd name="connsiteY6179" fmla="*/ 586993 h 2787466"/>
              <a:gd name="connsiteX6180" fmla="*/ 2793689 w 3600000"/>
              <a:gd name="connsiteY6180" fmla="*/ 587107 h 2787466"/>
              <a:gd name="connsiteX6181" fmla="*/ 2798006 w 3600000"/>
              <a:gd name="connsiteY6181" fmla="*/ 577998 h 2787466"/>
              <a:gd name="connsiteX6182" fmla="*/ 2808309 w 3600000"/>
              <a:gd name="connsiteY6182" fmla="*/ 580985 h 2787466"/>
              <a:gd name="connsiteX6183" fmla="*/ 2807073 w 3600000"/>
              <a:gd name="connsiteY6183" fmla="*/ 569035 h 2787466"/>
              <a:gd name="connsiteX6184" fmla="*/ 2801921 w 3600000"/>
              <a:gd name="connsiteY6184" fmla="*/ 562118 h 2787466"/>
              <a:gd name="connsiteX6185" fmla="*/ 2816140 w 3600000"/>
              <a:gd name="connsiteY6185" fmla="*/ 565105 h 2787466"/>
              <a:gd name="connsiteX6186" fmla="*/ 2810988 w 3600000"/>
              <a:gd name="connsiteY6186" fmla="*/ 559130 h 2787466"/>
              <a:gd name="connsiteX6187" fmla="*/ 2826649 w 3600000"/>
              <a:gd name="connsiteY6187" fmla="*/ 540264 h 2787466"/>
              <a:gd name="connsiteX6188" fmla="*/ 2820055 w 3600000"/>
              <a:gd name="connsiteY6188" fmla="*/ 540264 h 2787466"/>
              <a:gd name="connsiteX6189" fmla="*/ 2821498 w 3600000"/>
              <a:gd name="connsiteY6189" fmla="*/ 534289 h 2787466"/>
              <a:gd name="connsiteX6190" fmla="*/ 2830565 w 3600000"/>
              <a:gd name="connsiteY6190" fmla="*/ 530358 h 2787466"/>
              <a:gd name="connsiteX6191" fmla="*/ 2843547 w 3600000"/>
              <a:gd name="connsiteY6191" fmla="*/ 532402 h 2787466"/>
              <a:gd name="connsiteX6192" fmla="*/ 2840868 w 3600000"/>
              <a:gd name="connsiteY6192" fmla="*/ 545295 h 2787466"/>
              <a:gd name="connsiteX6193" fmla="*/ 2825413 w 3600000"/>
              <a:gd name="connsiteY6193" fmla="*/ 555200 h 2787466"/>
              <a:gd name="connsiteX6194" fmla="*/ 2831801 w 3600000"/>
              <a:gd name="connsiteY6194" fmla="*/ 562118 h 2787466"/>
              <a:gd name="connsiteX6195" fmla="*/ 2825413 w 3600000"/>
              <a:gd name="connsiteY6195" fmla="*/ 559130 h 2787466"/>
              <a:gd name="connsiteX6196" fmla="*/ 2820055 w 3600000"/>
              <a:gd name="connsiteY6196" fmla="*/ 564161 h 2787466"/>
              <a:gd name="connsiteX6197" fmla="*/ 2836952 w 3600000"/>
              <a:gd name="connsiteY6197" fmla="*/ 568092 h 2787466"/>
              <a:gd name="connsiteX6198" fmla="*/ 2820055 w 3600000"/>
              <a:gd name="connsiteY6198" fmla="*/ 568092 h 2787466"/>
              <a:gd name="connsiteX6199" fmla="*/ 2818818 w 3600000"/>
              <a:gd name="connsiteY6199" fmla="*/ 581928 h 2787466"/>
              <a:gd name="connsiteX6200" fmla="*/ 2834480 w 3600000"/>
              <a:gd name="connsiteY6200" fmla="*/ 580041 h 2787466"/>
              <a:gd name="connsiteX6201" fmla="*/ 2817582 w 3600000"/>
              <a:gd name="connsiteY6201" fmla="*/ 583028 h 2787466"/>
              <a:gd name="connsiteX6202" fmla="*/ 2813667 w 3600000"/>
              <a:gd name="connsiteY6202" fmla="*/ 609757 h 2787466"/>
              <a:gd name="connsiteX6203" fmla="*/ 2817582 w 3600000"/>
              <a:gd name="connsiteY6203" fmla="*/ 610857 h 2787466"/>
              <a:gd name="connsiteX6204" fmla="*/ 2822734 w 3600000"/>
              <a:gd name="connsiteY6204" fmla="*/ 605826 h 2787466"/>
              <a:gd name="connsiteX6205" fmla="*/ 2812225 w 3600000"/>
              <a:gd name="connsiteY6205" fmla="*/ 614788 h 2787466"/>
              <a:gd name="connsiteX6206" fmla="*/ 2818818 w 3600000"/>
              <a:gd name="connsiteY6206" fmla="*/ 619819 h 2787466"/>
              <a:gd name="connsiteX6207" fmla="*/ 2804394 w 3600000"/>
              <a:gd name="connsiteY6207" fmla="*/ 621706 h 2787466"/>
              <a:gd name="connsiteX6208" fmla="*/ 2808309 w 3600000"/>
              <a:gd name="connsiteY6208" fmla="*/ 650635 h 2787466"/>
              <a:gd name="connsiteX6209" fmla="*/ 2798006 w 3600000"/>
              <a:gd name="connsiteY6209" fmla="*/ 650635 h 2787466"/>
              <a:gd name="connsiteX6210" fmla="*/ 2792854 w 3600000"/>
              <a:gd name="connsiteY6210" fmla="*/ 668402 h 2787466"/>
              <a:gd name="connsiteX6211" fmla="*/ 2785025 w 3600000"/>
              <a:gd name="connsiteY6211" fmla="*/ 665414 h 2787466"/>
              <a:gd name="connsiteX6212" fmla="*/ 2787497 w 3600000"/>
              <a:gd name="connsiteY6212" fmla="*/ 673433 h 2787466"/>
              <a:gd name="connsiteX6213" fmla="*/ 2796770 w 3600000"/>
              <a:gd name="connsiteY6213" fmla="*/ 671389 h 2787466"/>
              <a:gd name="connsiteX6214" fmla="*/ 2791412 w 3600000"/>
              <a:gd name="connsiteY6214" fmla="*/ 678464 h 2787466"/>
              <a:gd name="connsiteX6215" fmla="*/ 2778430 w 3600000"/>
              <a:gd name="connsiteY6215" fmla="*/ 676420 h 2787466"/>
              <a:gd name="connsiteX6216" fmla="*/ 2775752 w 3600000"/>
              <a:gd name="connsiteY6216" fmla="*/ 696230 h 2787466"/>
              <a:gd name="connsiteX6217" fmla="*/ 2769363 w 3600000"/>
              <a:gd name="connsiteY6217" fmla="*/ 698274 h 2787466"/>
              <a:gd name="connsiteX6218" fmla="*/ 2773278 w 3600000"/>
              <a:gd name="connsiteY6218" fmla="*/ 704248 h 2787466"/>
              <a:gd name="connsiteX6219" fmla="*/ 2778430 w 3600000"/>
              <a:gd name="connsiteY6219" fmla="*/ 702205 h 2787466"/>
              <a:gd name="connsiteX6220" fmla="*/ 2762769 w 3600000"/>
              <a:gd name="connsiteY6220" fmla="*/ 715097 h 2787466"/>
              <a:gd name="connsiteX6221" fmla="*/ 2767920 w 3600000"/>
              <a:gd name="connsiteY6221" fmla="*/ 716197 h 2787466"/>
              <a:gd name="connsiteX6222" fmla="*/ 2774515 w 3600000"/>
              <a:gd name="connsiteY6222" fmla="*/ 713210 h 2787466"/>
              <a:gd name="connsiteX6223" fmla="*/ 2761532 w 3600000"/>
              <a:gd name="connsiteY6223" fmla="*/ 744970 h 2787466"/>
              <a:gd name="connsiteX6224" fmla="*/ 2756381 w 3600000"/>
              <a:gd name="connsiteY6224" fmla="*/ 742926 h 2787466"/>
              <a:gd name="connsiteX6225" fmla="*/ 2740719 w 3600000"/>
              <a:gd name="connsiteY6225" fmla="*/ 759906 h 2787466"/>
              <a:gd name="connsiteX6226" fmla="*/ 2731653 w 3600000"/>
              <a:gd name="connsiteY6226" fmla="*/ 780659 h 2787466"/>
              <a:gd name="connsiteX6227" fmla="*/ 2715992 w 3600000"/>
              <a:gd name="connsiteY6227" fmla="*/ 788678 h 2787466"/>
              <a:gd name="connsiteX6228" fmla="*/ 2713313 w 3600000"/>
              <a:gd name="connsiteY6228" fmla="*/ 798583 h 2787466"/>
              <a:gd name="connsiteX6229" fmla="*/ 2705483 w 3600000"/>
              <a:gd name="connsiteY6229" fmla="*/ 812419 h 2787466"/>
              <a:gd name="connsiteX6230" fmla="*/ 2696416 w 3600000"/>
              <a:gd name="connsiteY6230" fmla="*/ 810532 h 2787466"/>
              <a:gd name="connsiteX6231" fmla="*/ 2691264 w 3600000"/>
              <a:gd name="connsiteY6231" fmla="*/ 815406 h 2787466"/>
              <a:gd name="connsiteX6232" fmla="*/ 2695179 w 3600000"/>
              <a:gd name="connsiteY6232" fmla="*/ 821380 h 2787466"/>
              <a:gd name="connsiteX6233" fmla="*/ 2688586 w 3600000"/>
              <a:gd name="connsiteY6233" fmla="*/ 815406 h 2787466"/>
              <a:gd name="connsiteX6234" fmla="*/ 2688586 w 3600000"/>
              <a:gd name="connsiteY6234" fmla="*/ 826412 h 2787466"/>
              <a:gd name="connsiteX6235" fmla="*/ 2678075 w 3600000"/>
              <a:gd name="connsiteY6235" fmla="*/ 825468 h 2787466"/>
              <a:gd name="connsiteX6236" fmla="*/ 2681992 w 3600000"/>
              <a:gd name="connsiteY6236" fmla="*/ 839305 h 2787466"/>
              <a:gd name="connsiteX6237" fmla="*/ 2688586 w 3600000"/>
              <a:gd name="connsiteY6237" fmla="*/ 840247 h 2787466"/>
              <a:gd name="connsiteX6238" fmla="*/ 2684670 w 3600000"/>
              <a:gd name="connsiteY6238" fmla="*/ 841348 h 2787466"/>
              <a:gd name="connsiteX6239" fmla="*/ 2693737 w 3600000"/>
              <a:gd name="connsiteY6239" fmla="*/ 844335 h 2787466"/>
              <a:gd name="connsiteX6240" fmla="*/ 2679519 w 3600000"/>
              <a:gd name="connsiteY6240" fmla="*/ 852196 h 2787466"/>
              <a:gd name="connsiteX6241" fmla="*/ 2675603 w 3600000"/>
              <a:gd name="connsiteY6241" fmla="*/ 846222 h 2787466"/>
              <a:gd name="connsiteX6242" fmla="*/ 2676839 w 3600000"/>
              <a:gd name="connsiteY6242" fmla="*/ 839305 h 2787466"/>
              <a:gd name="connsiteX6243" fmla="*/ 2665094 w 3600000"/>
              <a:gd name="connsiteY6243" fmla="*/ 842291 h 2787466"/>
              <a:gd name="connsiteX6244" fmla="*/ 2665094 w 3600000"/>
              <a:gd name="connsiteY6244" fmla="*/ 850310 h 2787466"/>
              <a:gd name="connsiteX6245" fmla="*/ 2671688 w 3600000"/>
              <a:gd name="connsiteY6245" fmla="*/ 848266 h 2787466"/>
              <a:gd name="connsiteX6246" fmla="*/ 2679519 w 3600000"/>
              <a:gd name="connsiteY6246" fmla="*/ 852196 h 2787466"/>
              <a:gd name="connsiteX6247" fmla="*/ 2674161 w 3600000"/>
              <a:gd name="connsiteY6247" fmla="*/ 858171 h 2787466"/>
              <a:gd name="connsiteX6248" fmla="*/ 2670246 w 3600000"/>
              <a:gd name="connsiteY6248" fmla="*/ 853297 h 2787466"/>
              <a:gd name="connsiteX6249" fmla="*/ 2667772 w 3600000"/>
              <a:gd name="connsiteY6249" fmla="*/ 855184 h 2787466"/>
              <a:gd name="connsiteX6250" fmla="*/ 2670967 w 3600000"/>
              <a:gd name="connsiteY6250" fmla="*/ 858584 h 2787466"/>
              <a:gd name="connsiteX6251" fmla="*/ 2673175 w 3600000"/>
              <a:gd name="connsiteY6251" fmla="*/ 860364 h 2787466"/>
              <a:gd name="connsiteX6252" fmla="*/ 2692829 w 3600000"/>
              <a:gd name="connsiteY6252" fmla="*/ 852324 h 2787466"/>
              <a:gd name="connsiteX6253" fmla="*/ 2699192 w 3600000"/>
              <a:gd name="connsiteY6253" fmla="*/ 847667 h 2787466"/>
              <a:gd name="connsiteX6254" fmla="*/ 2708129 w 3600000"/>
              <a:gd name="connsiteY6254" fmla="*/ 850330 h 2787466"/>
              <a:gd name="connsiteX6255" fmla="*/ 2708909 w 3600000"/>
              <a:gd name="connsiteY6255" fmla="*/ 849641 h 2787466"/>
              <a:gd name="connsiteX6256" fmla="*/ 2718465 w 3600000"/>
              <a:gd name="connsiteY6256" fmla="*/ 846222 h 2787466"/>
              <a:gd name="connsiteX6257" fmla="*/ 2730210 w 3600000"/>
              <a:gd name="connsiteY6257" fmla="*/ 833330 h 2787466"/>
              <a:gd name="connsiteX6258" fmla="*/ 2726295 w 3600000"/>
              <a:gd name="connsiteY6258" fmla="*/ 839305 h 2787466"/>
              <a:gd name="connsiteX6259" fmla="*/ 2740088 w 3600000"/>
              <a:gd name="connsiteY6259" fmla="*/ 823673 h 2787466"/>
              <a:gd name="connsiteX6260" fmla="*/ 2749475 w 3600000"/>
              <a:gd name="connsiteY6260" fmla="*/ 820541 h 2787466"/>
              <a:gd name="connsiteX6261" fmla="*/ 2749844 w 3600000"/>
              <a:gd name="connsiteY6261" fmla="*/ 819899 h 2787466"/>
              <a:gd name="connsiteX6262" fmla="*/ 2750686 w 3600000"/>
              <a:gd name="connsiteY6262" fmla="*/ 812006 h 2787466"/>
              <a:gd name="connsiteX6263" fmla="*/ 2762769 w 3600000"/>
              <a:gd name="connsiteY6263" fmla="*/ 791665 h 2787466"/>
              <a:gd name="connsiteX6264" fmla="*/ 2770599 w 3600000"/>
              <a:gd name="connsiteY6264" fmla="*/ 788678 h 2787466"/>
              <a:gd name="connsiteX6265" fmla="*/ 2782345 w 3600000"/>
              <a:gd name="connsiteY6265" fmla="*/ 780659 h 2787466"/>
              <a:gd name="connsiteX6266" fmla="*/ 2792854 w 3600000"/>
              <a:gd name="connsiteY6266" fmla="*/ 757862 h 2787466"/>
              <a:gd name="connsiteX6267" fmla="*/ 2800479 w 3600000"/>
              <a:gd name="connsiteY6267" fmla="*/ 762893 h 2787466"/>
              <a:gd name="connsiteX6268" fmla="*/ 2794091 w 3600000"/>
              <a:gd name="connsiteY6268" fmla="*/ 757862 h 2787466"/>
              <a:gd name="connsiteX6269" fmla="*/ 2807073 w 3600000"/>
              <a:gd name="connsiteY6269" fmla="*/ 730977 h 2787466"/>
              <a:gd name="connsiteX6270" fmla="*/ 2808309 w 3600000"/>
              <a:gd name="connsiteY6270" fmla="*/ 725002 h 2787466"/>
              <a:gd name="connsiteX6271" fmla="*/ 2816140 w 3600000"/>
              <a:gd name="connsiteY6271" fmla="*/ 725002 h 2787466"/>
              <a:gd name="connsiteX6272" fmla="*/ 2816140 w 3600000"/>
              <a:gd name="connsiteY6272" fmla="*/ 713210 h 2787466"/>
              <a:gd name="connsiteX6273" fmla="*/ 2823970 w 3600000"/>
              <a:gd name="connsiteY6273" fmla="*/ 703148 h 2787466"/>
              <a:gd name="connsiteX6274" fmla="*/ 2854056 w 3600000"/>
              <a:gd name="connsiteY6274" fmla="*/ 669502 h 2787466"/>
              <a:gd name="connsiteX6275" fmla="*/ 2861680 w 3600000"/>
              <a:gd name="connsiteY6275" fmla="*/ 634756 h 2787466"/>
              <a:gd name="connsiteX6276" fmla="*/ 2868274 w 3600000"/>
              <a:gd name="connsiteY6276" fmla="*/ 628624 h 2787466"/>
              <a:gd name="connsiteX6277" fmla="*/ 2867038 w 3600000"/>
              <a:gd name="connsiteY6277" fmla="*/ 654566 h 2787466"/>
              <a:gd name="connsiteX6278" fmla="*/ 2877341 w 3600000"/>
              <a:gd name="connsiteY6278" fmla="*/ 656453 h 2787466"/>
              <a:gd name="connsiteX6279" fmla="*/ 2874869 w 3600000"/>
              <a:gd name="connsiteY6279" fmla="*/ 647648 h 2787466"/>
              <a:gd name="connsiteX6280" fmla="*/ 2889087 w 3600000"/>
              <a:gd name="connsiteY6280" fmla="*/ 648592 h 2787466"/>
              <a:gd name="connsiteX6281" fmla="*/ 2878784 w 3600000"/>
              <a:gd name="connsiteY6281" fmla="*/ 639629 h 2787466"/>
              <a:gd name="connsiteX6282" fmla="*/ 2885172 w 3600000"/>
              <a:gd name="connsiteY6282" fmla="*/ 628624 h 2787466"/>
              <a:gd name="connsiteX6283" fmla="*/ 2870953 w 3600000"/>
              <a:gd name="connsiteY6283" fmla="*/ 625637 h 2787466"/>
              <a:gd name="connsiteX6284" fmla="*/ 2873426 w 3600000"/>
              <a:gd name="connsiteY6284" fmla="*/ 611801 h 2787466"/>
              <a:gd name="connsiteX6285" fmla="*/ 2883936 w 3600000"/>
              <a:gd name="connsiteY6285" fmla="*/ 610857 h 2787466"/>
              <a:gd name="connsiteX6286" fmla="*/ 2893002 w 3600000"/>
              <a:gd name="connsiteY6286" fmla="*/ 591991 h 2787466"/>
              <a:gd name="connsiteX6287" fmla="*/ 2891765 w 3600000"/>
              <a:gd name="connsiteY6287" fmla="*/ 605826 h 2787466"/>
              <a:gd name="connsiteX6288" fmla="*/ 2905984 w 3600000"/>
              <a:gd name="connsiteY6288" fmla="*/ 601896 h 2787466"/>
              <a:gd name="connsiteX6289" fmla="*/ 2898154 w 3600000"/>
              <a:gd name="connsiteY6289" fmla="*/ 595921 h 2787466"/>
              <a:gd name="connsiteX6290" fmla="*/ 2913814 w 3600000"/>
              <a:gd name="connsiteY6290" fmla="*/ 572023 h 2787466"/>
              <a:gd name="connsiteX6291" fmla="*/ 2924324 w 3600000"/>
              <a:gd name="connsiteY6291" fmla="*/ 570136 h 2787466"/>
              <a:gd name="connsiteX6292" fmla="*/ 2923087 w 3600000"/>
              <a:gd name="connsiteY6292" fmla="*/ 567149 h 2787466"/>
              <a:gd name="connsiteX6293" fmla="*/ 2905984 w 3600000"/>
              <a:gd name="connsiteY6293" fmla="*/ 568092 h 2787466"/>
              <a:gd name="connsiteX6294" fmla="*/ 2908663 w 3600000"/>
              <a:gd name="connsiteY6294" fmla="*/ 559130 h 2787466"/>
              <a:gd name="connsiteX6295" fmla="*/ 2898154 w 3600000"/>
              <a:gd name="connsiteY6295" fmla="*/ 564161 h 2787466"/>
              <a:gd name="connsiteX6296" fmla="*/ 2904748 w 3600000"/>
              <a:gd name="connsiteY6296" fmla="*/ 554257 h 2787466"/>
              <a:gd name="connsiteX6297" fmla="*/ 2916493 w 3600000"/>
              <a:gd name="connsiteY6297" fmla="*/ 560231 h 2787466"/>
              <a:gd name="connsiteX6298" fmla="*/ 2920409 w 3600000"/>
              <a:gd name="connsiteY6298" fmla="*/ 550169 h 2787466"/>
              <a:gd name="connsiteX6299" fmla="*/ 2921720 w 3600000"/>
              <a:gd name="connsiteY6299" fmla="*/ 550181 h 2787466"/>
              <a:gd name="connsiteX6300" fmla="*/ 2922104 w 3600000"/>
              <a:gd name="connsiteY6300" fmla="*/ 549354 h 2787466"/>
              <a:gd name="connsiteX6301" fmla="*/ 2926030 w 3600000"/>
              <a:gd name="connsiteY6301" fmla="*/ 542133 h 2787466"/>
              <a:gd name="connsiteX6302" fmla="*/ 2929508 w 3600000"/>
              <a:gd name="connsiteY6302" fmla="*/ 544680 h 2787466"/>
              <a:gd name="connsiteX6303" fmla="*/ 2929450 w 3600000"/>
              <a:gd name="connsiteY6303" fmla="*/ 545173 h 2787466"/>
              <a:gd name="connsiteX6304" fmla="*/ 2932644 w 3600000"/>
              <a:gd name="connsiteY6304" fmla="*/ 543782 h 2787466"/>
              <a:gd name="connsiteX6305" fmla="*/ 2941222 w 3600000"/>
              <a:gd name="connsiteY6305" fmla="*/ 541207 h 2787466"/>
              <a:gd name="connsiteX6306" fmla="*/ 2937307 w 3600000"/>
              <a:gd name="connsiteY6306" fmla="*/ 536333 h 2787466"/>
              <a:gd name="connsiteX6307" fmla="*/ 2930713 w 3600000"/>
              <a:gd name="connsiteY6307" fmla="*/ 539320 h 2787466"/>
              <a:gd name="connsiteX6308" fmla="*/ 2932858 w 3600000"/>
              <a:gd name="connsiteY6308" fmla="*/ 532460 h 2787466"/>
              <a:gd name="connsiteX6309" fmla="*/ 2930418 w 3600000"/>
              <a:gd name="connsiteY6309" fmla="*/ 527509 h 2787466"/>
              <a:gd name="connsiteX6310" fmla="*/ 2941199 w 3600000"/>
              <a:gd name="connsiteY6310" fmla="*/ 513029 h 2787466"/>
              <a:gd name="connsiteX6311" fmla="*/ 2938558 w 3600000"/>
              <a:gd name="connsiteY6311" fmla="*/ 519537 h 2787466"/>
              <a:gd name="connsiteX6312" fmla="*/ 2943643 w 3600000"/>
              <a:gd name="connsiteY6312" fmla="*/ 529002 h 2787466"/>
              <a:gd name="connsiteX6313" fmla="*/ 2947816 w 3600000"/>
              <a:gd name="connsiteY6313" fmla="*/ 539320 h 2787466"/>
              <a:gd name="connsiteX6314" fmla="*/ 2952967 w 3600000"/>
              <a:gd name="connsiteY6314" fmla="*/ 538219 h 2787466"/>
              <a:gd name="connsiteX6315" fmla="*/ 2949052 w 3600000"/>
              <a:gd name="connsiteY6315" fmla="*/ 513378 h 2787466"/>
              <a:gd name="connsiteX6316" fmla="*/ 2956883 w 3600000"/>
              <a:gd name="connsiteY6316" fmla="*/ 512435 h 2787466"/>
              <a:gd name="connsiteX6317" fmla="*/ 2956883 w 3600000"/>
              <a:gd name="connsiteY6317" fmla="*/ 509448 h 2787466"/>
              <a:gd name="connsiteX6318" fmla="*/ 2950288 w 3600000"/>
              <a:gd name="connsiteY6318" fmla="*/ 509448 h 2787466"/>
              <a:gd name="connsiteX6319" fmla="*/ 2956883 w 3600000"/>
              <a:gd name="connsiteY6319" fmla="*/ 498599 h 2787466"/>
              <a:gd name="connsiteX6320" fmla="*/ 2951525 w 3600000"/>
              <a:gd name="connsiteY6320" fmla="*/ 478632 h 2787466"/>
              <a:gd name="connsiteX6321" fmla="*/ 2963271 w 3600000"/>
              <a:gd name="connsiteY6321" fmla="*/ 494511 h 2787466"/>
              <a:gd name="connsiteX6322" fmla="*/ 2964713 w 3600000"/>
              <a:gd name="connsiteY6322" fmla="*/ 473758 h 2787466"/>
              <a:gd name="connsiteX6323" fmla="*/ 2949052 w 3600000"/>
              <a:gd name="connsiteY6323" fmla="*/ 474701 h 2787466"/>
              <a:gd name="connsiteX6324" fmla="*/ 2950288 w 3600000"/>
              <a:gd name="connsiteY6324" fmla="*/ 469670 h 2787466"/>
              <a:gd name="connsiteX6325" fmla="*/ 2968628 w 3600000"/>
              <a:gd name="connsiteY6325" fmla="*/ 471714 h 2787466"/>
              <a:gd name="connsiteX6326" fmla="*/ 2972544 w 3600000"/>
              <a:gd name="connsiteY6326" fmla="*/ 461809 h 2787466"/>
              <a:gd name="connsiteX6327" fmla="*/ 2967649 w 3600000"/>
              <a:gd name="connsiteY6327" fmla="*/ 446519 h 2787466"/>
              <a:gd name="connsiteX6328" fmla="*/ 2968763 w 3600000"/>
              <a:gd name="connsiteY6328" fmla="*/ 441651 h 2787466"/>
              <a:gd name="connsiteX6329" fmla="*/ 2968219 w 3600000"/>
              <a:gd name="connsiteY6329" fmla="*/ 442838 h 2787466"/>
              <a:gd name="connsiteX6330" fmla="*/ 2958998 w 3600000"/>
              <a:gd name="connsiteY6330" fmla="*/ 441897 h 2787466"/>
              <a:gd name="connsiteX6331" fmla="*/ 2964326 w 3600000"/>
              <a:gd name="connsiteY6331" fmla="*/ 418038 h 2787466"/>
              <a:gd name="connsiteX6332" fmla="*/ 2972166 w 3600000"/>
              <a:gd name="connsiteY6332" fmla="*/ 422421 h 2787466"/>
              <a:gd name="connsiteX6333" fmla="*/ 2974422 w 3600000"/>
              <a:gd name="connsiteY6333" fmla="*/ 427050 h 2787466"/>
              <a:gd name="connsiteX6334" fmla="*/ 2978909 w 3600000"/>
              <a:gd name="connsiteY6334" fmla="*/ 424278 h 2787466"/>
              <a:gd name="connsiteX6335" fmla="*/ 2976354 w 3600000"/>
              <a:gd name="connsiteY6335" fmla="*/ 431455 h 2787466"/>
              <a:gd name="connsiteX6336" fmla="*/ 2976247 w 3600000"/>
              <a:gd name="connsiteY6336" fmla="*/ 429110 h 2787466"/>
              <a:gd name="connsiteX6337" fmla="*/ 2974652 w 3600000"/>
              <a:gd name="connsiteY6337" fmla="*/ 428805 h 2787466"/>
              <a:gd name="connsiteX6338" fmla="*/ 2972473 w 3600000"/>
              <a:gd name="connsiteY6338" fmla="*/ 433558 h 2787466"/>
              <a:gd name="connsiteX6339" fmla="*/ 2974153 w 3600000"/>
              <a:gd name="connsiteY6339" fmla="*/ 434268 h 2787466"/>
              <a:gd name="connsiteX6340" fmla="*/ 2977322 w 3600000"/>
              <a:gd name="connsiteY6340" fmla="*/ 442173 h 2787466"/>
              <a:gd name="connsiteX6341" fmla="*/ 2982519 w 3600000"/>
              <a:gd name="connsiteY6341" fmla="*/ 443783 h 2787466"/>
              <a:gd name="connsiteX6342" fmla="*/ 2983069 w 3600000"/>
              <a:gd name="connsiteY6342" fmla="*/ 442834 h 2787466"/>
              <a:gd name="connsiteX6343" fmla="*/ 2984061 w 3600000"/>
              <a:gd name="connsiteY6343" fmla="*/ 438112 h 2787466"/>
              <a:gd name="connsiteX6344" fmla="*/ 2991914 w 3600000"/>
              <a:gd name="connsiteY6344" fmla="*/ 421088 h 2787466"/>
              <a:gd name="connsiteX6345" fmla="*/ 2989442 w 3600000"/>
              <a:gd name="connsiteY6345" fmla="*/ 403164 h 2787466"/>
              <a:gd name="connsiteX6346" fmla="*/ 2983723 w 3600000"/>
              <a:gd name="connsiteY6346" fmla="*/ 401553 h 2787466"/>
              <a:gd name="connsiteX6347" fmla="*/ 2979749 w 3600000"/>
              <a:gd name="connsiteY6347" fmla="*/ 399629 h 2787466"/>
              <a:gd name="connsiteX6348" fmla="*/ 2978974 w 3600000"/>
              <a:gd name="connsiteY6348" fmla="*/ 400674 h 2787466"/>
              <a:gd name="connsiteX6349" fmla="*/ 2973851 w 3600000"/>
              <a:gd name="connsiteY6349" fmla="*/ 405401 h 2787466"/>
              <a:gd name="connsiteX6350" fmla="*/ 2973851 w 3600000"/>
              <a:gd name="connsiteY6350" fmla="*/ 396345 h 2787466"/>
              <a:gd name="connsiteX6351" fmla="*/ 2968651 w 3600000"/>
              <a:gd name="connsiteY6351" fmla="*/ 390307 h 2787466"/>
              <a:gd name="connsiteX6352" fmla="*/ 2976841 w 3600000"/>
              <a:gd name="connsiteY6352" fmla="*/ 392413 h 2787466"/>
              <a:gd name="connsiteX6353" fmla="*/ 2977167 w 3600000"/>
              <a:gd name="connsiteY6353" fmla="*/ 392561 h 2787466"/>
              <a:gd name="connsiteX6354" fmla="*/ 2978581 w 3600000"/>
              <a:gd name="connsiteY6354" fmla="*/ 391876 h 2787466"/>
              <a:gd name="connsiteX6355" fmla="*/ 2987998 w 3600000"/>
              <a:gd name="connsiteY6355" fmla="*/ 398133 h 2787466"/>
              <a:gd name="connsiteX6356" fmla="*/ 2988896 w 3600000"/>
              <a:gd name="connsiteY6356" fmla="*/ 396070 h 2787466"/>
              <a:gd name="connsiteX6357" fmla="*/ 2991121 w 3600000"/>
              <a:gd name="connsiteY6357" fmla="*/ 396820 h 2787466"/>
              <a:gd name="connsiteX6358" fmla="*/ 2992285 w 3600000"/>
              <a:gd name="connsiteY6358" fmla="*/ 394900 h 2787466"/>
              <a:gd name="connsiteX6359" fmla="*/ 2994885 w 3600000"/>
              <a:gd name="connsiteY6359" fmla="*/ 394717 h 2787466"/>
              <a:gd name="connsiteX6360" fmla="*/ 2990678 w 3600000"/>
              <a:gd name="connsiteY6360" fmla="*/ 392021 h 2787466"/>
              <a:gd name="connsiteX6361" fmla="*/ 2995829 w 3600000"/>
              <a:gd name="connsiteY6361" fmla="*/ 389328 h 2787466"/>
              <a:gd name="connsiteX6362" fmla="*/ 2618160 w 3600000"/>
              <a:gd name="connsiteY6362" fmla="*/ 388921 h 2787466"/>
              <a:gd name="connsiteX6363" fmla="*/ 2624539 w 3600000"/>
              <a:gd name="connsiteY6363" fmla="*/ 406702 h 2787466"/>
              <a:gd name="connsiteX6364" fmla="*/ 2622070 w 3600000"/>
              <a:gd name="connsiteY6364" fmla="*/ 414727 h 2787466"/>
              <a:gd name="connsiteX6365" fmla="*/ 2620630 w 3600000"/>
              <a:gd name="connsiteY6365" fmla="*/ 419762 h 2787466"/>
              <a:gd name="connsiteX6366" fmla="*/ 2607668 w 3600000"/>
              <a:gd name="connsiteY6366" fmla="*/ 436599 h 2787466"/>
              <a:gd name="connsiteX6367" fmla="*/ 2609108 w 3600000"/>
              <a:gd name="connsiteY6367" fmla="*/ 412681 h 2787466"/>
              <a:gd name="connsiteX6368" fmla="*/ 2618160 w 3600000"/>
              <a:gd name="connsiteY6368" fmla="*/ 388921 h 2787466"/>
              <a:gd name="connsiteX6369" fmla="*/ 2662959 w 3600000"/>
              <a:gd name="connsiteY6369" fmla="*/ 386148 h 2787466"/>
              <a:gd name="connsiteX6370" fmla="*/ 2687683 w 3600000"/>
              <a:gd name="connsiteY6370" fmla="*/ 395013 h 2787466"/>
              <a:gd name="connsiteX6371" fmla="*/ 2678412 w 3600000"/>
              <a:gd name="connsiteY6371" fmla="*/ 406094 h 2787466"/>
              <a:gd name="connsiteX6372" fmla="*/ 2672025 w 3600000"/>
              <a:gd name="connsiteY6372" fmla="*/ 395013 h 2787466"/>
              <a:gd name="connsiteX6373" fmla="*/ 2660280 w 3600000"/>
              <a:gd name="connsiteY6373" fmla="*/ 405145 h 2787466"/>
              <a:gd name="connsiteX6374" fmla="*/ 2662959 w 3600000"/>
              <a:gd name="connsiteY6374" fmla="*/ 386148 h 2787466"/>
              <a:gd name="connsiteX6375" fmla="*/ 3079511 w 3600000"/>
              <a:gd name="connsiteY6375" fmla="*/ 385007 h 2787466"/>
              <a:gd name="connsiteX6376" fmla="*/ 3082007 w 3600000"/>
              <a:gd name="connsiteY6376" fmla="*/ 390091 h 2787466"/>
              <a:gd name="connsiteX6377" fmla="*/ 3093863 w 3600000"/>
              <a:gd name="connsiteY6377" fmla="*/ 391044 h 2787466"/>
              <a:gd name="connsiteX6378" fmla="*/ 3079511 w 3600000"/>
              <a:gd name="connsiteY6378" fmla="*/ 396128 h 2787466"/>
              <a:gd name="connsiteX6379" fmla="*/ 3079511 w 3600000"/>
              <a:gd name="connsiteY6379" fmla="*/ 385007 h 2787466"/>
              <a:gd name="connsiteX6380" fmla="*/ 2508878 w 3600000"/>
              <a:gd name="connsiteY6380" fmla="*/ 377135 h 2787466"/>
              <a:gd name="connsiteX6381" fmla="*/ 2528661 w 3600000"/>
              <a:gd name="connsiteY6381" fmla="*/ 383157 h 2787466"/>
              <a:gd name="connsiteX6382" fmla="*/ 2527203 w 3600000"/>
              <a:gd name="connsiteY6382" fmla="*/ 388070 h 2787466"/>
              <a:gd name="connsiteX6383" fmla="*/ 2508878 w 3600000"/>
              <a:gd name="connsiteY6383" fmla="*/ 377135 h 2787466"/>
              <a:gd name="connsiteX6384" fmla="*/ 3115530 w 3600000"/>
              <a:gd name="connsiteY6384" fmla="*/ 372514 h 2787466"/>
              <a:gd name="connsiteX6385" fmla="*/ 3118047 w 3600000"/>
              <a:gd name="connsiteY6385" fmla="*/ 388074 h 2787466"/>
              <a:gd name="connsiteX6386" fmla="*/ 3115530 w 3600000"/>
              <a:gd name="connsiteY6386" fmla="*/ 372514 h 2787466"/>
              <a:gd name="connsiteX6387" fmla="*/ 2941816 w 3600000"/>
              <a:gd name="connsiteY6387" fmla="*/ 372283 h 2787466"/>
              <a:gd name="connsiteX6388" fmla="*/ 2940605 w 3600000"/>
              <a:gd name="connsiteY6388" fmla="*/ 399857 h 2787466"/>
              <a:gd name="connsiteX6389" fmla="*/ 2941816 w 3600000"/>
              <a:gd name="connsiteY6389" fmla="*/ 372283 h 2787466"/>
              <a:gd name="connsiteX6390" fmla="*/ 2976354 w 3600000"/>
              <a:gd name="connsiteY6390" fmla="*/ 369510 h 2787466"/>
              <a:gd name="connsiteX6391" fmla="*/ 2985725 w 3600000"/>
              <a:gd name="connsiteY6391" fmla="*/ 380452 h 2787466"/>
              <a:gd name="connsiteX6392" fmla="*/ 2976354 w 3600000"/>
              <a:gd name="connsiteY6392" fmla="*/ 385298 h 2787466"/>
              <a:gd name="connsiteX6393" fmla="*/ 2976354 w 3600000"/>
              <a:gd name="connsiteY6393" fmla="*/ 369510 h 2787466"/>
              <a:gd name="connsiteX6394" fmla="*/ 2974062 w 3600000"/>
              <a:gd name="connsiteY6394" fmla="*/ 358124 h 2787466"/>
              <a:gd name="connsiteX6395" fmla="*/ 2971399 w 3600000"/>
              <a:gd name="connsiteY6395" fmla="*/ 365935 h 2787466"/>
              <a:gd name="connsiteX6396" fmla="*/ 2974062 w 3600000"/>
              <a:gd name="connsiteY6396" fmla="*/ 358124 h 2787466"/>
              <a:gd name="connsiteX6397" fmla="*/ 2511396 w 3600000"/>
              <a:gd name="connsiteY6397" fmla="*/ 357220 h 2787466"/>
              <a:gd name="connsiteX6398" fmla="*/ 2511396 w 3600000"/>
              <a:gd name="connsiteY6398" fmla="*/ 361043 h 2787466"/>
              <a:gd name="connsiteX6399" fmla="*/ 2497974 w 3600000"/>
              <a:gd name="connsiteY6399" fmla="*/ 360014 h 2787466"/>
              <a:gd name="connsiteX6400" fmla="*/ 2511396 w 3600000"/>
              <a:gd name="connsiteY6400" fmla="*/ 357220 h 2787466"/>
              <a:gd name="connsiteX6401" fmla="*/ 2999330 w 3600000"/>
              <a:gd name="connsiteY6401" fmla="*/ 356338 h 2787466"/>
              <a:gd name="connsiteX6402" fmla="*/ 3008448 w 3600000"/>
              <a:gd name="connsiteY6402" fmla="*/ 358417 h 2787466"/>
              <a:gd name="connsiteX6403" fmla="*/ 3003267 w 3600000"/>
              <a:gd name="connsiteY6403" fmla="*/ 364496 h 2787466"/>
              <a:gd name="connsiteX6404" fmla="*/ 2999330 w 3600000"/>
              <a:gd name="connsiteY6404" fmla="*/ 356338 h 2787466"/>
              <a:gd name="connsiteX6405" fmla="*/ 2628904 w 3600000"/>
              <a:gd name="connsiteY6405" fmla="*/ 353565 h 2787466"/>
              <a:gd name="connsiteX6406" fmla="*/ 2624963 w 3600000"/>
              <a:gd name="connsiteY6406" fmla="*/ 389457 h 2787466"/>
              <a:gd name="connsiteX6407" fmla="*/ 2628904 w 3600000"/>
              <a:gd name="connsiteY6407" fmla="*/ 353565 h 2787466"/>
              <a:gd name="connsiteX6408" fmla="*/ 2169939 w 3600000"/>
              <a:gd name="connsiteY6408" fmla="*/ 351058 h 2787466"/>
              <a:gd name="connsiteX6409" fmla="*/ 2172665 w 3600000"/>
              <a:gd name="connsiteY6409" fmla="*/ 352178 h 2787466"/>
              <a:gd name="connsiteX6410" fmla="*/ 2169939 w 3600000"/>
              <a:gd name="connsiteY6410" fmla="*/ 351058 h 2787466"/>
              <a:gd name="connsiteX6411" fmla="*/ 3027113 w 3600000"/>
              <a:gd name="connsiteY6411" fmla="*/ 346194 h 2787466"/>
              <a:gd name="connsiteX6412" fmla="*/ 3031159 w 3600000"/>
              <a:gd name="connsiteY6412" fmla="*/ 348250 h 2787466"/>
              <a:gd name="connsiteX6413" fmla="*/ 3023066 w 3600000"/>
              <a:gd name="connsiteY6413" fmla="*/ 354100 h 2787466"/>
              <a:gd name="connsiteX6414" fmla="*/ 3027113 w 3600000"/>
              <a:gd name="connsiteY6414" fmla="*/ 346194 h 2787466"/>
              <a:gd name="connsiteX6415" fmla="*/ 3064127 w 3600000"/>
              <a:gd name="connsiteY6415" fmla="*/ 333216 h 2787466"/>
              <a:gd name="connsiteX6416" fmla="*/ 3063176 w 3600000"/>
              <a:gd name="connsiteY6416" fmla="*/ 336078 h 2787466"/>
              <a:gd name="connsiteX6417" fmla="*/ 3064043 w 3600000"/>
              <a:gd name="connsiteY6417" fmla="*/ 333467 h 2787466"/>
              <a:gd name="connsiteX6418" fmla="*/ 2727625 w 3600000"/>
              <a:gd name="connsiteY6418" fmla="*/ 331380 h 2787466"/>
              <a:gd name="connsiteX6419" fmla="*/ 2718291 w 3600000"/>
              <a:gd name="connsiteY6419" fmla="*/ 392230 h 2787466"/>
              <a:gd name="connsiteX6420" fmla="*/ 2698793 w 3600000"/>
              <a:gd name="connsiteY6420" fmla="*/ 385136 h 2787466"/>
              <a:gd name="connsiteX6421" fmla="*/ 2714350 w 3600000"/>
              <a:gd name="connsiteY6421" fmla="*/ 385136 h 2787466"/>
              <a:gd name="connsiteX6422" fmla="*/ 2727625 w 3600000"/>
              <a:gd name="connsiteY6422" fmla="*/ 331380 h 2787466"/>
              <a:gd name="connsiteX6423" fmla="*/ 3065178 w 3600000"/>
              <a:gd name="connsiteY6423" fmla="*/ 330053 h 2787466"/>
              <a:gd name="connsiteX6424" fmla="*/ 3064127 w 3600000"/>
              <a:gd name="connsiteY6424" fmla="*/ 333216 h 2787466"/>
              <a:gd name="connsiteX6425" fmla="*/ 3064947 w 3600000"/>
              <a:gd name="connsiteY6425" fmla="*/ 330748 h 2787466"/>
              <a:gd name="connsiteX6426" fmla="*/ 3029909 w 3600000"/>
              <a:gd name="connsiteY6426" fmla="*/ 329993 h 2787466"/>
              <a:gd name="connsiteX6427" fmla="*/ 3027301 w 3600000"/>
              <a:gd name="connsiteY6427" fmla="*/ 338847 h 2787466"/>
              <a:gd name="connsiteX6428" fmla="*/ 3029909 w 3600000"/>
              <a:gd name="connsiteY6428" fmla="*/ 329993 h 2787466"/>
              <a:gd name="connsiteX6429" fmla="*/ 3065778 w 3600000"/>
              <a:gd name="connsiteY6429" fmla="*/ 328246 h 2787466"/>
              <a:gd name="connsiteX6430" fmla="*/ 3065178 w 3600000"/>
              <a:gd name="connsiteY6430" fmla="*/ 330053 h 2787466"/>
              <a:gd name="connsiteX6431" fmla="*/ 3065489 w 3600000"/>
              <a:gd name="connsiteY6431" fmla="*/ 329116 h 2787466"/>
              <a:gd name="connsiteX6432" fmla="*/ 3065778 w 3600000"/>
              <a:gd name="connsiteY6432" fmla="*/ 328246 h 2787466"/>
              <a:gd name="connsiteX6433" fmla="*/ 2980545 w 3600000"/>
              <a:gd name="connsiteY6433" fmla="*/ 326527 h 2787466"/>
              <a:gd name="connsiteX6434" fmla="*/ 2987968 w 3600000"/>
              <a:gd name="connsiteY6434" fmla="*/ 349473 h 2787466"/>
              <a:gd name="connsiteX6435" fmla="*/ 2977937 w 3600000"/>
              <a:gd name="connsiteY6435" fmla="*/ 352479 h 2787466"/>
              <a:gd name="connsiteX6436" fmla="*/ 2980545 w 3600000"/>
              <a:gd name="connsiteY6436" fmla="*/ 326527 h 2787466"/>
              <a:gd name="connsiteX6437" fmla="*/ 3153001 w 3600000"/>
              <a:gd name="connsiteY6437" fmla="*/ 325899 h 2787466"/>
              <a:gd name="connsiteX6438" fmla="*/ 3163835 w 3600000"/>
              <a:gd name="connsiteY6438" fmla="*/ 330686 h 2787466"/>
              <a:gd name="connsiteX6439" fmla="*/ 3162397 w 3600000"/>
              <a:gd name="connsiteY6439" fmla="*/ 337465 h 2787466"/>
              <a:gd name="connsiteX6440" fmla="*/ 3140414 w 3600000"/>
              <a:gd name="connsiteY6440" fmla="*/ 327759 h 2787466"/>
              <a:gd name="connsiteX6441" fmla="*/ 3149454 w 3600000"/>
              <a:gd name="connsiteY6441" fmla="*/ 327759 h 2787466"/>
              <a:gd name="connsiteX6442" fmla="*/ 3153001 w 3600000"/>
              <a:gd name="connsiteY6442" fmla="*/ 325899 h 2787466"/>
              <a:gd name="connsiteX6443" fmla="*/ 2598838 w 3600000"/>
              <a:gd name="connsiteY6443" fmla="*/ 323754 h 2787466"/>
              <a:gd name="connsiteX6444" fmla="*/ 2603854 w 3600000"/>
              <a:gd name="connsiteY6444" fmla="*/ 332611 h 2787466"/>
              <a:gd name="connsiteX6445" fmla="*/ 2598838 w 3600000"/>
              <a:gd name="connsiteY6445" fmla="*/ 323754 h 2787466"/>
              <a:gd name="connsiteX6446" fmla="*/ 2491921 w 3600000"/>
              <a:gd name="connsiteY6446" fmla="*/ 323342 h 2787466"/>
              <a:gd name="connsiteX6447" fmla="*/ 2496990 w 3600000"/>
              <a:gd name="connsiteY6447" fmla="*/ 329679 h 2787466"/>
              <a:gd name="connsiteX6448" fmla="*/ 2515037 w 3600000"/>
              <a:gd name="connsiteY6448" fmla="*/ 330654 h 2787466"/>
              <a:gd name="connsiteX6449" fmla="*/ 2493138 w 3600000"/>
              <a:gd name="connsiteY6449" fmla="*/ 331629 h 2787466"/>
              <a:gd name="connsiteX6450" fmla="*/ 2491921 w 3600000"/>
              <a:gd name="connsiteY6450" fmla="*/ 323342 h 2787466"/>
              <a:gd name="connsiteX6451" fmla="*/ 3012838 w 3600000"/>
              <a:gd name="connsiteY6451" fmla="*/ 322367 h 2787466"/>
              <a:gd name="connsiteX6452" fmla="*/ 3011616 w 3600000"/>
              <a:gd name="connsiteY6452" fmla="*/ 331225 h 2787466"/>
              <a:gd name="connsiteX6453" fmla="*/ 3012838 w 3600000"/>
              <a:gd name="connsiteY6453" fmla="*/ 322367 h 2787466"/>
              <a:gd name="connsiteX6454" fmla="*/ 2632012 w 3600000"/>
              <a:gd name="connsiteY6454" fmla="*/ 321674 h 2787466"/>
              <a:gd name="connsiteX6455" fmla="*/ 2641167 w 3600000"/>
              <a:gd name="connsiteY6455" fmla="*/ 332460 h 2787466"/>
              <a:gd name="connsiteX6456" fmla="*/ 2625706 w 3600000"/>
              <a:gd name="connsiteY6456" fmla="*/ 337463 h 2787466"/>
              <a:gd name="connsiteX6457" fmla="*/ 2632012 w 3600000"/>
              <a:gd name="connsiteY6457" fmla="*/ 321674 h 2787466"/>
              <a:gd name="connsiteX6458" fmla="*/ 2547169 w 3600000"/>
              <a:gd name="connsiteY6458" fmla="*/ 320762 h 2787466"/>
              <a:gd name="connsiteX6459" fmla="*/ 2553442 w 3600000"/>
              <a:gd name="connsiteY6459" fmla="*/ 321878 h 2787466"/>
              <a:gd name="connsiteX6460" fmla="*/ 2544280 w 3600000"/>
              <a:gd name="connsiteY6460" fmla="*/ 324855 h 2787466"/>
              <a:gd name="connsiteX6461" fmla="*/ 2542822 w 3600000"/>
              <a:gd name="connsiteY6461" fmla="*/ 341622 h 2787466"/>
              <a:gd name="connsiteX6462" fmla="*/ 2538865 w 3600000"/>
              <a:gd name="connsiteY6462" fmla="*/ 321878 h 2787466"/>
              <a:gd name="connsiteX6463" fmla="*/ 2547169 w 3600000"/>
              <a:gd name="connsiteY6463" fmla="*/ 320762 h 2787466"/>
              <a:gd name="connsiteX6464" fmla="*/ 2960290 w 3600000"/>
              <a:gd name="connsiteY6464" fmla="*/ 316821 h 2787466"/>
              <a:gd name="connsiteX6465" fmla="*/ 2954966 w 3600000"/>
              <a:gd name="connsiteY6465" fmla="*/ 345781 h 2787466"/>
              <a:gd name="connsiteX6466" fmla="*/ 2960290 w 3600000"/>
              <a:gd name="connsiteY6466" fmla="*/ 316821 h 2787466"/>
              <a:gd name="connsiteX6467" fmla="*/ 2590385 w 3600000"/>
              <a:gd name="connsiteY6467" fmla="*/ 316821 h 2787466"/>
              <a:gd name="connsiteX6468" fmla="*/ 2604679 w 3600000"/>
              <a:gd name="connsiteY6468" fmla="*/ 321941 h 2787466"/>
              <a:gd name="connsiteX6469" fmla="*/ 2591610 w 3600000"/>
              <a:gd name="connsiteY6469" fmla="*/ 322901 h 2787466"/>
              <a:gd name="connsiteX6470" fmla="*/ 2590385 w 3600000"/>
              <a:gd name="connsiteY6470" fmla="*/ 316821 h 2787466"/>
              <a:gd name="connsiteX6471" fmla="*/ 2694472 w 3600000"/>
              <a:gd name="connsiteY6471" fmla="*/ 312456 h 2787466"/>
              <a:gd name="connsiteX6472" fmla="*/ 2703059 w 3600000"/>
              <a:gd name="connsiteY6472" fmla="*/ 312626 h 2787466"/>
              <a:gd name="connsiteX6473" fmla="*/ 2706765 w 3600000"/>
              <a:gd name="connsiteY6473" fmla="*/ 327557 h 2787466"/>
              <a:gd name="connsiteX6474" fmla="*/ 2689881 w 3600000"/>
              <a:gd name="connsiteY6474" fmla="*/ 334472 h 2787466"/>
              <a:gd name="connsiteX6475" fmla="*/ 2685969 w 3600000"/>
              <a:gd name="connsiteY6475" fmla="*/ 353334 h 2787466"/>
              <a:gd name="connsiteX6476" fmla="*/ 2695234 w 3600000"/>
              <a:gd name="connsiteY6476" fmla="*/ 354277 h 2787466"/>
              <a:gd name="connsiteX6477" fmla="*/ 2683498 w 3600000"/>
              <a:gd name="connsiteY6477" fmla="*/ 388071 h 2787466"/>
              <a:gd name="connsiteX6478" fmla="*/ 2666613 w 3600000"/>
              <a:gd name="connsiteY6478" fmla="*/ 373296 h 2787466"/>
              <a:gd name="connsiteX6479" fmla="*/ 2669155 w 3600000"/>
              <a:gd name="connsiteY6479" fmla="*/ 363119 h 2787466"/>
              <a:gd name="connsiteX6480" fmla="*/ 2665925 w 3600000"/>
              <a:gd name="connsiteY6480" fmla="*/ 360858 h 2787466"/>
              <a:gd name="connsiteX6481" fmla="*/ 2668882 w 3600000"/>
              <a:gd name="connsiteY6481" fmla="*/ 348711 h 2787466"/>
              <a:gd name="connsiteX6482" fmla="*/ 2674115 w 3600000"/>
              <a:gd name="connsiteY6482" fmla="*/ 351905 h 2787466"/>
              <a:gd name="connsiteX6483" fmla="*/ 2674538 w 3600000"/>
              <a:gd name="connsiteY6483" fmla="*/ 353665 h 2787466"/>
              <a:gd name="connsiteX6484" fmla="*/ 2676600 w 3600000"/>
              <a:gd name="connsiteY6484" fmla="*/ 350623 h 2787466"/>
              <a:gd name="connsiteX6485" fmla="*/ 2672997 w 3600000"/>
              <a:gd name="connsiteY6485" fmla="*/ 332430 h 2787466"/>
              <a:gd name="connsiteX6486" fmla="*/ 2689881 w 3600000"/>
              <a:gd name="connsiteY6486" fmla="*/ 324571 h 2787466"/>
              <a:gd name="connsiteX6487" fmla="*/ 2683498 w 3600000"/>
              <a:gd name="connsiteY6487" fmla="*/ 321584 h 2787466"/>
              <a:gd name="connsiteX6488" fmla="*/ 2694472 w 3600000"/>
              <a:gd name="connsiteY6488" fmla="*/ 312456 h 2787466"/>
              <a:gd name="connsiteX6489" fmla="*/ 2734485 w 3600000"/>
              <a:gd name="connsiteY6489" fmla="*/ 303622 h 2787466"/>
              <a:gd name="connsiteX6490" fmla="*/ 2732920 w 3600000"/>
              <a:gd name="connsiteY6490" fmla="*/ 321519 h 2787466"/>
              <a:gd name="connsiteX6491" fmla="*/ 2730295 w 3600000"/>
              <a:gd name="connsiteY6491" fmla="*/ 313590 h 2787466"/>
              <a:gd name="connsiteX6492" fmla="*/ 2734485 w 3600000"/>
              <a:gd name="connsiteY6492" fmla="*/ 303622 h 2787466"/>
              <a:gd name="connsiteX6493" fmla="*/ 3126149 w 3600000"/>
              <a:gd name="connsiteY6493" fmla="*/ 301984 h 2787466"/>
              <a:gd name="connsiteX6494" fmla="*/ 3122247 w 3600000"/>
              <a:gd name="connsiteY6494" fmla="*/ 340927 h 2787466"/>
              <a:gd name="connsiteX6495" fmla="*/ 3126149 w 3600000"/>
              <a:gd name="connsiteY6495" fmla="*/ 301984 h 2787466"/>
              <a:gd name="connsiteX6496" fmla="*/ 2634812 w 3600000"/>
              <a:gd name="connsiteY6496" fmla="*/ 301511 h 2787466"/>
              <a:gd name="connsiteX6497" fmla="*/ 2639947 w 3600000"/>
              <a:gd name="connsiteY6497" fmla="*/ 312237 h 2787466"/>
              <a:gd name="connsiteX6498" fmla="*/ 2656789 w 3600000"/>
              <a:gd name="connsiteY6498" fmla="*/ 315191 h 2787466"/>
              <a:gd name="connsiteX6499" fmla="*/ 2629678 w 3600000"/>
              <a:gd name="connsiteY6499" fmla="*/ 319077 h 2787466"/>
              <a:gd name="connsiteX6500" fmla="*/ 2632142 w 3600000"/>
              <a:gd name="connsiteY6500" fmla="*/ 318145 h 2787466"/>
              <a:gd name="connsiteX6501" fmla="*/ 2634812 w 3600000"/>
              <a:gd name="connsiteY6501" fmla="*/ 301511 h 2787466"/>
              <a:gd name="connsiteX6502" fmla="*/ 2696224 w 3600000"/>
              <a:gd name="connsiteY6502" fmla="*/ 298103 h 2787466"/>
              <a:gd name="connsiteX6503" fmla="*/ 2698814 w 3600000"/>
              <a:gd name="connsiteY6503" fmla="*/ 301032 h 2787466"/>
              <a:gd name="connsiteX6504" fmla="*/ 2698777 w 3600000"/>
              <a:gd name="connsiteY6504" fmla="*/ 305465 h 2787466"/>
              <a:gd name="connsiteX6505" fmla="*/ 2704038 w 3600000"/>
              <a:gd name="connsiteY6505" fmla="*/ 305984 h 2787466"/>
              <a:gd name="connsiteX6506" fmla="*/ 2700885 w 3600000"/>
              <a:gd name="connsiteY6506" fmla="*/ 309164 h 2787466"/>
              <a:gd name="connsiteX6507" fmla="*/ 2696459 w 3600000"/>
              <a:gd name="connsiteY6507" fmla="*/ 310463 h 2787466"/>
              <a:gd name="connsiteX6508" fmla="*/ 2695823 w 3600000"/>
              <a:gd name="connsiteY6508" fmla="*/ 311579 h 2787466"/>
              <a:gd name="connsiteX6509" fmla="*/ 2689707 w 3600000"/>
              <a:gd name="connsiteY6509" fmla="*/ 313892 h 2787466"/>
              <a:gd name="connsiteX6510" fmla="*/ 2691260 w 3600000"/>
              <a:gd name="connsiteY6510" fmla="*/ 310128 h 2787466"/>
              <a:gd name="connsiteX6511" fmla="*/ 2690523 w 3600000"/>
              <a:gd name="connsiteY6511" fmla="*/ 310009 h 2787466"/>
              <a:gd name="connsiteX6512" fmla="*/ 2689477 w 3600000"/>
              <a:gd name="connsiteY6512" fmla="*/ 305984 h 2787466"/>
              <a:gd name="connsiteX6513" fmla="*/ 2693116 w 3600000"/>
              <a:gd name="connsiteY6513" fmla="*/ 305633 h 2787466"/>
              <a:gd name="connsiteX6514" fmla="*/ 3106372 w 3600000"/>
              <a:gd name="connsiteY6514" fmla="*/ 294637 h 2787466"/>
              <a:gd name="connsiteX6515" fmla="*/ 3098870 w 3600000"/>
              <a:gd name="connsiteY6515" fmla="*/ 300605 h 2787466"/>
              <a:gd name="connsiteX6516" fmla="*/ 3110225 w 3600000"/>
              <a:gd name="connsiteY6516" fmla="*/ 303590 h 2787466"/>
              <a:gd name="connsiteX6517" fmla="*/ 3106372 w 3600000"/>
              <a:gd name="connsiteY6517" fmla="*/ 294637 h 2787466"/>
              <a:gd name="connsiteX6518" fmla="*/ 2549781 w 3600000"/>
              <a:gd name="connsiteY6518" fmla="*/ 294637 h 2787466"/>
              <a:gd name="connsiteX6519" fmla="*/ 2552484 w 3600000"/>
              <a:gd name="connsiteY6519" fmla="*/ 310426 h 2787466"/>
              <a:gd name="connsiteX6520" fmla="*/ 2535230 w 3600000"/>
              <a:gd name="connsiteY6520" fmla="*/ 303547 h 2787466"/>
              <a:gd name="connsiteX6521" fmla="*/ 2549781 w 3600000"/>
              <a:gd name="connsiteY6521" fmla="*/ 294637 h 2787466"/>
              <a:gd name="connsiteX6522" fmla="*/ 2656343 w 3600000"/>
              <a:gd name="connsiteY6522" fmla="*/ 292557 h 2787466"/>
              <a:gd name="connsiteX6523" fmla="*/ 2673146 w 3600000"/>
              <a:gd name="connsiteY6523" fmla="*/ 292557 h 2787466"/>
              <a:gd name="connsiteX6524" fmla="*/ 2656343 w 3600000"/>
              <a:gd name="connsiteY6524" fmla="*/ 292557 h 2787466"/>
              <a:gd name="connsiteX6525" fmla="*/ 2498390 w 3600000"/>
              <a:gd name="connsiteY6525" fmla="*/ 292557 h 2787466"/>
              <a:gd name="connsiteX6526" fmla="*/ 2498390 w 3600000"/>
              <a:gd name="connsiteY6526" fmla="*/ 303491 h 2787466"/>
              <a:gd name="connsiteX6527" fmla="*/ 2498390 w 3600000"/>
              <a:gd name="connsiteY6527" fmla="*/ 292557 h 2787466"/>
              <a:gd name="connsiteX6528" fmla="*/ 2711302 w 3600000"/>
              <a:gd name="connsiteY6528" fmla="*/ 291648 h 2787466"/>
              <a:gd name="connsiteX6529" fmla="*/ 2710024 w 3600000"/>
              <a:gd name="connsiteY6529" fmla="*/ 297553 h 2787466"/>
              <a:gd name="connsiteX6530" fmla="*/ 2711302 w 3600000"/>
              <a:gd name="connsiteY6530" fmla="*/ 291648 h 2787466"/>
              <a:gd name="connsiteX6531" fmla="*/ 2503253 w 3600000"/>
              <a:gd name="connsiteY6531" fmla="*/ 274061 h 2787466"/>
              <a:gd name="connsiteX6532" fmla="*/ 2515037 w 3600000"/>
              <a:gd name="connsiteY6532" fmla="*/ 282143 h 2787466"/>
              <a:gd name="connsiteX6533" fmla="*/ 2508575 w 3600000"/>
              <a:gd name="connsiteY6533" fmla="*/ 286157 h 2787466"/>
              <a:gd name="connsiteX6534" fmla="*/ 2497065 w 3600000"/>
              <a:gd name="connsiteY6534" fmla="*/ 275079 h 2787466"/>
              <a:gd name="connsiteX6535" fmla="*/ 2503253 w 3600000"/>
              <a:gd name="connsiteY6535" fmla="*/ 274061 h 2787466"/>
              <a:gd name="connsiteX6536" fmla="*/ 3039817 w 3600000"/>
              <a:gd name="connsiteY6536" fmla="*/ 268292 h 2787466"/>
              <a:gd name="connsiteX6537" fmla="*/ 3044931 w 3600000"/>
              <a:gd name="connsiteY6537" fmla="*/ 273153 h 2787466"/>
              <a:gd name="connsiteX6538" fmla="*/ 3033475 w 3600000"/>
              <a:gd name="connsiteY6538" fmla="*/ 275192 h 2787466"/>
              <a:gd name="connsiteX6539" fmla="*/ 3037362 w 3600000"/>
              <a:gd name="connsiteY6539" fmla="*/ 287109 h 2787466"/>
              <a:gd name="connsiteX6540" fmla="*/ 3048818 w 3600000"/>
              <a:gd name="connsiteY6540" fmla="*/ 279112 h 2787466"/>
              <a:gd name="connsiteX6541" fmla="*/ 3035930 w 3600000"/>
              <a:gd name="connsiteY6541" fmla="*/ 300909 h 2787466"/>
              <a:gd name="connsiteX6542" fmla="*/ 3034702 w 3600000"/>
              <a:gd name="connsiteY6542" fmla="*/ 309847 h 2787466"/>
              <a:gd name="connsiteX6543" fmla="*/ 3043703 w 3600000"/>
              <a:gd name="connsiteY6543" fmla="*/ 320824 h 2787466"/>
              <a:gd name="connsiteX6544" fmla="*/ 3024269 w 3600000"/>
              <a:gd name="connsiteY6544" fmla="*/ 314865 h 2787466"/>
              <a:gd name="connsiteX6545" fmla="*/ 3032043 w 3600000"/>
              <a:gd name="connsiteY6545" fmla="*/ 308906 h 2787466"/>
              <a:gd name="connsiteX6546" fmla="*/ 3025701 w 3600000"/>
              <a:gd name="connsiteY6546" fmla="*/ 308906 h 2787466"/>
              <a:gd name="connsiteX6547" fmla="*/ 3026929 w 3600000"/>
              <a:gd name="connsiteY6547" fmla="*/ 302006 h 2787466"/>
              <a:gd name="connsiteX6548" fmla="*/ 3032043 w 3600000"/>
              <a:gd name="connsiteY6548" fmla="*/ 274251 h 2787466"/>
              <a:gd name="connsiteX6549" fmla="*/ 3039817 w 3600000"/>
              <a:gd name="connsiteY6549" fmla="*/ 268292 h 2787466"/>
              <a:gd name="connsiteX6550" fmla="*/ 2722506 w 3600000"/>
              <a:gd name="connsiteY6550" fmla="*/ 266213 h 2787466"/>
              <a:gd name="connsiteX6551" fmla="*/ 2730390 w 3600000"/>
              <a:gd name="connsiteY6551" fmla="*/ 275123 h 2787466"/>
              <a:gd name="connsiteX6552" fmla="*/ 2713376 w 3600000"/>
              <a:gd name="connsiteY6552" fmla="*/ 273091 h 2787466"/>
              <a:gd name="connsiteX6553" fmla="*/ 2709433 w 3600000"/>
              <a:gd name="connsiteY6553" fmla="*/ 278093 h 2787466"/>
              <a:gd name="connsiteX6554" fmla="*/ 2704246 w 3600000"/>
              <a:gd name="connsiteY6554" fmla="*/ 275123 h 2787466"/>
              <a:gd name="connsiteX6555" fmla="*/ 2708188 w 3600000"/>
              <a:gd name="connsiteY6555" fmla="*/ 269183 h 2787466"/>
              <a:gd name="connsiteX6556" fmla="*/ 2722506 w 3600000"/>
              <a:gd name="connsiteY6556" fmla="*/ 266213 h 2787466"/>
              <a:gd name="connsiteX6557" fmla="*/ 3048893 w 3600000"/>
              <a:gd name="connsiteY6557" fmla="*/ 262746 h 2787466"/>
              <a:gd name="connsiteX6558" fmla="*/ 3055446 w 3600000"/>
              <a:gd name="connsiteY6558" fmla="*/ 262746 h 2787466"/>
              <a:gd name="connsiteX6559" fmla="*/ 3058108 w 3600000"/>
              <a:gd name="connsiteY6559" fmla="*/ 269525 h 2787466"/>
              <a:gd name="connsiteX6560" fmla="*/ 3050326 w 3600000"/>
              <a:gd name="connsiteY6560" fmla="*/ 279231 h 2787466"/>
              <a:gd name="connsiteX6561" fmla="*/ 3048893 w 3600000"/>
              <a:gd name="connsiteY6561" fmla="*/ 262746 h 2787466"/>
              <a:gd name="connsiteX6562" fmla="*/ 3023066 w 3600000"/>
              <a:gd name="connsiteY6562" fmla="*/ 259973 h 2787466"/>
              <a:gd name="connsiteX6563" fmla="*/ 3024344 w 3600000"/>
              <a:gd name="connsiteY6563" fmla="*/ 271606 h 2787466"/>
              <a:gd name="connsiteX6564" fmla="*/ 3023066 w 3600000"/>
              <a:gd name="connsiteY6564" fmla="*/ 259973 h 2787466"/>
              <a:gd name="connsiteX6565" fmla="*/ 3116739 w 3600000"/>
              <a:gd name="connsiteY6565" fmla="*/ 256757 h 2787466"/>
              <a:gd name="connsiteX6566" fmla="*/ 3135018 w 3600000"/>
              <a:gd name="connsiteY6566" fmla="*/ 256757 h 2787466"/>
              <a:gd name="connsiteX6567" fmla="*/ 3136250 w 3600000"/>
              <a:gd name="connsiteY6567" fmla="*/ 266668 h 2787466"/>
              <a:gd name="connsiteX6568" fmla="*/ 3121873 w 3600000"/>
              <a:gd name="connsiteY6568" fmla="*/ 258802 h 2787466"/>
              <a:gd name="connsiteX6569" fmla="*/ 3127214 w 3600000"/>
              <a:gd name="connsiteY6569" fmla="*/ 292626 h 2787466"/>
              <a:gd name="connsiteX6570" fmla="*/ 3123312 w 3600000"/>
              <a:gd name="connsiteY6570" fmla="*/ 296559 h 2787466"/>
              <a:gd name="connsiteX6571" fmla="*/ 3111604 w 3600000"/>
              <a:gd name="connsiteY6571" fmla="*/ 294514 h 2787466"/>
              <a:gd name="connsiteX6572" fmla="*/ 3116739 w 3600000"/>
              <a:gd name="connsiteY6572" fmla="*/ 256757 h 2787466"/>
              <a:gd name="connsiteX6573" fmla="*/ 3096405 w 3600000"/>
              <a:gd name="connsiteY6573" fmla="*/ 255120 h 2787466"/>
              <a:gd name="connsiteX6574" fmla="*/ 3105421 w 3600000"/>
              <a:gd name="connsiteY6574" fmla="*/ 279944 h 2787466"/>
              <a:gd name="connsiteX6575" fmla="*/ 3104192 w 3600000"/>
              <a:gd name="connsiteY6575" fmla="*/ 291013 h 2787466"/>
              <a:gd name="connsiteX6576" fmla="*/ 3088619 w 3600000"/>
              <a:gd name="connsiteY6576" fmla="*/ 265082 h 2787466"/>
              <a:gd name="connsiteX6577" fmla="*/ 3096405 w 3600000"/>
              <a:gd name="connsiteY6577" fmla="*/ 255120 h 2787466"/>
              <a:gd name="connsiteX6578" fmla="*/ 3077559 w 3600000"/>
              <a:gd name="connsiteY6578" fmla="*/ 248881 h 2787466"/>
              <a:gd name="connsiteX6579" fmla="*/ 3078780 w 3600000"/>
              <a:gd name="connsiteY6579" fmla="*/ 264670 h 2787466"/>
              <a:gd name="connsiteX6580" fmla="*/ 3077559 w 3600000"/>
              <a:gd name="connsiteY6580" fmla="*/ 248881 h 2787466"/>
              <a:gd name="connsiteX6581" fmla="*/ 2713041 w 3600000"/>
              <a:gd name="connsiteY6581" fmla="*/ 243191 h 2787466"/>
              <a:gd name="connsiteX6582" fmla="*/ 2710996 w 3600000"/>
              <a:gd name="connsiteY6582" fmla="*/ 249419 h 2787466"/>
              <a:gd name="connsiteX6583" fmla="*/ 2710996 w 3600000"/>
              <a:gd name="connsiteY6583" fmla="*/ 243514 h 2787466"/>
              <a:gd name="connsiteX6584" fmla="*/ 2713041 w 3600000"/>
              <a:gd name="connsiteY6584" fmla="*/ 243191 h 2787466"/>
              <a:gd name="connsiteX6585" fmla="*/ 2732700 w 3600000"/>
              <a:gd name="connsiteY6585" fmla="*/ 241949 h 2787466"/>
              <a:gd name="connsiteX6586" fmla="*/ 2737668 w 3600000"/>
              <a:gd name="connsiteY6586" fmla="*/ 245974 h 2787466"/>
              <a:gd name="connsiteX6587" fmla="*/ 2731506 w 3600000"/>
              <a:gd name="connsiteY6587" fmla="*/ 255726 h 2787466"/>
              <a:gd name="connsiteX6588" fmla="*/ 2732700 w 3600000"/>
              <a:gd name="connsiteY6588" fmla="*/ 241949 h 2787466"/>
              <a:gd name="connsiteX6589" fmla="*/ 2745843 w 3600000"/>
              <a:gd name="connsiteY6589" fmla="*/ 238440 h 2787466"/>
              <a:gd name="connsiteX6590" fmla="*/ 2745843 w 3600000"/>
              <a:gd name="connsiteY6590" fmla="*/ 247379 h 2787466"/>
              <a:gd name="connsiteX6591" fmla="*/ 2745843 w 3600000"/>
              <a:gd name="connsiteY6591" fmla="*/ 238440 h 2787466"/>
              <a:gd name="connsiteX6592" fmla="*/ 3076277 w 3600000"/>
              <a:gd name="connsiteY6592" fmla="*/ 234567 h 2787466"/>
              <a:gd name="connsiteX6593" fmla="*/ 3075032 w 3600000"/>
              <a:gd name="connsiteY6593" fmla="*/ 249418 h 2787466"/>
              <a:gd name="connsiteX6594" fmla="*/ 3076277 w 3600000"/>
              <a:gd name="connsiteY6594" fmla="*/ 234567 h 2787466"/>
              <a:gd name="connsiteX6595" fmla="*/ 2705908 w 3600000"/>
              <a:gd name="connsiteY6595" fmla="*/ 233880 h 2787466"/>
              <a:gd name="connsiteX6596" fmla="*/ 2720395 w 3600000"/>
              <a:gd name="connsiteY6596" fmla="*/ 237403 h 2787466"/>
              <a:gd name="connsiteX6597" fmla="*/ 2695471 w 3600000"/>
              <a:gd name="connsiteY6597" fmla="*/ 238328 h 2787466"/>
              <a:gd name="connsiteX6598" fmla="*/ 2705908 w 3600000"/>
              <a:gd name="connsiteY6598" fmla="*/ 233880 h 2787466"/>
              <a:gd name="connsiteX6599" fmla="*/ 2673636 w 3600000"/>
              <a:gd name="connsiteY6599" fmla="*/ 230163 h 2787466"/>
              <a:gd name="connsiteX6600" fmla="*/ 2676291 w 3600000"/>
              <a:gd name="connsiteY6600" fmla="*/ 240399 h 2787466"/>
              <a:gd name="connsiteX6601" fmla="*/ 2673636 w 3600000"/>
              <a:gd name="connsiteY6601" fmla="*/ 230163 h 2787466"/>
              <a:gd name="connsiteX6602" fmla="*/ 2950741 w 3600000"/>
              <a:gd name="connsiteY6602" fmla="*/ 229469 h 2787466"/>
              <a:gd name="connsiteX6603" fmla="*/ 2953510 w 3600000"/>
              <a:gd name="connsiteY6603" fmla="*/ 263977 h 2787466"/>
              <a:gd name="connsiteX6604" fmla="*/ 2944139 w 3600000"/>
              <a:gd name="connsiteY6604" fmla="*/ 263977 h 2787466"/>
              <a:gd name="connsiteX6605" fmla="*/ 2950741 w 3600000"/>
              <a:gd name="connsiteY6605" fmla="*/ 229469 h 2787466"/>
              <a:gd name="connsiteX6606" fmla="*/ 2668700 w 3600000"/>
              <a:gd name="connsiteY6606" fmla="*/ 223231 h 2787466"/>
              <a:gd name="connsiteX6607" fmla="*/ 2663354 w 3600000"/>
              <a:gd name="connsiteY6607" fmla="*/ 239019 h 2787466"/>
              <a:gd name="connsiteX6608" fmla="*/ 2668700 w 3600000"/>
              <a:gd name="connsiteY6608" fmla="*/ 223231 h 2787466"/>
              <a:gd name="connsiteX6609" fmla="*/ 3134962 w 3600000"/>
              <a:gd name="connsiteY6609" fmla="*/ 214217 h 2787466"/>
              <a:gd name="connsiteX6610" fmla="*/ 3148048 w 3600000"/>
              <a:gd name="connsiteY6610" fmla="*/ 216256 h 2787466"/>
              <a:gd name="connsiteX6611" fmla="*/ 3140154 w 3600000"/>
              <a:gd name="connsiteY6611" fmla="*/ 227233 h 2787466"/>
              <a:gd name="connsiteX6612" fmla="*/ 3134962 w 3600000"/>
              <a:gd name="connsiteY6612" fmla="*/ 214217 h 2787466"/>
              <a:gd name="connsiteX6613" fmla="*/ 2709193 w 3600000"/>
              <a:gd name="connsiteY6613" fmla="*/ 201045 h 2787466"/>
              <a:gd name="connsiteX6614" fmla="*/ 2688798 w 3600000"/>
              <a:gd name="connsiteY6614" fmla="*/ 205051 h 2787466"/>
              <a:gd name="connsiteX6615" fmla="*/ 2709193 w 3600000"/>
              <a:gd name="connsiteY6615" fmla="*/ 201045 h 2787466"/>
              <a:gd name="connsiteX6616" fmla="*/ 3120222 w 3600000"/>
              <a:gd name="connsiteY6616" fmla="*/ 200352 h 2787466"/>
              <a:gd name="connsiteX6617" fmla="*/ 3127895 w 3600000"/>
              <a:gd name="connsiteY6617" fmla="*/ 220318 h 2787466"/>
              <a:gd name="connsiteX6618" fmla="*/ 3111337 w 3600000"/>
              <a:gd name="connsiteY6618" fmla="*/ 208276 h 2787466"/>
              <a:gd name="connsiteX6619" fmla="*/ 3117596 w 3600000"/>
              <a:gd name="connsiteY6619" fmla="*/ 206374 h 2787466"/>
              <a:gd name="connsiteX6620" fmla="*/ 3120222 w 3600000"/>
              <a:gd name="connsiteY6620" fmla="*/ 200352 h 2787466"/>
              <a:gd name="connsiteX6621" fmla="*/ 2813168 w 3600000"/>
              <a:gd name="connsiteY6621" fmla="*/ 193420 h 2787466"/>
              <a:gd name="connsiteX6622" fmla="*/ 2822220 w 3600000"/>
              <a:gd name="connsiteY6622" fmla="*/ 194348 h 2787466"/>
              <a:gd name="connsiteX6623" fmla="*/ 2823455 w 3600000"/>
              <a:gd name="connsiteY6623" fmla="*/ 205177 h 2787466"/>
              <a:gd name="connsiteX6624" fmla="*/ 2814402 w 3600000"/>
              <a:gd name="connsiteY6624" fmla="*/ 207961 h 2787466"/>
              <a:gd name="connsiteX6625" fmla="*/ 2805349 w 3600000"/>
              <a:gd name="connsiteY6625" fmla="*/ 211983 h 2787466"/>
              <a:gd name="connsiteX6626" fmla="*/ 2792388 w 3600000"/>
              <a:gd name="connsiteY6626" fmla="*/ 206105 h 2787466"/>
              <a:gd name="connsiteX6627" fmla="*/ 2813168 w 3600000"/>
              <a:gd name="connsiteY6627" fmla="*/ 193420 h 2787466"/>
              <a:gd name="connsiteX6628" fmla="*/ 2711970 w 3600000"/>
              <a:gd name="connsiteY6628" fmla="*/ 181634 h 2787466"/>
              <a:gd name="connsiteX6629" fmla="*/ 2709306 w 3600000"/>
              <a:gd name="connsiteY6629" fmla="*/ 188413 h 2787466"/>
              <a:gd name="connsiteX6630" fmla="*/ 2711970 w 3600000"/>
              <a:gd name="connsiteY6630" fmla="*/ 181634 h 2787466"/>
              <a:gd name="connsiteX6631" fmla="*/ 2813417 w 3600000"/>
              <a:gd name="connsiteY6631" fmla="*/ 169848 h 2787466"/>
              <a:gd name="connsiteX6632" fmla="*/ 2815874 w 3600000"/>
              <a:gd name="connsiteY6632" fmla="*/ 180957 h 2787466"/>
              <a:gd name="connsiteX6633" fmla="*/ 2813417 w 3600000"/>
              <a:gd name="connsiteY6633" fmla="*/ 169848 h 2787466"/>
              <a:gd name="connsiteX6634" fmla="*/ 3113759 w 3600000"/>
              <a:gd name="connsiteY6634" fmla="*/ 150437 h 2787466"/>
              <a:gd name="connsiteX6635" fmla="*/ 3116385 w 3600000"/>
              <a:gd name="connsiteY6635" fmla="*/ 159294 h 2787466"/>
              <a:gd name="connsiteX6636" fmla="*/ 3113759 w 3600000"/>
              <a:gd name="connsiteY6636" fmla="*/ 150437 h 2787466"/>
              <a:gd name="connsiteX6637" fmla="*/ 2682230 w 3600000"/>
              <a:gd name="connsiteY6637" fmla="*/ 142118 h 2787466"/>
              <a:gd name="connsiteX6638" fmla="*/ 2679733 w 3600000"/>
              <a:gd name="connsiteY6638" fmla="*/ 152354 h 2787466"/>
              <a:gd name="connsiteX6639" fmla="*/ 2682230 w 3600000"/>
              <a:gd name="connsiteY6639" fmla="*/ 142118 h 2787466"/>
              <a:gd name="connsiteX6640" fmla="*/ 3144497 w 3600000"/>
              <a:gd name="connsiteY6640" fmla="*/ 125740 h 2787466"/>
              <a:gd name="connsiteX6641" fmla="*/ 3141835 w 3600000"/>
              <a:gd name="connsiteY6641" fmla="*/ 132730 h 2787466"/>
              <a:gd name="connsiteX6642" fmla="*/ 3148387 w 3600000"/>
              <a:gd name="connsiteY6642" fmla="*/ 135749 h 2787466"/>
              <a:gd name="connsiteX6643" fmla="*/ 3144497 w 3600000"/>
              <a:gd name="connsiteY6643" fmla="*/ 125740 h 2787466"/>
              <a:gd name="connsiteX6644" fmla="*/ 2725204 w 3600000"/>
              <a:gd name="connsiteY6644" fmla="*/ 124093 h 2787466"/>
              <a:gd name="connsiteX6645" fmla="*/ 2724000 w 3600000"/>
              <a:gd name="connsiteY6645" fmla="*/ 137108 h 2787466"/>
              <a:gd name="connsiteX6646" fmla="*/ 2725204 w 3600000"/>
              <a:gd name="connsiteY6646" fmla="*/ 124093 h 2787466"/>
              <a:gd name="connsiteX6647" fmla="*/ 3062268 w 3600000"/>
              <a:gd name="connsiteY6647" fmla="*/ 122013 h 2787466"/>
              <a:gd name="connsiteX6648" fmla="*/ 3068768 w 3600000"/>
              <a:gd name="connsiteY6648" fmla="*/ 133853 h 2787466"/>
              <a:gd name="connsiteX6649" fmla="*/ 3062268 w 3600000"/>
              <a:gd name="connsiteY6649" fmla="*/ 122013 h 2787466"/>
              <a:gd name="connsiteX6650" fmla="*/ 3062481 w 3600000"/>
              <a:gd name="connsiteY6650" fmla="*/ 99829 h 2787466"/>
              <a:gd name="connsiteX6651" fmla="*/ 3068850 w 3600000"/>
              <a:gd name="connsiteY6651" fmla="*/ 115617 h 2787466"/>
              <a:gd name="connsiteX6652" fmla="*/ 3059810 w 3600000"/>
              <a:gd name="connsiteY6652" fmla="*/ 115617 h 2787466"/>
              <a:gd name="connsiteX6653" fmla="*/ 3062481 w 3600000"/>
              <a:gd name="connsiteY6653" fmla="*/ 99829 h 2787466"/>
              <a:gd name="connsiteX6654" fmla="*/ 3103654 w 3600000"/>
              <a:gd name="connsiteY6654" fmla="*/ 98931 h 2787466"/>
              <a:gd name="connsiteX6655" fmla="*/ 3112481 w 3600000"/>
              <a:gd name="connsiteY6655" fmla="*/ 102996 h 2787466"/>
              <a:gd name="connsiteX6656" fmla="*/ 3115090 w 3600000"/>
              <a:gd name="connsiteY6656" fmla="*/ 112844 h 2787466"/>
              <a:gd name="connsiteX6657" fmla="*/ 3103654 w 3600000"/>
              <a:gd name="connsiteY6657" fmla="*/ 106904 h 2787466"/>
              <a:gd name="connsiteX6658" fmla="*/ 3103654 w 3600000"/>
              <a:gd name="connsiteY6658" fmla="*/ 98931 h 2787466"/>
              <a:gd name="connsiteX6659" fmla="*/ 2736880 w 3600000"/>
              <a:gd name="connsiteY6659" fmla="*/ 96362 h 2787466"/>
              <a:gd name="connsiteX6660" fmla="*/ 2740749 w 3600000"/>
              <a:gd name="connsiteY6660" fmla="*/ 109378 h 2787466"/>
              <a:gd name="connsiteX6661" fmla="*/ 2736880 w 3600000"/>
              <a:gd name="connsiteY6661" fmla="*/ 96362 h 2787466"/>
              <a:gd name="connsiteX6662" fmla="*/ 3131125 w 3600000"/>
              <a:gd name="connsiteY6662" fmla="*/ 94283 h 2787466"/>
              <a:gd name="connsiteX6663" fmla="*/ 3129713 w 3600000"/>
              <a:gd name="connsiteY6663" fmla="*/ 135722 h 2787466"/>
              <a:gd name="connsiteX6664" fmla="*/ 3131125 w 3600000"/>
              <a:gd name="connsiteY6664" fmla="*/ 94283 h 2787466"/>
              <a:gd name="connsiteX6665" fmla="*/ 2542424 w 3600000"/>
              <a:gd name="connsiteY6665" fmla="*/ 92020 h 2787466"/>
              <a:gd name="connsiteX6666" fmla="*/ 2560471 w 3600000"/>
              <a:gd name="connsiteY6666" fmla="*/ 94076 h 2787466"/>
              <a:gd name="connsiteX6667" fmla="*/ 2546277 w 3600000"/>
              <a:gd name="connsiteY6667" fmla="*/ 98977 h 2787466"/>
              <a:gd name="connsiteX6668" fmla="*/ 2542424 w 3600000"/>
              <a:gd name="connsiteY6668" fmla="*/ 92020 h 2787466"/>
              <a:gd name="connsiteX6669" fmla="*/ 3359003 w 3600000"/>
              <a:gd name="connsiteY6669" fmla="*/ 91020 h 2787466"/>
              <a:gd name="connsiteX6670" fmla="*/ 3357590 w 3600000"/>
              <a:gd name="connsiteY6670" fmla="*/ 110764 h 2787466"/>
              <a:gd name="connsiteX6671" fmla="*/ 3359003 w 3600000"/>
              <a:gd name="connsiteY6671" fmla="*/ 91020 h 2787466"/>
              <a:gd name="connsiteX6672" fmla="*/ 2737867 w 3600000"/>
              <a:gd name="connsiteY6672" fmla="*/ 90549 h 2787466"/>
              <a:gd name="connsiteX6673" fmla="*/ 2745835 w 3600000"/>
              <a:gd name="connsiteY6673" fmla="*/ 97589 h 2787466"/>
              <a:gd name="connsiteX6674" fmla="*/ 2737867 w 3600000"/>
              <a:gd name="connsiteY6674" fmla="*/ 90549 h 2787466"/>
              <a:gd name="connsiteX6675" fmla="*/ 2726586 w 3600000"/>
              <a:gd name="connsiteY6675" fmla="*/ 89998 h 2787466"/>
              <a:gd name="connsiteX6676" fmla="*/ 2730390 w 3600000"/>
              <a:gd name="connsiteY6676" fmla="*/ 97239 h 2787466"/>
              <a:gd name="connsiteX6677" fmla="*/ 2722485 w 3600000"/>
              <a:gd name="connsiteY6677" fmla="*/ 97239 h 2787466"/>
              <a:gd name="connsiteX6678" fmla="*/ 2729141 w 3600000"/>
              <a:gd name="connsiteY6678" fmla="*/ 112150 h 2787466"/>
              <a:gd name="connsiteX6679" fmla="*/ 2725190 w 3600000"/>
              <a:gd name="connsiteY6679" fmla="*/ 90332 h 2787466"/>
              <a:gd name="connsiteX6680" fmla="*/ 2726586 w 3600000"/>
              <a:gd name="connsiteY6680" fmla="*/ 89998 h 2787466"/>
              <a:gd name="connsiteX6681" fmla="*/ 2644981 w 3600000"/>
              <a:gd name="connsiteY6681" fmla="*/ 88043 h 2787466"/>
              <a:gd name="connsiteX6682" fmla="*/ 2630938 w 3600000"/>
              <a:gd name="connsiteY6682" fmla="*/ 94122 h 2787466"/>
              <a:gd name="connsiteX6683" fmla="*/ 2644981 w 3600000"/>
              <a:gd name="connsiteY6683" fmla="*/ 88043 h 2787466"/>
              <a:gd name="connsiteX6684" fmla="*/ 2735569 w 3600000"/>
              <a:gd name="connsiteY6684" fmla="*/ 81537 h 2787466"/>
              <a:gd name="connsiteX6685" fmla="*/ 2740914 w 3600000"/>
              <a:gd name="connsiteY6685" fmla="*/ 89536 h 2787466"/>
              <a:gd name="connsiteX6686" fmla="*/ 2735569 w 3600000"/>
              <a:gd name="connsiteY6686" fmla="*/ 81537 h 2787466"/>
              <a:gd name="connsiteX6687" fmla="*/ 3167656 w 3600000"/>
              <a:gd name="connsiteY6687" fmla="*/ 78337 h 2787466"/>
              <a:gd name="connsiteX6688" fmla="*/ 3171613 w 3600000"/>
              <a:gd name="connsiteY6688" fmla="*/ 90398 h 2787466"/>
              <a:gd name="connsiteX6689" fmla="*/ 3167656 w 3600000"/>
              <a:gd name="connsiteY6689" fmla="*/ 78337 h 2787466"/>
              <a:gd name="connsiteX6690" fmla="*/ 2681327 w 3600000"/>
              <a:gd name="connsiteY6690" fmla="*/ 70197 h 2787466"/>
              <a:gd name="connsiteX6691" fmla="*/ 2659720 w 3600000"/>
              <a:gd name="connsiteY6691" fmla="*/ 73150 h 2787466"/>
              <a:gd name="connsiteX6692" fmla="*/ 2681327 w 3600000"/>
              <a:gd name="connsiteY6692" fmla="*/ 70197 h 2787466"/>
              <a:gd name="connsiteX6693" fmla="*/ 3082029 w 3600000"/>
              <a:gd name="connsiteY6693" fmla="*/ 68632 h 2787466"/>
              <a:gd name="connsiteX6694" fmla="*/ 3096590 w 3600000"/>
              <a:gd name="connsiteY6694" fmla="*/ 101059 h 2787466"/>
              <a:gd name="connsiteX6695" fmla="*/ 3082029 w 3600000"/>
              <a:gd name="connsiteY6695" fmla="*/ 68632 h 2787466"/>
              <a:gd name="connsiteX6696" fmla="*/ 2717124 w 3600000"/>
              <a:gd name="connsiteY6696" fmla="*/ 66552 h 2787466"/>
              <a:gd name="connsiteX6697" fmla="*/ 2720994 w 3600000"/>
              <a:gd name="connsiteY6697" fmla="*/ 75408 h 2787466"/>
              <a:gd name="connsiteX6698" fmla="*/ 2717124 w 3600000"/>
              <a:gd name="connsiteY6698" fmla="*/ 66552 h 2787466"/>
              <a:gd name="connsiteX6699" fmla="*/ 2575213 w 3600000"/>
              <a:gd name="connsiteY6699" fmla="*/ 54766 h 2787466"/>
              <a:gd name="connsiteX6700" fmla="*/ 2594995 w 3600000"/>
              <a:gd name="connsiteY6700" fmla="*/ 58766 h 2787466"/>
              <a:gd name="connsiteX6701" fmla="*/ 2575213 w 3600000"/>
              <a:gd name="connsiteY6701" fmla="*/ 54766 h 2787466"/>
              <a:gd name="connsiteX6702" fmla="*/ 3109519 w 3600000"/>
              <a:gd name="connsiteY6702" fmla="*/ 53380 h 2787466"/>
              <a:gd name="connsiteX6703" fmla="*/ 3120214 w 3600000"/>
              <a:gd name="connsiteY6703" fmla="*/ 57457 h 2787466"/>
              <a:gd name="connsiteX6704" fmla="*/ 3117487 w 3600000"/>
              <a:gd name="connsiteY6704" fmla="*/ 58436 h 2787466"/>
              <a:gd name="connsiteX6705" fmla="*/ 3117487 w 3600000"/>
              <a:gd name="connsiteY6705" fmla="*/ 61535 h 2787466"/>
              <a:gd name="connsiteX6706" fmla="*/ 3109519 w 3600000"/>
              <a:gd name="connsiteY6706" fmla="*/ 53380 h 2787466"/>
              <a:gd name="connsiteX6707" fmla="*/ 3361990 w 3600000"/>
              <a:gd name="connsiteY6707" fmla="*/ 46447 h 2787466"/>
              <a:gd name="connsiteX6708" fmla="*/ 3364788 w 3600000"/>
              <a:gd name="connsiteY6708" fmla="*/ 62236 h 2787466"/>
              <a:gd name="connsiteX6709" fmla="*/ 3361990 w 3600000"/>
              <a:gd name="connsiteY6709" fmla="*/ 46447 h 2787466"/>
              <a:gd name="connsiteX6710" fmla="*/ 2543195 w 3600000"/>
              <a:gd name="connsiteY6710" fmla="*/ 41595 h 2787466"/>
              <a:gd name="connsiteX6711" fmla="*/ 2539149 w 3600000"/>
              <a:gd name="connsiteY6711" fmla="*/ 56687 h 2787466"/>
              <a:gd name="connsiteX6712" fmla="*/ 2529779 w 3600000"/>
              <a:gd name="connsiteY6712" fmla="*/ 56687 h 2787466"/>
              <a:gd name="connsiteX6713" fmla="*/ 2531056 w 3600000"/>
              <a:gd name="connsiteY6713" fmla="*/ 43659 h 2787466"/>
              <a:gd name="connsiteX6714" fmla="*/ 2543195 w 3600000"/>
              <a:gd name="connsiteY6714" fmla="*/ 41595 h 2787466"/>
              <a:gd name="connsiteX6715" fmla="*/ 3048133 w 3600000"/>
              <a:gd name="connsiteY6715" fmla="*/ 18716 h 2787466"/>
              <a:gd name="connsiteX6716" fmla="*/ 3048133 w 3600000"/>
              <a:gd name="connsiteY6716" fmla="*/ 22543 h 2787466"/>
              <a:gd name="connsiteX6717" fmla="*/ 3054791 w 3600000"/>
              <a:gd name="connsiteY6717" fmla="*/ 25451 h 2787466"/>
              <a:gd name="connsiteX6718" fmla="*/ 3042933 w 3600000"/>
              <a:gd name="connsiteY6718" fmla="*/ 30349 h 2787466"/>
              <a:gd name="connsiteX6719" fmla="*/ 3048133 w 3600000"/>
              <a:gd name="connsiteY6719" fmla="*/ 18716 h 2787466"/>
              <a:gd name="connsiteX6720" fmla="*/ 3120790 w 3600000"/>
              <a:gd name="connsiteY6720" fmla="*/ 15943 h 2787466"/>
              <a:gd name="connsiteX6721" fmla="*/ 3122034 w 3600000"/>
              <a:gd name="connsiteY6721" fmla="*/ 25952 h 2787466"/>
              <a:gd name="connsiteX6722" fmla="*/ 3112915 w 3600000"/>
              <a:gd name="connsiteY6722" fmla="*/ 24998 h 2787466"/>
              <a:gd name="connsiteX6723" fmla="*/ 3112915 w 3600000"/>
              <a:gd name="connsiteY6723" fmla="*/ 31036 h 2787466"/>
              <a:gd name="connsiteX6724" fmla="*/ 3120790 w 3600000"/>
              <a:gd name="connsiteY6724" fmla="*/ 15943 h 2787466"/>
              <a:gd name="connsiteX6725" fmla="*/ 3078274 w 3600000"/>
              <a:gd name="connsiteY6725" fmla="*/ 14557 h 2787466"/>
              <a:gd name="connsiteX6726" fmla="*/ 3087501 w 3600000"/>
              <a:gd name="connsiteY6726" fmla="*/ 51144 h 2787466"/>
              <a:gd name="connsiteX6727" fmla="*/ 3078274 w 3600000"/>
              <a:gd name="connsiteY6727" fmla="*/ 14557 h 2787466"/>
              <a:gd name="connsiteX6728" fmla="*/ 2865179 w 3600000"/>
              <a:gd name="connsiteY6728" fmla="*/ 13863 h 2787466"/>
              <a:gd name="connsiteX6729" fmla="*/ 2873054 w 3600000"/>
              <a:gd name="connsiteY6729" fmla="*/ 16882 h 2787466"/>
              <a:gd name="connsiteX6730" fmla="*/ 2849635 w 3600000"/>
              <a:gd name="connsiteY6730" fmla="*/ 21807 h 2787466"/>
              <a:gd name="connsiteX6731" fmla="*/ 2859997 w 3600000"/>
              <a:gd name="connsiteY6731" fmla="*/ 20854 h 2787466"/>
              <a:gd name="connsiteX6732" fmla="*/ 2858755 w 3600000"/>
              <a:gd name="connsiteY6732" fmla="*/ 15929 h 2787466"/>
              <a:gd name="connsiteX6733" fmla="*/ 2865179 w 3600000"/>
              <a:gd name="connsiteY6733" fmla="*/ 13863 h 2787466"/>
              <a:gd name="connsiteX6734" fmla="*/ 3128386 w 3600000"/>
              <a:gd name="connsiteY6734" fmla="*/ 0 h 2787466"/>
              <a:gd name="connsiteX6735" fmla="*/ 3128387 w 3600000"/>
              <a:gd name="connsiteY6735" fmla="*/ 0 h 2787466"/>
              <a:gd name="connsiteX6736" fmla="*/ 3135108 w 3600000"/>
              <a:gd name="connsiteY6736" fmla="*/ 8191 h 2787466"/>
              <a:gd name="connsiteX6737" fmla="*/ 3141201 w 3600000"/>
              <a:gd name="connsiteY6737" fmla="*/ 39358 h 2787466"/>
              <a:gd name="connsiteX6738" fmla="*/ 3130731 w 3600000"/>
              <a:gd name="connsiteY6738" fmla="*/ 11969 h 2787466"/>
              <a:gd name="connsiteX6739" fmla="*/ 2831463 w 3600000"/>
              <a:gd name="connsiteY6739" fmla="*/ 0 h 2787466"/>
              <a:gd name="connsiteX6740" fmla="*/ 2831464 w 3600000"/>
              <a:gd name="connsiteY6740" fmla="*/ 0 h 2787466"/>
              <a:gd name="connsiteX6741" fmla="*/ 2834070 w 3600000"/>
              <a:gd name="connsiteY6741" fmla="*/ 1868 h 2787466"/>
              <a:gd name="connsiteX6742" fmla="*/ 2846709 w 3600000"/>
              <a:gd name="connsiteY6742" fmla="*/ 13708 h 2787466"/>
              <a:gd name="connsiteX6743" fmla="*/ 2838182 w 3600000"/>
              <a:gd name="connsiteY6743" fmla="*/ 7203 h 2787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Lst>
            <a:rect l="l" t="t" r="r" b="b"/>
            <a:pathLst>
              <a:path w="3600000" h="2787466">
                <a:moveTo>
                  <a:pt x="895609" y="2704927"/>
                </a:moveTo>
                <a:cubicBezTo>
                  <a:pt x="894373" y="2707914"/>
                  <a:pt x="897052" y="2713889"/>
                  <a:pt x="902204" y="2714989"/>
                </a:cubicBezTo>
                <a:cubicBezTo>
                  <a:pt x="907355" y="2712002"/>
                  <a:pt x="899525" y="2706027"/>
                  <a:pt x="895609" y="2704927"/>
                </a:cubicBezTo>
                <a:close/>
                <a:moveTo>
                  <a:pt x="696344" y="2533081"/>
                </a:moveTo>
                <a:cubicBezTo>
                  <a:pt x="688719" y="2535125"/>
                  <a:pt x="692634" y="2538112"/>
                  <a:pt x="689955" y="2539998"/>
                </a:cubicBezTo>
                <a:cubicBezTo>
                  <a:pt x="693870" y="2539998"/>
                  <a:pt x="696344" y="2544086"/>
                  <a:pt x="701702" y="2541098"/>
                </a:cubicBezTo>
                <a:cubicBezTo>
                  <a:pt x="696344" y="2538112"/>
                  <a:pt x="699023" y="2536068"/>
                  <a:pt x="696344" y="2533081"/>
                </a:cubicBezTo>
                <a:close/>
                <a:moveTo>
                  <a:pt x="1008945" y="2532137"/>
                </a:moveTo>
                <a:cubicBezTo>
                  <a:pt x="1003793" y="2533081"/>
                  <a:pt x="1006473" y="2542985"/>
                  <a:pt x="1012860" y="2538112"/>
                </a:cubicBezTo>
                <a:cubicBezTo>
                  <a:pt x="1008945" y="2538112"/>
                  <a:pt x="1008945" y="2537011"/>
                  <a:pt x="1014097" y="2534181"/>
                </a:cubicBezTo>
                <a:cubicBezTo>
                  <a:pt x="1012860" y="2534181"/>
                  <a:pt x="1010388" y="2533081"/>
                  <a:pt x="1008945" y="2532137"/>
                </a:cubicBezTo>
                <a:close/>
                <a:moveTo>
                  <a:pt x="995963" y="2529150"/>
                </a:moveTo>
                <a:cubicBezTo>
                  <a:pt x="989369" y="2529150"/>
                  <a:pt x="988133" y="2535125"/>
                  <a:pt x="990811" y="2538112"/>
                </a:cubicBezTo>
                <a:cubicBezTo>
                  <a:pt x="984218" y="2539998"/>
                  <a:pt x="990811" y="2532137"/>
                  <a:pt x="982981" y="2535125"/>
                </a:cubicBezTo>
                <a:cubicBezTo>
                  <a:pt x="975151" y="2542042"/>
                  <a:pt x="993284" y="2551004"/>
                  <a:pt x="980302" y="2556978"/>
                </a:cubicBezTo>
                <a:cubicBezTo>
                  <a:pt x="986897" y="2562953"/>
                  <a:pt x="1002557" y="2564840"/>
                  <a:pt x="1007709" y="2556978"/>
                </a:cubicBezTo>
                <a:cubicBezTo>
                  <a:pt x="1001115" y="2557922"/>
                  <a:pt x="993284" y="2560909"/>
                  <a:pt x="989369" y="2554934"/>
                </a:cubicBezTo>
                <a:cubicBezTo>
                  <a:pt x="998642" y="2553991"/>
                  <a:pt x="998642" y="2552891"/>
                  <a:pt x="1006473" y="2550061"/>
                </a:cubicBezTo>
                <a:cubicBezTo>
                  <a:pt x="1002557" y="2548017"/>
                  <a:pt x="999879" y="2545029"/>
                  <a:pt x="1007709" y="2542985"/>
                </a:cubicBezTo>
                <a:cubicBezTo>
                  <a:pt x="998642" y="2537011"/>
                  <a:pt x="997200" y="2536068"/>
                  <a:pt x="995963" y="2529150"/>
                </a:cubicBezTo>
                <a:close/>
                <a:moveTo>
                  <a:pt x="985454" y="2525219"/>
                </a:moveTo>
                <a:cubicBezTo>
                  <a:pt x="979066" y="2527106"/>
                  <a:pt x="980302" y="2530093"/>
                  <a:pt x="982981" y="2533081"/>
                </a:cubicBezTo>
                <a:cubicBezTo>
                  <a:pt x="988133" y="2531193"/>
                  <a:pt x="988133" y="2528207"/>
                  <a:pt x="985454" y="2525219"/>
                </a:cubicBezTo>
                <a:close/>
                <a:moveTo>
                  <a:pt x="825341" y="2520188"/>
                </a:moveTo>
                <a:cubicBezTo>
                  <a:pt x="818952" y="2523176"/>
                  <a:pt x="822868" y="2528207"/>
                  <a:pt x="828020" y="2528207"/>
                </a:cubicBezTo>
                <a:cubicBezTo>
                  <a:pt x="835850" y="2524119"/>
                  <a:pt x="829256" y="2525219"/>
                  <a:pt x="825341" y="2520188"/>
                </a:cubicBezTo>
                <a:close/>
                <a:moveTo>
                  <a:pt x="841002" y="2511226"/>
                </a:moveTo>
                <a:cubicBezTo>
                  <a:pt x="837086" y="2511226"/>
                  <a:pt x="830492" y="2512170"/>
                  <a:pt x="830492" y="2515157"/>
                </a:cubicBezTo>
                <a:cubicBezTo>
                  <a:pt x="841002" y="2513271"/>
                  <a:pt x="838323" y="2518144"/>
                  <a:pt x="838323" y="2523176"/>
                </a:cubicBezTo>
                <a:cubicBezTo>
                  <a:pt x="841002" y="2522232"/>
                  <a:pt x="842238" y="2521131"/>
                  <a:pt x="841002" y="2520188"/>
                </a:cubicBezTo>
                <a:cubicBezTo>
                  <a:pt x="844917" y="2519245"/>
                  <a:pt x="847390" y="2523176"/>
                  <a:pt x="851305" y="2519245"/>
                </a:cubicBezTo>
                <a:cubicBezTo>
                  <a:pt x="848832" y="2517201"/>
                  <a:pt x="838323" y="2514213"/>
                  <a:pt x="841002" y="2511226"/>
                </a:cubicBezTo>
                <a:close/>
                <a:moveTo>
                  <a:pt x="993284" y="2497391"/>
                </a:moveTo>
                <a:cubicBezTo>
                  <a:pt x="986897" y="2502265"/>
                  <a:pt x="989369" y="2507296"/>
                  <a:pt x="992048" y="2513271"/>
                </a:cubicBezTo>
                <a:cubicBezTo>
                  <a:pt x="999879" y="2508239"/>
                  <a:pt x="992048" y="2502265"/>
                  <a:pt x="993284" y="2497391"/>
                </a:cubicBezTo>
                <a:close/>
                <a:moveTo>
                  <a:pt x="1005030" y="2477423"/>
                </a:moveTo>
                <a:cubicBezTo>
                  <a:pt x="998642" y="2479466"/>
                  <a:pt x="1007709" y="2482455"/>
                  <a:pt x="1002557" y="2484499"/>
                </a:cubicBezTo>
                <a:cubicBezTo>
                  <a:pt x="1007709" y="2487485"/>
                  <a:pt x="1011624" y="2480410"/>
                  <a:pt x="1005030" y="2477423"/>
                </a:cubicBezTo>
                <a:close/>
                <a:moveTo>
                  <a:pt x="718599" y="2437645"/>
                </a:moveTo>
                <a:cubicBezTo>
                  <a:pt x="718599" y="2437645"/>
                  <a:pt x="718599" y="2437645"/>
                  <a:pt x="710768" y="2441733"/>
                </a:cubicBezTo>
                <a:cubicBezTo>
                  <a:pt x="722514" y="2446608"/>
                  <a:pt x="723750" y="2455569"/>
                  <a:pt x="729108" y="2464530"/>
                </a:cubicBezTo>
                <a:cubicBezTo>
                  <a:pt x="738175" y="2453682"/>
                  <a:pt x="719836" y="2444720"/>
                  <a:pt x="718599" y="2437645"/>
                </a:cubicBezTo>
                <a:close/>
                <a:moveTo>
                  <a:pt x="1338145" y="2420888"/>
                </a:moveTo>
                <a:cubicBezTo>
                  <a:pt x="1351010" y="2422891"/>
                  <a:pt x="1345905" y="2425818"/>
                  <a:pt x="1343250" y="2433521"/>
                </a:cubicBezTo>
                <a:cubicBezTo>
                  <a:pt x="1339370" y="2428745"/>
                  <a:pt x="1314867" y="2437373"/>
                  <a:pt x="1317522" y="2426743"/>
                </a:cubicBezTo>
                <a:cubicBezTo>
                  <a:pt x="1325281" y="2428745"/>
                  <a:pt x="1338145" y="2420888"/>
                  <a:pt x="1335491" y="2429670"/>
                </a:cubicBezTo>
                <a:cubicBezTo>
                  <a:pt x="1347130" y="2427667"/>
                  <a:pt x="1335491" y="2425818"/>
                  <a:pt x="1338145" y="2420888"/>
                </a:cubicBezTo>
                <a:close/>
                <a:moveTo>
                  <a:pt x="714684" y="2411861"/>
                </a:moveTo>
                <a:cubicBezTo>
                  <a:pt x="710768" y="2418936"/>
                  <a:pt x="714684" y="2425853"/>
                  <a:pt x="713447" y="2433715"/>
                </a:cubicBezTo>
                <a:cubicBezTo>
                  <a:pt x="717363" y="2434816"/>
                  <a:pt x="719836" y="2433715"/>
                  <a:pt x="723750" y="2431828"/>
                </a:cubicBezTo>
                <a:cubicBezTo>
                  <a:pt x="719836" y="2425853"/>
                  <a:pt x="718599" y="2418936"/>
                  <a:pt x="714684" y="2411861"/>
                </a:cubicBezTo>
                <a:close/>
                <a:moveTo>
                  <a:pt x="1133310" y="2397717"/>
                </a:moveTo>
                <a:cubicBezTo>
                  <a:pt x="1134527" y="2399592"/>
                  <a:pt x="1134527" y="2400685"/>
                  <a:pt x="1138379" y="2401623"/>
                </a:cubicBezTo>
                <a:cubicBezTo>
                  <a:pt x="1130674" y="2407559"/>
                  <a:pt x="1122969" y="2402560"/>
                  <a:pt x="1114048" y="2401623"/>
                </a:cubicBezTo>
                <a:cubicBezTo>
                  <a:pt x="1117900" y="2397717"/>
                  <a:pt x="1124389" y="2396623"/>
                  <a:pt x="1133310" y="2397717"/>
                </a:cubicBezTo>
                <a:close/>
                <a:moveTo>
                  <a:pt x="1151513" y="2395630"/>
                </a:moveTo>
                <a:lnTo>
                  <a:pt x="1157126" y="2398484"/>
                </a:lnTo>
                <a:lnTo>
                  <a:pt x="1157717" y="2397956"/>
                </a:lnTo>
                <a:close/>
                <a:moveTo>
                  <a:pt x="1394595" y="2385531"/>
                </a:moveTo>
                <a:cubicBezTo>
                  <a:pt x="1404626" y="2385531"/>
                  <a:pt x="1403423" y="2390602"/>
                  <a:pt x="1402219" y="2395515"/>
                </a:cubicBezTo>
                <a:cubicBezTo>
                  <a:pt x="1390784" y="2396465"/>
                  <a:pt x="1389379" y="2388542"/>
                  <a:pt x="1394595" y="2385531"/>
                </a:cubicBezTo>
                <a:close/>
                <a:moveTo>
                  <a:pt x="719836" y="2378057"/>
                </a:moveTo>
                <a:cubicBezTo>
                  <a:pt x="717363" y="2377114"/>
                  <a:pt x="714684" y="2378057"/>
                  <a:pt x="712005" y="2379158"/>
                </a:cubicBezTo>
                <a:cubicBezTo>
                  <a:pt x="717363" y="2388120"/>
                  <a:pt x="714684" y="2395038"/>
                  <a:pt x="717363" y="2399912"/>
                </a:cubicBezTo>
                <a:cubicBezTo>
                  <a:pt x="721277" y="2403999"/>
                  <a:pt x="725193" y="2406987"/>
                  <a:pt x="731581" y="2403999"/>
                </a:cubicBezTo>
                <a:cubicBezTo>
                  <a:pt x="729108" y="2395038"/>
                  <a:pt x="725193" y="2384032"/>
                  <a:pt x="719836" y="2378057"/>
                </a:cubicBezTo>
                <a:close/>
                <a:moveTo>
                  <a:pt x="1343843" y="2373053"/>
                </a:moveTo>
                <a:cubicBezTo>
                  <a:pt x="1352828" y="2373971"/>
                  <a:pt x="1345272" y="2384685"/>
                  <a:pt x="1334858" y="2383614"/>
                </a:cubicBezTo>
                <a:cubicBezTo>
                  <a:pt x="1334858" y="2377798"/>
                  <a:pt x="1341393" y="2376879"/>
                  <a:pt x="1343843" y="2373053"/>
                </a:cubicBezTo>
                <a:close/>
                <a:moveTo>
                  <a:pt x="1340102" y="2364025"/>
                </a:moveTo>
                <a:cubicBezTo>
                  <a:pt x="1337606" y="2377053"/>
                  <a:pt x="1337606" y="2377053"/>
                  <a:pt x="1337606" y="2377053"/>
                </a:cubicBezTo>
                <a:cubicBezTo>
                  <a:pt x="1333654" y="2374035"/>
                  <a:pt x="1330950" y="2367044"/>
                  <a:pt x="1325749" y="2374035"/>
                </a:cubicBezTo>
                <a:cubicBezTo>
                  <a:pt x="1323045" y="2374035"/>
                  <a:pt x="1323045" y="2373081"/>
                  <a:pt x="1323045" y="2372128"/>
                </a:cubicBezTo>
                <a:cubicBezTo>
                  <a:pt x="1325749" y="2374035"/>
                  <a:pt x="1324294" y="2361960"/>
                  <a:pt x="1340102" y="2364025"/>
                </a:cubicBezTo>
                <a:close/>
                <a:moveTo>
                  <a:pt x="1374822" y="2356335"/>
                </a:moveTo>
                <a:cubicBezTo>
                  <a:pt x="1392236" y="2355721"/>
                  <a:pt x="1412403" y="2358256"/>
                  <a:pt x="1422795" y="2360316"/>
                </a:cubicBezTo>
                <a:cubicBezTo>
                  <a:pt x="1413535" y="2368240"/>
                  <a:pt x="1395426" y="2367289"/>
                  <a:pt x="1390281" y="2379332"/>
                </a:cubicBezTo>
                <a:cubicBezTo>
                  <a:pt x="1371966" y="2383293"/>
                  <a:pt x="1359002" y="2368240"/>
                  <a:pt x="1343362" y="2371250"/>
                </a:cubicBezTo>
                <a:cubicBezTo>
                  <a:pt x="1342745" y="2360713"/>
                  <a:pt x="1357407" y="2356949"/>
                  <a:pt x="1374822" y="2356335"/>
                </a:cubicBezTo>
                <a:close/>
                <a:moveTo>
                  <a:pt x="1302964" y="2316362"/>
                </a:moveTo>
                <a:lnTo>
                  <a:pt x="1300638" y="2317209"/>
                </a:lnTo>
                <a:lnTo>
                  <a:pt x="1286231" y="2336409"/>
                </a:lnTo>
                <a:lnTo>
                  <a:pt x="1289981" y="2341203"/>
                </a:lnTo>
                <a:cubicBezTo>
                  <a:pt x="1289981" y="2337115"/>
                  <a:pt x="1286065" y="2330197"/>
                  <a:pt x="1296576" y="2330197"/>
                </a:cubicBezTo>
                <a:cubicBezTo>
                  <a:pt x="1300491" y="2333184"/>
                  <a:pt x="1304407" y="2336172"/>
                  <a:pt x="1309559" y="2339159"/>
                </a:cubicBezTo>
                <a:cubicBezTo>
                  <a:pt x="1308322" y="2330197"/>
                  <a:pt x="1314711" y="2328153"/>
                  <a:pt x="1326458" y="2330197"/>
                </a:cubicBezTo>
                <a:cubicBezTo>
                  <a:pt x="1325222" y="2322179"/>
                  <a:pt x="1342120" y="2322179"/>
                  <a:pt x="1336968" y="2316362"/>
                </a:cubicBezTo>
                <a:cubicBezTo>
                  <a:pt x="1329137" y="2316362"/>
                  <a:pt x="1326458" y="2319349"/>
                  <a:pt x="1318627" y="2317305"/>
                </a:cubicBezTo>
                <a:cubicBezTo>
                  <a:pt x="1315947" y="2321236"/>
                  <a:pt x="1321305" y="2323280"/>
                  <a:pt x="1321305" y="2326267"/>
                </a:cubicBezTo>
                <a:cubicBezTo>
                  <a:pt x="1317391" y="2327210"/>
                  <a:pt x="1313475" y="2329253"/>
                  <a:pt x="1308322" y="2329253"/>
                </a:cubicBezTo>
                <a:cubicBezTo>
                  <a:pt x="1312238" y="2322179"/>
                  <a:pt x="1304407" y="2320292"/>
                  <a:pt x="1302964" y="2316362"/>
                </a:cubicBezTo>
                <a:close/>
                <a:moveTo>
                  <a:pt x="1359020" y="2312274"/>
                </a:moveTo>
                <a:cubicBezTo>
                  <a:pt x="1351189" y="2312274"/>
                  <a:pt x="1346036" y="2312274"/>
                  <a:pt x="1343357" y="2315261"/>
                </a:cubicBezTo>
                <a:cubicBezTo>
                  <a:pt x="1349952" y="2315261"/>
                  <a:pt x="1339442" y="2323280"/>
                  <a:pt x="1349952" y="2321236"/>
                </a:cubicBezTo>
                <a:cubicBezTo>
                  <a:pt x="1349952" y="2315261"/>
                  <a:pt x="1355104" y="2314318"/>
                  <a:pt x="1359020" y="2312274"/>
                </a:cubicBezTo>
                <a:close/>
                <a:moveTo>
                  <a:pt x="1479103" y="2234134"/>
                </a:moveTo>
                <a:cubicBezTo>
                  <a:pt x="1481811" y="2233991"/>
                  <a:pt x="1485322" y="2234480"/>
                  <a:pt x="1489134" y="2234970"/>
                </a:cubicBezTo>
                <a:cubicBezTo>
                  <a:pt x="1489134" y="2240190"/>
                  <a:pt x="1481510" y="2238069"/>
                  <a:pt x="1481510" y="2241168"/>
                </a:cubicBezTo>
                <a:cubicBezTo>
                  <a:pt x="1477699" y="2240190"/>
                  <a:pt x="1477699" y="2238069"/>
                  <a:pt x="1473887" y="2237090"/>
                </a:cubicBezTo>
                <a:cubicBezTo>
                  <a:pt x="1474489" y="2235052"/>
                  <a:pt x="1476394" y="2234277"/>
                  <a:pt x="1479103" y="2234134"/>
                </a:cubicBezTo>
                <a:close/>
                <a:moveTo>
                  <a:pt x="1484374" y="2205975"/>
                </a:moveTo>
                <a:cubicBezTo>
                  <a:pt x="1500032" y="2208945"/>
                  <a:pt x="1464800" y="2221764"/>
                  <a:pt x="1468715" y="2209883"/>
                </a:cubicBezTo>
                <a:cubicBezTo>
                  <a:pt x="1476544" y="2209883"/>
                  <a:pt x="1480459" y="2208007"/>
                  <a:pt x="1484374" y="2205975"/>
                </a:cubicBezTo>
                <a:close/>
                <a:moveTo>
                  <a:pt x="1419177" y="2182772"/>
                </a:moveTo>
                <a:lnTo>
                  <a:pt x="1419120" y="2183899"/>
                </a:lnTo>
                <a:lnTo>
                  <a:pt x="1421463" y="2183196"/>
                </a:lnTo>
                <a:close/>
                <a:moveTo>
                  <a:pt x="1379834" y="2127539"/>
                </a:moveTo>
                <a:cubicBezTo>
                  <a:pt x="1377155" y="2130527"/>
                  <a:pt x="1368087" y="2127539"/>
                  <a:pt x="1369530" y="2133514"/>
                </a:cubicBezTo>
                <a:cubicBezTo>
                  <a:pt x="1377155" y="2136501"/>
                  <a:pt x="1387665" y="2130527"/>
                  <a:pt x="1379834" y="2127539"/>
                </a:cubicBezTo>
                <a:close/>
                <a:moveTo>
                  <a:pt x="1443721" y="2121565"/>
                </a:moveTo>
                <a:cubicBezTo>
                  <a:pt x="1444957" y="2126596"/>
                  <a:pt x="1433210" y="2130527"/>
                  <a:pt x="1439805" y="2132571"/>
                </a:cubicBezTo>
                <a:cubicBezTo>
                  <a:pt x="1446193" y="2130527"/>
                  <a:pt x="1448873" y="2125495"/>
                  <a:pt x="1443721" y="2121565"/>
                </a:cubicBezTo>
                <a:close/>
                <a:moveTo>
                  <a:pt x="1392126" y="2113736"/>
                </a:moveTo>
                <a:lnTo>
                  <a:pt x="1388902" y="2116692"/>
                </a:lnTo>
                <a:lnTo>
                  <a:pt x="1392545" y="2116692"/>
                </a:lnTo>
                <a:close/>
                <a:moveTo>
                  <a:pt x="1425094" y="2112185"/>
                </a:moveTo>
                <a:lnTo>
                  <a:pt x="1424932" y="2113799"/>
                </a:lnTo>
                <a:lnTo>
                  <a:pt x="1426822" y="2113704"/>
                </a:lnTo>
                <a:cubicBezTo>
                  <a:pt x="1425379" y="2119521"/>
                  <a:pt x="1428058" y="2123609"/>
                  <a:pt x="1435889" y="2125495"/>
                </a:cubicBezTo>
                <a:cubicBezTo>
                  <a:pt x="1437126" y="2122509"/>
                  <a:pt x="1433210" y="2121565"/>
                  <a:pt x="1431974" y="2119521"/>
                </a:cubicBezTo>
                <a:cubicBezTo>
                  <a:pt x="1434653" y="2119521"/>
                  <a:pt x="1435889" y="2117635"/>
                  <a:pt x="1435889" y="2115590"/>
                </a:cubicBezTo>
                <a:cubicBezTo>
                  <a:pt x="1434550" y="2114097"/>
                  <a:pt x="1431922" y="2113114"/>
                  <a:pt x="1428831" y="2112506"/>
                </a:cubicBezTo>
                <a:close/>
                <a:moveTo>
                  <a:pt x="1443721" y="2110717"/>
                </a:moveTo>
                <a:cubicBezTo>
                  <a:pt x="1435889" y="2120622"/>
                  <a:pt x="1455468" y="2122509"/>
                  <a:pt x="1457940" y="2114647"/>
                </a:cubicBezTo>
                <a:cubicBezTo>
                  <a:pt x="1454025" y="2112604"/>
                  <a:pt x="1450109" y="2111660"/>
                  <a:pt x="1443721" y="2110717"/>
                </a:cubicBezTo>
                <a:close/>
                <a:moveTo>
                  <a:pt x="1390576" y="2095093"/>
                </a:moveTo>
                <a:cubicBezTo>
                  <a:pt x="1386995" y="2095231"/>
                  <a:pt x="1383750" y="2096253"/>
                  <a:pt x="1383750" y="2098768"/>
                </a:cubicBezTo>
                <a:cubicBezTo>
                  <a:pt x="1390345" y="2099712"/>
                  <a:pt x="1396733" y="2100655"/>
                  <a:pt x="1399412" y="2096724"/>
                </a:cubicBezTo>
                <a:cubicBezTo>
                  <a:pt x="1398073" y="2095703"/>
                  <a:pt x="1394157" y="2094956"/>
                  <a:pt x="1390576" y="2095093"/>
                </a:cubicBezTo>
                <a:close/>
                <a:moveTo>
                  <a:pt x="1469044" y="2093012"/>
                </a:moveTo>
                <a:cubicBezTo>
                  <a:pt x="1472658" y="2094003"/>
                  <a:pt x="1475622" y="2096736"/>
                  <a:pt x="1473022" y="2099747"/>
                </a:cubicBezTo>
                <a:cubicBezTo>
                  <a:pt x="1470318" y="2097687"/>
                  <a:pt x="1466366" y="2096736"/>
                  <a:pt x="1461165" y="2096736"/>
                </a:cubicBezTo>
                <a:cubicBezTo>
                  <a:pt x="1461165" y="2092774"/>
                  <a:pt x="1465430" y="2092022"/>
                  <a:pt x="1469044" y="2093012"/>
                </a:cubicBezTo>
                <a:close/>
                <a:moveTo>
                  <a:pt x="1473603" y="2050030"/>
                </a:moveTo>
                <a:cubicBezTo>
                  <a:pt x="1468451" y="2055061"/>
                  <a:pt x="1451551" y="2059935"/>
                  <a:pt x="1455468" y="2065909"/>
                </a:cubicBezTo>
                <a:cubicBezTo>
                  <a:pt x="1461856" y="2062922"/>
                  <a:pt x="1463299" y="2056948"/>
                  <a:pt x="1473603" y="2058991"/>
                </a:cubicBezTo>
                <a:cubicBezTo>
                  <a:pt x="1472366" y="2061035"/>
                  <a:pt x="1482671" y="2061035"/>
                  <a:pt x="1477518" y="2058991"/>
                </a:cubicBezTo>
                <a:cubicBezTo>
                  <a:pt x="1464535" y="2056948"/>
                  <a:pt x="1481435" y="2053017"/>
                  <a:pt x="1473603" y="2050030"/>
                </a:cubicBezTo>
                <a:close/>
                <a:moveTo>
                  <a:pt x="1489265" y="2034150"/>
                </a:moveTo>
                <a:cubicBezTo>
                  <a:pt x="1490502" y="2038081"/>
                  <a:pt x="1482671" y="2035093"/>
                  <a:pt x="1478755" y="2037138"/>
                </a:cubicBezTo>
                <a:cubicBezTo>
                  <a:pt x="1477518" y="2039182"/>
                  <a:pt x="1480198" y="2041068"/>
                  <a:pt x="1482671" y="2042169"/>
                </a:cubicBezTo>
                <a:cubicBezTo>
                  <a:pt x="1486587" y="2040125"/>
                  <a:pt x="1501013" y="2038081"/>
                  <a:pt x="1489265" y="2034150"/>
                </a:cubicBezTo>
                <a:close/>
                <a:moveTo>
                  <a:pt x="596196" y="2000562"/>
                </a:moveTo>
                <a:cubicBezTo>
                  <a:pt x="593517" y="2002606"/>
                  <a:pt x="591044" y="2003550"/>
                  <a:pt x="589602" y="2002606"/>
                </a:cubicBezTo>
                <a:cubicBezTo>
                  <a:pt x="588366" y="2004493"/>
                  <a:pt x="589602" y="2005593"/>
                  <a:pt x="593517" y="2007480"/>
                </a:cubicBezTo>
                <a:cubicBezTo>
                  <a:pt x="597432" y="2005593"/>
                  <a:pt x="598875" y="2003550"/>
                  <a:pt x="596196" y="2000562"/>
                </a:cubicBezTo>
                <a:close/>
                <a:moveTo>
                  <a:pt x="587129" y="1988613"/>
                </a:moveTo>
                <a:cubicBezTo>
                  <a:pt x="579299" y="1990657"/>
                  <a:pt x="587129" y="1995688"/>
                  <a:pt x="583214" y="1997575"/>
                </a:cubicBezTo>
                <a:cubicBezTo>
                  <a:pt x="588366" y="1997575"/>
                  <a:pt x="592280" y="2000562"/>
                  <a:pt x="598875" y="1998676"/>
                </a:cubicBezTo>
                <a:cubicBezTo>
                  <a:pt x="592280" y="1993644"/>
                  <a:pt x="593517" y="1993644"/>
                  <a:pt x="587129" y="1988613"/>
                </a:cubicBezTo>
                <a:close/>
                <a:moveTo>
                  <a:pt x="597432" y="1971790"/>
                </a:moveTo>
                <a:cubicBezTo>
                  <a:pt x="594959" y="1976665"/>
                  <a:pt x="594959" y="1975721"/>
                  <a:pt x="587129" y="1977765"/>
                </a:cubicBezTo>
                <a:cubicBezTo>
                  <a:pt x="597432" y="1991601"/>
                  <a:pt x="598875" y="1969746"/>
                  <a:pt x="605262" y="1981695"/>
                </a:cubicBezTo>
                <a:cubicBezTo>
                  <a:pt x="611857" y="1977765"/>
                  <a:pt x="601348" y="1973834"/>
                  <a:pt x="597432" y="1971790"/>
                </a:cubicBezTo>
                <a:close/>
                <a:moveTo>
                  <a:pt x="587129" y="1956854"/>
                </a:moveTo>
                <a:cubicBezTo>
                  <a:pt x="581771" y="1961885"/>
                  <a:pt x="593517" y="1961885"/>
                  <a:pt x="596196" y="1963772"/>
                </a:cubicBezTo>
                <a:cubicBezTo>
                  <a:pt x="597432" y="1964872"/>
                  <a:pt x="593517" y="1965815"/>
                  <a:pt x="592280" y="1967860"/>
                </a:cubicBezTo>
                <a:cubicBezTo>
                  <a:pt x="594959" y="1972734"/>
                  <a:pt x="601348" y="1971790"/>
                  <a:pt x="607941" y="1971790"/>
                </a:cubicBezTo>
                <a:cubicBezTo>
                  <a:pt x="609178" y="1965815"/>
                  <a:pt x="596196" y="1963772"/>
                  <a:pt x="597432" y="1957955"/>
                </a:cubicBezTo>
                <a:cubicBezTo>
                  <a:pt x="592280" y="1959841"/>
                  <a:pt x="591044" y="1956854"/>
                  <a:pt x="587129" y="1956854"/>
                </a:cubicBezTo>
                <a:close/>
                <a:moveTo>
                  <a:pt x="1554788" y="1949919"/>
                </a:moveTo>
                <a:cubicBezTo>
                  <a:pt x="1553775" y="1950236"/>
                  <a:pt x="1551075" y="1951083"/>
                  <a:pt x="1545672" y="1952778"/>
                </a:cubicBezTo>
                <a:cubicBezTo>
                  <a:pt x="1545672" y="1952778"/>
                  <a:pt x="1557826" y="1948965"/>
                  <a:pt x="1554788" y="1949919"/>
                </a:cubicBezTo>
                <a:close/>
                <a:moveTo>
                  <a:pt x="1579484" y="1884182"/>
                </a:moveTo>
                <a:cubicBezTo>
                  <a:pt x="1579740" y="1884065"/>
                  <a:pt x="1580480" y="1884560"/>
                  <a:pt x="1581784" y="1886033"/>
                </a:cubicBezTo>
                <a:cubicBezTo>
                  <a:pt x="1585596" y="1886033"/>
                  <a:pt x="1586800" y="1884947"/>
                  <a:pt x="1591815" y="1886963"/>
                </a:cubicBezTo>
                <a:cubicBezTo>
                  <a:pt x="1588003" y="1891770"/>
                  <a:pt x="1588003" y="1891770"/>
                  <a:pt x="1588003" y="1891770"/>
                </a:cubicBezTo>
                <a:cubicBezTo>
                  <a:pt x="1582286" y="1890374"/>
                  <a:pt x="1578712" y="1884530"/>
                  <a:pt x="1579484" y="1884182"/>
                </a:cubicBezTo>
                <a:close/>
                <a:moveTo>
                  <a:pt x="1543878" y="1883219"/>
                </a:moveTo>
                <a:cubicBezTo>
                  <a:pt x="1537489" y="1883219"/>
                  <a:pt x="1542642" y="1889035"/>
                  <a:pt x="1551710" y="1891080"/>
                </a:cubicBezTo>
                <a:cubicBezTo>
                  <a:pt x="1555625" y="1888092"/>
                  <a:pt x="1543878" y="1886205"/>
                  <a:pt x="1543878" y="1883219"/>
                </a:cubicBezTo>
                <a:close/>
                <a:moveTo>
                  <a:pt x="412877" y="1882219"/>
                </a:moveTo>
                <a:cubicBezTo>
                  <a:pt x="423239" y="1884239"/>
                  <a:pt x="433809" y="1885171"/>
                  <a:pt x="435052" y="1891077"/>
                </a:cubicBezTo>
                <a:cubicBezTo>
                  <a:pt x="423239" y="1891077"/>
                  <a:pt x="411634" y="1889056"/>
                  <a:pt x="412877" y="1882219"/>
                </a:cubicBezTo>
                <a:close/>
                <a:moveTo>
                  <a:pt x="49134" y="1866274"/>
                </a:moveTo>
                <a:cubicBezTo>
                  <a:pt x="51839" y="1867249"/>
                  <a:pt x="54335" y="1868387"/>
                  <a:pt x="57039" y="1869361"/>
                </a:cubicBezTo>
                <a:cubicBezTo>
                  <a:pt x="51839" y="1872449"/>
                  <a:pt x="47886" y="1876511"/>
                  <a:pt x="39982" y="1873424"/>
                </a:cubicBezTo>
                <a:cubicBezTo>
                  <a:pt x="41230" y="1869361"/>
                  <a:pt x="46430" y="1869361"/>
                  <a:pt x="49134" y="1866274"/>
                </a:cubicBezTo>
                <a:close/>
                <a:moveTo>
                  <a:pt x="358930" y="1842703"/>
                </a:moveTo>
                <a:cubicBezTo>
                  <a:pt x="368301" y="1842703"/>
                  <a:pt x="371069" y="1846863"/>
                  <a:pt x="372348" y="1850863"/>
                </a:cubicBezTo>
                <a:cubicBezTo>
                  <a:pt x="365533" y="1849903"/>
                  <a:pt x="358930" y="1847823"/>
                  <a:pt x="358930" y="1842703"/>
                </a:cubicBezTo>
                <a:close/>
                <a:moveTo>
                  <a:pt x="1632348" y="1835770"/>
                </a:moveTo>
                <a:cubicBezTo>
                  <a:pt x="1633606" y="1836730"/>
                  <a:pt x="1635074" y="1838811"/>
                  <a:pt x="1639058" y="1840890"/>
                </a:cubicBezTo>
                <a:cubicBezTo>
                  <a:pt x="1633606" y="1838811"/>
                  <a:pt x="1639058" y="1842810"/>
                  <a:pt x="1635074" y="1843930"/>
                </a:cubicBezTo>
                <a:cubicBezTo>
                  <a:pt x="1628363" y="1839770"/>
                  <a:pt x="1631089" y="1837850"/>
                  <a:pt x="1632348" y="1835770"/>
                </a:cubicBezTo>
                <a:close/>
                <a:moveTo>
                  <a:pt x="1548570" y="1835049"/>
                </a:moveTo>
                <a:lnTo>
                  <a:pt x="1547628" y="1836411"/>
                </a:lnTo>
                <a:lnTo>
                  <a:pt x="1550499" y="1839059"/>
                </a:lnTo>
                <a:cubicBezTo>
                  <a:pt x="1550164" y="1839943"/>
                  <a:pt x="1548515" y="1840454"/>
                  <a:pt x="1546558" y="1840454"/>
                </a:cubicBezTo>
                <a:cubicBezTo>
                  <a:pt x="1554388" y="1846429"/>
                  <a:pt x="1559541" y="1840454"/>
                  <a:pt x="1555625" y="1837467"/>
                </a:cubicBezTo>
                <a:cubicBezTo>
                  <a:pt x="1554157" y="1838941"/>
                  <a:pt x="1552891" y="1838602"/>
                  <a:pt x="1551742" y="1837760"/>
                </a:cubicBezTo>
                <a:close/>
                <a:moveTo>
                  <a:pt x="1615403" y="1834854"/>
                </a:moveTo>
                <a:cubicBezTo>
                  <a:pt x="1616795" y="1835206"/>
                  <a:pt x="1618894" y="1836147"/>
                  <a:pt x="1621794" y="1837890"/>
                </a:cubicBezTo>
                <a:cubicBezTo>
                  <a:pt x="1617857" y="1838841"/>
                  <a:pt x="1619309" y="1837890"/>
                  <a:pt x="1619309" y="1841851"/>
                </a:cubicBezTo>
                <a:cubicBezTo>
                  <a:pt x="1613402" y="1838049"/>
                  <a:pt x="1611226" y="1833800"/>
                  <a:pt x="1615403" y="1834854"/>
                </a:cubicBezTo>
                <a:close/>
                <a:moveTo>
                  <a:pt x="1564693" y="1834480"/>
                </a:moveTo>
                <a:cubicBezTo>
                  <a:pt x="1567372" y="1837467"/>
                  <a:pt x="1576439" y="1840454"/>
                  <a:pt x="1575203" y="1842341"/>
                </a:cubicBezTo>
                <a:cubicBezTo>
                  <a:pt x="1575203" y="1842341"/>
                  <a:pt x="1575203" y="1842341"/>
                  <a:pt x="1566135" y="1842341"/>
                </a:cubicBezTo>
                <a:cubicBezTo>
                  <a:pt x="1571288" y="1846429"/>
                  <a:pt x="1575203" y="1845328"/>
                  <a:pt x="1576439" y="1842341"/>
                </a:cubicBezTo>
                <a:cubicBezTo>
                  <a:pt x="1577882" y="1839354"/>
                  <a:pt x="1575203" y="1835423"/>
                  <a:pt x="1564693" y="1834480"/>
                </a:cubicBezTo>
                <a:close/>
                <a:moveTo>
                  <a:pt x="551354" y="1831707"/>
                </a:moveTo>
                <a:cubicBezTo>
                  <a:pt x="550056" y="1831493"/>
                  <a:pt x="548510" y="1831906"/>
                  <a:pt x="546552" y="1833360"/>
                </a:cubicBezTo>
                <a:lnTo>
                  <a:pt x="553927" y="1840909"/>
                </a:lnTo>
                <a:lnTo>
                  <a:pt x="547789" y="1842321"/>
                </a:lnTo>
                <a:cubicBezTo>
                  <a:pt x="547789" y="1840434"/>
                  <a:pt x="551705" y="1841378"/>
                  <a:pt x="554385" y="1841378"/>
                </a:cubicBezTo>
                <a:lnTo>
                  <a:pt x="553927" y="1840909"/>
                </a:lnTo>
                <a:lnTo>
                  <a:pt x="560774" y="1839334"/>
                </a:lnTo>
                <a:cubicBezTo>
                  <a:pt x="556909" y="1838627"/>
                  <a:pt x="555248" y="1832347"/>
                  <a:pt x="551354" y="1831707"/>
                </a:cubicBezTo>
                <a:close/>
                <a:moveTo>
                  <a:pt x="1637158" y="1830086"/>
                </a:moveTo>
                <a:cubicBezTo>
                  <a:pt x="1638536" y="1830390"/>
                  <a:pt x="1640407" y="1831187"/>
                  <a:pt x="1642699" y="1832662"/>
                </a:cubicBezTo>
                <a:lnTo>
                  <a:pt x="1640051" y="1835615"/>
                </a:lnTo>
                <a:cubicBezTo>
                  <a:pt x="1633329" y="1832702"/>
                  <a:pt x="1633024" y="1829176"/>
                  <a:pt x="1637158" y="1830086"/>
                </a:cubicBezTo>
                <a:close/>
                <a:moveTo>
                  <a:pt x="1628598" y="1815947"/>
                </a:moveTo>
                <a:cubicBezTo>
                  <a:pt x="1632468" y="1817897"/>
                  <a:pt x="1632468" y="1820009"/>
                  <a:pt x="1636337" y="1822122"/>
                </a:cubicBezTo>
                <a:cubicBezTo>
                  <a:pt x="1635116" y="1824071"/>
                  <a:pt x="1633690" y="1825209"/>
                  <a:pt x="1629820" y="1824071"/>
                </a:cubicBezTo>
                <a:cubicBezTo>
                  <a:pt x="1627376" y="1820984"/>
                  <a:pt x="1624729" y="1814972"/>
                  <a:pt x="1628598" y="1815947"/>
                </a:cubicBezTo>
                <a:close/>
                <a:moveTo>
                  <a:pt x="1647042" y="1801800"/>
                </a:moveTo>
                <a:cubicBezTo>
                  <a:pt x="1654513" y="1807705"/>
                  <a:pt x="1653301" y="1810657"/>
                  <a:pt x="1649465" y="1808793"/>
                </a:cubicBezTo>
                <a:cubicBezTo>
                  <a:pt x="1648253" y="1805841"/>
                  <a:pt x="1645628" y="1802888"/>
                  <a:pt x="1647042" y="1801800"/>
                </a:cubicBezTo>
                <a:close/>
                <a:moveTo>
                  <a:pt x="1641061" y="1792884"/>
                </a:moveTo>
                <a:cubicBezTo>
                  <a:pt x="1642024" y="1792749"/>
                  <a:pt x="1643426" y="1793073"/>
                  <a:pt x="1645418" y="1794092"/>
                </a:cubicBezTo>
                <a:cubicBezTo>
                  <a:pt x="1644160" y="1792053"/>
                  <a:pt x="1645418" y="1803030"/>
                  <a:pt x="1640176" y="1800051"/>
                </a:cubicBezTo>
                <a:cubicBezTo>
                  <a:pt x="1639233" y="1797816"/>
                  <a:pt x="1638171" y="1793288"/>
                  <a:pt x="1641061" y="1792884"/>
                </a:cubicBezTo>
                <a:close/>
                <a:moveTo>
                  <a:pt x="377170" y="1783082"/>
                </a:moveTo>
                <a:lnTo>
                  <a:pt x="385016" y="1785098"/>
                </a:lnTo>
                <a:lnTo>
                  <a:pt x="385059" y="1785134"/>
                </a:lnTo>
                <a:lnTo>
                  <a:pt x="382006" y="1789507"/>
                </a:lnTo>
                <a:cubicBezTo>
                  <a:pt x="380550" y="1790503"/>
                  <a:pt x="379250" y="1791519"/>
                  <a:pt x="379874" y="1794018"/>
                </a:cubicBezTo>
                <a:cubicBezTo>
                  <a:pt x="374674" y="1792924"/>
                  <a:pt x="368017" y="1792924"/>
                  <a:pt x="369265" y="1788081"/>
                </a:cubicBezTo>
                <a:cubicBezTo>
                  <a:pt x="381122" y="1789019"/>
                  <a:pt x="375922" y="1788081"/>
                  <a:pt x="377170" y="1783082"/>
                </a:cubicBezTo>
                <a:close/>
                <a:moveTo>
                  <a:pt x="1608988" y="1773935"/>
                </a:moveTo>
                <a:cubicBezTo>
                  <a:pt x="1608254" y="1773724"/>
                  <a:pt x="1607764" y="1773911"/>
                  <a:pt x="1607764" y="1774893"/>
                </a:cubicBezTo>
                <a:cubicBezTo>
                  <a:pt x="1614359" y="1777880"/>
                  <a:pt x="1612917" y="1782754"/>
                  <a:pt x="1615595" y="1781811"/>
                </a:cubicBezTo>
                <a:cubicBezTo>
                  <a:pt x="1611681" y="1777880"/>
                  <a:pt x="1621984" y="1781811"/>
                  <a:pt x="1615595" y="1775836"/>
                </a:cubicBezTo>
                <a:cubicBezTo>
                  <a:pt x="1615595" y="1778785"/>
                  <a:pt x="1611190" y="1774569"/>
                  <a:pt x="1608988" y="1773935"/>
                </a:cubicBezTo>
                <a:close/>
                <a:moveTo>
                  <a:pt x="427210" y="1767185"/>
                </a:moveTo>
                <a:lnTo>
                  <a:pt x="425693" y="1769523"/>
                </a:lnTo>
                <a:cubicBezTo>
                  <a:pt x="425288" y="1771351"/>
                  <a:pt x="425056" y="1773400"/>
                  <a:pt x="424128" y="1774873"/>
                </a:cubicBezTo>
                <a:cubicBezTo>
                  <a:pt x="441029" y="1779748"/>
                  <a:pt x="425365" y="1780848"/>
                  <a:pt x="422686" y="1783835"/>
                </a:cubicBezTo>
                <a:cubicBezTo>
                  <a:pt x="433197" y="1782734"/>
                  <a:pt x="435876" y="1789652"/>
                  <a:pt x="441029" y="1783835"/>
                </a:cubicBezTo>
                <a:cubicBezTo>
                  <a:pt x="438091" y="1779354"/>
                  <a:pt x="432952" y="1777615"/>
                  <a:pt x="432218" y="1772449"/>
                </a:cubicBezTo>
                <a:lnTo>
                  <a:pt x="432946" y="1767590"/>
                </a:lnTo>
                <a:lnTo>
                  <a:pt x="428358" y="1769060"/>
                </a:lnTo>
                <a:close/>
                <a:moveTo>
                  <a:pt x="1649207" y="1763872"/>
                </a:moveTo>
                <a:cubicBezTo>
                  <a:pt x="1649334" y="1762345"/>
                  <a:pt x="1654520" y="1767000"/>
                  <a:pt x="1657485" y="1767830"/>
                </a:cubicBezTo>
                <a:cubicBezTo>
                  <a:pt x="1662685" y="1774787"/>
                  <a:pt x="1651037" y="1771783"/>
                  <a:pt x="1653532" y="1776684"/>
                </a:cubicBezTo>
                <a:cubicBezTo>
                  <a:pt x="1649580" y="1775736"/>
                  <a:pt x="1649580" y="1773680"/>
                  <a:pt x="1651037" y="1771783"/>
                </a:cubicBezTo>
                <a:cubicBezTo>
                  <a:pt x="1652284" y="1770834"/>
                  <a:pt x="1654781" y="1769727"/>
                  <a:pt x="1654781" y="1767830"/>
                </a:cubicBezTo>
                <a:cubicBezTo>
                  <a:pt x="1653532" y="1765775"/>
                  <a:pt x="1652284" y="1767830"/>
                  <a:pt x="1651037" y="1767830"/>
                </a:cubicBezTo>
                <a:cubicBezTo>
                  <a:pt x="1649684" y="1765577"/>
                  <a:pt x="1649164" y="1764381"/>
                  <a:pt x="1649207" y="1763872"/>
                </a:cubicBezTo>
                <a:close/>
                <a:moveTo>
                  <a:pt x="470824" y="1762045"/>
                </a:moveTo>
                <a:lnTo>
                  <a:pt x="468494" y="1762968"/>
                </a:lnTo>
                <a:lnTo>
                  <a:pt x="466281" y="1763714"/>
                </a:lnTo>
                <a:lnTo>
                  <a:pt x="480110" y="1769607"/>
                </a:lnTo>
                <a:cubicBezTo>
                  <a:pt x="487608" y="1772358"/>
                  <a:pt x="495748" y="1775345"/>
                  <a:pt x="502240" y="1778804"/>
                </a:cubicBezTo>
                <a:cubicBezTo>
                  <a:pt x="499562" y="1773773"/>
                  <a:pt x="513988" y="1770943"/>
                  <a:pt x="504920" y="1768899"/>
                </a:cubicBezTo>
                <a:cubicBezTo>
                  <a:pt x="492090" y="1775621"/>
                  <a:pt x="485288" y="1765539"/>
                  <a:pt x="474430" y="1762134"/>
                </a:cubicBezTo>
                <a:close/>
                <a:moveTo>
                  <a:pt x="1598697" y="1760900"/>
                </a:moveTo>
                <a:cubicBezTo>
                  <a:pt x="1597254" y="1761844"/>
                  <a:pt x="1594781" y="1761844"/>
                  <a:pt x="1597254" y="1764988"/>
                </a:cubicBezTo>
                <a:cubicBezTo>
                  <a:pt x="1602613" y="1767975"/>
                  <a:pt x="1619511" y="1779767"/>
                  <a:pt x="1611681" y="1769862"/>
                </a:cubicBezTo>
                <a:cubicBezTo>
                  <a:pt x="1606528" y="1773792"/>
                  <a:pt x="1602613" y="1763888"/>
                  <a:pt x="1598697" y="1760900"/>
                </a:cubicBezTo>
                <a:close/>
                <a:moveTo>
                  <a:pt x="1563456" y="1759014"/>
                </a:moveTo>
                <a:cubicBezTo>
                  <a:pt x="1562219" y="1761844"/>
                  <a:pt x="1550473" y="1762944"/>
                  <a:pt x="1559541" y="1767975"/>
                </a:cubicBezTo>
                <a:cubicBezTo>
                  <a:pt x="1559541" y="1762944"/>
                  <a:pt x="1570051" y="1765931"/>
                  <a:pt x="1563456" y="1759014"/>
                </a:cubicBezTo>
                <a:close/>
                <a:moveTo>
                  <a:pt x="1643372" y="1753997"/>
                </a:moveTo>
                <a:cubicBezTo>
                  <a:pt x="1647241" y="1759197"/>
                  <a:pt x="1643372" y="1760172"/>
                  <a:pt x="1641946" y="1762122"/>
                </a:cubicBezTo>
                <a:cubicBezTo>
                  <a:pt x="1635633" y="1756110"/>
                  <a:pt x="1639502" y="1751885"/>
                  <a:pt x="1643372" y="1753997"/>
                </a:cubicBezTo>
                <a:close/>
                <a:moveTo>
                  <a:pt x="1596018" y="1753983"/>
                </a:moveTo>
                <a:cubicBezTo>
                  <a:pt x="1602613" y="1757913"/>
                  <a:pt x="1599933" y="1759958"/>
                  <a:pt x="1606528" y="1763888"/>
                </a:cubicBezTo>
                <a:cubicBezTo>
                  <a:pt x="1611681" y="1761844"/>
                  <a:pt x="1599933" y="1754926"/>
                  <a:pt x="1596018" y="1753983"/>
                </a:cubicBezTo>
                <a:close/>
                <a:moveTo>
                  <a:pt x="328909" y="1745945"/>
                </a:moveTo>
                <a:cubicBezTo>
                  <a:pt x="321077" y="1745001"/>
                  <a:pt x="319841" y="1748932"/>
                  <a:pt x="317162" y="1753020"/>
                </a:cubicBezTo>
                <a:cubicBezTo>
                  <a:pt x="321077" y="1753020"/>
                  <a:pt x="323757" y="1756950"/>
                  <a:pt x="326437" y="1753020"/>
                </a:cubicBezTo>
                <a:cubicBezTo>
                  <a:pt x="318604" y="1750976"/>
                  <a:pt x="330352" y="1750032"/>
                  <a:pt x="328909" y="1745945"/>
                </a:cubicBezTo>
                <a:close/>
                <a:moveTo>
                  <a:pt x="152244" y="1735246"/>
                </a:moveTo>
                <a:cubicBezTo>
                  <a:pt x="167900" y="1752029"/>
                  <a:pt x="133909" y="1760027"/>
                  <a:pt x="128758" y="1780888"/>
                </a:cubicBezTo>
                <a:cubicBezTo>
                  <a:pt x="114543" y="1779790"/>
                  <a:pt x="110629" y="1785751"/>
                  <a:pt x="111865" y="1792651"/>
                </a:cubicBezTo>
                <a:cubicBezTo>
                  <a:pt x="110629" y="1794690"/>
                  <a:pt x="105479" y="1795631"/>
                  <a:pt x="98886" y="1794690"/>
                </a:cubicBezTo>
                <a:cubicBezTo>
                  <a:pt x="98886" y="1798611"/>
                  <a:pt x="96208" y="1802689"/>
                  <a:pt x="93736" y="1805669"/>
                </a:cubicBezTo>
                <a:cubicBezTo>
                  <a:pt x="104037" y="1817433"/>
                  <a:pt x="122372" y="1827471"/>
                  <a:pt x="120929" y="1846292"/>
                </a:cubicBezTo>
                <a:cubicBezTo>
                  <a:pt x="113101" y="1847233"/>
                  <a:pt x="117015" y="1848174"/>
                  <a:pt x="113101" y="1851154"/>
                </a:cubicBezTo>
                <a:cubicBezTo>
                  <a:pt x="107951" y="1846292"/>
                  <a:pt x="98886" y="1842214"/>
                  <a:pt x="91058" y="1837352"/>
                </a:cubicBezTo>
                <a:cubicBezTo>
                  <a:pt x="88379" y="1838293"/>
                  <a:pt x="81993" y="1837352"/>
                  <a:pt x="75401" y="1837352"/>
                </a:cubicBezTo>
                <a:cubicBezTo>
                  <a:pt x="81993" y="1833274"/>
                  <a:pt x="74164" y="1834372"/>
                  <a:pt x="69014" y="1836254"/>
                </a:cubicBezTo>
                <a:cubicBezTo>
                  <a:pt x="79315" y="1836254"/>
                  <a:pt x="70250" y="1844253"/>
                  <a:pt x="72928" y="1850213"/>
                </a:cubicBezTo>
                <a:cubicBezTo>
                  <a:pt x="67572" y="1850213"/>
                  <a:pt x="66336" y="1852252"/>
                  <a:pt x="58507" y="1851154"/>
                </a:cubicBezTo>
                <a:cubicBezTo>
                  <a:pt x="59744" y="1848174"/>
                  <a:pt x="69014" y="1839234"/>
                  <a:pt x="53358" y="1839234"/>
                </a:cubicBezTo>
                <a:cubicBezTo>
                  <a:pt x="46765" y="1830450"/>
                  <a:pt x="53358" y="1815550"/>
                  <a:pt x="44293" y="1807552"/>
                </a:cubicBezTo>
                <a:cubicBezTo>
                  <a:pt x="20808" y="1810532"/>
                  <a:pt x="28635" y="1819472"/>
                  <a:pt x="35023" y="1829353"/>
                </a:cubicBezTo>
                <a:cubicBezTo>
                  <a:pt x="27193" y="1827471"/>
                  <a:pt x="27193" y="1831392"/>
                  <a:pt x="23280" y="1832333"/>
                </a:cubicBezTo>
                <a:cubicBezTo>
                  <a:pt x="0" y="1825432"/>
                  <a:pt x="22043" y="1811629"/>
                  <a:pt x="29872" y="1802689"/>
                </a:cubicBezTo>
                <a:cubicBezTo>
                  <a:pt x="31108" y="1805669"/>
                  <a:pt x="38936" y="1800651"/>
                  <a:pt x="40378" y="1804572"/>
                </a:cubicBezTo>
                <a:cubicBezTo>
                  <a:pt x="55829" y="1798611"/>
                  <a:pt x="63658" y="1787789"/>
                  <a:pt x="83229" y="1784809"/>
                </a:cubicBezTo>
                <a:cubicBezTo>
                  <a:pt x="84465" y="1782771"/>
                  <a:pt x="79315" y="1782771"/>
                  <a:pt x="81993" y="1778849"/>
                </a:cubicBezTo>
                <a:cubicBezTo>
                  <a:pt x="87143" y="1779790"/>
                  <a:pt x="91058" y="1779790"/>
                  <a:pt x="93736" y="1778849"/>
                </a:cubicBezTo>
                <a:cubicBezTo>
                  <a:pt x="89822" y="1773830"/>
                  <a:pt x="88379" y="1768027"/>
                  <a:pt x="101564" y="1771948"/>
                </a:cubicBezTo>
                <a:cubicBezTo>
                  <a:pt x="101564" y="1769909"/>
                  <a:pt x="105479" y="1765988"/>
                  <a:pt x="97650" y="1766929"/>
                </a:cubicBezTo>
                <a:cubicBezTo>
                  <a:pt x="101564" y="1765047"/>
                  <a:pt x="107951" y="1765047"/>
                  <a:pt x="110629" y="1763008"/>
                </a:cubicBezTo>
                <a:cubicBezTo>
                  <a:pt x="114543" y="1759087"/>
                  <a:pt x="102800" y="1760969"/>
                  <a:pt x="106714" y="1757047"/>
                </a:cubicBezTo>
                <a:cubicBezTo>
                  <a:pt x="118457" y="1757047"/>
                  <a:pt x="117015" y="1749049"/>
                  <a:pt x="128758" y="1749049"/>
                </a:cubicBezTo>
                <a:cubicBezTo>
                  <a:pt x="122372" y="1743246"/>
                  <a:pt x="140501" y="1737286"/>
                  <a:pt x="152244" y="1735246"/>
                </a:cubicBezTo>
                <a:close/>
                <a:moveTo>
                  <a:pt x="1709045" y="1724563"/>
                </a:moveTo>
                <a:cubicBezTo>
                  <a:pt x="1711630" y="1724428"/>
                  <a:pt x="1714548" y="1725395"/>
                  <a:pt x="1717210" y="1727328"/>
                </a:cubicBezTo>
                <a:cubicBezTo>
                  <a:pt x="1715776" y="1731351"/>
                  <a:pt x="1709428" y="1731351"/>
                  <a:pt x="1713319" y="1740168"/>
                </a:cubicBezTo>
                <a:cubicBezTo>
                  <a:pt x="1710657" y="1742024"/>
                  <a:pt x="1704309" y="1734290"/>
                  <a:pt x="1706766" y="1739085"/>
                </a:cubicBezTo>
                <a:cubicBezTo>
                  <a:pt x="1702875" y="1739085"/>
                  <a:pt x="1705537" y="1732279"/>
                  <a:pt x="1708200" y="1731351"/>
                </a:cubicBezTo>
                <a:cubicBezTo>
                  <a:pt x="1706766" y="1727328"/>
                  <a:pt x="1704309" y="1728411"/>
                  <a:pt x="1702875" y="1728411"/>
                </a:cubicBezTo>
                <a:cubicBezTo>
                  <a:pt x="1704207" y="1725936"/>
                  <a:pt x="1706459" y="1724699"/>
                  <a:pt x="1709045" y="1724563"/>
                </a:cubicBezTo>
                <a:close/>
                <a:moveTo>
                  <a:pt x="1681772" y="1720902"/>
                </a:moveTo>
                <a:cubicBezTo>
                  <a:pt x="1679331" y="1727975"/>
                  <a:pt x="1681772" y="1743852"/>
                  <a:pt x="1677907" y="1744795"/>
                </a:cubicBezTo>
                <a:cubicBezTo>
                  <a:pt x="1674041" y="1738822"/>
                  <a:pt x="1675466" y="1734892"/>
                  <a:pt x="1676686" y="1729861"/>
                </a:cubicBezTo>
                <a:cubicBezTo>
                  <a:pt x="1674041" y="1727975"/>
                  <a:pt x="1672821" y="1729861"/>
                  <a:pt x="1671600" y="1726875"/>
                </a:cubicBezTo>
                <a:cubicBezTo>
                  <a:pt x="1668955" y="1727975"/>
                  <a:pt x="1671600" y="1733948"/>
                  <a:pt x="1668955" y="1735835"/>
                </a:cubicBezTo>
                <a:cubicBezTo>
                  <a:pt x="1661225" y="1731906"/>
                  <a:pt x="1663870" y="1735835"/>
                  <a:pt x="1658580" y="1732848"/>
                </a:cubicBezTo>
                <a:cubicBezTo>
                  <a:pt x="1654715" y="1728919"/>
                  <a:pt x="1663870" y="1731906"/>
                  <a:pt x="1657360" y="1725932"/>
                </a:cubicBezTo>
                <a:cubicBezTo>
                  <a:pt x="1663870" y="1728919"/>
                  <a:pt x="1666311" y="1727975"/>
                  <a:pt x="1670176" y="1724988"/>
                </a:cubicBezTo>
                <a:cubicBezTo>
                  <a:pt x="1668955" y="1722946"/>
                  <a:pt x="1667735" y="1723888"/>
                  <a:pt x="1666311" y="1723888"/>
                </a:cubicBezTo>
                <a:cubicBezTo>
                  <a:pt x="1668955" y="1717915"/>
                  <a:pt x="1680551" y="1725932"/>
                  <a:pt x="1681772" y="1720902"/>
                </a:cubicBezTo>
                <a:close/>
                <a:moveTo>
                  <a:pt x="1645478" y="1703357"/>
                </a:moveTo>
                <a:cubicBezTo>
                  <a:pt x="1646921" y="1706345"/>
                  <a:pt x="1644242" y="1706345"/>
                  <a:pt x="1641563" y="1707288"/>
                </a:cubicBezTo>
                <a:cubicBezTo>
                  <a:pt x="1646921" y="1711219"/>
                  <a:pt x="1645478" y="1713263"/>
                  <a:pt x="1648157" y="1714206"/>
                </a:cubicBezTo>
                <a:cubicBezTo>
                  <a:pt x="1645478" y="1711219"/>
                  <a:pt x="1650837" y="1704301"/>
                  <a:pt x="1645478" y="1703357"/>
                </a:cubicBezTo>
                <a:close/>
                <a:moveTo>
                  <a:pt x="41269" y="1700583"/>
                </a:moveTo>
                <a:cubicBezTo>
                  <a:pt x="45226" y="1707390"/>
                  <a:pt x="34605" y="1714196"/>
                  <a:pt x="29400" y="1719147"/>
                </a:cubicBezTo>
                <a:cubicBezTo>
                  <a:pt x="25443" y="1712340"/>
                  <a:pt x="41269" y="1708318"/>
                  <a:pt x="41269" y="1700583"/>
                </a:cubicBezTo>
                <a:close/>
                <a:moveTo>
                  <a:pt x="1739122" y="1699197"/>
                </a:moveTo>
                <a:cubicBezTo>
                  <a:pt x="1741746" y="1706154"/>
                  <a:pt x="1736698" y="1708051"/>
                  <a:pt x="1734074" y="1705047"/>
                </a:cubicBezTo>
                <a:cubicBezTo>
                  <a:pt x="1732861" y="1700145"/>
                  <a:pt x="1735285" y="1700145"/>
                  <a:pt x="1739122" y="1699197"/>
                </a:cubicBezTo>
                <a:close/>
                <a:moveTo>
                  <a:pt x="71523" y="1697117"/>
                </a:moveTo>
                <a:cubicBezTo>
                  <a:pt x="75466" y="1702971"/>
                  <a:pt x="82109" y="1697117"/>
                  <a:pt x="89997" y="1697117"/>
                </a:cubicBezTo>
                <a:cubicBezTo>
                  <a:pt x="95186" y="1700968"/>
                  <a:pt x="99129" y="1705898"/>
                  <a:pt x="107017" y="1701893"/>
                </a:cubicBezTo>
                <a:cubicBezTo>
                  <a:pt x="101828" y="1706822"/>
                  <a:pt x="97884" y="1711753"/>
                  <a:pt x="89997" y="1713601"/>
                </a:cubicBezTo>
                <a:cubicBezTo>
                  <a:pt x="92487" y="1708826"/>
                  <a:pt x="96431" y="1701893"/>
                  <a:pt x="74221" y="1703896"/>
                </a:cubicBezTo>
                <a:cubicBezTo>
                  <a:pt x="72976" y="1705898"/>
                  <a:pt x="76712" y="1706822"/>
                  <a:pt x="75466" y="1708826"/>
                </a:cubicBezTo>
                <a:cubicBezTo>
                  <a:pt x="66334" y="1707747"/>
                  <a:pt x="69032" y="1699120"/>
                  <a:pt x="71523" y="1697117"/>
                </a:cubicBezTo>
                <a:close/>
                <a:moveTo>
                  <a:pt x="1715830" y="1696345"/>
                </a:moveTo>
                <a:cubicBezTo>
                  <a:pt x="1717249" y="1696345"/>
                  <a:pt x="1718466" y="1699328"/>
                  <a:pt x="1721101" y="1699328"/>
                </a:cubicBezTo>
                <a:cubicBezTo>
                  <a:pt x="1721101" y="1702153"/>
                  <a:pt x="1719682" y="1703251"/>
                  <a:pt x="1721101" y="1706234"/>
                </a:cubicBezTo>
                <a:cubicBezTo>
                  <a:pt x="1723535" y="1708117"/>
                  <a:pt x="1730023" y="1704193"/>
                  <a:pt x="1732659" y="1717065"/>
                </a:cubicBezTo>
                <a:cubicBezTo>
                  <a:pt x="1727387" y="1716123"/>
                  <a:pt x="1727387" y="1710158"/>
                  <a:pt x="1719682" y="1712198"/>
                </a:cubicBezTo>
                <a:cubicBezTo>
                  <a:pt x="1718466" y="1699328"/>
                  <a:pt x="1715830" y="1708117"/>
                  <a:pt x="1709544" y="1700269"/>
                </a:cubicBezTo>
                <a:cubicBezTo>
                  <a:pt x="1708327" y="1692264"/>
                  <a:pt x="1721101" y="1707176"/>
                  <a:pt x="1715830" y="1696345"/>
                </a:cubicBezTo>
                <a:close/>
                <a:moveTo>
                  <a:pt x="1678040" y="1695339"/>
                </a:moveTo>
                <a:cubicBezTo>
                  <a:pt x="1681955" y="1702257"/>
                  <a:pt x="1685871" y="1702257"/>
                  <a:pt x="1689787" y="1703357"/>
                </a:cubicBezTo>
                <a:cubicBezTo>
                  <a:pt x="1688551" y="1700370"/>
                  <a:pt x="1689787" y="1699427"/>
                  <a:pt x="1689787" y="1696440"/>
                </a:cubicBezTo>
                <a:cubicBezTo>
                  <a:pt x="1685871" y="1696440"/>
                  <a:pt x="1681955" y="1694396"/>
                  <a:pt x="1678040" y="1695339"/>
                </a:cubicBezTo>
                <a:close/>
                <a:moveTo>
                  <a:pt x="1654546" y="1691409"/>
                </a:moveTo>
                <a:cubicBezTo>
                  <a:pt x="1652073" y="1695339"/>
                  <a:pt x="1645478" y="1688422"/>
                  <a:pt x="1648157" y="1694396"/>
                </a:cubicBezTo>
                <a:cubicBezTo>
                  <a:pt x="1654546" y="1694396"/>
                  <a:pt x="1655989" y="1697384"/>
                  <a:pt x="1654546" y="1704301"/>
                </a:cubicBezTo>
                <a:cubicBezTo>
                  <a:pt x="1658462" y="1701314"/>
                  <a:pt x="1662378" y="1709332"/>
                  <a:pt x="1662378" y="1703357"/>
                </a:cubicBezTo>
                <a:cubicBezTo>
                  <a:pt x="1659904" y="1698327"/>
                  <a:pt x="1657225" y="1698327"/>
                  <a:pt x="1654546" y="1691409"/>
                </a:cubicBezTo>
                <a:close/>
                <a:moveTo>
                  <a:pt x="1724036" y="1691142"/>
                </a:moveTo>
                <a:cubicBezTo>
                  <a:pt x="1726301" y="1691505"/>
                  <a:pt x="1729204" y="1692691"/>
                  <a:pt x="1731749" y="1692156"/>
                </a:cubicBezTo>
                <a:cubicBezTo>
                  <a:pt x="1731749" y="1697054"/>
                  <a:pt x="1726658" y="1697972"/>
                  <a:pt x="1722788" y="1699044"/>
                </a:cubicBezTo>
                <a:cubicBezTo>
                  <a:pt x="1722788" y="1696135"/>
                  <a:pt x="1721566" y="1695064"/>
                  <a:pt x="1720140" y="1695064"/>
                </a:cubicBezTo>
                <a:cubicBezTo>
                  <a:pt x="1720140" y="1691238"/>
                  <a:pt x="1721770" y="1690778"/>
                  <a:pt x="1724036" y="1691142"/>
                </a:cubicBezTo>
                <a:close/>
                <a:moveTo>
                  <a:pt x="1689787" y="1684491"/>
                </a:moveTo>
                <a:cubicBezTo>
                  <a:pt x="1693703" y="1689365"/>
                  <a:pt x="1683398" y="1684491"/>
                  <a:pt x="1687314" y="1690465"/>
                </a:cubicBezTo>
                <a:cubicBezTo>
                  <a:pt x="1692465" y="1690465"/>
                  <a:pt x="1688551" y="1693453"/>
                  <a:pt x="1692465" y="1700370"/>
                </a:cubicBezTo>
                <a:cubicBezTo>
                  <a:pt x="1697618" y="1698327"/>
                  <a:pt x="1692465" y="1688422"/>
                  <a:pt x="1689787" y="1684491"/>
                </a:cubicBezTo>
                <a:close/>
                <a:moveTo>
                  <a:pt x="1672888" y="1670498"/>
                </a:moveTo>
                <a:cubicBezTo>
                  <a:pt x="1674124" y="1673486"/>
                  <a:pt x="1671651" y="1673486"/>
                  <a:pt x="1671651" y="1675529"/>
                </a:cubicBezTo>
                <a:cubicBezTo>
                  <a:pt x="1678040" y="1673486"/>
                  <a:pt x="1676803" y="1687478"/>
                  <a:pt x="1671651" y="1681504"/>
                </a:cubicBezTo>
                <a:cubicBezTo>
                  <a:pt x="1674124" y="1685434"/>
                  <a:pt x="1676803" y="1689365"/>
                  <a:pt x="1680719" y="1690465"/>
                </a:cubicBezTo>
                <a:cubicBezTo>
                  <a:pt x="1676803" y="1681504"/>
                  <a:pt x="1680719" y="1683390"/>
                  <a:pt x="1684634" y="1683390"/>
                </a:cubicBezTo>
                <a:cubicBezTo>
                  <a:pt x="1681955" y="1675529"/>
                  <a:pt x="1676803" y="1676473"/>
                  <a:pt x="1672888" y="1670498"/>
                </a:cubicBezTo>
                <a:close/>
                <a:moveTo>
                  <a:pt x="1660143" y="1667454"/>
                </a:moveTo>
                <a:cubicBezTo>
                  <a:pt x="1659415" y="1667050"/>
                  <a:pt x="1658822" y="1667787"/>
                  <a:pt x="1658462" y="1670498"/>
                </a:cubicBezTo>
                <a:cubicBezTo>
                  <a:pt x="1665056" y="1670498"/>
                  <a:pt x="1662378" y="1688422"/>
                  <a:pt x="1667736" y="1679460"/>
                </a:cubicBezTo>
                <a:cubicBezTo>
                  <a:pt x="1665726" y="1680168"/>
                  <a:pt x="1662326" y="1668671"/>
                  <a:pt x="1660143" y="1667454"/>
                </a:cubicBezTo>
                <a:close/>
                <a:moveTo>
                  <a:pt x="1718686" y="1666613"/>
                </a:moveTo>
                <a:cubicBezTo>
                  <a:pt x="1723879" y="1676485"/>
                  <a:pt x="1729279" y="1667554"/>
                  <a:pt x="1734471" y="1670530"/>
                </a:cubicBezTo>
                <a:cubicBezTo>
                  <a:pt x="1731771" y="1684477"/>
                  <a:pt x="1717440" y="1677425"/>
                  <a:pt x="1713494" y="1689334"/>
                </a:cubicBezTo>
                <a:cubicBezTo>
                  <a:pt x="1708301" y="1689334"/>
                  <a:pt x="1710794" y="1686357"/>
                  <a:pt x="1708301" y="1679462"/>
                </a:cubicBezTo>
                <a:lnTo>
                  <a:pt x="1705601" y="1680403"/>
                </a:lnTo>
                <a:cubicBezTo>
                  <a:pt x="1706847" y="1670530"/>
                  <a:pt x="1713494" y="1675545"/>
                  <a:pt x="1718686" y="1666613"/>
                </a:cubicBezTo>
                <a:close/>
                <a:moveTo>
                  <a:pt x="1818746" y="1665627"/>
                </a:moveTo>
                <a:cubicBezTo>
                  <a:pt x="1819903" y="1671564"/>
                  <a:pt x="1818746" y="1675469"/>
                  <a:pt x="1815084" y="1674376"/>
                </a:cubicBezTo>
                <a:cubicBezTo>
                  <a:pt x="1813735" y="1668595"/>
                  <a:pt x="1815084" y="1664533"/>
                  <a:pt x="1818746" y="1665627"/>
                </a:cubicBezTo>
                <a:close/>
                <a:moveTo>
                  <a:pt x="1845048" y="1664421"/>
                </a:moveTo>
                <a:cubicBezTo>
                  <a:pt x="1847580" y="1663926"/>
                  <a:pt x="1849486" y="1664680"/>
                  <a:pt x="1850790" y="1669679"/>
                </a:cubicBezTo>
                <a:cubicBezTo>
                  <a:pt x="1846979" y="1667616"/>
                  <a:pt x="1841763" y="1668726"/>
                  <a:pt x="1838151" y="1672694"/>
                </a:cubicBezTo>
                <a:cubicBezTo>
                  <a:pt x="1835543" y="1672694"/>
                  <a:pt x="1835543" y="1668726"/>
                  <a:pt x="1835543" y="1666663"/>
                </a:cubicBezTo>
                <a:cubicBezTo>
                  <a:pt x="1839355" y="1666663"/>
                  <a:pt x="1842515" y="1664917"/>
                  <a:pt x="1845048" y="1664421"/>
                </a:cubicBezTo>
                <a:close/>
                <a:moveTo>
                  <a:pt x="1793170" y="1662454"/>
                </a:moveTo>
                <a:cubicBezTo>
                  <a:pt x="1795906" y="1662454"/>
                  <a:pt x="1794643" y="1664315"/>
                  <a:pt x="1793170" y="1664315"/>
                </a:cubicBezTo>
                <a:cubicBezTo>
                  <a:pt x="1794643" y="1666330"/>
                  <a:pt x="1795906" y="1668346"/>
                  <a:pt x="1797168" y="1668346"/>
                </a:cubicBezTo>
                <a:cubicBezTo>
                  <a:pt x="1793170" y="1669277"/>
                  <a:pt x="1785174" y="1674084"/>
                  <a:pt x="1777388" y="1673153"/>
                </a:cubicBezTo>
                <a:cubicBezTo>
                  <a:pt x="1778650" y="1665400"/>
                  <a:pt x="1791908" y="1670207"/>
                  <a:pt x="1793170" y="1662454"/>
                </a:cubicBezTo>
                <a:close/>
                <a:moveTo>
                  <a:pt x="1759606" y="1660604"/>
                </a:moveTo>
                <a:cubicBezTo>
                  <a:pt x="1761927" y="1660939"/>
                  <a:pt x="1764012" y="1662161"/>
                  <a:pt x="1765366" y="1664605"/>
                </a:cubicBezTo>
                <a:cubicBezTo>
                  <a:pt x="1761406" y="1667555"/>
                  <a:pt x="1753486" y="1659794"/>
                  <a:pt x="1754737" y="1673453"/>
                </a:cubicBezTo>
                <a:cubicBezTo>
                  <a:pt x="1750777" y="1675470"/>
                  <a:pt x="1749527" y="1670503"/>
                  <a:pt x="1745567" y="1672522"/>
                </a:cubicBezTo>
                <a:cubicBezTo>
                  <a:pt x="1743535" y="1666585"/>
                  <a:pt x="1752640" y="1659600"/>
                  <a:pt x="1759606" y="1660604"/>
                </a:cubicBezTo>
                <a:close/>
                <a:moveTo>
                  <a:pt x="1674124" y="1657606"/>
                </a:moveTo>
                <a:cubicBezTo>
                  <a:pt x="1680719" y="1667511"/>
                  <a:pt x="1693703" y="1666568"/>
                  <a:pt x="1689787" y="1679460"/>
                </a:cubicBezTo>
                <a:cubicBezTo>
                  <a:pt x="1689787" y="1679460"/>
                  <a:pt x="1689787" y="1679460"/>
                  <a:pt x="1696382" y="1678517"/>
                </a:cubicBezTo>
                <a:cubicBezTo>
                  <a:pt x="1693703" y="1667511"/>
                  <a:pt x="1687314" y="1671599"/>
                  <a:pt x="1685871" y="1659650"/>
                </a:cubicBezTo>
                <a:cubicBezTo>
                  <a:pt x="1680719" y="1659650"/>
                  <a:pt x="1680719" y="1658550"/>
                  <a:pt x="1674124" y="1657606"/>
                </a:cubicBezTo>
                <a:close/>
                <a:moveTo>
                  <a:pt x="1793832" y="1656163"/>
                </a:moveTo>
                <a:lnTo>
                  <a:pt x="1792834" y="1657986"/>
                </a:lnTo>
                <a:cubicBezTo>
                  <a:pt x="1792834" y="1657514"/>
                  <a:pt x="1792834" y="1656768"/>
                  <a:pt x="1793016" y="1656277"/>
                </a:cubicBezTo>
                <a:close/>
                <a:moveTo>
                  <a:pt x="1701534" y="1650689"/>
                </a:moveTo>
                <a:cubicBezTo>
                  <a:pt x="1701534" y="1650689"/>
                  <a:pt x="1701534" y="1650689"/>
                  <a:pt x="1702770" y="1656663"/>
                </a:cubicBezTo>
                <a:cubicBezTo>
                  <a:pt x="1705449" y="1651632"/>
                  <a:pt x="1710601" y="1657606"/>
                  <a:pt x="1711838" y="1651632"/>
                </a:cubicBezTo>
                <a:cubicBezTo>
                  <a:pt x="1708129" y="1651632"/>
                  <a:pt x="1705449" y="1649589"/>
                  <a:pt x="1701534" y="1650689"/>
                </a:cubicBezTo>
                <a:close/>
                <a:moveTo>
                  <a:pt x="1819040" y="1649975"/>
                </a:moveTo>
                <a:cubicBezTo>
                  <a:pt x="1820278" y="1656101"/>
                  <a:pt x="1815119" y="1655001"/>
                  <a:pt x="1816357" y="1660027"/>
                </a:cubicBezTo>
                <a:cubicBezTo>
                  <a:pt x="1820278" y="1660027"/>
                  <a:pt x="1821516" y="1657043"/>
                  <a:pt x="1820278" y="1652017"/>
                </a:cubicBezTo>
                <a:cubicBezTo>
                  <a:pt x="1828118" y="1657043"/>
                  <a:pt x="1832039" y="1651075"/>
                  <a:pt x="1839880" y="1657043"/>
                </a:cubicBezTo>
                <a:cubicBezTo>
                  <a:pt x="1834722" y="1669922"/>
                  <a:pt x="1824198" y="1653116"/>
                  <a:pt x="1819040" y="1658928"/>
                </a:cubicBezTo>
                <a:cubicBezTo>
                  <a:pt x="1819040" y="1663011"/>
                  <a:pt x="1821516" y="1663011"/>
                  <a:pt x="1822960" y="1663011"/>
                </a:cubicBezTo>
                <a:cubicBezTo>
                  <a:pt x="1821516" y="1667881"/>
                  <a:pt x="1811199" y="1664896"/>
                  <a:pt x="1807279" y="1657986"/>
                </a:cubicBezTo>
                <a:cubicBezTo>
                  <a:pt x="1803358" y="1658928"/>
                  <a:pt x="1800676" y="1660969"/>
                  <a:pt x="1800676" y="1663954"/>
                </a:cubicBezTo>
                <a:cubicBezTo>
                  <a:pt x="1796755" y="1663011"/>
                  <a:pt x="1798200" y="1657043"/>
                  <a:pt x="1792834" y="1660027"/>
                </a:cubicBezTo>
                <a:cubicBezTo>
                  <a:pt x="1792834" y="1657986"/>
                  <a:pt x="1794279" y="1657986"/>
                  <a:pt x="1794279" y="1656101"/>
                </a:cubicBezTo>
                <a:lnTo>
                  <a:pt x="1793832" y="1656163"/>
                </a:lnTo>
                <a:lnTo>
                  <a:pt x="1795465" y="1653175"/>
                </a:lnTo>
                <a:cubicBezTo>
                  <a:pt x="1797116" y="1652292"/>
                  <a:pt x="1799437" y="1652017"/>
                  <a:pt x="1802120" y="1652017"/>
                </a:cubicBezTo>
                <a:cubicBezTo>
                  <a:pt x="1807279" y="1652017"/>
                  <a:pt x="1813675" y="1653116"/>
                  <a:pt x="1819040" y="1649975"/>
                </a:cubicBezTo>
                <a:close/>
                <a:moveTo>
                  <a:pt x="1841696" y="1637669"/>
                </a:moveTo>
                <a:cubicBezTo>
                  <a:pt x="1837958" y="1641546"/>
                  <a:pt x="1834012" y="1645423"/>
                  <a:pt x="1827365" y="1646353"/>
                </a:cubicBezTo>
                <a:cubicBezTo>
                  <a:pt x="1827365" y="1638599"/>
                  <a:pt x="1837958" y="1634723"/>
                  <a:pt x="1841696" y="1637669"/>
                </a:cubicBezTo>
                <a:close/>
                <a:moveTo>
                  <a:pt x="1852323" y="1636953"/>
                </a:moveTo>
                <a:cubicBezTo>
                  <a:pt x="1855143" y="1636345"/>
                  <a:pt x="1864268" y="1639540"/>
                  <a:pt x="1866236" y="1641064"/>
                </a:cubicBezTo>
                <a:cubicBezTo>
                  <a:pt x="1860987" y="1649818"/>
                  <a:pt x="1858563" y="1636999"/>
                  <a:pt x="1852102" y="1639032"/>
                </a:cubicBezTo>
                <a:cubicBezTo>
                  <a:pt x="1851142" y="1637781"/>
                  <a:pt x="1851382" y="1637156"/>
                  <a:pt x="1852323" y="1636953"/>
                </a:cubicBezTo>
                <a:close/>
                <a:moveTo>
                  <a:pt x="2372369" y="1631657"/>
                </a:moveTo>
                <a:cubicBezTo>
                  <a:pt x="2369879" y="1640562"/>
                  <a:pt x="2354109" y="1641499"/>
                  <a:pt x="2346224" y="1638531"/>
                </a:cubicBezTo>
                <a:cubicBezTo>
                  <a:pt x="2352864" y="1630563"/>
                  <a:pt x="2361994" y="1630563"/>
                  <a:pt x="2372369" y="1631657"/>
                </a:cubicBezTo>
                <a:close/>
                <a:moveTo>
                  <a:pt x="2412352" y="1628721"/>
                </a:moveTo>
                <a:cubicBezTo>
                  <a:pt x="2407209" y="1636644"/>
                  <a:pt x="2394247" y="1636644"/>
                  <a:pt x="2379845" y="1636644"/>
                </a:cubicBezTo>
                <a:cubicBezTo>
                  <a:pt x="2382520" y="1625710"/>
                  <a:pt x="2399390" y="1630623"/>
                  <a:pt x="2412352" y="1628721"/>
                </a:cubicBezTo>
                <a:close/>
                <a:moveTo>
                  <a:pt x="2116676" y="1617934"/>
                </a:moveTo>
                <a:cubicBezTo>
                  <a:pt x="2120832" y="1617548"/>
                  <a:pt x="2125294" y="1619092"/>
                  <a:pt x="2129754" y="1622179"/>
                </a:cubicBezTo>
                <a:cubicBezTo>
                  <a:pt x="2125902" y="1622179"/>
                  <a:pt x="2122049" y="1623154"/>
                  <a:pt x="2119616" y="1624129"/>
                </a:cubicBezTo>
                <a:cubicBezTo>
                  <a:pt x="2115763" y="1625266"/>
                  <a:pt x="2111911" y="1626242"/>
                  <a:pt x="2105422" y="1625266"/>
                </a:cubicBezTo>
                <a:cubicBezTo>
                  <a:pt x="2108667" y="1620635"/>
                  <a:pt x="2112519" y="1618320"/>
                  <a:pt x="2116676" y="1617934"/>
                </a:cubicBezTo>
                <a:close/>
                <a:moveTo>
                  <a:pt x="2448054" y="1607492"/>
                </a:moveTo>
                <a:lnTo>
                  <a:pt x="2446673" y="1608243"/>
                </a:lnTo>
                <a:lnTo>
                  <a:pt x="2447878" y="1609256"/>
                </a:lnTo>
                <a:lnTo>
                  <a:pt x="2449474" y="1607560"/>
                </a:lnTo>
                <a:close/>
                <a:moveTo>
                  <a:pt x="2719491" y="1595206"/>
                </a:moveTo>
                <a:cubicBezTo>
                  <a:pt x="2715655" y="1600209"/>
                  <a:pt x="2711818" y="1610996"/>
                  <a:pt x="2702933" y="1607087"/>
                </a:cubicBezTo>
                <a:cubicBezTo>
                  <a:pt x="2701519" y="1600209"/>
                  <a:pt x="2709193" y="1597239"/>
                  <a:pt x="2719491" y="1595206"/>
                </a:cubicBezTo>
                <a:close/>
                <a:moveTo>
                  <a:pt x="216267" y="1595206"/>
                </a:moveTo>
                <a:cubicBezTo>
                  <a:pt x="220213" y="1597209"/>
                  <a:pt x="221459" y="1600137"/>
                  <a:pt x="225405" y="1596131"/>
                </a:cubicBezTo>
                <a:cubicBezTo>
                  <a:pt x="230598" y="1598134"/>
                  <a:pt x="220213" y="1599058"/>
                  <a:pt x="221459" y="1601985"/>
                </a:cubicBezTo>
                <a:cubicBezTo>
                  <a:pt x="217513" y="1601061"/>
                  <a:pt x="216267" y="1599058"/>
                  <a:pt x="216267" y="1595206"/>
                </a:cubicBezTo>
                <a:close/>
                <a:moveTo>
                  <a:pt x="1892846" y="1595000"/>
                </a:moveTo>
                <a:cubicBezTo>
                  <a:pt x="1889251" y="1596260"/>
                  <a:pt x="1889484" y="1600771"/>
                  <a:pt x="1887629" y="1602894"/>
                </a:cubicBezTo>
                <a:cubicBezTo>
                  <a:pt x="1884950" y="1603994"/>
                  <a:pt x="1883713" y="1602894"/>
                  <a:pt x="1882271" y="1605881"/>
                </a:cubicBezTo>
                <a:cubicBezTo>
                  <a:pt x="1891545" y="1606981"/>
                  <a:pt x="1894017" y="1601007"/>
                  <a:pt x="1897933" y="1595032"/>
                </a:cubicBezTo>
                <a:cubicBezTo>
                  <a:pt x="1895667" y="1594521"/>
                  <a:pt x="1894043" y="1594580"/>
                  <a:pt x="1892846" y="1595000"/>
                </a:cubicBezTo>
                <a:close/>
                <a:moveTo>
                  <a:pt x="1853625" y="1592988"/>
                </a:moveTo>
                <a:cubicBezTo>
                  <a:pt x="1854964" y="1596526"/>
                  <a:pt x="1854655" y="1598766"/>
                  <a:pt x="1854011" y="1600751"/>
                </a:cubicBezTo>
                <a:lnTo>
                  <a:pt x="1853704" y="1601930"/>
                </a:lnTo>
                <a:lnTo>
                  <a:pt x="1856865" y="1605264"/>
                </a:lnTo>
                <a:lnTo>
                  <a:pt x="1857309" y="1604584"/>
                </a:lnTo>
                <a:cubicBezTo>
                  <a:pt x="1857953" y="1602736"/>
                  <a:pt x="1858262" y="1600535"/>
                  <a:pt x="1860220" y="1600063"/>
                </a:cubicBezTo>
                <a:cubicBezTo>
                  <a:pt x="1860220" y="1601007"/>
                  <a:pt x="1862899" y="1601950"/>
                  <a:pt x="1862899" y="1600063"/>
                </a:cubicBezTo>
                <a:cubicBezTo>
                  <a:pt x="1857540" y="1601007"/>
                  <a:pt x="1861456" y="1591102"/>
                  <a:pt x="1853625" y="1592988"/>
                </a:cubicBezTo>
                <a:close/>
                <a:moveTo>
                  <a:pt x="2576823" y="1590354"/>
                </a:moveTo>
                <a:cubicBezTo>
                  <a:pt x="2573093" y="1593393"/>
                  <a:pt x="2574336" y="1600593"/>
                  <a:pt x="2565217" y="1600593"/>
                </a:cubicBezTo>
                <a:cubicBezTo>
                  <a:pt x="2565217" y="1591473"/>
                  <a:pt x="2565217" y="1591473"/>
                  <a:pt x="2565217" y="1591473"/>
                </a:cubicBezTo>
                <a:cubicBezTo>
                  <a:pt x="2569154" y="1591473"/>
                  <a:pt x="2573093" y="1590354"/>
                  <a:pt x="2576823" y="1590354"/>
                </a:cubicBezTo>
                <a:close/>
                <a:moveTo>
                  <a:pt x="2091776" y="1589048"/>
                </a:moveTo>
                <a:lnTo>
                  <a:pt x="2091335" y="1592126"/>
                </a:lnTo>
                <a:cubicBezTo>
                  <a:pt x="2090765" y="1595878"/>
                  <a:pt x="2090108" y="1596290"/>
                  <a:pt x="2084234" y="1600063"/>
                </a:cubicBezTo>
                <a:cubicBezTo>
                  <a:pt x="2092066" y="1595032"/>
                  <a:pt x="2098455" y="1605881"/>
                  <a:pt x="2103813" y="1597076"/>
                </a:cubicBezTo>
                <a:cubicBezTo>
                  <a:pt x="2098558" y="1595583"/>
                  <a:pt x="2096909" y="1593578"/>
                  <a:pt x="2096239" y="1590827"/>
                </a:cubicBezTo>
                <a:lnTo>
                  <a:pt x="2096022" y="1589455"/>
                </a:lnTo>
                <a:close/>
                <a:moveTo>
                  <a:pt x="2029391" y="1584095"/>
                </a:moveTo>
                <a:lnTo>
                  <a:pt x="2029416" y="1584184"/>
                </a:lnTo>
                <a:lnTo>
                  <a:pt x="2030632" y="1584161"/>
                </a:lnTo>
                <a:close/>
                <a:moveTo>
                  <a:pt x="2018014" y="1582586"/>
                </a:moveTo>
                <a:lnTo>
                  <a:pt x="2017875" y="1583084"/>
                </a:lnTo>
                <a:lnTo>
                  <a:pt x="2020101" y="1582890"/>
                </a:lnTo>
                <a:close/>
                <a:moveTo>
                  <a:pt x="2003546" y="1580477"/>
                </a:moveTo>
                <a:lnTo>
                  <a:pt x="2003449" y="1581197"/>
                </a:lnTo>
                <a:cubicBezTo>
                  <a:pt x="2007365" y="1580096"/>
                  <a:pt x="2007365" y="1583084"/>
                  <a:pt x="2011280" y="1583084"/>
                </a:cubicBezTo>
                <a:lnTo>
                  <a:pt x="2011743" y="1581672"/>
                </a:lnTo>
                <a:close/>
                <a:moveTo>
                  <a:pt x="2547869" y="1579743"/>
                </a:moveTo>
                <a:cubicBezTo>
                  <a:pt x="2555729" y="1579771"/>
                  <a:pt x="2563301" y="1580285"/>
                  <a:pt x="2570463" y="1581550"/>
                </a:cubicBezTo>
                <a:cubicBezTo>
                  <a:pt x="2559437" y="1599978"/>
                  <a:pt x="2538264" y="1606701"/>
                  <a:pt x="2515131" y="1608698"/>
                </a:cubicBezTo>
                <a:lnTo>
                  <a:pt x="2509843" y="1608747"/>
                </a:lnTo>
                <a:lnTo>
                  <a:pt x="2508894" y="1608918"/>
                </a:lnTo>
                <a:cubicBezTo>
                  <a:pt x="2498876" y="1609996"/>
                  <a:pt x="2487910" y="1610227"/>
                  <a:pt x="2478892" y="1611691"/>
                </a:cubicBezTo>
                <a:lnTo>
                  <a:pt x="2478892" y="1608970"/>
                </a:lnTo>
                <a:lnTo>
                  <a:pt x="2457657" y="1607952"/>
                </a:lnTo>
                <a:lnTo>
                  <a:pt x="2457684" y="1608058"/>
                </a:lnTo>
                <a:cubicBezTo>
                  <a:pt x="2457057" y="1609094"/>
                  <a:pt x="2456104" y="1610394"/>
                  <a:pt x="2456706" y="1613481"/>
                </a:cubicBezTo>
                <a:cubicBezTo>
                  <a:pt x="2447878" y="1614455"/>
                  <a:pt x="2447878" y="1614455"/>
                  <a:pt x="2447878" y="1614455"/>
                </a:cubicBezTo>
                <a:cubicBezTo>
                  <a:pt x="2447878" y="1611369"/>
                  <a:pt x="2447878" y="1610393"/>
                  <a:pt x="2445270" y="1609256"/>
                </a:cubicBezTo>
                <a:lnTo>
                  <a:pt x="2446115" y="1608545"/>
                </a:lnTo>
                <a:lnTo>
                  <a:pt x="2429713" y="1617457"/>
                </a:lnTo>
                <a:cubicBezTo>
                  <a:pt x="2403748" y="1616509"/>
                  <a:pt x="2380255" y="1617457"/>
                  <a:pt x="2358204" y="1619514"/>
                </a:cubicBezTo>
                <a:cubicBezTo>
                  <a:pt x="2335948" y="1622519"/>
                  <a:pt x="2313898" y="1625525"/>
                  <a:pt x="2294321" y="1627423"/>
                </a:cubicBezTo>
                <a:cubicBezTo>
                  <a:pt x="2252694" y="1631377"/>
                  <a:pt x="2213746" y="1632485"/>
                  <a:pt x="2177270" y="1613503"/>
                </a:cubicBezTo>
                <a:cubicBezTo>
                  <a:pt x="2162845" y="1618406"/>
                  <a:pt x="2152335" y="1612396"/>
                  <a:pt x="2135437" y="1617457"/>
                </a:cubicBezTo>
                <a:cubicBezTo>
                  <a:pt x="2132964" y="1616509"/>
                  <a:pt x="2131521" y="1615401"/>
                  <a:pt x="2131521" y="1612396"/>
                </a:cubicBezTo>
                <a:cubicBezTo>
                  <a:pt x="2129048" y="1609390"/>
                  <a:pt x="2134200" y="1601481"/>
                  <a:pt x="2138116" y="1596419"/>
                </a:cubicBezTo>
                <a:cubicBezTo>
                  <a:pt x="2151098" y="1606385"/>
                  <a:pt x="2152335" y="1590409"/>
                  <a:pt x="2158929" y="1603380"/>
                </a:cubicBezTo>
                <a:cubicBezTo>
                  <a:pt x="2181340" y="1597448"/>
                  <a:pt x="2205258" y="1603261"/>
                  <a:pt x="2228508" y="1605271"/>
                </a:cubicBezTo>
                <a:lnTo>
                  <a:pt x="2236738" y="1605330"/>
                </a:lnTo>
                <a:lnTo>
                  <a:pt x="2236719" y="1604869"/>
                </a:lnTo>
                <a:cubicBezTo>
                  <a:pt x="2239745" y="1602024"/>
                  <a:pt x="2251026" y="1604335"/>
                  <a:pt x="2257874" y="1602833"/>
                </a:cubicBezTo>
                <a:lnTo>
                  <a:pt x="2257226" y="1604136"/>
                </a:lnTo>
                <a:lnTo>
                  <a:pt x="2271730" y="1600868"/>
                </a:lnTo>
                <a:cubicBezTo>
                  <a:pt x="2278711" y="1598752"/>
                  <a:pt x="2285872" y="1596498"/>
                  <a:pt x="2293084" y="1595470"/>
                </a:cubicBezTo>
                <a:cubicBezTo>
                  <a:pt x="2307716" y="1593216"/>
                  <a:pt x="2322605" y="1591713"/>
                  <a:pt x="2337623" y="1590665"/>
                </a:cubicBezTo>
                <a:lnTo>
                  <a:pt x="2344918" y="1590331"/>
                </a:lnTo>
                <a:lnTo>
                  <a:pt x="2345084" y="1590297"/>
                </a:lnTo>
                <a:cubicBezTo>
                  <a:pt x="2358185" y="1588930"/>
                  <a:pt x="2370704" y="1590618"/>
                  <a:pt x="2385433" y="1586194"/>
                </a:cubicBezTo>
                <a:lnTo>
                  <a:pt x="2386158" y="1588478"/>
                </a:lnTo>
                <a:lnTo>
                  <a:pt x="2472783" y="1585505"/>
                </a:lnTo>
                <a:cubicBezTo>
                  <a:pt x="2498130" y="1583963"/>
                  <a:pt x="2524289" y="1579662"/>
                  <a:pt x="2547869" y="1579743"/>
                </a:cubicBezTo>
                <a:close/>
                <a:moveTo>
                  <a:pt x="1990936" y="1577389"/>
                </a:moveTo>
                <a:lnTo>
                  <a:pt x="1990466" y="1578210"/>
                </a:lnTo>
                <a:cubicBezTo>
                  <a:pt x="1991702" y="1578210"/>
                  <a:pt x="1992939" y="1580096"/>
                  <a:pt x="1991702" y="1583084"/>
                </a:cubicBezTo>
                <a:lnTo>
                  <a:pt x="1998648" y="1579351"/>
                </a:lnTo>
                <a:close/>
                <a:moveTo>
                  <a:pt x="2659515" y="1576029"/>
                </a:moveTo>
                <a:cubicBezTo>
                  <a:pt x="2643893" y="1584103"/>
                  <a:pt x="2614091" y="1592969"/>
                  <a:pt x="2590660" y="1589961"/>
                </a:cubicBezTo>
                <a:cubicBezTo>
                  <a:pt x="2611419" y="1578088"/>
                  <a:pt x="2630945" y="1573022"/>
                  <a:pt x="2659515" y="1576029"/>
                </a:cubicBezTo>
                <a:close/>
                <a:moveTo>
                  <a:pt x="1949081" y="1573398"/>
                </a:moveTo>
                <a:lnTo>
                  <a:pt x="1943169" y="1576229"/>
                </a:lnTo>
                <a:lnTo>
                  <a:pt x="1942950" y="1578384"/>
                </a:lnTo>
                <a:cubicBezTo>
                  <a:pt x="1944303" y="1581738"/>
                  <a:pt x="1949712" y="1580647"/>
                  <a:pt x="1944921" y="1585127"/>
                </a:cubicBezTo>
                <a:cubicBezTo>
                  <a:pt x="1944921" y="1585127"/>
                  <a:pt x="1944921" y="1585127"/>
                  <a:pt x="1961820" y="1585127"/>
                </a:cubicBezTo>
                <a:cubicBezTo>
                  <a:pt x="1960583" y="1578210"/>
                  <a:pt x="1966972" y="1580096"/>
                  <a:pt x="1966972" y="1575223"/>
                </a:cubicBezTo>
                <a:cubicBezTo>
                  <a:pt x="1956461" y="1579153"/>
                  <a:pt x="1960583" y="1583084"/>
                  <a:pt x="1948836" y="1583084"/>
                </a:cubicBezTo>
                <a:cubicBezTo>
                  <a:pt x="1949764" y="1579429"/>
                  <a:pt x="1952894" y="1579576"/>
                  <a:pt x="1953879" y="1576959"/>
                </a:cubicBezTo>
                <a:lnTo>
                  <a:pt x="1953977" y="1573553"/>
                </a:lnTo>
                <a:close/>
                <a:moveTo>
                  <a:pt x="2086708" y="1570192"/>
                </a:moveTo>
                <a:cubicBezTo>
                  <a:pt x="2085471" y="1574122"/>
                  <a:pt x="2084234" y="1580096"/>
                  <a:pt x="2080318" y="1581197"/>
                </a:cubicBezTo>
                <a:cubicBezTo>
                  <a:pt x="2080318" y="1578210"/>
                  <a:pt x="2080318" y="1576165"/>
                  <a:pt x="2076403" y="1576165"/>
                </a:cubicBezTo>
                <a:cubicBezTo>
                  <a:pt x="2076403" y="1576165"/>
                  <a:pt x="2076403" y="1576165"/>
                  <a:pt x="2075167" y="1583084"/>
                </a:cubicBezTo>
                <a:cubicBezTo>
                  <a:pt x="2080318" y="1582140"/>
                  <a:pt x="2083565" y="1582887"/>
                  <a:pt x="2086013" y="1583988"/>
                </a:cubicBezTo>
                <a:lnTo>
                  <a:pt x="2088971" y="1585467"/>
                </a:lnTo>
                <a:lnTo>
                  <a:pt x="2095399" y="1585524"/>
                </a:lnTo>
                <a:lnTo>
                  <a:pt x="2094539" y="1580096"/>
                </a:lnTo>
                <a:cubicBezTo>
                  <a:pt x="2099897" y="1580096"/>
                  <a:pt x="2099897" y="1584184"/>
                  <a:pt x="2103813" y="1585127"/>
                </a:cubicBezTo>
                <a:cubicBezTo>
                  <a:pt x="2106286" y="1574122"/>
                  <a:pt x="2092066" y="1575223"/>
                  <a:pt x="2086708" y="1570192"/>
                </a:cubicBezTo>
                <a:close/>
                <a:moveTo>
                  <a:pt x="2007365" y="1569248"/>
                </a:moveTo>
                <a:lnTo>
                  <a:pt x="2005922" y="1571613"/>
                </a:lnTo>
                <a:lnTo>
                  <a:pt x="2014821" y="1572635"/>
                </a:lnTo>
                <a:lnTo>
                  <a:pt x="2013701" y="1571332"/>
                </a:lnTo>
                <a:cubicBezTo>
                  <a:pt x="2012568" y="1569720"/>
                  <a:pt x="2011280" y="1568227"/>
                  <a:pt x="2007365" y="1569248"/>
                </a:cubicBezTo>
                <a:close/>
                <a:moveTo>
                  <a:pt x="2025706" y="1565160"/>
                </a:moveTo>
                <a:cubicBezTo>
                  <a:pt x="2023748" y="1565711"/>
                  <a:pt x="2023388" y="1567952"/>
                  <a:pt x="2022872" y="1570054"/>
                </a:cubicBezTo>
                <a:lnTo>
                  <a:pt x="2019943" y="1573223"/>
                </a:lnTo>
                <a:lnTo>
                  <a:pt x="2030348" y="1574418"/>
                </a:lnTo>
                <a:lnTo>
                  <a:pt x="2030858" y="1574122"/>
                </a:lnTo>
                <a:lnTo>
                  <a:pt x="2030738" y="1574463"/>
                </a:lnTo>
                <a:lnTo>
                  <a:pt x="2035103" y="1574964"/>
                </a:lnTo>
                <a:lnTo>
                  <a:pt x="2035263" y="1572923"/>
                </a:lnTo>
                <a:cubicBezTo>
                  <a:pt x="2036732" y="1570938"/>
                  <a:pt x="2038690" y="1568698"/>
                  <a:pt x="2038690" y="1565160"/>
                </a:cubicBezTo>
                <a:cubicBezTo>
                  <a:pt x="2030858" y="1563274"/>
                  <a:pt x="2030858" y="1570192"/>
                  <a:pt x="2026943" y="1572235"/>
                </a:cubicBezTo>
                <a:cubicBezTo>
                  <a:pt x="2026943" y="1569248"/>
                  <a:pt x="2028180" y="1565160"/>
                  <a:pt x="2025706" y="1565160"/>
                </a:cubicBezTo>
                <a:close/>
                <a:moveTo>
                  <a:pt x="2054146" y="1563274"/>
                </a:moveTo>
                <a:cubicBezTo>
                  <a:pt x="2048994" y="1572235"/>
                  <a:pt x="2055589" y="1574122"/>
                  <a:pt x="2051673" y="1577109"/>
                </a:cubicBezTo>
                <a:cubicBezTo>
                  <a:pt x="2049097" y="1572629"/>
                  <a:pt x="2046469" y="1572629"/>
                  <a:pt x="2043687" y="1574004"/>
                </a:cubicBezTo>
                <a:lnTo>
                  <a:pt x="2040877" y="1575628"/>
                </a:lnTo>
                <a:lnTo>
                  <a:pt x="2042000" y="1575757"/>
                </a:lnTo>
                <a:cubicBezTo>
                  <a:pt x="2048439" y="1576818"/>
                  <a:pt x="2054671" y="1578095"/>
                  <a:pt x="2060350" y="1579667"/>
                </a:cubicBezTo>
                <a:lnTo>
                  <a:pt x="2060624" y="1579771"/>
                </a:lnTo>
                <a:lnTo>
                  <a:pt x="2061169" y="1578617"/>
                </a:lnTo>
                <a:cubicBezTo>
                  <a:pt x="2061102" y="1575390"/>
                  <a:pt x="2057237" y="1573179"/>
                  <a:pt x="2062183" y="1573179"/>
                </a:cubicBezTo>
                <a:cubicBezTo>
                  <a:pt x="2067336" y="1571685"/>
                  <a:pt x="2066357" y="1574908"/>
                  <a:pt x="2065378" y="1578131"/>
                </a:cubicBezTo>
                <a:lnTo>
                  <a:pt x="2064843" y="1581365"/>
                </a:lnTo>
                <a:lnTo>
                  <a:pt x="2068571" y="1582774"/>
                </a:lnTo>
                <a:lnTo>
                  <a:pt x="2068546" y="1574692"/>
                </a:lnTo>
                <a:cubicBezTo>
                  <a:pt x="2068211" y="1571960"/>
                  <a:pt x="2067233" y="1569720"/>
                  <a:pt x="2064656" y="1569248"/>
                </a:cubicBezTo>
                <a:cubicBezTo>
                  <a:pt x="2059505" y="1576165"/>
                  <a:pt x="2056825" y="1565160"/>
                  <a:pt x="2054146" y="1563274"/>
                </a:cubicBezTo>
                <a:close/>
                <a:moveTo>
                  <a:pt x="2415002" y="1558243"/>
                </a:moveTo>
                <a:cubicBezTo>
                  <a:pt x="2407171" y="1558243"/>
                  <a:pt x="2399339" y="1557299"/>
                  <a:pt x="2398103" y="1563274"/>
                </a:cubicBezTo>
                <a:cubicBezTo>
                  <a:pt x="2404492" y="1565160"/>
                  <a:pt x="2413765" y="1566261"/>
                  <a:pt x="2415002" y="1558243"/>
                </a:cubicBezTo>
                <a:close/>
                <a:moveTo>
                  <a:pt x="2713949" y="1557270"/>
                </a:moveTo>
                <a:lnTo>
                  <a:pt x="2704924" y="1558235"/>
                </a:lnTo>
                <a:cubicBezTo>
                  <a:pt x="2699234" y="1561103"/>
                  <a:pt x="2693342" y="1563316"/>
                  <a:pt x="2687302" y="1564993"/>
                </a:cubicBezTo>
                <a:lnTo>
                  <a:pt x="2679068" y="1566567"/>
                </a:lnTo>
                <a:lnTo>
                  <a:pt x="2683374" y="1566383"/>
                </a:lnTo>
                <a:cubicBezTo>
                  <a:pt x="2691810" y="1564783"/>
                  <a:pt x="2699769" y="1561235"/>
                  <a:pt x="2707053" y="1558833"/>
                </a:cubicBezTo>
                <a:close/>
                <a:moveTo>
                  <a:pt x="2481810" y="1544664"/>
                </a:moveTo>
                <a:lnTo>
                  <a:pt x="2480124" y="1545351"/>
                </a:lnTo>
                <a:lnTo>
                  <a:pt x="2481467" y="1547985"/>
                </a:lnTo>
                <a:lnTo>
                  <a:pt x="2481680" y="1545090"/>
                </a:lnTo>
                <a:close/>
                <a:moveTo>
                  <a:pt x="2236935" y="1541211"/>
                </a:moveTo>
                <a:cubicBezTo>
                  <a:pt x="2235489" y="1541243"/>
                  <a:pt x="2234368" y="1541616"/>
                  <a:pt x="2234059" y="1542364"/>
                </a:cubicBezTo>
                <a:cubicBezTo>
                  <a:pt x="2237768" y="1543307"/>
                  <a:pt x="2235296" y="1548337"/>
                  <a:pt x="2234059" y="1551325"/>
                </a:cubicBezTo>
                <a:cubicBezTo>
                  <a:pt x="2239211" y="1552268"/>
                  <a:pt x="2243127" y="1551325"/>
                  <a:pt x="2245600" y="1549281"/>
                </a:cubicBezTo>
                <a:cubicBezTo>
                  <a:pt x="2247557" y="1545822"/>
                  <a:pt x="2244981" y="1543346"/>
                  <a:pt x="2241761" y="1542108"/>
                </a:cubicBezTo>
                <a:cubicBezTo>
                  <a:pt x="2240151" y="1541489"/>
                  <a:pt x="2238380" y="1541179"/>
                  <a:pt x="2236935" y="1541211"/>
                </a:cubicBezTo>
                <a:close/>
                <a:moveTo>
                  <a:pt x="2541603" y="1533555"/>
                </a:moveTo>
                <a:cubicBezTo>
                  <a:pt x="2540251" y="1534030"/>
                  <a:pt x="2539940" y="1534782"/>
                  <a:pt x="2539966" y="1535673"/>
                </a:cubicBezTo>
                <a:lnTo>
                  <a:pt x="2539994" y="1535884"/>
                </a:lnTo>
                <a:lnTo>
                  <a:pt x="2543651" y="1535443"/>
                </a:lnTo>
                <a:lnTo>
                  <a:pt x="2545226" y="1535711"/>
                </a:lnTo>
                <a:close/>
                <a:moveTo>
                  <a:pt x="2265178" y="1531358"/>
                </a:moveTo>
                <a:cubicBezTo>
                  <a:pt x="2260025" y="1533402"/>
                  <a:pt x="2253430" y="1532459"/>
                  <a:pt x="2250958" y="1536389"/>
                </a:cubicBezTo>
                <a:cubicBezTo>
                  <a:pt x="2262705" y="1537332"/>
                  <a:pt x="2249515" y="1548337"/>
                  <a:pt x="2266621" y="1548337"/>
                </a:cubicBezTo>
                <a:cubicBezTo>
                  <a:pt x="2275688" y="1541420"/>
                  <a:pt x="2266621" y="1536389"/>
                  <a:pt x="2265178" y="1531358"/>
                </a:cubicBezTo>
                <a:close/>
                <a:moveTo>
                  <a:pt x="2205413" y="1529471"/>
                </a:moveTo>
                <a:cubicBezTo>
                  <a:pt x="2196138" y="1526484"/>
                  <a:pt x="2194902" y="1546294"/>
                  <a:pt x="2205413" y="1543307"/>
                </a:cubicBezTo>
                <a:cubicBezTo>
                  <a:pt x="2206649" y="1534345"/>
                  <a:pt x="2198818" y="1536389"/>
                  <a:pt x="2205413" y="1529471"/>
                </a:cubicBezTo>
                <a:close/>
                <a:moveTo>
                  <a:pt x="2171409" y="1529471"/>
                </a:moveTo>
                <a:cubicBezTo>
                  <a:pt x="2155952" y="1529471"/>
                  <a:pt x="2166257" y="1538433"/>
                  <a:pt x="2161104" y="1542364"/>
                </a:cubicBezTo>
                <a:cubicBezTo>
                  <a:pt x="2155952" y="1541420"/>
                  <a:pt x="2161104" y="1534345"/>
                  <a:pt x="2154510" y="1535446"/>
                </a:cubicBezTo>
                <a:cubicBezTo>
                  <a:pt x="2150594" y="1544407"/>
                  <a:pt x="2159662" y="1544407"/>
                  <a:pt x="2167493" y="1545351"/>
                </a:cubicBezTo>
                <a:cubicBezTo>
                  <a:pt x="2171409" y="1535446"/>
                  <a:pt x="2166257" y="1536389"/>
                  <a:pt x="2171409" y="1529471"/>
                </a:cubicBezTo>
                <a:close/>
                <a:moveTo>
                  <a:pt x="2314638" y="1528528"/>
                </a:moveTo>
                <a:cubicBezTo>
                  <a:pt x="2318553" y="1534345"/>
                  <a:pt x="2310722" y="1536389"/>
                  <a:pt x="2316081" y="1540319"/>
                </a:cubicBezTo>
                <a:cubicBezTo>
                  <a:pt x="2322470" y="1539376"/>
                  <a:pt x="2321233" y="1540319"/>
                  <a:pt x="2323912" y="1533402"/>
                </a:cubicBezTo>
                <a:cubicBezTo>
                  <a:pt x="2323912" y="1540319"/>
                  <a:pt x="2338131" y="1536389"/>
                  <a:pt x="2339368" y="1542364"/>
                </a:cubicBezTo>
                <a:cubicBezTo>
                  <a:pt x="2340811" y="1530415"/>
                  <a:pt x="2326384" y="1531358"/>
                  <a:pt x="2314638" y="1528528"/>
                </a:cubicBezTo>
                <a:close/>
                <a:moveTo>
                  <a:pt x="2351115" y="1526484"/>
                </a:moveTo>
                <a:cubicBezTo>
                  <a:pt x="2353795" y="1533402"/>
                  <a:pt x="2353795" y="1538433"/>
                  <a:pt x="2355031" y="1540319"/>
                </a:cubicBezTo>
                <a:cubicBezTo>
                  <a:pt x="2360389" y="1531358"/>
                  <a:pt x="2355031" y="1547394"/>
                  <a:pt x="2360389" y="1545351"/>
                </a:cubicBezTo>
                <a:cubicBezTo>
                  <a:pt x="2360389" y="1539376"/>
                  <a:pt x="2365542" y="1538433"/>
                  <a:pt x="2364304" y="1531358"/>
                </a:cubicBezTo>
                <a:cubicBezTo>
                  <a:pt x="2368014" y="1534345"/>
                  <a:pt x="2375846" y="1533402"/>
                  <a:pt x="2374609" y="1526484"/>
                </a:cubicBezTo>
                <a:cubicBezTo>
                  <a:pt x="2360389" y="1529471"/>
                  <a:pt x="2360389" y="1535446"/>
                  <a:pt x="2351115" y="1526484"/>
                </a:cubicBezTo>
                <a:close/>
                <a:moveTo>
                  <a:pt x="2230143" y="1525541"/>
                </a:moveTo>
                <a:cubicBezTo>
                  <a:pt x="2224785" y="1525541"/>
                  <a:pt x="2214481" y="1534345"/>
                  <a:pt x="2219633" y="1537332"/>
                </a:cubicBezTo>
                <a:cubicBezTo>
                  <a:pt x="2222312" y="1533402"/>
                  <a:pt x="2230143" y="1534345"/>
                  <a:pt x="2230143" y="1525541"/>
                </a:cubicBezTo>
                <a:close/>
                <a:moveTo>
                  <a:pt x="2297693" y="1525462"/>
                </a:moveTo>
                <a:cubicBezTo>
                  <a:pt x="2300721" y="1525150"/>
                  <a:pt x="2303242" y="1525472"/>
                  <a:pt x="2304219" y="1526723"/>
                </a:cubicBezTo>
                <a:cubicBezTo>
                  <a:pt x="2299075" y="1530631"/>
                  <a:pt x="2287348" y="1529692"/>
                  <a:pt x="2284673" y="1537509"/>
                </a:cubicBezTo>
                <a:cubicBezTo>
                  <a:pt x="2274952" y="1533054"/>
                  <a:pt x="2288608" y="1526400"/>
                  <a:pt x="2297693" y="1525462"/>
                </a:cubicBezTo>
                <a:close/>
                <a:moveTo>
                  <a:pt x="2517839" y="1524440"/>
                </a:moveTo>
                <a:cubicBezTo>
                  <a:pt x="2503619" y="1524440"/>
                  <a:pt x="2510008" y="1537332"/>
                  <a:pt x="2520518" y="1535446"/>
                </a:cubicBezTo>
                <a:cubicBezTo>
                  <a:pt x="2521754" y="1530415"/>
                  <a:pt x="2515365" y="1531358"/>
                  <a:pt x="2517839" y="1524440"/>
                </a:cubicBezTo>
                <a:close/>
                <a:moveTo>
                  <a:pt x="2487956" y="1524440"/>
                </a:moveTo>
                <a:cubicBezTo>
                  <a:pt x="2485277" y="1530415"/>
                  <a:pt x="2482598" y="1535446"/>
                  <a:pt x="2477445" y="1539376"/>
                </a:cubicBezTo>
                <a:lnTo>
                  <a:pt x="2483714" y="1538402"/>
                </a:lnTo>
                <a:lnTo>
                  <a:pt x="2484950" y="1534343"/>
                </a:lnTo>
                <a:lnTo>
                  <a:pt x="2488120" y="1533594"/>
                </a:lnTo>
                <a:lnTo>
                  <a:pt x="2487132" y="1533544"/>
                </a:lnTo>
                <a:cubicBezTo>
                  <a:pt x="2486011" y="1533244"/>
                  <a:pt x="2485277" y="1532616"/>
                  <a:pt x="2485277" y="1531358"/>
                </a:cubicBezTo>
                <a:cubicBezTo>
                  <a:pt x="2487956" y="1532459"/>
                  <a:pt x="2494550" y="1524440"/>
                  <a:pt x="2487956" y="1524440"/>
                </a:cubicBezTo>
                <a:close/>
                <a:moveTo>
                  <a:pt x="2505734" y="1522856"/>
                </a:moveTo>
                <a:lnTo>
                  <a:pt x="2502298" y="1523556"/>
                </a:lnTo>
                <a:lnTo>
                  <a:pt x="2500469" y="1523472"/>
                </a:lnTo>
                <a:lnTo>
                  <a:pt x="2500469" y="1523475"/>
                </a:lnTo>
                <a:cubicBezTo>
                  <a:pt x="2500192" y="1524853"/>
                  <a:pt x="2499600" y="1525973"/>
                  <a:pt x="2498260" y="1526484"/>
                </a:cubicBezTo>
                <a:close/>
                <a:moveTo>
                  <a:pt x="2603375" y="1521720"/>
                </a:moveTo>
                <a:cubicBezTo>
                  <a:pt x="2609934" y="1521720"/>
                  <a:pt x="2613828" y="1524739"/>
                  <a:pt x="2622846" y="1521720"/>
                </a:cubicBezTo>
                <a:cubicBezTo>
                  <a:pt x="2624077" y="1532841"/>
                  <a:pt x="2607270" y="1532841"/>
                  <a:pt x="2597021" y="1536813"/>
                </a:cubicBezTo>
                <a:cubicBezTo>
                  <a:pt x="2600916" y="1532841"/>
                  <a:pt x="2600916" y="1526804"/>
                  <a:pt x="2603375" y="1521720"/>
                </a:cubicBezTo>
                <a:close/>
                <a:moveTo>
                  <a:pt x="2240447" y="1521453"/>
                </a:moveTo>
                <a:cubicBezTo>
                  <a:pt x="2234059" y="1526484"/>
                  <a:pt x="2232616" y="1530415"/>
                  <a:pt x="2237768" y="1535446"/>
                </a:cubicBezTo>
                <a:cubicBezTo>
                  <a:pt x="2243127" y="1534345"/>
                  <a:pt x="2249515" y="1535446"/>
                  <a:pt x="2249515" y="1529471"/>
                </a:cubicBezTo>
                <a:cubicBezTo>
                  <a:pt x="2247042" y="1528528"/>
                  <a:pt x="2241684" y="1529471"/>
                  <a:pt x="2241684" y="1526484"/>
                </a:cubicBezTo>
                <a:cubicBezTo>
                  <a:pt x="2247042" y="1526484"/>
                  <a:pt x="2243127" y="1522554"/>
                  <a:pt x="2240447" y="1521453"/>
                </a:cubicBezTo>
                <a:close/>
                <a:moveTo>
                  <a:pt x="2871236" y="1518704"/>
                </a:moveTo>
                <a:cubicBezTo>
                  <a:pt x="2868529" y="1522684"/>
                  <a:pt x="2857908" y="1528500"/>
                  <a:pt x="2851453" y="1526510"/>
                </a:cubicBezTo>
                <a:cubicBezTo>
                  <a:pt x="2854160" y="1522684"/>
                  <a:pt x="2864572" y="1516867"/>
                  <a:pt x="2871236" y="1518704"/>
                </a:cubicBezTo>
                <a:close/>
                <a:moveTo>
                  <a:pt x="2435816" y="1518466"/>
                </a:moveTo>
                <a:cubicBezTo>
                  <a:pt x="2438496" y="1522554"/>
                  <a:pt x="2426749" y="1526484"/>
                  <a:pt x="2434579" y="1527427"/>
                </a:cubicBezTo>
                <a:cubicBezTo>
                  <a:pt x="2435816" y="1524440"/>
                  <a:pt x="2438496" y="1523497"/>
                  <a:pt x="2440968" y="1522554"/>
                </a:cubicBezTo>
                <a:cubicBezTo>
                  <a:pt x="2443648" y="1522554"/>
                  <a:pt x="2443648" y="1525541"/>
                  <a:pt x="2448799" y="1524440"/>
                </a:cubicBezTo>
                <a:cubicBezTo>
                  <a:pt x="2448799" y="1517523"/>
                  <a:pt x="2442411" y="1517523"/>
                  <a:pt x="2435816" y="1518466"/>
                </a:cubicBezTo>
                <a:close/>
                <a:moveTo>
                  <a:pt x="2396866" y="1517523"/>
                </a:moveTo>
                <a:cubicBezTo>
                  <a:pt x="2389035" y="1515479"/>
                  <a:pt x="2390271" y="1524440"/>
                  <a:pt x="2381204" y="1521453"/>
                </a:cubicBezTo>
                <a:cubicBezTo>
                  <a:pt x="2381204" y="1530415"/>
                  <a:pt x="2375846" y="1532459"/>
                  <a:pt x="2375846" y="1540319"/>
                </a:cubicBezTo>
                <a:cubicBezTo>
                  <a:pt x="2389035" y="1540319"/>
                  <a:pt x="2378525" y="1532459"/>
                  <a:pt x="2387593" y="1528528"/>
                </a:cubicBezTo>
                <a:cubicBezTo>
                  <a:pt x="2387593" y="1534345"/>
                  <a:pt x="2382440" y="1533402"/>
                  <a:pt x="2386356" y="1537332"/>
                </a:cubicBezTo>
                <a:cubicBezTo>
                  <a:pt x="2403254" y="1537332"/>
                  <a:pt x="2389035" y="1522554"/>
                  <a:pt x="2396866" y="1517523"/>
                </a:cubicBezTo>
                <a:close/>
                <a:moveTo>
                  <a:pt x="2262431" y="1516720"/>
                </a:moveTo>
                <a:cubicBezTo>
                  <a:pt x="2261739" y="1516422"/>
                  <a:pt x="2261004" y="1516540"/>
                  <a:pt x="2260025" y="1517523"/>
                </a:cubicBezTo>
                <a:cubicBezTo>
                  <a:pt x="2266621" y="1521453"/>
                  <a:pt x="2248278" y="1522554"/>
                  <a:pt x="2257347" y="1531358"/>
                </a:cubicBezTo>
                <a:cubicBezTo>
                  <a:pt x="2260025" y="1524440"/>
                  <a:pt x="2271772" y="1527427"/>
                  <a:pt x="2273008" y="1518466"/>
                </a:cubicBezTo>
                <a:cubicBezTo>
                  <a:pt x="2266208" y="1522239"/>
                  <a:pt x="2264507" y="1517611"/>
                  <a:pt x="2262431" y="1516720"/>
                </a:cubicBezTo>
                <a:close/>
                <a:moveTo>
                  <a:pt x="2465455" y="1515140"/>
                </a:moveTo>
                <a:lnTo>
                  <a:pt x="2465586" y="1515864"/>
                </a:lnTo>
                <a:cubicBezTo>
                  <a:pt x="2466600" y="1519733"/>
                  <a:pt x="2466369" y="1517523"/>
                  <a:pt x="2456630" y="1517523"/>
                </a:cubicBezTo>
                <a:cubicBezTo>
                  <a:pt x="2458074" y="1523497"/>
                  <a:pt x="2465699" y="1535446"/>
                  <a:pt x="2474973" y="1527427"/>
                </a:cubicBezTo>
                <a:cubicBezTo>
                  <a:pt x="2471057" y="1527427"/>
                  <a:pt x="2471057" y="1521453"/>
                  <a:pt x="2474973" y="1520510"/>
                </a:cubicBezTo>
                <a:cubicBezTo>
                  <a:pt x="2476209" y="1523969"/>
                  <a:pt x="2479095" y="1524480"/>
                  <a:pt x="2482495" y="1523752"/>
                </a:cubicBezTo>
                <a:lnTo>
                  <a:pt x="2485140" y="1522709"/>
                </a:lnTo>
                <a:lnTo>
                  <a:pt x="2475315" y="1519884"/>
                </a:lnTo>
                <a:cubicBezTo>
                  <a:pt x="2472128" y="1518562"/>
                  <a:pt x="2469076" y="1516981"/>
                  <a:pt x="2466063" y="1515428"/>
                </a:cubicBezTo>
                <a:close/>
                <a:moveTo>
                  <a:pt x="2304334" y="1514535"/>
                </a:moveTo>
                <a:cubicBezTo>
                  <a:pt x="2299182" y="1526484"/>
                  <a:pt x="2280840" y="1521453"/>
                  <a:pt x="2273008" y="1529471"/>
                </a:cubicBezTo>
                <a:cubicBezTo>
                  <a:pt x="2278161" y="1533402"/>
                  <a:pt x="2273008" y="1542364"/>
                  <a:pt x="2280840" y="1544407"/>
                </a:cubicBezTo>
                <a:cubicBezTo>
                  <a:pt x="2283519" y="1535446"/>
                  <a:pt x="2296503" y="1538433"/>
                  <a:pt x="2301655" y="1533402"/>
                </a:cubicBezTo>
                <a:cubicBezTo>
                  <a:pt x="2303097" y="1536389"/>
                  <a:pt x="2303097" y="1538433"/>
                  <a:pt x="2299182" y="1542364"/>
                </a:cubicBezTo>
                <a:cubicBezTo>
                  <a:pt x="2310722" y="1542364"/>
                  <a:pt x="2310722" y="1530415"/>
                  <a:pt x="2316081" y="1524440"/>
                </a:cubicBezTo>
                <a:cubicBezTo>
                  <a:pt x="2308249" y="1523497"/>
                  <a:pt x="2309486" y="1516579"/>
                  <a:pt x="2304334" y="1514535"/>
                </a:cubicBezTo>
                <a:close/>
                <a:moveTo>
                  <a:pt x="2425190" y="1512214"/>
                </a:moveTo>
                <a:cubicBezTo>
                  <a:pt x="2422408" y="1512147"/>
                  <a:pt x="2419278" y="1515243"/>
                  <a:pt x="2412323" y="1514535"/>
                </a:cubicBezTo>
                <a:cubicBezTo>
                  <a:pt x="2407171" y="1519566"/>
                  <a:pt x="2412323" y="1517523"/>
                  <a:pt x="2411086" y="1523497"/>
                </a:cubicBezTo>
                <a:cubicBezTo>
                  <a:pt x="2408407" y="1523497"/>
                  <a:pt x="2407171" y="1520510"/>
                  <a:pt x="2404492" y="1519566"/>
                </a:cubicBezTo>
                <a:cubicBezTo>
                  <a:pt x="2403254" y="1522554"/>
                  <a:pt x="2400782" y="1523497"/>
                  <a:pt x="2400782" y="1528528"/>
                </a:cubicBezTo>
                <a:cubicBezTo>
                  <a:pt x="2411086" y="1525541"/>
                  <a:pt x="2415002" y="1529471"/>
                  <a:pt x="2426749" y="1525541"/>
                </a:cubicBezTo>
                <a:cubicBezTo>
                  <a:pt x="2424069" y="1516579"/>
                  <a:pt x="2422833" y="1522554"/>
                  <a:pt x="2427985" y="1513592"/>
                </a:cubicBezTo>
                <a:cubicBezTo>
                  <a:pt x="2427006" y="1512609"/>
                  <a:pt x="2426118" y="1512236"/>
                  <a:pt x="2425190" y="1512214"/>
                </a:cubicBezTo>
                <a:close/>
                <a:moveTo>
                  <a:pt x="2652216" y="1510862"/>
                </a:moveTo>
                <a:cubicBezTo>
                  <a:pt x="2658782" y="1512918"/>
                  <a:pt x="2650986" y="1516875"/>
                  <a:pt x="2656115" y="1520831"/>
                </a:cubicBezTo>
                <a:cubicBezTo>
                  <a:pt x="2662681" y="1519881"/>
                  <a:pt x="2662681" y="1519881"/>
                  <a:pt x="2662681" y="1519881"/>
                </a:cubicBezTo>
                <a:cubicBezTo>
                  <a:pt x="2665143" y="1518774"/>
                  <a:pt x="2663912" y="1515767"/>
                  <a:pt x="2663912" y="1512918"/>
                </a:cubicBezTo>
                <a:cubicBezTo>
                  <a:pt x="2679506" y="1510862"/>
                  <a:pt x="2665143" y="1521781"/>
                  <a:pt x="2666579" y="1528901"/>
                </a:cubicBezTo>
                <a:cubicBezTo>
                  <a:pt x="2658782" y="1522888"/>
                  <a:pt x="2648317" y="1536813"/>
                  <a:pt x="2639289" y="1535864"/>
                </a:cubicBezTo>
                <a:cubicBezTo>
                  <a:pt x="2631492" y="1533807"/>
                  <a:pt x="2636622" y="1526844"/>
                  <a:pt x="2628824" y="1520831"/>
                </a:cubicBezTo>
                <a:cubicBezTo>
                  <a:pt x="2639289" y="1525895"/>
                  <a:pt x="2634160" y="1520831"/>
                  <a:pt x="2647087" y="1517824"/>
                </a:cubicBezTo>
                <a:cubicBezTo>
                  <a:pt x="2647087" y="1515767"/>
                  <a:pt x="2644419" y="1516875"/>
                  <a:pt x="2641956" y="1516875"/>
                </a:cubicBezTo>
                <a:cubicBezTo>
                  <a:pt x="2641956" y="1507855"/>
                  <a:pt x="2650986" y="1516875"/>
                  <a:pt x="2652216" y="1510862"/>
                </a:cubicBezTo>
                <a:close/>
                <a:moveTo>
                  <a:pt x="2439591" y="1509389"/>
                </a:moveTo>
                <a:lnTo>
                  <a:pt x="2429171" y="1510166"/>
                </a:lnTo>
                <a:lnTo>
                  <a:pt x="2427985" y="1511548"/>
                </a:lnTo>
                <a:cubicBezTo>
                  <a:pt x="2433138" y="1512649"/>
                  <a:pt x="2431901" y="1517523"/>
                  <a:pt x="2440968" y="1515479"/>
                </a:cubicBezTo>
                <a:cubicBezTo>
                  <a:pt x="2441690" y="1513513"/>
                  <a:pt x="2441072" y="1512295"/>
                  <a:pt x="2440273" y="1511076"/>
                </a:cubicBezTo>
                <a:close/>
                <a:moveTo>
                  <a:pt x="2447675" y="1508786"/>
                </a:moveTo>
                <a:lnTo>
                  <a:pt x="2443792" y="1509076"/>
                </a:lnTo>
                <a:lnTo>
                  <a:pt x="2443783" y="1509642"/>
                </a:lnTo>
                <a:cubicBezTo>
                  <a:pt x="2444395" y="1512000"/>
                  <a:pt x="2445863" y="1514024"/>
                  <a:pt x="2448799" y="1515479"/>
                </a:cubicBezTo>
                <a:lnTo>
                  <a:pt x="2449331" y="1509204"/>
                </a:lnTo>
                <a:close/>
                <a:moveTo>
                  <a:pt x="2610130" y="1507419"/>
                </a:moveTo>
                <a:cubicBezTo>
                  <a:pt x="2611355" y="1513440"/>
                  <a:pt x="2611355" y="1513440"/>
                  <a:pt x="2611355" y="1513440"/>
                </a:cubicBezTo>
                <a:cubicBezTo>
                  <a:pt x="2603596" y="1514391"/>
                  <a:pt x="2602372" y="1510429"/>
                  <a:pt x="2599717" y="1517402"/>
                </a:cubicBezTo>
                <a:cubicBezTo>
                  <a:pt x="2598492" y="1517402"/>
                  <a:pt x="2597266" y="1515342"/>
                  <a:pt x="2594611" y="1516451"/>
                </a:cubicBezTo>
                <a:cubicBezTo>
                  <a:pt x="2593387" y="1512489"/>
                  <a:pt x="2597266" y="1511381"/>
                  <a:pt x="2597266" y="1508370"/>
                </a:cubicBezTo>
                <a:cubicBezTo>
                  <a:pt x="2599717" y="1508370"/>
                  <a:pt x="2598492" y="1511381"/>
                  <a:pt x="2599717" y="1513440"/>
                </a:cubicBezTo>
                <a:cubicBezTo>
                  <a:pt x="2605025" y="1512489"/>
                  <a:pt x="2602372" y="1506468"/>
                  <a:pt x="2610130" y="1507419"/>
                </a:cubicBezTo>
                <a:close/>
                <a:moveTo>
                  <a:pt x="2410231" y="1506973"/>
                </a:moveTo>
                <a:lnTo>
                  <a:pt x="2409264" y="1507284"/>
                </a:lnTo>
                <a:lnTo>
                  <a:pt x="2409850" y="1507618"/>
                </a:lnTo>
                <a:close/>
                <a:moveTo>
                  <a:pt x="2391234" y="1506811"/>
                </a:moveTo>
                <a:lnTo>
                  <a:pt x="2394187" y="1510604"/>
                </a:lnTo>
                <a:lnTo>
                  <a:pt x="2396694" y="1509949"/>
                </a:lnTo>
                <a:close/>
                <a:moveTo>
                  <a:pt x="2851249" y="1506468"/>
                </a:moveTo>
                <a:cubicBezTo>
                  <a:pt x="2844728" y="1516283"/>
                  <a:pt x="2833317" y="1512388"/>
                  <a:pt x="2824148" y="1520178"/>
                </a:cubicBezTo>
                <a:cubicBezTo>
                  <a:pt x="2817831" y="1510362"/>
                  <a:pt x="2844728" y="1506468"/>
                  <a:pt x="2851249" y="1506468"/>
                </a:cubicBezTo>
                <a:close/>
                <a:moveTo>
                  <a:pt x="2206108" y="1506380"/>
                </a:moveTo>
                <a:cubicBezTo>
                  <a:pt x="2204640" y="1506360"/>
                  <a:pt x="2203352" y="1506596"/>
                  <a:pt x="2202734" y="1507618"/>
                </a:cubicBezTo>
                <a:cubicBezTo>
                  <a:pt x="2209328" y="1510604"/>
                  <a:pt x="2197582" y="1513592"/>
                  <a:pt x="2200055" y="1519566"/>
                </a:cubicBezTo>
                <a:cubicBezTo>
                  <a:pt x="2209328" y="1521453"/>
                  <a:pt x="2205413" y="1508561"/>
                  <a:pt x="2213244" y="1508561"/>
                </a:cubicBezTo>
                <a:cubicBezTo>
                  <a:pt x="2211802" y="1508561"/>
                  <a:pt x="2210565" y="1507618"/>
                  <a:pt x="2210565" y="1506674"/>
                </a:cubicBezTo>
                <a:cubicBezTo>
                  <a:pt x="2209225" y="1506674"/>
                  <a:pt x="2207577" y="1506399"/>
                  <a:pt x="2206108" y="1506380"/>
                </a:cubicBezTo>
                <a:close/>
                <a:moveTo>
                  <a:pt x="2908173" y="1501616"/>
                </a:moveTo>
                <a:cubicBezTo>
                  <a:pt x="2909403" y="1507653"/>
                  <a:pt x="2896491" y="1516709"/>
                  <a:pt x="2888703" y="1514643"/>
                </a:cubicBezTo>
                <a:cubicBezTo>
                  <a:pt x="2882348" y="1506699"/>
                  <a:pt x="2903049" y="1506699"/>
                  <a:pt x="2908173" y="1501616"/>
                </a:cubicBezTo>
                <a:close/>
                <a:moveTo>
                  <a:pt x="2379916" y="1501589"/>
                </a:moveTo>
                <a:lnTo>
                  <a:pt x="2376215" y="1501703"/>
                </a:lnTo>
                <a:lnTo>
                  <a:pt x="2378344" y="1501722"/>
                </a:lnTo>
                <a:cubicBezTo>
                  <a:pt x="2380122" y="1502587"/>
                  <a:pt x="2381101" y="1504080"/>
                  <a:pt x="2382440" y="1505574"/>
                </a:cubicBezTo>
                <a:lnTo>
                  <a:pt x="2383444" y="1502933"/>
                </a:lnTo>
                <a:close/>
                <a:moveTo>
                  <a:pt x="2369958" y="1500624"/>
                </a:moveTo>
                <a:lnTo>
                  <a:pt x="2369456" y="1501643"/>
                </a:lnTo>
                <a:lnTo>
                  <a:pt x="2370675" y="1501654"/>
                </a:lnTo>
                <a:close/>
                <a:moveTo>
                  <a:pt x="2734027" y="1498843"/>
                </a:moveTo>
                <a:cubicBezTo>
                  <a:pt x="2731565" y="1501807"/>
                  <a:pt x="2717202" y="1508675"/>
                  <a:pt x="2715971" y="1505709"/>
                </a:cubicBezTo>
                <a:cubicBezTo>
                  <a:pt x="2712072" y="1507739"/>
                  <a:pt x="2712072" y="1510704"/>
                  <a:pt x="2712072" y="1515542"/>
                </a:cubicBezTo>
                <a:cubicBezTo>
                  <a:pt x="2701607" y="1507739"/>
                  <a:pt x="2696478" y="1528497"/>
                  <a:pt x="2676985" y="1524438"/>
                </a:cubicBezTo>
                <a:cubicBezTo>
                  <a:pt x="2678216" y="1521473"/>
                  <a:pt x="2679653" y="1517572"/>
                  <a:pt x="2676985" y="1512733"/>
                </a:cubicBezTo>
                <a:cubicBezTo>
                  <a:pt x="2696478" y="1500871"/>
                  <a:pt x="2709405" y="1504774"/>
                  <a:pt x="2734027" y="1498843"/>
                </a:cubicBezTo>
                <a:close/>
                <a:moveTo>
                  <a:pt x="2354100" y="1494876"/>
                </a:moveTo>
                <a:cubicBezTo>
                  <a:pt x="2353447" y="1494460"/>
                  <a:pt x="2352146" y="1494883"/>
                  <a:pt x="2349878" y="1496612"/>
                </a:cubicBezTo>
                <a:cubicBezTo>
                  <a:pt x="2352558" y="1497713"/>
                  <a:pt x="2352558" y="1498656"/>
                  <a:pt x="2352558" y="1501643"/>
                </a:cubicBezTo>
                <a:cubicBezTo>
                  <a:pt x="2347199" y="1500700"/>
                  <a:pt x="2345963" y="1503687"/>
                  <a:pt x="2342048" y="1503687"/>
                </a:cubicBezTo>
                <a:cubicBezTo>
                  <a:pt x="2340811" y="1501643"/>
                  <a:pt x="2342048" y="1499599"/>
                  <a:pt x="2339368" y="1498656"/>
                </a:cubicBezTo>
                <a:cubicBezTo>
                  <a:pt x="2334217" y="1503687"/>
                  <a:pt x="2339368" y="1501643"/>
                  <a:pt x="2338131" y="1508561"/>
                </a:cubicBezTo>
                <a:cubicBezTo>
                  <a:pt x="2338131" y="1508561"/>
                  <a:pt x="2338131" y="1508561"/>
                  <a:pt x="2351115" y="1508561"/>
                </a:cubicBezTo>
                <a:cubicBezTo>
                  <a:pt x="2352197" y="1504905"/>
                  <a:pt x="2356062" y="1496120"/>
                  <a:pt x="2354100" y="1494876"/>
                </a:cubicBezTo>
                <a:close/>
                <a:moveTo>
                  <a:pt x="2274245" y="1492682"/>
                </a:moveTo>
                <a:cubicBezTo>
                  <a:pt x="2257347" y="1493625"/>
                  <a:pt x="2275688" y="1503687"/>
                  <a:pt x="2263941" y="1508561"/>
                </a:cubicBezTo>
                <a:cubicBezTo>
                  <a:pt x="2265178" y="1509661"/>
                  <a:pt x="2266621" y="1510604"/>
                  <a:pt x="2265178" y="1513592"/>
                </a:cubicBezTo>
                <a:cubicBezTo>
                  <a:pt x="2273008" y="1511548"/>
                  <a:pt x="2283519" y="1499599"/>
                  <a:pt x="2279603" y="1495669"/>
                </a:cubicBezTo>
                <a:cubicBezTo>
                  <a:pt x="2276924" y="1503687"/>
                  <a:pt x="2266621" y="1498656"/>
                  <a:pt x="2274245" y="1492682"/>
                </a:cubicBezTo>
                <a:close/>
                <a:moveTo>
                  <a:pt x="2465699" y="1491738"/>
                </a:moveTo>
                <a:lnTo>
                  <a:pt x="2465236" y="1492383"/>
                </a:lnTo>
                <a:lnTo>
                  <a:pt x="2472398" y="1491965"/>
                </a:lnTo>
                <a:cubicBezTo>
                  <a:pt x="2472398" y="1491965"/>
                  <a:pt x="2472398" y="1491965"/>
                  <a:pt x="2472243" y="1492830"/>
                </a:cubicBezTo>
                <a:lnTo>
                  <a:pt x="2471612" y="1496364"/>
                </a:lnTo>
                <a:lnTo>
                  <a:pt x="2476879" y="1497182"/>
                </a:lnTo>
                <a:cubicBezTo>
                  <a:pt x="2479454" y="1497673"/>
                  <a:pt x="2481361" y="1497162"/>
                  <a:pt x="2482598" y="1492682"/>
                </a:cubicBezTo>
                <a:cubicBezTo>
                  <a:pt x="2473530" y="1491738"/>
                  <a:pt x="2476209" y="1491738"/>
                  <a:pt x="2465699" y="1491738"/>
                </a:cubicBezTo>
                <a:close/>
                <a:moveTo>
                  <a:pt x="175697" y="1490832"/>
                </a:moveTo>
                <a:cubicBezTo>
                  <a:pt x="169103" y="1489889"/>
                  <a:pt x="166424" y="1491932"/>
                  <a:pt x="161272" y="1493818"/>
                </a:cubicBezTo>
                <a:cubicBezTo>
                  <a:pt x="166424" y="1493818"/>
                  <a:pt x="165186" y="1496805"/>
                  <a:pt x="171782" y="1495863"/>
                </a:cubicBezTo>
                <a:cubicBezTo>
                  <a:pt x="173018" y="1493818"/>
                  <a:pt x="175697" y="1493818"/>
                  <a:pt x="175697" y="1490832"/>
                </a:cubicBezTo>
                <a:close/>
                <a:moveTo>
                  <a:pt x="2857355" y="1490524"/>
                </a:moveTo>
                <a:cubicBezTo>
                  <a:pt x="2861243" y="1499491"/>
                  <a:pt x="2861243" y="1499491"/>
                  <a:pt x="2861243" y="1499491"/>
                </a:cubicBezTo>
                <a:cubicBezTo>
                  <a:pt x="2838117" y="1501537"/>
                  <a:pt x="2838117" y="1510505"/>
                  <a:pt x="2816014" y="1512550"/>
                </a:cubicBezTo>
                <a:cubicBezTo>
                  <a:pt x="2822563" y="1496502"/>
                  <a:pt x="2847122" y="1504526"/>
                  <a:pt x="2857355" y="1490524"/>
                </a:cubicBezTo>
                <a:close/>
                <a:moveTo>
                  <a:pt x="2967301" y="1488821"/>
                </a:moveTo>
                <a:cubicBezTo>
                  <a:pt x="2971195" y="1493566"/>
                  <a:pt x="2960949" y="1496475"/>
                  <a:pt x="2953163" y="1499382"/>
                </a:cubicBezTo>
                <a:cubicBezTo>
                  <a:pt x="2950499" y="1493566"/>
                  <a:pt x="2962178" y="1487750"/>
                  <a:pt x="2967301" y="1488821"/>
                </a:cubicBezTo>
                <a:close/>
                <a:moveTo>
                  <a:pt x="2937800" y="1488705"/>
                </a:moveTo>
                <a:cubicBezTo>
                  <a:pt x="2939860" y="1489426"/>
                  <a:pt x="2941514" y="1491301"/>
                  <a:pt x="2942119" y="1494796"/>
                </a:cubicBezTo>
                <a:cubicBezTo>
                  <a:pt x="2937072" y="1496681"/>
                  <a:pt x="2930609" y="1498723"/>
                  <a:pt x="2925561" y="1500765"/>
                </a:cubicBezTo>
                <a:cubicBezTo>
                  <a:pt x="2921775" y="1494757"/>
                  <a:pt x="2931619" y="1486541"/>
                  <a:pt x="2937800" y="1488705"/>
                </a:cubicBezTo>
                <a:close/>
                <a:moveTo>
                  <a:pt x="2661329" y="1487750"/>
                </a:moveTo>
                <a:cubicBezTo>
                  <a:pt x="2661329" y="1496607"/>
                  <a:pt x="2654891" y="1493655"/>
                  <a:pt x="2646998" y="1494742"/>
                </a:cubicBezTo>
                <a:cubicBezTo>
                  <a:pt x="2649491" y="1491790"/>
                  <a:pt x="2654891" y="1488838"/>
                  <a:pt x="2661329" y="1487750"/>
                </a:cubicBezTo>
                <a:close/>
                <a:moveTo>
                  <a:pt x="2444884" y="1485764"/>
                </a:moveTo>
                <a:cubicBezTo>
                  <a:pt x="2445863" y="1488004"/>
                  <a:pt x="2445863" y="1490618"/>
                  <a:pt x="2445496" y="1493369"/>
                </a:cubicBezTo>
                <a:lnTo>
                  <a:pt x="2445490" y="1493403"/>
                </a:lnTo>
                <a:lnTo>
                  <a:pt x="2446126" y="1493498"/>
                </a:lnTo>
                <a:lnTo>
                  <a:pt x="2456244" y="1492907"/>
                </a:lnTo>
                <a:lnTo>
                  <a:pt x="2458074" y="1491738"/>
                </a:lnTo>
                <a:cubicBezTo>
                  <a:pt x="2454158" y="1491738"/>
                  <a:pt x="2455394" y="1489694"/>
                  <a:pt x="2458074" y="1487651"/>
                </a:cubicBezTo>
                <a:cubicBezTo>
                  <a:pt x="2452716" y="1486707"/>
                  <a:pt x="2451479" y="1489694"/>
                  <a:pt x="2447563" y="1489694"/>
                </a:cubicBezTo>
                <a:cubicBezTo>
                  <a:pt x="2446327" y="1488751"/>
                  <a:pt x="2447563" y="1485764"/>
                  <a:pt x="2444884" y="1485764"/>
                </a:cubicBezTo>
                <a:close/>
                <a:moveTo>
                  <a:pt x="3002096" y="1480818"/>
                </a:moveTo>
                <a:cubicBezTo>
                  <a:pt x="3008450" y="1488828"/>
                  <a:pt x="3008450" y="1488828"/>
                  <a:pt x="3008450" y="1488828"/>
                </a:cubicBezTo>
                <a:cubicBezTo>
                  <a:pt x="2995537" y="1491812"/>
                  <a:pt x="2989183" y="1500765"/>
                  <a:pt x="2982624" y="1499665"/>
                </a:cubicBezTo>
                <a:cubicBezTo>
                  <a:pt x="2981394" y="1492754"/>
                  <a:pt x="2993078" y="1486786"/>
                  <a:pt x="3002096" y="1480818"/>
                </a:cubicBezTo>
                <a:close/>
                <a:moveTo>
                  <a:pt x="2829838" y="1479385"/>
                </a:moveTo>
                <a:cubicBezTo>
                  <a:pt x="2832378" y="1478853"/>
                  <a:pt x="2834609" y="1478853"/>
                  <a:pt x="2836190" y="1479585"/>
                </a:cubicBezTo>
                <a:cubicBezTo>
                  <a:pt x="2837619" y="1488366"/>
                  <a:pt x="2818239" y="1488366"/>
                  <a:pt x="2807836" y="1493142"/>
                </a:cubicBezTo>
                <a:cubicBezTo>
                  <a:pt x="2811814" y="1487365"/>
                  <a:pt x="2822217" y="1480981"/>
                  <a:pt x="2829838" y="1479385"/>
                </a:cubicBezTo>
                <a:close/>
                <a:moveTo>
                  <a:pt x="2485277" y="1478846"/>
                </a:moveTo>
                <a:cubicBezTo>
                  <a:pt x="2484040" y="1487651"/>
                  <a:pt x="2493108" y="1494726"/>
                  <a:pt x="2498260" y="1489694"/>
                </a:cubicBezTo>
                <a:cubicBezTo>
                  <a:pt x="2495788" y="1483720"/>
                  <a:pt x="2491872" y="1480733"/>
                  <a:pt x="2485277" y="1478846"/>
                </a:cubicBezTo>
                <a:close/>
                <a:moveTo>
                  <a:pt x="2647033" y="1478737"/>
                </a:moveTo>
                <a:cubicBezTo>
                  <a:pt x="2649518" y="1486573"/>
                  <a:pt x="2614311" y="1501459"/>
                  <a:pt x="2605199" y="1486573"/>
                </a:cubicBezTo>
                <a:cubicBezTo>
                  <a:pt x="2609134" y="1478737"/>
                  <a:pt x="2616796" y="1494564"/>
                  <a:pt x="2615554" y="1483595"/>
                </a:cubicBezTo>
                <a:cubicBezTo>
                  <a:pt x="2619489" y="1485632"/>
                  <a:pt x="2630051" y="1482655"/>
                  <a:pt x="2623423" y="1489550"/>
                </a:cubicBezTo>
                <a:cubicBezTo>
                  <a:pt x="2633986" y="1484692"/>
                  <a:pt x="2639163" y="1480618"/>
                  <a:pt x="2647033" y="1478737"/>
                </a:cubicBezTo>
                <a:close/>
                <a:moveTo>
                  <a:pt x="3012939" y="1478628"/>
                </a:moveTo>
                <a:lnTo>
                  <a:pt x="3013191" y="1478637"/>
                </a:lnTo>
                <a:lnTo>
                  <a:pt x="3011693" y="1482505"/>
                </a:lnTo>
                <a:cubicBezTo>
                  <a:pt x="3010446" y="1480489"/>
                  <a:pt x="3010446" y="1479559"/>
                  <a:pt x="3012939" y="1478628"/>
                </a:cubicBezTo>
                <a:close/>
                <a:moveTo>
                  <a:pt x="2792180" y="1466259"/>
                </a:moveTo>
                <a:cubicBezTo>
                  <a:pt x="2792180" y="1476143"/>
                  <a:pt x="2779118" y="1481007"/>
                  <a:pt x="2775178" y="1489009"/>
                </a:cubicBezTo>
                <a:cubicBezTo>
                  <a:pt x="2758175" y="1489950"/>
                  <a:pt x="2746356" y="1495912"/>
                  <a:pt x="2732049" y="1489950"/>
                </a:cubicBezTo>
                <a:cubicBezTo>
                  <a:pt x="2730597" y="1483988"/>
                  <a:pt x="2730597" y="1483988"/>
                  <a:pt x="2730597" y="1483988"/>
                </a:cubicBezTo>
                <a:cubicBezTo>
                  <a:pt x="2750296" y="1473162"/>
                  <a:pt x="2773934" y="1477085"/>
                  <a:pt x="2792180" y="1466259"/>
                </a:cubicBezTo>
                <a:close/>
                <a:moveTo>
                  <a:pt x="2923941" y="1464179"/>
                </a:moveTo>
                <a:cubicBezTo>
                  <a:pt x="2910940" y="1483948"/>
                  <a:pt x="2892573" y="1480967"/>
                  <a:pt x="2871730" y="1493832"/>
                </a:cubicBezTo>
                <a:cubicBezTo>
                  <a:pt x="2867809" y="1486929"/>
                  <a:pt x="2867809" y="1486929"/>
                  <a:pt x="2867809" y="1486929"/>
                </a:cubicBezTo>
                <a:cubicBezTo>
                  <a:pt x="2892573" y="1479084"/>
                  <a:pt x="2908257" y="1468101"/>
                  <a:pt x="2923941" y="1464179"/>
                </a:cubicBezTo>
                <a:close/>
                <a:moveTo>
                  <a:pt x="2263483" y="1463266"/>
                </a:moveTo>
                <a:lnTo>
                  <a:pt x="2257812" y="1463482"/>
                </a:lnTo>
                <a:lnTo>
                  <a:pt x="2253349" y="1466294"/>
                </a:lnTo>
                <a:cubicBezTo>
                  <a:pt x="2251320" y="1466786"/>
                  <a:pt x="2249008" y="1466776"/>
                  <a:pt x="2247127" y="1466142"/>
                </a:cubicBezTo>
                <a:lnTo>
                  <a:pt x="2245092" y="1463965"/>
                </a:lnTo>
                <a:lnTo>
                  <a:pt x="2232347" y="1464450"/>
                </a:lnTo>
                <a:lnTo>
                  <a:pt x="2231457" y="1466082"/>
                </a:lnTo>
                <a:cubicBezTo>
                  <a:pt x="2230349" y="1468460"/>
                  <a:pt x="2229112" y="1471300"/>
                  <a:pt x="2227463" y="1474758"/>
                </a:cubicBezTo>
                <a:cubicBezTo>
                  <a:pt x="2239211" y="1471771"/>
                  <a:pt x="2235296" y="1470828"/>
                  <a:pt x="2243127" y="1475859"/>
                </a:cubicBezTo>
                <a:cubicBezTo>
                  <a:pt x="2245600" y="1475859"/>
                  <a:pt x="2245600" y="1471771"/>
                  <a:pt x="2247042" y="1468941"/>
                </a:cubicBezTo>
                <a:cubicBezTo>
                  <a:pt x="2250287" y="1470670"/>
                  <a:pt x="2253534" y="1471535"/>
                  <a:pt x="2256882" y="1471813"/>
                </a:cubicBezTo>
                <a:lnTo>
                  <a:pt x="2266914" y="1471189"/>
                </a:lnTo>
                <a:lnTo>
                  <a:pt x="2266548" y="1469209"/>
                </a:lnTo>
                <a:lnTo>
                  <a:pt x="2265723" y="1465110"/>
                </a:lnTo>
                <a:lnTo>
                  <a:pt x="2262885" y="1464936"/>
                </a:lnTo>
                <a:close/>
                <a:moveTo>
                  <a:pt x="3051156" y="1462966"/>
                </a:moveTo>
                <a:cubicBezTo>
                  <a:pt x="3043211" y="1467385"/>
                  <a:pt x="3034566" y="1476690"/>
                  <a:pt x="3024080" y="1479037"/>
                </a:cubicBezTo>
                <a:lnTo>
                  <a:pt x="3013191" y="1478637"/>
                </a:lnTo>
                <a:lnTo>
                  <a:pt x="3014150" y="1476159"/>
                </a:lnTo>
                <a:cubicBezTo>
                  <a:pt x="3021286" y="1469014"/>
                  <a:pt x="3040252" y="1460756"/>
                  <a:pt x="3051156" y="1462966"/>
                </a:cubicBezTo>
                <a:close/>
                <a:moveTo>
                  <a:pt x="2866729" y="1462792"/>
                </a:moveTo>
                <a:cubicBezTo>
                  <a:pt x="2867963" y="1462792"/>
                  <a:pt x="2869198" y="1464668"/>
                  <a:pt x="2871872" y="1463731"/>
                </a:cubicBezTo>
                <a:cubicBezTo>
                  <a:pt x="2873107" y="1465763"/>
                  <a:pt x="2874547" y="1464668"/>
                  <a:pt x="2875781" y="1464668"/>
                </a:cubicBezTo>
                <a:cubicBezTo>
                  <a:pt x="2870638" y="1469671"/>
                  <a:pt x="2857471" y="1478581"/>
                  <a:pt x="2847183" y="1476549"/>
                </a:cubicBezTo>
                <a:cubicBezTo>
                  <a:pt x="2843274" y="1466701"/>
                  <a:pt x="2870638" y="1475611"/>
                  <a:pt x="2866729" y="1462792"/>
                </a:cubicBezTo>
                <a:close/>
                <a:moveTo>
                  <a:pt x="157356" y="1462066"/>
                </a:moveTo>
                <a:cubicBezTo>
                  <a:pt x="154882" y="1463167"/>
                  <a:pt x="154882" y="1467096"/>
                  <a:pt x="150967" y="1468040"/>
                </a:cubicBezTo>
                <a:cubicBezTo>
                  <a:pt x="161272" y="1468040"/>
                  <a:pt x="156119" y="1474956"/>
                  <a:pt x="157356" y="1479043"/>
                </a:cubicBezTo>
                <a:cubicBezTo>
                  <a:pt x="171782" y="1483916"/>
                  <a:pt x="171782" y="1485016"/>
                  <a:pt x="191360" y="1485959"/>
                </a:cubicBezTo>
                <a:cubicBezTo>
                  <a:pt x="195275" y="1482973"/>
                  <a:pt x="200428" y="1482029"/>
                  <a:pt x="200428" y="1476999"/>
                </a:cubicBezTo>
                <a:cubicBezTo>
                  <a:pt x="192596" y="1470083"/>
                  <a:pt x="186001" y="1474013"/>
                  <a:pt x="169103" y="1471970"/>
                </a:cubicBezTo>
                <a:cubicBezTo>
                  <a:pt x="165186" y="1468040"/>
                  <a:pt x="169103" y="1462066"/>
                  <a:pt x="157356" y="1462066"/>
                </a:cubicBezTo>
                <a:close/>
                <a:moveTo>
                  <a:pt x="2188045" y="1461987"/>
                </a:moveTo>
                <a:lnTo>
                  <a:pt x="2187818" y="1462908"/>
                </a:lnTo>
                <a:cubicBezTo>
                  <a:pt x="2187329" y="1464893"/>
                  <a:pt x="2186350" y="1468863"/>
                  <a:pt x="2184392" y="1476802"/>
                </a:cubicBezTo>
                <a:cubicBezTo>
                  <a:pt x="2184392" y="1480733"/>
                  <a:pt x="2193666" y="1474758"/>
                  <a:pt x="2200055" y="1477746"/>
                </a:cubicBezTo>
                <a:cubicBezTo>
                  <a:pt x="2201497" y="1469885"/>
                  <a:pt x="2196138" y="1465954"/>
                  <a:pt x="2207886" y="1465954"/>
                </a:cubicBezTo>
                <a:cubicBezTo>
                  <a:pt x="2205413" y="1471771"/>
                  <a:pt x="2201497" y="1472871"/>
                  <a:pt x="2207886" y="1475859"/>
                </a:cubicBezTo>
                <a:cubicBezTo>
                  <a:pt x="2214481" y="1473815"/>
                  <a:pt x="2220869" y="1469885"/>
                  <a:pt x="2227463" y="1467841"/>
                </a:cubicBezTo>
                <a:cubicBezTo>
                  <a:pt x="2226176" y="1467605"/>
                  <a:pt x="2224798" y="1466740"/>
                  <a:pt x="2223658" y="1465622"/>
                </a:cubicBezTo>
                <a:lnTo>
                  <a:pt x="2223083" y="1464719"/>
                </a:lnTo>
                <a:close/>
                <a:moveTo>
                  <a:pt x="2138538" y="1458237"/>
                </a:moveTo>
                <a:lnTo>
                  <a:pt x="2141526" y="1471771"/>
                </a:lnTo>
                <a:cubicBezTo>
                  <a:pt x="2146679" y="1470828"/>
                  <a:pt x="2147915" y="1464854"/>
                  <a:pt x="2151831" y="1469885"/>
                </a:cubicBezTo>
                <a:cubicBezTo>
                  <a:pt x="2150594" y="1473815"/>
                  <a:pt x="2147915" y="1474758"/>
                  <a:pt x="2146679" y="1478846"/>
                </a:cubicBezTo>
                <a:cubicBezTo>
                  <a:pt x="2159662" y="1480733"/>
                  <a:pt x="2147915" y="1464854"/>
                  <a:pt x="2165020" y="1467841"/>
                </a:cubicBezTo>
                <a:cubicBezTo>
                  <a:pt x="2162340" y="1472871"/>
                  <a:pt x="2157189" y="1474758"/>
                  <a:pt x="2155952" y="1481833"/>
                </a:cubicBezTo>
                <a:cubicBezTo>
                  <a:pt x="2169554" y="1474286"/>
                  <a:pt x="2172954" y="1469659"/>
                  <a:pt x="2179803" y="1465296"/>
                </a:cubicBezTo>
                <a:lnTo>
                  <a:pt x="2186477" y="1461864"/>
                </a:lnTo>
                <a:lnTo>
                  <a:pt x="2185655" y="1461801"/>
                </a:lnTo>
                <a:lnTo>
                  <a:pt x="2167445" y="1460045"/>
                </a:lnTo>
                <a:lnTo>
                  <a:pt x="2166655" y="1460557"/>
                </a:lnTo>
                <a:lnTo>
                  <a:pt x="2166227" y="1459928"/>
                </a:lnTo>
                <a:lnTo>
                  <a:pt x="2148981" y="1458266"/>
                </a:lnTo>
                <a:close/>
                <a:moveTo>
                  <a:pt x="2126006" y="1458204"/>
                </a:moveTo>
                <a:lnTo>
                  <a:pt x="2126688" y="1464028"/>
                </a:lnTo>
                <a:cubicBezTo>
                  <a:pt x="2127513" y="1466150"/>
                  <a:pt x="2129161" y="1467919"/>
                  <a:pt x="2132459" y="1468941"/>
                </a:cubicBezTo>
                <a:cubicBezTo>
                  <a:pt x="2132459" y="1468941"/>
                  <a:pt x="2132459" y="1468941"/>
                  <a:pt x="2134932" y="1458879"/>
                </a:cubicBezTo>
                <a:lnTo>
                  <a:pt x="2131760" y="1458219"/>
                </a:lnTo>
                <a:close/>
                <a:moveTo>
                  <a:pt x="2120634" y="1458189"/>
                </a:moveTo>
                <a:lnTo>
                  <a:pt x="2118960" y="1463635"/>
                </a:lnTo>
                <a:cubicBezTo>
                  <a:pt x="2118136" y="1465129"/>
                  <a:pt x="2116796" y="1465875"/>
                  <a:pt x="2114117" y="1464854"/>
                </a:cubicBezTo>
                <a:cubicBezTo>
                  <a:pt x="2114117" y="1462967"/>
                  <a:pt x="2116796" y="1461866"/>
                  <a:pt x="2116796" y="1460923"/>
                </a:cubicBezTo>
                <a:cubicBezTo>
                  <a:pt x="2114323" y="1461690"/>
                  <a:pt x="2112604" y="1460754"/>
                  <a:pt x="2111214" y="1459657"/>
                </a:cubicBezTo>
                <a:lnTo>
                  <a:pt x="2109274" y="1458459"/>
                </a:lnTo>
                <a:lnTo>
                  <a:pt x="2106227" y="1458806"/>
                </a:lnTo>
                <a:lnTo>
                  <a:pt x="2105049" y="1459980"/>
                </a:lnTo>
                <a:cubicBezTo>
                  <a:pt x="2107728" y="1459980"/>
                  <a:pt x="2107728" y="1463910"/>
                  <a:pt x="2106286" y="1466897"/>
                </a:cubicBezTo>
                <a:cubicBezTo>
                  <a:pt x="2112880" y="1466897"/>
                  <a:pt x="2120712" y="1466897"/>
                  <a:pt x="2121948" y="1469885"/>
                </a:cubicBezTo>
                <a:cubicBezTo>
                  <a:pt x="2125246" y="1467919"/>
                  <a:pt x="2125246" y="1465915"/>
                  <a:pt x="2124267" y="1463910"/>
                </a:cubicBezTo>
                <a:lnTo>
                  <a:pt x="2120863" y="1458190"/>
                </a:lnTo>
                <a:close/>
                <a:moveTo>
                  <a:pt x="3004541" y="1453780"/>
                </a:moveTo>
                <a:cubicBezTo>
                  <a:pt x="3001872" y="1461698"/>
                  <a:pt x="3010908" y="1460748"/>
                  <a:pt x="3014810" y="1467716"/>
                </a:cubicBezTo>
                <a:cubicBezTo>
                  <a:pt x="3010908" y="1470724"/>
                  <a:pt x="3010908" y="1474683"/>
                  <a:pt x="3004541" y="1477692"/>
                </a:cubicBezTo>
                <a:cubicBezTo>
                  <a:pt x="2997968" y="1476742"/>
                  <a:pt x="2995299" y="1469774"/>
                  <a:pt x="2990164" y="1468824"/>
                </a:cubicBezTo>
                <a:cubicBezTo>
                  <a:pt x="2973323" y="1476742"/>
                  <a:pt x="2972090" y="1484819"/>
                  <a:pt x="2955043" y="1480701"/>
                </a:cubicBezTo>
                <a:cubicBezTo>
                  <a:pt x="2972090" y="1467716"/>
                  <a:pt x="2986261" y="1466765"/>
                  <a:pt x="3004541" y="1453780"/>
                </a:cubicBezTo>
                <a:close/>
                <a:moveTo>
                  <a:pt x="2477214" y="1453750"/>
                </a:moveTo>
                <a:cubicBezTo>
                  <a:pt x="2472963" y="1454988"/>
                  <a:pt x="2470336" y="1457464"/>
                  <a:pt x="2473530" y="1460923"/>
                </a:cubicBezTo>
                <a:cubicBezTo>
                  <a:pt x="2476209" y="1455892"/>
                  <a:pt x="2482598" y="1465954"/>
                  <a:pt x="2487956" y="1464854"/>
                </a:cubicBezTo>
                <a:cubicBezTo>
                  <a:pt x="2485277" y="1457936"/>
                  <a:pt x="2486513" y="1458879"/>
                  <a:pt x="2490635" y="1454005"/>
                </a:cubicBezTo>
                <a:cubicBezTo>
                  <a:pt x="2487337" y="1452512"/>
                  <a:pt x="2481464" y="1452512"/>
                  <a:pt x="2477214" y="1453750"/>
                </a:cubicBezTo>
                <a:close/>
                <a:moveTo>
                  <a:pt x="2607235" y="1453284"/>
                </a:moveTo>
                <a:cubicBezTo>
                  <a:pt x="2608414" y="1453647"/>
                  <a:pt x="2610092" y="1454374"/>
                  <a:pt x="2614076" y="1453915"/>
                </a:cubicBezTo>
                <a:cubicBezTo>
                  <a:pt x="2614076" y="1457741"/>
                  <a:pt x="2614076" y="1457741"/>
                  <a:pt x="2614076" y="1457741"/>
                </a:cubicBezTo>
                <a:cubicBezTo>
                  <a:pt x="2607366" y="1458659"/>
                  <a:pt x="2610092" y="1462639"/>
                  <a:pt x="2603381" y="1459731"/>
                </a:cubicBezTo>
                <a:cubicBezTo>
                  <a:pt x="2603381" y="1454833"/>
                  <a:pt x="2603381" y="1454833"/>
                  <a:pt x="2603381" y="1454833"/>
                </a:cubicBezTo>
                <a:cubicBezTo>
                  <a:pt x="2605374" y="1452920"/>
                  <a:pt x="2606056" y="1452920"/>
                  <a:pt x="2607235" y="1453284"/>
                </a:cubicBezTo>
                <a:close/>
                <a:moveTo>
                  <a:pt x="2533500" y="1451962"/>
                </a:moveTo>
                <a:cubicBezTo>
                  <a:pt x="2532264" y="1455892"/>
                  <a:pt x="2536180" y="1456992"/>
                  <a:pt x="2536180" y="1460923"/>
                </a:cubicBezTo>
                <a:cubicBezTo>
                  <a:pt x="2542569" y="1460923"/>
                  <a:pt x="2546484" y="1458879"/>
                  <a:pt x="2547927" y="1454949"/>
                </a:cubicBezTo>
                <a:cubicBezTo>
                  <a:pt x="2545247" y="1449918"/>
                  <a:pt x="2538653" y="1460923"/>
                  <a:pt x="2536180" y="1454005"/>
                </a:cubicBezTo>
                <a:cubicBezTo>
                  <a:pt x="2538653" y="1454005"/>
                  <a:pt x="2537417" y="1451018"/>
                  <a:pt x="2533500" y="1451962"/>
                </a:cubicBezTo>
                <a:close/>
                <a:moveTo>
                  <a:pt x="3041166" y="1451959"/>
                </a:moveTo>
                <a:cubicBezTo>
                  <a:pt x="3038541" y="1457037"/>
                  <a:pt x="3030868" y="1464020"/>
                  <a:pt x="3023194" y="1463068"/>
                </a:cubicBezTo>
                <a:cubicBezTo>
                  <a:pt x="3025819" y="1458942"/>
                  <a:pt x="3034704" y="1451007"/>
                  <a:pt x="3041166" y="1451959"/>
                </a:cubicBezTo>
                <a:close/>
                <a:moveTo>
                  <a:pt x="2445400" y="1448385"/>
                </a:moveTo>
                <a:cubicBezTo>
                  <a:pt x="2441639" y="1448267"/>
                  <a:pt x="2438393" y="1449525"/>
                  <a:pt x="2439732" y="1454005"/>
                </a:cubicBezTo>
                <a:cubicBezTo>
                  <a:pt x="2442411" y="1454949"/>
                  <a:pt x="2451479" y="1451018"/>
                  <a:pt x="2451479" y="1455892"/>
                </a:cubicBezTo>
                <a:cubicBezTo>
                  <a:pt x="2446327" y="1455892"/>
                  <a:pt x="2447563" y="1461866"/>
                  <a:pt x="2440968" y="1460923"/>
                </a:cubicBezTo>
                <a:cubicBezTo>
                  <a:pt x="2435816" y="1458879"/>
                  <a:pt x="2425305" y="1459980"/>
                  <a:pt x="2424069" y="1458879"/>
                </a:cubicBezTo>
                <a:cubicBezTo>
                  <a:pt x="2429221" y="1463910"/>
                  <a:pt x="2420154" y="1468941"/>
                  <a:pt x="2416238" y="1463910"/>
                </a:cubicBezTo>
                <a:cubicBezTo>
                  <a:pt x="2415002" y="1470828"/>
                  <a:pt x="2418917" y="1472871"/>
                  <a:pt x="2422833" y="1474758"/>
                </a:cubicBezTo>
                <a:cubicBezTo>
                  <a:pt x="2422833" y="1470828"/>
                  <a:pt x="2425305" y="1468941"/>
                  <a:pt x="2427985" y="1467841"/>
                </a:cubicBezTo>
                <a:cubicBezTo>
                  <a:pt x="2434579" y="1483720"/>
                  <a:pt x="2434579" y="1458879"/>
                  <a:pt x="2443648" y="1473815"/>
                </a:cubicBezTo>
                <a:cubicBezTo>
                  <a:pt x="2444884" y="1461866"/>
                  <a:pt x="2455394" y="1469885"/>
                  <a:pt x="2458074" y="1473815"/>
                </a:cubicBezTo>
                <a:cubicBezTo>
                  <a:pt x="2455394" y="1463910"/>
                  <a:pt x="2463226" y="1463910"/>
                  <a:pt x="2463226" y="1456992"/>
                </a:cubicBezTo>
                <a:cubicBezTo>
                  <a:pt x="2455394" y="1460923"/>
                  <a:pt x="2448799" y="1459980"/>
                  <a:pt x="2454158" y="1451018"/>
                </a:cubicBezTo>
                <a:cubicBezTo>
                  <a:pt x="2453437" y="1449996"/>
                  <a:pt x="2449161" y="1448503"/>
                  <a:pt x="2445400" y="1448385"/>
                </a:cubicBezTo>
                <a:close/>
                <a:moveTo>
                  <a:pt x="2960558" y="1446585"/>
                </a:moveTo>
                <a:cubicBezTo>
                  <a:pt x="2963950" y="1446809"/>
                  <a:pt x="2967113" y="1447772"/>
                  <a:pt x="2969377" y="1449698"/>
                </a:cubicBezTo>
                <a:cubicBezTo>
                  <a:pt x="2958884" y="1456630"/>
                  <a:pt x="2951065" y="1453703"/>
                  <a:pt x="2942012" y="1458479"/>
                </a:cubicBezTo>
                <a:cubicBezTo>
                  <a:pt x="2938156" y="1451893"/>
                  <a:pt x="2950384" y="1445913"/>
                  <a:pt x="2960558" y="1446585"/>
                </a:cubicBezTo>
                <a:close/>
                <a:moveTo>
                  <a:pt x="2611877" y="1444376"/>
                </a:moveTo>
                <a:cubicBezTo>
                  <a:pt x="2614326" y="1444714"/>
                  <a:pt x="2616380" y="1446076"/>
                  <a:pt x="2617715" y="1449053"/>
                </a:cubicBezTo>
                <a:cubicBezTo>
                  <a:pt x="2606008" y="1455010"/>
                  <a:pt x="2600873" y="1448113"/>
                  <a:pt x="2587934" y="1452972"/>
                </a:cubicBezTo>
                <a:cubicBezTo>
                  <a:pt x="2593634" y="1451562"/>
                  <a:pt x="2604532" y="1443362"/>
                  <a:pt x="2611877" y="1444376"/>
                </a:cubicBezTo>
                <a:close/>
                <a:moveTo>
                  <a:pt x="2319853" y="1443298"/>
                </a:moveTo>
                <a:lnTo>
                  <a:pt x="2316948" y="1445418"/>
                </a:lnTo>
                <a:lnTo>
                  <a:pt x="2322470" y="1445987"/>
                </a:lnTo>
                <a:lnTo>
                  <a:pt x="2319382" y="1451044"/>
                </a:lnTo>
                <a:lnTo>
                  <a:pt x="2324178" y="1451273"/>
                </a:lnTo>
                <a:lnTo>
                  <a:pt x="2324402" y="1451329"/>
                </a:lnTo>
                <a:lnTo>
                  <a:pt x="2324637" y="1450414"/>
                </a:lnTo>
                <a:cubicBezTo>
                  <a:pt x="2325265" y="1448582"/>
                  <a:pt x="2326179" y="1446969"/>
                  <a:pt x="2327828" y="1445987"/>
                </a:cubicBezTo>
                <a:cubicBezTo>
                  <a:pt x="2327106" y="1444493"/>
                  <a:pt x="2325458" y="1443983"/>
                  <a:pt x="2323500" y="1443727"/>
                </a:cubicBezTo>
                <a:close/>
                <a:moveTo>
                  <a:pt x="3025625" y="1442267"/>
                </a:moveTo>
                <a:cubicBezTo>
                  <a:pt x="3031032" y="1442260"/>
                  <a:pt x="3034155" y="1447595"/>
                  <a:pt x="3032198" y="1451347"/>
                </a:cubicBezTo>
                <a:cubicBezTo>
                  <a:pt x="3027183" y="1454317"/>
                  <a:pt x="3023371" y="1449315"/>
                  <a:pt x="3019559" y="1444312"/>
                </a:cubicBezTo>
                <a:cubicBezTo>
                  <a:pt x="3021766" y="1442866"/>
                  <a:pt x="3023822" y="1442270"/>
                  <a:pt x="3025625" y="1442267"/>
                </a:cubicBezTo>
                <a:close/>
                <a:moveTo>
                  <a:pt x="2305333" y="1441301"/>
                </a:moveTo>
                <a:cubicBezTo>
                  <a:pt x="2305333" y="1441301"/>
                  <a:pt x="2306740" y="1441595"/>
                  <a:pt x="2308498" y="1441962"/>
                </a:cubicBezTo>
                <a:lnTo>
                  <a:pt x="2309625" y="1442198"/>
                </a:lnTo>
                <a:close/>
                <a:moveTo>
                  <a:pt x="2532264" y="1436082"/>
                </a:moveTo>
                <a:cubicBezTo>
                  <a:pt x="2521754" y="1441113"/>
                  <a:pt x="2522990" y="1452904"/>
                  <a:pt x="2510008" y="1451962"/>
                </a:cubicBezTo>
                <a:cubicBezTo>
                  <a:pt x="2515365" y="1451962"/>
                  <a:pt x="2512686" y="1458879"/>
                  <a:pt x="2517839" y="1457936"/>
                </a:cubicBezTo>
                <a:cubicBezTo>
                  <a:pt x="2522990" y="1451018"/>
                  <a:pt x="2536180" y="1443000"/>
                  <a:pt x="2532264" y="1436082"/>
                </a:cubicBezTo>
                <a:close/>
                <a:moveTo>
                  <a:pt x="2431421" y="1435320"/>
                </a:moveTo>
                <a:cubicBezTo>
                  <a:pt x="2428281" y="1435837"/>
                  <a:pt x="2428243" y="1439580"/>
                  <a:pt x="2425305" y="1441113"/>
                </a:cubicBezTo>
                <a:cubicBezTo>
                  <a:pt x="2426749" y="1437025"/>
                  <a:pt x="2422833" y="1435139"/>
                  <a:pt x="2420154" y="1439069"/>
                </a:cubicBezTo>
                <a:cubicBezTo>
                  <a:pt x="2425305" y="1439069"/>
                  <a:pt x="2421597" y="1445987"/>
                  <a:pt x="2425305" y="1448031"/>
                </a:cubicBezTo>
                <a:cubicBezTo>
                  <a:pt x="2425305" y="1448031"/>
                  <a:pt x="2425305" y="1448031"/>
                  <a:pt x="2431901" y="1446930"/>
                </a:cubicBezTo>
                <a:cubicBezTo>
                  <a:pt x="2434579" y="1443943"/>
                  <a:pt x="2435816" y="1441113"/>
                  <a:pt x="2435816" y="1436082"/>
                </a:cubicBezTo>
                <a:cubicBezTo>
                  <a:pt x="2433859" y="1435335"/>
                  <a:pt x="2432467" y="1435149"/>
                  <a:pt x="2431421" y="1435320"/>
                </a:cubicBezTo>
                <a:close/>
                <a:moveTo>
                  <a:pt x="2439732" y="1435139"/>
                </a:moveTo>
                <a:cubicBezTo>
                  <a:pt x="2437053" y="1438126"/>
                  <a:pt x="2435816" y="1446930"/>
                  <a:pt x="2442411" y="1446930"/>
                </a:cubicBezTo>
                <a:cubicBezTo>
                  <a:pt x="2444987" y="1444493"/>
                  <a:pt x="2446275" y="1442292"/>
                  <a:pt x="2445940" y="1440327"/>
                </a:cubicBezTo>
                <a:lnTo>
                  <a:pt x="2441842" y="1436902"/>
                </a:lnTo>
                <a:lnTo>
                  <a:pt x="2439818" y="1437042"/>
                </a:lnTo>
                <a:lnTo>
                  <a:pt x="2441127" y="1436304"/>
                </a:lnTo>
                <a:close/>
                <a:moveTo>
                  <a:pt x="2719712" y="1434392"/>
                </a:moveTo>
                <a:cubicBezTo>
                  <a:pt x="2721514" y="1434512"/>
                  <a:pt x="2723011" y="1434781"/>
                  <a:pt x="2723688" y="1435061"/>
                </a:cubicBezTo>
                <a:cubicBezTo>
                  <a:pt x="2724937" y="1440021"/>
                  <a:pt x="2713067" y="1439061"/>
                  <a:pt x="2709111" y="1441141"/>
                </a:cubicBezTo>
                <a:cubicBezTo>
                  <a:pt x="2706143" y="1435022"/>
                  <a:pt x="2714304" y="1434032"/>
                  <a:pt x="2719712" y="1434392"/>
                </a:cubicBezTo>
                <a:close/>
                <a:moveTo>
                  <a:pt x="2467964" y="1433186"/>
                </a:moveTo>
                <a:lnTo>
                  <a:pt x="2459310" y="1439069"/>
                </a:lnTo>
                <a:cubicBezTo>
                  <a:pt x="2464463" y="1439541"/>
                  <a:pt x="2468378" y="1438794"/>
                  <a:pt x="2471495" y="1437301"/>
                </a:cubicBezTo>
                <a:lnTo>
                  <a:pt x="2474852" y="1434463"/>
                </a:lnTo>
                <a:close/>
                <a:moveTo>
                  <a:pt x="2478888" y="1431051"/>
                </a:moveTo>
                <a:lnTo>
                  <a:pt x="2476688" y="1431366"/>
                </a:lnTo>
                <a:lnTo>
                  <a:pt x="2477250" y="1432436"/>
                </a:lnTo>
                <a:close/>
                <a:moveTo>
                  <a:pt x="2458388" y="1426784"/>
                </a:moveTo>
                <a:lnTo>
                  <a:pt x="2458074" y="1428064"/>
                </a:lnTo>
                <a:lnTo>
                  <a:pt x="2460806" y="1427350"/>
                </a:lnTo>
                <a:lnTo>
                  <a:pt x="2460634" y="1427141"/>
                </a:lnTo>
                <a:close/>
                <a:moveTo>
                  <a:pt x="2511147" y="1426150"/>
                </a:moveTo>
                <a:cubicBezTo>
                  <a:pt x="2506723" y="1426364"/>
                  <a:pt x="2501661" y="1431641"/>
                  <a:pt x="2495788" y="1430107"/>
                </a:cubicBezTo>
                <a:cubicBezTo>
                  <a:pt x="2495788" y="1430107"/>
                  <a:pt x="2495788" y="1430107"/>
                  <a:pt x="2495788" y="1437025"/>
                </a:cubicBezTo>
                <a:cubicBezTo>
                  <a:pt x="2507534" y="1435139"/>
                  <a:pt x="2513923" y="1434038"/>
                  <a:pt x="2515365" y="1428064"/>
                </a:cubicBezTo>
                <a:cubicBezTo>
                  <a:pt x="2514026" y="1426570"/>
                  <a:pt x="2512622" y="1426079"/>
                  <a:pt x="2511147" y="1426150"/>
                </a:cubicBezTo>
                <a:close/>
                <a:moveTo>
                  <a:pt x="2495788" y="1423190"/>
                </a:moveTo>
                <a:lnTo>
                  <a:pt x="2495697" y="1423411"/>
                </a:lnTo>
                <a:lnTo>
                  <a:pt x="2490635" y="1424133"/>
                </a:lnTo>
                <a:cubicBezTo>
                  <a:pt x="2495788" y="1423190"/>
                  <a:pt x="2495788" y="1423190"/>
                  <a:pt x="2495788" y="1423190"/>
                </a:cubicBezTo>
                <a:close/>
                <a:moveTo>
                  <a:pt x="2390409" y="1420405"/>
                </a:moveTo>
                <a:cubicBezTo>
                  <a:pt x="2377427" y="1421348"/>
                  <a:pt x="2364444" y="1420405"/>
                  <a:pt x="2351256" y="1428266"/>
                </a:cubicBezTo>
                <a:cubicBezTo>
                  <a:pt x="2352699" y="1420405"/>
                  <a:pt x="2339510" y="1429366"/>
                  <a:pt x="2334359" y="1429366"/>
                </a:cubicBezTo>
                <a:cubicBezTo>
                  <a:pt x="2329207" y="1427323"/>
                  <a:pt x="2330443" y="1419304"/>
                  <a:pt x="2322612" y="1421348"/>
                </a:cubicBezTo>
                <a:cubicBezTo>
                  <a:pt x="2317461" y="1427323"/>
                  <a:pt x="2309631" y="1435341"/>
                  <a:pt x="2305715" y="1438329"/>
                </a:cubicBezTo>
                <a:cubicBezTo>
                  <a:pt x="2304479" y="1435341"/>
                  <a:pt x="2300564" y="1433297"/>
                  <a:pt x="2295412" y="1431254"/>
                </a:cubicBezTo>
                <a:cubicBezTo>
                  <a:pt x="2292733" y="1425279"/>
                  <a:pt x="2307157" y="1430310"/>
                  <a:pt x="2303243" y="1424335"/>
                </a:cubicBezTo>
                <a:cubicBezTo>
                  <a:pt x="2297370" y="1425043"/>
                  <a:pt x="2286281" y="1424689"/>
                  <a:pt x="2280060" y="1427386"/>
                </a:cubicBezTo>
                <a:lnTo>
                  <a:pt x="2276502" y="1430644"/>
                </a:lnTo>
                <a:lnTo>
                  <a:pt x="2277050" y="1431256"/>
                </a:lnTo>
                <a:lnTo>
                  <a:pt x="2284259" y="1431273"/>
                </a:lnTo>
                <a:cubicBezTo>
                  <a:pt x="2286860" y="1431017"/>
                  <a:pt x="2288818" y="1431253"/>
                  <a:pt x="2288818" y="1434240"/>
                </a:cubicBezTo>
                <a:lnTo>
                  <a:pt x="2281894" y="1435516"/>
                </a:lnTo>
                <a:lnTo>
                  <a:pt x="2290286" y="1442092"/>
                </a:lnTo>
                <a:lnTo>
                  <a:pt x="2291350" y="1440013"/>
                </a:lnTo>
                <a:cubicBezTo>
                  <a:pt x="2295215" y="1445201"/>
                  <a:pt x="2300586" y="1442076"/>
                  <a:pt x="2303030" y="1444766"/>
                </a:cubicBezTo>
                <a:lnTo>
                  <a:pt x="2303843" y="1447979"/>
                </a:lnTo>
                <a:lnTo>
                  <a:pt x="2304273" y="1448038"/>
                </a:lnTo>
                <a:lnTo>
                  <a:pt x="2306126" y="1448893"/>
                </a:lnTo>
                <a:lnTo>
                  <a:pt x="2312938" y="1445004"/>
                </a:lnTo>
                <a:lnTo>
                  <a:pt x="2314553" y="1445171"/>
                </a:lnTo>
                <a:lnTo>
                  <a:pt x="2311387" y="1443532"/>
                </a:lnTo>
                <a:lnTo>
                  <a:pt x="2311046" y="1442494"/>
                </a:lnTo>
                <a:lnTo>
                  <a:pt x="2310615" y="1441181"/>
                </a:lnTo>
                <a:cubicBezTo>
                  <a:pt x="2314661" y="1442114"/>
                  <a:pt x="2312106" y="1439162"/>
                  <a:pt x="2316152" y="1437141"/>
                </a:cubicBezTo>
                <a:cubicBezTo>
                  <a:pt x="2318176" y="1437685"/>
                  <a:pt x="2318495" y="1438423"/>
                  <a:pt x="2318814" y="1439278"/>
                </a:cubicBezTo>
                <a:lnTo>
                  <a:pt x="2320408" y="1440975"/>
                </a:lnTo>
                <a:lnTo>
                  <a:pt x="2326772" y="1436809"/>
                </a:lnTo>
                <a:cubicBezTo>
                  <a:pt x="2329373" y="1434824"/>
                  <a:pt x="2329682" y="1433095"/>
                  <a:pt x="2322470" y="1432152"/>
                </a:cubicBezTo>
                <a:cubicBezTo>
                  <a:pt x="2327003" y="1429636"/>
                  <a:pt x="2332876" y="1430383"/>
                  <a:pt x="2337462" y="1433114"/>
                </a:cubicBezTo>
                <a:lnTo>
                  <a:pt x="2340244" y="1435819"/>
                </a:lnTo>
                <a:lnTo>
                  <a:pt x="2345644" y="1433685"/>
                </a:lnTo>
                <a:cubicBezTo>
                  <a:pt x="2348601" y="1433200"/>
                  <a:pt x="2351558" y="1432695"/>
                  <a:pt x="2354152" y="1430209"/>
                </a:cubicBezTo>
                <a:cubicBezTo>
                  <a:pt x="2358094" y="1435181"/>
                  <a:pt x="2363281" y="1432229"/>
                  <a:pt x="2360792" y="1438134"/>
                </a:cubicBezTo>
                <a:cubicBezTo>
                  <a:pt x="2354878" y="1433705"/>
                  <a:pt x="2348965" y="1436444"/>
                  <a:pt x="2343051" y="1437238"/>
                </a:cubicBezTo>
                <a:lnTo>
                  <a:pt x="2341658" y="1437192"/>
                </a:lnTo>
                <a:lnTo>
                  <a:pt x="2343045" y="1438541"/>
                </a:lnTo>
                <a:cubicBezTo>
                  <a:pt x="2344366" y="1440740"/>
                  <a:pt x="2345036" y="1443275"/>
                  <a:pt x="2344727" y="1445987"/>
                </a:cubicBezTo>
                <a:cubicBezTo>
                  <a:pt x="2338854" y="1444022"/>
                  <a:pt x="2336535" y="1447991"/>
                  <a:pt x="2334731" y="1451588"/>
                </a:cubicBezTo>
                <a:lnTo>
                  <a:pt x="2333467" y="1453615"/>
                </a:lnTo>
                <a:lnTo>
                  <a:pt x="2345123" y="1456554"/>
                </a:lnTo>
                <a:lnTo>
                  <a:pt x="2364616" y="1465367"/>
                </a:lnTo>
                <a:lnTo>
                  <a:pt x="2369456" y="1464854"/>
                </a:lnTo>
                <a:lnTo>
                  <a:pt x="2370309" y="1467941"/>
                </a:lnTo>
                <a:lnTo>
                  <a:pt x="2377280" y="1471093"/>
                </a:lnTo>
                <a:lnTo>
                  <a:pt x="2378525" y="1470828"/>
                </a:lnTo>
                <a:cubicBezTo>
                  <a:pt x="2369456" y="1466897"/>
                  <a:pt x="2379761" y="1466897"/>
                  <a:pt x="2379761" y="1457936"/>
                </a:cubicBezTo>
                <a:cubicBezTo>
                  <a:pt x="2387593" y="1454949"/>
                  <a:pt x="2383677" y="1463910"/>
                  <a:pt x="2389035" y="1463910"/>
                </a:cubicBezTo>
                <a:cubicBezTo>
                  <a:pt x="2387593" y="1466897"/>
                  <a:pt x="2383677" y="1465954"/>
                  <a:pt x="2383677" y="1468941"/>
                </a:cubicBezTo>
                <a:cubicBezTo>
                  <a:pt x="2385119" y="1470828"/>
                  <a:pt x="2385119" y="1472871"/>
                  <a:pt x="2387593" y="1473815"/>
                </a:cubicBezTo>
                <a:cubicBezTo>
                  <a:pt x="2392950" y="1472871"/>
                  <a:pt x="2390271" y="1465954"/>
                  <a:pt x="2394187" y="1463910"/>
                </a:cubicBezTo>
                <a:cubicBezTo>
                  <a:pt x="2395423" y="1457936"/>
                  <a:pt x="2385119" y="1458879"/>
                  <a:pt x="2394187" y="1454949"/>
                </a:cubicBezTo>
                <a:cubicBezTo>
                  <a:pt x="2394187" y="1454005"/>
                  <a:pt x="2385119" y="1451962"/>
                  <a:pt x="2382440" y="1454949"/>
                </a:cubicBezTo>
                <a:cubicBezTo>
                  <a:pt x="2383058" y="1450939"/>
                  <a:pt x="2381771" y="1447952"/>
                  <a:pt x="2380637" y="1445221"/>
                </a:cubicBezTo>
                <a:lnTo>
                  <a:pt x="2380628" y="1445139"/>
                </a:lnTo>
                <a:lnTo>
                  <a:pt x="2378500" y="1445998"/>
                </a:lnTo>
                <a:cubicBezTo>
                  <a:pt x="2378500" y="1445998"/>
                  <a:pt x="2378500" y="1445998"/>
                  <a:pt x="2373485" y="1443039"/>
                </a:cubicBezTo>
                <a:cubicBezTo>
                  <a:pt x="2375390" y="1441091"/>
                  <a:pt x="2377898" y="1439143"/>
                  <a:pt x="2379779" y="1437313"/>
                </a:cubicBezTo>
                <a:lnTo>
                  <a:pt x="2379790" y="1437292"/>
                </a:lnTo>
                <a:lnTo>
                  <a:pt x="2379761" y="1437025"/>
                </a:lnTo>
                <a:lnTo>
                  <a:pt x="2379905" y="1437063"/>
                </a:lnTo>
                <a:lnTo>
                  <a:pt x="2382312" y="1432289"/>
                </a:lnTo>
                <a:cubicBezTo>
                  <a:pt x="2386123" y="1434158"/>
                  <a:pt x="2384919" y="1436183"/>
                  <a:pt x="2388732" y="1437118"/>
                </a:cubicBezTo>
                <a:lnTo>
                  <a:pt x="2384389" y="1439609"/>
                </a:lnTo>
                <a:lnTo>
                  <a:pt x="2385145" y="1441408"/>
                </a:lnTo>
                <a:cubicBezTo>
                  <a:pt x="2385635" y="1444022"/>
                  <a:pt x="2385635" y="1447009"/>
                  <a:pt x="2387593" y="1448031"/>
                </a:cubicBezTo>
                <a:cubicBezTo>
                  <a:pt x="2392950" y="1445043"/>
                  <a:pt x="2402018" y="1445987"/>
                  <a:pt x="2405934" y="1441113"/>
                </a:cubicBezTo>
                <a:cubicBezTo>
                  <a:pt x="2400782" y="1436082"/>
                  <a:pt x="2389035" y="1445043"/>
                  <a:pt x="2390271" y="1432152"/>
                </a:cubicBezTo>
                <a:cubicBezTo>
                  <a:pt x="2394805" y="1435139"/>
                  <a:pt x="2396454" y="1433645"/>
                  <a:pt x="2396789" y="1431031"/>
                </a:cubicBezTo>
                <a:lnTo>
                  <a:pt x="2396611" y="1428331"/>
                </a:lnTo>
                <a:lnTo>
                  <a:pt x="2393088" y="1431254"/>
                </a:lnTo>
                <a:cubicBezTo>
                  <a:pt x="2391130" y="1430507"/>
                  <a:pt x="2390551" y="1429642"/>
                  <a:pt x="2390641" y="1428718"/>
                </a:cubicBezTo>
                <a:lnTo>
                  <a:pt x="2391638" y="1426884"/>
                </a:lnTo>
                <a:lnTo>
                  <a:pt x="2388638" y="1430303"/>
                </a:lnTo>
                <a:cubicBezTo>
                  <a:pt x="2386667" y="1431643"/>
                  <a:pt x="2384056" y="1432370"/>
                  <a:pt x="2380165" y="1431910"/>
                </a:cubicBezTo>
                <a:lnTo>
                  <a:pt x="2380796" y="1428511"/>
                </a:lnTo>
                <a:lnTo>
                  <a:pt x="2379178" y="1429622"/>
                </a:lnTo>
                <a:cubicBezTo>
                  <a:pt x="2375791" y="1430632"/>
                  <a:pt x="2371847" y="1429130"/>
                  <a:pt x="2367786" y="1434214"/>
                </a:cubicBezTo>
                <a:cubicBezTo>
                  <a:pt x="2367786" y="1434214"/>
                  <a:pt x="2367786" y="1434214"/>
                  <a:pt x="2362581" y="1431287"/>
                </a:cubicBezTo>
                <a:cubicBezTo>
                  <a:pt x="2367162" y="1430363"/>
                  <a:pt x="2370806" y="1429400"/>
                  <a:pt x="2373956" y="1428668"/>
                </a:cubicBezTo>
                <a:lnTo>
                  <a:pt x="2380957" y="1427642"/>
                </a:lnTo>
                <a:lnTo>
                  <a:pt x="2381147" y="1426616"/>
                </a:lnTo>
                <a:cubicBezTo>
                  <a:pt x="2382015" y="1425262"/>
                  <a:pt x="2383327" y="1424315"/>
                  <a:pt x="2384798" y="1423760"/>
                </a:cubicBezTo>
                <a:lnTo>
                  <a:pt x="2392630" y="1424927"/>
                </a:lnTo>
                <a:lnTo>
                  <a:pt x="2393552" y="1422940"/>
                </a:lnTo>
                <a:cubicBezTo>
                  <a:pt x="2393487" y="1422016"/>
                  <a:pt x="2392676" y="1421152"/>
                  <a:pt x="2390409" y="1420405"/>
                </a:cubicBezTo>
                <a:close/>
                <a:moveTo>
                  <a:pt x="2467141" y="1420202"/>
                </a:moveTo>
                <a:lnTo>
                  <a:pt x="2466331" y="1420384"/>
                </a:lnTo>
                <a:lnTo>
                  <a:pt x="2463932" y="1421440"/>
                </a:lnTo>
                <a:cubicBezTo>
                  <a:pt x="2461503" y="1422296"/>
                  <a:pt x="2459867" y="1423269"/>
                  <a:pt x="2461708" y="1425214"/>
                </a:cubicBezTo>
                <a:lnTo>
                  <a:pt x="2464870" y="1425589"/>
                </a:lnTo>
                <a:close/>
                <a:moveTo>
                  <a:pt x="2614078" y="1419116"/>
                </a:moveTo>
                <a:cubicBezTo>
                  <a:pt x="2612622" y="1425075"/>
                  <a:pt x="2603469" y="1426173"/>
                  <a:pt x="2603469" y="1432132"/>
                </a:cubicBezTo>
                <a:cubicBezTo>
                  <a:pt x="2599517" y="1431034"/>
                  <a:pt x="2598269" y="1428055"/>
                  <a:pt x="2597021" y="1424134"/>
                </a:cubicBezTo>
                <a:cubicBezTo>
                  <a:pt x="2602221" y="1422096"/>
                  <a:pt x="2606173" y="1419116"/>
                  <a:pt x="2614078" y="1419116"/>
                </a:cubicBezTo>
                <a:close/>
                <a:moveTo>
                  <a:pt x="2484129" y="1418940"/>
                </a:moveTo>
                <a:lnTo>
                  <a:pt x="2484530" y="1421657"/>
                </a:lnTo>
                <a:cubicBezTo>
                  <a:pt x="2486308" y="1426374"/>
                  <a:pt x="2489193" y="1431601"/>
                  <a:pt x="2486513" y="1438126"/>
                </a:cubicBezTo>
                <a:cubicBezTo>
                  <a:pt x="2486513" y="1438126"/>
                  <a:pt x="2486513" y="1438126"/>
                  <a:pt x="2490635" y="1437025"/>
                </a:cubicBezTo>
                <a:cubicBezTo>
                  <a:pt x="2493211" y="1435532"/>
                  <a:pt x="2492851" y="1433292"/>
                  <a:pt x="2492670" y="1430816"/>
                </a:cubicBezTo>
                <a:lnTo>
                  <a:pt x="2495697" y="1423411"/>
                </a:lnTo>
                <a:lnTo>
                  <a:pt x="2509139" y="1421494"/>
                </a:lnTo>
                <a:lnTo>
                  <a:pt x="2504981" y="1419304"/>
                </a:lnTo>
                <a:cubicBezTo>
                  <a:pt x="2500447" y="1422291"/>
                  <a:pt x="2495862" y="1421820"/>
                  <a:pt x="2491278" y="1420601"/>
                </a:cubicBezTo>
                <a:close/>
                <a:moveTo>
                  <a:pt x="2403040" y="1418479"/>
                </a:moveTo>
                <a:cubicBezTo>
                  <a:pt x="2401743" y="1418145"/>
                  <a:pt x="2400197" y="1418322"/>
                  <a:pt x="2398239" y="1419304"/>
                </a:cubicBezTo>
                <a:cubicBezTo>
                  <a:pt x="2395972" y="1420562"/>
                  <a:pt x="2395161" y="1421633"/>
                  <a:pt x="2395058" y="1422608"/>
                </a:cubicBezTo>
                <a:lnTo>
                  <a:pt x="2395931" y="1424839"/>
                </a:lnTo>
                <a:lnTo>
                  <a:pt x="2395423" y="1423190"/>
                </a:lnTo>
                <a:cubicBezTo>
                  <a:pt x="2396866" y="1420202"/>
                  <a:pt x="2398103" y="1421146"/>
                  <a:pt x="2398103" y="1423190"/>
                </a:cubicBezTo>
                <a:cubicBezTo>
                  <a:pt x="2399339" y="1423190"/>
                  <a:pt x="2400782" y="1422090"/>
                  <a:pt x="2400782" y="1420202"/>
                </a:cubicBezTo>
                <a:cubicBezTo>
                  <a:pt x="2403564" y="1423858"/>
                  <a:pt x="2396956" y="1429282"/>
                  <a:pt x="2399565" y="1432164"/>
                </a:cubicBezTo>
                <a:lnTo>
                  <a:pt x="2400303" y="1432381"/>
                </a:lnTo>
                <a:lnTo>
                  <a:pt x="2402628" y="1430903"/>
                </a:lnTo>
                <a:cubicBezTo>
                  <a:pt x="2402628" y="1430903"/>
                  <a:pt x="2402628" y="1430903"/>
                  <a:pt x="2403616" y="1431266"/>
                </a:cubicBezTo>
                <a:lnTo>
                  <a:pt x="2406734" y="1432413"/>
                </a:lnTo>
                <a:lnTo>
                  <a:pt x="2410356" y="1425049"/>
                </a:lnTo>
                <a:lnTo>
                  <a:pt x="2406353" y="1420719"/>
                </a:lnTo>
                <a:cubicBezTo>
                  <a:pt x="2405387" y="1419658"/>
                  <a:pt x="2404337" y="1418813"/>
                  <a:pt x="2403040" y="1418479"/>
                </a:cubicBezTo>
                <a:close/>
                <a:moveTo>
                  <a:pt x="2935868" y="1418055"/>
                </a:moveTo>
                <a:cubicBezTo>
                  <a:pt x="2937406" y="1418445"/>
                  <a:pt x="2939176" y="1419697"/>
                  <a:pt x="2941199" y="1422201"/>
                </a:cubicBezTo>
                <a:cubicBezTo>
                  <a:pt x="2931829" y="1424269"/>
                  <a:pt x="2934385" y="1429357"/>
                  <a:pt x="2927783" y="1427290"/>
                </a:cubicBezTo>
                <a:cubicBezTo>
                  <a:pt x="2928741" y="1423473"/>
                  <a:pt x="2931256" y="1416885"/>
                  <a:pt x="2935868" y="1418055"/>
                </a:cubicBezTo>
                <a:close/>
                <a:moveTo>
                  <a:pt x="2287298" y="1415531"/>
                </a:moveTo>
                <a:cubicBezTo>
                  <a:pt x="2284182" y="1415413"/>
                  <a:pt x="2280266" y="1416395"/>
                  <a:pt x="2278309" y="1418361"/>
                </a:cubicBezTo>
                <a:cubicBezTo>
                  <a:pt x="2282224" y="1424335"/>
                  <a:pt x="2287582" y="1416317"/>
                  <a:pt x="2291497" y="1419304"/>
                </a:cubicBezTo>
                <a:cubicBezTo>
                  <a:pt x="2292733" y="1416867"/>
                  <a:pt x="2290415" y="1415649"/>
                  <a:pt x="2287298" y="1415531"/>
                </a:cubicBezTo>
                <a:close/>
                <a:moveTo>
                  <a:pt x="2270697" y="1412235"/>
                </a:moveTo>
                <a:lnTo>
                  <a:pt x="2267076" y="1412298"/>
                </a:lnTo>
                <a:lnTo>
                  <a:pt x="2267902" y="1415457"/>
                </a:lnTo>
                <a:close/>
                <a:moveTo>
                  <a:pt x="2448478" y="1409333"/>
                </a:moveTo>
                <a:lnTo>
                  <a:pt x="2447176" y="1411856"/>
                </a:lnTo>
                <a:cubicBezTo>
                  <a:pt x="2445428" y="1413713"/>
                  <a:pt x="2443419" y="1411679"/>
                  <a:pt x="2438628" y="1412387"/>
                </a:cubicBezTo>
                <a:cubicBezTo>
                  <a:pt x="2438628" y="1415374"/>
                  <a:pt x="2437185" y="1418361"/>
                  <a:pt x="2438628" y="1421348"/>
                </a:cubicBezTo>
                <a:cubicBezTo>
                  <a:pt x="2439864" y="1419304"/>
                  <a:pt x="2450374" y="1419304"/>
                  <a:pt x="2447694" y="1423393"/>
                </a:cubicBezTo>
                <a:lnTo>
                  <a:pt x="2442717" y="1422819"/>
                </a:lnTo>
                <a:lnTo>
                  <a:pt x="2447563" y="1428064"/>
                </a:lnTo>
                <a:cubicBezTo>
                  <a:pt x="2446327" y="1422090"/>
                  <a:pt x="2455394" y="1420202"/>
                  <a:pt x="2458074" y="1411241"/>
                </a:cubicBezTo>
                <a:lnTo>
                  <a:pt x="2456303" y="1410870"/>
                </a:lnTo>
                <a:lnTo>
                  <a:pt x="2454855" y="1415511"/>
                </a:lnTo>
                <a:cubicBezTo>
                  <a:pt x="2454186" y="1417103"/>
                  <a:pt x="2452846" y="1417811"/>
                  <a:pt x="2448931" y="1416317"/>
                </a:cubicBezTo>
                <a:cubicBezTo>
                  <a:pt x="2448004" y="1413369"/>
                  <a:pt x="2453684" y="1412632"/>
                  <a:pt x="2452670" y="1410789"/>
                </a:cubicBezTo>
                <a:lnTo>
                  <a:pt x="2451025" y="1409763"/>
                </a:lnTo>
                <a:lnTo>
                  <a:pt x="2449264" y="1409394"/>
                </a:lnTo>
                <a:close/>
                <a:moveTo>
                  <a:pt x="2285343" y="1409250"/>
                </a:moveTo>
                <a:lnTo>
                  <a:pt x="2276964" y="1411590"/>
                </a:lnTo>
                <a:lnTo>
                  <a:pt x="2274393" y="1413487"/>
                </a:lnTo>
                <a:cubicBezTo>
                  <a:pt x="2280988" y="1415374"/>
                  <a:pt x="2286139" y="1411443"/>
                  <a:pt x="2291497" y="1409399"/>
                </a:cubicBezTo>
                <a:close/>
                <a:moveTo>
                  <a:pt x="2481489" y="1405468"/>
                </a:moveTo>
                <a:lnTo>
                  <a:pt x="2478418" y="1405957"/>
                </a:lnTo>
                <a:lnTo>
                  <a:pt x="2477445" y="1413285"/>
                </a:lnTo>
                <a:lnTo>
                  <a:pt x="2479291" y="1412931"/>
                </a:lnTo>
                <a:lnTo>
                  <a:pt x="2479996" y="1411089"/>
                </a:lnTo>
                <a:cubicBezTo>
                  <a:pt x="2481129" y="1408967"/>
                  <a:pt x="2482108" y="1406962"/>
                  <a:pt x="2481489" y="1405468"/>
                </a:cubicBezTo>
                <a:close/>
                <a:moveTo>
                  <a:pt x="3111915" y="1403428"/>
                </a:moveTo>
                <a:cubicBezTo>
                  <a:pt x="3127488" y="1408494"/>
                  <a:pt x="3102695" y="1414509"/>
                  <a:pt x="3092450" y="1421475"/>
                </a:cubicBezTo>
                <a:cubicBezTo>
                  <a:pt x="3085893" y="1422425"/>
                  <a:pt x="3114374" y="1402478"/>
                  <a:pt x="3111915" y="1403428"/>
                </a:cubicBezTo>
                <a:close/>
                <a:moveTo>
                  <a:pt x="2509210" y="1403318"/>
                </a:moveTo>
                <a:lnTo>
                  <a:pt x="2503464" y="1405169"/>
                </a:lnTo>
                <a:lnTo>
                  <a:pt x="2502969" y="1405184"/>
                </a:lnTo>
                <a:lnTo>
                  <a:pt x="2502869" y="1405331"/>
                </a:lnTo>
                <a:cubicBezTo>
                  <a:pt x="2503023" y="1406687"/>
                  <a:pt x="2503642" y="1407905"/>
                  <a:pt x="2502302" y="1409399"/>
                </a:cubicBezTo>
                <a:cubicBezTo>
                  <a:pt x="2499108" y="1410893"/>
                  <a:pt x="2499469" y="1409163"/>
                  <a:pt x="2499314" y="1406942"/>
                </a:cubicBezTo>
                <a:lnTo>
                  <a:pt x="2498767" y="1405312"/>
                </a:lnTo>
                <a:lnTo>
                  <a:pt x="2490789" y="1405554"/>
                </a:lnTo>
                <a:lnTo>
                  <a:pt x="2489173" y="1404481"/>
                </a:lnTo>
                <a:lnTo>
                  <a:pt x="2487903" y="1407571"/>
                </a:lnTo>
                <a:lnTo>
                  <a:pt x="2487580" y="1408276"/>
                </a:lnTo>
                <a:lnTo>
                  <a:pt x="2489193" y="1408254"/>
                </a:lnTo>
                <a:lnTo>
                  <a:pt x="2483621" y="1414759"/>
                </a:lnTo>
                <a:lnTo>
                  <a:pt x="2489124" y="1415607"/>
                </a:lnTo>
                <a:cubicBezTo>
                  <a:pt x="2491593" y="1415496"/>
                  <a:pt x="2493995" y="1414971"/>
                  <a:pt x="2496352" y="1414292"/>
                </a:cubicBezTo>
                <a:lnTo>
                  <a:pt x="2499440" y="1413443"/>
                </a:lnTo>
                <a:lnTo>
                  <a:pt x="2493431" y="1412348"/>
                </a:lnTo>
                <a:cubicBezTo>
                  <a:pt x="2496138" y="1408453"/>
                  <a:pt x="2498637" y="1411413"/>
                  <a:pt x="2501344" y="1411413"/>
                </a:cubicBezTo>
                <a:cubicBezTo>
                  <a:pt x="2503322" y="1410945"/>
                  <a:pt x="2503635" y="1409231"/>
                  <a:pt x="2504442" y="1407868"/>
                </a:cubicBezTo>
                <a:lnTo>
                  <a:pt x="2510494" y="1406431"/>
                </a:lnTo>
                <a:lnTo>
                  <a:pt x="2510648" y="1404702"/>
                </a:lnTo>
                <a:close/>
                <a:moveTo>
                  <a:pt x="2579552" y="1401092"/>
                </a:moveTo>
                <a:cubicBezTo>
                  <a:pt x="2568128" y="1405993"/>
                  <a:pt x="2549973" y="1418958"/>
                  <a:pt x="2539774" y="1405993"/>
                </a:cubicBezTo>
                <a:cubicBezTo>
                  <a:pt x="2552625" y="1402989"/>
                  <a:pt x="2565477" y="1401092"/>
                  <a:pt x="2579552" y="1401092"/>
                </a:cubicBezTo>
                <a:close/>
                <a:moveTo>
                  <a:pt x="2481361" y="1399292"/>
                </a:moveTo>
                <a:lnTo>
                  <a:pt x="2481298" y="1399429"/>
                </a:lnTo>
                <a:lnTo>
                  <a:pt x="2481489" y="1399494"/>
                </a:lnTo>
                <a:lnTo>
                  <a:pt x="2481571" y="1399432"/>
                </a:lnTo>
                <a:close/>
                <a:moveTo>
                  <a:pt x="2949758" y="1399012"/>
                </a:moveTo>
                <a:cubicBezTo>
                  <a:pt x="2954839" y="1402980"/>
                  <a:pt x="2952401" y="1405042"/>
                  <a:pt x="2953620" y="1408057"/>
                </a:cubicBezTo>
                <a:cubicBezTo>
                  <a:pt x="2947319" y="1412025"/>
                  <a:pt x="2942034" y="1412025"/>
                  <a:pt x="2939595" y="1407105"/>
                </a:cubicBezTo>
                <a:cubicBezTo>
                  <a:pt x="2945896" y="1405042"/>
                  <a:pt x="2942034" y="1401075"/>
                  <a:pt x="2949758" y="1399012"/>
                </a:cubicBezTo>
                <a:close/>
                <a:moveTo>
                  <a:pt x="2690992" y="1398112"/>
                </a:moveTo>
                <a:cubicBezTo>
                  <a:pt x="2692227" y="1409022"/>
                  <a:pt x="2672681" y="1407124"/>
                  <a:pt x="2666304" y="1412026"/>
                </a:cubicBezTo>
                <a:cubicBezTo>
                  <a:pt x="2659720" y="1410128"/>
                  <a:pt x="2667538" y="1403013"/>
                  <a:pt x="2662395" y="1404120"/>
                </a:cubicBezTo>
                <a:cubicBezTo>
                  <a:pt x="2667538" y="1401116"/>
                  <a:pt x="2681734" y="1394159"/>
                  <a:pt x="2681734" y="1405068"/>
                </a:cubicBezTo>
                <a:cubicBezTo>
                  <a:pt x="2685644" y="1403013"/>
                  <a:pt x="2683174" y="1397163"/>
                  <a:pt x="2690992" y="1398112"/>
                </a:cubicBezTo>
                <a:close/>
                <a:moveTo>
                  <a:pt x="2468053" y="1397199"/>
                </a:moveTo>
                <a:lnTo>
                  <a:pt x="2466358" y="1399785"/>
                </a:lnTo>
                <a:lnTo>
                  <a:pt x="2468378" y="1397406"/>
                </a:lnTo>
                <a:close/>
                <a:moveTo>
                  <a:pt x="2646558" y="1396749"/>
                </a:moveTo>
                <a:cubicBezTo>
                  <a:pt x="2648369" y="1396734"/>
                  <a:pt x="2649758" y="1397300"/>
                  <a:pt x="2650427" y="1398809"/>
                </a:cubicBezTo>
                <a:cubicBezTo>
                  <a:pt x="2645898" y="1398809"/>
                  <a:pt x="2643942" y="1398809"/>
                  <a:pt x="2642630" y="1399683"/>
                </a:cubicBezTo>
                <a:lnTo>
                  <a:pt x="2639106" y="1405157"/>
                </a:lnTo>
                <a:lnTo>
                  <a:pt x="2642246" y="1406121"/>
                </a:lnTo>
                <a:cubicBezTo>
                  <a:pt x="2638262" y="1411087"/>
                  <a:pt x="2636793" y="1413105"/>
                  <a:pt x="2642246" y="1418847"/>
                </a:cubicBezTo>
                <a:cubicBezTo>
                  <a:pt x="2628824" y="1423814"/>
                  <a:pt x="2635535" y="1407207"/>
                  <a:pt x="2631552" y="1407207"/>
                </a:cubicBezTo>
                <a:cubicBezTo>
                  <a:pt x="2631552" y="1405189"/>
                  <a:pt x="2632809" y="1405189"/>
                  <a:pt x="2634277" y="1405189"/>
                </a:cubicBezTo>
                <a:lnTo>
                  <a:pt x="2636591" y="1405020"/>
                </a:lnTo>
                <a:lnTo>
                  <a:pt x="2634832" y="1404368"/>
                </a:lnTo>
                <a:cubicBezTo>
                  <a:pt x="2630355" y="1404151"/>
                  <a:pt x="2624951" y="1406594"/>
                  <a:pt x="2626959" y="1402781"/>
                </a:cubicBezTo>
                <a:cubicBezTo>
                  <a:pt x="2631899" y="1402066"/>
                  <a:pt x="2641125" y="1396793"/>
                  <a:pt x="2646558" y="1396749"/>
                </a:cubicBezTo>
                <a:close/>
                <a:moveTo>
                  <a:pt x="2526216" y="1389660"/>
                </a:moveTo>
                <a:lnTo>
                  <a:pt x="2522843" y="1391451"/>
                </a:lnTo>
                <a:lnTo>
                  <a:pt x="2522986" y="1391633"/>
                </a:lnTo>
                <a:cubicBezTo>
                  <a:pt x="2524454" y="1392380"/>
                  <a:pt x="2525793" y="1393127"/>
                  <a:pt x="2524557" y="1394620"/>
                </a:cubicBezTo>
                <a:cubicBezTo>
                  <a:pt x="2526515" y="1395092"/>
                  <a:pt x="2528473" y="1394345"/>
                  <a:pt x="2530430" y="1393107"/>
                </a:cubicBezTo>
                <a:lnTo>
                  <a:pt x="2534164" y="1390270"/>
                </a:lnTo>
                <a:close/>
                <a:moveTo>
                  <a:pt x="140457" y="1389601"/>
                </a:moveTo>
                <a:cubicBezTo>
                  <a:pt x="127473" y="1388658"/>
                  <a:pt x="128710" y="1402491"/>
                  <a:pt x="131389" y="1406421"/>
                </a:cubicBezTo>
                <a:cubicBezTo>
                  <a:pt x="143136" y="1406421"/>
                  <a:pt x="132625" y="1395574"/>
                  <a:pt x="140457" y="1389601"/>
                </a:cubicBezTo>
                <a:close/>
                <a:moveTo>
                  <a:pt x="2643157" y="1388571"/>
                </a:moveTo>
                <a:cubicBezTo>
                  <a:pt x="2632625" y="1390452"/>
                  <a:pt x="2628701" y="1392489"/>
                  <a:pt x="2634070" y="1397505"/>
                </a:cubicBezTo>
                <a:cubicBezTo>
                  <a:pt x="2623538" y="1400326"/>
                  <a:pt x="2634070" y="1392489"/>
                  <a:pt x="2626222" y="1391549"/>
                </a:cubicBezTo>
                <a:cubicBezTo>
                  <a:pt x="2620853" y="1399386"/>
                  <a:pt x="2603918" y="1393430"/>
                  <a:pt x="2605365" y="1402363"/>
                </a:cubicBezTo>
                <a:cubicBezTo>
                  <a:pt x="2598756" y="1395467"/>
                  <a:pt x="2593593" y="1404401"/>
                  <a:pt x="2584299" y="1400326"/>
                </a:cubicBezTo>
                <a:cubicBezTo>
                  <a:pt x="2601441" y="1394526"/>
                  <a:pt x="2628701" y="1386533"/>
                  <a:pt x="2643157" y="1388571"/>
                </a:cubicBezTo>
                <a:close/>
                <a:moveTo>
                  <a:pt x="2522114" y="1388479"/>
                </a:moveTo>
                <a:lnTo>
                  <a:pt x="2520642" y="1388646"/>
                </a:lnTo>
                <a:lnTo>
                  <a:pt x="2521074" y="1389198"/>
                </a:lnTo>
                <a:lnTo>
                  <a:pt x="2522011" y="1388573"/>
                </a:lnTo>
                <a:close/>
                <a:moveTo>
                  <a:pt x="2570098" y="1381571"/>
                </a:moveTo>
                <a:cubicBezTo>
                  <a:pt x="2564843" y="1383064"/>
                  <a:pt x="2559331" y="1383575"/>
                  <a:pt x="2553819" y="1384341"/>
                </a:cubicBezTo>
                <a:lnTo>
                  <a:pt x="2545151" y="1386633"/>
                </a:lnTo>
                <a:lnTo>
                  <a:pt x="2543981" y="1388186"/>
                </a:lnTo>
                <a:lnTo>
                  <a:pt x="2551861" y="1387623"/>
                </a:lnTo>
                <a:cubicBezTo>
                  <a:pt x="2556394" y="1386877"/>
                  <a:pt x="2560928" y="1386130"/>
                  <a:pt x="2566183" y="1386602"/>
                </a:cubicBezTo>
                <a:cubicBezTo>
                  <a:pt x="2566183" y="1386602"/>
                  <a:pt x="2566183" y="1386602"/>
                  <a:pt x="2570098" y="1381571"/>
                </a:cubicBezTo>
                <a:close/>
                <a:moveTo>
                  <a:pt x="2658693" y="1378849"/>
                </a:moveTo>
                <a:cubicBezTo>
                  <a:pt x="2660640" y="1378400"/>
                  <a:pt x="2663022" y="1378539"/>
                  <a:pt x="2665881" y="1379572"/>
                </a:cubicBezTo>
                <a:cubicBezTo>
                  <a:pt x="2662069" y="1383544"/>
                  <a:pt x="2656853" y="1388627"/>
                  <a:pt x="2651837" y="1390534"/>
                </a:cubicBezTo>
                <a:cubicBezTo>
                  <a:pt x="2650934" y="1386840"/>
                  <a:pt x="2652853" y="1380197"/>
                  <a:pt x="2658693" y="1378849"/>
                </a:cubicBezTo>
                <a:close/>
                <a:moveTo>
                  <a:pt x="2592713" y="1376497"/>
                </a:moveTo>
                <a:cubicBezTo>
                  <a:pt x="2588811" y="1375724"/>
                  <a:pt x="2580504" y="1378112"/>
                  <a:pt x="2576486" y="1376697"/>
                </a:cubicBezTo>
                <a:cubicBezTo>
                  <a:pt x="2576486" y="1378583"/>
                  <a:pt x="2576486" y="1380627"/>
                  <a:pt x="2575249" y="1382671"/>
                </a:cubicBezTo>
                <a:cubicBezTo>
                  <a:pt x="2583080" y="1385658"/>
                  <a:pt x="2586995" y="1376697"/>
                  <a:pt x="2594825" y="1378583"/>
                </a:cubicBezTo>
                <a:cubicBezTo>
                  <a:pt x="2594825" y="1377364"/>
                  <a:pt x="2594014" y="1376755"/>
                  <a:pt x="2592713" y="1376497"/>
                </a:cubicBezTo>
                <a:close/>
                <a:moveTo>
                  <a:pt x="3203815" y="1371282"/>
                </a:moveTo>
                <a:cubicBezTo>
                  <a:pt x="3203815" y="1376211"/>
                  <a:pt x="3201322" y="1384992"/>
                  <a:pt x="3193430" y="1384992"/>
                </a:cubicBezTo>
                <a:cubicBezTo>
                  <a:pt x="3189484" y="1380987"/>
                  <a:pt x="3198623" y="1376211"/>
                  <a:pt x="3203815" y="1371282"/>
                </a:cubicBezTo>
                <a:close/>
                <a:moveTo>
                  <a:pt x="2617769" y="1371188"/>
                </a:moveTo>
                <a:cubicBezTo>
                  <a:pt x="2612998" y="1370349"/>
                  <a:pt x="2603995" y="1373709"/>
                  <a:pt x="2599977" y="1373709"/>
                </a:cubicBezTo>
                <a:cubicBezTo>
                  <a:pt x="2597504" y="1378583"/>
                  <a:pt x="2601420" y="1376697"/>
                  <a:pt x="2606571" y="1377640"/>
                </a:cubicBezTo>
                <a:cubicBezTo>
                  <a:pt x="2603892" y="1383614"/>
                  <a:pt x="2598740" y="1381571"/>
                  <a:pt x="2596062" y="1386602"/>
                </a:cubicBezTo>
                <a:cubicBezTo>
                  <a:pt x="2602656" y="1387073"/>
                  <a:pt x="2607240" y="1385344"/>
                  <a:pt x="2610976" y="1382749"/>
                </a:cubicBezTo>
                <a:lnTo>
                  <a:pt x="2619638" y="1374769"/>
                </a:lnTo>
                <a:lnTo>
                  <a:pt x="2616759" y="1373508"/>
                </a:lnTo>
                <a:cubicBezTo>
                  <a:pt x="2616759" y="1372251"/>
                  <a:pt x="2617172" y="1371739"/>
                  <a:pt x="2617770" y="1371558"/>
                </a:cubicBezTo>
                <a:lnTo>
                  <a:pt x="2618217" y="1371563"/>
                </a:lnTo>
                <a:close/>
                <a:moveTo>
                  <a:pt x="2663816" y="1370966"/>
                </a:moveTo>
                <a:lnTo>
                  <a:pt x="2665506" y="1371312"/>
                </a:lnTo>
                <a:cubicBezTo>
                  <a:pt x="2666485" y="1371665"/>
                  <a:pt x="2667155" y="1372137"/>
                  <a:pt x="2666536" y="1372609"/>
                </a:cubicBezTo>
                <a:close/>
                <a:moveTo>
                  <a:pt x="2662970" y="1370455"/>
                </a:moveTo>
                <a:lnTo>
                  <a:pt x="2663816" y="1370966"/>
                </a:lnTo>
                <a:lnTo>
                  <a:pt x="2662621" y="1370722"/>
                </a:lnTo>
                <a:close/>
                <a:moveTo>
                  <a:pt x="54842" y="1368333"/>
                </a:moveTo>
                <a:cubicBezTo>
                  <a:pt x="63857" y="1371348"/>
                  <a:pt x="66521" y="1366428"/>
                  <a:pt x="74307" y="1368333"/>
                </a:cubicBezTo>
                <a:cubicBezTo>
                  <a:pt x="71643" y="1379441"/>
                  <a:pt x="61399" y="1366428"/>
                  <a:pt x="57505" y="1377378"/>
                </a:cubicBezTo>
                <a:cubicBezTo>
                  <a:pt x="57505" y="1374363"/>
                  <a:pt x="53612" y="1372300"/>
                  <a:pt x="54842" y="1368333"/>
                </a:cubicBezTo>
                <a:close/>
                <a:moveTo>
                  <a:pt x="2884866" y="1364349"/>
                </a:moveTo>
                <a:cubicBezTo>
                  <a:pt x="2884866" y="1370379"/>
                  <a:pt x="2871747" y="1377362"/>
                  <a:pt x="2865082" y="1375299"/>
                </a:cubicBezTo>
                <a:cubicBezTo>
                  <a:pt x="2865082" y="1370379"/>
                  <a:pt x="2878410" y="1368316"/>
                  <a:pt x="2884866" y="1364349"/>
                </a:cubicBezTo>
                <a:close/>
                <a:moveTo>
                  <a:pt x="2643045" y="1361761"/>
                </a:moveTo>
                <a:cubicBezTo>
                  <a:pt x="2641705" y="1363254"/>
                  <a:pt x="2640418" y="1365494"/>
                  <a:pt x="2638794" y="1366870"/>
                </a:cubicBezTo>
                <a:lnTo>
                  <a:pt x="2637540" y="1367427"/>
                </a:lnTo>
                <a:lnTo>
                  <a:pt x="2637423" y="1369838"/>
                </a:lnTo>
                <a:cubicBezTo>
                  <a:pt x="2636112" y="1371927"/>
                  <a:pt x="2633825" y="1373606"/>
                  <a:pt x="2631211" y="1374727"/>
                </a:cubicBezTo>
                <a:lnTo>
                  <a:pt x="2626749" y="1375560"/>
                </a:lnTo>
                <a:lnTo>
                  <a:pt x="2625841" y="1377913"/>
                </a:lnTo>
                <a:cubicBezTo>
                  <a:pt x="2626199" y="1378779"/>
                  <a:pt x="2627435" y="1379645"/>
                  <a:pt x="2630063" y="1380627"/>
                </a:cubicBezTo>
                <a:cubicBezTo>
                  <a:pt x="2635215" y="1378583"/>
                  <a:pt x="2637893" y="1365691"/>
                  <a:pt x="2649433" y="1366792"/>
                </a:cubicBezTo>
                <a:lnTo>
                  <a:pt x="2648915" y="1364435"/>
                </a:lnTo>
                <a:lnTo>
                  <a:pt x="2647098" y="1364238"/>
                </a:lnTo>
                <a:lnTo>
                  <a:pt x="2643766" y="1361983"/>
                </a:lnTo>
                <a:close/>
                <a:moveTo>
                  <a:pt x="3170215" y="1356722"/>
                </a:moveTo>
                <a:cubicBezTo>
                  <a:pt x="3172868" y="1359672"/>
                  <a:pt x="3167767" y="1361689"/>
                  <a:pt x="3170215" y="1363707"/>
                </a:cubicBezTo>
                <a:cubicBezTo>
                  <a:pt x="3174091" y="1363707"/>
                  <a:pt x="3179192" y="1363707"/>
                  <a:pt x="3183067" y="1362620"/>
                </a:cubicBezTo>
                <a:cubicBezTo>
                  <a:pt x="3188371" y="1366656"/>
                  <a:pt x="3179192" y="1370536"/>
                  <a:pt x="3181843" y="1373485"/>
                </a:cubicBezTo>
                <a:cubicBezTo>
                  <a:pt x="3175315" y="1371467"/>
                  <a:pt x="3168991" y="1377365"/>
                  <a:pt x="3162464" y="1372398"/>
                </a:cubicBezTo>
                <a:cubicBezTo>
                  <a:pt x="3174091" y="1366656"/>
                  <a:pt x="3158588" y="1362620"/>
                  <a:pt x="3170215" y="1356722"/>
                </a:cubicBezTo>
                <a:close/>
                <a:moveTo>
                  <a:pt x="3018196" y="1356722"/>
                </a:moveTo>
                <a:cubicBezTo>
                  <a:pt x="3023521" y="1360784"/>
                  <a:pt x="3024799" y="1364690"/>
                  <a:pt x="3018196" y="1367658"/>
                </a:cubicBezTo>
                <a:cubicBezTo>
                  <a:pt x="3011381" y="1366721"/>
                  <a:pt x="3012659" y="1359691"/>
                  <a:pt x="3018196" y="1356722"/>
                </a:cubicBezTo>
                <a:close/>
                <a:moveTo>
                  <a:pt x="2697217" y="1352493"/>
                </a:moveTo>
                <a:lnTo>
                  <a:pt x="2689605" y="1352793"/>
                </a:lnTo>
                <a:lnTo>
                  <a:pt x="2684820" y="1355266"/>
                </a:lnTo>
                <a:lnTo>
                  <a:pt x="2684697" y="1356104"/>
                </a:lnTo>
                <a:lnTo>
                  <a:pt x="2690787" y="1354698"/>
                </a:lnTo>
                <a:close/>
                <a:moveTo>
                  <a:pt x="3031777" y="1348403"/>
                </a:moveTo>
                <a:cubicBezTo>
                  <a:pt x="3034402" y="1350516"/>
                  <a:pt x="3031777" y="1352466"/>
                  <a:pt x="3034402" y="1354578"/>
                </a:cubicBezTo>
                <a:cubicBezTo>
                  <a:pt x="3038238" y="1351490"/>
                  <a:pt x="3038238" y="1351490"/>
                  <a:pt x="3038238" y="1351490"/>
                </a:cubicBezTo>
                <a:cubicBezTo>
                  <a:pt x="3042075" y="1358640"/>
                  <a:pt x="3031777" y="1353602"/>
                  <a:pt x="3029353" y="1357665"/>
                </a:cubicBezTo>
                <a:cubicBezTo>
                  <a:pt x="3024103" y="1352466"/>
                  <a:pt x="3024103" y="1352466"/>
                  <a:pt x="3024103" y="1352466"/>
                </a:cubicBezTo>
                <a:cubicBezTo>
                  <a:pt x="3031777" y="1348403"/>
                  <a:pt x="3031777" y="1348403"/>
                  <a:pt x="3031777" y="1348403"/>
                </a:cubicBezTo>
                <a:close/>
                <a:moveTo>
                  <a:pt x="14158" y="1340084"/>
                </a:moveTo>
                <a:cubicBezTo>
                  <a:pt x="15594" y="1349906"/>
                  <a:pt x="28521" y="1353960"/>
                  <a:pt x="25854" y="1364717"/>
                </a:cubicBezTo>
                <a:cubicBezTo>
                  <a:pt x="29752" y="1365652"/>
                  <a:pt x="29752" y="1363781"/>
                  <a:pt x="32420" y="1363781"/>
                </a:cubicBezTo>
                <a:cubicBezTo>
                  <a:pt x="30983" y="1359728"/>
                  <a:pt x="32420" y="1354895"/>
                  <a:pt x="30983" y="1350997"/>
                </a:cubicBezTo>
                <a:cubicBezTo>
                  <a:pt x="37549" y="1350997"/>
                  <a:pt x="49245" y="1357857"/>
                  <a:pt x="54375" y="1348035"/>
                </a:cubicBezTo>
                <a:cubicBezTo>
                  <a:pt x="63402" y="1356766"/>
                  <a:pt x="34882" y="1356766"/>
                  <a:pt x="33650" y="1368614"/>
                </a:cubicBezTo>
                <a:cubicBezTo>
                  <a:pt x="24623" y="1367679"/>
                  <a:pt x="16825" y="1369705"/>
                  <a:pt x="11695" y="1372512"/>
                </a:cubicBezTo>
                <a:cubicBezTo>
                  <a:pt x="7797" y="1367679"/>
                  <a:pt x="2462" y="1363781"/>
                  <a:pt x="0" y="1358793"/>
                </a:cubicBezTo>
                <a:cubicBezTo>
                  <a:pt x="2462" y="1352868"/>
                  <a:pt x="6360" y="1351933"/>
                  <a:pt x="12926" y="1350997"/>
                </a:cubicBezTo>
                <a:cubicBezTo>
                  <a:pt x="9028" y="1346944"/>
                  <a:pt x="12926" y="1346944"/>
                  <a:pt x="14158" y="1340084"/>
                </a:cubicBezTo>
                <a:close/>
                <a:moveTo>
                  <a:pt x="34499" y="1334569"/>
                </a:moveTo>
                <a:cubicBezTo>
                  <a:pt x="35929" y="1342515"/>
                  <a:pt x="46138" y="1331765"/>
                  <a:pt x="43688" y="1345474"/>
                </a:cubicBezTo>
                <a:cubicBezTo>
                  <a:pt x="33274" y="1343449"/>
                  <a:pt x="33274" y="1343449"/>
                  <a:pt x="33274" y="1343449"/>
                </a:cubicBezTo>
                <a:cubicBezTo>
                  <a:pt x="34499" y="1338619"/>
                  <a:pt x="28169" y="1339554"/>
                  <a:pt x="34499" y="1334569"/>
                </a:cubicBezTo>
                <a:close/>
                <a:moveTo>
                  <a:pt x="2291600" y="1331259"/>
                </a:moveTo>
                <a:cubicBezTo>
                  <a:pt x="2288097" y="1331632"/>
                  <a:pt x="2284310" y="1332320"/>
                  <a:pt x="2280833" y="1332806"/>
                </a:cubicBezTo>
                <a:lnTo>
                  <a:pt x="2278276" y="1332904"/>
                </a:lnTo>
                <a:lnTo>
                  <a:pt x="2278473" y="1333694"/>
                </a:lnTo>
                <a:cubicBezTo>
                  <a:pt x="2279333" y="1334370"/>
                  <a:pt x="2280891" y="1334478"/>
                  <a:pt x="2283519" y="1333731"/>
                </a:cubicBezTo>
                <a:lnTo>
                  <a:pt x="2282753" y="1335796"/>
                </a:lnTo>
                <a:lnTo>
                  <a:pt x="2285727" y="1335740"/>
                </a:lnTo>
                <a:cubicBezTo>
                  <a:pt x="2292064" y="1335228"/>
                  <a:pt x="2299224" y="1334481"/>
                  <a:pt x="2304479" y="1336919"/>
                </a:cubicBezTo>
                <a:cubicBezTo>
                  <a:pt x="2304479" y="1331023"/>
                  <a:pt x="2298606" y="1330512"/>
                  <a:pt x="2291600" y="1331259"/>
                </a:cubicBezTo>
                <a:close/>
                <a:moveTo>
                  <a:pt x="2390889" y="1329992"/>
                </a:moveTo>
                <a:lnTo>
                  <a:pt x="2387730" y="1331101"/>
                </a:lnTo>
                <a:lnTo>
                  <a:pt x="2390696" y="1330936"/>
                </a:lnTo>
                <a:close/>
                <a:moveTo>
                  <a:pt x="2343670" y="1328790"/>
                </a:moveTo>
                <a:lnTo>
                  <a:pt x="2336574" y="1330012"/>
                </a:lnTo>
                <a:lnTo>
                  <a:pt x="2335489" y="1330750"/>
                </a:lnTo>
                <a:lnTo>
                  <a:pt x="2333426" y="1331245"/>
                </a:lnTo>
                <a:lnTo>
                  <a:pt x="2327674" y="1333521"/>
                </a:lnTo>
                <a:cubicBezTo>
                  <a:pt x="2324776" y="1334698"/>
                  <a:pt x="2322098" y="1335700"/>
                  <a:pt x="2320140" y="1335975"/>
                </a:cubicBezTo>
                <a:cubicBezTo>
                  <a:pt x="2329207" y="1339906"/>
                  <a:pt x="2337037" y="1329058"/>
                  <a:pt x="2346105" y="1333145"/>
                </a:cubicBezTo>
                <a:lnTo>
                  <a:pt x="2344882" y="1330957"/>
                </a:lnTo>
                <a:lnTo>
                  <a:pt x="2344727" y="1330902"/>
                </a:lnTo>
                <a:lnTo>
                  <a:pt x="2344803" y="1330817"/>
                </a:lnTo>
                <a:close/>
                <a:moveTo>
                  <a:pt x="3237627" y="1327697"/>
                </a:moveTo>
                <a:cubicBezTo>
                  <a:pt x="3239927" y="1327465"/>
                  <a:pt x="3241930" y="1328107"/>
                  <a:pt x="3242893" y="1330123"/>
                </a:cubicBezTo>
                <a:cubicBezTo>
                  <a:pt x="3239040" y="1334866"/>
                  <a:pt x="3233972" y="1333127"/>
                  <a:pt x="3228902" y="1339926"/>
                </a:cubicBezTo>
                <a:cubicBezTo>
                  <a:pt x="3221146" y="1336961"/>
                  <a:pt x="3230727" y="1328393"/>
                  <a:pt x="3237627" y="1327697"/>
                </a:cubicBezTo>
                <a:close/>
                <a:moveTo>
                  <a:pt x="2401748" y="1326180"/>
                </a:moveTo>
                <a:lnTo>
                  <a:pt x="2400574" y="1326592"/>
                </a:lnTo>
                <a:lnTo>
                  <a:pt x="2402018" y="1326971"/>
                </a:lnTo>
                <a:close/>
                <a:moveTo>
                  <a:pt x="2223109" y="1323555"/>
                </a:moveTo>
                <a:cubicBezTo>
                  <a:pt x="2220199" y="1323437"/>
                  <a:pt x="2215974" y="1324184"/>
                  <a:pt x="2213398" y="1324184"/>
                </a:cubicBezTo>
                <a:lnTo>
                  <a:pt x="2213163" y="1324710"/>
                </a:lnTo>
                <a:lnTo>
                  <a:pt x="2213244" y="1324927"/>
                </a:lnTo>
                <a:lnTo>
                  <a:pt x="2213106" y="1324834"/>
                </a:lnTo>
                <a:lnTo>
                  <a:pt x="2211414" y="1328606"/>
                </a:lnTo>
                <a:cubicBezTo>
                  <a:pt x="2211247" y="1329107"/>
                  <a:pt x="2210919" y="1329613"/>
                  <a:pt x="2210066" y="1330308"/>
                </a:cubicBezTo>
                <a:lnTo>
                  <a:pt x="2209222" y="1330840"/>
                </a:lnTo>
                <a:lnTo>
                  <a:pt x="2208752" y="1333085"/>
                </a:lnTo>
                <a:lnTo>
                  <a:pt x="2207219" y="1333250"/>
                </a:lnTo>
                <a:lnTo>
                  <a:pt x="2211318" y="1333509"/>
                </a:lnTo>
                <a:cubicBezTo>
                  <a:pt x="2216206" y="1331357"/>
                  <a:pt x="2219065" y="1323634"/>
                  <a:pt x="2224938" y="1328115"/>
                </a:cubicBezTo>
                <a:lnTo>
                  <a:pt x="2226101" y="1324637"/>
                </a:lnTo>
                <a:lnTo>
                  <a:pt x="2226053" y="1324559"/>
                </a:lnTo>
                <a:close/>
                <a:moveTo>
                  <a:pt x="2186885" y="1323087"/>
                </a:moveTo>
                <a:lnTo>
                  <a:pt x="2186487" y="1325080"/>
                </a:lnTo>
                <a:lnTo>
                  <a:pt x="2188464" y="1323240"/>
                </a:lnTo>
                <a:close/>
                <a:moveTo>
                  <a:pt x="2360529" y="1322140"/>
                </a:moveTo>
                <a:lnTo>
                  <a:pt x="2360294" y="1322498"/>
                </a:lnTo>
                <a:lnTo>
                  <a:pt x="2360968" y="1322369"/>
                </a:lnTo>
                <a:close/>
                <a:moveTo>
                  <a:pt x="3265555" y="1321366"/>
                </a:moveTo>
                <a:cubicBezTo>
                  <a:pt x="3269243" y="1324417"/>
                  <a:pt x="3256334" y="1331481"/>
                  <a:pt x="3252441" y="1336457"/>
                </a:cubicBezTo>
                <a:cubicBezTo>
                  <a:pt x="3248548" y="1329393"/>
                  <a:pt x="3261662" y="1324417"/>
                  <a:pt x="3265555" y="1321366"/>
                </a:cubicBezTo>
                <a:close/>
                <a:moveTo>
                  <a:pt x="2279184" y="1316873"/>
                </a:moveTo>
                <a:cubicBezTo>
                  <a:pt x="2277072" y="1317502"/>
                  <a:pt x="2275115" y="1318760"/>
                  <a:pt x="2273157" y="1320253"/>
                </a:cubicBezTo>
                <a:lnTo>
                  <a:pt x="2278752" y="1320984"/>
                </a:lnTo>
                <a:lnTo>
                  <a:pt x="2279603" y="1320053"/>
                </a:lnTo>
                <a:lnTo>
                  <a:pt x="2279406" y="1321069"/>
                </a:lnTo>
                <a:lnTo>
                  <a:pt x="2281580" y="1321353"/>
                </a:lnTo>
                <a:cubicBezTo>
                  <a:pt x="2284182" y="1320489"/>
                  <a:pt x="2286139" y="1318760"/>
                  <a:pt x="2286139" y="1317266"/>
                </a:cubicBezTo>
                <a:cubicBezTo>
                  <a:pt x="2283563" y="1316244"/>
                  <a:pt x="2281296" y="1316244"/>
                  <a:pt x="2279184" y="1316873"/>
                </a:cubicBezTo>
                <a:close/>
                <a:moveTo>
                  <a:pt x="2375281" y="1315297"/>
                </a:moveTo>
                <a:lnTo>
                  <a:pt x="2373192" y="1316790"/>
                </a:lnTo>
                <a:lnTo>
                  <a:pt x="2374747" y="1317266"/>
                </a:lnTo>
                <a:close/>
                <a:moveTo>
                  <a:pt x="2209944" y="1314941"/>
                </a:moveTo>
                <a:lnTo>
                  <a:pt x="2209280" y="1314971"/>
                </a:lnTo>
                <a:lnTo>
                  <a:pt x="2209019" y="1315104"/>
                </a:lnTo>
                <a:lnTo>
                  <a:pt x="2209586" y="1315238"/>
                </a:lnTo>
                <a:lnTo>
                  <a:pt x="2211109" y="1319273"/>
                </a:lnTo>
                <a:lnTo>
                  <a:pt x="2216334" y="1318838"/>
                </a:lnTo>
                <a:cubicBezTo>
                  <a:pt x="2218524" y="1318661"/>
                  <a:pt x="2220675" y="1318641"/>
                  <a:pt x="2222768" y="1319226"/>
                </a:cubicBezTo>
                <a:lnTo>
                  <a:pt x="2222790" y="1319241"/>
                </a:lnTo>
                <a:lnTo>
                  <a:pt x="2222643" y="1319001"/>
                </a:lnTo>
                <a:cubicBezTo>
                  <a:pt x="2225234" y="1316024"/>
                  <a:pt x="2228186" y="1316769"/>
                  <a:pt x="2231633" y="1317141"/>
                </a:cubicBezTo>
                <a:lnTo>
                  <a:pt x="2234791" y="1317008"/>
                </a:lnTo>
                <a:lnTo>
                  <a:pt x="2235448" y="1316165"/>
                </a:lnTo>
                <a:lnTo>
                  <a:pt x="2221824" y="1314958"/>
                </a:lnTo>
                <a:lnTo>
                  <a:pt x="2220770" y="1315228"/>
                </a:lnTo>
                <a:cubicBezTo>
                  <a:pt x="2217740" y="1315691"/>
                  <a:pt x="2214795" y="1315874"/>
                  <a:pt x="2212034" y="1315596"/>
                </a:cubicBezTo>
                <a:close/>
                <a:moveTo>
                  <a:pt x="2378390" y="1313074"/>
                </a:moveTo>
                <a:lnTo>
                  <a:pt x="2378092" y="1313288"/>
                </a:lnTo>
                <a:lnTo>
                  <a:pt x="2378649" y="1313180"/>
                </a:lnTo>
                <a:lnTo>
                  <a:pt x="2378643" y="1313171"/>
                </a:lnTo>
                <a:close/>
                <a:moveTo>
                  <a:pt x="2353909" y="1312862"/>
                </a:moveTo>
                <a:lnTo>
                  <a:pt x="2348783" y="1315222"/>
                </a:lnTo>
                <a:cubicBezTo>
                  <a:pt x="2353317" y="1316715"/>
                  <a:pt x="2357541" y="1315969"/>
                  <a:pt x="2361765" y="1315477"/>
                </a:cubicBezTo>
                <a:lnTo>
                  <a:pt x="2361877" y="1315473"/>
                </a:lnTo>
                <a:lnTo>
                  <a:pt x="2353795" y="1312978"/>
                </a:lnTo>
                <a:close/>
                <a:moveTo>
                  <a:pt x="3191096" y="1308888"/>
                </a:moveTo>
                <a:cubicBezTo>
                  <a:pt x="3189866" y="1319835"/>
                  <a:pt x="3178183" y="1328594"/>
                  <a:pt x="3164041" y="1334382"/>
                </a:cubicBezTo>
                <a:cubicBezTo>
                  <a:pt x="3167935" y="1325779"/>
                  <a:pt x="3175519" y="1308888"/>
                  <a:pt x="3191096" y="1308888"/>
                </a:cubicBezTo>
                <a:close/>
                <a:moveTo>
                  <a:pt x="1956711" y="1307638"/>
                </a:moveTo>
                <a:lnTo>
                  <a:pt x="1951599" y="1310672"/>
                </a:lnTo>
                <a:lnTo>
                  <a:pt x="1951574" y="1311875"/>
                </a:lnTo>
                <a:lnTo>
                  <a:pt x="1955224" y="1314079"/>
                </a:lnTo>
                <a:close/>
                <a:moveTo>
                  <a:pt x="2481455" y="1307045"/>
                </a:moveTo>
                <a:lnTo>
                  <a:pt x="2475786" y="1307145"/>
                </a:lnTo>
                <a:lnTo>
                  <a:pt x="2477677" y="1311583"/>
                </a:lnTo>
                <a:lnTo>
                  <a:pt x="2479943" y="1312933"/>
                </a:lnTo>
                <a:lnTo>
                  <a:pt x="2480479" y="1312647"/>
                </a:lnTo>
                <a:cubicBezTo>
                  <a:pt x="2480872" y="1312029"/>
                  <a:pt x="2481181" y="1310977"/>
                  <a:pt x="2481489" y="1309248"/>
                </a:cubicBezTo>
                <a:cubicBezTo>
                  <a:pt x="2482108" y="1310269"/>
                  <a:pt x="2481799" y="1311252"/>
                  <a:pt x="2481824" y="1312235"/>
                </a:cubicBezTo>
                <a:lnTo>
                  <a:pt x="2483472" y="1314334"/>
                </a:lnTo>
                <a:lnTo>
                  <a:pt x="2489193" y="1312035"/>
                </a:lnTo>
                <a:cubicBezTo>
                  <a:pt x="2487853" y="1310541"/>
                  <a:pt x="2485895" y="1309795"/>
                  <a:pt x="2483963" y="1308930"/>
                </a:cubicBezTo>
                <a:close/>
                <a:moveTo>
                  <a:pt x="2513923" y="1307004"/>
                </a:moveTo>
                <a:lnTo>
                  <a:pt x="2513846" y="1307306"/>
                </a:lnTo>
                <a:lnTo>
                  <a:pt x="2514950" y="1307202"/>
                </a:lnTo>
                <a:close/>
                <a:moveTo>
                  <a:pt x="187225" y="1306205"/>
                </a:moveTo>
                <a:cubicBezTo>
                  <a:pt x="179265" y="1308010"/>
                  <a:pt x="174666" y="1314700"/>
                  <a:pt x="167866" y="1319180"/>
                </a:cubicBezTo>
                <a:cubicBezTo>
                  <a:pt x="171782" y="1331127"/>
                  <a:pt x="200428" y="1331127"/>
                  <a:pt x="202901" y="1318237"/>
                </a:cubicBezTo>
                <a:cubicBezTo>
                  <a:pt x="193833" y="1319180"/>
                  <a:pt x="196512" y="1312264"/>
                  <a:pt x="196512" y="1306291"/>
                </a:cubicBezTo>
                <a:cubicBezTo>
                  <a:pt x="192905" y="1305544"/>
                  <a:pt x="189878" y="1305603"/>
                  <a:pt x="187225" y="1306205"/>
                </a:cubicBezTo>
                <a:close/>
                <a:moveTo>
                  <a:pt x="3004785" y="1306076"/>
                </a:moveTo>
                <a:cubicBezTo>
                  <a:pt x="3011175" y="1318956"/>
                  <a:pt x="2989118" y="1312987"/>
                  <a:pt x="2978605" y="1323982"/>
                </a:cubicBezTo>
                <a:cubicBezTo>
                  <a:pt x="2974689" y="1321940"/>
                  <a:pt x="2977369" y="1320055"/>
                  <a:pt x="2974689" y="1318013"/>
                </a:cubicBezTo>
                <a:cubicBezTo>
                  <a:pt x="2972215" y="1320055"/>
                  <a:pt x="2969536" y="1318013"/>
                  <a:pt x="2966855" y="1320055"/>
                </a:cubicBezTo>
                <a:cubicBezTo>
                  <a:pt x="2973451" y="1304034"/>
                  <a:pt x="2993035" y="1314087"/>
                  <a:pt x="3004785" y="1306076"/>
                </a:cubicBezTo>
                <a:close/>
                <a:moveTo>
                  <a:pt x="2524433" y="1306061"/>
                </a:moveTo>
                <a:lnTo>
                  <a:pt x="2524387" y="1306309"/>
                </a:lnTo>
                <a:lnTo>
                  <a:pt x="2524857" y="1306264"/>
                </a:lnTo>
                <a:close/>
                <a:moveTo>
                  <a:pt x="2130091" y="1305746"/>
                </a:moveTo>
                <a:lnTo>
                  <a:pt x="2130035" y="1305760"/>
                </a:lnTo>
                <a:lnTo>
                  <a:pt x="2123220" y="1307346"/>
                </a:lnTo>
                <a:lnTo>
                  <a:pt x="2124310" y="1308414"/>
                </a:lnTo>
                <a:cubicBezTo>
                  <a:pt x="2125093" y="1308682"/>
                  <a:pt x="2125911" y="1308589"/>
                  <a:pt x="2126722" y="1308402"/>
                </a:cubicBezTo>
                <a:lnTo>
                  <a:pt x="2129472" y="1308341"/>
                </a:lnTo>
                <a:lnTo>
                  <a:pt x="2130294" y="1306238"/>
                </a:lnTo>
                <a:close/>
                <a:moveTo>
                  <a:pt x="2563853" y="1304238"/>
                </a:moveTo>
                <a:lnTo>
                  <a:pt x="2553846" y="1306783"/>
                </a:lnTo>
                <a:lnTo>
                  <a:pt x="2553479" y="1306665"/>
                </a:lnTo>
                <a:lnTo>
                  <a:pt x="2550866" y="1307926"/>
                </a:lnTo>
                <a:cubicBezTo>
                  <a:pt x="2549118" y="1308687"/>
                  <a:pt x="2547328" y="1309248"/>
                  <a:pt x="2545370" y="1309248"/>
                </a:cubicBezTo>
                <a:cubicBezTo>
                  <a:pt x="2544133" y="1311291"/>
                  <a:pt x="2549285" y="1312235"/>
                  <a:pt x="2551964" y="1313178"/>
                </a:cubicBezTo>
                <a:lnTo>
                  <a:pt x="2553324" y="1311971"/>
                </a:lnTo>
                <a:lnTo>
                  <a:pt x="2553447" y="1310967"/>
                </a:lnTo>
                <a:lnTo>
                  <a:pt x="2553954" y="1311412"/>
                </a:lnTo>
                <a:lnTo>
                  <a:pt x="2555241" y="1310269"/>
                </a:lnTo>
                <a:cubicBezTo>
                  <a:pt x="2558971" y="1308619"/>
                  <a:pt x="2563916" y="1309798"/>
                  <a:pt x="2568861" y="1305317"/>
                </a:cubicBezTo>
                <a:close/>
                <a:moveTo>
                  <a:pt x="2575806" y="1302989"/>
                </a:moveTo>
                <a:lnTo>
                  <a:pt x="2575249" y="1303273"/>
                </a:lnTo>
                <a:lnTo>
                  <a:pt x="2576350" y="1303358"/>
                </a:lnTo>
                <a:close/>
                <a:moveTo>
                  <a:pt x="2516314" y="1300718"/>
                </a:moveTo>
                <a:lnTo>
                  <a:pt x="2509915" y="1302752"/>
                </a:lnTo>
                <a:lnTo>
                  <a:pt x="2519075" y="1305117"/>
                </a:lnTo>
                <a:lnTo>
                  <a:pt x="2524555" y="1301393"/>
                </a:lnTo>
                <a:close/>
                <a:moveTo>
                  <a:pt x="3201869" y="1297860"/>
                </a:moveTo>
                <a:cubicBezTo>
                  <a:pt x="3203063" y="1298040"/>
                  <a:pt x="3204304" y="1298644"/>
                  <a:pt x="3205635" y="1299852"/>
                </a:cubicBezTo>
                <a:lnTo>
                  <a:pt x="3195192" y="1308731"/>
                </a:lnTo>
                <a:cubicBezTo>
                  <a:pt x="3191301" y="1306706"/>
                  <a:pt x="3193963" y="1304836"/>
                  <a:pt x="3191301" y="1302812"/>
                </a:cubicBezTo>
                <a:cubicBezTo>
                  <a:pt x="3195140" y="1300591"/>
                  <a:pt x="3198289" y="1297320"/>
                  <a:pt x="3201869" y="1297860"/>
                </a:cubicBezTo>
                <a:close/>
                <a:moveTo>
                  <a:pt x="2616610" y="1297484"/>
                </a:moveTo>
                <a:lnTo>
                  <a:pt x="2606215" y="1297697"/>
                </a:lnTo>
                <a:lnTo>
                  <a:pt x="2604904" y="1297502"/>
                </a:lnTo>
                <a:lnTo>
                  <a:pt x="2601342" y="1300814"/>
                </a:lnTo>
                <a:cubicBezTo>
                  <a:pt x="2599359" y="1301936"/>
                  <a:pt x="2597092" y="1302565"/>
                  <a:pt x="2594825" y="1302329"/>
                </a:cubicBezTo>
                <a:cubicBezTo>
                  <a:pt x="2597762" y="1307518"/>
                  <a:pt x="2605102" y="1302094"/>
                  <a:pt x="2611893" y="1299920"/>
                </a:cubicBezTo>
                <a:lnTo>
                  <a:pt x="2613657" y="1299761"/>
                </a:lnTo>
                <a:lnTo>
                  <a:pt x="2616885" y="1297783"/>
                </a:lnTo>
                <a:close/>
                <a:moveTo>
                  <a:pt x="2593615" y="1296727"/>
                </a:moveTo>
                <a:lnTo>
                  <a:pt x="2590343" y="1297226"/>
                </a:lnTo>
                <a:lnTo>
                  <a:pt x="2589376" y="1299531"/>
                </a:lnTo>
                <a:cubicBezTo>
                  <a:pt x="2587675" y="1300838"/>
                  <a:pt x="2584842" y="1300788"/>
                  <a:pt x="2583142" y="1302567"/>
                </a:cubicBezTo>
                <a:lnTo>
                  <a:pt x="2582732" y="1303851"/>
                </a:lnTo>
                <a:lnTo>
                  <a:pt x="2583131" y="1303882"/>
                </a:lnTo>
                <a:cubicBezTo>
                  <a:pt x="2585758" y="1303509"/>
                  <a:pt x="2587716" y="1303273"/>
                  <a:pt x="2586995" y="1305317"/>
                </a:cubicBezTo>
                <a:cubicBezTo>
                  <a:pt x="2589570" y="1304766"/>
                  <a:pt x="2592198" y="1303273"/>
                  <a:pt x="2594001" y="1301543"/>
                </a:cubicBezTo>
                <a:lnTo>
                  <a:pt x="2595743" y="1297158"/>
                </a:lnTo>
                <a:close/>
                <a:moveTo>
                  <a:pt x="3320713" y="1295510"/>
                </a:moveTo>
                <a:cubicBezTo>
                  <a:pt x="3323070" y="1295452"/>
                  <a:pt x="3325224" y="1295939"/>
                  <a:pt x="3326492" y="1297168"/>
                </a:cubicBezTo>
                <a:cubicBezTo>
                  <a:pt x="3322843" y="1304151"/>
                  <a:pt x="3316353" y="1297168"/>
                  <a:pt x="3312502" y="1305262"/>
                </a:cubicBezTo>
                <a:cubicBezTo>
                  <a:pt x="3304745" y="1300739"/>
                  <a:pt x="3313642" y="1295680"/>
                  <a:pt x="3320713" y="1295510"/>
                </a:cubicBezTo>
                <a:close/>
                <a:moveTo>
                  <a:pt x="2561031" y="1292424"/>
                </a:moveTo>
                <a:cubicBezTo>
                  <a:pt x="2557116" y="1292896"/>
                  <a:pt x="2555467" y="1294114"/>
                  <a:pt x="2554308" y="1295844"/>
                </a:cubicBezTo>
                <a:lnTo>
                  <a:pt x="2553045" y="1298007"/>
                </a:lnTo>
                <a:lnTo>
                  <a:pt x="2563865" y="1297221"/>
                </a:lnTo>
                <a:lnTo>
                  <a:pt x="2564388" y="1297019"/>
                </a:lnTo>
                <a:lnTo>
                  <a:pt x="2562731" y="1295529"/>
                </a:lnTo>
                <a:cubicBezTo>
                  <a:pt x="2561289" y="1294665"/>
                  <a:pt x="2559691" y="1293918"/>
                  <a:pt x="2561031" y="1292424"/>
                </a:cubicBezTo>
                <a:close/>
                <a:moveTo>
                  <a:pt x="2994759" y="1292249"/>
                </a:moveTo>
                <a:cubicBezTo>
                  <a:pt x="2998716" y="1292249"/>
                  <a:pt x="3002673" y="1294150"/>
                  <a:pt x="3006629" y="1297161"/>
                </a:cubicBezTo>
                <a:cubicBezTo>
                  <a:pt x="3001423" y="1300172"/>
                  <a:pt x="2996009" y="1303183"/>
                  <a:pt x="2992052" y="1302232"/>
                </a:cubicBezTo>
                <a:cubicBezTo>
                  <a:pt x="2986847" y="1298270"/>
                  <a:pt x="2997467" y="1296210"/>
                  <a:pt x="2994759" y="1292249"/>
                </a:cubicBezTo>
                <a:close/>
                <a:moveTo>
                  <a:pt x="3026772" y="1285383"/>
                </a:moveTo>
                <a:cubicBezTo>
                  <a:pt x="3022852" y="1285383"/>
                  <a:pt x="3008405" y="1290393"/>
                  <a:pt x="3016454" y="1295402"/>
                </a:cubicBezTo>
                <a:cubicBezTo>
                  <a:pt x="3018930" y="1292427"/>
                  <a:pt x="3030694" y="1289453"/>
                  <a:pt x="3026772" y="1285383"/>
                </a:cubicBezTo>
                <a:close/>
                <a:moveTo>
                  <a:pt x="3217047" y="1282543"/>
                </a:moveTo>
                <a:cubicBezTo>
                  <a:pt x="3227440" y="1286451"/>
                  <a:pt x="3210395" y="1293329"/>
                  <a:pt x="3207693" y="1298332"/>
                </a:cubicBezTo>
                <a:cubicBezTo>
                  <a:pt x="3195844" y="1295362"/>
                  <a:pt x="3210395" y="1282543"/>
                  <a:pt x="3217047" y="1282543"/>
                </a:cubicBezTo>
                <a:close/>
                <a:moveTo>
                  <a:pt x="2532515" y="1282213"/>
                </a:moveTo>
                <a:lnTo>
                  <a:pt x="2530590" y="1285995"/>
                </a:lnTo>
                <a:cubicBezTo>
                  <a:pt x="2528968" y="1287234"/>
                  <a:pt x="2527009" y="1288216"/>
                  <a:pt x="2525669" y="1290181"/>
                </a:cubicBezTo>
                <a:cubicBezTo>
                  <a:pt x="2523712" y="1289710"/>
                  <a:pt x="2523403" y="1286250"/>
                  <a:pt x="2524228" y="1283146"/>
                </a:cubicBezTo>
                <a:lnTo>
                  <a:pt x="2524648" y="1282319"/>
                </a:lnTo>
                <a:lnTo>
                  <a:pt x="2523114" y="1282519"/>
                </a:lnTo>
                <a:cubicBezTo>
                  <a:pt x="2519200" y="1285349"/>
                  <a:pt x="2529709" y="1294311"/>
                  <a:pt x="2519200" y="1290381"/>
                </a:cubicBezTo>
                <a:cubicBezTo>
                  <a:pt x="2517963" y="1291324"/>
                  <a:pt x="2517963" y="1292424"/>
                  <a:pt x="2519200" y="1293368"/>
                </a:cubicBezTo>
                <a:cubicBezTo>
                  <a:pt x="2519200" y="1293368"/>
                  <a:pt x="2519200" y="1293368"/>
                  <a:pt x="2516726" y="1296355"/>
                </a:cubicBezTo>
                <a:cubicBezTo>
                  <a:pt x="2519200" y="1295411"/>
                  <a:pt x="2523114" y="1296355"/>
                  <a:pt x="2525793" y="1297299"/>
                </a:cubicBezTo>
                <a:cubicBezTo>
                  <a:pt x="2529709" y="1292424"/>
                  <a:pt x="2529709" y="1288336"/>
                  <a:pt x="2534860" y="1282519"/>
                </a:cubicBezTo>
                <a:close/>
                <a:moveTo>
                  <a:pt x="22975" y="1279077"/>
                </a:moveTo>
                <a:cubicBezTo>
                  <a:pt x="36141" y="1280015"/>
                  <a:pt x="17831" y="1287831"/>
                  <a:pt x="26884" y="1291895"/>
                </a:cubicBezTo>
                <a:cubicBezTo>
                  <a:pt x="21740" y="1294865"/>
                  <a:pt x="17831" y="1283923"/>
                  <a:pt x="8778" y="1290801"/>
                </a:cubicBezTo>
                <a:cubicBezTo>
                  <a:pt x="3635" y="1282985"/>
                  <a:pt x="20505" y="1284860"/>
                  <a:pt x="22975" y="1279077"/>
                </a:cubicBezTo>
                <a:close/>
                <a:moveTo>
                  <a:pt x="3099608" y="1277690"/>
                </a:moveTo>
                <a:cubicBezTo>
                  <a:pt x="3102047" y="1279753"/>
                  <a:pt x="3102047" y="1283721"/>
                  <a:pt x="3098388" y="1281657"/>
                </a:cubicBezTo>
                <a:cubicBezTo>
                  <a:pt x="3095746" y="1283721"/>
                  <a:pt x="3100827" y="1285625"/>
                  <a:pt x="3102047" y="1287688"/>
                </a:cubicBezTo>
                <a:cubicBezTo>
                  <a:pt x="3099608" y="1288641"/>
                  <a:pt x="3096965" y="1288641"/>
                  <a:pt x="3094526" y="1290703"/>
                </a:cubicBezTo>
                <a:cubicBezTo>
                  <a:pt x="3086802" y="1286736"/>
                  <a:pt x="3094526" y="1277690"/>
                  <a:pt x="3099608" y="1277690"/>
                </a:cubicBezTo>
                <a:close/>
                <a:moveTo>
                  <a:pt x="3066419" y="1272144"/>
                </a:moveTo>
                <a:cubicBezTo>
                  <a:pt x="3079327" y="1273237"/>
                  <a:pt x="3067648" y="1281049"/>
                  <a:pt x="3059863" y="1283080"/>
                </a:cubicBezTo>
                <a:cubicBezTo>
                  <a:pt x="3058633" y="1278081"/>
                  <a:pt x="3070312" y="1274174"/>
                  <a:pt x="3066419" y="1272144"/>
                </a:cubicBezTo>
                <a:close/>
                <a:moveTo>
                  <a:pt x="2719841" y="1270616"/>
                </a:moveTo>
                <a:lnTo>
                  <a:pt x="2715989" y="1272132"/>
                </a:lnTo>
                <a:lnTo>
                  <a:pt x="2718588" y="1272628"/>
                </a:lnTo>
                <a:close/>
                <a:moveTo>
                  <a:pt x="3285117" y="1269188"/>
                </a:moveTo>
                <a:cubicBezTo>
                  <a:pt x="3290252" y="1267291"/>
                  <a:pt x="3295594" y="1279308"/>
                  <a:pt x="3287787" y="1285158"/>
                </a:cubicBezTo>
                <a:cubicBezTo>
                  <a:pt x="3272173" y="1282312"/>
                  <a:pt x="3294156" y="1273300"/>
                  <a:pt x="3285117" y="1269188"/>
                </a:cubicBezTo>
                <a:close/>
                <a:moveTo>
                  <a:pt x="3043695" y="1261745"/>
                </a:moveTo>
                <a:cubicBezTo>
                  <a:pt x="3047615" y="1274582"/>
                  <a:pt x="3029455" y="1272546"/>
                  <a:pt x="3024090" y="1281469"/>
                </a:cubicBezTo>
                <a:cubicBezTo>
                  <a:pt x="3035853" y="1289453"/>
                  <a:pt x="3044932" y="1267694"/>
                  <a:pt x="3059379" y="1261745"/>
                </a:cubicBezTo>
                <a:cubicBezTo>
                  <a:pt x="3060617" y="1263623"/>
                  <a:pt x="3062061" y="1268633"/>
                  <a:pt x="3058140" y="1266598"/>
                </a:cubicBezTo>
                <a:cubicBezTo>
                  <a:pt x="3058140" y="1269572"/>
                  <a:pt x="3062061" y="1268633"/>
                  <a:pt x="3060617" y="1273642"/>
                </a:cubicBezTo>
                <a:cubicBezTo>
                  <a:pt x="3037297" y="1286479"/>
                  <a:pt x="3037297" y="1301194"/>
                  <a:pt x="3011088" y="1305264"/>
                </a:cubicBezTo>
                <a:cubicBezTo>
                  <a:pt x="3007167" y="1302290"/>
                  <a:pt x="3016454" y="1293366"/>
                  <a:pt x="3005929" y="1294306"/>
                </a:cubicBezTo>
                <a:cubicBezTo>
                  <a:pt x="3017692" y="1281469"/>
                  <a:pt x="3026772" y="1269572"/>
                  <a:pt x="3043695" y="1261745"/>
                </a:cubicBezTo>
                <a:close/>
                <a:moveTo>
                  <a:pt x="2756381" y="1247616"/>
                </a:moveTo>
                <a:cubicBezTo>
                  <a:pt x="2756381" y="1247616"/>
                  <a:pt x="2756381" y="1247616"/>
                  <a:pt x="2755891" y="1248500"/>
                </a:cubicBezTo>
                <a:lnTo>
                  <a:pt x="2754497" y="1251020"/>
                </a:lnTo>
                <a:lnTo>
                  <a:pt x="2754540" y="1251213"/>
                </a:lnTo>
                <a:lnTo>
                  <a:pt x="2755173" y="1254180"/>
                </a:lnTo>
                <a:lnTo>
                  <a:pt x="2758622" y="1253531"/>
                </a:lnTo>
                <a:cubicBezTo>
                  <a:pt x="2760553" y="1252922"/>
                  <a:pt x="2762150" y="1251703"/>
                  <a:pt x="2762769" y="1248716"/>
                </a:cubicBezTo>
                <a:cubicBezTo>
                  <a:pt x="2762769" y="1248716"/>
                  <a:pt x="2762769" y="1248716"/>
                  <a:pt x="2756381" y="1247616"/>
                </a:cubicBezTo>
                <a:close/>
                <a:moveTo>
                  <a:pt x="3248384" y="1247186"/>
                </a:moveTo>
                <a:cubicBezTo>
                  <a:pt x="3253792" y="1258128"/>
                  <a:pt x="3239231" y="1265007"/>
                  <a:pt x="3227374" y="1278920"/>
                </a:cubicBezTo>
                <a:cubicBezTo>
                  <a:pt x="3222174" y="1276888"/>
                  <a:pt x="3224878" y="1273918"/>
                  <a:pt x="3219470" y="1271885"/>
                </a:cubicBezTo>
                <a:cubicBezTo>
                  <a:pt x="3234030" y="1262975"/>
                  <a:pt x="3240479" y="1251251"/>
                  <a:pt x="3248384" y="1247186"/>
                </a:cubicBezTo>
                <a:close/>
                <a:moveTo>
                  <a:pt x="3364651" y="1242334"/>
                </a:moveTo>
                <a:cubicBezTo>
                  <a:pt x="3364651" y="1251292"/>
                  <a:pt x="3359452" y="1257108"/>
                  <a:pt x="3354043" y="1262138"/>
                </a:cubicBezTo>
                <a:cubicBezTo>
                  <a:pt x="3347386" y="1268111"/>
                  <a:pt x="3340938" y="1273140"/>
                  <a:pt x="3338234" y="1281000"/>
                </a:cubicBezTo>
                <a:cubicBezTo>
                  <a:pt x="3330330" y="1277070"/>
                  <a:pt x="3330330" y="1277070"/>
                  <a:pt x="3330330" y="1277070"/>
                </a:cubicBezTo>
                <a:cubicBezTo>
                  <a:pt x="3350091" y="1265124"/>
                  <a:pt x="3346138" y="1250193"/>
                  <a:pt x="3364651" y="1242334"/>
                </a:cubicBezTo>
                <a:close/>
                <a:moveTo>
                  <a:pt x="2687668" y="1239199"/>
                </a:moveTo>
                <a:cubicBezTo>
                  <a:pt x="2686621" y="1238998"/>
                  <a:pt x="2685327" y="1239341"/>
                  <a:pt x="2684026" y="1240030"/>
                </a:cubicBezTo>
                <a:lnTo>
                  <a:pt x="2679346" y="1245254"/>
                </a:lnTo>
                <a:lnTo>
                  <a:pt x="2689261" y="1241004"/>
                </a:lnTo>
                <a:close/>
                <a:moveTo>
                  <a:pt x="2747108" y="1237710"/>
                </a:moveTo>
                <a:lnTo>
                  <a:pt x="2745784" y="1238032"/>
                </a:lnTo>
                <a:lnTo>
                  <a:pt x="2744580" y="1240402"/>
                </a:lnTo>
                <a:lnTo>
                  <a:pt x="2747293" y="1238021"/>
                </a:lnTo>
                <a:close/>
                <a:moveTo>
                  <a:pt x="2766684" y="1235666"/>
                </a:moveTo>
                <a:cubicBezTo>
                  <a:pt x="2765447" y="1238811"/>
                  <a:pt x="2762769" y="1238811"/>
                  <a:pt x="2761532" y="1240697"/>
                </a:cubicBezTo>
                <a:cubicBezTo>
                  <a:pt x="2764005" y="1243685"/>
                  <a:pt x="2762769" y="1247616"/>
                  <a:pt x="2766684" y="1249659"/>
                </a:cubicBezTo>
                <a:cubicBezTo>
                  <a:pt x="2769260" y="1246672"/>
                  <a:pt x="2773175" y="1245415"/>
                  <a:pt x="2776936" y="1243921"/>
                </a:cubicBezTo>
                <a:lnTo>
                  <a:pt x="2779168" y="1242807"/>
                </a:lnTo>
                <a:lnTo>
                  <a:pt x="2775542" y="1238953"/>
                </a:lnTo>
                <a:lnTo>
                  <a:pt x="2775329" y="1238677"/>
                </a:lnTo>
                <a:lnTo>
                  <a:pt x="2770599" y="1242742"/>
                </a:lnTo>
                <a:cubicBezTo>
                  <a:pt x="2769363" y="1240697"/>
                  <a:pt x="2773278" y="1235666"/>
                  <a:pt x="2766684" y="1235666"/>
                </a:cubicBezTo>
                <a:close/>
                <a:moveTo>
                  <a:pt x="2639130" y="1235666"/>
                </a:moveTo>
                <a:cubicBezTo>
                  <a:pt x="2639130" y="1235666"/>
                  <a:pt x="2639130" y="1235666"/>
                  <a:pt x="2633979" y="1241641"/>
                </a:cubicBezTo>
                <a:cubicBezTo>
                  <a:pt x="2636554" y="1242663"/>
                  <a:pt x="2638820" y="1242663"/>
                  <a:pt x="2640598" y="1241798"/>
                </a:cubicBezTo>
                <a:lnTo>
                  <a:pt x="2641868" y="1240063"/>
                </a:lnTo>
                <a:lnTo>
                  <a:pt x="2640158" y="1237789"/>
                </a:lnTo>
                <a:lnTo>
                  <a:pt x="2639221" y="1235685"/>
                </a:lnTo>
                <a:close/>
                <a:moveTo>
                  <a:pt x="3140414" y="1235401"/>
                </a:moveTo>
                <a:cubicBezTo>
                  <a:pt x="3144267" y="1235401"/>
                  <a:pt x="3164746" y="1246531"/>
                  <a:pt x="3155825" y="1252573"/>
                </a:cubicBezTo>
                <a:cubicBezTo>
                  <a:pt x="3149336" y="1246531"/>
                  <a:pt x="3145484" y="1240489"/>
                  <a:pt x="3140414" y="1235401"/>
                </a:cubicBezTo>
                <a:close/>
                <a:moveTo>
                  <a:pt x="2770448" y="1232345"/>
                </a:moveTo>
                <a:lnTo>
                  <a:pt x="2770290" y="1232503"/>
                </a:lnTo>
                <a:cubicBezTo>
                  <a:pt x="2768332" y="1233741"/>
                  <a:pt x="2766066" y="1234723"/>
                  <a:pt x="2769363" y="1234723"/>
                </a:cubicBezTo>
                <a:lnTo>
                  <a:pt x="2771552" y="1233778"/>
                </a:lnTo>
                <a:close/>
                <a:moveTo>
                  <a:pt x="2756381" y="1230792"/>
                </a:moveTo>
                <a:lnTo>
                  <a:pt x="2750099" y="1231621"/>
                </a:lnTo>
                <a:lnTo>
                  <a:pt x="2748479" y="1232728"/>
                </a:lnTo>
                <a:lnTo>
                  <a:pt x="2746768" y="1236097"/>
                </a:lnTo>
                <a:lnTo>
                  <a:pt x="2748336" y="1237107"/>
                </a:lnTo>
                <a:lnTo>
                  <a:pt x="2748700" y="1236787"/>
                </a:lnTo>
                <a:lnTo>
                  <a:pt x="2748966" y="1237513"/>
                </a:lnTo>
                <a:lnTo>
                  <a:pt x="2750096" y="1238241"/>
                </a:lnTo>
                <a:cubicBezTo>
                  <a:pt x="2752053" y="1239243"/>
                  <a:pt x="2753702" y="1240226"/>
                  <a:pt x="2753702" y="1241641"/>
                </a:cubicBezTo>
                <a:cubicBezTo>
                  <a:pt x="2758854" y="1241641"/>
                  <a:pt x="2753702" y="1234723"/>
                  <a:pt x="2756381" y="1230792"/>
                </a:cubicBezTo>
                <a:close/>
                <a:moveTo>
                  <a:pt x="3371396" y="1229271"/>
                </a:moveTo>
                <a:cubicBezTo>
                  <a:pt x="3373101" y="1229017"/>
                  <a:pt x="3375124" y="1229457"/>
                  <a:pt x="3377377" y="1230942"/>
                </a:cubicBezTo>
                <a:cubicBezTo>
                  <a:pt x="3374714" y="1235788"/>
                  <a:pt x="3370823" y="1238915"/>
                  <a:pt x="3366932" y="1240791"/>
                </a:cubicBezTo>
                <a:cubicBezTo>
                  <a:pt x="3364014" y="1237039"/>
                  <a:pt x="3366280" y="1230033"/>
                  <a:pt x="3371396" y="1229271"/>
                </a:cubicBezTo>
                <a:close/>
                <a:moveTo>
                  <a:pt x="2756160" y="1227472"/>
                </a:moveTo>
                <a:lnTo>
                  <a:pt x="2755663" y="1227813"/>
                </a:lnTo>
                <a:lnTo>
                  <a:pt x="2756381" y="1227806"/>
                </a:lnTo>
                <a:close/>
                <a:moveTo>
                  <a:pt x="2782546" y="1226865"/>
                </a:moveTo>
                <a:cubicBezTo>
                  <a:pt x="2781314" y="1227804"/>
                  <a:pt x="2781314" y="1229681"/>
                  <a:pt x="2779878" y="1229681"/>
                </a:cubicBezTo>
                <a:lnTo>
                  <a:pt x="2780139" y="1230079"/>
                </a:lnTo>
                <a:lnTo>
                  <a:pt x="2785972" y="1229036"/>
                </a:lnTo>
                <a:close/>
                <a:moveTo>
                  <a:pt x="2800608" y="1225769"/>
                </a:moveTo>
                <a:cubicBezTo>
                  <a:pt x="2800608" y="1227804"/>
                  <a:pt x="2800608" y="1230777"/>
                  <a:pt x="2802045" y="1233750"/>
                </a:cubicBezTo>
                <a:cubicBezTo>
                  <a:pt x="2797119" y="1224126"/>
                  <a:pt x="2793001" y="1230610"/>
                  <a:pt x="2787959" y="1230296"/>
                </a:cubicBezTo>
                <a:lnTo>
                  <a:pt x="2787475" y="1229989"/>
                </a:lnTo>
                <a:lnTo>
                  <a:pt x="2785088" y="1230957"/>
                </a:lnTo>
                <a:lnTo>
                  <a:pt x="2782125" y="1233101"/>
                </a:lnTo>
                <a:lnTo>
                  <a:pt x="2782530" y="1233716"/>
                </a:lnTo>
                <a:cubicBezTo>
                  <a:pt x="2782626" y="1236190"/>
                  <a:pt x="2780298" y="1238372"/>
                  <a:pt x="2781061" y="1241081"/>
                </a:cubicBezTo>
                <a:lnTo>
                  <a:pt x="2781551" y="1241619"/>
                </a:lnTo>
                <a:lnTo>
                  <a:pt x="2782274" y="1241257"/>
                </a:lnTo>
                <a:cubicBezTo>
                  <a:pt x="2783891" y="1240147"/>
                  <a:pt x="2785282" y="1238732"/>
                  <a:pt x="2786261" y="1236767"/>
                </a:cubicBezTo>
                <a:cubicBezTo>
                  <a:pt x="2794091" y="1235666"/>
                  <a:pt x="2794091" y="1239755"/>
                  <a:pt x="2799243" y="1239755"/>
                </a:cubicBezTo>
                <a:cubicBezTo>
                  <a:pt x="2802179" y="1237514"/>
                  <a:pt x="2804214" y="1235146"/>
                  <a:pt x="2805920" y="1232854"/>
                </a:cubicBezTo>
                <a:lnTo>
                  <a:pt x="2806778" y="1231680"/>
                </a:lnTo>
                <a:lnTo>
                  <a:pt x="2802892" y="1231325"/>
                </a:lnTo>
                <a:cubicBezTo>
                  <a:pt x="2802558" y="1229956"/>
                  <a:pt x="2802558" y="1227725"/>
                  <a:pt x="2800608" y="1225769"/>
                </a:cubicBezTo>
                <a:close/>
                <a:moveTo>
                  <a:pt x="3268900" y="1225695"/>
                </a:moveTo>
                <a:cubicBezTo>
                  <a:pt x="3279240" y="1228716"/>
                  <a:pt x="3262614" y="1236825"/>
                  <a:pt x="3259978" y="1242868"/>
                </a:cubicBezTo>
                <a:cubicBezTo>
                  <a:pt x="3254909" y="1236825"/>
                  <a:pt x="3262614" y="1235712"/>
                  <a:pt x="3268900" y="1225695"/>
                </a:cubicBezTo>
                <a:close/>
                <a:moveTo>
                  <a:pt x="2792735" y="1215181"/>
                </a:moveTo>
                <a:lnTo>
                  <a:pt x="2791694" y="1215840"/>
                </a:lnTo>
                <a:lnTo>
                  <a:pt x="2793014" y="1219823"/>
                </a:lnTo>
                <a:lnTo>
                  <a:pt x="2797595" y="1217690"/>
                </a:lnTo>
                <a:lnTo>
                  <a:pt x="2795044" y="1216229"/>
                </a:lnTo>
                <a:cubicBezTo>
                  <a:pt x="2794233" y="1215669"/>
                  <a:pt x="2793505" y="1215203"/>
                  <a:pt x="2792735" y="1215181"/>
                </a:cubicBezTo>
                <a:close/>
                <a:moveTo>
                  <a:pt x="2251687" y="1213764"/>
                </a:moveTo>
                <a:cubicBezTo>
                  <a:pt x="2250353" y="1214309"/>
                  <a:pt x="2249070" y="1215556"/>
                  <a:pt x="2247941" y="1217154"/>
                </a:cubicBezTo>
                <a:lnTo>
                  <a:pt x="2247842" y="1217348"/>
                </a:lnTo>
                <a:lnTo>
                  <a:pt x="2251108" y="1218843"/>
                </a:lnTo>
                <a:lnTo>
                  <a:pt x="2251867" y="1213941"/>
                </a:lnTo>
                <a:close/>
                <a:moveTo>
                  <a:pt x="2252749" y="1206325"/>
                </a:moveTo>
                <a:lnTo>
                  <a:pt x="2250902" y="1206874"/>
                </a:lnTo>
                <a:lnTo>
                  <a:pt x="2245519" y="1209273"/>
                </a:lnTo>
                <a:lnTo>
                  <a:pt x="2245214" y="1209630"/>
                </a:lnTo>
                <a:lnTo>
                  <a:pt x="2250455" y="1210957"/>
                </a:lnTo>
                <a:cubicBezTo>
                  <a:pt x="2253021" y="1211892"/>
                  <a:pt x="2253329" y="1209164"/>
                  <a:pt x="2253637" y="1206572"/>
                </a:cubicBezTo>
                <a:lnTo>
                  <a:pt x="2253674" y="1206410"/>
                </a:lnTo>
                <a:close/>
                <a:moveTo>
                  <a:pt x="3402921" y="1200738"/>
                </a:moveTo>
                <a:cubicBezTo>
                  <a:pt x="3409495" y="1205821"/>
                  <a:pt x="3410729" y="1202803"/>
                  <a:pt x="3414632" y="1207887"/>
                </a:cubicBezTo>
                <a:cubicBezTo>
                  <a:pt x="3408263" y="1214877"/>
                  <a:pt x="3399018" y="1210905"/>
                  <a:pt x="3392649" y="1215831"/>
                </a:cubicBezTo>
                <a:cubicBezTo>
                  <a:pt x="3391212" y="1214877"/>
                  <a:pt x="3395115" y="1203756"/>
                  <a:pt x="3402921" y="1200738"/>
                </a:cubicBezTo>
                <a:close/>
                <a:moveTo>
                  <a:pt x="2341516" y="1199181"/>
                </a:moveTo>
                <a:cubicBezTo>
                  <a:pt x="2340354" y="1199544"/>
                  <a:pt x="2339498" y="1200449"/>
                  <a:pt x="2338764" y="1201628"/>
                </a:cubicBezTo>
                <a:lnTo>
                  <a:pt x="2334814" y="1209028"/>
                </a:lnTo>
                <a:lnTo>
                  <a:pt x="2343001" y="1211021"/>
                </a:lnTo>
                <a:lnTo>
                  <a:pt x="2340846" y="1212191"/>
                </a:lnTo>
                <a:lnTo>
                  <a:pt x="2342035" y="1212613"/>
                </a:lnTo>
                <a:cubicBezTo>
                  <a:pt x="2344508" y="1212869"/>
                  <a:pt x="2346826" y="1212397"/>
                  <a:pt x="2348783" y="1210982"/>
                </a:cubicBezTo>
                <a:cubicBezTo>
                  <a:pt x="2339510" y="1209881"/>
                  <a:pt x="2342189" y="1205008"/>
                  <a:pt x="2346105" y="1199976"/>
                </a:cubicBezTo>
                <a:cubicBezTo>
                  <a:pt x="2344147" y="1198994"/>
                  <a:pt x="2342678" y="1198817"/>
                  <a:pt x="2341516" y="1199181"/>
                </a:cubicBezTo>
                <a:close/>
                <a:moveTo>
                  <a:pt x="2809502" y="1198262"/>
                </a:moveTo>
                <a:lnTo>
                  <a:pt x="2809752" y="1199976"/>
                </a:lnTo>
                <a:lnTo>
                  <a:pt x="2812582" y="1199092"/>
                </a:lnTo>
                <a:close/>
                <a:moveTo>
                  <a:pt x="2827885" y="1196046"/>
                </a:moveTo>
                <a:cubicBezTo>
                  <a:pt x="2826030" y="1205008"/>
                  <a:pt x="2810846" y="1203269"/>
                  <a:pt x="2807196" y="1206880"/>
                </a:cubicBezTo>
                <a:lnTo>
                  <a:pt x="2808281" y="1212716"/>
                </a:lnTo>
                <a:lnTo>
                  <a:pt x="2816207" y="1209025"/>
                </a:lnTo>
                <a:lnTo>
                  <a:pt x="2837110" y="1198401"/>
                </a:lnTo>
                <a:lnTo>
                  <a:pt x="2834899" y="1199208"/>
                </a:lnTo>
                <a:cubicBezTo>
                  <a:pt x="2832560" y="1198994"/>
                  <a:pt x="2832831" y="1195220"/>
                  <a:pt x="2827885" y="1196046"/>
                </a:cubicBezTo>
                <a:close/>
                <a:moveTo>
                  <a:pt x="2842638" y="1189889"/>
                </a:moveTo>
                <a:lnTo>
                  <a:pt x="2837947" y="1191973"/>
                </a:lnTo>
                <a:lnTo>
                  <a:pt x="2835759" y="1192778"/>
                </a:lnTo>
                <a:lnTo>
                  <a:pt x="2838320" y="1197786"/>
                </a:lnTo>
                <a:lnTo>
                  <a:pt x="2839606" y="1197133"/>
                </a:lnTo>
                <a:lnTo>
                  <a:pt x="2842205" y="1194855"/>
                </a:lnTo>
                <a:lnTo>
                  <a:pt x="2841974" y="1195031"/>
                </a:lnTo>
                <a:close/>
                <a:moveTo>
                  <a:pt x="2419052" y="1188027"/>
                </a:moveTo>
                <a:cubicBezTo>
                  <a:pt x="2416373" y="1194002"/>
                  <a:pt x="2408542" y="1193059"/>
                  <a:pt x="2409985" y="1199033"/>
                </a:cubicBezTo>
                <a:lnTo>
                  <a:pt x="2411379" y="1198696"/>
                </a:lnTo>
                <a:lnTo>
                  <a:pt x="2411457" y="1197962"/>
                </a:lnTo>
                <a:lnTo>
                  <a:pt x="2414518" y="1197936"/>
                </a:lnTo>
                <a:lnTo>
                  <a:pt x="2418021" y="1197088"/>
                </a:lnTo>
                <a:lnTo>
                  <a:pt x="2421537" y="1193097"/>
                </a:lnTo>
                <a:lnTo>
                  <a:pt x="2421607" y="1191032"/>
                </a:lnTo>
                <a:lnTo>
                  <a:pt x="2423357" y="1191032"/>
                </a:lnTo>
                <a:lnTo>
                  <a:pt x="2424203" y="1190071"/>
                </a:lnTo>
                <a:cubicBezTo>
                  <a:pt x="2424203" y="1190071"/>
                  <a:pt x="2424203" y="1190071"/>
                  <a:pt x="2419052" y="1188027"/>
                </a:cubicBezTo>
                <a:close/>
                <a:moveTo>
                  <a:pt x="2429355" y="1185984"/>
                </a:moveTo>
                <a:cubicBezTo>
                  <a:pt x="2430334" y="1187753"/>
                  <a:pt x="2430578" y="1188892"/>
                  <a:pt x="2430395" y="1189684"/>
                </a:cubicBezTo>
                <a:lnTo>
                  <a:pt x="2429111" y="1191032"/>
                </a:lnTo>
                <a:lnTo>
                  <a:pt x="2429414" y="1191032"/>
                </a:lnTo>
                <a:cubicBezTo>
                  <a:pt x="2430529" y="1191032"/>
                  <a:pt x="2430529" y="1191032"/>
                  <a:pt x="2430529" y="1191032"/>
                </a:cubicBezTo>
                <a:lnTo>
                  <a:pt x="2429835" y="1193942"/>
                </a:lnTo>
                <a:lnTo>
                  <a:pt x="2431802" y="1191997"/>
                </a:lnTo>
                <a:cubicBezTo>
                  <a:pt x="2433270" y="1189521"/>
                  <a:pt x="2433270" y="1186534"/>
                  <a:pt x="2429355" y="1185984"/>
                </a:cubicBezTo>
                <a:close/>
                <a:moveTo>
                  <a:pt x="2528665" y="1183273"/>
                </a:moveTo>
                <a:lnTo>
                  <a:pt x="2526911" y="1183378"/>
                </a:lnTo>
                <a:lnTo>
                  <a:pt x="2527054" y="1185154"/>
                </a:lnTo>
                <a:lnTo>
                  <a:pt x="2528730" y="1184333"/>
                </a:lnTo>
                <a:close/>
                <a:moveTo>
                  <a:pt x="2866959" y="1179246"/>
                </a:moveTo>
                <a:lnTo>
                  <a:pt x="2868204" y="1183280"/>
                </a:lnTo>
                <a:lnTo>
                  <a:pt x="2869222" y="1183156"/>
                </a:lnTo>
                <a:lnTo>
                  <a:pt x="2869340" y="1186967"/>
                </a:lnTo>
                <a:lnTo>
                  <a:pt x="2869367" y="1187052"/>
                </a:lnTo>
                <a:cubicBezTo>
                  <a:pt x="2869367" y="1184144"/>
                  <a:pt x="2875787" y="1185062"/>
                  <a:pt x="2870771" y="1187052"/>
                </a:cubicBezTo>
                <a:cubicBezTo>
                  <a:pt x="2869367" y="1187052"/>
                  <a:pt x="2868163" y="1187971"/>
                  <a:pt x="2868163" y="1189960"/>
                </a:cubicBezTo>
                <a:lnTo>
                  <a:pt x="2865249" y="1189279"/>
                </a:lnTo>
                <a:lnTo>
                  <a:pt x="2854078" y="1192256"/>
                </a:lnTo>
                <a:cubicBezTo>
                  <a:pt x="2852765" y="1188681"/>
                  <a:pt x="2854331" y="1186122"/>
                  <a:pt x="2857334" y="1184599"/>
                </a:cubicBezTo>
                <a:lnTo>
                  <a:pt x="2863640" y="1183834"/>
                </a:lnTo>
                <a:close/>
                <a:moveTo>
                  <a:pt x="2480253" y="1173091"/>
                </a:moveTo>
                <a:cubicBezTo>
                  <a:pt x="2476338" y="1177179"/>
                  <a:pt x="2485405" y="1178123"/>
                  <a:pt x="2481489" y="1181110"/>
                </a:cubicBezTo>
                <a:cubicBezTo>
                  <a:pt x="2476338" y="1185040"/>
                  <a:pt x="2480253" y="1176079"/>
                  <a:pt x="2473658" y="1176079"/>
                </a:cubicBezTo>
                <a:cubicBezTo>
                  <a:pt x="2472422" y="1180166"/>
                  <a:pt x="2469743" y="1178123"/>
                  <a:pt x="2467271" y="1182053"/>
                </a:cubicBezTo>
                <a:cubicBezTo>
                  <a:pt x="2472422" y="1185984"/>
                  <a:pt x="2475102" y="1184097"/>
                  <a:pt x="2479017" y="1184097"/>
                </a:cubicBezTo>
                <a:cubicBezTo>
                  <a:pt x="2475102" y="1191958"/>
                  <a:pt x="2467271" y="1184097"/>
                  <a:pt x="2463355" y="1191015"/>
                </a:cubicBezTo>
                <a:cubicBezTo>
                  <a:pt x="2455525" y="1188971"/>
                  <a:pt x="2456761" y="1184097"/>
                  <a:pt x="2451610" y="1185040"/>
                </a:cubicBezTo>
                <a:cubicBezTo>
                  <a:pt x="2448931" y="1190071"/>
                  <a:pt x="2452846" y="1188027"/>
                  <a:pt x="2456761" y="1190071"/>
                </a:cubicBezTo>
                <a:cubicBezTo>
                  <a:pt x="2452846" y="1197933"/>
                  <a:pt x="2443780" y="1185984"/>
                  <a:pt x="2441101" y="1196046"/>
                </a:cubicBezTo>
                <a:lnTo>
                  <a:pt x="2442153" y="1195973"/>
                </a:lnTo>
                <a:lnTo>
                  <a:pt x="2443250" y="1195007"/>
                </a:lnTo>
                <a:cubicBezTo>
                  <a:pt x="2444514" y="1194669"/>
                  <a:pt x="2445838" y="1194927"/>
                  <a:pt x="2447042" y="1195563"/>
                </a:cubicBezTo>
                <a:lnTo>
                  <a:pt x="2447086" y="1195631"/>
                </a:lnTo>
                <a:lnTo>
                  <a:pt x="2470285" y="1194022"/>
                </a:lnTo>
                <a:cubicBezTo>
                  <a:pt x="2479893" y="1192272"/>
                  <a:pt x="2489320" y="1189521"/>
                  <a:pt x="2498387" y="1185984"/>
                </a:cubicBezTo>
                <a:cubicBezTo>
                  <a:pt x="2495914" y="1185040"/>
                  <a:pt x="2491999" y="1183154"/>
                  <a:pt x="2488084" y="1185040"/>
                </a:cubicBezTo>
                <a:cubicBezTo>
                  <a:pt x="2485405" y="1182053"/>
                  <a:pt x="2490762" y="1177179"/>
                  <a:pt x="2489320" y="1173091"/>
                </a:cubicBezTo>
                <a:cubicBezTo>
                  <a:pt x="2485405" y="1172148"/>
                  <a:pt x="2482726" y="1172148"/>
                  <a:pt x="2480253" y="1173091"/>
                </a:cubicBezTo>
                <a:close/>
                <a:moveTo>
                  <a:pt x="2533624" y="1163186"/>
                </a:moveTo>
                <a:cubicBezTo>
                  <a:pt x="2528473" y="1161299"/>
                  <a:pt x="2523114" y="1170104"/>
                  <a:pt x="2530945" y="1172148"/>
                </a:cubicBezTo>
                <a:cubicBezTo>
                  <a:pt x="2534860" y="1168217"/>
                  <a:pt x="2530945" y="1167117"/>
                  <a:pt x="2533624" y="1163186"/>
                </a:cubicBezTo>
                <a:close/>
                <a:moveTo>
                  <a:pt x="2525252" y="1156347"/>
                </a:moveTo>
                <a:cubicBezTo>
                  <a:pt x="2523114" y="1156976"/>
                  <a:pt x="2521157" y="1158234"/>
                  <a:pt x="2519200" y="1159255"/>
                </a:cubicBezTo>
                <a:cubicBezTo>
                  <a:pt x="2517963" y="1162243"/>
                  <a:pt x="2517963" y="1168217"/>
                  <a:pt x="2511574" y="1167117"/>
                </a:cubicBezTo>
                <a:cubicBezTo>
                  <a:pt x="2511574" y="1164287"/>
                  <a:pt x="2512811" y="1160199"/>
                  <a:pt x="2510133" y="1158312"/>
                </a:cubicBezTo>
                <a:cubicBezTo>
                  <a:pt x="2506217" y="1161299"/>
                  <a:pt x="2501065" y="1162243"/>
                  <a:pt x="2504981" y="1167117"/>
                </a:cubicBezTo>
                <a:cubicBezTo>
                  <a:pt x="2510133" y="1164287"/>
                  <a:pt x="2510133" y="1173091"/>
                  <a:pt x="2515490" y="1170104"/>
                </a:cubicBezTo>
                <a:cubicBezTo>
                  <a:pt x="2512811" y="1178123"/>
                  <a:pt x="2504981" y="1172148"/>
                  <a:pt x="2501065" y="1173091"/>
                </a:cubicBezTo>
                <a:cubicBezTo>
                  <a:pt x="2499829" y="1175135"/>
                  <a:pt x="2495914" y="1178123"/>
                  <a:pt x="2498387" y="1180166"/>
                </a:cubicBezTo>
                <a:cubicBezTo>
                  <a:pt x="2502302" y="1177179"/>
                  <a:pt x="2506217" y="1178123"/>
                  <a:pt x="2511574" y="1178123"/>
                </a:cubicBezTo>
                <a:cubicBezTo>
                  <a:pt x="2511574" y="1185040"/>
                  <a:pt x="2506217" y="1179065"/>
                  <a:pt x="2503745" y="1185984"/>
                </a:cubicBezTo>
                <a:cubicBezTo>
                  <a:pt x="2506939" y="1185984"/>
                  <a:pt x="2510184" y="1185001"/>
                  <a:pt x="2513609" y="1184019"/>
                </a:cubicBezTo>
                <a:lnTo>
                  <a:pt x="2524228" y="1182112"/>
                </a:lnTo>
                <a:lnTo>
                  <a:pt x="2525010" y="1178349"/>
                </a:lnTo>
                <a:lnTo>
                  <a:pt x="2523884" y="1178700"/>
                </a:lnTo>
                <a:cubicBezTo>
                  <a:pt x="2521131" y="1179341"/>
                  <a:pt x="2518684" y="1179577"/>
                  <a:pt x="2516726" y="1179065"/>
                </a:cubicBezTo>
                <a:cubicBezTo>
                  <a:pt x="2519200" y="1179065"/>
                  <a:pt x="2520642" y="1178123"/>
                  <a:pt x="2523114" y="1177179"/>
                </a:cubicBezTo>
                <a:cubicBezTo>
                  <a:pt x="2517963" y="1174192"/>
                  <a:pt x="2512811" y="1178123"/>
                  <a:pt x="2517963" y="1171204"/>
                </a:cubicBezTo>
                <a:cubicBezTo>
                  <a:pt x="2521878" y="1166173"/>
                  <a:pt x="2519200" y="1179065"/>
                  <a:pt x="2523114" y="1174192"/>
                </a:cubicBezTo>
                <a:cubicBezTo>
                  <a:pt x="2529709" y="1167117"/>
                  <a:pt x="2519200" y="1172148"/>
                  <a:pt x="2520642" y="1167117"/>
                </a:cubicBezTo>
                <a:cubicBezTo>
                  <a:pt x="2528473" y="1166173"/>
                  <a:pt x="2521878" y="1159255"/>
                  <a:pt x="2532388" y="1157212"/>
                </a:cubicBezTo>
                <a:cubicBezTo>
                  <a:pt x="2529709" y="1155718"/>
                  <a:pt x="2527391" y="1155718"/>
                  <a:pt x="2525252" y="1156347"/>
                </a:cubicBezTo>
                <a:close/>
                <a:moveTo>
                  <a:pt x="2595946" y="1155862"/>
                </a:moveTo>
                <a:cubicBezTo>
                  <a:pt x="2599281" y="1155222"/>
                  <a:pt x="2603093" y="1155462"/>
                  <a:pt x="2604998" y="1155942"/>
                </a:cubicBezTo>
                <a:cubicBezTo>
                  <a:pt x="2604998" y="1158022"/>
                  <a:pt x="2601186" y="1158981"/>
                  <a:pt x="2602390" y="1161061"/>
                </a:cubicBezTo>
                <a:cubicBezTo>
                  <a:pt x="2595970" y="1158022"/>
                  <a:pt x="2594767" y="1159941"/>
                  <a:pt x="2589752" y="1161061"/>
                </a:cubicBezTo>
                <a:cubicBezTo>
                  <a:pt x="2589752" y="1158022"/>
                  <a:pt x="2592610" y="1156502"/>
                  <a:pt x="2595946" y="1155862"/>
                </a:cubicBezTo>
                <a:close/>
                <a:moveTo>
                  <a:pt x="2904387" y="1151041"/>
                </a:moveTo>
                <a:cubicBezTo>
                  <a:pt x="2902120" y="1150804"/>
                  <a:pt x="2900833" y="1151316"/>
                  <a:pt x="2899596" y="1155324"/>
                </a:cubicBezTo>
                <a:cubicBezTo>
                  <a:pt x="2902069" y="1158312"/>
                  <a:pt x="2915051" y="1158312"/>
                  <a:pt x="2915051" y="1151237"/>
                </a:cubicBezTo>
                <a:cubicBezTo>
                  <a:pt x="2909900" y="1152259"/>
                  <a:pt x="2906654" y="1151277"/>
                  <a:pt x="2904387" y="1151041"/>
                </a:cubicBezTo>
                <a:close/>
                <a:moveTo>
                  <a:pt x="2615054" y="1141342"/>
                </a:moveTo>
                <a:cubicBezTo>
                  <a:pt x="2613825" y="1143331"/>
                  <a:pt x="2617716" y="1143331"/>
                  <a:pt x="2616282" y="1145168"/>
                </a:cubicBezTo>
                <a:cubicBezTo>
                  <a:pt x="2612392" y="1146240"/>
                  <a:pt x="2609934" y="1152055"/>
                  <a:pt x="2603381" y="1148076"/>
                </a:cubicBezTo>
                <a:cubicBezTo>
                  <a:pt x="2603381" y="1140423"/>
                  <a:pt x="2612392" y="1147157"/>
                  <a:pt x="2613825" y="1142260"/>
                </a:cubicBezTo>
                <a:cubicBezTo>
                  <a:pt x="2612392" y="1142260"/>
                  <a:pt x="2612392" y="1140423"/>
                  <a:pt x="2615054" y="1141342"/>
                </a:cubicBezTo>
                <a:close/>
                <a:moveTo>
                  <a:pt x="2927815" y="1140770"/>
                </a:moveTo>
                <a:lnTo>
                  <a:pt x="2928041" y="1141313"/>
                </a:lnTo>
                <a:lnTo>
                  <a:pt x="2929511" y="1141056"/>
                </a:lnTo>
                <a:close/>
                <a:moveTo>
                  <a:pt x="3003660" y="1137402"/>
                </a:moveTo>
                <a:cubicBezTo>
                  <a:pt x="2999745" y="1137402"/>
                  <a:pt x="2998508" y="1139445"/>
                  <a:pt x="2995829" y="1140388"/>
                </a:cubicBezTo>
                <a:cubicBezTo>
                  <a:pt x="2995829" y="1141882"/>
                  <a:pt x="2995520" y="1143847"/>
                  <a:pt x="2996035" y="1145204"/>
                </a:cubicBezTo>
                <a:lnTo>
                  <a:pt x="3001069" y="1146336"/>
                </a:lnTo>
                <a:lnTo>
                  <a:pt x="3001262" y="1146093"/>
                </a:lnTo>
                <a:close/>
                <a:moveTo>
                  <a:pt x="2964366" y="1136957"/>
                </a:moveTo>
                <a:cubicBezTo>
                  <a:pt x="2969382" y="1136957"/>
                  <a:pt x="2969382" y="1152050"/>
                  <a:pt x="2962961" y="1146012"/>
                </a:cubicBezTo>
                <a:cubicBezTo>
                  <a:pt x="2969382" y="1144901"/>
                  <a:pt x="2954134" y="1139976"/>
                  <a:pt x="2964366" y="1136957"/>
                </a:cubicBezTo>
                <a:close/>
                <a:moveTo>
                  <a:pt x="2620949" y="1136957"/>
                </a:moveTo>
                <a:cubicBezTo>
                  <a:pt x="2620949" y="1136957"/>
                  <a:pt x="2620949" y="1136957"/>
                  <a:pt x="2628622" y="1138960"/>
                </a:cubicBezTo>
                <a:cubicBezTo>
                  <a:pt x="2627412" y="1142811"/>
                  <a:pt x="2622363" y="1141733"/>
                  <a:pt x="2619738" y="1143735"/>
                </a:cubicBezTo>
                <a:cubicBezTo>
                  <a:pt x="2622363" y="1140808"/>
                  <a:pt x="2619738" y="1139884"/>
                  <a:pt x="2620949" y="1136957"/>
                </a:cubicBezTo>
                <a:close/>
                <a:moveTo>
                  <a:pt x="2928264" y="1129384"/>
                </a:moveTo>
                <a:lnTo>
                  <a:pt x="2928240" y="1129395"/>
                </a:lnTo>
                <a:lnTo>
                  <a:pt x="2928303" y="1131018"/>
                </a:lnTo>
                <a:lnTo>
                  <a:pt x="2930068" y="1129892"/>
                </a:lnTo>
                <a:lnTo>
                  <a:pt x="2930506" y="1129527"/>
                </a:lnTo>
                <a:close/>
                <a:moveTo>
                  <a:pt x="2966934" y="1126557"/>
                </a:moveTo>
                <a:cubicBezTo>
                  <a:pt x="2966934" y="1130717"/>
                  <a:pt x="2968388" y="1130717"/>
                  <a:pt x="2973580" y="1126557"/>
                </a:cubicBezTo>
                <a:cubicBezTo>
                  <a:pt x="2974826" y="1128637"/>
                  <a:pt x="2972334" y="1131677"/>
                  <a:pt x="2968388" y="1134717"/>
                </a:cubicBezTo>
                <a:cubicBezTo>
                  <a:pt x="2966934" y="1132637"/>
                  <a:pt x="2962988" y="1133757"/>
                  <a:pt x="2960495" y="1130717"/>
                </a:cubicBezTo>
                <a:cubicBezTo>
                  <a:pt x="2966934" y="1126557"/>
                  <a:pt x="2966934" y="1126557"/>
                  <a:pt x="2966934" y="1126557"/>
                </a:cubicBezTo>
                <a:close/>
                <a:moveTo>
                  <a:pt x="2944714" y="1121996"/>
                </a:moveTo>
                <a:lnTo>
                  <a:pt x="2942725" y="1122840"/>
                </a:lnTo>
                <a:lnTo>
                  <a:pt x="2941172" y="1128244"/>
                </a:lnTo>
                <a:lnTo>
                  <a:pt x="2942884" y="1128516"/>
                </a:lnTo>
                <a:cubicBezTo>
                  <a:pt x="2944227" y="1127024"/>
                  <a:pt x="2944227" y="1125531"/>
                  <a:pt x="2944227" y="1123920"/>
                </a:cubicBezTo>
                <a:close/>
                <a:moveTo>
                  <a:pt x="2999410" y="1115807"/>
                </a:moveTo>
                <a:cubicBezTo>
                  <a:pt x="2996946" y="1117698"/>
                  <a:pt x="2994276" y="1117698"/>
                  <a:pt x="2993043" y="1117698"/>
                </a:cubicBezTo>
                <a:cubicBezTo>
                  <a:pt x="2991709" y="1119748"/>
                  <a:pt x="2994276" y="1120260"/>
                  <a:pt x="2995893" y="1121127"/>
                </a:cubicBezTo>
                <a:lnTo>
                  <a:pt x="2996051" y="1121384"/>
                </a:lnTo>
                <a:lnTo>
                  <a:pt x="3002783" y="1117229"/>
                </a:lnTo>
                <a:close/>
                <a:moveTo>
                  <a:pt x="2708615" y="1112937"/>
                </a:moveTo>
                <a:cubicBezTo>
                  <a:pt x="2710082" y="1112284"/>
                  <a:pt x="2712389" y="1112774"/>
                  <a:pt x="2714381" y="1114242"/>
                </a:cubicBezTo>
                <a:cubicBezTo>
                  <a:pt x="2715849" y="1119462"/>
                  <a:pt x="2711864" y="1119462"/>
                  <a:pt x="2707880" y="1118483"/>
                </a:cubicBezTo>
                <a:cubicBezTo>
                  <a:pt x="2706517" y="1115384"/>
                  <a:pt x="2707146" y="1113590"/>
                  <a:pt x="2708615" y="1112937"/>
                </a:cubicBezTo>
                <a:close/>
                <a:moveTo>
                  <a:pt x="2680660" y="1106453"/>
                </a:moveTo>
                <a:lnTo>
                  <a:pt x="2688846" y="1112345"/>
                </a:lnTo>
                <a:lnTo>
                  <a:pt x="2694736" y="1109226"/>
                </a:lnTo>
                <a:cubicBezTo>
                  <a:pt x="2698591" y="1112241"/>
                  <a:pt x="2680532" y="1122239"/>
                  <a:pt x="2677894" y="1117161"/>
                </a:cubicBezTo>
                <a:lnTo>
                  <a:pt x="2684654" y="1114424"/>
                </a:lnTo>
                <a:lnTo>
                  <a:pt x="2683315" y="1112407"/>
                </a:lnTo>
                <a:cubicBezTo>
                  <a:pt x="2676781" y="1119302"/>
                  <a:pt x="2667797" y="1124317"/>
                  <a:pt x="2658812" y="1129174"/>
                </a:cubicBezTo>
                <a:lnTo>
                  <a:pt x="2658940" y="1128854"/>
                </a:lnTo>
                <a:lnTo>
                  <a:pt x="2658230" y="1129711"/>
                </a:lnTo>
                <a:cubicBezTo>
                  <a:pt x="2654771" y="1131892"/>
                  <a:pt x="2650508" y="1133806"/>
                  <a:pt x="2647907" y="1134723"/>
                </a:cubicBezTo>
                <a:cubicBezTo>
                  <a:pt x="2648532" y="1132352"/>
                  <a:pt x="2651496" y="1130438"/>
                  <a:pt x="2654798" y="1128621"/>
                </a:cubicBezTo>
                <a:lnTo>
                  <a:pt x="2660444" y="1125120"/>
                </a:lnTo>
                <a:lnTo>
                  <a:pt x="2661651" y="1122120"/>
                </a:lnTo>
                <a:cubicBezTo>
                  <a:pt x="2666150" y="1116589"/>
                  <a:pt x="2674841" y="1114562"/>
                  <a:pt x="2680660" y="1106453"/>
                </a:cubicBezTo>
                <a:close/>
                <a:moveTo>
                  <a:pt x="30238" y="1105760"/>
                </a:moveTo>
                <a:cubicBezTo>
                  <a:pt x="31661" y="1108706"/>
                  <a:pt x="34099" y="1109636"/>
                  <a:pt x="37962" y="1110567"/>
                </a:cubicBezTo>
                <a:cubicBezTo>
                  <a:pt x="30238" y="1110567"/>
                  <a:pt x="22514" y="1116460"/>
                  <a:pt x="21295" y="1126229"/>
                </a:cubicBezTo>
                <a:cubicBezTo>
                  <a:pt x="18652" y="1127315"/>
                  <a:pt x="14994" y="1126229"/>
                  <a:pt x="13571" y="1129176"/>
                </a:cubicBezTo>
                <a:cubicBezTo>
                  <a:pt x="7269" y="1125299"/>
                  <a:pt x="16213" y="1123283"/>
                  <a:pt x="18652" y="1115529"/>
                </a:cubicBezTo>
                <a:cubicBezTo>
                  <a:pt x="23936" y="1118475"/>
                  <a:pt x="27799" y="1112583"/>
                  <a:pt x="30238" y="1105760"/>
                </a:cubicBezTo>
                <a:close/>
                <a:moveTo>
                  <a:pt x="175697" y="1102728"/>
                </a:moveTo>
                <a:cubicBezTo>
                  <a:pt x="169103" y="1105715"/>
                  <a:pt x="163950" y="1113575"/>
                  <a:pt x="157356" y="1118605"/>
                </a:cubicBezTo>
                <a:cubicBezTo>
                  <a:pt x="156119" y="1115618"/>
                  <a:pt x="150967" y="1113575"/>
                  <a:pt x="147051" y="1115618"/>
                </a:cubicBezTo>
                <a:cubicBezTo>
                  <a:pt x="141899" y="1127565"/>
                  <a:pt x="136541" y="1134482"/>
                  <a:pt x="136541" y="1146428"/>
                </a:cubicBezTo>
                <a:cubicBezTo>
                  <a:pt x="141899" y="1140455"/>
                  <a:pt x="139220" y="1149414"/>
                  <a:pt x="144372" y="1148314"/>
                </a:cubicBezTo>
                <a:cubicBezTo>
                  <a:pt x="148288" y="1139511"/>
                  <a:pt x="156119" y="1146428"/>
                  <a:pt x="160034" y="1138411"/>
                </a:cubicBezTo>
                <a:cubicBezTo>
                  <a:pt x="157356" y="1124578"/>
                  <a:pt x="171782" y="1115618"/>
                  <a:pt x="175697" y="1102728"/>
                </a:cubicBezTo>
                <a:close/>
                <a:moveTo>
                  <a:pt x="2708890" y="1102238"/>
                </a:moveTo>
                <a:cubicBezTo>
                  <a:pt x="2720400" y="1100214"/>
                  <a:pt x="2700006" y="1113923"/>
                  <a:pt x="2698793" y="1107068"/>
                </a:cubicBezTo>
                <a:cubicBezTo>
                  <a:pt x="2702630" y="1103174"/>
                  <a:pt x="2710102" y="1107068"/>
                  <a:pt x="2708890" y="1102238"/>
                </a:cubicBezTo>
                <a:close/>
                <a:moveTo>
                  <a:pt x="2744620" y="1097441"/>
                </a:moveTo>
                <a:cubicBezTo>
                  <a:pt x="2745842" y="1103294"/>
                  <a:pt x="2745842" y="1104219"/>
                  <a:pt x="2740749" y="1104219"/>
                </a:cubicBezTo>
                <a:cubicBezTo>
                  <a:pt x="2734232" y="1098364"/>
                  <a:pt x="2743194" y="1100367"/>
                  <a:pt x="2744620" y="1097441"/>
                </a:cubicBezTo>
                <a:close/>
                <a:moveTo>
                  <a:pt x="3370763" y="1093281"/>
                </a:moveTo>
                <a:cubicBezTo>
                  <a:pt x="3376117" y="1095168"/>
                  <a:pt x="3365615" y="1111213"/>
                  <a:pt x="3362939" y="1102247"/>
                </a:cubicBezTo>
                <a:cubicBezTo>
                  <a:pt x="3360467" y="1105236"/>
                  <a:pt x="3364380" y="1107123"/>
                  <a:pt x="3360467" y="1111213"/>
                </a:cubicBezTo>
                <a:cubicBezTo>
                  <a:pt x="3369528" y="1104135"/>
                  <a:pt x="3374675" y="1117033"/>
                  <a:pt x="3380030" y="1105236"/>
                </a:cubicBezTo>
                <a:cubicBezTo>
                  <a:pt x="3383736" y="1106179"/>
                  <a:pt x="3378588" y="1111213"/>
                  <a:pt x="3382501" y="1112157"/>
                </a:cubicBezTo>
                <a:cubicBezTo>
                  <a:pt x="3378588" y="1115145"/>
                  <a:pt x="3370763" y="1113101"/>
                  <a:pt x="3365615" y="1114045"/>
                </a:cubicBezTo>
                <a:cubicBezTo>
                  <a:pt x="3366851" y="1121123"/>
                  <a:pt x="3348730" y="1142988"/>
                  <a:pt x="3364380" y="1141887"/>
                </a:cubicBezTo>
                <a:cubicBezTo>
                  <a:pt x="3368292" y="1152898"/>
                  <a:pt x="3327932" y="1160921"/>
                  <a:pt x="3339670" y="1173819"/>
                </a:cubicBezTo>
                <a:cubicBezTo>
                  <a:pt x="3329168" y="1184673"/>
                  <a:pt x="3326491" y="1194583"/>
                  <a:pt x="3321343" y="1206538"/>
                </a:cubicBezTo>
                <a:cubicBezTo>
                  <a:pt x="3317430" y="1218493"/>
                  <a:pt x="3314959" y="1231392"/>
                  <a:pt x="3301781" y="1246336"/>
                </a:cubicBezTo>
                <a:cubicBezTo>
                  <a:pt x="3295397" y="1240358"/>
                  <a:pt x="3284895" y="1218493"/>
                  <a:pt x="3305692" y="1217549"/>
                </a:cubicBezTo>
                <a:cubicBezTo>
                  <a:pt x="3304458" y="1204651"/>
                  <a:pt x="3309605" y="1193639"/>
                  <a:pt x="3317430" y="1182785"/>
                </a:cubicBezTo>
                <a:cubicBezTo>
                  <a:pt x="3320107" y="1176808"/>
                  <a:pt x="3323711" y="1171067"/>
                  <a:pt x="3327134" y="1165089"/>
                </a:cubicBezTo>
                <a:lnTo>
                  <a:pt x="3331389" y="1155658"/>
                </a:lnTo>
                <a:lnTo>
                  <a:pt x="3331437" y="1152304"/>
                </a:lnTo>
                <a:cubicBezTo>
                  <a:pt x="3332738" y="1149164"/>
                  <a:pt x="3336018" y="1145387"/>
                  <a:pt x="3337996" y="1141810"/>
                </a:cubicBezTo>
                <a:lnTo>
                  <a:pt x="3341031" y="1147023"/>
                </a:lnTo>
                <a:lnTo>
                  <a:pt x="3342697" y="1147354"/>
                </a:lnTo>
                <a:cubicBezTo>
                  <a:pt x="3348769" y="1146056"/>
                  <a:pt x="3351974" y="1138033"/>
                  <a:pt x="3349966" y="1134966"/>
                </a:cubicBezTo>
                <a:cubicBezTo>
                  <a:pt x="3340905" y="1133078"/>
                  <a:pt x="3352643" y="1143932"/>
                  <a:pt x="3340905" y="1139056"/>
                </a:cubicBezTo>
                <a:cubicBezTo>
                  <a:pt x="3346053" y="1121123"/>
                  <a:pt x="3359231" y="1107123"/>
                  <a:pt x="3357791" y="1094225"/>
                </a:cubicBezTo>
                <a:cubicBezTo>
                  <a:pt x="3362939" y="1095168"/>
                  <a:pt x="3361702" y="1097213"/>
                  <a:pt x="3365615" y="1098157"/>
                </a:cubicBezTo>
                <a:cubicBezTo>
                  <a:pt x="3368292" y="1099258"/>
                  <a:pt x="3369528" y="1095168"/>
                  <a:pt x="3370763" y="1093281"/>
                </a:cubicBezTo>
                <a:close/>
                <a:moveTo>
                  <a:pt x="2755892" y="1093044"/>
                </a:moveTo>
                <a:cubicBezTo>
                  <a:pt x="2757216" y="1093095"/>
                  <a:pt x="2758268" y="1093221"/>
                  <a:pt x="2758580" y="1093221"/>
                </a:cubicBezTo>
                <a:cubicBezTo>
                  <a:pt x="2761285" y="1097106"/>
                  <a:pt x="2753380" y="1100058"/>
                  <a:pt x="2749428" y="1100058"/>
                </a:cubicBezTo>
                <a:cubicBezTo>
                  <a:pt x="2745528" y="1093416"/>
                  <a:pt x="2751924" y="1092891"/>
                  <a:pt x="2755892" y="1093044"/>
                </a:cubicBezTo>
                <a:close/>
                <a:moveTo>
                  <a:pt x="2746747" y="1084269"/>
                </a:moveTo>
                <a:cubicBezTo>
                  <a:pt x="2746747" y="1090122"/>
                  <a:pt x="2740322" y="1089199"/>
                  <a:pt x="2735141" y="1091047"/>
                </a:cubicBezTo>
                <a:cubicBezTo>
                  <a:pt x="2736384" y="1086271"/>
                  <a:pt x="2740322" y="1084269"/>
                  <a:pt x="2746747" y="1084269"/>
                </a:cubicBezTo>
                <a:close/>
                <a:moveTo>
                  <a:pt x="3370662" y="1083496"/>
                </a:moveTo>
                <a:cubicBezTo>
                  <a:pt x="3373938" y="1083243"/>
                  <a:pt x="3377215" y="1083982"/>
                  <a:pt x="3379191" y="1086468"/>
                </a:cubicBezTo>
                <a:cubicBezTo>
                  <a:pt x="3376694" y="1090352"/>
                  <a:pt x="3370038" y="1088332"/>
                  <a:pt x="3362134" y="1086468"/>
                </a:cubicBezTo>
                <a:cubicBezTo>
                  <a:pt x="3364110" y="1084992"/>
                  <a:pt x="3367386" y="1083749"/>
                  <a:pt x="3370662" y="1083496"/>
                </a:cubicBezTo>
                <a:close/>
                <a:moveTo>
                  <a:pt x="3050301" y="1082390"/>
                </a:moveTo>
                <a:lnTo>
                  <a:pt x="3046233" y="1085858"/>
                </a:lnTo>
                <a:cubicBezTo>
                  <a:pt x="3047464" y="1076873"/>
                  <a:pt x="3033295" y="1091847"/>
                  <a:pt x="3031858" y="1089956"/>
                </a:cubicBezTo>
                <a:cubicBezTo>
                  <a:pt x="3038429" y="1093896"/>
                  <a:pt x="3029393" y="1098783"/>
                  <a:pt x="3020358" y="1098783"/>
                </a:cubicBezTo>
                <a:cubicBezTo>
                  <a:pt x="3015018" y="1103827"/>
                  <a:pt x="3026723" y="1099887"/>
                  <a:pt x="3024054" y="1104773"/>
                </a:cubicBezTo>
                <a:lnTo>
                  <a:pt x="3016332" y="1108298"/>
                </a:lnTo>
                <a:lnTo>
                  <a:pt x="3018084" y="1111617"/>
                </a:lnTo>
                <a:cubicBezTo>
                  <a:pt x="3023235" y="1109572"/>
                  <a:pt x="3028387" y="1099668"/>
                  <a:pt x="3033745" y="1105642"/>
                </a:cubicBezTo>
                <a:cubicBezTo>
                  <a:pt x="3031066" y="1108629"/>
                  <a:pt x="3025915" y="1109572"/>
                  <a:pt x="3025915" y="1113503"/>
                </a:cubicBezTo>
                <a:cubicBezTo>
                  <a:pt x="3037660" y="1114447"/>
                  <a:pt x="3034982" y="1105642"/>
                  <a:pt x="3042811" y="1103598"/>
                </a:cubicBezTo>
                <a:cubicBezTo>
                  <a:pt x="3042811" y="1103598"/>
                  <a:pt x="3042811" y="1103598"/>
                  <a:pt x="3042811" y="1107529"/>
                </a:cubicBezTo>
                <a:cubicBezTo>
                  <a:pt x="3045285" y="1107529"/>
                  <a:pt x="3045285" y="1108629"/>
                  <a:pt x="3045285" y="1110516"/>
                </a:cubicBezTo>
                <a:cubicBezTo>
                  <a:pt x="3041575" y="1111617"/>
                  <a:pt x="3036218" y="1111617"/>
                  <a:pt x="3034982" y="1114447"/>
                </a:cubicBezTo>
                <a:cubicBezTo>
                  <a:pt x="3034982" y="1116491"/>
                  <a:pt x="3033745" y="1119478"/>
                  <a:pt x="3036218" y="1119478"/>
                </a:cubicBezTo>
                <a:lnTo>
                  <a:pt x="3048202" y="1111536"/>
                </a:lnTo>
                <a:lnTo>
                  <a:pt x="3048511" y="1109477"/>
                </a:lnTo>
                <a:cubicBezTo>
                  <a:pt x="3048511" y="1103661"/>
                  <a:pt x="3047223" y="1098236"/>
                  <a:pt x="3047842" y="1092813"/>
                </a:cubicBezTo>
                <a:close/>
                <a:moveTo>
                  <a:pt x="3156148" y="1080801"/>
                </a:moveTo>
                <a:cubicBezTo>
                  <a:pt x="3152851" y="1083788"/>
                  <a:pt x="3148936" y="1086500"/>
                  <a:pt x="3145355" y="1089330"/>
                </a:cubicBezTo>
                <a:lnTo>
                  <a:pt x="3138535" y="1096502"/>
                </a:lnTo>
                <a:lnTo>
                  <a:pt x="3138646" y="1096667"/>
                </a:lnTo>
                <a:lnTo>
                  <a:pt x="3138641" y="1097460"/>
                </a:lnTo>
                <a:lnTo>
                  <a:pt x="3149761" y="1091511"/>
                </a:lnTo>
                <a:cubicBezTo>
                  <a:pt x="3152851" y="1088426"/>
                  <a:pt x="3154809" y="1084731"/>
                  <a:pt x="3156148" y="1080801"/>
                </a:cubicBezTo>
                <a:close/>
                <a:moveTo>
                  <a:pt x="2798006" y="1079700"/>
                </a:moveTo>
                <a:cubicBezTo>
                  <a:pt x="2795327" y="1084731"/>
                  <a:pt x="2790176" y="1085675"/>
                  <a:pt x="2788939" y="1091649"/>
                </a:cubicBezTo>
                <a:lnTo>
                  <a:pt x="2791946" y="1091525"/>
                </a:lnTo>
                <a:lnTo>
                  <a:pt x="2793013" y="1088428"/>
                </a:lnTo>
                <a:lnTo>
                  <a:pt x="2794984" y="1091399"/>
                </a:lnTo>
                <a:lnTo>
                  <a:pt x="2794999" y="1091398"/>
                </a:lnTo>
                <a:cubicBezTo>
                  <a:pt x="2799655" y="1089645"/>
                  <a:pt x="2800891" y="1084220"/>
                  <a:pt x="2805837" y="1082687"/>
                </a:cubicBezTo>
                <a:cubicBezTo>
                  <a:pt x="2805837" y="1079700"/>
                  <a:pt x="2801921" y="1078756"/>
                  <a:pt x="2798006" y="1079700"/>
                </a:cubicBezTo>
                <a:close/>
                <a:moveTo>
                  <a:pt x="3211190" y="1075950"/>
                </a:moveTo>
                <a:cubicBezTo>
                  <a:pt x="3213816" y="1082921"/>
                  <a:pt x="3211190" y="1091954"/>
                  <a:pt x="3204931" y="1097975"/>
                </a:cubicBezTo>
                <a:cubicBezTo>
                  <a:pt x="3195844" y="1093063"/>
                  <a:pt x="3208768" y="1082921"/>
                  <a:pt x="3211190" y="1075950"/>
                </a:cubicBezTo>
                <a:close/>
                <a:moveTo>
                  <a:pt x="3029358" y="1064857"/>
                </a:moveTo>
                <a:cubicBezTo>
                  <a:pt x="3031818" y="1068824"/>
                  <a:pt x="3035711" y="1070729"/>
                  <a:pt x="3034481" y="1077870"/>
                </a:cubicBezTo>
                <a:cubicBezTo>
                  <a:pt x="3015016" y="1076759"/>
                  <a:pt x="3022803" y="1076759"/>
                  <a:pt x="3029358" y="1064857"/>
                </a:cubicBezTo>
                <a:close/>
                <a:moveTo>
                  <a:pt x="3373435" y="1063471"/>
                </a:moveTo>
                <a:cubicBezTo>
                  <a:pt x="3380099" y="1068470"/>
                  <a:pt x="3366772" y="1074407"/>
                  <a:pt x="3360316" y="1071438"/>
                </a:cubicBezTo>
                <a:cubicBezTo>
                  <a:pt x="3361566" y="1065501"/>
                  <a:pt x="3370728" y="1068470"/>
                  <a:pt x="3373435" y="1063471"/>
                </a:cubicBezTo>
                <a:close/>
                <a:moveTo>
                  <a:pt x="2824896" y="1060936"/>
                </a:moveTo>
                <a:cubicBezTo>
                  <a:pt x="2824896" y="1064976"/>
                  <a:pt x="2821005" y="1063888"/>
                  <a:pt x="2822234" y="1068861"/>
                </a:cubicBezTo>
                <a:cubicBezTo>
                  <a:pt x="2822234" y="1068861"/>
                  <a:pt x="2822234" y="1068861"/>
                  <a:pt x="2811790" y="1068861"/>
                </a:cubicBezTo>
                <a:cubicBezTo>
                  <a:pt x="2811790" y="1065909"/>
                  <a:pt x="2810562" y="1062956"/>
                  <a:pt x="2814452" y="1062024"/>
                </a:cubicBezTo>
                <a:cubicBezTo>
                  <a:pt x="2814452" y="1063888"/>
                  <a:pt x="2817115" y="1063888"/>
                  <a:pt x="2821005" y="1063888"/>
                </a:cubicBezTo>
                <a:cubicBezTo>
                  <a:pt x="2821005" y="1062024"/>
                  <a:pt x="2821005" y="1060004"/>
                  <a:pt x="2824896" y="1060936"/>
                </a:cubicBezTo>
                <a:close/>
                <a:moveTo>
                  <a:pt x="143367" y="1059545"/>
                </a:moveTo>
                <a:cubicBezTo>
                  <a:pt x="135586" y="1065561"/>
                  <a:pt x="138248" y="1069518"/>
                  <a:pt x="135586" y="1076484"/>
                </a:cubicBezTo>
                <a:cubicBezTo>
                  <a:pt x="129033" y="1074584"/>
                  <a:pt x="131695" y="1056538"/>
                  <a:pt x="143367" y="1059545"/>
                </a:cubicBezTo>
                <a:close/>
                <a:moveTo>
                  <a:pt x="3390971" y="1053071"/>
                </a:moveTo>
                <a:cubicBezTo>
                  <a:pt x="3400096" y="1068896"/>
                  <a:pt x="3383266" y="1086758"/>
                  <a:pt x="3384686" y="1103523"/>
                </a:cubicBezTo>
                <a:cubicBezTo>
                  <a:pt x="3375764" y="1090675"/>
                  <a:pt x="3394824" y="1067800"/>
                  <a:pt x="3390971" y="1053071"/>
                </a:cubicBezTo>
                <a:close/>
                <a:moveTo>
                  <a:pt x="3456430" y="1049605"/>
                </a:moveTo>
                <a:cubicBezTo>
                  <a:pt x="3443374" y="1058491"/>
                  <a:pt x="3450005" y="1069249"/>
                  <a:pt x="3433011" y="1082032"/>
                </a:cubicBezTo>
                <a:cubicBezTo>
                  <a:pt x="3436949" y="1075173"/>
                  <a:pt x="3438193" y="1049605"/>
                  <a:pt x="3456430" y="1049605"/>
                </a:cubicBezTo>
                <a:close/>
                <a:moveTo>
                  <a:pt x="2850402" y="1048792"/>
                </a:moveTo>
                <a:lnTo>
                  <a:pt x="2849755" y="1049277"/>
                </a:lnTo>
                <a:lnTo>
                  <a:pt x="2848548" y="1051717"/>
                </a:lnTo>
                <a:lnTo>
                  <a:pt x="2849975" y="1052885"/>
                </a:lnTo>
                <a:lnTo>
                  <a:pt x="2851457" y="1052278"/>
                </a:lnTo>
                <a:close/>
                <a:moveTo>
                  <a:pt x="3344934" y="1046832"/>
                </a:moveTo>
                <a:cubicBezTo>
                  <a:pt x="3352839" y="1048895"/>
                  <a:pt x="3346182" y="1057782"/>
                  <a:pt x="3342230" y="1059845"/>
                </a:cubicBezTo>
                <a:cubicBezTo>
                  <a:pt x="3335781" y="1057782"/>
                  <a:pt x="3344934" y="1050800"/>
                  <a:pt x="3344934" y="1046832"/>
                </a:cubicBezTo>
                <a:close/>
                <a:moveTo>
                  <a:pt x="2830849" y="1045849"/>
                </a:moveTo>
                <a:cubicBezTo>
                  <a:pt x="2841249" y="1044752"/>
                  <a:pt x="2834800" y="1055724"/>
                  <a:pt x="2832097" y="1058702"/>
                </a:cubicBezTo>
                <a:cubicBezTo>
                  <a:pt x="2833553" y="1053686"/>
                  <a:pt x="2825648" y="1062620"/>
                  <a:pt x="2825648" y="1056664"/>
                </a:cubicBezTo>
                <a:cubicBezTo>
                  <a:pt x="2832097" y="1055724"/>
                  <a:pt x="2824192" y="1051805"/>
                  <a:pt x="2825648" y="1048827"/>
                </a:cubicBezTo>
                <a:cubicBezTo>
                  <a:pt x="2828145" y="1048827"/>
                  <a:pt x="2832097" y="1049768"/>
                  <a:pt x="2832097" y="1047730"/>
                </a:cubicBezTo>
                <a:cubicBezTo>
                  <a:pt x="2830849" y="1047730"/>
                  <a:pt x="2829600" y="1046790"/>
                  <a:pt x="2830849" y="1045849"/>
                </a:cubicBezTo>
                <a:close/>
                <a:moveTo>
                  <a:pt x="3038897" y="1044954"/>
                </a:moveTo>
                <a:cubicBezTo>
                  <a:pt x="3036218" y="1046054"/>
                  <a:pt x="3034982" y="1047940"/>
                  <a:pt x="3034982" y="1049985"/>
                </a:cubicBezTo>
                <a:cubicBezTo>
                  <a:pt x="3034982" y="1053915"/>
                  <a:pt x="3038897" y="1054859"/>
                  <a:pt x="3037660" y="1060833"/>
                </a:cubicBezTo>
                <a:lnTo>
                  <a:pt x="3035411" y="1060655"/>
                </a:lnTo>
                <a:lnTo>
                  <a:pt x="3034797" y="1062617"/>
                </a:lnTo>
                <a:cubicBezTo>
                  <a:pt x="3026829" y="1060537"/>
                  <a:pt x="3026829" y="1057498"/>
                  <a:pt x="3029555" y="1054458"/>
                </a:cubicBezTo>
                <a:lnTo>
                  <a:pt x="3030436" y="1054952"/>
                </a:lnTo>
                <a:lnTo>
                  <a:pt x="3030271" y="1054487"/>
                </a:lnTo>
                <a:lnTo>
                  <a:pt x="3027426" y="1053106"/>
                </a:lnTo>
                <a:lnTo>
                  <a:pt x="3025797" y="1068917"/>
                </a:lnTo>
                <a:cubicBezTo>
                  <a:pt x="3020542" y="1071354"/>
                  <a:pt x="3015649" y="1074341"/>
                  <a:pt x="3011091" y="1077466"/>
                </a:cubicBezTo>
                <a:lnTo>
                  <a:pt x="2998526" y="1086742"/>
                </a:lnTo>
                <a:lnTo>
                  <a:pt x="2998508" y="1087719"/>
                </a:lnTo>
                <a:cubicBezTo>
                  <a:pt x="3002423" y="1083788"/>
                  <a:pt x="3015406" y="1079700"/>
                  <a:pt x="3015406" y="1087719"/>
                </a:cubicBezTo>
                <a:cubicBezTo>
                  <a:pt x="3003660" y="1094636"/>
                  <a:pt x="2990678" y="1100611"/>
                  <a:pt x="2985526" y="1111617"/>
                </a:cubicBezTo>
                <a:cubicBezTo>
                  <a:pt x="2986762" y="1111617"/>
                  <a:pt x="2989442" y="1111617"/>
                  <a:pt x="2989442" y="1113503"/>
                </a:cubicBezTo>
                <a:cubicBezTo>
                  <a:pt x="2983568" y="1114997"/>
                  <a:pt x="2982281" y="1112521"/>
                  <a:pt x="2981148" y="1109926"/>
                </a:cubicBezTo>
                <a:lnTo>
                  <a:pt x="2979212" y="1106760"/>
                </a:lnTo>
                <a:lnTo>
                  <a:pt x="2975543" y="1113587"/>
                </a:lnTo>
                <a:cubicBezTo>
                  <a:pt x="2971616" y="1111702"/>
                  <a:pt x="2973063" y="1109658"/>
                  <a:pt x="2975543" y="1106673"/>
                </a:cubicBezTo>
                <a:lnTo>
                  <a:pt x="2973411" y="1107076"/>
                </a:lnTo>
                <a:lnTo>
                  <a:pt x="2972637" y="1110078"/>
                </a:lnTo>
                <a:lnTo>
                  <a:pt x="2970996" y="1110612"/>
                </a:lnTo>
                <a:lnTo>
                  <a:pt x="2971151" y="1111505"/>
                </a:lnTo>
                <a:cubicBezTo>
                  <a:pt x="2971719" y="1112938"/>
                  <a:pt x="2972327" y="1114344"/>
                  <a:pt x="2972055" y="1115203"/>
                </a:cubicBezTo>
                <a:lnTo>
                  <a:pt x="2970022" y="1115402"/>
                </a:lnTo>
                <a:lnTo>
                  <a:pt x="2972261" y="1115761"/>
                </a:lnTo>
                <a:lnTo>
                  <a:pt x="2973752" y="1118281"/>
                </a:lnTo>
                <a:lnTo>
                  <a:pt x="2974752" y="1118371"/>
                </a:lnTo>
                <a:cubicBezTo>
                  <a:pt x="2975789" y="1118675"/>
                  <a:pt x="2976629" y="1119284"/>
                  <a:pt x="2976991" y="1120502"/>
                </a:cubicBezTo>
                <a:cubicBezTo>
                  <a:pt x="2971720" y="1121013"/>
                  <a:pt x="2967521" y="1121710"/>
                  <a:pt x="2964046" y="1122700"/>
                </a:cubicBezTo>
                <a:lnTo>
                  <a:pt x="2956754" y="1126048"/>
                </a:lnTo>
                <a:lnTo>
                  <a:pt x="2955440" y="1132370"/>
                </a:lnTo>
                <a:lnTo>
                  <a:pt x="2946123" y="1137457"/>
                </a:lnTo>
                <a:lnTo>
                  <a:pt x="2942884" y="1142346"/>
                </a:lnTo>
                <a:lnTo>
                  <a:pt x="2940087" y="1140686"/>
                </a:lnTo>
                <a:lnTo>
                  <a:pt x="2937043" y="1142227"/>
                </a:lnTo>
                <a:lnTo>
                  <a:pt x="2939143" y="1143805"/>
                </a:lnTo>
                <a:cubicBezTo>
                  <a:pt x="2939681" y="1145945"/>
                  <a:pt x="2933880" y="1147293"/>
                  <a:pt x="2939720" y="1150224"/>
                </a:cubicBezTo>
                <a:cubicBezTo>
                  <a:pt x="2938389" y="1152178"/>
                  <a:pt x="2935776" y="1150184"/>
                  <a:pt x="2933189" y="1148075"/>
                </a:cubicBezTo>
                <a:lnTo>
                  <a:pt x="2930086" y="1145746"/>
                </a:lnTo>
                <a:lnTo>
                  <a:pt x="2927003" y="1147307"/>
                </a:lnTo>
                <a:lnTo>
                  <a:pt x="2927515" y="1145242"/>
                </a:lnTo>
                <a:lnTo>
                  <a:pt x="2926811" y="1145222"/>
                </a:lnTo>
                <a:cubicBezTo>
                  <a:pt x="2925479" y="1143737"/>
                  <a:pt x="2925120" y="1142525"/>
                  <a:pt x="2925275" y="1141431"/>
                </a:cubicBezTo>
                <a:lnTo>
                  <a:pt x="2925511" y="1140955"/>
                </a:lnTo>
                <a:lnTo>
                  <a:pt x="2925152" y="1141171"/>
                </a:lnTo>
                <a:lnTo>
                  <a:pt x="2918941" y="1153045"/>
                </a:lnTo>
                <a:cubicBezTo>
                  <a:pt x="2915206" y="1157526"/>
                  <a:pt x="2910003" y="1161771"/>
                  <a:pt x="2903512" y="1164287"/>
                </a:cubicBezTo>
                <a:cubicBezTo>
                  <a:pt x="2895681" y="1166173"/>
                  <a:pt x="2900833" y="1159255"/>
                  <a:pt x="2893002" y="1161299"/>
                </a:cubicBezTo>
                <a:cubicBezTo>
                  <a:pt x="2885172" y="1164287"/>
                  <a:pt x="2881256" y="1164287"/>
                  <a:pt x="2882699" y="1172148"/>
                </a:cubicBezTo>
                <a:cubicBezTo>
                  <a:pt x="2878062" y="1173170"/>
                  <a:pt x="2876414" y="1172187"/>
                  <a:pt x="2875435" y="1170694"/>
                </a:cubicBezTo>
                <a:lnTo>
                  <a:pt x="2874850" y="1169878"/>
                </a:lnTo>
                <a:lnTo>
                  <a:pt x="2857675" y="1183208"/>
                </a:lnTo>
                <a:lnTo>
                  <a:pt x="2848416" y="1187321"/>
                </a:lnTo>
                <a:lnTo>
                  <a:pt x="2846649" y="1191478"/>
                </a:lnTo>
                <a:lnTo>
                  <a:pt x="2843789" y="1193652"/>
                </a:lnTo>
                <a:lnTo>
                  <a:pt x="2848380" y="1191983"/>
                </a:lnTo>
                <a:cubicBezTo>
                  <a:pt x="2849855" y="1192438"/>
                  <a:pt x="2851664" y="1193690"/>
                  <a:pt x="2853973" y="1196194"/>
                </a:cubicBezTo>
                <a:cubicBezTo>
                  <a:pt x="2844121" y="1209456"/>
                  <a:pt x="2825610" y="1209515"/>
                  <a:pt x="2814805" y="1218683"/>
                </a:cubicBezTo>
                <a:lnTo>
                  <a:pt x="2808890" y="1228789"/>
                </a:lnTo>
                <a:lnTo>
                  <a:pt x="2810628" y="1226410"/>
                </a:lnTo>
                <a:cubicBezTo>
                  <a:pt x="2813873" y="1222538"/>
                  <a:pt x="2818097" y="1219787"/>
                  <a:pt x="2827885" y="1219787"/>
                </a:cubicBezTo>
                <a:cubicBezTo>
                  <a:pt x="2833244" y="1221831"/>
                  <a:pt x="2818818" y="1226862"/>
                  <a:pt x="2829328" y="1227806"/>
                </a:cubicBezTo>
                <a:cubicBezTo>
                  <a:pt x="2830565" y="1219787"/>
                  <a:pt x="2831801" y="1218843"/>
                  <a:pt x="2839632" y="1214913"/>
                </a:cubicBezTo>
                <a:cubicBezTo>
                  <a:pt x="2844783" y="1216800"/>
                  <a:pt x="2827885" y="1225761"/>
                  <a:pt x="2839632" y="1225761"/>
                </a:cubicBezTo>
                <a:cubicBezTo>
                  <a:pt x="2839632" y="1218843"/>
                  <a:pt x="2847462" y="1217900"/>
                  <a:pt x="2843547" y="1209881"/>
                </a:cubicBezTo>
                <a:cubicBezTo>
                  <a:pt x="2859208" y="1207995"/>
                  <a:pt x="2838396" y="1218843"/>
                  <a:pt x="2852614" y="1218843"/>
                </a:cubicBezTo>
                <a:cubicBezTo>
                  <a:pt x="2854056" y="1209881"/>
                  <a:pt x="2865596" y="1209881"/>
                  <a:pt x="2855292" y="1205951"/>
                </a:cubicBezTo>
                <a:cubicBezTo>
                  <a:pt x="2868274" y="1207995"/>
                  <a:pt x="2876105" y="1203907"/>
                  <a:pt x="2870953" y="1197933"/>
                </a:cubicBezTo>
                <a:cubicBezTo>
                  <a:pt x="2873426" y="1197933"/>
                  <a:pt x="2876105" y="1196990"/>
                  <a:pt x="2876105" y="1194002"/>
                </a:cubicBezTo>
                <a:cubicBezTo>
                  <a:pt x="2881256" y="1194002"/>
                  <a:pt x="2883936" y="1202020"/>
                  <a:pt x="2890529" y="1196046"/>
                </a:cubicBezTo>
                <a:cubicBezTo>
                  <a:pt x="2890529" y="1191958"/>
                  <a:pt x="2886614" y="1190071"/>
                  <a:pt x="2885172" y="1187084"/>
                </a:cubicBezTo>
                <a:cubicBezTo>
                  <a:pt x="2890529" y="1184097"/>
                  <a:pt x="2900833" y="1174192"/>
                  <a:pt x="2904748" y="1179065"/>
                </a:cubicBezTo>
                <a:cubicBezTo>
                  <a:pt x="2898154" y="1179065"/>
                  <a:pt x="2895681" y="1185040"/>
                  <a:pt x="2890529" y="1187084"/>
                </a:cubicBezTo>
                <a:cubicBezTo>
                  <a:pt x="2907427" y="1184097"/>
                  <a:pt x="2917730" y="1167117"/>
                  <a:pt x="2929476" y="1178123"/>
                </a:cubicBezTo>
                <a:cubicBezTo>
                  <a:pt x="2932155" y="1170104"/>
                  <a:pt x="2945136" y="1171204"/>
                  <a:pt x="2947816" y="1162243"/>
                </a:cubicBezTo>
                <a:cubicBezTo>
                  <a:pt x="2942458" y="1166173"/>
                  <a:pt x="2930713" y="1164287"/>
                  <a:pt x="2930713" y="1173091"/>
                </a:cubicBezTo>
                <a:cubicBezTo>
                  <a:pt x="2930713" y="1173091"/>
                  <a:pt x="2930713" y="1173091"/>
                  <a:pt x="2920409" y="1173091"/>
                </a:cubicBezTo>
                <a:cubicBezTo>
                  <a:pt x="2921645" y="1170104"/>
                  <a:pt x="2921645" y="1168217"/>
                  <a:pt x="2923087" y="1166173"/>
                </a:cubicBezTo>
                <a:cubicBezTo>
                  <a:pt x="2930713" y="1165230"/>
                  <a:pt x="2938543" y="1160199"/>
                  <a:pt x="2949052" y="1157212"/>
                </a:cubicBezTo>
                <a:cubicBezTo>
                  <a:pt x="2951525" y="1159255"/>
                  <a:pt x="2949052" y="1165230"/>
                  <a:pt x="2956883" y="1164287"/>
                </a:cubicBezTo>
                <a:cubicBezTo>
                  <a:pt x="2959355" y="1153281"/>
                  <a:pt x="2977695" y="1149350"/>
                  <a:pt x="2981611" y="1147307"/>
                </a:cubicBezTo>
                <a:cubicBezTo>
                  <a:pt x="2978932" y="1141332"/>
                  <a:pt x="2987998" y="1135357"/>
                  <a:pt x="2980375" y="1132370"/>
                </a:cubicBezTo>
                <a:cubicBezTo>
                  <a:pt x="2981611" y="1131427"/>
                  <a:pt x="2982847" y="1130483"/>
                  <a:pt x="2982847" y="1128439"/>
                </a:cubicBezTo>
                <a:cubicBezTo>
                  <a:pt x="2989442" y="1132370"/>
                  <a:pt x="2997271" y="1127496"/>
                  <a:pt x="2998508" y="1134414"/>
                </a:cubicBezTo>
                <a:cubicBezTo>
                  <a:pt x="3001806" y="1131898"/>
                  <a:pt x="3002114" y="1129147"/>
                  <a:pt x="3001110" y="1126789"/>
                </a:cubicBezTo>
                <a:lnTo>
                  <a:pt x="2996620" y="1122311"/>
                </a:lnTo>
                <a:lnTo>
                  <a:pt x="2997001" y="1122929"/>
                </a:lnTo>
                <a:cubicBezTo>
                  <a:pt x="2996728" y="1123777"/>
                  <a:pt x="2995611" y="1124949"/>
                  <a:pt x="2993043" y="1126683"/>
                </a:cubicBezTo>
                <a:cubicBezTo>
                  <a:pt x="2995508" y="1117698"/>
                  <a:pt x="2984008" y="1126683"/>
                  <a:pt x="2978669" y="1127787"/>
                </a:cubicBezTo>
                <a:cubicBezTo>
                  <a:pt x="2981339" y="1112812"/>
                  <a:pt x="3013785" y="1098783"/>
                  <a:pt x="3024054" y="1086961"/>
                </a:cubicBezTo>
                <a:cubicBezTo>
                  <a:pt x="3027956" y="1085858"/>
                  <a:pt x="3031858" y="1086961"/>
                  <a:pt x="3035760" y="1086961"/>
                </a:cubicBezTo>
                <a:cubicBezTo>
                  <a:pt x="3038429" y="1084912"/>
                  <a:pt x="3034527" y="1082863"/>
                  <a:pt x="3033295" y="1081917"/>
                </a:cubicBezTo>
                <a:cubicBezTo>
                  <a:pt x="3036170" y="1079435"/>
                  <a:pt x="3039545" y="1077632"/>
                  <a:pt x="3043094" y="1076107"/>
                </a:cubicBezTo>
                <a:lnTo>
                  <a:pt x="3052658" y="1072454"/>
                </a:lnTo>
                <a:lnTo>
                  <a:pt x="3054435" y="1064987"/>
                </a:lnTo>
                <a:cubicBezTo>
                  <a:pt x="3054435" y="1062236"/>
                  <a:pt x="3053624" y="1059121"/>
                  <a:pt x="3052587" y="1055825"/>
                </a:cubicBezTo>
                <a:lnTo>
                  <a:pt x="3051246" y="1051530"/>
                </a:lnTo>
                <a:lnTo>
                  <a:pt x="3047629" y="1052527"/>
                </a:lnTo>
                <a:cubicBezTo>
                  <a:pt x="3046470" y="1053178"/>
                  <a:pt x="3045336" y="1054230"/>
                  <a:pt x="3044048" y="1055959"/>
                </a:cubicBezTo>
                <a:cubicBezTo>
                  <a:pt x="3037660" y="1053915"/>
                  <a:pt x="3042811" y="1046997"/>
                  <a:pt x="3038897" y="1044954"/>
                </a:cubicBezTo>
                <a:close/>
                <a:moveTo>
                  <a:pt x="2683434" y="1042909"/>
                </a:moveTo>
                <a:cubicBezTo>
                  <a:pt x="2687350" y="1046997"/>
                  <a:pt x="2681992" y="1047940"/>
                  <a:pt x="2681992" y="1053915"/>
                </a:cubicBezTo>
                <a:cubicBezTo>
                  <a:pt x="2689822" y="1053915"/>
                  <a:pt x="2692501" y="1047940"/>
                  <a:pt x="2689822" y="1042909"/>
                </a:cubicBezTo>
                <a:cubicBezTo>
                  <a:pt x="2688586" y="1041966"/>
                  <a:pt x="2687350" y="1042909"/>
                  <a:pt x="2687350" y="1044010"/>
                </a:cubicBezTo>
                <a:cubicBezTo>
                  <a:pt x="2687350" y="1044010"/>
                  <a:pt x="2687350" y="1044010"/>
                  <a:pt x="2683434" y="1042909"/>
                </a:cubicBezTo>
                <a:close/>
                <a:moveTo>
                  <a:pt x="3235377" y="1039206"/>
                </a:moveTo>
                <a:cubicBezTo>
                  <a:pt x="3239257" y="1043114"/>
                  <a:pt x="3232723" y="1049211"/>
                  <a:pt x="3234152" y="1053119"/>
                </a:cubicBezTo>
                <a:cubicBezTo>
                  <a:pt x="3227617" y="1054995"/>
                  <a:pt x="3227617" y="1052181"/>
                  <a:pt x="3221287" y="1050149"/>
                </a:cubicBezTo>
                <a:cubicBezTo>
                  <a:pt x="3231497" y="1048116"/>
                  <a:pt x="3227617" y="1045146"/>
                  <a:pt x="3235377" y="1039206"/>
                </a:cubicBezTo>
                <a:close/>
                <a:moveTo>
                  <a:pt x="2880020" y="1038036"/>
                </a:moveTo>
                <a:cubicBezTo>
                  <a:pt x="2874869" y="1041966"/>
                  <a:pt x="2868274" y="1046054"/>
                  <a:pt x="2867038" y="1053915"/>
                </a:cubicBezTo>
                <a:cubicBezTo>
                  <a:pt x="2873426" y="1049985"/>
                  <a:pt x="2880020" y="1046054"/>
                  <a:pt x="2880020" y="1038036"/>
                </a:cubicBezTo>
                <a:close/>
                <a:moveTo>
                  <a:pt x="2811221" y="1037336"/>
                </a:moveTo>
                <a:cubicBezTo>
                  <a:pt x="2812673" y="1036706"/>
                  <a:pt x="2815575" y="1037235"/>
                  <a:pt x="2819445" y="1040809"/>
                </a:cubicBezTo>
                <a:cubicBezTo>
                  <a:pt x="2819445" y="1043897"/>
                  <a:pt x="2811705" y="1037722"/>
                  <a:pt x="2811705" y="1040809"/>
                </a:cubicBezTo>
                <a:cubicBezTo>
                  <a:pt x="2809771" y="1039753"/>
                  <a:pt x="2809771" y="1037965"/>
                  <a:pt x="2811221" y="1037336"/>
                </a:cubicBezTo>
                <a:close/>
                <a:moveTo>
                  <a:pt x="195275" y="1031207"/>
                </a:moveTo>
                <a:cubicBezTo>
                  <a:pt x="192596" y="1038123"/>
                  <a:pt x="186001" y="1031207"/>
                  <a:pt x="183528" y="1036080"/>
                </a:cubicBezTo>
                <a:cubicBezTo>
                  <a:pt x="189917" y="1038123"/>
                  <a:pt x="174255" y="1047083"/>
                  <a:pt x="180849" y="1048027"/>
                </a:cubicBezTo>
                <a:cubicBezTo>
                  <a:pt x="186001" y="1040010"/>
                  <a:pt x="199191" y="1039067"/>
                  <a:pt x="195275" y="1031207"/>
                </a:cubicBezTo>
                <a:close/>
                <a:moveTo>
                  <a:pt x="3163978" y="1030018"/>
                </a:moveTo>
                <a:cubicBezTo>
                  <a:pt x="3156148" y="1029074"/>
                  <a:pt x="3150790" y="1031118"/>
                  <a:pt x="3146875" y="1035992"/>
                </a:cubicBezTo>
                <a:cubicBezTo>
                  <a:pt x="3149554" y="1042909"/>
                  <a:pt x="3156148" y="1034105"/>
                  <a:pt x="3160063" y="1037093"/>
                </a:cubicBezTo>
                <a:cubicBezTo>
                  <a:pt x="3160063" y="1046997"/>
                  <a:pt x="3152233" y="1044010"/>
                  <a:pt x="3145639" y="1047940"/>
                </a:cubicBezTo>
                <a:cubicBezTo>
                  <a:pt x="3145639" y="1052029"/>
                  <a:pt x="3149554" y="1052029"/>
                  <a:pt x="3145639" y="1053915"/>
                </a:cubicBezTo>
                <a:cubicBezTo>
                  <a:pt x="3156148" y="1055959"/>
                  <a:pt x="3165215" y="1039922"/>
                  <a:pt x="3163978" y="1030018"/>
                </a:cubicBezTo>
                <a:close/>
                <a:moveTo>
                  <a:pt x="3491773" y="1025341"/>
                </a:moveTo>
                <a:cubicBezTo>
                  <a:pt x="3498234" y="1027267"/>
                  <a:pt x="3494397" y="1034492"/>
                  <a:pt x="3491773" y="1040432"/>
                </a:cubicBezTo>
                <a:cubicBezTo>
                  <a:pt x="3480263" y="1040432"/>
                  <a:pt x="3491773" y="1030317"/>
                  <a:pt x="3491773" y="1025341"/>
                </a:cubicBezTo>
                <a:close/>
                <a:moveTo>
                  <a:pt x="3407359" y="1019795"/>
                </a:moveTo>
                <a:cubicBezTo>
                  <a:pt x="3406110" y="1022785"/>
                  <a:pt x="3405121" y="1027507"/>
                  <a:pt x="3403299" y="1032740"/>
                </a:cubicBezTo>
                <a:lnTo>
                  <a:pt x="3394445" y="1048394"/>
                </a:lnTo>
                <a:lnTo>
                  <a:pt x="3394291" y="1048755"/>
                </a:lnTo>
                <a:lnTo>
                  <a:pt x="3394257" y="1048726"/>
                </a:lnTo>
                <a:lnTo>
                  <a:pt x="3394240" y="1048754"/>
                </a:lnTo>
                <a:lnTo>
                  <a:pt x="3394237" y="1048710"/>
                </a:lnTo>
                <a:lnTo>
                  <a:pt x="3390657" y="1045676"/>
                </a:lnTo>
                <a:cubicBezTo>
                  <a:pt x="3390587" y="1044400"/>
                  <a:pt x="3391425" y="1042906"/>
                  <a:pt x="3392464" y="1041290"/>
                </a:cubicBezTo>
                <a:lnTo>
                  <a:pt x="3393524" y="1039497"/>
                </a:lnTo>
                <a:lnTo>
                  <a:pt x="3392913" y="1031618"/>
                </a:lnTo>
                <a:cubicBezTo>
                  <a:pt x="3395230" y="1025775"/>
                  <a:pt x="3400175" y="1020817"/>
                  <a:pt x="3407359" y="1019795"/>
                </a:cubicBezTo>
                <a:close/>
                <a:moveTo>
                  <a:pt x="3361929" y="1017885"/>
                </a:moveTo>
                <a:lnTo>
                  <a:pt x="3352918" y="1037662"/>
                </a:lnTo>
                <a:cubicBezTo>
                  <a:pt x="3347595" y="1033738"/>
                  <a:pt x="3349028" y="1012862"/>
                  <a:pt x="3361929" y="1017885"/>
                </a:cubicBezTo>
                <a:close/>
                <a:moveTo>
                  <a:pt x="2873678" y="1014942"/>
                </a:moveTo>
                <a:cubicBezTo>
                  <a:pt x="2883048" y="1019717"/>
                  <a:pt x="2868471" y="1028499"/>
                  <a:pt x="2863266" y="1031426"/>
                </a:cubicBezTo>
                <a:cubicBezTo>
                  <a:pt x="2863266" y="1025572"/>
                  <a:pt x="2873678" y="1017869"/>
                  <a:pt x="2873678" y="1014942"/>
                </a:cubicBezTo>
                <a:close/>
                <a:moveTo>
                  <a:pt x="2041131" y="1012566"/>
                </a:moveTo>
                <a:lnTo>
                  <a:pt x="2041176" y="1012899"/>
                </a:lnTo>
                <a:lnTo>
                  <a:pt x="2044296" y="1013027"/>
                </a:lnTo>
                <a:lnTo>
                  <a:pt x="2044191" y="1013010"/>
                </a:lnTo>
                <a:close/>
                <a:moveTo>
                  <a:pt x="3044048" y="1012251"/>
                </a:moveTo>
                <a:cubicBezTo>
                  <a:pt x="3037660" y="1013194"/>
                  <a:pt x="3041575" y="1014138"/>
                  <a:pt x="3041575" y="1016181"/>
                </a:cubicBezTo>
                <a:cubicBezTo>
                  <a:pt x="3034982" y="1025143"/>
                  <a:pt x="3024472" y="1030018"/>
                  <a:pt x="3029830" y="1038036"/>
                </a:cubicBezTo>
                <a:cubicBezTo>
                  <a:pt x="3037660" y="1033004"/>
                  <a:pt x="3036218" y="1024200"/>
                  <a:pt x="3046727" y="1020112"/>
                </a:cubicBezTo>
                <a:cubicBezTo>
                  <a:pt x="3047963" y="1016181"/>
                  <a:pt x="3045285" y="1014138"/>
                  <a:pt x="3044048" y="1012251"/>
                </a:cubicBezTo>
                <a:close/>
                <a:moveTo>
                  <a:pt x="2045866" y="1010639"/>
                </a:moveTo>
                <a:lnTo>
                  <a:pt x="2045924" y="1011241"/>
                </a:lnTo>
                <a:lnTo>
                  <a:pt x="2046236" y="1013107"/>
                </a:lnTo>
                <a:lnTo>
                  <a:pt x="2054321" y="1013437"/>
                </a:lnTo>
                <a:lnTo>
                  <a:pt x="2054272" y="1012722"/>
                </a:lnTo>
                <a:cubicBezTo>
                  <a:pt x="2052982" y="1010156"/>
                  <a:pt x="2049169" y="1012492"/>
                  <a:pt x="2046612" y="1011757"/>
                </a:cubicBezTo>
                <a:close/>
                <a:moveTo>
                  <a:pt x="3149013" y="1010157"/>
                </a:moveTo>
                <a:lnTo>
                  <a:pt x="3146093" y="1012420"/>
                </a:lnTo>
                <a:cubicBezTo>
                  <a:pt x="3138006" y="1016561"/>
                  <a:pt x="3128497" y="1017869"/>
                  <a:pt x="3137310" y="1023102"/>
                </a:cubicBezTo>
                <a:lnTo>
                  <a:pt x="3132924" y="1022723"/>
                </a:lnTo>
                <a:lnTo>
                  <a:pt x="3133835" y="1031306"/>
                </a:lnTo>
                <a:lnTo>
                  <a:pt x="3142213" y="1024038"/>
                </a:lnTo>
                <a:lnTo>
                  <a:pt x="3150183" y="1020164"/>
                </a:lnTo>
                <a:lnTo>
                  <a:pt x="3146126" y="1018644"/>
                </a:lnTo>
                <a:cubicBezTo>
                  <a:pt x="3145236" y="1017391"/>
                  <a:pt x="3146054" y="1015644"/>
                  <a:pt x="3147095" y="1013928"/>
                </a:cubicBezTo>
                <a:close/>
                <a:moveTo>
                  <a:pt x="2086954" y="1009051"/>
                </a:moveTo>
                <a:cubicBezTo>
                  <a:pt x="2084687" y="1008776"/>
                  <a:pt x="2083399" y="1009316"/>
                  <a:pt x="2082661" y="1010313"/>
                </a:cubicBezTo>
                <a:lnTo>
                  <a:pt x="2081932" y="1013269"/>
                </a:lnTo>
                <a:lnTo>
                  <a:pt x="2081991" y="1013287"/>
                </a:lnTo>
                <a:lnTo>
                  <a:pt x="2081923" y="1013306"/>
                </a:lnTo>
                <a:lnTo>
                  <a:pt x="2081752" y="1013996"/>
                </a:lnTo>
                <a:lnTo>
                  <a:pt x="2086847" y="1011395"/>
                </a:lnTo>
                <a:close/>
                <a:moveTo>
                  <a:pt x="3393938" y="1005236"/>
                </a:moveTo>
                <a:cubicBezTo>
                  <a:pt x="3400648" y="1009241"/>
                  <a:pt x="3401906" y="1013093"/>
                  <a:pt x="3400648" y="1018947"/>
                </a:cubicBezTo>
                <a:cubicBezTo>
                  <a:pt x="3397922" y="1015096"/>
                  <a:pt x="3391212" y="1012169"/>
                  <a:pt x="3393938" y="1005236"/>
                </a:cubicBezTo>
                <a:close/>
                <a:moveTo>
                  <a:pt x="2123550" y="1002753"/>
                </a:moveTo>
                <a:lnTo>
                  <a:pt x="2123399" y="1004238"/>
                </a:lnTo>
                <a:lnTo>
                  <a:pt x="2128537" y="1003081"/>
                </a:lnTo>
                <a:close/>
                <a:moveTo>
                  <a:pt x="2075995" y="1002318"/>
                </a:moveTo>
                <a:lnTo>
                  <a:pt x="2075900" y="1002327"/>
                </a:lnTo>
                <a:lnTo>
                  <a:pt x="2071419" y="1004232"/>
                </a:lnTo>
                <a:lnTo>
                  <a:pt x="2071788" y="1002729"/>
                </a:lnTo>
                <a:lnTo>
                  <a:pt x="2065092" y="1003385"/>
                </a:lnTo>
                <a:cubicBezTo>
                  <a:pt x="2063855" y="1003385"/>
                  <a:pt x="2065092" y="1005271"/>
                  <a:pt x="2065092" y="1005271"/>
                </a:cubicBezTo>
                <a:cubicBezTo>
                  <a:pt x="2061486" y="1005546"/>
                  <a:pt x="2059115" y="1005005"/>
                  <a:pt x="2057222" y="1004163"/>
                </a:cubicBezTo>
                <a:lnTo>
                  <a:pt x="2056215" y="1003576"/>
                </a:lnTo>
                <a:lnTo>
                  <a:pt x="2052541" y="1005724"/>
                </a:lnTo>
                <a:cubicBezTo>
                  <a:pt x="2050551" y="1006299"/>
                  <a:pt x="2048258" y="1006220"/>
                  <a:pt x="2045322" y="1004963"/>
                </a:cubicBezTo>
                <a:lnTo>
                  <a:pt x="2045435" y="1006144"/>
                </a:lnTo>
                <a:lnTo>
                  <a:pt x="2048035" y="1005998"/>
                </a:lnTo>
                <a:cubicBezTo>
                  <a:pt x="2050125" y="1006027"/>
                  <a:pt x="2052315" y="1006332"/>
                  <a:pt x="2054581" y="1007314"/>
                </a:cubicBezTo>
                <a:lnTo>
                  <a:pt x="2056660" y="1013533"/>
                </a:lnTo>
                <a:lnTo>
                  <a:pt x="2067633" y="1013983"/>
                </a:lnTo>
                <a:lnTo>
                  <a:pt x="2070630" y="1013130"/>
                </a:lnTo>
                <a:lnTo>
                  <a:pt x="2073181" y="1012582"/>
                </a:lnTo>
                <a:lnTo>
                  <a:pt x="2071908" y="1008638"/>
                </a:lnTo>
                <a:cubicBezTo>
                  <a:pt x="2072063" y="1007007"/>
                  <a:pt x="2073351" y="1005513"/>
                  <a:pt x="2076649" y="1003076"/>
                </a:cubicBezTo>
                <a:close/>
                <a:moveTo>
                  <a:pt x="2115778" y="1001943"/>
                </a:moveTo>
                <a:cubicBezTo>
                  <a:pt x="2113817" y="1002130"/>
                  <a:pt x="2112014" y="1002974"/>
                  <a:pt x="2110365" y="1005176"/>
                </a:cubicBezTo>
                <a:lnTo>
                  <a:pt x="2109673" y="1003502"/>
                </a:lnTo>
                <a:lnTo>
                  <a:pt x="2105481" y="1007802"/>
                </a:lnTo>
                <a:lnTo>
                  <a:pt x="2118030" y="1005447"/>
                </a:lnTo>
                <a:lnTo>
                  <a:pt x="2121926" y="1004570"/>
                </a:lnTo>
                <a:lnTo>
                  <a:pt x="2119510" y="1002364"/>
                </a:lnTo>
                <a:close/>
                <a:moveTo>
                  <a:pt x="2834480" y="1001245"/>
                </a:moveTo>
                <a:cubicBezTo>
                  <a:pt x="2831801" y="1006277"/>
                  <a:pt x="2823970" y="1003289"/>
                  <a:pt x="2820055" y="1004232"/>
                </a:cubicBezTo>
                <a:cubicBezTo>
                  <a:pt x="2820055" y="1010207"/>
                  <a:pt x="2823970" y="1011150"/>
                  <a:pt x="2831801" y="1011150"/>
                </a:cubicBezTo>
                <a:cubicBezTo>
                  <a:pt x="2830565" y="1006277"/>
                  <a:pt x="2838396" y="1007220"/>
                  <a:pt x="2834480" y="1001245"/>
                </a:cubicBezTo>
                <a:close/>
                <a:moveTo>
                  <a:pt x="2093398" y="1000488"/>
                </a:moveTo>
                <a:lnTo>
                  <a:pt x="2091075" y="1000647"/>
                </a:lnTo>
                <a:lnTo>
                  <a:pt x="2093704" y="1003508"/>
                </a:lnTo>
                <a:lnTo>
                  <a:pt x="2090961" y="1010527"/>
                </a:lnTo>
                <a:lnTo>
                  <a:pt x="2104598" y="1007968"/>
                </a:lnTo>
                <a:lnTo>
                  <a:pt x="2101897" y="1007225"/>
                </a:lnTo>
                <a:lnTo>
                  <a:pt x="2100751" y="1004976"/>
                </a:lnTo>
                <a:lnTo>
                  <a:pt x="2098117" y="1004016"/>
                </a:lnTo>
                <a:cubicBezTo>
                  <a:pt x="2096443" y="1004134"/>
                  <a:pt x="2095644" y="1005431"/>
                  <a:pt x="2095619" y="1004291"/>
                </a:cubicBezTo>
                <a:lnTo>
                  <a:pt x="2095917" y="1002039"/>
                </a:lnTo>
                <a:lnTo>
                  <a:pt x="2094827" y="1002087"/>
                </a:lnTo>
                <a:lnTo>
                  <a:pt x="2095001" y="1001305"/>
                </a:lnTo>
                <a:close/>
                <a:moveTo>
                  <a:pt x="2047600" y="1000107"/>
                </a:moveTo>
                <a:lnTo>
                  <a:pt x="2047687" y="1000468"/>
                </a:lnTo>
                <a:lnTo>
                  <a:pt x="2048820" y="1000408"/>
                </a:lnTo>
                <a:close/>
                <a:moveTo>
                  <a:pt x="2062868" y="999633"/>
                </a:moveTo>
                <a:lnTo>
                  <a:pt x="2062141" y="999643"/>
                </a:lnTo>
                <a:lnTo>
                  <a:pt x="2060229" y="1000974"/>
                </a:lnTo>
                <a:lnTo>
                  <a:pt x="2063952" y="1001697"/>
                </a:lnTo>
                <a:lnTo>
                  <a:pt x="2068243" y="999964"/>
                </a:lnTo>
                <a:lnTo>
                  <a:pt x="2067394" y="1000110"/>
                </a:lnTo>
                <a:cubicBezTo>
                  <a:pt x="2065804" y="1000076"/>
                  <a:pt x="2064335" y="999810"/>
                  <a:pt x="2062868" y="999633"/>
                </a:cubicBezTo>
                <a:close/>
                <a:moveTo>
                  <a:pt x="2891650" y="999463"/>
                </a:moveTo>
                <a:cubicBezTo>
                  <a:pt x="2892478" y="999426"/>
                  <a:pt x="2893357" y="999845"/>
                  <a:pt x="2894300" y="1001053"/>
                </a:cubicBezTo>
                <a:cubicBezTo>
                  <a:pt x="2889058" y="1001987"/>
                  <a:pt x="2895768" y="1004013"/>
                  <a:pt x="2891784" y="1004947"/>
                </a:cubicBezTo>
                <a:cubicBezTo>
                  <a:pt x="2889058" y="1000118"/>
                  <a:pt x="2889058" y="1008998"/>
                  <a:pt x="2891784" y="1008998"/>
                </a:cubicBezTo>
                <a:cubicBezTo>
                  <a:pt x="2891784" y="1008998"/>
                  <a:pt x="2891784" y="1008998"/>
                  <a:pt x="2887800" y="1009933"/>
                </a:cubicBezTo>
                <a:cubicBezTo>
                  <a:pt x="2886542" y="1009933"/>
                  <a:pt x="2885074" y="1009933"/>
                  <a:pt x="2885074" y="1007907"/>
                </a:cubicBezTo>
                <a:cubicBezTo>
                  <a:pt x="2889058" y="1006973"/>
                  <a:pt x="2885074" y="1006038"/>
                  <a:pt x="2885074" y="1003078"/>
                </a:cubicBezTo>
                <a:cubicBezTo>
                  <a:pt x="2887119" y="1003779"/>
                  <a:pt x="2889163" y="999573"/>
                  <a:pt x="2891650" y="999463"/>
                </a:cubicBezTo>
                <a:close/>
                <a:moveTo>
                  <a:pt x="2137772" y="999201"/>
                </a:moveTo>
                <a:lnTo>
                  <a:pt x="2130543" y="1002629"/>
                </a:lnTo>
                <a:lnTo>
                  <a:pt x="2138128" y="1000920"/>
                </a:lnTo>
                <a:close/>
                <a:moveTo>
                  <a:pt x="2107893" y="999201"/>
                </a:moveTo>
                <a:lnTo>
                  <a:pt x="2107827" y="999233"/>
                </a:lnTo>
                <a:lnTo>
                  <a:pt x="2107565" y="1000392"/>
                </a:lnTo>
                <a:lnTo>
                  <a:pt x="2109463" y="1002994"/>
                </a:lnTo>
                <a:close/>
                <a:moveTo>
                  <a:pt x="3211992" y="998258"/>
                </a:moveTo>
                <a:cubicBezTo>
                  <a:pt x="3205603" y="1000302"/>
                  <a:pt x="3200246" y="1004232"/>
                  <a:pt x="3197773" y="1008163"/>
                </a:cubicBezTo>
                <a:cubicBezTo>
                  <a:pt x="3199009" y="1010207"/>
                  <a:pt x="3215907" y="1004232"/>
                  <a:pt x="3211992" y="998258"/>
                </a:cubicBezTo>
                <a:close/>
                <a:moveTo>
                  <a:pt x="2134121" y="991102"/>
                </a:moveTo>
                <a:lnTo>
                  <a:pt x="2133341" y="991891"/>
                </a:lnTo>
                <a:cubicBezTo>
                  <a:pt x="2132517" y="993384"/>
                  <a:pt x="2132517" y="994877"/>
                  <a:pt x="2133857" y="996371"/>
                </a:cubicBezTo>
                <a:cubicBezTo>
                  <a:pt x="2135815" y="996843"/>
                  <a:pt x="2137772" y="996096"/>
                  <a:pt x="2139240" y="994858"/>
                </a:cubicBezTo>
                <a:lnTo>
                  <a:pt x="2140264" y="992991"/>
                </a:lnTo>
                <a:lnTo>
                  <a:pt x="2135832" y="992019"/>
                </a:lnTo>
                <a:close/>
                <a:moveTo>
                  <a:pt x="3153372" y="989984"/>
                </a:moveTo>
                <a:cubicBezTo>
                  <a:pt x="3158388" y="995877"/>
                  <a:pt x="3144544" y="1001614"/>
                  <a:pt x="3143140" y="998668"/>
                </a:cubicBezTo>
                <a:cubicBezTo>
                  <a:pt x="3148357" y="996807"/>
                  <a:pt x="3145748" y="990914"/>
                  <a:pt x="3153372" y="989984"/>
                </a:cubicBezTo>
                <a:close/>
                <a:moveTo>
                  <a:pt x="3218585" y="985366"/>
                </a:moveTo>
                <a:cubicBezTo>
                  <a:pt x="3217349" y="989296"/>
                  <a:pt x="3213434" y="992283"/>
                  <a:pt x="3213434" y="997315"/>
                </a:cubicBezTo>
                <a:cubicBezTo>
                  <a:pt x="3221265" y="994327"/>
                  <a:pt x="3222501" y="998258"/>
                  <a:pt x="3230331" y="993384"/>
                </a:cubicBezTo>
                <a:cubicBezTo>
                  <a:pt x="3229094" y="988352"/>
                  <a:pt x="3221265" y="990397"/>
                  <a:pt x="3218585" y="985366"/>
                </a:cubicBezTo>
                <a:close/>
                <a:moveTo>
                  <a:pt x="2886614" y="985366"/>
                </a:moveTo>
                <a:lnTo>
                  <a:pt x="2886474" y="985563"/>
                </a:lnTo>
                <a:lnTo>
                  <a:pt x="2886659" y="985366"/>
                </a:lnTo>
                <a:close/>
                <a:moveTo>
                  <a:pt x="3199009" y="982378"/>
                </a:moveTo>
                <a:cubicBezTo>
                  <a:pt x="3193858" y="986309"/>
                  <a:pt x="3191179" y="990397"/>
                  <a:pt x="3191179" y="996371"/>
                </a:cubicBezTo>
                <a:cubicBezTo>
                  <a:pt x="3196331" y="994327"/>
                  <a:pt x="3199009" y="994327"/>
                  <a:pt x="3199009" y="998258"/>
                </a:cubicBezTo>
                <a:cubicBezTo>
                  <a:pt x="3208076" y="996371"/>
                  <a:pt x="3210755" y="990397"/>
                  <a:pt x="3214670" y="985366"/>
                </a:cubicBezTo>
                <a:cubicBezTo>
                  <a:pt x="3208076" y="980491"/>
                  <a:pt x="3208076" y="993384"/>
                  <a:pt x="3200246" y="993384"/>
                </a:cubicBezTo>
                <a:cubicBezTo>
                  <a:pt x="3193858" y="993384"/>
                  <a:pt x="3200246" y="985366"/>
                  <a:pt x="3199009" y="982378"/>
                </a:cubicBezTo>
                <a:close/>
                <a:moveTo>
                  <a:pt x="3480958" y="981665"/>
                </a:moveTo>
                <a:cubicBezTo>
                  <a:pt x="3476912" y="986441"/>
                  <a:pt x="3472866" y="991371"/>
                  <a:pt x="3471588" y="998149"/>
                </a:cubicBezTo>
                <a:cubicBezTo>
                  <a:pt x="3468819" y="992295"/>
                  <a:pt x="3467541" y="981665"/>
                  <a:pt x="3480958" y="981665"/>
                </a:cubicBezTo>
                <a:close/>
                <a:moveTo>
                  <a:pt x="2869511" y="974517"/>
                </a:moveTo>
                <a:cubicBezTo>
                  <a:pt x="2861680" y="977504"/>
                  <a:pt x="2869511" y="981435"/>
                  <a:pt x="2868274" y="987409"/>
                </a:cubicBezTo>
                <a:cubicBezTo>
                  <a:pt x="2856529" y="989296"/>
                  <a:pt x="2843547" y="999201"/>
                  <a:pt x="2855292" y="1007220"/>
                </a:cubicBezTo>
                <a:cubicBezTo>
                  <a:pt x="2844783" y="1008163"/>
                  <a:pt x="2848699" y="998258"/>
                  <a:pt x="2840868" y="998258"/>
                </a:cubicBezTo>
                <a:cubicBezTo>
                  <a:pt x="2843547" y="1001245"/>
                  <a:pt x="2843547" y="1007220"/>
                  <a:pt x="2846225" y="1010207"/>
                </a:cubicBezTo>
                <a:cubicBezTo>
                  <a:pt x="2839632" y="1012251"/>
                  <a:pt x="2834480" y="1015238"/>
                  <a:pt x="2834480" y="1022156"/>
                </a:cubicBezTo>
                <a:cubicBezTo>
                  <a:pt x="2826649" y="1023099"/>
                  <a:pt x="2831801" y="1013194"/>
                  <a:pt x="2821498" y="1016181"/>
                </a:cubicBezTo>
                <a:cubicBezTo>
                  <a:pt x="2821498" y="1016181"/>
                  <a:pt x="2821498" y="1016181"/>
                  <a:pt x="2821498" y="1027030"/>
                </a:cubicBezTo>
                <a:cubicBezTo>
                  <a:pt x="2814903" y="1021213"/>
                  <a:pt x="2810988" y="1028130"/>
                  <a:pt x="2803158" y="1029074"/>
                </a:cubicBezTo>
                <a:cubicBezTo>
                  <a:pt x="2803158" y="1031118"/>
                  <a:pt x="2805837" y="1032061"/>
                  <a:pt x="2804394" y="1034105"/>
                </a:cubicBezTo>
                <a:cubicBezTo>
                  <a:pt x="2794091" y="1035992"/>
                  <a:pt x="2785025" y="1042909"/>
                  <a:pt x="2790176" y="1052972"/>
                </a:cubicBezTo>
                <a:cubicBezTo>
                  <a:pt x="2783581" y="1049041"/>
                  <a:pt x="2774515" y="1055959"/>
                  <a:pt x="2778430" y="1059890"/>
                </a:cubicBezTo>
                <a:cubicBezTo>
                  <a:pt x="2762769" y="1055959"/>
                  <a:pt x="2766684" y="1068852"/>
                  <a:pt x="2756381" y="1069795"/>
                </a:cubicBezTo>
                <a:cubicBezTo>
                  <a:pt x="2760296" y="1073725"/>
                  <a:pt x="2754938" y="1070738"/>
                  <a:pt x="2753702" y="1073725"/>
                </a:cubicBezTo>
                <a:cubicBezTo>
                  <a:pt x="2756381" y="1074826"/>
                  <a:pt x="2757617" y="1075770"/>
                  <a:pt x="2758854" y="1076713"/>
                </a:cubicBezTo>
                <a:cubicBezTo>
                  <a:pt x="2757617" y="1079700"/>
                  <a:pt x="2756381" y="1085675"/>
                  <a:pt x="2749786" y="1085675"/>
                </a:cubicBezTo>
                <a:cubicBezTo>
                  <a:pt x="2751023" y="1080801"/>
                  <a:pt x="2758854" y="1078756"/>
                  <a:pt x="2751023" y="1075770"/>
                </a:cubicBezTo>
                <a:cubicBezTo>
                  <a:pt x="2744635" y="1083788"/>
                  <a:pt x="2726295" y="1078756"/>
                  <a:pt x="2719907" y="1085675"/>
                </a:cubicBezTo>
                <a:cubicBezTo>
                  <a:pt x="2717228" y="1089762"/>
                  <a:pt x="2717228" y="1092750"/>
                  <a:pt x="2721144" y="1095580"/>
                </a:cubicBezTo>
                <a:cubicBezTo>
                  <a:pt x="2735568" y="1095580"/>
                  <a:pt x="2719907" y="1086775"/>
                  <a:pt x="2730210" y="1085675"/>
                </a:cubicBezTo>
                <a:cubicBezTo>
                  <a:pt x="2727738" y="1092750"/>
                  <a:pt x="2736805" y="1093693"/>
                  <a:pt x="2738041" y="1098567"/>
                </a:cubicBezTo>
                <a:cubicBezTo>
                  <a:pt x="2730210" y="1093693"/>
                  <a:pt x="2725059" y="1099668"/>
                  <a:pt x="2718465" y="1100611"/>
                </a:cubicBezTo>
                <a:cubicBezTo>
                  <a:pt x="2717228" y="1096680"/>
                  <a:pt x="2717228" y="1091649"/>
                  <a:pt x="2710634" y="1090706"/>
                </a:cubicBezTo>
                <a:cubicBezTo>
                  <a:pt x="2708162" y="1093693"/>
                  <a:pt x="2714550" y="1098567"/>
                  <a:pt x="2708162" y="1098567"/>
                </a:cubicBezTo>
                <a:cubicBezTo>
                  <a:pt x="2708162" y="1096680"/>
                  <a:pt x="2706719" y="1094636"/>
                  <a:pt x="2705483" y="1093693"/>
                </a:cubicBezTo>
                <a:cubicBezTo>
                  <a:pt x="2701568" y="1096680"/>
                  <a:pt x="2697653" y="1101554"/>
                  <a:pt x="2692501" y="1104541"/>
                </a:cubicBezTo>
                <a:cubicBezTo>
                  <a:pt x="2680755" y="1098567"/>
                  <a:pt x="2671688" y="1113503"/>
                  <a:pt x="2659942" y="1113503"/>
                </a:cubicBezTo>
                <a:cubicBezTo>
                  <a:pt x="2662621" y="1114447"/>
                  <a:pt x="2661179" y="1117433"/>
                  <a:pt x="2662621" y="1119478"/>
                </a:cubicBezTo>
                <a:cubicBezTo>
                  <a:pt x="2658706" y="1120421"/>
                  <a:pt x="2654791" y="1118535"/>
                  <a:pt x="2654791" y="1124508"/>
                </a:cubicBezTo>
                <a:cubicBezTo>
                  <a:pt x="2643045" y="1117433"/>
                  <a:pt x="2641808" y="1128439"/>
                  <a:pt x="2633979" y="1132370"/>
                </a:cubicBezTo>
                <a:cubicBezTo>
                  <a:pt x="2633979" y="1127496"/>
                  <a:pt x="2627384" y="1133471"/>
                  <a:pt x="2626148" y="1128439"/>
                </a:cubicBezTo>
                <a:cubicBezTo>
                  <a:pt x="2627384" y="1123408"/>
                  <a:pt x="2630063" y="1121522"/>
                  <a:pt x="2633979" y="1120421"/>
                </a:cubicBezTo>
                <a:cubicBezTo>
                  <a:pt x="2626148" y="1113503"/>
                  <a:pt x="2615638" y="1120421"/>
                  <a:pt x="2610486" y="1127496"/>
                </a:cubicBezTo>
                <a:cubicBezTo>
                  <a:pt x="2615638" y="1127496"/>
                  <a:pt x="2616875" y="1122465"/>
                  <a:pt x="2623468" y="1126396"/>
                </a:cubicBezTo>
                <a:cubicBezTo>
                  <a:pt x="2612959" y="1133471"/>
                  <a:pt x="2601420" y="1136458"/>
                  <a:pt x="2590910" y="1146363"/>
                </a:cubicBezTo>
                <a:cubicBezTo>
                  <a:pt x="2590910" y="1147307"/>
                  <a:pt x="2593589" y="1148249"/>
                  <a:pt x="2596062" y="1149350"/>
                </a:cubicBezTo>
                <a:cubicBezTo>
                  <a:pt x="2596062" y="1149350"/>
                  <a:pt x="2596062" y="1149350"/>
                  <a:pt x="2592147" y="1157212"/>
                </a:cubicBezTo>
                <a:cubicBezTo>
                  <a:pt x="2585758" y="1155324"/>
                  <a:pt x="2590910" y="1150294"/>
                  <a:pt x="2583080" y="1148249"/>
                </a:cubicBezTo>
                <a:cubicBezTo>
                  <a:pt x="2571334" y="1146363"/>
                  <a:pt x="2576486" y="1157212"/>
                  <a:pt x="2566183" y="1152338"/>
                </a:cubicBezTo>
                <a:cubicBezTo>
                  <a:pt x="2564946" y="1160199"/>
                  <a:pt x="2577928" y="1159255"/>
                  <a:pt x="2581844" y="1156268"/>
                </a:cubicBezTo>
                <a:cubicBezTo>
                  <a:pt x="2580401" y="1164287"/>
                  <a:pt x="2567419" y="1157212"/>
                  <a:pt x="2570098" y="1165230"/>
                </a:cubicBezTo>
                <a:cubicBezTo>
                  <a:pt x="2562267" y="1161299"/>
                  <a:pt x="2568861" y="1153281"/>
                  <a:pt x="2555673" y="1150294"/>
                </a:cubicBezTo>
                <a:cubicBezTo>
                  <a:pt x="2551964" y="1157212"/>
                  <a:pt x="2528473" y="1159255"/>
                  <a:pt x="2537540" y="1172148"/>
                </a:cubicBezTo>
                <a:cubicBezTo>
                  <a:pt x="2542691" y="1167117"/>
                  <a:pt x="2548049" y="1165230"/>
                  <a:pt x="2554436" y="1162243"/>
                </a:cubicBezTo>
                <a:cubicBezTo>
                  <a:pt x="2555673" y="1168217"/>
                  <a:pt x="2546607" y="1165230"/>
                  <a:pt x="2551964" y="1171204"/>
                </a:cubicBezTo>
                <a:cubicBezTo>
                  <a:pt x="2546091" y="1171204"/>
                  <a:pt x="2539240" y="1173680"/>
                  <a:pt x="2532877" y="1175902"/>
                </a:cubicBezTo>
                <a:lnTo>
                  <a:pt x="2527956" y="1177433"/>
                </a:lnTo>
                <a:lnTo>
                  <a:pt x="2528914" y="1178515"/>
                </a:lnTo>
                <a:cubicBezTo>
                  <a:pt x="2529826" y="1178879"/>
                  <a:pt x="2530911" y="1178973"/>
                  <a:pt x="2531951" y="1179162"/>
                </a:cubicBezTo>
                <a:lnTo>
                  <a:pt x="2533230" y="1179719"/>
                </a:lnTo>
                <a:lnTo>
                  <a:pt x="2539549" y="1179125"/>
                </a:lnTo>
                <a:cubicBezTo>
                  <a:pt x="2542794" y="1178358"/>
                  <a:pt x="2545370" y="1177100"/>
                  <a:pt x="2546607" y="1175135"/>
                </a:cubicBezTo>
                <a:cubicBezTo>
                  <a:pt x="2545370" y="1179065"/>
                  <a:pt x="2553200" y="1177179"/>
                  <a:pt x="2551964" y="1173091"/>
                </a:cubicBezTo>
                <a:cubicBezTo>
                  <a:pt x="2554436" y="1174192"/>
                  <a:pt x="2555673" y="1175135"/>
                  <a:pt x="2557116" y="1177179"/>
                </a:cubicBezTo>
                <a:cubicBezTo>
                  <a:pt x="2559588" y="1175135"/>
                  <a:pt x="2562267" y="1173091"/>
                  <a:pt x="2563504" y="1170104"/>
                </a:cubicBezTo>
                <a:cubicBezTo>
                  <a:pt x="2572777" y="1175135"/>
                  <a:pt x="2577928" y="1169161"/>
                  <a:pt x="2584316" y="1164287"/>
                </a:cubicBezTo>
                <a:cubicBezTo>
                  <a:pt x="2583080" y="1167117"/>
                  <a:pt x="2589673" y="1168217"/>
                  <a:pt x="2589673" y="1170104"/>
                </a:cubicBezTo>
                <a:cubicBezTo>
                  <a:pt x="2593589" y="1164287"/>
                  <a:pt x="2601420" y="1164287"/>
                  <a:pt x="2607808" y="1163186"/>
                </a:cubicBezTo>
                <a:cubicBezTo>
                  <a:pt x="2614401" y="1161299"/>
                  <a:pt x="2620789" y="1160199"/>
                  <a:pt x="2620789" y="1153281"/>
                </a:cubicBezTo>
                <a:cubicBezTo>
                  <a:pt x="2627384" y="1157212"/>
                  <a:pt x="2628620" y="1150294"/>
                  <a:pt x="2631299" y="1147307"/>
                </a:cubicBezTo>
                <a:lnTo>
                  <a:pt x="2636866" y="1149439"/>
                </a:lnTo>
                <a:lnTo>
                  <a:pt x="2636094" y="1147453"/>
                </a:lnTo>
                <a:cubicBezTo>
                  <a:pt x="2643987" y="1140573"/>
                  <a:pt x="2661018" y="1140573"/>
                  <a:pt x="2664964" y="1135571"/>
                </a:cubicBezTo>
                <a:cubicBezTo>
                  <a:pt x="2664964" y="1139049"/>
                  <a:pt x="2663498" y="1141844"/>
                  <a:pt x="2661398" y="1144309"/>
                </a:cubicBezTo>
                <a:lnTo>
                  <a:pt x="2660633" y="1145011"/>
                </a:lnTo>
                <a:lnTo>
                  <a:pt x="2663735" y="1144820"/>
                </a:lnTo>
                <a:cubicBezTo>
                  <a:pt x="2666884" y="1144457"/>
                  <a:pt x="2669730" y="1143769"/>
                  <a:pt x="2671688" y="1142275"/>
                </a:cubicBezTo>
                <a:cubicBezTo>
                  <a:pt x="2671688" y="1139445"/>
                  <a:pt x="2669009" y="1138345"/>
                  <a:pt x="2669009" y="1136458"/>
                </a:cubicBezTo>
                <a:cubicBezTo>
                  <a:pt x="2676839" y="1134414"/>
                  <a:pt x="2678075" y="1133471"/>
                  <a:pt x="2685906" y="1129383"/>
                </a:cubicBezTo>
                <a:cubicBezTo>
                  <a:pt x="2689822" y="1133471"/>
                  <a:pt x="2680755" y="1136458"/>
                  <a:pt x="2687350" y="1138345"/>
                </a:cubicBezTo>
                <a:cubicBezTo>
                  <a:pt x="2687658" y="1133863"/>
                  <a:pt x="2689681" y="1130504"/>
                  <a:pt x="2692703" y="1127874"/>
                </a:cubicBezTo>
                <a:lnTo>
                  <a:pt x="2692950" y="1127743"/>
                </a:lnTo>
                <a:lnTo>
                  <a:pt x="2693163" y="1124090"/>
                </a:lnTo>
                <a:cubicBezTo>
                  <a:pt x="2694840" y="1118631"/>
                  <a:pt x="2700061" y="1117708"/>
                  <a:pt x="2706769" y="1116159"/>
                </a:cubicBezTo>
                <a:lnTo>
                  <a:pt x="2705289" y="1121422"/>
                </a:lnTo>
                <a:lnTo>
                  <a:pt x="2717167" y="1117783"/>
                </a:lnTo>
                <a:lnTo>
                  <a:pt x="2721603" y="1115987"/>
                </a:lnTo>
                <a:lnTo>
                  <a:pt x="2716967" y="1112289"/>
                </a:lnTo>
                <a:cubicBezTo>
                  <a:pt x="2720804" y="1112289"/>
                  <a:pt x="2719592" y="1109340"/>
                  <a:pt x="2722015" y="1108409"/>
                </a:cubicBezTo>
                <a:lnTo>
                  <a:pt x="2724168" y="1110132"/>
                </a:lnTo>
                <a:lnTo>
                  <a:pt x="2723823" y="1106586"/>
                </a:lnTo>
                <a:cubicBezTo>
                  <a:pt x="2730210" y="1106586"/>
                  <a:pt x="2732890" y="1101554"/>
                  <a:pt x="2738041" y="1099668"/>
                </a:cubicBezTo>
                <a:cubicBezTo>
                  <a:pt x="2736805" y="1104541"/>
                  <a:pt x="2736805" y="1107529"/>
                  <a:pt x="2739483" y="1110516"/>
                </a:cubicBezTo>
                <a:cubicBezTo>
                  <a:pt x="2752466" y="1105564"/>
                  <a:pt x="2763489" y="1096641"/>
                  <a:pt x="2774694" y="1088583"/>
                </a:cubicBezTo>
                <a:lnTo>
                  <a:pt x="2789587" y="1079208"/>
                </a:lnTo>
                <a:lnTo>
                  <a:pt x="2786801" y="1076523"/>
                </a:lnTo>
                <a:cubicBezTo>
                  <a:pt x="2785342" y="1075643"/>
                  <a:pt x="2784010" y="1075643"/>
                  <a:pt x="2783292" y="1077676"/>
                </a:cubicBezTo>
                <a:cubicBezTo>
                  <a:pt x="2776941" y="1070641"/>
                  <a:pt x="2793742" y="1066732"/>
                  <a:pt x="2796406" y="1064857"/>
                </a:cubicBezTo>
                <a:cubicBezTo>
                  <a:pt x="2797635" y="1068765"/>
                  <a:pt x="2794972" y="1070641"/>
                  <a:pt x="2792512" y="1072673"/>
                </a:cubicBezTo>
                <a:cubicBezTo>
                  <a:pt x="2791796" y="1073689"/>
                  <a:pt x="2790822" y="1074666"/>
                  <a:pt x="2790336" y="1075898"/>
                </a:cubicBezTo>
                <a:lnTo>
                  <a:pt x="2790740" y="1078483"/>
                </a:lnTo>
                <a:lnTo>
                  <a:pt x="2791904" y="1077749"/>
                </a:lnTo>
                <a:cubicBezTo>
                  <a:pt x="2797864" y="1074757"/>
                  <a:pt x="2804136" y="1072586"/>
                  <a:pt x="2810988" y="1071839"/>
                </a:cubicBezTo>
                <a:cubicBezTo>
                  <a:pt x="2808309" y="1072782"/>
                  <a:pt x="2804394" y="1073725"/>
                  <a:pt x="2804394" y="1077813"/>
                </a:cubicBezTo>
                <a:cubicBezTo>
                  <a:pt x="2810988" y="1076713"/>
                  <a:pt x="2809752" y="1080801"/>
                  <a:pt x="2814903" y="1079700"/>
                </a:cubicBezTo>
                <a:cubicBezTo>
                  <a:pt x="2814285" y="1074748"/>
                  <a:pt x="2817222" y="1073765"/>
                  <a:pt x="2820647" y="1073647"/>
                </a:cubicBezTo>
                <a:lnTo>
                  <a:pt x="2825409" y="1073724"/>
                </a:lnTo>
                <a:lnTo>
                  <a:pt x="2827561" y="1070487"/>
                </a:lnTo>
                <a:lnTo>
                  <a:pt x="2828591" y="1069370"/>
                </a:lnTo>
                <a:lnTo>
                  <a:pt x="2828143" y="1067299"/>
                </a:lnTo>
                <a:cubicBezTo>
                  <a:pt x="2827319" y="1066061"/>
                  <a:pt x="2826649" y="1064842"/>
                  <a:pt x="2827885" y="1061934"/>
                </a:cubicBezTo>
                <a:lnTo>
                  <a:pt x="2830333" y="1062230"/>
                </a:lnTo>
                <a:lnTo>
                  <a:pt x="2830257" y="1061638"/>
                </a:lnTo>
                <a:lnTo>
                  <a:pt x="2837317" y="1062488"/>
                </a:lnTo>
                <a:lnTo>
                  <a:pt x="2841689" y="1061039"/>
                </a:lnTo>
                <a:lnTo>
                  <a:pt x="2838139" y="1058637"/>
                </a:lnTo>
                <a:lnTo>
                  <a:pt x="2840894" y="1057712"/>
                </a:lnTo>
                <a:lnTo>
                  <a:pt x="2838396" y="1055959"/>
                </a:lnTo>
                <a:cubicBezTo>
                  <a:pt x="2843186" y="1054426"/>
                  <a:pt x="2846586" y="1047322"/>
                  <a:pt x="2850247" y="1045590"/>
                </a:cubicBezTo>
                <a:lnTo>
                  <a:pt x="2851827" y="1045782"/>
                </a:lnTo>
                <a:lnTo>
                  <a:pt x="2852903" y="1044592"/>
                </a:lnTo>
                <a:cubicBezTo>
                  <a:pt x="2855491" y="1042824"/>
                  <a:pt x="2858718" y="1041315"/>
                  <a:pt x="2858001" y="1037820"/>
                </a:cubicBezTo>
                <a:cubicBezTo>
                  <a:pt x="2861894" y="1041871"/>
                  <a:pt x="2861280" y="1044373"/>
                  <a:pt x="2859204" y="1046498"/>
                </a:cubicBezTo>
                <a:lnTo>
                  <a:pt x="2853213" y="1051585"/>
                </a:lnTo>
                <a:lnTo>
                  <a:pt x="2856374" y="1052402"/>
                </a:lnTo>
                <a:cubicBezTo>
                  <a:pt x="2858178" y="1053640"/>
                  <a:pt x="2859826" y="1055880"/>
                  <a:pt x="2864360" y="1056903"/>
                </a:cubicBezTo>
                <a:cubicBezTo>
                  <a:pt x="2867038" y="1052029"/>
                  <a:pt x="2863123" y="1050928"/>
                  <a:pt x="2860444" y="1049041"/>
                </a:cubicBezTo>
                <a:cubicBezTo>
                  <a:pt x="2865596" y="1042909"/>
                  <a:pt x="2878784" y="1035992"/>
                  <a:pt x="2889087" y="1029074"/>
                </a:cubicBezTo>
                <a:cubicBezTo>
                  <a:pt x="2883936" y="1026087"/>
                  <a:pt x="2889087" y="1021213"/>
                  <a:pt x="2887851" y="1016181"/>
                </a:cubicBezTo>
                <a:cubicBezTo>
                  <a:pt x="2895681" y="1014138"/>
                  <a:pt x="2891765" y="1023099"/>
                  <a:pt x="2899596" y="1020112"/>
                </a:cubicBezTo>
                <a:cubicBezTo>
                  <a:pt x="2896917" y="1013194"/>
                  <a:pt x="2900833" y="1009263"/>
                  <a:pt x="2903512" y="1004232"/>
                </a:cubicBezTo>
                <a:cubicBezTo>
                  <a:pt x="2899596" y="1003289"/>
                  <a:pt x="2896917" y="1007220"/>
                  <a:pt x="2896917" y="1004232"/>
                </a:cubicBezTo>
                <a:cubicBezTo>
                  <a:pt x="2903512" y="1003289"/>
                  <a:pt x="2899596" y="997315"/>
                  <a:pt x="2895681" y="996371"/>
                </a:cubicBezTo>
                <a:cubicBezTo>
                  <a:pt x="2898257" y="995821"/>
                  <a:pt x="2899236" y="994052"/>
                  <a:pt x="2900550" y="992303"/>
                </a:cubicBezTo>
                <a:lnTo>
                  <a:pt x="2902338" y="991276"/>
                </a:lnTo>
                <a:lnTo>
                  <a:pt x="2899787" y="990222"/>
                </a:lnTo>
                <a:cubicBezTo>
                  <a:pt x="2889286" y="989113"/>
                  <a:pt x="2888051" y="995134"/>
                  <a:pt x="2889286" y="998145"/>
                </a:cubicBezTo>
                <a:cubicBezTo>
                  <a:pt x="2882183" y="996164"/>
                  <a:pt x="2881874" y="991926"/>
                  <a:pt x="2884627" y="987548"/>
                </a:cubicBezTo>
                <a:lnTo>
                  <a:pt x="2885081" y="987061"/>
                </a:lnTo>
                <a:lnTo>
                  <a:pt x="2883446" y="980786"/>
                </a:lnTo>
                <a:cubicBezTo>
                  <a:pt x="2882647" y="978920"/>
                  <a:pt x="2881359" y="977426"/>
                  <a:pt x="2878784" y="976404"/>
                </a:cubicBezTo>
                <a:cubicBezTo>
                  <a:pt x="2874869" y="983322"/>
                  <a:pt x="2873426" y="977504"/>
                  <a:pt x="2869511" y="974517"/>
                </a:cubicBezTo>
                <a:close/>
                <a:moveTo>
                  <a:pt x="3235448" y="970573"/>
                </a:moveTo>
                <a:cubicBezTo>
                  <a:pt x="3237354" y="972638"/>
                  <a:pt x="3237354" y="975180"/>
                  <a:pt x="3236878" y="977821"/>
                </a:cubicBezTo>
                <a:lnTo>
                  <a:pt x="3235547" y="985123"/>
                </a:lnTo>
                <a:lnTo>
                  <a:pt x="3235276" y="985397"/>
                </a:lnTo>
                <a:lnTo>
                  <a:pt x="3231612" y="979668"/>
                </a:lnTo>
                <a:cubicBezTo>
                  <a:pt x="3233192" y="976650"/>
                  <a:pt x="3236050" y="973115"/>
                  <a:pt x="3235448" y="970573"/>
                </a:cubicBezTo>
                <a:close/>
                <a:moveTo>
                  <a:pt x="3163536" y="970573"/>
                </a:moveTo>
                <a:lnTo>
                  <a:pt x="3164747" y="977772"/>
                </a:lnTo>
                <a:cubicBezTo>
                  <a:pt x="3162122" y="978732"/>
                  <a:pt x="3157073" y="980811"/>
                  <a:pt x="3155862" y="978732"/>
                </a:cubicBezTo>
                <a:cubicBezTo>
                  <a:pt x="3159699" y="976652"/>
                  <a:pt x="3159699" y="972653"/>
                  <a:pt x="3163536" y="970573"/>
                </a:cubicBezTo>
                <a:close/>
                <a:moveTo>
                  <a:pt x="3240635" y="966499"/>
                </a:moveTo>
                <a:cubicBezTo>
                  <a:pt x="3232805" y="970429"/>
                  <a:pt x="3232805" y="974517"/>
                  <a:pt x="3223737" y="974517"/>
                </a:cubicBezTo>
                <a:cubicBezTo>
                  <a:pt x="3227652" y="979391"/>
                  <a:pt x="3234247" y="981435"/>
                  <a:pt x="3230331" y="990397"/>
                </a:cubicBezTo>
                <a:lnTo>
                  <a:pt x="3235276" y="985397"/>
                </a:lnTo>
                <a:lnTo>
                  <a:pt x="3235448" y="985666"/>
                </a:lnTo>
                <a:lnTo>
                  <a:pt x="3235547" y="985123"/>
                </a:lnTo>
                <a:lnTo>
                  <a:pt x="3238883" y="981749"/>
                </a:lnTo>
                <a:cubicBezTo>
                  <a:pt x="3239038" y="977151"/>
                  <a:pt x="3238059" y="971451"/>
                  <a:pt x="3240635" y="966499"/>
                </a:cubicBezTo>
                <a:close/>
                <a:moveTo>
                  <a:pt x="2902164" y="966370"/>
                </a:moveTo>
                <a:lnTo>
                  <a:pt x="2899059" y="968783"/>
                </a:lnTo>
                <a:lnTo>
                  <a:pt x="2899229" y="971530"/>
                </a:lnTo>
                <a:lnTo>
                  <a:pt x="2899596" y="971530"/>
                </a:lnTo>
                <a:close/>
                <a:moveTo>
                  <a:pt x="2950288" y="965555"/>
                </a:moveTo>
                <a:lnTo>
                  <a:pt x="2946664" y="968337"/>
                </a:lnTo>
                <a:lnTo>
                  <a:pt x="2946270" y="967992"/>
                </a:lnTo>
                <a:cubicBezTo>
                  <a:pt x="2946734" y="966774"/>
                  <a:pt x="2948330" y="965555"/>
                  <a:pt x="2950288" y="965555"/>
                </a:cubicBezTo>
                <a:close/>
                <a:moveTo>
                  <a:pt x="2904540" y="964523"/>
                </a:moveTo>
                <a:lnTo>
                  <a:pt x="2904129" y="964842"/>
                </a:lnTo>
                <a:lnTo>
                  <a:pt x="2904603" y="964730"/>
                </a:lnTo>
                <a:close/>
                <a:moveTo>
                  <a:pt x="3515767" y="960174"/>
                </a:moveTo>
                <a:cubicBezTo>
                  <a:pt x="3522216" y="964141"/>
                  <a:pt x="3523672" y="966204"/>
                  <a:pt x="3518263" y="972235"/>
                </a:cubicBezTo>
                <a:cubicBezTo>
                  <a:pt x="3506614" y="973187"/>
                  <a:pt x="3515767" y="965252"/>
                  <a:pt x="3515767" y="960174"/>
                </a:cubicBezTo>
                <a:close/>
                <a:moveTo>
                  <a:pt x="2818818" y="954550"/>
                </a:moveTo>
                <a:cubicBezTo>
                  <a:pt x="2810988" y="953606"/>
                  <a:pt x="2812225" y="961467"/>
                  <a:pt x="2820055" y="960524"/>
                </a:cubicBezTo>
                <a:cubicBezTo>
                  <a:pt x="2822734" y="957536"/>
                  <a:pt x="2820055" y="958480"/>
                  <a:pt x="2818818" y="954550"/>
                </a:cubicBezTo>
                <a:close/>
                <a:moveTo>
                  <a:pt x="2889087" y="953606"/>
                </a:moveTo>
                <a:cubicBezTo>
                  <a:pt x="2885172" y="956593"/>
                  <a:pt x="2882235" y="959070"/>
                  <a:pt x="2879299" y="961802"/>
                </a:cubicBezTo>
                <a:lnTo>
                  <a:pt x="2874834" y="966239"/>
                </a:lnTo>
                <a:lnTo>
                  <a:pt x="2877971" y="966815"/>
                </a:lnTo>
                <a:lnTo>
                  <a:pt x="2882312" y="964395"/>
                </a:lnTo>
                <a:cubicBezTo>
                  <a:pt x="2885583" y="961546"/>
                  <a:pt x="2887851" y="958087"/>
                  <a:pt x="2889087" y="953606"/>
                </a:cubicBezTo>
                <a:close/>
                <a:moveTo>
                  <a:pt x="3377510" y="950468"/>
                </a:moveTo>
                <a:cubicBezTo>
                  <a:pt x="3389189" y="956365"/>
                  <a:pt x="3378739" y="963195"/>
                  <a:pt x="3376281" y="971110"/>
                </a:cubicBezTo>
                <a:cubicBezTo>
                  <a:pt x="3368494" y="965212"/>
                  <a:pt x="3380173" y="958228"/>
                  <a:pt x="3377510" y="950468"/>
                </a:cubicBezTo>
                <a:close/>
                <a:moveTo>
                  <a:pt x="2984286" y="947735"/>
                </a:moveTo>
                <a:cubicBezTo>
                  <a:pt x="2982229" y="948015"/>
                  <a:pt x="2981302" y="950815"/>
                  <a:pt x="2980375" y="948575"/>
                </a:cubicBezTo>
                <a:cubicBezTo>
                  <a:pt x="2976459" y="952662"/>
                  <a:pt x="2980375" y="960524"/>
                  <a:pt x="2969864" y="961467"/>
                </a:cubicBezTo>
                <a:cubicBezTo>
                  <a:pt x="2977695" y="964455"/>
                  <a:pt x="2987998" y="955493"/>
                  <a:pt x="2986762" y="948575"/>
                </a:cubicBezTo>
                <a:cubicBezTo>
                  <a:pt x="2985783" y="947828"/>
                  <a:pt x="2984972" y="947641"/>
                  <a:pt x="2984286" y="947735"/>
                </a:cubicBezTo>
                <a:close/>
                <a:moveTo>
                  <a:pt x="3404287" y="945615"/>
                </a:moveTo>
                <a:cubicBezTo>
                  <a:pt x="3411911" y="946726"/>
                  <a:pt x="3406695" y="956724"/>
                  <a:pt x="3402883" y="958628"/>
                </a:cubicBezTo>
                <a:cubicBezTo>
                  <a:pt x="3396664" y="954660"/>
                  <a:pt x="3400475" y="950693"/>
                  <a:pt x="3404287" y="945615"/>
                </a:cubicBezTo>
                <a:close/>
                <a:moveTo>
                  <a:pt x="3227652" y="945588"/>
                </a:moveTo>
                <a:cubicBezTo>
                  <a:pt x="3222501" y="949675"/>
                  <a:pt x="3223737" y="955493"/>
                  <a:pt x="3225180" y="962568"/>
                </a:cubicBezTo>
                <a:cubicBezTo>
                  <a:pt x="3232805" y="959581"/>
                  <a:pt x="3229094" y="951562"/>
                  <a:pt x="3227652" y="945588"/>
                </a:cubicBezTo>
                <a:close/>
                <a:moveTo>
                  <a:pt x="3144403" y="940714"/>
                </a:moveTo>
                <a:lnTo>
                  <a:pt x="3141683" y="941691"/>
                </a:lnTo>
                <a:lnTo>
                  <a:pt x="3136384" y="952544"/>
                </a:lnTo>
                <a:lnTo>
                  <a:pt x="3134638" y="958692"/>
                </a:lnTo>
                <a:lnTo>
                  <a:pt x="3137963" y="956711"/>
                </a:lnTo>
                <a:cubicBezTo>
                  <a:pt x="3140075" y="954864"/>
                  <a:pt x="3142342" y="953135"/>
                  <a:pt x="3146875" y="952662"/>
                </a:cubicBezTo>
                <a:cubicBezTo>
                  <a:pt x="3144403" y="945588"/>
                  <a:pt x="3144403" y="947632"/>
                  <a:pt x="3144403" y="940714"/>
                </a:cubicBezTo>
                <a:close/>
                <a:moveTo>
                  <a:pt x="1712372" y="937359"/>
                </a:moveTo>
                <a:lnTo>
                  <a:pt x="1711261" y="939324"/>
                </a:lnTo>
                <a:lnTo>
                  <a:pt x="1712784" y="938360"/>
                </a:lnTo>
                <a:close/>
                <a:moveTo>
                  <a:pt x="3511259" y="935909"/>
                </a:moveTo>
                <a:cubicBezTo>
                  <a:pt x="3512470" y="939828"/>
                  <a:pt x="3513682" y="950799"/>
                  <a:pt x="3508633" y="953778"/>
                </a:cubicBezTo>
                <a:cubicBezTo>
                  <a:pt x="3506210" y="948762"/>
                  <a:pt x="3504797" y="938887"/>
                  <a:pt x="3511259" y="935909"/>
                </a:cubicBezTo>
                <a:close/>
                <a:moveTo>
                  <a:pt x="3487161" y="935909"/>
                </a:moveTo>
                <a:cubicBezTo>
                  <a:pt x="3502774" y="939874"/>
                  <a:pt x="3484490" y="950023"/>
                  <a:pt x="3492297" y="958905"/>
                </a:cubicBezTo>
                <a:cubicBezTo>
                  <a:pt x="3489626" y="960015"/>
                  <a:pt x="3484490" y="960015"/>
                  <a:pt x="3479354" y="958905"/>
                </a:cubicBezTo>
                <a:cubicBezTo>
                  <a:pt x="3484490" y="948913"/>
                  <a:pt x="3485722" y="947010"/>
                  <a:pt x="3487161" y="935909"/>
                </a:cubicBezTo>
                <a:close/>
                <a:moveTo>
                  <a:pt x="1710819" y="933584"/>
                </a:moveTo>
                <a:lnTo>
                  <a:pt x="1710747" y="934362"/>
                </a:lnTo>
                <a:lnTo>
                  <a:pt x="1711086" y="934232"/>
                </a:lnTo>
                <a:close/>
                <a:moveTo>
                  <a:pt x="2011788" y="930779"/>
                </a:moveTo>
                <a:cubicBezTo>
                  <a:pt x="2010508" y="931037"/>
                  <a:pt x="2009887" y="932102"/>
                  <a:pt x="2009220" y="933294"/>
                </a:cubicBezTo>
                <a:lnTo>
                  <a:pt x="2009037" y="933505"/>
                </a:lnTo>
                <a:lnTo>
                  <a:pt x="2009037" y="935792"/>
                </a:lnTo>
                <a:cubicBezTo>
                  <a:pt x="2010994" y="935792"/>
                  <a:pt x="2012643" y="935557"/>
                  <a:pt x="2013802" y="934692"/>
                </a:cubicBezTo>
                <a:lnTo>
                  <a:pt x="2015018" y="931453"/>
                </a:lnTo>
                <a:close/>
                <a:moveTo>
                  <a:pt x="2927253" y="929670"/>
                </a:moveTo>
                <a:cubicBezTo>
                  <a:pt x="2943936" y="929670"/>
                  <a:pt x="2925829" y="936981"/>
                  <a:pt x="2929695" y="939906"/>
                </a:cubicBezTo>
                <a:cubicBezTo>
                  <a:pt x="2916878" y="936981"/>
                  <a:pt x="2933560" y="931782"/>
                  <a:pt x="2927253" y="929670"/>
                </a:cubicBezTo>
                <a:close/>
                <a:moveTo>
                  <a:pt x="1703617" y="929092"/>
                </a:moveTo>
                <a:cubicBezTo>
                  <a:pt x="1701814" y="929338"/>
                  <a:pt x="1700088" y="929893"/>
                  <a:pt x="1698645" y="930946"/>
                </a:cubicBezTo>
                <a:lnTo>
                  <a:pt x="1698422" y="931278"/>
                </a:lnTo>
                <a:lnTo>
                  <a:pt x="1705950" y="929909"/>
                </a:lnTo>
                <a:lnTo>
                  <a:pt x="1708146" y="929418"/>
                </a:lnTo>
                <a:close/>
                <a:moveTo>
                  <a:pt x="3207454" y="928976"/>
                </a:moveTo>
                <a:cubicBezTo>
                  <a:pt x="3207454" y="935007"/>
                  <a:pt x="3203584" y="938022"/>
                  <a:pt x="3198492" y="941990"/>
                </a:cubicBezTo>
                <a:cubicBezTo>
                  <a:pt x="3195844" y="935959"/>
                  <a:pt x="3202361" y="932944"/>
                  <a:pt x="3207454" y="928976"/>
                </a:cubicBezTo>
                <a:close/>
                <a:moveTo>
                  <a:pt x="287248" y="928976"/>
                </a:moveTo>
                <a:cubicBezTo>
                  <a:pt x="297841" y="935855"/>
                  <a:pt x="278109" y="935855"/>
                  <a:pt x="278109" y="944765"/>
                </a:cubicBezTo>
                <a:cubicBezTo>
                  <a:pt x="268971" y="942733"/>
                  <a:pt x="284756" y="933979"/>
                  <a:pt x="287248" y="928976"/>
                </a:cubicBezTo>
                <a:close/>
                <a:moveTo>
                  <a:pt x="1941613" y="928622"/>
                </a:moveTo>
                <a:cubicBezTo>
                  <a:pt x="1943585" y="928452"/>
                  <a:pt x="1946363" y="932581"/>
                  <a:pt x="1946363" y="928779"/>
                </a:cubicBezTo>
                <a:cubicBezTo>
                  <a:pt x="1948931" y="929729"/>
                  <a:pt x="1947549" y="931789"/>
                  <a:pt x="1947549" y="933849"/>
                </a:cubicBezTo>
                <a:cubicBezTo>
                  <a:pt x="1942610" y="935751"/>
                  <a:pt x="1943795" y="931789"/>
                  <a:pt x="1940042" y="930680"/>
                </a:cubicBezTo>
                <a:cubicBezTo>
                  <a:pt x="1940388" y="929214"/>
                  <a:pt x="1940955" y="928679"/>
                  <a:pt x="1941613" y="928622"/>
                </a:cubicBezTo>
                <a:close/>
                <a:moveTo>
                  <a:pt x="1788082" y="927857"/>
                </a:moveTo>
                <a:cubicBezTo>
                  <a:pt x="1785345" y="935056"/>
                  <a:pt x="1771036" y="930896"/>
                  <a:pt x="1768300" y="928976"/>
                </a:cubicBezTo>
                <a:cubicBezTo>
                  <a:pt x="1772299" y="926897"/>
                  <a:pt x="1781558" y="932016"/>
                  <a:pt x="1788082" y="927857"/>
                </a:cubicBezTo>
                <a:close/>
                <a:moveTo>
                  <a:pt x="3161762" y="927765"/>
                </a:moveTo>
                <a:lnTo>
                  <a:pt x="3154101" y="930643"/>
                </a:lnTo>
                <a:lnTo>
                  <a:pt x="3154284" y="931595"/>
                </a:lnTo>
                <a:lnTo>
                  <a:pt x="3157475" y="930858"/>
                </a:lnTo>
                <a:lnTo>
                  <a:pt x="3156942" y="932315"/>
                </a:lnTo>
                <a:lnTo>
                  <a:pt x="3160681" y="929838"/>
                </a:lnTo>
                <a:close/>
                <a:moveTo>
                  <a:pt x="2057257" y="926869"/>
                </a:moveTo>
                <a:lnTo>
                  <a:pt x="2049959" y="927925"/>
                </a:lnTo>
                <a:lnTo>
                  <a:pt x="2048218" y="929099"/>
                </a:lnTo>
                <a:lnTo>
                  <a:pt x="2055405" y="927343"/>
                </a:lnTo>
                <a:close/>
                <a:moveTo>
                  <a:pt x="3015406" y="926720"/>
                </a:moveTo>
                <a:lnTo>
                  <a:pt x="3014989" y="926864"/>
                </a:lnTo>
                <a:lnTo>
                  <a:pt x="3013833" y="928130"/>
                </a:lnTo>
                <a:lnTo>
                  <a:pt x="3012950" y="927566"/>
                </a:lnTo>
                <a:lnTo>
                  <a:pt x="3008553" y="929079"/>
                </a:lnTo>
                <a:cubicBezTo>
                  <a:pt x="3007266" y="930219"/>
                  <a:pt x="3006957" y="931752"/>
                  <a:pt x="3007575" y="933796"/>
                </a:cubicBezTo>
                <a:cubicBezTo>
                  <a:pt x="3014169" y="932695"/>
                  <a:pt x="3016848" y="930651"/>
                  <a:pt x="3015406" y="926720"/>
                </a:cubicBezTo>
                <a:close/>
                <a:moveTo>
                  <a:pt x="2522986" y="926387"/>
                </a:moveTo>
                <a:cubicBezTo>
                  <a:pt x="2521518" y="926995"/>
                  <a:pt x="2520539" y="928214"/>
                  <a:pt x="2519200" y="929708"/>
                </a:cubicBezTo>
                <a:cubicBezTo>
                  <a:pt x="2524557" y="934739"/>
                  <a:pt x="2528473" y="930651"/>
                  <a:pt x="2529709" y="926720"/>
                </a:cubicBezTo>
                <a:cubicBezTo>
                  <a:pt x="2526412" y="925777"/>
                  <a:pt x="2524454" y="925777"/>
                  <a:pt x="2522986" y="926387"/>
                </a:cubicBezTo>
                <a:close/>
                <a:moveTo>
                  <a:pt x="3383933" y="922737"/>
                </a:moveTo>
                <a:cubicBezTo>
                  <a:pt x="3398276" y="927556"/>
                  <a:pt x="3398276" y="936573"/>
                  <a:pt x="3387827" y="948233"/>
                </a:cubicBezTo>
                <a:cubicBezTo>
                  <a:pt x="3378811" y="946367"/>
                  <a:pt x="3378811" y="946367"/>
                  <a:pt x="3378811" y="946367"/>
                </a:cubicBezTo>
                <a:cubicBezTo>
                  <a:pt x="3377581" y="935485"/>
                  <a:pt x="3377581" y="932531"/>
                  <a:pt x="3383933" y="922737"/>
                </a:cubicBezTo>
                <a:close/>
                <a:moveTo>
                  <a:pt x="1846794" y="922097"/>
                </a:moveTo>
                <a:cubicBezTo>
                  <a:pt x="1848521" y="921697"/>
                  <a:pt x="1850101" y="922177"/>
                  <a:pt x="1850793" y="923697"/>
                </a:cubicBezTo>
                <a:cubicBezTo>
                  <a:pt x="1850793" y="927697"/>
                  <a:pt x="1845657" y="925777"/>
                  <a:pt x="1844472" y="928817"/>
                </a:cubicBezTo>
                <a:lnTo>
                  <a:pt x="1843314" y="926784"/>
                </a:lnTo>
                <a:lnTo>
                  <a:pt x="1826457" y="931594"/>
                </a:lnTo>
                <a:cubicBezTo>
                  <a:pt x="1827379" y="924951"/>
                  <a:pt x="1836369" y="923290"/>
                  <a:pt x="1842448" y="924121"/>
                </a:cubicBezTo>
                <a:lnTo>
                  <a:pt x="1843596" y="924504"/>
                </a:lnTo>
                <a:close/>
                <a:moveTo>
                  <a:pt x="2978909" y="922044"/>
                </a:moveTo>
                <a:cubicBezTo>
                  <a:pt x="2977632" y="927894"/>
                  <a:pt x="2985725" y="922044"/>
                  <a:pt x="2985725" y="926945"/>
                </a:cubicBezTo>
                <a:cubicBezTo>
                  <a:pt x="2982956" y="929949"/>
                  <a:pt x="2974863" y="930898"/>
                  <a:pt x="2973585" y="925996"/>
                </a:cubicBezTo>
                <a:cubicBezTo>
                  <a:pt x="2972308" y="923941"/>
                  <a:pt x="2977632" y="923941"/>
                  <a:pt x="2978909" y="922044"/>
                </a:cubicBezTo>
                <a:close/>
                <a:moveTo>
                  <a:pt x="1796835" y="920371"/>
                </a:moveTo>
                <a:cubicBezTo>
                  <a:pt x="1798564" y="919633"/>
                  <a:pt x="1800440" y="919904"/>
                  <a:pt x="1801724" y="921924"/>
                </a:cubicBezTo>
                <a:cubicBezTo>
                  <a:pt x="1801724" y="923789"/>
                  <a:pt x="1800341" y="922856"/>
                  <a:pt x="1800341" y="921924"/>
                </a:cubicBezTo>
                <a:cubicBezTo>
                  <a:pt x="1797971" y="923789"/>
                  <a:pt x="1796588" y="926741"/>
                  <a:pt x="1792834" y="924877"/>
                </a:cubicBezTo>
                <a:cubicBezTo>
                  <a:pt x="1793526" y="922856"/>
                  <a:pt x="1795106" y="921109"/>
                  <a:pt x="1796835" y="920371"/>
                </a:cubicBezTo>
                <a:close/>
                <a:moveTo>
                  <a:pt x="1965011" y="919042"/>
                </a:moveTo>
                <a:cubicBezTo>
                  <a:pt x="1967930" y="917952"/>
                  <a:pt x="1971513" y="918411"/>
                  <a:pt x="1973459" y="920324"/>
                </a:cubicBezTo>
                <a:cubicBezTo>
                  <a:pt x="1970797" y="924303"/>
                  <a:pt x="1968339" y="928130"/>
                  <a:pt x="1960558" y="927059"/>
                </a:cubicBezTo>
                <a:cubicBezTo>
                  <a:pt x="1959841" y="922773"/>
                  <a:pt x="1962094" y="920133"/>
                  <a:pt x="1965011" y="919042"/>
                </a:cubicBezTo>
                <a:close/>
                <a:moveTo>
                  <a:pt x="2076649" y="918649"/>
                </a:moveTo>
                <a:lnTo>
                  <a:pt x="2076420" y="918892"/>
                </a:lnTo>
                <a:lnTo>
                  <a:pt x="2071496" y="919592"/>
                </a:lnTo>
                <a:cubicBezTo>
                  <a:pt x="2076649" y="918649"/>
                  <a:pt x="2076649" y="918649"/>
                  <a:pt x="2076649" y="918649"/>
                </a:cubicBezTo>
                <a:close/>
                <a:moveTo>
                  <a:pt x="2583755" y="917765"/>
                </a:moveTo>
                <a:lnTo>
                  <a:pt x="2582152" y="918545"/>
                </a:lnTo>
                <a:lnTo>
                  <a:pt x="2562596" y="927514"/>
                </a:lnTo>
                <a:lnTo>
                  <a:pt x="2565809" y="927449"/>
                </a:lnTo>
                <a:cubicBezTo>
                  <a:pt x="2570762" y="926159"/>
                  <a:pt x="2575282" y="923876"/>
                  <a:pt x="2579430" y="921154"/>
                </a:cubicBezTo>
                <a:close/>
                <a:moveTo>
                  <a:pt x="3545762" y="916775"/>
                </a:moveTo>
                <a:cubicBezTo>
                  <a:pt x="3551620" y="917707"/>
                  <a:pt x="3557593" y="923575"/>
                  <a:pt x="3555755" y="928818"/>
                </a:cubicBezTo>
                <a:cubicBezTo>
                  <a:pt x="3546770" y="927705"/>
                  <a:pt x="3546770" y="927705"/>
                  <a:pt x="3546770" y="927705"/>
                </a:cubicBezTo>
                <a:cubicBezTo>
                  <a:pt x="3551875" y="920715"/>
                  <a:pt x="3544116" y="920715"/>
                  <a:pt x="3540236" y="917697"/>
                </a:cubicBezTo>
                <a:cubicBezTo>
                  <a:pt x="3541869" y="916703"/>
                  <a:pt x="3543809" y="916465"/>
                  <a:pt x="3545762" y="916775"/>
                </a:cubicBezTo>
                <a:close/>
                <a:moveTo>
                  <a:pt x="2561263" y="915342"/>
                </a:moveTo>
                <a:cubicBezTo>
                  <a:pt x="2559949" y="915322"/>
                  <a:pt x="2558971" y="915794"/>
                  <a:pt x="2559588" y="917759"/>
                </a:cubicBezTo>
                <a:cubicBezTo>
                  <a:pt x="2564946" y="920746"/>
                  <a:pt x="2566183" y="919803"/>
                  <a:pt x="2564946" y="915873"/>
                </a:cubicBezTo>
                <a:cubicBezTo>
                  <a:pt x="2564225" y="915873"/>
                  <a:pt x="2562576" y="915362"/>
                  <a:pt x="2561263" y="915342"/>
                </a:cubicBezTo>
                <a:close/>
                <a:moveTo>
                  <a:pt x="2006563" y="914886"/>
                </a:moveTo>
                <a:lnTo>
                  <a:pt x="2007143" y="918164"/>
                </a:lnTo>
                <a:lnTo>
                  <a:pt x="2009829" y="917882"/>
                </a:lnTo>
                <a:lnTo>
                  <a:pt x="2009449" y="916693"/>
                </a:lnTo>
                <a:cubicBezTo>
                  <a:pt x="2009140" y="915436"/>
                  <a:pt x="2008521" y="914414"/>
                  <a:pt x="2006563" y="914886"/>
                </a:cubicBezTo>
                <a:close/>
                <a:moveTo>
                  <a:pt x="3530032" y="913032"/>
                </a:moveTo>
                <a:cubicBezTo>
                  <a:pt x="3530032" y="930907"/>
                  <a:pt x="3526080" y="944987"/>
                  <a:pt x="3519632" y="960015"/>
                </a:cubicBezTo>
                <a:cubicBezTo>
                  <a:pt x="3512975" y="944037"/>
                  <a:pt x="3526080" y="927901"/>
                  <a:pt x="3530032" y="913032"/>
                </a:cubicBezTo>
                <a:close/>
                <a:moveTo>
                  <a:pt x="1983070" y="913000"/>
                </a:moveTo>
                <a:cubicBezTo>
                  <a:pt x="1981112" y="914493"/>
                  <a:pt x="1981421" y="915476"/>
                  <a:pt x="1981911" y="916203"/>
                </a:cubicBezTo>
                <a:lnTo>
                  <a:pt x="1981843" y="917642"/>
                </a:lnTo>
                <a:lnTo>
                  <a:pt x="1982064" y="919746"/>
                </a:lnTo>
                <a:cubicBezTo>
                  <a:pt x="1980683" y="924102"/>
                  <a:pt x="1975968" y="928789"/>
                  <a:pt x="1986788" y="929497"/>
                </a:cubicBezTo>
                <a:lnTo>
                  <a:pt x="1993630" y="914826"/>
                </a:lnTo>
                <a:lnTo>
                  <a:pt x="1993374" y="913942"/>
                </a:lnTo>
                <a:cubicBezTo>
                  <a:pt x="1988222" y="915987"/>
                  <a:pt x="1986985" y="913000"/>
                  <a:pt x="1983070" y="913000"/>
                </a:cubicBezTo>
                <a:close/>
                <a:moveTo>
                  <a:pt x="1874413" y="911645"/>
                </a:moveTo>
                <a:cubicBezTo>
                  <a:pt x="1871765" y="916764"/>
                  <a:pt x="1869118" y="921884"/>
                  <a:pt x="1862804" y="920764"/>
                </a:cubicBezTo>
                <a:cubicBezTo>
                  <a:pt x="1866674" y="916764"/>
                  <a:pt x="1869118" y="912764"/>
                  <a:pt x="1874413" y="911645"/>
                </a:cubicBezTo>
                <a:close/>
                <a:moveTo>
                  <a:pt x="3390652" y="910952"/>
                </a:moveTo>
                <a:cubicBezTo>
                  <a:pt x="3395894" y="911889"/>
                  <a:pt x="3390652" y="917826"/>
                  <a:pt x="3397363" y="917826"/>
                </a:cubicBezTo>
                <a:cubicBezTo>
                  <a:pt x="3395894" y="921887"/>
                  <a:pt x="3390652" y="921887"/>
                  <a:pt x="3383942" y="920794"/>
                </a:cubicBezTo>
                <a:cubicBezTo>
                  <a:pt x="3383942" y="915951"/>
                  <a:pt x="3386668" y="913920"/>
                  <a:pt x="3390652" y="910952"/>
                </a:cubicBezTo>
                <a:close/>
                <a:moveTo>
                  <a:pt x="1913406" y="909020"/>
                </a:moveTo>
                <a:lnTo>
                  <a:pt x="1920750" y="910769"/>
                </a:lnTo>
                <a:cubicBezTo>
                  <a:pt x="1918024" y="912824"/>
                  <a:pt x="1915298" y="917726"/>
                  <a:pt x="1912781" y="913773"/>
                </a:cubicBezTo>
                <a:lnTo>
                  <a:pt x="1912781" y="909223"/>
                </a:lnTo>
                <a:close/>
                <a:moveTo>
                  <a:pt x="2931518" y="908992"/>
                </a:moveTo>
                <a:lnTo>
                  <a:pt x="2931057" y="911551"/>
                </a:lnTo>
                <a:cubicBezTo>
                  <a:pt x="2930635" y="912502"/>
                  <a:pt x="2929837" y="913317"/>
                  <a:pt x="2928240" y="913828"/>
                </a:cubicBezTo>
                <a:cubicBezTo>
                  <a:pt x="2931434" y="915322"/>
                  <a:pt x="2934009" y="914103"/>
                  <a:pt x="2935478" y="911883"/>
                </a:cubicBezTo>
                <a:lnTo>
                  <a:pt x="2935668" y="909340"/>
                </a:lnTo>
                <a:lnTo>
                  <a:pt x="2935440" y="909321"/>
                </a:lnTo>
                <a:close/>
                <a:moveTo>
                  <a:pt x="1848550" y="906682"/>
                </a:moveTo>
                <a:lnTo>
                  <a:pt x="1847332" y="906863"/>
                </a:lnTo>
                <a:lnTo>
                  <a:pt x="1848636" y="911126"/>
                </a:lnTo>
                <a:lnTo>
                  <a:pt x="1848727" y="908755"/>
                </a:lnTo>
                <a:cubicBezTo>
                  <a:pt x="1848817" y="907891"/>
                  <a:pt x="1848863" y="907085"/>
                  <a:pt x="1848550" y="906682"/>
                </a:cubicBezTo>
                <a:close/>
                <a:moveTo>
                  <a:pt x="2079205" y="905855"/>
                </a:moveTo>
                <a:lnTo>
                  <a:pt x="2077792" y="906069"/>
                </a:lnTo>
                <a:lnTo>
                  <a:pt x="2081532" y="906842"/>
                </a:lnTo>
                <a:lnTo>
                  <a:pt x="2081583" y="906775"/>
                </a:lnTo>
                <a:close/>
                <a:moveTo>
                  <a:pt x="2011715" y="904982"/>
                </a:moveTo>
                <a:lnTo>
                  <a:pt x="2012123" y="905035"/>
                </a:lnTo>
                <a:lnTo>
                  <a:pt x="2011938" y="905194"/>
                </a:lnTo>
                <a:close/>
                <a:moveTo>
                  <a:pt x="2936070" y="903923"/>
                </a:moveTo>
                <a:cubicBezTo>
                  <a:pt x="2934113" y="904159"/>
                  <a:pt x="2933043" y="904768"/>
                  <a:pt x="2932442" y="905582"/>
                </a:cubicBezTo>
                <a:lnTo>
                  <a:pt x="2931851" y="907635"/>
                </a:lnTo>
                <a:lnTo>
                  <a:pt x="2934747" y="906099"/>
                </a:lnTo>
                <a:lnTo>
                  <a:pt x="2935968" y="905301"/>
                </a:lnTo>
                <a:close/>
                <a:moveTo>
                  <a:pt x="2017087" y="903841"/>
                </a:moveTo>
                <a:lnTo>
                  <a:pt x="2028615" y="907027"/>
                </a:lnTo>
                <a:cubicBezTo>
                  <a:pt x="2024699" y="908048"/>
                  <a:pt x="2022432" y="907066"/>
                  <a:pt x="2020165" y="906064"/>
                </a:cubicBezTo>
                <a:lnTo>
                  <a:pt x="2015437" y="905459"/>
                </a:lnTo>
                <a:lnTo>
                  <a:pt x="2015437" y="908529"/>
                </a:lnTo>
                <a:lnTo>
                  <a:pt x="2015680" y="908760"/>
                </a:lnTo>
                <a:cubicBezTo>
                  <a:pt x="2020461" y="910691"/>
                  <a:pt x="2027068" y="908244"/>
                  <a:pt x="2029851" y="911900"/>
                </a:cubicBezTo>
                <a:cubicBezTo>
                  <a:pt x="2026142" y="913000"/>
                  <a:pt x="2026142" y="916929"/>
                  <a:pt x="2023462" y="917873"/>
                </a:cubicBezTo>
                <a:cubicBezTo>
                  <a:pt x="2020784" y="915987"/>
                  <a:pt x="2020784" y="911900"/>
                  <a:pt x="2016868" y="910956"/>
                </a:cubicBezTo>
                <a:lnTo>
                  <a:pt x="2012099" y="917643"/>
                </a:lnTo>
                <a:lnTo>
                  <a:pt x="2013943" y="917450"/>
                </a:lnTo>
                <a:cubicBezTo>
                  <a:pt x="2019971" y="916330"/>
                  <a:pt x="2025845" y="915583"/>
                  <a:pt x="2028421" y="923522"/>
                </a:cubicBezTo>
                <a:cubicBezTo>
                  <a:pt x="2025948" y="917548"/>
                  <a:pt x="2036253" y="915661"/>
                  <a:pt x="2038933" y="906699"/>
                </a:cubicBezTo>
                <a:lnTo>
                  <a:pt x="2032153" y="905278"/>
                </a:lnTo>
                <a:lnTo>
                  <a:pt x="2029851" y="904982"/>
                </a:lnTo>
                <a:lnTo>
                  <a:pt x="2030090" y="904850"/>
                </a:lnTo>
                <a:close/>
                <a:moveTo>
                  <a:pt x="1989664" y="901054"/>
                </a:moveTo>
                <a:cubicBezTo>
                  <a:pt x="1989664" y="904982"/>
                  <a:pt x="1992138" y="904040"/>
                  <a:pt x="1990901" y="909070"/>
                </a:cubicBezTo>
                <a:cubicBezTo>
                  <a:pt x="1992138" y="909070"/>
                  <a:pt x="1994816" y="910013"/>
                  <a:pt x="1994816" y="907969"/>
                </a:cubicBezTo>
                <a:cubicBezTo>
                  <a:pt x="1993374" y="906083"/>
                  <a:pt x="1993374" y="901054"/>
                  <a:pt x="1989664" y="901054"/>
                </a:cubicBezTo>
                <a:close/>
                <a:moveTo>
                  <a:pt x="2000920" y="900932"/>
                </a:moveTo>
                <a:lnTo>
                  <a:pt x="2001129" y="902441"/>
                </a:lnTo>
                <a:lnTo>
                  <a:pt x="2001282" y="901564"/>
                </a:lnTo>
                <a:close/>
                <a:moveTo>
                  <a:pt x="1974001" y="900110"/>
                </a:moveTo>
                <a:cubicBezTo>
                  <a:pt x="1977917" y="906083"/>
                  <a:pt x="1974001" y="910956"/>
                  <a:pt x="1972559" y="914886"/>
                </a:cubicBezTo>
                <a:lnTo>
                  <a:pt x="1966053" y="912338"/>
                </a:lnTo>
                <a:lnTo>
                  <a:pt x="1965813" y="912479"/>
                </a:lnTo>
                <a:lnTo>
                  <a:pt x="1963035" y="911816"/>
                </a:lnTo>
                <a:lnTo>
                  <a:pt x="1961662" y="911769"/>
                </a:lnTo>
                <a:cubicBezTo>
                  <a:pt x="1960413" y="912056"/>
                  <a:pt x="1958906" y="912725"/>
                  <a:pt x="1956897" y="913942"/>
                </a:cubicBezTo>
                <a:cubicBezTo>
                  <a:pt x="1958958" y="911978"/>
                  <a:pt x="1959318" y="910760"/>
                  <a:pt x="1959164" y="909522"/>
                </a:cubicBezTo>
                <a:lnTo>
                  <a:pt x="1958374" y="905175"/>
                </a:lnTo>
                <a:lnTo>
                  <a:pt x="1958453" y="905068"/>
                </a:lnTo>
                <a:lnTo>
                  <a:pt x="1961946" y="907655"/>
                </a:lnTo>
                <a:lnTo>
                  <a:pt x="1963087" y="907721"/>
                </a:lnTo>
                <a:lnTo>
                  <a:pt x="1964873" y="904727"/>
                </a:lnTo>
                <a:lnTo>
                  <a:pt x="1963552" y="903038"/>
                </a:lnTo>
                <a:cubicBezTo>
                  <a:pt x="1962055" y="902586"/>
                  <a:pt x="1960439" y="903175"/>
                  <a:pt x="1958983" y="904355"/>
                </a:cubicBezTo>
                <a:lnTo>
                  <a:pt x="1958453" y="905068"/>
                </a:lnTo>
                <a:lnTo>
                  <a:pt x="1958339" y="904982"/>
                </a:lnTo>
                <a:lnTo>
                  <a:pt x="1958374" y="905175"/>
                </a:lnTo>
                <a:lnTo>
                  <a:pt x="1955379" y="909207"/>
                </a:lnTo>
                <a:cubicBezTo>
                  <a:pt x="1954527" y="911113"/>
                  <a:pt x="1954115" y="913156"/>
                  <a:pt x="1954424" y="914886"/>
                </a:cubicBezTo>
                <a:cubicBezTo>
                  <a:pt x="1949272" y="914886"/>
                  <a:pt x="1950508" y="909070"/>
                  <a:pt x="1943914" y="910956"/>
                </a:cubicBezTo>
                <a:cubicBezTo>
                  <a:pt x="1942676" y="913942"/>
                  <a:pt x="1945356" y="920859"/>
                  <a:pt x="1941440" y="920859"/>
                </a:cubicBezTo>
                <a:cubicBezTo>
                  <a:pt x="1941440" y="914886"/>
                  <a:pt x="1942676" y="910013"/>
                  <a:pt x="1945356" y="904982"/>
                </a:cubicBezTo>
                <a:cubicBezTo>
                  <a:pt x="1937525" y="903096"/>
                  <a:pt x="1937525" y="910956"/>
                  <a:pt x="1932372" y="910956"/>
                </a:cubicBezTo>
                <a:cubicBezTo>
                  <a:pt x="1933609" y="909070"/>
                  <a:pt x="1934845" y="907027"/>
                  <a:pt x="1930930" y="907027"/>
                </a:cubicBezTo>
                <a:cubicBezTo>
                  <a:pt x="1927014" y="907027"/>
                  <a:pt x="1934845" y="911900"/>
                  <a:pt x="1929694" y="913000"/>
                </a:cubicBezTo>
                <a:cubicBezTo>
                  <a:pt x="1925778" y="911507"/>
                  <a:pt x="1921862" y="908756"/>
                  <a:pt x="1918101" y="907498"/>
                </a:cubicBezTo>
                <a:lnTo>
                  <a:pt x="1913406" y="909020"/>
                </a:lnTo>
                <a:lnTo>
                  <a:pt x="1912781" y="908872"/>
                </a:lnTo>
                <a:lnTo>
                  <a:pt x="1912781" y="909223"/>
                </a:lnTo>
                <a:lnTo>
                  <a:pt x="1907436" y="910956"/>
                </a:lnTo>
                <a:cubicBezTo>
                  <a:pt x="1907436" y="906083"/>
                  <a:pt x="1904963" y="904982"/>
                  <a:pt x="1898368" y="906083"/>
                </a:cubicBezTo>
                <a:cubicBezTo>
                  <a:pt x="1899605" y="910956"/>
                  <a:pt x="1898368" y="911900"/>
                  <a:pt x="1894453" y="913942"/>
                </a:cubicBezTo>
                <a:cubicBezTo>
                  <a:pt x="1888064" y="907969"/>
                  <a:pt x="1856738" y="909070"/>
                  <a:pt x="1850144" y="911900"/>
                </a:cubicBezTo>
                <a:lnTo>
                  <a:pt x="1848657" y="911193"/>
                </a:lnTo>
                <a:lnTo>
                  <a:pt x="1849875" y="915174"/>
                </a:lnTo>
                <a:cubicBezTo>
                  <a:pt x="1848632" y="918183"/>
                  <a:pt x="1844694" y="918183"/>
                  <a:pt x="1843450" y="921192"/>
                </a:cubicBezTo>
                <a:cubicBezTo>
                  <a:pt x="1843450" y="920242"/>
                  <a:pt x="1843450" y="917985"/>
                  <a:pt x="1842130" y="915966"/>
                </a:cubicBezTo>
                <a:lnTo>
                  <a:pt x="1833417" y="912385"/>
                </a:lnTo>
                <a:lnTo>
                  <a:pt x="1832653" y="912705"/>
                </a:lnTo>
                <a:lnTo>
                  <a:pt x="1832128" y="912789"/>
                </a:lnTo>
                <a:lnTo>
                  <a:pt x="1830394" y="914224"/>
                </a:lnTo>
                <a:lnTo>
                  <a:pt x="1830189" y="913098"/>
                </a:lnTo>
                <a:lnTo>
                  <a:pt x="1826551" y="913680"/>
                </a:lnTo>
                <a:cubicBezTo>
                  <a:pt x="1824847" y="913491"/>
                  <a:pt x="1823559" y="912685"/>
                  <a:pt x="1822941" y="910956"/>
                </a:cubicBezTo>
                <a:cubicBezTo>
                  <a:pt x="1826857" y="910956"/>
                  <a:pt x="1829330" y="911900"/>
                  <a:pt x="1830773" y="907969"/>
                </a:cubicBezTo>
                <a:cubicBezTo>
                  <a:pt x="1825414" y="906083"/>
                  <a:pt x="1821499" y="909070"/>
                  <a:pt x="1817582" y="909070"/>
                </a:cubicBezTo>
                <a:cubicBezTo>
                  <a:pt x="1817582" y="914886"/>
                  <a:pt x="1811194" y="920859"/>
                  <a:pt x="1809752" y="914886"/>
                </a:cubicBezTo>
                <a:cubicBezTo>
                  <a:pt x="1812430" y="914886"/>
                  <a:pt x="1815110" y="915987"/>
                  <a:pt x="1815110" y="911900"/>
                </a:cubicBezTo>
                <a:cubicBezTo>
                  <a:pt x="1815110" y="911900"/>
                  <a:pt x="1815110" y="911900"/>
                  <a:pt x="1815110" y="909070"/>
                </a:cubicBezTo>
                <a:cubicBezTo>
                  <a:pt x="1805835" y="904982"/>
                  <a:pt x="1792853" y="914886"/>
                  <a:pt x="1777396" y="910956"/>
                </a:cubicBezTo>
                <a:cubicBezTo>
                  <a:pt x="1777396" y="916929"/>
                  <a:pt x="1786463" y="914886"/>
                  <a:pt x="1785021" y="922902"/>
                </a:cubicBezTo>
                <a:cubicBezTo>
                  <a:pt x="1773480" y="920388"/>
                  <a:pt x="1764104" y="919405"/>
                  <a:pt x="1754521" y="920034"/>
                </a:cubicBezTo>
                <a:lnTo>
                  <a:pt x="1722864" y="926815"/>
                </a:lnTo>
                <a:lnTo>
                  <a:pt x="1722872" y="926847"/>
                </a:lnTo>
                <a:lnTo>
                  <a:pt x="1734350" y="928699"/>
                </a:lnTo>
                <a:cubicBezTo>
                  <a:pt x="1737467" y="929584"/>
                  <a:pt x="1739786" y="930841"/>
                  <a:pt x="1741125" y="932806"/>
                </a:cubicBezTo>
                <a:cubicBezTo>
                  <a:pt x="1735870" y="932806"/>
                  <a:pt x="1731955" y="931823"/>
                  <a:pt x="1728193" y="930703"/>
                </a:cubicBezTo>
                <a:lnTo>
                  <a:pt x="1723536" y="929568"/>
                </a:lnTo>
                <a:lnTo>
                  <a:pt x="1725036" y="935712"/>
                </a:lnTo>
                <a:lnTo>
                  <a:pt x="1726466" y="935683"/>
                </a:lnTo>
                <a:lnTo>
                  <a:pt x="1725153" y="936191"/>
                </a:lnTo>
                <a:lnTo>
                  <a:pt x="1725246" y="936572"/>
                </a:lnTo>
                <a:lnTo>
                  <a:pt x="1722193" y="939775"/>
                </a:lnTo>
                <a:lnTo>
                  <a:pt x="1726803" y="940098"/>
                </a:lnTo>
                <a:cubicBezTo>
                  <a:pt x="1731295" y="939102"/>
                  <a:pt x="1730020" y="934504"/>
                  <a:pt x="1736975" y="933796"/>
                </a:cubicBezTo>
                <a:cubicBezTo>
                  <a:pt x="1736975" y="933796"/>
                  <a:pt x="1736975" y="933796"/>
                  <a:pt x="1744805" y="938670"/>
                </a:cubicBezTo>
                <a:lnTo>
                  <a:pt x="1749946" y="938268"/>
                </a:lnTo>
                <a:lnTo>
                  <a:pt x="1750431" y="937934"/>
                </a:lnTo>
                <a:cubicBezTo>
                  <a:pt x="1751631" y="937456"/>
                  <a:pt x="1752633" y="937425"/>
                  <a:pt x="1753442" y="937732"/>
                </a:cubicBezTo>
                <a:lnTo>
                  <a:pt x="1753547" y="937985"/>
                </a:lnTo>
                <a:lnTo>
                  <a:pt x="1807037" y="933796"/>
                </a:lnTo>
                <a:lnTo>
                  <a:pt x="1856310" y="930437"/>
                </a:lnTo>
                <a:lnTo>
                  <a:pt x="1855123" y="927604"/>
                </a:lnTo>
                <a:cubicBezTo>
                  <a:pt x="1854647" y="926344"/>
                  <a:pt x="1853994" y="925857"/>
                  <a:pt x="1852690" y="928944"/>
                </a:cubicBezTo>
                <a:cubicBezTo>
                  <a:pt x="1850082" y="927807"/>
                  <a:pt x="1853894" y="926831"/>
                  <a:pt x="1853894" y="923745"/>
                </a:cubicBezTo>
                <a:cubicBezTo>
                  <a:pt x="1856503" y="924882"/>
                  <a:pt x="1859110" y="922770"/>
                  <a:pt x="1856503" y="921795"/>
                </a:cubicBezTo>
                <a:cubicBezTo>
                  <a:pt x="1860314" y="921226"/>
                  <a:pt x="1862520" y="922241"/>
                  <a:pt x="1862671" y="924029"/>
                </a:cubicBezTo>
                <a:lnTo>
                  <a:pt x="1856952" y="930393"/>
                </a:lnTo>
                <a:lnTo>
                  <a:pt x="1867003" y="929708"/>
                </a:lnTo>
                <a:cubicBezTo>
                  <a:pt x="1865560" y="931752"/>
                  <a:pt x="1864324" y="934739"/>
                  <a:pt x="1868239" y="933796"/>
                </a:cubicBezTo>
                <a:cubicBezTo>
                  <a:pt x="1868239" y="933796"/>
                  <a:pt x="1868239" y="933796"/>
                  <a:pt x="1877306" y="929708"/>
                </a:cubicBezTo>
                <a:lnTo>
                  <a:pt x="1907872" y="931792"/>
                </a:lnTo>
                <a:lnTo>
                  <a:pt x="1909150" y="929482"/>
                </a:lnTo>
                <a:cubicBezTo>
                  <a:pt x="1908650" y="928662"/>
                  <a:pt x="1906924" y="927964"/>
                  <a:pt x="1903318" y="927453"/>
                </a:cubicBezTo>
                <a:cubicBezTo>
                  <a:pt x="1907955" y="925016"/>
                  <a:pt x="1913828" y="925763"/>
                  <a:pt x="1918389" y="928494"/>
                </a:cubicBezTo>
                <a:lnTo>
                  <a:pt x="1920704" y="932667"/>
                </a:lnTo>
                <a:lnTo>
                  <a:pt x="1937271" y="933796"/>
                </a:lnTo>
                <a:cubicBezTo>
                  <a:pt x="1937271" y="933796"/>
                  <a:pt x="1937271" y="933796"/>
                  <a:pt x="1950485" y="934194"/>
                </a:cubicBezTo>
                <a:lnTo>
                  <a:pt x="1961011" y="934511"/>
                </a:lnTo>
                <a:lnTo>
                  <a:pt x="1960820" y="932484"/>
                </a:lnTo>
                <a:cubicBezTo>
                  <a:pt x="1962778" y="932248"/>
                  <a:pt x="1963911" y="932690"/>
                  <a:pt x="1964594" y="933519"/>
                </a:cubicBezTo>
                <a:lnTo>
                  <a:pt x="1964949" y="934630"/>
                </a:lnTo>
                <a:lnTo>
                  <a:pt x="1968592" y="934739"/>
                </a:lnTo>
                <a:cubicBezTo>
                  <a:pt x="1968592" y="934739"/>
                  <a:pt x="1968592" y="934739"/>
                  <a:pt x="1970859" y="934739"/>
                </a:cubicBezTo>
                <a:lnTo>
                  <a:pt x="1975448" y="934739"/>
                </a:lnTo>
                <a:lnTo>
                  <a:pt x="1971805" y="933675"/>
                </a:lnTo>
                <a:cubicBezTo>
                  <a:pt x="1970622" y="932602"/>
                  <a:pt x="1969889" y="930715"/>
                  <a:pt x="1969889" y="927453"/>
                </a:cubicBezTo>
                <a:cubicBezTo>
                  <a:pt x="1980193" y="932484"/>
                  <a:pt x="1977720" y="921636"/>
                  <a:pt x="1976278" y="918649"/>
                </a:cubicBezTo>
                <a:cubicBezTo>
                  <a:pt x="1976278" y="915661"/>
                  <a:pt x="1978957" y="916605"/>
                  <a:pt x="1978957" y="918649"/>
                </a:cubicBezTo>
                <a:lnTo>
                  <a:pt x="1980940" y="916437"/>
                </a:lnTo>
                <a:lnTo>
                  <a:pt x="1978948" y="913235"/>
                </a:lnTo>
                <a:cubicBezTo>
                  <a:pt x="1978124" y="911506"/>
                  <a:pt x="1977814" y="910013"/>
                  <a:pt x="1979154" y="910013"/>
                </a:cubicBezTo>
                <a:cubicBezTo>
                  <a:pt x="1983070" y="910013"/>
                  <a:pt x="1986985" y="910013"/>
                  <a:pt x="1988222" y="906083"/>
                </a:cubicBezTo>
                <a:cubicBezTo>
                  <a:pt x="1984306" y="903096"/>
                  <a:pt x="1977917" y="901996"/>
                  <a:pt x="1974001" y="900110"/>
                </a:cubicBezTo>
                <a:close/>
                <a:moveTo>
                  <a:pt x="2899596" y="898892"/>
                </a:moveTo>
                <a:cubicBezTo>
                  <a:pt x="2895681" y="900936"/>
                  <a:pt x="2893002" y="904867"/>
                  <a:pt x="2895681" y="909898"/>
                </a:cubicBezTo>
                <a:cubicBezTo>
                  <a:pt x="2896917" y="907854"/>
                  <a:pt x="2898154" y="906910"/>
                  <a:pt x="2898154" y="904867"/>
                </a:cubicBezTo>
                <a:cubicBezTo>
                  <a:pt x="2899596" y="903923"/>
                  <a:pt x="2899596" y="904867"/>
                  <a:pt x="2900833" y="905967"/>
                </a:cubicBezTo>
                <a:cubicBezTo>
                  <a:pt x="2903512" y="904867"/>
                  <a:pt x="2900833" y="901879"/>
                  <a:pt x="2899596" y="898892"/>
                </a:cubicBezTo>
                <a:close/>
                <a:moveTo>
                  <a:pt x="2014891" y="897364"/>
                </a:moveTo>
                <a:lnTo>
                  <a:pt x="2005121" y="901996"/>
                </a:lnTo>
                <a:cubicBezTo>
                  <a:pt x="2007800" y="901996"/>
                  <a:pt x="2007800" y="903096"/>
                  <a:pt x="2009037" y="904982"/>
                </a:cubicBezTo>
                <a:cubicBezTo>
                  <a:pt x="2003884" y="904511"/>
                  <a:pt x="2002287" y="907262"/>
                  <a:pt x="2000818" y="910741"/>
                </a:cubicBezTo>
                <a:lnTo>
                  <a:pt x="1998645" y="913695"/>
                </a:lnTo>
                <a:lnTo>
                  <a:pt x="2002386" y="916373"/>
                </a:lnTo>
                <a:lnTo>
                  <a:pt x="2006770" y="909605"/>
                </a:lnTo>
                <a:lnTo>
                  <a:pt x="2011938" y="905194"/>
                </a:lnTo>
                <a:lnTo>
                  <a:pt x="2014286" y="907432"/>
                </a:lnTo>
                <a:lnTo>
                  <a:pt x="2013205" y="906201"/>
                </a:lnTo>
                <a:lnTo>
                  <a:pt x="2013500" y="905211"/>
                </a:lnTo>
                <a:lnTo>
                  <a:pt x="2012123" y="905035"/>
                </a:lnTo>
                <a:lnTo>
                  <a:pt x="2014039" y="903400"/>
                </a:lnTo>
                <a:lnTo>
                  <a:pt x="2014432" y="902081"/>
                </a:lnTo>
                <a:close/>
                <a:moveTo>
                  <a:pt x="2594825" y="895905"/>
                </a:moveTo>
                <a:cubicBezTo>
                  <a:pt x="2589673" y="895905"/>
                  <a:pt x="2583080" y="897006"/>
                  <a:pt x="2583080" y="900936"/>
                </a:cubicBezTo>
                <a:cubicBezTo>
                  <a:pt x="2592147" y="904867"/>
                  <a:pt x="2584316" y="903923"/>
                  <a:pt x="2586995" y="908954"/>
                </a:cubicBezTo>
                <a:cubicBezTo>
                  <a:pt x="2588953" y="910173"/>
                  <a:pt x="2590254" y="910714"/>
                  <a:pt x="2591188" y="910839"/>
                </a:cubicBezTo>
                <a:lnTo>
                  <a:pt x="2593104" y="910254"/>
                </a:lnTo>
                <a:lnTo>
                  <a:pt x="2596627" y="907210"/>
                </a:lnTo>
                <a:lnTo>
                  <a:pt x="2592147" y="903923"/>
                </a:lnTo>
                <a:cubicBezTo>
                  <a:pt x="2593589" y="902980"/>
                  <a:pt x="2597504" y="903923"/>
                  <a:pt x="2598740" y="904867"/>
                </a:cubicBezTo>
                <a:cubicBezTo>
                  <a:pt x="2594825" y="897949"/>
                  <a:pt x="2597504" y="899993"/>
                  <a:pt x="2594825" y="895905"/>
                </a:cubicBezTo>
                <a:close/>
                <a:moveTo>
                  <a:pt x="2063844" y="895725"/>
                </a:moveTo>
                <a:lnTo>
                  <a:pt x="2061263" y="897059"/>
                </a:lnTo>
                <a:lnTo>
                  <a:pt x="2059285" y="900981"/>
                </a:lnTo>
                <a:cubicBezTo>
                  <a:pt x="2058770" y="903713"/>
                  <a:pt x="2058409" y="906700"/>
                  <a:pt x="2057069" y="908744"/>
                </a:cubicBezTo>
                <a:lnTo>
                  <a:pt x="2058768" y="908473"/>
                </a:lnTo>
                <a:lnTo>
                  <a:pt x="2063495" y="904197"/>
                </a:lnTo>
                <a:lnTo>
                  <a:pt x="2064857" y="896421"/>
                </a:lnTo>
                <a:close/>
                <a:moveTo>
                  <a:pt x="2018658" y="895578"/>
                </a:moveTo>
                <a:lnTo>
                  <a:pt x="2016316" y="896689"/>
                </a:lnTo>
                <a:lnTo>
                  <a:pt x="2018251" y="898812"/>
                </a:lnTo>
                <a:cubicBezTo>
                  <a:pt x="2023295" y="901236"/>
                  <a:pt x="2033265" y="892982"/>
                  <a:pt x="2032337" y="902769"/>
                </a:cubicBezTo>
                <a:lnTo>
                  <a:pt x="2035224" y="901982"/>
                </a:lnTo>
                <a:lnTo>
                  <a:pt x="2037118" y="900923"/>
                </a:lnTo>
                <a:lnTo>
                  <a:pt x="2039233" y="900888"/>
                </a:lnTo>
                <a:lnTo>
                  <a:pt x="2042565" y="899978"/>
                </a:lnTo>
                <a:lnTo>
                  <a:pt x="2044700" y="897123"/>
                </a:lnTo>
                <a:lnTo>
                  <a:pt x="2032736" y="896043"/>
                </a:lnTo>
                <a:cubicBezTo>
                  <a:pt x="2028099" y="895424"/>
                  <a:pt x="2023333" y="894928"/>
                  <a:pt x="2018658" y="895578"/>
                </a:cubicBezTo>
                <a:close/>
                <a:moveTo>
                  <a:pt x="3388803" y="895006"/>
                </a:moveTo>
                <a:cubicBezTo>
                  <a:pt x="3395251" y="895006"/>
                  <a:pt x="3396707" y="898978"/>
                  <a:pt x="3401908" y="900090"/>
                </a:cubicBezTo>
                <a:cubicBezTo>
                  <a:pt x="3400660" y="905015"/>
                  <a:pt x="3395251" y="906127"/>
                  <a:pt x="3392755" y="910099"/>
                </a:cubicBezTo>
                <a:cubicBezTo>
                  <a:pt x="3384850" y="907081"/>
                  <a:pt x="3390050" y="906127"/>
                  <a:pt x="3392755" y="901043"/>
                </a:cubicBezTo>
                <a:cubicBezTo>
                  <a:pt x="3391299" y="898978"/>
                  <a:pt x="3386098" y="898978"/>
                  <a:pt x="3388803" y="895006"/>
                </a:cubicBezTo>
                <a:close/>
                <a:moveTo>
                  <a:pt x="2211000" y="892094"/>
                </a:moveTo>
                <a:cubicBezTo>
                  <a:pt x="2196574" y="896023"/>
                  <a:pt x="2183591" y="894137"/>
                  <a:pt x="2170608" y="901996"/>
                </a:cubicBezTo>
                <a:cubicBezTo>
                  <a:pt x="2170608" y="901996"/>
                  <a:pt x="2170608" y="901996"/>
                  <a:pt x="2170608" y="897123"/>
                </a:cubicBezTo>
                <a:cubicBezTo>
                  <a:pt x="2160097" y="899009"/>
                  <a:pt x="2149793" y="900110"/>
                  <a:pt x="2140725" y="901054"/>
                </a:cubicBezTo>
                <a:cubicBezTo>
                  <a:pt x="2130215" y="901054"/>
                  <a:pt x="2119910" y="900110"/>
                  <a:pt x="2109400" y="897123"/>
                </a:cubicBezTo>
                <a:cubicBezTo>
                  <a:pt x="2108164" y="904040"/>
                  <a:pt x="2102805" y="899009"/>
                  <a:pt x="2100332" y="896023"/>
                </a:cubicBezTo>
                <a:cubicBezTo>
                  <a:pt x="2098890" y="900110"/>
                  <a:pt x="2092501" y="898067"/>
                  <a:pt x="2091059" y="901996"/>
                </a:cubicBezTo>
                <a:cubicBezTo>
                  <a:pt x="2092501" y="901996"/>
                  <a:pt x="2093738" y="901996"/>
                  <a:pt x="2094974" y="904040"/>
                </a:cubicBezTo>
                <a:cubicBezTo>
                  <a:pt x="2093738" y="905062"/>
                  <a:pt x="2092449" y="903804"/>
                  <a:pt x="2091316" y="902920"/>
                </a:cubicBezTo>
                <a:lnTo>
                  <a:pt x="2090884" y="902722"/>
                </a:lnTo>
                <a:lnTo>
                  <a:pt x="2091475" y="905714"/>
                </a:lnTo>
                <a:lnTo>
                  <a:pt x="2093738" y="907027"/>
                </a:lnTo>
                <a:lnTo>
                  <a:pt x="2091718" y="906946"/>
                </a:lnTo>
                <a:lnTo>
                  <a:pt x="2091944" y="908092"/>
                </a:lnTo>
                <a:cubicBezTo>
                  <a:pt x="2091475" y="909341"/>
                  <a:pt x="2090174" y="910333"/>
                  <a:pt x="2088196" y="912872"/>
                </a:cubicBezTo>
                <a:cubicBezTo>
                  <a:pt x="2086738" y="907794"/>
                  <a:pt x="2077575" y="909857"/>
                  <a:pt x="2073619" y="907794"/>
                </a:cubicBezTo>
                <a:lnTo>
                  <a:pt x="2075810" y="906369"/>
                </a:lnTo>
                <a:lnTo>
                  <a:pt x="2073412" y="906732"/>
                </a:lnTo>
                <a:cubicBezTo>
                  <a:pt x="2071545" y="907232"/>
                  <a:pt x="2069799" y="907798"/>
                  <a:pt x="2068354" y="907991"/>
                </a:cubicBezTo>
                <a:lnTo>
                  <a:pt x="2066057" y="907312"/>
                </a:lnTo>
                <a:lnTo>
                  <a:pt x="2064907" y="908812"/>
                </a:lnTo>
                <a:lnTo>
                  <a:pt x="2064474" y="913000"/>
                </a:lnTo>
                <a:lnTo>
                  <a:pt x="2064438" y="913338"/>
                </a:lnTo>
                <a:lnTo>
                  <a:pt x="2065081" y="916762"/>
                </a:lnTo>
                <a:lnTo>
                  <a:pt x="2067504" y="924249"/>
                </a:lnTo>
                <a:lnTo>
                  <a:pt x="2073070" y="922825"/>
                </a:lnTo>
                <a:lnTo>
                  <a:pt x="2073090" y="922446"/>
                </a:lnTo>
                <a:lnTo>
                  <a:pt x="2076420" y="918892"/>
                </a:lnTo>
                <a:lnTo>
                  <a:pt x="2094605" y="916310"/>
                </a:lnTo>
                <a:cubicBezTo>
                  <a:pt x="2103390" y="915307"/>
                  <a:pt x="2112511" y="914560"/>
                  <a:pt x="2119724" y="914560"/>
                </a:cubicBezTo>
                <a:lnTo>
                  <a:pt x="2121265" y="918296"/>
                </a:lnTo>
                <a:lnTo>
                  <a:pt x="2124668" y="917626"/>
                </a:lnTo>
                <a:lnTo>
                  <a:pt x="2122197" y="914560"/>
                </a:lnTo>
                <a:cubicBezTo>
                  <a:pt x="2122815" y="911652"/>
                  <a:pt x="2124104" y="912910"/>
                  <a:pt x="2125572" y="915013"/>
                </a:cubicBezTo>
                <a:lnTo>
                  <a:pt x="2127023" y="917162"/>
                </a:lnTo>
                <a:lnTo>
                  <a:pt x="2131934" y="916195"/>
                </a:lnTo>
                <a:cubicBezTo>
                  <a:pt x="2136887" y="914189"/>
                  <a:pt x="2141189" y="911035"/>
                  <a:pt x="2144435" y="906083"/>
                </a:cubicBezTo>
                <a:cubicBezTo>
                  <a:pt x="2148350" y="907969"/>
                  <a:pt x="2151030" y="904982"/>
                  <a:pt x="2152266" y="907027"/>
                </a:cubicBezTo>
                <a:cubicBezTo>
                  <a:pt x="2151030" y="910956"/>
                  <a:pt x="2141961" y="907027"/>
                  <a:pt x="2144435" y="913000"/>
                </a:cubicBezTo>
                <a:cubicBezTo>
                  <a:pt x="2153708" y="914886"/>
                  <a:pt x="2160097" y="907027"/>
                  <a:pt x="2167928" y="904040"/>
                </a:cubicBezTo>
                <a:cubicBezTo>
                  <a:pt x="2183591" y="900110"/>
                  <a:pt x="2203169" y="907027"/>
                  <a:pt x="2211000" y="892094"/>
                </a:cubicBezTo>
                <a:close/>
                <a:moveTo>
                  <a:pt x="2894239" y="891974"/>
                </a:moveTo>
                <a:cubicBezTo>
                  <a:pt x="2889087" y="891974"/>
                  <a:pt x="2891765" y="895905"/>
                  <a:pt x="2887851" y="897006"/>
                </a:cubicBezTo>
                <a:cubicBezTo>
                  <a:pt x="2891765" y="900936"/>
                  <a:pt x="2891765" y="897949"/>
                  <a:pt x="2896917" y="897006"/>
                </a:cubicBezTo>
                <a:close/>
                <a:moveTo>
                  <a:pt x="2630761" y="891447"/>
                </a:moveTo>
                <a:lnTo>
                  <a:pt x="2618317" y="898892"/>
                </a:lnTo>
                <a:lnTo>
                  <a:pt x="2618290" y="898914"/>
                </a:lnTo>
                <a:lnTo>
                  <a:pt x="2630127" y="891956"/>
                </a:lnTo>
                <a:close/>
                <a:moveTo>
                  <a:pt x="2961873" y="890846"/>
                </a:moveTo>
                <a:cubicBezTo>
                  <a:pt x="2965743" y="893946"/>
                  <a:pt x="2958004" y="899003"/>
                  <a:pt x="2954134" y="894925"/>
                </a:cubicBezTo>
                <a:cubicBezTo>
                  <a:pt x="2956782" y="894925"/>
                  <a:pt x="2955356" y="892804"/>
                  <a:pt x="2954134" y="891825"/>
                </a:cubicBezTo>
                <a:cubicBezTo>
                  <a:pt x="2954134" y="891825"/>
                  <a:pt x="2954134" y="891825"/>
                  <a:pt x="2961873" y="890846"/>
                </a:cubicBezTo>
                <a:close/>
                <a:moveTo>
                  <a:pt x="3501113" y="889271"/>
                </a:moveTo>
                <a:cubicBezTo>
                  <a:pt x="3502656" y="889100"/>
                  <a:pt x="3502393" y="892525"/>
                  <a:pt x="3501339" y="894790"/>
                </a:cubicBezTo>
                <a:cubicBezTo>
                  <a:pt x="3508963" y="895743"/>
                  <a:pt x="3507759" y="891771"/>
                  <a:pt x="3512775" y="895743"/>
                </a:cubicBezTo>
                <a:cubicBezTo>
                  <a:pt x="3508963" y="898761"/>
                  <a:pt x="3506555" y="901780"/>
                  <a:pt x="3500135" y="900827"/>
                </a:cubicBezTo>
                <a:cubicBezTo>
                  <a:pt x="3497528" y="895743"/>
                  <a:pt x="3501339" y="896855"/>
                  <a:pt x="3498932" y="890818"/>
                </a:cubicBezTo>
                <a:cubicBezTo>
                  <a:pt x="3499885" y="889785"/>
                  <a:pt x="3500600" y="889329"/>
                  <a:pt x="3501113" y="889271"/>
                </a:cubicBezTo>
                <a:close/>
                <a:moveTo>
                  <a:pt x="3264494" y="885849"/>
                </a:moveTo>
                <a:lnTo>
                  <a:pt x="3261006" y="887095"/>
                </a:lnTo>
                <a:lnTo>
                  <a:pt x="3260437" y="889302"/>
                </a:lnTo>
                <a:lnTo>
                  <a:pt x="3259237" y="887727"/>
                </a:lnTo>
                <a:lnTo>
                  <a:pt x="3249752" y="891115"/>
                </a:lnTo>
                <a:cubicBezTo>
                  <a:pt x="3233475" y="899525"/>
                  <a:pt x="3216220" y="906954"/>
                  <a:pt x="3198631" y="913910"/>
                </a:cubicBezTo>
                <a:lnTo>
                  <a:pt x="3197209" y="914444"/>
                </a:lnTo>
                <a:lnTo>
                  <a:pt x="3197773" y="914772"/>
                </a:lnTo>
                <a:lnTo>
                  <a:pt x="3196780" y="914606"/>
                </a:lnTo>
                <a:lnTo>
                  <a:pt x="3168685" y="925163"/>
                </a:lnTo>
                <a:lnTo>
                  <a:pt x="3167894" y="927664"/>
                </a:lnTo>
                <a:cubicBezTo>
                  <a:pt x="3173045" y="924834"/>
                  <a:pt x="3173045" y="928765"/>
                  <a:pt x="3175518" y="924834"/>
                </a:cubicBezTo>
                <a:cubicBezTo>
                  <a:pt x="3179433" y="936783"/>
                  <a:pt x="3167894" y="940714"/>
                  <a:pt x="3165215" y="954550"/>
                </a:cubicBezTo>
                <a:cubicBezTo>
                  <a:pt x="3150790" y="956593"/>
                  <a:pt x="3153469" y="973416"/>
                  <a:pt x="3133893" y="977504"/>
                </a:cubicBezTo>
                <a:cubicBezTo>
                  <a:pt x="3135233" y="979941"/>
                  <a:pt x="3133636" y="981396"/>
                  <a:pt x="3132194" y="982987"/>
                </a:cubicBezTo>
                <a:lnTo>
                  <a:pt x="3131285" y="984427"/>
                </a:lnTo>
                <a:lnTo>
                  <a:pt x="3131285" y="988732"/>
                </a:lnTo>
                <a:lnTo>
                  <a:pt x="3131421" y="989296"/>
                </a:lnTo>
                <a:cubicBezTo>
                  <a:pt x="3133893" y="988352"/>
                  <a:pt x="3137808" y="987409"/>
                  <a:pt x="3139045" y="989296"/>
                </a:cubicBezTo>
                <a:cubicBezTo>
                  <a:pt x="3135490" y="990043"/>
                  <a:pt x="3133146" y="991537"/>
                  <a:pt x="3131407" y="993465"/>
                </a:cubicBezTo>
                <a:lnTo>
                  <a:pt x="3131285" y="993674"/>
                </a:lnTo>
                <a:lnTo>
                  <a:pt x="3131285" y="1007292"/>
                </a:lnTo>
                <a:lnTo>
                  <a:pt x="3131840" y="1012516"/>
                </a:lnTo>
                <a:lnTo>
                  <a:pt x="3137310" y="1014063"/>
                </a:lnTo>
                <a:cubicBezTo>
                  <a:pt x="3142463" y="1011050"/>
                  <a:pt x="3150297" y="998996"/>
                  <a:pt x="3155656" y="1001058"/>
                </a:cubicBezTo>
                <a:cubicBezTo>
                  <a:pt x="3150297" y="1004071"/>
                  <a:pt x="3150297" y="1006133"/>
                  <a:pt x="3152976" y="1007085"/>
                </a:cubicBezTo>
                <a:lnTo>
                  <a:pt x="3149745" y="1009589"/>
                </a:lnTo>
                <a:lnTo>
                  <a:pt x="3153927" y="1011929"/>
                </a:lnTo>
                <a:cubicBezTo>
                  <a:pt x="3154766" y="1012669"/>
                  <a:pt x="3155002" y="1013347"/>
                  <a:pt x="3154836" y="1014090"/>
                </a:cubicBezTo>
                <a:lnTo>
                  <a:pt x="3151005" y="1019765"/>
                </a:lnTo>
                <a:lnTo>
                  <a:pt x="3152233" y="1019168"/>
                </a:lnTo>
                <a:cubicBezTo>
                  <a:pt x="3153469" y="1022156"/>
                  <a:pt x="3149554" y="1025143"/>
                  <a:pt x="3153469" y="1025143"/>
                </a:cubicBezTo>
                <a:cubicBezTo>
                  <a:pt x="3161300" y="1020112"/>
                  <a:pt x="3163978" y="1031118"/>
                  <a:pt x="3167894" y="1023099"/>
                </a:cubicBezTo>
                <a:cubicBezTo>
                  <a:pt x="3166452" y="1020112"/>
                  <a:pt x="3160063" y="1021213"/>
                  <a:pt x="3157385" y="1018225"/>
                </a:cubicBezTo>
                <a:cubicBezTo>
                  <a:pt x="3157385" y="1008163"/>
                  <a:pt x="3167894" y="1003289"/>
                  <a:pt x="3171809" y="995271"/>
                </a:cubicBezTo>
                <a:cubicBezTo>
                  <a:pt x="3165215" y="996371"/>
                  <a:pt x="3158621" y="1000302"/>
                  <a:pt x="3157385" y="995271"/>
                </a:cubicBezTo>
                <a:cubicBezTo>
                  <a:pt x="3160063" y="990397"/>
                  <a:pt x="3167894" y="987409"/>
                  <a:pt x="3169130" y="982378"/>
                </a:cubicBezTo>
                <a:cubicBezTo>
                  <a:pt x="3169130" y="986309"/>
                  <a:pt x="3175518" y="982378"/>
                  <a:pt x="3176961" y="985366"/>
                </a:cubicBezTo>
                <a:cubicBezTo>
                  <a:pt x="3169130" y="987409"/>
                  <a:pt x="3163978" y="991340"/>
                  <a:pt x="3161300" y="996371"/>
                </a:cubicBezTo>
                <a:cubicBezTo>
                  <a:pt x="3170366" y="991340"/>
                  <a:pt x="3167894" y="988352"/>
                  <a:pt x="3174281" y="994327"/>
                </a:cubicBezTo>
                <a:lnTo>
                  <a:pt x="3185620" y="982604"/>
                </a:lnTo>
                <a:lnTo>
                  <a:pt x="3181881" y="975347"/>
                </a:lnTo>
                <a:cubicBezTo>
                  <a:pt x="3181543" y="972369"/>
                  <a:pt x="3182532" y="969391"/>
                  <a:pt x="3185236" y="966413"/>
                </a:cubicBezTo>
                <a:cubicBezTo>
                  <a:pt x="3195636" y="969391"/>
                  <a:pt x="3178579" y="974406"/>
                  <a:pt x="3190436" y="975347"/>
                </a:cubicBezTo>
                <a:lnTo>
                  <a:pt x="3188579" y="979544"/>
                </a:lnTo>
                <a:lnTo>
                  <a:pt x="3196331" y="971530"/>
                </a:lnTo>
                <a:cubicBezTo>
                  <a:pt x="3197773" y="977504"/>
                  <a:pt x="3206840" y="978448"/>
                  <a:pt x="3211992" y="972473"/>
                </a:cubicBezTo>
                <a:cubicBezTo>
                  <a:pt x="3214670" y="978448"/>
                  <a:pt x="3201688" y="977504"/>
                  <a:pt x="3204161" y="982378"/>
                </a:cubicBezTo>
                <a:cubicBezTo>
                  <a:pt x="3211992" y="983322"/>
                  <a:pt x="3222501" y="977504"/>
                  <a:pt x="3219821" y="965555"/>
                </a:cubicBezTo>
                <a:cubicBezTo>
                  <a:pt x="3210755" y="966499"/>
                  <a:pt x="3211992" y="968542"/>
                  <a:pt x="3209519" y="963511"/>
                </a:cubicBezTo>
                <a:cubicBezTo>
                  <a:pt x="3201688" y="968542"/>
                  <a:pt x="3213434" y="971530"/>
                  <a:pt x="3201688" y="975461"/>
                </a:cubicBezTo>
                <a:cubicBezTo>
                  <a:pt x="3201688" y="971530"/>
                  <a:pt x="3205603" y="968542"/>
                  <a:pt x="3201688" y="963511"/>
                </a:cubicBezTo>
                <a:cubicBezTo>
                  <a:pt x="3214670" y="952662"/>
                  <a:pt x="3232805" y="938670"/>
                  <a:pt x="3229094" y="926720"/>
                </a:cubicBezTo>
                <a:cubicBezTo>
                  <a:pt x="3235483" y="922790"/>
                  <a:pt x="3236720" y="927664"/>
                  <a:pt x="3243314" y="923734"/>
                </a:cubicBezTo>
                <a:cubicBezTo>
                  <a:pt x="3243314" y="921847"/>
                  <a:pt x="3244550" y="920746"/>
                  <a:pt x="3244550" y="918859"/>
                </a:cubicBezTo>
                <a:cubicBezTo>
                  <a:pt x="3245992" y="914772"/>
                  <a:pt x="3235483" y="915873"/>
                  <a:pt x="3242077" y="911784"/>
                </a:cubicBezTo>
                <a:cubicBezTo>
                  <a:pt x="3250887" y="910369"/>
                  <a:pt x="3263289" y="897722"/>
                  <a:pt x="3265115" y="888105"/>
                </a:cubicBezTo>
                <a:close/>
                <a:moveTo>
                  <a:pt x="2253866" y="883133"/>
                </a:moveTo>
                <a:cubicBezTo>
                  <a:pt x="2242120" y="886120"/>
                  <a:pt x="2218831" y="885177"/>
                  <a:pt x="2212236" y="897123"/>
                </a:cubicBezTo>
                <a:cubicBezTo>
                  <a:pt x="2225220" y="891150"/>
                  <a:pt x="2247477" y="898067"/>
                  <a:pt x="2253866" y="883133"/>
                </a:cubicBezTo>
                <a:close/>
                <a:moveTo>
                  <a:pt x="2593589" y="883012"/>
                </a:moveTo>
                <a:cubicBezTo>
                  <a:pt x="2598740" y="888987"/>
                  <a:pt x="2597504" y="891974"/>
                  <a:pt x="2603892" y="899993"/>
                </a:cubicBezTo>
                <a:cubicBezTo>
                  <a:pt x="2606571" y="900936"/>
                  <a:pt x="2606571" y="898892"/>
                  <a:pt x="2610486" y="899993"/>
                </a:cubicBezTo>
                <a:cubicBezTo>
                  <a:pt x="2609249" y="897006"/>
                  <a:pt x="2603892" y="895905"/>
                  <a:pt x="2603892" y="891031"/>
                </a:cubicBezTo>
                <a:cubicBezTo>
                  <a:pt x="2609249" y="891031"/>
                  <a:pt x="2607808" y="894961"/>
                  <a:pt x="2610486" y="897006"/>
                </a:cubicBezTo>
                <a:cubicBezTo>
                  <a:pt x="2615638" y="894018"/>
                  <a:pt x="2615638" y="888987"/>
                  <a:pt x="2614401" y="883956"/>
                </a:cubicBezTo>
                <a:cubicBezTo>
                  <a:pt x="2606571" y="885057"/>
                  <a:pt x="2606571" y="886000"/>
                  <a:pt x="2593589" y="883012"/>
                </a:cubicBezTo>
                <a:close/>
                <a:moveTo>
                  <a:pt x="2632535" y="879082"/>
                </a:moveTo>
                <a:cubicBezTo>
                  <a:pt x="2631299" y="879082"/>
                  <a:pt x="2631299" y="880025"/>
                  <a:pt x="2631299" y="881126"/>
                </a:cubicBezTo>
                <a:cubicBezTo>
                  <a:pt x="2631299" y="883091"/>
                  <a:pt x="2632587" y="883799"/>
                  <a:pt x="2633875" y="884526"/>
                </a:cubicBezTo>
                <a:lnTo>
                  <a:pt x="2635917" y="887314"/>
                </a:lnTo>
                <a:lnTo>
                  <a:pt x="2642303" y="882194"/>
                </a:lnTo>
                <a:lnTo>
                  <a:pt x="2639323" y="882927"/>
                </a:lnTo>
                <a:cubicBezTo>
                  <a:pt x="2637378" y="882669"/>
                  <a:pt x="2635163" y="881558"/>
                  <a:pt x="2632535" y="879082"/>
                </a:cubicBezTo>
                <a:close/>
                <a:moveTo>
                  <a:pt x="3535133" y="878291"/>
                </a:moveTo>
                <a:cubicBezTo>
                  <a:pt x="3547296" y="876288"/>
                  <a:pt x="3536601" y="887997"/>
                  <a:pt x="3537860" y="892772"/>
                </a:cubicBezTo>
                <a:cubicBezTo>
                  <a:pt x="3533874" y="889846"/>
                  <a:pt x="3533874" y="883991"/>
                  <a:pt x="3535133" y="878291"/>
                </a:cubicBezTo>
                <a:close/>
                <a:moveTo>
                  <a:pt x="3361868" y="876981"/>
                </a:moveTo>
                <a:cubicBezTo>
                  <a:pt x="3373738" y="882902"/>
                  <a:pt x="3365825" y="895676"/>
                  <a:pt x="3361868" y="904556"/>
                </a:cubicBezTo>
                <a:cubicBezTo>
                  <a:pt x="3353955" y="898636"/>
                  <a:pt x="3360619" y="886796"/>
                  <a:pt x="3361868" y="876981"/>
                </a:cubicBezTo>
                <a:close/>
                <a:moveTo>
                  <a:pt x="2306212" y="873977"/>
                </a:moveTo>
                <a:cubicBezTo>
                  <a:pt x="2304408" y="874723"/>
                  <a:pt x="2303429" y="876217"/>
                  <a:pt x="2304769" y="878260"/>
                </a:cubicBezTo>
                <a:cubicBezTo>
                  <a:pt x="2306006" y="877160"/>
                  <a:pt x="2315074" y="881247"/>
                  <a:pt x="2312601" y="874173"/>
                </a:cubicBezTo>
                <a:cubicBezTo>
                  <a:pt x="2310643" y="873230"/>
                  <a:pt x="2308015" y="873230"/>
                  <a:pt x="2306212" y="873977"/>
                </a:cubicBezTo>
                <a:close/>
                <a:moveTo>
                  <a:pt x="2628620" y="873107"/>
                </a:moveTo>
                <a:cubicBezTo>
                  <a:pt x="2623468" y="872164"/>
                  <a:pt x="2624704" y="875151"/>
                  <a:pt x="2626148" y="877038"/>
                </a:cubicBezTo>
                <a:cubicBezTo>
                  <a:pt x="2632535" y="879082"/>
                  <a:pt x="2632535" y="876094"/>
                  <a:pt x="2628620" y="873107"/>
                </a:cubicBezTo>
                <a:close/>
                <a:moveTo>
                  <a:pt x="3328008" y="872128"/>
                </a:moveTo>
                <a:cubicBezTo>
                  <a:pt x="3329219" y="878230"/>
                  <a:pt x="3324171" y="882243"/>
                  <a:pt x="3322959" y="887220"/>
                </a:cubicBezTo>
                <a:cubicBezTo>
                  <a:pt x="3320334" y="881280"/>
                  <a:pt x="3320334" y="876143"/>
                  <a:pt x="3328008" y="872128"/>
                </a:cubicBezTo>
                <a:close/>
                <a:moveTo>
                  <a:pt x="2644281" y="870121"/>
                </a:moveTo>
                <a:cubicBezTo>
                  <a:pt x="2644281" y="872164"/>
                  <a:pt x="2639130" y="874051"/>
                  <a:pt x="2645724" y="876094"/>
                </a:cubicBezTo>
                <a:cubicBezTo>
                  <a:pt x="2648506" y="877627"/>
                  <a:pt x="2648506" y="874031"/>
                  <a:pt x="2650505" y="874260"/>
                </a:cubicBezTo>
                <a:lnTo>
                  <a:pt x="2651561" y="874941"/>
                </a:lnTo>
                <a:lnTo>
                  <a:pt x="2657669" y="870625"/>
                </a:lnTo>
                <a:lnTo>
                  <a:pt x="2655586" y="871528"/>
                </a:lnTo>
                <a:cubicBezTo>
                  <a:pt x="2652769" y="871928"/>
                  <a:pt x="2649175" y="871614"/>
                  <a:pt x="2644281" y="870121"/>
                </a:cubicBezTo>
                <a:close/>
                <a:moveTo>
                  <a:pt x="2916767" y="867511"/>
                </a:moveTo>
                <a:cubicBezTo>
                  <a:pt x="2911174" y="868322"/>
                  <a:pt x="2908045" y="875544"/>
                  <a:pt x="2909900" y="880025"/>
                </a:cubicBezTo>
                <a:cubicBezTo>
                  <a:pt x="2913814" y="877038"/>
                  <a:pt x="2920409" y="873107"/>
                  <a:pt x="2923087" y="869177"/>
                </a:cubicBezTo>
                <a:cubicBezTo>
                  <a:pt x="2920769" y="867683"/>
                  <a:pt x="2918631" y="867241"/>
                  <a:pt x="2916767" y="867511"/>
                </a:cubicBezTo>
                <a:close/>
                <a:moveTo>
                  <a:pt x="3392965" y="863374"/>
                </a:moveTo>
                <a:cubicBezTo>
                  <a:pt x="3404637" y="862423"/>
                  <a:pt x="3401975" y="873357"/>
                  <a:pt x="3390303" y="871297"/>
                </a:cubicBezTo>
                <a:cubicBezTo>
                  <a:pt x="3392965" y="863374"/>
                  <a:pt x="3392965" y="863374"/>
                  <a:pt x="3392965" y="863374"/>
                </a:cubicBezTo>
                <a:close/>
                <a:moveTo>
                  <a:pt x="2356909" y="860341"/>
                </a:moveTo>
                <a:lnTo>
                  <a:pt x="2354577" y="863249"/>
                </a:lnTo>
                <a:lnTo>
                  <a:pt x="2354230" y="863327"/>
                </a:lnTo>
                <a:cubicBezTo>
                  <a:pt x="2355466" y="862384"/>
                  <a:pt x="2356909" y="862384"/>
                  <a:pt x="2356909" y="860341"/>
                </a:cubicBezTo>
                <a:close/>
                <a:moveTo>
                  <a:pt x="2707335" y="854114"/>
                </a:moveTo>
                <a:lnTo>
                  <a:pt x="2706882" y="855552"/>
                </a:lnTo>
                <a:lnTo>
                  <a:pt x="2708162" y="855184"/>
                </a:lnTo>
                <a:close/>
                <a:moveTo>
                  <a:pt x="2477200" y="849944"/>
                </a:moveTo>
                <a:cubicBezTo>
                  <a:pt x="2482322" y="855975"/>
                  <a:pt x="2469413" y="855975"/>
                  <a:pt x="2473306" y="862005"/>
                </a:cubicBezTo>
                <a:cubicBezTo>
                  <a:pt x="2471359" y="862005"/>
                  <a:pt x="2469413" y="862243"/>
                  <a:pt x="2467467" y="861985"/>
                </a:cubicBezTo>
                <a:lnTo>
                  <a:pt x="2464637" y="860534"/>
                </a:lnTo>
                <a:lnTo>
                  <a:pt x="2463254" y="864888"/>
                </a:lnTo>
                <a:cubicBezTo>
                  <a:pt x="2459752" y="869300"/>
                  <a:pt x="2451072" y="872840"/>
                  <a:pt x="2446180" y="871293"/>
                </a:cubicBezTo>
                <a:cubicBezTo>
                  <a:pt x="2446180" y="868834"/>
                  <a:pt x="2449493" y="867088"/>
                  <a:pt x="2453466" y="865461"/>
                </a:cubicBezTo>
                <a:lnTo>
                  <a:pt x="2464468" y="860447"/>
                </a:lnTo>
                <a:lnTo>
                  <a:pt x="2461626" y="858990"/>
                </a:lnTo>
                <a:cubicBezTo>
                  <a:pt x="2464291" y="852959"/>
                  <a:pt x="2475970" y="853912"/>
                  <a:pt x="2477200" y="849944"/>
                </a:cubicBezTo>
                <a:close/>
                <a:moveTo>
                  <a:pt x="2727738" y="841348"/>
                </a:moveTo>
                <a:cubicBezTo>
                  <a:pt x="2726295" y="845279"/>
                  <a:pt x="2717228" y="846222"/>
                  <a:pt x="2717228" y="851253"/>
                </a:cubicBezTo>
                <a:cubicBezTo>
                  <a:pt x="2723823" y="849209"/>
                  <a:pt x="2734126" y="845279"/>
                  <a:pt x="2727738" y="841348"/>
                </a:cubicBezTo>
                <a:close/>
                <a:moveTo>
                  <a:pt x="2941222" y="839305"/>
                </a:moveTo>
                <a:cubicBezTo>
                  <a:pt x="2933391" y="843235"/>
                  <a:pt x="2942458" y="845279"/>
                  <a:pt x="2937307" y="848266"/>
                </a:cubicBezTo>
                <a:cubicBezTo>
                  <a:pt x="2943900" y="851253"/>
                  <a:pt x="2945136" y="843235"/>
                  <a:pt x="2941222" y="839305"/>
                </a:cubicBezTo>
                <a:close/>
                <a:moveTo>
                  <a:pt x="3399248" y="831225"/>
                </a:moveTo>
                <a:cubicBezTo>
                  <a:pt x="3408276" y="838129"/>
                  <a:pt x="3393029" y="848014"/>
                  <a:pt x="3406871" y="853976"/>
                </a:cubicBezTo>
                <a:cubicBezTo>
                  <a:pt x="3404464" y="860879"/>
                  <a:pt x="3399248" y="853034"/>
                  <a:pt x="3396841" y="856957"/>
                </a:cubicBezTo>
                <a:cubicBezTo>
                  <a:pt x="3395436" y="853034"/>
                  <a:pt x="3396841" y="842052"/>
                  <a:pt x="3399248" y="831225"/>
                </a:cubicBezTo>
                <a:close/>
                <a:moveTo>
                  <a:pt x="3571924" y="830597"/>
                </a:moveTo>
                <a:cubicBezTo>
                  <a:pt x="3574421" y="831370"/>
                  <a:pt x="3574965" y="838274"/>
                  <a:pt x="3582737" y="835385"/>
                </a:cubicBezTo>
                <a:lnTo>
                  <a:pt x="3581493" y="842164"/>
                </a:lnTo>
                <a:cubicBezTo>
                  <a:pt x="3569680" y="837388"/>
                  <a:pt x="3560561" y="842164"/>
                  <a:pt x="3559318" y="832458"/>
                </a:cubicBezTo>
                <a:cubicBezTo>
                  <a:pt x="3559318" y="835385"/>
                  <a:pt x="3577555" y="836309"/>
                  <a:pt x="3568437" y="832458"/>
                </a:cubicBezTo>
                <a:cubicBezTo>
                  <a:pt x="3570043" y="830763"/>
                  <a:pt x="3571092" y="830340"/>
                  <a:pt x="3571924" y="830597"/>
                </a:cubicBezTo>
                <a:close/>
                <a:moveTo>
                  <a:pt x="2539570" y="826373"/>
                </a:moveTo>
                <a:cubicBezTo>
                  <a:pt x="2525258" y="840082"/>
                  <a:pt x="2503381" y="846002"/>
                  <a:pt x="2482527" y="853948"/>
                </a:cubicBezTo>
                <a:cubicBezTo>
                  <a:pt x="2490500" y="831358"/>
                  <a:pt x="2524031" y="840082"/>
                  <a:pt x="2539570" y="826373"/>
                </a:cubicBezTo>
                <a:close/>
                <a:moveTo>
                  <a:pt x="3380102" y="821520"/>
                </a:moveTo>
                <a:cubicBezTo>
                  <a:pt x="3372321" y="831593"/>
                  <a:pt x="3378669" y="837573"/>
                  <a:pt x="3374779" y="850479"/>
                </a:cubicBezTo>
                <a:cubicBezTo>
                  <a:pt x="3365769" y="845443"/>
                  <a:pt x="3369659" y="829546"/>
                  <a:pt x="3380102" y="821520"/>
                </a:cubicBezTo>
                <a:close/>
                <a:moveTo>
                  <a:pt x="3010094" y="821520"/>
                </a:moveTo>
                <a:cubicBezTo>
                  <a:pt x="3015233" y="823600"/>
                  <a:pt x="3025715" y="822640"/>
                  <a:pt x="3024275" y="826639"/>
                </a:cubicBezTo>
                <a:cubicBezTo>
                  <a:pt x="3019137" y="826639"/>
                  <a:pt x="3012561" y="825679"/>
                  <a:pt x="3012561" y="827599"/>
                </a:cubicBezTo>
                <a:cubicBezTo>
                  <a:pt x="3008655" y="827599"/>
                  <a:pt x="3010094" y="823600"/>
                  <a:pt x="3010094" y="821520"/>
                </a:cubicBezTo>
                <a:close/>
                <a:moveTo>
                  <a:pt x="2713191" y="820579"/>
                </a:moveTo>
                <a:cubicBezTo>
                  <a:pt x="2714645" y="820215"/>
                  <a:pt x="2716583" y="820334"/>
                  <a:pt x="2719489" y="821325"/>
                </a:cubicBezTo>
                <a:lnTo>
                  <a:pt x="2717560" y="822349"/>
                </a:lnTo>
                <a:lnTo>
                  <a:pt x="2719402" y="825429"/>
                </a:lnTo>
                <a:cubicBezTo>
                  <a:pt x="2718974" y="827537"/>
                  <a:pt x="2715691" y="829269"/>
                  <a:pt x="2712958" y="828817"/>
                </a:cubicBezTo>
                <a:lnTo>
                  <a:pt x="2711073" y="827347"/>
                </a:lnTo>
                <a:lnTo>
                  <a:pt x="2709086" y="832427"/>
                </a:lnTo>
                <a:cubicBezTo>
                  <a:pt x="2706434" y="832427"/>
                  <a:pt x="2703986" y="830365"/>
                  <a:pt x="2701334" y="831475"/>
                </a:cubicBezTo>
                <a:cubicBezTo>
                  <a:pt x="2703986" y="832427"/>
                  <a:pt x="2705210" y="833378"/>
                  <a:pt x="2703986" y="835440"/>
                </a:cubicBezTo>
                <a:cubicBezTo>
                  <a:pt x="2698886" y="837502"/>
                  <a:pt x="2698886" y="833378"/>
                  <a:pt x="2695011" y="833378"/>
                </a:cubicBezTo>
                <a:cubicBezTo>
                  <a:pt x="2696235" y="834489"/>
                  <a:pt x="2693583" y="834489"/>
                  <a:pt x="2695011" y="835440"/>
                </a:cubicBezTo>
                <a:cubicBezTo>
                  <a:pt x="2696235" y="837502"/>
                  <a:pt x="2700110" y="836391"/>
                  <a:pt x="2700110" y="839405"/>
                </a:cubicBezTo>
                <a:cubicBezTo>
                  <a:pt x="2697458" y="840356"/>
                  <a:pt x="2696235" y="841466"/>
                  <a:pt x="2695011" y="841466"/>
                </a:cubicBezTo>
                <a:cubicBezTo>
                  <a:pt x="2693583" y="836391"/>
                  <a:pt x="2689707" y="835440"/>
                  <a:pt x="2691135" y="831475"/>
                </a:cubicBezTo>
                <a:cubicBezTo>
                  <a:pt x="2698886" y="831475"/>
                  <a:pt x="2705210" y="831475"/>
                  <a:pt x="2700110" y="826400"/>
                </a:cubicBezTo>
                <a:cubicBezTo>
                  <a:pt x="2708831" y="827113"/>
                  <a:pt x="2708831" y="821672"/>
                  <a:pt x="2713191" y="820579"/>
                </a:cubicBezTo>
                <a:close/>
                <a:moveTo>
                  <a:pt x="2705521" y="815281"/>
                </a:moveTo>
                <a:cubicBezTo>
                  <a:pt x="2706764" y="819342"/>
                  <a:pt x="2704277" y="821217"/>
                  <a:pt x="2703034" y="824185"/>
                </a:cubicBezTo>
                <a:cubicBezTo>
                  <a:pt x="2700339" y="822311"/>
                  <a:pt x="2699097" y="826217"/>
                  <a:pt x="2695159" y="822311"/>
                </a:cubicBezTo>
                <a:cubicBezTo>
                  <a:pt x="2706764" y="823248"/>
                  <a:pt x="2699097" y="816374"/>
                  <a:pt x="2705521" y="815281"/>
                </a:cubicBezTo>
                <a:close/>
                <a:moveTo>
                  <a:pt x="2950288" y="811475"/>
                </a:moveTo>
                <a:cubicBezTo>
                  <a:pt x="2943900" y="813519"/>
                  <a:pt x="2942458" y="815406"/>
                  <a:pt x="2938543" y="818393"/>
                </a:cubicBezTo>
                <a:cubicBezTo>
                  <a:pt x="2941222" y="823425"/>
                  <a:pt x="2945136" y="824368"/>
                  <a:pt x="2951525" y="824368"/>
                </a:cubicBezTo>
                <a:cubicBezTo>
                  <a:pt x="2951525" y="828455"/>
                  <a:pt x="2951525" y="833330"/>
                  <a:pt x="2943900" y="835374"/>
                </a:cubicBezTo>
                <a:cubicBezTo>
                  <a:pt x="2945136" y="839305"/>
                  <a:pt x="2949052" y="837417"/>
                  <a:pt x="2951525" y="840247"/>
                </a:cubicBezTo>
                <a:cubicBezTo>
                  <a:pt x="2951525" y="831443"/>
                  <a:pt x="2958119" y="831443"/>
                  <a:pt x="2955440" y="823425"/>
                </a:cubicBezTo>
                <a:cubicBezTo>
                  <a:pt x="2955440" y="823425"/>
                  <a:pt x="2955440" y="823425"/>
                  <a:pt x="2965949" y="820437"/>
                </a:cubicBezTo>
                <a:cubicBezTo>
                  <a:pt x="2963271" y="817450"/>
                  <a:pt x="2964713" y="816506"/>
                  <a:pt x="2967186" y="814463"/>
                </a:cubicBezTo>
                <a:cubicBezTo>
                  <a:pt x="2960798" y="813519"/>
                  <a:pt x="2959355" y="822481"/>
                  <a:pt x="2952967" y="822481"/>
                </a:cubicBezTo>
                <a:cubicBezTo>
                  <a:pt x="2947816" y="817450"/>
                  <a:pt x="2954204" y="815406"/>
                  <a:pt x="2950288" y="811475"/>
                </a:cubicBezTo>
                <a:close/>
                <a:moveTo>
                  <a:pt x="578183" y="809725"/>
                </a:moveTo>
                <a:cubicBezTo>
                  <a:pt x="571588" y="814598"/>
                  <a:pt x="571588" y="819629"/>
                  <a:pt x="564993" y="820571"/>
                </a:cubicBezTo>
                <a:cubicBezTo>
                  <a:pt x="567673" y="822615"/>
                  <a:pt x="566230" y="824501"/>
                  <a:pt x="568909" y="826545"/>
                </a:cubicBezTo>
                <a:cubicBezTo>
                  <a:pt x="575504" y="820571"/>
                  <a:pt x="583335" y="814598"/>
                  <a:pt x="578183" y="809725"/>
                </a:cubicBezTo>
                <a:close/>
                <a:moveTo>
                  <a:pt x="2639130" y="809589"/>
                </a:moveTo>
                <a:cubicBezTo>
                  <a:pt x="2632535" y="808489"/>
                  <a:pt x="2635215" y="814463"/>
                  <a:pt x="2639130" y="815406"/>
                </a:cubicBezTo>
                <a:cubicBezTo>
                  <a:pt x="2646960" y="816506"/>
                  <a:pt x="2640366" y="811475"/>
                  <a:pt x="2639130" y="809589"/>
                </a:cubicBezTo>
                <a:close/>
                <a:moveTo>
                  <a:pt x="2961582" y="808881"/>
                </a:moveTo>
                <a:lnTo>
                  <a:pt x="2958248" y="810237"/>
                </a:lnTo>
                <a:cubicBezTo>
                  <a:pt x="2956780" y="811711"/>
                  <a:pt x="2956780" y="813441"/>
                  <a:pt x="2958119" y="815406"/>
                </a:cubicBezTo>
                <a:cubicBezTo>
                  <a:pt x="2960077" y="814463"/>
                  <a:pt x="2962703" y="813480"/>
                  <a:pt x="2964661" y="812124"/>
                </a:cubicBezTo>
                <a:lnTo>
                  <a:pt x="2965180" y="810990"/>
                </a:lnTo>
                <a:lnTo>
                  <a:pt x="2962766" y="808905"/>
                </a:lnTo>
                <a:close/>
                <a:moveTo>
                  <a:pt x="3545187" y="806683"/>
                </a:moveTo>
                <a:cubicBezTo>
                  <a:pt x="3564566" y="805575"/>
                  <a:pt x="3543963" y="837711"/>
                  <a:pt x="3542535" y="845626"/>
                </a:cubicBezTo>
                <a:cubicBezTo>
                  <a:pt x="3534783" y="835653"/>
                  <a:pt x="3552938" y="819664"/>
                  <a:pt x="3545187" y="806683"/>
                </a:cubicBezTo>
                <a:close/>
                <a:moveTo>
                  <a:pt x="3182112" y="803614"/>
                </a:moveTo>
                <a:cubicBezTo>
                  <a:pt x="3179433" y="804558"/>
                  <a:pt x="3179433" y="806602"/>
                  <a:pt x="3176961" y="808489"/>
                </a:cubicBezTo>
                <a:cubicBezTo>
                  <a:pt x="3176961" y="808489"/>
                  <a:pt x="3176961" y="808489"/>
                  <a:pt x="3184791" y="820437"/>
                </a:cubicBezTo>
                <a:cubicBezTo>
                  <a:pt x="3191179" y="815406"/>
                  <a:pt x="3189943" y="804558"/>
                  <a:pt x="3182112" y="803614"/>
                </a:cubicBezTo>
                <a:close/>
                <a:moveTo>
                  <a:pt x="3600000" y="802109"/>
                </a:moveTo>
                <a:lnTo>
                  <a:pt x="3600000" y="802109"/>
                </a:lnTo>
                <a:lnTo>
                  <a:pt x="3591047" y="809806"/>
                </a:lnTo>
                <a:cubicBezTo>
                  <a:pt x="3588392" y="812424"/>
                  <a:pt x="3585424" y="814646"/>
                  <a:pt x="3580218" y="815122"/>
                </a:cubicBezTo>
                <a:cubicBezTo>
                  <a:pt x="3581468" y="811630"/>
                  <a:pt x="3583758" y="808893"/>
                  <a:pt x="3587064" y="806770"/>
                </a:cubicBezTo>
                <a:close/>
                <a:moveTo>
                  <a:pt x="2716039" y="801673"/>
                </a:moveTo>
                <a:cubicBezTo>
                  <a:pt x="2726452" y="800722"/>
                  <a:pt x="2726452" y="805634"/>
                  <a:pt x="2731865" y="806743"/>
                </a:cubicBezTo>
                <a:cubicBezTo>
                  <a:pt x="2725203" y="806743"/>
                  <a:pt x="2733115" y="810705"/>
                  <a:pt x="2726452" y="811655"/>
                </a:cubicBezTo>
                <a:cubicBezTo>
                  <a:pt x="2719997" y="809754"/>
                  <a:pt x="2726452" y="806743"/>
                  <a:pt x="2721246" y="805634"/>
                </a:cubicBezTo>
                <a:cubicBezTo>
                  <a:pt x="2718539" y="805634"/>
                  <a:pt x="2716039" y="809754"/>
                  <a:pt x="2713333" y="807694"/>
                </a:cubicBezTo>
                <a:cubicBezTo>
                  <a:pt x="2717289" y="806743"/>
                  <a:pt x="2717289" y="803733"/>
                  <a:pt x="2716039" y="801673"/>
                </a:cubicBezTo>
                <a:close/>
                <a:moveTo>
                  <a:pt x="2585850" y="801377"/>
                </a:moveTo>
                <a:cubicBezTo>
                  <a:pt x="2592271" y="814257"/>
                  <a:pt x="2568868" y="808288"/>
                  <a:pt x="2558307" y="819283"/>
                </a:cubicBezTo>
                <a:cubicBezTo>
                  <a:pt x="2555615" y="817241"/>
                  <a:pt x="2558307" y="815200"/>
                  <a:pt x="2555615" y="813315"/>
                </a:cubicBezTo>
                <a:cubicBezTo>
                  <a:pt x="2553129" y="815200"/>
                  <a:pt x="2550438" y="813315"/>
                  <a:pt x="2547952" y="815200"/>
                </a:cubicBezTo>
                <a:cubicBezTo>
                  <a:pt x="2554372" y="799336"/>
                  <a:pt x="2574046" y="809388"/>
                  <a:pt x="2585850" y="801377"/>
                </a:cubicBezTo>
                <a:close/>
                <a:moveTo>
                  <a:pt x="3085299" y="799700"/>
                </a:moveTo>
                <a:lnTo>
                  <a:pt x="3082483" y="800256"/>
                </a:lnTo>
                <a:lnTo>
                  <a:pt x="3081095" y="800218"/>
                </a:lnTo>
                <a:lnTo>
                  <a:pt x="3082128" y="806637"/>
                </a:lnTo>
                <a:lnTo>
                  <a:pt x="3083870" y="802926"/>
                </a:lnTo>
                <a:close/>
                <a:moveTo>
                  <a:pt x="3525276" y="799336"/>
                </a:moveTo>
                <a:cubicBezTo>
                  <a:pt x="3526696" y="804362"/>
                  <a:pt x="3518990" y="802320"/>
                  <a:pt x="3517571" y="805304"/>
                </a:cubicBezTo>
                <a:cubicBezTo>
                  <a:pt x="3520207" y="811273"/>
                  <a:pt x="3526696" y="802320"/>
                  <a:pt x="3529129" y="808288"/>
                </a:cubicBezTo>
                <a:cubicBezTo>
                  <a:pt x="3521424" y="819283"/>
                  <a:pt x="3504797" y="799336"/>
                  <a:pt x="3525276" y="799336"/>
                </a:cubicBezTo>
                <a:close/>
                <a:moveTo>
                  <a:pt x="3287495" y="798092"/>
                </a:moveTo>
                <a:lnTo>
                  <a:pt x="3282054" y="801639"/>
                </a:lnTo>
                <a:cubicBezTo>
                  <a:pt x="3275254" y="809480"/>
                  <a:pt x="3277264" y="819180"/>
                  <a:pt x="3261653" y="824368"/>
                </a:cubicBezTo>
                <a:cubicBezTo>
                  <a:pt x="3265569" y="828455"/>
                  <a:pt x="3258975" y="829399"/>
                  <a:pt x="3260211" y="833330"/>
                </a:cubicBezTo>
                <a:cubicBezTo>
                  <a:pt x="3260211" y="833330"/>
                  <a:pt x="3260211" y="833330"/>
                  <a:pt x="3249908" y="837417"/>
                </a:cubicBezTo>
                <a:cubicBezTo>
                  <a:pt x="3250526" y="845829"/>
                  <a:pt x="3243983" y="853022"/>
                  <a:pt x="3236642" y="859351"/>
                </a:cubicBezTo>
                <a:lnTo>
                  <a:pt x="3226214" y="867920"/>
                </a:lnTo>
                <a:lnTo>
                  <a:pt x="3249417" y="860754"/>
                </a:lnTo>
                <a:lnTo>
                  <a:pt x="3295760" y="843571"/>
                </a:lnTo>
                <a:lnTo>
                  <a:pt x="3295449" y="841348"/>
                </a:lnTo>
                <a:lnTo>
                  <a:pt x="3298801" y="842444"/>
                </a:lnTo>
                <a:lnTo>
                  <a:pt x="3301728" y="841358"/>
                </a:lnTo>
                <a:lnTo>
                  <a:pt x="3303588" y="839580"/>
                </a:lnTo>
                <a:cubicBezTo>
                  <a:pt x="3304722" y="838086"/>
                  <a:pt x="3305932" y="836405"/>
                  <a:pt x="3307503" y="835157"/>
                </a:cubicBezTo>
                <a:lnTo>
                  <a:pt x="3308080" y="834984"/>
                </a:lnTo>
                <a:lnTo>
                  <a:pt x="3309304" y="829855"/>
                </a:lnTo>
                <a:cubicBezTo>
                  <a:pt x="3309449" y="822759"/>
                  <a:pt x="3304350" y="821078"/>
                  <a:pt x="3304350" y="807637"/>
                </a:cubicBezTo>
                <a:lnTo>
                  <a:pt x="3301581" y="805984"/>
                </a:lnTo>
                <a:lnTo>
                  <a:pt x="3301193" y="807775"/>
                </a:lnTo>
                <a:cubicBezTo>
                  <a:pt x="3301430" y="809137"/>
                  <a:pt x="3302407" y="810431"/>
                  <a:pt x="3304698" y="811656"/>
                </a:cubicBezTo>
                <a:cubicBezTo>
                  <a:pt x="3296784" y="812605"/>
                  <a:pt x="3301990" y="817664"/>
                  <a:pt x="3298034" y="820669"/>
                </a:cubicBezTo>
                <a:cubicBezTo>
                  <a:pt x="3291578" y="818613"/>
                  <a:pt x="3299491" y="814660"/>
                  <a:pt x="3298034" y="809758"/>
                </a:cubicBezTo>
                <a:cubicBezTo>
                  <a:pt x="3294077" y="809758"/>
                  <a:pt x="3290121" y="812605"/>
                  <a:pt x="3287622" y="808652"/>
                </a:cubicBezTo>
                <a:lnTo>
                  <a:pt x="3295733" y="802493"/>
                </a:lnTo>
                <a:lnTo>
                  <a:pt x="3290159" y="799165"/>
                </a:lnTo>
                <a:close/>
                <a:moveTo>
                  <a:pt x="3342225" y="797639"/>
                </a:moveTo>
                <a:lnTo>
                  <a:pt x="3334469" y="807597"/>
                </a:lnTo>
                <a:lnTo>
                  <a:pt x="3338664" y="810974"/>
                </a:lnTo>
                <a:lnTo>
                  <a:pt x="3345985" y="804322"/>
                </a:lnTo>
                <a:cubicBezTo>
                  <a:pt x="3347119" y="801099"/>
                  <a:pt x="3346140" y="798111"/>
                  <a:pt x="3342225" y="797639"/>
                </a:cubicBezTo>
                <a:close/>
                <a:moveTo>
                  <a:pt x="3145639" y="794653"/>
                </a:moveTo>
                <a:cubicBezTo>
                  <a:pt x="3139045" y="797639"/>
                  <a:pt x="3139045" y="802514"/>
                  <a:pt x="3135336" y="806602"/>
                </a:cubicBezTo>
                <a:cubicBezTo>
                  <a:pt x="3140488" y="807545"/>
                  <a:pt x="3149554" y="799526"/>
                  <a:pt x="3145639" y="794653"/>
                </a:cubicBezTo>
                <a:close/>
                <a:moveTo>
                  <a:pt x="3188706" y="791665"/>
                </a:moveTo>
                <a:cubicBezTo>
                  <a:pt x="3178197" y="800627"/>
                  <a:pt x="3197773" y="802514"/>
                  <a:pt x="3201688" y="813519"/>
                </a:cubicBezTo>
                <a:cubicBezTo>
                  <a:pt x="3200246" y="819494"/>
                  <a:pt x="3191179" y="823425"/>
                  <a:pt x="3191179" y="829399"/>
                </a:cubicBezTo>
                <a:cubicBezTo>
                  <a:pt x="3201688" y="829399"/>
                  <a:pt x="3197773" y="816506"/>
                  <a:pt x="3204161" y="823425"/>
                </a:cubicBezTo>
                <a:cubicBezTo>
                  <a:pt x="3210755" y="819494"/>
                  <a:pt x="3208076" y="810532"/>
                  <a:pt x="3217349" y="810532"/>
                </a:cubicBezTo>
                <a:cubicBezTo>
                  <a:pt x="3217349" y="806602"/>
                  <a:pt x="3221265" y="802514"/>
                  <a:pt x="3214670" y="801570"/>
                </a:cubicBezTo>
                <a:cubicBezTo>
                  <a:pt x="3204161" y="812419"/>
                  <a:pt x="3191179" y="799526"/>
                  <a:pt x="3188706" y="791665"/>
                </a:cubicBezTo>
                <a:close/>
                <a:moveTo>
                  <a:pt x="2745922" y="787550"/>
                </a:moveTo>
                <a:cubicBezTo>
                  <a:pt x="2748568" y="794329"/>
                  <a:pt x="2735752" y="796177"/>
                  <a:pt x="2733106" y="801107"/>
                </a:cubicBezTo>
                <a:cubicBezTo>
                  <a:pt x="2738193" y="802032"/>
                  <a:pt x="2738193" y="797256"/>
                  <a:pt x="2740837" y="801107"/>
                </a:cubicBezTo>
                <a:cubicBezTo>
                  <a:pt x="2734327" y="802032"/>
                  <a:pt x="2736972" y="804035"/>
                  <a:pt x="2729241" y="803110"/>
                </a:cubicBezTo>
                <a:cubicBezTo>
                  <a:pt x="2735752" y="797256"/>
                  <a:pt x="2721511" y="793404"/>
                  <a:pt x="2729241" y="789399"/>
                </a:cubicBezTo>
                <a:cubicBezTo>
                  <a:pt x="2730461" y="792326"/>
                  <a:pt x="2733106" y="795253"/>
                  <a:pt x="2736972" y="794329"/>
                </a:cubicBezTo>
                <a:cubicBezTo>
                  <a:pt x="2740837" y="792326"/>
                  <a:pt x="2738193" y="788474"/>
                  <a:pt x="2745922" y="787550"/>
                </a:cubicBezTo>
                <a:close/>
                <a:moveTo>
                  <a:pt x="2575288" y="787550"/>
                </a:moveTo>
                <a:cubicBezTo>
                  <a:pt x="2579245" y="787550"/>
                  <a:pt x="2583202" y="789451"/>
                  <a:pt x="2585909" y="792462"/>
                </a:cubicBezTo>
                <a:cubicBezTo>
                  <a:pt x="2581952" y="795473"/>
                  <a:pt x="2576538" y="798484"/>
                  <a:pt x="2572790" y="797533"/>
                </a:cubicBezTo>
                <a:cubicBezTo>
                  <a:pt x="2566125" y="793571"/>
                  <a:pt x="2577996" y="791511"/>
                  <a:pt x="2575288" y="787550"/>
                </a:cubicBezTo>
                <a:close/>
                <a:moveTo>
                  <a:pt x="2981611" y="785690"/>
                </a:moveTo>
                <a:cubicBezTo>
                  <a:pt x="2981611" y="785690"/>
                  <a:pt x="2981611" y="785690"/>
                  <a:pt x="2976459" y="787735"/>
                </a:cubicBezTo>
                <a:cubicBezTo>
                  <a:pt x="2981611" y="792609"/>
                  <a:pt x="2978932" y="794653"/>
                  <a:pt x="2971102" y="795596"/>
                </a:cubicBezTo>
                <a:cubicBezTo>
                  <a:pt x="2971102" y="795596"/>
                  <a:pt x="2971102" y="795596"/>
                  <a:pt x="2975017" y="801570"/>
                </a:cubicBezTo>
                <a:cubicBezTo>
                  <a:pt x="2978932" y="796539"/>
                  <a:pt x="2985526" y="792609"/>
                  <a:pt x="2981611" y="785690"/>
                </a:cubicBezTo>
                <a:close/>
                <a:moveTo>
                  <a:pt x="3255627" y="783426"/>
                </a:moveTo>
                <a:lnTo>
                  <a:pt x="3255060" y="783647"/>
                </a:lnTo>
                <a:cubicBezTo>
                  <a:pt x="3255729" y="784904"/>
                  <a:pt x="3256721" y="785602"/>
                  <a:pt x="3257851" y="785910"/>
                </a:cubicBezTo>
                <a:lnTo>
                  <a:pt x="3259436" y="785874"/>
                </a:lnTo>
                <a:close/>
                <a:moveTo>
                  <a:pt x="2606841" y="780684"/>
                </a:moveTo>
                <a:cubicBezTo>
                  <a:pt x="2604173" y="780684"/>
                  <a:pt x="2588784" y="785693"/>
                  <a:pt x="2597813" y="790703"/>
                </a:cubicBezTo>
                <a:cubicBezTo>
                  <a:pt x="2600274" y="787729"/>
                  <a:pt x="2610739" y="784754"/>
                  <a:pt x="2606841" y="780684"/>
                </a:cubicBezTo>
                <a:close/>
                <a:moveTo>
                  <a:pt x="3018084" y="777672"/>
                </a:moveTo>
                <a:cubicBezTo>
                  <a:pt x="3012726" y="775786"/>
                  <a:pt x="3010254" y="784748"/>
                  <a:pt x="3007575" y="787735"/>
                </a:cubicBezTo>
                <a:cubicBezTo>
                  <a:pt x="3015406" y="789621"/>
                  <a:pt x="3016848" y="780659"/>
                  <a:pt x="3018084" y="777672"/>
                </a:cubicBezTo>
                <a:close/>
                <a:moveTo>
                  <a:pt x="624965" y="777440"/>
                </a:moveTo>
                <a:cubicBezTo>
                  <a:pt x="623638" y="777502"/>
                  <a:pt x="622337" y="777894"/>
                  <a:pt x="621049" y="778916"/>
                </a:cubicBezTo>
                <a:cubicBezTo>
                  <a:pt x="623727" y="781903"/>
                  <a:pt x="628880" y="779859"/>
                  <a:pt x="623727" y="784889"/>
                </a:cubicBezTo>
                <a:cubicBezTo>
                  <a:pt x="621049" y="781903"/>
                  <a:pt x="618369" y="780803"/>
                  <a:pt x="614454" y="782846"/>
                </a:cubicBezTo>
                <a:cubicBezTo>
                  <a:pt x="617133" y="790863"/>
                  <a:pt x="595082" y="800765"/>
                  <a:pt x="581892" y="804696"/>
                </a:cubicBezTo>
                <a:cubicBezTo>
                  <a:pt x="585808" y="809725"/>
                  <a:pt x="587250" y="808625"/>
                  <a:pt x="588488" y="812555"/>
                </a:cubicBezTo>
                <a:cubicBezTo>
                  <a:pt x="602707" y="794792"/>
                  <a:pt x="624964" y="792749"/>
                  <a:pt x="637948" y="777816"/>
                </a:cubicBezTo>
                <a:cubicBezTo>
                  <a:pt x="633156" y="780056"/>
                  <a:pt x="628945" y="777255"/>
                  <a:pt x="624965" y="777440"/>
                </a:cubicBezTo>
                <a:close/>
                <a:moveTo>
                  <a:pt x="3109165" y="776729"/>
                </a:moveTo>
                <a:cubicBezTo>
                  <a:pt x="3100098" y="779716"/>
                  <a:pt x="3101334" y="785690"/>
                  <a:pt x="3100098" y="790722"/>
                </a:cubicBezTo>
                <a:cubicBezTo>
                  <a:pt x="3102571" y="791665"/>
                  <a:pt x="3105250" y="790722"/>
                  <a:pt x="3109165" y="788678"/>
                </a:cubicBezTo>
                <a:cubicBezTo>
                  <a:pt x="3104013" y="783647"/>
                  <a:pt x="3114317" y="781760"/>
                  <a:pt x="3109165" y="776729"/>
                </a:cubicBezTo>
                <a:close/>
                <a:moveTo>
                  <a:pt x="2795327" y="769811"/>
                </a:moveTo>
                <a:cubicBezTo>
                  <a:pt x="2792854" y="771698"/>
                  <a:pt x="2788939" y="775786"/>
                  <a:pt x="2795327" y="777672"/>
                </a:cubicBezTo>
                <a:cubicBezTo>
                  <a:pt x="2800479" y="775786"/>
                  <a:pt x="2801921" y="770754"/>
                  <a:pt x="2795327" y="769811"/>
                </a:cubicBezTo>
                <a:close/>
                <a:moveTo>
                  <a:pt x="3468626" y="767445"/>
                </a:moveTo>
                <a:cubicBezTo>
                  <a:pt x="3475047" y="767445"/>
                  <a:pt x="3475047" y="767445"/>
                  <a:pt x="3475047" y="767445"/>
                </a:cubicBezTo>
                <a:cubicBezTo>
                  <a:pt x="3476250" y="769512"/>
                  <a:pt x="3477454" y="771420"/>
                  <a:pt x="3477454" y="774441"/>
                </a:cubicBezTo>
                <a:cubicBezTo>
                  <a:pt x="3464814" y="772533"/>
                  <a:pt x="3480062" y="781597"/>
                  <a:pt x="3470031" y="784618"/>
                </a:cubicBezTo>
                <a:cubicBezTo>
                  <a:pt x="3466218" y="780484"/>
                  <a:pt x="3466218" y="770466"/>
                  <a:pt x="3468626" y="767445"/>
                </a:cubicBezTo>
                <a:close/>
                <a:moveTo>
                  <a:pt x="2646796" y="767445"/>
                </a:moveTo>
                <a:cubicBezTo>
                  <a:pt x="2659518" y="768382"/>
                  <a:pt x="2648009" y="776350"/>
                  <a:pt x="2640334" y="778381"/>
                </a:cubicBezTo>
                <a:cubicBezTo>
                  <a:pt x="2637912" y="773382"/>
                  <a:pt x="2649220" y="769476"/>
                  <a:pt x="2646796" y="767445"/>
                </a:cubicBezTo>
                <a:close/>
                <a:moveTo>
                  <a:pt x="3442879" y="764672"/>
                </a:moveTo>
                <a:cubicBezTo>
                  <a:pt x="3450972" y="764672"/>
                  <a:pt x="3448203" y="773396"/>
                  <a:pt x="3444157" y="776305"/>
                </a:cubicBezTo>
                <a:cubicBezTo>
                  <a:pt x="3437554" y="775386"/>
                  <a:pt x="3444157" y="767580"/>
                  <a:pt x="3442879" y="764672"/>
                </a:cubicBezTo>
                <a:close/>
                <a:moveTo>
                  <a:pt x="3186028" y="763837"/>
                </a:moveTo>
                <a:cubicBezTo>
                  <a:pt x="3182112" y="767767"/>
                  <a:pt x="3183348" y="772798"/>
                  <a:pt x="3182112" y="777672"/>
                </a:cubicBezTo>
                <a:cubicBezTo>
                  <a:pt x="3186028" y="773742"/>
                  <a:pt x="3192621" y="769811"/>
                  <a:pt x="3186028" y="763837"/>
                </a:cubicBezTo>
                <a:close/>
                <a:moveTo>
                  <a:pt x="2761997" y="762593"/>
                </a:moveTo>
                <a:cubicBezTo>
                  <a:pt x="2765834" y="766554"/>
                  <a:pt x="2754324" y="768455"/>
                  <a:pt x="2764623" y="771466"/>
                </a:cubicBezTo>
                <a:cubicBezTo>
                  <a:pt x="2756950" y="773526"/>
                  <a:pt x="2755738" y="766554"/>
                  <a:pt x="2749276" y="770515"/>
                </a:cubicBezTo>
                <a:cubicBezTo>
                  <a:pt x="2744228" y="764494"/>
                  <a:pt x="2756950" y="766554"/>
                  <a:pt x="2761997" y="762593"/>
                </a:cubicBezTo>
                <a:close/>
                <a:moveTo>
                  <a:pt x="3536458" y="761456"/>
                </a:moveTo>
                <a:cubicBezTo>
                  <a:pt x="3554344" y="761456"/>
                  <a:pt x="3554344" y="761456"/>
                  <a:pt x="3554344" y="761456"/>
                </a:cubicBezTo>
                <a:cubicBezTo>
                  <a:pt x="3556986" y="763501"/>
                  <a:pt x="3558206" y="766490"/>
                  <a:pt x="3555767" y="771367"/>
                </a:cubicBezTo>
                <a:cubicBezTo>
                  <a:pt x="3550482" y="769480"/>
                  <a:pt x="3555767" y="760512"/>
                  <a:pt x="3541539" y="763501"/>
                </a:cubicBezTo>
                <a:cubicBezTo>
                  <a:pt x="3554344" y="781435"/>
                  <a:pt x="3527514" y="785369"/>
                  <a:pt x="3546824" y="797325"/>
                </a:cubicBezTo>
                <a:cubicBezTo>
                  <a:pt x="3544181" y="797325"/>
                  <a:pt x="3544181" y="800314"/>
                  <a:pt x="3544181" y="801258"/>
                </a:cubicBezTo>
                <a:cubicBezTo>
                  <a:pt x="3541539" y="800314"/>
                  <a:pt x="3537677" y="799213"/>
                  <a:pt x="3532595" y="799213"/>
                </a:cubicBezTo>
                <a:cubicBezTo>
                  <a:pt x="3529953" y="781435"/>
                  <a:pt x="3537677" y="780335"/>
                  <a:pt x="3536458" y="761456"/>
                </a:cubicBezTo>
                <a:close/>
                <a:moveTo>
                  <a:pt x="713581" y="760053"/>
                </a:moveTo>
                <a:cubicBezTo>
                  <a:pt x="705750" y="763040"/>
                  <a:pt x="701834" y="766969"/>
                  <a:pt x="691324" y="766969"/>
                </a:cubicBezTo>
                <a:cubicBezTo>
                  <a:pt x="695239" y="776872"/>
                  <a:pt x="712139" y="764926"/>
                  <a:pt x="713581" y="760053"/>
                </a:cubicBezTo>
                <a:close/>
                <a:moveTo>
                  <a:pt x="3515197" y="759819"/>
                </a:moveTo>
                <a:cubicBezTo>
                  <a:pt x="3525292" y="766776"/>
                  <a:pt x="3513783" y="776737"/>
                  <a:pt x="3524082" y="784801"/>
                </a:cubicBezTo>
                <a:cubicBezTo>
                  <a:pt x="3510148" y="784801"/>
                  <a:pt x="3529129" y="788754"/>
                  <a:pt x="3522870" y="795711"/>
                </a:cubicBezTo>
                <a:cubicBezTo>
                  <a:pt x="3508735" y="791758"/>
                  <a:pt x="3516408" y="779741"/>
                  <a:pt x="3507523" y="769780"/>
                </a:cubicBezTo>
                <a:cubicBezTo>
                  <a:pt x="3521457" y="770729"/>
                  <a:pt x="3507523" y="761717"/>
                  <a:pt x="3515197" y="759819"/>
                </a:cubicBezTo>
                <a:close/>
                <a:moveTo>
                  <a:pt x="3373452" y="757460"/>
                </a:moveTo>
                <a:lnTo>
                  <a:pt x="3373153" y="760909"/>
                </a:lnTo>
                <a:lnTo>
                  <a:pt x="3377462" y="759906"/>
                </a:lnTo>
                <a:cubicBezTo>
                  <a:pt x="3376174" y="760142"/>
                  <a:pt x="3375118" y="759759"/>
                  <a:pt x="3374362" y="759113"/>
                </a:cubicBezTo>
                <a:close/>
                <a:moveTo>
                  <a:pt x="659999" y="757067"/>
                </a:moveTo>
                <a:cubicBezTo>
                  <a:pt x="653611" y="766969"/>
                  <a:pt x="640627" y="767913"/>
                  <a:pt x="635474" y="776872"/>
                </a:cubicBezTo>
                <a:cubicBezTo>
                  <a:pt x="648458" y="769956"/>
                  <a:pt x="657525" y="770899"/>
                  <a:pt x="663914" y="760996"/>
                </a:cubicBezTo>
                <a:cubicBezTo>
                  <a:pt x="663914" y="760996"/>
                  <a:pt x="663914" y="760996"/>
                  <a:pt x="659999" y="757067"/>
                </a:cubicBezTo>
                <a:close/>
                <a:moveTo>
                  <a:pt x="3282992" y="757046"/>
                </a:moveTo>
                <a:cubicBezTo>
                  <a:pt x="3284271" y="758951"/>
                  <a:pt x="3288317" y="761966"/>
                  <a:pt x="3285548" y="764029"/>
                </a:cubicBezTo>
                <a:cubicBezTo>
                  <a:pt x="3284271" y="758951"/>
                  <a:pt x="3276177" y="770059"/>
                  <a:pt x="3274900" y="764981"/>
                </a:cubicBezTo>
                <a:cubicBezTo>
                  <a:pt x="3278946" y="761966"/>
                  <a:pt x="3277456" y="758951"/>
                  <a:pt x="3282992" y="757046"/>
                </a:cubicBezTo>
                <a:close/>
                <a:moveTo>
                  <a:pt x="2624897" y="757046"/>
                </a:moveTo>
                <a:cubicBezTo>
                  <a:pt x="2628796" y="769883"/>
                  <a:pt x="2610739" y="767848"/>
                  <a:pt x="2605610" y="776770"/>
                </a:cubicBezTo>
                <a:cubicBezTo>
                  <a:pt x="2617100" y="784754"/>
                  <a:pt x="2626333" y="762994"/>
                  <a:pt x="2640491" y="757046"/>
                </a:cubicBezTo>
                <a:cubicBezTo>
                  <a:pt x="2641928" y="758925"/>
                  <a:pt x="2643159" y="763934"/>
                  <a:pt x="2639260" y="761899"/>
                </a:cubicBezTo>
                <a:cubicBezTo>
                  <a:pt x="2639260" y="764873"/>
                  <a:pt x="2643159" y="762994"/>
                  <a:pt x="2641928" y="768787"/>
                </a:cubicBezTo>
                <a:cubicBezTo>
                  <a:pt x="2618537" y="781780"/>
                  <a:pt x="2618537" y="796495"/>
                  <a:pt x="2591246" y="800565"/>
                </a:cubicBezTo>
                <a:cubicBezTo>
                  <a:pt x="2588784" y="797590"/>
                  <a:pt x="2597813" y="788668"/>
                  <a:pt x="2586117" y="789608"/>
                </a:cubicBezTo>
                <a:cubicBezTo>
                  <a:pt x="2599043" y="776770"/>
                  <a:pt x="2608072" y="764873"/>
                  <a:pt x="2624897" y="757046"/>
                </a:cubicBezTo>
                <a:close/>
                <a:moveTo>
                  <a:pt x="2767153" y="753824"/>
                </a:moveTo>
                <a:cubicBezTo>
                  <a:pt x="2767983" y="753219"/>
                  <a:pt x="2768658" y="752984"/>
                  <a:pt x="2770632" y="754468"/>
                </a:cubicBezTo>
                <a:cubicBezTo>
                  <a:pt x="2769386" y="754468"/>
                  <a:pt x="2770632" y="756499"/>
                  <a:pt x="2771878" y="757437"/>
                </a:cubicBezTo>
                <a:cubicBezTo>
                  <a:pt x="2762738" y="757437"/>
                  <a:pt x="2775824" y="762436"/>
                  <a:pt x="2766685" y="762436"/>
                </a:cubicBezTo>
                <a:cubicBezTo>
                  <a:pt x="2761492" y="758374"/>
                  <a:pt x="2773332" y="756499"/>
                  <a:pt x="2762738" y="755405"/>
                </a:cubicBezTo>
                <a:cubicBezTo>
                  <a:pt x="2765336" y="755405"/>
                  <a:pt x="2766322" y="754429"/>
                  <a:pt x="2767153" y="753824"/>
                </a:cubicBezTo>
                <a:close/>
                <a:moveTo>
                  <a:pt x="3498593" y="753580"/>
                </a:moveTo>
                <a:cubicBezTo>
                  <a:pt x="3501037" y="757488"/>
                  <a:pt x="3503685" y="766398"/>
                  <a:pt x="3498593" y="769369"/>
                </a:cubicBezTo>
                <a:cubicBezTo>
                  <a:pt x="3495945" y="766398"/>
                  <a:pt x="3492075" y="757488"/>
                  <a:pt x="3498593" y="753580"/>
                </a:cubicBezTo>
                <a:close/>
                <a:moveTo>
                  <a:pt x="2700331" y="750944"/>
                </a:moveTo>
                <a:cubicBezTo>
                  <a:pt x="2693737" y="751887"/>
                  <a:pt x="2691264" y="756919"/>
                  <a:pt x="2697653" y="758805"/>
                </a:cubicBezTo>
                <a:cubicBezTo>
                  <a:pt x="2703010" y="756919"/>
                  <a:pt x="2706719" y="754874"/>
                  <a:pt x="2700331" y="750944"/>
                </a:cubicBezTo>
                <a:close/>
                <a:moveTo>
                  <a:pt x="2999810" y="748727"/>
                </a:moveTo>
                <a:cubicBezTo>
                  <a:pt x="3006625" y="751742"/>
                  <a:pt x="3003856" y="756820"/>
                  <a:pt x="3001300" y="761740"/>
                </a:cubicBezTo>
                <a:cubicBezTo>
                  <a:pt x="2997254" y="758725"/>
                  <a:pt x="2993208" y="751742"/>
                  <a:pt x="2999810" y="748727"/>
                </a:cubicBezTo>
                <a:close/>
                <a:moveTo>
                  <a:pt x="3373668" y="748375"/>
                </a:moveTo>
                <a:lnTo>
                  <a:pt x="3374104" y="749958"/>
                </a:lnTo>
                <a:lnTo>
                  <a:pt x="3373612" y="755625"/>
                </a:lnTo>
                <a:lnTo>
                  <a:pt x="3373955" y="754931"/>
                </a:lnTo>
                <a:cubicBezTo>
                  <a:pt x="3374667" y="754659"/>
                  <a:pt x="3375813" y="754836"/>
                  <a:pt x="3377462" y="755818"/>
                </a:cubicBezTo>
                <a:cubicBezTo>
                  <a:pt x="3378080" y="753853"/>
                  <a:pt x="3377411" y="752123"/>
                  <a:pt x="3376097" y="750512"/>
                </a:cubicBezTo>
                <a:close/>
                <a:moveTo>
                  <a:pt x="3200246" y="745913"/>
                </a:moveTo>
                <a:cubicBezTo>
                  <a:pt x="3193858" y="747957"/>
                  <a:pt x="3199009" y="751887"/>
                  <a:pt x="3192621" y="753932"/>
                </a:cubicBezTo>
                <a:cubicBezTo>
                  <a:pt x="3196331" y="754874"/>
                  <a:pt x="3200246" y="752831"/>
                  <a:pt x="3204161" y="751887"/>
                </a:cubicBezTo>
                <a:cubicBezTo>
                  <a:pt x="3204161" y="751887"/>
                  <a:pt x="3204161" y="751887"/>
                  <a:pt x="3200246" y="745913"/>
                </a:cubicBezTo>
                <a:close/>
                <a:moveTo>
                  <a:pt x="2808309" y="744970"/>
                </a:moveTo>
                <a:cubicBezTo>
                  <a:pt x="2803158" y="747013"/>
                  <a:pt x="2799243" y="748900"/>
                  <a:pt x="2801921" y="752831"/>
                </a:cubicBezTo>
                <a:cubicBezTo>
                  <a:pt x="2804394" y="750944"/>
                  <a:pt x="2812225" y="748900"/>
                  <a:pt x="2808309" y="744970"/>
                </a:cubicBezTo>
                <a:close/>
                <a:moveTo>
                  <a:pt x="3309744" y="742454"/>
                </a:moveTo>
                <a:cubicBezTo>
                  <a:pt x="3306834" y="741943"/>
                  <a:pt x="3303279" y="742926"/>
                  <a:pt x="3303279" y="745913"/>
                </a:cubicBezTo>
                <a:cubicBezTo>
                  <a:pt x="3304515" y="750001"/>
                  <a:pt x="3309667" y="744970"/>
                  <a:pt x="3312346" y="747957"/>
                </a:cubicBezTo>
                <a:cubicBezTo>
                  <a:pt x="3314921" y="744970"/>
                  <a:pt x="3312655" y="742965"/>
                  <a:pt x="3309744" y="742454"/>
                </a:cubicBezTo>
                <a:close/>
                <a:moveTo>
                  <a:pt x="654847" y="742133"/>
                </a:moveTo>
                <a:cubicBezTo>
                  <a:pt x="648458" y="746063"/>
                  <a:pt x="641863" y="749050"/>
                  <a:pt x="644542" y="752980"/>
                </a:cubicBezTo>
                <a:cubicBezTo>
                  <a:pt x="649694" y="748107"/>
                  <a:pt x="652373" y="752980"/>
                  <a:pt x="657525" y="748107"/>
                </a:cubicBezTo>
                <a:cubicBezTo>
                  <a:pt x="654847" y="746063"/>
                  <a:pt x="653611" y="744177"/>
                  <a:pt x="654847" y="742133"/>
                </a:cubicBezTo>
                <a:close/>
                <a:moveTo>
                  <a:pt x="2580139" y="739715"/>
                </a:moveTo>
                <a:cubicBezTo>
                  <a:pt x="2584092" y="746914"/>
                  <a:pt x="2573690" y="747874"/>
                  <a:pt x="2569738" y="749954"/>
                </a:cubicBezTo>
                <a:cubicBezTo>
                  <a:pt x="2567034" y="745794"/>
                  <a:pt x="2577643" y="743874"/>
                  <a:pt x="2580139" y="739715"/>
                </a:cubicBezTo>
                <a:close/>
                <a:moveTo>
                  <a:pt x="3496091" y="739021"/>
                </a:moveTo>
                <a:cubicBezTo>
                  <a:pt x="3512772" y="739021"/>
                  <a:pt x="3501176" y="751096"/>
                  <a:pt x="3494869" y="754114"/>
                </a:cubicBezTo>
                <a:cubicBezTo>
                  <a:pt x="3485715" y="751096"/>
                  <a:pt x="3498734" y="745058"/>
                  <a:pt x="3496091" y="739021"/>
                </a:cubicBezTo>
                <a:close/>
                <a:moveTo>
                  <a:pt x="3281561" y="738391"/>
                </a:moveTo>
                <a:cubicBezTo>
                  <a:pt x="3279196" y="739025"/>
                  <a:pt x="3276491" y="740449"/>
                  <a:pt x="3273194" y="742926"/>
                </a:cubicBezTo>
                <a:cubicBezTo>
                  <a:pt x="3275872" y="744970"/>
                  <a:pt x="3279787" y="739938"/>
                  <a:pt x="3282467" y="742926"/>
                </a:cubicBezTo>
                <a:cubicBezTo>
                  <a:pt x="3279787" y="748900"/>
                  <a:pt x="3275872" y="751887"/>
                  <a:pt x="3268041" y="753932"/>
                </a:cubicBezTo>
                <a:cubicBezTo>
                  <a:pt x="3268660" y="756919"/>
                  <a:pt x="3266084" y="759159"/>
                  <a:pt x="3264152" y="761517"/>
                </a:cubicBezTo>
                <a:lnTo>
                  <a:pt x="3263041" y="763661"/>
                </a:lnTo>
                <a:lnTo>
                  <a:pt x="3263967" y="764876"/>
                </a:lnTo>
                <a:lnTo>
                  <a:pt x="3272760" y="769157"/>
                </a:lnTo>
                <a:lnTo>
                  <a:pt x="3278551" y="766823"/>
                </a:lnTo>
                <a:cubicBezTo>
                  <a:pt x="3279170" y="767806"/>
                  <a:pt x="3278989" y="768602"/>
                  <a:pt x="3278452" y="769307"/>
                </a:cubicBezTo>
                <a:lnTo>
                  <a:pt x="3276511" y="770983"/>
                </a:lnTo>
                <a:lnTo>
                  <a:pt x="3280069" y="772715"/>
                </a:lnTo>
                <a:lnTo>
                  <a:pt x="3280252" y="772582"/>
                </a:lnTo>
                <a:cubicBezTo>
                  <a:pt x="3280663" y="772140"/>
                  <a:pt x="3281037" y="771919"/>
                  <a:pt x="3281553" y="772182"/>
                </a:cubicBezTo>
                <a:lnTo>
                  <a:pt x="3283406" y="774340"/>
                </a:lnTo>
                <a:lnTo>
                  <a:pt x="3283797" y="774530"/>
                </a:lnTo>
                <a:lnTo>
                  <a:pt x="3291534" y="761793"/>
                </a:lnTo>
                <a:cubicBezTo>
                  <a:pt x="3295449" y="761793"/>
                  <a:pt x="3291534" y="764780"/>
                  <a:pt x="3294006" y="766823"/>
                </a:cubicBezTo>
                <a:cubicBezTo>
                  <a:pt x="3301836" y="764780"/>
                  <a:pt x="3301836" y="761793"/>
                  <a:pt x="3303279" y="758805"/>
                </a:cubicBezTo>
                <a:cubicBezTo>
                  <a:pt x="3294006" y="758805"/>
                  <a:pt x="3300600" y="756919"/>
                  <a:pt x="3297922" y="750944"/>
                </a:cubicBezTo>
                <a:cubicBezTo>
                  <a:pt x="3295449" y="750944"/>
                  <a:pt x="3292770" y="751887"/>
                  <a:pt x="3288854" y="753932"/>
                </a:cubicBezTo>
                <a:cubicBezTo>
                  <a:pt x="3287618" y="750944"/>
                  <a:pt x="3294006" y="750001"/>
                  <a:pt x="3292770" y="747013"/>
                </a:cubicBezTo>
                <a:cubicBezTo>
                  <a:pt x="3295449" y="747013"/>
                  <a:pt x="3296685" y="750001"/>
                  <a:pt x="3300600" y="747013"/>
                </a:cubicBezTo>
                <a:cubicBezTo>
                  <a:pt x="3292718" y="741707"/>
                  <a:pt x="3288661" y="736490"/>
                  <a:pt x="3281561" y="738391"/>
                </a:cubicBezTo>
                <a:close/>
                <a:moveTo>
                  <a:pt x="3003376" y="737010"/>
                </a:moveTo>
                <a:cubicBezTo>
                  <a:pt x="3000465" y="736283"/>
                  <a:pt x="2995932" y="736558"/>
                  <a:pt x="2993357" y="738052"/>
                </a:cubicBezTo>
                <a:cubicBezTo>
                  <a:pt x="2999745" y="744970"/>
                  <a:pt x="2990678" y="738995"/>
                  <a:pt x="2985526" y="741982"/>
                </a:cubicBezTo>
                <a:cubicBezTo>
                  <a:pt x="2990678" y="750944"/>
                  <a:pt x="2976459" y="754874"/>
                  <a:pt x="2980375" y="763837"/>
                </a:cubicBezTo>
                <a:cubicBezTo>
                  <a:pt x="2976459" y="762893"/>
                  <a:pt x="2973780" y="763837"/>
                  <a:pt x="2972544" y="765880"/>
                </a:cubicBezTo>
                <a:cubicBezTo>
                  <a:pt x="2977695" y="769811"/>
                  <a:pt x="2980375" y="774685"/>
                  <a:pt x="2972544" y="772798"/>
                </a:cubicBezTo>
                <a:cubicBezTo>
                  <a:pt x="2975017" y="776729"/>
                  <a:pt x="2982847" y="775786"/>
                  <a:pt x="2977695" y="783647"/>
                </a:cubicBezTo>
                <a:cubicBezTo>
                  <a:pt x="2987998" y="780659"/>
                  <a:pt x="2984290" y="774685"/>
                  <a:pt x="2977695" y="767767"/>
                </a:cubicBezTo>
                <a:cubicBezTo>
                  <a:pt x="2978932" y="763837"/>
                  <a:pt x="2986762" y="761793"/>
                  <a:pt x="2989442" y="758805"/>
                </a:cubicBezTo>
                <a:cubicBezTo>
                  <a:pt x="2989442" y="760849"/>
                  <a:pt x="2987998" y="761793"/>
                  <a:pt x="2990678" y="761793"/>
                </a:cubicBezTo>
                <a:cubicBezTo>
                  <a:pt x="2986762" y="765880"/>
                  <a:pt x="2984290" y="775786"/>
                  <a:pt x="2991914" y="779716"/>
                </a:cubicBezTo>
                <a:cubicBezTo>
                  <a:pt x="3001187" y="776729"/>
                  <a:pt x="2993357" y="770754"/>
                  <a:pt x="2994593" y="766823"/>
                </a:cubicBezTo>
                <a:cubicBezTo>
                  <a:pt x="2994593" y="766823"/>
                  <a:pt x="2994593" y="766823"/>
                  <a:pt x="3005102" y="763837"/>
                </a:cubicBezTo>
                <a:cubicBezTo>
                  <a:pt x="3003660" y="755818"/>
                  <a:pt x="3015406" y="744970"/>
                  <a:pt x="2998508" y="741039"/>
                </a:cubicBezTo>
                <a:cubicBezTo>
                  <a:pt x="3001187" y="738995"/>
                  <a:pt x="3002423" y="741039"/>
                  <a:pt x="3003660" y="741982"/>
                </a:cubicBezTo>
                <a:cubicBezTo>
                  <a:pt x="3007575" y="739467"/>
                  <a:pt x="3006287" y="737737"/>
                  <a:pt x="3003376" y="737010"/>
                </a:cubicBezTo>
                <a:close/>
                <a:moveTo>
                  <a:pt x="2779589" y="736248"/>
                </a:moveTo>
                <a:cubicBezTo>
                  <a:pt x="2794000" y="745954"/>
                  <a:pt x="2775677" y="745954"/>
                  <a:pt x="2771766" y="752733"/>
                </a:cubicBezTo>
                <a:cubicBezTo>
                  <a:pt x="2767854" y="747032"/>
                  <a:pt x="2779589" y="744105"/>
                  <a:pt x="2775677" y="737173"/>
                </a:cubicBezTo>
                <a:cubicBezTo>
                  <a:pt x="2777118" y="739176"/>
                  <a:pt x="2778354" y="738251"/>
                  <a:pt x="2779589" y="736248"/>
                </a:cubicBezTo>
                <a:close/>
                <a:moveTo>
                  <a:pt x="3093567" y="734862"/>
                </a:moveTo>
                <a:cubicBezTo>
                  <a:pt x="3103865" y="735837"/>
                  <a:pt x="3097403" y="741036"/>
                  <a:pt x="3096192" y="745098"/>
                </a:cubicBezTo>
                <a:cubicBezTo>
                  <a:pt x="3085893" y="744123"/>
                  <a:pt x="3096192" y="741036"/>
                  <a:pt x="3093567" y="734862"/>
                </a:cubicBezTo>
                <a:close/>
                <a:moveTo>
                  <a:pt x="2787684" y="725849"/>
                </a:moveTo>
                <a:cubicBezTo>
                  <a:pt x="2790463" y="727807"/>
                  <a:pt x="2794526" y="725849"/>
                  <a:pt x="2795809" y="727807"/>
                </a:cubicBezTo>
                <a:cubicBezTo>
                  <a:pt x="2786402" y="727807"/>
                  <a:pt x="2790463" y="734005"/>
                  <a:pt x="2786402" y="732048"/>
                </a:cubicBezTo>
                <a:cubicBezTo>
                  <a:pt x="2787684" y="729927"/>
                  <a:pt x="2785119" y="726828"/>
                  <a:pt x="2787684" y="725849"/>
                </a:cubicBezTo>
                <a:close/>
                <a:moveTo>
                  <a:pt x="2711301" y="722383"/>
                </a:moveTo>
                <a:cubicBezTo>
                  <a:pt x="2708736" y="727212"/>
                  <a:pt x="2704673" y="732197"/>
                  <a:pt x="2701894" y="736093"/>
                </a:cubicBezTo>
                <a:cubicBezTo>
                  <a:pt x="2700611" y="731107"/>
                  <a:pt x="2704673" y="723318"/>
                  <a:pt x="2711301" y="722383"/>
                </a:cubicBezTo>
                <a:close/>
                <a:moveTo>
                  <a:pt x="3239399" y="722172"/>
                </a:moveTo>
                <a:cubicBezTo>
                  <a:pt x="3230331" y="727046"/>
                  <a:pt x="3239399" y="735064"/>
                  <a:pt x="3235483" y="741982"/>
                </a:cubicBezTo>
                <a:cubicBezTo>
                  <a:pt x="3243314" y="736007"/>
                  <a:pt x="3238162" y="727989"/>
                  <a:pt x="3245992" y="723116"/>
                </a:cubicBezTo>
                <a:cubicBezTo>
                  <a:pt x="3244550" y="721071"/>
                  <a:pt x="3240635" y="724059"/>
                  <a:pt x="3239399" y="722172"/>
                </a:cubicBezTo>
                <a:close/>
                <a:moveTo>
                  <a:pt x="3141724" y="720128"/>
                </a:moveTo>
                <a:cubicBezTo>
                  <a:pt x="3132657" y="724059"/>
                  <a:pt x="3129978" y="729090"/>
                  <a:pt x="3133893" y="735064"/>
                </a:cubicBezTo>
                <a:cubicBezTo>
                  <a:pt x="3140488" y="730977"/>
                  <a:pt x="3144403" y="726103"/>
                  <a:pt x="3141724" y="720128"/>
                </a:cubicBezTo>
                <a:close/>
                <a:moveTo>
                  <a:pt x="3556208" y="718916"/>
                </a:moveTo>
                <a:cubicBezTo>
                  <a:pt x="3558666" y="720821"/>
                  <a:pt x="3562556" y="720821"/>
                  <a:pt x="3567881" y="720821"/>
                </a:cubicBezTo>
                <a:cubicBezTo>
                  <a:pt x="3569109" y="726852"/>
                  <a:pt x="3562556" y="726852"/>
                  <a:pt x="3561328" y="731930"/>
                </a:cubicBezTo>
                <a:cubicBezTo>
                  <a:pt x="3556208" y="729867"/>
                  <a:pt x="3554775" y="724788"/>
                  <a:pt x="3556208" y="718916"/>
                </a:cubicBezTo>
                <a:close/>
                <a:moveTo>
                  <a:pt x="2800396" y="717067"/>
                </a:moveTo>
                <a:cubicBezTo>
                  <a:pt x="2805810" y="719995"/>
                  <a:pt x="2796648" y="722922"/>
                  <a:pt x="2791233" y="721997"/>
                </a:cubicBezTo>
                <a:cubicBezTo>
                  <a:pt x="2786028" y="719070"/>
                  <a:pt x="2796648" y="716143"/>
                  <a:pt x="2800396" y="717067"/>
                </a:cubicBezTo>
                <a:close/>
                <a:moveTo>
                  <a:pt x="3266239" y="709742"/>
                </a:moveTo>
                <a:cubicBezTo>
                  <a:pt x="3263882" y="710744"/>
                  <a:pt x="3263148" y="715372"/>
                  <a:pt x="3260211" y="716197"/>
                </a:cubicBezTo>
                <a:cubicBezTo>
                  <a:pt x="3260211" y="716197"/>
                  <a:pt x="3260211" y="716197"/>
                  <a:pt x="3265569" y="723116"/>
                </a:cubicBezTo>
                <a:cubicBezTo>
                  <a:pt x="3271958" y="717141"/>
                  <a:pt x="3275872" y="725002"/>
                  <a:pt x="3278551" y="718085"/>
                </a:cubicBezTo>
                <a:cubicBezTo>
                  <a:pt x="3275872" y="712110"/>
                  <a:pt x="3268041" y="721071"/>
                  <a:pt x="3265569" y="719185"/>
                </a:cubicBezTo>
                <a:cubicBezTo>
                  <a:pt x="3265569" y="716197"/>
                  <a:pt x="3270721" y="714154"/>
                  <a:pt x="3269278" y="710223"/>
                </a:cubicBezTo>
                <a:cubicBezTo>
                  <a:pt x="3267991" y="709476"/>
                  <a:pt x="3267024" y="709408"/>
                  <a:pt x="3266239" y="709742"/>
                </a:cubicBezTo>
                <a:close/>
                <a:moveTo>
                  <a:pt x="3128097" y="705745"/>
                </a:moveTo>
                <a:cubicBezTo>
                  <a:pt x="3129308" y="711471"/>
                  <a:pt x="3112750" y="712526"/>
                  <a:pt x="3107702" y="709663"/>
                </a:cubicBezTo>
                <a:cubicBezTo>
                  <a:pt x="3111539" y="706799"/>
                  <a:pt x="3123048" y="707704"/>
                  <a:pt x="3128097" y="705745"/>
                </a:cubicBezTo>
                <a:close/>
                <a:moveTo>
                  <a:pt x="2846225" y="705192"/>
                </a:moveTo>
                <a:cubicBezTo>
                  <a:pt x="2838396" y="704248"/>
                  <a:pt x="2833244" y="711166"/>
                  <a:pt x="2835716" y="714154"/>
                </a:cubicBezTo>
                <a:cubicBezTo>
                  <a:pt x="2844783" y="712110"/>
                  <a:pt x="2839632" y="708179"/>
                  <a:pt x="2846225" y="705192"/>
                </a:cubicBezTo>
                <a:close/>
                <a:moveTo>
                  <a:pt x="3541246" y="705051"/>
                </a:moveTo>
                <a:cubicBezTo>
                  <a:pt x="3546496" y="710121"/>
                  <a:pt x="3552755" y="718045"/>
                  <a:pt x="3548919" y="726126"/>
                </a:cubicBezTo>
                <a:cubicBezTo>
                  <a:pt x="3534783" y="727077"/>
                  <a:pt x="3546496" y="711072"/>
                  <a:pt x="3531149" y="713132"/>
                </a:cubicBezTo>
                <a:cubicBezTo>
                  <a:pt x="3531149" y="711072"/>
                  <a:pt x="3534783" y="712023"/>
                  <a:pt x="3537409" y="711072"/>
                </a:cubicBezTo>
                <a:cubicBezTo>
                  <a:pt x="3541246" y="711072"/>
                  <a:pt x="3540034" y="707111"/>
                  <a:pt x="3541246" y="705051"/>
                </a:cubicBezTo>
                <a:close/>
                <a:moveTo>
                  <a:pt x="3175393" y="701760"/>
                </a:moveTo>
                <a:cubicBezTo>
                  <a:pt x="3173959" y="701576"/>
                  <a:pt x="3172324" y="701930"/>
                  <a:pt x="3170366" y="703148"/>
                </a:cubicBezTo>
                <a:cubicBezTo>
                  <a:pt x="3173045" y="707236"/>
                  <a:pt x="3176961" y="704248"/>
                  <a:pt x="3178197" y="709122"/>
                </a:cubicBezTo>
                <a:cubicBezTo>
                  <a:pt x="3175518" y="711166"/>
                  <a:pt x="3174281" y="710223"/>
                  <a:pt x="3171809" y="708179"/>
                </a:cubicBezTo>
                <a:cubicBezTo>
                  <a:pt x="3167894" y="710223"/>
                  <a:pt x="3170366" y="714154"/>
                  <a:pt x="3174281" y="717141"/>
                </a:cubicBezTo>
                <a:cubicBezTo>
                  <a:pt x="3176961" y="714154"/>
                  <a:pt x="3179433" y="717141"/>
                  <a:pt x="3180876" y="719185"/>
                </a:cubicBezTo>
                <a:cubicBezTo>
                  <a:pt x="3180876" y="719185"/>
                  <a:pt x="3180876" y="719185"/>
                  <a:pt x="3181855" y="718674"/>
                </a:cubicBezTo>
                <a:lnTo>
                  <a:pt x="3183743" y="717688"/>
                </a:lnTo>
                <a:lnTo>
                  <a:pt x="3182148" y="714339"/>
                </a:lnTo>
                <a:lnTo>
                  <a:pt x="3182000" y="713893"/>
                </a:lnTo>
                <a:lnTo>
                  <a:pt x="3178197" y="713210"/>
                </a:lnTo>
                <a:cubicBezTo>
                  <a:pt x="3176858" y="711166"/>
                  <a:pt x="3178145" y="711166"/>
                  <a:pt x="3180103" y="711166"/>
                </a:cubicBezTo>
                <a:lnTo>
                  <a:pt x="3180995" y="710859"/>
                </a:lnTo>
                <a:lnTo>
                  <a:pt x="3178474" y="703248"/>
                </a:lnTo>
                <a:close/>
                <a:moveTo>
                  <a:pt x="3245992" y="701261"/>
                </a:moveTo>
                <a:cubicBezTo>
                  <a:pt x="3240635" y="703148"/>
                  <a:pt x="3239399" y="707236"/>
                  <a:pt x="3242077" y="710223"/>
                </a:cubicBezTo>
                <a:cubicBezTo>
                  <a:pt x="3247229" y="705192"/>
                  <a:pt x="3247229" y="714154"/>
                  <a:pt x="3252380" y="709122"/>
                </a:cubicBezTo>
                <a:cubicBezTo>
                  <a:pt x="3253823" y="706135"/>
                  <a:pt x="3249908" y="701261"/>
                  <a:pt x="3245992" y="701261"/>
                </a:cubicBezTo>
                <a:close/>
                <a:moveTo>
                  <a:pt x="3390652" y="700891"/>
                </a:moveTo>
                <a:cubicBezTo>
                  <a:pt x="3397363" y="702740"/>
                  <a:pt x="3390652" y="712600"/>
                  <a:pt x="3390652" y="717376"/>
                </a:cubicBezTo>
                <a:cubicBezTo>
                  <a:pt x="3386668" y="711521"/>
                  <a:pt x="3383942" y="705667"/>
                  <a:pt x="3390652" y="700891"/>
                </a:cubicBezTo>
                <a:close/>
                <a:moveTo>
                  <a:pt x="3262890" y="698274"/>
                </a:moveTo>
                <a:cubicBezTo>
                  <a:pt x="3257738" y="700160"/>
                  <a:pt x="3255060" y="703148"/>
                  <a:pt x="3257738" y="706135"/>
                </a:cubicBezTo>
                <a:cubicBezTo>
                  <a:pt x="3261653" y="704248"/>
                  <a:pt x="3264127" y="706135"/>
                  <a:pt x="3266805" y="704248"/>
                </a:cubicBezTo>
                <a:close/>
                <a:moveTo>
                  <a:pt x="3135786" y="697425"/>
                </a:moveTo>
                <a:cubicBezTo>
                  <a:pt x="3137063" y="699505"/>
                  <a:pt x="3141110" y="702545"/>
                  <a:pt x="3138341" y="703504"/>
                </a:cubicBezTo>
                <a:cubicBezTo>
                  <a:pt x="3135786" y="702545"/>
                  <a:pt x="3131739" y="703504"/>
                  <a:pt x="3127693" y="701585"/>
                </a:cubicBezTo>
                <a:cubicBezTo>
                  <a:pt x="3133018" y="698545"/>
                  <a:pt x="3134295" y="701585"/>
                  <a:pt x="3135786" y="697425"/>
                </a:cubicBezTo>
                <a:close/>
                <a:moveTo>
                  <a:pt x="3024472" y="696230"/>
                </a:moveTo>
                <a:cubicBezTo>
                  <a:pt x="3019320" y="699218"/>
                  <a:pt x="3018084" y="702205"/>
                  <a:pt x="3018084" y="706135"/>
                </a:cubicBezTo>
                <a:cubicBezTo>
                  <a:pt x="3014169" y="708179"/>
                  <a:pt x="3015406" y="702205"/>
                  <a:pt x="3016848" y="701261"/>
                </a:cubicBezTo>
                <a:cubicBezTo>
                  <a:pt x="3008811" y="702205"/>
                  <a:pt x="3010254" y="714154"/>
                  <a:pt x="3010254" y="719185"/>
                </a:cubicBezTo>
                <a:cubicBezTo>
                  <a:pt x="2998508" y="720128"/>
                  <a:pt x="3012726" y="722172"/>
                  <a:pt x="2998508" y="724059"/>
                </a:cubicBezTo>
                <a:cubicBezTo>
                  <a:pt x="3002423" y="733964"/>
                  <a:pt x="3012726" y="733964"/>
                  <a:pt x="3011490" y="744970"/>
                </a:cubicBezTo>
                <a:cubicBezTo>
                  <a:pt x="3016848" y="741982"/>
                  <a:pt x="3020763" y="735064"/>
                  <a:pt x="3011490" y="732077"/>
                </a:cubicBezTo>
                <a:cubicBezTo>
                  <a:pt x="3027151" y="730977"/>
                  <a:pt x="3016848" y="721071"/>
                  <a:pt x="3025915" y="715097"/>
                </a:cubicBezTo>
                <a:cubicBezTo>
                  <a:pt x="3016848" y="713210"/>
                  <a:pt x="3021999" y="708179"/>
                  <a:pt x="3019320" y="704248"/>
                </a:cubicBezTo>
                <a:cubicBezTo>
                  <a:pt x="3024472" y="702205"/>
                  <a:pt x="3029830" y="700160"/>
                  <a:pt x="3024472" y="696230"/>
                </a:cubicBezTo>
                <a:close/>
                <a:moveTo>
                  <a:pt x="2814902" y="693090"/>
                </a:moveTo>
                <a:cubicBezTo>
                  <a:pt x="2814902" y="696105"/>
                  <a:pt x="2812254" y="704199"/>
                  <a:pt x="2803292" y="701184"/>
                </a:cubicBezTo>
                <a:cubicBezTo>
                  <a:pt x="2809810" y="699120"/>
                  <a:pt x="2805940" y="691186"/>
                  <a:pt x="2814902" y="693090"/>
                </a:cubicBezTo>
                <a:close/>
                <a:moveTo>
                  <a:pt x="3047963" y="692300"/>
                </a:moveTo>
                <a:cubicBezTo>
                  <a:pt x="3044048" y="693243"/>
                  <a:pt x="3045285" y="696230"/>
                  <a:pt x="3047963" y="698274"/>
                </a:cubicBezTo>
                <a:cubicBezTo>
                  <a:pt x="3047963" y="698274"/>
                  <a:pt x="3047963" y="698274"/>
                  <a:pt x="3055794" y="695287"/>
                </a:cubicBezTo>
                <a:cubicBezTo>
                  <a:pt x="3054558" y="690255"/>
                  <a:pt x="3049200" y="697173"/>
                  <a:pt x="3047963" y="692300"/>
                </a:cubicBezTo>
                <a:close/>
                <a:moveTo>
                  <a:pt x="2627815" y="691218"/>
                </a:moveTo>
                <a:cubicBezTo>
                  <a:pt x="2630440" y="696255"/>
                  <a:pt x="2617719" y="693168"/>
                  <a:pt x="2618930" y="699342"/>
                </a:cubicBezTo>
                <a:cubicBezTo>
                  <a:pt x="2612468" y="693168"/>
                  <a:pt x="2621555" y="689106"/>
                  <a:pt x="2627815" y="691218"/>
                </a:cubicBezTo>
                <a:close/>
                <a:moveTo>
                  <a:pt x="2779299" y="691186"/>
                </a:moveTo>
                <a:cubicBezTo>
                  <a:pt x="2784643" y="691186"/>
                  <a:pt x="2783204" y="693066"/>
                  <a:pt x="2788548" y="696043"/>
                </a:cubicBezTo>
                <a:cubicBezTo>
                  <a:pt x="2780737" y="701058"/>
                  <a:pt x="2779299" y="708893"/>
                  <a:pt x="2783204" y="713907"/>
                </a:cubicBezTo>
                <a:cubicBezTo>
                  <a:pt x="2780737" y="711870"/>
                  <a:pt x="2776832" y="711870"/>
                  <a:pt x="2774160" y="709989"/>
                </a:cubicBezTo>
                <a:cubicBezTo>
                  <a:pt x="2780737" y="707012"/>
                  <a:pt x="2784643" y="702938"/>
                  <a:pt x="2776832" y="696983"/>
                </a:cubicBezTo>
                <a:cubicBezTo>
                  <a:pt x="2779299" y="694163"/>
                  <a:pt x="2787108" y="698080"/>
                  <a:pt x="2784643" y="695103"/>
                </a:cubicBezTo>
                <a:cubicBezTo>
                  <a:pt x="2783204" y="693066"/>
                  <a:pt x="2771488" y="692126"/>
                  <a:pt x="2779299" y="691186"/>
                </a:cubicBezTo>
                <a:close/>
                <a:moveTo>
                  <a:pt x="3204621" y="689849"/>
                </a:moveTo>
                <a:lnTo>
                  <a:pt x="3206443" y="695209"/>
                </a:lnTo>
                <a:lnTo>
                  <a:pt x="3207197" y="692113"/>
                </a:lnTo>
                <a:close/>
                <a:moveTo>
                  <a:pt x="3019320" y="688369"/>
                </a:moveTo>
                <a:cubicBezTo>
                  <a:pt x="3012726" y="694344"/>
                  <a:pt x="3028387" y="693243"/>
                  <a:pt x="3032302" y="698274"/>
                </a:cubicBezTo>
                <a:cubicBezTo>
                  <a:pt x="3033745" y="696230"/>
                  <a:pt x="3033745" y="694344"/>
                  <a:pt x="3031066" y="692300"/>
                </a:cubicBezTo>
                <a:cubicBezTo>
                  <a:pt x="3024472" y="695287"/>
                  <a:pt x="3027151" y="687269"/>
                  <a:pt x="3019320" y="688369"/>
                </a:cubicBezTo>
                <a:close/>
                <a:moveTo>
                  <a:pt x="2626342" y="682619"/>
                </a:moveTo>
                <a:cubicBezTo>
                  <a:pt x="2627215" y="682703"/>
                  <a:pt x="2628252" y="683140"/>
                  <a:pt x="2629536" y="684156"/>
                </a:cubicBezTo>
                <a:cubicBezTo>
                  <a:pt x="2628153" y="684156"/>
                  <a:pt x="2626968" y="684156"/>
                  <a:pt x="2625783" y="686268"/>
                </a:cubicBezTo>
                <a:cubicBezTo>
                  <a:pt x="2625783" y="687243"/>
                  <a:pt x="2628153" y="689355"/>
                  <a:pt x="2625783" y="690330"/>
                </a:cubicBezTo>
                <a:cubicBezTo>
                  <a:pt x="2620647" y="690330"/>
                  <a:pt x="2623215" y="688380"/>
                  <a:pt x="2620647" y="685292"/>
                </a:cubicBezTo>
                <a:cubicBezTo>
                  <a:pt x="2622573" y="685292"/>
                  <a:pt x="2623721" y="682368"/>
                  <a:pt x="2626342" y="682619"/>
                </a:cubicBezTo>
                <a:close/>
                <a:moveTo>
                  <a:pt x="619812" y="681458"/>
                </a:moveTo>
                <a:cubicBezTo>
                  <a:pt x="613217" y="687432"/>
                  <a:pt x="610538" y="684445"/>
                  <a:pt x="606622" y="683501"/>
                </a:cubicBezTo>
                <a:cubicBezTo>
                  <a:pt x="600234" y="691518"/>
                  <a:pt x="585808" y="692461"/>
                  <a:pt x="575504" y="700320"/>
                </a:cubicBezTo>
                <a:cubicBezTo>
                  <a:pt x="578183" y="703307"/>
                  <a:pt x="579419" y="707394"/>
                  <a:pt x="576740" y="712267"/>
                </a:cubicBezTo>
                <a:cubicBezTo>
                  <a:pt x="581892" y="707394"/>
                  <a:pt x="591166" y="702364"/>
                  <a:pt x="598998" y="698434"/>
                </a:cubicBezTo>
                <a:cubicBezTo>
                  <a:pt x="608065" y="693405"/>
                  <a:pt x="615896" y="688531"/>
                  <a:pt x="619812" y="681458"/>
                </a:cubicBezTo>
                <a:close/>
                <a:moveTo>
                  <a:pt x="2851377" y="681294"/>
                </a:moveTo>
                <a:cubicBezTo>
                  <a:pt x="2844783" y="683338"/>
                  <a:pt x="2842310" y="688369"/>
                  <a:pt x="2847462" y="689312"/>
                </a:cubicBezTo>
                <a:cubicBezTo>
                  <a:pt x="2851377" y="687269"/>
                  <a:pt x="2856529" y="685381"/>
                  <a:pt x="2851377" y="681294"/>
                </a:cubicBezTo>
                <a:close/>
                <a:moveTo>
                  <a:pt x="3059709" y="679408"/>
                </a:moveTo>
                <a:cubicBezTo>
                  <a:pt x="3051879" y="681294"/>
                  <a:pt x="3060946" y="686325"/>
                  <a:pt x="3063624" y="686325"/>
                </a:cubicBezTo>
                <a:cubicBezTo>
                  <a:pt x="3068776" y="685381"/>
                  <a:pt x="3064861" y="677363"/>
                  <a:pt x="3059709" y="679408"/>
                </a:cubicBezTo>
                <a:close/>
                <a:moveTo>
                  <a:pt x="2816089" y="679400"/>
                </a:moveTo>
                <a:cubicBezTo>
                  <a:pt x="2818797" y="681302"/>
                  <a:pt x="2824003" y="679400"/>
                  <a:pt x="2826710" y="683362"/>
                </a:cubicBezTo>
                <a:cubicBezTo>
                  <a:pt x="2820046" y="684312"/>
                  <a:pt x="2826710" y="690334"/>
                  <a:pt x="2820046" y="687324"/>
                </a:cubicBezTo>
                <a:cubicBezTo>
                  <a:pt x="2821504" y="686372"/>
                  <a:pt x="2820046" y="681302"/>
                  <a:pt x="2817547" y="682411"/>
                </a:cubicBezTo>
                <a:cubicBezTo>
                  <a:pt x="2816089" y="684312"/>
                  <a:pt x="2810883" y="688432"/>
                  <a:pt x="2806927" y="685422"/>
                </a:cubicBezTo>
                <a:cubicBezTo>
                  <a:pt x="2809634" y="683362"/>
                  <a:pt x="2812133" y="681302"/>
                  <a:pt x="2816089" y="679400"/>
                </a:cubicBezTo>
                <a:close/>
                <a:moveTo>
                  <a:pt x="2737279" y="679400"/>
                </a:moveTo>
                <a:cubicBezTo>
                  <a:pt x="2738562" y="682500"/>
                  <a:pt x="2734499" y="684457"/>
                  <a:pt x="2731934" y="687556"/>
                </a:cubicBezTo>
                <a:cubicBezTo>
                  <a:pt x="2727872" y="683478"/>
                  <a:pt x="2731934" y="681357"/>
                  <a:pt x="2737279" y="679400"/>
                </a:cubicBezTo>
                <a:close/>
                <a:moveTo>
                  <a:pt x="2959355" y="678464"/>
                </a:moveTo>
                <a:cubicBezTo>
                  <a:pt x="2952967" y="680350"/>
                  <a:pt x="2956883" y="684281"/>
                  <a:pt x="2955440" y="687269"/>
                </a:cubicBezTo>
                <a:cubicBezTo>
                  <a:pt x="2963271" y="689312"/>
                  <a:pt x="2962035" y="681294"/>
                  <a:pt x="2959355" y="678464"/>
                </a:cubicBezTo>
                <a:close/>
                <a:moveTo>
                  <a:pt x="3271316" y="677960"/>
                </a:moveTo>
                <a:cubicBezTo>
                  <a:pt x="3267269" y="678543"/>
                  <a:pt x="3265105" y="684320"/>
                  <a:pt x="3268041" y="687269"/>
                </a:cubicBezTo>
                <a:cubicBezTo>
                  <a:pt x="3273194" y="684281"/>
                  <a:pt x="3271958" y="681294"/>
                  <a:pt x="3275872" y="679408"/>
                </a:cubicBezTo>
                <a:cubicBezTo>
                  <a:pt x="3274224" y="678149"/>
                  <a:pt x="3272666" y="677766"/>
                  <a:pt x="3271316" y="677960"/>
                </a:cubicBezTo>
                <a:close/>
                <a:moveTo>
                  <a:pt x="3408860" y="675906"/>
                </a:moveTo>
                <a:cubicBezTo>
                  <a:pt x="3409166" y="675542"/>
                  <a:pt x="3409777" y="675542"/>
                  <a:pt x="3410999" y="676537"/>
                </a:cubicBezTo>
                <a:cubicBezTo>
                  <a:pt x="3408555" y="679446"/>
                  <a:pt x="3408555" y="683272"/>
                  <a:pt x="3404686" y="686179"/>
                </a:cubicBezTo>
                <a:cubicBezTo>
                  <a:pt x="3403260" y="684190"/>
                  <a:pt x="3399389" y="681281"/>
                  <a:pt x="3402037" y="679446"/>
                </a:cubicBezTo>
                <a:cubicBezTo>
                  <a:pt x="3403260" y="680364"/>
                  <a:pt x="3405907" y="679446"/>
                  <a:pt x="3408555" y="677455"/>
                </a:cubicBezTo>
                <a:cubicBezTo>
                  <a:pt x="3408555" y="676996"/>
                  <a:pt x="3408555" y="676269"/>
                  <a:pt x="3408860" y="675906"/>
                </a:cubicBezTo>
                <a:close/>
                <a:moveTo>
                  <a:pt x="3256296" y="675477"/>
                </a:moveTo>
                <a:cubicBezTo>
                  <a:pt x="3249908" y="678464"/>
                  <a:pt x="3252380" y="682394"/>
                  <a:pt x="3247229" y="686325"/>
                </a:cubicBezTo>
                <a:cubicBezTo>
                  <a:pt x="3253823" y="688369"/>
                  <a:pt x="3260211" y="679408"/>
                  <a:pt x="3256296" y="675477"/>
                </a:cubicBezTo>
                <a:close/>
                <a:moveTo>
                  <a:pt x="2634764" y="670388"/>
                </a:moveTo>
                <a:cubicBezTo>
                  <a:pt x="2641341" y="675286"/>
                  <a:pt x="2634764" y="678194"/>
                  <a:pt x="2630858" y="682020"/>
                </a:cubicBezTo>
                <a:cubicBezTo>
                  <a:pt x="2626954" y="680031"/>
                  <a:pt x="2634764" y="674214"/>
                  <a:pt x="2626954" y="675286"/>
                </a:cubicBezTo>
                <a:cubicBezTo>
                  <a:pt x="2624282" y="672377"/>
                  <a:pt x="2633530" y="673295"/>
                  <a:pt x="2634764" y="670388"/>
                </a:cubicBezTo>
                <a:close/>
                <a:moveTo>
                  <a:pt x="632796" y="669669"/>
                </a:moveTo>
                <a:cubicBezTo>
                  <a:pt x="626201" y="673598"/>
                  <a:pt x="621049" y="676585"/>
                  <a:pt x="622285" y="680514"/>
                </a:cubicBezTo>
                <a:cubicBezTo>
                  <a:pt x="626201" y="680514"/>
                  <a:pt x="634032" y="673598"/>
                  <a:pt x="632796" y="669669"/>
                </a:cubicBezTo>
                <a:close/>
                <a:moveTo>
                  <a:pt x="3218585" y="665414"/>
                </a:moveTo>
                <a:cubicBezTo>
                  <a:pt x="3215907" y="668402"/>
                  <a:pt x="3210755" y="671389"/>
                  <a:pt x="3208076" y="675477"/>
                </a:cubicBezTo>
                <a:cubicBezTo>
                  <a:pt x="3208076" y="675477"/>
                  <a:pt x="3208076" y="675477"/>
                  <a:pt x="3213434" y="681294"/>
                </a:cubicBezTo>
                <a:cubicBezTo>
                  <a:pt x="3217349" y="679408"/>
                  <a:pt x="3219821" y="679408"/>
                  <a:pt x="3221265" y="681294"/>
                </a:cubicBezTo>
                <a:cubicBezTo>
                  <a:pt x="3221265" y="676420"/>
                  <a:pt x="3218585" y="670445"/>
                  <a:pt x="3218585" y="665414"/>
                </a:cubicBezTo>
                <a:close/>
                <a:moveTo>
                  <a:pt x="2751171" y="665323"/>
                </a:moveTo>
                <a:lnTo>
                  <a:pt x="2751154" y="665383"/>
                </a:lnTo>
                <a:lnTo>
                  <a:pt x="2751103" y="665382"/>
                </a:lnTo>
                <a:close/>
                <a:moveTo>
                  <a:pt x="617133" y="664638"/>
                </a:moveTo>
                <a:lnTo>
                  <a:pt x="608065" y="670612"/>
                </a:lnTo>
                <a:cubicBezTo>
                  <a:pt x="610538" y="676585"/>
                  <a:pt x="623727" y="668568"/>
                  <a:pt x="617133" y="664638"/>
                </a:cubicBezTo>
                <a:close/>
                <a:moveTo>
                  <a:pt x="3147016" y="663455"/>
                </a:moveTo>
                <a:cubicBezTo>
                  <a:pt x="3153832" y="665303"/>
                  <a:pt x="3149785" y="674084"/>
                  <a:pt x="3151063" y="679939"/>
                </a:cubicBezTo>
                <a:cubicBezTo>
                  <a:pt x="3147016" y="677012"/>
                  <a:pt x="3147016" y="677012"/>
                  <a:pt x="3140414" y="674084"/>
                </a:cubicBezTo>
                <a:cubicBezTo>
                  <a:pt x="3142970" y="668231"/>
                  <a:pt x="3149785" y="669309"/>
                  <a:pt x="3147016" y="663455"/>
                </a:cubicBezTo>
                <a:close/>
                <a:moveTo>
                  <a:pt x="3268041" y="660540"/>
                </a:moveTo>
                <a:cubicBezTo>
                  <a:pt x="3265569" y="662427"/>
                  <a:pt x="3262890" y="663528"/>
                  <a:pt x="3261653" y="662427"/>
                </a:cubicBezTo>
                <a:cubicBezTo>
                  <a:pt x="3258975" y="669502"/>
                  <a:pt x="3256296" y="672489"/>
                  <a:pt x="3261653" y="678464"/>
                </a:cubicBezTo>
                <a:cubicBezTo>
                  <a:pt x="3258975" y="672489"/>
                  <a:pt x="3270721" y="667458"/>
                  <a:pt x="3268041" y="660540"/>
                </a:cubicBezTo>
                <a:close/>
                <a:moveTo>
                  <a:pt x="2752466" y="660540"/>
                </a:moveTo>
                <a:cubicBezTo>
                  <a:pt x="2755660" y="661484"/>
                  <a:pt x="2754011" y="662977"/>
                  <a:pt x="2752543" y="664097"/>
                </a:cubicBezTo>
                <a:lnTo>
                  <a:pt x="2751171" y="665323"/>
                </a:lnTo>
                <a:close/>
                <a:moveTo>
                  <a:pt x="2669751" y="655136"/>
                </a:moveTo>
                <a:cubicBezTo>
                  <a:pt x="2674967" y="660219"/>
                  <a:pt x="2662328" y="664191"/>
                  <a:pt x="2663532" y="670228"/>
                </a:cubicBezTo>
                <a:cubicBezTo>
                  <a:pt x="2659720" y="665145"/>
                  <a:pt x="2668548" y="657201"/>
                  <a:pt x="2669751" y="655136"/>
                </a:cubicBezTo>
                <a:close/>
                <a:moveTo>
                  <a:pt x="744700" y="654736"/>
                </a:moveTo>
                <a:cubicBezTo>
                  <a:pt x="740784" y="658665"/>
                  <a:pt x="729244" y="661652"/>
                  <a:pt x="730480" y="664638"/>
                </a:cubicBezTo>
                <a:cubicBezTo>
                  <a:pt x="736869" y="664638"/>
                  <a:pt x="743463" y="658665"/>
                  <a:pt x="744700" y="654736"/>
                </a:cubicBezTo>
                <a:close/>
                <a:moveTo>
                  <a:pt x="3301836" y="653465"/>
                </a:moveTo>
                <a:cubicBezTo>
                  <a:pt x="3284939" y="657553"/>
                  <a:pt x="3286382" y="675477"/>
                  <a:pt x="3286382" y="681294"/>
                </a:cubicBezTo>
                <a:cubicBezTo>
                  <a:pt x="3282467" y="677363"/>
                  <a:pt x="3278551" y="679408"/>
                  <a:pt x="3275872" y="687269"/>
                </a:cubicBezTo>
                <a:cubicBezTo>
                  <a:pt x="3278551" y="688369"/>
                  <a:pt x="3281024" y="688369"/>
                  <a:pt x="3284939" y="686325"/>
                </a:cubicBezTo>
                <a:cubicBezTo>
                  <a:pt x="3279787" y="694344"/>
                  <a:pt x="3269278" y="706135"/>
                  <a:pt x="3275872" y="711166"/>
                </a:cubicBezTo>
                <a:cubicBezTo>
                  <a:pt x="3283703" y="704248"/>
                  <a:pt x="3283703" y="698274"/>
                  <a:pt x="3295449" y="694344"/>
                </a:cubicBezTo>
                <a:cubicBezTo>
                  <a:pt x="3296685" y="688369"/>
                  <a:pt x="3301836" y="683338"/>
                  <a:pt x="3292770" y="676420"/>
                </a:cubicBezTo>
                <a:cubicBezTo>
                  <a:pt x="3296685" y="677363"/>
                  <a:pt x="3300600" y="679408"/>
                  <a:pt x="3305752" y="678464"/>
                </a:cubicBezTo>
                <a:cubicBezTo>
                  <a:pt x="3308431" y="675477"/>
                  <a:pt x="3309667" y="672489"/>
                  <a:pt x="3309667" y="668402"/>
                </a:cubicBezTo>
                <a:cubicBezTo>
                  <a:pt x="3305752" y="666515"/>
                  <a:pt x="3303279" y="663528"/>
                  <a:pt x="3299363" y="663528"/>
                </a:cubicBezTo>
                <a:cubicBezTo>
                  <a:pt x="3301836" y="658496"/>
                  <a:pt x="3296685" y="659439"/>
                  <a:pt x="3301836" y="653465"/>
                </a:cubicBezTo>
                <a:close/>
                <a:moveTo>
                  <a:pt x="2835446" y="653056"/>
                </a:moveTo>
                <a:cubicBezTo>
                  <a:pt x="2838172" y="654144"/>
                  <a:pt x="2840688" y="654144"/>
                  <a:pt x="2842157" y="656008"/>
                </a:cubicBezTo>
                <a:cubicBezTo>
                  <a:pt x="2838172" y="658029"/>
                  <a:pt x="2836704" y="661913"/>
                  <a:pt x="2831461" y="658961"/>
                </a:cubicBezTo>
                <a:cubicBezTo>
                  <a:pt x="2834189" y="658029"/>
                  <a:pt x="2836704" y="658029"/>
                  <a:pt x="2838172" y="658029"/>
                </a:cubicBezTo>
                <a:cubicBezTo>
                  <a:pt x="2836704" y="656008"/>
                  <a:pt x="2832929" y="654144"/>
                  <a:pt x="2835446" y="653056"/>
                </a:cubicBezTo>
                <a:close/>
                <a:moveTo>
                  <a:pt x="3100821" y="646124"/>
                </a:moveTo>
                <a:cubicBezTo>
                  <a:pt x="3102045" y="650348"/>
                  <a:pt x="3095716" y="652298"/>
                  <a:pt x="3098370" y="656360"/>
                </a:cubicBezTo>
                <a:cubicBezTo>
                  <a:pt x="3089181" y="651323"/>
                  <a:pt x="3084076" y="651323"/>
                  <a:pt x="3100821" y="646124"/>
                </a:cubicBezTo>
                <a:close/>
                <a:moveTo>
                  <a:pt x="3204556" y="643972"/>
                </a:moveTo>
                <a:lnTo>
                  <a:pt x="3202844" y="649159"/>
                </a:lnTo>
                <a:lnTo>
                  <a:pt x="3205500" y="650969"/>
                </a:lnTo>
                <a:cubicBezTo>
                  <a:pt x="3207768" y="651853"/>
                  <a:pt x="3210034" y="652600"/>
                  <a:pt x="3211992" y="654566"/>
                </a:cubicBezTo>
                <a:cubicBezTo>
                  <a:pt x="3219821" y="653465"/>
                  <a:pt x="3209519" y="649534"/>
                  <a:pt x="3217349" y="648592"/>
                </a:cubicBezTo>
                <a:cubicBezTo>
                  <a:pt x="3215907" y="644661"/>
                  <a:pt x="3210755" y="649534"/>
                  <a:pt x="3208076" y="647648"/>
                </a:cubicBezTo>
                <a:close/>
                <a:moveTo>
                  <a:pt x="2683030" y="641270"/>
                </a:moveTo>
                <a:cubicBezTo>
                  <a:pt x="2686784" y="646182"/>
                  <a:pt x="2681647" y="650302"/>
                  <a:pt x="2679277" y="652204"/>
                </a:cubicBezTo>
                <a:cubicBezTo>
                  <a:pt x="2677894" y="648242"/>
                  <a:pt x="2683030" y="645232"/>
                  <a:pt x="2683030" y="641270"/>
                </a:cubicBezTo>
                <a:close/>
                <a:moveTo>
                  <a:pt x="3275872" y="639629"/>
                </a:moveTo>
                <a:lnTo>
                  <a:pt x="3271958" y="642617"/>
                </a:lnTo>
                <a:lnTo>
                  <a:pt x="3272435" y="642684"/>
                </a:lnTo>
                <a:lnTo>
                  <a:pt x="3268068" y="646567"/>
                </a:lnTo>
                <a:cubicBezTo>
                  <a:pt x="3267424" y="650281"/>
                  <a:pt x="3267424" y="654487"/>
                  <a:pt x="3264127" y="656453"/>
                </a:cubicBezTo>
                <a:cubicBezTo>
                  <a:pt x="3271958" y="660540"/>
                  <a:pt x="3271958" y="640573"/>
                  <a:pt x="3281024" y="651578"/>
                </a:cubicBezTo>
                <a:cubicBezTo>
                  <a:pt x="3286382" y="649534"/>
                  <a:pt x="3282467" y="646547"/>
                  <a:pt x="3286382" y="644661"/>
                </a:cubicBezTo>
                <a:lnTo>
                  <a:pt x="3272435" y="642684"/>
                </a:lnTo>
                <a:close/>
                <a:moveTo>
                  <a:pt x="3208506" y="635736"/>
                </a:moveTo>
                <a:lnTo>
                  <a:pt x="3207759" y="637003"/>
                </a:lnTo>
                <a:lnTo>
                  <a:pt x="3208681" y="636281"/>
                </a:lnTo>
                <a:close/>
                <a:moveTo>
                  <a:pt x="2838347" y="635316"/>
                </a:moveTo>
                <a:cubicBezTo>
                  <a:pt x="2843466" y="634338"/>
                  <a:pt x="2847357" y="634338"/>
                  <a:pt x="2851248" y="636295"/>
                </a:cubicBezTo>
                <a:cubicBezTo>
                  <a:pt x="2842238" y="638416"/>
                  <a:pt x="2851248" y="641515"/>
                  <a:pt x="2844695" y="642494"/>
                </a:cubicBezTo>
                <a:cubicBezTo>
                  <a:pt x="2836914" y="641515"/>
                  <a:pt x="2846129" y="638416"/>
                  <a:pt x="2838347" y="635316"/>
                </a:cubicBezTo>
                <a:close/>
                <a:moveTo>
                  <a:pt x="2813366" y="633515"/>
                </a:moveTo>
                <a:cubicBezTo>
                  <a:pt x="2811940" y="634652"/>
                  <a:pt x="2815810" y="641801"/>
                  <a:pt x="2808070" y="639689"/>
                </a:cubicBezTo>
                <a:cubicBezTo>
                  <a:pt x="2810719" y="638714"/>
                  <a:pt x="2804201" y="631565"/>
                  <a:pt x="2813366" y="633515"/>
                </a:cubicBezTo>
                <a:close/>
                <a:moveTo>
                  <a:pt x="3268763" y="632063"/>
                </a:moveTo>
                <a:cubicBezTo>
                  <a:pt x="3267475" y="632437"/>
                  <a:pt x="3266187" y="633183"/>
                  <a:pt x="3265569" y="633655"/>
                </a:cubicBezTo>
                <a:cubicBezTo>
                  <a:pt x="3265569" y="633655"/>
                  <a:pt x="3265569" y="633655"/>
                  <a:pt x="3269278" y="639629"/>
                </a:cubicBezTo>
                <a:cubicBezTo>
                  <a:pt x="3278551" y="635699"/>
                  <a:pt x="3269278" y="634756"/>
                  <a:pt x="3271958" y="632712"/>
                </a:cubicBezTo>
                <a:cubicBezTo>
                  <a:pt x="3271339" y="631689"/>
                  <a:pt x="3270051" y="631689"/>
                  <a:pt x="3268763" y="632063"/>
                </a:cubicBezTo>
                <a:close/>
                <a:moveTo>
                  <a:pt x="3564630" y="630438"/>
                </a:moveTo>
                <a:cubicBezTo>
                  <a:pt x="3564630" y="633457"/>
                  <a:pt x="3560739" y="634569"/>
                  <a:pt x="3560739" y="637429"/>
                </a:cubicBezTo>
                <a:cubicBezTo>
                  <a:pt x="3565859" y="636475"/>
                  <a:pt x="3567292" y="638541"/>
                  <a:pt x="3567292" y="640447"/>
                </a:cubicBezTo>
                <a:cubicBezTo>
                  <a:pt x="3556848" y="644578"/>
                  <a:pt x="3552957" y="629485"/>
                  <a:pt x="3564630" y="630438"/>
                </a:cubicBezTo>
                <a:close/>
                <a:moveTo>
                  <a:pt x="3481953" y="626712"/>
                </a:moveTo>
                <a:cubicBezTo>
                  <a:pt x="3490045" y="626712"/>
                  <a:pt x="3488767" y="632632"/>
                  <a:pt x="3488767" y="638552"/>
                </a:cubicBezTo>
                <a:cubicBezTo>
                  <a:pt x="3476628" y="640421"/>
                  <a:pt x="3477905" y="630606"/>
                  <a:pt x="3481953" y="626712"/>
                </a:cubicBezTo>
                <a:close/>
                <a:moveTo>
                  <a:pt x="2124670" y="624139"/>
                </a:moveTo>
                <a:cubicBezTo>
                  <a:pt x="2121907" y="624751"/>
                  <a:pt x="2119550" y="628878"/>
                  <a:pt x="2118468" y="631943"/>
                </a:cubicBezTo>
                <a:cubicBezTo>
                  <a:pt x="2122384" y="628799"/>
                  <a:pt x="2126299" y="632886"/>
                  <a:pt x="2127535" y="624869"/>
                </a:cubicBezTo>
                <a:cubicBezTo>
                  <a:pt x="2126557" y="624123"/>
                  <a:pt x="2125591" y="623936"/>
                  <a:pt x="2124670" y="624139"/>
                </a:cubicBezTo>
                <a:close/>
                <a:moveTo>
                  <a:pt x="1000040" y="614966"/>
                </a:moveTo>
                <a:cubicBezTo>
                  <a:pt x="993446" y="621882"/>
                  <a:pt x="985614" y="614966"/>
                  <a:pt x="983142" y="619996"/>
                </a:cubicBezTo>
                <a:cubicBezTo>
                  <a:pt x="985614" y="618896"/>
                  <a:pt x="988294" y="618896"/>
                  <a:pt x="989530" y="621882"/>
                </a:cubicBezTo>
                <a:cubicBezTo>
                  <a:pt x="997362" y="614966"/>
                  <a:pt x="1000040" y="621882"/>
                  <a:pt x="1003956" y="617010"/>
                </a:cubicBezTo>
                <a:cubicBezTo>
                  <a:pt x="1001277" y="617010"/>
                  <a:pt x="1000040" y="617010"/>
                  <a:pt x="1000040" y="614966"/>
                </a:cubicBezTo>
                <a:close/>
                <a:moveTo>
                  <a:pt x="1070316" y="611980"/>
                </a:moveTo>
                <a:cubicBezTo>
                  <a:pt x="1065163" y="612922"/>
                  <a:pt x="1061248" y="614966"/>
                  <a:pt x="1060012" y="617010"/>
                </a:cubicBezTo>
                <a:cubicBezTo>
                  <a:pt x="1061248" y="619996"/>
                  <a:pt x="1063927" y="621882"/>
                  <a:pt x="1067843" y="621882"/>
                </a:cubicBezTo>
                <a:cubicBezTo>
                  <a:pt x="1066400" y="617953"/>
                  <a:pt x="1074232" y="615909"/>
                  <a:pt x="1070316" y="611980"/>
                </a:cubicBezTo>
                <a:close/>
                <a:moveTo>
                  <a:pt x="3079229" y="611460"/>
                </a:moveTo>
                <a:cubicBezTo>
                  <a:pt x="3074182" y="616462"/>
                  <a:pt x="3089326" y="623341"/>
                  <a:pt x="3081653" y="627249"/>
                </a:cubicBezTo>
                <a:cubicBezTo>
                  <a:pt x="3079229" y="626310"/>
                  <a:pt x="3078018" y="624279"/>
                  <a:pt x="3075393" y="626310"/>
                </a:cubicBezTo>
                <a:cubicBezTo>
                  <a:pt x="3067719" y="621308"/>
                  <a:pt x="3071556" y="612398"/>
                  <a:pt x="3079229" y="611460"/>
                </a:cubicBezTo>
                <a:close/>
                <a:moveTo>
                  <a:pt x="3247448" y="610767"/>
                </a:moveTo>
                <a:cubicBezTo>
                  <a:pt x="3250157" y="612636"/>
                  <a:pt x="3234317" y="629461"/>
                  <a:pt x="3238277" y="635381"/>
                </a:cubicBezTo>
                <a:cubicBezTo>
                  <a:pt x="3227649" y="638342"/>
                  <a:pt x="3243488" y="613727"/>
                  <a:pt x="3247448" y="610767"/>
                </a:cubicBezTo>
                <a:close/>
                <a:moveTo>
                  <a:pt x="2012333" y="609779"/>
                </a:moveTo>
                <a:cubicBezTo>
                  <a:pt x="2011355" y="609268"/>
                  <a:pt x="2010376" y="608993"/>
                  <a:pt x="2009037" y="609936"/>
                </a:cubicBezTo>
                <a:cubicBezTo>
                  <a:pt x="2007800" y="617010"/>
                  <a:pt x="2014395" y="614966"/>
                  <a:pt x="2015631" y="611036"/>
                </a:cubicBezTo>
                <a:cubicBezTo>
                  <a:pt x="2014292" y="611036"/>
                  <a:pt x="2013312" y="610289"/>
                  <a:pt x="2012333" y="609779"/>
                </a:cubicBezTo>
                <a:close/>
                <a:moveTo>
                  <a:pt x="1093810" y="607107"/>
                </a:moveTo>
                <a:cubicBezTo>
                  <a:pt x="1095046" y="611036"/>
                  <a:pt x="1084742" y="611980"/>
                  <a:pt x="1085978" y="615909"/>
                </a:cubicBezTo>
                <a:cubicBezTo>
                  <a:pt x="1089894" y="615909"/>
                  <a:pt x="1091130" y="617010"/>
                  <a:pt x="1092367" y="617953"/>
                </a:cubicBezTo>
                <a:cubicBezTo>
                  <a:pt x="1100404" y="617010"/>
                  <a:pt x="1097725" y="614023"/>
                  <a:pt x="1104320" y="612922"/>
                </a:cubicBezTo>
                <a:cubicBezTo>
                  <a:pt x="1104320" y="608050"/>
                  <a:pt x="1095046" y="612922"/>
                  <a:pt x="1093810" y="608993"/>
                </a:cubicBezTo>
                <a:cubicBezTo>
                  <a:pt x="1095046" y="608050"/>
                  <a:pt x="1096282" y="607107"/>
                  <a:pt x="1093810" y="607107"/>
                </a:cubicBezTo>
                <a:close/>
                <a:moveTo>
                  <a:pt x="1119776" y="606006"/>
                </a:moveTo>
                <a:cubicBezTo>
                  <a:pt x="1114624" y="604120"/>
                  <a:pt x="1102877" y="608050"/>
                  <a:pt x="1106793" y="612922"/>
                </a:cubicBezTo>
                <a:cubicBezTo>
                  <a:pt x="1113388" y="611036"/>
                  <a:pt x="1121219" y="609936"/>
                  <a:pt x="1119776" y="606006"/>
                </a:cubicBezTo>
                <a:close/>
                <a:moveTo>
                  <a:pt x="3481179" y="604527"/>
                </a:moveTo>
                <a:cubicBezTo>
                  <a:pt x="3498231" y="607497"/>
                  <a:pt x="3481179" y="614375"/>
                  <a:pt x="3487754" y="620316"/>
                </a:cubicBezTo>
                <a:cubicBezTo>
                  <a:pt x="3478713" y="620316"/>
                  <a:pt x="3478713" y="620316"/>
                  <a:pt x="3478713" y="620316"/>
                </a:cubicBezTo>
                <a:cubicBezTo>
                  <a:pt x="3479947" y="616408"/>
                  <a:pt x="3474810" y="606560"/>
                  <a:pt x="3481179" y="604527"/>
                </a:cubicBezTo>
                <a:close/>
                <a:moveTo>
                  <a:pt x="2678647" y="604527"/>
                </a:moveTo>
                <a:cubicBezTo>
                  <a:pt x="2684047" y="615088"/>
                  <a:pt x="2667016" y="612180"/>
                  <a:pt x="2657669" y="616160"/>
                </a:cubicBezTo>
                <a:cubicBezTo>
                  <a:pt x="2655177" y="609272"/>
                  <a:pt x="2672208" y="608354"/>
                  <a:pt x="2678647" y="604527"/>
                </a:cubicBezTo>
                <a:close/>
                <a:moveTo>
                  <a:pt x="2193969" y="602448"/>
                </a:moveTo>
                <a:cubicBezTo>
                  <a:pt x="2195180" y="607567"/>
                  <a:pt x="2188718" y="606607"/>
                  <a:pt x="2186296" y="608527"/>
                </a:cubicBezTo>
                <a:cubicBezTo>
                  <a:pt x="2186296" y="603567"/>
                  <a:pt x="2190132" y="604527"/>
                  <a:pt x="2193969" y="602448"/>
                </a:cubicBezTo>
                <a:close/>
                <a:moveTo>
                  <a:pt x="2775752" y="601896"/>
                </a:moveTo>
                <a:cubicBezTo>
                  <a:pt x="2782345" y="607870"/>
                  <a:pt x="2764005" y="615731"/>
                  <a:pt x="2777194" y="619819"/>
                </a:cubicBezTo>
                <a:cubicBezTo>
                  <a:pt x="2769363" y="621706"/>
                  <a:pt x="2767920" y="625637"/>
                  <a:pt x="2770599" y="628624"/>
                </a:cubicBezTo>
                <a:cubicBezTo>
                  <a:pt x="2765447" y="629724"/>
                  <a:pt x="2767920" y="634756"/>
                  <a:pt x="2762769" y="631768"/>
                </a:cubicBezTo>
                <a:cubicBezTo>
                  <a:pt x="2769363" y="622807"/>
                  <a:pt x="2767920" y="612744"/>
                  <a:pt x="2775752" y="601896"/>
                </a:cubicBezTo>
                <a:close/>
                <a:moveTo>
                  <a:pt x="2102487" y="601754"/>
                </a:moveTo>
                <a:cubicBezTo>
                  <a:pt x="2102487" y="606460"/>
                  <a:pt x="2099971" y="605431"/>
                  <a:pt x="2098503" y="606460"/>
                </a:cubicBezTo>
                <a:cubicBezTo>
                  <a:pt x="2097244" y="601754"/>
                  <a:pt x="2099971" y="602636"/>
                  <a:pt x="2102487" y="601754"/>
                </a:cubicBezTo>
                <a:close/>
                <a:moveTo>
                  <a:pt x="2111589" y="600794"/>
                </a:moveTo>
                <a:cubicBezTo>
                  <a:pt x="2110226" y="602714"/>
                  <a:pt x="2111589" y="607833"/>
                  <a:pt x="2109057" y="607833"/>
                </a:cubicBezTo>
                <a:cubicBezTo>
                  <a:pt x="2109057" y="603834"/>
                  <a:pt x="2109057" y="599674"/>
                  <a:pt x="2111589" y="600794"/>
                </a:cubicBezTo>
                <a:close/>
                <a:moveTo>
                  <a:pt x="3551840" y="598981"/>
                </a:moveTo>
                <a:cubicBezTo>
                  <a:pt x="3549133" y="608833"/>
                  <a:pt x="3549133" y="622750"/>
                  <a:pt x="3549133" y="640421"/>
                </a:cubicBezTo>
                <a:cubicBezTo>
                  <a:pt x="3546634" y="639482"/>
                  <a:pt x="3532058" y="602890"/>
                  <a:pt x="3551840" y="598981"/>
                </a:cubicBezTo>
                <a:close/>
                <a:moveTo>
                  <a:pt x="3247142" y="597595"/>
                </a:moveTo>
                <a:cubicBezTo>
                  <a:pt x="3253958" y="599499"/>
                  <a:pt x="3252467" y="601562"/>
                  <a:pt x="3256514" y="606640"/>
                </a:cubicBezTo>
                <a:cubicBezTo>
                  <a:pt x="3247142" y="610607"/>
                  <a:pt x="3243096" y="602514"/>
                  <a:pt x="3247142" y="597595"/>
                </a:cubicBezTo>
                <a:close/>
                <a:moveTo>
                  <a:pt x="3076154" y="596901"/>
                </a:moveTo>
                <a:cubicBezTo>
                  <a:pt x="3077586" y="600881"/>
                  <a:pt x="3086597" y="605625"/>
                  <a:pt x="3078816" y="608534"/>
                </a:cubicBezTo>
                <a:cubicBezTo>
                  <a:pt x="3072263" y="604707"/>
                  <a:pt x="3077586" y="600881"/>
                  <a:pt x="3076154" y="596901"/>
                </a:cubicBezTo>
                <a:close/>
                <a:moveTo>
                  <a:pt x="1933332" y="596703"/>
                </a:moveTo>
                <a:cubicBezTo>
                  <a:pt x="1933763" y="596909"/>
                  <a:pt x="1934227" y="597597"/>
                  <a:pt x="1934845" y="599090"/>
                </a:cubicBezTo>
                <a:lnTo>
                  <a:pt x="1933291" y="596718"/>
                </a:lnTo>
                <a:close/>
                <a:moveTo>
                  <a:pt x="3284305" y="595739"/>
                </a:moveTo>
                <a:cubicBezTo>
                  <a:pt x="3282196" y="595007"/>
                  <a:pt x="3279736" y="594938"/>
                  <a:pt x="3277109" y="595921"/>
                </a:cubicBezTo>
                <a:cubicBezTo>
                  <a:pt x="3283703" y="598908"/>
                  <a:pt x="3287618" y="603940"/>
                  <a:pt x="3278551" y="602839"/>
                </a:cubicBezTo>
                <a:cubicBezTo>
                  <a:pt x="3279787" y="605826"/>
                  <a:pt x="3282467" y="609757"/>
                  <a:pt x="3288854" y="609757"/>
                </a:cubicBezTo>
                <a:cubicBezTo>
                  <a:pt x="3293800" y="606101"/>
                  <a:pt x="3290632" y="597935"/>
                  <a:pt x="3284305" y="595739"/>
                </a:cubicBezTo>
                <a:close/>
                <a:moveTo>
                  <a:pt x="2165395" y="594822"/>
                </a:moveTo>
                <a:cubicBezTo>
                  <a:pt x="2166653" y="596658"/>
                  <a:pt x="2169380" y="594822"/>
                  <a:pt x="2170638" y="600637"/>
                </a:cubicBezTo>
                <a:cubicBezTo>
                  <a:pt x="2165395" y="600637"/>
                  <a:pt x="2165395" y="606454"/>
                  <a:pt x="2161412" y="602474"/>
                </a:cubicBezTo>
                <a:cubicBezTo>
                  <a:pt x="2159944" y="596658"/>
                  <a:pt x="2167912" y="602474"/>
                  <a:pt x="2165395" y="594822"/>
                </a:cubicBezTo>
                <a:close/>
                <a:moveTo>
                  <a:pt x="1915834" y="594453"/>
                </a:moveTo>
                <a:cubicBezTo>
                  <a:pt x="1912743" y="594335"/>
                  <a:pt x="1909498" y="595081"/>
                  <a:pt x="1906200" y="597047"/>
                </a:cubicBezTo>
                <a:cubicBezTo>
                  <a:pt x="1912794" y="600033"/>
                  <a:pt x="1917947" y="599090"/>
                  <a:pt x="1924541" y="597047"/>
                </a:cubicBezTo>
                <a:cubicBezTo>
                  <a:pt x="1921863" y="595553"/>
                  <a:pt x="1918925" y="594571"/>
                  <a:pt x="1915834" y="594453"/>
                </a:cubicBezTo>
                <a:close/>
                <a:moveTo>
                  <a:pt x="1128716" y="591780"/>
                </a:moveTo>
                <a:cubicBezTo>
                  <a:pt x="1125959" y="591663"/>
                  <a:pt x="1123692" y="592645"/>
                  <a:pt x="1123692" y="596103"/>
                </a:cubicBezTo>
                <a:cubicBezTo>
                  <a:pt x="1126371" y="595160"/>
                  <a:pt x="1138118" y="597047"/>
                  <a:pt x="1136675" y="594060"/>
                </a:cubicBezTo>
                <a:cubicBezTo>
                  <a:pt x="1134718" y="593117"/>
                  <a:pt x="1131472" y="591899"/>
                  <a:pt x="1128716" y="591780"/>
                </a:cubicBezTo>
                <a:close/>
                <a:moveTo>
                  <a:pt x="2074519" y="590609"/>
                </a:moveTo>
                <a:cubicBezTo>
                  <a:pt x="2076013" y="591249"/>
                  <a:pt x="2077323" y="592528"/>
                  <a:pt x="2077953" y="593009"/>
                </a:cubicBezTo>
                <a:cubicBezTo>
                  <a:pt x="2076694" y="598128"/>
                  <a:pt x="2075436" y="589968"/>
                  <a:pt x="2069984" y="592049"/>
                </a:cubicBezTo>
                <a:cubicBezTo>
                  <a:pt x="2071347" y="589968"/>
                  <a:pt x="2073025" y="589968"/>
                  <a:pt x="2074519" y="590609"/>
                </a:cubicBezTo>
                <a:close/>
                <a:moveTo>
                  <a:pt x="3181020" y="589968"/>
                </a:moveTo>
                <a:cubicBezTo>
                  <a:pt x="3182266" y="592048"/>
                  <a:pt x="3184966" y="593008"/>
                  <a:pt x="3187459" y="593968"/>
                </a:cubicBezTo>
                <a:cubicBezTo>
                  <a:pt x="3184966" y="595088"/>
                  <a:pt x="3183513" y="597008"/>
                  <a:pt x="3183513" y="598128"/>
                </a:cubicBezTo>
                <a:cubicBezTo>
                  <a:pt x="3182266" y="595088"/>
                  <a:pt x="3173127" y="592048"/>
                  <a:pt x="3181020" y="589968"/>
                </a:cubicBezTo>
                <a:close/>
                <a:moveTo>
                  <a:pt x="748546" y="589968"/>
                </a:moveTo>
                <a:cubicBezTo>
                  <a:pt x="747283" y="595047"/>
                  <a:pt x="734026" y="598062"/>
                  <a:pt x="731290" y="602982"/>
                </a:cubicBezTo>
                <a:cubicBezTo>
                  <a:pt x="728765" y="596952"/>
                  <a:pt x="742022" y="592032"/>
                  <a:pt x="748546" y="589968"/>
                </a:cubicBezTo>
                <a:close/>
                <a:moveTo>
                  <a:pt x="1982803" y="588821"/>
                </a:moveTo>
                <a:cubicBezTo>
                  <a:pt x="1980687" y="587251"/>
                  <a:pt x="1974311" y="592645"/>
                  <a:pt x="1975238" y="594060"/>
                </a:cubicBezTo>
                <a:cubicBezTo>
                  <a:pt x="1977917" y="590130"/>
                  <a:pt x="1980390" y="593117"/>
                  <a:pt x="1983070" y="593117"/>
                </a:cubicBezTo>
                <a:cubicBezTo>
                  <a:pt x="1983739" y="590641"/>
                  <a:pt x="1983508" y="589344"/>
                  <a:pt x="1982803" y="588821"/>
                </a:cubicBezTo>
                <a:close/>
                <a:moveTo>
                  <a:pt x="2993208" y="587674"/>
                </a:moveTo>
                <a:cubicBezTo>
                  <a:pt x="2997045" y="585809"/>
                  <a:pt x="2999467" y="585809"/>
                  <a:pt x="3002092" y="587674"/>
                </a:cubicBezTo>
                <a:cubicBezTo>
                  <a:pt x="2999467" y="588761"/>
                  <a:pt x="2999467" y="594666"/>
                  <a:pt x="2995631" y="592646"/>
                </a:cubicBezTo>
                <a:cubicBezTo>
                  <a:pt x="2998256" y="589693"/>
                  <a:pt x="2997045" y="587674"/>
                  <a:pt x="2993208" y="587674"/>
                </a:cubicBezTo>
                <a:close/>
                <a:moveTo>
                  <a:pt x="2203043" y="587195"/>
                </a:moveTo>
                <a:cubicBezTo>
                  <a:pt x="2204266" y="598131"/>
                  <a:pt x="2199173" y="593132"/>
                  <a:pt x="2192656" y="594070"/>
                </a:cubicBezTo>
                <a:cubicBezTo>
                  <a:pt x="2194082" y="589226"/>
                  <a:pt x="2201821" y="591101"/>
                  <a:pt x="2203043" y="587195"/>
                </a:cubicBezTo>
                <a:close/>
                <a:moveTo>
                  <a:pt x="2223712" y="585739"/>
                </a:moveTo>
                <a:cubicBezTo>
                  <a:pt x="2225192" y="585627"/>
                  <a:pt x="2226585" y="586115"/>
                  <a:pt x="2227887" y="587834"/>
                </a:cubicBezTo>
                <a:cubicBezTo>
                  <a:pt x="2223930" y="591899"/>
                  <a:pt x="2217266" y="596745"/>
                  <a:pt x="2209562" y="592837"/>
                </a:cubicBezTo>
                <a:cubicBezTo>
                  <a:pt x="2209562" y="590805"/>
                  <a:pt x="2209562" y="588929"/>
                  <a:pt x="2208104" y="585958"/>
                </a:cubicBezTo>
                <a:cubicBezTo>
                  <a:pt x="2214039" y="591821"/>
                  <a:pt x="2219271" y="586076"/>
                  <a:pt x="2223712" y="585739"/>
                </a:cubicBezTo>
                <a:close/>
                <a:moveTo>
                  <a:pt x="1828428" y="585277"/>
                </a:moveTo>
                <a:cubicBezTo>
                  <a:pt x="1826136" y="585650"/>
                  <a:pt x="1824177" y="587143"/>
                  <a:pt x="1824177" y="590130"/>
                </a:cubicBezTo>
                <a:cubicBezTo>
                  <a:pt x="1828093" y="589187"/>
                  <a:pt x="1834688" y="593117"/>
                  <a:pt x="1834688" y="587143"/>
                </a:cubicBezTo>
                <a:cubicBezTo>
                  <a:pt x="1833348" y="585650"/>
                  <a:pt x="1830721" y="584904"/>
                  <a:pt x="1828428" y="585277"/>
                </a:cubicBezTo>
                <a:close/>
                <a:moveTo>
                  <a:pt x="1006032" y="585116"/>
                </a:moveTo>
                <a:cubicBezTo>
                  <a:pt x="1008440" y="590236"/>
                  <a:pt x="1008440" y="590236"/>
                  <a:pt x="1008440" y="590236"/>
                </a:cubicBezTo>
                <a:cubicBezTo>
                  <a:pt x="1000816" y="595355"/>
                  <a:pt x="1002220" y="585116"/>
                  <a:pt x="994597" y="589276"/>
                </a:cubicBezTo>
                <a:cubicBezTo>
                  <a:pt x="993192" y="586236"/>
                  <a:pt x="1004628" y="585116"/>
                  <a:pt x="1006032" y="585116"/>
                </a:cubicBezTo>
                <a:close/>
                <a:moveTo>
                  <a:pt x="953060" y="585116"/>
                </a:moveTo>
                <a:cubicBezTo>
                  <a:pt x="955731" y="594054"/>
                  <a:pt x="940118" y="591074"/>
                  <a:pt x="933749" y="598131"/>
                </a:cubicBezTo>
                <a:cubicBezTo>
                  <a:pt x="932311" y="592172"/>
                  <a:pt x="949157" y="590134"/>
                  <a:pt x="953060" y="585116"/>
                </a:cubicBezTo>
                <a:close/>
                <a:moveTo>
                  <a:pt x="2104791" y="584408"/>
                </a:moveTo>
                <a:cubicBezTo>
                  <a:pt x="2105928" y="584679"/>
                  <a:pt x="2107240" y="585689"/>
                  <a:pt x="2107946" y="585689"/>
                </a:cubicBezTo>
                <a:cubicBezTo>
                  <a:pt x="2106533" y="590506"/>
                  <a:pt x="2104111" y="584601"/>
                  <a:pt x="2102696" y="587554"/>
                </a:cubicBezTo>
                <a:cubicBezTo>
                  <a:pt x="2102696" y="584602"/>
                  <a:pt x="2103656" y="584136"/>
                  <a:pt x="2104791" y="584408"/>
                </a:cubicBezTo>
                <a:close/>
                <a:moveTo>
                  <a:pt x="1242295" y="583331"/>
                </a:moveTo>
                <a:cubicBezTo>
                  <a:pt x="1237091" y="583960"/>
                  <a:pt x="1231887" y="586200"/>
                  <a:pt x="1231887" y="589187"/>
                </a:cubicBezTo>
                <a:cubicBezTo>
                  <a:pt x="1240955" y="589187"/>
                  <a:pt x="1242192" y="586200"/>
                  <a:pt x="1252702" y="587143"/>
                </a:cubicBezTo>
                <a:cubicBezTo>
                  <a:pt x="1252702" y="583685"/>
                  <a:pt x="1247498" y="582703"/>
                  <a:pt x="1242295" y="583331"/>
                </a:cubicBezTo>
                <a:close/>
                <a:moveTo>
                  <a:pt x="3587220" y="583036"/>
                </a:moveTo>
                <a:cubicBezTo>
                  <a:pt x="3605456" y="583036"/>
                  <a:pt x="3588654" y="587956"/>
                  <a:pt x="3591113" y="595097"/>
                </a:cubicBezTo>
                <a:cubicBezTo>
                  <a:pt x="3584761" y="596049"/>
                  <a:pt x="3589884" y="587003"/>
                  <a:pt x="3587220" y="583036"/>
                </a:cubicBezTo>
                <a:close/>
                <a:moveTo>
                  <a:pt x="2165901" y="581649"/>
                </a:moveTo>
                <a:cubicBezTo>
                  <a:pt x="2165901" y="584618"/>
                  <a:pt x="2164689" y="587586"/>
                  <a:pt x="2167112" y="588680"/>
                </a:cubicBezTo>
                <a:cubicBezTo>
                  <a:pt x="2169737" y="592585"/>
                  <a:pt x="2163276" y="586649"/>
                  <a:pt x="2162064" y="588680"/>
                </a:cubicBezTo>
                <a:cubicBezTo>
                  <a:pt x="2160853" y="583680"/>
                  <a:pt x="2164689" y="582743"/>
                  <a:pt x="2165901" y="581649"/>
                </a:cubicBezTo>
                <a:close/>
                <a:moveTo>
                  <a:pt x="2686025" y="580263"/>
                </a:moveTo>
                <a:cubicBezTo>
                  <a:pt x="2687451" y="583273"/>
                  <a:pt x="2691320" y="586284"/>
                  <a:pt x="2688673" y="590246"/>
                </a:cubicBezTo>
                <a:cubicBezTo>
                  <a:pt x="2686025" y="590246"/>
                  <a:pt x="2683581" y="590246"/>
                  <a:pt x="2680934" y="591197"/>
                </a:cubicBezTo>
                <a:cubicBezTo>
                  <a:pt x="2679711" y="586284"/>
                  <a:pt x="2682155" y="582164"/>
                  <a:pt x="2686025" y="580263"/>
                </a:cubicBezTo>
                <a:close/>
                <a:moveTo>
                  <a:pt x="2020887" y="578400"/>
                </a:moveTo>
                <a:cubicBezTo>
                  <a:pt x="2018928" y="578027"/>
                  <a:pt x="2016970" y="578262"/>
                  <a:pt x="2015631" y="580227"/>
                </a:cubicBezTo>
                <a:cubicBezTo>
                  <a:pt x="2018310" y="580227"/>
                  <a:pt x="2023462" y="585100"/>
                  <a:pt x="2026142" y="580227"/>
                </a:cubicBezTo>
                <a:cubicBezTo>
                  <a:pt x="2024802" y="579756"/>
                  <a:pt x="2022844" y="578773"/>
                  <a:pt x="2020887" y="578400"/>
                </a:cubicBezTo>
                <a:close/>
                <a:moveTo>
                  <a:pt x="1294331" y="578183"/>
                </a:moveTo>
                <a:cubicBezTo>
                  <a:pt x="1287736" y="576297"/>
                  <a:pt x="1272279" y="579284"/>
                  <a:pt x="1272279" y="585100"/>
                </a:cubicBezTo>
                <a:cubicBezTo>
                  <a:pt x="1281348" y="582114"/>
                  <a:pt x="1285263" y="585100"/>
                  <a:pt x="1293094" y="583214"/>
                </a:cubicBezTo>
                <a:cubicBezTo>
                  <a:pt x="1291652" y="581170"/>
                  <a:pt x="1295568" y="580227"/>
                  <a:pt x="1294331" y="578183"/>
                </a:cubicBezTo>
                <a:close/>
                <a:moveTo>
                  <a:pt x="1057332" y="578183"/>
                </a:moveTo>
                <a:cubicBezTo>
                  <a:pt x="1053417" y="577240"/>
                  <a:pt x="1048265" y="579284"/>
                  <a:pt x="1045586" y="582114"/>
                </a:cubicBezTo>
                <a:cubicBezTo>
                  <a:pt x="1046822" y="589187"/>
                  <a:pt x="1061248" y="583214"/>
                  <a:pt x="1057332" y="578183"/>
                </a:cubicBezTo>
                <a:close/>
                <a:moveTo>
                  <a:pt x="1970086" y="577240"/>
                </a:moveTo>
                <a:cubicBezTo>
                  <a:pt x="1974001" y="576297"/>
                  <a:pt x="1966170" y="583214"/>
                  <a:pt x="1970086" y="584157"/>
                </a:cubicBezTo>
                <a:cubicBezTo>
                  <a:pt x="1972559" y="579284"/>
                  <a:pt x="1980390" y="585100"/>
                  <a:pt x="1980390" y="578183"/>
                </a:cubicBezTo>
                <a:cubicBezTo>
                  <a:pt x="1977917" y="578183"/>
                  <a:pt x="1972559" y="576297"/>
                  <a:pt x="1970086" y="577240"/>
                </a:cubicBezTo>
                <a:close/>
                <a:moveTo>
                  <a:pt x="2190636" y="575206"/>
                </a:moveTo>
                <a:cubicBezTo>
                  <a:pt x="2188012" y="584117"/>
                  <a:pt x="2175290" y="576300"/>
                  <a:pt x="2174079" y="589119"/>
                </a:cubicBezTo>
                <a:cubicBezTo>
                  <a:pt x="2172867" y="585055"/>
                  <a:pt x="2170242" y="587087"/>
                  <a:pt x="2169030" y="582084"/>
                </a:cubicBezTo>
                <a:cubicBezTo>
                  <a:pt x="2176704" y="584117"/>
                  <a:pt x="2175290" y="574268"/>
                  <a:pt x="2181752" y="579271"/>
                </a:cubicBezTo>
                <a:cubicBezTo>
                  <a:pt x="2181752" y="573330"/>
                  <a:pt x="2188012" y="576300"/>
                  <a:pt x="2190636" y="575206"/>
                </a:cubicBezTo>
                <a:close/>
                <a:moveTo>
                  <a:pt x="1530248" y="575001"/>
                </a:moveTo>
                <a:cubicBezTo>
                  <a:pt x="1527465" y="575472"/>
                  <a:pt x="1524837" y="576690"/>
                  <a:pt x="1523498" y="578183"/>
                </a:cubicBezTo>
                <a:cubicBezTo>
                  <a:pt x="1524735" y="580227"/>
                  <a:pt x="1540398" y="582114"/>
                  <a:pt x="1537925" y="576297"/>
                </a:cubicBezTo>
                <a:cubicBezTo>
                  <a:pt x="1535967" y="574804"/>
                  <a:pt x="1533030" y="574529"/>
                  <a:pt x="1530248" y="575001"/>
                </a:cubicBezTo>
                <a:close/>
                <a:moveTo>
                  <a:pt x="3500933" y="573330"/>
                </a:moveTo>
                <a:cubicBezTo>
                  <a:pt x="3515493" y="577228"/>
                  <a:pt x="3511540" y="595001"/>
                  <a:pt x="3515493" y="605758"/>
                </a:cubicBezTo>
                <a:cubicBezTo>
                  <a:pt x="3498437" y="604822"/>
                  <a:pt x="3508837" y="582061"/>
                  <a:pt x="3500933" y="573330"/>
                </a:cubicBezTo>
                <a:close/>
                <a:moveTo>
                  <a:pt x="3043107" y="573330"/>
                </a:moveTo>
                <a:cubicBezTo>
                  <a:pt x="3045551" y="573330"/>
                  <a:pt x="3049421" y="574254"/>
                  <a:pt x="3052068" y="577181"/>
                </a:cubicBezTo>
                <a:cubicBezTo>
                  <a:pt x="3048198" y="580109"/>
                  <a:pt x="3045551" y="578106"/>
                  <a:pt x="3043107" y="578106"/>
                </a:cubicBezTo>
                <a:cubicBezTo>
                  <a:pt x="3044329" y="579184"/>
                  <a:pt x="3043107" y="580109"/>
                  <a:pt x="3041885" y="579184"/>
                </a:cubicBezTo>
                <a:cubicBezTo>
                  <a:pt x="3045551" y="577181"/>
                  <a:pt x="3040459" y="575179"/>
                  <a:pt x="3043107" y="573330"/>
                </a:cubicBezTo>
                <a:close/>
                <a:moveTo>
                  <a:pt x="2198335" y="573330"/>
                </a:moveTo>
                <a:cubicBezTo>
                  <a:pt x="2199699" y="577283"/>
                  <a:pt x="2199699" y="580288"/>
                  <a:pt x="2198335" y="582185"/>
                </a:cubicBezTo>
                <a:cubicBezTo>
                  <a:pt x="2196745" y="580288"/>
                  <a:pt x="2199699" y="577283"/>
                  <a:pt x="2196745" y="577283"/>
                </a:cubicBezTo>
                <a:cubicBezTo>
                  <a:pt x="2195383" y="574278"/>
                  <a:pt x="2196745" y="573330"/>
                  <a:pt x="2198335" y="573330"/>
                </a:cubicBezTo>
                <a:close/>
                <a:moveTo>
                  <a:pt x="1580790" y="573311"/>
                </a:moveTo>
                <a:cubicBezTo>
                  <a:pt x="1567807" y="574254"/>
                  <a:pt x="1548229" y="571267"/>
                  <a:pt x="1543076" y="578183"/>
                </a:cubicBezTo>
                <a:cubicBezTo>
                  <a:pt x="1557296" y="577240"/>
                  <a:pt x="1561212" y="577240"/>
                  <a:pt x="1576874" y="580227"/>
                </a:cubicBezTo>
                <a:cubicBezTo>
                  <a:pt x="1582233" y="576297"/>
                  <a:pt x="1575638" y="577240"/>
                  <a:pt x="1580790" y="573311"/>
                </a:cubicBezTo>
                <a:close/>
                <a:moveTo>
                  <a:pt x="1922304" y="573288"/>
                </a:moveTo>
                <a:cubicBezTo>
                  <a:pt x="1919839" y="581125"/>
                  <a:pt x="1926206" y="571250"/>
                  <a:pt x="1924974" y="577206"/>
                </a:cubicBezTo>
                <a:cubicBezTo>
                  <a:pt x="1921072" y="583162"/>
                  <a:pt x="1908132" y="575169"/>
                  <a:pt x="1902793" y="583162"/>
                </a:cubicBezTo>
                <a:cubicBezTo>
                  <a:pt x="1901560" y="585043"/>
                  <a:pt x="1905462" y="585043"/>
                  <a:pt x="1906695" y="585043"/>
                </a:cubicBezTo>
                <a:cubicBezTo>
                  <a:pt x="1906695" y="587081"/>
                  <a:pt x="1904127" y="587081"/>
                  <a:pt x="1901868" y="585847"/>
                </a:cubicBezTo>
                <a:lnTo>
                  <a:pt x="1900426" y="584467"/>
                </a:lnTo>
                <a:lnTo>
                  <a:pt x="1899057" y="582902"/>
                </a:lnTo>
                <a:lnTo>
                  <a:pt x="1898889" y="579244"/>
                </a:lnTo>
                <a:cubicBezTo>
                  <a:pt x="1902793" y="580185"/>
                  <a:pt x="1905462" y="581125"/>
                  <a:pt x="1904230" y="574228"/>
                </a:cubicBezTo>
                <a:cubicBezTo>
                  <a:pt x="1908132" y="579244"/>
                  <a:pt x="1915937" y="575169"/>
                  <a:pt x="1922304" y="573288"/>
                </a:cubicBezTo>
                <a:close/>
                <a:moveTo>
                  <a:pt x="1939088" y="572800"/>
                </a:moveTo>
                <a:cubicBezTo>
                  <a:pt x="1940462" y="573942"/>
                  <a:pt x="1941667" y="575981"/>
                  <a:pt x="1941667" y="578020"/>
                </a:cubicBezTo>
                <a:cubicBezTo>
                  <a:pt x="1938005" y="578020"/>
                  <a:pt x="1938005" y="573942"/>
                  <a:pt x="1935498" y="572963"/>
                </a:cubicBezTo>
                <a:cubicBezTo>
                  <a:pt x="1936173" y="571413"/>
                  <a:pt x="1937716" y="571658"/>
                  <a:pt x="1939088" y="572800"/>
                </a:cubicBezTo>
                <a:close/>
                <a:moveTo>
                  <a:pt x="1896222" y="572175"/>
                </a:moveTo>
                <a:cubicBezTo>
                  <a:pt x="1895006" y="578029"/>
                  <a:pt x="1895006" y="578029"/>
                  <a:pt x="1895006" y="578029"/>
                </a:cubicBezTo>
                <a:cubicBezTo>
                  <a:pt x="1892370" y="575102"/>
                  <a:pt x="1871891" y="577105"/>
                  <a:pt x="1887301" y="575102"/>
                </a:cubicBezTo>
                <a:cubicBezTo>
                  <a:pt x="1889734" y="574178"/>
                  <a:pt x="1892370" y="571250"/>
                  <a:pt x="1896222" y="572175"/>
                </a:cubicBezTo>
                <a:close/>
                <a:moveTo>
                  <a:pt x="1815892" y="571728"/>
                </a:moveTo>
                <a:cubicBezTo>
                  <a:pt x="1821092" y="569864"/>
                  <a:pt x="1822548" y="577633"/>
                  <a:pt x="1825044" y="572816"/>
                </a:cubicBezTo>
                <a:cubicBezTo>
                  <a:pt x="1831701" y="576700"/>
                  <a:pt x="1817140" y="574681"/>
                  <a:pt x="1818596" y="578721"/>
                </a:cubicBezTo>
                <a:cubicBezTo>
                  <a:pt x="1814643" y="578721"/>
                  <a:pt x="1814643" y="575769"/>
                  <a:pt x="1815892" y="571728"/>
                </a:cubicBezTo>
                <a:close/>
                <a:moveTo>
                  <a:pt x="3082903" y="569170"/>
                </a:moveTo>
                <a:cubicBezTo>
                  <a:pt x="3086845" y="570201"/>
                  <a:pt x="3092085" y="572738"/>
                  <a:pt x="3095508" y="575374"/>
                </a:cubicBezTo>
                <a:lnTo>
                  <a:pt x="3095779" y="575682"/>
                </a:lnTo>
                <a:lnTo>
                  <a:pt x="3101136" y="574896"/>
                </a:lnTo>
                <a:cubicBezTo>
                  <a:pt x="3100828" y="576372"/>
                  <a:pt x="3099792" y="577295"/>
                  <a:pt x="3098306" y="577848"/>
                </a:cubicBezTo>
                <a:lnTo>
                  <a:pt x="3097748" y="577923"/>
                </a:lnTo>
                <a:lnTo>
                  <a:pt x="3098892" y="579226"/>
                </a:lnTo>
                <a:cubicBezTo>
                  <a:pt x="3099308" y="580418"/>
                  <a:pt x="3098880" y="581458"/>
                  <a:pt x="3097220" y="582172"/>
                </a:cubicBezTo>
                <a:cubicBezTo>
                  <a:pt x="3092032" y="577257"/>
                  <a:pt x="3094730" y="595331"/>
                  <a:pt x="3086845" y="593270"/>
                </a:cubicBezTo>
                <a:cubicBezTo>
                  <a:pt x="3088089" y="598344"/>
                  <a:pt x="3093278" y="597234"/>
                  <a:pt x="3089335" y="601356"/>
                </a:cubicBezTo>
                <a:cubicBezTo>
                  <a:pt x="3086845" y="599295"/>
                  <a:pt x="3088089" y="603259"/>
                  <a:pt x="3084148" y="604369"/>
                </a:cubicBezTo>
                <a:cubicBezTo>
                  <a:pt x="3080931" y="597789"/>
                  <a:pt x="3080620" y="592239"/>
                  <a:pt x="3081113" y="586710"/>
                </a:cubicBezTo>
                <a:lnTo>
                  <a:pt x="3082008" y="577942"/>
                </a:lnTo>
                <a:lnTo>
                  <a:pt x="3080441" y="577848"/>
                </a:lnTo>
                <a:lnTo>
                  <a:pt x="3082133" y="576713"/>
                </a:lnTo>
                <a:close/>
                <a:moveTo>
                  <a:pt x="1134202" y="568281"/>
                </a:moveTo>
                <a:cubicBezTo>
                  <a:pt x="1127608" y="566237"/>
                  <a:pt x="1121219" y="571267"/>
                  <a:pt x="1121219" y="575197"/>
                </a:cubicBezTo>
                <a:cubicBezTo>
                  <a:pt x="1127608" y="574254"/>
                  <a:pt x="1132760" y="572210"/>
                  <a:pt x="1134202" y="568281"/>
                </a:cubicBezTo>
                <a:close/>
                <a:moveTo>
                  <a:pt x="2140302" y="566874"/>
                </a:moveTo>
                <a:cubicBezTo>
                  <a:pt x="2140302" y="567828"/>
                  <a:pt x="2141560" y="568781"/>
                  <a:pt x="2141560" y="568781"/>
                </a:cubicBezTo>
                <a:lnTo>
                  <a:pt x="2140302" y="566909"/>
                </a:lnTo>
                <a:close/>
                <a:moveTo>
                  <a:pt x="2896021" y="566824"/>
                </a:moveTo>
                <a:cubicBezTo>
                  <a:pt x="2906669" y="565704"/>
                  <a:pt x="2896021" y="570824"/>
                  <a:pt x="2906669" y="571784"/>
                </a:cubicBezTo>
                <a:cubicBezTo>
                  <a:pt x="2904113" y="573864"/>
                  <a:pt x="2902623" y="574824"/>
                  <a:pt x="2902623" y="575943"/>
                </a:cubicBezTo>
                <a:cubicBezTo>
                  <a:pt x="2900067" y="570824"/>
                  <a:pt x="2893253" y="570824"/>
                  <a:pt x="2896021" y="566824"/>
                </a:cubicBezTo>
                <a:close/>
                <a:moveTo>
                  <a:pt x="1157696" y="566237"/>
                </a:moveTo>
                <a:cubicBezTo>
                  <a:pt x="1149865" y="570324"/>
                  <a:pt x="1142033" y="565294"/>
                  <a:pt x="1140591" y="572210"/>
                </a:cubicBezTo>
                <a:cubicBezTo>
                  <a:pt x="1147186" y="572210"/>
                  <a:pt x="1153781" y="570324"/>
                  <a:pt x="1157696" y="566237"/>
                </a:cubicBezTo>
                <a:close/>
                <a:moveTo>
                  <a:pt x="2139166" y="565219"/>
                </a:moveTo>
                <a:lnTo>
                  <a:pt x="2140302" y="566909"/>
                </a:lnTo>
                <a:lnTo>
                  <a:pt x="2140302" y="568781"/>
                </a:lnTo>
                <a:cubicBezTo>
                  <a:pt x="2140302" y="572911"/>
                  <a:pt x="2134850" y="569893"/>
                  <a:pt x="2133592" y="573865"/>
                </a:cubicBezTo>
                <a:cubicBezTo>
                  <a:pt x="2133592" y="573150"/>
                  <a:pt x="2136541" y="565018"/>
                  <a:pt x="2139166" y="565219"/>
                </a:cubicBezTo>
                <a:close/>
                <a:moveTo>
                  <a:pt x="1650139" y="564391"/>
                </a:moveTo>
                <a:cubicBezTo>
                  <a:pt x="1652669" y="564763"/>
                  <a:pt x="1657061" y="567910"/>
                  <a:pt x="1659963" y="567210"/>
                </a:cubicBezTo>
                <a:cubicBezTo>
                  <a:pt x="1659963" y="571095"/>
                  <a:pt x="1651002" y="568142"/>
                  <a:pt x="1648354" y="569075"/>
                </a:cubicBezTo>
                <a:cubicBezTo>
                  <a:pt x="1649577" y="567210"/>
                  <a:pt x="1651002" y="566122"/>
                  <a:pt x="1648354" y="565190"/>
                </a:cubicBezTo>
                <a:cubicBezTo>
                  <a:pt x="1648660" y="564452"/>
                  <a:pt x="1649297" y="564268"/>
                  <a:pt x="1650139" y="564391"/>
                </a:cubicBezTo>
                <a:close/>
                <a:moveTo>
                  <a:pt x="2114509" y="564318"/>
                </a:moveTo>
                <a:cubicBezTo>
                  <a:pt x="2116100" y="565293"/>
                  <a:pt x="2117463" y="570492"/>
                  <a:pt x="2118825" y="570492"/>
                </a:cubicBezTo>
                <a:cubicBezTo>
                  <a:pt x="2118825" y="574554"/>
                  <a:pt x="2117463" y="574554"/>
                  <a:pt x="2116100" y="574554"/>
                </a:cubicBezTo>
                <a:cubicBezTo>
                  <a:pt x="2114509" y="569355"/>
                  <a:pt x="2116100" y="568379"/>
                  <a:pt x="2114509" y="564318"/>
                </a:cubicBezTo>
                <a:close/>
                <a:moveTo>
                  <a:pt x="2111556" y="564318"/>
                </a:moveTo>
                <a:cubicBezTo>
                  <a:pt x="2111556" y="567278"/>
                  <a:pt x="2112919" y="570238"/>
                  <a:pt x="2114282" y="569148"/>
                </a:cubicBezTo>
                <a:cubicBezTo>
                  <a:pt x="2112919" y="571172"/>
                  <a:pt x="2114282" y="578027"/>
                  <a:pt x="2111556" y="578027"/>
                </a:cubicBezTo>
                <a:cubicBezTo>
                  <a:pt x="2109966" y="572107"/>
                  <a:pt x="2112919" y="573198"/>
                  <a:pt x="2112919" y="571172"/>
                </a:cubicBezTo>
                <a:cubicBezTo>
                  <a:pt x="2111556" y="569148"/>
                  <a:pt x="2111556" y="568212"/>
                  <a:pt x="2109966" y="566188"/>
                </a:cubicBezTo>
                <a:cubicBezTo>
                  <a:pt x="2109966" y="564318"/>
                  <a:pt x="2111556" y="565252"/>
                  <a:pt x="2111556" y="564318"/>
                </a:cubicBezTo>
                <a:close/>
                <a:moveTo>
                  <a:pt x="3007388" y="563687"/>
                </a:moveTo>
                <a:lnTo>
                  <a:pt x="3006085" y="563708"/>
                </a:lnTo>
                <a:lnTo>
                  <a:pt x="3007575" y="564161"/>
                </a:lnTo>
                <a:close/>
                <a:moveTo>
                  <a:pt x="2649757" y="559321"/>
                </a:moveTo>
                <a:cubicBezTo>
                  <a:pt x="2646047" y="563408"/>
                  <a:pt x="2648521" y="564351"/>
                  <a:pt x="2644605" y="567337"/>
                </a:cubicBezTo>
                <a:cubicBezTo>
                  <a:pt x="2653672" y="572210"/>
                  <a:pt x="2652436" y="562307"/>
                  <a:pt x="2649757" y="559321"/>
                </a:cubicBezTo>
                <a:close/>
                <a:moveTo>
                  <a:pt x="2995829" y="559130"/>
                </a:moveTo>
                <a:lnTo>
                  <a:pt x="2995694" y="559421"/>
                </a:lnTo>
                <a:lnTo>
                  <a:pt x="2995983" y="559436"/>
                </a:lnTo>
                <a:close/>
                <a:moveTo>
                  <a:pt x="2938543" y="559130"/>
                </a:moveTo>
                <a:cubicBezTo>
                  <a:pt x="2933391" y="562118"/>
                  <a:pt x="2937307" y="564161"/>
                  <a:pt x="2937307" y="567149"/>
                </a:cubicBezTo>
                <a:cubicBezTo>
                  <a:pt x="2938543" y="566049"/>
                  <a:pt x="2946373" y="564161"/>
                  <a:pt x="2938543" y="559130"/>
                </a:cubicBezTo>
                <a:close/>
                <a:moveTo>
                  <a:pt x="2125802" y="557730"/>
                </a:moveTo>
                <a:lnTo>
                  <a:pt x="2130349" y="560754"/>
                </a:lnTo>
                <a:cubicBezTo>
                  <a:pt x="2133058" y="560754"/>
                  <a:pt x="2133058" y="559812"/>
                  <a:pt x="2137018" y="560754"/>
                </a:cubicBezTo>
                <a:cubicBezTo>
                  <a:pt x="2134309" y="567665"/>
                  <a:pt x="2125139" y="569707"/>
                  <a:pt x="2119928" y="569707"/>
                </a:cubicBezTo>
                <a:cubicBezTo>
                  <a:pt x="2119928" y="563739"/>
                  <a:pt x="2129099" y="566722"/>
                  <a:pt x="2131599" y="565623"/>
                </a:cubicBezTo>
                <a:close/>
                <a:moveTo>
                  <a:pt x="3325327" y="557244"/>
                </a:moveTo>
                <a:cubicBezTo>
                  <a:pt x="3324091" y="564161"/>
                  <a:pt x="3318940" y="559130"/>
                  <a:pt x="3313582" y="563218"/>
                </a:cubicBezTo>
                <a:cubicBezTo>
                  <a:pt x="3321413" y="567149"/>
                  <a:pt x="3307194" y="570136"/>
                  <a:pt x="3312346" y="574067"/>
                </a:cubicBezTo>
                <a:cubicBezTo>
                  <a:pt x="3316261" y="567149"/>
                  <a:pt x="3335837" y="566049"/>
                  <a:pt x="3325327" y="557244"/>
                </a:cubicBezTo>
                <a:close/>
                <a:moveTo>
                  <a:pt x="2125139" y="556827"/>
                </a:moveTo>
                <a:lnTo>
                  <a:pt x="2125802" y="557730"/>
                </a:lnTo>
                <a:lnTo>
                  <a:pt x="2124886" y="557121"/>
                </a:lnTo>
                <a:close/>
                <a:moveTo>
                  <a:pt x="1275855" y="555998"/>
                </a:moveTo>
                <a:cubicBezTo>
                  <a:pt x="1275855" y="558078"/>
                  <a:pt x="1277085" y="559038"/>
                  <a:pt x="1278314" y="559038"/>
                </a:cubicBezTo>
                <a:cubicBezTo>
                  <a:pt x="1271961" y="562078"/>
                  <a:pt x="1262737" y="562078"/>
                  <a:pt x="1251259" y="564158"/>
                </a:cubicBezTo>
                <a:cubicBezTo>
                  <a:pt x="1254948" y="560158"/>
                  <a:pt x="1270526" y="560158"/>
                  <a:pt x="1275855" y="555998"/>
                </a:cubicBezTo>
                <a:close/>
                <a:moveTo>
                  <a:pt x="925972" y="555305"/>
                </a:moveTo>
                <a:cubicBezTo>
                  <a:pt x="928468" y="559132"/>
                  <a:pt x="928468" y="559132"/>
                  <a:pt x="928468" y="559132"/>
                </a:cubicBezTo>
                <a:cubicBezTo>
                  <a:pt x="924516" y="556224"/>
                  <a:pt x="912867" y="566937"/>
                  <a:pt x="911411" y="560203"/>
                </a:cubicBezTo>
                <a:close/>
                <a:moveTo>
                  <a:pt x="2121491" y="554864"/>
                </a:moveTo>
                <a:lnTo>
                  <a:pt x="2124886" y="557121"/>
                </a:lnTo>
                <a:lnTo>
                  <a:pt x="2121778" y="560734"/>
                </a:lnTo>
                <a:cubicBezTo>
                  <a:pt x="2119459" y="561225"/>
                  <a:pt x="2116489" y="561225"/>
                  <a:pt x="2114509" y="561696"/>
                </a:cubicBezTo>
                <a:cubicBezTo>
                  <a:pt x="2115239" y="558712"/>
                  <a:pt x="2118209" y="555728"/>
                  <a:pt x="2121491" y="554864"/>
                </a:cubicBezTo>
                <a:close/>
                <a:moveTo>
                  <a:pt x="2380196" y="553347"/>
                </a:moveTo>
                <a:cubicBezTo>
                  <a:pt x="2380196" y="556334"/>
                  <a:pt x="2381640" y="559321"/>
                  <a:pt x="2377724" y="561364"/>
                </a:cubicBezTo>
                <a:cubicBezTo>
                  <a:pt x="2382876" y="565294"/>
                  <a:pt x="2385555" y="559321"/>
                  <a:pt x="2384113" y="557435"/>
                </a:cubicBezTo>
                <a:cubicBezTo>
                  <a:pt x="2380196" y="558378"/>
                  <a:pt x="2384113" y="555391"/>
                  <a:pt x="2380196" y="553347"/>
                </a:cubicBezTo>
                <a:close/>
                <a:moveTo>
                  <a:pt x="2693265" y="553225"/>
                </a:moveTo>
                <a:cubicBezTo>
                  <a:pt x="2694698" y="556265"/>
                  <a:pt x="2698589" y="558345"/>
                  <a:pt x="2695927" y="561385"/>
                </a:cubicBezTo>
                <a:cubicBezTo>
                  <a:pt x="2690808" y="559305"/>
                  <a:pt x="2689375" y="563464"/>
                  <a:pt x="2684255" y="560425"/>
                </a:cubicBezTo>
                <a:cubicBezTo>
                  <a:pt x="2690808" y="559305"/>
                  <a:pt x="2694698" y="559305"/>
                  <a:pt x="2693265" y="553225"/>
                </a:cubicBezTo>
                <a:close/>
                <a:moveTo>
                  <a:pt x="2676682" y="553225"/>
                </a:moveTo>
                <a:cubicBezTo>
                  <a:pt x="2683144" y="560260"/>
                  <a:pt x="2674057" y="567138"/>
                  <a:pt x="2670220" y="569014"/>
                </a:cubicBezTo>
                <a:cubicBezTo>
                  <a:pt x="2665172" y="565106"/>
                  <a:pt x="2676682" y="559166"/>
                  <a:pt x="2676682" y="553225"/>
                </a:cubicBezTo>
                <a:close/>
                <a:moveTo>
                  <a:pt x="1295088" y="553225"/>
                </a:moveTo>
                <a:cubicBezTo>
                  <a:pt x="1293885" y="555305"/>
                  <a:pt x="1293885" y="557385"/>
                  <a:pt x="1296493" y="557385"/>
                </a:cubicBezTo>
                <a:cubicBezTo>
                  <a:pt x="1291277" y="561385"/>
                  <a:pt x="1291277" y="554345"/>
                  <a:pt x="1281245" y="559305"/>
                </a:cubicBezTo>
                <a:cubicBezTo>
                  <a:pt x="1281245" y="555305"/>
                  <a:pt x="1288869" y="554345"/>
                  <a:pt x="1295088" y="553225"/>
                </a:cubicBezTo>
                <a:close/>
                <a:moveTo>
                  <a:pt x="1279223" y="551146"/>
                </a:moveTo>
                <a:cubicBezTo>
                  <a:pt x="1270162" y="557065"/>
                  <a:pt x="1248130" y="555975"/>
                  <a:pt x="1237629" y="564855"/>
                </a:cubicBezTo>
                <a:cubicBezTo>
                  <a:pt x="1242982" y="555040"/>
                  <a:pt x="1265015" y="554106"/>
                  <a:pt x="1279223" y="551146"/>
                </a:cubicBezTo>
                <a:close/>
                <a:moveTo>
                  <a:pt x="2133927" y="549312"/>
                </a:moveTo>
                <a:cubicBezTo>
                  <a:pt x="2137864" y="550265"/>
                  <a:pt x="2139107" y="552330"/>
                  <a:pt x="2143045" y="553284"/>
                </a:cubicBezTo>
                <a:cubicBezTo>
                  <a:pt x="2144289" y="561386"/>
                  <a:pt x="2132683" y="546293"/>
                  <a:pt x="2137864" y="559321"/>
                </a:cubicBezTo>
                <a:cubicBezTo>
                  <a:pt x="2136621" y="557414"/>
                  <a:pt x="2133927" y="552330"/>
                  <a:pt x="2133927" y="549312"/>
                </a:cubicBezTo>
                <a:close/>
                <a:moveTo>
                  <a:pt x="1350628" y="549305"/>
                </a:moveTo>
                <a:cubicBezTo>
                  <a:pt x="1354570" y="548373"/>
                  <a:pt x="1355815" y="551325"/>
                  <a:pt x="1361003" y="550237"/>
                </a:cubicBezTo>
                <a:cubicBezTo>
                  <a:pt x="1355815" y="556142"/>
                  <a:pt x="1351873" y="554277"/>
                  <a:pt x="1341498" y="557230"/>
                </a:cubicBezTo>
                <a:cubicBezTo>
                  <a:pt x="1334858" y="556142"/>
                  <a:pt x="1354570" y="555209"/>
                  <a:pt x="1350628" y="549305"/>
                </a:cubicBezTo>
                <a:close/>
                <a:moveTo>
                  <a:pt x="2151083" y="549066"/>
                </a:moveTo>
                <a:cubicBezTo>
                  <a:pt x="2152447" y="553772"/>
                  <a:pt x="2149721" y="551860"/>
                  <a:pt x="2148131" y="552742"/>
                </a:cubicBezTo>
                <a:cubicBezTo>
                  <a:pt x="2148131" y="549948"/>
                  <a:pt x="2149721" y="549066"/>
                  <a:pt x="2151083" y="549066"/>
                </a:cubicBezTo>
                <a:close/>
                <a:moveTo>
                  <a:pt x="2145632" y="548373"/>
                </a:moveTo>
                <a:cubicBezTo>
                  <a:pt x="2146995" y="554452"/>
                  <a:pt x="2145632" y="554452"/>
                  <a:pt x="2144041" y="554452"/>
                </a:cubicBezTo>
                <a:cubicBezTo>
                  <a:pt x="2142679" y="551412"/>
                  <a:pt x="2142679" y="548373"/>
                  <a:pt x="2145632" y="548373"/>
                </a:cubicBezTo>
                <a:close/>
                <a:moveTo>
                  <a:pt x="1080417" y="546763"/>
                </a:moveTo>
                <a:cubicBezTo>
                  <a:pt x="1086847" y="544906"/>
                  <a:pt x="1084357" y="552641"/>
                  <a:pt x="1092032" y="548774"/>
                </a:cubicBezTo>
                <a:cubicBezTo>
                  <a:pt x="1086847" y="554652"/>
                  <a:pt x="1061957" y="563470"/>
                  <a:pt x="1054075" y="560530"/>
                </a:cubicBezTo>
                <a:cubicBezTo>
                  <a:pt x="1055526" y="556663"/>
                  <a:pt x="1059468" y="554652"/>
                  <a:pt x="1065897" y="552641"/>
                </a:cubicBezTo>
                <a:cubicBezTo>
                  <a:pt x="1056771" y="559602"/>
                  <a:pt x="1090788" y="552641"/>
                  <a:pt x="1080417" y="546763"/>
                </a:cubicBezTo>
                <a:close/>
                <a:moveTo>
                  <a:pt x="2403691" y="545488"/>
                </a:moveTo>
                <a:cubicBezTo>
                  <a:pt x="2404927" y="547374"/>
                  <a:pt x="2401217" y="549418"/>
                  <a:pt x="2399775" y="549418"/>
                </a:cubicBezTo>
                <a:cubicBezTo>
                  <a:pt x="2406370" y="555391"/>
                  <a:pt x="2407606" y="545488"/>
                  <a:pt x="2403691" y="545488"/>
                </a:cubicBezTo>
                <a:close/>
                <a:moveTo>
                  <a:pt x="3035713" y="544906"/>
                </a:moveTo>
                <a:cubicBezTo>
                  <a:pt x="3024204" y="553793"/>
                  <a:pt x="3030666" y="564550"/>
                  <a:pt x="3014107" y="577334"/>
                </a:cubicBezTo>
                <a:cubicBezTo>
                  <a:pt x="3016732" y="570474"/>
                  <a:pt x="3019155" y="544906"/>
                  <a:pt x="3035713" y="544906"/>
                </a:cubicBezTo>
                <a:close/>
                <a:moveTo>
                  <a:pt x="2158318" y="544816"/>
                </a:moveTo>
                <a:cubicBezTo>
                  <a:pt x="2159547" y="542827"/>
                  <a:pt x="2160981" y="546653"/>
                  <a:pt x="2162209" y="545734"/>
                </a:cubicBezTo>
                <a:cubicBezTo>
                  <a:pt x="2166100" y="554459"/>
                  <a:pt x="2158318" y="543745"/>
                  <a:pt x="2162209" y="550632"/>
                </a:cubicBezTo>
                <a:cubicBezTo>
                  <a:pt x="2163438" y="554459"/>
                  <a:pt x="2159547" y="551551"/>
                  <a:pt x="2159547" y="549561"/>
                </a:cubicBezTo>
                <a:cubicBezTo>
                  <a:pt x="2151766" y="553540"/>
                  <a:pt x="2155861" y="546653"/>
                  <a:pt x="2159547" y="547725"/>
                </a:cubicBezTo>
                <a:cubicBezTo>
                  <a:pt x="2159547" y="547725"/>
                  <a:pt x="2159547" y="545734"/>
                  <a:pt x="2158318" y="544816"/>
                </a:cubicBezTo>
                <a:close/>
                <a:moveTo>
                  <a:pt x="2166097" y="542532"/>
                </a:moveTo>
                <a:cubicBezTo>
                  <a:pt x="2167331" y="541929"/>
                  <a:pt x="2169208" y="542419"/>
                  <a:pt x="2171085" y="543399"/>
                </a:cubicBezTo>
                <a:cubicBezTo>
                  <a:pt x="2171085" y="544303"/>
                  <a:pt x="2171085" y="546262"/>
                  <a:pt x="2172467" y="548222"/>
                </a:cubicBezTo>
                <a:cubicBezTo>
                  <a:pt x="2167331" y="544303"/>
                  <a:pt x="2168714" y="546262"/>
                  <a:pt x="2164961" y="548222"/>
                </a:cubicBezTo>
                <a:cubicBezTo>
                  <a:pt x="2164269" y="544831"/>
                  <a:pt x="2164862" y="543135"/>
                  <a:pt x="2166097" y="542532"/>
                </a:cubicBezTo>
                <a:close/>
                <a:moveTo>
                  <a:pt x="1122929" y="541440"/>
                </a:moveTo>
                <a:cubicBezTo>
                  <a:pt x="1122929" y="549599"/>
                  <a:pt x="1110021" y="544479"/>
                  <a:pt x="1102235" y="547519"/>
                </a:cubicBezTo>
                <a:cubicBezTo>
                  <a:pt x="1103669" y="542559"/>
                  <a:pt x="1115143" y="546559"/>
                  <a:pt x="1122929" y="541440"/>
                </a:cubicBezTo>
                <a:close/>
                <a:moveTo>
                  <a:pt x="2946841" y="540942"/>
                </a:moveTo>
                <a:cubicBezTo>
                  <a:pt x="2945356" y="541070"/>
                  <a:pt x="2943489" y="541758"/>
                  <a:pt x="2941222" y="543251"/>
                </a:cubicBezTo>
                <a:cubicBezTo>
                  <a:pt x="2950288" y="545295"/>
                  <a:pt x="2937307" y="544194"/>
                  <a:pt x="2933391" y="546238"/>
                </a:cubicBezTo>
                <a:cubicBezTo>
                  <a:pt x="2934627" y="547182"/>
                  <a:pt x="2936070" y="548282"/>
                  <a:pt x="2934627" y="549225"/>
                </a:cubicBezTo>
                <a:cubicBezTo>
                  <a:pt x="2933391" y="548204"/>
                  <a:pt x="2932104" y="547968"/>
                  <a:pt x="2930815" y="547732"/>
                </a:cubicBezTo>
                <a:lnTo>
                  <a:pt x="2929221" y="547107"/>
                </a:lnTo>
                <a:lnTo>
                  <a:pt x="2929047" y="548580"/>
                </a:lnTo>
                <a:lnTo>
                  <a:pt x="2927302" y="550224"/>
                </a:lnTo>
                <a:lnTo>
                  <a:pt x="2933391" y="550169"/>
                </a:lnTo>
                <a:cubicBezTo>
                  <a:pt x="2933391" y="553156"/>
                  <a:pt x="2936070" y="560231"/>
                  <a:pt x="2942458" y="557244"/>
                </a:cubicBezTo>
                <a:cubicBezTo>
                  <a:pt x="2943797" y="556222"/>
                  <a:pt x="2941840" y="554964"/>
                  <a:pt x="2940037" y="553589"/>
                </a:cubicBezTo>
                <a:lnTo>
                  <a:pt x="2938746" y="552310"/>
                </a:lnTo>
                <a:lnTo>
                  <a:pt x="2937859" y="552083"/>
                </a:lnTo>
                <a:lnTo>
                  <a:pt x="2937936" y="551507"/>
                </a:lnTo>
                <a:lnTo>
                  <a:pt x="2937879" y="551451"/>
                </a:lnTo>
                <a:lnTo>
                  <a:pt x="2937995" y="551065"/>
                </a:lnTo>
                <a:lnTo>
                  <a:pt x="2938156" y="549854"/>
                </a:lnTo>
                <a:cubicBezTo>
                  <a:pt x="2938981" y="548188"/>
                  <a:pt x="2940312" y="546401"/>
                  <a:pt x="2937650" y="545913"/>
                </a:cubicBezTo>
                <a:cubicBezTo>
                  <a:pt x="2938981" y="545142"/>
                  <a:pt x="2940153" y="544949"/>
                  <a:pt x="2941097" y="545157"/>
                </a:cubicBezTo>
                <a:cubicBezTo>
                  <a:pt x="2942515" y="545469"/>
                  <a:pt x="2943424" y="546684"/>
                  <a:pt x="2943598" y="548202"/>
                </a:cubicBezTo>
                <a:lnTo>
                  <a:pt x="2943121" y="549421"/>
                </a:lnTo>
                <a:lnTo>
                  <a:pt x="2944956" y="548341"/>
                </a:lnTo>
                <a:cubicBezTo>
                  <a:pt x="2946734" y="546985"/>
                  <a:pt x="2948331" y="545767"/>
                  <a:pt x="2950288" y="548282"/>
                </a:cubicBezTo>
                <a:cubicBezTo>
                  <a:pt x="2952297" y="545216"/>
                  <a:pt x="2951293" y="540559"/>
                  <a:pt x="2946841" y="540942"/>
                </a:cubicBezTo>
                <a:close/>
                <a:moveTo>
                  <a:pt x="3196086" y="540053"/>
                </a:moveTo>
                <a:cubicBezTo>
                  <a:pt x="3200132" y="543023"/>
                  <a:pt x="3194808" y="546931"/>
                  <a:pt x="3202901" y="549902"/>
                </a:cubicBezTo>
                <a:cubicBezTo>
                  <a:pt x="3192253" y="555842"/>
                  <a:pt x="3189484" y="543023"/>
                  <a:pt x="3196086" y="540053"/>
                </a:cubicBezTo>
                <a:close/>
                <a:moveTo>
                  <a:pt x="1246093" y="539599"/>
                </a:moveTo>
                <a:cubicBezTo>
                  <a:pt x="1248027" y="538980"/>
                  <a:pt x="1250625" y="538980"/>
                  <a:pt x="1252559" y="539986"/>
                </a:cubicBezTo>
                <a:cubicBezTo>
                  <a:pt x="1253781" y="542927"/>
                  <a:pt x="1244820" y="553764"/>
                  <a:pt x="1243597" y="546797"/>
                </a:cubicBezTo>
                <a:lnTo>
                  <a:pt x="1248690" y="545869"/>
                </a:lnTo>
                <a:cubicBezTo>
                  <a:pt x="1248690" y="542927"/>
                  <a:pt x="1246042" y="542927"/>
                  <a:pt x="1243597" y="542927"/>
                </a:cubicBezTo>
                <a:cubicBezTo>
                  <a:pt x="1242885" y="541457"/>
                  <a:pt x="1244158" y="540218"/>
                  <a:pt x="1246093" y="539599"/>
                </a:cubicBezTo>
                <a:close/>
                <a:moveTo>
                  <a:pt x="3067322" y="537974"/>
                </a:moveTo>
                <a:cubicBezTo>
                  <a:pt x="3073876" y="541013"/>
                  <a:pt x="3063432" y="548212"/>
                  <a:pt x="3059542" y="547092"/>
                </a:cubicBezTo>
                <a:cubicBezTo>
                  <a:pt x="3060770" y="544053"/>
                  <a:pt x="3059542" y="541013"/>
                  <a:pt x="3067322" y="537974"/>
                </a:cubicBezTo>
                <a:close/>
                <a:moveTo>
                  <a:pt x="1505485" y="537974"/>
                </a:moveTo>
                <a:cubicBezTo>
                  <a:pt x="1497667" y="541013"/>
                  <a:pt x="1484705" y="548212"/>
                  <a:pt x="1472978" y="544053"/>
                </a:cubicBezTo>
                <a:cubicBezTo>
                  <a:pt x="1480796" y="540053"/>
                  <a:pt x="1496432" y="541013"/>
                  <a:pt x="1505485" y="537974"/>
                </a:cubicBezTo>
                <a:close/>
                <a:moveTo>
                  <a:pt x="1139535" y="537538"/>
                </a:moveTo>
                <a:cubicBezTo>
                  <a:pt x="1144735" y="542608"/>
                  <a:pt x="1131630" y="541499"/>
                  <a:pt x="1136830" y="545620"/>
                </a:cubicBezTo>
                <a:cubicBezTo>
                  <a:pt x="1130382" y="547521"/>
                  <a:pt x="1131630" y="541499"/>
                  <a:pt x="1127677" y="542608"/>
                </a:cubicBezTo>
                <a:cubicBezTo>
                  <a:pt x="1127677" y="536587"/>
                  <a:pt x="1131630" y="540548"/>
                  <a:pt x="1139535" y="537538"/>
                </a:cubicBezTo>
                <a:close/>
                <a:moveTo>
                  <a:pt x="1278570" y="535940"/>
                </a:moveTo>
                <a:cubicBezTo>
                  <a:pt x="1280898" y="535836"/>
                  <a:pt x="1282779" y="535894"/>
                  <a:pt x="1283764" y="536125"/>
                </a:cubicBezTo>
                <a:cubicBezTo>
                  <a:pt x="1281274" y="539976"/>
                  <a:pt x="1262807" y="541979"/>
                  <a:pt x="1257620" y="540901"/>
                </a:cubicBezTo>
                <a:cubicBezTo>
                  <a:pt x="1260577" y="538012"/>
                  <a:pt x="1271587" y="536250"/>
                  <a:pt x="1278570" y="535940"/>
                </a:cubicBezTo>
                <a:close/>
                <a:moveTo>
                  <a:pt x="2816392" y="534507"/>
                </a:moveTo>
                <a:cubicBezTo>
                  <a:pt x="2820350" y="538415"/>
                  <a:pt x="2813893" y="544355"/>
                  <a:pt x="2815143" y="548420"/>
                </a:cubicBezTo>
                <a:cubicBezTo>
                  <a:pt x="2808479" y="550296"/>
                  <a:pt x="2808479" y="547326"/>
                  <a:pt x="2800566" y="545450"/>
                </a:cubicBezTo>
                <a:cubicBezTo>
                  <a:pt x="2812437" y="543418"/>
                  <a:pt x="2808479" y="540448"/>
                  <a:pt x="2816392" y="534507"/>
                </a:cubicBezTo>
                <a:close/>
                <a:moveTo>
                  <a:pt x="3102820" y="533351"/>
                </a:moveTo>
                <a:cubicBezTo>
                  <a:pt x="3105484" y="538253"/>
                  <a:pt x="3110606" y="530347"/>
                  <a:pt x="3112040" y="535407"/>
                </a:cubicBezTo>
                <a:cubicBezTo>
                  <a:pt x="3108147" y="538253"/>
                  <a:pt x="3109377" y="540309"/>
                  <a:pt x="3102820" y="543313"/>
                </a:cubicBezTo>
                <a:cubicBezTo>
                  <a:pt x="3106712" y="546317"/>
                  <a:pt x="3104255" y="552325"/>
                  <a:pt x="3112040" y="553274"/>
                </a:cubicBezTo>
                <a:cubicBezTo>
                  <a:pt x="3112040" y="557385"/>
                  <a:pt x="3108147" y="554381"/>
                  <a:pt x="3102820" y="558333"/>
                </a:cubicBezTo>
                <a:cubicBezTo>
                  <a:pt x="3101590" y="562286"/>
                  <a:pt x="3112040" y="561338"/>
                  <a:pt x="3106712" y="566239"/>
                </a:cubicBezTo>
                <a:cubicBezTo>
                  <a:pt x="3101590" y="563393"/>
                  <a:pt x="3096468" y="566239"/>
                  <a:pt x="3091346" y="561338"/>
                </a:cubicBezTo>
                <a:cubicBezTo>
                  <a:pt x="3099132" y="552325"/>
                  <a:pt x="3093805" y="544261"/>
                  <a:pt x="3102820" y="535407"/>
                </a:cubicBezTo>
                <a:cubicBezTo>
                  <a:pt x="3101590" y="534300"/>
                  <a:pt x="3101590" y="534300"/>
                  <a:pt x="3102820" y="533351"/>
                </a:cubicBezTo>
                <a:close/>
                <a:moveTo>
                  <a:pt x="3219821" y="533346"/>
                </a:moveTo>
                <a:cubicBezTo>
                  <a:pt x="3216628" y="535311"/>
                  <a:pt x="3214052" y="539281"/>
                  <a:pt x="3213073" y="543762"/>
                </a:cubicBezTo>
                <a:lnTo>
                  <a:pt x="3215638" y="555963"/>
                </a:lnTo>
                <a:lnTo>
                  <a:pt x="3216435" y="555431"/>
                </a:lnTo>
                <a:lnTo>
                  <a:pt x="3219410" y="545236"/>
                </a:lnTo>
                <a:lnTo>
                  <a:pt x="3219434" y="544537"/>
                </a:lnTo>
                <a:lnTo>
                  <a:pt x="3219333" y="540813"/>
                </a:lnTo>
                <a:lnTo>
                  <a:pt x="3219589" y="540073"/>
                </a:lnTo>
                <a:close/>
                <a:moveTo>
                  <a:pt x="2407106" y="533044"/>
                </a:moveTo>
                <a:cubicBezTo>
                  <a:pt x="2408328" y="531041"/>
                  <a:pt x="2414845" y="536895"/>
                  <a:pt x="2414845" y="533044"/>
                </a:cubicBezTo>
                <a:cubicBezTo>
                  <a:pt x="2418715" y="535971"/>
                  <a:pt x="2412198" y="537819"/>
                  <a:pt x="2407106" y="533044"/>
                </a:cubicBezTo>
                <a:close/>
                <a:moveTo>
                  <a:pt x="2392318" y="532965"/>
                </a:moveTo>
                <a:cubicBezTo>
                  <a:pt x="2393770" y="532457"/>
                  <a:pt x="2396671" y="533229"/>
                  <a:pt x="2400541" y="536804"/>
                </a:cubicBezTo>
                <a:cubicBezTo>
                  <a:pt x="2400541" y="539891"/>
                  <a:pt x="2392802" y="533717"/>
                  <a:pt x="2392802" y="536804"/>
                </a:cubicBezTo>
                <a:cubicBezTo>
                  <a:pt x="2390867" y="535260"/>
                  <a:pt x="2390867" y="533473"/>
                  <a:pt x="2392318" y="532965"/>
                </a:cubicBezTo>
                <a:close/>
                <a:moveTo>
                  <a:pt x="2712524" y="532960"/>
                </a:moveTo>
                <a:cubicBezTo>
                  <a:pt x="2712651" y="533358"/>
                  <a:pt x="2712397" y="534155"/>
                  <a:pt x="2711889" y="535010"/>
                </a:cubicBezTo>
                <a:lnTo>
                  <a:pt x="2710004" y="537104"/>
                </a:lnTo>
                <a:lnTo>
                  <a:pt x="2711764" y="537429"/>
                </a:lnTo>
                <a:cubicBezTo>
                  <a:pt x="2714077" y="538509"/>
                  <a:pt x="2716614" y="540006"/>
                  <a:pt x="2719491" y="541111"/>
                </a:cubicBezTo>
                <a:cubicBezTo>
                  <a:pt x="2714241" y="544058"/>
                  <a:pt x="2709193" y="544058"/>
                  <a:pt x="2701519" y="539250"/>
                </a:cubicBezTo>
                <a:lnTo>
                  <a:pt x="2705056" y="536499"/>
                </a:lnTo>
                <a:lnTo>
                  <a:pt x="2704246" y="535320"/>
                </a:lnTo>
                <a:cubicBezTo>
                  <a:pt x="2705529" y="534232"/>
                  <a:pt x="2710874" y="536252"/>
                  <a:pt x="2710874" y="533299"/>
                </a:cubicBezTo>
                <a:cubicBezTo>
                  <a:pt x="2711889" y="532562"/>
                  <a:pt x="2712397" y="532562"/>
                  <a:pt x="2712524" y="532960"/>
                </a:cubicBezTo>
                <a:close/>
                <a:moveTo>
                  <a:pt x="3024247" y="532932"/>
                </a:moveTo>
                <a:cubicBezTo>
                  <a:pt x="3025139" y="532575"/>
                  <a:pt x="3025958" y="532575"/>
                  <a:pt x="3026624" y="533318"/>
                </a:cubicBezTo>
                <a:cubicBezTo>
                  <a:pt x="3021505" y="537226"/>
                  <a:pt x="3020275" y="542229"/>
                  <a:pt x="3017613" y="546137"/>
                </a:cubicBezTo>
                <a:cubicBezTo>
                  <a:pt x="3012290" y="542229"/>
                  <a:pt x="3016386" y="539258"/>
                  <a:pt x="3016386" y="535350"/>
                </a:cubicBezTo>
                <a:cubicBezTo>
                  <a:pt x="3018228" y="538281"/>
                  <a:pt x="3021569" y="534001"/>
                  <a:pt x="3024247" y="532932"/>
                </a:cubicBezTo>
                <a:close/>
                <a:moveTo>
                  <a:pt x="3279509" y="531041"/>
                </a:moveTo>
                <a:cubicBezTo>
                  <a:pt x="3287414" y="537078"/>
                  <a:pt x="3283461" y="541050"/>
                  <a:pt x="3279509" y="546134"/>
                </a:cubicBezTo>
                <a:cubicBezTo>
                  <a:pt x="3274309" y="543116"/>
                  <a:pt x="3278261" y="541050"/>
                  <a:pt x="3274309" y="539144"/>
                </a:cubicBezTo>
                <a:cubicBezTo>
                  <a:pt x="3272853" y="539144"/>
                  <a:pt x="3271604" y="541050"/>
                  <a:pt x="3270356" y="540096"/>
                </a:cubicBezTo>
                <a:cubicBezTo>
                  <a:pt x="3278261" y="538031"/>
                  <a:pt x="3274309" y="536125"/>
                  <a:pt x="3279509" y="531041"/>
                </a:cubicBezTo>
                <a:close/>
                <a:moveTo>
                  <a:pt x="1487043" y="529655"/>
                </a:moveTo>
                <a:cubicBezTo>
                  <a:pt x="1490946" y="529655"/>
                  <a:pt x="1489713" y="533668"/>
                  <a:pt x="1490946" y="536719"/>
                </a:cubicBezTo>
                <a:cubicBezTo>
                  <a:pt x="1483139" y="536719"/>
                  <a:pt x="1467526" y="544746"/>
                  <a:pt x="1470197" y="534631"/>
                </a:cubicBezTo>
                <a:cubicBezTo>
                  <a:pt x="1478004" y="535755"/>
                  <a:pt x="1488481" y="539769"/>
                  <a:pt x="1487043" y="529655"/>
                </a:cubicBezTo>
                <a:close/>
                <a:moveTo>
                  <a:pt x="1820153" y="527514"/>
                </a:moveTo>
                <a:cubicBezTo>
                  <a:pt x="1825341" y="531400"/>
                  <a:pt x="1805628" y="526582"/>
                  <a:pt x="1808325" y="534352"/>
                </a:cubicBezTo>
                <a:cubicBezTo>
                  <a:pt x="1799196" y="530468"/>
                  <a:pt x="1812269" y="525495"/>
                  <a:pt x="1820153" y="527514"/>
                </a:cubicBezTo>
                <a:close/>
                <a:moveTo>
                  <a:pt x="1769917" y="527112"/>
                </a:moveTo>
                <a:cubicBezTo>
                  <a:pt x="1768714" y="532967"/>
                  <a:pt x="1768714" y="532967"/>
                  <a:pt x="1768714" y="532967"/>
                </a:cubicBezTo>
                <a:cubicBezTo>
                  <a:pt x="1766105" y="530964"/>
                  <a:pt x="1759686" y="530964"/>
                  <a:pt x="1754670" y="530964"/>
                </a:cubicBezTo>
                <a:cubicBezTo>
                  <a:pt x="1755874" y="526188"/>
                  <a:pt x="1764902" y="528036"/>
                  <a:pt x="1769917" y="527112"/>
                </a:cubicBezTo>
                <a:close/>
                <a:moveTo>
                  <a:pt x="2654704" y="526188"/>
                </a:moveTo>
                <a:cubicBezTo>
                  <a:pt x="2671331" y="533154"/>
                  <a:pt x="2652067" y="542177"/>
                  <a:pt x="2649432" y="546134"/>
                </a:cubicBezTo>
                <a:cubicBezTo>
                  <a:pt x="2646998" y="538061"/>
                  <a:pt x="2655920" y="533154"/>
                  <a:pt x="2654704" y="526188"/>
                </a:cubicBezTo>
                <a:close/>
                <a:moveTo>
                  <a:pt x="3467281" y="523415"/>
                </a:moveTo>
                <a:cubicBezTo>
                  <a:pt x="3471093" y="523415"/>
                  <a:pt x="3471093" y="526323"/>
                  <a:pt x="3467281" y="527241"/>
                </a:cubicBezTo>
                <a:cubicBezTo>
                  <a:pt x="3469889" y="528159"/>
                  <a:pt x="3471093" y="530149"/>
                  <a:pt x="3473701" y="530149"/>
                </a:cubicBezTo>
                <a:cubicBezTo>
                  <a:pt x="3472296" y="533058"/>
                  <a:pt x="3468485" y="533976"/>
                  <a:pt x="3462266" y="535048"/>
                </a:cubicBezTo>
                <a:cubicBezTo>
                  <a:pt x="3458454" y="528159"/>
                  <a:pt x="3468485" y="528159"/>
                  <a:pt x="3467281" y="523415"/>
                </a:cubicBezTo>
                <a:close/>
                <a:moveTo>
                  <a:pt x="3339752" y="522340"/>
                </a:moveTo>
                <a:cubicBezTo>
                  <a:pt x="3334395" y="527372"/>
                  <a:pt x="3346140" y="530358"/>
                  <a:pt x="3334395" y="532402"/>
                </a:cubicBezTo>
                <a:cubicBezTo>
                  <a:pt x="3342225" y="540264"/>
                  <a:pt x="3350055" y="521397"/>
                  <a:pt x="3339752" y="522340"/>
                </a:cubicBezTo>
                <a:close/>
                <a:moveTo>
                  <a:pt x="3111109" y="521833"/>
                </a:moveTo>
                <a:cubicBezTo>
                  <a:pt x="3111574" y="521384"/>
                  <a:pt x="3111925" y="521432"/>
                  <a:pt x="3112289" y="522388"/>
                </a:cubicBezTo>
                <a:cubicBezTo>
                  <a:pt x="3105633" y="527287"/>
                  <a:pt x="3117490" y="525297"/>
                  <a:pt x="3112289" y="530194"/>
                </a:cubicBezTo>
                <a:cubicBezTo>
                  <a:pt x="3108337" y="529276"/>
                  <a:pt x="3104385" y="530194"/>
                  <a:pt x="3100432" y="528205"/>
                </a:cubicBezTo>
                <a:cubicBezTo>
                  <a:pt x="3107297" y="529008"/>
                  <a:pt x="3109715" y="523182"/>
                  <a:pt x="3111109" y="521833"/>
                </a:cubicBezTo>
                <a:close/>
                <a:moveTo>
                  <a:pt x="1132923" y="521574"/>
                </a:moveTo>
                <a:cubicBezTo>
                  <a:pt x="1128980" y="527479"/>
                  <a:pt x="1115908" y="523594"/>
                  <a:pt x="1110721" y="529499"/>
                </a:cubicBezTo>
                <a:cubicBezTo>
                  <a:pt x="1106778" y="520642"/>
                  <a:pt x="1125245" y="524526"/>
                  <a:pt x="1132923" y="521574"/>
                </a:cubicBezTo>
                <a:close/>
                <a:moveTo>
                  <a:pt x="3540938" y="520642"/>
                </a:moveTo>
                <a:cubicBezTo>
                  <a:pt x="3540938" y="530651"/>
                  <a:pt x="3540938" y="530651"/>
                  <a:pt x="3540938" y="530651"/>
                </a:cubicBezTo>
                <a:cubicBezTo>
                  <a:pt x="3538268" y="529698"/>
                  <a:pt x="3535803" y="528586"/>
                  <a:pt x="3531899" y="529698"/>
                </a:cubicBezTo>
                <a:lnTo>
                  <a:pt x="3531899" y="535735"/>
                </a:lnTo>
                <a:cubicBezTo>
                  <a:pt x="3517518" y="535735"/>
                  <a:pt x="3534364" y="521595"/>
                  <a:pt x="3540938" y="520642"/>
                </a:cubicBezTo>
                <a:close/>
                <a:moveTo>
                  <a:pt x="3071960" y="520642"/>
                </a:moveTo>
                <a:cubicBezTo>
                  <a:pt x="3078422" y="522548"/>
                  <a:pt x="3074585" y="529698"/>
                  <a:pt x="3071960" y="535735"/>
                </a:cubicBezTo>
                <a:cubicBezTo>
                  <a:pt x="3060451" y="535735"/>
                  <a:pt x="3070749" y="525567"/>
                  <a:pt x="3071960" y="520642"/>
                </a:cubicBezTo>
                <a:close/>
                <a:moveTo>
                  <a:pt x="2727174" y="520516"/>
                </a:moveTo>
                <a:cubicBezTo>
                  <a:pt x="2727812" y="522524"/>
                  <a:pt x="2723471" y="530864"/>
                  <a:pt x="2721242" y="539204"/>
                </a:cubicBezTo>
                <a:cubicBezTo>
                  <a:pt x="2710606" y="538112"/>
                  <a:pt x="2723954" y="532336"/>
                  <a:pt x="2713317" y="530308"/>
                </a:cubicBezTo>
                <a:cubicBezTo>
                  <a:pt x="2718948" y="525118"/>
                  <a:pt x="2722507" y="522153"/>
                  <a:pt x="2724615" y="520855"/>
                </a:cubicBezTo>
                <a:cubicBezTo>
                  <a:pt x="2726197" y="519882"/>
                  <a:pt x="2726963" y="519848"/>
                  <a:pt x="2727174" y="520516"/>
                </a:cubicBezTo>
                <a:close/>
                <a:moveTo>
                  <a:pt x="3496968" y="519255"/>
                </a:moveTo>
                <a:cubicBezTo>
                  <a:pt x="3504936" y="527106"/>
                  <a:pt x="3506405" y="540925"/>
                  <a:pt x="3506405" y="555842"/>
                </a:cubicBezTo>
                <a:cubicBezTo>
                  <a:pt x="3499695" y="545007"/>
                  <a:pt x="3495710" y="535114"/>
                  <a:pt x="3496968" y="519255"/>
                </a:cubicBezTo>
                <a:close/>
                <a:moveTo>
                  <a:pt x="1879409" y="515754"/>
                </a:moveTo>
                <a:cubicBezTo>
                  <a:pt x="1881352" y="516512"/>
                  <a:pt x="1883632" y="517522"/>
                  <a:pt x="1886223" y="517056"/>
                </a:cubicBezTo>
                <a:cubicBezTo>
                  <a:pt x="1881041" y="521873"/>
                  <a:pt x="1878348" y="517988"/>
                  <a:pt x="1874617" y="515968"/>
                </a:cubicBezTo>
                <a:cubicBezTo>
                  <a:pt x="1875860" y="514492"/>
                  <a:pt x="1877466" y="514997"/>
                  <a:pt x="1879409" y="515754"/>
                </a:cubicBezTo>
                <a:close/>
                <a:moveTo>
                  <a:pt x="1938013" y="514389"/>
                </a:moveTo>
                <a:cubicBezTo>
                  <a:pt x="1940543" y="515149"/>
                  <a:pt x="1943258" y="516669"/>
                  <a:pt x="1945281" y="517709"/>
                </a:cubicBezTo>
                <a:cubicBezTo>
                  <a:pt x="1942512" y="519788"/>
                  <a:pt x="1935697" y="515629"/>
                  <a:pt x="1931864" y="515629"/>
                </a:cubicBezTo>
                <a:cubicBezTo>
                  <a:pt x="1933142" y="513629"/>
                  <a:pt x="1935484" y="513629"/>
                  <a:pt x="1938013" y="514389"/>
                </a:cubicBezTo>
                <a:close/>
                <a:moveTo>
                  <a:pt x="3112160" y="510243"/>
                </a:moveTo>
                <a:lnTo>
                  <a:pt x="3117484" y="515242"/>
                </a:lnTo>
                <a:cubicBezTo>
                  <a:pt x="3113438" y="518211"/>
                  <a:pt x="3108113" y="521179"/>
                  <a:pt x="3104067" y="517273"/>
                </a:cubicBezTo>
                <a:cubicBezTo>
                  <a:pt x="3109392" y="515242"/>
                  <a:pt x="3105345" y="512274"/>
                  <a:pt x="3112160" y="510243"/>
                </a:cubicBezTo>
                <a:close/>
                <a:moveTo>
                  <a:pt x="1899883" y="510108"/>
                </a:moveTo>
                <a:cubicBezTo>
                  <a:pt x="1901474" y="510358"/>
                  <a:pt x="1903089" y="511090"/>
                  <a:pt x="1904401" y="511090"/>
                </a:cubicBezTo>
                <a:cubicBezTo>
                  <a:pt x="1902988" y="514942"/>
                  <a:pt x="1897940" y="514017"/>
                  <a:pt x="1895517" y="512014"/>
                </a:cubicBezTo>
                <a:cubicBezTo>
                  <a:pt x="1896728" y="510089"/>
                  <a:pt x="1898293" y="509857"/>
                  <a:pt x="1899883" y="510108"/>
                </a:cubicBezTo>
                <a:close/>
                <a:moveTo>
                  <a:pt x="1112971" y="510039"/>
                </a:moveTo>
                <a:cubicBezTo>
                  <a:pt x="1116429" y="509683"/>
                  <a:pt x="1119758" y="510948"/>
                  <a:pt x="1121110" y="514426"/>
                </a:cubicBezTo>
                <a:cubicBezTo>
                  <a:pt x="1117157" y="512371"/>
                  <a:pt x="1109252" y="516324"/>
                  <a:pt x="1104052" y="515375"/>
                </a:cubicBezTo>
                <a:cubicBezTo>
                  <a:pt x="1105924" y="512371"/>
                  <a:pt x="1109513" y="510395"/>
                  <a:pt x="1112971" y="510039"/>
                </a:cubicBezTo>
                <a:close/>
                <a:moveTo>
                  <a:pt x="1334650" y="508394"/>
                </a:moveTo>
                <a:cubicBezTo>
                  <a:pt x="1333402" y="512246"/>
                  <a:pt x="1325497" y="513170"/>
                  <a:pt x="1317593" y="514248"/>
                </a:cubicBezTo>
                <a:cubicBezTo>
                  <a:pt x="1324042" y="511321"/>
                  <a:pt x="1326746" y="507470"/>
                  <a:pt x="1334650" y="508394"/>
                </a:cubicBezTo>
                <a:close/>
                <a:moveTo>
                  <a:pt x="1822473" y="507220"/>
                </a:moveTo>
                <a:cubicBezTo>
                  <a:pt x="1828973" y="506083"/>
                  <a:pt x="1827715" y="510145"/>
                  <a:pt x="1834425" y="509171"/>
                </a:cubicBezTo>
                <a:cubicBezTo>
                  <a:pt x="1831699" y="516320"/>
                  <a:pt x="1827715" y="508195"/>
                  <a:pt x="1821004" y="512257"/>
                </a:cubicBezTo>
                <a:cubicBezTo>
                  <a:pt x="1822473" y="507220"/>
                  <a:pt x="1822473" y="507220"/>
                  <a:pt x="1822473" y="507220"/>
                </a:cubicBezTo>
                <a:close/>
                <a:moveTo>
                  <a:pt x="2696126" y="506083"/>
                </a:moveTo>
                <a:cubicBezTo>
                  <a:pt x="2704954" y="509052"/>
                  <a:pt x="2701142" y="514988"/>
                  <a:pt x="2697331" y="517019"/>
                </a:cubicBezTo>
                <a:cubicBezTo>
                  <a:pt x="2689707" y="512958"/>
                  <a:pt x="2701142" y="511082"/>
                  <a:pt x="2696126" y="506083"/>
                </a:cubicBezTo>
                <a:close/>
                <a:moveTo>
                  <a:pt x="1876819" y="505740"/>
                </a:moveTo>
                <a:cubicBezTo>
                  <a:pt x="1878129" y="505261"/>
                  <a:pt x="1879125" y="505759"/>
                  <a:pt x="1879859" y="508208"/>
                </a:cubicBezTo>
                <a:cubicBezTo>
                  <a:pt x="1875875" y="509127"/>
                  <a:pt x="1871891" y="514942"/>
                  <a:pt x="1871891" y="509127"/>
                </a:cubicBezTo>
                <a:cubicBezTo>
                  <a:pt x="1873883" y="507672"/>
                  <a:pt x="1875508" y="506218"/>
                  <a:pt x="1876819" y="505740"/>
                </a:cubicBezTo>
                <a:close/>
                <a:moveTo>
                  <a:pt x="3548440" y="504697"/>
                </a:moveTo>
                <a:cubicBezTo>
                  <a:pt x="3565471" y="513443"/>
                  <a:pt x="3548440" y="532343"/>
                  <a:pt x="3561525" y="544057"/>
                </a:cubicBezTo>
                <a:cubicBezTo>
                  <a:pt x="3536601" y="538121"/>
                  <a:pt x="3557579" y="520472"/>
                  <a:pt x="3548440" y="504697"/>
                </a:cubicBezTo>
                <a:close/>
                <a:moveTo>
                  <a:pt x="2729903" y="504697"/>
                </a:moveTo>
                <a:cubicBezTo>
                  <a:pt x="2737663" y="508658"/>
                  <a:pt x="2735212" y="509609"/>
                  <a:pt x="2731333" y="515631"/>
                </a:cubicBezTo>
                <a:cubicBezTo>
                  <a:pt x="2719693" y="514680"/>
                  <a:pt x="2729903" y="507707"/>
                  <a:pt x="2729903" y="504697"/>
                </a:cubicBezTo>
                <a:close/>
                <a:moveTo>
                  <a:pt x="3079887" y="503310"/>
                </a:moveTo>
                <a:cubicBezTo>
                  <a:pt x="3087511" y="503310"/>
                  <a:pt x="3078683" y="514942"/>
                  <a:pt x="3072263" y="512034"/>
                </a:cubicBezTo>
                <a:cubicBezTo>
                  <a:pt x="3073667" y="507290"/>
                  <a:pt x="3078683" y="507290"/>
                  <a:pt x="3079887" y="503310"/>
                </a:cubicBezTo>
                <a:close/>
                <a:moveTo>
                  <a:pt x="2836842" y="502617"/>
                </a:moveTo>
                <a:cubicBezTo>
                  <a:pt x="2840736" y="502617"/>
                  <a:pt x="2843399" y="504660"/>
                  <a:pt x="2847292" y="506546"/>
                </a:cubicBezTo>
                <a:cubicBezTo>
                  <a:pt x="2843399" y="509533"/>
                  <a:pt x="2842170" y="511577"/>
                  <a:pt x="2846063" y="514564"/>
                </a:cubicBezTo>
                <a:cubicBezTo>
                  <a:pt x="2843399" y="515506"/>
                  <a:pt x="2842170" y="515506"/>
                  <a:pt x="2839506" y="515506"/>
                </a:cubicBezTo>
                <a:cubicBezTo>
                  <a:pt x="2843399" y="519594"/>
                  <a:pt x="2839506" y="521480"/>
                  <a:pt x="2848521" y="521480"/>
                </a:cubicBezTo>
                <a:cubicBezTo>
                  <a:pt x="2840736" y="524467"/>
                  <a:pt x="2842170" y="527454"/>
                  <a:pt x="2842170" y="529497"/>
                </a:cubicBezTo>
                <a:cubicBezTo>
                  <a:pt x="2838277" y="524467"/>
                  <a:pt x="2840736" y="518494"/>
                  <a:pt x="2827827" y="518494"/>
                </a:cubicBezTo>
                <a:cubicBezTo>
                  <a:pt x="2831720" y="514564"/>
                  <a:pt x="2834384" y="511577"/>
                  <a:pt x="2840736" y="510477"/>
                </a:cubicBezTo>
                <a:cubicBezTo>
                  <a:pt x="2839506" y="508590"/>
                  <a:pt x="2830491" y="506546"/>
                  <a:pt x="2834384" y="504660"/>
                </a:cubicBezTo>
                <a:cubicBezTo>
                  <a:pt x="2838277" y="506546"/>
                  <a:pt x="2835613" y="503560"/>
                  <a:pt x="2836842" y="502617"/>
                </a:cubicBezTo>
                <a:close/>
                <a:moveTo>
                  <a:pt x="2672229" y="502617"/>
                </a:moveTo>
                <a:cubicBezTo>
                  <a:pt x="2672229" y="513560"/>
                  <a:pt x="2668183" y="521648"/>
                  <a:pt x="2661367" y="526723"/>
                </a:cubicBezTo>
                <a:cubicBezTo>
                  <a:pt x="2658812" y="518635"/>
                  <a:pt x="2664136" y="509595"/>
                  <a:pt x="2672229" y="502617"/>
                </a:cubicBezTo>
                <a:close/>
                <a:moveTo>
                  <a:pt x="2458398" y="502192"/>
                </a:moveTo>
                <a:cubicBezTo>
                  <a:pt x="2459849" y="501714"/>
                  <a:pt x="2462751" y="501935"/>
                  <a:pt x="2465963" y="503331"/>
                </a:cubicBezTo>
                <a:cubicBezTo>
                  <a:pt x="2464720" y="505243"/>
                  <a:pt x="2460782" y="503331"/>
                  <a:pt x="2459539" y="505243"/>
                </a:cubicBezTo>
                <a:cubicBezTo>
                  <a:pt x="2456948" y="503846"/>
                  <a:pt x="2456948" y="502669"/>
                  <a:pt x="2458398" y="502192"/>
                </a:cubicBezTo>
                <a:close/>
                <a:moveTo>
                  <a:pt x="3343667" y="500486"/>
                </a:moveTo>
                <a:cubicBezTo>
                  <a:pt x="3337074" y="503473"/>
                  <a:pt x="3340989" y="506460"/>
                  <a:pt x="3344904" y="510391"/>
                </a:cubicBezTo>
                <a:cubicBezTo>
                  <a:pt x="3348819" y="508504"/>
                  <a:pt x="3347377" y="506460"/>
                  <a:pt x="3350055" y="504574"/>
                </a:cubicBezTo>
                <a:cubicBezTo>
                  <a:pt x="3348819" y="500486"/>
                  <a:pt x="3346140" y="501587"/>
                  <a:pt x="3343667" y="500486"/>
                </a:cubicBezTo>
                <a:close/>
                <a:moveTo>
                  <a:pt x="1795250" y="499459"/>
                </a:moveTo>
                <a:cubicBezTo>
                  <a:pt x="1797780" y="499234"/>
                  <a:pt x="1801134" y="499723"/>
                  <a:pt x="1804435" y="499723"/>
                </a:cubicBezTo>
                <a:cubicBezTo>
                  <a:pt x="1804435" y="501683"/>
                  <a:pt x="1801880" y="500628"/>
                  <a:pt x="1799111" y="500628"/>
                </a:cubicBezTo>
                <a:cubicBezTo>
                  <a:pt x="1797833" y="501683"/>
                  <a:pt x="1797833" y="502587"/>
                  <a:pt x="1799111" y="502587"/>
                </a:cubicBezTo>
                <a:cubicBezTo>
                  <a:pt x="1797833" y="504546"/>
                  <a:pt x="1793786" y="503491"/>
                  <a:pt x="1791018" y="503491"/>
                </a:cubicBezTo>
                <a:cubicBezTo>
                  <a:pt x="1791018" y="500628"/>
                  <a:pt x="1792722" y="499686"/>
                  <a:pt x="1795250" y="499459"/>
                </a:cubicBezTo>
                <a:close/>
                <a:moveTo>
                  <a:pt x="1868605" y="499150"/>
                </a:moveTo>
                <a:cubicBezTo>
                  <a:pt x="1871331" y="499150"/>
                  <a:pt x="1869863" y="501154"/>
                  <a:pt x="1872590" y="501154"/>
                </a:cubicBezTo>
                <a:cubicBezTo>
                  <a:pt x="1871331" y="505929"/>
                  <a:pt x="1871331" y="505929"/>
                  <a:pt x="1871331" y="505929"/>
                </a:cubicBezTo>
                <a:cubicBezTo>
                  <a:pt x="1869863" y="504081"/>
                  <a:pt x="1867347" y="504081"/>
                  <a:pt x="1868605" y="499150"/>
                </a:cubicBezTo>
                <a:close/>
                <a:moveTo>
                  <a:pt x="1383454" y="499150"/>
                </a:moveTo>
                <a:cubicBezTo>
                  <a:pt x="1383454" y="501171"/>
                  <a:pt x="1384686" y="502103"/>
                  <a:pt x="1387356" y="502103"/>
                </a:cubicBezTo>
                <a:cubicBezTo>
                  <a:pt x="1378319" y="508007"/>
                  <a:pt x="1367845" y="505987"/>
                  <a:pt x="1357575" y="504123"/>
                </a:cubicBezTo>
                <a:cubicBezTo>
                  <a:pt x="1363943" y="499150"/>
                  <a:pt x="1374417" y="503035"/>
                  <a:pt x="1383454" y="499150"/>
                </a:cubicBezTo>
                <a:close/>
                <a:moveTo>
                  <a:pt x="1626736" y="495768"/>
                </a:moveTo>
                <a:cubicBezTo>
                  <a:pt x="1623983" y="496278"/>
                  <a:pt x="1621719" y="497296"/>
                  <a:pt x="1620381" y="498785"/>
                </a:cubicBezTo>
                <a:cubicBezTo>
                  <a:pt x="1624291" y="501762"/>
                  <a:pt x="1637259" y="500665"/>
                  <a:pt x="1636024" y="495808"/>
                </a:cubicBezTo>
                <a:cubicBezTo>
                  <a:pt x="1632731" y="495259"/>
                  <a:pt x="1629489" y="495259"/>
                  <a:pt x="1626736" y="495768"/>
                </a:cubicBezTo>
                <a:close/>
                <a:moveTo>
                  <a:pt x="1681673" y="495684"/>
                </a:moveTo>
                <a:cubicBezTo>
                  <a:pt x="1686923" y="495684"/>
                  <a:pt x="1686923" y="495684"/>
                  <a:pt x="1686923" y="495684"/>
                </a:cubicBezTo>
                <a:cubicBezTo>
                  <a:pt x="1685509" y="497549"/>
                  <a:pt x="1686923" y="497549"/>
                  <a:pt x="1688135" y="497549"/>
                </a:cubicBezTo>
                <a:cubicBezTo>
                  <a:pt x="1683086" y="499569"/>
                  <a:pt x="1677836" y="503454"/>
                  <a:pt x="1670163" y="504542"/>
                </a:cubicBezTo>
                <a:cubicBezTo>
                  <a:pt x="1670163" y="498636"/>
                  <a:pt x="1680461" y="502521"/>
                  <a:pt x="1681673" y="495684"/>
                </a:cubicBezTo>
                <a:close/>
                <a:moveTo>
                  <a:pt x="2639158" y="494298"/>
                </a:moveTo>
                <a:cubicBezTo>
                  <a:pt x="2641858" y="495417"/>
                  <a:pt x="2643104" y="495417"/>
                  <a:pt x="2643104" y="494298"/>
                </a:cubicBezTo>
                <a:cubicBezTo>
                  <a:pt x="2645805" y="495417"/>
                  <a:pt x="2645805" y="497337"/>
                  <a:pt x="2647051" y="496377"/>
                </a:cubicBezTo>
                <a:cubicBezTo>
                  <a:pt x="2652243" y="499417"/>
                  <a:pt x="2643104" y="500377"/>
                  <a:pt x="2639158" y="498457"/>
                </a:cubicBezTo>
                <a:cubicBezTo>
                  <a:pt x="2637912" y="497337"/>
                  <a:pt x="2637912" y="495417"/>
                  <a:pt x="2639158" y="494298"/>
                </a:cubicBezTo>
                <a:close/>
                <a:moveTo>
                  <a:pt x="1477017" y="494298"/>
                </a:moveTo>
                <a:cubicBezTo>
                  <a:pt x="1478228" y="501185"/>
                  <a:pt x="1478228" y="501185"/>
                  <a:pt x="1478228" y="501185"/>
                </a:cubicBezTo>
                <a:cubicBezTo>
                  <a:pt x="1478228" y="496287"/>
                  <a:pt x="1461670" y="495369"/>
                  <a:pt x="1469343" y="500114"/>
                </a:cubicBezTo>
                <a:cubicBezTo>
                  <a:pt x="1466718" y="505930"/>
                  <a:pt x="1463083" y="497206"/>
                  <a:pt x="1456622" y="499196"/>
                </a:cubicBezTo>
                <a:cubicBezTo>
                  <a:pt x="1460458" y="496287"/>
                  <a:pt x="1468132" y="494298"/>
                  <a:pt x="1477017" y="494298"/>
                </a:cubicBezTo>
                <a:close/>
                <a:moveTo>
                  <a:pt x="2763077" y="494168"/>
                </a:moveTo>
                <a:cubicBezTo>
                  <a:pt x="2769723" y="492218"/>
                  <a:pt x="2774915" y="497255"/>
                  <a:pt x="2772216" y="502455"/>
                </a:cubicBezTo>
                <a:cubicBezTo>
                  <a:pt x="2765777" y="501479"/>
                  <a:pt x="2760585" y="499367"/>
                  <a:pt x="2763077" y="494168"/>
                </a:cubicBezTo>
                <a:close/>
                <a:moveTo>
                  <a:pt x="2610807" y="493772"/>
                </a:moveTo>
                <a:cubicBezTo>
                  <a:pt x="2612043" y="496759"/>
                  <a:pt x="2610807" y="498803"/>
                  <a:pt x="2617196" y="501789"/>
                </a:cubicBezTo>
                <a:cubicBezTo>
                  <a:pt x="2618638" y="498803"/>
                  <a:pt x="2619875" y="496759"/>
                  <a:pt x="2615959" y="494716"/>
                </a:cubicBezTo>
                <a:cubicBezTo>
                  <a:pt x="2614722" y="494716"/>
                  <a:pt x="2613280" y="494716"/>
                  <a:pt x="2610807" y="493772"/>
                </a:cubicBezTo>
                <a:close/>
                <a:moveTo>
                  <a:pt x="2844732" y="492218"/>
                </a:moveTo>
                <a:cubicBezTo>
                  <a:pt x="2851249" y="495305"/>
                  <a:pt x="2847379" y="499367"/>
                  <a:pt x="2846157" y="502455"/>
                </a:cubicBezTo>
                <a:cubicBezTo>
                  <a:pt x="2847379" y="499367"/>
                  <a:pt x="2839640" y="496280"/>
                  <a:pt x="2844732" y="492218"/>
                </a:cubicBezTo>
                <a:close/>
                <a:moveTo>
                  <a:pt x="3044029" y="491252"/>
                </a:moveTo>
                <a:cubicBezTo>
                  <a:pt x="3045366" y="490894"/>
                  <a:pt x="3046820" y="490961"/>
                  <a:pt x="3048429" y="491698"/>
                </a:cubicBezTo>
                <a:cubicBezTo>
                  <a:pt x="3040537" y="493559"/>
                  <a:pt x="3039290" y="500382"/>
                  <a:pt x="3034098" y="499452"/>
                </a:cubicBezTo>
                <a:cubicBezTo>
                  <a:pt x="3037057" y="497242"/>
                  <a:pt x="3040018" y="492328"/>
                  <a:pt x="3044029" y="491252"/>
                </a:cubicBezTo>
                <a:close/>
                <a:moveTo>
                  <a:pt x="3303197" y="490831"/>
                </a:moveTo>
                <a:cubicBezTo>
                  <a:pt x="3308316" y="495762"/>
                  <a:pt x="3296644" y="499613"/>
                  <a:pt x="3297873" y="504543"/>
                </a:cubicBezTo>
                <a:cubicBezTo>
                  <a:pt x="3293982" y="499613"/>
                  <a:pt x="3295415" y="495762"/>
                  <a:pt x="3303197" y="490831"/>
                </a:cubicBezTo>
                <a:close/>
                <a:moveTo>
                  <a:pt x="1679044" y="483899"/>
                </a:moveTo>
                <a:cubicBezTo>
                  <a:pt x="1676368" y="491890"/>
                  <a:pt x="1661959" y="483899"/>
                  <a:pt x="1659490" y="486876"/>
                </a:cubicBezTo>
                <a:cubicBezTo>
                  <a:pt x="1659490" y="491890"/>
                  <a:pt x="1665871" y="490793"/>
                  <a:pt x="1672457" y="490793"/>
                </a:cubicBezTo>
                <a:cubicBezTo>
                  <a:pt x="1669781" y="491890"/>
                  <a:pt x="1668546" y="495808"/>
                  <a:pt x="1671222" y="495808"/>
                </a:cubicBezTo>
                <a:cubicBezTo>
                  <a:pt x="1660724" y="502703"/>
                  <a:pt x="1654138" y="490793"/>
                  <a:pt x="1638700" y="495808"/>
                </a:cubicBezTo>
                <a:cubicBezTo>
                  <a:pt x="1646522" y="497688"/>
                  <a:pt x="1647757" y="501762"/>
                  <a:pt x="1661959" y="502703"/>
                </a:cubicBezTo>
                <a:cubicBezTo>
                  <a:pt x="1652903" y="504739"/>
                  <a:pt x="1643846" y="504739"/>
                  <a:pt x="1636024" y="504739"/>
                </a:cubicBezTo>
                <a:cubicBezTo>
                  <a:pt x="1625527" y="503642"/>
                  <a:pt x="1615235" y="502703"/>
                  <a:pt x="1604737" y="499725"/>
                </a:cubicBezTo>
                <a:cubicBezTo>
                  <a:pt x="1616470" y="506619"/>
                  <a:pt x="1596915" y="498785"/>
                  <a:pt x="1591769" y="503642"/>
                </a:cubicBezTo>
                <a:cubicBezTo>
                  <a:pt x="1586624" y="501762"/>
                  <a:pt x="1598356" y="500665"/>
                  <a:pt x="1589299" y="497688"/>
                </a:cubicBezTo>
                <a:cubicBezTo>
                  <a:pt x="1586624" y="499725"/>
                  <a:pt x="1583948" y="501762"/>
                  <a:pt x="1581478" y="503642"/>
                </a:cubicBezTo>
                <a:cubicBezTo>
                  <a:pt x="1569745" y="496748"/>
                  <a:pt x="1551426" y="500665"/>
                  <a:pt x="1535988" y="501762"/>
                </a:cubicBezTo>
                <a:cubicBezTo>
                  <a:pt x="1543604" y="488913"/>
                  <a:pt x="1572215" y="497688"/>
                  <a:pt x="1581478" y="493770"/>
                </a:cubicBezTo>
                <a:cubicBezTo>
                  <a:pt x="1573656" y="483899"/>
                  <a:pt x="1545045" y="495808"/>
                  <a:pt x="1528167" y="489853"/>
                </a:cubicBezTo>
                <a:cubicBezTo>
                  <a:pt x="1517669" y="491890"/>
                  <a:pt x="1529402" y="496748"/>
                  <a:pt x="1522815" y="500665"/>
                </a:cubicBezTo>
                <a:cubicBezTo>
                  <a:pt x="1514993" y="498785"/>
                  <a:pt x="1503261" y="495808"/>
                  <a:pt x="1499555" y="501762"/>
                </a:cubicBezTo>
                <a:cubicBezTo>
                  <a:pt x="1492969" y="498785"/>
                  <a:pt x="1508613" y="494711"/>
                  <a:pt x="1517669" y="495808"/>
                </a:cubicBezTo>
                <a:cubicBezTo>
                  <a:pt x="1517669" y="493770"/>
                  <a:pt x="1514993" y="494711"/>
                  <a:pt x="1512523" y="493770"/>
                </a:cubicBezTo>
                <a:cubicBezTo>
                  <a:pt x="1512523" y="492830"/>
                  <a:pt x="1514993" y="492830"/>
                  <a:pt x="1517669" y="491890"/>
                </a:cubicBezTo>
                <a:cubicBezTo>
                  <a:pt x="1513759" y="489853"/>
                  <a:pt x="1505936" y="489853"/>
                  <a:pt x="1502026" y="487816"/>
                </a:cubicBezTo>
                <a:cubicBezTo>
                  <a:pt x="1534548" y="486876"/>
                  <a:pt x="1564393" y="485936"/>
                  <a:pt x="1594446" y="485936"/>
                </a:cubicBezTo>
                <a:cubicBezTo>
                  <a:pt x="1621616" y="484839"/>
                  <a:pt x="1648992" y="484839"/>
                  <a:pt x="1679044" y="483899"/>
                </a:cubicBezTo>
                <a:close/>
                <a:moveTo>
                  <a:pt x="3061145" y="476677"/>
                </a:moveTo>
                <a:cubicBezTo>
                  <a:pt x="3057099" y="481535"/>
                  <a:pt x="3053053" y="486551"/>
                  <a:pt x="3051775" y="493448"/>
                </a:cubicBezTo>
                <a:cubicBezTo>
                  <a:pt x="3049006" y="487492"/>
                  <a:pt x="3047729" y="475580"/>
                  <a:pt x="3061145" y="476677"/>
                </a:cubicBezTo>
                <a:close/>
                <a:moveTo>
                  <a:pt x="2834201" y="474886"/>
                </a:moveTo>
                <a:cubicBezTo>
                  <a:pt x="2845798" y="476946"/>
                  <a:pt x="2830336" y="489940"/>
                  <a:pt x="2830336" y="496912"/>
                </a:cubicBezTo>
                <a:cubicBezTo>
                  <a:pt x="2818740" y="490891"/>
                  <a:pt x="2838067" y="480907"/>
                  <a:pt x="2834201" y="474886"/>
                </a:cubicBezTo>
                <a:close/>
                <a:moveTo>
                  <a:pt x="3267417" y="467622"/>
                </a:moveTo>
                <a:cubicBezTo>
                  <a:pt x="3264649" y="469430"/>
                  <a:pt x="3266139" y="471389"/>
                  <a:pt x="3264649" y="473349"/>
                </a:cubicBezTo>
                <a:cubicBezTo>
                  <a:pt x="3260602" y="471389"/>
                  <a:pt x="3256555" y="473349"/>
                  <a:pt x="3254000" y="470486"/>
                </a:cubicBezTo>
                <a:cubicBezTo>
                  <a:pt x="3258046" y="467622"/>
                  <a:pt x="3263371" y="466567"/>
                  <a:pt x="3267417" y="467622"/>
                </a:cubicBezTo>
                <a:close/>
                <a:moveTo>
                  <a:pt x="2853884" y="466567"/>
                </a:moveTo>
                <a:lnTo>
                  <a:pt x="2860332" y="470486"/>
                </a:lnTo>
                <a:cubicBezTo>
                  <a:pt x="2855131" y="472294"/>
                  <a:pt x="2848475" y="473349"/>
                  <a:pt x="2843274" y="472294"/>
                </a:cubicBezTo>
                <a:cubicBezTo>
                  <a:pt x="2848475" y="470486"/>
                  <a:pt x="2853884" y="470486"/>
                  <a:pt x="2853884" y="466567"/>
                </a:cubicBezTo>
                <a:close/>
                <a:moveTo>
                  <a:pt x="2815636" y="465874"/>
                </a:moveTo>
                <a:cubicBezTo>
                  <a:pt x="2819448" y="469846"/>
                  <a:pt x="2815636" y="475883"/>
                  <a:pt x="2815636" y="480967"/>
                </a:cubicBezTo>
                <a:cubicBezTo>
                  <a:pt x="2804201" y="480013"/>
                  <a:pt x="2815636" y="470957"/>
                  <a:pt x="2815636" y="465874"/>
                </a:cubicBezTo>
                <a:close/>
                <a:moveTo>
                  <a:pt x="3016373" y="464488"/>
                </a:moveTo>
                <a:cubicBezTo>
                  <a:pt x="3020263" y="468449"/>
                  <a:pt x="3017602" y="471459"/>
                  <a:pt x="3014939" y="475421"/>
                </a:cubicBezTo>
                <a:cubicBezTo>
                  <a:pt x="3005929" y="471459"/>
                  <a:pt x="3014939" y="468449"/>
                  <a:pt x="3016373" y="464488"/>
                </a:cubicBezTo>
                <a:close/>
                <a:moveTo>
                  <a:pt x="2765423" y="461714"/>
                </a:moveTo>
                <a:cubicBezTo>
                  <a:pt x="2775824" y="464692"/>
                  <a:pt x="2758767" y="469551"/>
                  <a:pt x="2770623" y="470649"/>
                </a:cubicBezTo>
                <a:cubicBezTo>
                  <a:pt x="2766671" y="479582"/>
                  <a:pt x="2766671" y="479582"/>
                  <a:pt x="2766671" y="479582"/>
                </a:cubicBezTo>
                <a:cubicBezTo>
                  <a:pt x="2761471" y="473626"/>
                  <a:pt x="2760223" y="467670"/>
                  <a:pt x="2765423" y="461714"/>
                </a:cubicBezTo>
                <a:close/>
                <a:moveTo>
                  <a:pt x="2634978" y="461699"/>
                </a:moveTo>
                <a:cubicBezTo>
                  <a:pt x="2624369" y="462653"/>
                  <a:pt x="2627073" y="468690"/>
                  <a:pt x="2624369" y="474727"/>
                </a:cubicBezTo>
                <a:cubicBezTo>
                  <a:pt x="2619168" y="469643"/>
                  <a:pt x="2617921" y="459634"/>
                  <a:pt x="2634978" y="461699"/>
                </a:cubicBezTo>
                <a:close/>
                <a:moveTo>
                  <a:pt x="2453234" y="461062"/>
                </a:moveTo>
                <a:cubicBezTo>
                  <a:pt x="2455644" y="460828"/>
                  <a:pt x="2458695" y="461252"/>
                  <a:pt x="2462325" y="462715"/>
                </a:cubicBezTo>
                <a:cubicBezTo>
                  <a:pt x="2455802" y="462715"/>
                  <a:pt x="2451803" y="465642"/>
                  <a:pt x="2450541" y="470572"/>
                </a:cubicBezTo>
                <a:cubicBezTo>
                  <a:pt x="2444543" y="468377"/>
                  <a:pt x="2446004" y="461762"/>
                  <a:pt x="2453234" y="461062"/>
                </a:cubicBezTo>
                <a:close/>
                <a:moveTo>
                  <a:pt x="3256348" y="455475"/>
                </a:moveTo>
                <a:cubicBezTo>
                  <a:pt x="3260161" y="458485"/>
                  <a:pt x="3255145" y="462447"/>
                  <a:pt x="3252537" y="466409"/>
                </a:cubicBezTo>
                <a:cubicBezTo>
                  <a:pt x="3244913" y="462447"/>
                  <a:pt x="3252537" y="458485"/>
                  <a:pt x="3256348" y="455475"/>
                </a:cubicBezTo>
                <a:close/>
                <a:moveTo>
                  <a:pt x="3095955" y="455475"/>
                </a:moveTo>
                <a:cubicBezTo>
                  <a:pt x="3102404" y="459442"/>
                  <a:pt x="3103859" y="461505"/>
                  <a:pt x="3097202" y="467536"/>
                </a:cubicBezTo>
                <a:cubicBezTo>
                  <a:pt x="3086802" y="468488"/>
                  <a:pt x="3095955" y="460553"/>
                  <a:pt x="3095955" y="455475"/>
                </a:cubicBezTo>
                <a:close/>
                <a:moveTo>
                  <a:pt x="2721013" y="454639"/>
                </a:moveTo>
                <a:cubicBezTo>
                  <a:pt x="2722642" y="453861"/>
                  <a:pt x="2724895" y="453639"/>
                  <a:pt x="2728230" y="454644"/>
                </a:cubicBezTo>
                <a:cubicBezTo>
                  <a:pt x="2729481" y="466246"/>
                  <a:pt x="2712391" y="462379"/>
                  <a:pt x="2714891" y="469185"/>
                </a:cubicBezTo>
                <a:cubicBezTo>
                  <a:pt x="2706972" y="468257"/>
                  <a:pt x="2706972" y="468257"/>
                  <a:pt x="2706972" y="468257"/>
                </a:cubicBezTo>
                <a:cubicBezTo>
                  <a:pt x="2710932" y="458511"/>
                  <a:pt x="2710932" y="458511"/>
                  <a:pt x="2710932" y="458511"/>
                </a:cubicBezTo>
                <a:cubicBezTo>
                  <a:pt x="2716871" y="464312"/>
                  <a:pt x="2716129" y="456974"/>
                  <a:pt x="2721013" y="454639"/>
                </a:cubicBezTo>
                <a:close/>
                <a:moveTo>
                  <a:pt x="3267872" y="453634"/>
                </a:moveTo>
                <a:cubicBezTo>
                  <a:pt x="3265316" y="456586"/>
                  <a:pt x="3274687" y="459539"/>
                  <a:pt x="3265316" y="461559"/>
                </a:cubicBezTo>
                <a:cubicBezTo>
                  <a:pt x="3261270" y="459539"/>
                  <a:pt x="3262547" y="452701"/>
                  <a:pt x="3267872" y="453634"/>
                </a:cubicBezTo>
                <a:close/>
                <a:moveTo>
                  <a:pt x="2859545" y="453395"/>
                </a:moveTo>
                <a:cubicBezTo>
                  <a:pt x="2864870" y="456347"/>
                  <a:pt x="2864870" y="459300"/>
                  <a:pt x="2858055" y="462252"/>
                </a:cubicBezTo>
                <a:cubicBezTo>
                  <a:pt x="2854222" y="461319"/>
                  <a:pt x="2858055" y="459300"/>
                  <a:pt x="2851453" y="457435"/>
                </a:cubicBezTo>
                <a:cubicBezTo>
                  <a:pt x="2854222" y="456347"/>
                  <a:pt x="2856777" y="454483"/>
                  <a:pt x="2859545" y="453395"/>
                </a:cubicBezTo>
                <a:close/>
                <a:moveTo>
                  <a:pt x="2629632" y="450622"/>
                </a:moveTo>
                <a:cubicBezTo>
                  <a:pt x="2630844" y="452701"/>
                  <a:pt x="2635892" y="460861"/>
                  <a:pt x="2627008" y="458781"/>
                </a:cubicBezTo>
                <a:cubicBezTo>
                  <a:pt x="2630844" y="455741"/>
                  <a:pt x="2628219" y="454782"/>
                  <a:pt x="2629632" y="450622"/>
                </a:cubicBezTo>
                <a:close/>
                <a:moveTo>
                  <a:pt x="2579049" y="447849"/>
                </a:moveTo>
                <a:cubicBezTo>
                  <a:pt x="2582886" y="448834"/>
                  <a:pt x="2579049" y="451953"/>
                  <a:pt x="2584098" y="452939"/>
                </a:cubicBezTo>
                <a:cubicBezTo>
                  <a:pt x="2582886" y="453924"/>
                  <a:pt x="2577837" y="451953"/>
                  <a:pt x="2575213" y="450804"/>
                </a:cubicBezTo>
                <a:cubicBezTo>
                  <a:pt x="2577837" y="450804"/>
                  <a:pt x="2579049" y="449819"/>
                  <a:pt x="2579049" y="447849"/>
                </a:cubicBezTo>
                <a:close/>
                <a:moveTo>
                  <a:pt x="2957698" y="445769"/>
                </a:moveTo>
                <a:cubicBezTo>
                  <a:pt x="2969377" y="450616"/>
                  <a:pt x="2958928" y="458592"/>
                  <a:pt x="2956468" y="466410"/>
                </a:cubicBezTo>
                <a:cubicBezTo>
                  <a:pt x="2948682" y="460625"/>
                  <a:pt x="2958928" y="453588"/>
                  <a:pt x="2957698" y="445769"/>
                </a:cubicBezTo>
                <a:close/>
                <a:moveTo>
                  <a:pt x="2561346" y="442214"/>
                </a:moveTo>
                <a:cubicBezTo>
                  <a:pt x="2558667" y="442214"/>
                  <a:pt x="2554751" y="446144"/>
                  <a:pt x="2558667" y="447087"/>
                </a:cubicBezTo>
                <a:cubicBezTo>
                  <a:pt x="2559903" y="447087"/>
                  <a:pt x="2561346" y="447087"/>
                  <a:pt x="2563819" y="448187"/>
                </a:cubicBezTo>
                <a:cubicBezTo>
                  <a:pt x="2562582" y="449130"/>
                  <a:pt x="2562582" y="450073"/>
                  <a:pt x="2563819" y="450073"/>
                </a:cubicBezTo>
                <a:cubicBezTo>
                  <a:pt x="2563819" y="447087"/>
                  <a:pt x="2569177" y="448187"/>
                  <a:pt x="2569177" y="446144"/>
                </a:cubicBezTo>
                <a:cubicBezTo>
                  <a:pt x="2562582" y="445201"/>
                  <a:pt x="2565262" y="443157"/>
                  <a:pt x="2561346" y="442214"/>
                </a:cubicBezTo>
                <a:close/>
                <a:moveTo>
                  <a:pt x="2587757" y="440916"/>
                </a:moveTo>
                <a:cubicBezTo>
                  <a:pt x="2591369" y="443956"/>
                  <a:pt x="2578729" y="442996"/>
                  <a:pt x="2581338" y="446995"/>
                </a:cubicBezTo>
                <a:cubicBezTo>
                  <a:pt x="2576121" y="443956"/>
                  <a:pt x="2583745" y="440916"/>
                  <a:pt x="2587757" y="440916"/>
                </a:cubicBezTo>
                <a:close/>
                <a:moveTo>
                  <a:pt x="3021680" y="433983"/>
                </a:moveTo>
                <a:cubicBezTo>
                  <a:pt x="3029353" y="433983"/>
                  <a:pt x="3026728" y="439888"/>
                  <a:pt x="3025516" y="442840"/>
                </a:cubicBezTo>
                <a:cubicBezTo>
                  <a:pt x="3021680" y="439888"/>
                  <a:pt x="3020468" y="436936"/>
                  <a:pt x="3021680" y="433983"/>
                </a:cubicBezTo>
                <a:close/>
                <a:moveTo>
                  <a:pt x="2633823" y="433983"/>
                </a:moveTo>
                <a:cubicBezTo>
                  <a:pt x="2640425" y="441841"/>
                  <a:pt x="2636379" y="440762"/>
                  <a:pt x="2635101" y="450468"/>
                </a:cubicBezTo>
                <a:cubicBezTo>
                  <a:pt x="2627008" y="446617"/>
                  <a:pt x="2632332" y="439838"/>
                  <a:pt x="2633823" y="433983"/>
                </a:cubicBezTo>
                <a:close/>
                <a:moveTo>
                  <a:pt x="2691652" y="431996"/>
                </a:moveTo>
                <a:cubicBezTo>
                  <a:pt x="2689499" y="432486"/>
                  <a:pt x="2687528" y="433700"/>
                  <a:pt x="2685557" y="434640"/>
                </a:cubicBezTo>
                <a:cubicBezTo>
                  <a:pt x="2688254" y="438714"/>
                  <a:pt x="2697384" y="438714"/>
                  <a:pt x="2698836" y="433700"/>
                </a:cubicBezTo>
                <a:cubicBezTo>
                  <a:pt x="2696139" y="431741"/>
                  <a:pt x="2693805" y="431506"/>
                  <a:pt x="2691652" y="431996"/>
                </a:cubicBezTo>
                <a:close/>
                <a:moveTo>
                  <a:pt x="3091030" y="431210"/>
                </a:moveTo>
                <a:cubicBezTo>
                  <a:pt x="3093400" y="435129"/>
                  <a:pt x="3094783" y="446100"/>
                  <a:pt x="3089647" y="449079"/>
                </a:cubicBezTo>
                <a:cubicBezTo>
                  <a:pt x="3087277" y="444063"/>
                  <a:pt x="3085893" y="434189"/>
                  <a:pt x="3091030" y="431210"/>
                </a:cubicBezTo>
                <a:close/>
                <a:moveTo>
                  <a:pt x="3067348" y="431210"/>
                </a:moveTo>
                <a:cubicBezTo>
                  <a:pt x="3082962" y="435175"/>
                  <a:pt x="3064677" y="445325"/>
                  <a:pt x="3072484" y="454206"/>
                </a:cubicBezTo>
                <a:cubicBezTo>
                  <a:pt x="3068581" y="455316"/>
                  <a:pt x="3064677" y="455316"/>
                  <a:pt x="3059542" y="454206"/>
                </a:cubicBezTo>
                <a:cubicBezTo>
                  <a:pt x="3064677" y="444215"/>
                  <a:pt x="3064677" y="442312"/>
                  <a:pt x="3067348" y="431210"/>
                </a:cubicBezTo>
                <a:close/>
                <a:moveTo>
                  <a:pt x="2737663" y="426159"/>
                </a:moveTo>
                <a:cubicBezTo>
                  <a:pt x="2732572" y="434152"/>
                  <a:pt x="2735219" y="437131"/>
                  <a:pt x="2728702" y="442146"/>
                </a:cubicBezTo>
                <a:cubicBezTo>
                  <a:pt x="2726055" y="440108"/>
                  <a:pt x="2727480" y="424278"/>
                  <a:pt x="2737663" y="426159"/>
                </a:cubicBezTo>
                <a:close/>
                <a:moveTo>
                  <a:pt x="3360651" y="424971"/>
                </a:moveTo>
                <a:cubicBezTo>
                  <a:pt x="3369770" y="429974"/>
                  <a:pt x="3368526" y="434819"/>
                  <a:pt x="3371013" y="440760"/>
                </a:cubicBezTo>
                <a:cubicBezTo>
                  <a:pt x="3363138" y="433882"/>
                  <a:pt x="3359408" y="428879"/>
                  <a:pt x="3360651" y="424971"/>
                </a:cubicBezTo>
                <a:close/>
                <a:moveTo>
                  <a:pt x="2635535" y="424971"/>
                </a:moveTo>
                <a:cubicBezTo>
                  <a:pt x="2639520" y="424971"/>
                  <a:pt x="2642246" y="431749"/>
                  <a:pt x="2634277" y="429901"/>
                </a:cubicBezTo>
                <a:cubicBezTo>
                  <a:pt x="2638262" y="427898"/>
                  <a:pt x="2635535" y="427898"/>
                  <a:pt x="2635535" y="424971"/>
                </a:cubicBezTo>
                <a:close/>
                <a:moveTo>
                  <a:pt x="2507840" y="424971"/>
                </a:moveTo>
                <a:cubicBezTo>
                  <a:pt x="2523213" y="424971"/>
                  <a:pt x="2506405" y="432120"/>
                  <a:pt x="2509069" y="435208"/>
                </a:cubicBezTo>
                <a:cubicBezTo>
                  <a:pt x="2496156" y="432120"/>
                  <a:pt x="2514194" y="427083"/>
                  <a:pt x="2507840" y="424971"/>
                </a:cubicBezTo>
                <a:close/>
                <a:moveTo>
                  <a:pt x="2467716" y="416547"/>
                </a:moveTo>
                <a:cubicBezTo>
                  <a:pt x="2469870" y="417726"/>
                  <a:pt x="2469118" y="423145"/>
                  <a:pt x="2471976" y="420215"/>
                </a:cubicBezTo>
                <a:cubicBezTo>
                  <a:pt x="2479600" y="421153"/>
                  <a:pt x="2470773" y="424122"/>
                  <a:pt x="2470773" y="424122"/>
                </a:cubicBezTo>
                <a:cubicBezTo>
                  <a:pt x="2464354" y="423028"/>
                  <a:pt x="2470773" y="419122"/>
                  <a:pt x="2464354" y="417248"/>
                </a:cubicBezTo>
                <a:cubicBezTo>
                  <a:pt x="2465958" y="416232"/>
                  <a:pt x="2466999" y="416154"/>
                  <a:pt x="2467716" y="416547"/>
                </a:cubicBezTo>
                <a:close/>
                <a:moveTo>
                  <a:pt x="2998508" y="415113"/>
                </a:moveTo>
                <a:cubicBezTo>
                  <a:pt x="2987998" y="418100"/>
                  <a:pt x="3003660" y="421088"/>
                  <a:pt x="2993357" y="424075"/>
                </a:cubicBezTo>
                <a:cubicBezTo>
                  <a:pt x="2995829" y="425962"/>
                  <a:pt x="2999745" y="425019"/>
                  <a:pt x="2997271" y="427062"/>
                </a:cubicBezTo>
                <a:cubicBezTo>
                  <a:pt x="3003660" y="427062"/>
                  <a:pt x="3006338" y="418100"/>
                  <a:pt x="2998508" y="415113"/>
                </a:cubicBezTo>
                <a:close/>
                <a:moveTo>
                  <a:pt x="2475543" y="413186"/>
                </a:moveTo>
                <a:cubicBezTo>
                  <a:pt x="2483228" y="414305"/>
                  <a:pt x="2480735" y="418305"/>
                  <a:pt x="2476789" y="419265"/>
                </a:cubicBezTo>
                <a:cubicBezTo>
                  <a:pt x="2468896" y="418305"/>
                  <a:pt x="2471596" y="414305"/>
                  <a:pt x="2475543" y="413186"/>
                </a:cubicBezTo>
                <a:close/>
                <a:moveTo>
                  <a:pt x="3125949" y="412077"/>
                </a:moveTo>
                <a:cubicBezTo>
                  <a:pt x="3131808" y="413008"/>
                  <a:pt x="3137780" y="418876"/>
                  <a:pt x="3135943" y="424119"/>
                </a:cubicBezTo>
                <a:cubicBezTo>
                  <a:pt x="3126958" y="423006"/>
                  <a:pt x="3126958" y="423006"/>
                  <a:pt x="3126958" y="423006"/>
                </a:cubicBezTo>
                <a:cubicBezTo>
                  <a:pt x="3130837" y="416016"/>
                  <a:pt x="3124303" y="416016"/>
                  <a:pt x="3120424" y="412998"/>
                </a:cubicBezTo>
                <a:cubicBezTo>
                  <a:pt x="3122057" y="412005"/>
                  <a:pt x="3123997" y="411766"/>
                  <a:pt x="3125949" y="412077"/>
                </a:cubicBezTo>
                <a:close/>
                <a:moveTo>
                  <a:pt x="2596521" y="411799"/>
                </a:moveTo>
                <a:cubicBezTo>
                  <a:pt x="2605900" y="413859"/>
                  <a:pt x="2597980" y="420832"/>
                  <a:pt x="2595270" y="422733"/>
                </a:cubicBezTo>
                <a:cubicBezTo>
                  <a:pt x="2583391" y="419880"/>
                  <a:pt x="2597980" y="417820"/>
                  <a:pt x="2596521" y="411799"/>
                </a:cubicBezTo>
                <a:close/>
                <a:moveTo>
                  <a:pt x="2983836" y="410807"/>
                </a:moveTo>
                <a:cubicBezTo>
                  <a:pt x="2977188" y="412671"/>
                  <a:pt x="2990274" y="415624"/>
                  <a:pt x="2983836" y="418576"/>
                </a:cubicBezTo>
                <a:cubicBezTo>
                  <a:pt x="2975942" y="416712"/>
                  <a:pt x="2978435" y="409719"/>
                  <a:pt x="2983836" y="410807"/>
                </a:cubicBezTo>
                <a:close/>
                <a:moveTo>
                  <a:pt x="3360728" y="409026"/>
                </a:moveTo>
                <a:cubicBezTo>
                  <a:pt x="3367330" y="411934"/>
                  <a:pt x="3364774" y="415760"/>
                  <a:pt x="3370099" y="415760"/>
                </a:cubicBezTo>
                <a:cubicBezTo>
                  <a:pt x="3366053" y="417750"/>
                  <a:pt x="3367330" y="420658"/>
                  <a:pt x="3364774" y="419739"/>
                </a:cubicBezTo>
                <a:cubicBezTo>
                  <a:pt x="3363284" y="416832"/>
                  <a:pt x="3356682" y="416832"/>
                  <a:pt x="3360728" y="409026"/>
                </a:cubicBezTo>
                <a:close/>
                <a:moveTo>
                  <a:pt x="3110220" y="408332"/>
                </a:moveTo>
                <a:cubicBezTo>
                  <a:pt x="3110220" y="426209"/>
                  <a:pt x="3106268" y="440288"/>
                  <a:pt x="3099819" y="455316"/>
                </a:cubicBezTo>
                <a:cubicBezTo>
                  <a:pt x="3093163" y="439338"/>
                  <a:pt x="3106268" y="422253"/>
                  <a:pt x="3110220" y="408332"/>
                </a:cubicBezTo>
                <a:close/>
                <a:moveTo>
                  <a:pt x="2660421" y="408251"/>
                </a:moveTo>
                <a:cubicBezTo>
                  <a:pt x="2663666" y="408251"/>
                  <a:pt x="2667561" y="408760"/>
                  <a:pt x="2670157" y="408290"/>
                </a:cubicBezTo>
                <a:cubicBezTo>
                  <a:pt x="2666418" y="418162"/>
                  <a:pt x="2679503" y="430071"/>
                  <a:pt x="2659772" y="437906"/>
                </a:cubicBezTo>
                <a:cubicBezTo>
                  <a:pt x="2661018" y="440883"/>
                  <a:pt x="2663718" y="437906"/>
                  <a:pt x="2668910" y="439003"/>
                </a:cubicBezTo>
                <a:cubicBezTo>
                  <a:pt x="2670157" y="442920"/>
                  <a:pt x="2654579" y="442920"/>
                  <a:pt x="2661018" y="444957"/>
                </a:cubicBezTo>
                <a:cubicBezTo>
                  <a:pt x="2658526" y="447934"/>
                  <a:pt x="2657072" y="441980"/>
                  <a:pt x="2649179" y="442920"/>
                </a:cubicBezTo>
                <a:cubicBezTo>
                  <a:pt x="2647933" y="445897"/>
                  <a:pt x="2647933" y="445897"/>
                  <a:pt x="2647933" y="445897"/>
                </a:cubicBezTo>
                <a:cubicBezTo>
                  <a:pt x="2649179" y="447934"/>
                  <a:pt x="2653126" y="445897"/>
                  <a:pt x="2655825" y="449814"/>
                </a:cubicBezTo>
                <a:cubicBezTo>
                  <a:pt x="2642741" y="451852"/>
                  <a:pt x="2636094" y="441980"/>
                  <a:pt x="2646687" y="433048"/>
                </a:cubicBezTo>
                <a:cubicBezTo>
                  <a:pt x="2647933" y="433988"/>
                  <a:pt x="2650633" y="434929"/>
                  <a:pt x="2654579" y="436025"/>
                </a:cubicBezTo>
                <a:cubicBezTo>
                  <a:pt x="2661018" y="434929"/>
                  <a:pt x="2659772" y="428034"/>
                  <a:pt x="2664964" y="425997"/>
                </a:cubicBezTo>
                <a:cubicBezTo>
                  <a:pt x="2662472" y="422079"/>
                  <a:pt x="2659772" y="420199"/>
                  <a:pt x="2650633" y="421139"/>
                </a:cubicBezTo>
                <a:cubicBezTo>
                  <a:pt x="2649179" y="415185"/>
                  <a:pt x="2657072" y="415185"/>
                  <a:pt x="2662472" y="413148"/>
                </a:cubicBezTo>
                <a:cubicBezTo>
                  <a:pt x="2664964" y="408290"/>
                  <a:pt x="2651879" y="415185"/>
                  <a:pt x="2654579" y="411267"/>
                </a:cubicBezTo>
                <a:cubicBezTo>
                  <a:pt x="2654579" y="408760"/>
                  <a:pt x="2657176" y="408251"/>
                  <a:pt x="2660421" y="408251"/>
                </a:cubicBezTo>
                <a:close/>
                <a:moveTo>
                  <a:pt x="2970363" y="406253"/>
                </a:moveTo>
                <a:cubicBezTo>
                  <a:pt x="2977178" y="407190"/>
                  <a:pt x="2971640" y="413127"/>
                  <a:pt x="2978456" y="413127"/>
                </a:cubicBezTo>
                <a:cubicBezTo>
                  <a:pt x="2977178" y="417189"/>
                  <a:pt x="2971640" y="417189"/>
                  <a:pt x="2965039" y="416095"/>
                </a:cubicBezTo>
                <a:cubicBezTo>
                  <a:pt x="2965039" y="411252"/>
                  <a:pt x="2967594" y="409221"/>
                  <a:pt x="2970363" y="406253"/>
                </a:cubicBezTo>
                <a:close/>
                <a:moveTo>
                  <a:pt x="2730039" y="405112"/>
                </a:moveTo>
                <a:cubicBezTo>
                  <a:pt x="2733982" y="404000"/>
                  <a:pt x="2735434" y="412102"/>
                  <a:pt x="2737924" y="407018"/>
                </a:cubicBezTo>
                <a:cubicBezTo>
                  <a:pt x="2741867" y="408130"/>
                  <a:pt x="2739377" y="411149"/>
                  <a:pt x="2743112" y="411149"/>
                </a:cubicBezTo>
                <a:cubicBezTo>
                  <a:pt x="2737924" y="417186"/>
                  <a:pt x="2731492" y="402094"/>
                  <a:pt x="2730039" y="413055"/>
                </a:cubicBezTo>
                <a:cubicBezTo>
                  <a:pt x="2716967" y="412102"/>
                  <a:pt x="2724852" y="407018"/>
                  <a:pt x="2730039" y="405112"/>
                </a:cubicBezTo>
                <a:close/>
                <a:moveTo>
                  <a:pt x="2491495" y="403017"/>
                </a:moveTo>
                <a:cubicBezTo>
                  <a:pt x="2496511" y="402094"/>
                  <a:pt x="2504135" y="405020"/>
                  <a:pt x="2504135" y="408871"/>
                </a:cubicBezTo>
                <a:cubicBezTo>
                  <a:pt x="2495307" y="407947"/>
                  <a:pt x="2488887" y="405945"/>
                  <a:pt x="2491495" y="403017"/>
                </a:cubicBezTo>
                <a:close/>
                <a:moveTo>
                  <a:pt x="2713154" y="400013"/>
                </a:moveTo>
                <a:cubicBezTo>
                  <a:pt x="2715851" y="413958"/>
                  <a:pt x="2709212" y="429783"/>
                  <a:pt x="2701326" y="449525"/>
                </a:cubicBezTo>
                <a:cubicBezTo>
                  <a:pt x="2693442" y="465350"/>
                  <a:pt x="2687009" y="486189"/>
                  <a:pt x="2671239" y="501073"/>
                </a:cubicBezTo>
                <a:cubicBezTo>
                  <a:pt x="2663354" y="497000"/>
                  <a:pt x="2679124" y="483212"/>
                  <a:pt x="2679124" y="471304"/>
                </a:cubicBezTo>
                <a:cubicBezTo>
                  <a:pt x="2680369" y="462373"/>
                  <a:pt x="2677672" y="464410"/>
                  <a:pt x="2683067" y="457516"/>
                </a:cubicBezTo>
                <a:cubicBezTo>
                  <a:pt x="2683067" y="455479"/>
                  <a:pt x="2679124" y="445608"/>
                  <a:pt x="2675182" y="454539"/>
                </a:cubicBezTo>
                <a:cubicBezTo>
                  <a:pt x="2672485" y="444668"/>
                  <a:pt x="2690952" y="433700"/>
                  <a:pt x="2683067" y="424769"/>
                </a:cubicBezTo>
                <a:cubicBezTo>
                  <a:pt x="2690952" y="427746"/>
                  <a:pt x="2690952" y="425709"/>
                  <a:pt x="2697384" y="428686"/>
                </a:cubicBezTo>
                <a:cubicBezTo>
                  <a:pt x="2697384" y="428686"/>
                  <a:pt x="2697384" y="428686"/>
                  <a:pt x="2698836" y="422732"/>
                </a:cubicBezTo>
                <a:cubicBezTo>
                  <a:pt x="2700082" y="420852"/>
                  <a:pt x="2694894" y="420852"/>
                  <a:pt x="2690952" y="419912"/>
                </a:cubicBezTo>
                <a:cubicBezTo>
                  <a:pt x="2709212" y="418815"/>
                  <a:pt x="2705269" y="405027"/>
                  <a:pt x="2713154" y="400013"/>
                </a:cubicBezTo>
                <a:close/>
                <a:moveTo>
                  <a:pt x="2758508" y="398177"/>
                </a:moveTo>
                <a:cubicBezTo>
                  <a:pt x="2773098" y="399271"/>
                  <a:pt x="2757258" y="406145"/>
                  <a:pt x="2756008" y="408176"/>
                </a:cubicBezTo>
                <a:cubicBezTo>
                  <a:pt x="2750589" y="407083"/>
                  <a:pt x="2754549" y="397240"/>
                  <a:pt x="2758508" y="398177"/>
                </a:cubicBezTo>
                <a:close/>
                <a:moveTo>
                  <a:pt x="2520388" y="397934"/>
                </a:moveTo>
                <a:cubicBezTo>
                  <a:pt x="2530485" y="400973"/>
                  <a:pt x="2517763" y="403053"/>
                  <a:pt x="2524225" y="405133"/>
                </a:cubicBezTo>
                <a:cubicBezTo>
                  <a:pt x="2522811" y="406093"/>
                  <a:pt x="2521600" y="405133"/>
                  <a:pt x="2521600" y="405133"/>
                </a:cubicBezTo>
                <a:cubicBezTo>
                  <a:pt x="2516552" y="404013"/>
                  <a:pt x="2515341" y="405133"/>
                  <a:pt x="2508878" y="404013"/>
                </a:cubicBezTo>
                <a:cubicBezTo>
                  <a:pt x="2511503" y="400973"/>
                  <a:pt x="2518975" y="402094"/>
                  <a:pt x="2520388" y="397934"/>
                </a:cubicBezTo>
                <a:close/>
                <a:moveTo>
                  <a:pt x="2981611" y="394203"/>
                </a:moveTo>
                <a:lnTo>
                  <a:pt x="2981193" y="394404"/>
                </a:lnTo>
                <a:lnTo>
                  <a:pt x="2981562" y="394573"/>
                </a:lnTo>
                <a:close/>
                <a:moveTo>
                  <a:pt x="2995829" y="389328"/>
                </a:moveTo>
                <a:lnTo>
                  <a:pt x="3000360" y="393542"/>
                </a:lnTo>
                <a:lnTo>
                  <a:pt x="3001090" y="393032"/>
                </a:lnTo>
                <a:cubicBezTo>
                  <a:pt x="3003586" y="393969"/>
                  <a:pt x="3007539" y="396000"/>
                  <a:pt x="3006291" y="398969"/>
                </a:cubicBezTo>
                <a:lnTo>
                  <a:pt x="3002288" y="399276"/>
                </a:lnTo>
                <a:lnTo>
                  <a:pt x="3002423" y="400177"/>
                </a:lnTo>
                <a:cubicBezTo>
                  <a:pt x="3003660" y="399233"/>
                  <a:pt x="3005102" y="400177"/>
                  <a:pt x="3007575" y="399233"/>
                </a:cubicBezTo>
                <a:cubicBezTo>
                  <a:pt x="3011490" y="396246"/>
                  <a:pt x="3002423" y="391215"/>
                  <a:pt x="3010254" y="391215"/>
                </a:cubicBezTo>
                <a:cubicBezTo>
                  <a:pt x="3014169" y="398133"/>
                  <a:pt x="3006338" y="405208"/>
                  <a:pt x="3011490" y="412126"/>
                </a:cubicBezTo>
                <a:cubicBezTo>
                  <a:pt x="3014169" y="413069"/>
                  <a:pt x="3018084" y="408195"/>
                  <a:pt x="3020763" y="410082"/>
                </a:cubicBezTo>
                <a:cubicBezTo>
                  <a:pt x="3015406" y="413069"/>
                  <a:pt x="3021999" y="415113"/>
                  <a:pt x="3014169" y="418100"/>
                </a:cubicBezTo>
                <a:cubicBezTo>
                  <a:pt x="3011490" y="417157"/>
                  <a:pt x="3010254" y="415113"/>
                  <a:pt x="3007575" y="416056"/>
                </a:cubicBezTo>
                <a:cubicBezTo>
                  <a:pt x="3007575" y="420144"/>
                  <a:pt x="3011490" y="430049"/>
                  <a:pt x="3018084" y="427062"/>
                </a:cubicBezTo>
                <a:cubicBezTo>
                  <a:pt x="3011490" y="430049"/>
                  <a:pt x="3015406" y="431936"/>
                  <a:pt x="3008811" y="434924"/>
                </a:cubicBezTo>
                <a:cubicBezTo>
                  <a:pt x="3002423" y="431936"/>
                  <a:pt x="3015406" y="428005"/>
                  <a:pt x="3007575" y="425019"/>
                </a:cubicBezTo>
                <a:cubicBezTo>
                  <a:pt x="3001187" y="430993"/>
                  <a:pt x="3003660" y="433037"/>
                  <a:pt x="2991914" y="437911"/>
                </a:cubicBezTo>
                <a:cubicBezTo>
                  <a:pt x="2993357" y="439955"/>
                  <a:pt x="2994593" y="440898"/>
                  <a:pt x="2994593" y="441999"/>
                </a:cubicBezTo>
                <a:cubicBezTo>
                  <a:pt x="2999745" y="441999"/>
                  <a:pt x="2997271" y="440898"/>
                  <a:pt x="3001187" y="437911"/>
                </a:cubicBezTo>
                <a:cubicBezTo>
                  <a:pt x="3003660" y="439955"/>
                  <a:pt x="3006338" y="439955"/>
                  <a:pt x="3008811" y="439011"/>
                </a:cubicBezTo>
                <a:cubicBezTo>
                  <a:pt x="3015406" y="441999"/>
                  <a:pt x="3010254" y="445929"/>
                  <a:pt x="3014169" y="448916"/>
                </a:cubicBezTo>
                <a:cubicBezTo>
                  <a:pt x="3023235" y="446872"/>
                  <a:pt x="3015406" y="439011"/>
                  <a:pt x="3023235" y="443885"/>
                </a:cubicBezTo>
                <a:cubicBezTo>
                  <a:pt x="3021999" y="448916"/>
                  <a:pt x="3020763" y="459765"/>
                  <a:pt x="3015406" y="461809"/>
                </a:cubicBezTo>
                <a:cubicBezTo>
                  <a:pt x="3018084" y="459765"/>
                  <a:pt x="3014169" y="456778"/>
                  <a:pt x="3010254" y="454891"/>
                </a:cubicBezTo>
                <a:cubicBezTo>
                  <a:pt x="3001187" y="462752"/>
                  <a:pt x="3010254" y="473758"/>
                  <a:pt x="3002423" y="477688"/>
                </a:cubicBezTo>
                <a:cubicBezTo>
                  <a:pt x="3005102" y="479732"/>
                  <a:pt x="3007575" y="478632"/>
                  <a:pt x="3010254" y="476745"/>
                </a:cubicBezTo>
                <a:cubicBezTo>
                  <a:pt x="3016848" y="479732"/>
                  <a:pt x="3015406" y="482720"/>
                  <a:pt x="3015406" y="486650"/>
                </a:cubicBezTo>
                <a:cubicBezTo>
                  <a:pt x="3001187" y="493568"/>
                  <a:pt x="3006338" y="504574"/>
                  <a:pt x="3008811" y="516366"/>
                </a:cubicBezTo>
                <a:cubicBezTo>
                  <a:pt x="3006338" y="514479"/>
                  <a:pt x="3008811" y="508504"/>
                  <a:pt x="3002423" y="510391"/>
                </a:cubicBezTo>
                <a:cubicBezTo>
                  <a:pt x="2994593" y="514479"/>
                  <a:pt x="3006338" y="519510"/>
                  <a:pt x="3003660" y="523441"/>
                </a:cubicBezTo>
                <a:cubicBezTo>
                  <a:pt x="2999745" y="523441"/>
                  <a:pt x="2997271" y="519510"/>
                  <a:pt x="2993357" y="523441"/>
                </a:cubicBezTo>
                <a:cubicBezTo>
                  <a:pt x="2993357" y="523441"/>
                  <a:pt x="2993357" y="523441"/>
                  <a:pt x="2999745" y="527372"/>
                </a:cubicBezTo>
                <a:cubicBezTo>
                  <a:pt x="2987998" y="533346"/>
                  <a:pt x="3007575" y="540264"/>
                  <a:pt x="3005102" y="547182"/>
                </a:cubicBezTo>
                <a:cubicBezTo>
                  <a:pt x="2999229" y="549697"/>
                  <a:pt x="2997271" y="553942"/>
                  <a:pt x="2998070" y="557558"/>
                </a:cubicBezTo>
                <a:lnTo>
                  <a:pt x="2999444" y="559608"/>
                </a:lnTo>
                <a:lnTo>
                  <a:pt x="3005912" y="559932"/>
                </a:lnTo>
                <a:lnTo>
                  <a:pt x="3005798" y="559642"/>
                </a:lnTo>
                <a:cubicBezTo>
                  <a:pt x="3004999" y="558148"/>
                  <a:pt x="3004999" y="557165"/>
                  <a:pt x="3008811" y="558187"/>
                </a:cubicBezTo>
                <a:cubicBezTo>
                  <a:pt x="3005102" y="562118"/>
                  <a:pt x="3015406" y="556143"/>
                  <a:pt x="3016848" y="559130"/>
                </a:cubicBezTo>
                <a:lnTo>
                  <a:pt x="3012965" y="562405"/>
                </a:lnTo>
                <a:lnTo>
                  <a:pt x="3013899" y="563584"/>
                </a:lnTo>
                <a:lnTo>
                  <a:pt x="3011523" y="563621"/>
                </a:lnTo>
                <a:lnTo>
                  <a:pt x="3005102" y="569035"/>
                </a:lnTo>
                <a:cubicBezTo>
                  <a:pt x="3001187" y="566599"/>
                  <a:pt x="2999538" y="565616"/>
                  <a:pt x="2998534" y="564496"/>
                </a:cubicBezTo>
                <a:lnTo>
                  <a:pt x="2997790" y="563020"/>
                </a:lnTo>
                <a:lnTo>
                  <a:pt x="2996094" y="562620"/>
                </a:lnTo>
                <a:lnTo>
                  <a:pt x="2995028" y="560854"/>
                </a:lnTo>
                <a:lnTo>
                  <a:pt x="2989338" y="573084"/>
                </a:lnTo>
                <a:cubicBezTo>
                  <a:pt x="2989029" y="577565"/>
                  <a:pt x="2990678" y="581535"/>
                  <a:pt x="2994593" y="583972"/>
                </a:cubicBezTo>
                <a:cubicBezTo>
                  <a:pt x="2990678" y="581928"/>
                  <a:pt x="2985526" y="589003"/>
                  <a:pt x="2984290" y="589946"/>
                </a:cubicBezTo>
                <a:cubicBezTo>
                  <a:pt x="2995829" y="591991"/>
                  <a:pt x="2980375" y="598908"/>
                  <a:pt x="2982847" y="602839"/>
                </a:cubicBezTo>
                <a:cubicBezTo>
                  <a:pt x="2985526" y="603940"/>
                  <a:pt x="2994593" y="608813"/>
                  <a:pt x="2991914" y="610857"/>
                </a:cubicBezTo>
                <a:cubicBezTo>
                  <a:pt x="2986762" y="609757"/>
                  <a:pt x="2982847" y="608813"/>
                  <a:pt x="2977695" y="610857"/>
                </a:cubicBezTo>
                <a:cubicBezTo>
                  <a:pt x="2985526" y="617775"/>
                  <a:pt x="2967186" y="617775"/>
                  <a:pt x="2976459" y="624693"/>
                </a:cubicBezTo>
                <a:cubicBezTo>
                  <a:pt x="2977695" y="620762"/>
                  <a:pt x="2980375" y="623750"/>
                  <a:pt x="2984290" y="624693"/>
                </a:cubicBezTo>
                <a:cubicBezTo>
                  <a:pt x="2981611" y="629724"/>
                  <a:pt x="2981611" y="639629"/>
                  <a:pt x="2973780" y="632712"/>
                </a:cubicBezTo>
                <a:cubicBezTo>
                  <a:pt x="2977695" y="639629"/>
                  <a:pt x="2980375" y="650635"/>
                  <a:pt x="2971102" y="658496"/>
                </a:cubicBezTo>
                <a:cubicBezTo>
                  <a:pt x="2971102" y="658496"/>
                  <a:pt x="2971102" y="658496"/>
                  <a:pt x="2976459" y="662427"/>
                </a:cubicBezTo>
                <a:cubicBezTo>
                  <a:pt x="2969864" y="667458"/>
                  <a:pt x="2969864" y="658496"/>
                  <a:pt x="2965949" y="660540"/>
                </a:cubicBezTo>
                <a:cubicBezTo>
                  <a:pt x="2964713" y="668402"/>
                  <a:pt x="2971102" y="673433"/>
                  <a:pt x="2965949" y="682394"/>
                </a:cubicBezTo>
                <a:cubicBezTo>
                  <a:pt x="2972544" y="680350"/>
                  <a:pt x="2965949" y="677363"/>
                  <a:pt x="2972544" y="675477"/>
                </a:cubicBezTo>
                <a:cubicBezTo>
                  <a:pt x="2968628" y="680350"/>
                  <a:pt x="2973780" y="691356"/>
                  <a:pt x="2964713" y="692300"/>
                </a:cubicBezTo>
                <a:cubicBezTo>
                  <a:pt x="2967186" y="691356"/>
                  <a:pt x="2967186" y="684281"/>
                  <a:pt x="2964713" y="686325"/>
                </a:cubicBezTo>
                <a:cubicBezTo>
                  <a:pt x="2962035" y="690255"/>
                  <a:pt x="2956883" y="694344"/>
                  <a:pt x="2962035" y="700160"/>
                </a:cubicBezTo>
                <a:cubicBezTo>
                  <a:pt x="2964713" y="697173"/>
                  <a:pt x="2964713" y="693243"/>
                  <a:pt x="2969864" y="697173"/>
                </a:cubicBezTo>
                <a:cubicBezTo>
                  <a:pt x="2965949" y="700160"/>
                  <a:pt x="2968628" y="705192"/>
                  <a:pt x="2960798" y="702205"/>
                </a:cubicBezTo>
                <a:cubicBezTo>
                  <a:pt x="2971102" y="705192"/>
                  <a:pt x="2963271" y="707236"/>
                  <a:pt x="2964713" y="712110"/>
                </a:cubicBezTo>
                <a:cubicBezTo>
                  <a:pt x="2967289" y="711166"/>
                  <a:pt x="2968885" y="709948"/>
                  <a:pt x="2970663" y="708710"/>
                </a:cubicBezTo>
                <a:lnTo>
                  <a:pt x="2974380" y="706851"/>
                </a:lnTo>
                <a:lnTo>
                  <a:pt x="2975416" y="704360"/>
                </a:lnTo>
                <a:lnTo>
                  <a:pt x="2976703" y="703129"/>
                </a:lnTo>
                <a:lnTo>
                  <a:pt x="2976202" y="702086"/>
                </a:lnTo>
                <a:cubicBezTo>
                  <a:pt x="2976356" y="700986"/>
                  <a:pt x="2976356" y="699768"/>
                  <a:pt x="2973780" y="698274"/>
                </a:cubicBezTo>
                <a:cubicBezTo>
                  <a:pt x="2997271" y="694344"/>
                  <a:pt x="2976459" y="675477"/>
                  <a:pt x="2997271" y="667458"/>
                </a:cubicBezTo>
                <a:cubicBezTo>
                  <a:pt x="2991914" y="660540"/>
                  <a:pt x="3007575" y="655509"/>
                  <a:pt x="2999745" y="648592"/>
                </a:cubicBezTo>
                <a:cubicBezTo>
                  <a:pt x="3006338" y="638686"/>
                  <a:pt x="3012726" y="627680"/>
                  <a:pt x="3012726" y="616832"/>
                </a:cubicBezTo>
                <a:cubicBezTo>
                  <a:pt x="3016848" y="617775"/>
                  <a:pt x="3020763" y="614788"/>
                  <a:pt x="3024472" y="616832"/>
                </a:cubicBezTo>
                <a:cubicBezTo>
                  <a:pt x="3024472" y="613844"/>
                  <a:pt x="3029830" y="611801"/>
                  <a:pt x="3025915" y="608813"/>
                </a:cubicBezTo>
                <a:cubicBezTo>
                  <a:pt x="3032302" y="604883"/>
                  <a:pt x="3037660" y="605826"/>
                  <a:pt x="3042811" y="604883"/>
                </a:cubicBezTo>
                <a:cubicBezTo>
                  <a:pt x="3038897" y="601896"/>
                  <a:pt x="3036218" y="598908"/>
                  <a:pt x="3032302" y="597965"/>
                </a:cubicBezTo>
                <a:cubicBezTo>
                  <a:pt x="3033745" y="591991"/>
                  <a:pt x="3041575" y="589946"/>
                  <a:pt x="3044048" y="589003"/>
                </a:cubicBezTo>
                <a:cubicBezTo>
                  <a:pt x="3038897" y="586016"/>
                  <a:pt x="3036218" y="586016"/>
                  <a:pt x="3038897" y="581928"/>
                </a:cubicBezTo>
                <a:cubicBezTo>
                  <a:pt x="3046727" y="583028"/>
                  <a:pt x="3044048" y="589946"/>
                  <a:pt x="3051879" y="587902"/>
                </a:cubicBezTo>
                <a:cubicBezTo>
                  <a:pt x="3050642" y="583972"/>
                  <a:pt x="3046727" y="577054"/>
                  <a:pt x="3057030" y="577998"/>
                </a:cubicBezTo>
                <a:cubicBezTo>
                  <a:pt x="3054558" y="575010"/>
                  <a:pt x="3055794" y="573124"/>
                  <a:pt x="3054558" y="570136"/>
                </a:cubicBezTo>
                <a:cubicBezTo>
                  <a:pt x="3049200" y="571080"/>
                  <a:pt x="3045285" y="571080"/>
                  <a:pt x="3041575" y="566049"/>
                </a:cubicBezTo>
                <a:cubicBezTo>
                  <a:pt x="3046727" y="563218"/>
                  <a:pt x="3044048" y="569035"/>
                  <a:pt x="3051879" y="566049"/>
                </a:cubicBezTo>
                <a:cubicBezTo>
                  <a:pt x="3046727" y="559130"/>
                  <a:pt x="3057030" y="556143"/>
                  <a:pt x="3057030" y="548282"/>
                </a:cubicBezTo>
                <a:cubicBezTo>
                  <a:pt x="3063624" y="553156"/>
                  <a:pt x="3062388" y="555200"/>
                  <a:pt x="3070219" y="554257"/>
                </a:cubicBezTo>
                <a:cubicBezTo>
                  <a:pt x="3066303" y="556143"/>
                  <a:pt x="3074133" y="558187"/>
                  <a:pt x="3075370" y="560231"/>
                </a:cubicBezTo>
                <a:cubicBezTo>
                  <a:pt x="3071455" y="564161"/>
                  <a:pt x="3072691" y="568092"/>
                  <a:pt x="3071455" y="572023"/>
                </a:cubicBezTo>
                <a:cubicBezTo>
                  <a:pt x="3066303" y="570136"/>
                  <a:pt x="3071455" y="564161"/>
                  <a:pt x="3064861" y="566049"/>
                </a:cubicBezTo>
                <a:cubicBezTo>
                  <a:pt x="3071455" y="571080"/>
                  <a:pt x="3054558" y="576111"/>
                  <a:pt x="3067539" y="577998"/>
                </a:cubicBezTo>
                <a:cubicBezTo>
                  <a:pt x="3057030" y="584915"/>
                  <a:pt x="3054558" y="589946"/>
                  <a:pt x="3049200" y="597965"/>
                </a:cubicBezTo>
                <a:lnTo>
                  <a:pt x="3051248" y="599186"/>
                </a:lnTo>
                <a:lnTo>
                  <a:pt x="3054787" y="594686"/>
                </a:lnTo>
                <a:cubicBezTo>
                  <a:pt x="3057716" y="593704"/>
                  <a:pt x="3061981" y="593203"/>
                  <a:pt x="3066606" y="592742"/>
                </a:cubicBezTo>
                <a:lnTo>
                  <a:pt x="3051461" y="599313"/>
                </a:lnTo>
                <a:lnTo>
                  <a:pt x="3055794" y="601896"/>
                </a:lnTo>
                <a:cubicBezTo>
                  <a:pt x="3054558" y="602839"/>
                  <a:pt x="3051879" y="604883"/>
                  <a:pt x="3055794" y="605826"/>
                </a:cubicBezTo>
                <a:cubicBezTo>
                  <a:pt x="3050642" y="611801"/>
                  <a:pt x="3049200" y="602839"/>
                  <a:pt x="3045285" y="605826"/>
                </a:cubicBezTo>
                <a:cubicBezTo>
                  <a:pt x="3041575" y="609757"/>
                  <a:pt x="3045285" y="613844"/>
                  <a:pt x="3051879" y="613844"/>
                </a:cubicBezTo>
                <a:cubicBezTo>
                  <a:pt x="3047963" y="616832"/>
                  <a:pt x="3045285" y="613844"/>
                  <a:pt x="3041575" y="616832"/>
                </a:cubicBezTo>
                <a:cubicBezTo>
                  <a:pt x="3038897" y="623750"/>
                  <a:pt x="3047963" y="626737"/>
                  <a:pt x="3033745" y="632712"/>
                </a:cubicBezTo>
                <a:cubicBezTo>
                  <a:pt x="3036218" y="635699"/>
                  <a:pt x="3040133" y="632712"/>
                  <a:pt x="3041575" y="635699"/>
                </a:cubicBezTo>
                <a:cubicBezTo>
                  <a:pt x="3037660" y="641673"/>
                  <a:pt x="3036218" y="642617"/>
                  <a:pt x="3044048" y="640573"/>
                </a:cubicBezTo>
                <a:cubicBezTo>
                  <a:pt x="3044048" y="643560"/>
                  <a:pt x="3037660" y="646547"/>
                  <a:pt x="3036218" y="649534"/>
                </a:cubicBezTo>
                <a:cubicBezTo>
                  <a:pt x="3042811" y="661484"/>
                  <a:pt x="3024472" y="670445"/>
                  <a:pt x="3021999" y="678464"/>
                </a:cubicBezTo>
                <a:cubicBezTo>
                  <a:pt x="3025915" y="683338"/>
                  <a:pt x="3029830" y="690255"/>
                  <a:pt x="3037660" y="687269"/>
                </a:cubicBezTo>
                <a:cubicBezTo>
                  <a:pt x="3034982" y="684281"/>
                  <a:pt x="3031066" y="685381"/>
                  <a:pt x="3032302" y="681294"/>
                </a:cubicBezTo>
                <a:cubicBezTo>
                  <a:pt x="3036218" y="677363"/>
                  <a:pt x="3037660" y="684281"/>
                  <a:pt x="3041575" y="680350"/>
                </a:cubicBezTo>
                <a:cubicBezTo>
                  <a:pt x="3049200" y="664471"/>
                  <a:pt x="3054558" y="648592"/>
                  <a:pt x="3067539" y="632712"/>
                </a:cubicBezTo>
                <a:cubicBezTo>
                  <a:pt x="3074133" y="636642"/>
                  <a:pt x="3066303" y="639629"/>
                  <a:pt x="3068776" y="642617"/>
                </a:cubicBezTo>
                <a:cubicBezTo>
                  <a:pt x="3075370" y="644661"/>
                  <a:pt x="3075370" y="638686"/>
                  <a:pt x="3080522" y="642617"/>
                </a:cubicBezTo>
                <a:cubicBezTo>
                  <a:pt x="3078048" y="644661"/>
                  <a:pt x="3075370" y="644661"/>
                  <a:pt x="3072691" y="644661"/>
                </a:cubicBezTo>
                <a:cubicBezTo>
                  <a:pt x="3076606" y="651578"/>
                  <a:pt x="3080522" y="652522"/>
                  <a:pt x="3079285" y="658496"/>
                </a:cubicBezTo>
                <a:cubicBezTo>
                  <a:pt x="3078048" y="651578"/>
                  <a:pt x="3072691" y="656453"/>
                  <a:pt x="3067539" y="652522"/>
                </a:cubicBezTo>
                <a:cubicBezTo>
                  <a:pt x="3070219" y="651578"/>
                  <a:pt x="3075370" y="649534"/>
                  <a:pt x="3074133" y="647648"/>
                </a:cubicBezTo>
                <a:cubicBezTo>
                  <a:pt x="3070219" y="647648"/>
                  <a:pt x="3066303" y="643560"/>
                  <a:pt x="3060946" y="646547"/>
                </a:cubicBezTo>
                <a:cubicBezTo>
                  <a:pt x="3074133" y="647648"/>
                  <a:pt x="3059709" y="651578"/>
                  <a:pt x="3064861" y="657553"/>
                </a:cubicBezTo>
                <a:cubicBezTo>
                  <a:pt x="3070219" y="654566"/>
                  <a:pt x="3072691" y="662427"/>
                  <a:pt x="3074133" y="664471"/>
                </a:cubicBezTo>
                <a:cubicBezTo>
                  <a:pt x="3066303" y="673433"/>
                  <a:pt x="3068776" y="699218"/>
                  <a:pt x="3055794" y="704248"/>
                </a:cubicBezTo>
                <a:cubicBezTo>
                  <a:pt x="3058473" y="706135"/>
                  <a:pt x="3063624" y="702205"/>
                  <a:pt x="3066303" y="707236"/>
                </a:cubicBezTo>
                <a:cubicBezTo>
                  <a:pt x="3051879" y="711166"/>
                  <a:pt x="3053115" y="713210"/>
                  <a:pt x="3047963" y="720128"/>
                </a:cubicBezTo>
                <a:cubicBezTo>
                  <a:pt x="3047963" y="714154"/>
                  <a:pt x="3040133" y="714154"/>
                  <a:pt x="3045285" y="710223"/>
                </a:cubicBezTo>
                <a:cubicBezTo>
                  <a:pt x="3046727" y="712110"/>
                  <a:pt x="3047963" y="713210"/>
                  <a:pt x="3051879" y="711166"/>
                </a:cubicBezTo>
                <a:cubicBezTo>
                  <a:pt x="3049200" y="709122"/>
                  <a:pt x="3049200" y="703148"/>
                  <a:pt x="3044048" y="702205"/>
                </a:cubicBezTo>
                <a:cubicBezTo>
                  <a:pt x="3046727" y="707236"/>
                  <a:pt x="3031066" y="719185"/>
                  <a:pt x="3049200" y="724059"/>
                </a:cubicBezTo>
                <a:cubicBezTo>
                  <a:pt x="3045285" y="727989"/>
                  <a:pt x="3046727" y="732077"/>
                  <a:pt x="3042811" y="736007"/>
                </a:cubicBezTo>
                <a:cubicBezTo>
                  <a:pt x="3036218" y="732077"/>
                  <a:pt x="3041575" y="725002"/>
                  <a:pt x="3033745" y="727046"/>
                </a:cubicBezTo>
                <a:cubicBezTo>
                  <a:pt x="3027151" y="730033"/>
                  <a:pt x="3038897" y="736951"/>
                  <a:pt x="3032302" y="739938"/>
                </a:cubicBezTo>
                <a:cubicBezTo>
                  <a:pt x="3047963" y="739938"/>
                  <a:pt x="3031066" y="754874"/>
                  <a:pt x="3038897" y="757862"/>
                </a:cubicBezTo>
                <a:cubicBezTo>
                  <a:pt x="3033745" y="757862"/>
                  <a:pt x="3036218" y="755818"/>
                  <a:pt x="3032302" y="754874"/>
                </a:cubicBezTo>
                <a:cubicBezTo>
                  <a:pt x="3028387" y="757862"/>
                  <a:pt x="3024472" y="762893"/>
                  <a:pt x="3031066" y="763837"/>
                </a:cubicBezTo>
                <a:cubicBezTo>
                  <a:pt x="3021999" y="766823"/>
                  <a:pt x="3029830" y="769811"/>
                  <a:pt x="3020763" y="769811"/>
                </a:cubicBezTo>
                <a:cubicBezTo>
                  <a:pt x="3019320" y="774685"/>
                  <a:pt x="3020763" y="779716"/>
                  <a:pt x="3027151" y="780659"/>
                </a:cubicBezTo>
                <a:cubicBezTo>
                  <a:pt x="3027151" y="786634"/>
                  <a:pt x="3018084" y="778773"/>
                  <a:pt x="3018084" y="783647"/>
                </a:cubicBezTo>
                <a:cubicBezTo>
                  <a:pt x="3023235" y="784748"/>
                  <a:pt x="3027151" y="787735"/>
                  <a:pt x="3019320" y="793709"/>
                </a:cubicBezTo>
                <a:cubicBezTo>
                  <a:pt x="3016848" y="794653"/>
                  <a:pt x="3015406" y="790722"/>
                  <a:pt x="3012726" y="790722"/>
                </a:cubicBezTo>
                <a:cubicBezTo>
                  <a:pt x="3010254" y="795596"/>
                  <a:pt x="3015406" y="793709"/>
                  <a:pt x="3018084" y="795596"/>
                </a:cubicBezTo>
                <a:cubicBezTo>
                  <a:pt x="3014169" y="796539"/>
                  <a:pt x="3015406" y="798583"/>
                  <a:pt x="3011490" y="799526"/>
                </a:cubicBezTo>
                <a:cubicBezTo>
                  <a:pt x="3003660" y="799526"/>
                  <a:pt x="3015406" y="792609"/>
                  <a:pt x="3006338" y="792609"/>
                </a:cubicBezTo>
                <a:cubicBezTo>
                  <a:pt x="2999745" y="797639"/>
                  <a:pt x="3002423" y="805501"/>
                  <a:pt x="3012726" y="806602"/>
                </a:cubicBezTo>
                <a:cubicBezTo>
                  <a:pt x="3002423" y="807545"/>
                  <a:pt x="2991914" y="812419"/>
                  <a:pt x="3003660" y="815406"/>
                </a:cubicBezTo>
                <a:cubicBezTo>
                  <a:pt x="3001187" y="819494"/>
                  <a:pt x="2999745" y="816506"/>
                  <a:pt x="2994593" y="816506"/>
                </a:cubicBezTo>
                <a:cubicBezTo>
                  <a:pt x="2991914" y="831443"/>
                  <a:pt x="2981611" y="835374"/>
                  <a:pt x="2980375" y="850310"/>
                </a:cubicBezTo>
                <a:cubicBezTo>
                  <a:pt x="2973780" y="853297"/>
                  <a:pt x="2972544" y="849209"/>
                  <a:pt x="2968628" y="850310"/>
                </a:cubicBezTo>
                <a:cubicBezTo>
                  <a:pt x="2967186" y="858171"/>
                  <a:pt x="2973780" y="865246"/>
                  <a:pt x="2962035" y="865246"/>
                </a:cubicBezTo>
                <a:cubicBezTo>
                  <a:pt x="2964713" y="871063"/>
                  <a:pt x="2956883" y="873107"/>
                  <a:pt x="2960798" y="876094"/>
                </a:cubicBezTo>
                <a:cubicBezTo>
                  <a:pt x="2959355" y="875151"/>
                  <a:pt x="2956883" y="876094"/>
                  <a:pt x="2954204" y="876094"/>
                </a:cubicBezTo>
                <a:cubicBezTo>
                  <a:pt x="2956883" y="880025"/>
                  <a:pt x="2954204" y="899993"/>
                  <a:pt x="2942458" y="894961"/>
                </a:cubicBezTo>
                <a:lnTo>
                  <a:pt x="2943765" y="904608"/>
                </a:lnTo>
                <a:lnTo>
                  <a:pt x="2944058" y="904763"/>
                </a:lnTo>
                <a:lnTo>
                  <a:pt x="2943859" y="905298"/>
                </a:lnTo>
                <a:lnTo>
                  <a:pt x="2943952" y="905986"/>
                </a:lnTo>
                <a:cubicBezTo>
                  <a:pt x="2944107" y="909583"/>
                  <a:pt x="2944416" y="912806"/>
                  <a:pt x="2946373" y="914772"/>
                </a:cubicBezTo>
                <a:cubicBezTo>
                  <a:pt x="2929476" y="915873"/>
                  <a:pt x="2925561" y="941657"/>
                  <a:pt x="2917730" y="930651"/>
                </a:cubicBezTo>
                <a:cubicBezTo>
                  <a:pt x="2909900" y="933796"/>
                  <a:pt x="2923087" y="938670"/>
                  <a:pt x="2911342" y="939613"/>
                </a:cubicBezTo>
                <a:cubicBezTo>
                  <a:pt x="2904748" y="940714"/>
                  <a:pt x="2919173" y="933796"/>
                  <a:pt x="2909900" y="933796"/>
                </a:cubicBezTo>
                <a:cubicBezTo>
                  <a:pt x="2903512" y="936783"/>
                  <a:pt x="2894239" y="944645"/>
                  <a:pt x="2905984" y="948575"/>
                </a:cubicBezTo>
                <a:cubicBezTo>
                  <a:pt x="2905984" y="945588"/>
                  <a:pt x="2912578" y="939613"/>
                  <a:pt x="2915051" y="942600"/>
                </a:cubicBezTo>
                <a:cubicBezTo>
                  <a:pt x="2907427" y="948575"/>
                  <a:pt x="2900833" y="957536"/>
                  <a:pt x="2890529" y="958480"/>
                </a:cubicBezTo>
                <a:cubicBezTo>
                  <a:pt x="2889087" y="963511"/>
                  <a:pt x="2896917" y="958480"/>
                  <a:pt x="2895681" y="964455"/>
                </a:cubicBezTo>
                <a:cubicBezTo>
                  <a:pt x="2885172" y="965555"/>
                  <a:pt x="2891765" y="968542"/>
                  <a:pt x="2886614" y="971530"/>
                </a:cubicBezTo>
                <a:lnTo>
                  <a:pt x="2894110" y="971530"/>
                </a:lnTo>
                <a:lnTo>
                  <a:pt x="2893202" y="971010"/>
                </a:lnTo>
                <a:cubicBezTo>
                  <a:pt x="2890965" y="967645"/>
                  <a:pt x="2898956" y="964876"/>
                  <a:pt x="2901875" y="962638"/>
                </a:cubicBezTo>
                <a:lnTo>
                  <a:pt x="2906519" y="964281"/>
                </a:lnTo>
                <a:lnTo>
                  <a:pt x="2909208" y="963649"/>
                </a:lnTo>
                <a:lnTo>
                  <a:pt x="2916219" y="960596"/>
                </a:lnTo>
                <a:cubicBezTo>
                  <a:pt x="2905769" y="956669"/>
                  <a:pt x="2913555" y="965622"/>
                  <a:pt x="2903310" y="960596"/>
                </a:cubicBezTo>
                <a:cubicBezTo>
                  <a:pt x="2907203" y="957612"/>
                  <a:pt x="2911097" y="954627"/>
                  <a:pt x="2921341" y="956669"/>
                </a:cubicBezTo>
                <a:cubicBezTo>
                  <a:pt x="2926668" y="960596"/>
                  <a:pt x="2911097" y="963580"/>
                  <a:pt x="2924004" y="968607"/>
                </a:cubicBezTo>
                <a:cubicBezTo>
                  <a:pt x="2921444" y="968057"/>
                  <a:pt x="2915604" y="968057"/>
                  <a:pt x="2910891" y="967684"/>
                </a:cubicBezTo>
                <a:lnTo>
                  <a:pt x="2908665" y="967309"/>
                </a:lnTo>
                <a:lnTo>
                  <a:pt x="2904748" y="972473"/>
                </a:lnTo>
                <a:lnTo>
                  <a:pt x="2899332" y="973204"/>
                </a:lnTo>
                <a:lnTo>
                  <a:pt x="2899418" y="974575"/>
                </a:lnTo>
                <a:lnTo>
                  <a:pt x="2897223" y="973317"/>
                </a:lnTo>
                <a:lnTo>
                  <a:pt x="2892101" y="972964"/>
                </a:lnTo>
                <a:cubicBezTo>
                  <a:pt x="2888520" y="972709"/>
                  <a:pt x="2885893" y="972945"/>
                  <a:pt x="2885172" y="976404"/>
                </a:cubicBezTo>
                <a:cubicBezTo>
                  <a:pt x="2885172" y="978920"/>
                  <a:pt x="2886511" y="979941"/>
                  <a:pt x="2888006" y="980944"/>
                </a:cubicBezTo>
                <a:lnTo>
                  <a:pt x="2889327" y="982498"/>
                </a:lnTo>
                <a:lnTo>
                  <a:pt x="2890589" y="981143"/>
                </a:lnTo>
                <a:cubicBezTo>
                  <a:pt x="2893031" y="979149"/>
                  <a:pt x="2895772" y="977386"/>
                  <a:pt x="2898346" y="976119"/>
                </a:cubicBezTo>
                <a:cubicBezTo>
                  <a:pt x="2902259" y="977228"/>
                  <a:pt x="2906170" y="979130"/>
                  <a:pt x="2907612" y="978179"/>
                </a:cubicBezTo>
                <a:cubicBezTo>
                  <a:pt x="2916672" y="982140"/>
                  <a:pt x="2908848" y="984200"/>
                  <a:pt x="2908848" y="985151"/>
                </a:cubicBezTo>
                <a:cubicBezTo>
                  <a:pt x="2902259" y="986102"/>
                  <a:pt x="2899787" y="982140"/>
                  <a:pt x="2904935" y="981189"/>
                </a:cubicBezTo>
                <a:cubicBezTo>
                  <a:pt x="2902259" y="981189"/>
                  <a:pt x="2901024" y="982140"/>
                  <a:pt x="2895876" y="980239"/>
                </a:cubicBezTo>
                <a:cubicBezTo>
                  <a:pt x="2894434" y="983091"/>
                  <a:pt x="2898346" y="985151"/>
                  <a:pt x="2898346" y="987211"/>
                </a:cubicBezTo>
                <a:cubicBezTo>
                  <a:pt x="2906170" y="984200"/>
                  <a:pt x="2912760" y="991173"/>
                  <a:pt x="2912760" y="995134"/>
                </a:cubicBezTo>
                <a:lnTo>
                  <a:pt x="2906782" y="993044"/>
                </a:lnTo>
                <a:lnTo>
                  <a:pt x="2903512" y="995271"/>
                </a:lnTo>
                <a:cubicBezTo>
                  <a:pt x="2911342" y="993384"/>
                  <a:pt x="2907427" y="998258"/>
                  <a:pt x="2905984" y="1000302"/>
                </a:cubicBezTo>
                <a:cubicBezTo>
                  <a:pt x="2911342" y="995271"/>
                  <a:pt x="2917730" y="993384"/>
                  <a:pt x="2924324" y="995271"/>
                </a:cubicBezTo>
                <a:cubicBezTo>
                  <a:pt x="2917730" y="993384"/>
                  <a:pt x="2917730" y="1001245"/>
                  <a:pt x="2921645" y="1000302"/>
                </a:cubicBezTo>
                <a:cubicBezTo>
                  <a:pt x="2933391" y="995271"/>
                  <a:pt x="2929476" y="983322"/>
                  <a:pt x="2936070" y="977504"/>
                </a:cubicBezTo>
                <a:cubicBezTo>
                  <a:pt x="2937307" y="981435"/>
                  <a:pt x="2936070" y="987409"/>
                  <a:pt x="2945136" y="984422"/>
                </a:cubicBezTo>
                <a:cubicBezTo>
                  <a:pt x="2942561" y="980963"/>
                  <a:pt x="2940912" y="976246"/>
                  <a:pt x="2941376" y="972395"/>
                </a:cubicBezTo>
                <a:lnTo>
                  <a:pt x="2946664" y="968337"/>
                </a:lnTo>
                <a:lnTo>
                  <a:pt x="2949052" y="970429"/>
                </a:lnTo>
                <a:cubicBezTo>
                  <a:pt x="2952967" y="965555"/>
                  <a:pt x="2959355" y="961467"/>
                  <a:pt x="2960798" y="954550"/>
                </a:cubicBezTo>
                <a:cubicBezTo>
                  <a:pt x="2965949" y="953606"/>
                  <a:pt x="2969864" y="953606"/>
                  <a:pt x="2972544" y="954550"/>
                </a:cubicBezTo>
                <a:cubicBezTo>
                  <a:pt x="2973780" y="948575"/>
                  <a:pt x="2971102" y="950619"/>
                  <a:pt x="2969864" y="944645"/>
                </a:cubicBezTo>
                <a:cubicBezTo>
                  <a:pt x="2973780" y="944645"/>
                  <a:pt x="2973780" y="942600"/>
                  <a:pt x="2977695" y="941657"/>
                </a:cubicBezTo>
                <a:cubicBezTo>
                  <a:pt x="2981611" y="941657"/>
                  <a:pt x="2980375" y="944645"/>
                  <a:pt x="2982847" y="943701"/>
                </a:cubicBezTo>
                <a:cubicBezTo>
                  <a:pt x="2998508" y="934739"/>
                  <a:pt x="2994593" y="922790"/>
                  <a:pt x="3001187" y="911784"/>
                </a:cubicBezTo>
                <a:cubicBezTo>
                  <a:pt x="3003660" y="914772"/>
                  <a:pt x="3007575" y="917759"/>
                  <a:pt x="3012726" y="918859"/>
                </a:cubicBezTo>
                <a:cubicBezTo>
                  <a:pt x="3014169" y="914772"/>
                  <a:pt x="3020763" y="911784"/>
                  <a:pt x="3016848" y="905967"/>
                </a:cubicBezTo>
                <a:cubicBezTo>
                  <a:pt x="3011490" y="907854"/>
                  <a:pt x="3014169" y="917759"/>
                  <a:pt x="3007575" y="911784"/>
                </a:cubicBezTo>
                <a:cubicBezTo>
                  <a:pt x="3008811" y="905967"/>
                  <a:pt x="3016848" y="903923"/>
                  <a:pt x="3027151" y="899993"/>
                </a:cubicBezTo>
                <a:cubicBezTo>
                  <a:pt x="3024472" y="891974"/>
                  <a:pt x="3019320" y="901879"/>
                  <a:pt x="3014169" y="897949"/>
                </a:cubicBezTo>
                <a:cubicBezTo>
                  <a:pt x="3029830" y="888043"/>
                  <a:pt x="3029830" y="873107"/>
                  <a:pt x="3033745" y="862259"/>
                </a:cubicBezTo>
                <a:cubicBezTo>
                  <a:pt x="3037660" y="866190"/>
                  <a:pt x="3031066" y="866190"/>
                  <a:pt x="3032302" y="869177"/>
                </a:cubicBezTo>
                <a:cubicBezTo>
                  <a:pt x="3037248" y="866936"/>
                  <a:pt x="3038484" y="869737"/>
                  <a:pt x="3040967" y="870017"/>
                </a:cubicBezTo>
                <a:lnTo>
                  <a:pt x="3042086" y="869711"/>
                </a:lnTo>
                <a:lnTo>
                  <a:pt x="3044578" y="858321"/>
                </a:lnTo>
                <a:lnTo>
                  <a:pt x="3044599" y="857898"/>
                </a:lnTo>
                <a:lnTo>
                  <a:pt x="3044702" y="857752"/>
                </a:lnTo>
                <a:lnTo>
                  <a:pt x="3048364" y="841014"/>
                </a:lnTo>
                <a:lnTo>
                  <a:pt x="3045314" y="842161"/>
                </a:lnTo>
                <a:cubicBezTo>
                  <a:pt x="3044704" y="840677"/>
                  <a:pt x="3046026" y="838723"/>
                  <a:pt x="3047654" y="836143"/>
                </a:cubicBezTo>
                <a:lnTo>
                  <a:pt x="3051295" y="827614"/>
                </a:lnTo>
                <a:lnTo>
                  <a:pt x="3052132" y="823790"/>
                </a:lnTo>
                <a:lnTo>
                  <a:pt x="3049284" y="824411"/>
                </a:lnTo>
                <a:cubicBezTo>
                  <a:pt x="3049284" y="823469"/>
                  <a:pt x="3050722" y="823469"/>
                  <a:pt x="3051955" y="823469"/>
                </a:cubicBezTo>
                <a:cubicBezTo>
                  <a:pt x="3054624" y="817504"/>
                  <a:pt x="3046820" y="812481"/>
                  <a:pt x="3055857" y="806673"/>
                </a:cubicBezTo>
                <a:lnTo>
                  <a:pt x="3055875" y="806676"/>
                </a:lnTo>
                <a:lnTo>
                  <a:pt x="3059586" y="789715"/>
                </a:lnTo>
                <a:cubicBezTo>
                  <a:pt x="3059586" y="783742"/>
                  <a:pt x="3051756" y="777767"/>
                  <a:pt x="3067414" y="772895"/>
                </a:cubicBezTo>
                <a:cubicBezTo>
                  <a:pt x="3073286" y="778318"/>
                  <a:pt x="3077201" y="784528"/>
                  <a:pt x="3079648" y="791228"/>
                </a:cubicBezTo>
                <a:lnTo>
                  <a:pt x="3080617" y="797256"/>
                </a:lnTo>
                <a:lnTo>
                  <a:pt x="3085351" y="797256"/>
                </a:lnTo>
                <a:lnTo>
                  <a:pt x="3086380" y="797256"/>
                </a:lnTo>
                <a:lnTo>
                  <a:pt x="3087329" y="795112"/>
                </a:lnTo>
                <a:cubicBezTo>
                  <a:pt x="3088018" y="792422"/>
                  <a:pt x="3088095" y="789621"/>
                  <a:pt x="3087116" y="786634"/>
                </a:cubicBezTo>
                <a:cubicBezTo>
                  <a:pt x="3088353" y="789621"/>
                  <a:pt x="3091031" y="789621"/>
                  <a:pt x="3094946" y="789621"/>
                </a:cubicBezTo>
                <a:cubicBezTo>
                  <a:pt x="3097419" y="771698"/>
                  <a:pt x="3101334" y="774685"/>
                  <a:pt x="3113081" y="762893"/>
                </a:cubicBezTo>
                <a:cubicBezTo>
                  <a:pt x="3114317" y="765880"/>
                  <a:pt x="3116995" y="767767"/>
                  <a:pt x="3120912" y="766823"/>
                </a:cubicBezTo>
                <a:cubicBezTo>
                  <a:pt x="3114317" y="759906"/>
                  <a:pt x="3127505" y="763837"/>
                  <a:pt x="3124826" y="757862"/>
                </a:cubicBezTo>
                <a:cubicBezTo>
                  <a:pt x="3122148" y="753932"/>
                  <a:pt x="3119675" y="751887"/>
                  <a:pt x="3116995" y="751887"/>
                </a:cubicBezTo>
                <a:cubicBezTo>
                  <a:pt x="3120912" y="750001"/>
                  <a:pt x="3123590" y="747957"/>
                  <a:pt x="3123590" y="744970"/>
                </a:cubicBezTo>
                <a:cubicBezTo>
                  <a:pt x="3120912" y="742926"/>
                  <a:pt x="3116995" y="747013"/>
                  <a:pt x="3115759" y="744970"/>
                </a:cubicBezTo>
                <a:lnTo>
                  <a:pt x="3117716" y="742903"/>
                </a:lnTo>
                <a:lnTo>
                  <a:pt x="3117490" y="742911"/>
                </a:lnTo>
                <a:cubicBezTo>
                  <a:pt x="3114374" y="743027"/>
                  <a:pt x="3114374" y="743027"/>
                  <a:pt x="3114374" y="743027"/>
                </a:cubicBezTo>
                <a:cubicBezTo>
                  <a:pt x="3113387" y="741332"/>
                  <a:pt x="3114374" y="740186"/>
                  <a:pt x="3116428" y="739481"/>
                </a:cubicBezTo>
                <a:lnTo>
                  <a:pt x="3122698" y="738812"/>
                </a:lnTo>
                <a:lnTo>
                  <a:pt x="3124308" y="737541"/>
                </a:lnTo>
                <a:cubicBezTo>
                  <a:pt x="3125161" y="736627"/>
                  <a:pt x="3126166" y="735261"/>
                  <a:pt x="3127505" y="733021"/>
                </a:cubicBezTo>
                <a:cubicBezTo>
                  <a:pt x="3123590" y="733964"/>
                  <a:pt x="3118232" y="738052"/>
                  <a:pt x="3116995" y="733021"/>
                </a:cubicBezTo>
                <a:cubicBezTo>
                  <a:pt x="3132657" y="726103"/>
                  <a:pt x="3133893" y="705192"/>
                  <a:pt x="3146875" y="714154"/>
                </a:cubicBezTo>
                <a:cubicBezTo>
                  <a:pt x="3153469" y="709122"/>
                  <a:pt x="3148317" y="702205"/>
                  <a:pt x="3152233" y="697173"/>
                </a:cubicBezTo>
                <a:cubicBezTo>
                  <a:pt x="3153469" y="698274"/>
                  <a:pt x="3154706" y="701261"/>
                  <a:pt x="3157385" y="700160"/>
                </a:cubicBezTo>
                <a:cubicBezTo>
                  <a:pt x="3154706" y="693243"/>
                  <a:pt x="3167894" y="695287"/>
                  <a:pt x="3166452" y="688369"/>
                </a:cubicBezTo>
                <a:cubicBezTo>
                  <a:pt x="3160063" y="684281"/>
                  <a:pt x="3152233" y="687269"/>
                  <a:pt x="3146875" y="684281"/>
                </a:cubicBezTo>
                <a:cubicBezTo>
                  <a:pt x="3157385" y="683338"/>
                  <a:pt x="3167894" y="672489"/>
                  <a:pt x="3156148" y="669502"/>
                </a:cubicBezTo>
                <a:lnTo>
                  <a:pt x="3163257" y="654363"/>
                </a:lnTo>
                <a:lnTo>
                  <a:pt x="3163196" y="653998"/>
                </a:lnTo>
                <a:cubicBezTo>
                  <a:pt x="3162987" y="650203"/>
                  <a:pt x="3163167" y="645909"/>
                  <a:pt x="3163837" y="640682"/>
                </a:cubicBezTo>
                <a:cubicBezTo>
                  <a:pt x="3165073" y="630778"/>
                  <a:pt x="3176817" y="623861"/>
                  <a:pt x="3180732" y="616943"/>
                </a:cubicBezTo>
                <a:cubicBezTo>
                  <a:pt x="3181968" y="614900"/>
                  <a:pt x="3176817" y="612856"/>
                  <a:pt x="3178053" y="609869"/>
                </a:cubicBezTo>
                <a:cubicBezTo>
                  <a:pt x="3179341" y="607668"/>
                  <a:pt x="3181606" y="605271"/>
                  <a:pt x="3184365" y="602726"/>
                </a:cubicBezTo>
                <a:lnTo>
                  <a:pt x="3186857" y="600568"/>
                </a:lnTo>
                <a:lnTo>
                  <a:pt x="3200246" y="564161"/>
                </a:lnTo>
                <a:cubicBezTo>
                  <a:pt x="3206840" y="568092"/>
                  <a:pt x="3196331" y="571080"/>
                  <a:pt x="3200246" y="575010"/>
                </a:cubicBezTo>
                <a:cubicBezTo>
                  <a:pt x="3205603" y="575010"/>
                  <a:pt x="3201688" y="580041"/>
                  <a:pt x="3208076" y="577054"/>
                </a:cubicBezTo>
                <a:cubicBezTo>
                  <a:pt x="3206840" y="576111"/>
                  <a:pt x="3210755" y="574067"/>
                  <a:pt x="3209519" y="573124"/>
                </a:cubicBezTo>
                <a:cubicBezTo>
                  <a:pt x="3206840" y="571080"/>
                  <a:pt x="3204161" y="572023"/>
                  <a:pt x="3202925" y="569035"/>
                </a:cubicBezTo>
                <a:cubicBezTo>
                  <a:pt x="3204882" y="566599"/>
                  <a:pt x="3206531" y="566363"/>
                  <a:pt x="3207999" y="566618"/>
                </a:cubicBezTo>
                <a:lnTo>
                  <a:pt x="3209884" y="566869"/>
                </a:lnTo>
                <a:lnTo>
                  <a:pt x="3209653" y="564514"/>
                </a:lnTo>
                <a:cubicBezTo>
                  <a:pt x="3209640" y="562530"/>
                  <a:pt x="3210033" y="560604"/>
                  <a:pt x="3211485" y="558732"/>
                </a:cubicBezTo>
                <a:lnTo>
                  <a:pt x="3211655" y="558618"/>
                </a:lnTo>
                <a:lnTo>
                  <a:pt x="3208076" y="558187"/>
                </a:lnTo>
                <a:cubicBezTo>
                  <a:pt x="3201688" y="563218"/>
                  <a:pt x="3195094" y="563218"/>
                  <a:pt x="3188706" y="565105"/>
                </a:cubicBezTo>
                <a:cubicBezTo>
                  <a:pt x="3192621" y="562118"/>
                  <a:pt x="3187264" y="559130"/>
                  <a:pt x="3193858" y="556143"/>
                </a:cubicBezTo>
                <a:cubicBezTo>
                  <a:pt x="3196331" y="558187"/>
                  <a:pt x="3199009" y="563218"/>
                  <a:pt x="3202925" y="558187"/>
                </a:cubicBezTo>
                <a:cubicBezTo>
                  <a:pt x="3200246" y="550169"/>
                  <a:pt x="3218585" y="541207"/>
                  <a:pt x="3209519" y="532402"/>
                </a:cubicBezTo>
                <a:cubicBezTo>
                  <a:pt x="3215907" y="530358"/>
                  <a:pt x="3217349" y="529415"/>
                  <a:pt x="3210755" y="527372"/>
                </a:cubicBezTo>
                <a:cubicBezTo>
                  <a:pt x="3217349" y="525327"/>
                  <a:pt x="3215907" y="521397"/>
                  <a:pt x="3218585" y="518409"/>
                </a:cubicBezTo>
                <a:cubicBezTo>
                  <a:pt x="3220543" y="520925"/>
                  <a:pt x="3220543" y="523402"/>
                  <a:pt x="3220543" y="525759"/>
                </a:cubicBezTo>
                <a:lnTo>
                  <a:pt x="3222381" y="531994"/>
                </a:lnTo>
                <a:lnTo>
                  <a:pt x="3223766" y="527983"/>
                </a:lnTo>
                <a:lnTo>
                  <a:pt x="3229590" y="521676"/>
                </a:lnTo>
                <a:lnTo>
                  <a:pt x="3229662" y="521279"/>
                </a:lnTo>
                <a:cubicBezTo>
                  <a:pt x="3229352" y="517427"/>
                  <a:pt x="3227755" y="513457"/>
                  <a:pt x="3229094" y="509448"/>
                </a:cubicBezTo>
                <a:cubicBezTo>
                  <a:pt x="3238162" y="510391"/>
                  <a:pt x="3234247" y="502530"/>
                  <a:pt x="3238162" y="499542"/>
                </a:cubicBezTo>
                <a:cubicBezTo>
                  <a:pt x="3244550" y="500486"/>
                  <a:pt x="3248465" y="508504"/>
                  <a:pt x="3255060" y="505517"/>
                </a:cubicBezTo>
                <a:cubicBezTo>
                  <a:pt x="3247229" y="500486"/>
                  <a:pt x="3253823" y="495612"/>
                  <a:pt x="3252380" y="490581"/>
                </a:cubicBezTo>
                <a:cubicBezTo>
                  <a:pt x="3245992" y="485707"/>
                  <a:pt x="3247229" y="487593"/>
                  <a:pt x="3240635" y="485707"/>
                </a:cubicBezTo>
                <a:cubicBezTo>
                  <a:pt x="3248465" y="481619"/>
                  <a:pt x="3247229" y="481619"/>
                  <a:pt x="3253823" y="476745"/>
                </a:cubicBezTo>
                <a:cubicBezTo>
                  <a:pt x="3258975" y="479732"/>
                  <a:pt x="3260211" y="478632"/>
                  <a:pt x="3268041" y="479732"/>
                </a:cubicBezTo>
                <a:cubicBezTo>
                  <a:pt x="3269278" y="483663"/>
                  <a:pt x="3262890" y="487593"/>
                  <a:pt x="3269278" y="491682"/>
                </a:cubicBezTo>
                <a:cubicBezTo>
                  <a:pt x="3260623" y="499110"/>
                  <a:pt x="3261358" y="506539"/>
                  <a:pt x="3258962" y="515228"/>
                </a:cubicBezTo>
                <a:lnTo>
                  <a:pt x="3256276" y="521530"/>
                </a:lnTo>
                <a:lnTo>
                  <a:pt x="3255839" y="523547"/>
                </a:lnTo>
                <a:cubicBezTo>
                  <a:pt x="3256125" y="525713"/>
                  <a:pt x="3257838" y="527256"/>
                  <a:pt x="3262731" y="527492"/>
                </a:cubicBezTo>
                <a:lnTo>
                  <a:pt x="3260102" y="529818"/>
                </a:lnTo>
                <a:lnTo>
                  <a:pt x="3258924" y="534781"/>
                </a:lnTo>
                <a:cubicBezTo>
                  <a:pt x="3256966" y="538259"/>
                  <a:pt x="3253720" y="541758"/>
                  <a:pt x="3255060" y="545295"/>
                </a:cubicBezTo>
                <a:cubicBezTo>
                  <a:pt x="3257738" y="544194"/>
                  <a:pt x="3258975" y="543251"/>
                  <a:pt x="3261653" y="545295"/>
                </a:cubicBezTo>
                <a:cubicBezTo>
                  <a:pt x="3256708" y="547535"/>
                  <a:pt x="3259181" y="550306"/>
                  <a:pt x="3256815" y="552812"/>
                </a:cubicBezTo>
                <a:lnTo>
                  <a:pt x="3255739" y="553391"/>
                </a:lnTo>
                <a:lnTo>
                  <a:pt x="3255801" y="553921"/>
                </a:lnTo>
                <a:lnTo>
                  <a:pt x="3253611" y="561319"/>
                </a:lnTo>
                <a:lnTo>
                  <a:pt x="3257738" y="564161"/>
                </a:lnTo>
                <a:cubicBezTo>
                  <a:pt x="3251144" y="568092"/>
                  <a:pt x="3251144" y="570136"/>
                  <a:pt x="3256296" y="575010"/>
                </a:cubicBezTo>
                <a:cubicBezTo>
                  <a:pt x="3255060" y="577054"/>
                  <a:pt x="3252380" y="577054"/>
                  <a:pt x="3249908" y="577054"/>
                </a:cubicBezTo>
                <a:cubicBezTo>
                  <a:pt x="3251144" y="580041"/>
                  <a:pt x="3256296" y="583972"/>
                  <a:pt x="3253823" y="586959"/>
                </a:cubicBezTo>
                <a:cubicBezTo>
                  <a:pt x="3243932" y="586959"/>
                  <a:pt x="3247371" y="581387"/>
                  <a:pt x="3249186" y="576081"/>
                </a:cubicBezTo>
                <a:lnTo>
                  <a:pt x="3249560" y="573491"/>
                </a:lnTo>
                <a:lnTo>
                  <a:pt x="3240599" y="589209"/>
                </a:lnTo>
                <a:lnTo>
                  <a:pt x="3236533" y="595045"/>
                </a:lnTo>
                <a:lnTo>
                  <a:pt x="3238162" y="596865"/>
                </a:lnTo>
                <a:lnTo>
                  <a:pt x="3234465" y="598012"/>
                </a:lnTo>
                <a:lnTo>
                  <a:pt x="3230203" y="604130"/>
                </a:lnTo>
                <a:lnTo>
                  <a:pt x="3231233" y="605414"/>
                </a:lnTo>
                <a:cubicBezTo>
                  <a:pt x="3231568" y="606887"/>
                  <a:pt x="3231568" y="608342"/>
                  <a:pt x="3232805" y="609757"/>
                </a:cubicBezTo>
                <a:cubicBezTo>
                  <a:pt x="3231568" y="610779"/>
                  <a:pt x="3228322" y="611290"/>
                  <a:pt x="3225720" y="612037"/>
                </a:cubicBezTo>
                <a:lnTo>
                  <a:pt x="3223617" y="612984"/>
                </a:lnTo>
                <a:lnTo>
                  <a:pt x="3222580" y="614356"/>
                </a:lnTo>
                <a:lnTo>
                  <a:pt x="3222501" y="615731"/>
                </a:lnTo>
                <a:cubicBezTo>
                  <a:pt x="3227652" y="614788"/>
                  <a:pt x="3234247" y="611801"/>
                  <a:pt x="3239399" y="618718"/>
                </a:cubicBezTo>
                <a:cubicBezTo>
                  <a:pt x="3223737" y="619819"/>
                  <a:pt x="3235483" y="624693"/>
                  <a:pt x="3221265" y="626737"/>
                </a:cubicBezTo>
                <a:cubicBezTo>
                  <a:pt x="3227652" y="631768"/>
                  <a:pt x="3225180" y="630668"/>
                  <a:pt x="3227652" y="636642"/>
                </a:cubicBezTo>
                <a:cubicBezTo>
                  <a:pt x="3231568" y="633655"/>
                  <a:pt x="3227652" y="623750"/>
                  <a:pt x="3236720" y="625637"/>
                </a:cubicBezTo>
                <a:cubicBezTo>
                  <a:pt x="3236720" y="632712"/>
                  <a:pt x="3229094" y="639629"/>
                  <a:pt x="3227652" y="646547"/>
                </a:cubicBezTo>
                <a:cubicBezTo>
                  <a:pt x="3239399" y="647648"/>
                  <a:pt x="3225180" y="663528"/>
                  <a:pt x="3226416" y="671389"/>
                </a:cubicBezTo>
                <a:cubicBezTo>
                  <a:pt x="3234247" y="665414"/>
                  <a:pt x="3243314" y="647648"/>
                  <a:pt x="3256296" y="653465"/>
                </a:cubicBezTo>
                <a:cubicBezTo>
                  <a:pt x="3257738" y="650635"/>
                  <a:pt x="3257738" y="648592"/>
                  <a:pt x="3255060" y="645604"/>
                </a:cubicBezTo>
                <a:cubicBezTo>
                  <a:pt x="3252380" y="647648"/>
                  <a:pt x="3249908" y="647648"/>
                  <a:pt x="3247229" y="645604"/>
                </a:cubicBezTo>
                <a:cubicBezTo>
                  <a:pt x="3255060" y="636642"/>
                  <a:pt x="3236720" y="639629"/>
                  <a:pt x="3242077" y="630668"/>
                </a:cubicBezTo>
                <a:cubicBezTo>
                  <a:pt x="3244550" y="634756"/>
                  <a:pt x="3247229" y="637586"/>
                  <a:pt x="3251144" y="635699"/>
                </a:cubicBezTo>
                <a:cubicBezTo>
                  <a:pt x="3253823" y="633655"/>
                  <a:pt x="3255060" y="631768"/>
                  <a:pt x="3255060" y="629724"/>
                </a:cubicBezTo>
                <a:cubicBezTo>
                  <a:pt x="3255060" y="629724"/>
                  <a:pt x="3255060" y="629724"/>
                  <a:pt x="3249908" y="623750"/>
                </a:cubicBezTo>
                <a:cubicBezTo>
                  <a:pt x="3255060" y="620762"/>
                  <a:pt x="3255060" y="617775"/>
                  <a:pt x="3260211" y="613844"/>
                </a:cubicBezTo>
                <a:cubicBezTo>
                  <a:pt x="3268041" y="618718"/>
                  <a:pt x="3261653" y="621706"/>
                  <a:pt x="3265569" y="625637"/>
                </a:cubicBezTo>
                <a:cubicBezTo>
                  <a:pt x="3269278" y="623750"/>
                  <a:pt x="3270721" y="620762"/>
                  <a:pt x="3270721" y="618718"/>
                </a:cubicBezTo>
                <a:cubicBezTo>
                  <a:pt x="3270721" y="618718"/>
                  <a:pt x="3270721" y="618718"/>
                  <a:pt x="3262890" y="610857"/>
                </a:cubicBezTo>
                <a:cubicBezTo>
                  <a:pt x="3261653" y="613844"/>
                  <a:pt x="3260211" y="614788"/>
                  <a:pt x="3256296" y="612744"/>
                </a:cubicBezTo>
                <a:cubicBezTo>
                  <a:pt x="3262890" y="605826"/>
                  <a:pt x="3262890" y="597965"/>
                  <a:pt x="3266805" y="589946"/>
                </a:cubicBezTo>
                <a:cubicBezTo>
                  <a:pt x="3240635" y="577998"/>
                  <a:pt x="3282467" y="557244"/>
                  <a:pt x="3269278" y="544194"/>
                </a:cubicBezTo>
                <a:cubicBezTo>
                  <a:pt x="3273194" y="550169"/>
                  <a:pt x="3277109" y="550169"/>
                  <a:pt x="3282467" y="551269"/>
                </a:cubicBezTo>
                <a:cubicBezTo>
                  <a:pt x="3273194" y="558187"/>
                  <a:pt x="3261653" y="569035"/>
                  <a:pt x="3273194" y="574067"/>
                </a:cubicBezTo>
                <a:cubicBezTo>
                  <a:pt x="3264127" y="577998"/>
                  <a:pt x="3265569" y="581928"/>
                  <a:pt x="3265569" y="586959"/>
                </a:cubicBezTo>
                <a:cubicBezTo>
                  <a:pt x="3273194" y="586016"/>
                  <a:pt x="3268041" y="579098"/>
                  <a:pt x="3278551" y="580985"/>
                </a:cubicBezTo>
                <a:cubicBezTo>
                  <a:pt x="3265569" y="575010"/>
                  <a:pt x="3291534" y="569035"/>
                  <a:pt x="3274636" y="566049"/>
                </a:cubicBezTo>
                <a:cubicBezTo>
                  <a:pt x="3287618" y="560231"/>
                  <a:pt x="3281024" y="554257"/>
                  <a:pt x="3287618" y="547182"/>
                </a:cubicBezTo>
                <a:cubicBezTo>
                  <a:pt x="3291534" y="551269"/>
                  <a:pt x="3288854" y="554257"/>
                  <a:pt x="3295449" y="551269"/>
                </a:cubicBezTo>
                <a:cubicBezTo>
                  <a:pt x="3291534" y="548282"/>
                  <a:pt x="3300600" y="547182"/>
                  <a:pt x="3301836" y="547182"/>
                </a:cubicBezTo>
                <a:cubicBezTo>
                  <a:pt x="3294006" y="547182"/>
                  <a:pt x="3303279" y="542308"/>
                  <a:pt x="3295449" y="538219"/>
                </a:cubicBezTo>
                <a:cubicBezTo>
                  <a:pt x="3294006" y="541207"/>
                  <a:pt x="3292770" y="542308"/>
                  <a:pt x="3288854" y="540264"/>
                </a:cubicBezTo>
                <a:cubicBezTo>
                  <a:pt x="3294006" y="535390"/>
                  <a:pt x="3288854" y="530358"/>
                  <a:pt x="3299363" y="525327"/>
                </a:cubicBezTo>
                <a:cubicBezTo>
                  <a:pt x="3301836" y="526428"/>
                  <a:pt x="3304515" y="530358"/>
                  <a:pt x="3307194" y="529415"/>
                </a:cubicBezTo>
                <a:cubicBezTo>
                  <a:pt x="3308431" y="522340"/>
                  <a:pt x="3301836" y="522340"/>
                  <a:pt x="3299363" y="516366"/>
                </a:cubicBezTo>
                <a:cubicBezTo>
                  <a:pt x="3313582" y="513378"/>
                  <a:pt x="3304515" y="505517"/>
                  <a:pt x="3318940" y="501587"/>
                </a:cubicBezTo>
                <a:cubicBezTo>
                  <a:pt x="3316261" y="495612"/>
                  <a:pt x="3328007" y="487593"/>
                  <a:pt x="3328007" y="484606"/>
                </a:cubicBezTo>
                <a:cubicBezTo>
                  <a:pt x="3324091" y="487593"/>
                  <a:pt x="3333158" y="488694"/>
                  <a:pt x="3335837" y="488694"/>
                </a:cubicBezTo>
                <a:cubicBezTo>
                  <a:pt x="3335837" y="483663"/>
                  <a:pt x="3347377" y="475644"/>
                  <a:pt x="3337074" y="478632"/>
                </a:cubicBezTo>
                <a:cubicBezTo>
                  <a:pt x="3339752" y="471714"/>
                  <a:pt x="3340989" y="476745"/>
                  <a:pt x="3347377" y="474701"/>
                </a:cubicBezTo>
                <a:cubicBezTo>
                  <a:pt x="3343667" y="471714"/>
                  <a:pt x="3352735" y="468726"/>
                  <a:pt x="3350055" y="466682"/>
                </a:cubicBezTo>
                <a:cubicBezTo>
                  <a:pt x="3342225" y="464796"/>
                  <a:pt x="3346140" y="468726"/>
                  <a:pt x="3342225" y="472657"/>
                </a:cubicBezTo>
                <a:cubicBezTo>
                  <a:pt x="3335837" y="472657"/>
                  <a:pt x="3340989" y="469670"/>
                  <a:pt x="3334395" y="466682"/>
                </a:cubicBezTo>
                <a:cubicBezTo>
                  <a:pt x="3339752" y="463853"/>
                  <a:pt x="3340989" y="461809"/>
                  <a:pt x="3335837" y="458821"/>
                </a:cubicBezTo>
                <a:cubicBezTo>
                  <a:pt x="3342225" y="458821"/>
                  <a:pt x="3340989" y="449860"/>
                  <a:pt x="3348819" y="453790"/>
                </a:cubicBezTo>
                <a:cubicBezTo>
                  <a:pt x="3347377" y="455834"/>
                  <a:pt x="3335837" y="457878"/>
                  <a:pt x="3346140" y="464796"/>
                </a:cubicBezTo>
                <a:cubicBezTo>
                  <a:pt x="3351498" y="455834"/>
                  <a:pt x="3353971" y="461809"/>
                  <a:pt x="3363038" y="457878"/>
                </a:cubicBezTo>
                <a:cubicBezTo>
                  <a:pt x="3353971" y="452847"/>
                  <a:pt x="3370867" y="446872"/>
                  <a:pt x="3365716" y="441999"/>
                </a:cubicBezTo>
                <a:cubicBezTo>
                  <a:pt x="3372311" y="444986"/>
                  <a:pt x="3366953" y="447973"/>
                  <a:pt x="3373547" y="449860"/>
                </a:cubicBezTo>
                <a:cubicBezTo>
                  <a:pt x="3364480" y="454891"/>
                  <a:pt x="3365716" y="458821"/>
                  <a:pt x="3366953" y="463853"/>
                </a:cubicBezTo>
                <a:cubicBezTo>
                  <a:pt x="3369631" y="462752"/>
                  <a:pt x="3373547" y="462752"/>
                  <a:pt x="3370867" y="464796"/>
                </a:cubicBezTo>
                <a:cubicBezTo>
                  <a:pt x="3364480" y="466682"/>
                  <a:pt x="3368395" y="479732"/>
                  <a:pt x="3373547" y="485707"/>
                </a:cubicBezTo>
                <a:cubicBezTo>
                  <a:pt x="3369631" y="489637"/>
                  <a:pt x="3366953" y="486650"/>
                  <a:pt x="3363038" y="490581"/>
                </a:cubicBezTo>
                <a:cubicBezTo>
                  <a:pt x="3366953" y="495612"/>
                  <a:pt x="3366953" y="505517"/>
                  <a:pt x="3359328" y="506460"/>
                </a:cubicBezTo>
                <a:cubicBezTo>
                  <a:pt x="3351498" y="503473"/>
                  <a:pt x="3366953" y="501587"/>
                  <a:pt x="3361801" y="498599"/>
                </a:cubicBezTo>
                <a:cubicBezTo>
                  <a:pt x="3356649" y="498599"/>
                  <a:pt x="3352735" y="488694"/>
                  <a:pt x="3347377" y="493568"/>
                </a:cubicBezTo>
                <a:cubicBezTo>
                  <a:pt x="3346140" y="497498"/>
                  <a:pt x="3351498" y="494511"/>
                  <a:pt x="3353971" y="499542"/>
                </a:cubicBezTo>
                <a:cubicBezTo>
                  <a:pt x="3348819" y="502530"/>
                  <a:pt x="3353971" y="506460"/>
                  <a:pt x="3351498" y="510391"/>
                </a:cubicBezTo>
                <a:cubicBezTo>
                  <a:pt x="3347377" y="515422"/>
                  <a:pt x="3344904" y="507561"/>
                  <a:pt x="3340989" y="512435"/>
                </a:cubicBezTo>
                <a:cubicBezTo>
                  <a:pt x="3350055" y="513378"/>
                  <a:pt x="3351498" y="521397"/>
                  <a:pt x="3348819" y="525327"/>
                </a:cubicBezTo>
                <a:cubicBezTo>
                  <a:pt x="3356649" y="525327"/>
                  <a:pt x="3357886" y="526428"/>
                  <a:pt x="3361801" y="529415"/>
                </a:cubicBezTo>
                <a:cubicBezTo>
                  <a:pt x="3356649" y="536333"/>
                  <a:pt x="3361801" y="543251"/>
                  <a:pt x="3353971" y="550169"/>
                </a:cubicBezTo>
                <a:cubicBezTo>
                  <a:pt x="3350055" y="549225"/>
                  <a:pt x="3355413" y="542308"/>
                  <a:pt x="3348819" y="545295"/>
                </a:cubicBezTo>
                <a:cubicBezTo>
                  <a:pt x="3351498" y="552213"/>
                  <a:pt x="3340989" y="552213"/>
                  <a:pt x="3346140" y="560231"/>
                </a:cubicBezTo>
                <a:cubicBezTo>
                  <a:pt x="3340989" y="560231"/>
                  <a:pt x="3333158" y="571080"/>
                  <a:pt x="3335837" y="577054"/>
                </a:cubicBezTo>
                <a:cubicBezTo>
                  <a:pt x="3329243" y="581928"/>
                  <a:pt x="3326564" y="574067"/>
                  <a:pt x="3318940" y="580985"/>
                </a:cubicBezTo>
                <a:cubicBezTo>
                  <a:pt x="3328007" y="581928"/>
                  <a:pt x="3321413" y="589946"/>
                  <a:pt x="3329243" y="591991"/>
                </a:cubicBezTo>
                <a:cubicBezTo>
                  <a:pt x="3324091" y="593877"/>
                  <a:pt x="3328007" y="596865"/>
                  <a:pt x="3324091" y="598908"/>
                </a:cubicBezTo>
                <a:cubicBezTo>
                  <a:pt x="3322855" y="596865"/>
                  <a:pt x="3320176" y="593877"/>
                  <a:pt x="3317498" y="596865"/>
                </a:cubicBezTo>
                <a:cubicBezTo>
                  <a:pt x="3320176" y="598908"/>
                  <a:pt x="3317498" y="600952"/>
                  <a:pt x="3320176" y="603940"/>
                </a:cubicBezTo>
                <a:cubicBezTo>
                  <a:pt x="3315024" y="607870"/>
                  <a:pt x="3312346" y="602839"/>
                  <a:pt x="3307194" y="604883"/>
                </a:cubicBezTo>
                <a:cubicBezTo>
                  <a:pt x="3317498" y="610857"/>
                  <a:pt x="3307194" y="614788"/>
                  <a:pt x="3309667" y="620762"/>
                </a:cubicBezTo>
                <a:cubicBezTo>
                  <a:pt x="3315024" y="615731"/>
                  <a:pt x="3317498" y="611801"/>
                  <a:pt x="3321413" y="607870"/>
                </a:cubicBezTo>
                <a:cubicBezTo>
                  <a:pt x="3324091" y="616832"/>
                  <a:pt x="3309667" y="623750"/>
                  <a:pt x="3313582" y="633655"/>
                </a:cubicBezTo>
                <a:cubicBezTo>
                  <a:pt x="3320176" y="622807"/>
                  <a:pt x="3331922" y="613844"/>
                  <a:pt x="3331922" y="602839"/>
                </a:cubicBezTo>
                <a:cubicBezTo>
                  <a:pt x="3328007" y="604883"/>
                  <a:pt x="3325327" y="606927"/>
                  <a:pt x="3324091" y="603940"/>
                </a:cubicBezTo>
                <a:cubicBezTo>
                  <a:pt x="3330479" y="599851"/>
                  <a:pt x="3330479" y="601896"/>
                  <a:pt x="3334395" y="596865"/>
                </a:cubicBezTo>
                <a:cubicBezTo>
                  <a:pt x="3338310" y="597965"/>
                  <a:pt x="3340989" y="600952"/>
                  <a:pt x="3344904" y="600952"/>
                </a:cubicBezTo>
                <a:cubicBezTo>
                  <a:pt x="3330479" y="611801"/>
                  <a:pt x="3322855" y="623750"/>
                  <a:pt x="3331922" y="632712"/>
                </a:cubicBezTo>
                <a:cubicBezTo>
                  <a:pt x="3329243" y="629724"/>
                  <a:pt x="3322855" y="636642"/>
                  <a:pt x="3329243" y="638686"/>
                </a:cubicBezTo>
                <a:cubicBezTo>
                  <a:pt x="3324091" y="643560"/>
                  <a:pt x="3321413" y="635699"/>
                  <a:pt x="3316261" y="637586"/>
                </a:cubicBezTo>
                <a:cubicBezTo>
                  <a:pt x="3318940" y="640573"/>
                  <a:pt x="3313582" y="643560"/>
                  <a:pt x="3313582" y="647648"/>
                </a:cubicBezTo>
                <a:cubicBezTo>
                  <a:pt x="3317498" y="645604"/>
                  <a:pt x="3320176" y="636642"/>
                  <a:pt x="3324091" y="643560"/>
                </a:cubicBezTo>
                <a:cubicBezTo>
                  <a:pt x="3329243" y="646547"/>
                  <a:pt x="3315024" y="647648"/>
                  <a:pt x="3318940" y="650635"/>
                </a:cubicBezTo>
                <a:cubicBezTo>
                  <a:pt x="3326564" y="654566"/>
                  <a:pt x="3326564" y="652522"/>
                  <a:pt x="3328007" y="660540"/>
                </a:cubicBezTo>
                <a:cubicBezTo>
                  <a:pt x="3333158" y="655509"/>
                  <a:pt x="3335837" y="659439"/>
                  <a:pt x="3338310" y="660540"/>
                </a:cubicBezTo>
                <a:cubicBezTo>
                  <a:pt x="3330479" y="664471"/>
                  <a:pt x="3342225" y="667458"/>
                  <a:pt x="3343667" y="670445"/>
                </a:cubicBezTo>
                <a:cubicBezTo>
                  <a:pt x="3337074" y="674376"/>
                  <a:pt x="3334395" y="664471"/>
                  <a:pt x="3328007" y="668402"/>
                </a:cubicBezTo>
                <a:cubicBezTo>
                  <a:pt x="3330479" y="674376"/>
                  <a:pt x="3328007" y="679408"/>
                  <a:pt x="3325327" y="685381"/>
                </a:cubicBezTo>
                <a:cubicBezTo>
                  <a:pt x="3322855" y="681294"/>
                  <a:pt x="3325327" y="678464"/>
                  <a:pt x="3318940" y="680350"/>
                </a:cubicBezTo>
                <a:cubicBezTo>
                  <a:pt x="3317498" y="685381"/>
                  <a:pt x="3312346" y="682394"/>
                  <a:pt x="3307194" y="686325"/>
                </a:cubicBezTo>
                <a:cubicBezTo>
                  <a:pt x="3316261" y="688369"/>
                  <a:pt x="3305752" y="694344"/>
                  <a:pt x="3297922" y="697173"/>
                </a:cubicBezTo>
                <a:cubicBezTo>
                  <a:pt x="3300600" y="703148"/>
                  <a:pt x="3301836" y="708179"/>
                  <a:pt x="3308431" y="708179"/>
                </a:cubicBezTo>
                <a:cubicBezTo>
                  <a:pt x="3301836" y="714154"/>
                  <a:pt x="3296685" y="712110"/>
                  <a:pt x="3291534" y="711166"/>
                </a:cubicBezTo>
                <a:cubicBezTo>
                  <a:pt x="3299363" y="717141"/>
                  <a:pt x="3286382" y="725002"/>
                  <a:pt x="3295449" y="727989"/>
                </a:cubicBezTo>
                <a:cubicBezTo>
                  <a:pt x="3292770" y="730033"/>
                  <a:pt x="3283703" y="730977"/>
                  <a:pt x="3286382" y="733964"/>
                </a:cubicBezTo>
                <a:cubicBezTo>
                  <a:pt x="3303279" y="736951"/>
                  <a:pt x="3301836" y="713210"/>
                  <a:pt x="3316261" y="714154"/>
                </a:cubicBezTo>
                <a:cubicBezTo>
                  <a:pt x="3312346" y="721071"/>
                  <a:pt x="3305752" y="726103"/>
                  <a:pt x="3301836" y="733021"/>
                </a:cubicBezTo>
                <a:cubicBezTo>
                  <a:pt x="3317498" y="730977"/>
                  <a:pt x="3320176" y="741039"/>
                  <a:pt x="3333158" y="742926"/>
                </a:cubicBezTo>
                <a:cubicBezTo>
                  <a:pt x="3321413" y="747957"/>
                  <a:pt x="3326564" y="762893"/>
                  <a:pt x="3321413" y="775786"/>
                </a:cubicBezTo>
                <a:cubicBezTo>
                  <a:pt x="3320176" y="769811"/>
                  <a:pt x="3316261" y="768711"/>
                  <a:pt x="3315024" y="760849"/>
                </a:cubicBezTo>
                <a:cubicBezTo>
                  <a:pt x="3307812" y="765802"/>
                  <a:pt x="3301578" y="771029"/>
                  <a:pt x="3297484" y="776631"/>
                </a:cubicBezTo>
                <a:lnTo>
                  <a:pt x="3295419" y="780715"/>
                </a:lnTo>
                <a:lnTo>
                  <a:pt x="3317330" y="793803"/>
                </a:lnTo>
                <a:lnTo>
                  <a:pt x="3329887" y="803910"/>
                </a:lnTo>
                <a:lnTo>
                  <a:pt x="3339752" y="793709"/>
                </a:lnTo>
                <a:cubicBezTo>
                  <a:pt x="3335837" y="787735"/>
                  <a:pt x="3338310" y="789621"/>
                  <a:pt x="3344904" y="787735"/>
                </a:cubicBezTo>
                <a:cubicBezTo>
                  <a:pt x="3344904" y="777672"/>
                  <a:pt x="3350055" y="762893"/>
                  <a:pt x="3360565" y="759906"/>
                </a:cubicBezTo>
                <a:cubicBezTo>
                  <a:pt x="3357267" y="755897"/>
                  <a:pt x="3360513" y="751180"/>
                  <a:pt x="3365227" y="747328"/>
                </a:cubicBezTo>
                <a:lnTo>
                  <a:pt x="3368169" y="745402"/>
                </a:lnTo>
                <a:lnTo>
                  <a:pt x="3369753" y="734168"/>
                </a:lnTo>
                <a:lnTo>
                  <a:pt x="3372133" y="742808"/>
                </a:lnTo>
                <a:lnTo>
                  <a:pt x="3372764" y="742395"/>
                </a:lnTo>
                <a:cubicBezTo>
                  <a:pt x="3375221" y="741098"/>
                  <a:pt x="3377411" y="740213"/>
                  <a:pt x="3378698" y="739938"/>
                </a:cubicBezTo>
                <a:cubicBezTo>
                  <a:pt x="3376226" y="741039"/>
                  <a:pt x="3376226" y="748900"/>
                  <a:pt x="3378698" y="745913"/>
                </a:cubicBezTo>
                <a:cubicBezTo>
                  <a:pt x="3382614" y="742926"/>
                  <a:pt x="3383850" y="738995"/>
                  <a:pt x="3382614" y="735064"/>
                </a:cubicBezTo>
                <a:cubicBezTo>
                  <a:pt x="3380142" y="736951"/>
                  <a:pt x="3378698" y="738052"/>
                  <a:pt x="3377462" y="733964"/>
                </a:cubicBezTo>
                <a:cubicBezTo>
                  <a:pt x="3382614" y="729090"/>
                  <a:pt x="3380142" y="723116"/>
                  <a:pt x="3381378" y="717141"/>
                </a:cubicBezTo>
                <a:cubicBezTo>
                  <a:pt x="3386529" y="733021"/>
                  <a:pt x="3398275" y="733964"/>
                  <a:pt x="3385293" y="742926"/>
                </a:cubicBezTo>
                <a:cubicBezTo>
                  <a:pt x="3389208" y="750944"/>
                  <a:pt x="3381378" y="757862"/>
                  <a:pt x="3382614" y="765880"/>
                </a:cubicBezTo>
                <a:cubicBezTo>
                  <a:pt x="3377462" y="769811"/>
                  <a:pt x="3372311" y="765880"/>
                  <a:pt x="3370867" y="771698"/>
                </a:cubicBezTo>
                <a:lnTo>
                  <a:pt x="3370211" y="768675"/>
                </a:lnTo>
                <a:lnTo>
                  <a:pt x="3365920" y="768675"/>
                </a:lnTo>
                <a:lnTo>
                  <a:pt x="3359663" y="785612"/>
                </a:lnTo>
                <a:cubicBezTo>
                  <a:pt x="3358195" y="791940"/>
                  <a:pt x="3358504" y="797639"/>
                  <a:pt x="3363038" y="801570"/>
                </a:cubicBezTo>
                <a:cubicBezTo>
                  <a:pt x="3356649" y="805501"/>
                  <a:pt x="3355413" y="798583"/>
                  <a:pt x="3347377" y="802514"/>
                </a:cubicBezTo>
                <a:cubicBezTo>
                  <a:pt x="3351395" y="806994"/>
                  <a:pt x="3349128" y="811240"/>
                  <a:pt x="3345702" y="814974"/>
                </a:cubicBezTo>
                <a:lnTo>
                  <a:pt x="3343814" y="816797"/>
                </a:lnTo>
                <a:lnTo>
                  <a:pt x="3356475" y="835463"/>
                </a:lnTo>
                <a:cubicBezTo>
                  <a:pt x="3350913" y="842930"/>
                  <a:pt x="3343972" y="849336"/>
                  <a:pt x="3336062" y="854947"/>
                </a:cubicBezTo>
                <a:lnTo>
                  <a:pt x="3315432" y="866517"/>
                </a:lnTo>
                <a:lnTo>
                  <a:pt x="3313582" y="870121"/>
                </a:lnTo>
                <a:cubicBezTo>
                  <a:pt x="3308431" y="874051"/>
                  <a:pt x="3307194" y="870121"/>
                  <a:pt x="3301836" y="873107"/>
                </a:cubicBezTo>
                <a:cubicBezTo>
                  <a:pt x="3303279" y="878138"/>
                  <a:pt x="3303279" y="883956"/>
                  <a:pt x="3301836" y="888043"/>
                </a:cubicBezTo>
                <a:cubicBezTo>
                  <a:pt x="3298642" y="888043"/>
                  <a:pt x="3297046" y="885567"/>
                  <a:pt x="3295577" y="882836"/>
                </a:cubicBezTo>
                <a:lnTo>
                  <a:pt x="3290477" y="876570"/>
                </a:lnTo>
                <a:lnTo>
                  <a:pt x="3289251" y="877008"/>
                </a:lnTo>
                <a:lnTo>
                  <a:pt x="3285969" y="880576"/>
                </a:lnTo>
                <a:cubicBezTo>
                  <a:pt x="3285352" y="882305"/>
                  <a:pt x="3285042" y="884035"/>
                  <a:pt x="3283703" y="885057"/>
                </a:cubicBezTo>
                <a:cubicBezTo>
                  <a:pt x="3292770" y="886000"/>
                  <a:pt x="3284939" y="894018"/>
                  <a:pt x="3282467" y="895905"/>
                </a:cubicBezTo>
                <a:cubicBezTo>
                  <a:pt x="3291534" y="897006"/>
                  <a:pt x="3283703" y="902980"/>
                  <a:pt x="3287618" y="903923"/>
                </a:cubicBezTo>
                <a:cubicBezTo>
                  <a:pt x="3288854" y="903923"/>
                  <a:pt x="3290091" y="902980"/>
                  <a:pt x="3291534" y="904867"/>
                </a:cubicBezTo>
                <a:cubicBezTo>
                  <a:pt x="3283703" y="909898"/>
                  <a:pt x="3284939" y="899993"/>
                  <a:pt x="3278551" y="903923"/>
                </a:cubicBezTo>
                <a:cubicBezTo>
                  <a:pt x="3269278" y="910841"/>
                  <a:pt x="3283703" y="921847"/>
                  <a:pt x="3274636" y="925777"/>
                </a:cubicBezTo>
                <a:cubicBezTo>
                  <a:pt x="3274636" y="920746"/>
                  <a:pt x="3271958" y="918859"/>
                  <a:pt x="3268041" y="919803"/>
                </a:cubicBezTo>
                <a:cubicBezTo>
                  <a:pt x="3253823" y="928765"/>
                  <a:pt x="3266805" y="940714"/>
                  <a:pt x="3268041" y="944645"/>
                </a:cubicBezTo>
                <a:cubicBezTo>
                  <a:pt x="3265569" y="940714"/>
                  <a:pt x="3260211" y="943701"/>
                  <a:pt x="3256296" y="942600"/>
                </a:cubicBezTo>
                <a:cubicBezTo>
                  <a:pt x="3255060" y="937726"/>
                  <a:pt x="3260211" y="927664"/>
                  <a:pt x="3255060" y="926720"/>
                </a:cubicBezTo>
                <a:cubicBezTo>
                  <a:pt x="3240635" y="938670"/>
                  <a:pt x="3253823" y="942600"/>
                  <a:pt x="3249908" y="954550"/>
                </a:cubicBezTo>
                <a:cubicBezTo>
                  <a:pt x="3245992" y="956593"/>
                  <a:pt x="3244550" y="954550"/>
                  <a:pt x="3240635" y="956593"/>
                </a:cubicBezTo>
                <a:cubicBezTo>
                  <a:pt x="3242077" y="960524"/>
                  <a:pt x="3242077" y="963511"/>
                  <a:pt x="3243314" y="967442"/>
                </a:cubicBezTo>
                <a:cubicBezTo>
                  <a:pt x="3247229" y="966499"/>
                  <a:pt x="3248465" y="955493"/>
                  <a:pt x="3253823" y="959581"/>
                </a:cubicBezTo>
                <a:cubicBezTo>
                  <a:pt x="3249908" y="964455"/>
                  <a:pt x="3243314" y="969486"/>
                  <a:pt x="3242077" y="975461"/>
                </a:cubicBezTo>
                <a:cubicBezTo>
                  <a:pt x="3257738" y="961467"/>
                  <a:pt x="3268041" y="945588"/>
                  <a:pt x="3281024" y="930651"/>
                </a:cubicBezTo>
                <a:cubicBezTo>
                  <a:pt x="3282467" y="947632"/>
                  <a:pt x="3243314" y="967442"/>
                  <a:pt x="3255060" y="977504"/>
                </a:cubicBezTo>
                <a:lnTo>
                  <a:pt x="3254174" y="980515"/>
                </a:lnTo>
                <a:lnTo>
                  <a:pt x="3257393" y="983316"/>
                </a:lnTo>
                <a:cubicBezTo>
                  <a:pt x="3257936" y="988300"/>
                  <a:pt x="3249239" y="996382"/>
                  <a:pt x="3249239" y="1001611"/>
                </a:cubicBezTo>
                <a:cubicBezTo>
                  <a:pt x="3243442" y="998601"/>
                  <a:pt x="3245374" y="994599"/>
                  <a:pt x="3248273" y="990597"/>
                </a:cubicBezTo>
                <a:lnTo>
                  <a:pt x="3252115" y="985257"/>
                </a:lnTo>
                <a:lnTo>
                  <a:pt x="3247229" y="990397"/>
                </a:lnTo>
                <a:cubicBezTo>
                  <a:pt x="3247229" y="988352"/>
                  <a:pt x="3247229" y="984422"/>
                  <a:pt x="3244550" y="985366"/>
                </a:cubicBezTo>
                <a:cubicBezTo>
                  <a:pt x="3236720" y="993384"/>
                  <a:pt x="3225180" y="999201"/>
                  <a:pt x="3218585" y="1008163"/>
                </a:cubicBezTo>
                <a:cubicBezTo>
                  <a:pt x="3217349" y="1005176"/>
                  <a:pt x="3217349" y="1002188"/>
                  <a:pt x="3214670" y="1003289"/>
                </a:cubicBezTo>
                <a:cubicBezTo>
                  <a:pt x="3215907" y="1008163"/>
                  <a:pt x="3205603" y="1009263"/>
                  <a:pt x="3206840" y="1015238"/>
                </a:cubicBezTo>
                <a:cubicBezTo>
                  <a:pt x="3210755" y="1013194"/>
                  <a:pt x="3211992" y="1009263"/>
                  <a:pt x="3218585" y="1008163"/>
                </a:cubicBezTo>
                <a:cubicBezTo>
                  <a:pt x="3217349" y="1019168"/>
                  <a:pt x="3211992" y="1023099"/>
                  <a:pt x="3215907" y="1034105"/>
                </a:cubicBezTo>
                <a:cubicBezTo>
                  <a:pt x="3205603" y="1038979"/>
                  <a:pt x="3217349" y="1039922"/>
                  <a:pt x="3200246" y="1049041"/>
                </a:cubicBezTo>
                <a:cubicBezTo>
                  <a:pt x="3201688" y="1061934"/>
                  <a:pt x="3176961" y="1076713"/>
                  <a:pt x="3163978" y="1088662"/>
                </a:cubicBezTo>
                <a:cubicBezTo>
                  <a:pt x="3163978" y="1086775"/>
                  <a:pt x="3163978" y="1082687"/>
                  <a:pt x="3161300" y="1082687"/>
                </a:cubicBezTo>
                <a:cubicBezTo>
                  <a:pt x="3161300" y="1084731"/>
                  <a:pt x="3160063" y="1085675"/>
                  <a:pt x="3156148" y="1086775"/>
                </a:cubicBezTo>
                <a:cubicBezTo>
                  <a:pt x="3162536" y="1088662"/>
                  <a:pt x="3161300" y="1096680"/>
                  <a:pt x="3150790" y="1099668"/>
                </a:cubicBezTo>
                <a:cubicBezTo>
                  <a:pt x="3148317" y="1100611"/>
                  <a:pt x="3148317" y="1096680"/>
                  <a:pt x="3145639" y="1096680"/>
                </a:cubicBezTo>
                <a:cubicBezTo>
                  <a:pt x="3145639" y="1101554"/>
                  <a:pt x="3149554" y="1099668"/>
                  <a:pt x="3145639" y="1104541"/>
                </a:cubicBezTo>
                <a:cubicBezTo>
                  <a:pt x="3140488" y="1106586"/>
                  <a:pt x="3140488" y="1102655"/>
                  <a:pt x="3139045" y="1102655"/>
                </a:cubicBezTo>
                <a:cubicBezTo>
                  <a:pt x="3137808" y="1106586"/>
                  <a:pt x="3141724" y="1105642"/>
                  <a:pt x="3140488" y="1109572"/>
                </a:cubicBezTo>
                <a:lnTo>
                  <a:pt x="3137437" y="1112213"/>
                </a:lnTo>
                <a:lnTo>
                  <a:pt x="3135833" y="1118878"/>
                </a:lnTo>
                <a:cubicBezTo>
                  <a:pt x="3135005" y="1122840"/>
                  <a:pt x="3134529" y="1127006"/>
                  <a:pt x="3135198" y="1131486"/>
                </a:cubicBezTo>
                <a:cubicBezTo>
                  <a:pt x="3133756" y="1136517"/>
                  <a:pt x="3124691" y="1129443"/>
                  <a:pt x="3122013" y="1133530"/>
                </a:cubicBezTo>
                <a:cubicBezTo>
                  <a:pt x="3125927" y="1142334"/>
                  <a:pt x="3124691" y="1149408"/>
                  <a:pt x="3122013" y="1157269"/>
                </a:cubicBezTo>
                <a:cubicBezTo>
                  <a:pt x="3118099" y="1165286"/>
                  <a:pt x="3111711" y="1172204"/>
                  <a:pt x="3105119" y="1179121"/>
                </a:cubicBezTo>
                <a:cubicBezTo>
                  <a:pt x="3093375" y="1193112"/>
                  <a:pt x="3076480" y="1203959"/>
                  <a:pt x="3072565" y="1218894"/>
                </a:cubicBezTo>
                <a:cubicBezTo>
                  <a:pt x="3063500" y="1223925"/>
                  <a:pt x="3052992" y="1228798"/>
                  <a:pt x="3043927" y="1235715"/>
                </a:cubicBezTo>
                <a:lnTo>
                  <a:pt x="3033756" y="1244025"/>
                </a:lnTo>
                <a:lnTo>
                  <a:pt x="3034043" y="1244228"/>
                </a:lnTo>
                <a:cubicBezTo>
                  <a:pt x="3035005" y="1246525"/>
                  <a:pt x="3034641" y="1249203"/>
                  <a:pt x="3032664" y="1251192"/>
                </a:cubicBezTo>
                <a:lnTo>
                  <a:pt x="3029179" y="1247765"/>
                </a:lnTo>
                <a:lnTo>
                  <a:pt x="3023637" y="1252293"/>
                </a:lnTo>
                <a:lnTo>
                  <a:pt x="3024093" y="1256038"/>
                </a:lnTo>
                <a:cubicBezTo>
                  <a:pt x="3025349" y="1259942"/>
                  <a:pt x="3027086" y="1262248"/>
                  <a:pt x="3023709" y="1260705"/>
                </a:cubicBezTo>
                <a:lnTo>
                  <a:pt x="3017208" y="1256993"/>
                </a:lnTo>
                <a:lnTo>
                  <a:pt x="2995432" y="1271284"/>
                </a:lnTo>
                <a:cubicBezTo>
                  <a:pt x="2986960" y="1276000"/>
                  <a:pt x="2978204" y="1279498"/>
                  <a:pt x="2968520" y="1280520"/>
                </a:cubicBezTo>
                <a:cubicBezTo>
                  <a:pt x="2960691" y="1285393"/>
                  <a:pt x="2951419" y="1289480"/>
                  <a:pt x="2942354" y="1294354"/>
                </a:cubicBezTo>
                <a:cubicBezTo>
                  <a:pt x="2934525" y="1298442"/>
                  <a:pt x="2925460" y="1302372"/>
                  <a:pt x="2916394" y="1306302"/>
                </a:cubicBezTo>
                <a:cubicBezTo>
                  <a:pt x="2907329" y="1310232"/>
                  <a:pt x="2898058" y="1315262"/>
                  <a:pt x="2890434" y="1318250"/>
                </a:cubicBezTo>
                <a:cubicBezTo>
                  <a:pt x="2881163" y="1322180"/>
                  <a:pt x="2872097" y="1325167"/>
                  <a:pt x="2864268" y="1329097"/>
                </a:cubicBezTo>
                <a:cubicBezTo>
                  <a:pt x="2859117" y="1331141"/>
                  <a:pt x="2853967" y="1333971"/>
                  <a:pt x="2848611" y="1337901"/>
                </a:cubicBezTo>
                <a:cubicBezTo>
                  <a:pt x="2843459" y="1341988"/>
                  <a:pt x="2839545" y="1344818"/>
                  <a:pt x="2835630" y="1348905"/>
                </a:cubicBezTo>
                <a:cubicBezTo>
                  <a:pt x="2826565" y="1356766"/>
                  <a:pt x="2817499" y="1364783"/>
                  <a:pt x="2806992" y="1370757"/>
                </a:cubicBezTo>
                <a:cubicBezTo>
                  <a:pt x="2800399" y="1373744"/>
                  <a:pt x="2783504" y="1372644"/>
                  <a:pt x="2775675" y="1374687"/>
                </a:cubicBezTo>
                <a:cubicBezTo>
                  <a:pt x="2769288" y="1376731"/>
                  <a:pt x="2763931" y="1382705"/>
                  <a:pt x="2758781" y="1382705"/>
                </a:cubicBezTo>
                <a:cubicBezTo>
                  <a:pt x="2752291" y="1382705"/>
                  <a:pt x="2746612" y="1380464"/>
                  <a:pt x="2741255" y="1377198"/>
                </a:cubicBezTo>
                <a:lnTo>
                  <a:pt x="2726680" y="1366292"/>
                </a:lnTo>
                <a:lnTo>
                  <a:pt x="2726484" y="1366338"/>
                </a:lnTo>
                <a:cubicBezTo>
                  <a:pt x="2724564" y="1366428"/>
                  <a:pt x="2723087" y="1365989"/>
                  <a:pt x="2722420" y="1364739"/>
                </a:cubicBezTo>
                <a:lnTo>
                  <a:pt x="2723847" y="1364377"/>
                </a:lnTo>
                <a:lnTo>
                  <a:pt x="2713594" y="1357862"/>
                </a:lnTo>
                <a:lnTo>
                  <a:pt x="2701980" y="1357889"/>
                </a:lnTo>
                <a:cubicBezTo>
                  <a:pt x="2694149" y="1359008"/>
                  <a:pt x="2688586" y="1361761"/>
                  <a:pt x="2689822" y="1367735"/>
                </a:cubicBezTo>
                <a:cubicBezTo>
                  <a:pt x="2681992" y="1364747"/>
                  <a:pt x="2680755" y="1373709"/>
                  <a:pt x="2672924" y="1370722"/>
                </a:cubicBezTo>
                <a:cubicBezTo>
                  <a:pt x="2672924" y="1366948"/>
                  <a:pt x="2679531" y="1366005"/>
                  <a:pt x="2680662" y="1364973"/>
                </a:cubicBezTo>
                <a:lnTo>
                  <a:pt x="2679780" y="1364071"/>
                </a:lnTo>
                <a:lnTo>
                  <a:pt x="2675129" y="1364370"/>
                </a:lnTo>
                <a:lnTo>
                  <a:pt x="2670065" y="1365022"/>
                </a:lnTo>
                <a:lnTo>
                  <a:pt x="2662970" y="1370455"/>
                </a:lnTo>
                <a:lnTo>
                  <a:pt x="2660483" y="1368953"/>
                </a:lnTo>
                <a:lnTo>
                  <a:pt x="2662625" y="1365173"/>
                </a:lnTo>
                <a:lnTo>
                  <a:pt x="2658289" y="1365452"/>
                </a:lnTo>
                <a:lnTo>
                  <a:pt x="2654219" y="1365010"/>
                </a:lnTo>
                <a:lnTo>
                  <a:pt x="2648763" y="1372058"/>
                </a:lnTo>
                <a:cubicBezTo>
                  <a:pt x="2642427" y="1378151"/>
                  <a:pt x="2633979" y="1383143"/>
                  <a:pt x="2626148" y="1385658"/>
                </a:cubicBezTo>
                <a:cubicBezTo>
                  <a:pt x="2632535" y="1379684"/>
                  <a:pt x="2618317" y="1381571"/>
                  <a:pt x="2616875" y="1382671"/>
                </a:cubicBezTo>
                <a:cubicBezTo>
                  <a:pt x="2615638" y="1390532"/>
                  <a:pt x="2596062" y="1388646"/>
                  <a:pt x="2586995" y="1390532"/>
                </a:cubicBezTo>
                <a:cubicBezTo>
                  <a:pt x="2588437" y="1388646"/>
                  <a:pt x="2593589" y="1384558"/>
                  <a:pt x="2590910" y="1383614"/>
                </a:cubicBezTo>
                <a:cubicBezTo>
                  <a:pt x="2580401" y="1382671"/>
                  <a:pt x="2581844" y="1395563"/>
                  <a:pt x="2574013" y="1395563"/>
                </a:cubicBezTo>
                <a:cubicBezTo>
                  <a:pt x="2575249" y="1386602"/>
                  <a:pt x="2564946" y="1397607"/>
                  <a:pt x="2561031" y="1397607"/>
                </a:cubicBezTo>
                <a:cubicBezTo>
                  <a:pt x="2564946" y="1393519"/>
                  <a:pt x="2553200" y="1393519"/>
                  <a:pt x="2550522" y="1391633"/>
                </a:cubicBezTo>
                <a:cubicBezTo>
                  <a:pt x="2548049" y="1394620"/>
                  <a:pt x="2544133" y="1393519"/>
                  <a:pt x="2541455" y="1396507"/>
                </a:cubicBezTo>
                <a:cubicBezTo>
                  <a:pt x="2546607" y="1394620"/>
                  <a:pt x="2553200" y="1394620"/>
                  <a:pt x="2550522" y="1399494"/>
                </a:cubicBezTo>
                <a:cubicBezTo>
                  <a:pt x="2541455" y="1398551"/>
                  <a:pt x="2530945" y="1399494"/>
                  <a:pt x="2534860" y="1406412"/>
                </a:cubicBezTo>
                <a:cubicBezTo>
                  <a:pt x="2525793" y="1406412"/>
                  <a:pt x="2537540" y="1401538"/>
                  <a:pt x="2529709" y="1400438"/>
                </a:cubicBezTo>
                <a:cubicBezTo>
                  <a:pt x="2523114" y="1409399"/>
                  <a:pt x="2523114" y="1402481"/>
                  <a:pt x="2516726" y="1404525"/>
                </a:cubicBezTo>
                <a:cubicBezTo>
                  <a:pt x="2512811" y="1408456"/>
                  <a:pt x="2515490" y="1410499"/>
                  <a:pt x="2516726" y="1412387"/>
                </a:cubicBezTo>
                <a:cubicBezTo>
                  <a:pt x="2516726" y="1406412"/>
                  <a:pt x="2532388" y="1410499"/>
                  <a:pt x="2538776" y="1408456"/>
                </a:cubicBezTo>
                <a:cubicBezTo>
                  <a:pt x="2533624" y="1411443"/>
                  <a:pt x="2540218" y="1412387"/>
                  <a:pt x="2537540" y="1416317"/>
                </a:cubicBezTo>
                <a:cubicBezTo>
                  <a:pt x="2534243" y="1416317"/>
                  <a:pt x="2531306" y="1416317"/>
                  <a:pt x="2528550" y="1416828"/>
                </a:cubicBezTo>
                <a:lnTo>
                  <a:pt x="2520754" y="1420354"/>
                </a:lnTo>
                <a:lnTo>
                  <a:pt x="2538653" y="1419102"/>
                </a:lnTo>
                <a:cubicBezTo>
                  <a:pt x="2542569" y="1422090"/>
                  <a:pt x="2542569" y="1427121"/>
                  <a:pt x="2540096" y="1431051"/>
                </a:cubicBezTo>
                <a:cubicBezTo>
                  <a:pt x="2540096" y="1431051"/>
                  <a:pt x="2540096" y="1431051"/>
                  <a:pt x="2546484" y="1430107"/>
                </a:cubicBezTo>
                <a:cubicBezTo>
                  <a:pt x="2547927" y="1423190"/>
                  <a:pt x="2542569" y="1423190"/>
                  <a:pt x="2541333" y="1419102"/>
                </a:cubicBezTo>
                <a:cubicBezTo>
                  <a:pt x="2542569" y="1413285"/>
                  <a:pt x="2546484" y="1424133"/>
                  <a:pt x="2549164" y="1425076"/>
                </a:cubicBezTo>
                <a:cubicBezTo>
                  <a:pt x="2555552" y="1423190"/>
                  <a:pt x="2560911" y="1421146"/>
                  <a:pt x="2567299" y="1419102"/>
                </a:cubicBezTo>
                <a:cubicBezTo>
                  <a:pt x="2563384" y="1433095"/>
                  <a:pt x="2579046" y="1421146"/>
                  <a:pt x="2588320" y="1425076"/>
                </a:cubicBezTo>
                <a:cubicBezTo>
                  <a:pt x="2584198" y="1434038"/>
                  <a:pt x="2573894" y="1425076"/>
                  <a:pt x="2571214" y="1437025"/>
                </a:cubicBezTo>
                <a:cubicBezTo>
                  <a:pt x="2558231" y="1435139"/>
                  <a:pt x="2553079" y="1435139"/>
                  <a:pt x="2542569" y="1442057"/>
                </a:cubicBezTo>
                <a:cubicBezTo>
                  <a:pt x="2546484" y="1448974"/>
                  <a:pt x="2551843" y="1438126"/>
                  <a:pt x="2554315" y="1443000"/>
                </a:cubicBezTo>
                <a:cubicBezTo>
                  <a:pt x="2551843" y="1463910"/>
                  <a:pt x="2560911" y="1456992"/>
                  <a:pt x="2575130" y="1443000"/>
                </a:cubicBezTo>
                <a:cubicBezTo>
                  <a:pt x="2566062" y="1451962"/>
                  <a:pt x="2572658" y="1461866"/>
                  <a:pt x="2579046" y="1467841"/>
                </a:cubicBezTo>
                <a:cubicBezTo>
                  <a:pt x="2569978" y="1470828"/>
                  <a:pt x="2569978" y="1463910"/>
                  <a:pt x="2566062" y="1459980"/>
                </a:cubicBezTo>
                <a:cubicBezTo>
                  <a:pt x="2562147" y="1464854"/>
                  <a:pt x="2560911" y="1470828"/>
                  <a:pt x="2554315" y="1472871"/>
                </a:cubicBezTo>
                <a:cubicBezTo>
                  <a:pt x="2549164" y="1472871"/>
                  <a:pt x="2553079" y="1462967"/>
                  <a:pt x="2546484" y="1464854"/>
                </a:cubicBezTo>
                <a:cubicBezTo>
                  <a:pt x="2540096" y="1468941"/>
                  <a:pt x="2542569" y="1485764"/>
                  <a:pt x="2529586" y="1481833"/>
                </a:cubicBezTo>
                <a:cubicBezTo>
                  <a:pt x="2529586" y="1478846"/>
                  <a:pt x="2537417" y="1480733"/>
                  <a:pt x="2536180" y="1476802"/>
                </a:cubicBezTo>
                <a:cubicBezTo>
                  <a:pt x="2525669" y="1472871"/>
                  <a:pt x="2525669" y="1479790"/>
                  <a:pt x="2526906" y="1486707"/>
                </a:cubicBezTo>
                <a:cubicBezTo>
                  <a:pt x="2517839" y="1487651"/>
                  <a:pt x="2520518" y="1483720"/>
                  <a:pt x="2521754" y="1478846"/>
                </a:cubicBezTo>
                <a:cubicBezTo>
                  <a:pt x="2519075" y="1484821"/>
                  <a:pt x="2508771" y="1484821"/>
                  <a:pt x="2506091" y="1490637"/>
                </a:cubicBezTo>
                <a:cubicBezTo>
                  <a:pt x="2507534" y="1493625"/>
                  <a:pt x="2512686" y="1492682"/>
                  <a:pt x="2516602" y="1492682"/>
                </a:cubicBezTo>
                <a:cubicBezTo>
                  <a:pt x="2513923" y="1495669"/>
                  <a:pt x="2512686" y="1499599"/>
                  <a:pt x="2506091" y="1500700"/>
                </a:cubicBezTo>
                <a:lnTo>
                  <a:pt x="2509488" y="1504427"/>
                </a:lnTo>
                <a:lnTo>
                  <a:pt x="2515630" y="1503011"/>
                </a:lnTo>
                <a:lnTo>
                  <a:pt x="2515649" y="1502953"/>
                </a:lnTo>
                <a:cubicBezTo>
                  <a:pt x="2516307" y="1502060"/>
                  <a:pt x="2516966" y="1501305"/>
                  <a:pt x="2516966" y="1499796"/>
                </a:cubicBezTo>
                <a:cubicBezTo>
                  <a:pt x="2520109" y="1499319"/>
                  <a:pt x="2522036" y="1500073"/>
                  <a:pt x="2524139" y="1500709"/>
                </a:cubicBezTo>
                <a:lnTo>
                  <a:pt x="2524361" y="1500715"/>
                </a:lnTo>
                <a:lnTo>
                  <a:pt x="2534335" y="1495268"/>
                </a:lnTo>
                <a:lnTo>
                  <a:pt x="2534081" y="1494644"/>
                </a:lnTo>
                <a:cubicBezTo>
                  <a:pt x="2533184" y="1493440"/>
                  <a:pt x="2531962" y="1492944"/>
                  <a:pt x="2530006" y="1493683"/>
                </a:cubicBezTo>
                <a:cubicBezTo>
                  <a:pt x="2523418" y="1489796"/>
                  <a:pt x="2535152" y="1484977"/>
                  <a:pt x="2540505" y="1487775"/>
                </a:cubicBezTo>
                <a:lnTo>
                  <a:pt x="2541542" y="1490618"/>
                </a:lnTo>
                <a:lnTo>
                  <a:pt x="2550176" y="1484227"/>
                </a:lnTo>
                <a:lnTo>
                  <a:pt x="2549206" y="1480725"/>
                </a:lnTo>
                <a:cubicBezTo>
                  <a:pt x="2540285" y="1477771"/>
                  <a:pt x="2549206" y="1490519"/>
                  <a:pt x="2540285" y="1487565"/>
                </a:cubicBezTo>
                <a:cubicBezTo>
                  <a:pt x="2538865" y="1478859"/>
                  <a:pt x="2538865" y="1478859"/>
                  <a:pt x="2538865" y="1478859"/>
                </a:cubicBezTo>
                <a:cubicBezTo>
                  <a:pt x="2545353" y="1479792"/>
                  <a:pt x="2545353" y="1473885"/>
                  <a:pt x="2551842" y="1475906"/>
                </a:cubicBezTo>
                <a:lnTo>
                  <a:pt x="2554282" y="1481090"/>
                </a:lnTo>
                <a:lnTo>
                  <a:pt x="2562227" y="1474986"/>
                </a:lnTo>
                <a:cubicBezTo>
                  <a:pt x="2566142" y="1479074"/>
                  <a:pt x="2571293" y="1482061"/>
                  <a:pt x="2575207" y="1485048"/>
                </a:cubicBezTo>
                <a:cubicBezTo>
                  <a:pt x="2573250" y="1489017"/>
                  <a:pt x="2570482" y="1492240"/>
                  <a:pt x="2567227" y="1494949"/>
                </a:cubicBezTo>
                <a:lnTo>
                  <a:pt x="2563179" y="1497483"/>
                </a:lnTo>
                <a:lnTo>
                  <a:pt x="2563197" y="1497515"/>
                </a:lnTo>
                <a:lnTo>
                  <a:pt x="2563104" y="1497530"/>
                </a:lnTo>
                <a:lnTo>
                  <a:pt x="2556329" y="1501771"/>
                </a:lnTo>
                <a:lnTo>
                  <a:pt x="2545336" y="1506606"/>
                </a:lnTo>
                <a:lnTo>
                  <a:pt x="2544417" y="1510472"/>
                </a:lnTo>
                <a:lnTo>
                  <a:pt x="2541551" y="1508271"/>
                </a:lnTo>
                <a:lnTo>
                  <a:pt x="2533589" y="1511773"/>
                </a:lnTo>
                <a:cubicBezTo>
                  <a:pt x="2527717" y="1514760"/>
                  <a:pt x="2522206" y="1518494"/>
                  <a:pt x="2514892" y="1520990"/>
                </a:cubicBezTo>
                <a:lnTo>
                  <a:pt x="2510951" y="1521793"/>
                </a:lnTo>
                <a:lnTo>
                  <a:pt x="2511450" y="1522554"/>
                </a:lnTo>
                <a:cubicBezTo>
                  <a:pt x="2516602" y="1521453"/>
                  <a:pt x="2520518" y="1520510"/>
                  <a:pt x="2522990" y="1517523"/>
                </a:cubicBezTo>
                <a:cubicBezTo>
                  <a:pt x="2526906" y="1517523"/>
                  <a:pt x="2522990" y="1527427"/>
                  <a:pt x="2533500" y="1522554"/>
                </a:cubicBezTo>
                <a:cubicBezTo>
                  <a:pt x="2530204" y="1526955"/>
                  <a:pt x="2530204" y="1529904"/>
                  <a:pt x="2530384" y="1533009"/>
                </a:cubicBezTo>
                <a:lnTo>
                  <a:pt x="2529824" y="1536143"/>
                </a:lnTo>
                <a:lnTo>
                  <a:pt x="2534280" y="1536573"/>
                </a:lnTo>
                <a:lnTo>
                  <a:pt x="2536786" y="1536271"/>
                </a:lnTo>
                <a:lnTo>
                  <a:pt x="2536780" y="1536267"/>
                </a:lnTo>
                <a:cubicBezTo>
                  <a:pt x="2538329" y="1532525"/>
                  <a:pt x="2551425" y="1525043"/>
                  <a:pt x="2541603" y="1517561"/>
                </a:cubicBezTo>
                <a:cubicBezTo>
                  <a:pt x="2544928" y="1521599"/>
                  <a:pt x="2548515" y="1525083"/>
                  <a:pt x="2551606" y="1529061"/>
                </a:cubicBezTo>
                <a:lnTo>
                  <a:pt x="2555712" y="1537496"/>
                </a:lnTo>
                <a:lnTo>
                  <a:pt x="2561754" y="1538524"/>
                </a:lnTo>
                <a:lnTo>
                  <a:pt x="2565779" y="1526818"/>
                </a:lnTo>
                <a:cubicBezTo>
                  <a:pt x="2575989" y="1531664"/>
                  <a:pt x="2579869" y="1527755"/>
                  <a:pt x="2595387" y="1525880"/>
                </a:cubicBezTo>
                <a:cubicBezTo>
                  <a:pt x="2596817" y="1530726"/>
                  <a:pt x="2594162" y="1532758"/>
                  <a:pt x="2587832" y="1533696"/>
                </a:cubicBezTo>
                <a:cubicBezTo>
                  <a:pt x="2587832" y="1535729"/>
                  <a:pt x="2589057" y="1535729"/>
                  <a:pt x="2590283" y="1535729"/>
                </a:cubicBezTo>
                <a:cubicBezTo>
                  <a:pt x="2587015" y="1534712"/>
                  <a:pt x="2581553" y="1535923"/>
                  <a:pt x="2575938" y="1537526"/>
                </a:cubicBezTo>
                <a:lnTo>
                  <a:pt x="2568210" y="1539623"/>
                </a:lnTo>
                <a:lnTo>
                  <a:pt x="2572280" y="1540316"/>
                </a:lnTo>
                <a:cubicBezTo>
                  <a:pt x="2581343" y="1541416"/>
                  <a:pt x="2591642" y="1541416"/>
                  <a:pt x="2602146" y="1541416"/>
                </a:cubicBezTo>
                <a:cubicBezTo>
                  <a:pt x="2624184" y="1540316"/>
                  <a:pt x="2646429" y="1539373"/>
                  <a:pt x="2668467" y="1536386"/>
                </a:cubicBezTo>
                <a:cubicBezTo>
                  <a:pt x="2715428" y="1531356"/>
                  <a:pt x="2763419" y="1522554"/>
                  <a:pt x="2813058" y="1515481"/>
                </a:cubicBezTo>
                <a:cubicBezTo>
                  <a:pt x="2819442" y="1524440"/>
                  <a:pt x="2810380" y="1527427"/>
                  <a:pt x="2806467" y="1532457"/>
                </a:cubicBezTo>
                <a:cubicBezTo>
                  <a:pt x="2786900" y="1534343"/>
                  <a:pt x="2771246" y="1540316"/>
                  <a:pt x="2755798" y="1547389"/>
                </a:cubicBezTo>
                <a:lnTo>
                  <a:pt x="2744330" y="1551152"/>
                </a:lnTo>
                <a:lnTo>
                  <a:pt x="2746269" y="1553312"/>
                </a:lnTo>
                <a:cubicBezTo>
                  <a:pt x="2746702" y="1555444"/>
                  <a:pt x="2746171" y="1557783"/>
                  <a:pt x="2744732" y="1559272"/>
                </a:cubicBezTo>
                <a:cubicBezTo>
                  <a:pt x="2739684" y="1560384"/>
                  <a:pt x="2739684" y="1554347"/>
                  <a:pt x="2732011" y="1557365"/>
                </a:cubicBezTo>
                <a:lnTo>
                  <a:pt x="2732158" y="1555145"/>
                </a:lnTo>
                <a:lnTo>
                  <a:pt x="2731365" y="1555406"/>
                </a:lnTo>
                <a:lnTo>
                  <a:pt x="2718493" y="1556783"/>
                </a:lnTo>
                <a:lnTo>
                  <a:pt x="2729482" y="1560017"/>
                </a:lnTo>
                <a:cubicBezTo>
                  <a:pt x="2711027" y="1563949"/>
                  <a:pt x="2684901" y="1581878"/>
                  <a:pt x="2669142" y="1573857"/>
                </a:cubicBezTo>
                <a:cubicBezTo>
                  <a:pt x="2668520" y="1572363"/>
                  <a:pt x="2668832" y="1571380"/>
                  <a:pt x="2669298" y="1570396"/>
                </a:cubicBezTo>
                <a:lnTo>
                  <a:pt x="2669955" y="1568309"/>
                </a:lnTo>
                <a:lnTo>
                  <a:pt x="2668796" y="1568530"/>
                </a:lnTo>
                <a:cubicBezTo>
                  <a:pt x="2631123" y="1572863"/>
                  <a:pt x="2590149" y="1562165"/>
                  <a:pt x="2557863" y="1562165"/>
                </a:cubicBezTo>
                <a:cubicBezTo>
                  <a:pt x="2549417" y="1557764"/>
                  <a:pt x="2537368" y="1555052"/>
                  <a:pt x="2524006" y="1553814"/>
                </a:cubicBezTo>
                <a:lnTo>
                  <a:pt x="2507334" y="1554010"/>
                </a:lnTo>
                <a:lnTo>
                  <a:pt x="2503660" y="1555182"/>
                </a:lnTo>
                <a:cubicBezTo>
                  <a:pt x="2501493" y="1556258"/>
                  <a:pt x="2499600" y="1557811"/>
                  <a:pt x="2498260" y="1560287"/>
                </a:cubicBezTo>
                <a:lnTo>
                  <a:pt x="2492454" y="1554186"/>
                </a:lnTo>
                <a:lnTo>
                  <a:pt x="2484004" y="1554285"/>
                </a:lnTo>
                <a:lnTo>
                  <a:pt x="2485277" y="1561230"/>
                </a:lnTo>
                <a:cubicBezTo>
                  <a:pt x="2472294" y="1565160"/>
                  <a:pt x="2463226" y="1556356"/>
                  <a:pt x="2455394" y="1570192"/>
                </a:cubicBezTo>
                <a:cubicBezTo>
                  <a:pt x="2452716" y="1568148"/>
                  <a:pt x="2450243" y="1566261"/>
                  <a:pt x="2448799" y="1563274"/>
                </a:cubicBezTo>
                <a:cubicBezTo>
                  <a:pt x="2420154" y="1567204"/>
                  <a:pt x="2400782" y="1571135"/>
                  <a:pt x="2379761" y="1574122"/>
                </a:cubicBezTo>
                <a:cubicBezTo>
                  <a:pt x="2360389" y="1576165"/>
                  <a:pt x="2339368" y="1578210"/>
                  <a:pt x="2312165" y="1577109"/>
                </a:cubicBezTo>
                <a:cubicBezTo>
                  <a:pt x="2313402" y="1573179"/>
                  <a:pt x="2312165" y="1569248"/>
                  <a:pt x="2308249" y="1568148"/>
                </a:cubicBezTo>
                <a:cubicBezTo>
                  <a:pt x="2300418" y="1571135"/>
                  <a:pt x="2312165" y="1576165"/>
                  <a:pt x="2309486" y="1582140"/>
                </a:cubicBezTo>
                <a:cubicBezTo>
                  <a:pt x="2265178" y="1575223"/>
                  <a:pt x="2230143" y="1582140"/>
                  <a:pt x="2185835" y="1581197"/>
                </a:cubicBezTo>
                <a:cubicBezTo>
                  <a:pt x="2184392" y="1585127"/>
                  <a:pt x="2185835" y="1587014"/>
                  <a:pt x="2189750" y="1588115"/>
                </a:cubicBezTo>
                <a:cubicBezTo>
                  <a:pt x="2185835" y="1591102"/>
                  <a:pt x="2184392" y="1589058"/>
                  <a:pt x="2175324" y="1590001"/>
                </a:cubicBezTo>
                <a:cubicBezTo>
                  <a:pt x="2180477" y="1583084"/>
                  <a:pt x="2179240" y="1583084"/>
                  <a:pt x="2172851" y="1580096"/>
                </a:cubicBezTo>
                <a:cubicBezTo>
                  <a:pt x="2168936" y="1581197"/>
                  <a:pt x="2168936" y="1586071"/>
                  <a:pt x="2167493" y="1589058"/>
                </a:cubicBezTo>
                <a:cubicBezTo>
                  <a:pt x="2163577" y="1588115"/>
                  <a:pt x="2162340" y="1585127"/>
                  <a:pt x="2165020" y="1580096"/>
                </a:cubicBezTo>
                <a:cubicBezTo>
                  <a:pt x="2165020" y="1580096"/>
                  <a:pt x="2165020" y="1580096"/>
                  <a:pt x="2128543" y="1577109"/>
                </a:cubicBezTo>
                <a:cubicBezTo>
                  <a:pt x="2128543" y="1586071"/>
                  <a:pt x="2136374" y="1581197"/>
                  <a:pt x="2138847" y="1587014"/>
                </a:cubicBezTo>
                <a:cubicBezTo>
                  <a:pt x="2128543" y="1595032"/>
                  <a:pt x="2127101" y="1590001"/>
                  <a:pt x="2125864" y="1583084"/>
                </a:cubicBezTo>
                <a:cubicBezTo>
                  <a:pt x="2123184" y="1577109"/>
                  <a:pt x="2120712" y="1570192"/>
                  <a:pt x="2108965" y="1574122"/>
                </a:cubicBezTo>
                <a:cubicBezTo>
                  <a:pt x="2106286" y="1582140"/>
                  <a:pt x="2116796" y="1580096"/>
                  <a:pt x="2119475" y="1584184"/>
                </a:cubicBezTo>
                <a:cubicBezTo>
                  <a:pt x="2117517" y="1585914"/>
                  <a:pt x="2116448" y="1587328"/>
                  <a:pt x="2115908" y="1588618"/>
                </a:cubicBezTo>
                <a:lnTo>
                  <a:pt x="2115735" y="1590211"/>
                </a:lnTo>
                <a:lnTo>
                  <a:pt x="2126060" y="1593207"/>
                </a:lnTo>
                <a:cubicBezTo>
                  <a:pt x="2123485" y="1595447"/>
                  <a:pt x="2121309" y="1596449"/>
                  <a:pt x="2119371" y="1596676"/>
                </a:cubicBezTo>
                <a:lnTo>
                  <a:pt x="2115527" y="1595807"/>
                </a:lnTo>
                <a:lnTo>
                  <a:pt x="2115559" y="1601950"/>
                </a:lnTo>
                <a:cubicBezTo>
                  <a:pt x="2118032" y="1600063"/>
                  <a:pt x="2121948" y="1601007"/>
                  <a:pt x="2123184" y="1598020"/>
                </a:cubicBezTo>
                <a:cubicBezTo>
                  <a:pt x="2123184" y="1601950"/>
                  <a:pt x="2121948" y="1602894"/>
                  <a:pt x="2121948" y="1603994"/>
                </a:cubicBezTo>
                <a:cubicBezTo>
                  <a:pt x="2121948" y="1603994"/>
                  <a:pt x="2121948" y="1603994"/>
                  <a:pt x="2131016" y="1602894"/>
                </a:cubicBezTo>
                <a:cubicBezTo>
                  <a:pt x="2124628" y="1611855"/>
                  <a:pt x="2111644" y="1605881"/>
                  <a:pt x="2103813" y="1610912"/>
                </a:cubicBezTo>
                <a:cubicBezTo>
                  <a:pt x="2101133" y="1609968"/>
                  <a:pt x="2105049" y="1603994"/>
                  <a:pt x="2101133" y="1603994"/>
                </a:cubicBezTo>
                <a:cubicBezTo>
                  <a:pt x="2081556" y="1610912"/>
                  <a:pt x="2052909" y="1610912"/>
                  <a:pt x="2036011" y="1601950"/>
                </a:cubicBezTo>
                <a:cubicBezTo>
                  <a:pt x="2036011" y="1592988"/>
                  <a:pt x="2043842" y="1604937"/>
                  <a:pt x="2047757" y="1598020"/>
                </a:cubicBezTo>
                <a:cubicBezTo>
                  <a:pt x="2046521" y="1594089"/>
                  <a:pt x="2041162" y="1594089"/>
                  <a:pt x="2041162" y="1588115"/>
                </a:cubicBezTo>
                <a:cubicBezTo>
                  <a:pt x="2032095" y="1594089"/>
                  <a:pt x="2029416" y="1590001"/>
                  <a:pt x="2016433" y="1590001"/>
                </a:cubicBezTo>
                <a:cubicBezTo>
                  <a:pt x="2020347" y="1592045"/>
                  <a:pt x="2032095" y="1597076"/>
                  <a:pt x="2017875" y="1597076"/>
                </a:cubicBezTo>
                <a:cubicBezTo>
                  <a:pt x="2017875" y="1601950"/>
                  <a:pt x="2023027" y="1601950"/>
                  <a:pt x="2020347" y="1608868"/>
                </a:cubicBezTo>
                <a:cubicBezTo>
                  <a:pt x="2016433" y="1605881"/>
                  <a:pt x="2013959" y="1602894"/>
                  <a:pt x="2011280" y="1598963"/>
                </a:cubicBezTo>
                <a:cubicBezTo>
                  <a:pt x="2006128" y="1600063"/>
                  <a:pt x="2007365" y="1607925"/>
                  <a:pt x="2000770" y="1605881"/>
                </a:cubicBezTo>
                <a:cubicBezTo>
                  <a:pt x="2000770" y="1605881"/>
                  <a:pt x="2000770" y="1605881"/>
                  <a:pt x="2002212" y="1597076"/>
                </a:cubicBezTo>
                <a:cubicBezTo>
                  <a:pt x="1991702" y="1598963"/>
                  <a:pt x="1986550" y="1597076"/>
                  <a:pt x="1979955" y="1602894"/>
                </a:cubicBezTo>
                <a:cubicBezTo>
                  <a:pt x="1964499" y="1604937"/>
                  <a:pt x="1966972" y="1592045"/>
                  <a:pt x="1951310" y="1598963"/>
                </a:cubicBezTo>
                <a:cubicBezTo>
                  <a:pt x="1948836" y="1594089"/>
                  <a:pt x="1952752" y="1595976"/>
                  <a:pt x="1952752" y="1589058"/>
                </a:cubicBezTo>
                <a:cubicBezTo>
                  <a:pt x="1944921" y="1590001"/>
                  <a:pt x="1938326" y="1592045"/>
                  <a:pt x="1937090" y="1598963"/>
                </a:cubicBezTo>
                <a:cubicBezTo>
                  <a:pt x="1931937" y="1582140"/>
                  <a:pt x="1913596" y="1598020"/>
                  <a:pt x="1899170" y="1592988"/>
                </a:cubicBezTo>
                <a:cubicBezTo>
                  <a:pt x="1899170" y="1595032"/>
                  <a:pt x="1899170" y="1595976"/>
                  <a:pt x="1899170" y="1598020"/>
                </a:cubicBezTo>
                <a:cubicBezTo>
                  <a:pt x="1899170" y="1602894"/>
                  <a:pt x="1907001" y="1598020"/>
                  <a:pt x="1909680" y="1598963"/>
                </a:cubicBezTo>
                <a:cubicBezTo>
                  <a:pt x="1907104" y="1601479"/>
                  <a:pt x="1906795" y="1602461"/>
                  <a:pt x="1906641" y="1603562"/>
                </a:cubicBezTo>
                <a:lnTo>
                  <a:pt x="1906438" y="1604071"/>
                </a:lnTo>
                <a:lnTo>
                  <a:pt x="1915521" y="1603296"/>
                </a:lnTo>
                <a:lnTo>
                  <a:pt x="1915873" y="1601612"/>
                </a:lnTo>
                <a:cubicBezTo>
                  <a:pt x="1916054" y="1600738"/>
                  <a:pt x="1916054" y="1600738"/>
                  <a:pt x="1916054" y="1600738"/>
                </a:cubicBezTo>
                <a:cubicBezTo>
                  <a:pt x="1925207" y="1598673"/>
                  <a:pt x="1925207" y="1600738"/>
                  <a:pt x="1933112" y="1598673"/>
                </a:cubicBezTo>
                <a:lnTo>
                  <a:pt x="1933953" y="1601724"/>
                </a:lnTo>
                <a:lnTo>
                  <a:pt x="1939809" y="1601225"/>
                </a:lnTo>
                <a:lnTo>
                  <a:pt x="1937131" y="1606592"/>
                </a:lnTo>
                <a:lnTo>
                  <a:pt x="1944968" y="1600738"/>
                </a:lnTo>
                <a:cubicBezTo>
                  <a:pt x="1947465" y="1601691"/>
                  <a:pt x="1944968" y="1607729"/>
                  <a:pt x="1948921" y="1607729"/>
                </a:cubicBezTo>
                <a:cubicBezTo>
                  <a:pt x="1947569" y="1610747"/>
                  <a:pt x="1943617" y="1612019"/>
                  <a:pt x="1939846" y="1611641"/>
                </a:cubicBezTo>
                <a:lnTo>
                  <a:pt x="1936035" y="1608787"/>
                </a:lnTo>
                <a:lnTo>
                  <a:pt x="1932862" y="1615147"/>
                </a:lnTo>
                <a:cubicBezTo>
                  <a:pt x="1924730" y="1625552"/>
                  <a:pt x="1913180" y="1626850"/>
                  <a:pt x="1899427" y="1632038"/>
                </a:cubicBezTo>
                <a:cubicBezTo>
                  <a:pt x="1893039" y="1629994"/>
                  <a:pt x="1886447" y="1629051"/>
                  <a:pt x="1882532" y="1624020"/>
                </a:cubicBezTo>
                <a:lnTo>
                  <a:pt x="1839580" y="1631345"/>
                </a:lnTo>
                <a:lnTo>
                  <a:pt x="1839405" y="1631823"/>
                </a:lnTo>
                <a:lnTo>
                  <a:pt x="1838783" y="1631482"/>
                </a:lnTo>
                <a:lnTo>
                  <a:pt x="1836330" y="1631900"/>
                </a:lnTo>
                <a:lnTo>
                  <a:pt x="1825907" y="1633643"/>
                </a:lnTo>
                <a:lnTo>
                  <a:pt x="1824979" y="1635753"/>
                </a:lnTo>
                <a:lnTo>
                  <a:pt x="1822228" y="1634258"/>
                </a:lnTo>
                <a:lnTo>
                  <a:pt x="1808064" y="1636627"/>
                </a:lnTo>
                <a:lnTo>
                  <a:pt x="1808080" y="1636696"/>
                </a:lnTo>
                <a:cubicBezTo>
                  <a:pt x="1804164" y="1637796"/>
                  <a:pt x="1800249" y="1637796"/>
                  <a:pt x="1796333" y="1638740"/>
                </a:cubicBezTo>
                <a:cubicBezTo>
                  <a:pt x="1796333" y="1642670"/>
                  <a:pt x="1797776" y="1645658"/>
                  <a:pt x="1801691" y="1644714"/>
                </a:cubicBezTo>
                <a:cubicBezTo>
                  <a:pt x="1797776" y="1650217"/>
                  <a:pt x="1795147" y="1648212"/>
                  <a:pt x="1792521" y="1644223"/>
                </a:cubicBezTo>
                <a:lnTo>
                  <a:pt x="1789587" y="1639372"/>
                </a:lnTo>
                <a:lnTo>
                  <a:pt x="1773667" y="1640833"/>
                </a:lnTo>
                <a:lnTo>
                  <a:pt x="1775519" y="1641727"/>
                </a:lnTo>
                <a:cubicBezTo>
                  <a:pt x="1783350" y="1646601"/>
                  <a:pt x="1765420" y="1640784"/>
                  <a:pt x="1773251" y="1644714"/>
                </a:cubicBezTo>
                <a:cubicBezTo>
                  <a:pt x="1772169" y="1649903"/>
                  <a:pt x="1769001" y="1644479"/>
                  <a:pt x="1765832" y="1642305"/>
                </a:cubicBezTo>
                <a:lnTo>
                  <a:pt x="1763127" y="1641799"/>
                </a:lnTo>
                <a:lnTo>
                  <a:pt x="1762769" y="1641832"/>
                </a:lnTo>
                <a:lnTo>
                  <a:pt x="1763694" y="1645343"/>
                </a:lnTo>
                <a:cubicBezTo>
                  <a:pt x="1765317" y="1646719"/>
                  <a:pt x="1767275" y="1648723"/>
                  <a:pt x="1766657" y="1652733"/>
                </a:cubicBezTo>
                <a:cubicBezTo>
                  <a:pt x="1763977" y="1652733"/>
                  <a:pt x="1763977" y="1653676"/>
                  <a:pt x="1763977" y="1655720"/>
                </a:cubicBezTo>
                <a:cubicBezTo>
                  <a:pt x="1762020" y="1654226"/>
                  <a:pt x="1760731" y="1651946"/>
                  <a:pt x="1759778" y="1649176"/>
                </a:cubicBezTo>
                <a:lnTo>
                  <a:pt x="1758182" y="1642253"/>
                </a:lnTo>
                <a:lnTo>
                  <a:pt x="1751291" y="1642885"/>
                </a:lnTo>
                <a:lnTo>
                  <a:pt x="1746975" y="1642797"/>
                </a:lnTo>
                <a:lnTo>
                  <a:pt x="1747078" y="1644714"/>
                </a:lnTo>
                <a:cubicBezTo>
                  <a:pt x="1748315" y="1647701"/>
                  <a:pt x="1749758" y="1641727"/>
                  <a:pt x="1750994" y="1645658"/>
                </a:cubicBezTo>
                <a:cubicBezTo>
                  <a:pt x="1751612" y="1651160"/>
                  <a:pt x="1746099" y="1646208"/>
                  <a:pt x="1740921" y="1642847"/>
                </a:cubicBezTo>
                <a:lnTo>
                  <a:pt x="1740391" y="1642662"/>
                </a:lnTo>
                <a:lnTo>
                  <a:pt x="1732918" y="1642509"/>
                </a:lnTo>
                <a:lnTo>
                  <a:pt x="1732565" y="1643055"/>
                </a:lnTo>
                <a:cubicBezTo>
                  <a:pt x="1732304" y="1644506"/>
                  <a:pt x="1732369" y="1646621"/>
                  <a:pt x="1732859" y="1649589"/>
                </a:cubicBezTo>
                <a:cubicBezTo>
                  <a:pt x="1726264" y="1649589"/>
                  <a:pt x="1721112" y="1645658"/>
                  <a:pt x="1713280" y="1649589"/>
                </a:cubicBezTo>
                <a:cubicBezTo>
                  <a:pt x="1714517" y="1651632"/>
                  <a:pt x="1715754" y="1652733"/>
                  <a:pt x="1714517" y="1653676"/>
                </a:cubicBezTo>
                <a:cubicBezTo>
                  <a:pt x="1721112" y="1657606"/>
                  <a:pt x="1718432" y="1658550"/>
                  <a:pt x="1727500" y="1667511"/>
                </a:cubicBezTo>
                <a:cubicBezTo>
                  <a:pt x="1723585" y="1667511"/>
                  <a:pt x="1717196" y="1657606"/>
                  <a:pt x="1715754" y="1665625"/>
                </a:cubicBezTo>
                <a:cubicBezTo>
                  <a:pt x="1714517" y="1661537"/>
                  <a:pt x="1711838" y="1656663"/>
                  <a:pt x="1708129" y="1657606"/>
                </a:cubicBezTo>
                <a:cubicBezTo>
                  <a:pt x="1706685" y="1658550"/>
                  <a:pt x="1709365" y="1663581"/>
                  <a:pt x="1710601" y="1666568"/>
                </a:cubicBezTo>
                <a:cubicBezTo>
                  <a:pt x="1706685" y="1664524"/>
                  <a:pt x="1701534" y="1663581"/>
                  <a:pt x="1706685" y="1667511"/>
                </a:cubicBezTo>
                <a:cubicBezTo>
                  <a:pt x="1701534" y="1673486"/>
                  <a:pt x="1694939" y="1658550"/>
                  <a:pt x="1693703" y="1654619"/>
                </a:cubicBezTo>
                <a:cubicBezTo>
                  <a:pt x="1685871" y="1666568"/>
                  <a:pt x="1702770" y="1673486"/>
                  <a:pt x="1708129" y="1686378"/>
                </a:cubicBezTo>
                <a:cubicBezTo>
                  <a:pt x="1704213" y="1683390"/>
                  <a:pt x="1702770" y="1688422"/>
                  <a:pt x="1706685" y="1689365"/>
                </a:cubicBezTo>
                <a:cubicBezTo>
                  <a:pt x="1702770" y="1700370"/>
                  <a:pt x="1701534" y="1679460"/>
                  <a:pt x="1694939" y="1683390"/>
                </a:cubicBezTo>
                <a:cubicBezTo>
                  <a:pt x="1693703" y="1696440"/>
                  <a:pt x="1704213" y="1701314"/>
                  <a:pt x="1698854" y="1705244"/>
                </a:cubicBezTo>
                <a:cubicBezTo>
                  <a:pt x="1705449" y="1711219"/>
                  <a:pt x="1713280" y="1700370"/>
                  <a:pt x="1719669" y="1712319"/>
                </a:cubicBezTo>
                <a:cubicBezTo>
                  <a:pt x="1719669" y="1717193"/>
                  <a:pt x="1711838" y="1712319"/>
                  <a:pt x="1709365" y="1707288"/>
                </a:cubicBezTo>
                <a:cubicBezTo>
                  <a:pt x="1705449" y="1710275"/>
                  <a:pt x="1709365" y="1719237"/>
                  <a:pt x="1702770" y="1719237"/>
                </a:cubicBezTo>
                <a:cubicBezTo>
                  <a:pt x="1700297" y="1712319"/>
                  <a:pt x="1697618" y="1714206"/>
                  <a:pt x="1696382" y="1708231"/>
                </a:cubicBezTo>
                <a:cubicBezTo>
                  <a:pt x="1694939" y="1715306"/>
                  <a:pt x="1700297" y="1727098"/>
                  <a:pt x="1696382" y="1730085"/>
                </a:cubicBezTo>
                <a:cubicBezTo>
                  <a:pt x="1696382" y="1724111"/>
                  <a:pt x="1694939" y="1720180"/>
                  <a:pt x="1689787" y="1721123"/>
                </a:cubicBezTo>
                <a:cubicBezTo>
                  <a:pt x="1688551" y="1719237"/>
                  <a:pt x="1692465" y="1713263"/>
                  <a:pt x="1693703" y="1717193"/>
                </a:cubicBezTo>
                <a:cubicBezTo>
                  <a:pt x="1693703" y="1716250"/>
                  <a:pt x="1692465" y="1712319"/>
                  <a:pt x="1693703" y="1712319"/>
                </a:cubicBezTo>
                <a:cubicBezTo>
                  <a:pt x="1692465" y="1706345"/>
                  <a:pt x="1689787" y="1709332"/>
                  <a:pt x="1687314" y="1704301"/>
                </a:cubicBezTo>
                <a:cubicBezTo>
                  <a:pt x="1684634" y="1704301"/>
                  <a:pt x="1689787" y="1715306"/>
                  <a:pt x="1691023" y="1710275"/>
                </a:cubicBezTo>
                <a:cubicBezTo>
                  <a:pt x="1692465" y="1717193"/>
                  <a:pt x="1684634" y="1712319"/>
                  <a:pt x="1683398" y="1711219"/>
                </a:cubicBezTo>
                <a:cubicBezTo>
                  <a:pt x="1684634" y="1701314"/>
                  <a:pt x="1671651" y="1705244"/>
                  <a:pt x="1671651" y="1698327"/>
                </a:cubicBezTo>
                <a:cubicBezTo>
                  <a:pt x="1668972" y="1700370"/>
                  <a:pt x="1666293" y="1695339"/>
                  <a:pt x="1662378" y="1698327"/>
                </a:cubicBezTo>
                <a:cubicBezTo>
                  <a:pt x="1671651" y="1702257"/>
                  <a:pt x="1671651" y="1707288"/>
                  <a:pt x="1679482" y="1715306"/>
                </a:cubicBezTo>
                <a:cubicBezTo>
                  <a:pt x="1678040" y="1717193"/>
                  <a:pt x="1676803" y="1718136"/>
                  <a:pt x="1674124" y="1719237"/>
                </a:cubicBezTo>
                <a:cubicBezTo>
                  <a:pt x="1676803" y="1715306"/>
                  <a:pt x="1671651" y="1714206"/>
                  <a:pt x="1671651" y="1710275"/>
                </a:cubicBezTo>
                <a:cubicBezTo>
                  <a:pt x="1668972" y="1707288"/>
                  <a:pt x="1663820" y="1707288"/>
                  <a:pt x="1663820" y="1710275"/>
                </a:cubicBezTo>
                <a:cubicBezTo>
                  <a:pt x="1666293" y="1716250"/>
                  <a:pt x="1667736" y="1713263"/>
                  <a:pt x="1670209" y="1715306"/>
                </a:cubicBezTo>
                <a:cubicBezTo>
                  <a:pt x="1671651" y="1723168"/>
                  <a:pt x="1658462" y="1714206"/>
                  <a:pt x="1663820" y="1723168"/>
                </a:cubicBezTo>
                <a:cubicBezTo>
                  <a:pt x="1654546" y="1718136"/>
                  <a:pt x="1653309" y="1725211"/>
                  <a:pt x="1641563" y="1727098"/>
                </a:cubicBezTo>
                <a:cubicBezTo>
                  <a:pt x="1640326" y="1725211"/>
                  <a:pt x="1643005" y="1725211"/>
                  <a:pt x="1643005" y="1724111"/>
                </a:cubicBezTo>
                <a:cubicBezTo>
                  <a:pt x="1641563" y="1722224"/>
                  <a:pt x="1640326" y="1723168"/>
                  <a:pt x="1639090" y="1723168"/>
                </a:cubicBezTo>
                <a:cubicBezTo>
                  <a:pt x="1636410" y="1716250"/>
                  <a:pt x="1645478" y="1724111"/>
                  <a:pt x="1646921" y="1720180"/>
                </a:cubicBezTo>
                <a:cubicBezTo>
                  <a:pt x="1646921" y="1720180"/>
                  <a:pt x="1646921" y="1720180"/>
                  <a:pt x="1644242" y="1716250"/>
                </a:cubicBezTo>
                <a:cubicBezTo>
                  <a:pt x="1640326" y="1713263"/>
                  <a:pt x="1636410" y="1717193"/>
                  <a:pt x="1631259" y="1711219"/>
                </a:cubicBezTo>
                <a:cubicBezTo>
                  <a:pt x="1633732" y="1718136"/>
                  <a:pt x="1641563" y="1731186"/>
                  <a:pt x="1650837" y="1736060"/>
                </a:cubicBezTo>
                <a:cubicBezTo>
                  <a:pt x="1648157" y="1737160"/>
                  <a:pt x="1641563" y="1735117"/>
                  <a:pt x="1646921" y="1738103"/>
                </a:cubicBezTo>
                <a:cubicBezTo>
                  <a:pt x="1649394" y="1743135"/>
                  <a:pt x="1640326" y="1734173"/>
                  <a:pt x="1637647" y="1735117"/>
                </a:cubicBezTo>
                <a:cubicBezTo>
                  <a:pt x="1640326" y="1738103"/>
                  <a:pt x="1644242" y="1741090"/>
                  <a:pt x="1645478" y="1741090"/>
                </a:cubicBezTo>
                <a:cubicBezTo>
                  <a:pt x="1646921" y="1745964"/>
                  <a:pt x="1639090" y="1747065"/>
                  <a:pt x="1645478" y="1754926"/>
                </a:cubicBezTo>
                <a:cubicBezTo>
                  <a:pt x="1644242" y="1754926"/>
                  <a:pt x="1641563" y="1750996"/>
                  <a:pt x="1643005" y="1750996"/>
                </a:cubicBezTo>
                <a:cubicBezTo>
                  <a:pt x="1639090" y="1747065"/>
                  <a:pt x="1637647" y="1753039"/>
                  <a:pt x="1633732" y="1745021"/>
                </a:cubicBezTo>
                <a:cubicBezTo>
                  <a:pt x="1632495" y="1740147"/>
                  <a:pt x="1636410" y="1745021"/>
                  <a:pt x="1639090" y="1742034"/>
                </a:cubicBezTo>
                <a:cubicBezTo>
                  <a:pt x="1636410" y="1739047"/>
                  <a:pt x="1635174" y="1740147"/>
                  <a:pt x="1632495" y="1737160"/>
                </a:cubicBezTo>
                <a:cubicBezTo>
                  <a:pt x="1627342" y="1737160"/>
                  <a:pt x="1635174" y="1745964"/>
                  <a:pt x="1628579" y="1742034"/>
                </a:cubicBezTo>
                <a:cubicBezTo>
                  <a:pt x="1635174" y="1751939"/>
                  <a:pt x="1637647" y="1757913"/>
                  <a:pt x="1631259" y="1756970"/>
                </a:cubicBezTo>
                <a:cubicBezTo>
                  <a:pt x="1624664" y="1750996"/>
                  <a:pt x="1625900" y="1747065"/>
                  <a:pt x="1625900" y="1743135"/>
                </a:cubicBezTo>
                <a:cubicBezTo>
                  <a:pt x="1624664" y="1742034"/>
                  <a:pt x="1621984" y="1741090"/>
                  <a:pt x="1620748" y="1738103"/>
                </a:cubicBezTo>
                <a:cubicBezTo>
                  <a:pt x="1623428" y="1743135"/>
                  <a:pt x="1623428" y="1745964"/>
                  <a:pt x="1624664" y="1750053"/>
                </a:cubicBezTo>
                <a:cubicBezTo>
                  <a:pt x="1621984" y="1750996"/>
                  <a:pt x="1618069" y="1745964"/>
                  <a:pt x="1614359" y="1742034"/>
                </a:cubicBezTo>
                <a:cubicBezTo>
                  <a:pt x="1616833" y="1745964"/>
                  <a:pt x="1619511" y="1751939"/>
                  <a:pt x="1611681" y="1748952"/>
                </a:cubicBezTo>
                <a:cubicBezTo>
                  <a:pt x="1614359" y="1751939"/>
                  <a:pt x="1618069" y="1756027"/>
                  <a:pt x="1619511" y="1754926"/>
                </a:cubicBezTo>
                <a:cubicBezTo>
                  <a:pt x="1624664" y="1760900"/>
                  <a:pt x="1616833" y="1756970"/>
                  <a:pt x="1614359" y="1753039"/>
                </a:cubicBezTo>
                <a:cubicBezTo>
                  <a:pt x="1612917" y="1753983"/>
                  <a:pt x="1620748" y="1761844"/>
                  <a:pt x="1612917" y="1756970"/>
                </a:cubicBezTo>
                <a:cubicBezTo>
                  <a:pt x="1614359" y="1757913"/>
                  <a:pt x="1628579" y="1767975"/>
                  <a:pt x="1625900" y="1771906"/>
                </a:cubicBezTo>
                <a:cubicBezTo>
                  <a:pt x="1631259" y="1776780"/>
                  <a:pt x="1632495" y="1770963"/>
                  <a:pt x="1636410" y="1772850"/>
                </a:cubicBezTo>
                <a:cubicBezTo>
                  <a:pt x="1637647" y="1771906"/>
                  <a:pt x="1635174" y="1768919"/>
                  <a:pt x="1631259" y="1764988"/>
                </a:cubicBezTo>
                <a:cubicBezTo>
                  <a:pt x="1636410" y="1767975"/>
                  <a:pt x="1635174" y="1767975"/>
                  <a:pt x="1636410" y="1764988"/>
                </a:cubicBezTo>
                <a:cubicBezTo>
                  <a:pt x="1643005" y="1771906"/>
                  <a:pt x="1637647" y="1772850"/>
                  <a:pt x="1648157" y="1780867"/>
                </a:cubicBezTo>
                <a:cubicBezTo>
                  <a:pt x="1646921" y="1783855"/>
                  <a:pt x="1640326" y="1775836"/>
                  <a:pt x="1640326" y="1773792"/>
                </a:cubicBezTo>
                <a:cubicBezTo>
                  <a:pt x="1637647" y="1777880"/>
                  <a:pt x="1639090" y="1778824"/>
                  <a:pt x="1639090" y="1782754"/>
                </a:cubicBezTo>
                <a:cubicBezTo>
                  <a:pt x="1641563" y="1784798"/>
                  <a:pt x="1643005" y="1783855"/>
                  <a:pt x="1645478" y="1786842"/>
                </a:cubicBezTo>
                <a:cubicBezTo>
                  <a:pt x="1641563" y="1787786"/>
                  <a:pt x="1636410" y="1785741"/>
                  <a:pt x="1636410" y="1790772"/>
                </a:cubicBezTo>
                <a:cubicBezTo>
                  <a:pt x="1635174" y="1786842"/>
                  <a:pt x="1636410" y="1787786"/>
                  <a:pt x="1629816" y="1783855"/>
                </a:cubicBezTo>
                <a:cubicBezTo>
                  <a:pt x="1633732" y="1787786"/>
                  <a:pt x="1629816" y="1788729"/>
                  <a:pt x="1636410" y="1793759"/>
                </a:cubicBezTo>
                <a:cubicBezTo>
                  <a:pt x="1633732" y="1792659"/>
                  <a:pt x="1629816" y="1789672"/>
                  <a:pt x="1625900" y="1786842"/>
                </a:cubicBezTo>
                <a:cubicBezTo>
                  <a:pt x="1624664" y="1791716"/>
                  <a:pt x="1618069" y="1792659"/>
                  <a:pt x="1609001" y="1789672"/>
                </a:cubicBezTo>
                <a:cubicBezTo>
                  <a:pt x="1609001" y="1791716"/>
                  <a:pt x="1620748" y="1797690"/>
                  <a:pt x="1621984" y="1794703"/>
                </a:cubicBezTo>
                <a:cubicBezTo>
                  <a:pt x="1628579" y="1801621"/>
                  <a:pt x="1619511" y="1801621"/>
                  <a:pt x="1611681" y="1793759"/>
                </a:cubicBezTo>
                <a:cubicBezTo>
                  <a:pt x="1609001" y="1795646"/>
                  <a:pt x="1606528" y="1796747"/>
                  <a:pt x="1607764" y="1799734"/>
                </a:cubicBezTo>
                <a:cubicBezTo>
                  <a:pt x="1614359" y="1801621"/>
                  <a:pt x="1607764" y="1796747"/>
                  <a:pt x="1615595" y="1800678"/>
                </a:cubicBezTo>
                <a:cubicBezTo>
                  <a:pt x="1618069" y="1806652"/>
                  <a:pt x="1612917" y="1810582"/>
                  <a:pt x="1603849" y="1813569"/>
                </a:cubicBezTo>
                <a:cubicBezTo>
                  <a:pt x="1593339" y="1805708"/>
                  <a:pt x="1607764" y="1807595"/>
                  <a:pt x="1606528" y="1801621"/>
                </a:cubicBezTo>
                <a:cubicBezTo>
                  <a:pt x="1592103" y="1794703"/>
                  <a:pt x="1601170" y="1793759"/>
                  <a:pt x="1593339" y="1788729"/>
                </a:cubicBezTo>
                <a:cubicBezTo>
                  <a:pt x="1594781" y="1794703"/>
                  <a:pt x="1589630" y="1787786"/>
                  <a:pt x="1586950" y="1791716"/>
                </a:cubicBezTo>
                <a:cubicBezTo>
                  <a:pt x="1597254" y="1795646"/>
                  <a:pt x="1598697" y="1800678"/>
                  <a:pt x="1601170" y="1805708"/>
                </a:cubicBezTo>
                <a:cubicBezTo>
                  <a:pt x="1594781" y="1802721"/>
                  <a:pt x="1592103" y="1805708"/>
                  <a:pt x="1588186" y="1807595"/>
                </a:cubicBezTo>
                <a:cubicBezTo>
                  <a:pt x="1593339" y="1808696"/>
                  <a:pt x="1599933" y="1813569"/>
                  <a:pt x="1603849" y="1813569"/>
                </a:cubicBezTo>
                <a:cubicBezTo>
                  <a:pt x="1612917" y="1813569"/>
                  <a:pt x="1605085" y="1819544"/>
                  <a:pt x="1614359" y="1824575"/>
                </a:cubicBezTo>
                <a:cubicBezTo>
                  <a:pt x="1611681" y="1825519"/>
                  <a:pt x="1605085" y="1820487"/>
                  <a:pt x="1602613" y="1821588"/>
                </a:cubicBezTo>
                <a:cubicBezTo>
                  <a:pt x="1599933" y="1818600"/>
                  <a:pt x="1605085" y="1820487"/>
                  <a:pt x="1603849" y="1817500"/>
                </a:cubicBezTo>
                <a:cubicBezTo>
                  <a:pt x="1596018" y="1813569"/>
                  <a:pt x="1596018" y="1821588"/>
                  <a:pt x="1596018" y="1824575"/>
                </a:cubicBezTo>
                <a:cubicBezTo>
                  <a:pt x="1601170" y="1827562"/>
                  <a:pt x="1594781" y="1820487"/>
                  <a:pt x="1599933" y="1820487"/>
                </a:cubicBezTo>
                <a:cubicBezTo>
                  <a:pt x="1609001" y="1829449"/>
                  <a:pt x="1603849" y="1830549"/>
                  <a:pt x="1602613" y="1836366"/>
                </a:cubicBezTo>
                <a:cubicBezTo>
                  <a:pt x="1598697" y="1834480"/>
                  <a:pt x="1593339" y="1830549"/>
                  <a:pt x="1592103" y="1831492"/>
                </a:cubicBezTo>
                <a:cubicBezTo>
                  <a:pt x="1588186" y="1829449"/>
                  <a:pt x="1597254" y="1830549"/>
                  <a:pt x="1586950" y="1825519"/>
                </a:cubicBezTo>
                <a:cubicBezTo>
                  <a:pt x="1585714" y="1826462"/>
                  <a:pt x="1585714" y="1828505"/>
                  <a:pt x="1584271" y="1829449"/>
                </a:cubicBezTo>
                <a:cubicBezTo>
                  <a:pt x="1580355" y="1830549"/>
                  <a:pt x="1581798" y="1824575"/>
                  <a:pt x="1572524" y="1822531"/>
                </a:cubicBezTo>
                <a:cubicBezTo>
                  <a:pt x="1581798" y="1831492"/>
                  <a:pt x="1576439" y="1829449"/>
                  <a:pt x="1586950" y="1837467"/>
                </a:cubicBezTo>
                <a:cubicBezTo>
                  <a:pt x="1585714" y="1839354"/>
                  <a:pt x="1584271" y="1843441"/>
                  <a:pt x="1583034" y="1845328"/>
                </a:cubicBezTo>
                <a:cubicBezTo>
                  <a:pt x="1580355" y="1848315"/>
                  <a:pt x="1577882" y="1849416"/>
                  <a:pt x="1568608" y="1846429"/>
                </a:cubicBezTo>
                <a:cubicBezTo>
                  <a:pt x="1567372" y="1848315"/>
                  <a:pt x="1579119" y="1851302"/>
                  <a:pt x="1583034" y="1853347"/>
                </a:cubicBezTo>
                <a:cubicBezTo>
                  <a:pt x="1579119" y="1854290"/>
                  <a:pt x="1572524" y="1855390"/>
                  <a:pt x="1568608" y="1851302"/>
                </a:cubicBezTo>
                <a:cubicBezTo>
                  <a:pt x="1567372" y="1853347"/>
                  <a:pt x="1571288" y="1856333"/>
                  <a:pt x="1564693" y="1855390"/>
                </a:cubicBezTo>
                <a:cubicBezTo>
                  <a:pt x="1556862" y="1853347"/>
                  <a:pt x="1559541" y="1851302"/>
                  <a:pt x="1553152" y="1849416"/>
                </a:cubicBezTo>
                <a:cubicBezTo>
                  <a:pt x="1550473" y="1852403"/>
                  <a:pt x="1559541" y="1855390"/>
                  <a:pt x="1566135" y="1858378"/>
                </a:cubicBezTo>
                <a:cubicBezTo>
                  <a:pt x="1575203" y="1862308"/>
                  <a:pt x="1563456" y="1853347"/>
                  <a:pt x="1570051" y="1857277"/>
                </a:cubicBezTo>
                <a:cubicBezTo>
                  <a:pt x="1577882" y="1858378"/>
                  <a:pt x="1572524" y="1863252"/>
                  <a:pt x="1567372" y="1860264"/>
                </a:cubicBezTo>
                <a:cubicBezTo>
                  <a:pt x="1568608" y="1863252"/>
                  <a:pt x="1572524" y="1865295"/>
                  <a:pt x="1572524" y="1867182"/>
                </a:cubicBezTo>
                <a:cubicBezTo>
                  <a:pt x="1570051" y="1871269"/>
                  <a:pt x="1560777" y="1868282"/>
                  <a:pt x="1556862" y="1870169"/>
                </a:cubicBezTo>
                <a:cubicBezTo>
                  <a:pt x="1563456" y="1870169"/>
                  <a:pt x="1573967" y="1874257"/>
                  <a:pt x="1572524" y="1872213"/>
                </a:cubicBezTo>
                <a:cubicBezTo>
                  <a:pt x="1581798" y="1873156"/>
                  <a:pt x="1575203" y="1882118"/>
                  <a:pt x="1568608" y="1882118"/>
                </a:cubicBezTo>
                <a:cubicBezTo>
                  <a:pt x="1563456" y="1880231"/>
                  <a:pt x="1575203" y="1880231"/>
                  <a:pt x="1568608" y="1876144"/>
                </a:cubicBezTo>
                <a:cubicBezTo>
                  <a:pt x="1559541" y="1877244"/>
                  <a:pt x="1571288" y="1887149"/>
                  <a:pt x="1556862" y="1885105"/>
                </a:cubicBezTo>
                <a:cubicBezTo>
                  <a:pt x="1556862" y="1889035"/>
                  <a:pt x="1567372" y="1887149"/>
                  <a:pt x="1568608" y="1890136"/>
                </a:cubicBezTo>
                <a:cubicBezTo>
                  <a:pt x="1563456" y="1890136"/>
                  <a:pt x="1559541" y="1891080"/>
                  <a:pt x="1554388" y="1892023"/>
                </a:cubicBezTo>
                <a:cubicBezTo>
                  <a:pt x="1560777" y="1894066"/>
                  <a:pt x="1554388" y="1897997"/>
                  <a:pt x="1563456" y="1900041"/>
                </a:cubicBezTo>
                <a:cubicBezTo>
                  <a:pt x="1554388" y="1906959"/>
                  <a:pt x="1546558" y="1909002"/>
                  <a:pt x="1547794" y="1917964"/>
                </a:cubicBezTo>
                <a:cubicBezTo>
                  <a:pt x="1546558" y="1916864"/>
                  <a:pt x="1542642" y="1914977"/>
                  <a:pt x="1537489" y="1913876"/>
                </a:cubicBezTo>
                <a:cubicBezTo>
                  <a:pt x="1553152" y="1925825"/>
                  <a:pt x="1532338" y="1938717"/>
                  <a:pt x="1526979" y="1949723"/>
                </a:cubicBezTo>
                <a:cubicBezTo>
                  <a:pt x="1526979" y="1952710"/>
                  <a:pt x="1537489" y="1952710"/>
                  <a:pt x="1525743" y="1953654"/>
                </a:cubicBezTo>
                <a:cubicBezTo>
                  <a:pt x="1525743" y="1954596"/>
                  <a:pt x="1528422" y="1955697"/>
                  <a:pt x="1526979" y="1956641"/>
                </a:cubicBezTo>
                <a:cubicBezTo>
                  <a:pt x="1530895" y="1956641"/>
                  <a:pt x="1532338" y="1955697"/>
                  <a:pt x="1534810" y="1954596"/>
                </a:cubicBezTo>
                <a:cubicBezTo>
                  <a:pt x="1534810" y="1959627"/>
                  <a:pt x="1520384" y="1967646"/>
                  <a:pt x="1533574" y="1974563"/>
                </a:cubicBezTo>
                <a:cubicBezTo>
                  <a:pt x="1525743" y="1976450"/>
                  <a:pt x="1515232" y="1982425"/>
                  <a:pt x="1524300" y="1989500"/>
                </a:cubicBezTo>
                <a:cubicBezTo>
                  <a:pt x="1510080" y="1993430"/>
                  <a:pt x="1506164" y="2013240"/>
                  <a:pt x="1506164" y="2025188"/>
                </a:cubicBezTo>
                <a:cubicBezTo>
                  <a:pt x="1502249" y="2024245"/>
                  <a:pt x="1502249" y="2022202"/>
                  <a:pt x="1498333" y="2021258"/>
                </a:cubicBezTo>
                <a:cubicBezTo>
                  <a:pt x="1498333" y="2026132"/>
                  <a:pt x="1493181" y="2027233"/>
                  <a:pt x="1490502" y="2031163"/>
                </a:cubicBezTo>
                <a:cubicBezTo>
                  <a:pt x="1491945" y="2033207"/>
                  <a:pt x="1494418" y="2031163"/>
                  <a:pt x="1499776" y="2032107"/>
                </a:cubicBezTo>
                <a:cubicBezTo>
                  <a:pt x="1507401" y="2041068"/>
                  <a:pt x="1484113" y="2050973"/>
                  <a:pt x="1484113" y="2063865"/>
                </a:cubicBezTo>
                <a:cubicBezTo>
                  <a:pt x="1477518" y="2061978"/>
                  <a:pt x="1473603" y="2061978"/>
                  <a:pt x="1469687" y="2062922"/>
                </a:cubicBezTo>
                <a:cubicBezTo>
                  <a:pt x="1473603" y="2068896"/>
                  <a:pt x="1461856" y="2069996"/>
                  <a:pt x="1472366" y="2072984"/>
                </a:cubicBezTo>
                <a:cubicBezTo>
                  <a:pt x="1470924" y="2076915"/>
                  <a:pt x="1463299" y="2073927"/>
                  <a:pt x="1461856" y="2076915"/>
                </a:cubicBezTo>
                <a:cubicBezTo>
                  <a:pt x="1463299" y="2080846"/>
                  <a:pt x="1470924" y="2073927"/>
                  <a:pt x="1478755" y="2076915"/>
                </a:cubicBezTo>
                <a:cubicBezTo>
                  <a:pt x="1472366" y="2080846"/>
                  <a:pt x="1478755" y="2081788"/>
                  <a:pt x="1473603" y="2086819"/>
                </a:cubicBezTo>
                <a:cubicBezTo>
                  <a:pt x="1454025" y="2075814"/>
                  <a:pt x="1459383" y="2099712"/>
                  <a:pt x="1451551" y="2106629"/>
                </a:cubicBezTo>
                <a:cubicBezTo>
                  <a:pt x="1454025" y="2103642"/>
                  <a:pt x="1464535" y="2106629"/>
                  <a:pt x="1468451" y="2102698"/>
                </a:cubicBezTo>
                <a:cubicBezTo>
                  <a:pt x="1472366" y="2103642"/>
                  <a:pt x="1467008" y="2104743"/>
                  <a:pt x="1463299" y="2104743"/>
                </a:cubicBezTo>
                <a:cubicBezTo>
                  <a:pt x="1457940" y="2116692"/>
                  <a:pt x="1470924" y="2116692"/>
                  <a:pt x="1455468" y="2120622"/>
                </a:cubicBezTo>
                <a:cubicBezTo>
                  <a:pt x="1455468" y="2123609"/>
                  <a:pt x="1459383" y="2120622"/>
                  <a:pt x="1464535" y="2121565"/>
                </a:cubicBezTo>
                <a:cubicBezTo>
                  <a:pt x="1464535" y="2129584"/>
                  <a:pt x="1455468" y="2128483"/>
                  <a:pt x="1451551" y="2132571"/>
                </a:cubicBezTo>
                <a:cubicBezTo>
                  <a:pt x="1456704" y="2134457"/>
                  <a:pt x="1467008" y="2141375"/>
                  <a:pt x="1448873" y="2142476"/>
                </a:cubicBezTo>
                <a:cubicBezTo>
                  <a:pt x="1450109" y="2143419"/>
                  <a:pt x="1454025" y="2151437"/>
                  <a:pt x="1443721" y="2148450"/>
                </a:cubicBezTo>
                <a:cubicBezTo>
                  <a:pt x="1443721" y="2152380"/>
                  <a:pt x="1450109" y="2152380"/>
                  <a:pt x="1450109" y="2156311"/>
                </a:cubicBezTo>
                <a:cubicBezTo>
                  <a:pt x="1456704" y="2157412"/>
                  <a:pt x="1454025" y="2150337"/>
                  <a:pt x="1455468" y="2148450"/>
                </a:cubicBezTo>
                <a:cubicBezTo>
                  <a:pt x="1474839" y="2153323"/>
                  <a:pt x="1482671" y="2148450"/>
                  <a:pt x="1498333" y="2151437"/>
                </a:cubicBezTo>
                <a:cubicBezTo>
                  <a:pt x="1485968" y="2156389"/>
                  <a:pt x="1471645" y="2160084"/>
                  <a:pt x="1457322" y="2163916"/>
                </a:cubicBezTo>
                <a:lnTo>
                  <a:pt x="1419515" y="2176182"/>
                </a:lnTo>
                <a:lnTo>
                  <a:pt x="1419399" y="2178443"/>
                </a:lnTo>
                <a:lnTo>
                  <a:pt x="1420420" y="2178848"/>
                </a:lnTo>
                <a:cubicBezTo>
                  <a:pt x="1426062" y="2178302"/>
                  <a:pt x="1434601" y="2173290"/>
                  <a:pt x="1430737" y="2182252"/>
                </a:cubicBezTo>
                <a:cubicBezTo>
                  <a:pt x="1435889" y="2181151"/>
                  <a:pt x="1434653" y="2177221"/>
                  <a:pt x="1443721" y="2180209"/>
                </a:cubicBezTo>
                <a:cubicBezTo>
                  <a:pt x="1446193" y="2174234"/>
                  <a:pt x="1439805" y="2174234"/>
                  <a:pt x="1446193" y="2171247"/>
                </a:cubicBezTo>
                <a:cubicBezTo>
                  <a:pt x="1452788" y="2172190"/>
                  <a:pt x="1451551" y="2176278"/>
                  <a:pt x="1448873" y="2180209"/>
                </a:cubicBezTo>
                <a:cubicBezTo>
                  <a:pt x="1452788" y="2179265"/>
                  <a:pt x="1467008" y="2175178"/>
                  <a:pt x="1470924" y="2180209"/>
                </a:cubicBezTo>
                <a:cubicBezTo>
                  <a:pt x="1477518" y="2178165"/>
                  <a:pt x="1489265" y="2171247"/>
                  <a:pt x="1495860" y="2176278"/>
                </a:cubicBezTo>
                <a:cubicBezTo>
                  <a:pt x="1493181" y="2180209"/>
                  <a:pt x="1491945" y="2184139"/>
                  <a:pt x="1486587" y="2187126"/>
                </a:cubicBezTo>
                <a:cubicBezTo>
                  <a:pt x="1465772" y="2186183"/>
                  <a:pt x="1460620" y="2196088"/>
                  <a:pt x="1443721" y="2190113"/>
                </a:cubicBezTo>
                <a:cubicBezTo>
                  <a:pt x="1437126" y="2195145"/>
                  <a:pt x="1429294" y="2195145"/>
                  <a:pt x="1420226" y="2195145"/>
                </a:cubicBezTo>
                <a:cubicBezTo>
                  <a:pt x="1421206" y="2196638"/>
                  <a:pt x="1421206" y="2198250"/>
                  <a:pt x="1420797" y="2199888"/>
                </a:cubicBezTo>
                <a:lnTo>
                  <a:pt x="1420499" y="2200664"/>
                </a:lnTo>
                <a:lnTo>
                  <a:pt x="1421602" y="2212372"/>
                </a:lnTo>
                <a:lnTo>
                  <a:pt x="1420946" y="2212374"/>
                </a:lnTo>
                <a:lnTo>
                  <a:pt x="1421463" y="2212911"/>
                </a:lnTo>
                <a:cubicBezTo>
                  <a:pt x="1428058" y="2211024"/>
                  <a:pt x="1420226" y="2205993"/>
                  <a:pt x="1428058" y="2203006"/>
                </a:cubicBezTo>
                <a:cubicBezTo>
                  <a:pt x="1439805" y="2201118"/>
                  <a:pt x="1454025" y="2214011"/>
                  <a:pt x="1460620" y="2205993"/>
                </a:cubicBezTo>
                <a:cubicBezTo>
                  <a:pt x="1470924" y="2208037"/>
                  <a:pt x="1459383" y="2209923"/>
                  <a:pt x="1460620" y="2215898"/>
                </a:cubicBezTo>
                <a:cubicBezTo>
                  <a:pt x="1444957" y="2215898"/>
                  <a:pt x="1437126" y="2211967"/>
                  <a:pt x="1429294" y="2220929"/>
                </a:cubicBezTo>
                <a:cubicBezTo>
                  <a:pt x="1425379" y="2217941"/>
                  <a:pt x="1430737" y="2217941"/>
                  <a:pt x="1424143" y="2214954"/>
                </a:cubicBezTo>
                <a:cubicBezTo>
                  <a:pt x="1417548" y="2219985"/>
                  <a:pt x="1406007" y="2220929"/>
                  <a:pt x="1399412" y="2226903"/>
                </a:cubicBezTo>
                <a:cubicBezTo>
                  <a:pt x="1400648" y="2228947"/>
                  <a:pt x="1408479" y="2227847"/>
                  <a:pt x="1413632" y="2231934"/>
                </a:cubicBezTo>
                <a:cubicBezTo>
                  <a:pt x="1409717" y="2235865"/>
                  <a:pt x="1406007" y="2240739"/>
                  <a:pt x="1416312" y="2242782"/>
                </a:cubicBezTo>
                <a:cubicBezTo>
                  <a:pt x="1422906" y="2242782"/>
                  <a:pt x="1420226" y="2234764"/>
                  <a:pt x="1422906" y="2232878"/>
                </a:cubicBezTo>
                <a:cubicBezTo>
                  <a:pt x="1435889" y="2224859"/>
                  <a:pt x="1447636" y="2239795"/>
                  <a:pt x="1454025" y="2229890"/>
                </a:cubicBezTo>
                <a:cubicBezTo>
                  <a:pt x="1455468" y="2234764"/>
                  <a:pt x="1460620" y="2236808"/>
                  <a:pt x="1470924" y="2234764"/>
                </a:cubicBezTo>
                <a:cubicBezTo>
                  <a:pt x="1469687" y="2236808"/>
                  <a:pt x="1468451" y="2239795"/>
                  <a:pt x="1472366" y="2239795"/>
                </a:cubicBezTo>
                <a:cubicBezTo>
                  <a:pt x="1456704" y="2246713"/>
                  <a:pt x="1390345" y="2246713"/>
                  <a:pt x="1420226" y="2262592"/>
                </a:cubicBezTo>
                <a:cubicBezTo>
                  <a:pt x="1431974" y="2259762"/>
                  <a:pt x="1438568" y="2261649"/>
                  <a:pt x="1450109" y="2266680"/>
                </a:cubicBezTo>
                <a:cubicBezTo>
                  <a:pt x="1456704" y="2263693"/>
                  <a:pt x="1470924" y="2257719"/>
                  <a:pt x="1481435" y="2263693"/>
                </a:cubicBezTo>
                <a:cubicBezTo>
                  <a:pt x="1454025" y="2283503"/>
                  <a:pt x="1387665" y="2267623"/>
                  <a:pt x="1373239" y="2291520"/>
                </a:cubicBezTo>
                <a:cubicBezTo>
                  <a:pt x="1373239" y="2295451"/>
                  <a:pt x="1384987" y="2294509"/>
                  <a:pt x="1386428" y="2298439"/>
                </a:cubicBezTo>
                <a:cubicBezTo>
                  <a:pt x="1404565" y="2291520"/>
                  <a:pt x="1446193" y="2297495"/>
                  <a:pt x="1467008" y="2293407"/>
                </a:cubicBezTo>
                <a:cubicBezTo>
                  <a:pt x="1459383" y="2307400"/>
                  <a:pt x="1434653" y="2292464"/>
                  <a:pt x="1426822" y="2307400"/>
                </a:cubicBezTo>
                <a:cubicBezTo>
                  <a:pt x="1404565" y="2304413"/>
                  <a:pt x="1394260" y="2312274"/>
                  <a:pt x="1372003" y="2310387"/>
                </a:cubicBezTo>
                <a:cubicBezTo>
                  <a:pt x="1370766" y="2313375"/>
                  <a:pt x="1374682" y="2314318"/>
                  <a:pt x="1372003" y="2317305"/>
                </a:cubicBezTo>
                <a:cubicBezTo>
                  <a:pt x="1369530" y="2316362"/>
                  <a:pt x="1370766" y="2313375"/>
                  <a:pt x="1364172" y="2313375"/>
                </a:cubicBezTo>
                <a:cubicBezTo>
                  <a:pt x="1359020" y="2318248"/>
                  <a:pt x="1349952" y="2320292"/>
                  <a:pt x="1348715" y="2328153"/>
                </a:cubicBezTo>
                <a:cubicBezTo>
                  <a:pt x="1369530" y="2333184"/>
                  <a:pt x="1379834" y="2322179"/>
                  <a:pt x="1396733" y="2330197"/>
                </a:cubicBezTo>
                <a:cubicBezTo>
                  <a:pt x="1409717" y="2323280"/>
                  <a:pt x="1421463" y="2325166"/>
                  <a:pt x="1439805" y="2330197"/>
                </a:cubicBezTo>
                <a:cubicBezTo>
                  <a:pt x="1426822" y="2343089"/>
                  <a:pt x="1377155" y="2345133"/>
                  <a:pt x="1366851" y="2341203"/>
                </a:cubicBezTo>
                <a:cubicBezTo>
                  <a:pt x="1360256" y="2341203"/>
                  <a:pt x="1359020" y="2345133"/>
                  <a:pt x="1356341" y="2348120"/>
                </a:cubicBezTo>
                <a:cubicBezTo>
                  <a:pt x="1342120" y="2339159"/>
                  <a:pt x="1310795" y="2352994"/>
                  <a:pt x="1302964" y="2342146"/>
                </a:cubicBezTo>
                <a:cubicBezTo>
                  <a:pt x="1295133" y="2348120"/>
                  <a:pt x="1296576" y="2346076"/>
                  <a:pt x="1287302" y="2343089"/>
                </a:cubicBezTo>
                <a:lnTo>
                  <a:pt x="1280840" y="2347141"/>
                </a:lnTo>
                <a:lnTo>
                  <a:pt x="1271542" y="2367467"/>
                </a:lnTo>
                <a:lnTo>
                  <a:pt x="1280553" y="2365709"/>
                </a:lnTo>
                <a:cubicBezTo>
                  <a:pt x="1283798" y="2365729"/>
                  <a:pt x="1286065" y="2366987"/>
                  <a:pt x="1286065" y="2370917"/>
                </a:cubicBezTo>
                <a:cubicBezTo>
                  <a:pt x="1289981" y="2369974"/>
                  <a:pt x="1292660" y="2366987"/>
                  <a:pt x="1293897" y="2364000"/>
                </a:cubicBezTo>
                <a:cubicBezTo>
                  <a:pt x="1304407" y="2363056"/>
                  <a:pt x="1299048" y="2368874"/>
                  <a:pt x="1304407" y="2369974"/>
                </a:cubicBezTo>
                <a:cubicBezTo>
                  <a:pt x="1312238" y="2369974"/>
                  <a:pt x="1301728" y="2366987"/>
                  <a:pt x="1309559" y="2364943"/>
                </a:cubicBezTo>
                <a:cubicBezTo>
                  <a:pt x="1315947" y="2364943"/>
                  <a:pt x="1310795" y="2370917"/>
                  <a:pt x="1315947" y="2370917"/>
                </a:cubicBezTo>
                <a:cubicBezTo>
                  <a:pt x="1305643" y="2378936"/>
                  <a:pt x="1295133" y="2375006"/>
                  <a:pt x="1283386" y="2379879"/>
                </a:cubicBezTo>
                <a:cubicBezTo>
                  <a:pt x="1280913" y="2373905"/>
                  <a:pt x="1275761" y="2378936"/>
                  <a:pt x="1270402" y="2375006"/>
                </a:cubicBezTo>
                <a:cubicBezTo>
                  <a:pt x="1273082" y="2377836"/>
                  <a:pt x="1271845" y="2381923"/>
                  <a:pt x="1270402" y="2386797"/>
                </a:cubicBezTo>
                <a:cubicBezTo>
                  <a:pt x="1264529" y="2383809"/>
                  <a:pt x="1259995" y="2383338"/>
                  <a:pt x="1255951" y="2383102"/>
                </a:cubicBezTo>
                <a:lnTo>
                  <a:pt x="1253331" y="2382583"/>
                </a:lnTo>
                <a:lnTo>
                  <a:pt x="1243683" y="2390057"/>
                </a:lnTo>
                <a:lnTo>
                  <a:pt x="1227559" y="2398019"/>
                </a:lnTo>
                <a:lnTo>
                  <a:pt x="1228354" y="2398373"/>
                </a:lnTo>
                <a:cubicBezTo>
                  <a:pt x="1240089" y="2400217"/>
                  <a:pt x="1254808" y="2394685"/>
                  <a:pt x="1272425" y="2394685"/>
                </a:cubicBezTo>
                <a:cubicBezTo>
                  <a:pt x="1277577" y="2394685"/>
                  <a:pt x="1277577" y="2398587"/>
                  <a:pt x="1280049" y="2398587"/>
                </a:cubicBezTo>
                <a:cubicBezTo>
                  <a:pt x="1304980" y="2400617"/>
                  <a:pt x="1337535" y="2389691"/>
                  <a:pt x="1349280" y="2390784"/>
                </a:cubicBezTo>
                <a:cubicBezTo>
                  <a:pt x="1359582" y="2391720"/>
                  <a:pt x="1355668" y="2394685"/>
                  <a:pt x="1370091" y="2389691"/>
                </a:cubicBezTo>
                <a:cubicBezTo>
                  <a:pt x="1368648" y="2398587"/>
                  <a:pt x="1356904" y="2398587"/>
                  <a:pt x="1359582" y="2410449"/>
                </a:cubicBezTo>
                <a:cubicBezTo>
                  <a:pt x="1350517" y="2410449"/>
                  <a:pt x="1358346" y="2402489"/>
                  <a:pt x="1351753" y="2401553"/>
                </a:cubicBezTo>
                <a:cubicBezTo>
                  <a:pt x="1342687" y="2402489"/>
                  <a:pt x="1334857" y="2410449"/>
                  <a:pt x="1327027" y="2405455"/>
                </a:cubicBezTo>
                <a:cubicBezTo>
                  <a:pt x="1320434" y="2405455"/>
                  <a:pt x="1329706" y="2411385"/>
                  <a:pt x="1321876" y="2413414"/>
                </a:cubicBezTo>
                <a:cubicBezTo>
                  <a:pt x="1310132" y="2407483"/>
                  <a:pt x="1312810" y="2418409"/>
                  <a:pt x="1302302" y="2419346"/>
                </a:cubicBezTo>
                <a:cubicBezTo>
                  <a:pt x="1293236" y="2418409"/>
                  <a:pt x="1295708" y="2413414"/>
                  <a:pt x="1291793" y="2410449"/>
                </a:cubicBezTo>
                <a:cubicBezTo>
                  <a:pt x="1287879" y="2419346"/>
                  <a:pt x="1258002" y="2408420"/>
                  <a:pt x="1255323" y="2408420"/>
                </a:cubicBezTo>
                <a:cubicBezTo>
                  <a:pt x="1242652" y="2408420"/>
                  <a:pt x="1222678" y="2410703"/>
                  <a:pt x="1217308" y="2403877"/>
                </a:cubicBezTo>
                <a:lnTo>
                  <a:pt x="1217414" y="2400326"/>
                </a:lnTo>
                <a:lnTo>
                  <a:pt x="1205722" y="2402830"/>
                </a:lnTo>
                <a:cubicBezTo>
                  <a:pt x="1201807" y="2408803"/>
                  <a:pt x="1203249" y="2413834"/>
                  <a:pt x="1190063" y="2415878"/>
                </a:cubicBezTo>
                <a:cubicBezTo>
                  <a:pt x="1179762" y="2405817"/>
                  <a:pt x="1171933" y="2412891"/>
                  <a:pt x="1152360" y="2407860"/>
                </a:cubicBezTo>
                <a:lnTo>
                  <a:pt x="1152441" y="2406330"/>
                </a:lnTo>
                <a:lnTo>
                  <a:pt x="1151831" y="2406133"/>
                </a:lnTo>
                <a:cubicBezTo>
                  <a:pt x="1150076" y="2405036"/>
                  <a:pt x="1148772" y="2403629"/>
                  <a:pt x="1147963" y="2402158"/>
                </a:cubicBezTo>
                <a:lnTo>
                  <a:pt x="1149326" y="2394811"/>
                </a:lnTo>
                <a:lnTo>
                  <a:pt x="1137873" y="2390519"/>
                </a:lnTo>
                <a:cubicBezTo>
                  <a:pt x="1130148" y="2388602"/>
                  <a:pt x="1121559" y="2387069"/>
                  <a:pt x="1112853" y="2385379"/>
                </a:cubicBezTo>
                <a:lnTo>
                  <a:pt x="1090479" y="2380087"/>
                </a:lnTo>
                <a:lnTo>
                  <a:pt x="1084595" y="2380484"/>
                </a:lnTo>
                <a:lnTo>
                  <a:pt x="1084536" y="2380647"/>
                </a:lnTo>
                <a:cubicBezTo>
                  <a:pt x="1083734" y="2382725"/>
                  <a:pt x="1083541" y="2381045"/>
                  <a:pt x="1076741" y="2381045"/>
                </a:cubicBezTo>
                <a:cubicBezTo>
                  <a:pt x="1076741" y="2381045"/>
                  <a:pt x="1076741" y="2381045"/>
                  <a:pt x="1087044" y="2392051"/>
                </a:cubicBezTo>
                <a:cubicBezTo>
                  <a:pt x="1081892" y="2395038"/>
                  <a:pt x="1080656" y="2398025"/>
                  <a:pt x="1083129" y="2401955"/>
                </a:cubicBezTo>
                <a:cubicBezTo>
                  <a:pt x="1090959" y="2401012"/>
                  <a:pt x="1085808" y="2398025"/>
                  <a:pt x="1088486" y="2395981"/>
                </a:cubicBezTo>
                <a:cubicBezTo>
                  <a:pt x="1092196" y="2401012"/>
                  <a:pt x="1096111" y="2401955"/>
                  <a:pt x="1100232" y="2401955"/>
                </a:cubicBezTo>
                <a:cubicBezTo>
                  <a:pt x="1097554" y="2404943"/>
                  <a:pt x="1102705" y="2408873"/>
                  <a:pt x="1093638" y="2410917"/>
                </a:cubicBezTo>
                <a:cubicBezTo>
                  <a:pt x="1089723" y="2408873"/>
                  <a:pt x="1087044" y="2405886"/>
                  <a:pt x="1080656" y="2409974"/>
                </a:cubicBezTo>
                <a:cubicBezTo>
                  <a:pt x="1088486" y="2414848"/>
                  <a:pt x="1096111" y="2420822"/>
                  <a:pt x="1102705" y="2425853"/>
                </a:cubicBezTo>
                <a:cubicBezTo>
                  <a:pt x="1088486" y="2428840"/>
                  <a:pt x="1114451" y="2436702"/>
                  <a:pt x="1101468" y="2439689"/>
                </a:cubicBezTo>
                <a:cubicBezTo>
                  <a:pt x="1094875" y="2438746"/>
                  <a:pt x="1098790" y="2434816"/>
                  <a:pt x="1090959" y="2435759"/>
                </a:cubicBezTo>
                <a:cubicBezTo>
                  <a:pt x="1096111" y="2433715"/>
                  <a:pt x="1089723" y="2429784"/>
                  <a:pt x="1090959" y="2427740"/>
                </a:cubicBezTo>
                <a:cubicBezTo>
                  <a:pt x="1088486" y="2428840"/>
                  <a:pt x="1085808" y="2427740"/>
                  <a:pt x="1081892" y="2429784"/>
                </a:cubicBezTo>
                <a:cubicBezTo>
                  <a:pt x="1081892" y="2429784"/>
                  <a:pt x="1081892" y="2429784"/>
                  <a:pt x="1089723" y="2436702"/>
                </a:cubicBezTo>
                <a:cubicBezTo>
                  <a:pt x="1077977" y="2436702"/>
                  <a:pt x="1087044" y="2443620"/>
                  <a:pt x="1081892" y="2447708"/>
                </a:cubicBezTo>
                <a:cubicBezTo>
                  <a:pt x="1074062" y="2438746"/>
                  <a:pt x="1083129" y="2427740"/>
                  <a:pt x="1062317" y="2423810"/>
                </a:cubicBezTo>
                <a:cubicBezTo>
                  <a:pt x="1054486" y="2431828"/>
                  <a:pt x="1081892" y="2449594"/>
                  <a:pt x="1055928" y="2451639"/>
                </a:cubicBezTo>
                <a:cubicBezTo>
                  <a:pt x="1054486" y="2454625"/>
                  <a:pt x="1058401" y="2456669"/>
                  <a:pt x="1061080" y="2459657"/>
                </a:cubicBezTo>
                <a:cubicBezTo>
                  <a:pt x="1063759" y="2458557"/>
                  <a:pt x="1066232" y="2456669"/>
                  <a:pt x="1067674" y="2458557"/>
                </a:cubicBezTo>
                <a:cubicBezTo>
                  <a:pt x="1059844" y="2472549"/>
                  <a:pt x="1070147" y="2489372"/>
                  <a:pt x="1059844" y="2503365"/>
                </a:cubicBezTo>
                <a:cubicBezTo>
                  <a:pt x="1062317" y="2502265"/>
                  <a:pt x="1064995" y="2505252"/>
                  <a:pt x="1067674" y="2505252"/>
                </a:cubicBezTo>
                <a:cubicBezTo>
                  <a:pt x="1059844" y="2507296"/>
                  <a:pt x="1067674" y="2511226"/>
                  <a:pt x="1062317" y="2514213"/>
                </a:cubicBezTo>
                <a:cubicBezTo>
                  <a:pt x="1057165" y="2510283"/>
                  <a:pt x="1061080" y="2506352"/>
                  <a:pt x="1053250" y="2508239"/>
                </a:cubicBezTo>
                <a:cubicBezTo>
                  <a:pt x="1052013" y="2514213"/>
                  <a:pt x="1049334" y="2520188"/>
                  <a:pt x="1050571" y="2526162"/>
                </a:cubicBezTo>
                <a:cubicBezTo>
                  <a:pt x="1046655" y="2530093"/>
                  <a:pt x="1044183" y="2527106"/>
                  <a:pt x="1040268" y="2530093"/>
                </a:cubicBezTo>
                <a:cubicBezTo>
                  <a:pt x="1042741" y="2531193"/>
                  <a:pt x="1045419" y="2531193"/>
                  <a:pt x="1046655" y="2533081"/>
                </a:cubicBezTo>
                <a:cubicBezTo>
                  <a:pt x="1042741" y="2535125"/>
                  <a:pt x="1038825" y="2534181"/>
                  <a:pt x="1034910" y="2537011"/>
                </a:cubicBezTo>
                <a:cubicBezTo>
                  <a:pt x="1038825" y="2542042"/>
                  <a:pt x="1036352" y="2542042"/>
                  <a:pt x="1041504" y="2544086"/>
                </a:cubicBezTo>
                <a:cubicBezTo>
                  <a:pt x="1034910" y="2545973"/>
                  <a:pt x="1029758" y="2542985"/>
                  <a:pt x="1023370" y="2545029"/>
                </a:cubicBezTo>
                <a:cubicBezTo>
                  <a:pt x="1024606" y="2548960"/>
                  <a:pt x="1028521" y="2553991"/>
                  <a:pt x="1021928" y="2556978"/>
                </a:cubicBezTo>
                <a:cubicBezTo>
                  <a:pt x="1021928" y="2556978"/>
                  <a:pt x="1021928" y="2556978"/>
                  <a:pt x="1019455" y="2554934"/>
                </a:cubicBezTo>
                <a:cubicBezTo>
                  <a:pt x="1018012" y="2554934"/>
                  <a:pt x="1016776" y="2555878"/>
                  <a:pt x="1016776" y="2554934"/>
                </a:cubicBezTo>
                <a:cubicBezTo>
                  <a:pt x="1023370" y="2552891"/>
                  <a:pt x="1021928" y="2545973"/>
                  <a:pt x="1016776" y="2547073"/>
                </a:cubicBezTo>
                <a:cubicBezTo>
                  <a:pt x="1015539" y="2554934"/>
                  <a:pt x="1014097" y="2559966"/>
                  <a:pt x="1020691" y="2566884"/>
                </a:cubicBezTo>
                <a:cubicBezTo>
                  <a:pt x="1011624" y="2566884"/>
                  <a:pt x="1016776" y="2571915"/>
                  <a:pt x="1008945" y="2571915"/>
                </a:cubicBezTo>
                <a:cubicBezTo>
                  <a:pt x="1012860" y="2571915"/>
                  <a:pt x="1016776" y="2574903"/>
                  <a:pt x="1012860" y="2577889"/>
                </a:cubicBezTo>
                <a:cubicBezTo>
                  <a:pt x="1007709" y="2572858"/>
                  <a:pt x="1001115" y="2571915"/>
                  <a:pt x="993284" y="2575846"/>
                </a:cubicBezTo>
                <a:cubicBezTo>
                  <a:pt x="993284" y="2570814"/>
                  <a:pt x="993284" y="2566884"/>
                  <a:pt x="992048" y="2562953"/>
                </a:cubicBezTo>
                <a:cubicBezTo>
                  <a:pt x="986897" y="2564840"/>
                  <a:pt x="984218" y="2558865"/>
                  <a:pt x="979066" y="2563897"/>
                </a:cubicBezTo>
                <a:cubicBezTo>
                  <a:pt x="989369" y="2569871"/>
                  <a:pt x="988133" y="2575846"/>
                  <a:pt x="988133" y="2583707"/>
                </a:cubicBezTo>
                <a:cubicBezTo>
                  <a:pt x="994727" y="2583707"/>
                  <a:pt x="1005030" y="2587794"/>
                  <a:pt x="998642" y="2592669"/>
                </a:cubicBezTo>
                <a:cubicBezTo>
                  <a:pt x="994727" y="2589681"/>
                  <a:pt x="997200" y="2587794"/>
                  <a:pt x="992048" y="2584807"/>
                </a:cubicBezTo>
                <a:cubicBezTo>
                  <a:pt x="986897" y="2584807"/>
                  <a:pt x="981539" y="2588738"/>
                  <a:pt x="981539" y="2590782"/>
                </a:cubicBezTo>
                <a:cubicBezTo>
                  <a:pt x="982981" y="2591725"/>
                  <a:pt x="993284" y="2590782"/>
                  <a:pt x="989369" y="2595656"/>
                </a:cubicBezTo>
                <a:cubicBezTo>
                  <a:pt x="988133" y="2593769"/>
                  <a:pt x="979066" y="2593769"/>
                  <a:pt x="982981" y="2596756"/>
                </a:cubicBezTo>
                <a:cubicBezTo>
                  <a:pt x="985454" y="2600687"/>
                  <a:pt x="992048" y="2597700"/>
                  <a:pt x="994727" y="2603674"/>
                </a:cubicBezTo>
                <a:cubicBezTo>
                  <a:pt x="990811" y="2605718"/>
                  <a:pt x="980302" y="2604617"/>
                  <a:pt x="982981" y="2607605"/>
                </a:cubicBezTo>
                <a:cubicBezTo>
                  <a:pt x="986897" y="2606661"/>
                  <a:pt x="998642" y="2610592"/>
                  <a:pt x="995963" y="2614523"/>
                </a:cubicBezTo>
                <a:cubicBezTo>
                  <a:pt x="989369" y="2616566"/>
                  <a:pt x="990811" y="2611535"/>
                  <a:pt x="986897" y="2612636"/>
                </a:cubicBezTo>
                <a:cubicBezTo>
                  <a:pt x="990811" y="2616566"/>
                  <a:pt x="976387" y="2613580"/>
                  <a:pt x="981539" y="2616566"/>
                </a:cubicBezTo>
                <a:cubicBezTo>
                  <a:pt x="994727" y="2614523"/>
                  <a:pt x="997200" y="2629459"/>
                  <a:pt x="990811" y="2634490"/>
                </a:cubicBezTo>
                <a:cubicBezTo>
                  <a:pt x="994727" y="2636377"/>
                  <a:pt x="999879" y="2636377"/>
                  <a:pt x="1003793" y="2636377"/>
                </a:cubicBezTo>
                <a:cubicBezTo>
                  <a:pt x="998642" y="2639364"/>
                  <a:pt x="999879" y="2642351"/>
                  <a:pt x="1006473" y="2641408"/>
                </a:cubicBezTo>
                <a:cubicBezTo>
                  <a:pt x="1002557" y="2644395"/>
                  <a:pt x="1006473" y="2647382"/>
                  <a:pt x="1001115" y="2649426"/>
                </a:cubicBezTo>
                <a:cubicBezTo>
                  <a:pt x="993284" y="2646439"/>
                  <a:pt x="988133" y="2635433"/>
                  <a:pt x="988133" y="2629459"/>
                </a:cubicBezTo>
                <a:cubicBezTo>
                  <a:pt x="986897" y="2630402"/>
                  <a:pt x="985454" y="2629459"/>
                  <a:pt x="982981" y="2629459"/>
                </a:cubicBezTo>
                <a:cubicBezTo>
                  <a:pt x="990811" y="2648326"/>
                  <a:pt x="981539" y="2658231"/>
                  <a:pt x="994727" y="2678198"/>
                </a:cubicBezTo>
                <a:cubicBezTo>
                  <a:pt x="988133" y="2679142"/>
                  <a:pt x="990811" y="2682129"/>
                  <a:pt x="985454" y="2684173"/>
                </a:cubicBezTo>
                <a:cubicBezTo>
                  <a:pt x="976387" y="2677255"/>
                  <a:pt x="979066" y="2665149"/>
                  <a:pt x="963405" y="2659332"/>
                </a:cubicBezTo>
                <a:cubicBezTo>
                  <a:pt x="963405" y="2659332"/>
                  <a:pt x="963405" y="2659332"/>
                  <a:pt x="959489" y="2660275"/>
                </a:cubicBezTo>
                <a:cubicBezTo>
                  <a:pt x="967320" y="2673167"/>
                  <a:pt x="984218" y="2687160"/>
                  <a:pt x="967320" y="2698009"/>
                </a:cubicBezTo>
                <a:cubicBezTo>
                  <a:pt x="969999" y="2709014"/>
                  <a:pt x="976387" y="2724894"/>
                  <a:pt x="963405" y="2730869"/>
                </a:cubicBezTo>
                <a:cubicBezTo>
                  <a:pt x="967320" y="2730869"/>
                  <a:pt x="968557" y="2733856"/>
                  <a:pt x="966084" y="2735743"/>
                </a:cubicBezTo>
                <a:cubicBezTo>
                  <a:pt x="963405" y="2732755"/>
                  <a:pt x="960726" y="2730869"/>
                  <a:pt x="955574" y="2733856"/>
                </a:cubicBezTo>
                <a:cubicBezTo>
                  <a:pt x="955574" y="2736843"/>
                  <a:pt x="952895" y="2739674"/>
                  <a:pt x="946507" y="2741717"/>
                </a:cubicBezTo>
                <a:cubicBezTo>
                  <a:pt x="948980" y="2744704"/>
                  <a:pt x="946507" y="2747691"/>
                  <a:pt x="952895" y="2745647"/>
                </a:cubicBezTo>
                <a:cubicBezTo>
                  <a:pt x="952895" y="2744704"/>
                  <a:pt x="950422" y="2742660"/>
                  <a:pt x="951659" y="2741717"/>
                </a:cubicBezTo>
                <a:cubicBezTo>
                  <a:pt x="960726" y="2742660"/>
                  <a:pt x="955574" y="2750679"/>
                  <a:pt x="963405" y="2755710"/>
                </a:cubicBezTo>
                <a:cubicBezTo>
                  <a:pt x="942592" y="2756653"/>
                  <a:pt x="941149" y="2771589"/>
                  <a:pt x="930846" y="2780551"/>
                </a:cubicBezTo>
                <a:cubicBezTo>
                  <a:pt x="927549" y="2779058"/>
                  <a:pt x="924304" y="2780041"/>
                  <a:pt x="921058" y="2781770"/>
                </a:cubicBezTo>
                <a:lnTo>
                  <a:pt x="911276" y="2787466"/>
                </a:lnTo>
                <a:lnTo>
                  <a:pt x="911265" y="2787466"/>
                </a:lnTo>
                <a:lnTo>
                  <a:pt x="886388" y="2773653"/>
                </a:lnTo>
                <a:cubicBezTo>
                  <a:pt x="880051" y="2766559"/>
                  <a:pt x="875518" y="2757597"/>
                  <a:pt x="872324" y="2748635"/>
                </a:cubicBezTo>
                <a:cubicBezTo>
                  <a:pt x="880154" y="2748635"/>
                  <a:pt x="877475" y="2752723"/>
                  <a:pt x="882627" y="2752723"/>
                </a:cubicBezTo>
                <a:cubicBezTo>
                  <a:pt x="889222" y="2746748"/>
                  <a:pt x="876239" y="2742660"/>
                  <a:pt x="881391" y="2734799"/>
                </a:cubicBezTo>
                <a:cubicBezTo>
                  <a:pt x="855220" y="2730869"/>
                  <a:pt x="876239" y="2700996"/>
                  <a:pt x="864493" y="2691091"/>
                </a:cubicBezTo>
                <a:cubicBezTo>
                  <a:pt x="878712" y="2679142"/>
                  <a:pt x="872324" y="2660275"/>
                  <a:pt x="866966" y="2652257"/>
                </a:cubicBezTo>
                <a:cubicBezTo>
                  <a:pt x="865730" y="2655243"/>
                  <a:pt x="870882" y="2664206"/>
                  <a:pt x="860578" y="2663262"/>
                </a:cubicBezTo>
                <a:cubicBezTo>
                  <a:pt x="859136" y="2654301"/>
                  <a:pt x="864493" y="2647382"/>
                  <a:pt x="856663" y="2640465"/>
                </a:cubicBezTo>
                <a:cubicBezTo>
                  <a:pt x="861814" y="2632446"/>
                  <a:pt x="864493" y="2618610"/>
                  <a:pt x="853984" y="2616566"/>
                </a:cubicBezTo>
                <a:cubicBezTo>
                  <a:pt x="856663" y="2610592"/>
                  <a:pt x="857899" y="2617510"/>
                  <a:pt x="863051" y="2613580"/>
                </a:cubicBezTo>
                <a:cubicBezTo>
                  <a:pt x="863051" y="2607605"/>
                  <a:pt x="851305" y="2601630"/>
                  <a:pt x="859136" y="2596756"/>
                </a:cubicBezTo>
                <a:cubicBezTo>
                  <a:pt x="863051" y="2598643"/>
                  <a:pt x="853984" y="2604617"/>
                  <a:pt x="861814" y="2603674"/>
                </a:cubicBezTo>
                <a:cubicBezTo>
                  <a:pt x="864493" y="2598643"/>
                  <a:pt x="870882" y="2589681"/>
                  <a:pt x="857899" y="2591725"/>
                </a:cubicBezTo>
                <a:cubicBezTo>
                  <a:pt x="865730" y="2579776"/>
                  <a:pt x="864493" y="2565940"/>
                  <a:pt x="864493" y="2552891"/>
                </a:cubicBezTo>
                <a:cubicBezTo>
                  <a:pt x="852748" y="2550061"/>
                  <a:pt x="843680" y="2536068"/>
                  <a:pt x="843680" y="2528207"/>
                </a:cubicBezTo>
                <a:cubicBezTo>
                  <a:pt x="837086" y="2528207"/>
                  <a:pt x="830492" y="2528207"/>
                  <a:pt x="824104" y="2530093"/>
                </a:cubicBezTo>
                <a:cubicBezTo>
                  <a:pt x="824104" y="2532137"/>
                  <a:pt x="825341" y="2534181"/>
                  <a:pt x="828020" y="2537011"/>
                </a:cubicBezTo>
                <a:cubicBezTo>
                  <a:pt x="833171" y="2535125"/>
                  <a:pt x="837086" y="2535125"/>
                  <a:pt x="841002" y="2538112"/>
                </a:cubicBezTo>
                <a:cubicBezTo>
                  <a:pt x="837086" y="2545029"/>
                  <a:pt x="833171" y="2551948"/>
                  <a:pt x="837086" y="2558865"/>
                </a:cubicBezTo>
                <a:cubicBezTo>
                  <a:pt x="834407" y="2560909"/>
                  <a:pt x="831934" y="2559966"/>
                  <a:pt x="828020" y="2560909"/>
                </a:cubicBezTo>
                <a:cubicBezTo>
                  <a:pt x="837086" y="2563897"/>
                  <a:pt x="829256" y="2565940"/>
                  <a:pt x="831934" y="2569871"/>
                </a:cubicBezTo>
                <a:cubicBezTo>
                  <a:pt x="834407" y="2569871"/>
                  <a:pt x="835850" y="2568927"/>
                  <a:pt x="837086" y="2569871"/>
                </a:cubicBezTo>
                <a:cubicBezTo>
                  <a:pt x="833171" y="2570814"/>
                  <a:pt x="831934" y="2572858"/>
                  <a:pt x="830492" y="2574903"/>
                </a:cubicBezTo>
                <a:cubicBezTo>
                  <a:pt x="826577" y="2569871"/>
                  <a:pt x="824104" y="2558865"/>
                  <a:pt x="813595" y="2560909"/>
                </a:cubicBezTo>
                <a:cubicBezTo>
                  <a:pt x="815038" y="2570814"/>
                  <a:pt x="825341" y="2575846"/>
                  <a:pt x="818952" y="2583707"/>
                </a:cubicBezTo>
                <a:cubicBezTo>
                  <a:pt x="813595" y="2586694"/>
                  <a:pt x="812358" y="2579776"/>
                  <a:pt x="807207" y="2583707"/>
                </a:cubicBezTo>
                <a:cubicBezTo>
                  <a:pt x="803292" y="2588738"/>
                  <a:pt x="809680" y="2595656"/>
                  <a:pt x="801849" y="2600687"/>
                </a:cubicBezTo>
                <a:cubicBezTo>
                  <a:pt x="799376" y="2597700"/>
                  <a:pt x="796698" y="2594712"/>
                  <a:pt x="791546" y="2596756"/>
                </a:cubicBezTo>
                <a:cubicBezTo>
                  <a:pt x="786394" y="2600687"/>
                  <a:pt x="795461" y="2605718"/>
                  <a:pt x="783716" y="2609649"/>
                </a:cubicBezTo>
                <a:cubicBezTo>
                  <a:pt x="784952" y="2610592"/>
                  <a:pt x="787631" y="2609649"/>
                  <a:pt x="788867" y="2611535"/>
                </a:cubicBezTo>
                <a:cubicBezTo>
                  <a:pt x="778564" y="2616566"/>
                  <a:pt x="777121" y="2622541"/>
                  <a:pt x="778564" y="2629459"/>
                </a:cubicBezTo>
                <a:cubicBezTo>
                  <a:pt x="765581" y="2633390"/>
                  <a:pt x="770734" y="2639364"/>
                  <a:pt x="761460" y="2644395"/>
                </a:cubicBezTo>
                <a:cubicBezTo>
                  <a:pt x="749921" y="2618610"/>
                  <a:pt x="762903" y="2593769"/>
                  <a:pt x="748478" y="2566884"/>
                </a:cubicBezTo>
                <a:cubicBezTo>
                  <a:pt x="756308" y="2559966"/>
                  <a:pt x="751157" y="2551004"/>
                  <a:pt x="744563" y="2542042"/>
                </a:cubicBezTo>
                <a:cubicBezTo>
                  <a:pt x="755072" y="2536068"/>
                  <a:pt x="753630" y="2523176"/>
                  <a:pt x="739411" y="2518144"/>
                </a:cubicBezTo>
                <a:cubicBezTo>
                  <a:pt x="742090" y="2525219"/>
                  <a:pt x="752394" y="2532137"/>
                  <a:pt x="746005" y="2538112"/>
                </a:cubicBezTo>
                <a:cubicBezTo>
                  <a:pt x="740648" y="2527106"/>
                  <a:pt x="730345" y="2516257"/>
                  <a:pt x="738175" y="2506352"/>
                </a:cubicBezTo>
                <a:cubicBezTo>
                  <a:pt x="730345" y="2508239"/>
                  <a:pt x="729108" y="2500378"/>
                  <a:pt x="730345" y="2496290"/>
                </a:cubicBezTo>
                <a:cubicBezTo>
                  <a:pt x="735496" y="2499277"/>
                  <a:pt x="738175" y="2507296"/>
                  <a:pt x="744563" y="2507296"/>
                </a:cubicBezTo>
                <a:cubicBezTo>
                  <a:pt x="743327" y="2498334"/>
                  <a:pt x="727666" y="2495346"/>
                  <a:pt x="725193" y="2486385"/>
                </a:cubicBezTo>
                <a:cubicBezTo>
                  <a:pt x="729108" y="2484499"/>
                  <a:pt x="731581" y="2485442"/>
                  <a:pt x="734260" y="2483397"/>
                </a:cubicBezTo>
                <a:cubicBezTo>
                  <a:pt x="734260" y="2479466"/>
                  <a:pt x="729108" y="2470505"/>
                  <a:pt x="738175" y="2473493"/>
                </a:cubicBezTo>
                <a:cubicBezTo>
                  <a:pt x="736732" y="2472549"/>
                  <a:pt x="738175" y="2471449"/>
                  <a:pt x="736732" y="2470505"/>
                </a:cubicBezTo>
                <a:cubicBezTo>
                  <a:pt x="731581" y="2469562"/>
                  <a:pt x="727666" y="2464530"/>
                  <a:pt x="722514" y="2464530"/>
                </a:cubicBezTo>
                <a:cubicBezTo>
                  <a:pt x="721277" y="2465474"/>
                  <a:pt x="721277" y="2466575"/>
                  <a:pt x="721277" y="2468461"/>
                </a:cubicBezTo>
                <a:cubicBezTo>
                  <a:pt x="723750" y="2471449"/>
                  <a:pt x="727666" y="2469562"/>
                  <a:pt x="730345" y="2473493"/>
                </a:cubicBezTo>
                <a:cubicBezTo>
                  <a:pt x="719836" y="2475536"/>
                  <a:pt x="734260" y="2479466"/>
                  <a:pt x="729108" y="2481511"/>
                </a:cubicBezTo>
                <a:cubicBezTo>
                  <a:pt x="719836" y="2476480"/>
                  <a:pt x="726429" y="2476480"/>
                  <a:pt x="721277" y="2470505"/>
                </a:cubicBezTo>
                <a:cubicBezTo>
                  <a:pt x="715920" y="2469562"/>
                  <a:pt x="709532" y="2473493"/>
                  <a:pt x="710768" y="2477423"/>
                </a:cubicBezTo>
                <a:cubicBezTo>
                  <a:pt x="706854" y="2473493"/>
                  <a:pt x="702938" y="2468461"/>
                  <a:pt x="696344" y="2471449"/>
                </a:cubicBezTo>
                <a:cubicBezTo>
                  <a:pt x="705617" y="2477423"/>
                  <a:pt x="725193" y="2491416"/>
                  <a:pt x="709532" y="2495346"/>
                </a:cubicBezTo>
                <a:cubicBezTo>
                  <a:pt x="710768" y="2498334"/>
                  <a:pt x="712005" y="2501321"/>
                  <a:pt x="712005" y="2505252"/>
                </a:cubicBezTo>
                <a:cubicBezTo>
                  <a:pt x="714684" y="2504308"/>
                  <a:pt x="717363" y="2504308"/>
                  <a:pt x="719836" y="2504308"/>
                </a:cubicBezTo>
                <a:cubicBezTo>
                  <a:pt x="715920" y="2507296"/>
                  <a:pt x="713447" y="2509183"/>
                  <a:pt x="714684" y="2512170"/>
                </a:cubicBezTo>
                <a:cubicBezTo>
                  <a:pt x="727666" y="2542985"/>
                  <a:pt x="722514" y="2576789"/>
                  <a:pt x="719836" y="2601630"/>
                </a:cubicBezTo>
                <a:cubicBezTo>
                  <a:pt x="709532" y="2592669"/>
                  <a:pt x="709532" y="2589681"/>
                  <a:pt x="702938" y="2582764"/>
                </a:cubicBezTo>
                <a:cubicBezTo>
                  <a:pt x="701702" y="2589681"/>
                  <a:pt x="701702" y="2596756"/>
                  <a:pt x="701702" y="2603674"/>
                </a:cubicBezTo>
                <a:cubicBezTo>
                  <a:pt x="699023" y="2605718"/>
                  <a:pt x="688719" y="2607605"/>
                  <a:pt x="691192" y="2609649"/>
                </a:cubicBezTo>
                <a:cubicBezTo>
                  <a:pt x="702938" y="2612636"/>
                  <a:pt x="684804" y="2620497"/>
                  <a:pt x="695107" y="2626472"/>
                </a:cubicBezTo>
                <a:cubicBezTo>
                  <a:pt x="687277" y="2628516"/>
                  <a:pt x="692634" y="2631502"/>
                  <a:pt x="688719" y="2636377"/>
                </a:cubicBezTo>
                <a:cubicBezTo>
                  <a:pt x="684804" y="2633390"/>
                  <a:pt x="688719" y="2630402"/>
                  <a:pt x="684804" y="2627415"/>
                </a:cubicBezTo>
                <a:cubicBezTo>
                  <a:pt x="679446" y="2629459"/>
                  <a:pt x="674295" y="2628516"/>
                  <a:pt x="673058" y="2632446"/>
                </a:cubicBezTo>
                <a:cubicBezTo>
                  <a:pt x="659870" y="2620497"/>
                  <a:pt x="653482" y="2606661"/>
                  <a:pt x="644415" y="2591725"/>
                </a:cubicBezTo>
                <a:cubicBezTo>
                  <a:pt x="639057" y="2581820"/>
                  <a:pt x="626075" y="2560909"/>
                  <a:pt x="629991" y="2550061"/>
                </a:cubicBezTo>
                <a:cubicBezTo>
                  <a:pt x="614330" y="2536068"/>
                  <a:pt x="615772" y="2514213"/>
                  <a:pt x="615772" y="2498334"/>
                </a:cubicBezTo>
                <a:cubicBezTo>
                  <a:pt x="605262" y="2485442"/>
                  <a:pt x="606499" y="2470505"/>
                  <a:pt x="605262" y="2455569"/>
                </a:cubicBezTo>
                <a:cubicBezTo>
                  <a:pt x="607941" y="2456669"/>
                  <a:pt x="609178" y="2456669"/>
                  <a:pt x="611857" y="2455569"/>
                </a:cubicBezTo>
                <a:cubicBezTo>
                  <a:pt x="607941" y="2450695"/>
                  <a:pt x="613093" y="2439689"/>
                  <a:pt x="602584" y="2440633"/>
                </a:cubicBezTo>
                <a:cubicBezTo>
                  <a:pt x="602584" y="2440633"/>
                  <a:pt x="602584" y="2440633"/>
                  <a:pt x="613093" y="2435759"/>
                </a:cubicBezTo>
                <a:cubicBezTo>
                  <a:pt x="609178" y="2417835"/>
                  <a:pt x="601348" y="2399912"/>
                  <a:pt x="581771" y="2384032"/>
                </a:cubicBezTo>
                <a:cubicBezTo>
                  <a:pt x="587129" y="2378057"/>
                  <a:pt x="585686" y="2371140"/>
                  <a:pt x="575383" y="2368152"/>
                </a:cubicBezTo>
                <a:cubicBezTo>
                  <a:pt x="594959" y="2352272"/>
                  <a:pt x="601348" y="2329475"/>
                  <a:pt x="594959" y="2314539"/>
                </a:cubicBezTo>
                <a:cubicBezTo>
                  <a:pt x="591044" y="2316583"/>
                  <a:pt x="597432" y="2319570"/>
                  <a:pt x="592280" y="2320513"/>
                </a:cubicBezTo>
                <a:cubicBezTo>
                  <a:pt x="585686" y="2317526"/>
                  <a:pt x="587129" y="2315483"/>
                  <a:pt x="579299" y="2312494"/>
                </a:cubicBezTo>
                <a:cubicBezTo>
                  <a:pt x="579299" y="2309508"/>
                  <a:pt x="584450" y="2306521"/>
                  <a:pt x="578062" y="2302590"/>
                </a:cubicBezTo>
                <a:cubicBezTo>
                  <a:pt x="584450" y="2299603"/>
                  <a:pt x="588366" y="2296615"/>
                  <a:pt x="587129" y="2292684"/>
                </a:cubicBezTo>
                <a:cubicBezTo>
                  <a:pt x="581771" y="2293628"/>
                  <a:pt x="578062" y="2289697"/>
                  <a:pt x="574147" y="2286710"/>
                </a:cubicBezTo>
                <a:cubicBezTo>
                  <a:pt x="594959" y="2265799"/>
                  <a:pt x="600111" y="2243945"/>
                  <a:pt x="589602" y="2219104"/>
                </a:cubicBezTo>
                <a:cubicBezTo>
                  <a:pt x="602584" y="2215173"/>
                  <a:pt x="587129" y="2206212"/>
                  <a:pt x="589602" y="2201338"/>
                </a:cubicBezTo>
                <a:cubicBezTo>
                  <a:pt x="571468" y="2200237"/>
                  <a:pt x="588366" y="2178383"/>
                  <a:pt x="566110" y="2183414"/>
                </a:cubicBezTo>
                <a:cubicBezTo>
                  <a:pt x="597432" y="2158572"/>
                  <a:pt x="570231" y="2117851"/>
                  <a:pt x="583214" y="2096941"/>
                </a:cubicBezTo>
                <a:cubicBezTo>
                  <a:pt x="575383" y="2089080"/>
                  <a:pt x="574147" y="2073200"/>
                  <a:pt x="579299" y="2063137"/>
                </a:cubicBezTo>
                <a:cubicBezTo>
                  <a:pt x="570231" y="2044270"/>
                  <a:pt x="576620" y="2027448"/>
                  <a:pt x="581771" y="2010467"/>
                </a:cubicBezTo>
                <a:cubicBezTo>
                  <a:pt x="576620" y="1994587"/>
                  <a:pt x="579299" y="1986726"/>
                  <a:pt x="574147" y="1972734"/>
                </a:cubicBezTo>
                <a:cubicBezTo>
                  <a:pt x="578062" y="1969746"/>
                  <a:pt x="585686" y="1972734"/>
                  <a:pt x="584450" y="1968803"/>
                </a:cubicBezTo>
                <a:cubicBezTo>
                  <a:pt x="571468" y="1965815"/>
                  <a:pt x="576620" y="1951823"/>
                  <a:pt x="578062" y="1943961"/>
                </a:cubicBezTo>
                <a:cubicBezTo>
                  <a:pt x="579299" y="1946005"/>
                  <a:pt x="580535" y="1949936"/>
                  <a:pt x="583214" y="1948835"/>
                </a:cubicBezTo>
                <a:cubicBezTo>
                  <a:pt x="575383" y="1934999"/>
                  <a:pt x="578062" y="1913146"/>
                  <a:pt x="591044" y="1901197"/>
                </a:cubicBezTo>
                <a:cubicBezTo>
                  <a:pt x="591044" y="1905127"/>
                  <a:pt x="600111" y="1925095"/>
                  <a:pt x="584450" y="1922108"/>
                </a:cubicBezTo>
                <a:cubicBezTo>
                  <a:pt x="584450" y="1929025"/>
                  <a:pt x="591044" y="1937044"/>
                  <a:pt x="592280" y="1943961"/>
                </a:cubicBezTo>
                <a:cubicBezTo>
                  <a:pt x="596196" y="1943018"/>
                  <a:pt x="596196" y="1940031"/>
                  <a:pt x="600111" y="1938930"/>
                </a:cubicBezTo>
                <a:cubicBezTo>
                  <a:pt x="604026" y="1943961"/>
                  <a:pt x="593517" y="1951823"/>
                  <a:pt x="602584" y="1953866"/>
                </a:cubicBezTo>
                <a:cubicBezTo>
                  <a:pt x="602584" y="1946949"/>
                  <a:pt x="610414" y="1934999"/>
                  <a:pt x="597432" y="1929025"/>
                </a:cubicBezTo>
                <a:cubicBezTo>
                  <a:pt x="609178" y="1922108"/>
                  <a:pt x="609847" y="1911927"/>
                  <a:pt x="610028" y="1901236"/>
                </a:cubicBezTo>
                <a:lnTo>
                  <a:pt x="610935" y="1889355"/>
                </a:lnTo>
                <a:lnTo>
                  <a:pt x="610705" y="1889143"/>
                </a:lnTo>
                <a:lnTo>
                  <a:pt x="611016" y="1888293"/>
                </a:lnTo>
                <a:lnTo>
                  <a:pt x="611255" y="1885159"/>
                </a:lnTo>
                <a:lnTo>
                  <a:pt x="618292" y="1872827"/>
                </a:lnTo>
                <a:lnTo>
                  <a:pt x="599130" y="1869286"/>
                </a:lnTo>
                <a:lnTo>
                  <a:pt x="599719" y="1873677"/>
                </a:lnTo>
                <a:lnTo>
                  <a:pt x="598679" y="1877649"/>
                </a:lnTo>
                <a:lnTo>
                  <a:pt x="605030" y="1877298"/>
                </a:lnTo>
                <a:cubicBezTo>
                  <a:pt x="601120" y="1885032"/>
                  <a:pt x="607704" y="1887972"/>
                  <a:pt x="607704" y="1893850"/>
                </a:cubicBezTo>
                <a:cubicBezTo>
                  <a:pt x="604412" y="1891916"/>
                  <a:pt x="600503" y="1891916"/>
                  <a:pt x="596285" y="1892284"/>
                </a:cubicBezTo>
                <a:lnTo>
                  <a:pt x="593375" y="1892424"/>
                </a:lnTo>
                <a:lnTo>
                  <a:pt x="591903" y="1898705"/>
                </a:lnTo>
                <a:lnTo>
                  <a:pt x="589446" y="1892613"/>
                </a:lnTo>
                <a:lnTo>
                  <a:pt x="583015" y="1892922"/>
                </a:lnTo>
                <a:cubicBezTo>
                  <a:pt x="581575" y="1886115"/>
                  <a:pt x="575197" y="1882093"/>
                  <a:pt x="575197" y="1875287"/>
                </a:cubicBezTo>
                <a:cubicBezTo>
                  <a:pt x="583015" y="1877298"/>
                  <a:pt x="592067" y="1879154"/>
                  <a:pt x="590834" y="1886115"/>
                </a:cubicBezTo>
                <a:cubicBezTo>
                  <a:pt x="594382" y="1885845"/>
                  <a:pt x="596067" y="1885032"/>
                  <a:pt x="596842" y="1883998"/>
                </a:cubicBezTo>
                <a:lnTo>
                  <a:pt x="597272" y="1881297"/>
                </a:lnTo>
                <a:lnTo>
                  <a:pt x="591169" y="1884836"/>
                </a:lnTo>
                <a:cubicBezTo>
                  <a:pt x="598951" y="1877047"/>
                  <a:pt x="589737" y="1865207"/>
                  <a:pt x="597517" y="1857261"/>
                </a:cubicBezTo>
                <a:lnTo>
                  <a:pt x="598939" y="1867862"/>
                </a:lnTo>
                <a:lnTo>
                  <a:pt x="600422" y="1859674"/>
                </a:lnTo>
                <a:cubicBezTo>
                  <a:pt x="601221" y="1856589"/>
                  <a:pt x="602509" y="1853877"/>
                  <a:pt x="605085" y="1852384"/>
                </a:cubicBezTo>
                <a:cubicBezTo>
                  <a:pt x="605085" y="1851283"/>
                  <a:pt x="602405" y="1850340"/>
                  <a:pt x="603849" y="1848295"/>
                </a:cubicBezTo>
                <a:cubicBezTo>
                  <a:pt x="601169" y="1848295"/>
                  <a:pt x="601169" y="1850340"/>
                  <a:pt x="599933" y="1852384"/>
                </a:cubicBezTo>
                <a:cubicBezTo>
                  <a:pt x="592101" y="1849396"/>
                  <a:pt x="605085" y="1845309"/>
                  <a:pt x="607765" y="1843421"/>
                </a:cubicBezTo>
                <a:cubicBezTo>
                  <a:pt x="592101" y="1840434"/>
                  <a:pt x="581590" y="1835403"/>
                  <a:pt x="565926" y="1840434"/>
                </a:cubicBezTo>
                <a:cubicBezTo>
                  <a:pt x="565926" y="1847352"/>
                  <a:pt x="570048" y="1852384"/>
                  <a:pt x="564689" y="1857257"/>
                </a:cubicBezTo>
                <a:cubicBezTo>
                  <a:pt x="537484" y="1854270"/>
                  <a:pt x="519141" y="1840434"/>
                  <a:pt x="491730" y="1832416"/>
                </a:cubicBezTo>
                <a:cubicBezTo>
                  <a:pt x="487813" y="1834460"/>
                  <a:pt x="490493" y="1846409"/>
                  <a:pt x="494409" y="1850340"/>
                </a:cubicBezTo>
                <a:cubicBezTo>
                  <a:pt x="489256" y="1856314"/>
                  <a:pt x="476272" y="1856314"/>
                  <a:pt x="472356" y="1863231"/>
                </a:cubicBezTo>
                <a:cubicBezTo>
                  <a:pt x="457928" y="1862288"/>
                  <a:pt x="460608" y="1861187"/>
                  <a:pt x="448861" y="1862288"/>
                </a:cubicBezTo>
                <a:cubicBezTo>
                  <a:pt x="441029" y="1853327"/>
                  <a:pt x="426601" y="1847352"/>
                  <a:pt x="421449" y="1837448"/>
                </a:cubicBezTo>
                <a:cubicBezTo>
                  <a:pt x="422686" y="1833360"/>
                  <a:pt x="430518" y="1834460"/>
                  <a:pt x="431960" y="1830529"/>
                </a:cubicBezTo>
                <a:cubicBezTo>
                  <a:pt x="426601" y="1825498"/>
                  <a:pt x="424128" y="1813550"/>
                  <a:pt x="431960" y="1807576"/>
                </a:cubicBezTo>
                <a:cubicBezTo>
                  <a:pt x="418769" y="1810562"/>
                  <a:pt x="416296" y="1797670"/>
                  <a:pt x="422686" y="1791696"/>
                </a:cubicBezTo>
                <a:cubicBezTo>
                  <a:pt x="408464" y="1798614"/>
                  <a:pt x="391564" y="1792640"/>
                  <a:pt x="386412" y="1807576"/>
                </a:cubicBezTo>
                <a:cubicBezTo>
                  <a:pt x="396717" y="1802701"/>
                  <a:pt x="395481" y="1807576"/>
                  <a:pt x="384969" y="1809619"/>
                </a:cubicBezTo>
                <a:cubicBezTo>
                  <a:pt x="386412" y="1812606"/>
                  <a:pt x="388885" y="1809619"/>
                  <a:pt x="394037" y="1810562"/>
                </a:cubicBezTo>
                <a:cubicBezTo>
                  <a:pt x="394037" y="1813550"/>
                  <a:pt x="390121" y="1813550"/>
                  <a:pt x="390121" y="1815594"/>
                </a:cubicBezTo>
                <a:cubicBezTo>
                  <a:pt x="394037" y="1820467"/>
                  <a:pt x="403312" y="1823454"/>
                  <a:pt x="411144" y="1826442"/>
                </a:cubicBezTo>
                <a:cubicBezTo>
                  <a:pt x="405785" y="1829429"/>
                  <a:pt x="401870" y="1834460"/>
                  <a:pt x="401870" y="1841378"/>
                </a:cubicBezTo>
                <a:cubicBezTo>
                  <a:pt x="386412" y="1840434"/>
                  <a:pt x="392801" y="1826442"/>
                  <a:pt x="377137" y="1830529"/>
                </a:cubicBezTo>
                <a:cubicBezTo>
                  <a:pt x="377137" y="1825498"/>
                  <a:pt x="379817" y="1818581"/>
                  <a:pt x="370748" y="1818581"/>
                </a:cubicBezTo>
                <a:cubicBezTo>
                  <a:pt x="377137" y="1817481"/>
                  <a:pt x="373221" y="1807576"/>
                  <a:pt x="379817" y="1807576"/>
                </a:cubicBezTo>
                <a:cubicBezTo>
                  <a:pt x="374664" y="1805689"/>
                  <a:pt x="369305" y="1802701"/>
                  <a:pt x="362916" y="1800658"/>
                </a:cubicBezTo>
                <a:cubicBezTo>
                  <a:pt x="365389" y="1796727"/>
                  <a:pt x="378579" y="1800658"/>
                  <a:pt x="384969" y="1800658"/>
                </a:cubicBezTo>
                <a:cubicBezTo>
                  <a:pt x="388885" y="1798614"/>
                  <a:pt x="390121" y="1793740"/>
                  <a:pt x="395481" y="1793740"/>
                </a:cubicBezTo>
                <a:lnTo>
                  <a:pt x="385059" y="1785134"/>
                </a:lnTo>
                <a:lnTo>
                  <a:pt x="385074" y="1785113"/>
                </a:lnTo>
                <a:lnTo>
                  <a:pt x="385016" y="1785098"/>
                </a:lnTo>
                <a:lnTo>
                  <a:pt x="376750" y="1778273"/>
                </a:lnTo>
                <a:cubicBezTo>
                  <a:pt x="368120" y="1774795"/>
                  <a:pt x="359000" y="1771336"/>
                  <a:pt x="355084" y="1762925"/>
                </a:cubicBezTo>
                <a:cubicBezTo>
                  <a:pt x="347252" y="1763868"/>
                  <a:pt x="352405" y="1773773"/>
                  <a:pt x="346016" y="1773773"/>
                </a:cubicBezTo>
                <a:cubicBezTo>
                  <a:pt x="346016" y="1776760"/>
                  <a:pt x="351169" y="1774873"/>
                  <a:pt x="352405" y="1772829"/>
                </a:cubicBezTo>
                <a:cubicBezTo>
                  <a:pt x="361474" y="1772829"/>
                  <a:pt x="343336" y="1777861"/>
                  <a:pt x="353642" y="1778804"/>
                </a:cubicBezTo>
                <a:cubicBezTo>
                  <a:pt x="352405" y="1782734"/>
                  <a:pt x="342100" y="1779748"/>
                  <a:pt x="340657" y="1783835"/>
                </a:cubicBezTo>
                <a:cubicBezTo>
                  <a:pt x="336741" y="1775817"/>
                  <a:pt x="327673" y="1778804"/>
                  <a:pt x="312009" y="1775817"/>
                </a:cubicBezTo>
                <a:cubicBezTo>
                  <a:pt x="313452" y="1767956"/>
                  <a:pt x="308093" y="1763868"/>
                  <a:pt x="293872" y="1764968"/>
                </a:cubicBezTo>
                <a:cubicBezTo>
                  <a:pt x="293872" y="1756007"/>
                  <a:pt x="278208" y="1754906"/>
                  <a:pt x="283361" y="1744058"/>
                </a:cubicBezTo>
                <a:cubicBezTo>
                  <a:pt x="283361" y="1744058"/>
                  <a:pt x="283361" y="1744058"/>
                  <a:pt x="267697" y="1743115"/>
                </a:cubicBezTo>
                <a:cubicBezTo>
                  <a:pt x="266461" y="1738084"/>
                  <a:pt x="263782" y="1732109"/>
                  <a:pt x="267697" y="1723148"/>
                </a:cubicBezTo>
                <a:cubicBezTo>
                  <a:pt x="271613" y="1721104"/>
                  <a:pt x="278208" y="1722204"/>
                  <a:pt x="286040" y="1723148"/>
                </a:cubicBezTo>
                <a:cubicBezTo>
                  <a:pt x="283361" y="1727079"/>
                  <a:pt x="284804" y="1730065"/>
                  <a:pt x="286040" y="1733052"/>
                </a:cubicBezTo>
                <a:cubicBezTo>
                  <a:pt x="291193" y="1733052"/>
                  <a:pt x="297788" y="1725192"/>
                  <a:pt x="295109" y="1733052"/>
                </a:cubicBezTo>
                <a:cubicBezTo>
                  <a:pt x="300261" y="1732109"/>
                  <a:pt x="302941" y="1729122"/>
                  <a:pt x="304177" y="1724091"/>
                </a:cubicBezTo>
                <a:cubicBezTo>
                  <a:pt x="302941" y="1721104"/>
                  <a:pt x="300261" y="1725192"/>
                  <a:pt x="295109" y="1723148"/>
                </a:cubicBezTo>
                <a:cubicBezTo>
                  <a:pt x="310773" y="1716230"/>
                  <a:pt x="279445" y="1714186"/>
                  <a:pt x="292636" y="1707268"/>
                </a:cubicBezTo>
                <a:cubicBezTo>
                  <a:pt x="286040" y="1708291"/>
                  <a:pt x="282433" y="1708055"/>
                  <a:pt x="280321" y="1706561"/>
                </a:cubicBezTo>
                <a:lnTo>
                  <a:pt x="279193" y="1703780"/>
                </a:lnTo>
                <a:lnTo>
                  <a:pt x="272494" y="1704995"/>
                </a:lnTo>
                <a:lnTo>
                  <a:pt x="271974" y="1708762"/>
                </a:lnTo>
                <a:cubicBezTo>
                  <a:pt x="271974" y="1712496"/>
                  <a:pt x="272335" y="1716230"/>
                  <a:pt x="269140" y="1719217"/>
                </a:cubicBezTo>
                <a:cubicBezTo>
                  <a:pt x="264554" y="1716977"/>
                  <a:pt x="262996" y="1713312"/>
                  <a:pt x="262809" y="1709010"/>
                </a:cubicBezTo>
                <a:lnTo>
                  <a:pt x="263122" y="1706694"/>
                </a:lnTo>
                <a:lnTo>
                  <a:pt x="253804" y="1708384"/>
                </a:lnTo>
                <a:cubicBezTo>
                  <a:pt x="249888" y="1712471"/>
                  <a:pt x="260398" y="1709485"/>
                  <a:pt x="256483" y="1713414"/>
                </a:cubicBezTo>
                <a:cubicBezTo>
                  <a:pt x="240820" y="1719387"/>
                  <a:pt x="234226" y="1723317"/>
                  <a:pt x="214647" y="1720331"/>
                </a:cubicBezTo>
                <a:cubicBezTo>
                  <a:pt x="202901" y="1728347"/>
                  <a:pt x="197748" y="1740294"/>
                  <a:pt x="182086" y="1744223"/>
                </a:cubicBezTo>
                <a:cubicBezTo>
                  <a:pt x="186001" y="1730234"/>
                  <a:pt x="196512" y="1717344"/>
                  <a:pt x="204343" y="1707441"/>
                </a:cubicBezTo>
                <a:cubicBezTo>
                  <a:pt x="206816" y="1704454"/>
                  <a:pt x="200428" y="1704454"/>
                  <a:pt x="200428" y="1702411"/>
                </a:cubicBezTo>
                <a:cubicBezTo>
                  <a:pt x="191360" y="1702411"/>
                  <a:pt x="189917" y="1702411"/>
                  <a:pt x="188681" y="1698481"/>
                </a:cubicBezTo>
                <a:cubicBezTo>
                  <a:pt x="179613" y="1697538"/>
                  <a:pt x="178170" y="1706498"/>
                  <a:pt x="169103" y="1701467"/>
                </a:cubicBezTo>
                <a:cubicBezTo>
                  <a:pt x="170339" y="1706498"/>
                  <a:pt x="165186" y="1707441"/>
                  <a:pt x="161272" y="1709485"/>
                </a:cubicBezTo>
                <a:cubicBezTo>
                  <a:pt x="160034" y="1713414"/>
                  <a:pt x="165186" y="1716401"/>
                  <a:pt x="165186" y="1720331"/>
                </a:cubicBezTo>
                <a:cubicBezTo>
                  <a:pt x="160034" y="1721274"/>
                  <a:pt x="158798" y="1719387"/>
                  <a:pt x="156119" y="1719387"/>
                </a:cubicBezTo>
                <a:cubicBezTo>
                  <a:pt x="140457" y="1729290"/>
                  <a:pt x="123558" y="1738250"/>
                  <a:pt x="102743" y="1745167"/>
                </a:cubicBezTo>
                <a:cubicBezTo>
                  <a:pt x="102743" y="1748153"/>
                  <a:pt x="102743" y="1752083"/>
                  <a:pt x="98827" y="1753183"/>
                </a:cubicBezTo>
                <a:cubicBezTo>
                  <a:pt x="80485" y="1741237"/>
                  <a:pt x="124794" y="1733220"/>
                  <a:pt x="127473" y="1718287"/>
                </a:cubicBezTo>
                <a:cubicBezTo>
                  <a:pt x="120878" y="1714357"/>
                  <a:pt x="114490" y="1718287"/>
                  <a:pt x="110574" y="1714357"/>
                </a:cubicBezTo>
                <a:cubicBezTo>
                  <a:pt x="111811" y="1712471"/>
                  <a:pt x="126236" y="1708384"/>
                  <a:pt x="111811" y="1707441"/>
                </a:cubicBezTo>
                <a:cubicBezTo>
                  <a:pt x="113047" y="1703511"/>
                  <a:pt x="120878" y="1704454"/>
                  <a:pt x="122321" y="1700525"/>
                </a:cubicBezTo>
                <a:cubicBezTo>
                  <a:pt x="128710" y="1701467"/>
                  <a:pt x="119642" y="1704454"/>
                  <a:pt x="120878" y="1706498"/>
                </a:cubicBezTo>
                <a:cubicBezTo>
                  <a:pt x="131389" y="1706498"/>
                  <a:pt x="129947" y="1699581"/>
                  <a:pt x="129947" y="1695494"/>
                </a:cubicBezTo>
                <a:cubicBezTo>
                  <a:pt x="144372" y="1692508"/>
                  <a:pt x="154882" y="1694552"/>
                  <a:pt x="169103" y="1690621"/>
                </a:cubicBezTo>
                <a:cubicBezTo>
                  <a:pt x="173018" y="1692508"/>
                  <a:pt x="173018" y="1695494"/>
                  <a:pt x="176934" y="1696595"/>
                </a:cubicBezTo>
                <a:cubicBezTo>
                  <a:pt x="184765" y="1692508"/>
                  <a:pt x="179613" y="1684648"/>
                  <a:pt x="171782" y="1683548"/>
                </a:cubicBezTo>
                <a:cubicBezTo>
                  <a:pt x="180849" y="1679618"/>
                  <a:pt x="183528" y="1668772"/>
                  <a:pt x="195275" y="1666729"/>
                </a:cubicBezTo>
                <a:cubicBezTo>
                  <a:pt x="212175" y="1666729"/>
                  <a:pt x="217326" y="1671758"/>
                  <a:pt x="227631" y="1673645"/>
                </a:cubicBezTo>
                <a:cubicBezTo>
                  <a:pt x="236905" y="1671758"/>
                  <a:pt x="240820" y="1665785"/>
                  <a:pt x="244736" y="1659812"/>
                </a:cubicBezTo>
                <a:cubicBezTo>
                  <a:pt x="251228" y="1660048"/>
                  <a:pt x="256174" y="1658486"/>
                  <a:pt x="260370" y="1655963"/>
                </a:cubicBezTo>
                <a:lnTo>
                  <a:pt x="268149" y="1649247"/>
                </a:lnTo>
                <a:lnTo>
                  <a:pt x="262287" y="1635261"/>
                </a:lnTo>
                <a:cubicBezTo>
                  <a:pt x="259195" y="1616926"/>
                  <a:pt x="266770" y="1593283"/>
                  <a:pt x="279445" y="1570172"/>
                </a:cubicBezTo>
                <a:cubicBezTo>
                  <a:pt x="273056" y="1569229"/>
                  <a:pt x="278208" y="1580077"/>
                  <a:pt x="269140" y="1575203"/>
                </a:cubicBezTo>
                <a:cubicBezTo>
                  <a:pt x="273056" y="1562154"/>
                  <a:pt x="273056" y="1552249"/>
                  <a:pt x="273056" y="1535426"/>
                </a:cubicBezTo>
                <a:cubicBezTo>
                  <a:pt x="275529" y="1537313"/>
                  <a:pt x="279445" y="1539356"/>
                  <a:pt x="286040" y="1539356"/>
                </a:cubicBezTo>
                <a:cubicBezTo>
                  <a:pt x="286040" y="1539356"/>
                  <a:pt x="286040" y="1539356"/>
                  <a:pt x="287277" y="1535426"/>
                </a:cubicBezTo>
                <a:cubicBezTo>
                  <a:pt x="287277" y="1528508"/>
                  <a:pt x="280887" y="1536369"/>
                  <a:pt x="275529" y="1533382"/>
                </a:cubicBezTo>
                <a:cubicBezTo>
                  <a:pt x="278208" y="1527408"/>
                  <a:pt x="288719" y="1531338"/>
                  <a:pt x="293872" y="1527408"/>
                </a:cubicBezTo>
                <a:cubicBezTo>
                  <a:pt x="293563" y="1525442"/>
                  <a:pt x="292597" y="1524401"/>
                  <a:pt x="291280" y="1523819"/>
                </a:cubicBezTo>
                <a:lnTo>
                  <a:pt x="288273" y="1523286"/>
                </a:lnTo>
                <a:lnTo>
                  <a:pt x="278534" y="1527615"/>
                </a:lnTo>
                <a:cubicBezTo>
                  <a:pt x="222479" y="1532645"/>
                  <a:pt x="196512" y="1538619"/>
                  <a:pt x="145815" y="1539561"/>
                </a:cubicBezTo>
                <a:cubicBezTo>
                  <a:pt x="141899" y="1539561"/>
                  <a:pt x="143136" y="1543491"/>
                  <a:pt x="140457" y="1544592"/>
                </a:cubicBezTo>
                <a:cubicBezTo>
                  <a:pt x="136541" y="1541605"/>
                  <a:pt x="127473" y="1541605"/>
                  <a:pt x="128710" y="1537518"/>
                </a:cubicBezTo>
                <a:cubicBezTo>
                  <a:pt x="124794" y="1537518"/>
                  <a:pt x="126236" y="1541605"/>
                  <a:pt x="122321" y="1541605"/>
                </a:cubicBezTo>
                <a:cubicBezTo>
                  <a:pt x="113047" y="1533588"/>
                  <a:pt x="100063" y="1534531"/>
                  <a:pt x="81928" y="1534531"/>
                </a:cubicBezTo>
                <a:cubicBezTo>
                  <a:pt x="80485" y="1532645"/>
                  <a:pt x="80485" y="1530601"/>
                  <a:pt x="80485" y="1528715"/>
                </a:cubicBezTo>
                <a:cubicBezTo>
                  <a:pt x="59671" y="1533588"/>
                  <a:pt x="54519" y="1519755"/>
                  <a:pt x="33704" y="1522742"/>
                </a:cubicBezTo>
                <a:cubicBezTo>
                  <a:pt x="42772" y="1491932"/>
                  <a:pt x="-5453" y="1474013"/>
                  <a:pt x="5059" y="1442261"/>
                </a:cubicBezTo>
                <a:cubicBezTo>
                  <a:pt x="16805" y="1443203"/>
                  <a:pt x="21957" y="1437230"/>
                  <a:pt x="28552" y="1434243"/>
                </a:cubicBezTo>
                <a:cubicBezTo>
                  <a:pt x="41535" y="1451221"/>
                  <a:pt x="46688" y="1471970"/>
                  <a:pt x="61113" y="1487845"/>
                </a:cubicBezTo>
                <a:cubicBezTo>
                  <a:pt x="67502" y="1489889"/>
                  <a:pt x="71418" y="1486903"/>
                  <a:pt x="74097" y="1485016"/>
                </a:cubicBezTo>
                <a:cubicBezTo>
                  <a:pt x="75334" y="1482029"/>
                  <a:pt x="63587" y="1485016"/>
                  <a:pt x="68945" y="1479986"/>
                </a:cubicBezTo>
                <a:cubicBezTo>
                  <a:pt x="93675" y="1483916"/>
                  <a:pt x="80485" y="1458136"/>
                  <a:pt x="83165" y="1447134"/>
                </a:cubicBezTo>
                <a:cubicBezTo>
                  <a:pt x="85844" y="1444147"/>
                  <a:pt x="92233" y="1444147"/>
                  <a:pt x="94911" y="1441317"/>
                </a:cubicBezTo>
                <a:cubicBezTo>
                  <a:pt x="89759" y="1432357"/>
                  <a:pt x="92233" y="1418368"/>
                  <a:pt x="100063" y="1412394"/>
                </a:cubicBezTo>
                <a:cubicBezTo>
                  <a:pt x="97591" y="1404534"/>
                  <a:pt x="96149" y="1395574"/>
                  <a:pt x="97591" y="1386615"/>
                </a:cubicBezTo>
                <a:cubicBezTo>
                  <a:pt x="98827" y="1378598"/>
                  <a:pt x="101507" y="1370738"/>
                  <a:pt x="110574" y="1365708"/>
                </a:cubicBezTo>
                <a:cubicBezTo>
                  <a:pt x="97591" y="1382685"/>
                  <a:pt x="98827" y="1403435"/>
                  <a:pt x="109338" y="1417424"/>
                </a:cubicBezTo>
                <a:cubicBezTo>
                  <a:pt x="122321" y="1414438"/>
                  <a:pt x="111811" y="1405478"/>
                  <a:pt x="113047" y="1399505"/>
                </a:cubicBezTo>
                <a:cubicBezTo>
                  <a:pt x="119642" y="1402491"/>
                  <a:pt x="120878" y="1407521"/>
                  <a:pt x="120878" y="1409408"/>
                </a:cubicBezTo>
                <a:cubicBezTo>
                  <a:pt x="137983" y="1406421"/>
                  <a:pt x="122321" y="1397618"/>
                  <a:pt x="120878" y="1391645"/>
                </a:cubicBezTo>
                <a:cubicBezTo>
                  <a:pt x="139220" y="1385672"/>
                  <a:pt x="139220" y="1367752"/>
                  <a:pt x="135305" y="1359735"/>
                </a:cubicBezTo>
                <a:cubicBezTo>
                  <a:pt x="129947" y="1361778"/>
                  <a:pt x="127473" y="1363822"/>
                  <a:pt x="122321" y="1364765"/>
                </a:cubicBezTo>
                <a:cubicBezTo>
                  <a:pt x="119642" y="1361778"/>
                  <a:pt x="118405" y="1359735"/>
                  <a:pt x="115726" y="1356749"/>
                </a:cubicBezTo>
                <a:cubicBezTo>
                  <a:pt x="110574" y="1357849"/>
                  <a:pt x="106658" y="1359735"/>
                  <a:pt x="105422" y="1364765"/>
                </a:cubicBezTo>
                <a:cubicBezTo>
                  <a:pt x="96149" y="1358792"/>
                  <a:pt x="88317" y="1367752"/>
                  <a:pt x="81928" y="1372625"/>
                </a:cubicBezTo>
                <a:cubicBezTo>
                  <a:pt x="72860" y="1369795"/>
                  <a:pt x="89759" y="1360836"/>
                  <a:pt x="92233" y="1364765"/>
                </a:cubicBezTo>
                <a:cubicBezTo>
                  <a:pt x="93675" y="1361778"/>
                  <a:pt x="92233" y="1358792"/>
                  <a:pt x="90996" y="1361778"/>
                </a:cubicBezTo>
                <a:cubicBezTo>
                  <a:pt x="88317" y="1360836"/>
                  <a:pt x="89759" y="1356749"/>
                  <a:pt x="92233" y="1356749"/>
                </a:cubicBezTo>
                <a:cubicBezTo>
                  <a:pt x="88317" y="1354863"/>
                  <a:pt x="83165" y="1350932"/>
                  <a:pt x="70182" y="1351876"/>
                </a:cubicBezTo>
                <a:cubicBezTo>
                  <a:pt x="78013" y="1341973"/>
                  <a:pt x="58435" y="1336943"/>
                  <a:pt x="61113" y="1326254"/>
                </a:cubicBezTo>
                <a:cubicBezTo>
                  <a:pt x="55755" y="1322167"/>
                  <a:pt x="50603" y="1330184"/>
                  <a:pt x="50603" y="1326254"/>
                </a:cubicBezTo>
                <a:cubicBezTo>
                  <a:pt x="50603" y="1323267"/>
                  <a:pt x="53282" y="1323267"/>
                  <a:pt x="55755" y="1323267"/>
                </a:cubicBezTo>
                <a:cubicBezTo>
                  <a:pt x="57198" y="1312264"/>
                  <a:pt x="61113" y="1307234"/>
                  <a:pt x="62350" y="1296388"/>
                </a:cubicBezTo>
                <a:cubicBezTo>
                  <a:pt x="57198" y="1289471"/>
                  <a:pt x="46688" y="1283498"/>
                  <a:pt x="55755" y="1269508"/>
                </a:cubicBezTo>
                <a:cubicBezTo>
                  <a:pt x="42772" y="1267622"/>
                  <a:pt x="40299" y="1271551"/>
                  <a:pt x="28552" y="1266521"/>
                </a:cubicBezTo>
                <a:cubicBezTo>
                  <a:pt x="25873" y="1253632"/>
                  <a:pt x="38857" y="1240742"/>
                  <a:pt x="52046" y="1225809"/>
                </a:cubicBezTo>
                <a:cubicBezTo>
                  <a:pt x="63587" y="1211033"/>
                  <a:pt x="71418" y="1197986"/>
                  <a:pt x="55755" y="1187140"/>
                </a:cubicBezTo>
                <a:cubicBezTo>
                  <a:pt x="65029" y="1182110"/>
                  <a:pt x="70182" y="1184153"/>
                  <a:pt x="75334" y="1190126"/>
                </a:cubicBezTo>
                <a:cubicBezTo>
                  <a:pt x="103980" y="1166234"/>
                  <a:pt x="135305" y="1128508"/>
                  <a:pt x="152203" y="1097699"/>
                </a:cubicBezTo>
                <a:cubicBezTo>
                  <a:pt x="147051" y="1098642"/>
                  <a:pt x="139220" y="1095655"/>
                  <a:pt x="133862" y="1101629"/>
                </a:cubicBezTo>
                <a:cubicBezTo>
                  <a:pt x="129947" y="1093768"/>
                  <a:pt x="122321" y="1097699"/>
                  <a:pt x="111811" y="1094712"/>
                </a:cubicBezTo>
                <a:cubicBezTo>
                  <a:pt x="118405" y="1091726"/>
                  <a:pt x="124794" y="1086853"/>
                  <a:pt x="129947" y="1080880"/>
                </a:cubicBezTo>
                <a:cubicBezTo>
                  <a:pt x="131389" y="1082766"/>
                  <a:pt x="133862" y="1087795"/>
                  <a:pt x="137983" y="1080880"/>
                </a:cubicBezTo>
                <a:cubicBezTo>
                  <a:pt x="139220" y="1082766"/>
                  <a:pt x="140457" y="1085752"/>
                  <a:pt x="139220" y="1088739"/>
                </a:cubicBezTo>
                <a:cubicBezTo>
                  <a:pt x="144372" y="1084809"/>
                  <a:pt x="144372" y="1082766"/>
                  <a:pt x="150967" y="1077893"/>
                </a:cubicBezTo>
                <a:cubicBezTo>
                  <a:pt x="153440" y="1073806"/>
                  <a:pt x="145815" y="1073806"/>
                  <a:pt x="145815" y="1070819"/>
                </a:cubicBezTo>
                <a:cubicBezTo>
                  <a:pt x="150967" y="1065946"/>
                  <a:pt x="156119" y="1065003"/>
                  <a:pt x="161272" y="1068933"/>
                </a:cubicBezTo>
                <a:cubicBezTo>
                  <a:pt x="163950" y="1059973"/>
                  <a:pt x="165186" y="1065003"/>
                  <a:pt x="171782" y="1062016"/>
                </a:cubicBezTo>
                <a:cubicBezTo>
                  <a:pt x="174255" y="1059973"/>
                  <a:pt x="163950" y="1056043"/>
                  <a:pt x="163950" y="1059030"/>
                </a:cubicBezTo>
                <a:cubicBezTo>
                  <a:pt x="170339" y="1054943"/>
                  <a:pt x="178170" y="1038123"/>
                  <a:pt x="179613" y="1027120"/>
                </a:cubicBezTo>
                <a:cubicBezTo>
                  <a:pt x="179613" y="1038123"/>
                  <a:pt x="196512" y="1012345"/>
                  <a:pt x="189917" y="1026177"/>
                </a:cubicBezTo>
                <a:cubicBezTo>
                  <a:pt x="214647" y="1001341"/>
                  <a:pt x="223921" y="989394"/>
                  <a:pt x="247209" y="973518"/>
                </a:cubicBezTo>
                <a:cubicBezTo>
                  <a:pt x="249888" y="968645"/>
                  <a:pt x="243293" y="974618"/>
                  <a:pt x="243293" y="968645"/>
                </a:cubicBezTo>
                <a:cubicBezTo>
                  <a:pt x="256483" y="963615"/>
                  <a:pt x="268024" y="947739"/>
                  <a:pt x="282450" y="952769"/>
                </a:cubicBezTo>
                <a:cubicBezTo>
                  <a:pt x="292960" y="939722"/>
                  <a:pt x="298112" y="933906"/>
                  <a:pt x="303265" y="925889"/>
                </a:cubicBezTo>
                <a:cubicBezTo>
                  <a:pt x="300585" y="922902"/>
                  <a:pt x="298112" y="924946"/>
                  <a:pt x="295433" y="927776"/>
                </a:cubicBezTo>
                <a:cubicBezTo>
                  <a:pt x="294196" y="919916"/>
                  <a:pt x="307180" y="921960"/>
                  <a:pt x="311096" y="921960"/>
                </a:cubicBezTo>
                <a:cubicBezTo>
                  <a:pt x="320163" y="907027"/>
                  <a:pt x="335826" y="899009"/>
                  <a:pt x="339742" y="885177"/>
                </a:cubicBezTo>
                <a:cubicBezTo>
                  <a:pt x="344894" y="890050"/>
                  <a:pt x="350252" y="884076"/>
                  <a:pt x="355404" y="886120"/>
                </a:cubicBezTo>
                <a:cubicBezTo>
                  <a:pt x="355404" y="883133"/>
                  <a:pt x="359319" y="880146"/>
                  <a:pt x="356641" y="878260"/>
                </a:cubicBezTo>
                <a:cubicBezTo>
                  <a:pt x="350252" y="877160"/>
                  <a:pt x="355404" y="884076"/>
                  <a:pt x="348809" y="884076"/>
                </a:cubicBezTo>
                <a:cubicBezTo>
                  <a:pt x="360556" y="869300"/>
                  <a:pt x="386729" y="848394"/>
                  <a:pt x="387966" y="831575"/>
                </a:cubicBezTo>
                <a:cubicBezTo>
                  <a:pt x="395797" y="827488"/>
                  <a:pt x="393117" y="831575"/>
                  <a:pt x="397033" y="834561"/>
                </a:cubicBezTo>
                <a:cubicBezTo>
                  <a:pt x="406101" y="825602"/>
                  <a:pt x="399713" y="820571"/>
                  <a:pt x="411459" y="811611"/>
                </a:cubicBezTo>
                <a:cubicBezTo>
                  <a:pt x="411459" y="816642"/>
                  <a:pt x="404865" y="824501"/>
                  <a:pt x="407544" y="829531"/>
                </a:cubicBezTo>
                <a:cubicBezTo>
                  <a:pt x="416611" y="822615"/>
                  <a:pt x="424442" y="825602"/>
                  <a:pt x="432274" y="816642"/>
                </a:cubicBezTo>
                <a:cubicBezTo>
                  <a:pt x="436189" y="812555"/>
                  <a:pt x="425680" y="816642"/>
                  <a:pt x="434747" y="809725"/>
                </a:cubicBezTo>
                <a:cubicBezTo>
                  <a:pt x="430831" y="805638"/>
                  <a:pt x="424442" y="810669"/>
                  <a:pt x="420527" y="805638"/>
                </a:cubicBezTo>
                <a:cubicBezTo>
                  <a:pt x="425680" y="803752"/>
                  <a:pt x="437426" y="801709"/>
                  <a:pt x="437426" y="807682"/>
                </a:cubicBezTo>
                <a:cubicBezTo>
                  <a:pt x="440105" y="804696"/>
                  <a:pt x="444021" y="802651"/>
                  <a:pt x="446494" y="804696"/>
                </a:cubicBezTo>
                <a:cubicBezTo>
                  <a:pt x="447937" y="799665"/>
                  <a:pt x="450409" y="793849"/>
                  <a:pt x="455562" y="787876"/>
                </a:cubicBezTo>
                <a:cubicBezTo>
                  <a:pt x="449173" y="785832"/>
                  <a:pt x="449173" y="793849"/>
                  <a:pt x="445257" y="795736"/>
                </a:cubicBezTo>
                <a:cubicBezTo>
                  <a:pt x="441342" y="787876"/>
                  <a:pt x="457004" y="777816"/>
                  <a:pt x="463393" y="768855"/>
                </a:cubicBezTo>
                <a:cubicBezTo>
                  <a:pt x="463393" y="773886"/>
                  <a:pt x="460920" y="779859"/>
                  <a:pt x="457004" y="785832"/>
                </a:cubicBezTo>
                <a:cubicBezTo>
                  <a:pt x="464836" y="784889"/>
                  <a:pt x="468751" y="780803"/>
                  <a:pt x="472667" y="775929"/>
                </a:cubicBezTo>
                <a:cubicBezTo>
                  <a:pt x="472667" y="777816"/>
                  <a:pt x="472667" y="778916"/>
                  <a:pt x="475140" y="780803"/>
                </a:cubicBezTo>
                <a:cubicBezTo>
                  <a:pt x="485650" y="769956"/>
                  <a:pt x="492039" y="766026"/>
                  <a:pt x="502549" y="754080"/>
                </a:cubicBezTo>
                <a:cubicBezTo>
                  <a:pt x="506465" y="754080"/>
                  <a:pt x="508938" y="754080"/>
                  <a:pt x="512854" y="752980"/>
                </a:cubicBezTo>
                <a:cubicBezTo>
                  <a:pt x="516769" y="747163"/>
                  <a:pt x="515532" y="745120"/>
                  <a:pt x="526043" y="744177"/>
                </a:cubicBezTo>
                <a:cubicBezTo>
                  <a:pt x="526043" y="742133"/>
                  <a:pt x="527279" y="740090"/>
                  <a:pt x="527279" y="738204"/>
                </a:cubicBezTo>
                <a:cubicBezTo>
                  <a:pt x="523364" y="736160"/>
                  <a:pt x="516769" y="745120"/>
                  <a:pt x="512854" y="744177"/>
                </a:cubicBezTo>
                <a:cubicBezTo>
                  <a:pt x="511617" y="741190"/>
                  <a:pt x="526043" y="735217"/>
                  <a:pt x="529959" y="734116"/>
                </a:cubicBezTo>
                <a:cubicBezTo>
                  <a:pt x="524601" y="731130"/>
                  <a:pt x="542942" y="726257"/>
                  <a:pt x="540263" y="717297"/>
                </a:cubicBezTo>
                <a:cubicBezTo>
                  <a:pt x="542942" y="718240"/>
                  <a:pt x="541706" y="719341"/>
                  <a:pt x="540263" y="720284"/>
                </a:cubicBezTo>
                <a:cubicBezTo>
                  <a:pt x="555926" y="712267"/>
                  <a:pt x="568909" y="699378"/>
                  <a:pt x="583335" y="685545"/>
                </a:cubicBezTo>
                <a:cubicBezTo>
                  <a:pt x="598998" y="672655"/>
                  <a:pt x="614454" y="660709"/>
                  <a:pt x="632796" y="654736"/>
                </a:cubicBezTo>
                <a:cubicBezTo>
                  <a:pt x="636711" y="650806"/>
                  <a:pt x="639184" y="646719"/>
                  <a:pt x="645779" y="642789"/>
                </a:cubicBezTo>
                <a:cubicBezTo>
                  <a:pt x="649694" y="642789"/>
                  <a:pt x="652373" y="643732"/>
                  <a:pt x="653611" y="646719"/>
                </a:cubicBezTo>
                <a:cubicBezTo>
                  <a:pt x="657525" y="644832"/>
                  <a:pt x="661441" y="640745"/>
                  <a:pt x="663914" y="642789"/>
                </a:cubicBezTo>
                <a:cubicBezTo>
                  <a:pt x="666594" y="640745"/>
                  <a:pt x="671952" y="631943"/>
                  <a:pt x="663914" y="634930"/>
                </a:cubicBezTo>
                <a:cubicBezTo>
                  <a:pt x="662678" y="630842"/>
                  <a:pt x="677104" y="629899"/>
                  <a:pt x="673188" y="635872"/>
                </a:cubicBezTo>
                <a:cubicBezTo>
                  <a:pt x="677104" y="639802"/>
                  <a:pt x="686172" y="631943"/>
                  <a:pt x="694003" y="628799"/>
                </a:cubicBezTo>
                <a:cubicBezTo>
                  <a:pt x="692767" y="622983"/>
                  <a:pt x="684935" y="630842"/>
                  <a:pt x="681019" y="629899"/>
                </a:cubicBezTo>
                <a:cubicBezTo>
                  <a:pt x="697919" y="619996"/>
                  <a:pt x="704307" y="617953"/>
                  <a:pt x="718734" y="604120"/>
                </a:cubicBezTo>
                <a:cubicBezTo>
                  <a:pt x="727801" y="602077"/>
                  <a:pt x="709665" y="609936"/>
                  <a:pt x="710902" y="611980"/>
                </a:cubicBezTo>
                <a:cubicBezTo>
                  <a:pt x="721412" y="615909"/>
                  <a:pt x="735632" y="612922"/>
                  <a:pt x="750059" y="608993"/>
                </a:cubicBezTo>
                <a:cubicBezTo>
                  <a:pt x="742227" y="617010"/>
                  <a:pt x="725328" y="612922"/>
                  <a:pt x="713581" y="617953"/>
                </a:cubicBezTo>
                <a:cubicBezTo>
                  <a:pt x="717497" y="625812"/>
                  <a:pt x="687408" y="634930"/>
                  <a:pt x="671952" y="642789"/>
                </a:cubicBezTo>
                <a:cubicBezTo>
                  <a:pt x="669273" y="643732"/>
                  <a:pt x="670509" y="644832"/>
                  <a:pt x="668036" y="646719"/>
                </a:cubicBezTo>
                <a:cubicBezTo>
                  <a:pt x="669273" y="648762"/>
                  <a:pt x="671952" y="647819"/>
                  <a:pt x="675661" y="646719"/>
                </a:cubicBezTo>
                <a:cubicBezTo>
                  <a:pt x="668036" y="655678"/>
                  <a:pt x="639184" y="655678"/>
                  <a:pt x="643100" y="669669"/>
                </a:cubicBezTo>
                <a:cubicBezTo>
                  <a:pt x="652373" y="669669"/>
                  <a:pt x="650931" y="657722"/>
                  <a:pt x="661441" y="664638"/>
                </a:cubicBezTo>
                <a:cubicBezTo>
                  <a:pt x="663914" y="662595"/>
                  <a:pt x="668036" y="653635"/>
                  <a:pt x="673188" y="655678"/>
                </a:cubicBezTo>
                <a:cubicBezTo>
                  <a:pt x="653611" y="683501"/>
                  <a:pt x="601471" y="697334"/>
                  <a:pt x="587250" y="717297"/>
                </a:cubicBezTo>
                <a:cubicBezTo>
                  <a:pt x="600234" y="711324"/>
                  <a:pt x="611981" y="706294"/>
                  <a:pt x="624964" y="704408"/>
                </a:cubicBezTo>
                <a:cubicBezTo>
                  <a:pt x="628880" y="706294"/>
                  <a:pt x="613217" y="709280"/>
                  <a:pt x="622285" y="712267"/>
                </a:cubicBezTo>
                <a:cubicBezTo>
                  <a:pt x="627644" y="713368"/>
                  <a:pt x="637948" y="700320"/>
                  <a:pt x="645779" y="703307"/>
                </a:cubicBezTo>
                <a:cubicBezTo>
                  <a:pt x="650931" y="698434"/>
                  <a:pt x="639184" y="704408"/>
                  <a:pt x="637948" y="699378"/>
                </a:cubicBezTo>
                <a:cubicBezTo>
                  <a:pt x="643100" y="701421"/>
                  <a:pt x="653611" y="690418"/>
                  <a:pt x="645779" y="693405"/>
                </a:cubicBezTo>
                <a:cubicBezTo>
                  <a:pt x="659999" y="686488"/>
                  <a:pt x="705750" y="673598"/>
                  <a:pt x="714817" y="658665"/>
                </a:cubicBezTo>
                <a:cubicBezTo>
                  <a:pt x="723886" y="657722"/>
                  <a:pt x="713581" y="665582"/>
                  <a:pt x="716054" y="668568"/>
                </a:cubicBezTo>
                <a:cubicBezTo>
                  <a:pt x="722648" y="660709"/>
                  <a:pt x="735632" y="652692"/>
                  <a:pt x="746142" y="644832"/>
                </a:cubicBezTo>
                <a:cubicBezTo>
                  <a:pt x="752531" y="642789"/>
                  <a:pt x="744700" y="647819"/>
                  <a:pt x="752531" y="647819"/>
                </a:cubicBezTo>
                <a:cubicBezTo>
                  <a:pt x="757684" y="644832"/>
                  <a:pt x="759126" y="642789"/>
                  <a:pt x="755210" y="639802"/>
                </a:cubicBezTo>
                <a:cubicBezTo>
                  <a:pt x="760362" y="642789"/>
                  <a:pt x="773346" y="637759"/>
                  <a:pt x="772109" y="642789"/>
                </a:cubicBezTo>
                <a:cubicBezTo>
                  <a:pt x="777262" y="636816"/>
                  <a:pt x="783857" y="630842"/>
                  <a:pt x="792924" y="624869"/>
                </a:cubicBezTo>
                <a:cubicBezTo>
                  <a:pt x="794161" y="627856"/>
                  <a:pt x="790245" y="629899"/>
                  <a:pt x="791687" y="631943"/>
                </a:cubicBezTo>
                <a:cubicBezTo>
                  <a:pt x="804671" y="617010"/>
                  <a:pt x="825485" y="614966"/>
                  <a:pt x="838469" y="604120"/>
                </a:cubicBezTo>
                <a:cubicBezTo>
                  <a:pt x="839912" y="606006"/>
                  <a:pt x="837233" y="607107"/>
                  <a:pt x="838469" y="608050"/>
                </a:cubicBezTo>
                <a:cubicBezTo>
                  <a:pt x="860727" y="597047"/>
                  <a:pt x="880305" y="591074"/>
                  <a:pt x="898440" y="585100"/>
                </a:cubicBezTo>
                <a:cubicBezTo>
                  <a:pt x="915339" y="579284"/>
                  <a:pt x="932239" y="573311"/>
                  <a:pt x="953053" y="563408"/>
                </a:cubicBezTo>
                <a:cubicBezTo>
                  <a:pt x="953053" y="567337"/>
                  <a:pt x="949138" y="571267"/>
                  <a:pt x="940069" y="573311"/>
                </a:cubicBezTo>
                <a:cubicBezTo>
                  <a:pt x="954496" y="579284"/>
                  <a:pt x="975311" y="563408"/>
                  <a:pt x="992209" y="559321"/>
                </a:cubicBezTo>
                <a:cubicBezTo>
                  <a:pt x="996125" y="558378"/>
                  <a:pt x="1001277" y="561364"/>
                  <a:pt x="1005192" y="561364"/>
                </a:cubicBezTo>
                <a:cubicBezTo>
                  <a:pt x="1009109" y="560421"/>
                  <a:pt x="1007872" y="554448"/>
                  <a:pt x="1007872" y="554448"/>
                </a:cubicBezTo>
                <a:cubicBezTo>
                  <a:pt x="1015703" y="552404"/>
                  <a:pt x="1037754" y="545488"/>
                  <a:pt x="1042907" y="548475"/>
                </a:cubicBezTo>
                <a:cubicBezTo>
                  <a:pt x="1033838" y="552404"/>
                  <a:pt x="1020855" y="554448"/>
                  <a:pt x="1016940" y="559321"/>
                </a:cubicBezTo>
                <a:cubicBezTo>
                  <a:pt x="1026007" y="563408"/>
                  <a:pt x="1045586" y="556334"/>
                  <a:pt x="1053417" y="563408"/>
                </a:cubicBezTo>
                <a:cubicBezTo>
                  <a:pt x="1033838" y="566237"/>
                  <a:pt x="1033838" y="565294"/>
                  <a:pt x="1022092" y="570324"/>
                </a:cubicBezTo>
                <a:cubicBezTo>
                  <a:pt x="1018176" y="566237"/>
                  <a:pt x="1019619" y="564351"/>
                  <a:pt x="1027450" y="563408"/>
                </a:cubicBezTo>
                <a:cubicBezTo>
                  <a:pt x="1026007" y="561364"/>
                  <a:pt x="1022092" y="563408"/>
                  <a:pt x="1020855" y="561364"/>
                </a:cubicBezTo>
                <a:cubicBezTo>
                  <a:pt x="1011787" y="574254"/>
                  <a:pt x="989530" y="576297"/>
                  <a:pt x="967479" y="580227"/>
                </a:cubicBezTo>
                <a:cubicBezTo>
                  <a:pt x="946664" y="583214"/>
                  <a:pt x="924407" y="589187"/>
                  <a:pt x="915339" y="607107"/>
                </a:cubicBezTo>
                <a:cubicBezTo>
                  <a:pt x="898440" y="604120"/>
                  <a:pt x="867116" y="621882"/>
                  <a:pt x="848979" y="630842"/>
                </a:cubicBezTo>
                <a:cubicBezTo>
                  <a:pt x="847537" y="626913"/>
                  <a:pt x="852896" y="624869"/>
                  <a:pt x="851452" y="621882"/>
                </a:cubicBezTo>
                <a:cubicBezTo>
                  <a:pt x="837233" y="626913"/>
                  <a:pt x="843827" y="628799"/>
                  <a:pt x="843827" y="632886"/>
                </a:cubicBezTo>
                <a:cubicBezTo>
                  <a:pt x="834553" y="632886"/>
                  <a:pt x="835996" y="633829"/>
                  <a:pt x="824249" y="639802"/>
                </a:cubicBezTo>
                <a:cubicBezTo>
                  <a:pt x="815182" y="633829"/>
                  <a:pt x="804671" y="647819"/>
                  <a:pt x="792924" y="644832"/>
                </a:cubicBezTo>
                <a:cubicBezTo>
                  <a:pt x="790245" y="645776"/>
                  <a:pt x="791687" y="646719"/>
                  <a:pt x="789009" y="648762"/>
                </a:cubicBezTo>
                <a:cubicBezTo>
                  <a:pt x="791687" y="652692"/>
                  <a:pt x="798076" y="649705"/>
                  <a:pt x="803435" y="649705"/>
                </a:cubicBezTo>
                <a:cubicBezTo>
                  <a:pt x="782620" y="655678"/>
                  <a:pt x="748615" y="675642"/>
                  <a:pt x="723886" y="676585"/>
                </a:cubicBezTo>
                <a:cubicBezTo>
                  <a:pt x="719970" y="679572"/>
                  <a:pt x="722648" y="683501"/>
                  <a:pt x="719970" y="686488"/>
                </a:cubicBezTo>
                <a:cubicBezTo>
                  <a:pt x="709665" y="680514"/>
                  <a:pt x="703071" y="697334"/>
                  <a:pt x="701834" y="689474"/>
                </a:cubicBezTo>
                <a:cubicBezTo>
                  <a:pt x="696476" y="696391"/>
                  <a:pt x="690087" y="701421"/>
                  <a:pt x="688850" y="711324"/>
                </a:cubicBezTo>
                <a:cubicBezTo>
                  <a:pt x="677104" y="719341"/>
                  <a:pt x="691324" y="701421"/>
                  <a:pt x="679577" y="709280"/>
                </a:cubicBezTo>
                <a:cubicBezTo>
                  <a:pt x="677104" y="707394"/>
                  <a:pt x="687408" y="704408"/>
                  <a:pt x="690087" y="701421"/>
                </a:cubicBezTo>
                <a:cubicBezTo>
                  <a:pt x="674425" y="702364"/>
                  <a:pt x="662678" y="707394"/>
                  <a:pt x="650931" y="721227"/>
                </a:cubicBezTo>
                <a:cubicBezTo>
                  <a:pt x="657525" y="723271"/>
                  <a:pt x="665357" y="717297"/>
                  <a:pt x="673188" y="716354"/>
                </a:cubicBezTo>
                <a:cubicBezTo>
                  <a:pt x="677104" y="720284"/>
                  <a:pt x="668036" y="724214"/>
                  <a:pt x="674425" y="728143"/>
                </a:cubicBezTo>
                <a:cubicBezTo>
                  <a:pt x="654847" y="736160"/>
                  <a:pt x="670509" y="739147"/>
                  <a:pt x="657525" y="742133"/>
                </a:cubicBezTo>
                <a:cubicBezTo>
                  <a:pt x="661441" y="743076"/>
                  <a:pt x="665357" y="742133"/>
                  <a:pt x="669273" y="739147"/>
                </a:cubicBezTo>
                <a:cubicBezTo>
                  <a:pt x="668036" y="746063"/>
                  <a:pt x="654847" y="752036"/>
                  <a:pt x="644542" y="758953"/>
                </a:cubicBezTo>
                <a:cubicBezTo>
                  <a:pt x="654847" y="766026"/>
                  <a:pt x="650931" y="752980"/>
                  <a:pt x="665357" y="748107"/>
                </a:cubicBezTo>
                <a:cubicBezTo>
                  <a:pt x="665357" y="750150"/>
                  <a:pt x="662678" y="752980"/>
                  <a:pt x="665357" y="755023"/>
                </a:cubicBezTo>
                <a:cubicBezTo>
                  <a:pt x="691324" y="746063"/>
                  <a:pt x="709665" y="742133"/>
                  <a:pt x="734396" y="733173"/>
                </a:cubicBezTo>
                <a:cubicBezTo>
                  <a:pt x="730480" y="720284"/>
                  <a:pt x="752531" y="730187"/>
                  <a:pt x="766957" y="723271"/>
                </a:cubicBezTo>
                <a:cubicBezTo>
                  <a:pt x="762011" y="726218"/>
                  <a:pt x="754167" y="730315"/>
                  <a:pt x="754380" y="734301"/>
                </a:cubicBezTo>
                <a:lnTo>
                  <a:pt x="757596" y="738101"/>
                </a:lnTo>
                <a:lnTo>
                  <a:pt x="757479" y="738303"/>
                </a:lnTo>
                <a:lnTo>
                  <a:pt x="753736" y="740119"/>
                </a:lnTo>
                <a:cubicBezTo>
                  <a:pt x="750509" y="740591"/>
                  <a:pt x="749080" y="737614"/>
                  <a:pt x="746142" y="739147"/>
                </a:cubicBezTo>
                <a:cubicBezTo>
                  <a:pt x="747379" y="744177"/>
                  <a:pt x="752531" y="741190"/>
                  <a:pt x="756447" y="740090"/>
                </a:cubicBezTo>
                <a:lnTo>
                  <a:pt x="757479" y="738303"/>
                </a:lnTo>
                <a:lnTo>
                  <a:pt x="757684" y="738204"/>
                </a:lnTo>
                <a:lnTo>
                  <a:pt x="757596" y="738101"/>
                </a:lnTo>
                <a:lnTo>
                  <a:pt x="760801" y="732552"/>
                </a:lnTo>
                <a:cubicBezTo>
                  <a:pt x="762925" y="730820"/>
                  <a:pt x="765618" y="729705"/>
                  <a:pt x="768555" y="728713"/>
                </a:cubicBezTo>
                <a:lnTo>
                  <a:pt x="776005" y="726207"/>
                </a:lnTo>
                <a:lnTo>
                  <a:pt x="776025" y="726257"/>
                </a:lnTo>
                <a:lnTo>
                  <a:pt x="776151" y="726159"/>
                </a:lnTo>
                <a:lnTo>
                  <a:pt x="777777" y="725612"/>
                </a:lnTo>
                <a:cubicBezTo>
                  <a:pt x="780881" y="724371"/>
                  <a:pt x="783908" y="722760"/>
                  <a:pt x="786535" y="720284"/>
                </a:cubicBezTo>
                <a:cubicBezTo>
                  <a:pt x="783857" y="718791"/>
                  <a:pt x="782878" y="720009"/>
                  <a:pt x="781744" y="721738"/>
                </a:cubicBezTo>
                <a:lnTo>
                  <a:pt x="776151" y="726159"/>
                </a:lnTo>
                <a:lnTo>
                  <a:pt x="776005" y="726207"/>
                </a:lnTo>
                <a:lnTo>
                  <a:pt x="773346" y="719341"/>
                </a:lnTo>
                <a:cubicBezTo>
                  <a:pt x="785093" y="712267"/>
                  <a:pt x="787772" y="717297"/>
                  <a:pt x="792924" y="721227"/>
                </a:cubicBezTo>
                <a:cubicBezTo>
                  <a:pt x="803435" y="710381"/>
                  <a:pt x="811266" y="707394"/>
                  <a:pt x="830638" y="699378"/>
                </a:cubicBezTo>
                <a:cubicBezTo>
                  <a:pt x="837233" y="695448"/>
                  <a:pt x="825485" y="697334"/>
                  <a:pt x="826722" y="694505"/>
                </a:cubicBezTo>
                <a:cubicBezTo>
                  <a:pt x="833317" y="693405"/>
                  <a:pt x="841148" y="689474"/>
                  <a:pt x="845064" y="695448"/>
                </a:cubicBezTo>
                <a:cubicBezTo>
                  <a:pt x="852896" y="692461"/>
                  <a:pt x="850216" y="689474"/>
                  <a:pt x="856811" y="687432"/>
                </a:cubicBezTo>
                <a:cubicBezTo>
                  <a:pt x="854132" y="685545"/>
                  <a:pt x="851452" y="685545"/>
                  <a:pt x="847537" y="686488"/>
                </a:cubicBezTo>
                <a:cubicBezTo>
                  <a:pt x="852896" y="679572"/>
                  <a:pt x="880305" y="685545"/>
                  <a:pt x="878862" y="671555"/>
                </a:cubicBezTo>
                <a:cubicBezTo>
                  <a:pt x="897204" y="670612"/>
                  <a:pt x="924407" y="662595"/>
                  <a:pt x="941306" y="647819"/>
                </a:cubicBezTo>
                <a:cubicBezTo>
                  <a:pt x="940069" y="653635"/>
                  <a:pt x="940069" y="653635"/>
                  <a:pt x="946664" y="655678"/>
                </a:cubicBezTo>
                <a:cubicBezTo>
                  <a:pt x="955732" y="647819"/>
                  <a:pt x="972631" y="640745"/>
                  <a:pt x="981699" y="647819"/>
                </a:cubicBezTo>
                <a:cubicBezTo>
                  <a:pt x="988294" y="641846"/>
                  <a:pt x="998804" y="636816"/>
                  <a:pt x="1006635" y="631943"/>
                </a:cubicBezTo>
                <a:cubicBezTo>
                  <a:pt x="1002720" y="628799"/>
                  <a:pt x="992209" y="636816"/>
                  <a:pt x="990973" y="629899"/>
                </a:cubicBezTo>
                <a:cubicBezTo>
                  <a:pt x="996125" y="631943"/>
                  <a:pt x="1009109" y="628799"/>
                  <a:pt x="1010551" y="623926"/>
                </a:cubicBezTo>
                <a:cubicBezTo>
                  <a:pt x="1016940" y="625812"/>
                  <a:pt x="1020855" y="625812"/>
                  <a:pt x="1019619" y="630842"/>
                </a:cubicBezTo>
                <a:cubicBezTo>
                  <a:pt x="1027450" y="627856"/>
                  <a:pt x="1033838" y="623926"/>
                  <a:pt x="1041670" y="620939"/>
                </a:cubicBezTo>
                <a:cubicBezTo>
                  <a:pt x="1035076" y="615909"/>
                  <a:pt x="1028686" y="624869"/>
                  <a:pt x="1026007" y="617010"/>
                </a:cubicBezTo>
                <a:cubicBezTo>
                  <a:pt x="1001277" y="626913"/>
                  <a:pt x="971395" y="620939"/>
                  <a:pt x="960884" y="636816"/>
                </a:cubicBezTo>
                <a:cubicBezTo>
                  <a:pt x="954496" y="634930"/>
                  <a:pt x="934917" y="641846"/>
                  <a:pt x="934917" y="646719"/>
                </a:cubicBezTo>
                <a:cubicBezTo>
                  <a:pt x="925850" y="638859"/>
                  <a:pt x="916782" y="644832"/>
                  <a:pt x="906272" y="652692"/>
                </a:cubicBezTo>
                <a:cubicBezTo>
                  <a:pt x="898440" y="642789"/>
                  <a:pt x="902356" y="638859"/>
                  <a:pt x="891845" y="625812"/>
                </a:cubicBezTo>
                <a:cubicBezTo>
                  <a:pt x="897204" y="621882"/>
                  <a:pt x="898440" y="617010"/>
                  <a:pt x="901119" y="612922"/>
                </a:cubicBezTo>
                <a:cubicBezTo>
                  <a:pt x="916782" y="615909"/>
                  <a:pt x="921934" y="608993"/>
                  <a:pt x="937597" y="604120"/>
                </a:cubicBezTo>
                <a:cubicBezTo>
                  <a:pt x="933681" y="617953"/>
                  <a:pt x="971395" y="600033"/>
                  <a:pt x="960884" y="597047"/>
                </a:cubicBezTo>
                <a:cubicBezTo>
                  <a:pt x="970158" y="597047"/>
                  <a:pt x="977784" y="602077"/>
                  <a:pt x="987057" y="603020"/>
                </a:cubicBezTo>
                <a:cubicBezTo>
                  <a:pt x="994888" y="601134"/>
                  <a:pt x="988294" y="596103"/>
                  <a:pt x="993446" y="593117"/>
                </a:cubicBezTo>
                <a:cubicBezTo>
                  <a:pt x="997362" y="599090"/>
                  <a:pt x="1010551" y="593117"/>
                  <a:pt x="1020855" y="590130"/>
                </a:cubicBezTo>
                <a:cubicBezTo>
                  <a:pt x="1019619" y="587143"/>
                  <a:pt x="1016940" y="588087"/>
                  <a:pt x="1014261" y="588087"/>
                </a:cubicBezTo>
                <a:cubicBezTo>
                  <a:pt x="1029923" y="583214"/>
                  <a:pt x="1058569" y="570324"/>
                  <a:pt x="1078147" y="573311"/>
                </a:cubicBezTo>
                <a:cubicBezTo>
                  <a:pt x="1080826" y="572210"/>
                  <a:pt x="1078147" y="569224"/>
                  <a:pt x="1078147" y="567337"/>
                </a:cubicBezTo>
                <a:cubicBezTo>
                  <a:pt x="1110709" y="570324"/>
                  <a:pt x="1132760" y="562307"/>
                  <a:pt x="1170680" y="554448"/>
                </a:cubicBezTo>
                <a:cubicBezTo>
                  <a:pt x="1169236" y="556334"/>
                  <a:pt x="1169236" y="558378"/>
                  <a:pt x="1169236" y="560421"/>
                </a:cubicBezTo>
                <a:cubicBezTo>
                  <a:pt x="1180984" y="558378"/>
                  <a:pt x="1187579" y="554448"/>
                  <a:pt x="1200562" y="557435"/>
                </a:cubicBezTo>
                <a:cubicBezTo>
                  <a:pt x="1180984" y="562307"/>
                  <a:pt x="1173153" y="570324"/>
                  <a:pt x="1145949" y="576297"/>
                </a:cubicBezTo>
                <a:cubicBezTo>
                  <a:pt x="1157696" y="582114"/>
                  <a:pt x="1174595" y="569224"/>
                  <a:pt x="1186136" y="577240"/>
                </a:cubicBezTo>
                <a:cubicBezTo>
                  <a:pt x="1171916" y="570324"/>
                  <a:pt x="1193967" y="570324"/>
                  <a:pt x="1201798" y="574254"/>
                </a:cubicBezTo>
                <a:cubicBezTo>
                  <a:pt x="1209630" y="567337"/>
                  <a:pt x="1220140" y="570324"/>
                  <a:pt x="1230445" y="563408"/>
                </a:cubicBezTo>
                <a:cubicBezTo>
                  <a:pt x="1234360" y="566237"/>
                  <a:pt x="1225292" y="571267"/>
                  <a:pt x="1231887" y="570324"/>
                </a:cubicBezTo>
                <a:cubicBezTo>
                  <a:pt x="1226528" y="575197"/>
                  <a:pt x="1191494" y="574254"/>
                  <a:pt x="1192731" y="586200"/>
                </a:cubicBezTo>
                <a:cubicBezTo>
                  <a:pt x="1182220" y="589187"/>
                  <a:pt x="1191494" y="584157"/>
                  <a:pt x="1187579" y="580227"/>
                </a:cubicBezTo>
                <a:cubicBezTo>
                  <a:pt x="1179747" y="583214"/>
                  <a:pt x="1183663" y="589187"/>
                  <a:pt x="1178511" y="593117"/>
                </a:cubicBezTo>
                <a:cubicBezTo>
                  <a:pt x="1190051" y="586200"/>
                  <a:pt x="1209630" y="591074"/>
                  <a:pt x="1214988" y="582114"/>
                </a:cubicBezTo>
                <a:cubicBezTo>
                  <a:pt x="1246107" y="582114"/>
                  <a:pt x="1283821" y="577240"/>
                  <a:pt x="1300926" y="565294"/>
                </a:cubicBezTo>
                <a:cubicBezTo>
                  <a:pt x="1299483" y="570324"/>
                  <a:pt x="1306078" y="568281"/>
                  <a:pt x="1307315" y="571267"/>
                </a:cubicBezTo>
                <a:cubicBezTo>
                  <a:pt x="1326893" y="562307"/>
                  <a:pt x="1359454" y="567337"/>
                  <a:pt x="1366049" y="551461"/>
                </a:cubicBezTo>
                <a:cubicBezTo>
                  <a:pt x="1371201" y="550361"/>
                  <a:pt x="1367285" y="556334"/>
                  <a:pt x="1369964" y="559321"/>
                </a:cubicBezTo>
                <a:cubicBezTo>
                  <a:pt x="1341318" y="572210"/>
                  <a:pt x="1316382" y="565294"/>
                  <a:pt x="1297010" y="579284"/>
                </a:cubicBezTo>
                <a:cubicBezTo>
                  <a:pt x="1298246" y="583214"/>
                  <a:pt x="1313909" y="578183"/>
                  <a:pt x="1308757" y="584157"/>
                </a:cubicBezTo>
                <a:cubicBezTo>
                  <a:pt x="1339876" y="575197"/>
                  <a:pt x="1388100" y="574254"/>
                  <a:pt x="1414067" y="568281"/>
                </a:cubicBezTo>
                <a:cubicBezTo>
                  <a:pt x="1417982" y="574254"/>
                  <a:pt x="1403763" y="569224"/>
                  <a:pt x="1404999" y="574254"/>
                </a:cubicBezTo>
                <a:cubicBezTo>
                  <a:pt x="1440239" y="566237"/>
                  <a:pt x="1483105" y="574254"/>
                  <a:pt x="1509278" y="558378"/>
                </a:cubicBezTo>
                <a:cubicBezTo>
                  <a:pt x="1510515" y="564351"/>
                  <a:pt x="1500211" y="561364"/>
                  <a:pt x="1501447" y="566237"/>
                </a:cubicBezTo>
                <a:cubicBezTo>
                  <a:pt x="1519583" y="560421"/>
                  <a:pt x="1532773" y="578183"/>
                  <a:pt x="1550908" y="565294"/>
                </a:cubicBezTo>
                <a:cubicBezTo>
                  <a:pt x="1554823" y="567337"/>
                  <a:pt x="1556060" y="570324"/>
                  <a:pt x="1558739" y="572210"/>
                </a:cubicBezTo>
                <a:cubicBezTo>
                  <a:pt x="1567807" y="571267"/>
                  <a:pt x="1583469" y="565294"/>
                  <a:pt x="1590064" y="568281"/>
                </a:cubicBezTo>
                <a:cubicBezTo>
                  <a:pt x="1590064" y="570324"/>
                  <a:pt x="1586148" y="569224"/>
                  <a:pt x="1583469" y="570324"/>
                </a:cubicBezTo>
                <a:cubicBezTo>
                  <a:pt x="1583469" y="571267"/>
                  <a:pt x="1586148" y="571267"/>
                  <a:pt x="1587385" y="571267"/>
                </a:cubicBezTo>
                <a:cubicBezTo>
                  <a:pt x="1579554" y="582114"/>
                  <a:pt x="1596452" y="581170"/>
                  <a:pt x="1617267" y="579284"/>
                </a:cubicBezTo>
                <a:cubicBezTo>
                  <a:pt x="1619946" y="578183"/>
                  <a:pt x="1623862" y="578183"/>
                  <a:pt x="1626335" y="577240"/>
                </a:cubicBezTo>
                <a:cubicBezTo>
                  <a:pt x="1626335" y="577240"/>
                  <a:pt x="1626335" y="577240"/>
                  <a:pt x="1632930" y="576297"/>
                </a:cubicBezTo>
                <a:cubicBezTo>
                  <a:pt x="1638082" y="576297"/>
                  <a:pt x="1641998" y="575197"/>
                  <a:pt x="1647356" y="574254"/>
                </a:cubicBezTo>
                <a:cubicBezTo>
                  <a:pt x="1654981" y="572210"/>
                  <a:pt x="1662813" y="571267"/>
                  <a:pt x="1666728" y="571267"/>
                </a:cubicBezTo>
                <a:cubicBezTo>
                  <a:pt x="1669407" y="571267"/>
                  <a:pt x="1665491" y="572210"/>
                  <a:pt x="1665491" y="574254"/>
                </a:cubicBezTo>
                <a:cubicBezTo>
                  <a:pt x="1681154" y="574254"/>
                  <a:pt x="1696816" y="574254"/>
                  <a:pt x="1711036" y="574254"/>
                </a:cubicBezTo>
                <a:cubicBezTo>
                  <a:pt x="1718868" y="573311"/>
                  <a:pt x="1726699" y="573311"/>
                  <a:pt x="1734530" y="574254"/>
                </a:cubicBezTo>
                <a:cubicBezTo>
                  <a:pt x="1742361" y="574254"/>
                  <a:pt x="1748750" y="575197"/>
                  <a:pt x="1756581" y="576297"/>
                </a:cubicBezTo>
                <a:cubicBezTo>
                  <a:pt x="1759260" y="576297"/>
                  <a:pt x="1758024" y="573311"/>
                  <a:pt x="1755345" y="573311"/>
                </a:cubicBezTo>
                <a:cubicBezTo>
                  <a:pt x="1761939" y="573311"/>
                  <a:pt x="1781312" y="588087"/>
                  <a:pt x="1794295" y="576297"/>
                </a:cubicBezTo>
                <a:cubicBezTo>
                  <a:pt x="1792853" y="578183"/>
                  <a:pt x="1790379" y="579284"/>
                  <a:pt x="1788937" y="581170"/>
                </a:cubicBezTo>
                <a:cubicBezTo>
                  <a:pt x="1795532" y="581170"/>
                  <a:pt x="1796768" y="573311"/>
                  <a:pt x="1804599" y="573311"/>
                </a:cubicBezTo>
                <a:cubicBezTo>
                  <a:pt x="1804599" y="577240"/>
                  <a:pt x="1802126" y="578183"/>
                  <a:pt x="1800684" y="580227"/>
                </a:cubicBezTo>
                <a:cubicBezTo>
                  <a:pt x="1812430" y="587143"/>
                  <a:pt x="1826857" y="577240"/>
                  <a:pt x="1833245" y="583214"/>
                </a:cubicBezTo>
                <a:cubicBezTo>
                  <a:pt x="1837161" y="583214"/>
                  <a:pt x="1838604" y="580227"/>
                  <a:pt x="1843755" y="581170"/>
                </a:cubicBezTo>
                <a:cubicBezTo>
                  <a:pt x="1847671" y="574254"/>
                  <a:pt x="1838604" y="577240"/>
                  <a:pt x="1841077" y="572210"/>
                </a:cubicBezTo>
                <a:cubicBezTo>
                  <a:pt x="1842313" y="573311"/>
                  <a:pt x="1843755" y="573311"/>
                  <a:pt x="1844992" y="574254"/>
                </a:cubicBezTo>
                <a:cubicBezTo>
                  <a:pt x="1846229" y="574254"/>
                  <a:pt x="1847671" y="574254"/>
                  <a:pt x="1848908" y="574254"/>
                </a:cubicBezTo>
                <a:cubicBezTo>
                  <a:pt x="1847671" y="575197"/>
                  <a:pt x="1846229" y="579284"/>
                  <a:pt x="1844992" y="579284"/>
                </a:cubicBezTo>
                <a:cubicBezTo>
                  <a:pt x="1844992" y="582114"/>
                  <a:pt x="1848908" y="576297"/>
                  <a:pt x="1847671" y="582114"/>
                </a:cubicBezTo>
                <a:cubicBezTo>
                  <a:pt x="1850144" y="580227"/>
                  <a:pt x="1852824" y="580227"/>
                  <a:pt x="1855502" y="576297"/>
                </a:cubicBezTo>
                <a:cubicBezTo>
                  <a:pt x="1856738" y="576297"/>
                  <a:pt x="1855502" y="580227"/>
                  <a:pt x="1855502" y="583214"/>
                </a:cubicBezTo>
                <a:cubicBezTo>
                  <a:pt x="1868486" y="587143"/>
                  <a:pt x="1880233" y="583214"/>
                  <a:pt x="1895895" y="579284"/>
                </a:cubicBezTo>
                <a:lnTo>
                  <a:pt x="1899057" y="582902"/>
                </a:lnTo>
                <a:lnTo>
                  <a:pt x="1899069" y="583170"/>
                </a:lnTo>
                <a:lnTo>
                  <a:pt x="1900426" y="584467"/>
                </a:lnTo>
                <a:lnTo>
                  <a:pt x="1904448" y="589069"/>
                </a:lnTo>
                <a:cubicBezTo>
                  <a:pt x="1908827" y="590680"/>
                  <a:pt x="1914031" y="590680"/>
                  <a:pt x="1917947" y="589187"/>
                </a:cubicBezTo>
                <a:cubicBezTo>
                  <a:pt x="1914031" y="595160"/>
                  <a:pt x="1924541" y="592174"/>
                  <a:pt x="1925778" y="597047"/>
                </a:cubicBezTo>
                <a:cubicBezTo>
                  <a:pt x="1927014" y="597047"/>
                  <a:pt x="1927014" y="595160"/>
                  <a:pt x="1928457" y="595160"/>
                </a:cubicBezTo>
                <a:cubicBezTo>
                  <a:pt x="1930930" y="589187"/>
                  <a:pt x="1925778" y="592174"/>
                  <a:pt x="1927014" y="587143"/>
                </a:cubicBezTo>
                <a:lnTo>
                  <a:pt x="1933291" y="596718"/>
                </a:lnTo>
                <a:lnTo>
                  <a:pt x="1932012" y="597204"/>
                </a:lnTo>
                <a:cubicBezTo>
                  <a:pt x="1931033" y="598068"/>
                  <a:pt x="1929693" y="599562"/>
                  <a:pt x="1927014" y="599090"/>
                </a:cubicBezTo>
                <a:cubicBezTo>
                  <a:pt x="1928457" y="603020"/>
                  <a:pt x="1934845" y="599090"/>
                  <a:pt x="1938761" y="599090"/>
                </a:cubicBezTo>
                <a:cubicBezTo>
                  <a:pt x="1939998" y="594060"/>
                  <a:pt x="1937525" y="594060"/>
                  <a:pt x="1934845" y="594060"/>
                </a:cubicBezTo>
                <a:cubicBezTo>
                  <a:pt x="1939998" y="596103"/>
                  <a:pt x="1958339" y="589187"/>
                  <a:pt x="1961019" y="599090"/>
                </a:cubicBezTo>
                <a:cubicBezTo>
                  <a:pt x="1966170" y="595160"/>
                  <a:pt x="1959576" y="594060"/>
                  <a:pt x="1964934" y="587143"/>
                </a:cubicBezTo>
                <a:cubicBezTo>
                  <a:pt x="1956897" y="589187"/>
                  <a:pt x="1945356" y="592174"/>
                  <a:pt x="1941440" y="580227"/>
                </a:cubicBezTo>
                <a:cubicBezTo>
                  <a:pt x="1946592" y="582114"/>
                  <a:pt x="1949272" y="578183"/>
                  <a:pt x="1950508" y="573311"/>
                </a:cubicBezTo>
                <a:cubicBezTo>
                  <a:pt x="1955660" y="573311"/>
                  <a:pt x="1962255" y="572210"/>
                  <a:pt x="1963491" y="577240"/>
                </a:cubicBezTo>
                <a:cubicBezTo>
                  <a:pt x="1966170" y="575197"/>
                  <a:pt x="1968850" y="574254"/>
                  <a:pt x="1971323" y="572210"/>
                </a:cubicBezTo>
                <a:cubicBezTo>
                  <a:pt x="1981833" y="575197"/>
                  <a:pt x="1994816" y="565294"/>
                  <a:pt x="2001205" y="577240"/>
                </a:cubicBezTo>
                <a:cubicBezTo>
                  <a:pt x="1997290" y="578183"/>
                  <a:pt x="1998732" y="572210"/>
                  <a:pt x="1996053" y="576297"/>
                </a:cubicBezTo>
                <a:cubicBezTo>
                  <a:pt x="1997290" y="580227"/>
                  <a:pt x="1999969" y="578183"/>
                  <a:pt x="2003884" y="577240"/>
                </a:cubicBezTo>
                <a:cubicBezTo>
                  <a:pt x="2003884" y="575197"/>
                  <a:pt x="2003884" y="574254"/>
                  <a:pt x="2003884" y="574254"/>
                </a:cubicBezTo>
                <a:cubicBezTo>
                  <a:pt x="2010479" y="575197"/>
                  <a:pt x="2026142" y="563408"/>
                  <a:pt x="2031294" y="573311"/>
                </a:cubicBezTo>
                <a:cubicBezTo>
                  <a:pt x="2037682" y="564351"/>
                  <a:pt x="2049429" y="576297"/>
                  <a:pt x="2053345" y="564351"/>
                </a:cubicBezTo>
                <a:cubicBezTo>
                  <a:pt x="2054581" y="568281"/>
                  <a:pt x="2056024" y="572210"/>
                  <a:pt x="2059940" y="574254"/>
                </a:cubicBezTo>
                <a:cubicBezTo>
                  <a:pt x="2059940" y="570324"/>
                  <a:pt x="2063855" y="565294"/>
                  <a:pt x="2063855" y="574254"/>
                </a:cubicBezTo>
                <a:cubicBezTo>
                  <a:pt x="2072923" y="569224"/>
                  <a:pt x="2078075" y="570324"/>
                  <a:pt x="2084670" y="569224"/>
                </a:cubicBezTo>
                <a:cubicBezTo>
                  <a:pt x="2091059" y="569224"/>
                  <a:pt x="2096417" y="568281"/>
                  <a:pt x="2100332" y="559321"/>
                </a:cubicBezTo>
                <a:cubicBezTo>
                  <a:pt x="2101569" y="560421"/>
                  <a:pt x="2101569" y="564351"/>
                  <a:pt x="2102805" y="564351"/>
                </a:cubicBezTo>
                <a:cubicBezTo>
                  <a:pt x="2102805" y="561364"/>
                  <a:pt x="2101569" y="561364"/>
                  <a:pt x="2101569" y="557435"/>
                </a:cubicBezTo>
                <a:cubicBezTo>
                  <a:pt x="2104248" y="564351"/>
                  <a:pt x="2105484" y="559321"/>
                  <a:pt x="2106721" y="562307"/>
                </a:cubicBezTo>
                <a:cubicBezTo>
                  <a:pt x="2108164" y="562307"/>
                  <a:pt x="2104248" y="568281"/>
                  <a:pt x="2108164" y="568281"/>
                </a:cubicBezTo>
                <a:cubicBezTo>
                  <a:pt x="2106721" y="571267"/>
                  <a:pt x="2104248" y="563408"/>
                  <a:pt x="2101569" y="566237"/>
                </a:cubicBezTo>
                <a:cubicBezTo>
                  <a:pt x="2101569" y="569224"/>
                  <a:pt x="2104248" y="568281"/>
                  <a:pt x="2105484" y="569224"/>
                </a:cubicBezTo>
                <a:cubicBezTo>
                  <a:pt x="2105484" y="574254"/>
                  <a:pt x="2102805" y="569224"/>
                  <a:pt x="2101569" y="569224"/>
                </a:cubicBezTo>
                <a:cubicBezTo>
                  <a:pt x="2104248" y="575197"/>
                  <a:pt x="2108164" y="574254"/>
                  <a:pt x="2110636" y="575197"/>
                </a:cubicBezTo>
                <a:cubicBezTo>
                  <a:pt x="2104248" y="578183"/>
                  <a:pt x="2094974" y="576297"/>
                  <a:pt x="2087143" y="575197"/>
                </a:cubicBezTo>
                <a:cubicBezTo>
                  <a:pt x="2083433" y="575197"/>
                  <a:pt x="2079518" y="575197"/>
                  <a:pt x="2075602" y="576297"/>
                </a:cubicBezTo>
                <a:cubicBezTo>
                  <a:pt x="2071686" y="577240"/>
                  <a:pt x="2063855" y="579284"/>
                  <a:pt x="2058703" y="583214"/>
                </a:cubicBezTo>
                <a:cubicBezTo>
                  <a:pt x="2056024" y="582114"/>
                  <a:pt x="2054581" y="578183"/>
                  <a:pt x="2052109" y="576297"/>
                </a:cubicBezTo>
                <a:cubicBezTo>
                  <a:pt x="2049429" y="577240"/>
                  <a:pt x="2050665" y="583214"/>
                  <a:pt x="2048193" y="582114"/>
                </a:cubicBezTo>
                <a:cubicBezTo>
                  <a:pt x="2046956" y="571267"/>
                  <a:pt x="2040361" y="589187"/>
                  <a:pt x="2041598" y="577240"/>
                </a:cubicBezTo>
                <a:cubicBezTo>
                  <a:pt x="2039125" y="583214"/>
                  <a:pt x="2035209" y="585100"/>
                  <a:pt x="2033766" y="588087"/>
                </a:cubicBezTo>
                <a:cubicBezTo>
                  <a:pt x="2031294" y="589187"/>
                  <a:pt x="2029851" y="586200"/>
                  <a:pt x="2029851" y="583214"/>
                </a:cubicBezTo>
                <a:cubicBezTo>
                  <a:pt x="2031294" y="594060"/>
                  <a:pt x="2010479" y="585100"/>
                  <a:pt x="2009037" y="591074"/>
                </a:cubicBezTo>
                <a:cubicBezTo>
                  <a:pt x="2005121" y="588087"/>
                  <a:pt x="1998732" y="590130"/>
                  <a:pt x="1990901" y="591074"/>
                </a:cubicBezTo>
                <a:cubicBezTo>
                  <a:pt x="1990901" y="602077"/>
                  <a:pt x="2005121" y="598147"/>
                  <a:pt x="2007800" y="594060"/>
                </a:cubicBezTo>
                <a:cubicBezTo>
                  <a:pt x="2012951" y="602077"/>
                  <a:pt x="2023462" y="599090"/>
                  <a:pt x="2027378" y="599090"/>
                </a:cubicBezTo>
                <a:cubicBezTo>
                  <a:pt x="2028615" y="604120"/>
                  <a:pt x="2024699" y="601134"/>
                  <a:pt x="2024699" y="606006"/>
                </a:cubicBezTo>
                <a:cubicBezTo>
                  <a:pt x="2024699" y="607107"/>
                  <a:pt x="2024699" y="608993"/>
                  <a:pt x="2024699" y="611036"/>
                </a:cubicBezTo>
                <a:cubicBezTo>
                  <a:pt x="2029851" y="609936"/>
                  <a:pt x="2036446" y="611036"/>
                  <a:pt x="2037682" y="605063"/>
                </a:cubicBezTo>
                <a:cubicBezTo>
                  <a:pt x="2048193" y="608050"/>
                  <a:pt x="2056024" y="603020"/>
                  <a:pt x="2066328" y="614966"/>
                </a:cubicBezTo>
                <a:cubicBezTo>
                  <a:pt x="2069007" y="612922"/>
                  <a:pt x="2071686" y="608993"/>
                  <a:pt x="2075602" y="609936"/>
                </a:cubicBezTo>
                <a:cubicBezTo>
                  <a:pt x="2078075" y="611980"/>
                  <a:pt x="2074160" y="612922"/>
                  <a:pt x="2071686" y="612922"/>
                </a:cubicBezTo>
                <a:cubicBezTo>
                  <a:pt x="2075602" y="615909"/>
                  <a:pt x="2079518" y="617953"/>
                  <a:pt x="2084670" y="614023"/>
                </a:cubicBezTo>
                <a:cubicBezTo>
                  <a:pt x="2084670" y="609936"/>
                  <a:pt x="2081991" y="614023"/>
                  <a:pt x="2079518" y="612922"/>
                </a:cubicBezTo>
                <a:cubicBezTo>
                  <a:pt x="2080754" y="603020"/>
                  <a:pt x="2085907" y="611036"/>
                  <a:pt x="2089822" y="608050"/>
                </a:cubicBezTo>
                <a:cubicBezTo>
                  <a:pt x="2088585" y="611036"/>
                  <a:pt x="2088585" y="611980"/>
                  <a:pt x="2087143" y="611980"/>
                </a:cubicBezTo>
                <a:cubicBezTo>
                  <a:pt x="2092501" y="617010"/>
                  <a:pt x="2097653" y="618896"/>
                  <a:pt x="2102805" y="614966"/>
                </a:cubicBezTo>
                <a:cubicBezTo>
                  <a:pt x="2102805" y="609936"/>
                  <a:pt x="2100332" y="614023"/>
                  <a:pt x="2100332" y="608993"/>
                </a:cubicBezTo>
                <a:cubicBezTo>
                  <a:pt x="2101569" y="609936"/>
                  <a:pt x="2105484" y="615909"/>
                  <a:pt x="2104248" y="608050"/>
                </a:cubicBezTo>
                <a:cubicBezTo>
                  <a:pt x="2108164" y="612922"/>
                  <a:pt x="2112079" y="612922"/>
                  <a:pt x="2113316" y="607107"/>
                </a:cubicBezTo>
                <a:cubicBezTo>
                  <a:pt x="2114552" y="611036"/>
                  <a:pt x="2117232" y="611036"/>
                  <a:pt x="2119910" y="609936"/>
                </a:cubicBezTo>
                <a:cubicBezTo>
                  <a:pt x="2115995" y="614023"/>
                  <a:pt x="2112079" y="611980"/>
                  <a:pt x="2105484" y="617010"/>
                </a:cubicBezTo>
                <a:cubicBezTo>
                  <a:pt x="2109400" y="622983"/>
                  <a:pt x="2113316" y="622983"/>
                  <a:pt x="2115995" y="618896"/>
                </a:cubicBezTo>
                <a:cubicBezTo>
                  <a:pt x="2115995" y="627856"/>
                  <a:pt x="2127535" y="611980"/>
                  <a:pt x="2132894" y="627856"/>
                </a:cubicBezTo>
                <a:cubicBezTo>
                  <a:pt x="2141961" y="621882"/>
                  <a:pt x="2148350" y="632886"/>
                  <a:pt x="2158861" y="624869"/>
                </a:cubicBezTo>
                <a:cubicBezTo>
                  <a:pt x="2153708" y="632886"/>
                  <a:pt x="2165455" y="627856"/>
                  <a:pt x="2169371" y="626913"/>
                </a:cubicBezTo>
                <a:cubicBezTo>
                  <a:pt x="2167928" y="620939"/>
                  <a:pt x="2166692" y="622983"/>
                  <a:pt x="2164013" y="620939"/>
                </a:cubicBezTo>
                <a:cubicBezTo>
                  <a:pt x="2165455" y="623926"/>
                  <a:pt x="2164013" y="625812"/>
                  <a:pt x="2161540" y="625812"/>
                </a:cubicBezTo>
                <a:cubicBezTo>
                  <a:pt x="2158861" y="617953"/>
                  <a:pt x="2166692" y="615909"/>
                  <a:pt x="2170608" y="623926"/>
                </a:cubicBezTo>
                <a:cubicBezTo>
                  <a:pt x="2180911" y="620939"/>
                  <a:pt x="2187507" y="617953"/>
                  <a:pt x="2200490" y="625812"/>
                </a:cubicBezTo>
                <a:cubicBezTo>
                  <a:pt x="2201932" y="623926"/>
                  <a:pt x="2196574" y="622983"/>
                  <a:pt x="2195338" y="621882"/>
                </a:cubicBezTo>
                <a:cubicBezTo>
                  <a:pt x="2200490" y="621882"/>
                  <a:pt x="2213679" y="615909"/>
                  <a:pt x="2222747" y="615909"/>
                </a:cubicBezTo>
                <a:cubicBezTo>
                  <a:pt x="2227900" y="609936"/>
                  <a:pt x="2235731" y="612922"/>
                  <a:pt x="2246034" y="611036"/>
                </a:cubicBezTo>
                <a:cubicBezTo>
                  <a:pt x="2244798" y="609936"/>
                  <a:pt x="2244798" y="609936"/>
                  <a:pt x="2243562" y="609936"/>
                </a:cubicBezTo>
                <a:cubicBezTo>
                  <a:pt x="2263140" y="601134"/>
                  <a:pt x="2283954" y="596103"/>
                  <a:pt x="2298175" y="585100"/>
                </a:cubicBezTo>
                <a:cubicBezTo>
                  <a:pt x="2300854" y="588087"/>
                  <a:pt x="2298175" y="588087"/>
                  <a:pt x="2302090" y="591074"/>
                </a:cubicBezTo>
                <a:cubicBezTo>
                  <a:pt x="2308685" y="595160"/>
                  <a:pt x="2307448" y="587143"/>
                  <a:pt x="2303533" y="584157"/>
                </a:cubicBezTo>
                <a:cubicBezTo>
                  <a:pt x="2309921" y="587143"/>
                  <a:pt x="2315074" y="582114"/>
                  <a:pt x="2320432" y="576297"/>
                </a:cubicBezTo>
                <a:cubicBezTo>
                  <a:pt x="2325584" y="571267"/>
                  <a:pt x="2330736" y="564351"/>
                  <a:pt x="2338568" y="565294"/>
                </a:cubicBezTo>
                <a:lnTo>
                  <a:pt x="2341246" y="567337"/>
                </a:lnTo>
                <a:cubicBezTo>
                  <a:pt x="2341246" y="567337"/>
                  <a:pt x="2341246" y="561364"/>
                  <a:pt x="2345162" y="567337"/>
                </a:cubicBezTo>
                <a:cubicBezTo>
                  <a:pt x="2343719" y="558378"/>
                  <a:pt x="2352993" y="557435"/>
                  <a:pt x="2355466" y="551461"/>
                </a:cubicBezTo>
                <a:cubicBezTo>
                  <a:pt x="2358146" y="551461"/>
                  <a:pt x="2362061" y="553347"/>
                  <a:pt x="2363298" y="556334"/>
                </a:cubicBezTo>
                <a:cubicBezTo>
                  <a:pt x="2364740" y="555391"/>
                  <a:pt x="2364740" y="554448"/>
                  <a:pt x="2365977" y="553347"/>
                </a:cubicBezTo>
                <a:cubicBezTo>
                  <a:pt x="2367213" y="551461"/>
                  <a:pt x="2363298" y="551461"/>
                  <a:pt x="2359382" y="548475"/>
                </a:cubicBezTo>
                <a:cubicBezTo>
                  <a:pt x="2367213" y="547374"/>
                  <a:pt x="2377724" y="548475"/>
                  <a:pt x="2377724" y="542501"/>
                </a:cubicBezTo>
                <a:cubicBezTo>
                  <a:pt x="2381640" y="545488"/>
                  <a:pt x="2382876" y="545488"/>
                  <a:pt x="2385555" y="546431"/>
                </a:cubicBezTo>
                <a:cubicBezTo>
                  <a:pt x="2385555" y="543444"/>
                  <a:pt x="2391944" y="541401"/>
                  <a:pt x="2393386" y="539515"/>
                </a:cubicBezTo>
                <a:cubicBezTo>
                  <a:pt x="2398538" y="543444"/>
                  <a:pt x="2393386" y="543444"/>
                  <a:pt x="2397302" y="546431"/>
                </a:cubicBezTo>
                <a:cubicBezTo>
                  <a:pt x="2402454" y="540458"/>
                  <a:pt x="2423269" y="542501"/>
                  <a:pt x="2423269" y="530555"/>
                </a:cubicBezTo>
                <a:cubicBezTo>
                  <a:pt x="2433573" y="534485"/>
                  <a:pt x="2420589" y="534485"/>
                  <a:pt x="2427185" y="538414"/>
                </a:cubicBezTo>
                <a:cubicBezTo>
                  <a:pt x="2436252" y="536528"/>
                  <a:pt x="2427185" y="520652"/>
                  <a:pt x="2441404" y="521595"/>
                </a:cubicBezTo>
                <a:cubicBezTo>
                  <a:pt x="2444083" y="520652"/>
                  <a:pt x="2437489" y="518608"/>
                  <a:pt x="2437489" y="517665"/>
                </a:cubicBezTo>
                <a:cubicBezTo>
                  <a:pt x="2450678" y="517665"/>
                  <a:pt x="2453151" y="511692"/>
                  <a:pt x="2451914" y="504776"/>
                </a:cubicBezTo>
                <a:cubicBezTo>
                  <a:pt x="2477881" y="515622"/>
                  <a:pt x="2466134" y="494716"/>
                  <a:pt x="2485712" y="495816"/>
                </a:cubicBezTo>
                <a:lnTo>
                  <a:pt x="2488023" y="488804"/>
                </a:lnTo>
                <a:lnTo>
                  <a:pt x="2485535" y="487979"/>
                </a:lnTo>
                <a:cubicBezTo>
                  <a:pt x="2482600" y="487742"/>
                  <a:pt x="2479975" y="487504"/>
                  <a:pt x="2479975" y="485523"/>
                </a:cubicBezTo>
                <a:cubicBezTo>
                  <a:pt x="2469474" y="484413"/>
                  <a:pt x="2468238" y="490436"/>
                  <a:pt x="2469474" y="493446"/>
                </a:cubicBezTo>
                <a:cubicBezTo>
                  <a:pt x="2455266" y="489484"/>
                  <a:pt x="2468238" y="475381"/>
                  <a:pt x="2478740" y="471420"/>
                </a:cubicBezTo>
                <a:cubicBezTo>
                  <a:pt x="2482446" y="472371"/>
                  <a:pt x="2486359" y="474431"/>
                  <a:pt x="2487800" y="472371"/>
                </a:cubicBezTo>
                <a:cubicBezTo>
                  <a:pt x="2496860" y="477441"/>
                  <a:pt x="2487800" y="478392"/>
                  <a:pt x="2489036" y="480453"/>
                </a:cubicBezTo>
                <a:cubicBezTo>
                  <a:pt x="2482446" y="481403"/>
                  <a:pt x="2479975" y="477441"/>
                  <a:pt x="2485123" y="476491"/>
                </a:cubicBezTo>
                <a:cubicBezTo>
                  <a:pt x="2482446" y="475381"/>
                  <a:pt x="2481211" y="477441"/>
                  <a:pt x="2476063" y="475381"/>
                </a:cubicBezTo>
                <a:cubicBezTo>
                  <a:pt x="2473386" y="478392"/>
                  <a:pt x="2478740" y="480453"/>
                  <a:pt x="2478740" y="482512"/>
                </a:cubicBezTo>
                <a:cubicBezTo>
                  <a:pt x="2482549" y="481007"/>
                  <a:pt x="2485792" y="481997"/>
                  <a:pt x="2488237" y="483859"/>
                </a:cubicBezTo>
                <a:lnTo>
                  <a:pt x="2490390" y="486866"/>
                </a:lnTo>
                <a:lnTo>
                  <a:pt x="2498696" y="482926"/>
                </a:lnTo>
                <a:cubicBezTo>
                  <a:pt x="2498696" y="480883"/>
                  <a:pt x="2496223" y="479939"/>
                  <a:pt x="2494986" y="477896"/>
                </a:cubicBezTo>
                <a:cubicBezTo>
                  <a:pt x="2496223" y="474909"/>
                  <a:pt x="2496223" y="477896"/>
                  <a:pt x="2501375" y="478839"/>
                </a:cubicBezTo>
                <a:cubicBezTo>
                  <a:pt x="2502612" y="477896"/>
                  <a:pt x="2497460" y="475852"/>
                  <a:pt x="2498696" y="473966"/>
                </a:cubicBezTo>
                <a:cubicBezTo>
                  <a:pt x="2496223" y="472866"/>
                  <a:pt x="2496223" y="474909"/>
                  <a:pt x="2496223" y="474909"/>
                </a:cubicBezTo>
                <a:cubicBezTo>
                  <a:pt x="2494883" y="471923"/>
                  <a:pt x="2496171" y="469447"/>
                  <a:pt x="2498129" y="467089"/>
                </a:cubicBezTo>
                <a:lnTo>
                  <a:pt x="2500934" y="463722"/>
                </a:lnTo>
                <a:lnTo>
                  <a:pt x="2491987" y="463088"/>
                </a:lnTo>
                <a:cubicBezTo>
                  <a:pt x="2487275" y="462712"/>
                  <a:pt x="2483690" y="461960"/>
                  <a:pt x="2485636" y="459901"/>
                </a:cubicBezTo>
                <a:cubicBezTo>
                  <a:pt x="2477849" y="459901"/>
                  <a:pt x="2480514" y="467975"/>
                  <a:pt x="2480514" y="469875"/>
                </a:cubicBezTo>
                <a:cubicBezTo>
                  <a:pt x="2466170" y="464968"/>
                  <a:pt x="2479284" y="461010"/>
                  <a:pt x="2482972" y="456894"/>
                </a:cubicBezTo>
                <a:cubicBezTo>
                  <a:pt x="2486866" y="458002"/>
                  <a:pt x="2488300" y="458952"/>
                  <a:pt x="2488300" y="459901"/>
                </a:cubicBezTo>
                <a:cubicBezTo>
                  <a:pt x="2493422" y="459901"/>
                  <a:pt x="2496086" y="458952"/>
                  <a:pt x="2497315" y="455944"/>
                </a:cubicBezTo>
                <a:cubicBezTo>
                  <a:pt x="2486866" y="451986"/>
                  <a:pt x="2493422" y="459901"/>
                  <a:pt x="2484406" y="455944"/>
                </a:cubicBezTo>
                <a:cubicBezTo>
                  <a:pt x="2488300" y="452936"/>
                  <a:pt x="2492193" y="449928"/>
                  <a:pt x="2502438" y="451986"/>
                </a:cubicBezTo>
                <a:cubicBezTo>
                  <a:pt x="2506433" y="454954"/>
                  <a:pt x="2497981" y="457389"/>
                  <a:pt x="2499470" y="460557"/>
                </a:cubicBezTo>
                <a:lnTo>
                  <a:pt x="2502182" y="462224"/>
                </a:lnTo>
                <a:lnTo>
                  <a:pt x="2504054" y="459976"/>
                </a:lnTo>
                <a:lnTo>
                  <a:pt x="2504606" y="463713"/>
                </a:lnTo>
                <a:lnTo>
                  <a:pt x="2505101" y="464018"/>
                </a:lnTo>
                <a:lnTo>
                  <a:pt x="2504646" y="463985"/>
                </a:lnTo>
                <a:lnTo>
                  <a:pt x="2505162" y="467482"/>
                </a:lnTo>
                <a:cubicBezTo>
                  <a:pt x="2504003" y="469958"/>
                  <a:pt x="2501375" y="471923"/>
                  <a:pt x="2497460" y="471923"/>
                </a:cubicBezTo>
                <a:cubicBezTo>
                  <a:pt x="2497460" y="472866"/>
                  <a:pt x="2501375" y="473966"/>
                  <a:pt x="2501375" y="474909"/>
                </a:cubicBezTo>
                <a:cubicBezTo>
                  <a:pt x="2509206" y="476953"/>
                  <a:pt x="2514359" y="473966"/>
                  <a:pt x="2507970" y="469879"/>
                </a:cubicBezTo>
                <a:cubicBezTo>
                  <a:pt x="2511886" y="467993"/>
                  <a:pt x="2518273" y="467993"/>
                  <a:pt x="2522190" y="466892"/>
                </a:cubicBezTo>
                <a:cubicBezTo>
                  <a:pt x="2524869" y="464063"/>
                  <a:pt x="2511886" y="462020"/>
                  <a:pt x="2513122" y="459976"/>
                </a:cubicBezTo>
                <a:cubicBezTo>
                  <a:pt x="2536616" y="465006"/>
                  <a:pt x="2522190" y="448187"/>
                  <a:pt x="2539088" y="450073"/>
                </a:cubicBezTo>
                <a:cubicBezTo>
                  <a:pt x="2537852" y="444100"/>
                  <a:pt x="2544447" y="437184"/>
                  <a:pt x="2550835" y="431210"/>
                </a:cubicBezTo>
                <a:cubicBezTo>
                  <a:pt x="2555988" y="435140"/>
                  <a:pt x="2559903" y="435140"/>
                  <a:pt x="2562582" y="432154"/>
                </a:cubicBezTo>
                <a:cubicBezTo>
                  <a:pt x="2562582" y="438127"/>
                  <a:pt x="2550835" y="434197"/>
                  <a:pt x="2558667" y="441114"/>
                </a:cubicBezTo>
                <a:cubicBezTo>
                  <a:pt x="2563819" y="441114"/>
                  <a:pt x="2569177" y="442214"/>
                  <a:pt x="2569177" y="439227"/>
                </a:cubicBezTo>
                <a:cubicBezTo>
                  <a:pt x="2562582" y="441114"/>
                  <a:pt x="2563819" y="438127"/>
                  <a:pt x="2566498" y="435140"/>
                </a:cubicBezTo>
                <a:cubicBezTo>
                  <a:pt x="2567735" y="436241"/>
                  <a:pt x="2571650" y="438127"/>
                  <a:pt x="2575566" y="439227"/>
                </a:cubicBezTo>
                <a:cubicBezTo>
                  <a:pt x="2571650" y="445201"/>
                  <a:pt x="2566498" y="456990"/>
                  <a:pt x="2575566" y="465950"/>
                </a:cubicBezTo>
                <a:cubicBezTo>
                  <a:pt x="2578245" y="462963"/>
                  <a:pt x="2580718" y="459033"/>
                  <a:pt x="2582160" y="456990"/>
                </a:cubicBezTo>
                <a:cubicBezTo>
                  <a:pt x="2578245" y="456046"/>
                  <a:pt x="2575566" y="456046"/>
                  <a:pt x="2574329" y="458090"/>
                </a:cubicBezTo>
                <a:cubicBezTo>
                  <a:pt x="2570413" y="456990"/>
                  <a:pt x="2575566" y="455104"/>
                  <a:pt x="2574329" y="454003"/>
                </a:cubicBezTo>
                <a:cubicBezTo>
                  <a:pt x="2579482" y="458090"/>
                  <a:pt x="2580718" y="454003"/>
                  <a:pt x="2587313" y="455104"/>
                </a:cubicBezTo>
                <a:cubicBezTo>
                  <a:pt x="2587313" y="455104"/>
                  <a:pt x="2587313" y="455104"/>
                  <a:pt x="2586076" y="459976"/>
                </a:cubicBezTo>
                <a:lnTo>
                  <a:pt x="2590682" y="460121"/>
                </a:lnTo>
                <a:lnTo>
                  <a:pt x="2594671" y="452793"/>
                </a:lnTo>
                <a:cubicBezTo>
                  <a:pt x="2595640" y="449700"/>
                  <a:pt x="2595640" y="446982"/>
                  <a:pt x="2594313" y="445012"/>
                </a:cubicBezTo>
                <a:cubicBezTo>
                  <a:pt x="2602065" y="442965"/>
                  <a:pt x="2602065" y="440916"/>
                  <a:pt x="2608593" y="440916"/>
                </a:cubicBezTo>
                <a:cubicBezTo>
                  <a:pt x="2600840" y="442019"/>
                  <a:pt x="2612265" y="451945"/>
                  <a:pt x="2598189" y="450843"/>
                </a:cubicBezTo>
                <a:lnTo>
                  <a:pt x="2598129" y="452245"/>
                </a:lnTo>
                <a:lnTo>
                  <a:pt x="2600577" y="453271"/>
                </a:lnTo>
                <a:cubicBezTo>
                  <a:pt x="2600638" y="453601"/>
                  <a:pt x="2600026" y="453905"/>
                  <a:pt x="2599292" y="454278"/>
                </a:cubicBezTo>
                <a:lnTo>
                  <a:pt x="2597886" y="457928"/>
                </a:lnTo>
                <a:lnTo>
                  <a:pt x="2597879" y="458091"/>
                </a:lnTo>
                <a:lnTo>
                  <a:pt x="2604383" y="458217"/>
                </a:lnTo>
                <a:cubicBezTo>
                  <a:pt x="2608256" y="457245"/>
                  <a:pt x="2605551" y="453531"/>
                  <a:pt x="2609570" y="452117"/>
                </a:cubicBezTo>
                <a:cubicBezTo>
                  <a:pt x="2621111" y="456990"/>
                  <a:pt x="2610807" y="462020"/>
                  <a:pt x="2610807" y="465950"/>
                </a:cubicBezTo>
                <a:cubicBezTo>
                  <a:pt x="2610807" y="468936"/>
                  <a:pt x="2617196" y="469879"/>
                  <a:pt x="2609570" y="471923"/>
                </a:cubicBezTo>
                <a:cubicBezTo>
                  <a:pt x="2613280" y="473966"/>
                  <a:pt x="2615959" y="479939"/>
                  <a:pt x="2615959" y="484812"/>
                </a:cubicBezTo>
                <a:cubicBezTo>
                  <a:pt x="2613280" y="483869"/>
                  <a:pt x="2613280" y="482926"/>
                  <a:pt x="2610807" y="481826"/>
                </a:cubicBezTo>
                <a:cubicBezTo>
                  <a:pt x="2608849" y="484341"/>
                  <a:pt x="2610137" y="486856"/>
                  <a:pt x="2613047" y="489234"/>
                </a:cubicBezTo>
                <a:lnTo>
                  <a:pt x="2618163" y="492044"/>
                </a:lnTo>
                <a:lnTo>
                  <a:pt x="2619634" y="489484"/>
                </a:lnTo>
                <a:cubicBezTo>
                  <a:pt x="2622074" y="487108"/>
                  <a:pt x="2626332" y="484374"/>
                  <a:pt x="2627683" y="483899"/>
                </a:cubicBezTo>
                <a:cubicBezTo>
                  <a:pt x="2639521" y="488970"/>
                  <a:pt x="2618544" y="489920"/>
                  <a:pt x="2622490" y="492931"/>
                </a:cubicBezTo>
                <a:lnTo>
                  <a:pt x="2619142" y="492582"/>
                </a:lnTo>
                <a:lnTo>
                  <a:pt x="2625027" y="495816"/>
                </a:lnTo>
                <a:cubicBezTo>
                  <a:pt x="2628942" y="495816"/>
                  <a:pt x="2623790" y="492829"/>
                  <a:pt x="2628942" y="491886"/>
                </a:cubicBezTo>
                <a:cubicBezTo>
                  <a:pt x="2627706" y="498803"/>
                  <a:pt x="2635537" y="495816"/>
                  <a:pt x="2642132" y="502732"/>
                </a:cubicBezTo>
                <a:cubicBezTo>
                  <a:pt x="2639452" y="508705"/>
                  <a:pt x="2631621" y="515622"/>
                  <a:pt x="2643368" y="517665"/>
                </a:cubicBezTo>
                <a:cubicBezTo>
                  <a:pt x="2642132" y="526625"/>
                  <a:pt x="2634301" y="530555"/>
                  <a:pt x="2642132" y="537471"/>
                </a:cubicBezTo>
                <a:cubicBezTo>
                  <a:pt x="2626469" y="539515"/>
                  <a:pt x="2634301" y="550361"/>
                  <a:pt x="2635537" y="557435"/>
                </a:cubicBezTo>
                <a:lnTo>
                  <a:pt x="2638314" y="556133"/>
                </a:lnTo>
                <a:lnTo>
                  <a:pt x="2637923" y="555443"/>
                </a:lnTo>
                <a:cubicBezTo>
                  <a:pt x="2638192" y="553814"/>
                  <a:pt x="2639586" y="552371"/>
                  <a:pt x="2642097" y="552005"/>
                </a:cubicBezTo>
                <a:lnTo>
                  <a:pt x="2644524" y="552365"/>
                </a:lnTo>
                <a:lnTo>
                  <a:pt x="2647283" y="547374"/>
                </a:lnTo>
                <a:cubicBezTo>
                  <a:pt x="2653672" y="549418"/>
                  <a:pt x="2653672" y="555391"/>
                  <a:pt x="2649757" y="555391"/>
                </a:cubicBezTo>
                <a:cubicBezTo>
                  <a:pt x="2649757" y="557435"/>
                  <a:pt x="2653672" y="559321"/>
                  <a:pt x="2657588" y="561364"/>
                </a:cubicBezTo>
                <a:cubicBezTo>
                  <a:pt x="2666862" y="558378"/>
                  <a:pt x="2657588" y="548475"/>
                  <a:pt x="2669334" y="548475"/>
                </a:cubicBezTo>
                <a:cubicBezTo>
                  <a:pt x="2669334" y="553347"/>
                  <a:pt x="2669334" y="565294"/>
                  <a:pt x="2664183" y="573311"/>
                </a:cubicBezTo>
                <a:cubicBezTo>
                  <a:pt x="2662946" y="577240"/>
                  <a:pt x="2647283" y="585100"/>
                  <a:pt x="2659030" y="585100"/>
                </a:cubicBezTo>
                <a:cubicBezTo>
                  <a:pt x="2661503" y="590130"/>
                  <a:pt x="2639452" y="593117"/>
                  <a:pt x="2657588" y="601134"/>
                </a:cubicBezTo>
                <a:cubicBezTo>
                  <a:pt x="2646047" y="618896"/>
                  <a:pt x="2638216" y="634930"/>
                  <a:pt x="2623790" y="655678"/>
                </a:cubicBezTo>
                <a:cubicBezTo>
                  <a:pt x="2627706" y="657722"/>
                  <a:pt x="2627706" y="652692"/>
                  <a:pt x="2630385" y="651749"/>
                </a:cubicBezTo>
                <a:cubicBezTo>
                  <a:pt x="2632858" y="656622"/>
                  <a:pt x="2632858" y="650806"/>
                  <a:pt x="2638216" y="654736"/>
                </a:cubicBezTo>
                <a:cubicBezTo>
                  <a:pt x="2632858" y="655678"/>
                  <a:pt x="2628942" y="657722"/>
                  <a:pt x="2622554" y="657722"/>
                </a:cubicBezTo>
                <a:cubicBezTo>
                  <a:pt x="2623790" y="669669"/>
                  <a:pt x="2597823" y="673598"/>
                  <a:pt x="2606891" y="686488"/>
                </a:cubicBezTo>
                <a:cubicBezTo>
                  <a:pt x="2600296" y="688531"/>
                  <a:pt x="2597823" y="689474"/>
                  <a:pt x="2604212" y="693405"/>
                </a:cubicBezTo>
                <a:cubicBezTo>
                  <a:pt x="2592465" y="695448"/>
                  <a:pt x="2597823" y="706294"/>
                  <a:pt x="2588756" y="709280"/>
                </a:cubicBezTo>
                <a:cubicBezTo>
                  <a:pt x="2604212" y="719341"/>
                  <a:pt x="2606891" y="701421"/>
                  <a:pt x="2617196" y="699378"/>
                </a:cubicBezTo>
                <a:cubicBezTo>
                  <a:pt x="2615340" y="707630"/>
                  <a:pt x="2603864" y="714115"/>
                  <a:pt x="2597112" y="722278"/>
                </a:cubicBezTo>
                <a:lnTo>
                  <a:pt x="2594343" y="727552"/>
                </a:lnTo>
                <a:lnTo>
                  <a:pt x="2596943" y="729629"/>
                </a:lnTo>
                <a:cubicBezTo>
                  <a:pt x="2598017" y="733395"/>
                  <a:pt x="2589662" y="736783"/>
                  <a:pt x="2585757" y="736783"/>
                </a:cubicBezTo>
                <a:lnTo>
                  <a:pt x="2586974" y="733777"/>
                </a:lnTo>
                <a:lnTo>
                  <a:pt x="2574329" y="739874"/>
                </a:lnTo>
                <a:cubicBezTo>
                  <a:pt x="2568147" y="743627"/>
                  <a:pt x="2562582" y="747635"/>
                  <a:pt x="2559903" y="750150"/>
                </a:cubicBezTo>
                <a:cubicBezTo>
                  <a:pt x="2565262" y="754080"/>
                  <a:pt x="2570413" y="754080"/>
                  <a:pt x="2575566" y="750150"/>
                </a:cubicBezTo>
                <a:cubicBezTo>
                  <a:pt x="2578245" y="752980"/>
                  <a:pt x="2570413" y="754080"/>
                  <a:pt x="2570413" y="755966"/>
                </a:cubicBezTo>
                <a:lnTo>
                  <a:pt x="2566783" y="755046"/>
                </a:lnTo>
                <a:lnTo>
                  <a:pt x="2560221" y="761846"/>
                </a:lnTo>
                <a:cubicBezTo>
                  <a:pt x="2558787" y="764221"/>
                  <a:pt x="2557199" y="766477"/>
                  <a:pt x="2552692" y="767980"/>
                </a:cubicBezTo>
                <a:lnTo>
                  <a:pt x="2549861" y="763301"/>
                </a:lnTo>
                <a:lnTo>
                  <a:pt x="2545632" y="765594"/>
                </a:lnTo>
                <a:cubicBezTo>
                  <a:pt x="2540120" y="767952"/>
                  <a:pt x="2533937" y="770428"/>
                  <a:pt x="2531257" y="776872"/>
                </a:cubicBezTo>
                <a:cubicBezTo>
                  <a:pt x="2531257" y="776872"/>
                  <a:pt x="2531257" y="776872"/>
                  <a:pt x="2528784" y="773886"/>
                </a:cubicBezTo>
                <a:cubicBezTo>
                  <a:pt x="2513122" y="782846"/>
                  <a:pt x="2497460" y="788819"/>
                  <a:pt x="2481797" y="794792"/>
                </a:cubicBezTo>
                <a:cubicBezTo>
                  <a:pt x="2467577" y="801709"/>
                  <a:pt x="2451914" y="806739"/>
                  <a:pt x="2436252" y="812555"/>
                </a:cubicBezTo>
                <a:cubicBezTo>
                  <a:pt x="2416674" y="821515"/>
                  <a:pt x="2390707" y="836448"/>
                  <a:pt x="2363298" y="838491"/>
                </a:cubicBezTo>
                <a:cubicBezTo>
                  <a:pt x="2360825" y="843365"/>
                  <a:pt x="2369892" y="845407"/>
                  <a:pt x="2372366" y="844464"/>
                </a:cubicBezTo>
                <a:cubicBezTo>
                  <a:pt x="2368450" y="847451"/>
                  <a:pt x="2356909" y="852324"/>
                  <a:pt x="2350315" y="853424"/>
                </a:cubicBezTo>
                <a:cubicBezTo>
                  <a:pt x="2346399" y="847451"/>
                  <a:pt x="2354230" y="853424"/>
                  <a:pt x="2352993" y="849338"/>
                </a:cubicBezTo>
                <a:cubicBezTo>
                  <a:pt x="2351551" y="845407"/>
                  <a:pt x="2347635" y="850438"/>
                  <a:pt x="2345162" y="850438"/>
                </a:cubicBezTo>
                <a:cubicBezTo>
                  <a:pt x="2342483" y="851381"/>
                  <a:pt x="2346399" y="852324"/>
                  <a:pt x="2346399" y="854367"/>
                </a:cubicBezTo>
                <a:cubicBezTo>
                  <a:pt x="2315074" y="864271"/>
                  <a:pt x="2290343" y="867257"/>
                  <a:pt x="2260461" y="877160"/>
                </a:cubicBezTo>
                <a:cubicBezTo>
                  <a:pt x="2269529" y="888163"/>
                  <a:pt x="2290343" y="865371"/>
                  <a:pt x="2296938" y="878260"/>
                </a:cubicBezTo>
                <a:cubicBezTo>
                  <a:pt x="2286428" y="874173"/>
                  <a:pt x="2283954" y="884076"/>
                  <a:pt x="2276123" y="883133"/>
                </a:cubicBezTo>
                <a:cubicBezTo>
                  <a:pt x="2281276" y="891150"/>
                  <a:pt x="2290343" y="881247"/>
                  <a:pt x="2291786" y="879204"/>
                </a:cubicBezTo>
                <a:cubicBezTo>
                  <a:pt x="2291786" y="879204"/>
                  <a:pt x="2291786" y="879204"/>
                  <a:pt x="2294259" y="884076"/>
                </a:cubicBezTo>
                <a:cubicBezTo>
                  <a:pt x="2294259" y="879204"/>
                  <a:pt x="2296938" y="880146"/>
                  <a:pt x="2302090" y="880146"/>
                </a:cubicBezTo>
                <a:cubicBezTo>
                  <a:pt x="2299617" y="877160"/>
                  <a:pt x="2300854" y="877160"/>
                  <a:pt x="2300854" y="870244"/>
                </a:cubicBezTo>
                <a:cubicBezTo>
                  <a:pt x="2307448" y="873230"/>
                  <a:pt x="2312601" y="866314"/>
                  <a:pt x="2315074" y="873230"/>
                </a:cubicBezTo>
                <a:cubicBezTo>
                  <a:pt x="2322904" y="874173"/>
                  <a:pt x="2317753" y="867257"/>
                  <a:pt x="2324348" y="867257"/>
                </a:cubicBezTo>
                <a:cubicBezTo>
                  <a:pt x="2328263" y="871187"/>
                  <a:pt x="2322904" y="871187"/>
                  <a:pt x="2324348" y="874173"/>
                </a:cubicBezTo>
                <a:cubicBezTo>
                  <a:pt x="2329500" y="874173"/>
                  <a:pt x="2326821" y="871187"/>
                  <a:pt x="2330736" y="870244"/>
                </a:cubicBezTo>
                <a:cubicBezTo>
                  <a:pt x="2329500" y="868200"/>
                  <a:pt x="2325584" y="870244"/>
                  <a:pt x="2325584" y="865371"/>
                </a:cubicBezTo>
                <a:cubicBezTo>
                  <a:pt x="2331972" y="864271"/>
                  <a:pt x="2342483" y="865371"/>
                  <a:pt x="2347635" y="859398"/>
                </a:cubicBezTo>
                <a:cubicBezTo>
                  <a:pt x="2347635" y="863327"/>
                  <a:pt x="2349078" y="861284"/>
                  <a:pt x="2351551" y="866314"/>
                </a:cubicBezTo>
                <a:cubicBezTo>
                  <a:pt x="2354230" y="866314"/>
                  <a:pt x="2354230" y="865057"/>
                  <a:pt x="2354230" y="863681"/>
                </a:cubicBezTo>
                <a:lnTo>
                  <a:pt x="2354577" y="863249"/>
                </a:lnTo>
                <a:lnTo>
                  <a:pt x="2384344" y="856509"/>
                </a:lnTo>
                <a:cubicBezTo>
                  <a:pt x="2393644" y="853660"/>
                  <a:pt x="2402454" y="850438"/>
                  <a:pt x="2411522" y="847451"/>
                </a:cubicBezTo>
                <a:cubicBezTo>
                  <a:pt x="2429657" y="841478"/>
                  <a:pt x="2445319" y="833461"/>
                  <a:pt x="2463661" y="827488"/>
                </a:cubicBezTo>
                <a:cubicBezTo>
                  <a:pt x="2466134" y="825602"/>
                  <a:pt x="2460982" y="826545"/>
                  <a:pt x="2462218" y="822615"/>
                </a:cubicBezTo>
                <a:cubicBezTo>
                  <a:pt x="2468814" y="819629"/>
                  <a:pt x="2472729" y="812555"/>
                  <a:pt x="2480561" y="819629"/>
                </a:cubicBezTo>
                <a:cubicBezTo>
                  <a:pt x="2485712" y="814598"/>
                  <a:pt x="2494986" y="815542"/>
                  <a:pt x="2493544" y="806739"/>
                </a:cubicBezTo>
                <a:cubicBezTo>
                  <a:pt x="2500139" y="810669"/>
                  <a:pt x="2500139" y="801709"/>
                  <a:pt x="2505291" y="806739"/>
                </a:cubicBezTo>
                <a:cubicBezTo>
                  <a:pt x="2507970" y="804696"/>
                  <a:pt x="2505291" y="801709"/>
                  <a:pt x="2504054" y="798722"/>
                </a:cubicBezTo>
                <a:cubicBezTo>
                  <a:pt x="2509206" y="798722"/>
                  <a:pt x="2530021" y="796678"/>
                  <a:pt x="2524869" y="789763"/>
                </a:cubicBezTo>
                <a:cubicBezTo>
                  <a:pt x="2537852" y="792749"/>
                  <a:pt x="2540531" y="781903"/>
                  <a:pt x="2548362" y="785832"/>
                </a:cubicBezTo>
                <a:cubicBezTo>
                  <a:pt x="2549598" y="782846"/>
                  <a:pt x="2553515" y="780803"/>
                  <a:pt x="2546920" y="775929"/>
                </a:cubicBezTo>
                <a:cubicBezTo>
                  <a:pt x="2548362" y="775929"/>
                  <a:pt x="2549598" y="777816"/>
                  <a:pt x="2552278" y="779859"/>
                </a:cubicBezTo>
                <a:cubicBezTo>
                  <a:pt x="2559903" y="769956"/>
                  <a:pt x="2573093" y="761940"/>
                  <a:pt x="2586076" y="755023"/>
                </a:cubicBezTo>
                <a:cubicBezTo>
                  <a:pt x="2593907" y="751093"/>
                  <a:pt x="2600296" y="747163"/>
                  <a:pt x="2606891" y="743076"/>
                </a:cubicBezTo>
                <a:lnTo>
                  <a:pt x="2607985" y="741927"/>
                </a:lnTo>
                <a:lnTo>
                  <a:pt x="2607006" y="741022"/>
                </a:lnTo>
                <a:cubicBezTo>
                  <a:pt x="2604608" y="739683"/>
                  <a:pt x="2603331" y="738229"/>
                  <a:pt x="2607823" y="734862"/>
                </a:cubicBezTo>
                <a:lnTo>
                  <a:pt x="2611759" y="737965"/>
                </a:lnTo>
                <a:lnTo>
                  <a:pt x="2621111" y="728143"/>
                </a:lnTo>
                <a:cubicBezTo>
                  <a:pt x="2626469" y="735217"/>
                  <a:pt x="2626469" y="724214"/>
                  <a:pt x="2631621" y="728143"/>
                </a:cubicBezTo>
                <a:cubicBezTo>
                  <a:pt x="2661503" y="692461"/>
                  <a:pt x="2696745" y="662595"/>
                  <a:pt x="2724154" y="628799"/>
                </a:cubicBezTo>
                <a:cubicBezTo>
                  <a:pt x="2710964" y="651749"/>
                  <a:pt x="2692829" y="675642"/>
                  <a:pt x="2670572" y="697334"/>
                </a:cubicBezTo>
                <a:cubicBezTo>
                  <a:pt x="2660164" y="707787"/>
                  <a:pt x="2648469" y="717729"/>
                  <a:pt x="2636439" y="726689"/>
                </a:cubicBezTo>
                <a:lnTo>
                  <a:pt x="2613505" y="741576"/>
                </a:lnTo>
                <a:lnTo>
                  <a:pt x="2612929" y="746494"/>
                </a:lnTo>
                <a:lnTo>
                  <a:pt x="2610040" y="743826"/>
                </a:lnTo>
                <a:lnTo>
                  <a:pt x="2604698" y="747293"/>
                </a:lnTo>
                <a:lnTo>
                  <a:pt x="2605189" y="751339"/>
                </a:lnTo>
                <a:cubicBezTo>
                  <a:pt x="2605817" y="753291"/>
                  <a:pt x="2606566" y="754844"/>
                  <a:pt x="2606734" y="755715"/>
                </a:cubicBezTo>
                <a:lnTo>
                  <a:pt x="2605025" y="755974"/>
                </a:lnTo>
                <a:lnTo>
                  <a:pt x="2606891" y="758953"/>
                </a:lnTo>
                <a:cubicBezTo>
                  <a:pt x="2600296" y="757067"/>
                  <a:pt x="2595144" y="758953"/>
                  <a:pt x="2593907" y="761940"/>
                </a:cubicBezTo>
                <a:cubicBezTo>
                  <a:pt x="2588756" y="758953"/>
                  <a:pt x="2583397" y="763040"/>
                  <a:pt x="2579482" y="767913"/>
                </a:cubicBezTo>
                <a:cubicBezTo>
                  <a:pt x="2580718" y="769956"/>
                  <a:pt x="2583397" y="771842"/>
                  <a:pt x="2584634" y="770899"/>
                </a:cubicBezTo>
                <a:cubicBezTo>
                  <a:pt x="2579482" y="770899"/>
                  <a:pt x="2574329" y="772943"/>
                  <a:pt x="2571650" y="776872"/>
                </a:cubicBezTo>
                <a:cubicBezTo>
                  <a:pt x="2567735" y="779859"/>
                  <a:pt x="2565262" y="783789"/>
                  <a:pt x="2563819" y="788819"/>
                </a:cubicBezTo>
                <a:cubicBezTo>
                  <a:pt x="2563819" y="788819"/>
                  <a:pt x="2563819" y="788819"/>
                  <a:pt x="2559903" y="784889"/>
                </a:cubicBezTo>
                <a:cubicBezTo>
                  <a:pt x="2553515" y="793849"/>
                  <a:pt x="2540531" y="802651"/>
                  <a:pt x="2524869" y="802651"/>
                </a:cubicBezTo>
                <a:cubicBezTo>
                  <a:pt x="2531257" y="808625"/>
                  <a:pt x="2531257" y="804696"/>
                  <a:pt x="2536616" y="810669"/>
                </a:cubicBezTo>
                <a:cubicBezTo>
                  <a:pt x="2531257" y="809725"/>
                  <a:pt x="2527342" y="806739"/>
                  <a:pt x="2522190" y="805638"/>
                </a:cubicBezTo>
                <a:cubicBezTo>
                  <a:pt x="2511886" y="811611"/>
                  <a:pt x="2501375" y="818528"/>
                  <a:pt x="2491071" y="824501"/>
                </a:cubicBezTo>
                <a:cubicBezTo>
                  <a:pt x="2480561" y="829531"/>
                  <a:pt x="2467577" y="833461"/>
                  <a:pt x="2451914" y="835504"/>
                </a:cubicBezTo>
                <a:cubicBezTo>
                  <a:pt x="2453151" y="838491"/>
                  <a:pt x="2455830" y="837548"/>
                  <a:pt x="2458510" y="836448"/>
                </a:cubicBezTo>
                <a:cubicBezTo>
                  <a:pt x="2444083" y="841478"/>
                  <a:pt x="2429657" y="847451"/>
                  <a:pt x="2414201" y="853424"/>
                </a:cubicBezTo>
                <a:cubicBezTo>
                  <a:pt x="2399775" y="860341"/>
                  <a:pt x="2385555" y="868200"/>
                  <a:pt x="2368450" y="874173"/>
                </a:cubicBezTo>
                <a:cubicBezTo>
                  <a:pt x="2352993" y="880146"/>
                  <a:pt x="2337331" y="888163"/>
                  <a:pt x="2321668" y="893036"/>
                </a:cubicBezTo>
                <a:cubicBezTo>
                  <a:pt x="2304769" y="898067"/>
                  <a:pt x="2287870" y="903096"/>
                  <a:pt x="2272208" y="906083"/>
                </a:cubicBezTo>
                <a:cubicBezTo>
                  <a:pt x="2268292" y="906083"/>
                  <a:pt x="2268292" y="907969"/>
                  <a:pt x="2269529" y="911900"/>
                </a:cubicBezTo>
                <a:cubicBezTo>
                  <a:pt x="2239646" y="907969"/>
                  <a:pt x="2208321" y="922902"/>
                  <a:pt x="2186270" y="932806"/>
                </a:cubicBezTo>
                <a:cubicBezTo>
                  <a:pt x="2186270" y="932806"/>
                  <a:pt x="2186270" y="932806"/>
                  <a:pt x="2186089" y="931941"/>
                </a:cubicBezTo>
                <a:lnTo>
                  <a:pt x="2185016" y="926793"/>
                </a:lnTo>
                <a:lnTo>
                  <a:pt x="2184566" y="927431"/>
                </a:lnTo>
                <a:lnTo>
                  <a:pt x="2183728" y="926401"/>
                </a:lnTo>
                <a:lnTo>
                  <a:pt x="2167671" y="933867"/>
                </a:lnTo>
                <a:cubicBezTo>
                  <a:pt x="2161488" y="936107"/>
                  <a:pt x="2154945" y="937836"/>
                  <a:pt x="2148350" y="938779"/>
                </a:cubicBezTo>
                <a:lnTo>
                  <a:pt x="2141968" y="939584"/>
                </a:lnTo>
                <a:lnTo>
                  <a:pt x="2144076" y="940154"/>
                </a:lnTo>
                <a:cubicBezTo>
                  <a:pt x="2147110" y="940232"/>
                  <a:pt x="2150162" y="939770"/>
                  <a:pt x="2153176" y="939339"/>
                </a:cubicBezTo>
                <a:lnTo>
                  <a:pt x="2155359" y="939181"/>
                </a:lnTo>
                <a:lnTo>
                  <a:pt x="2156204" y="938458"/>
                </a:lnTo>
                <a:lnTo>
                  <a:pt x="2155774" y="939151"/>
                </a:lnTo>
                <a:lnTo>
                  <a:pt x="2162043" y="938700"/>
                </a:lnTo>
                <a:cubicBezTo>
                  <a:pt x="2164922" y="938896"/>
                  <a:pt x="2167703" y="939692"/>
                  <a:pt x="2170331" y="941657"/>
                </a:cubicBezTo>
                <a:cubicBezTo>
                  <a:pt x="2196295" y="931752"/>
                  <a:pt x="2222465" y="942600"/>
                  <a:pt x="2245751" y="932695"/>
                </a:cubicBezTo>
                <a:cubicBezTo>
                  <a:pt x="2245751" y="932695"/>
                  <a:pt x="2245751" y="932695"/>
                  <a:pt x="2249666" y="937726"/>
                </a:cubicBezTo>
                <a:cubicBezTo>
                  <a:pt x="2259454" y="933718"/>
                  <a:pt x="2269911" y="933718"/>
                  <a:pt x="2279700" y="933462"/>
                </a:cubicBezTo>
                <a:lnTo>
                  <a:pt x="2291932" y="932495"/>
                </a:lnTo>
                <a:lnTo>
                  <a:pt x="2292367" y="931323"/>
                </a:lnTo>
                <a:lnTo>
                  <a:pt x="2298095" y="930642"/>
                </a:lnTo>
                <a:lnTo>
                  <a:pt x="2305715" y="927664"/>
                </a:lnTo>
                <a:cubicBezTo>
                  <a:pt x="2313546" y="935683"/>
                  <a:pt x="2318697" y="922790"/>
                  <a:pt x="2324055" y="931752"/>
                </a:cubicBezTo>
                <a:cubicBezTo>
                  <a:pt x="2324055" y="931752"/>
                  <a:pt x="2324055" y="931752"/>
                  <a:pt x="2326528" y="925777"/>
                </a:cubicBezTo>
                <a:cubicBezTo>
                  <a:pt x="2333123" y="931752"/>
                  <a:pt x="2337037" y="925777"/>
                  <a:pt x="2344868" y="924834"/>
                </a:cubicBezTo>
                <a:cubicBezTo>
                  <a:pt x="2351256" y="924834"/>
                  <a:pt x="2359086" y="924834"/>
                  <a:pt x="2366917" y="923734"/>
                </a:cubicBezTo>
                <a:cubicBezTo>
                  <a:pt x="2373511" y="923734"/>
                  <a:pt x="2379899" y="922790"/>
                  <a:pt x="2379899" y="918859"/>
                </a:cubicBezTo>
                <a:cubicBezTo>
                  <a:pt x="2387730" y="918859"/>
                  <a:pt x="2394324" y="916816"/>
                  <a:pt x="2400918" y="915873"/>
                </a:cubicBezTo>
                <a:cubicBezTo>
                  <a:pt x="2400918" y="915873"/>
                  <a:pt x="2400918" y="915873"/>
                  <a:pt x="2420288" y="910841"/>
                </a:cubicBezTo>
                <a:cubicBezTo>
                  <a:pt x="2426882" y="908954"/>
                  <a:pt x="2432034" y="906910"/>
                  <a:pt x="2438628" y="905967"/>
                </a:cubicBezTo>
                <a:cubicBezTo>
                  <a:pt x="2445016" y="903923"/>
                  <a:pt x="2451610" y="903923"/>
                  <a:pt x="2458203" y="902980"/>
                </a:cubicBezTo>
                <a:cubicBezTo>
                  <a:pt x="2458203" y="900936"/>
                  <a:pt x="2456761" y="899993"/>
                  <a:pt x="2456761" y="898892"/>
                </a:cubicBezTo>
                <a:cubicBezTo>
                  <a:pt x="2463355" y="897949"/>
                  <a:pt x="2471186" y="897949"/>
                  <a:pt x="2479017" y="895905"/>
                </a:cubicBezTo>
                <a:cubicBezTo>
                  <a:pt x="2485405" y="894018"/>
                  <a:pt x="2490762" y="891031"/>
                  <a:pt x="2494678" y="886000"/>
                </a:cubicBezTo>
                <a:cubicBezTo>
                  <a:pt x="2494678" y="886000"/>
                  <a:pt x="2494678" y="886000"/>
                  <a:pt x="2503745" y="891031"/>
                </a:cubicBezTo>
                <a:cubicBezTo>
                  <a:pt x="2504981" y="883956"/>
                  <a:pt x="2511574" y="883956"/>
                  <a:pt x="2516726" y="885057"/>
                </a:cubicBezTo>
                <a:cubicBezTo>
                  <a:pt x="2515490" y="883012"/>
                  <a:pt x="2514048" y="882069"/>
                  <a:pt x="2512811" y="881126"/>
                </a:cubicBezTo>
                <a:cubicBezTo>
                  <a:pt x="2514048" y="879082"/>
                  <a:pt x="2524557" y="883956"/>
                  <a:pt x="2524557" y="881126"/>
                </a:cubicBezTo>
                <a:cubicBezTo>
                  <a:pt x="2528473" y="877038"/>
                  <a:pt x="2532388" y="873107"/>
                  <a:pt x="2538776" y="870121"/>
                </a:cubicBezTo>
                <a:cubicBezTo>
                  <a:pt x="2545370" y="868076"/>
                  <a:pt x="2551964" y="866190"/>
                  <a:pt x="2559588" y="864146"/>
                </a:cubicBezTo>
                <a:cubicBezTo>
                  <a:pt x="2557116" y="866190"/>
                  <a:pt x="2555673" y="863202"/>
                  <a:pt x="2553200" y="860215"/>
                </a:cubicBezTo>
                <a:cubicBezTo>
                  <a:pt x="2562267" y="859271"/>
                  <a:pt x="2570098" y="856284"/>
                  <a:pt x="2576486" y="851253"/>
                </a:cubicBezTo>
                <a:cubicBezTo>
                  <a:pt x="2583080" y="847322"/>
                  <a:pt x="2588437" y="842291"/>
                  <a:pt x="2594825" y="837417"/>
                </a:cubicBezTo>
                <a:cubicBezTo>
                  <a:pt x="2598740" y="837417"/>
                  <a:pt x="2599977" y="839305"/>
                  <a:pt x="2603892" y="839305"/>
                </a:cubicBezTo>
                <a:cubicBezTo>
                  <a:pt x="2598740" y="833330"/>
                  <a:pt x="2606571" y="834430"/>
                  <a:pt x="2601420" y="829399"/>
                </a:cubicBezTo>
                <a:cubicBezTo>
                  <a:pt x="2614401" y="831443"/>
                  <a:pt x="2610486" y="824368"/>
                  <a:pt x="2620789" y="824368"/>
                </a:cubicBezTo>
                <a:cubicBezTo>
                  <a:pt x="2616875" y="816506"/>
                  <a:pt x="2633979" y="811475"/>
                  <a:pt x="2639130" y="804558"/>
                </a:cubicBezTo>
                <a:cubicBezTo>
                  <a:pt x="2652111" y="808489"/>
                  <a:pt x="2645724" y="792609"/>
                  <a:pt x="2658706" y="791665"/>
                </a:cubicBezTo>
                <a:cubicBezTo>
                  <a:pt x="2657263" y="788678"/>
                  <a:pt x="2653348" y="789621"/>
                  <a:pt x="2650875" y="787735"/>
                </a:cubicBezTo>
                <a:cubicBezTo>
                  <a:pt x="2653348" y="786634"/>
                  <a:pt x="2663857" y="787735"/>
                  <a:pt x="2657263" y="781760"/>
                </a:cubicBezTo>
                <a:cubicBezTo>
                  <a:pt x="2669009" y="777672"/>
                  <a:pt x="2672924" y="769811"/>
                  <a:pt x="2676839" y="763837"/>
                </a:cubicBezTo>
                <a:cubicBezTo>
                  <a:pt x="2683434" y="761793"/>
                  <a:pt x="2683434" y="768711"/>
                  <a:pt x="2689822" y="766823"/>
                </a:cubicBezTo>
                <a:cubicBezTo>
                  <a:pt x="2687350" y="757862"/>
                  <a:pt x="2685906" y="750944"/>
                  <a:pt x="2692501" y="741982"/>
                </a:cubicBezTo>
                <a:cubicBezTo>
                  <a:pt x="2699095" y="744026"/>
                  <a:pt x="2692501" y="745913"/>
                  <a:pt x="2696416" y="748900"/>
                </a:cubicBezTo>
                <a:cubicBezTo>
                  <a:pt x="2701568" y="747013"/>
                  <a:pt x="2703010" y="750944"/>
                  <a:pt x="2708162" y="750001"/>
                </a:cubicBezTo>
                <a:cubicBezTo>
                  <a:pt x="2704246" y="744026"/>
                  <a:pt x="2703010" y="738052"/>
                  <a:pt x="2710634" y="736951"/>
                </a:cubicBezTo>
                <a:cubicBezTo>
                  <a:pt x="2710634" y="738052"/>
                  <a:pt x="2705483" y="741982"/>
                  <a:pt x="2712077" y="742926"/>
                </a:cubicBezTo>
                <a:cubicBezTo>
                  <a:pt x="2715992" y="738995"/>
                  <a:pt x="2719907" y="733964"/>
                  <a:pt x="2715992" y="727989"/>
                </a:cubicBezTo>
                <a:cubicBezTo>
                  <a:pt x="2719907" y="727046"/>
                  <a:pt x="2721144" y="729090"/>
                  <a:pt x="2726295" y="727046"/>
                </a:cubicBezTo>
                <a:cubicBezTo>
                  <a:pt x="2725059" y="723116"/>
                  <a:pt x="2731653" y="721071"/>
                  <a:pt x="2721144" y="717141"/>
                </a:cubicBezTo>
                <a:cubicBezTo>
                  <a:pt x="2735568" y="713210"/>
                  <a:pt x="2728974" y="705192"/>
                  <a:pt x="2732890" y="699218"/>
                </a:cubicBezTo>
                <a:cubicBezTo>
                  <a:pt x="2730210" y="696230"/>
                  <a:pt x="2723823" y="702205"/>
                  <a:pt x="2721144" y="698274"/>
                </a:cubicBezTo>
                <a:cubicBezTo>
                  <a:pt x="2726295" y="694344"/>
                  <a:pt x="2735568" y="700160"/>
                  <a:pt x="2735568" y="695287"/>
                </a:cubicBezTo>
                <a:cubicBezTo>
                  <a:pt x="2731653" y="695287"/>
                  <a:pt x="2721144" y="690255"/>
                  <a:pt x="2730210" y="688369"/>
                </a:cubicBezTo>
                <a:cubicBezTo>
                  <a:pt x="2732890" y="690255"/>
                  <a:pt x="2734126" y="692300"/>
                  <a:pt x="2736805" y="692300"/>
                </a:cubicBezTo>
                <a:cubicBezTo>
                  <a:pt x="2741956" y="687347"/>
                  <a:pt x="2745511" y="682394"/>
                  <a:pt x="2747957" y="677186"/>
                </a:cubicBezTo>
                <a:lnTo>
                  <a:pt x="2751154" y="665383"/>
                </a:lnTo>
                <a:lnTo>
                  <a:pt x="2753702" y="665414"/>
                </a:lnTo>
                <a:cubicBezTo>
                  <a:pt x="2758854" y="659439"/>
                  <a:pt x="2770599" y="646547"/>
                  <a:pt x="2760296" y="644661"/>
                </a:cubicBezTo>
                <a:cubicBezTo>
                  <a:pt x="2764005" y="643560"/>
                  <a:pt x="2762769" y="641673"/>
                  <a:pt x="2764005" y="640573"/>
                </a:cubicBezTo>
                <a:cubicBezTo>
                  <a:pt x="2765447" y="641673"/>
                  <a:pt x="2767920" y="643560"/>
                  <a:pt x="2770599" y="641673"/>
                </a:cubicBezTo>
                <a:cubicBezTo>
                  <a:pt x="2764005" y="638686"/>
                  <a:pt x="2774515" y="637586"/>
                  <a:pt x="2766684" y="634756"/>
                </a:cubicBezTo>
                <a:cubicBezTo>
                  <a:pt x="2765447" y="636642"/>
                  <a:pt x="2764005" y="637586"/>
                  <a:pt x="2762769" y="639629"/>
                </a:cubicBezTo>
                <a:cubicBezTo>
                  <a:pt x="2754938" y="633655"/>
                  <a:pt x="2777194" y="635699"/>
                  <a:pt x="2770599" y="628624"/>
                </a:cubicBezTo>
                <a:cubicBezTo>
                  <a:pt x="2778430" y="627680"/>
                  <a:pt x="2771836" y="623750"/>
                  <a:pt x="2777194" y="621706"/>
                </a:cubicBezTo>
                <a:cubicBezTo>
                  <a:pt x="2782345" y="623750"/>
                  <a:pt x="2777194" y="627680"/>
                  <a:pt x="2782345" y="625637"/>
                </a:cubicBezTo>
                <a:cubicBezTo>
                  <a:pt x="2787497" y="618718"/>
                  <a:pt x="2790176" y="611801"/>
                  <a:pt x="2786261" y="603940"/>
                </a:cubicBezTo>
                <a:cubicBezTo>
                  <a:pt x="2788939" y="604883"/>
                  <a:pt x="2791412" y="604883"/>
                  <a:pt x="2794091" y="604883"/>
                </a:cubicBezTo>
                <a:cubicBezTo>
                  <a:pt x="2791412" y="602839"/>
                  <a:pt x="2796770" y="601896"/>
                  <a:pt x="2794091" y="598908"/>
                </a:cubicBezTo>
                <a:cubicBezTo>
                  <a:pt x="2791412" y="597965"/>
                  <a:pt x="2788939" y="598908"/>
                  <a:pt x="2786261" y="597965"/>
                </a:cubicBezTo>
                <a:cubicBezTo>
                  <a:pt x="2791412" y="594977"/>
                  <a:pt x="2792854" y="591991"/>
                  <a:pt x="2794091" y="589003"/>
                </a:cubicBezTo>
                <a:cubicBezTo>
                  <a:pt x="2792751" y="589475"/>
                  <a:pt x="2790124" y="589475"/>
                  <a:pt x="2788321" y="589101"/>
                </a:cubicBezTo>
                <a:lnTo>
                  <a:pt x="2787700" y="588819"/>
                </a:lnTo>
                <a:lnTo>
                  <a:pt x="2784700" y="593277"/>
                </a:lnTo>
                <a:cubicBezTo>
                  <a:pt x="2780820" y="590741"/>
                  <a:pt x="2782097" y="586977"/>
                  <a:pt x="2784675" y="582977"/>
                </a:cubicBezTo>
                <a:lnTo>
                  <a:pt x="2785853" y="581202"/>
                </a:lnTo>
                <a:lnTo>
                  <a:pt x="2783886" y="580185"/>
                </a:lnTo>
                <a:cubicBezTo>
                  <a:pt x="2783704" y="578722"/>
                  <a:pt x="2785014" y="577028"/>
                  <a:pt x="2787635" y="576103"/>
                </a:cubicBezTo>
                <a:lnTo>
                  <a:pt x="2788299" y="577517"/>
                </a:lnTo>
                <a:lnTo>
                  <a:pt x="2792460" y="571250"/>
                </a:lnTo>
                <a:cubicBezTo>
                  <a:pt x="2793685" y="574737"/>
                  <a:pt x="2793327" y="578738"/>
                  <a:pt x="2791873" y="582620"/>
                </a:cubicBezTo>
                <a:lnTo>
                  <a:pt x="2788929" y="586993"/>
                </a:lnTo>
                <a:lnTo>
                  <a:pt x="2793689" y="587107"/>
                </a:lnTo>
                <a:cubicBezTo>
                  <a:pt x="2796924" y="585485"/>
                  <a:pt x="2793061" y="579530"/>
                  <a:pt x="2798006" y="577998"/>
                </a:cubicBezTo>
                <a:cubicBezTo>
                  <a:pt x="2801921" y="577054"/>
                  <a:pt x="2804394" y="581928"/>
                  <a:pt x="2808309" y="580985"/>
                </a:cubicBezTo>
                <a:cubicBezTo>
                  <a:pt x="2800479" y="576111"/>
                  <a:pt x="2808309" y="573124"/>
                  <a:pt x="2807073" y="569035"/>
                </a:cubicBezTo>
                <a:cubicBezTo>
                  <a:pt x="2798006" y="572023"/>
                  <a:pt x="2800479" y="564161"/>
                  <a:pt x="2801921" y="562118"/>
                </a:cubicBezTo>
                <a:cubicBezTo>
                  <a:pt x="2804394" y="565105"/>
                  <a:pt x="2808309" y="568092"/>
                  <a:pt x="2816140" y="565105"/>
                </a:cubicBezTo>
                <a:cubicBezTo>
                  <a:pt x="2814903" y="563218"/>
                  <a:pt x="2807073" y="561175"/>
                  <a:pt x="2810988" y="559130"/>
                </a:cubicBezTo>
                <a:cubicBezTo>
                  <a:pt x="2825413" y="563218"/>
                  <a:pt x="2825413" y="546238"/>
                  <a:pt x="2826649" y="540264"/>
                </a:cubicBezTo>
                <a:cubicBezTo>
                  <a:pt x="2825413" y="541207"/>
                  <a:pt x="2822734" y="542308"/>
                  <a:pt x="2820055" y="540264"/>
                </a:cubicBezTo>
                <a:cubicBezTo>
                  <a:pt x="2829328" y="536333"/>
                  <a:pt x="2821498" y="538219"/>
                  <a:pt x="2821498" y="534289"/>
                </a:cubicBezTo>
                <a:cubicBezTo>
                  <a:pt x="2821498" y="534289"/>
                  <a:pt x="2821498" y="534289"/>
                  <a:pt x="2830565" y="530358"/>
                </a:cubicBezTo>
                <a:cubicBezTo>
                  <a:pt x="2834480" y="534289"/>
                  <a:pt x="2838396" y="531302"/>
                  <a:pt x="2843547" y="532402"/>
                </a:cubicBezTo>
                <a:cubicBezTo>
                  <a:pt x="2838396" y="538219"/>
                  <a:pt x="2835716" y="539320"/>
                  <a:pt x="2840868" y="545295"/>
                </a:cubicBezTo>
                <a:cubicBezTo>
                  <a:pt x="2827885" y="549225"/>
                  <a:pt x="2836952" y="549225"/>
                  <a:pt x="2825413" y="555200"/>
                </a:cubicBezTo>
                <a:cubicBezTo>
                  <a:pt x="2831801" y="554257"/>
                  <a:pt x="2834480" y="559130"/>
                  <a:pt x="2831801" y="562118"/>
                </a:cubicBezTo>
                <a:cubicBezTo>
                  <a:pt x="2829328" y="561175"/>
                  <a:pt x="2827885" y="558187"/>
                  <a:pt x="2825413" y="559130"/>
                </a:cubicBezTo>
                <a:cubicBezTo>
                  <a:pt x="2827885" y="561175"/>
                  <a:pt x="2816140" y="561175"/>
                  <a:pt x="2820055" y="564161"/>
                </a:cubicBezTo>
                <a:cubicBezTo>
                  <a:pt x="2826649" y="566049"/>
                  <a:pt x="2831801" y="564161"/>
                  <a:pt x="2836952" y="568092"/>
                </a:cubicBezTo>
                <a:cubicBezTo>
                  <a:pt x="2830565" y="571080"/>
                  <a:pt x="2826649" y="563218"/>
                  <a:pt x="2820055" y="568092"/>
                </a:cubicBezTo>
                <a:cubicBezTo>
                  <a:pt x="2829328" y="573124"/>
                  <a:pt x="2807073" y="577054"/>
                  <a:pt x="2818818" y="581928"/>
                </a:cubicBezTo>
                <a:cubicBezTo>
                  <a:pt x="2823970" y="580985"/>
                  <a:pt x="2830565" y="577054"/>
                  <a:pt x="2834480" y="580041"/>
                </a:cubicBezTo>
                <a:cubicBezTo>
                  <a:pt x="2825413" y="583028"/>
                  <a:pt x="2826649" y="583972"/>
                  <a:pt x="2817582" y="583028"/>
                </a:cubicBezTo>
                <a:cubicBezTo>
                  <a:pt x="2827885" y="591991"/>
                  <a:pt x="2817582" y="600952"/>
                  <a:pt x="2813667" y="609757"/>
                </a:cubicBezTo>
                <a:cubicBezTo>
                  <a:pt x="2814903" y="608813"/>
                  <a:pt x="2816140" y="608813"/>
                  <a:pt x="2817582" y="610857"/>
                </a:cubicBezTo>
                <a:cubicBezTo>
                  <a:pt x="2821498" y="608813"/>
                  <a:pt x="2816140" y="606927"/>
                  <a:pt x="2822734" y="605826"/>
                </a:cubicBezTo>
                <a:cubicBezTo>
                  <a:pt x="2827885" y="610857"/>
                  <a:pt x="2812225" y="610857"/>
                  <a:pt x="2812225" y="614788"/>
                </a:cubicBezTo>
                <a:cubicBezTo>
                  <a:pt x="2817582" y="614788"/>
                  <a:pt x="2821498" y="615731"/>
                  <a:pt x="2818818" y="619819"/>
                </a:cubicBezTo>
                <a:cubicBezTo>
                  <a:pt x="2813667" y="613844"/>
                  <a:pt x="2813667" y="620762"/>
                  <a:pt x="2804394" y="621706"/>
                </a:cubicBezTo>
                <a:cubicBezTo>
                  <a:pt x="2809752" y="628624"/>
                  <a:pt x="2794091" y="645604"/>
                  <a:pt x="2808309" y="650635"/>
                </a:cubicBezTo>
                <a:cubicBezTo>
                  <a:pt x="2803158" y="653465"/>
                  <a:pt x="2801921" y="650635"/>
                  <a:pt x="2798006" y="650635"/>
                </a:cubicBezTo>
                <a:cubicBezTo>
                  <a:pt x="2796770" y="656453"/>
                  <a:pt x="2788939" y="662427"/>
                  <a:pt x="2792854" y="668402"/>
                </a:cubicBezTo>
                <a:cubicBezTo>
                  <a:pt x="2790176" y="666515"/>
                  <a:pt x="2787497" y="664471"/>
                  <a:pt x="2785025" y="665414"/>
                </a:cubicBezTo>
                <a:cubicBezTo>
                  <a:pt x="2785025" y="668402"/>
                  <a:pt x="2782345" y="670445"/>
                  <a:pt x="2787497" y="673433"/>
                </a:cubicBezTo>
                <a:cubicBezTo>
                  <a:pt x="2791412" y="672489"/>
                  <a:pt x="2794091" y="670445"/>
                  <a:pt x="2796770" y="671389"/>
                </a:cubicBezTo>
                <a:cubicBezTo>
                  <a:pt x="2792854" y="673433"/>
                  <a:pt x="2798006" y="676420"/>
                  <a:pt x="2791412" y="678464"/>
                </a:cubicBezTo>
                <a:cubicBezTo>
                  <a:pt x="2787497" y="674376"/>
                  <a:pt x="2783581" y="673433"/>
                  <a:pt x="2778430" y="676420"/>
                </a:cubicBezTo>
                <a:cubicBezTo>
                  <a:pt x="2787497" y="684281"/>
                  <a:pt x="2760296" y="689312"/>
                  <a:pt x="2775752" y="696230"/>
                </a:cubicBezTo>
                <a:cubicBezTo>
                  <a:pt x="2774515" y="698274"/>
                  <a:pt x="2773278" y="699218"/>
                  <a:pt x="2769363" y="698274"/>
                </a:cubicBezTo>
                <a:cubicBezTo>
                  <a:pt x="2775752" y="701261"/>
                  <a:pt x="2766684" y="704248"/>
                  <a:pt x="2773278" y="704248"/>
                </a:cubicBezTo>
                <a:cubicBezTo>
                  <a:pt x="2774515" y="703148"/>
                  <a:pt x="2774515" y="701261"/>
                  <a:pt x="2778430" y="702205"/>
                </a:cubicBezTo>
                <a:cubicBezTo>
                  <a:pt x="2775752" y="707236"/>
                  <a:pt x="2766684" y="711166"/>
                  <a:pt x="2762769" y="715097"/>
                </a:cubicBezTo>
                <a:cubicBezTo>
                  <a:pt x="2765447" y="714154"/>
                  <a:pt x="2766684" y="716197"/>
                  <a:pt x="2767920" y="716197"/>
                </a:cubicBezTo>
                <a:cubicBezTo>
                  <a:pt x="2771836" y="715097"/>
                  <a:pt x="2771836" y="714154"/>
                  <a:pt x="2774515" y="713210"/>
                </a:cubicBezTo>
                <a:cubicBezTo>
                  <a:pt x="2778430" y="725002"/>
                  <a:pt x="2753702" y="730977"/>
                  <a:pt x="2761532" y="744970"/>
                </a:cubicBezTo>
                <a:cubicBezTo>
                  <a:pt x="2753702" y="747013"/>
                  <a:pt x="2761532" y="741982"/>
                  <a:pt x="2756381" y="742926"/>
                </a:cubicBezTo>
                <a:cubicBezTo>
                  <a:pt x="2747108" y="747957"/>
                  <a:pt x="2747108" y="754874"/>
                  <a:pt x="2740719" y="759906"/>
                </a:cubicBezTo>
                <a:cubicBezTo>
                  <a:pt x="2749786" y="769811"/>
                  <a:pt x="2717228" y="772798"/>
                  <a:pt x="2731653" y="780659"/>
                </a:cubicBezTo>
                <a:cubicBezTo>
                  <a:pt x="2719907" y="778773"/>
                  <a:pt x="2730210" y="788678"/>
                  <a:pt x="2715992" y="788678"/>
                </a:cubicBezTo>
                <a:cubicBezTo>
                  <a:pt x="2722380" y="794653"/>
                  <a:pt x="2714550" y="795596"/>
                  <a:pt x="2713313" y="798583"/>
                </a:cubicBezTo>
                <a:cubicBezTo>
                  <a:pt x="2703010" y="795596"/>
                  <a:pt x="2697653" y="805501"/>
                  <a:pt x="2705483" y="812419"/>
                </a:cubicBezTo>
                <a:cubicBezTo>
                  <a:pt x="2700331" y="814463"/>
                  <a:pt x="2700331" y="811475"/>
                  <a:pt x="2696416" y="810532"/>
                </a:cubicBezTo>
                <a:cubicBezTo>
                  <a:pt x="2699095" y="814463"/>
                  <a:pt x="2687350" y="812419"/>
                  <a:pt x="2691264" y="815406"/>
                </a:cubicBezTo>
                <a:cubicBezTo>
                  <a:pt x="2695179" y="816506"/>
                  <a:pt x="2700331" y="821380"/>
                  <a:pt x="2695179" y="821380"/>
                </a:cubicBezTo>
                <a:cubicBezTo>
                  <a:pt x="2692501" y="820437"/>
                  <a:pt x="2692501" y="815406"/>
                  <a:pt x="2688586" y="815406"/>
                </a:cubicBezTo>
                <a:cubicBezTo>
                  <a:pt x="2681992" y="816506"/>
                  <a:pt x="2691264" y="824368"/>
                  <a:pt x="2688586" y="826412"/>
                </a:cubicBezTo>
                <a:cubicBezTo>
                  <a:pt x="2683434" y="824368"/>
                  <a:pt x="2683434" y="824368"/>
                  <a:pt x="2678075" y="825468"/>
                </a:cubicBezTo>
                <a:cubicBezTo>
                  <a:pt x="2683434" y="831443"/>
                  <a:pt x="2676839" y="833330"/>
                  <a:pt x="2681992" y="839305"/>
                </a:cubicBezTo>
                <a:cubicBezTo>
                  <a:pt x="2683434" y="838361"/>
                  <a:pt x="2685906" y="838361"/>
                  <a:pt x="2688586" y="840247"/>
                </a:cubicBezTo>
                <a:cubicBezTo>
                  <a:pt x="2687350" y="840247"/>
                  <a:pt x="2684670" y="840247"/>
                  <a:pt x="2684670" y="841348"/>
                </a:cubicBezTo>
                <a:cubicBezTo>
                  <a:pt x="2687350" y="843235"/>
                  <a:pt x="2692501" y="842291"/>
                  <a:pt x="2693737" y="844335"/>
                </a:cubicBezTo>
                <a:cubicBezTo>
                  <a:pt x="2681992" y="846222"/>
                  <a:pt x="2693737" y="851253"/>
                  <a:pt x="2679519" y="852196"/>
                </a:cubicBezTo>
                <a:cubicBezTo>
                  <a:pt x="2676839" y="849209"/>
                  <a:pt x="2687350" y="846222"/>
                  <a:pt x="2675603" y="846222"/>
                </a:cubicBezTo>
                <a:cubicBezTo>
                  <a:pt x="2671688" y="842291"/>
                  <a:pt x="2683434" y="841348"/>
                  <a:pt x="2676839" y="839305"/>
                </a:cubicBezTo>
                <a:cubicBezTo>
                  <a:pt x="2672924" y="840247"/>
                  <a:pt x="2675603" y="844335"/>
                  <a:pt x="2665094" y="842291"/>
                </a:cubicBezTo>
                <a:cubicBezTo>
                  <a:pt x="2670246" y="848266"/>
                  <a:pt x="2661179" y="846222"/>
                  <a:pt x="2665094" y="850310"/>
                </a:cubicBezTo>
                <a:cubicBezTo>
                  <a:pt x="2670246" y="851253"/>
                  <a:pt x="2667772" y="848266"/>
                  <a:pt x="2671688" y="848266"/>
                </a:cubicBezTo>
                <a:cubicBezTo>
                  <a:pt x="2671688" y="851253"/>
                  <a:pt x="2676839" y="851253"/>
                  <a:pt x="2679519" y="852196"/>
                </a:cubicBezTo>
                <a:cubicBezTo>
                  <a:pt x="2681992" y="856284"/>
                  <a:pt x="2679519" y="858171"/>
                  <a:pt x="2674161" y="858171"/>
                </a:cubicBezTo>
                <a:cubicBezTo>
                  <a:pt x="2672924" y="856284"/>
                  <a:pt x="2672924" y="853297"/>
                  <a:pt x="2670246" y="853297"/>
                </a:cubicBezTo>
                <a:cubicBezTo>
                  <a:pt x="2670246" y="854241"/>
                  <a:pt x="2667772" y="854241"/>
                  <a:pt x="2667772" y="855184"/>
                </a:cubicBezTo>
                <a:cubicBezTo>
                  <a:pt x="2667772" y="857228"/>
                  <a:pt x="2669370" y="857975"/>
                  <a:pt x="2670967" y="858584"/>
                </a:cubicBezTo>
                <a:lnTo>
                  <a:pt x="2673175" y="860364"/>
                </a:lnTo>
                <a:lnTo>
                  <a:pt x="2692829" y="852324"/>
                </a:lnTo>
                <a:cubicBezTo>
                  <a:pt x="2694169" y="849888"/>
                  <a:pt x="2696435" y="848158"/>
                  <a:pt x="2699192" y="847667"/>
                </a:cubicBezTo>
                <a:lnTo>
                  <a:pt x="2708129" y="850330"/>
                </a:lnTo>
                <a:lnTo>
                  <a:pt x="2708909" y="849641"/>
                </a:lnTo>
                <a:cubicBezTo>
                  <a:pt x="2711974" y="848030"/>
                  <a:pt x="2716507" y="846772"/>
                  <a:pt x="2718465" y="846222"/>
                </a:cubicBezTo>
                <a:cubicBezTo>
                  <a:pt x="2726295" y="842291"/>
                  <a:pt x="2721144" y="831443"/>
                  <a:pt x="2730210" y="833330"/>
                </a:cubicBezTo>
                <a:cubicBezTo>
                  <a:pt x="2728974" y="835374"/>
                  <a:pt x="2730210" y="838361"/>
                  <a:pt x="2726295" y="839305"/>
                </a:cubicBezTo>
                <a:cubicBezTo>
                  <a:pt x="2740977" y="840837"/>
                  <a:pt x="2735143" y="829458"/>
                  <a:pt x="2740088" y="823673"/>
                </a:cubicBezTo>
                <a:lnTo>
                  <a:pt x="2749475" y="820541"/>
                </a:lnTo>
                <a:lnTo>
                  <a:pt x="2749844" y="819899"/>
                </a:lnTo>
                <a:lnTo>
                  <a:pt x="2750686" y="812006"/>
                </a:lnTo>
                <a:cubicBezTo>
                  <a:pt x="2756162" y="804076"/>
                  <a:pt x="2771579" y="797561"/>
                  <a:pt x="2762769" y="791665"/>
                </a:cubicBezTo>
                <a:cubicBezTo>
                  <a:pt x="2767920" y="791665"/>
                  <a:pt x="2765447" y="788678"/>
                  <a:pt x="2770599" y="788678"/>
                </a:cubicBezTo>
                <a:cubicBezTo>
                  <a:pt x="2765447" y="785690"/>
                  <a:pt x="2771836" y="776729"/>
                  <a:pt x="2782345" y="780659"/>
                </a:cubicBezTo>
                <a:cubicBezTo>
                  <a:pt x="2786261" y="772798"/>
                  <a:pt x="2781109" y="762893"/>
                  <a:pt x="2792854" y="757862"/>
                </a:cubicBezTo>
                <a:cubicBezTo>
                  <a:pt x="2796770" y="757862"/>
                  <a:pt x="2796770" y="762893"/>
                  <a:pt x="2800479" y="762893"/>
                </a:cubicBezTo>
                <a:cubicBezTo>
                  <a:pt x="2800479" y="760849"/>
                  <a:pt x="2800479" y="755818"/>
                  <a:pt x="2794091" y="757862"/>
                </a:cubicBezTo>
                <a:cubicBezTo>
                  <a:pt x="2794091" y="747957"/>
                  <a:pt x="2810988" y="741982"/>
                  <a:pt x="2807073" y="730977"/>
                </a:cubicBezTo>
                <a:cubicBezTo>
                  <a:pt x="2813667" y="732077"/>
                  <a:pt x="2816140" y="727046"/>
                  <a:pt x="2808309" y="725002"/>
                </a:cubicBezTo>
                <a:cubicBezTo>
                  <a:pt x="2812225" y="723116"/>
                  <a:pt x="2813667" y="725002"/>
                  <a:pt x="2816140" y="725002"/>
                </a:cubicBezTo>
                <a:cubicBezTo>
                  <a:pt x="2816140" y="721071"/>
                  <a:pt x="2826649" y="716197"/>
                  <a:pt x="2816140" y="713210"/>
                </a:cubicBezTo>
                <a:cubicBezTo>
                  <a:pt x="2820055" y="710223"/>
                  <a:pt x="2821498" y="706135"/>
                  <a:pt x="2823970" y="703148"/>
                </a:cubicBezTo>
                <a:cubicBezTo>
                  <a:pt x="2842310" y="701261"/>
                  <a:pt x="2834480" y="678464"/>
                  <a:pt x="2854056" y="669502"/>
                </a:cubicBezTo>
                <a:cubicBezTo>
                  <a:pt x="2843547" y="656453"/>
                  <a:pt x="2876105" y="647648"/>
                  <a:pt x="2861680" y="634756"/>
                </a:cubicBezTo>
                <a:cubicBezTo>
                  <a:pt x="2870953" y="632712"/>
                  <a:pt x="2861680" y="629724"/>
                  <a:pt x="2868274" y="628624"/>
                </a:cubicBezTo>
                <a:cubicBezTo>
                  <a:pt x="2873426" y="635699"/>
                  <a:pt x="2865596" y="644661"/>
                  <a:pt x="2867038" y="654566"/>
                </a:cubicBezTo>
                <a:cubicBezTo>
                  <a:pt x="2869511" y="654566"/>
                  <a:pt x="2873426" y="656453"/>
                  <a:pt x="2877341" y="656453"/>
                </a:cubicBezTo>
                <a:cubicBezTo>
                  <a:pt x="2880020" y="653465"/>
                  <a:pt x="2880020" y="651578"/>
                  <a:pt x="2874869" y="647648"/>
                </a:cubicBezTo>
                <a:cubicBezTo>
                  <a:pt x="2881256" y="643560"/>
                  <a:pt x="2882699" y="654566"/>
                  <a:pt x="2889087" y="648592"/>
                </a:cubicBezTo>
                <a:cubicBezTo>
                  <a:pt x="2881256" y="647648"/>
                  <a:pt x="2891765" y="637586"/>
                  <a:pt x="2878784" y="639629"/>
                </a:cubicBezTo>
                <a:cubicBezTo>
                  <a:pt x="2887851" y="635699"/>
                  <a:pt x="2878784" y="630668"/>
                  <a:pt x="2885172" y="628624"/>
                </a:cubicBezTo>
                <a:cubicBezTo>
                  <a:pt x="2876105" y="630668"/>
                  <a:pt x="2878784" y="626737"/>
                  <a:pt x="2870953" y="625637"/>
                </a:cubicBezTo>
                <a:cubicBezTo>
                  <a:pt x="2881256" y="620762"/>
                  <a:pt x="2877341" y="615731"/>
                  <a:pt x="2873426" y="611801"/>
                </a:cubicBezTo>
                <a:cubicBezTo>
                  <a:pt x="2877341" y="608813"/>
                  <a:pt x="2880020" y="612744"/>
                  <a:pt x="2883936" y="610857"/>
                </a:cubicBezTo>
                <a:cubicBezTo>
                  <a:pt x="2882699" y="604883"/>
                  <a:pt x="2885172" y="593877"/>
                  <a:pt x="2893002" y="591991"/>
                </a:cubicBezTo>
                <a:cubicBezTo>
                  <a:pt x="2889087" y="595921"/>
                  <a:pt x="2894239" y="600952"/>
                  <a:pt x="2891765" y="605826"/>
                </a:cubicBezTo>
                <a:cubicBezTo>
                  <a:pt x="2896917" y="602839"/>
                  <a:pt x="2900833" y="606927"/>
                  <a:pt x="2905984" y="601896"/>
                </a:cubicBezTo>
                <a:cubicBezTo>
                  <a:pt x="2899596" y="601896"/>
                  <a:pt x="2903512" y="598908"/>
                  <a:pt x="2898154" y="595921"/>
                </a:cubicBezTo>
                <a:cubicBezTo>
                  <a:pt x="2909900" y="597965"/>
                  <a:pt x="2923087" y="576111"/>
                  <a:pt x="2913814" y="572023"/>
                </a:cubicBezTo>
                <a:cubicBezTo>
                  <a:pt x="2919173" y="568092"/>
                  <a:pt x="2920409" y="574067"/>
                  <a:pt x="2924324" y="570136"/>
                </a:cubicBezTo>
                <a:cubicBezTo>
                  <a:pt x="2923087" y="569035"/>
                  <a:pt x="2924324" y="568092"/>
                  <a:pt x="2923087" y="567149"/>
                </a:cubicBezTo>
                <a:cubicBezTo>
                  <a:pt x="2916493" y="566049"/>
                  <a:pt x="2912578" y="564161"/>
                  <a:pt x="2905984" y="568092"/>
                </a:cubicBezTo>
                <a:cubicBezTo>
                  <a:pt x="2908663" y="565105"/>
                  <a:pt x="2908663" y="562118"/>
                  <a:pt x="2908663" y="559130"/>
                </a:cubicBezTo>
                <a:cubicBezTo>
                  <a:pt x="2902069" y="560231"/>
                  <a:pt x="2903512" y="566049"/>
                  <a:pt x="2898154" y="564161"/>
                </a:cubicBezTo>
                <a:cubicBezTo>
                  <a:pt x="2907427" y="561175"/>
                  <a:pt x="2895681" y="557244"/>
                  <a:pt x="2904748" y="554257"/>
                </a:cubicBezTo>
                <a:cubicBezTo>
                  <a:pt x="2912578" y="556143"/>
                  <a:pt x="2909900" y="560231"/>
                  <a:pt x="2916493" y="560231"/>
                </a:cubicBezTo>
                <a:cubicBezTo>
                  <a:pt x="2921645" y="557244"/>
                  <a:pt x="2915051" y="553156"/>
                  <a:pt x="2920409" y="550169"/>
                </a:cubicBezTo>
                <a:lnTo>
                  <a:pt x="2921720" y="550181"/>
                </a:lnTo>
                <a:lnTo>
                  <a:pt x="2922104" y="549354"/>
                </a:lnTo>
                <a:cubicBezTo>
                  <a:pt x="2923742" y="546855"/>
                  <a:pt x="2926030" y="544117"/>
                  <a:pt x="2926030" y="542133"/>
                </a:cubicBezTo>
                <a:cubicBezTo>
                  <a:pt x="2928007" y="542609"/>
                  <a:pt x="2929086" y="543532"/>
                  <a:pt x="2929508" y="544680"/>
                </a:cubicBezTo>
                <a:lnTo>
                  <a:pt x="2929450" y="545173"/>
                </a:lnTo>
                <a:lnTo>
                  <a:pt x="2932644" y="543782"/>
                </a:lnTo>
                <a:cubicBezTo>
                  <a:pt x="2935400" y="543526"/>
                  <a:pt x="2938646" y="543251"/>
                  <a:pt x="2941222" y="541207"/>
                </a:cubicBezTo>
                <a:cubicBezTo>
                  <a:pt x="2939985" y="539320"/>
                  <a:pt x="2941222" y="537276"/>
                  <a:pt x="2937307" y="536333"/>
                </a:cubicBezTo>
                <a:cubicBezTo>
                  <a:pt x="2933391" y="536333"/>
                  <a:pt x="2936070" y="542308"/>
                  <a:pt x="2930713" y="539320"/>
                </a:cubicBezTo>
                <a:lnTo>
                  <a:pt x="2932858" y="532460"/>
                </a:lnTo>
                <a:lnTo>
                  <a:pt x="2930418" y="527509"/>
                </a:lnTo>
                <a:cubicBezTo>
                  <a:pt x="2929100" y="520210"/>
                  <a:pt x="2932095" y="509379"/>
                  <a:pt x="2941199" y="513029"/>
                </a:cubicBezTo>
                <a:lnTo>
                  <a:pt x="2938558" y="519537"/>
                </a:lnTo>
                <a:lnTo>
                  <a:pt x="2943643" y="529002"/>
                </a:lnTo>
                <a:cubicBezTo>
                  <a:pt x="2945446" y="531853"/>
                  <a:pt x="2947094" y="534839"/>
                  <a:pt x="2947816" y="539320"/>
                </a:cubicBezTo>
                <a:cubicBezTo>
                  <a:pt x="2950288" y="538219"/>
                  <a:pt x="2951525" y="538219"/>
                  <a:pt x="2952967" y="538219"/>
                </a:cubicBezTo>
                <a:cubicBezTo>
                  <a:pt x="2952967" y="530358"/>
                  <a:pt x="2947816" y="521397"/>
                  <a:pt x="2949052" y="513378"/>
                </a:cubicBezTo>
                <a:cubicBezTo>
                  <a:pt x="2952967" y="511492"/>
                  <a:pt x="2954204" y="513378"/>
                  <a:pt x="2956883" y="512435"/>
                </a:cubicBezTo>
                <a:cubicBezTo>
                  <a:pt x="2955440" y="511492"/>
                  <a:pt x="2956883" y="510391"/>
                  <a:pt x="2956883" y="509448"/>
                </a:cubicBezTo>
                <a:cubicBezTo>
                  <a:pt x="2954204" y="508504"/>
                  <a:pt x="2951525" y="510391"/>
                  <a:pt x="2950288" y="509448"/>
                </a:cubicBezTo>
                <a:cubicBezTo>
                  <a:pt x="2949052" y="506460"/>
                  <a:pt x="2947816" y="499542"/>
                  <a:pt x="2956883" y="498599"/>
                </a:cubicBezTo>
                <a:cubicBezTo>
                  <a:pt x="2954204" y="492625"/>
                  <a:pt x="2939985" y="481619"/>
                  <a:pt x="2951525" y="478632"/>
                </a:cubicBezTo>
                <a:cubicBezTo>
                  <a:pt x="2951525" y="480676"/>
                  <a:pt x="2958119" y="485707"/>
                  <a:pt x="2963271" y="494511"/>
                </a:cubicBezTo>
                <a:cubicBezTo>
                  <a:pt x="2965949" y="487593"/>
                  <a:pt x="2955440" y="480676"/>
                  <a:pt x="2964713" y="473758"/>
                </a:cubicBezTo>
                <a:cubicBezTo>
                  <a:pt x="2958119" y="478632"/>
                  <a:pt x="2954204" y="472657"/>
                  <a:pt x="2949052" y="474701"/>
                </a:cubicBezTo>
                <a:cubicBezTo>
                  <a:pt x="2951525" y="472657"/>
                  <a:pt x="2946373" y="470771"/>
                  <a:pt x="2950288" y="469670"/>
                </a:cubicBezTo>
                <a:cubicBezTo>
                  <a:pt x="2952967" y="473758"/>
                  <a:pt x="2960798" y="474701"/>
                  <a:pt x="2968628" y="471714"/>
                </a:cubicBezTo>
                <a:cubicBezTo>
                  <a:pt x="2958119" y="467783"/>
                  <a:pt x="2964713" y="464796"/>
                  <a:pt x="2972544" y="461809"/>
                </a:cubicBezTo>
                <a:cubicBezTo>
                  <a:pt x="2966670" y="455834"/>
                  <a:pt x="2966670" y="451118"/>
                  <a:pt x="2967649" y="446519"/>
                </a:cubicBezTo>
                <a:lnTo>
                  <a:pt x="2968763" y="441651"/>
                </a:lnTo>
                <a:lnTo>
                  <a:pt x="2968219" y="442838"/>
                </a:lnTo>
                <a:cubicBezTo>
                  <a:pt x="2958998" y="441897"/>
                  <a:pt x="2958998" y="441897"/>
                  <a:pt x="2958998" y="441897"/>
                </a:cubicBezTo>
                <a:cubicBezTo>
                  <a:pt x="2957769" y="430909"/>
                  <a:pt x="2957769" y="427927"/>
                  <a:pt x="2964326" y="418038"/>
                </a:cubicBezTo>
                <a:cubicBezTo>
                  <a:pt x="2967860" y="419254"/>
                  <a:pt x="2970434" y="420726"/>
                  <a:pt x="2972166" y="422421"/>
                </a:cubicBezTo>
                <a:lnTo>
                  <a:pt x="2974422" y="427050"/>
                </a:lnTo>
                <a:lnTo>
                  <a:pt x="2978909" y="424278"/>
                </a:lnTo>
                <a:cubicBezTo>
                  <a:pt x="2985725" y="425256"/>
                  <a:pt x="2981678" y="432434"/>
                  <a:pt x="2976354" y="431455"/>
                </a:cubicBezTo>
                <a:cubicBezTo>
                  <a:pt x="2977632" y="430395"/>
                  <a:pt x="2977259" y="429620"/>
                  <a:pt x="2976247" y="429110"/>
                </a:cubicBezTo>
                <a:lnTo>
                  <a:pt x="2974652" y="428805"/>
                </a:lnTo>
                <a:lnTo>
                  <a:pt x="2972473" y="433558"/>
                </a:lnTo>
                <a:lnTo>
                  <a:pt x="2974153" y="434268"/>
                </a:lnTo>
                <a:cubicBezTo>
                  <a:pt x="2976085" y="436611"/>
                  <a:pt x="2975390" y="440105"/>
                  <a:pt x="2977322" y="442173"/>
                </a:cubicBezTo>
                <a:lnTo>
                  <a:pt x="2982519" y="443783"/>
                </a:lnTo>
                <a:lnTo>
                  <a:pt x="2983069" y="442834"/>
                </a:lnTo>
                <a:lnTo>
                  <a:pt x="2984061" y="438112"/>
                </a:lnTo>
                <a:cubicBezTo>
                  <a:pt x="2983375" y="432437"/>
                  <a:pt x="2979241" y="426984"/>
                  <a:pt x="2991914" y="421088"/>
                </a:cubicBezTo>
                <a:cubicBezTo>
                  <a:pt x="2985526" y="415113"/>
                  <a:pt x="2989442" y="409139"/>
                  <a:pt x="2989442" y="403164"/>
                </a:cubicBezTo>
                <a:cubicBezTo>
                  <a:pt x="2987484" y="402143"/>
                  <a:pt x="2985526" y="401907"/>
                  <a:pt x="2983723" y="401553"/>
                </a:cubicBezTo>
                <a:lnTo>
                  <a:pt x="2979749" y="399629"/>
                </a:lnTo>
                <a:lnTo>
                  <a:pt x="2978974" y="400674"/>
                </a:lnTo>
                <a:cubicBezTo>
                  <a:pt x="2977179" y="402064"/>
                  <a:pt x="2975203" y="403335"/>
                  <a:pt x="2973851" y="405401"/>
                </a:cubicBezTo>
                <a:cubicBezTo>
                  <a:pt x="2965948" y="402382"/>
                  <a:pt x="2971147" y="401270"/>
                  <a:pt x="2973851" y="396345"/>
                </a:cubicBezTo>
                <a:cubicBezTo>
                  <a:pt x="2972604" y="394279"/>
                  <a:pt x="2967195" y="394279"/>
                  <a:pt x="2968651" y="390307"/>
                </a:cubicBezTo>
                <a:cubicBezTo>
                  <a:pt x="2972604" y="390307"/>
                  <a:pt x="2974892" y="391301"/>
                  <a:pt x="2976841" y="392413"/>
                </a:cubicBezTo>
                <a:lnTo>
                  <a:pt x="2977167" y="392561"/>
                </a:lnTo>
                <a:lnTo>
                  <a:pt x="2978581" y="391876"/>
                </a:lnTo>
                <a:cubicBezTo>
                  <a:pt x="2982474" y="391441"/>
                  <a:pt x="2984135" y="395893"/>
                  <a:pt x="2987998" y="398133"/>
                </a:cubicBezTo>
                <a:cubicBezTo>
                  <a:pt x="2987998" y="396678"/>
                  <a:pt x="2988334" y="396138"/>
                  <a:pt x="2988896" y="396070"/>
                </a:cubicBezTo>
                <a:lnTo>
                  <a:pt x="2991121" y="396820"/>
                </a:lnTo>
                <a:lnTo>
                  <a:pt x="2992285" y="394900"/>
                </a:lnTo>
                <a:lnTo>
                  <a:pt x="2994885" y="394717"/>
                </a:lnTo>
                <a:lnTo>
                  <a:pt x="2990678" y="392021"/>
                </a:lnTo>
                <a:cubicBezTo>
                  <a:pt x="2990008" y="390547"/>
                  <a:pt x="2991296" y="389328"/>
                  <a:pt x="2995829" y="389328"/>
                </a:cubicBezTo>
                <a:close/>
                <a:moveTo>
                  <a:pt x="2618160" y="388921"/>
                </a:moveTo>
                <a:cubicBezTo>
                  <a:pt x="2637707" y="390810"/>
                  <a:pt x="2610342" y="401824"/>
                  <a:pt x="2624539" y="406702"/>
                </a:cubicBezTo>
                <a:cubicBezTo>
                  <a:pt x="2619395" y="405758"/>
                  <a:pt x="2614252" y="411737"/>
                  <a:pt x="2622070" y="414727"/>
                </a:cubicBezTo>
                <a:cubicBezTo>
                  <a:pt x="2618160" y="414727"/>
                  <a:pt x="2611577" y="415671"/>
                  <a:pt x="2620630" y="419762"/>
                </a:cubicBezTo>
                <a:cubicBezTo>
                  <a:pt x="2607668" y="422595"/>
                  <a:pt x="2615487" y="431564"/>
                  <a:pt x="2607668" y="436599"/>
                </a:cubicBezTo>
                <a:cubicBezTo>
                  <a:pt x="2605199" y="428574"/>
                  <a:pt x="2606434" y="420707"/>
                  <a:pt x="2609108" y="412681"/>
                </a:cubicBezTo>
                <a:cubicBezTo>
                  <a:pt x="2612811" y="405758"/>
                  <a:pt x="2618160" y="397733"/>
                  <a:pt x="2618160" y="388921"/>
                </a:cubicBezTo>
                <a:close/>
                <a:moveTo>
                  <a:pt x="2662959" y="386148"/>
                </a:moveTo>
                <a:cubicBezTo>
                  <a:pt x="2674497" y="391055"/>
                  <a:pt x="2679854" y="389156"/>
                  <a:pt x="2687683" y="395013"/>
                </a:cubicBezTo>
                <a:cubicBezTo>
                  <a:pt x="2682327" y="399129"/>
                  <a:pt x="2674497" y="400079"/>
                  <a:pt x="2678412" y="406094"/>
                </a:cubicBezTo>
                <a:cubicBezTo>
                  <a:pt x="2668110" y="405145"/>
                  <a:pt x="2678412" y="400079"/>
                  <a:pt x="2672025" y="395013"/>
                </a:cubicBezTo>
                <a:cubicBezTo>
                  <a:pt x="2666873" y="397071"/>
                  <a:pt x="2665431" y="403086"/>
                  <a:pt x="2660280" y="405145"/>
                </a:cubicBezTo>
                <a:cubicBezTo>
                  <a:pt x="2652451" y="399129"/>
                  <a:pt x="2668110" y="391055"/>
                  <a:pt x="2662959" y="386148"/>
                </a:cubicBezTo>
                <a:close/>
                <a:moveTo>
                  <a:pt x="3079511" y="385007"/>
                </a:moveTo>
                <a:cubicBezTo>
                  <a:pt x="3083463" y="381988"/>
                  <a:pt x="3082007" y="387072"/>
                  <a:pt x="3082007" y="390091"/>
                </a:cubicBezTo>
                <a:cubicBezTo>
                  <a:pt x="3089911" y="391044"/>
                  <a:pt x="3088663" y="387072"/>
                  <a:pt x="3093863" y="391044"/>
                </a:cubicBezTo>
                <a:cubicBezTo>
                  <a:pt x="3089911" y="394063"/>
                  <a:pt x="3087415" y="397082"/>
                  <a:pt x="3079511" y="396128"/>
                </a:cubicBezTo>
                <a:cubicBezTo>
                  <a:pt x="3076807" y="391044"/>
                  <a:pt x="3082007" y="392156"/>
                  <a:pt x="3079511" y="385007"/>
                </a:cubicBezTo>
                <a:close/>
                <a:moveTo>
                  <a:pt x="2508878" y="377135"/>
                </a:moveTo>
                <a:cubicBezTo>
                  <a:pt x="2515543" y="379037"/>
                  <a:pt x="2521998" y="381097"/>
                  <a:pt x="2528661" y="383157"/>
                </a:cubicBezTo>
                <a:lnTo>
                  <a:pt x="2527203" y="388070"/>
                </a:lnTo>
                <a:cubicBezTo>
                  <a:pt x="2520748" y="384108"/>
                  <a:pt x="2510128" y="382048"/>
                  <a:pt x="2508878" y="377135"/>
                </a:cubicBezTo>
                <a:close/>
                <a:moveTo>
                  <a:pt x="3115530" y="372514"/>
                </a:moveTo>
                <a:cubicBezTo>
                  <a:pt x="3127483" y="371589"/>
                  <a:pt x="3116789" y="383298"/>
                  <a:pt x="3118047" y="388074"/>
                </a:cubicBezTo>
                <a:cubicBezTo>
                  <a:pt x="3114063" y="385146"/>
                  <a:pt x="3114063" y="379292"/>
                  <a:pt x="3115530" y="372514"/>
                </a:cubicBezTo>
                <a:close/>
                <a:moveTo>
                  <a:pt x="2941816" y="372283"/>
                </a:moveTo>
                <a:cubicBezTo>
                  <a:pt x="2952115" y="378202"/>
                  <a:pt x="2944442" y="390977"/>
                  <a:pt x="2940605" y="399857"/>
                </a:cubicBezTo>
                <a:cubicBezTo>
                  <a:pt x="2934143" y="393937"/>
                  <a:pt x="2940605" y="382097"/>
                  <a:pt x="2941816" y="372283"/>
                </a:cubicBezTo>
                <a:close/>
                <a:moveTo>
                  <a:pt x="2976354" y="369510"/>
                </a:moveTo>
                <a:cubicBezTo>
                  <a:pt x="2981678" y="373574"/>
                  <a:pt x="2972308" y="379358"/>
                  <a:pt x="2985725" y="380452"/>
                </a:cubicBezTo>
                <a:cubicBezTo>
                  <a:pt x="2982956" y="383423"/>
                  <a:pt x="2978909" y="381390"/>
                  <a:pt x="2976354" y="385298"/>
                </a:cubicBezTo>
                <a:cubicBezTo>
                  <a:pt x="2973585" y="380452"/>
                  <a:pt x="2972308" y="374512"/>
                  <a:pt x="2976354" y="369510"/>
                </a:cubicBezTo>
                <a:close/>
                <a:moveTo>
                  <a:pt x="2974062" y="358124"/>
                </a:moveTo>
                <a:cubicBezTo>
                  <a:pt x="2985733" y="357031"/>
                  <a:pt x="2983072" y="367967"/>
                  <a:pt x="2971399" y="365935"/>
                </a:cubicBezTo>
                <a:cubicBezTo>
                  <a:pt x="2974062" y="358124"/>
                  <a:pt x="2974062" y="358124"/>
                  <a:pt x="2974062" y="358124"/>
                </a:cubicBezTo>
                <a:close/>
                <a:moveTo>
                  <a:pt x="2511396" y="357220"/>
                </a:moveTo>
                <a:lnTo>
                  <a:pt x="2511396" y="361043"/>
                </a:lnTo>
                <a:cubicBezTo>
                  <a:pt x="2497974" y="360014"/>
                  <a:pt x="2497974" y="360014"/>
                  <a:pt x="2497974" y="360014"/>
                </a:cubicBezTo>
                <a:cubicBezTo>
                  <a:pt x="2499442" y="356338"/>
                  <a:pt x="2505943" y="357220"/>
                  <a:pt x="2511396" y="357220"/>
                </a:cubicBezTo>
                <a:close/>
                <a:moveTo>
                  <a:pt x="2999330" y="356338"/>
                </a:moveTo>
                <a:cubicBezTo>
                  <a:pt x="3003267" y="358417"/>
                  <a:pt x="3005961" y="356338"/>
                  <a:pt x="3008448" y="358417"/>
                </a:cubicBezTo>
                <a:cubicBezTo>
                  <a:pt x="3005961" y="360337"/>
                  <a:pt x="3007205" y="362417"/>
                  <a:pt x="3003267" y="364496"/>
                </a:cubicBezTo>
                <a:cubicBezTo>
                  <a:pt x="3002024" y="359377"/>
                  <a:pt x="2996843" y="359377"/>
                  <a:pt x="2999330" y="356338"/>
                </a:cubicBezTo>
                <a:close/>
                <a:moveTo>
                  <a:pt x="2628904" y="353565"/>
                </a:moveTo>
                <a:cubicBezTo>
                  <a:pt x="2648609" y="365529"/>
                  <a:pt x="2622474" y="369464"/>
                  <a:pt x="2624963" y="389457"/>
                </a:cubicBezTo>
                <a:cubicBezTo>
                  <a:pt x="2610651" y="381428"/>
                  <a:pt x="2627659" y="363482"/>
                  <a:pt x="2628904" y="353565"/>
                </a:cubicBezTo>
                <a:close/>
                <a:moveTo>
                  <a:pt x="2169939" y="351058"/>
                </a:moveTo>
                <a:cubicBezTo>
                  <a:pt x="2177907" y="353137"/>
                  <a:pt x="2173923" y="352178"/>
                  <a:pt x="2172665" y="352178"/>
                </a:cubicBezTo>
                <a:cubicBezTo>
                  <a:pt x="2172665" y="354097"/>
                  <a:pt x="2167213" y="350098"/>
                  <a:pt x="2169939" y="351058"/>
                </a:cubicBezTo>
                <a:close/>
                <a:moveTo>
                  <a:pt x="3027113" y="346194"/>
                </a:moveTo>
                <a:cubicBezTo>
                  <a:pt x="3025835" y="348250"/>
                  <a:pt x="3028391" y="348250"/>
                  <a:pt x="3031159" y="348250"/>
                </a:cubicBezTo>
                <a:cubicBezTo>
                  <a:pt x="3024344" y="351096"/>
                  <a:pt x="3028391" y="353151"/>
                  <a:pt x="3023066" y="354100"/>
                </a:cubicBezTo>
                <a:cubicBezTo>
                  <a:pt x="3017742" y="352202"/>
                  <a:pt x="3023066" y="345246"/>
                  <a:pt x="3027113" y="346194"/>
                </a:cubicBezTo>
                <a:close/>
                <a:moveTo>
                  <a:pt x="3064127" y="333216"/>
                </a:moveTo>
                <a:lnTo>
                  <a:pt x="3063176" y="336078"/>
                </a:lnTo>
                <a:cubicBezTo>
                  <a:pt x="3063176" y="336078"/>
                  <a:pt x="3063561" y="334918"/>
                  <a:pt x="3064043" y="333467"/>
                </a:cubicBezTo>
                <a:close/>
                <a:moveTo>
                  <a:pt x="2727625" y="331380"/>
                </a:moveTo>
                <a:cubicBezTo>
                  <a:pt x="2736751" y="348405"/>
                  <a:pt x="2719743" y="371263"/>
                  <a:pt x="2718291" y="392230"/>
                </a:cubicBezTo>
                <a:cubicBezTo>
                  <a:pt x="2711861" y="390180"/>
                  <a:pt x="2705223" y="387185"/>
                  <a:pt x="2698793" y="385136"/>
                </a:cubicBezTo>
                <a:cubicBezTo>
                  <a:pt x="2700038" y="378199"/>
                  <a:pt x="2706468" y="386239"/>
                  <a:pt x="2714350" y="385136"/>
                </a:cubicBezTo>
                <a:cubicBezTo>
                  <a:pt x="2715802" y="362278"/>
                  <a:pt x="2718291" y="346356"/>
                  <a:pt x="2727625" y="331380"/>
                </a:cubicBezTo>
                <a:close/>
                <a:moveTo>
                  <a:pt x="3065178" y="330053"/>
                </a:moveTo>
                <a:lnTo>
                  <a:pt x="3064127" y="333216"/>
                </a:lnTo>
                <a:lnTo>
                  <a:pt x="3064947" y="330748"/>
                </a:lnTo>
                <a:close/>
                <a:moveTo>
                  <a:pt x="3029909" y="329993"/>
                </a:moveTo>
                <a:cubicBezTo>
                  <a:pt x="3037532" y="331891"/>
                  <a:pt x="3029909" y="335843"/>
                  <a:pt x="3027301" y="338847"/>
                </a:cubicBezTo>
                <a:cubicBezTo>
                  <a:pt x="3022286" y="335843"/>
                  <a:pt x="3031113" y="332839"/>
                  <a:pt x="3029909" y="329993"/>
                </a:cubicBezTo>
                <a:close/>
                <a:moveTo>
                  <a:pt x="3065778" y="328246"/>
                </a:moveTo>
                <a:lnTo>
                  <a:pt x="3065178" y="330053"/>
                </a:lnTo>
                <a:lnTo>
                  <a:pt x="3065489" y="329116"/>
                </a:lnTo>
                <a:cubicBezTo>
                  <a:pt x="3065874" y="327957"/>
                  <a:pt x="3066067" y="327377"/>
                  <a:pt x="3065778" y="328246"/>
                </a:cubicBezTo>
                <a:close/>
                <a:moveTo>
                  <a:pt x="2980545" y="326527"/>
                </a:moveTo>
                <a:cubicBezTo>
                  <a:pt x="2989372" y="333490"/>
                  <a:pt x="2974125" y="343459"/>
                  <a:pt x="2987968" y="349473"/>
                </a:cubicBezTo>
                <a:cubicBezTo>
                  <a:pt x="2985560" y="355486"/>
                  <a:pt x="2979140" y="348523"/>
                  <a:pt x="2977937" y="352479"/>
                </a:cubicBezTo>
                <a:cubicBezTo>
                  <a:pt x="2976733" y="348523"/>
                  <a:pt x="2977937" y="337446"/>
                  <a:pt x="2980545" y="326527"/>
                </a:cubicBezTo>
                <a:close/>
                <a:moveTo>
                  <a:pt x="3153001" y="325899"/>
                </a:moveTo>
                <a:cubicBezTo>
                  <a:pt x="3155514" y="326672"/>
                  <a:pt x="3155977" y="333575"/>
                  <a:pt x="3163835" y="330686"/>
                </a:cubicBezTo>
                <a:lnTo>
                  <a:pt x="3162397" y="337465"/>
                </a:lnTo>
                <a:cubicBezTo>
                  <a:pt x="3150687" y="332535"/>
                  <a:pt x="3140414" y="337465"/>
                  <a:pt x="3140414" y="327759"/>
                </a:cubicBezTo>
                <a:cubicBezTo>
                  <a:pt x="3140414" y="330686"/>
                  <a:pt x="3157261" y="331611"/>
                  <a:pt x="3149454" y="327759"/>
                </a:cubicBezTo>
                <a:cubicBezTo>
                  <a:pt x="3151097" y="326065"/>
                  <a:pt x="3152163" y="325641"/>
                  <a:pt x="3153001" y="325899"/>
                </a:cubicBezTo>
                <a:close/>
                <a:moveTo>
                  <a:pt x="2598838" y="323754"/>
                </a:moveTo>
                <a:cubicBezTo>
                  <a:pt x="2612681" y="323754"/>
                  <a:pt x="2614085" y="331679"/>
                  <a:pt x="2603854" y="332611"/>
                </a:cubicBezTo>
                <a:cubicBezTo>
                  <a:pt x="2609070" y="324842"/>
                  <a:pt x="2603854" y="328726"/>
                  <a:pt x="2598838" y="323754"/>
                </a:cubicBezTo>
                <a:close/>
                <a:moveTo>
                  <a:pt x="2491921" y="323342"/>
                </a:moveTo>
                <a:cubicBezTo>
                  <a:pt x="2505912" y="324480"/>
                  <a:pt x="2490705" y="327567"/>
                  <a:pt x="2496990" y="329679"/>
                </a:cubicBezTo>
                <a:cubicBezTo>
                  <a:pt x="2511184" y="322367"/>
                  <a:pt x="2499627" y="325454"/>
                  <a:pt x="2515037" y="330654"/>
                </a:cubicBezTo>
                <a:cubicBezTo>
                  <a:pt x="2509765" y="332604"/>
                  <a:pt x="2502059" y="332604"/>
                  <a:pt x="2493138" y="331629"/>
                </a:cubicBezTo>
                <a:cubicBezTo>
                  <a:pt x="2490705" y="330654"/>
                  <a:pt x="2491921" y="327567"/>
                  <a:pt x="2491921" y="323342"/>
                </a:cubicBezTo>
                <a:close/>
                <a:moveTo>
                  <a:pt x="3012838" y="322367"/>
                </a:moveTo>
                <a:cubicBezTo>
                  <a:pt x="3019355" y="324387"/>
                  <a:pt x="3011616" y="328272"/>
                  <a:pt x="3011616" y="331225"/>
                </a:cubicBezTo>
                <a:cubicBezTo>
                  <a:pt x="3007747" y="328272"/>
                  <a:pt x="3007747" y="325320"/>
                  <a:pt x="3012838" y="322367"/>
                </a:cubicBezTo>
                <a:close/>
                <a:moveTo>
                  <a:pt x="2632012" y="321674"/>
                </a:moveTo>
                <a:cubicBezTo>
                  <a:pt x="2651339" y="321674"/>
                  <a:pt x="2635877" y="326676"/>
                  <a:pt x="2641167" y="332460"/>
                </a:cubicBezTo>
                <a:cubicBezTo>
                  <a:pt x="2634657" y="333555"/>
                  <a:pt x="2630792" y="335431"/>
                  <a:pt x="2625706" y="337463"/>
                </a:cubicBezTo>
                <a:cubicBezTo>
                  <a:pt x="2624282" y="334493"/>
                  <a:pt x="2630792" y="329647"/>
                  <a:pt x="2632012" y="321674"/>
                </a:cubicBezTo>
                <a:close/>
                <a:moveTo>
                  <a:pt x="2547169" y="320762"/>
                </a:moveTo>
                <a:cubicBezTo>
                  <a:pt x="2549486" y="320390"/>
                  <a:pt x="2551464" y="320390"/>
                  <a:pt x="2553442" y="321878"/>
                </a:cubicBezTo>
                <a:cubicBezTo>
                  <a:pt x="2554691" y="324855"/>
                  <a:pt x="2552192" y="326893"/>
                  <a:pt x="2544280" y="324855"/>
                </a:cubicBezTo>
                <a:cubicBezTo>
                  <a:pt x="2558648" y="329870"/>
                  <a:pt x="2545529" y="337705"/>
                  <a:pt x="2542822" y="341622"/>
                </a:cubicBezTo>
                <a:cubicBezTo>
                  <a:pt x="2538865" y="333787"/>
                  <a:pt x="2541572" y="330810"/>
                  <a:pt x="2538865" y="321878"/>
                </a:cubicBezTo>
                <a:cubicBezTo>
                  <a:pt x="2542198" y="321878"/>
                  <a:pt x="2544852" y="321134"/>
                  <a:pt x="2547169" y="320762"/>
                </a:cubicBezTo>
                <a:close/>
                <a:moveTo>
                  <a:pt x="2960290" y="316821"/>
                </a:moveTo>
                <a:cubicBezTo>
                  <a:pt x="2952509" y="326894"/>
                  <a:pt x="2958857" y="332718"/>
                  <a:pt x="2954966" y="345781"/>
                </a:cubicBezTo>
                <a:cubicBezTo>
                  <a:pt x="2945956" y="339800"/>
                  <a:pt x="2949847" y="324848"/>
                  <a:pt x="2960290" y="316821"/>
                </a:cubicBezTo>
                <a:close/>
                <a:moveTo>
                  <a:pt x="2590385" y="316821"/>
                </a:moveTo>
                <a:cubicBezTo>
                  <a:pt x="2595489" y="318901"/>
                  <a:pt x="2605904" y="317941"/>
                  <a:pt x="2604679" y="321941"/>
                </a:cubicBezTo>
                <a:cubicBezTo>
                  <a:pt x="2599370" y="321941"/>
                  <a:pt x="2593039" y="320981"/>
                  <a:pt x="2591610" y="322901"/>
                </a:cubicBezTo>
                <a:cubicBezTo>
                  <a:pt x="2587934" y="322901"/>
                  <a:pt x="2590385" y="318901"/>
                  <a:pt x="2590385" y="316821"/>
                </a:cubicBezTo>
                <a:close/>
                <a:moveTo>
                  <a:pt x="2694472" y="312456"/>
                </a:moveTo>
                <a:cubicBezTo>
                  <a:pt x="2696676" y="312105"/>
                  <a:pt x="2699456" y="312115"/>
                  <a:pt x="2703059" y="312626"/>
                </a:cubicBezTo>
                <a:cubicBezTo>
                  <a:pt x="2701618" y="318598"/>
                  <a:pt x="2701618" y="324571"/>
                  <a:pt x="2706765" y="327557"/>
                </a:cubicBezTo>
                <a:cubicBezTo>
                  <a:pt x="2701618" y="330544"/>
                  <a:pt x="2693794" y="330544"/>
                  <a:pt x="2689881" y="334472"/>
                </a:cubicBezTo>
                <a:cubicBezTo>
                  <a:pt x="2685969" y="342489"/>
                  <a:pt x="2701618" y="350348"/>
                  <a:pt x="2685969" y="353334"/>
                </a:cubicBezTo>
                <a:cubicBezTo>
                  <a:pt x="2687411" y="356321"/>
                  <a:pt x="2689881" y="353334"/>
                  <a:pt x="2695234" y="354277"/>
                </a:cubicBezTo>
                <a:cubicBezTo>
                  <a:pt x="2682057" y="365280"/>
                  <a:pt x="2695234" y="376282"/>
                  <a:pt x="2683498" y="388071"/>
                </a:cubicBezTo>
                <a:cubicBezTo>
                  <a:pt x="2676909" y="383198"/>
                  <a:pt x="2680821" y="376282"/>
                  <a:pt x="2666613" y="373296"/>
                </a:cubicBezTo>
                <a:lnTo>
                  <a:pt x="2669155" y="363119"/>
                </a:lnTo>
                <a:lnTo>
                  <a:pt x="2665925" y="360858"/>
                </a:lnTo>
                <a:cubicBezTo>
                  <a:pt x="2664744" y="357351"/>
                  <a:pt x="2670913" y="352444"/>
                  <a:pt x="2668882" y="348711"/>
                </a:cubicBezTo>
                <a:cubicBezTo>
                  <a:pt x="2671537" y="349715"/>
                  <a:pt x="2673190" y="350778"/>
                  <a:pt x="2674115" y="351905"/>
                </a:cubicBezTo>
                <a:lnTo>
                  <a:pt x="2674538" y="353665"/>
                </a:lnTo>
                <a:lnTo>
                  <a:pt x="2676600" y="350623"/>
                </a:lnTo>
                <a:cubicBezTo>
                  <a:pt x="2680821" y="344414"/>
                  <a:pt x="2682777" y="338953"/>
                  <a:pt x="2672997" y="332430"/>
                </a:cubicBezTo>
                <a:cubicBezTo>
                  <a:pt x="2682057" y="337459"/>
                  <a:pt x="2682057" y="326614"/>
                  <a:pt x="2689881" y="324571"/>
                </a:cubicBezTo>
                <a:cubicBezTo>
                  <a:pt x="2688646" y="323470"/>
                  <a:pt x="2683498" y="323470"/>
                  <a:pt x="2683498" y="321584"/>
                </a:cubicBezTo>
                <a:cubicBezTo>
                  <a:pt x="2686432" y="317812"/>
                  <a:pt x="2687861" y="313509"/>
                  <a:pt x="2694472" y="312456"/>
                </a:cubicBezTo>
                <a:close/>
                <a:moveTo>
                  <a:pt x="2734485" y="303622"/>
                </a:moveTo>
                <a:cubicBezTo>
                  <a:pt x="2735141" y="305351"/>
                  <a:pt x="2734839" y="311725"/>
                  <a:pt x="2732920" y="321519"/>
                </a:cubicBezTo>
                <a:cubicBezTo>
                  <a:pt x="2718785" y="320586"/>
                  <a:pt x="2730295" y="314678"/>
                  <a:pt x="2730295" y="313590"/>
                </a:cubicBezTo>
                <a:cubicBezTo>
                  <a:pt x="2732213" y="304807"/>
                  <a:pt x="2733829" y="301892"/>
                  <a:pt x="2734485" y="303622"/>
                </a:cubicBezTo>
                <a:close/>
                <a:moveTo>
                  <a:pt x="3126149" y="301984"/>
                </a:moveTo>
                <a:cubicBezTo>
                  <a:pt x="3145661" y="300876"/>
                  <a:pt x="3124916" y="332854"/>
                  <a:pt x="3122247" y="340927"/>
                </a:cubicBezTo>
                <a:cubicBezTo>
                  <a:pt x="3115880" y="330954"/>
                  <a:pt x="3133954" y="314965"/>
                  <a:pt x="3126149" y="301984"/>
                </a:cubicBezTo>
                <a:close/>
                <a:moveTo>
                  <a:pt x="2634812" y="301511"/>
                </a:moveTo>
                <a:cubicBezTo>
                  <a:pt x="2647751" y="299490"/>
                  <a:pt x="2643849" y="309283"/>
                  <a:pt x="2639947" y="312237"/>
                </a:cubicBezTo>
                <a:cubicBezTo>
                  <a:pt x="2638715" y="316124"/>
                  <a:pt x="2648984" y="315191"/>
                  <a:pt x="2656789" y="315191"/>
                </a:cubicBezTo>
                <a:cubicBezTo>
                  <a:pt x="2651655" y="324985"/>
                  <a:pt x="2639947" y="313170"/>
                  <a:pt x="2629678" y="319077"/>
                </a:cubicBezTo>
                <a:cubicBezTo>
                  <a:pt x="2628240" y="318145"/>
                  <a:pt x="2630910" y="318145"/>
                  <a:pt x="2632142" y="318145"/>
                </a:cubicBezTo>
                <a:cubicBezTo>
                  <a:pt x="2634812" y="312237"/>
                  <a:pt x="2627008" y="307263"/>
                  <a:pt x="2634812" y="301511"/>
                </a:cubicBezTo>
                <a:close/>
                <a:moveTo>
                  <a:pt x="2696224" y="298103"/>
                </a:moveTo>
                <a:cubicBezTo>
                  <a:pt x="2697497" y="298376"/>
                  <a:pt x="2698376" y="299500"/>
                  <a:pt x="2698814" y="301032"/>
                </a:cubicBezTo>
                <a:lnTo>
                  <a:pt x="2698777" y="305465"/>
                </a:lnTo>
                <a:lnTo>
                  <a:pt x="2704038" y="305984"/>
                </a:lnTo>
                <a:cubicBezTo>
                  <a:pt x="2703726" y="307210"/>
                  <a:pt x="2702504" y="308317"/>
                  <a:pt x="2700885" y="309164"/>
                </a:cubicBezTo>
                <a:lnTo>
                  <a:pt x="2696459" y="310463"/>
                </a:lnTo>
                <a:lnTo>
                  <a:pt x="2695823" y="311579"/>
                </a:lnTo>
                <a:cubicBezTo>
                  <a:pt x="2694327" y="312974"/>
                  <a:pt x="2692303" y="313892"/>
                  <a:pt x="2689707" y="313892"/>
                </a:cubicBezTo>
                <a:lnTo>
                  <a:pt x="2691260" y="310128"/>
                </a:lnTo>
                <a:lnTo>
                  <a:pt x="2690523" y="310009"/>
                </a:lnTo>
                <a:cubicBezTo>
                  <a:pt x="2689372" y="309255"/>
                  <a:pt x="2688853" y="307961"/>
                  <a:pt x="2689477" y="305984"/>
                </a:cubicBezTo>
                <a:lnTo>
                  <a:pt x="2693116" y="305633"/>
                </a:lnTo>
                <a:close/>
                <a:moveTo>
                  <a:pt x="3106372" y="294637"/>
                </a:moveTo>
                <a:cubicBezTo>
                  <a:pt x="3106372" y="299663"/>
                  <a:pt x="3100087" y="297621"/>
                  <a:pt x="3098870" y="300605"/>
                </a:cubicBezTo>
                <a:cubicBezTo>
                  <a:pt x="3101304" y="306574"/>
                  <a:pt x="3107792" y="297621"/>
                  <a:pt x="3110225" y="303590"/>
                </a:cubicBezTo>
                <a:cubicBezTo>
                  <a:pt x="3102520" y="314585"/>
                  <a:pt x="3085893" y="294637"/>
                  <a:pt x="3106372" y="294637"/>
                </a:cubicBezTo>
                <a:close/>
                <a:moveTo>
                  <a:pt x="2549781" y="294637"/>
                </a:moveTo>
                <a:cubicBezTo>
                  <a:pt x="2566826" y="298701"/>
                  <a:pt x="2547079" y="302609"/>
                  <a:pt x="2552484" y="310426"/>
                </a:cubicBezTo>
                <a:cubicBezTo>
                  <a:pt x="2543130" y="309487"/>
                  <a:pt x="2552484" y="301671"/>
                  <a:pt x="2535230" y="303547"/>
                </a:cubicBezTo>
                <a:cubicBezTo>
                  <a:pt x="2543130" y="299639"/>
                  <a:pt x="2554978" y="302609"/>
                  <a:pt x="2549781" y="294637"/>
                </a:cubicBezTo>
                <a:close/>
                <a:moveTo>
                  <a:pt x="2656343" y="292557"/>
                </a:moveTo>
                <a:cubicBezTo>
                  <a:pt x="2673146" y="292557"/>
                  <a:pt x="2673146" y="292557"/>
                  <a:pt x="2673146" y="292557"/>
                </a:cubicBezTo>
                <a:cubicBezTo>
                  <a:pt x="2673146" y="294477"/>
                  <a:pt x="2652451" y="298636"/>
                  <a:pt x="2656343" y="292557"/>
                </a:cubicBezTo>
                <a:close/>
                <a:moveTo>
                  <a:pt x="2498390" y="292557"/>
                </a:moveTo>
                <a:cubicBezTo>
                  <a:pt x="2505036" y="293508"/>
                  <a:pt x="2497144" y="300480"/>
                  <a:pt x="2498390" y="303491"/>
                </a:cubicBezTo>
                <a:cubicBezTo>
                  <a:pt x="2490705" y="301589"/>
                  <a:pt x="2494651" y="296518"/>
                  <a:pt x="2498390" y="292557"/>
                </a:cubicBezTo>
                <a:close/>
                <a:moveTo>
                  <a:pt x="2711302" y="291648"/>
                </a:moveTo>
                <a:lnTo>
                  <a:pt x="2710024" y="297553"/>
                </a:lnTo>
                <a:cubicBezTo>
                  <a:pt x="2697884" y="298641"/>
                  <a:pt x="2699376" y="289784"/>
                  <a:pt x="2711302" y="291648"/>
                </a:cubicBezTo>
                <a:close/>
                <a:moveTo>
                  <a:pt x="2503253" y="274061"/>
                </a:moveTo>
                <a:cubicBezTo>
                  <a:pt x="2508942" y="274768"/>
                  <a:pt x="2513068" y="279856"/>
                  <a:pt x="2515037" y="282143"/>
                </a:cubicBezTo>
                <a:cubicBezTo>
                  <a:pt x="2511201" y="283106"/>
                  <a:pt x="2509787" y="285193"/>
                  <a:pt x="2508575" y="286157"/>
                </a:cubicBezTo>
                <a:cubicBezTo>
                  <a:pt x="2502114" y="284230"/>
                  <a:pt x="2508575" y="275079"/>
                  <a:pt x="2497065" y="275079"/>
                </a:cubicBezTo>
                <a:cubicBezTo>
                  <a:pt x="2499287" y="274075"/>
                  <a:pt x="2501356" y="273825"/>
                  <a:pt x="2503253" y="274061"/>
                </a:cubicBezTo>
                <a:close/>
                <a:moveTo>
                  <a:pt x="3039817" y="268292"/>
                </a:moveTo>
                <a:cubicBezTo>
                  <a:pt x="3043703" y="269233"/>
                  <a:pt x="3042476" y="271272"/>
                  <a:pt x="3044931" y="273153"/>
                </a:cubicBezTo>
                <a:cubicBezTo>
                  <a:pt x="3041248" y="277231"/>
                  <a:pt x="3037362" y="273153"/>
                  <a:pt x="3033475" y="275192"/>
                </a:cubicBezTo>
                <a:cubicBezTo>
                  <a:pt x="3042476" y="278172"/>
                  <a:pt x="3029588" y="284131"/>
                  <a:pt x="3037362" y="287109"/>
                </a:cubicBezTo>
                <a:cubicBezTo>
                  <a:pt x="3037362" y="285071"/>
                  <a:pt x="3041248" y="275192"/>
                  <a:pt x="3048818" y="279112"/>
                </a:cubicBezTo>
                <a:cubicBezTo>
                  <a:pt x="3042476" y="283032"/>
                  <a:pt x="3050250" y="293068"/>
                  <a:pt x="3035930" y="300909"/>
                </a:cubicBezTo>
                <a:cubicBezTo>
                  <a:pt x="3037362" y="303888"/>
                  <a:pt x="3043703" y="305927"/>
                  <a:pt x="3034702" y="309847"/>
                </a:cubicBezTo>
                <a:cubicBezTo>
                  <a:pt x="3038589" y="313767"/>
                  <a:pt x="3046363" y="316747"/>
                  <a:pt x="3043703" y="320824"/>
                </a:cubicBezTo>
                <a:cubicBezTo>
                  <a:pt x="3030815" y="316747"/>
                  <a:pt x="3032043" y="314865"/>
                  <a:pt x="3024269" y="314865"/>
                </a:cubicBezTo>
                <a:cubicBezTo>
                  <a:pt x="3025701" y="309847"/>
                  <a:pt x="3034702" y="311886"/>
                  <a:pt x="3032043" y="308906"/>
                </a:cubicBezTo>
                <a:cubicBezTo>
                  <a:pt x="3029588" y="306868"/>
                  <a:pt x="3028156" y="309847"/>
                  <a:pt x="3025701" y="308906"/>
                </a:cubicBezTo>
                <a:cubicBezTo>
                  <a:pt x="3032043" y="306868"/>
                  <a:pt x="3033475" y="304986"/>
                  <a:pt x="3026929" y="302006"/>
                </a:cubicBezTo>
                <a:cubicBezTo>
                  <a:pt x="3034702" y="291971"/>
                  <a:pt x="3030815" y="283032"/>
                  <a:pt x="3032043" y="274251"/>
                </a:cubicBezTo>
                <a:cubicBezTo>
                  <a:pt x="3011381" y="268292"/>
                  <a:pt x="3039817" y="277231"/>
                  <a:pt x="3039817" y="268292"/>
                </a:cubicBezTo>
                <a:close/>
                <a:moveTo>
                  <a:pt x="2722506" y="266213"/>
                </a:moveTo>
                <a:cubicBezTo>
                  <a:pt x="2725203" y="269183"/>
                  <a:pt x="2726448" y="273091"/>
                  <a:pt x="2730390" y="275123"/>
                </a:cubicBezTo>
                <a:cubicBezTo>
                  <a:pt x="2721261" y="274185"/>
                  <a:pt x="2712131" y="279032"/>
                  <a:pt x="2713376" y="273091"/>
                </a:cubicBezTo>
                <a:cubicBezTo>
                  <a:pt x="2705491" y="274185"/>
                  <a:pt x="2709433" y="276061"/>
                  <a:pt x="2709433" y="278093"/>
                </a:cubicBezTo>
                <a:cubicBezTo>
                  <a:pt x="2706736" y="282001"/>
                  <a:pt x="2709433" y="274185"/>
                  <a:pt x="2704246" y="275123"/>
                </a:cubicBezTo>
                <a:cubicBezTo>
                  <a:pt x="2705491" y="273091"/>
                  <a:pt x="2709433" y="272153"/>
                  <a:pt x="2708188" y="269183"/>
                </a:cubicBezTo>
                <a:cubicBezTo>
                  <a:pt x="2714621" y="270121"/>
                  <a:pt x="2723957" y="271215"/>
                  <a:pt x="2722506" y="266213"/>
                </a:cubicBezTo>
                <a:close/>
                <a:moveTo>
                  <a:pt x="3048893" y="262746"/>
                </a:moveTo>
                <a:cubicBezTo>
                  <a:pt x="3055446" y="262746"/>
                  <a:pt x="3055446" y="262746"/>
                  <a:pt x="3055446" y="262746"/>
                </a:cubicBezTo>
                <a:cubicBezTo>
                  <a:pt x="3056675" y="264749"/>
                  <a:pt x="3058108" y="266597"/>
                  <a:pt x="3058108" y="269525"/>
                </a:cubicBezTo>
                <a:cubicBezTo>
                  <a:pt x="3045002" y="267676"/>
                  <a:pt x="3059336" y="276458"/>
                  <a:pt x="3050326" y="279231"/>
                </a:cubicBezTo>
                <a:cubicBezTo>
                  <a:pt x="3046435" y="275380"/>
                  <a:pt x="3046435" y="264749"/>
                  <a:pt x="3048893" y="262746"/>
                </a:cubicBezTo>
                <a:close/>
                <a:moveTo>
                  <a:pt x="3023066" y="259973"/>
                </a:moveTo>
                <a:cubicBezTo>
                  <a:pt x="3031159" y="259973"/>
                  <a:pt x="3028391" y="268698"/>
                  <a:pt x="3024344" y="271606"/>
                </a:cubicBezTo>
                <a:cubicBezTo>
                  <a:pt x="3017742" y="270687"/>
                  <a:pt x="3024344" y="262881"/>
                  <a:pt x="3023066" y="259973"/>
                </a:cubicBezTo>
                <a:close/>
                <a:moveTo>
                  <a:pt x="3116739" y="256757"/>
                </a:moveTo>
                <a:cubicBezTo>
                  <a:pt x="3135018" y="256757"/>
                  <a:pt x="3135018" y="256757"/>
                  <a:pt x="3135018" y="256757"/>
                </a:cubicBezTo>
                <a:cubicBezTo>
                  <a:pt x="3137482" y="258802"/>
                  <a:pt x="3137482" y="261792"/>
                  <a:pt x="3136250" y="266668"/>
                </a:cubicBezTo>
                <a:cubicBezTo>
                  <a:pt x="3131116" y="264781"/>
                  <a:pt x="3136250" y="255814"/>
                  <a:pt x="3121873" y="258802"/>
                </a:cubicBezTo>
                <a:cubicBezTo>
                  <a:pt x="3135018" y="276737"/>
                  <a:pt x="3107702" y="280670"/>
                  <a:pt x="3127214" y="292626"/>
                </a:cubicBezTo>
                <a:cubicBezTo>
                  <a:pt x="3124544" y="292626"/>
                  <a:pt x="3124544" y="295615"/>
                  <a:pt x="3123312" y="296559"/>
                </a:cubicBezTo>
                <a:cubicBezTo>
                  <a:pt x="3120641" y="295615"/>
                  <a:pt x="3116739" y="294514"/>
                  <a:pt x="3111604" y="294514"/>
                </a:cubicBezTo>
                <a:cubicBezTo>
                  <a:pt x="3110167" y="276737"/>
                  <a:pt x="3117971" y="275636"/>
                  <a:pt x="3116739" y="256757"/>
                </a:cubicBezTo>
                <a:close/>
                <a:moveTo>
                  <a:pt x="3096405" y="255120"/>
                </a:moveTo>
                <a:cubicBezTo>
                  <a:pt x="3106651" y="262077"/>
                  <a:pt x="3095176" y="272039"/>
                  <a:pt x="3105421" y="279944"/>
                </a:cubicBezTo>
                <a:cubicBezTo>
                  <a:pt x="3091283" y="279944"/>
                  <a:pt x="3109315" y="284055"/>
                  <a:pt x="3104192" y="291013"/>
                </a:cubicBezTo>
                <a:cubicBezTo>
                  <a:pt x="3089849" y="287059"/>
                  <a:pt x="3097636" y="275043"/>
                  <a:pt x="3088619" y="265082"/>
                </a:cubicBezTo>
                <a:cubicBezTo>
                  <a:pt x="3102758" y="266030"/>
                  <a:pt x="3088619" y="257017"/>
                  <a:pt x="3096405" y="255120"/>
                </a:cubicBezTo>
                <a:close/>
                <a:moveTo>
                  <a:pt x="3077559" y="248881"/>
                </a:moveTo>
                <a:cubicBezTo>
                  <a:pt x="3081224" y="252789"/>
                  <a:pt x="3083873" y="261699"/>
                  <a:pt x="3078780" y="264670"/>
                </a:cubicBezTo>
                <a:cubicBezTo>
                  <a:pt x="3076133" y="261699"/>
                  <a:pt x="3072263" y="252789"/>
                  <a:pt x="3077559" y="248881"/>
                </a:cubicBezTo>
                <a:close/>
                <a:moveTo>
                  <a:pt x="2713041" y="243191"/>
                </a:moveTo>
                <a:cubicBezTo>
                  <a:pt x="2714229" y="244437"/>
                  <a:pt x="2713021" y="249419"/>
                  <a:pt x="2710996" y="249419"/>
                </a:cubicBezTo>
                <a:cubicBezTo>
                  <a:pt x="2700611" y="248331"/>
                  <a:pt x="2713696" y="247398"/>
                  <a:pt x="2710996" y="243514"/>
                </a:cubicBezTo>
                <a:cubicBezTo>
                  <a:pt x="2711982" y="242776"/>
                  <a:pt x="2712645" y="242776"/>
                  <a:pt x="2713041" y="243191"/>
                </a:cubicBezTo>
                <a:close/>
                <a:moveTo>
                  <a:pt x="2732700" y="241949"/>
                </a:moveTo>
                <a:cubicBezTo>
                  <a:pt x="2736476" y="243032"/>
                  <a:pt x="2733892" y="245974"/>
                  <a:pt x="2737668" y="245974"/>
                </a:cubicBezTo>
                <a:cubicBezTo>
                  <a:pt x="2732700" y="246902"/>
                  <a:pt x="2736476" y="257738"/>
                  <a:pt x="2731506" y="255726"/>
                </a:cubicBezTo>
                <a:cubicBezTo>
                  <a:pt x="2732700" y="251856"/>
                  <a:pt x="2732700" y="246902"/>
                  <a:pt x="2732700" y="241949"/>
                </a:cubicBezTo>
                <a:close/>
                <a:moveTo>
                  <a:pt x="2745843" y="238440"/>
                </a:moveTo>
                <a:lnTo>
                  <a:pt x="2745843" y="247379"/>
                </a:lnTo>
                <a:cubicBezTo>
                  <a:pt x="2736958" y="249417"/>
                  <a:pt x="2736958" y="236402"/>
                  <a:pt x="2745843" y="238440"/>
                </a:cubicBezTo>
                <a:close/>
                <a:moveTo>
                  <a:pt x="3076277" y="234567"/>
                </a:moveTo>
                <a:cubicBezTo>
                  <a:pt x="3092047" y="233629"/>
                  <a:pt x="3081464" y="246448"/>
                  <a:pt x="3075032" y="249418"/>
                </a:cubicBezTo>
                <a:cubicBezTo>
                  <a:pt x="3065902" y="246448"/>
                  <a:pt x="3078975" y="240507"/>
                  <a:pt x="3076277" y="234567"/>
                </a:cubicBezTo>
                <a:close/>
                <a:moveTo>
                  <a:pt x="2705908" y="233880"/>
                </a:moveTo>
                <a:cubicBezTo>
                  <a:pt x="2712450" y="234014"/>
                  <a:pt x="2719668" y="235478"/>
                  <a:pt x="2720395" y="237403"/>
                </a:cubicBezTo>
                <a:cubicBezTo>
                  <a:pt x="2695471" y="238328"/>
                  <a:pt x="2695471" y="238328"/>
                  <a:pt x="2695471" y="238328"/>
                </a:cubicBezTo>
                <a:cubicBezTo>
                  <a:pt x="2693497" y="234939"/>
                  <a:pt x="2699365" y="233745"/>
                  <a:pt x="2705908" y="233880"/>
                </a:cubicBezTo>
                <a:close/>
                <a:moveTo>
                  <a:pt x="2673636" y="230163"/>
                </a:moveTo>
                <a:cubicBezTo>
                  <a:pt x="2684050" y="231137"/>
                  <a:pt x="2677517" y="236175"/>
                  <a:pt x="2676291" y="240399"/>
                </a:cubicBezTo>
                <a:cubicBezTo>
                  <a:pt x="2666082" y="239262"/>
                  <a:pt x="2676291" y="236175"/>
                  <a:pt x="2673636" y="230163"/>
                </a:cubicBezTo>
                <a:close/>
                <a:moveTo>
                  <a:pt x="2950741" y="229469"/>
                </a:moveTo>
                <a:cubicBezTo>
                  <a:pt x="2957555" y="238369"/>
                  <a:pt x="2954787" y="251173"/>
                  <a:pt x="2953510" y="263977"/>
                </a:cubicBezTo>
                <a:cubicBezTo>
                  <a:pt x="2944139" y="263977"/>
                  <a:pt x="2944139" y="263977"/>
                  <a:pt x="2944139" y="263977"/>
                </a:cubicBezTo>
                <a:cubicBezTo>
                  <a:pt x="2950741" y="253203"/>
                  <a:pt x="2945416" y="238369"/>
                  <a:pt x="2950741" y="229469"/>
                </a:cubicBezTo>
                <a:close/>
                <a:moveTo>
                  <a:pt x="2668700" y="223231"/>
                </a:moveTo>
                <a:cubicBezTo>
                  <a:pt x="2674045" y="227295"/>
                  <a:pt x="2669982" y="237143"/>
                  <a:pt x="2663354" y="239019"/>
                </a:cubicBezTo>
                <a:cubicBezTo>
                  <a:pt x="2664637" y="236049"/>
                  <a:pt x="2666134" y="229171"/>
                  <a:pt x="2668700" y="223231"/>
                </a:cubicBezTo>
                <a:close/>
                <a:moveTo>
                  <a:pt x="3134962" y="214217"/>
                </a:moveTo>
                <a:cubicBezTo>
                  <a:pt x="3137454" y="216256"/>
                  <a:pt x="3142648" y="216256"/>
                  <a:pt x="3148048" y="216256"/>
                </a:cubicBezTo>
                <a:cubicBezTo>
                  <a:pt x="3149294" y="222215"/>
                  <a:pt x="3142648" y="222215"/>
                  <a:pt x="3140154" y="227233"/>
                </a:cubicBezTo>
                <a:cubicBezTo>
                  <a:pt x="3134962" y="225194"/>
                  <a:pt x="3134962" y="220176"/>
                  <a:pt x="3134962" y="214217"/>
                </a:cubicBezTo>
                <a:close/>
                <a:moveTo>
                  <a:pt x="2709193" y="201045"/>
                </a:moveTo>
                <a:cubicBezTo>
                  <a:pt x="2710404" y="206900"/>
                  <a:pt x="2693846" y="207824"/>
                  <a:pt x="2688798" y="205051"/>
                </a:cubicBezTo>
                <a:cubicBezTo>
                  <a:pt x="2691423" y="202124"/>
                  <a:pt x="2704145" y="203049"/>
                  <a:pt x="2709193" y="201045"/>
                </a:cubicBezTo>
                <a:close/>
                <a:moveTo>
                  <a:pt x="3120222" y="200352"/>
                </a:moveTo>
                <a:cubicBezTo>
                  <a:pt x="3126683" y="205423"/>
                  <a:pt x="3132943" y="213346"/>
                  <a:pt x="3127895" y="220318"/>
                </a:cubicBezTo>
                <a:cubicBezTo>
                  <a:pt x="3115173" y="222378"/>
                  <a:pt x="3125270" y="206374"/>
                  <a:pt x="3111337" y="208276"/>
                </a:cubicBezTo>
                <a:cubicBezTo>
                  <a:pt x="3111337" y="206374"/>
                  <a:pt x="3115173" y="207324"/>
                  <a:pt x="3117596" y="206374"/>
                </a:cubicBezTo>
                <a:cubicBezTo>
                  <a:pt x="3121433" y="206374"/>
                  <a:pt x="3120222" y="202412"/>
                  <a:pt x="3120222" y="200352"/>
                </a:cubicBezTo>
                <a:close/>
                <a:moveTo>
                  <a:pt x="2813168" y="193420"/>
                </a:moveTo>
                <a:cubicBezTo>
                  <a:pt x="2814402" y="194348"/>
                  <a:pt x="2818311" y="194348"/>
                  <a:pt x="2822220" y="194348"/>
                </a:cubicBezTo>
                <a:cubicBezTo>
                  <a:pt x="2820985" y="199298"/>
                  <a:pt x="2824895" y="200226"/>
                  <a:pt x="2823455" y="205177"/>
                </a:cubicBezTo>
                <a:cubicBezTo>
                  <a:pt x="2818311" y="204094"/>
                  <a:pt x="2809259" y="207033"/>
                  <a:pt x="2814402" y="207961"/>
                </a:cubicBezTo>
                <a:cubicBezTo>
                  <a:pt x="2811728" y="210900"/>
                  <a:pt x="2803909" y="204094"/>
                  <a:pt x="2805349" y="211983"/>
                </a:cubicBezTo>
                <a:cubicBezTo>
                  <a:pt x="2797532" y="211983"/>
                  <a:pt x="2802675" y="205177"/>
                  <a:pt x="2792388" y="206105"/>
                </a:cubicBezTo>
                <a:cubicBezTo>
                  <a:pt x="2805349" y="202237"/>
                  <a:pt x="2807819" y="200226"/>
                  <a:pt x="2813168" y="193420"/>
                </a:cubicBezTo>
                <a:close/>
                <a:moveTo>
                  <a:pt x="2711970" y="181634"/>
                </a:moveTo>
                <a:cubicBezTo>
                  <a:pt x="2722215" y="181634"/>
                  <a:pt x="2713199" y="187488"/>
                  <a:pt x="2709306" y="188413"/>
                </a:cubicBezTo>
                <a:cubicBezTo>
                  <a:pt x="2701519" y="186564"/>
                  <a:pt x="2714428" y="185485"/>
                  <a:pt x="2711970" y="181634"/>
                </a:cubicBezTo>
                <a:close/>
                <a:moveTo>
                  <a:pt x="2813417" y="169848"/>
                </a:moveTo>
                <a:cubicBezTo>
                  <a:pt x="2818535" y="172864"/>
                  <a:pt x="2818535" y="175879"/>
                  <a:pt x="2815874" y="180957"/>
                </a:cubicBezTo>
                <a:cubicBezTo>
                  <a:pt x="2804201" y="182862"/>
                  <a:pt x="2810754" y="171912"/>
                  <a:pt x="2813417" y="169848"/>
                </a:cubicBezTo>
                <a:close/>
                <a:moveTo>
                  <a:pt x="3113759" y="150437"/>
                </a:moveTo>
                <a:cubicBezTo>
                  <a:pt x="3117596" y="151369"/>
                  <a:pt x="3120222" y="156342"/>
                  <a:pt x="3116385" y="159294"/>
                </a:cubicBezTo>
                <a:cubicBezTo>
                  <a:pt x="3111337" y="158362"/>
                  <a:pt x="3115173" y="152457"/>
                  <a:pt x="3113759" y="150437"/>
                </a:cubicBezTo>
                <a:close/>
                <a:moveTo>
                  <a:pt x="2682230" y="142118"/>
                </a:moveTo>
                <a:cubicBezTo>
                  <a:pt x="2682230" y="146343"/>
                  <a:pt x="2677029" y="148293"/>
                  <a:pt x="2679733" y="152354"/>
                </a:cubicBezTo>
                <a:cubicBezTo>
                  <a:pt x="2670372" y="147317"/>
                  <a:pt x="2665172" y="147317"/>
                  <a:pt x="2682230" y="142118"/>
                </a:cubicBezTo>
                <a:close/>
                <a:moveTo>
                  <a:pt x="3144497" y="125740"/>
                </a:moveTo>
                <a:cubicBezTo>
                  <a:pt x="3145726" y="128758"/>
                  <a:pt x="3141835" y="129711"/>
                  <a:pt x="3141835" y="132730"/>
                </a:cubicBezTo>
                <a:cubicBezTo>
                  <a:pt x="3146954" y="131777"/>
                  <a:pt x="3146954" y="133842"/>
                  <a:pt x="3148387" y="135749"/>
                </a:cubicBezTo>
                <a:cubicBezTo>
                  <a:pt x="3137944" y="139879"/>
                  <a:pt x="3134053" y="124786"/>
                  <a:pt x="3144497" y="125740"/>
                </a:cubicBezTo>
                <a:close/>
                <a:moveTo>
                  <a:pt x="2725204" y="124093"/>
                </a:moveTo>
                <a:cubicBezTo>
                  <a:pt x="2734031" y="127072"/>
                  <a:pt x="2726408" y="134129"/>
                  <a:pt x="2724000" y="137108"/>
                </a:cubicBezTo>
                <a:cubicBezTo>
                  <a:pt x="2718785" y="135070"/>
                  <a:pt x="2727813" y="129111"/>
                  <a:pt x="2725204" y="124093"/>
                </a:cubicBezTo>
                <a:close/>
                <a:moveTo>
                  <a:pt x="3062268" y="122013"/>
                </a:moveTo>
                <a:cubicBezTo>
                  <a:pt x="3070236" y="122013"/>
                  <a:pt x="3068768" y="127933"/>
                  <a:pt x="3068768" y="133853"/>
                </a:cubicBezTo>
                <a:cubicBezTo>
                  <a:pt x="3056816" y="135723"/>
                  <a:pt x="3058283" y="125908"/>
                  <a:pt x="3062268" y="122013"/>
                </a:cubicBezTo>
                <a:close/>
                <a:moveTo>
                  <a:pt x="3062481" y="99829"/>
                </a:moveTo>
                <a:cubicBezTo>
                  <a:pt x="3079327" y="102799"/>
                  <a:pt x="3062481" y="109677"/>
                  <a:pt x="3068850" y="115617"/>
                </a:cubicBezTo>
                <a:cubicBezTo>
                  <a:pt x="3059810" y="115617"/>
                  <a:pt x="3059810" y="115617"/>
                  <a:pt x="3059810" y="115617"/>
                </a:cubicBezTo>
                <a:cubicBezTo>
                  <a:pt x="3061042" y="111709"/>
                  <a:pt x="3055907" y="101704"/>
                  <a:pt x="3062481" y="99829"/>
                </a:cubicBezTo>
                <a:close/>
                <a:moveTo>
                  <a:pt x="3103654" y="98931"/>
                </a:moveTo>
                <a:cubicBezTo>
                  <a:pt x="3109873" y="97056"/>
                  <a:pt x="3108669" y="106904"/>
                  <a:pt x="3112481" y="102996"/>
                </a:cubicBezTo>
                <a:cubicBezTo>
                  <a:pt x="3117497" y="102996"/>
                  <a:pt x="3113685" y="109874"/>
                  <a:pt x="3115090" y="112844"/>
                </a:cubicBezTo>
                <a:cubicBezTo>
                  <a:pt x="3111278" y="110812"/>
                  <a:pt x="3111278" y="106904"/>
                  <a:pt x="3103654" y="106904"/>
                </a:cubicBezTo>
                <a:cubicBezTo>
                  <a:pt x="3108669" y="103933"/>
                  <a:pt x="3102250" y="102996"/>
                  <a:pt x="3103654" y="98931"/>
                </a:cubicBezTo>
                <a:close/>
                <a:moveTo>
                  <a:pt x="2736880" y="96362"/>
                </a:moveTo>
                <a:cubicBezTo>
                  <a:pt x="2741971" y="99341"/>
                  <a:pt x="2745842" y="105301"/>
                  <a:pt x="2740749" y="109378"/>
                </a:cubicBezTo>
                <a:cubicBezTo>
                  <a:pt x="2734232" y="108280"/>
                  <a:pt x="2740749" y="102321"/>
                  <a:pt x="2736880" y="96362"/>
                </a:cubicBezTo>
                <a:close/>
                <a:moveTo>
                  <a:pt x="3131125" y="94283"/>
                </a:moveTo>
                <a:cubicBezTo>
                  <a:pt x="3128501" y="104134"/>
                  <a:pt x="3128501" y="118052"/>
                  <a:pt x="3129713" y="135722"/>
                </a:cubicBezTo>
                <a:cubicBezTo>
                  <a:pt x="3127289" y="134784"/>
                  <a:pt x="3113154" y="98192"/>
                  <a:pt x="3131125" y="94283"/>
                </a:cubicBezTo>
                <a:close/>
                <a:moveTo>
                  <a:pt x="2542424" y="92020"/>
                </a:moveTo>
                <a:cubicBezTo>
                  <a:pt x="2552766" y="90123"/>
                  <a:pt x="2547697" y="98028"/>
                  <a:pt x="2560471" y="94076"/>
                </a:cubicBezTo>
                <a:cubicBezTo>
                  <a:pt x="2557835" y="97079"/>
                  <a:pt x="2552766" y="98977"/>
                  <a:pt x="2546277" y="98977"/>
                </a:cubicBezTo>
                <a:cubicBezTo>
                  <a:pt x="2542424" y="97079"/>
                  <a:pt x="2536139" y="95973"/>
                  <a:pt x="2542424" y="92020"/>
                </a:cubicBezTo>
                <a:close/>
                <a:moveTo>
                  <a:pt x="3359003" y="91020"/>
                </a:moveTo>
                <a:cubicBezTo>
                  <a:pt x="3361427" y="88043"/>
                  <a:pt x="3366475" y="109824"/>
                  <a:pt x="3357590" y="110764"/>
                </a:cubicBezTo>
                <a:cubicBezTo>
                  <a:pt x="3359003" y="105906"/>
                  <a:pt x="3359003" y="99952"/>
                  <a:pt x="3359003" y="91020"/>
                </a:cubicBezTo>
                <a:close/>
                <a:moveTo>
                  <a:pt x="2737867" y="90549"/>
                </a:moveTo>
                <a:cubicBezTo>
                  <a:pt x="2745835" y="89429"/>
                  <a:pt x="2744577" y="93429"/>
                  <a:pt x="2745835" y="97589"/>
                </a:cubicBezTo>
                <a:cubicBezTo>
                  <a:pt x="2741851" y="95509"/>
                  <a:pt x="2739335" y="93429"/>
                  <a:pt x="2737867" y="90549"/>
                </a:cubicBezTo>
                <a:close/>
                <a:moveTo>
                  <a:pt x="2726586" y="89998"/>
                </a:moveTo>
                <a:cubicBezTo>
                  <a:pt x="2727504" y="91264"/>
                  <a:pt x="2727426" y="96414"/>
                  <a:pt x="2730390" y="97239"/>
                </a:cubicBezTo>
                <a:cubicBezTo>
                  <a:pt x="2722485" y="97239"/>
                  <a:pt x="2722485" y="97239"/>
                  <a:pt x="2722485" y="97239"/>
                </a:cubicBezTo>
                <a:cubicBezTo>
                  <a:pt x="2721237" y="105087"/>
                  <a:pt x="2730390" y="105087"/>
                  <a:pt x="2729141" y="112150"/>
                </a:cubicBezTo>
                <a:cubicBezTo>
                  <a:pt x="2713333" y="109168"/>
                  <a:pt x="2721237" y="97239"/>
                  <a:pt x="2725190" y="90332"/>
                </a:cubicBezTo>
                <a:cubicBezTo>
                  <a:pt x="2725865" y="89587"/>
                  <a:pt x="2726281" y="89577"/>
                  <a:pt x="2726586" y="89998"/>
                </a:cubicBezTo>
                <a:close/>
                <a:moveTo>
                  <a:pt x="2644981" y="88043"/>
                </a:moveTo>
                <a:cubicBezTo>
                  <a:pt x="2643576" y="91083"/>
                  <a:pt x="2637357" y="93002"/>
                  <a:pt x="2630938" y="94122"/>
                </a:cubicBezTo>
                <a:cubicBezTo>
                  <a:pt x="2629733" y="90123"/>
                  <a:pt x="2637357" y="89003"/>
                  <a:pt x="2644981" y="88043"/>
                </a:cubicBezTo>
                <a:close/>
                <a:moveTo>
                  <a:pt x="2735569" y="81537"/>
                </a:moveTo>
                <a:cubicBezTo>
                  <a:pt x="2742197" y="80417"/>
                  <a:pt x="2739631" y="86496"/>
                  <a:pt x="2740914" y="89536"/>
                </a:cubicBezTo>
                <a:cubicBezTo>
                  <a:pt x="2731506" y="90656"/>
                  <a:pt x="2735569" y="83457"/>
                  <a:pt x="2735569" y="81537"/>
                </a:cubicBezTo>
                <a:close/>
                <a:moveTo>
                  <a:pt x="3167656" y="78337"/>
                </a:moveTo>
                <a:cubicBezTo>
                  <a:pt x="3184732" y="78337"/>
                  <a:pt x="3168906" y="83256"/>
                  <a:pt x="3171613" y="90398"/>
                </a:cubicBezTo>
                <a:cubicBezTo>
                  <a:pt x="3164948" y="91350"/>
                  <a:pt x="3170155" y="82305"/>
                  <a:pt x="3167656" y="78337"/>
                </a:cubicBezTo>
                <a:close/>
                <a:moveTo>
                  <a:pt x="2681327" y="70197"/>
                </a:moveTo>
                <a:cubicBezTo>
                  <a:pt x="2680115" y="76102"/>
                  <a:pt x="2667394" y="73150"/>
                  <a:pt x="2659720" y="73150"/>
                </a:cubicBezTo>
                <a:cubicBezTo>
                  <a:pt x="2664768" y="67245"/>
                  <a:pt x="2673653" y="73150"/>
                  <a:pt x="2681327" y="70197"/>
                </a:cubicBezTo>
                <a:close/>
                <a:moveTo>
                  <a:pt x="3082029" y="68632"/>
                </a:moveTo>
                <a:cubicBezTo>
                  <a:pt x="3095341" y="72529"/>
                  <a:pt x="3091389" y="90302"/>
                  <a:pt x="3096590" y="101059"/>
                </a:cubicBezTo>
                <a:cubicBezTo>
                  <a:pt x="3079533" y="100124"/>
                  <a:pt x="3089933" y="77362"/>
                  <a:pt x="3082029" y="68632"/>
                </a:cubicBezTo>
                <a:close/>
                <a:moveTo>
                  <a:pt x="2717124" y="66552"/>
                </a:moveTo>
                <a:cubicBezTo>
                  <a:pt x="2722216" y="66552"/>
                  <a:pt x="2718346" y="72456"/>
                  <a:pt x="2720994" y="75408"/>
                </a:cubicBezTo>
                <a:cubicBezTo>
                  <a:pt x="2717124" y="72456"/>
                  <a:pt x="2710606" y="69504"/>
                  <a:pt x="2717124" y="66552"/>
                </a:cubicBezTo>
                <a:close/>
                <a:moveTo>
                  <a:pt x="2575213" y="54766"/>
                </a:moveTo>
                <a:cubicBezTo>
                  <a:pt x="2580419" y="56846"/>
                  <a:pt x="2594995" y="52687"/>
                  <a:pt x="2594995" y="58766"/>
                </a:cubicBezTo>
                <a:cubicBezTo>
                  <a:pt x="2587082" y="58766"/>
                  <a:pt x="2575213" y="60845"/>
                  <a:pt x="2575213" y="54766"/>
                </a:cubicBezTo>
                <a:close/>
                <a:moveTo>
                  <a:pt x="3109519" y="53380"/>
                </a:moveTo>
                <a:cubicBezTo>
                  <a:pt x="3116229" y="53380"/>
                  <a:pt x="3112245" y="59578"/>
                  <a:pt x="3120214" y="57457"/>
                </a:cubicBezTo>
                <a:cubicBezTo>
                  <a:pt x="3120214" y="58436"/>
                  <a:pt x="3118746" y="58436"/>
                  <a:pt x="3117487" y="58436"/>
                </a:cubicBezTo>
                <a:cubicBezTo>
                  <a:pt x="3117487" y="61535"/>
                  <a:pt x="3117487" y="61535"/>
                  <a:pt x="3117487" y="61535"/>
                </a:cubicBezTo>
                <a:cubicBezTo>
                  <a:pt x="3112245" y="60557"/>
                  <a:pt x="3110777" y="57457"/>
                  <a:pt x="3109519" y="53380"/>
                </a:cubicBezTo>
                <a:close/>
                <a:moveTo>
                  <a:pt x="3361990" y="46447"/>
                </a:moveTo>
                <a:cubicBezTo>
                  <a:pt x="3367371" y="50355"/>
                  <a:pt x="3364788" y="57234"/>
                  <a:pt x="3364788" y="62236"/>
                </a:cubicBezTo>
                <a:cubicBezTo>
                  <a:pt x="3359408" y="60203"/>
                  <a:pt x="3363282" y="51293"/>
                  <a:pt x="3361990" y="46447"/>
                </a:cubicBezTo>
                <a:close/>
                <a:moveTo>
                  <a:pt x="2543195" y="41595"/>
                </a:moveTo>
                <a:cubicBezTo>
                  <a:pt x="2537871" y="44613"/>
                  <a:pt x="2537871" y="50650"/>
                  <a:pt x="2539149" y="56687"/>
                </a:cubicBezTo>
                <a:cubicBezTo>
                  <a:pt x="2536593" y="56687"/>
                  <a:pt x="2533825" y="55575"/>
                  <a:pt x="2529779" y="56687"/>
                </a:cubicBezTo>
                <a:cubicBezTo>
                  <a:pt x="2535103" y="50650"/>
                  <a:pt x="2535103" y="49538"/>
                  <a:pt x="2531056" y="43659"/>
                </a:cubicBezTo>
                <a:cubicBezTo>
                  <a:pt x="2543195" y="41595"/>
                  <a:pt x="2543195" y="41595"/>
                  <a:pt x="2543195" y="41595"/>
                </a:cubicBezTo>
                <a:close/>
                <a:moveTo>
                  <a:pt x="3048133" y="18716"/>
                </a:moveTo>
                <a:cubicBezTo>
                  <a:pt x="3052086" y="18716"/>
                  <a:pt x="3052086" y="21471"/>
                  <a:pt x="3048133" y="22543"/>
                </a:cubicBezTo>
                <a:cubicBezTo>
                  <a:pt x="3049382" y="23461"/>
                  <a:pt x="3052086" y="25451"/>
                  <a:pt x="3054791" y="25451"/>
                </a:cubicBezTo>
                <a:cubicBezTo>
                  <a:pt x="3053334" y="28359"/>
                  <a:pt x="3048133" y="29277"/>
                  <a:pt x="3042933" y="30349"/>
                </a:cubicBezTo>
                <a:cubicBezTo>
                  <a:pt x="3037733" y="23461"/>
                  <a:pt x="3049382" y="23461"/>
                  <a:pt x="3048133" y="18716"/>
                </a:cubicBezTo>
                <a:close/>
                <a:moveTo>
                  <a:pt x="3120790" y="15943"/>
                </a:moveTo>
                <a:cubicBezTo>
                  <a:pt x="3122034" y="25952"/>
                  <a:pt x="3122034" y="25952"/>
                  <a:pt x="3122034" y="25952"/>
                </a:cubicBezTo>
                <a:cubicBezTo>
                  <a:pt x="3119547" y="24998"/>
                  <a:pt x="3116853" y="23887"/>
                  <a:pt x="3112915" y="24998"/>
                </a:cubicBezTo>
                <a:lnTo>
                  <a:pt x="3112915" y="31036"/>
                </a:lnTo>
                <a:cubicBezTo>
                  <a:pt x="3098615" y="31036"/>
                  <a:pt x="3114159" y="16897"/>
                  <a:pt x="3120790" y="15943"/>
                </a:cubicBezTo>
                <a:close/>
                <a:moveTo>
                  <a:pt x="3078274" y="14557"/>
                </a:moveTo>
                <a:cubicBezTo>
                  <a:pt x="3086033" y="22530"/>
                  <a:pt x="3086033" y="36290"/>
                  <a:pt x="3087501" y="51144"/>
                </a:cubicBezTo>
                <a:cubicBezTo>
                  <a:pt x="3079533" y="40355"/>
                  <a:pt x="3076807" y="30505"/>
                  <a:pt x="3078274" y="14557"/>
                </a:cubicBezTo>
                <a:close/>
                <a:moveTo>
                  <a:pt x="2865179" y="13863"/>
                </a:moveTo>
                <a:cubicBezTo>
                  <a:pt x="2866630" y="14817"/>
                  <a:pt x="2873054" y="13863"/>
                  <a:pt x="2873054" y="16882"/>
                </a:cubicBezTo>
                <a:cubicBezTo>
                  <a:pt x="2862692" y="17835"/>
                  <a:pt x="2854817" y="28956"/>
                  <a:pt x="2849635" y="21807"/>
                </a:cubicBezTo>
                <a:cubicBezTo>
                  <a:pt x="2852122" y="21807"/>
                  <a:pt x="2856060" y="21807"/>
                  <a:pt x="2859997" y="20854"/>
                </a:cubicBezTo>
                <a:cubicBezTo>
                  <a:pt x="2858755" y="15929"/>
                  <a:pt x="2858755" y="15929"/>
                  <a:pt x="2858755" y="15929"/>
                </a:cubicBezTo>
                <a:cubicBezTo>
                  <a:pt x="2861241" y="14817"/>
                  <a:pt x="2865179" y="14817"/>
                  <a:pt x="2865179" y="13863"/>
                </a:cubicBezTo>
                <a:close/>
                <a:moveTo>
                  <a:pt x="3128386" y="0"/>
                </a:moveTo>
                <a:lnTo>
                  <a:pt x="3128387" y="0"/>
                </a:lnTo>
                <a:lnTo>
                  <a:pt x="3135108" y="8191"/>
                </a:lnTo>
                <a:cubicBezTo>
                  <a:pt x="3137883" y="17745"/>
                  <a:pt x="3131589" y="30572"/>
                  <a:pt x="3141201" y="39358"/>
                </a:cubicBezTo>
                <a:cubicBezTo>
                  <a:pt x="3122892" y="34906"/>
                  <a:pt x="3129872" y="23866"/>
                  <a:pt x="3130731" y="11969"/>
                </a:cubicBezTo>
                <a:close/>
                <a:moveTo>
                  <a:pt x="2831463" y="0"/>
                </a:moveTo>
                <a:lnTo>
                  <a:pt x="2831464" y="0"/>
                </a:lnTo>
                <a:lnTo>
                  <a:pt x="2834070" y="1868"/>
                </a:lnTo>
                <a:cubicBezTo>
                  <a:pt x="2839085" y="1868"/>
                  <a:pt x="2846709" y="6853"/>
                  <a:pt x="2846709" y="13708"/>
                </a:cubicBezTo>
                <a:cubicBezTo>
                  <a:pt x="2844803" y="10748"/>
                  <a:pt x="2841342" y="9034"/>
                  <a:pt x="2838182" y="7203"/>
                </a:cubicBezTo>
                <a:close/>
              </a:path>
            </a:pathLst>
          </a:custGeom>
          <a:effectLst/>
        </p:spPr>
        <p:txBody>
          <a:bodyPr wrap="square">
            <a:noAutofit/>
          </a:bodyPr>
          <a:lstStyle/>
          <a:p>
            <a:r>
              <a:rPr lang="zh-CN" altLang="en-US"/>
              <a:t>单击图标添加图片</a:t>
            </a:r>
          </a:p>
        </p:txBody>
      </p:sp>
      <p:sp>
        <p:nvSpPr>
          <p:cNvPr id="14" name="矩形 13">
            <a:extLst>
              <a:ext uri="{FF2B5EF4-FFF2-40B4-BE49-F238E27FC236}">
                <a16:creationId xmlns:a16="http://schemas.microsoft.com/office/drawing/2014/main" id="{F2E6D061-3C50-625E-34AD-4578B5746C8C}"/>
              </a:ext>
            </a:extLst>
          </p:cNvPr>
          <p:cNvSpPr/>
          <p:nvPr/>
        </p:nvSpPr>
        <p:spPr>
          <a:xfrm>
            <a:off x="0" y="0"/>
            <a:ext cx="9144000" cy="5539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B1DAD71E-72FE-68A7-BD2B-934ED68DD17E}"/>
              </a:ext>
            </a:extLst>
          </p:cNvPr>
          <p:cNvSpPr/>
          <p:nvPr/>
        </p:nvSpPr>
        <p:spPr>
          <a:xfrm>
            <a:off x="0" y="4214811"/>
            <a:ext cx="9144000" cy="9286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9C712412-C6A1-B871-F1E9-8072E2314A54}"/>
              </a:ext>
            </a:extLst>
          </p:cNvPr>
          <p:cNvSpPr>
            <a:spLocks noGrp="1"/>
          </p:cNvSpPr>
          <p:nvPr>
            <p:ph type="title" hasCustomPrompt="1"/>
          </p:nvPr>
        </p:nvSpPr>
        <p:spPr>
          <a:xfrm>
            <a:off x="628650" y="1790739"/>
            <a:ext cx="4320000" cy="553998"/>
          </a:xfrm>
          <a:prstGeom prst="rect">
            <a:avLst/>
          </a:prstGeom>
        </p:spPr>
        <p:txBody>
          <a:bodyPr anchor="ctr" anchorCtr="0">
            <a:spAutoFit/>
          </a:bodyPr>
          <a:lstStyle>
            <a:lvl1pPr algn="r">
              <a:defRPr sz="3000" baseline="0">
                <a:latin typeface="Montserrat" panose="00000500000000000000" pitchFamily="2" charset="0"/>
                <a:ea typeface="微软雅黑" panose="020B0503020204020204" pitchFamily="34" charset="-122"/>
              </a:defRPr>
            </a:lvl1pPr>
          </a:lstStyle>
          <a:p>
            <a:r>
              <a:rPr lang="zh-CN" altLang="en-US" dirty="0"/>
              <a:t>标题样式</a:t>
            </a:r>
          </a:p>
        </p:txBody>
      </p:sp>
      <p:cxnSp>
        <p:nvCxnSpPr>
          <p:cNvPr id="3" name="Straight Connector 3">
            <a:extLst>
              <a:ext uri="{FF2B5EF4-FFF2-40B4-BE49-F238E27FC236}">
                <a16:creationId xmlns:a16="http://schemas.microsoft.com/office/drawing/2014/main" id="{8309D080-14F8-957D-599A-AE39EF5DCF55}"/>
              </a:ext>
            </a:extLst>
          </p:cNvPr>
          <p:cNvCxnSpPr>
            <a:cxnSpLocks/>
          </p:cNvCxnSpPr>
          <p:nvPr/>
        </p:nvCxnSpPr>
        <p:spPr>
          <a:xfrm>
            <a:off x="628650" y="2344737"/>
            <a:ext cx="4320000" cy="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文本占位符 6">
            <a:extLst>
              <a:ext uri="{FF2B5EF4-FFF2-40B4-BE49-F238E27FC236}">
                <a16:creationId xmlns:a16="http://schemas.microsoft.com/office/drawing/2014/main" id="{99F74197-8563-ADB2-A999-B2916EFB8942}"/>
              </a:ext>
            </a:extLst>
          </p:cNvPr>
          <p:cNvSpPr>
            <a:spLocks noGrp="1"/>
          </p:cNvSpPr>
          <p:nvPr>
            <p:ph type="body" sz="quarter" idx="11" hasCustomPrompt="1"/>
          </p:nvPr>
        </p:nvSpPr>
        <p:spPr>
          <a:xfrm>
            <a:off x="628100" y="2344736"/>
            <a:ext cx="4320000" cy="1870075"/>
          </a:xfrm>
          <a:prstGeom prst="rect">
            <a:avLst/>
          </a:prstGeom>
        </p:spPr>
        <p:txBody>
          <a:bodyPr>
            <a:noAutofit/>
          </a:bodyPr>
          <a:lstStyle>
            <a:lvl1pPr marL="0" indent="0" algn="r">
              <a:spcBef>
                <a:spcPts val="600"/>
              </a:spcBef>
              <a:buNone/>
              <a:defRPr sz="1800" baseline="0">
                <a:latin typeface="Montserrat" panose="00000500000000000000" pitchFamily="2" charset="0"/>
                <a:ea typeface="微软雅黑 Light" panose="020B0502040204020203" pitchFamily="34" charset="-122"/>
              </a:defRPr>
            </a:lvl1pPr>
            <a:lvl2pPr marL="457200" indent="0">
              <a:buNone/>
              <a:defRPr/>
            </a:lvl2pPr>
            <a:lvl3pPr marL="914400" indent="0">
              <a:buNone/>
              <a:defRPr/>
            </a:lvl3pPr>
            <a:lvl4pPr marL="1371600" indent="0">
              <a:buNone/>
              <a:defRPr/>
            </a:lvl4pPr>
            <a:lvl5pPr marL="1828800" indent="0">
              <a:buNone/>
              <a:defRPr/>
            </a:lvl5pPr>
          </a:lstStyle>
          <a:p>
            <a:pPr lvl="0"/>
            <a:r>
              <a:rPr lang="zh-CN" altLang="en-US" dirty="0"/>
              <a:t>文本样式</a:t>
            </a:r>
          </a:p>
        </p:txBody>
      </p:sp>
    </p:spTree>
    <p:extLst>
      <p:ext uri="{BB962C8B-B14F-4D97-AF65-F5344CB8AC3E}">
        <p14:creationId xmlns:p14="http://schemas.microsoft.com/office/powerpoint/2010/main" val="3931860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6BD9C9-DE8C-DF63-4762-F835063A4B64}"/>
              </a:ext>
            </a:extLst>
          </p:cNvPr>
          <p:cNvSpPr>
            <a:spLocks noGrp="1"/>
          </p:cNvSpPr>
          <p:nvPr>
            <p:ph type="title"/>
          </p:nvPr>
        </p:nvSpPr>
        <p:spPr>
          <a:xfrm>
            <a:off x="2808000" y="144000"/>
            <a:ext cx="3528000" cy="338554"/>
          </a:xfrm>
          <a:prstGeom prst="rect">
            <a:avLst/>
          </a:prstGeom>
          <a:noFill/>
        </p:spPr>
        <p:txBody>
          <a:bodyPr wrap="square" anchor="ctr">
            <a:spAutoFit/>
          </a:bodyPr>
          <a:lstStyle>
            <a:lvl1pPr>
              <a:defRPr lang="zh-CN" altLang="en-US" sz="1600" b="0" baseline="0">
                <a:solidFill>
                  <a:sysClr val="windowText" lastClr="000000"/>
                </a:solidFill>
                <a:latin typeface="Montserrat" panose="00000500000000000000" pitchFamily="2" charset="0"/>
                <a:ea typeface="微软雅黑" panose="020B0503020204020204" pitchFamily="34" charset="-122"/>
                <a:cs typeface="+mn-cs"/>
              </a:defRPr>
            </a:lvl1pPr>
          </a:lstStyle>
          <a:p>
            <a:pPr marL="0" lvl="0" indent="0" fontAlgn="base">
              <a:spcBef>
                <a:spcPct val="20000"/>
              </a:spcBef>
              <a:spcAft>
                <a:spcPct val="0"/>
              </a:spcAft>
              <a:buFontTx/>
            </a:pPr>
            <a:r>
              <a:rPr lang="zh-CN" altLang="en-US"/>
              <a:t>单击此处编辑母版标题样式</a:t>
            </a:r>
            <a:endParaRPr lang="zh-CN" altLang="en-US" dirty="0"/>
          </a:p>
        </p:txBody>
      </p:sp>
    </p:spTree>
    <p:extLst>
      <p:ext uri="{BB962C8B-B14F-4D97-AF65-F5344CB8AC3E}">
        <p14:creationId xmlns:p14="http://schemas.microsoft.com/office/powerpoint/2010/main" val="2993373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AF20C5A-3FE7-F07C-CB7E-C9ADF5AFB94A}"/>
              </a:ext>
            </a:extLst>
          </p:cNvPr>
          <p:cNvSpPr>
            <a:spLocks noGrp="1"/>
          </p:cNvSpPr>
          <p:nvPr>
            <p:ph sz="quarter" idx="11"/>
          </p:nvPr>
        </p:nvSpPr>
        <p:spPr>
          <a:xfrm>
            <a:off x="486000" y="482554"/>
            <a:ext cx="8172000" cy="4120946"/>
          </a:xfrm>
          <a:prstGeom prst="rect">
            <a:avLst/>
          </a:prstGeom>
        </p:spPr>
        <p:txBody>
          <a:bodyPr lIns="0" tIns="36000" rIns="0" bIns="36000">
            <a:noAutofit/>
          </a:bodyPr>
          <a:lstStyle>
            <a:lvl1pPr marL="180000" indent="-180000" algn="just" latinLnBrk="1">
              <a:lnSpc>
                <a:spcPct val="100000"/>
              </a:lnSpc>
              <a:spcBef>
                <a:spcPts val="0"/>
              </a:spcBef>
              <a:spcAft>
                <a:spcPts val="600"/>
              </a:spcAft>
              <a:buFont typeface="Wingdings" panose="05000000000000000000" pitchFamily="2" charset="2"/>
              <a:buChar char="§"/>
              <a:defRPr sz="1600" baseline="0">
                <a:latin typeface="Montserrat" panose="00000500000000000000" pitchFamily="2" charset="0"/>
                <a:ea typeface="微软雅黑 Light" panose="020B0502040204020203" pitchFamily="34" charset="-122"/>
              </a:defRPr>
            </a:lvl1pPr>
            <a:lvl2pPr marL="360000" indent="-180000" algn="just" latinLnBrk="1">
              <a:lnSpc>
                <a:spcPct val="100000"/>
              </a:lnSpc>
              <a:spcBef>
                <a:spcPts val="0"/>
              </a:spcBef>
              <a:spcAft>
                <a:spcPts val="600"/>
              </a:spcAft>
              <a:buFont typeface="Wingdings" panose="05000000000000000000" pitchFamily="2" charset="2"/>
              <a:buChar char=""/>
              <a:defRPr sz="1400" baseline="0">
                <a:latin typeface="Montserrat" panose="00000500000000000000" pitchFamily="2" charset="0"/>
                <a:ea typeface="微软雅黑 Light" panose="020B0502040204020203" pitchFamily="34" charset="-122"/>
              </a:defRPr>
            </a:lvl2pPr>
          </a:lstStyle>
          <a:p>
            <a:pPr lvl="0"/>
            <a:r>
              <a:rPr lang="zh-CN" altLang="en-US" dirty="0"/>
              <a:t>单击此处编辑母版文本样式</a:t>
            </a:r>
          </a:p>
          <a:p>
            <a:pPr lvl="1"/>
            <a:r>
              <a:rPr lang="zh-CN" altLang="en-US" dirty="0"/>
              <a:t>二级</a:t>
            </a:r>
          </a:p>
        </p:txBody>
      </p:sp>
      <p:sp>
        <p:nvSpPr>
          <p:cNvPr id="4" name="标题 3">
            <a:extLst>
              <a:ext uri="{FF2B5EF4-FFF2-40B4-BE49-F238E27FC236}">
                <a16:creationId xmlns:a16="http://schemas.microsoft.com/office/drawing/2014/main" id="{14228B95-B0B6-0ADB-DC42-C8DACC58D024}"/>
              </a:ext>
            </a:extLst>
          </p:cNvPr>
          <p:cNvSpPr>
            <a:spLocks noGrp="1"/>
          </p:cNvSpPr>
          <p:nvPr>
            <p:ph type="title"/>
          </p:nvPr>
        </p:nvSpPr>
        <p:spPr>
          <a:xfrm>
            <a:off x="2808000" y="144000"/>
            <a:ext cx="3528000" cy="338554"/>
          </a:xfrm>
          <a:prstGeom prst="rect">
            <a:avLst/>
          </a:prstGeom>
          <a:noFill/>
        </p:spPr>
        <p:txBody>
          <a:bodyPr wrap="square" anchor="ctr">
            <a:spAutoFit/>
          </a:bodyPr>
          <a:lstStyle>
            <a:lvl1pPr>
              <a:defRPr lang="zh-CN" altLang="en-US" sz="1600" b="0" baseline="0">
                <a:solidFill>
                  <a:sysClr val="windowText" lastClr="000000"/>
                </a:solidFill>
                <a:latin typeface="Montserrat" panose="00000500000000000000" pitchFamily="2" charset="0"/>
                <a:ea typeface="微软雅黑" panose="020B0503020204020204" pitchFamily="34" charset="-122"/>
                <a:cs typeface="+mn-cs"/>
              </a:defRPr>
            </a:lvl1pPr>
          </a:lstStyle>
          <a:p>
            <a:pPr marL="0" lvl="0" indent="0" fontAlgn="base">
              <a:spcBef>
                <a:spcPct val="20000"/>
              </a:spcBef>
              <a:spcAft>
                <a:spcPct val="0"/>
              </a:spcAft>
              <a:buFontTx/>
            </a:pPr>
            <a:r>
              <a:rPr lang="zh-CN" altLang="en-US"/>
              <a:t>单击此处编辑母版标题样式</a:t>
            </a:r>
            <a:endParaRPr lang="zh-CN" altLang="en-US" dirty="0"/>
          </a:p>
        </p:txBody>
      </p:sp>
    </p:spTree>
    <p:extLst>
      <p:ext uri="{BB962C8B-B14F-4D97-AF65-F5344CB8AC3E}">
        <p14:creationId xmlns:p14="http://schemas.microsoft.com/office/powerpoint/2010/main" val="4545985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lumn">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4AF20C5A-3FE7-F07C-CB7E-C9ADF5AFB94A}"/>
              </a:ext>
            </a:extLst>
          </p:cNvPr>
          <p:cNvSpPr>
            <a:spLocks noGrp="1"/>
          </p:cNvSpPr>
          <p:nvPr>
            <p:ph sz="quarter" idx="11"/>
          </p:nvPr>
        </p:nvSpPr>
        <p:spPr>
          <a:xfrm>
            <a:off x="485999" y="482554"/>
            <a:ext cx="4086001" cy="4120946"/>
          </a:xfrm>
          <a:prstGeom prst="rect">
            <a:avLst/>
          </a:prstGeom>
        </p:spPr>
        <p:txBody>
          <a:bodyPr lIns="0" tIns="36000" rIns="0" bIns="36000">
            <a:noAutofit/>
          </a:bodyPr>
          <a:lstStyle>
            <a:lvl1pPr marL="180000" indent="-180000" algn="just" latinLnBrk="1">
              <a:lnSpc>
                <a:spcPct val="100000"/>
              </a:lnSpc>
              <a:spcBef>
                <a:spcPts val="0"/>
              </a:spcBef>
              <a:spcAft>
                <a:spcPts val="600"/>
              </a:spcAft>
              <a:buFont typeface="Wingdings" panose="05000000000000000000" pitchFamily="2" charset="2"/>
              <a:buChar char="§"/>
              <a:defRPr sz="1600" baseline="0">
                <a:latin typeface="Montserrat" panose="00000500000000000000" pitchFamily="2" charset="0"/>
                <a:ea typeface="微软雅黑 Light" panose="020B0502040204020203" pitchFamily="34" charset="-122"/>
              </a:defRPr>
            </a:lvl1pPr>
            <a:lvl2pPr marL="360000" indent="-180000" algn="just" latinLnBrk="1">
              <a:lnSpc>
                <a:spcPct val="100000"/>
              </a:lnSpc>
              <a:spcBef>
                <a:spcPts val="0"/>
              </a:spcBef>
              <a:spcAft>
                <a:spcPts val="600"/>
              </a:spcAft>
              <a:buFont typeface="Wingdings" panose="05000000000000000000" pitchFamily="2" charset="2"/>
              <a:buChar char=""/>
              <a:defRPr sz="1400" baseline="0">
                <a:latin typeface="Montserrat" panose="00000500000000000000" pitchFamily="2" charset="0"/>
                <a:ea typeface="微软雅黑 Light" panose="020B0502040204020203" pitchFamily="34" charset="-122"/>
              </a:defRPr>
            </a:lvl2pPr>
          </a:lstStyle>
          <a:p>
            <a:pPr lvl="0"/>
            <a:r>
              <a:rPr lang="zh-CN" altLang="en-US" dirty="0"/>
              <a:t>单击此处编辑母版文本样式</a:t>
            </a:r>
          </a:p>
          <a:p>
            <a:pPr lvl="1"/>
            <a:r>
              <a:rPr lang="zh-CN" altLang="en-US" dirty="0"/>
              <a:t>二级</a:t>
            </a:r>
          </a:p>
        </p:txBody>
      </p:sp>
      <p:sp>
        <p:nvSpPr>
          <p:cNvPr id="4" name="标题 3">
            <a:extLst>
              <a:ext uri="{FF2B5EF4-FFF2-40B4-BE49-F238E27FC236}">
                <a16:creationId xmlns:a16="http://schemas.microsoft.com/office/drawing/2014/main" id="{14228B95-B0B6-0ADB-DC42-C8DACC58D024}"/>
              </a:ext>
            </a:extLst>
          </p:cNvPr>
          <p:cNvSpPr>
            <a:spLocks noGrp="1"/>
          </p:cNvSpPr>
          <p:nvPr>
            <p:ph type="title"/>
          </p:nvPr>
        </p:nvSpPr>
        <p:spPr>
          <a:xfrm>
            <a:off x="2808000" y="144000"/>
            <a:ext cx="3528000" cy="338554"/>
          </a:xfrm>
          <a:prstGeom prst="rect">
            <a:avLst/>
          </a:prstGeom>
          <a:noFill/>
        </p:spPr>
        <p:txBody>
          <a:bodyPr wrap="square" anchor="ctr">
            <a:spAutoFit/>
          </a:bodyPr>
          <a:lstStyle>
            <a:lvl1pPr>
              <a:defRPr lang="zh-CN" altLang="en-US" sz="1600" b="0" baseline="0">
                <a:solidFill>
                  <a:sysClr val="windowText" lastClr="000000"/>
                </a:solidFill>
                <a:latin typeface="Montserrat" panose="00000500000000000000" pitchFamily="2" charset="0"/>
                <a:ea typeface="微软雅黑" panose="020B0503020204020204" pitchFamily="34" charset="-122"/>
                <a:cs typeface="+mn-cs"/>
              </a:defRPr>
            </a:lvl1pPr>
          </a:lstStyle>
          <a:p>
            <a:pPr marL="0" lvl="0" indent="0" fontAlgn="base">
              <a:spcBef>
                <a:spcPct val="20000"/>
              </a:spcBef>
              <a:spcAft>
                <a:spcPct val="0"/>
              </a:spcAft>
              <a:buFontTx/>
            </a:pPr>
            <a:r>
              <a:rPr lang="zh-CN" altLang="en-US"/>
              <a:t>单击此处编辑母版标题样式</a:t>
            </a:r>
            <a:endParaRPr lang="zh-CN" altLang="en-US" dirty="0"/>
          </a:p>
        </p:txBody>
      </p:sp>
    </p:spTree>
    <p:extLst>
      <p:ext uri="{BB962C8B-B14F-4D97-AF65-F5344CB8AC3E}">
        <p14:creationId xmlns:p14="http://schemas.microsoft.com/office/powerpoint/2010/main" val="54381142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848356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Line 3">
            <a:extLst>
              <a:ext uri="{FF2B5EF4-FFF2-40B4-BE49-F238E27FC236}">
                <a16:creationId xmlns:a16="http://schemas.microsoft.com/office/drawing/2014/main" id="{5AEB39F7-50A6-C253-C39D-1096377D3C88}"/>
              </a:ext>
            </a:extLst>
          </p:cNvPr>
          <p:cNvSpPr>
            <a:spLocks noChangeShapeType="1"/>
          </p:cNvSpPr>
          <p:nvPr/>
        </p:nvSpPr>
        <p:spPr bwMode="auto">
          <a:xfrm>
            <a:off x="0" y="301625"/>
            <a:ext cx="2880000" cy="0"/>
          </a:xfrm>
          <a:prstGeom prst="line">
            <a:avLst/>
          </a:prstGeom>
          <a:noFill/>
          <a:ln w="12700" algn="ctr">
            <a:solidFill>
              <a:srgbClr val="7F131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椭圆 11">
            <a:extLst>
              <a:ext uri="{FF2B5EF4-FFF2-40B4-BE49-F238E27FC236}">
                <a16:creationId xmlns:a16="http://schemas.microsoft.com/office/drawing/2014/main" id="{D7C9F644-1AE0-0331-07EF-C7331C8C9C9B}"/>
              </a:ext>
            </a:extLst>
          </p:cNvPr>
          <p:cNvSpPr>
            <a:spLocks noChangeArrowheads="1"/>
          </p:cNvSpPr>
          <p:nvPr/>
        </p:nvSpPr>
        <p:spPr bwMode="auto">
          <a:xfrm>
            <a:off x="2794275" y="258763"/>
            <a:ext cx="85725" cy="85725"/>
          </a:xfrm>
          <a:prstGeom prst="ellipse">
            <a:avLst/>
          </a:prstGeom>
          <a:solidFill>
            <a:schemeClr val="bg1"/>
          </a:solidFill>
          <a:ln w="12700" algn="ctr">
            <a:solidFill>
              <a:srgbClr val="7F131F"/>
            </a:solidFill>
            <a:round/>
            <a:headEnd/>
            <a:tailEnd/>
          </a:ln>
        </p:spPr>
        <p:txBody>
          <a:bodyPr/>
          <a:lstStyle/>
          <a:p>
            <a:endParaRPr lang="zh-CN" altLang="en-US">
              <a:latin typeface="Arial" charset="0"/>
            </a:endParaRPr>
          </a:p>
        </p:txBody>
      </p:sp>
      <p:sp>
        <p:nvSpPr>
          <p:cNvPr id="7" name="Line 3">
            <a:extLst>
              <a:ext uri="{FF2B5EF4-FFF2-40B4-BE49-F238E27FC236}">
                <a16:creationId xmlns:a16="http://schemas.microsoft.com/office/drawing/2014/main" id="{3F747D70-54F6-3079-D1C5-60B05A3396FD}"/>
              </a:ext>
            </a:extLst>
          </p:cNvPr>
          <p:cNvSpPr>
            <a:spLocks noChangeShapeType="1"/>
          </p:cNvSpPr>
          <p:nvPr/>
        </p:nvSpPr>
        <p:spPr bwMode="auto">
          <a:xfrm>
            <a:off x="6264000" y="301625"/>
            <a:ext cx="2880000" cy="0"/>
          </a:xfrm>
          <a:prstGeom prst="line">
            <a:avLst/>
          </a:prstGeom>
          <a:noFill/>
          <a:ln w="12700" algn="ctr">
            <a:solidFill>
              <a:srgbClr val="7F131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椭圆 13">
            <a:extLst>
              <a:ext uri="{FF2B5EF4-FFF2-40B4-BE49-F238E27FC236}">
                <a16:creationId xmlns:a16="http://schemas.microsoft.com/office/drawing/2014/main" id="{F884E4FE-7D40-8603-B9FB-7DEC525D2415}"/>
              </a:ext>
            </a:extLst>
          </p:cNvPr>
          <p:cNvSpPr>
            <a:spLocks noChangeArrowheads="1"/>
          </p:cNvSpPr>
          <p:nvPr/>
        </p:nvSpPr>
        <p:spPr bwMode="auto">
          <a:xfrm>
            <a:off x="6264000" y="258763"/>
            <a:ext cx="85725" cy="85725"/>
          </a:xfrm>
          <a:prstGeom prst="ellipse">
            <a:avLst/>
          </a:prstGeom>
          <a:solidFill>
            <a:schemeClr val="bg1"/>
          </a:solidFill>
          <a:ln w="12700" algn="ctr">
            <a:solidFill>
              <a:srgbClr val="7F131F"/>
            </a:solidFill>
            <a:round/>
            <a:headEnd/>
            <a:tailEnd/>
          </a:ln>
        </p:spPr>
        <p:txBody>
          <a:bodyPr/>
          <a:lstStyle/>
          <a:p>
            <a:endParaRPr lang="zh-CN" altLang="en-US">
              <a:latin typeface="Arial" charset="0"/>
            </a:endParaRPr>
          </a:p>
        </p:txBody>
      </p:sp>
      <p:sp>
        <p:nvSpPr>
          <p:cNvPr id="11" name="Rectangle 9">
            <a:extLst>
              <a:ext uri="{FF2B5EF4-FFF2-40B4-BE49-F238E27FC236}">
                <a16:creationId xmlns:a16="http://schemas.microsoft.com/office/drawing/2014/main" id="{8EA0DB56-BCC3-36D2-06D6-BB6F1D01CB73}"/>
              </a:ext>
            </a:extLst>
          </p:cNvPr>
          <p:cNvSpPr>
            <a:spLocks noChangeArrowheads="1"/>
          </p:cNvSpPr>
          <p:nvPr/>
        </p:nvSpPr>
        <p:spPr bwMode="auto">
          <a:xfrm>
            <a:off x="8208963" y="4394200"/>
            <a:ext cx="609600" cy="609600"/>
          </a:xfrm>
          <a:prstGeom prst="rect">
            <a:avLst/>
          </a:prstGeom>
          <a:solidFill>
            <a:schemeClr val="bg1"/>
          </a:solidFill>
          <a:ln w="25400" algn="ctr">
            <a:solidFill>
              <a:srgbClr val="C00000"/>
            </a:solidFill>
            <a:miter lim="800000"/>
            <a:headEnd/>
            <a:tailEnd/>
          </a:ln>
        </p:spPr>
        <p:txBody>
          <a:bodyPr wrap="none" anchor="ctr"/>
          <a:lstStyle/>
          <a:p>
            <a:pPr algn="ctr" eaLnBrk="0" hangingPunct="0"/>
            <a:endParaRPr lang="fr-FR" altLang="zh-CN">
              <a:cs typeface="Arial" charset="0"/>
            </a:endParaRPr>
          </a:p>
        </p:txBody>
      </p:sp>
      <p:sp>
        <p:nvSpPr>
          <p:cNvPr id="12" name="矩形 11">
            <a:extLst>
              <a:ext uri="{FF2B5EF4-FFF2-40B4-BE49-F238E27FC236}">
                <a16:creationId xmlns:a16="http://schemas.microsoft.com/office/drawing/2014/main" id="{A576B542-0259-5411-EEC1-9B93AC69DE7F}"/>
              </a:ext>
            </a:extLst>
          </p:cNvPr>
          <p:cNvSpPr/>
          <p:nvPr/>
        </p:nvSpPr>
        <p:spPr>
          <a:xfrm>
            <a:off x="4334632" y="123825"/>
            <a:ext cx="474736" cy="4651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pic>
        <p:nvPicPr>
          <p:cNvPr id="13" name="图片 12">
            <a:extLst>
              <a:ext uri="{FF2B5EF4-FFF2-40B4-BE49-F238E27FC236}">
                <a16:creationId xmlns:a16="http://schemas.microsoft.com/office/drawing/2014/main" id="{26E74E3B-155B-C2C3-F39C-100548AF13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243763" y="4429000"/>
            <a:ext cx="540000" cy="540000"/>
          </a:xfrm>
          <a:prstGeom prst="rect">
            <a:avLst/>
          </a:prstGeom>
        </p:spPr>
      </p:pic>
      <p:grpSp>
        <p:nvGrpSpPr>
          <p:cNvPr id="2" name="组合 1">
            <a:extLst>
              <a:ext uri="{FF2B5EF4-FFF2-40B4-BE49-F238E27FC236}">
                <a16:creationId xmlns:a16="http://schemas.microsoft.com/office/drawing/2014/main" id="{147105FF-168D-FF08-FADC-1711B59A628F}"/>
              </a:ext>
            </a:extLst>
          </p:cNvPr>
          <p:cNvGrpSpPr/>
          <p:nvPr userDrawn="1"/>
        </p:nvGrpSpPr>
        <p:grpSpPr>
          <a:xfrm>
            <a:off x="3566960" y="4783500"/>
            <a:ext cx="2249426" cy="360000"/>
            <a:chOff x="3566960" y="149234"/>
            <a:chExt cx="2249426" cy="360000"/>
          </a:xfrm>
        </p:grpSpPr>
        <p:sp>
          <p:nvSpPr>
            <p:cNvPr id="4" name="Rectangle 4">
              <a:extLst>
                <a:ext uri="{FF2B5EF4-FFF2-40B4-BE49-F238E27FC236}">
                  <a16:creationId xmlns:a16="http://schemas.microsoft.com/office/drawing/2014/main" id="{C6B78A3B-669B-7CAD-92B8-AC6AF6483F84}"/>
                </a:ext>
              </a:extLst>
            </p:cNvPr>
            <p:cNvSpPr>
              <a:spLocks noChangeArrowheads="1"/>
            </p:cNvSpPr>
            <p:nvPr userDrawn="1"/>
          </p:nvSpPr>
          <p:spPr bwMode="auto">
            <a:xfrm>
              <a:off x="4751173" y="206124"/>
              <a:ext cx="1065213"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eaLnBrk="0" hangingPunct="0"/>
              <a:r>
                <a:rPr lang="zh-CN" altLang="en-US" sz="1000" b="0" dirty="0">
                  <a:solidFill>
                    <a:srgbClr val="7F131F"/>
                  </a:solidFill>
                  <a:latin typeface="微软雅黑" pitchFamily="34" charset="-122"/>
                  <a:ea typeface="微软雅黑" pitchFamily="34" charset="-122"/>
                </a:rPr>
                <a:t>广州华立学院</a:t>
              </a:r>
              <a:endParaRPr lang="fr-FR" sz="1000" b="0" dirty="0">
                <a:solidFill>
                  <a:srgbClr val="7F131F"/>
                </a:solidFill>
                <a:latin typeface="微软雅黑" pitchFamily="34" charset="-122"/>
                <a:ea typeface="微软雅黑" pitchFamily="34" charset="-122"/>
              </a:endParaRPr>
            </a:p>
          </p:txBody>
        </p:sp>
        <p:sp>
          <p:nvSpPr>
            <p:cNvPr id="5" name="Rectangle 5">
              <a:extLst>
                <a:ext uri="{FF2B5EF4-FFF2-40B4-BE49-F238E27FC236}">
                  <a16:creationId xmlns:a16="http://schemas.microsoft.com/office/drawing/2014/main" id="{1C728228-F412-F2C4-A4C9-1E7B0BAAB0B5}"/>
                </a:ext>
              </a:extLst>
            </p:cNvPr>
            <p:cNvSpPr>
              <a:spLocks noChangeArrowheads="1"/>
            </p:cNvSpPr>
            <p:nvPr/>
          </p:nvSpPr>
          <p:spPr bwMode="auto">
            <a:xfrm>
              <a:off x="3566960" y="206124"/>
              <a:ext cx="825867"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eaLnBrk="0" hangingPunct="0"/>
              <a:r>
                <a:rPr lang="fr-FR" sz="1000" b="0" dirty="0">
                  <a:solidFill>
                    <a:srgbClr val="7F131F"/>
                  </a:solidFill>
                  <a:latin typeface="微软雅黑" pitchFamily="34" charset="-122"/>
                  <a:ea typeface="微软雅黑" pitchFamily="34" charset="-122"/>
                </a:rPr>
                <a:t>计算机网络</a:t>
              </a:r>
              <a:endParaRPr lang="fr-FR" altLang="zh-CN" sz="1000" b="0" dirty="0">
                <a:solidFill>
                  <a:srgbClr val="7F131F"/>
                </a:solidFill>
                <a:latin typeface="微软雅黑" pitchFamily="34" charset="-122"/>
                <a:ea typeface="微软雅黑" pitchFamily="34" charset="-122"/>
              </a:endParaRPr>
            </a:p>
          </p:txBody>
        </p:sp>
        <p:pic>
          <p:nvPicPr>
            <p:cNvPr id="14" name="图片 13">
              <a:extLst>
                <a:ext uri="{FF2B5EF4-FFF2-40B4-BE49-F238E27FC236}">
                  <a16:creationId xmlns:a16="http://schemas.microsoft.com/office/drawing/2014/main" id="{C9653E1B-9CC1-514F-4DB4-6B80766317D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392000" y="149234"/>
              <a:ext cx="360000" cy="360000"/>
            </a:xfrm>
            <a:prstGeom prst="rect">
              <a:avLst/>
            </a:prstGeom>
          </p:spPr>
        </p:pic>
      </p:grpSp>
    </p:spTree>
    <p:extLst>
      <p:ext uri="{BB962C8B-B14F-4D97-AF65-F5344CB8AC3E}">
        <p14:creationId xmlns:p14="http://schemas.microsoft.com/office/powerpoint/2010/main" val="1286466787"/>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9" r:id="rId5"/>
  </p:sldLayoutIdLst>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oleObject" Target="../embeddings/oleObject2.bin"/><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4.bin"/><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5.bin"/><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4.w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4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3.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9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13.svg"/><Relationship Id="rId4" Type="http://schemas.openxmlformats.org/officeDocument/2006/relationships/image" Target="../media/image12.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矩形 6"/>
          <p:cNvSpPr/>
          <p:nvPr/>
        </p:nvSpPr>
        <p:spPr>
          <a:xfrm>
            <a:off x="4992742" y="2219222"/>
            <a:ext cx="2483372" cy="938719"/>
          </a:xfrm>
          <a:prstGeom prst="rect">
            <a:avLst/>
          </a:prstGeom>
        </p:spPr>
        <p:txBody>
          <a:bodyPr wrap="none">
            <a:spAutoFit/>
          </a:bodyPr>
          <a:lstStyle/>
          <a:p>
            <a:pPr algn="ctr" eaLnBrk="0" hangingPunct="0"/>
            <a:r>
              <a:rPr lang="zh-CN" altLang="en-US" sz="5500" b="1" dirty="0">
                <a:solidFill>
                  <a:schemeClr val="bg1"/>
                </a:solidFill>
                <a:latin typeface="微软雅黑" pitchFamily="34" charset="-122"/>
                <a:ea typeface="微软雅黑" pitchFamily="34" charset="-122"/>
              </a:rPr>
              <a:t>运</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输</a:t>
            </a:r>
            <a:r>
              <a:rPr lang="zh-CN" altLang="en-US" sz="2400" b="1" dirty="0">
                <a:solidFill>
                  <a:schemeClr val="bg1"/>
                </a:solidFill>
                <a:latin typeface="微软雅黑" pitchFamily="34" charset="-122"/>
                <a:ea typeface="微软雅黑" pitchFamily="34" charset="-122"/>
              </a:rPr>
              <a:t> </a:t>
            </a:r>
            <a:r>
              <a:rPr lang="zh-CN" altLang="en-US" sz="5500" b="1" dirty="0">
                <a:solidFill>
                  <a:schemeClr val="bg1"/>
                </a:solidFill>
                <a:latin typeface="微软雅黑" pitchFamily="34" charset="-122"/>
                <a:ea typeface="微软雅黑" pitchFamily="34" charset="-122"/>
              </a:rPr>
              <a:t>层</a:t>
            </a:r>
            <a:endParaRPr lang="fr-FR" altLang="zh-CN" sz="5500" b="1" dirty="0">
              <a:solidFill>
                <a:schemeClr val="bg1"/>
              </a:solidFill>
              <a:latin typeface="微软雅黑" pitchFamily="34" charset="-122"/>
              <a:ea typeface="微软雅黑" pitchFamily="34" charset="-122"/>
            </a:endParaRPr>
          </a:p>
        </p:txBody>
      </p:sp>
      <p:sp>
        <p:nvSpPr>
          <p:cNvPr id="8" name="矩形 7"/>
          <p:cNvSpPr/>
          <p:nvPr/>
        </p:nvSpPr>
        <p:spPr>
          <a:xfrm>
            <a:off x="5565012" y="1736604"/>
            <a:ext cx="1338828" cy="523220"/>
          </a:xfrm>
          <a:prstGeom prst="rect">
            <a:avLst/>
          </a:prstGeom>
        </p:spPr>
        <p:txBody>
          <a:bodyPr wrap="none">
            <a:spAutoFit/>
          </a:bodyPr>
          <a:lstStyle/>
          <a:p>
            <a:pPr algn="ctr" eaLnBrk="0" hangingPunct="0"/>
            <a:r>
              <a:rPr lang="fr-FR" altLang="zh-CN" sz="2800" b="1" dirty="0">
                <a:solidFill>
                  <a:schemeClr val="bg1"/>
                </a:solidFill>
                <a:latin typeface="微软雅黑" pitchFamily="34" charset="-122"/>
                <a:ea typeface="微软雅黑" pitchFamily="34" charset="-122"/>
              </a:rPr>
              <a:t>第 5 章</a:t>
            </a:r>
          </a:p>
        </p:txBody>
      </p:sp>
      <p:sp>
        <p:nvSpPr>
          <p:cNvPr id="11" name="Rectangle 4"/>
          <p:cNvSpPr>
            <a:spLocks noChangeArrowheads="1"/>
          </p:cNvSpPr>
          <p:nvPr/>
        </p:nvSpPr>
        <p:spPr bwMode="auto">
          <a:xfrm>
            <a:off x="663253" y="2583673"/>
            <a:ext cx="1206500" cy="276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fr-FR" sz="1200" b="1" dirty="0">
                <a:solidFill>
                  <a:srgbClr val="00B0F0"/>
                </a:solidFill>
                <a:latin typeface="微软雅黑" pitchFamily="34" charset="-122"/>
                <a:ea typeface="微软雅黑" pitchFamily="34" charset="-122"/>
              </a:rPr>
              <a:t>谢希仁  编著</a:t>
            </a:r>
          </a:p>
        </p:txBody>
      </p:sp>
      <p:sp>
        <p:nvSpPr>
          <p:cNvPr id="12" name="Rectangle 6"/>
          <p:cNvSpPr>
            <a:spLocks noChangeArrowheads="1"/>
          </p:cNvSpPr>
          <p:nvPr/>
        </p:nvSpPr>
        <p:spPr bwMode="auto">
          <a:xfrm>
            <a:off x="10302" y="2239963"/>
            <a:ext cx="2512403" cy="338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r" eaLnBrk="0" hangingPunct="0">
              <a:spcBef>
                <a:spcPts val="1000"/>
              </a:spcBef>
            </a:pPr>
            <a:r>
              <a:rPr lang="fr-FR" sz="1600" b="1" dirty="0">
                <a:solidFill>
                  <a:srgbClr val="00B0F0"/>
                </a:solidFill>
                <a:latin typeface="微软雅黑" pitchFamily="34" charset="-122"/>
                <a:ea typeface="微软雅黑" pitchFamily="34" charset="-122"/>
              </a:rPr>
              <a:t>计算机网络（第 8 版）</a:t>
            </a:r>
          </a:p>
        </p:txBody>
      </p:sp>
      <p:cxnSp>
        <p:nvCxnSpPr>
          <p:cNvPr id="13" name="直接连接符 12"/>
          <p:cNvCxnSpPr/>
          <p:nvPr/>
        </p:nvCxnSpPr>
        <p:spPr>
          <a:xfrm>
            <a:off x="0" y="2236788"/>
            <a:ext cx="2749685" cy="3175"/>
          </a:xfrm>
          <a:prstGeom prst="line">
            <a:avLst/>
          </a:prstGeom>
          <a:ln w="19050">
            <a:solidFill>
              <a:srgbClr val="6DAAE1"/>
            </a:solidFill>
          </a:ln>
        </p:spPr>
        <p:style>
          <a:lnRef idx="1">
            <a:schemeClr val="accent1"/>
          </a:lnRef>
          <a:fillRef idx="0">
            <a:schemeClr val="accent1"/>
          </a:fillRef>
          <a:effectRef idx="0">
            <a:schemeClr val="accent1"/>
          </a:effectRef>
          <a:fontRef idx="minor">
            <a:schemeClr val="tx1"/>
          </a:fontRef>
        </p:style>
      </p:cxnSp>
      <p:pic>
        <p:nvPicPr>
          <p:cNvPr id="14" name="图片 9"/>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7222" y="2955148"/>
            <a:ext cx="1198563" cy="285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205601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C45B5D82-32C4-F71C-107F-D9D48AC6EAA3}"/>
              </a:ext>
            </a:extLst>
          </p:cNvPr>
          <p:cNvSpPr>
            <a:spLocks noGrp="1"/>
          </p:cNvSpPr>
          <p:nvPr>
            <p:ph type="title"/>
          </p:nvPr>
        </p:nvSpPr>
        <p:spPr>
          <a:xfrm>
            <a:off x="2808000" y="144000"/>
            <a:ext cx="3528000" cy="338554"/>
          </a:xfrm>
        </p:spPr>
        <p:txBody>
          <a:bodyPr/>
          <a:lstStyle/>
          <a:p>
            <a:r>
              <a:rPr lang="zh-CN" altLang="en-US" dirty="0"/>
              <a:t>计算机网络体系结构</a:t>
            </a:r>
          </a:p>
        </p:txBody>
      </p:sp>
      <p:sp>
        <p:nvSpPr>
          <p:cNvPr id="4" name="立方体 3">
            <a:extLst>
              <a:ext uri="{FF2B5EF4-FFF2-40B4-BE49-F238E27FC236}">
                <a16:creationId xmlns:a16="http://schemas.microsoft.com/office/drawing/2014/main" id="{D33CA743-054A-BE5D-BDE6-CFC7F93B8757}"/>
              </a:ext>
            </a:extLst>
          </p:cNvPr>
          <p:cNvSpPr/>
          <p:nvPr/>
        </p:nvSpPr>
        <p:spPr>
          <a:xfrm>
            <a:off x="5983013" y="3894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Physical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6" name="立方体 5">
            <a:extLst>
              <a:ext uri="{FF2B5EF4-FFF2-40B4-BE49-F238E27FC236}">
                <a16:creationId xmlns:a16="http://schemas.microsoft.com/office/drawing/2014/main" id="{2122B32A-D0EF-6AB3-9A57-600FD3C24511}"/>
              </a:ext>
            </a:extLst>
          </p:cNvPr>
          <p:cNvSpPr/>
          <p:nvPr/>
        </p:nvSpPr>
        <p:spPr>
          <a:xfrm>
            <a:off x="5983013" y="3462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Data-link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7" name="立方体 6">
            <a:extLst>
              <a:ext uri="{FF2B5EF4-FFF2-40B4-BE49-F238E27FC236}">
                <a16:creationId xmlns:a16="http://schemas.microsoft.com/office/drawing/2014/main" id="{AE7DD729-B989-53E1-3DAF-EE1B6E466102}"/>
              </a:ext>
            </a:extLst>
          </p:cNvPr>
          <p:cNvSpPr/>
          <p:nvPr/>
        </p:nvSpPr>
        <p:spPr>
          <a:xfrm>
            <a:off x="5983013" y="3030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Network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8" name="立方体 7">
            <a:extLst>
              <a:ext uri="{FF2B5EF4-FFF2-40B4-BE49-F238E27FC236}">
                <a16:creationId xmlns:a16="http://schemas.microsoft.com/office/drawing/2014/main" id="{70F1386D-C583-C301-A069-D436D5331999}"/>
              </a:ext>
            </a:extLst>
          </p:cNvPr>
          <p:cNvSpPr/>
          <p:nvPr/>
        </p:nvSpPr>
        <p:spPr>
          <a:xfrm>
            <a:off x="5983013" y="2598189"/>
            <a:ext cx="2160000" cy="576000"/>
          </a:xfrm>
          <a:prstGeom prst="cube">
            <a:avLst/>
          </a:prstGeom>
          <a:solidFill>
            <a:schemeClr val="accent6">
              <a:lumMod val="7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Montserrat" panose="00000500000000000000" pitchFamily="2" charset="0"/>
                <a:ea typeface="微软雅黑 Light" panose="020B0502040204020203" pitchFamily="34" charset="-122"/>
              </a:rPr>
              <a:t>Transport layer</a:t>
            </a:r>
            <a:endParaRPr lang="zh-CN" altLang="en-US" sz="1100" dirty="0">
              <a:solidFill>
                <a:schemeClr val="bg1"/>
              </a:solidFill>
              <a:latin typeface="Montserrat" panose="00000500000000000000" pitchFamily="2" charset="0"/>
              <a:ea typeface="微软雅黑 Light" panose="020B0502040204020203" pitchFamily="34" charset="-122"/>
            </a:endParaRPr>
          </a:p>
        </p:txBody>
      </p:sp>
      <p:sp>
        <p:nvSpPr>
          <p:cNvPr id="9" name="立方体 8">
            <a:extLst>
              <a:ext uri="{FF2B5EF4-FFF2-40B4-BE49-F238E27FC236}">
                <a16:creationId xmlns:a16="http://schemas.microsoft.com/office/drawing/2014/main" id="{8BB8BAB7-B7F0-4C81-03AA-FEAB21ABD62C}"/>
              </a:ext>
            </a:extLst>
          </p:cNvPr>
          <p:cNvSpPr/>
          <p:nvPr/>
        </p:nvSpPr>
        <p:spPr>
          <a:xfrm>
            <a:off x="5983013" y="2166189"/>
            <a:ext cx="2160000" cy="576000"/>
          </a:xfrm>
          <a:prstGeom prst="cube">
            <a:avLst/>
          </a:prstGeom>
          <a:solidFill>
            <a:schemeClr val="bg1"/>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Application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10" name="Text Box 13">
            <a:extLst>
              <a:ext uri="{FF2B5EF4-FFF2-40B4-BE49-F238E27FC236}">
                <a16:creationId xmlns:a16="http://schemas.microsoft.com/office/drawing/2014/main" id="{C2843937-7961-B922-1CB5-074F9BCDF605}"/>
              </a:ext>
            </a:extLst>
          </p:cNvPr>
          <p:cNvSpPr txBox="1">
            <a:spLocks noChangeArrowheads="1"/>
          </p:cNvSpPr>
          <p:nvPr/>
        </p:nvSpPr>
        <p:spPr bwMode="auto">
          <a:xfrm>
            <a:off x="1380424" y="4522466"/>
            <a:ext cx="186301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dirty="0">
                <a:solidFill>
                  <a:sysClr val="windowText" lastClr="000000"/>
                </a:solidFill>
                <a:latin typeface="Montserrat" panose="00000500000000000000" pitchFamily="2" charset="0"/>
                <a:ea typeface="微软雅黑 Light" panose="020B0502040204020203" pitchFamily="34" charset="-122"/>
              </a:rPr>
              <a:t>OSI </a:t>
            </a:r>
            <a:r>
              <a:rPr kumimoji="1" lang="zh-CN" altLang="en-US" sz="1200" dirty="0">
                <a:solidFill>
                  <a:sysClr val="windowText" lastClr="000000"/>
                </a:solidFill>
                <a:latin typeface="Montserrat" panose="00000500000000000000" pitchFamily="2" charset="0"/>
                <a:ea typeface="微软雅黑 Light" panose="020B0502040204020203" pitchFamily="34" charset="-122"/>
              </a:rPr>
              <a:t>的七层协议体系结构</a:t>
            </a:r>
          </a:p>
        </p:txBody>
      </p:sp>
      <p:sp>
        <p:nvSpPr>
          <p:cNvPr id="11" name="Text Box 12">
            <a:extLst>
              <a:ext uri="{FF2B5EF4-FFF2-40B4-BE49-F238E27FC236}">
                <a16:creationId xmlns:a16="http://schemas.microsoft.com/office/drawing/2014/main" id="{E16D3BF7-6063-B1A7-991D-60D892FD6962}"/>
              </a:ext>
            </a:extLst>
          </p:cNvPr>
          <p:cNvSpPr txBox="1">
            <a:spLocks noChangeArrowheads="1"/>
          </p:cNvSpPr>
          <p:nvPr/>
        </p:nvSpPr>
        <p:spPr bwMode="auto">
          <a:xfrm>
            <a:off x="3656394" y="4522466"/>
            <a:ext cx="21275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r>
              <a:rPr kumimoji="1" lang="en-US" altLang="zh-CN" sz="1200" dirty="0">
                <a:latin typeface="Montserrat" panose="00000500000000000000" pitchFamily="2" charset="0"/>
                <a:ea typeface="微软雅黑 Light" panose="020B0502040204020203" pitchFamily="34" charset="-122"/>
              </a:rPr>
              <a:t>TCP/IP </a:t>
            </a:r>
            <a:r>
              <a:rPr kumimoji="1" lang="zh-CN" altLang="en-US" sz="1200" dirty="0">
                <a:latin typeface="Montserrat" panose="00000500000000000000" pitchFamily="2" charset="0"/>
                <a:ea typeface="微软雅黑 Light" panose="020B0502040204020203" pitchFamily="34" charset="-122"/>
              </a:rPr>
              <a:t>的四层协议体系结构</a:t>
            </a:r>
          </a:p>
        </p:txBody>
      </p:sp>
      <p:sp>
        <p:nvSpPr>
          <p:cNvPr id="12" name="Text Box 113">
            <a:extLst>
              <a:ext uri="{FF2B5EF4-FFF2-40B4-BE49-F238E27FC236}">
                <a16:creationId xmlns:a16="http://schemas.microsoft.com/office/drawing/2014/main" id="{837308FE-E63D-4269-92B0-1B2B882AAF44}"/>
              </a:ext>
            </a:extLst>
          </p:cNvPr>
          <p:cNvSpPr txBox="1">
            <a:spLocks noChangeArrowheads="1"/>
          </p:cNvSpPr>
          <p:nvPr/>
        </p:nvSpPr>
        <p:spPr bwMode="auto">
          <a:xfrm>
            <a:off x="6170158" y="4522466"/>
            <a:ext cx="156966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200" dirty="0">
                <a:solidFill>
                  <a:srgbClr val="E46C0A"/>
                </a:solidFill>
                <a:latin typeface="Montserrat" panose="00000500000000000000" pitchFamily="2" charset="0"/>
                <a:ea typeface="微软雅黑 Light" panose="020B0502040204020203" pitchFamily="34" charset="-122"/>
              </a:rPr>
              <a:t>五层协议的体系结构</a:t>
            </a:r>
          </a:p>
        </p:txBody>
      </p:sp>
      <p:sp>
        <p:nvSpPr>
          <p:cNvPr id="14" name="立方体 13">
            <a:extLst>
              <a:ext uri="{FF2B5EF4-FFF2-40B4-BE49-F238E27FC236}">
                <a16:creationId xmlns:a16="http://schemas.microsoft.com/office/drawing/2014/main" id="{99B4904F-D501-0CC2-29E9-A9CB4C58ABA4}"/>
              </a:ext>
            </a:extLst>
          </p:cNvPr>
          <p:cNvSpPr/>
          <p:nvPr/>
        </p:nvSpPr>
        <p:spPr>
          <a:xfrm>
            <a:off x="1079467" y="3894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Physical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15" name="立方体 14">
            <a:extLst>
              <a:ext uri="{FF2B5EF4-FFF2-40B4-BE49-F238E27FC236}">
                <a16:creationId xmlns:a16="http://schemas.microsoft.com/office/drawing/2014/main" id="{1E0D48EC-AC35-E89F-F9BD-9F05F9FEBC54}"/>
              </a:ext>
            </a:extLst>
          </p:cNvPr>
          <p:cNvSpPr/>
          <p:nvPr/>
        </p:nvSpPr>
        <p:spPr>
          <a:xfrm>
            <a:off x="1079467" y="3462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Data-link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16" name="立方体 15">
            <a:extLst>
              <a:ext uri="{FF2B5EF4-FFF2-40B4-BE49-F238E27FC236}">
                <a16:creationId xmlns:a16="http://schemas.microsoft.com/office/drawing/2014/main" id="{61393E26-548A-5A52-C3BE-B1102CA9A552}"/>
              </a:ext>
            </a:extLst>
          </p:cNvPr>
          <p:cNvSpPr/>
          <p:nvPr/>
        </p:nvSpPr>
        <p:spPr>
          <a:xfrm>
            <a:off x="1079467" y="3030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Network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17" name="立方体 16">
            <a:extLst>
              <a:ext uri="{FF2B5EF4-FFF2-40B4-BE49-F238E27FC236}">
                <a16:creationId xmlns:a16="http://schemas.microsoft.com/office/drawing/2014/main" id="{A952F0B2-34BB-EA05-5E70-9E12A999BE41}"/>
              </a:ext>
            </a:extLst>
          </p:cNvPr>
          <p:cNvSpPr/>
          <p:nvPr/>
        </p:nvSpPr>
        <p:spPr>
          <a:xfrm>
            <a:off x="1079467" y="2598189"/>
            <a:ext cx="2160000" cy="576000"/>
          </a:xfrm>
          <a:prstGeom prst="cube">
            <a:avLst/>
          </a:prstGeom>
          <a:solidFill>
            <a:schemeClr val="accent6">
              <a:lumMod val="7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Montserrat" panose="00000500000000000000" pitchFamily="2" charset="0"/>
                <a:ea typeface="微软雅黑 Light" panose="020B0502040204020203" pitchFamily="34" charset="-122"/>
              </a:rPr>
              <a:t>Transport layer</a:t>
            </a:r>
            <a:endParaRPr lang="zh-CN" altLang="en-US" sz="1100" dirty="0">
              <a:solidFill>
                <a:schemeClr val="bg1"/>
              </a:solidFill>
              <a:latin typeface="Montserrat" panose="00000500000000000000" pitchFamily="2" charset="0"/>
              <a:ea typeface="微软雅黑 Light" panose="020B0502040204020203" pitchFamily="34" charset="-122"/>
            </a:endParaRPr>
          </a:p>
        </p:txBody>
      </p:sp>
      <p:sp>
        <p:nvSpPr>
          <p:cNvPr id="18" name="立方体 17">
            <a:extLst>
              <a:ext uri="{FF2B5EF4-FFF2-40B4-BE49-F238E27FC236}">
                <a16:creationId xmlns:a16="http://schemas.microsoft.com/office/drawing/2014/main" id="{B1ED0A4D-2001-0B4E-22E8-CB8C747EECF9}"/>
              </a:ext>
            </a:extLst>
          </p:cNvPr>
          <p:cNvSpPr/>
          <p:nvPr/>
        </p:nvSpPr>
        <p:spPr>
          <a:xfrm>
            <a:off x="1079467" y="2166189"/>
            <a:ext cx="2160000" cy="576000"/>
          </a:xfrm>
          <a:prstGeom prst="cube">
            <a:avLst/>
          </a:prstGeom>
          <a:solidFill>
            <a:schemeClr val="bg1"/>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Session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19" name="立方体 18">
            <a:extLst>
              <a:ext uri="{FF2B5EF4-FFF2-40B4-BE49-F238E27FC236}">
                <a16:creationId xmlns:a16="http://schemas.microsoft.com/office/drawing/2014/main" id="{5A581EAB-A311-FE5D-C43C-D28A3C956571}"/>
              </a:ext>
            </a:extLst>
          </p:cNvPr>
          <p:cNvSpPr/>
          <p:nvPr/>
        </p:nvSpPr>
        <p:spPr>
          <a:xfrm>
            <a:off x="1079467" y="1735200"/>
            <a:ext cx="2160000" cy="576000"/>
          </a:xfrm>
          <a:prstGeom prst="cube">
            <a:avLst/>
          </a:prstGeom>
          <a:solidFill>
            <a:schemeClr val="bg1"/>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Presentation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20" name="立方体 19">
            <a:extLst>
              <a:ext uri="{FF2B5EF4-FFF2-40B4-BE49-F238E27FC236}">
                <a16:creationId xmlns:a16="http://schemas.microsoft.com/office/drawing/2014/main" id="{DFC7F83B-4C87-7CC3-AF15-F2BE53F16E92}"/>
              </a:ext>
            </a:extLst>
          </p:cNvPr>
          <p:cNvSpPr/>
          <p:nvPr/>
        </p:nvSpPr>
        <p:spPr>
          <a:xfrm>
            <a:off x="1079467" y="1303200"/>
            <a:ext cx="2160000" cy="576000"/>
          </a:xfrm>
          <a:prstGeom prst="cube">
            <a:avLst/>
          </a:prstGeom>
          <a:solidFill>
            <a:schemeClr val="bg1"/>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Application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22" name="立方体 21">
            <a:extLst>
              <a:ext uri="{FF2B5EF4-FFF2-40B4-BE49-F238E27FC236}">
                <a16:creationId xmlns:a16="http://schemas.microsoft.com/office/drawing/2014/main" id="{88DB8F8C-1AEF-52E0-A864-6A2A96404695}"/>
              </a:ext>
            </a:extLst>
          </p:cNvPr>
          <p:cNvSpPr/>
          <p:nvPr/>
        </p:nvSpPr>
        <p:spPr>
          <a:xfrm>
            <a:off x="3531240" y="3894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Network Interface Layer</a:t>
            </a:r>
            <a:endParaRPr lang="zh-CN" altLang="en-US" sz="1100" dirty="0">
              <a:solidFill>
                <a:schemeClr val="tx1"/>
              </a:solidFill>
              <a:latin typeface="Montserrat" panose="00000500000000000000" pitchFamily="2" charset="0"/>
              <a:ea typeface="微软雅黑 Light" panose="020B0502040204020203" pitchFamily="34" charset="-122"/>
            </a:endParaRPr>
          </a:p>
        </p:txBody>
      </p:sp>
      <p:sp>
        <p:nvSpPr>
          <p:cNvPr id="23" name="立方体 22">
            <a:extLst>
              <a:ext uri="{FF2B5EF4-FFF2-40B4-BE49-F238E27FC236}">
                <a16:creationId xmlns:a16="http://schemas.microsoft.com/office/drawing/2014/main" id="{AAAD7765-521D-342F-0D1E-89576F612806}"/>
              </a:ext>
            </a:extLst>
          </p:cNvPr>
          <p:cNvSpPr/>
          <p:nvPr/>
        </p:nvSpPr>
        <p:spPr>
          <a:xfrm>
            <a:off x="3531240" y="3462189"/>
            <a:ext cx="2160000" cy="576000"/>
          </a:xfrm>
          <a:prstGeom prst="cube">
            <a:avLst/>
          </a:prstGeom>
          <a:solidFill>
            <a:schemeClr val="bg1">
              <a:lumMod val="9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Network layer</a:t>
            </a:r>
          </a:p>
        </p:txBody>
      </p:sp>
      <p:sp>
        <p:nvSpPr>
          <p:cNvPr id="24" name="立方体 23">
            <a:extLst>
              <a:ext uri="{FF2B5EF4-FFF2-40B4-BE49-F238E27FC236}">
                <a16:creationId xmlns:a16="http://schemas.microsoft.com/office/drawing/2014/main" id="{9D46417E-E369-91F5-47BA-BF180625BA60}"/>
              </a:ext>
            </a:extLst>
          </p:cNvPr>
          <p:cNvSpPr/>
          <p:nvPr/>
        </p:nvSpPr>
        <p:spPr>
          <a:xfrm>
            <a:off x="3531240" y="3030189"/>
            <a:ext cx="2160000" cy="576000"/>
          </a:xfrm>
          <a:prstGeom prst="cube">
            <a:avLst/>
          </a:prstGeom>
          <a:solidFill>
            <a:schemeClr val="accent6">
              <a:lumMod val="75000"/>
            </a:schemeClr>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bg1"/>
                </a:solidFill>
                <a:latin typeface="Montserrat" panose="00000500000000000000" pitchFamily="2" charset="0"/>
                <a:ea typeface="微软雅黑 Light" panose="020B0502040204020203" pitchFamily="34" charset="-122"/>
              </a:rPr>
              <a:t>Transport layer</a:t>
            </a:r>
          </a:p>
        </p:txBody>
      </p:sp>
      <p:sp>
        <p:nvSpPr>
          <p:cNvPr id="25" name="立方体 24">
            <a:extLst>
              <a:ext uri="{FF2B5EF4-FFF2-40B4-BE49-F238E27FC236}">
                <a16:creationId xmlns:a16="http://schemas.microsoft.com/office/drawing/2014/main" id="{67C18096-DE37-8429-A913-ECF73128F034}"/>
              </a:ext>
            </a:extLst>
          </p:cNvPr>
          <p:cNvSpPr/>
          <p:nvPr/>
        </p:nvSpPr>
        <p:spPr>
          <a:xfrm>
            <a:off x="3531240" y="2598189"/>
            <a:ext cx="2160000" cy="576000"/>
          </a:xfrm>
          <a:prstGeom prst="cube">
            <a:avLst/>
          </a:prstGeom>
          <a:solidFill>
            <a:schemeClr val="bg1"/>
          </a:solidFill>
          <a:ln w="6350">
            <a:solidFill>
              <a:srgbClr val="000000"/>
            </a:solidFill>
            <a:miter lim="800000"/>
            <a:headEnd/>
            <a:tailE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100" dirty="0">
                <a:solidFill>
                  <a:schemeClr val="tx1"/>
                </a:solidFill>
                <a:latin typeface="Montserrat" panose="00000500000000000000" pitchFamily="2" charset="0"/>
                <a:ea typeface="微软雅黑 Light" panose="020B0502040204020203" pitchFamily="34" charset="-122"/>
              </a:rPr>
              <a:t>Application layer</a:t>
            </a:r>
          </a:p>
        </p:txBody>
      </p:sp>
    </p:spTree>
    <p:extLst>
      <p:ext uri="{BB962C8B-B14F-4D97-AF65-F5344CB8AC3E}">
        <p14:creationId xmlns:p14="http://schemas.microsoft.com/office/powerpoint/2010/main" val="423673213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0"/>
          <p:cNvSpPr>
            <a:spLocks noChangeArrowheads="1"/>
          </p:cNvSpPr>
          <p:nvPr/>
        </p:nvSpPr>
        <p:spPr bwMode="auto">
          <a:xfrm>
            <a:off x="1673794" y="277634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0" name="Rectangle 11"/>
          <p:cNvSpPr>
            <a:spLocks noChangeArrowheads="1"/>
          </p:cNvSpPr>
          <p:nvPr/>
        </p:nvSpPr>
        <p:spPr bwMode="auto">
          <a:xfrm>
            <a:off x="1673794" y="318404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1" name="Rectangle 12"/>
          <p:cNvSpPr>
            <a:spLocks noChangeArrowheads="1"/>
          </p:cNvSpPr>
          <p:nvPr/>
        </p:nvSpPr>
        <p:spPr bwMode="auto">
          <a:xfrm>
            <a:off x="1673794" y="3581094"/>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2" name="Rectangle 13"/>
          <p:cNvSpPr>
            <a:spLocks noChangeArrowheads="1"/>
          </p:cNvSpPr>
          <p:nvPr/>
        </p:nvSpPr>
        <p:spPr bwMode="auto">
          <a:xfrm>
            <a:off x="1673794" y="399790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3" name="Rectangle 9"/>
          <p:cNvSpPr>
            <a:spLocks noChangeArrowheads="1"/>
          </p:cNvSpPr>
          <p:nvPr/>
        </p:nvSpPr>
        <p:spPr bwMode="auto">
          <a:xfrm>
            <a:off x="1673794" y="748013"/>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4" name="Rectangle 10"/>
          <p:cNvSpPr>
            <a:spLocks noChangeArrowheads="1"/>
          </p:cNvSpPr>
          <p:nvPr/>
        </p:nvSpPr>
        <p:spPr bwMode="auto">
          <a:xfrm>
            <a:off x="1673794" y="1164126"/>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5" name="Rectangle 11"/>
          <p:cNvSpPr>
            <a:spLocks noChangeArrowheads="1"/>
          </p:cNvSpPr>
          <p:nvPr/>
        </p:nvSpPr>
        <p:spPr bwMode="auto">
          <a:xfrm>
            <a:off x="1673794" y="1562680"/>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6" name="Rectangle 12"/>
          <p:cNvSpPr>
            <a:spLocks noChangeArrowheads="1"/>
          </p:cNvSpPr>
          <p:nvPr/>
        </p:nvSpPr>
        <p:spPr bwMode="auto">
          <a:xfrm>
            <a:off x="1673794" y="1978022"/>
            <a:ext cx="5775325" cy="330200"/>
          </a:xfrm>
          <a:prstGeom prst="rect">
            <a:avLst/>
          </a:prstGeom>
          <a:solidFill>
            <a:srgbClr val="1956B9"/>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7" name="Rectangle 13"/>
          <p:cNvSpPr>
            <a:spLocks noChangeArrowheads="1"/>
          </p:cNvSpPr>
          <p:nvPr/>
        </p:nvSpPr>
        <p:spPr bwMode="auto">
          <a:xfrm>
            <a:off x="1673794" y="2376542"/>
            <a:ext cx="5775325" cy="330200"/>
          </a:xfrm>
          <a:prstGeom prst="rect">
            <a:avLst/>
          </a:prstGeom>
          <a:solidFill>
            <a:srgbClr val="0098F6"/>
          </a:solidFill>
          <a:ln>
            <a:noFill/>
          </a:ln>
          <a:effectLst>
            <a:outerShdw blurRad="57785" dist="33020" dir="3180000" algn="ctr">
              <a:srgbClr val="000000">
                <a:alpha val="30000"/>
              </a:srgbClr>
            </a:outerShdw>
          </a:effectLst>
        </p:spPr>
        <p:txBody>
          <a:bodyPr anchor="ctr"/>
          <a:lstStyle/>
          <a:p>
            <a:pPr algn="ctr" eaLnBrk="0" hangingPunct="0">
              <a:lnSpc>
                <a:spcPts val="3800"/>
              </a:lnSpc>
            </a:pPr>
            <a:endParaRPr lang="fr-FR">
              <a:solidFill>
                <a:srgbClr val="FFFFFF"/>
              </a:solidFill>
              <a:latin typeface="宋体" charset="-122"/>
            </a:endParaRPr>
          </a:p>
        </p:txBody>
      </p:sp>
      <p:sp>
        <p:nvSpPr>
          <p:cNvPr id="28" name="Line 16"/>
          <p:cNvSpPr>
            <a:spLocks noChangeShapeType="1"/>
          </p:cNvSpPr>
          <p:nvPr/>
        </p:nvSpPr>
        <p:spPr bwMode="auto">
          <a:xfrm>
            <a:off x="2421504" y="621706"/>
            <a:ext cx="0" cy="3922862"/>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pPr>
              <a:lnSpc>
                <a:spcPts val="3800"/>
              </a:lnSpc>
            </a:pPr>
            <a:endParaRPr lang="zh-CN" altLang="en-US"/>
          </a:p>
        </p:txBody>
      </p:sp>
      <p:sp>
        <p:nvSpPr>
          <p:cNvPr id="29" name="Rectangle 17"/>
          <p:cNvSpPr>
            <a:spLocks noChangeArrowheads="1"/>
          </p:cNvSpPr>
          <p:nvPr/>
        </p:nvSpPr>
        <p:spPr bwMode="auto">
          <a:xfrm>
            <a:off x="1689668" y="651222"/>
            <a:ext cx="5743577" cy="37856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ts val="3200"/>
              </a:lnSpc>
            </a:pPr>
            <a:r>
              <a:rPr lang="en-US" altLang="zh-CN" sz="2000" dirty="0">
                <a:solidFill>
                  <a:schemeClr val="bg1"/>
                </a:solidFill>
                <a:latin typeface="微软雅黑" pitchFamily="34" charset="-122"/>
                <a:ea typeface="微软雅黑" pitchFamily="34" charset="-122"/>
              </a:rPr>
              <a:t>5.1                                            </a:t>
            </a:r>
            <a:r>
              <a:rPr lang="zh-CN" altLang="en-US" sz="2000" dirty="0">
                <a:solidFill>
                  <a:schemeClr val="bg1"/>
                </a:solidFill>
                <a:latin typeface="微软雅黑" pitchFamily="34" charset="-122"/>
                <a:ea typeface="微软雅黑" pitchFamily="34" charset="-122"/>
              </a:rPr>
              <a:t>运输层协议概述</a:t>
            </a:r>
          </a:p>
          <a:p>
            <a:pPr eaLnBrk="0" hangingPunct="0">
              <a:lnSpc>
                <a:spcPts val="3200"/>
              </a:lnSpc>
            </a:pPr>
            <a:r>
              <a:rPr lang="en-US" altLang="zh-CN" sz="2000" dirty="0">
                <a:solidFill>
                  <a:schemeClr val="bg1"/>
                </a:solidFill>
                <a:latin typeface="微软雅黑" pitchFamily="34" charset="-122"/>
                <a:ea typeface="微软雅黑" pitchFamily="34" charset="-122"/>
              </a:rPr>
              <a:t>5.2                                    </a:t>
            </a:r>
            <a:r>
              <a:rPr lang="zh-CN" altLang="en-US" sz="2000" dirty="0">
                <a:solidFill>
                  <a:schemeClr val="bg1"/>
                </a:solidFill>
                <a:latin typeface="微软雅黑" pitchFamily="34" charset="-122"/>
                <a:ea typeface="微软雅黑" pitchFamily="34" charset="-122"/>
              </a:rPr>
              <a:t>用户数据报协议 </a:t>
            </a:r>
            <a:r>
              <a:rPr lang="en-US" altLang="zh-CN" sz="2000" dirty="0">
                <a:solidFill>
                  <a:schemeClr val="bg1"/>
                </a:solidFill>
                <a:latin typeface="微软雅黑" pitchFamily="34" charset="-122"/>
                <a:ea typeface="微软雅黑" pitchFamily="34" charset="-122"/>
              </a:rPr>
              <a:t>UDP </a:t>
            </a:r>
          </a:p>
          <a:p>
            <a:pPr eaLnBrk="0" hangingPunct="0">
              <a:lnSpc>
                <a:spcPts val="3200"/>
              </a:lnSpc>
            </a:pPr>
            <a:r>
              <a:rPr lang="en-US" altLang="zh-CN" sz="2000" dirty="0">
                <a:solidFill>
                  <a:schemeClr val="bg1"/>
                </a:solidFill>
                <a:latin typeface="微软雅黑" pitchFamily="34" charset="-122"/>
                <a:ea typeface="微软雅黑" pitchFamily="34" charset="-122"/>
              </a:rPr>
              <a:t>5.3                                </a:t>
            </a:r>
            <a:r>
              <a:rPr lang="zh-CN" altLang="en-US" sz="2000" dirty="0">
                <a:solidFill>
                  <a:schemeClr val="bg1"/>
                </a:solidFill>
                <a:latin typeface="微软雅黑" pitchFamily="34" charset="-122"/>
                <a:ea typeface="微软雅黑" pitchFamily="34" charset="-122"/>
              </a:rPr>
              <a:t>传输控制协议 </a:t>
            </a:r>
            <a:r>
              <a:rPr lang="en-US" altLang="zh-CN" sz="2000" dirty="0">
                <a:solidFill>
                  <a:schemeClr val="bg1"/>
                </a:solidFill>
                <a:latin typeface="微软雅黑" pitchFamily="34" charset="-122"/>
                <a:ea typeface="微软雅黑" pitchFamily="34" charset="-122"/>
              </a:rPr>
              <a:t>TCP </a:t>
            </a:r>
            <a:r>
              <a:rPr lang="zh-CN" altLang="en-US" sz="2000" dirty="0">
                <a:solidFill>
                  <a:schemeClr val="bg1"/>
                </a:solidFill>
                <a:latin typeface="微软雅黑" pitchFamily="34" charset="-122"/>
                <a:ea typeface="微软雅黑" pitchFamily="34" charset="-122"/>
              </a:rPr>
              <a:t>概述</a:t>
            </a:r>
          </a:p>
          <a:p>
            <a:pPr eaLnBrk="0" hangingPunct="0">
              <a:lnSpc>
                <a:spcPts val="3200"/>
              </a:lnSpc>
            </a:pPr>
            <a:r>
              <a:rPr lang="en-US" altLang="zh-CN" sz="2000" dirty="0">
                <a:solidFill>
                  <a:schemeClr val="bg1"/>
                </a:solidFill>
                <a:latin typeface="微软雅黑" pitchFamily="34" charset="-122"/>
                <a:ea typeface="微软雅黑" pitchFamily="34" charset="-122"/>
              </a:rPr>
              <a:t>5.4                                     </a:t>
            </a:r>
            <a:r>
              <a:rPr lang="zh-CN" altLang="en-US" sz="2000" dirty="0">
                <a:solidFill>
                  <a:schemeClr val="bg1"/>
                </a:solidFill>
                <a:latin typeface="微软雅黑" pitchFamily="34" charset="-122"/>
                <a:ea typeface="微软雅黑" pitchFamily="34" charset="-122"/>
              </a:rPr>
              <a:t>可靠传输的工作原理</a:t>
            </a:r>
          </a:p>
          <a:p>
            <a:pPr eaLnBrk="0" hangingPunct="0">
              <a:lnSpc>
                <a:spcPts val="3200"/>
              </a:lnSpc>
            </a:pPr>
            <a:r>
              <a:rPr lang="en-US" altLang="zh-CN" sz="2000" dirty="0">
                <a:solidFill>
                  <a:schemeClr val="bg1"/>
                </a:solidFill>
                <a:latin typeface="微软雅黑" pitchFamily="34" charset="-122"/>
                <a:ea typeface="微软雅黑" pitchFamily="34" charset="-122"/>
              </a:rPr>
              <a:t>5.5                                 TCP </a:t>
            </a:r>
            <a:r>
              <a:rPr lang="zh-CN" altLang="en-US" sz="2000" dirty="0">
                <a:solidFill>
                  <a:schemeClr val="bg1"/>
                </a:solidFill>
                <a:latin typeface="微软雅黑" pitchFamily="34" charset="-122"/>
                <a:ea typeface="微软雅黑" pitchFamily="34" charset="-122"/>
              </a:rPr>
              <a:t>报文段的首部格式</a:t>
            </a:r>
          </a:p>
          <a:p>
            <a:pPr eaLnBrk="0" hangingPunct="0">
              <a:lnSpc>
                <a:spcPts val="3200"/>
              </a:lnSpc>
            </a:pPr>
            <a:r>
              <a:rPr lang="en-US" altLang="zh-CN" sz="2000" dirty="0">
                <a:solidFill>
                  <a:schemeClr val="bg1"/>
                </a:solidFill>
                <a:latin typeface="微软雅黑" pitchFamily="34" charset="-122"/>
                <a:ea typeface="微软雅黑" pitchFamily="34" charset="-122"/>
              </a:rPr>
              <a:t>5.6                                     TCP </a:t>
            </a:r>
            <a:r>
              <a:rPr lang="zh-CN" altLang="en-US" sz="2000" dirty="0">
                <a:solidFill>
                  <a:schemeClr val="bg1"/>
                </a:solidFill>
                <a:latin typeface="微软雅黑" pitchFamily="34" charset="-122"/>
                <a:ea typeface="微软雅黑" pitchFamily="34" charset="-122"/>
              </a:rPr>
              <a:t>可靠传输的实现</a:t>
            </a:r>
          </a:p>
          <a:p>
            <a:pPr eaLnBrk="0" hangingPunct="0">
              <a:lnSpc>
                <a:spcPts val="3200"/>
              </a:lnSpc>
            </a:pPr>
            <a:r>
              <a:rPr lang="en-US" altLang="zh-CN" sz="2000" dirty="0">
                <a:solidFill>
                  <a:schemeClr val="bg1"/>
                </a:solidFill>
                <a:latin typeface="微软雅黑" pitchFamily="34" charset="-122"/>
                <a:ea typeface="微软雅黑" pitchFamily="34" charset="-122"/>
              </a:rPr>
              <a:t>5.7                                           TCP </a:t>
            </a:r>
            <a:r>
              <a:rPr lang="zh-CN" altLang="en-US" sz="2000" dirty="0">
                <a:solidFill>
                  <a:schemeClr val="bg1"/>
                </a:solidFill>
                <a:latin typeface="微软雅黑" pitchFamily="34" charset="-122"/>
                <a:ea typeface="微软雅黑" pitchFamily="34" charset="-122"/>
              </a:rPr>
              <a:t>的流量控制</a:t>
            </a:r>
          </a:p>
          <a:p>
            <a:pPr eaLnBrk="0" hangingPunct="0">
              <a:lnSpc>
                <a:spcPts val="3200"/>
              </a:lnSpc>
            </a:pPr>
            <a:r>
              <a:rPr lang="en-US" altLang="zh-CN" sz="2000" dirty="0">
                <a:solidFill>
                  <a:schemeClr val="bg1"/>
                </a:solidFill>
                <a:latin typeface="微软雅黑" pitchFamily="34" charset="-122"/>
                <a:ea typeface="微软雅黑" pitchFamily="34" charset="-122"/>
              </a:rPr>
              <a:t>5.8                                           TCP </a:t>
            </a:r>
            <a:r>
              <a:rPr lang="zh-CN" altLang="en-US" sz="2000" dirty="0">
                <a:solidFill>
                  <a:schemeClr val="bg1"/>
                </a:solidFill>
                <a:latin typeface="微软雅黑" pitchFamily="34" charset="-122"/>
                <a:ea typeface="微软雅黑" pitchFamily="34" charset="-122"/>
              </a:rPr>
              <a:t>的拥塞控制</a:t>
            </a:r>
          </a:p>
          <a:p>
            <a:pPr eaLnBrk="0" hangingPunct="0">
              <a:lnSpc>
                <a:spcPts val="3200"/>
              </a:lnSpc>
            </a:pPr>
            <a:r>
              <a:rPr lang="en-US" altLang="zh-CN" sz="2000" dirty="0">
                <a:solidFill>
                  <a:schemeClr val="bg1"/>
                </a:solidFill>
                <a:latin typeface="微软雅黑" pitchFamily="34" charset="-122"/>
                <a:ea typeface="微软雅黑" pitchFamily="34" charset="-122"/>
              </a:rPr>
              <a:t>5.9                                    TCP </a:t>
            </a:r>
            <a:r>
              <a:rPr lang="zh-CN" altLang="en-US" sz="2000" dirty="0">
                <a:solidFill>
                  <a:schemeClr val="bg1"/>
                </a:solidFill>
                <a:latin typeface="微软雅黑" pitchFamily="34" charset="-122"/>
                <a:ea typeface="微软雅黑" pitchFamily="34" charset="-122"/>
              </a:rPr>
              <a:t>的运输连接管理</a:t>
            </a:r>
          </a:p>
        </p:txBody>
      </p:sp>
    </p:spTree>
    <p:extLst>
      <p:ext uri="{BB962C8B-B14F-4D97-AF65-F5344CB8AC3E}">
        <p14:creationId xmlns:p14="http://schemas.microsoft.com/office/powerpoint/2010/main" val="18712266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圆角 2">
            <a:extLst>
              <a:ext uri="{FF2B5EF4-FFF2-40B4-BE49-F238E27FC236}">
                <a16:creationId xmlns:a16="http://schemas.microsoft.com/office/drawing/2014/main" id="{9D801BA9-9C6A-24D0-E174-E3604316CB49}"/>
              </a:ext>
            </a:extLst>
          </p:cNvPr>
          <p:cNvSpPr/>
          <p:nvPr/>
        </p:nvSpPr>
        <p:spPr>
          <a:xfrm>
            <a:off x="5343480" y="3819032"/>
            <a:ext cx="1743455"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Congestion  Control</a:t>
            </a:r>
            <a:endParaRPr lang="zh-CN" altLang="en-US" sz="1200" dirty="0">
              <a:solidFill>
                <a:schemeClr val="tx1"/>
              </a:solidFill>
              <a:latin typeface="Montserrat" panose="00000500000000000000" pitchFamily="2" charset="0"/>
            </a:endParaRPr>
          </a:p>
        </p:txBody>
      </p:sp>
      <p:sp>
        <p:nvSpPr>
          <p:cNvPr id="4" name="矩形: 圆角 3">
            <a:extLst>
              <a:ext uri="{FF2B5EF4-FFF2-40B4-BE49-F238E27FC236}">
                <a16:creationId xmlns:a16="http://schemas.microsoft.com/office/drawing/2014/main" id="{B7D33566-285E-1CCB-5E98-A8DFB5DC5691}"/>
              </a:ext>
            </a:extLst>
          </p:cNvPr>
          <p:cNvSpPr/>
          <p:nvPr/>
        </p:nvSpPr>
        <p:spPr>
          <a:xfrm>
            <a:off x="5343480" y="4133081"/>
            <a:ext cx="1832473"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Transmission Control</a:t>
            </a:r>
            <a:endParaRPr lang="zh-CN" altLang="en-US" sz="1200" dirty="0">
              <a:solidFill>
                <a:schemeClr val="tx1"/>
              </a:solidFill>
              <a:latin typeface="Montserrat" panose="00000500000000000000" pitchFamily="2" charset="0"/>
            </a:endParaRPr>
          </a:p>
        </p:txBody>
      </p:sp>
      <p:cxnSp>
        <p:nvCxnSpPr>
          <p:cNvPr id="10" name="连接符: 曲线 9">
            <a:extLst>
              <a:ext uri="{FF2B5EF4-FFF2-40B4-BE49-F238E27FC236}">
                <a16:creationId xmlns:a16="http://schemas.microsoft.com/office/drawing/2014/main" id="{56D54B0A-0C00-1FA5-AA24-AB208E9F3E39}"/>
              </a:ext>
            </a:extLst>
          </p:cNvPr>
          <p:cNvCxnSpPr>
            <a:cxnSpLocks/>
            <a:stCxn id="16" idx="3"/>
            <a:endCxn id="4" idx="1"/>
          </p:cNvCxnSpPr>
          <p:nvPr/>
        </p:nvCxnSpPr>
        <p:spPr>
          <a:xfrm>
            <a:off x="5109304" y="3344167"/>
            <a:ext cx="234176" cy="942148"/>
          </a:xfrm>
          <a:prstGeom prst="curvedConnector3">
            <a:avLst>
              <a:gd name="adj1" fmla="val 50000"/>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AD181E9B-9708-8757-6641-0EC70B8857D3}"/>
              </a:ext>
            </a:extLst>
          </p:cNvPr>
          <p:cNvSpPr/>
          <p:nvPr/>
        </p:nvSpPr>
        <p:spPr>
          <a:xfrm>
            <a:off x="5343480" y="3504983"/>
            <a:ext cx="1230735"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Flow Control</a:t>
            </a:r>
            <a:endParaRPr lang="zh-CN" altLang="en-US" sz="1200" dirty="0">
              <a:solidFill>
                <a:schemeClr val="tx1"/>
              </a:solidFill>
              <a:latin typeface="Montserrat" panose="00000500000000000000" pitchFamily="2" charset="0"/>
            </a:endParaRPr>
          </a:p>
        </p:txBody>
      </p:sp>
      <p:cxnSp>
        <p:nvCxnSpPr>
          <p:cNvPr id="14" name="连接符: 曲线 13">
            <a:extLst>
              <a:ext uri="{FF2B5EF4-FFF2-40B4-BE49-F238E27FC236}">
                <a16:creationId xmlns:a16="http://schemas.microsoft.com/office/drawing/2014/main" id="{94161A20-9CEA-26C5-90F1-7284ECA5C704}"/>
              </a:ext>
            </a:extLst>
          </p:cNvPr>
          <p:cNvCxnSpPr>
            <a:cxnSpLocks/>
            <a:stCxn id="40" idx="1"/>
            <a:endCxn id="16" idx="3"/>
          </p:cNvCxnSpPr>
          <p:nvPr/>
        </p:nvCxnSpPr>
        <p:spPr>
          <a:xfrm rot="10800000" flipV="1">
            <a:off x="5109304" y="2402021"/>
            <a:ext cx="234176" cy="942146"/>
          </a:xfrm>
          <a:prstGeom prst="curvedConnector3">
            <a:avLst>
              <a:gd name="adj1" fmla="val 50000"/>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矩形: 圆角 15">
            <a:extLst>
              <a:ext uri="{FF2B5EF4-FFF2-40B4-BE49-F238E27FC236}">
                <a16:creationId xmlns:a16="http://schemas.microsoft.com/office/drawing/2014/main" id="{C4F8D70D-848F-8E10-57D5-0246D0F22858}"/>
              </a:ext>
            </a:extLst>
          </p:cNvPr>
          <p:cNvSpPr/>
          <p:nvPr/>
        </p:nvSpPr>
        <p:spPr>
          <a:xfrm>
            <a:off x="4209304" y="3200167"/>
            <a:ext cx="900000" cy="288000"/>
          </a:xfrm>
          <a:prstGeom prst="roundRect">
            <a:avLst/>
          </a:prstGeom>
          <a:solidFill>
            <a:schemeClr val="tx2">
              <a:lumMod val="60000"/>
              <a:lumOff val="40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ontserrat" panose="00000500000000000000" pitchFamily="2" charset="0"/>
              </a:rPr>
              <a:t>TCP</a:t>
            </a:r>
            <a:endParaRPr lang="zh-CN" altLang="en-US" sz="1200" dirty="0">
              <a:latin typeface="Montserrat" panose="00000500000000000000" pitchFamily="2" charset="0"/>
            </a:endParaRPr>
          </a:p>
        </p:txBody>
      </p:sp>
      <p:sp>
        <p:nvSpPr>
          <p:cNvPr id="19" name="矩形: 圆角 18">
            <a:extLst>
              <a:ext uri="{FF2B5EF4-FFF2-40B4-BE49-F238E27FC236}">
                <a16:creationId xmlns:a16="http://schemas.microsoft.com/office/drawing/2014/main" id="{81530229-6710-AE17-7125-34E7C102D265}"/>
              </a:ext>
            </a:extLst>
          </p:cNvPr>
          <p:cNvSpPr/>
          <p:nvPr/>
        </p:nvSpPr>
        <p:spPr>
          <a:xfrm>
            <a:off x="4209304" y="1629922"/>
            <a:ext cx="900000" cy="288000"/>
          </a:xfrm>
          <a:prstGeom prst="roundRect">
            <a:avLst/>
          </a:prstGeom>
          <a:solidFill>
            <a:srgbClr val="20BF6B"/>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ontserrat" panose="00000500000000000000" pitchFamily="2" charset="0"/>
              </a:rPr>
              <a:t>UDP</a:t>
            </a:r>
            <a:endParaRPr lang="zh-CN" altLang="en-US" sz="1200" dirty="0">
              <a:latin typeface="Montserrat" panose="00000500000000000000" pitchFamily="2" charset="0"/>
            </a:endParaRPr>
          </a:p>
        </p:txBody>
      </p:sp>
      <p:cxnSp>
        <p:nvCxnSpPr>
          <p:cNvPr id="22" name="连接符: 曲线 21">
            <a:extLst>
              <a:ext uri="{FF2B5EF4-FFF2-40B4-BE49-F238E27FC236}">
                <a16:creationId xmlns:a16="http://schemas.microsoft.com/office/drawing/2014/main" id="{983C1AC8-3735-FBF8-1D52-F46340D06312}"/>
              </a:ext>
            </a:extLst>
          </p:cNvPr>
          <p:cNvCxnSpPr>
            <a:cxnSpLocks/>
            <a:stCxn id="2" idx="3"/>
            <a:endCxn id="19" idx="1"/>
          </p:cNvCxnSpPr>
          <p:nvPr/>
        </p:nvCxnSpPr>
        <p:spPr>
          <a:xfrm flipV="1">
            <a:off x="3938177" y="1773922"/>
            <a:ext cx="271127" cy="771585"/>
          </a:xfrm>
          <a:prstGeom prst="curvedConnector3">
            <a:avLst>
              <a:gd name="adj1" fmla="val 50000"/>
            </a:avLst>
          </a:prstGeom>
          <a:ln>
            <a:solidFill>
              <a:srgbClr val="20BF6B"/>
            </a:solidFill>
          </a:ln>
        </p:spPr>
        <p:style>
          <a:lnRef idx="1">
            <a:schemeClr val="accent1"/>
          </a:lnRef>
          <a:fillRef idx="0">
            <a:schemeClr val="accent1"/>
          </a:fillRef>
          <a:effectRef idx="0">
            <a:schemeClr val="accent1"/>
          </a:effectRef>
          <a:fontRef idx="minor">
            <a:schemeClr val="tx1"/>
          </a:fontRef>
        </p:style>
      </p:cxnSp>
      <p:cxnSp>
        <p:nvCxnSpPr>
          <p:cNvPr id="24" name="连接符: 曲线 23">
            <a:extLst>
              <a:ext uri="{FF2B5EF4-FFF2-40B4-BE49-F238E27FC236}">
                <a16:creationId xmlns:a16="http://schemas.microsoft.com/office/drawing/2014/main" id="{3DA28828-58BF-9B1A-291D-0957A943AB17}"/>
              </a:ext>
            </a:extLst>
          </p:cNvPr>
          <p:cNvCxnSpPr>
            <a:cxnSpLocks/>
            <a:stCxn id="2" idx="3"/>
            <a:endCxn id="16" idx="1"/>
          </p:cNvCxnSpPr>
          <p:nvPr/>
        </p:nvCxnSpPr>
        <p:spPr>
          <a:xfrm>
            <a:off x="3938177" y="2545507"/>
            <a:ext cx="271127" cy="798660"/>
          </a:xfrm>
          <a:prstGeom prst="curvedConnector3">
            <a:avLst>
              <a:gd name="adj1" fmla="val 50000"/>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矩形: 圆角 4">
            <a:extLst>
              <a:ext uri="{FF2B5EF4-FFF2-40B4-BE49-F238E27FC236}">
                <a16:creationId xmlns:a16="http://schemas.microsoft.com/office/drawing/2014/main" id="{905996E1-56AA-82E7-6CF1-E2487C38B700}"/>
              </a:ext>
            </a:extLst>
          </p:cNvPr>
          <p:cNvSpPr/>
          <p:nvPr/>
        </p:nvSpPr>
        <p:spPr>
          <a:xfrm>
            <a:off x="5343480" y="1306640"/>
            <a:ext cx="810240"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Feature</a:t>
            </a:r>
            <a:endParaRPr lang="zh-CN" altLang="en-US" sz="1200" dirty="0">
              <a:solidFill>
                <a:schemeClr val="tx1"/>
              </a:solidFill>
              <a:latin typeface="Montserrat" panose="00000500000000000000" pitchFamily="2" charset="0"/>
            </a:endParaRPr>
          </a:p>
        </p:txBody>
      </p:sp>
      <p:sp>
        <p:nvSpPr>
          <p:cNvPr id="27" name="矩形: 圆角 26">
            <a:extLst>
              <a:ext uri="{FF2B5EF4-FFF2-40B4-BE49-F238E27FC236}">
                <a16:creationId xmlns:a16="http://schemas.microsoft.com/office/drawing/2014/main" id="{898AEF52-F490-0F36-A470-B464CBBB3A09}"/>
              </a:ext>
            </a:extLst>
          </p:cNvPr>
          <p:cNvSpPr/>
          <p:nvPr/>
        </p:nvSpPr>
        <p:spPr>
          <a:xfrm>
            <a:off x="5343480" y="1934738"/>
            <a:ext cx="749590"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Packet</a:t>
            </a:r>
            <a:endParaRPr lang="zh-CN" altLang="en-US" sz="1200" dirty="0">
              <a:solidFill>
                <a:schemeClr val="tx1"/>
              </a:solidFill>
              <a:latin typeface="Montserrat" panose="00000500000000000000" pitchFamily="2" charset="0"/>
            </a:endParaRPr>
          </a:p>
        </p:txBody>
      </p:sp>
      <p:sp>
        <p:nvSpPr>
          <p:cNvPr id="30" name="矩形: 圆角 29">
            <a:extLst>
              <a:ext uri="{FF2B5EF4-FFF2-40B4-BE49-F238E27FC236}">
                <a16:creationId xmlns:a16="http://schemas.microsoft.com/office/drawing/2014/main" id="{ED9F41D9-8A87-74D1-8F6F-37331E80A992}"/>
              </a:ext>
            </a:extLst>
          </p:cNvPr>
          <p:cNvSpPr/>
          <p:nvPr/>
        </p:nvSpPr>
        <p:spPr>
          <a:xfrm>
            <a:off x="5343480" y="1620689"/>
            <a:ext cx="1090211"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Application</a:t>
            </a:r>
            <a:endParaRPr lang="zh-CN" altLang="en-US" sz="1200" dirty="0">
              <a:solidFill>
                <a:schemeClr val="tx1"/>
              </a:solidFill>
              <a:latin typeface="Montserrat" panose="00000500000000000000" pitchFamily="2" charset="0"/>
            </a:endParaRPr>
          </a:p>
        </p:txBody>
      </p:sp>
      <p:cxnSp>
        <p:nvCxnSpPr>
          <p:cNvPr id="32" name="连接符: 曲线 31">
            <a:extLst>
              <a:ext uri="{FF2B5EF4-FFF2-40B4-BE49-F238E27FC236}">
                <a16:creationId xmlns:a16="http://schemas.microsoft.com/office/drawing/2014/main" id="{D08E4A9E-E361-3112-58CA-69602652C745}"/>
              </a:ext>
            </a:extLst>
          </p:cNvPr>
          <p:cNvCxnSpPr>
            <a:cxnSpLocks/>
            <a:stCxn id="19" idx="3"/>
            <a:endCxn id="5" idx="1"/>
          </p:cNvCxnSpPr>
          <p:nvPr/>
        </p:nvCxnSpPr>
        <p:spPr>
          <a:xfrm flipV="1">
            <a:off x="5109304" y="1459874"/>
            <a:ext cx="234176" cy="314048"/>
          </a:xfrm>
          <a:prstGeom prst="curvedConnector3">
            <a:avLst>
              <a:gd name="adj1" fmla="val 50000"/>
            </a:avLst>
          </a:prstGeom>
          <a:ln>
            <a:solidFill>
              <a:srgbClr val="20BF6B"/>
            </a:solidFill>
          </a:ln>
        </p:spPr>
        <p:style>
          <a:lnRef idx="1">
            <a:schemeClr val="accent1"/>
          </a:lnRef>
          <a:fillRef idx="0">
            <a:schemeClr val="accent1"/>
          </a:fillRef>
          <a:effectRef idx="0">
            <a:schemeClr val="accent1"/>
          </a:effectRef>
          <a:fontRef idx="minor">
            <a:schemeClr val="tx1"/>
          </a:fontRef>
        </p:style>
      </p:cxnSp>
      <p:cxnSp>
        <p:nvCxnSpPr>
          <p:cNvPr id="37" name="连接符: 曲线 36">
            <a:extLst>
              <a:ext uri="{FF2B5EF4-FFF2-40B4-BE49-F238E27FC236}">
                <a16:creationId xmlns:a16="http://schemas.microsoft.com/office/drawing/2014/main" id="{AF9E3494-5E84-62F5-D89D-02754C7A641C}"/>
              </a:ext>
            </a:extLst>
          </p:cNvPr>
          <p:cNvCxnSpPr>
            <a:cxnSpLocks/>
            <a:stCxn id="19" idx="3"/>
            <a:endCxn id="27" idx="1"/>
          </p:cNvCxnSpPr>
          <p:nvPr/>
        </p:nvCxnSpPr>
        <p:spPr>
          <a:xfrm>
            <a:off x="5109304" y="1773922"/>
            <a:ext cx="234176" cy="314050"/>
          </a:xfrm>
          <a:prstGeom prst="curvedConnector3">
            <a:avLst>
              <a:gd name="adj1" fmla="val 50000"/>
            </a:avLst>
          </a:prstGeom>
          <a:ln>
            <a:solidFill>
              <a:srgbClr val="20BF6B"/>
            </a:solidFill>
          </a:ln>
        </p:spPr>
        <p:style>
          <a:lnRef idx="1">
            <a:schemeClr val="accent1"/>
          </a:lnRef>
          <a:fillRef idx="0">
            <a:schemeClr val="accent1"/>
          </a:fillRef>
          <a:effectRef idx="0">
            <a:schemeClr val="accent1"/>
          </a:effectRef>
          <a:fontRef idx="minor">
            <a:schemeClr val="tx1"/>
          </a:fontRef>
        </p:style>
      </p:cxnSp>
      <p:sp>
        <p:nvSpPr>
          <p:cNvPr id="40" name="矩形: 圆角 39">
            <a:extLst>
              <a:ext uri="{FF2B5EF4-FFF2-40B4-BE49-F238E27FC236}">
                <a16:creationId xmlns:a16="http://schemas.microsoft.com/office/drawing/2014/main" id="{08774DFB-316F-2054-8747-D046465FF42D}"/>
              </a:ext>
            </a:extLst>
          </p:cNvPr>
          <p:cNvSpPr/>
          <p:nvPr/>
        </p:nvSpPr>
        <p:spPr>
          <a:xfrm>
            <a:off x="5343480" y="2248787"/>
            <a:ext cx="810240"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Feature</a:t>
            </a:r>
            <a:endParaRPr lang="zh-CN" altLang="en-US" sz="1200" dirty="0">
              <a:solidFill>
                <a:schemeClr val="tx1"/>
              </a:solidFill>
              <a:latin typeface="Montserrat" panose="00000500000000000000" pitchFamily="2" charset="0"/>
            </a:endParaRPr>
          </a:p>
        </p:txBody>
      </p:sp>
      <p:sp>
        <p:nvSpPr>
          <p:cNvPr id="41" name="矩形: 圆角 40">
            <a:extLst>
              <a:ext uri="{FF2B5EF4-FFF2-40B4-BE49-F238E27FC236}">
                <a16:creationId xmlns:a16="http://schemas.microsoft.com/office/drawing/2014/main" id="{651E765E-43FC-7A97-9E05-4DD50A8CE83F}"/>
              </a:ext>
            </a:extLst>
          </p:cNvPr>
          <p:cNvSpPr/>
          <p:nvPr/>
        </p:nvSpPr>
        <p:spPr>
          <a:xfrm>
            <a:off x="5343480" y="2876885"/>
            <a:ext cx="749590"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Packet</a:t>
            </a:r>
            <a:endParaRPr lang="zh-CN" altLang="en-US" sz="1200" dirty="0">
              <a:solidFill>
                <a:schemeClr val="tx1"/>
              </a:solidFill>
              <a:latin typeface="Montserrat" panose="00000500000000000000" pitchFamily="2" charset="0"/>
            </a:endParaRPr>
          </a:p>
        </p:txBody>
      </p:sp>
      <p:sp>
        <p:nvSpPr>
          <p:cNvPr id="43" name="矩形: 圆角 42">
            <a:extLst>
              <a:ext uri="{FF2B5EF4-FFF2-40B4-BE49-F238E27FC236}">
                <a16:creationId xmlns:a16="http://schemas.microsoft.com/office/drawing/2014/main" id="{ED1C1ABE-74E2-F973-EF21-B1BAEAC354A8}"/>
              </a:ext>
            </a:extLst>
          </p:cNvPr>
          <p:cNvSpPr/>
          <p:nvPr/>
        </p:nvSpPr>
        <p:spPr>
          <a:xfrm>
            <a:off x="5343480" y="2562836"/>
            <a:ext cx="1090211"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Application</a:t>
            </a:r>
            <a:endParaRPr lang="zh-CN" altLang="en-US" sz="1200" dirty="0">
              <a:solidFill>
                <a:schemeClr val="tx1"/>
              </a:solidFill>
              <a:latin typeface="Montserrat" panose="00000500000000000000" pitchFamily="2" charset="0"/>
            </a:endParaRPr>
          </a:p>
        </p:txBody>
      </p:sp>
      <p:sp>
        <p:nvSpPr>
          <p:cNvPr id="55" name="矩形: 圆角 54">
            <a:extLst>
              <a:ext uri="{FF2B5EF4-FFF2-40B4-BE49-F238E27FC236}">
                <a16:creationId xmlns:a16="http://schemas.microsoft.com/office/drawing/2014/main" id="{E8714F0E-B58F-F69E-78D3-8DE639F4A248}"/>
              </a:ext>
            </a:extLst>
          </p:cNvPr>
          <p:cNvSpPr/>
          <p:nvPr/>
        </p:nvSpPr>
        <p:spPr>
          <a:xfrm>
            <a:off x="5343480" y="3190934"/>
            <a:ext cx="561630" cy="306467"/>
          </a:xfrm>
          <a:prstGeom prst="roundRect">
            <a:avLst/>
          </a:prstGeom>
          <a:noFill/>
        </p:spPr>
        <p:txBody>
          <a:bodyPr wrap="none" rtlCol="0">
            <a:spAutoFit/>
          </a:bodyPr>
          <a:lstStyle/>
          <a:p>
            <a:r>
              <a:rPr lang="en-US" altLang="zh-CN" sz="1200" dirty="0">
                <a:solidFill>
                  <a:schemeClr val="tx1"/>
                </a:solidFill>
                <a:latin typeface="Montserrat" panose="00000500000000000000" pitchFamily="2" charset="0"/>
              </a:rPr>
              <a:t>ARQ</a:t>
            </a:r>
            <a:endParaRPr lang="zh-CN" altLang="en-US" sz="1200" dirty="0">
              <a:solidFill>
                <a:schemeClr val="tx1"/>
              </a:solidFill>
              <a:latin typeface="Montserrat" panose="00000500000000000000" pitchFamily="2" charset="0"/>
            </a:endParaRPr>
          </a:p>
        </p:txBody>
      </p:sp>
      <p:sp>
        <p:nvSpPr>
          <p:cNvPr id="2" name="矩形: 圆角 1">
            <a:extLst>
              <a:ext uri="{FF2B5EF4-FFF2-40B4-BE49-F238E27FC236}">
                <a16:creationId xmlns:a16="http://schemas.microsoft.com/office/drawing/2014/main" id="{EA1617AA-3BC5-A6C2-7966-463E2BC3AC46}"/>
              </a:ext>
            </a:extLst>
          </p:cNvPr>
          <p:cNvSpPr/>
          <p:nvPr/>
        </p:nvSpPr>
        <p:spPr>
          <a:xfrm>
            <a:off x="3218177" y="2401507"/>
            <a:ext cx="720000" cy="288000"/>
          </a:xfrm>
          <a:prstGeom prst="roundRect">
            <a:avLst/>
          </a:prstGeom>
          <a:solidFill>
            <a:schemeClr val="accent6">
              <a:lumMod val="7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ontserrat" panose="00000500000000000000" pitchFamily="2" charset="0"/>
              </a:rPr>
              <a:t>Port</a:t>
            </a:r>
            <a:endParaRPr lang="zh-CN" altLang="en-US" sz="1200" dirty="0">
              <a:latin typeface="Montserrat" panose="00000500000000000000" pitchFamily="2" charset="0"/>
            </a:endParaRPr>
          </a:p>
        </p:txBody>
      </p:sp>
      <p:sp>
        <p:nvSpPr>
          <p:cNvPr id="36" name="矩形: 圆角 35">
            <a:extLst>
              <a:ext uri="{FF2B5EF4-FFF2-40B4-BE49-F238E27FC236}">
                <a16:creationId xmlns:a16="http://schemas.microsoft.com/office/drawing/2014/main" id="{C6587821-DD92-9679-7756-3E8C2C8D118E}"/>
              </a:ext>
            </a:extLst>
          </p:cNvPr>
          <p:cNvSpPr/>
          <p:nvPr/>
        </p:nvSpPr>
        <p:spPr>
          <a:xfrm>
            <a:off x="1641687" y="2365507"/>
            <a:ext cx="1440000" cy="360000"/>
          </a:xfrm>
          <a:prstGeom prst="roundRect">
            <a:avLst/>
          </a:prstGeom>
          <a:solidFill>
            <a:schemeClr val="tx1"/>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latin typeface="Montserrat" panose="00000500000000000000" pitchFamily="2" charset="0"/>
                <a:ea typeface="微软雅黑" panose="020B0503020204020204" pitchFamily="34" charset="-122"/>
              </a:rPr>
              <a:t>Transport Layer</a:t>
            </a:r>
            <a:endParaRPr lang="zh-CN" altLang="en-US" sz="1200" dirty="0">
              <a:latin typeface="Montserrat" panose="00000500000000000000" pitchFamily="2" charset="0"/>
              <a:ea typeface="微软雅黑" panose="020B0503020204020204" pitchFamily="34" charset="-122"/>
            </a:endParaRPr>
          </a:p>
        </p:txBody>
      </p:sp>
      <p:sp>
        <p:nvSpPr>
          <p:cNvPr id="45" name="文本框 44">
            <a:extLst>
              <a:ext uri="{FF2B5EF4-FFF2-40B4-BE49-F238E27FC236}">
                <a16:creationId xmlns:a16="http://schemas.microsoft.com/office/drawing/2014/main" id="{B63C1D9F-248B-6391-9C9F-C11D00357A79}"/>
              </a:ext>
            </a:extLst>
          </p:cNvPr>
          <p:cNvSpPr txBox="1"/>
          <p:nvPr/>
        </p:nvSpPr>
        <p:spPr>
          <a:xfrm>
            <a:off x="715546" y="2562836"/>
            <a:ext cx="737702" cy="276999"/>
          </a:xfrm>
          <a:prstGeom prst="rect">
            <a:avLst/>
          </a:prstGeom>
          <a:noFill/>
        </p:spPr>
        <p:txBody>
          <a:bodyPr wrap="none" rtlCol="0">
            <a:spAutoFit/>
          </a:bodyPr>
          <a:lstStyle/>
          <a:p>
            <a:pPr algn="r"/>
            <a:r>
              <a:rPr lang="en-US" altLang="zh-CN" sz="1200" dirty="0">
                <a:latin typeface="Montserrat" panose="00000500000000000000" pitchFamily="2" charset="0"/>
              </a:rPr>
              <a:t>Service</a:t>
            </a:r>
            <a:endParaRPr lang="zh-CN" altLang="en-US" sz="1200" dirty="0">
              <a:latin typeface="Montserrat" panose="00000500000000000000" pitchFamily="2" charset="0"/>
            </a:endParaRPr>
          </a:p>
        </p:txBody>
      </p:sp>
      <p:sp>
        <p:nvSpPr>
          <p:cNvPr id="47" name="文本框 46">
            <a:extLst>
              <a:ext uri="{FF2B5EF4-FFF2-40B4-BE49-F238E27FC236}">
                <a16:creationId xmlns:a16="http://schemas.microsoft.com/office/drawing/2014/main" id="{C46D948E-2C8E-46A3-325D-C75748993BB3}"/>
              </a:ext>
            </a:extLst>
          </p:cNvPr>
          <p:cNvSpPr txBox="1"/>
          <p:nvPr/>
        </p:nvSpPr>
        <p:spPr>
          <a:xfrm>
            <a:off x="686691" y="2278255"/>
            <a:ext cx="766557" cy="276999"/>
          </a:xfrm>
          <a:prstGeom prst="rect">
            <a:avLst/>
          </a:prstGeom>
          <a:noFill/>
        </p:spPr>
        <p:txBody>
          <a:bodyPr wrap="none" rtlCol="0">
            <a:spAutoFit/>
          </a:bodyPr>
          <a:lstStyle/>
          <a:p>
            <a:pPr algn="r"/>
            <a:r>
              <a:rPr lang="en-US" altLang="zh-CN" sz="1200" dirty="0">
                <a:latin typeface="Montserrat" panose="00000500000000000000" pitchFamily="2" charset="0"/>
              </a:rPr>
              <a:t>Mission</a:t>
            </a:r>
            <a:endParaRPr lang="zh-CN" altLang="en-US" sz="1200" dirty="0">
              <a:latin typeface="Montserrat" panose="00000500000000000000" pitchFamily="2" charset="0"/>
            </a:endParaRPr>
          </a:p>
        </p:txBody>
      </p:sp>
      <p:cxnSp>
        <p:nvCxnSpPr>
          <p:cNvPr id="48" name="连接符: 曲线 47">
            <a:extLst>
              <a:ext uri="{FF2B5EF4-FFF2-40B4-BE49-F238E27FC236}">
                <a16:creationId xmlns:a16="http://schemas.microsoft.com/office/drawing/2014/main" id="{0BD5F33A-F972-4E85-59BF-B38A559A84E5}"/>
              </a:ext>
            </a:extLst>
          </p:cNvPr>
          <p:cNvCxnSpPr>
            <a:cxnSpLocks/>
            <a:stCxn id="36" idx="1"/>
            <a:endCxn id="47" idx="3"/>
          </p:cNvCxnSpPr>
          <p:nvPr/>
        </p:nvCxnSpPr>
        <p:spPr>
          <a:xfrm rot="10800000">
            <a:off x="1453249" y="2416755"/>
            <a:ext cx="188439" cy="128752"/>
          </a:xfrm>
          <a:prstGeom prst="curved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连接符: 曲线 50">
            <a:extLst>
              <a:ext uri="{FF2B5EF4-FFF2-40B4-BE49-F238E27FC236}">
                <a16:creationId xmlns:a16="http://schemas.microsoft.com/office/drawing/2014/main" id="{52985972-F2EC-AC88-56CA-9B9D5CF1048C}"/>
              </a:ext>
            </a:extLst>
          </p:cNvPr>
          <p:cNvCxnSpPr>
            <a:cxnSpLocks/>
            <a:stCxn id="36" idx="1"/>
            <a:endCxn id="45" idx="3"/>
          </p:cNvCxnSpPr>
          <p:nvPr/>
        </p:nvCxnSpPr>
        <p:spPr>
          <a:xfrm rot="10800000" flipV="1">
            <a:off x="1453249" y="2545506"/>
            <a:ext cx="188439" cy="155829"/>
          </a:xfrm>
          <a:prstGeom prst="curved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ABCEF811-7F64-BD01-2CB9-E070B7A67A30}"/>
              </a:ext>
            </a:extLst>
          </p:cNvPr>
          <p:cNvCxnSpPr>
            <a:stCxn id="36" idx="3"/>
            <a:endCxn id="2" idx="1"/>
          </p:cNvCxnSpPr>
          <p:nvPr/>
        </p:nvCxnSpPr>
        <p:spPr>
          <a:xfrm>
            <a:off x="3081687" y="2545507"/>
            <a:ext cx="136490" cy="0"/>
          </a:xfrm>
          <a:prstGeom prst="line">
            <a:avLst/>
          </a:prstGeom>
          <a:ln>
            <a:solidFill>
              <a:srgbClr val="E9542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196621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2"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13" name="Rectangle 11"/>
          <p:cNvSpPr>
            <a:spLocks noChangeArrowheads="1"/>
          </p:cNvSpPr>
          <p:nvPr/>
        </p:nvSpPr>
        <p:spPr bwMode="auto">
          <a:xfrm>
            <a:off x="2629135" y="2550884"/>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dirty="0">
              <a:solidFill>
                <a:srgbClr val="FFFFFF"/>
              </a:solidFill>
              <a:latin typeface="宋体" charset="-122"/>
            </a:endParaRPr>
          </a:p>
        </p:txBody>
      </p:sp>
      <p:sp>
        <p:nvSpPr>
          <p:cNvPr id="14"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8"/>
          <p:cNvSpPr>
            <a:spLocks noChangeArrowheads="1"/>
          </p:cNvSpPr>
          <p:nvPr/>
        </p:nvSpPr>
        <p:spPr bwMode="auto">
          <a:xfrm>
            <a:off x="2780742" y="1072922"/>
            <a:ext cx="5472113"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dirty="0">
                <a:solidFill>
                  <a:schemeClr val="bg1"/>
                </a:solidFill>
                <a:latin typeface="微软雅黑" pitchFamily="34" charset="-122"/>
                <a:ea typeface="微软雅黑" pitchFamily="34" charset="-122"/>
              </a:rPr>
              <a:t>5.1.1                                     </a:t>
            </a:r>
            <a:r>
              <a:rPr lang="zh-CN" altLang="en-US" sz="2000" dirty="0">
                <a:solidFill>
                  <a:schemeClr val="bg1"/>
                </a:solidFill>
                <a:latin typeface="微软雅黑" pitchFamily="34" charset="-122"/>
                <a:ea typeface="微软雅黑" pitchFamily="34" charset="-122"/>
              </a:rPr>
              <a:t>进程之间的通信</a:t>
            </a:r>
          </a:p>
          <a:p>
            <a:pPr eaLnBrk="0" hangingPunct="0">
              <a:lnSpc>
                <a:spcPct val="200000"/>
              </a:lnSpc>
            </a:pPr>
            <a:r>
              <a:rPr lang="en-US" altLang="zh-CN" sz="2000" dirty="0">
                <a:solidFill>
                  <a:schemeClr val="bg1"/>
                </a:solidFill>
                <a:latin typeface="微软雅黑" pitchFamily="34" charset="-122"/>
                <a:ea typeface="微软雅黑" pitchFamily="34" charset="-122"/>
              </a:rPr>
              <a:t>5.1.2                           </a:t>
            </a:r>
            <a:r>
              <a:rPr lang="zh-CN" altLang="en-US" sz="2000" dirty="0">
                <a:solidFill>
                  <a:schemeClr val="bg1"/>
                </a:solidFill>
                <a:latin typeface="微软雅黑" pitchFamily="34" charset="-122"/>
                <a:ea typeface="微软雅黑" pitchFamily="34" charset="-122"/>
              </a:rPr>
              <a:t>运输层的两个主要协议</a:t>
            </a:r>
          </a:p>
          <a:p>
            <a:pPr eaLnBrk="0" hangingPunct="0">
              <a:lnSpc>
                <a:spcPct val="200000"/>
              </a:lnSpc>
            </a:pPr>
            <a:r>
              <a:rPr lang="en-US" altLang="zh-CN" sz="2000" dirty="0">
                <a:solidFill>
                  <a:schemeClr val="bg1"/>
                </a:solidFill>
                <a:latin typeface="微软雅黑" pitchFamily="34" charset="-122"/>
                <a:ea typeface="微软雅黑" pitchFamily="34" charset="-122"/>
              </a:rPr>
              <a:t>5.1.3                                         </a:t>
            </a:r>
            <a:r>
              <a:rPr lang="zh-CN" altLang="en-US" sz="2000" dirty="0">
                <a:solidFill>
                  <a:schemeClr val="bg1"/>
                </a:solidFill>
                <a:latin typeface="微软雅黑" pitchFamily="34" charset="-122"/>
                <a:ea typeface="微软雅黑" pitchFamily="34" charset="-122"/>
              </a:rPr>
              <a:t>运输层的端口</a:t>
            </a:r>
          </a:p>
        </p:txBody>
      </p:sp>
      <p:sp>
        <p:nvSpPr>
          <p:cNvPr id="16"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7"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dirty="0">
                <a:solidFill>
                  <a:srgbClr val="FFFF00"/>
                </a:solidFill>
                <a:latin typeface="微软雅黑" pitchFamily="34" charset="-122"/>
                <a:ea typeface="微软雅黑" pitchFamily="34" charset="-122"/>
              </a:rPr>
              <a:t>5.1</a:t>
            </a:r>
          </a:p>
          <a:p>
            <a:pPr eaLnBrk="0" hangingPunct="0"/>
            <a:r>
              <a:rPr lang="zh-CN" altLang="en-US" sz="2000" dirty="0">
                <a:solidFill>
                  <a:schemeClr val="bg1"/>
                </a:solidFill>
                <a:latin typeface="微软雅黑" pitchFamily="34" charset="-122"/>
                <a:ea typeface="微软雅黑" pitchFamily="34" charset="-122"/>
              </a:rPr>
              <a:t>运输层协议</a:t>
            </a:r>
            <a:r>
              <a:rPr lang="zh-CN" altLang="fr-FR" sz="2000" dirty="0">
                <a:solidFill>
                  <a:schemeClr val="bg1"/>
                </a:solidFill>
                <a:latin typeface="微软雅黑" pitchFamily="34" charset="-122"/>
                <a:ea typeface="微软雅黑" pitchFamily="34" charset="-122"/>
              </a:rPr>
              <a:t>概述</a:t>
            </a:r>
          </a:p>
        </p:txBody>
      </p:sp>
    </p:spTree>
    <p:extLst>
      <p:ext uri="{BB962C8B-B14F-4D97-AF65-F5344CB8AC3E}">
        <p14:creationId xmlns:p14="http://schemas.microsoft.com/office/powerpoint/2010/main" val="5121935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755595" y="3281081"/>
            <a:ext cx="1759189" cy="38852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物理层</a:t>
            </a:r>
          </a:p>
        </p:txBody>
      </p:sp>
      <p:sp>
        <p:nvSpPr>
          <p:cNvPr id="51" name="矩形 50"/>
          <p:cNvSpPr/>
          <p:nvPr/>
        </p:nvSpPr>
        <p:spPr>
          <a:xfrm>
            <a:off x="2755595" y="2895599"/>
            <a:ext cx="1759189" cy="38852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数据链路层</a:t>
            </a:r>
          </a:p>
        </p:txBody>
      </p:sp>
      <p:sp>
        <p:nvSpPr>
          <p:cNvPr id="52" name="矩形 51"/>
          <p:cNvSpPr/>
          <p:nvPr/>
        </p:nvSpPr>
        <p:spPr>
          <a:xfrm>
            <a:off x="2755595" y="2510117"/>
            <a:ext cx="1759189" cy="38852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网络层</a:t>
            </a:r>
          </a:p>
        </p:txBody>
      </p:sp>
      <p:sp>
        <p:nvSpPr>
          <p:cNvPr id="53" name="矩形 52"/>
          <p:cNvSpPr/>
          <p:nvPr/>
        </p:nvSpPr>
        <p:spPr>
          <a:xfrm>
            <a:off x="2755595" y="2124631"/>
            <a:ext cx="1759189" cy="388520"/>
          </a:xfrm>
          <a:prstGeom prst="rect">
            <a:avLst/>
          </a:prstGeom>
          <a:solidFill>
            <a:srgbClr val="7F131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rPr>
              <a:t>运输层</a:t>
            </a:r>
          </a:p>
        </p:txBody>
      </p:sp>
      <p:sp>
        <p:nvSpPr>
          <p:cNvPr id="54" name="矩形 53"/>
          <p:cNvSpPr/>
          <p:nvPr/>
        </p:nvSpPr>
        <p:spPr>
          <a:xfrm>
            <a:off x="2755595" y="1435936"/>
            <a:ext cx="1759189" cy="69297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应用层</a:t>
            </a:r>
          </a:p>
        </p:txBody>
      </p:sp>
      <p:grpSp>
        <p:nvGrpSpPr>
          <p:cNvPr id="66" name="组合 65"/>
          <p:cNvGrpSpPr/>
          <p:nvPr/>
        </p:nvGrpSpPr>
        <p:grpSpPr>
          <a:xfrm>
            <a:off x="4620254" y="1435936"/>
            <a:ext cx="1585428" cy="1074181"/>
            <a:chOff x="4620254" y="1435936"/>
            <a:chExt cx="1585428" cy="1074181"/>
          </a:xfrm>
        </p:grpSpPr>
        <p:sp>
          <p:nvSpPr>
            <p:cNvPr id="3" name="右大括号 2"/>
            <p:cNvSpPr/>
            <p:nvPr/>
          </p:nvSpPr>
          <p:spPr>
            <a:xfrm>
              <a:off x="4620254" y="1435936"/>
              <a:ext cx="224118" cy="1074181"/>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 name="矩形 3"/>
            <p:cNvSpPr/>
            <p:nvPr/>
          </p:nvSpPr>
          <p:spPr>
            <a:xfrm>
              <a:off x="4831976" y="1619083"/>
              <a:ext cx="1373706" cy="707886"/>
            </a:xfrm>
            <a:prstGeom prst="rect">
              <a:avLst/>
            </a:prstGeom>
          </p:spPr>
          <p:txBody>
            <a:bodyPr wrap="square">
              <a:spAutoFit/>
            </a:bodyPr>
            <a:lstStyle/>
            <a:p>
              <a:pPr>
                <a:lnSpc>
                  <a:spcPts val="2400"/>
                </a:lnSpc>
              </a:pPr>
              <a:r>
                <a:rPr lang="zh-CN" altLang="en-US" sz="1600" b="1" dirty="0">
                  <a:latin typeface="微软雅黑" panose="020B0503020204020204" pitchFamily="34" charset="-122"/>
                  <a:ea typeface="微软雅黑" panose="020B0503020204020204" pitchFamily="34" charset="-122"/>
                </a:rPr>
                <a:t>用户功能中的最低层</a:t>
              </a:r>
            </a:p>
          </p:txBody>
        </p:sp>
      </p:grpSp>
      <p:grpSp>
        <p:nvGrpSpPr>
          <p:cNvPr id="67" name="组合 66"/>
          <p:cNvGrpSpPr/>
          <p:nvPr/>
        </p:nvGrpSpPr>
        <p:grpSpPr>
          <a:xfrm>
            <a:off x="1028175" y="2124631"/>
            <a:ext cx="1650166" cy="1459667"/>
            <a:chOff x="1028175" y="2124631"/>
            <a:chExt cx="1650166" cy="1459667"/>
          </a:xfrm>
        </p:grpSpPr>
        <p:sp>
          <p:nvSpPr>
            <p:cNvPr id="55" name="右大括号 54"/>
            <p:cNvSpPr/>
            <p:nvPr/>
          </p:nvSpPr>
          <p:spPr>
            <a:xfrm flipH="1">
              <a:off x="2454223" y="2124631"/>
              <a:ext cx="224118" cy="1459667"/>
            </a:xfrm>
            <a:prstGeom prst="rightBrace">
              <a:avLst>
                <a:gd name="adj1" fmla="val 20333"/>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6" name="矩形 55"/>
            <p:cNvSpPr/>
            <p:nvPr/>
          </p:nvSpPr>
          <p:spPr>
            <a:xfrm>
              <a:off x="1028175" y="2510117"/>
              <a:ext cx="1426048" cy="707886"/>
            </a:xfrm>
            <a:prstGeom prst="rect">
              <a:avLst/>
            </a:prstGeom>
          </p:spPr>
          <p:txBody>
            <a:bodyPr wrap="square">
              <a:spAutoFit/>
            </a:bodyPr>
            <a:lstStyle/>
            <a:p>
              <a:pPr algn="r">
                <a:lnSpc>
                  <a:spcPts val="2400"/>
                </a:lnSpc>
              </a:pPr>
              <a:r>
                <a:rPr lang="zh-CN" altLang="en-US" sz="1600" b="1" dirty="0">
                  <a:latin typeface="微软雅黑" panose="020B0503020204020204" pitchFamily="34" charset="-122"/>
                  <a:ea typeface="微软雅黑" panose="020B0503020204020204" pitchFamily="34" charset="-122"/>
                </a:rPr>
                <a:t>面向通信部分的最高层</a:t>
              </a:r>
            </a:p>
          </p:txBody>
        </p:sp>
      </p:grpSp>
      <p:grpSp>
        <p:nvGrpSpPr>
          <p:cNvPr id="68" name="组合 67"/>
          <p:cNvGrpSpPr/>
          <p:nvPr/>
        </p:nvGrpSpPr>
        <p:grpSpPr>
          <a:xfrm>
            <a:off x="6201470" y="2505002"/>
            <a:ext cx="1068912" cy="1220847"/>
            <a:chOff x="4620254" y="1421856"/>
            <a:chExt cx="1068912" cy="1220847"/>
          </a:xfrm>
        </p:grpSpPr>
        <p:sp>
          <p:nvSpPr>
            <p:cNvPr id="69" name="右大括号 68"/>
            <p:cNvSpPr/>
            <p:nvPr/>
          </p:nvSpPr>
          <p:spPr>
            <a:xfrm>
              <a:off x="4620254" y="1435936"/>
              <a:ext cx="224118" cy="1150519"/>
            </a:xfrm>
            <a:prstGeom prst="rightBrace">
              <a:avLst>
                <a:gd name="adj1" fmla="val 20333"/>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0" name="矩形 69"/>
            <p:cNvSpPr/>
            <p:nvPr/>
          </p:nvSpPr>
          <p:spPr>
            <a:xfrm>
              <a:off x="4742326" y="1421856"/>
              <a:ext cx="946840" cy="1220847"/>
            </a:xfrm>
            <a:prstGeom prst="rect">
              <a:avLst/>
            </a:prstGeom>
          </p:spPr>
          <p:txBody>
            <a:bodyPr wrap="square">
              <a:spAutoFit/>
            </a:bodyPr>
            <a:lstStyle/>
            <a:p>
              <a:pPr algn="ctr">
                <a:lnSpc>
                  <a:spcPts val="2200"/>
                </a:lnSpc>
              </a:pPr>
              <a:r>
                <a:rPr lang="zh-CN" altLang="en-US" sz="1400" b="1" dirty="0">
                  <a:solidFill>
                    <a:srgbClr val="000099"/>
                  </a:solidFill>
                  <a:latin typeface="微软雅黑" panose="020B0503020204020204" pitchFamily="34" charset="-122"/>
                  <a:ea typeface="微软雅黑" panose="020B0503020204020204" pitchFamily="34" charset="-122"/>
                </a:rPr>
                <a:t>网络核心中的路由器实现和使用</a:t>
              </a:r>
            </a:p>
          </p:txBody>
        </p:sp>
      </p:grpSp>
      <p:grpSp>
        <p:nvGrpSpPr>
          <p:cNvPr id="71" name="组合 70"/>
          <p:cNvGrpSpPr/>
          <p:nvPr/>
        </p:nvGrpSpPr>
        <p:grpSpPr>
          <a:xfrm>
            <a:off x="7214473" y="1435936"/>
            <a:ext cx="1085794" cy="2294177"/>
            <a:chOff x="4620254" y="292278"/>
            <a:chExt cx="1085794" cy="2294177"/>
          </a:xfrm>
        </p:grpSpPr>
        <p:sp>
          <p:nvSpPr>
            <p:cNvPr id="72" name="右大括号 71"/>
            <p:cNvSpPr/>
            <p:nvPr/>
          </p:nvSpPr>
          <p:spPr>
            <a:xfrm>
              <a:off x="4620254" y="292278"/>
              <a:ext cx="224118" cy="2294177"/>
            </a:xfrm>
            <a:prstGeom prst="rightBrace">
              <a:avLst>
                <a:gd name="adj1" fmla="val 20333"/>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矩形 72"/>
            <p:cNvSpPr/>
            <p:nvPr/>
          </p:nvSpPr>
          <p:spPr>
            <a:xfrm>
              <a:off x="4759208" y="851770"/>
              <a:ext cx="946840" cy="1220847"/>
            </a:xfrm>
            <a:prstGeom prst="rect">
              <a:avLst/>
            </a:prstGeom>
            <a:ln>
              <a:noFill/>
            </a:ln>
          </p:spPr>
          <p:txBody>
            <a:bodyPr wrap="square">
              <a:spAutoFit/>
            </a:bodyPr>
            <a:lstStyle/>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边缘部分中的主机</a:t>
              </a:r>
              <a:endParaRPr lang="en-US" altLang="zh-CN" sz="1400" b="1" dirty="0">
                <a:solidFill>
                  <a:srgbClr val="C00000"/>
                </a:solidFill>
                <a:latin typeface="微软雅黑" panose="020B0503020204020204" pitchFamily="34" charset="-122"/>
                <a:ea typeface="微软雅黑" panose="020B0503020204020204" pitchFamily="34" charset="-122"/>
              </a:endParaRPr>
            </a:p>
            <a:p>
              <a:pPr algn="ctr">
                <a:lnSpc>
                  <a:spcPts val="2200"/>
                </a:lnSpc>
              </a:pPr>
              <a:r>
                <a:rPr lang="zh-CN" altLang="en-US" sz="1400" b="1" dirty="0">
                  <a:solidFill>
                    <a:srgbClr val="C00000"/>
                  </a:solidFill>
                  <a:latin typeface="微软雅黑" panose="020B0503020204020204" pitchFamily="34" charset="-122"/>
                  <a:ea typeface="微软雅黑" panose="020B0503020204020204" pitchFamily="34" charset="-122"/>
                </a:rPr>
                <a:t>实现和使用</a:t>
              </a:r>
            </a:p>
          </p:txBody>
        </p:sp>
      </p:grpSp>
      <p:sp>
        <p:nvSpPr>
          <p:cNvPr id="7" name="内容占位符 6">
            <a:extLst>
              <a:ext uri="{FF2B5EF4-FFF2-40B4-BE49-F238E27FC236}">
                <a16:creationId xmlns:a16="http://schemas.microsoft.com/office/drawing/2014/main" id="{A92B271E-D453-AD5E-A786-A43C09C6AB22}"/>
              </a:ext>
            </a:extLst>
          </p:cNvPr>
          <p:cNvSpPr>
            <a:spLocks noGrp="1"/>
          </p:cNvSpPr>
          <p:nvPr>
            <p:ph sz="quarter" idx="11"/>
          </p:nvPr>
        </p:nvSpPr>
        <p:spPr/>
        <p:txBody>
          <a:bodyPr/>
          <a:lstStyle/>
          <a:p>
            <a:endParaRPr lang="zh-CN" altLang="en-US"/>
          </a:p>
        </p:txBody>
      </p:sp>
      <p:sp>
        <p:nvSpPr>
          <p:cNvPr id="6" name="标题 5">
            <a:extLst>
              <a:ext uri="{FF2B5EF4-FFF2-40B4-BE49-F238E27FC236}">
                <a16:creationId xmlns:a16="http://schemas.microsoft.com/office/drawing/2014/main" id="{117C5D52-E985-78C9-69F1-8966004ECCEC}"/>
              </a:ext>
            </a:extLst>
          </p:cNvPr>
          <p:cNvSpPr>
            <a:spLocks noGrp="1"/>
          </p:cNvSpPr>
          <p:nvPr>
            <p:ph type="title"/>
          </p:nvPr>
        </p:nvSpPr>
        <p:spPr>
          <a:xfrm>
            <a:off x="2808000" y="144000"/>
            <a:ext cx="3528000" cy="338554"/>
          </a:xfrm>
        </p:spPr>
        <p:txBody>
          <a:bodyPr/>
          <a:lstStyle/>
          <a:p>
            <a:r>
              <a:rPr lang="en-US" altLang="zh-CN" dirty="0"/>
              <a:t>5.1.1   </a:t>
            </a:r>
            <a:r>
              <a:rPr lang="zh-CN" altLang="en-US" dirty="0"/>
              <a:t>进程之间的通信</a:t>
            </a:r>
          </a:p>
        </p:txBody>
      </p:sp>
    </p:spTree>
    <p:extLst>
      <p:ext uri="{BB962C8B-B14F-4D97-AF65-F5344CB8AC3E}">
        <p14:creationId xmlns:p14="http://schemas.microsoft.com/office/powerpoint/2010/main" val="26169022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6"/>
                                        </p:tgtEl>
                                        <p:attrNameLst>
                                          <p:attrName>style.visibility</p:attrName>
                                        </p:attrNameLst>
                                      </p:cBhvr>
                                      <p:to>
                                        <p:strVal val="visible"/>
                                      </p:to>
                                    </p:set>
                                    <p:animEffect transition="in" filter="wipe(up)">
                                      <p:cBhvr>
                                        <p:cTn id="7" dur="1000"/>
                                        <p:tgtEl>
                                          <p:spTgt spid="6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7"/>
                                        </p:tgtEl>
                                        <p:attrNameLst>
                                          <p:attrName>style.visibility</p:attrName>
                                        </p:attrNameLst>
                                      </p:cBhvr>
                                      <p:to>
                                        <p:strVal val="visible"/>
                                      </p:to>
                                    </p:set>
                                    <p:animEffect transition="in" filter="wipe(down)">
                                      <p:cBhvr>
                                        <p:cTn id="12" dur="1000"/>
                                        <p:tgtEl>
                                          <p:spTgt spid="6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68"/>
                                        </p:tgtEl>
                                        <p:attrNameLst>
                                          <p:attrName>style.visibility</p:attrName>
                                        </p:attrNameLst>
                                      </p:cBhvr>
                                      <p:to>
                                        <p:strVal val="visible"/>
                                      </p:to>
                                    </p:set>
                                    <p:animEffect transition="in" filter="wipe(up)">
                                      <p:cBhvr>
                                        <p:cTn id="17" dur="1000"/>
                                        <p:tgtEl>
                                          <p:spTgt spid="6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up)">
                                      <p:cBhvr>
                                        <p:cTn id="22"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Rectangle 174"/>
          <p:cNvSpPr>
            <a:spLocks noChangeArrowheads="1"/>
          </p:cNvSpPr>
          <p:nvPr/>
        </p:nvSpPr>
        <p:spPr bwMode="auto">
          <a:xfrm>
            <a:off x="1518204" y="189785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1" name="Rectangle 2"/>
          <p:cNvSpPr>
            <a:spLocks noChangeArrowheads="1"/>
          </p:cNvSpPr>
          <p:nvPr/>
        </p:nvSpPr>
        <p:spPr bwMode="auto">
          <a:xfrm>
            <a:off x="1523156" y="132403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2" name="Line 53"/>
          <p:cNvSpPr>
            <a:spLocks noChangeShapeType="1"/>
          </p:cNvSpPr>
          <p:nvPr/>
        </p:nvSpPr>
        <p:spPr bwMode="auto">
          <a:xfrm>
            <a:off x="2513514" y="3347967"/>
            <a:ext cx="3978765"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3" name="Line 7"/>
          <p:cNvSpPr>
            <a:spLocks noChangeShapeType="1"/>
          </p:cNvSpPr>
          <p:nvPr/>
        </p:nvSpPr>
        <p:spPr bwMode="auto">
          <a:xfrm>
            <a:off x="1523156" y="214498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4" name="Line 8"/>
          <p:cNvSpPr>
            <a:spLocks noChangeShapeType="1"/>
          </p:cNvSpPr>
          <p:nvPr/>
        </p:nvSpPr>
        <p:spPr bwMode="auto">
          <a:xfrm>
            <a:off x="1523156" y="239304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05" name="Rectangle 9"/>
          <p:cNvSpPr>
            <a:spLocks noChangeArrowheads="1"/>
          </p:cNvSpPr>
          <p:nvPr/>
        </p:nvSpPr>
        <p:spPr bwMode="auto">
          <a:xfrm>
            <a:off x="1528108" y="166664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6" name="Rectangle 10"/>
          <p:cNvSpPr>
            <a:spLocks noChangeArrowheads="1"/>
          </p:cNvSpPr>
          <p:nvPr/>
        </p:nvSpPr>
        <p:spPr bwMode="auto">
          <a:xfrm>
            <a:off x="1490519"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10" name="Group 15"/>
          <p:cNvGrpSpPr>
            <a:grpSpLocks/>
          </p:cNvGrpSpPr>
          <p:nvPr/>
        </p:nvGrpSpPr>
        <p:grpSpPr bwMode="auto">
          <a:xfrm>
            <a:off x="3388744" y="1903472"/>
            <a:ext cx="729151" cy="734827"/>
            <a:chOff x="2017" y="1543"/>
            <a:chExt cx="619" cy="922"/>
          </a:xfrm>
        </p:grpSpPr>
        <p:sp>
          <p:nvSpPr>
            <p:cNvPr id="11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14" name="Rectangle 16"/>
          <p:cNvSpPr>
            <a:spLocks noChangeArrowheads="1"/>
          </p:cNvSpPr>
          <p:nvPr/>
        </p:nvSpPr>
        <p:spPr bwMode="auto">
          <a:xfrm>
            <a:off x="6505897" y="132403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15" name="Line 21"/>
          <p:cNvSpPr>
            <a:spLocks noChangeShapeType="1"/>
          </p:cNvSpPr>
          <p:nvPr/>
        </p:nvSpPr>
        <p:spPr bwMode="auto">
          <a:xfrm>
            <a:off x="6505897" y="214498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6" name="Line 22"/>
          <p:cNvSpPr>
            <a:spLocks noChangeShapeType="1"/>
          </p:cNvSpPr>
          <p:nvPr/>
        </p:nvSpPr>
        <p:spPr bwMode="auto">
          <a:xfrm>
            <a:off x="6505897" y="239304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7" name="Rectangle 23"/>
          <p:cNvSpPr>
            <a:spLocks noChangeArrowheads="1"/>
          </p:cNvSpPr>
          <p:nvPr/>
        </p:nvSpPr>
        <p:spPr bwMode="auto">
          <a:xfrm>
            <a:off x="6508373" y="166664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18" name="Group 29"/>
          <p:cNvGrpSpPr>
            <a:grpSpLocks/>
          </p:cNvGrpSpPr>
          <p:nvPr/>
        </p:nvGrpSpPr>
        <p:grpSpPr bwMode="auto">
          <a:xfrm>
            <a:off x="4896565" y="1903472"/>
            <a:ext cx="729151" cy="734827"/>
            <a:chOff x="3295" y="1543"/>
            <a:chExt cx="619" cy="922"/>
          </a:xfrm>
        </p:grpSpPr>
        <p:sp>
          <p:nvSpPr>
            <p:cNvPr id="119"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0"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1"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22" name="Rectangle 31"/>
          <p:cNvSpPr>
            <a:spLocks noChangeArrowheads="1"/>
          </p:cNvSpPr>
          <p:nvPr/>
        </p:nvSpPr>
        <p:spPr bwMode="auto">
          <a:xfrm>
            <a:off x="3242326" y="149919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123" name="Rectangle 33"/>
          <p:cNvSpPr>
            <a:spLocks noChangeArrowheads="1"/>
          </p:cNvSpPr>
          <p:nvPr/>
        </p:nvSpPr>
        <p:spPr bwMode="auto">
          <a:xfrm>
            <a:off x="1523156"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24" name="Freeform 54"/>
          <p:cNvSpPr>
            <a:spLocks/>
          </p:cNvSpPr>
          <p:nvPr/>
        </p:nvSpPr>
        <p:spPr bwMode="auto">
          <a:xfrm>
            <a:off x="2070329"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5" name="Freeform 55"/>
          <p:cNvSpPr>
            <a:spLocks/>
          </p:cNvSpPr>
          <p:nvPr/>
        </p:nvSpPr>
        <p:spPr bwMode="auto">
          <a:xfrm>
            <a:off x="2028239"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26" name="Rectangle 82"/>
          <p:cNvSpPr>
            <a:spLocks noChangeArrowheads="1"/>
          </p:cNvSpPr>
          <p:nvPr/>
        </p:nvSpPr>
        <p:spPr bwMode="auto">
          <a:xfrm>
            <a:off x="1681612" y="2864695"/>
            <a:ext cx="81661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A</a:t>
            </a:r>
          </a:p>
        </p:txBody>
      </p:sp>
      <p:sp>
        <p:nvSpPr>
          <p:cNvPr id="127" name="Rectangle 83"/>
          <p:cNvSpPr>
            <a:spLocks noChangeArrowheads="1"/>
          </p:cNvSpPr>
          <p:nvPr/>
        </p:nvSpPr>
        <p:spPr bwMode="auto">
          <a:xfrm>
            <a:off x="6660640" y="2864695"/>
            <a:ext cx="8045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主机 </a:t>
            </a:r>
            <a:r>
              <a:rPr lang="en-US" altLang="zh-CN" sz="1200" b="1" dirty="0">
                <a:latin typeface="微软雅黑" panose="020B0503020204020204" pitchFamily="34" charset="-122"/>
                <a:ea typeface="微软雅黑" panose="020B0503020204020204" pitchFamily="34" charset="-122"/>
              </a:rPr>
              <a:t>B</a:t>
            </a:r>
          </a:p>
        </p:txBody>
      </p:sp>
      <p:sp>
        <p:nvSpPr>
          <p:cNvPr id="129" name="Rectangle 98"/>
          <p:cNvSpPr>
            <a:spLocks noChangeArrowheads="1"/>
          </p:cNvSpPr>
          <p:nvPr/>
        </p:nvSpPr>
        <p:spPr bwMode="auto">
          <a:xfrm>
            <a:off x="2650927"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130" name="Freeform 100"/>
          <p:cNvSpPr>
            <a:spLocks/>
          </p:cNvSpPr>
          <p:nvPr/>
        </p:nvSpPr>
        <p:spPr bwMode="auto">
          <a:xfrm>
            <a:off x="6218693" y="139798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31" name="Rectangle 101"/>
          <p:cNvSpPr>
            <a:spLocks noChangeArrowheads="1"/>
          </p:cNvSpPr>
          <p:nvPr/>
        </p:nvSpPr>
        <p:spPr bwMode="auto">
          <a:xfrm>
            <a:off x="5474686" y="124727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132" name="AutoShape 102"/>
          <p:cNvSpPr>
            <a:spLocks noChangeArrowheads="1"/>
          </p:cNvSpPr>
          <p:nvPr/>
        </p:nvSpPr>
        <p:spPr bwMode="auto">
          <a:xfrm>
            <a:off x="2533322" y="171625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33" name="Rectangle 76"/>
          <p:cNvSpPr>
            <a:spLocks noChangeArrowheads="1"/>
          </p:cNvSpPr>
          <p:nvPr/>
        </p:nvSpPr>
        <p:spPr bwMode="auto">
          <a:xfrm>
            <a:off x="3381058"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1</a:t>
            </a:r>
          </a:p>
        </p:txBody>
      </p:sp>
      <p:pic>
        <p:nvPicPr>
          <p:cNvPr id="134" name="Picture 10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79114"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35" name="Rectangle 103"/>
          <p:cNvSpPr>
            <a:spLocks noChangeArrowheads="1"/>
          </p:cNvSpPr>
          <p:nvPr/>
        </p:nvSpPr>
        <p:spPr bwMode="auto">
          <a:xfrm>
            <a:off x="4897544" y="3015764"/>
            <a:ext cx="785472"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路由器 </a:t>
            </a:r>
            <a:r>
              <a:rPr lang="en-US" altLang="zh-CN" sz="1200" b="1" dirty="0">
                <a:latin typeface="微软雅黑" panose="020B0503020204020204" pitchFamily="34" charset="-122"/>
                <a:ea typeface="微软雅黑" panose="020B0503020204020204" pitchFamily="34" charset="-122"/>
              </a:rPr>
              <a:t>2</a:t>
            </a:r>
          </a:p>
        </p:txBody>
      </p:sp>
      <p:sp>
        <p:nvSpPr>
          <p:cNvPr id="136" name="Oval 113"/>
          <p:cNvSpPr>
            <a:spLocks noChangeArrowheads="1"/>
          </p:cNvSpPr>
          <p:nvPr/>
        </p:nvSpPr>
        <p:spPr bwMode="auto">
          <a:xfrm>
            <a:off x="1697707" y="3162622"/>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14"/>
          <p:cNvSpPr>
            <a:spLocks noChangeArrowheads="1"/>
          </p:cNvSpPr>
          <p:nvPr/>
        </p:nvSpPr>
        <p:spPr bwMode="auto">
          <a:xfrm>
            <a:off x="1728655"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138" name="Oval 138"/>
          <p:cNvSpPr>
            <a:spLocks noChangeArrowheads="1"/>
          </p:cNvSpPr>
          <p:nvPr/>
        </p:nvSpPr>
        <p:spPr bwMode="auto">
          <a:xfrm>
            <a:off x="6984983" y="135960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157"/>
          <p:cNvSpPr>
            <a:spLocks noChangeShapeType="1"/>
          </p:cNvSpPr>
          <p:nvPr/>
        </p:nvSpPr>
        <p:spPr bwMode="auto">
          <a:xfrm rot="5400000">
            <a:off x="3501724" y="239070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158"/>
          <p:cNvSpPr>
            <a:spLocks noChangeShapeType="1"/>
          </p:cNvSpPr>
          <p:nvPr/>
        </p:nvSpPr>
        <p:spPr bwMode="auto">
          <a:xfrm rot="5400000">
            <a:off x="5007507" y="238930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5" name="Oval 162"/>
          <p:cNvSpPr>
            <a:spLocks noChangeArrowheads="1"/>
          </p:cNvSpPr>
          <p:nvPr/>
        </p:nvSpPr>
        <p:spPr bwMode="auto">
          <a:xfrm>
            <a:off x="2466472"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6" name="Oval 34"/>
          <p:cNvSpPr>
            <a:spLocks noChangeArrowheads="1"/>
          </p:cNvSpPr>
          <p:nvPr/>
        </p:nvSpPr>
        <p:spPr bwMode="auto">
          <a:xfrm>
            <a:off x="1687803" y="3380479"/>
            <a:ext cx="434519"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7" name="Rectangle 35"/>
          <p:cNvSpPr>
            <a:spLocks noChangeArrowheads="1"/>
          </p:cNvSpPr>
          <p:nvPr/>
        </p:nvSpPr>
        <p:spPr bwMode="auto">
          <a:xfrm>
            <a:off x="1700183" y="3333948"/>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8" name="Rectangle 163"/>
          <p:cNvSpPr>
            <a:spLocks noChangeArrowheads="1"/>
          </p:cNvSpPr>
          <p:nvPr/>
        </p:nvSpPr>
        <p:spPr bwMode="auto">
          <a:xfrm flipH="1">
            <a:off x="6502183" y="3105520"/>
            <a:ext cx="995310" cy="491119"/>
          </a:xfrm>
          <a:prstGeom prst="rect">
            <a:avLst/>
          </a:prstGeom>
          <a:solidFill>
            <a:schemeClr val="bg1"/>
          </a:solidFill>
          <a:ln w="9525">
            <a:solidFill>
              <a:schemeClr val="tx1"/>
            </a:solidFill>
            <a:miter lim="800000"/>
            <a:headEnd/>
            <a:tailEnd/>
          </a:ln>
          <a:effectLst/>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149" name="Freeform 164"/>
          <p:cNvSpPr>
            <a:spLocks/>
          </p:cNvSpPr>
          <p:nvPr/>
        </p:nvSpPr>
        <p:spPr bwMode="auto">
          <a:xfrm flipH="1">
            <a:off x="6502183" y="3258103"/>
            <a:ext cx="450613" cy="85184"/>
          </a:xfrm>
          <a:custGeom>
            <a:avLst/>
            <a:gdLst>
              <a:gd name="T0" fmla="*/ 0 w 382"/>
              <a:gd name="T1" fmla="*/ 0 h 277"/>
              <a:gd name="T2" fmla="*/ 2147483647 w 382"/>
              <a:gd name="T3" fmla="*/ 0 h 277"/>
              <a:gd name="T4" fmla="*/ 2147483647 w 382"/>
              <a:gd name="T5" fmla="*/ 2147483647 h 277"/>
              <a:gd name="T6" fmla="*/ 2147483647 w 382"/>
              <a:gd name="T7" fmla="*/ 2147483647 h 277"/>
              <a:gd name="T8" fmla="*/ 2147483647 w 382"/>
              <a:gd name="T9" fmla="*/ 2147483647 h 277"/>
              <a:gd name="T10" fmla="*/ 2147483647 w 382"/>
              <a:gd name="T11" fmla="*/ 2147483647 h 277"/>
              <a:gd name="T12" fmla="*/ 2147483647 w 382"/>
              <a:gd name="T13" fmla="*/ 2147483647 h 277"/>
              <a:gd name="T14" fmla="*/ 2147483647 w 382"/>
              <a:gd name="T15" fmla="*/ 2147483647 h 277"/>
              <a:gd name="T16" fmla="*/ 2147483647 w 382"/>
              <a:gd name="T17" fmla="*/ 2147483647 h 277"/>
              <a:gd name="T18" fmla="*/ 2147483647 w 382"/>
              <a:gd name="T19" fmla="*/ 2147483647 h 277"/>
              <a:gd name="T20" fmla="*/ 2147483647 w 382"/>
              <a:gd name="T21" fmla="*/ 2147483647 h 277"/>
              <a:gd name="T22" fmla="*/ 2147483647 w 382"/>
              <a:gd name="T23" fmla="*/ 2147483647 h 277"/>
              <a:gd name="T24" fmla="*/ 2147483647 w 382"/>
              <a:gd name="T25" fmla="*/ 2147483647 h 277"/>
              <a:gd name="T26" fmla="*/ 2147483647 w 382"/>
              <a:gd name="T27" fmla="*/ 2147483647 h 277"/>
              <a:gd name="T28" fmla="*/ 2147483647 w 382"/>
              <a:gd name="T29" fmla="*/ 2147483647 h 277"/>
              <a:gd name="T30" fmla="*/ 2147483647 w 382"/>
              <a:gd name="T31" fmla="*/ 2147483647 h 277"/>
              <a:gd name="T32" fmla="*/ 2147483647 w 382"/>
              <a:gd name="T33" fmla="*/ 2147483647 h 277"/>
              <a:gd name="T34" fmla="*/ 2147483647 w 382"/>
              <a:gd name="T35" fmla="*/ 2147483647 h 277"/>
              <a:gd name="T36" fmla="*/ 2147483647 w 382"/>
              <a:gd name="T37" fmla="*/ 2147483647 h 277"/>
              <a:gd name="T38" fmla="*/ 2147483647 w 382"/>
              <a:gd name="T39" fmla="*/ 2147483647 h 277"/>
              <a:gd name="T40" fmla="*/ 2147483647 w 382"/>
              <a:gd name="T41" fmla="*/ 2147483647 h 277"/>
              <a:gd name="T42" fmla="*/ 2147483647 w 382"/>
              <a:gd name="T43" fmla="*/ 2147483647 h 277"/>
              <a:gd name="T44" fmla="*/ 2147483647 w 382"/>
              <a:gd name="T45" fmla="*/ 2147483647 h 277"/>
              <a:gd name="T46" fmla="*/ 2147483647 w 382"/>
              <a:gd name="T47" fmla="*/ 2147483647 h 277"/>
              <a:gd name="T48" fmla="*/ 2147483647 w 382"/>
              <a:gd name="T49" fmla="*/ 2147483647 h 277"/>
              <a:gd name="T50" fmla="*/ 2147483647 w 382"/>
              <a:gd name="T51" fmla="*/ 2147483647 h 277"/>
              <a:gd name="T52" fmla="*/ 2147483647 w 382"/>
              <a:gd name="T53" fmla="*/ 2147483647 h 277"/>
              <a:gd name="T54" fmla="*/ 2147483647 w 382"/>
              <a:gd name="T55" fmla="*/ 2147483647 h 277"/>
              <a:gd name="T56" fmla="*/ 2147483647 w 382"/>
              <a:gd name="T57" fmla="*/ 2147483647 h 277"/>
              <a:gd name="T58" fmla="*/ 2147483647 w 382"/>
              <a:gd name="T59" fmla="*/ 2147483647 h 277"/>
              <a:gd name="T60" fmla="*/ 2147483647 w 382"/>
              <a:gd name="T61" fmla="*/ 2147483647 h 277"/>
              <a:gd name="T62" fmla="*/ 2147483647 w 382"/>
              <a:gd name="T63" fmla="*/ 2147483647 h 277"/>
              <a:gd name="T64" fmla="*/ 2147483647 w 382"/>
              <a:gd name="T65" fmla="*/ 2147483647 h 277"/>
              <a:gd name="T66" fmla="*/ 2147483647 w 382"/>
              <a:gd name="T67" fmla="*/ 2147483647 h 277"/>
              <a:gd name="T68" fmla="*/ 2147483647 w 382"/>
              <a:gd name="T69" fmla="*/ 2147483647 h 277"/>
              <a:gd name="T70" fmla="*/ 2147483647 w 382"/>
              <a:gd name="T71" fmla="*/ 2147483647 h 277"/>
              <a:gd name="T72" fmla="*/ 2147483647 w 382"/>
              <a:gd name="T73" fmla="*/ 2147483647 h 277"/>
              <a:gd name="T74" fmla="*/ 2147483647 w 382"/>
              <a:gd name="T75" fmla="*/ 2147483647 h 277"/>
              <a:gd name="T76" fmla="*/ 2147483647 w 382"/>
              <a:gd name="T77" fmla="*/ 2147483647 h 277"/>
              <a:gd name="T78" fmla="*/ 2147483647 w 382"/>
              <a:gd name="T79" fmla="*/ 2147483647 h 277"/>
              <a:gd name="T80" fmla="*/ 2147483647 w 382"/>
              <a:gd name="T81" fmla="*/ 2147483647 h 277"/>
              <a:gd name="T82" fmla="*/ 2147483647 w 382"/>
              <a:gd name="T83" fmla="*/ 2147483647 h 277"/>
              <a:gd name="T84" fmla="*/ 2147483647 w 382"/>
              <a:gd name="T85" fmla="*/ 2147483647 h 277"/>
              <a:gd name="T86" fmla="*/ 2147483647 w 382"/>
              <a:gd name="T87" fmla="*/ 2147483647 h 277"/>
              <a:gd name="T88" fmla="*/ 2147483647 w 382"/>
              <a:gd name="T89" fmla="*/ 2147483647 h 277"/>
              <a:gd name="T90" fmla="*/ 2147483647 w 382"/>
              <a:gd name="T91" fmla="*/ 2147483647 h 277"/>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82"/>
              <a:gd name="T139" fmla="*/ 0 h 277"/>
              <a:gd name="T140" fmla="*/ 382 w 382"/>
              <a:gd name="T141" fmla="*/ 277 h 277"/>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82" h="277">
                <a:moveTo>
                  <a:pt x="0" y="0"/>
                </a:moveTo>
                <a:lnTo>
                  <a:pt x="9" y="0"/>
                </a:lnTo>
                <a:lnTo>
                  <a:pt x="18" y="6"/>
                </a:lnTo>
                <a:lnTo>
                  <a:pt x="27" y="6"/>
                </a:lnTo>
                <a:lnTo>
                  <a:pt x="36" y="9"/>
                </a:lnTo>
                <a:lnTo>
                  <a:pt x="48" y="12"/>
                </a:lnTo>
                <a:lnTo>
                  <a:pt x="57" y="15"/>
                </a:lnTo>
                <a:lnTo>
                  <a:pt x="66" y="18"/>
                </a:lnTo>
                <a:lnTo>
                  <a:pt x="75" y="21"/>
                </a:lnTo>
                <a:lnTo>
                  <a:pt x="84" y="24"/>
                </a:lnTo>
                <a:lnTo>
                  <a:pt x="93" y="30"/>
                </a:lnTo>
                <a:lnTo>
                  <a:pt x="102" y="33"/>
                </a:lnTo>
                <a:lnTo>
                  <a:pt x="111" y="36"/>
                </a:lnTo>
                <a:lnTo>
                  <a:pt x="120" y="42"/>
                </a:lnTo>
                <a:lnTo>
                  <a:pt x="132" y="45"/>
                </a:lnTo>
                <a:lnTo>
                  <a:pt x="144" y="54"/>
                </a:lnTo>
                <a:lnTo>
                  <a:pt x="153" y="57"/>
                </a:lnTo>
                <a:lnTo>
                  <a:pt x="162" y="66"/>
                </a:lnTo>
                <a:lnTo>
                  <a:pt x="171" y="66"/>
                </a:lnTo>
                <a:lnTo>
                  <a:pt x="180" y="72"/>
                </a:lnTo>
                <a:lnTo>
                  <a:pt x="192" y="78"/>
                </a:lnTo>
                <a:lnTo>
                  <a:pt x="213" y="84"/>
                </a:lnTo>
                <a:lnTo>
                  <a:pt x="225" y="90"/>
                </a:lnTo>
                <a:lnTo>
                  <a:pt x="234" y="96"/>
                </a:lnTo>
                <a:lnTo>
                  <a:pt x="243" y="105"/>
                </a:lnTo>
                <a:lnTo>
                  <a:pt x="252" y="111"/>
                </a:lnTo>
                <a:lnTo>
                  <a:pt x="261" y="117"/>
                </a:lnTo>
                <a:lnTo>
                  <a:pt x="267" y="126"/>
                </a:lnTo>
                <a:lnTo>
                  <a:pt x="276" y="132"/>
                </a:lnTo>
                <a:lnTo>
                  <a:pt x="285" y="138"/>
                </a:lnTo>
                <a:lnTo>
                  <a:pt x="294" y="144"/>
                </a:lnTo>
                <a:lnTo>
                  <a:pt x="300" y="153"/>
                </a:lnTo>
                <a:lnTo>
                  <a:pt x="303" y="162"/>
                </a:lnTo>
                <a:lnTo>
                  <a:pt x="312" y="168"/>
                </a:lnTo>
                <a:lnTo>
                  <a:pt x="321" y="177"/>
                </a:lnTo>
                <a:lnTo>
                  <a:pt x="333" y="186"/>
                </a:lnTo>
                <a:lnTo>
                  <a:pt x="345" y="195"/>
                </a:lnTo>
                <a:lnTo>
                  <a:pt x="348" y="204"/>
                </a:lnTo>
                <a:lnTo>
                  <a:pt x="357" y="210"/>
                </a:lnTo>
                <a:lnTo>
                  <a:pt x="360" y="219"/>
                </a:lnTo>
                <a:lnTo>
                  <a:pt x="366" y="228"/>
                </a:lnTo>
                <a:lnTo>
                  <a:pt x="369" y="237"/>
                </a:lnTo>
                <a:lnTo>
                  <a:pt x="372" y="246"/>
                </a:lnTo>
                <a:lnTo>
                  <a:pt x="372" y="258"/>
                </a:lnTo>
                <a:lnTo>
                  <a:pt x="378" y="267"/>
                </a:lnTo>
                <a:lnTo>
                  <a:pt x="381" y="276"/>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0" name="Freeform 165"/>
          <p:cNvSpPr>
            <a:spLocks/>
          </p:cNvSpPr>
          <p:nvPr/>
        </p:nvSpPr>
        <p:spPr bwMode="auto">
          <a:xfrm flipH="1">
            <a:off x="6502183" y="3354519"/>
            <a:ext cx="488990" cy="95481"/>
          </a:xfrm>
          <a:custGeom>
            <a:avLst/>
            <a:gdLst>
              <a:gd name="T0" fmla="*/ 0 w 334"/>
              <a:gd name="T1" fmla="*/ 2147483647 h 244"/>
              <a:gd name="T2" fmla="*/ 2147483647 w 334"/>
              <a:gd name="T3" fmla="*/ 2147483647 h 244"/>
              <a:gd name="T4" fmla="*/ 2147483647 w 334"/>
              <a:gd name="T5" fmla="*/ 2147483647 h 244"/>
              <a:gd name="T6" fmla="*/ 2147483647 w 334"/>
              <a:gd name="T7" fmla="*/ 2147483647 h 244"/>
              <a:gd name="T8" fmla="*/ 2147483647 w 334"/>
              <a:gd name="T9" fmla="*/ 2147483647 h 244"/>
              <a:gd name="T10" fmla="*/ 2147483647 w 334"/>
              <a:gd name="T11" fmla="*/ 2147483647 h 244"/>
              <a:gd name="T12" fmla="*/ 2147483647 w 334"/>
              <a:gd name="T13" fmla="*/ 2147483647 h 244"/>
              <a:gd name="T14" fmla="*/ 2147483647 w 334"/>
              <a:gd name="T15" fmla="*/ 2147483647 h 244"/>
              <a:gd name="T16" fmla="*/ 2147483647 w 334"/>
              <a:gd name="T17" fmla="*/ 2147483647 h 244"/>
              <a:gd name="T18" fmla="*/ 2147483647 w 334"/>
              <a:gd name="T19" fmla="*/ 2147483647 h 244"/>
              <a:gd name="T20" fmla="*/ 2147483647 w 334"/>
              <a:gd name="T21" fmla="*/ 2147483647 h 244"/>
              <a:gd name="T22" fmla="*/ 2147483647 w 334"/>
              <a:gd name="T23" fmla="*/ 2147483647 h 244"/>
              <a:gd name="T24" fmla="*/ 2147483647 w 334"/>
              <a:gd name="T25" fmla="*/ 2147483647 h 244"/>
              <a:gd name="T26" fmla="*/ 2147483647 w 334"/>
              <a:gd name="T27" fmla="*/ 2147483647 h 244"/>
              <a:gd name="T28" fmla="*/ 2147483647 w 334"/>
              <a:gd name="T29" fmla="*/ 2147483647 h 244"/>
              <a:gd name="T30" fmla="*/ 2147483647 w 334"/>
              <a:gd name="T31" fmla="*/ 2147483647 h 244"/>
              <a:gd name="T32" fmla="*/ 2147483647 w 334"/>
              <a:gd name="T33" fmla="*/ 2147483647 h 244"/>
              <a:gd name="T34" fmla="*/ 2147483647 w 334"/>
              <a:gd name="T35" fmla="*/ 2147483647 h 244"/>
              <a:gd name="T36" fmla="*/ 2147483647 w 334"/>
              <a:gd name="T37" fmla="*/ 2147483647 h 244"/>
              <a:gd name="T38" fmla="*/ 2147483647 w 334"/>
              <a:gd name="T39" fmla="*/ 2147483647 h 244"/>
              <a:gd name="T40" fmla="*/ 2147483647 w 334"/>
              <a:gd name="T41" fmla="*/ 2147483647 h 244"/>
              <a:gd name="T42" fmla="*/ 2147483647 w 334"/>
              <a:gd name="T43" fmla="*/ 2147483647 h 244"/>
              <a:gd name="T44" fmla="*/ 2147483647 w 334"/>
              <a:gd name="T45" fmla="*/ 2147483647 h 244"/>
              <a:gd name="T46" fmla="*/ 2147483647 w 334"/>
              <a:gd name="T47" fmla="*/ 2147483647 h 244"/>
              <a:gd name="T48" fmla="*/ 2147483647 w 334"/>
              <a:gd name="T49" fmla="*/ 2147483647 h 244"/>
              <a:gd name="T50" fmla="*/ 2147483647 w 334"/>
              <a:gd name="T51" fmla="*/ 2147483647 h 244"/>
              <a:gd name="T52" fmla="*/ 2147483647 w 334"/>
              <a:gd name="T53" fmla="*/ 2147483647 h 244"/>
              <a:gd name="T54" fmla="*/ 2147483647 w 334"/>
              <a:gd name="T55" fmla="*/ 2147483647 h 244"/>
              <a:gd name="T56" fmla="*/ 2147483647 w 334"/>
              <a:gd name="T57" fmla="*/ 2147483647 h 244"/>
              <a:gd name="T58" fmla="*/ 2147483647 w 334"/>
              <a:gd name="T59" fmla="*/ 2147483647 h 244"/>
              <a:gd name="T60" fmla="*/ 2147483647 w 334"/>
              <a:gd name="T61" fmla="*/ 2147483647 h 244"/>
              <a:gd name="T62" fmla="*/ 2147483647 w 334"/>
              <a:gd name="T63" fmla="*/ 2147483647 h 244"/>
              <a:gd name="T64" fmla="*/ 2147483647 w 334"/>
              <a:gd name="T65" fmla="*/ 2147483647 h 244"/>
              <a:gd name="T66" fmla="*/ 2147483647 w 334"/>
              <a:gd name="T67" fmla="*/ 2147483647 h 244"/>
              <a:gd name="T68" fmla="*/ 2147483647 w 334"/>
              <a:gd name="T69" fmla="*/ 2147483647 h 244"/>
              <a:gd name="T70" fmla="*/ 2147483647 w 334"/>
              <a:gd name="T71" fmla="*/ 2147483647 h 244"/>
              <a:gd name="T72" fmla="*/ 2147483647 w 334"/>
              <a:gd name="T73" fmla="*/ 2147483647 h 244"/>
              <a:gd name="T74" fmla="*/ 2147483647 w 334"/>
              <a:gd name="T75" fmla="*/ 2147483647 h 244"/>
              <a:gd name="T76" fmla="*/ 2147483647 w 334"/>
              <a:gd name="T77" fmla="*/ 2147483647 h 244"/>
              <a:gd name="T78" fmla="*/ 2147483647 w 334"/>
              <a:gd name="T79" fmla="*/ 0 h 24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334"/>
              <a:gd name="T121" fmla="*/ 0 h 244"/>
              <a:gd name="T122" fmla="*/ 334 w 334"/>
              <a:gd name="T123" fmla="*/ 244 h 24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334" h="244">
                <a:moveTo>
                  <a:pt x="0" y="243"/>
                </a:moveTo>
                <a:lnTo>
                  <a:pt x="12" y="243"/>
                </a:lnTo>
                <a:lnTo>
                  <a:pt x="31" y="237"/>
                </a:lnTo>
                <a:lnTo>
                  <a:pt x="40" y="234"/>
                </a:lnTo>
                <a:lnTo>
                  <a:pt x="49" y="231"/>
                </a:lnTo>
                <a:lnTo>
                  <a:pt x="59" y="225"/>
                </a:lnTo>
                <a:lnTo>
                  <a:pt x="71" y="222"/>
                </a:lnTo>
                <a:lnTo>
                  <a:pt x="80" y="216"/>
                </a:lnTo>
                <a:lnTo>
                  <a:pt x="89" y="210"/>
                </a:lnTo>
                <a:lnTo>
                  <a:pt x="99" y="204"/>
                </a:lnTo>
                <a:lnTo>
                  <a:pt x="108" y="198"/>
                </a:lnTo>
                <a:lnTo>
                  <a:pt x="117" y="195"/>
                </a:lnTo>
                <a:lnTo>
                  <a:pt x="126" y="189"/>
                </a:lnTo>
                <a:lnTo>
                  <a:pt x="136" y="183"/>
                </a:lnTo>
                <a:lnTo>
                  <a:pt x="145" y="177"/>
                </a:lnTo>
                <a:lnTo>
                  <a:pt x="154" y="174"/>
                </a:lnTo>
                <a:lnTo>
                  <a:pt x="163" y="171"/>
                </a:lnTo>
                <a:lnTo>
                  <a:pt x="173" y="165"/>
                </a:lnTo>
                <a:lnTo>
                  <a:pt x="182" y="162"/>
                </a:lnTo>
                <a:lnTo>
                  <a:pt x="194" y="156"/>
                </a:lnTo>
                <a:lnTo>
                  <a:pt x="207" y="150"/>
                </a:lnTo>
                <a:lnTo>
                  <a:pt x="213" y="141"/>
                </a:lnTo>
                <a:lnTo>
                  <a:pt x="222" y="138"/>
                </a:lnTo>
                <a:lnTo>
                  <a:pt x="231" y="129"/>
                </a:lnTo>
                <a:lnTo>
                  <a:pt x="241" y="120"/>
                </a:lnTo>
                <a:lnTo>
                  <a:pt x="247" y="111"/>
                </a:lnTo>
                <a:lnTo>
                  <a:pt x="256" y="102"/>
                </a:lnTo>
                <a:lnTo>
                  <a:pt x="259" y="93"/>
                </a:lnTo>
                <a:lnTo>
                  <a:pt x="268" y="87"/>
                </a:lnTo>
                <a:lnTo>
                  <a:pt x="271" y="78"/>
                </a:lnTo>
                <a:lnTo>
                  <a:pt x="278" y="69"/>
                </a:lnTo>
                <a:lnTo>
                  <a:pt x="284" y="60"/>
                </a:lnTo>
                <a:lnTo>
                  <a:pt x="290" y="51"/>
                </a:lnTo>
                <a:lnTo>
                  <a:pt x="293" y="42"/>
                </a:lnTo>
                <a:lnTo>
                  <a:pt x="299" y="33"/>
                </a:lnTo>
                <a:lnTo>
                  <a:pt x="308" y="27"/>
                </a:lnTo>
                <a:lnTo>
                  <a:pt x="311" y="18"/>
                </a:lnTo>
                <a:lnTo>
                  <a:pt x="321" y="15"/>
                </a:lnTo>
                <a:lnTo>
                  <a:pt x="324" y="6"/>
                </a:lnTo>
                <a:lnTo>
                  <a:pt x="333" y="0"/>
                </a:lnTo>
              </a:path>
            </a:pathLst>
          </a:custGeom>
          <a:noFill/>
          <a:ln w="19050" cap="rnd" cmpd="sng">
            <a:solidFill>
              <a:schemeClr val="tx1"/>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1" name="Oval 167"/>
          <p:cNvSpPr>
            <a:spLocks noChangeArrowheads="1"/>
          </p:cNvSpPr>
          <p:nvPr/>
        </p:nvSpPr>
        <p:spPr bwMode="auto">
          <a:xfrm flipH="1">
            <a:off x="6816622" y="3162622"/>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2" name="Rectangle 168"/>
          <p:cNvSpPr>
            <a:spLocks noChangeArrowheads="1"/>
          </p:cNvSpPr>
          <p:nvPr/>
        </p:nvSpPr>
        <p:spPr bwMode="auto">
          <a:xfrm flipH="1">
            <a:off x="6822814" y="3116092"/>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3</a:t>
            </a:r>
            <a:endParaRPr lang="en-US" altLang="zh-CN" sz="1200" b="1" dirty="0">
              <a:latin typeface="微软雅黑" panose="020B0503020204020204" pitchFamily="34" charset="-122"/>
              <a:ea typeface="微软雅黑" panose="020B0503020204020204" pitchFamily="34" charset="-122"/>
            </a:endParaRPr>
          </a:p>
        </p:txBody>
      </p:sp>
      <p:sp>
        <p:nvSpPr>
          <p:cNvPr id="153" name="Oval 169"/>
          <p:cNvSpPr>
            <a:spLocks noChangeArrowheads="1"/>
          </p:cNvSpPr>
          <p:nvPr/>
        </p:nvSpPr>
        <p:spPr bwMode="auto">
          <a:xfrm flipH="1">
            <a:off x="6445238" y="3309587"/>
            <a:ext cx="105226" cy="71143"/>
          </a:xfrm>
          <a:prstGeom prst="ellipse">
            <a:avLst/>
          </a:prstGeom>
          <a:solidFill>
            <a:schemeClr val="bg1"/>
          </a:solidFill>
          <a:ln w="28575">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4" name="Oval 171"/>
          <p:cNvSpPr>
            <a:spLocks noChangeArrowheads="1"/>
          </p:cNvSpPr>
          <p:nvPr/>
        </p:nvSpPr>
        <p:spPr bwMode="auto">
          <a:xfrm flipH="1">
            <a:off x="6806718" y="3389444"/>
            <a:ext cx="434520"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5" name="Rectangle 172"/>
          <p:cNvSpPr>
            <a:spLocks noChangeArrowheads="1"/>
          </p:cNvSpPr>
          <p:nvPr/>
        </p:nvSpPr>
        <p:spPr bwMode="auto">
          <a:xfrm flipH="1">
            <a:off x="6822814" y="331454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56" name="Rectangle 175"/>
          <p:cNvSpPr>
            <a:spLocks noChangeArrowheads="1"/>
          </p:cNvSpPr>
          <p:nvPr/>
        </p:nvSpPr>
        <p:spPr bwMode="auto">
          <a:xfrm>
            <a:off x="4266449" y="192032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159" name="Freeform 99"/>
          <p:cNvSpPr>
            <a:spLocks/>
          </p:cNvSpPr>
          <p:nvPr/>
        </p:nvSpPr>
        <p:spPr bwMode="auto">
          <a:xfrm>
            <a:off x="2461521" y="140547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60" name="Oval 131"/>
          <p:cNvSpPr>
            <a:spLocks noChangeArrowheads="1"/>
          </p:cNvSpPr>
          <p:nvPr/>
        </p:nvSpPr>
        <p:spPr bwMode="auto">
          <a:xfrm>
            <a:off x="1576388" y="135586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Rectangle 132"/>
          <p:cNvSpPr>
            <a:spLocks noChangeArrowheads="1"/>
          </p:cNvSpPr>
          <p:nvPr/>
        </p:nvSpPr>
        <p:spPr bwMode="auto">
          <a:xfrm>
            <a:off x="1608575" y="130184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162" name="Group 197"/>
          <p:cNvGrpSpPr>
            <a:grpSpLocks/>
          </p:cNvGrpSpPr>
          <p:nvPr/>
        </p:nvGrpSpPr>
        <p:grpSpPr bwMode="auto">
          <a:xfrm>
            <a:off x="2045571" y="1370790"/>
            <a:ext cx="481751" cy="274572"/>
            <a:chOff x="798" y="803"/>
            <a:chExt cx="408" cy="345"/>
          </a:xfrm>
          <a:solidFill>
            <a:schemeClr val="accent6">
              <a:lumMod val="75000"/>
            </a:schemeClr>
          </a:solidFill>
        </p:grpSpPr>
        <p:sp>
          <p:nvSpPr>
            <p:cNvPr id="163"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4"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165" name="Rectangle 139"/>
          <p:cNvSpPr>
            <a:spLocks noChangeArrowheads="1"/>
          </p:cNvSpPr>
          <p:nvPr/>
        </p:nvSpPr>
        <p:spPr bwMode="auto">
          <a:xfrm>
            <a:off x="7003552" y="132150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166" name="Oval 135"/>
          <p:cNvSpPr>
            <a:spLocks noChangeArrowheads="1"/>
          </p:cNvSpPr>
          <p:nvPr/>
        </p:nvSpPr>
        <p:spPr bwMode="auto">
          <a:xfrm>
            <a:off x="6555415" y="142700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7" name="Rectangle 136"/>
          <p:cNvSpPr>
            <a:spLocks noChangeArrowheads="1"/>
          </p:cNvSpPr>
          <p:nvPr/>
        </p:nvSpPr>
        <p:spPr bwMode="auto">
          <a:xfrm>
            <a:off x="6572747" y="138234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3</a:t>
            </a:r>
            <a:endParaRPr lang="en-US" altLang="zh-CN" sz="1200" b="1" dirty="0">
              <a:latin typeface="微软雅黑" panose="020B0503020204020204" pitchFamily="34" charset="-122"/>
              <a:ea typeface="微软雅黑" panose="020B0503020204020204" pitchFamily="34" charset="-122"/>
            </a:endParaRPr>
          </a:p>
        </p:txBody>
      </p:sp>
      <p:sp>
        <p:nvSpPr>
          <p:cNvPr id="169" name="Line 233"/>
          <p:cNvSpPr>
            <a:spLocks noChangeShapeType="1"/>
          </p:cNvSpPr>
          <p:nvPr/>
        </p:nvSpPr>
        <p:spPr bwMode="auto">
          <a:xfrm>
            <a:off x="2537036" y="3756101"/>
            <a:ext cx="3962671" cy="0"/>
          </a:xfrm>
          <a:prstGeom prst="line">
            <a:avLst/>
          </a:prstGeom>
          <a:noFill/>
          <a:ln w="19050">
            <a:solidFill>
              <a:srgbClr val="000099"/>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0" name="Line 234"/>
          <p:cNvSpPr>
            <a:spLocks noChangeShapeType="1"/>
          </p:cNvSpPr>
          <p:nvPr/>
        </p:nvSpPr>
        <p:spPr bwMode="auto">
          <a:xfrm>
            <a:off x="2537036"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1" name="Line 235"/>
          <p:cNvSpPr>
            <a:spLocks noChangeShapeType="1"/>
          </p:cNvSpPr>
          <p:nvPr/>
        </p:nvSpPr>
        <p:spPr bwMode="auto">
          <a:xfrm>
            <a:off x="6502183" y="3603518"/>
            <a:ext cx="0" cy="26772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2" name="Rectangle 236"/>
          <p:cNvSpPr>
            <a:spLocks noChangeArrowheads="1"/>
          </p:cNvSpPr>
          <p:nvPr/>
        </p:nvSpPr>
        <p:spPr bwMode="auto">
          <a:xfrm>
            <a:off x="3208004" y="3650323"/>
            <a:ext cx="2491068"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网络层为主机之间的通信提供服务</a:t>
            </a:r>
          </a:p>
        </p:txBody>
      </p:sp>
      <p:sp>
        <p:nvSpPr>
          <p:cNvPr id="173" name="Line 237"/>
          <p:cNvSpPr>
            <a:spLocks noChangeShapeType="1"/>
          </p:cNvSpPr>
          <p:nvPr/>
        </p:nvSpPr>
        <p:spPr bwMode="auto">
          <a:xfrm flipH="1">
            <a:off x="2282019" y="3455617"/>
            <a:ext cx="3713" cy="686151"/>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4" name="Line 238"/>
          <p:cNvSpPr>
            <a:spLocks noChangeShapeType="1"/>
          </p:cNvSpPr>
          <p:nvPr/>
        </p:nvSpPr>
        <p:spPr bwMode="auto">
          <a:xfrm flipH="1">
            <a:off x="6689114" y="3449064"/>
            <a:ext cx="0" cy="651516"/>
          </a:xfrm>
          <a:prstGeom prst="line">
            <a:avLst/>
          </a:prstGeom>
          <a:noFill/>
          <a:ln w="12700">
            <a:solidFill>
              <a:schemeClr val="tx1"/>
            </a:solidFill>
            <a:prstDash val="dash"/>
            <a:round/>
            <a:headEnd type="none" w="sm" len="med"/>
            <a:tailEnd type="non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5" name="Line 239"/>
          <p:cNvSpPr>
            <a:spLocks noChangeShapeType="1"/>
          </p:cNvSpPr>
          <p:nvPr/>
        </p:nvSpPr>
        <p:spPr bwMode="auto">
          <a:xfrm flipV="1">
            <a:off x="2296874" y="4023821"/>
            <a:ext cx="4395953" cy="2808"/>
          </a:xfrm>
          <a:prstGeom prst="line">
            <a:avLst/>
          </a:prstGeom>
          <a:noFill/>
          <a:ln w="19050">
            <a:solidFill>
              <a:srgbClr val="9900FF"/>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76" name="Rectangle 240"/>
          <p:cNvSpPr>
            <a:spLocks noChangeArrowheads="1"/>
          </p:cNvSpPr>
          <p:nvPr/>
        </p:nvSpPr>
        <p:spPr bwMode="auto">
          <a:xfrm>
            <a:off x="3039643" y="3940509"/>
            <a:ext cx="2952732" cy="274434"/>
          </a:xfrm>
          <a:prstGeom prst="rect">
            <a:avLst/>
          </a:prstGeom>
          <a:solidFill>
            <a:srgbClr val="C3E3F9"/>
          </a:solidFill>
          <a:ln>
            <a:noFill/>
          </a:ln>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latin typeface="微软雅黑" panose="020B0503020204020204" pitchFamily="34" charset="-122"/>
                <a:ea typeface="微软雅黑" panose="020B0503020204020204" pitchFamily="34" charset="-122"/>
              </a:rPr>
              <a:t>运输层为应用层进程之间的通信提供服务</a:t>
            </a:r>
          </a:p>
        </p:txBody>
      </p:sp>
      <p:pic>
        <p:nvPicPr>
          <p:cNvPr id="177" name="Picture 24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4073" y="3240317"/>
            <a:ext cx="497655" cy="22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a:tailEnd/>
              </a14:hiddenLine>
            </a:ext>
          </a:extLst>
        </p:spPr>
      </p:pic>
      <p:sp>
        <p:nvSpPr>
          <p:cNvPr id="178" name="Rectangle 244"/>
          <p:cNvSpPr>
            <a:spLocks noChangeArrowheads="1"/>
          </p:cNvSpPr>
          <p:nvPr/>
        </p:nvSpPr>
        <p:spPr bwMode="auto">
          <a:xfrm>
            <a:off x="1354795" y="107006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179" name="Rectangle 245"/>
          <p:cNvSpPr>
            <a:spLocks noChangeArrowheads="1"/>
          </p:cNvSpPr>
          <p:nvPr/>
        </p:nvSpPr>
        <p:spPr bwMode="auto">
          <a:xfrm>
            <a:off x="6358581" y="107006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190" name="椭圆 85"/>
          <p:cNvSpPr>
            <a:spLocks noChangeArrowheads="1"/>
          </p:cNvSpPr>
          <p:nvPr/>
        </p:nvSpPr>
        <p:spPr bwMode="auto">
          <a:xfrm>
            <a:off x="6661879" y="3400928"/>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1" name="椭圆 85"/>
          <p:cNvSpPr>
            <a:spLocks noChangeArrowheads="1"/>
          </p:cNvSpPr>
          <p:nvPr/>
        </p:nvSpPr>
        <p:spPr bwMode="auto">
          <a:xfrm>
            <a:off x="6660640" y="3264655"/>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2" name="椭圆 85"/>
          <p:cNvSpPr>
            <a:spLocks noChangeArrowheads="1"/>
          </p:cNvSpPr>
          <p:nvPr/>
        </p:nvSpPr>
        <p:spPr bwMode="auto">
          <a:xfrm>
            <a:off x="2256021" y="3396644"/>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93" name="椭圆 85"/>
          <p:cNvSpPr>
            <a:spLocks noChangeArrowheads="1"/>
          </p:cNvSpPr>
          <p:nvPr/>
        </p:nvSpPr>
        <p:spPr bwMode="auto">
          <a:xfrm>
            <a:off x="2262211" y="3262783"/>
            <a:ext cx="56946"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4" name="Group 44"/>
          <p:cNvGrpSpPr>
            <a:grpSpLocks/>
          </p:cNvGrpSpPr>
          <p:nvPr/>
        </p:nvGrpSpPr>
        <p:grpSpPr bwMode="auto">
          <a:xfrm>
            <a:off x="26806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195" name="Group 45"/>
            <p:cNvGrpSpPr>
              <a:grpSpLocks/>
            </p:cNvGrpSpPr>
            <p:nvPr/>
          </p:nvGrpSpPr>
          <p:grpSpPr bwMode="auto">
            <a:xfrm>
              <a:off x="1787" y="2783"/>
              <a:ext cx="1813" cy="721"/>
              <a:chOff x="1787" y="2783"/>
              <a:chExt cx="1813" cy="721"/>
            </a:xfrm>
            <a:grpFill/>
          </p:grpSpPr>
          <p:sp>
            <p:nvSpPr>
              <p:cNvPr id="20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9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19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0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14" name="Group 44"/>
          <p:cNvGrpSpPr>
            <a:grpSpLocks/>
          </p:cNvGrpSpPr>
          <p:nvPr/>
        </p:nvGrpSpPr>
        <p:grpSpPr bwMode="auto">
          <a:xfrm>
            <a:off x="4178500"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15" name="Group 45"/>
            <p:cNvGrpSpPr>
              <a:grpSpLocks/>
            </p:cNvGrpSpPr>
            <p:nvPr/>
          </p:nvGrpSpPr>
          <p:grpSpPr bwMode="auto">
            <a:xfrm>
              <a:off x="1787" y="2783"/>
              <a:ext cx="1813" cy="721"/>
              <a:chOff x="1787" y="2783"/>
              <a:chExt cx="1813" cy="721"/>
            </a:xfrm>
            <a:grpFill/>
          </p:grpSpPr>
          <p:sp>
            <p:nvSpPr>
              <p:cNvPr id="22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1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1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2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grpSp>
        <p:nvGrpSpPr>
          <p:cNvPr id="234" name="Group 44"/>
          <p:cNvGrpSpPr>
            <a:grpSpLocks/>
          </p:cNvGrpSpPr>
          <p:nvPr/>
        </p:nvGrpSpPr>
        <p:grpSpPr bwMode="auto">
          <a:xfrm>
            <a:off x="5666125" y="3199066"/>
            <a:ext cx="628600" cy="277145"/>
            <a:chOff x="1776" y="2768"/>
            <a:chExt cx="1824" cy="736"/>
          </a:xfrm>
          <a:solidFill>
            <a:srgbClr val="FFFF66"/>
          </a:solidFill>
          <a:effectLst>
            <a:outerShdw blurRad="50800" dist="38100" dir="2700000" algn="tl" rotWithShape="0">
              <a:prstClr val="black">
                <a:alpha val="40000"/>
              </a:prstClr>
            </a:outerShdw>
          </a:effectLst>
        </p:grpSpPr>
        <p:grpSp>
          <p:nvGrpSpPr>
            <p:cNvPr id="235" name="Group 45"/>
            <p:cNvGrpSpPr>
              <a:grpSpLocks/>
            </p:cNvGrpSpPr>
            <p:nvPr/>
          </p:nvGrpSpPr>
          <p:grpSpPr bwMode="auto">
            <a:xfrm>
              <a:off x="1787" y="2783"/>
              <a:ext cx="1813" cy="721"/>
              <a:chOff x="1787" y="2783"/>
              <a:chExt cx="1813" cy="721"/>
            </a:xfrm>
            <a:grpFill/>
          </p:grpSpPr>
          <p:sp>
            <p:nvSpPr>
              <p:cNvPr id="245" name="Oval 46"/>
              <p:cNvSpPr>
                <a:spLocks noChangeArrowheads="1"/>
              </p:cNvSpPr>
              <p:nvPr/>
            </p:nvSpPr>
            <p:spPr bwMode="auto">
              <a:xfrm>
                <a:off x="2413" y="2783"/>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6" name="Oval 47"/>
              <p:cNvSpPr>
                <a:spLocks noChangeArrowheads="1"/>
              </p:cNvSpPr>
              <p:nvPr/>
            </p:nvSpPr>
            <p:spPr bwMode="auto">
              <a:xfrm>
                <a:off x="1974" y="2863"/>
                <a:ext cx="593"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7" name="Oval 48"/>
              <p:cNvSpPr>
                <a:spLocks noChangeArrowheads="1"/>
              </p:cNvSpPr>
              <p:nvPr/>
            </p:nvSpPr>
            <p:spPr bwMode="auto">
              <a:xfrm>
                <a:off x="1787" y="3045"/>
                <a:ext cx="396" cy="23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8" name="Oval 49"/>
              <p:cNvSpPr>
                <a:spLocks noChangeArrowheads="1"/>
              </p:cNvSpPr>
              <p:nvPr/>
            </p:nvSpPr>
            <p:spPr bwMode="auto">
              <a:xfrm>
                <a:off x="1908" y="3154"/>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9" name="Oval 50"/>
              <p:cNvSpPr>
                <a:spLocks noChangeArrowheads="1"/>
              </p:cNvSpPr>
              <p:nvPr/>
            </p:nvSpPr>
            <p:spPr bwMode="auto">
              <a:xfrm>
                <a:off x="2347" y="3198"/>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0" name="Oval 51"/>
              <p:cNvSpPr>
                <a:spLocks noChangeArrowheads="1"/>
              </p:cNvSpPr>
              <p:nvPr/>
            </p:nvSpPr>
            <p:spPr bwMode="auto">
              <a:xfrm>
                <a:off x="2941" y="2870"/>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1" name="Oval 52"/>
              <p:cNvSpPr>
                <a:spLocks noChangeArrowheads="1"/>
              </p:cNvSpPr>
              <p:nvPr/>
            </p:nvSpPr>
            <p:spPr bwMode="auto">
              <a:xfrm>
                <a:off x="3029" y="3023"/>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2" name="Oval 53"/>
              <p:cNvSpPr>
                <a:spLocks noChangeArrowheads="1"/>
              </p:cNvSpPr>
              <p:nvPr/>
            </p:nvSpPr>
            <p:spPr bwMode="auto">
              <a:xfrm>
                <a:off x="2974" y="3074"/>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53" name="Oval 54"/>
              <p:cNvSpPr>
                <a:spLocks noChangeArrowheads="1"/>
              </p:cNvSpPr>
              <p:nvPr/>
            </p:nvSpPr>
            <p:spPr bwMode="auto">
              <a:xfrm>
                <a:off x="2117" y="2957"/>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236" name="Oval 55"/>
            <p:cNvSpPr>
              <a:spLocks noChangeArrowheads="1"/>
            </p:cNvSpPr>
            <p:nvPr/>
          </p:nvSpPr>
          <p:spPr bwMode="auto">
            <a:xfrm>
              <a:off x="2402" y="2768"/>
              <a:ext cx="780" cy="291"/>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7" name="Oval 56"/>
            <p:cNvSpPr>
              <a:spLocks noChangeArrowheads="1"/>
            </p:cNvSpPr>
            <p:nvPr/>
          </p:nvSpPr>
          <p:spPr bwMode="auto">
            <a:xfrm>
              <a:off x="1963" y="2848"/>
              <a:ext cx="593" cy="29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8" name="Oval 57"/>
            <p:cNvSpPr>
              <a:spLocks noChangeArrowheads="1"/>
            </p:cNvSpPr>
            <p:nvPr/>
          </p:nvSpPr>
          <p:spPr bwMode="auto">
            <a:xfrm>
              <a:off x="1776" y="3030"/>
              <a:ext cx="396" cy="23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39" name="Oval 58"/>
            <p:cNvSpPr>
              <a:spLocks noChangeArrowheads="1"/>
            </p:cNvSpPr>
            <p:nvPr/>
          </p:nvSpPr>
          <p:spPr bwMode="auto">
            <a:xfrm>
              <a:off x="1897" y="3140"/>
              <a:ext cx="604" cy="2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0" name="Oval 59"/>
            <p:cNvSpPr>
              <a:spLocks noChangeArrowheads="1"/>
            </p:cNvSpPr>
            <p:nvPr/>
          </p:nvSpPr>
          <p:spPr bwMode="auto">
            <a:xfrm>
              <a:off x="2336" y="3183"/>
              <a:ext cx="912" cy="30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1" name="Oval 60"/>
            <p:cNvSpPr>
              <a:spLocks noChangeArrowheads="1"/>
            </p:cNvSpPr>
            <p:nvPr/>
          </p:nvSpPr>
          <p:spPr bwMode="auto">
            <a:xfrm>
              <a:off x="2930" y="2855"/>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2" name="Oval 61"/>
            <p:cNvSpPr>
              <a:spLocks noChangeArrowheads="1"/>
            </p:cNvSpPr>
            <p:nvPr/>
          </p:nvSpPr>
          <p:spPr bwMode="auto">
            <a:xfrm>
              <a:off x="3018" y="3008"/>
              <a:ext cx="571" cy="22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3" name="Oval 62"/>
            <p:cNvSpPr>
              <a:spLocks noChangeArrowheads="1"/>
            </p:cNvSpPr>
            <p:nvPr/>
          </p:nvSpPr>
          <p:spPr bwMode="auto">
            <a:xfrm>
              <a:off x="2963" y="3059"/>
              <a:ext cx="571"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sp>
          <p:nvSpPr>
            <p:cNvPr id="244" name="Oval 63"/>
            <p:cNvSpPr>
              <a:spLocks noChangeArrowheads="1"/>
            </p:cNvSpPr>
            <p:nvPr/>
          </p:nvSpPr>
          <p:spPr bwMode="auto">
            <a:xfrm>
              <a:off x="2106" y="2943"/>
              <a:ext cx="1175" cy="379"/>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400" b="1">
                <a:solidFill>
                  <a:srgbClr val="0000CC"/>
                </a:solidFill>
                <a:latin typeface="微软雅黑" pitchFamily="34" charset="-122"/>
                <a:ea typeface="微软雅黑" pitchFamily="34" charset="-122"/>
              </a:endParaRPr>
            </a:p>
          </p:txBody>
        </p:sp>
      </p:grpSp>
      <p:sp>
        <p:nvSpPr>
          <p:cNvPr id="142" name="Rectangle 159"/>
          <p:cNvSpPr>
            <a:spLocks noChangeArrowheads="1"/>
          </p:cNvSpPr>
          <p:nvPr/>
        </p:nvSpPr>
        <p:spPr bwMode="auto">
          <a:xfrm>
            <a:off x="5710875" y="320356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sp>
        <p:nvSpPr>
          <p:cNvPr id="144" name="Rectangle 161"/>
          <p:cNvSpPr>
            <a:spLocks noChangeArrowheads="1"/>
          </p:cNvSpPr>
          <p:nvPr/>
        </p:nvSpPr>
        <p:spPr bwMode="auto">
          <a:xfrm>
            <a:off x="4212958" y="3209179"/>
            <a:ext cx="587278"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WAN</a:t>
            </a:r>
          </a:p>
        </p:txBody>
      </p:sp>
      <p:sp>
        <p:nvSpPr>
          <p:cNvPr id="158" name="Rectangle 160"/>
          <p:cNvSpPr>
            <a:spLocks noChangeArrowheads="1"/>
          </p:cNvSpPr>
          <p:nvPr/>
        </p:nvSpPr>
        <p:spPr bwMode="auto">
          <a:xfrm>
            <a:off x="2732116" y="3209992"/>
            <a:ext cx="579327"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LAN</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sp>
        <p:nvSpPr>
          <p:cNvPr id="254" name="Rectangle 10"/>
          <p:cNvSpPr>
            <a:spLocks noChangeArrowheads="1"/>
          </p:cNvSpPr>
          <p:nvPr/>
        </p:nvSpPr>
        <p:spPr bwMode="auto">
          <a:xfrm>
            <a:off x="7281090" y="148885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35" name="组合 34"/>
          <p:cNvGrpSpPr/>
          <p:nvPr/>
        </p:nvGrpSpPr>
        <p:grpSpPr>
          <a:xfrm>
            <a:off x="811003" y="1422817"/>
            <a:ext cx="1501964" cy="534806"/>
            <a:chOff x="811003" y="1423671"/>
            <a:chExt cx="1501964" cy="534806"/>
          </a:xfrm>
        </p:grpSpPr>
        <p:sp>
          <p:nvSpPr>
            <p:cNvPr id="5" name="椭圆 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30" name="直接连接符 29"/>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256" name="组合 255"/>
          <p:cNvGrpSpPr/>
          <p:nvPr/>
        </p:nvGrpSpPr>
        <p:grpSpPr>
          <a:xfrm>
            <a:off x="6744719" y="1393409"/>
            <a:ext cx="1824734" cy="564324"/>
            <a:chOff x="-297165" y="1333193"/>
            <a:chExt cx="1824734" cy="564324"/>
          </a:xfrm>
        </p:grpSpPr>
        <p:sp>
          <p:nvSpPr>
            <p:cNvPr id="257" name="椭圆 256"/>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8" name="Rectangle 98"/>
            <p:cNvSpPr>
              <a:spLocks noChangeArrowheads="1"/>
            </p:cNvSpPr>
            <p:nvPr/>
          </p:nvSpPr>
          <p:spPr bwMode="auto">
            <a:xfrm>
              <a:off x="626680" y="1333193"/>
              <a:ext cx="900889" cy="520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a:p>
              <a:r>
                <a:rPr lang="zh-CN" altLang="en-US" sz="1400" b="1" dirty="0">
                  <a:solidFill>
                    <a:srgbClr val="C00000"/>
                  </a:solidFill>
                  <a:latin typeface="微软雅黑" panose="020B0503020204020204" pitchFamily="34" charset="-122"/>
                  <a:ea typeface="微软雅黑" panose="020B0503020204020204" pitchFamily="34" charset="-122"/>
                </a:rPr>
                <a:t>差错检测</a:t>
              </a:r>
            </a:p>
          </p:txBody>
        </p:sp>
        <p:cxnSp>
          <p:nvCxnSpPr>
            <p:cNvPr id="259" name="直接连接符 258"/>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42" name="组合 41"/>
          <p:cNvGrpSpPr/>
          <p:nvPr/>
        </p:nvGrpSpPr>
        <p:grpSpPr>
          <a:xfrm>
            <a:off x="1814331" y="1510398"/>
            <a:ext cx="5408594" cy="1293671"/>
            <a:chOff x="1804171" y="1511252"/>
            <a:chExt cx="5408594" cy="1293671"/>
          </a:xfrm>
        </p:grpSpPr>
        <p:sp>
          <p:nvSpPr>
            <p:cNvPr id="182"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3"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4"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5"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6"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2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7"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8"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9"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80"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81"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4" name="内容占位符 3">
            <a:extLst>
              <a:ext uri="{FF2B5EF4-FFF2-40B4-BE49-F238E27FC236}">
                <a16:creationId xmlns:a16="http://schemas.microsoft.com/office/drawing/2014/main" id="{19E1762B-4A08-0807-E9F8-6CAEA7DD9DBE}"/>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BFB466A8-7F77-4530-8771-4A5A058473E3}"/>
              </a:ext>
            </a:extLst>
          </p:cNvPr>
          <p:cNvSpPr>
            <a:spLocks noGrp="1"/>
          </p:cNvSpPr>
          <p:nvPr>
            <p:ph type="title"/>
          </p:nvPr>
        </p:nvSpPr>
        <p:spPr>
          <a:xfrm>
            <a:off x="2808000" y="144000"/>
            <a:ext cx="3528000" cy="338554"/>
          </a:xfrm>
        </p:spPr>
        <p:txBody>
          <a:bodyPr/>
          <a:lstStyle/>
          <a:p>
            <a:r>
              <a:rPr lang="zh-CN" altLang="en-US" dirty="0"/>
              <a:t>运输层的作用</a:t>
            </a:r>
          </a:p>
        </p:txBody>
      </p:sp>
    </p:spTree>
    <p:extLst>
      <p:ext uri="{BB962C8B-B14F-4D97-AF65-F5344CB8AC3E}">
        <p14:creationId xmlns:p14="http://schemas.microsoft.com/office/powerpoint/2010/main" val="5793089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fade">
                                      <p:cBhvr>
                                        <p:cTn id="7" dur="500"/>
                                        <p:tgtEl>
                                          <p:spTgt spid="35"/>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35"/>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56"/>
                                        </p:tgtEl>
                                        <p:attrNameLst>
                                          <p:attrName>style.visibility</p:attrName>
                                        </p:attrNameLst>
                                      </p:cBhvr>
                                      <p:to>
                                        <p:strVal val="visible"/>
                                      </p:to>
                                    </p:set>
                                    <p:animEffect transition="in" filter="fade">
                                      <p:cBhvr>
                                        <p:cTn id="15" dur="500"/>
                                        <p:tgtEl>
                                          <p:spTgt spid="256"/>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2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14">
            <a:extLst>
              <a:ext uri="{FF2B5EF4-FFF2-40B4-BE49-F238E27FC236}">
                <a16:creationId xmlns:a16="http://schemas.microsoft.com/office/drawing/2014/main" id="{B9FCC675-A9AB-DA58-BD89-65EC3C617D09}"/>
              </a:ext>
            </a:extLst>
          </p:cNvPr>
          <p:cNvSpPr>
            <a:spLocks noGrp="1"/>
          </p:cNvSpPr>
          <p:nvPr>
            <p:ph sz="quarter" idx="11"/>
          </p:nvPr>
        </p:nvSpPr>
        <p:spPr>
          <a:xfrm>
            <a:off x="486000" y="482554"/>
            <a:ext cx="8172000" cy="4120946"/>
          </a:xfrm>
        </p:spPr>
        <p:txBody>
          <a:bodyPr/>
          <a:lstStyle/>
          <a:p>
            <a:r>
              <a:rPr lang="zh-CN" altLang="en-US" dirty="0"/>
              <a:t>运输层向高层用户屏蔽了下面网络核心的细节（如网络拓扑、所采用的路由选择协议等）</a:t>
            </a:r>
            <a:endParaRPr lang="en-US" altLang="zh-CN" dirty="0"/>
          </a:p>
          <a:p>
            <a:r>
              <a:rPr lang="zh-CN" altLang="en-US" dirty="0"/>
              <a:t>使应用进程看见的就是好像在两个运输层实体之间有一条端到端的逻辑通信信道。</a:t>
            </a:r>
          </a:p>
          <a:p>
            <a:endParaRPr lang="zh-CN" altLang="en-US" dirty="0"/>
          </a:p>
          <a:p>
            <a:endParaRPr lang="zh-CN" altLang="en-US" dirty="0"/>
          </a:p>
        </p:txBody>
      </p:sp>
      <p:sp>
        <p:nvSpPr>
          <p:cNvPr id="2" name="标题 1">
            <a:extLst>
              <a:ext uri="{FF2B5EF4-FFF2-40B4-BE49-F238E27FC236}">
                <a16:creationId xmlns:a16="http://schemas.microsoft.com/office/drawing/2014/main" id="{B9DD5110-F45E-11A6-5474-ABD35472A6BC}"/>
              </a:ext>
            </a:extLst>
          </p:cNvPr>
          <p:cNvSpPr>
            <a:spLocks noGrp="1"/>
          </p:cNvSpPr>
          <p:nvPr>
            <p:ph type="title"/>
          </p:nvPr>
        </p:nvSpPr>
        <p:spPr>
          <a:xfrm>
            <a:off x="2808000" y="144000"/>
            <a:ext cx="3528000" cy="338554"/>
          </a:xfrm>
        </p:spPr>
        <p:txBody>
          <a:bodyPr/>
          <a:lstStyle/>
          <a:p>
            <a:r>
              <a:rPr lang="zh-CN" altLang="en-US" dirty="0"/>
              <a:t>屏蔽作用</a:t>
            </a:r>
          </a:p>
        </p:txBody>
      </p:sp>
      <p:graphicFrame>
        <p:nvGraphicFramePr>
          <p:cNvPr id="23" name="Object 4"/>
          <p:cNvGraphicFramePr>
            <a:graphicFrameLocks noChangeAspect="1"/>
          </p:cNvGraphicFramePr>
          <p:nvPr>
            <p:extLst>
              <p:ext uri="{D42A27DB-BD31-4B8C-83A1-F6EECF244321}">
                <p14:modId xmlns:p14="http://schemas.microsoft.com/office/powerpoint/2010/main" val="2291806294"/>
              </p:ext>
            </p:extLst>
          </p:nvPr>
        </p:nvGraphicFramePr>
        <p:xfrm>
          <a:off x="3088468" y="2777002"/>
          <a:ext cx="2873677" cy="1338231"/>
        </p:xfrm>
        <a:graphic>
          <a:graphicData uri="http://schemas.openxmlformats.org/presentationml/2006/ole">
            <mc:AlternateContent xmlns:mc="http://schemas.openxmlformats.org/markup-compatibility/2006">
              <mc:Choice xmlns:v="urn:schemas-microsoft-com:vml" Requires="v">
                <p:oleObj name="Visio" r:id="rId2" imgW="1689885" imgH="964337" progId="">
                  <p:embed/>
                </p:oleObj>
              </mc:Choice>
              <mc:Fallback>
                <p:oleObj name="Visio" r:id="rId2" imgW="1689885" imgH="964337" progId="">
                  <p:embed/>
                  <p:pic>
                    <p:nvPicPr>
                      <p:cNvPr id="0" name="Picture 2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468" y="2777002"/>
                        <a:ext cx="2873677" cy="133823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4" name="Text Box 6"/>
          <p:cNvSpPr txBox="1">
            <a:spLocks noChangeArrowheads="1"/>
          </p:cNvSpPr>
          <p:nvPr/>
        </p:nvSpPr>
        <p:spPr bwMode="auto">
          <a:xfrm>
            <a:off x="4081577" y="3427155"/>
            <a:ext cx="800591" cy="3380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600" dirty="0">
                <a:latin typeface="微软雅黑" pitchFamily="34" charset="-122"/>
                <a:ea typeface="微软雅黑" pitchFamily="34" charset="-122"/>
              </a:rPr>
              <a:t>互联网</a:t>
            </a:r>
            <a:endParaRPr lang="en-US" altLang="zh-CN" sz="1600" dirty="0">
              <a:latin typeface="微软雅黑" pitchFamily="34" charset="-122"/>
              <a:ea typeface="微软雅黑" pitchFamily="34" charset="-122"/>
            </a:endParaRPr>
          </a:p>
        </p:txBody>
      </p:sp>
      <p:sp>
        <p:nvSpPr>
          <p:cNvPr id="25" name="Oval 8"/>
          <p:cNvSpPr>
            <a:spLocks noChangeArrowheads="1"/>
          </p:cNvSpPr>
          <p:nvPr/>
        </p:nvSpPr>
        <p:spPr bwMode="auto">
          <a:xfrm>
            <a:off x="2083620" y="2431338"/>
            <a:ext cx="1099933" cy="556964"/>
          </a:xfrm>
          <a:prstGeom prst="ellipse">
            <a:avLst/>
          </a:prstGeom>
          <a:noFill/>
          <a:ln w="9525">
            <a:solidFill>
              <a:schemeClr val="tx1"/>
            </a:solidFill>
            <a:miter lim="800000"/>
            <a:headEnd/>
            <a:tailEnd/>
          </a:ln>
          <a:effectLst/>
        </p:spPr>
        <p:txBody>
          <a:bodyPr wrap="none" anchor="ctr"/>
          <a:lstStyle/>
          <a:p>
            <a:pPr algn="ctr"/>
            <a:r>
              <a:rPr lang="zh-CN" altLang="en-US" sz="1200" dirty="0">
                <a:latin typeface="微软雅黑" pitchFamily="34" charset="-122"/>
                <a:ea typeface="微软雅黑" pitchFamily="34" charset="-122"/>
              </a:rPr>
              <a:t>应用进程</a:t>
            </a:r>
            <a:r>
              <a:rPr lang="en-US" altLang="zh-CN" sz="1200" dirty="0">
                <a:latin typeface="微软雅黑" pitchFamily="34" charset="-122"/>
                <a:ea typeface="微软雅黑" pitchFamily="34" charset="-122"/>
              </a:rPr>
              <a:t>AP</a:t>
            </a:r>
          </a:p>
        </p:txBody>
      </p:sp>
      <p:sp>
        <p:nvSpPr>
          <p:cNvPr id="26" name="Oval 9"/>
          <p:cNvSpPr>
            <a:spLocks noChangeArrowheads="1"/>
          </p:cNvSpPr>
          <p:nvPr/>
        </p:nvSpPr>
        <p:spPr bwMode="auto">
          <a:xfrm>
            <a:off x="6112402" y="2453010"/>
            <a:ext cx="1079977" cy="556964"/>
          </a:xfrm>
          <a:prstGeom prst="ellipse">
            <a:avLst/>
          </a:prstGeom>
          <a:noFill/>
          <a:ln w="9525">
            <a:solidFill>
              <a:schemeClr val="tx1"/>
            </a:solidFill>
            <a:miter lim="800000"/>
            <a:headEnd/>
            <a:tailEnd/>
          </a:ln>
          <a:effectLst/>
        </p:spPr>
        <p:txBody>
          <a:bodyPr wrap="none" anchor="ctr"/>
          <a:lstStyle/>
          <a:p>
            <a:pPr algn="ctr"/>
            <a:r>
              <a:rPr lang="zh-CN" altLang="en-US" sz="1200" dirty="0">
                <a:latin typeface="微软雅黑" pitchFamily="34" charset="-122"/>
                <a:ea typeface="微软雅黑" pitchFamily="34" charset="-122"/>
              </a:rPr>
              <a:t>应用进程</a:t>
            </a:r>
            <a:r>
              <a:rPr lang="en-US" altLang="zh-CN" sz="1200" dirty="0">
                <a:latin typeface="微软雅黑" pitchFamily="34" charset="-122"/>
                <a:ea typeface="微软雅黑" pitchFamily="34" charset="-122"/>
              </a:rPr>
              <a:t>AP</a:t>
            </a:r>
          </a:p>
        </p:txBody>
      </p:sp>
      <p:sp>
        <p:nvSpPr>
          <p:cNvPr id="27" name="Freeform 10"/>
          <p:cNvSpPr>
            <a:spLocks/>
          </p:cNvSpPr>
          <p:nvPr/>
        </p:nvSpPr>
        <p:spPr bwMode="auto">
          <a:xfrm>
            <a:off x="2967557" y="2881027"/>
            <a:ext cx="3217626" cy="536376"/>
          </a:xfrm>
          <a:custGeom>
            <a:avLst/>
            <a:gdLst>
              <a:gd name="T0" fmla="*/ 0 w 2928"/>
              <a:gd name="T1" fmla="*/ 48 h 429"/>
              <a:gd name="T2" fmla="*/ 748 w 2928"/>
              <a:gd name="T3" fmla="*/ 381 h 429"/>
              <a:gd name="T4" fmla="*/ 2208 w 2928"/>
              <a:gd name="T5" fmla="*/ 336 h 429"/>
              <a:gd name="T6" fmla="*/ 2928 w 2928"/>
              <a:gd name="T7" fmla="*/ 0 h 42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28" h="429">
                <a:moveTo>
                  <a:pt x="0" y="48"/>
                </a:moveTo>
                <a:cubicBezTo>
                  <a:pt x="125" y="103"/>
                  <a:pt x="380" y="333"/>
                  <a:pt x="748" y="381"/>
                </a:cubicBezTo>
                <a:cubicBezTo>
                  <a:pt x="1116" y="429"/>
                  <a:pt x="1845" y="399"/>
                  <a:pt x="2208" y="336"/>
                </a:cubicBezTo>
                <a:cubicBezTo>
                  <a:pt x="2571" y="273"/>
                  <a:pt x="2808" y="56"/>
                  <a:pt x="2928" y="0"/>
                </a:cubicBezTo>
              </a:path>
            </a:pathLst>
          </a:custGeom>
          <a:noFill/>
          <a:ln w="12700" cap="flat" cmpd="sng">
            <a:solidFill>
              <a:srgbClr val="0000FF"/>
            </a:solidFill>
            <a:prstDash val="solid"/>
            <a:miter lim="800000"/>
            <a:headEnd type="triangl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600">
              <a:solidFill>
                <a:srgbClr val="0000FF"/>
              </a:solidFill>
              <a:latin typeface="微软雅黑" pitchFamily="34" charset="-122"/>
              <a:ea typeface="微软雅黑" pitchFamily="34" charset="-122"/>
            </a:endParaRPr>
          </a:p>
        </p:txBody>
      </p:sp>
      <p:sp>
        <p:nvSpPr>
          <p:cNvPr id="28" name="Text Box 11"/>
          <p:cNvSpPr txBox="1">
            <a:spLocks noChangeArrowheads="1"/>
          </p:cNvSpPr>
          <p:nvPr/>
        </p:nvSpPr>
        <p:spPr bwMode="auto">
          <a:xfrm>
            <a:off x="3971308" y="3054401"/>
            <a:ext cx="11079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200" b="0" dirty="0">
                <a:latin typeface="微软雅黑" pitchFamily="34" charset="-122"/>
                <a:ea typeface="微软雅黑" pitchFamily="34" charset="-122"/>
              </a:rPr>
              <a:t>逻辑通信信道</a:t>
            </a:r>
          </a:p>
        </p:txBody>
      </p:sp>
    </p:spTree>
    <p:extLst>
      <p:ext uri="{BB962C8B-B14F-4D97-AF65-F5344CB8AC3E}">
        <p14:creationId xmlns:p14="http://schemas.microsoft.com/office/powerpoint/2010/main" val="15812176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5"/>
          <p:cNvSpPr>
            <a:spLocks noChangeArrowheads="1"/>
          </p:cNvSpPr>
          <p:nvPr/>
        </p:nvSpPr>
        <p:spPr bwMode="auto">
          <a:xfrm>
            <a:off x="1417231" y="2460055"/>
            <a:ext cx="3153585" cy="1531809"/>
          </a:xfrm>
          <a:prstGeom prst="rect">
            <a:avLst/>
          </a:prstGeom>
          <a:no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 name="Line 8"/>
          <p:cNvSpPr>
            <a:spLocks noChangeShapeType="1"/>
          </p:cNvSpPr>
          <p:nvPr/>
        </p:nvSpPr>
        <p:spPr bwMode="auto">
          <a:xfrm>
            <a:off x="1426904" y="2471876"/>
            <a:ext cx="3143912"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 name="Text Box 9"/>
          <p:cNvSpPr txBox="1">
            <a:spLocks noChangeArrowheads="1"/>
          </p:cNvSpPr>
          <p:nvPr/>
        </p:nvSpPr>
        <p:spPr bwMode="auto">
          <a:xfrm>
            <a:off x="1417231" y="1683996"/>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应</a:t>
            </a:r>
          </a:p>
          <a:p>
            <a:pPr algn="l" eaLnBrk="1" hangingPunct="1"/>
            <a:r>
              <a:rPr lang="zh-CN" altLang="en-US" sz="1400" dirty="0">
                <a:latin typeface="微软雅黑" pitchFamily="34" charset="-122"/>
                <a:ea typeface="微软雅黑" pitchFamily="34" charset="-122"/>
              </a:rPr>
              <a:t>用</a:t>
            </a:r>
          </a:p>
          <a:p>
            <a:pPr algn="l" eaLnBrk="1" hangingPunct="1"/>
            <a:r>
              <a:rPr lang="zh-CN" altLang="en-US" sz="1400" dirty="0">
                <a:latin typeface="微软雅黑" pitchFamily="34" charset="-122"/>
                <a:ea typeface="微软雅黑" pitchFamily="34" charset="-122"/>
              </a:rPr>
              <a:t>层</a:t>
            </a:r>
          </a:p>
        </p:txBody>
      </p:sp>
      <p:sp>
        <p:nvSpPr>
          <p:cNvPr id="22" name="Text Box 10"/>
          <p:cNvSpPr txBox="1">
            <a:spLocks noChangeArrowheads="1"/>
          </p:cNvSpPr>
          <p:nvPr/>
        </p:nvSpPr>
        <p:spPr bwMode="auto">
          <a:xfrm>
            <a:off x="1426903" y="2874897"/>
            <a:ext cx="36420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3333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运</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输</a:t>
            </a:r>
          </a:p>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层</a:t>
            </a:r>
          </a:p>
        </p:txBody>
      </p:sp>
      <p:sp>
        <p:nvSpPr>
          <p:cNvPr id="28" name="AutoShape 14"/>
          <p:cNvSpPr>
            <a:spLocks noChangeArrowheads="1"/>
          </p:cNvSpPr>
          <p:nvPr/>
        </p:nvSpPr>
        <p:spPr bwMode="auto">
          <a:xfrm rot="16200000">
            <a:off x="2838266" y="2376810"/>
            <a:ext cx="303071" cy="1458297"/>
          </a:xfrm>
          <a:prstGeom prst="can">
            <a:avLst>
              <a:gd name="adj" fmla="val 52844"/>
            </a:avLst>
          </a:prstGeom>
          <a:gradFill flip="none" rotWithShape="1">
            <a:gsLst>
              <a:gs pos="0">
                <a:srgbClr val="009900">
                  <a:shade val="30000"/>
                  <a:satMod val="115000"/>
                </a:srgbClr>
              </a:gs>
              <a:gs pos="50000">
                <a:srgbClr val="009900">
                  <a:shade val="67500"/>
                  <a:satMod val="115000"/>
                </a:srgbClr>
              </a:gs>
              <a:gs pos="100000">
                <a:srgbClr val="009900">
                  <a:shade val="100000"/>
                  <a:satMod val="115000"/>
                </a:srgbClr>
              </a:gs>
            </a:gsLst>
            <a:lin ang="0" scaled="1"/>
            <a:tileRect/>
          </a:gra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rgbClr val="0000CC"/>
              </a:solidFill>
              <a:effectLst/>
              <a:uLnTx/>
              <a:uFillTx/>
              <a:latin typeface="微软雅黑" pitchFamily="34" charset="-122"/>
              <a:ea typeface="微软雅黑" pitchFamily="34" charset="-122"/>
            </a:endParaRPr>
          </a:p>
        </p:txBody>
      </p:sp>
      <p:sp>
        <p:nvSpPr>
          <p:cNvPr id="29" name="Text Box 20"/>
          <p:cNvSpPr txBox="1">
            <a:spLocks noChangeArrowheads="1"/>
          </p:cNvSpPr>
          <p:nvPr/>
        </p:nvSpPr>
        <p:spPr bwMode="auto">
          <a:xfrm>
            <a:off x="2368012" y="2964931"/>
            <a:ext cx="1351652"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全双工可靠信道</a:t>
            </a:r>
          </a:p>
        </p:txBody>
      </p:sp>
      <p:sp>
        <p:nvSpPr>
          <p:cNvPr id="35" name="Text Box 27"/>
          <p:cNvSpPr txBox="1">
            <a:spLocks noChangeArrowheads="1"/>
          </p:cNvSpPr>
          <p:nvPr/>
        </p:nvSpPr>
        <p:spPr bwMode="auto">
          <a:xfrm>
            <a:off x="2087434" y="3329338"/>
            <a:ext cx="1966406"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面向连接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TCP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7" name="Line 29"/>
          <p:cNvSpPr>
            <a:spLocks noChangeShapeType="1"/>
          </p:cNvSpPr>
          <p:nvPr/>
        </p:nvSpPr>
        <p:spPr bwMode="auto">
          <a:xfrm>
            <a:off x="2002215"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8" name="Line 30"/>
          <p:cNvSpPr>
            <a:spLocks noChangeShapeType="1"/>
          </p:cNvSpPr>
          <p:nvPr/>
        </p:nvSpPr>
        <p:spPr bwMode="auto">
          <a:xfrm flipV="1">
            <a:off x="399694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Text Box 13"/>
          <p:cNvSpPr txBox="1">
            <a:spLocks noChangeArrowheads="1"/>
          </p:cNvSpPr>
          <p:nvPr/>
        </p:nvSpPr>
        <p:spPr bwMode="auto">
          <a:xfrm>
            <a:off x="3445541" y="132046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sp>
        <p:nvSpPr>
          <p:cNvPr id="65" name="Text Box 59"/>
          <p:cNvSpPr txBox="1">
            <a:spLocks noChangeArrowheads="1"/>
          </p:cNvSpPr>
          <p:nvPr/>
        </p:nvSpPr>
        <p:spPr bwMode="auto">
          <a:xfrm>
            <a:off x="1714408" y="134051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6" name="Rectangle 24"/>
          <p:cNvSpPr>
            <a:spLocks noChangeArrowheads="1"/>
          </p:cNvSpPr>
          <p:nvPr/>
        </p:nvSpPr>
        <p:spPr bwMode="auto">
          <a:xfrm>
            <a:off x="2203989"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67" name="Rectangle 24"/>
          <p:cNvSpPr>
            <a:spLocks noChangeArrowheads="1"/>
          </p:cNvSpPr>
          <p:nvPr/>
        </p:nvSpPr>
        <p:spPr bwMode="auto">
          <a:xfrm>
            <a:off x="3972698"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grpSp>
        <p:nvGrpSpPr>
          <p:cNvPr id="24" name="Group 15"/>
          <p:cNvGrpSpPr>
            <a:grpSpLocks/>
          </p:cNvGrpSpPr>
          <p:nvPr/>
        </p:nvGrpSpPr>
        <p:grpSpPr bwMode="auto">
          <a:xfrm>
            <a:off x="2138234" y="1612957"/>
            <a:ext cx="1755539" cy="1493005"/>
            <a:chOff x="865" y="1467"/>
            <a:chExt cx="1348" cy="931"/>
          </a:xfrm>
        </p:grpSpPr>
        <p:sp>
          <p:nvSpPr>
            <p:cNvPr id="26" name="Freeform 17"/>
            <p:cNvSpPr>
              <a:spLocks/>
            </p:cNvSpPr>
            <p:nvPr/>
          </p:nvSpPr>
          <p:spPr bwMode="auto">
            <a:xfrm flipH="1">
              <a:off x="2072" y="1467"/>
              <a:ext cx="14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 name="Freeform 16"/>
            <p:cNvSpPr>
              <a:spLocks/>
            </p:cNvSpPr>
            <p:nvPr/>
          </p:nvSpPr>
          <p:spPr bwMode="auto">
            <a:xfrm>
              <a:off x="865" y="1474"/>
              <a:ext cx="201"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9" name="Rectangle 5"/>
          <p:cNvSpPr>
            <a:spLocks noChangeArrowheads="1"/>
          </p:cNvSpPr>
          <p:nvPr/>
        </p:nvSpPr>
        <p:spPr bwMode="auto">
          <a:xfrm>
            <a:off x="4768209" y="2460055"/>
            <a:ext cx="3153585" cy="1531809"/>
          </a:xfrm>
          <a:prstGeom prst="rect">
            <a:avLst/>
          </a:prstGeom>
          <a:noFill/>
          <a:ln>
            <a:solidFill>
              <a:schemeClr val="tx1"/>
            </a:solidFill>
            <a:prstDash val="dash"/>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 name="AutoShape 6"/>
          <p:cNvSpPr>
            <a:spLocks noChangeArrowheads="1"/>
          </p:cNvSpPr>
          <p:nvPr/>
        </p:nvSpPr>
        <p:spPr bwMode="auto">
          <a:xfrm>
            <a:off x="7156237" y="1190339"/>
            <a:ext cx="500820" cy="458906"/>
          </a:xfrm>
          <a:prstGeom prst="cloudCallout">
            <a:avLst>
              <a:gd name="adj1" fmla="val -45565"/>
              <a:gd name="adj2" fmla="val 111593"/>
            </a:avLst>
          </a:prstGeom>
          <a:solidFill>
            <a:srgbClr val="FFFF66"/>
          </a:solidFill>
          <a:ln w="9525">
            <a:solidFill>
              <a:srgbClr val="000000"/>
            </a:solidFill>
            <a:round/>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zh-CN"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 name="Text Box 7"/>
          <p:cNvSpPr txBox="1">
            <a:spLocks noChangeArrowheads="1"/>
          </p:cNvSpPr>
          <p:nvPr/>
        </p:nvSpPr>
        <p:spPr bwMode="auto">
          <a:xfrm>
            <a:off x="7223944" y="1238227"/>
            <a:ext cx="2633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8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p>
        </p:txBody>
      </p:sp>
      <p:sp>
        <p:nvSpPr>
          <p:cNvPr id="23" name="Text Box 13"/>
          <p:cNvSpPr txBox="1">
            <a:spLocks noChangeArrowheads="1"/>
          </p:cNvSpPr>
          <p:nvPr/>
        </p:nvSpPr>
        <p:spPr bwMode="auto">
          <a:xfrm>
            <a:off x="6208954" y="1300415"/>
            <a:ext cx="10093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接收进程</a:t>
            </a:r>
          </a:p>
        </p:txBody>
      </p:sp>
      <p:grpSp>
        <p:nvGrpSpPr>
          <p:cNvPr id="30" name="Group 21"/>
          <p:cNvGrpSpPr>
            <a:grpSpLocks/>
          </p:cNvGrpSpPr>
          <p:nvPr/>
        </p:nvGrpSpPr>
        <p:grpSpPr bwMode="auto">
          <a:xfrm>
            <a:off x="5285535" y="1601646"/>
            <a:ext cx="1449798" cy="1504317"/>
            <a:chOff x="3508" y="1467"/>
            <a:chExt cx="1349" cy="931"/>
          </a:xfrm>
        </p:grpSpPr>
        <p:sp>
          <p:nvSpPr>
            <p:cNvPr id="31" name="Freeform 22"/>
            <p:cNvSpPr>
              <a:spLocks/>
            </p:cNvSpPr>
            <p:nvPr/>
          </p:nvSpPr>
          <p:spPr bwMode="auto">
            <a:xfrm>
              <a:off x="3508" y="1474"/>
              <a:ext cx="189" cy="924"/>
            </a:xfrm>
            <a:custGeom>
              <a:avLst/>
              <a:gdLst>
                <a:gd name="T0" fmla="*/ 0 w 144"/>
                <a:gd name="T1" fmla="*/ 0 h 768"/>
                <a:gd name="T2" fmla="*/ 0 w 144"/>
                <a:gd name="T3" fmla="*/ 924 h 768"/>
                <a:gd name="T4" fmla="*/ 189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 name="Freeform 23"/>
            <p:cNvSpPr>
              <a:spLocks/>
            </p:cNvSpPr>
            <p:nvPr/>
          </p:nvSpPr>
          <p:spPr bwMode="auto">
            <a:xfrm flipH="1">
              <a:off x="4669" y="1467"/>
              <a:ext cx="188" cy="924"/>
            </a:xfrm>
            <a:custGeom>
              <a:avLst/>
              <a:gdLst>
                <a:gd name="T0" fmla="*/ 0 w 144"/>
                <a:gd name="T1" fmla="*/ 0 h 768"/>
                <a:gd name="T2" fmla="*/ 0 w 144"/>
                <a:gd name="T3" fmla="*/ 924 h 768"/>
                <a:gd name="T4" fmla="*/ 188 w 144"/>
                <a:gd name="T5" fmla="*/ 924 h 768"/>
                <a:gd name="T6" fmla="*/ 0 60000 65536"/>
                <a:gd name="T7" fmla="*/ 0 60000 65536"/>
                <a:gd name="T8" fmla="*/ 0 60000 65536"/>
              </a:gdLst>
              <a:ahLst/>
              <a:cxnLst>
                <a:cxn ang="T6">
                  <a:pos x="T0" y="T1"/>
                </a:cxn>
                <a:cxn ang="T7">
                  <a:pos x="T2" y="T3"/>
                </a:cxn>
                <a:cxn ang="T8">
                  <a:pos x="T4" y="T5"/>
                </a:cxn>
              </a:cxnLst>
              <a:rect l="0" t="0" r="r" b="b"/>
              <a:pathLst>
                <a:path w="144" h="768">
                  <a:moveTo>
                    <a:pt x="0" y="0"/>
                  </a:moveTo>
                  <a:lnTo>
                    <a:pt x="0" y="768"/>
                  </a:lnTo>
                  <a:lnTo>
                    <a:pt x="144" y="768"/>
                  </a:lnTo>
                </a:path>
              </a:pathLst>
            </a:custGeom>
            <a:noFill/>
            <a:ln w="38100" cmpd="sng">
              <a:solidFill>
                <a:srgbClr val="0000FF"/>
              </a:solidFill>
              <a:round/>
              <a:headEnd type="triangle" w="sm"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33" name="Rectangle 24"/>
          <p:cNvSpPr>
            <a:spLocks noChangeArrowheads="1"/>
          </p:cNvSpPr>
          <p:nvPr/>
        </p:nvSpPr>
        <p:spPr bwMode="auto">
          <a:xfrm>
            <a:off x="5365870" y="1759203"/>
            <a:ext cx="271954" cy="633732"/>
          </a:xfrm>
          <a:prstGeom prst="rect">
            <a:avLst/>
          </a:prstGeom>
          <a:solidFill>
            <a:srgbClr val="00FFFF"/>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34" name="Line 26"/>
          <p:cNvSpPr>
            <a:spLocks noChangeShapeType="1"/>
          </p:cNvSpPr>
          <p:nvPr/>
        </p:nvSpPr>
        <p:spPr bwMode="auto">
          <a:xfrm>
            <a:off x="4768209" y="2471877"/>
            <a:ext cx="3153585" cy="0"/>
          </a:xfrm>
          <a:prstGeom prst="line">
            <a:avLst/>
          </a:prstGeom>
          <a:noFill/>
          <a:ln w="38100">
            <a:solidFill>
              <a:srgbClr val="0000FF"/>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6" name="Text Box 28"/>
          <p:cNvSpPr txBox="1">
            <a:spLocks noChangeArrowheads="1"/>
          </p:cNvSpPr>
          <p:nvPr/>
        </p:nvSpPr>
        <p:spPr bwMode="auto">
          <a:xfrm>
            <a:off x="5325356" y="3329338"/>
            <a:ext cx="1773180" cy="605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ts val="2000"/>
              </a:lnSpc>
              <a:spcBef>
                <a:spcPts val="0"/>
              </a:spcBef>
              <a:spcAft>
                <a:spcPts val="0"/>
              </a:spcAft>
              <a:buClrTx/>
              <a:buSzTx/>
              <a:buFontTx/>
              <a:buNone/>
              <a:tabLst/>
              <a:defRPr/>
            </a:pP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使用</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无连接</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的协议，如 </a:t>
            </a:r>
            <a:r>
              <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UDP</a:t>
            </a:r>
            <a:r>
              <a:rPr kumimoji="1" lang="zh-CN" altLang="en-US"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rPr>
              <a:t>。</a:t>
            </a:r>
            <a:endParaRPr kumimoji="1" lang="en-US" altLang="zh-CN" sz="1400" b="1" i="0" u="none" strike="noStrike" kern="0" cap="none" spc="0" normalizeH="0" baseline="0" noProof="0" dirty="0">
              <a:ln>
                <a:noFill/>
              </a:ln>
              <a:solidFill>
                <a:srgbClr val="1C1C1C"/>
              </a:solidFill>
              <a:effectLst/>
              <a:uLnTx/>
              <a:uFillTx/>
              <a:latin typeface="微软雅黑" pitchFamily="34" charset="-122"/>
              <a:ea typeface="微软雅黑" pitchFamily="34" charset="-122"/>
            </a:endParaRPr>
          </a:p>
        </p:txBody>
      </p:sp>
      <p:sp>
        <p:nvSpPr>
          <p:cNvPr id="39" name="Line 31"/>
          <p:cNvSpPr>
            <a:spLocks noChangeShapeType="1"/>
          </p:cNvSpPr>
          <p:nvPr/>
        </p:nvSpPr>
        <p:spPr bwMode="auto">
          <a:xfrm flipV="1">
            <a:off x="6838506"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2"/>
          <p:cNvSpPr>
            <a:spLocks noChangeShapeType="1"/>
          </p:cNvSpPr>
          <p:nvPr/>
        </p:nvSpPr>
        <p:spPr bwMode="auto">
          <a:xfrm>
            <a:off x="5194184" y="2529911"/>
            <a:ext cx="0" cy="34391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nvGrpSpPr>
          <p:cNvPr id="41" name="Group 33"/>
          <p:cNvGrpSpPr>
            <a:grpSpLocks/>
          </p:cNvGrpSpPr>
          <p:nvPr/>
        </p:nvGrpSpPr>
        <p:grpSpPr bwMode="auto">
          <a:xfrm>
            <a:off x="5467145" y="2745366"/>
            <a:ext cx="1158183" cy="607340"/>
            <a:chOff x="1776" y="2768"/>
            <a:chExt cx="1824" cy="736"/>
          </a:xfrm>
          <a:solidFill>
            <a:srgbClr val="0000FF"/>
          </a:solidFill>
        </p:grpSpPr>
        <p:grpSp>
          <p:nvGrpSpPr>
            <p:cNvPr id="42" name="Group 34"/>
            <p:cNvGrpSpPr>
              <a:grpSpLocks/>
            </p:cNvGrpSpPr>
            <p:nvPr/>
          </p:nvGrpSpPr>
          <p:grpSpPr bwMode="auto">
            <a:xfrm>
              <a:off x="1787" y="2783"/>
              <a:ext cx="1813" cy="721"/>
              <a:chOff x="1787" y="2783"/>
              <a:chExt cx="1813" cy="721"/>
            </a:xfrm>
            <a:grpFill/>
          </p:grpSpPr>
          <p:sp>
            <p:nvSpPr>
              <p:cNvPr id="52" name="Oval 35"/>
              <p:cNvSpPr>
                <a:spLocks noChangeArrowheads="1"/>
              </p:cNvSpPr>
              <p:nvPr/>
            </p:nvSpPr>
            <p:spPr bwMode="auto">
              <a:xfrm>
                <a:off x="2413" y="2783"/>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Oval 36"/>
              <p:cNvSpPr>
                <a:spLocks noChangeArrowheads="1"/>
              </p:cNvSpPr>
              <p:nvPr/>
            </p:nvSpPr>
            <p:spPr bwMode="auto">
              <a:xfrm>
                <a:off x="1974" y="2863"/>
                <a:ext cx="593"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Oval 37"/>
              <p:cNvSpPr>
                <a:spLocks noChangeArrowheads="1"/>
              </p:cNvSpPr>
              <p:nvPr/>
            </p:nvSpPr>
            <p:spPr bwMode="auto">
              <a:xfrm>
                <a:off x="1787" y="3045"/>
                <a:ext cx="396" cy="233"/>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Oval 38"/>
              <p:cNvSpPr>
                <a:spLocks noChangeArrowheads="1"/>
              </p:cNvSpPr>
              <p:nvPr/>
            </p:nvSpPr>
            <p:spPr bwMode="auto">
              <a:xfrm>
                <a:off x="1908" y="3154"/>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Oval 39"/>
              <p:cNvSpPr>
                <a:spLocks noChangeArrowheads="1"/>
              </p:cNvSpPr>
              <p:nvPr/>
            </p:nvSpPr>
            <p:spPr bwMode="auto">
              <a:xfrm>
                <a:off x="2347" y="3198"/>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Oval 40"/>
              <p:cNvSpPr>
                <a:spLocks noChangeArrowheads="1"/>
              </p:cNvSpPr>
              <p:nvPr/>
            </p:nvSpPr>
            <p:spPr bwMode="auto">
              <a:xfrm>
                <a:off x="2941" y="2870"/>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Oval 41"/>
              <p:cNvSpPr>
                <a:spLocks noChangeArrowheads="1"/>
              </p:cNvSpPr>
              <p:nvPr/>
            </p:nvSpPr>
            <p:spPr bwMode="auto">
              <a:xfrm>
                <a:off x="3029" y="3023"/>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Oval 42"/>
              <p:cNvSpPr>
                <a:spLocks noChangeArrowheads="1"/>
              </p:cNvSpPr>
              <p:nvPr/>
            </p:nvSpPr>
            <p:spPr bwMode="auto">
              <a:xfrm>
                <a:off x="2974" y="3074"/>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Oval 43"/>
              <p:cNvSpPr>
                <a:spLocks noChangeArrowheads="1"/>
              </p:cNvSpPr>
              <p:nvPr/>
            </p:nvSpPr>
            <p:spPr bwMode="auto">
              <a:xfrm>
                <a:off x="2117" y="2957"/>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43" name="Oval 44"/>
            <p:cNvSpPr>
              <a:spLocks noChangeArrowheads="1"/>
            </p:cNvSpPr>
            <p:nvPr/>
          </p:nvSpPr>
          <p:spPr bwMode="auto">
            <a:xfrm>
              <a:off x="2402" y="2768"/>
              <a:ext cx="780" cy="291"/>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Oval 45"/>
            <p:cNvSpPr>
              <a:spLocks noChangeArrowheads="1"/>
            </p:cNvSpPr>
            <p:nvPr/>
          </p:nvSpPr>
          <p:spPr bwMode="auto">
            <a:xfrm>
              <a:off x="1963" y="2848"/>
              <a:ext cx="593" cy="292"/>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Oval 46"/>
            <p:cNvSpPr>
              <a:spLocks noChangeArrowheads="1"/>
            </p:cNvSpPr>
            <p:nvPr/>
          </p:nvSpPr>
          <p:spPr bwMode="auto">
            <a:xfrm>
              <a:off x="1776" y="3030"/>
              <a:ext cx="396" cy="234"/>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Oval 47"/>
            <p:cNvSpPr>
              <a:spLocks noChangeArrowheads="1"/>
            </p:cNvSpPr>
            <p:nvPr/>
          </p:nvSpPr>
          <p:spPr bwMode="auto">
            <a:xfrm>
              <a:off x="1897" y="3140"/>
              <a:ext cx="604" cy="255"/>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Oval 48"/>
            <p:cNvSpPr>
              <a:spLocks noChangeArrowheads="1"/>
            </p:cNvSpPr>
            <p:nvPr/>
          </p:nvSpPr>
          <p:spPr bwMode="auto">
            <a:xfrm>
              <a:off x="2336" y="3183"/>
              <a:ext cx="912" cy="30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Oval 49"/>
            <p:cNvSpPr>
              <a:spLocks noChangeArrowheads="1"/>
            </p:cNvSpPr>
            <p:nvPr/>
          </p:nvSpPr>
          <p:spPr bwMode="auto">
            <a:xfrm>
              <a:off x="2930" y="2855"/>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Oval 50"/>
            <p:cNvSpPr>
              <a:spLocks noChangeArrowheads="1"/>
            </p:cNvSpPr>
            <p:nvPr/>
          </p:nvSpPr>
          <p:spPr bwMode="auto">
            <a:xfrm>
              <a:off x="3018" y="3008"/>
              <a:ext cx="571" cy="226"/>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Oval 51"/>
            <p:cNvSpPr>
              <a:spLocks noChangeArrowheads="1"/>
            </p:cNvSpPr>
            <p:nvPr/>
          </p:nvSpPr>
          <p:spPr bwMode="auto">
            <a:xfrm>
              <a:off x="2963" y="3059"/>
              <a:ext cx="571"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Oval 52"/>
            <p:cNvSpPr>
              <a:spLocks noChangeArrowheads="1"/>
            </p:cNvSpPr>
            <p:nvPr/>
          </p:nvSpPr>
          <p:spPr bwMode="auto">
            <a:xfrm>
              <a:off x="2106" y="2943"/>
              <a:ext cx="1175" cy="379"/>
            </a:xfrm>
            <a:prstGeom prst="ellipse">
              <a:avLst/>
            </a:prstGeom>
            <a:grpFill/>
            <a:ln>
              <a:noFill/>
            </a:ln>
          </p:spPr>
          <p:style>
            <a:lnRef idx="2">
              <a:schemeClr val="dk1"/>
            </a:lnRef>
            <a:fillRef idx="1">
              <a:schemeClr val="lt1"/>
            </a:fillRef>
            <a:effectRef idx="0">
              <a:schemeClr val="dk1"/>
            </a:effectRef>
            <a:fontRef idx="minor">
              <a:schemeClr val="dk1"/>
            </a:fontRef>
          </p:style>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grpSp>
      <p:sp>
        <p:nvSpPr>
          <p:cNvPr id="61" name="Text Box 53"/>
          <p:cNvSpPr txBox="1">
            <a:spLocks noChangeArrowheads="1"/>
          </p:cNvSpPr>
          <p:nvPr/>
        </p:nvSpPr>
        <p:spPr bwMode="auto">
          <a:xfrm>
            <a:off x="5544390" y="2916811"/>
            <a:ext cx="1018227" cy="292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3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不可靠信道</a:t>
            </a:r>
          </a:p>
        </p:txBody>
      </p:sp>
      <p:sp>
        <p:nvSpPr>
          <p:cNvPr id="62" name="Text Box 59"/>
          <p:cNvSpPr txBox="1">
            <a:spLocks noChangeArrowheads="1"/>
          </p:cNvSpPr>
          <p:nvPr/>
        </p:nvSpPr>
        <p:spPr bwMode="auto">
          <a:xfrm>
            <a:off x="4844895" y="1320465"/>
            <a:ext cx="100323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dirty="0">
                <a:latin typeface="微软雅黑" pitchFamily="34" charset="-122"/>
                <a:ea typeface="微软雅黑" pitchFamily="34" charset="-122"/>
              </a:rPr>
              <a:t>发送进程</a:t>
            </a:r>
          </a:p>
        </p:txBody>
      </p:sp>
      <p:sp>
        <p:nvSpPr>
          <p:cNvPr id="63" name="Rectangle 24"/>
          <p:cNvSpPr>
            <a:spLocks noChangeArrowheads="1"/>
          </p:cNvSpPr>
          <p:nvPr/>
        </p:nvSpPr>
        <p:spPr bwMode="auto">
          <a:xfrm>
            <a:off x="6848867" y="1759203"/>
            <a:ext cx="271954" cy="633732"/>
          </a:xfrm>
          <a:prstGeom prst="rect">
            <a:avLst/>
          </a:prstGeom>
          <a:solidFill>
            <a:srgbClr val="FFFF66"/>
          </a:solidFill>
          <a:ln w="9525">
            <a:solidFill>
              <a:srgbClr val="000000"/>
            </a:solidFill>
            <a:miter lim="800000"/>
            <a:headEnd/>
            <a:tailEnd/>
          </a:ln>
          <a:effectLst/>
        </p:spPr>
        <p:txBody>
          <a:bodyPr vert="wordArtVertRtl"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数据</a:t>
            </a:r>
          </a:p>
        </p:txBody>
      </p:sp>
      <p:sp>
        <p:nvSpPr>
          <p:cNvPr id="4" name="内容占位符 3">
            <a:extLst>
              <a:ext uri="{FF2B5EF4-FFF2-40B4-BE49-F238E27FC236}">
                <a16:creationId xmlns:a16="http://schemas.microsoft.com/office/drawing/2014/main" id="{58FF4757-28B9-6BDF-B096-EE12917BB0F2}"/>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C185B052-0FD9-E32D-EEB1-06F4309B08D0}"/>
              </a:ext>
            </a:extLst>
          </p:cNvPr>
          <p:cNvSpPr>
            <a:spLocks noGrp="1"/>
          </p:cNvSpPr>
          <p:nvPr>
            <p:ph type="title"/>
          </p:nvPr>
        </p:nvSpPr>
        <p:spPr>
          <a:xfrm>
            <a:off x="2808000" y="144000"/>
            <a:ext cx="3528000" cy="338554"/>
          </a:xfrm>
        </p:spPr>
        <p:txBody>
          <a:bodyPr/>
          <a:lstStyle/>
          <a:p>
            <a:r>
              <a:rPr lang="zh-CN" altLang="en-US" dirty="0"/>
              <a:t>可靠信道与不可靠信道</a:t>
            </a:r>
          </a:p>
        </p:txBody>
      </p:sp>
    </p:spTree>
    <p:extLst>
      <p:ext uri="{BB962C8B-B14F-4D97-AF65-F5344CB8AC3E}">
        <p14:creationId xmlns:p14="http://schemas.microsoft.com/office/powerpoint/2010/main" val="31222748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23004693-9170-8259-45E5-BBC292222C13}"/>
              </a:ext>
            </a:extLst>
          </p:cNvPr>
          <p:cNvSpPr>
            <a:spLocks noGrp="1"/>
          </p:cNvSpPr>
          <p:nvPr>
            <p:ph sz="quarter" idx="11"/>
          </p:nvPr>
        </p:nvSpPr>
        <p:spPr>
          <a:xfrm>
            <a:off x="486000" y="482554"/>
            <a:ext cx="8172000" cy="4120946"/>
          </a:xfrm>
        </p:spPr>
        <p:txBody>
          <a:bodyPr/>
          <a:lstStyle/>
          <a:p>
            <a:r>
              <a:rPr lang="zh-CN" altLang="en-US" dirty="0"/>
              <a:t>互联网的正式标准：</a:t>
            </a:r>
            <a:endParaRPr lang="en-US" altLang="zh-CN" dirty="0"/>
          </a:p>
          <a:p>
            <a:pPr lvl="1"/>
            <a:r>
              <a:rPr lang="zh-CN" altLang="en-US" dirty="0"/>
              <a:t>用户数据报协议 </a:t>
            </a:r>
            <a:r>
              <a:rPr lang="en-US" altLang="zh-CN" dirty="0"/>
              <a:t>UDP (User Datagram Protocol)</a:t>
            </a:r>
          </a:p>
          <a:p>
            <a:pPr lvl="1"/>
            <a:r>
              <a:rPr lang="zh-CN" altLang="en-US" dirty="0"/>
              <a:t>传输控制协议 </a:t>
            </a:r>
            <a:r>
              <a:rPr lang="en-US" altLang="zh-CN" dirty="0"/>
              <a:t>TCP (Transmission Control Protocol)</a:t>
            </a:r>
          </a:p>
          <a:p>
            <a:endParaRPr lang="zh-CN" altLang="en-US" dirty="0"/>
          </a:p>
        </p:txBody>
      </p:sp>
      <p:sp>
        <p:nvSpPr>
          <p:cNvPr id="3" name="标题 2">
            <a:extLst>
              <a:ext uri="{FF2B5EF4-FFF2-40B4-BE49-F238E27FC236}">
                <a16:creationId xmlns:a16="http://schemas.microsoft.com/office/drawing/2014/main" id="{ACCA1577-67FD-8BCB-BD0C-AC4689055FC2}"/>
              </a:ext>
            </a:extLst>
          </p:cNvPr>
          <p:cNvSpPr>
            <a:spLocks noGrp="1"/>
          </p:cNvSpPr>
          <p:nvPr>
            <p:ph type="title"/>
          </p:nvPr>
        </p:nvSpPr>
        <p:spPr>
          <a:xfrm>
            <a:off x="2808000" y="144000"/>
            <a:ext cx="3528000" cy="338554"/>
          </a:xfrm>
        </p:spPr>
        <p:txBody>
          <a:bodyPr/>
          <a:lstStyle/>
          <a:p>
            <a:r>
              <a:rPr lang="en-US" altLang="zh-CN" dirty="0"/>
              <a:t>5.1.2   </a:t>
            </a:r>
            <a:r>
              <a:rPr lang="zh-CN" altLang="en-US" dirty="0"/>
              <a:t>运输层的两个主要协议</a:t>
            </a:r>
          </a:p>
        </p:txBody>
      </p:sp>
      <p:graphicFrame>
        <p:nvGraphicFramePr>
          <p:cNvPr id="14" name="表格 13">
            <a:extLst>
              <a:ext uri="{FF2B5EF4-FFF2-40B4-BE49-F238E27FC236}">
                <a16:creationId xmlns:a16="http://schemas.microsoft.com/office/drawing/2014/main" id="{237ED187-6689-D8F2-6F30-BF45F33EDE1C}"/>
              </a:ext>
            </a:extLst>
          </p:cNvPr>
          <p:cNvGraphicFramePr>
            <a:graphicFrameLocks noGrp="1"/>
          </p:cNvGraphicFramePr>
          <p:nvPr>
            <p:extLst>
              <p:ext uri="{D42A27DB-BD31-4B8C-83A1-F6EECF244321}">
                <p14:modId xmlns:p14="http://schemas.microsoft.com/office/powerpoint/2010/main" val="1885632912"/>
              </p:ext>
            </p:extLst>
          </p:nvPr>
        </p:nvGraphicFramePr>
        <p:xfrm>
          <a:off x="2772000" y="2584550"/>
          <a:ext cx="3600000" cy="148336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090779134"/>
                    </a:ext>
                  </a:extLst>
                </a:gridCol>
                <a:gridCol w="1800000">
                  <a:extLst>
                    <a:ext uri="{9D8B030D-6E8A-4147-A177-3AD203B41FA5}">
                      <a16:colId xmlns:a16="http://schemas.microsoft.com/office/drawing/2014/main" val="2188090895"/>
                    </a:ext>
                  </a:extLst>
                </a:gridCol>
              </a:tblGrid>
              <a:tr h="370840">
                <a:tc gridSpan="2">
                  <a:txBody>
                    <a:bodyPr/>
                    <a:lstStyle/>
                    <a:p>
                      <a:pPr algn="ctr"/>
                      <a:r>
                        <a:rPr lang="zh-CN" altLang="en-US" sz="1600" b="0" i="0" baseline="0" dirty="0">
                          <a:solidFill>
                            <a:schemeClr val="tx1"/>
                          </a:solidFill>
                          <a:latin typeface="Courier New" panose="02070309020205020404" pitchFamily="49" charset="0"/>
                          <a:ea typeface="微软雅黑" panose="020B0503020204020204" pitchFamily="34" charset="-122"/>
                        </a:rPr>
                        <a:t>应用层</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6753834"/>
                  </a:ext>
                </a:extLst>
              </a:tr>
              <a:tr h="370840">
                <a:tc>
                  <a:txBody>
                    <a:bodyPr/>
                    <a:lstStyle/>
                    <a:p>
                      <a:pPr algn="ctr"/>
                      <a:r>
                        <a:rPr lang="en-US" altLang="zh-CN" sz="1600" b="0" i="0" baseline="0" dirty="0">
                          <a:solidFill>
                            <a:schemeClr val="bg1"/>
                          </a:solidFill>
                          <a:latin typeface="Courier New" panose="02070309020205020404" pitchFamily="49" charset="0"/>
                          <a:ea typeface="微软雅黑" panose="020B0503020204020204" pitchFamily="34" charset="-122"/>
                        </a:rPr>
                        <a:t>UDP</a:t>
                      </a:r>
                      <a:endParaRPr lang="zh-CN" altLang="en-US" sz="1600" b="0" i="0" baseline="0" dirty="0">
                        <a:solidFill>
                          <a:schemeClr val="bg1"/>
                        </a:solidFill>
                        <a:latin typeface="Courier New" panose="02070309020205020404" pitchFamily="49" charset="0"/>
                        <a:ea typeface="微软雅黑" panose="020B0503020204020204" pitchFamily="34" charset="-122"/>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131F"/>
                    </a:solidFill>
                  </a:tcPr>
                </a:tc>
                <a:tc>
                  <a:txBody>
                    <a:bodyPr/>
                    <a:lstStyle/>
                    <a:p>
                      <a:pPr algn="ctr"/>
                      <a:r>
                        <a:rPr lang="en-US" altLang="zh-CN" sz="1600" b="0" i="0" baseline="0" dirty="0">
                          <a:solidFill>
                            <a:schemeClr val="bg1"/>
                          </a:solidFill>
                          <a:latin typeface="Courier New" panose="02070309020205020404" pitchFamily="49" charset="0"/>
                          <a:ea typeface="微软雅黑" panose="020B0503020204020204" pitchFamily="34" charset="-122"/>
                        </a:rPr>
                        <a:t>TCP</a:t>
                      </a:r>
                      <a:endParaRPr lang="zh-CN" altLang="en-US" sz="1600" b="0" i="0" baseline="0" dirty="0">
                        <a:solidFill>
                          <a:schemeClr val="bg1"/>
                        </a:solidFill>
                        <a:latin typeface="Courier New" panose="02070309020205020404" pitchFamily="49" charset="0"/>
                        <a:ea typeface="微软雅黑" panose="020B0503020204020204" pitchFamily="34" charset="-122"/>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F131F"/>
                    </a:solidFill>
                  </a:tcPr>
                </a:tc>
                <a:extLst>
                  <a:ext uri="{0D108BD9-81ED-4DB2-BD59-A6C34878D82A}">
                    <a16:rowId xmlns:a16="http://schemas.microsoft.com/office/drawing/2014/main" val="1310299867"/>
                  </a:ext>
                </a:extLst>
              </a:tr>
              <a:tr h="370840">
                <a:tc gridSpan="2">
                  <a:txBody>
                    <a:bodyPr/>
                    <a:lstStyle/>
                    <a:p>
                      <a:pPr algn="ctr"/>
                      <a:r>
                        <a:rPr lang="en-US" altLang="zh-CN" sz="1600" b="0" i="0" baseline="0" dirty="0">
                          <a:solidFill>
                            <a:schemeClr val="tx1"/>
                          </a:solidFill>
                          <a:latin typeface="Courier New" panose="02070309020205020404" pitchFamily="49" charset="0"/>
                          <a:ea typeface="微软雅黑" panose="020B0503020204020204" pitchFamily="34" charset="-122"/>
                        </a:rPr>
                        <a:t>IP</a:t>
                      </a:r>
                      <a:endParaRPr lang="zh-CN" altLang="en-US" sz="1600" b="0" i="0" baseline="0" dirty="0">
                        <a:solidFill>
                          <a:schemeClr val="tx1"/>
                        </a:solidFill>
                        <a:latin typeface="Courier New" panose="02070309020205020404" pitchFamily="49" charset="0"/>
                        <a:ea typeface="微软雅黑" panose="020B0503020204020204" pitchFamily="34" charset="-122"/>
                      </a:endParaRP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513751"/>
                  </a:ext>
                </a:extLst>
              </a:tr>
              <a:tr h="370840">
                <a:tc gridSpan="2">
                  <a:txBody>
                    <a:bodyPr/>
                    <a:lstStyle/>
                    <a:p>
                      <a:pPr algn="ctr"/>
                      <a:r>
                        <a:rPr lang="zh-CN" altLang="en-US" sz="1600" b="0" i="0" baseline="0" dirty="0">
                          <a:solidFill>
                            <a:schemeClr val="tx1"/>
                          </a:solidFill>
                          <a:latin typeface="Courier New" panose="02070309020205020404" pitchFamily="49" charset="0"/>
                          <a:ea typeface="微软雅黑" panose="020B0503020204020204" pitchFamily="34" charset="-122"/>
                        </a:rPr>
                        <a:t>与网络各种接口</a:t>
                      </a:r>
                    </a:p>
                  </a:txBody>
                  <a:tcPr anchor="ct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63600480"/>
                  </a:ext>
                </a:extLst>
              </a:tr>
            </a:tbl>
          </a:graphicData>
        </a:graphic>
      </p:graphicFrame>
    </p:spTree>
    <p:extLst>
      <p:ext uri="{BB962C8B-B14F-4D97-AF65-F5344CB8AC3E}">
        <p14:creationId xmlns:p14="http://schemas.microsoft.com/office/powerpoint/2010/main" val="21170489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B340B6D5-9BD8-14FD-8EA9-CA6C520E34F6}"/>
              </a:ext>
            </a:extLst>
          </p:cNvPr>
          <p:cNvSpPr>
            <a:spLocks noGrp="1"/>
          </p:cNvSpPr>
          <p:nvPr>
            <p:ph sz="quarter" idx="11"/>
          </p:nvPr>
        </p:nvSpPr>
        <p:spPr>
          <a:xfrm>
            <a:off x="486000" y="482554"/>
            <a:ext cx="8172000" cy="4120946"/>
          </a:xfrm>
        </p:spPr>
        <p:txBody>
          <a:bodyPr/>
          <a:lstStyle/>
          <a:p>
            <a:r>
              <a:rPr lang="zh-CN" altLang="en-US" dirty="0"/>
              <a:t>运输协议数据单元 </a:t>
            </a:r>
            <a:r>
              <a:rPr lang="en-US" altLang="zh-CN" dirty="0"/>
              <a:t>TPDU</a:t>
            </a:r>
          </a:p>
          <a:p>
            <a:pPr lvl="1"/>
            <a:r>
              <a:rPr lang="en-US" altLang="zh-CN" dirty="0"/>
              <a:t>Transport Protocol Data Unit</a:t>
            </a:r>
          </a:p>
          <a:p>
            <a:pPr lvl="1"/>
            <a:r>
              <a:rPr lang="zh-CN" altLang="en-US" dirty="0"/>
              <a:t>两个对等运输实体在通信时传送的数据单位</a:t>
            </a:r>
          </a:p>
          <a:p>
            <a:r>
              <a:rPr lang="en-US" altLang="zh-CN" dirty="0"/>
              <a:t>TCP </a:t>
            </a:r>
            <a:r>
              <a:rPr lang="zh-CN" altLang="en-US" dirty="0"/>
              <a:t>传送的数据单位协议是 </a:t>
            </a:r>
            <a:r>
              <a:rPr lang="en-US" altLang="zh-CN" dirty="0"/>
              <a:t>TCP </a:t>
            </a:r>
            <a:r>
              <a:rPr lang="zh-CN" altLang="en-US" dirty="0"/>
              <a:t>报文段 </a:t>
            </a:r>
            <a:r>
              <a:rPr lang="en-US" altLang="zh-CN" dirty="0"/>
              <a:t>(segment)</a:t>
            </a:r>
            <a:endParaRPr lang="zh-CN" altLang="en-US" dirty="0"/>
          </a:p>
          <a:p>
            <a:r>
              <a:rPr lang="en-US" altLang="zh-CN" dirty="0"/>
              <a:t>UDP </a:t>
            </a:r>
            <a:r>
              <a:rPr lang="zh-CN" altLang="en-US" dirty="0"/>
              <a:t>传送的数据单位协议是 </a:t>
            </a:r>
            <a:r>
              <a:rPr lang="en-US" altLang="zh-CN" dirty="0"/>
              <a:t>UDP </a:t>
            </a:r>
            <a:r>
              <a:rPr lang="zh-CN" altLang="en-US" dirty="0"/>
              <a:t>报文或用户数据报</a:t>
            </a:r>
          </a:p>
        </p:txBody>
      </p:sp>
      <p:sp>
        <p:nvSpPr>
          <p:cNvPr id="12" name="标题 11">
            <a:extLst>
              <a:ext uri="{FF2B5EF4-FFF2-40B4-BE49-F238E27FC236}">
                <a16:creationId xmlns:a16="http://schemas.microsoft.com/office/drawing/2014/main" id="{1D1F0760-5BBD-ABD9-831F-E75F5203A1A2}"/>
              </a:ext>
            </a:extLst>
          </p:cNvPr>
          <p:cNvSpPr>
            <a:spLocks noGrp="1"/>
          </p:cNvSpPr>
          <p:nvPr>
            <p:ph type="title"/>
          </p:nvPr>
        </p:nvSpPr>
        <p:spPr>
          <a:xfrm>
            <a:off x="2808000" y="144000"/>
            <a:ext cx="3528000" cy="338554"/>
          </a:xfrm>
        </p:spPr>
        <p:txBody>
          <a:bodyPr/>
          <a:lstStyle/>
          <a:p>
            <a:r>
              <a:rPr lang="zh-CN" altLang="en-US" dirty="0"/>
              <a:t>运输协议数据单元 </a:t>
            </a:r>
          </a:p>
        </p:txBody>
      </p:sp>
    </p:spTree>
    <p:extLst>
      <p:ext uri="{BB962C8B-B14F-4D97-AF65-F5344CB8AC3E}">
        <p14:creationId xmlns:p14="http://schemas.microsoft.com/office/powerpoint/2010/main" val="40261411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图示 3"/>
          <p:cNvGraphicFramePr/>
          <p:nvPr>
            <p:extLst>
              <p:ext uri="{D42A27DB-BD31-4B8C-83A1-F6EECF244321}">
                <p14:modId xmlns:p14="http://schemas.microsoft.com/office/powerpoint/2010/main" val="1527196505"/>
              </p:ext>
            </p:extLst>
          </p:nvPr>
        </p:nvGraphicFramePr>
        <p:xfrm>
          <a:off x="612775" y="1131421"/>
          <a:ext cx="7918450" cy="2992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内容占位符 4">
            <a:extLst>
              <a:ext uri="{FF2B5EF4-FFF2-40B4-BE49-F238E27FC236}">
                <a16:creationId xmlns:a16="http://schemas.microsoft.com/office/drawing/2014/main" id="{37512439-8F96-720F-F166-7F01DD205652}"/>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D018864A-B6DA-BFFA-FEB3-9D94212D451F}"/>
              </a:ext>
            </a:extLst>
          </p:cNvPr>
          <p:cNvSpPr>
            <a:spLocks noGrp="1"/>
          </p:cNvSpPr>
          <p:nvPr>
            <p:ph type="title"/>
          </p:nvPr>
        </p:nvSpPr>
        <p:spPr>
          <a:xfrm>
            <a:off x="2808000" y="144000"/>
            <a:ext cx="3528000" cy="338554"/>
          </a:xfrm>
        </p:spPr>
        <p:txBody>
          <a:bodyPr/>
          <a:lstStyle/>
          <a:p>
            <a:r>
              <a:rPr lang="en-US" altLang="zh-CN" dirty="0"/>
              <a:t>UDP </a:t>
            </a:r>
            <a:r>
              <a:rPr lang="zh-CN" altLang="en-US" dirty="0"/>
              <a:t>与 </a:t>
            </a:r>
            <a:r>
              <a:rPr lang="en-US" altLang="zh-CN" dirty="0"/>
              <a:t>TCP </a:t>
            </a:r>
            <a:r>
              <a:rPr lang="zh-CN" altLang="en-US" dirty="0"/>
              <a:t>的区别</a:t>
            </a:r>
          </a:p>
        </p:txBody>
      </p:sp>
    </p:spTree>
    <p:extLst>
      <p:ext uri="{BB962C8B-B14F-4D97-AF65-F5344CB8AC3E}">
        <p14:creationId xmlns:p14="http://schemas.microsoft.com/office/powerpoint/2010/main" val="17951723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441896" y="2893891"/>
            <a:ext cx="6582637" cy="376517"/>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itchFamily="34" charset="-122"/>
                <a:ea typeface="微软雅黑" pitchFamily="34" charset="-122"/>
              </a:rPr>
              <a:t>IP</a:t>
            </a:r>
            <a:endParaRPr lang="zh-CN" altLang="en-US" dirty="0">
              <a:solidFill>
                <a:schemeClr val="bg1"/>
              </a:solidFill>
              <a:latin typeface="微软雅黑" pitchFamily="34" charset="-122"/>
              <a:ea typeface="微软雅黑" pitchFamily="34" charset="-122"/>
            </a:endParaRPr>
          </a:p>
        </p:txBody>
      </p:sp>
      <p:sp>
        <p:nvSpPr>
          <p:cNvPr id="22" name="矩形 21"/>
          <p:cNvSpPr/>
          <p:nvPr/>
        </p:nvSpPr>
        <p:spPr>
          <a:xfrm>
            <a:off x="4888680" y="2334494"/>
            <a:ext cx="3135854" cy="559398"/>
          </a:xfrm>
          <a:prstGeom prst="rect">
            <a:avLst/>
          </a:prstGeom>
          <a:solidFill>
            <a:srgbClr val="9BBB5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itchFamily="34" charset="-122"/>
                <a:ea typeface="微软雅黑" pitchFamily="34" charset="-122"/>
              </a:rPr>
              <a:t>TCP</a:t>
            </a:r>
            <a:endParaRPr lang="zh-CN" altLang="en-US" dirty="0">
              <a:solidFill>
                <a:schemeClr val="bg1"/>
              </a:solidFill>
              <a:latin typeface="微软雅黑" pitchFamily="34" charset="-122"/>
              <a:ea typeface="微软雅黑" pitchFamily="34" charset="-122"/>
            </a:endParaRPr>
          </a:p>
        </p:txBody>
      </p:sp>
      <p:sp>
        <p:nvSpPr>
          <p:cNvPr id="23" name="矩形 22"/>
          <p:cNvSpPr/>
          <p:nvPr/>
        </p:nvSpPr>
        <p:spPr>
          <a:xfrm>
            <a:off x="1441740" y="2334494"/>
            <a:ext cx="3399202" cy="559398"/>
          </a:xfrm>
          <a:prstGeom prst="rect">
            <a:avLst/>
          </a:prstGeom>
          <a:solidFill>
            <a:srgbClr val="C0504D"/>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bg1"/>
                </a:solidFill>
                <a:latin typeface="微软雅黑" pitchFamily="34" charset="-122"/>
                <a:ea typeface="微软雅黑" pitchFamily="34" charset="-122"/>
              </a:rPr>
              <a:t>UDP</a:t>
            </a:r>
            <a:endParaRPr lang="zh-CN" altLang="en-US" dirty="0">
              <a:solidFill>
                <a:schemeClr val="bg1"/>
              </a:solidFill>
              <a:latin typeface="微软雅黑" pitchFamily="34" charset="-122"/>
              <a:ea typeface="微软雅黑" pitchFamily="34" charset="-122"/>
            </a:endParaRPr>
          </a:p>
        </p:txBody>
      </p:sp>
      <p:sp>
        <p:nvSpPr>
          <p:cNvPr id="47" name="Text Box 14"/>
          <p:cNvSpPr txBox="1">
            <a:spLocks noChangeArrowheads="1"/>
          </p:cNvSpPr>
          <p:nvPr/>
        </p:nvSpPr>
        <p:spPr bwMode="auto">
          <a:xfrm>
            <a:off x="627627" y="2475693"/>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b="0" dirty="0">
                <a:latin typeface="微软雅黑" pitchFamily="34" charset="-122"/>
                <a:ea typeface="微软雅黑" pitchFamily="34" charset="-122"/>
              </a:rPr>
              <a:t>运输层</a:t>
            </a:r>
          </a:p>
        </p:txBody>
      </p:sp>
      <p:sp>
        <p:nvSpPr>
          <p:cNvPr id="48" name="Text Box 15"/>
          <p:cNvSpPr txBox="1">
            <a:spLocks noChangeArrowheads="1"/>
          </p:cNvSpPr>
          <p:nvPr/>
        </p:nvSpPr>
        <p:spPr bwMode="auto">
          <a:xfrm>
            <a:off x="724444" y="2939458"/>
            <a:ext cx="70923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b="0" dirty="0">
                <a:latin typeface="微软雅黑" pitchFamily="34" charset="-122"/>
                <a:ea typeface="微软雅黑" pitchFamily="34" charset="-122"/>
              </a:rPr>
              <a:t>网络层</a:t>
            </a:r>
          </a:p>
        </p:txBody>
      </p:sp>
      <p:grpSp>
        <p:nvGrpSpPr>
          <p:cNvPr id="2" name="组合 1"/>
          <p:cNvGrpSpPr/>
          <p:nvPr/>
        </p:nvGrpSpPr>
        <p:grpSpPr>
          <a:xfrm>
            <a:off x="627627" y="1703994"/>
            <a:ext cx="4213315" cy="670388"/>
            <a:chOff x="627627" y="1695029"/>
            <a:chExt cx="4213315" cy="670388"/>
          </a:xfrm>
        </p:grpSpPr>
        <p:sp>
          <p:nvSpPr>
            <p:cNvPr id="37" name="矩形 36"/>
            <p:cNvSpPr/>
            <p:nvPr/>
          </p:nvSpPr>
          <p:spPr>
            <a:xfrm>
              <a:off x="1442249" y="2034783"/>
              <a:ext cx="641767"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dirty="0">
                  <a:solidFill>
                    <a:schemeClr val="tx1"/>
                  </a:solidFill>
                  <a:latin typeface="微软雅黑" pitchFamily="34" charset="-122"/>
                  <a:ea typeface="微软雅黑" pitchFamily="34" charset="-122"/>
                </a:rPr>
                <a:t>DNS</a:t>
              </a:r>
              <a:endParaRPr lang="zh-CN" altLang="en-US" sz="1200" dirty="0">
                <a:solidFill>
                  <a:schemeClr val="tx1"/>
                </a:solidFill>
                <a:latin typeface="微软雅黑" pitchFamily="34" charset="-122"/>
                <a:ea typeface="微软雅黑" pitchFamily="34" charset="-122"/>
              </a:endParaRPr>
            </a:p>
          </p:txBody>
        </p:sp>
        <p:sp>
          <p:nvSpPr>
            <p:cNvPr id="38" name="矩形 37"/>
            <p:cNvSpPr/>
            <p:nvPr/>
          </p:nvSpPr>
          <p:spPr>
            <a:xfrm>
              <a:off x="2092077" y="2034783"/>
              <a:ext cx="644561" cy="290745"/>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dirty="0">
                  <a:solidFill>
                    <a:schemeClr val="tx1"/>
                  </a:solidFill>
                  <a:latin typeface="微软雅黑" pitchFamily="34" charset="-122"/>
                  <a:ea typeface="微软雅黑" pitchFamily="34" charset="-122"/>
                </a:rPr>
                <a:t>DHCP</a:t>
              </a:r>
              <a:endParaRPr lang="zh-CN" altLang="en-US" sz="1200" dirty="0">
                <a:solidFill>
                  <a:schemeClr val="tx1"/>
                </a:solidFill>
                <a:latin typeface="微软雅黑" pitchFamily="34" charset="-122"/>
                <a:ea typeface="微软雅黑" pitchFamily="34" charset="-122"/>
              </a:endParaRPr>
            </a:p>
          </p:txBody>
        </p:sp>
        <p:sp>
          <p:nvSpPr>
            <p:cNvPr id="39" name="矩形 38"/>
            <p:cNvSpPr/>
            <p:nvPr/>
          </p:nvSpPr>
          <p:spPr>
            <a:xfrm>
              <a:off x="2729570" y="2034783"/>
              <a:ext cx="560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dirty="0">
                  <a:solidFill>
                    <a:schemeClr val="tx1"/>
                  </a:solidFill>
                  <a:latin typeface="微软雅黑" pitchFamily="34" charset="-122"/>
                  <a:ea typeface="微软雅黑" pitchFamily="34" charset="-122"/>
                </a:rPr>
                <a:t>RIP</a:t>
              </a:r>
              <a:endParaRPr lang="zh-CN" altLang="en-US" sz="1200" dirty="0">
                <a:solidFill>
                  <a:schemeClr val="tx1"/>
                </a:solidFill>
                <a:latin typeface="微软雅黑" pitchFamily="34" charset="-122"/>
                <a:ea typeface="微软雅黑" pitchFamily="34" charset="-122"/>
              </a:endParaRPr>
            </a:p>
          </p:txBody>
        </p:sp>
        <p:sp>
          <p:nvSpPr>
            <p:cNvPr id="40" name="矩形 39"/>
            <p:cNvSpPr/>
            <p:nvPr/>
          </p:nvSpPr>
          <p:spPr>
            <a:xfrm>
              <a:off x="4476746" y="2034783"/>
              <a:ext cx="364196"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200" dirty="0">
                  <a:solidFill>
                    <a:schemeClr val="tx1"/>
                  </a:solidFill>
                  <a:latin typeface="微软雅黑" pitchFamily="34" charset="-122"/>
                  <a:ea typeface="微软雅黑" pitchFamily="34" charset="-122"/>
                </a:rPr>
                <a:t>…</a:t>
              </a:r>
              <a:endParaRPr lang="zh-CN" altLang="en-US" sz="1200" dirty="0">
                <a:solidFill>
                  <a:schemeClr val="tx1"/>
                </a:solidFill>
                <a:latin typeface="微软雅黑" pitchFamily="34" charset="-122"/>
                <a:ea typeface="微软雅黑" pitchFamily="34" charset="-122"/>
              </a:endParaRPr>
            </a:p>
          </p:txBody>
        </p:sp>
        <p:sp>
          <p:nvSpPr>
            <p:cNvPr id="41" name="矩形 40"/>
            <p:cNvSpPr/>
            <p:nvPr/>
          </p:nvSpPr>
          <p:spPr>
            <a:xfrm>
              <a:off x="1442249" y="1695029"/>
              <a:ext cx="641767" cy="415347"/>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域名解析服务</a:t>
              </a:r>
            </a:p>
          </p:txBody>
        </p:sp>
        <p:sp>
          <p:nvSpPr>
            <p:cNvPr id="42" name="矩形 41"/>
            <p:cNvSpPr/>
            <p:nvPr/>
          </p:nvSpPr>
          <p:spPr>
            <a:xfrm>
              <a:off x="2094871" y="1695029"/>
              <a:ext cx="641767" cy="415347"/>
            </a:xfrm>
            <a:prstGeom prst="rect">
              <a:avLst/>
            </a:prstGeom>
            <a:solidFill>
              <a:srgbClr val="66FF99"/>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动态主机配置</a:t>
              </a:r>
            </a:p>
          </p:txBody>
        </p:sp>
        <p:sp>
          <p:nvSpPr>
            <p:cNvPr id="43" name="矩形 42"/>
            <p:cNvSpPr/>
            <p:nvPr/>
          </p:nvSpPr>
          <p:spPr>
            <a:xfrm>
              <a:off x="2729570" y="1695029"/>
              <a:ext cx="560477" cy="415347"/>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路由</a:t>
              </a:r>
              <a:endParaRPr lang="en-US" altLang="zh-CN" sz="1200" dirty="0">
                <a:solidFill>
                  <a:schemeClr val="tx1"/>
                </a:solidFill>
                <a:latin typeface="微软雅黑" pitchFamily="34" charset="-122"/>
                <a:ea typeface="微软雅黑" pitchFamily="34" charset="-122"/>
              </a:endParaRPr>
            </a:p>
            <a:p>
              <a:pPr algn="ctr">
                <a:lnSpc>
                  <a:spcPts val="1400"/>
                </a:lnSpc>
              </a:pPr>
              <a:r>
                <a:rPr lang="zh-CN" altLang="en-US" sz="1200" dirty="0">
                  <a:solidFill>
                    <a:schemeClr val="tx1"/>
                  </a:solidFill>
                  <a:latin typeface="微软雅黑" pitchFamily="34" charset="-122"/>
                  <a:ea typeface="微软雅黑" pitchFamily="34" charset="-122"/>
                </a:rPr>
                <a:t>选择</a:t>
              </a:r>
            </a:p>
          </p:txBody>
        </p:sp>
        <p:sp>
          <p:nvSpPr>
            <p:cNvPr id="44" name="矩形 43"/>
            <p:cNvSpPr/>
            <p:nvPr/>
          </p:nvSpPr>
          <p:spPr>
            <a:xfrm>
              <a:off x="4476746" y="1695029"/>
              <a:ext cx="364196" cy="415347"/>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dirty="0">
                  <a:solidFill>
                    <a:schemeClr val="tx1"/>
                  </a:solidFill>
                  <a:latin typeface="微软雅黑" pitchFamily="34" charset="-122"/>
                  <a:ea typeface="微软雅黑" pitchFamily="34" charset="-122"/>
                </a:rPr>
                <a:t>…</a:t>
              </a:r>
              <a:endParaRPr lang="zh-CN" altLang="en-US" sz="1200" dirty="0">
                <a:solidFill>
                  <a:schemeClr val="tx1"/>
                </a:solidFill>
                <a:latin typeface="微软雅黑" pitchFamily="34" charset="-122"/>
                <a:ea typeface="微软雅黑" pitchFamily="34" charset="-122"/>
              </a:endParaRPr>
            </a:p>
          </p:txBody>
        </p:sp>
        <p:sp>
          <p:nvSpPr>
            <p:cNvPr id="49" name="Text Box 14"/>
            <p:cNvSpPr txBox="1">
              <a:spLocks noChangeArrowheads="1"/>
            </p:cNvSpPr>
            <p:nvPr/>
          </p:nvSpPr>
          <p:spPr bwMode="auto">
            <a:xfrm>
              <a:off x="627627" y="2088418"/>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b="0" dirty="0">
                  <a:latin typeface="微软雅黑" pitchFamily="34" charset="-122"/>
                  <a:ea typeface="微软雅黑" pitchFamily="34" charset="-122"/>
                </a:rPr>
                <a:t>应用层</a:t>
              </a:r>
            </a:p>
          </p:txBody>
        </p:sp>
        <p:sp>
          <p:nvSpPr>
            <p:cNvPr id="50" name="Text Box 14"/>
            <p:cNvSpPr txBox="1">
              <a:spLocks noChangeArrowheads="1"/>
            </p:cNvSpPr>
            <p:nvPr/>
          </p:nvSpPr>
          <p:spPr bwMode="auto">
            <a:xfrm>
              <a:off x="627627" y="1738795"/>
              <a:ext cx="806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r" eaLnBrk="1" hangingPunct="1"/>
              <a:r>
                <a:rPr lang="zh-CN" altLang="en-US" sz="1200" b="0" dirty="0">
                  <a:latin typeface="微软雅黑" pitchFamily="34" charset="-122"/>
                  <a:ea typeface="微软雅黑" pitchFamily="34" charset="-122"/>
                </a:rPr>
                <a:t>应用</a:t>
              </a:r>
            </a:p>
          </p:txBody>
        </p:sp>
        <p:sp>
          <p:nvSpPr>
            <p:cNvPr id="46" name="矩形 45"/>
            <p:cNvSpPr/>
            <p:nvPr/>
          </p:nvSpPr>
          <p:spPr>
            <a:xfrm>
              <a:off x="3289143" y="2034783"/>
              <a:ext cx="560477"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dirty="0">
                  <a:solidFill>
                    <a:schemeClr val="tx1"/>
                  </a:solidFill>
                  <a:latin typeface="微软雅黑" pitchFamily="34" charset="-122"/>
                  <a:ea typeface="微软雅黑" pitchFamily="34" charset="-122"/>
                </a:rPr>
                <a:t>TFTP</a:t>
              </a:r>
              <a:endParaRPr lang="zh-CN" altLang="en-US" sz="1100" dirty="0">
                <a:solidFill>
                  <a:schemeClr val="tx1"/>
                </a:solidFill>
                <a:latin typeface="微软雅黑" pitchFamily="34" charset="-122"/>
                <a:ea typeface="微软雅黑" pitchFamily="34" charset="-122"/>
              </a:endParaRPr>
            </a:p>
          </p:txBody>
        </p:sp>
        <p:sp>
          <p:nvSpPr>
            <p:cNvPr id="51" name="矩形 50"/>
            <p:cNvSpPr/>
            <p:nvPr/>
          </p:nvSpPr>
          <p:spPr>
            <a:xfrm>
              <a:off x="3289143" y="1695029"/>
              <a:ext cx="560477"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文件传输</a:t>
              </a:r>
            </a:p>
          </p:txBody>
        </p:sp>
        <p:sp>
          <p:nvSpPr>
            <p:cNvPr id="52" name="矩形 51"/>
            <p:cNvSpPr/>
            <p:nvPr/>
          </p:nvSpPr>
          <p:spPr>
            <a:xfrm>
              <a:off x="3851146" y="2034783"/>
              <a:ext cx="644561" cy="290745"/>
            </a:xfrm>
            <a:prstGeom prst="rect">
              <a:avLst/>
            </a:prstGeom>
            <a:solidFill>
              <a:srgbClr val="CCFF66"/>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zh-CN" altLang="en-US" sz="900" dirty="0">
                  <a:solidFill>
                    <a:schemeClr val="tx1"/>
                  </a:solidFill>
                  <a:latin typeface="微软雅黑" pitchFamily="34" charset="-122"/>
                  <a:ea typeface="微软雅黑" pitchFamily="34" charset="-122"/>
                </a:rPr>
                <a:t>专用协议</a:t>
              </a:r>
            </a:p>
          </p:txBody>
        </p:sp>
        <p:sp>
          <p:nvSpPr>
            <p:cNvPr id="53" name="矩形 52"/>
            <p:cNvSpPr/>
            <p:nvPr/>
          </p:nvSpPr>
          <p:spPr>
            <a:xfrm>
              <a:off x="3853940" y="1695029"/>
              <a:ext cx="641767" cy="415347"/>
            </a:xfrm>
            <a:prstGeom prst="rect">
              <a:avLst/>
            </a:prstGeom>
            <a:solidFill>
              <a:srgbClr val="CCFF66"/>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900" dirty="0">
                  <a:solidFill>
                    <a:schemeClr val="tx1"/>
                  </a:solidFill>
                  <a:latin typeface="微软雅黑" pitchFamily="34" charset="-122"/>
                  <a:ea typeface="微软雅黑" pitchFamily="34" charset="-122"/>
                </a:rPr>
                <a:t>流式多媒体通信</a:t>
              </a:r>
            </a:p>
          </p:txBody>
        </p:sp>
      </p:grpSp>
      <p:grpSp>
        <p:nvGrpSpPr>
          <p:cNvPr id="3" name="组合 2"/>
          <p:cNvGrpSpPr/>
          <p:nvPr/>
        </p:nvGrpSpPr>
        <p:grpSpPr>
          <a:xfrm>
            <a:off x="4885767" y="1702937"/>
            <a:ext cx="3138766" cy="631556"/>
            <a:chOff x="4885767" y="1693972"/>
            <a:chExt cx="3138766" cy="631556"/>
          </a:xfrm>
        </p:grpSpPr>
        <p:sp>
          <p:nvSpPr>
            <p:cNvPr id="24" name="矩形 23"/>
            <p:cNvSpPr/>
            <p:nvPr/>
          </p:nvSpPr>
          <p:spPr>
            <a:xfrm>
              <a:off x="4885767" y="2034783"/>
              <a:ext cx="602477" cy="29074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dirty="0">
                  <a:solidFill>
                    <a:schemeClr val="tx1"/>
                  </a:solidFill>
                  <a:latin typeface="微软雅黑" pitchFamily="34" charset="-122"/>
                  <a:ea typeface="微软雅黑" pitchFamily="34" charset="-122"/>
                </a:rPr>
                <a:t>HTTP</a:t>
              </a:r>
              <a:endParaRPr lang="zh-CN" altLang="en-US" sz="1200" dirty="0">
                <a:solidFill>
                  <a:schemeClr val="tx1"/>
                </a:solidFill>
                <a:latin typeface="微软雅黑" pitchFamily="34" charset="-122"/>
                <a:ea typeface="微软雅黑" pitchFamily="34" charset="-122"/>
              </a:endParaRPr>
            </a:p>
          </p:txBody>
        </p:sp>
        <p:sp>
          <p:nvSpPr>
            <p:cNvPr id="30" name="矩形 29"/>
            <p:cNvSpPr/>
            <p:nvPr/>
          </p:nvSpPr>
          <p:spPr>
            <a:xfrm>
              <a:off x="5519791" y="2034783"/>
              <a:ext cx="638646" cy="290745"/>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dirty="0">
                  <a:solidFill>
                    <a:schemeClr val="tx1"/>
                  </a:solidFill>
                  <a:latin typeface="微软雅黑" pitchFamily="34" charset="-122"/>
                  <a:ea typeface="微软雅黑" pitchFamily="34" charset="-122"/>
                </a:rPr>
                <a:t>SMTP</a:t>
              </a:r>
              <a:endParaRPr lang="zh-CN" altLang="en-US" sz="1200" dirty="0">
                <a:solidFill>
                  <a:schemeClr val="tx1"/>
                </a:solidFill>
                <a:latin typeface="微软雅黑" pitchFamily="34" charset="-122"/>
                <a:ea typeface="微软雅黑" pitchFamily="34" charset="-122"/>
              </a:endParaRPr>
            </a:p>
          </p:txBody>
        </p:sp>
        <p:sp>
          <p:nvSpPr>
            <p:cNvPr id="31" name="矩形 30"/>
            <p:cNvSpPr/>
            <p:nvPr/>
          </p:nvSpPr>
          <p:spPr>
            <a:xfrm>
              <a:off x="6165877" y="2034783"/>
              <a:ext cx="641599" cy="290745"/>
            </a:xfrm>
            <a:prstGeom prst="rect">
              <a:avLst/>
            </a:prstGeom>
            <a:solidFill>
              <a:srgbClr val="FFFF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dirty="0">
                  <a:solidFill>
                    <a:schemeClr val="tx1"/>
                  </a:solidFill>
                  <a:latin typeface="微软雅黑" pitchFamily="34" charset="-122"/>
                  <a:ea typeface="微软雅黑" pitchFamily="34" charset="-122"/>
                </a:rPr>
                <a:t>FTP</a:t>
              </a:r>
              <a:endParaRPr lang="zh-CN" altLang="en-US" sz="1200" dirty="0">
                <a:solidFill>
                  <a:schemeClr val="tx1"/>
                </a:solidFill>
                <a:latin typeface="微软雅黑" pitchFamily="34" charset="-122"/>
                <a:ea typeface="微软雅黑" pitchFamily="34" charset="-122"/>
              </a:endParaRPr>
            </a:p>
          </p:txBody>
        </p:sp>
        <p:sp>
          <p:nvSpPr>
            <p:cNvPr id="32" name="矩形 31"/>
            <p:cNvSpPr/>
            <p:nvPr/>
          </p:nvSpPr>
          <p:spPr>
            <a:xfrm>
              <a:off x="7545130" y="2034783"/>
              <a:ext cx="479403" cy="290745"/>
            </a:xfrm>
            <a:prstGeom prst="rect">
              <a:avLst/>
            </a:prstGeom>
            <a:solidFill>
              <a:srgbClr val="FFCCCC"/>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400"/>
                </a:lnSpc>
              </a:pPr>
              <a:r>
                <a:rPr lang="en-US" altLang="zh-CN" sz="1200" dirty="0">
                  <a:solidFill>
                    <a:schemeClr val="tx1"/>
                  </a:solidFill>
                  <a:latin typeface="微软雅黑" pitchFamily="34" charset="-122"/>
                  <a:ea typeface="微软雅黑" pitchFamily="34" charset="-122"/>
                </a:rPr>
                <a:t>…</a:t>
              </a:r>
              <a:endParaRPr lang="zh-CN" altLang="en-US" sz="1200" dirty="0">
                <a:solidFill>
                  <a:schemeClr val="tx1"/>
                </a:solidFill>
                <a:latin typeface="微软雅黑" pitchFamily="34" charset="-122"/>
                <a:ea typeface="微软雅黑" pitchFamily="34" charset="-122"/>
              </a:endParaRPr>
            </a:p>
          </p:txBody>
        </p:sp>
        <p:sp>
          <p:nvSpPr>
            <p:cNvPr id="33" name="矩形 32"/>
            <p:cNvSpPr/>
            <p:nvPr/>
          </p:nvSpPr>
          <p:spPr>
            <a:xfrm>
              <a:off x="4885767" y="1693972"/>
              <a:ext cx="638646" cy="416404"/>
            </a:xfrm>
            <a:prstGeom prst="rect">
              <a:avLst/>
            </a:prstGeom>
            <a:solidFill>
              <a:srgbClr val="00FF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100" dirty="0">
                  <a:solidFill>
                    <a:schemeClr val="tx1"/>
                  </a:solidFill>
                  <a:latin typeface="微软雅黑" pitchFamily="34" charset="-122"/>
                  <a:ea typeface="微软雅黑" pitchFamily="34" charset="-122"/>
                </a:rPr>
                <a:t>万维网</a:t>
              </a:r>
              <a:endParaRPr lang="en-US" altLang="zh-CN" sz="1100" dirty="0">
                <a:solidFill>
                  <a:schemeClr val="tx1"/>
                </a:solidFill>
                <a:latin typeface="微软雅黑" pitchFamily="34" charset="-122"/>
                <a:ea typeface="微软雅黑" pitchFamily="34" charset="-122"/>
              </a:endParaRPr>
            </a:p>
            <a:p>
              <a:pPr algn="ctr">
                <a:lnSpc>
                  <a:spcPts val="1400"/>
                </a:lnSpc>
              </a:pPr>
              <a:r>
                <a:rPr lang="en-US" altLang="zh-CN" sz="1100" dirty="0">
                  <a:solidFill>
                    <a:schemeClr val="tx1"/>
                  </a:solidFill>
                  <a:latin typeface="微软雅黑" pitchFamily="34" charset="-122"/>
                  <a:ea typeface="微软雅黑" pitchFamily="34" charset="-122"/>
                </a:rPr>
                <a:t>WWW</a:t>
              </a:r>
              <a:endParaRPr lang="zh-CN" altLang="en-US" sz="1100" dirty="0">
                <a:solidFill>
                  <a:schemeClr val="tx1"/>
                </a:solidFill>
                <a:latin typeface="微软雅黑" pitchFamily="34" charset="-122"/>
                <a:ea typeface="微软雅黑" pitchFamily="34" charset="-122"/>
              </a:endParaRPr>
            </a:p>
          </p:txBody>
        </p:sp>
        <p:sp>
          <p:nvSpPr>
            <p:cNvPr id="34" name="矩形 33"/>
            <p:cNvSpPr/>
            <p:nvPr/>
          </p:nvSpPr>
          <p:spPr>
            <a:xfrm>
              <a:off x="5519791" y="1693972"/>
              <a:ext cx="638646" cy="416404"/>
            </a:xfrm>
            <a:prstGeom prst="rect">
              <a:avLst/>
            </a:prstGeom>
            <a:solidFill>
              <a:srgbClr val="00B0F0"/>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电子</a:t>
              </a:r>
              <a:endParaRPr lang="en-US" altLang="zh-CN" sz="1200" dirty="0">
                <a:solidFill>
                  <a:schemeClr val="tx1"/>
                </a:solidFill>
                <a:latin typeface="微软雅黑" pitchFamily="34" charset="-122"/>
                <a:ea typeface="微软雅黑" pitchFamily="34" charset="-122"/>
              </a:endParaRPr>
            </a:p>
            <a:p>
              <a:pPr algn="ctr">
                <a:lnSpc>
                  <a:spcPts val="1400"/>
                </a:lnSpc>
              </a:pPr>
              <a:r>
                <a:rPr lang="zh-CN" altLang="en-US" sz="1200" dirty="0">
                  <a:solidFill>
                    <a:schemeClr val="tx1"/>
                  </a:solidFill>
                  <a:latin typeface="微软雅黑" pitchFamily="34" charset="-122"/>
                  <a:ea typeface="微软雅黑" pitchFamily="34" charset="-122"/>
                </a:rPr>
                <a:t>邮件</a:t>
              </a:r>
            </a:p>
          </p:txBody>
        </p:sp>
        <p:sp>
          <p:nvSpPr>
            <p:cNvPr id="35" name="矩形 34"/>
            <p:cNvSpPr/>
            <p:nvPr/>
          </p:nvSpPr>
          <p:spPr>
            <a:xfrm>
              <a:off x="6168831" y="1693972"/>
              <a:ext cx="638646" cy="416404"/>
            </a:xfrm>
            <a:prstGeom prst="rect">
              <a:avLst/>
            </a:prstGeom>
            <a:solidFill>
              <a:srgbClr val="FFFF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文件</a:t>
              </a:r>
              <a:endParaRPr lang="en-US" altLang="zh-CN" sz="1200" dirty="0">
                <a:solidFill>
                  <a:schemeClr val="tx1"/>
                </a:solidFill>
                <a:latin typeface="微软雅黑" pitchFamily="34" charset="-122"/>
                <a:ea typeface="微软雅黑" pitchFamily="34" charset="-122"/>
              </a:endParaRPr>
            </a:p>
            <a:p>
              <a:pPr algn="ctr">
                <a:lnSpc>
                  <a:spcPts val="1400"/>
                </a:lnSpc>
              </a:pPr>
              <a:r>
                <a:rPr lang="zh-CN" altLang="en-US" sz="1200" dirty="0">
                  <a:solidFill>
                    <a:schemeClr val="tx1"/>
                  </a:solidFill>
                  <a:latin typeface="微软雅黑" pitchFamily="34" charset="-122"/>
                  <a:ea typeface="微软雅黑" pitchFamily="34" charset="-122"/>
                </a:rPr>
                <a:t>传送</a:t>
              </a:r>
            </a:p>
          </p:txBody>
        </p:sp>
        <p:sp>
          <p:nvSpPr>
            <p:cNvPr id="36" name="矩形 35"/>
            <p:cNvSpPr/>
            <p:nvPr/>
          </p:nvSpPr>
          <p:spPr>
            <a:xfrm>
              <a:off x="7545130" y="1693972"/>
              <a:ext cx="479403" cy="416404"/>
            </a:xfrm>
            <a:prstGeom prst="rect">
              <a:avLst/>
            </a:prstGeom>
            <a:solidFill>
              <a:srgbClr val="FFCCCC"/>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en-US" altLang="zh-CN" sz="1200" dirty="0">
                  <a:solidFill>
                    <a:schemeClr val="tx1"/>
                  </a:solidFill>
                  <a:latin typeface="微软雅黑" pitchFamily="34" charset="-122"/>
                  <a:ea typeface="微软雅黑" pitchFamily="34" charset="-122"/>
                </a:rPr>
                <a:t>…</a:t>
              </a:r>
              <a:endParaRPr lang="zh-CN" altLang="en-US" sz="1200" dirty="0">
                <a:solidFill>
                  <a:schemeClr val="tx1"/>
                </a:solidFill>
                <a:latin typeface="微软雅黑" pitchFamily="34" charset="-122"/>
                <a:ea typeface="微软雅黑" pitchFamily="34" charset="-122"/>
              </a:endParaRPr>
            </a:p>
          </p:txBody>
        </p:sp>
        <p:sp>
          <p:nvSpPr>
            <p:cNvPr id="54" name="矩形 53"/>
            <p:cNvSpPr/>
            <p:nvPr/>
          </p:nvSpPr>
          <p:spPr>
            <a:xfrm>
              <a:off x="6810258" y="2034783"/>
              <a:ext cx="729061" cy="290745"/>
            </a:xfrm>
            <a:prstGeom prst="rect">
              <a:avLst/>
            </a:prstGeom>
            <a:solidFill>
              <a:srgbClr val="FF99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bIns="0" rtlCol="0" anchor="b" anchorCtr="0"/>
            <a:lstStyle/>
            <a:p>
              <a:pPr algn="ctr">
                <a:lnSpc>
                  <a:spcPts val="1200"/>
                </a:lnSpc>
              </a:pPr>
              <a:r>
                <a:rPr lang="en-US" altLang="zh-CN" sz="1100" dirty="0">
                  <a:solidFill>
                    <a:schemeClr val="tx1"/>
                  </a:solidFill>
                  <a:latin typeface="微软雅黑" pitchFamily="34" charset="-122"/>
                  <a:ea typeface="微软雅黑" pitchFamily="34" charset="-122"/>
                </a:rPr>
                <a:t>TELNET</a:t>
              </a:r>
              <a:endParaRPr lang="zh-CN" altLang="en-US" sz="1100" dirty="0">
                <a:solidFill>
                  <a:schemeClr val="tx1"/>
                </a:solidFill>
                <a:latin typeface="微软雅黑" pitchFamily="34" charset="-122"/>
                <a:ea typeface="微软雅黑" pitchFamily="34" charset="-122"/>
              </a:endParaRPr>
            </a:p>
          </p:txBody>
        </p:sp>
        <p:sp>
          <p:nvSpPr>
            <p:cNvPr id="55" name="矩形 54"/>
            <p:cNvSpPr/>
            <p:nvPr/>
          </p:nvSpPr>
          <p:spPr>
            <a:xfrm>
              <a:off x="6810258" y="1695029"/>
              <a:ext cx="729061" cy="415347"/>
            </a:xfrm>
            <a:prstGeom prst="rect">
              <a:avLst/>
            </a:prstGeom>
            <a:solidFill>
              <a:srgbClr val="FF99FF"/>
            </a:solidFill>
            <a:ln w="12700">
              <a:solidFill>
                <a:schemeClr val="tx1"/>
              </a:solidFill>
            </a:ln>
            <a:scene3d>
              <a:camera prst="orthographicFront"/>
              <a:lightRig rig="threePt" dir="t"/>
            </a:scene3d>
            <a:sp3d>
              <a:bevelT w="50800" h="508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400"/>
                </a:lnSpc>
              </a:pPr>
              <a:r>
                <a:rPr lang="zh-CN" altLang="en-US" sz="1200" dirty="0">
                  <a:solidFill>
                    <a:schemeClr val="tx1"/>
                  </a:solidFill>
                  <a:latin typeface="微软雅黑" pitchFamily="34" charset="-122"/>
                  <a:ea typeface="微软雅黑" pitchFamily="34" charset="-122"/>
                </a:rPr>
                <a:t>远程终端接入</a:t>
              </a:r>
            </a:p>
          </p:txBody>
        </p:sp>
      </p:grpSp>
      <p:sp>
        <p:nvSpPr>
          <p:cNvPr id="7" name="内容占位符 6">
            <a:extLst>
              <a:ext uri="{FF2B5EF4-FFF2-40B4-BE49-F238E27FC236}">
                <a16:creationId xmlns:a16="http://schemas.microsoft.com/office/drawing/2014/main" id="{0AE32105-5C62-481D-FE6F-6EBB60AB5AE3}"/>
              </a:ext>
            </a:extLst>
          </p:cNvPr>
          <p:cNvSpPr>
            <a:spLocks noGrp="1"/>
          </p:cNvSpPr>
          <p:nvPr>
            <p:ph sz="quarter" idx="11"/>
          </p:nvPr>
        </p:nvSpPr>
        <p:spPr/>
        <p:txBody>
          <a:bodyPr/>
          <a:lstStyle/>
          <a:p>
            <a:endParaRPr lang="zh-CN" altLang="en-US"/>
          </a:p>
        </p:txBody>
      </p:sp>
      <p:sp>
        <p:nvSpPr>
          <p:cNvPr id="5" name="标题 4">
            <a:extLst>
              <a:ext uri="{FF2B5EF4-FFF2-40B4-BE49-F238E27FC236}">
                <a16:creationId xmlns:a16="http://schemas.microsoft.com/office/drawing/2014/main" id="{E332E16E-624B-56E7-6104-DC17FB15352F}"/>
              </a:ext>
            </a:extLst>
          </p:cNvPr>
          <p:cNvSpPr>
            <a:spLocks noGrp="1"/>
          </p:cNvSpPr>
          <p:nvPr>
            <p:ph type="title"/>
          </p:nvPr>
        </p:nvSpPr>
        <p:spPr>
          <a:xfrm>
            <a:off x="2808000" y="144000"/>
            <a:ext cx="3528000" cy="338554"/>
          </a:xfrm>
        </p:spPr>
        <p:txBody>
          <a:bodyPr/>
          <a:lstStyle/>
          <a:p>
            <a:r>
              <a:rPr lang="zh-CN" altLang="en-US" dirty="0"/>
              <a:t>使用 </a:t>
            </a:r>
            <a:r>
              <a:rPr lang="en-US" altLang="zh-CN" dirty="0"/>
              <a:t>UDP </a:t>
            </a:r>
            <a:r>
              <a:rPr lang="zh-CN" altLang="en-US" dirty="0"/>
              <a:t>和 </a:t>
            </a:r>
            <a:r>
              <a:rPr lang="en-US" altLang="zh-CN" dirty="0"/>
              <a:t>TCP </a:t>
            </a:r>
            <a:r>
              <a:rPr lang="zh-CN" altLang="en-US" dirty="0"/>
              <a:t>的典型应用和应用层协议</a:t>
            </a:r>
          </a:p>
        </p:txBody>
      </p:sp>
    </p:spTree>
    <p:extLst>
      <p:ext uri="{BB962C8B-B14F-4D97-AF65-F5344CB8AC3E}">
        <p14:creationId xmlns:p14="http://schemas.microsoft.com/office/powerpoint/2010/main" val="17041797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down)">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4" name="组合 163"/>
          <p:cNvGrpSpPr/>
          <p:nvPr/>
        </p:nvGrpSpPr>
        <p:grpSpPr>
          <a:xfrm>
            <a:off x="1354795" y="2304657"/>
            <a:ext cx="6308631" cy="1585772"/>
            <a:chOff x="1354795" y="1123857"/>
            <a:chExt cx="6308631" cy="1585772"/>
          </a:xfrm>
        </p:grpSpPr>
        <p:sp>
          <p:nvSpPr>
            <p:cNvPr id="7" name="Rectangle 174"/>
            <p:cNvSpPr>
              <a:spLocks noChangeArrowheads="1"/>
            </p:cNvSpPr>
            <p:nvPr/>
          </p:nvSpPr>
          <p:spPr bwMode="auto">
            <a:xfrm>
              <a:off x="1518204" y="1951646"/>
              <a:ext cx="5989193" cy="243382"/>
            </a:xfrm>
            <a:prstGeom prst="rect">
              <a:avLst/>
            </a:prstGeom>
            <a:solidFill>
              <a:srgbClr val="33CC33"/>
            </a:solidFill>
            <a:ln>
              <a:noFill/>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8" name="Rectangle 2"/>
            <p:cNvSpPr>
              <a:spLocks noChangeArrowheads="1"/>
            </p:cNvSpPr>
            <p:nvPr/>
          </p:nvSpPr>
          <p:spPr bwMode="auto">
            <a:xfrm>
              <a:off x="1523156" y="1377825"/>
              <a:ext cx="996549"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0" name="Line 7"/>
            <p:cNvSpPr>
              <a:spLocks noChangeShapeType="1"/>
            </p:cNvSpPr>
            <p:nvPr/>
          </p:nvSpPr>
          <p:spPr bwMode="auto">
            <a:xfrm>
              <a:off x="1523156" y="2198772"/>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1" name="Line 8"/>
            <p:cNvSpPr>
              <a:spLocks noChangeShapeType="1"/>
            </p:cNvSpPr>
            <p:nvPr/>
          </p:nvSpPr>
          <p:spPr bwMode="auto">
            <a:xfrm>
              <a:off x="1523156" y="2446835"/>
              <a:ext cx="99531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2" name="Rectangle 9"/>
            <p:cNvSpPr>
              <a:spLocks noChangeArrowheads="1"/>
            </p:cNvSpPr>
            <p:nvPr/>
          </p:nvSpPr>
          <p:spPr bwMode="auto">
            <a:xfrm>
              <a:off x="1528108" y="1720432"/>
              <a:ext cx="989121"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 name="Rectangle 10"/>
            <p:cNvSpPr>
              <a:spLocks noChangeArrowheads="1"/>
            </p:cNvSpPr>
            <p:nvPr/>
          </p:nvSpPr>
          <p:spPr bwMode="auto">
            <a:xfrm>
              <a:off x="1490519"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nvGrpSpPr>
            <p:cNvPr id="14" name="Group 15"/>
            <p:cNvGrpSpPr>
              <a:grpSpLocks/>
            </p:cNvGrpSpPr>
            <p:nvPr/>
          </p:nvGrpSpPr>
          <p:grpSpPr bwMode="auto">
            <a:xfrm>
              <a:off x="3388744" y="1957262"/>
              <a:ext cx="729151" cy="734827"/>
              <a:chOff x="2017" y="1543"/>
              <a:chExt cx="619" cy="922"/>
            </a:xfrm>
          </p:grpSpPr>
          <p:sp>
            <p:nvSpPr>
              <p:cNvPr id="141" name="Rectangle 12"/>
              <p:cNvSpPr>
                <a:spLocks noChangeArrowheads="1"/>
              </p:cNvSpPr>
              <p:nvPr/>
            </p:nvSpPr>
            <p:spPr bwMode="auto">
              <a:xfrm>
                <a:off x="2017"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42" name="Line 13"/>
              <p:cNvSpPr>
                <a:spLocks noChangeShapeType="1"/>
              </p:cNvSpPr>
              <p:nvPr/>
            </p:nvSpPr>
            <p:spPr bwMode="auto">
              <a:xfrm>
                <a:off x="2017"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3" name="Line 14"/>
              <p:cNvSpPr>
                <a:spLocks noChangeShapeType="1"/>
              </p:cNvSpPr>
              <p:nvPr/>
            </p:nvSpPr>
            <p:spPr bwMode="auto">
              <a:xfrm>
                <a:off x="2017"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15" name="Rectangle 16"/>
            <p:cNvSpPr>
              <a:spLocks noChangeArrowheads="1"/>
            </p:cNvSpPr>
            <p:nvPr/>
          </p:nvSpPr>
          <p:spPr bwMode="auto">
            <a:xfrm>
              <a:off x="6505897" y="1377825"/>
              <a:ext cx="997786" cy="131426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 name="Line 21"/>
            <p:cNvSpPr>
              <a:spLocks noChangeShapeType="1"/>
            </p:cNvSpPr>
            <p:nvPr/>
          </p:nvSpPr>
          <p:spPr bwMode="auto">
            <a:xfrm>
              <a:off x="6505897" y="2198772"/>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7" name="Line 22"/>
            <p:cNvSpPr>
              <a:spLocks noChangeShapeType="1"/>
            </p:cNvSpPr>
            <p:nvPr/>
          </p:nvSpPr>
          <p:spPr bwMode="auto">
            <a:xfrm>
              <a:off x="6505897" y="2446835"/>
              <a:ext cx="99654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8" name="Rectangle 23"/>
            <p:cNvSpPr>
              <a:spLocks noChangeArrowheads="1"/>
            </p:cNvSpPr>
            <p:nvPr/>
          </p:nvSpPr>
          <p:spPr bwMode="auto">
            <a:xfrm>
              <a:off x="6508373" y="1720432"/>
              <a:ext cx="995310" cy="231214"/>
            </a:xfrm>
            <a:prstGeom prst="rect">
              <a:avLst/>
            </a:prstGeom>
            <a:solidFill>
              <a:srgbClr val="FF66FF"/>
            </a:solidFill>
            <a:ln w="19050">
              <a:solidFill>
                <a:schemeClr val="tx1"/>
              </a:solidFill>
              <a:miter lim="800000"/>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grpSp>
          <p:nvGrpSpPr>
            <p:cNvPr id="19" name="Group 29"/>
            <p:cNvGrpSpPr>
              <a:grpSpLocks/>
            </p:cNvGrpSpPr>
            <p:nvPr/>
          </p:nvGrpSpPr>
          <p:grpSpPr bwMode="auto">
            <a:xfrm>
              <a:off x="4896565" y="1957262"/>
              <a:ext cx="729151" cy="734827"/>
              <a:chOff x="3295" y="1543"/>
              <a:chExt cx="619" cy="922"/>
            </a:xfrm>
          </p:grpSpPr>
          <p:sp>
            <p:nvSpPr>
              <p:cNvPr id="138" name="Rectangle 26"/>
              <p:cNvSpPr>
                <a:spLocks noChangeArrowheads="1"/>
              </p:cNvSpPr>
              <p:nvPr/>
            </p:nvSpPr>
            <p:spPr bwMode="auto">
              <a:xfrm>
                <a:off x="3295" y="1543"/>
                <a:ext cx="619" cy="92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9" name="Line 27"/>
              <p:cNvSpPr>
                <a:spLocks noChangeShapeType="1"/>
              </p:cNvSpPr>
              <p:nvPr/>
            </p:nvSpPr>
            <p:spPr bwMode="auto">
              <a:xfrm>
                <a:off x="3295" y="1845"/>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140" name="Line 28"/>
              <p:cNvSpPr>
                <a:spLocks noChangeShapeType="1"/>
              </p:cNvSpPr>
              <p:nvPr/>
            </p:nvSpPr>
            <p:spPr bwMode="auto">
              <a:xfrm>
                <a:off x="3295" y="2157"/>
                <a:ext cx="619"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grpSp>
        <p:sp>
          <p:nvSpPr>
            <p:cNvPr id="20" name="Rectangle 31"/>
            <p:cNvSpPr>
              <a:spLocks noChangeArrowheads="1"/>
            </p:cNvSpPr>
            <p:nvPr/>
          </p:nvSpPr>
          <p:spPr bwMode="auto">
            <a:xfrm>
              <a:off x="3242326" y="1552980"/>
              <a:ext cx="266282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latin typeface="微软雅黑" panose="020B0503020204020204" pitchFamily="34" charset="-122"/>
                  <a:ea typeface="微软雅黑" panose="020B0503020204020204" pitchFamily="34" charset="-122"/>
                </a:rPr>
                <a:t>运输层提供应用进程</a:t>
              </a:r>
              <a:r>
                <a:rPr lang="zh-CN" altLang="zh-CN" sz="1200" b="1" dirty="0">
                  <a:latin typeface="微软雅黑" panose="020B0503020204020204" pitchFamily="34" charset="-122"/>
                  <a:ea typeface="微软雅黑" panose="020B0503020204020204" pitchFamily="34" charset="-122"/>
                </a:rPr>
                <a:t>间的</a:t>
              </a:r>
              <a:r>
                <a:rPr lang="zh-CN" altLang="zh-CN" sz="1200" b="1" dirty="0">
                  <a:solidFill>
                    <a:srgbClr val="9900FF"/>
                  </a:solidFill>
                  <a:latin typeface="微软雅黑" panose="020B0503020204020204" pitchFamily="34" charset="-122"/>
                  <a:ea typeface="微软雅黑" panose="020B0503020204020204" pitchFamily="34" charset="-122"/>
                </a:rPr>
                <a:t>逻辑</a:t>
              </a:r>
              <a:r>
                <a:rPr lang="zh-CN" altLang="en-US" sz="1200" b="1" dirty="0">
                  <a:solidFill>
                    <a:srgbClr val="9900FF"/>
                  </a:solidFill>
                  <a:latin typeface="微软雅黑" panose="020B0503020204020204" pitchFamily="34" charset="-122"/>
                  <a:ea typeface="微软雅黑" panose="020B0503020204020204" pitchFamily="34" charset="-122"/>
                </a:rPr>
                <a:t>通信</a:t>
              </a:r>
            </a:p>
          </p:txBody>
        </p:sp>
        <p:sp>
          <p:nvSpPr>
            <p:cNvPr id="26" name="Rectangle 98"/>
            <p:cNvSpPr>
              <a:spLocks noChangeArrowheads="1"/>
            </p:cNvSpPr>
            <p:nvPr/>
          </p:nvSpPr>
          <p:spPr bwMode="auto">
            <a:xfrm>
              <a:off x="2650927"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C00000"/>
                  </a:solidFill>
                  <a:latin typeface="微软雅黑" panose="020B0503020204020204" pitchFamily="34" charset="-122"/>
                  <a:ea typeface="微软雅黑" panose="020B0503020204020204" pitchFamily="34" charset="-122"/>
                </a:rPr>
                <a:t>应用进程</a:t>
              </a:r>
            </a:p>
          </p:txBody>
        </p:sp>
        <p:sp>
          <p:nvSpPr>
            <p:cNvPr id="27" name="Freeform 100"/>
            <p:cNvSpPr>
              <a:spLocks/>
            </p:cNvSpPr>
            <p:nvPr/>
          </p:nvSpPr>
          <p:spPr bwMode="auto">
            <a:xfrm>
              <a:off x="6218693" y="1451776"/>
              <a:ext cx="370146" cy="83311"/>
            </a:xfrm>
            <a:custGeom>
              <a:avLst/>
              <a:gdLst>
                <a:gd name="T0" fmla="*/ 0 w 297"/>
                <a:gd name="T1" fmla="*/ 0 h 105"/>
                <a:gd name="T2" fmla="*/ 2147483647 w 297"/>
                <a:gd name="T3" fmla="*/ 2147483647 h 105"/>
                <a:gd name="T4" fmla="*/ 0 60000 65536"/>
                <a:gd name="T5" fmla="*/ 0 60000 65536"/>
                <a:gd name="T6" fmla="*/ 0 w 297"/>
                <a:gd name="T7" fmla="*/ 0 h 105"/>
                <a:gd name="T8" fmla="*/ 297 w 297"/>
                <a:gd name="T9" fmla="*/ 105 h 105"/>
              </a:gdLst>
              <a:ahLst/>
              <a:cxnLst>
                <a:cxn ang="T4">
                  <a:pos x="T0" y="T1"/>
                </a:cxn>
                <a:cxn ang="T5">
                  <a:pos x="T2" y="T3"/>
                </a:cxn>
              </a:cxnLst>
              <a:rect l="T6" t="T7" r="T8" b="T9"/>
              <a:pathLst>
                <a:path w="297" h="105">
                  <a:moveTo>
                    <a:pt x="0" y="0"/>
                  </a:moveTo>
                  <a:lnTo>
                    <a:pt x="297" y="105"/>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28" name="Rectangle 101"/>
            <p:cNvSpPr>
              <a:spLocks noChangeArrowheads="1"/>
            </p:cNvSpPr>
            <p:nvPr/>
          </p:nvSpPr>
          <p:spPr bwMode="auto">
            <a:xfrm>
              <a:off x="5474686" y="1301066"/>
              <a:ext cx="79829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C00000"/>
                  </a:solidFill>
                  <a:latin typeface="微软雅黑" panose="020B0503020204020204" pitchFamily="34" charset="-122"/>
                  <a:ea typeface="微软雅黑" panose="020B0503020204020204" pitchFamily="34" charset="-122"/>
                </a:rPr>
                <a:t>应用进程</a:t>
              </a:r>
            </a:p>
          </p:txBody>
        </p:sp>
        <p:sp>
          <p:nvSpPr>
            <p:cNvPr id="29" name="AutoShape 102"/>
            <p:cNvSpPr>
              <a:spLocks noChangeArrowheads="1"/>
            </p:cNvSpPr>
            <p:nvPr/>
          </p:nvSpPr>
          <p:spPr bwMode="auto">
            <a:xfrm>
              <a:off x="2533322" y="1770045"/>
              <a:ext cx="3996096" cy="111394"/>
            </a:xfrm>
            <a:prstGeom prst="leftRightArrow">
              <a:avLst>
                <a:gd name="adj1" fmla="val 59167"/>
                <a:gd name="adj2" fmla="val 216108"/>
              </a:avLst>
            </a:prstGeom>
            <a:solidFill>
              <a:schemeClr val="accent6">
                <a:lumMod val="75000"/>
              </a:schemeClr>
            </a:solidFill>
            <a:ln w="6350">
              <a:solidFill>
                <a:srgbClr val="000066"/>
              </a:solidFill>
              <a:miter lim="800000"/>
              <a:headEnd/>
              <a:tailEnd/>
            </a:ln>
          </p:spPr>
          <p:txBody>
            <a:bodyPr wrap="none" anchor="ctr"/>
            <a:lstStyle/>
            <a:p>
              <a:pPr>
                <a:defRPr/>
              </a:pPr>
              <a:endParaRPr lang="zh-CN" altLang="en-US" sz="1200" b="1">
                <a:latin typeface="微软雅黑" panose="020B0503020204020204" pitchFamily="34" charset="-122"/>
                <a:ea typeface="微软雅黑" panose="020B0503020204020204" pitchFamily="34" charset="-122"/>
              </a:endParaRPr>
            </a:p>
          </p:txBody>
        </p:sp>
        <p:sp>
          <p:nvSpPr>
            <p:cNvPr id="35" name="Oval 138"/>
            <p:cNvSpPr>
              <a:spLocks noChangeArrowheads="1"/>
            </p:cNvSpPr>
            <p:nvPr/>
          </p:nvSpPr>
          <p:spPr bwMode="auto">
            <a:xfrm>
              <a:off x="6984983" y="1413396"/>
              <a:ext cx="434520" cy="161943"/>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36" name="Line 157"/>
            <p:cNvSpPr>
              <a:spLocks noChangeShapeType="1"/>
            </p:cNvSpPr>
            <p:nvPr/>
          </p:nvSpPr>
          <p:spPr bwMode="auto">
            <a:xfrm rot="5400000">
              <a:off x="3501724" y="2444495"/>
              <a:ext cx="48957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37" name="Line 158"/>
            <p:cNvSpPr>
              <a:spLocks noChangeShapeType="1"/>
            </p:cNvSpPr>
            <p:nvPr/>
          </p:nvSpPr>
          <p:spPr bwMode="auto">
            <a:xfrm rot="5400000">
              <a:off x="5007507" y="2443091"/>
              <a:ext cx="49612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49" name="Rectangle 175"/>
            <p:cNvSpPr>
              <a:spLocks noChangeArrowheads="1"/>
            </p:cNvSpPr>
            <p:nvPr/>
          </p:nvSpPr>
          <p:spPr bwMode="auto">
            <a:xfrm>
              <a:off x="4266449" y="1974112"/>
              <a:ext cx="535404"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IP </a:t>
              </a:r>
              <a:r>
                <a:rPr lang="zh-CN" altLang="en-US" sz="1200" b="1">
                  <a:latin typeface="微软雅黑" panose="020B0503020204020204" pitchFamily="34" charset="-122"/>
                  <a:ea typeface="微软雅黑" panose="020B0503020204020204" pitchFamily="34" charset="-122"/>
                </a:rPr>
                <a:t>层</a:t>
              </a:r>
            </a:p>
          </p:txBody>
        </p:sp>
        <p:sp>
          <p:nvSpPr>
            <p:cNvPr id="50" name="Freeform 99"/>
            <p:cNvSpPr>
              <a:spLocks/>
            </p:cNvSpPr>
            <p:nvPr/>
          </p:nvSpPr>
          <p:spPr bwMode="auto">
            <a:xfrm>
              <a:off x="2461521" y="1459264"/>
              <a:ext cx="225307" cy="66462"/>
            </a:xfrm>
            <a:custGeom>
              <a:avLst/>
              <a:gdLst>
                <a:gd name="T0" fmla="*/ 2147483647 w 174"/>
                <a:gd name="T1" fmla="*/ 0 h 84"/>
                <a:gd name="T2" fmla="*/ 0 w 174"/>
                <a:gd name="T3" fmla="*/ 2147483647 h 84"/>
                <a:gd name="T4" fmla="*/ 0 60000 65536"/>
                <a:gd name="T5" fmla="*/ 0 60000 65536"/>
                <a:gd name="T6" fmla="*/ 0 w 174"/>
                <a:gd name="T7" fmla="*/ 0 h 84"/>
                <a:gd name="T8" fmla="*/ 174 w 174"/>
                <a:gd name="T9" fmla="*/ 84 h 84"/>
              </a:gdLst>
              <a:ahLst/>
              <a:cxnLst>
                <a:cxn ang="T4">
                  <a:pos x="T0" y="T1"/>
                </a:cxn>
                <a:cxn ang="T5">
                  <a:pos x="T2" y="T3"/>
                </a:cxn>
              </a:cxnLst>
              <a:rect l="T6" t="T7" r="T8" b="T9"/>
              <a:pathLst>
                <a:path w="174" h="84">
                  <a:moveTo>
                    <a:pt x="174" y="0"/>
                  </a:moveTo>
                  <a:lnTo>
                    <a:pt x="0" y="84"/>
                  </a:lnTo>
                </a:path>
              </a:pathLst>
            </a:custGeom>
            <a:noFill/>
            <a:ln w="12700">
              <a:solidFill>
                <a:schemeClr val="tx1"/>
              </a:solidFill>
              <a:round/>
              <a:headEnd/>
              <a:tailEnd type="triangle" w="sm"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200" b="1">
                <a:latin typeface="微软雅黑" panose="020B0503020204020204" pitchFamily="34" charset="-122"/>
                <a:ea typeface="微软雅黑" panose="020B0503020204020204" pitchFamily="34" charset="-122"/>
              </a:endParaRPr>
            </a:p>
          </p:txBody>
        </p:sp>
        <p:sp>
          <p:nvSpPr>
            <p:cNvPr id="51" name="Oval 131"/>
            <p:cNvSpPr>
              <a:spLocks noChangeArrowheads="1"/>
            </p:cNvSpPr>
            <p:nvPr/>
          </p:nvSpPr>
          <p:spPr bwMode="auto">
            <a:xfrm>
              <a:off x="1576388" y="1409652"/>
              <a:ext cx="434519" cy="163815"/>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2" name="Rectangle 132"/>
            <p:cNvSpPr>
              <a:spLocks noChangeArrowheads="1"/>
            </p:cNvSpPr>
            <p:nvPr/>
          </p:nvSpPr>
          <p:spPr bwMode="auto">
            <a:xfrm>
              <a:off x="1608575" y="1355633"/>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1</a:t>
              </a:r>
              <a:endParaRPr lang="en-US" altLang="zh-CN" sz="1200" b="1" dirty="0">
                <a:latin typeface="微软雅黑" panose="020B0503020204020204" pitchFamily="34" charset="-122"/>
                <a:ea typeface="微软雅黑" panose="020B0503020204020204" pitchFamily="34" charset="-122"/>
              </a:endParaRPr>
            </a:p>
          </p:txBody>
        </p:sp>
        <p:grpSp>
          <p:nvGrpSpPr>
            <p:cNvPr id="53" name="Group 197"/>
            <p:cNvGrpSpPr>
              <a:grpSpLocks/>
            </p:cNvGrpSpPr>
            <p:nvPr/>
          </p:nvGrpSpPr>
          <p:grpSpPr bwMode="auto">
            <a:xfrm>
              <a:off x="2045571" y="1424580"/>
              <a:ext cx="481751" cy="274572"/>
              <a:chOff x="798" y="803"/>
              <a:chExt cx="408" cy="345"/>
            </a:xfrm>
            <a:solidFill>
              <a:schemeClr val="accent6">
                <a:lumMod val="75000"/>
              </a:schemeClr>
            </a:solidFill>
          </p:grpSpPr>
          <p:sp>
            <p:nvSpPr>
              <p:cNvPr id="136" name="Oval 128"/>
              <p:cNvSpPr>
                <a:spLocks noChangeArrowheads="1"/>
              </p:cNvSpPr>
              <p:nvPr/>
            </p:nvSpPr>
            <p:spPr bwMode="auto">
              <a:xfrm>
                <a:off x="798" y="849"/>
                <a:ext cx="368" cy="204"/>
              </a:xfrm>
              <a:prstGeom prst="ellipse">
                <a:avLst/>
              </a:prstGeom>
              <a:grp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37" name="Rectangle 129"/>
              <p:cNvSpPr>
                <a:spLocks noChangeArrowheads="1"/>
              </p:cNvSpPr>
              <p:nvPr/>
            </p:nvSpPr>
            <p:spPr bwMode="auto">
              <a:xfrm>
                <a:off x="815" y="803"/>
                <a:ext cx="391" cy="345"/>
              </a:xfrm>
              <a:prstGeom prst="rect">
                <a:avLst/>
              </a:prstGeom>
              <a:noFill/>
              <a:ln>
                <a:noFill/>
              </a:ln>
              <a:extLs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2</a:t>
                </a:r>
                <a:endParaRPr lang="en-US" altLang="zh-CN" sz="1200" b="1" dirty="0">
                  <a:latin typeface="微软雅黑" panose="020B0503020204020204" pitchFamily="34" charset="-122"/>
                  <a:ea typeface="微软雅黑" panose="020B0503020204020204" pitchFamily="34" charset="-122"/>
                </a:endParaRPr>
              </a:p>
            </p:txBody>
          </p:sp>
        </p:grpSp>
        <p:sp>
          <p:nvSpPr>
            <p:cNvPr id="54" name="Rectangle 139"/>
            <p:cNvSpPr>
              <a:spLocks noChangeArrowheads="1"/>
            </p:cNvSpPr>
            <p:nvPr/>
          </p:nvSpPr>
          <p:spPr bwMode="auto">
            <a:xfrm>
              <a:off x="7003552" y="1375291"/>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4</a:t>
              </a:r>
              <a:endParaRPr lang="en-US" altLang="zh-CN" sz="1200" b="1" dirty="0">
                <a:latin typeface="微软雅黑" panose="020B0503020204020204" pitchFamily="34" charset="-122"/>
                <a:ea typeface="微软雅黑" panose="020B0503020204020204" pitchFamily="34" charset="-122"/>
              </a:endParaRPr>
            </a:p>
          </p:txBody>
        </p:sp>
        <p:sp>
          <p:nvSpPr>
            <p:cNvPr id="55" name="Oval 135"/>
            <p:cNvSpPr>
              <a:spLocks noChangeArrowheads="1"/>
            </p:cNvSpPr>
            <p:nvPr/>
          </p:nvSpPr>
          <p:spPr bwMode="auto">
            <a:xfrm>
              <a:off x="6555415" y="1480794"/>
              <a:ext cx="433282" cy="162879"/>
            </a:xfrm>
            <a:prstGeom prst="ellipse">
              <a:avLst/>
            </a:prstGeom>
            <a:solidFill>
              <a:schemeClr val="accent6">
                <a:lumMod val="75000"/>
              </a:schemeClr>
            </a:solidFill>
            <a:ln w="12700">
              <a:solidFill>
                <a:schemeClr val="tx1"/>
              </a:solidFill>
              <a:round/>
              <a:headEnd/>
              <a:tailEnd/>
            </a:ln>
          </p:spPr>
          <p:txBody>
            <a:bodyPr wrap="none" anchor="ct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56" name="Rectangle 136"/>
            <p:cNvSpPr>
              <a:spLocks noChangeArrowheads="1"/>
            </p:cNvSpPr>
            <p:nvPr/>
          </p:nvSpPr>
          <p:spPr bwMode="auto">
            <a:xfrm>
              <a:off x="6572747" y="1436136"/>
              <a:ext cx="461666"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en-US" altLang="zh-CN" sz="1200" b="1" dirty="0">
                  <a:latin typeface="微软雅黑" panose="020B0503020204020204" pitchFamily="34" charset="-122"/>
                  <a:ea typeface="微软雅黑" panose="020B0503020204020204" pitchFamily="34" charset="-122"/>
                </a:rPr>
                <a:t>AP</a:t>
              </a:r>
              <a:r>
                <a:rPr lang="en-US" altLang="zh-CN" sz="1200" b="1" baseline="-25000" dirty="0">
                  <a:latin typeface="微软雅黑" panose="020B0503020204020204" pitchFamily="34" charset="-122"/>
                  <a:ea typeface="微软雅黑" panose="020B0503020204020204" pitchFamily="34" charset="-122"/>
                </a:rPr>
                <a:t>3</a:t>
              </a:r>
              <a:endParaRPr lang="en-US" altLang="zh-CN" sz="1200" b="1" dirty="0">
                <a:latin typeface="微软雅黑" panose="020B0503020204020204" pitchFamily="34" charset="-122"/>
                <a:ea typeface="微软雅黑" panose="020B0503020204020204" pitchFamily="34" charset="-122"/>
              </a:endParaRPr>
            </a:p>
          </p:txBody>
        </p:sp>
        <p:sp>
          <p:nvSpPr>
            <p:cNvPr id="66" name="Rectangle 244"/>
            <p:cNvSpPr>
              <a:spLocks noChangeArrowheads="1"/>
            </p:cNvSpPr>
            <p:nvPr/>
          </p:nvSpPr>
          <p:spPr bwMode="auto">
            <a:xfrm>
              <a:off x="1354795" y="1123857"/>
              <a:ext cx="1314463"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dirty="0">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A </a:t>
              </a:r>
              <a:r>
                <a:rPr lang="zh-CN" altLang="en-US" sz="1200" b="1" dirty="0">
                  <a:solidFill>
                    <a:srgbClr val="0000FF"/>
                  </a:solidFill>
                  <a:latin typeface="微软雅黑" panose="020B0503020204020204" pitchFamily="34" charset="-122"/>
                  <a:ea typeface="微软雅黑" panose="020B0503020204020204" pitchFamily="34" charset="-122"/>
                </a:rPr>
                <a:t>的协议栈</a:t>
              </a:r>
            </a:p>
          </p:txBody>
        </p:sp>
        <p:sp>
          <p:nvSpPr>
            <p:cNvPr id="67" name="Rectangle 245"/>
            <p:cNvSpPr>
              <a:spLocks noChangeArrowheads="1"/>
            </p:cNvSpPr>
            <p:nvPr/>
          </p:nvSpPr>
          <p:spPr bwMode="auto">
            <a:xfrm>
              <a:off x="6358581" y="1123857"/>
              <a:ext cx="1304845" cy="274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200" b="1">
                  <a:solidFill>
                    <a:srgbClr val="0000FF"/>
                  </a:solidFill>
                  <a:latin typeface="微软雅黑" panose="020B0503020204020204" pitchFamily="34" charset="-122"/>
                  <a:ea typeface="微软雅黑" panose="020B0503020204020204" pitchFamily="34" charset="-122"/>
                </a:rPr>
                <a:t>主机 </a:t>
              </a:r>
              <a:r>
                <a:rPr lang="en-US" altLang="zh-CN" sz="1200" b="1" dirty="0">
                  <a:solidFill>
                    <a:srgbClr val="0000FF"/>
                  </a:solidFill>
                  <a:latin typeface="微软雅黑" panose="020B0503020204020204" pitchFamily="34" charset="-122"/>
                  <a:ea typeface="微软雅黑" panose="020B0503020204020204" pitchFamily="34" charset="-122"/>
                </a:rPr>
                <a:t>B </a:t>
              </a:r>
              <a:r>
                <a:rPr lang="zh-CN" altLang="en-US" sz="1200" b="1">
                  <a:solidFill>
                    <a:srgbClr val="0000FF"/>
                  </a:solidFill>
                  <a:latin typeface="微软雅黑" panose="020B0503020204020204" pitchFamily="34" charset="-122"/>
                  <a:ea typeface="微软雅黑" panose="020B0503020204020204" pitchFamily="34" charset="-122"/>
                </a:rPr>
                <a:t>的协议栈</a:t>
              </a:r>
            </a:p>
          </p:txBody>
        </p:sp>
        <p:sp>
          <p:nvSpPr>
            <p:cNvPr id="78" name="Rectangle 10"/>
            <p:cNvSpPr>
              <a:spLocks noChangeArrowheads="1"/>
            </p:cNvSpPr>
            <p:nvPr/>
          </p:nvSpPr>
          <p:spPr bwMode="auto">
            <a:xfrm>
              <a:off x="7281090" y="1542643"/>
              <a:ext cx="277321" cy="1166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nSpc>
                  <a:spcPts val="1200"/>
                </a:lnSpc>
              </a:pPr>
              <a:r>
                <a:rPr lang="en-US" altLang="zh-CN" sz="1200" b="1" dirty="0">
                  <a:latin typeface="微软雅黑" panose="020B0503020204020204" pitchFamily="34" charset="-122"/>
                  <a:ea typeface="微软雅黑" panose="020B0503020204020204" pitchFamily="34" charset="-122"/>
                </a:rPr>
                <a:t>5</a:t>
              </a:r>
            </a:p>
            <a:p>
              <a:pPr>
                <a:lnSpc>
                  <a:spcPts val="4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4</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3</a:t>
              </a:r>
            </a:p>
            <a:p>
              <a:pPr>
                <a:lnSpc>
                  <a:spcPts val="8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2</a:t>
              </a:r>
            </a:p>
            <a:p>
              <a:pPr>
                <a:lnSpc>
                  <a:spcPts val="600"/>
                </a:lnSpc>
              </a:pPr>
              <a:endParaRPr lang="en-US" altLang="zh-CN" sz="1200" b="1" dirty="0">
                <a:latin typeface="微软雅黑" panose="020B0503020204020204" pitchFamily="34" charset="-122"/>
                <a:ea typeface="微软雅黑" panose="020B0503020204020204" pitchFamily="34" charset="-122"/>
              </a:endParaRPr>
            </a:p>
            <a:p>
              <a:pPr>
                <a:lnSpc>
                  <a:spcPts val="1200"/>
                </a:lnSpc>
              </a:pPr>
              <a:r>
                <a:rPr lang="en-US" altLang="zh-CN" sz="1200" b="1" dirty="0">
                  <a:latin typeface="微软雅黑" panose="020B0503020204020204" pitchFamily="34" charset="-122"/>
                  <a:ea typeface="微软雅黑" panose="020B0503020204020204" pitchFamily="34" charset="-122"/>
                </a:rPr>
                <a:t>1</a:t>
              </a:r>
            </a:p>
          </p:txBody>
        </p:sp>
      </p:grpSp>
      <p:grpSp>
        <p:nvGrpSpPr>
          <p:cNvPr id="144" name="组合 143"/>
          <p:cNvGrpSpPr/>
          <p:nvPr/>
        </p:nvGrpSpPr>
        <p:grpSpPr>
          <a:xfrm>
            <a:off x="811003" y="2657407"/>
            <a:ext cx="1501964" cy="534806"/>
            <a:chOff x="811003" y="1423671"/>
            <a:chExt cx="1501964" cy="534806"/>
          </a:xfrm>
        </p:grpSpPr>
        <p:sp>
          <p:nvSpPr>
            <p:cNvPr id="145" name="椭圆 144"/>
            <p:cNvSpPr/>
            <p:nvPr/>
          </p:nvSpPr>
          <p:spPr>
            <a:xfrm>
              <a:off x="1765743" y="159315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Rectangle 98"/>
            <p:cNvSpPr>
              <a:spLocks noChangeArrowheads="1"/>
            </p:cNvSpPr>
            <p:nvPr/>
          </p:nvSpPr>
          <p:spPr bwMode="auto">
            <a:xfrm>
              <a:off x="811003" y="1423671"/>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复用</a:t>
              </a:r>
            </a:p>
          </p:txBody>
        </p:sp>
        <p:cxnSp>
          <p:nvCxnSpPr>
            <p:cNvPr id="147" name="直接连接符 146"/>
            <p:cNvCxnSpPr/>
            <p:nvPr/>
          </p:nvCxnSpPr>
          <p:spPr>
            <a:xfrm>
              <a:off x="1284233" y="1633378"/>
              <a:ext cx="562557" cy="11094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48" name="组合 147"/>
          <p:cNvGrpSpPr/>
          <p:nvPr/>
        </p:nvGrpSpPr>
        <p:grpSpPr>
          <a:xfrm>
            <a:off x="6744719" y="2681789"/>
            <a:ext cx="1465661" cy="510534"/>
            <a:chOff x="-297165" y="1386983"/>
            <a:chExt cx="1465661" cy="510534"/>
          </a:xfrm>
        </p:grpSpPr>
        <p:sp>
          <p:nvSpPr>
            <p:cNvPr id="149" name="椭圆 148"/>
            <p:cNvSpPr/>
            <p:nvPr/>
          </p:nvSpPr>
          <p:spPr>
            <a:xfrm>
              <a:off x="-297165" y="1532198"/>
              <a:ext cx="547224" cy="365319"/>
            </a:xfrm>
            <a:prstGeom prst="ellipse">
              <a:avLst/>
            </a:prstGeom>
            <a:solidFill>
              <a:schemeClr val="bg1"/>
            </a:solidFill>
            <a:ln w="19050">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Rectangle 98"/>
            <p:cNvSpPr>
              <a:spLocks noChangeArrowheads="1"/>
            </p:cNvSpPr>
            <p:nvPr/>
          </p:nvSpPr>
          <p:spPr bwMode="auto">
            <a:xfrm>
              <a:off x="626680" y="1386983"/>
              <a:ext cx="541816" cy="30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lvl1pPr defTabSz="762000">
                <a:defRPr kumimoji="1" sz="2400">
                  <a:solidFill>
                    <a:schemeClr val="tx1"/>
                  </a:solidFill>
                  <a:latin typeface="Times New Roman" panose="02020603050405020304" pitchFamily="18" charset="0"/>
                  <a:ea typeface="宋体" panose="02010600030101010101" pitchFamily="2" charset="-122"/>
                </a:defRPr>
              </a:lvl1pPr>
              <a:lvl2pPr marL="742950" indent="-285750" defTabSz="762000">
                <a:defRPr kumimoji="1" sz="2400">
                  <a:solidFill>
                    <a:schemeClr val="tx1"/>
                  </a:solidFill>
                  <a:latin typeface="Times New Roman" panose="02020603050405020304" pitchFamily="18" charset="0"/>
                  <a:ea typeface="宋体" panose="02010600030101010101" pitchFamily="2" charset="-122"/>
                </a:defRPr>
              </a:lvl2pPr>
              <a:lvl3pPr marL="1143000" indent="-228600" defTabSz="762000">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defRPr kumimoji="1" sz="2400">
                  <a:solidFill>
                    <a:schemeClr val="tx1"/>
                  </a:solidFill>
                  <a:latin typeface="Times New Roman" panose="02020603050405020304" pitchFamily="18" charset="0"/>
                  <a:ea typeface="宋体" panose="02010600030101010101" pitchFamily="2" charset="-122"/>
                </a:defRPr>
              </a:lvl4pPr>
              <a:lvl5pPr marL="2057400" indent="-228600" defTabSz="762000">
                <a:defRPr kumimoji="1" sz="24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r>
                <a:rPr lang="zh-CN" altLang="en-US" sz="1400" b="1" dirty="0">
                  <a:solidFill>
                    <a:srgbClr val="C00000"/>
                  </a:solidFill>
                  <a:latin typeface="微软雅黑" panose="020B0503020204020204" pitchFamily="34" charset="-122"/>
                  <a:ea typeface="微软雅黑" panose="020B0503020204020204" pitchFamily="34" charset="-122"/>
                </a:rPr>
                <a:t>分用</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cxnSp>
          <p:nvCxnSpPr>
            <p:cNvPr id="151" name="直接连接符 150"/>
            <p:cNvCxnSpPr/>
            <p:nvPr/>
          </p:nvCxnSpPr>
          <p:spPr>
            <a:xfrm flipH="1">
              <a:off x="148855" y="1605572"/>
              <a:ext cx="545860" cy="80939"/>
            </a:xfrm>
            <a:prstGeom prst="line">
              <a:avLst/>
            </a:prstGeom>
            <a:ln w="12700">
              <a:headEnd type="triangle" w="med" len="med"/>
              <a:tailEnd type="none" w="med" len="med"/>
            </a:ln>
          </p:spPr>
          <p:style>
            <a:lnRef idx="1">
              <a:schemeClr val="dk1"/>
            </a:lnRef>
            <a:fillRef idx="0">
              <a:schemeClr val="dk1"/>
            </a:fillRef>
            <a:effectRef idx="0">
              <a:schemeClr val="dk1"/>
            </a:effectRef>
            <a:fontRef idx="minor">
              <a:schemeClr val="tx1"/>
            </a:fontRef>
          </p:style>
        </p:cxnSp>
      </p:grpSp>
      <p:grpSp>
        <p:nvGrpSpPr>
          <p:cNvPr id="152" name="组合 151"/>
          <p:cNvGrpSpPr/>
          <p:nvPr/>
        </p:nvGrpSpPr>
        <p:grpSpPr>
          <a:xfrm>
            <a:off x="1814331" y="2744988"/>
            <a:ext cx="5408594" cy="1293671"/>
            <a:chOff x="1804171" y="1511252"/>
            <a:chExt cx="5408594" cy="1293671"/>
          </a:xfrm>
        </p:grpSpPr>
        <p:sp>
          <p:nvSpPr>
            <p:cNvPr id="153" name="Line 248"/>
            <p:cNvSpPr>
              <a:spLocks noChangeShapeType="1"/>
            </p:cNvSpPr>
            <p:nvPr/>
          </p:nvSpPr>
          <p:spPr bwMode="auto">
            <a:xfrm>
              <a:off x="6781959" y="1588011"/>
              <a:ext cx="262445" cy="31265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4" name="Line 249"/>
            <p:cNvSpPr>
              <a:spLocks noChangeShapeType="1"/>
            </p:cNvSpPr>
            <p:nvPr/>
          </p:nvSpPr>
          <p:spPr bwMode="auto">
            <a:xfrm flipH="1">
              <a:off x="7044404" y="1511252"/>
              <a:ext cx="168361" cy="381923"/>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5" name="椭圆 85"/>
            <p:cNvSpPr>
              <a:spLocks noChangeArrowheads="1"/>
            </p:cNvSpPr>
            <p:nvPr/>
          </p:nvSpPr>
          <p:spPr bwMode="auto">
            <a:xfrm>
              <a:off x="7123633"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6" name="椭圆 85"/>
            <p:cNvSpPr>
              <a:spLocks noChangeArrowheads="1"/>
            </p:cNvSpPr>
            <p:nvPr/>
          </p:nvSpPr>
          <p:spPr bwMode="auto">
            <a:xfrm>
              <a:off x="7010980" y="1883814"/>
              <a:ext cx="55707" cy="42124"/>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7" name="椭圆 85"/>
            <p:cNvSpPr>
              <a:spLocks noChangeArrowheads="1"/>
            </p:cNvSpPr>
            <p:nvPr/>
          </p:nvSpPr>
          <p:spPr bwMode="auto">
            <a:xfrm>
              <a:off x="6817860" y="1645112"/>
              <a:ext cx="56946" cy="43060"/>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58" name="Freeform 32"/>
            <p:cNvSpPr>
              <a:spLocks/>
            </p:cNvSpPr>
            <p:nvPr/>
          </p:nvSpPr>
          <p:spPr bwMode="auto">
            <a:xfrm>
              <a:off x="1999766" y="1897856"/>
              <a:ext cx="5039686" cy="907067"/>
            </a:xfrm>
            <a:custGeom>
              <a:avLst/>
              <a:gdLst>
                <a:gd name="T0" fmla="*/ 0 w 4272"/>
                <a:gd name="T1" fmla="*/ 0 h 1138"/>
                <a:gd name="T2" fmla="*/ 0 w 4272"/>
                <a:gd name="T3" fmla="*/ 2147483647 h 1138"/>
                <a:gd name="T4" fmla="*/ 2147483647 w 4272"/>
                <a:gd name="T5" fmla="*/ 2147483647 h 1138"/>
                <a:gd name="T6" fmla="*/ 2147483647 w 4272"/>
                <a:gd name="T7" fmla="*/ 2147483647 h 1138"/>
                <a:gd name="T8" fmla="*/ 2147483647 w 4272"/>
                <a:gd name="T9" fmla="*/ 2147483647 h 1138"/>
                <a:gd name="T10" fmla="*/ 2147483647 w 4272"/>
                <a:gd name="T11" fmla="*/ 2147483647 h 1138"/>
                <a:gd name="T12" fmla="*/ 2147483647 w 4272"/>
                <a:gd name="T13" fmla="*/ 2147483647 h 1138"/>
                <a:gd name="T14" fmla="*/ 2147483647 w 4272"/>
                <a:gd name="T15" fmla="*/ 2147483647 h 1138"/>
                <a:gd name="T16" fmla="*/ 2147483647 w 4272"/>
                <a:gd name="T17" fmla="*/ 2147483647 h 1138"/>
                <a:gd name="T18" fmla="*/ 2147483647 w 4272"/>
                <a:gd name="T19" fmla="*/ 2147483647 h 1138"/>
                <a:gd name="T20" fmla="*/ 2147483647 w 4272"/>
                <a:gd name="T21" fmla="*/ 2147483647 h 1138"/>
                <a:gd name="T22" fmla="*/ 2147483647 w 4272"/>
                <a:gd name="T23" fmla="*/ 2147483647 h 1138"/>
                <a:gd name="T24" fmla="*/ 2147483647 w 4272"/>
                <a:gd name="T25" fmla="*/ 2147483647 h 1138"/>
                <a:gd name="T26" fmla="*/ 2147483647 w 4272"/>
                <a:gd name="T27" fmla="*/ 2147483647 h 1138"/>
                <a:gd name="T28" fmla="*/ 2147483647 w 4272"/>
                <a:gd name="T29" fmla="*/ 2147483647 h 1138"/>
                <a:gd name="T30" fmla="*/ 2147483647 w 4272"/>
                <a:gd name="T31" fmla="*/ 2147483647 h 1138"/>
                <a:gd name="T32" fmla="*/ 2147483647 w 4272"/>
                <a:gd name="T33" fmla="*/ 2147483647 h 1138"/>
                <a:gd name="T34" fmla="*/ 2147483647 w 4272"/>
                <a:gd name="T35" fmla="*/ 2147483647 h 1138"/>
                <a:gd name="T36" fmla="*/ 2147483647 w 4272"/>
                <a:gd name="T37" fmla="*/ 2147483647 h 1138"/>
                <a:gd name="T38" fmla="*/ 2147483647 w 4272"/>
                <a:gd name="T39" fmla="*/ 2147483647 h 1138"/>
                <a:gd name="T40" fmla="*/ 2147483647 w 4272"/>
                <a:gd name="T41" fmla="*/ 2147483647 h 1138"/>
                <a:gd name="T42" fmla="*/ 2147483647 w 4272"/>
                <a:gd name="T43" fmla="*/ 2147483647 h 1138"/>
                <a:gd name="T44" fmla="*/ 2147483647 w 4272"/>
                <a:gd name="T45" fmla="*/ 2147483647 h 1138"/>
                <a:gd name="T46" fmla="*/ 2147483647 w 4272"/>
                <a:gd name="T47" fmla="*/ 2147483647 h 1138"/>
                <a:gd name="T48" fmla="*/ 2147483647 w 4272"/>
                <a:gd name="T49" fmla="*/ 2147483647 h 1138"/>
                <a:gd name="T50" fmla="*/ 2147483647 w 4272"/>
                <a:gd name="T51" fmla="*/ 2147483647 h 1138"/>
                <a:gd name="T52" fmla="*/ 2147483647 w 4272"/>
                <a:gd name="T53" fmla="*/ 2147483647 h 1138"/>
                <a:gd name="T54" fmla="*/ 2147483647 w 4272"/>
                <a:gd name="T55" fmla="*/ 2147483647 h 1138"/>
                <a:gd name="T56" fmla="*/ 2147483647 w 4272"/>
                <a:gd name="T57" fmla="*/ 2147483647 h 1138"/>
                <a:gd name="T58" fmla="*/ 2147483647 w 4272"/>
                <a:gd name="T59" fmla="*/ 2147483647 h 1138"/>
                <a:gd name="T60" fmla="*/ 2147483647 w 4272"/>
                <a:gd name="T61" fmla="*/ 2147483647 h 1138"/>
                <a:gd name="T62" fmla="*/ 2147483647 w 4272"/>
                <a:gd name="T63" fmla="*/ 2147483647 h 1138"/>
                <a:gd name="T64" fmla="*/ 2147483647 w 4272"/>
                <a:gd name="T65" fmla="*/ 2147483647 h 1138"/>
                <a:gd name="T66" fmla="*/ 2147483647 w 4272"/>
                <a:gd name="T67" fmla="*/ 2147483647 h 1138"/>
                <a:gd name="T68" fmla="*/ 2147483647 w 4272"/>
                <a:gd name="T69" fmla="*/ 2147483647 h 1138"/>
                <a:gd name="T70" fmla="*/ 2147483647 w 4272"/>
                <a:gd name="T71" fmla="*/ 2147483647 h 1138"/>
                <a:gd name="T72" fmla="*/ 2147483647 w 4272"/>
                <a:gd name="T73" fmla="*/ 2147483647 h 1138"/>
                <a:gd name="T74" fmla="*/ 2147483647 w 4272"/>
                <a:gd name="T75" fmla="*/ 2147483647 h 1138"/>
                <a:gd name="T76" fmla="*/ 2147483647 w 4272"/>
                <a:gd name="T77" fmla="*/ 2147483647 h 1138"/>
                <a:gd name="T78" fmla="*/ 2147483647 w 4272"/>
                <a:gd name="T79" fmla="*/ 2147483647 h 1138"/>
                <a:gd name="T80" fmla="*/ 2147483647 w 4272"/>
                <a:gd name="T81" fmla="*/ 2147483647 h 1138"/>
                <a:gd name="T82" fmla="*/ 2147483647 w 4272"/>
                <a:gd name="T83" fmla="*/ 0 h 1138"/>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72"/>
                <a:gd name="T127" fmla="*/ 0 h 1138"/>
                <a:gd name="T128" fmla="*/ 4272 w 4272"/>
                <a:gd name="T129" fmla="*/ 1138 h 1138"/>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72" h="1138">
                  <a:moveTo>
                    <a:pt x="0" y="0"/>
                  </a:moveTo>
                  <a:lnTo>
                    <a:pt x="0" y="996"/>
                  </a:lnTo>
                  <a:lnTo>
                    <a:pt x="9" y="1056"/>
                  </a:lnTo>
                  <a:lnTo>
                    <a:pt x="36" y="1094"/>
                  </a:lnTo>
                  <a:lnTo>
                    <a:pt x="75" y="1110"/>
                  </a:lnTo>
                  <a:lnTo>
                    <a:pt x="127" y="1116"/>
                  </a:lnTo>
                  <a:lnTo>
                    <a:pt x="1211" y="1116"/>
                  </a:lnTo>
                  <a:lnTo>
                    <a:pt x="1250" y="1116"/>
                  </a:lnTo>
                  <a:lnTo>
                    <a:pt x="1287" y="1100"/>
                  </a:lnTo>
                  <a:lnTo>
                    <a:pt x="1305" y="1056"/>
                  </a:lnTo>
                  <a:lnTo>
                    <a:pt x="1308" y="1022"/>
                  </a:lnTo>
                  <a:lnTo>
                    <a:pt x="1308" y="307"/>
                  </a:lnTo>
                  <a:lnTo>
                    <a:pt x="1311" y="261"/>
                  </a:lnTo>
                  <a:cubicBezTo>
                    <a:pt x="1322" y="241"/>
                    <a:pt x="1325" y="202"/>
                    <a:pt x="1376" y="191"/>
                  </a:cubicBezTo>
                  <a:cubicBezTo>
                    <a:pt x="1430" y="181"/>
                    <a:pt x="1567" y="182"/>
                    <a:pt x="1620" y="191"/>
                  </a:cubicBezTo>
                  <a:cubicBezTo>
                    <a:pt x="1673" y="200"/>
                    <a:pt x="1669" y="238"/>
                    <a:pt x="1676" y="252"/>
                  </a:cubicBezTo>
                  <a:lnTo>
                    <a:pt x="1680" y="280"/>
                  </a:lnTo>
                  <a:lnTo>
                    <a:pt x="1680" y="1014"/>
                  </a:lnTo>
                  <a:lnTo>
                    <a:pt x="1683" y="1047"/>
                  </a:lnTo>
                  <a:lnTo>
                    <a:pt x="1701" y="1100"/>
                  </a:lnTo>
                  <a:lnTo>
                    <a:pt x="1755" y="1116"/>
                  </a:lnTo>
                  <a:lnTo>
                    <a:pt x="1808" y="1116"/>
                  </a:lnTo>
                  <a:lnTo>
                    <a:pt x="2486" y="1116"/>
                  </a:lnTo>
                  <a:lnTo>
                    <a:pt x="2564" y="1116"/>
                  </a:lnTo>
                  <a:cubicBezTo>
                    <a:pt x="2583" y="1112"/>
                    <a:pt x="2593" y="1111"/>
                    <a:pt x="2600" y="1091"/>
                  </a:cubicBezTo>
                  <a:cubicBezTo>
                    <a:pt x="2607" y="1072"/>
                    <a:pt x="2610" y="1138"/>
                    <a:pt x="2608" y="999"/>
                  </a:cubicBezTo>
                  <a:lnTo>
                    <a:pt x="2608" y="264"/>
                  </a:lnTo>
                  <a:lnTo>
                    <a:pt x="2616" y="227"/>
                  </a:lnTo>
                  <a:cubicBezTo>
                    <a:pt x="2627" y="215"/>
                    <a:pt x="2634" y="196"/>
                    <a:pt x="2676" y="191"/>
                  </a:cubicBezTo>
                  <a:cubicBezTo>
                    <a:pt x="2721" y="184"/>
                    <a:pt x="2824" y="187"/>
                    <a:pt x="2868" y="195"/>
                  </a:cubicBezTo>
                  <a:cubicBezTo>
                    <a:pt x="2912" y="203"/>
                    <a:pt x="2925" y="238"/>
                    <a:pt x="2928" y="251"/>
                  </a:cubicBezTo>
                  <a:lnTo>
                    <a:pt x="2928" y="280"/>
                  </a:lnTo>
                  <a:cubicBezTo>
                    <a:pt x="2928" y="280"/>
                    <a:pt x="2925" y="867"/>
                    <a:pt x="2928" y="1002"/>
                  </a:cubicBezTo>
                  <a:cubicBezTo>
                    <a:pt x="2930" y="1136"/>
                    <a:pt x="2930" y="1068"/>
                    <a:pt x="2944" y="1087"/>
                  </a:cubicBezTo>
                  <a:cubicBezTo>
                    <a:pt x="2958" y="1107"/>
                    <a:pt x="2995" y="1113"/>
                    <a:pt x="3014" y="1116"/>
                  </a:cubicBezTo>
                  <a:lnTo>
                    <a:pt x="3071" y="1116"/>
                  </a:lnTo>
                  <a:lnTo>
                    <a:pt x="4117" y="1116"/>
                  </a:lnTo>
                  <a:lnTo>
                    <a:pt x="4190" y="1116"/>
                  </a:lnTo>
                  <a:lnTo>
                    <a:pt x="4251" y="1097"/>
                  </a:lnTo>
                  <a:lnTo>
                    <a:pt x="4269" y="1044"/>
                  </a:lnTo>
                  <a:lnTo>
                    <a:pt x="4271" y="994"/>
                  </a:lnTo>
                  <a:lnTo>
                    <a:pt x="4272" y="0"/>
                  </a:lnTo>
                </a:path>
              </a:pathLst>
            </a:custGeom>
            <a:noFill/>
            <a:ln w="28575" cap="flat" cmpd="sng">
              <a:solidFill>
                <a:srgbClr val="0000FF"/>
              </a:solidFill>
              <a:prstDash val="sysDot"/>
              <a:round/>
              <a:headEnd type="none" w="med" len="lg"/>
              <a:tailEnd type="none" w="med" len="lg"/>
            </a:ln>
            <a:extLst>
              <a:ext uri="{909E8E84-426E-40DD-AFC4-6F175D3DCCD1}">
                <a14:hiddenFill xmlns:a14="http://schemas.microsoft.com/office/drawing/2010/main">
                  <a:solidFill>
                    <a:srgbClr val="FFFFFF"/>
                  </a:solid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59" name="椭圆 85"/>
            <p:cNvSpPr>
              <a:spLocks noChangeArrowheads="1"/>
            </p:cNvSpPr>
            <p:nvPr/>
          </p:nvSpPr>
          <p:spPr bwMode="auto">
            <a:xfrm>
              <a:off x="2153272" y="1650728"/>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0" name="椭圆 85"/>
            <p:cNvSpPr>
              <a:spLocks noChangeArrowheads="1"/>
            </p:cNvSpPr>
            <p:nvPr/>
          </p:nvSpPr>
          <p:spPr bwMode="auto">
            <a:xfrm>
              <a:off x="1846261" y="1652600"/>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1" name="椭圆 85"/>
            <p:cNvSpPr>
              <a:spLocks noChangeArrowheads="1"/>
            </p:cNvSpPr>
            <p:nvPr/>
          </p:nvSpPr>
          <p:spPr bwMode="auto">
            <a:xfrm>
              <a:off x="1966341" y="1876324"/>
              <a:ext cx="48610" cy="45719"/>
            </a:xfrm>
            <a:prstGeom prst="ellipse">
              <a:avLst/>
            </a:prstGeom>
            <a:solidFill>
              <a:schemeClr val="tx1"/>
            </a:solidFill>
            <a:ln w="12700" algn="ctr">
              <a:solidFill>
                <a:schemeClr val="tx1"/>
              </a:solidFill>
              <a:round/>
              <a:headEnd/>
              <a:tailEnd/>
            </a:ln>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endParaRPr lang="zh-CN" altLang="en-US" sz="1200" b="1">
                <a:latin typeface="微软雅黑" panose="020B0503020204020204" pitchFamily="34" charset="-122"/>
                <a:ea typeface="微软雅黑" panose="020B0503020204020204" pitchFamily="34" charset="-122"/>
              </a:endParaRPr>
            </a:p>
          </p:txBody>
        </p:sp>
        <p:sp>
          <p:nvSpPr>
            <p:cNvPr id="162" name="Line 246"/>
            <p:cNvSpPr>
              <a:spLocks noChangeShapeType="1"/>
            </p:cNvSpPr>
            <p:nvPr/>
          </p:nvSpPr>
          <p:spPr bwMode="auto">
            <a:xfrm>
              <a:off x="1804171" y="1530910"/>
              <a:ext cx="189406" cy="362265"/>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sp>
          <p:nvSpPr>
            <p:cNvPr id="163" name="Line 247"/>
            <p:cNvSpPr>
              <a:spLocks noChangeShapeType="1"/>
            </p:cNvSpPr>
            <p:nvPr/>
          </p:nvSpPr>
          <p:spPr bwMode="auto">
            <a:xfrm flipH="1">
              <a:off x="2013383" y="1573034"/>
              <a:ext cx="240162" cy="320141"/>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sz="1200" b="1">
                <a:latin typeface="微软雅黑" panose="020B0503020204020204" pitchFamily="34" charset="-122"/>
                <a:ea typeface="微软雅黑" panose="020B0503020204020204" pitchFamily="34" charset="-122"/>
              </a:endParaRPr>
            </a:p>
          </p:txBody>
        </p:sp>
      </p:grpSp>
      <p:sp>
        <p:nvSpPr>
          <p:cNvPr id="166" name="矩形 165"/>
          <p:cNvSpPr/>
          <p:nvPr/>
        </p:nvSpPr>
        <p:spPr>
          <a:xfrm>
            <a:off x="3289409" y="4279353"/>
            <a:ext cx="2565182" cy="359073"/>
          </a:xfrm>
          <a:prstGeom prst="rect">
            <a:avLst/>
          </a:prstGeom>
          <a:solidFill>
            <a:srgbClr val="C00000"/>
          </a:solidFill>
        </p:spPr>
        <p:txBody>
          <a:bodyPr wrap="square" tIns="0" bIns="0">
            <a:spAutoFit/>
          </a:bodyPr>
          <a:lstStyle/>
          <a:p>
            <a:pPr algn="ctr">
              <a:lnSpc>
                <a:spcPts val="2800"/>
              </a:lnSpc>
            </a:pPr>
            <a:r>
              <a:rPr lang="zh-CN" altLang="en-US" b="1" dirty="0">
                <a:solidFill>
                  <a:schemeClr val="bg1"/>
                </a:solidFill>
                <a:latin typeface="微软雅黑" panose="020B0503020204020204" pitchFamily="34" charset="-122"/>
                <a:ea typeface="微软雅黑" panose="020B0503020204020204" pitchFamily="34" charset="-122"/>
              </a:rPr>
              <a:t>如何指明各应用进程？</a:t>
            </a:r>
          </a:p>
        </p:txBody>
      </p:sp>
      <p:sp>
        <p:nvSpPr>
          <p:cNvPr id="9" name="内容占位符 8">
            <a:extLst>
              <a:ext uri="{FF2B5EF4-FFF2-40B4-BE49-F238E27FC236}">
                <a16:creationId xmlns:a16="http://schemas.microsoft.com/office/drawing/2014/main" id="{D7091207-3F83-6C59-E14F-9D20E3E58615}"/>
              </a:ext>
            </a:extLst>
          </p:cNvPr>
          <p:cNvSpPr>
            <a:spLocks noGrp="1"/>
          </p:cNvSpPr>
          <p:nvPr>
            <p:ph sz="quarter" idx="11"/>
          </p:nvPr>
        </p:nvSpPr>
        <p:spPr>
          <a:xfrm>
            <a:off x="486000" y="482554"/>
            <a:ext cx="8172000" cy="4120946"/>
          </a:xfrm>
        </p:spPr>
        <p:txBody>
          <a:bodyPr/>
          <a:lstStyle/>
          <a:p>
            <a:r>
              <a:rPr lang="zh-CN" altLang="en-US" dirty="0"/>
              <a:t>复用：应用进程都可以通过运输层再传送到网络层</a:t>
            </a:r>
            <a:endParaRPr lang="en-US" altLang="zh-CN" dirty="0"/>
          </a:p>
          <a:p>
            <a:r>
              <a:rPr lang="zh-CN" altLang="en-US" dirty="0"/>
              <a:t>分用：运输层从 </a:t>
            </a:r>
            <a:r>
              <a:rPr lang="en-US" altLang="zh-CN" dirty="0"/>
              <a:t>IP </a:t>
            </a:r>
            <a:r>
              <a:rPr lang="zh-CN" altLang="en-US" dirty="0"/>
              <a:t>层收到发送给应用进程的数据后，必须分别交付给指明的各应用进程</a:t>
            </a:r>
          </a:p>
        </p:txBody>
      </p:sp>
      <p:sp>
        <p:nvSpPr>
          <p:cNvPr id="4" name="标题 3">
            <a:extLst>
              <a:ext uri="{FF2B5EF4-FFF2-40B4-BE49-F238E27FC236}">
                <a16:creationId xmlns:a16="http://schemas.microsoft.com/office/drawing/2014/main" id="{5BD0973F-AA77-9FAF-0EC7-97DA9D2F4359}"/>
              </a:ext>
            </a:extLst>
          </p:cNvPr>
          <p:cNvSpPr>
            <a:spLocks noGrp="1"/>
          </p:cNvSpPr>
          <p:nvPr>
            <p:ph type="title"/>
          </p:nvPr>
        </p:nvSpPr>
        <p:spPr>
          <a:xfrm>
            <a:off x="2808000" y="144000"/>
            <a:ext cx="3528000" cy="338554"/>
          </a:xfrm>
        </p:spPr>
        <p:txBody>
          <a:bodyPr/>
          <a:lstStyle/>
          <a:p>
            <a:r>
              <a:rPr lang="en-US" altLang="zh-CN" dirty="0"/>
              <a:t>5.1.3   </a:t>
            </a:r>
            <a:r>
              <a:rPr lang="zh-CN" altLang="en-US" dirty="0"/>
              <a:t>运输层的端口</a:t>
            </a:r>
          </a:p>
        </p:txBody>
      </p:sp>
    </p:spTree>
    <p:extLst>
      <p:ext uri="{BB962C8B-B14F-4D97-AF65-F5344CB8AC3E}">
        <p14:creationId xmlns:p14="http://schemas.microsoft.com/office/powerpoint/2010/main" val="179513080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4"/>
                                        </p:tgtEl>
                                        <p:attrNameLst>
                                          <p:attrName>style.visibility</p:attrName>
                                        </p:attrNameLst>
                                      </p:cBhvr>
                                      <p:to>
                                        <p:strVal val="visible"/>
                                      </p:to>
                                    </p:set>
                                    <p:animEffect transition="in" filter="fade">
                                      <p:cBhvr>
                                        <p:cTn id="7" dur="500"/>
                                        <p:tgtEl>
                                          <p:spTgt spid="144"/>
                                        </p:tgtEl>
                                      </p:cBhvr>
                                    </p:animEffect>
                                  </p:childTnLst>
                                </p:cTn>
                              </p:par>
                            </p:childTnLst>
                          </p:cTn>
                        </p:par>
                        <p:par>
                          <p:cTn id="8" fill="hold">
                            <p:stCondLst>
                              <p:cond delay="500"/>
                            </p:stCondLst>
                            <p:childTnLst>
                              <p:par>
                                <p:cTn id="9" presetID="35" presetClass="emph" presetSubtype="0" repeatCount="3000" fill="hold" nodeType="afterEffect">
                                  <p:stCondLst>
                                    <p:cond delay="0"/>
                                  </p:stCondLst>
                                  <p:childTnLst>
                                    <p:anim calcmode="discrete" valueType="str">
                                      <p:cBhvr>
                                        <p:cTn id="10" dur="1000" fill="hold"/>
                                        <p:tgtEl>
                                          <p:spTgt spid="144"/>
                                        </p:tgtEl>
                                        <p:attrNameLst>
                                          <p:attrName>style.visibility</p:attrName>
                                        </p:attrNameLst>
                                      </p:cBhvr>
                                      <p:tavLst>
                                        <p:tav tm="0">
                                          <p:val>
                                            <p:strVal val="hidden"/>
                                          </p:val>
                                        </p:tav>
                                        <p:tav tm="50000">
                                          <p:val>
                                            <p:strVal val="visible"/>
                                          </p:val>
                                        </p:tav>
                                      </p:tavLst>
                                    </p:anim>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8"/>
                                        </p:tgtEl>
                                        <p:attrNameLst>
                                          <p:attrName>style.visibility</p:attrName>
                                        </p:attrNameLst>
                                      </p:cBhvr>
                                      <p:to>
                                        <p:strVal val="visible"/>
                                      </p:to>
                                    </p:set>
                                    <p:animEffect transition="in" filter="fade">
                                      <p:cBhvr>
                                        <p:cTn id="15" dur="500"/>
                                        <p:tgtEl>
                                          <p:spTgt spid="148"/>
                                        </p:tgtEl>
                                      </p:cBhvr>
                                    </p:animEffect>
                                  </p:childTnLst>
                                </p:cTn>
                              </p:par>
                            </p:childTnLst>
                          </p:cTn>
                        </p:par>
                        <p:par>
                          <p:cTn id="16" fill="hold">
                            <p:stCondLst>
                              <p:cond delay="500"/>
                            </p:stCondLst>
                            <p:childTnLst>
                              <p:par>
                                <p:cTn id="17" presetID="35" presetClass="emph" presetSubtype="0" repeatCount="3000" fill="hold" nodeType="afterEffect">
                                  <p:stCondLst>
                                    <p:cond delay="0"/>
                                  </p:stCondLst>
                                  <p:childTnLst>
                                    <p:anim calcmode="discrete" valueType="str">
                                      <p:cBhvr>
                                        <p:cTn id="18" dur="1000" fill="hold"/>
                                        <p:tgtEl>
                                          <p:spTgt spid="148"/>
                                        </p:tgtEl>
                                        <p:attrNameLst>
                                          <p:attrName>style.visibility</p:attrName>
                                        </p:attrNameLst>
                                      </p:cBhvr>
                                      <p:tavLst>
                                        <p:tav tm="0">
                                          <p:val>
                                            <p:strVal val="hidden"/>
                                          </p:val>
                                        </p:tav>
                                        <p:tav tm="50000">
                                          <p:val>
                                            <p:strVal val="visible"/>
                                          </p:val>
                                        </p:tav>
                                      </p:tavLst>
                                    </p:anim>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E6D84384-EE41-5A51-CED7-F589A2D89D2B}"/>
              </a:ext>
            </a:extLst>
          </p:cNvPr>
          <p:cNvSpPr>
            <a:spLocks noGrp="1"/>
          </p:cNvSpPr>
          <p:nvPr>
            <p:ph sz="quarter" idx="11"/>
          </p:nvPr>
        </p:nvSpPr>
        <p:spPr>
          <a:xfrm>
            <a:off x="486000" y="482554"/>
            <a:ext cx="8172000" cy="4120946"/>
          </a:xfrm>
        </p:spPr>
        <p:txBody>
          <a:bodyPr/>
          <a:lstStyle/>
          <a:p>
            <a:r>
              <a:rPr lang="zh-CN" altLang="en-US" dirty="0"/>
              <a:t>进程的创建和撤销都是动态的，因此发送方几乎无法识别其他机器上的进程。</a:t>
            </a:r>
          </a:p>
          <a:p>
            <a:r>
              <a:rPr lang="zh-CN" altLang="en-US" dirty="0"/>
              <a:t>我们往往需要利用目的主机提供的功能来识别终点，而不需要知道具体实现这个功能的进程是哪一个。</a:t>
            </a:r>
          </a:p>
          <a:p>
            <a:r>
              <a:rPr lang="zh-CN" altLang="en-US" dirty="0"/>
              <a:t>有时我们会改换接收报文的进程，但并不需要通知所有的发送方。</a:t>
            </a:r>
          </a:p>
          <a:p>
            <a:endParaRPr lang="zh-CN" altLang="en-US" dirty="0"/>
          </a:p>
        </p:txBody>
      </p:sp>
      <p:sp>
        <p:nvSpPr>
          <p:cNvPr id="12" name="标题 11">
            <a:extLst>
              <a:ext uri="{FF2B5EF4-FFF2-40B4-BE49-F238E27FC236}">
                <a16:creationId xmlns:a16="http://schemas.microsoft.com/office/drawing/2014/main" id="{7C0D9C4A-6B71-95F0-BBCC-A5969528F5E0}"/>
              </a:ext>
            </a:extLst>
          </p:cNvPr>
          <p:cNvSpPr>
            <a:spLocks noGrp="1"/>
          </p:cNvSpPr>
          <p:nvPr>
            <p:ph type="title"/>
          </p:nvPr>
        </p:nvSpPr>
        <p:spPr>
          <a:xfrm>
            <a:off x="2808000" y="144000"/>
            <a:ext cx="3528000" cy="338554"/>
          </a:xfrm>
        </p:spPr>
        <p:txBody>
          <a:bodyPr/>
          <a:lstStyle/>
          <a:p>
            <a:r>
              <a:rPr lang="zh-CN" altLang="en-US" dirty="0"/>
              <a:t>需要考虑的问题 </a:t>
            </a:r>
          </a:p>
        </p:txBody>
      </p:sp>
    </p:spTree>
    <p:extLst>
      <p:ext uri="{BB962C8B-B14F-4D97-AF65-F5344CB8AC3E}">
        <p14:creationId xmlns:p14="http://schemas.microsoft.com/office/powerpoint/2010/main" val="42392024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组合 60"/>
          <p:cNvGrpSpPr/>
          <p:nvPr/>
        </p:nvGrpSpPr>
        <p:grpSpPr>
          <a:xfrm>
            <a:off x="3635765" y="4055746"/>
            <a:ext cx="2075855" cy="193528"/>
            <a:chOff x="3635765" y="3966096"/>
            <a:chExt cx="2075855" cy="193528"/>
          </a:xfrm>
        </p:grpSpPr>
        <p:sp>
          <p:nvSpPr>
            <p:cNvPr id="49" name="矩形 48"/>
            <p:cNvSpPr/>
            <p:nvPr/>
          </p:nvSpPr>
          <p:spPr>
            <a:xfrm>
              <a:off x="5139252" y="3966096"/>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0" name="矩形 49"/>
            <p:cNvSpPr/>
            <p:nvPr/>
          </p:nvSpPr>
          <p:spPr>
            <a:xfrm>
              <a:off x="3918957" y="3966096"/>
              <a:ext cx="572368"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1" name="矩形 50"/>
            <p:cNvSpPr/>
            <p:nvPr/>
          </p:nvSpPr>
          <p:spPr>
            <a:xfrm>
              <a:off x="4483468" y="3966096"/>
              <a:ext cx="653245"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8" name="右箭头 57"/>
            <p:cNvSpPr/>
            <p:nvPr/>
          </p:nvSpPr>
          <p:spPr>
            <a:xfrm flipH="1">
              <a:off x="3635765" y="4014478"/>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zh-CN" altLang="en-US" dirty="0"/>
            </a:p>
          </p:txBody>
        </p:sp>
      </p:grpSp>
      <p:grpSp>
        <p:nvGrpSpPr>
          <p:cNvPr id="77" name="组合 76"/>
          <p:cNvGrpSpPr/>
          <p:nvPr/>
        </p:nvGrpSpPr>
        <p:grpSpPr>
          <a:xfrm>
            <a:off x="1658470" y="1855689"/>
            <a:ext cx="6381519" cy="2145126"/>
            <a:chOff x="1658470" y="1927409"/>
            <a:chExt cx="6381519" cy="2145126"/>
          </a:xfrm>
        </p:grpSpPr>
        <p:sp>
          <p:nvSpPr>
            <p:cNvPr id="6" name="矩形 5"/>
            <p:cNvSpPr/>
            <p:nvPr/>
          </p:nvSpPr>
          <p:spPr>
            <a:xfrm>
              <a:off x="1658470" y="2808257"/>
              <a:ext cx="2578362" cy="602500"/>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1781285" y="2736305"/>
              <a:ext cx="513452" cy="185596"/>
              <a:chOff x="1452836" y="2079261"/>
              <a:chExt cx="586980" cy="241909"/>
            </a:xfrm>
          </p:grpSpPr>
          <p:sp>
            <p:nvSpPr>
              <p:cNvPr id="10" name="矩形 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Text Box 20"/>
            <p:cNvSpPr txBox="1">
              <a:spLocks noChangeArrowheads="1"/>
            </p:cNvSpPr>
            <p:nvPr/>
          </p:nvSpPr>
          <p:spPr bwMode="auto">
            <a:xfrm>
              <a:off x="1698199"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grpSp>
          <p:nvGrpSpPr>
            <p:cNvPr id="14" name="组合 13"/>
            <p:cNvGrpSpPr/>
            <p:nvPr/>
          </p:nvGrpSpPr>
          <p:grpSpPr>
            <a:xfrm>
              <a:off x="2712498" y="2736305"/>
              <a:ext cx="513452" cy="185596"/>
              <a:chOff x="1452836" y="2079261"/>
              <a:chExt cx="586980" cy="241909"/>
            </a:xfrm>
          </p:grpSpPr>
          <p:sp>
            <p:nvSpPr>
              <p:cNvPr id="15" name="矩形 1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连接符 1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p:cNvGrpSpPr/>
            <p:nvPr/>
          </p:nvGrpSpPr>
          <p:grpSpPr>
            <a:xfrm>
              <a:off x="3623084" y="2736305"/>
              <a:ext cx="513452" cy="185596"/>
              <a:chOff x="1452836" y="2079261"/>
              <a:chExt cx="586980" cy="241909"/>
            </a:xfrm>
          </p:grpSpPr>
          <p:sp>
            <p:nvSpPr>
              <p:cNvPr id="19" name="矩形 18"/>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Rectangle 396"/>
            <p:cNvSpPr>
              <a:spLocks noChangeArrowheads="1"/>
            </p:cNvSpPr>
            <p:nvPr/>
          </p:nvSpPr>
          <p:spPr bwMode="auto">
            <a:xfrm>
              <a:off x="4483809" y="3029392"/>
              <a:ext cx="54181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端口</a:t>
              </a:r>
            </a:p>
          </p:txBody>
        </p:sp>
        <p:sp>
          <p:nvSpPr>
            <p:cNvPr id="23" name="Line 399"/>
            <p:cNvSpPr>
              <a:spLocks noChangeShapeType="1"/>
            </p:cNvSpPr>
            <p:nvPr/>
          </p:nvSpPr>
          <p:spPr bwMode="auto">
            <a:xfrm flipH="1" flipV="1">
              <a:off x="3920828" y="2870549"/>
              <a:ext cx="563316"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24" name="TextBox 29"/>
            <p:cNvSpPr txBox="1"/>
            <p:nvPr/>
          </p:nvSpPr>
          <p:spPr>
            <a:xfrm>
              <a:off x="2715623" y="2727311"/>
              <a:ext cx="577402"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58800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25" name="矩形 24"/>
            <p:cNvSpPr/>
            <p:nvPr/>
          </p:nvSpPr>
          <p:spPr>
            <a:xfrm>
              <a:off x="5247572" y="2808257"/>
              <a:ext cx="2578362" cy="602500"/>
            </a:xfrm>
            <a:prstGeom prst="rect">
              <a:avLst/>
            </a:prstGeom>
            <a:solidFill>
              <a:srgbClr val="00B0F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5370387" y="2736305"/>
              <a:ext cx="513452" cy="185596"/>
              <a:chOff x="1452836" y="2079261"/>
              <a:chExt cx="586980" cy="241909"/>
            </a:xfrm>
          </p:grpSpPr>
          <p:sp>
            <p:nvSpPr>
              <p:cNvPr id="27" name="矩形 26"/>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连接符 27"/>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301600" y="2736305"/>
              <a:ext cx="513452" cy="185596"/>
              <a:chOff x="1452836" y="2079261"/>
              <a:chExt cx="586980" cy="241909"/>
            </a:xfrm>
          </p:grpSpPr>
          <p:sp>
            <p:nvSpPr>
              <p:cNvPr id="31" name="矩形 3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2" name="直接连接符 3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4" name="组合 33"/>
            <p:cNvGrpSpPr/>
            <p:nvPr/>
          </p:nvGrpSpPr>
          <p:grpSpPr>
            <a:xfrm>
              <a:off x="7212186" y="2736305"/>
              <a:ext cx="513452" cy="185596"/>
              <a:chOff x="1452836" y="2079261"/>
              <a:chExt cx="586980" cy="241909"/>
            </a:xfrm>
          </p:grpSpPr>
          <p:sp>
            <p:nvSpPr>
              <p:cNvPr id="35" name="矩形 34"/>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6" name="直接连接符 35"/>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Line 399"/>
            <p:cNvSpPr>
              <a:spLocks noChangeShapeType="1"/>
            </p:cNvSpPr>
            <p:nvPr/>
          </p:nvSpPr>
          <p:spPr bwMode="auto">
            <a:xfrm flipV="1">
              <a:off x="5042962" y="2870549"/>
              <a:ext cx="500127" cy="238958"/>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39" name="TextBox 44"/>
            <p:cNvSpPr txBox="1"/>
            <p:nvPr/>
          </p:nvSpPr>
          <p:spPr>
            <a:xfrm>
              <a:off x="6407270" y="2727311"/>
              <a:ext cx="341760" cy="261610"/>
            </a:xfrm>
            <a:prstGeom prst="rect">
              <a:avLst/>
            </a:prstGeom>
            <a:noFill/>
          </p:spPr>
          <p:txBody>
            <a:bodyPr wrap="none" rtlCol="0">
              <a:spAutoFit/>
            </a:bodyPr>
            <a:lstStyle/>
            <a:p>
              <a:r>
                <a:rPr lang="en-US" altLang="zh-CN" sz="1100" b="1" dirty="0">
                  <a:solidFill>
                    <a:srgbClr val="FF0000"/>
                  </a:solidFill>
                  <a:latin typeface="Arial" pitchFamily="34" charset="0"/>
                  <a:ea typeface="微软雅黑" pitchFamily="34" charset="-122"/>
                  <a:cs typeface="Arial" pitchFamily="34" charset="0"/>
                </a:rPr>
                <a:t>80</a:t>
              </a:r>
              <a:endParaRPr lang="zh-CN" altLang="en-US" sz="1100" b="1" dirty="0">
                <a:solidFill>
                  <a:srgbClr val="FF0000"/>
                </a:solidFill>
                <a:latin typeface="Arial" pitchFamily="34" charset="0"/>
                <a:ea typeface="微软雅黑" pitchFamily="34" charset="-122"/>
                <a:cs typeface="Arial" pitchFamily="34" charset="0"/>
              </a:endParaRPr>
            </a:p>
          </p:txBody>
        </p:sp>
        <p:sp>
          <p:nvSpPr>
            <p:cNvPr id="40" name="Text Box 25"/>
            <p:cNvSpPr txBox="1">
              <a:spLocks noChangeArrowheads="1"/>
            </p:cNvSpPr>
            <p:nvPr/>
          </p:nvSpPr>
          <p:spPr bwMode="auto">
            <a:xfrm>
              <a:off x="7120854"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sp>
          <p:nvSpPr>
            <p:cNvPr id="42" name="Text Box 20"/>
            <p:cNvSpPr txBox="1">
              <a:spLocks noChangeArrowheads="1"/>
            </p:cNvSpPr>
            <p:nvPr/>
          </p:nvSpPr>
          <p:spPr bwMode="auto">
            <a:xfrm>
              <a:off x="5277045"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00FF"/>
                  </a:solidFill>
                  <a:latin typeface="微软雅黑" pitchFamily="34" charset="-122"/>
                  <a:ea typeface="微软雅黑" pitchFamily="34" charset="-122"/>
                  <a:sym typeface="Wingdings" pitchFamily="2" charset="2"/>
                </a:rPr>
                <a:t></a:t>
              </a:r>
              <a:endParaRPr lang="en-US" altLang="zh-CN" sz="5400" dirty="0">
                <a:solidFill>
                  <a:srgbClr val="0000FF"/>
                </a:solidFill>
                <a:latin typeface="微软雅黑" pitchFamily="34" charset="-122"/>
                <a:ea typeface="微软雅黑" pitchFamily="34" charset="-122"/>
              </a:endParaRPr>
            </a:p>
          </p:txBody>
        </p:sp>
        <p:sp>
          <p:nvSpPr>
            <p:cNvPr id="43" name="Rectangle 396"/>
            <p:cNvSpPr>
              <a:spLocks noChangeArrowheads="1"/>
            </p:cNvSpPr>
            <p:nvPr/>
          </p:nvSpPr>
          <p:spPr bwMode="auto">
            <a:xfrm>
              <a:off x="6177680" y="1927409"/>
              <a:ext cx="71814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B</a:t>
              </a:r>
              <a:endParaRPr kumimoji="1" lang="zh-CN" altLang="en-US" sz="1400" b="1" dirty="0">
                <a:solidFill>
                  <a:srgbClr val="0000FF"/>
                </a:solidFill>
                <a:latin typeface="微软雅黑" pitchFamily="34" charset="-122"/>
                <a:ea typeface="微软雅黑" pitchFamily="34" charset="-122"/>
              </a:endParaRPr>
            </a:p>
          </p:txBody>
        </p:sp>
        <p:sp>
          <p:nvSpPr>
            <p:cNvPr id="44" name="Rectangle 396"/>
            <p:cNvSpPr>
              <a:spLocks noChangeArrowheads="1"/>
            </p:cNvSpPr>
            <p:nvPr/>
          </p:nvSpPr>
          <p:spPr bwMode="auto">
            <a:xfrm>
              <a:off x="2582966" y="1927409"/>
              <a:ext cx="729367"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0000FF"/>
                  </a:solidFill>
                  <a:latin typeface="微软雅黑" pitchFamily="34" charset="-122"/>
                  <a:ea typeface="微软雅黑" pitchFamily="34" charset="-122"/>
                </a:rPr>
                <a:t>主机 </a:t>
              </a:r>
              <a:r>
                <a:rPr kumimoji="1" lang="en-US" altLang="zh-CN" sz="1400" b="1" dirty="0">
                  <a:solidFill>
                    <a:srgbClr val="0000FF"/>
                  </a:solidFill>
                  <a:latin typeface="微软雅黑" pitchFamily="34" charset="-122"/>
                  <a:ea typeface="微软雅黑" pitchFamily="34" charset="-122"/>
                </a:rPr>
                <a:t>A</a:t>
              </a:r>
              <a:endParaRPr kumimoji="1" lang="zh-CN" altLang="en-US" sz="1400" b="1" dirty="0">
                <a:solidFill>
                  <a:srgbClr val="0000FF"/>
                </a:solidFill>
                <a:latin typeface="微软雅黑" pitchFamily="34" charset="-122"/>
                <a:ea typeface="微软雅黑" pitchFamily="34" charset="-122"/>
              </a:endParaRPr>
            </a:p>
          </p:txBody>
        </p:sp>
        <p:cxnSp>
          <p:nvCxnSpPr>
            <p:cNvPr id="45" name="直接连接符 44"/>
            <p:cNvCxnSpPr/>
            <p:nvPr/>
          </p:nvCxnSpPr>
          <p:spPr>
            <a:xfrm>
              <a:off x="2964781" y="4072535"/>
              <a:ext cx="35924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6" name="组合 45"/>
            <p:cNvGrpSpPr/>
            <p:nvPr/>
          </p:nvGrpSpPr>
          <p:grpSpPr>
            <a:xfrm>
              <a:off x="2964781" y="2907271"/>
              <a:ext cx="3592481" cy="1165264"/>
              <a:chOff x="2665137" y="2409968"/>
              <a:chExt cx="4106940" cy="1165570"/>
            </a:xfrm>
          </p:grpSpPr>
          <p:cxnSp>
            <p:nvCxnSpPr>
              <p:cNvPr id="47" name="直接连接符 46"/>
              <p:cNvCxnSpPr/>
              <p:nvPr/>
            </p:nvCxnSpPr>
            <p:spPr>
              <a:xfrm>
                <a:off x="677207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2665137" y="2409968"/>
                <a:ext cx="0" cy="1165570"/>
              </a:xfrm>
              <a:prstGeom prst="line">
                <a:avLst/>
              </a:prstGeom>
              <a:ln w="28575">
                <a:solidFill>
                  <a:schemeClr val="tx1"/>
                </a:solidFill>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sp>
          <p:nvSpPr>
            <p:cNvPr id="55" name="Rectangle 396"/>
            <p:cNvSpPr>
              <a:spLocks noChangeArrowheads="1"/>
            </p:cNvSpPr>
            <p:nvPr/>
          </p:nvSpPr>
          <p:spPr bwMode="auto">
            <a:xfrm>
              <a:off x="3483049"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latin typeface="微软雅黑" pitchFamily="34" charset="-122"/>
                  <a:ea typeface="微软雅黑" pitchFamily="34" charset="-122"/>
                </a:rPr>
                <a:t>运输层</a:t>
              </a:r>
            </a:p>
          </p:txBody>
        </p:sp>
        <p:sp>
          <p:nvSpPr>
            <p:cNvPr id="56" name="Rectangle 396"/>
            <p:cNvSpPr>
              <a:spLocks noChangeArrowheads="1"/>
            </p:cNvSpPr>
            <p:nvPr/>
          </p:nvSpPr>
          <p:spPr bwMode="auto">
            <a:xfrm>
              <a:off x="5323913" y="3149824"/>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400" b="1" dirty="0">
                  <a:latin typeface="微软雅黑" pitchFamily="34" charset="-122"/>
                  <a:ea typeface="微软雅黑" pitchFamily="34" charset="-122"/>
                </a:rPr>
                <a:t>运输层</a:t>
              </a:r>
            </a:p>
          </p:txBody>
        </p:sp>
        <p:sp>
          <p:nvSpPr>
            <p:cNvPr id="7" name="Text Box 25"/>
            <p:cNvSpPr txBox="1">
              <a:spLocks noChangeArrowheads="1"/>
            </p:cNvSpPr>
            <p:nvPr/>
          </p:nvSpPr>
          <p:spPr bwMode="auto">
            <a:xfrm>
              <a:off x="3542007" y="2030307"/>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00CC66"/>
                  </a:solidFill>
                  <a:latin typeface="微软雅黑" pitchFamily="34" charset="-122"/>
                  <a:ea typeface="微软雅黑" pitchFamily="34" charset="-122"/>
                  <a:sym typeface="Wingdings" pitchFamily="2" charset="2"/>
                </a:rPr>
                <a:t></a:t>
              </a:r>
              <a:endParaRPr lang="en-US" altLang="zh-CN" sz="5400" dirty="0">
                <a:solidFill>
                  <a:srgbClr val="00CC66"/>
                </a:solidFill>
                <a:latin typeface="微软雅黑" pitchFamily="34" charset="-122"/>
                <a:ea typeface="微软雅黑" pitchFamily="34" charset="-122"/>
              </a:endParaRPr>
            </a:p>
          </p:txBody>
        </p:sp>
      </p:grpSp>
      <p:grpSp>
        <p:nvGrpSpPr>
          <p:cNvPr id="78" name="组合 77"/>
          <p:cNvGrpSpPr/>
          <p:nvPr/>
        </p:nvGrpSpPr>
        <p:grpSpPr>
          <a:xfrm>
            <a:off x="3911776" y="3394682"/>
            <a:ext cx="2217760" cy="548783"/>
            <a:chOff x="3911776" y="3466402"/>
            <a:chExt cx="2217760" cy="548783"/>
          </a:xfrm>
        </p:grpSpPr>
        <p:grpSp>
          <p:nvGrpSpPr>
            <p:cNvPr id="63" name="组合 62"/>
            <p:cNvGrpSpPr/>
            <p:nvPr/>
          </p:nvGrpSpPr>
          <p:grpSpPr>
            <a:xfrm>
              <a:off x="3911776" y="3821657"/>
              <a:ext cx="2094060" cy="193528"/>
              <a:chOff x="3911776" y="3660291"/>
              <a:chExt cx="2094060" cy="193528"/>
            </a:xfrm>
          </p:grpSpPr>
          <p:sp>
            <p:nvSpPr>
              <p:cNvPr id="52" name="矩形 51"/>
              <p:cNvSpPr/>
              <p:nvPr/>
            </p:nvSpPr>
            <p:spPr>
              <a:xfrm>
                <a:off x="3911776" y="3660291"/>
                <a:ext cx="572368" cy="193528"/>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chemeClr val="tx1"/>
                    </a:solidFill>
                    <a:latin typeface="微软雅黑" pitchFamily="34" charset="-122"/>
                    <a:ea typeface="微软雅黑" pitchFamily="34" charset="-122"/>
                  </a:rPr>
                  <a:t>数据</a:t>
                </a:r>
              </a:p>
            </p:txBody>
          </p:sp>
          <p:sp>
            <p:nvSpPr>
              <p:cNvPr id="53" name="矩形 52"/>
              <p:cNvSpPr/>
              <p:nvPr/>
            </p:nvSpPr>
            <p:spPr>
              <a:xfrm>
                <a:off x="4484143" y="3660291"/>
                <a:ext cx="572368" cy="193528"/>
              </a:xfrm>
              <a:prstGeom prst="rect">
                <a:avLst/>
              </a:prstGeom>
              <a:solidFill>
                <a:srgbClr val="80008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80</a:t>
                </a:r>
                <a:endParaRPr lang="zh-CN" altLang="en-US" sz="1200" b="1" dirty="0">
                  <a:solidFill>
                    <a:schemeClr val="bg1"/>
                  </a:solidFill>
                  <a:latin typeface="微软雅黑" pitchFamily="34" charset="-122"/>
                  <a:ea typeface="微软雅黑" pitchFamily="34" charset="-122"/>
                </a:endParaRPr>
              </a:p>
            </p:txBody>
          </p:sp>
          <p:sp>
            <p:nvSpPr>
              <p:cNvPr id="54" name="矩形 53"/>
              <p:cNvSpPr/>
              <p:nvPr/>
            </p:nvSpPr>
            <p:spPr>
              <a:xfrm>
                <a:off x="5048655" y="3660291"/>
                <a:ext cx="678992" cy="193528"/>
              </a:xfrm>
              <a:prstGeom prst="rect">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chemeClr val="bg1"/>
                    </a:solidFill>
                    <a:latin typeface="微软雅黑" pitchFamily="34" charset="-122"/>
                    <a:ea typeface="微软雅黑" pitchFamily="34" charset="-122"/>
                  </a:rPr>
                  <a:t>58800</a:t>
                </a:r>
                <a:endParaRPr lang="zh-CN" altLang="en-US" sz="1200" b="1" dirty="0">
                  <a:solidFill>
                    <a:schemeClr val="bg1"/>
                  </a:solidFill>
                  <a:latin typeface="微软雅黑" pitchFamily="34" charset="-122"/>
                  <a:ea typeface="微软雅黑" pitchFamily="34" charset="-122"/>
                </a:endParaRPr>
              </a:p>
            </p:txBody>
          </p:sp>
          <p:sp>
            <p:nvSpPr>
              <p:cNvPr id="57" name="右箭头 56"/>
              <p:cNvSpPr/>
              <p:nvPr/>
            </p:nvSpPr>
            <p:spPr>
              <a:xfrm>
                <a:off x="5743019" y="3708675"/>
                <a:ext cx="262817" cy="96764"/>
              </a:xfrm>
              <a:prstGeom prst="rightArrow">
                <a:avLst/>
              </a:prstGeom>
              <a:solidFill>
                <a:srgbClr val="CC0099"/>
              </a:solidFill>
              <a:ln>
                <a:solidFill>
                  <a:srgbClr val="CC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3978955" y="3466402"/>
              <a:ext cx="800219"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目的端口</a:t>
              </a:r>
            </a:p>
          </p:txBody>
        </p:sp>
        <p:sp>
          <p:nvSpPr>
            <p:cNvPr id="66" name="矩形 65"/>
            <p:cNvSpPr/>
            <p:nvPr/>
          </p:nvSpPr>
          <p:spPr>
            <a:xfrm>
              <a:off x="5483205" y="3466402"/>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源端口</a:t>
              </a:r>
            </a:p>
          </p:txBody>
        </p:sp>
        <p:cxnSp>
          <p:nvCxnSpPr>
            <p:cNvPr id="68" name="直接箭头连接符 67"/>
            <p:cNvCxnSpPr/>
            <p:nvPr/>
          </p:nvCxnSpPr>
          <p:spPr>
            <a:xfrm flipH="1" flipV="1">
              <a:off x="4517744" y="3690857"/>
              <a:ext cx="131700" cy="179186"/>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cxnSp>
          <p:nvCxnSpPr>
            <p:cNvPr id="69" name="直接箭头连接符 68"/>
            <p:cNvCxnSpPr/>
            <p:nvPr/>
          </p:nvCxnSpPr>
          <p:spPr>
            <a:xfrm flipV="1">
              <a:off x="5655101" y="3690857"/>
              <a:ext cx="87918" cy="169660"/>
            </a:xfrm>
            <a:prstGeom prst="straightConnector1">
              <a:avLst/>
            </a:prstGeom>
            <a:ln w="12700">
              <a:solidFill>
                <a:srgbClr val="C00000"/>
              </a:solidFill>
              <a:tailEnd type="triangle"/>
            </a:ln>
          </p:spPr>
          <p:style>
            <a:lnRef idx="1">
              <a:schemeClr val="dk1"/>
            </a:lnRef>
            <a:fillRef idx="0">
              <a:schemeClr val="dk1"/>
            </a:fillRef>
            <a:effectRef idx="0">
              <a:schemeClr val="dk1"/>
            </a:effectRef>
            <a:fontRef idx="minor">
              <a:schemeClr val="tx1"/>
            </a:fontRef>
          </p:style>
        </p:cxnSp>
      </p:grpSp>
      <p:sp>
        <p:nvSpPr>
          <p:cNvPr id="41" name="Text Box 26"/>
          <p:cNvSpPr txBox="1">
            <a:spLocks noChangeArrowheads="1"/>
          </p:cNvSpPr>
          <p:nvPr/>
        </p:nvSpPr>
        <p:spPr bwMode="auto">
          <a:xfrm>
            <a:off x="6218995" y="1977576"/>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
        <p:nvSpPr>
          <p:cNvPr id="8" name="Text Box 26"/>
          <p:cNvSpPr txBox="1">
            <a:spLocks noChangeArrowheads="1"/>
          </p:cNvSpPr>
          <p:nvPr/>
        </p:nvSpPr>
        <p:spPr bwMode="auto">
          <a:xfrm>
            <a:off x="2630157" y="1960325"/>
            <a:ext cx="919135"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5400" dirty="0">
                <a:solidFill>
                  <a:srgbClr val="CC6600"/>
                </a:solidFill>
                <a:latin typeface="微软雅黑" pitchFamily="34" charset="-122"/>
                <a:ea typeface="微软雅黑" pitchFamily="34" charset="-122"/>
                <a:sym typeface="Wingdings" pitchFamily="2" charset="2"/>
              </a:rPr>
              <a:t></a:t>
            </a:r>
            <a:endParaRPr lang="en-US" altLang="zh-CN" sz="5400" dirty="0">
              <a:solidFill>
                <a:srgbClr val="CC6600"/>
              </a:solidFill>
              <a:latin typeface="微软雅黑" pitchFamily="34" charset="-122"/>
              <a:ea typeface="微软雅黑" pitchFamily="34" charset="-122"/>
            </a:endParaRPr>
          </a:p>
        </p:txBody>
      </p:sp>
      <p:sp>
        <p:nvSpPr>
          <p:cNvPr id="64" name="内容占位符 63">
            <a:extLst>
              <a:ext uri="{FF2B5EF4-FFF2-40B4-BE49-F238E27FC236}">
                <a16:creationId xmlns:a16="http://schemas.microsoft.com/office/drawing/2014/main" id="{AD0732D3-6BE6-80F2-76E2-C430A1E51DAE}"/>
              </a:ext>
            </a:extLst>
          </p:cNvPr>
          <p:cNvSpPr>
            <a:spLocks noGrp="1"/>
          </p:cNvSpPr>
          <p:nvPr>
            <p:ph sz="quarter" idx="11"/>
          </p:nvPr>
        </p:nvSpPr>
        <p:spPr>
          <a:xfrm>
            <a:off x="486000" y="482554"/>
            <a:ext cx="8172000" cy="4120946"/>
          </a:xfrm>
        </p:spPr>
        <p:txBody>
          <a:bodyPr/>
          <a:lstStyle/>
          <a:p>
            <a:r>
              <a:rPr lang="zh-CN" altLang="en-US" dirty="0"/>
              <a:t>解决方法：在运输层使用协议端口号 </a:t>
            </a:r>
            <a:r>
              <a:rPr lang="en-US" altLang="zh-CN" dirty="0"/>
              <a:t>(protocol port number)</a:t>
            </a:r>
            <a:r>
              <a:rPr lang="zh-CN" altLang="en-US" dirty="0"/>
              <a:t>，或通常简称为端口 </a:t>
            </a:r>
            <a:r>
              <a:rPr lang="en-US" altLang="zh-CN" dirty="0"/>
              <a:t>(port)</a:t>
            </a:r>
            <a:r>
              <a:rPr lang="zh-CN" altLang="en-US" dirty="0"/>
              <a:t>。把端口设为通信的抽象终点。</a:t>
            </a:r>
          </a:p>
          <a:p>
            <a:endParaRPr lang="zh-CN" altLang="en-US" dirty="0"/>
          </a:p>
        </p:txBody>
      </p:sp>
      <p:sp>
        <p:nvSpPr>
          <p:cNvPr id="75" name="标题 74">
            <a:extLst>
              <a:ext uri="{FF2B5EF4-FFF2-40B4-BE49-F238E27FC236}">
                <a16:creationId xmlns:a16="http://schemas.microsoft.com/office/drawing/2014/main" id="{0F4FB61A-4756-AAA4-D5AA-12704EE8F97E}"/>
              </a:ext>
            </a:extLst>
          </p:cNvPr>
          <p:cNvSpPr>
            <a:spLocks noGrp="1"/>
          </p:cNvSpPr>
          <p:nvPr>
            <p:ph type="title"/>
          </p:nvPr>
        </p:nvSpPr>
        <p:spPr>
          <a:xfrm>
            <a:off x="2808000" y="144000"/>
            <a:ext cx="3528000" cy="338554"/>
          </a:xfrm>
        </p:spPr>
        <p:txBody>
          <a:bodyPr/>
          <a:lstStyle/>
          <a:p>
            <a:r>
              <a:rPr lang="zh-CN" altLang="en-US" dirty="0"/>
              <a:t>端口号 </a:t>
            </a:r>
            <a:r>
              <a:rPr lang="en-US" altLang="zh-CN" dirty="0"/>
              <a:t>(protocol port number)</a:t>
            </a:r>
            <a:endParaRPr lang="zh-CN" altLang="en-US" dirty="0"/>
          </a:p>
        </p:txBody>
      </p:sp>
    </p:spTree>
    <p:extLst>
      <p:ext uri="{BB962C8B-B14F-4D97-AF65-F5344CB8AC3E}">
        <p14:creationId xmlns:p14="http://schemas.microsoft.com/office/powerpoint/2010/main" val="9362218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41"/>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78"/>
                                        </p:tgtEl>
                                        <p:attrNameLst>
                                          <p:attrName>style.visibility</p:attrName>
                                        </p:attrNameLst>
                                      </p:cBhvr>
                                      <p:to>
                                        <p:strVal val="visible"/>
                                      </p:to>
                                    </p:set>
                                    <p:animEffect transition="in" filter="wipe(left)">
                                      <p:cBhvr>
                                        <p:cTn id="13" dur="1000"/>
                                        <p:tgtEl>
                                          <p:spTgt spid="78"/>
                                        </p:tgtEl>
                                      </p:cBhvr>
                                    </p:animEffect>
                                  </p:childTnLst>
                                </p:cTn>
                              </p:par>
                            </p:childTnLst>
                          </p:cTn>
                        </p:par>
                        <p:par>
                          <p:cTn id="14" fill="hold">
                            <p:stCondLst>
                              <p:cond delay="1000"/>
                            </p:stCondLst>
                            <p:childTnLst>
                              <p:par>
                                <p:cTn id="15" presetID="22" presetClass="entr" presetSubtype="2" fill="hold" nodeType="afterEffect">
                                  <p:stCondLst>
                                    <p:cond delay="1000"/>
                                  </p:stCondLst>
                                  <p:childTnLst>
                                    <p:set>
                                      <p:cBhvr>
                                        <p:cTn id="16" dur="1" fill="hold">
                                          <p:stCondLst>
                                            <p:cond delay="0"/>
                                          </p:stCondLst>
                                        </p:cTn>
                                        <p:tgtEl>
                                          <p:spTgt spid="61"/>
                                        </p:tgtEl>
                                        <p:attrNameLst>
                                          <p:attrName>style.visibility</p:attrName>
                                        </p:attrNameLst>
                                      </p:cBhvr>
                                      <p:to>
                                        <p:strVal val="visible"/>
                                      </p:to>
                                    </p:set>
                                    <p:animEffect transition="in" filter="wipe(right)">
                                      <p:cBhvr>
                                        <p:cTn id="17" dur="1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4236867915"/>
              </p:ext>
            </p:extLst>
          </p:nvPr>
        </p:nvGraphicFramePr>
        <p:xfrm>
          <a:off x="1505694" y="1201273"/>
          <a:ext cx="6377146" cy="289559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内容占位符 4">
            <a:extLst>
              <a:ext uri="{FF2B5EF4-FFF2-40B4-BE49-F238E27FC236}">
                <a16:creationId xmlns:a16="http://schemas.microsoft.com/office/drawing/2014/main" id="{37FBBE55-A4E1-4ADE-1EDD-54682D9B3B1B}"/>
              </a:ext>
            </a:extLst>
          </p:cNvPr>
          <p:cNvSpPr>
            <a:spLocks noGrp="1"/>
          </p:cNvSpPr>
          <p:nvPr>
            <p:ph sz="quarter" idx="11"/>
          </p:nvPr>
        </p:nvSpPr>
        <p:spPr/>
        <p:txBody>
          <a:bodyPr/>
          <a:lstStyle/>
          <a:p>
            <a:endParaRPr lang="zh-CN" altLang="en-US"/>
          </a:p>
        </p:txBody>
      </p:sp>
      <p:sp>
        <p:nvSpPr>
          <p:cNvPr id="4" name="标题 3">
            <a:extLst>
              <a:ext uri="{FF2B5EF4-FFF2-40B4-BE49-F238E27FC236}">
                <a16:creationId xmlns:a16="http://schemas.microsoft.com/office/drawing/2014/main" id="{08ACE7AF-3B50-9EC0-9189-FC6870F0A2DE}"/>
              </a:ext>
            </a:extLst>
          </p:cNvPr>
          <p:cNvSpPr>
            <a:spLocks noGrp="1"/>
          </p:cNvSpPr>
          <p:nvPr>
            <p:ph type="title"/>
          </p:nvPr>
        </p:nvSpPr>
        <p:spPr>
          <a:xfrm>
            <a:off x="2808000" y="144000"/>
            <a:ext cx="3528000" cy="338554"/>
          </a:xfrm>
        </p:spPr>
        <p:txBody>
          <a:bodyPr/>
          <a:lstStyle/>
          <a:p>
            <a:r>
              <a:rPr lang="zh-CN" altLang="en-US" dirty="0"/>
              <a:t>软件端口与硬件端口</a:t>
            </a:r>
          </a:p>
        </p:txBody>
      </p:sp>
    </p:spTree>
    <p:extLst>
      <p:ext uri="{BB962C8B-B14F-4D97-AF65-F5344CB8AC3E}">
        <p14:creationId xmlns:p14="http://schemas.microsoft.com/office/powerpoint/2010/main" val="1764252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p:cNvGrpSpPr/>
          <p:nvPr/>
        </p:nvGrpSpPr>
        <p:grpSpPr>
          <a:xfrm>
            <a:off x="2452764" y="2278276"/>
            <a:ext cx="4079887" cy="1740276"/>
            <a:chOff x="2452764" y="2487614"/>
            <a:chExt cx="4079887" cy="1740276"/>
          </a:xfrm>
        </p:grpSpPr>
        <p:grpSp>
          <p:nvGrpSpPr>
            <p:cNvPr id="4" name="组合 3"/>
            <p:cNvGrpSpPr/>
            <p:nvPr/>
          </p:nvGrpSpPr>
          <p:grpSpPr>
            <a:xfrm>
              <a:off x="5036729" y="2487614"/>
              <a:ext cx="1495922" cy="1740276"/>
              <a:chOff x="5020936" y="2487613"/>
              <a:chExt cx="1922848" cy="2160773"/>
            </a:xfrm>
          </p:grpSpPr>
          <p:grpSp>
            <p:nvGrpSpPr>
              <p:cNvPr id="25" name="Group 223"/>
              <p:cNvGrpSpPr>
                <a:grpSpLocks/>
              </p:cNvGrpSpPr>
              <p:nvPr/>
            </p:nvGrpSpPr>
            <p:grpSpPr bwMode="auto">
              <a:xfrm>
                <a:off x="5025269" y="2487613"/>
                <a:ext cx="1819273" cy="1360190"/>
                <a:chOff x="1234" y="3088"/>
                <a:chExt cx="572" cy="571"/>
              </a:xfrm>
            </p:grpSpPr>
            <p:sp>
              <p:nvSpPr>
                <p:cNvPr id="26"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7"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28"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29"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0"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1"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2"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3"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34"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35" name="Group 5"/>
              <p:cNvGrpSpPr>
                <a:grpSpLocks/>
              </p:cNvGrpSpPr>
              <p:nvPr/>
            </p:nvGrpSpPr>
            <p:grpSpPr bwMode="auto">
              <a:xfrm>
                <a:off x="5055491" y="3835401"/>
                <a:ext cx="1828800" cy="451861"/>
                <a:chOff x="3504" y="3216"/>
                <a:chExt cx="1200" cy="496"/>
              </a:xfrm>
              <a:solidFill>
                <a:srgbClr val="66FFFF"/>
              </a:solidFill>
            </p:grpSpPr>
            <p:sp>
              <p:nvSpPr>
                <p:cNvPr id="36"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37"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38"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39"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40" name="Oval 13"/>
              <p:cNvSpPr>
                <a:spLocks noChangeArrowheads="1"/>
              </p:cNvSpPr>
              <p:nvPr/>
            </p:nvSpPr>
            <p:spPr bwMode="auto">
              <a:xfrm>
                <a:off x="574326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P2</a:t>
                </a:r>
              </a:p>
            </p:txBody>
          </p:sp>
          <p:sp>
            <p:nvSpPr>
              <p:cNvPr id="41" name="Oval 14"/>
              <p:cNvSpPr>
                <a:spLocks noChangeArrowheads="1"/>
              </p:cNvSpPr>
              <p:nvPr/>
            </p:nvSpPr>
            <p:spPr bwMode="auto">
              <a:xfrm>
                <a:off x="52245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42" name="Oval 15"/>
              <p:cNvSpPr>
                <a:spLocks noChangeArrowheads="1"/>
              </p:cNvSpPr>
              <p:nvPr/>
            </p:nvSpPr>
            <p:spPr bwMode="auto">
              <a:xfrm>
                <a:off x="621511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P3</a:t>
                </a:r>
              </a:p>
            </p:txBody>
          </p:sp>
          <p:sp>
            <p:nvSpPr>
              <p:cNvPr id="43" name="AutoShape 16"/>
              <p:cNvSpPr>
                <a:spLocks noChangeArrowheads="1"/>
              </p:cNvSpPr>
              <p:nvPr/>
            </p:nvSpPr>
            <p:spPr bwMode="auto">
              <a:xfrm>
                <a:off x="582646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12" name="Text Box 10"/>
              <p:cNvSpPr txBox="1">
                <a:spLocks noChangeArrowheads="1"/>
              </p:cNvSpPr>
              <p:nvPr/>
            </p:nvSpPr>
            <p:spPr bwMode="auto">
              <a:xfrm>
                <a:off x="5020936" y="4266242"/>
                <a:ext cx="1922848"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92</a:t>
                </a:r>
                <a:r>
                  <a:rPr kumimoji="1" lang="zh-CN" altLang="en-US" sz="1400" b="1" dirty="0">
                    <a:solidFill>
                      <a:srgbClr val="C00000"/>
                    </a:solidFill>
                    <a:latin typeface="微软雅黑" pitchFamily="34" charset="-122"/>
                    <a:ea typeface="微软雅黑" pitchFamily="34" charset="-122"/>
                  </a:rPr>
                  <a:t>.1</a:t>
                </a:r>
                <a:r>
                  <a:rPr kumimoji="1" lang="en-US" altLang="zh-CN" sz="1400" b="1" dirty="0">
                    <a:solidFill>
                      <a:srgbClr val="C00000"/>
                    </a:solidFill>
                    <a:latin typeface="微软雅黑" pitchFamily="34" charset="-122"/>
                    <a:ea typeface="微软雅黑" pitchFamily="34" charset="-122"/>
                  </a:rPr>
                  <a:t>68</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1</a:t>
                </a:r>
                <a:r>
                  <a:rPr kumimoji="1" lang="zh-CN" altLang="en-US" sz="1400" b="1" dirty="0">
                    <a:solidFill>
                      <a:srgbClr val="C00000"/>
                    </a:solidFill>
                    <a:latin typeface="微软雅黑" pitchFamily="34" charset="-122"/>
                    <a:ea typeface="微软雅黑" pitchFamily="34" charset="-122"/>
                  </a:rPr>
                  <a:t>.</a:t>
                </a:r>
                <a:r>
                  <a:rPr kumimoji="1" lang="en-US" altLang="zh-CN" sz="1400" b="1" dirty="0">
                    <a:solidFill>
                      <a:srgbClr val="C00000"/>
                    </a:solidFill>
                    <a:latin typeface="微软雅黑" pitchFamily="34" charset="-122"/>
                    <a:ea typeface="微软雅黑" pitchFamily="34" charset="-122"/>
                  </a:rPr>
                  <a:t>7</a:t>
                </a:r>
                <a:r>
                  <a:rPr kumimoji="1" lang="zh-CN" altLang="en-US" sz="1400" b="1" dirty="0">
                    <a:solidFill>
                      <a:srgbClr val="C00000"/>
                    </a:solidFill>
                    <a:latin typeface="微软雅黑" pitchFamily="34" charset="-122"/>
                    <a:ea typeface="微软雅黑" pitchFamily="34" charset="-122"/>
                  </a:rPr>
                  <a:t>:80</a:t>
                </a:r>
                <a:endParaRPr kumimoji="1" lang="en-US" altLang="zh-CN" sz="1400" b="1" dirty="0">
                  <a:solidFill>
                    <a:srgbClr val="C00000"/>
                  </a:solidFill>
                  <a:latin typeface="微软雅黑" pitchFamily="34" charset="-122"/>
                  <a:ea typeface="微软雅黑" pitchFamily="34" charset="-122"/>
                </a:endParaRPr>
              </a:p>
            </p:txBody>
          </p:sp>
        </p:grpSp>
        <p:grpSp>
          <p:nvGrpSpPr>
            <p:cNvPr id="3" name="组合 2"/>
            <p:cNvGrpSpPr/>
            <p:nvPr/>
          </p:nvGrpSpPr>
          <p:grpSpPr>
            <a:xfrm>
              <a:off x="2452764" y="2487614"/>
              <a:ext cx="1606529" cy="1740276"/>
              <a:chOff x="1859918" y="2487613"/>
              <a:chExt cx="2065020" cy="2160773"/>
            </a:xfrm>
          </p:grpSpPr>
          <p:grpSp>
            <p:nvGrpSpPr>
              <p:cNvPr id="44" name="Group 223"/>
              <p:cNvGrpSpPr>
                <a:grpSpLocks/>
              </p:cNvGrpSpPr>
              <p:nvPr/>
            </p:nvGrpSpPr>
            <p:grpSpPr bwMode="auto">
              <a:xfrm>
                <a:off x="1935339" y="2487613"/>
                <a:ext cx="1819273" cy="1360190"/>
                <a:chOff x="1234" y="3088"/>
                <a:chExt cx="572" cy="571"/>
              </a:xfrm>
            </p:grpSpPr>
            <p:sp>
              <p:nvSpPr>
                <p:cNvPr id="45" name="Rectangle 224"/>
                <p:cNvSpPr>
                  <a:spLocks noChangeArrowheads="1"/>
                </p:cNvSpPr>
                <p:nvPr/>
              </p:nvSpPr>
              <p:spPr bwMode="auto">
                <a:xfrm>
                  <a:off x="1270" y="3127"/>
                  <a:ext cx="503" cy="376"/>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6" name="Freeform 225"/>
                <p:cNvSpPr>
                  <a:spLocks noEditPoints="1"/>
                </p:cNvSpPr>
                <p:nvPr/>
              </p:nvSpPr>
              <p:spPr bwMode="auto">
                <a:xfrm>
                  <a:off x="1234" y="3088"/>
                  <a:ext cx="572" cy="476"/>
                </a:xfrm>
                <a:custGeom>
                  <a:avLst/>
                  <a:gdLst>
                    <a:gd name="T0" fmla="*/ 0 w 10862"/>
                    <a:gd name="T1" fmla="*/ 0 h 9055"/>
                    <a:gd name="T2" fmla="*/ 572 w 10862"/>
                    <a:gd name="T3" fmla="*/ 0 h 9055"/>
                    <a:gd name="T4" fmla="*/ 572 w 10862"/>
                    <a:gd name="T5" fmla="*/ 476 h 9055"/>
                    <a:gd name="T6" fmla="*/ 0 w 10862"/>
                    <a:gd name="T7" fmla="*/ 476 h 9055"/>
                    <a:gd name="T8" fmla="*/ 0 w 10862"/>
                    <a:gd name="T9" fmla="*/ 0 h 9055"/>
                    <a:gd name="T10" fmla="*/ 51 w 10862"/>
                    <a:gd name="T11" fmla="*/ 48 h 9055"/>
                    <a:gd name="T12" fmla="*/ 527 w 10862"/>
                    <a:gd name="T13" fmla="*/ 48 h 9055"/>
                    <a:gd name="T14" fmla="*/ 527 w 10862"/>
                    <a:gd name="T15" fmla="*/ 403 h 9055"/>
                    <a:gd name="T16" fmla="*/ 51 w 10862"/>
                    <a:gd name="T17" fmla="*/ 403 h 9055"/>
                    <a:gd name="T18" fmla="*/ 51 w 10862"/>
                    <a:gd name="T19" fmla="*/ 48 h 905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0862" h="9055">
                      <a:moveTo>
                        <a:pt x="0" y="0"/>
                      </a:moveTo>
                      <a:lnTo>
                        <a:pt x="10862" y="0"/>
                      </a:lnTo>
                      <a:lnTo>
                        <a:pt x="10862" y="9055"/>
                      </a:lnTo>
                      <a:lnTo>
                        <a:pt x="0" y="9055"/>
                      </a:lnTo>
                      <a:lnTo>
                        <a:pt x="0" y="0"/>
                      </a:lnTo>
                      <a:close/>
                      <a:moveTo>
                        <a:pt x="963" y="922"/>
                      </a:moveTo>
                      <a:lnTo>
                        <a:pt x="9998" y="922"/>
                      </a:lnTo>
                      <a:lnTo>
                        <a:pt x="9998" y="7663"/>
                      </a:lnTo>
                      <a:lnTo>
                        <a:pt x="963" y="7663"/>
                      </a:lnTo>
                      <a:lnTo>
                        <a:pt x="963" y="922"/>
                      </a:lnTo>
                      <a:close/>
                    </a:path>
                  </a:pathLst>
                </a:custGeom>
                <a:solidFill>
                  <a:srgbClr val="83A7C6"/>
                </a:solidFill>
                <a:ln>
                  <a:noFill/>
                </a:ln>
                <a:extLst>
                  <a:ext uri="{91240B29-F687-4F45-9708-019B960494DF}">
                    <a14:hiddenLine xmlns:a14="http://schemas.microsoft.com/office/drawing/2010/main" w="9525">
                      <a:solidFill>
                        <a:srgbClr val="000000"/>
                      </a:solidFill>
                      <a:round/>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endParaRPr lang="zh-CN" altLang="en-US" sz="2000"/>
                </a:p>
              </p:txBody>
            </p:sp>
            <p:sp>
              <p:nvSpPr>
                <p:cNvPr id="47" name="Rectangle 226"/>
                <p:cNvSpPr>
                  <a:spLocks noChangeArrowheads="1"/>
                </p:cNvSpPr>
                <p:nvPr/>
              </p:nvSpPr>
              <p:spPr bwMode="auto">
                <a:xfrm>
                  <a:off x="1285" y="3136"/>
                  <a:ext cx="475" cy="8"/>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8" name="Rectangle 227"/>
                <p:cNvSpPr>
                  <a:spLocks noChangeArrowheads="1"/>
                </p:cNvSpPr>
                <p:nvPr/>
              </p:nvSpPr>
              <p:spPr bwMode="auto">
                <a:xfrm>
                  <a:off x="1285" y="3138"/>
                  <a:ext cx="9" cy="349"/>
                </a:xfrm>
                <a:prstGeom prst="rect">
                  <a:avLst/>
                </a:prstGeom>
                <a:solidFill>
                  <a:srgbClr val="1F1A17"/>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49" name="Rectangle 228"/>
                <p:cNvSpPr>
                  <a:spLocks noChangeArrowheads="1"/>
                </p:cNvSpPr>
                <p:nvPr/>
              </p:nvSpPr>
              <p:spPr bwMode="auto">
                <a:xfrm>
                  <a:off x="1752" y="3136"/>
                  <a:ext cx="8" cy="35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0" name="Rectangle 229"/>
                <p:cNvSpPr>
                  <a:spLocks noChangeArrowheads="1"/>
                </p:cNvSpPr>
                <p:nvPr/>
              </p:nvSpPr>
              <p:spPr bwMode="auto">
                <a:xfrm>
                  <a:off x="1285" y="3482"/>
                  <a:ext cx="475" cy="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1" name="Rectangle 230"/>
                <p:cNvSpPr>
                  <a:spLocks noChangeArrowheads="1"/>
                </p:cNvSpPr>
                <p:nvPr/>
              </p:nvSpPr>
              <p:spPr bwMode="auto">
                <a:xfrm>
                  <a:off x="1417" y="3565"/>
                  <a:ext cx="228" cy="32"/>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2" name="Rectangle 231"/>
                <p:cNvSpPr>
                  <a:spLocks noChangeArrowheads="1"/>
                </p:cNvSpPr>
                <p:nvPr/>
              </p:nvSpPr>
              <p:spPr bwMode="auto">
                <a:xfrm>
                  <a:off x="1436" y="3598"/>
                  <a:ext cx="186" cy="19"/>
                </a:xfrm>
                <a:prstGeom prst="rect">
                  <a:avLst/>
                </a:prstGeom>
                <a:solidFill>
                  <a:srgbClr val="325373"/>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sp>
              <p:nvSpPr>
                <p:cNvPr id="53" name="Rectangle 232"/>
                <p:cNvSpPr>
                  <a:spLocks noChangeArrowheads="1"/>
                </p:cNvSpPr>
                <p:nvPr/>
              </p:nvSpPr>
              <p:spPr bwMode="auto">
                <a:xfrm>
                  <a:off x="1334" y="3620"/>
                  <a:ext cx="384" cy="39"/>
                </a:xfrm>
                <a:prstGeom prst="rect">
                  <a:avLst/>
                </a:prstGeom>
                <a:solidFill>
                  <a:srgbClr val="5781A9"/>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4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4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4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400" kern="1200">
                      <a:solidFill>
                        <a:schemeClr val="tx1"/>
                      </a:solidFill>
                      <a:latin typeface="Times New Roman" pitchFamily="18" charset="0"/>
                      <a:ea typeface="宋体" pitchFamily="2" charset="-122"/>
                      <a:cs typeface="+mn-cs"/>
                    </a:defRPr>
                  </a:lvl9pPr>
                </a:lstStyle>
                <a:p>
                  <a:pPr algn="r" eaLnBrk="1" hangingPunct="1"/>
                  <a:endParaRPr lang="zh-CN" altLang="en-US" sz="2000"/>
                </a:p>
              </p:txBody>
            </p:sp>
          </p:grpSp>
          <p:grpSp>
            <p:nvGrpSpPr>
              <p:cNvPr id="54" name="Group 5"/>
              <p:cNvGrpSpPr>
                <a:grpSpLocks/>
              </p:cNvGrpSpPr>
              <p:nvPr/>
            </p:nvGrpSpPr>
            <p:grpSpPr bwMode="auto">
              <a:xfrm>
                <a:off x="1965561" y="3835401"/>
                <a:ext cx="1828800" cy="451861"/>
                <a:chOff x="3504" y="3216"/>
                <a:chExt cx="1200" cy="496"/>
              </a:xfrm>
              <a:solidFill>
                <a:srgbClr val="66FFFF"/>
              </a:solidFill>
            </p:grpSpPr>
            <p:sp>
              <p:nvSpPr>
                <p:cNvPr id="55" name="Rectangle 6"/>
                <p:cNvSpPr>
                  <a:spLocks noChangeArrowheads="1"/>
                </p:cNvSpPr>
                <p:nvPr/>
              </p:nvSpPr>
              <p:spPr bwMode="auto">
                <a:xfrm>
                  <a:off x="3504" y="3216"/>
                  <a:ext cx="1200" cy="496"/>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a:p>
              </p:txBody>
            </p:sp>
            <p:sp>
              <p:nvSpPr>
                <p:cNvPr id="56" name="Rectangle 7"/>
                <p:cNvSpPr>
                  <a:spLocks noChangeArrowheads="1"/>
                </p:cNvSpPr>
                <p:nvPr/>
              </p:nvSpPr>
              <p:spPr bwMode="auto">
                <a:xfrm>
                  <a:off x="3648"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70</a:t>
                  </a:r>
                  <a:endParaRPr kumimoji="1" lang="zh-CN" altLang="en-US" sz="1200" b="1" dirty="0">
                    <a:latin typeface="微软雅黑" pitchFamily="34" charset="-122"/>
                    <a:ea typeface="微软雅黑" pitchFamily="34" charset="-122"/>
                  </a:endParaRPr>
                </a:p>
              </p:txBody>
            </p:sp>
            <p:sp>
              <p:nvSpPr>
                <p:cNvPr id="57" name="Rectangle 8"/>
                <p:cNvSpPr>
                  <a:spLocks noChangeArrowheads="1"/>
                </p:cNvSpPr>
                <p:nvPr/>
              </p:nvSpPr>
              <p:spPr bwMode="auto">
                <a:xfrm>
                  <a:off x="3984"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200" b="1">
                      <a:latin typeface="微软雅黑" pitchFamily="34" charset="-122"/>
                      <a:ea typeface="微软雅黑" pitchFamily="34" charset="-122"/>
                    </a:rPr>
                    <a:t>80</a:t>
                  </a:r>
                </a:p>
              </p:txBody>
            </p:sp>
            <p:sp>
              <p:nvSpPr>
                <p:cNvPr id="58" name="Rectangle 9"/>
                <p:cNvSpPr>
                  <a:spLocks noChangeArrowheads="1"/>
                </p:cNvSpPr>
                <p:nvPr/>
              </p:nvSpPr>
              <p:spPr bwMode="auto">
                <a:xfrm>
                  <a:off x="4320" y="3419"/>
                  <a:ext cx="240" cy="288"/>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90</a:t>
                  </a:r>
                  <a:endParaRPr kumimoji="1" lang="zh-CN" altLang="en-US" sz="1200" b="1" dirty="0">
                    <a:latin typeface="微软雅黑" pitchFamily="34" charset="-122"/>
                    <a:ea typeface="微软雅黑" pitchFamily="34" charset="-122"/>
                  </a:endParaRPr>
                </a:p>
              </p:txBody>
            </p:sp>
          </p:grpSp>
          <p:sp>
            <p:nvSpPr>
              <p:cNvPr id="59" name="Oval 13"/>
              <p:cNvSpPr>
                <a:spLocks noChangeArrowheads="1"/>
              </p:cNvSpPr>
              <p:nvPr/>
            </p:nvSpPr>
            <p:spPr bwMode="auto">
              <a:xfrm>
                <a:off x="2653333" y="2818789"/>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P2</a:t>
                </a:r>
              </a:p>
            </p:txBody>
          </p:sp>
          <p:sp>
            <p:nvSpPr>
              <p:cNvPr id="60" name="Oval 14"/>
              <p:cNvSpPr>
                <a:spLocks noChangeArrowheads="1"/>
              </p:cNvSpPr>
              <p:nvPr/>
            </p:nvSpPr>
            <p:spPr bwMode="auto">
              <a:xfrm>
                <a:off x="21345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P1</a:t>
                </a:r>
              </a:p>
            </p:txBody>
          </p:sp>
          <p:sp>
            <p:nvSpPr>
              <p:cNvPr id="61" name="Oval 15"/>
              <p:cNvSpPr>
                <a:spLocks noChangeArrowheads="1"/>
              </p:cNvSpPr>
              <p:nvPr/>
            </p:nvSpPr>
            <p:spPr bwMode="auto">
              <a:xfrm>
                <a:off x="3125187" y="2719143"/>
                <a:ext cx="381000" cy="381000"/>
              </a:xfrm>
              <a:prstGeom prst="ellipse">
                <a:avLst/>
              </a:prstGeom>
              <a:solidFill>
                <a:srgbClr val="66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P3</a:t>
                </a:r>
              </a:p>
            </p:txBody>
          </p:sp>
          <p:sp>
            <p:nvSpPr>
              <p:cNvPr id="62" name="AutoShape 16"/>
              <p:cNvSpPr>
                <a:spLocks noChangeArrowheads="1"/>
              </p:cNvSpPr>
              <p:nvPr/>
            </p:nvSpPr>
            <p:spPr bwMode="auto">
              <a:xfrm>
                <a:off x="2736536" y="3234959"/>
                <a:ext cx="225486" cy="671900"/>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63" name="Text Box 10"/>
              <p:cNvSpPr txBox="1">
                <a:spLocks noChangeArrowheads="1"/>
              </p:cNvSpPr>
              <p:nvPr/>
            </p:nvSpPr>
            <p:spPr bwMode="auto">
              <a:xfrm>
                <a:off x="1859918" y="4266242"/>
                <a:ext cx="2065020" cy="382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92</a:t>
                </a:r>
                <a:r>
                  <a:rPr kumimoji="1" lang="zh-CN" altLang="en-US" sz="1400" b="1" dirty="0">
                    <a:solidFill>
                      <a:srgbClr val="0000FF"/>
                    </a:solidFill>
                    <a:latin typeface="微软雅黑" pitchFamily="34" charset="-122"/>
                    <a:ea typeface="微软雅黑" pitchFamily="34" charset="-122"/>
                  </a:rPr>
                  <a:t>.1</a:t>
                </a:r>
                <a:r>
                  <a:rPr kumimoji="1" lang="en-US" altLang="zh-CN" sz="1400" b="1" dirty="0">
                    <a:solidFill>
                      <a:srgbClr val="0000FF"/>
                    </a:solidFill>
                    <a:latin typeface="微软雅黑" pitchFamily="34" charset="-122"/>
                    <a:ea typeface="微软雅黑" pitchFamily="34" charset="-122"/>
                  </a:rPr>
                  <a:t>68</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10</a:t>
                </a:r>
                <a:r>
                  <a:rPr kumimoji="1" lang="zh-CN" altLang="en-US" sz="1400" b="1" dirty="0">
                    <a:solidFill>
                      <a:srgbClr val="0000FF"/>
                    </a:solidFill>
                    <a:latin typeface="微软雅黑" pitchFamily="34" charset="-122"/>
                    <a:ea typeface="微软雅黑" pitchFamily="34" charset="-122"/>
                  </a:rPr>
                  <a:t>.</a:t>
                </a:r>
                <a:r>
                  <a:rPr kumimoji="1" lang="en-US" altLang="zh-CN" sz="1400" b="1" dirty="0">
                    <a:solidFill>
                      <a:srgbClr val="0000FF"/>
                    </a:solidFill>
                    <a:latin typeface="微软雅黑" pitchFamily="34" charset="-122"/>
                    <a:ea typeface="微软雅黑" pitchFamily="34" charset="-122"/>
                  </a:rPr>
                  <a:t>2</a:t>
                </a:r>
                <a:r>
                  <a:rPr kumimoji="1" lang="zh-CN" altLang="en-US" sz="1400" b="1" dirty="0">
                    <a:solidFill>
                      <a:srgbClr val="0000FF"/>
                    </a:solidFill>
                    <a:latin typeface="微软雅黑" pitchFamily="34" charset="-122"/>
                    <a:ea typeface="微软雅黑" pitchFamily="34" charset="-122"/>
                  </a:rPr>
                  <a:t>:80</a:t>
                </a:r>
                <a:endParaRPr kumimoji="1" lang="en-US" altLang="zh-CN" sz="1400" b="1" dirty="0">
                  <a:solidFill>
                    <a:srgbClr val="0000FF"/>
                  </a:solidFill>
                  <a:latin typeface="微软雅黑" pitchFamily="34" charset="-122"/>
                  <a:ea typeface="微软雅黑" pitchFamily="34" charset="-122"/>
                </a:endParaRPr>
              </a:p>
            </p:txBody>
          </p:sp>
        </p:grpSp>
        <p:sp>
          <p:nvSpPr>
            <p:cNvPr id="64" name="Rectangle 396"/>
            <p:cNvSpPr>
              <a:spLocks noChangeArrowheads="1"/>
            </p:cNvSpPr>
            <p:nvPr/>
          </p:nvSpPr>
          <p:spPr bwMode="auto">
            <a:xfrm>
              <a:off x="4264969" y="332061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C00000"/>
                  </a:solidFill>
                  <a:latin typeface="微软雅黑" pitchFamily="34" charset="-122"/>
                  <a:ea typeface="微软雅黑" pitchFamily="34" charset="-122"/>
                </a:rPr>
                <a:t>端口</a:t>
              </a:r>
            </a:p>
          </p:txBody>
        </p:sp>
        <p:sp>
          <p:nvSpPr>
            <p:cNvPr id="65" name="Line 399"/>
            <p:cNvSpPr>
              <a:spLocks noChangeShapeType="1"/>
            </p:cNvSpPr>
            <p:nvPr/>
          </p:nvSpPr>
          <p:spPr bwMode="auto">
            <a:xfrm flipH="1">
              <a:off x="3761794" y="3519669"/>
              <a:ext cx="488037" cy="303717"/>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sp>
          <p:nvSpPr>
            <p:cNvPr id="66" name="Line 399"/>
            <p:cNvSpPr>
              <a:spLocks noChangeShapeType="1"/>
            </p:cNvSpPr>
            <p:nvPr/>
          </p:nvSpPr>
          <p:spPr bwMode="auto">
            <a:xfrm>
              <a:off x="4744254" y="3498824"/>
              <a:ext cx="496873" cy="324563"/>
            </a:xfrm>
            <a:prstGeom prst="line">
              <a:avLst/>
            </a:prstGeom>
            <a:noFill/>
            <a:ln w="28575">
              <a:solidFill>
                <a:srgbClr val="CC00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50" b="1">
                <a:latin typeface="微软雅黑" pitchFamily="34" charset="-122"/>
                <a:ea typeface="微软雅黑" pitchFamily="34" charset="-122"/>
              </a:endParaRPr>
            </a:p>
          </p:txBody>
        </p:sp>
      </p:grpSp>
      <p:sp>
        <p:nvSpPr>
          <p:cNvPr id="2" name="矩形 1"/>
          <p:cNvSpPr/>
          <p:nvPr/>
        </p:nvSpPr>
        <p:spPr>
          <a:xfrm>
            <a:off x="1452284" y="3997543"/>
            <a:ext cx="6302188" cy="759182"/>
          </a:xfrm>
          <a:prstGeom prst="rect">
            <a:avLst/>
          </a:prstGeom>
        </p:spPr>
        <p:txBody>
          <a:bodyPr wrap="square">
            <a:spAutoFit/>
          </a:bodyPr>
          <a:lstStyle/>
          <a:p>
            <a:pPr>
              <a:lnSpc>
                <a:spcPts val="2600"/>
              </a:lnSpc>
              <a:spcBef>
                <a:spcPts val="600"/>
              </a:spcBef>
            </a:pPr>
            <a:r>
              <a:rPr lang="zh-CN" altLang="en-US" b="1" dirty="0">
                <a:latin typeface="微软雅黑" pitchFamily="34" charset="-122"/>
                <a:ea typeface="微软雅黑" pitchFamily="34" charset="-122"/>
              </a:rPr>
              <a:t>由此可见，两个计算机中的进程要互相通信，不仅必须知道对方的端口号，而且还要知道对方的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地址。</a:t>
            </a:r>
          </a:p>
        </p:txBody>
      </p:sp>
      <p:sp>
        <p:nvSpPr>
          <p:cNvPr id="11" name="内容占位符 10">
            <a:extLst>
              <a:ext uri="{FF2B5EF4-FFF2-40B4-BE49-F238E27FC236}">
                <a16:creationId xmlns:a16="http://schemas.microsoft.com/office/drawing/2014/main" id="{B2DE4A8E-5190-02EF-8C91-0F841773F1FE}"/>
              </a:ext>
            </a:extLst>
          </p:cNvPr>
          <p:cNvSpPr>
            <a:spLocks noGrp="1"/>
          </p:cNvSpPr>
          <p:nvPr>
            <p:ph sz="quarter" idx="11"/>
          </p:nvPr>
        </p:nvSpPr>
        <p:spPr>
          <a:xfrm>
            <a:off x="486000" y="482554"/>
            <a:ext cx="8172000" cy="4120946"/>
          </a:xfrm>
        </p:spPr>
        <p:txBody>
          <a:bodyPr/>
          <a:lstStyle/>
          <a:p>
            <a:r>
              <a:rPr lang="zh-CN" altLang="en-US" dirty="0"/>
              <a:t>端口用一个 </a:t>
            </a:r>
            <a:r>
              <a:rPr lang="en-US" altLang="zh-CN" dirty="0"/>
              <a:t>16 </a:t>
            </a:r>
            <a:r>
              <a:rPr lang="zh-CN" altLang="en-US" dirty="0"/>
              <a:t>位端口号进行标志，允许有 </a:t>
            </a:r>
            <a:r>
              <a:rPr lang="en-US" altLang="zh-CN" dirty="0"/>
              <a:t>65,535 </a:t>
            </a:r>
            <a:r>
              <a:rPr lang="zh-CN" altLang="en-US" dirty="0"/>
              <a:t>个不同的端口号。</a:t>
            </a:r>
          </a:p>
          <a:p>
            <a:r>
              <a:rPr lang="zh-CN" altLang="en-US" dirty="0"/>
              <a:t>端口号只具有本地意义，只是为了标志本计算机应用层中的各进程。</a:t>
            </a:r>
            <a:endParaRPr lang="en-US" altLang="zh-CN" dirty="0"/>
          </a:p>
          <a:p>
            <a:r>
              <a:rPr lang="zh-CN" altLang="en-US" dirty="0"/>
              <a:t>在互联网中，不同计算机的相同端口号没有联系。</a:t>
            </a:r>
          </a:p>
          <a:p>
            <a:endParaRPr lang="zh-CN" altLang="en-US" dirty="0"/>
          </a:p>
          <a:p>
            <a:endParaRPr lang="zh-CN" altLang="en-US" dirty="0"/>
          </a:p>
        </p:txBody>
      </p:sp>
      <p:sp>
        <p:nvSpPr>
          <p:cNvPr id="9" name="标题 8">
            <a:extLst>
              <a:ext uri="{FF2B5EF4-FFF2-40B4-BE49-F238E27FC236}">
                <a16:creationId xmlns:a16="http://schemas.microsoft.com/office/drawing/2014/main" id="{568D03B5-836E-43D1-740E-ECE2056EFA1D}"/>
              </a:ext>
            </a:extLst>
          </p:cNvPr>
          <p:cNvSpPr>
            <a:spLocks noGrp="1"/>
          </p:cNvSpPr>
          <p:nvPr>
            <p:ph type="title"/>
          </p:nvPr>
        </p:nvSpPr>
        <p:spPr>
          <a:xfrm>
            <a:off x="2808000" y="144000"/>
            <a:ext cx="3528000" cy="338554"/>
          </a:xfrm>
        </p:spPr>
        <p:txBody>
          <a:bodyPr/>
          <a:lstStyle/>
          <a:p>
            <a:r>
              <a:rPr lang="en-US" altLang="zh-CN" dirty="0"/>
              <a:t>TCP/IP </a:t>
            </a:r>
            <a:r>
              <a:rPr lang="zh-CN" altLang="en-US" dirty="0"/>
              <a:t>运输层端口的标志</a:t>
            </a:r>
          </a:p>
        </p:txBody>
      </p:sp>
    </p:spTree>
    <p:extLst>
      <p:ext uri="{BB962C8B-B14F-4D97-AF65-F5344CB8AC3E}">
        <p14:creationId xmlns:p14="http://schemas.microsoft.com/office/powerpoint/2010/main" val="3974344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903891" y="2339206"/>
            <a:ext cx="1187673" cy="336331"/>
            <a:chOff x="945931" y="1776249"/>
            <a:chExt cx="1187673" cy="336331"/>
          </a:xfrm>
        </p:grpSpPr>
        <p:cxnSp>
          <p:nvCxnSpPr>
            <p:cNvPr id="7" name="直接连接符 6"/>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2280747" y="2339206"/>
            <a:ext cx="3563006" cy="336331"/>
            <a:chOff x="945931" y="1776249"/>
            <a:chExt cx="1187673" cy="336331"/>
          </a:xfrm>
        </p:grpSpPr>
        <p:cxnSp>
          <p:nvCxnSpPr>
            <p:cNvPr id="14" name="直接连接符 13"/>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7" name="组合 16"/>
          <p:cNvGrpSpPr/>
          <p:nvPr/>
        </p:nvGrpSpPr>
        <p:grpSpPr>
          <a:xfrm>
            <a:off x="6042288" y="2339206"/>
            <a:ext cx="2313438" cy="336331"/>
            <a:chOff x="945931" y="1776249"/>
            <a:chExt cx="1187673" cy="336331"/>
          </a:xfrm>
        </p:grpSpPr>
        <p:cxnSp>
          <p:nvCxnSpPr>
            <p:cNvPr id="18" name="直接连接符 17"/>
            <p:cNvCxnSpPr/>
            <p:nvPr/>
          </p:nvCxnSpPr>
          <p:spPr>
            <a:xfrm>
              <a:off x="945931" y="1944414"/>
              <a:ext cx="11876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945931"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2133604" y="1776249"/>
              <a:ext cx="0" cy="33633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746241" y="2013398"/>
            <a:ext cx="311304"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0</a:t>
            </a:r>
            <a:endParaRPr lang="zh-CN" altLang="en-US" sz="1600" b="1" dirty="0">
              <a:latin typeface="微软雅黑" pitchFamily="34" charset="-122"/>
              <a:ea typeface="微软雅黑" pitchFamily="34" charset="-122"/>
            </a:endParaRPr>
          </a:p>
        </p:txBody>
      </p:sp>
      <p:sp>
        <p:nvSpPr>
          <p:cNvPr id="22" name="TextBox 21"/>
          <p:cNvSpPr txBox="1"/>
          <p:nvPr/>
        </p:nvSpPr>
        <p:spPr>
          <a:xfrm>
            <a:off x="1624957" y="2013398"/>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1023</a:t>
            </a:r>
            <a:endParaRPr lang="zh-CN" altLang="en-US" sz="1600" b="1" dirty="0">
              <a:latin typeface="微软雅黑" pitchFamily="34" charset="-122"/>
              <a:ea typeface="微软雅黑" pitchFamily="34" charset="-122"/>
            </a:endParaRPr>
          </a:p>
        </p:txBody>
      </p:sp>
      <p:sp>
        <p:nvSpPr>
          <p:cNvPr id="23" name="TextBox 22"/>
          <p:cNvSpPr txBox="1"/>
          <p:nvPr/>
        </p:nvSpPr>
        <p:spPr>
          <a:xfrm>
            <a:off x="2007484" y="2672439"/>
            <a:ext cx="691215"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1024</a:t>
            </a:r>
            <a:endParaRPr lang="zh-CN" altLang="en-US" sz="1600" b="1" dirty="0">
              <a:latin typeface="微软雅黑" pitchFamily="34" charset="-122"/>
              <a:ea typeface="微软雅黑" pitchFamily="34" charset="-122"/>
            </a:endParaRPr>
          </a:p>
        </p:txBody>
      </p:sp>
      <p:sp>
        <p:nvSpPr>
          <p:cNvPr id="24" name="TextBox 23"/>
          <p:cNvSpPr txBox="1"/>
          <p:nvPr/>
        </p:nvSpPr>
        <p:spPr>
          <a:xfrm>
            <a:off x="5265688" y="2672439"/>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49,151</a:t>
            </a:r>
            <a:endParaRPr lang="zh-CN" altLang="en-US" sz="1600" b="1" dirty="0">
              <a:latin typeface="微软雅黑" pitchFamily="34" charset="-122"/>
              <a:ea typeface="微软雅黑" pitchFamily="34" charset="-122"/>
            </a:endParaRPr>
          </a:p>
        </p:txBody>
      </p:sp>
      <p:sp>
        <p:nvSpPr>
          <p:cNvPr id="25" name="TextBox 24"/>
          <p:cNvSpPr txBox="1"/>
          <p:nvPr/>
        </p:nvSpPr>
        <p:spPr>
          <a:xfrm>
            <a:off x="5804497"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49,152</a:t>
            </a:r>
            <a:endParaRPr lang="zh-CN" altLang="en-US" sz="1600" b="1" dirty="0">
              <a:latin typeface="微软雅黑" pitchFamily="34" charset="-122"/>
              <a:ea typeface="微软雅黑" pitchFamily="34" charset="-122"/>
            </a:endParaRPr>
          </a:p>
        </p:txBody>
      </p:sp>
      <p:sp>
        <p:nvSpPr>
          <p:cNvPr id="26" name="TextBox 25"/>
          <p:cNvSpPr txBox="1"/>
          <p:nvPr/>
        </p:nvSpPr>
        <p:spPr>
          <a:xfrm>
            <a:off x="7770616" y="2013398"/>
            <a:ext cx="877163" cy="338554"/>
          </a:xfrm>
          <a:prstGeom prst="rect">
            <a:avLst/>
          </a:prstGeom>
          <a:noFill/>
        </p:spPr>
        <p:txBody>
          <a:bodyPr wrap="none" rtlCol="0">
            <a:spAutoFit/>
          </a:bodyPr>
          <a:lstStyle/>
          <a:p>
            <a:r>
              <a:rPr lang="en-US" altLang="zh-CN" sz="1600" b="1" dirty="0">
                <a:latin typeface="微软雅黑" pitchFamily="34" charset="-122"/>
                <a:ea typeface="微软雅黑" pitchFamily="34" charset="-122"/>
              </a:rPr>
              <a:t>65,535</a:t>
            </a:r>
            <a:endParaRPr lang="zh-CN" altLang="en-US" sz="1600" b="1" dirty="0">
              <a:latin typeface="微软雅黑" pitchFamily="34" charset="-122"/>
              <a:ea typeface="微软雅黑" pitchFamily="34" charset="-122"/>
            </a:endParaRPr>
          </a:p>
        </p:txBody>
      </p:sp>
      <p:sp>
        <p:nvSpPr>
          <p:cNvPr id="27" name="矩形 26"/>
          <p:cNvSpPr/>
          <p:nvPr/>
        </p:nvSpPr>
        <p:spPr>
          <a:xfrm>
            <a:off x="2247313" y="1359718"/>
            <a:ext cx="2236510"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服务器端使用的端口号</a:t>
            </a:r>
          </a:p>
        </p:txBody>
      </p:sp>
      <p:sp>
        <p:nvSpPr>
          <p:cNvPr id="28" name="矩形 27"/>
          <p:cNvSpPr/>
          <p:nvPr/>
        </p:nvSpPr>
        <p:spPr>
          <a:xfrm>
            <a:off x="6183344" y="1359718"/>
            <a:ext cx="2031325" cy="338554"/>
          </a:xfrm>
          <a:prstGeom prst="rect">
            <a:avLst/>
          </a:prstGeom>
        </p:spPr>
        <p:txBody>
          <a:bodyPr wrap="none">
            <a:spAutoFit/>
          </a:bodyPr>
          <a:lstStyle/>
          <a:p>
            <a:pPr algn="ctr"/>
            <a:r>
              <a:rPr lang="zh-CN" altLang="en-US" sz="1600" b="1" dirty="0">
                <a:solidFill>
                  <a:srgbClr val="C00000"/>
                </a:solidFill>
                <a:latin typeface="微软雅黑" pitchFamily="34" charset="-122"/>
                <a:ea typeface="微软雅黑" pitchFamily="34" charset="-122"/>
              </a:rPr>
              <a:t>客户端使用的端口号</a:t>
            </a:r>
          </a:p>
        </p:txBody>
      </p:sp>
      <p:sp>
        <p:nvSpPr>
          <p:cNvPr id="29" name="右大括号 28"/>
          <p:cNvSpPr/>
          <p:nvPr/>
        </p:nvSpPr>
        <p:spPr>
          <a:xfrm rot="16200000">
            <a:off x="3222679" y="-531117"/>
            <a:ext cx="285779" cy="4809227"/>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右大括号 29"/>
          <p:cNvSpPr/>
          <p:nvPr/>
        </p:nvSpPr>
        <p:spPr>
          <a:xfrm rot="16200000">
            <a:off x="7056117" y="716777"/>
            <a:ext cx="285779" cy="2313438"/>
          </a:xfrm>
          <a:prstGeom prst="rightBrace">
            <a:avLst>
              <a:gd name="adj1" fmla="val 34511"/>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AutoShape 16"/>
          <p:cNvSpPr>
            <a:spLocks noChangeArrowheads="1"/>
          </p:cNvSpPr>
          <p:nvPr/>
        </p:nvSpPr>
        <p:spPr bwMode="auto">
          <a:xfrm>
            <a:off x="1541606"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2" name="矩形 31"/>
          <p:cNvSpPr/>
          <p:nvPr/>
        </p:nvSpPr>
        <p:spPr>
          <a:xfrm>
            <a:off x="625769" y="3056515"/>
            <a:ext cx="2028119" cy="830997"/>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熟知端口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（全球通用端口号）</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负责分配）</a:t>
            </a:r>
          </a:p>
        </p:txBody>
      </p:sp>
      <p:sp>
        <p:nvSpPr>
          <p:cNvPr id="33" name="AutoShape 16"/>
          <p:cNvSpPr>
            <a:spLocks noChangeArrowheads="1"/>
          </p:cNvSpPr>
          <p:nvPr/>
        </p:nvSpPr>
        <p:spPr bwMode="auto">
          <a:xfrm>
            <a:off x="3929712"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4" name="矩形 33"/>
          <p:cNvSpPr/>
          <p:nvPr/>
        </p:nvSpPr>
        <p:spPr>
          <a:xfrm>
            <a:off x="3120325" y="3056515"/>
            <a:ext cx="1883850"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登记端口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（在 </a:t>
            </a:r>
            <a:r>
              <a:rPr lang="en-US" altLang="zh-CN" sz="1600" b="1" dirty="0">
                <a:solidFill>
                  <a:srgbClr val="0000FF"/>
                </a:solidFill>
                <a:latin typeface="微软雅黑" pitchFamily="34" charset="-122"/>
                <a:ea typeface="微软雅黑" pitchFamily="34" charset="-122"/>
              </a:rPr>
              <a:t>IANA </a:t>
            </a:r>
            <a:r>
              <a:rPr lang="zh-CN" altLang="en-US" sz="1600" b="1" dirty="0">
                <a:solidFill>
                  <a:srgbClr val="0000FF"/>
                </a:solidFill>
                <a:latin typeface="微软雅黑" pitchFamily="34" charset="-122"/>
                <a:ea typeface="微软雅黑" pitchFamily="34" charset="-122"/>
              </a:rPr>
              <a:t>登记）</a:t>
            </a:r>
          </a:p>
        </p:txBody>
      </p:sp>
      <p:sp>
        <p:nvSpPr>
          <p:cNvPr id="35" name="AutoShape 16"/>
          <p:cNvSpPr>
            <a:spLocks noChangeArrowheads="1"/>
          </p:cNvSpPr>
          <p:nvPr/>
        </p:nvSpPr>
        <p:spPr bwMode="auto">
          <a:xfrm>
            <a:off x="7111293" y="2675538"/>
            <a:ext cx="258679" cy="335456"/>
          </a:xfrm>
          <a:prstGeom prst="upArrow">
            <a:avLst>
              <a:gd name="adj1" fmla="val 50000"/>
              <a:gd name="adj2" fmla="val 45000"/>
            </a:avLst>
          </a:prstGeom>
          <a:solidFill>
            <a:srgbClr val="FF66FF"/>
          </a:solidFill>
          <a:ln w="9525">
            <a:solidFill>
              <a:schemeClr val="tx1"/>
            </a:solidFill>
            <a:miter lim="800000"/>
            <a:headEnd/>
            <a:tailEnd/>
          </a:ln>
          <a:effectLst/>
        </p:spPr>
        <p:txBody>
          <a:bodyPr wrap="none" anchor="ctr"/>
          <a:lstStyle/>
          <a:p>
            <a:endParaRPr lang="zh-CN" altLang="en-US" sz="1600"/>
          </a:p>
        </p:txBody>
      </p:sp>
      <p:sp>
        <p:nvSpPr>
          <p:cNvPr id="36" name="矩形 35"/>
          <p:cNvSpPr/>
          <p:nvPr/>
        </p:nvSpPr>
        <p:spPr>
          <a:xfrm>
            <a:off x="5772974" y="3056515"/>
            <a:ext cx="2852063" cy="584775"/>
          </a:xfrm>
          <a:prstGeom prst="rect">
            <a:avLst/>
          </a:prstGeom>
        </p:spPr>
        <p:txBody>
          <a:bodyPr wrap="none">
            <a:spAutoFit/>
          </a:bodyPr>
          <a:lstStyle/>
          <a:p>
            <a:pPr algn="ctr"/>
            <a:r>
              <a:rPr lang="zh-CN" altLang="en-US" sz="1600" b="1" dirty="0">
                <a:solidFill>
                  <a:srgbClr val="0000FF"/>
                </a:solidFill>
                <a:latin typeface="微软雅黑" pitchFamily="34" charset="-122"/>
                <a:ea typeface="微软雅黑" pitchFamily="34" charset="-122"/>
              </a:rPr>
              <a:t>短暂端口</a:t>
            </a:r>
            <a:endParaRPr lang="en-US" altLang="zh-CN" sz="1600" b="1" dirty="0">
              <a:solidFill>
                <a:srgbClr val="0000FF"/>
              </a:solidFill>
              <a:latin typeface="微软雅黑" pitchFamily="34" charset="-122"/>
              <a:ea typeface="微软雅黑" pitchFamily="34" charset="-122"/>
            </a:endParaRPr>
          </a:p>
          <a:p>
            <a:pPr algn="ctr"/>
            <a:r>
              <a:rPr lang="zh-CN" altLang="en-US" sz="1600" b="1" dirty="0">
                <a:solidFill>
                  <a:srgbClr val="0000FF"/>
                </a:solidFill>
                <a:latin typeface="微软雅黑" pitchFamily="34" charset="-122"/>
                <a:ea typeface="微软雅黑" pitchFamily="34" charset="-122"/>
              </a:rPr>
              <a:t>（通信结束后，被系统收回）</a:t>
            </a:r>
          </a:p>
        </p:txBody>
      </p:sp>
      <p:sp>
        <p:nvSpPr>
          <p:cNvPr id="4" name="内容占位符 3">
            <a:extLst>
              <a:ext uri="{FF2B5EF4-FFF2-40B4-BE49-F238E27FC236}">
                <a16:creationId xmlns:a16="http://schemas.microsoft.com/office/drawing/2014/main" id="{76963D34-2BBC-4FDA-33FE-5E880E99C9C0}"/>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A518B84D-4CEA-9211-9000-6366D0D25C8E}"/>
              </a:ext>
            </a:extLst>
          </p:cNvPr>
          <p:cNvSpPr>
            <a:spLocks noGrp="1"/>
          </p:cNvSpPr>
          <p:nvPr>
            <p:ph type="title"/>
          </p:nvPr>
        </p:nvSpPr>
        <p:spPr>
          <a:xfrm>
            <a:off x="2808000" y="144000"/>
            <a:ext cx="3528000" cy="338554"/>
          </a:xfrm>
        </p:spPr>
        <p:txBody>
          <a:bodyPr/>
          <a:lstStyle/>
          <a:p>
            <a:r>
              <a:rPr lang="zh-CN" altLang="en-US" dirty="0"/>
              <a:t>两大类、三种类型的端口</a:t>
            </a:r>
          </a:p>
        </p:txBody>
      </p:sp>
    </p:spTree>
    <p:extLst>
      <p:ext uri="{BB962C8B-B14F-4D97-AF65-F5344CB8AC3E}">
        <p14:creationId xmlns:p14="http://schemas.microsoft.com/office/powerpoint/2010/main" val="15384511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4" name="Group 52"/>
          <p:cNvGraphicFramePr>
            <a:graphicFrameLocks noGrp="1"/>
          </p:cNvGraphicFramePr>
          <p:nvPr>
            <p:extLst>
              <p:ext uri="{D42A27DB-BD31-4B8C-83A1-F6EECF244321}">
                <p14:modId xmlns:p14="http://schemas.microsoft.com/office/powerpoint/2010/main" val="2017493336"/>
              </p:ext>
            </p:extLst>
          </p:nvPr>
        </p:nvGraphicFramePr>
        <p:xfrm>
          <a:off x="1347347" y="3442933"/>
          <a:ext cx="6396835" cy="640128"/>
        </p:xfrm>
        <a:graphic>
          <a:graphicData uri="http://schemas.openxmlformats.org/drawingml/2006/table">
            <a:tbl>
              <a:tblPr/>
              <a:tblGrid>
                <a:gridCol w="3391504">
                  <a:extLst>
                    <a:ext uri="{9D8B030D-6E8A-4147-A177-3AD203B41FA5}">
                      <a16:colId xmlns:a16="http://schemas.microsoft.com/office/drawing/2014/main" val="20000"/>
                    </a:ext>
                  </a:extLst>
                </a:gridCol>
                <a:gridCol w="3005331">
                  <a:extLst>
                    <a:ext uri="{9D8B030D-6E8A-4147-A177-3AD203B41FA5}">
                      <a16:colId xmlns:a16="http://schemas.microsoft.com/office/drawing/2014/main" val="20001"/>
                    </a:ext>
                  </a:extLst>
                </a:gridCol>
              </a:tblGrid>
              <a:tr h="26824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UDP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C0504D"/>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400" b="1" i="0" u="none" strike="noStrike" cap="none" normalizeH="0" baseline="0" dirty="0">
                          <a:ln>
                            <a:noFill/>
                          </a:ln>
                          <a:solidFill>
                            <a:schemeClr val="bg1"/>
                          </a:solidFill>
                          <a:effectLst/>
                          <a:latin typeface="微软雅黑" pitchFamily="34" charset="-122"/>
                          <a:ea typeface="微软雅黑" pitchFamily="34" charset="-122"/>
                        </a:rPr>
                        <a:t>TCP</a:t>
                      </a:r>
                    </a:p>
                  </a:txBody>
                  <a:tcPr marL="99060" marR="99060" marT="45732" marB="45732" horzOverflow="overflow">
                    <a:lnL w="1905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noFill/>
                      <a:prstDash val="solid"/>
                      <a:round/>
                      <a:headEnd type="none" w="med" len="med"/>
                      <a:tailEnd type="none" w="med" len="med"/>
                    </a:lnB>
                    <a:lnTlToBr>
                      <a:noFill/>
                    </a:lnTlToBr>
                    <a:lnBlToTr>
                      <a:noFill/>
                    </a:lnBlToTr>
                    <a:solidFill>
                      <a:srgbClr val="9BBB59"/>
                    </a:solidFill>
                  </a:tcPr>
                </a:tc>
                <a:extLst>
                  <a:ext uri="{0D108BD9-81ED-4DB2-BD59-A6C34878D82A}">
                    <a16:rowId xmlns:a16="http://schemas.microsoft.com/office/drawing/2014/main" val="10000"/>
                  </a:ext>
                </a:extLst>
              </a:tr>
              <a:tr h="268249">
                <a:tc gridSpan="2">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1" lang="en-US" altLang="zh-CN" sz="1600" b="1" i="0" u="none" strike="noStrike" cap="none" normalizeH="0" baseline="0" dirty="0">
                          <a:ln>
                            <a:noFill/>
                          </a:ln>
                          <a:solidFill>
                            <a:schemeClr val="bg1"/>
                          </a:solidFill>
                          <a:effectLst/>
                          <a:latin typeface="微软雅黑" pitchFamily="34" charset="-122"/>
                          <a:ea typeface="微软雅黑" pitchFamily="34" charset="-122"/>
                        </a:rPr>
                        <a:t>IP</a:t>
                      </a:r>
                    </a:p>
                  </a:txBody>
                  <a:tcPr marL="99060" marR="99060" marT="45732" marB="45732"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solidFill>
                      <a:srgbClr val="0000FF"/>
                    </a:solidFill>
                  </a:tcPr>
                </a:tc>
                <a:tc hMerge="1">
                  <a:txBody>
                    <a:bodyPr/>
                    <a:lstStyle/>
                    <a:p>
                      <a:endParaRPr lang="zh-CN" altLang="en-US"/>
                    </a:p>
                  </a:txBody>
                  <a:tcPr/>
                </a:tc>
                <a:extLst>
                  <a:ext uri="{0D108BD9-81ED-4DB2-BD59-A6C34878D82A}">
                    <a16:rowId xmlns:a16="http://schemas.microsoft.com/office/drawing/2014/main" val="10001"/>
                  </a:ext>
                </a:extLst>
              </a:tr>
            </a:tbl>
          </a:graphicData>
        </a:graphic>
      </p:graphicFrame>
      <p:grpSp>
        <p:nvGrpSpPr>
          <p:cNvPr id="145" name="组合 144"/>
          <p:cNvGrpSpPr/>
          <p:nvPr/>
        </p:nvGrpSpPr>
        <p:grpSpPr>
          <a:xfrm>
            <a:off x="1451405" y="1117895"/>
            <a:ext cx="6616240" cy="2370094"/>
            <a:chOff x="759902" y="1324147"/>
            <a:chExt cx="8990242" cy="3220518"/>
          </a:xfrm>
        </p:grpSpPr>
        <p:sp>
          <p:nvSpPr>
            <p:cNvPr id="146" name="Text Box 14"/>
            <p:cNvSpPr txBox="1">
              <a:spLocks noChangeArrowheads="1"/>
            </p:cNvSpPr>
            <p:nvPr/>
          </p:nvSpPr>
          <p:spPr bwMode="auto">
            <a:xfrm>
              <a:off x="5183702" y="3371439"/>
              <a:ext cx="14291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SMTP</a:t>
              </a:r>
            </a:p>
          </p:txBody>
        </p:sp>
        <p:sp>
          <p:nvSpPr>
            <p:cNvPr id="147" name="Text Box 15"/>
            <p:cNvSpPr txBox="1">
              <a:spLocks noChangeArrowheads="1"/>
            </p:cNvSpPr>
            <p:nvPr/>
          </p:nvSpPr>
          <p:spPr bwMode="auto">
            <a:xfrm>
              <a:off x="6228399" y="2905781"/>
              <a:ext cx="131908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FTP</a:t>
              </a:r>
            </a:p>
          </p:txBody>
        </p:sp>
        <p:sp>
          <p:nvSpPr>
            <p:cNvPr id="148" name="Text Box 16"/>
            <p:cNvSpPr txBox="1">
              <a:spLocks noChangeArrowheads="1"/>
            </p:cNvSpPr>
            <p:nvPr/>
          </p:nvSpPr>
          <p:spPr bwMode="auto">
            <a:xfrm>
              <a:off x="6899407" y="2401725"/>
              <a:ext cx="1539213"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Telnet</a:t>
              </a:r>
            </a:p>
          </p:txBody>
        </p:sp>
        <p:sp>
          <p:nvSpPr>
            <p:cNvPr id="149" name="Text Box 17"/>
            <p:cNvSpPr txBox="1">
              <a:spLocks noChangeArrowheads="1"/>
            </p:cNvSpPr>
            <p:nvPr/>
          </p:nvSpPr>
          <p:spPr bwMode="auto">
            <a:xfrm>
              <a:off x="759902" y="3447638"/>
              <a:ext cx="1098947"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RPC</a:t>
              </a:r>
            </a:p>
          </p:txBody>
        </p:sp>
        <p:sp>
          <p:nvSpPr>
            <p:cNvPr id="150" name="Text Box 18"/>
            <p:cNvSpPr txBox="1">
              <a:spLocks noChangeArrowheads="1"/>
            </p:cNvSpPr>
            <p:nvPr/>
          </p:nvSpPr>
          <p:spPr bwMode="auto">
            <a:xfrm>
              <a:off x="1547877" y="3066640"/>
              <a:ext cx="13190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DNS</a:t>
              </a:r>
            </a:p>
          </p:txBody>
        </p:sp>
        <p:sp>
          <p:nvSpPr>
            <p:cNvPr id="151" name="Text Box 19"/>
            <p:cNvSpPr txBox="1">
              <a:spLocks noChangeArrowheads="1"/>
            </p:cNvSpPr>
            <p:nvPr/>
          </p:nvSpPr>
          <p:spPr bwMode="auto">
            <a:xfrm>
              <a:off x="3186129" y="211623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a:t>
              </a:r>
            </a:p>
          </p:txBody>
        </p:sp>
        <p:sp>
          <p:nvSpPr>
            <p:cNvPr id="152" name="Text Box 20"/>
            <p:cNvSpPr txBox="1">
              <a:spLocks noChangeArrowheads="1"/>
            </p:cNvSpPr>
            <p:nvPr/>
          </p:nvSpPr>
          <p:spPr bwMode="auto">
            <a:xfrm>
              <a:off x="2349476" y="2545742"/>
              <a:ext cx="1649281"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TFTP</a:t>
              </a:r>
            </a:p>
          </p:txBody>
        </p:sp>
        <p:sp>
          <p:nvSpPr>
            <p:cNvPr id="153" name="Oval 21"/>
            <p:cNvSpPr>
              <a:spLocks noChangeArrowheads="1"/>
            </p:cNvSpPr>
            <p:nvPr/>
          </p:nvSpPr>
          <p:spPr bwMode="auto">
            <a:xfrm>
              <a:off x="900112"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4" name="Oval 22"/>
            <p:cNvSpPr>
              <a:spLocks noChangeArrowheads="1"/>
            </p:cNvSpPr>
            <p:nvPr/>
          </p:nvSpPr>
          <p:spPr bwMode="auto">
            <a:xfrm>
              <a:off x="182463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5" name="Oval 23"/>
            <p:cNvSpPr>
              <a:spLocks noChangeArrowheads="1"/>
            </p:cNvSpPr>
            <p:nvPr/>
          </p:nvSpPr>
          <p:spPr bwMode="auto">
            <a:xfrm>
              <a:off x="35163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6" name="Oval 24"/>
            <p:cNvSpPr>
              <a:spLocks noChangeArrowheads="1"/>
            </p:cNvSpPr>
            <p:nvPr/>
          </p:nvSpPr>
          <p:spPr bwMode="auto">
            <a:xfrm>
              <a:off x="2700006"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7" name="Oval 25"/>
            <p:cNvSpPr>
              <a:spLocks noChangeArrowheads="1"/>
            </p:cNvSpPr>
            <p:nvPr/>
          </p:nvSpPr>
          <p:spPr bwMode="auto">
            <a:xfrm>
              <a:off x="5596451"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8" name="Oval 26"/>
            <p:cNvSpPr>
              <a:spLocks noChangeArrowheads="1"/>
            </p:cNvSpPr>
            <p:nvPr/>
          </p:nvSpPr>
          <p:spPr bwMode="auto">
            <a:xfrm>
              <a:off x="6411433"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9" name="Oval 27"/>
            <p:cNvSpPr>
              <a:spLocks noChangeArrowheads="1"/>
            </p:cNvSpPr>
            <p:nvPr/>
          </p:nvSpPr>
          <p:spPr bwMode="auto">
            <a:xfrm>
              <a:off x="721928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60" name="Line 28"/>
            <p:cNvSpPr>
              <a:spLocks noChangeShapeType="1"/>
            </p:cNvSpPr>
            <p:nvPr/>
          </p:nvSpPr>
          <p:spPr bwMode="auto">
            <a:xfrm>
              <a:off x="1090099" y="3825526"/>
              <a:ext cx="0" cy="381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1" name="Line 29"/>
            <p:cNvSpPr>
              <a:spLocks noChangeShapeType="1"/>
            </p:cNvSpPr>
            <p:nvPr/>
          </p:nvSpPr>
          <p:spPr bwMode="auto">
            <a:xfrm>
              <a:off x="1989731" y="3444526"/>
              <a:ext cx="0" cy="7620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2" name="Line 30"/>
            <p:cNvSpPr>
              <a:spLocks noChangeShapeType="1"/>
            </p:cNvSpPr>
            <p:nvPr/>
          </p:nvSpPr>
          <p:spPr bwMode="auto">
            <a:xfrm>
              <a:off x="3681427" y="2471191"/>
              <a:ext cx="0" cy="1735335"/>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3" name="Line 31"/>
            <p:cNvSpPr>
              <a:spLocks noChangeShapeType="1"/>
            </p:cNvSpPr>
            <p:nvPr/>
          </p:nvSpPr>
          <p:spPr bwMode="auto">
            <a:xfrm>
              <a:off x="2865106" y="2941289"/>
              <a:ext cx="0" cy="1265237"/>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4" name="Line 32"/>
            <p:cNvSpPr>
              <a:spLocks noChangeShapeType="1"/>
            </p:cNvSpPr>
            <p:nvPr/>
          </p:nvSpPr>
          <p:spPr bwMode="auto">
            <a:xfrm>
              <a:off x="5761551" y="3749326"/>
              <a:ext cx="0" cy="457200"/>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5" name="Line 33"/>
            <p:cNvSpPr>
              <a:spLocks noChangeShapeType="1"/>
            </p:cNvSpPr>
            <p:nvPr/>
          </p:nvSpPr>
          <p:spPr bwMode="auto">
            <a:xfrm>
              <a:off x="6611375" y="3251645"/>
              <a:ext cx="0" cy="95488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6" name="Line 34"/>
            <p:cNvSpPr>
              <a:spLocks noChangeShapeType="1"/>
            </p:cNvSpPr>
            <p:nvPr/>
          </p:nvSpPr>
          <p:spPr bwMode="auto">
            <a:xfrm>
              <a:off x="7394707" y="2730747"/>
              <a:ext cx="0" cy="147577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68" name="Text Box 36"/>
            <p:cNvSpPr txBox="1">
              <a:spLocks noChangeArrowheads="1"/>
            </p:cNvSpPr>
            <p:nvPr/>
          </p:nvSpPr>
          <p:spPr bwMode="auto">
            <a:xfrm>
              <a:off x="1469582" y="3825527"/>
              <a:ext cx="1123026"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53</a:t>
              </a:r>
            </a:p>
          </p:txBody>
        </p:sp>
        <p:sp>
          <p:nvSpPr>
            <p:cNvPr id="169" name="Text Box 37"/>
            <p:cNvSpPr txBox="1">
              <a:spLocks noChangeArrowheads="1"/>
            </p:cNvSpPr>
            <p:nvPr/>
          </p:nvSpPr>
          <p:spPr bwMode="auto">
            <a:xfrm>
              <a:off x="3606878" y="3825528"/>
              <a:ext cx="816902"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161</a:t>
              </a:r>
            </a:p>
          </p:txBody>
        </p:sp>
        <p:sp>
          <p:nvSpPr>
            <p:cNvPr id="170" name="Text Box 38"/>
            <p:cNvSpPr txBox="1">
              <a:spLocks noChangeArrowheads="1"/>
            </p:cNvSpPr>
            <p:nvPr/>
          </p:nvSpPr>
          <p:spPr bwMode="auto">
            <a:xfrm>
              <a:off x="282340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69</a:t>
              </a:r>
            </a:p>
          </p:txBody>
        </p:sp>
        <p:sp>
          <p:nvSpPr>
            <p:cNvPr id="171" name="Text Box 39"/>
            <p:cNvSpPr txBox="1">
              <a:spLocks noChangeArrowheads="1"/>
            </p:cNvSpPr>
            <p:nvPr/>
          </p:nvSpPr>
          <p:spPr bwMode="auto">
            <a:xfrm>
              <a:off x="526095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25</a:t>
              </a:r>
            </a:p>
          </p:txBody>
        </p:sp>
        <p:sp>
          <p:nvSpPr>
            <p:cNvPr id="173" name="Text Box 41"/>
            <p:cNvSpPr txBox="1">
              <a:spLocks noChangeArrowheads="1"/>
            </p:cNvSpPr>
            <p:nvPr/>
          </p:nvSpPr>
          <p:spPr bwMode="auto">
            <a:xfrm>
              <a:off x="7367539"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23</a:t>
              </a:r>
            </a:p>
          </p:txBody>
        </p:sp>
        <p:sp>
          <p:nvSpPr>
            <p:cNvPr id="174" name="Text Box 42"/>
            <p:cNvSpPr txBox="1">
              <a:spLocks noChangeArrowheads="1"/>
            </p:cNvSpPr>
            <p:nvPr/>
          </p:nvSpPr>
          <p:spPr bwMode="auto">
            <a:xfrm>
              <a:off x="7619488" y="1810605"/>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a:t>
              </a:r>
            </a:p>
          </p:txBody>
        </p:sp>
        <p:sp>
          <p:nvSpPr>
            <p:cNvPr id="175" name="Oval 43"/>
            <p:cNvSpPr>
              <a:spLocks noChangeArrowheads="1"/>
            </p:cNvSpPr>
            <p:nvPr/>
          </p:nvSpPr>
          <p:spPr bwMode="auto">
            <a:xfrm>
              <a:off x="7979527"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76" name="Line 44"/>
            <p:cNvSpPr>
              <a:spLocks noChangeShapeType="1"/>
            </p:cNvSpPr>
            <p:nvPr/>
          </p:nvSpPr>
          <p:spPr bwMode="auto">
            <a:xfrm>
              <a:off x="8154945" y="2195164"/>
              <a:ext cx="0" cy="2011361"/>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77" name="Text Box 45"/>
            <p:cNvSpPr txBox="1">
              <a:spLocks noChangeArrowheads="1"/>
            </p:cNvSpPr>
            <p:nvPr/>
          </p:nvSpPr>
          <p:spPr bwMode="auto">
            <a:xfrm>
              <a:off x="8127777"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80</a:t>
              </a:r>
            </a:p>
          </p:txBody>
        </p:sp>
        <p:sp>
          <p:nvSpPr>
            <p:cNvPr id="178" name="Text Box 42"/>
            <p:cNvSpPr txBox="1">
              <a:spLocks noChangeArrowheads="1"/>
            </p:cNvSpPr>
            <p:nvPr/>
          </p:nvSpPr>
          <p:spPr bwMode="auto">
            <a:xfrm>
              <a:off x="8195552" y="1324147"/>
              <a:ext cx="1539215"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HTTPS</a:t>
              </a:r>
            </a:p>
          </p:txBody>
        </p:sp>
        <p:sp>
          <p:nvSpPr>
            <p:cNvPr id="179" name="Oval 43"/>
            <p:cNvSpPr>
              <a:spLocks noChangeArrowheads="1"/>
            </p:cNvSpPr>
            <p:nvPr/>
          </p:nvSpPr>
          <p:spPr bwMode="auto">
            <a:xfrm>
              <a:off x="8683525"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0" name="Line 44"/>
            <p:cNvSpPr>
              <a:spLocks noChangeShapeType="1"/>
            </p:cNvSpPr>
            <p:nvPr/>
          </p:nvSpPr>
          <p:spPr bwMode="auto">
            <a:xfrm>
              <a:off x="8858943" y="1676052"/>
              <a:ext cx="0" cy="2530474"/>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81" name="Text Box 45"/>
            <p:cNvSpPr txBox="1">
              <a:spLocks noChangeArrowheads="1"/>
            </p:cNvSpPr>
            <p:nvPr/>
          </p:nvSpPr>
          <p:spPr bwMode="auto">
            <a:xfrm>
              <a:off x="8831774" y="3825528"/>
              <a:ext cx="918370"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443</a:t>
              </a:r>
            </a:p>
          </p:txBody>
        </p:sp>
        <p:sp>
          <p:nvSpPr>
            <p:cNvPr id="182" name="Text Box 19"/>
            <p:cNvSpPr txBox="1">
              <a:spLocks noChangeArrowheads="1"/>
            </p:cNvSpPr>
            <p:nvPr/>
          </p:nvSpPr>
          <p:spPr bwMode="auto">
            <a:xfrm>
              <a:off x="3659047" y="1448466"/>
              <a:ext cx="2167219" cy="418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SNMP(trap)</a:t>
              </a:r>
            </a:p>
          </p:txBody>
        </p:sp>
        <p:sp>
          <p:nvSpPr>
            <p:cNvPr id="183" name="Oval 23"/>
            <p:cNvSpPr>
              <a:spLocks noChangeArrowheads="1"/>
            </p:cNvSpPr>
            <p:nvPr/>
          </p:nvSpPr>
          <p:spPr bwMode="auto">
            <a:xfrm>
              <a:off x="4333229" y="4230340"/>
              <a:ext cx="343958" cy="314325"/>
            </a:xfrm>
            <a:prstGeom prst="ellipse">
              <a:avLst/>
            </a:prstGeom>
            <a:solidFill>
              <a:srgbClr val="99FFCC"/>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4" name="Line 30"/>
            <p:cNvSpPr>
              <a:spLocks noChangeShapeType="1"/>
            </p:cNvSpPr>
            <p:nvPr/>
          </p:nvSpPr>
          <p:spPr bwMode="auto">
            <a:xfrm>
              <a:off x="4498329" y="1818477"/>
              <a:ext cx="0" cy="2388049"/>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grpSp>
      <p:sp>
        <p:nvSpPr>
          <p:cNvPr id="187" name="Text Box 40"/>
          <p:cNvSpPr txBox="1">
            <a:spLocks noChangeArrowheads="1"/>
          </p:cNvSpPr>
          <p:nvPr/>
        </p:nvSpPr>
        <p:spPr bwMode="auto">
          <a:xfrm>
            <a:off x="5381640" y="2958750"/>
            <a:ext cx="84039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21   20</a:t>
            </a:r>
          </a:p>
        </p:txBody>
      </p:sp>
      <p:sp>
        <p:nvSpPr>
          <p:cNvPr id="188" name="Text Box 37"/>
          <p:cNvSpPr txBox="1">
            <a:spLocks noChangeArrowheads="1"/>
          </p:cNvSpPr>
          <p:nvPr/>
        </p:nvSpPr>
        <p:spPr bwMode="auto">
          <a:xfrm>
            <a:off x="4156926" y="2958750"/>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162</a:t>
            </a:r>
          </a:p>
        </p:txBody>
      </p:sp>
      <p:sp>
        <p:nvSpPr>
          <p:cNvPr id="189" name="Text Box 35"/>
          <p:cNvSpPr txBox="1">
            <a:spLocks noChangeArrowheads="1"/>
          </p:cNvSpPr>
          <p:nvPr/>
        </p:nvSpPr>
        <p:spPr bwMode="auto">
          <a:xfrm>
            <a:off x="1207355" y="2958748"/>
            <a:ext cx="60118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spcBef>
                <a:spcPct val="50000"/>
              </a:spcBef>
            </a:pPr>
            <a:r>
              <a:rPr lang="en-US" altLang="zh-CN" sz="1400" dirty="0">
                <a:latin typeface="微软雅黑" pitchFamily="34" charset="-122"/>
                <a:ea typeface="微软雅黑" pitchFamily="34" charset="-122"/>
              </a:rPr>
              <a:t>111</a:t>
            </a:r>
          </a:p>
        </p:txBody>
      </p:sp>
      <p:sp>
        <p:nvSpPr>
          <p:cNvPr id="4" name="内容占位符 3">
            <a:extLst>
              <a:ext uri="{FF2B5EF4-FFF2-40B4-BE49-F238E27FC236}">
                <a16:creationId xmlns:a16="http://schemas.microsoft.com/office/drawing/2014/main" id="{3C6F9D53-7317-2ABF-FF44-8C2595B14A1D}"/>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1321E150-D8DC-4FCC-E017-A89A40D44214}"/>
              </a:ext>
            </a:extLst>
          </p:cNvPr>
          <p:cNvSpPr>
            <a:spLocks noGrp="1"/>
          </p:cNvSpPr>
          <p:nvPr>
            <p:ph type="title"/>
          </p:nvPr>
        </p:nvSpPr>
        <p:spPr>
          <a:xfrm>
            <a:off x="2808000" y="144000"/>
            <a:ext cx="3528000" cy="338554"/>
          </a:xfrm>
        </p:spPr>
        <p:txBody>
          <a:bodyPr/>
          <a:lstStyle/>
          <a:p>
            <a:r>
              <a:rPr lang="zh-CN" altLang="en-US" dirty="0"/>
              <a:t>常用的熟知端口</a:t>
            </a:r>
          </a:p>
        </p:txBody>
      </p:sp>
    </p:spTree>
    <p:extLst>
      <p:ext uri="{BB962C8B-B14F-4D97-AF65-F5344CB8AC3E}">
        <p14:creationId xmlns:p14="http://schemas.microsoft.com/office/powerpoint/2010/main" val="19642666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B81806C7-674E-1A0A-6753-538BAFFCA381}"/>
              </a:ext>
            </a:extLst>
          </p:cNvPr>
          <p:cNvSpPr>
            <a:spLocks noChangeArrowheads="1"/>
          </p:cNvSpPr>
          <p:nvPr/>
        </p:nvSpPr>
        <p:spPr bwMode="auto">
          <a:xfrm>
            <a:off x="2036224" y="2092019"/>
            <a:ext cx="5078951" cy="598240"/>
          </a:xfrm>
          <a:prstGeom prst="rect">
            <a:avLst/>
          </a:prstGeom>
          <a:solidFill>
            <a:schemeClr val="bg1"/>
          </a:solidFill>
          <a:ln w="6350">
            <a:solidFill>
              <a:schemeClr val="tx1"/>
            </a:solidFill>
            <a:prstDash val="lgDash"/>
            <a:miter lim="800000"/>
            <a:headEnd/>
            <a:tailEnd/>
          </a:ln>
          <a:effectLst/>
        </p:spPr>
        <p:txBody>
          <a:bodyPr wrap="none" anchor="ctr"/>
          <a:lstStyle/>
          <a:p>
            <a:r>
              <a:rPr kumimoji="1" lang="zh-CN" altLang="en-US" sz="1200" dirty="0">
                <a:latin typeface="Montserrat" panose="00000500000000000000" pitchFamily="2" charset="0"/>
                <a:ea typeface="微软雅黑 Light" panose="020B0502040204020203" pitchFamily="34" charset="-122"/>
              </a:rPr>
              <a:t>运输层</a:t>
            </a:r>
          </a:p>
        </p:txBody>
      </p:sp>
      <p:sp>
        <p:nvSpPr>
          <p:cNvPr id="5" name="Rectangle 5">
            <a:extLst>
              <a:ext uri="{FF2B5EF4-FFF2-40B4-BE49-F238E27FC236}">
                <a16:creationId xmlns:a16="http://schemas.microsoft.com/office/drawing/2014/main" id="{261E012A-802B-C0C1-D5A3-D78E549DB94E}"/>
              </a:ext>
            </a:extLst>
          </p:cNvPr>
          <p:cNvSpPr>
            <a:spLocks noChangeArrowheads="1"/>
          </p:cNvSpPr>
          <p:nvPr/>
        </p:nvSpPr>
        <p:spPr bwMode="auto">
          <a:xfrm>
            <a:off x="2036224" y="2690259"/>
            <a:ext cx="5078951" cy="1266528"/>
          </a:xfrm>
          <a:prstGeom prst="rect">
            <a:avLst/>
          </a:prstGeom>
          <a:solidFill>
            <a:schemeClr val="bg1"/>
          </a:solidFill>
          <a:ln w="6350">
            <a:solidFill>
              <a:schemeClr val="tx1"/>
            </a:solidFill>
            <a:prstDash val="lgDash"/>
            <a:miter lim="800000"/>
            <a:headEnd/>
            <a:tailEnd/>
          </a:ln>
          <a:effectLst/>
        </p:spPr>
        <p:txBody>
          <a:bodyPr wrap="none" anchor="ctr"/>
          <a:lstStyle/>
          <a:p>
            <a:r>
              <a:rPr kumimoji="1" lang="zh-CN" altLang="en-US" sz="1200" dirty="0">
                <a:latin typeface="Montserrat" panose="00000500000000000000" pitchFamily="2" charset="0"/>
                <a:ea typeface="微软雅黑 Light" panose="020B0502040204020203" pitchFamily="34" charset="-122"/>
              </a:rPr>
              <a:t>网络层</a:t>
            </a:r>
          </a:p>
        </p:txBody>
      </p:sp>
      <p:sp>
        <p:nvSpPr>
          <p:cNvPr id="6" name="Rectangle 11">
            <a:extLst>
              <a:ext uri="{FF2B5EF4-FFF2-40B4-BE49-F238E27FC236}">
                <a16:creationId xmlns:a16="http://schemas.microsoft.com/office/drawing/2014/main" id="{CA2C8C31-D780-C628-EAD7-E68537D7DF14}"/>
              </a:ext>
            </a:extLst>
          </p:cNvPr>
          <p:cNvSpPr>
            <a:spLocks noChangeArrowheads="1"/>
          </p:cNvSpPr>
          <p:nvPr/>
        </p:nvSpPr>
        <p:spPr bwMode="auto">
          <a:xfrm>
            <a:off x="2751961" y="3284762"/>
            <a:ext cx="3850543" cy="302268"/>
          </a:xfrm>
          <a:prstGeom prst="rect">
            <a:avLst/>
          </a:prstGeom>
          <a:solidFill>
            <a:schemeClr val="bg1"/>
          </a:solidFill>
          <a:ln w="6350">
            <a:solidFill>
              <a:schemeClr val="tx1"/>
            </a:solidFill>
            <a:miter lim="800000"/>
            <a:headEnd/>
            <a:tailEnd/>
          </a:ln>
          <a:effec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 name="Rectangle 6">
            <a:extLst>
              <a:ext uri="{FF2B5EF4-FFF2-40B4-BE49-F238E27FC236}">
                <a16:creationId xmlns:a16="http://schemas.microsoft.com/office/drawing/2014/main" id="{F34287CC-44E0-B608-3EA0-A6325EEEDB21}"/>
              </a:ext>
            </a:extLst>
          </p:cNvPr>
          <p:cNvSpPr>
            <a:spLocks noChangeArrowheads="1"/>
          </p:cNvSpPr>
          <p:nvPr/>
        </p:nvSpPr>
        <p:spPr bwMode="auto">
          <a:xfrm>
            <a:off x="2790326" y="3291953"/>
            <a:ext cx="855488" cy="291137"/>
          </a:xfrm>
          <a:prstGeom prst="rect">
            <a:avLst/>
          </a:prstGeom>
          <a:solidFill>
            <a:schemeClr val="bg1"/>
          </a:solidFill>
          <a:ln>
            <a:noFill/>
          </a:ln>
          <a:effec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sp>
        <p:nvSpPr>
          <p:cNvPr id="8" name="Line 9">
            <a:extLst>
              <a:ext uri="{FF2B5EF4-FFF2-40B4-BE49-F238E27FC236}">
                <a16:creationId xmlns:a16="http://schemas.microsoft.com/office/drawing/2014/main" id="{A5ECCEB9-6DA3-A5A5-200F-DBB78CDB76E0}"/>
              </a:ext>
            </a:extLst>
          </p:cNvPr>
          <p:cNvSpPr>
            <a:spLocks noChangeShapeType="1"/>
          </p:cNvSpPr>
          <p:nvPr/>
        </p:nvSpPr>
        <p:spPr bwMode="auto">
          <a:xfrm>
            <a:off x="3613799" y="3284762"/>
            <a:ext cx="0" cy="3022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9" name="Text Box 10">
            <a:extLst>
              <a:ext uri="{FF2B5EF4-FFF2-40B4-BE49-F238E27FC236}">
                <a16:creationId xmlns:a16="http://schemas.microsoft.com/office/drawing/2014/main" id="{ACA39C40-D8D5-09DE-09E5-A49B7FA453AF}"/>
              </a:ext>
            </a:extLst>
          </p:cNvPr>
          <p:cNvSpPr txBox="1">
            <a:spLocks noChangeArrowheads="1"/>
          </p:cNvSpPr>
          <p:nvPr/>
        </p:nvSpPr>
        <p:spPr bwMode="auto">
          <a:xfrm>
            <a:off x="2933485" y="3297397"/>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solidFill>
                  <a:sysClr val="windowText" lastClr="000000"/>
                </a:solidFill>
                <a:latin typeface="Montserrat" panose="00000500000000000000" pitchFamily="2" charset="0"/>
                <a:ea typeface="微软雅黑 Light" panose="020B0502040204020203" pitchFamily="34" charset="-122"/>
              </a:rPr>
              <a:t>首部</a:t>
            </a:r>
          </a:p>
        </p:txBody>
      </p:sp>
      <p:sp>
        <p:nvSpPr>
          <p:cNvPr id="10" name="Rectangle 13">
            <a:extLst>
              <a:ext uri="{FF2B5EF4-FFF2-40B4-BE49-F238E27FC236}">
                <a16:creationId xmlns:a16="http://schemas.microsoft.com/office/drawing/2014/main" id="{5FF5C808-90B9-445E-C51E-239A6BD48434}"/>
              </a:ext>
            </a:extLst>
          </p:cNvPr>
          <p:cNvSpPr>
            <a:spLocks noChangeArrowheads="1"/>
          </p:cNvSpPr>
          <p:nvPr/>
        </p:nvSpPr>
        <p:spPr bwMode="auto">
          <a:xfrm>
            <a:off x="4419107" y="2387006"/>
            <a:ext cx="689044" cy="216608"/>
          </a:xfrm>
          <a:prstGeom prst="rect">
            <a:avLst/>
          </a:prstGeom>
          <a:solidFill>
            <a:schemeClr val="tx1"/>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TCP</a:t>
            </a:r>
          </a:p>
        </p:txBody>
      </p:sp>
      <p:sp>
        <p:nvSpPr>
          <p:cNvPr id="11" name="Rectangle 15">
            <a:extLst>
              <a:ext uri="{FF2B5EF4-FFF2-40B4-BE49-F238E27FC236}">
                <a16:creationId xmlns:a16="http://schemas.microsoft.com/office/drawing/2014/main" id="{C94135C1-2C07-B474-4063-2539B4BA125C}"/>
              </a:ext>
            </a:extLst>
          </p:cNvPr>
          <p:cNvSpPr>
            <a:spLocks noChangeArrowheads="1"/>
          </p:cNvSpPr>
          <p:nvPr/>
        </p:nvSpPr>
        <p:spPr bwMode="auto">
          <a:xfrm>
            <a:off x="5280945" y="2387006"/>
            <a:ext cx="690112" cy="216608"/>
          </a:xfrm>
          <a:prstGeom prst="rect">
            <a:avLst/>
          </a:prstGeom>
          <a:solidFill>
            <a:srgbClr val="00B2FD"/>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UDP</a:t>
            </a:r>
          </a:p>
        </p:txBody>
      </p:sp>
      <p:sp>
        <p:nvSpPr>
          <p:cNvPr id="12" name="Rectangle 17">
            <a:extLst>
              <a:ext uri="{FF2B5EF4-FFF2-40B4-BE49-F238E27FC236}">
                <a16:creationId xmlns:a16="http://schemas.microsoft.com/office/drawing/2014/main" id="{226EA678-5BE6-427D-8A36-B8A8BDA7DE20}"/>
              </a:ext>
            </a:extLst>
          </p:cNvPr>
          <p:cNvSpPr>
            <a:spLocks noChangeArrowheads="1"/>
          </p:cNvSpPr>
          <p:nvPr/>
        </p:nvSpPr>
        <p:spPr bwMode="auto">
          <a:xfrm>
            <a:off x="2981286" y="2770994"/>
            <a:ext cx="690112" cy="216608"/>
          </a:xfrm>
          <a:prstGeom prst="rect">
            <a:avLst/>
          </a:prstGeom>
          <a:solidFill>
            <a:schemeClr val="tx1"/>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ICMP</a:t>
            </a:r>
          </a:p>
        </p:txBody>
      </p:sp>
      <p:sp>
        <p:nvSpPr>
          <p:cNvPr id="13" name="Rectangle 19">
            <a:extLst>
              <a:ext uri="{FF2B5EF4-FFF2-40B4-BE49-F238E27FC236}">
                <a16:creationId xmlns:a16="http://schemas.microsoft.com/office/drawing/2014/main" id="{21961F24-87A0-494F-4E89-1B8F293F5AF4}"/>
              </a:ext>
            </a:extLst>
          </p:cNvPr>
          <p:cNvSpPr>
            <a:spLocks noChangeArrowheads="1"/>
          </p:cNvSpPr>
          <p:nvPr/>
        </p:nvSpPr>
        <p:spPr bwMode="auto">
          <a:xfrm>
            <a:off x="3786594" y="2770994"/>
            <a:ext cx="689044" cy="216608"/>
          </a:xfrm>
          <a:prstGeom prst="rect">
            <a:avLst/>
          </a:prstGeom>
          <a:solidFill>
            <a:schemeClr val="tx1"/>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IGMP</a:t>
            </a:r>
          </a:p>
        </p:txBody>
      </p:sp>
      <p:sp>
        <p:nvSpPr>
          <p:cNvPr id="14" name="Rectangle 21">
            <a:extLst>
              <a:ext uri="{FF2B5EF4-FFF2-40B4-BE49-F238E27FC236}">
                <a16:creationId xmlns:a16="http://schemas.microsoft.com/office/drawing/2014/main" id="{B76001CE-7A2A-9570-9988-4401C0D3B3AF}"/>
              </a:ext>
            </a:extLst>
          </p:cNvPr>
          <p:cNvSpPr>
            <a:spLocks noChangeArrowheads="1"/>
          </p:cNvSpPr>
          <p:nvPr/>
        </p:nvSpPr>
        <p:spPr bwMode="auto">
          <a:xfrm>
            <a:off x="6176917" y="2770994"/>
            <a:ext cx="689044" cy="216608"/>
          </a:xfrm>
          <a:prstGeom prst="rect">
            <a:avLst/>
          </a:prstGeom>
          <a:solidFill>
            <a:schemeClr val="tx1"/>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OSPF</a:t>
            </a:r>
          </a:p>
        </p:txBody>
      </p:sp>
      <p:sp>
        <p:nvSpPr>
          <p:cNvPr id="15" name="Text Box 31">
            <a:extLst>
              <a:ext uri="{FF2B5EF4-FFF2-40B4-BE49-F238E27FC236}">
                <a16:creationId xmlns:a16="http://schemas.microsoft.com/office/drawing/2014/main" id="{9AE876B8-B8F0-70BE-2405-CDCF5BF104BE}"/>
              </a:ext>
            </a:extLst>
          </p:cNvPr>
          <p:cNvSpPr txBox="1">
            <a:spLocks noChangeArrowheads="1"/>
          </p:cNvSpPr>
          <p:nvPr/>
        </p:nvSpPr>
        <p:spPr bwMode="auto">
          <a:xfrm>
            <a:off x="4207392" y="3297397"/>
            <a:ext cx="93968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数 据 部 分</a:t>
            </a:r>
          </a:p>
        </p:txBody>
      </p:sp>
      <p:sp>
        <p:nvSpPr>
          <p:cNvPr id="16" name="Line 32">
            <a:extLst>
              <a:ext uri="{FF2B5EF4-FFF2-40B4-BE49-F238E27FC236}">
                <a16:creationId xmlns:a16="http://schemas.microsoft.com/office/drawing/2014/main" id="{245896BC-072F-07FE-5A2D-D3FD2F8F5DCB}"/>
              </a:ext>
            </a:extLst>
          </p:cNvPr>
          <p:cNvSpPr>
            <a:spLocks noChangeShapeType="1"/>
          </p:cNvSpPr>
          <p:nvPr/>
        </p:nvSpPr>
        <p:spPr bwMode="auto">
          <a:xfrm>
            <a:off x="2751961" y="3775276"/>
            <a:ext cx="385054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17" name="Text Box 33">
            <a:extLst>
              <a:ext uri="{FF2B5EF4-FFF2-40B4-BE49-F238E27FC236}">
                <a16:creationId xmlns:a16="http://schemas.microsoft.com/office/drawing/2014/main" id="{8774D905-CA6A-DAE2-99AA-57591C1CD4D1}"/>
              </a:ext>
            </a:extLst>
          </p:cNvPr>
          <p:cNvSpPr txBox="1">
            <a:spLocks noChangeArrowheads="1"/>
          </p:cNvSpPr>
          <p:nvPr/>
        </p:nvSpPr>
        <p:spPr bwMode="auto">
          <a:xfrm>
            <a:off x="4245246" y="3636777"/>
            <a:ext cx="843501" cy="276999"/>
          </a:xfrm>
          <a:prstGeom prst="rect">
            <a:avLst/>
          </a:prstGeom>
          <a:solidFill>
            <a:schemeClr val="bg1"/>
          </a:solidFill>
          <a:ln>
            <a:noFill/>
          </a:ln>
          <a:effec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IP </a:t>
            </a:r>
            <a:r>
              <a:rPr kumimoji="1" lang="zh-CN" altLang="en-US" sz="1200" dirty="0">
                <a:latin typeface="Montserrat" panose="00000500000000000000" pitchFamily="2" charset="0"/>
                <a:ea typeface="微软雅黑 Light" panose="020B0502040204020203" pitchFamily="34" charset="-122"/>
              </a:rPr>
              <a:t>数据报</a:t>
            </a:r>
          </a:p>
        </p:txBody>
      </p:sp>
      <p:cxnSp>
        <p:nvCxnSpPr>
          <p:cNvPr id="18" name="直接箭头连接符 17">
            <a:extLst>
              <a:ext uri="{FF2B5EF4-FFF2-40B4-BE49-F238E27FC236}">
                <a16:creationId xmlns:a16="http://schemas.microsoft.com/office/drawing/2014/main" id="{A37FC8B6-46B2-16EC-F253-27F51E0ADB19}"/>
              </a:ext>
            </a:extLst>
          </p:cNvPr>
          <p:cNvCxnSpPr>
            <a:stCxn id="15" idx="0"/>
            <a:endCxn id="12" idx="2"/>
          </p:cNvCxnSpPr>
          <p:nvPr/>
        </p:nvCxnSpPr>
        <p:spPr>
          <a:xfrm flipH="1" flipV="1">
            <a:off x="3326342" y="2987602"/>
            <a:ext cx="1350891" cy="3097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B2258C5A-5FD2-370B-ABAB-F794877FB67A}"/>
              </a:ext>
            </a:extLst>
          </p:cNvPr>
          <p:cNvCxnSpPr>
            <a:stCxn id="15" idx="0"/>
            <a:endCxn id="13" idx="2"/>
          </p:cNvCxnSpPr>
          <p:nvPr/>
        </p:nvCxnSpPr>
        <p:spPr>
          <a:xfrm flipH="1" flipV="1">
            <a:off x="4131116" y="2987602"/>
            <a:ext cx="546117" cy="3097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8532165D-AF49-A571-CEED-A70530C165AA}"/>
              </a:ext>
            </a:extLst>
          </p:cNvPr>
          <p:cNvCxnSpPr>
            <a:cxnSpLocks/>
            <a:stCxn id="6" idx="0"/>
            <a:endCxn id="10" idx="2"/>
          </p:cNvCxnSpPr>
          <p:nvPr/>
        </p:nvCxnSpPr>
        <p:spPr>
          <a:xfrm flipV="1">
            <a:off x="4677233" y="2603614"/>
            <a:ext cx="86396" cy="6811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A775B081-7A06-12CC-D5A0-6A4F31E75ED1}"/>
              </a:ext>
            </a:extLst>
          </p:cNvPr>
          <p:cNvCxnSpPr>
            <a:stCxn id="15" idx="0"/>
            <a:endCxn id="11" idx="2"/>
          </p:cNvCxnSpPr>
          <p:nvPr/>
        </p:nvCxnSpPr>
        <p:spPr>
          <a:xfrm flipV="1">
            <a:off x="4677233" y="2603614"/>
            <a:ext cx="948768" cy="693783"/>
          </a:xfrm>
          <a:prstGeom prst="straightConnector1">
            <a:avLst/>
          </a:prstGeom>
          <a:ln w="19050">
            <a:solidFill>
              <a:srgbClr val="00B2FD"/>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9251294B-5A8E-E3D7-FDE5-656EA1D6A731}"/>
              </a:ext>
            </a:extLst>
          </p:cNvPr>
          <p:cNvCxnSpPr>
            <a:stCxn id="15" idx="0"/>
            <a:endCxn id="14" idx="2"/>
          </p:cNvCxnSpPr>
          <p:nvPr/>
        </p:nvCxnSpPr>
        <p:spPr>
          <a:xfrm flipV="1">
            <a:off x="4677233" y="2987602"/>
            <a:ext cx="1844206" cy="309795"/>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4">
            <a:extLst>
              <a:ext uri="{FF2B5EF4-FFF2-40B4-BE49-F238E27FC236}">
                <a16:creationId xmlns:a16="http://schemas.microsoft.com/office/drawing/2014/main" id="{6CEBF8C7-5FC7-EB9A-0B5C-414FAB9DF16E}"/>
              </a:ext>
            </a:extLst>
          </p:cNvPr>
          <p:cNvSpPr>
            <a:spLocks noChangeArrowheads="1"/>
          </p:cNvSpPr>
          <p:nvPr/>
        </p:nvSpPr>
        <p:spPr bwMode="auto">
          <a:xfrm>
            <a:off x="2036224" y="1502689"/>
            <a:ext cx="5078951" cy="598240"/>
          </a:xfrm>
          <a:prstGeom prst="rect">
            <a:avLst/>
          </a:prstGeom>
          <a:solidFill>
            <a:schemeClr val="bg1"/>
          </a:solidFill>
          <a:ln w="6350">
            <a:solidFill>
              <a:schemeClr val="tx1"/>
            </a:solidFill>
            <a:prstDash val="lgDash"/>
            <a:miter lim="800000"/>
            <a:headEnd/>
            <a:tailEnd/>
          </a:ln>
          <a:effectLst/>
        </p:spPr>
        <p:txBody>
          <a:bodyPr wrap="none" anchor="ctr"/>
          <a:lstStyle/>
          <a:p>
            <a:r>
              <a:rPr kumimoji="1" lang="zh-CN" altLang="en-US" sz="1200" dirty="0">
                <a:latin typeface="Montserrat" panose="00000500000000000000" pitchFamily="2" charset="0"/>
                <a:ea typeface="微软雅黑 Light" panose="020B0502040204020203" pitchFamily="34" charset="-122"/>
              </a:rPr>
              <a:t>应用层</a:t>
            </a:r>
          </a:p>
        </p:txBody>
      </p:sp>
      <p:sp>
        <p:nvSpPr>
          <p:cNvPr id="23" name="Rectangle 15">
            <a:extLst>
              <a:ext uri="{FF2B5EF4-FFF2-40B4-BE49-F238E27FC236}">
                <a16:creationId xmlns:a16="http://schemas.microsoft.com/office/drawing/2014/main" id="{49FA8B9A-7106-57B4-0DD1-5DA6BF4A2372}"/>
              </a:ext>
            </a:extLst>
          </p:cNvPr>
          <p:cNvSpPr>
            <a:spLocks noChangeArrowheads="1"/>
          </p:cNvSpPr>
          <p:nvPr/>
        </p:nvSpPr>
        <p:spPr bwMode="auto">
          <a:xfrm>
            <a:off x="5285176" y="1658803"/>
            <a:ext cx="690112" cy="216608"/>
          </a:xfrm>
          <a:prstGeom prst="rect">
            <a:avLst/>
          </a:prstGeom>
          <a:solidFill>
            <a:srgbClr val="00B2FD"/>
          </a:solidFill>
          <a:ln w="9525">
            <a:noFill/>
            <a:miter lim="800000"/>
            <a:headEnd/>
            <a:tailEnd/>
          </a:ln>
          <a:effectLst/>
        </p:spPr>
        <p:txBody>
          <a:bodyPr wrap="none" anchor="ctr"/>
          <a:lstStyle/>
          <a:p>
            <a:pPr algn="ctr"/>
            <a:r>
              <a:rPr kumimoji="1" lang="en-US" altLang="zh-CN" sz="1200" dirty="0">
                <a:solidFill>
                  <a:schemeClr val="bg1"/>
                </a:solidFill>
                <a:latin typeface="Montserrat" panose="00000500000000000000" pitchFamily="2" charset="0"/>
                <a:ea typeface="微软雅黑 Light" panose="020B0502040204020203" pitchFamily="34" charset="-122"/>
              </a:rPr>
              <a:t>RIP</a:t>
            </a:r>
          </a:p>
        </p:txBody>
      </p:sp>
      <p:cxnSp>
        <p:nvCxnSpPr>
          <p:cNvPr id="26" name="直接箭头连接符 25">
            <a:extLst>
              <a:ext uri="{FF2B5EF4-FFF2-40B4-BE49-F238E27FC236}">
                <a16:creationId xmlns:a16="http://schemas.microsoft.com/office/drawing/2014/main" id="{D17AC084-4A3E-461F-904E-7DF0F0C363D5}"/>
              </a:ext>
            </a:extLst>
          </p:cNvPr>
          <p:cNvCxnSpPr>
            <a:stCxn id="11" idx="0"/>
            <a:endCxn id="23" idx="2"/>
          </p:cNvCxnSpPr>
          <p:nvPr/>
        </p:nvCxnSpPr>
        <p:spPr>
          <a:xfrm flipV="1">
            <a:off x="5626001" y="1875411"/>
            <a:ext cx="4231" cy="511595"/>
          </a:xfrm>
          <a:prstGeom prst="straightConnector1">
            <a:avLst/>
          </a:prstGeom>
          <a:ln w="19050">
            <a:solidFill>
              <a:srgbClr val="00B2FD"/>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15">
            <a:extLst>
              <a:ext uri="{FF2B5EF4-FFF2-40B4-BE49-F238E27FC236}">
                <a16:creationId xmlns:a16="http://schemas.microsoft.com/office/drawing/2014/main" id="{79A8A1DC-21A8-EB83-14FA-A12141E1395C}"/>
              </a:ext>
            </a:extLst>
          </p:cNvPr>
          <p:cNvSpPr>
            <a:spLocks noChangeArrowheads="1"/>
          </p:cNvSpPr>
          <p:nvPr/>
        </p:nvSpPr>
        <p:spPr bwMode="auto">
          <a:xfrm>
            <a:off x="5637682" y="2110585"/>
            <a:ext cx="690112" cy="216608"/>
          </a:xfrm>
          <a:prstGeom prst="rect">
            <a:avLst/>
          </a:prstGeom>
          <a:noFill/>
          <a:ln w="9525">
            <a:noFill/>
            <a:miter lim="800000"/>
            <a:headEnd/>
            <a:tailEnd/>
          </a:ln>
          <a:effectLst/>
        </p:spPr>
        <p:txBody>
          <a:bodyPr wrap="none" anchor="ctr"/>
          <a:lstStyle/>
          <a:p>
            <a:r>
              <a:rPr kumimoji="1" lang="en-US" altLang="zh-CN" sz="1200" dirty="0">
                <a:solidFill>
                  <a:sysClr val="windowText" lastClr="000000"/>
                </a:solidFill>
                <a:latin typeface="Montserrat" panose="00000500000000000000" pitchFamily="2" charset="0"/>
                <a:ea typeface="微软雅黑 Light" panose="020B0502040204020203" pitchFamily="34" charset="-122"/>
              </a:rPr>
              <a:t>520</a:t>
            </a:r>
          </a:p>
        </p:txBody>
      </p:sp>
      <p:sp>
        <p:nvSpPr>
          <p:cNvPr id="28" name="Rectangle 15">
            <a:extLst>
              <a:ext uri="{FF2B5EF4-FFF2-40B4-BE49-F238E27FC236}">
                <a16:creationId xmlns:a16="http://schemas.microsoft.com/office/drawing/2014/main" id="{D45F7667-5304-2FC1-F2D9-180B98005EA3}"/>
              </a:ext>
            </a:extLst>
          </p:cNvPr>
          <p:cNvSpPr>
            <a:spLocks noChangeArrowheads="1"/>
          </p:cNvSpPr>
          <p:nvPr/>
        </p:nvSpPr>
        <p:spPr bwMode="auto">
          <a:xfrm>
            <a:off x="5228107" y="2831859"/>
            <a:ext cx="690112" cy="216608"/>
          </a:xfrm>
          <a:prstGeom prst="rect">
            <a:avLst/>
          </a:prstGeom>
          <a:noFill/>
          <a:ln w="9525">
            <a:noFill/>
            <a:miter lim="800000"/>
            <a:headEnd/>
            <a:tailEnd/>
          </a:ln>
          <a:effectLst/>
        </p:spPr>
        <p:txBody>
          <a:bodyPr wrap="none" anchor="ctr"/>
          <a:lstStyle/>
          <a:p>
            <a:r>
              <a:rPr kumimoji="1" lang="en-US" altLang="zh-CN" sz="1200" dirty="0">
                <a:solidFill>
                  <a:sysClr val="windowText" lastClr="000000"/>
                </a:solidFill>
                <a:latin typeface="Montserrat" panose="00000500000000000000" pitchFamily="2" charset="0"/>
                <a:ea typeface="微软雅黑 Light" panose="020B0502040204020203" pitchFamily="34" charset="-122"/>
              </a:rPr>
              <a:t>17</a:t>
            </a:r>
          </a:p>
        </p:txBody>
      </p:sp>
    </p:spTree>
    <p:extLst>
      <p:ext uri="{BB962C8B-B14F-4D97-AF65-F5344CB8AC3E}">
        <p14:creationId xmlns:p14="http://schemas.microsoft.com/office/powerpoint/2010/main" val="13581907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27313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879564"/>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01701"/>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19139"/>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5.2.1                                              UDP </a:t>
            </a:r>
            <a:r>
              <a:rPr lang="zh-CN" altLang="en-US" sz="2000" b="1" dirty="0">
                <a:solidFill>
                  <a:schemeClr val="bg1"/>
                </a:solidFill>
                <a:latin typeface="微软雅黑" pitchFamily="34" charset="-122"/>
                <a:ea typeface="微软雅黑" pitchFamily="34" charset="-122"/>
              </a:rPr>
              <a:t>概述</a:t>
            </a:r>
          </a:p>
          <a:p>
            <a:pPr eaLnBrk="0" hangingPunct="0">
              <a:lnSpc>
                <a:spcPct val="200000"/>
              </a:lnSpc>
            </a:pPr>
            <a:r>
              <a:rPr lang="en-US" altLang="zh-CN" sz="2000" b="1" dirty="0">
                <a:solidFill>
                  <a:schemeClr val="bg1"/>
                </a:solidFill>
                <a:latin typeface="微软雅黑" pitchFamily="34" charset="-122"/>
                <a:ea typeface="微软雅黑" pitchFamily="34" charset="-122"/>
              </a:rPr>
              <a:t>5.2.2                                    UDP </a:t>
            </a:r>
            <a:r>
              <a:rPr lang="zh-CN" altLang="en-US" sz="2000" b="1" dirty="0">
                <a:solidFill>
                  <a:schemeClr val="bg1"/>
                </a:solidFill>
                <a:latin typeface="微软雅黑" pitchFamily="34" charset="-122"/>
                <a:ea typeface="微软雅黑" pitchFamily="34" charset="-122"/>
              </a:rPr>
              <a:t>的首部格式</a:t>
            </a:r>
          </a:p>
        </p:txBody>
      </p:sp>
      <p:sp>
        <p:nvSpPr>
          <p:cNvPr id="10" name="Rectangle 27"/>
          <p:cNvSpPr>
            <a:spLocks noChangeArrowheads="1"/>
          </p:cNvSpPr>
          <p:nvPr/>
        </p:nvSpPr>
        <p:spPr bwMode="auto">
          <a:xfrm>
            <a:off x="639730" y="1273139"/>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368071"/>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5.2</a:t>
            </a:r>
          </a:p>
          <a:p>
            <a:pPr eaLnBrk="0" hangingPunct="0"/>
            <a:r>
              <a:rPr lang="zh-CN" altLang="en-US" sz="2000" b="1" dirty="0">
                <a:solidFill>
                  <a:schemeClr val="bg1"/>
                </a:solidFill>
                <a:latin typeface="微软雅黑" pitchFamily="34" charset="-122"/>
                <a:ea typeface="微软雅黑" pitchFamily="34" charset="-122"/>
              </a:rPr>
              <a:t>用户数据报协议 </a:t>
            </a:r>
            <a:r>
              <a:rPr lang="en-US" altLang="zh-CN" sz="2000" b="1" dirty="0">
                <a:solidFill>
                  <a:schemeClr val="bg1"/>
                </a:solidFill>
                <a:latin typeface="微软雅黑" pitchFamily="34" charset="-122"/>
                <a:ea typeface="微软雅黑" pitchFamily="34" charset="-122"/>
              </a:rPr>
              <a:t>UDP</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64816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Grp="1" noChangeAspect="1"/>
          </p:cNvGraphicFramePr>
          <p:nvPr>
            <p:extLst>
              <p:ext uri="{D42A27DB-BD31-4B8C-83A1-F6EECF244321}">
                <p14:modId xmlns:p14="http://schemas.microsoft.com/office/powerpoint/2010/main" val="3324255847"/>
              </p:ext>
            </p:extLst>
          </p:nvPr>
        </p:nvGraphicFramePr>
        <p:xfrm>
          <a:off x="2361104" y="2302095"/>
          <a:ext cx="4187237" cy="1839595"/>
        </p:xfrm>
        <a:graphic>
          <a:graphicData uri="http://schemas.openxmlformats.org/presentationml/2006/ole">
            <mc:AlternateContent xmlns:mc="http://schemas.openxmlformats.org/markup-compatibility/2006">
              <mc:Choice xmlns:v="urn:schemas-microsoft-com:vml" Requires="v">
                <p:oleObj name="Visio" r:id="rId2" imgW="8733536" imgH="3835153" progId="">
                  <p:embed/>
                </p:oleObj>
              </mc:Choice>
              <mc:Fallback>
                <p:oleObj name="Visio" r:id="rId2" imgW="8733536" imgH="3835153" progId="">
                  <p:embed/>
                  <p:pic>
                    <p:nvPicPr>
                      <p:cNvPr id="0" name="Picture 7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1104" y="2302095"/>
                        <a:ext cx="4187237" cy="183959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内容占位符 2">
            <a:extLst>
              <a:ext uri="{FF2B5EF4-FFF2-40B4-BE49-F238E27FC236}">
                <a16:creationId xmlns:a16="http://schemas.microsoft.com/office/drawing/2014/main" id="{D91D63F6-FF46-BE85-8602-61DB2432B248}"/>
              </a:ext>
            </a:extLst>
          </p:cNvPr>
          <p:cNvSpPr>
            <a:spLocks noGrp="1"/>
          </p:cNvSpPr>
          <p:nvPr>
            <p:ph sz="quarter" idx="11"/>
          </p:nvPr>
        </p:nvSpPr>
        <p:spPr>
          <a:xfrm>
            <a:off x="486000" y="482554"/>
            <a:ext cx="8172000" cy="4120946"/>
          </a:xfrm>
        </p:spPr>
        <p:txBody>
          <a:bodyPr/>
          <a:lstStyle/>
          <a:p>
            <a:r>
              <a:rPr lang="en-US" altLang="zh-CN" dirty="0"/>
              <a:t>UDP </a:t>
            </a:r>
            <a:r>
              <a:rPr lang="zh-CN" altLang="en-US" dirty="0"/>
              <a:t>只在 </a:t>
            </a:r>
            <a:r>
              <a:rPr lang="en-US" altLang="zh-CN" dirty="0"/>
              <a:t>IP </a:t>
            </a:r>
            <a:r>
              <a:rPr lang="zh-CN" altLang="en-US" dirty="0"/>
              <a:t>的数据报服务之上增加了一些功能：</a:t>
            </a:r>
          </a:p>
          <a:p>
            <a:pPr lvl="1"/>
            <a:r>
              <a:rPr lang="zh-CN" altLang="en-US" dirty="0"/>
              <a:t>复用和分用</a:t>
            </a:r>
            <a:endParaRPr lang="en-US" altLang="zh-CN" dirty="0"/>
          </a:p>
          <a:p>
            <a:pPr lvl="1"/>
            <a:r>
              <a:rPr lang="zh-CN" altLang="en-US" dirty="0"/>
              <a:t>差错检测</a:t>
            </a:r>
          </a:p>
          <a:p>
            <a:endParaRPr lang="zh-CN" altLang="en-US" dirty="0"/>
          </a:p>
        </p:txBody>
      </p:sp>
      <p:sp>
        <p:nvSpPr>
          <p:cNvPr id="4" name="标题 3">
            <a:extLst>
              <a:ext uri="{FF2B5EF4-FFF2-40B4-BE49-F238E27FC236}">
                <a16:creationId xmlns:a16="http://schemas.microsoft.com/office/drawing/2014/main" id="{6B6EF5A6-E2E6-B50B-B6E8-75640D2B34CA}"/>
              </a:ext>
            </a:extLst>
          </p:cNvPr>
          <p:cNvSpPr>
            <a:spLocks noGrp="1"/>
          </p:cNvSpPr>
          <p:nvPr>
            <p:ph type="title"/>
          </p:nvPr>
        </p:nvSpPr>
        <p:spPr>
          <a:xfrm>
            <a:off x="2808000" y="144000"/>
            <a:ext cx="3528000" cy="338554"/>
          </a:xfrm>
        </p:spPr>
        <p:txBody>
          <a:bodyPr/>
          <a:lstStyle/>
          <a:p>
            <a:r>
              <a:rPr lang="en-US" altLang="zh-CN" dirty="0"/>
              <a:t>5.2.1  UDP </a:t>
            </a:r>
            <a:r>
              <a:rPr lang="zh-CN" altLang="en-US" dirty="0"/>
              <a:t>概述</a:t>
            </a:r>
          </a:p>
        </p:txBody>
      </p:sp>
    </p:spTree>
    <p:extLst>
      <p:ext uri="{BB962C8B-B14F-4D97-AF65-F5344CB8AC3E}">
        <p14:creationId xmlns:p14="http://schemas.microsoft.com/office/powerpoint/2010/main" val="6835817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83514" y="3781291"/>
            <a:ext cx="6006352" cy="378117"/>
          </a:xfrm>
          <a:prstGeom prst="rect">
            <a:avLst/>
          </a:prstGeom>
          <a:solidFill>
            <a:srgbClr val="800080"/>
          </a:solidFill>
        </p:spPr>
        <p:txBody>
          <a:bodyPr wrap="square">
            <a:spAutoFit/>
          </a:bodyPr>
          <a:lstStyle/>
          <a:p>
            <a:pPr algn="ctr">
              <a:lnSpc>
                <a:spcPts val="2400"/>
              </a:lnSpc>
              <a:buClr>
                <a:srgbClr val="0070C0"/>
              </a:buClr>
            </a:pPr>
            <a:r>
              <a:rPr lang="en-US" altLang="zh-CN" b="1" dirty="0">
                <a:solidFill>
                  <a:schemeClr val="bg1"/>
                </a:solidFill>
                <a:latin typeface="微软雅黑" pitchFamily="34" charset="-122"/>
                <a:ea typeface="微软雅黑" pitchFamily="34" charset="-122"/>
              </a:rPr>
              <a:t>UDP </a:t>
            </a:r>
            <a:r>
              <a:rPr lang="zh-CN" altLang="en-US" b="1" dirty="0">
                <a:solidFill>
                  <a:schemeClr val="bg1"/>
                </a:solidFill>
                <a:latin typeface="微软雅黑" pitchFamily="34" charset="-122"/>
                <a:ea typeface="微软雅黑" pitchFamily="34" charset="-122"/>
              </a:rPr>
              <a:t>通信的特点：简单方便，但不可靠。</a:t>
            </a:r>
          </a:p>
        </p:txBody>
      </p:sp>
      <p:sp>
        <p:nvSpPr>
          <p:cNvPr id="3" name="内容占位符 2">
            <a:extLst>
              <a:ext uri="{FF2B5EF4-FFF2-40B4-BE49-F238E27FC236}">
                <a16:creationId xmlns:a16="http://schemas.microsoft.com/office/drawing/2014/main" id="{EBA4CD23-1D75-C7D6-536F-0CFA852D72B7}"/>
              </a:ext>
            </a:extLst>
          </p:cNvPr>
          <p:cNvSpPr>
            <a:spLocks noGrp="1"/>
          </p:cNvSpPr>
          <p:nvPr>
            <p:ph sz="quarter" idx="11"/>
          </p:nvPr>
        </p:nvSpPr>
        <p:spPr>
          <a:xfrm>
            <a:off x="486000" y="482554"/>
            <a:ext cx="8172000" cy="4120946"/>
          </a:xfrm>
        </p:spPr>
        <p:txBody>
          <a:bodyPr/>
          <a:lstStyle/>
          <a:p>
            <a:r>
              <a:rPr lang="zh-CN" altLang="en-US" dirty="0"/>
              <a:t>无连接。发送数据之前不需要建立连接。</a:t>
            </a:r>
          </a:p>
          <a:p>
            <a:r>
              <a:rPr lang="zh-CN" altLang="en-US" dirty="0"/>
              <a:t>使用尽最大努力交付。即不保证可靠交付。</a:t>
            </a:r>
          </a:p>
          <a:p>
            <a:r>
              <a:rPr lang="zh-CN" altLang="en-US" dirty="0"/>
              <a:t>面向报文。</a:t>
            </a:r>
            <a:r>
              <a:rPr lang="en-US" altLang="zh-CN" dirty="0"/>
              <a:t>UDP </a:t>
            </a:r>
            <a:r>
              <a:rPr lang="zh-CN" altLang="en-US" dirty="0"/>
              <a:t>一次传送和交付一个完整的报文。 </a:t>
            </a:r>
            <a:endParaRPr lang="en-US" altLang="zh-CN" dirty="0"/>
          </a:p>
          <a:p>
            <a:r>
              <a:rPr lang="zh-CN" altLang="en-US" dirty="0"/>
              <a:t>没有拥塞控制。网络出现的拥塞不会使源主机的发送速率降低。很适合多媒体通信的要求。 </a:t>
            </a:r>
          </a:p>
          <a:p>
            <a:r>
              <a:rPr lang="zh-CN" altLang="en-US" dirty="0"/>
              <a:t>支持一对一、一对多、多对一、多对多等交互通信。</a:t>
            </a:r>
          </a:p>
          <a:p>
            <a:r>
              <a:rPr lang="zh-CN" altLang="en-US" dirty="0"/>
              <a:t>首部开销小，只有 </a:t>
            </a:r>
            <a:r>
              <a:rPr lang="en-US" altLang="zh-CN" dirty="0"/>
              <a:t>8 </a:t>
            </a:r>
            <a:r>
              <a:rPr lang="zh-CN" altLang="en-US" dirty="0"/>
              <a:t>个字节。</a:t>
            </a:r>
          </a:p>
          <a:p>
            <a:endParaRPr lang="zh-CN" altLang="en-US" dirty="0"/>
          </a:p>
        </p:txBody>
      </p:sp>
      <p:sp>
        <p:nvSpPr>
          <p:cNvPr id="4" name="标题 3">
            <a:extLst>
              <a:ext uri="{FF2B5EF4-FFF2-40B4-BE49-F238E27FC236}">
                <a16:creationId xmlns:a16="http://schemas.microsoft.com/office/drawing/2014/main" id="{68ED48FB-142C-BB12-D223-0B2EB14B12F7}"/>
              </a:ext>
            </a:extLst>
          </p:cNvPr>
          <p:cNvSpPr>
            <a:spLocks noGrp="1"/>
          </p:cNvSpPr>
          <p:nvPr>
            <p:ph type="title"/>
          </p:nvPr>
        </p:nvSpPr>
        <p:spPr>
          <a:xfrm>
            <a:off x="2808000" y="144000"/>
            <a:ext cx="3528000" cy="338554"/>
          </a:xfrm>
        </p:spPr>
        <p:txBody>
          <a:bodyPr/>
          <a:lstStyle/>
          <a:p>
            <a:r>
              <a:rPr lang="en-US" altLang="zh-CN" dirty="0"/>
              <a:t>UDP </a:t>
            </a:r>
            <a:r>
              <a:rPr lang="zh-CN" altLang="en-US" dirty="0"/>
              <a:t>的主要特点</a:t>
            </a:r>
          </a:p>
        </p:txBody>
      </p:sp>
    </p:spTree>
    <p:extLst>
      <p:ext uri="{BB962C8B-B14F-4D97-AF65-F5344CB8AC3E}">
        <p14:creationId xmlns:p14="http://schemas.microsoft.com/office/powerpoint/2010/main" val="2658655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553426" y="1237129"/>
            <a:ext cx="5832888" cy="2070848"/>
            <a:chOff x="422071" y="1628800"/>
            <a:chExt cx="9004747" cy="3529013"/>
          </a:xfrm>
        </p:grpSpPr>
        <p:sp>
          <p:nvSpPr>
            <p:cNvPr id="6" name="AutoShape 3"/>
            <p:cNvSpPr>
              <a:spLocks noChangeArrowheads="1"/>
            </p:cNvSpPr>
            <p:nvPr/>
          </p:nvSpPr>
          <p:spPr bwMode="auto">
            <a:xfrm flipH="1">
              <a:off x="422071" y="4565675"/>
              <a:ext cx="863600" cy="363538"/>
            </a:xfrm>
            <a:prstGeom prst="rightArrow">
              <a:avLst>
                <a:gd name="adj1" fmla="val 50000"/>
                <a:gd name="adj2" fmla="val 118788"/>
              </a:avLst>
            </a:prstGeom>
            <a:solidFill>
              <a:srgbClr val="FF00FF"/>
            </a:solidFill>
            <a:ln w="12700">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7" name="Rectangle 4"/>
            <p:cNvSpPr>
              <a:spLocks noChangeArrowheads="1"/>
            </p:cNvSpPr>
            <p:nvPr/>
          </p:nvSpPr>
          <p:spPr bwMode="auto">
            <a:xfrm>
              <a:off x="2360409" y="3678263"/>
              <a:ext cx="5915024" cy="730250"/>
            </a:xfrm>
            <a:prstGeom prst="rect">
              <a:avLst/>
            </a:prstGeom>
            <a:gradFill flip="none" rotWithShape="1">
              <a:gsLst>
                <a:gs pos="0">
                  <a:srgbClr val="00FFFF"/>
                </a:gs>
                <a:gs pos="77000">
                  <a:srgbClr val="CCCCFF"/>
                </a:gs>
              </a:gsLst>
              <a:lin ang="5400000" scaled="1"/>
              <a:tileRect/>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8" name="Rectangle 5"/>
            <p:cNvSpPr>
              <a:spLocks noChangeArrowheads="1"/>
            </p:cNvSpPr>
            <p:nvPr/>
          </p:nvSpPr>
          <p:spPr bwMode="auto">
            <a:xfrm>
              <a:off x="3824084" y="2230461"/>
              <a:ext cx="4425949" cy="720726"/>
            </a:xfrm>
            <a:prstGeom prst="rect">
              <a:avLst/>
            </a:prstGeom>
            <a:gradFill rotWithShape="1">
              <a:gsLst>
                <a:gs pos="0">
                  <a:srgbClr val="66FF66"/>
                </a:gs>
                <a:gs pos="33000">
                  <a:srgbClr val="66FF66"/>
                </a:gs>
                <a:gs pos="100000">
                  <a:srgbClr val="00FFFF"/>
                </a:gs>
              </a:gsLst>
              <a:lin ang="5400000" scaled="1"/>
            </a:gra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6"/>
            <p:cNvSpPr>
              <a:spLocks noChangeArrowheads="1"/>
            </p:cNvSpPr>
            <p:nvPr/>
          </p:nvSpPr>
          <p:spPr bwMode="auto">
            <a:xfrm>
              <a:off x="2360409" y="2952775"/>
              <a:ext cx="5915025" cy="722313"/>
            </a:xfrm>
            <a:prstGeom prst="rect">
              <a:avLst/>
            </a:prstGeom>
            <a:solidFill>
              <a:srgbClr val="00FFFF"/>
            </a:solidFill>
            <a:ln w="28575">
              <a:solidFill>
                <a:srgbClr val="000000"/>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7"/>
            <p:cNvSpPr>
              <a:spLocks noChangeArrowheads="1"/>
            </p:cNvSpPr>
            <p:nvPr/>
          </p:nvSpPr>
          <p:spPr bwMode="auto">
            <a:xfrm>
              <a:off x="1238046" y="4408513"/>
              <a:ext cx="7037388" cy="749300"/>
            </a:xfrm>
            <a:prstGeom prst="rect">
              <a:avLst/>
            </a:prstGeom>
            <a:solidFill>
              <a:srgbClr val="0000FF"/>
            </a:solidFill>
            <a:ln w="285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Rectangle 8"/>
            <p:cNvSpPr>
              <a:spLocks noChangeArrowheads="1"/>
            </p:cNvSpPr>
            <p:nvPr/>
          </p:nvSpPr>
          <p:spPr bwMode="auto">
            <a:xfrm>
              <a:off x="2360410" y="4437088"/>
              <a:ext cx="5891213" cy="690561"/>
            </a:xfrm>
            <a:prstGeom prst="rect">
              <a:avLst/>
            </a:prstGeom>
            <a:solidFill>
              <a:srgbClr val="CC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Rectangle 9"/>
            <p:cNvSpPr>
              <a:spLocks noChangeArrowheads="1"/>
            </p:cNvSpPr>
            <p:nvPr/>
          </p:nvSpPr>
          <p:spPr bwMode="auto">
            <a:xfrm>
              <a:off x="3747885" y="4573614"/>
              <a:ext cx="285827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数据报的数据部分</a:t>
              </a:r>
            </a:p>
          </p:txBody>
        </p:sp>
        <p:sp>
          <p:nvSpPr>
            <p:cNvPr id="13" name="Rectangle 10"/>
            <p:cNvSpPr>
              <a:spLocks noChangeArrowheads="1"/>
            </p:cNvSpPr>
            <p:nvPr/>
          </p:nvSpPr>
          <p:spPr bwMode="auto">
            <a:xfrm>
              <a:off x="1199946" y="4543449"/>
              <a:ext cx="1195282"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首部</a:t>
              </a:r>
            </a:p>
          </p:txBody>
        </p:sp>
        <p:sp>
          <p:nvSpPr>
            <p:cNvPr id="14" name="Rectangle 11"/>
            <p:cNvSpPr>
              <a:spLocks noChangeArrowheads="1"/>
            </p:cNvSpPr>
            <p:nvPr/>
          </p:nvSpPr>
          <p:spPr bwMode="auto">
            <a:xfrm>
              <a:off x="8313203" y="4553358"/>
              <a:ext cx="918116"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IP </a:t>
              </a: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层</a:t>
              </a:r>
            </a:p>
          </p:txBody>
        </p:sp>
        <p:sp>
          <p:nvSpPr>
            <p:cNvPr id="15" name="Line 12"/>
            <p:cNvSpPr>
              <a:spLocks noChangeShapeType="1"/>
            </p:cNvSpPr>
            <p:nvPr/>
          </p:nvSpPr>
          <p:spPr bwMode="auto">
            <a:xfrm>
              <a:off x="3824084" y="2952775"/>
              <a:ext cx="0" cy="722313"/>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6" name="AutoShape 13"/>
            <p:cNvSpPr>
              <a:spLocks noChangeArrowheads="1"/>
            </p:cNvSpPr>
            <p:nvPr/>
          </p:nvSpPr>
          <p:spPr bwMode="auto">
            <a:xfrm rot="16200000" flipH="1">
              <a:off x="4890884" y="3994175"/>
              <a:ext cx="963612" cy="325438"/>
            </a:xfrm>
            <a:prstGeom prst="rightArrow">
              <a:avLst>
                <a:gd name="adj1" fmla="val 50000"/>
                <a:gd name="adj2" fmla="val 148062"/>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17" name="Rectangle 14"/>
            <p:cNvSpPr>
              <a:spLocks noChangeArrowheads="1"/>
            </p:cNvSpPr>
            <p:nvPr/>
          </p:nvSpPr>
          <p:spPr bwMode="auto">
            <a:xfrm>
              <a:off x="2360409" y="3060723"/>
              <a:ext cx="153678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a:ln>
                    <a:noFill/>
                  </a:ln>
                  <a:effectLst/>
                  <a:uLnTx/>
                  <a:uFillTx/>
                  <a:latin typeface="微软雅黑" pitchFamily="34" charset="-122"/>
                  <a:ea typeface="微软雅黑" pitchFamily="34" charset="-122"/>
                </a:rPr>
                <a:t>首部</a:t>
              </a:r>
            </a:p>
          </p:txBody>
        </p:sp>
        <p:sp>
          <p:nvSpPr>
            <p:cNvPr id="18" name="Rectangle 15"/>
            <p:cNvSpPr>
              <a:spLocks noChangeArrowheads="1"/>
            </p:cNvSpPr>
            <p:nvPr/>
          </p:nvSpPr>
          <p:spPr bwMode="auto">
            <a:xfrm>
              <a:off x="4189209" y="3065488"/>
              <a:ext cx="3754119"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400" b="1" i="0" u="none" strike="noStrike" kern="0" cap="none" spc="0" normalizeH="0" baseline="0" noProof="0" dirty="0">
                  <a:ln>
                    <a:noFill/>
                  </a:ln>
                  <a:effectLst/>
                  <a:uLnTx/>
                  <a:uFillTx/>
                  <a:latin typeface="微软雅黑" pitchFamily="34" charset="-122"/>
                  <a:ea typeface="微软雅黑" pitchFamily="34" charset="-122"/>
                </a:rPr>
                <a:t>UDP </a:t>
              </a: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用户数据报的数据部分</a:t>
              </a:r>
            </a:p>
          </p:txBody>
        </p:sp>
        <p:sp>
          <p:nvSpPr>
            <p:cNvPr id="19" name="Rectangle 16"/>
            <p:cNvSpPr>
              <a:spLocks noChangeArrowheads="1"/>
            </p:cNvSpPr>
            <p:nvPr/>
          </p:nvSpPr>
          <p:spPr bwMode="auto">
            <a:xfrm>
              <a:off x="8313203" y="3086509"/>
              <a:ext cx="1113615" cy="520124"/>
            </a:xfrm>
            <a:prstGeom prst="rect">
              <a:avLst/>
            </a:prstGeom>
            <a:no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solidFill>
                    <a:srgbClr val="0000FF"/>
                  </a:solidFill>
                  <a:effectLst/>
                  <a:uLnTx/>
                  <a:uFillTx/>
                  <a:latin typeface="微软雅黑" pitchFamily="34" charset="-122"/>
                  <a:ea typeface="微软雅黑" pitchFamily="34" charset="-122"/>
                </a:rPr>
                <a:t>运输层</a:t>
              </a:r>
            </a:p>
          </p:txBody>
        </p:sp>
        <p:sp>
          <p:nvSpPr>
            <p:cNvPr id="20" name="Line 17"/>
            <p:cNvSpPr>
              <a:spLocks noChangeShapeType="1"/>
            </p:cNvSpPr>
            <p:nvPr/>
          </p:nvSpPr>
          <p:spPr bwMode="auto">
            <a:xfrm>
              <a:off x="2360409" y="4408513"/>
              <a:ext cx="0" cy="74930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1" name="AutoShape 18"/>
            <p:cNvSpPr>
              <a:spLocks noChangeArrowheads="1"/>
            </p:cNvSpPr>
            <p:nvPr/>
          </p:nvSpPr>
          <p:spPr bwMode="auto">
            <a:xfrm rot="16200000" flipH="1">
              <a:off x="5556841" y="2548756"/>
              <a:ext cx="963612" cy="327025"/>
            </a:xfrm>
            <a:prstGeom prst="rightArrow">
              <a:avLst>
                <a:gd name="adj1" fmla="val 50000"/>
                <a:gd name="adj2" fmla="val 147344"/>
              </a:avLst>
            </a:prstGeom>
            <a:solidFill>
              <a:srgbClr val="FFFF00"/>
            </a:solidFill>
            <a:ln w="127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effectLst/>
                <a:uLnTx/>
                <a:uFillTx/>
                <a:latin typeface="微软雅黑" pitchFamily="34" charset="-122"/>
                <a:ea typeface="微软雅黑" pitchFamily="34" charset="-122"/>
              </a:endParaRPr>
            </a:p>
          </p:txBody>
        </p:sp>
        <p:sp>
          <p:nvSpPr>
            <p:cNvPr id="22" name="Rectangle 19"/>
            <p:cNvSpPr>
              <a:spLocks noChangeArrowheads="1"/>
            </p:cNvSpPr>
            <p:nvPr/>
          </p:nvSpPr>
          <p:spPr bwMode="auto">
            <a:xfrm>
              <a:off x="3824084" y="1628800"/>
              <a:ext cx="4425950" cy="601663"/>
            </a:xfrm>
            <a:prstGeom prst="rect">
              <a:avLst/>
            </a:prstGeom>
            <a:solidFill>
              <a:srgbClr val="66FF66"/>
            </a:solidFill>
            <a:ln w="28575">
              <a:solidFill>
                <a:srgbClr val="000000"/>
              </a:solidFill>
              <a:miter lim="800000"/>
              <a:headEnd/>
              <a:tailEnd/>
            </a:ln>
            <a:effectLst/>
          </p:spPr>
          <p:txBody>
            <a:bodyPr wrap="none" anchor="ct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dirty="0">
                  <a:ln>
                    <a:noFill/>
                  </a:ln>
                  <a:effectLst/>
                  <a:uLnTx/>
                  <a:uFillTx/>
                  <a:latin typeface="微软雅黑" pitchFamily="34" charset="-122"/>
                  <a:ea typeface="微软雅黑" pitchFamily="34" charset="-122"/>
                </a:rPr>
                <a:t>应用层报文</a:t>
              </a:r>
            </a:p>
          </p:txBody>
        </p:sp>
        <p:sp>
          <p:nvSpPr>
            <p:cNvPr id="23" name="Rectangle 20"/>
            <p:cNvSpPr>
              <a:spLocks noChangeArrowheads="1"/>
            </p:cNvSpPr>
            <p:nvPr/>
          </p:nvSpPr>
          <p:spPr bwMode="auto">
            <a:xfrm>
              <a:off x="8313203" y="1641884"/>
              <a:ext cx="1113615" cy="520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zh-CN" altLang="en-US" sz="1400" b="1" i="0" u="none" strike="noStrike" kern="0" cap="none" spc="0" normalizeH="0" baseline="0" noProof="0">
                  <a:ln>
                    <a:noFill/>
                  </a:ln>
                  <a:solidFill>
                    <a:srgbClr val="0000FF"/>
                  </a:solidFill>
                  <a:effectLst/>
                  <a:uLnTx/>
                  <a:uFillTx/>
                  <a:latin typeface="微软雅黑" pitchFamily="34" charset="-122"/>
                  <a:ea typeface="微软雅黑" pitchFamily="34" charset="-122"/>
                </a:rPr>
                <a:t>应用层</a:t>
              </a:r>
            </a:p>
          </p:txBody>
        </p:sp>
      </p:grpSp>
      <p:sp>
        <p:nvSpPr>
          <p:cNvPr id="24" name="矩形 23"/>
          <p:cNvSpPr/>
          <p:nvPr/>
        </p:nvSpPr>
        <p:spPr>
          <a:xfrm>
            <a:off x="660758" y="3496236"/>
            <a:ext cx="7945443" cy="1015663"/>
          </a:xfrm>
          <a:prstGeom prst="rect">
            <a:avLst/>
          </a:prstGeom>
        </p:spPr>
        <p:txBody>
          <a:bodyPr wrap="square">
            <a:spAutoFit/>
          </a:bodyPr>
          <a:lstStyle/>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发送方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对应用层交下来的报文，既不合并，也不拆分，按照样发送。</a:t>
            </a:r>
            <a:endParaRPr lang="en-US" altLang="zh-CN" sz="1600" b="1" dirty="0">
              <a:latin typeface="微软雅黑" panose="020B0503020204020204" pitchFamily="34" charset="-122"/>
              <a:ea typeface="微软雅黑" panose="020B0503020204020204" pitchFamily="34" charset="-122"/>
            </a:endParaRPr>
          </a:p>
          <a:p>
            <a:pPr marL="285750" indent="-285750">
              <a:lnSpc>
                <a:spcPts val="2400"/>
              </a:lnSpc>
              <a:buFont typeface="Wingdings" panose="05000000000000000000" pitchFamily="2" charset="2"/>
              <a:buChar char="l"/>
            </a:pPr>
            <a:r>
              <a:rPr lang="zh-CN" altLang="en-US" sz="1600" b="1" dirty="0">
                <a:solidFill>
                  <a:srgbClr val="C00000"/>
                </a:solidFill>
                <a:latin typeface="微软雅黑" panose="020B0503020204020204" pitchFamily="34" charset="-122"/>
                <a:ea typeface="微软雅黑" panose="020B0503020204020204" pitchFamily="34" charset="-122"/>
              </a:rPr>
              <a:t>接收方</a:t>
            </a:r>
            <a:r>
              <a:rPr lang="zh-CN" altLang="en-US" sz="1600" b="1" dirty="0">
                <a:latin typeface="微软雅黑" panose="020B0503020204020204" pitchFamily="34" charset="-122"/>
                <a:ea typeface="微软雅黑" panose="020B0503020204020204" pitchFamily="34" charset="-122"/>
              </a:rPr>
              <a:t>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对 </a:t>
            </a:r>
            <a:r>
              <a:rPr lang="en-US" altLang="zh-CN" sz="1600" b="1" dirty="0">
                <a:latin typeface="微软雅黑" panose="020B0503020204020204" pitchFamily="34" charset="-122"/>
                <a:ea typeface="微软雅黑" panose="020B0503020204020204" pitchFamily="34" charset="-122"/>
              </a:rPr>
              <a:t>IP </a:t>
            </a:r>
            <a:r>
              <a:rPr lang="zh-CN" altLang="en-US" sz="1600" b="1" dirty="0">
                <a:latin typeface="微软雅黑" panose="020B0503020204020204" pitchFamily="34" charset="-122"/>
                <a:ea typeface="微软雅黑" panose="020B0503020204020204" pitchFamily="34" charset="-122"/>
              </a:rPr>
              <a:t>层交上来的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用户数据报，去除首部后就原封不动地交付上层的应用进程，一次交付一个完整的报文。</a:t>
            </a:r>
          </a:p>
        </p:txBody>
      </p:sp>
      <p:sp>
        <p:nvSpPr>
          <p:cNvPr id="26" name="标题 25">
            <a:extLst>
              <a:ext uri="{FF2B5EF4-FFF2-40B4-BE49-F238E27FC236}">
                <a16:creationId xmlns:a16="http://schemas.microsoft.com/office/drawing/2014/main" id="{8939AFC9-23F4-47B4-7DC9-528A71A466FD}"/>
              </a:ext>
            </a:extLst>
          </p:cNvPr>
          <p:cNvSpPr>
            <a:spLocks noGrp="1"/>
          </p:cNvSpPr>
          <p:nvPr>
            <p:ph type="title"/>
          </p:nvPr>
        </p:nvSpPr>
        <p:spPr>
          <a:xfrm>
            <a:off x="2808000" y="144000"/>
            <a:ext cx="3528000" cy="338554"/>
          </a:xfrm>
        </p:spPr>
        <p:txBody>
          <a:bodyPr/>
          <a:lstStyle/>
          <a:p>
            <a:r>
              <a:rPr lang="en-US" altLang="zh-CN" dirty="0"/>
              <a:t>UDP </a:t>
            </a:r>
            <a:r>
              <a:rPr lang="zh-CN" altLang="en-US" dirty="0"/>
              <a:t>是面向报文的</a:t>
            </a:r>
          </a:p>
        </p:txBody>
      </p:sp>
    </p:spTree>
    <p:extLst>
      <p:ext uri="{BB962C8B-B14F-4D97-AF65-F5344CB8AC3E}">
        <p14:creationId xmlns:p14="http://schemas.microsoft.com/office/powerpoint/2010/main" val="585141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37">
            <a:extLst>
              <a:ext uri="{FF2B5EF4-FFF2-40B4-BE49-F238E27FC236}">
                <a16:creationId xmlns:a16="http://schemas.microsoft.com/office/drawing/2014/main" id="{2D2DBB46-AAAF-B897-7334-A992BA3304D6}"/>
              </a:ext>
            </a:extLst>
          </p:cNvPr>
          <p:cNvSpPr>
            <a:spLocks noChangeArrowheads="1"/>
          </p:cNvSpPr>
          <p:nvPr/>
        </p:nvSpPr>
        <p:spPr bwMode="auto">
          <a:xfrm rot="5400000">
            <a:off x="1471081" y="2850783"/>
            <a:ext cx="180000" cy="434478"/>
          </a:xfrm>
          <a:prstGeom prst="downArrow">
            <a:avLst>
              <a:gd name="adj1" fmla="val 50000"/>
              <a:gd name="adj2" fmla="val 49462"/>
            </a:avLst>
          </a:prstGeom>
          <a:solidFill>
            <a:schemeClr val="tx1">
              <a:lumMod val="50000"/>
              <a:lumOff val="50000"/>
            </a:schemeClr>
          </a:solidFill>
          <a:ln w="9525">
            <a:no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graphicFrame>
        <p:nvGraphicFramePr>
          <p:cNvPr id="26" name="表格 25">
            <a:extLst>
              <a:ext uri="{FF2B5EF4-FFF2-40B4-BE49-F238E27FC236}">
                <a16:creationId xmlns:a16="http://schemas.microsoft.com/office/drawing/2014/main" id="{5A43F8E9-85DF-DA1F-F130-863823C80AE5}"/>
              </a:ext>
            </a:extLst>
          </p:cNvPr>
          <p:cNvGraphicFramePr>
            <a:graphicFrameLocks noGrp="1"/>
          </p:cNvGraphicFramePr>
          <p:nvPr>
            <p:extLst>
              <p:ext uri="{D42A27DB-BD31-4B8C-83A1-F6EECF244321}">
                <p14:modId xmlns:p14="http://schemas.microsoft.com/office/powerpoint/2010/main" val="546857116"/>
              </p:ext>
            </p:extLst>
          </p:nvPr>
        </p:nvGraphicFramePr>
        <p:xfrm>
          <a:off x="2839640" y="2215962"/>
          <a:ext cx="3664599" cy="360000"/>
        </p:xfrm>
        <a:graphic>
          <a:graphicData uri="http://schemas.openxmlformats.org/drawingml/2006/table">
            <a:tbl>
              <a:tblPr firstRow="1" bandRow="1">
                <a:tableStyleId>{5C22544A-7EE6-4342-B048-85BDC9FD1C3A}</a:tableStyleId>
              </a:tblPr>
              <a:tblGrid>
                <a:gridCol w="1052453">
                  <a:extLst>
                    <a:ext uri="{9D8B030D-6E8A-4147-A177-3AD203B41FA5}">
                      <a16:colId xmlns:a16="http://schemas.microsoft.com/office/drawing/2014/main" val="3192344591"/>
                    </a:ext>
                  </a:extLst>
                </a:gridCol>
                <a:gridCol w="2612146">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UDP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UDP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27" name="表格 26">
            <a:extLst>
              <a:ext uri="{FF2B5EF4-FFF2-40B4-BE49-F238E27FC236}">
                <a16:creationId xmlns:a16="http://schemas.microsoft.com/office/drawing/2014/main" id="{914CAF6E-D02A-F6AA-A7AC-F2E1163E0174}"/>
              </a:ext>
            </a:extLst>
          </p:cNvPr>
          <p:cNvGraphicFramePr>
            <a:graphicFrameLocks noGrp="1"/>
          </p:cNvGraphicFramePr>
          <p:nvPr>
            <p:extLst>
              <p:ext uri="{D42A27DB-BD31-4B8C-83A1-F6EECF244321}">
                <p14:modId xmlns:p14="http://schemas.microsoft.com/office/powerpoint/2010/main" val="4251585545"/>
              </p:ext>
            </p:extLst>
          </p:nvPr>
        </p:nvGraphicFramePr>
        <p:xfrm>
          <a:off x="3984239" y="1502791"/>
          <a:ext cx="2520000" cy="3600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1943595655"/>
                    </a:ext>
                  </a:extLst>
                </a:gridCol>
              </a:tblGrid>
              <a:tr h="360000">
                <a:tc>
                  <a:txBody>
                    <a:bodyPr/>
                    <a:lstStyle/>
                    <a:p>
                      <a:pPr algn="ctr"/>
                      <a:r>
                        <a:rPr kumimoji="1" lang="zh-CN" altLang="en-US" sz="1200" b="0" kern="1200" baseline="0" dirty="0">
                          <a:solidFill>
                            <a:schemeClr val="tx1"/>
                          </a:solidFill>
                          <a:latin typeface="Montserrat" panose="00000500000000000000" pitchFamily="2" charset="0"/>
                          <a:ea typeface="微软雅黑 Light" panose="020B0502040204020203" pitchFamily="34" charset="-122"/>
                          <a:cs typeface="+mn-cs"/>
                        </a:rPr>
                        <a:t>应用层报文</a:t>
                      </a:r>
                      <a:endParaRPr kumimoji="1" lang="zh-CN" altLang="en-US" sz="1200" dirty="0">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28" name="表格 27">
            <a:extLst>
              <a:ext uri="{FF2B5EF4-FFF2-40B4-BE49-F238E27FC236}">
                <a16:creationId xmlns:a16="http://schemas.microsoft.com/office/drawing/2014/main" id="{A1A02F75-8FD6-88EB-1A4C-DEE73212CE0E}"/>
              </a:ext>
            </a:extLst>
          </p:cNvPr>
          <p:cNvGraphicFramePr>
            <a:graphicFrameLocks noGrp="1"/>
          </p:cNvGraphicFramePr>
          <p:nvPr>
            <p:extLst>
              <p:ext uri="{D42A27DB-BD31-4B8C-83A1-F6EECF244321}">
                <p14:modId xmlns:p14="http://schemas.microsoft.com/office/powerpoint/2010/main" val="3674181495"/>
              </p:ext>
            </p:extLst>
          </p:nvPr>
        </p:nvGraphicFramePr>
        <p:xfrm>
          <a:off x="1778320" y="2888022"/>
          <a:ext cx="4725919" cy="360000"/>
        </p:xfrm>
        <a:graphic>
          <a:graphicData uri="http://schemas.openxmlformats.org/drawingml/2006/table">
            <a:tbl>
              <a:tblPr firstRow="1" bandRow="1">
                <a:tableStyleId>{5C22544A-7EE6-4342-B048-85BDC9FD1C3A}</a:tableStyleId>
              </a:tblPr>
              <a:tblGrid>
                <a:gridCol w="998251">
                  <a:extLst>
                    <a:ext uri="{9D8B030D-6E8A-4147-A177-3AD203B41FA5}">
                      <a16:colId xmlns:a16="http://schemas.microsoft.com/office/drawing/2014/main" val="3192344591"/>
                    </a:ext>
                  </a:extLst>
                </a:gridCol>
                <a:gridCol w="3727668">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IP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75445671"/>
                  </a:ext>
                </a:extLst>
              </a:tr>
            </a:tbl>
          </a:graphicData>
        </a:graphic>
      </p:graphicFrame>
      <p:cxnSp>
        <p:nvCxnSpPr>
          <p:cNvPr id="3" name="直接连接符 2">
            <a:extLst>
              <a:ext uri="{FF2B5EF4-FFF2-40B4-BE49-F238E27FC236}">
                <a16:creationId xmlns:a16="http://schemas.microsoft.com/office/drawing/2014/main" id="{7839FD62-42C0-5BE1-F6DC-19A133118ED1}"/>
              </a:ext>
            </a:extLst>
          </p:cNvPr>
          <p:cNvCxnSpPr>
            <a:cxnSpLocks/>
          </p:cNvCxnSpPr>
          <p:nvPr/>
        </p:nvCxnSpPr>
        <p:spPr>
          <a:xfrm>
            <a:off x="2839639" y="2726690"/>
            <a:ext cx="3664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BC4A33B3-6411-3743-A0A3-E03958EEFE8A}"/>
              </a:ext>
            </a:extLst>
          </p:cNvPr>
          <p:cNvCxnSpPr>
            <a:cxnSpLocks/>
          </p:cNvCxnSpPr>
          <p:nvPr/>
        </p:nvCxnSpPr>
        <p:spPr>
          <a:xfrm>
            <a:off x="1778320" y="3449308"/>
            <a:ext cx="4726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13E500A7-5773-CBB3-B7F4-04EE1CA62A55}"/>
              </a:ext>
            </a:extLst>
          </p:cNvPr>
          <p:cNvCxnSpPr>
            <a:cxnSpLocks/>
          </p:cNvCxnSpPr>
          <p:nvPr/>
        </p:nvCxnSpPr>
        <p:spPr>
          <a:xfrm>
            <a:off x="6504239" y="263556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4BE179DD-589F-C7D6-B05A-340B82D605B6}"/>
              </a:ext>
            </a:extLst>
          </p:cNvPr>
          <p:cNvCxnSpPr>
            <a:cxnSpLocks/>
          </p:cNvCxnSpPr>
          <p:nvPr/>
        </p:nvCxnSpPr>
        <p:spPr>
          <a:xfrm>
            <a:off x="2839640" y="263556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0F712D40-C7BA-3619-B661-FFA8C8F213E0}"/>
              </a:ext>
            </a:extLst>
          </p:cNvPr>
          <p:cNvCxnSpPr>
            <a:cxnSpLocks/>
          </p:cNvCxnSpPr>
          <p:nvPr/>
        </p:nvCxnSpPr>
        <p:spPr>
          <a:xfrm>
            <a:off x="6504239" y="335818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3E052BE6-D505-299A-E8CA-BFC63F9FDDE0}"/>
              </a:ext>
            </a:extLst>
          </p:cNvPr>
          <p:cNvCxnSpPr>
            <a:cxnSpLocks/>
          </p:cNvCxnSpPr>
          <p:nvPr/>
        </p:nvCxnSpPr>
        <p:spPr>
          <a:xfrm>
            <a:off x="1778320" y="335818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F4098C17-18D3-86A9-A8EB-B3C764A3FECD}"/>
              </a:ext>
            </a:extLst>
          </p:cNvPr>
          <p:cNvSpPr txBox="1"/>
          <p:nvPr/>
        </p:nvSpPr>
        <p:spPr>
          <a:xfrm>
            <a:off x="3983389" y="2588191"/>
            <a:ext cx="1377300" cy="276999"/>
          </a:xfrm>
          <a:prstGeom prst="rect">
            <a:avLst/>
          </a:prstGeom>
          <a:solidFill>
            <a:schemeClr val="bg1"/>
          </a:solidFill>
        </p:spPr>
        <p:txBody>
          <a:bodyPr wrap="none" rtlCol="0">
            <a:spAutoFit/>
          </a:bodyPr>
          <a:lstStyle/>
          <a:p>
            <a:r>
              <a:rPr lang="en-US" altLang="zh-CN" sz="1200" dirty="0">
                <a:latin typeface="Montserrat" panose="00000500000000000000" pitchFamily="2" charset="0"/>
              </a:rPr>
              <a:t>UDP Datagram</a:t>
            </a:r>
            <a:endParaRPr lang="zh-CN" altLang="en-US" sz="1200" dirty="0">
              <a:latin typeface="Montserrat" panose="00000500000000000000" pitchFamily="2" charset="0"/>
            </a:endParaRPr>
          </a:p>
        </p:txBody>
      </p:sp>
      <p:sp>
        <p:nvSpPr>
          <p:cNvPr id="12" name="文本框 11">
            <a:extLst>
              <a:ext uri="{FF2B5EF4-FFF2-40B4-BE49-F238E27FC236}">
                <a16:creationId xmlns:a16="http://schemas.microsoft.com/office/drawing/2014/main" id="{23347C8B-B637-AD19-5688-C48540FDE49F}"/>
              </a:ext>
            </a:extLst>
          </p:cNvPr>
          <p:cNvSpPr txBox="1"/>
          <p:nvPr/>
        </p:nvSpPr>
        <p:spPr>
          <a:xfrm>
            <a:off x="3682300" y="3310809"/>
            <a:ext cx="918841" cy="276999"/>
          </a:xfrm>
          <a:prstGeom prst="rect">
            <a:avLst/>
          </a:prstGeom>
          <a:solidFill>
            <a:schemeClr val="bg1"/>
          </a:solidFill>
        </p:spPr>
        <p:txBody>
          <a:bodyPr wrap="none" rtlCol="0">
            <a:spAutoFit/>
          </a:bodyPr>
          <a:lstStyle/>
          <a:p>
            <a:r>
              <a:rPr lang="en-US" altLang="zh-CN" sz="1200" dirty="0">
                <a:latin typeface="Montserrat" panose="00000500000000000000" pitchFamily="2" charset="0"/>
              </a:rPr>
              <a:t>IP Packet</a:t>
            </a:r>
            <a:endParaRPr lang="zh-CN" altLang="en-US" sz="1200" dirty="0">
              <a:latin typeface="Montserrat" panose="00000500000000000000" pitchFamily="2" charset="0"/>
            </a:endParaRPr>
          </a:p>
        </p:txBody>
      </p:sp>
      <p:sp>
        <p:nvSpPr>
          <p:cNvPr id="24" name="AutoShape 70">
            <a:extLst>
              <a:ext uri="{FF2B5EF4-FFF2-40B4-BE49-F238E27FC236}">
                <a16:creationId xmlns:a16="http://schemas.microsoft.com/office/drawing/2014/main" id="{4B6980A1-FA9C-9027-2188-F22DACD061F1}"/>
              </a:ext>
            </a:extLst>
          </p:cNvPr>
          <p:cNvSpPr>
            <a:spLocks noChangeArrowheads="1"/>
          </p:cNvSpPr>
          <p:nvPr/>
        </p:nvSpPr>
        <p:spPr bwMode="auto">
          <a:xfrm>
            <a:off x="6084236" y="2554566"/>
            <a:ext cx="186542" cy="360000"/>
          </a:xfrm>
          <a:prstGeom prst="downArrow">
            <a:avLst>
              <a:gd name="adj1" fmla="val 50000"/>
              <a:gd name="adj2" fmla="val 68671"/>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cxnSp>
        <p:nvCxnSpPr>
          <p:cNvPr id="13" name="直接连接符 12">
            <a:extLst>
              <a:ext uri="{FF2B5EF4-FFF2-40B4-BE49-F238E27FC236}">
                <a16:creationId xmlns:a16="http://schemas.microsoft.com/office/drawing/2014/main" id="{37D5D8FC-E9B1-26D9-A650-60530862DA45}"/>
              </a:ext>
            </a:extLst>
          </p:cNvPr>
          <p:cNvCxnSpPr>
            <a:cxnSpLocks/>
          </p:cNvCxnSpPr>
          <p:nvPr/>
        </p:nvCxnSpPr>
        <p:spPr>
          <a:xfrm>
            <a:off x="3984239" y="2040038"/>
            <a:ext cx="25200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D983C53D-E8E3-E8D6-035B-F91F5FFD5621}"/>
              </a:ext>
            </a:extLst>
          </p:cNvPr>
          <p:cNvCxnSpPr>
            <a:cxnSpLocks/>
          </p:cNvCxnSpPr>
          <p:nvPr/>
        </p:nvCxnSpPr>
        <p:spPr>
          <a:xfrm>
            <a:off x="6504239" y="194891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9187EF6A-DC52-CE14-004D-20011CD4A06A}"/>
              </a:ext>
            </a:extLst>
          </p:cNvPr>
          <p:cNvCxnSpPr>
            <a:cxnSpLocks/>
          </p:cNvCxnSpPr>
          <p:nvPr/>
        </p:nvCxnSpPr>
        <p:spPr>
          <a:xfrm>
            <a:off x="3984239" y="194891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193CD06A-841D-982C-41FB-81095A06D896}"/>
              </a:ext>
            </a:extLst>
          </p:cNvPr>
          <p:cNvSpPr txBox="1"/>
          <p:nvPr/>
        </p:nvSpPr>
        <p:spPr>
          <a:xfrm>
            <a:off x="4811268" y="1901539"/>
            <a:ext cx="865943" cy="276999"/>
          </a:xfrm>
          <a:prstGeom prst="rect">
            <a:avLst/>
          </a:prstGeom>
          <a:solidFill>
            <a:schemeClr val="bg1"/>
          </a:solidFill>
        </p:spPr>
        <p:txBody>
          <a:bodyPr wrap="none" rtlCol="0">
            <a:spAutoFit/>
          </a:bodyPr>
          <a:lstStyle/>
          <a:p>
            <a:r>
              <a:rPr kumimoji="1" lang="en-US" altLang="zh-CN" sz="1200" dirty="0">
                <a:latin typeface="Montserrat" panose="00000500000000000000" pitchFamily="2" charset="0"/>
                <a:ea typeface="微软雅黑 Light" panose="020B0502040204020203" pitchFamily="34" charset="-122"/>
              </a:rPr>
              <a:t>Message</a:t>
            </a:r>
            <a:endParaRPr lang="zh-CN" altLang="en-US" sz="1200" dirty="0">
              <a:latin typeface="Montserrat" panose="00000500000000000000" pitchFamily="2" charset="0"/>
            </a:endParaRPr>
          </a:p>
        </p:txBody>
      </p:sp>
      <p:sp>
        <p:nvSpPr>
          <p:cNvPr id="18" name="AutoShape 66">
            <a:extLst>
              <a:ext uri="{FF2B5EF4-FFF2-40B4-BE49-F238E27FC236}">
                <a16:creationId xmlns:a16="http://schemas.microsoft.com/office/drawing/2014/main" id="{470F9A4F-AD34-343D-A71B-A79A9BB359DB}"/>
              </a:ext>
            </a:extLst>
          </p:cNvPr>
          <p:cNvSpPr>
            <a:spLocks noChangeArrowheads="1"/>
          </p:cNvSpPr>
          <p:nvPr/>
        </p:nvSpPr>
        <p:spPr bwMode="auto">
          <a:xfrm>
            <a:off x="6085416" y="1898054"/>
            <a:ext cx="185362" cy="360000"/>
          </a:xfrm>
          <a:prstGeom prst="downArrow">
            <a:avLst>
              <a:gd name="adj1" fmla="val 50000"/>
              <a:gd name="adj2" fmla="val 69108"/>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 name="标题 1">
            <a:extLst>
              <a:ext uri="{FF2B5EF4-FFF2-40B4-BE49-F238E27FC236}">
                <a16:creationId xmlns:a16="http://schemas.microsoft.com/office/drawing/2014/main" id="{7F260C56-5B01-C9B9-8E1B-9C86B8119C11}"/>
              </a:ext>
            </a:extLst>
          </p:cNvPr>
          <p:cNvSpPr>
            <a:spLocks noGrp="1"/>
          </p:cNvSpPr>
          <p:nvPr>
            <p:ph type="title"/>
          </p:nvPr>
        </p:nvSpPr>
        <p:spPr/>
        <p:txBody>
          <a:bodyPr/>
          <a:lstStyle/>
          <a:p>
            <a:r>
              <a:rPr lang="en-US" altLang="zh-CN" dirty="0"/>
              <a:t>UDP</a:t>
            </a:r>
            <a:endParaRPr lang="zh-CN" altLang="en-US" dirty="0"/>
          </a:p>
        </p:txBody>
      </p:sp>
    </p:spTree>
    <p:extLst>
      <p:ext uri="{BB962C8B-B14F-4D97-AF65-F5344CB8AC3E}">
        <p14:creationId xmlns:p14="http://schemas.microsoft.com/office/powerpoint/2010/main" val="1322634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559400" y="1159979"/>
            <a:ext cx="1844188" cy="1627483"/>
            <a:chOff x="1577330" y="1312384"/>
            <a:chExt cx="1844188" cy="1627483"/>
          </a:xfrm>
        </p:grpSpPr>
        <p:sp>
          <p:nvSpPr>
            <p:cNvPr id="2" name="Documents"/>
            <p:cNvSpPr>
              <a:spLocks noEditPoints="1" noChangeArrowheads="1"/>
            </p:cNvSpPr>
            <p:nvPr/>
          </p:nvSpPr>
          <p:spPr bwMode="auto">
            <a:xfrm rot="10800000">
              <a:off x="2842728" y="1312384"/>
              <a:ext cx="351223"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36" name="矩形 35"/>
            <p:cNvSpPr/>
            <p:nvPr/>
          </p:nvSpPr>
          <p:spPr>
            <a:xfrm>
              <a:off x="2675144" y="176641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endParaRPr lang="zh-CN" altLang="en-US" sz="1100" b="1" dirty="0">
                <a:solidFill>
                  <a:schemeClr val="tx1"/>
                </a:solidFill>
                <a:latin typeface="微软雅黑" pitchFamily="34" charset="-122"/>
                <a:ea typeface="微软雅黑" pitchFamily="34" charset="-122"/>
              </a:endParaRPr>
            </a:p>
          </p:txBody>
        </p:sp>
        <p:sp>
          <p:nvSpPr>
            <p:cNvPr id="37" name="矩形 36"/>
            <p:cNvSpPr/>
            <p:nvPr/>
          </p:nvSpPr>
          <p:spPr>
            <a:xfrm>
              <a:off x="2675145" y="2219896"/>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38" name="矩形 37"/>
            <p:cNvSpPr/>
            <p:nvPr/>
          </p:nvSpPr>
          <p:spPr>
            <a:xfrm>
              <a:off x="2125890" y="2219896"/>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r>
                <a:rPr lang="zh-CN" altLang="en-US" sz="900" b="1" dirty="0">
                  <a:solidFill>
                    <a:schemeClr val="tx1"/>
                  </a:solidFill>
                  <a:latin typeface="微软雅黑" pitchFamily="34" charset="-122"/>
                  <a:ea typeface="微软雅黑" pitchFamily="34" charset="-122"/>
                </a:rPr>
                <a:t>首部</a:t>
              </a:r>
            </a:p>
          </p:txBody>
        </p:sp>
        <p:sp>
          <p:nvSpPr>
            <p:cNvPr id="43" name="矩形 42"/>
            <p:cNvSpPr/>
            <p:nvPr/>
          </p:nvSpPr>
          <p:spPr>
            <a:xfrm>
              <a:off x="2125890" y="2677252"/>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62" name="矩形 61"/>
            <p:cNvSpPr/>
            <p:nvPr/>
          </p:nvSpPr>
          <p:spPr>
            <a:xfrm>
              <a:off x="1577330" y="2677252"/>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4" name="下箭头 3"/>
            <p:cNvSpPr/>
            <p:nvPr/>
          </p:nvSpPr>
          <p:spPr>
            <a:xfrm>
              <a:off x="2969387" y="160354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6" name="下箭头 65"/>
            <p:cNvSpPr/>
            <p:nvPr/>
          </p:nvSpPr>
          <p:spPr>
            <a:xfrm>
              <a:off x="2959412" y="2050572"/>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7" name="下箭头 66"/>
            <p:cNvSpPr/>
            <p:nvPr/>
          </p:nvSpPr>
          <p:spPr>
            <a:xfrm>
              <a:off x="2950986" y="2508724"/>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6" name="直接连接符 5"/>
            <p:cNvCxnSpPr/>
            <p:nvPr/>
          </p:nvCxnSpPr>
          <p:spPr>
            <a:xfrm>
              <a:off x="2694726"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a:off x="3421518" y="202903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3421518"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a:off x="2145471" y="2483672"/>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505656" y="1159978"/>
            <a:ext cx="1844189" cy="1627483"/>
            <a:chOff x="6052508" y="1312383"/>
            <a:chExt cx="1844189" cy="1627483"/>
          </a:xfrm>
        </p:grpSpPr>
        <p:sp>
          <p:nvSpPr>
            <p:cNvPr id="74" name="Documents"/>
            <p:cNvSpPr>
              <a:spLocks noEditPoints="1" noChangeArrowheads="1"/>
            </p:cNvSpPr>
            <p:nvPr/>
          </p:nvSpPr>
          <p:spPr bwMode="auto">
            <a:xfrm rot="10800000">
              <a:off x="7317907" y="1312383"/>
              <a:ext cx="351224" cy="264945"/>
            </a:xfrm>
            <a:custGeom>
              <a:avLst/>
              <a:gdLst>
                <a:gd name="T0" fmla="*/ 0 w 21600"/>
                <a:gd name="T1" fmla="*/ 2800 h 21600"/>
                <a:gd name="T2" fmla="*/ 3468 w 21600"/>
                <a:gd name="T3" fmla="*/ 0 h 21600"/>
                <a:gd name="T4" fmla="*/ 21653 w 21600"/>
                <a:gd name="T5" fmla="*/ 18828 h 21600"/>
                <a:gd name="T6" fmla="*/ 19954 w 21600"/>
                <a:gd name="T7" fmla="*/ 20214 h 21600"/>
                <a:gd name="T8" fmla="*/ 18256 w 21600"/>
                <a:gd name="T9" fmla="*/ 21628 h 21600"/>
                <a:gd name="T10" fmla="*/ 19954 w 21600"/>
                <a:gd name="T11" fmla="*/ 1428 h 21600"/>
                <a:gd name="T12" fmla="*/ 18256 w 21600"/>
                <a:gd name="T13" fmla="*/ 2800 h 21600"/>
                <a:gd name="T14" fmla="*/ 1645 w 21600"/>
                <a:gd name="T15" fmla="*/ 1428 h 21600"/>
                <a:gd name="T16" fmla="*/ 21600 w 21600"/>
                <a:gd name="T17" fmla="*/ 0 h 21600"/>
                <a:gd name="T18" fmla="*/ 10800 w 21600"/>
                <a:gd name="T19" fmla="*/ 0 h 21600"/>
                <a:gd name="T20" fmla="*/ 0 w 21600"/>
                <a:gd name="T21" fmla="*/ 10800 h 21600"/>
                <a:gd name="T22" fmla="*/ 21600 w 21600"/>
                <a:gd name="T23" fmla="*/ 10800 h 21600"/>
                <a:gd name="T24" fmla="*/ 1645 w 21600"/>
                <a:gd name="T25" fmla="*/ 4171 h 21600"/>
                <a:gd name="T26" fmla="*/ 16522 w 21600"/>
                <a:gd name="T27" fmla="*/ 17314 h 216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T24" t="T25" r="T26" b="T27"/>
              <a:pathLst>
                <a:path w="21600" h="21600" extrusionOk="0">
                  <a:moveTo>
                    <a:pt x="0" y="18014"/>
                  </a:moveTo>
                  <a:lnTo>
                    <a:pt x="0" y="2800"/>
                  </a:lnTo>
                  <a:lnTo>
                    <a:pt x="1645" y="2800"/>
                  </a:lnTo>
                  <a:lnTo>
                    <a:pt x="1645" y="1428"/>
                  </a:lnTo>
                  <a:lnTo>
                    <a:pt x="3468" y="1428"/>
                  </a:lnTo>
                  <a:lnTo>
                    <a:pt x="3468" y="0"/>
                  </a:lnTo>
                  <a:lnTo>
                    <a:pt x="21653" y="0"/>
                  </a:lnTo>
                  <a:lnTo>
                    <a:pt x="21653" y="18828"/>
                  </a:lnTo>
                  <a:lnTo>
                    <a:pt x="19954" y="18828"/>
                  </a:lnTo>
                  <a:lnTo>
                    <a:pt x="19954" y="20214"/>
                  </a:lnTo>
                  <a:lnTo>
                    <a:pt x="18256" y="20214"/>
                  </a:lnTo>
                  <a:lnTo>
                    <a:pt x="18256" y="21600"/>
                  </a:lnTo>
                  <a:lnTo>
                    <a:pt x="4434" y="21600"/>
                  </a:lnTo>
                  <a:lnTo>
                    <a:pt x="0" y="18014"/>
                  </a:lnTo>
                  <a:close/>
                </a:path>
                <a:path w="21600" h="21600" extrusionOk="0">
                  <a:moveTo>
                    <a:pt x="3486" y="1428"/>
                  </a:moveTo>
                  <a:lnTo>
                    <a:pt x="19954" y="1428"/>
                  </a:lnTo>
                  <a:lnTo>
                    <a:pt x="19954" y="20214"/>
                  </a:lnTo>
                  <a:lnTo>
                    <a:pt x="18256" y="20214"/>
                  </a:lnTo>
                  <a:lnTo>
                    <a:pt x="18256" y="2800"/>
                  </a:lnTo>
                  <a:lnTo>
                    <a:pt x="1645" y="2800"/>
                  </a:lnTo>
                  <a:lnTo>
                    <a:pt x="1645" y="1428"/>
                  </a:lnTo>
                  <a:lnTo>
                    <a:pt x="3486" y="1428"/>
                  </a:lnTo>
                  <a:close/>
                </a:path>
                <a:path w="21600" h="21600" extrusionOk="0">
                  <a:moveTo>
                    <a:pt x="0" y="18014"/>
                  </a:moveTo>
                  <a:lnTo>
                    <a:pt x="4434" y="18000"/>
                  </a:lnTo>
                  <a:lnTo>
                    <a:pt x="4434" y="21600"/>
                  </a:lnTo>
                  <a:lnTo>
                    <a:pt x="0" y="18014"/>
                  </a:lnTo>
                  <a:close/>
                </a:path>
              </a:pathLst>
            </a:custGeom>
            <a:solidFill>
              <a:srgbClr val="99FFCC"/>
            </a:solidFill>
            <a:ln w="9525">
              <a:solidFill>
                <a:srgbClr val="000000"/>
              </a:solidFill>
              <a:miter lim="800000"/>
              <a:headEnd/>
              <a:tailEnd/>
            </a:ln>
            <a:effectLst/>
          </p:spPr>
          <p:txBody>
            <a:bodyPr vert="horz" wrap="square" lIns="91440" tIns="45720" rIns="91440" bIns="45720" numCol="1" anchor="t" anchorCtr="0" compatLnSpc="1">
              <a:prstTxWarp prst="textNoShape">
                <a:avLst/>
              </a:prstTxWarp>
            </a:bodyPr>
            <a:lstStyle/>
            <a:p>
              <a:endParaRPr lang="zh-CN" altLang="en-US" sz="1600"/>
            </a:p>
          </p:txBody>
        </p:sp>
        <p:sp>
          <p:nvSpPr>
            <p:cNvPr id="75" name="矩形 74"/>
            <p:cNvSpPr/>
            <p:nvPr/>
          </p:nvSpPr>
          <p:spPr>
            <a:xfrm>
              <a:off x="7150323" y="1766414"/>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chemeClr val="tx1"/>
                  </a:solidFill>
                  <a:latin typeface="微软雅黑" pitchFamily="34" charset="-122"/>
                  <a:ea typeface="微软雅黑" pitchFamily="34" charset="-122"/>
                </a:rPr>
                <a:t>报文</a:t>
              </a:r>
            </a:p>
          </p:txBody>
        </p:sp>
        <p:sp>
          <p:nvSpPr>
            <p:cNvPr id="76" name="矩形 75"/>
            <p:cNvSpPr/>
            <p:nvPr/>
          </p:nvSpPr>
          <p:spPr>
            <a:xfrm>
              <a:off x="7150324" y="2219895"/>
              <a:ext cx="745752"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 </a:t>
              </a:r>
              <a:r>
                <a:rPr lang="zh-CN" altLang="en-US" sz="900" b="1" dirty="0">
                  <a:solidFill>
                    <a:schemeClr val="tx1"/>
                  </a:solidFill>
                  <a:latin typeface="微软雅黑" pitchFamily="34" charset="-122"/>
                  <a:ea typeface="微软雅黑" pitchFamily="34" charset="-122"/>
                </a:rPr>
                <a:t>数据</a:t>
              </a:r>
            </a:p>
          </p:txBody>
        </p:sp>
        <p:sp>
          <p:nvSpPr>
            <p:cNvPr id="77" name="矩形 76"/>
            <p:cNvSpPr/>
            <p:nvPr/>
          </p:nvSpPr>
          <p:spPr>
            <a:xfrm>
              <a:off x="6601069" y="2219895"/>
              <a:ext cx="548561" cy="262615"/>
            </a:xfrm>
            <a:prstGeom prst="rect">
              <a:avLst/>
            </a:prstGeom>
            <a:solidFill>
              <a:srgbClr val="FF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UDP</a:t>
              </a:r>
            </a:p>
            <a:p>
              <a:pPr algn="ctr"/>
              <a:r>
                <a:rPr lang="zh-CN" altLang="en-US" sz="900" b="1" dirty="0">
                  <a:solidFill>
                    <a:schemeClr val="tx1"/>
                  </a:solidFill>
                  <a:latin typeface="微软雅黑" pitchFamily="34" charset="-122"/>
                  <a:ea typeface="微软雅黑" pitchFamily="34" charset="-122"/>
                </a:rPr>
                <a:t>首部</a:t>
              </a:r>
            </a:p>
          </p:txBody>
        </p:sp>
        <p:sp>
          <p:nvSpPr>
            <p:cNvPr id="78" name="矩形 77"/>
            <p:cNvSpPr/>
            <p:nvPr/>
          </p:nvSpPr>
          <p:spPr>
            <a:xfrm>
              <a:off x="6601069" y="2677251"/>
              <a:ext cx="1295007" cy="262615"/>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 </a:t>
              </a:r>
              <a:r>
                <a:rPr lang="zh-CN" altLang="en-US" sz="900" b="1" dirty="0">
                  <a:solidFill>
                    <a:schemeClr val="tx1"/>
                  </a:solidFill>
                  <a:latin typeface="微软雅黑" pitchFamily="34" charset="-122"/>
                  <a:ea typeface="微软雅黑" pitchFamily="34" charset="-122"/>
                </a:rPr>
                <a:t>数据</a:t>
              </a:r>
            </a:p>
          </p:txBody>
        </p:sp>
        <p:sp>
          <p:nvSpPr>
            <p:cNvPr id="79" name="矩形 78"/>
            <p:cNvSpPr/>
            <p:nvPr/>
          </p:nvSpPr>
          <p:spPr>
            <a:xfrm>
              <a:off x="6052508" y="2677251"/>
              <a:ext cx="548561" cy="262615"/>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tx1"/>
                  </a:solidFill>
                  <a:latin typeface="微软雅黑" pitchFamily="34" charset="-122"/>
                  <a:ea typeface="微软雅黑" pitchFamily="34" charset="-122"/>
                </a:rPr>
                <a:t>IP</a:t>
              </a:r>
            </a:p>
            <a:p>
              <a:pPr algn="ctr"/>
              <a:r>
                <a:rPr lang="zh-CN" altLang="en-US" sz="900" b="1" dirty="0">
                  <a:solidFill>
                    <a:schemeClr val="tx1"/>
                  </a:solidFill>
                  <a:latin typeface="微软雅黑" pitchFamily="34" charset="-122"/>
                  <a:ea typeface="微软雅黑" pitchFamily="34" charset="-122"/>
                </a:rPr>
                <a:t>首部</a:t>
              </a:r>
            </a:p>
          </p:txBody>
        </p:sp>
        <p:sp>
          <p:nvSpPr>
            <p:cNvPr id="82" name="下箭头 81"/>
            <p:cNvSpPr/>
            <p:nvPr/>
          </p:nvSpPr>
          <p:spPr>
            <a:xfrm flipV="1">
              <a:off x="7444566" y="160354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3" name="下箭头 82"/>
            <p:cNvSpPr/>
            <p:nvPr/>
          </p:nvSpPr>
          <p:spPr>
            <a:xfrm flipV="1">
              <a:off x="7434591" y="2050571"/>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4" name="下箭头 83"/>
            <p:cNvSpPr/>
            <p:nvPr/>
          </p:nvSpPr>
          <p:spPr>
            <a:xfrm flipV="1">
              <a:off x="7426167" y="2508723"/>
              <a:ext cx="110318" cy="151849"/>
            </a:xfrm>
            <a:prstGeom prst="downArrow">
              <a:avLst/>
            </a:prstGeom>
            <a:solidFill>
              <a:srgbClr val="CC00CC"/>
            </a:solidFill>
            <a:ln>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86" name="直接连接符 85"/>
            <p:cNvCxnSpPr/>
            <p:nvPr/>
          </p:nvCxnSpPr>
          <p:spPr>
            <a:xfrm>
              <a:off x="7169905"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7896697" y="2029029"/>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7896697"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6620650" y="2483670"/>
              <a:ext cx="0" cy="190866"/>
            </a:xfrm>
            <a:prstGeom prst="line">
              <a:avLst/>
            </a:prstGeom>
            <a:ln w="12700">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graphicFrame>
        <p:nvGraphicFramePr>
          <p:cNvPr id="46" name="Object 4"/>
          <p:cNvGraphicFramePr>
            <a:graphicFrameLocks noChangeAspect="1"/>
          </p:cNvGraphicFramePr>
          <p:nvPr>
            <p:extLst>
              <p:ext uri="{D42A27DB-BD31-4B8C-83A1-F6EECF244321}">
                <p14:modId xmlns:p14="http://schemas.microsoft.com/office/powerpoint/2010/main" val="515026737"/>
              </p:ext>
            </p:extLst>
          </p:nvPr>
        </p:nvGraphicFramePr>
        <p:xfrm>
          <a:off x="3853609" y="2330105"/>
          <a:ext cx="1183169" cy="707961"/>
        </p:xfrm>
        <a:graphic>
          <a:graphicData uri="http://schemas.openxmlformats.org/presentationml/2006/ole">
            <mc:AlternateContent xmlns:mc="http://schemas.openxmlformats.org/markup-compatibility/2006">
              <mc:Choice xmlns:v="urn:schemas-microsoft-com:vml" Requires="v">
                <p:oleObj name="Visio" r:id="rId2" imgW="1689885" imgH="964337" progId="">
                  <p:embed/>
                </p:oleObj>
              </mc:Choice>
              <mc:Fallback>
                <p:oleObj name="Visio" r:id="rId2" imgW="1689885" imgH="964337" progId="">
                  <p:embed/>
                  <p:pic>
                    <p:nvPicPr>
                      <p:cNvPr id="0" name="Picture 4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3609" y="2330105"/>
                        <a:ext cx="1183169" cy="707961"/>
                      </a:xfrm>
                      <a:prstGeom prst="rect">
                        <a:avLst/>
                      </a:prstGeom>
                      <a:noFill/>
                      <a:effectLst>
                        <a:outerShdw dist="25400" dir="5400000" algn="ctr" rotWithShape="0">
                          <a:schemeClr val="bg2"/>
                        </a:outerShdw>
                      </a:effectLst>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右箭头 7"/>
          <p:cNvSpPr/>
          <p:nvPr/>
        </p:nvSpPr>
        <p:spPr>
          <a:xfrm>
            <a:off x="3402967"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右箭头 49"/>
          <p:cNvSpPr/>
          <p:nvPr/>
        </p:nvSpPr>
        <p:spPr>
          <a:xfrm>
            <a:off x="4965994" y="2568702"/>
            <a:ext cx="548562" cy="167059"/>
          </a:xfrm>
          <a:prstGeom prst="rightArrow">
            <a:avLst/>
          </a:prstGeom>
          <a:solidFill>
            <a:srgbClr val="CC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65799" y="3087650"/>
            <a:ext cx="7759635" cy="1134734"/>
          </a:xfrm>
          <a:prstGeom prst="rect">
            <a:avLst/>
          </a:prstGeom>
        </p:spPr>
        <p:txBody>
          <a:bodyPr wrap="square">
            <a:spAutoFit/>
          </a:bodyPr>
          <a:lstStyle/>
          <a:p>
            <a:pPr>
              <a:lnSpc>
                <a:spcPts val="2800"/>
              </a:lnSpc>
              <a:buClr>
                <a:srgbClr val="0070C0"/>
              </a:buClr>
            </a:pPr>
            <a:r>
              <a:rPr lang="zh-CN" altLang="en-US" b="1" dirty="0">
                <a:latin typeface="微软雅黑" pitchFamily="34" charset="-122"/>
                <a:ea typeface="微软雅黑" pitchFamily="34" charset="-122"/>
              </a:rPr>
              <a:t>应用程序必须选择</a:t>
            </a:r>
            <a:r>
              <a:rPr lang="zh-CN" altLang="en-US" b="1" dirty="0">
                <a:solidFill>
                  <a:srgbClr val="C00000"/>
                </a:solidFill>
                <a:latin typeface="微软雅黑" pitchFamily="34" charset="-122"/>
                <a:ea typeface="微软雅黑" pitchFamily="34" charset="-122"/>
              </a:rPr>
              <a:t>合适大小</a:t>
            </a:r>
            <a:r>
              <a:rPr lang="zh-CN" altLang="en-US" b="1" dirty="0">
                <a:latin typeface="微软雅黑" pitchFamily="34" charset="-122"/>
                <a:ea typeface="微软雅黑" pitchFamily="34" charset="-122"/>
              </a:rPr>
              <a:t>的报文。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若报文太长</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层在传送时可能要进行分片，降低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a:p>
            <a:pPr marL="268288" indent="-252413">
              <a:lnSpc>
                <a:spcPts val="2800"/>
              </a:lnSpc>
              <a:buClr>
                <a:srgbClr val="7030A0"/>
              </a:buClr>
              <a:buFont typeface="+mj-lt"/>
              <a:buAutoNum type="arabicPeriod"/>
            </a:pPr>
            <a:r>
              <a:rPr lang="zh-CN" altLang="en-US" b="1" dirty="0">
                <a:solidFill>
                  <a:srgbClr val="0000FF"/>
                </a:solidFill>
                <a:latin typeface="微软雅黑" pitchFamily="34" charset="-122"/>
                <a:ea typeface="微软雅黑" pitchFamily="34" charset="-122"/>
              </a:rPr>
              <a:t>若报文太短</a:t>
            </a:r>
            <a:r>
              <a:rPr lang="zh-CN" altLang="en-US" b="1" dirty="0">
                <a:latin typeface="微软雅黑" pitchFamily="34" charset="-122"/>
                <a:ea typeface="微软雅黑" pitchFamily="34" charset="-122"/>
              </a:rPr>
              <a:t>，会使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数据报的首部的相对长度太大，降低 </a:t>
            </a:r>
            <a:r>
              <a:rPr lang="en-US" altLang="zh-CN" b="1" dirty="0">
                <a:latin typeface="微软雅黑" pitchFamily="34" charset="-122"/>
                <a:ea typeface="微软雅黑" pitchFamily="34" charset="-122"/>
              </a:rPr>
              <a:t>IP </a:t>
            </a:r>
            <a:r>
              <a:rPr lang="zh-CN" altLang="en-US" b="1" dirty="0">
                <a:latin typeface="微软雅黑" pitchFamily="34" charset="-122"/>
                <a:ea typeface="微软雅黑" pitchFamily="34" charset="-122"/>
              </a:rPr>
              <a:t>层的效率。</a:t>
            </a:r>
          </a:p>
        </p:txBody>
      </p:sp>
      <p:sp>
        <p:nvSpPr>
          <p:cNvPr id="7" name="内容占位符 6">
            <a:extLst>
              <a:ext uri="{FF2B5EF4-FFF2-40B4-BE49-F238E27FC236}">
                <a16:creationId xmlns:a16="http://schemas.microsoft.com/office/drawing/2014/main" id="{1B26A735-2BB0-607A-AC78-9EA1B17E05C9}"/>
              </a:ext>
            </a:extLst>
          </p:cNvPr>
          <p:cNvSpPr>
            <a:spLocks noGrp="1"/>
          </p:cNvSpPr>
          <p:nvPr>
            <p:ph sz="quarter" idx="11"/>
          </p:nvPr>
        </p:nvSpPr>
        <p:spPr/>
        <p:txBody>
          <a:bodyPr/>
          <a:lstStyle/>
          <a:p>
            <a:endParaRPr lang="zh-CN" altLang="en-US"/>
          </a:p>
        </p:txBody>
      </p:sp>
      <p:sp>
        <p:nvSpPr>
          <p:cNvPr id="5" name="标题 4">
            <a:extLst>
              <a:ext uri="{FF2B5EF4-FFF2-40B4-BE49-F238E27FC236}">
                <a16:creationId xmlns:a16="http://schemas.microsoft.com/office/drawing/2014/main" id="{D586A711-160A-6B7C-40C8-3D8D40E63E69}"/>
              </a:ext>
            </a:extLst>
          </p:cNvPr>
          <p:cNvSpPr>
            <a:spLocks noGrp="1"/>
          </p:cNvSpPr>
          <p:nvPr>
            <p:ph type="title"/>
          </p:nvPr>
        </p:nvSpPr>
        <p:spPr>
          <a:xfrm>
            <a:off x="2808000" y="144000"/>
            <a:ext cx="3528000" cy="338554"/>
          </a:xfrm>
        </p:spPr>
        <p:txBody>
          <a:bodyPr/>
          <a:lstStyle/>
          <a:p>
            <a:r>
              <a:rPr lang="en-US" altLang="zh-CN" dirty="0"/>
              <a:t>UDP </a:t>
            </a:r>
            <a:r>
              <a:rPr lang="zh-CN" altLang="en-US" dirty="0"/>
              <a:t>是面向报文的</a:t>
            </a:r>
          </a:p>
        </p:txBody>
      </p:sp>
    </p:spTree>
    <p:extLst>
      <p:ext uri="{BB962C8B-B14F-4D97-AF65-F5344CB8AC3E}">
        <p14:creationId xmlns:p14="http://schemas.microsoft.com/office/powerpoint/2010/main" val="3773091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794348" y="1128976"/>
            <a:ext cx="7538010" cy="2579179"/>
            <a:chOff x="794348" y="1128976"/>
            <a:chExt cx="7538010" cy="2579179"/>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7" name="直接箭头连接符 115"/>
            <p:cNvCxnSpPr>
              <a:cxnSpLocks noChangeShapeType="1"/>
            </p:cNvCxnSpPr>
            <p:nvPr/>
          </p:nvCxnSpPr>
          <p:spPr bwMode="auto">
            <a:xfrm flipH="1">
              <a:off x="2332542" y="2334367"/>
              <a:ext cx="10139" cy="422729"/>
            </a:xfrm>
            <a:prstGeom prst="straightConnector1">
              <a:avLst/>
            </a:prstGeom>
            <a:noFill/>
            <a:ln w="12700" algn="ctr">
              <a:solidFill>
                <a:schemeClr val="tx1"/>
              </a:solidFill>
              <a:round/>
              <a:headEnd/>
              <a:tailEnd type="triangle" w="sm" len="lg"/>
            </a:ln>
          </p:spPr>
        </p:cxn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59" name="下箭头 140"/>
            <p:cNvSpPr>
              <a:spLocks noChangeArrowheads="1"/>
            </p:cNvSpPr>
            <p:nvPr/>
          </p:nvSpPr>
          <p:spPr bwMode="auto">
            <a:xfrm>
              <a:off x="2358613" y="2384911"/>
              <a:ext cx="65178" cy="139378"/>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0" name="下箭头 141"/>
            <p:cNvSpPr>
              <a:spLocks noChangeArrowheads="1"/>
            </p:cNvSpPr>
            <p:nvPr/>
          </p:nvSpPr>
          <p:spPr bwMode="auto">
            <a:xfrm rot="8280000" flipH="1">
              <a:off x="6461911" y="2377253"/>
              <a:ext cx="66626" cy="139379"/>
            </a:xfrm>
            <a:prstGeom prst="downArrow">
              <a:avLst>
                <a:gd name="adj1" fmla="val 50000"/>
                <a:gd name="adj2" fmla="val 49457"/>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6" name="Rectangle 5"/>
            <p:cNvSpPr>
              <a:spLocks noChangeArrowheads="1"/>
            </p:cNvSpPr>
            <p:nvPr/>
          </p:nvSpPr>
          <p:spPr bwMode="auto">
            <a:xfrm rot="10800000" flipV="1">
              <a:off x="3936772" y="2984410"/>
              <a:ext cx="2268637" cy="294470"/>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b</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1"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2" name="下箭头 140"/>
            <p:cNvSpPr>
              <a:spLocks noChangeArrowheads="1"/>
            </p:cNvSpPr>
            <p:nvPr/>
          </p:nvSpPr>
          <p:spPr bwMode="auto">
            <a:xfrm rot="16200000">
              <a:off x="5041352" y="3215012"/>
              <a:ext cx="68924" cy="131803"/>
            </a:xfrm>
            <a:prstGeom prst="downArrow">
              <a:avLst>
                <a:gd name="adj1" fmla="val 50000"/>
                <a:gd name="adj2" fmla="val 50555"/>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3"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gr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多对一的通信</a:t>
            </a:r>
          </a:p>
        </p:txBody>
      </p:sp>
      <p:sp>
        <p:nvSpPr>
          <p:cNvPr id="4" name="内容占位符 3">
            <a:extLst>
              <a:ext uri="{FF2B5EF4-FFF2-40B4-BE49-F238E27FC236}">
                <a16:creationId xmlns:a16="http://schemas.microsoft.com/office/drawing/2014/main" id="{7D594215-D59E-A025-D7B5-69094B579BE2}"/>
              </a:ext>
            </a:extLst>
          </p:cNvPr>
          <p:cNvSpPr>
            <a:spLocks noGrp="1"/>
          </p:cNvSpPr>
          <p:nvPr>
            <p:ph sz="quarter" idx="11"/>
          </p:nvPr>
        </p:nvSpPr>
        <p:spPr/>
        <p:txBody>
          <a:bodyPr/>
          <a:lstStyle/>
          <a:p>
            <a:endParaRPr lang="zh-CN" altLang="en-US"/>
          </a:p>
        </p:txBody>
      </p:sp>
      <p:sp>
        <p:nvSpPr>
          <p:cNvPr id="3" name="标题 2">
            <a:extLst>
              <a:ext uri="{FF2B5EF4-FFF2-40B4-BE49-F238E27FC236}">
                <a16:creationId xmlns:a16="http://schemas.microsoft.com/office/drawing/2014/main" id="{82B5144F-9ECD-2165-DE13-8427F0A7BCF9}"/>
              </a:ext>
            </a:extLst>
          </p:cNvPr>
          <p:cNvSpPr>
            <a:spLocks noGrp="1"/>
          </p:cNvSpPr>
          <p:nvPr>
            <p:ph type="title"/>
          </p:nvPr>
        </p:nvSpPr>
        <p:spPr>
          <a:xfrm>
            <a:off x="2808000" y="144000"/>
            <a:ext cx="3528000" cy="338554"/>
          </a:xfrm>
        </p:spPr>
        <p:txBody>
          <a:bodyPr/>
          <a:lstStyle/>
          <a:p>
            <a:r>
              <a:rPr lang="en-US" altLang="zh-CN" dirty="0"/>
              <a:t>UDP </a:t>
            </a:r>
            <a:r>
              <a:rPr lang="zh-CN" altLang="en-US" dirty="0"/>
              <a:t>通信和端口号的关系</a:t>
            </a:r>
          </a:p>
        </p:txBody>
      </p:sp>
    </p:spTree>
    <p:extLst>
      <p:ext uri="{BB962C8B-B14F-4D97-AF65-F5344CB8AC3E}">
        <p14:creationId xmlns:p14="http://schemas.microsoft.com/office/powerpoint/2010/main" val="18118811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EAFCD-8520-0526-D82A-2DDC22E6DEF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A45EAC9-013E-F48D-C2FA-ADFAECB494CA}"/>
              </a:ext>
            </a:extLst>
          </p:cNvPr>
          <p:cNvSpPr>
            <a:spLocks noGrp="1"/>
          </p:cNvSpPr>
          <p:nvPr>
            <p:ph type="title"/>
          </p:nvPr>
        </p:nvSpPr>
        <p:spPr>
          <a:xfrm>
            <a:off x="2808000" y="144000"/>
            <a:ext cx="3528000" cy="338554"/>
          </a:xfrm>
        </p:spPr>
        <p:txBody>
          <a:bodyPr/>
          <a:lstStyle/>
          <a:p>
            <a:r>
              <a:rPr lang="zh-CN" altLang="en-US" dirty="0"/>
              <a:t>多对一</a:t>
            </a:r>
          </a:p>
        </p:txBody>
      </p:sp>
      <p:grpSp>
        <p:nvGrpSpPr>
          <p:cNvPr id="29" name="组合 28">
            <a:extLst>
              <a:ext uri="{FF2B5EF4-FFF2-40B4-BE49-F238E27FC236}">
                <a16:creationId xmlns:a16="http://schemas.microsoft.com/office/drawing/2014/main" id="{D434A184-88A3-DE24-481F-853F175E1C0D}"/>
              </a:ext>
            </a:extLst>
          </p:cNvPr>
          <p:cNvGrpSpPr/>
          <p:nvPr/>
        </p:nvGrpSpPr>
        <p:grpSpPr>
          <a:xfrm>
            <a:off x="2368256" y="2426213"/>
            <a:ext cx="288000" cy="360000"/>
            <a:chOff x="6541210" y="2426213"/>
            <a:chExt cx="288000" cy="360000"/>
          </a:xfrm>
        </p:grpSpPr>
        <p:sp>
          <p:nvSpPr>
            <p:cNvPr id="30" name="矩形 29">
              <a:extLst>
                <a:ext uri="{FF2B5EF4-FFF2-40B4-BE49-F238E27FC236}">
                  <a16:creationId xmlns:a16="http://schemas.microsoft.com/office/drawing/2014/main" id="{221F2CA8-04CF-A977-4145-E9C62DDD2217}"/>
                </a:ext>
              </a:extLst>
            </p:cNvPr>
            <p:cNvSpPr/>
            <p:nvPr/>
          </p:nvSpPr>
          <p:spPr>
            <a:xfrm>
              <a:off x="6541210"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33" name="矩形 32">
              <a:extLst>
                <a:ext uri="{FF2B5EF4-FFF2-40B4-BE49-F238E27FC236}">
                  <a16:creationId xmlns:a16="http://schemas.microsoft.com/office/drawing/2014/main" id="{1A231CDE-E3BE-6BAD-68B3-EFFB995A1F51}"/>
                </a:ext>
              </a:extLst>
            </p:cNvPr>
            <p:cNvSpPr/>
            <p:nvPr/>
          </p:nvSpPr>
          <p:spPr>
            <a:xfrm>
              <a:off x="6541210"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34" name="矩形 33">
              <a:extLst>
                <a:ext uri="{FF2B5EF4-FFF2-40B4-BE49-F238E27FC236}">
                  <a16:creationId xmlns:a16="http://schemas.microsoft.com/office/drawing/2014/main" id="{5905FCAC-D63C-80B4-DB30-FDE3E7F91C03}"/>
                </a:ext>
              </a:extLst>
            </p:cNvPr>
            <p:cNvSpPr/>
            <p:nvPr/>
          </p:nvSpPr>
          <p:spPr>
            <a:xfrm>
              <a:off x="6541210"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35" name="矩形 34">
              <a:extLst>
                <a:ext uri="{FF2B5EF4-FFF2-40B4-BE49-F238E27FC236}">
                  <a16:creationId xmlns:a16="http://schemas.microsoft.com/office/drawing/2014/main" id="{96E6B2DC-8967-3707-D319-B03BAAF60320}"/>
                </a:ext>
              </a:extLst>
            </p:cNvPr>
            <p:cNvSpPr/>
            <p:nvPr/>
          </p:nvSpPr>
          <p:spPr>
            <a:xfrm>
              <a:off x="6541210" y="24838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46" name="矩形 45">
              <a:extLst>
                <a:ext uri="{FF2B5EF4-FFF2-40B4-BE49-F238E27FC236}">
                  <a16:creationId xmlns:a16="http://schemas.microsoft.com/office/drawing/2014/main" id="{79B433DD-2BA3-AF15-930F-EBCF2D0F34F9}"/>
                </a:ext>
              </a:extLst>
            </p:cNvPr>
            <p:cNvSpPr/>
            <p:nvPr/>
          </p:nvSpPr>
          <p:spPr>
            <a:xfrm>
              <a:off x="6541210"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48" name="矩形 47">
              <a:extLst>
                <a:ext uri="{FF2B5EF4-FFF2-40B4-BE49-F238E27FC236}">
                  <a16:creationId xmlns:a16="http://schemas.microsoft.com/office/drawing/2014/main" id="{5CD92B2A-838D-7F09-A6DA-BE0B01BA5F00}"/>
                </a:ext>
              </a:extLst>
            </p:cNvPr>
            <p:cNvSpPr/>
            <p:nvPr/>
          </p:nvSpPr>
          <p:spPr>
            <a:xfrm>
              <a:off x="6541210"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66" name="文本框 65">
            <a:extLst>
              <a:ext uri="{FF2B5EF4-FFF2-40B4-BE49-F238E27FC236}">
                <a16:creationId xmlns:a16="http://schemas.microsoft.com/office/drawing/2014/main" id="{E8DE94FC-230B-5CF8-1FB7-DB31352A4382}"/>
              </a:ext>
            </a:extLst>
          </p:cNvPr>
          <p:cNvSpPr txBox="1"/>
          <p:nvPr/>
        </p:nvSpPr>
        <p:spPr>
          <a:xfrm>
            <a:off x="2362782" y="2792707"/>
            <a:ext cx="288862" cy="276999"/>
          </a:xfrm>
          <a:prstGeom prst="rect">
            <a:avLst/>
          </a:prstGeom>
          <a:noFill/>
        </p:spPr>
        <p:txBody>
          <a:bodyPr wrap="none" rtlCol="0">
            <a:spAutoFit/>
          </a:bodyPr>
          <a:lstStyle/>
          <a:p>
            <a:pPr algn="l"/>
            <a:r>
              <a:rPr lang="en-US" altLang="zh-CN" sz="1200" dirty="0">
                <a:solidFill>
                  <a:srgbClr val="C00000"/>
                </a:solidFill>
                <a:latin typeface="Montserrat" panose="00000500000000000000" pitchFamily="2" charset="0"/>
                <a:ea typeface="微软雅黑" panose="020B0503020204020204" pitchFamily="34" charset="-122"/>
                <a:cs typeface="Courier New" panose="02070309020205020404" pitchFamily="49" charset="0"/>
              </a:rPr>
              <a:t>b</a:t>
            </a:r>
            <a:endParaRPr lang="zh-CN" altLang="en-US" sz="1200" dirty="0">
              <a:solidFill>
                <a:srgbClr val="C00000"/>
              </a:solidFill>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67" name="组合 66">
            <a:extLst>
              <a:ext uri="{FF2B5EF4-FFF2-40B4-BE49-F238E27FC236}">
                <a16:creationId xmlns:a16="http://schemas.microsoft.com/office/drawing/2014/main" id="{A69A3A9D-05BB-7EB0-4E6B-1BD742A373B0}"/>
              </a:ext>
            </a:extLst>
          </p:cNvPr>
          <p:cNvGrpSpPr/>
          <p:nvPr/>
        </p:nvGrpSpPr>
        <p:grpSpPr>
          <a:xfrm>
            <a:off x="2944256" y="2426213"/>
            <a:ext cx="288000" cy="360000"/>
            <a:chOff x="3158808" y="2426213"/>
            <a:chExt cx="288000" cy="360000"/>
          </a:xfrm>
        </p:grpSpPr>
        <p:sp>
          <p:nvSpPr>
            <p:cNvPr id="69" name="矩形 68">
              <a:extLst>
                <a:ext uri="{FF2B5EF4-FFF2-40B4-BE49-F238E27FC236}">
                  <a16:creationId xmlns:a16="http://schemas.microsoft.com/office/drawing/2014/main" id="{777141F5-1D7E-035E-DB5D-9B7D38D9CDC6}"/>
                </a:ext>
              </a:extLst>
            </p:cNvPr>
            <p:cNvSpPr/>
            <p:nvPr/>
          </p:nvSpPr>
          <p:spPr>
            <a:xfrm>
              <a:off x="3158808"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78" name="矩形 77">
              <a:extLst>
                <a:ext uri="{FF2B5EF4-FFF2-40B4-BE49-F238E27FC236}">
                  <a16:creationId xmlns:a16="http://schemas.microsoft.com/office/drawing/2014/main" id="{FF7F521E-2B1F-A890-67D1-4848A200197B}"/>
                </a:ext>
              </a:extLst>
            </p:cNvPr>
            <p:cNvSpPr/>
            <p:nvPr/>
          </p:nvSpPr>
          <p:spPr>
            <a:xfrm>
              <a:off x="3158808"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79" name="矩形 78">
              <a:extLst>
                <a:ext uri="{FF2B5EF4-FFF2-40B4-BE49-F238E27FC236}">
                  <a16:creationId xmlns:a16="http://schemas.microsoft.com/office/drawing/2014/main" id="{4184581D-AD64-6DB4-9723-CF3C82E5F717}"/>
                </a:ext>
              </a:extLst>
            </p:cNvPr>
            <p:cNvSpPr/>
            <p:nvPr/>
          </p:nvSpPr>
          <p:spPr>
            <a:xfrm>
              <a:off x="3158808"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80" name="矩形 79">
              <a:extLst>
                <a:ext uri="{FF2B5EF4-FFF2-40B4-BE49-F238E27FC236}">
                  <a16:creationId xmlns:a16="http://schemas.microsoft.com/office/drawing/2014/main" id="{090A65FE-171E-D3F7-467C-6EFBBEB5650B}"/>
                </a:ext>
              </a:extLst>
            </p:cNvPr>
            <p:cNvSpPr/>
            <p:nvPr/>
          </p:nvSpPr>
          <p:spPr>
            <a:xfrm>
              <a:off x="3158808" y="24838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81" name="矩形 80">
              <a:extLst>
                <a:ext uri="{FF2B5EF4-FFF2-40B4-BE49-F238E27FC236}">
                  <a16:creationId xmlns:a16="http://schemas.microsoft.com/office/drawing/2014/main" id="{3DE508FC-4BC0-4E28-B8D8-B69055C3F1C1}"/>
                </a:ext>
              </a:extLst>
            </p:cNvPr>
            <p:cNvSpPr/>
            <p:nvPr/>
          </p:nvSpPr>
          <p:spPr>
            <a:xfrm>
              <a:off x="3158808"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82" name="矩形 81">
              <a:extLst>
                <a:ext uri="{FF2B5EF4-FFF2-40B4-BE49-F238E27FC236}">
                  <a16:creationId xmlns:a16="http://schemas.microsoft.com/office/drawing/2014/main" id="{3B242EAE-4726-2BBD-87F9-C8B90698E027}"/>
                </a:ext>
              </a:extLst>
            </p:cNvPr>
            <p:cNvSpPr/>
            <p:nvPr/>
          </p:nvSpPr>
          <p:spPr>
            <a:xfrm>
              <a:off x="3158808"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83" name="文本框 82">
            <a:extLst>
              <a:ext uri="{FF2B5EF4-FFF2-40B4-BE49-F238E27FC236}">
                <a16:creationId xmlns:a16="http://schemas.microsoft.com/office/drawing/2014/main" id="{FE7ADC70-B56A-2F25-BBCC-B90EC268A191}"/>
              </a:ext>
            </a:extLst>
          </p:cNvPr>
          <p:cNvSpPr txBox="1"/>
          <p:nvPr/>
        </p:nvSpPr>
        <p:spPr>
          <a:xfrm>
            <a:off x="2949436" y="2792707"/>
            <a:ext cx="277640"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c</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84" name="组合 83">
            <a:extLst>
              <a:ext uri="{FF2B5EF4-FFF2-40B4-BE49-F238E27FC236}">
                <a16:creationId xmlns:a16="http://schemas.microsoft.com/office/drawing/2014/main" id="{BABD68D3-187A-9850-233E-78B4145A8EBD}"/>
              </a:ext>
            </a:extLst>
          </p:cNvPr>
          <p:cNvGrpSpPr/>
          <p:nvPr/>
        </p:nvGrpSpPr>
        <p:grpSpPr>
          <a:xfrm>
            <a:off x="1782170" y="2426213"/>
            <a:ext cx="288000" cy="360000"/>
            <a:chOff x="1907273" y="2426213"/>
            <a:chExt cx="288000" cy="360000"/>
          </a:xfrm>
        </p:grpSpPr>
        <p:sp>
          <p:nvSpPr>
            <p:cNvPr id="98" name="矩形 97">
              <a:extLst>
                <a:ext uri="{FF2B5EF4-FFF2-40B4-BE49-F238E27FC236}">
                  <a16:creationId xmlns:a16="http://schemas.microsoft.com/office/drawing/2014/main" id="{421F675B-E1D8-5025-65B2-0CD39024B98B}"/>
                </a:ext>
              </a:extLst>
            </p:cNvPr>
            <p:cNvSpPr/>
            <p:nvPr/>
          </p:nvSpPr>
          <p:spPr>
            <a:xfrm>
              <a:off x="1907273"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0" name="矩形 99">
              <a:extLst>
                <a:ext uri="{FF2B5EF4-FFF2-40B4-BE49-F238E27FC236}">
                  <a16:creationId xmlns:a16="http://schemas.microsoft.com/office/drawing/2014/main" id="{A75C1FDB-7FEC-7181-959A-7102942A6E8F}"/>
                </a:ext>
              </a:extLst>
            </p:cNvPr>
            <p:cNvSpPr/>
            <p:nvPr/>
          </p:nvSpPr>
          <p:spPr>
            <a:xfrm>
              <a:off x="1907273"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2" name="矩形 101">
              <a:extLst>
                <a:ext uri="{FF2B5EF4-FFF2-40B4-BE49-F238E27FC236}">
                  <a16:creationId xmlns:a16="http://schemas.microsoft.com/office/drawing/2014/main" id="{D4CC2978-BEE3-1962-EB6B-32213694BD3F}"/>
                </a:ext>
              </a:extLst>
            </p:cNvPr>
            <p:cNvSpPr/>
            <p:nvPr/>
          </p:nvSpPr>
          <p:spPr>
            <a:xfrm>
              <a:off x="1907273"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3" name="矩形 102">
              <a:extLst>
                <a:ext uri="{FF2B5EF4-FFF2-40B4-BE49-F238E27FC236}">
                  <a16:creationId xmlns:a16="http://schemas.microsoft.com/office/drawing/2014/main" id="{3B6792C0-C955-380C-C9B9-9F28190AD75E}"/>
                </a:ext>
              </a:extLst>
            </p:cNvPr>
            <p:cNvSpPr/>
            <p:nvPr/>
          </p:nvSpPr>
          <p:spPr>
            <a:xfrm>
              <a:off x="1907273" y="24838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4" name="矩形 103">
              <a:extLst>
                <a:ext uri="{FF2B5EF4-FFF2-40B4-BE49-F238E27FC236}">
                  <a16:creationId xmlns:a16="http://schemas.microsoft.com/office/drawing/2014/main" id="{5AD4E0F4-B4BC-2CB6-91D8-B54E831A31B3}"/>
                </a:ext>
              </a:extLst>
            </p:cNvPr>
            <p:cNvSpPr/>
            <p:nvPr/>
          </p:nvSpPr>
          <p:spPr>
            <a:xfrm>
              <a:off x="1907273"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5" name="矩形 104">
              <a:extLst>
                <a:ext uri="{FF2B5EF4-FFF2-40B4-BE49-F238E27FC236}">
                  <a16:creationId xmlns:a16="http://schemas.microsoft.com/office/drawing/2014/main" id="{8B07C799-9643-0552-5F28-A4727CC57FFE}"/>
                </a:ext>
              </a:extLst>
            </p:cNvPr>
            <p:cNvSpPr/>
            <p:nvPr/>
          </p:nvSpPr>
          <p:spPr>
            <a:xfrm>
              <a:off x="1907273"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111" name="文本框 110">
            <a:extLst>
              <a:ext uri="{FF2B5EF4-FFF2-40B4-BE49-F238E27FC236}">
                <a16:creationId xmlns:a16="http://schemas.microsoft.com/office/drawing/2014/main" id="{7932D236-F8C9-F4AD-81A1-A9B52617A93B}"/>
              </a:ext>
            </a:extLst>
          </p:cNvPr>
          <p:cNvSpPr txBox="1"/>
          <p:nvPr/>
        </p:nvSpPr>
        <p:spPr>
          <a:xfrm>
            <a:off x="1787350" y="2792707"/>
            <a:ext cx="27764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112" name="组合 111">
            <a:extLst>
              <a:ext uri="{FF2B5EF4-FFF2-40B4-BE49-F238E27FC236}">
                <a16:creationId xmlns:a16="http://schemas.microsoft.com/office/drawing/2014/main" id="{6EC0CE1A-AB48-E529-C54B-A2EDCF21B2BF}"/>
              </a:ext>
            </a:extLst>
          </p:cNvPr>
          <p:cNvGrpSpPr/>
          <p:nvPr/>
        </p:nvGrpSpPr>
        <p:grpSpPr>
          <a:xfrm>
            <a:off x="5277845" y="2426213"/>
            <a:ext cx="288000" cy="360000"/>
            <a:chOff x="7097072" y="2452049"/>
            <a:chExt cx="288000" cy="360000"/>
          </a:xfrm>
        </p:grpSpPr>
        <p:sp>
          <p:nvSpPr>
            <p:cNvPr id="116" name="矩形 115">
              <a:extLst>
                <a:ext uri="{FF2B5EF4-FFF2-40B4-BE49-F238E27FC236}">
                  <a16:creationId xmlns:a16="http://schemas.microsoft.com/office/drawing/2014/main" id="{2B2E644F-59CD-F0D4-6647-20AA5C1449BF}"/>
                </a:ext>
              </a:extLst>
            </p:cNvPr>
            <p:cNvSpPr/>
            <p:nvPr/>
          </p:nvSpPr>
          <p:spPr>
            <a:xfrm>
              <a:off x="7097072" y="24520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8" name="矩形 117">
              <a:extLst>
                <a:ext uri="{FF2B5EF4-FFF2-40B4-BE49-F238E27FC236}">
                  <a16:creationId xmlns:a16="http://schemas.microsoft.com/office/drawing/2014/main" id="{83056C77-CD08-EDAD-A494-EBE9BA7E96C3}"/>
                </a:ext>
              </a:extLst>
            </p:cNvPr>
            <p:cNvSpPr/>
            <p:nvPr/>
          </p:nvSpPr>
          <p:spPr>
            <a:xfrm>
              <a:off x="7097072" y="26824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9" name="矩形 118">
              <a:extLst>
                <a:ext uri="{FF2B5EF4-FFF2-40B4-BE49-F238E27FC236}">
                  <a16:creationId xmlns:a16="http://schemas.microsoft.com/office/drawing/2014/main" id="{555D35A1-7384-CAF0-07B2-0FE5D2F693F1}"/>
                </a:ext>
              </a:extLst>
            </p:cNvPr>
            <p:cNvSpPr/>
            <p:nvPr/>
          </p:nvSpPr>
          <p:spPr>
            <a:xfrm>
              <a:off x="7097072" y="27400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0" name="矩形 119">
              <a:extLst>
                <a:ext uri="{FF2B5EF4-FFF2-40B4-BE49-F238E27FC236}">
                  <a16:creationId xmlns:a16="http://schemas.microsoft.com/office/drawing/2014/main" id="{6B669DA2-5EAA-F17F-9430-E82D724BABDA}"/>
                </a:ext>
              </a:extLst>
            </p:cNvPr>
            <p:cNvSpPr/>
            <p:nvPr/>
          </p:nvSpPr>
          <p:spPr>
            <a:xfrm>
              <a:off x="7097072" y="25096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1" name="矩形 120">
              <a:extLst>
                <a:ext uri="{FF2B5EF4-FFF2-40B4-BE49-F238E27FC236}">
                  <a16:creationId xmlns:a16="http://schemas.microsoft.com/office/drawing/2014/main" id="{4AAE71EB-E983-3C4D-4588-09A68BEAA604}"/>
                </a:ext>
              </a:extLst>
            </p:cNvPr>
            <p:cNvSpPr/>
            <p:nvPr/>
          </p:nvSpPr>
          <p:spPr>
            <a:xfrm>
              <a:off x="7097072" y="25672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2" name="矩形 121">
              <a:extLst>
                <a:ext uri="{FF2B5EF4-FFF2-40B4-BE49-F238E27FC236}">
                  <a16:creationId xmlns:a16="http://schemas.microsoft.com/office/drawing/2014/main" id="{E8CDC611-49D6-AC07-2F6B-B1419694A4E1}"/>
                </a:ext>
              </a:extLst>
            </p:cNvPr>
            <p:cNvSpPr/>
            <p:nvPr/>
          </p:nvSpPr>
          <p:spPr>
            <a:xfrm>
              <a:off x="7097072" y="26248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123" name="文本框 122">
            <a:extLst>
              <a:ext uri="{FF2B5EF4-FFF2-40B4-BE49-F238E27FC236}">
                <a16:creationId xmlns:a16="http://schemas.microsoft.com/office/drawing/2014/main" id="{F4E215FE-B8F2-2316-25BC-D33158E2ECC3}"/>
              </a:ext>
            </a:extLst>
          </p:cNvPr>
          <p:cNvSpPr txBox="1"/>
          <p:nvPr/>
        </p:nvSpPr>
        <p:spPr>
          <a:xfrm>
            <a:off x="6439834" y="2792707"/>
            <a:ext cx="268022"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y</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124" name="组合 123">
            <a:extLst>
              <a:ext uri="{FF2B5EF4-FFF2-40B4-BE49-F238E27FC236}">
                <a16:creationId xmlns:a16="http://schemas.microsoft.com/office/drawing/2014/main" id="{7021A654-8057-1192-6290-D695C65F9F2C}"/>
              </a:ext>
            </a:extLst>
          </p:cNvPr>
          <p:cNvGrpSpPr/>
          <p:nvPr/>
        </p:nvGrpSpPr>
        <p:grpSpPr>
          <a:xfrm>
            <a:off x="6429845" y="2426213"/>
            <a:ext cx="288000" cy="360000"/>
            <a:chOff x="6014097" y="2452049"/>
            <a:chExt cx="288000" cy="360000"/>
          </a:xfrm>
        </p:grpSpPr>
        <p:sp>
          <p:nvSpPr>
            <p:cNvPr id="126" name="矩形 125">
              <a:extLst>
                <a:ext uri="{FF2B5EF4-FFF2-40B4-BE49-F238E27FC236}">
                  <a16:creationId xmlns:a16="http://schemas.microsoft.com/office/drawing/2014/main" id="{8E0032BE-A3D8-D67A-B7FE-8B3E4EA49495}"/>
                </a:ext>
              </a:extLst>
            </p:cNvPr>
            <p:cNvSpPr/>
            <p:nvPr/>
          </p:nvSpPr>
          <p:spPr>
            <a:xfrm>
              <a:off x="6014097" y="24520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7" name="矩形 126">
              <a:extLst>
                <a:ext uri="{FF2B5EF4-FFF2-40B4-BE49-F238E27FC236}">
                  <a16:creationId xmlns:a16="http://schemas.microsoft.com/office/drawing/2014/main" id="{4D93DFD5-E8DA-7AB5-219F-5A72FCC577ED}"/>
                </a:ext>
              </a:extLst>
            </p:cNvPr>
            <p:cNvSpPr/>
            <p:nvPr/>
          </p:nvSpPr>
          <p:spPr>
            <a:xfrm>
              <a:off x="6014097" y="26824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9" name="矩形 128">
              <a:extLst>
                <a:ext uri="{FF2B5EF4-FFF2-40B4-BE49-F238E27FC236}">
                  <a16:creationId xmlns:a16="http://schemas.microsoft.com/office/drawing/2014/main" id="{3847C06E-528A-C8A9-0A4F-E4568DC22654}"/>
                </a:ext>
              </a:extLst>
            </p:cNvPr>
            <p:cNvSpPr/>
            <p:nvPr/>
          </p:nvSpPr>
          <p:spPr>
            <a:xfrm>
              <a:off x="6014097" y="27400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31" name="矩形 130">
              <a:extLst>
                <a:ext uri="{FF2B5EF4-FFF2-40B4-BE49-F238E27FC236}">
                  <a16:creationId xmlns:a16="http://schemas.microsoft.com/office/drawing/2014/main" id="{898B7F2E-1F07-58F8-66D3-770326DE7C3B}"/>
                </a:ext>
              </a:extLst>
            </p:cNvPr>
            <p:cNvSpPr/>
            <p:nvPr/>
          </p:nvSpPr>
          <p:spPr>
            <a:xfrm>
              <a:off x="6014097" y="25096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32" name="矩形 131">
              <a:extLst>
                <a:ext uri="{FF2B5EF4-FFF2-40B4-BE49-F238E27FC236}">
                  <a16:creationId xmlns:a16="http://schemas.microsoft.com/office/drawing/2014/main" id="{C3073F2A-4726-37AC-56FE-8754299E64C3}"/>
                </a:ext>
              </a:extLst>
            </p:cNvPr>
            <p:cNvSpPr/>
            <p:nvPr/>
          </p:nvSpPr>
          <p:spPr>
            <a:xfrm>
              <a:off x="6014097" y="25672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35" name="矩形 134">
              <a:extLst>
                <a:ext uri="{FF2B5EF4-FFF2-40B4-BE49-F238E27FC236}">
                  <a16:creationId xmlns:a16="http://schemas.microsoft.com/office/drawing/2014/main" id="{420BBA41-A99A-61D2-F7CF-96C0EF893916}"/>
                </a:ext>
              </a:extLst>
            </p:cNvPr>
            <p:cNvSpPr/>
            <p:nvPr/>
          </p:nvSpPr>
          <p:spPr>
            <a:xfrm>
              <a:off x="6014097" y="26248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136" name="文本框 135">
            <a:extLst>
              <a:ext uri="{FF2B5EF4-FFF2-40B4-BE49-F238E27FC236}">
                <a16:creationId xmlns:a16="http://schemas.microsoft.com/office/drawing/2014/main" id="{AFE9496D-15C9-C802-5EA7-AA14E58588AE}"/>
              </a:ext>
            </a:extLst>
          </p:cNvPr>
          <p:cNvSpPr txBox="1"/>
          <p:nvPr/>
        </p:nvSpPr>
        <p:spPr>
          <a:xfrm>
            <a:off x="5288635" y="2792707"/>
            <a:ext cx="26642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x</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37" name="矩形 136">
            <a:extLst>
              <a:ext uri="{FF2B5EF4-FFF2-40B4-BE49-F238E27FC236}">
                <a16:creationId xmlns:a16="http://schemas.microsoft.com/office/drawing/2014/main" id="{ED3E5BEA-89CE-84A5-E9C0-5B12CAD2DD7F}"/>
              </a:ext>
            </a:extLst>
          </p:cNvPr>
          <p:cNvSpPr/>
          <p:nvPr/>
        </p:nvSpPr>
        <p:spPr>
          <a:xfrm>
            <a:off x="1792256" y="2792707"/>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38" name="文本框 137">
            <a:extLst>
              <a:ext uri="{FF2B5EF4-FFF2-40B4-BE49-F238E27FC236}">
                <a16:creationId xmlns:a16="http://schemas.microsoft.com/office/drawing/2014/main" id="{8102A6A4-D5BC-68C3-6B46-D204B4C66957}"/>
              </a:ext>
            </a:extLst>
          </p:cNvPr>
          <p:cNvSpPr txBox="1"/>
          <p:nvPr/>
        </p:nvSpPr>
        <p:spPr>
          <a:xfrm>
            <a:off x="3490257" y="1974659"/>
            <a:ext cx="1529586"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Application Layer</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39" name="文本框 138">
            <a:extLst>
              <a:ext uri="{FF2B5EF4-FFF2-40B4-BE49-F238E27FC236}">
                <a16:creationId xmlns:a16="http://schemas.microsoft.com/office/drawing/2014/main" id="{6890F6A3-5FB0-1F2E-D5E6-11555B069F2F}"/>
              </a:ext>
            </a:extLst>
          </p:cNvPr>
          <p:cNvSpPr txBox="1"/>
          <p:nvPr/>
        </p:nvSpPr>
        <p:spPr>
          <a:xfrm>
            <a:off x="3997608" y="2467715"/>
            <a:ext cx="514885"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Port</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40" name="文本框 139">
            <a:extLst>
              <a:ext uri="{FF2B5EF4-FFF2-40B4-BE49-F238E27FC236}">
                <a16:creationId xmlns:a16="http://schemas.microsoft.com/office/drawing/2014/main" id="{3492A695-FE48-F01E-F69D-8FAC9DD86F41}"/>
              </a:ext>
            </a:extLst>
          </p:cNvPr>
          <p:cNvSpPr txBox="1"/>
          <p:nvPr/>
        </p:nvSpPr>
        <p:spPr>
          <a:xfrm>
            <a:off x="3560789" y="2987665"/>
            <a:ext cx="1388522"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Transport Layer</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42" name="矩形 141">
            <a:extLst>
              <a:ext uri="{FF2B5EF4-FFF2-40B4-BE49-F238E27FC236}">
                <a16:creationId xmlns:a16="http://schemas.microsoft.com/office/drawing/2014/main" id="{C6E6737B-AAB3-9C0F-B73C-89096C5FCDAC}"/>
              </a:ext>
            </a:extLst>
          </p:cNvPr>
          <p:cNvSpPr/>
          <p:nvPr/>
        </p:nvSpPr>
        <p:spPr>
          <a:xfrm>
            <a:off x="5277845" y="2792707"/>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cxnSp>
        <p:nvCxnSpPr>
          <p:cNvPr id="143" name="连接符: 肘形 142">
            <a:extLst>
              <a:ext uri="{FF2B5EF4-FFF2-40B4-BE49-F238E27FC236}">
                <a16:creationId xmlns:a16="http://schemas.microsoft.com/office/drawing/2014/main" id="{ED4EDC0C-0742-ABA1-EF85-345C7C4D02FD}"/>
              </a:ext>
            </a:extLst>
          </p:cNvPr>
          <p:cNvCxnSpPr>
            <a:cxnSpLocks/>
            <a:stCxn id="137" idx="2"/>
            <a:endCxn id="142" idx="2"/>
          </p:cNvCxnSpPr>
          <p:nvPr/>
        </p:nvCxnSpPr>
        <p:spPr>
          <a:xfrm rot="16200000" flipH="1">
            <a:off x="4255050" y="1769912"/>
            <a:ext cx="12700" cy="3485589"/>
          </a:xfrm>
          <a:prstGeom prst="bentConnector3">
            <a:avLst>
              <a:gd name="adj1" fmla="val 4875000"/>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44" name="文本框 143">
            <a:extLst>
              <a:ext uri="{FF2B5EF4-FFF2-40B4-BE49-F238E27FC236}">
                <a16:creationId xmlns:a16="http://schemas.microsoft.com/office/drawing/2014/main" id="{CF8596A6-6F6B-E9A5-E9DE-D96242B714FD}"/>
              </a:ext>
            </a:extLst>
          </p:cNvPr>
          <p:cNvSpPr txBox="1"/>
          <p:nvPr/>
        </p:nvSpPr>
        <p:spPr>
          <a:xfrm>
            <a:off x="3544760" y="4169328"/>
            <a:ext cx="1404551"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Logical channel</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cxnSp>
        <p:nvCxnSpPr>
          <p:cNvPr id="145" name="直接箭头连接符 144">
            <a:extLst>
              <a:ext uri="{FF2B5EF4-FFF2-40B4-BE49-F238E27FC236}">
                <a16:creationId xmlns:a16="http://schemas.microsoft.com/office/drawing/2014/main" id="{7A706646-1FD4-86B2-26F7-2355B51C626B}"/>
              </a:ext>
            </a:extLst>
          </p:cNvPr>
          <p:cNvCxnSpPr>
            <a:cxnSpLocks/>
          </p:cNvCxnSpPr>
          <p:nvPr/>
        </p:nvCxnSpPr>
        <p:spPr>
          <a:xfrm>
            <a:off x="1936256" y="2225626"/>
            <a:ext cx="0" cy="216000"/>
          </a:xfrm>
          <a:prstGeom prst="straightConnector1">
            <a:avLst/>
          </a:prstGeom>
          <a:ln>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C308C6DD-6221-5EBD-AEFA-9154AE513F4F}"/>
              </a:ext>
            </a:extLst>
          </p:cNvPr>
          <p:cNvCxnSpPr>
            <a:cxnSpLocks/>
          </p:cNvCxnSpPr>
          <p:nvPr/>
        </p:nvCxnSpPr>
        <p:spPr>
          <a:xfrm>
            <a:off x="2512256" y="2225626"/>
            <a:ext cx="0" cy="216000"/>
          </a:xfrm>
          <a:prstGeom prst="straightConnector1">
            <a:avLst/>
          </a:prstGeom>
          <a:ln>
            <a:solidFill>
              <a:srgbClr val="E95420"/>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直接箭头连接符 146">
            <a:extLst>
              <a:ext uri="{FF2B5EF4-FFF2-40B4-BE49-F238E27FC236}">
                <a16:creationId xmlns:a16="http://schemas.microsoft.com/office/drawing/2014/main" id="{A4847BA3-D1C2-6C45-4813-7010357A4CBD}"/>
              </a:ext>
            </a:extLst>
          </p:cNvPr>
          <p:cNvCxnSpPr>
            <a:cxnSpLocks/>
          </p:cNvCxnSpPr>
          <p:nvPr/>
        </p:nvCxnSpPr>
        <p:spPr>
          <a:xfrm>
            <a:off x="3088256"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90CA8FB0-BB66-A2FE-2715-2BC031207334}"/>
              </a:ext>
            </a:extLst>
          </p:cNvPr>
          <p:cNvCxnSpPr>
            <a:cxnSpLocks/>
          </p:cNvCxnSpPr>
          <p:nvPr/>
        </p:nvCxnSpPr>
        <p:spPr>
          <a:xfrm>
            <a:off x="6573845"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9" name="直接箭头连接符 148">
            <a:extLst>
              <a:ext uri="{FF2B5EF4-FFF2-40B4-BE49-F238E27FC236}">
                <a16:creationId xmlns:a16="http://schemas.microsoft.com/office/drawing/2014/main" id="{04389A40-BD15-DEE3-8815-92129D81E94C}"/>
              </a:ext>
            </a:extLst>
          </p:cNvPr>
          <p:cNvCxnSpPr>
            <a:cxnSpLocks/>
          </p:cNvCxnSpPr>
          <p:nvPr/>
        </p:nvCxnSpPr>
        <p:spPr>
          <a:xfrm>
            <a:off x="5421845" y="2225626"/>
            <a:ext cx="0" cy="216000"/>
          </a:xfrm>
          <a:prstGeom prst="straightConnector1">
            <a:avLst/>
          </a:prstGeom>
          <a:ln>
            <a:solidFill>
              <a:srgbClr val="E95420"/>
            </a:solidFill>
            <a:tailEnd type="triangle"/>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BE31B19B-6437-B794-F513-6E03CD84EDA5}"/>
              </a:ext>
            </a:extLst>
          </p:cNvPr>
          <p:cNvSpPr txBox="1"/>
          <p:nvPr/>
        </p:nvSpPr>
        <p:spPr>
          <a:xfrm>
            <a:off x="2601980" y="3601020"/>
            <a:ext cx="1154483"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Multiplexing</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51" name="文本框 150">
            <a:extLst>
              <a:ext uri="{FF2B5EF4-FFF2-40B4-BE49-F238E27FC236}">
                <a16:creationId xmlns:a16="http://schemas.microsoft.com/office/drawing/2014/main" id="{8F26D343-815C-20B2-5B5D-8CFB89A50B3A}"/>
              </a:ext>
            </a:extLst>
          </p:cNvPr>
          <p:cNvSpPr txBox="1"/>
          <p:nvPr/>
        </p:nvSpPr>
        <p:spPr>
          <a:xfrm>
            <a:off x="4607173" y="3601020"/>
            <a:ext cx="1390124"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Demultiplexing</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cxnSp>
        <p:nvCxnSpPr>
          <p:cNvPr id="152" name="直接箭头连接符 151">
            <a:extLst>
              <a:ext uri="{FF2B5EF4-FFF2-40B4-BE49-F238E27FC236}">
                <a16:creationId xmlns:a16="http://schemas.microsoft.com/office/drawing/2014/main" id="{B2ED9F29-A6F0-5F38-3245-3A029DF74C42}"/>
              </a:ext>
            </a:extLst>
          </p:cNvPr>
          <p:cNvCxnSpPr>
            <a:cxnSpLocks/>
            <a:stCxn id="102" idx="2"/>
            <a:endCxn id="137" idx="2"/>
          </p:cNvCxnSpPr>
          <p:nvPr/>
        </p:nvCxnSpPr>
        <p:spPr>
          <a:xfrm>
            <a:off x="1926170" y="2786213"/>
            <a:ext cx="586086" cy="726494"/>
          </a:xfrm>
          <a:prstGeom prst="straightConnector1">
            <a:avLst/>
          </a:prstGeom>
          <a:ln w="12700">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直接箭头连接符 152">
            <a:extLst>
              <a:ext uri="{FF2B5EF4-FFF2-40B4-BE49-F238E27FC236}">
                <a16:creationId xmlns:a16="http://schemas.microsoft.com/office/drawing/2014/main" id="{12378542-FECA-D2F2-76BE-7AF2C210E334}"/>
              </a:ext>
            </a:extLst>
          </p:cNvPr>
          <p:cNvCxnSpPr>
            <a:cxnSpLocks/>
            <a:stCxn id="79" idx="2"/>
            <a:endCxn id="137" idx="2"/>
          </p:cNvCxnSpPr>
          <p:nvPr/>
        </p:nvCxnSpPr>
        <p:spPr>
          <a:xfrm flipH="1">
            <a:off x="2512256" y="2786213"/>
            <a:ext cx="576000" cy="7264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4" name="直接箭头连接符 153">
            <a:extLst>
              <a:ext uri="{FF2B5EF4-FFF2-40B4-BE49-F238E27FC236}">
                <a16:creationId xmlns:a16="http://schemas.microsoft.com/office/drawing/2014/main" id="{E191EADA-2D75-DC1D-7913-B3161628B0DB}"/>
              </a:ext>
            </a:extLst>
          </p:cNvPr>
          <p:cNvCxnSpPr>
            <a:cxnSpLocks/>
            <a:stCxn id="137" idx="0"/>
            <a:endCxn id="137" idx="2"/>
          </p:cNvCxnSpPr>
          <p:nvPr/>
        </p:nvCxnSpPr>
        <p:spPr>
          <a:xfrm>
            <a:off x="2512256" y="2792707"/>
            <a:ext cx="0" cy="720000"/>
          </a:xfrm>
          <a:prstGeom prst="straightConnector1">
            <a:avLst/>
          </a:prstGeom>
          <a:ln w="12700">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55" name="直接箭头连接符 154">
            <a:extLst>
              <a:ext uri="{FF2B5EF4-FFF2-40B4-BE49-F238E27FC236}">
                <a16:creationId xmlns:a16="http://schemas.microsoft.com/office/drawing/2014/main" id="{11AC493A-4C69-1476-666C-5DB500F2E212}"/>
              </a:ext>
            </a:extLst>
          </p:cNvPr>
          <p:cNvCxnSpPr>
            <a:cxnSpLocks/>
            <a:stCxn id="142" idx="2"/>
          </p:cNvCxnSpPr>
          <p:nvPr/>
        </p:nvCxnSpPr>
        <p:spPr>
          <a:xfrm flipH="1" flipV="1">
            <a:off x="5457576" y="2807107"/>
            <a:ext cx="540269" cy="705600"/>
          </a:xfrm>
          <a:prstGeom prst="straightConnector1">
            <a:avLst/>
          </a:prstGeom>
          <a:ln w="12700">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56" name="直接箭头连接符 155">
            <a:extLst>
              <a:ext uri="{FF2B5EF4-FFF2-40B4-BE49-F238E27FC236}">
                <a16:creationId xmlns:a16="http://schemas.microsoft.com/office/drawing/2014/main" id="{D5D574B6-62D3-6663-592D-5ACB68583E4B}"/>
              </a:ext>
            </a:extLst>
          </p:cNvPr>
          <p:cNvCxnSpPr>
            <a:cxnSpLocks/>
            <a:stCxn id="142" idx="2"/>
          </p:cNvCxnSpPr>
          <p:nvPr/>
        </p:nvCxnSpPr>
        <p:spPr>
          <a:xfrm flipV="1">
            <a:off x="5997845" y="2807107"/>
            <a:ext cx="533474" cy="705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7" name="文本框 156">
            <a:extLst>
              <a:ext uri="{FF2B5EF4-FFF2-40B4-BE49-F238E27FC236}">
                <a16:creationId xmlns:a16="http://schemas.microsoft.com/office/drawing/2014/main" id="{C4718E69-2052-9688-8EBA-A766178230FE}"/>
              </a:ext>
            </a:extLst>
          </p:cNvPr>
          <p:cNvSpPr txBox="1"/>
          <p:nvPr/>
        </p:nvSpPr>
        <p:spPr>
          <a:xfrm>
            <a:off x="2329354" y="1095578"/>
            <a:ext cx="365805"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H1</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58" name="文本框 157">
            <a:extLst>
              <a:ext uri="{FF2B5EF4-FFF2-40B4-BE49-F238E27FC236}">
                <a16:creationId xmlns:a16="http://schemas.microsoft.com/office/drawing/2014/main" id="{3BA035A8-388E-87BE-FCC1-6D07740F7831}"/>
              </a:ext>
            </a:extLst>
          </p:cNvPr>
          <p:cNvSpPr txBox="1"/>
          <p:nvPr/>
        </p:nvSpPr>
        <p:spPr>
          <a:xfrm>
            <a:off x="5798912" y="1095578"/>
            <a:ext cx="397866"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H2</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59" name="文本框 158">
            <a:extLst>
              <a:ext uri="{FF2B5EF4-FFF2-40B4-BE49-F238E27FC236}">
                <a16:creationId xmlns:a16="http://schemas.microsoft.com/office/drawing/2014/main" id="{5B7257A8-7FFE-A817-FAA4-4B96DFAE7ABB}"/>
              </a:ext>
            </a:extLst>
          </p:cNvPr>
          <p:cNvSpPr txBox="1"/>
          <p:nvPr/>
        </p:nvSpPr>
        <p:spPr>
          <a:xfrm>
            <a:off x="3576781" y="3881375"/>
            <a:ext cx="49084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 </a:t>
            </a:r>
            <a:r>
              <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x</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60" name="文本框 159">
            <a:extLst>
              <a:ext uri="{FF2B5EF4-FFF2-40B4-BE49-F238E27FC236}">
                <a16:creationId xmlns:a16="http://schemas.microsoft.com/office/drawing/2014/main" id="{9C03CD17-E80E-64CD-D32A-6CEEEEF0CFC0}"/>
              </a:ext>
            </a:extLst>
          </p:cNvPr>
          <p:cNvSpPr txBox="1"/>
          <p:nvPr/>
        </p:nvSpPr>
        <p:spPr>
          <a:xfrm>
            <a:off x="4132413" y="3881375"/>
            <a:ext cx="503664"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b </a:t>
            </a:r>
            <a:r>
              <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x</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61" name="文本框 160">
            <a:extLst>
              <a:ext uri="{FF2B5EF4-FFF2-40B4-BE49-F238E27FC236}">
                <a16:creationId xmlns:a16="http://schemas.microsoft.com/office/drawing/2014/main" id="{C06F7E02-40B1-AA0A-B882-5791803FA88B}"/>
              </a:ext>
            </a:extLst>
          </p:cNvPr>
          <p:cNvSpPr txBox="1"/>
          <p:nvPr/>
        </p:nvSpPr>
        <p:spPr>
          <a:xfrm>
            <a:off x="4689593" y="3881375"/>
            <a:ext cx="487634"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c </a:t>
            </a:r>
            <a:r>
              <a:rPr lang="zh-CN" altLang="en-US" sz="1200" dirty="0">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latin typeface="Montserrat" panose="00000500000000000000" pitchFamily="2" charset="0"/>
                <a:ea typeface="微软雅黑" panose="020B0503020204020204" pitchFamily="34" charset="-122"/>
                <a:cs typeface="Courier New" panose="02070309020205020404" pitchFamily="49" charset="0"/>
              </a:rPr>
              <a:t>y</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52" name="组合 51">
            <a:extLst>
              <a:ext uri="{FF2B5EF4-FFF2-40B4-BE49-F238E27FC236}">
                <a16:creationId xmlns:a16="http://schemas.microsoft.com/office/drawing/2014/main" id="{6BE7C96B-F754-569E-859A-FA934D0F236B}"/>
              </a:ext>
            </a:extLst>
          </p:cNvPr>
          <p:cNvGrpSpPr/>
          <p:nvPr/>
        </p:nvGrpSpPr>
        <p:grpSpPr>
          <a:xfrm>
            <a:off x="5277845" y="1474901"/>
            <a:ext cx="1440000" cy="720000"/>
            <a:chOff x="5277845" y="1779701"/>
            <a:chExt cx="1440000" cy="720000"/>
          </a:xfrm>
        </p:grpSpPr>
        <p:grpSp>
          <p:nvGrpSpPr>
            <p:cNvPr id="27" name="组合 26">
              <a:extLst>
                <a:ext uri="{FF2B5EF4-FFF2-40B4-BE49-F238E27FC236}">
                  <a16:creationId xmlns:a16="http://schemas.microsoft.com/office/drawing/2014/main" id="{95A4CA25-4E60-E661-A5B3-84F28F8418B1}"/>
                </a:ext>
              </a:extLst>
            </p:cNvPr>
            <p:cNvGrpSpPr/>
            <p:nvPr/>
          </p:nvGrpSpPr>
          <p:grpSpPr>
            <a:xfrm>
              <a:off x="6336009" y="1789913"/>
              <a:ext cx="381836" cy="619527"/>
              <a:chOff x="7787527" y="1370364"/>
              <a:chExt cx="381836" cy="619527"/>
            </a:xfrm>
          </p:grpSpPr>
          <p:pic>
            <p:nvPicPr>
              <p:cNvPr id="24" name="图形 23" descr="文档">
                <a:extLst>
                  <a:ext uri="{FF2B5EF4-FFF2-40B4-BE49-F238E27FC236}">
                    <a16:creationId xmlns:a16="http://schemas.microsoft.com/office/drawing/2014/main" id="{8CCC44DC-2E8C-16DD-32BD-5C9FB6AF14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25" name="文本框 24">
                <a:extLst>
                  <a:ext uri="{FF2B5EF4-FFF2-40B4-BE49-F238E27FC236}">
                    <a16:creationId xmlns:a16="http://schemas.microsoft.com/office/drawing/2014/main" id="{AC948BA4-6849-7D5D-9FD1-5F9182586B8F}"/>
                  </a:ext>
                </a:extLst>
              </p:cNvPr>
              <p:cNvSpPr txBox="1"/>
              <p:nvPr/>
            </p:nvSpPr>
            <p:spPr>
              <a:xfrm>
                <a:off x="7787527" y="1370364"/>
                <a:ext cx="381836"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P5</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sp>
          <p:nvSpPr>
            <p:cNvPr id="141" name="矩形 140">
              <a:extLst>
                <a:ext uri="{FF2B5EF4-FFF2-40B4-BE49-F238E27FC236}">
                  <a16:creationId xmlns:a16="http://schemas.microsoft.com/office/drawing/2014/main" id="{A26A7F80-6C9E-9BE8-071B-3BC24ACBC445}"/>
                </a:ext>
              </a:extLst>
            </p:cNvPr>
            <p:cNvSpPr/>
            <p:nvPr/>
          </p:nvSpPr>
          <p:spPr>
            <a:xfrm>
              <a:off x="5277845" y="1779701"/>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nvGrpSpPr>
            <p:cNvPr id="36" name="组合 35">
              <a:extLst>
                <a:ext uri="{FF2B5EF4-FFF2-40B4-BE49-F238E27FC236}">
                  <a16:creationId xmlns:a16="http://schemas.microsoft.com/office/drawing/2014/main" id="{77E5DFFD-612A-A62E-CB7A-E1BEA3A13F07}"/>
                </a:ext>
              </a:extLst>
            </p:cNvPr>
            <p:cNvGrpSpPr/>
            <p:nvPr/>
          </p:nvGrpSpPr>
          <p:grpSpPr>
            <a:xfrm>
              <a:off x="5277845" y="1789913"/>
              <a:ext cx="396262" cy="619527"/>
              <a:chOff x="7787527" y="1370364"/>
              <a:chExt cx="396262" cy="619527"/>
            </a:xfrm>
          </p:grpSpPr>
          <p:pic>
            <p:nvPicPr>
              <p:cNvPr id="37" name="图形 36" descr="文档">
                <a:extLst>
                  <a:ext uri="{FF2B5EF4-FFF2-40B4-BE49-F238E27FC236}">
                    <a16:creationId xmlns:a16="http://schemas.microsoft.com/office/drawing/2014/main" id="{A2261D8D-EC4D-3CD1-3870-6DFC67974B7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38" name="文本框 37">
                <a:extLst>
                  <a:ext uri="{FF2B5EF4-FFF2-40B4-BE49-F238E27FC236}">
                    <a16:creationId xmlns:a16="http://schemas.microsoft.com/office/drawing/2014/main" id="{88FB19AE-539B-0E06-48E1-43C4BDCDC414}"/>
                  </a:ext>
                </a:extLst>
              </p:cNvPr>
              <p:cNvSpPr txBox="1"/>
              <p:nvPr/>
            </p:nvSpPr>
            <p:spPr>
              <a:xfrm>
                <a:off x="7787527" y="1370364"/>
                <a:ext cx="396262"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P4</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grpSp>
        <p:nvGrpSpPr>
          <p:cNvPr id="51" name="组合 50">
            <a:extLst>
              <a:ext uri="{FF2B5EF4-FFF2-40B4-BE49-F238E27FC236}">
                <a16:creationId xmlns:a16="http://schemas.microsoft.com/office/drawing/2014/main" id="{AB96C985-9C70-24A7-253D-864B2A21E0E1}"/>
              </a:ext>
            </a:extLst>
          </p:cNvPr>
          <p:cNvGrpSpPr/>
          <p:nvPr/>
        </p:nvGrpSpPr>
        <p:grpSpPr>
          <a:xfrm>
            <a:off x="1792256" y="1474901"/>
            <a:ext cx="1440000" cy="720000"/>
            <a:chOff x="5430245" y="1932101"/>
            <a:chExt cx="1440000" cy="720000"/>
          </a:xfrm>
        </p:grpSpPr>
        <p:grpSp>
          <p:nvGrpSpPr>
            <p:cNvPr id="39" name="组合 38">
              <a:extLst>
                <a:ext uri="{FF2B5EF4-FFF2-40B4-BE49-F238E27FC236}">
                  <a16:creationId xmlns:a16="http://schemas.microsoft.com/office/drawing/2014/main" id="{08BFF0EF-2E37-087C-69D8-B82CCC090D7D}"/>
                </a:ext>
              </a:extLst>
            </p:cNvPr>
            <p:cNvGrpSpPr/>
            <p:nvPr/>
          </p:nvGrpSpPr>
          <p:grpSpPr>
            <a:xfrm>
              <a:off x="6488409" y="1942313"/>
              <a:ext cx="381836" cy="619527"/>
              <a:chOff x="7787527" y="1370364"/>
              <a:chExt cx="381836" cy="619527"/>
            </a:xfrm>
          </p:grpSpPr>
          <p:pic>
            <p:nvPicPr>
              <p:cNvPr id="40" name="图形 39" descr="文档">
                <a:extLst>
                  <a:ext uri="{FF2B5EF4-FFF2-40B4-BE49-F238E27FC236}">
                    <a16:creationId xmlns:a16="http://schemas.microsoft.com/office/drawing/2014/main" id="{BC6FCD56-AE6B-AB0E-6839-91C867097B8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41" name="文本框 40">
                <a:extLst>
                  <a:ext uri="{FF2B5EF4-FFF2-40B4-BE49-F238E27FC236}">
                    <a16:creationId xmlns:a16="http://schemas.microsoft.com/office/drawing/2014/main" id="{25C44E4E-FDA5-E661-AA16-725B25B8F04B}"/>
                  </a:ext>
                </a:extLst>
              </p:cNvPr>
              <p:cNvSpPr txBox="1"/>
              <p:nvPr/>
            </p:nvSpPr>
            <p:spPr>
              <a:xfrm>
                <a:off x="7787527" y="1370364"/>
                <a:ext cx="381836"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P3</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sp>
          <p:nvSpPr>
            <p:cNvPr id="42" name="矩形 41">
              <a:extLst>
                <a:ext uri="{FF2B5EF4-FFF2-40B4-BE49-F238E27FC236}">
                  <a16:creationId xmlns:a16="http://schemas.microsoft.com/office/drawing/2014/main" id="{A7D1BB8D-3362-3322-827F-C13147F9A30C}"/>
                </a:ext>
              </a:extLst>
            </p:cNvPr>
            <p:cNvSpPr/>
            <p:nvPr/>
          </p:nvSpPr>
          <p:spPr>
            <a:xfrm>
              <a:off x="5430245" y="1932101"/>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nvGrpSpPr>
            <p:cNvPr id="43" name="组合 42">
              <a:extLst>
                <a:ext uri="{FF2B5EF4-FFF2-40B4-BE49-F238E27FC236}">
                  <a16:creationId xmlns:a16="http://schemas.microsoft.com/office/drawing/2014/main" id="{71797B1C-154A-E1EB-868E-8BDAD41FB273}"/>
                </a:ext>
              </a:extLst>
            </p:cNvPr>
            <p:cNvGrpSpPr/>
            <p:nvPr/>
          </p:nvGrpSpPr>
          <p:grpSpPr>
            <a:xfrm>
              <a:off x="5959327" y="1942313"/>
              <a:ext cx="383438" cy="619527"/>
              <a:chOff x="7787527" y="1370364"/>
              <a:chExt cx="383438" cy="619527"/>
            </a:xfrm>
          </p:grpSpPr>
          <p:pic>
            <p:nvPicPr>
              <p:cNvPr id="44" name="图形 43" descr="文档">
                <a:extLst>
                  <a:ext uri="{FF2B5EF4-FFF2-40B4-BE49-F238E27FC236}">
                    <a16:creationId xmlns:a16="http://schemas.microsoft.com/office/drawing/2014/main" id="{547DBF5C-E73B-4990-21BC-BEB100969C1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45" name="文本框 44">
                <a:extLst>
                  <a:ext uri="{FF2B5EF4-FFF2-40B4-BE49-F238E27FC236}">
                    <a16:creationId xmlns:a16="http://schemas.microsoft.com/office/drawing/2014/main" id="{FA0A3919-E7C3-7DCC-572B-15281AF21C9A}"/>
                  </a:ext>
                </a:extLst>
              </p:cNvPr>
              <p:cNvSpPr txBox="1"/>
              <p:nvPr/>
            </p:nvSpPr>
            <p:spPr>
              <a:xfrm>
                <a:off x="7787527" y="1370364"/>
                <a:ext cx="383438"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P2</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nvGrpSpPr>
            <p:cNvPr id="47" name="组合 46">
              <a:extLst>
                <a:ext uri="{FF2B5EF4-FFF2-40B4-BE49-F238E27FC236}">
                  <a16:creationId xmlns:a16="http://schemas.microsoft.com/office/drawing/2014/main" id="{8089A18D-AC4F-5BA3-5ED6-323FD5D542AE}"/>
                </a:ext>
              </a:extLst>
            </p:cNvPr>
            <p:cNvGrpSpPr/>
            <p:nvPr/>
          </p:nvGrpSpPr>
          <p:grpSpPr>
            <a:xfrm>
              <a:off x="5430245" y="1942313"/>
              <a:ext cx="370918" cy="619527"/>
              <a:chOff x="7787527" y="1370364"/>
              <a:chExt cx="370918" cy="619527"/>
            </a:xfrm>
          </p:grpSpPr>
          <p:pic>
            <p:nvPicPr>
              <p:cNvPr id="49" name="图形 48" descr="文档">
                <a:extLst>
                  <a:ext uri="{FF2B5EF4-FFF2-40B4-BE49-F238E27FC236}">
                    <a16:creationId xmlns:a16="http://schemas.microsoft.com/office/drawing/2014/main" id="{3252380E-EB05-89E7-FFAC-F2753D8F07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50" name="文本框 49">
                <a:extLst>
                  <a:ext uri="{FF2B5EF4-FFF2-40B4-BE49-F238E27FC236}">
                    <a16:creationId xmlns:a16="http://schemas.microsoft.com/office/drawing/2014/main" id="{0854450B-3476-42EF-BCB4-E11EAE526C6F}"/>
                  </a:ext>
                </a:extLst>
              </p:cNvPr>
              <p:cNvSpPr txBox="1"/>
              <p:nvPr/>
            </p:nvSpPr>
            <p:spPr>
              <a:xfrm>
                <a:off x="7787527" y="1370364"/>
                <a:ext cx="351378"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P1</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spTree>
    <p:extLst>
      <p:ext uri="{BB962C8B-B14F-4D97-AF65-F5344CB8AC3E}">
        <p14:creationId xmlns:p14="http://schemas.microsoft.com/office/powerpoint/2010/main" val="17305457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 name="Rectangle 5"/>
          <p:cNvSpPr>
            <a:spLocks noChangeArrowheads="1"/>
          </p:cNvSpPr>
          <p:nvPr/>
        </p:nvSpPr>
        <p:spPr bwMode="auto">
          <a:xfrm>
            <a:off x="6664686" y="1128976"/>
            <a:ext cx="368561" cy="294470"/>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dirty="0">
              <a:latin typeface="微软雅黑" panose="020B0503020204020204" pitchFamily="34" charset="-122"/>
              <a:ea typeface="微软雅黑" panose="020B0503020204020204" pitchFamily="34" charset="-122"/>
            </a:endParaRPr>
          </a:p>
        </p:txBody>
      </p:sp>
      <p:sp>
        <p:nvSpPr>
          <p:cNvPr id="14" name="矩形 13"/>
          <p:cNvSpPr/>
          <p:nvPr/>
        </p:nvSpPr>
        <p:spPr>
          <a:xfrm>
            <a:off x="1317818" y="3745264"/>
            <a:ext cx="6831101" cy="1015663"/>
          </a:xfrm>
          <a:prstGeom prst="rect">
            <a:avLst/>
          </a:prstGeom>
        </p:spPr>
        <p:txBody>
          <a:bodyPr wrap="square">
            <a:spAutoFit/>
          </a:bodyPr>
          <a:lstStyle/>
          <a:p>
            <a:pPr>
              <a:lnSpc>
                <a:spcPts val="2400"/>
              </a:lnSpc>
              <a:buClr>
                <a:srgbClr val="0070C0"/>
              </a:buClr>
            </a:pPr>
            <a:r>
              <a:rPr lang="zh-CN" altLang="en-US" sz="1600" b="1" dirty="0">
                <a:solidFill>
                  <a:srgbClr val="C00000"/>
                </a:solidFill>
                <a:latin typeface="微软雅黑" pitchFamily="34" charset="-122"/>
                <a:ea typeface="微软雅黑" pitchFamily="34" charset="-122"/>
              </a:rPr>
              <a:t>复用：</a:t>
            </a:r>
            <a:r>
              <a:rPr lang="zh-CN" altLang="en-US" sz="1600" b="1" dirty="0">
                <a:latin typeface="微软雅黑" pitchFamily="34" charset="-122"/>
                <a:ea typeface="微软雅黑" pitchFamily="34" charset="-122"/>
              </a:rPr>
              <a:t>将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用户数据报组装成不同的 </a:t>
            </a:r>
            <a:r>
              <a:rPr lang="en-US" altLang="zh-CN" sz="1600" b="1" dirty="0">
                <a:latin typeface="微软雅黑" pitchFamily="34" charset="-122"/>
                <a:ea typeface="微软雅黑" pitchFamily="34" charset="-122"/>
              </a:rPr>
              <a:t>IP </a:t>
            </a:r>
            <a:r>
              <a:rPr lang="zh-CN" altLang="en-US" sz="1600" b="1" dirty="0">
                <a:latin typeface="微软雅黑" pitchFamily="34" charset="-122"/>
                <a:ea typeface="微软雅黑" pitchFamily="34" charset="-122"/>
              </a:rPr>
              <a:t>数据报，发送到互联网。</a:t>
            </a:r>
            <a:endParaRPr lang="en-US" altLang="zh-CN" sz="1600" b="1" dirty="0">
              <a:latin typeface="微软雅黑" pitchFamily="34" charset="-122"/>
              <a:ea typeface="微软雅黑" pitchFamily="34" charset="-122"/>
            </a:endParaRPr>
          </a:p>
          <a:p>
            <a:pPr>
              <a:lnSpc>
                <a:spcPts val="2400"/>
              </a:lnSpc>
              <a:buClr>
                <a:srgbClr val="0070C0"/>
              </a:buClr>
            </a:pPr>
            <a:r>
              <a:rPr lang="zh-CN" altLang="en-US" sz="1600" b="1" dirty="0">
                <a:solidFill>
                  <a:srgbClr val="C00000"/>
                </a:solidFill>
                <a:latin typeface="微软雅黑" pitchFamily="34" charset="-122"/>
                <a:ea typeface="微软雅黑" pitchFamily="34" charset="-122"/>
              </a:rPr>
              <a:t>分用：</a:t>
            </a:r>
            <a:r>
              <a:rPr lang="zh-CN" altLang="en-US" sz="1600" b="1" dirty="0">
                <a:latin typeface="微软雅黑" pitchFamily="34" charset="-122"/>
                <a:ea typeface="微软雅黑" pitchFamily="34" charset="-122"/>
              </a:rPr>
              <a:t>根据 </a:t>
            </a: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用户数据报首部中的目的端口号，将数据报分别传送到相应的端口，以便应用进程到端口读取数据。</a:t>
            </a:r>
            <a:endParaRPr lang="en-US" altLang="zh-CN" sz="1600" b="1" dirty="0">
              <a:latin typeface="微软雅黑" pitchFamily="34" charset="-122"/>
              <a:ea typeface="微软雅黑" pitchFamily="34" charset="-122"/>
            </a:endParaRPr>
          </a:p>
        </p:txBody>
      </p:sp>
      <p:sp>
        <p:nvSpPr>
          <p:cNvPr id="15" name="矩形 14"/>
          <p:cNvSpPr/>
          <p:nvPr/>
        </p:nvSpPr>
        <p:spPr>
          <a:xfrm>
            <a:off x="3813128" y="1069966"/>
            <a:ext cx="1415772" cy="338554"/>
          </a:xfrm>
          <a:prstGeom prst="rect">
            <a:avLst/>
          </a:prstGeom>
          <a:solidFill>
            <a:srgbClr val="000099"/>
          </a:solidFill>
        </p:spPr>
        <p:txBody>
          <a:bodyPr wrap="none">
            <a:spAutoFit/>
          </a:bodyPr>
          <a:lstStyle/>
          <a:p>
            <a:r>
              <a:rPr lang="zh-CN" altLang="en-US" sz="1600" b="1" dirty="0">
                <a:solidFill>
                  <a:schemeClr val="bg1"/>
                </a:solidFill>
                <a:latin typeface="微软雅黑" panose="020B0503020204020204" pitchFamily="34" charset="-122"/>
                <a:ea typeface="微软雅黑" panose="020B0503020204020204" pitchFamily="34" charset="-122"/>
              </a:rPr>
              <a:t>一对多的通信</a:t>
            </a:r>
          </a:p>
        </p:txBody>
      </p:sp>
      <p:grpSp>
        <p:nvGrpSpPr>
          <p:cNvPr id="2" name="组合 1"/>
          <p:cNvGrpSpPr/>
          <p:nvPr/>
        </p:nvGrpSpPr>
        <p:grpSpPr>
          <a:xfrm>
            <a:off x="794348" y="1138723"/>
            <a:ext cx="7538010" cy="2569432"/>
            <a:chOff x="794348" y="1138723"/>
            <a:chExt cx="7538010" cy="2569432"/>
          </a:xfrm>
        </p:grpSpPr>
        <p:sp>
          <p:nvSpPr>
            <p:cNvPr id="42" name="矩形 41"/>
            <p:cNvSpPr/>
            <p:nvPr/>
          </p:nvSpPr>
          <p:spPr bwMode="auto">
            <a:xfrm>
              <a:off x="6347487"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4" name="矩形 43"/>
            <p:cNvSpPr/>
            <p:nvPr/>
          </p:nvSpPr>
          <p:spPr bwMode="auto">
            <a:xfrm>
              <a:off x="6418459" y="2147509"/>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5" name="矩形 44"/>
            <p:cNvSpPr/>
            <p:nvPr/>
          </p:nvSpPr>
          <p:spPr bwMode="auto">
            <a:xfrm>
              <a:off x="1672074" y="1962182"/>
              <a:ext cx="302715"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7" name="矩形 46"/>
            <p:cNvSpPr/>
            <p:nvPr/>
          </p:nvSpPr>
          <p:spPr bwMode="auto">
            <a:xfrm>
              <a:off x="2200738" y="1968308"/>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48" name="矩形 47"/>
            <p:cNvSpPr/>
            <p:nvPr/>
          </p:nvSpPr>
          <p:spPr bwMode="auto">
            <a:xfrm>
              <a:off x="2723608"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3" name="矩形 52"/>
            <p:cNvSpPr/>
            <p:nvPr/>
          </p:nvSpPr>
          <p:spPr bwMode="auto">
            <a:xfrm>
              <a:off x="2788786" y="2086243"/>
              <a:ext cx="172358"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4" name="矩形 53"/>
            <p:cNvSpPr/>
            <p:nvPr/>
          </p:nvSpPr>
          <p:spPr bwMode="auto">
            <a:xfrm>
              <a:off x="2273158" y="2142914"/>
              <a:ext cx="172358"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5" name="矩形 54"/>
            <p:cNvSpPr/>
            <p:nvPr/>
          </p:nvSpPr>
          <p:spPr bwMode="auto">
            <a:xfrm>
              <a:off x="2263019"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6" name="矩形 55"/>
            <p:cNvSpPr/>
            <p:nvPr/>
          </p:nvSpPr>
          <p:spPr bwMode="auto">
            <a:xfrm>
              <a:off x="2270261" y="2029574"/>
              <a:ext cx="170910"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7" name="矩形 56"/>
            <p:cNvSpPr/>
            <p:nvPr/>
          </p:nvSpPr>
          <p:spPr bwMode="auto">
            <a:xfrm>
              <a:off x="1740149"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8" name="矩形 57"/>
            <p:cNvSpPr/>
            <p:nvPr/>
          </p:nvSpPr>
          <p:spPr bwMode="auto">
            <a:xfrm>
              <a:off x="2793131"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59" name="矩形 48"/>
            <p:cNvSpPr>
              <a:spLocks noChangeArrowheads="1"/>
            </p:cNvSpPr>
            <p:nvPr/>
          </p:nvSpPr>
          <p:spPr bwMode="auto">
            <a:xfrm>
              <a:off x="1737252"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60" name="直接连接符 50"/>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1" name="直接连接符 51"/>
            <p:cNvCxnSpPr>
              <a:cxnSpLocks noChangeShapeType="1"/>
            </p:cNvCxnSpPr>
            <p:nvPr/>
          </p:nvCxnSpPr>
          <p:spPr bwMode="auto">
            <a:xfrm>
              <a:off x="1737252" y="2084712"/>
              <a:ext cx="170910" cy="0"/>
            </a:xfrm>
            <a:prstGeom prst="line">
              <a:avLst/>
            </a:prstGeom>
            <a:noFill/>
            <a:ln w="9525" algn="ctr">
              <a:solidFill>
                <a:schemeClr val="tx1"/>
              </a:solidFill>
              <a:round/>
              <a:headEnd/>
              <a:tailEnd/>
            </a:ln>
          </p:spPr>
        </p:cxnSp>
        <p:cxnSp>
          <p:nvCxnSpPr>
            <p:cNvPr id="63" name="直接连接符 52"/>
            <p:cNvCxnSpPr>
              <a:cxnSpLocks noChangeShapeType="1"/>
            </p:cNvCxnSpPr>
            <p:nvPr/>
          </p:nvCxnSpPr>
          <p:spPr bwMode="auto">
            <a:xfrm>
              <a:off x="1737252" y="2142914"/>
              <a:ext cx="170910" cy="0"/>
            </a:xfrm>
            <a:prstGeom prst="line">
              <a:avLst/>
            </a:prstGeom>
            <a:noFill/>
            <a:ln w="9525" algn="ctr">
              <a:solidFill>
                <a:schemeClr val="tx1"/>
              </a:solidFill>
              <a:round/>
              <a:headEnd/>
              <a:tailEnd/>
            </a:ln>
          </p:spPr>
        </p:cxnSp>
        <p:cxnSp>
          <p:nvCxnSpPr>
            <p:cNvPr id="64" name="直接连接符 53"/>
            <p:cNvCxnSpPr>
              <a:cxnSpLocks noChangeShapeType="1"/>
            </p:cNvCxnSpPr>
            <p:nvPr/>
          </p:nvCxnSpPr>
          <p:spPr bwMode="auto">
            <a:xfrm>
              <a:off x="1737252" y="2193457"/>
              <a:ext cx="170910" cy="0"/>
            </a:xfrm>
            <a:prstGeom prst="line">
              <a:avLst/>
            </a:prstGeom>
            <a:noFill/>
            <a:ln w="9525" algn="ctr">
              <a:solidFill>
                <a:schemeClr val="tx1"/>
              </a:solidFill>
              <a:round/>
              <a:headEnd/>
              <a:tailEnd/>
            </a:ln>
          </p:spPr>
        </p:cxnSp>
        <p:cxnSp>
          <p:nvCxnSpPr>
            <p:cNvPr id="65" name="直接连接符 54"/>
            <p:cNvCxnSpPr>
              <a:cxnSpLocks noChangeShapeType="1"/>
            </p:cNvCxnSpPr>
            <p:nvPr/>
          </p:nvCxnSpPr>
          <p:spPr bwMode="auto">
            <a:xfrm>
              <a:off x="1737252" y="2251659"/>
              <a:ext cx="170910" cy="0"/>
            </a:xfrm>
            <a:prstGeom prst="line">
              <a:avLst/>
            </a:prstGeom>
            <a:noFill/>
            <a:ln w="9525" algn="ctr">
              <a:solidFill>
                <a:schemeClr val="tx1"/>
              </a:solidFill>
              <a:round/>
              <a:headEnd/>
              <a:tailEnd/>
            </a:ln>
          </p:spPr>
        </p:cxnSp>
        <p:sp>
          <p:nvSpPr>
            <p:cNvPr id="68" name="矩形 55"/>
            <p:cNvSpPr>
              <a:spLocks noChangeArrowheads="1"/>
            </p:cNvSpPr>
            <p:nvPr/>
          </p:nvSpPr>
          <p:spPr bwMode="auto">
            <a:xfrm>
              <a:off x="2267364"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71" name="直接连接符 56"/>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72" name="直接连接符 57"/>
            <p:cNvCxnSpPr>
              <a:cxnSpLocks noChangeShapeType="1"/>
            </p:cNvCxnSpPr>
            <p:nvPr/>
          </p:nvCxnSpPr>
          <p:spPr bwMode="auto">
            <a:xfrm>
              <a:off x="2267364" y="2084712"/>
              <a:ext cx="170910" cy="0"/>
            </a:xfrm>
            <a:prstGeom prst="line">
              <a:avLst/>
            </a:prstGeom>
            <a:noFill/>
            <a:ln w="9525" algn="ctr">
              <a:solidFill>
                <a:schemeClr val="tx1"/>
              </a:solidFill>
              <a:round/>
              <a:headEnd/>
              <a:tailEnd/>
            </a:ln>
          </p:spPr>
        </p:cxnSp>
        <p:cxnSp>
          <p:nvCxnSpPr>
            <p:cNvPr id="80" name="直接连接符 58"/>
            <p:cNvCxnSpPr>
              <a:cxnSpLocks noChangeShapeType="1"/>
            </p:cNvCxnSpPr>
            <p:nvPr/>
          </p:nvCxnSpPr>
          <p:spPr bwMode="auto">
            <a:xfrm>
              <a:off x="2267364" y="2142914"/>
              <a:ext cx="170910" cy="0"/>
            </a:xfrm>
            <a:prstGeom prst="line">
              <a:avLst/>
            </a:prstGeom>
            <a:noFill/>
            <a:ln w="9525" algn="ctr">
              <a:solidFill>
                <a:schemeClr val="tx1"/>
              </a:solidFill>
              <a:round/>
              <a:headEnd/>
              <a:tailEnd/>
            </a:ln>
          </p:spPr>
        </p:cxnSp>
        <p:cxnSp>
          <p:nvCxnSpPr>
            <p:cNvPr id="81" name="直接连接符 59"/>
            <p:cNvCxnSpPr>
              <a:cxnSpLocks noChangeShapeType="1"/>
            </p:cNvCxnSpPr>
            <p:nvPr/>
          </p:nvCxnSpPr>
          <p:spPr bwMode="auto">
            <a:xfrm>
              <a:off x="2267364" y="2193457"/>
              <a:ext cx="170910" cy="0"/>
            </a:xfrm>
            <a:prstGeom prst="line">
              <a:avLst/>
            </a:prstGeom>
            <a:noFill/>
            <a:ln w="9525" algn="ctr">
              <a:solidFill>
                <a:schemeClr val="tx1"/>
              </a:solidFill>
              <a:round/>
              <a:headEnd/>
              <a:tailEnd/>
            </a:ln>
          </p:spPr>
        </p:cxnSp>
        <p:cxnSp>
          <p:nvCxnSpPr>
            <p:cNvPr id="85" name="直接连接符 60"/>
            <p:cNvCxnSpPr>
              <a:cxnSpLocks noChangeShapeType="1"/>
            </p:cNvCxnSpPr>
            <p:nvPr/>
          </p:nvCxnSpPr>
          <p:spPr bwMode="auto">
            <a:xfrm>
              <a:off x="2267364" y="2251659"/>
              <a:ext cx="170910" cy="0"/>
            </a:xfrm>
            <a:prstGeom prst="line">
              <a:avLst/>
            </a:prstGeom>
            <a:noFill/>
            <a:ln w="9525" algn="ctr">
              <a:solidFill>
                <a:schemeClr val="tx1"/>
              </a:solidFill>
              <a:round/>
              <a:headEnd/>
              <a:tailEnd/>
            </a:ln>
          </p:spPr>
        </p:cxnSp>
        <p:sp>
          <p:nvSpPr>
            <p:cNvPr id="89" name="矩形 61"/>
            <p:cNvSpPr>
              <a:spLocks noChangeArrowheads="1"/>
            </p:cNvSpPr>
            <p:nvPr/>
          </p:nvSpPr>
          <p:spPr bwMode="auto">
            <a:xfrm>
              <a:off x="2793131"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0" name="直接连接符 62"/>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2" name="直接连接符 63"/>
            <p:cNvCxnSpPr>
              <a:cxnSpLocks noChangeShapeType="1"/>
            </p:cNvCxnSpPr>
            <p:nvPr/>
          </p:nvCxnSpPr>
          <p:spPr bwMode="auto">
            <a:xfrm>
              <a:off x="2793131" y="2084712"/>
              <a:ext cx="169462" cy="0"/>
            </a:xfrm>
            <a:prstGeom prst="line">
              <a:avLst/>
            </a:prstGeom>
            <a:noFill/>
            <a:ln w="9525" algn="ctr">
              <a:solidFill>
                <a:schemeClr val="tx1"/>
              </a:solidFill>
              <a:round/>
              <a:headEnd/>
              <a:tailEnd/>
            </a:ln>
          </p:spPr>
        </p:cxnSp>
        <p:cxnSp>
          <p:nvCxnSpPr>
            <p:cNvPr id="93" name="直接连接符 64"/>
            <p:cNvCxnSpPr>
              <a:cxnSpLocks noChangeShapeType="1"/>
            </p:cNvCxnSpPr>
            <p:nvPr/>
          </p:nvCxnSpPr>
          <p:spPr bwMode="auto">
            <a:xfrm>
              <a:off x="2793131" y="2142914"/>
              <a:ext cx="169462" cy="0"/>
            </a:xfrm>
            <a:prstGeom prst="line">
              <a:avLst/>
            </a:prstGeom>
            <a:noFill/>
            <a:ln w="9525" algn="ctr">
              <a:solidFill>
                <a:schemeClr val="tx1"/>
              </a:solidFill>
              <a:round/>
              <a:headEnd/>
              <a:tailEnd/>
            </a:ln>
          </p:spPr>
        </p:cxnSp>
        <p:cxnSp>
          <p:nvCxnSpPr>
            <p:cNvPr id="94" name="直接连接符 65"/>
            <p:cNvCxnSpPr>
              <a:cxnSpLocks noChangeShapeType="1"/>
            </p:cNvCxnSpPr>
            <p:nvPr/>
          </p:nvCxnSpPr>
          <p:spPr bwMode="auto">
            <a:xfrm>
              <a:off x="2793131" y="2193457"/>
              <a:ext cx="169462" cy="0"/>
            </a:xfrm>
            <a:prstGeom prst="line">
              <a:avLst/>
            </a:prstGeom>
            <a:noFill/>
            <a:ln w="9525" algn="ctr">
              <a:solidFill>
                <a:schemeClr val="tx1"/>
              </a:solidFill>
              <a:round/>
              <a:headEnd/>
              <a:tailEnd/>
            </a:ln>
          </p:spPr>
        </p:cxnSp>
        <p:cxnSp>
          <p:nvCxnSpPr>
            <p:cNvPr id="95" name="直接连接符 66"/>
            <p:cNvCxnSpPr>
              <a:cxnSpLocks noChangeShapeType="1"/>
            </p:cNvCxnSpPr>
            <p:nvPr/>
          </p:nvCxnSpPr>
          <p:spPr bwMode="auto">
            <a:xfrm>
              <a:off x="2793131" y="2251659"/>
              <a:ext cx="169462" cy="0"/>
            </a:xfrm>
            <a:prstGeom prst="line">
              <a:avLst/>
            </a:prstGeom>
            <a:noFill/>
            <a:ln w="9525" algn="ctr">
              <a:solidFill>
                <a:schemeClr val="tx1"/>
              </a:solidFill>
              <a:round/>
              <a:headEnd/>
              <a:tailEnd/>
            </a:ln>
          </p:spPr>
        </p:cxnSp>
        <p:sp>
          <p:nvSpPr>
            <p:cNvPr id="96" name="矩形 99"/>
            <p:cNvSpPr>
              <a:spLocks noChangeArrowheads="1"/>
            </p:cNvSpPr>
            <p:nvPr/>
          </p:nvSpPr>
          <p:spPr bwMode="auto">
            <a:xfrm>
              <a:off x="1540271"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97" name="矩形 100"/>
            <p:cNvSpPr>
              <a:spLocks noChangeArrowheads="1"/>
            </p:cNvSpPr>
            <p:nvPr/>
          </p:nvSpPr>
          <p:spPr bwMode="auto">
            <a:xfrm>
              <a:off x="1527235"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98" name="直接箭头连接符 105"/>
            <p:cNvCxnSpPr>
              <a:cxnSpLocks noChangeShapeType="1"/>
            </p:cNvCxnSpPr>
            <p:nvPr/>
          </p:nvCxnSpPr>
          <p:spPr bwMode="auto">
            <a:xfrm>
              <a:off x="1828501" y="1830462"/>
              <a:ext cx="0" cy="208301"/>
            </a:xfrm>
            <a:prstGeom prst="straightConnector1">
              <a:avLst/>
            </a:prstGeom>
            <a:noFill/>
            <a:ln w="12700" algn="ctr">
              <a:solidFill>
                <a:schemeClr val="tx1"/>
              </a:solidFill>
              <a:round/>
              <a:headEnd/>
              <a:tailEnd type="triangle" w="sm" len="lg"/>
            </a:ln>
          </p:spPr>
        </p:cxnSp>
        <p:cxnSp>
          <p:nvCxnSpPr>
            <p:cNvPr id="99" name="直接箭头连接符 106"/>
            <p:cNvCxnSpPr>
              <a:cxnSpLocks noChangeShapeType="1"/>
            </p:cNvCxnSpPr>
            <p:nvPr/>
          </p:nvCxnSpPr>
          <p:spPr bwMode="auto">
            <a:xfrm>
              <a:off x="2345578" y="1839652"/>
              <a:ext cx="0" cy="209833"/>
            </a:xfrm>
            <a:prstGeom prst="straightConnector1">
              <a:avLst/>
            </a:prstGeom>
            <a:noFill/>
            <a:ln w="12700" algn="ctr">
              <a:solidFill>
                <a:schemeClr val="tx1"/>
              </a:solidFill>
              <a:round/>
              <a:headEnd/>
              <a:tailEnd type="triangle" w="sm" len="lg"/>
            </a:ln>
          </p:spPr>
        </p:cxnSp>
        <p:cxnSp>
          <p:nvCxnSpPr>
            <p:cNvPr id="100" name="直接箭头连接符 107"/>
            <p:cNvCxnSpPr>
              <a:cxnSpLocks noChangeShapeType="1"/>
            </p:cNvCxnSpPr>
            <p:nvPr/>
          </p:nvCxnSpPr>
          <p:spPr bwMode="auto">
            <a:xfrm>
              <a:off x="2881483" y="1822803"/>
              <a:ext cx="0" cy="209834"/>
            </a:xfrm>
            <a:prstGeom prst="straightConnector1">
              <a:avLst/>
            </a:prstGeom>
            <a:noFill/>
            <a:ln w="12700" algn="ctr">
              <a:solidFill>
                <a:schemeClr val="tx1"/>
              </a:solidFill>
              <a:round/>
              <a:headEnd/>
              <a:tailEnd type="triangle" w="sm" len="lg"/>
            </a:ln>
          </p:spPr>
        </p:cxnSp>
        <p:sp>
          <p:nvSpPr>
            <p:cNvPr id="101" name="Rectangle 5"/>
            <p:cNvSpPr>
              <a:spLocks noChangeArrowheads="1"/>
            </p:cNvSpPr>
            <p:nvPr/>
          </p:nvSpPr>
          <p:spPr bwMode="auto">
            <a:xfrm>
              <a:off x="816074"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应用层</a:t>
              </a:r>
            </a:p>
          </p:txBody>
        </p:sp>
        <p:sp>
          <p:nvSpPr>
            <p:cNvPr id="102" name="Rectangle 5"/>
            <p:cNvSpPr>
              <a:spLocks noChangeArrowheads="1"/>
            </p:cNvSpPr>
            <p:nvPr/>
          </p:nvSpPr>
          <p:spPr bwMode="auto">
            <a:xfrm>
              <a:off x="794348"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运输层</a:t>
              </a:r>
            </a:p>
          </p:txBody>
        </p:sp>
        <p:sp>
          <p:nvSpPr>
            <p:cNvPr id="103" name="Rectangle 5"/>
            <p:cNvSpPr>
              <a:spLocks noChangeArrowheads="1"/>
            </p:cNvSpPr>
            <p:nvPr/>
          </p:nvSpPr>
          <p:spPr bwMode="auto">
            <a:xfrm>
              <a:off x="884148"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solidFill>
                    <a:srgbClr val="0000FF"/>
                  </a:solidFill>
                  <a:latin typeface="微软雅黑" panose="020B0503020204020204" pitchFamily="34" charset="-122"/>
                  <a:ea typeface="微软雅黑" panose="020B0503020204020204" pitchFamily="34" charset="-122"/>
                </a:rPr>
                <a:t>端口</a:t>
              </a:r>
            </a:p>
          </p:txBody>
        </p:sp>
        <p:sp>
          <p:nvSpPr>
            <p:cNvPr id="104" name="Rectangle 74"/>
            <p:cNvSpPr>
              <a:spLocks noChangeArrowheads="1"/>
            </p:cNvSpPr>
            <p:nvPr/>
          </p:nvSpPr>
          <p:spPr bwMode="auto">
            <a:xfrm>
              <a:off x="1452818" y="2024937"/>
              <a:ext cx="28693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a</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5" name="Rectangle 74"/>
            <p:cNvSpPr>
              <a:spLocks noChangeArrowheads="1"/>
            </p:cNvSpPr>
            <p:nvPr/>
          </p:nvSpPr>
          <p:spPr bwMode="auto">
            <a:xfrm>
              <a:off x="1971068" y="2024937"/>
              <a:ext cx="302969"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b</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06" name="Rectangle 74"/>
            <p:cNvSpPr>
              <a:spLocks noChangeArrowheads="1"/>
            </p:cNvSpPr>
            <p:nvPr/>
          </p:nvSpPr>
          <p:spPr bwMode="auto">
            <a:xfrm>
              <a:off x="2518835" y="2024937"/>
              <a:ext cx="275718"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c</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08" name="直接箭头连接符 117"/>
            <p:cNvCxnSpPr>
              <a:cxnSpLocks noChangeShapeType="1"/>
            </p:cNvCxnSpPr>
            <p:nvPr/>
          </p:nvCxnSpPr>
          <p:spPr bwMode="auto">
            <a:xfrm>
              <a:off x="1819810" y="2315988"/>
              <a:ext cx="517077" cy="425793"/>
            </a:xfrm>
            <a:prstGeom prst="straightConnector1">
              <a:avLst/>
            </a:prstGeom>
            <a:noFill/>
            <a:ln w="12700" algn="ctr">
              <a:solidFill>
                <a:schemeClr val="tx1"/>
              </a:solidFill>
              <a:round/>
              <a:headEnd/>
              <a:tailEnd type="triangle" w="sm" len="lg"/>
            </a:ln>
          </p:spPr>
        </p:cxnSp>
        <p:cxnSp>
          <p:nvCxnSpPr>
            <p:cNvPr id="109" name="直接箭头连接符 118"/>
            <p:cNvCxnSpPr>
              <a:cxnSpLocks noChangeShapeType="1"/>
            </p:cNvCxnSpPr>
            <p:nvPr/>
          </p:nvCxnSpPr>
          <p:spPr bwMode="auto">
            <a:xfrm flipH="1">
              <a:off x="2332542" y="2319051"/>
              <a:ext cx="541699" cy="418135"/>
            </a:xfrm>
            <a:prstGeom prst="straightConnector1">
              <a:avLst/>
            </a:prstGeom>
            <a:noFill/>
            <a:ln w="12700" algn="ctr">
              <a:solidFill>
                <a:schemeClr val="tx1"/>
              </a:solidFill>
              <a:round/>
              <a:headEnd/>
              <a:tailEnd type="triangle" w="sm" len="lg"/>
            </a:ln>
          </p:spPr>
        </p:cxnSp>
        <p:sp>
          <p:nvSpPr>
            <p:cNvPr id="110" name="椭圆 121"/>
            <p:cNvSpPr>
              <a:spLocks noChangeArrowheads="1"/>
            </p:cNvSpPr>
            <p:nvPr/>
          </p:nvSpPr>
          <p:spPr bwMode="auto">
            <a:xfrm>
              <a:off x="2299229"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11" name="Rectangle 26"/>
            <p:cNvSpPr>
              <a:spLocks noChangeArrowheads="1"/>
            </p:cNvSpPr>
            <p:nvPr/>
          </p:nvSpPr>
          <p:spPr bwMode="auto">
            <a:xfrm>
              <a:off x="2038392" y="3433721"/>
              <a:ext cx="5261057" cy="274434"/>
            </a:xfrm>
            <a:prstGeom prst="rect">
              <a:avLst/>
            </a:prstGeom>
            <a:noFill/>
            <a:ln w="12700">
              <a:noFill/>
              <a:miter lim="800000"/>
              <a:headEnd/>
              <a:tailEnd/>
            </a:ln>
          </p:spPr>
          <p:txBody>
            <a:bodyPr wrap="none" lIns="90488" tIns="44450" rIns="90488" bIns="44450">
              <a:spAutoFit/>
            </a:bodyPr>
            <a:lstStyle/>
            <a:p>
              <a:pPr algn="ctr" defTabSz="762000" eaLnBrk="0" hangingPunct="0"/>
              <a:r>
                <a:rPr lang="zh-CN" altLang="en-US" sz="1200" b="1" dirty="0">
                  <a:latin typeface="微软雅黑" panose="020B0503020204020204" pitchFamily="34" charset="-122"/>
                  <a:ea typeface="微软雅黑" panose="020B0503020204020204" pitchFamily="34" charset="-122"/>
                </a:rPr>
                <a:t>（请注意：运输层之间的这条虚线不是一条连接，表示的是一条逻辑通道）</a:t>
              </a:r>
            </a:p>
          </p:txBody>
        </p:sp>
        <p:sp>
          <p:nvSpPr>
            <p:cNvPr id="112" name="矩形 111"/>
            <p:cNvSpPr/>
            <p:nvPr/>
          </p:nvSpPr>
          <p:spPr bwMode="auto">
            <a:xfrm>
              <a:off x="6983332" y="1962182"/>
              <a:ext cx="301266" cy="350742"/>
            </a:xfrm>
            <a:prstGeom prst="rect">
              <a:avLst/>
            </a:prstGeom>
            <a:solidFill>
              <a:schemeClr val="bg1">
                <a:lumMod val="95000"/>
              </a:schemeClr>
            </a:solidFill>
            <a:ln w="19050" cap="flat" cmpd="sng" algn="ctr">
              <a:solidFill>
                <a:schemeClr val="tx1"/>
              </a:solid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5" name="矩形 114"/>
            <p:cNvSpPr/>
            <p:nvPr/>
          </p:nvSpPr>
          <p:spPr bwMode="auto">
            <a:xfrm>
              <a:off x="7048510" y="2086243"/>
              <a:ext cx="172359" cy="56671"/>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6" name="矩形 115"/>
            <p:cNvSpPr/>
            <p:nvPr/>
          </p:nvSpPr>
          <p:spPr bwMode="auto">
            <a:xfrm>
              <a:off x="6415562" y="2028041"/>
              <a:ext cx="172358"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17" name="矩形 116"/>
            <p:cNvSpPr/>
            <p:nvPr/>
          </p:nvSpPr>
          <p:spPr bwMode="auto">
            <a:xfrm>
              <a:off x="7052855" y="2029574"/>
              <a:ext cx="170910"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cxnSp>
          <p:nvCxnSpPr>
            <p:cNvPr id="118" name="直接连接符 50"/>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19" name="直接连接符 51"/>
            <p:cNvCxnSpPr>
              <a:cxnSpLocks noChangeShapeType="1"/>
            </p:cNvCxnSpPr>
            <p:nvPr/>
          </p:nvCxnSpPr>
          <p:spPr bwMode="auto">
            <a:xfrm>
              <a:off x="6412665" y="2084712"/>
              <a:ext cx="170910" cy="0"/>
            </a:xfrm>
            <a:prstGeom prst="line">
              <a:avLst/>
            </a:prstGeom>
            <a:noFill/>
            <a:ln w="9525" algn="ctr">
              <a:solidFill>
                <a:schemeClr val="tx1"/>
              </a:solidFill>
              <a:round/>
              <a:headEnd/>
              <a:tailEnd/>
            </a:ln>
          </p:spPr>
        </p:cxnSp>
        <p:cxnSp>
          <p:nvCxnSpPr>
            <p:cNvPr id="120" name="直接连接符 52"/>
            <p:cNvCxnSpPr>
              <a:cxnSpLocks noChangeShapeType="1"/>
            </p:cNvCxnSpPr>
            <p:nvPr/>
          </p:nvCxnSpPr>
          <p:spPr bwMode="auto">
            <a:xfrm>
              <a:off x="6412665" y="2142914"/>
              <a:ext cx="170910" cy="0"/>
            </a:xfrm>
            <a:prstGeom prst="line">
              <a:avLst/>
            </a:prstGeom>
            <a:noFill/>
            <a:ln w="9525" algn="ctr">
              <a:solidFill>
                <a:schemeClr val="tx1"/>
              </a:solidFill>
              <a:round/>
              <a:headEnd/>
              <a:tailEnd/>
            </a:ln>
          </p:spPr>
        </p:cxnSp>
        <p:cxnSp>
          <p:nvCxnSpPr>
            <p:cNvPr id="121" name="直接连接符 53"/>
            <p:cNvCxnSpPr>
              <a:cxnSpLocks noChangeShapeType="1"/>
            </p:cNvCxnSpPr>
            <p:nvPr/>
          </p:nvCxnSpPr>
          <p:spPr bwMode="auto">
            <a:xfrm>
              <a:off x="6412665" y="2193457"/>
              <a:ext cx="170910" cy="0"/>
            </a:xfrm>
            <a:prstGeom prst="line">
              <a:avLst/>
            </a:prstGeom>
            <a:noFill/>
            <a:ln w="9525" algn="ctr">
              <a:solidFill>
                <a:schemeClr val="tx1"/>
              </a:solidFill>
              <a:round/>
              <a:headEnd/>
              <a:tailEnd/>
            </a:ln>
          </p:spPr>
        </p:cxnSp>
        <p:cxnSp>
          <p:nvCxnSpPr>
            <p:cNvPr id="122" name="直接连接符 54"/>
            <p:cNvCxnSpPr>
              <a:cxnSpLocks noChangeShapeType="1"/>
            </p:cNvCxnSpPr>
            <p:nvPr/>
          </p:nvCxnSpPr>
          <p:spPr bwMode="auto">
            <a:xfrm>
              <a:off x="6412665" y="2251659"/>
              <a:ext cx="170910" cy="0"/>
            </a:xfrm>
            <a:prstGeom prst="line">
              <a:avLst/>
            </a:prstGeom>
            <a:noFill/>
            <a:ln w="9525" algn="ctr">
              <a:solidFill>
                <a:schemeClr val="tx1"/>
              </a:solidFill>
              <a:round/>
              <a:headEnd/>
              <a:tailEnd/>
            </a:ln>
          </p:spPr>
        </p:cxnSp>
        <p:cxnSp>
          <p:nvCxnSpPr>
            <p:cNvPr id="123" name="直接连接符 62"/>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4" name="直接连接符 63"/>
            <p:cNvCxnSpPr>
              <a:cxnSpLocks noChangeShapeType="1"/>
            </p:cNvCxnSpPr>
            <p:nvPr/>
          </p:nvCxnSpPr>
          <p:spPr bwMode="auto">
            <a:xfrm>
              <a:off x="7052855" y="2084712"/>
              <a:ext cx="169462" cy="0"/>
            </a:xfrm>
            <a:prstGeom prst="line">
              <a:avLst/>
            </a:prstGeom>
            <a:noFill/>
            <a:ln w="9525" algn="ctr">
              <a:solidFill>
                <a:schemeClr val="tx1"/>
              </a:solidFill>
              <a:round/>
              <a:headEnd/>
              <a:tailEnd/>
            </a:ln>
          </p:spPr>
        </p:cxnSp>
        <p:cxnSp>
          <p:nvCxnSpPr>
            <p:cNvPr id="125" name="直接连接符 64"/>
            <p:cNvCxnSpPr>
              <a:cxnSpLocks noChangeShapeType="1"/>
            </p:cNvCxnSpPr>
            <p:nvPr/>
          </p:nvCxnSpPr>
          <p:spPr bwMode="auto">
            <a:xfrm>
              <a:off x="7052855" y="2142914"/>
              <a:ext cx="169462" cy="0"/>
            </a:xfrm>
            <a:prstGeom prst="line">
              <a:avLst/>
            </a:prstGeom>
            <a:noFill/>
            <a:ln w="9525" algn="ctr">
              <a:solidFill>
                <a:schemeClr val="tx1"/>
              </a:solidFill>
              <a:round/>
              <a:headEnd/>
              <a:tailEnd/>
            </a:ln>
          </p:spPr>
        </p:cxnSp>
        <p:cxnSp>
          <p:nvCxnSpPr>
            <p:cNvPr id="126" name="直接连接符 65"/>
            <p:cNvCxnSpPr>
              <a:cxnSpLocks noChangeShapeType="1"/>
            </p:cNvCxnSpPr>
            <p:nvPr/>
          </p:nvCxnSpPr>
          <p:spPr bwMode="auto">
            <a:xfrm>
              <a:off x="7052855" y="2193457"/>
              <a:ext cx="169462" cy="0"/>
            </a:xfrm>
            <a:prstGeom prst="line">
              <a:avLst/>
            </a:prstGeom>
            <a:noFill/>
            <a:ln w="9525" algn="ctr">
              <a:solidFill>
                <a:schemeClr val="tx1"/>
              </a:solidFill>
              <a:round/>
              <a:headEnd/>
              <a:tailEnd/>
            </a:ln>
          </p:spPr>
        </p:cxnSp>
        <p:cxnSp>
          <p:nvCxnSpPr>
            <p:cNvPr id="127" name="直接连接符 66"/>
            <p:cNvCxnSpPr>
              <a:cxnSpLocks noChangeShapeType="1"/>
            </p:cNvCxnSpPr>
            <p:nvPr/>
          </p:nvCxnSpPr>
          <p:spPr bwMode="auto">
            <a:xfrm>
              <a:off x="7052855" y="2251659"/>
              <a:ext cx="169462" cy="0"/>
            </a:xfrm>
            <a:prstGeom prst="line">
              <a:avLst/>
            </a:prstGeom>
            <a:noFill/>
            <a:ln w="9525" algn="ctr">
              <a:solidFill>
                <a:schemeClr val="tx1"/>
              </a:solidFill>
              <a:round/>
              <a:headEnd/>
              <a:tailEnd/>
            </a:ln>
          </p:spPr>
        </p:cxnSp>
        <p:sp>
          <p:nvSpPr>
            <p:cNvPr id="128" name="矩形 99"/>
            <p:cNvSpPr>
              <a:spLocks noChangeArrowheads="1"/>
            </p:cNvSpPr>
            <p:nvPr/>
          </p:nvSpPr>
          <p:spPr bwMode="auto">
            <a:xfrm>
              <a:off x="6008563" y="1476655"/>
              <a:ext cx="1642478" cy="485527"/>
            </a:xfrm>
            <a:prstGeom prst="rect">
              <a:avLst/>
            </a:prstGeom>
            <a:solidFill>
              <a:schemeClr val="accent6">
                <a:lumMod val="60000"/>
                <a:lumOff val="40000"/>
              </a:schemeClr>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29" name="矩形 100"/>
            <p:cNvSpPr>
              <a:spLocks noChangeArrowheads="1"/>
            </p:cNvSpPr>
            <p:nvPr/>
          </p:nvSpPr>
          <p:spPr bwMode="auto">
            <a:xfrm>
              <a:off x="5995528" y="2319051"/>
              <a:ext cx="1642478" cy="416603"/>
            </a:xfrm>
            <a:prstGeom prst="rect">
              <a:avLst/>
            </a:prstGeom>
            <a:solidFill>
              <a:srgbClr val="FF99FF"/>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30" name="直接箭头连接符 105"/>
            <p:cNvCxnSpPr>
              <a:cxnSpLocks noChangeShapeType="1"/>
            </p:cNvCxnSpPr>
            <p:nvPr/>
          </p:nvCxnSpPr>
          <p:spPr bwMode="auto">
            <a:xfrm flipV="1">
              <a:off x="6503914" y="1830462"/>
              <a:ext cx="0" cy="208301"/>
            </a:xfrm>
            <a:prstGeom prst="straightConnector1">
              <a:avLst/>
            </a:prstGeom>
            <a:noFill/>
            <a:ln w="12700" algn="ctr">
              <a:solidFill>
                <a:schemeClr val="tx1"/>
              </a:solidFill>
              <a:round/>
              <a:headEnd/>
              <a:tailEnd type="triangle" w="sm" len="lg"/>
            </a:ln>
          </p:spPr>
        </p:cxnSp>
        <p:cxnSp>
          <p:nvCxnSpPr>
            <p:cNvPr id="131" name="直接箭头连接符 107"/>
            <p:cNvCxnSpPr>
              <a:cxnSpLocks noChangeShapeType="1"/>
            </p:cNvCxnSpPr>
            <p:nvPr/>
          </p:nvCxnSpPr>
          <p:spPr bwMode="auto">
            <a:xfrm flipV="1">
              <a:off x="7141207" y="1822803"/>
              <a:ext cx="0" cy="209834"/>
            </a:xfrm>
            <a:prstGeom prst="straightConnector1">
              <a:avLst/>
            </a:prstGeom>
            <a:noFill/>
            <a:ln w="12700" algn="ctr">
              <a:solidFill>
                <a:schemeClr val="tx1"/>
              </a:solidFill>
              <a:round/>
              <a:headEnd/>
              <a:tailEnd type="triangle" w="sm" len="lg"/>
            </a:ln>
          </p:spPr>
        </p:cxnSp>
        <p:sp>
          <p:nvSpPr>
            <p:cNvPr id="132" name="Rectangle 74"/>
            <p:cNvSpPr>
              <a:spLocks noChangeArrowheads="1"/>
            </p:cNvSpPr>
            <p:nvPr/>
          </p:nvSpPr>
          <p:spPr bwMode="auto">
            <a:xfrm>
              <a:off x="6122438" y="2024937"/>
              <a:ext cx="262159" cy="305212"/>
            </a:xfrm>
            <a:prstGeom prst="rect">
              <a:avLst/>
            </a:prstGeom>
            <a:noFill/>
            <a:ln w="12700">
              <a:noFill/>
              <a:miter lim="800000"/>
              <a:headEnd/>
              <a:tailEnd/>
            </a:ln>
          </p:spPr>
          <p:txBody>
            <a:bodyPr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x                              </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sp>
          <p:nvSpPr>
            <p:cNvPr id="133" name="Rectangle 74"/>
            <p:cNvSpPr>
              <a:spLocks noChangeArrowheads="1"/>
            </p:cNvSpPr>
            <p:nvPr/>
          </p:nvSpPr>
          <p:spPr bwMode="auto">
            <a:xfrm>
              <a:off x="6753937" y="2024937"/>
              <a:ext cx="285336" cy="305212"/>
            </a:xfrm>
            <a:prstGeom prst="rect">
              <a:avLst/>
            </a:prstGeom>
            <a:noFill/>
            <a:ln w="12700">
              <a:noFill/>
              <a:miter lim="800000"/>
              <a:headEnd/>
              <a:tailEnd/>
            </a:ln>
          </p:spPr>
          <p:txBody>
            <a:bodyPr wrap="none" lIns="90488" tIns="44450" rIns="90488" bIns="44450">
              <a:spAutoFit/>
            </a:bodyPr>
            <a:lstStyle/>
            <a:p>
              <a:pPr defTabSz="762000" eaLnBrk="0" hangingPunct="0"/>
              <a:r>
                <a:rPr lang="en-US" altLang="zh-CN" sz="1400" b="1" dirty="0">
                  <a:solidFill>
                    <a:srgbClr val="0000FF"/>
                  </a:solidFill>
                  <a:latin typeface="微软雅黑" panose="020B0503020204020204" pitchFamily="34" charset="-122"/>
                  <a:ea typeface="微软雅黑" panose="020B0503020204020204" pitchFamily="34" charset="-122"/>
                </a:rPr>
                <a:t>y</a:t>
              </a:r>
              <a:endParaRPr lang="zh-CN" altLang="en-US" sz="1400" b="1">
                <a:solidFill>
                  <a:srgbClr val="0000FF"/>
                </a:solidFill>
                <a:latin typeface="微软雅黑" panose="020B0503020204020204" pitchFamily="34" charset="-122"/>
                <a:ea typeface="微软雅黑" panose="020B0503020204020204" pitchFamily="34" charset="-122"/>
              </a:endParaRPr>
            </a:p>
          </p:txBody>
        </p:sp>
        <p:cxnSp>
          <p:nvCxnSpPr>
            <p:cNvPr id="134" name="直接箭头连接符 117"/>
            <p:cNvCxnSpPr>
              <a:cxnSpLocks noChangeShapeType="1"/>
            </p:cNvCxnSpPr>
            <p:nvPr/>
          </p:nvCxnSpPr>
          <p:spPr bwMode="auto">
            <a:xfrm flipH="1" flipV="1">
              <a:off x="6495223" y="2308330"/>
              <a:ext cx="309956" cy="438046"/>
            </a:xfrm>
            <a:prstGeom prst="straightConnector1">
              <a:avLst/>
            </a:prstGeom>
            <a:noFill/>
            <a:ln w="12700" algn="ctr">
              <a:solidFill>
                <a:schemeClr val="tx1"/>
              </a:solidFill>
              <a:round/>
              <a:headEnd/>
              <a:tailEnd type="triangle" w="sm" len="lg"/>
            </a:ln>
          </p:spPr>
        </p:cxnSp>
        <p:cxnSp>
          <p:nvCxnSpPr>
            <p:cNvPr id="135" name="直接箭头连接符 118"/>
            <p:cNvCxnSpPr>
              <a:cxnSpLocks noChangeShapeType="1"/>
            </p:cNvCxnSpPr>
            <p:nvPr/>
          </p:nvCxnSpPr>
          <p:spPr bwMode="auto">
            <a:xfrm flipV="1">
              <a:off x="6800835" y="2328241"/>
              <a:ext cx="311404" cy="424262"/>
            </a:xfrm>
            <a:prstGeom prst="straightConnector1">
              <a:avLst/>
            </a:prstGeom>
            <a:noFill/>
            <a:ln w="12700" algn="ctr">
              <a:solidFill>
                <a:schemeClr val="tx1"/>
              </a:solidFill>
              <a:round/>
              <a:headEnd/>
              <a:tailEnd type="triangle" w="sm" len="lg"/>
            </a:ln>
          </p:spPr>
        </p:cxnSp>
        <p:sp>
          <p:nvSpPr>
            <p:cNvPr id="136" name="矩形 135"/>
            <p:cNvSpPr/>
            <p:nvPr/>
          </p:nvSpPr>
          <p:spPr bwMode="auto">
            <a:xfrm>
              <a:off x="7054303" y="2149041"/>
              <a:ext cx="172359" cy="56670"/>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7" name="椭圆 121"/>
            <p:cNvSpPr>
              <a:spLocks noChangeArrowheads="1"/>
            </p:cNvSpPr>
            <p:nvPr/>
          </p:nvSpPr>
          <p:spPr bwMode="auto">
            <a:xfrm>
              <a:off x="6767521" y="2717274"/>
              <a:ext cx="66626" cy="70455"/>
            </a:xfrm>
            <a:prstGeom prst="ellipse">
              <a:avLst/>
            </a:prstGeom>
            <a:solidFill>
              <a:schemeClr val="tx1"/>
            </a:solid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38" name="矩形 137"/>
            <p:cNvSpPr/>
            <p:nvPr/>
          </p:nvSpPr>
          <p:spPr bwMode="auto">
            <a:xfrm>
              <a:off x="6411217" y="2198053"/>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39" name="矩形 138"/>
            <p:cNvSpPr/>
            <p:nvPr/>
          </p:nvSpPr>
          <p:spPr bwMode="auto">
            <a:xfrm>
              <a:off x="6419907" y="2087775"/>
              <a:ext cx="172359" cy="55139"/>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zh-CN" altLang="en-US" sz="1600" b="1">
                <a:latin typeface="微软雅黑" panose="020B0503020204020204" pitchFamily="34" charset="-122"/>
                <a:ea typeface="微软雅黑" panose="020B0503020204020204" pitchFamily="34" charset="-122"/>
              </a:endParaRPr>
            </a:p>
          </p:txBody>
        </p:sp>
        <p:sp>
          <p:nvSpPr>
            <p:cNvPr id="140" name="矩形 48"/>
            <p:cNvSpPr>
              <a:spLocks noChangeArrowheads="1"/>
            </p:cNvSpPr>
            <p:nvPr/>
          </p:nvSpPr>
          <p:spPr bwMode="auto">
            <a:xfrm>
              <a:off x="6412665" y="2029574"/>
              <a:ext cx="170910"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41" name="直接连接符 66"/>
            <p:cNvCxnSpPr>
              <a:cxnSpLocks noChangeShapeType="1"/>
            </p:cNvCxnSpPr>
            <p:nvPr/>
          </p:nvCxnSpPr>
          <p:spPr bwMode="auto">
            <a:xfrm>
              <a:off x="7058649" y="2204179"/>
              <a:ext cx="169462" cy="0"/>
            </a:xfrm>
            <a:prstGeom prst="line">
              <a:avLst/>
            </a:prstGeom>
            <a:noFill/>
            <a:ln w="9525" algn="ctr">
              <a:solidFill>
                <a:schemeClr val="tx1"/>
              </a:solidFill>
              <a:round/>
              <a:headEnd/>
              <a:tailEnd/>
            </a:ln>
          </p:spPr>
        </p:cxnSp>
        <p:cxnSp>
          <p:nvCxnSpPr>
            <p:cNvPr id="142" name="直接箭头连接符 131"/>
            <p:cNvCxnSpPr>
              <a:cxnSpLocks noChangeShapeType="1"/>
            </p:cNvCxnSpPr>
            <p:nvPr/>
          </p:nvCxnSpPr>
          <p:spPr bwMode="auto">
            <a:xfrm flipV="1">
              <a:off x="6797301" y="2746377"/>
              <a:ext cx="15121" cy="639594"/>
            </a:xfrm>
            <a:prstGeom prst="straightConnector1">
              <a:avLst/>
            </a:prstGeom>
            <a:noFill/>
            <a:ln w="28575" algn="ctr">
              <a:solidFill>
                <a:srgbClr val="000066"/>
              </a:solidFill>
              <a:prstDash val="sysDot"/>
              <a:round/>
              <a:headEnd/>
              <a:tailEnd type="triangle" w="sm" len="lg"/>
            </a:ln>
          </p:spPr>
        </p:cxnSp>
        <p:sp>
          <p:nvSpPr>
            <p:cNvPr id="144" name="Rectangle 5"/>
            <p:cNvSpPr>
              <a:spLocks noChangeArrowheads="1"/>
            </p:cNvSpPr>
            <p:nvPr/>
          </p:nvSpPr>
          <p:spPr bwMode="auto">
            <a:xfrm>
              <a:off x="7652490" y="2389914"/>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运输层</a:t>
              </a:r>
            </a:p>
          </p:txBody>
        </p:sp>
        <p:sp>
          <p:nvSpPr>
            <p:cNvPr id="145" name="Rectangle 5"/>
            <p:cNvSpPr>
              <a:spLocks noChangeArrowheads="1"/>
            </p:cNvSpPr>
            <p:nvPr/>
          </p:nvSpPr>
          <p:spPr bwMode="auto">
            <a:xfrm>
              <a:off x="7742290" y="1989077"/>
              <a:ext cx="541816" cy="305212"/>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solidFill>
                    <a:srgbClr val="0000FF"/>
                  </a:solidFill>
                  <a:latin typeface="微软雅黑" panose="020B0503020204020204" pitchFamily="34" charset="-122"/>
                  <a:ea typeface="微软雅黑" panose="020B0503020204020204" pitchFamily="34" charset="-122"/>
                </a:rPr>
                <a:t>端口</a:t>
              </a:r>
            </a:p>
          </p:txBody>
        </p:sp>
        <p:sp>
          <p:nvSpPr>
            <p:cNvPr id="146" name="矩形 61"/>
            <p:cNvSpPr>
              <a:spLocks noChangeArrowheads="1"/>
            </p:cNvSpPr>
            <p:nvPr/>
          </p:nvSpPr>
          <p:spPr bwMode="auto">
            <a:xfrm>
              <a:off x="7052855" y="2029574"/>
              <a:ext cx="169462" cy="280288"/>
            </a:xfrm>
            <a:prstGeom prst="rect">
              <a:avLst/>
            </a:prstGeom>
            <a:noFill/>
            <a:ln w="9525" algn="ctr">
              <a:solidFill>
                <a:schemeClr val="tx1"/>
              </a:solid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47" name="Rectangle 5"/>
            <p:cNvSpPr>
              <a:spLocks noChangeArrowheads="1"/>
            </p:cNvSpPr>
            <p:nvPr/>
          </p:nvSpPr>
          <p:spPr bwMode="auto">
            <a:xfrm>
              <a:off x="3578160" y="1476655"/>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48" name="直接箭头连接符 117"/>
            <p:cNvCxnSpPr>
              <a:cxnSpLocks noChangeShapeType="1"/>
              <a:stCxn id="147" idx="1"/>
            </p:cNvCxnSpPr>
            <p:nvPr/>
          </p:nvCxnSpPr>
          <p:spPr bwMode="auto">
            <a:xfrm flipH="1">
              <a:off x="2985768" y="1623890"/>
              <a:ext cx="592391" cy="129990"/>
            </a:xfrm>
            <a:prstGeom prst="straightConnector1">
              <a:avLst/>
            </a:prstGeom>
            <a:noFill/>
            <a:ln w="12700" algn="ctr">
              <a:solidFill>
                <a:schemeClr val="tx1"/>
              </a:solidFill>
              <a:round/>
              <a:headEnd/>
              <a:tailEnd type="triangle" w="sm" len="lg"/>
            </a:ln>
          </p:spPr>
        </p:cxnSp>
        <p:sp>
          <p:nvSpPr>
            <p:cNvPr id="149" name="Rectangle 5"/>
            <p:cNvSpPr>
              <a:spLocks noChangeArrowheads="1"/>
            </p:cNvSpPr>
            <p:nvPr/>
          </p:nvSpPr>
          <p:spPr bwMode="auto">
            <a:xfrm>
              <a:off x="5003027" y="1483889"/>
              <a:ext cx="821947"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应用进程</a:t>
              </a:r>
            </a:p>
          </p:txBody>
        </p:sp>
        <p:cxnSp>
          <p:nvCxnSpPr>
            <p:cNvPr id="150" name="直接箭头连接符 117"/>
            <p:cNvCxnSpPr>
              <a:cxnSpLocks noChangeShapeType="1"/>
            </p:cNvCxnSpPr>
            <p:nvPr/>
          </p:nvCxnSpPr>
          <p:spPr bwMode="auto">
            <a:xfrm>
              <a:off x="5833663" y="1649501"/>
              <a:ext cx="562318" cy="126797"/>
            </a:xfrm>
            <a:prstGeom prst="straightConnector1">
              <a:avLst/>
            </a:prstGeom>
            <a:noFill/>
            <a:ln w="12700" algn="ctr">
              <a:solidFill>
                <a:schemeClr val="tx1"/>
              </a:solidFill>
              <a:round/>
              <a:headEnd/>
              <a:tailEnd type="triangle" w="sm" len="lg"/>
            </a:ln>
          </p:spPr>
        </p:cxnSp>
        <p:sp>
          <p:nvSpPr>
            <p:cNvPr id="151" name="Rectangle 5"/>
            <p:cNvSpPr>
              <a:spLocks noChangeArrowheads="1"/>
            </p:cNvSpPr>
            <p:nvPr/>
          </p:nvSpPr>
          <p:spPr bwMode="auto">
            <a:xfrm rot="10800000" flipV="1">
              <a:off x="2161630" y="1138723"/>
              <a:ext cx="475073"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H</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8" name="下箭头 136"/>
            <p:cNvSpPr>
              <a:spLocks noChangeArrowheads="1"/>
            </p:cNvSpPr>
            <p:nvPr/>
          </p:nvSpPr>
          <p:spPr bwMode="auto">
            <a:xfrm rot="18780000">
              <a:off x="1889633" y="2421171"/>
              <a:ext cx="68924" cy="115871"/>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1" name="下箭头 147"/>
            <p:cNvSpPr>
              <a:spLocks noChangeArrowheads="1"/>
            </p:cNvSpPr>
            <p:nvPr/>
          </p:nvSpPr>
          <p:spPr bwMode="auto">
            <a:xfrm rot="8520000">
              <a:off x="6606750" y="2568707"/>
              <a:ext cx="66626" cy="139378"/>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2" name="燕尾形 153"/>
            <p:cNvSpPr>
              <a:spLocks noChangeArrowheads="1"/>
            </p:cNvSpPr>
            <p:nvPr/>
          </p:nvSpPr>
          <p:spPr bwMode="auto">
            <a:xfrm rot="8310183">
              <a:off x="2732298" y="2443113"/>
              <a:ext cx="131804" cy="68923"/>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63" name="燕尾形 153"/>
            <p:cNvSpPr>
              <a:spLocks noChangeArrowheads="1"/>
            </p:cNvSpPr>
            <p:nvPr/>
          </p:nvSpPr>
          <p:spPr bwMode="auto">
            <a:xfrm rot="18360000" flipV="1">
              <a:off x="6989684" y="2492466"/>
              <a:ext cx="139378" cy="65177"/>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cxnSp>
          <p:nvCxnSpPr>
            <p:cNvPr id="164" name="直接箭头连接符 131"/>
            <p:cNvCxnSpPr>
              <a:cxnSpLocks noChangeShapeType="1"/>
            </p:cNvCxnSpPr>
            <p:nvPr/>
          </p:nvCxnSpPr>
          <p:spPr bwMode="auto">
            <a:xfrm>
              <a:off x="2325300" y="2783135"/>
              <a:ext cx="0" cy="600539"/>
            </a:xfrm>
            <a:prstGeom prst="straightConnector1">
              <a:avLst/>
            </a:prstGeom>
            <a:noFill/>
            <a:ln w="28575" algn="ctr">
              <a:solidFill>
                <a:srgbClr val="000066"/>
              </a:solidFill>
              <a:prstDash val="sysDot"/>
              <a:round/>
              <a:headEnd/>
              <a:tailEnd type="triangle" w="sm" len="lg"/>
            </a:ln>
          </p:spPr>
        </p:cxnSp>
        <p:cxnSp>
          <p:nvCxnSpPr>
            <p:cNvPr id="165" name="直接箭头连接符 131"/>
            <p:cNvCxnSpPr>
              <a:cxnSpLocks noChangeShapeType="1"/>
            </p:cNvCxnSpPr>
            <p:nvPr/>
          </p:nvCxnSpPr>
          <p:spPr bwMode="auto">
            <a:xfrm flipV="1">
              <a:off x="2313713" y="3383674"/>
              <a:ext cx="4521883" cy="4594"/>
            </a:xfrm>
            <a:prstGeom prst="straightConnector1">
              <a:avLst/>
            </a:prstGeom>
            <a:noFill/>
            <a:ln w="28575" algn="ctr">
              <a:solidFill>
                <a:srgbClr val="000066"/>
              </a:solidFill>
              <a:prstDash val="sysDot"/>
              <a:round/>
              <a:headEnd/>
              <a:tailEnd type="triangle" w="sm" len="lg"/>
            </a:ln>
          </p:spPr>
        </p:cxnSp>
        <p:sp>
          <p:nvSpPr>
            <p:cNvPr id="167" name="Rectangle 5"/>
            <p:cNvSpPr>
              <a:spLocks noChangeArrowheads="1"/>
            </p:cNvSpPr>
            <p:nvPr/>
          </p:nvSpPr>
          <p:spPr bwMode="auto">
            <a:xfrm>
              <a:off x="3500509" y="2361476"/>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复用</a:t>
              </a:r>
            </a:p>
          </p:txBody>
        </p:sp>
        <p:sp>
          <p:nvSpPr>
            <p:cNvPr id="168" name="Rectangle 5"/>
            <p:cNvSpPr>
              <a:spLocks noChangeArrowheads="1"/>
            </p:cNvSpPr>
            <p:nvPr/>
          </p:nvSpPr>
          <p:spPr bwMode="auto">
            <a:xfrm>
              <a:off x="5204382" y="2379359"/>
              <a:ext cx="494339"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分用</a:t>
              </a:r>
            </a:p>
          </p:txBody>
        </p:sp>
        <p:cxnSp>
          <p:nvCxnSpPr>
            <p:cNvPr id="169" name="直接箭头连接符 117"/>
            <p:cNvCxnSpPr>
              <a:cxnSpLocks noChangeShapeType="1"/>
            </p:cNvCxnSpPr>
            <p:nvPr/>
          </p:nvCxnSpPr>
          <p:spPr bwMode="auto">
            <a:xfrm flipH="1" flipV="1">
              <a:off x="3035713" y="2536986"/>
              <a:ext cx="527893" cy="145"/>
            </a:xfrm>
            <a:prstGeom prst="straightConnector1">
              <a:avLst/>
            </a:prstGeom>
            <a:noFill/>
            <a:ln w="12700" algn="ctr">
              <a:solidFill>
                <a:schemeClr val="tx1"/>
              </a:solidFill>
              <a:round/>
              <a:headEnd/>
              <a:tailEnd type="triangle" w="sm" len="lg"/>
            </a:ln>
          </p:spPr>
        </p:cxnSp>
        <p:cxnSp>
          <p:nvCxnSpPr>
            <p:cNvPr id="170" name="直接箭头连接符 117"/>
            <p:cNvCxnSpPr>
              <a:cxnSpLocks noChangeShapeType="1"/>
            </p:cNvCxnSpPr>
            <p:nvPr/>
          </p:nvCxnSpPr>
          <p:spPr bwMode="auto">
            <a:xfrm flipV="1">
              <a:off x="5708464" y="2549054"/>
              <a:ext cx="527893" cy="145"/>
            </a:xfrm>
            <a:prstGeom prst="straightConnector1">
              <a:avLst/>
            </a:prstGeom>
            <a:noFill/>
            <a:ln w="12700" algn="ctr">
              <a:solidFill>
                <a:schemeClr val="tx1"/>
              </a:solidFill>
              <a:round/>
              <a:headEnd/>
              <a:tailEnd type="triangle" w="sm" len="lg"/>
            </a:ln>
          </p:spPr>
        </p:cxnSp>
        <p:sp>
          <p:nvSpPr>
            <p:cNvPr id="174" name="Rectangle 26"/>
            <p:cNvSpPr>
              <a:spLocks noChangeArrowheads="1"/>
            </p:cNvSpPr>
            <p:nvPr/>
          </p:nvSpPr>
          <p:spPr bwMode="auto">
            <a:xfrm>
              <a:off x="2657706" y="3015834"/>
              <a:ext cx="1149555"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dirty="0">
                  <a:latin typeface="微软雅黑" panose="020B0503020204020204" pitchFamily="34" charset="-122"/>
                  <a:ea typeface="微软雅黑" panose="020B0503020204020204" pitchFamily="34" charset="-122"/>
                </a:rPr>
                <a:t>不可靠的信道</a:t>
              </a:r>
            </a:p>
          </p:txBody>
        </p:sp>
        <p:sp>
          <p:nvSpPr>
            <p:cNvPr id="49" name="Text Box 67"/>
            <p:cNvSpPr txBox="1">
              <a:spLocks noChangeArrowheads="1"/>
            </p:cNvSpPr>
            <p:nvPr/>
          </p:nvSpPr>
          <p:spPr bwMode="auto">
            <a:xfrm>
              <a:off x="1637313" y="1450618"/>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51" name="Text Box 68"/>
            <p:cNvSpPr txBox="1">
              <a:spLocks noChangeArrowheads="1"/>
            </p:cNvSpPr>
            <p:nvPr/>
          </p:nvSpPr>
          <p:spPr bwMode="auto">
            <a:xfrm>
              <a:off x="2693192" y="1476655"/>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52" name="Text Box 67"/>
            <p:cNvSpPr txBox="1">
              <a:spLocks noChangeArrowheads="1"/>
            </p:cNvSpPr>
            <p:nvPr/>
          </p:nvSpPr>
          <p:spPr bwMode="auto">
            <a:xfrm>
              <a:off x="2155838" y="1482782"/>
              <a:ext cx="364464" cy="445417"/>
            </a:xfrm>
            <a:prstGeom prst="rect">
              <a:avLst/>
            </a:prstGeom>
            <a:noFill/>
            <a:ln w="9525">
              <a:noFill/>
              <a:miter lim="800000"/>
              <a:headEnd/>
              <a:tailEnd/>
            </a:ln>
          </p:spPr>
          <p:txBody>
            <a:bodyPr wrap="none">
              <a:spAutoFit/>
            </a:bodyPr>
            <a:lstStyle/>
            <a:p>
              <a:r>
                <a:rPr lang="en-US" altLang="zh-CN" sz="2400" b="1" dirty="0">
                  <a:latin typeface="微软雅黑" panose="020B0503020204020204" pitchFamily="34" charset="-122"/>
                  <a:ea typeface="微软雅黑" panose="020B0503020204020204" pitchFamily="34" charset="-122"/>
                  <a:sym typeface="Wingdings" pitchFamily="2" charset="2"/>
                </a:rPr>
                <a:t></a:t>
              </a:r>
              <a:endParaRPr lang="en-US" altLang="zh-CN" sz="2400" b="1" dirty="0">
                <a:latin typeface="微软雅黑" panose="020B0503020204020204" pitchFamily="34" charset="-122"/>
                <a:ea typeface="微软雅黑" panose="020B0503020204020204" pitchFamily="34" charset="-122"/>
              </a:endParaRPr>
            </a:p>
          </p:txBody>
        </p:sp>
        <p:sp>
          <p:nvSpPr>
            <p:cNvPr id="153" name="Rectangle 5"/>
            <p:cNvSpPr>
              <a:spLocks noChangeArrowheads="1"/>
            </p:cNvSpPr>
            <p:nvPr/>
          </p:nvSpPr>
          <p:spPr bwMode="auto">
            <a:xfrm rot="10800000" flipV="1">
              <a:off x="1469649" y="1442750"/>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1</a:t>
              </a:r>
              <a:endParaRPr lang="zh-CN" altLang="en-US" sz="1400" b="1" baseline="-25000" dirty="0">
                <a:latin typeface="微软雅黑" panose="020B0503020204020204" pitchFamily="34" charset="-122"/>
                <a:ea typeface="微软雅黑" panose="020B0503020204020204" pitchFamily="34" charset="-122"/>
              </a:endParaRPr>
            </a:p>
          </p:txBody>
        </p:sp>
        <p:sp>
          <p:nvSpPr>
            <p:cNvPr id="154" name="Rectangle 5"/>
            <p:cNvSpPr>
              <a:spLocks noChangeArrowheads="1"/>
            </p:cNvSpPr>
            <p:nvPr/>
          </p:nvSpPr>
          <p:spPr bwMode="auto">
            <a:xfrm rot="10800000" flipV="1">
              <a:off x="1950516" y="1422839"/>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2</a:t>
              </a:r>
              <a:endParaRPr lang="zh-CN" altLang="en-US" sz="1400" b="1" baseline="-25000">
                <a:latin typeface="微软雅黑" panose="020B0503020204020204" pitchFamily="34" charset="-122"/>
                <a:ea typeface="微软雅黑" panose="020B0503020204020204" pitchFamily="34" charset="-122"/>
              </a:endParaRPr>
            </a:p>
          </p:txBody>
        </p:sp>
        <p:sp>
          <p:nvSpPr>
            <p:cNvPr id="155" name="Rectangle 5"/>
            <p:cNvSpPr>
              <a:spLocks noChangeArrowheads="1"/>
            </p:cNvSpPr>
            <p:nvPr/>
          </p:nvSpPr>
          <p:spPr bwMode="auto">
            <a:xfrm rot="10800000" flipV="1">
              <a:off x="2512493" y="1427434"/>
              <a:ext cx="379478"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3</a:t>
              </a:r>
              <a:endParaRPr lang="zh-CN" altLang="en-US" sz="1400" b="1" baseline="-25000">
                <a:latin typeface="微软雅黑" panose="020B0503020204020204" pitchFamily="34" charset="-122"/>
                <a:ea typeface="微软雅黑" panose="020B0503020204020204" pitchFamily="34" charset="-122"/>
              </a:endParaRPr>
            </a:p>
          </p:txBody>
        </p:sp>
        <p:sp>
          <p:nvSpPr>
            <p:cNvPr id="113" name="Text Box 67"/>
            <p:cNvSpPr txBox="1">
              <a:spLocks noChangeArrowheads="1"/>
            </p:cNvSpPr>
            <p:nvPr/>
          </p:nvSpPr>
          <p:spPr bwMode="auto">
            <a:xfrm>
              <a:off x="6295345" y="1423049"/>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114" name="Text Box 68"/>
            <p:cNvSpPr txBox="1">
              <a:spLocks noChangeArrowheads="1"/>
            </p:cNvSpPr>
            <p:nvPr/>
          </p:nvSpPr>
          <p:spPr bwMode="auto">
            <a:xfrm>
              <a:off x="6925397" y="1406200"/>
              <a:ext cx="398103" cy="504805"/>
            </a:xfrm>
            <a:prstGeom prst="rect">
              <a:avLst/>
            </a:prstGeom>
            <a:noFill/>
            <a:ln w="9525">
              <a:noFill/>
              <a:miter lim="800000"/>
              <a:headEnd/>
              <a:tailEnd/>
            </a:ln>
          </p:spPr>
          <p:txBody>
            <a:bodyPr wrap="none">
              <a:spAutoFit/>
            </a:bodyPr>
            <a:lstStyle/>
            <a:p>
              <a:r>
                <a:rPr lang="en-US" altLang="zh-CN" sz="2800" b="1" dirty="0">
                  <a:latin typeface="微软雅黑" panose="020B0503020204020204" pitchFamily="34" charset="-122"/>
                  <a:ea typeface="微软雅黑" panose="020B0503020204020204" pitchFamily="34" charset="-122"/>
                  <a:sym typeface="Wingdings" pitchFamily="2" charset="2"/>
                </a:rPr>
                <a:t></a:t>
              </a:r>
              <a:endParaRPr lang="en-US" altLang="zh-CN" sz="2800" b="1" dirty="0">
                <a:latin typeface="微软雅黑" panose="020B0503020204020204" pitchFamily="34" charset="-122"/>
                <a:ea typeface="微软雅黑" panose="020B0503020204020204" pitchFamily="34" charset="-122"/>
              </a:endParaRPr>
            </a:p>
          </p:txBody>
        </p:sp>
        <p:sp>
          <p:nvSpPr>
            <p:cNvPr id="143" name="Rectangle 5"/>
            <p:cNvSpPr>
              <a:spLocks noChangeArrowheads="1"/>
            </p:cNvSpPr>
            <p:nvPr/>
          </p:nvSpPr>
          <p:spPr bwMode="auto">
            <a:xfrm>
              <a:off x="7674215" y="1562426"/>
              <a:ext cx="658143" cy="294470"/>
            </a:xfrm>
            <a:prstGeom prst="rect">
              <a:avLst/>
            </a:prstGeom>
            <a:noFill/>
            <a:ln w="12700">
              <a:noFill/>
              <a:miter lim="800000"/>
              <a:headEnd/>
              <a:tailEnd/>
            </a:ln>
          </p:spPr>
          <p:txBody>
            <a:bodyPr wrap="none" lIns="90488" tIns="44450" rIns="90488" bIns="44450">
              <a:spAutoFit/>
            </a:bodyPr>
            <a:lstStyle/>
            <a:p>
              <a:pPr defTabSz="762000" eaLnBrk="0" hangingPunct="0"/>
              <a:r>
                <a:rPr lang="zh-CN" altLang="en-US" sz="1400" b="1">
                  <a:latin typeface="微软雅黑" panose="020B0503020204020204" pitchFamily="34" charset="-122"/>
                  <a:ea typeface="微软雅黑" panose="020B0503020204020204" pitchFamily="34" charset="-122"/>
                </a:rPr>
                <a:t>应用层</a:t>
              </a:r>
            </a:p>
          </p:txBody>
        </p:sp>
        <p:sp>
          <p:nvSpPr>
            <p:cNvPr id="156" name="Rectangle 5"/>
            <p:cNvSpPr>
              <a:spLocks noChangeArrowheads="1"/>
            </p:cNvSpPr>
            <p:nvPr/>
          </p:nvSpPr>
          <p:spPr bwMode="auto">
            <a:xfrm rot="10800000" flipV="1">
              <a:off x="6091471" y="1469554"/>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4</a:t>
              </a:r>
              <a:endParaRPr lang="zh-CN" altLang="en-US" sz="1400" b="1" baseline="-25000">
                <a:latin typeface="微软雅黑" panose="020B0503020204020204" pitchFamily="34" charset="-122"/>
                <a:ea typeface="微软雅黑" panose="020B0503020204020204" pitchFamily="34" charset="-122"/>
              </a:endParaRPr>
            </a:p>
          </p:txBody>
        </p:sp>
        <p:sp>
          <p:nvSpPr>
            <p:cNvPr id="157" name="Rectangle 5"/>
            <p:cNvSpPr>
              <a:spLocks noChangeArrowheads="1"/>
            </p:cNvSpPr>
            <p:nvPr/>
          </p:nvSpPr>
          <p:spPr bwMode="auto">
            <a:xfrm rot="10800000" flipV="1">
              <a:off x="6725867" y="1453472"/>
              <a:ext cx="379479"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P</a:t>
              </a:r>
              <a:r>
                <a:rPr lang="en-US" altLang="zh-CN" sz="1400" b="1" baseline="-25000" dirty="0">
                  <a:latin typeface="微软雅黑" panose="020B0503020204020204" pitchFamily="34" charset="-122"/>
                  <a:ea typeface="微软雅黑" panose="020B0503020204020204" pitchFamily="34" charset="-122"/>
                </a:rPr>
                <a:t>5</a:t>
              </a:r>
              <a:endParaRPr lang="zh-CN" altLang="en-US" sz="1400" b="1" baseline="-25000">
                <a:latin typeface="微软雅黑" panose="020B0503020204020204" pitchFamily="34" charset="-122"/>
                <a:ea typeface="微软雅黑" panose="020B0503020204020204" pitchFamily="34" charset="-122"/>
              </a:endParaRPr>
            </a:p>
          </p:txBody>
        </p:sp>
        <p:sp>
          <p:nvSpPr>
            <p:cNvPr id="175" name="Rectangle 5"/>
            <p:cNvSpPr>
              <a:spLocks noChangeArrowheads="1"/>
            </p:cNvSpPr>
            <p:nvPr/>
          </p:nvSpPr>
          <p:spPr bwMode="auto">
            <a:xfrm rot="10800000" flipV="1">
              <a:off x="3936772" y="2988004"/>
              <a:ext cx="2268637" cy="305212"/>
            </a:xfrm>
            <a:prstGeom prst="rect">
              <a:avLst/>
            </a:prstGeom>
            <a:noFill/>
            <a:ln w="12700">
              <a:noFill/>
              <a:miter lim="800000"/>
              <a:headEnd/>
              <a:tailEnd/>
            </a:ln>
          </p:spPr>
          <p:txBody>
            <a:bodyPr wrap="square" lIns="90488" tIns="44450" rIns="90488" bIns="44450">
              <a:spAutoFit/>
            </a:bodyPr>
            <a:lstStyle/>
            <a:p>
              <a:pPr defTabSz="762000" eaLnBrk="0" hangingPunct="0"/>
              <a:r>
                <a:rPr lang="en-US" altLang="zh-CN" sz="1400" b="1" dirty="0">
                  <a:latin typeface="微软雅黑" panose="020B0503020204020204" pitchFamily="34" charset="-122"/>
                  <a:ea typeface="微软雅黑" panose="020B0503020204020204" pitchFamily="34" charset="-122"/>
                </a:rPr>
                <a:t>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x         a</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        c</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y</a:t>
              </a:r>
              <a:endParaRPr lang="zh-CN" altLang="en-US" sz="1400" b="1" baseline="-25000" dirty="0">
                <a:latin typeface="微软雅黑" panose="020B0503020204020204" pitchFamily="34" charset="-122"/>
                <a:ea typeface="微软雅黑" panose="020B0503020204020204" pitchFamily="34" charset="-122"/>
              </a:endParaRPr>
            </a:p>
          </p:txBody>
        </p:sp>
        <p:sp>
          <p:nvSpPr>
            <p:cNvPr id="176" name="下箭头 136"/>
            <p:cNvSpPr>
              <a:spLocks noChangeArrowheads="1"/>
            </p:cNvSpPr>
            <p:nvPr/>
          </p:nvSpPr>
          <p:spPr bwMode="auto">
            <a:xfrm rot="16200000">
              <a:off x="4171803"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7" name="燕尾形 153"/>
            <p:cNvSpPr>
              <a:spLocks noChangeArrowheads="1"/>
            </p:cNvSpPr>
            <p:nvPr/>
          </p:nvSpPr>
          <p:spPr bwMode="auto">
            <a:xfrm>
              <a:off x="5804720" y="3245044"/>
              <a:ext cx="159482" cy="75815"/>
            </a:xfrm>
            <a:prstGeom prst="chevron">
              <a:avLst>
                <a:gd name="adj" fmla="val 50556"/>
              </a:avLst>
            </a:prstGeom>
            <a:solidFill>
              <a:srgbClr val="C00000"/>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8" name="下箭头 136"/>
            <p:cNvSpPr>
              <a:spLocks noChangeArrowheads="1"/>
            </p:cNvSpPr>
            <p:nvPr/>
          </p:nvSpPr>
          <p:spPr bwMode="auto">
            <a:xfrm rot="16200000">
              <a:off x="5035031" y="3213025"/>
              <a:ext cx="88900" cy="139273"/>
            </a:xfrm>
            <a:prstGeom prst="downArrow">
              <a:avLst>
                <a:gd name="adj1" fmla="val 50000"/>
                <a:gd name="adj2" fmla="val 50502"/>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sp>
          <p:nvSpPr>
            <p:cNvPr id="179" name="下箭头 147"/>
            <p:cNvSpPr>
              <a:spLocks noChangeArrowheads="1"/>
            </p:cNvSpPr>
            <p:nvPr/>
          </p:nvSpPr>
          <p:spPr bwMode="auto">
            <a:xfrm rot="13445197">
              <a:off x="6920959" y="2592393"/>
              <a:ext cx="70957" cy="128776"/>
            </a:xfrm>
            <a:prstGeom prst="downArrow">
              <a:avLst>
                <a:gd name="adj1" fmla="val 50000"/>
                <a:gd name="adj2" fmla="val 49456"/>
              </a:avLst>
            </a:prstGeom>
            <a:solidFill>
              <a:srgbClr val="0000FF"/>
            </a:solidFill>
            <a:ln w="9525" algn="ctr">
              <a:noFill/>
              <a:round/>
              <a:headEnd/>
              <a:tailEnd/>
            </a:ln>
          </p:spPr>
          <p:txBody>
            <a:bodyPr/>
            <a:lstStyle/>
            <a:p>
              <a:endParaRPr lang="zh-CN" altLang="en-US" sz="1600" b="1">
                <a:latin typeface="微软雅黑" panose="020B0503020204020204" pitchFamily="34" charset="-122"/>
                <a:ea typeface="微软雅黑" panose="020B0503020204020204" pitchFamily="34" charset="-122"/>
              </a:endParaRPr>
            </a:p>
          </p:txBody>
        </p:sp>
      </p:grpSp>
      <p:sp>
        <p:nvSpPr>
          <p:cNvPr id="5" name="内容占位符 4">
            <a:extLst>
              <a:ext uri="{FF2B5EF4-FFF2-40B4-BE49-F238E27FC236}">
                <a16:creationId xmlns:a16="http://schemas.microsoft.com/office/drawing/2014/main" id="{D18A3A28-D01F-A28B-4607-AFD0DD04705A}"/>
              </a:ext>
            </a:extLst>
          </p:cNvPr>
          <p:cNvSpPr>
            <a:spLocks noGrp="1"/>
          </p:cNvSpPr>
          <p:nvPr>
            <p:ph sz="quarter" idx="11"/>
          </p:nvPr>
        </p:nvSpPr>
        <p:spPr/>
        <p:txBody>
          <a:bodyPr/>
          <a:lstStyle/>
          <a:p>
            <a:endParaRPr lang="zh-CN" altLang="en-US"/>
          </a:p>
        </p:txBody>
      </p:sp>
      <p:sp>
        <p:nvSpPr>
          <p:cNvPr id="4" name="标题 3">
            <a:extLst>
              <a:ext uri="{FF2B5EF4-FFF2-40B4-BE49-F238E27FC236}">
                <a16:creationId xmlns:a16="http://schemas.microsoft.com/office/drawing/2014/main" id="{BFD19254-4336-2AD7-80F8-24C5926933A9}"/>
              </a:ext>
            </a:extLst>
          </p:cNvPr>
          <p:cNvSpPr>
            <a:spLocks noGrp="1"/>
          </p:cNvSpPr>
          <p:nvPr>
            <p:ph type="title"/>
          </p:nvPr>
        </p:nvSpPr>
        <p:spPr>
          <a:xfrm>
            <a:off x="2808000" y="144000"/>
            <a:ext cx="3528000" cy="338554"/>
          </a:xfrm>
        </p:spPr>
        <p:txBody>
          <a:bodyPr/>
          <a:lstStyle/>
          <a:p>
            <a:r>
              <a:rPr lang="en-US" altLang="zh-CN" dirty="0"/>
              <a:t>UDP </a:t>
            </a:r>
            <a:r>
              <a:rPr lang="zh-CN" altLang="en-US" dirty="0"/>
              <a:t>通信和端口号的关系</a:t>
            </a:r>
          </a:p>
        </p:txBody>
      </p:sp>
    </p:spTree>
    <p:extLst>
      <p:ext uri="{BB962C8B-B14F-4D97-AF65-F5344CB8AC3E}">
        <p14:creationId xmlns:p14="http://schemas.microsoft.com/office/powerpoint/2010/main" val="23326386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9DEB11DB-BE91-2005-EA1B-C194A14B695D}"/>
              </a:ext>
            </a:extLst>
          </p:cNvPr>
          <p:cNvSpPr>
            <a:spLocks noGrp="1"/>
          </p:cNvSpPr>
          <p:nvPr>
            <p:ph type="title"/>
          </p:nvPr>
        </p:nvSpPr>
        <p:spPr>
          <a:xfrm>
            <a:off x="2808000" y="144000"/>
            <a:ext cx="3528000" cy="338554"/>
          </a:xfrm>
        </p:spPr>
        <p:txBody>
          <a:bodyPr/>
          <a:lstStyle/>
          <a:p>
            <a:r>
              <a:rPr lang="zh-CN" altLang="en-US" dirty="0"/>
              <a:t>一对多</a:t>
            </a:r>
          </a:p>
        </p:txBody>
      </p:sp>
      <p:grpSp>
        <p:nvGrpSpPr>
          <p:cNvPr id="11" name="组合 10">
            <a:extLst>
              <a:ext uri="{FF2B5EF4-FFF2-40B4-BE49-F238E27FC236}">
                <a16:creationId xmlns:a16="http://schemas.microsoft.com/office/drawing/2014/main" id="{B35F5542-7CAF-A8FB-00BA-ED441C7CD1B1}"/>
              </a:ext>
            </a:extLst>
          </p:cNvPr>
          <p:cNvGrpSpPr/>
          <p:nvPr/>
        </p:nvGrpSpPr>
        <p:grpSpPr>
          <a:xfrm>
            <a:off x="5854406" y="2426213"/>
            <a:ext cx="288000" cy="360000"/>
            <a:chOff x="6541210" y="2426213"/>
            <a:chExt cx="288000" cy="360000"/>
          </a:xfrm>
        </p:grpSpPr>
        <p:sp>
          <p:nvSpPr>
            <p:cNvPr id="12" name="矩形 11">
              <a:extLst>
                <a:ext uri="{FF2B5EF4-FFF2-40B4-BE49-F238E27FC236}">
                  <a16:creationId xmlns:a16="http://schemas.microsoft.com/office/drawing/2014/main" id="{D186CCFA-DE92-FA5B-F0B1-1D0D9C329FDE}"/>
                </a:ext>
              </a:extLst>
            </p:cNvPr>
            <p:cNvSpPr/>
            <p:nvPr/>
          </p:nvSpPr>
          <p:spPr>
            <a:xfrm>
              <a:off x="6541210"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4" name="矩形 13">
              <a:extLst>
                <a:ext uri="{FF2B5EF4-FFF2-40B4-BE49-F238E27FC236}">
                  <a16:creationId xmlns:a16="http://schemas.microsoft.com/office/drawing/2014/main" id="{B6C6AF97-9711-E6D8-8E76-CFADB1F9689C}"/>
                </a:ext>
              </a:extLst>
            </p:cNvPr>
            <p:cNvSpPr/>
            <p:nvPr/>
          </p:nvSpPr>
          <p:spPr>
            <a:xfrm>
              <a:off x="6541210"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23" name="矩形 22">
              <a:extLst>
                <a:ext uri="{FF2B5EF4-FFF2-40B4-BE49-F238E27FC236}">
                  <a16:creationId xmlns:a16="http://schemas.microsoft.com/office/drawing/2014/main" id="{C8724B2E-7C8A-5C65-40D1-996F6A8A80E7}"/>
                </a:ext>
              </a:extLst>
            </p:cNvPr>
            <p:cNvSpPr/>
            <p:nvPr/>
          </p:nvSpPr>
          <p:spPr>
            <a:xfrm>
              <a:off x="6541210"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24" name="矩形 23">
              <a:extLst>
                <a:ext uri="{FF2B5EF4-FFF2-40B4-BE49-F238E27FC236}">
                  <a16:creationId xmlns:a16="http://schemas.microsoft.com/office/drawing/2014/main" id="{3617703E-F424-5924-824E-64C20F971CC2}"/>
                </a:ext>
              </a:extLst>
            </p:cNvPr>
            <p:cNvSpPr/>
            <p:nvPr/>
          </p:nvSpPr>
          <p:spPr>
            <a:xfrm>
              <a:off x="6541210" y="24838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25" name="矩形 24">
              <a:extLst>
                <a:ext uri="{FF2B5EF4-FFF2-40B4-BE49-F238E27FC236}">
                  <a16:creationId xmlns:a16="http://schemas.microsoft.com/office/drawing/2014/main" id="{B31DE7D5-F64A-D67D-AC4F-2A009D3BC3E2}"/>
                </a:ext>
              </a:extLst>
            </p:cNvPr>
            <p:cNvSpPr/>
            <p:nvPr/>
          </p:nvSpPr>
          <p:spPr>
            <a:xfrm>
              <a:off x="6541210"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29" name="矩形 28">
              <a:extLst>
                <a:ext uri="{FF2B5EF4-FFF2-40B4-BE49-F238E27FC236}">
                  <a16:creationId xmlns:a16="http://schemas.microsoft.com/office/drawing/2014/main" id="{8D5CB780-4727-608A-71CD-C1D4383CEE79}"/>
                </a:ext>
              </a:extLst>
            </p:cNvPr>
            <p:cNvSpPr/>
            <p:nvPr/>
          </p:nvSpPr>
          <p:spPr>
            <a:xfrm>
              <a:off x="6541210"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30" name="文本框 29">
            <a:extLst>
              <a:ext uri="{FF2B5EF4-FFF2-40B4-BE49-F238E27FC236}">
                <a16:creationId xmlns:a16="http://schemas.microsoft.com/office/drawing/2014/main" id="{AA9DB545-6EC4-3955-F09A-5D013D5A666C}"/>
              </a:ext>
            </a:extLst>
          </p:cNvPr>
          <p:cNvSpPr txBox="1"/>
          <p:nvPr/>
        </p:nvSpPr>
        <p:spPr>
          <a:xfrm>
            <a:off x="5864636" y="2792707"/>
            <a:ext cx="268022" cy="276999"/>
          </a:xfrm>
          <a:prstGeom prst="rect">
            <a:avLst/>
          </a:prstGeom>
          <a:noFill/>
        </p:spPr>
        <p:txBody>
          <a:bodyPr wrap="none" rtlCol="0">
            <a:spAutoFit/>
          </a:bodyPr>
          <a:lstStyle/>
          <a:p>
            <a:pPr algn="l"/>
            <a:r>
              <a:rPr lang="en-US" altLang="zh-CN" sz="1200" dirty="0">
                <a:solidFill>
                  <a:srgbClr val="C00000"/>
                </a:solidFill>
                <a:latin typeface="Montserrat" panose="00000500000000000000" pitchFamily="2" charset="0"/>
                <a:ea typeface="微软雅黑" panose="020B0503020204020204" pitchFamily="34" charset="-122"/>
                <a:cs typeface="Courier New" panose="02070309020205020404" pitchFamily="49" charset="0"/>
              </a:rPr>
              <a:t>y</a:t>
            </a:r>
            <a:endParaRPr lang="zh-CN" altLang="en-US" sz="1200" dirty="0">
              <a:solidFill>
                <a:srgbClr val="C00000"/>
              </a:solidFill>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33" name="组合 32">
            <a:extLst>
              <a:ext uri="{FF2B5EF4-FFF2-40B4-BE49-F238E27FC236}">
                <a16:creationId xmlns:a16="http://schemas.microsoft.com/office/drawing/2014/main" id="{60000E0E-81F3-8328-9370-5BF9B0A1F837}"/>
              </a:ext>
            </a:extLst>
          </p:cNvPr>
          <p:cNvGrpSpPr/>
          <p:nvPr/>
        </p:nvGrpSpPr>
        <p:grpSpPr>
          <a:xfrm>
            <a:off x="2944256" y="2426213"/>
            <a:ext cx="288000" cy="360000"/>
            <a:chOff x="3158808" y="2426213"/>
            <a:chExt cx="288000" cy="360000"/>
          </a:xfrm>
        </p:grpSpPr>
        <p:sp>
          <p:nvSpPr>
            <p:cNvPr id="34" name="矩形 33">
              <a:extLst>
                <a:ext uri="{FF2B5EF4-FFF2-40B4-BE49-F238E27FC236}">
                  <a16:creationId xmlns:a16="http://schemas.microsoft.com/office/drawing/2014/main" id="{AC6488E1-5F2E-BDAE-6267-FE5DFB4FF5C6}"/>
                </a:ext>
              </a:extLst>
            </p:cNvPr>
            <p:cNvSpPr/>
            <p:nvPr/>
          </p:nvSpPr>
          <p:spPr>
            <a:xfrm>
              <a:off x="3158808"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35" name="矩形 34">
              <a:extLst>
                <a:ext uri="{FF2B5EF4-FFF2-40B4-BE49-F238E27FC236}">
                  <a16:creationId xmlns:a16="http://schemas.microsoft.com/office/drawing/2014/main" id="{2BFCCCDC-07FB-BE1D-11E6-2114BC4525DC}"/>
                </a:ext>
              </a:extLst>
            </p:cNvPr>
            <p:cNvSpPr/>
            <p:nvPr/>
          </p:nvSpPr>
          <p:spPr>
            <a:xfrm>
              <a:off x="3158808"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46" name="矩形 45">
              <a:extLst>
                <a:ext uri="{FF2B5EF4-FFF2-40B4-BE49-F238E27FC236}">
                  <a16:creationId xmlns:a16="http://schemas.microsoft.com/office/drawing/2014/main" id="{B9240387-CF10-22BD-0C62-7A21FEB1FC0D}"/>
                </a:ext>
              </a:extLst>
            </p:cNvPr>
            <p:cNvSpPr/>
            <p:nvPr/>
          </p:nvSpPr>
          <p:spPr>
            <a:xfrm>
              <a:off x="3158808"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48" name="矩形 47">
              <a:extLst>
                <a:ext uri="{FF2B5EF4-FFF2-40B4-BE49-F238E27FC236}">
                  <a16:creationId xmlns:a16="http://schemas.microsoft.com/office/drawing/2014/main" id="{4C405444-2334-BCCE-7624-F036BE2584A1}"/>
                </a:ext>
              </a:extLst>
            </p:cNvPr>
            <p:cNvSpPr/>
            <p:nvPr/>
          </p:nvSpPr>
          <p:spPr>
            <a:xfrm>
              <a:off x="3158808" y="24838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49" name="矩形 48">
              <a:extLst>
                <a:ext uri="{FF2B5EF4-FFF2-40B4-BE49-F238E27FC236}">
                  <a16:creationId xmlns:a16="http://schemas.microsoft.com/office/drawing/2014/main" id="{F0DD9783-436E-3362-8B46-29275718F5BF}"/>
                </a:ext>
              </a:extLst>
            </p:cNvPr>
            <p:cNvSpPr/>
            <p:nvPr/>
          </p:nvSpPr>
          <p:spPr>
            <a:xfrm>
              <a:off x="3158808"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50" name="矩形 49">
              <a:extLst>
                <a:ext uri="{FF2B5EF4-FFF2-40B4-BE49-F238E27FC236}">
                  <a16:creationId xmlns:a16="http://schemas.microsoft.com/office/drawing/2014/main" id="{EB04B9C8-273E-5274-889A-B9FC3D698743}"/>
                </a:ext>
              </a:extLst>
            </p:cNvPr>
            <p:cNvSpPr/>
            <p:nvPr/>
          </p:nvSpPr>
          <p:spPr>
            <a:xfrm>
              <a:off x="3158808"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58" name="文本框 57">
            <a:extLst>
              <a:ext uri="{FF2B5EF4-FFF2-40B4-BE49-F238E27FC236}">
                <a16:creationId xmlns:a16="http://schemas.microsoft.com/office/drawing/2014/main" id="{A1A2F068-647F-F7F5-4115-A0A50928DB2C}"/>
              </a:ext>
            </a:extLst>
          </p:cNvPr>
          <p:cNvSpPr txBox="1"/>
          <p:nvPr/>
        </p:nvSpPr>
        <p:spPr>
          <a:xfrm>
            <a:off x="2949436" y="2792707"/>
            <a:ext cx="277640"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c</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66" name="组合 65">
            <a:extLst>
              <a:ext uri="{FF2B5EF4-FFF2-40B4-BE49-F238E27FC236}">
                <a16:creationId xmlns:a16="http://schemas.microsoft.com/office/drawing/2014/main" id="{840CE5D3-C28F-1924-5E46-D1A72941FF06}"/>
              </a:ext>
            </a:extLst>
          </p:cNvPr>
          <p:cNvGrpSpPr/>
          <p:nvPr/>
        </p:nvGrpSpPr>
        <p:grpSpPr>
          <a:xfrm>
            <a:off x="1792256" y="2426213"/>
            <a:ext cx="288000" cy="360000"/>
            <a:chOff x="1907273" y="2426213"/>
            <a:chExt cx="288000" cy="360000"/>
          </a:xfrm>
        </p:grpSpPr>
        <p:sp>
          <p:nvSpPr>
            <p:cNvPr id="67" name="矩形 66">
              <a:extLst>
                <a:ext uri="{FF2B5EF4-FFF2-40B4-BE49-F238E27FC236}">
                  <a16:creationId xmlns:a16="http://schemas.microsoft.com/office/drawing/2014/main" id="{CCD4E9BE-DFF9-D36A-71C2-B3D80571F56E}"/>
                </a:ext>
              </a:extLst>
            </p:cNvPr>
            <p:cNvSpPr/>
            <p:nvPr/>
          </p:nvSpPr>
          <p:spPr>
            <a:xfrm>
              <a:off x="1907273" y="2426213"/>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68" name="矩形 67">
              <a:extLst>
                <a:ext uri="{FF2B5EF4-FFF2-40B4-BE49-F238E27FC236}">
                  <a16:creationId xmlns:a16="http://schemas.microsoft.com/office/drawing/2014/main" id="{CB314D64-A335-1C9B-DEF5-5C424B3FC51B}"/>
                </a:ext>
              </a:extLst>
            </p:cNvPr>
            <p:cNvSpPr/>
            <p:nvPr/>
          </p:nvSpPr>
          <p:spPr>
            <a:xfrm>
              <a:off x="1907273" y="26566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69" name="矩形 68">
              <a:extLst>
                <a:ext uri="{FF2B5EF4-FFF2-40B4-BE49-F238E27FC236}">
                  <a16:creationId xmlns:a16="http://schemas.microsoft.com/office/drawing/2014/main" id="{64228073-F14A-5CA2-1FBF-51A67A2B2658}"/>
                </a:ext>
              </a:extLst>
            </p:cNvPr>
            <p:cNvSpPr/>
            <p:nvPr/>
          </p:nvSpPr>
          <p:spPr>
            <a:xfrm>
              <a:off x="1907273" y="27142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70" name="矩形 69">
              <a:extLst>
                <a:ext uri="{FF2B5EF4-FFF2-40B4-BE49-F238E27FC236}">
                  <a16:creationId xmlns:a16="http://schemas.microsoft.com/office/drawing/2014/main" id="{EB39AF97-5F41-6513-2828-1821248E9EAC}"/>
                </a:ext>
              </a:extLst>
            </p:cNvPr>
            <p:cNvSpPr/>
            <p:nvPr/>
          </p:nvSpPr>
          <p:spPr>
            <a:xfrm>
              <a:off x="1907273" y="24838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78" name="矩形 77">
              <a:extLst>
                <a:ext uri="{FF2B5EF4-FFF2-40B4-BE49-F238E27FC236}">
                  <a16:creationId xmlns:a16="http://schemas.microsoft.com/office/drawing/2014/main" id="{047DE1E2-BE8A-7F8A-2CA3-FD4139414608}"/>
                </a:ext>
              </a:extLst>
            </p:cNvPr>
            <p:cNvSpPr/>
            <p:nvPr/>
          </p:nvSpPr>
          <p:spPr>
            <a:xfrm>
              <a:off x="1907273" y="25414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79" name="矩形 78">
              <a:extLst>
                <a:ext uri="{FF2B5EF4-FFF2-40B4-BE49-F238E27FC236}">
                  <a16:creationId xmlns:a16="http://schemas.microsoft.com/office/drawing/2014/main" id="{0B972B15-298F-6738-3F41-C417EC64A348}"/>
                </a:ext>
              </a:extLst>
            </p:cNvPr>
            <p:cNvSpPr/>
            <p:nvPr/>
          </p:nvSpPr>
          <p:spPr>
            <a:xfrm>
              <a:off x="1907273" y="2599013"/>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80" name="文本框 79">
            <a:extLst>
              <a:ext uri="{FF2B5EF4-FFF2-40B4-BE49-F238E27FC236}">
                <a16:creationId xmlns:a16="http://schemas.microsoft.com/office/drawing/2014/main" id="{C3FA45CA-C67F-2F30-8B37-633A5957212E}"/>
              </a:ext>
            </a:extLst>
          </p:cNvPr>
          <p:cNvSpPr txBox="1"/>
          <p:nvPr/>
        </p:nvSpPr>
        <p:spPr>
          <a:xfrm>
            <a:off x="1797436" y="2792707"/>
            <a:ext cx="27764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81" name="组合 80">
            <a:extLst>
              <a:ext uri="{FF2B5EF4-FFF2-40B4-BE49-F238E27FC236}">
                <a16:creationId xmlns:a16="http://schemas.microsoft.com/office/drawing/2014/main" id="{6849257E-DD2F-CA34-34BE-76B45215C1C6}"/>
              </a:ext>
            </a:extLst>
          </p:cNvPr>
          <p:cNvGrpSpPr/>
          <p:nvPr/>
        </p:nvGrpSpPr>
        <p:grpSpPr>
          <a:xfrm>
            <a:off x="5277845" y="2426213"/>
            <a:ext cx="288000" cy="360000"/>
            <a:chOff x="7097072" y="2452049"/>
            <a:chExt cx="288000" cy="360000"/>
          </a:xfrm>
        </p:grpSpPr>
        <p:sp>
          <p:nvSpPr>
            <p:cNvPr id="82" name="矩形 81">
              <a:extLst>
                <a:ext uri="{FF2B5EF4-FFF2-40B4-BE49-F238E27FC236}">
                  <a16:creationId xmlns:a16="http://schemas.microsoft.com/office/drawing/2014/main" id="{AA1F75F2-09B0-1BFD-A023-73D631758690}"/>
                </a:ext>
              </a:extLst>
            </p:cNvPr>
            <p:cNvSpPr/>
            <p:nvPr/>
          </p:nvSpPr>
          <p:spPr>
            <a:xfrm>
              <a:off x="7097072" y="24520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83" name="矩形 82">
              <a:extLst>
                <a:ext uri="{FF2B5EF4-FFF2-40B4-BE49-F238E27FC236}">
                  <a16:creationId xmlns:a16="http://schemas.microsoft.com/office/drawing/2014/main" id="{3EF3C7A3-931D-F732-128A-E003ACDFF8B4}"/>
                </a:ext>
              </a:extLst>
            </p:cNvPr>
            <p:cNvSpPr/>
            <p:nvPr/>
          </p:nvSpPr>
          <p:spPr>
            <a:xfrm>
              <a:off x="7097072" y="26824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84" name="矩形 83">
              <a:extLst>
                <a:ext uri="{FF2B5EF4-FFF2-40B4-BE49-F238E27FC236}">
                  <a16:creationId xmlns:a16="http://schemas.microsoft.com/office/drawing/2014/main" id="{FDAD5BB5-481C-B2B0-DE06-3100BCFD8E44}"/>
                </a:ext>
              </a:extLst>
            </p:cNvPr>
            <p:cNvSpPr/>
            <p:nvPr/>
          </p:nvSpPr>
          <p:spPr>
            <a:xfrm>
              <a:off x="7097072" y="27400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98" name="矩形 97">
              <a:extLst>
                <a:ext uri="{FF2B5EF4-FFF2-40B4-BE49-F238E27FC236}">
                  <a16:creationId xmlns:a16="http://schemas.microsoft.com/office/drawing/2014/main" id="{1AAD010A-0A73-89D3-C983-5022940CCF86}"/>
                </a:ext>
              </a:extLst>
            </p:cNvPr>
            <p:cNvSpPr/>
            <p:nvPr/>
          </p:nvSpPr>
          <p:spPr>
            <a:xfrm>
              <a:off x="7097072" y="25096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0" name="矩形 99">
              <a:extLst>
                <a:ext uri="{FF2B5EF4-FFF2-40B4-BE49-F238E27FC236}">
                  <a16:creationId xmlns:a16="http://schemas.microsoft.com/office/drawing/2014/main" id="{677C3F7B-D35C-A306-23F5-9576B06D782A}"/>
                </a:ext>
              </a:extLst>
            </p:cNvPr>
            <p:cNvSpPr/>
            <p:nvPr/>
          </p:nvSpPr>
          <p:spPr>
            <a:xfrm>
              <a:off x="7097072" y="25672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02" name="矩形 101">
              <a:extLst>
                <a:ext uri="{FF2B5EF4-FFF2-40B4-BE49-F238E27FC236}">
                  <a16:creationId xmlns:a16="http://schemas.microsoft.com/office/drawing/2014/main" id="{65B3A2DD-B092-C441-090D-D4A0B2C72C3B}"/>
                </a:ext>
              </a:extLst>
            </p:cNvPr>
            <p:cNvSpPr/>
            <p:nvPr/>
          </p:nvSpPr>
          <p:spPr>
            <a:xfrm>
              <a:off x="7097072" y="26248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103" name="文本框 102">
            <a:extLst>
              <a:ext uri="{FF2B5EF4-FFF2-40B4-BE49-F238E27FC236}">
                <a16:creationId xmlns:a16="http://schemas.microsoft.com/office/drawing/2014/main" id="{14847BDE-22F8-508B-FFC6-2588671359F0}"/>
              </a:ext>
            </a:extLst>
          </p:cNvPr>
          <p:cNvSpPr txBox="1"/>
          <p:nvPr/>
        </p:nvSpPr>
        <p:spPr>
          <a:xfrm>
            <a:off x="6442238" y="2792707"/>
            <a:ext cx="263214"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z</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104" name="组合 103">
            <a:extLst>
              <a:ext uri="{FF2B5EF4-FFF2-40B4-BE49-F238E27FC236}">
                <a16:creationId xmlns:a16="http://schemas.microsoft.com/office/drawing/2014/main" id="{783364B6-6CA1-0185-4524-796808F75C5E}"/>
              </a:ext>
            </a:extLst>
          </p:cNvPr>
          <p:cNvGrpSpPr/>
          <p:nvPr/>
        </p:nvGrpSpPr>
        <p:grpSpPr>
          <a:xfrm>
            <a:off x="6429845" y="2426213"/>
            <a:ext cx="288000" cy="360000"/>
            <a:chOff x="6014097" y="2452049"/>
            <a:chExt cx="288000" cy="360000"/>
          </a:xfrm>
        </p:grpSpPr>
        <p:sp>
          <p:nvSpPr>
            <p:cNvPr id="105" name="矩形 104">
              <a:extLst>
                <a:ext uri="{FF2B5EF4-FFF2-40B4-BE49-F238E27FC236}">
                  <a16:creationId xmlns:a16="http://schemas.microsoft.com/office/drawing/2014/main" id="{8213CFE1-33C0-8BBA-7C94-CED85A05A43C}"/>
                </a:ext>
              </a:extLst>
            </p:cNvPr>
            <p:cNvSpPr/>
            <p:nvPr/>
          </p:nvSpPr>
          <p:spPr>
            <a:xfrm>
              <a:off x="6014097" y="24520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1" name="矩形 110">
              <a:extLst>
                <a:ext uri="{FF2B5EF4-FFF2-40B4-BE49-F238E27FC236}">
                  <a16:creationId xmlns:a16="http://schemas.microsoft.com/office/drawing/2014/main" id="{E0D24AA1-DAEA-2AD8-BE8D-D720C8E85EEC}"/>
                </a:ext>
              </a:extLst>
            </p:cNvPr>
            <p:cNvSpPr/>
            <p:nvPr/>
          </p:nvSpPr>
          <p:spPr>
            <a:xfrm>
              <a:off x="6014097" y="26824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2" name="矩形 111">
              <a:extLst>
                <a:ext uri="{FF2B5EF4-FFF2-40B4-BE49-F238E27FC236}">
                  <a16:creationId xmlns:a16="http://schemas.microsoft.com/office/drawing/2014/main" id="{DA6B4E51-8297-3ED7-1C6A-E3830945E98B}"/>
                </a:ext>
              </a:extLst>
            </p:cNvPr>
            <p:cNvSpPr/>
            <p:nvPr/>
          </p:nvSpPr>
          <p:spPr>
            <a:xfrm>
              <a:off x="6014097" y="27400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6" name="矩形 115">
              <a:extLst>
                <a:ext uri="{FF2B5EF4-FFF2-40B4-BE49-F238E27FC236}">
                  <a16:creationId xmlns:a16="http://schemas.microsoft.com/office/drawing/2014/main" id="{A56CF638-37E6-5EBC-93F2-C0AA424B0A12}"/>
                </a:ext>
              </a:extLst>
            </p:cNvPr>
            <p:cNvSpPr/>
            <p:nvPr/>
          </p:nvSpPr>
          <p:spPr>
            <a:xfrm>
              <a:off x="6014097" y="25096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8" name="矩形 117">
              <a:extLst>
                <a:ext uri="{FF2B5EF4-FFF2-40B4-BE49-F238E27FC236}">
                  <a16:creationId xmlns:a16="http://schemas.microsoft.com/office/drawing/2014/main" id="{ED8BF45B-5F31-2EF8-54A2-F3AABE0EAFF3}"/>
                </a:ext>
              </a:extLst>
            </p:cNvPr>
            <p:cNvSpPr/>
            <p:nvPr/>
          </p:nvSpPr>
          <p:spPr>
            <a:xfrm>
              <a:off x="6014097" y="2567249"/>
              <a:ext cx="288000" cy="72000"/>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19" name="矩形 118">
              <a:extLst>
                <a:ext uri="{FF2B5EF4-FFF2-40B4-BE49-F238E27FC236}">
                  <a16:creationId xmlns:a16="http://schemas.microsoft.com/office/drawing/2014/main" id="{AAA2EE00-6F28-2A2D-4E0A-B937BE450629}"/>
                </a:ext>
              </a:extLst>
            </p:cNvPr>
            <p:cNvSpPr/>
            <p:nvPr/>
          </p:nvSpPr>
          <p:spPr>
            <a:xfrm>
              <a:off x="6014097" y="2624849"/>
              <a:ext cx="288000" cy="72000"/>
            </a:xfrm>
            <a:prstGeom prst="rect">
              <a:avLst/>
            </a:prstGeom>
            <a:solidFill>
              <a:schemeClr val="bg1">
                <a:lumMod val="9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sp>
        <p:nvSpPr>
          <p:cNvPr id="120" name="文本框 119">
            <a:extLst>
              <a:ext uri="{FF2B5EF4-FFF2-40B4-BE49-F238E27FC236}">
                <a16:creationId xmlns:a16="http://schemas.microsoft.com/office/drawing/2014/main" id="{9D0C730E-4C2C-CFAE-0573-99AD6C3C6B1D}"/>
              </a:ext>
            </a:extLst>
          </p:cNvPr>
          <p:cNvSpPr txBox="1"/>
          <p:nvPr/>
        </p:nvSpPr>
        <p:spPr>
          <a:xfrm>
            <a:off x="5288635" y="2792707"/>
            <a:ext cx="26642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x</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21" name="矩形 120">
            <a:extLst>
              <a:ext uri="{FF2B5EF4-FFF2-40B4-BE49-F238E27FC236}">
                <a16:creationId xmlns:a16="http://schemas.microsoft.com/office/drawing/2014/main" id="{7FC7D3CE-DEED-4F7A-7873-C992226AB5B4}"/>
              </a:ext>
            </a:extLst>
          </p:cNvPr>
          <p:cNvSpPr/>
          <p:nvPr/>
        </p:nvSpPr>
        <p:spPr>
          <a:xfrm>
            <a:off x="1792256" y="2792707"/>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sp>
        <p:nvSpPr>
          <p:cNvPr id="122" name="文本框 121">
            <a:extLst>
              <a:ext uri="{FF2B5EF4-FFF2-40B4-BE49-F238E27FC236}">
                <a16:creationId xmlns:a16="http://schemas.microsoft.com/office/drawing/2014/main" id="{3D8ECAB6-DCEC-BAE5-7025-435C6F847539}"/>
              </a:ext>
            </a:extLst>
          </p:cNvPr>
          <p:cNvSpPr txBox="1"/>
          <p:nvPr/>
        </p:nvSpPr>
        <p:spPr>
          <a:xfrm>
            <a:off x="3490257" y="1974659"/>
            <a:ext cx="1529586"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Application Layer</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23" name="文本框 122">
            <a:extLst>
              <a:ext uri="{FF2B5EF4-FFF2-40B4-BE49-F238E27FC236}">
                <a16:creationId xmlns:a16="http://schemas.microsoft.com/office/drawing/2014/main" id="{8109B174-8168-7E78-E91B-705A04FDE570}"/>
              </a:ext>
            </a:extLst>
          </p:cNvPr>
          <p:cNvSpPr txBox="1"/>
          <p:nvPr/>
        </p:nvSpPr>
        <p:spPr>
          <a:xfrm>
            <a:off x="3997608" y="2467715"/>
            <a:ext cx="514885"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Port</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24" name="文本框 123">
            <a:extLst>
              <a:ext uri="{FF2B5EF4-FFF2-40B4-BE49-F238E27FC236}">
                <a16:creationId xmlns:a16="http://schemas.microsoft.com/office/drawing/2014/main" id="{7CE115D3-138F-067D-4725-47B352BCDCD0}"/>
              </a:ext>
            </a:extLst>
          </p:cNvPr>
          <p:cNvSpPr txBox="1"/>
          <p:nvPr/>
        </p:nvSpPr>
        <p:spPr>
          <a:xfrm>
            <a:off x="3560789" y="2987665"/>
            <a:ext cx="1388522"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Transport Layer</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26" name="矩形 125">
            <a:extLst>
              <a:ext uri="{FF2B5EF4-FFF2-40B4-BE49-F238E27FC236}">
                <a16:creationId xmlns:a16="http://schemas.microsoft.com/office/drawing/2014/main" id="{240211E1-738A-32AF-BDCF-67F228CED559}"/>
              </a:ext>
            </a:extLst>
          </p:cNvPr>
          <p:cNvSpPr/>
          <p:nvPr/>
        </p:nvSpPr>
        <p:spPr>
          <a:xfrm>
            <a:off x="5277845" y="2792707"/>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cxnSp>
        <p:nvCxnSpPr>
          <p:cNvPr id="127" name="连接符: 肘形 126">
            <a:extLst>
              <a:ext uri="{FF2B5EF4-FFF2-40B4-BE49-F238E27FC236}">
                <a16:creationId xmlns:a16="http://schemas.microsoft.com/office/drawing/2014/main" id="{C5B25C89-41F9-F523-391A-A49D06732233}"/>
              </a:ext>
            </a:extLst>
          </p:cNvPr>
          <p:cNvCxnSpPr>
            <a:cxnSpLocks/>
            <a:stCxn id="121" idx="2"/>
            <a:endCxn id="126" idx="2"/>
          </p:cNvCxnSpPr>
          <p:nvPr/>
        </p:nvCxnSpPr>
        <p:spPr>
          <a:xfrm rot="16200000" flipH="1">
            <a:off x="4255050" y="1769912"/>
            <a:ext cx="12700" cy="3485589"/>
          </a:xfrm>
          <a:prstGeom prst="bentConnector3">
            <a:avLst>
              <a:gd name="adj1" fmla="val 5025000"/>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29" name="文本框 128">
            <a:extLst>
              <a:ext uri="{FF2B5EF4-FFF2-40B4-BE49-F238E27FC236}">
                <a16:creationId xmlns:a16="http://schemas.microsoft.com/office/drawing/2014/main" id="{D8F904EF-DF49-7E3E-3F9E-BAEDF0844712}"/>
              </a:ext>
            </a:extLst>
          </p:cNvPr>
          <p:cNvSpPr txBox="1"/>
          <p:nvPr/>
        </p:nvSpPr>
        <p:spPr>
          <a:xfrm>
            <a:off x="3545160" y="4169328"/>
            <a:ext cx="1404551"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Logical channel</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cxnSp>
        <p:nvCxnSpPr>
          <p:cNvPr id="131" name="直接箭头连接符 130">
            <a:extLst>
              <a:ext uri="{FF2B5EF4-FFF2-40B4-BE49-F238E27FC236}">
                <a16:creationId xmlns:a16="http://schemas.microsoft.com/office/drawing/2014/main" id="{30F14E70-0E38-0702-C732-FAA388AB9BBE}"/>
              </a:ext>
            </a:extLst>
          </p:cNvPr>
          <p:cNvCxnSpPr>
            <a:cxnSpLocks/>
          </p:cNvCxnSpPr>
          <p:nvPr/>
        </p:nvCxnSpPr>
        <p:spPr>
          <a:xfrm>
            <a:off x="1936256" y="2225626"/>
            <a:ext cx="0" cy="216000"/>
          </a:xfrm>
          <a:prstGeom prst="straightConnector1">
            <a:avLst/>
          </a:prstGeom>
          <a:ln>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3E5AFDF5-E0FA-C5BD-37DD-FA10624C6A3A}"/>
              </a:ext>
            </a:extLst>
          </p:cNvPr>
          <p:cNvCxnSpPr>
            <a:cxnSpLocks/>
          </p:cNvCxnSpPr>
          <p:nvPr/>
        </p:nvCxnSpPr>
        <p:spPr>
          <a:xfrm>
            <a:off x="5998406"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5" name="直接箭头连接符 134">
            <a:extLst>
              <a:ext uri="{FF2B5EF4-FFF2-40B4-BE49-F238E27FC236}">
                <a16:creationId xmlns:a16="http://schemas.microsoft.com/office/drawing/2014/main" id="{1BCDF8DE-C697-C760-2C02-551A9D49B19D}"/>
              </a:ext>
            </a:extLst>
          </p:cNvPr>
          <p:cNvCxnSpPr>
            <a:cxnSpLocks/>
          </p:cNvCxnSpPr>
          <p:nvPr/>
        </p:nvCxnSpPr>
        <p:spPr>
          <a:xfrm>
            <a:off x="3088256"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6" name="直接箭头连接符 135">
            <a:extLst>
              <a:ext uri="{FF2B5EF4-FFF2-40B4-BE49-F238E27FC236}">
                <a16:creationId xmlns:a16="http://schemas.microsoft.com/office/drawing/2014/main" id="{03A92B04-1EEF-6394-31E2-E48A7B051E07}"/>
              </a:ext>
            </a:extLst>
          </p:cNvPr>
          <p:cNvCxnSpPr>
            <a:cxnSpLocks/>
          </p:cNvCxnSpPr>
          <p:nvPr/>
        </p:nvCxnSpPr>
        <p:spPr>
          <a:xfrm>
            <a:off x="6573845"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7" name="直接箭头连接符 136">
            <a:extLst>
              <a:ext uri="{FF2B5EF4-FFF2-40B4-BE49-F238E27FC236}">
                <a16:creationId xmlns:a16="http://schemas.microsoft.com/office/drawing/2014/main" id="{D929EAD9-F491-5EA6-6E99-64B76B1DF5E0}"/>
              </a:ext>
            </a:extLst>
          </p:cNvPr>
          <p:cNvCxnSpPr>
            <a:cxnSpLocks/>
          </p:cNvCxnSpPr>
          <p:nvPr/>
        </p:nvCxnSpPr>
        <p:spPr>
          <a:xfrm>
            <a:off x="5421845" y="2225626"/>
            <a:ext cx="0" cy="2160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文本框 137">
            <a:extLst>
              <a:ext uri="{FF2B5EF4-FFF2-40B4-BE49-F238E27FC236}">
                <a16:creationId xmlns:a16="http://schemas.microsoft.com/office/drawing/2014/main" id="{9C30A58B-77A3-6FB2-AB48-C2E75539D156}"/>
              </a:ext>
            </a:extLst>
          </p:cNvPr>
          <p:cNvSpPr txBox="1"/>
          <p:nvPr/>
        </p:nvSpPr>
        <p:spPr>
          <a:xfrm>
            <a:off x="2601980" y="3601020"/>
            <a:ext cx="1154483"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Multiplexing</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39" name="文本框 138">
            <a:extLst>
              <a:ext uri="{FF2B5EF4-FFF2-40B4-BE49-F238E27FC236}">
                <a16:creationId xmlns:a16="http://schemas.microsoft.com/office/drawing/2014/main" id="{D6C8193A-4A77-2952-BFD8-3D5F68F04E81}"/>
              </a:ext>
            </a:extLst>
          </p:cNvPr>
          <p:cNvSpPr txBox="1"/>
          <p:nvPr/>
        </p:nvSpPr>
        <p:spPr>
          <a:xfrm>
            <a:off x="4607173" y="3601020"/>
            <a:ext cx="1390124"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Demultiplexing</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cxnSp>
        <p:nvCxnSpPr>
          <p:cNvPr id="140" name="直接箭头连接符 139">
            <a:extLst>
              <a:ext uri="{FF2B5EF4-FFF2-40B4-BE49-F238E27FC236}">
                <a16:creationId xmlns:a16="http://schemas.microsoft.com/office/drawing/2014/main" id="{81FB46A3-0BC0-AE78-2134-A38716AA8528}"/>
              </a:ext>
            </a:extLst>
          </p:cNvPr>
          <p:cNvCxnSpPr>
            <a:cxnSpLocks/>
            <a:stCxn id="69" idx="2"/>
            <a:endCxn id="121" idx="2"/>
          </p:cNvCxnSpPr>
          <p:nvPr/>
        </p:nvCxnSpPr>
        <p:spPr>
          <a:xfrm>
            <a:off x="1936256" y="2786213"/>
            <a:ext cx="576000" cy="726494"/>
          </a:xfrm>
          <a:prstGeom prst="straightConnector1">
            <a:avLst/>
          </a:prstGeom>
          <a:ln w="12700">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41" name="直接箭头连接符 140">
            <a:extLst>
              <a:ext uri="{FF2B5EF4-FFF2-40B4-BE49-F238E27FC236}">
                <a16:creationId xmlns:a16="http://schemas.microsoft.com/office/drawing/2014/main" id="{CD98C054-EFBD-D394-3D34-76E0A90B2B08}"/>
              </a:ext>
            </a:extLst>
          </p:cNvPr>
          <p:cNvCxnSpPr>
            <a:cxnSpLocks/>
            <a:stCxn id="46" idx="2"/>
            <a:endCxn id="121" idx="2"/>
          </p:cNvCxnSpPr>
          <p:nvPr/>
        </p:nvCxnSpPr>
        <p:spPr>
          <a:xfrm flipH="1">
            <a:off x="2512256" y="2786213"/>
            <a:ext cx="576000" cy="726494"/>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2" name="直接箭头连接符 141">
            <a:extLst>
              <a:ext uri="{FF2B5EF4-FFF2-40B4-BE49-F238E27FC236}">
                <a16:creationId xmlns:a16="http://schemas.microsoft.com/office/drawing/2014/main" id="{9B4F6203-E6B2-37D7-21ED-5A0BC2D21EC5}"/>
              </a:ext>
            </a:extLst>
          </p:cNvPr>
          <p:cNvCxnSpPr>
            <a:cxnSpLocks/>
            <a:stCxn id="23" idx="2"/>
            <a:endCxn id="126" idx="2"/>
          </p:cNvCxnSpPr>
          <p:nvPr/>
        </p:nvCxnSpPr>
        <p:spPr>
          <a:xfrm flipH="1">
            <a:off x="5997845" y="2786213"/>
            <a:ext cx="561" cy="726494"/>
          </a:xfrm>
          <a:prstGeom prst="straightConnector1">
            <a:avLst/>
          </a:prstGeom>
          <a:ln w="12700">
            <a:solidFill>
              <a:srgbClr val="EB3B5A"/>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43" name="直接箭头连接符 142">
            <a:extLst>
              <a:ext uri="{FF2B5EF4-FFF2-40B4-BE49-F238E27FC236}">
                <a16:creationId xmlns:a16="http://schemas.microsoft.com/office/drawing/2014/main" id="{7E6D2004-A337-1D90-3939-5BE6977ECAE9}"/>
              </a:ext>
            </a:extLst>
          </p:cNvPr>
          <p:cNvCxnSpPr>
            <a:cxnSpLocks/>
            <a:stCxn id="126" idx="2"/>
          </p:cNvCxnSpPr>
          <p:nvPr/>
        </p:nvCxnSpPr>
        <p:spPr>
          <a:xfrm flipH="1" flipV="1">
            <a:off x="5457576" y="2807107"/>
            <a:ext cx="540269" cy="705600"/>
          </a:xfrm>
          <a:prstGeom prst="straightConnector1">
            <a:avLst/>
          </a:prstGeom>
          <a:ln w="12700">
            <a:solidFill>
              <a:srgbClr val="EB3B5A"/>
            </a:solidFill>
            <a:tailEnd type="triangle"/>
          </a:ln>
        </p:spPr>
        <p:style>
          <a:lnRef idx="1">
            <a:schemeClr val="accent1"/>
          </a:lnRef>
          <a:fillRef idx="0">
            <a:schemeClr val="accent1"/>
          </a:fillRef>
          <a:effectRef idx="0">
            <a:schemeClr val="accent1"/>
          </a:effectRef>
          <a:fontRef idx="minor">
            <a:schemeClr val="tx1"/>
          </a:fontRef>
        </p:style>
      </p:cxnSp>
      <p:cxnSp>
        <p:nvCxnSpPr>
          <p:cNvPr id="144" name="直接箭头连接符 143">
            <a:extLst>
              <a:ext uri="{FF2B5EF4-FFF2-40B4-BE49-F238E27FC236}">
                <a16:creationId xmlns:a16="http://schemas.microsoft.com/office/drawing/2014/main" id="{D867F08A-4984-0C24-67D5-E63C0AF00467}"/>
              </a:ext>
            </a:extLst>
          </p:cNvPr>
          <p:cNvCxnSpPr>
            <a:cxnSpLocks/>
            <a:stCxn id="126" idx="2"/>
          </p:cNvCxnSpPr>
          <p:nvPr/>
        </p:nvCxnSpPr>
        <p:spPr>
          <a:xfrm flipV="1">
            <a:off x="5997845" y="2807107"/>
            <a:ext cx="533474" cy="7056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5" name="文本框 144">
            <a:extLst>
              <a:ext uri="{FF2B5EF4-FFF2-40B4-BE49-F238E27FC236}">
                <a16:creationId xmlns:a16="http://schemas.microsoft.com/office/drawing/2014/main" id="{B4749F90-5964-8103-3F66-8B12D8BBF7A4}"/>
              </a:ext>
            </a:extLst>
          </p:cNvPr>
          <p:cNvSpPr txBox="1"/>
          <p:nvPr/>
        </p:nvSpPr>
        <p:spPr>
          <a:xfrm>
            <a:off x="2330155" y="1095578"/>
            <a:ext cx="365805"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H1</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46" name="文本框 145">
            <a:extLst>
              <a:ext uri="{FF2B5EF4-FFF2-40B4-BE49-F238E27FC236}">
                <a16:creationId xmlns:a16="http://schemas.microsoft.com/office/drawing/2014/main" id="{0EC9A186-3D74-E902-A993-656C40B456AC}"/>
              </a:ext>
            </a:extLst>
          </p:cNvPr>
          <p:cNvSpPr txBox="1"/>
          <p:nvPr/>
        </p:nvSpPr>
        <p:spPr>
          <a:xfrm>
            <a:off x="5798912" y="1095578"/>
            <a:ext cx="397866"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H2</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47" name="文本框 146">
            <a:extLst>
              <a:ext uri="{FF2B5EF4-FFF2-40B4-BE49-F238E27FC236}">
                <a16:creationId xmlns:a16="http://schemas.microsoft.com/office/drawing/2014/main" id="{CEF87110-753B-CF88-1E0B-689332E88726}"/>
              </a:ext>
            </a:extLst>
          </p:cNvPr>
          <p:cNvSpPr txBox="1"/>
          <p:nvPr/>
        </p:nvSpPr>
        <p:spPr>
          <a:xfrm>
            <a:off x="3576781" y="3881375"/>
            <a:ext cx="490840"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 </a:t>
            </a:r>
            <a:r>
              <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x</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48" name="文本框 147">
            <a:extLst>
              <a:ext uri="{FF2B5EF4-FFF2-40B4-BE49-F238E27FC236}">
                <a16:creationId xmlns:a16="http://schemas.microsoft.com/office/drawing/2014/main" id="{5036F3D0-0B97-2583-F76D-9BD18B279EC9}"/>
              </a:ext>
            </a:extLst>
          </p:cNvPr>
          <p:cNvSpPr txBox="1"/>
          <p:nvPr/>
        </p:nvSpPr>
        <p:spPr>
          <a:xfrm>
            <a:off x="4132413" y="3881375"/>
            <a:ext cx="492443"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 </a:t>
            </a:r>
            <a:r>
              <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y</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sp>
        <p:nvSpPr>
          <p:cNvPr id="149" name="文本框 148">
            <a:extLst>
              <a:ext uri="{FF2B5EF4-FFF2-40B4-BE49-F238E27FC236}">
                <a16:creationId xmlns:a16="http://schemas.microsoft.com/office/drawing/2014/main" id="{EA32EB4B-9EBF-941E-FA18-3ACF560AA058}"/>
              </a:ext>
            </a:extLst>
          </p:cNvPr>
          <p:cNvSpPr txBox="1"/>
          <p:nvPr/>
        </p:nvSpPr>
        <p:spPr>
          <a:xfrm>
            <a:off x="4689593" y="3881375"/>
            <a:ext cx="482824"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c </a:t>
            </a:r>
            <a:r>
              <a:rPr lang="zh-CN" altLang="en-US" sz="1200" dirty="0">
                <a:latin typeface="Montserrat" panose="00000500000000000000" pitchFamily="2" charset="0"/>
                <a:ea typeface="微软雅黑" panose="020B0503020204020204" pitchFamily="34" charset="-122"/>
                <a:cs typeface="Courier New" panose="02070309020205020404" pitchFamily="49" charset="0"/>
              </a:rPr>
              <a:t>→</a:t>
            </a:r>
            <a:r>
              <a:rPr lang="en-US" altLang="zh-CN" sz="1200" dirty="0">
                <a:latin typeface="Montserrat" panose="00000500000000000000" pitchFamily="2" charset="0"/>
                <a:ea typeface="微软雅黑" panose="020B0503020204020204" pitchFamily="34" charset="-122"/>
                <a:cs typeface="Courier New" panose="02070309020205020404" pitchFamily="49" charset="0"/>
              </a:rPr>
              <a:t>z</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nvGrpSpPr>
          <p:cNvPr id="150" name="组合 149">
            <a:extLst>
              <a:ext uri="{FF2B5EF4-FFF2-40B4-BE49-F238E27FC236}">
                <a16:creationId xmlns:a16="http://schemas.microsoft.com/office/drawing/2014/main" id="{AE318408-159B-A0B0-27A6-0824B024BBC0}"/>
              </a:ext>
            </a:extLst>
          </p:cNvPr>
          <p:cNvGrpSpPr/>
          <p:nvPr/>
        </p:nvGrpSpPr>
        <p:grpSpPr>
          <a:xfrm>
            <a:off x="5277845" y="1474901"/>
            <a:ext cx="1440000" cy="720000"/>
            <a:chOff x="5277845" y="1779701"/>
            <a:chExt cx="1440000" cy="720000"/>
          </a:xfrm>
        </p:grpSpPr>
        <p:grpSp>
          <p:nvGrpSpPr>
            <p:cNvPr id="151" name="组合 150">
              <a:extLst>
                <a:ext uri="{FF2B5EF4-FFF2-40B4-BE49-F238E27FC236}">
                  <a16:creationId xmlns:a16="http://schemas.microsoft.com/office/drawing/2014/main" id="{5537CBDE-74F3-B96E-DBA7-AD28155F27DB}"/>
                </a:ext>
              </a:extLst>
            </p:cNvPr>
            <p:cNvGrpSpPr/>
            <p:nvPr/>
          </p:nvGrpSpPr>
          <p:grpSpPr>
            <a:xfrm>
              <a:off x="6336009" y="1789913"/>
              <a:ext cx="381836" cy="619527"/>
              <a:chOff x="7787527" y="1370364"/>
              <a:chExt cx="381836" cy="619527"/>
            </a:xfrm>
          </p:grpSpPr>
          <p:pic>
            <p:nvPicPr>
              <p:cNvPr id="159" name="图形 158" descr="文档">
                <a:extLst>
                  <a:ext uri="{FF2B5EF4-FFF2-40B4-BE49-F238E27FC236}">
                    <a16:creationId xmlns:a16="http://schemas.microsoft.com/office/drawing/2014/main" id="{1D41E14A-4765-E702-800B-FF1176D2E11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160" name="文本框 159">
                <a:extLst>
                  <a:ext uri="{FF2B5EF4-FFF2-40B4-BE49-F238E27FC236}">
                    <a16:creationId xmlns:a16="http://schemas.microsoft.com/office/drawing/2014/main" id="{74C336F9-0FB1-CF75-4634-CCD0B998E0FE}"/>
                  </a:ext>
                </a:extLst>
              </p:cNvPr>
              <p:cNvSpPr txBox="1"/>
              <p:nvPr/>
            </p:nvSpPr>
            <p:spPr>
              <a:xfrm>
                <a:off x="7787527" y="1370364"/>
                <a:ext cx="381836"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P5</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sp>
          <p:nvSpPr>
            <p:cNvPr id="152" name="矩形 151">
              <a:extLst>
                <a:ext uri="{FF2B5EF4-FFF2-40B4-BE49-F238E27FC236}">
                  <a16:creationId xmlns:a16="http://schemas.microsoft.com/office/drawing/2014/main" id="{C4E09F4D-DDDC-63C7-D348-E65A53427849}"/>
                </a:ext>
              </a:extLst>
            </p:cNvPr>
            <p:cNvSpPr/>
            <p:nvPr/>
          </p:nvSpPr>
          <p:spPr>
            <a:xfrm>
              <a:off x="5277845" y="1779701"/>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nvGrpSpPr>
            <p:cNvPr id="153" name="组合 152">
              <a:extLst>
                <a:ext uri="{FF2B5EF4-FFF2-40B4-BE49-F238E27FC236}">
                  <a16:creationId xmlns:a16="http://schemas.microsoft.com/office/drawing/2014/main" id="{4C02CEDE-D582-AC6F-ABA4-D49D57E235BA}"/>
                </a:ext>
              </a:extLst>
            </p:cNvPr>
            <p:cNvGrpSpPr/>
            <p:nvPr/>
          </p:nvGrpSpPr>
          <p:grpSpPr>
            <a:xfrm>
              <a:off x="5806927" y="1789913"/>
              <a:ext cx="396262" cy="619527"/>
              <a:chOff x="7787527" y="1370364"/>
              <a:chExt cx="396262" cy="619527"/>
            </a:xfrm>
          </p:grpSpPr>
          <p:pic>
            <p:nvPicPr>
              <p:cNvPr id="157" name="图形 156" descr="文档">
                <a:extLst>
                  <a:ext uri="{FF2B5EF4-FFF2-40B4-BE49-F238E27FC236}">
                    <a16:creationId xmlns:a16="http://schemas.microsoft.com/office/drawing/2014/main" id="{D167D7AE-363B-638B-602A-A8D3D34B6F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158" name="文本框 157">
                <a:extLst>
                  <a:ext uri="{FF2B5EF4-FFF2-40B4-BE49-F238E27FC236}">
                    <a16:creationId xmlns:a16="http://schemas.microsoft.com/office/drawing/2014/main" id="{7A7DD118-7499-0B20-46D3-F64CA162D606}"/>
                  </a:ext>
                </a:extLst>
              </p:cNvPr>
              <p:cNvSpPr txBox="1"/>
              <p:nvPr/>
            </p:nvSpPr>
            <p:spPr>
              <a:xfrm>
                <a:off x="7787527" y="1370364"/>
                <a:ext cx="396262"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P4</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nvGrpSpPr>
            <p:cNvPr id="154" name="组合 153">
              <a:extLst>
                <a:ext uri="{FF2B5EF4-FFF2-40B4-BE49-F238E27FC236}">
                  <a16:creationId xmlns:a16="http://schemas.microsoft.com/office/drawing/2014/main" id="{4D23F33F-DB6C-7E15-4D74-92612CDF31E9}"/>
                </a:ext>
              </a:extLst>
            </p:cNvPr>
            <p:cNvGrpSpPr/>
            <p:nvPr/>
          </p:nvGrpSpPr>
          <p:grpSpPr>
            <a:xfrm>
              <a:off x="5277845" y="1789913"/>
              <a:ext cx="381836" cy="619527"/>
              <a:chOff x="7787527" y="1370364"/>
              <a:chExt cx="381836" cy="619527"/>
            </a:xfrm>
          </p:grpSpPr>
          <p:pic>
            <p:nvPicPr>
              <p:cNvPr id="155" name="图形 154" descr="文档">
                <a:extLst>
                  <a:ext uri="{FF2B5EF4-FFF2-40B4-BE49-F238E27FC236}">
                    <a16:creationId xmlns:a16="http://schemas.microsoft.com/office/drawing/2014/main" id="{4FF86915-A78A-E36C-A207-8339A5E6394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156" name="文本框 155">
                <a:extLst>
                  <a:ext uri="{FF2B5EF4-FFF2-40B4-BE49-F238E27FC236}">
                    <a16:creationId xmlns:a16="http://schemas.microsoft.com/office/drawing/2014/main" id="{557AF157-AA9C-4D34-09A3-C2EF3A3958D9}"/>
                  </a:ext>
                </a:extLst>
              </p:cNvPr>
              <p:cNvSpPr txBox="1"/>
              <p:nvPr/>
            </p:nvSpPr>
            <p:spPr>
              <a:xfrm>
                <a:off x="7787527" y="1370364"/>
                <a:ext cx="381836"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P3</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grpSp>
        <p:nvGrpSpPr>
          <p:cNvPr id="161" name="组合 160">
            <a:extLst>
              <a:ext uri="{FF2B5EF4-FFF2-40B4-BE49-F238E27FC236}">
                <a16:creationId xmlns:a16="http://schemas.microsoft.com/office/drawing/2014/main" id="{107B02F9-32BE-C93A-D001-E17C3E11CB50}"/>
              </a:ext>
            </a:extLst>
          </p:cNvPr>
          <p:cNvGrpSpPr/>
          <p:nvPr/>
        </p:nvGrpSpPr>
        <p:grpSpPr>
          <a:xfrm>
            <a:off x="1792256" y="1474901"/>
            <a:ext cx="1441602" cy="720000"/>
            <a:chOff x="5430245" y="1932101"/>
            <a:chExt cx="1441602" cy="720000"/>
          </a:xfrm>
        </p:grpSpPr>
        <p:grpSp>
          <p:nvGrpSpPr>
            <p:cNvPr id="162" name="组合 161">
              <a:extLst>
                <a:ext uri="{FF2B5EF4-FFF2-40B4-BE49-F238E27FC236}">
                  <a16:creationId xmlns:a16="http://schemas.microsoft.com/office/drawing/2014/main" id="{3732A27B-FFEB-9524-5993-8650A56AFF1F}"/>
                </a:ext>
              </a:extLst>
            </p:cNvPr>
            <p:cNvGrpSpPr/>
            <p:nvPr/>
          </p:nvGrpSpPr>
          <p:grpSpPr>
            <a:xfrm>
              <a:off x="6488409" y="1942313"/>
              <a:ext cx="383438" cy="619527"/>
              <a:chOff x="7787527" y="1370364"/>
              <a:chExt cx="383438" cy="619527"/>
            </a:xfrm>
          </p:grpSpPr>
          <p:pic>
            <p:nvPicPr>
              <p:cNvPr id="170" name="图形 169" descr="文档">
                <a:extLst>
                  <a:ext uri="{FF2B5EF4-FFF2-40B4-BE49-F238E27FC236}">
                    <a16:creationId xmlns:a16="http://schemas.microsoft.com/office/drawing/2014/main" id="{D145E361-93A8-89D0-7DBB-35284AB6701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171" name="文本框 170">
                <a:extLst>
                  <a:ext uri="{FF2B5EF4-FFF2-40B4-BE49-F238E27FC236}">
                    <a16:creationId xmlns:a16="http://schemas.microsoft.com/office/drawing/2014/main" id="{5DA5FF2E-ABFA-1D47-9496-0D0D0BE432D4}"/>
                  </a:ext>
                </a:extLst>
              </p:cNvPr>
              <p:cNvSpPr txBox="1"/>
              <p:nvPr/>
            </p:nvSpPr>
            <p:spPr>
              <a:xfrm>
                <a:off x="7787527" y="1370364"/>
                <a:ext cx="383438"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P2</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grpSp>
        <p:sp>
          <p:nvSpPr>
            <p:cNvPr id="163" name="矩形 162">
              <a:extLst>
                <a:ext uri="{FF2B5EF4-FFF2-40B4-BE49-F238E27FC236}">
                  <a16:creationId xmlns:a16="http://schemas.microsoft.com/office/drawing/2014/main" id="{6FC8AA3B-00CE-D18B-B994-8E48797C1F34}"/>
                </a:ext>
              </a:extLst>
            </p:cNvPr>
            <p:cNvSpPr/>
            <p:nvPr/>
          </p:nvSpPr>
          <p:spPr>
            <a:xfrm>
              <a:off x="5430245" y="1932101"/>
              <a:ext cx="1440000" cy="720000"/>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200">
                <a:latin typeface="Montserrat" panose="00000500000000000000" pitchFamily="2" charset="0"/>
              </a:endParaRPr>
            </a:p>
          </p:txBody>
        </p:sp>
        <p:grpSp>
          <p:nvGrpSpPr>
            <p:cNvPr id="165" name="组合 164">
              <a:extLst>
                <a:ext uri="{FF2B5EF4-FFF2-40B4-BE49-F238E27FC236}">
                  <a16:creationId xmlns:a16="http://schemas.microsoft.com/office/drawing/2014/main" id="{55EE3067-1C65-3FEC-E4D3-7ED494E004D9}"/>
                </a:ext>
              </a:extLst>
            </p:cNvPr>
            <p:cNvGrpSpPr/>
            <p:nvPr/>
          </p:nvGrpSpPr>
          <p:grpSpPr>
            <a:xfrm>
              <a:off x="5430245" y="1942313"/>
              <a:ext cx="370918" cy="619527"/>
              <a:chOff x="7787527" y="1370364"/>
              <a:chExt cx="370918" cy="619527"/>
            </a:xfrm>
          </p:grpSpPr>
          <p:pic>
            <p:nvPicPr>
              <p:cNvPr id="166" name="图形 165" descr="文档">
                <a:extLst>
                  <a:ext uri="{FF2B5EF4-FFF2-40B4-BE49-F238E27FC236}">
                    <a16:creationId xmlns:a16="http://schemas.microsoft.com/office/drawing/2014/main" id="{489F7B9A-E2DF-DDAF-FBA5-F049333223B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798445" y="1629891"/>
                <a:ext cx="360000" cy="360000"/>
              </a:xfrm>
              <a:prstGeom prst="rect">
                <a:avLst/>
              </a:prstGeom>
            </p:spPr>
          </p:pic>
          <p:sp>
            <p:nvSpPr>
              <p:cNvPr id="167" name="文本框 166">
                <a:extLst>
                  <a:ext uri="{FF2B5EF4-FFF2-40B4-BE49-F238E27FC236}">
                    <a16:creationId xmlns:a16="http://schemas.microsoft.com/office/drawing/2014/main" id="{4EAE7A9A-63D6-FDFE-1853-1138B677FB3A}"/>
                  </a:ext>
                </a:extLst>
              </p:cNvPr>
              <p:cNvSpPr txBox="1"/>
              <p:nvPr/>
            </p:nvSpPr>
            <p:spPr>
              <a:xfrm>
                <a:off x="7787527" y="1370364"/>
                <a:ext cx="351378"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rPr>
                  <a:t>P1</a:t>
                </a:r>
                <a:endParaRPr lang="zh-CN" altLang="en-US" sz="1200" dirty="0">
                  <a:solidFill>
                    <a:srgbClr val="FF0000"/>
                  </a:solidFill>
                  <a:latin typeface="Montserrat" panose="00000500000000000000" pitchFamily="2" charset="0"/>
                  <a:ea typeface="微软雅黑" panose="020B0503020204020204" pitchFamily="34" charset="-122"/>
                  <a:cs typeface="Courier New" panose="02070309020205020404" pitchFamily="49" charset="0"/>
                </a:endParaRPr>
              </a:p>
            </p:txBody>
          </p:sp>
        </p:grpSp>
      </p:grpSp>
    </p:spTree>
    <p:extLst>
      <p:ext uri="{BB962C8B-B14F-4D97-AF65-F5344CB8AC3E}">
        <p14:creationId xmlns:p14="http://schemas.microsoft.com/office/powerpoint/2010/main" val="315076301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176546" y="3383327"/>
            <a:ext cx="7174141" cy="1323439"/>
          </a:xfrm>
          <a:prstGeom prst="rect">
            <a:avLst/>
          </a:prstGeom>
        </p:spPr>
        <p:txBody>
          <a:bodyPr wrap="square">
            <a:spAutoFit/>
          </a:bodyPr>
          <a:lstStyle/>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(1) </a:t>
            </a:r>
            <a:r>
              <a:rPr lang="zh-CN" altLang="en-US" sz="1600" b="1" dirty="0">
                <a:solidFill>
                  <a:srgbClr val="0000FF"/>
                </a:solidFill>
                <a:latin typeface="微软雅黑" panose="020B0503020204020204" pitchFamily="34" charset="-122"/>
                <a:ea typeface="微软雅黑" panose="020B0503020204020204" pitchFamily="34" charset="-122"/>
              </a:rPr>
              <a:t>源端口：</a:t>
            </a:r>
            <a:r>
              <a:rPr lang="zh-CN" altLang="en-US" sz="1600" b="1" dirty="0">
                <a:latin typeface="微软雅黑" panose="020B0503020204020204" pitchFamily="34" charset="-122"/>
                <a:ea typeface="微软雅黑" panose="020B0503020204020204" pitchFamily="34" charset="-122"/>
              </a:rPr>
              <a:t>源端口号。在需要对方回信时选用。不需要时可用全 </a:t>
            </a:r>
            <a:r>
              <a:rPr lang="en-US" altLang="zh-CN" sz="1600" b="1" dirty="0">
                <a:latin typeface="微软雅黑" panose="020B0503020204020204" pitchFamily="34" charset="-122"/>
                <a:ea typeface="微软雅黑" panose="020B0503020204020204" pitchFamily="34" charset="-122"/>
              </a:rPr>
              <a:t>0</a:t>
            </a:r>
            <a:r>
              <a:rPr lang="zh-CN" altLang="en-US" sz="1600" b="1" dirty="0">
                <a:latin typeface="微软雅黑" panose="020B0503020204020204" pitchFamily="34" charset="-122"/>
                <a:ea typeface="微软雅黑" panose="020B0503020204020204" pitchFamily="34" charset="-122"/>
              </a:rPr>
              <a:t>。</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(2) </a:t>
            </a:r>
            <a:r>
              <a:rPr lang="zh-CN" altLang="en-US" sz="1600" b="1" dirty="0">
                <a:solidFill>
                  <a:srgbClr val="0000FF"/>
                </a:solidFill>
                <a:latin typeface="微软雅黑" panose="020B0503020204020204" pitchFamily="34" charset="-122"/>
                <a:ea typeface="微软雅黑" panose="020B0503020204020204" pitchFamily="34" charset="-122"/>
              </a:rPr>
              <a:t>目的端口：</a:t>
            </a:r>
            <a:r>
              <a:rPr lang="zh-CN" altLang="en-US" sz="1600" b="1" dirty="0">
                <a:latin typeface="微软雅黑" panose="020B0503020204020204" pitchFamily="34" charset="-122"/>
                <a:ea typeface="微软雅黑" panose="020B0503020204020204" pitchFamily="34" charset="-122"/>
              </a:rPr>
              <a:t>目的端口号。终点交付报文时必须使用。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(3) </a:t>
            </a:r>
            <a:r>
              <a:rPr lang="zh-CN" altLang="en-US" sz="1600" b="1" dirty="0">
                <a:solidFill>
                  <a:srgbClr val="0000FF"/>
                </a:solidFill>
                <a:latin typeface="微软雅黑" panose="020B0503020204020204" pitchFamily="34" charset="-122"/>
                <a:ea typeface="微软雅黑" panose="020B0503020204020204" pitchFamily="34" charset="-122"/>
              </a:rPr>
              <a:t>长度：</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用户数据报的长度，其最小值是 </a:t>
            </a:r>
            <a:r>
              <a:rPr lang="en-US" altLang="zh-CN" sz="1600" b="1" dirty="0">
                <a:latin typeface="微软雅黑" panose="020B0503020204020204" pitchFamily="34" charset="-122"/>
                <a:ea typeface="微软雅黑" panose="020B0503020204020204" pitchFamily="34" charset="-122"/>
              </a:rPr>
              <a:t>8</a:t>
            </a:r>
            <a:r>
              <a:rPr lang="zh-CN" altLang="en-US" sz="1600" b="1" dirty="0">
                <a:latin typeface="微软雅黑" panose="020B0503020204020204" pitchFamily="34" charset="-122"/>
                <a:ea typeface="微软雅黑" panose="020B0503020204020204" pitchFamily="34" charset="-122"/>
              </a:rPr>
              <a:t>（仅有首部）。</a:t>
            </a:r>
          </a:p>
          <a:p>
            <a:pPr>
              <a:lnSpc>
                <a:spcPts val="2400"/>
              </a:lnSpc>
            </a:pPr>
            <a:r>
              <a:rPr lang="en-US" altLang="zh-CN" sz="1600" b="1" dirty="0">
                <a:solidFill>
                  <a:srgbClr val="0000FF"/>
                </a:solidFill>
                <a:latin typeface="微软雅黑" panose="020B0503020204020204" pitchFamily="34" charset="-122"/>
                <a:ea typeface="微软雅黑" panose="020B0503020204020204" pitchFamily="34" charset="-122"/>
              </a:rPr>
              <a:t>(4) </a:t>
            </a:r>
            <a:r>
              <a:rPr lang="zh-CN" altLang="en-US" sz="1600" b="1" dirty="0">
                <a:solidFill>
                  <a:srgbClr val="0000FF"/>
                </a:solidFill>
                <a:latin typeface="微软雅黑" panose="020B0503020204020204" pitchFamily="34" charset="-122"/>
                <a:ea typeface="微软雅黑" panose="020B0503020204020204" pitchFamily="34" charset="-122"/>
              </a:rPr>
              <a:t>检验和：</a:t>
            </a:r>
            <a:r>
              <a:rPr lang="zh-CN" altLang="en-US" sz="1600" b="1" dirty="0">
                <a:latin typeface="微软雅黑" panose="020B0503020204020204" pitchFamily="34" charset="-122"/>
                <a:ea typeface="微软雅黑" panose="020B0503020204020204" pitchFamily="34" charset="-122"/>
              </a:rPr>
              <a:t>检测 </a:t>
            </a:r>
            <a:r>
              <a:rPr lang="en-US" altLang="zh-CN" sz="1600" b="1" dirty="0">
                <a:latin typeface="微软雅黑" panose="020B0503020204020204" pitchFamily="34" charset="-122"/>
                <a:ea typeface="微软雅黑" panose="020B0503020204020204" pitchFamily="34" charset="-122"/>
              </a:rPr>
              <a:t>UDP </a:t>
            </a:r>
            <a:r>
              <a:rPr lang="zh-CN" altLang="en-US" sz="1600" b="1" dirty="0">
                <a:latin typeface="微软雅黑" panose="020B0503020204020204" pitchFamily="34" charset="-122"/>
                <a:ea typeface="微软雅黑" panose="020B0503020204020204" pitchFamily="34" charset="-122"/>
              </a:rPr>
              <a:t>用户数据报在传输中是否有错。有错就丢弃。</a:t>
            </a:r>
          </a:p>
        </p:txBody>
      </p:sp>
      <p:grpSp>
        <p:nvGrpSpPr>
          <p:cNvPr id="10" name="组合 9"/>
          <p:cNvGrpSpPr/>
          <p:nvPr/>
        </p:nvGrpSpPr>
        <p:grpSpPr>
          <a:xfrm>
            <a:off x="1624570" y="1139493"/>
            <a:ext cx="6624517" cy="918285"/>
            <a:chOff x="1624570" y="1139493"/>
            <a:chExt cx="6624517" cy="918285"/>
          </a:xfrm>
        </p:grpSpPr>
        <p:grpSp>
          <p:nvGrpSpPr>
            <p:cNvPr id="6" name="组合 5"/>
            <p:cNvGrpSpPr/>
            <p:nvPr/>
          </p:nvGrpSpPr>
          <p:grpSpPr>
            <a:xfrm>
              <a:off x="2091658" y="1139493"/>
              <a:ext cx="6157429" cy="918285"/>
              <a:chOff x="2091658" y="1139493"/>
              <a:chExt cx="6157429" cy="918285"/>
            </a:xfrm>
          </p:grpSpPr>
          <p:sp>
            <p:nvSpPr>
              <p:cNvPr id="12" name="Freeform 3"/>
              <p:cNvSpPr>
                <a:spLocks/>
              </p:cNvSpPr>
              <p:nvPr/>
            </p:nvSpPr>
            <p:spPr bwMode="auto">
              <a:xfrm>
                <a:off x="2091658" y="1670941"/>
                <a:ext cx="3283840" cy="38683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FFFF"/>
                  </a:gs>
                  <a:gs pos="84000">
                    <a:srgbClr val="FF99FF"/>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6" name="Rectangle 8"/>
              <p:cNvSpPr>
                <a:spLocks noChangeArrowheads="1"/>
              </p:cNvSpPr>
              <p:nvPr/>
            </p:nvSpPr>
            <p:spPr bwMode="auto">
              <a:xfrm>
                <a:off x="2091658" y="1365241"/>
                <a:ext cx="3283840" cy="29907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8" name="Line 10"/>
              <p:cNvSpPr>
                <a:spLocks noChangeShapeType="1"/>
              </p:cNvSpPr>
              <p:nvPr/>
            </p:nvSpPr>
            <p:spPr bwMode="auto">
              <a:xfrm>
                <a:off x="2912899" y="1365241"/>
                <a:ext cx="1124"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1" name="Line 13"/>
              <p:cNvSpPr>
                <a:spLocks noChangeShapeType="1"/>
              </p:cNvSpPr>
              <p:nvPr/>
            </p:nvSpPr>
            <p:spPr bwMode="auto">
              <a:xfrm>
                <a:off x="3733015" y="1365241"/>
                <a:ext cx="2250"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2" name="Line 14"/>
              <p:cNvSpPr>
                <a:spLocks noChangeShapeType="1"/>
              </p:cNvSpPr>
              <p:nvPr/>
            </p:nvSpPr>
            <p:spPr bwMode="auto">
              <a:xfrm>
                <a:off x="4554256" y="1365241"/>
                <a:ext cx="1125" cy="29907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5" name="Text Box 17"/>
              <p:cNvSpPr txBox="1">
                <a:spLocks noChangeArrowheads="1"/>
              </p:cNvSpPr>
              <p:nvPr/>
            </p:nvSpPr>
            <p:spPr bwMode="auto">
              <a:xfrm>
                <a:off x="2099533"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源端口</a:t>
                </a:r>
              </a:p>
            </p:txBody>
          </p:sp>
          <p:sp>
            <p:nvSpPr>
              <p:cNvPr id="26" name="Text Box 18"/>
              <p:cNvSpPr txBox="1">
                <a:spLocks noChangeArrowheads="1"/>
              </p:cNvSpPr>
              <p:nvPr/>
            </p:nvSpPr>
            <p:spPr bwMode="auto">
              <a:xfrm>
                <a:off x="2871274" y="136316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目的端口</a:t>
                </a:r>
              </a:p>
            </p:txBody>
          </p:sp>
          <p:sp>
            <p:nvSpPr>
              <p:cNvPr id="27" name="Text Box 19"/>
              <p:cNvSpPr txBox="1">
                <a:spLocks noChangeArrowheads="1"/>
              </p:cNvSpPr>
              <p:nvPr/>
            </p:nvSpPr>
            <p:spPr bwMode="auto">
              <a:xfrm>
                <a:off x="3817389" y="1362126"/>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长  度</a:t>
                </a:r>
              </a:p>
            </p:txBody>
          </p:sp>
          <p:sp>
            <p:nvSpPr>
              <p:cNvPr id="28" name="Text Box 20"/>
              <p:cNvSpPr txBox="1">
                <a:spLocks noChangeArrowheads="1"/>
              </p:cNvSpPr>
              <p:nvPr/>
            </p:nvSpPr>
            <p:spPr bwMode="auto">
              <a:xfrm>
                <a:off x="4628505" y="1363164"/>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检验和</a:t>
                </a:r>
              </a:p>
            </p:txBody>
          </p:sp>
          <p:sp>
            <p:nvSpPr>
              <p:cNvPr id="49" name="Text Box 41"/>
              <p:cNvSpPr txBox="1">
                <a:spLocks noChangeArrowheads="1"/>
              </p:cNvSpPr>
              <p:nvPr/>
            </p:nvSpPr>
            <p:spPr bwMode="auto">
              <a:xfrm>
                <a:off x="236742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rgbClr val="000099"/>
                    </a:solidFill>
                    <a:latin typeface="微软雅黑" pitchFamily="34" charset="-122"/>
                    <a:ea typeface="微软雅黑" pitchFamily="34" charset="-122"/>
                  </a:rPr>
                  <a:t>2</a:t>
                </a:r>
              </a:p>
            </p:txBody>
          </p:sp>
          <p:sp>
            <p:nvSpPr>
              <p:cNvPr id="50" name="Text Box 42"/>
              <p:cNvSpPr txBox="1">
                <a:spLocks noChangeArrowheads="1"/>
              </p:cNvSpPr>
              <p:nvPr/>
            </p:nvSpPr>
            <p:spPr bwMode="auto">
              <a:xfrm>
                <a:off x="3235911"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rgbClr val="000099"/>
                    </a:solidFill>
                    <a:latin typeface="微软雅黑" pitchFamily="34" charset="-122"/>
                    <a:ea typeface="微软雅黑" pitchFamily="34" charset="-122"/>
                  </a:rPr>
                  <a:t>2</a:t>
                </a:r>
              </a:p>
            </p:txBody>
          </p:sp>
          <p:sp>
            <p:nvSpPr>
              <p:cNvPr id="51" name="Text Box 43"/>
              <p:cNvSpPr txBox="1">
                <a:spLocks noChangeArrowheads="1"/>
              </p:cNvSpPr>
              <p:nvPr/>
            </p:nvSpPr>
            <p:spPr bwMode="auto">
              <a:xfrm>
                <a:off x="3994153"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rgbClr val="000099"/>
                    </a:solidFill>
                    <a:latin typeface="微软雅黑" pitchFamily="34" charset="-122"/>
                    <a:ea typeface="微软雅黑" pitchFamily="34" charset="-122"/>
                  </a:rPr>
                  <a:t>2</a:t>
                </a:r>
              </a:p>
            </p:txBody>
          </p:sp>
          <p:sp>
            <p:nvSpPr>
              <p:cNvPr id="52" name="Text Box 44"/>
              <p:cNvSpPr txBox="1">
                <a:spLocks noChangeArrowheads="1"/>
              </p:cNvSpPr>
              <p:nvPr/>
            </p:nvSpPr>
            <p:spPr bwMode="auto">
              <a:xfrm>
                <a:off x="4857018" y="1139493"/>
                <a:ext cx="2792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rgbClr val="000099"/>
                    </a:solidFill>
                    <a:latin typeface="微软雅黑" pitchFamily="34" charset="-122"/>
                    <a:ea typeface="微软雅黑" pitchFamily="34" charset="-122"/>
                  </a:rPr>
                  <a:t>2</a:t>
                </a:r>
              </a:p>
            </p:txBody>
          </p:sp>
          <p:sp>
            <p:nvSpPr>
              <p:cNvPr id="5" name="矩形 4"/>
              <p:cNvSpPr/>
              <p:nvPr/>
            </p:nvSpPr>
            <p:spPr>
              <a:xfrm>
                <a:off x="5438833" y="1203915"/>
                <a:ext cx="2810254" cy="566309"/>
              </a:xfrm>
              <a:prstGeom prst="rect">
                <a:avLst/>
              </a:prstGeom>
            </p:spPr>
            <p:txBody>
              <a:bodyPr wrap="square">
                <a:spAutoFit/>
              </a:bodyPr>
              <a:lstStyle/>
              <a:p>
                <a:pPr>
                  <a:lnSpc>
                    <a:spcPct val="110000"/>
                  </a:lnSpc>
                </a:pPr>
                <a:r>
                  <a:rPr lang="zh-CN" altLang="en-US" sz="1400" b="1" dirty="0">
                    <a:latin typeface="微软雅黑" pitchFamily="34" charset="-122"/>
                    <a:ea typeface="微软雅黑" pitchFamily="34" charset="-122"/>
                  </a:rPr>
                  <a:t>首部字段：</a:t>
                </a:r>
                <a:r>
                  <a:rPr lang="en-US" altLang="zh-CN" sz="1400" b="1" dirty="0">
                    <a:latin typeface="微软雅黑" pitchFamily="34" charset="-122"/>
                    <a:ea typeface="微软雅黑" pitchFamily="34" charset="-122"/>
                  </a:rPr>
                  <a:t>8 </a:t>
                </a:r>
                <a:r>
                  <a:rPr lang="zh-CN" altLang="en-US" sz="1400" b="1" dirty="0">
                    <a:latin typeface="微软雅黑" pitchFamily="34" charset="-122"/>
                    <a:ea typeface="微软雅黑" pitchFamily="34" charset="-122"/>
                  </a:rPr>
                  <a:t>个字节，</a:t>
                </a:r>
                <a:r>
                  <a:rPr lang="en-US" altLang="zh-CN" sz="1400" b="1" dirty="0">
                    <a:latin typeface="微软雅黑" pitchFamily="34" charset="-122"/>
                    <a:ea typeface="微软雅黑" pitchFamily="34" charset="-122"/>
                  </a:rPr>
                  <a:t>4 </a:t>
                </a:r>
                <a:r>
                  <a:rPr lang="zh-CN" altLang="en-US" sz="1400" b="1" dirty="0">
                    <a:latin typeface="微软雅黑" pitchFamily="34" charset="-122"/>
                    <a:ea typeface="微软雅黑" pitchFamily="34" charset="-122"/>
                  </a:rPr>
                  <a:t>个字段，每个字段为 </a:t>
                </a:r>
                <a:r>
                  <a:rPr lang="en-US" altLang="zh-CN" sz="1400" b="1" dirty="0">
                    <a:latin typeface="微软雅黑" pitchFamily="34" charset="-122"/>
                    <a:ea typeface="微软雅黑" pitchFamily="34" charset="-122"/>
                  </a:rPr>
                  <a:t>2 </a:t>
                </a:r>
                <a:r>
                  <a:rPr lang="zh-CN" altLang="en-US" sz="1400" b="1" dirty="0">
                    <a:latin typeface="微软雅黑" pitchFamily="34" charset="-122"/>
                    <a:ea typeface="微软雅黑" pitchFamily="34" charset="-122"/>
                  </a:rPr>
                  <a:t>个字节。 </a:t>
                </a:r>
              </a:p>
            </p:txBody>
          </p:sp>
        </p:grpSp>
        <p:sp>
          <p:nvSpPr>
            <p:cNvPr id="42" name="Text Box 34"/>
            <p:cNvSpPr txBox="1">
              <a:spLocks noChangeArrowheads="1"/>
            </p:cNvSpPr>
            <p:nvPr/>
          </p:nvSpPr>
          <p:spPr bwMode="auto">
            <a:xfrm>
              <a:off x="1624570" y="11567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99"/>
                  </a:solidFill>
                  <a:latin typeface="微软雅黑" pitchFamily="34" charset="-122"/>
                  <a:ea typeface="微软雅黑" pitchFamily="34" charset="-122"/>
                </a:rPr>
                <a:t>字节</a:t>
              </a:r>
            </a:p>
          </p:txBody>
        </p:sp>
      </p:grpSp>
      <p:sp>
        <p:nvSpPr>
          <p:cNvPr id="59" name="Rectangle 4"/>
          <p:cNvSpPr>
            <a:spLocks noChangeArrowheads="1"/>
          </p:cNvSpPr>
          <p:nvPr/>
        </p:nvSpPr>
        <p:spPr bwMode="auto">
          <a:xfrm>
            <a:off x="2500126" y="2333140"/>
            <a:ext cx="3869267" cy="422758"/>
          </a:xfrm>
          <a:prstGeom prst="rect">
            <a:avLst/>
          </a:prstGeom>
          <a:gradFill flip="none" rotWithShape="1">
            <a:gsLst>
              <a:gs pos="100000">
                <a:srgbClr val="00B0F0"/>
              </a:gs>
              <a:gs pos="0">
                <a:srgbClr val="00FFFF"/>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400" b="1"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 name="Rectangle 2"/>
          <p:cNvSpPr>
            <a:spLocks noChangeArrowheads="1"/>
          </p:cNvSpPr>
          <p:nvPr/>
        </p:nvSpPr>
        <p:spPr bwMode="auto">
          <a:xfrm>
            <a:off x="1732164" y="2648529"/>
            <a:ext cx="764992" cy="299074"/>
          </a:xfrm>
          <a:prstGeom prst="rect">
            <a:avLst/>
          </a:prstGeom>
          <a:solidFill>
            <a:srgbClr val="0000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AutoShape 6"/>
          <p:cNvSpPr>
            <a:spLocks noChangeArrowheads="1"/>
          </p:cNvSpPr>
          <p:nvPr/>
        </p:nvSpPr>
        <p:spPr bwMode="auto">
          <a:xfrm>
            <a:off x="1166295" y="2707721"/>
            <a:ext cx="565870" cy="188998"/>
          </a:xfrm>
          <a:prstGeom prst="leftArrow">
            <a:avLst>
              <a:gd name="adj1" fmla="val 50000"/>
              <a:gd name="adj2" fmla="val 69093"/>
            </a:avLst>
          </a:prstGeom>
          <a:solidFill>
            <a:srgbClr val="FF00FF"/>
          </a:solidFill>
          <a:ln w="1270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7" name="Rectangle 9"/>
          <p:cNvSpPr>
            <a:spLocks noChangeArrowheads="1"/>
          </p:cNvSpPr>
          <p:nvPr/>
        </p:nvSpPr>
        <p:spPr bwMode="auto">
          <a:xfrm>
            <a:off x="2497156" y="2650606"/>
            <a:ext cx="3877834" cy="299074"/>
          </a:xfrm>
          <a:prstGeom prst="rect">
            <a:avLst/>
          </a:prstGeom>
          <a:solidFill>
            <a:srgbClr val="00FFFF"/>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29" name="Text Box 21"/>
          <p:cNvSpPr txBox="1">
            <a:spLocks noChangeArrowheads="1"/>
          </p:cNvSpPr>
          <p:nvPr/>
        </p:nvSpPr>
        <p:spPr bwMode="auto">
          <a:xfrm>
            <a:off x="3972015" y="2641030"/>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30" name="Text Box 22"/>
          <p:cNvSpPr txBox="1">
            <a:spLocks noChangeArrowheads="1"/>
          </p:cNvSpPr>
          <p:nvPr/>
        </p:nvSpPr>
        <p:spPr bwMode="auto">
          <a:xfrm>
            <a:off x="1806413" y="2641030"/>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39" name="Line 31"/>
          <p:cNvSpPr>
            <a:spLocks noChangeShapeType="1"/>
          </p:cNvSpPr>
          <p:nvPr/>
        </p:nvSpPr>
        <p:spPr bwMode="auto">
          <a:xfrm>
            <a:off x="1701789" y="3099216"/>
            <a:ext cx="4673201"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0" name="Rectangle 32"/>
          <p:cNvSpPr>
            <a:spLocks noChangeArrowheads="1"/>
          </p:cNvSpPr>
          <p:nvPr/>
        </p:nvSpPr>
        <p:spPr bwMode="auto">
          <a:xfrm>
            <a:off x="3533270" y="2998486"/>
            <a:ext cx="831367" cy="191075"/>
          </a:xfrm>
          <a:prstGeom prst="rect">
            <a:avLst/>
          </a:prstGeom>
          <a:solidFill>
            <a:srgbClr val="C3E3F9"/>
          </a:solidFill>
          <a:ln>
            <a:noFill/>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41" name="Text Box 33"/>
          <p:cNvSpPr txBox="1">
            <a:spLocks noChangeArrowheads="1"/>
          </p:cNvSpPr>
          <p:nvPr/>
        </p:nvSpPr>
        <p:spPr bwMode="auto">
          <a:xfrm>
            <a:off x="3546806" y="2958571"/>
            <a:ext cx="845103" cy="276999"/>
          </a:xfrm>
          <a:prstGeom prst="rect">
            <a:avLst/>
          </a:prstGeom>
          <a:solidFill>
            <a:srgbClr val="C3E3F9"/>
          </a:solidFill>
          <a:ln>
            <a:noFill/>
          </a:ln>
          <a:effectLst/>
        </p:spPr>
        <p:txBody>
          <a:bodyPr wrap="none">
            <a:spAutoFit/>
          </a:bodyPr>
          <a:lstStyle/>
          <a:p>
            <a:pPr algn="ctr"/>
            <a:r>
              <a:rPr kumimoji="1" lang="en-US" altLang="zh-CN" sz="1200" b="1" dirty="0">
                <a:solidFill>
                  <a:srgbClr val="0000FF"/>
                </a:solidFill>
                <a:latin typeface="微软雅黑" pitchFamily="34" charset="-122"/>
                <a:ea typeface="微软雅黑" pitchFamily="34" charset="-122"/>
              </a:rPr>
              <a:t>IP </a:t>
            </a:r>
            <a:r>
              <a:rPr kumimoji="1" lang="zh-CN" altLang="en-US" sz="1200" b="1" dirty="0">
                <a:solidFill>
                  <a:srgbClr val="0000FF"/>
                </a:solidFill>
                <a:latin typeface="微软雅黑" pitchFamily="34" charset="-122"/>
                <a:ea typeface="微软雅黑" pitchFamily="34" charset="-122"/>
              </a:rPr>
              <a:t>数据报</a:t>
            </a:r>
          </a:p>
        </p:txBody>
      </p:sp>
      <p:sp>
        <p:nvSpPr>
          <p:cNvPr id="54" name="Text Box 46"/>
          <p:cNvSpPr txBox="1">
            <a:spLocks noChangeArrowheads="1"/>
          </p:cNvSpPr>
          <p:nvPr/>
        </p:nvSpPr>
        <p:spPr bwMode="auto">
          <a:xfrm>
            <a:off x="781196" y="295552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99"/>
                </a:solidFill>
                <a:latin typeface="微软雅黑" pitchFamily="34" charset="-122"/>
                <a:ea typeface="微软雅黑" pitchFamily="34" charset="-122"/>
              </a:rPr>
              <a:t>发送在前</a:t>
            </a:r>
          </a:p>
        </p:txBody>
      </p:sp>
      <p:sp>
        <p:nvSpPr>
          <p:cNvPr id="3" name="矩形 2"/>
          <p:cNvSpPr/>
          <p:nvPr/>
        </p:nvSpPr>
        <p:spPr>
          <a:xfrm>
            <a:off x="6345474" y="1999868"/>
            <a:ext cx="2256915" cy="363176"/>
          </a:xfrm>
          <a:prstGeom prst="rect">
            <a:avLst/>
          </a:prstGeom>
        </p:spPr>
        <p:txBody>
          <a:bodyPr wrap="square">
            <a:spAutoFit/>
          </a:bodyPr>
          <a:lstStyle/>
          <a:p>
            <a:pPr>
              <a:lnSpc>
                <a:spcPct val="110000"/>
              </a:lnSpc>
            </a:pP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个字段：首部，数据。</a:t>
            </a:r>
            <a:endParaRPr lang="en-US" altLang="zh-CN" sz="1600" b="1" dirty="0">
              <a:latin typeface="微软雅黑" pitchFamily="34" charset="-122"/>
              <a:ea typeface="微软雅黑" pitchFamily="34" charset="-122"/>
            </a:endParaRPr>
          </a:p>
        </p:txBody>
      </p:sp>
      <p:sp>
        <p:nvSpPr>
          <p:cNvPr id="13" name="Rectangle 4"/>
          <p:cNvSpPr>
            <a:spLocks noChangeArrowheads="1"/>
          </p:cNvSpPr>
          <p:nvPr/>
        </p:nvSpPr>
        <p:spPr bwMode="auto">
          <a:xfrm>
            <a:off x="2496031" y="2033901"/>
            <a:ext cx="766118" cy="299074"/>
          </a:xfrm>
          <a:prstGeom prst="rect">
            <a:avLst/>
          </a:prstGeom>
          <a:solidFill>
            <a:srgbClr val="CC00CC"/>
          </a:solidFill>
          <a:ln w="19050">
            <a:solidFill>
              <a:schemeClr val="tx1"/>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5" name="Rectangle 48"/>
          <p:cNvSpPr>
            <a:spLocks noChangeArrowheads="1"/>
          </p:cNvSpPr>
          <p:nvPr/>
        </p:nvSpPr>
        <p:spPr bwMode="auto">
          <a:xfrm>
            <a:off x="3262148" y="2033901"/>
            <a:ext cx="3112842" cy="299074"/>
          </a:xfrm>
          <a:prstGeom prst="rect">
            <a:avLst/>
          </a:prstGeom>
          <a:solidFill>
            <a:srgbClr val="66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56" name="Text Box 49"/>
          <p:cNvSpPr txBox="1">
            <a:spLocks noChangeArrowheads="1"/>
          </p:cNvSpPr>
          <p:nvPr/>
        </p:nvSpPr>
        <p:spPr bwMode="auto">
          <a:xfrm>
            <a:off x="4364636" y="2025363"/>
            <a:ext cx="10198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latin typeface="微软雅黑" pitchFamily="34" charset="-122"/>
                <a:ea typeface="微软雅黑" pitchFamily="34" charset="-122"/>
              </a:rPr>
              <a:t>数         据</a:t>
            </a:r>
          </a:p>
        </p:txBody>
      </p:sp>
      <p:sp>
        <p:nvSpPr>
          <p:cNvPr id="57" name="Text Box 50"/>
          <p:cNvSpPr txBox="1">
            <a:spLocks noChangeArrowheads="1"/>
          </p:cNvSpPr>
          <p:nvPr/>
        </p:nvSpPr>
        <p:spPr bwMode="auto">
          <a:xfrm>
            <a:off x="2596155" y="2025363"/>
            <a:ext cx="649537"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chemeClr val="bg1"/>
                </a:solidFill>
                <a:latin typeface="微软雅黑" pitchFamily="34" charset="-122"/>
                <a:ea typeface="微软雅黑" pitchFamily="34" charset="-122"/>
              </a:rPr>
              <a:t>首  部</a:t>
            </a:r>
          </a:p>
        </p:txBody>
      </p:sp>
      <p:sp>
        <p:nvSpPr>
          <p:cNvPr id="58" name="Text Box 52"/>
          <p:cNvSpPr txBox="1">
            <a:spLocks noChangeArrowheads="1"/>
          </p:cNvSpPr>
          <p:nvPr/>
        </p:nvSpPr>
        <p:spPr bwMode="auto">
          <a:xfrm>
            <a:off x="940923" y="2031870"/>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400" b="1" dirty="0">
                <a:solidFill>
                  <a:srgbClr val="000099"/>
                </a:solidFill>
                <a:latin typeface="微软雅黑" pitchFamily="34" charset="-122"/>
                <a:ea typeface="微软雅黑" pitchFamily="34" charset="-122"/>
              </a:rPr>
              <a:t>UDP </a:t>
            </a:r>
            <a:r>
              <a:rPr kumimoji="1" lang="zh-CN" altLang="en-US" sz="1400" b="1" dirty="0">
                <a:solidFill>
                  <a:srgbClr val="000099"/>
                </a:solidFill>
                <a:latin typeface="微软雅黑" pitchFamily="34" charset="-122"/>
                <a:ea typeface="微软雅黑" pitchFamily="34" charset="-122"/>
              </a:rPr>
              <a:t>用户数据报</a:t>
            </a:r>
          </a:p>
        </p:txBody>
      </p:sp>
      <p:sp>
        <p:nvSpPr>
          <p:cNvPr id="15" name="标题 14">
            <a:extLst>
              <a:ext uri="{FF2B5EF4-FFF2-40B4-BE49-F238E27FC236}">
                <a16:creationId xmlns:a16="http://schemas.microsoft.com/office/drawing/2014/main" id="{8BCF5290-1C81-75E5-117D-B8353B1C2F39}"/>
              </a:ext>
            </a:extLst>
          </p:cNvPr>
          <p:cNvSpPr>
            <a:spLocks noGrp="1"/>
          </p:cNvSpPr>
          <p:nvPr>
            <p:ph type="title"/>
          </p:nvPr>
        </p:nvSpPr>
        <p:spPr>
          <a:xfrm>
            <a:off x="2808000" y="144000"/>
            <a:ext cx="3528000" cy="338554"/>
          </a:xfrm>
        </p:spPr>
        <p:txBody>
          <a:bodyPr/>
          <a:lstStyle/>
          <a:p>
            <a:r>
              <a:rPr lang="en-US" altLang="zh-CN" dirty="0"/>
              <a:t>5.2.2  UDP </a:t>
            </a:r>
            <a:r>
              <a:rPr lang="zh-CN" altLang="en-US" dirty="0"/>
              <a:t>的首部格式</a:t>
            </a:r>
          </a:p>
        </p:txBody>
      </p:sp>
    </p:spTree>
    <p:extLst>
      <p:ext uri="{BB962C8B-B14F-4D97-AF65-F5344CB8AC3E}">
        <p14:creationId xmlns:p14="http://schemas.microsoft.com/office/powerpoint/2010/main" val="37887187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1000"/>
                                        <p:tgtEl>
                                          <p:spTgt spid="10"/>
                                        </p:tgtEl>
                                      </p:cBhvr>
                                    </p:animEffect>
                                  </p:childTnLst>
                                </p:cTn>
                              </p:par>
                            </p:childTnLst>
                          </p:cTn>
                        </p:par>
                        <p:par>
                          <p:cTn id="8" fill="hold">
                            <p:stCondLst>
                              <p:cond delay="1000"/>
                            </p:stCondLst>
                            <p:childTnLst>
                              <p:par>
                                <p:cTn id="9" presetID="10" presetClass="entr" presetSubtype="0" fill="hold" grpId="0" nodeType="afterEffect">
                                  <p:stCondLst>
                                    <p:cond delay="0"/>
                                  </p:stCondLst>
                                  <p:childTnLst>
                                    <p:set>
                                      <p:cBhvr>
                                        <p:cTn id="10" dur="1" fill="hold">
                                          <p:stCondLst>
                                            <p:cond delay="0"/>
                                          </p:stCondLst>
                                        </p:cTn>
                                        <p:tgtEl>
                                          <p:spTgt spid="2"/>
                                        </p:tgtEl>
                                        <p:attrNameLst>
                                          <p:attrName>style.visibility</p:attrName>
                                        </p:attrNameLst>
                                      </p:cBhvr>
                                      <p:to>
                                        <p:strVal val="visible"/>
                                      </p:to>
                                    </p:set>
                                    <p:animEffect transition="in" filter="fade">
                                      <p:cBhvr>
                                        <p:cTn id="1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98378" y="3556812"/>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754490"/>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2985736"/>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616593"/>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081870"/>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452442"/>
            <a:ext cx="3316500"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0" name="Rectangle 9"/>
          <p:cNvSpPr>
            <a:spLocks noChangeArrowheads="1"/>
          </p:cNvSpPr>
          <p:nvPr/>
        </p:nvSpPr>
        <p:spPr bwMode="auto">
          <a:xfrm>
            <a:off x="3670978" y="3558910"/>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1" name="Line 10"/>
          <p:cNvSpPr>
            <a:spLocks noChangeShapeType="1"/>
          </p:cNvSpPr>
          <p:nvPr/>
        </p:nvSpPr>
        <p:spPr bwMode="auto">
          <a:xfrm>
            <a:off x="4143628"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11"/>
          <p:cNvSpPr>
            <a:spLocks noChangeArrowheads="1"/>
          </p:cNvSpPr>
          <p:nvPr/>
        </p:nvSpPr>
        <p:spPr bwMode="auto">
          <a:xfrm>
            <a:off x="1915585" y="1779822"/>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77982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3"/>
          <p:cNvSpPr>
            <a:spLocks noChangeShapeType="1"/>
          </p:cNvSpPr>
          <p:nvPr/>
        </p:nvSpPr>
        <p:spPr bwMode="auto">
          <a:xfrm>
            <a:off x="4971900" y="2452442"/>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4"/>
          <p:cNvSpPr>
            <a:spLocks noChangeShapeType="1"/>
          </p:cNvSpPr>
          <p:nvPr/>
        </p:nvSpPr>
        <p:spPr bwMode="auto">
          <a:xfrm>
            <a:off x="5801309" y="245244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452442"/>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459489"/>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18" name="Text Box 17"/>
          <p:cNvSpPr txBox="1">
            <a:spLocks noChangeArrowheads="1"/>
          </p:cNvSpPr>
          <p:nvPr/>
        </p:nvSpPr>
        <p:spPr bwMode="auto">
          <a:xfrm>
            <a:off x="3395324"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源端口</a:t>
            </a:r>
          </a:p>
        </p:txBody>
      </p:sp>
      <p:sp>
        <p:nvSpPr>
          <p:cNvPr id="19" name="Text Box 18"/>
          <p:cNvSpPr txBox="1">
            <a:spLocks noChangeArrowheads="1"/>
          </p:cNvSpPr>
          <p:nvPr/>
        </p:nvSpPr>
        <p:spPr bwMode="auto">
          <a:xfrm>
            <a:off x="4147308" y="245034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目的端口</a:t>
            </a:r>
          </a:p>
        </p:txBody>
      </p:sp>
      <p:sp>
        <p:nvSpPr>
          <p:cNvPr id="20" name="Text Box 19"/>
          <p:cNvSpPr txBox="1">
            <a:spLocks noChangeArrowheads="1"/>
          </p:cNvSpPr>
          <p:nvPr/>
        </p:nvSpPr>
        <p:spPr bwMode="auto">
          <a:xfrm>
            <a:off x="5102834" y="244929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长  度</a:t>
            </a:r>
          </a:p>
        </p:txBody>
      </p:sp>
      <p:sp>
        <p:nvSpPr>
          <p:cNvPr id="21" name="Text Box 20"/>
          <p:cNvSpPr txBox="1">
            <a:spLocks noChangeArrowheads="1"/>
          </p:cNvSpPr>
          <p:nvPr/>
        </p:nvSpPr>
        <p:spPr bwMode="auto">
          <a:xfrm>
            <a:off x="5903729" y="2450345"/>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检验和</a:t>
            </a:r>
          </a:p>
        </p:txBody>
      </p:sp>
      <p:sp>
        <p:nvSpPr>
          <p:cNvPr id="22" name="Text Box 21"/>
          <p:cNvSpPr txBox="1">
            <a:spLocks noChangeArrowheads="1"/>
          </p:cNvSpPr>
          <p:nvPr/>
        </p:nvSpPr>
        <p:spPr bwMode="auto">
          <a:xfrm>
            <a:off x="5160505" y="3586179"/>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23" name="Text Box 22"/>
          <p:cNvSpPr txBox="1">
            <a:spLocks noChangeArrowheads="1"/>
          </p:cNvSpPr>
          <p:nvPr/>
        </p:nvSpPr>
        <p:spPr bwMode="auto">
          <a:xfrm>
            <a:off x="2982509" y="3577035"/>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779822"/>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779822"/>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866236" y="1805157"/>
            <a:ext cx="83548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UDP</a:t>
            </a:r>
            <a:r>
              <a:rPr kumimoji="1" lang="zh-CN" altLang="en-US" sz="1200" b="1" dirty="0">
                <a:latin typeface="微软雅黑" pitchFamily="34" charset="-122"/>
                <a:ea typeface="微软雅黑" pitchFamily="34" charset="-122"/>
              </a:rPr>
              <a:t>长度</a:t>
            </a:r>
          </a:p>
        </p:txBody>
      </p:sp>
      <p:sp>
        <p:nvSpPr>
          <p:cNvPr id="28" name="Text Box 27"/>
          <p:cNvSpPr txBox="1">
            <a:spLocks noChangeArrowheads="1"/>
          </p:cNvSpPr>
          <p:nvPr/>
        </p:nvSpPr>
        <p:spPr bwMode="auto">
          <a:xfrm>
            <a:off x="2229388" y="1805157"/>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05157"/>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05157"/>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0</a:t>
            </a:r>
          </a:p>
        </p:txBody>
      </p:sp>
      <p:sp>
        <p:nvSpPr>
          <p:cNvPr id="31" name="Text Box 30"/>
          <p:cNvSpPr txBox="1">
            <a:spLocks noChangeArrowheads="1"/>
          </p:cNvSpPr>
          <p:nvPr/>
        </p:nvSpPr>
        <p:spPr bwMode="auto">
          <a:xfrm>
            <a:off x="5488861" y="1805157"/>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17</a:t>
            </a:r>
          </a:p>
        </p:txBody>
      </p:sp>
      <p:sp>
        <p:nvSpPr>
          <p:cNvPr id="32" name="Line 31"/>
          <p:cNvSpPr>
            <a:spLocks noChangeShapeType="1"/>
          </p:cNvSpPr>
          <p:nvPr/>
        </p:nvSpPr>
        <p:spPr bwMode="auto">
          <a:xfrm>
            <a:off x="2867701" y="4011982"/>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Rectangle 32"/>
          <p:cNvSpPr>
            <a:spLocks noChangeArrowheads="1"/>
          </p:cNvSpPr>
          <p:nvPr/>
        </p:nvSpPr>
        <p:spPr bwMode="auto">
          <a:xfrm>
            <a:off x="4717397" y="3910250"/>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880264"/>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35" name="Text Box 34"/>
          <p:cNvSpPr txBox="1">
            <a:spLocks noChangeArrowheads="1"/>
          </p:cNvSpPr>
          <p:nvPr/>
        </p:nvSpPr>
        <p:spPr bwMode="auto">
          <a:xfrm>
            <a:off x="1480429" y="1563643"/>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54896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02832"/>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12</a:t>
            </a:r>
          </a:p>
        </p:txBody>
      </p:sp>
      <p:sp>
        <p:nvSpPr>
          <p:cNvPr id="42" name="Text Box 41"/>
          <p:cNvSpPr txBox="1">
            <a:spLocks noChangeArrowheads="1"/>
          </p:cNvSpPr>
          <p:nvPr/>
        </p:nvSpPr>
        <p:spPr bwMode="auto">
          <a:xfrm>
            <a:off x="3584629"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2</a:t>
            </a:r>
          </a:p>
        </p:txBody>
      </p:sp>
      <p:sp>
        <p:nvSpPr>
          <p:cNvPr id="43" name="Text Box 42"/>
          <p:cNvSpPr txBox="1">
            <a:spLocks noChangeArrowheads="1"/>
          </p:cNvSpPr>
          <p:nvPr/>
        </p:nvSpPr>
        <p:spPr bwMode="auto">
          <a:xfrm>
            <a:off x="446175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2</a:t>
            </a:r>
          </a:p>
        </p:txBody>
      </p:sp>
      <p:sp>
        <p:nvSpPr>
          <p:cNvPr id="44" name="Text Box 43"/>
          <p:cNvSpPr txBox="1">
            <a:spLocks noChangeArrowheads="1"/>
          </p:cNvSpPr>
          <p:nvPr/>
        </p:nvSpPr>
        <p:spPr bwMode="auto">
          <a:xfrm>
            <a:off x="5227541"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2</a:t>
            </a:r>
          </a:p>
        </p:txBody>
      </p:sp>
      <p:sp>
        <p:nvSpPr>
          <p:cNvPr id="45" name="Text Box 44"/>
          <p:cNvSpPr txBox="1">
            <a:spLocks noChangeArrowheads="1"/>
          </p:cNvSpPr>
          <p:nvPr/>
        </p:nvSpPr>
        <p:spPr bwMode="auto">
          <a:xfrm>
            <a:off x="6098988" y="2205980"/>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2</a:t>
            </a:r>
          </a:p>
        </p:txBody>
      </p:sp>
      <p:sp>
        <p:nvSpPr>
          <p:cNvPr id="46" name="Text Box 45"/>
          <p:cNvSpPr txBox="1">
            <a:spLocks noChangeArrowheads="1"/>
          </p:cNvSpPr>
          <p:nvPr/>
        </p:nvSpPr>
        <p:spPr bwMode="auto">
          <a:xfrm>
            <a:off x="1957142" y="2202832"/>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831083" y="385596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48" name="Rectangle 48"/>
          <p:cNvSpPr>
            <a:spLocks noChangeArrowheads="1"/>
          </p:cNvSpPr>
          <p:nvPr/>
        </p:nvSpPr>
        <p:spPr bwMode="auto">
          <a:xfrm>
            <a:off x="4443579" y="2985736"/>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9" name="Text Box 49"/>
          <p:cNvSpPr txBox="1">
            <a:spLocks noChangeArrowheads="1"/>
          </p:cNvSpPr>
          <p:nvPr/>
        </p:nvSpPr>
        <p:spPr bwMode="auto">
          <a:xfrm>
            <a:off x="5557032" y="3014054"/>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50" name="Text Box 50"/>
          <p:cNvSpPr txBox="1">
            <a:spLocks noChangeArrowheads="1"/>
          </p:cNvSpPr>
          <p:nvPr/>
        </p:nvSpPr>
        <p:spPr bwMode="auto">
          <a:xfrm>
            <a:off x="3770962" y="299576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51" name="Text Box 52"/>
          <p:cNvSpPr txBox="1">
            <a:spLocks noChangeArrowheads="1"/>
          </p:cNvSpPr>
          <p:nvPr/>
        </p:nvSpPr>
        <p:spPr bwMode="auto">
          <a:xfrm>
            <a:off x="2312929" y="2985737"/>
            <a:ext cx="134363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UDP </a:t>
            </a:r>
            <a:r>
              <a:rPr kumimoji="1" lang="zh-CN" altLang="en-US" sz="1200" b="1" dirty="0">
                <a:solidFill>
                  <a:srgbClr val="0033CC"/>
                </a:solidFill>
                <a:latin typeface="微软雅黑" pitchFamily="34" charset="-122"/>
                <a:ea typeface="微软雅黑" pitchFamily="34" charset="-122"/>
              </a:rPr>
              <a:t>用户数据报</a:t>
            </a:r>
          </a:p>
        </p:txBody>
      </p:sp>
      <p:sp>
        <p:nvSpPr>
          <p:cNvPr id="52" name="Rectangle 4"/>
          <p:cNvSpPr>
            <a:spLocks noChangeArrowheads="1"/>
          </p:cNvSpPr>
          <p:nvPr/>
        </p:nvSpPr>
        <p:spPr bwMode="auto">
          <a:xfrm>
            <a:off x="3673978" y="3294983"/>
            <a:ext cx="3907750" cy="261617"/>
          </a:xfrm>
          <a:prstGeom prst="rect">
            <a:avLst/>
          </a:prstGeom>
          <a:gradFill flip="none" rotWithShape="1">
            <a:gsLst>
              <a:gs pos="0">
                <a:srgbClr val="00B0F0"/>
              </a:gs>
              <a:gs pos="100000">
                <a:srgbClr val="99FFCC"/>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53" name="Rectangle 59"/>
          <p:cNvSpPr>
            <a:spLocks noChangeArrowheads="1"/>
          </p:cNvSpPr>
          <p:nvPr/>
        </p:nvSpPr>
        <p:spPr bwMode="auto">
          <a:xfrm>
            <a:off x="3317169" y="2443968"/>
            <a:ext cx="3318773"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57" name="内容占位符 56">
            <a:extLst>
              <a:ext uri="{FF2B5EF4-FFF2-40B4-BE49-F238E27FC236}">
                <a16:creationId xmlns:a16="http://schemas.microsoft.com/office/drawing/2014/main" id="{9921D565-C717-AB63-3D91-6B27F6193ABD}"/>
              </a:ext>
            </a:extLst>
          </p:cNvPr>
          <p:cNvSpPr>
            <a:spLocks noGrp="1"/>
          </p:cNvSpPr>
          <p:nvPr>
            <p:ph sz="quarter" idx="11"/>
          </p:nvPr>
        </p:nvSpPr>
        <p:spPr>
          <a:xfrm>
            <a:off x="486000" y="482554"/>
            <a:ext cx="8172000" cy="4120946"/>
          </a:xfrm>
        </p:spPr>
        <p:txBody>
          <a:bodyPr/>
          <a:lstStyle/>
          <a:p>
            <a:r>
              <a:rPr lang="zh-CN" altLang="en-US" dirty="0"/>
              <a:t>用户数据报 </a:t>
            </a:r>
            <a:r>
              <a:rPr lang="en-US" altLang="zh-CN" dirty="0"/>
              <a:t>UDP </a:t>
            </a:r>
            <a:r>
              <a:rPr lang="zh-CN" altLang="en-US" dirty="0"/>
              <a:t>有两个字段：数据字段和首部字段。首部字段有 </a:t>
            </a:r>
            <a:r>
              <a:rPr lang="en-US" altLang="zh-CN" dirty="0"/>
              <a:t>8 </a:t>
            </a:r>
            <a:r>
              <a:rPr lang="zh-CN" altLang="en-US" dirty="0"/>
              <a:t>个字节，由 </a:t>
            </a:r>
            <a:r>
              <a:rPr lang="en-US" altLang="zh-CN" dirty="0"/>
              <a:t>4 </a:t>
            </a:r>
            <a:r>
              <a:rPr lang="zh-CN" altLang="en-US" dirty="0"/>
              <a:t>个字段组成，每个字段都是 </a:t>
            </a:r>
            <a:r>
              <a:rPr lang="en-US" altLang="zh-CN" dirty="0"/>
              <a:t>2 </a:t>
            </a:r>
            <a:r>
              <a:rPr lang="zh-CN" altLang="en-US" dirty="0"/>
              <a:t>个字节。 </a:t>
            </a:r>
          </a:p>
          <a:p>
            <a:endParaRPr lang="zh-CN" altLang="en-US" dirty="0"/>
          </a:p>
        </p:txBody>
      </p:sp>
      <p:sp>
        <p:nvSpPr>
          <p:cNvPr id="59" name="标题 58">
            <a:extLst>
              <a:ext uri="{FF2B5EF4-FFF2-40B4-BE49-F238E27FC236}">
                <a16:creationId xmlns:a16="http://schemas.microsoft.com/office/drawing/2014/main" id="{CDFE2198-5379-D30F-5A9D-AE090ABFA0BA}"/>
              </a:ext>
            </a:extLst>
          </p:cNvPr>
          <p:cNvSpPr>
            <a:spLocks noGrp="1"/>
          </p:cNvSpPr>
          <p:nvPr>
            <p:ph type="title"/>
          </p:nvPr>
        </p:nvSpPr>
        <p:spPr>
          <a:xfrm>
            <a:off x="2808000" y="144000"/>
            <a:ext cx="3528000" cy="338554"/>
          </a:xfrm>
        </p:spPr>
        <p:txBody>
          <a:bodyPr/>
          <a:lstStyle/>
          <a:p>
            <a:r>
              <a:rPr lang="en-US" altLang="zh-CN" dirty="0"/>
              <a:t>5.2.2  UDP </a:t>
            </a:r>
            <a:r>
              <a:rPr lang="zh-CN" altLang="en-US" dirty="0"/>
              <a:t>的首部格式</a:t>
            </a:r>
          </a:p>
        </p:txBody>
      </p:sp>
    </p:spTree>
    <p:extLst>
      <p:ext uri="{BB962C8B-B14F-4D97-AF65-F5344CB8AC3E}">
        <p14:creationId xmlns:p14="http://schemas.microsoft.com/office/powerpoint/2010/main" val="14931287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afterEffect">
                                  <p:stCondLst>
                                    <p:cond delay="0"/>
                                  </p:stCondLst>
                                  <p:childTnLst>
                                    <p:anim calcmode="discrete" valueType="str">
                                      <p:cBhvr>
                                        <p:cTn id="6" dur="1000" fill="hold"/>
                                        <p:tgtEl>
                                          <p:spTgt spid="50"/>
                                        </p:tgtEl>
                                        <p:attrNameLst>
                                          <p:attrName>style.visibility</p:attrName>
                                        </p:attrNameLst>
                                      </p:cBhvr>
                                      <p:tavLst>
                                        <p:tav tm="0">
                                          <p:val>
                                            <p:strVal val="hidden"/>
                                          </p:val>
                                        </p:tav>
                                        <p:tav tm="50000">
                                          <p:val>
                                            <p:strVal val="visible"/>
                                          </p:val>
                                        </p:tav>
                                      </p:tavLst>
                                    </p:anim>
                                  </p:childTnLst>
                                </p:cTn>
                              </p:par>
                            </p:childTnLst>
                          </p:cTn>
                        </p:par>
                        <p:par>
                          <p:cTn id="7" fill="hold">
                            <p:stCondLst>
                              <p:cond delay="4000"/>
                            </p:stCondLst>
                            <p:childTnLst>
                              <p:par>
                                <p:cTn id="8" presetID="35" presetClass="emph" presetSubtype="0" repeatCount="4000" fill="hold" grpId="0" nodeType="afterEffect">
                                  <p:stCondLst>
                                    <p:cond delay="250"/>
                                  </p:stCondLst>
                                  <p:childTnLst>
                                    <p:anim calcmode="discrete" valueType="str">
                                      <p:cBhvr>
                                        <p:cTn id="9"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3"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Box 155"/>
          <p:cNvSpPr txBox="1">
            <a:spLocks noChangeArrowheads="1"/>
          </p:cNvSpPr>
          <p:nvPr/>
        </p:nvSpPr>
        <p:spPr bwMode="auto">
          <a:xfrm>
            <a:off x="1223160" y="3143356"/>
            <a:ext cx="6884520" cy="1631216"/>
          </a:xfrm>
          <a:prstGeom prst="rect">
            <a:avLst/>
          </a:prstGeom>
          <a:noFill/>
          <a:ln w="9525">
            <a:noFill/>
            <a:miter lim="800000"/>
            <a:headEnd/>
            <a:tailEnd/>
          </a:ln>
          <a:effectLst/>
        </p:spPr>
        <p:txBody>
          <a:bodyPr wrap="square">
            <a:spAutoFit/>
          </a:bodyPr>
          <a:lstStyle/>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根据首部中的目的端口号，把报文通过相应的端口上交给应用进程。</a:t>
            </a:r>
            <a:endParaRPr lang="en-US" altLang="zh-CN" b="1" dirty="0">
              <a:latin typeface="微软雅黑" pitchFamily="34" charset="-122"/>
              <a:ea typeface="微软雅黑" pitchFamily="34" charset="-122"/>
            </a:endParaRPr>
          </a:p>
          <a:p>
            <a:pPr marL="263525" indent="-263525">
              <a:lnSpc>
                <a:spcPts val="2400"/>
              </a:lnSpc>
              <a:buFont typeface="Wingdings" panose="05000000000000000000" pitchFamily="2" charset="2"/>
              <a:buChar char="l"/>
            </a:pPr>
            <a:r>
              <a:rPr lang="zh-CN" altLang="en-US" b="1" dirty="0">
                <a:latin typeface="微软雅黑" pitchFamily="34" charset="-122"/>
                <a:ea typeface="微软雅黑" pitchFamily="34" charset="-122"/>
              </a:rPr>
              <a:t>如果接收方 </a:t>
            </a:r>
            <a:r>
              <a:rPr lang="en-US" altLang="zh-CN" b="1" dirty="0">
                <a:latin typeface="微软雅黑" pitchFamily="34" charset="-122"/>
                <a:ea typeface="微软雅黑" pitchFamily="34" charset="-122"/>
              </a:rPr>
              <a:t>UDP </a:t>
            </a:r>
            <a:r>
              <a:rPr lang="zh-CN" altLang="en-US" b="1" dirty="0">
                <a:latin typeface="微软雅黑" pitchFamily="34" charset="-122"/>
                <a:ea typeface="微软雅黑" pitchFamily="34" charset="-122"/>
              </a:rPr>
              <a:t>发现收到的报文中的目的端口号不正确（即不存在对应于该端口号的应用进程），就丢弃该报文，并由 </a:t>
            </a:r>
            <a:r>
              <a:rPr lang="en-US" altLang="zh-CN" b="1" dirty="0">
                <a:latin typeface="微软雅黑" pitchFamily="34" charset="-122"/>
                <a:ea typeface="微软雅黑" pitchFamily="34" charset="-122"/>
              </a:rPr>
              <a:t>ICMP </a:t>
            </a:r>
            <a:r>
              <a:rPr lang="zh-CN" altLang="en-US" b="1" dirty="0">
                <a:latin typeface="微软雅黑" pitchFamily="34" charset="-122"/>
                <a:ea typeface="微软雅黑" pitchFamily="34" charset="-122"/>
              </a:rPr>
              <a:t>发送“端口不可达”差错报文给发送方。</a:t>
            </a:r>
          </a:p>
        </p:txBody>
      </p:sp>
      <p:grpSp>
        <p:nvGrpSpPr>
          <p:cNvPr id="8" name="Group 14"/>
          <p:cNvGrpSpPr>
            <a:grpSpLocks/>
          </p:cNvGrpSpPr>
          <p:nvPr/>
        </p:nvGrpSpPr>
        <p:grpSpPr bwMode="auto">
          <a:xfrm>
            <a:off x="2296774" y="1210432"/>
            <a:ext cx="4586655" cy="1776608"/>
            <a:chOff x="1655" y="663"/>
            <a:chExt cx="1951" cy="1316"/>
          </a:xfrm>
        </p:grpSpPr>
        <p:sp>
          <p:nvSpPr>
            <p:cNvPr id="9" name="Rectangle 4"/>
            <p:cNvSpPr>
              <a:spLocks noChangeArrowheads="1"/>
            </p:cNvSpPr>
            <p:nvPr/>
          </p:nvSpPr>
          <p:spPr bwMode="auto">
            <a:xfrm>
              <a:off x="2290" y="1752"/>
              <a:ext cx="681" cy="227"/>
            </a:xfrm>
            <a:prstGeom prst="rect">
              <a:avLst/>
            </a:prstGeom>
            <a:solidFill>
              <a:srgbClr val="0000FF"/>
            </a:solidFill>
            <a:ln w="9525">
              <a:solidFill>
                <a:schemeClr val="tx1"/>
              </a:solidFill>
              <a:miter lim="800000"/>
              <a:headEnd/>
              <a:tailEnd/>
            </a:ln>
            <a:effectLst/>
          </p:spPr>
          <p:txBody>
            <a:bodyPr wrap="none" anchor="ctr"/>
            <a:lstStyle/>
            <a:p>
              <a:pPr algn="ctr"/>
              <a:r>
                <a:rPr lang="en-US" altLang="zh-CN" sz="1600" b="1" dirty="0">
                  <a:solidFill>
                    <a:schemeClr val="bg1"/>
                  </a:solidFill>
                  <a:latin typeface="微软雅黑" pitchFamily="34" charset="-122"/>
                  <a:ea typeface="微软雅黑" pitchFamily="34" charset="-122"/>
                </a:rPr>
                <a:t>IP </a:t>
              </a:r>
              <a:r>
                <a:rPr lang="zh-CN" altLang="en-US" sz="1600" b="1" dirty="0">
                  <a:solidFill>
                    <a:schemeClr val="bg1"/>
                  </a:solidFill>
                  <a:latin typeface="微软雅黑" pitchFamily="34" charset="-122"/>
                  <a:ea typeface="微软雅黑" pitchFamily="34" charset="-122"/>
                </a:rPr>
                <a:t>层</a:t>
              </a:r>
            </a:p>
          </p:txBody>
        </p:sp>
        <p:sp>
          <p:nvSpPr>
            <p:cNvPr id="10" name="Text Box 5"/>
            <p:cNvSpPr txBox="1">
              <a:spLocks noChangeArrowheads="1"/>
            </p:cNvSpPr>
            <p:nvPr/>
          </p:nvSpPr>
          <p:spPr bwMode="auto">
            <a:xfrm>
              <a:off x="1958" y="1482"/>
              <a:ext cx="647" cy="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报文到达</a:t>
              </a:r>
            </a:p>
          </p:txBody>
        </p:sp>
        <p:sp>
          <p:nvSpPr>
            <p:cNvPr id="11" name="Rectangle 6"/>
            <p:cNvSpPr>
              <a:spLocks noChangeArrowheads="1"/>
            </p:cNvSpPr>
            <p:nvPr/>
          </p:nvSpPr>
          <p:spPr bwMode="auto">
            <a:xfrm>
              <a:off x="2381" y="663"/>
              <a:ext cx="499" cy="227"/>
            </a:xfrm>
            <a:prstGeom prst="rect">
              <a:avLst/>
            </a:prstGeom>
            <a:solidFill>
              <a:srgbClr val="FF99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dirty="0">
                  <a:latin typeface="微软雅黑" pitchFamily="34" charset="-122"/>
                  <a:ea typeface="微软雅黑" pitchFamily="34" charset="-122"/>
                </a:rPr>
                <a:t>2</a:t>
              </a:r>
            </a:p>
          </p:txBody>
        </p:sp>
        <p:sp>
          <p:nvSpPr>
            <p:cNvPr id="12" name="Line 7"/>
            <p:cNvSpPr>
              <a:spLocks noChangeShapeType="1"/>
            </p:cNvSpPr>
            <p:nvPr/>
          </p:nvSpPr>
          <p:spPr bwMode="auto">
            <a:xfrm flipV="1">
              <a:off x="2630" y="1434"/>
              <a:ext cx="0" cy="31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3" name="Line 8"/>
            <p:cNvSpPr>
              <a:spLocks noChangeShapeType="1"/>
            </p:cNvSpPr>
            <p:nvPr/>
          </p:nvSpPr>
          <p:spPr bwMode="auto">
            <a:xfrm flipV="1">
              <a:off x="2630" y="890"/>
              <a:ext cx="0"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4" name="Line 9"/>
            <p:cNvSpPr>
              <a:spLocks noChangeShapeType="1"/>
            </p:cNvSpPr>
            <p:nvPr/>
          </p:nvSpPr>
          <p:spPr bwMode="auto">
            <a:xfrm flipV="1">
              <a:off x="2766"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5" name="Line 10"/>
            <p:cNvSpPr>
              <a:spLocks noChangeShapeType="1"/>
            </p:cNvSpPr>
            <p:nvPr/>
          </p:nvSpPr>
          <p:spPr bwMode="auto">
            <a:xfrm flipH="1" flipV="1">
              <a:off x="2018" y="890"/>
              <a:ext cx="477" cy="31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16" name="Rectangle 11"/>
            <p:cNvSpPr>
              <a:spLocks noChangeArrowheads="1"/>
            </p:cNvSpPr>
            <p:nvPr/>
          </p:nvSpPr>
          <p:spPr bwMode="auto">
            <a:xfrm>
              <a:off x="3107" y="663"/>
              <a:ext cx="499" cy="227"/>
            </a:xfrm>
            <a:prstGeom prst="rect">
              <a:avLst/>
            </a:prstGeom>
            <a:solidFill>
              <a:srgbClr val="99FFCC"/>
            </a:solidFill>
            <a:ln w="9525">
              <a:solidFill>
                <a:schemeClr val="tx1"/>
              </a:solidFill>
              <a:miter lim="800000"/>
              <a:headEnd/>
              <a:tailEnd/>
            </a:ln>
            <a:effectLst/>
          </p:spPr>
          <p:txBody>
            <a:bodyPr wrap="none" anchor="ctr"/>
            <a:lstStyle/>
            <a:p>
              <a:pPr algn="ctr"/>
              <a:r>
                <a:rPr lang="zh-CN" altLang="en-US" sz="1600" b="1" dirty="0">
                  <a:latin typeface="微软雅黑" pitchFamily="34" charset="-122"/>
                  <a:ea typeface="微软雅黑" pitchFamily="34" charset="-122"/>
                </a:rPr>
                <a:t>端口 </a:t>
              </a:r>
              <a:r>
                <a:rPr lang="en-US" altLang="zh-CN" sz="1600" b="1" dirty="0">
                  <a:latin typeface="微软雅黑" pitchFamily="34" charset="-122"/>
                  <a:ea typeface="微软雅黑" pitchFamily="34" charset="-122"/>
                </a:rPr>
                <a:t>3</a:t>
              </a:r>
            </a:p>
          </p:txBody>
        </p:sp>
        <p:sp>
          <p:nvSpPr>
            <p:cNvPr id="17" name="Rectangle 12"/>
            <p:cNvSpPr>
              <a:spLocks noChangeArrowheads="1"/>
            </p:cNvSpPr>
            <p:nvPr/>
          </p:nvSpPr>
          <p:spPr bwMode="auto">
            <a:xfrm>
              <a:off x="1655" y="663"/>
              <a:ext cx="499" cy="227"/>
            </a:xfrm>
            <a:prstGeom prst="rect">
              <a:avLst/>
            </a:prstGeom>
            <a:solidFill>
              <a:srgbClr val="00FFFF"/>
            </a:solidFill>
            <a:ln w="9525">
              <a:solidFill>
                <a:schemeClr val="tx1"/>
              </a:solidFill>
              <a:miter lim="800000"/>
              <a:headEnd/>
              <a:tailEnd/>
            </a:ln>
            <a:effectLst/>
          </p:spPr>
          <p:txBody>
            <a:bodyPr wrap="none" anchor="ctr"/>
            <a:lstStyle/>
            <a:p>
              <a:pPr algn="ctr"/>
              <a:r>
                <a:rPr lang="zh-CN" altLang="en-US" sz="1600" b="1">
                  <a:latin typeface="微软雅黑" pitchFamily="34" charset="-122"/>
                  <a:ea typeface="微软雅黑" pitchFamily="34" charset="-122"/>
                </a:rPr>
                <a:t>端口 </a:t>
              </a:r>
              <a:r>
                <a:rPr lang="en-US" altLang="zh-CN" sz="1600" b="1" dirty="0">
                  <a:latin typeface="微软雅黑" pitchFamily="34" charset="-122"/>
                  <a:ea typeface="微软雅黑" pitchFamily="34" charset="-122"/>
                </a:rPr>
                <a:t>1</a:t>
              </a:r>
            </a:p>
          </p:txBody>
        </p:sp>
        <p:sp>
          <p:nvSpPr>
            <p:cNvPr id="18" name="Rectangle 13"/>
            <p:cNvSpPr>
              <a:spLocks noChangeArrowheads="1"/>
            </p:cNvSpPr>
            <p:nvPr/>
          </p:nvSpPr>
          <p:spPr bwMode="auto">
            <a:xfrm>
              <a:off x="2290" y="1207"/>
              <a:ext cx="681" cy="227"/>
            </a:xfrm>
            <a:prstGeom prst="rect">
              <a:avLst/>
            </a:prstGeom>
            <a:solidFill>
              <a:srgbClr val="FFFF00"/>
            </a:solidFill>
            <a:ln w="9525">
              <a:solidFill>
                <a:schemeClr val="tx1"/>
              </a:solidFill>
              <a:miter lim="800000"/>
              <a:headEnd/>
              <a:tailEnd/>
            </a:ln>
            <a:effectLst/>
          </p:spPr>
          <p:txBody>
            <a:bodyPr wrap="none" anchor="ctr"/>
            <a:lstStyle/>
            <a:p>
              <a:pPr algn="ctr"/>
              <a:r>
                <a:rPr lang="en-US" altLang="zh-CN" sz="1600" b="1" dirty="0">
                  <a:latin typeface="微软雅黑" pitchFamily="34" charset="-122"/>
                  <a:ea typeface="微软雅黑" pitchFamily="34" charset="-122"/>
                </a:rPr>
                <a:t>UDP </a:t>
              </a:r>
              <a:r>
                <a:rPr lang="zh-CN" altLang="en-US" sz="1600" b="1" dirty="0">
                  <a:latin typeface="微软雅黑" pitchFamily="34" charset="-122"/>
                  <a:ea typeface="微软雅黑" pitchFamily="34" charset="-122"/>
                </a:rPr>
                <a:t>分用</a:t>
              </a:r>
            </a:p>
          </p:txBody>
        </p:sp>
      </p:grpSp>
      <p:sp>
        <p:nvSpPr>
          <p:cNvPr id="6" name="标题 5">
            <a:extLst>
              <a:ext uri="{FF2B5EF4-FFF2-40B4-BE49-F238E27FC236}">
                <a16:creationId xmlns:a16="http://schemas.microsoft.com/office/drawing/2014/main" id="{E9438141-0406-0B55-D9F3-0B8104E3B98D}"/>
              </a:ext>
            </a:extLst>
          </p:cNvPr>
          <p:cNvSpPr>
            <a:spLocks noGrp="1"/>
          </p:cNvSpPr>
          <p:nvPr>
            <p:ph type="title"/>
          </p:nvPr>
        </p:nvSpPr>
        <p:spPr>
          <a:xfrm>
            <a:off x="2808000" y="144000"/>
            <a:ext cx="3528000" cy="338554"/>
          </a:xfrm>
        </p:spPr>
        <p:txBody>
          <a:bodyPr/>
          <a:lstStyle/>
          <a:p>
            <a:r>
              <a:rPr lang="en-US" altLang="zh-CN" dirty="0"/>
              <a:t>UDP </a:t>
            </a:r>
            <a:r>
              <a:rPr lang="zh-CN" altLang="en-US" dirty="0"/>
              <a:t>基于端口的分用</a:t>
            </a:r>
          </a:p>
        </p:txBody>
      </p:sp>
    </p:spTree>
    <p:extLst>
      <p:ext uri="{BB962C8B-B14F-4D97-AF65-F5344CB8AC3E}">
        <p14:creationId xmlns:p14="http://schemas.microsoft.com/office/powerpoint/2010/main" val="382553782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55"/>
          <p:cNvSpPr txBox="1">
            <a:spLocks noChangeArrowheads="1"/>
          </p:cNvSpPr>
          <p:nvPr/>
        </p:nvSpPr>
        <p:spPr bwMode="auto">
          <a:xfrm>
            <a:off x="1288036" y="724875"/>
            <a:ext cx="6593695" cy="701731"/>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dirty="0">
                <a:solidFill>
                  <a:schemeClr val="bg1"/>
                </a:solidFill>
                <a:latin typeface="微软雅黑" pitchFamily="34" charset="-122"/>
                <a:ea typeface="微软雅黑" pitchFamily="34" charset="-122"/>
              </a:rPr>
              <a:t>在计算检验和时，临时把 </a:t>
            </a:r>
            <a:r>
              <a:rPr lang="en-US" altLang="zh-CN" dirty="0">
                <a:solidFill>
                  <a:schemeClr val="bg1"/>
                </a:solidFill>
                <a:latin typeface="微软雅黑" pitchFamily="34" charset="-122"/>
                <a:ea typeface="微软雅黑" pitchFamily="34" charset="-122"/>
              </a:rPr>
              <a:t>12 </a:t>
            </a:r>
            <a:r>
              <a:rPr lang="zh-CN" altLang="en-US" dirty="0">
                <a:solidFill>
                  <a:schemeClr val="bg1"/>
                </a:solidFill>
                <a:latin typeface="微软雅黑" pitchFamily="34" charset="-122"/>
                <a:ea typeface="微软雅黑" pitchFamily="34" charset="-122"/>
              </a:rPr>
              <a:t>字节的“</a:t>
            </a:r>
            <a:r>
              <a:rPr lang="zh-CN" altLang="en-US" dirty="0">
                <a:solidFill>
                  <a:srgbClr val="FFFF00"/>
                </a:solidFill>
                <a:latin typeface="微软雅黑" pitchFamily="34" charset="-122"/>
                <a:ea typeface="微软雅黑" pitchFamily="34" charset="-122"/>
              </a:rPr>
              <a:t>伪首部</a:t>
            </a:r>
            <a:r>
              <a:rPr lang="zh-CN" altLang="en-US" dirty="0">
                <a:solidFill>
                  <a:schemeClr val="bg1"/>
                </a:solidFill>
                <a:latin typeface="微软雅黑" pitchFamily="34" charset="-122"/>
                <a:ea typeface="微软雅黑" pitchFamily="34" charset="-122"/>
              </a:rPr>
              <a:t>”和 </a:t>
            </a:r>
            <a:r>
              <a:rPr lang="en-US" altLang="zh-CN" dirty="0">
                <a:solidFill>
                  <a:schemeClr val="bg1"/>
                </a:solidFill>
                <a:latin typeface="微软雅黑" pitchFamily="34" charset="-122"/>
                <a:ea typeface="微软雅黑" pitchFamily="34" charset="-122"/>
              </a:rPr>
              <a:t>UDP </a:t>
            </a:r>
            <a:r>
              <a:rPr lang="zh-CN" altLang="en-US" dirty="0">
                <a:solidFill>
                  <a:schemeClr val="bg1"/>
                </a:solidFill>
                <a:latin typeface="微软雅黑" pitchFamily="34" charset="-122"/>
                <a:ea typeface="微软雅黑" pitchFamily="34" charset="-122"/>
              </a:rPr>
              <a:t>用户数据报连接在一起。伪首部仅仅是为了计算检验和。</a:t>
            </a:r>
          </a:p>
        </p:txBody>
      </p:sp>
      <p:sp>
        <p:nvSpPr>
          <p:cNvPr id="4" name="Rectangle 2"/>
          <p:cNvSpPr>
            <a:spLocks noChangeArrowheads="1"/>
          </p:cNvSpPr>
          <p:nvPr/>
        </p:nvSpPr>
        <p:spPr bwMode="auto">
          <a:xfrm>
            <a:off x="2898378" y="3516173"/>
            <a:ext cx="772600" cy="302048"/>
          </a:xfrm>
          <a:prstGeom prst="rect">
            <a:avLst/>
          </a:prstGeom>
          <a:solidFill>
            <a:srgbClr val="FAC090"/>
          </a:solid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5" name="Freeform 3"/>
          <p:cNvSpPr>
            <a:spLocks/>
          </p:cNvSpPr>
          <p:nvPr/>
        </p:nvSpPr>
        <p:spPr bwMode="auto">
          <a:xfrm>
            <a:off x="3314219" y="270078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chemeClr val="bg1">
                  <a:lumMod val="75000"/>
                </a:schemeClr>
              </a:gs>
              <a:gs pos="100000">
                <a:schemeClr val="bg1"/>
              </a:gs>
            </a:gsLst>
            <a:lin ang="5400000" scaled="1"/>
          </a:gradFill>
          <a:ln>
            <a:noFill/>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8" name="Freeform 7"/>
          <p:cNvSpPr>
            <a:spLocks/>
          </p:cNvSpPr>
          <p:nvPr/>
        </p:nvSpPr>
        <p:spPr bwMode="auto">
          <a:xfrm>
            <a:off x="1912176" y="202816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chemeClr val="bg1">
                  <a:lumMod val="75000"/>
                </a:schemeClr>
              </a:gs>
              <a:gs pos="100000">
                <a:schemeClr val="bg1"/>
              </a:gs>
            </a:gsLst>
            <a:lin ang="5400000" scaled="1"/>
          </a:gradFill>
          <a:ln>
            <a:noFill/>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9" name="Rectangle 8"/>
          <p:cNvSpPr>
            <a:spLocks noChangeArrowheads="1"/>
          </p:cNvSpPr>
          <p:nvPr/>
        </p:nvSpPr>
        <p:spPr bwMode="auto">
          <a:xfrm>
            <a:off x="3314219" y="2398740"/>
            <a:ext cx="3316500" cy="302048"/>
          </a:xfrm>
          <a:prstGeom prst="rect">
            <a:avLst/>
          </a:prstGeom>
          <a:no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1" name="Line 10"/>
          <p:cNvSpPr>
            <a:spLocks noChangeShapeType="1"/>
          </p:cNvSpPr>
          <p:nvPr/>
        </p:nvSpPr>
        <p:spPr bwMode="auto">
          <a:xfrm>
            <a:off x="4143628"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2" name="Rectangle 11"/>
          <p:cNvSpPr>
            <a:spLocks noChangeArrowheads="1"/>
          </p:cNvSpPr>
          <p:nvPr/>
        </p:nvSpPr>
        <p:spPr bwMode="auto">
          <a:xfrm>
            <a:off x="1915585" y="1726120"/>
            <a:ext cx="4784441" cy="302048"/>
          </a:xfrm>
          <a:prstGeom prst="rect">
            <a:avLst/>
          </a:prstGeom>
          <a:no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3" name="Line 12"/>
          <p:cNvSpPr>
            <a:spLocks noChangeShapeType="1"/>
          </p:cNvSpPr>
          <p:nvPr/>
        </p:nvSpPr>
        <p:spPr bwMode="auto">
          <a:xfrm>
            <a:off x="3508505" y="172612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4" name="Line 13"/>
          <p:cNvSpPr>
            <a:spLocks noChangeShapeType="1"/>
          </p:cNvSpPr>
          <p:nvPr/>
        </p:nvSpPr>
        <p:spPr bwMode="auto">
          <a:xfrm>
            <a:off x="4971900" y="239874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5" name="Line 14"/>
          <p:cNvSpPr>
            <a:spLocks noChangeShapeType="1"/>
          </p:cNvSpPr>
          <p:nvPr/>
        </p:nvSpPr>
        <p:spPr bwMode="auto">
          <a:xfrm>
            <a:off x="5801309" y="239874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6" name="Freeform 15"/>
          <p:cNvSpPr>
            <a:spLocks/>
          </p:cNvSpPr>
          <p:nvPr/>
        </p:nvSpPr>
        <p:spPr bwMode="auto">
          <a:xfrm>
            <a:off x="2420047" y="239874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FAC090"/>
          </a:solid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7" name="Text Box 16"/>
          <p:cNvSpPr txBox="1">
            <a:spLocks noChangeArrowheads="1"/>
          </p:cNvSpPr>
          <p:nvPr/>
        </p:nvSpPr>
        <p:spPr bwMode="auto">
          <a:xfrm>
            <a:off x="2522412" y="240578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伪首部</a:t>
            </a:r>
          </a:p>
        </p:txBody>
      </p:sp>
      <p:sp>
        <p:nvSpPr>
          <p:cNvPr id="18" name="Text Box 17"/>
          <p:cNvSpPr txBox="1">
            <a:spLocks noChangeArrowheads="1"/>
          </p:cNvSpPr>
          <p:nvPr/>
        </p:nvSpPr>
        <p:spPr bwMode="auto">
          <a:xfrm>
            <a:off x="3395324"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dirty="0">
                <a:latin typeface="Montserrat" panose="00000500000000000000" pitchFamily="2" charset="0"/>
                <a:ea typeface="微软雅黑 Light" panose="020B0502040204020203" pitchFamily="34" charset="-122"/>
              </a:rPr>
              <a:t>源端口</a:t>
            </a:r>
          </a:p>
        </p:txBody>
      </p:sp>
      <p:sp>
        <p:nvSpPr>
          <p:cNvPr id="19" name="Text Box 18"/>
          <p:cNvSpPr txBox="1">
            <a:spLocks noChangeArrowheads="1"/>
          </p:cNvSpPr>
          <p:nvPr/>
        </p:nvSpPr>
        <p:spPr bwMode="auto">
          <a:xfrm>
            <a:off x="4147308" y="239664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目的端口</a:t>
            </a:r>
          </a:p>
        </p:txBody>
      </p:sp>
      <p:sp>
        <p:nvSpPr>
          <p:cNvPr id="20" name="Text Box 19"/>
          <p:cNvSpPr txBox="1">
            <a:spLocks noChangeArrowheads="1"/>
          </p:cNvSpPr>
          <p:nvPr/>
        </p:nvSpPr>
        <p:spPr bwMode="auto">
          <a:xfrm>
            <a:off x="5102834" y="239559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a:latin typeface="Montserrat" panose="00000500000000000000" pitchFamily="2" charset="0"/>
                <a:ea typeface="微软雅黑 Light" panose="020B0502040204020203" pitchFamily="34" charset="-122"/>
              </a:rPr>
              <a:t>长  度</a:t>
            </a:r>
          </a:p>
        </p:txBody>
      </p:sp>
      <p:sp>
        <p:nvSpPr>
          <p:cNvPr id="21" name="Text Box 20"/>
          <p:cNvSpPr txBox="1">
            <a:spLocks noChangeArrowheads="1"/>
          </p:cNvSpPr>
          <p:nvPr/>
        </p:nvSpPr>
        <p:spPr bwMode="auto">
          <a:xfrm>
            <a:off x="5903729" y="2396643"/>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检验和</a:t>
            </a:r>
          </a:p>
        </p:txBody>
      </p:sp>
      <p:sp>
        <p:nvSpPr>
          <p:cNvPr id="22" name="Text Box 21"/>
          <p:cNvSpPr txBox="1">
            <a:spLocks noChangeArrowheads="1"/>
          </p:cNvSpPr>
          <p:nvPr/>
        </p:nvSpPr>
        <p:spPr bwMode="auto">
          <a:xfrm>
            <a:off x="5160505" y="3545540"/>
            <a:ext cx="8531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a:latin typeface="Montserrat" panose="00000500000000000000" pitchFamily="2" charset="0"/>
                <a:ea typeface="微软雅黑 Light" panose="020B0502040204020203" pitchFamily="34" charset="-122"/>
              </a:rPr>
              <a:t>数         据</a:t>
            </a:r>
          </a:p>
        </p:txBody>
      </p:sp>
      <p:sp>
        <p:nvSpPr>
          <p:cNvPr id="23" name="Text Box 22"/>
          <p:cNvSpPr txBox="1">
            <a:spLocks noChangeArrowheads="1"/>
          </p:cNvSpPr>
          <p:nvPr/>
        </p:nvSpPr>
        <p:spPr bwMode="auto">
          <a:xfrm>
            <a:off x="2982509" y="3536396"/>
            <a:ext cx="64953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IP</a:t>
            </a:r>
            <a:r>
              <a:rPr kumimoji="1" lang="zh-CN" altLang="en-US" sz="1200" dirty="0">
                <a:latin typeface="Montserrat" panose="00000500000000000000" pitchFamily="2" charset="0"/>
                <a:ea typeface="微软雅黑 Light" panose="020B0502040204020203" pitchFamily="34" charset="-122"/>
              </a:rPr>
              <a:t>首部</a:t>
            </a:r>
          </a:p>
        </p:txBody>
      </p:sp>
      <p:sp>
        <p:nvSpPr>
          <p:cNvPr id="24" name="Line 23"/>
          <p:cNvSpPr>
            <a:spLocks noChangeShapeType="1"/>
          </p:cNvSpPr>
          <p:nvPr/>
        </p:nvSpPr>
        <p:spPr bwMode="auto">
          <a:xfrm>
            <a:off x="510597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5" name="Line 24"/>
          <p:cNvSpPr>
            <a:spLocks noChangeShapeType="1"/>
          </p:cNvSpPr>
          <p:nvPr/>
        </p:nvSpPr>
        <p:spPr bwMode="auto">
          <a:xfrm>
            <a:off x="5487725" y="172612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6" name="Line 25"/>
          <p:cNvSpPr>
            <a:spLocks noChangeShapeType="1"/>
          </p:cNvSpPr>
          <p:nvPr/>
        </p:nvSpPr>
        <p:spPr bwMode="auto">
          <a:xfrm>
            <a:off x="5869480" y="172612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7" name="Text Box 26"/>
          <p:cNvSpPr txBox="1">
            <a:spLocks noChangeArrowheads="1"/>
          </p:cNvSpPr>
          <p:nvPr/>
        </p:nvSpPr>
        <p:spPr bwMode="auto">
          <a:xfrm>
            <a:off x="5866236" y="1751455"/>
            <a:ext cx="84670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UDP</a:t>
            </a:r>
            <a:r>
              <a:rPr kumimoji="1" lang="zh-CN" altLang="en-US" sz="1200" dirty="0">
                <a:latin typeface="Montserrat" panose="00000500000000000000" pitchFamily="2" charset="0"/>
                <a:ea typeface="微软雅黑 Light" panose="020B0502040204020203" pitchFamily="34" charset="-122"/>
              </a:rPr>
              <a:t>长度</a:t>
            </a:r>
          </a:p>
        </p:txBody>
      </p:sp>
      <p:sp>
        <p:nvSpPr>
          <p:cNvPr id="28" name="Text Box 27"/>
          <p:cNvSpPr txBox="1">
            <a:spLocks noChangeArrowheads="1"/>
          </p:cNvSpPr>
          <p:nvPr/>
        </p:nvSpPr>
        <p:spPr bwMode="auto">
          <a:xfrm>
            <a:off x="2229388" y="175145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源 </a:t>
            </a:r>
            <a:r>
              <a:rPr kumimoji="1" lang="en-US" altLang="zh-CN" sz="1200" dirty="0">
                <a:latin typeface="Montserrat" panose="00000500000000000000" pitchFamily="2" charset="0"/>
                <a:ea typeface="微软雅黑 Light" panose="020B0502040204020203" pitchFamily="34" charset="-122"/>
              </a:rPr>
              <a:t>IP </a:t>
            </a:r>
            <a:r>
              <a:rPr kumimoji="1" lang="zh-CN" altLang="en-US" sz="1200" dirty="0">
                <a:latin typeface="Montserrat" panose="00000500000000000000" pitchFamily="2" charset="0"/>
                <a:ea typeface="微软雅黑 Light" panose="020B0502040204020203" pitchFamily="34" charset="-122"/>
              </a:rPr>
              <a:t>地址</a:t>
            </a:r>
          </a:p>
        </p:txBody>
      </p:sp>
      <p:sp>
        <p:nvSpPr>
          <p:cNvPr id="29" name="Text Box 28"/>
          <p:cNvSpPr txBox="1">
            <a:spLocks noChangeArrowheads="1"/>
          </p:cNvSpPr>
          <p:nvPr/>
        </p:nvSpPr>
        <p:spPr bwMode="auto">
          <a:xfrm>
            <a:off x="3778106" y="175145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dirty="0">
                <a:latin typeface="Montserrat" panose="00000500000000000000" pitchFamily="2" charset="0"/>
                <a:ea typeface="微软雅黑 Light" panose="020B0502040204020203" pitchFamily="34" charset="-122"/>
              </a:rPr>
              <a:t>目的 </a:t>
            </a:r>
            <a:r>
              <a:rPr kumimoji="1" lang="en-US" altLang="zh-CN" sz="1200" dirty="0">
                <a:latin typeface="Montserrat" panose="00000500000000000000" pitchFamily="2" charset="0"/>
                <a:ea typeface="微软雅黑 Light" panose="020B0502040204020203" pitchFamily="34" charset="-122"/>
              </a:rPr>
              <a:t>IP </a:t>
            </a:r>
            <a:r>
              <a:rPr kumimoji="1" lang="zh-CN" altLang="en-US" sz="1200" dirty="0">
                <a:latin typeface="Montserrat" panose="00000500000000000000" pitchFamily="2" charset="0"/>
                <a:ea typeface="微软雅黑 Light" panose="020B0502040204020203" pitchFamily="34" charset="-122"/>
              </a:rPr>
              <a:t>地址</a:t>
            </a:r>
          </a:p>
        </p:txBody>
      </p:sp>
      <p:sp>
        <p:nvSpPr>
          <p:cNvPr id="30" name="Text Box 29"/>
          <p:cNvSpPr txBox="1">
            <a:spLocks noChangeArrowheads="1"/>
          </p:cNvSpPr>
          <p:nvPr/>
        </p:nvSpPr>
        <p:spPr bwMode="auto">
          <a:xfrm>
            <a:off x="5178684" y="1751455"/>
            <a:ext cx="28725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0</a:t>
            </a:r>
          </a:p>
        </p:txBody>
      </p:sp>
      <p:sp>
        <p:nvSpPr>
          <p:cNvPr id="31" name="Text Box 30"/>
          <p:cNvSpPr txBox="1">
            <a:spLocks noChangeArrowheads="1"/>
          </p:cNvSpPr>
          <p:nvPr/>
        </p:nvSpPr>
        <p:spPr bwMode="auto">
          <a:xfrm>
            <a:off x="5488861" y="1751455"/>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17</a:t>
            </a:r>
          </a:p>
        </p:txBody>
      </p:sp>
      <p:sp>
        <p:nvSpPr>
          <p:cNvPr id="32" name="Line 31"/>
          <p:cNvSpPr>
            <a:spLocks noChangeShapeType="1"/>
          </p:cNvSpPr>
          <p:nvPr/>
        </p:nvSpPr>
        <p:spPr bwMode="auto">
          <a:xfrm>
            <a:off x="2867701" y="3971343"/>
            <a:ext cx="42480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34" name="Text Box 33"/>
          <p:cNvSpPr txBox="1">
            <a:spLocks noChangeArrowheads="1"/>
          </p:cNvSpPr>
          <p:nvPr/>
        </p:nvSpPr>
        <p:spPr bwMode="auto">
          <a:xfrm>
            <a:off x="4737953" y="3835615"/>
            <a:ext cx="845103" cy="276999"/>
          </a:xfrm>
          <a:prstGeom prst="rect">
            <a:avLst/>
          </a:prstGeom>
          <a:solidFill>
            <a:schemeClr val="bg1"/>
          </a:solidFill>
          <a:ln>
            <a:noFill/>
          </a:ln>
          <a:effec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IP </a:t>
            </a:r>
            <a:r>
              <a:rPr kumimoji="1" lang="zh-CN" altLang="en-US" sz="1200" dirty="0">
                <a:latin typeface="Montserrat" panose="00000500000000000000" pitchFamily="2" charset="0"/>
                <a:ea typeface="微软雅黑 Light" panose="020B0502040204020203" pitchFamily="34" charset="-122"/>
              </a:rPr>
              <a:t>数据报</a:t>
            </a:r>
          </a:p>
        </p:txBody>
      </p:sp>
      <p:sp>
        <p:nvSpPr>
          <p:cNvPr id="36" name="Text Box 35"/>
          <p:cNvSpPr txBox="1">
            <a:spLocks noChangeArrowheads="1"/>
          </p:cNvSpPr>
          <p:nvPr/>
        </p:nvSpPr>
        <p:spPr bwMode="auto">
          <a:xfrm>
            <a:off x="2585929" y="1495258"/>
            <a:ext cx="284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4</a:t>
            </a:r>
          </a:p>
        </p:txBody>
      </p:sp>
      <p:sp>
        <p:nvSpPr>
          <p:cNvPr id="37" name="Text Box 36"/>
          <p:cNvSpPr txBox="1">
            <a:spLocks noChangeArrowheads="1"/>
          </p:cNvSpPr>
          <p:nvPr/>
        </p:nvSpPr>
        <p:spPr bwMode="auto">
          <a:xfrm>
            <a:off x="4179985" y="1495258"/>
            <a:ext cx="28405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4</a:t>
            </a:r>
          </a:p>
        </p:txBody>
      </p:sp>
      <p:sp>
        <p:nvSpPr>
          <p:cNvPr id="38" name="Text Box 37"/>
          <p:cNvSpPr txBox="1">
            <a:spLocks noChangeArrowheads="1"/>
          </p:cNvSpPr>
          <p:nvPr/>
        </p:nvSpPr>
        <p:spPr bwMode="auto">
          <a:xfrm>
            <a:off x="5178684" y="1495258"/>
            <a:ext cx="2439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1</a:t>
            </a:r>
          </a:p>
        </p:txBody>
      </p:sp>
      <p:sp>
        <p:nvSpPr>
          <p:cNvPr id="39" name="Text Box 38"/>
          <p:cNvSpPr txBox="1">
            <a:spLocks noChangeArrowheads="1"/>
          </p:cNvSpPr>
          <p:nvPr/>
        </p:nvSpPr>
        <p:spPr bwMode="auto">
          <a:xfrm>
            <a:off x="5551351" y="1495258"/>
            <a:ext cx="2439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1</a:t>
            </a:r>
          </a:p>
        </p:txBody>
      </p:sp>
      <p:sp>
        <p:nvSpPr>
          <p:cNvPr id="40" name="Text Box 39"/>
          <p:cNvSpPr txBox="1">
            <a:spLocks noChangeArrowheads="1"/>
          </p:cNvSpPr>
          <p:nvPr/>
        </p:nvSpPr>
        <p:spPr bwMode="auto">
          <a:xfrm>
            <a:off x="6114894" y="149525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2</a:t>
            </a:r>
          </a:p>
        </p:txBody>
      </p:sp>
      <p:sp>
        <p:nvSpPr>
          <p:cNvPr id="41" name="Text Box 40"/>
          <p:cNvSpPr txBox="1">
            <a:spLocks noChangeArrowheads="1"/>
          </p:cNvSpPr>
          <p:nvPr/>
        </p:nvSpPr>
        <p:spPr bwMode="auto">
          <a:xfrm>
            <a:off x="2675687" y="2149130"/>
            <a:ext cx="3289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12</a:t>
            </a:r>
          </a:p>
        </p:txBody>
      </p:sp>
      <p:sp>
        <p:nvSpPr>
          <p:cNvPr id="42" name="Text Box 41"/>
          <p:cNvSpPr txBox="1">
            <a:spLocks noChangeArrowheads="1"/>
          </p:cNvSpPr>
          <p:nvPr/>
        </p:nvSpPr>
        <p:spPr bwMode="auto">
          <a:xfrm>
            <a:off x="3584629"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2</a:t>
            </a:r>
          </a:p>
        </p:txBody>
      </p:sp>
      <p:sp>
        <p:nvSpPr>
          <p:cNvPr id="43" name="Text Box 42"/>
          <p:cNvSpPr txBox="1">
            <a:spLocks noChangeArrowheads="1"/>
          </p:cNvSpPr>
          <p:nvPr/>
        </p:nvSpPr>
        <p:spPr bwMode="auto">
          <a:xfrm>
            <a:off x="446175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2</a:t>
            </a:r>
          </a:p>
        </p:txBody>
      </p:sp>
      <p:sp>
        <p:nvSpPr>
          <p:cNvPr id="44" name="Text Box 43"/>
          <p:cNvSpPr txBox="1">
            <a:spLocks noChangeArrowheads="1"/>
          </p:cNvSpPr>
          <p:nvPr/>
        </p:nvSpPr>
        <p:spPr bwMode="auto">
          <a:xfrm>
            <a:off x="5227541"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2</a:t>
            </a:r>
          </a:p>
        </p:txBody>
      </p:sp>
      <p:sp>
        <p:nvSpPr>
          <p:cNvPr id="45" name="Text Box 44"/>
          <p:cNvSpPr txBox="1">
            <a:spLocks noChangeArrowheads="1"/>
          </p:cNvSpPr>
          <p:nvPr/>
        </p:nvSpPr>
        <p:spPr bwMode="auto">
          <a:xfrm>
            <a:off x="6098988" y="215227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2</a:t>
            </a:r>
          </a:p>
        </p:txBody>
      </p:sp>
      <p:sp>
        <p:nvSpPr>
          <p:cNvPr id="51" name="Text Box 52"/>
          <p:cNvSpPr txBox="1">
            <a:spLocks noChangeArrowheads="1"/>
          </p:cNvSpPr>
          <p:nvPr/>
        </p:nvSpPr>
        <p:spPr bwMode="auto">
          <a:xfrm>
            <a:off x="2119889" y="2932035"/>
            <a:ext cx="15359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dirty="0">
                <a:latin typeface="Montserrat" panose="00000500000000000000" pitchFamily="2" charset="0"/>
                <a:ea typeface="微软雅黑 Light" panose="020B0502040204020203" pitchFamily="34" charset="-122"/>
              </a:rPr>
              <a:t>UDP </a:t>
            </a:r>
            <a:r>
              <a:rPr kumimoji="1" lang="zh-CN" altLang="en-US" sz="1400" dirty="0">
                <a:latin typeface="Montserrat" panose="00000500000000000000" pitchFamily="2" charset="0"/>
                <a:ea typeface="微软雅黑 Light" panose="020B0502040204020203" pitchFamily="34" charset="-122"/>
              </a:rPr>
              <a:t>用户数据报</a:t>
            </a:r>
          </a:p>
        </p:txBody>
      </p:sp>
      <p:sp>
        <p:nvSpPr>
          <p:cNvPr id="10" name="Rectangle 9"/>
          <p:cNvSpPr>
            <a:spLocks noChangeArrowheads="1"/>
          </p:cNvSpPr>
          <p:nvPr/>
        </p:nvSpPr>
        <p:spPr bwMode="auto">
          <a:xfrm>
            <a:off x="3670979" y="3518271"/>
            <a:ext cx="3400601" cy="302048"/>
          </a:xfrm>
          <a:prstGeom prst="rect">
            <a:avLst/>
          </a:prstGeom>
          <a:no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48" name="Rectangle 48"/>
          <p:cNvSpPr>
            <a:spLocks noChangeArrowheads="1"/>
          </p:cNvSpPr>
          <p:nvPr/>
        </p:nvSpPr>
        <p:spPr bwMode="auto">
          <a:xfrm>
            <a:off x="4443580" y="2932034"/>
            <a:ext cx="2628000" cy="302048"/>
          </a:xfrm>
          <a:prstGeom prst="rect">
            <a:avLst/>
          </a:prstGeom>
          <a:no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6" name="Rectangle 4"/>
          <p:cNvSpPr>
            <a:spLocks noChangeArrowheads="1"/>
          </p:cNvSpPr>
          <p:nvPr/>
        </p:nvSpPr>
        <p:spPr bwMode="auto">
          <a:xfrm>
            <a:off x="3669842" y="2932034"/>
            <a:ext cx="773737" cy="302048"/>
          </a:xfrm>
          <a:prstGeom prst="rect">
            <a:avLst/>
          </a:prstGeom>
          <a:solidFill>
            <a:srgbClr val="FAC090"/>
          </a:solidFill>
          <a:ln w="19050">
            <a:solidFill>
              <a:schemeClr val="tx1"/>
            </a:solid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50" name="Text Box 50"/>
          <p:cNvSpPr txBox="1">
            <a:spLocks noChangeArrowheads="1"/>
          </p:cNvSpPr>
          <p:nvPr/>
        </p:nvSpPr>
        <p:spPr bwMode="auto">
          <a:xfrm>
            <a:off x="3647200" y="2931904"/>
            <a:ext cx="85151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dirty="0">
                <a:latin typeface="Montserrat" panose="00000500000000000000" pitchFamily="2" charset="0"/>
                <a:ea typeface="微软雅黑 Light" panose="020B0502040204020203" pitchFamily="34" charset="-122"/>
              </a:rPr>
              <a:t>UDP</a:t>
            </a:r>
            <a:r>
              <a:rPr kumimoji="1" lang="zh-CN" altLang="en-US" sz="1200" dirty="0">
                <a:latin typeface="Montserrat" panose="00000500000000000000" pitchFamily="2" charset="0"/>
                <a:ea typeface="微软雅黑 Light" panose="020B0502040204020203" pitchFamily="34" charset="-122"/>
              </a:rPr>
              <a:t>首部</a:t>
            </a:r>
          </a:p>
        </p:txBody>
      </p:sp>
      <p:sp>
        <p:nvSpPr>
          <p:cNvPr id="49" name="Text Box 49"/>
          <p:cNvSpPr txBox="1">
            <a:spLocks noChangeArrowheads="1"/>
          </p:cNvSpPr>
          <p:nvPr/>
        </p:nvSpPr>
        <p:spPr bwMode="auto">
          <a:xfrm>
            <a:off x="5536712" y="2929872"/>
            <a:ext cx="96212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dirty="0">
                <a:latin typeface="Montserrat" panose="00000500000000000000" pitchFamily="2" charset="0"/>
                <a:ea typeface="微软雅黑 Light" panose="020B0502040204020203" pitchFamily="34" charset="-122"/>
              </a:rPr>
              <a:t>数         据</a:t>
            </a:r>
          </a:p>
        </p:txBody>
      </p:sp>
      <p:sp>
        <p:nvSpPr>
          <p:cNvPr id="2" name="AutoShape 6">
            <a:extLst>
              <a:ext uri="{FF2B5EF4-FFF2-40B4-BE49-F238E27FC236}">
                <a16:creationId xmlns:a16="http://schemas.microsoft.com/office/drawing/2014/main" id="{65711CE2-2339-CFC8-33BB-F212F7DD7E43}"/>
              </a:ext>
            </a:extLst>
          </p:cNvPr>
          <p:cNvSpPr>
            <a:spLocks noChangeArrowheads="1"/>
          </p:cNvSpPr>
          <p:nvPr/>
        </p:nvSpPr>
        <p:spPr bwMode="auto">
          <a:xfrm rot="16200000">
            <a:off x="5335351" y="3287099"/>
            <a:ext cx="432000" cy="190878"/>
          </a:xfrm>
          <a:prstGeom prst="leftArrow">
            <a:avLst>
              <a:gd name="adj1" fmla="val 50000"/>
              <a:gd name="adj2" fmla="val 69093"/>
            </a:avLst>
          </a:prstGeom>
          <a:solidFill>
            <a:srgbClr val="E95420"/>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Tree>
    <p:extLst>
      <p:ext uri="{BB962C8B-B14F-4D97-AF65-F5344CB8AC3E}">
        <p14:creationId xmlns:p14="http://schemas.microsoft.com/office/powerpoint/2010/main" val="21188650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2809248" y="1099293"/>
            <a:ext cx="4838720" cy="3287054"/>
            <a:chOff x="2662944" y="1099293"/>
            <a:chExt cx="4838720" cy="3287054"/>
          </a:xfrm>
        </p:grpSpPr>
        <p:sp>
          <p:nvSpPr>
            <p:cNvPr id="7" name="Text Box 7"/>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b="1" dirty="0">
                  <a:solidFill>
                    <a:srgbClr val="0000FF"/>
                  </a:solidFill>
                  <a:latin typeface="微软雅黑" pitchFamily="34" charset="-122"/>
                  <a:ea typeface="微软雅黑" pitchFamily="34" charset="-122"/>
                </a:rPr>
                <a:t>10011001 00010011  →  153.19</a:t>
              </a:r>
            </a:p>
            <a:p>
              <a:r>
                <a:rPr kumimoji="1" lang="en-US" altLang="zh-CN" sz="1200" b="1" dirty="0">
                  <a:solidFill>
                    <a:srgbClr val="0000FF"/>
                  </a:solidFill>
                  <a:latin typeface="微软雅黑" pitchFamily="34" charset="-122"/>
                  <a:ea typeface="微软雅黑" pitchFamily="34" charset="-122"/>
                </a:rPr>
                <a:t>00001000 01101000  →  8.104</a:t>
              </a:r>
            </a:p>
            <a:p>
              <a:r>
                <a:rPr kumimoji="1" lang="en-US" altLang="zh-CN" sz="1200" b="1" dirty="0">
                  <a:solidFill>
                    <a:srgbClr val="0000FF"/>
                  </a:solidFill>
                  <a:latin typeface="微软雅黑" pitchFamily="34" charset="-122"/>
                  <a:ea typeface="微软雅黑" pitchFamily="34" charset="-122"/>
                </a:rPr>
                <a:t>10101011 00000011  →  171.3</a:t>
              </a:r>
            </a:p>
            <a:p>
              <a:r>
                <a:rPr kumimoji="1" lang="en-US" altLang="zh-CN" sz="1200" b="1" dirty="0">
                  <a:solidFill>
                    <a:srgbClr val="0000FF"/>
                  </a:solidFill>
                  <a:latin typeface="微软雅黑" pitchFamily="34" charset="-122"/>
                  <a:ea typeface="微软雅黑" pitchFamily="34" charset="-122"/>
                </a:rPr>
                <a:t>00001110 00001011  →  14.11</a:t>
              </a:r>
            </a:p>
            <a:p>
              <a:r>
                <a:rPr kumimoji="1" lang="en-US" altLang="zh-CN" sz="1200" b="1" dirty="0">
                  <a:solidFill>
                    <a:srgbClr val="0000FF"/>
                  </a:solidFill>
                  <a:latin typeface="微软雅黑" pitchFamily="34" charset="-122"/>
                  <a:ea typeface="微软雅黑" pitchFamily="34" charset="-122"/>
                </a:rPr>
                <a:t>00000000 00010001  →  0 </a:t>
              </a:r>
              <a:r>
                <a:rPr kumimoji="1" lang="zh-CN" altLang="en-US" sz="1200" b="1" dirty="0">
                  <a:solidFill>
                    <a:srgbClr val="0000FF"/>
                  </a:solidFill>
                  <a:latin typeface="微软雅黑" pitchFamily="34" charset="-122"/>
                  <a:ea typeface="微软雅黑" pitchFamily="34" charset="-122"/>
                </a:rPr>
                <a:t>和 </a:t>
              </a:r>
              <a:r>
                <a:rPr kumimoji="1" lang="en-US" altLang="zh-CN" sz="1200" b="1" dirty="0">
                  <a:solidFill>
                    <a:srgbClr val="0000FF"/>
                  </a:solidFill>
                  <a:latin typeface="微软雅黑" pitchFamily="34" charset="-122"/>
                  <a:ea typeface="微软雅黑" pitchFamily="34" charset="-122"/>
                </a:rPr>
                <a:t>17</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00000100 00111111  →  1087</a:t>
              </a:r>
            </a:p>
            <a:p>
              <a:r>
                <a:rPr kumimoji="1" lang="en-US" altLang="zh-CN" sz="1200" b="1" dirty="0">
                  <a:solidFill>
                    <a:srgbClr val="0000FF"/>
                  </a:solidFill>
                  <a:latin typeface="微软雅黑" pitchFamily="34" charset="-122"/>
                  <a:ea typeface="微软雅黑" pitchFamily="34" charset="-122"/>
                </a:rPr>
                <a:t>00000000 00001101  →  13</a:t>
              </a:r>
            </a:p>
            <a:p>
              <a:r>
                <a:rPr kumimoji="1" lang="en-US" altLang="zh-CN" sz="1200" b="1" dirty="0">
                  <a:solidFill>
                    <a:srgbClr val="0000FF"/>
                  </a:solidFill>
                  <a:latin typeface="微软雅黑" pitchFamily="34" charset="-122"/>
                  <a:ea typeface="微软雅黑" pitchFamily="34" charset="-122"/>
                </a:rPr>
                <a:t>00000000 00001111  →  15</a:t>
              </a:r>
            </a:p>
            <a:p>
              <a:r>
                <a:rPr kumimoji="1" lang="en-US" altLang="zh-CN" sz="1200" b="1" dirty="0">
                  <a:solidFill>
                    <a:srgbClr val="0000FF"/>
                  </a:solidFill>
                  <a:latin typeface="微软雅黑" pitchFamily="34" charset="-122"/>
                  <a:ea typeface="微软雅黑" pitchFamily="34" charset="-122"/>
                </a:rPr>
                <a:t>00000000 00000000  →  0</a:t>
              </a:r>
              <a:r>
                <a:rPr kumimoji="1" lang="zh-CN" altLang="en-US" sz="1200" b="1" dirty="0">
                  <a:solidFill>
                    <a:srgbClr val="0000FF"/>
                  </a:solidFill>
                  <a:latin typeface="微软雅黑" pitchFamily="34" charset="-122"/>
                  <a:ea typeface="微软雅黑" pitchFamily="34" charset="-122"/>
                </a:rPr>
                <a:t>（检验和）</a:t>
              </a:r>
            </a:p>
            <a:p>
              <a:r>
                <a:rPr kumimoji="1" lang="en-US" altLang="zh-CN" sz="1200" b="1" dirty="0">
                  <a:solidFill>
                    <a:srgbClr val="0000FF"/>
                  </a:solidFill>
                  <a:latin typeface="微软雅黑" pitchFamily="34" charset="-122"/>
                  <a:ea typeface="微软雅黑" pitchFamily="34" charset="-122"/>
                </a:rPr>
                <a:t>01010100 01000101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01010011 01010100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01001001 01001110  →  </a:t>
              </a:r>
              <a:r>
                <a:rPr kumimoji="1" lang="zh-CN" altLang="en-US" sz="1200" b="1" dirty="0">
                  <a:solidFill>
                    <a:srgbClr val="0000FF"/>
                  </a:solidFill>
                  <a:latin typeface="微软雅黑" pitchFamily="34" charset="-122"/>
                  <a:ea typeface="微软雅黑" pitchFamily="34" charset="-122"/>
                </a:rPr>
                <a:t>数据</a:t>
              </a:r>
            </a:p>
            <a:p>
              <a:r>
                <a:rPr kumimoji="1" lang="en-US" altLang="zh-CN" sz="1200" b="1" dirty="0">
                  <a:solidFill>
                    <a:srgbClr val="0000FF"/>
                  </a:solidFill>
                  <a:latin typeface="微软雅黑" pitchFamily="34" charset="-122"/>
                  <a:ea typeface="微软雅黑" pitchFamily="34" charset="-122"/>
                </a:rPr>
                <a:t>01000111 00000000  →  </a:t>
              </a:r>
              <a:r>
                <a:rPr kumimoji="1" lang="zh-CN" altLang="en-US" sz="1200" b="1" dirty="0">
                  <a:solidFill>
                    <a:srgbClr val="0000FF"/>
                  </a:solidFill>
                  <a:latin typeface="微软雅黑" pitchFamily="34" charset="-122"/>
                  <a:ea typeface="微软雅黑" pitchFamily="34" charset="-122"/>
                </a:rPr>
                <a:t>数据和 </a:t>
              </a:r>
              <a:r>
                <a:rPr kumimoji="1" lang="en-US" altLang="zh-CN" sz="1200" b="1" dirty="0">
                  <a:solidFill>
                    <a:srgbClr val="0000FF"/>
                  </a:solidFill>
                  <a:latin typeface="微软雅黑" pitchFamily="34" charset="-122"/>
                  <a:ea typeface="微软雅黑" pitchFamily="34" charset="-122"/>
                </a:rPr>
                <a:t>0</a:t>
              </a:r>
              <a:r>
                <a:rPr kumimoji="1" lang="zh-CN" altLang="en-US" sz="1200" b="1" dirty="0">
                  <a:solidFill>
                    <a:srgbClr val="0000FF"/>
                  </a:solidFill>
                  <a:latin typeface="微软雅黑" pitchFamily="34" charset="-122"/>
                  <a:ea typeface="微软雅黑" pitchFamily="34" charset="-122"/>
                </a:rPr>
                <a:t>（填充）</a:t>
              </a:r>
            </a:p>
            <a:p>
              <a:endParaRPr kumimoji="1" lang="zh-CN" altLang="en-US" sz="1200" b="1" dirty="0">
                <a:solidFill>
                  <a:srgbClr val="0000FF"/>
                </a:solidFill>
                <a:latin typeface="微软雅黑" pitchFamily="34" charset="-122"/>
                <a:ea typeface="微软雅黑" pitchFamily="34" charset="-122"/>
              </a:endParaRPr>
            </a:p>
            <a:p>
              <a:r>
                <a:rPr kumimoji="1" lang="en-US" altLang="zh-CN" sz="1200" b="1" dirty="0">
                  <a:solidFill>
                    <a:srgbClr val="0000FF"/>
                  </a:solidFill>
                  <a:latin typeface="微软雅黑" pitchFamily="34" charset="-122"/>
                  <a:ea typeface="微软雅黑" pitchFamily="34" charset="-122"/>
                </a:rPr>
                <a:t>10010110 11101101  →  </a:t>
              </a:r>
              <a:r>
                <a:rPr kumimoji="1" lang="zh-CN" altLang="en-US" sz="1200" b="1" dirty="0">
                  <a:solidFill>
                    <a:srgbClr val="0000FF"/>
                  </a:solidFill>
                  <a:latin typeface="微软雅黑" pitchFamily="34" charset="-122"/>
                  <a:ea typeface="微软雅黑" pitchFamily="34" charset="-122"/>
                </a:rPr>
                <a:t>求和得出的结果</a:t>
              </a:r>
            </a:p>
            <a:p>
              <a:pPr>
                <a:lnSpc>
                  <a:spcPct val="130000"/>
                </a:lnSpc>
              </a:pPr>
              <a:r>
                <a:rPr kumimoji="1" lang="en-US" altLang="zh-CN" sz="1200" b="1" dirty="0">
                  <a:solidFill>
                    <a:srgbClr val="0000FF"/>
                  </a:solidFill>
                  <a:latin typeface="微软雅黑" pitchFamily="34" charset="-122"/>
                  <a:ea typeface="微软雅黑" pitchFamily="34" charset="-122"/>
                </a:rPr>
                <a:t>01101001 00010010  →  </a:t>
              </a:r>
              <a:r>
                <a:rPr kumimoji="1" lang="zh-CN" altLang="en-US" sz="1200" b="1" dirty="0">
                  <a:solidFill>
                    <a:srgbClr val="0000FF"/>
                  </a:solidFill>
                  <a:latin typeface="微软雅黑" pitchFamily="34" charset="-122"/>
                  <a:ea typeface="微软雅黑" pitchFamily="34" charset="-122"/>
                </a:rPr>
                <a:t>检验和 </a:t>
              </a:r>
            </a:p>
          </p:txBody>
        </p:sp>
        <p:sp>
          <p:nvSpPr>
            <p:cNvPr id="32" name="Line 30"/>
            <p:cNvSpPr>
              <a:spLocks noChangeShapeType="1"/>
            </p:cNvSpPr>
            <p:nvPr/>
          </p:nvSpPr>
          <p:spPr bwMode="auto">
            <a:xfrm flipV="1">
              <a:off x="4235251" y="3795900"/>
              <a:ext cx="3164240" cy="577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33" name="Text Box 31"/>
            <p:cNvSpPr txBox="1">
              <a:spLocks noChangeArrowheads="1"/>
            </p:cNvSpPr>
            <p:nvPr/>
          </p:nvSpPr>
          <p:spPr bwMode="auto">
            <a:xfrm>
              <a:off x="2662944" y="3848835"/>
              <a:ext cx="1723549" cy="5170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b="1" dirty="0">
                  <a:solidFill>
                    <a:srgbClr val="A50021"/>
                  </a:solidFill>
                  <a:latin typeface="微软雅黑" pitchFamily="34" charset="-122"/>
                  <a:ea typeface="微软雅黑" pitchFamily="34" charset="-122"/>
                </a:rPr>
                <a:t>按二进制反码运算求和</a:t>
              </a:r>
            </a:p>
            <a:p>
              <a:pPr algn="r">
                <a:lnSpc>
                  <a:spcPct val="130000"/>
                </a:lnSpc>
              </a:pPr>
              <a:r>
                <a:rPr kumimoji="1" lang="zh-CN" altLang="en-US" sz="1200" b="1" dirty="0">
                  <a:solidFill>
                    <a:srgbClr val="A50021"/>
                  </a:solidFill>
                  <a:latin typeface="微软雅黑" pitchFamily="34" charset="-122"/>
                  <a:ea typeface="微软雅黑" pitchFamily="34" charset="-122"/>
                </a:rPr>
                <a:t>将得出的结果求反码</a:t>
              </a:r>
            </a:p>
          </p:txBody>
        </p:sp>
      </p:grpSp>
      <p:grpSp>
        <p:nvGrpSpPr>
          <p:cNvPr id="37" name="组合 36"/>
          <p:cNvGrpSpPr/>
          <p:nvPr/>
        </p:nvGrpSpPr>
        <p:grpSpPr>
          <a:xfrm>
            <a:off x="1451203" y="1309482"/>
            <a:ext cx="2749036" cy="2021473"/>
            <a:chOff x="1640108" y="1280222"/>
            <a:chExt cx="2501023" cy="1839099"/>
          </a:xfrm>
        </p:grpSpPr>
        <p:sp>
          <p:nvSpPr>
            <p:cNvPr id="5" name="Rectangle 36"/>
            <p:cNvSpPr>
              <a:spLocks noChangeArrowheads="1"/>
            </p:cNvSpPr>
            <p:nvPr/>
          </p:nvSpPr>
          <p:spPr bwMode="auto">
            <a:xfrm>
              <a:off x="3718677" y="2517848"/>
              <a:ext cx="414949" cy="219424"/>
            </a:xfrm>
            <a:prstGeom prst="rect">
              <a:avLst/>
            </a:prstGeom>
            <a:solidFill>
              <a:srgbClr val="FF66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6" name="Rectangle 35"/>
            <p:cNvSpPr>
              <a:spLocks noChangeArrowheads="1"/>
            </p:cNvSpPr>
            <p:nvPr/>
          </p:nvSpPr>
          <p:spPr bwMode="auto">
            <a:xfrm>
              <a:off x="2438255" y="1903528"/>
              <a:ext cx="1688985" cy="431467"/>
            </a:xfrm>
            <a:prstGeom prst="rect">
              <a:avLst/>
            </a:prstGeom>
            <a:solidFill>
              <a:srgbClr val="FFFF66"/>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8" name="Freeform 5"/>
            <p:cNvSpPr>
              <a:spLocks/>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solidFill>
              <a:srgbClr val="00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9" name="Rectangle 6"/>
            <p:cNvSpPr>
              <a:spLocks noChangeArrowheads="1"/>
            </p:cNvSpPr>
            <p:nvPr/>
          </p:nvSpPr>
          <p:spPr bwMode="auto">
            <a:xfrm>
              <a:off x="2435465" y="1303319"/>
              <a:ext cx="1705666" cy="612077"/>
            </a:xfrm>
            <a:prstGeom prst="rect">
              <a:avLst/>
            </a:prstGeom>
            <a:solidFill>
              <a:srgbClr val="66FFFF"/>
            </a:solidFill>
            <a:ln>
              <a:noFill/>
            </a:ln>
            <a:effectLst/>
          </p:spPr>
          <p:txBody>
            <a:bodyPr wrap="none" anchor="ctr"/>
            <a:lstStyle/>
            <a:p>
              <a:endParaRPr lang="zh-CN" altLang="en-US" sz="1100" b="1">
                <a:latin typeface="微软雅黑" pitchFamily="34" charset="-122"/>
                <a:ea typeface="微软雅黑" pitchFamily="34" charset="-122"/>
              </a:endParaRPr>
            </a:p>
          </p:txBody>
        </p:sp>
        <p:sp>
          <p:nvSpPr>
            <p:cNvPr id="10" name="Rectangle 8"/>
            <p:cNvSpPr>
              <a:spLocks noChangeArrowheads="1"/>
            </p:cNvSpPr>
            <p:nvPr/>
          </p:nvSpPr>
          <p:spPr bwMode="auto">
            <a:xfrm>
              <a:off x="2436508" y="1287920"/>
              <a:ext cx="1702538" cy="144069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Line 9"/>
            <p:cNvSpPr>
              <a:spLocks noChangeShapeType="1"/>
            </p:cNvSpPr>
            <p:nvPr/>
          </p:nvSpPr>
          <p:spPr bwMode="auto">
            <a:xfrm>
              <a:off x="2435465" y="1507344"/>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2" name="Line 10"/>
            <p:cNvSpPr>
              <a:spLocks noChangeShapeType="1"/>
            </p:cNvSpPr>
            <p:nvPr/>
          </p:nvSpPr>
          <p:spPr bwMode="auto">
            <a:xfrm>
              <a:off x="2435465" y="1711370"/>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3" name="Line 11"/>
            <p:cNvSpPr>
              <a:spLocks noChangeShapeType="1"/>
            </p:cNvSpPr>
            <p:nvPr/>
          </p:nvSpPr>
          <p:spPr bwMode="auto">
            <a:xfrm>
              <a:off x="2435465" y="1915395"/>
              <a:ext cx="1705666" cy="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4" name="Line 12"/>
            <p:cNvSpPr>
              <a:spLocks noChangeShapeType="1"/>
            </p:cNvSpPr>
            <p:nvPr/>
          </p:nvSpPr>
          <p:spPr bwMode="auto">
            <a:xfrm>
              <a:off x="2435465" y="2120384"/>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5" name="Line 13"/>
            <p:cNvSpPr>
              <a:spLocks noChangeShapeType="1"/>
            </p:cNvSpPr>
            <p:nvPr/>
          </p:nvSpPr>
          <p:spPr bwMode="auto">
            <a:xfrm>
              <a:off x="2435465" y="2324410"/>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6" name="Line 14"/>
            <p:cNvSpPr>
              <a:spLocks noChangeShapeType="1"/>
            </p:cNvSpPr>
            <p:nvPr/>
          </p:nvSpPr>
          <p:spPr bwMode="auto">
            <a:xfrm>
              <a:off x="2435465" y="2528435"/>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7" name="Line 15"/>
            <p:cNvSpPr>
              <a:spLocks noChangeShapeType="1"/>
            </p:cNvSpPr>
            <p:nvPr/>
          </p:nvSpPr>
          <p:spPr bwMode="auto">
            <a:xfrm>
              <a:off x="3288298" y="1711370"/>
              <a:ext cx="0" cy="10210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8" name="Line 16"/>
            <p:cNvSpPr>
              <a:spLocks noChangeShapeType="1"/>
            </p:cNvSpPr>
            <p:nvPr/>
          </p:nvSpPr>
          <p:spPr bwMode="auto">
            <a:xfrm>
              <a:off x="3713672" y="2324409"/>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19" name="Line 17"/>
            <p:cNvSpPr>
              <a:spLocks noChangeShapeType="1"/>
            </p:cNvSpPr>
            <p:nvPr/>
          </p:nvSpPr>
          <p:spPr bwMode="auto">
            <a:xfrm>
              <a:off x="2854583" y="2325276"/>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0" name="Line 18"/>
            <p:cNvSpPr>
              <a:spLocks noChangeShapeType="1"/>
            </p:cNvSpPr>
            <p:nvPr/>
          </p:nvSpPr>
          <p:spPr bwMode="auto">
            <a:xfrm>
              <a:off x="2861882" y="1711464"/>
              <a:ext cx="0" cy="2040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21" name="Text Box 19"/>
            <p:cNvSpPr txBox="1">
              <a:spLocks noChangeArrowheads="1"/>
            </p:cNvSpPr>
            <p:nvPr/>
          </p:nvSpPr>
          <p:spPr bwMode="auto">
            <a:xfrm>
              <a:off x="2767006" y="1291771"/>
              <a:ext cx="986158"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153.19.8.104</a:t>
              </a:r>
            </a:p>
          </p:txBody>
        </p:sp>
        <p:sp>
          <p:nvSpPr>
            <p:cNvPr id="22" name="Text Box 20"/>
            <p:cNvSpPr txBox="1">
              <a:spLocks noChangeArrowheads="1"/>
            </p:cNvSpPr>
            <p:nvPr/>
          </p:nvSpPr>
          <p:spPr bwMode="auto">
            <a:xfrm>
              <a:off x="2788901" y="1498684"/>
              <a:ext cx="907406"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b="1" dirty="0">
                  <a:latin typeface="微软雅黑" pitchFamily="34" charset="-122"/>
                  <a:ea typeface="微软雅黑" pitchFamily="34" charset="-122"/>
                </a:rPr>
                <a:t>171.3.14.11</a:t>
              </a:r>
            </a:p>
          </p:txBody>
        </p:sp>
        <p:sp>
          <p:nvSpPr>
            <p:cNvPr id="23" name="AutoShape 22"/>
            <p:cNvSpPr>
              <a:spLocks/>
            </p:cNvSpPr>
            <p:nvPr/>
          </p:nvSpPr>
          <p:spPr bwMode="auto">
            <a:xfrm>
              <a:off x="2342675" y="1280222"/>
              <a:ext cx="45874" cy="63036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4" name="AutoShape 23"/>
            <p:cNvSpPr>
              <a:spLocks/>
            </p:cNvSpPr>
            <p:nvPr/>
          </p:nvSpPr>
          <p:spPr bwMode="auto">
            <a:xfrm>
              <a:off x="2337462" y="1946192"/>
              <a:ext cx="51087" cy="366669"/>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AutoShape 24"/>
            <p:cNvSpPr>
              <a:spLocks/>
            </p:cNvSpPr>
            <p:nvPr/>
          </p:nvSpPr>
          <p:spPr bwMode="auto">
            <a:xfrm>
              <a:off x="2341632" y="2334995"/>
              <a:ext cx="51087" cy="384954"/>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6" name="Text Box 25"/>
            <p:cNvSpPr txBox="1">
              <a:spLocks noChangeArrowheads="1"/>
            </p:cNvSpPr>
            <p:nvPr/>
          </p:nvSpPr>
          <p:spPr bwMode="auto">
            <a:xfrm>
              <a:off x="1703573"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1100" dirty="0">
                  <a:solidFill>
                    <a:srgbClr val="000099"/>
                  </a:solidFill>
                  <a:latin typeface="微软雅黑" pitchFamily="34" charset="-122"/>
                  <a:ea typeface="微软雅黑" pitchFamily="34" charset="-122"/>
                </a:rPr>
                <a:t>12 </a:t>
              </a:r>
              <a:r>
                <a:rPr kumimoji="1" lang="zh-CN" altLang="en-US" sz="1100" dirty="0">
                  <a:solidFill>
                    <a:srgbClr val="000099"/>
                  </a:solidFill>
                  <a:latin typeface="微软雅黑" pitchFamily="34" charset="-122"/>
                  <a:ea typeface="微软雅黑" pitchFamily="34" charset="-122"/>
                </a:rPr>
                <a:t>字节</a:t>
              </a:r>
            </a:p>
            <a:p>
              <a:pPr algn="r"/>
              <a:r>
                <a:rPr kumimoji="1" lang="zh-CN" altLang="en-US" sz="1100" dirty="0">
                  <a:solidFill>
                    <a:srgbClr val="000099"/>
                  </a:solidFill>
                  <a:latin typeface="微软雅黑" pitchFamily="34" charset="-122"/>
                  <a:ea typeface="微软雅黑" pitchFamily="34" charset="-122"/>
                </a:rPr>
                <a:t>伪首部</a:t>
              </a:r>
            </a:p>
          </p:txBody>
        </p:sp>
        <p:sp>
          <p:nvSpPr>
            <p:cNvPr id="27" name="Text Box 26"/>
            <p:cNvSpPr txBox="1">
              <a:spLocks noChangeArrowheads="1"/>
            </p:cNvSpPr>
            <p:nvPr/>
          </p:nvSpPr>
          <p:spPr bwMode="auto">
            <a:xfrm>
              <a:off x="1640108" y="1876900"/>
              <a:ext cx="74844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100" dirty="0">
                  <a:solidFill>
                    <a:srgbClr val="000099"/>
                  </a:solidFill>
                  <a:latin typeface="微软雅黑" pitchFamily="34" charset="-122"/>
                  <a:ea typeface="微软雅黑" pitchFamily="34" charset="-122"/>
                </a:rPr>
                <a:t>8 </a:t>
              </a:r>
              <a:r>
                <a:rPr kumimoji="1" lang="zh-CN" altLang="en-US" sz="1100" dirty="0">
                  <a:solidFill>
                    <a:srgbClr val="000099"/>
                  </a:solidFill>
                  <a:latin typeface="微软雅黑" pitchFamily="34" charset="-122"/>
                  <a:ea typeface="微软雅黑" pitchFamily="34" charset="-122"/>
                </a:rPr>
                <a:t>字节</a:t>
              </a:r>
            </a:p>
            <a:p>
              <a:pPr algn="r"/>
              <a:r>
                <a:rPr kumimoji="1" lang="en-US" altLang="zh-CN" sz="1100" dirty="0">
                  <a:solidFill>
                    <a:srgbClr val="000099"/>
                  </a:solidFill>
                  <a:latin typeface="微软雅黑" pitchFamily="34" charset="-122"/>
                  <a:ea typeface="微软雅黑" pitchFamily="34" charset="-122"/>
                </a:rPr>
                <a:t>UDP </a:t>
              </a:r>
              <a:r>
                <a:rPr kumimoji="1" lang="zh-CN" altLang="en-US" sz="1100" dirty="0">
                  <a:solidFill>
                    <a:srgbClr val="000099"/>
                  </a:solidFill>
                  <a:latin typeface="微软雅黑" pitchFamily="34" charset="-122"/>
                  <a:ea typeface="微软雅黑" pitchFamily="34" charset="-122"/>
                </a:rPr>
                <a:t>首部</a:t>
              </a:r>
            </a:p>
          </p:txBody>
        </p:sp>
        <p:sp>
          <p:nvSpPr>
            <p:cNvPr id="28" name="Text Box 27"/>
            <p:cNvSpPr txBox="1">
              <a:spLocks noChangeArrowheads="1"/>
            </p:cNvSpPr>
            <p:nvPr/>
          </p:nvSpPr>
          <p:spPr bwMode="auto">
            <a:xfrm>
              <a:off x="1847198" y="2415891"/>
              <a:ext cx="541352"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100" dirty="0">
                  <a:solidFill>
                    <a:srgbClr val="000099"/>
                  </a:solidFill>
                  <a:latin typeface="微软雅黑" pitchFamily="34" charset="-122"/>
                  <a:ea typeface="微软雅黑" pitchFamily="34" charset="-122"/>
                </a:rPr>
                <a:t>7 </a:t>
              </a:r>
              <a:r>
                <a:rPr kumimoji="1" lang="zh-CN" altLang="en-US" sz="1100" dirty="0">
                  <a:solidFill>
                    <a:srgbClr val="000099"/>
                  </a:solidFill>
                  <a:latin typeface="微软雅黑" pitchFamily="34" charset="-122"/>
                  <a:ea typeface="微软雅黑" pitchFamily="34" charset="-122"/>
                </a:rPr>
                <a:t>字节</a:t>
              </a:r>
              <a:endParaRPr kumimoji="1" lang="en-US" altLang="zh-CN" sz="1100" dirty="0">
                <a:solidFill>
                  <a:srgbClr val="000099"/>
                </a:solidFill>
                <a:latin typeface="微软雅黑" pitchFamily="34" charset="-122"/>
                <a:ea typeface="微软雅黑" pitchFamily="34" charset="-122"/>
              </a:endParaRPr>
            </a:p>
            <a:p>
              <a:pPr algn="r"/>
              <a:r>
                <a:rPr kumimoji="1" lang="zh-CN" altLang="en-US" sz="1100" dirty="0">
                  <a:solidFill>
                    <a:srgbClr val="000099"/>
                  </a:solidFill>
                  <a:latin typeface="微软雅黑" pitchFamily="34" charset="-122"/>
                  <a:ea typeface="微软雅黑" pitchFamily="34" charset="-122"/>
                </a:rPr>
                <a:t>数据</a:t>
              </a:r>
            </a:p>
          </p:txBody>
        </p:sp>
        <p:grpSp>
          <p:nvGrpSpPr>
            <p:cNvPr id="29" name="Group 34"/>
            <p:cNvGrpSpPr>
              <a:grpSpLocks/>
            </p:cNvGrpSpPr>
            <p:nvPr/>
          </p:nvGrpSpPr>
          <p:grpSpPr bwMode="auto">
            <a:xfrm>
              <a:off x="3597942" y="2707423"/>
              <a:ext cx="424331" cy="411898"/>
              <a:chOff x="1705" y="2787"/>
              <a:chExt cx="407" cy="428"/>
            </a:xfrm>
          </p:grpSpPr>
          <p:sp>
            <p:nvSpPr>
              <p:cNvPr id="30" name="Text Box 28"/>
              <p:cNvSpPr txBox="1">
                <a:spLocks noChangeArrowheads="1"/>
              </p:cNvSpPr>
              <p:nvPr/>
            </p:nvSpPr>
            <p:spPr bwMode="auto">
              <a:xfrm>
                <a:off x="1705" y="2968"/>
                <a:ext cx="407" cy="2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100" b="1" dirty="0">
                    <a:latin typeface="微软雅黑" pitchFamily="34" charset="-122"/>
                    <a:ea typeface="微软雅黑" pitchFamily="34" charset="-122"/>
                  </a:rPr>
                  <a:t>填充</a:t>
                </a:r>
              </a:p>
            </p:txBody>
          </p:sp>
          <p:sp>
            <p:nvSpPr>
              <p:cNvPr id="31" name="Line 29"/>
              <p:cNvSpPr>
                <a:spLocks noChangeShapeType="1"/>
              </p:cNvSpPr>
              <p:nvPr/>
            </p:nvSpPr>
            <p:spPr bwMode="auto">
              <a:xfrm flipV="1">
                <a:off x="1920" y="2787"/>
                <a:ext cx="134" cy="207"/>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sp>
        <p:nvSpPr>
          <p:cNvPr id="39" name="矩形 38"/>
          <p:cNvSpPr/>
          <p:nvPr/>
        </p:nvSpPr>
        <p:spPr>
          <a:xfrm>
            <a:off x="977757" y="3206010"/>
            <a:ext cx="2148344" cy="523220"/>
          </a:xfrm>
          <a:prstGeom prst="rect">
            <a:avLst/>
          </a:prstGeom>
          <a:solidFill>
            <a:srgbClr val="000099"/>
          </a:solidFill>
          <a:ln>
            <a:solidFill>
              <a:schemeClr val="tx1"/>
            </a:solidFill>
          </a:ln>
        </p:spPr>
        <p:txBody>
          <a:bodyPr wrap="square">
            <a:spAutoFit/>
          </a:bodyPr>
          <a:lstStyle/>
          <a:p>
            <a:r>
              <a:rPr lang="en-US" altLang="zh-CN" sz="1400" b="1" dirty="0">
                <a:solidFill>
                  <a:schemeClr val="bg1"/>
                </a:solidFill>
                <a:latin typeface="微软雅黑" pitchFamily="34" charset="-122"/>
                <a:ea typeface="微软雅黑" pitchFamily="34" charset="-122"/>
              </a:rPr>
              <a:t>UDP </a:t>
            </a:r>
            <a:r>
              <a:rPr lang="zh-CN" altLang="zh-CN" sz="1400" b="1" dirty="0">
                <a:solidFill>
                  <a:schemeClr val="bg1"/>
                </a:solidFill>
                <a:latin typeface="微软雅黑" pitchFamily="34" charset="-122"/>
                <a:ea typeface="微软雅黑" pitchFamily="34" charset="-122"/>
              </a:rPr>
              <a:t>的检验和是把首部和数据部分一起都检验。</a:t>
            </a:r>
            <a:endParaRPr lang="zh-CN" altLang="en-US" sz="1400" b="1" dirty="0">
              <a:solidFill>
                <a:schemeClr val="bg1"/>
              </a:solidFill>
              <a:latin typeface="微软雅黑" pitchFamily="34" charset="-122"/>
              <a:ea typeface="微软雅黑" pitchFamily="34" charset="-122"/>
            </a:endParaRPr>
          </a:p>
        </p:txBody>
      </p:sp>
      <p:sp>
        <p:nvSpPr>
          <p:cNvPr id="41" name="Text Box 21"/>
          <p:cNvSpPr txBox="1">
            <a:spLocks noChangeArrowheads="1"/>
          </p:cNvSpPr>
          <p:nvPr/>
        </p:nvSpPr>
        <p:spPr bwMode="auto">
          <a:xfrm>
            <a:off x="2327763" y="1762003"/>
            <a:ext cx="2079937" cy="1182375"/>
          </a:xfrm>
          <a:prstGeom prst="rect">
            <a:avLst/>
          </a:prstGeom>
          <a:noFill/>
          <a:ln>
            <a:noFill/>
          </a:ln>
          <a:effectLst/>
          <a:extLst>
            <a:ext uri="{909E8E84-426E-40DD-AFC4-6F175D3DCCD1}">
              <a14:hiddenFill xmlns:a14="http://schemas.microsoft.com/office/drawing/2010/main">
                <a:solidFill>
                  <a:srgbClr val="CCEC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ts val="1720"/>
              </a:lnSpc>
            </a:pPr>
            <a:r>
              <a:rPr kumimoji="1" lang="zh-CN" altLang="en-US" sz="1200" b="1" dirty="0">
                <a:latin typeface="微软雅黑" pitchFamily="34" charset="-122"/>
                <a:ea typeface="微软雅黑" pitchFamily="34" charset="-122"/>
              </a:rPr>
              <a:t>全 </a:t>
            </a:r>
            <a:r>
              <a:rPr kumimoji="1" lang="en-US" altLang="zh-CN" sz="1200" b="1" dirty="0">
                <a:latin typeface="微软雅黑" pitchFamily="34" charset="-122"/>
                <a:ea typeface="微软雅黑" pitchFamily="34" charset="-122"/>
              </a:rPr>
              <a:t>0    17       15=8+7</a:t>
            </a:r>
          </a:p>
          <a:p>
            <a:pPr>
              <a:lnSpc>
                <a:spcPts val="1720"/>
              </a:lnSpc>
            </a:pPr>
            <a:r>
              <a:rPr kumimoji="1" lang="en-US" altLang="zh-CN" sz="1200" b="1" dirty="0">
                <a:latin typeface="微软雅黑" pitchFamily="34" charset="-122"/>
                <a:ea typeface="微软雅黑" pitchFamily="34" charset="-122"/>
              </a:rPr>
              <a:t>    1087            13</a:t>
            </a:r>
          </a:p>
          <a:p>
            <a:pPr>
              <a:lnSpc>
                <a:spcPts val="1720"/>
              </a:lnSpc>
            </a:pPr>
            <a:r>
              <a:rPr kumimoji="1" lang="en-US" altLang="zh-CN" sz="1200" b="1" dirty="0">
                <a:latin typeface="微软雅黑" pitchFamily="34" charset="-122"/>
                <a:ea typeface="微软雅黑" pitchFamily="34" charset="-122"/>
              </a:rPr>
              <a:t>      15             </a:t>
            </a:r>
            <a:r>
              <a:rPr kumimoji="1" lang="zh-CN" altLang="en-US" sz="1200" b="1" dirty="0">
                <a:solidFill>
                  <a:srgbClr val="C00000"/>
                </a:solidFill>
                <a:latin typeface="微软雅黑" pitchFamily="34" charset="-122"/>
                <a:ea typeface="微软雅黑" pitchFamily="34" charset="-122"/>
              </a:rPr>
              <a:t>全 </a:t>
            </a:r>
            <a:r>
              <a:rPr kumimoji="1" lang="en-US" altLang="zh-CN" sz="1200" b="1" dirty="0">
                <a:solidFill>
                  <a:srgbClr val="C00000"/>
                </a:solidFill>
                <a:latin typeface="微软雅黑" pitchFamily="34" charset="-122"/>
                <a:ea typeface="微软雅黑" pitchFamily="34" charset="-122"/>
              </a:rPr>
              <a:t>0</a:t>
            </a:r>
          </a:p>
          <a:p>
            <a:pPr>
              <a:lnSpc>
                <a:spcPts val="1720"/>
              </a:lnSpc>
            </a:pPr>
            <a:r>
              <a:rPr kumimoji="1" lang="zh-CN" altLang="en-US" sz="1200" b="1" dirty="0">
                <a:latin typeface="微软雅黑" pitchFamily="34" charset="-122"/>
                <a:ea typeface="微软雅黑" pitchFamily="34" charset="-122"/>
              </a:rPr>
              <a:t>数据   数据    数据   数据</a:t>
            </a:r>
          </a:p>
          <a:p>
            <a:pPr>
              <a:lnSpc>
                <a:spcPts val="1720"/>
              </a:lnSpc>
            </a:pPr>
            <a:r>
              <a:rPr kumimoji="1" lang="zh-CN" altLang="en-US" sz="1200" b="1" dirty="0">
                <a:latin typeface="微软雅黑" pitchFamily="34" charset="-122"/>
                <a:ea typeface="微软雅黑" pitchFamily="34" charset="-122"/>
              </a:rPr>
              <a:t>数据   数据    数据   全 </a:t>
            </a:r>
            <a:r>
              <a:rPr kumimoji="1" lang="en-US" altLang="zh-CN" sz="1200" b="1" dirty="0">
                <a:latin typeface="微软雅黑" pitchFamily="34" charset="-122"/>
                <a:ea typeface="微软雅黑" pitchFamily="34" charset="-122"/>
              </a:rPr>
              <a:t>0</a:t>
            </a:r>
          </a:p>
        </p:txBody>
      </p:sp>
      <p:sp>
        <p:nvSpPr>
          <p:cNvPr id="35" name="标题 34">
            <a:extLst>
              <a:ext uri="{FF2B5EF4-FFF2-40B4-BE49-F238E27FC236}">
                <a16:creationId xmlns:a16="http://schemas.microsoft.com/office/drawing/2014/main" id="{3D89EAA3-8649-14A6-BC6C-869C0F61163E}"/>
              </a:ext>
            </a:extLst>
          </p:cNvPr>
          <p:cNvSpPr>
            <a:spLocks noGrp="1"/>
          </p:cNvSpPr>
          <p:nvPr>
            <p:ph type="title"/>
          </p:nvPr>
        </p:nvSpPr>
        <p:spPr>
          <a:xfrm>
            <a:off x="2808000" y="144000"/>
            <a:ext cx="3528000" cy="338554"/>
          </a:xfrm>
        </p:spPr>
        <p:txBody>
          <a:bodyPr/>
          <a:lstStyle/>
          <a:p>
            <a:r>
              <a:rPr lang="zh-CN" altLang="en-US" dirty="0"/>
              <a:t>计算 </a:t>
            </a:r>
            <a:r>
              <a:rPr lang="en-US" altLang="zh-CN" dirty="0"/>
              <a:t>UDP </a:t>
            </a:r>
            <a:r>
              <a:rPr lang="zh-CN" altLang="en-US" dirty="0"/>
              <a:t>检验和的例子</a:t>
            </a:r>
          </a:p>
        </p:txBody>
      </p:sp>
    </p:spTree>
    <p:extLst>
      <p:ext uri="{BB962C8B-B14F-4D97-AF65-F5344CB8AC3E}">
        <p14:creationId xmlns:p14="http://schemas.microsoft.com/office/powerpoint/2010/main" val="25978070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1FF99-2F87-8640-F39F-3CC5E9E144BD}"/>
            </a:ext>
          </a:extLst>
        </p:cNvPr>
        <p:cNvGrpSpPr/>
        <p:nvPr/>
      </p:nvGrpSpPr>
      <p:grpSpPr>
        <a:xfrm>
          <a:off x="0" y="0"/>
          <a:ext cx="0" cy="0"/>
          <a:chOff x="0" y="0"/>
          <a:chExt cx="0" cy="0"/>
        </a:xfrm>
      </p:grpSpPr>
      <p:grpSp>
        <p:nvGrpSpPr>
          <p:cNvPr id="42" name="组合 41">
            <a:extLst>
              <a:ext uri="{FF2B5EF4-FFF2-40B4-BE49-F238E27FC236}">
                <a16:creationId xmlns:a16="http://schemas.microsoft.com/office/drawing/2014/main" id="{0F924299-1493-C114-735E-80AE282E3A2B}"/>
              </a:ext>
            </a:extLst>
          </p:cNvPr>
          <p:cNvGrpSpPr/>
          <p:nvPr/>
        </p:nvGrpSpPr>
        <p:grpSpPr>
          <a:xfrm>
            <a:off x="2809248" y="1099293"/>
            <a:ext cx="4838720" cy="3287054"/>
            <a:chOff x="2662944" y="1099293"/>
            <a:chExt cx="4838720" cy="3287054"/>
          </a:xfrm>
        </p:grpSpPr>
        <p:sp>
          <p:nvSpPr>
            <p:cNvPr id="7" name="Text Box 7">
              <a:extLst>
                <a:ext uri="{FF2B5EF4-FFF2-40B4-BE49-F238E27FC236}">
                  <a16:creationId xmlns:a16="http://schemas.microsoft.com/office/drawing/2014/main" id="{54F517C5-7A21-8BC3-4192-E96D8112CDE9}"/>
                </a:ext>
              </a:extLst>
            </p:cNvPr>
            <p:cNvSpPr txBox="1">
              <a:spLocks noChangeArrowheads="1"/>
            </p:cNvSpPr>
            <p:nvPr/>
          </p:nvSpPr>
          <p:spPr bwMode="auto">
            <a:xfrm>
              <a:off x="4320743" y="1099293"/>
              <a:ext cx="3180921" cy="328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1200" dirty="0">
                  <a:latin typeface="Calibri" panose="020F0502020204030204" pitchFamily="34" charset="0"/>
                  <a:ea typeface="Calibri" panose="020F0502020204030204" pitchFamily="34" charset="0"/>
                  <a:cs typeface="Calibri" panose="020F0502020204030204" pitchFamily="34" charset="0"/>
                </a:rPr>
                <a:t>10011001 00010011  →  153.19</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00001000 01101000  →  8.104</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10101011 00000011  →  171.3</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00001110 00001011  →  14.11</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00000000 00010001  →  0 </a:t>
              </a:r>
              <a:r>
                <a:rPr kumimoji="1" lang="zh-CN" altLang="en-US" sz="1200" dirty="0">
                  <a:latin typeface="Calibri" panose="020F0502020204030204" pitchFamily="34" charset="0"/>
                  <a:ea typeface="微软雅黑" pitchFamily="34" charset="-122"/>
                  <a:cs typeface="Calibri" panose="020F0502020204030204" pitchFamily="34" charset="0"/>
                </a:rPr>
                <a:t>和 </a:t>
              </a:r>
              <a:r>
                <a:rPr kumimoji="1" lang="en-US" altLang="zh-CN" sz="1200" dirty="0">
                  <a:latin typeface="Calibri" panose="020F0502020204030204" pitchFamily="34" charset="0"/>
                  <a:ea typeface="Calibri" panose="020F0502020204030204" pitchFamily="34" charset="0"/>
                  <a:cs typeface="Calibri" panose="020F0502020204030204" pitchFamily="34" charset="0"/>
                </a:rPr>
                <a:t>17</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00000000 00001111  →  15</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00000100 00111111  →  1087</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00000000 00001101  →  13</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00000000 00001111  →  15</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00000000 00000000  →  0</a:t>
              </a:r>
              <a:r>
                <a:rPr kumimoji="1" lang="zh-CN" altLang="en-US" sz="1200" dirty="0">
                  <a:latin typeface="Calibri" panose="020F0502020204030204" pitchFamily="34" charset="0"/>
                  <a:ea typeface="微软雅黑" pitchFamily="34" charset="-122"/>
                  <a:cs typeface="Calibri" panose="020F0502020204030204" pitchFamily="34" charset="0"/>
                </a:rPr>
                <a:t>（检验和）</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01010100 01000101  →  </a:t>
              </a:r>
              <a:r>
                <a:rPr kumimoji="1" lang="zh-CN" altLang="en-US" sz="1200" dirty="0">
                  <a:latin typeface="Calibri" panose="020F0502020204030204" pitchFamily="34" charset="0"/>
                  <a:ea typeface="微软雅黑" pitchFamily="34" charset="-122"/>
                  <a:cs typeface="Calibri" panose="020F0502020204030204" pitchFamily="34" charset="0"/>
                </a:rPr>
                <a:t>数据</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01010011 01010100  →  </a:t>
              </a:r>
              <a:r>
                <a:rPr kumimoji="1" lang="zh-CN" altLang="en-US" sz="1200" dirty="0">
                  <a:latin typeface="Calibri" panose="020F0502020204030204" pitchFamily="34" charset="0"/>
                  <a:ea typeface="微软雅黑" pitchFamily="34" charset="-122"/>
                  <a:cs typeface="Calibri" panose="020F0502020204030204" pitchFamily="34" charset="0"/>
                </a:rPr>
                <a:t>数据</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01001001 01001110  →  </a:t>
              </a:r>
              <a:r>
                <a:rPr kumimoji="1" lang="zh-CN" altLang="en-US" sz="1200" dirty="0">
                  <a:latin typeface="Calibri" panose="020F0502020204030204" pitchFamily="34" charset="0"/>
                  <a:ea typeface="微软雅黑" pitchFamily="34" charset="-122"/>
                  <a:cs typeface="Calibri" panose="020F0502020204030204" pitchFamily="34" charset="0"/>
                </a:rPr>
                <a:t>数据</a:t>
              </a: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01000111 00000000  →  </a:t>
              </a:r>
              <a:r>
                <a:rPr kumimoji="1" lang="zh-CN" altLang="en-US" sz="1200" dirty="0">
                  <a:latin typeface="Calibri" panose="020F0502020204030204" pitchFamily="34" charset="0"/>
                  <a:ea typeface="微软雅黑" pitchFamily="34" charset="-122"/>
                  <a:cs typeface="Calibri" panose="020F0502020204030204" pitchFamily="34" charset="0"/>
                </a:rPr>
                <a:t>数据和 </a:t>
              </a:r>
              <a:r>
                <a:rPr kumimoji="1" lang="en-US" altLang="zh-CN" sz="1200" dirty="0">
                  <a:latin typeface="Calibri" panose="020F0502020204030204" pitchFamily="34" charset="0"/>
                  <a:ea typeface="Calibri" panose="020F0502020204030204" pitchFamily="34" charset="0"/>
                  <a:cs typeface="Calibri" panose="020F0502020204030204" pitchFamily="34" charset="0"/>
                </a:rPr>
                <a:t>0</a:t>
              </a:r>
              <a:r>
                <a:rPr kumimoji="1" lang="zh-CN" altLang="en-US" sz="1200" dirty="0">
                  <a:latin typeface="Calibri" panose="020F0502020204030204" pitchFamily="34" charset="0"/>
                  <a:ea typeface="微软雅黑" pitchFamily="34" charset="-122"/>
                  <a:cs typeface="Calibri" panose="020F0502020204030204" pitchFamily="34" charset="0"/>
                </a:rPr>
                <a:t>（填充）</a:t>
              </a:r>
            </a:p>
            <a:p>
              <a:endParaRPr kumimoji="1" lang="zh-CN" altLang="en-US" sz="1200" dirty="0">
                <a:latin typeface="Calibri" panose="020F0502020204030204" pitchFamily="34" charset="0"/>
                <a:ea typeface="微软雅黑" pitchFamily="34" charset="-122"/>
                <a:cs typeface="Calibri" panose="020F0502020204030204" pitchFamily="34" charset="0"/>
              </a:endParaRPr>
            </a:p>
            <a:p>
              <a:r>
                <a:rPr kumimoji="1" lang="en-US" altLang="zh-CN" sz="1200" dirty="0">
                  <a:latin typeface="Calibri" panose="020F0502020204030204" pitchFamily="34" charset="0"/>
                  <a:ea typeface="Calibri" panose="020F0502020204030204" pitchFamily="34" charset="0"/>
                  <a:cs typeface="Calibri" panose="020F0502020204030204" pitchFamily="34" charset="0"/>
                </a:rPr>
                <a:t>10010110 11101101  →  </a:t>
              </a:r>
              <a:r>
                <a:rPr kumimoji="1" lang="zh-CN" altLang="en-US" sz="1200" dirty="0">
                  <a:latin typeface="Calibri" panose="020F0502020204030204" pitchFamily="34" charset="0"/>
                  <a:ea typeface="微软雅黑" pitchFamily="34" charset="-122"/>
                  <a:cs typeface="Calibri" panose="020F0502020204030204" pitchFamily="34" charset="0"/>
                </a:rPr>
                <a:t>求和得出的结果</a:t>
              </a:r>
            </a:p>
            <a:p>
              <a:pPr>
                <a:lnSpc>
                  <a:spcPct val="130000"/>
                </a:lnSpc>
              </a:pPr>
              <a:r>
                <a:rPr kumimoji="1" lang="en-US" altLang="zh-CN" sz="1200" dirty="0">
                  <a:latin typeface="Calibri" panose="020F0502020204030204" pitchFamily="34" charset="0"/>
                  <a:ea typeface="Calibri" panose="020F0502020204030204" pitchFamily="34" charset="0"/>
                  <a:cs typeface="Calibri" panose="020F0502020204030204" pitchFamily="34" charset="0"/>
                </a:rPr>
                <a:t>01101001 00010010  →  </a:t>
              </a:r>
              <a:r>
                <a:rPr kumimoji="1" lang="zh-CN" altLang="en-US" sz="1200" dirty="0">
                  <a:latin typeface="Calibri" panose="020F0502020204030204" pitchFamily="34" charset="0"/>
                  <a:ea typeface="微软雅黑" pitchFamily="34" charset="-122"/>
                  <a:cs typeface="Calibri" panose="020F0502020204030204" pitchFamily="34" charset="0"/>
                </a:rPr>
                <a:t>检验和 </a:t>
              </a:r>
            </a:p>
          </p:txBody>
        </p:sp>
        <p:sp>
          <p:nvSpPr>
            <p:cNvPr id="32" name="Line 30">
              <a:extLst>
                <a:ext uri="{FF2B5EF4-FFF2-40B4-BE49-F238E27FC236}">
                  <a16:creationId xmlns:a16="http://schemas.microsoft.com/office/drawing/2014/main" id="{BA1646D6-73C4-3510-F81D-98170D89638A}"/>
                </a:ext>
              </a:extLst>
            </p:cNvPr>
            <p:cNvSpPr>
              <a:spLocks noChangeShapeType="1"/>
            </p:cNvSpPr>
            <p:nvPr/>
          </p:nvSpPr>
          <p:spPr bwMode="auto">
            <a:xfrm flipV="1">
              <a:off x="4235251" y="3795900"/>
              <a:ext cx="3164240" cy="577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Calibri" panose="020F0502020204030204" pitchFamily="34" charset="0"/>
                <a:ea typeface="微软雅黑" pitchFamily="34" charset="-122"/>
                <a:cs typeface="Calibri" panose="020F0502020204030204" pitchFamily="34" charset="0"/>
              </a:endParaRPr>
            </a:p>
          </p:txBody>
        </p:sp>
        <p:sp>
          <p:nvSpPr>
            <p:cNvPr id="33" name="Text Box 31">
              <a:extLst>
                <a:ext uri="{FF2B5EF4-FFF2-40B4-BE49-F238E27FC236}">
                  <a16:creationId xmlns:a16="http://schemas.microsoft.com/office/drawing/2014/main" id="{ABB05A92-A9EE-3129-D7C9-98F914654666}"/>
                </a:ext>
              </a:extLst>
            </p:cNvPr>
            <p:cNvSpPr txBox="1">
              <a:spLocks noChangeArrowheads="1"/>
            </p:cNvSpPr>
            <p:nvPr/>
          </p:nvSpPr>
          <p:spPr bwMode="auto">
            <a:xfrm>
              <a:off x="2662944" y="3848835"/>
              <a:ext cx="1723549" cy="4936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zh-CN" altLang="en-US" sz="1200" dirty="0">
                  <a:latin typeface="Calibri" panose="020F0502020204030204" pitchFamily="34" charset="0"/>
                  <a:ea typeface="微软雅黑" pitchFamily="34" charset="-122"/>
                  <a:cs typeface="Calibri" panose="020F0502020204030204" pitchFamily="34" charset="0"/>
                </a:rPr>
                <a:t>按二进制反码运算求和</a:t>
              </a:r>
            </a:p>
            <a:p>
              <a:pPr algn="r">
                <a:lnSpc>
                  <a:spcPct val="130000"/>
                </a:lnSpc>
              </a:pPr>
              <a:r>
                <a:rPr kumimoji="1" lang="zh-CN" altLang="en-US" sz="1200" dirty="0">
                  <a:latin typeface="Calibri" panose="020F0502020204030204" pitchFamily="34" charset="0"/>
                  <a:ea typeface="微软雅黑" pitchFamily="34" charset="-122"/>
                  <a:cs typeface="Calibri" panose="020F0502020204030204" pitchFamily="34" charset="0"/>
                </a:rPr>
                <a:t>将得出的结果求反码</a:t>
              </a:r>
            </a:p>
          </p:txBody>
        </p:sp>
      </p:grpSp>
      <p:grpSp>
        <p:nvGrpSpPr>
          <p:cNvPr id="37" name="组合 36">
            <a:extLst>
              <a:ext uri="{FF2B5EF4-FFF2-40B4-BE49-F238E27FC236}">
                <a16:creationId xmlns:a16="http://schemas.microsoft.com/office/drawing/2014/main" id="{1F1989C5-FBF5-0474-DB62-EE2FB277593C}"/>
              </a:ext>
            </a:extLst>
          </p:cNvPr>
          <p:cNvGrpSpPr/>
          <p:nvPr/>
        </p:nvGrpSpPr>
        <p:grpSpPr>
          <a:xfrm>
            <a:off x="1520962" y="1309482"/>
            <a:ext cx="2679279" cy="1597202"/>
            <a:chOff x="1703572" y="1280222"/>
            <a:chExt cx="2437559" cy="1453105"/>
          </a:xfrm>
        </p:grpSpPr>
        <p:sp>
          <p:nvSpPr>
            <p:cNvPr id="6" name="Rectangle 35">
              <a:extLst>
                <a:ext uri="{FF2B5EF4-FFF2-40B4-BE49-F238E27FC236}">
                  <a16:creationId xmlns:a16="http://schemas.microsoft.com/office/drawing/2014/main" id="{08DC8278-1AE7-FFC0-3EA8-428BD40405CC}"/>
                </a:ext>
              </a:extLst>
            </p:cNvPr>
            <p:cNvSpPr>
              <a:spLocks noChangeArrowheads="1"/>
            </p:cNvSpPr>
            <p:nvPr/>
          </p:nvSpPr>
          <p:spPr bwMode="auto">
            <a:xfrm>
              <a:off x="2438255" y="1903528"/>
              <a:ext cx="1688985" cy="431467"/>
            </a:xfrm>
            <a:prstGeom prst="rect">
              <a:avLst/>
            </a:prstGeom>
            <a:noFill/>
            <a:ln>
              <a:noFill/>
            </a:ln>
            <a:effec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8" name="Freeform 5">
              <a:extLst>
                <a:ext uri="{FF2B5EF4-FFF2-40B4-BE49-F238E27FC236}">
                  <a16:creationId xmlns:a16="http://schemas.microsoft.com/office/drawing/2014/main" id="{A578BF9A-83D6-74F5-984A-42AC23ED4867}"/>
                </a:ext>
              </a:extLst>
            </p:cNvPr>
            <p:cNvSpPr>
              <a:spLocks/>
            </p:cNvSpPr>
            <p:nvPr/>
          </p:nvSpPr>
          <p:spPr bwMode="auto">
            <a:xfrm>
              <a:off x="2435465" y="2324409"/>
              <a:ext cx="1705666" cy="408051"/>
            </a:xfrm>
            <a:custGeom>
              <a:avLst/>
              <a:gdLst>
                <a:gd name="T0" fmla="*/ 0 w 1536"/>
                <a:gd name="T1" fmla="*/ 0 h 480"/>
                <a:gd name="T2" fmla="*/ 1536 w 1536"/>
                <a:gd name="T3" fmla="*/ 0 h 480"/>
                <a:gd name="T4" fmla="*/ 1536 w 1536"/>
                <a:gd name="T5" fmla="*/ 240 h 480"/>
                <a:gd name="T6" fmla="*/ 1152 w 1536"/>
                <a:gd name="T7" fmla="*/ 240 h 480"/>
                <a:gd name="T8" fmla="*/ 1152 w 1536"/>
                <a:gd name="T9" fmla="*/ 480 h 480"/>
                <a:gd name="T10" fmla="*/ 0 w 1536"/>
                <a:gd name="T11" fmla="*/ 480 h 480"/>
                <a:gd name="T12" fmla="*/ 0 w 1536"/>
                <a:gd name="T13" fmla="*/ 0 h 480"/>
              </a:gdLst>
              <a:ahLst/>
              <a:cxnLst>
                <a:cxn ang="0">
                  <a:pos x="T0" y="T1"/>
                </a:cxn>
                <a:cxn ang="0">
                  <a:pos x="T2" y="T3"/>
                </a:cxn>
                <a:cxn ang="0">
                  <a:pos x="T4" y="T5"/>
                </a:cxn>
                <a:cxn ang="0">
                  <a:pos x="T6" y="T7"/>
                </a:cxn>
                <a:cxn ang="0">
                  <a:pos x="T8" y="T9"/>
                </a:cxn>
                <a:cxn ang="0">
                  <a:pos x="T10" y="T11"/>
                </a:cxn>
                <a:cxn ang="0">
                  <a:pos x="T12" y="T13"/>
                </a:cxn>
              </a:cxnLst>
              <a:rect l="0" t="0" r="r" b="b"/>
              <a:pathLst>
                <a:path w="1536" h="480">
                  <a:moveTo>
                    <a:pt x="0" y="0"/>
                  </a:moveTo>
                  <a:lnTo>
                    <a:pt x="1536" y="0"/>
                  </a:lnTo>
                  <a:lnTo>
                    <a:pt x="1536" y="240"/>
                  </a:lnTo>
                  <a:lnTo>
                    <a:pt x="1152" y="240"/>
                  </a:lnTo>
                  <a:lnTo>
                    <a:pt x="1152" y="480"/>
                  </a:lnTo>
                  <a:lnTo>
                    <a:pt x="0" y="480"/>
                  </a:lnTo>
                  <a:lnTo>
                    <a:pt x="0" y="0"/>
                  </a:lnTo>
                  <a:close/>
                </a:path>
              </a:pathLst>
            </a:custGeom>
            <a:no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9" name="Rectangle 6">
              <a:extLst>
                <a:ext uri="{FF2B5EF4-FFF2-40B4-BE49-F238E27FC236}">
                  <a16:creationId xmlns:a16="http://schemas.microsoft.com/office/drawing/2014/main" id="{A2125F9F-94E5-E44F-7836-974B8A649DB7}"/>
                </a:ext>
              </a:extLst>
            </p:cNvPr>
            <p:cNvSpPr>
              <a:spLocks noChangeArrowheads="1"/>
            </p:cNvSpPr>
            <p:nvPr/>
          </p:nvSpPr>
          <p:spPr bwMode="auto">
            <a:xfrm>
              <a:off x="2435465" y="1303319"/>
              <a:ext cx="1705666" cy="612077"/>
            </a:xfrm>
            <a:prstGeom prst="rect">
              <a:avLst/>
            </a:prstGeom>
            <a:noFill/>
            <a:ln>
              <a:noFill/>
            </a:ln>
            <a:effec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0" name="Rectangle 8">
              <a:extLst>
                <a:ext uri="{FF2B5EF4-FFF2-40B4-BE49-F238E27FC236}">
                  <a16:creationId xmlns:a16="http://schemas.microsoft.com/office/drawing/2014/main" id="{DC877491-5843-411B-EBEA-94D41D449391}"/>
                </a:ext>
              </a:extLst>
            </p:cNvPr>
            <p:cNvSpPr>
              <a:spLocks noChangeArrowheads="1"/>
            </p:cNvSpPr>
            <p:nvPr/>
          </p:nvSpPr>
          <p:spPr bwMode="auto">
            <a:xfrm>
              <a:off x="2436508" y="1287920"/>
              <a:ext cx="1702538" cy="144069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1" name="Line 9">
              <a:extLst>
                <a:ext uri="{FF2B5EF4-FFF2-40B4-BE49-F238E27FC236}">
                  <a16:creationId xmlns:a16="http://schemas.microsoft.com/office/drawing/2014/main" id="{8FA7A823-AE8A-5FBB-402F-29798C4F7085}"/>
                </a:ext>
              </a:extLst>
            </p:cNvPr>
            <p:cNvSpPr>
              <a:spLocks noChangeShapeType="1"/>
            </p:cNvSpPr>
            <p:nvPr/>
          </p:nvSpPr>
          <p:spPr bwMode="auto">
            <a:xfrm>
              <a:off x="2435465" y="1507344"/>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2" name="Line 10">
              <a:extLst>
                <a:ext uri="{FF2B5EF4-FFF2-40B4-BE49-F238E27FC236}">
                  <a16:creationId xmlns:a16="http://schemas.microsoft.com/office/drawing/2014/main" id="{7CB31BE8-1EE2-8F73-EE5E-CB81221F94A3}"/>
                </a:ext>
              </a:extLst>
            </p:cNvPr>
            <p:cNvSpPr>
              <a:spLocks noChangeShapeType="1"/>
            </p:cNvSpPr>
            <p:nvPr/>
          </p:nvSpPr>
          <p:spPr bwMode="auto">
            <a:xfrm>
              <a:off x="2435465" y="1711370"/>
              <a:ext cx="1705666" cy="9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3" name="Line 11">
              <a:extLst>
                <a:ext uri="{FF2B5EF4-FFF2-40B4-BE49-F238E27FC236}">
                  <a16:creationId xmlns:a16="http://schemas.microsoft.com/office/drawing/2014/main" id="{50076565-18A0-CC04-CD87-2F01E33617FE}"/>
                </a:ext>
              </a:extLst>
            </p:cNvPr>
            <p:cNvSpPr>
              <a:spLocks noChangeShapeType="1"/>
            </p:cNvSpPr>
            <p:nvPr/>
          </p:nvSpPr>
          <p:spPr bwMode="auto">
            <a:xfrm>
              <a:off x="2435465" y="1915395"/>
              <a:ext cx="1705666" cy="963"/>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4" name="Line 12">
              <a:extLst>
                <a:ext uri="{FF2B5EF4-FFF2-40B4-BE49-F238E27FC236}">
                  <a16:creationId xmlns:a16="http://schemas.microsoft.com/office/drawing/2014/main" id="{606AC02D-B6E5-5BB3-F1E7-77EDFED22E40}"/>
                </a:ext>
              </a:extLst>
            </p:cNvPr>
            <p:cNvSpPr>
              <a:spLocks noChangeShapeType="1"/>
            </p:cNvSpPr>
            <p:nvPr/>
          </p:nvSpPr>
          <p:spPr bwMode="auto">
            <a:xfrm>
              <a:off x="2435465" y="2120384"/>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5" name="Line 13">
              <a:extLst>
                <a:ext uri="{FF2B5EF4-FFF2-40B4-BE49-F238E27FC236}">
                  <a16:creationId xmlns:a16="http://schemas.microsoft.com/office/drawing/2014/main" id="{2CD10EEC-45AD-AEC8-6E77-8204DFA5DC4E}"/>
                </a:ext>
              </a:extLst>
            </p:cNvPr>
            <p:cNvSpPr>
              <a:spLocks noChangeShapeType="1"/>
            </p:cNvSpPr>
            <p:nvPr/>
          </p:nvSpPr>
          <p:spPr bwMode="auto">
            <a:xfrm>
              <a:off x="2435465" y="2324410"/>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6" name="Line 14">
              <a:extLst>
                <a:ext uri="{FF2B5EF4-FFF2-40B4-BE49-F238E27FC236}">
                  <a16:creationId xmlns:a16="http://schemas.microsoft.com/office/drawing/2014/main" id="{F31CBD67-C869-1C53-771E-B3BDEDD784C2}"/>
                </a:ext>
              </a:extLst>
            </p:cNvPr>
            <p:cNvSpPr>
              <a:spLocks noChangeShapeType="1"/>
            </p:cNvSpPr>
            <p:nvPr/>
          </p:nvSpPr>
          <p:spPr bwMode="auto">
            <a:xfrm>
              <a:off x="2435465" y="2528435"/>
              <a:ext cx="1705666" cy="9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7" name="Line 15">
              <a:extLst>
                <a:ext uri="{FF2B5EF4-FFF2-40B4-BE49-F238E27FC236}">
                  <a16:creationId xmlns:a16="http://schemas.microsoft.com/office/drawing/2014/main" id="{08CC66CB-3A0A-6A06-215F-BA96BD4BFD2C}"/>
                </a:ext>
              </a:extLst>
            </p:cNvPr>
            <p:cNvSpPr>
              <a:spLocks noChangeShapeType="1"/>
            </p:cNvSpPr>
            <p:nvPr/>
          </p:nvSpPr>
          <p:spPr bwMode="auto">
            <a:xfrm>
              <a:off x="3288298" y="1711370"/>
              <a:ext cx="0" cy="10210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8" name="Line 16">
              <a:extLst>
                <a:ext uri="{FF2B5EF4-FFF2-40B4-BE49-F238E27FC236}">
                  <a16:creationId xmlns:a16="http://schemas.microsoft.com/office/drawing/2014/main" id="{5FA06387-9B9F-981C-311D-AF1E680BD655}"/>
                </a:ext>
              </a:extLst>
            </p:cNvPr>
            <p:cNvSpPr>
              <a:spLocks noChangeShapeType="1"/>
            </p:cNvSpPr>
            <p:nvPr/>
          </p:nvSpPr>
          <p:spPr bwMode="auto">
            <a:xfrm>
              <a:off x="3713672" y="2324409"/>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19" name="Line 17">
              <a:extLst>
                <a:ext uri="{FF2B5EF4-FFF2-40B4-BE49-F238E27FC236}">
                  <a16:creationId xmlns:a16="http://schemas.microsoft.com/office/drawing/2014/main" id="{9FF4A1C1-DBE9-D7A3-8E26-9966FB942D7D}"/>
                </a:ext>
              </a:extLst>
            </p:cNvPr>
            <p:cNvSpPr>
              <a:spLocks noChangeShapeType="1"/>
            </p:cNvSpPr>
            <p:nvPr/>
          </p:nvSpPr>
          <p:spPr bwMode="auto">
            <a:xfrm>
              <a:off x="2854583" y="2325276"/>
              <a:ext cx="0" cy="40805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20" name="Line 18">
              <a:extLst>
                <a:ext uri="{FF2B5EF4-FFF2-40B4-BE49-F238E27FC236}">
                  <a16:creationId xmlns:a16="http://schemas.microsoft.com/office/drawing/2014/main" id="{0D05D3EF-C615-9ED3-C992-9415605A37C4}"/>
                </a:ext>
              </a:extLst>
            </p:cNvPr>
            <p:cNvSpPr>
              <a:spLocks noChangeShapeType="1"/>
            </p:cNvSpPr>
            <p:nvPr/>
          </p:nvSpPr>
          <p:spPr bwMode="auto">
            <a:xfrm>
              <a:off x="2861882" y="1711464"/>
              <a:ext cx="0" cy="2040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21" name="Text Box 19">
              <a:extLst>
                <a:ext uri="{FF2B5EF4-FFF2-40B4-BE49-F238E27FC236}">
                  <a16:creationId xmlns:a16="http://schemas.microsoft.com/office/drawing/2014/main" id="{275E9E12-C8B5-A0F7-C82C-E9F427AA108B}"/>
                </a:ext>
              </a:extLst>
            </p:cNvPr>
            <p:cNvSpPr txBox="1">
              <a:spLocks noChangeArrowheads="1"/>
            </p:cNvSpPr>
            <p:nvPr/>
          </p:nvSpPr>
          <p:spPr bwMode="auto">
            <a:xfrm>
              <a:off x="2767006" y="1291771"/>
              <a:ext cx="866572"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latin typeface="Calibri" panose="020F0502020204030204" pitchFamily="34" charset="0"/>
                  <a:ea typeface="Calibri" panose="020F0502020204030204" pitchFamily="34" charset="0"/>
                  <a:cs typeface="Calibri" panose="020F0502020204030204" pitchFamily="34" charset="0"/>
                </a:rPr>
                <a:t>153.19.8.104</a:t>
              </a:r>
            </a:p>
          </p:txBody>
        </p:sp>
        <p:sp>
          <p:nvSpPr>
            <p:cNvPr id="22" name="Text Box 20">
              <a:extLst>
                <a:ext uri="{FF2B5EF4-FFF2-40B4-BE49-F238E27FC236}">
                  <a16:creationId xmlns:a16="http://schemas.microsoft.com/office/drawing/2014/main" id="{86C46CB1-C6F4-A071-81E1-87B63C3901D1}"/>
                </a:ext>
              </a:extLst>
            </p:cNvPr>
            <p:cNvSpPr txBox="1">
              <a:spLocks noChangeArrowheads="1"/>
            </p:cNvSpPr>
            <p:nvPr/>
          </p:nvSpPr>
          <p:spPr bwMode="auto">
            <a:xfrm>
              <a:off x="2788901" y="1498684"/>
              <a:ext cx="789277" cy="23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100" dirty="0">
                  <a:latin typeface="Calibri" panose="020F0502020204030204" pitchFamily="34" charset="0"/>
                  <a:ea typeface="Calibri" panose="020F0502020204030204" pitchFamily="34" charset="0"/>
                  <a:cs typeface="Calibri" panose="020F0502020204030204" pitchFamily="34" charset="0"/>
                </a:rPr>
                <a:t>171.3.14.11</a:t>
              </a:r>
            </a:p>
          </p:txBody>
        </p:sp>
        <p:sp>
          <p:nvSpPr>
            <p:cNvPr id="23" name="AutoShape 22">
              <a:extLst>
                <a:ext uri="{FF2B5EF4-FFF2-40B4-BE49-F238E27FC236}">
                  <a16:creationId xmlns:a16="http://schemas.microsoft.com/office/drawing/2014/main" id="{7909A81E-7522-4252-45AE-7835BCF9E01A}"/>
                </a:ext>
              </a:extLst>
            </p:cNvPr>
            <p:cNvSpPr>
              <a:spLocks/>
            </p:cNvSpPr>
            <p:nvPr/>
          </p:nvSpPr>
          <p:spPr bwMode="auto">
            <a:xfrm>
              <a:off x="2342675" y="1280222"/>
              <a:ext cx="45874" cy="630362"/>
            </a:xfrm>
            <a:prstGeom prst="leftBrace">
              <a:avLst>
                <a:gd name="adj1" fmla="val 124053"/>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24" name="AutoShape 23">
              <a:extLst>
                <a:ext uri="{FF2B5EF4-FFF2-40B4-BE49-F238E27FC236}">
                  <a16:creationId xmlns:a16="http://schemas.microsoft.com/office/drawing/2014/main" id="{C827FE79-23C0-7538-C381-6722CF2E95F0}"/>
                </a:ext>
              </a:extLst>
            </p:cNvPr>
            <p:cNvSpPr>
              <a:spLocks/>
            </p:cNvSpPr>
            <p:nvPr/>
          </p:nvSpPr>
          <p:spPr bwMode="auto">
            <a:xfrm>
              <a:off x="2337462" y="1946192"/>
              <a:ext cx="51087" cy="366669"/>
            </a:xfrm>
            <a:prstGeom prst="leftBrace">
              <a:avLst>
                <a:gd name="adj1" fmla="val 64796"/>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25" name="AutoShape 24">
              <a:extLst>
                <a:ext uri="{FF2B5EF4-FFF2-40B4-BE49-F238E27FC236}">
                  <a16:creationId xmlns:a16="http://schemas.microsoft.com/office/drawing/2014/main" id="{1A42FEBB-0544-D851-33E7-CC19E42A5A32}"/>
                </a:ext>
              </a:extLst>
            </p:cNvPr>
            <p:cNvSpPr>
              <a:spLocks/>
            </p:cNvSpPr>
            <p:nvPr/>
          </p:nvSpPr>
          <p:spPr bwMode="auto">
            <a:xfrm>
              <a:off x="2341632" y="2334995"/>
              <a:ext cx="51087" cy="384954"/>
            </a:xfrm>
            <a:prstGeom prst="leftBrace">
              <a:avLst>
                <a:gd name="adj1" fmla="val 68027"/>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Calibri" panose="020F0502020204030204" pitchFamily="34" charset="0"/>
                <a:ea typeface="微软雅黑" pitchFamily="34" charset="-122"/>
                <a:cs typeface="Calibri" panose="020F0502020204030204" pitchFamily="34" charset="0"/>
              </a:endParaRPr>
            </a:p>
          </p:txBody>
        </p:sp>
        <p:sp>
          <p:nvSpPr>
            <p:cNvPr id="26" name="Text Box 25">
              <a:extLst>
                <a:ext uri="{FF2B5EF4-FFF2-40B4-BE49-F238E27FC236}">
                  <a16:creationId xmlns:a16="http://schemas.microsoft.com/office/drawing/2014/main" id="{0BC5827A-FB54-973C-0F46-E8866DB337B8}"/>
                </a:ext>
              </a:extLst>
            </p:cNvPr>
            <p:cNvSpPr txBox="1">
              <a:spLocks noChangeArrowheads="1"/>
            </p:cNvSpPr>
            <p:nvPr/>
          </p:nvSpPr>
          <p:spPr bwMode="auto">
            <a:xfrm>
              <a:off x="1703572" y="1375498"/>
              <a:ext cx="684978"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a:r>
                <a:rPr kumimoji="1" lang="en-US" altLang="zh-CN" sz="1100" dirty="0">
                  <a:latin typeface="Calibri" panose="020F0502020204030204" pitchFamily="34" charset="0"/>
                  <a:ea typeface="Calibri" panose="020F0502020204030204" pitchFamily="34" charset="0"/>
                  <a:cs typeface="Calibri" panose="020F0502020204030204" pitchFamily="34" charset="0"/>
                </a:rPr>
                <a:t>12 </a:t>
              </a:r>
              <a:r>
                <a:rPr kumimoji="1" lang="zh-CN" altLang="en-US" sz="1100" dirty="0">
                  <a:latin typeface="Calibri" panose="020F0502020204030204" pitchFamily="34" charset="0"/>
                  <a:ea typeface="微软雅黑" pitchFamily="34" charset="-122"/>
                  <a:cs typeface="Calibri" panose="020F0502020204030204" pitchFamily="34" charset="0"/>
                </a:rPr>
                <a:t>字节</a:t>
              </a:r>
            </a:p>
            <a:p>
              <a:pPr algn="r"/>
              <a:r>
                <a:rPr kumimoji="1" lang="zh-CN" altLang="en-US" sz="1100" dirty="0">
                  <a:latin typeface="Calibri" panose="020F0502020204030204" pitchFamily="34" charset="0"/>
                  <a:ea typeface="微软雅黑" pitchFamily="34" charset="-122"/>
                  <a:cs typeface="Calibri" panose="020F0502020204030204" pitchFamily="34" charset="0"/>
                </a:rPr>
                <a:t>伪首部</a:t>
              </a:r>
            </a:p>
          </p:txBody>
        </p:sp>
        <p:sp>
          <p:nvSpPr>
            <p:cNvPr id="27" name="Text Box 26">
              <a:extLst>
                <a:ext uri="{FF2B5EF4-FFF2-40B4-BE49-F238E27FC236}">
                  <a16:creationId xmlns:a16="http://schemas.microsoft.com/office/drawing/2014/main" id="{8DF54B97-AE4B-E92D-2E8B-48AA75A9D4C9}"/>
                </a:ext>
              </a:extLst>
            </p:cNvPr>
            <p:cNvSpPr txBox="1">
              <a:spLocks noChangeArrowheads="1"/>
            </p:cNvSpPr>
            <p:nvPr/>
          </p:nvSpPr>
          <p:spPr bwMode="auto">
            <a:xfrm>
              <a:off x="1708653" y="1889316"/>
              <a:ext cx="679897"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100" dirty="0">
                  <a:latin typeface="Calibri" panose="020F0502020204030204" pitchFamily="34" charset="0"/>
                  <a:ea typeface="Calibri" panose="020F0502020204030204" pitchFamily="34" charset="0"/>
                  <a:cs typeface="Calibri" panose="020F0502020204030204" pitchFamily="34" charset="0"/>
                </a:rPr>
                <a:t>8 </a:t>
              </a:r>
              <a:r>
                <a:rPr kumimoji="1" lang="zh-CN" altLang="en-US" sz="1100" dirty="0">
                  <a:latin typeface="Calibri" panose="020F0502020204030204" pitchFamily="34" charset="0"/>
                  <a:ea typeface="微软雅黑" pitchFamily="34" charset="-122"/>
                  <a:cs typeface="Calibri" panose="020F0502020204030204" pitchFamily="34" charset="0"/>
                </a:rPr>
                <a:t>字节</a:t>
              </a:r>
            </a:p>
            <a:p>
              <a:pPr algn="r"/>
              <a:r>
                <a:rPr kumimoji="1" lang="en-US" altLang="zh-CN" sz="1100" dirty="0">
                  <a:latin typeface="Calibri" panose="020F0502020204030204" pitchFamily="34" charset="0"/>
                  <a:ea typeface="Calibri" panose="020F0502020204030204" pitchFamily="34" charset="0"/>
                  <a:cs typeface="Calibri" panose="020F0502020204030204" pitchFamily="34" charset="0"/>
                </a:rPr>
                <a:t>UDP </a:t>
              </a:r>
              <a:r>
                <a:rPr kumimoji="1" lang="zh-CN" altLang="en-US" sz="1100" dirty="0">
                  <a:latin typeface="Calibri" panose="020F0502020204030204" pitchFamily="34" charset="0"/>
                  <a:ea typeface="微软雅黑" pitchFamily="34" charset="-122"/>
                  <a:cs typeface="Calibri" panose="020F0502020204030204" pitchFamily="34" charset="0"/>
                </a:rPr>
                <a:t>首部</a:t>
              </a:r>
            </a:p>
          </p:txBody>
        </p:sp>
        <p:sp>
          <p:nvSpPr>
            <p:cNvPr id="28" name="Text Box 27">
              <a:extLst>
                <a:ext uri="{FF2B5EF4-FFF2-40B4-BE49-F238E27FC236}">
                  <a16:creationId xmlns:a16="http://schemas.microsoft.com/office/drawing/2014/main" id="{8120E176-FC7B-C7B4-52A8-6C39AE549638}"/>
                </a:ext>
              </a:extLst>
            </p:cNvPr>
            <p:cNvSpPr txBox="1">
              <a:spLocks noChangeArrowheads="1"/>
            </p:cNvSpPr>
            <p:nvPr/>
          </p:nvSpPr>
          <p:spPr bwMode="auto">
            <a:xfrm>
              <a:off x="1869074" y="2334279"/>
              <a:ext cx="519475" cy="392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100" dirty="0">
                  <a:latin typeface="Calibri" panose="020F0502020204030204" pitchFamily="34" charset="0"/>
                  <a:ea typeface="Calibri" panose="020F0502020204030204" pitchFamily="34" charset="0"/>
                  <a:cs typeface="Calibri" panose="020F0502020204030204" pitchFamily="34" charset="0"/>
                </a:rPr>
                <a:t>7 </a:t>
              </a:r>
              <a:r>
                <a:rPr kumimoji="1" lang="zh-CN" altLang="en-US" sz="1100" dirty="0">
                  <a:latin typeface="Calibri" panose="020F0502020204030204" pitchFamily="34" charset="0"/>
                  <a:ea typeface="微软雅黑" pitchFamily="34" charset="-122"/>
                  <a:cs typeface="Calibri" panose="020F0502020204030204" pitchFamily="34" charset="0"/>
                </a:rPr>
                <a:t>字节</a:t>
              </a:r>
            </a:p>
            <a:p>
              <a:pPr algn="r"/>
              <a:r>
                <a:rPr kumimoji="1" lang="zh-CN" altLang="en-US" sz="1100" dirty="0">
                  <a:latin typeface="Calibri" panose="020F0502020204030204" pitchFamily="34" charset="0"/>
                  <a:ea typeface="微软雅黑" pitchFamily="34" charset="-122"/>
                  <a:cs typeface="Calibri" panose="020F0502020204030204" pitchFamily="34" charset="0"/>
                </a:rPr>
                <a:t>数据</a:t>
              </a:r>
            </a:p>
          </p:txBody>
        </p:sp>
      </p:grpSp>
      <p:sp>
        <p:nvSpPr>
          <p:cNvPr id="41" name="Text Box 21">
            <a:extLst>
              <a:ext uri="{FF2B5EF4-FFF2-40B4-BE49-F238E27FC236}">
                <a16:creationId xmlns:a16="http://schemas.microsoft.com/office/drawing/2014/main" id="{2222DA98-BC8A-19DB-2413-A1FA506FC1F7}"/>
              </a:ext>
            </a:extLst>
          </p:cNvPr>
          <p:cNvSpPr txBox="1">
            <a:spLocks noChangeArrowheads="1"/>
          </p:cNvSpPr>
          <p:nvPr/>
        </p:nvSpPr>
        <p:spPr bwMode="auto">
          <a:xfrm>
            <a:off x="2327764" y="1762003"/>
            <a:ext cx="1870186" cy="1182375"/>
          </a:xfrm>
          <a:prstGeom prst="rect">
            <a:avLst/>
          </a:prstGeom>
          <a:noFill/>
          <a:ln>
            <a:noFill/>
          </a:ln>
          <a:effectLst/>
        </p:spPr>
        <p:txBody>
          <a:bodyPr wrap="square">
            <a:spAutoFit/>
          </a:bodyPr>
          <a:lstStyle/>
          <a:p>
            <a:pPr>
              <a:lnSpc>
                <a:spcPts val="1720"/>
              </a:lnSpc>
            </a:pPr>
            <a:r>
              <a:rPr kumimoji="1" lang="zh-CN" altLang="en-US" sz="1200" dirty="0">
                <a:latin typeface="Calibri" panose="020F0502020204030204" pitchFamily="34" charset="0"/>
                <a:ea typeface="微软雅黑" pitchFamily="34" charset="-122"/>
                <a:cs typeface="Calibri" panose="020F0502020204030204" pitchFamily="34" charset="0"/>
              </a:rPr>
              <a:t>全 </a:t>
            </a:r>
            <a:r>
              <a:rPr kumimoji="1" lang="en-US" altLang="zh-CN" sz="1200" dirty="0">
                <a:latin typeface="Calibri" panose="020F0502020204030204" pitchFamily="34" charset="0"/>
                <a:ea typeface="Calibri" panose="020F0502020204030204" pitchFamily="34" charset="0"/>
                <a:cs typeface="Calibri" panose="020F0502020204030204" pitchFamily="34" charset="0"/>
              </a:rPr>
              <a:t>0         17           15 = 8+7</a:t>
            </a:r>
          </a:p>
          <a:p>
            <a:pPr>
              <a:lnSpc>
                <a:spcPts val="1720"/>
              </a:lnSpc>
            </a:pPr>
            <a:r>
              <a:rPr kumimoji="1" lang="en-US" altLang="zh-CN" sz="1200" dirty="0">
                <a:latin typeface="Calibri" panose="020F0502020204030204" pitchFamily="34" charset="0"/>
                <a:ea typeface="Calibri" panose="020F0502020204030204" pitchFamily="34" charset="0"/>
                <a:cs typeface="Calibri" panose="020F0502020204030204" pitchFamily="34" charset="0"/>
              </a:rPr>
              <a:t>       1087                    13</a:t>
            </a:r>
          </a:p>
          <a:p>
            <a:pPr>
              <a:lnSpc>
                <a:spcPts val="1720"/>
              </a:lnSpc>
            </a:pPr>
            <a:r>
              <a:rPr kumimoji="1" lang="en-US" altLang="zh-CN" sz="1200" dirty="0">
                <a:latin typeface="Calibri" panose="020F0502020204030204" pitchFamily="34" charset="0"/>
                <a:ea typeface="Calibri" panose="020F0502020204030204" pitchFamily="34" charset="0"/>
                <a:cs typeface="Calibri" panose="020F0502020204030204" pitchFamily="34" charset="0"/>
              </a:rPr>
              <a:t>    15 = 8+7                </a:t>
            </a:r>
            <a:r>
              <a:rPr kumimoji="1" lang="zh-CN" altLang="en-US" sz="1200" dirty="0">
                <a:solidFill>
                  <a:srgbClr val="C00000"/>
                </a:solidFill>
                <a:latin typeface="Calibri" panose="020F0502020204030204" pitchFamily="34" charset="0"/>
                <a:ea typeface="微软雅黑" pitchFamily="34" charset="-122"/>
                <a:cs typeface="Calibri" panose="020F0502020204030204" pitchFamily="34" charset="0"/>
              </a:rPr>
              <a:t>全 </a:t>
            </a:r>
            <a:r>
              <a:rPr kumimoji="1" lang="en-US" altLang="zh-CN" sz="1200" dirty="0">
                <a:solidFill>
                  <a:srgbClr val="C00000"/>
                </a:solidFill>
                <a:latin typeface="Calibri" panose="020F0502020204030204" pitchFamily="34" charset="0"/>
                <a:ea typeface="Calibri" panose="020F0502020204030204" pitchFamily="34" charset="0"/>
                <a:cs typeface="Calibri" panose="020F0502020204030204" pitchFamily="34" charset="0"/>
              </a:rPr>
              <a:t>0</a:t>
            </a:r>
          </a:p>
          <a:p>
            <a:pPr>
              <a:lnSpc>
                <a:spcPts val="1720"/>
              </a:lnSpc>
            </a:pPr>
            <a:r>
              <a:rPr kumimoji="1" lang="zh-CN" altLang="en-US" sz="1200" dirty="0">
                <a:latin typeface="Calibri" panose="020F0502020204030204" pitchFamily="34" charset="0"/>
                <a:ea typeface="微软雅黑" pitchFamily="34" charset="-122"/>
                <a:cs typeface="Calibri" panose="020F0502020204030204" pitchFamily="34" charset="0"/>
              </a:rPr>
              <a:t>数据    数据     数据    数据</a:t>
            </a:r>
          </a:p>
          <a:p>
            <a:pPr>
              <a:lnSpc>
                <a:spcPts val="1720"/>
              </a:lnSpc>
            </a:pPr>
            <a:r>
              <a:rPr kumimoji="1" lang="zh-CN" altLang="en-US" sz="1200" dirty="0">
                <a:latin typeface="Calibri" panose="020F0502020204030204" pitchFamily="34" charset="0"/>
                <a:ea typeface="微软雅黑" pitchFamily="34" charset="-122"/>
                <a:cs typeface="Calibri" panose="020F0502020204030204" pitchFamily="34" charset="0"/>
              </a:rPr>
              <a:t>数据    数据     数据    </a:t>
            </a:r>
            <a:r>
              <a:rPr kumimoji="1" lang="zh-CN" altLang="en-US" sz="1200" dirty="0">
                <a:solidFill>
                  <a:schemeClr val="tx2">
                    <a:lumMod val="60000"/>
                    <a:lumOff val="40000"/>
                  </a:schemeClr>
                </a:solidFill>
                <a:latin typeface="Calibri" panose="020F0502020204030204" pitchFamily="34" charset="0"/>
                <a:ea typeface="微软雅黑" pitchFamily="34" charset="-122"/>
                <a:cs typeface="Calibri" panose="020F0502020204030204" pitchFamily="34" charset="0"/>
              </a:rPr>
              <a:t>全 </a:t>
            </a:r>
            <a:r>
              <a:rPr kumimoji="1" lang="en-US" altLang="zh-CN" sz="1200" dirty="0">
                <a:solidFill>
                  <a:schemeClr val="tx2">
                    <a:lumMod val="60000"/>
                    <a:lumOff val="40000"/>
                  </a:schemeClr>
                </a:solidFill>
                <a:latin typeface="Calibri" panose="020F0502020204030204" pitchFamily="34" charset="0"/>
                <a:ea typeface="Calibri" panose="020F0502020204030204" pitchFamily="34" charset="0"/>
                <a:cs typeface="Calibri" panose="020F0502020204030204" pitchFamily="34" charset="0"/>
              </a:rPr>
              <a:t>0</a:t>
            </a:r>
          </a:p>
        </p:txBody>
      </p:sp>
      <p:sp>
        <p:nvSpPr>
          <p:cNvPr id="3" name="矩形 2">
            <a:extLst>
              <a:ext uri="{FF2B5EF4-FFF2-40B4-BE49-F238E27FC236}">
                <a16:creationId xmlns:a16="http://schemas.microsoft.com/office/drawing/2014/main" id="{8516D012-DB29-A708-5394-13BC4208FDF3}"/>
              </a:ext>
            </a:extLst>
          </p:cNvPr>
          <p:cNvSpPr/>
          <p:nvPr/>
        </p:nvSpPr>
        <p:spPr>
          <a:xfrm>
            <a:off x="1146412" y="948519"/>
            <a:ext cx="3235143" cy="23747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54041728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200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138071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10"/>
          <p:cNvSpPr>
            <a:spLocks noChangeArrowheads="1"/>
          </p:cNvSpPr>
          <p:nvPr/>
        </p:nvSpPr>
        <p:spPr bwMode="auto">
          <a:xfrm>
            <a:off x="2629135" y="198714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Line 16"/>
          <p:cNvSpPr>
            <a:spLocks noChangeShapeType="1"/>
          </p:cNvSpPr>
          <p:nvPr/>
        </p:nvSpPr>
        <p:spPr bwMode="auto">
          <a:xfrm>
            <a:off x="3637198" y="130927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 name="Rectangle 8"/>
          <p:cNvSpPr>
            <a:spLocks noChangeArrowheads="1"/>
          </p:cNvSpPr>
          <p:nvPr/>
        </p:nvSpPr>
        <p:spPr bwMode="auto">
          <a:xfrm>
            <a:off x="2700573" y="1126716"/>
            <a:ext cx="547211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5.3.1                                 TCP </a:t>
            </a:r>
            <a:r>
              <a:rPr lang="zh-CN" altLang="en-US" sz="2000" b="1" dirty="0">
                <a:solidFill>
                  <a:schemeClr val="bg1"/>
                </a:solidFill>
                <a:latin typeface="微软雅黑" pitchFamily="34" charset="-122"/>
                <a:ea typeface="微软雅黑" pitchFamily="34" charset="-122"/>
              </a:rPr>
              <a:t>最主要的特点</a:t>
            </a:r>
          </a:p>
          <a:p>
            <a:pPr eaLnBrk="0" hangingPunct="0">
              <a:lnSpc>
                <a:spcPct val="200000"/>
              </a:lnSpc>
            </a:pPr>
            <a:r>
              <a:rPr lang="en-US" altLang="zh-CN" sz="2000" b="1" dirty="0">
                <a:solidFill>
                  <a:schemeClr val="bg1"/>
                </a:solidFill>
                <a:latin typeface="微软雅黑" pitchFamily="34" charset="-122"/>
                <a:ea typeface="微软雅黑" pitchFamily="34" charset="-122"/>
              </a:rPr>
              <a:t>5.3.2                                           TCP </a:t>
            </a:r>
            <a:r>
              <a:rPr lang="zh-CN" altLang="en-US" sz="2000" b="1" dirty="0">
                <a:solidFill>
                  <a:schemeClr val="bg1"/>
                </a:solidFill>
                <a:latin typeface="微软雅黑" pitchFamily="34" charset="-122"/>
                <a:ea typeface="微软雅黑" pitchFamily="34" charset="-122"/>
              </a:rPr>
              <a:t>的连接</a:t>
            </a:r>
          </a:p>
        </p:txBody>
      </p:sp>
      <p:sp>
        <p:nvSpPr>
          <p:cNvPr id="6" name="Rectangle 27"/>
          <p:cNvSpPr>
            <a:spLocks noChangeArrowheads="1"/>
          </p:cNvSpPr>
          <p:nvPr/>
        </p:nvSpPr>
        <p:spPr bwMode="auto">
          <a:xfrm>
            <a:off x="639730" y="1380716"/>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7" name="Rectangle 29"/>
          <p:cNvSpPr>
            <a:spLocks noChangeArrowheads="1"/>
          </p:cNvSpPr>
          <p:nvPr/>
        </p:nvSpPr>
        <p:spPr bwMode="auto">
          <a:xfrm>
            <a:off x="648619" y="1475648"/>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5.3</a:t>
            </a:r>
          </a:p>
          <a:p>
            <a:pPr eaLnBrk="0" hangingPunct="0"/>
            <a:r>
              <a:rPr lang="zh-CN" altLang="en-US" sz="2000" b="1" dirty="0">
                <a:solidFill>
                  <a:schemeClr val="bg1"/>
                </a:solidFill>
                <a:latin typeface="微软雅黑" pitchFamily="34" charset="-122"/>
                <a:ea typeface="微软雅黑" pitchFamily="34" charset="-122"/>
              </a:rPr>
              <a:t>传输控制协议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概述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9205808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5E424-6981-6C96-0AF4-6AC6C0A7628A}"/>
            </a:ext>
          </a:extLst>
        </p:cNvPr>
        <p:cNvGrpSpPr/>
        <p:nvPr/>
      </p:nvGrpSpPr>
      <p:grpSpPr>
        <a:xfrm>
          <a:off x="0" y="0"/>
          <a:ext cx="0" cy="0"/>
          <a:chOff x="0" y="0"/>
          <a:chExt cx="0" cy="0"/>
        </a:xfrm>
      </p:grpSpPr>
      <p:sp>
        <p:nvSpPr>
          <p:cNvPr id="4" name="AutoShape 37">
            <a:extLst>
              <a:ext uri="{FF2B5EF4-FFF2-40B4-BE49-F238E27FC236}">
                <a16:creationId xmlns:a16="http://schemas.microsoft.com/office/drawing/2014/main" id="{15D18CE2-D9F7-5A68-770B-B2BCAF2C2BCC}"/>
              </a:ext>
            </a:extLst>
          </p:cNvPr>
          <p:cNvSpPr>
            <a:spLocks noChangeArrowheads="1"/>
          </p:cNvSpPr>
          <p:nvPr/>
        </p:nvSpPr>
        <p:spPr bwMode="auto">
          <a:xfrm rot="5400000">
            <a:off x="1471081" y="2850783"/>
            <a:ext cx="180000" cy="434478"/>
          </a:xfrm>
          <a:prstGeom prst="downArrow">
            <a:avLst>
              <a:gd name="adj1" fmla="val 50000"/>
              <a:gd name="adj2" fmla="val 49462"/>
            </a:avLst>
          </a:prstGeom>
          <a:solidFill>
            <a:schemeClr val="tx1">
              <a:lumMod val="50000"/>
              <a:lumOff val="50000"/>
            </a:schemeClr>
          </a:solidFill>
          <a:ln w="9525">
            <a:no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graphicFrame>
        <p:nvGraphicFramePr>
          <p:cNvPr id="26" name="表格 25">
            <a:extLst>
              <a:ext uri="{FF2B5EF4-FFF2-40B4-BE49-F238E27FC236}">
                <a16:creationId xmlns:a16="http://schemas.microsoft.com/office/drawing/2014/main" id="{5DAA255D-381C-2595-DCFB-E80397F98178}"/>
              </a:ext>
            </a:extLst>
          </p:cNvPr>
          <p:cNvGraphicFramePr>
            <a:graphicFrameLocks noGrp="1"/>
          </p:cNvGraphicFramePr>
          <p:nvPr>
            <p:extLst>
              <p:ext uri="{D42A27DB-BD31-4B8C-83A1-F6EECF244321}">
                <p14:modId xmlns:p14="http://schemas.microsoft.com/office/powerpoint/2010/main" val="3718123887"/>
              </p:ext>
            </p:extLst>
          </p:nvPr>
        </p:nvGraphicFramePr>
        <p:xfrm>
          <a:off x="2839640" y="2215962"/>
          <a:ext cx="3664599" cy="360000"/>
        </p:xfrm>
        <a:graphic>
          <a:graphicData uri="http://schemas.openxmlformats.org/drawingml/2006/table">
            <a:tbl>
              <a:tblPr firstRow="1" bandRow="1">
                <a:tableStyleId>{5C22544A-7EE6-4342-B048-85BDC9FD1C3A}</a:tableStyleId>
              </a:tblPr>
              <a:tblGrid>
                <a:gridCol w="1052453">
                  <a:extLst>
                    <a:ext uri="{9D8B030D-6E8A-4147-A177-3AD203B41FA5}">
                      <a16:colId xmlns:a16="http://schemas.microsoft.com/office/drawing/2014/main" val="3192344591"/>
                    </a:ext>
                  </a:extLst>
                </a:gridCol>
                <a:gridCol w="2612146">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TCP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TCP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r>
                        <a:rPr kumimoji="1" lang="en-US" altLang="zh-CN" sz="1200" b="0" dirty="0">
                          <a:solidFill>
                            <a:schemeClr val="tx1"/>
                          </a:solidFill>
                          <a:latin typeface="Montserrat" panose="00000500000000000000" pitchFamily="2" charset="0"/>
                          <a:ea typeface="微软雅黑 Light" panose="020B0502040204020203" pitchFamily="34" charset="-122"/>
                        </a:rPr>
                        <a:t>/MSSS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27" name="表格 26">
            <a:extLst>
              <a:ext uri="{FF2B5EF4-FFF2-40B4-BE49-F238E27FC236}">
                <a16:creationId xmlns:a16="http://schemas.microsoft.com/office/drawing/2014/main" id="{30D5DFA6-19F1-20C3-DEC2-7EB248123F7B}"/>
              </a:ext>
            </a:extLst>
          </p:cNvPr>
          <p:cNvGraphicFramePr>
            <a:graphicFrameLocks noGrp="1"/>
          </p:cNvGraphicFramePr>
          <p:nvPr/>
        </p:nvGraphicFramePr>
        <p:xfrm>
          <a:off x="3984239" y="1502791"/>
          <a:ext cx="2520000" cy="3600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1943595655"/>
                    </a:ext>
                  </a:extLst>
                </a:gridCol>
              </a:tblGrid>
              <a:tr h="360000">
                <a:tc>
                  <a:txBody>
                    <a:bodyPr/>
                    <a:lstStyle/>
                    <a:p>
                      <a:pPr algn="ctr"/>
                      <a:r>
                        <a:rPr kumimoji="1" lang="zh-CN" altLang="en-US" sz="1200" b="0" kern="1200" baseline="0" dirty="0">
                          <a:solidFill>
                            <a:schemeClr val="tx1"/>
                          </a:solidFill>
                          <a:latin typeface="Montserrat" panose="00000500000000000000" pitchFamily="2" charset="0"/>
                          <a:ea typeface="微软雅黑 Light" panose="020B0502040204020203" pitchFamily="34" charset="-122"/>
                          <a:cs typeface="+mn-cs"/>
                        </a:rPr>
                        <a:t>应用层报文</a:t>
                      </a:r>
                      <a:endParaRPr kumimoji="1" lang="zh-CN" altLang="en-US" sz="1200" dirty="0">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28" name="表格 27">
            <a:extLst>
              <a:ext uri="{FF2B5EF4-FFF2-40B4-BE49-F238E27FC236}">
                <a16:creationId xmlns:a16="http://schemas.microsoft.com/office/drawing/2014/main" id="{C8A5AC41-1906-D68C-0CEA-0065874CF13A}"/>
              </a:ext>
            </a:extLst>
          </p:cNvPr>
          <p:cNvGraphicFramePr>
            <a:graphicFrameLocks noGrp="1"/>
          </p:cNvGraphicFramePr>
          <p:nvPr/>
        </p:nvGraphicFramePr>
        <p:xfrm>
          <a:off x="1778320" y="2888022"/>
          <a:ext cx="4725919" cy="360000"/>
        </p:xfrm>
        <a:graphic>
          <a:graphicData uri="http://schemas.openxmlformats.org/drawingml/2006/table">
            <a:tbl>
              <a:tblPr firstRow="1" bandRow="1">
                <a:tableStyleId>{5C22544A-7EE6-4342-B048-85BDC9FD1C3A}</a:tableStyleId>
              </a:tblPr>
              <a:tblGrid>
                <a:gridCol w="998251">
                  <a:extLst>
                    <a:ext uri="{9D8B030D-6E8A-4147-A177-3AD203B41FA5}">
                      <a16:colId xmlns:a16="http://schemas.microsoft.com/office/drawing/2014/main" val="3192344591"/>
                    </a:ext>
                  </a:extLst>
                </a:gridCol>
                <a:gridCol w="3727668">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IP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75445671"/>
                  </a:ext>
                </a:extLst>
              </a:tr>
            </a:tbl>
          </a:graphicData>
        </a:graphic>
      </p:graphicFrame>
      <p:cxnSp>
        <p:nvCxnSpPr>
          <p:cNvPr id="3" name="直接连接符 2">
            <a:extLst>
              <a:ext uri="{FF2B5EF4-FFF2-40B4-BE49-F238E27FC236}">
                <a16:creationId xmlns:a16="http://schemas.microsoft.com/office/drawing/2014/main" id="{0CD4424D-0A05-7B44-3595-571647F9B166}"/>
              </a:ext>
            </a:extLst>
          </p:cNvPr>
          <p:cNvCxnSpPr>
            <a:cxnSpLocks/>
          </p:cNvCxnSpPr>
          <p:nvPr/>
        </p:nvCxnSpPr>
        <p:spPr>
          <a:xfrm>
            <a:off x="2839639" y="2726690"/>
            <a:ext cx="3664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 name="直接连接符 4">
            <a:extLst>
              <a:ext uri="{FF2B5EF4-FFF2-40B4-BE49-F238E27FC236}">
                <a16:creationId xmlns:a16="http://schemas.microsoft.com/office/drawing/2014/main" id="{24E979F8-6722-5EDB-E479-FF12C3B839BB}"/>
              </a:ext>
            </a:extLst>
          </p:cNvPr>
          <p:cNvCxnSpPr>
            <a:cxnSpLocks/>
          </p:cNvCxnSpPr>
          <p:nvPr/>
        </p:nvCxnSpPr>
        <p:spPr>
          <a:xfrm>
            <a:off x="1778320" y="3449308"/>
            <a:ext cx="4726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直接连接符 6">
            <a:extLst>
              <a:ext uri="{FF2B5EF4-FFF2-40B4-BE49-F238E27FC236}">
                <a16:creationId xmlns:a16="http://schemas.microsoft.com/office/drawing/2014/main" id="{BBC88BD6-0D0F-CFEA-340E-6780EC06C6A9}"/>
              </a:ext>
            </a:extLst>
          </p:cNvPr>
          <p:cNvCxnSpPr>
            <a:cxnSpLocks/>
          </p:cNvCxnSpPr>
          <p:nvPr/>
        </p:nvCxnSpPr>
        <p:spPr>
          <a:xfrm>
            <a:off x="6504239" y="263556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91A6D8C6-9CCD-5CA1-57FA-1F8466F7FBAF}"/>
              </a:ext>
            </a:extLst>
          </p:cNvPr>
          <p:cNvCxnSpPr>
            <a:cxnSpLocks/>
          </p:cNvCxnSpPr>
          <p:nvPr/>
        </p:nvCxnSpPr>
        <p:spPr>
          <a:xfrm>
            <a:off x="2839640" y="263556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9A64FF30-52B6-0B7C-14F4-F75930A5F73A}"/>
              </a:ext>
            </a:extLst>
          </p:cNvPr>
          <p:cNvCxnSpPr>
            <a:cxnSpLocks/>
          </p:cNvCxnSpPr>
          <p:nvPr/>
        </p:nvCxnSpPr>
        <p:spPr>
          <a:xfrm>
            <a:off x="6504239" y="335818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B6246349-9B0A-31B9-A15F-6553305FFD19}"/>
              </a:ext>
            </a:extLst>
          </p:cNvPr>
          <p:cNvCxnSpPr>
            <a:cxnSpLocks/>
          </p:cNvCxnSpPr>
          <p:nvPr/>
        </p:nvCxnSpPr>
        <p:spPr>
          <a:xfrm>
            <a:off x="1778320" y="335818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2193DEB9-0901-CF76-5FD1-7800F273BD6D}"/>
              </a:ext>
            </a:extLst>
          </p:cNvPr>
          <p:cNvSpPr txBox="1"/>
          <p:nvPr/>
        </p:nvSpPr>
        <p:spPr>
          <a:xfrm>
            <a:off x="3983389" y="2588191"/>
            <a:ext cx="1250663" cy="276999"/>
          </a:xfrm>
          <a:prstGeom prst="rect">
            <a:avLst/>
          </a:prstGeom>
          <a:solidFill>
            <a:schemeClr val="bg1"/>
          </a:solidFill>
        </p:spPr>
        <p:txBody>
          <a:bodyPr wrap="none" rtlCol="0">
            <a:spAutoFit/>
          </a:bodyPr>
          <a:lstStyle/>
          <a:p>
            <a:r>
              <a:rPr lang="en-US" altLang="zh-CN" sz="1200" dirty="0">
                <a:latin typeface="Montserrat" panose="00000500000000000000" pitchFamily="2" charset="0"/>
              </a:rPr>
              <a:t>TCP Segment</a:t>
            </a:r>
            <a:endParaRPr lang="zh-CN" altLang="en-US" sz="1200" dirty="0">
              <a:latin typeface="Montserrat" panose="00000500000000000000" pitchFamily="2" charset="0"/>
            </a:endParaRPr>
          </a:p>
        </p:txBody>
      </p:sp>
      <p:sp>
        <p:nvSpPr>
          <p:cNvPr id="12" name="文本框 11">
            <a:extLst>
              <a:ext uri="{FF2B5EF4-FFF2-40B4-BE49-F238E27FC236}">
                <a16:creationId xmlns:a16="http://schemas.microsoft.com/office/drawing/2014/main" id="{914FCC6B-7EEB-51E0-4512-33029BEBB62B}"/>
              </a:ext>
            </a:extLst>
          </p:cNvPr>
          <p:cNvSpPr txBox="1"/>
          <p:nvPr/>
        </p:nvSpPr>
        <p:spPr>
          <a:xfrm>
            <a:off x="3682300" y="3310809"/>
            <a:ext cx="918841" cy="276999"/>
          </a:xfrm>
          <a:prstGeom prst="rect">
            <a:avLst/>
          </a:prstGeom>
          <a:solidFill>
            <a:schemeClr val="bg1"/>
          </a:solidFill>
        </p:spPr>
        <p:txBody>
          <a:bodyPr wrap="none" rtlCol="0">
            <a:spAutoFit/>
          </a:bodyPr>
          <a:lstStyle/>
          <a:p>
            <a:r>
              <a:rPr lang="en-US" altLang="zh-CN" sz="1200" dirty="0">
                <a:latin typeface="Montserrat" panose="00000500000000000000" pitchFamily="2" charset="0"/>
              </a:rPr>
              <a:t>IP Packet</a:t>
            </a:r>
            <a:endParaRPr lang="zh-CN" altLang="en-US" sz="1200" dirty="0">
              <a:latin typeface="Montserrat" panose="00000500000000000000" pitchFamily="2" charset="0"/>
            </a:endParaRPr>
          </a:p>
        </p:txBody>
      </p:sp>
      <p:sp>
        <p:nvSpPr>
          <p:cNvPr id="24" name="AutoShape 70">
            <a:extLst>
              <a:ext uri="{FF2B5EF4-FFF2-40B4-BE49-F238E27FC236}">
                <a16:creationId xmlns:a16="http://schemas.microsoft.com/office/drawing/2014/main" id="{3B775BFB-9634-464B-168F-3A5E1D3E489D}"/>
              </a:ext>
            </a:extLst>
          </p:cNvPr>
          <p:cNvSpPr>
            <a:spLocks noChangeArrowheads="1"/>
          </p:cNvSpPr>
          <p:nvPr/>
        </p:nvSpPr>
        <p:spPr bwMode="auto">
          <a:xfrm>
            <a:off x="6084236" y="2554566"/>
            <a:ext cx="186542" cy="360000"/>
          </a:xfrm>
          <a:prstGeom prst="downArrow">
            <a:avLst>
              <a:gd name="adj1" fmla="val 50000"/>
              <a:gd name="adj2" fmla="val 68671"/>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cxnSp>
        <p:nvCxnSpPr>
          <p:cNvPr id="13" name="直接连接符 12">
            <a:extLst>
              <a:ext uri="{FF2B5EF4-FFF2-40B4-BE49-F238E27FC236}">
                <a16:creationId xmlns:a16="http://schemas.microsoft.com/office/drawing/2014/main" id="{FA747630-5C5E-FA50-A8B6-2B0D5CD22720}"/>
              </a:ext>
            </a:extLst>
          </p:cNvPr>
          <p:cNvCxnSpPr>
            <a:cxnSpLocks/>
          </p:cNvCxnSpPr>
          <p:nvPr/>
        </p:nvCxnSpPr>
        <p:spPr>
          <a:xfrm>
            <a:off x="3984239" y="2040038"/>
            <a:ext cx="25200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直接连接符 13">
            <a:extLst>
              <a:ext uri="{FF2B5EF4-FFF2-40B4-BE49-F238E27FC236}">
                <a16:creationId xmlns:a16="http://schemas.microsoft.com/office/drawing/2014/main" id="{C181C0FC-9A46-9C3E-B3C0-79317E8B2340}"/>
              </a:ext>
            </a:extLst>
          </p:cNvPr>
          <p:cNvCxnSpPr>
            <a:cxnSpLocks/>
          </p:cNvCxnSpPr>
          <p:nvPr/>
        </p:nvCxnSpPr>
        <p:spPr>
          <a:xfrm>
            <a:off x="6504239" y="194891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D2474D69-5006-4962-0C1A-249B18EA7984}"/>
              </a:ext>
            </a:extLst>
          </p:cNvPr>
          <p:cNvCxnSpPr>
            <a:cxnSpLocks/>
          </p:cNvCxnSpPr>
          <p:nvPr/>
        </p:nvCxnSpPr>
        <p:spPr>
          <a:xfrm>
            <a:off x="3984239" y="194891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EDD9113A-B03D-E222-74E8-EE974730E3A5}"/>
              </a:ext>
            </a:extLst>
          </p:cNvPr>
          <p:cNvSpPr txBox="1"/>
          <p:nvPr/>
        </p:nvSpPr>
        <p:spPr>
          <a:xfrm>
            <a:off x="4811268" y="1901539"/>
            <a:ext cx="865943" cy="276999"/>
          </a:xfrm>
          <a:prstGeom prst="rect">
            <a:avLst/>
          </a:prstGeom>
          <a:solidFill>
            <a:schemeClr val="bg1"/>
          </a:solidFill>
        </p:spPr>
        <p:txBody>
          <a:bodyPr wrap="none" rtlCol="0">
            <a:spAutoFit/>
          </a:bodyPr>
          <a:lstStyle/>
          <a:p>
            <a:r>
              <a:rPr kumimoji="1" lang="en-US" altLang="zh-CN" sz="1200" dirty="0">
                <a:latin typeface="Montserrat" panose="00000500000000000000" pitchFamily="2" charset="0"/>
                <a:ea typeface="微软雅黑 Light" panose="020B0502040204020203" pitchFamily="34" charset="-122"/>
              </a:rPr>
              <a:t>Message</a:t>
            </a:r>
            <a:endParaRPr lang="zh-CN" altLang="en-US" sz="1200" dirty="0">
              <a:latin typeface="Montserrat" panose="00000500000000000000" pitchFamily="2" charset="0"/>
            </a:endParaRPr>
          </a:p>
        </p:txBody>
      </p:sp>
      <p:sp>
        <p:nvSpPr>
          <p:cNvPr id="18" name="AutoShape 66">
            <a:extLst>
              <a:ext uri="{FF2B5EF4-FFF2-40B4-BE49-F238E27FC236}">
                <a16:creationId xmlns:a16="http://schemas.microsoft.com/office/drawing/2014/main" id="{F1B453E3-4DB7-5C37-3540-B2FE4515DC8B}"/>
              </a:ext>
            </a:extLst>
          </p:cNvPr>
          <p:cNvSpPr>
            <a:spLocks noChangeArrowheads="1"/>
          </p:cNvSpPr>
          <p:nvPr/>
        </p:nvSpPr>
        <p:spPr bwMode="auto">
          <a:xfrm>
            <a:off x="6085416" y="1898054"/>
            <a:ext cx="185362" cy="360000"/>
          </a:xfrm>
          <a:prstGeom prst="downArrow">
            <a:avLst>
              <a:gd name="adj1" fmla="val 50000"/>
              <a:gd name="adj2" fmla="val 69108"/>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 name="标题 1">
            <a:extLst>
              <a:ext uri="{FF2B5EF4-FFF2-40B4-BE49-F238E27FC236}">
                <a16:creationId xmlns:a16="http://schemas.microsoft.com/office/drawing/2014/main" id="{916CC7B7-6509-FE62-E7F1-02128ABCFFDA}"/>
              </a:ext>
            </a:extLst>
          </p:cNvPr>
          <p:cNvSpPr>
            <a:spLocks noGrp="1"/>
          </p:cNvSpPr>
          <p:nvPr>
            <p:ph type="title"/>
          </p:nvPr>
        </p:nvSpPr>
        <p:spPr/>
        <p:txBody>
          <a:bodyPr/>
          <a:lstStyle/>
          <a:p>
            <a:r>
              <a:rPr lang="en-US" altLang="zh-CN" dirty="0"/>
              <a:t>TCP</a:t>
            </a:r>
            <a:endParaRPr lang="zh-CN" altLang="en-US" dirty="0"/>
          </a:p>
        </p:txBody>
      </p:sp>
    </p:spTree>
    <p:extLst>
      <p:ext uri="{BB962C8B-B14F-4D97-AF65-F5344CB8AC3E}">
        <p14:creationId xmlns:p14="http://schemas.microsoft.com/office/powerpoint/2010/main" val="4041367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2379C1-37B4-0B5A-E291-B76C5F208747}"/>
              </a:ext>
            </a:extLst>
          </p:cNvPr>
          <p:cNvSpPr>
            <a:spLocks noGrp="1"/>
          </p:cNvSpPr>
          <p:nvPr>
            <p:ph type="title"/>
          </p:nvPr>
        </p:nvSpPr>
        <p:spPr/>
        <p:txBody>
          <a:bodyPr/>
          <a:lstStyle/>
          <a:p>
            <a:r>
              <a:rPr lang="en-US" altLang="zh-CN" dirty="0"/>
              <a:t>MTU vs MSSS</a:t>
            </a:r>
            <a:endParaRPr lang="zh-CN" altLang="en-US" dirty="0"/>
          </a:p>
        </p:txBody>
      </p:sp>
      <p:graphicFrame>
        <p:nvGraphicFramePr>
          <p:cNvPr id="4" name="表格 3">
            <a:extLst>
              <a:ext uri="{FF2B5EF4-FFF2-40B4-BE49-F238E27FC236}">
                <a16:creationId xmlns:a16="http://schemas.microsoft.com/office/drawing/2014/main" id="{758A19B7-569E-5F70-451E-8FD26B89F426}"/>
              </a:ext>
            </a:extLst>
          </p:cNvPr>
          <p:cNvGraphicFramePr>
            <a:graphicFrameLocks noGrp="1"/>
          </p:cNvGraphicFramePr>
          <p:nvPr>
            <p:extLst>
              <p:ext uri="{D42A27DB-BD31-4B8C-83A1-F6EECF244321}">
                <p14:modId xmlns:p14="http://schemas.microsoft.com/office/powerpoint/2010/main" val="3118168476"/>
              </p:ext>
            </p:extLst>
          </p:nvPr>
        </p:nvGraphicFramePr>
        <p:xfrm>
          <a:off x="2839640" y="1473012"/>
          <a:ext cx="3664599" cy="360000"/>
        </p:xfrm>
        <a:graphic>
          <a:graphicData uri="http://schemas.openxmlformats.org/drawingml/2006/table">
            <a:tbl>
              <a:tblPr firstRow="1" bandRow="1">
                <a:tableStyleId>{5C22544A-7EE6-4342-B048-85BDC9FD1C3A}</a:tableStyleId>
              </a:tblPr>
              <a:tblGrid>
                <a:gridCol w="1052453">
                  <a:extLst>
                    <a:ext uri="{9D8B030D-6E8A-4147-A177-3AD203B41FA5}">
                      <a16:colId xmlns:a16="http://schemas.microsoft.com/office/drawing/2014/main" val="3192344591"/>
                    </a:ext>
                  </a:extLst>
                </a:gridCol>
                <a:gridCol w="2612146">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TCP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TCP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r>
                        <a:rPr kumimoji="1" lang="en-US" altLang="zh-CN" sz="1200" b="0" dirty="0">
                          <a:solidFill>
                            <a:schemeClr val="tx1"/>
                          </a:solidFill>
                          <a:latin typeface="Montserrat" panose="00000500000000000000" pitchFamily="2" charset="0"/>
                          <a:ea typeface="微软雅黑 Light" panose="020B0502040204020203" pitchFamily="34" charset="-122"/>
                        </a:rPr>
                        <a:t>/MSSS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5" name="表格 4">
            <a:extLst>
              <a:ext uri="{FF2B5EF4-FFF2-40B4-BE49-F238E27FC236}">
                <a16:creationId xmlns:a16="http://schemas.microsoft.com/office/drawing/2014/main" id="{DA9A95D8-35BC-A2B3-74F7-A5071A703AA4}"/>
              </a:ext>
            </a:extLst>
          </p:cNvPr>
          <p:cNvGraphicFramePr>
            <a:graphicFrameLocks noGrp="1"/>
          </p:cNvGraphicFramePr>
          <p:nvPr>
            <p:extLst>
              <p:ext uri="{D42A27DB-BD31-4B8C-83A1-F6EECF244321}">
                <p14:modId xmlns:p14="http://schemas.microsoft.com/office/powerpoint/2010/main" val="3623842221"/>
              </p:ext>
            </p:extLst>
          </p:nvPr>
        </p:nvGraphicFramePr>
        <p:xfrm>
          <a:off x="3914776" y="759841"/>
          <a:ext cx="2589463" cy="360000"/>
        </p:xfrm>
        <a:graphic>
          <a:graphicData uri="http://schemas.openxmlformats.org/drawingml/2006/table">
            <a:tbl>
              <a:tblPr firstRow="1" bandRow="1">
                <a:tableStyleId>{5C22544A-7EE6-4342-B048-85BDC9FD1C3A}</a:tableStyleId>
              </a:tblPr>
              <a:tblGrid>
                <a:gridCol w="2589463">
                  <a:extLst>
                    <a:ext uri="{9D8B030D-6E8A-4147-A177-3AD203B41FA5}">
                      <a16:colId xmlns:a16="http://schemas.microsoft.com/office/drawing/2014/main" val="1943595655"/>
                    </a:ext>
                  </a:extLst>
                </a:gridCol>
              </a:tblGrid>
              <a:tr h="360000">
                <a:tc>
                  <a:txBody>
                    <a:bodyPr/>
                    <a:lstStyle/>
                    <a:p>
                      <a:pPr algn="ctr"/>
                      <a:r>
                        <a:rPr kumimoji="1" lang="zh-CN" altLang="en-US" sz="1200" b="0" kern="1200" baseline="0" dirty="0">
                          <a:solidFill>
                            <a:schemeClr val="tx1"/>
                          </a:solidFill>
                          <a:latin typeface="Montserrat" panose="00000500000000000000" pitchFamily="2" charset="0"/>
                          <a:ea typeface="微软雅黑 Light" panose="020B0502040204020203" pitchFamily="34" charset="-122"/>
                          <a:cs typeface="+mn-cs"/>
                        </a:rPr>
                        <a:t>应用层报文</a:t>
                      </a:r>
                      <a:endParaRPr kumimoji="1" lang="zh-CN" altLang="en-US" sz="1200" dirty="0">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6" name="表格 5">
            <a:extLst>
              <a:ext uri="{FF2B5EF4-FFF2-40B4-BE49-F238E27FC236}">
                <a16:creationId xmlns:a16="http://schemas.microsoft.com/office/drawing/2014/main" id="{66CAA1E4-16A9-EF32-DE63-AC079278DD07}"/>
              </a:ext>
            </a:extLst>
          </p:cNvPr>
          <p:cNvGraphicFramePr>
            <a:graphicFrameLocks noGrp="1"/>
          </p:cNvGraphicFramePr>
          <p:nvPr>
            <p:extLst>
              <p:ext uri="{D42A27DB-BD31-4B8C-83A1-F6EECF244321}">
                <p14:modId xmlns:p14="http://schemas.microsoft.com/office/powerpoint/2010/main" val="3157509254"/>
              </p:ext>
            </p:extLst>
          </p:nvPr>
        </p:nvGraphicFramePr>
        <p:xfrm>
          <a:off x="1778320" y="2145072"/>
          <a:ext cx="4725919" cy="360000"/>
        </p:xfrm>
        <a:graphic>
          <a:graphicData uri="http://schemas.openxmlformats.org/drawingml/2006/table">
            <a:tbl>
              <a:tblPr firstRow="1" bandRow="1">
                <a:tableStyleId>{5C22544A-7EE6-4342-B048-85BDC9FD1C3A}</a:tableStyleId>
              </a:tblPr>
              <a:tblGrid>
                <a:gridCol w="998251">
                  <a:extLst>
                    <a:ext uri="{9D8B030D-6E8A-4147-A177-3AD203B41FA5}">
                      <a16:colId xmlns:a16="http://schemas.microsoft.com/office/drawing/2014/main" val="3192344591"/>
                    </a:ext>
                  </a:extLst>
                </a:gridCol>
                <a:gridCol w="3727668">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IP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75445671"/>
                  </a:ext>
                </a:extLst>
              </a:tr>
            </a:tbl>
          </a:graphicData>
        </a:graphic>
      </p:graphicFrame>
      <p:cxnSp>
        <p:nvCxnSpPr>
          <p:cNvPr id="7" name="直接连接符 6">
            <a:extLst>
              <a:ext uri="{FF2B5EF4-FFF2-40B4-BE49-F238E27FC236}">
                <a16:creationId xmlns:a16="http://schemas.microsoft.com/office/drawing/2014/main" id="{9FF1271D-3180-5812-F383-4AFDADFE7A0E}"/>
              </a:ext>
            </a:extLst>
          </p:cNvPr>
          <p:cNvCxnSpPr>
            <a:cxnSpLocks/>
          </p:cNvCxnSpPr>
          <p:nvPr/>
        </p:nvCxnSpPr>
        <p:spPr>
          <a:xfrm>
            <a:off x="2839639" y="1983740"/>
            <a:ext cx="3664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直接连接符 7">
            <a:extLst>
              <a:ext uri="{FF2B5EF4-FFF2-40B4-BE49-F238E27FC236}">
                <a16:creationId xmlns:a16="http://schemas.microsoft.com/office/drawing/2014/main" id="{72FD8BA4-2F8D-BC55-69FE-3DEEE9514F2E}"/>
              </a:ext>
            </a:extLst>
          </p:cNvPr>
          <p:cNvCxnSpPr>
            <a:cxnSpLocks/>
          </p:cNvCxnSpPr>
          <p:nvPr/>
        </p:nvCxnSpPr>
        <p:spPr>
          <a:xfrm>
            <a:off x="1778320" y="2706358"/>
            <a:ext cx="4726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连接符 8">
            <a:extLst>
              <a:ext uri="{FF2B5EF4-FFF2-40B4-BE49-F238E27FC236}">
                <a16:creationId xmlns:a16="http://schemas.microsoft.com/office/drawing/2014/main" id="{6C3FF21C-AE94-7040-55CE-9E96178CB117}"/>
              </a:ext>
            </a:extLst>
          </p:cNvPr>
          <p:cNvCxnSpPr>
            <a:cxnSpLocks/>
          </p:cNvCxnSpPr>
          <p:nvPr/>
        </p:nvCxnSpPr>
        <p:spPr>
          <a:xfrm>
            <a:off x="6504239" y="189261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7A0A4FB8-597B-16AD-565E-FE21764F16E1}"/>
              </a:ext>
            </a:extLst>
          </p:cNvPr>
          <p:cNvCxnSpPr>
            <a:cxnSpLocks/>
          </p:cNvCxnSpPr>
          <p:nvPr/>
        </p:nvCxnSpPr>
        <p:spPr>
          <a:xfrm>
            <a:off x="2839640" y="1892619"/>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19EC180-C8A2-37B3-9FB6-367E94624E3A}"/>
              </a:ext>
            </a:extLst>
          </p:cNvPr>
          <p:cNvCxnSpPr>
            <a:cxnSpLocks/>
          </p:cNvCxnSpPr>
          <p:nvPr/>
        </p:nvCxnSpPr>
        <p:spPr>
          <a:xfrm>
            <a:off x="6504239" y="261523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B0F7328E-38B3-3C4C-7B60-52595D26C55F}"/>
              </a:ext>
            </a:extLst>
          </p:cNvPr>
          <p:cNvCxnSpPr>
            <a:cxnSpLocks/>
          </p:cNvCxnSpPr>
          <p:nvPr/>
        </p:nvCxnSpPr>
        <p:spPr>
          <a:xfrm>
            <a:off x="1778320" y="261523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1F11FEDF-7072-A758-1AA7-180DBCC778F2}"/>
              </a:ext>
            </a:extLst>
          </p:cNvPr>
          <p:cNvSpPr txBox="1"/>
          <p:nvPr/>
        </p:nvSpPr>
        <p:spPr>
          <a:xfrm>
            <a:off x="3983389" y="1845241"/>
            <a:ext cx="1250663" cy="276999"/>
          </a:xfrm>
          <a:prstGeom prst="rect">
            <a:avLst/>
          </a:prstGeom>
          <a:solidFill>
            <a:schemeClr val="bg1"/>
          </a:solidFill>
        </p:spPr>
        <p:txBody>
          <a:bodyPr wrap="none" rtlCol="0">
            <a:spAutoFit/>
          </a:bodyPr>
          <a:lstStyle/>
          <a:p>
            <a:pPr algn="ctr"/>
            <a:r>
              <a:rPr lang="en-US" altLang="zh-CN" sz="1200" dirty="0">
                <a:latin typeface="Montserrat" panose="00000500000000000000" pitchFamily="2" charset="0"/>
              </a:rPr>
              <a:t>TCP Segment</a:t>
            </a:r>
            <a:endParaRPr lang="zh-CN" altLang="en-US" sz="1200" dirty="0">
              <a:latin typeface="Montserrat" panose="00000500000000000000" pitchFamily="2" charset="0"/>
            </a:endParaRPr>
          </a:p>
        </p:txBody>
      </p:sp>
      <p:sp>
        <p:nvSpPr>
          <p:cNvPr id="14" name="文本框 13">
            <a:extLst>
              <a:ext uri="{FF2B5EF4-FFF2-40B4-BE49-F238E27FC236}">
                <a16:creationId xmlns:a16="http://schemas.microsoft.com/office/drawing/2014/main" id="{65AE1D65-68F3-3B96-1D2A-5D0F8E901390}"/>
              </a:ext>
            </a:extLst>
          </p:cNvPr>
          <p:cNvSpPr txBox="1"/>
          <p:nvPr/>
        </p:nvSpPr>
        <p:spPr>
          <a:xfrm>
            <a:off x="3099616" y="2567859"/>
            <a:ext cx="2084225" cy="276999"/>
          </a:xfrm>
          <a:prstGeom prst="rect">
            <a:avLst/>
          </a:prstGeom>
          <a:solidFill>
            <a:schemeClr val="bg1"/>
          </a:solidFill>
        </p:spPr>
        <p:txBody>
          <a:bodyPr wrap="none" rtlCol="0">
            <a:spAutoFit/>
          </a:bodyPr>
          <a:lstStyle/>
          <a:p>
            <a:pPr algn="ctr"/>
            <a:r>
              <a:rPr lang="en-US" altLang="zh-CN" sz="1200" dirty="0">
                <a:latin typeface="Montserrat" panose="00000500000000000000" pitchFamily="2" charset="0"/>
              </a:rPr>
              <a:t>IP Packet / IP MTU - 1500</a:t>
            </a:r>
            <a:endParaRPr lang="zh-CN" altLang="en-US" sz="1200" dirty="0">
              <a:latin typeface="Montserrat" panose="00000500000000000000" pitchFamily="2" charset="0"/>
            </a:endParaRPr>
          </a:p>
        </p:txBody>
      </p:sp>
      <p:sp>
        <p:nvSpPr>
          <p:cNvPr id="15" name="AutoShape 70">
            <a:extLst>
              <a:ext uri="{FF2B5EF4-FFF2-40B4-BE49-F238E27FC236}">
                <a16:creationId xmlns:a16="http://schemas.microsoft.com/office/drawing/2014/main" id="{09AB987D-BF87-4589-40B3-1BF9C592B228}"/>
              </a:ext>
            </a:extLst>
          </p:cNvPr>
          <p:cNvSpPr>
            <a:spLocks noChangeArrowheads="1"/>
          </p:cNvSpPr>
          <p:nvPr/>
        </p:nvSpPr>
        <p:spPr bwMode="auto">
          <a:xfrm>
            <a:off x="6084236" y="1811616"/>
            <a:ext cx="186542" cy="360000"/>
          </a:xfrm>
          <a:prstGeom prst="downArrow">
            <a:avLst>
              <a:gd name="adj1" fmla="val 50000"/>
              <a:gd name="adj2" fmla="val 68671"/>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cxnSp>
        <p:nvCxnSpPr>
          <p:cNvPr id="16" name="直接连接符 15">
            <a:extLst>
              <a:ext uri="{FF2B5EF4-FFF2-40B4-BE49-F238E27FC236}">
                <a16:creationId xmlns:a16="http://schemas.microsoft.com/office/drawing/2014/main" id="{5AC6A3A4-9A4D-F09D-FDD2-11CD0F1370BC}"/>
              </a:ext>
            </a:extLst>
          </p:cNvPr>
          <p:cNvCxnSpPr>
            <a:cxnSpLocks/>
          </p:cNvCxnSpPr>
          <p:nvPr/>
        </p:nvCxnSpPr>
        <p:spPr>
          <a:xfrm>
            <a:off x="3914776" y="1297088"/>
            <a:ext cx="25884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FBF0C443-AE52-28A2-0635-379A36231E52}"/>
              </a:ext>
            </a:extLst>
          </p:cNvPr>
          <p:cNvCxnSpPr>
            <a:cxnSpLocks/>
          </p:cNvCxnSpPr>
          <p:nvPr/>
        </p:nvCxnSpPr>
        <p:spPr>
          <a:xfrm>
            <a:off x="6504239" y="120596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D3E7333C-E656-D3AC-2E54-3642057FF3F6}"/>
              </a:ext>
            </a:extLst>
          </p:cNvPr>
          <p:cNvCxnSpPr>
            <a:cxnSpLocks/>
          </p:cNvCxnSpPr>
          <p:nvPr/>
        </p:nvCxnSpPr>
        <p:spPr>
          <a:xfrm>
            <a:off x="3914776" y="1205967"/>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CCE97E7C-AB93-39F0-3406-185AF764C391}"/>
              </a:ext>
            </a:extLst>
          </p:cNvPr>
          <p:cNvSpPr txBox="1"/>
          <p:nvPr/>
        </p:nvSpPr>
        <p:spPr>
          <a:xfrm>
            <a:off x="4776005" y="1158589"/>
            <a:ext cx="865943" cy="276999"/>
          </a:xfrm>
          <a:prstGeom prst="rect">
            <a:avLst/>
          </a:prstGeom>
          <a:solidFill>
            <a:schemeClr val="bg1"/>
          </a:solidFill>
        </p:spPr>
        <p:txBody>
          <a:bodyPr wrap="none" rtlCol="0">
            <a:spAutoFit/>
          </a:bodyPr>
          <a:lstStyle/>
          <a:p>
            <a:pPr algn="ctr"/>
            <a:r>
              <a:rPr kumimoji="1" lang="en-US" altLang="zh-CN" sz="1200" dirty="0">
                <a:latin typeface="Montserrat" panose="00000500000000000000" pitchFamily="2" charset="0"/>
                <a:ea typeface="微软雅黑 Light" panose="020B0502040204020203" pitchFamily="34" charset="-122"/>
              </a:rPr>
              <a:t>Message</a:t>
            </a:r>
            <a:endParaRPr lang="zh-CN" altLang="en-US" sz="1200" dirty="0">
              <a:latin typeface="Montserrat" panose="00000500000000000000" pitchFamily="2" charset="0"/>
            </a:endParaRPr>
          </a:p>
        </p:txBody>
      </p:sp>
      <p:sp>
        <p:nvSpPr>
          <p:cNvPr id="20" name="AutoShape 66">
            <a:extLst>
              <a:ext uri="{FF2B5EF4-FFF2-40B4-BE49-F238E27FC236}">
                <a16:creationId xmlns:a16="http://schemas.microsoft.com/office/drawing/2014/main" id="{F8F2C772-8C78-834B-50D1-6A506B91238B}"/>
              </a:ext>
            </a:extLst>
          </p:cNvPr>
          <p:cNvSpPr>
            <a:spLocks noChangeArrowheads="1"/>
          </p:cNvSpPr>
          <p:nvPr/>
        </p:nvSpPr>
        <p:spPr bwMode="auto">
          <a:xfrm>
            <a:off x="6085416" y="1155104"/>
            <a:ext cx="185362" cy="360000"/>
          </a:xfrm>
          <a:prstGeom prst="downArrow">
            <a:avLst>
              <a:gd name="adj1" fmla="val 50000"/>
              <a:gd name="adj2" fmla="val 69108"/>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graphicFrame>
        <p:nvGraphicFramePr>
          <p:cNvPr id="22" name="表格 21">
            <a:extLst>
              <a:ext uri="{FF2B5EF4-FFF2-40B4-BE49-F238E27FC236}">
                <a16:creationId xmlns:a16="http://schemas.microsoft.com/office/drawing/2014/main" id="{1094C68A-C64B-99F7-E24A-F5E0F7DBA5F1}"/>
              </a:ext>
            </a:extLst>
          </p:cNvPr>
          <p:cNvGraphicFramePr>
            <a:graphicFrameLocks noGrp="1"/>
          </p:cNvGraphicFramePr>
          <p:nvPr>
            <p:extLst>
              <p:ext uri="{D42A27DB-BD31-4B8C-83A1-F6EECF244321}">
                <p14:modId xmlns:p14="http://schemas.microsoft.com/office/powerpoint/2010/main" val="2023472789"/>
              </p:ext>
            </p:extLst>
          </p:nvPr>
        </p:nvGraphicFramePr>
        <p:xfrm>
          <a:off x="542926" y="2954782"/>
          <a:ext cx="6810373" cy="360000"/>
        </p:xfrm>
        <a:graphic>
          <a:graphicData uri="http://schemas.openxmlformats.org/drawingml/2006/table">
            <a:tbl>
              <a:tblPr firstRow="1" bandRow="1">
                <a:tableStyleId>{5C22544A-7EE6-4342-B048-85BDC9FD1C3A}</a:tableStyleId>
              </a:tblPr>
              <a:tblGrid>
                <a:gridCol w="1238249">
                  <a:extLst>
                    <a:ext uri="{9D8B030D-6E8A-4147-A177-3AD203B41FA5}">
                      <a16:colId xmlns:a16="http://schemas.microsoft.com/office/drawing/2014/main" val="3192344591"/>
                    </a:ext>
                  </a:extLst>
                </a:gridCol>
                <a:gridCol w="1009650">
                  <a:extLst>
                    <a:ext uri="{9D8B030D-6E8A-4147-A177-3AD203B41FA5}">
                      <a16:colId xmlns:a16="http://schemas.microsoft.com/office/drawing/2014/main" val="1112281943"/>
                    </a:ext>
                  </a:extLst>
                </a:gridCol>
                <a:gridCol w="3724275">
                  <a:extLst>
                    <a:ext uri="{9D8B030D-6E8A-4147-A177-3AD203B41FA5}">
                      <a16:colId xmlns:a16="http://schemas.microsoft.com/office/drawing/2014/main" val="1943595655"/>
                    </a:ext>
                  </a:extLst>
                </a:gridCol>
                <a:gridCol w="838199">
                  <a:extLst>
                    <a:ext uri="{9D8B030D-6E8A-4147-A177-3AD203B41FA5}">
                      <a16:colId xmlns:a16="http://schemas.microsoft.com/office/drawing/2014/main" val="1257432143"/>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0" baseline="0" dirty="0">
                          <a:solidFill>
                            <a:schemeClr val="tx1"/>
                          </a:solidFill>
                          <a:latin typeface="Montserrat" panose="00000500000000000000" pitchFamily="2" charset="0"/>
                          <a:ea typeface="微软雅黑 Light" panose="020B0502040204020203" pitchFamily="34" charset="-122"/>
                        </a:rPr>
                        <a:t>帧首部</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baseline="0" dirty="0">
                          <a:solidFill>
                            <a:schemeClr val="tx1"/>
                          </a:solidFill>
                          <a:latin typeface="Montserrat" panose="00000500000000000000" pitchFamily="2" charset="0"/>
                          <a:ea typeface="微软雅黑 Light" panose="020B0502040204020203" pitchFamily="34" charset="-122"/>
                        </a:rPr>
                        <a:t>IP</a:t>
                      </a:r>
                      <a:r>
                        <a:rPr lang="zh-CN" altLang="en-US" sz="1200" b="0" baseline="0" dirty="0">
                          <a:solidFill>
                            <a:schemeClr val="tx1"/>
                          </a:solidFill>
                          <a:latin typeface="Montserrat" panose="00000500000000000000" pitchFamily="2" charset="0"/>
                          <a:ea typeface="微软雅黑 Light" panose="020B0502040204020203" pitchFamily="34" charset="-122"/>
                        </a:rPr>
                        <a:t>的数据部分</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EBF1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baseline="0" dirty="0">
                          <a:solidFill>
                            <a:schemeClr val="tx1"/>
                          </a:solidFill>
                          <a:latin typeface="Montserrat" panose="00000500000000000000" pitchFamily="2" charset="0"/>
                          <a:ea typeface="微软雅黑 Light" panose="020B0502040204020203" pitchFamily="34" charset="-122"/>
                        </a:rPr>
                        <a:t>FCS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375445671"/>
                  </a:ext>
                </a:extLst>
              </a:tr>
            </a:tbl>
          </a:graphicData>
        </a:graphic>
      </p:graphicFrame>
      <p:cxnSp>
        <p:nvCxnSpPr>
          <p:cNvPr id="23" name="直接连接符 22">
            <a:extLst>
              <a:ext uri="{FF2B5EF4-FFF2-40B4-BE49-F238E27FC236}">
                <a16:creationId xmlns:a16="http://schemas.microsoft.com/office/drawing/2014/main" id="{3E3F04FF-7C56-E66A-40DF-19B477D2DD2E}"/>
              </a:ext>
            </a:extLst>
          </p:cNvPr>
          <p:cNvCxnSpPr>
            <a:cxnSpLocks/>
          </p:cNvCxnSpPr>
          <p:nvPr/>
        </p:nvCxnSpPr>
        <p:spPr>
          <a:xfrm>
            <a:off x="542926" y="4287593"/>
            <a:ext cx="68112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F75202FC-B323-AF1C-872C-2819BA9DE134}"/>
              </a:ext>
            </a:extLst>
          </p:cNvPr>
          <p:cNvCxnSpPr>
            <a:cxnSpLocks/>
          </p:cNvCxnSpPr>
          <p:nvPr/>
        </p:nvCxnSpPr>
        <p:spPr>
          <a:xfrm>
            <a:off x="7353299" y="4196472"/>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F800E21-CD05-0F9F-3BB7-8BD1629B8CFA}"/>
              </a:ext>
            </a:extLst>
          </p:cNvPr>
          <p:cNvCxnSpPr>
            <a:cxnSpLocks/>
          </p:cNvCxnSpPr>
          <p:nvPr/>
        </p:nvCxnSpPr>
        <p:spPr>
          <a:xfrm>
            <a:off x="542926" y="4196472"/>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28CD6DB7-9301-9006-684D-8C265B4B6469}"/>
              </a:ext>
            </a:extLst>
          </p:cNvPr>
          <p:cNvSpPr txBox="1"/>
          <p:nvPr/>
        </p:nvSpPr>
        <p:spPr>
          <a:xfrm>
            <a:off x="3388919" y="4149094"/>
            <a:ext cx="1842172" cy="276999"/>
          </a:xfrm>
          <a:prstGeom prst="rect">
            <a:avLst/>
          </a:prstGeom>
          <a:solidFill>
            <a:schemeClr val="bg1"/>
          </a:solidFill>
        </p:spPr>
        <p:txBody>
          <a:bodyPr wrap="none" rtlCol="0">
            <a:spAutoFit/>
          </a:bodyPr>
          <a:lstStyle/>
          <a:p>
            <a:pPr algn="ctr"/>
            <a:r>
              <a:rPr lang="en-US" altLang="zh-CN" sz="1200" dirty="0">
                <a:latin typeface="Montserrat" panose="00000500000000000000" pitchFamily="2" charset="0"/>
              </a:rPr>
              <a:t>Ethernet Frame / 1518</a:t>
            </a:r>
            <a:endParaRPr lang="zh-CN" altLang="en-US" sz="1200" dirty="0">
              <a:latin typeface="Montserrat" panose="00000500000000000000" pitchFamily="2" charset="0"/>
            </a:endParaRPr>
          </a:p>
        </p:txBody>
      </p:sp>
      <p:graphicFrame>
        <p:nvGraphicFramePr>
          <p:cNvPr id="28" name="表格 27">
            <a:extLst>
              <a:ext uri="{FF2B5EF4-FFF2-40B4-BE49-F238E27FC236}">
                <a16:creationId xmlns:a16="http://schemas.microsoft.com/office/drawing/2014/main" id="{70EA11EB-792C-1BE1-7AD9-F87FB98498E7}"/>
              </a:ext>
            </a:extLst>
          </p:cNvPr>
          <p:cNvGraphicFramePr>
            <a:graphicFrameLocks noGrp="1"/>
          </p:cNvGraphicFramePr>
          <p:nvPr>
            <p:extLst>
              <p:ext uri="{D42A27DB-BD31-4B8C-83A1-F6EECF244321}">
                <p14:modId xmlns:p14="http://schemas.microsoft.com/office/powerpoint/2010/main" val="1864622827"/>
              </p:ext>
            </p:extLst>
          </p:nvPr>
        </p:nvGraphicFramePr>
        <p:xfrm>
          <a:off x="542926" y="3765792"/>
          <a:ext cx="6810372" cy="360000"/>
        </p:xfrm>
        <a:graphic>
          <a:graphicData uri="http://schemas.openxmlformats.org/drawingml/2006/table">
            <a:tbl>
              <a:tblPr firstRow="1" bandRow="1">
                <a:tableStyleId>{5C22544A-7EE6-4342-B048-85BDC9FD1C3A}</a:tableStyleId>
              </a:tblPr>
              <a:tblGrid>
                <a:gridCol w="1238249">
                  <a:extLst>
                    <a:ext uri="{9D8B030D-6E8A-4147-A177-3AD203B41FA5}">
                      <a16:colId xmlns:a16="http://schemas.microsoft.com/office/drawing/2014/main" val="3192344591"/>
                    </a:ext>
                  </a:extLst>
                </a:gridCol>
                <a:gridCol w="1009650">
                  <a:extLst>
                    <a:ext uri="{9D8B030D-6E8A-4147-A177-3AD203B41FA5}">
                      <a16:colId xmlns:a16="http://schemas.microsoft.com/office/drawing/2014/main" val="4236432594"/>
                    </a:ext>
                  </a:extLst>
                </a:gridCol>
                <a:gridCol w="1133475">
                  <a:extLst>
                    <a:ext uri="{9D8B030D-6E8A-4147-A177-3AD203B41FA5}">
                      <a16:colId xmlns:a16="http://schemas.microsoft.com/office/drawing/2014/main" val="1943595655"/>
                    </a:ext>
                  </a:extLst>
                </a:gridCol>
                <a:gridCol w="2590800">
                  <a:extLst>
                    <a:ext uri="{9D8B030D-6E8A-4147-A177-3AD203B41FA5}">
                      <a16:colId xmlns:a16="http://schemas.microsoft.com/office/drawing/2014/main" val="348128978"/>
                    </a:ext>
                  </a:extLst>
                </a:gridCol>
                <a:gridCol w="838198">
                  <a:extLst>
                    <a:ext uri="{9D8B030D-6E8A-4147-A177-3AD203B41FA5}">
                      <a16:colId xmlns:a16="http://schemas.microsoft.com/office/drawing/2014/main" val="1897922817"/>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b="0" baseline="0" dirty="0">
                          <a:solidFill>
                            <a:schemeClr val="tx1"/>
                          </a:solidFill>
                          <a:latin typeface="Montserrat" panose="00000500000000000000" pitchFamily="2" charset="0"/>
                          <a:ea typeface="微软雅黑 Light" panose="020B0502040204020203" pitchFamily="34" charset="-122"/>
                        </a:rPr>
                        <a:t>帧首部</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baseline="0" dirty="0">
                          <a:solidFill>
                            <a:schemeClr val="tx1"/>
                          </a:solidFill>
                          <a:latin typeface="Montserrat" panose="00000500000000000000" pitchFamily="2" charset="0"/>
                          <a:ea typeface="微软雅黑 Light" panose="020B0502040204020203" pitchFamily="34" charset="-122"/>
                        </a:rPr>
                        <a:t>TCP</a:t>
                      </a:r>
                      <a:r>
                        <a:rPr lang="zh-CN" altLang="en-US" sz="1200" b="0" baseline="0" dirty="0">
                          <a:solidFill>
                            <a:schemeClr val="tx1"/>
                          </a:solidFill>
                          <a:latin typeface="Montserrat" panose="00000500000000000000" pitchFamily="2" charset="0"/>
                          <a:ea typeface="微软雅黑 Light" panose="020B0502040204020203" pitchFamily="34" charset="-122"/>
                        </a:rPr>
                        <a:t>首部</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AC09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baseline="0" dirty="0">
                          <a:solidFill>
                            <a:schemeClr val="tx1"/>
                          </a:solidFill>
                          <a:latin typeface="Montserrat" panose="00000500000000000000" pitchFamily="2" charset="0"/>
                          <a:ea typeface="微软雅黑 Light" panose="020B0502040204020203" pitchFamily="34" charset="-122"/>
                        </a:rPr>
                        <a:t>MSSS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b="0" baseline="0" dirty="0">
                          <a:solidFill>
                            <a:schemeClr val="tx1"/>
                          </a:solidFill>
                          <a:latin typeface="Montserrat" panose="00000500000000000000" pitchFamily="2" charset="0"/>
                          <a:ea typeface="微软雅黑 Light" panose="020B0502040204020203" pitchFamily="34" charset="-122"/>
                        </a:rPr>
                        <a:t>FCS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3375445671"/>
                  </a:ext>
                </a:extLst>
              </a:tr>
            </a:tbl>
          </a:graphicData>
        </a:graphic>
      </p:graphicFrame>
      <p:cxnSp>
        <p:nvCxnSpPr>
          <p:cNvPr id="34" name="直接连接符 33">
            <a:extLst>
              <a:ext uri="{FF2B5EF4-FFF2-40B4-BE49-F238E27FC236}">
                <a16:creationId xmlns:a16="http://schemas.microsoft.com/office/drawing/2014/main" id="{DEEC5562-B614-DB05-7B10-C655B0F5BBD6}"/>
              </a:ext>
            </a:extLst>
          </p:cNvPr>
          <p:cNvCxnSpPr>
            <a:cxnSpLocks/>
          </p:cNvCxnSpPr>
          <p:nvPr/>
        </p:nvCxnSpPr>
        <p:spPr>
          <a:xfrm>
            <a:off x="1772123" y="3477395"/>
            <a:ext cx="4726800" cy="0"/>
          </a:xfrm>
          <a:prstGeom prst="line">
            <a:avLst/>
          </a:prstGeom>
          <a:noFill/>
          <a:ln w="12700">
            <a:solidFill>
              <a:schemeClr val="tx1"/>
            </a:solidFill>
            <a:prstDash val="lg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5" name="直接连接符 34">
            <a:extLst>
              <a:ext uri="{FF2B5EF4-FFF2-40B4-BE49-F238E27FC236}">
                <a16:creationId xmlns:a16="http://schemas.microsoft.com/office/drawing/2014/main" id="{6E24726D-2FA6-995C-6606-C32BEFB118CC}"/>
              </a:ext>
            </a:extLst>
          </p:cNvPr>
          <p:cNvCxnSpPr>
            <a:cxnSpLocks/>
          </p:cNvCxnSpPr>
          <p:nvPr/>
        </p:nvCxnSpPr>
        <p:spPr>
          <a:xfrm>
            <a:off x="6498042" y="3386274"/>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7F867047-427E-8413-8E41-30D7772CA4F6}"/>
              </a:ext>
            </a:extLst>
          </p:cNvPr>
          <p:cNvCxnSpPr>
            <a:cxnSpLocks/>
          </p:cNvCxnSpPr>
          <p:nvPr/>
        </p:nvCxnSpPr>
        <p:spPr>
          <a:xfrm>
            <a:off x="1772123" y="3386274"/>
            <a:ext cx="0" cy="182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3148BF74-BA6F-98A3-4E37-AE0F5F3D9654}"/>
              </a:ext>
            </a:extLst>
          </p:cNvPr>
          <p:cNvSpPr txBox="1"/>
          <p:nvPr/>
        </p:nvSpPr>
        <p:spPr>
          <a:xfrm>
            <a:off x="2522748" y="3338896"/>
            <a:ext cx="3225563" cy="276999"/>
          </a:xfrm>
          <a:prstGeom prst="rect">
            <a:avLst/>
          </a:prstGeom>
          <a:solidFill>
            <a:schemeClr val="bg1"/>
          </a:solidFill>
        </p:spPr>
        <p:txBody>
          <a:bodyPr wrap="none" rtlCol="0">
            <a:spAutoFit/>
          </a:bodyPr>
          <a:lstStyle/>
          <a:p>
            <a:pPr algn="ctr"/>
            <a:r>
              <a:rPr lang="en-US" altLang="zh-CN" sz="1200" dirty="0">
                <a:latin typeface="Montserrat" panose="00000500000000000000" pitchFamily="2" charset="0"/>
              </a:rPr>
              <a:t>Ethernet Payload / Ethernet MTU - 1500</a:t>
            </a:r>
            <a:endParaRPr lang="zh-CN" altLang="en-US" sz="1200" dirty="0">
              <a:latin typeface="Montserrat" panose="00000500000000000000" pitchFamily="2" charset="0"/>
            </a:endParaRPr>
          </a:p>
        </p:txBody>
      </p:sp>
    </p:spTree>
    <p:extLst>
      <p:ext uri="{BB962C8B-B14F-4D97-AF65-F5344CB8AC3E}">
        <p14:creationId xmlns:p14="http://schemas.microsoft.com/office/powerpoint/2010/main" val="22841098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对象 5"/>
          <p:cNvGraphicFramePr>
            <a:graphicFrameLocks noGrp="1" noChangeAspect="1"/>
          </p:cNvGraphicFramePr>
          <p:nvPr>
            <p:extLst>
              <p:ext uri="{D42A27DB-BD31-4B8C-83A1-F6EECF244321}">
                <p14:modId xmlns:p14="http://schemas.microsoft.com/office/powerpoint/2010/main" val="1827045352"/>
              </p:ext>
            </p:extLst>
          </p:nvPr>
        </p:nvGraphicFramePr>
        <p:xfrm>
          <a:off x="2353509" y="2187681"/>
          <a:ext cx="4307267" cy="1892328"/>
        </p:xfrm>
        <a:graphic>
          <a:graphicData uri="http://schemas.openxmlformats.org/presentationml/2006/ole">
            <mc:AlternateContent xmlns:mc="http://schemas.openxmlformats.org/markup-compatibility/2006">
              <mc:Choice xmlns:v="urn:schemas-microsoft-com:vml" Requires="v">
                <p:oleObj name="Visio" r:id="rId2" imgW="8733536" imgH="3835153" progId="">
                  <p:embed/>
                </p:oleObj>
              </mc:Choice>
              <mc:Fallback>
                <p:oleObj name="Visio" r:id="rId2" imgW="8733536" imgH="3835153" progId="">
                  <p:embed/>
                  <p:pic>
                    <p:nvPicPr>
                      <p:cNvPr id="0" name="Picture 7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3509" y="2187681"/>
                        <a:ext cx="4307267" cy="18923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内容占位符 8">
            <a:extLst>
              <a:ext uri="{FF2B5EF4-FFF2-40B4-BE49-F238E27FC236}">
                <a16:creationId xmlns:a16="http://schemas.microsoft.com/office/drawing/2014/main" id="{8927C137-9E12-D8BD-4412-EBA51325FF05}"/>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是面向连接的运输层协议，在无连接的、不可靠的 </a:t>
            </a:r>
            <a:r>
              <a:rPr lang="en-US" altLang="zh-CN" dirty="0"/>
              <a:t>IP </a:t>
            </a:r>
            <a:r>
              <a:rPr lang="zh-CN" altLang="en-US" dirty="0"/>
              <a:t>网络服务基础之上提供可靠交付的服务。为此，在 </a:t>
            </a:r>
            <a:r>
              <a:rPr lang="en-US" altLang="zh-CN" dirty="0"/>
              <a:t>IP </a:t>
            </a:r>
            <a:r>
              <a:rPr lang="zh-CN" altLang="en-US" dirty="0"/>
              <a:t>的数据报服务基础之上，增加了保证可靠性的一系列措施。</a:t>
            </a:r>
          </a:p>
          <a:p>
            <a:endParaRPr lang="zh-CN" altLang="en-US" dirty="0"/>
          </a:p>
        </p:txBody>
      </p:sp>
      <p:sp>
        <p:nvSpPr>
          <p:cNvPr id="8" name="标题 7">
            <a:extLst>
              <a:ext uri="{FF2B5EF4-FFF2-40B4-BE49-F238E27FC236}">
                <a16:creationId xmlns:a16="http://schemas.microsoft.com/office/drawing/2014/main" id="{C8B482D3-0BB1-C93F-65BF-A867E6F189B5}"/>
              </a:ext>
            </a:extLst>
          </p:cNvPr>
          <p:cNvSpPr>
            <a:spLocks noGrp="1"/>
          </p:cNvSpPr>
          <p:nvPr>
            <p:ph type="title"/>
          </p:nvPr>
        </p:nvSpPr>
        <p:spPr>
          <a:xfrm>
            <a:off x="2808000" y="144000"/>
            <a:ext cx="3528000" cy="338554"/>
          </a:xfrm>
        </p:spPr>
        <p:txBody>
          <a:bodyPr/>
          <a:lstStyle/>
          <a:p>
            <a:r>
              <a:rPr lang="en-US" altLang="zh-CN" dirty="0"/>
              <a:t>5.3.1  TCP </a:t>
            </a:r>
            <a:r>
              <a:rPr lang="zh-CN" altLang="en-US" dirty="0"/>
              <a:t>最主要的特点</a:t>
            </a:r>
          </a:p>
        </p:txBody>
      </p:sp>
    </p:spTree>
    <p:extLst>
      <p:ext uri="{BB962C8B-B14F-4D97-AF65-F5344CB8AC3E}">
        <p14:creationId xmlns:p14="http://schemas.microsoft.com/office/powerpoint/2010/main" val="19433642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2D25CA03-7F92-B901-B524-4E8BF50DECE4}"/>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是面向连接的运输层协议。</a:t>
            </a:r>
          </a:p>
          <a:p>
            <a:r>
              <a:rPr lang="zh-CN" altLang="en-US" dirty="0"/>
              <a:t>每一条 </a:t>
            </a:r>
            <a:r>
              <a:rPr lang="en-US" altLang="zh-CN" dirty="0"/>
              <a:t>TCP </a:t>
            </a:r>
            <a:r>
              <a:rPr lang="zh-CN" altLang="en-US" dirty="0"/>
              <a:t>连接只能有两个端点 </a:t>
            </a:r>
            <a:r>
              <a:rPr lang="en-US" altLang="zh-CN" dirty="0"/>
              <a:t>(endpoint)</a:t>
            </a:r>
            <a:r>
              <a:rPr lang="zh-CN" altLang="en-US" dirty="0"/>
              <a:t>，每一条 </a:t>
            </a:r>
            <a:r>
              <a:rPr lang="en-US" altLang="zh-CN" dirty="0"/>
              <a:t>TCP </a:t>
            </a:r>
            <a:r>
              <a:rPr lang="zh-CN" altLang="en-US" dirty="0"/>
              <a:t>连接只能是点对点的（一对一）。 </a:t>
            </a:r>
          </a:p>
          <a:p>
            <a:r>
              <a:rPr lang="en-US" altLang="zh-CN" dirty="0"/>
              <a:t>TCP </a:t>
            </a:r>
            <a:r>
              <a:rPr lang="zh-CN" altLang="en-US" dirty="0"/>
              <a:t>提供可靠交付的服务。</a:t>
            </a:r>
          </a:p>
          <a:p>
            <a:r>
              <a:rPr lang="en-US" altLang="zh-CN" dirty="0"/>
              <a:t>TCP </a:t>
            </a:r>
            <a:r>
              <a:rPr lang="zh-CN" altLang="en-US" dirty="0"/>
              <a:t>提供全双工通信。</a:t>
            </a:r>
          </a:p>
          <a:p>
            <a:r>
              <a:rPr lang="zh-CN" altLang="en-US" dirty="0"/>
              <a:t>面向字节流</a:t>
            </a:r>
          </a:p>
          <a:p>
            <a:r>
              <a:rPr lang="en-US" altLang="zh-CN" dirty="0"/>
              <a:t>TCP </a:t>
            </a:r>
            <a:r>
              <a:rPr lang="zh-CN" altLang="en-US" dirty="0"/>
              <a:t>中的“流”</a:t>
            </a:r>
            <a:r>
              <a:rPr lang="en-US" altLang="zh-CN" dirty="0"/>
              <a:t>(stream) </a:t>
            </a:r>
            <a:r>
              <a:rPr lang="zh-CN" altLang="en-US" dirty="0"/>
              <a:t>指的是流入或流出进程的字节序列。</a:t>
            </a:r>
          </a:p>
          <a:p>
            <a:r>
              <a:rPr lang="zh-CN" altLang="en-US" dirty="0"/>
              <a:t>面向字节流：虽然应用程序和 </a:t>
            </a:r>
            <a:r>
              <a:rPr lang="en-US" altLang="zh-CN" dirty="0"/>
              <a:t>TCP </a:t>
            </a:r>
            <a:r>
              <a:rPr lang="zh-CN" altLang="en-US" dirty="0"/>
              <a:t>的交互是一次一个数据块，但 </a:t>
            </a:r>
            <a:r>
              <a:rPr lang="en-US" altLang="zh-CN" dirty="0"/>
              <a:t>TCP </a:t>
            </a:r>
            <a:r>
              <a:rPr lang="zh-CN" altLang="en-US" dirty="0"/>
              <a:t>把应用程序交下来的数据看成仅仅是一连串无结构的字节流。</a:t>
            </a:r>
          </a:p>
          <a:p>
            <a:endParaRPr lang="zh-CN" altLang="en-US" dirty="0"/>
          </a:p>
        </p:txBody>
      </p:sp>
      <p:sp>
        <p:nvSpPr>
          <p:cNvPr id="5" name="标题 4">
            <a:extLst>
              <a:ext uri="{FF2B5EF4-FFF2-40B4-BE49-F238E27FC236}">
                <a16:creationId xmlns:a16="http://schemas.microsoft.com/office/drawing/2014/main" id="{A169247F-FD98-94AA-5654-AC3961C985A2}"/>
              </a:ext>
            </a:extLst>
          </p:cNvPr>
          <p:cNvSpPr>
            <a:spLocks noGrp="1"/>
          </p:cNvSpPr>
          <p:nvPr>
            <p:ph type="title"/>
          </p:nvPr>
        </p:nvSpPr>
        <p:spPr>
          <a:xfrm>
            <a:off x="2808000" y="144000"/>
            <a:ext cx="3528000" cy="338554"/>
          </a:xfrm>
        </p:spPr>
        <p:txBody>
          <a:bodyPr/>
          <a:lstStyle/>
          <a:p>
            <a:r>
              <a:rPr lang="en-US" altLang="zh-CN" dirty="0"/>
              <a:t>5.3.1  TCP </a:t>
            </a:r>
            <a:r>
              <a:rPr lang="zh-CN" altLang="en-US" dirty="0"/>
              <a:t>最主要的特点</a:t>
            </a:r>
          </a:p>
        </p:txBody>
      </p:sp>
    </p:spTree>
    <p:extLst>
      <p:ext uri="{BB962C8B-B14F-4D97-AF65-F5344CB8AC3E}">
        <p14:creationId xmlns:p14="http://schemas.microsoft.com/office/powerpoint/2010/main" val="22633297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5" name="内容占位符 4">
            <a:extLst>
              <a:ext uri="{FF2B5EF4-FFF2-40B4-BE49-F238E27FC236}">
                <a16:creationId xmlns:a16="http://schemas.microsoft.com/office/drawing/2014/main" id="{4658076A-2871-4CE3-DA62-B74FF4F91BBC}"/>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不保证接收方应用程序所收到的数据块和发送方应用程序所发出的数据块具有对应大小的关系。</a:t>
            </a:r>
          </a:p>
          <a:p>
            <a:r>
              <a:rPr lang="zh-CN" altLang="en-US" dirty="0"/>
              <a:t>但接收方应用程序收到的字节流必须和发送方应用程序发出的字节流完全一样。</a:t>
            </a:r>
          </a:p>
          <a:p>
            <a:endParaRPr lang="zh-CN" altLang="en-US" dirty="0"/>
          </a:p>
        </p:txBody>
      </p:sp>
      <p:sp>
        <p:nvSpPr>
          <p:cNvPr id="8" name="标题 7">
            <a:extLst>
              <a:ext uri="{FF2B5EF4-FFF2-40B4-BE49-F238E27FC236}">
                <a16:creationId xmlns:a16="http://schemas.microsoft.com/office/drawing/2014/main" id="{0C24D6E9-7314-A9DD-09FD-4C708E55D6CD}"/>
              </a:ext>
            </a:extLst>
          </p:cNvPr>
          <p:cNvSpPr>
            <a:spLocks noGrp="1"/>
          </p:cNvSpPr>
          <p:nvPr>
            <p:ph type="title"/>
          </p:nvPr>
        </p:nvSpPr>
        <p:spPr>
          <a:xfrm>
            <a:off x="2808000" y="144000"/>
            <a:ext cx="3528000" cy="338554"/>
          </a:xfrm>
        </p:spPr>
        <p:txBody>
          <a:bodyPr/>
          <a:lstStyle/>
          <a:p>
            <a:r>
              <a:rPr lang="en-US" altLang="zh-CN" dirty="0"/>
              <a:t>5.3.1  TCP </a:t>
            </a:r>
            <a:r>
              <a:rPr lang="zh-CN" altLang="en-US" dirty="0"/>
              <a:t>最主要的特点</a:t>
            </a:r>
          </a:p>
        </p:txBody>
      </p:sp>
    </p:spTree>
    <p:extLst>
      <p:ext uri="{BB962C8B-B14F-4D97-AF65-F5344CB8AC3E}">
        <p14:creationId xmlns:p14="http://schemas.microsoft.com/office/powerpoint/2010/main" val="26361947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grpSp>
        <p:nvGrpSpPr>
          <p:cNvPr id="73" name="组合 72"/>
          <p:cNvGrpSpPr/>
          <p:nvPr/>
        </p:nvGrpSpPr>
        <p:grpSpPr>
          <a:xfrm>
            <a:off x="1371059" y="1133857"/>
            <a:ext cx="6364516" cy="3021160"/>
            <a:chOff x="1353129" y="1133857"/>
            <a:chExt cx="6364516" cy="3021160"/>
          </a:xfrm>
        </p:grpSpPr>
        <p:sp>
          <p:nvSpPr>
            <p:cNvPr id="5" name="AutoShape 47"/>
            <p:cNvSpPr>
              <a:spLocks noChangeArrowheads="1"/>
            </p:cNvSpPr>
            <p:nvPr/>
          </p:nvSpPr>
          <p:spPr bwMode="auto">
            <a:xfrm>
              <a:off x="5941645" y="3705611"/>
              <a:ext cx="197550" cy="90625"/>
            </a:xfrm>
            <a:prstGeom prst="rightArrow">
              <a:avLst>
                <a:gd name="adj1" fmla="val 50000"/>
                <a:gd name="adj2" fmla="val 50305"/>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107"/>
            <p:cNvSpPr>
              <a:spLocks noChangeArrowheads="1"/>
            </p:cNvSpPr>
            <p:nvPr/>
          </p:nvSpPr>
          <p:spPr bwMode="auto">
            <a:xfrm>
              <a:off x="3439663" y="1276633"/>
              <a:ext cx="2247619" cy="522608"/>
            </a:xfrm>
            <a:prstGeom prst="rect">
              <a:avLst/>
            </a:prstGeom>
            <a:solidFill>
              <a:srgbClr val="99FFCC"/>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endParaRPr lang="zh-CN" altLang="en-US" sz="1100" b="1">
                <a:latin typeface="微软雅黑" pitchFamily="34" charset="-122"/>
                <a:ea typeface="微软雅黑" pitchFamily="34" charset="-122"/>
              </a:endParaRPr>
            </a:p>
          </p:txBody>
        </p:sp>
        <p:grpSp>
          <p:nvGrpSpPr>
            <p:cNvPr id="7" name="Group 80"/>
            <p:cNvGrpSpPr>
              <a:grpSpLocks/>
            </p:cNvGrpSpPr>
            <p:nvPr/>
          </p:nvGrpSpPr>
          <p:grpSpPr bwMode="auto">
            <a:xfrm>
              <a:off x="5325046" y="3643721"/>
              <a:ext cx="652517" cy="200037"/>
              <a:chOff x="2925" y="1570"/>
              <a:chExt cx="545" cy="181"/>
            </a:xfrm>
          </p:grpSpPr>
          <p:grpSp>
            <p:nvGrpSpPr>
              <p:cNvPr id="8" name="Group 81"/>
              <p:cNvGrpSpPr>
                <a:grpSpLocks/>
              </p:cNvGrpSpPr>
              <p:nvPr/>
            </p:nvGrpSpPr>
            <p:grpSpPr bwMode="auto">
              <a:xfrm>
                <a:off x="3061" y="1570"/>
                <a:ext cx="272" cy="181"/>
                <a:chOff x="3061" y="1842"/>
                <a:chExt cx="272" cy="181"/>
              </a:xfrm>
            </p:grpSpPr>
            <p:sp>
              <p:nvSpPr>
                <p:cNvPr id="11" name="Rectangle 82"/>
                <p:cNvSpPr>
                  <a:spLocks noChangeArrowheads="1"/>
                </p:cNvSpPr>
                <p:nvPr/>
              </p:nvSpPr>
              <p:spPr bwMode="auto">
                <a:xfrm>
                  <a:off x="3061"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7</a:t>
                  </a:r>
                </a:p>
              </p:txBody>
            </p:sp>
            <p:sp>
              <p:nvSpPr>
                <p:cNvPr id="12" name="Rectangle 83"/>
                <p:cNvSpPr>
                  <a:spLocks noChangeArrowheads="1"/>
                </p:cNvSpPr>
                <p:nvPr/>
              </p:nvSpPr>
              <p:spPr bwMode="auto">
                <a:xfrm>
                  <a:off x="3197"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6</a:t>
                  </a:r>
                </a:p>
              </p:txBody>
            </p:sp>
          </p:grpSp>
          <p:sp>
            <p:nvSpPr>
              <p:cNvPr id="9" name="Rectangle 84"/>
              <p:cNvSpPr>
                <a:spLocks noChangeArrowheads="1"/>
              </p:cNvSpPr>
              <p:nvPr/>
            </p:nvSpPr>
            <p:spPr bwMode="auto">
              <a:xfrm>
                <a:off x="2925" y="157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8</a:t>
                </a:r>
              </a:p>
            </p:txBody>
          </p:sp>
          <p:sp>
            <p:nvSpPr>
              <p:cNvPr id="10" name="Rectangle 85"/>
              <p:cNvSpPr>
                <a:spLocks noChangeArrowheads="1"/>
              </p:cNvSpPr>
              <p:nvPr/>
            </p:nvSpPr>
            <p:spPr bwMode="auto">
              <a:xfrm>
                <a:off x="3334" y="1570"/>
                <a:ext cx="136" cy="181"/>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H</a:t>
                </a:r>
              </a:p>
            </p:txBody>
          </p:sp>
        </p:grpSp>
        <p:sp>
          <p:nvSpPr>
            <p:cNvPr id="13" name="Text Box 62"/>
            <p:cNvSpPr txBox="1">
              <a:spLocks noChangeArrowheads="1"/>
            </p:cNvSpPr>
            <p:nvPr/>
          </p:nvSpPr>
          <p:spPr bwMode="auto">
            <a:xfrm>
              <a:off x="6422399"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4" name="Freeform 44"/>
            <p:cNvSpPr>
              <a:spLocks/>
            </p:cNvSpPr>
            <p:nvPr/>
          </p:nvSpPr>
          <p:spPr bwMode="auto">
            <a:xfrm>
              <a:off x="6467249" y="3392844"/>
              <a:ext cx="269388" cy="618901"/>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 name="Text Box 45"/>
            <p:cNvSpPr txBox="1">
              <a:spLocks noChangeArrowheads="1"/>
            </p:cNvSpPr>
            <p:nvPr/>
          </p:nvSpPr>
          <p:spPr bwMode="auto">
            <a:xfrm>
              <a:off x="1696743" y="1231508"/>
              <a:ext cx="6158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4800" b="1" dirty="0">
                  <a:solidFill>
                    <a:srgbClr val="0033CC"/>
                  </a:solidFill>
                  <a:latin typeface="微软雅黑" pitchFamily="34" charset="-122"/>
                  <a:ea typeface="微软雅黑" pitchFamily="34" charset="-122"/>
                  <a:sym typeface="Wingdings" pitchFamily="2" charset="2"/>
                </a:rPr>
                <a:t></a:t>
              </a:r>
              <a:endParaRPr kumimoji="1" lang="en-US" altLang="zh-CN" sz="4800" b="1" dirty="0">
                <a:solidFill>
                  <a:srgbClr val="0033CC"/>
                </a:solidFill>
                <a:latin typeface="微软雅黑" pitchFamily="34" charset="-122"/>
                <a:ea typeface="微软雅黑" pitchFamily="34" charset="-122"/>
              </a:endParaRPr>
            </a:p>
          </p:txBody>
        </p:sp>
        <p:sp>
          <p:nvSpPr>
            <p:cNvPr id="16" name="AutoShape 46"/>
            <p:cNvSpPr>
              <a:spLocks noChangeArrowheads="1"/>
            </p:cNvSpPr>
            <p:nvPr/>
          </p:nvSpPr>
          <p:spPr bwMode="auto">
            <a:xfrm>
              <a:off x="4428286" y="3706716"/>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7" name="AutoShape 48"/>
            <p:cNvSpPr>
              <a:spLocks noChangeArrowheads="1"/>
            </p:cNvSpPr>
            <p:nvPr/>
          </p:nvSpPr>
          <p:spPr bwMode="auto">
            <a:xfrm>
              <a:off x="3062191" y="3705611"/>
              <a:ext cx="198748" cy="90625"/>
            </a:xfrm>
            <a:prstGeom prst="rightArrow">
              <a:avLst>
                <a:gd name="adj1" fmla="val 50000"/>
                <a:gd name="adj2" fmla="val 50610"/>
              </a:avLst>
            </a:prstGeom>
            <a:solidFill>
              <a:srgbClr val="CC00CC"/>
            </a:solidFill>
            <a:ln w="9525">
              <a:solidFill>
                <a:srgbClr val="CC00CC"/>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18" name="Line 49"/>
            <p:cNvSpPr>
              <a:spLocks noChangeShapeType="1"/>
            </p:cNvSpPr>
            <p:nvPr/>
          </p:nvSpPr>
          <p:spPr bwMode="auto">
            <a:xfrm>
              <a:off x="2012179" y="1889800"/>
              <a:ext cx="2395" cy="1035554"/>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9" name="Text Box 50"/>
            <p:cNvSpPr txBox="1">
              <a:spLocks noChangeArrowheads="1"/>
            </p:cNvSpPr>
            <p:nvPr/>
          </p:nvSpPr>
          <p:spPr bwMode="auto">
            <a:xfrm>
              <a:off x="4846599" y="3376267"/>
              <a:ext cx="13424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发送 </a:t>
              </a:r>
              <a:r>
                <a:rPr kumimoji="1" lang="en-US" altLang="zh-CN" sz="1200" b="1" dirty="0">
                  <a:solidFill>
                    <a:srgbClr val="0000FF"/>
                  </a:solidFill>
                  <a:latin typeface="微软雅黑" pitchFamily="34" charset="-122"/>
                  <a:ea typeface="微软雅黑" pitchFamily="34" charset="-122"/>
                </a:rPr>
                <a:t>TCP </a:t>
              </a:r>
              <a:r>
                <a:rPr kumimoji="1" lang="zh-CN" altLang="en-US" sz="1200" b="1">
                  <a:solidFill>
                    <a:srgbClr val="0000FF"/>
                  </a:solidFill>
                  <a:latin typeface="微软雅黑" pitchFamily="34" charset="-122"/>
                  <a:ea typeface="微软雅黑" pitchFamily="34" charset="-122"/>
                </a:rPr>
                <a:t>报文段</a:t>
              </a:r>
            </a:p>
          </p:txBody>
        </p:sp>
        <p:sp>
          <p:nvSpPr>
            <p:cNvPr id="20" name="Rectangle 51"/>
            <p:cNvSpPr>
              <a:spLocks noChangeArrowheads="1"/>
            </p:cNvSpPr>
            <p:nvPr/>
          </p:nvSpPr>
          <p:spPr bwMode="auto">
            <a:xfrm>
              <a:off x="1390791" y="2917618"/>
              <a:ext cx="1254747"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dirty="0">
                <a:latin typeface="微软雅黑" pitchFamily="34" charset="-122"/>
                <a:ea typeface="微软雅黑" pitchFamily="34" charset="-122"/>
              </a:endParaRPr>
            </a:p>
            <a:p>
              <a:pPr algn="ctr"/>
              <a:endParaRPr kumimoji="1" lang="en-US" altLang="zh-CN" sz="1200" b="1" dirty="0">
                <a:latin typeface="微软雅黑" pitchFamily="34" charset="-122"/>
                <a:ea typeface="微软雅黑" pitchFamily="34" charset="-122"/>
              </a:endParaRPr>
            </a:p>
            <a:p>
              <a:pPr algn="ctr"/>
              <a:endParaRPr kumimoji="1" lang="en-US" altLang="zh-CN" sz="1200" b="1" dirty="0">
                <a:latin typeface="微软雅黑" pitchFamily="34" charset="-122"/>
                <a:ea typeface="微软雅黑" pitchFamily="34" charset="-122"/>
              </a:endParaRPr>
            </a:p>
          </p:txBody>
        </p:sp>
        <p:sp>
          <p:nvSpPr>
            <p:cNvPr id="21" name="Line 52"/>
            <p:cNvSpPr>
              <a:spLocks noChangeShapeType="1"/>
            </p:cNvSpPr>
            <p:nvPr/>
          </p:nvSpPr>
          <p:spPr bwMode="auto">
            <a:xfrm flipV="1">
              <a:off x="6756991" y="1889801"/>
              <a:ext cx="0" cy="1027817"/>
            </a:xfrm>
            <a:prstGeom prst="line">
              <a:avLst/>
            </a:prstGeom>
            <a:noFill/>
            <a:ln w="19050">
              <a:solidFill>
                <a:srgbClr val="0000FF"/>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2" name="Rectangle 53"/>
            <p:cNvSpPr>
              <a:spLocks noChangeArrowheads="1"/>
            </p:cNvSpPr>
            <p:nvPr/>
          </p:nvSpPr>
          <p:spPr bwMode="auto">
            <a:xfrm>
              <a:off x="6129618" y="2917618"/>
              <a:ext cx="1253550" cy="475227"/>
            </a:xfrm>
            <a:prstGeom prst="rect">
              <a:avLst/>
            </a:prstGeom>
            <a:solidFill>
              <a:srgbClr val="3366FF"/>
            </a:solidFill>
            <a:ln w="19050">
              <a:solidFill>
                <a:schemeClr val="tx1"/>
              </a:solidFill>
              <a:miter lim="800000"/>
              <a:headEnd/>
              <a:tailEnd/>
            </a:ln>
            <a:effectLst/>
          </p:spPr>
          <p:txBody>
            <a:bodyPr wrap="none" anchor="ctr"/>
            <a:lstStyle/>
            <a:p>
              <a:pPr algn="ctr"/>
              <a:endParaRPr kumimoji="1" lang="en-US" altLang="zh-CN" sz="1200" b="1" dirty="0">
                <a:latin typeface="微软雅黑" pitchFamily="34" charset="-122"/>
                <a:ea typeface="微软雅黑" pitchFamily="34" charset="-122"/>
              </a:endParaRPr>
            </a:p>
            <a:p>
              <a:pPr algn="ctr"/>
              <a:endParaRPr kumimoji="1" lang="en-US" altLang="zh-CN" sz="1200" b="1" dirty="0">
                <a:latin typeface="微软雅黑" pitchFamily="34" charset="-122"/>
                <a:ea typeface="微软雅黑" pitchFamily="34" charset="-122"/>
              </a:endParaRPr>
            </a:p>
            <a:p>
              <a:pPr algn="ctr"/>
              <a:endParaRPr kumimoji="1" lang="en-US" altLang="zh-CN" sz="1200" b="1" dirty="0">
                <a:latin typeface="微软雅黑" pitchFamily="34" charset="-122"/>
                <a:ea typeface="微软雅黑" pitchFamily="34" charset="-122"/>
              </a:endParaRPr>
            </a:p>
          </p:txBody>
        </p:sp>
        <p:sp>
          <p:nvSpPr>
            <p:cNvPr id="23" name="Text Box 54"/>
            <p:cNvSpPr txBox="1">
              <a:spLocks noChangeArrowheads="1"/>
            </p:cNvSpPr>
            <p:nvPr/>
          </p:nvSpPr>
          <p:spPr bwMode="auto">
            <a:xfrm>
              <a:off x="1687816"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发送方</a:t>
              </a:r>
            </a:p>
          </p:txBody>
        </p:sp>
        <p:sp>
          <p:nvSpPr>
            <p:cNvPr id="24" name="Text Box 55"/>
            <p:cNvSpPr txBox="1">
              <a:spLocks noChangeArrowheads="1"/>
            </p:cNvSpPr>
            <p:nvPr/>
          </p:nvSpPr>
          <p:spPr bwMode="auto">
            <a:xfrm>
              <a:off x="6421852" y="113385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a:solidFill>
                    <a:srgbClr val="0000FF"/>
                  </a:solidFill>
                  <a:latin typeface="微软雅黑" pitchFamily="34" charset="-122"/>
                  <a:ea typeface="微软雅黑" pitchFamily="34" charset="-122"/>
                </a:rPr>
                <a:t>接收方</a:t>
              </a:r>
            </a:p>
          </p:txBody>
        </p:sp>
        <p:sp>
          <p:nvSpPr>
            <p:cNvPr id="25" name="AutoShape 56"/>
            <p:cNvSpPr>
              <a:spLocks noChangeArrowheads="1"/>
            </p:cNvSpPr>
            <p:nvPr/>
          </p:nvSpPr>
          <p:spPr bwMode="auto">
            <a:xfrm>
              <a:off x="2554545" y="2390447"/>
              <a:ext cx="909931" cy="424389"/>
            </a:xfrm>
            <a:prstGeom prst="wedgeRoundRectCallout">
              <a:avLst>
                <a:gd name="adj1" fmla="val -85792"/>
                <a:gd name="adj2" fmla="val 120833"/>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6" name="Text Box 57"/>
            <p:cNvSpPr txBox="1">
              <a:spLocks noChangeArrowheads="1"/>
            </p:cNvSpPr>
            <p:nvPr/>
          </p:nvSpPr>
          <p:spPr bwMode="auto">
            <a:xfrm>
              <a:off x="2548022" y="237828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把字节写入</a:t>
              </a:r>
            </a:p>
            <a:p>
              <a:pPr algn="ctr"/>
              <a:r>
                <a:rPr kumimoji="1" lang="zh-CN" altLang="en-US" sz="1200" b="1" dirty="0">
                  <a:latin typeface="微软雅黑" pitchFamily="34" charset="-122"/>
                  <a:ea typeface="微软雅黑" pitchFamily="34" charset="-122"/>
                </a:rPr>
                <a:t>发送缓存</a:t>
              </a:r>
            </a:p>
          </p:txBody>
        </p:sp>
        <p:sp>
          <p:nvSpPr>
            <p:cNvPr id="27" name="AutoShape 58"/>
            <p:cNvSpPr>
              <a:spLocks noChangeArrowheads="1"/>
            </p:cNvSpPr>
            <p:nvPr/>
          </p:nvSpPr>
          <p:spPr bwMode="auto">
            <a:xfrm>
              <a:off x="5650706" y="2190409"/>
              <a:ext cx="890775" cy="424389"/>
            </a:xfrm>
            <a:prstGeom prst="wedgeRoundRectCallout">
              <a:avLst>
                <a:gd name="adj1" fmla="val 80912"/>
                <a:gd name="adj2" fmla="val 178384"/>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28" name="Text Box 59"/>
            <p:cNvSpPr txBox="1">
              <a:spLocks noChangeArrowheads="1"/>
            </p:cNvSpPr>
            <p:nvPr/>
          </p:nvSpPr>
          <p:spPr bwMode="auto">
            <a:xfrm>
              <a:off x="5620236" y="2190409"/>
              <a:ext cx="95410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从接收缓存</a:t>
              </a:r>
            </a:p>
            <a:p>
              <a:pPr algn="ctr"/>
              <a:r>
                <a:rPr kumimoji="1" lang="zh-CN" altLang="en-US" sz="1200" b="1" dirty="0">
                  <a:latin typeface="微软雅黑" pitchFamily="34" charset="-122"/>
                  <a:ea typeface="微软雅黑" pitchFamily="34" charset="-122"/>
                </a:rPr>
                <a:t>读取字节</a:t>
              </a:r>
            </a:p>
          </p:txBody>
        </p:sp>
        <p:sp>
          <p:nvSpPr>
            <p:cNvPr id="29" name="Text Box 60"/>
            <p:cNvSpPr txBox="1">
              <a:spLocks noChangeArrowheads="1"/>
            </p:cNvSpPr>
            <p:nvPr/>
          </p:nvSpPr>
          <p:spPr bwMode="auto">
            <a:xfrm>
              <a:off x="2175008" y="1551616"/>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00FF"/>
                  </a:solidFill>
                  <a:latin typeface="微软雅黑" pitchFamily="34" charset="-122"/>
                  <a:ea typeface="微软雅黑" pitchFamily="34" charset="-122"/>
                </a:rPr>
                <a:t>应用进程</a:t>
              </a:r>
            </a:p>
          </p:txBody>
        </p:sp>
        <p:sp>
          <p:nvSpPr>
            <p:cNvPr id="30" name="Text Box 61"/>
            <p:cNvSpPr txBox="1">
              <a:spLocks noChangeArrowheads="1"/>
            </p:cNvSpPr>
            <p:nvPr/>
          </p:nvSpPr>
          <p:spPr bwMode="auto">
            <a:xfrm>
              <a:off x="6917426" y="151293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应用进程</a:t>
              </a:r>
            </a:p>
          </p:txBody>
        </p:sp>
        <p:grpSp>
          <p:nvGrpSpPr>
            <p:cNvPr id="31" name="Group 63"/>
            <p:cNvGrpSpPr>
              <a:grpSpLocks/>
            </p:cNvGrpSpPr>
            <p:nvPr/>
          </p:nvGrpSpPr>
          <p:grpSpPr bwMode="auto">
            <a:xfrm>
              <a:off x="6865943" y="1990372"/>
              <a:ext cx="162830" cy="801255"/>
              <a:chOff x="3107" y="210"/>
              <a:chExt cx="136" cy="725"/>
            </a:xfrm>
          </p:grpSpPr>
          <p:sp>
            <p:nvSpPr>
              <p:cNvPr id="32" name="Rectangle 64"/>
              <p:cNvSpPr>
                <a:spLocks noChangeArrowheads="1"/>
              </p:cNvSpPr>
              <p:nvPr/>
            </p:nvSpPr>
            <p:spPr bwMode="auto">
              <a:xfrm>
                <a:off x="3107" y="391"/>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1</a:t>
                </a:r>
              </a:p>
            </p:txBody>
          </p:sp>
          <p:sp>
            <p:nvSpPr>
              <p:cNvPr id="33" name="Rectangle 65"/>
              <p:cNvSpPr>
                <a:spLocks noChangeArrowheads="1"/>
              </p:cNvSpPr>
              <p:nvPr/>
            </p:nvSpPr>
            <p:spPr bwMode="auto">
              <a:xfrm>
                <a:off x="3107" y="573"/>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2</a:t>
                </a:r>
              </a:p>
            </p:txBody>
          </p:sp>
          <p:sp>
            <p:nvSpPr>
              <p:cNvPr id="34" name="Rectangle 66"/>
              <p:cNvSpPr>
                <a:spLocks noChangeArrowheads="1"/>
              </p:cNvSpPr>
              <p:nvPr/>
            </p:nvSpPr>
            <p:spPr bwMode="auto">
              <a:xfrm>
                <a:off x="3107" y="754"/>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3</a:t>
                </a:r>
              </a:p>
            </p:txBody>
          </p:sp>
          <p:sp>
            <p:nvSpPr>
              <p:cNvPr id="35" name="Rectangle 67"/>
              <p:cNvSpPr>
                <a:spLocks noChangeArrowheads="1"/>
              </p:cNvSpPr>
              <p:nvPr/>
            </p:nvSpPr>
            <p:spPr bwMode="auto">
              <a:xfrm>
                <a:off x="3107" y="210"/>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0</a:t>
                </a:r>
              </a:p>
            </p:txBody>
          </p:sp>
        </p:grpSp>
        <p:sp>
          <p:nvSpPr>
            <p:cNvPr id="36" name="Rectangle 68"/>
            <p:cNvSpPr>
              <a:spLocks noChangeArrowheads="1"/>
            </p:cNvSpPr>
            <p:nvPr/>
          </p:nvSpPr>
          <p:spPr bwMode="auto">
            <a:xfrm>
              <a:off x="157756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18</a:t>
              </a:r>
            </a:p>
          </p:txBody>
        </p:sp>
        <p:sp>
          <p:nvSpPr>
            <p:cNvPr id="37" name="Rectangle 69"/>
            <p:cNvSpPr>
              <a:spLocks noChangeArrowheads="1"/>
            </p:cNvSpPr>
            <p:nvPr/>
          </p:nvSpPr>
          <p:spPr bwMode="auto">
            <a:xfrm>
              <a:off x="174039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17</a:t>
              </a:r>
            </a:p>
          </p:txBody>
        </p:sp>
        <p:sp>
          <p:nvSpPr>
            <p:cNvPr id="38" name="Rectangle 70"/>
            <p:cNvSpPr>
              <a:spLocks noChangeArrowheads="1"/>
            </p:cNvSpPr>
            <p:nvPr/>
          </p:nvSpPr>
          <p:spPr bwMode="auto">
            <a:xfrm>
              <a:off x="190322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16</a:t>
              </a:r>
            </a:p>
          </p:txBody>
        </p:sp>
        <p:sp>
          <p:nvSpPr>
            <p:cNvPr id="39" name="Rectangle 71"/>
            <p:cNvSpPr>
              <a:spLocks noChangeArrowheads="1"/>
            </p:cNvSpPr>
            <p:nvPr/>
          </p:nvSpPr>
          <p:spPr bwMode="auto">
            <a:xfrm>
              <a:off x="2066056" y="3130373"/>
              <a:ext cx="162830" cy="200038"/>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15</a:t>
              </a:r>
            </a:p>
          </p:txBody>
        </p:sp>
        <p:sp>
          <p:nvSpPr>
            <p:cNvPr id="40" name="Rectangle 72"/>
            <p:cNvSpPr>
              <a:spLocks noChangeArrowheads="1"/>
            </p:cNvSpPr>
            <p:nvPr/>
          </p:nvSpPr>
          <p:spPr bwMode="auto">
            <a:xfrm>
              <a:off x="2228885" y="3130373"/>
              <a:ext cx="162830" cy="200038"/>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14</a:t>
              </a:r>
            </a:p>
          </p:txBody>
        </p:sp>
        <p:grpSp>
          <p:nvGrpSpPr>
            <p:cNvPr id="41" name="Group 73"/>
            <p:cNvGrpSpPr>
              <a:grpSpLocks/>
            </p:cNvGrpSpPr>
            <p:nvPr/>
          </p:nvGrpSpPr>
          <p:grpSpPr bwMode="auto">
            <a:xfrm>
              <a:off x="2119934" y="2053366"/>
              <a:ext cx="162830" cy="601218"/>
              <a:chOff x="1429" y="176"/>
              <a:chExt cx="136" cy="544"/>
            </a:xfrm>
          </p:grpSpPr>
          <p:sp>
            <p:nvSpPr>
              <p:cNvPr id="42" name="Rectangle 74"/>
              <p:cNvSpPr>
                <a:spLocks noChangeArrowheads="1"/>
              </p:cNvSpPr>
              <p:nvPr/>
            </p:nvSpPr>
            <p:spPr bwMode="auto">
              <a:xfrm>
                <a:off x="1429" y="539"/>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19</a:t>
                </a:r>
              </a:p>
            </p:txBody>
          </p:sp>
          <p:sp>
            <p:nvSpPr>
              <p:cNvPr id="43" name="Rectangle 75"/>
              <p:cNvSpPr>
                <a:spLocks noChangeArrowheads="1"/>
              </p:cNvSpPr>
              <p:nvPr/>
            </p:nvSpPr>
            <p:spPr bwMode="auto">
              <a:xfrm>
                <a:off x="1429" y="358"/>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20</a:t>
                </a:r>
              </a:p>
            </p:txBody>
          </p:sp>
          <p:sp>
            <p:nvSpPr>
              <p:cNvPr id="44" name="Rectangle 76"/>
              <p:cNvSpPr>
                <a:spLocks noChangeArrowheads="1"/>
              </p:cNvSpPr>
              <p:nvPr/>
            </p:nvSpPr>
            <p:spPr bwMode="auto">
              <a:xfrm>
                <a:off x="1429" y="176"/>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21</a:t>
                </a:r>
              </a:p>
            </p:txBody>
          </p:sp>
        </p:grpSp>
        <p:grpSp>
          <p:nvGrpSpPr>
            <p:cNvPr id="45" name="Group 77"/>
            <p:cNvGrpSpPr>
              <a:grpSpLocks/>
            </p:cNvGrpSpPr>
            <p:nvPr/>
          </p:nvGrpSpPr>
          <p:grpSpPr bwMode="auto">
            <a:xfrm>
              <a:off x="6595358" y="3141969"/>
              <a:ext cx="325659" cy="200037"/>
              <a:chOff x="2789" y="1842"/>
              <a:chExt cx="272" cy="181"/>
            </a:xfrm>
          </p:grpSpPr>
          <p:sp>
            <p:nvSpPr>
              <p:cNvPr id="46" name="Rectangle 78"/>
              <p:cNvSpPr>
                <a:spLocks noChangeArrowheads="1"/>
              </p:cNvSpPr>
              <p:nvPr/>
            </p:nvSpPr>
            <p:spPr bwMode="auto">
              <a:xfrm>
                <a:off x="2925"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4</a:t>
                </a:r>
              </a:p>
            </p:txBody>
          </p:sp>
          <p:sp>
            <p:nvSpPr>
              <p:cNvPr id="47" name="Rectangle 79"/>
              <p:cNvSpPr>
                <a:spLocks noChangeArrowheads="1"/>
              </p:cNvSpPr>
              <p:nvPr/>
            </p:nvSpPr>
            <p:spPr bwMode="auto">
              <a:xfrm>
                <a:off x="2789" y="184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5</a:t>
                </a:r>
              </a:p>
            </p:txBody>
          </p:sp>
        </p:grpSp>
        <p:grpSp>
          <p:nvGrpSpPr>
            <p:cNvPr id="48" name="Group 86"/>
            <p:cNvGrpSpPr>
              <a:grpSpLocks/>
            </p:cNvGrpSpPr>
            <p:nvPr/>
          </p:nvGrpSpPr>
          <p:grpSpPr bwMode="auto">
            <a:xfrm>
              <a:off x="2446790" y="3643721"/>
              <a:ext cx="651319" cy="200037"/>
              <a:chOff x="2200" y="1298"/>
              <a:chExt cx="544" cy="181"/>
            </a:xfrm>
          </p:grpSpPr>
          <p:sp>
            <p:nvSpPr>
              <p:cNvPr id="49" name="Rectangle 87"/>
              <p:cNvSpPr>
                <a:spLocks noChangeArrowheads="1"/>
              </p:cNvSpPr>
              <p:nvPr/>
            </p:nvSpPr>
            <p:spPr bwMode="auto">
              <a:xfrm>
                <a:off x="2200"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13</a:t>
                </a:r>
              </a:p>
            </p:txBody>
          </p:sp>
          <p:sp>
            <p:nvSpPr>
              <p:cNvPr id="50" name="Rectangle 88"/>
              <p:cNvSpPr>
                <a:spLocks noChangeArrowheads="1"/>
              </p:cNvSpPr>
              <p:nvPr/>
            </p:nvSpPr>
            <p:spPr bwMode="auto">
              <a:xfrm>
                <a:off x="2336"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12</a:t>
                </a:r>
              </a:p>
            </p:txBody>
          </p:sp>
          <p:sp>
            <p:nvSpPr>
              <p:cNvPr id="51" name="Rectangle 89"/>
              <p:cNvSpPr>
                <a:spLocks noChangeArrowheads="1"/>
              </p:cNvSpPr>
              <p:nvPr/>
            </p:nvSpPr>
            <p:spPr bwMode="auto">
              <a:xfrm>
                <a:off x="2472" y="1298"/>
                <a:ext cx="136" cy="181"/>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11</a:t>
                </a:r>
              </a:p>
            </p:txBody>
          </p:sp>
          <p:sp>
            <p:nvSpPr>
              <p:cNvPr id="52" name="Rectangle 90"/>
              <p:cNvSpPr>
                <a:spLocks noChangeArrowheads="1"/>
              </p:cNvSpPr>
              <p:nvPr/>
            </p:nvSpPr>
            <p:spPr bwMode="auto">
              <a:xfrm>
                <a:off x="2608" y="1298"/>
                <a:ext cx="136" cy="181"/>
              </a:xfrm>
              <a:prstGeom prst="rect">
                <a:avLst/>
              </a:prstGeom>
              <a:solidFill>
                <a:srgbClr val="FF00FF"/>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H</a:t>
                </a:r>
              </a:p>
            </p:txBody>
          </p:sp>
        </p:grpSp>
        <p:grpSp>
          <p:nvGrpSpPr>
            <p:cNvPr id="53" name="Group 91"/>
            <p:cNvGrpSpPr>
              <a:grpSpLocks/>
            </p:cNvGrpSpPr>
            <p:nvPr/>
          </p:nvGrpSpPr>
          <p:grpSpPr bwMode="auto">
            <a:xfrm>
              <a:off x="3967333" y="3644825"/>
              <a:ext cx="325659" cy="200038"/>
              <a:chOff x="2290" y="482"/>
              <a:chExt cx="272" cy="181"/>
            </a:xfrm>
          </p:grpSpPr>
          <p:sp>
            <p:nvSpPr>
              <p:cNvPr id="54" name="Rectangle 92"/>
              <p:cNvSpPr>
                <a:spLocks noChangeArrowheads="1"/>
              </p:cNvSpPr>
              <p:nvPr/>
            </p:nvSpPr>
            <p:spPr bwMode="auto">
              <a:xfrm>
                <a:off x="2290"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50" b="1" dirty="0">
                    <a:latin typeface="微软雅黑" pitchFamily="34" charset="-122"/>
                    <a:ea typeface="微软雅黑" pitchFamily="34" charset="-122"/>
                  </a:rPr>
                  <a:t>10</a:t>
                </a:r>
              </a:p>
            </p:txBody>
          </p:sp>
          <p:sp>
            <p:nvSpPr>
              <p:cNvPr id="55" name="Rectangle 93"/>
              <p:cNvSpPr>
                <a:spLocks noChangeArrowheads="1"/>
              </p:cNvSpPr>
              <p:nvPr/>
            </p:nvSpPr>
            <p:spPr bwMode="auto">
              <a:xfrm>
                <a:off x="2426" y="482"/>
                <a:ext cx="136" cy="181"/>
              </a:xfrm>
              <a:prstGeom prst="rect">
                <a:avLst/>
              </a:prstGeom>
              <a:solidFill>
                <a:srgbClr val="66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9</a:t>
                </a:r>
              </a:p>
            </p:txBody>
          </p:sp>
        </p:grpSp>
        <p:sp>
          <p:nvSpPr>
            <p:cNvPr id="56" name="Rectangle 94"/>
            <p:cNvSpPr>
              <a:spLocks noChangeArrowheads="1"/>
            </p:cNvSpPr>
            <p:nvPr/>
          </p:nvSpPr>
          <p:spPr bwMode="auto">
            <a:xfrm>
              <a:off x="4292992" y="3644825"/>
              <a:ext cx="162830" cy="200038"/>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H</a:t>
              </a:r>
            </a:p>
          </p:txBody>
        </p:sp>
        <p:sp>
          <p:nvSpPr>
            <p:cNvPr id="57" name="AutoShape 95"/>
            <p:cNvSpPr>
              <a:spLocks noChangeArrowheads="1"/>
            </p:cNvSpPr>
            <p:nvPr/>
          </p:nvSpPr>
          <p:spPr bwMode="auto">
            <a:xfrm>
              <a:off x="3423769" y="2892198"/>
              <a:ext cx="1412788" cy="424389"/>
            </a:xfrm>
            <a:prstGeom prst="wedgeRoundRectCallout">
              <a:avLst>
                <a:gd name="adj1" fmla="val -73306"/>
                <a:gd name="adj2" fmla="val 126301"/>
                <a:gd name="adj3" fmla="val 16667"/>
              </a:avLst>
            </a:prstGeom>
            <a:solidFill>
              <a:srgbClr val="00FFFF"/>
            </a:solidFill>
            <a:ln w="9525">
              <a:solidFill>
                <a:schemeClr val="tx1"/>
              </a:solidFill>
              <a:miter lim="800000"/>
              <a:headEnd/>
              <a:tailEnd/>
            </a:ln>
            <a:effectLst/>
          </p:spPr>
          <p:txBody>
            <a:bodyPr/>
            <a:lstStyle/>
            <a:p>
              <a:pPr algn="ctr"/>
              <a:endParaRPr kumimoji="1" lang="zh-CN" altLang="zh-CN" sz="1200" b="1">
                <a:latin typeface="微软雅黑" pitchFamily="34" charset="-122"/>
                <a:ea typeface="微软雅黑" pitchFamily="34" charset="-122"/>
              </a:endParaRPr>
            </a:p>
          </p:txBody>
        </p:sp>
        <p:sp>
          <p:nvSpPr>
            <p:cNvPr id="58" name="Text Box 96"/>
            <p:cNvSpPr txBox="1">
              <a:spLocks noChangeArrowheads="1"/>
            </p:cNvSpPr>
            <p:nvPr/>
          </p:nvSpPr>
          <p:spPr bwMode="auto">
            <a:xfrm>
              <a:off x="3425430" y="2878936"/>
              <a:ext cx="13424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加上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首部</a:t>
              </a:r>
            </a:p>
            <a:p>
              <a:pPr algn="ctr"/>
              <a:r>
                <a:rPr kumimoji="1" lang="zh-CN" altLang="en-US" sz="1200" b="1" dirty="0">
                  <a:latin typeface="微软雅黑" pitchFamily="34" charset="-122"/>
                  <a:ea typeface="微软雅黑" pitchFamily="34" charset="-122"/>
                </a:rPr>
                <a:t>构成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59" name="Line 97"/>
            <p:cNvSpPr>
              <a:spLocks noChangeShapeType="1"/>
            </p:cNvSpPr>
            <p:nvPr/>
          </p:nvSpPr>
          <p:spPr bwMode="auto">
            <a:xfrm>
              <a:off x="2385873" y="2148412"/>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0" name="Line 98"/>
            <p:cNvSpPr>
              <a:spLocks noChangeShapeType="1"/>
            </p:cNvSpPr>
            <p:nvPr/>
          </p:nvSpPr>
          <p:spPr bwMode="auto">
            <a:xfrm flipV="1">
              <a:off x="7112726" y="2190409"/>
              <a:ext cx="0" cy="401181"/>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61" name="Text Box 99"/>
            <p:cNvSpPr txBox="1">
              <a:spLocks noChangeArrowheads="1"/>
            </p:cNvSpPr>
            <p:nvPr/>
          </p:nvSpPr>
          <p:spPr bwMode="auto">
            <a:xfrm>
              <a:off x="1353129" y="2868989"/>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itchFamily="34" charset="-122"/>
                  <a:ea typeface="微软雅黑" pitchFamily="34" charset="-122"/>
                </a:rPr>
                <a:t>TCP</a:t>
              </a:r>
            </a:p>
          </p:txBody>
        </p:sp>
        <p:sp>
          <p:nvSpPr>
            <p:cNvPr id="62" name="Text Box 100"/>
            <p:cNvSpPr txBox="1">
              <a:spLocks noChangeArrowheads="1"/>
            </p:cNvSpPr>
            <p:nvPr/>
          </p:nvSpPr>
          <p:spPr bwMode="auto">
            <a:xfrm>
              <a:off x="6090757" y="2875621"/>
              <a:ext cx="48000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solidFill>
                    <a:schemeClr val="bg1"/>
                  </a:solidFill>
                  <a:latin typeface="微软雅黑" pitchFamily="34" charset="-122"/>
                  <a:ea typeface="微软雅黑" pitchFamily="34" charset="-122"/>
                </a:rPr>
                <a:t>TCP</a:t>
              </a:r>
            </a:p>
          </p:txBody>
        </p:sp>
        <p:sp>
          <p:nvSpPr>
            <p:cNvPr id="63" name="Text Box 101"/>
            <p:cNvSpPr txBox="1">
              <a:spLocks noChangeArrowheads="1"/>
            </p:cNvSpPr>
            <p:nvPr/>
          </p:nvSpPr>
          <p:spPr bwMode="auto">
            <a:xfrm>
              <a:off x="2337838"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4" name="Text Box 102"/>
            <p:cNvSpPr txBox="1">
              <a:spLocks noChangeArrowheads="1"/>
            </p:cNvSpPr>
            <p:nvPr/>
          </p:nvSpPr>
          <p:spPr bwMode="auto">
            <a:xfrm>
              <a:off x="7027575" y="1970478"/>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solidFill>
                    <a:srgbClr val="0000FF"/>
                  </a:solidFill>
                  <a:latin typeface="微软雅黑" pitchFamily="34" charset="-122"/>
                  <a:ea typeface="微软雅黑" pitchFamily="34" charset="-122"/>
                </a:rPr>
                <a:t>字节流</a:t>
              </a:r>
            </a:p>
          </p:txBody>
        </p:sp>
        <p:sp>
          <p:nvSpPr>
            <p:cNvPr id="65" name="Rectangle 103"/>
            <p:cNvSpPr>
              <a:spLocks noChangeArrowheads="1"/>
            </p:cNvSpPr>
            <p:nvPr/>
          </p:nvSpPr>
          <p:spPr bwMode="auto">
            <a:xfrm>
              <a:off x="3547418" y="1313850"/>
              <a:ext cx="162830" cy="200037"/>
            </a:xfrm>
            <a:prstGeom prst="rect">
              <a:avLst/>
            </a:prstGeom>
            <a:solidFill>
              <a:srgbClr val="FF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H</a:t>
              </a:r>
            </a:p>
          </p:txBody>
        </p:sp>
        <p:sp>
          <p:nvSpPr>
            <p:cNvPr id="66" name="Text Box 104"/>
            <p:cNvSpPr txBox="1">
              <a:spLocks noChangeArrowheads="1"/>
            </p:cNvSpPr>
            <p:nvPr/>
          </p:nvSpPr>
          <p:spPr bwMode="auto">
            <a:xfrm>
              <a:off x="3765323" y="1269839"/>
              <a:ext cx="180408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 </a:t>
              </a: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报文段的首部</a:t>
              </a:r>
            </a:p>
          </p:txBody>
        </p:sp>
        <p:sp>
          <p:nvSpPr>
            <p:cNvPr id="67" name="Rectangle 105"/>
            <p:cNvSpPr>
              <a:spLocks noChangeArrowheads="1"/>
            </p:cNvSpPr>
            <p:nvPr/>
          </p:nvSpPr>
          <p:spPr bwMode="auto">
            <a:xfrm>
              <a:off x="3547418" y="1552838"/>
              <a:ext cx="162830" cy="200037"/>
            </a:xfrm>
            <a:prstGeom prst="rect">
              <a:avLst/>
            </a:prstGeom>
            <a:solidFill>
              <a:srgbClr val="66FF99"/>
            </a:solidFill>
            <a:ln w="9525"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200" b="1" dirty="0">
                  <a:latin typeface="微软雅黑" pitchFamily="34" charset="-122"/>
                  <a:ea typeface="微软雅黑" pitchFamily="34" charset="-122"/>
                </a:rPr>
                <a:t>x</a:t>
              </a:r>
            </a:p>
          </p:txBody>
        </p:sp>
        <p:sp>
          <p:nvSpPr>
            <p:cNvPr id="68" name="Text Box 106"/>
            <p:cNvSpPr txBox="1">
              <a:spLocks noChangeArrowheads="1"/>
            </p:cNvSpPr>
            <p:nvPr/>
          </p:nvSpPr>
          <p:spPr bwMode="auto">
            <a:xfrm>
              <a:off x="3765323" y="1517972"/>
              <a:ext cx="19062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表示序号为 </a:t>
              </a:r>
              <a:r>
                <a:rPr kumimoji="1" lang="en-US" altLang="zh-CN" sz="1200" b="1" dirty="0">
                  <a:latin typeface="微软雅黑" pitchFamily="34" charset="-122"/>
                  <a:ea typeface="微软雅黑" pitchFamily="34" charset="-122"/>
                </a:rPr>
                <a:t>x </a:t>
              </a:r>
              <a:r>
                <a:rPr kumimoji="1" lang="zh-CN" altLang="en-US" sz="1200" b="1" dirty="0">
                  <a:latin typeface="微软雅黑" pitchFamily="34" charset="-122"/>
                  <a:ea typeface="微软雅黑" pitchFamily="34" charset="-122"/>
                </a:rPr>
                <a:t>的数据字节</a:t>
              </a:r>
            </a:p>
          </p:txBody>
        </p:sp>
        <p:sp>
          <p:nvSpPr>
            <p:cNvPr id="69" name="AutoShape 108"/>
            <p:cNvSpPr>
              <a:spLocks noChangeArrowheads="1"/>
            </p:cNvSpPr>
            <p:nvPr/>
          </p:nvSpPr>
          <p:spPr bwMode="auto">
            <a:xfrm rot="16200000">
              <a:off x="4275908" y="1738621"/>
              <a:ext cx="250876" cy="4562826"/>
            </a:xfrm>
            <a:prstGeom prst="can">
              <a:avLst>
                <a:gd name="adj" fmla="val 28603"/>
              </a:avLst>
            </a:prstGeom>
            <a:gradFill>
              <a:gsLst>
                <a:gs pos="0">
                  <a:srgbClr val="FF6600"/>
                </a:gs>
                <a:gs pos="50000">
                  <a:srgbClr val="FF9933">
                    <a:lumMod val="61000"/>
                    <a:lumOff val="39000"/>
                  </a:srgbClr>
                </a:gs>
                <a:gs pos="100000">
                  <a:srgbClr val="FF6600"/>
                </a:gs>
              </a:gsLst>
              <a:lin ang="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Text Box 109"/>
            <p:cNvSpPr txBox="1">
              <a:spLocks noChangeArrowheads="1"/>
            </p:cNvSpPr>
            <p:nvPr/>
          </p:nvSpPr>
          <p:spPr bwMode="auto">
            <a:xfrm>
              <a:off x="3107617" y="3878018"/>
              <a:ext cx="237314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连接（虚连接，逻辑连接）</a:t>
              </a:r>
            </a:p>
          </p:txBody>
        </p:sp>
        <p:sp>
          <p:nvSpPr>
            <p:cNvPr id="71" name="Freeform 110"/>
            <p:cNvSpPr>
              <a:spLocks/>
            </p:cNvSpPr>
            <p:nvPr/>
          </p:nvSpPr>
          <p:spPr bwMode="auto">
            <a:xfrm>
              <a:off x="2018165" y="3392845"/>
              <a:ext cx="150857" cy="621111"/>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57150" cap="flat" cmpd="sng">
              <a:solidFill>
                <a:srgbClr val="0000FF"/>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grpSp>
      <p:sp>
        <p:nvSpPr>
          <p:cNvPr id="72" name="标题 71">
            <a:extLst>
              <a:ext uri="{FF2B5EF4-FFF2-40B4-BE49-F238E27FC236}">
                <a16:creationId xmlns:a16="http://schemas.microsoft.com/office/drawing/2014/main" id="{FE78A1CD-5591-3AA5-B949-644FB2353156}"/>
              </a:ext>
            </a:extLst>
          </p:cNvPr>
          <p:cNvSpPr>
            <a:spLocks noGrp="1"/>
          </p:cNvSpPr>
          <p:nvPr>
            <p:ph type="title"/>
          </p:nvPr>
        </p:nvSpPr>
        <p:spPr>
          <a:xfrm>
            <a:off x="2808000" y="144000"/>
            <a:ext cx="3528000" cy="338554"/>
          </a:xfrm>
        </p:spPr>
        <p:txBody>
          <a:bodyPr/>
          <a:lstStyle/>
          <a:p>
            <a:r>
              <a:rPr lang="en-US" altLang="zh-CN" dirty="0"/>
              <a:t>5.3.1  TCP </a:t>
            </a:r>
            <a:r>
              <a:rPr lang="zh-CN" altLang="en-US" dirty="0"/>
              <a:t>最主要的特点</a:t>
            </a:r>
          </a:p>
        </p:txBody>
      </p:sp>
    </p:spTree>
    <p:extLst>
      <p:ext uri="{BB962C8B-B14F-4D97-AF65-F5344CB8AC3E}">
        <p14:creationId xmlns:p14="http://schemas.microsoft.com/office/powerpoint/2010/main" val="24009695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6"/>
          <p:cNvSpPr>
            <a:spLocks noChangeArrowheads="1"/>
          </p:cNvSpPr>
          <p:nvPr/>
        </p:nvSpPr>
        <p:spPr bwMode="auto">
          <a:xfrm>
            <a:off x="3417238" y="605119"/>
            <a:ext cx="229223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面向流的概念</a:t>
            </a:r>
          </a:p>
        </p:txBody>
      </p:sp>
      <p:sp>
        <p:nvSpPr>
          <p:cNvPr id="3" name="内容占位符 2">
            <a:extLst>
              <a:ext uri="{FF2B5EF4-FFF2-40B4-BE49-F238E27FC236}">
                <a16:creationId xmlns:a16="http://schemas.microsoft.com/office/drawing/2014/main" id="{A8586DB0-BF05-A8F5-257A-F5021A6D96E9}"/>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不关心应用进程一次把多长的报文发送到 </a:t>
            </a:r>
            <a:r>
              <a:rPr lang="en-US" altLang="zh-CN" dirty="0"/>
              <a:t>TCP </a:t>
            </a:r>
            <a:r>
              <a:rPr lang="zh-CN" altLang="en-US" dirty="0"/>
              <a:t>缓存</a:t>
            </a:r>
            <a:endParaRPr lang="en-US" altLang="zh-CN" dirty="0"/>
          </a:p>
          <a:p>
            <a:r>
              <a:rPr lang="en-US" altLang="zh-CN" dirty="0"/>
              <a:t>TCP </a:t>
            </a:r>
            <a:r>
              <a:rPr lang="zh-CN" altLang="en-US" dirty="0"/>
              <a:t>根据对方给出的窗口值和当前网络拥塞程度来决定一个报文段应包含多少个字节，形成 </a:t>
            </a:r>
            <a:r>
              <a:rPr lang="en-US" altLang="zh-CN" dirty="0"/>
              <a:t>TCP </a:t>
            </a:r>
            <a:r>
              <a:rPr lang="zh-CN" altLang="en-US" dirty="0"/>
              <a:t>报文段</a:t>
            </a:r>
          </a:p>
          <a:p>
            <a:endParaRPr lang="zh-CN" altLang="en-US" dirty="0"/>
          </a:p>
        </p:txBody>
      </p:sp>
      <p:sp>
        <p:nvSpPr>
          <p:cNvPr id="2" name="标题 1">
            <a:extLst>
              <a:ext uri="{FF2B5EF4-FFF2-40B4-BE49-F238E27FC236}">
                <a16:creationId xmlns:a16="http://schemas.microsoft.com/office/drawing/2014/main" id="{11D59015-2F8E-4CCA-4DDE-86BA889547CE}"/>
              </a:ext>
            </a:extLst>
          </p:cNvPr>
          <p:cNvSpPr>
            <a:spLocks noGrp="1"/>
          </p:cNvSpPr>
          <p:nvPr>
            <p:ph type="title"/>
          </p:nvPr>
        </p:nvSpPr>
        <p:spPr>
          <a:xfrm>
            <a:off x="2808000" y="144000"/>
            <a:ext cx="3528000" cy="338554"/>
          </a:xfrm>
        </p:spPr>
        <p:txBody>
          <a:bodyPr/>
          <a:lstStyle/>
          <a:p>
            <a:r>
              <a:rPr lang="en-US" altLang="zh-CN" dirty="0"/>
              <a:t>5.3.1  TCP </a:t>
            </a:r>
            <a:r>
              <a:rPr lang="zh-CN" altLang="en-US" dirty="0"/>
              <a:t>最主要的特点</a:t>
            </a:r>
          </a:p>
        </p:txBody>
      </p:sp>
      <p:sp>
        <p:nvSpPr>
          <p:cNvPr id="53" name="Text Box 8"/>
          <p:cNvSpPr txBox="1">
            <a:spLocks noChangeArrowheads="1"/>
          </p:cNvSpPr>
          <p:nvPr/>
        </p:nvSpPr>
        <p:spPr bwMode="auto">
          <a:xfrm>
            <a:off x="1751861" y="2826961"/>
            <a:ext cx="4821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200" b="0" dirty="0">
                <a:latin typeface="微软雅黑 Light" panose="020B0502040204020203" pitchFamily="34" charset="-122"/>
                <a:ea typeface="微软雅黑 Light" panose="020B0502040204020203" pitchFamily="34" charset="-122"/>
              </a:rPr>
              <a:t>port</a:t>
            </a:r>
            <a:endParaRPr lang="zh-CN" altLang="en-US" sz="1200" b="0" dirty="0">
              <a:latin typeface="微软雅黑 Light" panose="020B0502040204020203" pitchFamily="34" charset="-122"/>
              <a:ea typeface="微软雅黑 Light" panose="020B0502040204020203" pitchFamily="34" charset="-122"/>
            </a:endParaRPr>
          </a:p>
        </p:txBody>
      </p:sp>
      <p:sp>
        <p:nvSpPr>
          <p:cNvPr id="54" name="Line 9"/>
          <p:cNvSpPr>
            <a:spLocks noChangeShapeType="1"/>
          </p:cNvSpPr>
          <p:nvPr/>
        </p:nvSpPr>
        <p:spPr bwMode="auto">
          <a:xfrm>
            <a:off x="2285044" y="2339422"/>
            <a:ext cx="5311" cy="797207"/>
          </a:xfrm>
          <a:prstGeom prst="line">
            <a:avLst/>
          </a:prstGeom>
          <a:noFill/>
          <a:ln w="381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55" name="Text Box 10"/>
          <p:cNvSpPr txBox="1">
            <a:spLocks noChangeArrowheads="1"/>
          </p:cNvSpPr>
          <p:nvPr/>
        </p:nvSpPr>
        <p:spPr bwMode="auto">
          <a:xfrm rot="5400000">
            <a:off x="2356733" y="2730251"/>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200" b="0" dirty="0">
                <a:latin typeface="微软雅黑 Light" panose="020B0502040204020203" pitchFamily="34" charset="-122"/>
                <a:ea typeface="微软雅黑 Light" panose="020B0502040204020203" pitchFamily="34" charset="-122"/>
              </a:rPr>
              <a:t>…</a:t>
            </a:r>
          </a:p>
        </p:txBody>
      </p:sp>
      <p:sp>
        <p:nvSpPr>
          <p:cNvPr id="56" name="Rectangle 12"/>
          <p:cNvSpPr>
            <a:spLocks noChangeArrowheads="1"/>
          </p:cNvSpPr>
          <p:nvPr/>
        </p:nvSpPr>
        <p:spPr bwMode="auto">
          <a:xfrm>
            <a:off x="2394441" y="2457289"/>
            <a:ext cx="436530" cy="114652"/>
          </a:xfrm>
          <a:prstGeom prst="rect">
            <a:avLst/>
          </a:prstGeom>
          <a:solidFill>
            <a:schemeClr val="accent2">
              <a:lumMod val="40000"/>
              <a:lumOff val="6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57" name="Rectangle 13"/>
          <p:cNvSpPr>
            <a:spLocks noChangeArrowheads="1"/>
          </p:cNvSpPr>
          <p:nvPr/>
        </p:nvSpPr>
        <p:spPr bwMode="auto">
          <a:xfrm>
            <a:off x="2394441" y="2629802"/>
            <a:ext cx="108336" cy="117867"/>
          </a:xfrm>
          <a:prstGeom prst="rect">
            <a:avLst/>
          </a:prstGeom>
          <a:solidFill>
            <a:schemeClr val="accent2">
              <a:lumMod val="40000"/>
              <a:lumOff val="6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58" name="Rectangle 14"/>
          <p:cNvSpPr>
            <a:spLocks noChangeArrowheads="1"/>
          </p:cNvSpPr>
          <p:nvPr/>
        </p:nvSpPr>
        <p:spPr bwMode="auto">
          <a:xfrm>
            <a:off x="2394441" y="2978045"/>
            <a:ext cx="272964" cy="117867"/>
          </a:xfrm>
          <a:prstGeom prst="rect">
            <a:avLst/>
          </a:prstGeom>
          <a:solidFill>
            <a:schemeClr val="accent2">
              <a:lumMod val="40000"/>
              <a:lumOff val="6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59" name="Rectangle 15"/>
          <p:cNvSpPr>
            <a:spLocks noChangeArrowheads="1"/>
          </p:cNvSpPr>
          <p:nvPr/>
        </p:nvSpPr>
        <p:spPr bwMode="auto">
          <a:xfrm>
            <a:off x="1628656" y="3197776"/>
            <a:ext cx="1312775" cy="360000"/>
          </a:xfrm>
          <a:prstGeom prst="rect">
            <a:avLst/>
          </a:prstGeom>
          <a:noFill/>
          <a:ln w="12700">
            <a:solidFill>
              <a:schemeClr val="tx1"/>
            </a:solidFill>
            <a:miter lim="800000"/>
            <a:headEnd/>
            <a:tailEnd/>
          </a:ln>
          <a:effectLst/>
        </p:spPr>
        <p:txBody>
          <a:bodyPr wrap="none" anchor="ctr"/>
          <a:lstStyle/>
          <a:p>
            <a:pPr algn="ctr"/>
            <a:r>
              <a:rPr lang="en-US" altLang="zh-CN" sz="1200" dirty="0">
                <a:latin typeface="微软雅黑 Light" panose="020B0502040204020203" pitchFamily="34" charset="-122"/>
                <a:ea typeface="微软雅黑 Light" panose="020B0502040204020203" pitchFamily="34" charset="-122"/>
              </a:rPr>
              <a:t>buffer</a:t>
            </a:r>
            <a:endParaRPr lang="zh-CN" altLang="en-US" sz="1200" dirty="0">
              <a:latin typeface="微软雅黑 Light" panose="020B0502040204020203" pitchFamily="34" charset="-122"/>
              <a:ea typeface="微软雅黑 Light" panose="020B0502040204020203" pitchFamily="34" charset="-122"/>
            </a:endParaRPr>
          </a:p>
        </p:txBody>
      </p:sp>
      <p:sp>
        <p:nvSpPr>
          <p:cNvPr id="60" name="Line 16"/>
          <p:cNvSpPr>
            <a:spLocks noChangeShapeType="1"/>
          </p:cNvSpPr>
          <p:nvPr/>
        </p:nvSpPr>
        <p:spPr bwMode="auto">
          <a:xfrm flipV="1">
            <a:off x="5953827" y="2339422"/>
            <a:ext cx="0" cy="871142"/>
          </a:xfrm>
          <a:prstGeom prst="line">
            <a:avLst/>
          </a:prstGeom>
          <a:noFill/>
          <a:ln w="381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61" name="Text Box 17"/>
          <p:cNvSpPr txBox="1">
            <a:spLocks noChangeArrowheads="1"/>
          </p:cNvSpPr>
          <p:nvPr/>
        </p:nvSpPr>
        <p:spPr bwMode="auto">
          <a:xfrm rot="5400000">
            <a:off x="6024454" y="2733466"/>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200" b="0" dirty="0">
                <a:latin typeface="微软雅黑 Light" panose="020B0502040204020203" pitchFamily="34" charset="-122"/>
                <a:ea typeface="微软雅黑 Light" panose="020B0502040204020203" pitchFamily="34" charset="-122"/>
              </a:rPr>
              <a:t>…</a:t>
            </a:r>
          </a:p>
        </p:txBody>
      </p:sp>
      <p:sp>
        <p:nvSpPr>
          <p:cNvPr id="62" name="Rectangle 18"/>
          <p:cNvSpPr>
            <a:spLocks noChangeArrowheads="1"/>
          </p:cNvSpPr>
          <p:nvPr/>
        </p:nvSpPr>
        <p:spPr bwMode="auto">
          <a:xfrm>
            <a:off x="6063225" y="2978045"/>
            <a:ext cx="328194" cy="117867"/>
          </a:xfrm>
          <a:prstGeom prst="rect">
            <a:avLst/>
          </a:prstGeom>
          <a:solidFill>
            <a:schemeClr val="accent3">
              <a:lumMod val="60000"/>
              <a:lumOff val="4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63" name="Rectangle 19"/>
          <p:cNvSpPr>
            <a:spLocks noChangeArrowheads="1"/>
          </p:cNvSpPr>
          <p:nvPr/>
        </p:nvSpPr>
        <p:spPr bwMode="auto">
          <a:xfrm>
            <a:off x="5297439" y="3197776"/>
            <a:ext cx="1311713" cy="360000"/>
          </a:xfrm>
          <a:prstGeom prst="rect">
            <a:avLst/>
          </a:prstGeom>
          <a:noFill/>
          <a:ln w="12700">
            <a:solidFill>
              <a:schemeClr val="tx1"/>
            </a:solidFill>
            <a:miter lim="800000"/>
            <a:headEnd/>
            <a:tailEnd/>
          </a:ln>
          <a:effectLst/>
        </p:spPr>
        <p:txBody>
          <a:bodyPr wrap="none" anchor="ctr"/>
          <a:lstStyle/>
          <a:p>
            <a:pPr algn="ctr"/>
            <a:r>
              <a:rPr lang="en-US" altLang="zh-CN" sz="1200" dirty="0">
                <a:latin typeface="微软雅黑 Light" panose="020B0502040204020203" pitchFamily="34" charset="-122"/>
                <a:ea typeface="微软雅黑 Light" panose="020B0502040204020203" pitchFamily="34" charset="-122"/>
              </a:rPr>
              <a:t>buffer</a:t>
            </a:r>
            <a:endParaRPr lang="zh-CN" altLang="en-US" sz="1200" dirty="0">
              <a:latin typeface="微软雅黑 Light" panose="020B0502040204020203" pitchFamily="34" charset="-122"/>
              <a:ea typeface="微软雅黑 Light" panose="020B0502040204020203" pitchFamily="34" charset="-122"/>
            </a:endParaRPr>
          </a:p>
        </p:txBody>
      </p:sp>
      <p:sp>
        <p:nvSpPr>
          <p:cNvPr id="71" name="Rectangle 27"/>
          <p:cNvSpPr>
            <a:spLocks noChangeArrowheads="1"/>
          </p:cNvSpPr>
          <p:nvPr/>
        </p:nvSpPr>
        <p:spPr bwMode="auto">
          <a:xfrm>
            <a:off x="6063225" y="2629802"/>
            <a:ext cx="328194" cy="117867"/>
          </a:xfrm>
          <a:prstGeom prst="rect">
            <a:avLst/>
          </a:prstGeom>
          <a:solidFill>
            <a:schemeClr val="accent3">
              <a:lumMod val="60000"/>
              <a:lumOff val="4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72" name="Rectangle 28"/>
          <p:cNvSpPr>
            <a:spLocks noChangeArrowheads="1"/>
          </p:cNvSpPr>
          <p:nvPr/>
        </p:nvSpPr>
        <p:spPr bwMode="auto">
          <a:xfrm>
            <a:off x="6063225" y="2457289"/>
            <a:ext cx="328194" cy="114652"/>
          </a:xfrm>
          <a:prstGeom prst="rect">
            <a:avLst/>
          </a:prstGeom>
          <a:solidFill>
            <a:schemeClr val="accent3">
              <a:lumMod val="60000"/>
              <a:lumOff val="4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73" name="Text Box 29"/>
          <p:cNvSpPr txBox="1">
            <a:spLocks noChangeArrowheads="1"/>
          </p:cNvSpPr>
          <p:nvPr/>
        </p:nvSpPr>
        <p:spPr bwMode="auto">
          <a:xfrm>
            <a:off x="5401527" y="2844106"/>
            <a:ext cx="4821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200" b="0" dirty="0">
                <a:latin typeface="微软雅黑 Light" panose="020B0502040204020203" pitchFamily="34" charset="-122"/>
                <a:ea typeface="微软雅黑 Light" panose="020B0502040204020203" pitchFamily="34" charset="-122"/>
              </a:rPr>
              <a:t>port</a:t>
            </a:r>
            <a:endParaRPr lang="zh-CN" altLang="en-US" sz="1200" b="0" dirty="0">
              <a:latin typeface="微软雅黑 Light" panose="020B0502040204020203" pitchFamily="34" charset="-122"/>
              <a:ea typeface="微软雅黑 Light" panose="020B0502040204020203" pitchFamily="34" charset="-122"/>
            </a:endParaRPr>
          </a:p>
        </p:txBody>
      </p:sp>
      <p:sp>
        <p:nvSpPr>
          <p:cNvPr id="74" name="Text Box 30"/>
          <p:cNvSpPr txBox="1">
            <a:spLocks noChangeArrowheads="1"/>
          </p:cNvSpPr>
          <p:nvPr/>
        </p:nvSpPr>
        <p:spPr bwMode="auto">
          <a:xfrm>
            <a:off x="1961879" y="2024761"/>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200" b="0" dirty="0">
                <a:latin typeface="微软雅黑 Light" panose="020B0502040204020203" pitchFamily="34" charset="-122"/>
                <a:ea typeface="微软雅黑 Light" panose="020B0502040204020203" pitchFamily="34" charset="-122"/>
              </a:rPr>
              <a:t>发送端</a:t>
            </a:r>
          </a:p>
        </p:txBody>
      </p:sp>
      <p:sp>
        <p:nvSpPr>
          <p:cNvPr id="75" name="Text Box 31"/>
          <p:cNvSpPr txBox="1">
            <a:spLocks noChangeArrowheads="1"/>
          </p:cNvSpPr>
          <p:nvPr/>
        </p:nvSpPr>
        <p:spPr bwMode="auto">
          <a:xfrm>
            <a:off x="5626914" y="2024761"/>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zh-CN" altLang="en-US" sz="1200" b="0">
                <a:latin typeface="微软雅黑 Light" panose="020B0502040204020203" pitchFamily="34" charset="-122"/>
                <a:ea typeface="微软雅黑 Light" panose="020B0502040204020203" pitchFamily="34" charset="-122"/>
              </a:rPr>
              <a:t>接收端</a:t>
            </a:r>
          </a:p>
        </p:txBody>
      </p:sp>
      <p:sp>
        <p:nvSpPr>
          <p:cNvPr id="43" name="AutoShape 108"/>
          <p:cNvSpPr>
            <a:spLocks noChangeArrowheads="1"/>
          </p:cNvSpPr>
          <p:nvPr/>
        </p:nvSpPr>
        <p:spPr bwMode="auto">
          <a:xfrm rot="16200000">
            <a:off x="3971292" y="2322240"/>
            <a:ext cx="346183" cy="3348000"/>
          </a:xfrm>
          <a:prstGeom prst="can">
            <a:avLst>
              <a:gd name="adj" fmla="val 28603"/>
            </a:avLst>
          </a:prstGeom>
          <a:noFill/>
          <a:ln w="9525">
            <a:solidFill>
              <a:schemeClr val="tx1"/>
            </a:solidFill>
            <a:round/>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44" name="Text Box 109"/>
          <p:cNvSpPr txBox="1">
            <a:spLocks noChangeArrowheads="1"/>
          </p:cNvSpPr>
          <p:nvPr/>
        </p:nvSpPr>
        <p:spPr bwMode="auto">
          <a:xfrm>
            <a:off x="3385425" y="4813337"/>
            <a:ext cx="23731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200" dirty="0">
                <a:latin typeface="微软雅黑 Light" panose="020B0502040204020203" pitchFamily="34" charset="-122"/>
                <a:ea typeface="微软雅黑 Light" panose="020B0502040204020203" pitchFamily="34" charset="-122"/>
              </a:rPr>
              <a:t>TCP </a:t>
            </a:r>
            <a:r>
              <a:rPr kumimoji="1" lang="zh-CN" altLang="en-US" sz="1200" dirty="0">
                <a:latin typeface="微软雅黑 Light" panose="020B0502040204020203" pitchFamily="34" charset="-122"/>
                <a:ea typeface="微软雅黑 Light" panose="020B0502040204020203" pitchFamily="34" charset="-122"/>
              </a:rPr>
              <a:t>连接（虚连接，逻辑连接）</a:t>
            </a:r>
          </a:p>
        </p:txBody>
      </p:sp>
      <p:sp>
        <p:nvSpPr>
          <p:cNvPr id="50" name="AutoShape 5"/>
          <p:cNvSpPr>
            <a:spLocks noChangeArrowheads="1"/>
          </p:cNvSpPr>
          <p:nvPr/>
        </p:nvSpPr>
        <p:spPr bwMode="auto">
          <a:xfrm>
            <a:off x="3561241" y="3937635"/>
            <a:ext cx="208175" cy="144000"/>
          </a:xfrm>
          <a:prstGeom prst="rightArrow">
            <a:avLst>
              <a:gd name="adj1" fmla="val 50000"/>
              <a:gd name="adj2" fmla="val 31613"/>
            </a:avLst>
          </a:prstGeom>
          <a:solidFill>
            <a:schemeClr val="tx1">
              <a:lumMod val="50000"/>
              <a:lumOff val="5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51" name="AutoShape 6"/>
          <p:cNvSpPr>
            <a:spLocks noChangeArrowheads="1"/>
          </p:cNvSpPr>
          <p:nvPr/>
        </p:nvSpPr>
        <p:spPr bwMode="auto">
          <a:xfrm>
            <a:off x="5367094" y="3937635"/>
            <a:ext cx="206050" cy="144000"/>
          </a:xfrm>
          <a:prstGeom prst="rightArrow">
            <a:avLst>
              <a:gd name="adj1" fmla="val 50000"/>
              <a:gd name="adj2" fmla="val 31290"/>
            </a:avLst>
          </a:prstGeom>
          <a:solidFill>
            <a:schemeClr val="tx1">
              <a:lumMod val="50000"/>
              <a:lumOff val="50000"/>
            </a:schemeClr>
          </a:solidFill>
          <a:ln w="9525">
            <a:no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67" name="Rectangle 23"/>
          <p:cNvSpPr>
            <a:spLocks noChangeArrowheads="1"/>
          </p:cNvSpPr>
          <p:nvPr/>
        </p:nvSpPr>
        <p:spPr bwMode="auto">
          <a:xfrm>
            <a:off x="2819756" y="3905163"/>
            <a:ext cx="728612" cy="208945"/>
          </a:xfrm>
          <a:prstGeom prst="rect">
            <a:avLst/>
          </a:prstGeom>
          <a:noFill/>
          <a:ln w="9525">
            <a:noFill/>
            <a:miter lim="800000"/>
            <a:headEnd/>
            <a:tailEnd/>
          </a:ln>
          <a:effectLst/>
        </p:spPr>
        <p:txBody>
          <a:bodyPr wrap="none" anchor="ctr"/>
          <a:lstStyle/>
          <a:p>
            <a:pPr algn="ctr"/>
            <a:r>
              <a:rPr lang="en-US" altLang="zh-CN" sz="1200" dirty="0">
                <a:latin typeface="微软雅黑 Light" panose="020B0502040204020203" pitchFamily="34" charset="-122"/>
                <a:ea typeface="微软雅黑 Light" panose="020B0502040204020203" pitchFamily="34" charset="-122"/>
              </a:rPr>
              <a:t>packet</a:t>
            </a:r>
            <a:endParaRPr lang="zh-CN" altLang="en-US" sz="1200" dirty="0">
              <a:latin typeface="微软雅黑 Light" panose="020B0502040204020203" pitchFamily="34" charset="-122"/>
              <a:ea typeface="微软雅黑 Light" panose="020B0502040204020203" pitchFamily="34" charset="-122"/>
            </a:endParaRPr>
          </a:p>
        </p:txBody>
      </p:sp>
      <p:sp>
        <p:nvSpPr>
          <p:cNvPr id="70" name="Rectangle 26"/>
          <p:cNvSpPr>
            <a:spLocks noChangeArrowheads="1"/>
          </p:cNvSpPr>
          <p:nvPr/>
        </p:nvSpPr>
        <p:spPr bwMode="auto">
          <a:xfrm>
            <a:off x="4626650" y="3905163"/>
            <a:ext cx="728612" cy="208945"/>
          </a:xfrm>
          <a:prstGeom prst="rect">
            <a:avLst/>
          </a:prstGeom>
          <a:noFill/>
          <a:ln w="9525">
            <a:noFill/>
            <a:miter lim="800000"/>
            <a:headEnd/>
            <a:tailEnd/>
          </a:ln>
          <a:effectLst/>
        </p:spPr>
        <p:txBody>
          <a:bodyPr wrap="none" anchor="ctr"/>
          <a:lstStyle/>
          <a:p>
            <a:pPr algn="ctr"/>
            <a:r>
              <a:rPr lang="en-US" altLang="zh-CN" sz="1200" dirty="0">
                <a:latin typeface="微软雅黑 Light" panose="020B0502040204020203" pitchFamily="34" charset="-122"/>
                <a:ea typeface="微软雅黑 Light" panose="020B0502040204020203" pitchFamily="34" charset="-122"/>
              </a:rPr>
              <a:t>packet</a:t>
            </a:r>
            <a:endParaRPr lang="zh-CN" altLang="en-US" sz="1200" dirty="0">
              <a:latin typeface="微软雅黑 Light" panose="020B0502040204020203" pitchFamily="34" charset="-122"/>
              <a:ea typeface="微软雅黑 Light" panose="020B0502040204020203" pitchFamily="34" charset="-122"/>
            </a:endParaRPr>
          </a:p>
        </p:txBody>
      </p:sp>
      <p:sp>
        <p:nvSpPr>
          <p:cNvPr id="68" name="Text Box 24"/>
          <p:cNvSpPr txBox="1">
            <a:spLocks noChangeArrowheads="1"/>
          </p:cNvSpPr>
          <p:nvPr/>
        </p:nvSpPr>
        <p:spPr bwMode="auto">
          <a:xfrm>
            <a:off x="4172379" y="3871136"/>
            <a:ext cx="29527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200" b="0" dirty="0">
                <a:latin typeface="微软雅黑 Light" panose="020B0502040204020203" pitchFamily="34" charset="-122"/>
                <a:ea typeface="微软雅黑 Light" panose="020B0502040204020203" pitchFamily="34" charset="-122"/>
              </a:rPr>
              <a:t>…</a:t>
            </a:r>
          </a:p>
        </p:txBody>
      </p:sp>
      <p:sp>
        <p:nvSpPr>
          <p:cNvPr id="86" name="Freeform 44"/>
          <p:cNvSpPr>
            <a:spLocks/>
          </p:cNvSpPr>
          <p:nvPr/>
        </p:nvSpPr>
        <p:spPr bwMode="auto">
          <a:xfrm>
            <a:off x="5807597" y="3576119"/>
            <a:ext cx="158793" cy="408099"/>
          </a:xfrm>
          <a:custGeom>
            <a:avLst/>
            <a:gdLst>
              <a:gd name="T0" fmla="*/ 0 w 225"/>
              <a:gd name="T1" fmla="*/ 590 h 590"/>
              <a:gd name="T2" fmla="*/ 225 w 225"/>
              <a:gd name="T3" fmla="*/ 590 h 590"/>
              <a:gd name="T4" fmla="*/ 225 w 225"/>
              <a:gd name="T5" fmla="*/ 0 h 590"/>
            </a:gdLst>
            <a:ahLst/>
            <a:cxnLst>
              <a:cxn ang="0">
                <a:pos x="T0" y="T1"/>
              </a:cxn>
              <a:cxn ang="0">
                <a:pos x="T2" y="T3"/>
              </a:cxn>
              <a:cxn ang="0">
                <a:pos x="T4" y="T5"/>
              </a:cxn>
            </a:cxnLst>
            <a:rect l="0" t="0" r="r" b="b"/>
            <a:pathLst>
              <a:path w="225" h="590">
                <a:moveTo>
                  <a:pt x="0" y="590"/>
                </a:moveTo>
                <a:lnTo>
                  <a:pt x="225" y="590"/>
                </a:lnTo>
                <a:lnTo>
                  <a:pt x="225" y="0"/>
                </a:ln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87" name="Freeform 110"/>
          <p:cNvSpPr>
            <a:spLocks/>
          </p:cNvSpPr>
          <p:nvPr/>
        </p:nvSpPr>
        <p:spPr bwMode="auto">
          <a:xfrm>
            <a:off x="2278145" y="3576583"/>
            <a:ext cx="262399" cy="409556"/>
          </a:xfrm>
          <a:custGeom>
            <a:avLst/>
            <a:gdLst>
              <a:gd name="T0" fmla="*/ 0 w 108"/>
              <a:gd name="T1" fmla="*/ 0 h 590"/>
              <a:gd name="T2" fmla="*/ 0 w 108"/>
              <a:gd name="T3" fmla="*/ 590 h 590"/>
              <a:gd name="T4" fmla="*/ 108 w 108"/>
              <a:gd name="T5" fmla="*/ 587 h 590"/>
            </a:gdLst>
            <a:ahLst/>
            <a:cxnLst>
              <a:cxn ang="0">
                <a:pos x="T0" y="T1"/>
              </a:cxn>
              <a:cxn ang="0">
                <a:pos x="T2" y="T3"/>
              </a:cxn>
              <a:cxn ang="0">
                <a:pos x="T4" y="T5"/>
              </a:cxn>
            </a:cxnLst>
            <a:rect l="0" t="0" r="r" b="b"/>
            <a:pathLst>
              <a:path w="108" h="590">
                <a:moveTo>
                  <a:pt x="0" y="0"/>
                </a:moveTo>
                <a:lnTo>
                  <a:pt x="0" y="590"/>
                </a:lnTo>
                <a:lnTo>
                  <a:pt x="108" y="587"/>
                </a:lnTo>
              </a:path>
            </a:pathLst>
          </a:custGeom>
          <a:noFill/>
          <a:ln w="3810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微软雅黑 Light" panose="020B0502040204020203" pitchFamily="34" charset="-122"/>
              <a:ea typeface="微软雅黑 Light" panose="020B0502040204020203" pitchFamily="34" charset="-122"/>
            </a:endParaRPr>
          </a:p>
        </p:txBody>
      </p:sp>
      <p:sp>
        <p:nvSpPr>
          <p:cNvPr id="83" name="Rectangle 39"/>
          <p:cNvSpPr>
            <a:spLocks noChangeArrowheads="1"/>
          </p:cNvSpPr>
          <p:nvPr/>
        </p:nvSpPr>
        <p:spPr bwMode="auto">
          <a:xfrm>
            <a:off x="2211758" y="3089838"/>
            <a:ext cx="157193" cy="157513"/>
          </a:xfrm>
          <a:prstGeom prst="rect">
            <a:avLst/>
          </a:prstGeom>
          <a:solidFill>
            <a:schemeClr val="bg1"/>
          </a:solidFill>
          <a:ln w="19050">
            <a:solidFill>
              <a:schemeClr val="tx1"/>
            </a:solid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
        <p:nvSpPr>
          <p:cNvPr id="84" name="Rectangle 40"/>
          <p:cNvSpPr>
            <a:spLocks noChangeArrowheads="1"/>
          </p:cNvSpPr>
          <p:nvPr/>
        </p:nvSpPr>
        <p:spPr bwMode="auto">
          <a:xfrm>
            <a:off x="5872044" y="3089838"/>
            <a:ext cx="157193" cy="157513"/>
          </a:xfrm>
          <a:prstGeom prst="rect">
            <a:avLst/>
          </a:prstGeom>
          <a:solidFill>
            <a:schemeClr val="bg1"/>
          </a:solidFill>
          <a:ln w="19050">
            <a:solidFill>
              <a:schemeClr val="tx1"/>
            </a:solidFill>
            <a:miter lim="800000"/>
            <a:headEnd/>
            <a:tailEnd/>
          </a:ln>
          <a:effectLst/>
        </p:spPr>
        <p:txBody>
          <a:bodyPr wrap="none" anchor="ctr"/>
          <a:lstStyle/>
          <a:p>
            <a:endParaRPr lang="zh-CN" altLang="en-US" sz="120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9677469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8E8F1D37-1AD8-43D1-4044-358912B8C7BE}"/>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把连接作为最基本的抽象。</a:t>
            </a:r>
          </a:p>
          <a:p>
            <a:endParaRPr lang="zh-CN" altLang="en-US" dirty="0"/>
          </a:p>
        </p:txBody>
      </p:sp>
      <p:sp>
        <p:nvSpPr>
          <p:cNvPr id="2" name="标题 1">
            <a:extLst>
              <a:ext uri="{FF2B5EF4-FFF2-40B4-BE49-F238E27FC236}">
                <a16:creationId xmlns:a16="http://schemas.microsoft.com/office/drawing/2014/main" id="{0CA530FA-1FD0-F4A5-9D74-24DFEE22F902}"/>
              </a:ext>
            </a:extLst>
          </p:cNvPr>
          <p:cNvSpPr>
            <a:spLocks noGrp="1"/>
          </p:cNvSpPr>
          <p:nvPr>
            <p:ph type="title"/>
          </p:nvPr>
        </p:nvSpPr>
        <p:spPr>
          <a:xfrm>
            <a:off x="2808000" y="144000"/>
            <a:ext cx="3528000" cy="338554"/>
          </a:xfrm>
        </p:spPr>
        <p:txBody>
          <a:bodyPr/>
          <a:lstStyle/>
          <a:p>
            <a:r>
              <a:rPr lang="en-US" altLang="zh-CN" dirty="0"/>
              <a:t>5.3.2  TCP </a:t>
            </a:r>
            <a:r>
              <a:rPr lang="zh-CN" altLang="en-US" dirty="0"/>
              <a:t>的连接</a:t>
            </a:r>
          </a:p>
        </p:txBody>
      </p:sp>
      <p:sp>
        <p:nvSpPr>
          <p:cNvPr id="7" name="矩形 6"/>
          <p:cNvSpPr/>
          <p:nvPr/>
        </p:nvSpPr>
        <p:spPr>
          <a:xfrm>
            <a:off x="1373423" y="2530517"/>
            <a:ext cx="2578172" cy="861532"/>
          </a:xfrm>
          <a:prstGeom prst="rect">
            <a:avLst/>
          </a:prstGeom>
          <a:solidFill>
            <a:srgbClr val="00FF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8" name="Text Box 25"/>
          <p:cNvSpPr txBox="1">
            <a:spLocks noChangeArrowheads="1"/>
          </p:cNvSpPr>
          <p:nvPr/>
        </p:nvSpPr>
        <p:spPr bwMode="auto">
          <a:xfrm>
            <a:off x="3247857"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9" name="Text Box 26"/>
          <p:cNvSpPr txBox="1">
            <a:spLocks noChangeArrowheads="1"/>
          </p:cNvSpPr>
          <p:nvPr/>
        </p:nvSpPr>
        <p:spPr bwMode="auto">
          <a:xfrm>
            <a:off x="2343759"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grpSp>
        <p:nvGrpSpPr>
          <p:cNvPr id="10" name="组合 9"/>
          <p:cNvGrpSpPr/>
          <p:nvPr/>
        </p:nvGrpSpPr>
        <p:grpSpPr>
          <a:xfrm>
            <a:off x="1496229" y="2454208"/>
            <a:ext cx="513414" cy="196831"/>
            <a:chOff x="1452836" y="2079261"/>
            <a:chExt cx="586980" cy="241909"/>
          </a:xfrm>
        </p:grpSpPr>
        <p:sp>
          <p:nvSpPr>
            <p:cNvPr id="11" name="矩形 10"/>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2" name="直接连接符 11"/>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Text Box 20"/>
          <p:cNvSpPr txBox="1">
            <a:spLocks noChangeArrowheads="1"/>
          </p:cNvSpPr>
          <p:nvPr/>
        </p:nvSpPr>
        <p:spPr bwMode="auto">
          <a:xfrm>
            <a:off x="1404184"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grpSp>
        <p:nvGrpSpPr>
          <p:cNvPr id="15" name="组合 14"/>
          <p:cNvGrpSpPr/>
          <p:nvPr/>
        </p:nvGrpSpPr>
        <p:grpSpPr>
          <a:xfrm>
            <a:off x="2427373" y="2394347"/>
            <a:ext cx="513414" cy="310492"/>
            <a:chOff x="1452836" y="2079261"/>
            <a:chExt cx="586980" cy="241909"/>
          </a:xfrm>
        </p:grpSpPr>
        <p:sp>
          <p:nvSpPr>
            <p:cNvPr id="16" name="矩形 1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17" name="直接连接符 1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组合 18"/>
          <p:cNvGrpSpPr/>
          <p:nvPr/>
        </p:nvGrpSpPr>
        <p:grpSpPr>
          <a:xfrm>
            <a:off x="3337892" y="2394347"/>
            <a:ext cx="513414" cy="310492"/>
            <a:chOff x="1452836" y="2079261"/>
            <a:chExt cx="586980" cy="241909"/>
          </a:xfrm>
        </p:grpSpPr>
        <p:sp>
          <p:nvSpPr>
            <p:cNvPr id="20" name="矩形 1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1" name="直接连接符 2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3" name="Rectangle 396"/>
          <p:cNvSpPr>
            <a:spLocks noChangeArrowheads="1"/>
          </p:cNvSpPr>
          <p:nvPr/>
        </p:nvSpPr>
        <p:spPr bwMode="auto">
          <a:xfrm>
            <a:off x="4318768" y="2217022"/>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solidFill>
                  <a:srgbClr val="0000FF"/>
                </a:solidFill>
                <a:latin typeface="微软雅黑" pitchFamily="34" charset="-122"/>
                <a:ea typeface="微软雅黑" pitchFamily="34" charset="-122"/>
              </a:rPr>
              <a:t>端口</a:t>
            </a:r>
          </a:p>
        </p:txBody>
      </p:sp>
      <p:sp>
        <p:nvSpPr>
          <p:cNvPr id="24" name="矩形 23"/>
          <p:cNvSpPr/>
          <p:nvPr/>
        </p:nvSpPr>
        <p:spPr>
          <a:xfrm>
            <a:off x="4962260" y="2530517"/>
            <a:ext cx="2578172" cy="86153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25" name="组合 24"/>
          <p:cNvGrpSpPr/>
          <p:nvPr/>
        </p:nvGrpSpPr>
        <p:grpSpPr>
          <a:xfrm>
            <a:off x="5085067" y="2454208"/>
            <a:ext cx="513414" cy="196831"/>
            <a:chOff x="1452836" y="2079261"/>
            <a:chExt cx="586980" cy="241909"/>
          </a:xfrm>
        </p:grpSpPr>
        <p:sp>
          <p:nvSpPr>
            <p:cNvPr id="26" name="矩形 25"/>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27" name="直接连接符 26"/>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9" name="组合 28"/>
          <p:cNvGrpSpPr/>
          <p:nvPr/>
        </p:nvGrpSpPr>
        <p:grpSpPr>
          <a:xfrm>
            <a:off x="5755115" y="2394348"/>
            <a:ext cx="992462" cy="310829"/>
            <a:chOff x="1452836" y="2079261"/>
            <a:chExt cx="586980" cy="241909"/>
          </a:xfrm>
        </p:grpSpPr>
        <p:sp>
          <p:nvSpPr>
            <p:cNvPr id="30" name="矩形 29"/>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1" name="直接连接符 30"/>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a:xfrm>
            <a:off x="6926729" y="2454208"/>
            <a:ext cx="513414" cy="196831"/>
            <a:chOff x="1452836" y="2079261"/>
            <a:chExt cx="586980" cy="241909"/>
          </a:xfrm>
        </p:grpSpPr>
        <p:sp>
          <p:nvSpPr>
            <p:cNvPr id="34" name="矩形 33"/>
            <p:cNvSpPr/>
            <p:nvPr/>
          </p:nvSpPr>
          <p:spPr>
            <a:xfrm>
              <a:off x="1452836" y="2079261"/>
              <a:ext cx="586980" cy="23018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cxnSp>
          <p:nvCxnSpPr>
            <p:cNvPr id="35" name="直接连接符 34"/>
            <p:cNvCxnSpPr/>
            <p:nvPr/>
          </p:nvCxnSpPr>
          <p:spPr>
            <a:xfrm flipV="1">
              <a:off x="145283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2039816" y="2090984"/>
              <a:ext cx="0" cy="23018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ine 399"/>
          <p:cNvSpPr>
            <a:spLocks noChangeShapeType="1"/>
          </p:cNvSpPr>
          <p:nvPr/>
        </p:nvSpPr>
        <p:spPr bwMode="auto">
          <a:xfrm>
            <a:off x="4752738" y="2418287"/>
            <a:ext cx="505018" cy="178292"/>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38" name="Text Box 25"/>
          <p:cNvSpPr txBox="1">
            <a:spLocks noChangeArrowheads="1"/>
          </p:cNvSpPr>
          <p:nvPr/>
        </p:nvSpPr>
        <p:spPr bwMode="auto">
          <a:xfrm>
            <a:off x="6826440"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CC66"/>
                </a:solidFill>
                <a:latin typeface="微软雅黑" pitchFamily="34" charset="-122"/>
                <a:ea typeface="微软雅黑" pitchFamily="34" charset="-122"/>
                <a:sym typeface="Wingdings" pitchFamily="2" charset="2"/>
              </a:rPr>
              <a:t></a:t>
            </a:r>
            <a:endParaRPr lang="en-US" altLang="zh-CN" sz="6000" dirty="0">
              <a:solidFill>
                <a:srgbClr val="00CC66"/>
              </a:solidFill>
              <a:latin typeface="微软雅黑" pitchFamily="34" charset="-122"/>
              <a:ea typeface="微软雅黑" pitchFamily="34" charset="-122"/>
            </a:endParaRPr>
          </a:p>
        </p:txBody>
      </p:sp>
      <p:sp>
        <p:nvSpPr>
          <p:cNvPr id="39" name="Text Box 26"/>
          <p:cNvSpPr txBox="1">
            <a:spLocks noChangeArrowheads="1"/>
          </p:cNvSpPr>
          <p:nvPr/>
        </p:nvSpPr>
        <p:spPr bwMode="auto">
          <a:xfrm>
            <a:off x="5857992" y="1657032"/>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CC6600"/>
                </a:solidFill>
                <a:latin typeface="微软雅黑" pitchFamily="34" charset="-122"/>
                <a:ea typeface="微软雅黑" pitchFamily="34" charset="-122"/>
                <a:sym typeface="Wingdings" pitchFamily="2" charset="2"/>
              </a:rPr>
              <a:t></a:t>
            </a:r>
            <a:endParaRPr lang="en-US" altLang="zh-CN" sz="6000" dirty="0">
              <a:solidFill>
                <a:srgbClr val="CC6600"/>
              </a:solidFill>
              <a:latin typeface="微软雅黑" pitchFamily="34" charset="-122"/>
              <a:ea typeface="微软雅黑" pitchFamily="34" charset="-122"/>
            </a:endParaRPr>
          </a:p>
        </p:txBody>
      </p:sp>
      <p:sp>
        <p:nvSpPr>
          <p:cNvPr id="40" name="Text Box 20"/>
          <p:cNvSpPr txBox="1">
            <a:spLocks noChangeArrowheads="1"/>
          </p:cNvSpPr>
          <p:nvPr/>
        </p:nvSpPr>
        <p:spPr bwMode="auto">
          <a:xfrm>
            <a:off x="4982767" y="1733996"/>
            <a:ext cx="91906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6000" dirty="0">
                <a:solidFill>
                  <a:srgbClr val="0000FF"/>
                </a:solidFill>
                <a:latin typeface="微软雅黑" pitchFamily="34" charset="-122"/>
                <a:ea typeface="微软雅黑" pitchFamily="34" charset="-122"/>
                <a:sym typeface="Wingdings" pitchFamily="2" charset="2"/>
              </a:rPr>
              <a:t></a:t>
            </a:r>
            <a:endParaRPr lang="en-US" altLang="zh-CN" sz="6000" dirty="0">
              <a:solidFill>
                <a:srgbClr val="0000FF"/>
              </a:solidFill>
              <a:latin typeface="微软雅黑" pitchFamily="34" charset="-122"/>
              <a:ea typeface="微软雅黑" pitchFamily="34" charset="-122"/>
            </a:endParaRPr>
          </a:p>
        </p:txBody>
      </p:sp>
      <p:sp>
        <p:nvSpPr>
          <p:cNvPr id="41" name="Rectangle 396"/>
          <p:cNvSpPr>
            <a:spLocks noChangeArrowheads="1"/>
          </p:cNvSpPr>
          <p:nvPr/>
        </p:nvSpPr>
        <p:spPr bwMode="auto">
          <a:xfrm>
            <a:off x="5883179" y="1622054"/>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服务器</a:t>
            </a:r>
          </a:p>
        </p:txBody>
      </p:sp>
      <p:sp>
        <p:nvSpPr>
          <p:cNvPr id="42" name="Rectangle 396"/>
          <p:cNvSpPr>
            <a:spLocks noChangeArrowheads="1"/>
          </p:cNvSpPr>
          <p:nvPr/>
        </p:nvSpPr>
        <p:spPr bwMode="auto">
          <a:xfrm>
            <a:off x="2417248"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grpSp>
        <p:nvGrpSpPr>
          <p:cNvPr id="43" name="组合 42"/>
          <p:cNvGrpSpPr/>
          <p:nvPr/>
        </p:nvGrpSpPr>
        <p:grpSpPr>
          <a:xfrm>
            <a:off x="2670445" y="2635526"/>
            <a:ext cx="3884273" cy="404780"/>
            <a:chOff x="2551493" y="2475572"/>
            <a:chExt cx="4440845" cy="497481"/>
          </a:xfrm>
        </p:grpSpPr>
        <p:cxnSp>
          <p:nvCxnSpPr>
            <p:cNvPr id="44" name="直接连接符 43"/>
            <p:cNvCxnSpPr/>
            <p:nvPr/>
          </p:nvCxnSpPr>
          <p:spPr>
            <a:xfrm>
              <a:off x="2551493" y="2973053"/>
              <a:ext cx="4440845"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nvGrpSpPr>
            <p:cNvPr id="45" name="组合 44"/>
            <p:cNvGrpSpPr/>
            <p:nvPr/>
          </p:nvGrpSpPr>
          <p:grpSpPr>
            <a:xfrm>
              <a:off x="2562002" y="2475572"/>
              <a:ext cx="4430335" cy="497481"/>
              <a:chOff x="2665137" y="2409968"/>
              <a:chExt cx="4106940" cy="1165570"/>
            </a:xfrm>
          </p:grpSpPr>
          <p:cxnSp>
            <p:nvCxnSpPr>
              <p:cNvPr id="46" name="直接连接符 45"/>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grpSp>
      <p:sp>
        <p:nvSpPr>
          <p:cNvPr id="48" name="Rectangle 396"/>
          <p:cNvSpPr>
            <a:spLocks noChangeArrowheads="1"/>
          </p:cNvSpPr>
          <p:nvPr/>
        </p:nvSpPr>
        <p:spPr bwMode="auto">
          <a:xfrm>
            <a:off x="1400318" y="3053785"/>
            <a:ext cx="4780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49" name="Rectangle 396"/>
          <p:cNvSpPr>
            <a:spLocks noChangeArrowheads="1"/>
          </p:cNvSpPr>
          <p:nvPr/>
        </p:nvSpPr>
        <p:spPr bwMode="auto">
          <a:xfrm>
            <a:off x="7046932" y="3053785"/>
            <a:ext cx="4780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200" b="1" dirty="0">
                <a:solidFill>
                  <a:srgbClr val="000099"/>
                </a:solidFill>
                <a:latin typeface="微软雅黑" pitchFamily="34" charset="-122"/>
                <a:ea typeface="微软雅黑" pitchFamily="34" charset="-122"/>
              </a:rPr>
              <a:t>TCP</a:t>
            </a:r>
            <a:endParaRPr kumimoji="1" lang="zh-CN" altLang="en-US" sz="1200" b="1" dirty="0">
              <a:solidFill>
                <a:srgbClr val="000099"/>
              </a:solidFill>
              <a:latin typeface="微软雅黑" pitchFamily="34" charset="-122"/>
              <a:ea typeface="微软雅黑" pitchFamily="34" charset="-122"/>
            </a:endParaRPr>
          </a:p>
        </p:txBody>
      </p:sp>
      <p:sp>
        <p:nvSpPr>
          <p:cNvPr id="50" name="椭圆 49"/>
          <p:cNvSpPr/>
          <p:nvPr/>
        </p:nvSpPr>
        <p:spPr>
          <a:xfrm>
            <a:off x="5901834"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1" name="椭圆 50"/>
          <p:cNvSpPr/>
          <p:nvPr/>
        </p:nvSpPr>
        <p:spPr>
          <a:xfrm>
            <a:off x="6475997"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2" name="椭圆 51"/>
          <p:cNvSpPr/>
          <p:nvPr/>
        </p:nvSpPr>
        <p:spPr>
          <a:xfrm>
            <a:off x="2605360"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53" name="椭圆 52"/>
          <p:cNvSpPr/>
          <p:nvPr/>
        </p:nvSpPr>
        <p:spPr>
          <a:xfrm>
            <a:off x="3515879" y="2459675"/>
            <a:ext cx="157441" cy="146458"/>
          </a:xfrm>
          <a:prstGeom prst="ellipse">
            <a:avLst/>
          </a:prstGeom>
          <a:solidFill>
            <a:srgbClr val="C00000"/>
          </a:solidFill>
          <a:ln w="9525">
            <a:solidFill>
              <a:srgbClr val="0000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grpSp>
        <p:nvGrpSpPr>
          <p:cNvPr id="54" name="组合 53"/>
          <p:cNvGrpSpPr/>
          <p:nvPr/>
        </p:nvGrpSpPr>
        <p:grpSpPr>
          <a:xfrm>
            <a:off x="3571034" y="2641501"/>
            <a:ext cx="2418713" cy="226655"/>
            <a:chOff x="3581127" y="2482916"/>
            <a:chExt cx="2765287" cy="278563"/>
          </a:xfrm>
        </p:grpSpPr>
        <p:grpSp>
          <p:nvGrpSpPr>
            <p:cNvPr id="55" name="组合 54"/>
            <p:cNvGrpSpPr/>
            <p:nvPr/>
          </p:nvGrpSpPr>
          <p:grpSpPr>
            <a:xfrm>
              <a:off x="3589605" y="2482916"/>
              <a:ext cx="2746299" cy="269427"/>
              <a:chOff x="2665137" y="2409968"/>
              <a:chExt cx="4106940" cy="1165570"/>
            </a:xfrm>
          </p:grpSpPr>
          <p:cxnSp>
            <p:nvCxnSpPr>
              <p:cNvPr id="57" name="直接连接符 56"/>
              <p:cNvCxnSpPr/>
              <p:nvPr/>
            </p:nvCxnSpPr>
            <p:spPr>
              <a:xfrm>
                <a:off x="677207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2665137" y="2409968"/>
                <a:ext cx="0" cy="1165570"/>
              </a:xfrm>
              <a:prstGeom prst="line">
                <a:avLst/>
              </a:prstGeom>
              <a:ln w="28575">
                <a:solidFill>
                  <a:schemeClr val="tx1"/>
                </a:solidFill>
                <a:prstDash val="sysDot"/>
                <a:headEnd type="triangle" w="med" len="lg"/>
                <a:tailEnd type="none" w="med" len="med"/>
              </a:ln>
            </p:spPr>
            <p:style>
              <a:lnRef idx="1">
                <a:schemeClr val="accent1"/>
              </a:lnRef>
              <a:fillRef idx="0">
                <a:schemeClr val="accent1"/>
              </a:fillRef>
              <a:effectRef idx="0">
                <a:schemeClr val="accent1"/>
              </a:effectRef>
              <a:fontRef idx="minor">
                <a:schemeClr val="tx1"/>
              </a:fontRef>
            </p:style>
          </p:cxnSp>
        </p:grpSp>
        <p:cxnSp>
          <p:nvCxnSpPr>
            <p:cNvPr id="56" name="直接连接符 55"/>
            <p:cNvCxnSpPr/>
            <p:nvPr/>
          </p:nvCxnSpPr>
          <p:spPr>
            <a:xfrm>
              <a:off x="3581127" y="2761479"/>
              <a:ext cx="2765287" cy="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pSp>
      <p:sp>
        <p:nvSpPr>
          <p:cNvPr id="59" name="Rectangle 396"/>
          <p:cNvSpPr>
            <a:spLocks noChangeArrowheads="1"/>
          </p:cNvSpPr>
          <p:nvPr/>
        </p:nvSpPr>
        <p:spPr bwMode="auto">
          <a:xfrm>
            <a:off x="3349339" y="1604951"/>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客户</a:t>
            </a:r>
          </a:p>
        </p:txBody>
      </p:sp>
      <p:sp>
        <p:nvSpPr>
          <p:cNvPr id="60" name="矩形 59"/>
          <p:cNvSpPr/>
          <p:nvPr/>
        </p:nvSpPr>
        <p:spPr>
          <a:xfrm>
            <a:off x="3002678" y="3350144"/>
            <a:ext cx="2956257" cy="425758"/>
          </a:xfrm>
          <a:prstGeom prst="rect">
            <a:avLst/>
          </a:prstGeom>
        </p:spPr>
        <p:txBody>
          <a:bodyPr wrap="none">
            <a:spAutoFit/>
          </a:bodyPr>
          <a:lstStyle/>
          <a:p>
            <a:pPr algn="ctr">
              <a:lnSpc>
                <a:spcPts val="2600"/>
              </a:lnSpc>
              <a:buClr>
                <a:srgbClr val="0070C0"/>
              </a:buClr>
            </a:pPr>
            <a:r>
              <a:rPr lang="zh-CN" altLang="en-US" sz="1600" b="1" dirty="0">
                <a:latin typeface="微软雅黑" pitchFamily="34" charset="-122"/>
                <a:ea typeface="微软雅黑" pitchFamily="34" charset="-122"/>
              </a:rPr>
              <a:t>每一条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连接有</a:t>
            </a:r>
            <a:r>
              <a:rPr lang="zh-CN" altLang="en-US" sz="1600" b="1" dirty="0">
                <a:solidFill>
                  <a:srgbClr val="C00000"/>
                </a:solidFill>
                <a:latin typeface="微软雅黑" pitchFamily="34" charset="-122"/>
                <a:ea typeface="微软雅黑" pitchFamily="34" charset="-122"/>
              </a:rPr>
              <a:t>两个端点。</a:t>
            </a:r>
            <a:endParaRPr lang="en-US" altLang="zh-CN" sz="1600" b="1" dirty="0">
              <a:solidFill>
                <a:srgbClr val="C00000"/>
              </a:solidFill>
              <a:latin typeface="微软雅黑" pitchFamily="34" charset="-122"/>
              <a:ea typeface="微软雅黑" pitchFamily="34" charset="-122"/>
            </a:endParaRPr>
          </a:p>
        </p:txBody>
      </p:sp>
      <p:sp>
        <p:nvSpPr>
          <p:cNvPr id="61" name="Rectangle 396"/>
          <p:cNvSpPr>
            <a:spLocks noChangeArrowheads="1"/>
          </p:cNvSpPr>
          <p:nvPr/>
        </p:nvSpPr>
        <p:spPr bwMode="auto">
          <a:xfrm>
            <a:off x="4090280" y="2629644"/>
            <a:ext cx="7858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a:t>
            </a:r>
            <a:r>
              <a:rPr kumimoji="1" lang="zh-CN" altLang="en-US" sz="1200" b="1" dirty="0">
                <a:solidFill>
                  <a:srgbClr val="CC00CC"/>
                </a:solidFill>
                <a:latin typeface="微软雅黑" pitchFamily="34" charset="-122"/>
                <a:ea typeface="微软雅黑" pitchFamily="34" charset="-122"/>
              </a:rPr>
              <a:t>连接</a:t>
            </a:r>
          </a:p>
        </p:txBody>
      </p:sp>
      <p:sp>
        <p:nvSpPr>
          <p:cNvPr id="62" name="Rectangle 396"/>
          <p:cNvSpPr>
            <a:spLocks noChangeArrowheads="1"/>
          </p:cNvSpPr>
          <p:nvPr/>
        </p:nvSpPr>
        <p:spPr bwMode="auto">
          <a:xfrm>
            <a:off x="4154860" y="1790001"/>
            <a:ext cx="721352"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zh-CN" altLang="en-US" sz="1400" b="1" dirty="0">
                <a:solidFill>
                  <a:srgbClr val="C00000"/>
                </a:solidFill>
                <a:latin typeface="微软雅黑" pitchFamily="34" charset="-122"/>
                <a:ea typeface="微软雅黑" pitchFamily="34" charset="-122"/>
              </a:rPr>
              <a:t>套接字</a:t>
            </a:r>
          </a:p>
        </p:txBody>
      </p:sp>
      <p:sp>
        <p:nvSpPr>
          <p:cNvPr id="63" name="Line 399"/>
          <p:cNvSpPr>
            <a:spLocks noChangeShapeType="1"/>
          </p:cNvSpPr>
          <p:nvPr/>
        </p:nvSpPr>
        <p:spPr bwMode="auto">
          <a:xfrm flipH="1">
            <a:off x="3673319" y="2058065"/>
            <a:ext cx="566073" cy="436531"/>
          </a:xfrm>
          <a:prstGeom prst="line">
            <a:avLst/>
          </a:prstGeom>
          <a:noFill/>
          <a:ln w="28575">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endParaRPr lang="zh-CN" altLang="en-US" sz="1000" b="1">
              <a:latin typeface="微软雅黑" pitchFamily="34" charset="-122"/>
              <a:ea typeface="微软雅黑" pitchFamily="34" charset="-122"/>
            </a:endParaRPr>
          </a:p>
        </p:txBody>
      </p:sp>
      <p:sp>
        <p:nvSpPr>
          <p:cNvPr id="65" name="矩形 64"/>
          <p:cNvSpPr/>
          <p:nvPr/>
        </p:nvSpPr>
        <p:spPr>
          <a:xfrm>
            <a:off x="1694722" y="3741203"/>
            <a:ext cx="5558118" cy="416589"/>
          </a:xfrm>
          <a:prstGeom prst="rect">
            <a:avLst/>
          </a:prstGeom>
          <a:solidFill>
            <a:srgbClr val="000099"/>
          </a:solidFill>
          <a:ln>
            <a:noFill/>
          </a:ln>
        </p:spPr>
        <p:style>
          <a:lnRef idx="1">
            <a:schemeClr val="accent2"/>
          </a:lnRef>
          <a:fillRef idx="3">
            <a:schemeClr val="accent2"/>
          </a:fillRef>
          <a:effectRef idx="2">
            <a:schemeClr val="accent2"/>
          </a:effectRef>
          <a:fontRef idx="minor">
            <a:schemeClr val="lt1"/>
          </a:fontRef>
        </p:style>
        <p:txBody>
          <a:bodyPr wrap="square" anchor="ctr" anchorCtr="0">
            <a:spAutoFit/>
          </a:bodyPr>
          <a:lstStyle/>
          <a:p>
            <a:pPr algn="ctr">
              <a:lnSpc>
                <a:spcPts val="2800"/>
              </a:lnSpc>
              <a:buClr>
                <a:srgbClr val="0070C0"/>
              </a:buClr>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连接的端点：套接字 </a:t>
            </a:r>
            <a:r>
              <a:rPr lang="en-US" altLang="zh-CN" b="1" dirty="0">
                <a:solidFill>
                  <a:schemeClr val="bg1"/>
                </a:solidFill>
                <a:latin typeface="微软雅黑" pitchFamily="34" charset="-122"/>
                <a:ea typeface="微软雅黑" pitchFamily="34" charset="-122"/>
              </a:rPr>
              <a:t>(socket) </a:t>
            </a:r>
            <a:r>
              <a:rPr lang="zh-CN" altLang="en-US" b="1" dirty="0">
                <a:solidFill>
                  <a:schemeClr val="bg1"/>
                </a:solidFill>
                <a:latin typeface="微软雅黑" pitchFamily="34" charset="-122"/>
                <a:ea typeface="微软雅黑" pitchFamily="34" charset="-122"/>
              </a:rPr>
              <a:t>或插口。</a:t>
            </a:r>
          </a:p>
        </p:txBody>
      </p:sp>
    </p:spTree>
    <p:extLst>
      <p:ext uri="{BB962C8B-B14F-4D97-AF65-F5344CB8AC3E}">
        <p14:creationId xmlns:p14="http://schemas.microsoft.com/office/powerpoint/2010/main" val="42759162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1727139" y="1206521"/>
            <a:ext cx="5716077" cy="432475"/>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套接字 </a:t>
            </a:r>
            <a:r>
              <a:rPr lang="en-US" altLang="zh-CN" b="1" dirty="0">
                <a:latin typeface="微软雅黑" pitchFamily="34" charset="-122"/>
                <a:ea typeface="微软雅黑" pitchFamily="34" charset="-122"/>
              </a:rPr>
              <a:t>socket = (IP</a:t>
            </a:r>
            <a:r>
              <a:rPr lang="zh-CN" altLang="en-US" b="1" dirty="0">
                <a:latin typeface="微软雅黑" pitchFamily="34" charset="-122"/>
                <a:ea typeface="微软雅黑" pitchFamily="34" charset="-122"/>
              </a:rPr>
              <a:t>地址 </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端口号</a:t>
            </a:r>
            <a:r>
              <a:rPr lang="en-US" altLang="zh-CN" b="1" dirty="0">
                <a:latin typeface="微软雅黑" pitchFamily="34" charset="-122"/>
                <a:ea typeface="微软雅黑" pitchFamily="34" charset="-122"/>
              </a:rPr>
              <a:t>)                   (5-1)</a:t>
            </a:r>
          </a:p>
        </p:txBody>
      </p:sp>
      <p:sp>
        <p:nvSpPr>
          <p:cNvPr id="11" name="矩形 10"/>
          <p:cNvSpPr/>
          <p:nvPr/>
        </p:nvSpPr>
        <p:spPr>
          <a:xfrm>
            <a:off x="1727140" y="1712412"/>
            <a:ext cx="5572461" cy="378117"/>
          </a:xfrm>
          <a:prstGeom prst="rect">
            <a:avLst/>
          </a:prstGeom>
        </p:spPr>
        <p:txBody>
          <a:bodyPr wrap="square">
            <a:spAutoFit/>
          </a:bodyPr>
          <a:lstStyle/>
          <a:p>
            <a:pPr>
              <a:lnSpc>
                <a:spcPts val="2400"/>
              </a:lnSpc>
              <a:spcBef>
                <a:spcPct val="40000"/>
              </a:spcBef>
              <a:spcAft>
                <a:spcPct val="50000"/>
              </a:spcAft>
            </a:pPr>
            <a:r>
              <a:rPr lang="zh-CN" altLang="en-US" sz="1600" b="1" dirty="0">
                <a:latin typeface="微软雅黑" pitchFamily="34" charset="-122"/>
                <a:ea typeface="微软雅黑" pitchFamily="34" charset="-122"/>
              </a:rPr>
              <a:t>例如：</a:t>
            </a:r>
          </a:p>
        </p:txBody>
      </p:sp>
      <p:sp>
        <p:nvSpPr>
          <p:cNvPr id="12" name="Rectangle 4"/>
          <p:cNvSpPr>
            <a:spLocks noChangeArrowheads="1"/>
          </p:cNvSpPr>
          <p:nvPr/>
        </p:nvSpPr>
        <p:spPr bwMode="auto">
          <a:xfrm>
            <a:off x="1727139" y="2106307"/>
            <a:ext cx="5716077" cy="432475"/>
          </a:xfrm>
          <a:prstGeom prst="rect">
            <a:avLst/>
          </a:prstGeom>
          <a:solidFill>
            <a:schemeClr val="bg1"/>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套接字 </a:t>
            </a:r>
            <a:r>
              <a:rPr lang="en-US" altLang="zh-CN" sz="1600" b="1" dirty="0">
                <a:latin typeface="微软雅黑" pitchFamily="34" charset="-122"/>
                <a:ea typeface="微软雅黑" pitchFamily="34" charset="-122"/>
              </a:rPr>
              <a:t>socket = (192.169.1.20</a:t>
            </a: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 2028)</a:t>
            </a:r>
          </a:p>
        </p:txBody>
      </p:sp>
      <p:grpSp>
        <p:nvGrpSpPr>
          <p:cNvPr id="2" name="组合 1"/>
          <p:cNvGrpSpPr/>
          <p:nvPr/>
        </p:nvGrpSpPr>
        <p:grpSpPr>
          <a:xfrm>
            <a:off x="641510" y="2921997"/>
            <a:ext cx="7894590" cy="899786"/>
            <a:chOff x="641510" y="2921997"/>
            <a:chExt cx="7894590" cy="899786"/>
          </a:xfrm>
        </p:grpSpPr>
        <p:sp>
          <p:nvSpPr>
            <p:cNvPr id="9" name="Rectangle 5"/>
            <p:cNvSpPr>
              <a:spLocks noChangeArrowheads="1"/>
            </p:cNvSpPr>
            <p:nvPr/>
          </p:nvSpPr>
          <p:spPr bwMode="auto">
            <a:xfrm>
              <a:off x="641510" y="3322725"/>
              <a:ext cx="7894590" cy="49905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nSpc>
                  <a:spcPct val="110000"/>
                </a:lnSpc>
              </a:pP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 </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socket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 {(IP</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1</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a:t>
              </a:r>
              <a:r>
                <a:rPr lang="en-US" altLang="zh-CN" b="1" dirty="0">
                  <a:latin typeface="微软雅黑" pitchFamily="34" charset="-122"/>
                  <a:ea typeface="微软雅黑" pitchFamily="34" charset="-122"/>
                </a:rPr>
                <a:t>(IP</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port</a:t>
              </a:r>
              <a:r>
                <a:rPr lang="en-US" altLang="zh-CN" b="1" baseline="-25000" dirty="0">
                  <a:latin typeface="微软雅黑" pitchFamily="34" charset="-122"/>
                  <a:ea typeface="微软雅黑" pitchFamily="34" charset="-122"/>
                </a:rPr>
                <a:t>2</a:t>
              </a:r>
              <a:r>
                <a:rPr lang="en-US" altLang="zh-CN" b="1" dirty="0">
                  <a:latin typeface="微软雅黑" pitchFamily="34" charset="-122"/>
                  <a:ea typeface="微软雅黑" pitchFamily="34" charset="-122"/>
                </a:rPr>
                <a:t>)}      (5-2)</a:t>
              </a:r>
            </a:p>
          </p:txBody>
        </p:sp>
        <p:sp>
          <p:nvSpPr>
            <p:cNvPr id="13" name="矩形 12"/>
            <p:cNvSpPr/>
            <p:nvPr/>
          </p:nvSpPr>
          <p:spPr>
            <a:xfrm>
              <a:off x="826544" y="2921997"/>
              <a:ext cx="7517266" cy="425758"/>
            </a:xfrm>
            <a:prstGeom prst="rect">
              <a:avLst/>
            </a:prstGeom>
          </p:spPr>
          <p:txBody>
            <a:bodyPr wrap="square">
              <a:spAutoFit/>
            </a:bodyPr>
            <a:lstStyle/>
            <a:p>
              <a:pPr>
                <a:lnSpc>
                  <a:spcPts val="2600"/>
                </a:lnSpc>
                <a:spcBef>
                  <a:spcPct val="40000"/>
                </a:spcBef>
                <a:spcAft>
                  <a:spcPct val="50000"/>
                </a:spcAft>
              </a:pPr>
              <a:r>
                <a:rPr lang="zh-CN" altLang="en-US" b="1" dirty="0">
                  <a:latin typeface="微软雅黑" pitchFamily="34" charset="-122"/>
                  <a:ea typeface="微软雅黑" pitchFamily="34" charset="-122"/>
                </a:rPr>
                <a:t>每一条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a:t>
              </a:r>
              <a:r>
                <a:rPr lang="zh-CN" altLang="en-US" b="1" dirty="0">
                  <a:solidFill>
                    <a:srgbClr val="C00000"/>
                  </a:solidFill>
                  <a:latin typeface="微软雅黑" pitchFamily="34" charset="-122"/>
                  <a:ea typeface="微软雅黑" pitchFamily="34" charset="-122"/>
                </a:rPr>
                <a:t>唯一</a:t>
              </a:r>
              <a:r>
                <a:rPr lang="zh-CN" altLang="en-US" b="1" dirty="0">
                  <a:latin typeface="微软雅黑" pitchFamily="34" charset="-122"/>
                  <a:ea typeface="微软雅黑" pitchFamily="34" charset="-122"/>
                </a:rPr>
                <a:t>地被通信两端的两个端点（即</a:t>
              </a:r>
              <a:r>
                <a:rPr lang="zh-CN" altLang="en-US" b="1" dirty="0">
                  <a:solidFill>
                    <a:srgbClr val="C00000"/>
                  </a:solidFill>
                  <a:latin typeface="微软雅黑" pitchFamily="34" charset="-122"/>
                  <a:ea typeface="微软雅黑" pitchFamily="34" charset="-122"/>
                </a:rPr>
                <a:t>两个套接字</a:t>
              </a:r>
              <a:r>
                <a:rPr lang="zh-CN" altLang="en-US" b="1" dirty="0">
                  <a:latin typeface="微软雅黑" pitchFamily="34" charset="-122"/>
                  <a:ea typeface="微软雅黑" pitchFamily="34" charset="-122"/>
                </a:rPr>
                <a:t>）所确定：</a:t>
              </a:r>
            </a:p>
          </p:txBody>
        </p:sp>
      </p:grpSp>
      <p:sp>
        <p:nvSpPr>
          <p:cNvPr id="5" name="内容占位符 4">
            <a:extLst>
              <a:ext uri="{FF2B5EF4-FFF2-40B4-BE49-F238E27FC236}">
                <a16:creationId xmlns:a16="http://schemas.microsoft.com/office/drawing/2014/main" id="{E8CE886B-84FE-7FE5-3747-23359C5A1845}"/>
              </a:ext>
            </a:extLst>
          </p:cNvPr>
          <p:cNvSpPr>
            <a:spLocks noGrp="1"/>
          </p:cNvSpPr>
          <p:nvPr>
            <p:ph sz="quarter" idx="11"/>
          </p:nvPr>
        </p:nvSpPr>
        <p:spPr/>
        <p:txBody>
          <a:bodyPr/>
          <a:lstStyle/>
          <a:p>
            <a:endParaRPr lang="zh-CN" altLang="en-US"/>
          </a:p>
        </p:txBody>
      </p:sp>
      <p:sp>
        <p:nvSpPr>
          <p:cNvPr id="3" name="标题 2">
            <a:extLst>
              <a:ext uri="{FF2B5EF4-FFF2-40B4-BE49-F238E27FC236}">
                <a16:creationId xmlns:a16="http://schemas.microsoft.com/office/drawing/2014/main" id="{8CF4E46D-3F50-B83D-BC4C-B88C87DC204A}"/>
              </a:ext>
            </a:extLst>
          </p:cNvPr>
          <p:cNvSpPr>
            <a:spLocks noGrp="1"/>
          </p:cNvSpPr>
          <p:nvPr>
            <p:ph type="title"/>
          </p:nvPr>
        </p:nvSpPr>
        <p:spPr>
          <a:xfrm>
            <a:off x="2808000" y="144000"/>
            <a:ext cx="3528000" cy="338554"/>
          </a:xfrm>
        </p:spPr>
        <p:txBody>
          <a:bodyPr/>
          <a:lstStyle/>
          <a:p>
            <a:r>
              <a:rPr lang="zh-CN" altLang="en-US" dirty="0"/>
              <a:t>套接字 </a:t>
            </a:r>
            <a:r>
              <a:rPr lang="en-US" altLang="zh-CN" dirty="0"/>
              <a:t>(socket)</a:t>
            </a:r>
            <a:endParaRPr lang="zh-CN" altLang="en-US" dirty="0"/>
          </a:p>
        </p:txBody>
      </p:sp>
    </p:spTree>
    <p:extLst>
      <p:ext uri="{BB962C8B-B14F-4D97-AF65-F5344CB8AC3E}">
        <p14:creationId xmlns:p14="http://schemas.microsoft.com/office/powerpoint/2010/main" val="40339827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7242BEF4-3CAB-AEBA-3411-C6D06CF8F2B3}"/>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连接就是由协议软件所提供的一种抽象。</a:t>
            </a:r>
          </a:p>
          <a:p>
            <a:r>
              <a:rPr lang="en-US" altLang="zh-CN" dirty="0"/>
              <a:t>TCP </a:t>
            </a:r>
            <a:r>
              <a:rPr lang="zh-CN" altLang="en-US" dirty="0"/>
              <a:t>连接的端点是抽象的套接字，即（</a:t>
            </a:r>
            <a:r>
              <a:rPr lang="en-US" altLang="zh-CN" dirty="0"/>
              <a:t>IP </a:t>
            </a:r>
            <a:r>
              <a:rPr lang="zh-CN" altLang="en-US" dirty="0"/>
              <a:t>地址：端口号）。</a:t>
            </a:r>
          </a:p>
          <a:p>
            <a:r>
              <a:rPr lang="zh-CN" altLang="en-US" dirty="0"/>
              <a:t>同一个 </a:t>
            </a:r>
            <a:r>
              <a:rPr lang="en-US" altLang="zh-CN" dirty="0"/>
              <a:t>IP </a:t>
            </a:r>
            <a:r>
              <a:rPr lang="zh-CN" altLang="en-US" dirty="0"/>
              <a:t>地址可以有多个不同的 </a:t>
            </a:r>
            <a:r>
              <a:rPr lang="en-US" altLang="zh-CN" dirty="0"/>
              <a:t>TCP </a:t>
            </a:r>
            <a:r>
              <a:rPr lang="zh-CN" altLang="en-US" dirty="0"/>
              <a:t>连接。</a:t>
            </a:r>
          </a:p>
          <a:p>
            <a:r>
              <a:rPr lang="zh-CN" altLang="en-US" dirty="0"/>
              <a:t>同一个端口号也可以出现在多个不同的 </a:t>
            </a:r>
            <a:r>
              <a:rPr lang="en-US" altLang="zh-CN" dirty="0"/>
              <a:t>TCP </a:t>
            </a:r>
            <a:r>
              <a:rPr lang="zh-CN" altLang="en-US" dirty="0"/>
              <a:t>连接中。</a:t>
            </a:r>
          </a:p>
          <a:p>
            <a:endParaRPr lang="zh-CN" altLang="en-US" dirty="0"/>
          </a:p>
        </p:txBody>
      </p:sp>
      <p:sp>
        <p:nvSpPr>
          <p:cNvPr id="6" name="标题 5">
            <a:extLst>
              <a:ext uri="{FF2B5EF4-FFF2-40B4-BE49-F238E27FC236}">
                <a16:creationId xmlns:a16="http://schemas.microsoft.com/office/drawing/2014/main" id="{FCB97ED1-302E-3817-37BF-9DAF2B47989F}"/>
              </a:ext>
            </a:extLst>
          </p:cNvPr>
          <p:cNvSpPr>
            <a:spLocks noGrp="1"/>
          </p:cNvSpPr>
          <p:nvPr>
            <p:ph type="title"/>
          </p:nvPr>
        </p:nvSpPr>
        <p:spPr>
          <a:xfrm>
            <a:off x="2808000" y="144000"/>
            <a:ext cx="3528000" cy="338554"/>
          </a:xfrm>
        </p:spPr>
        <p:txBody>
          <a:bodyPr/>
          <a:lstStyle/>
          <a:p>
            <a:r>
              <a:rPr lang="en-US" altLang="zh-CN" dirty="0"/>
              <a:t>TCP </a:t>
            </a:r>
            <a:r>
              <a:rPr lang="zh-CN" altLang="en-US" dirty="0"/>
              <a:t>连接，</a:t>
            </a:r>
            <a:r>
              <a:rPr lang="en-US" altLang="zh-CN" dirty="0"/>
              <a:t>IP </a:t>
            </a:r>
            <a:r>
              <a:rPr lang="zh-CN" altLang="en-US" dirty="0"/>
              <a:t>地址，套接字</a:t>
            </a:r>
          </a:p>
        </p:txBody>
      </p:sp>
    </p:spTree>
    <p:extLst>
      <p:ext uri="{BB962C8B-B14F-4D97-AF65-F5344CB8AC3E}">
        <p14:creationId xmlns:p14="http://schemas.microsoft.com/office/powerpoint/2010/main" val="32038366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5D8427B2-FA42-4E16-0AC6-FF9B3CAAA650}"/>
              </a:ext>
            </a:extLst>
          </p:cNvPr>
          <p:cNvSpPr>
            <a:spLocks noGrp="1"/>
          </p:cNvSpPr>
          <p:nvPr>
            <p:ph sz="quarter" idx="11"/>
          </p:nvPr>
        </p:nvSpPr>
        <p:spPr>
          <a:xfrm>
            <a:off x="486000" y="482554"/>
            <a:ext cx="8172000" cy="4120946"/>
          </a:xfrm>
        </p:spPr>
        <p:txBody>
          <a:bodyPr/>
          <a:lstStyle/>
          <a:p>
            <a:r>
              <a:rPr lang="zh-CN" altLang="en-US" dirty="0"/>
              <a:t>应用编程接口  </a:t>
            </a:r>
            <a:r>
              <a:rPr lang="en-US" altLang="zh-CN" dirty="0"/>
              <a:t>API  </a:t>
            </a:r>
            <a:r>
              <a:rPr lang="zh-CN" altLang="en-US" dirty="0"/>
              <a:t>称为 </a:t>
            </a:r>
            <a:r>
              <a:rPr lang="en-US" altLang="zh-CN" dirty="0"/>
              <a:t>socket API, </a:t>
            </a:r>
            <a:r>
              <a:rPr lang="zh-CN" altLang="en-US" dirty="0"/>
              <a:t>简称为 </a:t>
            </a:r>
            <a:r>
              <a:rPr lang="en-US" altLang="zh-CN" dirty="0"/>
              <a:t>socket</a:t>
            </a:r>
            <a:r>
              <a:rPr lang="zh-CN" altLang="en-US" dirty="0"/>
              <a:t>。</a:t>
            </a:r>
          </a:p>
          <a:p>
            <a:r>
              <a:rPr lang="en-US" altLang="zh-CN" dirty="0"/>
              <a:t>socket API </a:t>
            </a:r>
            <a:r>
              <a:rPr lang="zh-CN" altLang="en-US" dirty="0"/>
              <a:t>中使用的一个函数名也叫作 </a:t>
            </a:r>
            <a:r>
              <a:rPr lang="en-US" altLang="zh-CN" dirty="0"/>
              <a:t>socket</a:t>
            </a:r>
            <a:r>
              <a:rPr lang="zh-CN" altLang="en-US" dirty="0"/>
              <a:t>。</a:t>
            </a:r>
          </a:p>
          <a:p>
            <a:r>
              <a:rPr lang="zh-CN" altLang="en-US" dirty="0"/>
              <a:t>调用 </a:t>
            </a:r>
            <a:r>
              <a:rPr lang="en-US" altLang="zh-CN" dirty="0"/>
              <a:t>socket </a:t>
            </a:r>
            <a:r>
              <a:rPr lang="zh-CN" altLang="en-US" dirty="0"/>
              <a:t>函数的端点称为 </a:t>
            </a:r>
            <a:r>
              <a:rPr lang="en-US" altLang="zh-CN" dirty="0"/>
              <a:t>socket</a:t>
            </a:r>
            <a:r>
              <a:rPr lang="zh-CN" altLang="en-US" dirty="0"/>
              <a:t>。</a:t>
            </a:r>
          </a:p>
          <a:p>
            <a:r>
              <a:rPr lang="zh-CN" altLang="en-US" dirty="0"/>
              <a:t>调用 </a:t>
            </a:r>
            <a:r>
              <a:rPr lang="en-US" altLang="zh-CN" dirty="0"/>
              <a:t>socket </a:t>
            </a:r>
            <a:r>
              <a:rPr lang="zh-CN" altLang="en-US" dirty="0"/>
              <a:t>函数时其返回值称为 </a:t>
            </a:r>
            <a:r>
              <a:rPr lang="en-US" altLang="zh-CN" dirty="0"/>
              <a:t>socket </a:t>
            </a:r>
            <a:r>
              <a:rPr lang="zh-CN" altLang="en-US" dirty="0"/>
              <a:t>描述符，可简称为 </a:t>
            </a:r>
            <a:r>
              <a:rPr lang="en-US" altLang="zh-CN" dirty="0"/>
              <a:t>socket</a:t>
            </a:r>
            <a:r>
              <a:rPr lang="zh-CN" altLang="en-US" dirty="0"/>
              <a:t>。</a:t>
            </a:r>
          </a:p>
          <a:p>
            <a:r>
              <a:rPr lang="zh-CN" altLang="en-US" dirty="0"/>
              <a:t>在操作系统内核中连网协议的 </a:t>
            </a:r>
            <a:r>
              <a:rPr lang="en-US" altLang="zh-CN" dirty="0"/>
              <a:t>Berkeley </a:t>
            </a:r>
            <a:r>
              <a:rPr lang="zh-CN" altLang="en-US" dirty="0"/>
              <a:t>实现，称为 </a:t>
            </a:r>
            <a:r>
              <a:rPr lang="en-US" altLang="zh-CN" dirty="0"/>
              <a:t>socket </a:t>
            </a:r>
            <a:r>
              <a:rPr lang="zh-CN" altLang="en-US" dirty="0"/>
              <a:t>实现。 </a:t>
            </a:r>
          </a:p>
          <a:p>
            <a:endParaRPr lang="zh-CN" altLang="en-US" dirty="0"/>
          </a:p>
        </p:txBody>
      </p:sp>
      <p:sp>
        <p:nvSpPr>
          <p:cNvPr id="8" name="标题 7">
            <a:extLst>
              <a:ext uri="{FF2B5EF4-FFF2-40B4-BE49-F238E27FC236}">
                <a16:creationId xmlns:a16="http://schemas.microsoft.com/office/drawing/2014/main" id="{34E9A2E4-9646-BA03-06F7-AA91F3BD847E}"/>
              </a:ext>
            </a:extLst>
          </p:cNvPr>
          <p:cNvSpPr>
            <a:spLocks noGrp="1"/>
          </p:cNvSpPr>
          <p:nvPr>
            <p:ph type="title"/>
          </p:nvPr>
        </p:nvSpPr>
        <p:spPr>
          <a:xfrm>
            <a:off x="2808000" y="144000"/>
            <a:ext cx="3528000" cy="338554"/>
          </a:xfrm>
        </p:spPr>
        <p:txBody>
          <a:bodyPr/>
          <a:lstStyle/>
          <a:p>
            <a:r>
              <a:rPr lang="en-US" altLang="zh-CN" dirty="0"/>
              <a:t>Socket </a:t>
            </a:r>
            <a:r>
              <a:rPr lang="zh-CN" altLang="en-US" dirty="0"/>
              <a:t>有多种不同的意思</a:t>
            </a:r>
          </a:p>
        </p:txBody>
      </p:sp>
    </p:spTree>
    <p:extLst>
      <p:ext uri="{BB962C8B-B14F-4D97-AF65-F5344CB8AC3E}">
        <p14:creationId xmlns:p14="http://schemas.microsoft.com/office/powerpoint/2010/main" val="11740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134485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10"/>
          <p:cNvSpPr>
            <a:spLocks noChangeArrowheads="1"/>
          </p:cNvSpPr>
          <p:nvPr/>
        </p:nvSpPr>
        <p:spPr bwMode="auto">
          <a:xfrm>
            <a:off x="2629135" y="195128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Line 16"/>
          <p:cNvSpPr>
            <a:spLocks noChangeShapeType="1"/>
          </p:cNvSpPr>
          <p:nvPr/>
        </p:nvSpPr>
        <p:spPr bwMode="auto">
          <a:xfrm>
            <a:off x="3637198" y="127341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Rectangle 8"/>
          <p:cNvSpPr>
            <a:spLocks noChangeArrowheads="1"/>
          </p:cNvSpPr>
          <p:nvPr/>
        </p:nvSpPr>
        <p:spPr bwMode="auto">
          <a:xfrm>
            <a:off x="2700573" y="1090855"/>
            <a:ext cx="5618674"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5.4.1                                           </a:t>
            </a:r>
            <a:r>
              <a:rPr lang="zh-CN" altLang="en-US" sz="2000" b="1" dirty="0">
                <a:solidFill>
                  <a:schemeClr val="bg1"/>
                </a:solidFill>
                <a:latin typeface="微软雅黑" pitchFamily="34" charset="-122"/>
                <a:ea typeface="微软雅黑" pitchFamily="34" charset="-122"/>
              </a:rPr>
              <a:t>停止等待协议</a:t>
            </a:r>
          </a:p>
          <a:p>
            <a:pPr eaLnBrk="0" hangingPunct="0">
              <a:lnSpc>
                <a:spcPct val="200000"/>
              </a:lnSpc>
            </a:pPr>
            <a:r>
              <a:rPr lang="en-US" altLang="zh-CN" sz="2000" b="1" dirty="0">
                <a:solidFill>
                  <a:schemeClr val="bg1"/>
                </a:solidFill>
                <a:latin typeface="微软雅黑" pitchFamily="34" charset="-122"/>
                <a:ea typeface="微软雅黑" pitchFamily="34" charset="-122"/>
              </a:rPr>
              <a:t>5.4.2                                        </a:t>
            </a:r>
            <a:r>
              <a:rPr lang="zh-CN" altLang="en-US" sz="2000" b="1" dirty="0">
                <a:solidFill>
                  <a:schemeClr val="bg1"/>
                </a:solidFill>
                <a:latin typeface="微软雅黑" pitchFamily="34" charset="-122"/>
                <a:ea typeface="微软雅黑" pitchFamily="34" charset="-122"/>
              </a:rPr>
              <a:t>连续 </a:t>
            </a:r>
            <a:r>
              <a:rPr lang="en-US" altLang="zh-CN" sz="2000" b="1" dirty="0">
                <a:solidFill>
                  <a:schemeClr val="bg1"/>
                </a:solidFill>
                <a:latin typeface="微软雅黑" pitchFamily="34" charset="-122"/>
                <a:ea typeface="微软雅黑" pitchFamily="34" charset="-122"/>
              </a:rPr>
              <a:t>ARQ </a:t>
            </a:r>
            <a:r>
              <a:rPr lang="zh-CN" altLang="en-US" sz="2000" b="1" dirty="0">
                <a:solidFill>
                  <a:schemeClr val="bg1"/>
                </a:solidFill>
                <a:latin typeface="微软雅黑" pitchFamily="34" charset="-122"/>
                <a:ea typeface="微软雅黑" pitchFamily="34" charset="-122"/>
              </a:rPr>
              <a:t>协议</a:t>
            </a:r>
          </a:p>
        </p:txBody>
      </p:sp>
      <p:sp>
        <p:nvSpPr>
          <p:cNvPr id="9" name="Rectangle 27"/>
          <p:cNvSpPr>
            <a:spLocks noChangeArrowheads="1"/>
          </p:cNvSpPr>
          <p:nvPr/>
        </p:nvSpPr>
        <p:spPr bwMode="auto">
          <a:xfrm>
            <a:off x="639730" y="134485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0" name="Rectangle 29"/>
          <p:cNvSpPr>
            <a:spLocks noChangeArrowheads="1"/>
          </p:cNvSpPr>
          <p:nvPr/>
        </p:nvSpPr>
        <p:spPr bwMode="auto">
          <a:xfrm>
            <a:off x="648619" y="143978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5.4</a:t>
            </a:r>
          </a:p>
          <a:p>
            <a:pPr eaLnBrk="0" hangingPunct="0"/>
            <a:r>
              <a:rPr lang="zh-CN" altLang="en-US" sz="2000" b="1" dirty="0">
                <a:solidFill>
                  <a:schemeClr val="bg1"/>
                </a:solidFill>
                <a:latin typeface="微软雅黑" pitchFamily="34" charset="-122"/>
                <a:ea typeface="微软雅黑" pitchFamily="34" charset="-122"/>
              </a:rPr>
              <a:t>可靠传输的工作原理</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3039896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250562E9-B244-1C1B-18A8-A6EF2E85EC2F}"/>
              </a:ext>
            </a:extLst>
          </p:cNvPr>
          <p:cNvSpPr>
            <a:spLocks noGrp="1"/>
          </p:cNvSpPr>
          <p:nvPr>
            <p:ph sz="quarter" idx="11"/>
          </p:nvPr>
        </p:nvSpPr>
        <p:spPr/>
        <p:txBody>
          <a:bodyPr/>
          <a:lstStyle/>
          <a:p>
            <a:endParaRPr lang="zh-CN" altLang="en-US"/>
          </a:p>
        </p:txBody>
      </p:sp>
      <p:sp>
        <p:nvSpPr>
          <p:cNvPr id="7" name="标题 6">
            <a:extLst>
              <a:ext uri="{FF2B5EF4-FFF2-40B4-BE49-F238E27FC236}">
                <a16:creationId xmlns:a16="http://schemas.microsoft.com/office/drawing/2014/main" id="{B2BB0445-EE77-1E9E-3281-8A32A1516A74}"/>
              </a:ext>
            </a:extLst>
          </p:cNvPr>
          <p:cNvSpPr>
            <a:spLocks noGrp="1"/>
          </p:cNvSpPr>
          <p:nvPr>
            <p:ph type="title"/>
          </p:nvPr>
        </p:nvSpPr>
        <p:spPr>
          <a:xfrm>
            <a:off x="2808000" y="144000"/>
            <a:ext cx="3528000" cy="338554"/>
          </a:xfrm>
        </p:spPr>
        <p:txBody>
          <a:bodyPr/>
          <a:lstStyle/>
          <a:p>
            <a:r>
              <a:rPr lang="en-US" altLang="zh-CN" dirty="0"/>
              <a:t>IP </a:t>
            </a:r>
            <a:r>
              <a:rPr lang="zh-CN" altLang="en-US" dirty="0"/>
              <a:t>网络提供的是不可靠的传输</a:t>
            </a:r>
          </a:p>
        </p:txBody>
      </p:sp>
      <p:graphicFrame>
        <p:nvGraphicFramePr>
          <p:cNvPr id="6" name="对象 5"/>
          <p:cNvGraphicFramePr>
            <a:graphicFrameLocks noGrp="1" noChangeAspect="1"/>
          </p:cNvGraphicFramePr>
          <p:nvPr>
            <p:extLst>
              <p:ext uri="{D42A27DB-BD31-4B8C-83A1-F6EECF244321}">
                <p14:modId xmlns:p14="http://schemas.microsoft.com/office/powerpoint/2010/main" val="1926977613"/>
              </p:ext>
            </p:extLst>
          </p:nvPr>
        </p:nvGraphicFramePr>
        <p:xfrm>
          <a:off x="2277035" y="1245085"/>
          <a:ext cx="4706471" cy="2067712"/>
        </p:xfrm>
        <a:graphic>
          <a:graphicData uri="http://schemas.openxmlformats.org/presentationml/2006/ole">
            <mc:AlternateContent xmlns:mc="http://schemas.openxmlformats.org/markup-compatibility/2006">
              <mc:Choice xmlns:v="urn:schemas-microsoft-com:vml" Requires="v">
                <p:oleObj name="Visio" r:id="rId2" imgW="8715538" imgH="3819698" progId="">
                  <p:embed/>
                </p:oleObj>
              </mc:Choice>
              <mc:Fallback>
                <p:oleObj name="Visio" r:id="rId2" imgW="8715538" imgH="3819698" progId="">
                  <p:embed/>
                  <p:pic>
                    <p:nvPicPr>
                      <p:cNvPr id="0" name="Picture 7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7035" y="1245085"/>
                        <a:ext cx="4706471" cy="2067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9275337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a:extLst>
              <a:ext uri="{FF2B5EF4-FFF2-40B4-BE49-F238E27FC236}">
                <a16:creationId xmlns:a16="http://schemas.microsoft.com/office/drawing/2014/main" id="{91D78E3D-958A-FE73-DC77-C51B2AE4032F}"/>
              </a:ext>
            </a:extLst>
          </p:cNvPr>
          <p:cNvSpPr>
            <a:spLocks noGrp="1"/>
          </p:cNvSpPr>
          <p:nvPr>
            <p:ph sz="quarter" idx="11"/>
          </p:nvPr>
        </p:nvSpPr>
        <p:spPr>
          <a:xfrm>
            <a:off x="486000" y="482554"/>
            <a:ext cx="8172000" cy="4120946"/>
          </a:xfrm>
        </p:spPr>
        <p:txBody>
          <a:bodyPr/>
          <a:lstStyle/>
          <a:p>
            <a:r>
              <a:rPr lang="zh-CN" altLang="en-US" dirty="0"/>
              <a:t>传输信道不产生差错。</a:t>
            </a:r>
          </a:p>
          <a:p>
            <a:r>
              <a:rPr lang="zh-CN" altLang="en-US" dirty="0"/>
              <a:t>不管发送方以多快的速度发送数据，接收方总是来得及处理收到的数据。</a:t>
            </a:r>
          </a:p>
          <a:p>
            <a:endParaRPr lang="zh-CN" altLang="en-US" dirty="0"/>
          </a:p>
        </p:txBody>
      </p:sp>
      <p:sp>
        <p:nvSpPr>
          <p:cNvPr id="6" name="标题 5">
            <a:extLst>
              <a:ext uri="{FF2B5EF4-FFF2-40B4-BE49-F238E27FC236}">
                <a16:creationId xmlns:a16="http://schemas.microsoft.com/office/drawing/2014/main" id="{107FC477-53B5-78BF-0B0F-D0BAE613228C}"/>
              </a:ext>
            </a:extLst>
          </p:cNvPr>
          <p:cNvSpPr>
            <a:spLocks noGrp="1"/>
          </p:cNvSpPr>
          <p:nvPr>
            <p:ph type="title"/>
          </p:nvPr>
        </p:nvSpPr>
        <p:spPr>
          <a:xfrm>
            <a:off x="2808000" y="144000"/>
            <a:ext cx="3528000" cy="338554"/>
          </a:xfrm>
        </p:spPr>
        <p:txBody>
          <a:bodyPr/>
          <a:lstStyle/>
          <a:p>
            <a:r>
              <a:rPr lang="zh-CN" altLang="en-US" dirty="0"/>
              <a:t>理想传输条件的特点</a:t>
            </a:r>
          </a:p>
        </p:txBody>
      </p:sp>
      <p:sp>
        <p:nvSpPr>
          <p:cNvPr id="2" name="矩形 1"/>
          <p:cNvSpPr/>
          <p:nvPr/>
        </p:nvSpPr>
        <p:spPr>
          <a:xfrm>
            <a:off x="860997" y="2429086"/>
            <a:ext cx="7440707" cy="1169551"/>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285750" indent="-285750">
              <a:lnSpc>
                <a:spcPts val="2800"/>
              </a:lnSpc>
              <a:buFont typeface="Wingdings" panose="05000000000000000000" pitchFamily="2" charset="2"/>
              <a:buChar char="l"/>
            </a:pPr>
            <a:r>
              <a:rPr lang="zh-CN" altLang="en-US" b="1" dirty="0">
                <a:latin typeface="微软雅黑" pitchFamily="34" charset="-122"/>
                <a:ea typeface="微软雅黑" pitchFamily="34" charset="-122"/>
              </a:rPr>
              <a:t>在理想传输条件下，不需要采取任何措施就能够实现可靠传输。</a:t>
            </a:r>
          </a:p>
          <a:p>
            <a:pPr marL="285750" indent="-285750">
              <a:lnSpc>
                <a:spcPts val="2800"/>
              </a:lnSpc>
              <a:buFont typeface="Wingdings" panose="05000000000000000000" pitchFamily="2" charset="2"/>
              <a:buChar char="l"/>
            </a:pPr>
            <a:r>
              <a:rPr lang="zh-CN" altLang="en-US" b="1" dirty="0">
                <a:solidFill>
                  <a:srgbClr val="0000FF"/>
                </a:solidFill>
                <a:latin typeface="微软雅黑" pitchFamily="34" charset="-122"/>
                <a:ea typeface="微软雅黑" pitchFamily="34" charset="-122"/>
              </a:rPr>
              <a:t>但实际网络都不具备理想传输条件。</a:t>
            </a:r>
            <a:r>
              <a:rPr lang="zh-CN" altLang="en-US" b="1" dirty="0">
                <a:latin typeface="微软雅黑" pitchFamily="34" charset="-122"/>
                <a:ea typeface="微软雅黑" pitchFamily="34" charset="-122"/>
              </a:rPr>
              <a:t>必须使用一些可靠传输协议，在不可靠的传输信道实现可靠传输。</a:t>
            </a:r>
          </a:p>
        </p:txBody>
      </p:sp>
    </p:spTree>
    <p:extLst>
      <p:ext uri="{BB962C8B-B14F-4D97-AF65-F5344CB8AC3E}">
        <p14:creationId xmlns:p14="http://schemas.microsoft.com/office/powerpoint/2010/main" val="13837210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206B22E-8477-46A2-B12E-4312E3C00CFE}"/>
              </a:ext>
            </a:extLst>
          </p:cNvPr>
          <p:cNvSpPr>
            <a:spLocks noGrp="1"/>
          </p:cNvSpPr>
          <p:nvPr>
            <p:ph sz="quarter" idx="11"/>
          </p:nvPr>
        </p:nvSpPr>
        <p:spPr>
          <a:xfrm>
            <a:off x="486000" y="482554"/>
            <a:ext cx="8172000" cy="4120946"/>
          </a:xfrm>
        </p:spPr>
        <p:txBody>
          <a:bodyPr/>
          <a:lstStyle/>
          <a:p>
            <a:r>
              <a:rPr lang="zh-CN" altLang="en-US" dirty="0"/>
              <a:t>每发送完一个分组就停止发送，等待对方的确认。在收到确认后再发送下一个分组。</a:t>
            </a:r>
          </a:p>
          <a:p>
            <a:r>
              <a:rPr lang="zh-CN" altLang="en-US" dirty="0"/>
              <a:t>全双工通信的双方既是发送方也是接收方。</a:t>
            </a:r>
          </a:p>
          <a:p>
            <a:r>
              <a:rPr lang="zh-CN" altLang="en-US" dirty="0"/>
              <a:t>假设仅考虑 </a:t>
            </a:r>
            <a:r>
              <a:rPr lang="en-US" altLang="zh-CN" dirty="0"/>
              <a:t>A </a:t>
            </a:r>
            <a:r>
              <a:rPr lang="zh-CN" altLang="en-US" dirty="0"/>
              <a:t>发送数据，而 </a:t>
            </a:r>
            <a:r>
              <a:rPr lang="en-US" altLang="zh-CN" dirty="0"/>
              <a:t>B </a:t>
            </a:r>
            <a:r>
              <a:rPr lang="zh-CN" altLang="en-US" dirty="0"/>
              <a:t>接收数据并发送确认。因此 </a:t>
            </a:r>
            <a:r>
              <a:rPr lang="en-US" altLang="zh-CN" dirty="0"/>
              <a:t>A </a:t>
            </a:r>
            <a:r>
              <a:rPr lang="zh-CN" altLang="en-US" dirty="0"/>
              <a:t>叫做发送方，而 </a:t>
            </a:r>
            <a:r>
              <a:rPr lang="en-US" altLang="zh-CN" dirty="0"/>
              <a:t>B </a:t>
            </a:r>
            <a:r>
              <a:rPr lang="zh-CN" altLang="en-US" dirty="0"/>
              <a:t>叫做接收方。</a:t>
            </a:r>
          </a:p>
          <a:p>
            <a:endParaRPr lang="zh-CN" altLang="en-US" dirty="0"/>
          </a:p>
        </p:txBody>
      </p:sp>
      <p:sp>
        <p:nvSpPr>
          <p:cNvPr id="5" name="标题 4">
            <a:extLst>
              <a:ext uri="{FF2B5EF4-FFF2-40B4-BE49-F238E27FC236}">
                <a16:creationId xmlns:a16="http://schemas.microsoft.com/office/drawing/2014/main" id="{EAD1EDDE-D6E3-9CE3-4A21-F13876C217C2}"/>
              </a:ext>
            </a:extLst>
          </p:cNvPr>
          <p:cNvSpPr>
            <a:spLocks noGrp="1"/>
          </p:cNvSpPr>
          <p:nvPr>
            <p:ph type="title"/>
          </p:nvPr>
        </p:nvSpPr>
        <p:spPr>
          <a:xfrm>
            <a:off x="2808000" y="144000"/>
            <a:ext cx="3528000" cy="338554"/>
          </a:xfrm>
        </p:spPr>
        <p:txBody>
          <a:bodyPr/>
          <a:lstStyle/>
          <a:p>
            <a:r>
              <a:rPr lang="en-US" altLang="zh-CN" dirty="0"/>
              <a:t>5.4.1  </a:t>
            </a:r>
            <a:r>
              <a:rPr lang="zh-CN" altLang="en-US" dirty="0"/>
              <a:t>停止等待协议</a:t>
            </a:r>
          </a:p>
        </p:txBody>
      </p:sp>
    </p:spTree>
    <p:extLst>
      <p:ext uri="{BB962C8B-B14F-4D97-AF65-F5344CB8AC3E}">
        <p14:creationId xmlns:p14="http://schemas.microsoft.com/office/powerpoint/2010/main" val="25981700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Text Box 155"/>
          <p:cNvSpPr txBox="1">
            <a:spLocks noChangeArrowheads="1"/>
          </p:cNvSpPr>
          <p:nvPr/>
        </p:nvSpPr>
        <p:spPr bwMode="auto">
          <a:xfrm>
            <a:off x="6145420" y="3372327"/>
            <a:ext cx="2922380" cy="137473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发送完分组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zh-CN" altLang="en-US" sz="1400" b="1" dirty="0">
                <a:latin typeface="微软雅黑" pitchFamily="34" charset="-122"/>
                <a:ea typeface="微软雅黑" pitchFamily="34" charset="-122"/>
              </a:rPr>
              <a:t> 后就暂停发送，等待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的确认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收到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向 </a:t>
            </a: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发送  </a:t>
            </a:r>
            <a:r>
              <a:rPr lang="en-US" altLang="zh-CN" sz="1400" b="1" dirty="0">
                <a:latin typeface="微软雅黑" pitchFamily="34" charset="-122"/>
                <a:ea typeface="微软雅黑" pitchFamily="34" charset="-122"/>
              </a:rPr>
              <a:t>ACK</a:t>
            </a:r>
            <a:r>
              <a:rPr lang="zh-CN" altLang="en-US" sz="1400" b="1" dirty="0">
                <a:latin typeface="微软雅黑" pitchFamily="34" charset="-122"/>
                <a:ea typeface="微软雅黑" pitchFamily="34" charset="-122"/>
              </a:rPr>
              <a:t>。</a:t>
            </a:r>
            <a:endParaRPr lang="en-US" altLang="zh-CN" sz="1400" b="1" dirty="0">
              <a:latin typeface="微软雅黑" pitchFamily="34" charset="-122"/>
              <a:ea typeface="微软雅黑" pitchFamily="34" charset="-122"/>
            </a:endParaRPr>
          </a:p>
          <a:p>
            <a:pPr marL="285750" indent="-285750">
              <a:lnSpc>
                <a:spcPts val="2000"/>
              </a:lnSpc>
              <a:buFont typeface="Wingdings" panose="05000000000000000000"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在收到了对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a:t>
            </a:r>
            <a:r>
              <a:rPr lang="zh-CN" altLang="en-US" sz="1400" b="1" dirty="0">
                <a:latin typeface="微软雅黑" pitchFamily="34" charset="-122"/>
                <a:ea typeface="微软雅黑" pitchFamily="34" charset="-122"/>
              </a:rPr>
              <a:t>的确认后，就再发送下一个分组  </a:t>
            </a:r>
            <a:r>
              <a:rPr lang="en-US" altLang="zh-CN" sz="1400" b="1" dirty="0">
                <a:latin typeface="微软雅黑" pitchFamily="34" charset="-122"/>
                <a:ea typeface="微软雅黑" pitchFamily="34" charset="-122"/>
              </a:rPr>
              <a:t>M</a:t>
            </a:r>
            <a:r>
              <a:rPr lang="en-US" altLang="zh-CN" sz="1400" b="1" baseline="-25000" dirty="0">
                <a:latin typeface="微软雅黑" pitchFamily="34" charset="-122"/>
                <a:ea typeface="微软雅黑" pitchFamily="34" charset="-122"/>
              </a:rPr>
              <a:t>2</a:t>
            </a:r>
            <a:r>
              <a:rPr lang="zh-CN" altLang="en-US" sz="1400" b="1" dirty="0">
                <a:latin typeface="微软雅黑" pitchFamily="34" charset="-122"/>
                <a:ea typeface="微软雅黑" pitchFamily="34" charset="-122"/>
              </a:rPr>
              <a:t>。</a:t>
            </a:r>
          </a:p>
        </p:txBody>
      </p:sp>
      <p:sp>
        <p:nvSpPr>
          <p:cNvPr id="68" name="Freeform 17"/>
          <p:cNvSpPr>
            <a:spLocks/>
          </p:cNvSpPr>
          <p:nvPr/>
        </p:nvSpPr>
        <p:spPr bwMode="auto">
          <a:xfrm>
            <a:off x="3104636" y="1473745"/>
            <a:ext cx="1365577" cy="578834"/>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69" name="AutoShape 18"/>
          <p:cNvSpPr>
            <a:spLocks noChangeArrowheads="1"/>
          </p:cNvSpPr>
          <p:nvPr/>
        </p:nvSpPr>
        <p:spPr bwMode="auto">
          <a:xfrm rot="480000">
            <a:off x="3961075" y="1754893"/>
            <a:ext cx="369745" cy="118129"/>
          </a:xfrm>
          <a:prstGeom prst="rightArrow">
            <a:avLst>
              <a:gd name="adj1" fmla="val 50000"/>
              <a:gd name="adj2" fmla="val 156514"/>
            </a:avLst>
          </a:prstGeom>
          <a:solidFill>
            <a:schemeClr val="tx2">
              <a:lumMod val="60000"/>
              <a:lumOff val="40000"/>
            </a:scheme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70" name="Rectangle 19"/>
          <p:cNvSpPr>
            <a:spLocks noChangeArrowheads="1"/>
          </p:cNvSpPr>
          <p:nvPr/>
        </p:nvSpPr>
        <p:spPr bwMode="auto">
          <a:xfrm rot="540000">
            <a:off x="3356252" y="1588331"/>
            <a:ext cx="363839" cy="274060"/>
          </a:xfrm>
          <a:prstGeom prst="rect">
            <a:avLst/>
          </a:prstGeom>
          <a:solidFill>
            <a:schemeClr val="accent3">
              <a:lumMod val="20000"/>
              <a:lumOff val="80000"/>
            </a:scheme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dirty="0">
                <a:latin typeface="Montserrat" panose="00000500000000000000" pitchFamily="2" charset="0"/>
                <a:ea typeface="微软雅黑 Light" panose="020B0502040204020203" pitchFamily="34" charset="-122"/>
              </a:rPr>
              <a:t>M</a:t>
            </a:r>
            <a:r>
              <a:rPr lang="en-US" altLang="zh-CN" sz="1200" baseline="-25000" dirty="0">
                <a:latin typeface="Montserrat" panose="00000500000000000000" pitchFamily="2" charset="0"/>
                <a:ea typeface="微软雅黑 Light" panose="020B0502040204020203" pitchFamily="34" charset="-122"/>
              </a:rPr>
              <a:t>1</a:t>
            </a:r>
          </a:p>
        </p:txBody>
      </p:sp>
      <p:sp>
        <p:nvSpPr>
          <p:cNvPr id="72" name="Freeform 21"/>
          <p:cNvSpPr>
            <a:spLocks/>
          </p:cNvSpPr>
          <p:nvPr/>
        </p:nvSpPr>
        <p:spPr bwMode="auto">
          <a:xfrm>
            <a:off x="3103455" y="2458943"/>
            <a:ext cx="1365577" cy="578834"/>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73" name="AutoShape 22"/>
          <p:cNvSpPr>
            <a:spLocks noChangeArrowheads="1"/>
          </p:cNvSpPr>
          <p:nvPr/>
        </p:nvSpPr>
        <p:spPr bwMode="auto">
          <a:xfrm rot="480000">
            <a:off x="3959894" y="2740091"/>
            <a:ext cx="369745" cy="118129"/>
          </a:xfrm>
          <a:prstGeom prst="rightArrow">
            <a:avLst>
              <a:gd name="adj1" fmla="val 50000"/>
              <a:gd name="adj2" fmla="val 156514"/>
            </a:avLst>
          </a:prstGeom>
          <a:solidFill>
            <a:schemeClr val="tx2">
              <a:lumMod val="60000"/>
              <a:lumOff val="40000"/>
            </a:scheme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74" name="Rectangle 23"/>
          <p:cNvSpPr>
            <a:spLocks noChangeArrowheads="1"/>
          </p:cNvSpPr>
          <p:nvPr/>
        </p:nvSpPr>
        <p:spPr bwMode="auto">
          <a:xfrm rot="540000">
            <a:off x="3344439" y="2573529"/>
            <a:ext cx="385102" cy="274060"/>
          </a:xfrm>
          <a:prstGeom prst="rect">
            <a:avLst/>
          </a:prstGeom>
          <a:solidFill>
            <a:schemeClr val="accent3">
              <a:lumMod val="20000"/>
              <a:lumOff val="80000"/>
            </a:schemeClr>
          </a:solidFill>
          <a:ln w="12700">
            <a:no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dirty="0">
                <a:latin typeface="Montserrat" panose="00000500000000000000" pitchFamily="2" charset="0"/>
                <a:ea typeface="微软雅黑 Light" panose="020B0502040204020203" pitchFamily="34" charset="-122"/>
              </a:rPr>
              <a:t>M</a:t>
            </a:r>
            <a:r>
              <a:rPr lang="en-US" altLang="zh-CN" sz="1200" baseline="-25000" dirty="0">
                <a:latin typeface="Montserrat" panose="00000500000000000000" pitchFamily="2" charset="0"/>
                <a:ea typeface="微软雅黑 Light" panose="020B0502040204020203" pitchFamily="34" charset="-122"/>
              </a:rPr>
              <a:t>2</a:t>
            </a:r>
          </a:p>
        </p:txBody>
      </p:sp>
      <p:sp>
        <p:nvSpPr>
          <p:cNvPr id="76" name="Line 26"/>
          <p:cNvSpPr>
            <a:spLocks noChangeShapeType="1"/>
          </p:cNvSpPr>
          <p:nvPr/>
        </p:nvSpPr>
        <p:spPr bwMode="auto">
          <a:xfrm flipH="1">
            <a:off x="3114893" y="2144720"/>
            <a:ext cx="1368315" cy="237440"/>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77" name="Text Box 27"/>
          <p:cNvSpPr txBox="1">
            <a:spLocks noChangeArrowheads="1"/>
          </p:cNvSpPr>
          <p:nvPr/>
        </p:nvSpPr>
        <p:spPr bwMode="auto">
          <a:xfrm rot="21169770">
            <a:off x="3331126" y="2030135"/>
            <a:ext cx="587085" cy="276422"/>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dirty="0">
                <a:latin typeface="Montserrat" panose="00000500000000000000" pitchFamily="2" charset="0"/>
                <a:ea typeface="微软雅黑 Light" panose="020B0502040204020203" pitchFamily="34" charset="-122"/>
              </a:rPr>
              <a:t>ACK </a:t>
            </a:r>
            <a:r>
              <a:rPr kumimoji="0" lang="en-US" altLang="zh-CN" sz="1200" baseline="-25000" dirty="0">
                <a:latin typeface="Montserrat" panose="00000500000000000000" pitchFamily="2" charset="0"/>
                <a:ea typeface="微软雅黑 Light" panose="020B0502040204020203" pitchFamily="34" charset="-122"/>
              </a:rPr>
              <a:t>1</a:t>
            </a:r>
          </a:p>
        </p:txBody>
      </p:sp>
      <p:sp>
        <p:nvSpPr>
          <p:cNvPr id="79" name="Line 29"/>
          <p:cNvSpPr>
            <a:spLocks noChangeShapeType="1"/>
          </p:cNvSpPr>
          <p:nvPr/>
        </p:nvSpPr>
        <p:spPr bwMode="auto">
          <a:xfrm flipH="1">
            <a:off x="3105443" y="3179530"/>
            <a:ext cx="1368315" cy="237440"/>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80" name="Text Box 30"/>
          <p:cNvSpPr txBox="1">
            <a:spLocks noChangeArrowheads="1"/>
          </p:cNvSpPr>
          <p:nvPr/>
        </p:nvSpPr>
        <p:spPr bwMode="auto">
          <a:xfrm rot="21169770">
            <a:off x="3321676" y="3059038"/>
            <a:ext cx="608011" cy="276423"/>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dirty="0">
                <a:latin typeface="Montserrat" panose="00000500000000000000" pitchFamily="2" charset="0"/>
                <a:ea typeface="微软雅黑 Light" panose="020B0502040204020203" pitchFamily="34" charset="-122"/>
              </a:rPr>
              <a:t>ACK </a:t>
            </a:r>
            <a:r>
              <a:rPr kumimoji="0" lang="en-US" altLang="zh-CN" sz="1200" baseline="-25000" dirty="0">
                <a:latin typeface="Montserrat" panose="00000500000000000000" pitchFamily="2" charset="0"/>
                <a:ea typeface="微软雅黑 Light" panose="020B0502040204020203" pitchFamily="34" charset="-122"/>
              </a:rPr>
              <a:t>2</a:t>
            </a:r>
          </a:p>
        </p:txBody>
      </p:sp>
      <p:grpSp>
        <p:nvGrpSpPr>
          <p:cNvPr id="81" name="Group 33"/>
          <p:cNvGrpSpPr>
            <a:grpSpLocks/>
          </p:cNvGrpSpPr>
          <p:nvPr/>
        </p:nvGrpSpPr>
        <p:grpSpPr bwMode="auto">
          <a:xfrm>
            <a:off x="461865" y="1747808"/>
            <a:ext cx="1741229" cy="538670"/>
            <a:chOff x="446" y="1800"/>
            <a:chExt cx="1474" cy="456"/>
          </a:xfrm>
        </p:grpSpPr>
        <p:sp>
          <p:nvSpPr>
            <p:cNvPr id="82"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83"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grpSp>
        <p:nvGrpSpPr>
          <p:cNvPr id="84" name="Group 37"/>
          <p:cNvGrpSpPr>
            <a:grpSpLocks/>
          </p:cNvGrpSpPr>
          <p:nvPr/>
        </p:nvGrpSpPr>
        <p:grpSpPr bwMode="auto">
          <a:xfrm>
            <a:off x="461865" y="2299923"/>
            <a:ext cx="1741229" cy="523313"/>
            <a:chOff x="446" y="2304"/>
            <a:chExt cx="1474" cy="443"/>
          </a:xfrm>
        </p:grpSpPr>
        <p:sp>
          <p:nvSpPr>
            <p:cNvPr id="85" name="Text Box 35"/>
            <p:cNvSpPr txBox="1">
              <a:spLocks noChangeArrowheads="1"/>
            </p:cNvSpPr>
            <p:nvPr/>
          </p:nvSpPr>
          <p:spPr bwMode="auto">
            <a:xfrm>
              <a:off x="446" y="2304"/>
              <a:ext cx="1114" cy="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0000CC"/>
                  </a:solidFill>
                  <a:latin typeface="微软雅黑" pitchFamily="34" charset="-122"/>
                  <a:ea typeface="微软雅黑" pitchFamily="34" charset="-122"/>
                </a:rPr>
                <a:t>收到 </a:t>
              </a:r>
              <a:r>
                <a:rPr lang="en-US" altLang="zh-CN" sz="1400" b="1" dirty="0">
                  <a:solidFill>
                    <a:srgbClr val="0000CC"/>
                  </a:solidFill>
                  <a:latin typeface="微软雅黑" pitchFamily="34" charset="-122"/>
                  <a:ea typeface="微软雅黑" pitchFamily="34" charset="-122"/>
                </a:rPr>
                <a:t>ACK</a:t>
              </a:r>
              <a:r>
                <a:rPr lang="zh-CN" altLang="en-US" sz="1400" b="1" dirty="0">
                  <a:solidFill>
                    <a:srgbClr val="0000CC"/>
                  </a:solidFill>
                  <a:latin typeface="微软雅黑" pitchFamily="34" charset="-122"/>
                  <a:ea typeface="微软雅黑" pitchFamily="34" charset="-122"/>
                </a:rPr>
                <a:t>，继续发送</a:t>
              </a:r>
            </a:p>
          </p:txBody>
        </p:sp>
        <p:sp>
          <p:nvSpPr>
            <p:cNvPr id="86" name="Line 36"/>
            <p:cNvSpPr>
              <a:spLocks noChangeShapeType="1"/>
            </p:cNvSpPr>
            <p:nvPr/>
          </p:nvSpPr>
          <p:spPr bwMode="auto">
            <a:xfrm>
              <a:off x="1296" y="2448"/>
              <a:ext cx="624" cy="0"/>
            </a:xfrm>
            <a:prstGeom prst="line">
              <a:avLst/>
            </a:prstGeom>
            <a:noFill/>
            <a:ln w="28575">
              <a:solidFill>
                <a:srgbClr val="00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90" name="Line 4"/>
          <p:cNvSpPr>
            <a:spLocks noChangeShapeType="1"/>
          </p:cNvSpPr>
          <p:nvPr/>
        </p:nvSpPr>
        <p:spPr bwMode="auto">
          <a:xfrm>
            <a:off x="3105911" y="1374516"/>
            <a:ext cx="0" cy="2366130"/>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91" name="Line 5"/>
          <p:cNvSpPr>
            <a:spLocks noChangeShapeType="1"/>
          </p:cNvSpPr>
          <p:nvPr/>
        </p:nvSpPr>
        <p:spPr bwMode="auto">
          <a:xfrm>
            <a:off x="4467756" y="1374516"/>
            <a:ext cx="0" cy="2351954"/>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grpSp>
        <p:nvGrpSpPr>
          <p:cNvPr id="33" name="Group 33"/>
          <p:cNvGrpSpPr>
            <a:grpSpLocks/>
          </p:cNvGrpSpPr>
          <p:nvPr/>
        </p:nvGrpSpPr>
        <p:grpSpPr bwMode="auto">
          <a:xfrm>
            <a:off x="461865" y="2743732"/>
            <a:ext cx="1741229" cy="538670"/>
            <a:chOff x="446" y="1800"/>
            <a:chExt cx="1474" cy="456"/>
          </a:xfrm>
        </p:grpSpPr>
        <p:sp>
          <p:nvSpPr>
            <p:cNvPr id="34" name="Text Box 31"/>
            <p:cNvSpPr txBox="1">
              <a:spLocks noChangeArrowheads="1"/>
            </p:cNvSpPr>
            <p:nvPr/>
          </p:nvSpPr>
          <p:spPr bwMode="auto">
            <a:xfrm>
              <a:off x="446" y="1800"/>
              <a:ext cx="994" cy="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停止发送，等待 </a:t>
              </a:r>
              <a:r>
                <a:rPr lang="en-US" altLang="zh-CN" sz="1400" b="1" dirty="0">
                  <a:solidFill>
                    <a:srgbClr val="CC00CC"/>
                  </a:solidFill>
                  <a:latin typeface="微软雅黑" pitchFamily="34" charset="-122"/>
                  <a:ea typeface="微软雅黑" pitchFamily="34" charset="-122"/>
                </a:rPr>
                <a:t>ACK</a:t>
              </a:r>
            </a:p>
          </p:txBody>
        </p:sp>
        <p:sp>
          <p:nvSpPr>
            <p:cNvPr id="35" name="Line 32"/>
            <p:cNvSpPr>
              <a:spLocks noChangeShapeType="1"/>
            </p:cNvSpPr>
            <p:nvPr/>
          </p:nvSpPr>
          <p:spPr bwMode="auto">
            <a:xfrm>
              <a:off x="1296" y="1920"/>
              <a:ext cx="624"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36" name="Rectangle 38"/>
          <p:cNvSpPr>
            <a:spLocks noChangeArrowheads="1"/>
          </p:cNvSpPr>
          <p:nvPr/>
        </p:nvSpPr>
        <p:spPr bwMode="auto">
          <a:xfrm>
            <a:off x="2934130" y="1110083"/>
            <a:ext cx="29174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dirty="0">
                <a:latin typeface="Montserrat" panose="00000500000000000000" pitchFamily="2" charset="0"/>
                <a:ea typeface="微软雅黑 Light" panose="020B0502040204020203" pitchFamily="34" charset="-122"/>
              </a:rPr>
              <a:t>A</a:t>
            </a:r>
          </a:p>
        </p:txBody>
      </p:sp>
      <p:sp>
        <p:nvSpPr>
          <p:cNvPr id="37" name="Rectangle 39"/>
          <p:cNvSpPr>
            <a:spLocks noChangeArrowheads="1"/>
          </p:cNvSpPr>
          <p:nvPr/>
        </p:nvSpPr>
        <p:spPr bwMode="auto">
          <a:xfrm>
            <a:off x="4306259" y="1110083"/>
            <a:ext cx="2965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dirty="0">
                <a:latin typeface="Montserrat" panose="00000500000000000000" pitchFamily="2" charset="0"/>
                <a:ea typeface="微软雅黑 Light" panose="020B0502040204020203" pitchFamily="34" charset="-122"/>
              </a:rPr>
              <a:t>B</a:t>
            </a:r>
          </a:p>
        </p:txBody>
      </p:sp>
      <p:sp>
        <p:nvSpPr>
          <p:cNvPr id="5" name="标题 4">
            <a:extLst>
              <a:ext uri="{FF2B5EF4-FFF2-40B4-BE49-F238E27FC236}">
                <a16:creationId xmlns:a16="http://schemas.microsoft.com/office/drawing/2014/main" id="{004129B5-641B-2FE1-8CE5-DAAFEC634604}"/>
              </a:ext>
            </a:extLst>
          </p:cNvPr>
          <p:cNvSpPr>
            <a:spLocks noGrp="1"/>
          </p:cNvSpPr>
          <p:nvPr>
            <p:ph type="title"/>
          </p:nvPr>
        </p:nvSpPr>
        <p:spPr>
          <a:xfrm>
            <a:off x="2808000" y="144000"/>
            <a:ext cx="3528000" cy="338554"/>
          </a:xfrm>
        </p:spPr>
        <p:txBody>
          <a:bodyPr/>
          <a:lstStyle/>
          <a:p>
            <a:r>
              <a:rPr lang="en-US" altLang="zh-CN" dirty="0"/>
              <a:t>1. </a:t>
            </a:r>
            <a:r>
              <a:rPr lang="zh-CN" altLang="en-US" dirty="0"/>
              <a:t>无差</a:t>
            </a:r>
            <a:r>
              <a:rPr lang="en-US" altLang="zh-CN" dirty="0"/>
              <a:t>a</a:t>
            </a:r>
            <a:r>
              <a:rPr lang="zh-CN" altLang="en-US" dirty="0"/>
              <a:t>错情况</a:t>
            </a:r>
          </a:p>
        </p:txBody>
      </p:sp>
    </p:spTree>
    <p:extLst>
      <p:ext uri="{BB962C8B-B14F-4D97-AF65-F5344CB8AC3E}">
        <p14:creationId xmlns:p14="http://schemas.microsoft.com/office/powerpoint/2010/main" val="143245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wipe(left)">
                                      <p:cBhvr>
                                        <p:cTn id="7" dur="1000"/>
                                        <p:tgtEl>
                                          <p:spTgt spid="81"/>
                                        </p:tgtEl>
                                      </p:cBhvr>
                                    </p:animEffect>
                                  </p:childTnLst>
                                </p:cTn>
                              </p:par>
                            </p:childTnLst>
                          </p:cTn>
                        </p:par>
                        <p:par>
                          <p:cTn id="8" fill="hold">
                            <p:stCondLst>
                              <p:cond delay="1000"/>
                            </p:stCondLst>
                            <p:childTnLst>
                              <p:par>
                                <p:cTn id="9" presetID="22" presetClass="entr" presetSubtype="8" fill="hold" nodeType="afterEffect">
                                  <p:stCondLst>
                                    <p:cond delay="1000"/>
                                  </p:stCondLst>
                                  <p:childTnLst>
                                    <p:set>
                                      <p:cBhvr>
                                        <p:cTn id="10" dur="1" fill="hold">
                                          <p:stCondLst>
                                            <p:cond delay="0"/>
                                          </p:stCondLst>
                                        </p:cTn>
                                        <p:tgtEl>
                                          <p:spTgt spid="84"/>
                                        </p:tgtEl>
                                        <p:attrNameLst>
                                          <p:attrName>style.visibility</p:attrName>
                                        </p:attrNameLst>
                                      </p:cBhvr>
                                      <p:to>
                                        <p:strVal val="visible"/>
                                      </p:to>
                                    </p:set>
                                    <p:animEffect transition="in" filter="wipe(left)">
                                      <p:cBhvr>
                                        <p:cTn id="11" dur="1000"/>
                                        <p:tgtEl>
                                          <p:spTgt spid="84"/>
                                        </p:tgtEl>
                                      </p:cBhvr>
                                    </p:animEffect>
                                  </p:childTnLst>
                                </p:cTn>
                              </p:par>
                            </p:childTnLst>
                          </p:cTn>
                        </p:par>
                        <p:par>
                          <p:cTn id="12" fill="hold">
                            <p:stCondLst>
                              <p:cond delay="3000"/>
                            </p:stCondLst>
                            <p:childTnLst>
                              <p:par>
                                <p:cTn id="13" presetID="2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wipe(left)">
                                      <p:cBhvr>
                                        <p:cTn id="15" dur="1000"/>
                                        <p:tgtEl>
                                          <p:spTgt spid="3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6"/>
                                        </p:tgtEl>
                                        <p:attrNameLst>
                                          <p:attrName>style.visibility</p:attrName>
                                        </p:attrNameLst>
                                      </p:cBhvr>
                                      <p:to>
                                        <p:strVal val="visible"/>
                                      </p:to>
                                    </p:set>
                                    <p:animEffect transition="in" filter="fade">
                                      <p:cBhvr>
                                        <p:cTn id="20" dur="1000"/>
                                        <p:tgtEl>
                                          <p:spTgt spid="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D9A1A526-0B06-535D-9FC0-F4F43FB8E596}"/>
              </a:ext>
            </a:extLst>
          </p:cNvPr>
          <p:cNvSpPr>
            <a:spLocks noGrp="1"/>
          </p:cNvSpPr>
          <p:nvPr>
            <p:ph sz="quarter" idx="11"/>
          </p:nvPr>
        </p:nvSpPr>
        <p:spPr>
          <a:xfrm>
            <a:off x="486000" y="482554"/>
            <a:ext cx="8172000" cy="4120946"/>
          </a:xfrm>
        </p:spPr>
        <p:txBody>
          <a:bodyPr/>
          <a:lstStyle/>
          <a:p>
            <a:r>
              <a:rPr lang="zh-CN" altLang="en-US" dirty="0"/>
              <a:t>两种情况：</a:t>
            </a:r>
          </a:p>
          <a:p>
            <a:r>
              <a:rPr lang="en-US" altLang="zh-CN" dirty="0"/>
              <a:t>B </a:t>
            </a:r>
            <a:r>
              <a:rPr lang="zh-CN" altLang="en-US" dirty="0"/>
              <a:t>接收 </a:t>
            </a:r>
            <a:r>
              <a:rPr lang="en-US" altLang="zh-CN" dirty="0"/>
              <a:t>M1 </a:t>
            </a:r>
            <a:r>
              <a:rPr lang="zh-CN" altLang="en-US" dirty="0"/>
              <a:t>时检测出了差错，就丢弃 </a:t>
            </a:r>
            <a:r>
              <a:rPr lang="en-US" altLang="zh-CN" dirty="0"/>
              <a:t>M1</a:t>
            </a:r>
            <a:r>
              <a:rPr lang="zh-CN" altLang="en-US" dirty="0"/>
              <a:t>，其他什么也不做（不通知 </a:t>
            </a:r>
            <a:r>
              <a:rPr lang="en-US" altLang="zh-CN" dirty="0"/>
              <a:t>A </a:t>
            </a:r>
            <a:r>
              <a:rPr lang="zh-CN" altLang="en-US" dirty="0"/>
              <a:t>收到有差错的分组）。</a:t>
            </a:r>
          </a:p>
          <a:p>
            <a:r>
              <a:rPr lang="en-US" altLang="zh-CN" dirty="0"/>
              <a:t>M1 </a:t>
            </a:r>
            <a:r>
              <a:rPr lang="zh-CN" altLang="en-US" dirty="0"/>
              <a:t>在传输过程中丢失了，这时 </a:t>
            </a:r>
            <a:r>
              <a:rPr lang="en-US" altLang="zh-CN" dirty="0"/>
              <a:t>B </a:t>
            </a:r>
            <a:r>
              <a:rPr lang="zh-CN" altLang="en-US" dirty="0"/>
              <a:t>当然什么都不知道，也什么都不做。</a:t>
            </a:r>
          </a:p>
          <a:p>
            <a:endParaRPr lang="en-US" altLang="zh-CN" dirty="0"/>
          </a:p>
          <a:p>
            <a:r>
              <a:rPr lang="zh-CN" altLang="en-US" dirty="0"/>
              <a:t>在这两种情况下，</a:t>
            </a:r>
            <a:r>
              <a:rPr lang="en-US" altLang="zh-CN" dirty="0"/>
              <a:t>B </a:t>
            </a:r>
            <a:r>
              <a:rPr lang="zh-CN" altLang="en-US" dirty="0"/>
              <a:t>都不会发送任何信息。</a:t>
            </a:r>
            <a:endParaRPr lang="en-US" altLang="zh-CN" dirty="0"/>
          </a:p>
          <a:p>
            <a:endParaRPr lang="zh-CN" altLang="en-US" dirty="0"/>
          </a:p>
        </p:txBody>
      </p:sp>
      <p:sp>
        <p:nvSpPr>
          <p:cNvPr id="7" name="标题 6">
            <a:extLst>
              <a:ext uri="{FF2B5EF4-FFF2-40B4-BE49-F238E27FC236}">
                <a16:creationId xmlns:a16="http://schemas.microsoft.com/office/drawing/2014/main" id="{12056353-546F-4B15-319C-66934627137C}"/>
              </a:ext>
            </a:extLst>
          </p:cNvPr>
          <p:cNvSpPr>
            <a:spLocks noGrp="1"/>
          </p:cNvSpPr>
          <p:nvPr>
            <p:ph type="title"/>
          </p:nvPr>
        </p:nvSpPr>
        <p:spPr>
          <a:xfrm>
            <a:off x="2808000" y="144000"/>
            <a:ext cx="3528000" cy="338554"/>
          </a:xfrm>
        </p:spPr>
        <p:txBody>
          <a:bodyPr/>
          <a:lstStyle/>
          <a:p>
            <a:r>
              <a:rPr lang="en-US" altLang="zh-CN" dirty="0"/>
              <a:t>2. </a:t>
            </a:r>
            <a:r>
              <a:rPr lang="zh-CN" altLang="en-US" dirty="0"/>
              <a:t>出现差错</a:t>
            </a:r>
          </a:p>
        </p:txBody>
      </p:sp>
    </p:spTree>
    <p:extLst>
      <p:ext uri="{BB962C8B-B14F-4D97-AF65-F5344CB8AC3E}">
        <p14:creationId xmlns:p14="http://schemas.microsoft.com/office/powerpoint/2010/main" val="1747270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14E6C818-0020-D109-3162-311C9ED10A49}"/>
              </a:ext>
            </a:extLst>
          </p:cNvPr>
          <p:cNvSpPr>
            <a:spLocks noGrp="1"/>
          </p:cNvSpPr>
          <p:nvPr>
            <p:ph sz="quarter" idx="11"/>
          </p:nvPr>
        </p:nvSpPr>
        <p:spPr>
          <a:xfrm>
            <a:off x="486000" y="482554"/>
            <a:ext cx="8172000" cy="4120946"/>
          </a:xfrm>
        </p:spPr>
        <p:txBody>
          <a:bodyPr/>
          <a:lstStyle/>
          <a:p>
            <a:r>
              <a:rPr lang="zh-CN" altLang="en-US" dirty="0"/>
              <a:t>问题：</a:t>
            </a:r>
            <a:r>
              <a:rPr lang="en-US" altLang="zh-CN" dirty="0"/>
              <a:t>A </a:t>
            </a:r>
            <a:r>
              <a:rPr lang="zh-CN" altLang="en-US" dirty="0"/>
              <a:t>如何知道 </a:t>
            </a:r>
            <a:r>
              <a:rPr lang="en-US" altLang="zh-CN" dirty="0"/>
              <a:t>B </a:t>
            </a:r>
            <a:r>
              <a:rPr lang="zh-CN" altLang="en-US" dirty="0"/>
              <a:t>是否正确收到了 </a:t>
            </a:r>
            <a:r>
              <a:rPr lang="en-US" altLang="zh-CN" dirty="0"/>
              <a:t>M1 </a:t>
            </a:r>
            <a:r>
              <a:rPr lang="zh-CN" altLang="en-US" dirty="0"/>
              <a:t>呢？</a:t>
            </a:r>
          </a:p>
          <a:p>
            <a:r>
              <a:rPr lang="zh-CN" altLang="en-US" dirty="0"/>
              <a:t>解决方法：超时重传</a:t>
            </a:r>
          </a:p>
          <a:p>
            <a:r>
              <a:rPr lang="en-US" altLang="zh-CN" dirty="0"/>
              <a:t>A </a:t>
            </a:r>
            <a:r>
              <a:rPr lang="zh-CN" altLang="en-US" dirty="0"/>
              <a:t>为每一个已发送的分组设置一个超时计时器。</a:t>
            </a:r>
          </a:p>
          <a:p>
            <a:r>
              <a:rPr lang="en-US" altLang="zh-CN" dirty="0"/>
              <a:t>A </a:t>
            </a:r>
            <a:r>
              <a:rPr lang="zh-CN" altLang="en-US" dirty="0"/>
              <a:t>只要在超时计时器到期之前收到了相应的确认，就撤销该超时计时器，继续发送下一个分组 </a:t>
            </a:r>
            <a:r>
              <a:rPr lang="en-US" altLang="zh-CN" dirty="0"/>
              <a:t>M2 </a:t>
            </a:r>
            <a:r>
              <a:rPr lang="zh-CN" altLang="en-US" dirty="0"/>
              <a:t>。</a:t>
            </a:r>
            <a:endParaRPr lang="en-US" altLang="zh-CN" dirty="0"/>
          </a:p>
          <a:p>
            <a:r>
              <a:rPr lang="zh-CN" altLang="en-US" dirty="0"/>
              <a:t>若 </a:t>
            </a:r>
            <a:r>
              <a:rPr lang="en-US" altLang="zh-CN" dirty="0"/>
              <a:t>A </a:t>
            </a:r>
            <a:r>
              <a:rPr lang="zh-CN" altLang="en-US" dirty="0"/>
              <a:t>在超时计时器规定时间内没有收到 </a:t>
            </a:r>
            <a:r>
              <a:rPr lang="en-US" altLang="zh-CN" dirty="0"/>
              <a:t>B </a:t>
            </a:r>
            <a:r>
              <a:rPr lang="zh-CN" altLang="en-US" dirty="0"/>
              <a:t>的确认，就认为分组错误或丢失，就重发该分组。</a:t>
            </a:r>
            <a:endParaRPr lang="en-US" altLang="zh-CN" dirty="0"/>
          </a:p>
          <a:p>
            <a:endParaRPr lang="zh-CN" altLang="en-US" dirty="0"/>
          </a:p>
        </p:txBody>
      </p:sp>
      <p:sp>
        <p:nvSpPr>
          <p:cNvPr id="7" name="标题 6">
            <a:extLst>
              <a:ext uri="{FF2B5EF4-FFF2-40B4-BE49-F238E27FC236}">
                <a16:creationId xmlns:a16="http://schemas.microsoft.com/office/drawing/2014/main" id="{18138565-1739-2FB1-7248-BB36B7BA41DB}"/>
              </a:ext>
            </a:extLst>
          </p:cNvPr>
          <p:cNvSpPr>
            <a:spLocks noGrp="1"/>
          </p:cNvSpPr>
          <p:nvPr>
            <p:ph type="title"/>
          </p:nvPr>
        </p:nvSpPr>
        <p:spPr>
          <a:xfrm>
            <a:off x="2808000" y="144000"/>
            <a:ext cx="3528000" cy="338554"/>
          </a:xfrm>
        </p:spPr>
        <p:txBody>
          <a:bodyPr/>
          <a:lstStyle/>
          <a:p>
            <a:r>
              <a:rPr lang="en-US" altLang="zh-CN" dirty="0"/>
              <a:t>2. </a:t>
            </a:r>
            <a:r>
              <a:rPr lang="zh-CN" altLang="en-US" dirty="0"/>
              <a:t>出现差错</a:t>
            </a:r>
          </a:p>
        </p:txBody>
      </p:sp>
    </p:spTree>
    <p:extLst>
      <p:ext uri="{BB962C8B-B14F-4D97-AF65-F5344CB8AC3E}">
        <p14:creationId xmlns:p14="http://schemas.microsoft.com/office/powerpoint/2010/main" val="15904073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 Box 28"/>
          <p:cNvSpPr txBox="1">
            <a:spLocks noChangeArrowheads="1"/>
          </p:cNvSpPr>
          <p:nvPr/>
        </p:nvSpPr>
        <p:spPr bwMode="auto">
          <a:xfrm>
            <a:off x="2565148" y="4198453"/>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b="1" dirty="0">
                <a:latin typeface="Montserrat" panose="00000500000000000000" pitchFamily="2" charset="0"/>
                <a:ea typeface="微软雅黑 Light" panose="020B0502040204020203" pitchFamily="34" charset="-122"/>
              </a:rPr>
              <a:t>分组错误</a:t>
            </a:r>
          </a:p>
        </p:txBody>
      </p:sp>
      <p:sp>
        <p:nvSpPr>
          <p:cNvPr id="38" name="Line 36"/>
          <p:cNvSpPr>
            <a:spLocks noChangeShapeType="1"/>
          </p:cNvSpPr>
          <p:nvPr/>
        </p:nvSpPr>
        <p:spPr bwMode="auto">
          <a:xfrm>
            <a:off x="2442953" y="1581642"/>
            <a:ext cx="0" cy="2263658"/>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39" name="Line 37"/>
          <p:cNvSpPr>
            <a:spLocks noChangeShapeType="1"/>
          </p:cNvSpPr>
          <p:nvPr/>
        </p:nvSpPr>
        <p:spPr bwMode="auto">
          <a:xfrm>
            <a:off x="3602105" y="1581642"/>
            <a:ext cx="0" cy="2250096"/>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40" name="Rectangle 38"/>
          <p:cNvSpPr>
            <a:spLocks noChangeArrowheads="1"/>
          </p:cNvSpPr>
          <p:nvPr/>
        </p:nvSpPr>
        <p:spPr bwMode="auto">
          <a:xfrm>
            <a:off x="2321087" y="1297665"/>
            <a:ext cx="29174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A</a:t>
            </a:r>
          </a:p>
        </p:txBody>
      </p:sp>
      <p:sp>
        <p:nvSpPr>
          <p:cNvPr id="41" name="Rectangle 39"/>
          <p:cNvSpPr>
            <a:spLocks noChangeArrowheads="1"/>
          </p:cNvSpPr>
          <p:nvPr/>
        </p:nvSpPr>
        <p:spPr bwMode="auto">
          <a:xfrm>
            <a:off x="3495991" y="1297665"/>
            <a:ext cx="2965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B</a:t>
            </a:r>
          </a:p>
        </p:txBody>
      </p:sp>
      <p:sp>
        <p:nvSpPr>
          <p:cNvPr id="43" name="Freeform 41"/>
          <p:cNvSpPr>
            <a:spLocks/>
          </p:cNvSpPr>
          <p:nvPr/>
        </p:nvSpPr>
        <p:spPr bwMode="auto">
          <a:xfrm>
            <a:off x="2465549" y="16656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44" name="AutoShape 42"/>
          <p:cNvSpPr>
            <a:spLocks noChangeArrowheads="1"/>
          </p:cNvSpPr>
          <p:nvPr/>
        </p:nvSpPr>
        <p:spPr bwMode="auto">
          <a:xfrm rot="480000">
            <a:off x="3170017" y="19036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45" name="Rectangle 43"/>
          <p:cNvSpPr>
            <a:spLocks noChangeArrowheads="1"/>
          </p:cNvSpPr>
          <p:nvPr/>
        </p:nvSpPr>
        <p:spPr bwMode="auto">
          <a:xfrm rot="540000">
            <a:off x="2687057" y="17496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47" name="Freeform 45"/>
          <p:cNvSpPr>
            <a:spLocks/>
          </p:cNvSpPr>
          <p:nvPr/>
        </p:nvSpPr>
        <p:spPr bwMode="auto">
          <a:xfrm>
            <a:off x="2464549" y="26493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48" name="AutoShape 46"/>
          <p:cNvSpPr>
            <a:spLocks noChangeArrowheads="1"/>
          </p:cNvSpPr>
          <p:nvPr/>
        </p:nvSpPr>
        <p:spPr bwMode="auto">
          <a:xfrm rot="480000">
            <a:off x="3169017" y="28873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49" name="Rectangle 47"/>
          <p:cNvSpPr>
            <a:spLocks noChangeArrowheads="1"/>
          </p:cNvSpPr>
          <p:nvPr/>
        </p:nvSpPr>
        <p:spPr bwMode="auto">
          <a:xfrm rot="540000">
            <a:off x="2686057" y="27333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51" name="Line 52"/>
          <p:cNvSpPr>
            <a:spLocks noChangeShapeType="1"/>
          </p:cNvSpPr>
          <p:nvPr/>
        </p:nvSpPr>
        <p:spPr bwMode="auto">
          <a:xfrm flipH="1">
            <a:off x="2427078" y="3259287"/>
            <a:ext cx="1176904" cy="200984"/>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52" name="Text Box 53"/>
          <p:cNvSpPr txBox="1">
            <a:spLocks noChangeArrowheads="1"/>
          </p:cNvSpPr>
          <p:nvPr/>
        </p:nvSpPr>
        <p:spPr bwMode="auto">
          <a:xfrm rot="21169770">
            <a:off x="2593064" y="3139297"/>
            <a:ext cx="586952" cy="276978"/>
          </a:xfrm>
          <a:prstGeom prst="rect">
            <a:avLst/>
          </a:prstGeom>
          <a:noFill/>
          <a:ln w="127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Montserrat" panose="00000500000000000000" pitchFamily="2" charset="0"/>
                <a:ea typeface="微软雅黑 Light" panose="020B0502040204020203" pitchFamily="34" charset="-122"/>
              </a:rPr>
              <a:t>ACK </a:t>
            </a:r>
            <a:r>
              <a:rPr kumimoji="0" lang="en-US" altLang="zh-CN" sz="1200" b="1" baseline="-25000" dirty="0">
                <a:latin typeface="Montserrat" panose="00000500000000000000" pitchFamily="2" charset="0"/>
                <a:ea typeface="微软雅黑 Light" panose="020B0502040204020203" pitchFamily="34" charset="-122"/>
              </a:rPr>
              <a:t>1</a:t>
            </a:r>
          </a:p>
        </p:txBody>
      </p:sp>
      <p:sp>
        <p:nvSpPr>
          <p:cNvPr id="54" name="AutoShape 60"/>
          <p:cNvSpPr>
            <a:spLocks noChangeArrowheads="1"/>
          </p:cNvSpPr>
          <p:nvPr/>
        </p:nvSpPr>
        <p:spPr bwMode="auto">
          <a:xfrm>
            <a:off x="3421520" y="1941161"/>
            <a:ext cx="433965" cy="415966"/>
          </a:xfrm>
          <a:prstGeom prst="irregularSeal1">
            <a:avLst/>
          </a:prstGeom>
          <a:solidFill>
            <a:srgbClr val="FF0000"/>
          </a:solidFill>
          <a:ln w="9525" algn="ctr">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57" name="AutoShape 26"/>
          <p:cNvSpPr>
            <a:spLocks/>
          </p:cNvSpPr>
          <p:nvPr/>
        </p:nvSpPr>
        <p:spPr bwMode="auto">
          <a:xfrm>
            <a:off x="2326503" y="2010185"/>
            <a:ext cx="55995" cy="583952"/>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58" name="Text Box 27"/>
          <p:cNvSpPr txBox="1">
            <a:spLocks noChangeArrowheads="1"/>
          </p:cNvSpPr>
          <p:nvPr/>
        </p:nvSpPr>
        <p:spPr bwMode="auto">
          <a:xfrm>
            <a:off x="525584" y="1644075"/>
            <a:ext cx="462962" cy="307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nvGrpSpPr>
          <p:cNvPr id="59" name="组合 58"/>
          <p:cNvGrpSpPr/>
          <p:nvPr/>
        </p:nvGrpSpPr>
        <p:grpSpPr>
          <a:xfrm>
            <a:off x="6402443" y="1572080"/>
            <a:ext cx="1159152" cy="2259658"/>
            <a:chOff x="6885560" y="1647602"/>
            <a:chExt cx="1840305" cy="3179763"/>
          </a:xfrm>
        </p:grpSpPr>
        <p:sp>
          <p:nvSpPr>
            <p:cNvPr id="60" name="Line 4"/>
            <p:cNvSpPr>
              <a:spLocks noChangeShapeType="1"/>
            </p:cNvSpPr>
            <p:nvPr/>
          </p:nvSpPr>
          <p:spPr bwMode="auto">
            <a:xfrm>
              <a:off x="6885560"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Line 5"/>
            <p:cNvSpPr>
              <a:spLocks noChangeShapeType="1"/>
            </p:cNvSpPr>
            <p:nvPr/>
          </p:nvSpPr>
          <p:spPr bwMode="auto">
            <a:xfrm>
              <a:off x="8725865" y="1647602"/>
              <a:ext cx="0" cy="3160712"/>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62" name="Rectangle 6"/>
          <p:cNvSpPr>
            <a:spLocks noChangeArrowheads="1"/>
          </p:cNvSpPr>
          <p:nvPr/>
        </p:nvSpPr>
        <p:spPr bwMode="auto">
          <a:xfrm>
            <a:off x="6280577" y="1242748"/>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63" name="Rectangle 7"/>
          <p:cNvSpPr>
            <a:spLocks noChangeArrowheads="1"/>
          </p:cNvSpPr>
          <p:nvPr/>
        </p:nvSpPr>
        <p:spPr bwMode="auto">
          <a:xfrm>
            <a:off x="7455482" y="1242748"/>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64" name="Group 8"/>
          <p:cNvGrpSpPr>
            <a:grpSpLocks/>
          </p:cNvGrpSpPr>
          <p:nvPr/>
        </p:nvGrpSpPr>
        <p:grpSpPr bwMode="auto">
          <a:xfrm>
            <a:off x="6404567" y="1656074"/>
            <a:ext cx="1071912" cy="489960"/>
            <a:chOff x="3769" y="1868"/>
            <a:chExt cx="1072" cy="490"/>
          </a:xfrm>
        </p:grpSpPr>
        <p:sp>
          <p:nvSpPr>
            <p:cNvPr id="65" name="Freeform 9"/>
            <p:cNvSpPr>
              <a:spLocks/>
            </p:cNvSpPr>
            <p:nvPr/>
          </p:nvSpPr>
          <p:spPr bwMode="auto">
            <a:xfrm>
              <a:off x="3769" y="1868"/>
              <a:ext cx="1072"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6" name="AutoShape 10"/>
            <p:cNvSpPr>
              <a:spLocks noChangeArrowheads="1"/>
            </p:cNvSpPr>
            <p:nvPr/>
          </p:nvSpPr>
          <p:spPr bwMode="auto">
            <a:xfrm rot="480000">
              <a:off x="4521"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7" name="Rectangle 11"/>
            <p:cNvSpPr>
              <a:spLocks noChangeArrowheads="1"/>
            </p:cNvSpPr>
            <p:nvPr/>
          </p:nvSpPr>
          <p:spPr bwMode="auto">
            <a:xfrm rot="540000">
              <a:off x="3968" y="1941"/>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8" name="Group 12"/>
          <p:cNvGrpSpPr>
            <a:grpSpLocks/>
          </p:cNvGrpSpPr>
          <p:nvPr/>
        </p:nvGrpSpPr>
        <p:grpSpPr bwMode="auto">
          <a:xfrm>
            <a:off x="6403567" y="2585997"/>
            <a:ext cx="1155905" cy="489960"/>
            <a:chOff x="3439" y="3564"/>
            <a:chExt cx="1156" cy="490"/>
          </a:xfrm>
        </p:grpSpPr>
        <p:sp>
          <p:nvSpPr>
            <p:cNvPr id="69" name="Freeform 13"/>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0" name="AutoShape 14"/>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1" name="Rectangle 15"/>
            <p:cNvSpPr>
              <a:spLocks noChangeArrowheads="1"/>
            </p:cNvSpPr>
            <p:nvPr/>
          </p:nvSpPr>
          <p:spPr bwMode="auto">
            <a:xfrm rot="540000">
              <a:off x="3642" y="3633"/>
              <a:ext cx="441" cy="305"/>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72" name="Text Box 16"/>
          <p:cNvSpPr txBox="1">
            <a:spLocks noChangeArrowheads="1"/>
          </p:cNvSpPr>
          <p:nvPr/>
        </p:nvSpPr>
        <p:spPr bwMode="auto">
          <a:xfrm>
            <a:off x="6557173" y="3952790"/>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分组丢失</a:t>
            </a:r>
          </a:p>
        </p:txBody>
      </p:sp>
      <p:grpSp>
        <p:nvGrpSpPr>
          <p:cNvPr id="73" name="Group 17"/>
          <p:cNvGrpSpPr>
            <a:grpSpLocks/>
          </p:cNvGrpSpPr>
          <p:nvPr/>
        </p:nvGrpSpPr>
        <p:grpSpPr bwMode="auto">
          <a:xfrm>
            <a:off x="6386568" y="3045962"/>
            <a:ext cx="1176904" cy="350972"/>
            <a:chOff x="2012" y="2265"/>
            <a:chExt cx="1177" cy="351"/>
          </a:xfrm>
        </p:grpSpPr>
        <p:sp>
          <p:nvSpPr>
            <p:cNvPr id="74" name="Line 18"/>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5" name="Text Box 19"/>
            <p:cNvSpPr txBox="1">
              <a:spLocks noChangeArrowheads="1"/>
            </p:cNvSpPr>
            <p:nvPr/>
          </p:nvSpPr>
          <p:spPr bwMode="auto">
            <a:xfrm rot="21169770">
              <a:off x="2147" y="2265"/>
              <a:ext cx="688"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ACK </a:t>
              </a:r>
              <a:r>
                <a:rPr kumimoji="0" lang="en-US" altLang="zh-CN" sz="1400" b="1" baseline="-25000" dirty="0">
                  <a:latin typeface="微软雅黑" pitchFamily="34" charset="-122"/>
                  <a:ea typeface="微软雅黑" pitchFamily="34" charset="-122"/>
                </a:rPr>
                <a:t>1</a:t>
              </a:r>
              <a:endParaRPr kumimoji="0" lang="en-US" altLang="zh-CN" sz="1400" b="1" dirty="0">
                <a:latin typeface="微软雅黑" pitchFamily="34" charset="-122"/>
                <a:ea typeface="微软雅黑" pitchFamily="34" charset="-122"/>
              </a:endParaRPr>
            </a:p>
          </p:txBody>
        </p:sp>
      </p:grpSp>
      <p:sp>
        <p:nvSpPr>
          <p:cNvPr id="76" name="AutoShape 20"/>
          <p:cNvSpPr>
            <a:spLocks noChangeArrowheads="1"/>
          </p:cNvSpPr>
          <p:nvPr/>
        </p:nvSpPr>
        <p:spPr bwMode="auto">
          <a:xfrm>
            <a:off x="7294494" y="1591079"/>
            <a:ext cx="475961" cy="4589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77" name="Text Box 24"/>
          <p:cNvSpPr txBox="1">
            <a:spLocks noChangeArrowheads="1"/>
          </p:cNvSpPr>
          <p:nvPr/>
        </p:nvSpPr>
        <p:spPr bwMode="auto">
          <a:xfrm>
            <a:off x="5472643" y="260699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00000"/>
                </a:solidFill>
                <a:latin typeface="微软雅黑" pitchFamily="34" charset="-122"/>
                <a:ea typeface="微软雅黑" pitchFamily="34" charset="-122"/>
              </a:rPr>
              <a:t>超时重传</a:t>
            </a:r>
          </a:p>
        </p:txBody>
      </p:sp>
      <p:grpSp>
        <p:nvGrpSpPr>
          <p:cNvPr id="78" name="Group 25"/>
          <p:cNvGrpSpPr>
            <a:grpSpLocks/>
          </p:cNvGrpSpPr>
          <p:nvPr/>
        </p:nvGrpSpPr>
        <p:grpSpPr bwMode="auto">
          <a:xfrm>
            <a:off x="5823613" y="2000045"/>
            <a:ext cx="502959" cy="583952"/>
            <a:chOff x="3188" y="2204"/>
            <a:chExt cx="503" cy="584"/>
          </a:xfrm>
        </p:grpSpPr>
        <p:sp>
          <p:nvSpPr>
            <p:cNvPr id="79" name="AutoShape 26"/>
            <p:cNvSpPr>
              <a:spLocks/>
            </p:cNvSpPr>
            <p:nvPr/>
          </p:nvSpPr>
          <p:spPr bwMode="auto">
            <a:xfrm>
              <a:off x="3635"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Text Box 27"/>
            <p:cNvSpPr txBox="1">
              <a:spLocks noChangeArrowheads="1"/>
            </p:cNvSpPr>
            <p:nvPr/>
          </p:nvSpPr>
          <p:spPr bwMode="auto">
            <a:xfrm>
              <a:off x="3188" y="2311"/>
              <a:ext cx="463" cy="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solidFill>
                    <a:srgbClr val="0000FF"/>
                  </a:solidFill>
                  <a:latin typeface="微软雅黑" pitchFamily="34" charset="-122"/>
                  <a:ea typeface="微软雅黑" pitchFamily="34" charset="-122"/>
                </a:rPr>
                <a:t>t</a:t>
              </a:r>
              <a:r>
                <a:rPr kumimoji="0" lang="en-US" altLang="zh-CN" sz="1400" b="1" baseline="-25000" dirty="0">
                  <a:solidFill>
                    <a:srgbClr val="0000FF"/>
                  </a:solidFill>
                  <a:latin typeface="微软雅黑" pitchFamily="34" charset="-122"/>
                  <a:ea typeface="微软雅黑" pitchFamily="34" charset="-122"/>
                </a:rPr>
                <a:t>out</a:t>
              </a:r>
            </a:p>
          </p:txBody>
        </p:sp>
      </p:grpSp>
      <p:sp>
        <p:nvSpPr>
          <p:cNvPr id="82" name="Text Box 31"/>
          <p:cNvSpPr txBox="1">
            <a:spLocks noChangeArrowheads="1"/>
          </p:cNvSpPr>
          <p:nvPr/>
        </p:nvSpPr>
        <p:spPr bwMode="auto">
          <a:xfrm>
            <a:off x="389174" y="1854628"/>
            <a:ext cx="1052534" cy="79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grpSp>
        <p:nvGrpSpPr>
          <p:cNvPr id="84" name="Group 33"/>
          <p:cNvGrpSpPr>
            <a:grpSpLocks/>
          </p:cNvGrpSpPr>
          <p:nvPr/>
        </p:nvGrpSpPr>
        <p:grpSpPr bwMode="auto">
          <a:xfrm>
            <a:off x="4945125" y="1854628"/>
            <a:ext cx="1333681" cy="799738"/>
            <a:chOff x="791" y="1800"/>
            <a:chExt cx="1129" cy="677"/>
          </a:xfrm>
        </p:grpSpPr>
        <p:sp>
          <p:nvSpPr>
            <p:cNvPr id="85" name="Text Box 31"/>
            <p:cNvSpPr txBox="1">
              <a:spLocks noChangeArrowheads="1"/>
            </p:cNvSpPr>
            <p:nvPr/>
          </p:nvSpPr>
          <p:spPr bwMode="auto">
            <a:xfrm>
              <a:off x="791" y="1800"/>
              <a:ext cx="825" cy="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400" b="1" dirty="0">
                  <a:solidFill>
                    <a:srgbClr val="CC00CC"/>
                  </a:solidFill>
                  <a:latin typeface="微软雅黑" pitchFamily="34" charset="-122"/>
                  <a:ea typeface="微软雅黑" pitchFamily="34" charset="-122"/>
                </a:rPr>
                <a:t>启动超时计时器</a:t>
              </a:r>
              <a:r>
                <a:rPr lang="en-US" altLang="zh-CN" sz="1800" b="1" kern="0" dirty="0">
                  <a:solidFill>
                    <a:srgbClr val="0000FF"/>
                  </a:solidFill>
                  <a:latin typeface="微软雅黑" pitchFamily="34" charset="-122"/>
                  <a:ea typeface="微软雅黑" pitchFamily="34" charset="-122"/>
                  <a:sym typeface="Wingdings" pitchFamily="2" charset="2"/>
                </a:rPr>
                <a:t></a:t>
              </a:r>
              <a:r>
                <a:rPr lang="zh-CN" altLang="en-US" sz="1400" b="1" dirty="0">
                  <a:solidFill>
                    <a:srgbClr val="CC00CC"/>
                  </a:solidFill>
                  <a:latin typeface="微软雅黑" pitchFamily="34" charset="-122"/>
                  <a:ea typeface="微软雅黑" pitchFamily="34" charset="-122"/>
                </a:rPr>
                <a:t>，等待 </a:t>
              </a:r>
              <a:r>
                <a:rPr lang="en-US" altLang="zh-CN" sz="1400" b="1" dirty="0">
                  <a:solidFill>
                    <a:srgbClr val="CC00CC"/>
                  </a:solidFill>
                  <a:latin typeface="微软雅黑" pitchFamily="34" charset="-122"/>
                  <a:ea typeface="微软雅黑" pitchFamily="34" charset="-122"/>
                </a:rPr>
                <a:t>ACK</a:t>
              </a:r>
            </a:p>
          </p:txBody>
        </p:sp>
        <p:sp>
          <p:nvSpPr>
            <p:cNvPr id="86" name="Line 32"/>
            <p:cNvSpPr>
              <a:spLocks noChangeShapeType="1"/>
            </p:cNvSpPr>
            <p:nvPr/>
          </p:nvSpPr>
          <p:spPr bwMode="auto">
            <a:xfrm>
              <a:off x="1532" y="1920"/>
              <a:ext cx="388" cy="0"/>
            </a:xfrm>
            <a:prstGeom prst="line">
              <a:avLst/>
            </a:prstGeom>
            <a:noFill/>
            <a:ln w="28575">
              <a:solidFill>
                <a:srgbClr val="CC00CC"/>
              </a:solidFill>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400" b="1">
                <a:latin typeface="微软雅黑" pitchFamily="34" charset="-122"/>
                <a:ea typeface="微软雅黑" pitchFamily="34" charset="-122"/>
              </a:endParaRPr>
            </a:p>
          </p:txBody>
        </p:sp>
      </p:grpSp>
      <p:sp>
        <p:nvSpPr>
          <p:cNvPr id="88" name="TextBox 86"/>
          <p:cNvSpPr txBox="1"/>
          <p:nvPr/>
        </p:nvSpPr>
        <p:spPr>
          <a:xfrm>
            <a:off x="7553223" y="2988665"/>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8" name="标题 7">
            <a:extLst>
              <a:ext uri="{FF2B5EF4-FFF2-40B4-BE49-F238E27FC236}">
                <a16:creationId xmlns:a16="http://schemas.microsoft.com/office/drawing/2014/main" id="{4A41305C-57A5-CBA6-E7F9-7329568C6DC6}"/>
              </a:ext>
            </a:extLst>
          </p:cNvPr>
          <p:cNvSpPr>
            <a:spLocks noGrp="1"/>
          </p:cNvSpPr>
          <p:nvPr>
            <p:ph type="title"/>
          </p:nvPr>
        </p:nvSpPr>
        <p:spPr>
          <a:xfrm>
            <a:off x="2808000" y="144000"/>
            <a:ext cx="3528000" cy="338554"/>
          </a:xfrm>
        </p:spPr>
        <p:txBody>
          <a:bodyPr/>
          <a:lstStyle/>
          <a:p>
            <a:r>
              <a:rPr lang="en-US" altLang="zh-CN" dirty="0"/>
              <a:t>2. </a:t>
            </a:r>
            <a:r>
              <a:rPr lang="zh-CN" altLang="en-US" dirty="0"/>
              <a:t>出现差错</a:t>
            </a:r>
          </a:p>
        </p:txBody>
      </p:sp>
      <p:pic>
        <p:nvPicPr>
          <p:cNvPr id="3" name="图形 2" descr="时钟">
            <a:extLst>
              <a:ext uri="{FF2B5EF4-FFF2-40B4-BE49-F238E27FC236}">
                <a16:creationId xmlns:a16="http://schemas.microsoft.com/office/drawing/2014/main" id="{30AC21A3-FF3E-7D70-69B0-854E958EE93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1999" y="2099593"/>
            <a:ext cx="360000" cy="360000"/>
          </a:xfrm>
          <a:prstGeom prst="rect">
            <a:avLst/>
          </a:prstGeom>
        </p:spPr>
      </p:pic>
      <p:sp>
        <p:nvSpPr>
          <p:cNvPr id="4" name="TextBox 86">
            <a:extLst>
              <a:ext uri="{FF2B5EF4-FFF2-40B4-BE49-F238E27FC236}">
                <a16:creationId xmlns:a16="http://schemas.microsoft.com/office/drawing/2014/main" id="{8335279F-3770-8B98-DD9F-1D6A34CE9A76}"/>
              </a:ext>
            </a:extLst>
          </p:cNvPr>
          <p:cNvSpPr txBox="1"/>
          <p:nvPr/>
        </p:nvSpPr>
        <p:spPr>
          <a:xfrm>
            <a:off x="1650431" y="2685795"/>
            <a:ext cx="800219" cy="276999"/>
          </a:xfrm>
          <a:prstGeom prst="rect">
            <a:avLst/>
          </a:prstGeom>
          <a:noFill/>
        </p:spPr>
        <p:txBody>
          <a:bodyPr wrap="none" rtlCol="0">
            <a:spAutoFit/>
          </a:bodyPr>
          <a:lstStyle/>
          <a:p>
            <a:pPr algn="r" defTabSz="762000" eaLnBrk="0" hangingPunct="0"/>
            <a:r>
              <a:rPr lang="zh-CN" altLang="en-US" sz="1200" dirty="0">
                <a:latin typeface="微软雅黑 Light" panose="020B0502040204020203" pitchFamily="34" charset="-122"/>
                <a:ea typeface="微软雅黑 Light" panose="020B0502040204020203" pitchFamily="34" charset="-122"/>
              </a:rPr>
              <a:t>超时重传</a:t>
            </a:r>
            <a:endParaRPr lang="en-US" altLang="zh-CN" sz="12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71846371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5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500" fill="hold"/>
                                        <p:tgtEl>
                                          <p:spTgt spid="5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nodeType="clickEffect">
                                  <p:stCondLst>
                                    <p:cond delay="2000"/>
                                  </p:stCondLst>
                                  <p:childTnLst>
                                    <p:set>
                                      <p:cBhvr>
                                        <p:cTn id="13" dur="1" fill="hold">
                                          <p:stCondLst>
                                            <p:cond delay="0"/>
                                          </p:stCondLst>
                                        </p:cTn>
                                        <p:tgtEl>
                                          <p:spTgt spid="64"/>
                                        </p:tgtEl>
                                        <p:attrNameLst>
                                          <p:attrName>style.visibility</p:attrName>
                                        </p:attrNameLst>
                                      </p:cBhvr>
                                      <p:to>
                                        <p:strVal val="visible"/>
                                      </p:to>
                                    </p:set>
                                    <p:animEffect transition="in" filter="wipe(left)">
                                      <p:cBhvr>
                                        <p:cTn id="14" dur="2000"/>
                                        <p:tgtEl>
                                          <p:spTgt spid="64"/>
                                        </p:tgtEl>
                                      </p:cBhvr>
                                    </p:animEffect>
                                  </p:childTnLst>
                                </p:cTn>
                              </p:par>
                            </p:childTnLst>
                          </p:cTn>
                        </p:par>
                        <p:par>
                          <p:cTn id="15" fill="hold">
                            <p:stCondLst>
                              <p:cond delay="4000"/>
                            </p:stCondLst>
                            <p:childTnLst>
                              <p:par>
                                <p:cTn id="16" presetID="22" presetClass="entr" presetSubtype="8" fill="hold" nodeType="after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wipe(left)">
                                      <p:cBhvr>
                                        <p:cTn id="18" dur="1000"/>
                                        <p:tgtEl>
                                          <p:spTgt spid="84"/>
                                        </p:tgtEl>
                                      </p:cBhvr>
                                    </p:animEffect>
                                  </p:childTnLst>
                                </p:cTn>
                              </p:par>
                            </p:childTnLst>
                          </p:cTn>
                        </p:par>
                        <p:par>
                          <p:cTn id="19" fill="hold">
                            <p:stCondLst>
                              <p:cond delay="5000"/>
                            </p:stCondLst>
                            <p:childTnLst>
                              <p:par>
                                <p:cTn id="20" presetID="1" presetClass="entr" presetSubtype="0" fill="hold" grpId="0" nodeType="afterEffect">
                                  <p:stCondLst>
                                    <p:cond delay="1000"/>
                                  </p:stCondLst>
                                  <p:childTnLst>
                                    <p:set>
                                      <p:cBhvr>
                                        <p:cTn id="21" dur="1" fill="hold">
                                          <p:stCondLst>
                                            <p:cond delay="0"/>
                                          </p:stCondLst>
                                        </p:cTn>
                                        <p:tgtEl>
                                          <p:spTgt spid="76"/>
                                        </p:tgtEl>
                                        <p:attrNameLst>
                                          <p:attrName>style.visibility</p:attrName>
                                        </p:attrNameLst>
                                      </p:cBhvr>
                                      <p:to>
                                        <p:strVal val="visible"/>
                                      </p:to>
                                    </p:set>
                                  </p:childTnLst>
                                </p:cTn>
                              </p:par>
                            </p:childTnLst>
                          </p:cTn>
                        </p:par>
                        <p:par>
                          <p:cTn id="22" fill="hold">
                            <p:stCondLst>
                              <p:cond delay="6000"/>
                            </p:stCondLst>
                            <p:childTnLst>
                              <p:par>
                                <p:cTn id="23" presetID="35" presetClass="emph" presetSubtype="0" repeatCount="3000" fill="hold" grpId="1" nodeType="afterEffect">
                                  <p:stCondLst>
                                    <p:cond delay="0"/>
                                  </p:stCondLst>
                                  <p:childTnLst>
                                    <p:anim calcmode="discrete" valueType="str">
                                      <p:cBhvr>
                                        <p:cTn id="24" dur="500" fill="hold"/>
                                        <p:tgtEl>
                                          <p:spTgt spid="76"/>
                                        </p:tgtEl>
                                        <p:attrNameLst>
                                          <p:attrName>style.visibility</p:attrName>
                                        </p:attrNameLst>
                                      </p:cBhvr>
                                      <p:tavLst>
                                        <p:tav tm="0">
                                          <p:val>
                                            <p:strVal val="hidden"/>
                                          </p:val>
                                        </p:tav>
                                        <p:tav tm="50000">
                                          <p:val>
                                            <p:strVal val="visible"/>
                                          </p:val>
                                        </p:tav>
                                      </p:tavLst>
                                    </p:anim>
                                  </p:childTnLst>
                                </p:cTn>
                              </p:par>
                            </p:childTnLst>
                          </p:cTn>
                        </p:par>
                        <p:par>
                          <p:cTn id="25" fill="hold">
                            <p:stCondLst>
                              <p:cond delay="7500"/>
                            </p:stCondLst>
                            <p:childTnLst>
                              <p:par>
                                <p:cTn id="26" presetID="1" presetClass="entr" presetSubtype="0" fill="hold" nodeType="afterEffect">
                                  <p:stCondLst>
                                    <p:cond delay="0"/>
                                  </p:stCondLst>
                                  <p:childTnLst>
                                    <p:set>
                                      <p:cBhvr>
                                        <p:cTn id="27" dur="1" fill="hold">
                                          <p:stCondLst>
                                            <p:cond delay="0"/>
                                          </p:stCondLst>
                                        </p:cTn>
                                        <p:tgtEl>
                                          <p:spTgt spid="78"/>
                                        </p:tgtEl>
                                        <p:attrNameLst>
                                          <p:attrName>style.visibility</p:attrName>
                                        </p:attrNameLst>
                                      </p:cBhvr>
                                      <p:to>
                                        <p:strVal val="visible"/>
                                      </p:to>
                                    </p:set>
                                  </p:childTnLst>
                                </p:cTn>
                              </p:par>
                            </p:childTnLst>
                          </p:cTn>
                        </p:par>
                        <p:par>
                          <p:cTn id="28" fill="hold">
                            <p:stCondLst>
                              <p:cond delay="7500"/>
                            </p:stCondLst>
                            <p:childTnLst>
                              <p:par>
                                <p:cTn id="29" presetID="35" presetClass="emph" presetSubtype="0" repeatCount="3000" fill="hold" nodeType="afterEffect">
                                  <p:stCondLst>
                                    <p:cond delay="0"/>
                                  </p:stCondLst>
                                  <p:childTnLst>
                                    <p:anim calcmode="discrete" valueType="str">
                                      <p:cBhvr>
                                        <p:cTn id="30" dur="500" fill="hold"/>
                                        <p:tgtEl>
                                          <p:spTgt spid="78"/>
                                        </p:tgtEl>
                                        <p:attrNameLst>
                                          <p:attrName>style.visibility</p:attrName>
                                        </p:attrNameLst>
                                      </p:cBhvr>
                                      <p:tavLst>
                                        <p:tav tm="0">
                                          <p:val>
                                            <p:strVal val="hidden"/>
                                          </p:val>
                                        </p:tav>
                                        <p:tav tm="50000">
                                          <p:val>
                                            <p:strVal val="visible"/>
                                          </p:val>
                                        </p:tav>
                                      </p:tavLst>
                                    </p:anim>
                                  </p:childTnLst>
                                </p:cTn>
                              </p:par>
                            </p:childTnLst>
                          </p:cTn>
                        </p:par>
                        <p:par>
                          <p:cTn id="31" fill="hold">
                            <p:stCondLst>
                              <p:cond delay="9000"/>
                            </p:stCondLst>
                            <p:childTnLst>
                              <p:par>
                                <p:cTn id="32" presetID="1" presetClass="entr" presetSubtype="0" fill="hold" grpId="0" nodeType="afterEffect">
                                  <p:stCondLst>
                                    <p:cond delay="1000"/>
                                  </p:stCondLst>
                                  <p:childTnLst>
                                    <p:set>
                                      <p:cBhvr>
                                        <p:cTn id="33" dur="1" fill="hold">
                                          <p:stCondLst>
                                            <p:cond delay="0"/>
                                          </p:stCondLst>
                                        </p:cTn>
                                        <p:tgtEl>
                                          <p:spTgt spid="77"/>
                                        </p:tgtEl>
                                        <p:attrNameLst>
                                          <p:attrName>style.visibility</p:attrName>
                                        </p:attrNameLst>
                                      </p:cBhvr>
                                      <p:to>
                                        <p:strVal val="visible"/>
                                      </p:to>
                                    </p:set>
                                  </p:childTnLst>
                                </p:cTn>
                              </p:par>
                            </p:childTnLst>
                          </p:cTn>
                        </p:par>
                        <p:par>
                          <p:cTn id="34" fill="hold">
                            <p:stCondLst>
                              <p:cond delay="10000"/>
                            </p:stCondLst>
                            <p:childTnLst>
                              <p:par>
                                <p:cTn id="35" presetID="35" presetClass="emph" presetSubtype="0" repeatCount="3000" fill="hold" grpId="1" nodeType="afterEffect">
                                  <p:stCondLst>
                                    <p:cond delay="0"/>
                                  </p:stCondLst>
                                  <p:childTnLst>
                                    <p:anim calcmode="discrete" valueType="str">
                                      <p:cBhvr>
                                        <p:cTn id="36" dur="500" fill="hold"/>
                                        <p:tgtEl>
                                          <p:spTgt spid="77"/>
                                        </p:tgtEl>
                                        <p:attrNameLst>
                                          <p:attrName>style.visibility</p:attrName>
                                        </p:attrNameLst>
                                      </p:cBhvr>
                                      <p:tavLst>
                                        <p:tav tm="0">
                                          <p:val>
                                            <p:strVal val="hidden"/>
                                          </p:val>
                                        </p:tav>
                                        <p:tav tm="50000">
                                          <p:val>
                                            <p:strVal val="visible"/>
                                          </p:val>
                                        </p:tav>
                                      </p:tavLst>
                                    </p:anim>
                                  </p:childTnLst>
                                </p:cTn>
                              </p:par>
                            </p:childTnLst>
                          </p:cTn>
                        </p:par>
                        <p:par>
                          <p:cTn id="37" fill="hold">
                            <p:stCondLst>
                              <p:cond delay="11500"/>
                            </p:stCondLst>
                            <p:childTnLst>
                              <p:par>
                                <p:cTn id="38" presetID="22" presetClass="entr" presetSubtype="8" fill="hold" nodeType="after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wipe(left)">
                                      <p:cBhvr>
                                        <p:cTn id="40" dur="2000"/>
                                        <p:tgtEl>
                                          <p:spTgt spid="68"/>
                                        </p:tgtEl>
                                      </p:cBhvr>
                                    </p:animEffect>
                                  </p:childTnLst>
                                </p:cTn>
                              </p:par>
                            </p:childTnLst>
                          </p:cTn>
                        </p:par>
                        <p:par>
                          <p:cTn id="41" fill="hold">
                            <p:stCondLst>
                              <p:cond delay="13500"/>
                            </p:stCondLst>
                            <p:childTnLst>
                              <p:par>
                                <p:cTn id="42" presetID="1" presetClass="entr" presetSubtype="0" fill="hold" grpId="0" nodeType="afterEffect">
                                  <p:stCondLst>
                                    <p:cond delay="0"/>
                                  </p:stCondLst>
                                  <p:childTnLst>
                                    <p:set>
                                      <p:cBhvr>
                                        <p:cTn id="43" dur="1" fill="hold">
                                          <p:stCondLst>
                                            <p:cond delay="999"/>
                                          </p:stCondLst>
                                        </p:cTn>
                                        <p:tgtEl>
                                          <p:spTgt spid="88"/>
                                        </p:tgtEl>
                                        <p:attrNameLst>
                                          <p:attrName>style.visibility</p:attrName>
                                        </p:attrNameLst>
                                      </p:cBhvr>
                                      <p:to>
                                        <p:strVal val="visible"/>
                                      </p:to>
                                    </p:set>
                                  </p:childTnLst>
                                </p:cTn>
                              </p:par>
                            </p:childTnLst>
                          </p:cTn>
                        </p:par>
                        <p:par>
                          <p:cTn id="44" fill="hold">
                            <p:stCondLst>
                              <p:cond delay="14500"/>
                            </p:stCondLst>
                            <p:childTnLst>
                              <p:par>
                                <p:cTn id="45" presetID="35" presetClass="emph" presetSubtype="0" repeatCount="3000" fill="hold" grpId="1" nodeType="afterEffect">
                                  <p:stCondLst>
                                    <p:cond delay="0"/>
                                  </p:stCondLst>
                                  <p:childTnLst>
                                    <p:anim calcmode="discrete" valueType="str">
                                      <p:cBhvr>
                                        <p:cTn id="46" dur="500" fill="hold"/>
                                        <p:tgtEl>
                                          <p:spTgt spid="88"/>
                                        </p:tgtEl>
                                        <p:attrNameLst>
                                          <p:attrName>style.visibility</p:attrName>
                                        </p:attrNameLst>
                                      </p:cBhvr>
                                      <p:tavLst>
                                        <p:tav tm="0">
                                          <p:val>
                                            <p:strVal val="hidden"/>
                                          </p:val>
                                        </p:tav>
                                        <p:tav tm="50000">
                                          <p:val>
                                            <p:strVal val="visible"/>
                                          </p:val>
                                        </p:tav>
                                      </p:tavLst>
                                    </p:anim>
                                  </p:childTnLst>
                                </p:cTn>
                              </p:par>
                            </p:childTnLst>
                          </p:cTn>
                        </p:par>
                        <p:par>
                          <p:cTn id="47" fill="hold">
                            <p:stCondLst>
                              <p:cond delay="16000"/>
                            </p:stCondLst>
                            <p:childTnLst>
                              <p:par>
                                <p:cTn id="48" presetID="22" presetClass="entr" presetSubtype="2" fill="hold" nodeType="afterEffect">
                                  <p:stCondLst>
                                    <p:cond delay="500"/>
                                  </p:stCondLst>
                                  <p:childTnLst>
                                    <p:set>
                                      <p:cBhvr>
                                        <p:cTn id="49" dur="1" fill="hold">
                                          <p:stCondLst>
                                            <p:cond delay="0"/>
                                          </p:stCondLst>
                                        </p:cTn>
                                        <p:tgtEl>
                                          <p:spTgt spid="73"/>
                                        </p:tgtEl>
                                        <p:attrNameLst>
                                          <p:attrName>style.visibility</p:attrName>
                                        </p:attrNameLst>
                                      </p:cBhvr>
                                      <p:to>
                                        <p:strVal val="visible"/>
                                      </p:to>
                                    </p:set>
                                    <p:animEffect transition="in" filter="wipe(right)">
                                      <p:cBhvr>
                                        <p:cTn id="50" dur="2000"/>
                                        <p:tgtEl>
                                          <p:spTgt spid="73"/>
                                        </p:tgtEl>
                                      </p:cBhvr>
                                    </p:animEffect>
                                  </p:childTnLst>
                                </p:cTn>
                              </p:par>
                            </p:childTnLst>
                          </p:cTn>
                        </p:par>
                        <p:par>
                          <p:cTn id="51" fill="hold">
                            <p:stCondLst>
                              <p:cond delay="18500"/>
                            </p:stCondLst>
                            <p:childTnLst>
                              <p:par>
                                <p:cTn id="52" presetID="1" presetClass="entr" presetSubtype="0" fill="hold" grpId="0" nodeType="afterEffect">
                                  <p:stCondLst>
                                    <p:cond delay="0"/>
                                  </p:stCondLst>
                                  <p:childTnLst>
                                    <p:set>
                                      <p:cBhvr>
                                        <p:cTn id="53" dur="1" fill="hold">
                                          <p:stCondLst>
                                            <p:cond delay="999"/>
                                          </p:stCondLst>
                                        </p:cTn>
                                        <p:tgtEl>
                                          <p:spTgt spid="4"/>
                                        </p:tgtEl>
                                        <p:attrNameLst>
                                          <p:attrName>style.visibility</p:attrName>
                                        </p:attrNameLst>
                                      </p:cBhvr>
                                      <p:to>
                                        <p:strVal val="visible"/>
                                      </p:to>
                                    </p:set>
                                  </p:childTnLst>
                                </p:cTn>
                              </p:par>
                              <p:par>
                                <p:cTn id="54" presetID="35" presetClass="emph" presetSubtype="0" repeatCount="3000" fill="hold" grpId="1" nodeType="withEffect">
                                  <p:stCondLst>
                                    <p:cond delay="0"/>
                                  </p:stCondLst>
                                  <p:childTnLst>
                                    <p:anim calcmode="discrete" valueType="str">
                                      <p:cBhvr>
                                        <p:cTn id="55" dur="5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4" grpId="1" animBg="1"/>
      <p:bldP spid="76" grpId="0" animBg="1"/>
      <p:bldP spid="76" grpId="1" animBg="1"/>
      <p:bldP spid="77" grpId="0"/>
      <p:bldP spid="77" grpId="1"/>
      <p:bldP spid="88" grpId="0"/>
      <p:bldP spid="88" grpId="1"/>
      <p:bldP spid="4" grpId="0"/>
      <p:bldP spid="4" grpId="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E5D3959C-F6ED-ECE8-9152-5C5DA29E426B}"/>
              </a:ext>
            </a:extLst>
          </p:cNvPr>
          <p:cNvSpPr>
            <a:spLocks noGrp="1"/>
          </p:cNvSpPr>
          <p:nvPr>
            <p:ph sz="quarter" idx="11"/>
          </p:nvPr>
        </p:nvSpPr>
        <p:spPr>
          <a:xfrm>
            <a:off x="486000" y="482554"/>
            <a:ext cx="8172000" cy="4120946"/>
          </a:xfrm>
        </p:spPr>
        <p:txBody>
          <a:bodyPr/>
          <a:lstStyle/>
          <a:p>
            <a:r>
              <a:rPr lang="zh-CN" altLang="en-US" dirty="0"/>
              <a:t>确认丢失</a:t>
            </a:r>
          </a:p>
          <a:p>
            <a:r>
              <a:rPr lang="zh-CN" altLang="en-US" dirty="0"/>
              <a:t>若 </a:t>
            </a:r>
            <a:r>
              <a:rPr lang="en-US" altLang="zh-CN" dirty="0"/>
              <a:t>B </a:t>
            </a:r>
            <a:r>
              <a:rPr lang="zh-CN" altLang="en-US" dirty="0"/>
              <a:t>所发送的对 </a:t>
            </a:r>
            <a:r>
              <a:rPr lang="en-US" altLang="zh-CN" dirty="0"/>
              <a:t>M1 </a:t>
            </a:r>
            <a:r>
              <a:rPr lang="zh-CN" altLang="en-US" dirty="0"/>
              <a:t>的确认丢失了，那么 </a:t>
            </a:r>
            <a:r>
              <a:rPr lang="en-US" altLang="zh-CN" dirty="0"/>
              <a:t>A </a:t>
            </a:r>
            <a:r>
              <a:rPr lang="zh-CN" altLang="en-US" dirty="0"/>
              <a:t>在设定的超时重传时间内将不会收到确认，因此 </a:t>
            </a:r>
            <a:r>
              <a:rPr lang="en-US" altLang="zh-CN" dirty="0"/>
              <a:t>A </a:t>
            </a:r>
            <a:r>
              <a:rPr lang="zh-CN" altLang="en-US" dirty="0"/>
              <a:t>在超时计时器到期后重传 </a:t>
            </a:r>
            <a:r>
              <a:rPr lang="en-US" altLang="zh-CN" dirty="0"/>
              <a:t>M1</a:t>
            </a:r>
            <a:r>
              <a:rPr lang="zh-CN" altLang="en-US" dirty="0"/>
              <a:t>。</a:t>
            </a:r>
          </a:p>
          <a:p>
            <a:r>
              <a:rPr lang="zh-CN" altLang="en-US" dirty="0"/>
              <a:t>假定 </a:t>
            </a:r>
            <a:r>
              <a:rPr lang="en-US" altLang="zh-CN" dirty="0"/>
              <a:t>B </a:t>
            </a:r>
            <a:r>
              <a:rPr lang="zh-CN" altLang="en-US" dirty="0"/>
              <a:t>正确收到了 </a:t>
            </a:r>
            <a:r>
              <a:rPr lang="en-US" altLang="zh-CN" dirty="0"/>
              <a:t>A </a:t>
            </a:r>
            <a:r>
              <a:rPr lang="zh-CN" altLang="en-US" dirty="0"/>
              <a:t>重传的分组 </a:t>
            </a:r>
            <a:r>
              <a:rPr lang="en-US" altLang="zh-CN" dirty="0"/>
              <a:t>M1</a:t>
            </a:r>
            <a:r>
              <a:rPr lang="zh-CN" altLang="en-US" dirty="0"/>
              <a:t>。这时 </a:t>
            </a:r>
            <a:r>
              <a:rPr lang="en-US" altLang="zh-CN" dirty="0"/>
              <a:t>B </a:t>
            </a:r>
            <a:r>
              <a:rPr lang="zh-CN" altLang="en-US" dirty="0"/>
              <a:t>应采取两个行动：</a:t>
            </a:r>
          </a:p>
          <a:p>
            <a:r>
              <a:rPr lang="en-US" altLang="zh-CN" dirty="0"/>
              <a:t>(1) </a:t>
            </a:r>
            <a:r>
              <a:rPr lang="zh-CN" altLang="en-US" dirty="0"/>
              <a:t>丢弃这个重复的分组 </a:t>
            </a:r>
            <a:r>
              <a:rPr lang="en-US" altLang="zh-CN" dirty="0"/>
              <a:t>M1</a:t>
            </a:r>
            <a:r>
              <a:rPr lang="zh-CN" altLang="en-US" dirty="0"/>
              <a:t>，不向上层交付。</a:t>
            </a:r>
          </a:p>
          <a:p>
            <a:r>
              <a:rPr lang="en-US" altLang="zh-CN" dirty="0"/>
              <a:t>(2) </a:t>
            </a:r>
            <a:r>
              <a:rPr lang="zh-CN" altLang="en-US" dirty="0"/>
              <a:t>向 </a:t>
            </a:r>
            <a:r>
              <a:rPr lang="en-US" altLang="zh-CN" dirty="0"/>
              <a:t>A </a:t>
            </a:r>
            <a:r>
              <a:rPr lang="zh-CN" altLang="en-US" dirty="0"/>
              <a:t>发送确认。</a:t>
            </a:r>
          </a:p>
          <a:p>
            <a:endParaRPr lang="zh-CN" altLang="en-US" dirty="0"/>
          </a:p>
        </p:txBody>
      </p:sp>
      <p:sp>
        <p:nvSpPr>
          <p:cNvPr id="8" name="标题 7">
            <a:extLst>
              <a:ext uri="{FF2B5EF4-FFF2-40B4-BE49-F238E27FC236}">
                <a16:creationId xmlns:a16="http://schemas.microsoft.com/office/drawing/2014/main" id="{EAC8B45F-E998-77D3-1958-B5FA41A252B0}"/>
              </a:ext>
            </a:extLst>
          </p:cNvPr>
          <p:cNvSpPr>
            <a:spLocks noGrp="1"/>
          </p:cNvSpPr>
          <p:nvPr>
            <p:ph type="title"/>
          </p:nvPr>
        </p:nvSpPr>
        <p:spPr>
          <a:xfrm>
            <a:off x="2808000" y="144000"/>
            <a:ext cx="3528000" cy="338554"/>
          </a:xfrm>
        </p:spPr>
        <p:txBody>
          <a:bodyPr/>
          <a:lstStyle/>
          <a:p>
            <a:r>
              <a:rPr lang="en-US" altLang="zh-CN" dirty="0"/>
              <a:t>3. </a:t>
            </a:r>
            <a:r>
              <a:rPr lang="zh-CN" altLang="en-US" dirty="0"/>
              <a:t>确认丢失和确认迟到</a:t>
            </a:r>
          </a:p>
        </p:txBody>
      </p:sp>
    </p:spTree>
    <p:extLst>
      <p:ext uri="{BB962C8B-B14F-4D97-AF65-F5344CB8AC3E}">
        <p14:creationId xmlns:p14="http://schemas.microsoft.com/office/powerpoint/2010/main" val="28631794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10F9E29E-AF0C-57E6-9BEC-E223B4DE4C3B}"/>
              </a:ext>
            </a:extLst>
          </p:cNvPr>
          <p:cNvSpPr>
            <a:spLocks noGrp="1"/>
          </p:cNvSpPr>
          <p:nvPr>
            <p:ph sz="quarter" idx="11"/>
          </p:nvPr>
        </p:nvSpPr>
        <p:spPr>
          <a:xfrm>
            <a:off x="486000" y="482554"/>
            <a:ext cx="8172000" cy="4120946"/>
          </a:xfrm>
        </p:spPr>
        <p:txBody>
          <a:bodyPr/>
          <a:lstStyle/>
          <a:p>
            <a:r>
              <a:rPr lang="zh-CN" altLang="en-US" dirty="0"/>
              <a:t>确认迟到</a:t>
            </a:r>
          </a:p>
          <a:p>
            <a:r>
              <a:rPr lang="en-US" altLang="zh-CN" dirty="0"/>
              <a:t>B </a:t>
            </a:r>
            <a:r>
              <a:rPr lang="zh-CN" altLang="en-US" dirty="0"/>
              <a:t>对分组 </a:t>
            </a:r>
            <a:r>
              <a:rPr lang="en-US" altLang="zh-CN" dirty="0"/>
              <a:t>M1 </a:t>
            </a:r>
            <a:r>
              <a:rPr lang="zh-CN" altLang="en-US" dirty="0"/>
              <a:t>的确认迟到了，因此 </a:t>
            </a:r>
            <a:r>
              <a:rPr lang="en-US" altLang="zh-CN" dirty="0"/>
              <a:t>A </a:t>
            </a:r>
            <a:r>
              <a:rPr lang="zh-CN" altLang="en-US" dirty="0"/>
              <a:t>在超时计时器到期后重传 </a:t>
            </a:r>
            <a:r>
              <a:rPr lang="en-US" altLang="zh-CN" dirty="0"/>
              <a:t>M1</a:t>
            </a:r>
            <a:r>
              <a:rPr lang="zh-CN" altLang="en-US" dirty="0"/>
              <a:t>。</a:t>
            </a:r>
            <a:endParaRPr lang="en-US" altLang="zh-CN" dirty="0"/>
          </a:p>
          <a:p>
            <a:r>
              <a:rPr lang="en-US" altLang="zh-CN" dirty="0"/>
              <a:t>B </a:t>
            </a:r>
            <a:r>
              <a:rPr lang="zh-CN" altLang="en-US" dirty="0"/>
              <a:t>会收到重复的 </a:t>
            </a:r>
            <a:r>
              <a:rPr lang="en-US" altLang="zh-CN" dirty="0"/>
              <a:t>M1</a:t>
            </a:r>
            <a:r>
              <a:rPr lang="zh-CN" altLang="en-US" dirty="0"/>
              <a:t>，丢弃重复的 </a:t>
            </a:r>
            <a:r>
              <a:rPr lang="en-US" altLang="zh-CN" dirty="0"/>
              <a:t>M1</a:t>
            </a:r>
            <a:r>
              <a:rPr lang="zh-CN" altLang="en-US" dirty="0"/>
              <a:t>，并重传确认分组。</a:t>
            </a:r>
          </a:p>
          <a:p>
            <a:r>
              <a:rPr lang="en-US" altLang="zh-CN" dirty="0"/>
              <a:t>A </a:t>
            </a:r>
            <a:r>
              <a:rPr lang="zh-CN" altLang="en-US" dirty="0"/>
              <a:t>会收到重复的确认。对重复的确认的处理：丢弃。</a:t>
            </a:r>
          </a:p>
          <a:p>
            <a:endParaRPr lang="zh-CN" altLang="en-US" dirty="0"/>
          </a:p>
        </p:txBody>
      </p:sp>
      <p:sp>
        <p:nvSpPr>
          <p:cNvPr id="8" name="标题 7">
            <a:extLst>
              <a:ext uri="{FF2B5EF4-FFF2-40B4-BE49-F238E27FC236}">
                <a16:creationId xmlns:a16="http://schemas.microsoft.com/office/drawing/2014/main" id="{D78F5F81-7539-906D-7400-1338D58CD5C6}"/>
              </a:ext>
            </a:extLst>
          </p:cNvPr>
          <p:cNvSpPr>
            <a:spLocks noGrp="1"/>
          </p:cNvSpPr>
          <p:nvPr>
            <p:ph type="title"/>
          </p:nvPr>
        </p:nvSpPr>
        <p:spPr>
          <a:xfrm>
            <a:off x="2808000" y="144000"/>
            <a:ext cx="3528000" cy="338554"/>
          </a:xfrm>
        </p:spPr>
        <p:txBody>
          <a:bodyPr/>
          <a:lstStyle/>
          <a:p>
            <a:r>
              <a:rPr lang="en-US" altLang="zh-CN" dirty="0"/>
              <a:t>3. </a:t>
            </a:r>
            <a:r>
              <a:rPr lang="zh-CN" altLang="en-US" dirty="0"/>
              <a:t>确认丢失和确认迟到</a:t>
            </a:r>
          </a:p>
        </p:txBody>
      </p:sp>
    </p:spTree>
    <p:extLst>
      <p:ext uri="{BB962C8B-B14F-4D97-AF65-F5344CB8AC3E}">
        <p14:creationId xmlns:p14="http://schemas.microsoft.com/office/powerpoint/2010/main" val="26243687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CA2D8C35-B046-98A8-EDB9-7F850AAB986B}"/>
              </a:ext>
            </a:extLst>
          </p:cNvPr>
          <p:cNvSpPr>
            <a:spLocks noGrp="1"/>
          </p:cNvSpPr>
          <p:nvPr>
            <p:ph type="title"/>
          </p:nvPr>
        </p:nvSpPr>
        <p:spPr>
          <a:xfrm>
            <a:off x="2808000" y="144000"/>
            <a:ext cx="3528000" cy="338554"/>
          </a:xfrm>
        </p:spPr>
        <p:txBody>
          <a:bodyPr/>
          <a:lstStyle/>
          <a:p>
            <a:r>
              <a:rPr lang="zh-CN" altLang="en-US" dirty="0"/>
              <a:t>确认丢失</a:t>
            </a:r>
          </a:p>
        </p:txBody>
      </p:sp>
      <p:sp>
        <p:nvSpPr>
          <p:cNvPr id="5" name="Line 36">
            <a:extLst>
              <a:ext uri="{FF2B5EF4-FFF2-40B4-BE49-F238E27FC236}">
                <a16:creationId xmlns:a16="http://schemas.microsoft.com/office/drawing/2014/main" id="{EDE38C5F-DF9E-3812-85E2-C2AAA2712F59}"/>
              </a:ext>
            </a:extLst>
          </p:cNvPr>
          <p:cNvSpPr>
            <a:spLocks noChangeShapeType="1"/>
          </p:cNvSpPr>
          <p:nvPr/>
        </p:nvSpPr>
        <p:spPr bwMode="auto">
          <a:xfrm>
            <a:off x="2442953" y="1581642"/>
            <a:ext cx="0" cy="2263658"/>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6" name="Line 37">
            <a:extLst>
              <a:ext uri="{FF2B5EF4-FFF2-40B4-BE49-F238E27FC236}">
                <a16:creationId xmlns:a16="http://schemas.microsoft.com/office/drawing/2014/main" id="{F1B97DBF-8DF8-31BA-48DE-88A3397FFA9B}"/>
              </a:ext>
            </a:extLst>
          </p:cNvPr>
          <p:cNvSpPr>
            <a:spLocks noChangeShapeType="1"/>
          </p:cNvSpPr>
          <p:nvPr/>
        </p:nvSpPr>
        <p:spPr bwMode="auto">
          <a:xfrm>
            <a:off x="3602105" y="1581642"/>
            <a:ext cx="0" cy="2250096"/>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7" name="Rectangle 38">
            <a:extLst>
              <a:ext uri="{FF2B5EF4-FFF2-40B4-BE49-F238E27FC236}">
                <a16:creationId xmlns:a16="http://schemas.microsoft.com/office/drawing/2014/main" id="{EB097374-2ED8-3A29-8994-0BF89B44B462}"/>
              </a:ext>
            </a:extLst>
          </p:cNvPr>
          <p:cNvSpPr>
            <a:spLocks noChangeArrowheads="1"/>
          </p:cNvSpPr>
          <p:nvPr/>
        </p:nvSpPr>
        <p:spPr bwMode="auto">
          <a:xfrm>
            <a:off x="2321087" y="1297665"/>
            <a:ext cx="29174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A</a:t>
            </a:r>
          </a:p>
        </p:txBody>
      </p:sp>
      <p:sp>
        <p:nvSpPr>
          <p:cNvPr id="8" name="Rectangle 39">
            <a:extLst>
              <a:ext uri="{FF2B5EF4-FFF2-40B4-BE49-F238E27FC236}">
                <a16:creationId xmlns:a16="http://schemas.microsoft.com/office/drawing/2014/main" id="{D3EEB67E-D265-8C32-4BB5-587502B062CB}"/>
              </a:ext>
            </a:extLst>
          </p:cNvPr>
          <p:cNvSpPr>
            <a:spLocks noChangeArrowheads="1"/>
          </p:cNvSpPr>
          <p:nvPr/>
        </p:nvSpPr>
        <p:spPr bwMode="auto">
          <a:xfrm>
            <a:off x="3495991" y="1297665"/>
            <a:ext cx="2965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B</a:t>
            </a:r>
          </a:p>
        </p:txBody>
      </p:sp>
      <p:sp>
        <p:nvSpPr>
          <p:cNvPr id="9" name="Freeform 41">
            <a:extLst>
              <a:ext uri="{FF2B5EF4-FFF2-40B4-BE49-F238E27FC236}">
                <a16:creationId xmlns:a16="http://schemas.microsoft.com/office/drawing/2014/main" id="{60663EF3-E6E6-E448-75CB-9CB6735EFC2C}"/>
              </a:ext>
            </a:extLst>
          </p:cNvPr>
          <p:cNvSpPr>
            <a:spLocks/>
          </p:cNvSpPr>
          <p:nvPr/>
        </p:nvSpPr>
        <p:spPr bwMode="auto">
          <a:xfrm>
            <a:off x="2465549" y="16656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0" name="AutoShape 42">
            <a:extLst>
              <a:ext uri="{FF2B5EF4-FFF2-40B4-BE49-F238E27FC236}">
                <a16:creationId xmlns:a16="http://schemas.microsoft.com/office/drawing/2014/main" id="{E40D72A3-A7B5-7BEB-E8ED-2EAC1D7024DF}"/>
              </a:ext>
            </a:extLst>
          </p:cNvPr>
          <p:cNvSpPr>
            <a:spLocks noChangeArrowheads="1"/>
          </p:cNvSpPr>
          <p:nvPr/>
        </p:nvSpPr>
        <p:spPr bwMode="auto">
          <a:xfrm rot="480000">
            <a:off x="3170017" y="19036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1" name="Rectangle 43">
            <a:extLst>
              <a:ext uri="{FF2B5EF4-FFF2-40B4-BE49-F238E27FC236}">
                <a16:creationId xmlns:a16="http://schemas.microsoft.com/office/drawing/2014/main" id="{D01A62F4-59BB-AA2D-50E8-12ABFC59B516}"/>
              </a:ext>
            </a:extLst>
          </p:cNvPr>
          <p:cNvSpPr>
            <a:spLocks noChangeArrowheads="1"/>
          </p:cNvSpPr>
          <p:nvPr/>
        </p:nvSpPr>
        <p:spPr bwMode="auto">
          <a:xfrm rot="540000">
            <a:off x="2687057" y="17496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12" name="Freeform 45">
            <a:extLst>
              <a:ext uri="{FF2B5EF4-FFF2-40B4-BE49-F238E27FC236}">
                <a16:creationId xmlns:a16="http://schemas.microsoft.com/office/drawing/2014/main" id="{17B0FF49-C60B-7ED4-AE37-8CA18CD7DB7E}"/>
              </a:ext>
            </a:extLst>
          </p:cNvPr>
          <p:cNvSpPr>
            <a:spLocks/>
          </p:cNvSpPr>
          <p:nvPr/>
        </p:nvSpPr>
        <p:spPr bwMode="auto">
          <a:xfrm>
            <a:off x="2464549" y="26493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3" name="AutoShape 46">
            <a:extLst>
              <a:ext uri="{FF2B5EF4-FFF2-40B4-BE49-F238E27FC236}">
                <a16:creationId xmlns:a16="http://schemas.microsoft.com/office/drawing/2014/main" id="{BADEC1B6-B3E5-10F2-0566-0E850E8A7444}"/>
              </a:ext>
            </a:extLst>
          </p:cNvPr>
          <p:cNvSpPr>
            <a:spLocks noChangeArrowheads="1"/>
          </p:cNvSpPr>
          <p:nvPr/>
        </p:nvSpPr>
        <p:spPr bwMode="auto">
          <a:xfrm rot="480000">
            <a:off x="3169017" y="28873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4" name="Rectangle 47">
            <a:extLst>
              <a:ext uri="{FF2B5EF4-FFF2-40B4-BE49-F238E27FC236}">
                <a16:creationId xmlns:a16="http://schemas.microsoft.com/office/drawing/2014/main" id="{A548E8A1-15AB-2036-B8EB-10554C634D7A}"/>
              </a:ext>
            </a:extLst>
          </p:cNvPr>
          <p:cNvSpPr>
            <a:spLocks noChangeArrowheads="1"/>
          </p:cNvSpPr>
          <p:nvPr/>
        </p:nvSpPr>
        <p:spPr bwMode="auto">
          <a:xfrm rot="540000">
            <a:off x="2686057" y="27333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15" name="Line 52">
            <a:extLst>
              <a:ext uri="{FF2B5EF4-FFF2-40B4-BE49-F238E27FC236}">
                <a16:creationId xmlns:a16="http://schemas.microsoft.com/office/drawing/2014/main" id="{CC9E091A-2083-9FFF-5D06-C0CD6B1BD8D6}"/>
              </a:ext>
            </a:extLst>
          </p:cNvPr>
          <p:cNvSpPr>
            <a:spLocks noChangeShapeType="1"/>
          </p:cNvSpPr>
          <p:nvPr/>
        </p:nvSpPr>
        <p:spPr bwMode="auto">
          <a:xfrm flipH="1">
            <a:off x="2427078" y="3259287"/>
            <a:ext cx="1176904" cy="200984"/>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6" name="Text Box 53">
            <a:extLst>
              <a:ext uri="{FF2B5EF4-FFF2-40B4-BE49-F238E27FC236}">
                <a16:creationId xmlns:a16="http://schemas.microsoft.com/office/drawing/2014/main" id="{6D3D487E-07D9-F11B-0AE5-A161C46098E9}"/>
              </a:ext>
            </a:extLst>
          </p:cNvPr>
          <p:cNvSpPr txBox="1">
            <a:spLocks noChangeArrowheads="1"/>
          </p:cNvSpPr>
          <p:nvPr/>
        </p:nvSpPr>
        <p:spPr bwMode="auto">
          <a:xfrm rot="21169770">
            <a:off x="2593064" y="3139297"/>
            <a:ext cx="586952" cy="276978"/>
          </a:xfrm>
          <a:prstGeom prst="rect">
            <a:avLst/>
          </a:prstGeom>
          <a:noFill/>
          <a:ln w="127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Montserrat" panose="00000500000000000000" pitchFamily="2" charset="0"/>
                <a:ea typeface="微软雅黑 Light" panose="020B0502040204020203" pitchFamily="34" charset="-122"/>
              </a:rPr>
              <a:t>ACK </a:t>
            </a:r>
            <a:r>
              <a:rPr kumimoji="0" lang="en-US" altLang="zh-CN" sz="1200" b="1" baseline="-25000" dirty="0">
                <a:latin typeface="Montserrat" panose="00000500000000000000" pitchFamily="2" charset="0"/>
                <a:ea typeface="微软雅黑 Light" panose="020B0502040204020203" pitchFamily="34" charset="-122"/>
              </a:rPr>
              <a:t>1</a:t>
            </a:r>
          </a:p>
        </p:txBody>
      </p:sp>
      <p:sp>
        <p:nvSpPr>
          <p:cNvPr id="18" name="AutoShape 26">
            <a:extLst>
              <a:ext uri="{FF2B5EF4-FFF2-40B4-BE49-F238E27FC236}">
                <a16:creationId xmlns:a16="http://schemas.microsoft.com/office/drawing/2014/main" id="{49E5BE39-1BE0-AE83-0E54-C83D3668C27A}"/>
              </a:ext>
            </a:extLst>
          </p:cNvPr>
          <p:cNvSpPr>
            <a:spLocks/>
          </p:cNvSpPr>
          <p:nvPr/>
        </p:nvSpPr>
        <p:spPr bwMode="auto">
          <a:xfrm>
            <a:off x="2326503" y="2010185"/>
            <a:ext cx="55995" cy="583952"/>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pic>
        <p:nvPicPr>
          <p:cNvPr id="20" name="图形 19" descr="时钟">
            <a:extLst>
              <a:ext uri="{FF2B5EF4-FFF2-40B4-BE49-F238E27FC236}">
                <a16:creationId xmlns:a16="http://schemas.microsoft.com/office/drawing/2014/main" id="{218FDD7B-5B2E-DE27-0184-892B3EB53C7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1999" y="2099593"/>
            <a:ext cx="360000" cy="360000"/>
          </a:xfrm>
          <a:prstGeom prst="rect">
            <a:avLst/>
          </a:prstGeom>
        </p:spPr>
      </p:pic>
      <p:sp>
        <p:nvSpPr>
          <p:cNvPr id="22" name="Line 52">
            <a:extLst>
              <a:ext uri="{FF2B5EF4-FFF2-40B4-BE49-F238E27FC236}">
                <a16:creationId xmlns:a16="http://schemas.microsoft.com/office/drawing/2014/main" id="{16DA1BD4-A363-11AD-6304-7FC5FA71857A}"/>
              </a:ext>
            </a:extLst>
          </p:cNvPr>
          <p:cNvSpPr>
            <a:spLocks noChangeShapeType="1"/>
          </p:cNvSpPr>
          <p:nvPr/>
        </p:nvSpPr>
        <p:spPr bwMode="auto">
          <a:xfrm flipH="1">
            <a:off x="2427078" y="2206096"/>
            <a:ext cx="1176904" cy="200984"/>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23" name="AutoShape 60">
            <a:extLst>
              <a:ext uri="{FF2B5EF4-FFF2-40B4-BE49-F238E27FC236}">
                <a16:creationId xmlns:a16="http://schemas.microsoft.com/office/drawing/2014/main" id="{D1F08D59-B957-8C84-93D1-2330B537E75E}"/>
              </a:ext>
            </a:extLst>
          </p:cNvPr>
          <p:cNvSpPr>
            <a:spLocks noChangeArrowheads="1"/>
          </p:cNvSpPr>
          <p:nvPr/>
        </p:nvSpPr>
        <p:spPr bwMode="auto">
          <a:xfrm>
            <a:off x="2669557" y="2113377"/>
            <a:ext cx="433965" cy="415966"/>
          </a:xfrm>
          <a:prstGeom prst="irregularSeal1">
            <a:avLst/>
          </a:prstGeom>
          <a:solidFill>
            <a:srgbClr val="FF0000"/>
          </a:solidFill>
          <a:ln w="9525" algn="ctr">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4" name="TextBox 86">
            <a:extLst>
              <a:ext uri="{FF2B5EF4-FFF2-40B4-BE49-F238E27FC236}">
                <a16:creationId xmlns:a16="http://schemas.microsoft.com/office/drawing/2014/main" id="{0DDFB30D-8DD4-8A08-60C4-F0AA610E86F1}"/>
              </a:ext>
            </a:extLst>
          </p:cNvPr>
          <p:cNvSpPr txBox="1"/>
          <p:nvPr/>
        </p:nvSpPr>
        <p:spPr>
          <a:xfrm>
            <a:off x="1650431" y="2685795"/>
            <a:ext cx="800219" cy="276999"/>
          </a:xfrm>
          <a:prstGeom prst="rect">
            <a:avLst/>
          </a:prstGeom>
          <a:noFill/>
        </p:spPr>
        <p:txBody>
          <a:bodyPr wrap="none" rtlCol="0">
            <a:spAutoFit/>
          </a:bodyPr>
          <a:lstStyle/>
          <a:p>
            <a:pPr algn="r" defTabSz="762000" eaLnBrk="0" hangingPunct="0"/>
            <a:r>
              <a:rPr lang="zh-CN" altLang="en-US" sz="1200" dirty="0">
                <a:latin typeface="微软雅黑 Light" panose="020B0502040204020203" pitchFamily="34" charset="-122"/>
                <a:ea typeface="微软雅黑 Light" panose="020B0502040204020203" pitchFamily="34" charset="-122"/>
              </a:rPr>
              <a:t>超时重传</a:t>
            </a:r>
            <a:endParaRPr lang="en-US" altLang="zh-CN" sz="1200" dirty="0">
              <a:latin typeface="微软雅黑 Light" panose="020B0502040204020203" pitchFamily="34" charset="-122"/>
              <a:ea typeface="微软雅黑 Light" panose="020B0502040204020203" pitchFamily="34" charset="-122"/>
            </a:endParaRPr>
          </a:p>
        </p:txBody>
      </p:sp>
      <p:sp>
        <p:nvSpPr>
          <p:cNvPr id="25" name="TextBox 86">
            <a:extLst>
              <a:ext uri="{FF2B5EF4-FFF2-40B4-BE49-F238E27FC236}">
                <a16:creationId xmlns:a16="http://schemas.microsoft.com/office/drawing/2014/main" id="{A1705A10-CAF1-E97C-F291-F98758FAB7ED}"/>
              </a:ext>
            </a:extLst>
          </p:cNvPr>
          <p:cNvSpPr txBox="1"/>
          <p:nvPr/>
        </p:nvSpPr>
        <p:spPr>
          <a:xfrm>
            <a:off x="3575313" y="2850938"/>
            <a:ext cx="715260" cy="276999"/>
          </a:xfrm>
          <a:prstGeom prst="rect">
            <a:avLst/>
          </a:prstGeom>
          <a:noFill/>
        </p:spPr>
        <p:txBody>
          <a:bodyPr wrap="none" rtlCol="0">
            <a:spAutoFit/>
          </a:bodyPr>
          <a:lstStyle/>
          <a:p>
            <a:pPr defTabSz="762000" eaLnBrk="0" hangingPunct="0"/>
            <a:r>
              <a:rPr lang="zh-CN" altLang="en-US" sz="1200" dirty="0">
                <a:latin typeface="微软雅黑 Light" panose="020B0502040204020203" pitchFamily="34" charset="-122"/>
                <a:ea typeface="微软雅黑 Light" panose="020B0502040204020203" pitchFamily="34" charset="-122"/>
              </a:rPr>
              <a:t>确认 </a:t>
            </a:r>
            <a:r>
              <a:rPr lang="en-US" altLang="zh-CN" sz="1200" dirty="0">
                <a:latin typeface="微软雅黑 Light" panose="020B0502040204020203" pitchFamily="34" charset="-122"/>
                <a:ea typeface="微软雅黑 Light" panose="020B0502040204020203" pitchFamily="34" charset="-122"/>
              </a:rPr>
              <a:t>M</a:t>
            </a:r>
            <a:r>
              <a:rPr lang="en-US" altLang="zh-CN" sz="1200" baseline="-25000" dirty="0">
                <a:latin typeface="微软雅黑 Light" panose="020B0502040204020203" pitchFamily="34" charset="-122"/>
                <a:ea typeface="微软雅黑 Light" panose="020B0502040204020203" pitchFamily="34" charset="-122"/>
              </a:rPr>
              <a:t>1</a:t>
            </a:r>
          </a:p>
        </p:txBody>
      </p:sp>
    </p:spTree>
    <p:extLst>
      <p:ext uri="{BB962C8B-B14F-4D97-AF65-F5344CB8AC3E}">
        <p14:creationId xmlns:p14="http://schemas.microsoft.com/office/powerpoint/2010/main" val="28145133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23"/>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500" fill="hold"/>
                                        <p:tgtEl>
                                          <p:spTgt spid="23"/>
                                        </p:tgtEl>
                                        <p:attrNameLst>
                                          <p:attrName>style.visibility</p:attrName>
                                        </p:attrNameLst>
                                      </p:cBhvr>
                                      <p:tavLst>
                                        <p:tav tm="0">
                                          <p:val>
                                            <p:strVal val="hidden"/>
                                          </p:val>
                                        </p:tav>
                                        <p:tav tm="50000">
                                          <p:val>
                                            <p:strVal val="visible"/>
                                          </p:val>
                                        </p:tav>
                                      </p:tavLst>
                                    </p:anim>
                                  </p:childTnLst>
                                </p:cTn>
                              </p:par>
                            </p:childTnLst>
                          </p:cTn>
                        </p:par>
                        <p:par>
                          <p:cTn id="10" fill="hold">
                            <p:stCondLst>
                              <p:cond delay="2500"/>
                            </p:stCondLst>
                            <p:childTnLst>
                              <p:par>
                                <p:cTn id="11" presetID="1" presetClass="entr" presetSubtype="0" fill="hold" grpId="0" nodeType="afterEffect">
                                  <p:stCondLst>
                                    <p:cond delay="0"/>
                                  </p:stCondLst>
                                  <p:childTnLst>
                                    <p:set>
                                      <p:cBhvr>
                                        <p:cTn id="12" dur="1" fill="hold">
                                          <p:stCondLst>
                                            <p:cond delay="999"/>
                                          </p:stCondLst>
                                        </p:cTn>
                                        <p:tgtEl>
                                          <p:spTgt spid="24"/>
                                        </p:tgtEl>
                                        <p:attrNameLst>
                                          <p:attrName>style.visibility</p:attrName>
                                        </p:attrNameLst>
                                      </p:cBhvr>
                                      <p:to>
                                        <p:strVal val="visible"/>
                                      </p:to>
                                    </p:set>
                                  </p:childTnLst>
                                </p:cTn>
                              </p:par>
                              <p:par>
                                <p:cTn id="13" presetID="35" presetClass="emph" presetSubtype="0" repeatCount="3000" fill="hold" grpId="1" nodeType="withEffect">
                                  <p:stCondLst>
                                    <p:cond delay="0"/>
                                  </p:stCondLst>
                                  <p:childTnLst>
                                    <p:anim calcmode="discrete" valueType="str">
                                      <p:cBhvr>
                                        <p:cTn id="14" dur="500" fill="hold"/>
                                        <p:tgtEl>
                                          <p:spTgt spid="24"/>
                                        </p:tgtEl>
                                        <p:attrNameLst>
                                          <p:attrName>style.visibility</p:attrName>
                                        </p:attrNameLst>
                                      </p:cBhvr>
                                      <p:tavLst>
                                        <p:tav tm="0">
                                          <p:val>
                                            <p:strVal val="hidden"/>
                                          </p:val>
                                        </p:tav>
                                        <p:tav tm="50000">
                                          <p:val>
                                            <p:strVal val="visible"/>
                                          </p:val>
                                        </p:tav>
                                      </p:tavLst>
                                    </p:anim>
                                  </p:childTnLst>
                                </p:cTn>
                              </p:par>
                            </p:childTnLst>
                          </p:cTn>
                        </p:par>
                        <p:par>
                          <p:cTn id="15" fill="hold">
                            <p:stCondLst>
                              <p:cond delay="4000"/>
                            </p:stCondLst>
                            <p:childTnLst>
                              <p:par>
                                <p:cTn id="16" presetID="1" presetClass="entr" presetSubtype="0" fill="hold" grpId="0" nodeType="afterEffect">
                                  <p:stCondLst>
                                    <p:cond delay="0"/>
                                  </p:stCondLst>
                                  <p:childTnLst>
                                    <p:set>
                                      <p:cBhvr>
                                        <p:cTn id="17" dur="1" fill="hold">
                                          <p:stCondLst>
                                            <p:cond delay="999"/>
                                          </p:stCondLst>
                                        </p:cTn>
                                        <p:tgtEl>
                                          <p:spTgt spid="25"/>
                                        </p:tgtEl>
                                        <p:attrNameLst>
                                          <p:attrName>style.visibility</p:attrName>
                                        </p:attrNameLst>
                                      </p:cBhvr>
                                      <p:to>
                                        <p:strVal val="visible"/>
                                      </p:to>
                                    </p:set>
                                  </p:childTnLst>
                                </p:cTn>
                              </p:par>
                              <p:par>
                                <p:cTn id="18" presetID="35" presetClass="emph" presetSubtype="0" repeatCount="3000" fill="hold" grpId="1" nodeType="withEffect">
                                  <p:stCondLst>
                                    <p:cond delay="0"/>
                                  </p:stCondLst>
                                  <p:childTnLst>
                                    <p:anim calcmode="discrete" valueType="str">
                                      <p:cBhvr>
                                        <p:cTn id="19" dur="500" fill="hold"/>
                                        <p:tgtEl>
                                          <p:spTgt spid="2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3" grpId="1" animBg="1"/>
      <p:bldP spid="24" grpId="0"/>
      <p:bldP spid="24" grpId="1"/>
      <p:bldP spid="25" grpId="0"/>
      <p:bldP spid="25"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 name="组合 52"/>
          <p:cNvGrpSpPr/>
          <p:nvPr/>
        </p:nvGrpSpPr>
        <p:grpSpPr>
          <a:xfrm>
            <a:off x="2151462" y="1337233"/>
            <a:ext cx="1082227" cy="2099762"/>
            <a:chOff x="1965184" y="1647602"/>
            <a:chExt cx="1834656" cy="3179763"/>
          </a:xfrm>
        </p:grpSpPr>
        <p:sp>
          <p:nvSpPr>
            <p:cNvPr id="54" name="Line 28"/>
            <p:cNvSpPr>
              <a:spLocks noChangeShapeType="1"/>
            </p:cNvSpPr>
            <p:nvPr/>
          </p:nvSpPr>
          <p:spPr bwMode="auto">
            <a:xfrm>
              <a:off x="1965184"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55" name="Line 29"/>
            <p:cNvSpPr>
              <a:spLocks noChangeShapeType="1"/>
            </p:cNvSpPr>
            <p:nvPr/>
          </p:nvSpPr>
          <p:spPr bwMode="auto">
            <a:xfrm>
              <a:off x="3799840"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56" name="Rectangle 30"/>
          <p:cNvSpPr>
            <a:spLocks noChangeArrowheads="1"/>
          </p:cNvSpPr>
          <p:nvPr/>
        </p:nvSpPr>
        <p:spPr bwMode="auto">
          <a:xfrm>
            <a:off x="1982174"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57" name="Rectangle 31"/>
          <p:cNvSpPr>
            <a:spLocks noChangeArrowheads="1"/>
          </p:cNvSpPr>
          <p:nvPr/>
        </p:nvSpPr>
        <p:spPr bwMode="auto">
          <a:xfrm>
            <a:off x="3082484"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58" name="Group 32"/>
          <p:cNvGrpSpPr>
            <a:grpSpLocks/>
          </p:cNvGrpSpPr>
          <p:nvPr/>
        </p:nvGrpSpPr>
        <p:grpSpPr bwMode="auto">
          <a:xfrm>
            <a:off x="2153156" y="1415894"/>
            <a:ext cx="1080298" cy="458853"/>
            <a:chOff x="3769" y="1868"/>
            <a:chExt cx="1057" cy="490"/>
          </a:xfrm>
        </p:grpSpPr>
        <p:sp>
          <p:nvSpPr>
            <p:cNvPr id="59"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1"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62" name="Group 36"/>
          <p:cNvGrpSpPr>
            <a:grpSpLocks/>
          </p:cNvGrpSpPr>
          <p:nvPr/>
        </p:nvGrpSpPr>
        <p:grpSpPr bwMode="auto">
          <a:xfrm>
            <a:off x="2152219" y="2286778"/>
            <a:ext cx="1082519" cy="458853"/>
            <a:chOff x="3439" y="3564"/>
            <a:chExt cx="1156" cy="490"/>
          </a:xfrm>
        </p:grpSpPr>
        <p:sp>
          <p:nvSpPr>
            <p:cNvPr id="63"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65"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66" name="Text Box 40"/>
          <p:cNvSpPr txBox="1">
            <a:spLocks noChangeArrowheads="1"/>
          </p:cNvSpPr>
          <p:nvPr/>
        </p:nvSpPr>
        <p:spPr bwMode="auto">
          <a:xfrm>
            <a:off x="2263248"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确认丢失</a:t>
            </a:r>
          </a:p>
        </p:txBody>
      </p:sp>
      <p:grpSp>
        <p:nvGrpSpPr>
          <p:cNvPr id="67" name="Group 41"/>
          <p:cNvGrpSpPr>
            <a:grpSpLocks/>
          </p:cNvGrpSpPr>
          <p:nvPr/>
        </p:nvGrpSpPr>
        <p:grpSpPr bwMode="auto">
          <a:xfrm>
            <a:off x="2136299" y="2734396"/>
            <a:ext cx="1102183" cy="311833"/>
            <a:chOff x="2012" y="2283"/>
            <a:chExt cx="1177" cy="333"/>
          </a:xfrm>
        </p:grpSpPr>
        <p:sp>
          <p:nvSpPr>
            <p:cNvPr id="68"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9"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0" name="Text Box 47"/>
          <p:cNvSpPr txBox="1">
            <a:spLocks noChangeArrowheads="1"/>
          </p:cNvSpPr>
          <p:nvPr/>
        </p:nvSpPr>
        <p:spPr bwMode="auto">
          <a:xfrm>
            <a:off x="1280398"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CC00CC"/>
                </a:solidFill>
                <a:latin typeface="微软雅黑" pitchFamily="34" charset="-122"/>
                <a:ea typeface="微软雅黑" pitchFamily="34" charset="-122"/>
              </a:rPr>
              <a:t>超时重传</a:t>
            </a:r>
          </a:p>
        </p:txBody>
      </p:sp>
      <p:grpSp>
        <p:nvGrpSpPr>
          <p:cNvPr id="71" name="Group 48"/>
          <p:cNvGrpSpPr>
            <a:grpSpLocks/>
          </p:cNvGrpSpPr>
          <p:nvPr/>
        </p:nvGrpSpPr>
        <p:grpSpPr bwMode="auto">
          <a:xfrm>
            <a:off x="1576311" y="1738027"/>
            <a:ext cx="499119" cy="546878"/>
            <a:chOff x="3153" y="2204"/>
            <a:chExt cx="533" cy="584"/>
          </a:xfrm>
        </p:grpSpPr>
        <p:sp>
          <p:nvSpPr>
            <p:cNvPr id="72"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3"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74" name="Group 51"/>
          <p:cNvGrpSpPr>
            <a:grpSpLocks/>
          </p:cNvGrpSpPr>
          <p:nvPr/>
        </p:nvGrpSpPr>
        <p:grpSpPr bwMode="auto">
          <a:xfrm>
            <a:off x="2290137" y="1839164"/>
            <a:ext cx="937372" cy="336180"/>
            <a:chOff x="4012" y="2397"/>
            <a:chExt cx="1001" cy="359"/>
          </a:xfrm>
        </p:grpSpPr>
        <p:sp>
          <p:nvSpPr>
            <p:cNvPr id="75" name="Line 52"/>
            <p:cNvSpPr>
              <a:spLocks noChangeShapeType="1"/>
            </p:cNvSpPr>
            <p:nvPr/>
          </p:nvSpPr>
          <p:spPr bwMode="auto">
            <a:xfrm flipH="1">
              <a:off x="4012" y="2555"/>
              <a:ext cx="1001"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76" name="Text Box 53"/>
            <p:cNvSpPr txBox="1">
              <a:spLocks noChangeArrowheads="1"/>
            </p:cNvSpPr>
            <p:nvPr/>
          </p:nvSpPr>
          <p:spPr bwMode="auto">
            <a:xfrm rot="21169770">
              <a:off x="4145" y="2397"/>
              <a:ext cx="715"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77" name="AutoShape 57"/>
          <p:cNvSpPr>
            <a:spLocks noChangeArrowheads="1"/>
          </p:cNvSpPr>
          <p:nvPr/>
        </p:nvSpPr>
        <p:spPr bwMode="auto">
          <a:xfrm>
            <a:off x="2094160" y="1944043"/>
            <a:ext cx="414841" cy="340862"/>
          </a:xfrm>
          <a:prstGeom prst="irregularSeal1">
            <a:avLst/>
          </a:prstGeom>
          <a:solidFill>
            <a:srgbClr val="FF0000"/>
          </a:solidFill>
          <a:ln w="9525" algn="ctr">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grpSp>
        <p:nvGrpSpPr>
          <p:cNvPr id="78" name="组合 77"/>
          <p:cNvGrpSpPr/>
          <p:nvPr/>
        </p:nvGrpSpPr>
        <p:grpSpPr>
          <a:xfrm>
            <a:off x="6030643" y="1337233"/>
            <a:ext cx="1082227" cy="2692542"/>
            <a:chOff x="6891708" y="1647602"/>
            <a:chExt cx="1834656" cy="3179763"/>
          </a:xfrm>
        </p:grpSpPr>
        <p:sp>
          <p:nvSpPr>
            <p:cNvPr id="79" name="Line 28"/>
            <p:cNvSpPr>
              <a:spLocks noChangeShapeType="1"/>
            </p:cNvSpPr>
            <p:nvPr/>
          </p:nvSpPr>
          <p:spPr bwMode="auto">
            <a:xfrm>
              <a:off x="6891708" y="1647602"/>
              <a:ext cx="0" cy="317976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0" name="Line 29"/>
            <p:cNvSpPr>
              <a:spLocks noChangeShapeType="1"/>
            </p:cNvSpPr>
            <p:nvPr/>
          </p:nvSpPr>
          <p:spPr bwMode="auto">
            <a:xfrm>
              <a:off x="8726364" y="1647602"/>
              <a:ext cx="0" cy="3160713"/>
            </a:xfrm>
            <a:prstGeom prst="line">
              <a:avLst/>
            </a:prstGeom>
            <a:noFill/>
            <a:ln w="19050">
              <a:solidFill>
                <a:srgbClr val="0000FF"/>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81" name="Rectangle 30"/>
          <p:cNvSpPr>
            <a:spLocks noChangeArrowheads="1"/>
          </p:cNvSpPr>
          <p:nvPr/>
        </p:nvSpPr>
        <p:spPr bwMode="auto">
          <a:xfrm>
            <a:off x="5861356" y="1071286"/>
            <a:ext cx="317396"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A</a:t>
            </a:r>
          </a:p>
        </p:txBody>
      </p:sp>
      <p:sp>
        <p:nvSpPr>
          <p:cNvPr id="82" name="Rectangle 31"/>
          <p:cNvSpPr>
            <a:spLocks noChangeArrowheads="1"/>
          </p:cNvSpPr>
          <p:nvPr/>
        </p:nvSpPr>
        <p:spPr bwMode="auto">
          <a:xfrm>
            <a:off x="6961666" y="1071286"/>
            <a:ext cx="306175" cy="30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B</a:t>
            </a:r>
          </a:p>
        </p:txBody>
      </p:sp>
      <p:grpSp>
        <p:nvGrpSpPr>
          <p:cNvPr id="83" name="Group 32"/>
          <p:cNvGrpSpPr>
            <a:grpSpLocks/>
          </p:cNvGrpSpPr>
          <p:nvPr/>
        </p:nvGrpSpPr>
        <p:grpSpPr bwMode="auto">
          <a:xfrm>
            <a:off x="6032337" y="1415894"/>
            <a:ext cx="1080298" cy="458853"/>
            <a:chOff x="3769" y="1868"/>
            <a:chExt cx="1057" cy="490"/>
          </a:xfrm>
        </p:grpSpPr>
        <p:sp>
          <p:nvSpPr>
            <p:cNvPr id="84" name="Freeform 33"/>
            <p:cNvSpPr>
              <a:spLocks/>
            </p:cNvSpPr>
            <p:nvPr/>
          </p:nvSpPr>
          <p:spPr bwMode="auto">
            <a:xfrm>
              <a:off x="3769" y="1868"/>
              <a:ext cx="1057" cy="490"/>
            </a:xfrm>
            <a:custGeom>
              <a:avLst/>
              <a:gdLst>
                <a:gd name="T0" fmla="*/ 0 w 1033"/>
                <a:gd name="T1" fmla="*/ 0 h 457"/>
                <a:gd name="T2" fmla="*/ 1071 w 1033"/>
                <a:gd name="T3" fmla="*/ 152 h 457"/>
                <a:gd name="T4" fmla="*/ 1071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5" name="AutoShape 34"/>
            <p:cNvSpPr>
              <a:spLocks noChangeArrowheads="1"/>
            </p:cNvSpPr>
            <p:nvPr/>
          </p:nvSpPr>
          <p:spPr bwMode="auto">
            <a:xfrm rot="480000">
              <a:off x="4477" y="2114"/>
              <a:ext cx="291" cy="100"/>
            </a:xfrm>
            <a:prstGeom prst="rightArrow">
              <a:avLst>
                <a:gd name="adj1" fmla="val 50000"/>
                <a:gd name="adj2" fmla="val 145513"/>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6" name="Rectangle 35"/>
            <p:cNvSpPr>
              <a:spLocks noChangeArrowheads="1"/>
            </p:cNvSpPr>
            <p:nvPr/>
          </p:nvSpPr>
          <p:spPr bwMode="auto">
            <a:xfrm rot="540000">
              <a:off x="3940" y="1949"/>
              <a:ext cx="43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grpSp>
        <p:nvGrpSpPr>
          <p:cNvPr id="87" name="Group 36"/>
          <p:cNvGrpSpPr>
            <a:grpSpLocks/>
          </p:cNvGrpSpPr>
          <p:nvPr/>
        </p:nvGrpSpPr>
        <p:grpSpPr bwMode="auto">
          <a:xfrm>
            <a:off x="6031400" y="2286778"/>
            <a:ext cx="1082519" cy="458853"/>
            <a:chOff x="3439" y="3564"/>
            <a:chExt cx="1156" cy="490"/>
          </a:xfrm>
        </p:grpSpPr>
        <p:sp>
          <p:nvSpPr>
            <p:cNvPr id="88"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89"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0" name="Rectangle 39"/>
            <p:cNvSpPr>
              <a:spLocks noChangeArrowheads="1"/>
            </p:cNvSpPr>
            <p:nvPr/>
          </p:nvSpPr>
          <p:spPr bwMode="auto">
            <a:xfrm rot="540000">
              <a:off x="3626" y="3647"/>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grpSp>
      <p:sp>
        <p:nvSpPr>
          <p:cNvPr id="91" name="Text Box 40"/>
          <p:cNvSpPr txBox="1">
            <a:spLocks noChangeArrowheads="1"/>
          </p:cNvSpPr>
          <p:nvPr/>
        </p:nvSpPr>
        <p:spPr bwMode="auto">
          <a:xfrm>
            <a:off x="6142429" y="3979308"/>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400" b="1" dirty="0">
                <a:solidFill>
                  <a:srgbClr val="0000FF"/>
                </a:solidFill>
                <a:latin typeface="微软雅黑" pitchFamily="34" charset="-122"/>
                <a:ea typeface="微软雅黑" pitchFamily="34" charset="-122"/>
              </a:rPr>
              <a:t>确认迟到</a:t>
            </a:r>
          </a:p>
        </p:txBody>
      </p:sp>
      <p:grpSp>
        <p:nvGrpSpPr>
          <p:cNvPr id="92" name="Group 41"/>
          <p:cNvGrpSpPr>
            <a:grpSpLocks/>
          </p:cNvGrpSpPr>
          <p:nvPr/>
        </p:nvGrpSpPr>
        <p:grpSpPr bwMode="auto">
          <a:xfrm>
            <a:off x="6015481" y="2734396"/>
            <a:ext cx="1102183" cy="311833"/>
            <a:chOff x="2012" y="2283"/>
            <a:chExt cx="1177" cy="333"/>
          </a:xfrm>
        </p:grpSpPr>
        <p:sp>
          <p:nvSpPr>
            <p:cNvPr id="93" name="Line 42"/>
            <p:cNvSpPr>
              <a:spLocks noChangeShapeType="1"/>
            </p:cNvSpPr>
            <p:nvPr/>
          </p:nvSpPr>
          <p:spPr bwMode="auto">
            <a:xfrm flipH="1">
              <a:off x="2012" y="2415"/>
              <a:ext cx="1177" cy="20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94" name="Text Box 43"/>
            <p:cNvSpPr txBox="1">
              <a:spLocks noChangeArrowheads="1"/>
            </p:cNvSpPr>
            <p:nvPr/>
          </p:nvSpPr>
          <p:spPr bwMode="auto">
            <a:xfrm rot="21169770">
              <a:off x="2151" y="2283"/>
              <a:ext cx="660" cy="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微软雅黑" pitchFamily="34" charset="-122"/>
                  <a:ea typeface="微软雅黑" pitchFamily="34" charset="-122"/>
                </a:rPr>
                <a:t>ACK </a:t>
              </a:r>
              <a:r>
                <a:rPr kumimoji="0" lang="en-US" altLang="zh-CN" sz="1200" b="1" baseline="-25000" dirty="0">
                  <a:latin typeface="微软雅黑" pitchFamily="34" charset="-122"/>
                  <a:ea typeface="微软雅黑" pitchFamily="34" charset="-122"/>
                </a:rPr>
                <a:t>1</a:t>
              </a:r>
            </a:p>
          </p:txBody>
        </p:sp>
      </p:grpSp>
      <p:sp>
        <p:nvSpPr>
          <p:cNvPr id="95" name="Text Box 47"/>
          <p:cNvSpPr txBox="1">
            <a:spLocks noChangeArrowheads="1"/>
          </p:cNvSpPr>
          <p:nvPr/>
        </p:nvSpPr>
        <p:spPr bwMode="auto">
          <a:xfrm>
            <a:off x="5130084" y="2306444"/>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algn="r"/>
            <a:r>
              <a:rPr kumimoji="0" lang="zh-CN" altLang="en-US" sz="1400" b="1" dirty="0">
                <a:solidFill>
                  <a:srgbClr val="CC00CC"/>
                </a:solidFill>
                <a:latin typeface="微软雅黑" pitchFamily="34" charset="-122"/>
                <a:ea typeface="微软雅黑" pitchFamily="34" charset="-122"/>
              </a:rPr>
              <a:t>超时重传</a:t>
            </a:r>
          </a:p>
        </p:txBody>
      </p:sp>
      <p:grpSp>
        <p:nvGrpSpPr>
          <p:cNvPr id="96" name="Group 48"/>
          <p:cNvGrpSpPr>
            <a:grpSpLocks/>
          </p:cNvGrpSpPr>
          <p:nvPr/>
        </p:nvGrpSpPr>
        <p:grpSpPr bwMode="auto">
          <a:xfrm>
            <a:off x="5455492" y="1738027"/>
            <a:ext cx="499119" cy="546878"/>
            <a:chOff x="3153" y="2204"/>
            <a:chExt cx="533" cy="584"/>
          </a:xfrm>
        </p:grpSpPr>
        <p:sp>
          <p:nvSpPr>
            <p:cNvPr id="97" name="AutoShape 49"/>
            <p:cNvSpPr>
              <a:spLocks/>
            </p:cNvSpPr>
            <p:nvPr/>
          </p:nvSpPr>
          <p:spPr bwMode="auto">
            <a:xfrm>
              <a:off x="3600" y="2204"/>
              <a:ext cx="56" cy="584"/>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8" name="Text Box 50"/>
            <p:cNvSpPr txBox="1">
              <a:spLocks noChangeArrowheads="1"/>
            </p:cNvSpPr>
            <p:nvPr/>
          </p:nvSpPr>
          <p:spPr bwMode="auto">
            <a:xfrm>
              <a:off x="3153" y="2311"/>
              <a:ext cx="533" cy="3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400" b="1" dirty="0">
                  <a:latin typeface="微软雅黑" pitchFamily="34" charset="-122"/>
                  <a:ea typeface="微软雅黑" pitchFamily="34" charset="-122"/>
                </a:rPr>
                <a:t>t</a:t>
              </a:r>
              <a:r>
                <a:rPr kumimoji="0" lang="en-US" altLang="zh-CN" sz="1400" b="1" baseline="-25000" dirty="0">
                  <a:latin typeface="微软雅黑" pitchFamily="34" charset="-122"/>
                  <a:ea typeface="微软雅黑" pitchFamily="34" charset="-122"/>
                </a:rPr>
                <a:t>out</a:t>
              </a:r>
            </a:p>
          </p:txBody>
        </p:sp>
      </p:grpSp>
      <p:grpSp>
        <p:nvGrpSpPr>
          <p:cNvPr id="99" name="Group 36"/>
          <p:cNvGrpSpPr>
            <a:grpSpLocks/>
          </p:cNvGrpSpPr>
          <p:nvPr/>
        </p:nvGrpSpPr>
        <p:grpSpPr bwMode="auto">
          <a:xfrm>
            <a:off x="6031400" y="3100539"/>
            <a:ext cx="1082519" cy="458853"/>
            <a:chOff x="3439" y="3564"/>
            <a:chExt cx="1156" cy="490"/>
          </a:xfrm>
        </p:grpSpPr>
        <p:sp>
          <p:nvSpPr>
            <p:cNvPr id="100" name="Freeform 37"/>
            <p:cNvSpPr>
              <a:spLocks/>
            </p:cNvSpPr>
            <p:nvPr/>
          </p:nvSpPr>
          <p:spPr bwMode="auto">
            <a:xfrm>
              <a:off x="3439" y="3564"/>
              <a:ext cx="1156" cy="49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rgbClr val="00FFFF"/>
            </a:solidFill>
            <a:ln w="1905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01" name="AutoShape 38"/>
            <p:cNvSpPr>
              <a:spLocks noChangeArrowheads="1"/>
            </p:cNvSpPr>
            <p:nvPr/>
          </p:nvSpPr>
          <p:spPr bwMode="auto">
            <a:xfrm rot="480000">
              <a:off x="4164" y="3802"/>
              <a:ext cx="313" cy="100"/>
            </a:xfrm>
            <a:prstGeom prst="rightArrow">
              <a:avLst>
                <a:gd name="adj1" fmla="val 50000"/>
                <a:gd name="adj2" fmla="val 156514"/>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2" name="Rectangle 39"/>
            <p:cNvSpPr>
              <a:spLocks noChangeArrowheads="1"/>
            </p:cNvSpPr>
            <p:nvPr/>
          </p:nvSpPr>
          <p:spPr bwMode="auto">
            <a:xfrm rot="540000">
              <a:off x="3555" y="3623"/>
              <a:ext cx="471" cy="32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2</a:t>
              </a:r>
            </a:p>
          </p:txBody>
        </p:sp>
      </p:grpSp>
      <p:sp>
        <p:nvSpPr>
          <p:cNvPr id="103" name="矩形 102"/>
          <p:cNvSpPr/>
          <p:nvPr/>
        </p:nvSpPr>
        <p:spPr>
          <a:xfrm>
            <a:off x="4411990" y="3379484"/>
            <a:ext cx="1620906" cy="523220"/>
          </a:xfrm>
          <a:prstGeom prst="rect">
            <a:avLst/>
          </a:prstGeom>
        </p:spPr>
        <p:txBody>
          <a:bodyPr wrap="square">
            <a:spAutoFit/>
          </a:bodyPr>
          <a:lstStyle/>
          <a:p>
            <a:pPr algn="r"/>
            <a:r>
              <a:rPr lang="zh-CN" altLang="en-US" sz="1400" b="1" dirty="0">
                <a:solidFill>
                  <a:srgbClr val="C00000"/>
                </a:solidFill>
                <a:latin typeface="微软雅黑" pitchFamily="34" charset="-122"/>
                <a:ea typeface="微软雅黑" pitchFamily="34" charset="-122"/>
              </a:rPr>
              <a:t>重复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1</a:t>
            </a:r>
            <a:r>
              <a:rPr lang="zh-CN" altLang="en-US" sz="1400" b="1" dirty="0">
                <a:solidFill>
                  <a:srgbClr val="C00000"/>
                </a:solidFill>
                <a:latin typeface="微软雅黑" pitchFamily="34" charset="-122"/>
                <a:ea typeface="微软雅黑" pitchFamily="34" charset="-122"/>
              </a:rPr>
              <a:t>，丢弃</a:t>
            </a:r>
            <a:endParaRPr lang="en-US" altLang="zh-CN" sz="1400" dirty="0">
              <a:solidFill>
                <a:srgbClr val="C00000"/>
              </a:solidFill>
              <a:latin typeface="微软雅黑" pitchFamily="34" charset="-122"/>
              <a:ea typeface="微软雅黑" pitchFamily="34" charset="-122"/>
            </a:endParaRPr>
          </a:p>
          <a:p>
            <a:pPr algn="r"/>
            <a:r>
              <a:rPr lang="zh-CN" altLang="en-US" sz="1400" b="1" dirty="0">
                <a:solidFill>
                  <a:srgbClr val="C00000"/>
                </a:solidFill>
                <a:latin typeface="微软雅黑" pitchFamily="34" charset="-122"/>
                <a:ea typeface="微软雅黑" pitchFamily="34" charset="-122"/>
              </a:rPr>
              <a:t>等待 </a:t>
            </a:r>
            <a:r>
              <a:rPr lang="en-US" altLang="zh-CN" sz="1400" b="1" dirty="0">
                <a:solidFill>
                  <a:srgbClr val="C00000"/>
                </a:solidFill>
                <a:latin typeface="微软雅黑" pitchFamily="34" charset="-122"/>
                <a:ea typeface="微软雅黑" pitchFamily="34" charset="-122"/>
              </a:rPr>
              <a:t>ACK</a:t>
            </a:r>
            <a:r>
              <a:rPr lang="en-US" altLang="zh-CN" sz="1400" b="1" baseline="-25000" dirty="0">
                <a:solidFill>
                  <a:srgbClr val="C00000"/>
                </a:solidFill>
                <a:latin typeface="微软雅黑" pitchFamily="34" charset="-122"/>
                <a:ea typeface="微软雅黑" pitchFamily="34" charset="-122"/>
              </a:rPr>
              <a:t>2</a:t>
            </a:r>
            <a:r>
              <a:rPr lang="en-US" altLang="zh-CN" sz="1400" b="1" dirty="0">
                <a:solidFill>
                  <a:srgbClr val="C00000"/>
                </a:solidFill>
                <a:latin typeface="微软雅黑" pitchFamily="34" charset="-122"/>
                <a:ea typeface="微软雅黑" pitchFamily="34" charset="-122"/>
              </a:rPr>
              <a:t> </a:t>
            </a:r>
          </a:p>
        </p:txBody>
      </p:sp>
      <p:grpSp>
        <p:nvGrpSpPr>
          <p:cNvPr id="104" name="组合 103"/>
          <p:cNvGrpSpPr/>
          <p:nvPr/>
        </p:nvGrpSpPr>
        <p:grpSpPr>
          <a:xfrm>
            <a:off x="6035835" y="1900192"/>
            <a:ext cx="1078084" cy="1699467"/>
            <a:chOff x="6900509" y="2601963"/>
            <a:chExt cx="1827632" cy="2881039"/>
          </a:xfrm>
        </p:grpSpPr>
        <p:sp>
          <p:nvSpPr>
            <p:cNvPr id="105" name="Freeform 48"/>
            <p:cNvSpPr>
              <a:spLocks/>
            </p:cNvSpPr>
            <p:nvPr/>
          </p:nvSpPr>
          <p:spPr bwMode="auto">
            <a:xfrm>
              <a:off x="6900509" y="2726308"/>
              <a:ext cx="1827632" cy="2756694"/>
            </a:xfrm>
            <a:custGeom>
              <a:avLst/>
              <a:gdLst>
                <a:gd name="T0" fmla="*/ 798 w 798"/>
                <a:gd name="T1" fmla="*/ 0 h 1134"/>
                <a:gd name="T2" fmla="*/ 589 w 798"/>
                <a:gd name="T3" fmla="*/ 70 h 1134"/>
                <a:gd name="T4" fmla="*/ 466 w 798"/>
                <a:gd name="T5" fmla="*/ 217 h 1134"/>
                <a:gd name="T6" fmla="*/ 418 w 798"/>
                <a:gd name="T7" fmla="*/ 376 h 1134"/>
                <a:gd name="T8" fmla="*/ 385 w 798"/>
                <a:gd name="T9" fmla="*/ 661 h 1134"/>
                <a:gd name="T10" fmla="*/ 310 w 798"/>
                <a:gd name="T11" fmla="*/ 1018 h 1134"/>
                <a:gd name="T12" fmla="*/ 0 w 798"/>
                <a:gd name="T13" fmla="*/ 1134 h 1134"/>
              </a:gdLst>
              <a:ahLst/>
              <a:cxnLst>
                <a:cxn ang="0">
                  <a:pos x="T0" y="T1"/>
                </a:cxn>
                <a:cxn ang="0">
                  <a:pos x="T2" y="T3"/>
                </a:cxn>
                <a:cxn ang="0">
                  <a:pos x="T4" y="T5"/>
                </a:cxn>
                <a:cxn ang="0">
                  <a:pos x="T6" y="T7"/>
                </a:cxn>
                <a:cxn ang="0">
                  <a:pos x="T8" y="T9"/>
                </a:cxn>
                <a:cxn ang="0">
                  <a:pos x="T10" y="T11"/>
                </a:cxn>
                <a:cxn ang="0">
                  <a:pos x="T12" y="T13"/>
                </a:cxn>
              </a:cxnLst>
              <a:rect l="0" t="0" r="r" b="b"/>
              <a:pathLst>
                <a:path w="798" h="1134">
                  <a:moveTo>
                    <a:pt x="798" y="0"/>
                  </a:moveTo>
                  <a:cubicBezTo>
                    <a:pt x="763" y="12"/>
                    <a:pt x="644" y="34"/>
                    <a:pt x="589" y="70"/>
                  </a:cubicBezTo>
                  <a:cubicBezTo>
                    <a:pt x="534" y="106"/>
                    <a:pt x="494" y="166"/>
                    <a:pt x="466" y="217"/>
                  </a:cubicBezTo>
                  <a:cubicBezTo>
                    <a:pt x="438" y="268"/>
                    <a:pt x="431" y="302"/>
                    <a:pt x="418" y="376"/>
                  </a:cubicBezTo>
                  <a:cubicBezTo>
                    <a:pt x="405" y="450"/>
                    <a:pt x="403" y="554"/>
                    <a:pt x="385" y="661"/>
                  </a:cubicBezTo>
                  <a:cubicBezTo>
                    <a:pt x="367" y="768"/>
                    <a:pt x="374" y="939"/>
                    <a:pt x="310" y="1018"/>
                  </a:cubicBezTo>
                  <a:cubicBezTo>
                    <a:pt x="246" y="1097"/>
                    <a:pt x="65" y="1110"/>
                    <a:pt x="0" y="1134"/>
                  </a:cubicBezTo>
                </a:path>
              </a:pathLst>
            </a:custGeom>
            <a:noFill/>
            <a:ln w="38100" cap="flat" cmpd="sng">
              <a:solidFill>
                <a:srgbClr val="CC00CC"/>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a:latin typeface="微软雅黑" pitchFamily="34" charset="-122"/>
                <a:ea typeface="微软雅黑" pitchFamily="34" charset="-122"/>
              </a:endParaRPr>
            </a:p>
          </p:txBody>
        </p:sp>
        <p:sp>
          <p:nvSpPr>
            <p:cNvPr id="106" name="矩形 105"/>
            <p:cNvSpPr/>
            <p:nvPr/>
          </p:nvSpPr>
          <p:spPr>
            <a:xfrm rot="20115699">
              <a:off x="7511689" y="2601963"/>
              <a:ext cx="1047981" cy="469585"/>
            </a:xfrm>
            <a:prstGeom prst="rect">
              <a:avLst/>
            </a:prstGeom>
          </p:spPr>
          <p:txBody>
            <a:bodyPr wrap="none">
              <a:spAutoFit/>
            </a:bodyPr>
            <a:lstStyle/>
            <a:p>
              <a:r>
                <a:rPr lang="en-US" altLang="zh-CN" sz="1200" b="1" dirty="0">
                  <a:latin typeface="微软雅黑" pitchFamily="34" charset="-122"/>
                  <a:ea typeface="微软雅黑" pitchFamily="34" charset="-122"/>
                </a:rPr>
                <a:t>ACK </a:t>
              </a:r>
              <a:r>
                <a:rPr lang="en-US" altLang="zh-CN" sz="1200" b="1" baseline="-25000" dirty="0">
                  <a:latin typeface="微软雅黑" pitchFamily="34" charset="-122"/>
                  <a:ea typeface="微软雅黑" pitchFamily="34" charset="-122"/>
                </a:rPr>
                <a:t>1</a:t>
              </a:r>
            </a:p>
          </p:txBody>
        </p:sp>
      </p:grpSp>
      <p:sp>
        <p:nvSpPr>
          <p:cNvPr id="108" name="矩形 107"/>
          <p:cNvSpPr/>
          <p:nvPr/>
        </p:nvSpPr>
        <p:spPr>
          <a:xfrm>
            <a:off x="7105160" y="2557540"/>
            <a:ext cx="130091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0" name="矩形 109"/>
          <p:cNvSpPr/>
          <p:nvPr/>
        </p:nvSpPr>
        <p:spPr>
          <a:xfrm>
            <a:off x="3224851" y="2537641"/>
            <a:ext cx="1306549" cy="523220"/>
          </a:xfrm>
          <a:prstGeom prst="rect">
            <a:avLst/>
          </a:prstGeom>
        </p:spPr>
        <p:txBody>
          <a:bodyPr wrap="square">
            <a:spAutoFit/>
          </a:bodyPr>
          <a:lstStyle/>
          <a:p>
            <a:r>
              <a:rPr lang="zh-CN" altLang="en-US" sz="1400" b="1" dirty="0">
                <a:solidFill>
                  <a:srgbClr val="CC00CC"/>
                </a:solidFill>
                <a:latin typeface="微软雅黑" pitchFamily="34" charset="-122"/>
                <a:ea typeface="微软雅黑" pitchFamily="34" charset="-122"/>
              </a:rPr>
              <a:t>重复，丢弃</a:t>
            </a:r>
            <a:endParaRPr lang="en-US" altLang="zh-CN" sz="1400" b="1" dirty="0">
              <a:solidFill>
                <a:srgbClr val="CC00CC"/>
              </a:solidFill>
              <a:latin typeface="微软雅黑" pitchFamily="34" charset="-122"/>
              <a:ea typeface="微软雅黑" pitchFamily="34" charset="-122"/>
            </a:endParaRPr>
          </a:p>
          <a:p>
            <a:r>
              <a:rPr lang="zh-CN" altLang="en-US" sz="1400" b="1" dirty="0">
                <a:solidFill>
                  <a:srgbClr val="CC00CC"/>
                </a:solidFill>
                <a:latin typeface="微软雅黑" pitchFamily="34" charset="-122"/>
                <a:ea typeface="微软雅黑" pitchFamily="34" charset="-122"/>
              </a:rPr>
              <a:t>确认 </a:t>
            </a:r>
            <a:r>
              <a:rPr lang="en-US" altLang="zh-CN" sz="1400" b="1" dirty="0">
                <a:solidFill>
                  <a:srgbClr val="CC00CC"/>
                </a:solidFill>
                <a:latin typeface="微软雅黑" pitchFamily="34" charset="-122"/>
                <a:ea typeface="微软雅黑" pitchFamily="34" charset="-122"/>
              </a:rPr>
              <a:t>M</a:t>
            </a:r>
            <a:r>
              <a:rPr lang="en-US" altLang="zh-CN" sz="1400" b="1" baseline="-25000" dirty="0">
                <a:solidFill>
                  <a:srgbClr val="CC00CC"/>
                </a:solidFill>
                <a:latin typeface="微软雅黑" pitchFamily="34" charset="-122"/>
                <a:ea typeface="微软雅黑" pitchFamily="34" charset="-122"/>
              </a:rPr>
              <a:t>1</a:t>
            </a:r>
            <a:r>
              <a:rPr lang="en-US" altLang="zh-CN" sz="1400" b="1" dirty="0">
                <a:solidFill>
                  <a:srgbClr val="CC00CC"/>
                </a:solidFill>
                <a:latin typeface="微软雅黑" pitchFamily="34" charset="-122"/>
                <a:ea typeface="微软雅黑" pitchFamily="34" charset="-122"/>
              </a:rPr>
              <a:t> </a:t>
            </a:r>
            <a:endParaRPr lang="zh-CN" altLang="en-US" sz="1400" b="1" dirty="0">
              <a:solidFill>
                <a:srgbClr val="CC00CC"/>
              </a:solidFill>
              <a:latin typeface="微软雅黑" pitchFamily="34" charset="-122"/>
              <a:ea typeface="微软雅黑" pitchFamily="34" charset="-122"/>
            </a:endParaRPr>
          </a:p>
        </p:txBody>
      </p:sp>
      <p:sp>
        <p:nvSpPr>
          <p:cNvPr id="111" name="TextBox 86"/>
          <p:cNvSpPr txBox="1"/>
          <p:nvPr/>
        </p:nvSpPr>
        <p:spPr>
          <a:xfrm>
            <a:off x="3224250" y="1798868"/>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2" name="TextBox 86"/>
          <p:cNvSpPr txBox="1"/>
          <p:nvPr/>
        </p:nvSpPr>
        <p:spPr>
          <a:xfrm>
            <a:off x="7107679" y="1769991"/>
            <a:ext cx="854721" cy="307777"/>
          </a:xfrm>
          <a:prstGeom prst="rect">
            <a:avLst/>
          </a:prstGeom>
          <a:noFill/>
        </p:spPr>
        <p:txBody>
          <a:bodyPr wrap="none" rtlCol="0">
            <a:spAutoFit/>
          </a:bodyPr>
          <a:lstStyle/>
          <a:p>
            <a:pPr defTabSz="762000" eaLnBrk="0" hangingPunct="0"/>
            <a:r>
              <a:rPr lang="zh-CN" altLang="en-US" sz="1400" b="1" dirty="0">
                <a:solidFill>
                  <a:srgbClr val="0000FF"/>
                </a:solidFill>
                <a:latin typeface="微软雅黑" pitchFamily="34" charset="-122"/>
                <a:ea typeface="微软雅黑" pitchFamily="34" charset="-122"/>
              </a:rPr>
              <a:t>确认 </a:t>
            </a:r>
            <a:r>
              <a:rPr lang="en-US" altLang="zh-CN" sz="1400" b="1" dirty="0">
                <a:solidFill>
                  <a:srgbClr val="0000FF"/>
                </a:solidFill>
                <a:latin typeface="微软雅黑" pitchFamily="34" charset="-122"/>
                <a:ea typeface="微软雅黑" pitchFamily="34" charset="-122"/>
              </a:rPr>
              <a:t>M</a:t>
            </a:r>
            <a:r>
              <a:rPr lang="en-US" altLang="zh-CN" sz="1400" b="1" baseline="-25000" dirty="0">
                <a:solidFill>
                  <a:srgbClr val="0000FF"/>
                </a:solidFill>
                <a:latin typeface="微软雅黑" pitchFamily="34" charset="-122"/>
                <a:ea typeface="微软雅黑" pitchFamily="34" charset="-122"/>
              </a:rPr>
              <a:t>1</a:t>
            </a:r>
          </a:p>
        </p:txBody>
      </p:sp>
      <p:sp>
        <p:nvSpPr>
          <p:cNvPr id="113" name="矩形 112"/>
          <p:cNvSpPr/>
          <p:nvPr/>
        </p:nvSpPr>
        <p:spPr>
          <a:xfrm>
            <a:off x="4907674" y="3054072"/>
            <a:ext cx="1125221" cy="307777"/>
          </a:xfrm>
          <a:prstGeom prst="rect">
            <a:avLst/>
          </a:prstGeom>
        </p:spPr>
        <p:txBody>
          <a:bodyPr wrap="square">
            <a:spAutoFit/>
          </a:bodyPr>
          <a:lstStyle/>
          <a:p>
            <a:pPr algn="r"/>
            <a:r>
              <a:rPr lang="zh-CN" altLang="en-US" sz="1400" b="1" dirty="0">
                <a:solidFill>
                  <a:srgbClr val="CC00CC"/>
                </a:solidFill>
                <a:latin typeface="微软雅黑" pitchFamily="34" charset="-122"/>
                <a:ea typeface="微软雅黑" pitchFamily="34" charset="-122"/>
              </a:rPr>
              <a:t>发送下一个</a:t>
            </a:r>
            <a:endParaRPr lang="zh-CN" altLang="en-US" sz="1400" dirty="0">
              <a:solidFill>
                <a:srgbClr val="CC00CC"/>
              </a:solidFill>
              <a:latin typeface="微软雅黑" pitchFamily="34" charset="-122"/>
              <a:ea typeface="微软雅黑" pitchFamily="34" charset="-122"/>
            </a:endParaRPr>
          </a:p>
        </p:txBody>
      </p:sp>
      <p:sp>
        <p:nvSpPr>
          <p:cNvPr id="8" name="标题 7">
            <a:extLst>
              <a:ext uri="{FF2B5EF4-FFF2-40B4-BE49-F238E27FC236}">
                <a16:creationId xmlns:a16="http://schemas.microsoft.com/office/drawing/2014/main" id="{1E6BB7DC-5EEB-4926-A1BB-8E1BA9B11E4C}"/>
              </a:ext>
            </a:extLst>
          </p:cNvPr>
          <p:cNvSpPr>
            <a:spLocks noGrp="1"/>
          </p:cNvSpPr>
          <p:nvPr>
            <p:ph type="title"/>
          </p:nvPr>
        </p:nvSpPr>
        <p:spPr>
          <a:xfrm>
            <a:off x="2808000" y="144000"/>
            <a:ext cx="3528000" cy="338554"/>
          </a:xfrm>
        </p:spPr>
        <p:txBody>
          <a:bodyPr/>
          <a:lstStyle/>
          <a:p>
            <a:r>
              <a:rPr lang="en-US" altLang="zh-CN" dirty="0"/>
              <a:t>3. </a:t>
            </a:r>
            <a:r>
              <a:rPr lang="zh-CN" altLang="en-US" dirty="0"/>
              <a:t>确认丢失和确认迟到</a:t>
            </a:r>
          </a:p>
        </p:txBody>
      </p:sp>
    </p:spTree>
    <p:extLst>
      <p:ext uri="{BB962C8B-B14F-4D97-AF65-F5344CB8AC3E}">
        <p14:creationId xmlns:p14="http://schemas.microsoft.com/office/powerpoint/2010/main" val="294404198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wipe(left)">
                                      <p:cBhvr>
                                        <p:cTn id="7" dur="2000"/>
                                        <p:tgtEl>
                                          <p:spTgt spid="58"/>
                                        </p:tgtEl>
                                      </p:cBhvr>
                                    </p:animEffect>
                                  </p:childTnLst>
                                </p:cTn>
                              </p:par>
                            </p:childTnLst>
                          </p:cTn>
                        </p:par>
                        <p:par>
                          <p:cTn id="8" fill="hold">
                            <p:stCondLst>
                              <p:cond delay="2000"/>
                            </p:stCondLst>
                            <p:childTnLst>
                              <p:par>
                                <p:cTn id="9" presetID="1" presetClass="entr" presetSubtype="0" fill="hold" grpId="0" nodeType="afterEffect">
                                  <p:stCondLst>
                                    <p:cond delay="0"/>
                                  </p:stCondLst>
                                  <p:childTnLst>
                                    <p:set>
                                      <p:cBhvr>
                                        <p:cTn id="10" dur="1" fill="hold">
                                          <p:stCondLst>
                                            <p:cond delay="999"/>
                                          </p:stCondLst>
                                        </p:cTn>
                                        <p:tgtEl>
                                          <p:spTgt spid="111"/>
                                        </p:tgtEl>
                                        <p:attrNameLst>
                                          <p:attrName>style.visibility</p:attrName>
                                        </p:attrNameLst>
                                      </p:cBhvr>
                                      <p:to>
                                        <p:strVal val="visible"/>
                                      </p:to>
                                    </p:set>
                                  </p:childTnLst>
                                </p:cTn>
                              </p:par>
                            </p:childTnLst>
                          </p:cTn>
                        </p:par>
                        <p:par>
                          <p:cTn id="11" fill="hold">
                            <p:stCondLst>
                              <p:cond delay="3000"/>
                            </p:stCondLst>
                            <p:childTnLst>
                              <p:par>
                                <p:cTn id="12" presetID="35" presetClass="emph" presetSubtype="0" repeatCount="3000" fill="hold" grpId="1" nodeType="afterEffect">
                                  <p:stCondLst>
                                    <p:cond delay="0"/>
                                  </p:stCondLst>
                                  <p:childTnLst>
                                    <p:anim calcmode="discrete" valueType="str">
                                      <p:cBhvr>
                                        <p:cTn id="13" dur="500" fill="hold"/>
                                        <p:tgtEl>
                                          <p:spTgt spid="111"/>
                                        </p:tgtEl>
                                        <p:attrNameLst>
                                          <p:attrName>style.visibility</p:attrName>
                                        </p:attrNameLst>
                                      </p:cBhvr>
                                      <p:tavLst>
                                        <p:tav tm="0">
                                          <p:val>
                                            <p:strVal val="hidden"/>
                                          </p:val>
                                        </p:tav>
                                        <p:tav tm="50000">
                                          <p:val>
                                            <p:strVal val="visible"/>
                                          </p:val>
                                        </p:tav>
                                      </p:tavLst>
                                    </p:anim>
                                  </p:childTnLst>
                                </p:cTn>
                              </p:par>
                            </p:childTnLst>
                          </p:cTn>
                        </p:par>
                        <p:par>
                          <p:cTn id="14" fill="hold">
                            <p:stCondLst>
                              <p:cond delay="4500"/>
                            </p:stCondLst>
                            <p:childTnLst>
                              <p:par>
                                <p:cTn id="15" presetID="22" presetClass="entr" presetSubtype="2" fill="hold" nodeType="afterEffect">
                                  <p:stCondLst>
                                    <p:cond delay="1000"/>
                                  </p:stCondLst>
                                  <p:childTnLst>
                                    <p:set>
                                      <p:cBhvr>
                                        <p:cTn id="16" dur="1" fill="hold">
                                          <p:stCondLst>
                                            <p:cond delay="0"/>
                                          </p:stCondLst>
                                        </p:cTn>
                                        <p:tgtEl>
                                          <p:spTgt spid="74"/>
                                        </p:tgtEl>
                                        <p:attrNameLst>
                                          <p:attrName>style.visibility</p:attrName>
                                        </p:attrNameLst>
                                      </p:cBhvr>
                                      <p:to>
                                        <p:strVal val="visible"/>
                                      </p:to>
                                    </p:set>
                                    <p:animEffect transition="in" filter="wipe(right)">
                                      <p:cBhvr>
                                        <p:cTn id="17" dur="2000"/>
                                        <p:tgtEl>
                                          <p:spTgt spid="74"/>
                                        </p:tgtEl>
                                      </p:cBhvr>
                                    </p:animEffect>
                                  </p:childTnLst>
                                </p:cTn>
                              </p:par>
                            </p:childTnLst>
                          </p:cTn>
                        </p:par>
                        <p:par>
                          <p:cTn id="18" fill="hold">
                            <p:stCondLst>
                              <p:cond delay="7500"/>
                            </p:stCondLst>
                            <p:childTnLst>
                              <p:par>
                                <p:cTn id="19" presetID="1" presetClass="entr" presetSubtype="0" fill="hold" grpId="0" nodeType="afterEffect">
                                  <p:stCondLst>
                                    <p:cond delay="0"/>
                                  </p:stCondLst>
                                  <p:childTnLst>
                                    <p:set>
                                      <p:cBhvr>
                                        <p:cTn id="20" dur="1" fill="hold">
                                          <p:stCondLst>
                                            <p:cond delay="0"/>
                                          </p:stCondLst>
                                        </p:cTn>
                                        <p:tgtEl>
                                          <p:spTgt spid="77"/>
                                        </p:tgtEl>
                                        <p:attrNameLst>
                                          <p:attrName>style.visibility</p:attrName>
                                        </p:attrNameLst>
                                      </p:cBhvr>
                                      <p:to>
                                        <p:strVal val="visible"/>
                                      </p:to>
                                    </p:set>
                                  </p:childTnLst>
                                </p:cTn>
                              </p:par>
                            </p:childTnLst>
                          </p:cTn>
                        </p:par>
                        <p:par>
                          <p:cTn id="21" fill="hold">
                            <p:stCondLst>
                              <p:cond delay="7500"/>
                            </p:stCondLst>
                            <p:childTnLst>
                              <p:par>
                                <p:cTn id="22" presetID="35" presetClass="emph" presetSubtype="0" repeatCount="3000" fill="hold" grpId="1" nodeType="afterEffect">
                                  <p:stCondLst>
                                    <p:cond delay="0"/>
                                  </p:stCondLst>
                                  <p:childTnLst>
                                    <p:anim calcmode="discrete" valueType="str">
                                      <p:cBhvr>
                                        <p:cTn id="23" dur="500" fill="hold"/>
                                        <p:tgtEl>
                                          <p:spTgt spid="77"/>
                                        </p:tgtEl>
                                        <p:attrNameLst>
                                          <p:attrName>style.visibility</p:attrName>
                                        </p:attrNameLst>
                                      </p:cBhvr>
                                      <p:tavLst>
                                        <p:tav tm="0">
                                          <p:val>
                                            <p:strVal val="hidden"/>
                                          </p:val>
                                        </p:tav>
                                        <p:tav tm="50000">
                                          <p:val>
                                            <p:strVal val="visible"/>
                                          </p:val>
                                        </p:tav>
                                      </p:tavLst>
                                    </p:anim>
                                  </p:childTnLst>
                                </p:cTn>
                              </p:par>
                            </p:childTnLst>
                          </p:cTn>
                        </p:par>
                        <p:par>
                          <p:cTn id="24" fill="hold">
                            <p:stCondLst>
                              <p:cond delay="9000"/>
                            </p:stCondLst>
                            <p:childTnLst>
                              <p:par>
                                <p:cTn id="25" presetID="1" presetClass="entr" presetSubtype="0" fill="hold" nodeType="afterEffect">
                                  <p:stCondLst>
                                    <p:cond delay="1000"/>
                                  </p:stCondLst>
                                  <p:childTnLst>
                                    <p:set>
                                      <p:cBhvr>
                                        <p:cTn id="26" dur="1" fill="hold">
                                          <p:stCondLst>
                                            <p:cond delay="9"/>
                                          </p:stCondLst>
                                        </p:cTn>
                                        <p:tgtEl>
                                          <p:spTgt spid="71"/>
                                        </p:tgtEl>
                                        <p:attrNameLst>
                                          <p:attrName>style.visibility</p:attrName>
                                        </p:attrNameLst>
                                      </p:cBhvr>
                                      <p:to>
                                        <p:strVal val="visible"/>
                                      </p:to>
                                    </p:set>
                                  </p:childTnLst>
                                </p:cTn>
                              </p:par>
                            </p:childTnLst>
                          </p:cTn>
                        </p:par>
                        <p:par>
                          <p:cTn id="27" fill="hold">
                            <p:stCondLst>
                              <p:cond delay="10010"/>
                            </p:stCondLst>
                            <p:childTnLst>
                              <p:par>
                                <p:cTn id="28" presetID="35" presetClass="emph" presetSubtype="0" repeatCount="3000" fill="hold" nodeType="afterEffect">
                                  <p:stCondLst>
                                    <p:cond delay="0"/>
                                  </p:stCondLst>
                                  <p:childTnLst>
                                    <p:anim calcmode="discrete" valueType="str">
                                      <p:cBhvr>
                                        <p:cTn id="29" dur="500" fill="hold"/>
                                        <p:tgtEl>
                                          <p:spTgt spid="71"/>
                                        </p:tgtEl>
                                        <p:attrNameLst>
                                          <p:attrName>style.visibility</p:attrName>
                                        </p:attrNameLst>
                                      </p:cBhvr>
                                      <p:tavLst>
                                        <p:tav tm="0">
                                          <p:val>
                                            <p:strVal val="hidden"/>
                                          </p:val>
                                        </p:tav>
                                        <p:tav tm="50000">
                                          <p:val>
                                            <p:strVal val="visible"/>
                                          </p:val>
                                        </p:tav>
                                      </p:tavLst>
                                    </p:anim>
                                  </p:childTnLst>
                                </p:cTn>
                              </p:par>
                            </p:childTnLst>
                          </p:cTn>
                        </p:par>
                        <p:par>
                          <p:cTn id="30" fill="hold">
                            <p:stCondLst>
                              <p:cond delay="11510"/>
                            </p:stCondLst>
                            <p:childTnLst>
                              <p:par>
                                <p:cTn id="31" presetID="1" presetClass="entr" presetSubtype="0" fill="hold" grpId="0" nodeType="afterEffect">
                                  <p:stCondLst>
                                    <p:cond delay="0"/>
                                  </p:stCondLst>
                                  <p:childTnLst>
                                    <p:set>
                                      <p:cBhvr>
                                        <p:cTn id="32" dur="1" fill="hold">
                                          <p:stCondLst>
                                            <p:cond delay="0"/>
                                          </p:stCondLst>
                                        </p:cTn>
                                        <p:tgtEl>
                                          <p:spTgt spid="70"/>
                                        </p:tgtEl>
                                        <p:attrNameLst>
                                          <p:attrName>style.visibility</p:attrName>
                                        </p:attrNameLst>
                                      </p:cBhvr>
                                      <p:to>
                                        <p:strVal val="visible"/>
                                      </p:to>
                                    </p:set>
                                  </p:childTnLst>
                                </p:cTn>
                              </p:par>
                            </p:childTnLst>
                          </p:cTn>
                        </p:par>
                        <p:par>
                          <p:cTn id="33" fill="hold">
                            <p:stCondLst>
                              <p:cond delay="11510"/>
                            </p:stCondLst>
                            <p:childTnLst>
                              <p:par>
                                <p:cTn id="34" presetID="35" presetClass="emph" presetSubtype="0" repeatCount="3000" fill="hold" grpId="1" nodeType="afterEffect">
                                  <p:stCondLst>
                                    <p:cond delay="0"/>
                                  </p:stCondLst>
                                  <p:childTnLst>
                                    <p:anim calcmode="discrete" valueType="str">
                                      <p:cBhvr>
                                        <p:cTn id="35" dur="500" fill="hold"/>
                                        <p:tgtEl>
                                          <p:spTgt spid="70"/>
                                        </p:tgtEl>
                                        <p:attrNameLst>
                                          <p:attrName>style.visibility</p:attrName>
                                        </p:attrNameLst>
                                      </p:cBhvr>
                                      <p:tavLst>
                                        <p:tav tm="0">
                                          <p:val>
                                            <p:strVal val="hidden"/>
                                          </p:val>
                                        </p:tav>
                                        <p:tav tm="50000">
                                          <p:val>
                                            <p:strVal val="visible"/>
                                          </p:val>
                                        </p:tav>
                                      </p:tavLst>
                                    </p:anim>
                                  </p:childTnLst>
                                </p:cTn>
                              </p:par>
                            </p:childTnLst>
                          </p:cTn>
                        </p:par>
                        <p:par>
                          <p:cTn id="36" fill="hold">
                            <p:stCondLst>
                              <p:cond delay="13010"/>
                            </p:stCondLst>
                            <p:childTnLst>
                              <p:par>
                                <p:cTn id="37" presetID="22" presetClass="entr" presetSubtype="8" fill="hold" nodeType="afterEffect">
                                  <p:stCondLst>
                                    <p:cond delay="1000"/>
                                  </p:stCondLst>
                                  <p:childTnLst>
                                    <p:set>
                                      <p:cBhvr>
                                        <p:cTn id="38" dur="1" fill="hold">
                                          <p:stCondLst>
                                            <p:cond delay="0"/>
                                          </p:stCondLst>
                                        </p:cTn>
                                        <p:tgtEl>
                                          <p:spTgt spid="62"/>
                                        </p:tgtEl>
                                        <p:attrNameLst>
                                          <p:attrName>style.visibility</p:attrName>
                                        </p:attrNameLst>
                                      </p:cBhvr>
                                      <p:to>
                                        <p:strVal val="visible"/>
                                      </p:to>
                                    </p:set>
                                    <p:animEffect transition="in" filter="wipe(left)">
                                      <p:cBhvr>
                                        <p:cTn id="39" dur="2000"/>
                                        <p:tgtEl>
                                          <p:spTgt spid="62"/>
                                        </p:tgtEl>
                                      </p:cBhvr>
                                    </p:animEffect>
                                  </p:childTnLst>
                                </p:cTn>
                              </p:par>
                            </p:childTnLst>
                          </p:cTn>
                        </p:par>
                        <p:par>
                          <p:cTn id="40" fill="hold">
                            <p:stCondLst>
                              <p:cond delay="16010"/>
                            </p:stCondLst>
                            <p:childTnLst>
                              <p:par>
                                <p:cTn id="41" presetID="22" presetClass="entr" presetSubtype="8" fill="hold" grpId="0" nodeType="afterEffect">
                                  <p:stCondLst>
                                    <p:cond delay="0"/>
                                  </p:stCondLst>
                                  <p:childTnLst>
                                    <p:set>
                                      <p:cBhvr>
                                        <p:cTn id="42" dur="1" fill="hold">
                                          <p:stCondLst>
                                            <p:cond delay="0"/>
                                          </p:stCondLst>
                                        </p:cTn>
                                        <p:tgtEl>
                                          <p:spTgt spid="110"/>
                                        </p:tgtEl>
                                        <p:attrNameLst>
                                          <p:attrName>style.visibility</p:attrName>
                                        </p:attrNameLst>
                                      </p:cBhvr>
                                      <p:to>
                                        <p:strVal val="visible"/>
                                      </p:to>
                                    </p:set>
                                    <p:animEffect transition="in" filter="wipe(left)">
                                      <p:cBhvr>
                                        <p:cTn id="43" dur="2000"/>
                                        <p:tgtEl>
                                          <p:spTgt spid="110"/>
                                        </p:tgtEl>
                                      </p:cBhvr>
                                    </p:animEffect>
                                  </p:childTnLst>
                                </p:cTn>
                              </p:par>
                            </p:childTnLst>
                          </p:cTn>
                        </p:par>
                        <p:par>
                          <p:cTn id="44" fill="hold">
                            <p:stCondLst>
                              <p:cond delay="18010"/>
                            </p:stCondLst>
                            <p:childTnLst>
                              <p:par>
                                <p:cTn id="45" presetID="22" presetClass="entr" presetSubtype="2" fill="hold" nodeType="afterEffect">
                                  <p:stCondLst>
                                    <p:cond delay="500"/>
                                  </p:stCondLst>
                                  <p:childTnLst>
                                    <p:set>
                                      <p:cBhvr>
                                        <p:cTn id="46" dur="1" fill="hold">
                                          <p:stCondLst>
                                            <p:cond delay="0"/>
                                          </p:stCondLst>
                                        </p:cTn>
                                        <p:tgtEl>
                                          <p:spTgt spid="67"/>
                                        </p:tgtEl>
                                        <p:attrNameLst>
                                          <p:attrName>style.visibility</p:attrName>
                                        </p:attrNameLst>
                                      </p:cBhvr>
                                      <p:to>
                                        <p:strVal val="visible"/>
                                      </p:to>
                                    </p:set>
                                    <p:animEffect transition="in" filter="wipe(right)">
                                      <p:cBhvr>
                                        <p:cTn id="47" dur="2000"/>
                                        <p:tgtEl>
                                          <p:spTgt spid="6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83"/>
                                        </p:tgtEl>
                                        <p:attrNameLst>
                                          <p:attrName>style.visibility</p:attrName>
                                        </p:attrNameLst>
                                      </p:cBhvr>
                                      <p:to>
                                        <p:strVal val="visible"/>
                                      </p:to>
                                    </p:set>
                                    <p:animEffect transition="in" filter="wipe(left)">
                                      <p:cBhvr>
                                        <p:cTn id="52" dur="3000"/>
                                        <p:tgtEl>
                                          <p:spTgt spid="83"/>
                                        </p:tgtEl>
                                      </p:cBhvr>
                                    </p:animEffect>
                                  </p:childTnLst>
                                </p:cTn>
                              </p:par>
                            </p:childTnLst>
                          </p:cTn>
                        </p:par>
                        <p:par>
                          <p:cTn id="53" fill="hold">
                            <p:stCondLst>
                              <p:cond delay="3000"/>
                            </p:stCondLst>
                            <p:childTnLst>
                              <p:par>
                                <p:cTn id="54" presetID="1" presetClass="entr" presetSubtype="0" fill="hold" grpId="0" nodeType="afterEffect">
                                  <p:stCondLst>
                                    <p:cond delay="0"/>
                                  </p:stCondLst>
                                  <p:childTnLst>
                                    <p:set>
                                      <p:cBhvr>
                                        <p:cTn id="55" dur="1" fill="hold">
                                          <p:stCondLst>
                                            <p:cond delay="999"/>
                                          </p:stCondLst>
                                        </p:cTn>
                                        <p:tgtEl>
                                          <p:spTgt spid="112"/>
                                        </p:tgtEl>
                                        <p:attrNameLst>
                                          <p:attrName>style.visibility</p:attrName>
                                        </p:attrNameLst>
                                      </p:cBhvr>
                                      <p:to>
                                        <p:strVal val="visible"/>
                                      </p:to>
                                    </p:set>
                                  </p:childTnLst>
                                </p:cTn>
                              </p:par>
                              <p:par>
                                <p:cTn id="56" presetID="35" presetClass="emph" presetSubtype="0" repeatCount="3000" fill="hold" grpId="1" nodeType="withEffect">
                                  <p:stCondLst>
                                    <p:cond delay="0"/>
                                  </p:stCondLst>
                                  <p:childTnLst>
                                    <p:anim calcmode="discrete" valueType="str">
                                      <p:cBhvr>
                                        <p:cTn id="57" dur="500" fill="hold"/>
                                        <p:tgtEl>
                                          <p:spTgt spid="112"/>
                                        </p:tgtEl>
                                        <p:attrNameLst>
                                          <p:attrName>style.visibility</p:attrName>
                                        </p:attrNameLst>
                                      </p:cBhvr>
                                      <p:tavLst>
                                        <p:tav tm="0">
                                          <p:val>
                                            <p:strVal val="hidden"/>
                                          </p:val>
                                        </p:tav>
                                        <p:tav tm="50000">
                                          <p:val>
                                            <p:strVal val="visible"/>
                                          </p:val>
                                        </p:tav>
                                      </p:tavLst>
                                    </p:anim>
                                  </p:childTnLst>
                                </p:cTn>
                              </p:par>
                            </p:childTnLst>
                          </p:cTn>
                        </p:par>
                        <p:par>
                          <p:cTn id="58" fill="hold">
                            <p:stCondLst>
                              <p:cond delay="4500"/>
                            </p:stCondLst>
                            <p:childTnLst>
                              <p:par>
                                <p:cTn id="59" presetID="22" presetClass="entr" presetSubtype="1" fill="hold" nodeType="afterEffect">
                                  <p:stCondLst>
                                    <p:cond delay="0"/>
                                  </p:stCondLst>
                                  <p:childTnLst>
                                    <p:set>
                                      <p:cBhvr>
                                        <p:cTn id="60" dur="1" fill="hold">
                                          <p:stCondLst>
                                            <p:cond delay="0"/>
                                          </p:stCondLst>
                                        </p:cTn>
                                        <p:tgtEl>
                                          <p:spTgt spid="104"/>
                                        </p:tgtEl>
                                        <p:attrNameLst>
                                          <p:attrName>style.visibility</p:attrName>
                                        </p:attrNameLst>
                                      </p:cBhvr>
                                      <p:to>
                                        <p:strVal val="visible"/>
                                      </p:to>
                                    </p:set>
                                    <p:animEffect transition="in" filter="wipe(up)">
                                      <p:cBhvr>
                                        <p:cTn id="61" dur="23000"/>
                                        <p:tgtEl>
                                          <p:spTgt spid="104"/>
                                        </p:tgtEl>
                                      </p:cBhvr>
                                    </p:animEffect>
                                  </p:childTnLst>
                                </p:cTn>
                              </p:par>
                              <p:par>
                                <p:cTn id="62" presetID="1" presetClass="entr" presetSubtype="0" fill="hold" nodeType="withEffect">
                                  <p:stCondLst>
                                    <p:cond delay="2000"/>
                                  </p:stCondLst>
                                  <p:childTnLst>
                                    <p:set>
                                      <p:cBhvr>
                                        <p:cTn id="63" dur="1" fill="hold">
                                          <p:stCondLst>
                                            <p:cond delay="0"/>
                                          </p:stCondLst>
                                        </p:cTn>
                                        <p:tgtEl>
                                          <p:spTgt spid="96"/>
                                        </p:tgtEl>
                                        <p:attrNameLst>
                                          <p:attrName>style.visibility</p:attrName>
                                        </p:attrNameLst>
                                      </p:cBhvr>
                                      <p:to>
                                        <p:strVal val="visible"/>
                                      </p:to>
                                    </p:set>
                                  </p:childTnLst>
                                </p:cTn>
                              </p:par>
                              <p:par>
                                <p:cTn id="64" presetID="35" presetClass="emph" presetSubtype="0" repeatCount="3000" fill="hold" nodeType="withEffect">
                                  <p:stCondLst>
                                    <p:cond delay="2000"/>
                                  </p:stCondLst>
                                  <p:childTnLst>
                                    <p:anim calcmode="discrete" valueType="str">
                                      <p:cBhvr>
                                        <p:cTn id="65" dur="500" fill="hold"/>
                                        <p:tgtEl>
                                          <p:spTgt spid="96"/>
                                        </p:tgtEl>
                                        <p:attrNameLst>
                                          <p:attrName>style.visibility</p:attrName>
                                        </p:attrNameLst>
                                      </p:cBhvr>
                                      <p:tavLst>
                                        <p:tav tm="0">
                                          <p:val>
                                            <p:strVal val="hidden"/>
                                          </p:val>
                                        </p:tav>
                                        <p:tav tm="50000">
                                          <p:val>
                                            <p:strVal val="visible"/>
                                          </p:val>
                                        </p:tav>
                                      </p:tavLst>
                                    </p:anim>
                                  </p:childTnLst>
                                </p:cTn>
                              </p:par>
                              <p:par>
                                <p:cTn id="66" presetID="1" presetClass="entr" presetSubtype="0" fill="hold" grpId="0" nodeType="withEffect">
                                  <p:stCondLst>
                                    <p:cond delay="4000"/>
                                  </p:stCondLst>
                                  <p:childTnLst>
                                    <p:set>
                                      <p:cBhvr>
                                        <p:cTn id="67" dur="1" fill="hold">
                                          <p:stCondLst>
                                            <p:cond delay="0"/>
                                          </p:stCondLst>
                                        </p:cTn>
                                        <p:tgtEl>
                                          <p:spTgt spid="95"/>
                                        </p:tgtEl>
                                        <p:attrNameLst>
                                          <p:attrName>style.visibility</p:attrName>
                                        </p:attrNameLst>
                                      </p:cBhvr>
                                      <p:to>
                                        <p:strVal val="visible"/>
                                      </p:to>
                                    </p:set>
                                  </p:childTnLst>
                                </p:cTn>
                              </p:par>
                              <p:par>
                                <p:cTn id="68" presetID="35" presetClass="emph" presetSubtype="0" repeatCount="3000" fill="hold" grpId="1" nodeType="withEffect">
                                  <p:stCondLst>
                                    <p:cond delay="4000"/>
                                  </p:stCondLst>
                                  <p:childTnLst>
                                    <p:anim calcmode="discrete" valueType="str">
                                      <p:cBhvr>
                                        <p:cTn id="69" dur="500" fill="hold"/>
                                        <p:tgtEl>
                                          <p:spTgt spid="95"/>
                                        </p:tgtEl>
                                        <p:attrNameLst>
                                          <p:attrName>style.visibility</p:attrName>
                                        </p:attrNameLst>
                                      </p:cBhvr>
                                      <p:tavLst>
                                        <p:tav tm="0">
                                          <p:val>
                                            <p:strVal val="hidden"/>
                                          </p:val>
                                        </p:tav>
                                        <p:tav tm="50000">
                                          <p:val>
                                            <p:strVal val="visible"/>
                                          </p:val>
                                        </p:tav>
                                      </p:tavLst>
                                    </p:anim>
                                  </p:childTnLst>
                                </p:cTn>
                              </p:par>
                              <p:par>
                                <p:cTn id="70" presetID="22" presetClass="entr" presetSubtype="8" fill="hold" nodeType="withEffect">
                                  <p:stCondLst>
                                    <p:cond delay="6000"/>
                                  </p:stCondLst>
                                  <p:childTnLst>
                                    <p:set>
                                      <p:cBhvr>
                                        <p:cTn id="71" dur="1" fill="hold">
                                          <p:stCondLst>
                                            <p:cond delay="0"/>
                                          </p:stCondLst>
                                        </p:cTn>
                                        <p:tgtEl>
                                          <p:spTgt spid="87"/>
                                        </p:tgtEl>
                                        <p:attrNameLst>
                                          <p:attrName>style.visibility</p:attrName>
                                        </p:attrNameLst>
                                      </p:cBhvr>
                                      <p:to>
                                        <p:strVal val="visible"/>
                                      </p:to>
                                    </p:set>
                                    <p:animEffect transition="in" filter="wipe(left)">
                                      <p:cBhvr>
                                        <p:cTn id="72" dur="2000"/>
                                        <p:tgtEl>
                                          <p:spTgt spid="87"/>
                                        </p:tgtEl>
                                      </p:cBhvr>
                                    </p:animEffect>
                                  </p:childTnLst>
                                </p:cTn>
                              </p:par>
                              <p:par>
                                <p:cTn id="73" presetID="22" presetClass="entr" presetSubtype="8" fill="hold" grpId="0" nodeType="withEffect">
                                  <p:stCondLst>
                                    <p:cond delay="9000"/>
                                  </p:stCondLst>
                                  <p:childTnLst>
                                    <p:set>
                                      <p:cBhvr>
                                        <p:cTn id="74" dur="1" fill="hold">
                                          <p:stCondLst>
                                            <p:cond delay="0"/>
                                          </p:stCondLst>
                                        </p:cTn>
                                        <p:tgtEl>
                                          <p:spTgt spid="108"/>
                                        </p:tgtEl>
                                        <p:attrNameLst>
                                          <p:attrName>style.visibility</p:attrName>
                                        </p:attrNameLst>
                                      </p:cBhvr>
                                      <p:to>
                                        <p:strVal val="visible"/>
                                      </p:to>
                                    </p:set>
                                    <p:animEffect transition="in" filter="wipe(left)">
                                      <p:cBhvr>
                                        <p:cTn id="75" dur="2000"/>
                                        <p:tgtEl>
                                          <p:spTgt spid="108"/>
                                        </p:tgtEl>
                                      </p:cBhvr>
                                    </p:animEffect>
                                  </p:childTnLst>
                                </p:cTn>
                              </p:par>
                              <p:par>
                                <p:cTn id="76" presetID="22" presetClass="entr" presetSubtype="2" fill="hold" nodeType="withEffect">
                                  <p:stCondLst>
                                    <p:cond delay="12000"/>
                                  </p:stCondLst>
                                  <p:childTnLst>
                                    <p:set>
                                      <p:cBhvr>
                                        <p:cTn id="77" dur="1" fill="hold">
                                          <p:stCondLst>
                                            <p:cond delay="0"/>
                                          </p:stCondLst>
                                        </p:cTn>
                                        <p:tgtEl>
                                          <p:spTgt spid="92"/>
                                        </p:tgtEl>
                                        <p:attrNameLst>
                                          <p:attrName>style.visibility</p:attrName>
                                        </p:attrNameLst>
                                      </p:cBhvr>
                                      <p:to>
                                        <p:strVal val="visible"/>
                                      </p:to>
                                    </p:set>
                                    <p:animEffect transition="in" filter="wipe(right)">
                                      <p:cBhvr>
                                        <p:cTn id="78" dur="2000"/>
                                        <p:tgtEl>
                                          <p:spTgt spid="92"/>
                                        </p:tgtEl>
                                      </p:cBhvr>
                                    </p:animEffect>
                                  </p:childTnLst>
                                </p:cTn>
                              </p:par>
                              <p:par>
                                <p:cTn id="79" presetID="1" presetClass="entr" presetSubtype="0" fill="hold" grpId="0" nodeType="withEffect">
                                  <p:stCondLst>
                                    <p:cond delay="14500"/>
                                  </p:stCondLst>
                                  <p:childTnLst>
                                    <p:set>
                                      <p:cBhvr>
                                        <p:cTn id="80" dur="1" fill="hold">
                                          <p:stCondLst>
                                            <p:cond delay="0"/>
                                          </p:stCondLst>
                                        </p:cTn>
                                        <p:tgtEl>
                                          <p:spTgt spid="113"/>
                                        </p:tgtEl>
                                        <p:attrNameLst>
                                          <p:attrName>style.visibility</p:attrName>
                                        </p:attrNameLst>
                                      </p:cBhvr>
                                      <p:to>
                                        <p:strVal val="visible"/>
                                      </p:to>
                                    </p:set>
                                  </p:childTnLst>
                                </p:cTn>
                              </p:par>
                              <p:par>
                                <p:cTn id="81" presetID="35" presetClass="emph" presetSubtype="0" repeatCount="3000" fill="hold" grpId="1" nodeType="withEffect">
                                  <p:stCondLst>
                                    <p:cond delay="14500"/>
                                  </p:stCondLst>
                                  <p:childTnLst>
                                    <p:anim calcmode="discrete" valueType="str">
                                      <p:cBhvr>
                                        <p:cTn id="82" dur="500" fill="hold"/>
                                        <p:tgtEl>
                                          <p:spTgt spid="113"/>
                                        </p:tgtEl>
                                        <p:attrNameLst>
                                          <p:attrName>style.visibility</p:attrName>
                                        </p:attrNameLst>
                                      </p:cBhvr>
                                      <p:tavLst>
                                        <p:tav tm="0">
                                          <p:val>
                                            <p:strVal val="hidden"/>
                                          </p:val>
                                        </p:tav>
                                        <p:tav tm="50000">
                                          <p:val>
                                            <p:strVal val="visible"/>
                                          </p:val>
                                        </p:tav>
                                      </p:tavLst>
                                    </p:anim>
                                  </p:childTnLst>
                                </p:cTn>
                              </p:par>
                              <p:par>
                                <p:cTn id="83" presetID="22" presetClass="entr" presetSubtype="8" fill="hold" nodeType="withEffect">
                                  <p:stCondLst>
                                    <p:cond delay="16500"/>
                                  </p:stCondLst>
                                  <p:childTnLst>
                                    <p:set>
                                      <p:cBhvr>
                                        <p:cTn id="84" dur="1" fill="hold">
                                          <p:stCondLst>
                                            <p:cond delay="0"/>
                                          </p:stCondLst>
                                        </p:cTn>
                                        <p:tgtEl>
                                          <p:spTgt spid="99"/>
                                        </p:tgtEl>
                                        <p:attrNameLst>
                                          <p:attrName>style.visibility</p:attrName>
                                        </p:attrNameLst>
                                      </p:cBhvr>
                                      <p:to>
                                        <p:strVal val="visible"/>
                                      </p:to>
                                    </p:set>
                                    <p:animEffect transition="in" filter="wipe(left)">
                                      <p:cBhvr>
                                        <p:cTn id="85" dur="2000"/>
                                        <p:tgtEl>
                                          <p:spTgt spid="99"/>
                                        </p:tgtEl>
                                      </p:cBhvr>
                                    </p:animEffect>
                                  </p:childTnLst>
                                </p:cTn>
                              </p:par>
                              <p:par>
                                <p:cTn id="86" presetID="1" presetClass="entr" presetSubtype="0" fill="hold" grpId="0" nodeType="withEffect">
                                  <p:stCondLst>
                                    <p:cond delay="21500"/>
                                  </p:stCondLst>
                                  <p:childTnLst>
                                    <p:set>
                                      <p:cBhvr>
                                        <p:cTn id="87" dur="1" fill="hold">
                                          <p:stCondLst>
                                            <p:cond delay="0"/>
                                          </p:stCondLst>
                                        </p:cTn>
                                        <p:tgtEl>
                                          <p:spTgt spid="103"/>
                                        </p:tgtEl>
                                        <p:attrNameLst>
                                          <p:attrName>style.visibility</p:attrName>
                                        </p:attrNameLst>
                                      </p:cBhvr>
                                      <p:to>
                                        <p:strVal val="visible"/>
                                      </p:to>
                                    </p:set>
                                  </p:childTnLst>
                                </p:cTn>
                              </p:par>
                              <p:par>
                                <p:cTn id="88" presetID="35" presetClass="emph" presetSubtype="0" repeatCount="3000" fill="hold" grpId="1" nodeType="withEffect">
                                  <p:stCondLst>
                                    <p:cond delay="21500"/>
                                  </p:stCondLst>
                                  <p:childTnLst>
                                    <p:anim calcmode="discrete" valueType="str">
                                      <p:cBhvr>
                                        <p:cTn id="89" dur="500" fill="hold"/>
                                        <p:tgtEl>
                                          <p:spTgt spid="10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p:bldP spid="70" grpId="1"/>
      <p:bldP spid="77" grpId="0" animBg="1"/>
      <p:bldP spid="77" grpId="1" animBg="1"/>
      <p:bldP spid="95" grpId="0"/>
      <p:bldP spid="95" grpId="1"/>
      <p:bldP spid="103" grpId="0"/>
      <p:bldP spid="103" grpId="1"/>
      <p:bldP spid="108" grpId="0"/>
      <p:bldP spid="110" grpId="0"/>
      <p:bldP spid="111" grpId="0"/>
      <p:bldP spid="111" grpId="1"/>
      <p:bldP spid="112" grpId="0"/>
      <p:bldP spid="112" grpId="1"/>
      <p:bldP spid="113" grpId="0"/>
      <p:bldP spid="113"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3AFE1-EF08-1B4A-A269-7918C3E05A7B}"/>
            </a:ext>
          </a:extLst>
        </p:cNvPr>
        <p:cNvGrpSpPr/>
        <p:nvPr/>
      </p:nvGrpSpPr>
      <p:grpSpPr>
        <a:xfrm>
          <a:off x="0" y="0"/>
          <a:ext cx="0" cy="0"/>
          <a:chOff x="0" y="0"/>
          <a:chExt cx="0" cy="0"/>
        </a:xfrm>
      </p:grpSpPr>
      <p:sp>
        <p:nvSpPr>
          <p:cNvPr id="4" name="标题 3">
            <a:extLst>
              <a:ext uri="{FF2B5EF4-FFF2-40B4-BE49-F238E27FC236}">
                <a16:creationId xmlns:a16="http://schemas.microsoft.com/office/drawing/2014/main" id="{06F31D1F-7528-F6A1-2EE1-650D50D3C5BD}"/>
              </a:ext>
            </a:extLst>
          </p:cNvPr>
          <p:cNvSpPr>
            <a:spLocks noGrp="1"/>
          </p:cNvSpPr>
          <p:nvPr>
            <p:ph type="title"/>
          </p:nvPr>
        </p:nvSpPr>
        <p:spPr>
          <a:xfrm>
            <a:off x="2808000" y="144000"/>
            <a:ext cx="3528000" cy="338554"/>
          </a:xfrm>
        </p:spPr>
        <p:txBody>
          <a:bodyPr/>
          <a:lstStyle/>
          <a:p>
            <a:r>
              <a:rPr lang="zh-CN" altLang="en-US" dirty="0"/>
              <a:t>确认迟到</a:t>
            </a:r>
          </a:p>
        </p:txBody>
      </p:sp>
      <p:sp>
        <p:nvSpPr>
          <p:cNvPr id="5" name="Line 36">
            <a:extLst>
              <a:ext uri="{FF2B5EF4-FFF2-40B4-BE49-F238E27FC236}">
                <a16:creationId xmlns:a16="http://schemas.microsoft.com/office/drawing/2014/main" id="{6EE7DF07-4C45-3180-3B33-9347DD32BD2F}"/>
              </a:ext>
            </a:extLst>
          </p:cNvPr>
          <p:cNvSpPr>
            <a:spLocks noChangeShapeType="1"/>
          </p:cNvSpPr>
          <p:nvPr/>
        </p:nvSpPr>
        <p:spPr bwMode="auto">
          <a:xfrm>
            <a:off x="2442953" y="1581642"/>
            <a:ext cx="0" cy="2880000"/>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6" name="Line 37">
            <a:extLst>
              <a:ext uri="{FF2B5EF4-FFF2-40B4-BE49-F238E27FC236}">
                <a16:creationId xmlns:a16="http://schemas.microsoft.com/office/drawing/2014/main" id="{48E9E65A-49D4-FF20-43C7-146D227DBDFC}"/>
              </a:ext>
            </a:extLst>
          </p:cNvPr>
          <p:cNvSpPr>
            <a:spLocks noChangeShapeType="1"/>
          </p:cNvSpPr>
          <p:nvPr/>
        </p:nvSpPr>
        <p:spPr bwMode="auto">
          <a:xfrm>
            <a:off x="3602105" y="1581642"/>
            <a:ext cx="0" cy="2880000"/>
          </a:xfrm>
          <a:prstGeom prst="line">
            <a:avLst/>
          </a:prstGeom>
          <a:noFill/>
          <a:ln w="19050">
            <a:solidFill>
              <a:schemeClr val="tx1"/>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7" name="Rectangle 38">
            <a:extLst>
              <a:ext uri="{FF2B5EF4-FFF2-40B4-BE49-F238E27FC236}">
                <a16:creationId xmlns:a16="http://schemas.microsoft.com/office/drawing/2014/main" id="{4AC51222-3625-E6E7-A23E-6FEAB0D04D66}"/>
              </a:ext>
            </a:extLst>
          </p:cNvPr>
          <p:cNvSpPr>
            <a:spLocks noChangeArrowheads="1"/>
          </p:cNvSpPr>
          <p:nvPr/>
        </p:nvSpPr>
        <p:spPr bwMode="auto">
          <a:xfrm>
            <a:off x="2321087" y="1297665"/>
            <a:ext cx="29174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A</a:t>
            </a:r>
          </a:p>
        </p:txBody>
      </p:sp>
      <p:sp>
        <p:nvSpPr>
          <p:cNvPr id="8" name="Rectangle 39">
            <a:extLst>
              <a:ext uri="{FF2B5EF4-FFF2-40B4-BE49-F238E27FC236}">
                <a16:creationId xmlns:a16="http://schemas.microsoft.com/office/drawing/2014/main" id="{2F2A92B4-507E-EA5D-CD4B-537A853A1C92}"/>
              </a:ext>
            </a:extLst>
          </p:cNvPr>
          <p:cNvSpPr>
            <a:spLocks noChangeArrowheads="1"/>
          </p:cNvSpPr>
          <p:nvPr/>
        </p:nvSpPr>
        <p:spPr bwMode="auto">
          <a:xfrm>
            <a:off x="3495991" y="1297665"/>
            <a:ext cx="2965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B</a:t>
            </a:r>
          </a:p>
        </p:txBody>
      </p:sp>
      <p:sp>
        <p:nvSpPr>
          <p:cNvPr id="9" name="Freeform 41">
            <a:extLst>
              <a:ext uri="{FF2B5EF4-FFF2-40B4-BE49-F238E27FC236}">
                <a16:creationId xmlns:a16="http://schemas.microsoft.com/office/drawing/2014/main" id="{8524BFE0-5EE8-3255-426E-22346002D55E}"/>
              </a:ext>
            </a:extLst>
          </p:cNvPr>
          <p:cNvSpPr>
            <a:spLocks/>
          </p:cNvSpPr>
          <p:nvPr/>
        </p:nvSpPr>
        <p:spPr bwMode="auto">
          <a:xfrm>
            <a:off x="2465549" y="16656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0" name="AutoShape 42">
            <a:extLst>
              <a:ext uri="{FF2B5EF4-FFF2-40B4-BE49-F238E27FC236}">
                <a16:creationId xmlns:a16="http://schemas.microsoft.com/office/drawing/2014/main" id="{1E1CF055-91C1-B1E2-D24D-5F1F7F547FC5}"/>
              </a:ext>
            </a:extLst>
          </p:cNvPr>
          <p:cNvSpPr>
            <a:spLocks noChangeArrowheads="1"/>
          </p:cNvSpPr>
          <p:nvPr/>
        </p:nvSpPr>
        <p:spPr bwMode="auto">
          <a:xfrm rot="480000">
            <a:off x="3170017" y="19036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1" name="Rectangle 43">
            <a:extLst>
              <a:ext uri="{FF2B5EF4-FFF2-40B4-BE49-F238E27FC236}">
                <a16:creationId xmlns:a16="http://schemas.microsoft.com/office/drawing/2014/main" id="{09CC7468-AB34-D728-8C50-C1B5F7FD0F5D}"/>
              </a:ext>
            </a:extLst>
          </p:cNvPr>
          <p:cNvSpPr>
            <a:spLocks noChangeArrowheads="1"/>
          </p:cNvSpPr>
          <p:nvPr/>
        </p:nvSpPr>
        <p:spPr bwMode="auto">
          <a:xfrm rot="540000">
            <a:off x="2687057" y="17496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12" name="Freeform 45">
            <a:extLst>
              <a:ext uri="{FF2B5EF4-FFF2-40B4-BE49-F238E27FC236}">
                <a16:creationId xmlns:a16="http://schemas.microsoft.com/office/drawing/2014/main" id="{C1F58B55-120D-7E9E-2D78-128D3A9CE0F5}"/>
              </a:ext>
            </a:extLst>
          </p:cNvPr>
          <p:cNvSpPr>
            <a:spLocks/>
          </p:cNvSpPr>
          <p:nvPr/>
        </p:nvSpPr>
        <p:spPr bwMode="auto">
          <a:xfrm>
            <a:off x="2464549" y="2649335"/>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3" name="AutoShape 46">
            <a:extLst>
              <a:ext uri="{FF2B5EF4-FFF2-40B4-BE49-F238E27FC236}">
                <a16:creationId xmlns:a16="http://schemas.microsoft.com/office/drawing/2014/main" id="{CA0F74FF-0117-A7A2-31FA-2E2D0B0FE28B}"/>
              </a:ext>
            </a:extLst>
          </p:cNvPr>
          <p:cNvSpPr>
            <a:spLocks noChangeArrowheads="1"/>
          </p:cNvSpPr>
          <p:nvPr/>
        </p:nvSpPr>
        <p:spPr bwMode="auto">
          <a:xfrm rot="480000">
            <a:off x="3169017" y="2887316"/>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14" name="Rectangle 47">
            <a:extLst>
              <a:ext uri="{FF2B5EF4-FFF2-40B4-BE49-F238E27FC236}">
                <a16:creationId xmlns:a16="http://schemas.microsoft.com/office/drawing/2014/main" id="{9AD99B57-18BD-0089-D024-9CFC1F6BDAE8}"/>
              </a:ext>
            </a:extLst>
          </p:cNvPr>
          <p:cNvSpPr>
            <a:spLocks noChangeArrowheads="1"/>
          </p:cNvSpPr>
          <p:nvPr/>
        </p:nvSpPr>
        <p:spPr bwMode="auto">
          <a:xfrm rot="540000">
            <a:off x="2686057" y="2733328"/>
            <a:ext cx="360970" cy="273978"/>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1</a:t>
            </a:r>
          </a:p>
        </p:txBody>
      </p:sp>
      <p:sp>
        <p:nvSpPr>
          <p:cNvPr id="15" name="Line 52">
            <a:extLst>
              <a:ext uri="{FF2B5EF4-FFF2-40B4-BE49-F238E27FC236}">
                <a16:creationId xmlns:a16="http://schemas.microsoft.com/office/drawing/2014/main" id="{5E09CEEC-08E5-BF08-1EE3-F9CF992B0AA8}"/>
              </a:ext>
            </a:extLst>
          </p:cNvPr>
          <p:cNvSpPr>
            <a:spLocks noChangeShapeType="1"/>
          </p:cNvSpPr>
          <p:nvPr/>
        </p:nvSpPr>
        <p:spPr bwMode="auto">
          <a:xfrm flipH="1">
            <a:off x="2427078" y="3259287"/>
            <a:ext cx="1176904" cy="200984"/>
          </a:xfrm>
          <a:prstGeom prst="line">
            <a:avLst/>
          </a:prstGeom>
          <a:noFill/>
          <a:ln w="1270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16" name="Text Box 53">
            <a:extLst>
              <a:ext uri="{FF2B5EF4-FFF2-40B4-BE49-F238E27FC236}">
                <a16:creationId xmlns:a16="http://schemas.microsoft.com/office/drawing/2014/main" id="{751A4A9C-9532-AAAB-A1B2-AFBCDE20EA9D}"/>
              </a:ext>
            </a:extLst>
          </p:cNvPr>
          <p:cNvSpPr txBox="1">
            <a:spLocks noChangeArrowheads="1"/>
          </p:cNvSpPr>
          <p:nvPr/>
        </p:nvSpPr>
        <p:spPr bwMode="auto">
          <a:xfrm rot="21169770">
            <a:off x="2593064" y="3139297"/>
            <a:ext cx="586952" cy="276978"/>
          </a:xfrm>
          <a:prstGeom prst="rect">
            <a:avLst/>
          </a:prstGeom>
          <a:noFill/>
          <a:ln w="12700"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en-US" altLang="zh-CN" sz="1200" b="1" dirty="0">
                <a:latin typeface="Montserrat" panose="00000500000000000000" pitchFamily="2" charset="0"/>
                <a:ea typeface="微软雅黑 Light" panose="020B0502040204020203" pitchFamily="34" charset="-122"/>
              </a:rPr>
              <a:t>ACK </a:t>
            </a:r>
            <a:r>
              <a:rPr kumimoji="0" lang="en-US" altLang="zh-CN" sz="1200" b="1" baseline="-25000" dirty="0">
                <a:latin typeface="Montserrat" panose="00000500000000000000" pitchFamily="2" charset="0"/>
                <a:ea typeface="微软雅黑 Light" panose="020B0502040204020203" pitchFamily="34" charset="-122"/>
              </a:rPr>
              <a:t>1</a:t>
            </a:r>
          </a:p>
        </p:txBody>
      </p:sp>
      <p:sp>
        <p:nvSpPr>
          <p:cNvPr id="18" name="AutoShape 26">
            <a:extLst>
              <a:ext uri="{FF2B5EF4-FFF2-40B4-BE49-F238E27FC236}">
                <a16:creationId xmlns:a16="http://schemas.microsoft.com/office/drawing/2014/main" id="{77282E2F-D10B-91DB-C4C6-8504F4BC2B51}"/>
              </a:ext>
            </a:extLst>
          </p:cNvPr>
          <p:cNvSpPr>
            <a:spLocks/>
          </p:cNvSpPr>
          <p:nvPr/>
        </p:nvSpPr>
        <p:spPr bwMode="auto">
          <a:xfrm>
            <a:off x="2326503" y="2010185"/>
            <a:ext cx="55995" cy="583952"/>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pic>
        <p:nvPicPr>
          <p:cNvPr id="20" name="图形 19" descr="时钟">
            <a:extLst>
              <a:ext uri="{FF2B5EF4-FFF2-40B4-BE49-F238E27FC236}">
                <a16:creationId xmlns:a16="http://schemas.microsoft.com/office/drawing/2014/main" id="{46FD57B0-9D73-BE57-DAF0-086353C31D9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71999" y="2099593"/>
            <a:ext cx="360000" cy="360000"/>
          </a:xfrm>
          <a:prstGeom prst="rect">
            <a:avLst/>
          </a:prstGeom>
        </p:spPr>
      </p:pic>
      <p:sp>
        <p:nvSpPr>
          <p:cNvPr id="21" name="Freeform 45">
            <a:extLst>
              <a:ext uri="{FF2B5EF4-FFF2-40B4-BE49-F238E27FC236}">
                <a16:creationId xmlns:a16="http://schemas.microsoft.com/office/drawing/2014/main" id="{41F0A645-8F46-FE24-0B05-9FEB92382F1B}"/>
              </a:ext>
            </a:extLst>
          </p:cNvPr>
          <p:cNvSpPr>
            <a:spLocks/>
          </p:cNvSpPr>
          <p:nvPr/>
        </p:nvSpPr>
        <p:spPr bwMode="auto">
          <a:xfrm>
            <a:off x="2459313" y="3521041"/>
            <a:ext cx="1116000" cy="489960"/>
          </a:xfrm>
          <a:custGeom>
            <a:avLst/>
            <a:gdLst>
              <a:gd name="T0" fmla="*/ 0 w 1033"/>
              <a:gd name="T1" fmla="*/ 0 h 457"/>
              <a:gd name="T2" fmla="*/ 1155 w 1033"/>
              <a:gd name="T3" fmla="*/ 152 h 457"/>
              <a:gd name="T4" fmla="*/ 1155 w 1033"/>
              <a:gd name="T5" fmla="*/ 489 h 457"/>
              <a:gd name="T6" fmla="*/ 0 w 1033"/>
              <a:gd name="T7" fmla="*/ 337 h 457"/>
              <a:gd name="T8" fmla="*/ 0 w 1033"/>
              <a:gd name="T9" fmla="*/ 0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3" h="457">
                <a:moveTo>
                  <a:pt x="0" y="0"/>
                </a:moveTo>
                <a:lnTo>
                  <a:pt x="1032" y="142"/>
                </a:lnTo>
                <a:lnTo>
                  <a:pt x="1032" y="456"/>
                </a:lnTo>
                <a:lnTo>
                  <a:pt x="0" y="314"/>
                </a:lnTo>
                <a:lnTo>
                  <a:pt x="0" y="0"/>
                </a:lnTo>
              </a:path>
            </a:pathLst>
          </a:custGeom>
          <a:solidFill>
            <a:schemeClr val="accent3">
              <a:lumMod val="20000"/>
              <a:lumOff val="80000"/>
            </a:schemeClr>
          </a:solidFill>
          <a:ln w="19050" cap="rnd" cmpd="sng">
            <a:noFill/>
            <a:prstDash val="solid"/>
            <a:round/>
            <a:headEnd type="none" w="med" len="med"/>
            <a:tailEnd type="none" w="med" len="med"/>
          </a:ln>
          <a:effectLst/>
        </p:spPr>
        <p:txBody>
          <a:bodyPr/>
          <a:lstStyle/>
          <a:p>
            <a:endParaRPr lang="zh-CN" altLang="en-US" sz="1200">
              <a:latin typeface="Montserrat" panose="00000500000000000000" pitchFamily="2" charset="0"/>
              <a:ea typeface="微软雅黑 Light" panose="020B0502040204020203" pitchFamily="34" charset="-122"/>
            </a:endParaRPr>
          </a:p>
        </p:txBody>
      </p:sp>
      <p:sp>
        <p:nvSpPr>
          <p:cNvPr id="24" name="AutoShape 46">
            <a:extLst>
              <a:ext uri="{FF2B5EF4-FFF2-40B4-BE49-F238E27FC236}">
                <a16:creationId xmlns:a16="http://schemas.microsoft.com/office/drawing/2014/main" id="{7C4C1FAA-0325-3C97-1534-EAA1AFC8F2A7}"/>
              </a:ext>
            </a:extLst>
          </p:cNvPr>
          <p:cNvSpPr>
            <a:spLocks noChangeArrowheads="1"/>
          </p:cNvSpPr>
          <p:nvPr/>
        </p:nvSpPr>
        <p:spPr bwMode="auto">
          <a:xfrm rot="480000">
            <a:off x="3163781" y="3759022"/>
            <a:ext cx="312974" cy="99992"/>
          </a:xfrm>
          <a:prstGeom prst="rightArrow">
            <a:avLst>
              <a:gd name="adj1" fmla="val 50000"/>
              <a:gd name="adj2" fmla="val 156514"/>
            </a:avLst>
          </a:prstGeom>
          <a:solidFill>
            <a:schemeClr val="tx2">
              <a:lumMod val="60000"/>
              <a:lumOff val="40000"/>
            </a:schemeClr>
          </a:solidFill>
          <a:ln w="12700">
            <a:noFill/>
            <a:miter lim="800000"/>
            <a:headEnd/>
            <a:tailEnd/>
          </a:ln>
          <a:effectLst/>
        </p:spPr>
        <p:txBody>
          <a:bodyPr wrap="none" anchor="ctr"/>
          <a:lstStyle/>
          <a:p>
            <a:endParaRPr lang="zh-CN" altLang="en-US" sz="1200">
              <a:latin typeface="Montserrat" panose="00000500000000000000" pitchFamily="2" charset="0"/>
              <a:ea typeface="微软雅黑 Light" panose="020B0502040204020203" pitchFamily="34" charset="-122"/>
            </a:endParaRPr>
          </a:p>
        </p:txBody>
      </p:sp>
      <p:sp>
        <p:nvSpPr>
          <p:cNvPr id="25" name="Rectangle 47">
            <a:extLst>
              <a:ext uri="{FF2B5EF4-FFF2-40B4-BE49-F238E27FC236}">
                <a16:creationId xmlns:a16="http://schemas.microsoft.com/office/drawing/2014/main" id="{92A2FEE6-98A0-6F14-D57A-375C523A4739}"/>
              </a:ext>
            </a:extLst>
          </p:cNvPr>
          <p:cNvSpPr>
            <a:spLocks noChangeArrowheads="1"/>
          </p:cNvSpPr>
          <p:nvPr/>
        </p:nvSpPr>
        <p:spPr bwMode="auto">
          <a:xfrm rot="540000">
            <a:off x="2668945" y="3604806"/>
            <a:ext cx="384722" cy="274434"/>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lang="en-US" altLang="zh-CN" sz="1200" b="1" dirty="0">
                <a:latin typeface="Montserrat" panose="00000500000000000000" pitchFamily="2" charset="0"/>
                <a:ea typeface="微软雅黑 Light" panose="020B0502040204020203" pitchFamily="34" charset="-122"/>
              </a:rPr>
              <a:t>M</a:t>
            </a:r>
            <a:r>
              <a:rPr lang="en-US" altLang="zh-CN" sz="1200" b="1" baseline="-25000" dirty="0">
                <a:latin typeface="Montserrat" panose="00000500000000000000" pitchFamily="2" charset="0"/>
                <a:ea typeface="微软雅黑 Light" panose="020B0502040204020203" pitchFamily="34" charset="-122"/>
              </a:rPr>
              <a:t>2</a:t>
            </a:r>
          </a:p>
        </p:txBody>
      </p:sp>
      <p:sp>
        <p:nvSpPr>
          <p:cNvPr id="26" name="TextBox 86">
            <a:extLst>
              <a:ext uri="{FF2B5EF4-FFF2-40B4-BE49-F238E27FC236}">
                <a16:creationId xmlns:a16="http://schemas.microsoft.com/office/drawing/2014/main" id="{B731CAC9-AF66-8F40-2509-EA7262D5A790}"/>
              </a:ext>
            </a:extLst>
          </p:cNvPr>
          <p:cNvSpPr txBox="1"/>
          <p:nvPr/>
        </p:nvSpPr>
        <p:spPr>
          <a:xfrm>
            <a:off x="3575313" y="2165138"/>
            <a:ext cx="715260" cy="276999"/>
          </a:xfrm>
          <a:prstGeom prst="rect">
            <a:avLst/>
          </a:prstGeom>
          <a:noFill/>
        </p:spPr>
        <p:txBody>
          <a:bodyPr wrap="none" rtlCol="0">
            <a:spAutoFit/>
          </a:bodyPr>
          <a:lstStyle/>
          <a:p>
            <a:pPr defTabSz="762000" eaLnBrk="0" hangingPunct="0"/>
            <a:r>
              <a:rPr lang="zh-CN" altLang="en-US" sz="1200" dirty="0">
                <a:latin typeface="微软雅黑 Light" panose="020B0502040204020203" pitchFamily="34" charset="-122"/>
                <a:ea typeface="微软雅黑 Light" panose="020B0502040204020203" pitchFamily="34" charset="-122"/>
              </a:rPr>
              <a:t>确认 </a:t>
            </a:r>
            <a:r>
              <a:rPr lang="en-US" altLang="zh-CN" sz="1200" dirty="0">
                <a:latin typeface="微软雅黑 Light" panose="020B0502040204020203" pitchFamily="34" charset="-122"/>
                <a:ea typeface="微软雅黑 Light" panose="020B0502040204020203" pitchFamily="34" charset="-122"/>
              </a:rPr>
              <a:t>M</a:t>
            </a:r>
            <a:r>
              <a:rPr lang="en-US" altLang="zh-CN" sz="1200" baseline="-25000" dirty="0">
                <a:latin typeface="微软雅黑 Light" panose="020B0502040204020203" pitchFamily="34" charset="-122"/>
                <a:ea typeface="微软雅黑 Light" panose="020B0502040204020203" pitchFamily="34" charset="-122"/>
              </a:rPr>
              <a:t>1</a:t>
            </a:r>
          </a:p>
        </p:txBody>
      </p:sp>
      <p:sp>
        <p:nvSpPr>
          <p:cNvPr id="27" name="TextBox 86">
            <a:extLst>
              <a:ext uri="{FF2B5EF4-FFF2-40B4-BE49-F238E27FC236}">
                <a16:creationId xmlns:a16="http://schemas.microsoft.com/office/drawing/2014/main" id="{4AC911D0-8A3D-A0DF-8B71-3C33B0E3FA2B}"/>
              </a:ext>
            </a:extLst>
          </p:cNvPr>
          <p:cNvSpPr txBox="1"/>
          <p:nvPr/>
        </p:nvSpPr>
        <p:spPr>
          <a:xfrm>
            <a:off x="3619857" y="2992108"/>
            <a:ext cx="982833" cy="461665"/>
          </a:xfrm>
          <a:prstGeom prst="rect">
            <a:avLst/>
          </a:prstGeom>
          <a:noFill/>
        </p:spPr>
        <p:txBody>
          <a:bodyPr wrap="none" rtlCol="0">
            <a:spAutoFit/>
          </a:bodyPr>
          <a:lstStyle/>
          <a:p>
            <a:pPr defTabSz="762000" eaLnBrk="0" hangingPunct="0"/>
            <a:r>
              <a:rPr lang="zh-CN" altLang="en-US" sz="1200" dirty="0">
                <a:latin typeface="微软雅黑 Light" panose="020B0502040204020203" pitchFamily="34" charset="-122"/>
                <a:ea typeface="微软雅黑 Light" panose="020B0502040204020203" pitchFamily="34" charset="-122"/>
              </a:rPr>
              <a:t>重复、丢弃</a:t>
            </a:r>
            <a:endParaRPr lang="en-US" altLang="zh-CN" sz="1200" dirty="0">
              <a:latin typeface="微软雅黑 Light" panose="020B0502040204020203" pitchFamily="34" charset="-122"/>
              <a:ea typeface="微软雅黑 Light" panose="020B0502040204020203" pitchFamily="34" charset="-122"/>
            </a:endParaRPr>
          </a:p>
          <a:p>
            <a:pPr defTabSz="762000" eaLnBrk="0" hangingPunct="0"/>
            <a:r>
              <a:rPr lang="zh-CN" altLang="en-US" sz="1200" dirty="0">
                <a:latin typeface="微软雅黑 Light" panose="020B0502040204020203" pitchFamily="34" charset="-122"/>
                <a:ea typeface="微软雅黑 Light" panose="020B0502040204020203" pitchFamily="34" charset="-122"/>
              </a:rPr>
              <a:t>确认 </a:t>
            </a:r>
            <a:r>
              <a:rPr lang="en-US" altLang="zh-CN" sz="1200" dirty="0">
                <a:latin typeface="微软雅黑 Light" panose="020B0502040204020203" pitchFamily="34" charset="-122"/>
                <a:ea typeface="微软雅黑 Light" panose="020B0502040204020203" pitchFamily="34" charset="-122"/>
              </a:rPr>
              <a:t>M</a:t>
            </a:r>
            <a:r>
              <a:rPr lang="en-US" altLang="zh-CN" sz="1200" baseline="-25000" dirty="0">
                <a:latin typeface="微软雅黑 Light" panose="020B0502040204020203" pitchFamily="34" charset="-122"/>
                <a:ea typeface="微软雅黑 Light" panose="020B0502040204020203" pitchFamily="34" charset="-122"/>
              </a:rPr>
              <a:t>1</a:t>
            </a:r>
          </a:p>
        </p:txBody>
      </p:sp>
      <p:sp>
        <p:nvSpPr>
          <p:cNvPr id="30" name="TextBox 86">
            <a:extLst>
              <a:ext uri="{FF2B5EF4-FFF2-40B4-BE49-F238E27FC236}">
                <a16:creationId xmlns:a16="http://schemas.microsoft.com/office/drawing/2014/main" id="{E2620326-DDC6-408A-386B-6CF66076CBFB}"/>
              </a:ext>
            </a:extLst>
          </p:cNvPr>
          <p:cNvSpPr txBox="1"/>
          <p:nvPr/>
        </p:nvSpPr>
        <p:spPr>
          <a:xfrm>
            <a:off x="1100729" y="3838320"/>
            <a:ext cx="1349921" cy="461665"/>
          </a:xfrm>
          <a:prstGeom prst="rect">
            <a:avLst/>
          </a:prstGeom>
          <a:noFill/>
        </p:spPr>
        <p:txBody>
          <a:bodyPr wrap="none" rtlCol="0">
            <a:spAutoFit/>
          </a:bodyPr>
          <a:lstStyle/>
          <a:p>
            <a:pPr algn="r" defTabSz="762000" eaLnBrk="0" hangingPunct="0"/>
            <a:r>
              <a:rPr lang="zh-CN" altLang="en-US" sz="1200" dirty="0">
                <a:latin typeface="微软雅黑 Light" panose="020B0502040204020203" pitchFamily="34" charset="-122"/>
                <a:ea typeface="微软雅黑 Light" panose="020B0502040204020203" pitchFamily="34" charset="-122"/>
              </a:rPr>
              <a:t>重复 </a:t>
            </a:r>
            <a:r>
              <a:rPr lang="en-US" altLang="zh-CN" sz="1200" dirty="0">
                <a:latin typeface="微软雅黑 Light" panose="020B0502040204020203" pitchFamily="34" charset="-122"/>
                <a:ea typeface="微软雅黑 Light" panose="020B0502040204020203" pitchFamily="34" charset="-122"/>
              </a:rPr>
              <a:t>ACK1</a:t>
            </a:r>
            <a:r>
              <a:rPr lang="zh-CN" altLang="en-US" sz="1200" dirty="0">
                <a:latin typeface="微软雅黑 Light" panose="020B0502040204020203" pitchFamily="34" charset="-122"/>
                <a:ea typeface="微软雅黑 Light" panose="020B0502040204020203" pitchFamily="34" charset="-122"/>
              </a:rPr>
              <a:t>，丢弃</a:t>
            </a:r>
          </a:p>
          <a:p>
            <a:pPr algn="r" defTabSz="762000" eaLnBrk="0" hangingPunct="0"/>
            <a:r>
              <a:rPr lang="zh-CN" altLang="en-US" sz="1200" dirty="0">
                <a:latin typeface="微软雅黑 Light" panose="020B0502040204020203" pitchFamily="34" charset="-122"/>
                <a:ea typeface="微软雅黑 Light" panose="020B0502040204020203" pitchFamily="34" charset="-122"/>
              </a:rPr>
              <a:t>等待 </a:t>
            </a:r>
            <a:r>
              <a:rPr lang="en-US" altLang="zh-CN" sz="1200" dirty="0">
                <a:latin typeface="微软雅黑 Light" panose="020B0502040204020203" pitchFamily="34" charset="-122"/>
                <a:ea typeface="微软雅黑 Light" panose="020B0502040204020203" pitchFamily="34" charset="-122"/>
              </a:rPr>
              <a:t>ACK2 </a:t>
            </a:r>
          </a:p>
        </p:txBody>
      </p:sp>
      <p:sp>
        <p:nvSpPr>
          <p:cNvPr id="31" name="Line 52">
            <a:extLst>
              <a:ext uri="{FF2B5EF4-FFF2-40B4-BE49-F238E27FC236}">
                <a16:creationId xmlns:a16="http://schemas.microsoft.com/office/drawing/2014/main" id="{4D3F3009-10AB-C497-FF54-7868C97C0A37}"/>
              </a:ext>
            </a:extLst>
          </p:cNvPr>
          <p:cNvSpPr>
            <a:spLocks noChangeShapeType="1"/>
          </p:cNvSpPr>
          <p:nvPr/>
        </p:nvSpPr>
        <p:spPr bwMode="auto">
          <a:xfrm flipH="1">
            <a:off x="2435256" y="2266841"/>
            <a:ext cx="1147737" cy="1744159"/>
          </a:xfrm>
          <a:prstGeom prst="line">
            <a:avLst/>
          </a:prstGeom>
          <a:noFill/>
          <a:ln w="12700">
            <a:solidFill>
              <a:srgbClr val="FF0000"/>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a:latin typeface="Montserrat" panose="00000500000000000000" pitchFamily="2" charset="0"/>
              <a:ea typeface="微软雅黑 Light" panose="020B0502040204020203" pitchFamily="34" charset="-122"/>
            </a:endParaRPr>
          </a:p>
        </p:txBody>
      </p:sp>
    </p:spTree>
    <p:extLst>
      <p:ext uri="{BB962C8B-B14F-4D97-AF65-F5344CB8AC3E}">
        <p14:creationId xmlns:p14="http://schemas.microsoft.com/office/powerpoint/2010/main" val="3970708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999"/>
                                          </p:stCondLst>
                                        </p:cTn>
                                        <p:tgtEl>
                                          <p:spTgt spid="26"/>
                                        </p:tgtEl>
                                        <p:attrNameLst>
                                          <p:attrName>style.visibility</p:attrName>
                                        </p:attrNameLst>
                                      </p:cBhvr>
                                      <p:to>
                                        <p:strVal val="visible"/>
                                      </p:to>
                                    </p:set>
                                  </p:childTnLst>
                                </p:cTn>
                              </p:par>
                              <p:par>
                                <p:cTn id="7" presetID="35" presetClass="emph" presetSubtype="0" repeatCount="3000" fill="hold" grpId="1" nodeType="withEffect">
                                  <p:stCondLst>
                                    <p:cond delay="0"/>
                                  </p:stCondLst>
                                  <p:childTnLst>
                                    <p:anim calcmode="discrete" valueType="str">
                                      <p:cBhvr>
                                        <p:cTn id="8" dur="500" fill="hold"/>
                                        <p:tgtEl>
                                          <p:spTgt spid="26"/>
                                        </p:tgtEl>
                                        <p:attrNameLst>
                                          <p:attrName>style.visibility</p:attrName>
                                        </p:attrNameLst>
                                      </p:cBhvr>
                                      <p:tavLst>
                                        <p:tav tm="0">
                                          <p:val>
                                            <p:strVal val="hidden"/>
                                          </p:val>
                                        </p:tav>
                                        <p:tav tm="50000">
                                          <p:val>
                                            <p:strVal val="visible"/>
                                          </p:val>
                                        </p:tav>
                                      </p:tavLst>
                                    </p:anim>
                                  </p:childTnLst>
                                </p:cTn>
                              </p:par>
                            </p:childTnLst>
                          </p:cTn>
                        </p:par>
                        <p:par>
                          <p:cTn id="9" fill="hold">
                            <p:stCondLst>
                              <p:cond delay="1500"/>
                            </p:stCondLst>
                            <p:childTnLst>
                              <p:par>
                                <p:cTn id="10" presetID="1" presetClass="entr" presetSubtype="0" fill="hold" grpId="0" nodeType="afterEffect">
                                  <p:stCondLst>
                                    <p:cond delay="0"/>
                                  </p:stCondLst>
                                  <p:childTnLst>
                                    <p:set>
                                      <p:cBhvr>
                                        <p:cTn id="11" dur="1" fill="hold">
                                          <p:stCondLst>
                                            <p:cond delay="999"/>
                                          </p:stCondLst>
                                        </p:cTn>
                                        <p:tgtEl>
                                          <p:spTgt spid="27"/>
                                        </p:tgtEl>
                                        <p:attrNameLst>
                                          <p:attrName>style.visibility</p:attrName>
                                        </p:attrNameLst>
                                      </p:cBhvr>
                                      <p:to>
                                        <p:strVal val="visible"/>
                                      </p:to>
                                    </p:set>
                                  </p:childTnLst>
                                </p:cTn>
                              </p:par>
                              <p:par>
                                <p:cTn id="12" presetID="35" presetClass="emph" presetSubtype="0" repeatCount="3000" fill="hold" grpId="1" nodeType="withEffect">
                                  <p:stCondLst>
                                    <p:cond delay="0"/>
                                  </p:stCondLst>
                                  <p:childTnLst>
                                    <p:anim calcmode="discrete" valueType="str">
                                      <p:cBhvr>
                                        <p:cTn id="13" dur="500" fill="hold"/>
                                        <p:tgtEl>
                                          <p:spTgt spid="27"/>
                                        </p:tgtEl>
                                        <p:attrNameLst>
                                          <p:attrName>style.visibility</p:attrName>
                                        </p:attrNameLst>
                                      </p:cBhvr>
                                      <p:tavLst>
                                        <p:tav tm="0">
                                          <p:val>
                                            <p:strVal val="hidden"/>
                                          </p:val>
                                        </p:tav>
                                        <p:tav tm="50000">
                                          <p:val>
                                            <p:strVal val="visible"/>
                                          </p:val>
                                        </p:tav>
                                      </p:tavLst>
                                    </p:anim>
                                  </p:childTnLst>
                                </p:cTn>
                              </p:par>
                            </p:childTnLst>
                          </p:cTn>
                        </p:par>
                        <p:par>
                          <p:cTn id="14" fill="hold">
                            <p:stCondLst>
                              <p:cond delay="3000"/>
                            </p:stCondLst>
                            <p:childTnLst>
                              <p:par>
                                <p:cTn id="15" presetID="1" presetClass="entr" presetSubtype="0" fill="hold" grpId="0" nodeType="afterEffect">
                                  <p:stCondLst>
                                    <p:cond delay="0"/>
                                  </p:stCondLst>
                                  <p:childTnLst>
                                    <p:set>
                                      <p:cBhvr>
                                        <p:cTn id="16" dur="1" fill="hold">
                                          <p:stCondLst>
                                            <p:cond delay="999"/>
                                          </p:stCondLst>
                                        </p:cTn>
                                        <p:tgtEl>
                                          <p:spTgt spid="30"/>
                                        </p:tgtEl>
                                        <p:attrNameLst>
                                          <p:attrName>style.visibility</p:attrName>
                                        </p:attrNameLst>
                                      </p:cBhvr>
                                      <p:to>
                                        <p:strVal val="visible"/>
                                      </p:to>
                                    </p:set>
                                  </p:childTnLst>
                                </p:cTn>
                              </p:par>
                              <p:par>
                                <p:cTn id="17" presetID="35" presetClass="emph" presetSubtype="0" repeatCount="3000" fill="hold" grpId="1" nodeType="withEffect">
                                  <p:stCondLst>
                                    <p:cond delay="0"/>
                                  </p:stCondLst>
                                  <p:childTnLst>
                                    <p:anim calcmode="discrete" valueType="str">
                                      <p:cBhvr>
                                        <p:cTn id="18" dur="500" fill="hold"/>
                                        <p:tgtEl>
                                          <p:spTgt spid="3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P spid="27" grpId="0"/>
      <p:bldP spid="27" grpId="1"/>
      <p:bldP spid="30" grpId="0"/>
      <p:bldP spid="30"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Box 155"/>
          <p:cNvSpPr txBox="1">
            <a:spLocks noChangeArrowheads="1"/>
          </p:cNvSpPr>
          <p:nvPr/>
        </p:nvSpPr>
        <p:spPr bwMode="auto">
          <a:xfrm>
            <a:off x="1846729" y="3890323"/>
            <a:ext cx="5844989" cy="397032"/>
          </a:xfrm>
          <a:prstGeom prst="rect">
            <a:avLst/>
          </a:prstGeom>
          <a:solidFill>
            <a:srgbClr val="000099"/>
          </a:solidFill>
          <a:ln w="9525">
            <a:solidFill>
              <a:schemeClr val="tx1"/>
            </a:solidFill>
            <a:miter lim="800000"/>
            <a:headEnd/>
            <a:tailEnd/>
          </a:ln>
          <a:effectLst/>
        </p:spPr>
        <p:txBody>
          <a:bodyPr wrap="square">
            <a:spAutoFit/>
          </a:bodyPr>
          <a:lstStyle/>
          <a:p>
            <a:pPr algn="ctr">
              <a:lnSpc>
                <a:spcPct val="110000"/>
              </a:lnSpc>
            </a:pPr>
            <a:r>
              <a:rPr lang="zh-CN" altLang="en-US" b="1" dirty="0">
                <a:solidFill>
                  <a:srgbClr val="FFC000"/>
                </a:solidFill>
                <a:latin typeface="微软雅黑" pitchFamily="34" charset="-122"/>
                <a:ea typeface="微软雅黑" pitchFamily="34" charset="-122"/>
              </a:rPr>
              <a:t>优点：</a:t>
            </a:r>
            <a:r>
              <a:rPr lang="zh-CN" altLang="en-US" b="1" dirty="0">
                <a:solidFill>
                  <a:schemeClr val="bg1"/>
                </a:solidFill>
                <a:latin typeface="微软雅黑" pitchFamily="34" charset="-122"/>
                <a:ea typeface="微软雅黑" pitchFamily="34" charset="-122"/>
              </a:rPr>
              <a:t>简单。</a:t>
            </a:r>
            <a:r>
              <a:rPr lang="zh-CN" altLang="en-US" b="1" dirty="0">
                <a:solidFill>
                  <a:srgbClr val="FFC000"/>
                </a:solidFill>
                <a:latin typeface="微软雅黑" pitchFamily="34" charset="-122"/>
                <a:ea typeface="微软雅黑" pitchFamily="34" charset="-122"/>
              </a:rPr>
              <a:t>缺点：</a:t>
            </a:r>
            <a:r>
              <a:rPr lang="zh-CN" altLang="en-US" b="1" dirty="0">
                <a:solidFill>
                  <a:schemeClr val="bg1"/>
                </a:solidFill>
                <a:latin typeface="微软雅黑" pitchFamily="34" charset="-122"/>
                <a:ea typeface="微软雅黑" pitchFamily="34" charset="-122"/>
              </a:rPr>
              <a:t>信道利用率太低。</a:t>
            </a:r>
          </a:p>
        </p:txBody>
      </p:sp>
      <p:sp>
        <p:nvSpPr>
          <p:cNvPr id="28" name="Text Box 4"/>
          <p:cNvSpPr txBox="1">
            <a:spLocks noChangeArrowheads="1"/>
          </p:cNvSpPr>
          <p:nvPr/>
        </p:nvSpPr>
        <p:spPr bwMode="auto">
          <a:xfrm>
            <a:off x="2430781" y="2044553"/>
            <a:ext cx="36260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i="1" dirty="0">
                <a:latin typeface="微软雅黑" pitchFamily="34" charset="-122"/>
                <a:ea typeface="微软雅黑" pitchFamily="34" charset="-122"/>
              </a:rPr>
              <a:t>T</a:t>
            </a:r>
            <a:r>
              <a:rPr lang="en-US" altLang="zh-CN" sz="1200" b="1" i="1" baseline="-25000" dirty="0">
                <a:latin typeface="微软雅黑" pitchFamily="34" charset="-122"/>
                <a:ea typeface="微软雅黑" pitchFamily="34" charset="-122"/>
              </a:rPr>
              <a:t>D</a:t>
            </a:r>
          </a:p>
        </p:txBody>
      </p:sp>
      <p:sp>
        <p:nvSpPr>
          <p:cNvPr id="29" name="Line 5"/>
          <p:cNvSpPr>
            <a:spLocks noChangeShapeType="1"/>
          </p:cNvSpPr>
          <p:nvPr/>
        </p:nvSpPr>
        <p:spPr bwMode="auto">
          <a:xfrm flipV="1">
            <a:off x="2524893"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6"/>
          <p:cNvSpPr>
            <a:spLocks noChangeShapeType="1"/>
          </p:cNvSpPr>
          <p:nvPr/>
        </p:nvSpPr>
        <p:spPr bwMode="auto">
          <a:xfrm>
            <a:off x="2733296"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7"/>
          <p:cNvSpPr>
            <a:spLocks noChangeShapeType="1"/>
          </p:cNvSpPr>
          <p:nvPr/>
        </p:nvSpPr>
        <p:spPr bwMode="auto">
          <a:xfrm>
            <a:off x="4560147" y="2091554"/>
            <a:ext cx="0" cy="220819"/>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2" name="Line 8"/>
          <p:cNvSpPr>
            <a:spLocks noChangeShapeType="1"/>
          </p:cNvSpPr>
          <p:nvPr/>
        </p:nvSpPr>
        <p:spPr bwMode="auto">
          <a:xfrm>
            <a:off x="2732409" y="2200634"/>
            <a:ext cx="1826851"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3" name="Text Box 9"/>
          <p:cNvSpPr txBox="1">
            <a:spLocks noChangeArrowheads="1"/>
          </p:cNvSpPr>
          <p:nvPr/>
        </p:nvSpPr>
        <p:spPr bwMode="auto">
          <a:xfrm>
            <a:off x="3397524" y="2057855"/>
            <a:ext cx="484235" cy="276999"/>
          </a:xfrm>
          <a:prstGeom prst="rect">
            <a:avLst/>
          </a:prstGeom>
          <a:solidFill>
            <a:srgbClr val="C3E3F9"/>
          </a:solidFill>
          <a:ln>
            <a:noFill/>
          </a:ln>
          <a:effectLst/>
        </p:spPr>
        <p:txBody>
          <a:bodyPr wrap="none">
            <a:spAutoFit/>
          </a:bodyPr>
          <a:lstStyle/>
          <a:p>
            <a:r>
              <a:rPr lang="en-US" altLang="zh-CN" sz="1200" b="1" dirty="0">
                <a:solidFill>
                  <a:srgbClr val="C00000"/>
                </a:solidFill>
                <a:latin typeface="微软雅黑" pitchFamily="34" charset="-122"/>
                <a:ea typeface="微软雅黑" pitchFamily="34" charset="-122"/>
              </a:rPr>
              <a:t>RTT</a:t>
            </a:r>
          </a:p>
        </p:txBody>
      </p:sp>
      <p:sp>
        <p:nvSpPr>
          <p:cNvPr id="34" name="Line 10"/>
          <p:cNvSpPr>
            <a:spLocks noChangeShapeType="1"/>
          </p:cNvSpPr>
          <p:nvPr/>
        </p:nvSpPr>
        <p:spPr bwMode="auto">
          <a:xfrm rot="5400000" flipH="1" flipV="1">
            <a:off x="2399851" y="2076479"/>
            <a:ext cx="0" cy="24831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5" name="Text Box 11"/>
          <p:cNvSpPr txBox="1">
            <a:spLocks noChangeArrowheads="1"/>
          </p:cNvSpPr>
          <p:nvPr/>
        </p:nvSpPr>
        <p:spPr bwMode="auto">
          <a:xfrm>
            <a:off x="2126600" y="1900944"/>
            <a:ext cx="31931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A</a:t>
            </a:r>
          </a:p>
        </p:txBody>
      </p:sp>
      <p:sp>
        <p:nvSpPr>
          <p:cNvPr id="36" name="Line 12"/>
          <p:cNvSpPr>
            <a:spLocks noChangeShapeType="1"/>
          </p:cNvSpPr>
          <p:nvPr/>
        </p:nvSpPr>
        <p:spPr bwMode="auto">
          <a:xfrm flipV="1">
            <a:off x="4601827" y="2056969"/>
            <a:ext cx="0" cy="443410"/>
          </a:xfrm>
          <a:prstGeom prst="line">
            <a:avLst/>
          </a:prstGeom>
          <a:noFill/>
          <a:ln w="19050">
            <a:solidFill>
              <a:schemeClr val="tx1"/>
            </a:solidFill>
            <a:round/>
            <a:headEn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Line 13"/>
          <p:cNvSpPr>
            <a:spLocks noChangeShapeType="1"/>
          </p:cNvSpPr>
          <p:nvPr/>
        </p:nvSpPr>
        <p:spPr bwMode="auto">
          <a:xfrm>
            <a:off x="2524893" y="2423225"/>
            <a:ext cx="2076934"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8" name="Text Box 14"/>
          <p:cNvSpPr txBox="1">
            <a:spLocks noChangeArrowheads="1"/>
          </p:cNvSpPr>
          <p:nvPr/>
        </p:nvSpPr>
        <p:spPr bwMode="auto">
          <a:xfrm>
            <a:off x="2957661" y="2299957"/>
            <a:ext cx="1243610" cy="276999"/>
          </a:xfrm>
          <a:prstGeom prst="rect">
            <a:avLst/>
          </a:prstGeom>
          <a:solidFill>
            <a:srgbClr val="C3E3F9"/>
          </a:solidFill>
          <a:ln>
            <a:noFill/>
          </a:ln>
          <a:effectLst/>
        </p:spPr>
        <p:txBody>
          <a:bodyPr wrap="none">
            <a:spAutoFit/>
          </a:bodyPr>
          <a:lstStyle/>
          <a:p>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D</a:t>
            </a:r>
            <a:r>
              <a:rPr lang="en-US" altLang="zh-CN" sz="1200" b="1" dirty="0">
                <a:solidFill>
                  <a:srgbClr val="0000FF"/>
                </a:solidFill>
                <a:latin typeface="微软雅黑" pitchFamily="34" charset="-122"/>
                <a:ea typeface="微软雅黑" pitchFamily="34" charset="-122"/>
              </a:rPr>
              <a:t> + RTT + </a:t>
            </a:r>
            <a:r>
              <a:rPr lang="en-US" altLang="zh-CN" sz="1200" b="1" i="1" dirty="0">
                <a:solidFill>
                  <a:srgbClr val="0000FF"/>
                </a:solidFill>
                <a:latin typeface="微软雅黑" pitchFamily="34" charset="-122"/>
                <a:ea typeface="微软雅黑" pitchFamily="34" charset="-122"/>
              </a:rPr>
              <a:t>T</a:t>
            </a:r>
            <a:r>
              <a:rPr lang="en-US" altLang="zh-CN" sz="1200" b="1" i="1" baseline="-25000" dirty="0">
                <a:solidFill>
                  <a:srgbClr val="0000FF"/>
                </a:solidFill>
                <a:latin typeface="微软雅黑" pitchFamily="34" charset="-122"/>
                <a:ea typeface="微软雅黑" pitchFamily="34" charset="-122"/>
              </a:rPr>
              <a:t>A</a:t>
            </a:r>
          </a:p>
        </p:txBody>
      </p:sp>
      <p:sp>
        <p:nvSpPr>
          <p:cNvPr id="39" name="Freeform 16"/>
          <p:cNvSpPr>
            <a:spLocks/>
          </p:cNvSpPr>
          <p:nvPr/>
        </p:nvSpPr>
        <p:spPr bwMode="auto">
          <a:xfrm>
            <a:off x="2524893" y="1247301"/>
            <a:ext cx="1116508" cy="809668"/>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17"/>
          <p:cNvSpPr txBox="1">
            <a:spLocks noChangeArrowheads="1"/>
          </p:cNvSpPr>
          <p:nvPr/>
        </p:nvSpPr>
        <p:spPr bwMode="auto">
          <a:xfrm>
            <a:off x="2134581" y="1107239"/>
            <a:ext cx="30809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latin typeface="微软雅黑" pitchFamily="34" charset="-122"/>
                <a:ea typeface="微软雅黑" pitchFamily="34" charset="-122"/>
              </a:rPr>
              <a:t>B</a:t>
            </a:r>
          </a:p>
        </p:txBody>
      </p:sp>
      <p:sp>
        <p:nvSpPr>
          <p:cNvPr id="41" name="Line 18"/>
          <p:cNvSpPr>
            <a:spLocks noChangeShapeType="1"/>
          </p:cNvSpPr>
          <p:nvPr/>
        </p:nvSpPr>
        <p:spPr bwMode="auto">
          <a:xfrm flipV="1">
            <a:off x="2524893" y="1249074"/>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2" name="Line 19"/>
          <p:cNvSpPr>
            <a:spLocks noChangeShapeType="1"/>
          </p:cNvSpPr>
          <p:nvPr/>
        </p:nvSpPr>
        <p:spPr bwMode="auto">
          <a:xfrm flipV="1">
            <a:off x="2732409" y="1249074"/>
            <a:ext cx="912539"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3" name="Text Box 22"/>
          <p:cNvSpPr txBox="1">
            <a:spLocks noChangeArrowheads="1"/>
          </p:cNvSpPr>
          <p:nvPr/>
        </p:nvSpPr>
        <p:spPr bwMode="auto">
          <a:xfrm rot="19131970">
            <a:off x="2464974" y="1535050"/>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分组</a:t>
            </a:r>
          </a:p>
        </p:txBody>
      </p:sp>
      <p:sp>
        <p:nvSpPr>
          <p:cNvPr id="44" name="Text Box 23"/>
          <p:cNvSpPr txBox="1">
            <a:spLocks noChangeArrowheads="1"/>
          </p:cNvSpPr>
          <p:nvPr/>
        </p:nvSpPr>
        <p:spPr bwMode="auto">
          <a:xfrm rot="2307784">
            <a:off x="3852848" y="1319552"/>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45" name="Text Box 24"/>
          <p:cNvSpPr txBox="1">
            <a:spLocks noChangeArrowheads="1"/>
          </p:cNvSpPr>
          <p:nvPr/>
        </p:nvSpPr>
        <p:spPr bwMode="auto">
          <a:xfrm>
            <a:off x="6803803" y="1107239"/>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dirty="0">
                <a:latin typeface="微软雅黑" pitchFamily="34" charset="-122"/>
                <a:ea typeface="微软雅黑" pitchFamily="34" charset="-122"/>
              </a:rPr>
              <a:t>t</a:t>
            </a:r>
          </a:p>
        </p:txBody>
      </p:sp>
      <p:sp>
        <p:nvSpPr>
          <p:cNvPr id="46" name="Text Box 25"/>
          <p:cNvSpPr txBox="1">
            <a:spLocks noChangeArrowheads="1"/>
          </p:cNvSpPr>
          <p:nvPr/>
        </p:nvSpPr>
        <p:spPr bwMode="auto">
          <a:xfrm>
            <a:off x="6803803" y="1879604"/>
            <a:ext cx="25840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i="1" dirty="0">
                <a:latin typeface="微软雅黑" pitchFamily="34" charset="-122"/>
                <a:ea typeface="微软雅黑" pitchFamily="34" charset="-122"/>
              </a:rPr>
              <a:t>t</a:t>
            </a:r>
          </a:p>
        </p:txBody>
      </p:sp>
      <p:sp>
        <p:nvSpPr>
          <p:cNvPr id="47" name="Line 26"/>
          <p:cNvSpPr>
            <a:spLocks noChangeShapeType="1"/>
          </p:cNvSpPr>
          <p:nvPr/>
        </p:nvSpPr>
        <p:spPr bwMode="auto">
          <a:xfrm>
            <a:off x="4269269" y="1653465"/>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Line 27"/>
          <p:cNvSpPr>
            <a:spLocks noChangeShapeType="1"/>
          </p:cNvSpPr>
          <p:nvPr/>
        </p:nvSpPr>
        <p:spPr bwMode="auto">
          <a:xfrm rot="15894661">
            <a:off x="2953671" y="1441071"/>
            <a:ext cx="128589" cy="172043"/>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9" name="Freeform 28"/>
          <p:cNvSpPr>
            <a:spLocks/>
          </p:cNvSpPr>
          <p:nvPr/>
        </p:nvSpPr>
        <p:spPr bwMode="auto">
          <a:xfrm>
            <a:off x="574690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0" name="Freeform 29"/>
          <p:cNvSpPr>
            <a:spLocks/>
          </p:cNvSpPr>
          <p:nvPr/>
        </p:nvSpPr>
        <p:spPr bwMode="auto">
          <a:xfrm>
            <a:off x="4618677" y="1249074"/>
            <a:ext cx="1116507" cy="810554"/>
          </a:xfrm>
          <a:custGeom>
            <a:avLst/>
            <a:gdLst>
              <a:gd name="T0" fmla="*/ 0 w 1218"/>
              <a:gd name="T1" fmla="*/ 1091 h 1091"/>
              <a:gd name="T2" fmla="*/ 997 w 1218"/>
              <a:gd name="T3" fmla="*/ 3 h 1091"/>
              <a:gd name="T4" fmla="*/ 1218 w 1218"/>
              <a:gd name="T5" fmla="*/ 0 h 1091"/>
              <a:gd name="T6" fmla="*/ 225 w 1218"/>
              <a:gd name="T7" fmla="*/ 1086 h 1091"/>
              <a:gd name="T8" fmla="*/ 0 w 1218"/>
              <a:gd name="T9" fmla="*/ 1091 h 1091"/>
            </a:gdLst>
            <a:ahLst/>
            <a:cxnLst>
              <a:cxn ang="0">
                <a:pos x="T0" y="T1"/>
              </a:cxn>
              <a:cxn ang="0">
                <a:pos x="T2" y="T3"/>
              </a:cxn>
              <a:cxn ang="0">
                <a:pos x="T4" y="T5"/>
              </a:cxn>
              <a:cxn ang="0">
                <a:pos x="T6" y="T7"/>
              </a:cxn>
              <a:cxn ang="0">
                <a:pos x="T8" y="T9"/>
              </a:cxn>
            </a:cxnLst>
            <a:rect l="0" t="0" r="r" b="b"/>
            <a:pathLst>
              <a:path w="1218" h="1091">
                <a:moveTo>
                  <a:pt x="0" y="1091"/>
                </a:moveTo>
                <a:lnTo>
                  <a:pt x="997" y="3"/>
                </a:lnTo>
                <a:lnTo>
                  <a:pt x="1218" y="0"/>
                </a:lnTo>
                <a:lnTo>
                  <a:pt x="225" y="1086"/>
                </a:lnTo>
                <a:lnTo>
                  <a:pt x="0" y="1091"/>
                </a:lnTo>
                <a:close/>
              </a:path>
            </a:pathLst>
          </a:custGeom>
          <a:solidFill>
            <a:srgbClr val="FF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Line 30"/>
          <p:cNvSpPr>
            <a:spLocks noChangeShapeType="1"/>
          </p:cNvSpPr>
          <p:nvPr/>
        </p:nvSpPr>
        <p:spPr bwMode="auto">
          <a:xfrm flipV="1">
            <a:off x="4618677" y="1251735"/>
            <a:ext cx="913425"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31"/>
          <p:cNvSpPr>
            <a:spLocks noChangeShapeType="1"/>
          </p:cNvSpPr>
          <p:nvPr/>
        </p:nvSpPr>
        <p:spPr bwMode="auto">
          <a:xfrm flipV="1">
            <a:off x="4826193" y="1251735"/>
            <a:ext cx="912538" cy="8078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Text Box 34"/>
          <p:cNvSpPr txBox="1">
            <a:spLocks noChangeArrowheads="1"/>
          </p:cNvSpPr>
          <p:nvPr/>
        </p:nvSpPr>
        <p:spPr bwMode="auto">
          <a:xfrm rot="19044759">
            <a:off x="4516634" y="1576287"/>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分组</a:t>
            </a:r>
          </a:p>
        </p:txBody>
      </p:sp>
      <p:sp>
        <p:nvSpPr>
          <p:cNvPr id="56" name="Line 35"/>
          <p:cNvSpPr>
            <a:spLocks noChangeShapeType="1"/>
          </p:cNvSpPr>
          <p:nvPr/>
        </p:nvSpPr>
        <p:spPr bwMode="auto">
          <a:xfrm rot="15894661">
            <a:off x="5021293" y="1460138"/>
            <a:ext cx="128589" cy="171156"/>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Text Box 36"/>
          <p:cNvSpPr txBox="1">
            <a:spLocks noChangeArrowheads="1"/>
          </p:cNvSpPr>
          <p:nvPr/>
        </p:nvSpPr>
        <p:spPr bwMode="auto">
          <a:xfrm rot="2510398">
            <a:off x="5994520" y="1361233"/>
            <a:ext cx="543739" cy="30777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a:solidFill>
                  <a:srgbClr val="0000FF"/>
                </a:solidFill>
                <a:latin typeface="微软雅黑" pitchFamily="34" charset="-122"/>
                <a:ea typeface="微软雅黑" pitchFamily="34" charset="-122"/>
              </a:rPr>
              <a:t>确认</a:t>
            </a:r>
          </a:p>
        </p:txBody>
      </p:sp>
      <p:sp>
        <p:nvSpPr>
          <p:cNvPr id="58" name="Line 37"/>
          <p:cNvSpPr>
            <a:spLocks noChangeShapeType="1"/>
          </p:cNvSpPr>
          <p:nvPr/>
        </p:nvSpPr>
        <p:spPr bwMode="auto">
          <a:xfrm>
            <a:off x="6391431" y="1675636"/>
            <a:ext cx="158741" cy="138344"/>
          </a:xfrm>
          <a:prstGeom prst="line">
            <a:avLst/>
          </a:prstGeom>
          <a:noFill/>
          <a:ln w="28575">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38"/>
          <p:cNvSpPr>
            <a:spLocks noChangeShapeType="1"/>
          </p:cNvSpPr>
          <p:nvPr/>
        </p:nvSpPr>
        <p:spPr bwMode="auto">
          <a:xfrm>
            <a:off x="2398964" y="1249074"/>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39"/>
          <p:cNvSpPr>
            <a:spLocks noChangeShapeType="1"/>
          </p:cNvSpPr>
          <p:nvPr/>
        </p:nvSpPr>
        <p:spPr bwMode="auto">
          <a:xfrm>
            <a:off x="2398964" y="2056969"/>
            <a:ext cx="4420801"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Freeform 28"/>
          <p:cNvSpPr>
            <a:spLocks/>
          </p:cNvSpPr>
          <p:nvPr/>
        </p:nvSpPr>
        <p:spPr bwMode="auto">
          <a:xfrm>
            <a:off x="3638426" y="1249074"/>
            <a:ext cx="947124" cy="810554"/>
          </a:xfrm>
          <a:custGeom>
            <a:avLst/>
            <a:gdLst>
              <a:gd name="T0" fmla="*/ 0 w 1035"/>
              <a:gd name="T1" fmla="*/ 3 h 1091"/>
              <a:gd name="T2" fmla="*/ 998 w 1035"/>
              <a:gd name="T3" fmla="*/ 1091 h 1091"/>
              <a:gd name="T4" fmla="*/ 1035 w 1035"/>
              <a:gd name="T5" fmla="*/ 1083 h 1091"/>
              <a:gd name="T6" fmla="*/ 45 w 1035"/>
              <a:gd name="T7" fmla="*/ 0 h 1091"/>
              <a:gd name="T8" fmla="*/ 0 w 1035"/>
              <a:gd name="T9" fmla="*/ 3 h 1091"/>
            </a:gdLst>
            <a:ahLst/>
            <a:cxnLst>
              <a:cxn ang="0">
                <a:pos x="T0" y="T1"/>
              </a:cxn>
              <a:cxn ang="0">
                <a:pos x="T2" y="T3"/>
              </a:cxn>
              <a:cxn ang="0">
                <a:pos x="T4" y="T5"/>
              </a:cxn>
              <a:cxn ang="0">
                <a:pos x="T6" y="T7"/>
              </a:cxn>
              <a:cxn ang="0">
                <a:pos x="T8" y="T9"/>
              </a:cxn>
            </a:cxnLst>
            <a:rect l="0" t="0" r="r" b="b"/>
            <a:pathLst>
              <a:path w="1035" h="1091">
                <a:moveTo>
                  <a:pt x="0" y="3"/>
                </a:moveTo>
                <a:lnTo>
                  <a:pt x="998" y="1091"/>
                </a:lnTo>
                <a:lnTo>
                  <a:pt x="1035" y="1083"/>
                </a:lnTo>
                <a:lnTo>
                  <a:pt x="45" y="0"/>
                </a:lnTo>
                <a:lnTo>
                  <a:pt x="0" y="3"/>
                </a:lnTo>
                <a:close/>
              </a:path>
            </a:pathLst>
          </a:custGeom>
          <a:solidFill>
            <a:srgbClr val="0000FF"/>
          </a:solidFill>
          <a:ln>
            <a:noFill/>
          </a:ln>
          <a:effectLst/>
        </p:spPr>
        <p:txBody>
          <a:bodyPr/>
          <a:lstStyle/>
          <a:p>
            <a:endParaRPr lang="zh-CN" altLang="en-US" sz="1400" b="1">
              <a:solidFill>
                <a:srgbClr val="000099"/>
              </a:solidFill>
              <a:latin typeface="微软雅黑" pitchFamily="34" charset="-122"/>
              <a:ea typeface="微软雅黑" pitchFamily="34" charset="-122"/>
            </a:endParaRPr>
          </a:p>
        </p:txBody>
      </p:sp>
      <p:grpSp>
        <p:nvGrpSpPr>
          <p:cNvPr id="64" name="组合 63"/>
          <p:cNvGrpSpPr/>
          <p:nvPr/>
        </p:nvGrpSpPr>
        <p:grpSpPr>
          <a:xfrm>
            <a:off x="2024468" y="2623770"/>
            <a:ext cx="5095061" cy="643610"/>
            <a:chOff x="603552" y="5085184"/>
            <a:chExt cx="9120681" cy="1152128"/>
          </a:xfrm>
          <a:solidFill>
            <a:srgbClr val="FFFF99"/>
          </a:solidFill>
        </p:grpSpPr>
        <p:sp>
          <p:nvSpPr>
            <p:cNvPr id="65" name="矩形 64"/>
            <p:cNvSpPr/>
            <p:nvPr/>
          </p:nvSpPr>
          <p:spPr bwMode="auto">
            <a:xfrm>
              <a:off x="603552" y="5085184"/>
              <a:ext cx="9120681" cy="1152128"/>
            </a:xfrm>
            <a:prstGeom prst="rect">
              <a:avLst/>
            </a:prstGeom>
            <a:grp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600" b="0" i="0" u="none" strike="noStrike" cap="none" normalizeH="0" baseline="0" dirty="0">
                <a:ln>
                  <a:noFill/>
                </a:ln>
                <a:solidFill>
                  <a:schemeClr val="tx1"/>
                </a:solidFill>
                <a:effectLst/>
                <a:latin typeface="微软雅黑" pitchFamily="34" charset="-122"/>
                <a:ea typeface="微软雅黑" pitchFamily="34" charset="-122"/>
              </a:endParaRPr>
            </a:p>
          </p:txBody>
        </p:sp>
        <p:graphicFrame>
          <p:nvGraphicFramePr>
            <p:cNvPr id="66" name="Object 4"/>
            <p:cNvGraphicFramePr>
              <a:graphicFrameLocks noChangeAspect="1"/>
            </p:cNvGraphicFramePr>
            <p:nvPr>
              <p:extLst>
                <p:ext uri="{D42A27DB-BD31-4B8C-83A1-F6EECF244321}">
                  <p14:modId xmlns:p14="http://schemas.microsoft.com/office/powerpoint/2010/main" val="3646831734"/>
                </p:ext>
              </p:extLst>
            </p:nvPr>
          </p:nvGraphicFramePr>
          <p:xfrm>
            <a:off x="3361843" y="5109096"/>
            <a:ext cx="3175333" cy="1104600"/>
          </p:xfrm>
          <a:graphic>
            <a:graphicData uri="http://schemas.openxmlformats.org/presentationml/2006/ole">
              <mc:AlternateContent xmlns:mc="http://schemas.openxmlformats.org/markup-compatibility/2006">
                <mc:Choice xmlns:v="urn:schemas-microsoft-com:vml" Requires="v">
                  <p:oleObj name="公式" r:id="rId3" imgW="1091726" imgH="380835" progId="Equation.3">
                    <p:embed/>
                  </p:oleObj>
                </mc:Choice>
                <mc:Fallback>
                  <p:oleObj name="公式" r:id="rId3" imgW="1091726" imgH="380835" progId="Equation.3">
                    <p:embed/>
                    <p:pic>
                      <p:nvPicPr>
                        <p:cNvPr id="0" name="Picture 7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61843" y="5109096"/>
                          <a:ext cx="3175333" cy="1104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 name="Text Box 6"/>
            <p:cNvSpPr txBox="1">
              <a:spLocks noChangeArrowheads="1"/>
            </p:cNvSpPr>
            <p:nvPr/>
          </p:nvSpPr>
          <p:spPr bwMode="auto">
            <a:xfrm>
              <a:off x="8219829" y="5397242"/>
              <a:ext cx="1231607" cy="606046"/>
            </a:xfrm>
            <a:prstGeom prst="rect">
              <a:avLst/>
            </a:prstGeom>
            <a:grp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(5-3)</a:t>
              </a:r>
            </a:p>
          </p:txBody>
        </p:sp>
        <p:sp>
          <p:nvSpPr>
            <p:cNvPr id="68" name="TextBox 67"/>
            <p:cNvSpPr txBox="1"/>
            <p:nvPr/>
          </p:nvSpPr>
          <p:spPr>
            <a:xfrm>
              <a:off x="1050286" y="5399420"/>
              <a:ext cx="2167077" cy="606046"/>
            </a:xfrm>
            <a:prstGeom prst="rect">
              <a:avLst/>
            </a:prstGeom>
            <a:grpFill/>
            <a:ln>
              <a:noFill/>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defRPr sz="3200" b="1">
                  <a:solidFill>
                    <a:srgbClr val="003399"/>
                  </a:solidFill>
                  <a:latin typeface="+mn-lt"/>
                  <a:ea typeface="黑体" pitchFamily="2" charset="-122"/>
                </a:defRPr>
              </a:lvl1pPr>
            </a:lstStyle>
            <a:p>
              <a:r>
                <a:rPr lang="zh-CN" altLang="en-US" sz="1600" dirty="0">
                  <a:solidFill>
                    <a:schemeClr val="tx1"/>
                  </a:solidFill>
                  <a:latin typeface="微软雅黑" pitchFamily="34" charset="-122"/>
                  <a:ea typeface="微软雅黑" pitchFamily="34" charset="-122"/>
                </a:rPr>
                <a:t>信道利用率</a:t>
              </a:r>
            </a:p>
          </p:txBody>
        </p:sp>
      </p:grpSp>
      <p:sp>
        <p:nvSpPr>
          <p:cNvPr id="2" name="矩形 1"/>
          <p:cNvSpPr/>
          <p:nvPr/>
        </p:nvSpPr>
        <p:spPr>
          <a:xfrm>
            <a:off x="1344707" y="3350401"/>
            <a:ext cx="6714564" cy="338554"/>
          </a:xfrm>
          <a:prstGeom prst="rect">
            <a:avLst/>
          </a:prstGeom>
        </p:spPr>
        <p:txBody>
          <a:bodyPr wrap="square">
            <a:spAutoFit/>
          </a:bodyPr>
          <a:lstStyle/>
          <a:p>
            <a:r>
              <a:rPr lang="zh-CN" altLang="en-US" sz="1600" b="1" dirty="0">
                <a:latin typeface="微软雅黑" panose="020B0503020204020204" pitchFamily="34" charset="-122"/>
                <a:ea typeface="微软雅黑" panose="020B0503020204020204" pitchFamily="34" charset="-122"/>
              </a:rPr>
              <a:t>当往返时间 </a:t>
            </a:r>
            <a:r>
              <a:rPr lang="en-US" altLang="zh-CN" sz="1600" b="1" dirty="0">
                <a:latin typeface="微软雅黑" panose="020B0503020204020204" pitchFamily="34" charset="-122"/>
                <a:ea typeface="微软雅黑" panose="020B0503020204020204" pitchFamily="34" charset="-122"/>
              </a:rPr>
              <a:t>RTT </a:t>
            </a:r>
            <a:r>
              <a:rPr lang="zh-CN" altLang="en-US" sz="1600" b="1" dirty="0">
                <a:latin typeface="微软雅黑" panose="020B0503020204020204" pitchFamily="34" charset="-122"/>
                <a:ea typeface="微软雅黑" panose="020B0503020204020204" pitchFamily="34" charset="-122"/>
              </a:rPr>
              <a:t>远大于分组发送时间 </a:t>
            </a:r>
            <a:r>
              <a:rPr lang="en-US" altLang="zh-CN" sz="1600" b="1" dirty="0">
                <a:latin typeface="微软雅黑" panose="020B0503020204020204" pitchFamily="34" charset="-122"/>
                <a:ea typeface="微软雅黑" panose="020B0503020204020204" pitchFamily="34" charset="-122"/>
              </a:rPr>
              <a:t>T</a:t>
            </a:r>
            <a:r>
              <a:rPr lang="en-US" altLang="zh-CN" sz="1600" b="1" baseline="-25000" dirty="0">
                <a:latin typeface="微软雅黑" panose="020B0503020204020204" pitchFamily="34" charset="-122"/>
                <a:ea typeface="微软雅黑" panose="020B0503020204020204" pitchFamily="34" charset="-122"/>
              </a:rPr>
              <a:t>D</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时，信道的利用率会非常低。</a:t>
            </a:r>
          </a:p>
        </p:txBody>
      </p:sp>
      <p:sp>
        <p:nvSpPr>
          <p:cNvPr id="4" name="内容占位符 3">
            <a:extLst>
              <a:ext uri="{FF2B5EF4-FFF2-40B4-BE49-F238E27FC236}">
                <a16:creationId xmlns:a16="http://schemas.microsoft.com/office/drawing/2014/main" id="{17402EFC-556B-5CA5-C935-9D0C077CBAC1}"/>
              </a:ext>
            </a:extLst>
          </p:cNvPr>
          <p:cNvSpPr>
            <a:spLocks noGrp="1"/>
          </p:cNvSpPr>
          <p:nvPr>
            <p:ph sz="quarter" idx="11"/>
          </p:nvPr>
        </p:nvSpPr>
        <p:spPr/>
        <p:txBody>
          <a:bodyPr/>
          <a:lstStyle/>
          <a:p>
            <a:endParaRPr lang="zh-CN" altLang="en-US"/>
          </a:p>
        </p:txBody>
      </p:sp>
      <p:sp>
        <p:nvSpPr>
          <p:cNvPr id="6" name="标题 5">
            <a:extLst>
              <a:ext uri="{FF2B5EF4-FFF2-40B4-BE49-F238E27FC236}">
                <a16:creationId xmlns:a16="http://schemas.microsoft.com/office/drawing/2014/main" id="{0AD8D0C5-9B16-7DBD-4DDF-D60308163E5B}"/>
              </a:ext>
            </a:extLst>
          </p:cNvPr>
          <p:cNvSpPr>
            <a:spLocks noGrp="1"/>
          </p:cNvSpPr>
          <p:nvPr>
            <p:ph type="title"/>
          </p:nvPr>
        </p:nvSpPr>
        <p:spPr>
          <a:xfrm>
            <a:off x="2808000" y="144000"/>
            <a:ext cx="3528000" cy="338554"/>
          </a:xfrm>
        </p:spPr>
        <p:txBody>
          <a:bodyPr/>
          <a:lstStyle/>
          <a:p>
            <a:r>
              <a:rPr lang="en-US" altLang="zh-CN" dirty="0"/>
              <a:t>4. </a:t>
            </a:r>
            <a:r>
              <a:rPr lang="zh-CN" altLang="en-US" dirty="0"/>
              <a:t>信道利用率</a:t>
            </a:r>
          </a:p>
        </p:txBody>
      </p:sp>
    </p:spTree>
    <p:extLst>
      <p:ext uri="{BB962C8B-B14F-4D97-AF65-F5344CB8AC3E}">
        <p14:creationId xmlns:p14="http://schemas.microsoft.com/office/powerpoint/2010/main" val="10126033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77AC990-EF7B-DB4C-217C-5D9ADDB7646E}"/>
              </a:ext>
            </a:extLst>
          </p:cNvPr>
          <p:cNvSpPr>
            <a:spLocks noGrp="1"/>
          </p:cNvSpPr>
          <p:nvPr>
            <p:ph sz="quarter" idx="11"/>
          </p:nvPr>
        </p:nvSpPr>
        <p:spPr>
          <a:xfrm>
            <a:off x="486000" y="482554"/>
            <a:ext cx="8172000" cy="4120946"/>
          </a:xfrm>
        </p:spPr>
        <p:txBody>
          <a:bodyPr/>
          <a:lstStyle/>
          <a:p>
            <a:r>
              <a:rPr lang="zh-CN" altLang="en-US" dirty="0"/>
              <a:t>停止等待。发送方每次只发送一个分组。在收到确认后再发送下一个分组。</a:t>
            </a:r>
            <a:endParaRPr lang="en-US" altLang="zh-CN" dirty="0"/>
          </a:p>
          <a:p>
            <a:r>
              <a:rPr lang="zh-CN" altLang="en-US" dirty="0"/>
              <a:t>暂存：在发送完一个分组后，发送方必须暂存已发送的分组的副本，以备重发。</a:t>
            </a:r>
          </a:p>
          <a:p>
            <a:r>
              <a:rPr lang="zh-CN" altLang="en-US" dirty="0"/>
              <a:t>编号。对发送的每个分组和确认都进行编号。</a:t>
            </a:r>
            <a:endParaRPr lang="en-US" altLang="zh-CN" dirty="0"/>
          </a:p>
          <a:p>
            <a:r>
              <a:rPr lang="zh-CN" altLang="en-US" dirty="0"/>
              <a:t>超时重传。发送方为发送的每个分组设置一个超时计时器。若超时计时器超时位收到确认，发送方会自动超时重传分组。</a:t>
            </a:r>
            <a:endParaRPr lang="en-US" altLang="zh-CN" dirty="0"/>
          </a:p>
          <a:p>
            <a:r>
              <a:rPr lang="zh-CN" altLang="en-US" dirty="0"/>
              <a:t>超时计时器的重传时间应当比数据在分组传输的平均往返时间更长一些，防止不必要的重传。</a:t>
            </a:r>
          </a:p>
          <a:p>
            <a:r>
              <a:rPr lang="zh-CN" altLang="en-US" dirty="0"/>
              <a:t>简单，但信道利用率太低。</a:t>
            </a:r>
          </a:p>
          <a:p>
            <a:endParaRPr lang="zh-CN" altLang="en-US" dirty="0"/>
          </a:p>
        </p:txBody>
      </p:sp>
      <p:sp>
        <p:nvSpPr>
          <p:cNvPr id="5" name="标题 4">
            <a:extLst>
              <a:ext uri="{FF2B5EF4-FFF2-40B4-BE49-F238E27FC236}">
                <a16:creationId xmlns:a16="http://schemas.microsoft.com/office/drawing/2014/main" id="{1FD3B742-40EE-DECE-2034-CFB707F8FAE7}"/>
              </a:ext>
            </a:extLst>
          </p:cNvPr>
          <p:cNvSpPr>
            <a:spLocks noGrp="1"/>
          </p:cNvSpPr>
          <p:nvPr>
            <p:ph type="title"/>
          </p:nvPr>
        </p:nvSpPr>
        <p:spPr>
          <a:xfrm>
            <a:off x="2808000" y="144000"/>
            <a:ext cx="3528000" cy="338554"/>
          </a:xfrm>
        </p:spPr>
        <p:txBody>
          <a:bodyPr/>
          <a:lstStyle/>
          <a:p>
            <a:r>
              <a:rPr lang="zh-CN" altLang="en-US" dirty="0"/>
              <a:t>停止等待协议要点</a:t>
            </a:r>
          </a:p>
        </p:txBody>
      </p:sp>
    </p:spTree>
    <p:extLst>
      <p:ext uri="{BB962C8B-B14F-4D97-AF65-F5344CB8AC3E}">
        <p14:creationId xmlns:p14="http://schemas.microsoft.com/office/powerpoint/2010/main" val="7538128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7">
            <a:extLst>
              <a:ext uri="{FF2B5EF4-FFF2-40B4-BE49-F238E27FC236}">
                <a16:creationId xmlns:a16="http://schemas.microsoft.com/office/drawing/2014/main" id="{E3BB71BE-AB6E-0199-3176-8301163E6B32}"/>
              </a:ext>
            </a:extLst>
          </p:cNvPr>
          <p:cNvSpPr>
            <a:spLocks noGrp="1"/>
          </p:cNvSpPr>
          <p:nvPr>
            <p:ph type="title"/>
          </p:nvPr>
        </p:nvSpPr>
        <p:spPr>
          <a:xfrm>
            <a:off x="2808000" y="144000"/>
            <a:ext cx="3528000" cy="338554"/>
          </a:xfrm>
        </p:spPr>
        <p:txBody>
          <a:bodyPr/>
          <a:lstStyle/>
          <a:p>
            <a:r>
              <a:rPr lang="zh-CN" altLang="en-US" dirty="0"/>
              <a:t>提高传输效率：流水线传输</a:t>
            </a:r>
          </a:p>
        </p:txBody>
      </p:sp>
      <p:sp>
        <p:nvSpPr>
          <p:cNvPr id="25" name="Text Box 155"/>
          <p:cNvSpPr txBox="1">
            <a:spLocks noChangeArrowheads="1"/>
          </p:cNvSpPr>
          <p:nvPr/>
        </p:nvSpPr>
        <p:spPr bwMode="auto">
          <a:xfrm>
            <a:off x="2483225" y="3365643"/>
            <a:ext cx="4435888" cy="759182"/>
          </a:xfrm>
          <a:prstGeom prst="rect">
            <a:avLst/>
          </a:prstGeom>
          <a:solidFill>
            <a:srgbClr val="FFCC66"/>
          </a:solidFill>
          <a:ln w="9525">
            <a:solidFill>
              <a:schemeClr val="tx1"/>
            </a:solidFill>
            <a:miter lim="800000"/>
            <a:headEnd/>
            <a:tailEnd/>
          </a:ln>
          <a:effectLst/>
        </p:spPr>
        <p:txBody>
          <a:bodyPr wrap="square">
            <a:spAutoFit/>
          </a:bodyPr>
          <a:lstStyle/>
          <a:p>
            <a:pPr algn="ctr">
              <a:lnSpc>
                <a:spcPts val="2600"/>
              </a:lnSpc>
            </a:pPr>
            <a:r>
              <a:rPr lang="zh-CN" altLang="en-US" b="1" dirty="0">
                <a:latin typeface="微软雅黑" pitchFamily="34" charset="-122"/>
                <a:ea typeface="微软雅黑" pitchFamily="34" charset="-122"/>
              </a:rPr>
              <a:t>由于信道上一直有数据不间断地传送，</a:t>
            </a:r>
            <a:endParaRPr lang="en-US" altLang="zh-CN" b="1" dirty="0">
              <a:latin typeface="微软雅黑" pitchFamily="34" charset="-122"/>
              <a:ea typeface="微软雅黑" pitchFamily="34" charset="-122"/>
            </a:endParaRPr>
          </a:p>
          <a:p>
            <a:pPr algn="ctr">
              <a:lnSpc>
                <a:spcPts val="2600"/>
              </a:lnSpc>
            </a:pPr>
            <a:r>
              <a:rPr lang="zh-CN" altLang="en-US" b="1" dirty="0">
                <a:latin typeface="微软雅黑" pitchFamily="34" charset="-122"/>
                <a:ea typeface="微软雅黑" pitchFamily="34" charset="-122"/>
              </a:rPr>
              <a:t>流水线传输可获得很高的信道利用率。 </a:t>
            </a:r>
          </a:p>
        </p:txBody>
      </p:sp>
      <p:grpSp>
        <p:nvGrpSpPr>
          <p:cNvPr id="64" name="组合 63"/>
          <p:cNvGrpSpPr/>
          <p:nvPr/>
        </p:nvGrpSpPr>
        <p:grpSpPr>
          <a:xfrm>
            <a:off x="1211409" y="1027657"/>
            <a:ext cx="6790641" cy="1588776"/>
            <a:chOff x="667767" y="2780928"/>
            <a:chExt cx="8907112" cy="2083958"/>
          </a:xfrm>
        </p:grpSpPr>
        <p:sp>
          <p:nvSpPr>
            <p:cNvPr id="26" name="Freeform 4"/>
            <p:cNvSpPr>
              <a:spLocks/>
            </p:cNvSpPr>
            <p:nvPr/>
          </p:nvSpPr>
          <p:spPr bwMode="auto">
            <a:xfrm>
              <a:off x="1318642" y="3084140"/>
              <a:ext cx="7015162" cy="1627188"/>
            </a:xfrm>
            <a:custGeom>
              <a:avLst/>
              <a:gdLst>
                <a:gd name="T0" fmla="*/ 0 w 4131"/>
                <a:gd name="T1" fmla="*/ 1088 h 1088"/>
                <a:gd name="T2" fmla="*/ 987 w 4131"/>
                <a:gd name="T3" fmla="*/ 0 h 1088"/>
                <a:gd name="T4" fmla="*/ 4131 w 4131"/>
                <a:gd name="T5" fmla="*/ 6 h 1088"/>
                <a:gd name="T6" fmla="*/ 3165 w 4131"/>
                <a:gd name="T7" fmla="*/ 1080 h 1088"/>
                <a:gd name="T8" fmla="*/ 0 w 4131"/>
                <a:gd name="T9" fmla="*/ 1088 h 1088"/>
              </a:gdLst>
              <a:ahLst/>
              <a:cxnLst>
                <a:cxn ang="0">
                  <a:pos x="T0" y="T1"/>
                </a:cxn>
                <a:cxn ang="0">
                  <a:pos x="T2" y="T3"/>
                </a:cxn>
                <a:cxn ang="0">
                  <a:pos x="T4" y="T5"/>
                </a:cxn>
                <a:cxn ang="0">
                  <a:pos x="T6" y="T7"/>
                </a:cxn>
                <a:cxn ang="0">
                  <a:pos x="T8" y="T9"/>
                </a:cxn>
              </a:cxnLst>
              <a:rect l="0" t="0" r="r" b="b"/>
              <a:pathLst>
                <a:path w="4131" h="1088">
                  <a:moveTo>
                    <a:pt x="0" y="1088"/>
                  </a:moveTo>
                  <a:lnTo>
                    <a:pt x="987" y="0"/>
                  </a:lnTo>
                  <a:lnTo>
                    <a:pt x="4131" y="6"/>
                  </a:lnTo>
                  <a:lnTo>
                    <a:pt x="3165" y="1080"/>
                  </a:lnTo>
                  <a:lnTo>
                    <a:pt x="0" y="1088"/>
                  </a:lnTo>
                  <a:close/>
                </a:path>
              </a:pathLst>
            </a:custGeom>
            <a:solidFill>
              <a:srgbClr val="00FFFF"/>
            </a:solidFill>
            <a:ln>
              <a:noFill/>
            </a:ln>
            <a:effectLst/>
          </p:spPr>
          <p:txBody>
            <a:bodyPr/>
            <a:lstStyle/>
            <a:p>
              <a:endParaRPr lang="zh-CN" altLang="en-US" sz="1600" b="1">
                <a:latin typeface="微软雅黑" pitchFamily="34" charset="-122"/>
                <a:ea typeface="微软雅黑" pitchFamily="34" charset="-122"/>
              </a:endParaRPr>
            </a:p>
          </p:txBody>
        </p:sp>
        <p:sp>
          <p:nvSpPr>
            <p:cNvPr id="27" name="Line 5"/>
            <p:cNvSpPr>
              <a:spLocks noChangeShapeType="1"/>
            </p:cNvSpPr>
            <p:nvPr/>
          </p:nvSpPr>
          <p:spPr bwMode="auto">
            <a:xfrm>
              <a:off x="1044004" y="4711328"/>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8" name="Line 6"/>
            <p:cNvSpPr>
              <a:spLocks noChangeShapeType="1"/>
            </p:cNvSpPr>
            <p:nvPr/>
          </p:nvSpPr>
          <p:spPr bwMode="auto">
            <a:xfrm>
              <a:off x="1044004" y="3084140"/>
              <a:ext cx="8197850" cy="0"/>
            </a:xfrm>
            <a:prstGeom prst="line">
              <a:avLst/>
            </a:prstGeom>
            <a:noFill/>
            <a:ln w="1905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29" name="Text Box 7"/>
            <p:cNvSpPr txBox="1">
              <a:spLocks noChangeArrowheads="1"/>
            </p:cNvSpPr>
            <p:nvPr/>
          </p:nvSpPr>
          <p:spPr bwMode="auto">
            <a:xfrm>
              <a:off x="682054" y="2806329"/>
              <a:ext cx="42725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B</a:t>
              </a:r>
            </a:p>
          </p:txBody>
        </p:sp>
        <p:sp>
          <p:nvSpPr>
            <p:cNvPr id="30" name="Line 8"/>
            <p:cNvSpPr>
              <a:spLocks noChangeShapeType="1"/>
            </p:cNvSpPr>
            <p:nvPr/>
          </p:nvSpPr>
          <p:spPr bwMode="auto">
            <a:xfrm flipV="1">
              <a:off x="130752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1" name="Line 9"/>
            <p:cNvSpPr>
              <a:spLocks noChangeShapeType="1"/>
            </p:cNvSpPr>
            <p:nvPr/>
          </p:nvSpPr>
          <p:spPr bwMode="auto">
            <a:xfrm flipV="1">
              <a:off x="1694879"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2" name="Text Box 10"/>
            <p:cNvSpPr txBox="1">
              <a:spLocks noChangeArrowheads="1"/>
            </p:cNvSpPr>
            <p:nvPr/>
          </p:nvSpPr>
          <p:spPr bwMode="auto">
            <a:xfrm rot="18918223">
              <a:off x="1291934" y="3750311"/>
              <a:ext cx="780492"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600" b="1" dirty="0">
                  <a:latin typeface="微软雅黑" pitchFamily="34" charset="-122"/>
                  <a:ea typeface="微软雅黑" pitchFamily="34" charset="-122"/>
                </a:rPr>
                <a:t>分组</a:t>
              </a:r>
            </a:p>
          </p:txBody>
        </p:sp>
        <p:sp>
          <p:nvSpPr>
            <p:cNvPr id="33" name="Text Box 11"/>
            <p:cNvSpPr txBox="1">
              <a:spLocks noChangeArrowheads="1"/>
            </p:cNvSpPr>
            <p:nvPr/>
          </p:nvSpPr>
          <p:spPr bwMode="auto">
            <a:xfrm>
              <a:off x="9221217" y="2780928"/>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dirty="0">
                  <a:latin typeface="微软雅黑" pitchFamily="34" charset="-122"/>
                  <a:ea typeface="微软雅黑" pitchFamily="34" charset="-122"/>
                </a:rPr>
                <a:t>t</a:t>
              </a:r>
            </a:p>
          </p:txBody>
        </p:sp>
        <p:sp>
          <p:nvSpPr>
            <p:cNvPr id="34" name="Text Box 12"/>
            <p:cNvSpPr txBox="1">
              <a:spLocks noChangeArrowheads="1"/>
            </p:cNvSpPr>
            <p:nvPr/>
          </p:nvSpPr>
          <p:spPr bwMode="auto">
            <a:xfrm>
              <a:off x="9221217" y="4366841"/>
              <a:ext cx="353662"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i="1" dirty="0">
                  <a:latin typeface="微软雅黑" pitchFamily="34" charset="-122"/>
                  <a:ea typeface="微软雅黑" pitchFamily="34" charset="-122"/>
                </a:rPr>
                <a:t>t</a:t>
              </a:r>
            </a:p>
          </p:txBody>
        </p:sp>
        <p:sp>
          <p:nvSpPr>
            <p:cNvPr id="35" name="Text Box 13"/>
            <p:cNvSpPr txBox="1">
              <a:spLocks noChangeArrowheads="1"/>
            </p:cNvSpPr>
            <p:nvPr/>
          </p:nvSpPr>
          <p:spPr bwMode="auto">
            <a:xfrm>
              <a:off x="667767" y="4420813"/>
              <a:ext cx="444073" cy="444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A</a:t>
              </a:r>
            </a:p>
          </p:txBody>
        </p:sp>
        <p:sp>
          <p:nvSpPr>
            <p:cNvPr id="36" name="Line 14"/>
            <p:cNvSpPr>
              <a:spLocks noChangeShapeType="1"/>
            </p:cNvSpPr>
            <p:nvPr/>
          </p:nvSpPr>
          <p:spPr bwMode="auto">
            <a:xfrm rot="15894661">
              <a:off x="2034604" y="3347666"/>
              <a:ext cx="350837" cy="461962"/>
            </a:xfrm>
            <a:prstGeom prst="line">
              <a:avLst/>
            </a:prstGeom>
            <a:noFill/>
            <a:ln w="5715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7" name="Line 15"/>
            <p:cNvSpPr>
              <a:spLocks noChangeShapeType="1"/>
            </p:cNvSpPr>
            <p:nvPr/>
          </p:nvSpPr>
          <p:spPr bwMode="auto">
            <a:xfrm flipV="1">
              <a:off x="2077467" y="3088903"/>
              <a:ext cx="1693862" cy="162718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8" name="Line 16"/>
            <p:cNvSpPr>
              <a:spLocks noChangeShapeType="1"/>
            </p:cNvSpPr>
            <p:nvPr/>
          </p:nvSpPr>
          <p:spPr bwMode="auto">
            <a:xfrm flipV="1">
              <a:off x="5544567" y="3088903"/>
              <a:ext cx="1693862" cy="16271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39" name="Line 17"/>
            <p:cNvSpPr>
              <a:spLocks noChangeShapeType="1"/>
            </p:cNvSpPr>
            <p:nvPr/>
          </p:nvSpPr>
          <p:spPr bwMode="auto">
            <a:xfrm flipH="1" flipV="1">
              <a:off x="3388742"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2" name="Line 20"/>
            <p:cNvSpPr>
              <a:spLocks noChangeShapeType="1"/>
            </p:cNvSpPr>
            <p:nvPr/>
          </p:nvSpPr>
          <p:spPr bwMode="auto">
            <a:xfrm flipV="1">
              <a:off x="2461642"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3" name="Line 21"/>
            <p:cNvSpPr>
              <a:spLocks noChangeShapeType="1"/>
            </p:cNvSpPr>
            <p:nvPr/>
          </p:nvSpPr>
          <p:spPr bwMode="auto">
            <a:xfrm flipV="1">
              <a:off x="2847404"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4" name="Line 22"/>
            <p:cNvSpPr>
              <a:spLocks noChangeShapeType="1"/>
            </p:cNvSpPr>
            <p:nvPr/>
          </p:nvSpPr>
          <p:spPr bwMode="auto">
            <a:xfrm flipV="1">
              <a:off x="3250629" y="310319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5" name="Line 23"/>
            <p:cNvSpPr>
              <a:spLocks noChangeShapeType="1"/>
            </p:cNvSpPr>
            <p:nvPr/>
          </p:nvSpPr>
          <p:spPr bwMode="auto">
            <a:xfrm flipV="1">
              <a:off x="36205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6" name="Line 24"/>
            <p:cNvSpPr>
              <a:spLocks noChangeShapeType="1"/>
            </p:cNvSpPr>
            <p:nvPr/>
          </p:nvSpPr>
          <p:spPr bwMode="auto">
            <a:xfrm flipV="1">
              <a:off x="4395217"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7" name="Line 25"/>
            <p:cNvSpPr>
              <a:spLocks noChangeShapeType="1"/>
            </p:cNvSpPr>
            <p:nvPr/>
          </p:nvSpPr>
          <p:spPr bwMode="auto">
            <a:xfrm flipV="1">
              <a:off x="47841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8" name="Line 26"/>
            <p:cNvSpPr>
              <a:spLocks noChangeShapeType="1"/>
            </p:cNvSpPr>
            <p:nvPr/>
          </p:nvSpPr>
          <p:spPr bwMode="auto">
            <a:xfrm flipV="1">
              <a:off x="5169917"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9" name="Line 27"/>
            <p:cNvSpPr>
              <a:spLocks noChangeShapeType="1"/>
            </p:cNvSpPr>
            <p:nvPr/>
          </p:nvSpPr>
          <p:spPr bwMode="auto">
            <a:xfrm flipV="1">
              <a:off x="555885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0" name="Line 28"/>
            <p:cNvSpPr>
              <a:spLocks noChangeShapeType="1"/>
            </p:cNvSpPr>
            <p:nvPr/>
          </p:nvSpPr>
          <p:spPr bwMode="auto">
            <a:xfrm flipV="1">
              <a:off x="4003104" y="3084140"/>
              <a:ext cx="1695450"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1" name="Line 29"/>
            <p:cNvSpPr>
              <a:spLocks noChangeShapeType="1"/>
            </p:cNvSpPr>
            <p:nvPr/>
          </p:nvSpPr>
          <p:spPr bwMode="auto">
            <a:xfrm flipV="1">
              <a:off x="5928742" y="3084140"/>
              <a:ext cx="1693862"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2" name="Line 30"/>
            <p:cNvSpPr>
              <a:spLocks noChangeShapeType="1"/>
            </p:cNvSpPr>
            <p:nvPr/>
          </p:nvSpPr>
          <p:spPr bwMode="auto">
            <a:xfrm flipV="1">
              <a:off x="6301804" y="3084140"/>
              <a:ext cx="1692275"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3" name="Line 31"/>
            <p:cNvSpPr>
              <a:spLocks noChangeShapeType="1"/>
            </p:cNvSpPr>
            <p:nvPr/>
          </p:nvSpPr>
          <p:spPr bwMode="auto">
            <a:xfrm flipV="1">
              <a:off x="6673279" y="3084140"/>
              <a:ext cx="1693863" cy="16271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4" name="Line 32"/>
            <p:cNvSpPr>
              <a:spLocks noChangeShapeType="1"/>
            </p:cNvSpPr>
            <p:nvPr/>
          </p:nvSpPr>
          <p:spPr bwMode="auto">
            <a:xfrm flipH="1" flipV="1">
              <a:off x="37729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5" name="Line 33"/>
            <p:cNvSpPr>
              <a:spLocks noChangeShapeType="1"/>
            </p:cNvSpPr>
            <p:nvPr/>
          </p:nvSpPr>
          <p:spPr bwMode="auto">
            <a:xfrm flipH="1" flipV="1">
              <a:off x="4155504"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6" name="Line 34"/>
            <p:cNvSpPr>
              <a:spLocks noChangeShapeType="1"/>
            </p:cNvSpPr>
            <p:nvPr/>
          </p:nvSpPr>
          <p:spPr bwMode="auto">
            <a:xfrm flipH="1" flipV="1">
              <a:off x="4541267"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7" name="Line 35"/>
            <p:cNvSpPr>
              <a:spLocks noChangeShapeType="1"/>
            </p:cNvSpPr>
            <p:nvPr/>
          </p:nvSpPr>
          <p:spPr bwMode="auto">
            <a:xfrm flipH="1" flipV="1">
              <a:off x="49254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8" name="Line 36"/>
            <p:cNvSpPr>
              <a:spLocks noChangeShapeType="1"/>
            </p:cNvSpPr>
            <p:nvPr/>
          </p:nvSpPr>
          <p:spPr bwMode="auto">
            <a:xfrm flipH="1" flipV="1">
              <a:off x="5308029" y="3088903"/>
              <a:ext cx="1693863"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59" name="Line 37"/>
            <p:cNvSpPr>
              <a:spLocks noChangeShapeType="1"/>
            </p:cNvSpPr>
            <p:nvPr/>
          </p:nvSpPr>
          <p:spPr bwMode="auto">
            <a:xfrm flipH="1" flipV="1">
              <a:off x="5692204"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0" name="Line 38"/>
            <p:cNvSpPr>
              <a:spLocks noChangeShapeType="1"/>
            </p:cNvSpPr>
            <p:nvPr/>
          </p:nvSpPr>
          <p:spPr bwMode="auto">
            <a:xfrm flipH="1" flipV="1">
              <a:off x="6076379"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1" name="Line 39"/>
            <p:cNvSpPr>
              <a:spLocks noChangeShapeType="1"/>
            </p:cNvSpPr>
            <p:nvPr/>
          </p:nvSpPr>
          <p:spPr bwMode="auto">
            <a:xfrm flipH="1" flipV="1">
              <a:off x="6458967" y="3088903"/>
              <a:ext cx="1695450"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2" name="Line 40"/>
            <p:cNvSpPr>
              <a:spLocks noChangeShapeType="1"/>
            </p:cNvSpPr>
            <p:nvPr/>
          </p:nvSpPr>
          <p:spPr bwMode="auto">
            <a:xfrm flipH="1" flipV="1">
              <a:off x="6843142" y="3088903"/>
              <a:ext cx="1692275"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63" name="Line 41"/>
            <p:cNvSpPr>
              <a:spLocks noChangeShapeType="1"/>
            </p:cNvSpPr>
            <p:nvPr/>
          </p:nvSpPr>
          <p:spPr bwMode="auto">
            <a:xfrm flipH="1" flipV="1">
              <a:off x="7227317" y="3088903"/>
              <a:ext cx="1693862" cy="1627187"/>
            </a:xfrm>
            <a:prstGeom prst="line">
              <a:avLst/>
            </a:prstGeom>
            <a:noFill/>
            <a:ln w="28575">
              <a:solidFill>
                <a:srgbClr val="0000FF"/>
              </a:solidFill>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sp>
          <p:nvSpPr>
            <p:cNvPr id="40" name="Text Box 18"/>
            <p:cNvSpPr txBox="1">
              <a:spLocks noChangeArrowheads="1"/>
            </p:cNvSpPr>
            <p:nvPr/>
          </p:nvSpPr>
          <p:spPr bwMode="auto">
            <a:xfrm rot="2268438">
              <a:off x="3392106" y="3533618"/>
              <a:ext cx="807658" cy="44407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600" b="1" dirty="0">
                  <a:latin typeface="微软雅黑" pitchFamily="34" charset="-122"/>
                  <a:ea typeface="微软雅黑" pitchFamily="34" charset="-122"/>
                </a:rPr>
                <a:t>ACK</a:t>
              </a:r>
            </a:p>
          </p:txBody>
        </p:sp>
        <p:sp>
          <p:nvSpPr>
            <p:cNvPr id="41" name="Line 19"/>
            <p:cNvSpPr>
              <a:spLocks noChangeShapeType="1"/>
            </p:cNvSpPr>
            <p:nvPr/>
          </p:nvSpPr>
          <p:spPr bwMode="auto">
            <a:xfrm>
              <a:off x="4088829" y="3981078"/>
              <a:ext cx="292100" cy="279400"/>
            </a:xfrm>
            <a:prstGeom prst="line">
              <a:avLst/>
            </a:prstGeom>
            <a:noFill/>
            <a:ln w="38100">
              <a:solidFill>
                <a:srgbClr val="CC00CC"/>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600" b="1">
                <a:latin typeface="微软雅黑" pitchFamily="34" charset="-122"/>
                <a:ea typeface="微软雅黑" pitchFamily="34" charset="-122"/>
              </a:endParaRPr>
            </a:p>
          </p:txBody>
        </p:sp>
      </p:grpSp>
      <p:sp>
        <p:nvSpPr>
          <p:cNvPr id="2" name="左大括号 1"/>
          <p:cNvSpPr/>
          <p:nvPr/>
        </p:nvSpPr>
        <p:spPr>
          <a:xfrm rot="16200000">
            <a:off x="3000782" y="1289503"/>
            <a:ext cx="229088" cy="2775777"/>
          </a:xfrm>
          <a:prstGeom prst="leftBrace">
            <a:avLst>
              <a:gd name="adj1" fmla="val 30208"/>
              <a:gd name="adj2" fmla="val 50000"/>
            </a:avLst>
          </a:prstGeom>
          <a:ln w="12700">
            <a:solidFill>
              <a:srgbClr val="000099"/>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 name="矩形 2"/>
          <p:cNvSpPr/>
          <p:nvPr/>
        </p:nvSpPr>
        <p:spPr>
          <a:xfrm>
            <a:off x="1182444" y="2765041"/>
            <a:ext cx="6186309" cy="369332"/>
          </a:xfrm>
          <a:prstGeom prst="rect">
            <a:avLst/>
          </a:prstGeom>
        </p:spPr>
        <p:txBody>
          <a:bodyPr wrap="none">
            <a:spAutoFit/>
          </a:bodyPr>
          <a:lstStyle/>
          <a:p>
            <a:r>
              <a:rPr lang="zh-CN" altLang="en-US" b="1" dirty="0">
                <a:solidFill>
                  <a:srgbClr val="C00000"/>
                </a:solidFill>
                <a:latin typeface="微软雅黑" pitchFamily="34" charset="-122"/>
                <a:ea typeface="微软雅黑" pitchFamily="34" charset="-122"/>
              </a:rPr>
              <a:t>流水线传输：</a:t>
            </a:r>
            <a:r>
              <a:rPr lang="zh-CN" altLang="en-US" b="1" dirty="0">
                <a:solidFill>
                  <a:srgbClr val="000099"/>
                </a:solidFill>
                <a:latin typeface="微软雅黑" pitchFamily="34" charset="-122"/>
                <a:ea typeface="微软雅黑" pitchFamily="34" charset="-122"/>
              </a:rPr>
              <a:t>在收到确认之前，发送方连续发出多个分组。</a:t>
            </a:r>
          </a:p>
        </p:txBody>
      </p:sp>
      <p:sp>
        <p:nvSpPr>
          <p:cNvPr id="4" name="矩形 3"/>
          <p:cNvSpPr/>
          <p:nvPr/>
        </p:nvSpPr>
        <p:spPr>
          <a:xfrm>
            <a:off x="1727437" y="4119737"/>
            <a:ext cx="5901528" cy="425758"/>
          </a:xfrm>
          <a:prstGeom prst="rect">
            <a:avLst/>
          </a:prstGeom>
          <a:solidFill>
            <a:schemeClr val="accent6">
              <a:lumMod val="50000"/>
            </a:schemeClr>
          </a:solidFill>
        </p:spPr>
        <p:txBody>
          <a:bodyPr wrap="square">
            <a:spAutoFit/>
          </a:bodyPr>
          <a:lstStyle/>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连续 </a:t>
            </a:r>
            <a:r>
              <a:rPr lang="en-US" altLang="zh-CN" b="1" dirty="0">
                <a:solidFill>
                  <a:schemeClr val="bg1"/>
                </a:solidFill>
                <a:latin typeface="微软雅黑" panose="020B0503020204020204" pitchFamily="34" charset="-122"/>
                <a:ea typeface="微软雅黑" panose="020B0503020204020204" pitchFamily="34" charset="-122"/>
              </a:rPr>
              <a:t>ARQ </a:t>
            </a:r>
            <a:r>
              <a:rPr lang="zh-CN" altLang="en-US" b="1" dirty="0">
                <a:solidFill>
                  <a:schemeClr val="bg1"/>
                </a:solidFill>
                <a:latin typeface="微软雅黑" panose="020B0503020204020204" pitchFamily="34" charset="-122"/>
                <a:ea typeface="微软雅黑" panose="020B0503020204020204" pitchFamily="34" charset="-122"/>
              </a:rPr>
              <a:t>协议和滑动窗口协议采用流水线传输方式。</a:t>
            </a:r>
          </a:p>
        </p:txBody>
      </p:sp>
    </p:spTree>
    <p:extLst>
      <p:ext uri="{BB962C8B-B14F-4D97-AF65-F5344CB8AC3E}">
        <p14:creationId xmlns:p14="http://schemas.microsoft.com/office/powerpoint/2010/main" val="44799456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371C5388-A48B-55D5-86D7-D9832992FE25}"/>
              </a:ext>
            </a:extLst>
          </p:cNvPr>
          <p:cNvSpPr>
            <a:spLocks noGrp="1"/>
          </p:cNvSpPr>
          <p:nvPr>
            <p:ph sz="quarter" idx="11"/>
          </p:nvPr>
        </p:nvSpPr>
        <p:spPr>
          <a:xfrm>
            <a:off x="486000" y="482554"/>
            <a:ext cx="8172000" cy="4120946"/>
          </a:xfrm>
        </p:spPr>
        <p:txBody>
          <a:bodyPr/>
          <a:lstStyle/>
          <a:p>
            <a:r>
              <a:rPr lang="zh-CN" altLang="en-US" dirty="0"/>
              <a:t>发送窗口：发送方维持一个发送窗口，位于发送窗口内的分组都可被连续发送出去，而不需要等待对方的确认。</a:t>
            </a:r>
            <a:endParaRPr lang="en-US" altLang="zh-CN" dirty="0"/>
          </a:p>
          <a:p>
            <a:r>
              <a:rPr lang="zh-CN" altLang="en-US" dirty="0"/>
              <a:t>发送窗口滑动：发送方每收到一个确认，就把发送窗口向前滑动一个分组的位置。</a:t>
            </a:r>
            <a:endParaRPr lang="en-US" altLang="zh-CN" dirty="0"/>
          </a:p>
          <a:p>
            <a:r>
              <a:rPr lang="zh-CN" altLang="en-US" dirty="0"/>
              <a:t>累积确认：接收方对按序到达的最后一个分组发送确认，表示：到这个分组为止的所有分组都已正确收到了。</a:t>
            </a:r>
            <a:endParaRPr lang="en-US" altLang="zh-CN" dirty="0"/>
          </a:p>
          <a:p>
            <a:endParaRPr lang="zh-CN" altLang="en-US" dirty="0"/>
          </a:p>
        </p:txBody>
      </p:sp>
      <p:sp>
        <p:nvSpPr>
          <p:cNvPr id="8" name="标题 7">
            <a:extLst>
              <a:ext uri="{FF2B5EF4-FFF2-40B4-BE49-F238E27FC236}">
                <a16:creationId xmlns:a16="http://schemas.microsoft.com/office/drawing/2014/main" id="{768021DB-D274-0A0A-E6E8-93171712004C}"/>
              </a:ext>
            </a:extLst>
          </p:cNvPr>
          <p:cNvSpPr>
            <a:spLocks noGrp="1"/>
          </p:cNvSpPr>
          <p:nvPr>
            <p:ph type="title"/>
          </p:nvPr>
        </p:nvSpPr>
        <p:spPr>
          <a:xfrm>
            <a:off x="2808000" y="144000"/>
            <a:ext cx="3528000" cy="338554"/>
          </a:xfrm>
        </p:spPr>
        <p:txBody>
          <a:bodyPr/>
          <a:lstStyle/>
          <a:p>
            <a:r>
              <a:rPr lang="en-US" altLang="zh-CN" dirty="0"/>
              <a:t>5.4.2   </a:t>
            </a:r>
            <a:r>
              <a:rPr lang="zh-CN" altLang="en-US" dirty="0"/>
              <a:t>连续 </a:t>
            </a:r>
            <a:r>
              <a:rPr lang="en-US" altLang="zh-CN" dirty="0"/>
              <a:t>ARQ </a:t>
            </a:r>
            <a:r>
              <a:rPr lang="zh-CN" altLang="en-US" dirty="0"/>
              <a:t>协议</a:t>
            </a:r>
          </a:p>
        </p:txBody>
      </p:sp>
    </p:spTree>
    <p:extLst>
      <p:ext uri="{BB962C8B-B14F-4D97-AF65-F5344CB8AC3E}">
        <p14:creationId xmlns:p14="http://schemas.microsoft.com/office/powerpoint/2010/main" val="18954925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64CCEE9-A796-CC72-8671-9C8A18565DD0}"/>
              </a:ext>
            </a:extLst>
          </p:cNvPr>
          <p:cNvSpPr>
            <a:spLocks noGrp="1"/>
          </p:cNvSpPr>
          <p:nvPr>
            <p:ph type="title"/>
          </p:nvPr>
        </p:nvSpPr>
        <p:spPr>
          <a:xfrm>
            <a:off x="2808000" y="144000"/>
            <a:ext cx="3528000" cy="338554"/>
          </a:xfrm>
        </p:spPr>
        <p:txBody>
          <a:bodyPr/>
          <a:lstStyle/>
          <a:p>
            <a:r>
              <a:rPr lang="zh-CN" altLang="en-US" dirty="0"/>
              <a:t>发送窗口</a:t>
            </a:r>
          </a:p>
        </p:txBody>
      </p:sp>
      <p:grpSp>
        <p:nvGrpSpPr>
          <p:cNvPr id="5" name="组合 4"/>
          <p:cNvGrpSpPr/>
          <p:nvPr/>
        </p:nvGrpSpPr>
        <p:grpSpPr>
          <a:xfrm>
            <a:off x="2077542" y="1049057"/>
            <a:ext cx="5014230" cy="1258442"/>
            <a:chOff x="930027" y="1412776"/>
            <a:chExt cx="8199437" cy="2057847"/>
          </a:xfrm>
        </p:grpSpPr>
        <p:sp>
          <p:nvSpPr>
            <p:cNvPr id="6" name="Rectangle 29"/>
            <p:cNvSpPr>
              <a:spLocks noChangeArrowheads="1"/>
            </p:cNvSpPr>
            <p:nvPr/>
          </p:nvSpPr>
          <p:spPr bwMode="auto">
            <a:xfrm>
              <a:off x="930027" y="1933476"/>
              <a:ext cx="3413125" cy="911225"/>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7" name="Rectangle 17"/>
            <p:cNvSpPr>
              <a:spLocks noChangeArrowheads="1"/>
            </p:cNvSpPr>
            <p:nvPr/>
          </p:nvSpPr>
          <p:spPr bwMode="auto">
            <a:xfrm>
              <a:off x="930027" y="2136676"/>
              <a:ext cx="8189912" cy="50482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8" name="Rectangle 5"/>
            <p:cNvSpPr>
              <a:spLocks noChangeArrowheads="1"/>
            </p:cNvSpPr>
            <p:nvPr/>
          </p:nvSpPr>
          <p:spPr bwMode="auto">
            <a:xfrm>
              <a:off x="930027"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a:t>
              </a:r>
            </a:p>
          </p:txBody>
        </p:sp>
        <p:sp>
          <p:nvSpPr>
            <p:cNvPr id="9" name="Rectangle 6"/>
            <p:cNvSpPr>
              <a:spLocks noChangeArrowheads="1"/>
            </p:cNvSpPr>
            <p:nvPr/>
          </p:nvSpPr>
          <p:spPr bwMode="auto">
            <a:xfrm>
              <a:off x="1612652"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2</a:t>
              </a:r>
            </a:p>
          </p:txBody>
        </p:sp>
        <p:sp>
          <p:nvSpPr>
            <p:cNvPr id="10" name="Rectangle 7"/>
            <p:cNvSpPr>
              <a:spLocks noChangeArrowheads="1"/>
            </p:cNvSpPr>
            <p:nvPr/>
          </p:nvSpPr>
          <p:spPr bwMode="auto">
            <a:xfrm>
              <a:off x="229686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3</a:t>
              </a:r>
            </a:p>
          </p:txBody>
        </p:sp>
        <p:sp>
          <p:nvSpPr>
            <p:cNvPr id="11" name="Rectangle 8"/>
            <p:cNvSpPr>
              <a:spLocks noChangeArrowheads="1"/>
            </p:cNvSpPr>
            <p:nvPr/>
          </p:nvSpPr>
          <p:spPr bwMode="auto">
            <a:xfrm>
              <a:off x="29794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4</a:t>
              </a:r>
            </a:p>
          </p:txBody>
        </p:sp>
        <p:sp>
          <p:nvSpPr>
            <p:cNvPr id="12" name="Rectangle 9"/>
            <p:cNvSpPr>
              <a:spLocks noChangeArrowheads="1"/>
            </p:cNvSpPr>
            <p:nvPr/>
          </p:nvSpPr>
          <p:spPr bwMode="auto">
            <a:xfrm>
              <a:off x="36637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5</a:t>
              </a:r>
            </a:p>
          </p:txBody>
        </p:sp>
        <p:sp>
          <p:nvSpPr>
            <p:cNvPr id="13" name="Rectangle 10"/>
            <p:cNvSpPr>
              <a:spLocks noChangeArrowheads="1"/>
            </p:cNvSpPr>
            <p:nvPr/>
          </p:nvSpPr>
          <p:spPr bwMode="auto">
            <a:xfrm>
              <a:off x="4347914"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6</a:t>
              </a:r>
            </a:p>
          </p:txBody>
        </p:sp>
        <p:sp>
          <p:nvSpPr>
            <p:cNvPr id="14" name="Rectangle 11"/>
            <p:cNvSpPr>
              <a:spLocks noChangeArrowheads="1"/>
            </p:cNvSpPr>
            <p:nvPr/>
          </p:nvSpPr>
          <p:spPr bwMode="auto">
            <a:xfrm>
              <a:off x="503053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7</a:t>
              </a:r>
            </a:p>
          </p:txBody>
        </p:sp>
        <p:sp>
          <p:nvSpPr>
            <p:cNvPr id="15" name="Rectangle 12"/>
            <p:cNvSpPr>
              <a:spLocks noChangeArrowheads="1"/>
            </p:cNvSpPr>
            <p:nvPr/>
          </p:nvSpPr>
          <p:spPr bwMode="auto">
            <a:xfrm>
              <a:off x="571475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8</a:t>
              </a:r>
            </a:p>
          </p:txBody>
        </p:sp>
        <p:sp>
          <p:nvSpPr>
            <p:cNvPr id="16" name="Rectangle 13"/>
            <p:cNvSpPr>
              <a:spLocks noChangeArrowheads="1"/>
            </p:cNvSpPr>
            <p:nvPr/>
          </p:nvSpPr>
          <p:spPr bwMode="auto">
            <a:xfrm>
              <a:off x="639578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9</a:t>
              </a:r>
            </a:p>
          </p:txBody>
        </p:sp>
        <p:sp>
          <p:nvSpPr>
            <p:cNvPr id="17" name="Rectangle 14"/>
            <p:cNvSpPr>
              <a:spLocks noChangeArrowheads="1"/>
            </p:cNvSpPr>
            <p:nvPr/>
          </p:nvSpPr>
          <p:spPr bwMode="auto">
            <a:xfrm>
              <a:off x="7081589" y="2136676"/>
              <a:ext cx="681038"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10</a:t>
              </a:r>
            </a:p>
          </p:txBody>
        </p:sp>
        <p:sp>
          <p:nvSpPr>
            <p:cNvPr id="18" name="Rectangle 15"/>
            <p:cNvSpPr>
              <a:spLocks noChangeArrowheads="1"/>
            </p:cNvSpPr>
            <p:nvPr/>
          </p:nvSpPr>
          <p:spPr bwMode="auto">
            <a:xfrm>
              <a:off x="7765802" y="2136676"/>
              <a:ext cx="681037"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11</a:t>
              </a:r>
            </a:p>
          </p:txBody>
        </p:sp>
        <p:sp>
          <p:nvSpPr>
            <p:cNvPr id="19" name="Rectangle 16"/>
            <p:cNvSpPr>
              <a:spLocks noChangeArrowheads="1"/>
            </p:cNvSpPr>
            <p:nvPr/>
          </p:nvSpPr>
          <p:spPr bwMode="auto">
            <a:xfrm>
              <a:off x="8446839" y="2136676"/>
              <a:ext cx="682625" cy="5048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12</a:t>
              </a:r>
            </a:p>
          </p:txBody>
        </p:sp>
        <p:sp>
          <p:nvSpPr>
            <p:cNvPr id="20" name="Line 18"/>
            <p:cNvSpPr>
              <a:spLocks noChangeShapeType="1"/>
            </p:cNvSpPr>
            <p:nvPr/>
          </p:nvSpPr>
          <p:spPr bwMode="auto">
            <a:xfrm>
              <a:off x="16126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1" name="Line 19"/>
            <p:cNvSpPr>
              <a:spLocks noChangeShapeType="1"/>
            </p:cNvSpPr>
            <p:nvPr/>
          </p:nvSpPr>
          <p:spPr bwMode="auto">
            <a:xfrm>
              <a:off x="22952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2" name="Line 20"/>
            <p:cNvSpPr>
              <a:spLocks noChangeShapeType="1"/>
            </p:cNvSpPr>
            <p:nvPr/>
          </p:nvSpPr>
          <p:spPr bwMode="auto">
            <a:xfrm>
              <a:off x="297631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21"/>
            <p:cNvSpPr>
              <a:spLocks noChangeShapeType="1"/>
            </p:cNvSpPr>
            <p:nvPr/>
          </p:nvSpPr>
          <p:spPr bwMode="auto">
            <a:xfrm>
              <a:off x="365893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22"/>
            <p:cNvSpPr>
              <a:spLocks noChangeShapeType="1"/>
            </p:cNvSpPr>
            <p:nvPr/>
          </p:nvSpPr>
          <p:spPr bwMode="auto">
            <a:xfrm>
              <a:off x="433997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23"/>
            <p:cNvSpPr>
              <a:spLocks noChangeShapeType="1"/>
            </p:cNvSpPr>
            <p:nvPr/>
          </p:nvSpPr>
          <p:spPr bwMode="auto">
            <a:xfrm>
              <a:off x="502260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Line 24"/>
            <p:cNvSpPr>
              <a:spLocks noChangeShapeType="1"/>
            </p:cNvSpPr>
            <p:nvPr/>
          </p:nvSpPr>
          <p:spPr bwMode="auto">
            <a:xfrm>
              <a:off x="57052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7" name="Line 25"/>
            <p:cNvSpPr>
              <a:spLocks noChangeShapeType="1"/>
            </p:cNvSpPr>
            <p:nvPr/>
          </p:nvSpPr>
          <p:spPr bwMode="auto">
            <a:xfrm>
              <a:off x="6386264"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Line 26"/>
            <p:cNvSpPr>
              <a:spLocks noChangeShapeType="1"/>
            </p:cNvSpPr>
            <p:nvPr/>
          </p:nvSpPr>
          <p:spPr bwMode="auto">
            <a:xfrm>
              <a:off x="7068889"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7"/>
            <p:cNvSpPr>
              <a:spLocks noChangeShapeType="1"/>
            </p:cNvSpPr>
            <p:nvPr/>
          </p:nvSpPr>
          <p:spPr bwMode="auto">
            <a:xfrm>
              <a:off x="7749927"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0" name="Line 28"/>
            <p:cNvSpPr>
              <a:spLocks noChangeShapeType="1"/>
            </p:cNvSpPr>
            <p:nvPr/>
          </p:nvSpPr>
          <p:spPr bwMode="auto">
            <a:xfrm>
              <a:off x="8432552" y="2136676"/>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Text Box 30"/>
            <p:cNvSpPr txBox="1">
              <a:spLocks noChangeArrowheads="1"/>
            </p:cNvSpPr>
            <p:nvPr/>
          </p:nvSpPr>
          <p:spPr bwMode="auto">
            <a:xfrm>
              <a:off x="2288927" y="2967336"/>
              <a:ext cx="6341411"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 </a:t>
              </a:r>
              <a:r>
                <a:rPr lang="zh-CN" altLang="en-US" sz="1400" b="1" dirty="0">
                  <a:solidFill>
                    <a:srgbClr val="000099"/>
                  </a:solidFill>
                  <a:latin typeface="微软雅黑" pitchFamily="34" charset="-122"/>
                  <a:ea typeface="微软雅黑" pitchFamily="34" charset="-122"/>
                </a:rPr>
                <a:t>发送方维持发送窗口（发送窗口大小是 </a:t>
              </a:r>
              <a:r>
                <a:rPr lang="en-US" altLang="zh-CN" sz="1400" b="1" dirty="0">
                  <a:solidFill>
                    <a:srgbClr val="000099"/>
                  </a:solidFill>
                  <a:latin typeface="微软雅黑" pitchFamily="34" charset="-122"/>
                  <a:ea typeface="微软雅黑" pitchFamily="34" charset="-122"/>
                </a:rPr>
                <a:t>5</a:t>
              </a:r>
              <a:r>
                <a:rPr lang="zh-CN" altLang="en-US" sz="1400" b="1" dirty="0">
                  <a:solidFill>
                    <a:srgbClr val="000099"/>
                  </a:solidFill>
                  <a:latin typeface="微软雅黑" pitchFamily="34" charset="-122"/>
                  <a:ea typeface="微软雅黑" pitchFamily="34" charset="-122"/>
                </a:rPr>
                <a:t>）</a:t>
              </a:r>
            </a:p>
          </p:txBody>
        </p:sp>
        <p:sp>
          <p:nvSpPr>
            <p:cNvPr id="32" name="Text Box 31"/>
            <p:cNvSpPr txBox="1">
              <a:spLocks noChangeArrowheads="1"/>
            </p:cNvSpPr>
            <p:nvPr/>
          </p:nvSpPr>
          <p:spPr bwMode="auto">
            <a:xfrm>
              <a:off x="1858714" y="1412776"/>
              <a:ext cx="1476307" cy="50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sp>
        <p:nvSpPr>
          <p:cNvPr id="36" name="Text Box 32"/>
          <p:cNvSpPr txBox="1">
            <a:spLocks noChangeArrowheads="1"/>
          </p:cNvSpPr>
          <p:nvPr/>
        </p:nvSpPr>
        <p:spPr bwMode="auto">
          <a:xfrm>
            <a:off x="2915850" y="3497760"/>
            <a:ext cx="337143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(b) </a:t>
            </a:r>
            <a:r>
              <a:rPr lang="zh-CN" altLang="en-US" sz="1400" b="1" dirty="0">
                <a:solidFill>
                  <a:srgbClr val="000099"/>
                </a:solidFill>
                <a:latin typeface="微软雅黑" pitchFamily="34" charset="-122"/>
                <a:ea typeface="微软雅黑" pitchFamily="34" charset="-122"/>
              </a:rPr>
              <a:t>收到一个确认后，发送窗口向前滑动</a:t>
            </a:r>
          </a:p>
        </p:txBody>
      </p:sp>
      <p:grpSp>
        <p:nvGrpSpPr>
          <p:cNvPr id="73" name="组合 72"/>
          <p:cNvGrpSpPr/>
          <p:nvPr/>
        </p:nvGrpSpPr>
        <p:grpSpPr>
          <a:xfrm>
            <a:off x="4158070" y="2409392"/>
            <a:ext cx="1261884" cy="328639"/>
            <a:chOff x="3716242" y="2442860"/>
            <a:chExt cx="1261884" cy="328639"/>
          </a:xfrm>
        </p:grpSpPr>
        <p:sp>
          <p:nvSpPr>
            <p:cNvPr id="38" name="Text Box 34"/>
            <p:cNvSpPr txBox="1">
              <a:spLocks noChangeArrowheads="1"/>
            </p:cNvSpPr>
            <p:nvPr/>
          </p:nvSpPr>
          <p:spPr bwMode="auto">
            <a:xfrm>
              <a:off x="3716242" y="2442860"/>
              <a:ext cx="126188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0000FF"/>
                  </a:solidFill>
                  <a:latin typeface="微软雅黑" pitchFamily="34" charset="-122"/>
                  <a:ea typeface="微软雅黑" pitchFamily="34" charset="-122"/>
                </a:rPr>
                <a:t>窗口向前滑动</a:t>
              </a:r>
            </a:p>
          </p:txBody>
        </p:sp>
        <p:sp>
          <p:nvSpPr>
            <p:cNvPr id="37" name="Line 33"/>
            <p:cNvSpPr>
              <a:spLocks noChangeShapeType="1"/>
            </p:cNvSpPr>
            <p:nvPr/>
          </p:nvSpPr>
          <p:spPr bwMode="auto">
            <a:xfrm>
              <a:off x="4142829" y="2771499"/>
              <a:ext cx="408710"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72" name="组合 71"/>
          <p:cNvGrpSpPr/>
          <p:nvPr/>
        </p:nvGrpSpPr>
        <p:grpSpPr>
          <a:xfrm>
            <a:off x="2059329" y="2605906"/>
            <a:ext cx="2087240" cy="857226"/>
            <a:chOff x="2059329" y="2428927"/>
            <a:chExt cx="2087240" cy="857226"/>
          </a:xfrm>
        </p:grpSpPr>
        <p:sp>
          <p:nvSpPr>
            <p:cNvPr id="34" name="Rectangle 60"/>
            <p:cNvSpPr>
              <a:spLocks noChangeArrowheads="1"/>
            </p:cNvSpPr>
            <p:nvPr/>
          </p:nvSpPr>
          <p:spPr bwMode="auto">
            <a:xfrm>
              <a:off x="2059329" y="2727937"/>
              <a:ext cx="2087240" cy="558216"/>
            </a:xfrm>
            <a:prstGeom prst="rect">
              <a:avLst/>
            </a:prstGeom>
            <a:solidFill>
              <a:srgbClr val="66FF66"/>
            </a:solidFill>
            <a:ln w="28575">
              <a:solidFill>
                <a:srgbClr val="000066"/>
              </a:solidFill>
              <a:miter lim="800000"/>
              <a:headEnd/>
              <a:tailEnd/>
            </a:ln>
            <a:effec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2" name="Text Box 61"/>
            <p:cNvSpPr txBox="1">
              <a:spLocks noChangeArrowheads="1"/>
            </p:cNvSpPr>
            <p:nvPr/>
          </p:nvSpPr>
          <p:spPr bwMode="auto">
            <a:xfrm>
              <a:off x="2715596" y="2428927"/>
              <a:ext cx="90281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latin typeface="微软雅黑" pitchFamily="34" charset="-122"/>
                  <a:ea typeface="微软雅黑" pitchFamily="34" charset="-122"/>
                </a:rPr>
                <a:t>发送窗口</a:t>
              </a:r>
            </a:p>
          </p:txBody>
        </p:sp>
      </p:grpSp>
      <p:grpSp>
        <p:nvGrpSpPr>
          <p:cNvPr id="71" name="组合 70"/>
          <p:cNvGrpSpPr/>
          <p:nvPr/>
        </p:nvGrpSpPr>
        <p:grpSpPr>
          <a:xfrm>
            <a:off x="1895639" y="3409736"/>
            <a:ext cx="723275" cy="602023"/>
            <a:chOff x="1895639" y="3232757"/>
            <a:chExt cx="723275" cy="602023"/>
          </a:xfrm>
        </p:grpSpPr>
        <p:sp>
          <p:nvSpPr>
            <p:cNvPr id="66" name="Line 33"/>
            <p:cNvSpPr>
              <a:spLocks noChangeShapeType="1"/>
            </p:cNvSpPr>
            <p:nvPr/>
          </p:nvSpPr>
          <p:spPr bwMode="auto">
            <a:xfrm flipV="1">
              <a:off x="2251262" y="3232757"/>
              <a:ext cx="0" cy="348035"/>
            </a:xfrm>
            <a:prstGeom prst="line">
              <a:avLst/>
            </a:prstGeom>
            <a:noFill/>
            <a:ln w="38100">
              <a:solidFill>
                <a:srgbClr val="C0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34"/>
            <p:cNvSpPr txBox="1">
              <a:spLocks noChangeArrowheads="1"/>
            </p:cNvSpPr>
            <p:nvPr/>
          </p:nvSpPr>
          <p:spPr bwMode="auto">
            <a:xfrm>
              <a:off x="1895639" y="3527003"/>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400" b="1" dirty="0">
                  <a:solidFill>
                    <a:srgbClr val="C00000"/>
                  </a:solidFill>
                  <a:latin typeface="微软雅黑" pitchFamily="34" charset="-122"/>
                  <a:ea typeface="微软雅黑" pitchFamily="34" charset="-122"/>
                </a:rPr>
                <a:t>被确认</a:t>
              </a:r>
            </a:p>
          </p:txBody>
        </p:sp>
      </p:grpSp>
      <p:grpSp>
        <p:nvGrpSpPr>
          <p:cNvPr id="69" name="组合 68"/>
          <p:cNvGrpSpPr/>
          <p:nvPr/>
        </p:nvGrpSpPr>
        <p:grpSpPr>
          <a:xfrm>
            <a:off x="2057401" y="3029180"/>
            <a:ext cx="5014229" cy="309689"/>
            <a:chOff x="2057401" y="2852201"/>
            <a:chExt cx="5014229" cy="309689"/>
          </a:xfrm>
        </p:grpSpPr>
        <p:sp>
          <p:nvSpPr>
            <p:cNvPr id="35" name="Rectangle 48"/>
            <p:cNvSpPr>
              <a:spLocks noChangeArrowheads="1"/>
            </p:cNvSpPr>
            <p:nvPr/>
          </p:nvSpPr>
          <p:spPr bwMode="auto">
            <a:xfrm>
              <a:off x="2057401" y="2852201"/>
              <a:ext cx="5007434" cy="309689"/>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39" name="Rectangle 36"/>
            <p:cNvSpPr>
              <a:spLocks noChangeArrowheads="1"/>
            </p:cNvSpPr>
            <p:nvPr/>
          </p:nvSpPr>
          <p:spPr bwMode="auto">
            <a:xfrm>
              <a:off x="2057401"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a:t>
              </a:r>
            </a:p>
          </p:txBody>
        </p:sp>
        <p:sp>
          <p:nvSpPr>
            <p:cNvPr id="40" name="Rectangle 37"/>
            <p:cNvSpPr>
              <a:spLocks noChangeArrowheads="1"/>
            </p:cNvSpPr>
            <p:nvPr/>
          </p:nvSpPr>
          <p:spPr bwMode="auto">
            <a:xfrm>
              <a:off x="2474849"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2</a:t>
              </a:r>
            </a:p>
          </p:txBody>
        </p:sp>
        <p:sp>
          <p:nvSpPr>
            <p:cNvPr id="41" name="Rectangle 38"/>
            <p:cNvSpPr>
              <a:spLocks noChangeArrowheads="1"/>
            </p:cNvSpPr>
            <p:nvPr/>
          </p:nvSpPr>
          <p:spPr bwMode="auto">
            <a:xfrm>
              <a:off x="2893267"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3</a:t>
              </a:r>
            </a:p>
          </p:txBody>
        </p:sp>
        <p:sp>
          <p:nvSpPr>
            <p:cNvPr id="42" name="Rectangle 39"/>
            <p:cNvSpPr>
              <a:spLocks noChangeArrowheads="1"/>
            </p:cNvSpPr>
            <p:nvPr/>
          </p:nvSpPr>
          <p:spPr bwMode="auto">
            <a:xfrm>
              <a:off x="3309745"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4</a:t>
              </a:r>
            </a:p>
          </p:txBody>
        </p:sp>
        <p:sp>
          <p:nvSpPr>
            <p:cNvPr id="43" name="Rectangle 40"/>
            <p:cNvSpPr>
              <a:spLocks noChangeArrowheads="1"/>
            </p:cNvSpPr>
            <p:nvPr/>
          </p:nvSpPr>
          <p:spPr bwMode="auto">
            <a:xfrm>
              <a:off x="3729134"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5</a:t>
              </a:r>
            </a:p>
          </p:txBody>
        </p:sp>
        <p:sp>
          <p:nvSpPr>
            <p:cNvPr id="44" name="Rectangle 41"/>
            <p:cNvSpPr>
              <a:spLocks noChangeArrowheads="1"/>
            </p:cNvSpPr>
            <p:nvPr/>
          </p:nvSpPr>
          <p:spPr bwMode="auto">
            <a:xfrm>
              <a:off x="4147553"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6</a:t>
              </a:r>
            </a:p>
          </p:txBody>
        </p:sp>
        <p:sp>
          <p:nvSpPr>
            <p:cNvPr id="45" name="Rectangle 42"/>
            <p:cNvSpPr>
              <a:spLocks noChangeArrowheads="1"/>
            </p:cNvSpPr>
            <p:nvPr/>
          </p:nvSpPr>
          <p:spPr bwMode="auto">
            <a:xfrm>
              <a:off x="4564030"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7</a:t>
              </a:r>
            </a:p>
          </p:txBody>
        </p:sp>
        <p:sp>
          <p:nvSpPr>
            <p:cNvPr id="46" name="Rectangle 43"/>
            <p:cNvSpPr>
              <a:spLocks noChangeArrowheads="1"/>
            </p:cNvSpPr>
            <p:nvPr/>
          </p:nvSpPr>
          <p:spPr bwMode="auto">
            <a:xfrm>
              <a:off x="4983420" y="2852201"/>
              <a:ext cx="416477"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8</a:t>
              </a:r>
            </a:p>
          </p:txBody>
        </p:sp>
        <p:sp>
          <p:nvSpPr>
            <p:cNvPr id="47" name="Rectangle 44"/>
            <p:cNvSpPr>
              <a:spLocks noChangeArrowheads="1"/>
            </p:cNvSpPr>
            <p:nvPr/>
          </p:nvSpPr>
          <p:spPr bwMode="auto">
            <a:xfrm>
              <a:off x="539989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9</a:t>
              </a:r>
            </a:p>
          </p:txBody>
        </p:sp>
        <p:sp>
          <p:nvSpPr>
            <p:cNvPr id="48" name="Rectangle 45"/>
            <p:cNvSpPr>
              <a:spLocks noChangeArrowheads="1"/>
            </p:cNvSpPr>
            <p:nvPr/>
          </p:nvSpPr>
          <p:spPr bwMode="auto">
            <a:xfrm>
              <a:off x="5818316"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10</a:t>
              </a:r>
            </a:p>
          </p:txBody>
        </p:sp>
        <p:sp>
          <p:nvSpPr>
            <p:cNvPr id="49" name="Rectangle 46"/>
            <p:cNvSpPr>
              <a:spLocks noChangeArrowheads="1"/>
            </p:cNvSpPr>
            <p:nvPr/>
          </p:nvSpPr>
          <p:spPr bwMode="auto">
            <a:xfrm>
              <a:off x="6236734"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11</a:t>
              </a:r>
            </a:p>
          </p:txBody>
        </p:sp>
        <p:sp>
          <p:nvSpPr>
            <p:cNvPr id="50" name="Rectangle 47"/>
            <p:cNvSpPr>
              <a:spLocks noChangeArrowheads="1"/>
            </p:cNvSpPr>
            <p:nvPr/>
          </p:nvSpPr>
          <p:spPr bwMode="auto">
            <a:xfrm>
              <a:off x="6654182" y="2852201"/>
              <a:ext cx="417448" cy="30968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400" b="1" dirty="0">
                  <a:latin typeface="微软雅黑" pitchFamily="34" charset="-122"/>
                  <a:ea typeface="微软雅黑" pitchFamily="34" charset="-122"/>
                </a:rPr>
                <a:t>12</a:t>
              </a:r>
            </a:p>
          </p:txBody>
        </p:sp>
        <p:sp>
          <p:nvSpPr>
            <p:cNvPr id="51" name="Line 49"/>
            <p:cNvSpPr>
              <a:spLocks noChangeShapeType="1"/>
            </p:cNvSpPr>
            <p:nvPr/>
          </p:nvSpPr>
          <p:spPr bwMode="auto">
            <a:xfrm>
              <a:off x="24748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2" name="Line 50"/>
            <p:cNvSpPr>
              <a:spLocks noChangeShapeType="1"/>
            </p:cNvSpPr>
            <p:nvPr/>
          </p:nvSpPr>
          <p:spPr bwMode="auto">
            <a:xfrm>
              <a:off x="289132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3" name="Line 51"/>
            <p:cNvSpPr>
              <a:spLocks noChangeShapeType="1"/>
            </p:cNvSpPr>
            <p:nvPr/>
          </p:nvSpPr>
          <p:spPr bwMode="auto">
            <a:xfrm>
              <a:off x="3308773"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4" name="Line 52"/>
            <p:cNvSpPr>
              <a:spLocks noChangeShapeType="1"/>
            </p:cNvSpPr>
            <p:nvPr/>
          </p:nvSpPr>
          <p:spPr bwMode="auto">
            <a:xfrm>
              <a:off x="3725251"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5" name="Line 53"/>
            <p:cNvSpPr>
              <a:spLocks noChangeShapeType="1"/>
            </p:cNvSpPr>
            <p:nvPr/>
          </p:nvSpPr>
          <p:spPr bwMode="auto">
            <a:xfrm>
              <a:off x="414269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6" name="Line 54"/>
            <p:cNvSpPr>
              <a:spLocks noChangeShapeType="1"/>
            </p:cNvSpPr>
            <p:nvPr/>
          </p:nvSpPr>
          <p:spPr bwMode="auto">
            <a:xfrm>
              <a:off x="456014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7" name="Line 55"/>
            <p:cNvSpPr>
              <a:spLocks noChangeShapeType="1"/>
            </p:cNvSpPr>
            <p:nvPr/>
          </p:nvSpPr>
          <p:spPr bwMode="auto">
            <a:xfrm>
              <a:off x="4976624"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8" name="Line 56"/>
            <p:cNvSpPr>
              <a:spLocks noChangeShapeType="1"/>
            </p:cNvSpPr>
            <p:nvPr/>
          </p:nvSpPr>
          <p:spPr bwMode="auto">
            <a:xfrm>
              <a:off x="5394072"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9" name="Line 57"/>
            <p:cNvSpPr>
              <a:spLocks noChangeShapeType="1"/>
            </p:cNvSpPr>
            <p:nvPr/>
          </p:nvSpPr>
          <p:spPr bwMode="auto">
            <a:xfrm>
              <a:off x="5810549"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0" name="Line 58"/>
            <p:cNvSpPr>
              <a:spLocks noChangeShapeType="1"/>
            </p:cNvSpPr>
            <p:nvPr/>
          </p:nvSpPr>
          <p:spPr bwMode="auto">
            <a:xfrm>
              <a:off x="6227997"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1" name="Line 59"/>
            <p:cNvSpPr>
              <a:spLocks noChangeShapeType="1"/>
            </p:cNvSpPr>
            <p:nvPr/>
          </p:nvSpPr>
          <p:spPr bwMode="auto">
            <a:xfrm>
              <a:off x="6645445" y="2852201"/>
              <a:ext cx="0" cy="3096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Tree>
    <p:extLst>
      <p:ext uri="{BB962C8B-B14F-4D97-AF65-F5344CB8AC3E}">
        <p14:creationId xmlns:p14="http://schemas.microsoft.com/office/powerpoint/2010/main" val="3563511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3"/>
                                        </p:tgtEl>
                                        <p:attrNameLst>
                                          <p:attrName>style.visibility</p:attrName>
                                        </p:attrNameLst>
                                      </p:cBhvr>
                                      <p:to>
                                        <p:strVal val="visible"/>
                                      </p:to>
                                    </p:set>
                                  </p:childTnLst>
                                </p:cTn>
                              </p:par>
                            </p:childTnLst>
                          </p:cTn>
                        </p:par>
                        <p:par>
                          <p:cTn id="10" fill="hold">
                            <p:stCondLst>
                              <p:cond delay="0"/>
                            </p:stCondLst>
                            <p:childTnLst>
                              <p:par>
                                <p:cTn id="11" presetID="35" presetClass="emph" presetSubtype="0" repeatCount="3000" fill="hold" nodeType="afterEffect">
                                  <p:stCondLst>
                                    <p:cond delay="0"/>
                                  </p:stCondLst>
                                  <p:childTnLst>
                                    <p:anim calcmode="discrete" valueType="str">
                                      <p:cBhvr>
                                        <p:cTn id="12" dur="1000" fill="hold"/>
                                        <p:tgtEl>
                                          <p:spTgt spid="73"/>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63" presetClass="path" presetSubtype="0" accel="50000" decel="50000" fill="hold" nodeType="afterEffect">
                                  <p:stCondLst>
                                    <p:cond delay="0"/>
                                  </p:stCondLst>
                                  <p:childTnLst>
                                    <p:animMotion origin="layout" path="M 3.88889E-6 -3.45679E-6 L 0.04548 -3.45679E-6 " pathEditMode="relative" rAng="0" ptsTypes="AA">
                                      <p:cBhvr>
                                        <p:cTn id="15" dur="2000" fill="hold"/>
                                        <p:tgtEl>
                                          <p:spTgt spid="72"/>
                                        </p:tgtEl>
                                        <p:attrNameLst>
                                          <p:attrName>ppt_x</p:attrName>
                                          <p:attrName>ppt_y</p:attrName>
                                        </p:attrNameLst>
                                      </p:cBhvr>
                                      <p:rCtr x="227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9">
            <a:extLst>
              <a:ext uri="{FF2B5EF4-FFF2-40B4-BE49-F238E27FC236}">
                <a16:creationId xmlns:a16="http://schemas.microsoft.com/office/drawing/2014/main" id="{CB8ADEDB-CD5B-E37C-6460-67AF5DA3053C}"/>
              </a:ext>
            </a:extLst>
          </p:cNvPr>
          <p:cNvSpPr>
            <a:spLocks noChangeArrowheads="1"/>
          </p:cNvSpPr>
          <p:nvPr/>
        </p:nvSpPr>
        <p:spPr bwMode="auto">
          <a:xfrm>
            <a:off x="2077541" y="1367482"/>
            <a:ext cx="3330000" cy="557244"/>
          </a:xfrm>
          <a:prstGeom prst="rect">
            <a:avLst/>
          </a:prstGeom>
          <a:noFill/>
          <a:ln w="12700">
            <a:solidFill>
              <a:schemeClr val="tx1"/>
            </a:solidFill>
            <a:miter lim="800000"/>
            <a:headEnd/>
            <a:tailEnd/>
          </a:ln>
          <a:effectLst/>
        </p:spPr>
        <p:txBody>
          <a:bodyPr wrap="none" anchor="ctr"/>
          <a:lstStyle/>
          <a:p>
            <a:pPr algn="ctr"/>
            <a:endParaRPr lang="zh-CN" altLang="en-US" sz="1200">
              <a:latin typeface="Montserrat" panose="00000500000000000000" pitchFamily="2" charset="0"/>
              <a:ea typeface="微软雅黑 Light" panose="020B0502040204020203" pitchFamily="34" charset="-122"/>
            </a:endParaRPr>
          </a:p>
        </p:txBody>
      </p:sp>
      <p:sp>
        <p:nvSpPr>
          <p:cNvPr id="30" name="Text Box 31">
            <a:extLst>
              <a:ext uri="{FF2B5EF4-FFF2-40B4-BE49-F238E27FC236}">
                <a16:creationId xmlns:a16="http://schemas.microsoft.com/office/drawing/2014/main" id="{CE160EBD-7171-0F42-2D6E-B1E26D0B76BA}"/>
              </a:ext>
            </a:extLst>
          </p:cNvPr>
          <p:cNvSpPr txBox="1">
            <a:spLocks noChangeArrowheads="1"/>
          </p:cNvSpPr>
          <p:nvPr/>
        </p:nvSpPr>
        <p:spPr bwMode="auto">
          <a:xfrm>
            <a:off x="3342431" y="1038750"/>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atin typeface="Montserrat" panose="00000500000000000000" pitchFamily="2" charset="0"/>
                <a:ea typeface="微软雅黑 Light" panose="020B0502040204020203" pitchFamily="34" charset="-122"/>
              </a:rPr>
              <a:t>发送窗口</a:t>
            </a:r>
          </a:p>
        </p:txBody>
      </p:sp>
      <p:graphicFrame>
        <p:nvGraphicFramePr>
          <p:cNvPr id="31" name="表格 30">
            <a:extLst>
              <a:ext uri="{FF2B5EF4-FFF2-40B4-BE49-F238E27FC236}">
                <a16:creationId xmlns:a16="http://schemas.microsoft.com/office/drawing/2014/main" id="{3A93FFC0-D82B-A3A2-A5C2-0A4EEDE22CB2}"/>
              </a:ext>
            </a:extLst>
          </p:cNvPr>
          <p:cNvGraphicFramePr>
            <a:graphicFrameLocks noGrp="1"/>
          </p:cNvGraphicFramePr>
          <p:nvPr>
            <p:extLst>
              <p:ext uri="{D42A27DB-BD31-4B8C-83A1-F6EECF244321}">
                <p14:modId xmlns:p14="http://schemas.microsoft.com/office/powerpoint/2010/main" val="3169804642"/>
              </p:ext>
            </p:extLst>
          </p:nvPr>
        </p:nvGraphicFramePr>
        <p:xfrm>
          <a:off x="642065" y="1460684"/>
          <a:ext cx="6192004" cy="370840"/>
        </p:xfrm>
        <a:graphic>
          <a:graphicData uri="http://schemas.openxmlformats.org/drawingml/2006/table">
            <a:tbl>
              <a:tblPr firstRow="1" bandRow="1">
                <a:tableStyleId>{5C22544A-7EE6-4342-B048-85BDC9FD1C3A}</a:tableStyleId>
              </a:tblPr>
              <a:tblGrid>
                <a:gridCol w="476308">
                  <a:extLst>
                    <a:ext uri="{9D8B030D-6E8A-4147-A177-3AD203B41FA5}">
                      <a16:colId xmlns:a16="http://schemas.microsoft.com/office/drawing/2014/main" val="2200288259"/>
                    </a:ext>
                  </a:extLst>
                </a:gridCol>
                <a:gridCol w="476308">
                  <a:extLst>
                    <a:ext uri="{9D8B030D-6E8A-4147-A177-3AD203B41FA5}">
                      <a16:colId xmlns:a16="http://schemas.microsoft.com/office/drawing/2014/main" val="510444732"/>
                    </a:ext>
                  </a:extLst>
                </a:gridCol>
                <a:gridCol w="476308">
                  <a:extLst>
                    <a:ext uri="{9D8B030D-6E8A-4147-A177-3AD203B41FA5}">
                      <a16:colId xmlns:a16="http://schemas.microsoft.com/office/drawing/2014/main" val="665841289"/>
                    </a:ext>
                  </a:extLst>
                </a:gridCol>
                <a:gridCol w="476308">
                  <a:extLst>
                    <a:ext uri="{9D8B030D-6E8A-4147-A177-3AD203B41FA5}">
                      <a16:colId xmlns:a16="http://schemas.microsoft.com/office/drawing/2014/main" val="1392981243"/>
                    </a:ext>
                  </a:extLst>
                </a:gridCol>
                <a:gridCol w="476308">
                  <a:extLst>
                    <a:ext uri="{9D8B030D-6E8A-4147-A177-3AD203B41FA5}">
                      <a16:colId xmlns:a16="http://schemas.microsoft.com/office/drawing/2014/main" val="212317948"/>
                    </a:ext>
                  </a:extLst>
                </a:gridCol>
                <a:gridCol w="476308">
                  <a:extLst>
                    <a:ext uri="{9D8B030D-6E8A-4147-A177-3AD203B41FA5}">
                      <a16:colId xmlns:a16="http://schemas.microsoft.com/office/drawing/2014/main" val="4122724786"/>
                    </a:ext>
                  </a:extLst>
                </a:gridCol>
                <a:gridCol w="476308">
                  <a:extLst>
                    <a:ext uri="{9D8B030D-6E8A-4147-A177-3AD203B41FA5}">
                      <a16:colId xmlns:a16="http://schemas.microsoft.com/office/drawing/2014/main" val="1728774863"/>
                    </a:ext>
                  </a:extLst>
                </a:gridCol>
                <a:gridCol w="476308">
                  <a:extLst>
                    <a:ext uri="{9D8B030D-6E8A-4147-A177-3AD203B41FA5}">
                      <a16:colId xmlns:a16="http://schemas.microsoft.com/office/drawing/2014/main" val="855356992"/>
                    </a:ext>
                  </a:extLst>
                </a:gridCol>
                <a:gridCol w="476308">
                  <a:extLst>
                    <a:ext uri="{9D8B030D-6E8A-4147-A177-3AD203B41FA5}">
                      <a16:colId xmlns:a16="http://schemas.microsoft.com/office/drawing/2014/main" val="1700185165"/>
                    </a:ext>
                  </a:extLst>
                </a:gridCol>
                <a:gridCol w="476308">
                  <a:extLst>
                    <a:ext uri="{9D8B030D-6E8A-4147-A177-3AD203B41FA5}">
                      <a16:colId xmlns:a16="http://schemas.microsoft.com/office/drawing/2014/main" val="3830274490"/>
                    </a:ext>
                  </a:extLst>
                </a:gridCol>
                <a:gridCol w="476308">
                  <a:extLst>
                    <a:ext uri="{9D8B030D-6E8A-4147-A177-3AD203B41FA5}">
                      <a16:colId xmlns:a16="http://schemas.microsoft.com/office/drawing/2014/main" val="916734300"/>
                    </a:ext>
                  </a:extLst>
                </a:gridCol>
                <a:gridCol w="476308">
                  <a:extLst>
                    <a:ext uri="{9D8B030D-6E8A-4147-A177-3AD203B41FA5}">
                      <a16:colId xmlns:a16="http://schemas.microsoft.com/office/drawing/2014/main" val="309986160"/>
                    </a:ext>
                  </a:extLst>
                </a:gridCol>
                <a:gridCol w="476308">
                  <a:extLst>
                    <a:ext uri="{9D8B030D-6E8A-4147-A177-3AD203B41FA5}">
                      <a16:colId xmlns:a16="http://schemas.microsoft.com/office/drawing/2014/main" val="2407419829"/>
                    </a:ext>
                  </a:extLst>
                </a:gridCol>
              </a:tblGrid>
              <a:tr h="370840">
                <a:tc>
                  <a:txBody>
                    <a:bodyPr/>
                    <a:lstStyle/>
                    <a:p>
                      <a:pPr algn="ctr"/>
                      <a:endParaRPr lang="zh-CN" altLang="en-US" sz="1200" b="0" dirty="0">
                        <a:solidFill>
                          <a:schemeClr val="tx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200" b="0" dirty="0">
                        <a:solidFill>
                          <a:schemeClr val="tx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200" b="0" dirty="0">
                        <a:solidFill>
                          <a:schemeClr val="tx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zh-CN" altLang="en-US" sz="1200" b="0" dirty="0">
                        <a:solidFill>
                          <a:schemeClr val="bg1"/>
                        </a:solidFill>
                        <a:latin typeface="Montserrat" panose="00000500000000000000" pitchFamily="2"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63282287"/>
                  </a:ext>
                </a:extLst>
              </a:tr>
            </a:tbl>
          </a:graphicData>
        </a:graphic>
      </p:graphicFrame>
      <p:sp>
        <p:nvSpPr>
          <p:cNvPr id="32" name="AutoShape 26">
            <a:extLst>
              <a:ext uri="{FF2B5EF4-FFF2-40B4-BE49-F238E27FC236}">
                <a16:creationId xmlns:a16="http://schemas.microsoft.com/office/drawing/2014/main" id="{6E6E67BF-0C2B-64DE-7126-350FD971904F}"/>
              </a:ext>
            </a:extLst>
          </p:cNvPr>
          <p:cNvSpPr>
            <a:spLocks/>
          </p:cNvSpPr>
          <p:nvPr/>
        </p:nvSpPr>
        <p:spPr bwMode="auto">
          <a:xfrm rot="16200000">
            <a:off x="4409693" y="1214024"/>
            <a:ext cx="108000" cy="18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3" name="AutoShape 26">
            <a:extLst>
              <a:ext uri="{FF2B5EF4-FFF2-40B4-BE49-F238E27FC236}">
                <a16:creationId xmlns:a16="http://schemas.microsoft.com/office/drawing/2014/main" id="{27556AE5-7E0A-B51E-5AC8-DB9D1E58A796}"/>
              </a:ext>
            </a:extLst>
          </p:cNvPr>
          <p:cNvSpPr>
            <a:spLocks/>
          </p:cNvSpPr>
          <p:nvPr/>
        </p:nvSpPr>
        <p:spPr bwMode="auto">
          <a:xfrm rot="16200000">
            <a:off x="2743541" y="1412024"/>
            <a:ext cx="108000" cy="1440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5" name="AutoShape 26">
            <a:extLst>
              <a:ext uri="{FF2B5EF4-FFF2-40B4-BE49-F238E27FC236}">
                <a16:creationId xmlns:a16="http://schemas.microsoft.com/office/drawing/2014/main" id="{2BEA4913-768B-DEA7-66B5-78C630B78707}"/>
              </a:ext>
            </a:extLst>
          </p:cNvPr>
          <p:cNvSpPr>
            <a:spLocks/>
          </p:cNvSpPr>
          <p:nvPr/>
        </p:nvSpPr>
        <p:spPr bwMode="auto">
          <a:xfrm rot="16200000">
            <a:off x="1308065" y="1412023"/>
            <a:ext cx="108000" cy="1440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6" name="AutoShape 26">
            <a:extLst>
              <a:ext uri="{FF2B5EF4-FFF2-40B4-BE49-F238E27FC236}">
                <a16:creationId xmlns:a16="http://schemas.microsoft.com/office/drawing/2014/main" id="{34B5F3B1-1EAE-E2E9-21E3-95D5158A20CB}"/>
              </a:ext>
            </a:extLst>
          </p:cNvPr>
          <p:cNvSpPr>
            <a:spLocks/>
          </p:cNvSpPr>
          <p:nvPr/>
        </p:nvSpPr>
        <p:spPr bwMode="auto">
          <a:xfrm rot="16200000">
            <a:off x="6060069" y="1412024"/>
            <a:ext cx="108000" cy="1440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37" name="文本框 36">
            <a:extLst>
              <a:ext uri="{FF2B5EF4-FFF2-40B4-BE49-F238E27FC236}">
                <a16:creationId xmlns:a16="http://schemas.microsoft.com/office/drawing/2014/main" id="{E06DADD9-1CB5-5A33-3373-B55F0CC83092}"/>
              </a:ext>
            </a:extLst>
          </p:cNvPr>
          <p:cNvSpPr txBox="1"/>
          <p:nvPr/>
        </p:nvSpPr>
        <p:spPr>
          <a:xfrm>
            <a:off x="2474375" y="2257769"/>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未确认</a:t>
            </a:r>
            <a:endParaRPr lang="en-US" altLang="zh-CN" sz="1200" dirty="0">
              <a:latin typeface="微软雅黑 Light" panose="020B0502040204020203" pitchFamily="34" charset="-122"/>
              <a:ea typeface="微软雅黑 Light" panose="020B0502040204020203" pitchFamily="34" charset="-122"/>
            </a:endParaRPr>
          </a:p>
        </p:txBody>
      </p:sp>
      <p:sp>
        <p:nvSpPr>
          <p:cNvPr id="38" name="文本框 37">
            <a:extLst>
              <a:ext uri="{FF2B5EF4-FFF2-40B4-BE49-F238E27FC236}">
                <a16:creationId xmlns:a16="http://schemas.microsoft.com/office/drawing/2014/main" id="{F165BC0C-9023-BCF4-DC4A-9565937E9C5C}"/>
              </a:ext>
            </a:extLst>
          </p:cNvPr>
          <p:cNvSpPr txBox="1"/>
          <p:nvPr/>
        </p:nvSpPr>
        <p:spPr>
          <a:xfrm>
            <a:off x="4136879" y="2257769"/>
            <a:ext cx="646331"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未发送</a:t>
            </a:r>
            <a:endParaRPr lang="en-US" altLang="zh-CN" sz="1200" dirty="0">
              <a:latin typeface="微软雅黑 Light" panose="020B0502040204020203" pitchFamily="34" charset="-122"/>
              <a:ea typeface="微软雅黑 Light" panose="020B0502040204020203" pitchFamily="34" charset="-122"/>
            </a:endParaRPr>
          </a:p>
        </p:txBody>
      </p:sp>
      <p:sp>
        <p:nvSpPr>
          <p:cNvPr id="39" name="文本框 38">
            <a:extLst>
              <a:ext uri="{FF2B5EF4-FFF2-40B4-BE49-F238E27FC236}">
                <a16:creationId xmlns:a16="http://schemas.microsoft.com/office/drawing/2014/main" id="{89C38842-852D-6020-61F3-3B2EAC3805B9}"/>
              </a:ext>
            </a:extLst>
          </p:cNvPr>
          <p:cNvSpPr txBox="1"/>
          <p:nvPr/>
        </p:nvSpPr>
        <p:spPr>
          <a:xfrm>
            <a:off x="1038900" y="2257769"/>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已确认</a:t>
            </a:r>
            <a:endParaRPr lang="en-US" altLang="zh-CN" sz="1200" dirty="0">
              <a:latin typeface="微软雅黑 Light" panose="020B0502040204020203" pitchFamily="34" charset="-122"/>
              <a:ea typeface="微软雅黑 Light" panose="020B0502040204020203" pitchFamily="34" charset="-122"/>
            </a:endParaRPr>
          </a:p>
        </p:txBody>
      </p:sp>
      <p:sp>
        <p:nvSpPr>
          <p:cNvPr id="40" name="文本框 39">
            <a:extLst>
              <a:ext uri="{FF2B5EF4-FFF2-40B4-BE49-F238E27FC236}">
                <a16:creationId xmlns:a16="http://schemas.microsoft.com/office/drawing/2014/main" id="{C0C0ACD1-9DC4-B41A-CB4B-E106BF866FFB}"/>
              </a:ext>
            </a:extLst>
          </p:cNvPr>
          <p:cNvSpPr txBox="1"/>
          <p:nvPr/>
        </p:nvSpPr>
        <p:spPr>
          <a:xfrm>
            <a:off x="5790903" y="2257769"/>
            <a:ext cx="646332"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未进入</a:t>
            </a:r>
            <a:endParaRPr lang="en-US" altLang="zh-CN" sz="1200" dirty="0">
              <a:latin typeface="微软雅黑 Light" panose="020B0502040204020203" pitchFamily="34" charset="-122"/>
              <a:ea typeface="微软雅黑 Light" panose="020B0502040204020203" pitchFamily="34" charset="-122"/>
            </a:endParaRPr>
          </a:p>
        </p:txBody>
      </p:sp>
      <p:sp>
        <p:nvSpPr>
          <p:cNvPr id="2" name="Rectangle 29">
            <a:extLst>
              <a:ext uri="{FF2B5EF4-FFF2-40B4-BE49-F238E27FC236}">
                <a16:creationId xmlns:a16="http://schemas.microsoft.com/office/drawing/2014/main" id="{5236DE82-61C0-C0AE-FEAB-22478EAB46A7}"/>
              </a:ext>
            </a:extLst>
          </p:cNvPr>
          <p:cNvSpPr>
            <a:spLocks noChangeArrowheads="1"/>
          </p:cNvSpPr>
          <p:nvPr/>
        </p:nvSpPr>
        <p:spPr bwMode="auto">
          <a:xfrm>
            <a:off x="2077541" y="3266269"/>
            <a:ext cx="3330000" cy="557244"/>
          </a:xfrm>
          <a:prstGeom prst="rect">
            <a:avLst/>
          </a:prstGeom>
          <a:noFill/>
          <a:ln w="12700">
            <a:solidFill>
              <a:schemeClr val="tx1"/>
            </a:solidFill>
            <a:miter lim="800000"/>
            <a:headEnd/>
            <a:tailEnd/>
          </a:ln>
          <a:effectLst/>
        </p:spPr>
        <p:txBody>
          <a:bodyPr wrap="none" anchor="ctr"/>
          <a:lstStyle/>
          <a:p>
            <a:pPr algn="ctr"/>
            <a:endParaRPr lang="zh-CN" altLang="en-US" sz="1200">
              <a:latin typeface="Montserrat" panose="00000500000000000000" pitchFamily="2" charset="0"/>
              <a:ea typeface="微软雅黑 Light" panose="020B0502040204020203" pitchFamily="34" charset="-122"/>
            </a:endParaRPr>
          </a:p>
        </p:txBody>
      </p:sp>
      <p:sp>
        <p:nvSpPr>
          <p:cNvPr id="3" name="Text Box 31">
            <a:extLst>
              <a:ext uri="{FF2B5EF4-FFF2-40B4-BE49-F238E27FC236}">
                <a16:creationId xmlns:a16="http://schemas.microsoft.com/office/drawing/2014/main" id="{0E46EBBD-5D4F-4C71-20A9-C8F8626F2570}"/>
              </a:ext>
            </a:extLst>
          </p:cNvPr>
          <p:cNvSpPr txBox="1">
            <a:spLocks noChangeArrowheads="1"/>
          </p:cNvSpPr>
          <p:nvPr/>
        </p:nvSpPr>
        <p:spPr bwMode="auto">
          <a:xfrm>
            <a:off x="3342432" y="2937537"/>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atin typeface="Montserrat" panose="00000500000000000000" pitchFamily="2" charset="0"/>
                <a:ea typeface="微软雅黑 Light" panose="020B0502040204020203" pitchFamily="34" charset="-122"/>
              </a:rPr>
              <a:t>接收窗口</a:t>
            </a:r>
          </a:p>
        </p:txBody>
      </p:sp>
      <p:graphicFrame>
        <p:nvGraphicFramePr>
          <p:cNvPr id="5" name="表格 4">
            <a:extLst>
              <a:ext uri="{FF2B5EF4-FFF2-40B4-BE49-F238E27FC236}">
                <a16:creationId xmlns:a16="http://schemas.microsoft.com/office/drawing/2014/main" id="{25CD0DED-9755-3BEE-57D7-83BFBF16E324}"/>
              </a:ext>
            </a:extLst>
          </p:cNvPr>
          <p:cNvGraphicFramePr>
            <a:graphicFrameLocks noGrp="1"/>
          </p:cNvGraphicFramePr>
          <p:nvPr>
            <p:extLst>
              <p:ext uri="{D42A27DB-BD31-4B8C-83A1-F6EECF244321}">
                <p14:modId xmlns:p14="http://schemas.microsoft.com/office/powerpoint/2010/main" val="1648239173"/>
              </p:ext>
            </p:extLst>
          </p:nvPr>
        </p:nvGraphicFramePr>
        <p:xfrm>
          <a:off x="642065" y="3359471"/>
          <a:ext cx="6192004" cy="370840"/>
        </p:xfrm>
        <a:graphic>
          <a:graphicData uri="http://schemas.openxmlformats.org/drawingml/2006/table">
            <a:tbl>
              <a:tblPr firstRow="1" bandRow="1">
                <a:tableStyleId>{5C22544A-7EE6-4342-B048-85BDC9FD1C3A}</a:tableStyleId>
              </a:tblPr>
              <a:tblGrid>
                <a:gridCol w="476308">
                  <a:extLst>
                    <a:ext uri="{9D8B030D-6E8A-4147-A177-3AD203B41FA5}">
                      <a16:colId xmlns:a16="http://schemas.microsoft.com/office/drawing/2014/main" val="2200288259"/>
                    </a:ext>
                  </a:extLst>
                </a:gridCol>
                <a:gridCol w="476308">
                  <a:extLst>
                    <a:ext uri="{9D8B030D-6E8A-4147-A177-3AD203B41FA5}">
                      <a16:colId xmlns:a16="http://schemas.microsoft.com/office/drawing/2014/main" val="510444732"/>
                    </a:ext>
                  </a:extLst>
                </a:gridCol>
                <a:gridCol w="476308">
                  <a:extLst>
                    <a:ext uri="{9D8B030D-6E8A-4147-A177-3AD203B41FA5}">
                      <a16:colId xmlns:a16="http://schemas.microsoft.com/office/drawing/2014/main" val="665841289"/>
                    </a:ext>
                  </a:extLst>
                </a:gridCol>
                <a:gridCol w="476308">
                  <a:extLst>
                    <a:ext uri="{9D8B030D-6E8A-4147-A177-3AD203B41FA5}">
                      <a16:colId xmlns:a16="http://schemas.microsoft.com/office/drawing/2014/main" val="1392981243"/>
                    </a:ext>
                  </a:extLst>
                </a:gridCol>
                <a:gridCol w="476308">
                  <a:extLst>
                    <a:ext uri="{9D8B030D-6E8A-4147-A177-3AD203B41FA5}">
                      <a16:colId xmlns:a16="http://schemas.microsoft.com/office/drawing/2014/main" val="212317948"/>
                    </a:ext>
                  </a:extLst>
                </a:gridCol>
                <a:gridCol w="476308">
                  <a:extLst>
                    <a:ext uri="{9D8B030D-6E8A-4147-A177-3AD203B41FA5}">
                      <a16:colId xmlns:a16="http://schemas.microsoft.com/office/drawing/2014/main" val="4122724786"/>
                    </a:ext>
                  </a:extLst>
                </a:gridCol>
                <a:gridCol w="476308">
                  <a:extLst>
                    <a:ext uri="{9D8B030D-6E8A-4147-A177-3AD203B41FA5}">
                      <a16:colId xmlns:a16="http://schemas.microsoft.com/office/drawing/2014/main" val="1728774863"/>
                    </a:ext>
                  </a:extLst>
                </a:gridCol>
                <a:gridCol w="476308">
                  <a:extLst>
                    <a:ext uri="{9D8B030D-6E8A-4147-A177-3AD203B41FA5}">
                      <a16:colId xmlns:a16="http://schemas.microsoft.com/office/drawing/2014/main" val="855356992"/>
                    </a:ext>
                  </a:extLst>
                </a:gridCol>
                <a:gridCol w="476308">
                  <a:extLst>
                    <a:ext uri="{9D8B030D-6E8A-4147-A177-3AD203B41FA5}">
                      <a16:colId xmlns:a16="http://schemas.microsoft.com/office/drawing/2014/main" val="1700185165"/>
                    </a:ext>
                  </a:extLst>
                </a:gridCol>
                <a:gridCol w="476308">
                  <a:extLst>
                    <a:ext uri="{9D8B030D-6E8A-4147-A177-3AD203B41FA5}">
                      <a16:colId xmlns:a16="http://schemas.microsoft.com/office/drawing/2014/main" val="3830274490"/>
                    </a:ext>
                  </a:extLst>
                </a:gridCol>
                <a:gridCol w="476308">
                  <a:extLst>
                    <a:ext uri="{9D8B030D-6E8A-4147-A177-3AD203B41FA5}">
                      <a16:colId xmlns:a16="http://schemas.microsoft.com/office/drawing/2014/main" val="916734300"/>
                    </a:ext>
                  </a:extLst>
                </a:gridCol>
                <a:gridCol w="476308">
                  <a:extLst>
                    <a:ext uri="{9D8B030D-6E8A-4147-A177-3AD203B41FA5}">
                      <a16:colId xmlns:a16="http://schemas.microsoft.com/office/drawing/2014/main" val="309986160"/>
                    </a:ext>
                  </a:extLst>
                </a:gridCol>
                <a:gridCol w="476308">
                  <a:extLst>
                    <a:ext uri="{9D8B030D-6E8A-4147-A177-3AD203B41FA5}">
                      <a16:colId xmlns:a16="http://schemas.microsoft.com/office/drawing/2014/main" val="2407419829"/>
                    </a:ext>
                  </a:extLst>
                </a:gridCol>
              </a:tblGrid>
              <a:tr h="370840">
                <a:tc>
                  <a:txBody>
                    <a:bodyPr/>
                    <a:lstStyle/>
                    <a:p>
                      <a:pPr algn="ct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200" b="0" dirty="0">
                        <a:solidFill>
                          <a:schemeClr val="tx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endParaRPr lang="zh-CN" altLang="en-US" sz="10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endParaRPr lang="zh-CN" altLang="en-US" sz="10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zh-CN" altLang="en-US" sz="10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endParaRPr lang="zh-CN" altLang="en-US" sz="12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200" b="0" dirty="0">
                        <a:solidFill>
                          <a:schemeClr val="bg1"/>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rgbClr val="FF0000"/>
                          </a:solidFill>
                          <a:latin typeface="微软雅黑 Light" panose="020B0502040204020203" pitchFamily="34" charset="-122"/>
                          <a:ea typeface="微软雅黑 Light" panose="020B0502040204020203" pitchFamily="34" charset="-122"/>
                        </a:rPr>
                        <a:t>x</a:t>
                      </a:r>
                      <a:endParaRPr lang="zh-CN" altLang="en-US" sz="1200" b="0" dirty="0">
                        <a:solidFill>
                          <a:srgbClr val="FF0000"/>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rgbClr val="FF0000"/>
                          </a:solidFill>
                          <a:latin typeface="微软雅黑 Light" panose="020B0502040204020203" pitchFamily="34" charset="-122"/>
                          <a:ea typeface="微软雅黑 Light" panose="020B0502040204020203" pitchFamily="34" charset="-122"/>
                        </a:rPr>
                        <a:t>x</a:t>
                      </a:r>
                      <a:endParaRPr lang="zh-CN" altLang="en-US" sz="1200" b="0" dirty="0">
                        <a:solidFill>
                          <a:srgbClr val="FF0000"/>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200" b="0" dirty="0">
                          <a:solidFill>
                            <a:srgbClr val="FF0000"/>
                          </a:solidFill>
                          <a:latin typeface="微软雅黑 Light" panose="020B0502040204020203" pitchFamily="34" charset="-122"/>
                          <a:ea typeface="微软雅黑 Light" panose="020B0502040204020203" pitchFamily="34" charset="-122"/>
                        </a:rPr>
                        <a:t>x</a:t>
                      </a:r>
                      <a:endParaRPr lang="zh-CN" altLang="en-US" sz="1200" b="0" dirty="0">
                        <a:solidFill>
                          <a:srgbClr val="FF0000"/>
                        </a:solidFill>
                        <a:latin typeface="微软雅黑 Light" panose="020B0502040204020203" pitchFamily="34" charset="-122"/>
                        <a:ea typeface="微软雅黑 Light" panose="020B0502040204020203" pitchFamily="34" charset="-122"/>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3282287"/>
                  </a:ext>
                </a:extLst>
              </a:tr>
            </a:tbl>
          </a:graphicData>
        </a:graphic>
      </p:graphicFrame>
      <p:sp>
        <p:nvSpPr>
          <p:cNvPr id="6" name="AutoShape 26">
            <a:extLst>
              <a:ext uri="{FF2B5EF4-FFF2-40B4-BE49-F238E27FC236}">
                <a16:creationId xmlns:a16="http://schemas.microsoft.com/office/drawing/2014/main" id="{40830B2F-6354-BA21-249E-D098B656A358}"/>
              </a:ext>
            </a:extLst>
          </p:cNvPr>
          <p:cNvSpPr>
            <a:spLocks/>
          </p:cNvSpPr>
          <p:nvPr/>
        </p:nvSpPr>
        <p:spPr bwMode="auto">
          <a:xfrm rot="16200000">
            <a:off x="4409693" y="3112811"/>
            <a:ext cx="108000" cy="18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7" name="AutoShape 26">
            <a:extLst>
              <a:ext uri="{FF2B5EF4-FFF2-40B4-BE49-F238E27FC236}">
                <a16:creationId xmlns:a16="http://schemas.microsoft.com/office/drawing/2014/main" id="{3486C548-2C08-2175-E240-55DED8817CB8}"/>
              </a:ext>
            </a:extLst>
          </p:cNvPr>
          <p:cNvSpPr>
            <a:spLocks/>
          </p:cNvSpPr>
          <p:nvPr/>
        </p:nvSpPr>
        <p:spPr bwMode="auto">
          <a:xfrm rot="16200000">
            <a:off x="2257541" y="3796811"/>
            <a:ext cx="108000" cy="468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8" name="AutoShape 26">
            <a:extLst>
              <a:ext uri="{FF2B5EF4-FFF2-40B4-BE49-F238E27FC236}">
                <a16:creationId xmlns:a16="http://schemas.microsoft.com/office/drawing/2014/main" id="{61B1B53D-FB4C-75A7-877E-B37D0F093897}"/>
              </a:ext>
            </a:extLst>
          </p:cNvPr>
          <p:cNvSpPr>
            <a:spLocks/>
          </p:cNvSpPr>
          <p:nvPr/>
        </p:nvSpPr>
        <p:spPr bwMode="auto">
          <a:xfrm rot="16200000">
            <a:off x="1308065" y="3310810"/>
            <a:ext cx="108000" cy="1440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0" name="文本框 9">
            <a:extLst>
              <a:ext uri="{FF2B5EF4-FFF2-40B4-BE49-F238E27FC236}">
                <a16:creationId xmlns:a16="http://schemas.microsoft.com/office/drawing/2014/main" id="{0B232B86-25D1-DBF1-7423-4FA2C61BDAEA}"/>
              </a:ext>
            </a:extLst>
          </p:cNvPr>
          <p:cNvSpPr txBox="1"/>
          <p:nvPr/>
        </p:nvSpPr>
        <p:spPr>
          <a:xfrm>
            <a:off x="2700875" y="4156556"/>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已接收</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未确认</a:t>
            </a:r>
            <a:endParaRPr lang="en-US" altLang="zh-CN" sz="1200" dirty="0">
              <a:latin typeface="微软雅黑 Light" panose="020B0502040204020203" pitchFamily="34" charset="-122"/>
              <a:ea typeface="微软雅黑 Light" panose="020B0502040204020203" pitchFamily="34" charset="-122"/>
            </a:endParaRPr>
          </a:p>
        </p:txBody>
      </p:sp>
      <p:sp>
        <p:nvSpPr>
          <p:cNvPr id="11" name="文本框 10">
            <a:extLst>
              <a:ext uri="{FF2B5EF4-FFF2-40B4-BE49-F238E27FC236}">
                <a16:creationId xmlns:a16="http://schemas.microsoft.com/office/drawing/2014/main" id="{AC8E8E76-F025-6645-D6FD-6C6A13C78A45}"/>
              </a:ext>
            </a:extLst>
          </p:cNvPr>
          <p:cNvSpPr txBox="1"/>
          <p:nvPr/>
        </p:nvSpPr>
        <p:spPr>
          <a:xfrm>
            <a:off x="4135280" y="4156556"/>
            <a:ext cx="649537"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可接收</a:t>
            </a:r>
            <a:endParaRPr lang="en-US" altLang="zh-CN" sz="1200" dirty="0">
              <a:latin typeface="微软雅黑 Light" panose="020B0502040204020203" pitchFamily="34" charset="-122"/>
              <a:ea typeface="微软雅黑 Light" panose="020B0502040204020203" pitchFamily="34" charset="-122"/>
            </a:endParaRPr>
          </a:p>
        </p:txBody>
      </p:sp>
      <p:sp>
        <p:nvSpPr>
          <p:cNvPr id="12" name="文本框 11">
            <a:extLst>
              <a:ext uri="{FF2B5EF4-FFF2-40B4-BE49-F238E27FC236}">
                <a16:creationId xmlns:a16="http://schemas.microsoft.com/office/drawing/2014/main" id="{F1D801A5-B9EB-BEB2-56CF-E41AD520508E}"/>
              </a:ext>
            </a:extLst>
          </p:cNvPr>
          <p:cNvSpPr txBox="1"/>
          <p:nvPr/>
        </p:nvSpPr>
        <p:spPr>
          <a:xfrm>
            <a:off x="1038900" y="4156556"/>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已接收</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已确认</a:t>
            </a:r>
            <a:endParaRPr lang="en-US" altLang="zh-CN" sz="1200" dirty="0">
              <a:latin typeface="微软雅黑 Light" panose="020B0502040204020203" pitchFamily="34" charset="-122"/>
              <a:ea typeface="微软雅黑 Light" panose="020B0502040204020203" pitchFamily="34" charset="-122"/>
            </a:endParaRPr>
          </a:p>
        </p:txBody>
      </p:sp>
      <p:sp>
        <p:nvSpPr>
          <p:cNvPr id="14" name="AutoShape 26">
            <a:extLst>
              <a:ext uri="{FF2B5EF4-FFF2-40B4-BE49-F238E27FC236}">
                <a16:creationId xmlns:a16="http://schemas.microsoft.com/office/drawing/2014/main" id="{783E87A3-EA8B-DB21-C0C4-4DD83FA846FB}"/>
              </a:ext>
            </a:extLst>
          </p:cNvPr>
          <p:cNvSpPr>
            <a:spLocks/>
          </p:cNvSpPr>
          <p:nvPr/>
        </p:nvSpPr>
        <p:spPr bwMode="auto">
          <a:xfrm rot="16200000">
            <a:off x="2970040" y="3562811"/>
            <a:ext cx="108000" cy="9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5" name="文本框 14">
            <a:extLst>
              <a:ext uri="{FF2B5EF4-FFF2-40B4-BE49-F238E27FC236}">
                <a16:creationId xmlns:a16="http://schemas.microsoft.com/office/drawing/2014/main" id="{6C92EF24-CF68-F2D8-A0B6-A3C383863063}"/>
              </a:ext>
            </a:extLst>
          </p:cNvPr>
          <p:cNvSpPr txBox="1"/>
          <p:nvPr/>
        </p:nvSpPr>
        <p:spPr>
          <a:xfrm>
            <a:off x="1982872" y="4156556"/>
            <a:ext cx="646331"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未收到</a:t>
            </a:r>
            <a:endParaRPr lang="en-US" altLang="zh-CN" sz="12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31053884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9">
            <a:extLst>
              <a:ext uri="{FF2B5EF4-FFF2-40B4-BE49-F238E27FC236}">
                <a16:creationId xmlns:a16="http://schemas.microsoft.com/office/drawing/2014/main" id="{510585FD-76E3-2C51-737E-8E9D058C27B9}"/>
              </a:ext>
            </a:extLst>
          </p:cNvPr>
          <p:cNvSpPr>
            <a:spLocks noChangeArrowheads="1"/>
          </p:cNvSpPr>
          <p:nvPr/>
        </p:nvSpPr>
        <p:spPr bwMode="auto">
          <a:xfrm>
            <a:off x="2077541" y="1367482"/>
            <a:ext cx="1899779" cy="557244"/>
          </a:xfrm>
          <a:prstGeom prst="rect">
            <a:avLst/>
          </a:prstGeom>
          <a:noFill/>
          <a:ln w="12700">
            <a:solidFill>
              <a:schemeClr val="tx1"/>
            </a:solidFill>
            <a:miter lim="800000"/>
            <a:headEnd/>
            <a:tailEnd/>
          </a:ln>
          <a:effectLst/>
        </p:spPr>
        <p:txBody>
          <a:bodyPr wrap="none" anchor="ctr"/>
          <a:lstStyle/>
          <a:p>
            <a:pPr algn="ctr"/>
            <a:endParaRPr lang="zh-CN" altLang="en-US" sz="1200">
              <a:latin typeface="Montserrat" panose="00000500000000000000" pitchFamily="2" charset="0"/>
              <a:ea typeface="微软雅黑 Light" panose="020B0502040204020203" pitchFamily="34" charset="-122"/>
            </a:endParaRPr>
          </a:p>
        </p:txBody>
      </p:sp>
      <p:sp>
        <p:nvSpPr>
          <p:cNvPr id="3" name="Text Box 31">
            <a:extLst>
              <a:ext uri="{FF2B5EF4-FFF2-40B4-BE49-F238E27FC236}">
                <a16:creationId xmlns:a16="http://schemas.microsoft.com/office/drawing/2014/main" id="{A30B284D-F4D5-B8C7-5CA1-126D85378BD7}"/>
              </a:ext>
            </a:extLst>
          </p:cNvPr>
          <p:cNvSpPr txBox="1">
            <a:spLocks noChangeArrowheads="1"/>
          </p:cNvSpPr>
          <p:nvPr/>
        </p:nvSpPr>
        <p:spPr bwMode="auto">
          <a:xfrm>
            <a:off x="2627321" y="1043882"/>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atin typeface="Montserrat" panose="00000500000000000000" pitchFamily="2" charset="0"/>
                <a:ea typeface="微软雅黑 Light" panose="020B0502040204020203" pitchFamily="34" charset="-122"/>
              </a:rPr>
              <a:t>发送窗口</a:t>
            </a:r>
          </a:p>
        </p:txBody>
      </p:sp>
      <p:graphicFrame>
        <p:nvGraphicFramePr>
          <p:cNvPr id="4" name="表格 3">
            <a:extLst>
              <a:ext uri="{FF2B5EF4-FFF2-40B4-BE49-F238E27FC236}">
                <a16:creationId xmlns:a16="http://schemas.microsoft.com/office/drawing/2014/main" id="{09C3C181-F605-FFBE-8753-3A98212D8394}"/>
              </a:ext>
            </a:extLst>
          </p:cNvPr>
          <p:cNvGraphicFramePr>
            <a:graphicFrameLocks noGrp="1"/>
          </p:cNvGraphicFramePr>
          <p:nvPr>
            <p:extLst>
              <p:ext uri="{D42A27DB-BD31-4B8C-83A1-F6EECF244321}">
                <p14:modId xmlns:p14="http://schemas.microsoft.com/office/powerpoint/2010/main" val="2909457646"/>
              </p:ext>
            </p:extLst>
          </p:nvPr>
        </p:nvGraphicFramePr>
        <p:xfrm>
          <a:off x="2077541" y="1460684"/>
          <a:ext cx="3810464" cy="370840"/>
        </p:xfrm>
        <a:graphic>
          <a:graphicData uri="http://schemas.openxmlformats.org/drawingml/2006/table">
            <a:tbl>
              <a:tblPr firstRow="1" bandRow="1">
                <a:tableStyleId>{5C22544A-7EE6-4342-B048-85BDC9FD1C3A}</a:tableStyleId>
              </a:tblPr>
              <a:tblGrid>
                <a:gridCol w="476308">
                  <a:extLst>
                    <a:ext uri="{9D8B030D-6E8A-4147-A177-3AD203B41FA5}">
                      <a16:colId xmlns:a16="http://schemas.microsoft.com/office/drawing/2014/main" val="1392981243"/>
                    </a:ext>
                  </a:extLst>
                </a:gridCol>
                <a:gridCol w="476308">
                  <a:extLst>
                    <a:ext uri="{9D8B030D-6E8A-4147-A177-3AD203B41FA5}">
                      <a16:colId xmlns:a16="http://schemas.microsoft.com/office/drawing/2014/main" val="212317948"/>
                    </a:ext>
                  </a:extLst>
                </a:gridCol>
                <a:gridCol w="476308">
                  <a:extLst>
                    <a:ext uri="{9D8B030D-6E8A-4147-A177-3AD203B41FA5}">
                      <a16:colId xmlns:a16="http://schemas.microsoft.com/office/drawing/2014/main" val="4122724786"/>
                    </a:ext>
                  </a:extLst>
                </a:gridCol>
                <a:gridCol w="476308">
                  <a:extLst>
                    <a:ext uri="{9D8B030D-6E8A-4147-A177-3AD203B41FA5}">
                      <a16:colId xmlns:a16="http://schemas.microsoft.com/office/drawing/2014/main" val="1728774863"/>
                    </a:ext>
                  </a:extLst>
                </a:gridCol>
                <a:gridCol w="476308">
                  <a:extLst>
                    <a:ext uri="{9D8B030D-6E8A-4147-A177-3AD203B41FA5}">
                      <a16:colId xmlns:a16="http://schemas.microsoft.com/office/drawing/2014/main" val="855356992"/>
                    </a:ext>
                  </a:extLst>
                </a:gridCol>
                <a:gridCol w="476308">
                  <a:extLst>
                    <a:ext uri="{9D8B030D-6E8A-4147-A177-3AD203B41FA5}">
                      <a16:colId xmlns:a16="http://schemas.microsoft.com/office/drawing/2014/main" val="1700185165"/>
                    </a:ext>
                  </a:extLst>
                </a:gridCol>
                <a:gridCol w="476308">
                  <a:extLst>
                    <a:ext uri="{9D8B030D-6E8A-4147-A177-3AD203B41FA5}">
                      <a16:colId xmlns:a16="http://schemas.microsoft.com/office/drawing/2014/main" val="3830274490"/>
                    </a:ext>
                  </a:extLst>
                </a:gridCol>
                <a:gridCol w="476308">
                  <a:extLst>
                    <a:ext uri="{9D8B030D-6E8A-4147-A177-3AD203B41FA5}">
                      <a16:colId xmlns:a16="http://schemas.microsoft.com/office/drawing/2014/main" val="916734300"/>
                    </a:ext>
                  </a:extLst>
                </a:gridCol>
              </a:tblGrid>
              <a:tr h="370840">
                <a:tc>
                  <a:txBody>
                    <a:bodyPr/>
                    <a:lstStyle/>
                    <a:p>
                      <a:pPr algn="ctr"/>
                      <a:r>
                        <a:rPr lang="en-US" altLang="zh-CN" sz="1200" b="0" dirty="0">
                          <a:solidFill>
                            <a:schemeClr val="bg1"/>
                          </a:solidFill>
                          <a:latin typeface="Montserrat" panose="00000500000000000000" pitchFamily="2" charset="0"/>
                        </a:rPr>
                        <a:t>1</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altLang="zh-CN" sz="1200" b="0" dirty="0">
                          <a:solidFill>
                            <a:schemeClr val="bg1"/>
                          </a:solidFill>
                          <a:latin typeface="Montserrat" panose="00000500000000000000" pitchFamily="2" charset="0"/>
                        </a:rPr>
                        <a:t>2</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altLang="zh-CN" sz="1200" b="0" dirty="0">
                          <a:solidFill>
                            <a:schemeClr val="bg1"/>
                          </a:solidFill>
                          <a:latin typeface="Montserrat" panose="00000500000000000000" pitchFamily="2" charset="0"/>
                        </a:rPr>
                        <a:t>3</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ctr" defTabSz="914400" rtl="0" eaLnBrk="1" latinLnBrk="0" hangingPunct="1"/>
                      <a:r>
                        <a:rPr lang="en-US" altLang="zh-CN" sz="1200" b="0" kern="1200" dirty="0">
                          <a:solidFill>
                            <a:schemeClr val="bg1"/>
                          </a:solidFill>
                          <a:latin typeface="Montserrat" panose="00000500000000000000" pitchFamily="2" charset="0"/>
                          <a:ea typeface="+mn-ea"/>
                          <a:cs typeface="+mn-cs"/>
                        </a:rPr>
                        <a:t>4</a:t>
                      </a:r>
                      <a:endParaRPr lang="zh-CN" altLang="en-US" sz="1200" b="0" kern="1200" dirty="0">
                        <a:solidFill>
                          <a:schemeClr val="bg1"/>
                        </a:solidFill>
                        <a:latin typeface="Montserrat" panose="00000500000000000000" pitchFamily="2"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altLang="zh-CN" sz="1200" b="0" dirty="0">
                          <a:solidFill>
                            <a:schemeClr val="bg1"/>
                          </a:solidFill>
                          <a:latin typeface="Montserrat" panose="00000500000000000000" pitchFamily="2" charset="0"/>
                        </a:rPr>
                        <a:t>5</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altLang="zh-CN" sz="1200" b="0" dirty="0">
                          <a:solidFill>
                            <a:schemeClr val="bg1"/>
                          </a:solidFill>
                          <a:latin typeface="Montserrat" panose="00000500000000000000" pitchFamily="2" charset="0"/>
                        </a:rPr>
                        <a:t>6</a:t>
                      </a:r>
                      <a:endParaRPr lang="zh-CN" altLang="en-US" sz="1200" b="0" dirty="0">
                        <a:solidFill>
                          <a:schemeClr val="bg1"/>
                        </a:solidFill>
                        <a:latin typeface="Montserrat" panose="00000500000000000000" pitchFamily="2" charset="0"/>
                      </a:endParaRPr>
                    </a:p>
                  </a:txBody>
                  <a:tcPr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altLang="zh-CN" sz="1200" b="0" dirty="0">
                          <a:solidFill>
                            <a:schemeClr val="bg1"/>
                          </a:solidFill>
                          <a:latin typeface="Montserrat" panose="00000500000000000000" pitchFamily="2" charset="0"/>
                        </a:rPr>
                        <a:t>7</a:t>
                      </a:r>
                      <a:endParaRPr lang="zh-CN" altLang="en-US" sz="1200" b="0" dirty="0">
                        <a:solidFill>
                          <a:schemeClr val="bg1"/>
                        </a:solidFill>
                        <a:latin typeface="Montserrat" panose="00000500000000000000" pitchFamily="2" charset="0"/>
                      </a:endParaRPr>
                    </a:p>
                  </a:txBody>
                  <a:tcPr anchor="ctr">
                    <a:lnL w="635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altLang="zh-CN" sz="1200" b="0" dirty="0">
                          <a:solidFill>
                            <a:schemeClr val="bg1"/>
                          </a:solidFill>
                          <a:latin typeface="Montserrat" panose="00000500000000000000" pitchFamily="2" charset="0"/>
                        </a:rPr>
                        <a:t>…</a:t>
                      </a:r>
                      <a:endParaRPr lang="zh-CN" altLang="en-US" sz="1200" b="0" dirty="0">
                        <a:solidFill>
                          <a:schemeClr val="bg1"/>
                        </a:solidFill>
                        <a:latin typeface="Montserrat" panose="00000500000000000000" pitchFamily="2"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63282287"/>
                  </a:ext>
                </a:extLst>
              </a:tr>
            </a:tbl>
          </a:graphicData>
        </a:graphic>
      </p:graphicFrame>
      <p:sp>
        <p:nvSpPr>
          <p:cNvPr id="6" name="AutoShape 26">
            <a:extLst>
              <a:ext uri="{FF2B5EF4-FFF2-40B4-BE49-F238E27FC236}">
                <a16:creationId xmlns:a16="http://schemas.microsoft.com/office/drawing/2014/main" id="{97555976-9D9F-DBF8-B4BB-59EC46CC0D6C}"/>
              </a:ext>
            </a:extLst>
          </p:cNvPr>
          <p:cNvSpPr>
            <a:spLocks/>
          </p:cNvSpPr>
          <p:nvPr/>
        </p:nvSpPr>
        <p:spPr bwMode="auto">
          <a:xfrm rot="16200000">
            <a:off x="2959541" y="1196024"/>
            <a:ext cx="108000" cy="1872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8" name="AutoShape 26">
            <a:extLst>
              <a:ext uri="{FF2B5EF4-FFF2-40B4-BE49-F238E27FC236}">
                <a16:creationId xmlns:a16="http://schemas.microsoft.com/office/drawing/2014/main" id="{5DA8E950-E41F-7F2F-5B94-9137AFD5B77B}"/>
              </a:ext>
            </a:extLst>
          </p:cNvPr>
          <p:cNvSpPr>
            <a:spLocks/>
          </p:cNvSpPr>
          <p:nvPr/>
        </p:nvSpPr>
        <p:spPr bwMode="auto">
          <a:xfrm rot="16200000">
            <a:off x="4889670" y="1214024"/>
            <a:ext cx="108000" cy="18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9" name="文本框 8">
            <a:extLst>
              <a:ext uri="{FF2B5EF4-FFF2-40B4-BE49-F238E27FC236}">
                <a16:creationId xmlns:a16="http://schemas.microsoft.com/office/drawing/2014/main" id="{5248DE04-6313-6A3F-1CE9-2BCE48AF65C6}"/>
              </a:ext>
            </a:extLst>
          </p:cNvPr>
          <p:cNvSpPr txBox="1"/>
          <p:nvPr/>
        </p:nvSpPr>
        <p:spPr>
          <a:xfrm>
            <a:off x="2474375" y="2257769"/>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未确认</a:t>
            </a:r>
            <a:endParaRPr lang="en-US" altLang="zh-CN" sz="1200" dirty="0">
              <a:latin typeface="微软雅黑 Light" panose="020B0502040204020203" pitchFamily="34" charset="-122"/>
              <a:ea typeface="微软雅黑 Light" panose="020B0502040204020203" pitchFamily="34" charset="-122"/>
            </a:endParaRPr>
          </a:p>
        </p:txBody>
      </p:sp>
      <p:sp>
        <p:nvSpPr>
          <p:cNvPr id="12" name="文本框 11">
            <a:extLst>
              <a:ext uri="{FF2B5EF4-FFF2-40B4-BE49-F238E27FC236}">
                <a16:creationId xmlns:a16="http://schemas.microsoft.com/office/drawing/2014/main" id="{363798F4-B72C-9CD2-B2B8-BD7B4A556B75}"/>
              </a:ext>
            </a:extLst>
          </p:cNvPr>
          <p:cNvSpPr txBox="1"/>
          <p:nvPr/>
        </p:nvSpPr>
        <p:spPr>
          <a:xfrm>
            <a:off x="4620504" y="2257769"/>
            <a:ext cx="646332"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未进入</a:t>
            </a:r>
            <a:endParaRPr lang="en-US" altLang="zh-CN" sz="1200" dirty="0">
              <a:latin typeface="微软雅黑 Light" panose="020B0502040204020203" pitchFamily="34" charset="-122"/>
              <a:ea typeface="微软雅黑 Light" panose="020B0502040204020203" pitchFamily="34" charset="-122"/>
            </a:endParaRPr>
          </a:p>
        </p:txBody>
      </p:sp>
      <p:sp>
        <p:nvSpPr>
          <p:cNvPr id="13" name="Rectangle 29">
            <a:extLst>
              <a:ext uri="{FF2B5EF4-FFF2-40B4-BE49-F238E27FC236}">
                <a16:creationId xmlns:a16="http://schemas.microsoft.com/office/drawing/2014/main" id="{27586C2A-7AA8-282A-342D-A518FB16A6D7}"/>
              </a:ext>
            </a:extLst>
          </p:cNvPr>
          <p:cNvSpPr>
            <a:spLocks noChangeArrowheads="1"/>
          </p:cNvSpPr>
          <p:nvPr/>
        </p:nvSpPr>
        <p:spPr bwMode="auto">
          <a:xfrm>
            <a:off x="2077541" y="3061624"/>
            <a:ext cx="1899779" cy="557244"/>
          </a:xfrm>
          <a:prstGeom prst="rect">
            <a:avLst/>
          </a:prstGeom>
          <a:noFill/>
          <a:ln w="12700">
            <a:solidFill>
              <a:schemeClr val="tx1"/>
            </a:solidFill>
            <a:miter lim="800000"/>
            <a:headEnd/>
            <a:tailEnd/>
          </a:ln>
          <a:effectLst/>
        </p:spPr>
        <p:txBody>
          <a:bodyPr wrap="none" anchor="ctr"/>
          <a:lstStyle/>
          <a:p>
            <a:pPr algn="ctr"/>
            <a:endParaRPr lang="zh-CN" altLang="en-US" sz="1200">
              <a:latin typeface="Montserrat" panose="00000500000000000000" pitchFamily="2" charset="0"/>
              <a:ea typeface="微软雅黑 Light" panose="020B0502040204020203" pitchFamily="34" charset="-122"/>
            </a:endParaRPr>
          </a:p>
        </p:txBody>
      </p:sp>
      <p:sp>
        <p:nvSpPr>
          <p:cNvPr id="14" name="Text Box 31">
            <a:extLst>
              <a:ext uri="{FF2B5EF4-FFF2-40B4-BE49-F238E27FC236}">
                <a16:creationId xmlns:a16="http://schemas.microsoft.com/office/drawing/2014/main" id="{5325A869-A051-377D-88C6-85257C27932C}"/>
              </a:ext>
            </a:extLst>
          </p:cNvPr>
          <p:cNvSpPr txBox="1">
            <a:spLocks noChangeArrowheads="1"/>
          </p:cNvSpPr>
          <p:nvPr/>
        </p:nvSpPr>
        <p:spPr bwMode="auto">
          <a:xfrm>
            <a:off x="2627321" y="2738024"/>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dirty="0">
                <a:latin typeface="Montserrat" panose="00000500000000000000" pitchFamily="2" charset="0"/>
                <a:ea typeface="微软雅黑 Light" panose="020B0502040204020203" pitchFamily="34" charset="-122"/>
              </a:rPr>
              <a:t>发送窗口</a:t>
            </a:r>
          </a:p>
        </p:txBody>
      </p:sp>
      <p:graphicFrame>
        <p:nvGraphicFramePr>
          <p:cNvPr id="15" name="表格 14">
            <a:extLst>
              <a:ext uri="{FF2B5EF4-FFF2-40B4-BE49-F238E27FC236}">
                <a16:creationId xmlns:a16="http://schemas.microsoft.com/office/drawing/2014/main" id="{01C39073-D782-19A6-200E-C32A195B6D28}"/>
              </a:ext>
            </a:extLst>
          </p:cNvPr>
          <p:cNvGraphicFramePr>
            <a:graphicFrameLocks noGrp="1"/>
          </p:cNvGraphicFramePr>
          <p:nvPr>
            <p:extLst>
              <p:ext uri="{D42A27DB-BD31-4B8C-83A1-F6EECF244321}">
                <p14:modId xmlns:p14="http://schemas.microsoft.com/office/powerpoint/2010/main" val="1277884119"/>
              </p:ext>
            </p:extLst>
          </p:nvPr>
        </p:nvGraphicFramePr>
        <p:xfrm>
          <a:off x="1124777" y="3154826"/>
          <a:ext cx="3810472" cy="370840"/>
        </p:xfrm>
        <a:graphic>
          <a:graphicData uri="http://schemas.openxmlformats.org/drawingml/2006/table">
            <a:tbl>
              <a:tblPr firstRow="1" bandRow="1">
                <a:tableStyleId>{5C22544A-7EE6-4342-B048-85BDC9FD1C3A}</a:tableStyleId>
              </a:tblPr>
              <a:tblGrid>
                <a:gridCol w="476309">
                  <a:extLst>
                    <a:ext uri="{9D8B030D-6E8A-4147-A177-3AD203B41FA5}">
                      <a16:colId xmlns:a16="http://schemas.microsoft.com/office/drawing/2014/main" val="1392981243"/>
                    </a:ext>
                  </a:extLst>
                </a:gridCol>
                <a:gridCol w="476309">
                  <a:extLst>
                    <a:ext uri="{9D8B030D-6E8A-4147-A177-3AD203B41FA5}">
                      <a16:colId xmlns:a16="http://schemas.microsoft.com/office/drawing/2014/main" val="212317948"/>
                    </a:ext>
                  </a:extLst>
                </a:gridCol>
                <a:gridCol w="476309">
                  <a:extLst>
                    <a:ext uri="{9D8B030D-6E8A-4147-A177-3AD203B41FA5}">
                      <a16:colId xmlns:a16="http://schemas.microsoft.com/office/drawing/2014/main" val="4122724786"/>
                    </a:ext>
                  </a:extLst>
                </a:gridCol>
                <a:gridCol w="476309">
                  <a:extLst>
                    <a:ext uri="{9D8B030D-6E8A-4147-A177-3AD203B41FA5}">
                      <a16:colId xmlns:a16="http://schemas.microsoft.com/office/drawing/2014/main" val="1728774863"/>
                    </a:ext>
                  </a:extLst>
                </a:gridCol>
                <a:gridCol w="476309">
                  <a:extLst>
                    <a:ext uri="{9D8B030D-6E8A-4147-A177-3AD203B41FA5}">
                      <a16:colId xmlns:a16="http://schemas.microsoft.com/office/drawing/2014/main" val="855356992"/>
                    </a:ext>
                  </a:extLst>
                </a:gridCol>
                <a:gridCol w="476309">
                  <a:extLst>
                    <a:ext uri="{9D8B030D-6E8A-4147-A177-3AD203B41FA5}">
                      <a16:colId xmlns:a16="http://schemas.microsoft.com/office/drawing/2014/main" val="1700185165"/>
                    </a:ext>
                  </a:extLst>
                </a:gridCol>
                <a:gridCol w="476309">
                  <a:extLst>
                    <a:ext uri="{9D8B030D-6E8A-4147-A177-3AD203B41FA5}">
                      <a16:colId xmlns:a16="http://schemas.microsoft.com/office/drawing/2014/main" val="3830274490"/>
                    </a:ext>
                  </a:extLst>
                </a:gridCol>
                <a:gridCol w="476309">
                  <a:extLst>
                    <a:ext uri="{9D8B030D-6E8A-4147-A177-3AD203B41FA5}">
                      <a16:colId xmlns:a16="http://schemas.microsoft.com/office/drawing/2014/main" val="916734300"/>
                    </a:ext>
                  </a:extLst>
                </a:gridCol>
              </a:tblGrid>
              <a:tr h="370840">
                <a:tc>
                  <a:txBody>
                    <a:bodyPr/>
                    <a:lstStyle/>
                    <a:p>
                      <a:pPr algn="ctr"/>
                      <a:r>
                        <a:rPr lang="en-US" altLang="zh-CN" sz="1200" b="0" dirty="0">
                          <a:solidFill>
                            <a:sysClr val="windowText" lastClr="000000"/>
                          </a:solidFill>
                          <a:latin typeface="Montserrat" panose="00000500000000000000" pitchFamily="2" charset="0"/>
                        </a:rPr>
                        <a:t>1</a:t>
                      </a:r>
                      <a:endParaRPr lang="zh-CN" altLang="en-US" sz="1200" b="0" dirty="0">
                        <a:solidFill>
                          <a:sysClr val="windowText" lastClr="000000"/>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200" b="0" dirty="0">
                          <a:solidFill>
                            <a:sysClr val="windowText" lastClr="000000"/>
                          </a:solidFill>
                          <a:latin typeface="Montserrat" panose="00000500000000000000" pitchFamily="2" charset="0"/>
                        </a:rPr>
                        <a:t>2</a:t>
                      </a:r>
                      <a:endParaRPr lang="zh-CN" altLang="en-US" sz="1200" b="0" dirty="0">
                        <a:solidFill>
                          <a:sysClr val="windowText" lastClr="000000"/>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a:r>
                        <a:rPr lang="en-US" altLang="zh-CN" sz="1200" b="0" dirty="0">
                          <a:solidFill>
                            <a:schemeClr val="bg1"/>
                          </a:solidFill>
                          <a:latin typeface="Montserrat" panose="00000500000000000000" pitchFamily="2" charset="0"/>
                        </a:rPr>
                        <a:t>3</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marL="0" algn="ctr" defTabSz="914400" rtl="0" eaLnBrk="1" latinLnBrk="0" hangingPunct="1"/>
                      <a:r>
                        <a:rPr lang="en-US" altLang="zh-CN" sz="1200" b="0" kern="1200" dirty="0">
                          <a:solidFill>
                            <a:schemeClr val="bg1"/>
                          </a:solidFill>
                          <a:latin typeface="Montserrat" panose="00000500000000000000" pitchFamily="2" charset="0"/>
                          <a:ea typeface="+mn-ea"/>
                          <a:cs typeface="+mn-cs"/>
                        </a:rPr>
                        <a:t>4</a:t>
                      </a:r>
                      <a:endParaRPr lang="zh-CN" altLang="en-US" sz="1200" b="0" kern="1200" dirty="0">
                        <a:solidFill>
                          <a:schemeClr val="bg1"/>
                        </a:solidFill>
                        <a:latin typeface="Montserrat" panose="00000500000000000000" pitchFamily="2" charset="0"/>
                        <a:ea typeface="+mn-ea"/>
                        <a:cs typeface="+mn-cs"/>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B050"/>
                    </a:solidFill>
                  </a:tcPr>
                </a:tc>
                <a:tc>
                  <a:txBody>
                    <a:bodyPr/>
                    <a:lstStyle/>
                    <a:p>
                      <a:pPr algn="ctr"/>
                      <a:r>
                        <a:rPr lang="en-US" altLang="zh-CN" sz="1200" b="0" dirty="0">
                          <a:solidFill>
                            <a:schemeClr val="bg1"/>
                          </a:solidFill>
                          <a:latin typeface="Montserrat" panose="00000500000000000000" pitchFamily="2" charset="0"/>
                        </a:rPr>
                        <a:t>5</a:t>
                      </a:r>
                      <a:endParaRPr lang="zh-CN" altLang="en-US" sz="1200" b="0" dirty="0">
                        <a:solidFill>
                          <a:schemeClr val="bg1"/>
                        </a:solidFill>
                        <a:latin typeface="Montserrat" panose="00000500000000000000" pitchFamily="2" charset="0"/>
                      </a:endParaRPr>
                    </a:p>
                  </a:txBody>
                  <a:tcPr anchor="ctr">
                    <a:lnL w="6350" cap="flat" cmpd="sng" algn="ctr">
                      <a:solidFill>
                        <a:schemeClr val="tx1"/>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r>
                        <a:rPr lang="en-US" altLang="zh-CN" sz="1200" b="0" dirty="0">
                          <a:solidFill>
                            <a:schemeClr val="bg1"/>
                          </a:solidFill>
                          <a:latin typeface="Montserrat" panose="00000500000000000000" pitchFamily="2" charset="0"/>
                        </a:rPr>
                        <a:t>6</a:t>
                      </a:r>
                      <a:endParaRPr lang="zh-CN" altLang="en-US" sz="1200" b="0" dirty="0">
                        <a:solidFill>
                          <a:schemeClr val="bg1"/>
                        </a:solidFill>
                        <a:latin typeface="Montserrat" panose="00000500000000000000" pitchFamily="2" charset="0"/>
                      </a:endParaRPr>
                    </a:p>
                  </a:txBody>
                  <a:tcPr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E95420"/>
                    </a:solidFill>
                  </a:tcPr>
                </a:tc>
                <a:tc>
                  <a:txBody>
                    <a:bodyPr/>
                    <a:lstStyle/>
                    <a:p>
                      <a:pPr algn="ctr"/>
                      <a:r>
                        <a:rPr lang="en-US" altLang="zh-CN" sz="1200" b="0" dirty="0">
                          <a:solidFill>
                            <a:schemeClr val="bg1"/>
                          </a:solidFill>
                          <a:latin typeface="Montserrat" panose="00000500000000000000" pitchFamily="2" charset="0"/>
                        </a:rPr>
                        <a:t>7</a:t>
                      </a:r>
                      <a:endParaRPr lang="zh-CN" altLang="en-US" sz="1200" b="0" dirty="0">
                        <a:solidFill>
                          <a:schemeClr val="bg1"/>
                        </a:solidFill>
                        <a:latin typeface="Montserrat" panose="00000500000000000000" pitchFamily="2" charset="0"/>
                      </a:endParaRPr>
                    </a:p>
                  </a:txBody>
                  <a:tcPr anchor="ctr">
                    <a:lnL w="6350" cap="flat" cmpd="sng" algn="ctr">
                      <a:solidFill>
                        <a:schemeClr val="bg1">
                          <a:lumMod val="95000"/>
                        </a:schemeClr>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n-US" altLang="zh-CN" sz="1200" b="0" dirty="0">
                          <a:solidFill>
                            <a:schemeClr val="bg1"/>
                          </a:solidFill>
                          <a:latin typeface="Montserrat" panose="00000500000000000000" pitchFamily="2" charset="0"/>
                        </a:rPr>
                        <a:t>…</a:t>
                      </a:r>
                      <a:endParaRPr lang="zh-CN" altLang="en-US" sz="1200" b="0" dirty="0">
                        <a:solidFill>
                          <a:schemeClr val="bg1"/>
                        </a:solidFill>
                        <a:latin typeface="Montserrat" panose="00000500000000000000" pitchFamily="2"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663282287"/>
                  </a:ext>
                </a:extLst>
              </a:tr>
            </a:tbl>
          </a:graphicData>
        </a:graphic>
      </p:graphicFrame>
      <p:sp>
        <p:nvSpPr>
          <p:cNvPr id="16" name="AutoShape 26">
            <a:extLst>
              <a:ext uri="{FF2B5EF4-FFF2-40B4-BE49-F238E27FC236}">
                <a16:creationId xmlns:a16="http://schemas.microsoft.com/office/drawing/2014/main" id="{89CDD3BD-7E8C-CB72-5F4E-E9C352C657A1}"/>
              </a:ext>
            </a:extLst>
          </p:cNvPr>
          <p:cNvSpPr>
            <a:spLocks/>
          </p:cNvSpPr>
          <p:nvPr/>
        </p:nvSpPr>
        <p:spPr bwMode="auto">
          <a:xfrm rot="16200000">
            <a:off x="2491541" y="3358166"/>
            <a:ext cx="108000" cy="9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7" name="AutoShape 26">
            <a:extLst>
              <a:ext uri="{FF2B5EF4-FFF2-40B4-BE49-F238E27FC236}">
                <a16:creationId xmlns:a16="http://schemas.microsoft.com/office/drawing/2014/main" id="{5D509D0B-E1D8-5232-2A70-FDF6C1D0EACD}"/>
              </a:ext>
            </a:extLst>
          </p:cNvPr>
          <p:cNvSpPr>
            <a:spLocks/>
          </p:cNvSpPr>
          <p:nvPr/>
        </p:nvSpPr>
        <p:spPr bwMode="auto">
          <a:xfrm rot="16200000">
            <a:off x="1556012" y="3376165"/>
            <a:ext cx="108000" cy="900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8" name="AutoShape 26">
            <a:extLst>
              <a:ext uri="{FF2B5EF4-FFF2-40B4-BE49-F238E27FC236}">
                <a16:creationId xmlns:a16="http://schemas.microsoft.com/office/drawing/2014/main" id="{C803CF8D-A891-2BC4-3827-F29363E42178}"/>
              </a:ext>
            </a:extLst>
          </p:cNvPr>
          <p:cNvSpPr>
            <a:spLocks/>
          </p:cNvSpPr>
          <p:nvPr/>
        </p:nvSpPr>
        <p:spPr bwMode="auto">
          <a:xfrm rot="16200000">
            <a:off x="4655670" y="3142166"/>
            <a:ext cx="108000" cy="1368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19" name="文本框 18">
            <a:extLst>
              <a:ext uri="{FF2B5EF4-FFF2-40B4-BE49-F238E27FC236}">
                <a16:creationId xmlns:a16="http://schemas.microsoft.com/office/drawing/2014/main" id="{A120F788-1AF6-38A3-4D72-2F6CFB3B5712}"/>
              </a:ext>
            </a:extLst>
          </p:cNvPr>
          <p:cNvSpPr txBox="1"/>
          <p:nvPr/>
        </p:nvSpPr>
        <p:spPr>
          <a:xfrm>
            <a:off x="2222376" y="3951911"/>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未确认</a:t>
            </a:r>
            <a:endParaRPr lang="en-US" altLang="zh-CN" sz="1200" dirty="0">
              <a:latin typeface="微软雅黑 Light" panose="020B0502040204020203" pitchFamily="34" charset="-122"/>
              <a:ea typeface="微软雅黑 Light" panose="020B0502040204020203" pitchFamily="34" charset="-122"/>
            </a:endParaRPr>
          </a:p>
        </p:txBody>
      </p:sp>
      <p:sp>
        <p:nvSpPr>
          <p:cNvPr id="20" name="文本框 19">
            <a:extLst>
              <a:ext uri="{FF2B5EF4-FFF2-40B4-BE49-F238E27FC236}">
                <a16:creationId xmlns:a16="http://schemas.microsoft.com/office/drawing/2014/main" id="{951C26E7-8F9C-4058-82A5-252516D11D04}"/>
              </a:ext>
            </a:extLst>
          </p:cNvPr>
          <p:cNvSpPr txBox="1"/>
          <p:nvPr/>
        </p:nvSpPr>
        <p:spPr>
          <a:xfrm>
            <a:off x="1286847" y="3951911"/>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已发送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已确认</a:t>
            </a:r>
            <a:endParaRPr lang="en-US" altLang="zh-CN" sz="1200" dirty="0">
              <a:latin typeface="微软雅黑 Light" panose="020B0502040204020203" pitchFamily="34" charset="-122"/>
              <a:ea typeface="微软雅黑 Light" panose="020B0502040204020203" pitchFamily="34" charset="-122"/>
            </a:endParaRPr>
          </a:p>
        </p:txBody>
      </p:sp>
      <p:sp>
        <p:nvSpPr>
          <p:cNvPr id="21" name="文本框 20">
            <a:extLst>
              <a:ext uri="{FF2B5EF4-FFF2-40B4-BE49-F238E27FC236}">
                <a16:creationId xmlns:a16="http://schemas.microsoft.com/office/drawing/2014/main" id="{FA8E5AEA-FAC9-BEC5-E749-69CC20384CA0}"/>
              </a:ext>
            </a:extLst>
          </p:cNvPr>
          <p:cNvSpPr txBox="1"/>
          <p:nvPr/>
        </p:nvSpPr>
        <p:spPr>
          <a:xfrm>
            <a:off x="4620504" y="3951911"/>
            <a:ext cx="646332" cy="276999"/>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未进入</a:t>
            </a:r>
            <a:endParaRPr lang="en-US" altLang="zh-CN" sz="1200" dirty="0">
              <a:latin typeface="微软雅黑 Light" panose="020B0502040204020203" pitchFamily="34" charset="-122"/>
              <a:ea typeface="微软雅黑 Light" panose="020B0502040204020203" pitchFamily="34" charset="-122"/>
            </a:endParaRPr>
          </a:p>
        </p:txBody>
      </p:sp>
      <p:sp>
        <p:nvSpPr>
          <p:cNvPr id="22" name="AutoShape 26">
            <a:extLst>
              <a:ext uri="{FF2B5EF4-FFF2-40B4-BE49-F238E27FC236}">
                <a16:creationId xmlns:a16="http://schemas.microsoft.com/office/drawing/2014/main" id="{CD6C5CD8-DD48-59E2-64DC-A687840DDE7A}"/>
              </a:ext>
            </a:extLst>
          </p:cNvPr>
          <p:cNvSpPr>
            <a:spLocks/>
          </p:cNvSpPr>
          <p:nvPr/>
        </p:nvSpPr>
        <p:spPr bwMode="auto">
          <a:xfrm rot="16200000">
            <a:off x="3465606" y="3368623"/>
            <a:ext cx="108000" cy="936000"/>
          </a:xfrm>
          <a:prstGeom prst="leftBrace">
            <a:avLst>
              <a:gd name="adj1" fmla="val 86905"/>
              <a:gd name="adj2" fmla="val 50000"/>
            </a:avLst>
          </a:pr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微软雅黑" pitchFamily="34" charset="-122"/>
              <a:ea typeface="微软雅黑" pitchFamily="34" charset="-122"/>
            </a:endParaRPr>
          </a:p>
        </p:txBody>
      </p:sp>
      <p:sp>
        <p:nvSpPr>
          <p:cNvPr id="23" name="文本框 22">
            <a:extLst>
              <a:ext uri="{FF2B5EF4-FFF2-40B4-BE49-F238E27FC236}">
                <a16:creationId xmlns:a16="http://schemas.microsoft.com/office/drawing/2014/main" id="{0B176486-8A19-551C-56D3-42941DA3AAE6}"/>
              </a:ext>
            </a:extLst>
          </p:cNvPr>
          <p:cNvSpPr txBox="1"/>
          <p:nvPr/>
        </p:nvSpPr>
        <p:spPr>
          <a:xfrm>
            <a:off x="3196441" y="3962368"/>
            <a:ext cx="646331" cy="461665"/>
          </a:xfrm>
          <a:prstGeom prst="rect">
            <a:avLst/>
          </a:prstGeom>
          <a:noFill/>
        </p:spPr>
        <p:txBody>
          <a:bodyPr wrap="none" rtlCol="0">
            <a:spAutoFit/>
          </a:bodyPr>
          <a:lstStyle/>
          <a:p>
            <a:pPr algn="ctr"/>
            <a:r>
              <a:rPr lang="zh-CN" altLang="en-US" sz="1200" dirty="0">
                <a:latin typeface="微软雅黑 Light" panose="020B0502040204020203" pitchFamily="34" charset="-122"/>
                <a:ea typeface="微软雅黑 Light" panose="020B0502040204020203" pitchFamily="34" charset="-122"/>
              </a:rPr>
              <a:t>未发送</a:t>
            </a:r>
            <a:endParaRPr lang="en-US" altLang="zh-CN" sz="1200" dirty="0">
              <a:latin typeface="微软雅黑 Light" panose="020B0502040204020203" pitchFamily="34" charset="-122"/>
              <a:ea typeface="微软雅黑 Light" panose="020B0502040204020203" pitchFamily="34" charset="-122"/>
            </a:endParaRPr>
          </a:p>
          <a:p>
            <a:pPr algn="ctr"/>
            <a:r>
              <a:rPr lang="zh-CN" altLang="en-US" sz="1200" dirty="0">
                <a:latin typeface="微软雅黑 Light" panose="020B0502040204020203" pitchFamily="34" charset="-122"/>
                <a:ea typeface="微软雅黑 Light" panose="020B0502040204020203" pitchFamily="34" charset="-122"/>
              </a:rPr>
              <a:t>未确认</a:t>
            </a:r>
            <a:endParaRPr lang="en-US" altLang="zh-CN" sz="1200"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74885063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4649014" y="2270237"/>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7" name="Text Box 8"/>
          <p:cNvSpPr txBox="1">
            <a:spLocks noChangeArrowheads="1"/>
          </p:cNvSpPr>
          <p:nvPr/>
        </p:nvSpPr>
        <p:spPr bwMode="auto">
          <a:xfrm>
            <a:off x="4649014" y="2516411"/>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8" name="Text Box 9"/>
          <p:cNvSpPr txBox="1">
            <a:spLocks noChangeArrowheads="1"/>
          </p:cNvSpPr>
          <p:nvPr/>
        </p:nvSpPr>
        <p:spPr bwMode="auto">
          <a:xfrm>
            <a:off x="4649014" y="276912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grpSp>
        <p:nvGrpSpPr>
          <p:cNvPr id="3" name="组合 2"/>
          <p:cNvGrpSpPr/>
          <p:nvPr/>
        </p:nvGrpSpPr>
        <p:grpSpPr>
          <a:xfrm>
            <a:off x="1211428" y="1294256"/>
            <a:ext cx="3358863" cy="320244"/>
            <a:chOff x="1211428" y="1464591"/>
            <a:chExt cx="3358863" cy="320244"/>
          </a:xfrm>
        </p:grpSpPr>
        <p:sp>
          <p:nvSpPr>
            <p:cNvPr id="13" name="Line 14"/>
            <p:cNvSpPr>
              <a:spLocks noChangeShapeType="1"/>
            </p:cNvSpPr>
            <p:nvPr/>
          </p:nvSpPr>
          <p:spPr bwMode="auto">
            <a:xfrm>
              <a:off x="1211428" y="1464591"/>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4" name="Group 15"/>
            <p:cNvGrpSpPr>
              <a:grpSpLocks/>
            </p:cNvGrpSpPr>
            <p:nvPr/>
          </p:nvGrpSpPr>
          <p:grpSpPr bwMode="auto">
            <a:xfrm rot="344460">
              <a:off x="1533819" y="1464591"/>
              <a:ext cx="1357040" cy="191711"/>
              <a:chOff x="3024" y="1776"/>
              <a:chExt cx="1008" cy="144"/>
            </a:xfrm>
          </p:grpSpPr>
          <p:sp>
            <p:nvSpPr>
              <p:cNvPr id="96" name="Rectangle 16"/>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p>
            </p:txBody>
          </p:sp>
          <p:sp>
            <p:nvSpPr>
              <p:cNvPr id="97" name="AutoShape 17"/>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4" name="组合 3"/>
          <p:cNvGrpSpPr/>
          <p:nvPr/>
        </p:nvGrpSpPr>
        <p:grpSpPr>
          <a:xfrm>
            <a:off x="1211428" y="1550233"/>
            <a:ext cx="3358863" cy="320244"/>
            <a:chOff x="1211428" y="1720568"/>
            <a:chExt cx="3358863" cy="320244"/>
          </a:xfrm>
        </p:grpSpPr>
        <p:sp>
          <p:nvSpPr>
            <p:cNvPr id="16" name="Line 19"/>
            <p:cNvSpPr>
              <a:spLocks noChangeShapeType="1"/>
            </p:cNvSpPr>
            <p:nvPr/>
          </p:nvSpPr>
          <p:spPr bwMode="auto">
            <a:xfrm>
              <a:off x="1211428" y="172056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7" name="Group 20"/>
            <p:cNvGrpSpPr>
              <a:grpSpLocks/>
            </p:cNvGrpSpPr>
            <p:nvPr/>
          </p:nvGrpSpPr>
          <p:grpSpPr bwMode="auto">
            <a:xfrm rot="344460">
              <a:off x="1533819" y="1720568"/>
              <a:ext cx="1357040" cy="191711"/>
              <a:chOff x="3024" y="1776"/>
              <a:chExt cx="1008" cy="144"/>
            </a:xfrm>
          </p:grpSpPr>
          <p:sp>
            <p:nvSpPr>
              <p:cNvPr id="94" name="Rectangle 21"/>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p>
            </p:txBody>
          </p:sp>
          <p:sp>
            <p:nvSpPr>
              <p:cNvPr id="95" name="AutoShape 22"/>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0" name="组合 99"/>
          <p:cNvGrpSpPr/>
          <p:nvPr/>
        </p:nvGrpSpPr>
        <p:grpSpPr>
          <a:xfrm>
            <a:off x="1211428" y="2317075"/>
            <a:ext cx="3358863" cy="320244"/>
            <a:chOff x="1211428" y="2487410"/>
            <a:chExt cx="3358863" cy="320244"/>
          </a:xfrm>
        </p:grpSpPr>
        <p:sp>
          <p:nvSpPr>
            <p:cNvPr id="22" name="Line 31"/>
            <p:cNvSpPr>
              <a:spLocks noChangeShapeType="1"/>
            </p:cNvSpPr>
            <p:nvPr/>
          </p:nvSpPr>
          <p:spPr bwMode="auto">
            <a:xfrm>
              <a:off x="1211428" y="2487410"/>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3" name="Group 32"/>
            <p:cNvGrpSpPr>
              <a:grpSpLocks/>
            </p:cNvGrpSpPr>
            <p:nvPr/>
          </p:nvGrpSpPr>
          <p:grpSpPr bwMode="auto">
            <a:xfrm rot="344460">
              <a:off x="1533819" y="2487410"/>
              <a:ext cx="1357040" cy="191711"/>
              <a:chOff x="3024" y="1776"/>
              <a:chExt cx="1008" cy="144"/>
            </a:xfrm>
            <a:solidFill>
              <a:srgbClr val="FFFF99"/>
            </a:solidFill>
          </p:grpSpPr>
          <p:sp>
            <p:nvSpPr>
              <p:cNvPr id="88" name="Rectangle 33"/>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p>
            </p:txBody>
          </p:sp>
          <p:sp>
            <p:nvSpPr>
              <p:cNvPr id="89" name="AutoShape 34"/>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1" name="组合 100"/>
          <p:cNvGrpSpPr/>
          <p:nvPr/>
        </p:nvGrpSpPr>
        <p:grpSpPr>
          <a:xfrm>
            <a:off x="1211428" y="2573053"/>
            <a:ext cx="3358863" cy="320244"/>
            <a:chOff x="1211428" y="2743388"/>
            <a:chExt cx="3358863" cy="320244"/>
          </a:xfrm>
        </p:grpSpPr>
        <p:sp>
          <p:nvSpPr>
            <p:cNvPr id="24" name="Line 35"/>
            <p:cNvSpPr>
              <a:spLocks noChangeShapeType="1"/>
            </p:cNvSpPr>
            <p:nvPr/>
          </p:nvSpPr>
          <p:spPr bwMode="auto">
            <a:xfrm>
              <a:off x="1211428" y="2743388"/>
              <a:ext cx="3358863" cy="32024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5" name="Group 36"/>
            <p:cNvGrpSpPr>
              <a:grpSpLocks/>
            </p:cNvGrpSpPr>
            <p:nvPr/>
          </p:nvGrpSpPr>
          <p:grpSpPr bwMode="auto">
            <a:xfrm rot="344460">
              <a:off x="1533819" y="2743388"/>
              <a:ext cx="1357040" cy="191711"/>
              <a:chOff x="3024" y="1776"/>
              <a:chExt cx="1008" cy="144"/>
            </a:xfrm>
            <a:solidFill>
              <a:srgbClr val="FFFF99"/>
            </a:solidFill>
          </p:grpSpPr>
          <p:sp>
            <p:nvSpPr>
              <p:cNvPr id="86" name="Rectangle 37"/>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p>
            </p:txBody>
          </p:sp>
          <p:sp>
            <p:nvSpPr>
              <p:cNvPr id="87" name="AutoShape 38"/>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2" name="组合 101"/>
          <p:cNvGrpSpPr/>
          <p:nvPr/>
        </p:nvGrpSpPr>
        <p:grpSpPr>
          <a:xfrm>
            <a:off x="1211428" y="1654802"/>
            <a:ext cx="3358863" cy="343119"/>
            <a:chOff x="1211428" y="1825137"/>
            <a:chExt cx="3358863" cy="343119"/>
          </a:xfrm>
        </p:grpSpPr>
        <p:sp>
          <p:nvSpPr>
            <p:cNvPr id="15" name="Line 18"/>
            <p:cNvSpPr>
              <a:spLocks noChangeShapeType="1"/>
            </p:cNvSpPr>
            <p:nvPr/>
          </p:nvSpPr>
          <p:spPr bwMode="auto">
            <a:xfrm flipH="1">
              <a:off x="1211428" y="1849101"/>
              <a:ext cx="3358863" cy="319155"/>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3" name="Group 50"/>
            <p:cNvGrpSpPr>
              <a:grpSpLocks/>
            </p:cNvGrpSpPr>
            <p:nvPr/>
          </p:nvGrpSpPr>
          <p:grpSpPr bwMode="auto">
            <a:xfrm rot="21254618">
              <a:off x="3213250" y="1825137"/>
              <a:ext cx="775987" cy="191711"/>
              <a:chOff x="3840" y="2448"/>
              <a:chExt cx="576" cy="144"/>
            </a:xfrm>
          </p:grpSpPr>
          <p:sp>
            <p:nvSpPr>
              <p:cNvPr id="80" name="AutoShape 51"/>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solidFill>
                    <a:schemeClr val="bg1"/>
                  </a:solidFill>
                  <a:latin typeface="微软雅黑" pitchFamily="34" charset="-122"/>
                  <a:ea typeface="微软雅黑" pitchFamily="34" charset="-122"/>
                </a:endParaRPr>
              </a:p>
            </p:txBody>
          </p:sp>
          <p:sp>
            <p:nvSpPr>
              <p:cNvPr id="81" name="Rectangle 52"/>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0</a:t>
                </a:r>
              </a:p>
            </p:txBody>
          </p:sp>
        </p:grpSp>
      </p:grpSp>
      <p:sp>
        <p:nvSpPr>
          <p:cNvPr id="35" name="Text Box 56"/>
          <p:cNvSpPr txBox="1">
            <a:spLocks noChangeArrowheads="1"/>
          </p:cNvSpPr>
          <p:nvPr/>
        </p:nvSpPr>
        <p:spPr bwMode="auto">
          <a:xfrm>
            <a:off x="4635269" y="1477252"/>
            <a:ext cx="397047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0</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6" name="Text Box 57"/>
          <p:cNvSpPr txBox="1">
            <a:spLocks noChangeArrowheads="1"/>
          </p:cNvSpPr>
          <p:nvPr/>
        </p:nvSpPr>
        <p:spPr bwMode="auto">
          <a:xfrm>
            <a:off x="4649013" y="1746301"/>
            <a:ext cx="375040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确认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zh-CN" altLang="en-US" sz="1200" b="1" dirty="0">
                <a:latin typeface="微软雅黑" pitchFamily="34" charset="-122"/>
                <a:ea typeface="微软雅黑" pitchFamily="34" charset="-122"/>
              </a:rPr>
              <a:t>，将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提交给上层协议或用户</a:t>
            </a:r>
          </a:p>
        </p:txBody>
      </p:sp>
      <p:sp>
        <p:nvSpPr>
          <p:cNvPr id="37" name="Text Box 58"/>
          <p:cNvSpPr txBox="1">
            <a:spLocks noChangeArrowheads="1"/>
          </p:cNvSpPr>
          <p:nvPr/>
        </p:nvSpPr>
        <p:spPr bwMode="auto">
          <a:xfrm>
            <a:off x="4649014" y="2005546"/>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en-US" altLang="zh-CN" sz="1200" b="1" dirty="0">
                <a:solidFill>
                  <a:srgbClr val="0000FF"/>
                </a:solidFill>
                <a:latin typeface="微软雅黑" pitchFamily="34" charset="-122"/>
                <a:ea typeface="微软雅黑" pitchFamily="34" charset="-122"/>
              </a:rPr>
              <a:t> </a:t>
            </a:r>
            <a:r>
              <a:rPr lang="zh-CN" altLang="en-US" sz="1200" b="1" dirty="0">
                <a:solidFill>
                  <a:srgbClr val="0000FF"/>
                </a:solidFill>
                <a:latin typeface="微软雅黑" pitchFamily="34" charset="-122"/>
                <a:ea typeface="微软雅黑" pitchFamily="34" charset="-122"/>
              </a:rPr>
              <a:t>正确</a:t>
            </a:r>
          </a:p>
        </p:txBody>
      </p:sp>
      <p:sp>
        <p:nvSpPr>
          <p:cNvPr id="40" name="Text Box 63"/>
          <p:cNvSpPr txBox="1">
            <a:spLocks noChangeArrowheads="1"/>
          </p:cNvSpPr>
          <p:nvPr/>
        </p:nvSpPr>
        <p:spPr bwMode="auto">
          <a:xfrm>
            <a:off x="4649014" y="3064286"/>
            <a:ext cx="188224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en-US" altLang="zh-CN" sz="1200" b="1" dirty="0">
                <a:latin typeface="微软雅黑" pitchFamily="34" charset="-122"/>
                <a:ea typeface="微软雅黑" pitchFamily="34" charset="-122"/>
              </a:rPr>
              <a:t>ACK</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为</a:t>
            </a:r>
            <a:r>
              <a:rPr lang="zh-CN" altLang="en-US" sz="1200" b="1" dirty="0">
                <a:solidFill>
                  <a:srgbClr val="C00000"/>
                </a:solidFill>
                <a:latin typeface="微软雅黑" pitchFamily="34" charset="-122"/>
                <a:ea typeface="微软雅黑" pitchFamily="34" charset="-122"/>
              </a:rPr>
              <a:t>累积确认，</a:t>
            </a:r>
            <a:endParaRPr lang="en-US" altLang="zh-CN" sz="1200" b="1" dirty="0">
              <a:solidFill>
                <a:srgbClr val="C00000"/>
              </a:solidFill>
              <a:latin typeface="微软雅黑" pitchFamily="34" charset="-122"/>
              <a:ea typeface="微软雅黑" pitchFamily="34" charset="-122"/>
            </a:endParaRPr>
          </a:p>
          <a:p>
            <a:pPr eaLnBrk="1" hangingPunct="1"/>
            <a:r>
              <a:rPr lang="zh-CN" altLang="en-US" sz="1200" b="1" dirty="0">
                <a:latin typeface="微软雅黑" pitchFamily="34" charset="-122"/>
                <a:ea typeface="微软雅黑" pitchFamily="34" charset="-122"/>
              </a:rPr>
              <a:t>表示 </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5</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及之前的 </a:t>
            </a:r>
            <a:endParaRPr lang="en-US" altLang="zh-CN" sz="1200" b="1" dirty="0">
              <a:latin typeface="微软雅黑" pitchFamily="34" charset="-122"/>
              <a:ea typeface="微软雅黑" pitchFamily="34" charset="-122"/>
            </a:endParaRPr>
          </a:p>
          <a:p>
            <a:pPr eaLnBrk="1" hangingPunct="1"/>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r>
              <a:rPr lang="zh-CN" altLang="en-US" sz="1200" b="1" dirty="0">
                <a:latin typeface="微软雅黑" pitchFamily="34" charset="-122"/>
                <a:ea typeface="微软雅黑" pitchFamily="34" charset="-122"/>
              </a:rPr>
              <a:t>、</a:t>
            </a: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4</a:t>
            </a:r>
            <a:r>
              <a:rPr lang="en-US" altLang="zh-CN" sz="1200" b="1" dirty="0">
                <a:latin typeface="微软雅黑" pitchFamily="34" charset="-122"/>
                <a:ea typeface="微软雅黑" pitchFamily="34" charset="-122"/>
              </a:rPr>
              <a:t> </a:t>
            </a:r>
            <a:r>
              <a:rPr lang="zh-CN" altLang="en-US" sz="1200" b="1" dirty="0">
                <a:latin typeface="微软雅黑" pitchFamily="34" charset="-122"/>
                <a:ea typeface="微软雅黑" pitchFamily="34" charset="-122"/>
              </a:rPr>
              <a:t>都正确。</a:t>
            </a:r>
            <a:endParaRPr lang="en-US" altLang="zh-CN" sz="1200" b="1" dirty="0">
              <a:latin typeface="微软雅黑" pitchFamily="34" charset="-122"/>
              <a:ea typeface="微软雅黑" pitchFamily="34" charset="-122"/>
            </a:endParaRPr>
          </a:p>
        </p:txBody>
      </p:sp>
      <p:sp>
        <p:nvSpPr>
          <p:cNvPr id="52" name="Text Box 81"/>
          <p:cNvSpPr txBox="1">
            <a:spLocks noChangeArrowheads="1"/>
          </p:cNvSpPr>
          <p:nvPr/>
        </p:nvSpPr>
        <p:spPr bwMode="auto">
          <a:xfrm>
            <a:off x="6292060" y="3083331"/>
            <a:ext cx="19521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a:solidFill>
                  <a:schemeClr val="tx1"/>
                </a:solidFill>
                <a:latin typeface="Tahoma" pitchFamily="34" charset="0"/>
                <a:ea typeface="宋体" pitchFamily="2" charset="-122"/>
              </a:defRPr>
            </a:lvl9pPr>
          </a:lstStyle>
          <a:p>
            <a:pPr eaLnBrk="1" hangingPunct="1"/>
            <a:r>
              <a:rPr lang="zh-CN" altLang="en-US" sz="1200" b="1" dirty="0">
                <a:solidFill>
                  <a:srgbClr val="0000FF"/>
                </a:solidFill>
                <a:latin typeface="微软雅黑" pitchFamily="34" charset="-122"/>
                <a:ea typeface="微软雅黑" pitchFamily="34" charset="-122"/>
              </a:rPr>
              <a:t>将</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2</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3</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4</a:t>
            </a:r>
            <a:r>
              <a:rPr lang="zh-CN" altLang="en-US" sz="1200" b="1" dirty="0">
                <a:solidFill>
                  <a:srgbClr val="0000FF"/>
                </a:solidFill>
                <a:latin typeface="微软雅黑" pitchFamily="34" charset="-122"/>
                <a:ea typeface="微软雅黑" pitchFamily="34" charset="-122"/>
              </a:rPr>
              <a:t>、</a:t>
            </a:r>
            <a:r>
              <a:rPr lang="en-US" altLang="zh-CN" sz="1200" b="1" dirty="0">
                <a:solidFill>
                  <a:srgbClr val="0000FF"/>
                </a:solidFill>
                <a:latin typeface="微软雅黑" pitchFamily="34" charset="-122"/>
                <a:ea typeface="微软雅黑" pitchFamily="34" charset="-122"/>
              </a:rPr>
              <a:t>M</a:t>
            </a:r>
            <a:r>
              <a:rPr lang="en-US" altLang="zh-CN" sz="1200" b="1" baseline="-25000" dirty="0">
                <a:solidFill>
                  <a:srgbClr val="0000FF"/>
                </a:solidFill>
                <a:latin typeface="微软雅黑" pitchFamily="34" charset="-122"/>
                <a:ea typeface="微软雅黑" pitchFamily="34" charset="-122"/>
              </a:rPr>
              <a:t>5</a:t>
            </a:r>
          </a:p>
          <a:p>
            <a:pPr eaLnBrk="1" hangingPunct="1"/>
            <a:r>
              <a:rPr lang="zh-CN" altLang="en-US" sz="1200" b="1" dirty="0">
                <a:solidFill>
                  <a:srgbClr val="0000FF"/>
                </a:solidFill>
                <a:latin typeface="微软雅黑" pitchFamily="34" charset="-122"/>
                <a:ea typeface="微软雅黑" pitchFamily="34" charset="-122"/>
              </a:rPr>
              <a:t>提交给上层协议或用户</a:t>
            </a:r>
          </a:p>
        </p:txBody>
      </p:sp>
      <p:grpSp>
        <p:nvGrpSpPr>
          <p:cNvPr id="104" name="组合 103"/>
          <p:cNvGrpSpPr/>
          <p:nvPr/>
        </p:nvGrpSpPr>
        <p:grpSpPr>
          <a:xfrm>
            <a:off x="1211428" y="3200142"/>
            <a:ext cx="3358863" cy="323512"/>
            <a:chOff x="1211428" y="3370477"/>
            <a:chExt cx="3358863" cy="323512"/>
          </a:xfrm>
        </p:grpSpPr>
        <p:sp>
          <p:nvSpPr>
            <p:cNvPr id="10" name="Line 11"/>
            <p:cNvSpPr>
              <a:spLocks noChangeShapeType="1"/>
            </p:cNvSpPr>
            <p:nvPr/>
          </p:nvSpPr>
          <p:spPr bwMode="auto">
            <a:xfrm flipH="1">
              <a:off x="1211428" y="3373745"/>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58" name="Group 89"/>
            <p:cNvGrpSpPr>
              <a:grpSpLocks/>
            </p:cNvGrpSpPr>
            <p:nvPr/>
          </p:nvGrpSpPr>
          <p:grpSpPr bwMode="auto">
            <a:xfrm rot="21254618">
              <a:off x="3213250" y="3370477"/>
              <a:ext cx="775987" cy="191711"/>
              <a:chOff x="3840" y="2448"/>
              <a:chExt cx="576" cy="144"/>
            </a:xfrm>
          </p:grpSpPr>
          <p:sp>
            <p:nvSpPr>
              <p:cNvPr id="63" name="AutoShape 90"/>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67" name="Rectangle 91"/>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5</a:t>
                </a:r>
              </a:p>
            </p:txBody>
          </p:sp>
        </p:grpSp>
      </p:grpSp>
      <p:grpSp>
        <p:nvGrpSpPr>
          <p:cNvPr id="2" name="组合 1"/>
          <p:cNvGrpSpPr/>
          <p:nvPr/>
        </p:nvGrpSpPr>
        <p:grpSpPr>
          <a:xfrm>
            <a:off x="1211428" y="1067656"/>
            <a:ext cx="3358863" cy="2804856"/>
            <a:chOff x="1211428" y="1211865"/>
            <a:chExt cx="3358863" cy="3028156"/>
          </a:xfrm>
        </p:grpSpPr>
        <p:sp>
          <p:nvSpPr>
            <p:cNvPr id="32" name="Line 49"/>
            <p:cNvSpPr>
              <a:spLocks noChangeShapeType="1"/>
            </p:cNvSpPr>
            <p:nvPr/>
          </p:nvSpPr>
          <p:spPr bwMode="auto">
            <a:xfrm>
              <a:off x="4570291" y="1211865"/>
              <a:ext cx="0" cy="30281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60" name="Line 95"/>
            <p:cNvSpPr>
              <a:spLocks noChangeShapeType="1"/>
            </p:cNvSpPr>
            <p:nvPr/>
          </p:nvSpPr>
          <p:spPr bwMode="auto">
            <a:xfrm>
              <a:off x="1211428" y="1235829"/>
              <a:ext cx="0" cy="300419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grpSp>
        <p:nvGrpSpPr>
          <p:cNvPr id="98" name="组合 97"/>
          <p:cNvGrpSpPr/>
          <p:nvPr/>
        </p:nvGrpSpPr>
        <p:grpSpPr>
          <a:xfrm>
            <a:off x="1211428" y="1806210"/>
            <a:ext cx="3358863" cy="319155"/>
            <a:chOff x="1211428" y="1976545"/>
            <a:chExt cx="3358863" cy="319155"/>
          </a:xfrm>
        </p:grpSpPr>
        <p:sp>
          <p:nvSpPr>
            <p:cNvPr id="18" name="Line 23"/>
            <p:cNvSpPr>
              <a:spLocks noChangeShapeType="1"/>
            </p:cNvSpPr>
            <p:nvPr/>
          </p:nvSpPr>
          <p:spPr bwMode="auto">
            <a:xfrm>
              <a:off x="1211428" y="1976545"/>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19" name="Group 24"/>
            <p:cNvGrpSpPr>
              <a:grpSpLocks/>
            </p:cNvGrpSpPr>
            <p:nvPr/>
          </p:nvGrpSpPr>
          <p:grpSpPr bwMode="auto">
            <a:xfrm rot="344460">
              <a:off x="1533819" y="1976545"/>
              <a:ext cx="1357040" cy="191711"/>
              <a:chOff x="3024" y="1776"/>
              <a:chExt cx="1008" cy="144"/>
            </a:xfrm>
          </p:grpSpPr>
          <p:sp>
            <p:nvSpPr>
              <p:cNvPr id="92" name="Rectangle 25"/>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2</a:t>
                </a:r>
              </a:p>
            </p:txBody>
          </p:sp>
          <p:sp>
            <p:nvSpPr>
              <p:cNvPr id="93" name="AutoShape 26"/>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grpSp>
        <p:nvGrpSpPr>
          <p:cNvPr id="103" name="组合 102"/>
          <p:cNvGrpSpPr/>
          <p:nvPr/>
        </p:nvGrpSpPr>
        <p:grpSpPr>
          <a:xfrm>
            <a:off x="1211428" y="1933654"/>
            <a:ext cx="3358863" cy="320244"/>
            <a:chOff x="1211428" y="2103989"/>
            <a:chExt cx="3358863" cy="320244"/>
          </a:xfrm>
        </p:grpSpPr>
        <p:sp>
          <p:nvSpPr>
            <p:cNvPr id="12" name="Line 13"/>
            <p:cNvSpPr>
              <a:spLocks noChangeShapeType="1"/>
            </p:cNvSpPr>
            <p:nvPr/>
          </p:nvSpPr>
          <p:spPr bwMode="auto">
            <a:xfrm flipH="1">
              <a:off x="1211428" y="2103989"/>
              <a:ext cx="3358863" cy="320244"/>
            </a:xfrm>
            <a:prstGeom prst="line">
              <a:avLst/>
            </a:prstGeom>
            <a:noFill/>
            <a:ln w="28575">
              <a:solidFill>
                <a:srgbClr val="0099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34" name="Group 53"/>
            <p:cNvGrpSpPr>
              <a:grpSpLocks/>
            </p:cNvGrpSpPr>
            <p:nvPr/>
          </p:nvGrpSpPr>
          <p:grpSpPr bwMode="auto">
            <a:xfrm rot="21254618">
              <a:off x="3213250" y="2103989"/>
              <a:ext cx="775987" cy="191711"/>
              <a:chOff x="3840" y="2448"/>
              <a:chExt cx="576" cy="144"/>
            </a:xfrm>
          </p:grpSpPr>
          <p:sp>
            <p:nvSpPr>
              <p:cNvPr id="78" name="AutoShape 54"/>
              <p:cNvSpPr>
                <a:spLocks noChangeArrowheads="1"/>
              </p:cNvSpPr>
              <p:nvPr/>
            </p:nvSpPr>
            <p:spPr bwMode="auto">
              <a:xfrm flipH="1">
                <a:off x="3840" y="2448"/>
                <a:ext cx="144" cy="144"/>
              </a:xfrm>
              <a:prstGeom prst="rightArrow">
                <a:avLst>
                  <a:gd name="adj1" fmla="val 50000"/>
                  <a:gd name="adj2" fmla="val 25000"/>
                </a:avLst>
              </a:prstGeom>
              <a:solidFill>
                <a:srgbClr val="0000FF"/>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79" name="Rectangle 55"/>
              <p:cNvSpPr>
                <a:spLocks noChangeArrowheads="1"/>
              </p:cNvSpPr>
              <p:nvPr/>
            </p:nvSpPr>
            <p:spPr bwMode="auto">
              <a:xfrm flipH="1">
                <a:off x="3984" y="2448"/>
                <a:ext cx="432" cy="144"/>
              </a:xfrm>
              <a:prstGeom prst="rect">
                <a:avLst/>
              </a:prstGeom>
              <a:solidFill>
                <a:srgbClr val="0000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solidFill>
                      <a:schemeClr val="bg1"/>
                    </a:solidFill>
                    <a:latin typeface="微软雅黑" pitchFamily="34" charset="-122"/>
                    <a:ea typeface="微软雅黑" pitchFamily="34" charset="-122"/>
                  </a:rPr>
                  <a:t>ACK</a:t>
                </a:r>
                <a:r>
                  <a:rPr lang="en-US" altLang="zh-CN" sz="1200" b="1" baseline="-25000" dirty="0">
                    <a:solidFill>
                      <a:schemeClr val="bg1"/>
                    </a:solidFill>
                    <a:latin typeface="微软雅黑" pitchFamily="34" charset="-122"/>
                    <a:ea typeface="微软雅黑" pitchFamily="34" charset="-122"/>
                  </a:rPr>
                  <a:t>1</a:t>
                </a:r>
              </a:p>
            </p:txBody>
          </p:sp>
        </p:grpSp>
      </p:grpSp>
      <p:grpSp>
        <p:nvGrpSpPr>
          <p:cNvPr id="99" name="组合 98"/>
          <p:cNvGrpSpPr/>
          <p:nvPr/>
        </p:nvGrpSpPr>
        <p:grpSpPr>
          <a:xfrm>
            <a:off x="1211428" y="2062187"/>
            <a:ext cx="3358863" cy="319155"/>
            <a:chOff x="1211428" y="2232522"/>
            <a:chExt cx="3358863" cy="319155"/>
          </a:xfrm>
        </p:grpSpPr>
        <p:sp>
          <p:nvSpPr>
            <p:cNvPr id="20" name="Line 27"/>
            <p:cNvSpPr>
              <a:spLocks noChangeShapeType="1"/>
            </p:cNvSpPr>
            <p:nvPr/>
          </p:nvSpPr>
          <p:spPr bwMode="auto">
            <a:xfrm>
              <a:off x="1211428" y="2232522"/>
              <a:ext cx="3358863" cy="319155"/>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1" name="Group 28"/>
            <p:cNvGrpSpPr>
              <a:grpSpLocks/>
            </p:cNvGrpSpPr>
            <p:nvPr/>
          </p:nvGrpSpPr>
          <p:grpSpPr bwMode="auto">
            <a:xfrm rot="344460">
              <a:off x="1533819" y="2232522"/>
              <a:ext cx="1357040" cy="191711"/>
              <a:chOff x="3024" y="1776"/>
              <a:chExt cx="1008" cy="144"/>
            </a:xfrm>
          </p:grpSpPr>
          <p:sp>
            <p:nvSpPr>
              <p:cNvPr id="90" name="Rectangle 29"/>
              <p:cNvSpPr>
                <a:spLocks noChangeArrowheads="1"/>
              </p:cNvSpPr>
              <p:nvPr/>
            </p:nvSpPr>
            <p:spPr bwMode="auto">
              <a:xfrm>
                <a:off x="3024" y="1776"/>
                <a:ext cx="864" cy="144"/>
              </a:xfrm>
              <a:prstGeom prst="rect">
                <a:avLst/>
              </a:prstGeom>
              <a:solidFill>
                <a:srgbClr val="66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zh-CN" sz="1200" b="1" dirty="0">
                    <a:latin typeface="微软雅黑" pitchFamily="34" charset="-122"/>
                    <a:ea typeface="微软雅黑" pitchFamily="34" charset="-122"/>
                  </a:rPr>
                  <a:t>M</a:t>
                </a:r>
                <a:r>
                  <a:rPr lang="en-US" altLang="zh-CN" sz="1200" b="1" baseline="-25000" dirty="0">
                    <a:latin typeface="微软雅黑" pitchFamily="34" charset="-122"/>
                    <a:ea typeface="微软雅黑" pitchFamily="34" charset="-122"/>
                  </a:rPr>
                  <a:t>3</a:t>
                </a:r>
              </a:p>
            </p:txBody>
          </p:sp>
          <p:sp>
            <p:nvSpPr>
              <p:cNvPr id="91" name="AutoShape 30"/>
              <p:cNvSpPr>
                <a:spLocks noChangeArrowheads="1"/>
              </p:cNvSpPr>
              <p:nvPr/>
            </p:nvSpPr>
            <p:spPr bwMode="auto">
              <a:xfrm>
                <a:off x="3888" y="1776"/>
                <a:ext cx="144" cy="144"/>
              </a:xfrm>
              <a:prstGeom prst="rightArrow">
                <a:avLst>
                  <a:gd name="adj1" fmla="val 50000"/>
                  <a:gd name="adj2" fmla="val 25000"/>
                </a:avLst>
              </a:prstGeom>
              <a:solidFill>
                <a:srgbClr val="66FF66"/>
              </a:solidFill>
              <a:ln w="9525">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grpSp>
      </p:grpSp>
      <p:sp>
        <p:nvSpPr>
          <p:cNvPr id="5" name="标题 4">
            <a:extLst>
              <a:ext uri="{FF2B5EF4-FFF2-40B4-BE49-F238E27FC236}">
                <a16:creationId xmlns:a16="http://schemas.microsoft.com/office/drawing/2014/main" id="{30DE72BD-E175-7485-4B6E-D5FB710E05DB}"/>
              </a:ext>
            </a:extLst>
          </p:cNvPr>
          <p:cNvSpPr>
            <a:spLocks noGrp="1"/>
          </p:cNvSpPr>
          <p:nvPr>
            <p:ph type="title"/>
          </p:nvPr>
        </p:nvSpPr>
        <p:spPr>
          <a:xfrm>
            <a:off x="2808000" y="144000"/>
            <a:ext cx="3528000" cy="338554"/>
          </a:xfrm>
        </p:spPr>
        <p:txBody>
          <a:bodyPr/>
          <a:lstStyle/>
          <a:p>
            <a:r>
              <a:rPr lang="zh-CN" altLang="en-US" dirty="0"/>
              <a:t>累积确认</a:t>
            </a:r>
          </a:p>
        </p:txBody>
      </p:sp>
    </p:spTree>
    <p:extLst>
      <p:ext uri="{BB962C8B-B14F-4D97-AF65-F5344CB8AC3E}">
        <p14:creationId xmlns:p14="http://schemas.microsoft.com/office/powerpoint/2010/main" val="38997409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2000"/>
                                        <p:tgtEl>
                                          <p:spTgt spid="3"/>
                                        </p:tgtEl>
                                      </p:cBhvr>
                                    </p:animEffect>
                                  </p:childTnLst>
                                </p:cTn>
                              </p:par>
                              <p:par>
                                <p:cTn id="8" presetID="22" presetClass="entr" presetSubtype="8" fill="hold" nodeType="withEffect">
                                  <p:stCondLst>
                                    <p:cond delay="1000"/>
                                  </p:stCondLst>
                                  <p:childTnLst>
                                    <p:set>
                                      <p:cBhvr>
                                        <p:cTn id="9" dur="1" fill="hold">
                                          <p:stCondLst>
                                            <p:cond delay="0"/>
                                          </p:stCondLst>
                                        </p:cTn>
                                        <p:tgtEl>
                                          <p:spTgt spid="4"/>
                                        </p:tgtEl>
                                        <p:attrNameLst>
                                          <p:attrName>style.visibility</p:attrName>
                                        </p:attrNameLst>
                                      </p:cBhvr>
                                      <p:to>
                                        <p:strVal val="visible"/>
                                      </p:to>
                                    </p:set>
                                    <p:animEffect transition="in" filter="wipe(left)">
                                      <p:cBhvr>
                                        <p:cTn id="10" dur="2000"/>
                                        <p:tgtEl>
                                          <p:spTgt spid="4"/>
                                        </p:tgtEl>
                                      </p:cBhvr>
                                    </p:animEffect>
                                  </p:childTnLst>
                                </p:cTn>
                              </p:par>
                              <p:par>
                                <p:cTn id="11" presetID="22" presetClass="entr" presetSubtype="2" fill="hold" nodeType="withEffect">
                                  <p:stCondLst>
                                    <p:cond delay="2250"/>
                                  </p:stCondLst>
                                  <p:childTnLst>
                                    <p:set>
                                      <p:cBhvr>
                                        <p:cTn id="12" dur="1" fill="hold">
                                          <p:stCondLst>
                                            <p:cond delay="0"/>
                                          </p:stCondLst>
                                        </p:cTn>
                                        <p:tgtEl>
                                          <p:spTgt spid="102"/>
                                        </p:tgtEl>
                                        <p:attrNameLst>
                                          <p:attrName>style.visibility</p:attrName>
                                        </p:attrNameLst>
                                      </p:cBhvr>
                                      <p:to>
                                        <p:strVal val="visible"/>
                                      </p:to>
                                    </p:set>
                                    <p:animEffect transition="in" filter="wipe(right)">
                                      <p:cBhvr>
                                        <p:cTn id="13" dur="2000"/>
                                        <p:tgtEl>
                                          <p:spTgt spid="102"/>
                                        </p:tgtEl>
                                      </p:cBhvr>
                                    </p:animEffect>
                                  </p:childTnLst>
                                </p:cTn>
                              </p:par>
                              <p:par>
                                <p:cTn id="14" presetID="22" presetClass="entr" presetSubtype="8" fill="hold" grpId="0" nodeType="withEffect">
                                  <p:stCondLst>
                                    <p:cond delay="3000"/>
                                  </p:stCondLst>
                                  <p:childTnLst>
                                    <p:set>
                                      <p:cBhvr>
                                        <p:cTn id="15" dur="1" fill="hold">
                                          <p:stCondLst>
                                            <p:cond delay="0"/>
                                          </p:stCondLst>
                                        </p:cTn>
                                        <p:tgtEl>
                                          <p:spTgt spid="35"/>
                                        </p:tgtEl>
                                        <p:attrNameLst>
                                          <p:attrName>style.visibility</p:attrName>
                                        </p:attrNameLst>
                                      </p:cBhvr>
                                      <p:to>
                                        <p:strVal val="visible"/>
                                      </p:to>
                                    </p:set>
                                    <p:animEffect transition="in" filter="wipe(left)">
                                      <p:cBhvr>
                                        <p:cTn id="16" dur="2000"/>
                                        <p:tgtEl>
                                          <p:spTgt spid="35"/>
                                        </p:tgtEl>
                                      </p:cBhvr>
                                    </p:animEffect>
                                  </p:childTnLst>
                                </p:cTn>
                              </p:par>
                              <p:par>
                                <p:cTn id="17" presetID="22" presetClass="entr" presetSubtype="8" fill="hold" nodeType="withEffect">
                                  <p:stCondLst>
                                    <p:cond delay="4750"/>
                                  </p:stCondLst>
                                  <p:childTnLst>
                                    <p:set>
                                      <p:cBhvr>
                                        <p:cTn id="18" dur="1" fill="hold">
                                          <p:stCondLst>
                                            <p:cond delay="0"/>
                                          </p:stCondLst>
                                        </p:cTn>
                                        <p:tgtEl>
                                          <p:spTgt spid="98"/>
                                        </p:tgtEl>
                                        <p:attrNameLst>
                                          <p:attrName>style.visibility</p:attrName>
                                        </p:attrNameLst>
                                      </p:cBhvr>
                                      <p:to>
                                        <p:strVal val="visible"/>
                                      </p:to>
                                    </p:set>
                                    <p:animEffect transition="in" filter="wipe(left)">
                                      <p:cBhvr>
                                        <p:cTn id="19" dur="2000"/>
                                        <p:tgtEl>
                                          <p:spTgt spid="98"/>
                                        </p:tgtEl>
                                      </p:cBhvr>
                                    </p:animEffect>
                                  </p:childTnLst>
                                </p:cTn>
                              </p:par>
                              <p:par>
                                <p:cTn id="20" presetID="22" presetClass="entr" presetSubtype="8" fill="hold" grpId="0" nodeType="withEffect">
                                  <p:stCondLst>
                                    <p:cond delay="7000"/>
                                  </p:stCondLst>
                                  <p:childTnLst>
                                    <p:set>
                                      <p:cBhvr>
                                        <p:cTn id="21" dur="1" fill="hold">
                                          <p:stCondLst>
                                            <p:cond delay="0"/>
                                          </p:stCondLst>
                                        </p:cTn>
                                        <p:tgtEl>
                                          <p:spTgt spid="37"/>
                                        </p:tgtEl>
                                        <p:attrNameLst>
                                          <p:attrName>style.visibility</p:attrName>
                                        </p:attrNameLst>
                                      </p:cBhvr>
                                      <p:to>
                                        <p:strVal val="visible"/>
                                      </p:to>
                                    </p:set>
                                    <p:animEffect transition="in" filter="wipe(left)">
                                      <p:cBhvr>
                                        <p:cTn id="22" dur="2000"/>
                                        <p:tgtEl>
                                          <p:spTgt spid="37"/>
                                        </p:tgtEl>
                                      </p:cBhvr>
                                    </p:animEffect>
                                  </p:childTnLst>
                                </p:cTn>
                              </p:par>
                              <p:par>
                                <p:cTn id="23" presetID="22" presetClass="entr" presetSubtype="2" fill="hold" nodeType="withEffect">
                                  <p:stCondLst>
                                    <p:cond delay="7000"/>
                                  </p:stCondLst>
                                  <p:childTnLst>
                                    <p:set>
                                      <p:cBhvr>
                                        <p:cTn id="24" dur="1" fill="hold">
                                          <p:stCondLst>
                                            <p:cond delay="0"/>
                                          </p:stCondLst>
                                        </p:cTn>
                                        <p:tgtEl>
                                          <p:spTgt spid="103"/>
                                        </p:tgtEl>
                                        <p:attrNameLst>
                                          <p:attrName>style.visibility</p:attrName>
                                        </p:attrNameLst>
                                      </p:cBhvr>
                                      <p:to>
                                        <p:strVal val="visible"/>
                                      </p:to>
                                    </p:set>
                                    <p:animEffect transition="in" filter="wipe(right)">
                                      <p:cBhvr>
                                        <p:cTn id="25" dur="2000"/>
                                        <p:tgtEl>
                                          <p:spTgt spid="103"/>
                                        </p:tgtEl>
                                      </p:cBhvr>
                                    </p:animEffect>
                                  </p:childTnLst>
                                </p:cTn>
                              </p:par>
                              <p:par>
                                <p:cTn id="26" presetID="22" presetClass="entr" presetSubtype="8" fill="hold" grpId="0" nodeType="withEffect">
                                  <p:stCondLst>
                                    <p:cond delay="8000"/>
                                  </p:stCondLst>
                                  <p:childTnLst>
                                    <p:set>
                                      <p:cBhvr>
                                        <p:cTn id="27" dur="1" fill="hold">
                                          <p:stCondLst>
                                            <p:cond delay="0"/>
                                          </p:stCondLst>
                                        </p:cTn>
                                        <p:tgtEl>
                                          <p:spTgt spid="36"/>
                                        </p:tgtEl>
                                        <p:attrNameLst>
                                          <p:attrName>style.visibility</p:attrName>
                                        </p:attrNameLst>
                                      </p:cBhvr>
                                      <p:to>
                                        <p:strVal val="visible"/>
                                      </p:to>
                                    </p:set>
                                    <p:animEffect transition="in" filter="wipe(left)">
                                      <p:cBhvr>
                                        <p:cTn id="28" dur="2000"/>
                                        <p:tgtEl>
                                          <p:spTgt spid="36"/>
                                        </p:tgtEl>
                                      </p:cBhvr>
                                    </p:animEffect>
                                  </p:childTnLst>
                                </p:cTn>
                              </p:par>
                              <p:par>
                                <p:cTn id="29" presetID="22" presetClass="entr" presetSubtype="8" fill="hold" nodeType="withEffect">
                                  <p:stCondLst>
                                    <p:cond delay="7250"/>
                                  </p:stCondLst>
                                  <p:childTnLst>
                                    <p:set>
                                      <p:cBhvr>
                                        <p:cTn id="30" dur="1" fill="hold">
                                          <p:stCondLst>
                                            <p:cond delay="0"/>
                                          </p:stCondLst>
                                        </p:cTn>
                                        <p:tgtEl>
                                          <p:spTgt spid="99"/>
                                        </p:tgtEl>
                                        <p:attrNameLst>
                                          <p:attrName>style.visibility</p:attrName>
                                        </p:attrNameLst>
                                      </p:cBhvr>
                                      <p:to>
                                        <p:strVal val="visible"/>
                                      </p:to>
                                    </p:set>
                                    <p:animEffect transition="in" filter="wipe(left)">
                                      <p:cBhvr>
                                        <p:cTn id="31" dur="2000"/>
                                        <p:tgtEl>
                                          <p:spTgt spid="99"/>
                                        </p:tgtEl>
                                      </p:cBhvr>
                                    </p:animEffect>
                                  </p:childTnLst>
                                </p:cTn>
                              </p:par>
                              <p:par>
                                <p:cTn id="32" presetID="22" presetClass="entr" presetSubtype="8" fill="hold" grpId="0" nodeType="withEffect">
                                  <p:stCondLst>
                                    <p:cond delay="9250"/>
                                  </p:stCondLst>
                                  <p:childTnLst>
                                    <p:set>
                                      <p:cBhvr>
                                        <p:cTn id="33" dur="1" fill="hold">
                                          <p:stCondLst>
                                            <p:cond delay="0"/>
                                          </p:stCondLst>
                                        </p:cTn>
                                        <p:tgtEl>
                                          <p:spTgt spid="6"/>
                                        </p:tgtEl>
                                        <p:attrNameLst>
                                          <p:attrName>style.visibility</p:attrName>
                                        </p:attrNameLst>
                                      </p:cBhvr>
                                      <p:to>
                                        <p:strVal val="visible"/>
                                      </p:to>
                                    </p:set>
                                    <p:animEffect transition="in" filter="wipe(left)">
                                      <p:cBhvr>
                                        <p:cTn id="34" dur="2000"/>
                                        <p:tgtEl>
                                          <p:spTgt spid="6"/>
                                        </p:tgtEl>
                                      </p:cBhvr>
                                    </p:animEffect>
                                  </p:childTnLst>
                                </p:cTn>
                              </p:par>
                              <p:par>
                                <p:cTn id="35" presetID="22" presetClass="entr" presetSubtype="8" fill="hold" nodeType="withEffect">
                                  <p:stCondLst>
                                    <p:cond delay="10000"/>
                                  </p:stCondLst>
                                  <p:childTnLst>
                                    <p:set>
                                      <p:cBhvr>
                                        <p:cTn id="36" dur="1" fill="hold">
                                          <p:stCondLst>
                                            <p:cond delay="0"/>
                                          </p:stCondLst>
                                        </p:cTn>
                                        <p:tgtEl>
                                          <p:spTgt spid="100"/>
                                        </p:tgtEl>
                                        <p:attrNameLst>
                                          <p:attrName>style.visibility</p:attrName>
                                        </p:attrNameLst>
                                      </p:cBhvr>
                                      <p:to>
                                        <p:strVal val="visible"/>
                                      </p:to>
                                    </p:set>
                                    <p:animEffect transition="in" filter="wipe(left)">
                                      <p:cBhvr>
                                        <p:cTn id="37" dur="2000"/>
                                        <p:tgtEl>
                                          <p:spTgt spid="100"/>
                                        </p:tgtEl>
                                      </p:cBhvr>
                                    </p:animEffect>
                                  </p:childTnLst>
                                </p:cTn>
                              </p:par>
                              <p:par>
                                <p:cTn id="38" presetID="22" presetClass="entr" presetSubtype="8" fill="hold" grpId="0" nodeType="withEffect">
                                  <p:stCondLst>
                                    <p:cond delay="12000"/>
                                  </p:stCondLst>
                                  <p:childTnLst>
                                    <p:set>
                                      <p:cBhvr>
                                        <p:cTn id="39" dur="1" fill="hold">
                                          <p:stCondLst>
                                            <p:cond delay="0"/>
                                          </p:stCondLst>
                                        </p:cTn>
                                        <p:tgtEl>
                                          <p:spTgt spid="7"/>
                                        </p:tgtEl>
                                        <p:attrNameLst>
                                          <p:attrName>style.visibility</p:attrName>
                                        </p:attrNameLst>
                                      </p:cBhvr>
                                      <p:to>
                                        <p:strVal val="visible"/>
                                      </p:to>
                                    </p:set>
                                    <p:animEffect transition="in" filter="wipe(left)">
                                      <p:cBhvr>
                                        <p:cTn id="40" dur="2000"/>
                                        <p:tgtEl>
                                          <p:spTgt spid="7"/>
                                        </p:tgtEl>
                                      </p:cBhvr>
                                    </p:animEffect>
                                  </p:childTnLst>
                                </p:cTn>
                              </p:par>
                              <p:par>
                                <p:cTn id="41" presetID="22" presetClass="entr" presetSubtype="8" fill="hold" nodeType="withEffect">
                                  <p:stCondLst>
                                    <p:cond delay="11000"/>
                                  </p:stCondLst>
                                  <p:childTnLst>
                                    <p:set>
                                      <p:cBhvr>
                                        <p:cTn id="42" dur="1" fill="hold">
                                          <p:stCondLst>
                                            <p:cond delay="0"/>
                                          </p:stCondLst>
                                        </p:cTn>
                                        <p:tgtEl>
                                          <p:spTgt spid="101"/>
                                        </p:tgtEl>
                                        <p:attrNameLst>
                                          <p:attrName>style.visibility</p:attrName>
                                        </p:attrNameLst>
                                      </p:cBhvr>
                                      <p:to>
                                        <p:strVal val="visible"/>
                                      </p:to>
                                    </p:set>
                                    <p:animEffect transition="in" filter="wipe(left)">
                                      <p:cBhvr>
                                        <p:cTn id="43" dur="2000"/>
                                        <p:tgtEl>
                                          <p:spTgt spid="101"/>
                                        </p:tgtEl>
                                      </p:cBhvr>
                                    </p:animEffect>
                                  </p:childTnLst>
                                </p:cTn>
                              </p:par>
                              <p:par>
                                <p:cTn id="44" presetID="22" presetClass="entr" presetSubtype="8" fill="hold" grpId="0" nodeType="withEffect">
                                  <p:stCondLst>
                                    <p:cond delay="13250"/>
                                  </p:stCondLst>
                                  <p:childTnLst>
                                    <p:set>
                                      <p:cBhvr>
                                        <p:cTn id="45" dur="1" fill="hold">
                                          <p:stCondLst>
                                            <p:cond delay="0"/>
                                          </p:stCondLst>
                                        </p:cTn>
                                        <p:tgtEl>
                                          <p:spTgt spid="8"/>
                                        </p:tgtEl>
                                        <p:attrNameLst>
                                          <p:attrName>style.visibility</p:attrName>
                                        </p:attrNameLst>
                                      </p:cBhvr>
                                      <p:to>
                                        <p:strVal val="visible"/>
                                      </p:to>
                                    </p:set>
                                    <p:animEffect transition="in" filter="wipe(left)">
                                      <p:cBhvr>
                                        <p:cTn id="46" dur="2000"/>
                                        <p:tgtEl>
                                          <p:spTgt spid="8"/>
                                        </p:tgtEl>
                                      </p:cBhvr>
                                    </p:animEffect>
                                  </p:childTnLst>
                                </p:cTn>
                              </p:par>
                            </p:childTnLst>
                          </p:cTn>
                        </p:par>
                        <p:par>
                          <p:cTn id="47" fill="hold">
                            <p:stCondLst>
                              <p:cond delay="15250"/>
                            </p:stCondLst>
                            <p:childTnLst>
                              <p:par>
                                <p:cTn id="48" presetID="22" presetClass="entr" presetSubtype="2" fill="hold" nodeType="after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wipe(right)">
                                      <p:cBhvr>
                                        <p:cTn id="50" dur="2000"/>
                                        <p:tgtEl>
                                          <p:spTgt spid="104"/>
                                        </p:tgtEl>
                                      </p:cBhvr>
                                    </p:animEffect>
                                  </p:childTnLst>
                                </p:cTn>
                              </p:par>
                            </p:childTnLst>
                          </p:cTn>
                        </p:par>
                        <p:par>
                          <p:cTn id="51" fill="hold">
                            <p:stCondLst>
                              <p:cond delay="17250"/>
                            </p:stCondLst>
                            <p:childTnLst>
                              <p:par>
                                <p:cTn id="52" presetID="22" presetClass="entr" presetSubtype="8" fill="hold" grpId="0" nodeType="afterEffect">
                                  <p:stCondLst>
                                    <p:cond delay="500"/>
                                  </p:stCondLst>
                                  <p:childTnLst>
                                    <p:set>
                                      <p:cBhvr>
                                        <p:cTn id="53" dur="1" fill="hold">
                                          <p:stCondLst>
                                            <p:cond delay="0"/>
                                          </p:stCondLst>
                                        </p:cTn>
                                        <p:tgtEl>
                                          <p:spTgt spid="40"/>
                                        </p:tgtEl>
                                        <p:attrNameLst>
                                          <p:attrName>style.visibility</p:attrName>
                                        </p:attrNameLst>
                                      </p:cBhvr>
                                      <p:to>
                                        <p:strVal val="visible"/>
                                      </p:to>
                                    </p:set>
                                    <p:animEffect transition="in" filter="wipe(left)">
                                      <p:cBhvr>
                                        <p:cTn id="54" dur="1000"/>
                                        <p:tgtEl>
                                          <p:spTgt spid="40"/>
                                        </p:tgtEl>
                                      </p:cBhvr>
                                    </p:animEffect>
                                  </p:childTnLst>
                                </p:cTn>
                              </p:par>
                            </p:childTnLst>
                          </p:cTn>
                        </p:par>
                        <p:par>
                          <p:cTn id="55" fill="hold">
                            <p:stCondLst>
                              <p:cond delay="18750"/>
                            </p:stCondLst>
                            <p:childTnLst>
                              <p:par>
                                <p:cTn id="56" presetID="22" presetClass="entr" presetSubtype="8" fill="hold" grpId="0" nodeType="after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wipe(left)">
                                      <p:cBhvr>
                                        <p:cTn id="58" dur="10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35" grpId="0"/>
      <p:bldP spid="36" grpId="0"/>
      <p:bldP spid="37" grpId="0"/>
      <p:bldP spid="40" grpId="0"/>
      <p:bldP spid="5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102323020"/>
              </p:ext>
            </p:extLst>
          </p:nvPr>
        </p:nvGraphicFramePr>
        <p:xfrm>
          <a:off x="1918832" y="1059835"/>
          <a:ext cx="5325036" cy="23039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矩形 2"/>
          <p:cNvSpPr/>
          <p:nvPr/>
        </p:nvSpPr>
        <p:spPr>
          <a:xfrm>
            <a:off x="964941" y="3347838"/>
            <a:ext cx="7640798"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a:lnSpc>
                <a:spcPts val="2400"/>
              </a:lnSpc>
              <a:buClr>
                <a:srgbClr val="0070C0"/>
              </a:buClr>
            </a:pPr>
            <a:r>
              <a:rPr lang="zh-CN" altLang="en-US" b="1" dirty="0">
                <a:latin typeface="微软雅黑" pitchFamily="34" charset="-122"/>
                <a:ea typeface="微软雅黑" pitchFamily="34" charset="-122"/>
              </a:rPr>
              <a:t>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协议采用 </a:t>
            </a:r>
            <a:r>
              <a:rPr lang="en-US" altLang="zh-CN" b="1" dirty="0">
                <a:latin typeface="微软雅黑" pitchFamily="34" charset="-122"/>
                <a:ea typeface="微软雅黑" pitchFamily="34" charset="-122"/>
              </a:rPr>
              <a:t>Go-back-N</a:t>
            </a:r>
            <a:r>
              <a:rPr lang="zh-CN" altLang="en-US" b="1" dirty="0">
                <a:latin typeface="微软雅黑" pitchFamily="34" charset="-122"/>
                <a:ea typeface="微软雅黑" pitchFamily="34" charset="-122"/>
              </a:rPr>
              <a:t>（回退</a:t>
            </a:r>
            <a:r>
              <a:rPr lang="en-US" altLang="zh-CN" b="1" dirty="0">
                <a:latin typeface="微软雅黑" pitchFamily="34" charset="-122"/>
                <a:ea typeface="微软雅黑" pitchFamily="34" charset="-122"/>
              </a:rPr>
              <a:t>N</a:t>
            </a:r>
            <a:r>
              <a:rPr lang="zh-CN" altLang="en-US" b="1" dirty="0">
                <a:latin typeface="微软雅黑" pitchFamily="34" charset="-122"/>
                <a:ea typeface="微软雅黑" pitchFamily="34" charset="-122"/>
              </a:rPr>
              <a:t>）。</a:t>
            </a:r>
            <a:endParaRPr lang="en-US" altLang="zh-CN" b="1" dirty="0">
              <a:latin typeface="微软雅黑" pitchFamily="34" charset="-122"/>
              <a:ea typeface="微软雅黑" pitchFamily="34" charset="-122"/>
            </a:endParaRPr>
          </a:p>
          <a:p>
            <a:pPr>
              <a:lnSpc>
                <a:spcPts val="2400"/>
              </a:lnSpc>
              <a:buClr>
                <a:srgbClr val="0070C0"/>
              </a:buClr>
            </a:pPr>
            <a:r>
              <a:rPr lang="en-US" altLang="zh-CN" b="1" dirty="0">
                <a:solidFill>
                  <a:srgbClr val="C00000"/>
                </a:solidFill>
                <a:latin typeface="微软雅黑" pitchFamily="34" charset="-122"/>
                <a:ea typeface="微软雅黑" pitchFamily="34" charset="-122"/>
              </a:rPr>
              <a:t>Go-back-N</a:t>
            </a:r>
            <a:r>
              <a:rPr lang="zh-CN" altLang="en-US" b="1" dirty="0">
                <a:solidFill>
                  <a:srgbClr val="C00000"/>
                </a:solidFill>
                <a:latin typeface="微软雅黑" pitchFamily="34" charset="-122"/>
                <a:ea typeface="微软雅黑" pitchFamily="34" charset="-122"/>
              </a:rPr>
              <a:t>（回退</a:t>
            </a:r>
            <a:r>
              <a:rPr lang="en-US" altLang="zh-CN" b="1" dirty="0">
                <a:solidFill>
                  <a:srgbClr val="C00000"/>
                </a:solidFill>
                <a:latin typeface="微软雅黑" pitchFamily="34" charset="-122"/>
                <a:ea typeface="微软雅黑" pitchFamily="34" charset="-122"/>
              </a:rPr>
              <a:t>N</a:t>
            </a:r>
            <a:r>
              <a:rPr lang="zh-CN" altLang="en-US" b="1" dirty="0">
                <a:solidFill>
                  <a:srgbClr val="C00000"/>
                </a:solidFill>
                <a:latin typeface="微软雅黑" pitchFamily="34" charset="-122"/>
                <a:ea typeface="微软雅黑" pitchFamily="34" charset="-122"/>
              </a:rPr>
              <a:t>）：</a:t>
            </a:r>
            <a:r>
              <a:rPr lang="zh-CN" altLang="en-US" b="1" dirty="0">
                <a:latin typeface="微软雅黑" pitchFamily="34" charset="-122"/>
                <a:ea typeface="微软雅黑" pitchFamily="34" charset="-122"/>
              </a:rPr>
              <a:t>表示需要再</a:t>
            </a:r>
            <a:r>
              <a:rPr lang="zh-CN" altLang="en-US" b="1" dirty="0">
                <a:solidFill>
                  <a:srgbClr val="0000CC"/>
                </a:solidFill>
                <a:latin typeface="微软雅黑" pitchFamily="34" charset="-122"/>
                <a:ea typeface="微软雅黑" pitchFamily="34" charset="-122"/>
              </a:rPr>
              <a:t>退回</a:t>
            </a:r>
            <a:r>
              <a:rPr lang="zh-CN" altLang="en-US" b="1" dirty="0">
                <a:latin typeface="微软雅黑" pitchFamily="34" charset="-122"/>
                <a:ea typeface="微软雅黑" pitchFamily="34" charset="-122"/>
              </a:rPr>
              <a:t>来</a:t>
            </a:r>
            <a:r>
              <a:rPr lang="zh-CN" altLang="en-US" b="1" dirty="0">
                <a:solidFill>
                  <a:srgbClr val="0000CC"/>
                </a:solidFill>
                <a:latin typeface="微软雅黑" pitchFamily="34" charset="-122"/>
                <a:ea typeface="微软雅黑" pitchFamily="34" charset="-122"/>
              </a:rPr>
              <a:t>重传</a:t>
            </a:r>
            <a:r>
              <a:rPr lang="zh-CN" altLang="en-US" b="1" dirty="0">
                <a:latin typeface="微软雅黑" pitchFamily="34" charset="-122"/>
                <a:ea typeface="微软雅黑" pitchFamily="34" charset="-122"/>
              </a:rPr>
              <a:t>已发送过的 </a:t>
            </a:r>
            <a:r>
              <a:rPr lang="en-US" altLang="zh-CN" b="1" dirty="0">
                <a:latin typeface="微软雅黑" pitchFamily="34" charset="-122"/>
                <a:ea typeface="微软雅黑" pitchFamily="34" charset="-122"/>
              </a:rPr>
              <a:t>N </a:t>
            </a:r>
            <a:r>
              <a:rPr lang="zh-CN" altLang="en-US" b="1" dirty="0">
                <a:latin typeface="微软雅黑" pitchFamily="34" charset="-122"/>
                <a:ea typeface="微软雅黑" pitchFamily="34" charset="-122"/>
              </a:rPr>
              <a:t>个分组。</a:t>
            </a:r>
            <a:endParaRPr lang="en-US" altLang="zh-CN" b="1" dirty="0">
              <a:latin typeface="微软雅黑" pitchFamily="34" charset="-122"/>
              <a:ea typeface="微软雅黑" pitchFamily="34" charset="-122"/>
            </a:endParaRPr>
          </a:p>
          <a:p>
            <a:pPr>
              <a:lnSpc>
                <a:spcPts val="2400"/>
              </a:lnSpc>
              <a:buClr>
                <a:srgbClr val="0070C0"/>
              </a:buClr>
            </a:pPr>
            <a:r>
              <a:rPr lang="zh-CN" altLang="en-US" b="1" dirty="0">
                <a:latin typeface="微软雅黑" pitchFamily="34" charset="-122"/>
                <a:ea typeface="微软雅黑" pitchFamily="34" charset="-122"/>
              </a:rPr>
              <a:t>当通信线路质量不好时，连续 </a:t>
            </a:r>
            <a:r>
              <a:rPr lang="en-US" altLang="zh-CN" b="1" dirty="0">
                <a:latin typeface="微软雅黑" pitchFamily="34" charset="-122"/>
                <a:ea typeface="微软雅黑" pitchFamily="34" charset="-122"/>
              </a:rPr>
              <a:t>ARQ </a:t>
            </a:r>
            <a:r>
              <a:rPr lang="zh-CN" altLang="en-US" b="1" dirty="0">
                <a:latin typeface="微软雅黑" pitchFamily="34" charset="-122"/>
                <a:ea typeface="微软雅黑" pitchFamily="34" charset="-122"/>
              </a:rPr>
              <a:t>协议会带来负面的影响。</a:t>
            </a:r>
          </a:p>
        </p:txBody>
      </p:sp>
      <p:sp>
        <p:nvSpPr>
          <p:cNvPr id="4" name="标题 3">
            <a:extLst>
              <a:ext uri="{FF2B5EF4-FFF2-40B4-BE49-F238E27FC236}">
                <a16:creationId xmlns:a16="http://schemas.microsoft.com/office/drawing/2014/main" id="{A01005FA-B250-5FC3-74E9-64C088C11A0B}"/>
              </a:ext>
            </a:extLst>
          </p:cNvPr>
          <p:cNvSpPr>
            <a:spLocks noGrp="1"/>
          </p:cNvSpPr>
          <p:nvPr>
            <p:ph type="title"/>
          </p:nvPr>
        </p:nvSpPr>
        <p:spPr>
          <a:xfrm>
            <a:off x="2808000" y="144000"/>
            <a:ext cx="3528000" cy="338554"/>
          </a:xfrm>
        </p:spPr>
        <p:txBody>
          <a:bodyPr/>
          <a:lstStyle/>
          <a:p>
            <a:r>
              <a:rPr lang="zh-CN" altLang="en-US" dirty="0"/>
              <a:t>累积确认</a:t>
            </a:r>
          </a:p>
        </p:txBody>
      </p:sp>
    </p:spTree>
    <p:extLst>
      <p:ext uri="{BB962C8B-B14F-4D97-AF65-F5344CB8AC3E}">
        <p14:creationId xmlns:p14="http://schemas.microsoft.com/office/powerpoint/2010/main" val="26206575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142ED8B4-6B40-0BB2-75B1-E289F8A764AD}"/>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虽然是面向字节流的，但 </a:t>
            </a:r>
            <a:r>
              <a:rPr lang="en-US" altLang="zh-CN" dirty="0"/>
              <a:t>TCP </a:t>
            </a:r>
            <a:r>
              <a:rPr lang="zh-CN" altLang="en-US" dirty="0"/>
              <a:t>传送的数据单元却是报文段。</a:t>
            </a:r>
          </a:p>
          <a:p>
            <a:r>
              <a:rPr lang="zh-CN" altLang="en-US" dirty="0"/>
              <a:t>一个 </a:t>
            </a:r>
            <a:r>
              <a:rPr lang="en-US" altLang="zh-CN" dirty="0"/>
              <a:t>TCP </a:t>
            </a:r>
            <a:r>
              <a:rPr lang="zh-CN" altLang="en-US" dirty="0"/>
              <a:t>报文段分为首部和数据两部分，而 </a:t>
            </a:r>
            <a:r>
              <a:rPr lang="en-US" altLang="zh-CN" dirty="0"/>
              <a:t>TCP </a:t>
            </a:r>
            <a:r>
              <a:rPr lang="zh-CN" altLang="en-US" dirty="0"/>
              <a:t>的全部功能都体现在它首部中各字段的作用。</a:t>
            </a:r>
          </a:p>
          <a:p>
            <a:r>
              <a:rPr lang="en-US" altLang="zh-CN" dirty="0"/>
              <a:t>TCP </a:t>
            </a:r>
            <a:r>
              <a:rPr lang="zh-CN" altLang="en-US" dirty="0"/>
              <a:t>报文段首部的前 </a:t>
            </a:r>
            <a:r>
              <a:rPr lang="en-US" altLang="zh-CN" dirty="0"/>
              <a:t>20 </a:t>
            </a:r>
            <a:r>
              <a:rPr lang="zh-CN" altLang="en-US" dirty="0"/>
              <a:t>个字节是固定的，后面有 </a:t>
            </a:r>
            <a:r>
              <a:rPr lang="en-US" altLang="zh-CN" dirty="0"/>
              <a:t>4n </a:t>
            </a:r>
            <a:r>
              <a:rPr lang="zh-CN" altLang="en-US" dirty="0"/>
              <a:t>字节是根据需要而增加的选项 </a:t>
            </a:r>
            <a:r>
              <a:rPr lang="en-US" altLang="zh-CN" dirty="0"/>
              <a:t>(n </a:t>
            </a:r>
            <a:r>
              <a:rPr lang="zh-CN" altLang="en-US" dirty="0"/>
              <a:t>是整数</a:t>
            </a:r>
            <a:r>
              <a:rPr lang="en-US" altLang="zh-CN" dirty="0"/>
              <a:t>)</a:t>
            </a:r>
            <a:r>
              <a:rPr lang="zh-CN" altLang="en-US" dirty="0"/>
              <a:t>。因此 </a:t>
            </a:r>
            <a:r>
              <a:rPr lang="en-US" altLang="zh-CN" dirty="0"/>
              <a:t>TCP </a:t>
            </a:r>
            <a:r>
              <a:rPr lang="zh-CN" altLang="en-US" dirty="0"/>
              <a:t>首部的最小长度是 </a:t>
            </a:r>
            <a:r>
              <a:rPr lang="en-US" altLang="zh-CN" dirty="0"/>
              <a:t>20 </a:t>
            </a:r>
            <a:r>
              <a:rPr lang="zh-CN" altLang="en-US" dirty="0"/>
              <a:t>字节。</a:t>
            </a:r>
          </a:p>
          <a:p>
            <a:endParaRPr lang="zh-CN" altLang="en-US" dirty="0"/>
          </a:p>
        </p:txBody>
      </p:sp>
      <p:sp>
        <p:nvSpPr>
          <p:cNvPr id="8" name="标题 7">
            <a:extLst>
              <a:ext uri="{FF2B5EF4-FFF2-40B4-BE49-F238E27FC236}">
                <a16:creationId xmlns:a16="http://schemas.microsoft.com/office/drawing/2014/main" id="{7E8811FB-71C8-6E02-2049-C616D8102C08}"/>
              </a:ext>
            </a:extLst>
          </p:cNvPr>
          <p:cNvSpPr>
            <a:spLocks noGrp="1"/>
          </p:cNvSpPr>
          <p:nvPr>
            <p:ph type="title"/>
          </p:nvPr>
        </p:nvSpPr>
        <p:spPr>
          <a:xfrm>
            <a:off x="2808000" y="144000"/>
            <a:ext cx="3528000" cy="338554"/>
          </a:xfrm>
        </p:spPr>
        <p:txBody>
          <a:bodyPr/>
          <a:lstStyle/>
          <a:p>
            <a:r>
              <a:rPr lang="en-US" altLang="zh-CN" dirty="0"/>
              <a:t>5.5  TCP </a:t>
            </a:r>
            <a:r>
              <a:rPr lang="zh-CN" altLang="en-US" dirty="0"/>
              <a:t>报文段的首部格式</a:t>
            </a:r>
          </a:p>
        </p:txBody>
      </p:sp>
    </p:spTree>
    <p:extLst>
      <p:ext uri="{BB962C8B-B14F-4D97-AF65-F5344CB8AC3E}">
        <p14:creationId xmlns:p14="http://schemas.microsoft.com/office/powerpoint/2010/main" val="34529886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5"/>
          <p:cNvSpPr>
            <a:spLocks/>
          </p:cNvSpPr>
          <p:nvPr/>
        </p:nvSpPr>
        <p:spPr bwMode="auto">
          <a:xfrm>
            <a:off x="2466523" y="3184393"/>
            <a:ext cx="4206284" cy="314892"/>
          </a:xfrm>
          <a:custGeom>
            <a:avLst/>
            <a:gdLst>
              <a:gd name="T0" fmla="*/ 0 w 4626"/>
              <a:gd name="T1" fmla="*/ 0 h 544"/>
              <a:gd name="T2" fmla="*/ 861 w 4626"/>
              <a:gd name="T3" fmla="*/ 544 h 544"/>
              <a:gd name="T4" fmla="*/ 1814 w 4626"/>
              <a:gd name="T5" fmla="*/ 544 h 544"/>
              <a:gd name="T6" fmla="*/ 4626 w 4626"/>
              <a:gd name="T7" fmla="*/ 0 h 544"/>
              <a:gd name="T8" fmla="*/ 0 w 4626"/>
              <a:gd name="T9" fmla="*/ 0 h 544"/>
            </a:gdLst>
            <a:ahLst/>
            <a:cxnLst>
              <a:cxn ang="0">
                <a:pos x="T0" y="T1"/>
              </a:cxn>
              <a:cxn ang="0">
                <a:pos x="T2" y="T3"/>
              </a:cxn>
              <a:cxn ang="0">
                <a:pos x="T4" y="T5"/>
              </a:cxn>
              <a:cxn ang="0">
                <a:pos x="T6" y="T7"/>
              </a:cxn>
              <a:cxn ang="0">
                <a:pos x="T8" y="T9"/>
              </a:cxn>
            </a:cxnLst>
            <a:rect l="0" t="0" r="r" b="b"/>
            <a:pathLst>
              <a:path w="4626" h="544">
                <a:moveTo>
                  <a:pt x="0" y="0"/>
                </a:moveTo>
                <a:lnTo>
                  <a:pt x="861" y="544"/>
                </a:lnTo>
                <a:lnTo>
                  <a:pt x="1814" y="544"/>
                </a:lnTo>
                <a:lnTo>
                  <a:pt x="4626" y="0"/>
                </a:lnTo>
                <a:lnTo>
                  <a:pt x="0" y="0"/>
                </a:lnTo>
                <a:close/>
              </a:path>
            </a:pathLst>
          </a:custGeom>
          <a:gradFill rotWithShape="1">
            <a:gsLst>
              <a:gs pos="0">
                <a:srgbClr val="99FFCC"/>
              </a:gs>
              <a:gs pos="100000">
                <a:srgbClr val="00B0F0"/>
              </a:gs>
            </a:gsLst>
            <a:lin ang="5400000" scaled="1"/>
          </a:gradFill>
          <a:ln>
            <a:noFill/>
          </a:ln>
          <a:effectLst/>
        </p:spPr>
        <p:txBody>
          <a:bodyPr/>
          <a:lstStyle/>
          <a:p>
            <a:endParaRPr lang="zh-CN" altLang="en-US" sz="1000" b="1">
              <a:latin typeface="微软雅黑" pitchFamily="34" charset="-122"/>
              <a:ea typeface="微软雅黑" pitchFamily="34" charset="-122"/>
            </a:endParaRPr>
          </a:p>
        </p:txBody>
      </p:sp>
      <p:sp>
        <p:nvSpPr>
          <p:cNvPr id="7" name="AutoShape 4"/>
          <p:cNvSpPr>
            <a:spLocks noChangeArrowheads="1"/>
          </p:cNvSpPr>
          <p:nvPr/>
        </p:nvSpPr>
        <p:spPr bwMode="auto">
          <a:xfrm>
            <a:off x="2115346" y="4053589"/>
            <a:ext cx="391282" cy="143571"/>
          </a:xfrm>
          <a:prstGeom prst="leftArrow">
            <a:avLst>
              <a:gd name="adj1" fmla="val 50000"/>
              <a:gd name="adj2" fmla="val 62893"/>
            </a:avLst>
          </a:prstGeom>
          <a:solidFill>
            <a:srgbClr val="FF00FF"/>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8" name="Rectangle 106"/>
          <p:cNvSpPr>
            <a:spLocks noChangeArrowheads="1"/>
          </p:cNvSpPr>
          <p:nvPr/>
        </p:nvSpPr>
        <p:spPr bwMode="auto">
          <a:xfrm>
            <a:off x="2486086" y="3982255"/>
            <a:ext cx="755175" cy="287141"/>
          </a:xfrm>
          <a:prstGeom prst="rect">
            <a:avLst/>
          </a:prstGeom>
          <a:solidFill>
            <a:srgbClr val="66FF66"/>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Line 33"/>
          <p:cNvSpPr>
            <a:spLocks noChangeShapeType="1"/>
          </p:cNvSpPr>
          <p:nvPr/>
        </p:nvSpPr>
        <p:spPr bwMode="auto">
          <a:xfrm flipH="1">
            <a:off x="2282620" y="1613244"/>
            <a:ext cx="9782" cy="1568439"/>
          </a:xfrm>
          <a:prstGeom prst="line">
            <a:avLst/>
          </a:prstGeom>
          <a:noFill/>
          <a:ln w="12700">
            <a:solidFill>
              <a:schemeClr val="tx1"/>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 name="Rectangle 34"/>
          <p:cNvSpPr>
            <a:spLocks noChangeArrowheads="1"/>
          </p:cNvSpPr>
          <p:nvPr/>
        </p:nvSpPr>
        <p:spPr bwMode="auto">
          <a:xfrm>
            <a:off x="2024068" y="2221838"/>
            <a:ext cx="439224"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0000FF"/>
                </a:solidFill>
                <a:latin typeface="微软雅黑" pitchFamily="34" charset="-122"/>
                <a:ea typeface="微软雅黑" pitchFamily="34" charset="-122"/>
              </a:rPr>
              <a:t>TCP</a:t>
            </a:r>
          </a:p>
          <a:p>
            <a:pPr algn="ctr" defTabSz="762000" eaLnBrk="0" hangingPunct="0">
              <a:lnSpc>
                <a:spcPct val="90000"/>
              </a:lnSpc>
            </a:pPr>
            <a:r>
              <a:rPr kumimoji="1" lang="zh-CN" altLang="en-US" sz="1000" b="1" dirty="0">
                <a:solidFill>
                  <a:srgbClr val="0000FF"/>
                </a:solidFill>
                <a:latin typeface="微软雅黑" pitchFamily="34" charset="-122"/>
                <a:ea typeface="微软雅黑" pitchFamily="34" charset="-122"/>
              </a:rPr>
              <a:t>首部</a:t>
            </a:r>
          </a:p>
        </p:txBody>
      </p:sp>
      <p:sp>
        <p:nvSpPr>
          <p:cNvPr id="11" name="Line 35"/>
          <p:cNvSpPr>
            <a:spLocks noChangeShapeType="1"/>
          </p:cNvSpPr>
          <p:nvPr/>
        </p:nvSpPr>
        <p:spPr bwMode="auto">
          <a:xfrm>
            <a:off x="6919314" y="1609631"/>
            <a:ext cx="0" cy="1317417"/>
          </a:xfrm>
          <a:prstGeom prst="line">
            <a:avLst/>
          </a:prstGeom>
          <a:noFill/>
          <a:ln w="12700">
            <a:solidFill>
              <a:srgbClr val="CC00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2" name="Rectangle 36"/>
          <p:cNvSpPr>
            <a:spLocks noChangeArrowheads="1"/>
          </p:cNvSpPr>
          <p:nvPr/>
        </p:nvSpPr>
        <p:spPr bwMode="auto">
          <a:xfrm>
            <a:off x="6635856" y="2090188"/>
            <a:ext cx="763030" cy="366767"/>
          </a:xfrm>
          <a:prstGeom prst="rect">
            <a:avLst/>
          </a:prstGeom>
          <a:solidFill>
            <a:srgbClr val="C3E3F9"/>
          </a:solidFill>
          <a:ln>
            <a:noFill/>
          </a:ln>
          <a:effectLst/>
        </p:spPr>
        <p:txBody>
          <a:bodyPr wrap="none" lIns="90488" tIns="44450" rIns="90488" bIns="44450">
            <a:spAutoFit/>
          </a:bodyPr>
          <a:lstStyle/>
          <a:p>
            <a:pPr algn="ctr" defTabSz="762000" eaLnBrk="0" hangingPunct="0">
              <a:lnSpc>
                <a:spcPct val="90000"/>
              </a:lnSpc>
            </a:pPr>
            <a:r>
              <a:rPr kumimoji="1" lang="en-US" altLang="zh-CN" sz="1000" b="1" dirty="0">
                <a:solidFill>
                  <a:srgbClr val="CC00CC"/>
                </a:solidFill>
                <a:latin typeface="微软雅黑" pitchFamily="34" charset="-122"/>
                <a:ea typeface="微软雅黑" pitchFamily="34" charset="-122"/>
              </a:rPr>
              <a:t>20 </a:t>
            </a:r>
            <a:r>
              <a:rPr kumimoji="1" lang="zh-CN" altLang="en-US" sz="1000" b="1" dirty="0">
                <a:solidFill>
                  <a:srgbClr val="CC00CC"/>
                </a:solidFill>
                <a:latin typeface="微软雅黑" pitchFamily="34" charset="-122"/>
                <a:ea typeface="微软雅黑" pitchFamily="34" charset="-122"/>
              </a:rPr>
              <a:t>字节的</a:t>
            </a:r>
          </a:p>
          <a:p>
            <a:pPr algn="ctr" defTabSz="762000" eaLnBrk="0" hangingPunct="0">
              <a:lnSpc>
                <a:spcPct val="90000"/>
              </a:lnSpc>
            </a:pPr>
            <a:r>
              <a:rPr kumimoji="1" lang="zh-CN" altLang="en-US" sz="1000" b="1" dirty="0">
                <a:solidFill>
                  <a:srgbClr val="CC00CC"/>
                </a:solidFill>
                <a:latin typeface="微软雅黑" pitchFamily="34" charset="-122"/>
                <a:ea typeface="微软雅黑" pitchFamily="34" charset="-122"/>
              </a:rPr>
              <a:t>固定首部</a:t>
            </a:r>
          </a:p>
        </p:txBody>
      </p:sp>
      <p:sp>
        <p:nvSpPr>
          <p:cNvPr id="13" name="Rectangle 75"/>
          <p:cNvSpPr>
            <a:spLocks noChangeArrowheads="1"/>
          </p:cNvSpPr>
          <p:nvPr/>
        </p:nvSpPr>
        <p:spPr bwMode="auto">
          <a:xfrm>
            <a:off x="2460653" y="1612340"/>
            <a:ext cx="4196502" cy="1572052"/>
          </a:xfrm>
          <a:prstGeom prst="rect">
            <a:avLst/>
          </a:prstGeom>
          <a:solidFill>
            <a:srgbClr val="00FFFF"/>
          </a:solidFill>
          <a:ln w="254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5" name="Line 6"/>
          <p:cNvSpPr>
            <a:spLocks noChangeShapeType="1"/>
          </p:cNvSpPr>
          <p:nvPr/>
        </p:nvSpPr>
        <p:spPr bwMode="auto">
          <a:xfrm>
            <a:off x="2456740" y="1879616"/>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6" name="Line 7"/>
          <p:cNvSpPr>
            <a:spLocks noChangeShapeType="1"/>
          </p:cNvSpPr>
          <p:nvPr/>
        </p:nvSpPr>
        <p:spPr bwMode="auto">
          <a:xfrm>
            <a:off x="2464566" y="2144183"/>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7" name="Line 8"/>
          <p:cNvSpPr>
            <a:spLocks noChangeShapeType="1"/>
          </p:cNvSpPr>
          <p:nvPr/>
        </p:nvSpPr>
        <p:spPr bwMode="auto">
          <a:xfrm>
            <a:off x="2456740" y="2407847"/>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8" name="Line 9"/>
          <p:cNvSpPr>
            <a:spLocks noChangeShapeType="1"/>
          </p:cNvSpPr>
          <p:nvPr/>
        </p:nvSpPr>
        <p:spPr bwMode="auto">
          <a:xfrm>
            <a:off x="2456740" y="2671511"/>
            <a:ext cx="42033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9" name="Line 10"/>
          <p:cNvSpPr>
            <a:spLocks noChangeShapeType="1"/>
          </p:cNvSpPr>
          <p:nvPr/>
        </p:nvSpPr>
        <p:spPr bwMode="auto">
          <a:xfrm>
            <a:off x="2464566" y="2936078"/>
            <a:ext cx="4195524"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0" name="Line 11"/>
          <p:cNvSpPr>
            <a:spLocks noChangeShapeType="1"/>
          </p:cNvSpPr>
          <p:nvPr/>
        </p:nvSpPr>
        <p:spPr bwMode="auto">
          <a:xfrm>
            <a:off x="4559883" y="161504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1" name="Rectangle 12"/>
          <p:cNvSpPr>
            <a:spLocks noChangeArrowheads="1"/>
          </p:cNvSpPr>
          <p:nvPr/>
        </p:nvSpPr>
        <p:spPr bwMode="auto">
          <a:xfrm>
            <a:off x="5215280" y="1619919"/>
            <a:ext cx="92653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目  的  端  口</a:t>
            </a:r>
          </a:p>
        </p:txBody>
      </p:sp>
      <p:sp>
        <p:nvSpPr>
          <p:cNvPr id="22" name="Rectangle 13"/>
          <p:cNvSpPr>
            <a:spLocks noChangeArrowheads="1"/>
          </p:cNvSpPr>
          <p:nvPr/>
        </p:nvSpPr>
        <p:spPr bwMode="auto">
          <a:xfrm>
            <a:off x="2427738" y="2418327"/>
            <a:ext cx="69648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000" b="1" dirty="0">
                <a:latin typeface="微软雅黑" pitchFamily="34" charset="-122"/>
                <a:ea typeface="微软雅黑" pitchFamily="34" charset="-122"/>
              </a:rPr>
              <a:t>数据偏移</a:t>
            </a:r>
          </a:p>
        </p:txBody>
      </p:sp>
      <p:sp>
        <p:nvSpPr>
          <p:cNvPr id="23" name="Rectangle 14"/>
          <p:cNvSpPr>
            <a:spLocks noChangeArrowheads="1"/>
          </p:cNvSpPr>
          <p:nvPr/>
        </p:nvSpPr>
        <p:spPr bwMode="auto">
          <a:xfrm>
            <a:off x="3133659" y="2687308"/>
            <a:ext cx="79829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检   验   和</a:t>
            </a:r>
          </a:p>
        </p:txBody>
      </p:sp>
      <p:sp>
        <p:nvSpPr>
          <p:cNvPr id="24" name="Rectangle 15"/>
          <p:cNvSpPr>
            <a:spLocks noChangeArrowheads="1"/>
          </p:cNvSpPr>
          <p:nvPr/>
        </p:nvSpPr>
        <p:spPr bwMode="auto">
          <a:xfrm>
            <a:off x="3244195" y="2931107"/>
            <a:ext cx="174609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000" b="1">
                <a:latin typeface="微软雅黑" pitchFamily="34" charset="-122"/>
                <a:ea typeface="微软雅黑" pitchFamily="34" charset="-122"/>
              </a:rPr>
              <a:t>选    项    （长  度  可  变）</a:t>
            </a:r>
          </a:p>
        </p:txBody>
      </p:sp>
      <p:sp>
        <p:nvSpPr>
          <p:cNvPr id="25" name="Rectangle 16"/>
          <p:cNvSpPr>
            <a:spLocks noChangeArrowheads="1"/>
          </p:cNvSpPr>
          <p:nvPr/>
        </p:nvSpPr>
        <p:spPr bwMode="auto">
          <a:xfrm>
            <a:off x="3196264" y="1619919"/>
            <a:ext cx="72135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源  端  口</a:t>
            </a:r>
          </a:p>
        </p:txBody>
      </p:sp>
      <p:sp>
        <p:nvSpPr>
          <p:cNvPr id="26" name="Rectangle 17"/>
          <p:cNvSpPr>
            <a:spLocks noChangeArrowheads="1"/>
          </p:cNvSpPr>
          <p:nvPr/>
        </p:nvSpPr>
        <p:spPr bwMode="auto">
          <a:xfrm>
            <a:off x="4317288" y="1880873"/>
            <a:ext cx="6299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序   号</a:t>
            </a:r>
          </a:p>
        </p:txBody>
      </p:sp>
      <p:sp>
        <p:nvSpPr>
          <p:cNvPr id="27" name="Line 18"/>
          <p:cNvSpPr>
            <a:spLocks noChangeShapeType="1"/>
          </p:cNvSpPr>
          <p:nvPr/>
        </p:nvSpPr>
        <p:spPr bwMode="auto">
          <a:xfrm>
            <a:off x="4562817" y="241145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28" name="Rectangle 19"/>
          <p:cNvSpPr>
            <a:spLocks noChangeArrowheads="1"/>
          </p:cNvSpPr>
          <p:nvPr/>
        </p:nvSpPr>
        <p:spPr bwMode="auto">
          <a:xfrm>
            <a:off x="5127242" y="2687308"/>
            <a:ext cx="104195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紧   急   指   针</a:t>
            </a:r>
          </a:p>
        </p:txBody>
      </p:sp>
      <p:sp>
        <p:nvSpPr>
          <p:cNvPr id="29" name="Rectangle 20"/>
          <p:cNvSpPr>
            <a:spLocks noChangeArrowheads="1"/>
          </p:cNvSpPr>
          <p:nvPr/>
        </p:nvSpPr>
        <p:spPr bwMode="auto">
          <a:xfrm>
            <a:off x="5372771" y="2413711"/>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a:latin typeface="微软雅黑" pitchFamily="34" charset="-122"/>
                <a:ea typeface="微软雅黑" pitchFamily="34" charset="-122"/>
              </a:rPr>
              <a:t>窗   口</a:t>
            </a:r>
          </a:p>
        </p:txBody>
      </p:sp>
      <p:sp>
        <p:nvSpPr>
          <p:cNvPr id="30" name="Rectangle 21"/>
          <p:cNvSpPr>
            <a:spLocks noChangeArrowheads="1"/>
          </p:cNvSpPr>
          <p:nvPr/>
        </p:nvSpPr>
        <p:spPr bwMode="auto">
          <a:xfrm>
            <a:off x="4183272" y="2148961"/>
            <a:ext cx="92629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确    认    号</a:t>
            </a:r>
          </a:p>
        </p:txBody>
      </p:sp>
      <p:sp>
        <p:nvSpPr>
          <p:cNvPr id="31" name="Line 22"/>
          <p:cNvSpPr>
            <a:spLocks noChangeShapeType="1"/>
          </p:cNvSpPr>
          <p:nvPr/>
        </p:nvSpPr>
        <p:spPr bwMode="auto">
          <a:xfrm>
            <a:off x="3056165"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2" name="Line 23"/>
          <p:cNvSpPr>
            <a:spLocks noChangeShapeType="1"/>
          </p:cNvSpPr>
          <p:nvPr/>
        </p:nvSpPr>
        <p:spPr bwMode="auto">
          <a:xfrm>
            <a:off x="4035564" y="240875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3" name="Line 24"/>
          <p:cNvSpPr>
            <a:spLocks noChangeShapeType="1"/>
          </p:cNvSpPr>
          <p:nvPr/>
        </p:nvSpPr>
        <p:spPr bwMode="auto">
          <a:xfrm>
            <a:off x="3765580"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4" name="Line 25"/>
          <p:cNvSpPr>
            <a:spLocks noChangeShapeType="1"/>
          </p:cNvSpPr>
          <p:nvPr/>
        </p:nvSpPr>
        <p:spPr bwMode="auto">
          <a:xfrm>
            <a:off x="3899593"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5" name="Line 26"/>
          <p:cNvSpPr>
            <a:spLocks noChangeShapeType="1"/>
          </p:cNvSpPr>
          <p:nvPr/>
        </p:nvSpPr>
        <p:spPr bwMode="auto">
          <a:xfrm>
            <a:off x="429772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6" name="Line 27"/>
          <p:cNvSpPr>
            <a:spLocks noChangeShapeType="1"/>
          </p:cNvSpPr>
          <p:nvPr/>
        </p:nvSpPr>
        <p:spPr bwMode="auto">
          <a:xfrm>
            <a:off x="416664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7" name="Line 28"/>
          <p:cNvSpPr>
            <a:spLocks noChangeShapeType="1"/>
          </p:cNvSpPr>
          <p:nvPr/>
        </p:nvSpPr>
        <p:spPr bwMode="auto">
          <a:xfrm>
            <a:off x="4431737"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38" name="Rectangle 29"/>
          <p:cNvSpPr>
            <a:spLocks noChangeArrowheads="1"/>
          </p:cNvSpPr>
          <p:nvPr/>
        </p:nvSpPr>
        <p:spPr bwMode="auto">
          <a:xfrm>
            <a:off x="3147354" y="2419129"/>
            <a:ext cx="55464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保   留</a:t>
            </a:r>
          </a:p>
        </p:txBody>
      </p:sp>
      <p:sp>
        <p:nvSpPr>
          <p:cNvPr id="39" name="Rectangle 30"/>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b="1" dirty="0">
                <a:latin typeface="微软雅黑" pitchFamily="34" charset="-122"/>
                <a:ea typeface="微软雅黑" pitchFamily="34" charset="-122"/>
              </a:rPr>
              <a:t>F</a:t>
            </a:r>
          </a:p>
          <a:p>
            <a:pPr algn="ctr" defTabSz="762000" eaLnBrk="0" hangingPunct="0">
              <a:lnSpc>
                <a:spcPct val="75000"/>
              </a:lnSpc>
            </a:pPr>
            <a:r>
              <a:rPr kumimoji="1" lang="en-US" altLang="zh-CN" sz="700" b="1" dirty="0">
                <a:latin typeface="微软雅黑" pitchFamily="34" charset="-122"/>
                <a:ea typeface="微软雅黑" pitchFamily="34" charset="-122"/>
              </a:rPr>
              <a:t>I</a:t>
            </a:r>
          </a:p>
          <a:p>
            <a:pPr algn="ct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40" name="Line 31"/>
          <p:cNvSpPr>
            <a:spLocks noChangeShapeType="1"/>
          </p:cNvSpPr>
          <p:nvPr/>
        </p:nvSpPr>
        <p:spPr bwMode="auto">
          <a:xfrm>
            <a:off x="2467500" y="1224367"/>
            <a:ext cx="4186720"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1" name="Rectangle 32"/>
          <p:cNvSpPr>
            <a:spLocks noChangeArrowheads="1"/>
          </p:cNvSpPr>
          <p:nvPr/>
        </p:nvSpPr>
        <p:spPr bwMode="auto">
          <a:xfrm>
            <a:off x="4291854" y="1114069"/>
            <a:ext cx="506551" cy="243656"/>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00" b="1" dirty="0">
                <a:solidFill>
                  <a:srgbClr val="0000FF"/>
                </a:solidFill>
                <a:latin typeface="微软雅黑" pitchFamily="34" charset="-122"/>
                <a:ea typeface="微软雅黑" pitchFamily="34" charset="-122"/>
              </a:rPr>
              <a:t>32 </a:t>
            </a:r>
            <a:r>
              <a:rPr kumimoji="1" lang="zh-CN" altLang="en-US" sz="1000" b="1" dirty="0">
                <a:solidFill>
                  <a:srgbClr val="0000FF"/>
                </a:solidFill>
                <a:latin typeface="微软雅黑" pitchFamily="34" charset="-122"/>
                <a:ea typeface="微软雅黑" pitchFamily="34" charset="-122"/>
              </a:rPr>
              <a:t>位</a:t>
            </a:r>
          </a:p>
        </p:txBody>
      </p:sp>
      <p:sp>
        <p:nvSpPr>
          <p:cNvPr id="80" name="Rectangle 76"/>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Y</a:t>
            </a:r>
          </a:p>
          <a:p>
            <a:pPr defTabSz="762000" eaLnBrk="0" hangingPunct="0">
              <a:lnSpc>
                <a:spcPct val="75000"/>
              </a:lnSpc>
            </a:pPr>
            <a:r>
              <a:rPr kumimoji="1" lang="en-US" altLang="zh-CN" sz="700" b="1" dirty="0">
                <a:latin typeface="微软雅黑" pitchFamily="34" charset="-122"/>
                <a:ea typeface="微软雅黑" pitchFamily="34" charset="-122"/>
              </a:rPr>
              <a:t>N</a:t>
            </a:r>
          </a:p>
        </p:txBody>
      </p:sp>
      <p:sp>
        <p:nvSpPr>
          <p:cNvPr id="81" name="Rectangle 77"/>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T</a:t>
            </a:r>
          </a:p>
        </p:txBody>
      </p:sp>
      <p:sp>
        <p:nvSpPr>
          <p:cNvPr id="82" name="Rectangle 78"/>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P</a:t>
            </a:r>
          </a:p>
          <a:p>
            <a:pPr defTabSz="762000" eaLnBrk="0" hangingPunct="0">
              <a:lnSpc>
                <a:spcPct val="75000"/>
              </a:lnSpc>
            </a:pPr>
            <a:r>
              <a:rPr kumimoji="1" lang="en-US" altLang="zh-CN" sz="700" b="1" dirty="0">
                <a:latin typeface="微软雅黑" pitchFamily="34" charset="-122"/>
                <a:ea typeface="微软雅黑" pitchFamily="34" charset="-122"/>
              </a:rPr>
              <a:t>S</a:t>
            </a:r>
          </a:p>
          <a:p>
            <a:pPr defTabSz="762000" eaLnBrk="0" hangingPunct="0">
              <a:lnSpc>
                <a:spcPct val="75000"/>
              </a:lnSpc>
            </a:pPr>
            <a:r>
              <a:rPr kumimoji="1" lang="en-US" altLang="zh-CN" sz="700" b="1" dirty="0">
                <a:latin typeface="微软雅黑" pitchFamily="34" charset="-122"/>
                <a:ea typeface="微软雅黑" pitchFamily="34" charset="-122"/>
              </a:rPr>
              <a:t>H</a:t>
            </a:r>
          </a:p>
        </p:txBody>
      </p:sp>
      <p:sp>
        <p:nvSpPr>
          <p:cNvPr id="83" name="Rectangle 79"/>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A</a:t>
            </a:r>
          </a:p>
          <a:p>
            <a:pPr defTabSz="762000" eaLnBrk="0" hangingPunct="0">
              <a:lnSpc>
                <a:spcPct val="75000"/>
              </a:lnSpc>
            </a:pPr>
            <a:r>
              <a:rPr kumimoji="1" lang="en-US" altLang="zh-CN" sz="700" b="1" dirty="0">
                <a:latin typeface="微软雅黑" pitchFamily="34" charset="-122"/>
                <a:ea typeface="微软雅黑" pitchFamily="34" charset="-122"/>
              </a:rPr>
              <a:t>C</a:t>
            </a:r>
          </a:p>
          <a:p>
            <a:pPr defTabSz="762000" eaLnBrk="0" hangingPunct="0">
              <a:lnSpc>
                <a:spcPct val="75000"/>
              </a:lnSpc>
            </a:pPr>
            <a:r>
              <a:rPr kumimoji="1" lang="en-US" altLang="zh-CN" sz="700" b="1" dirty="0">
                <a:latin typeface="微软雅黑" pitchFamily="34" charset="-122"/>
                <a:ea typeface="微软雅黑" pitchFamily="34" charset="-122"/>
              </a:rPr>
              <a:t>K</a:t>
            </a:r>
          </a:p>
        </p:txBody>
      </p:sp>
      <p:sp>
        <p:nvSpPr>
          <p:cNvPr id="84" name="Rectangle 80"/>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b="1" dirty="0">
                <a:latin typeface="微软雅黑" pitchFamily="34" charset="-122"/>
                <a:ea typeface="微软雅黑" pitchFamily="34" charset="-122"/>
              </a:rPr>
              <a:t>U</a:t>
            </a:r>
          </a:p>
          <a:p>
            <a:pPr defTabSz="762000" eaLnBrk="0" hangingPunct="0">
              <a:lnSpc>
                <a:spcPct val="75000"/>
              </a:lnSpc>
            </a:pPr>
            <a:r>
              <a:rPr kumimoji="1" lang="en-US" altLang="zh-CN" sz="700" b="1" dirty="0">
                <a:latin typeface="微软雅黑" pitchFamily="34" charset="-122"/>
                <a:ea typeface="微软雅黑" pitchFamily="34" charset="-122"/>
              </a:rPr>
              <a:t>R</a:t>
            </a:r>
          </a:p>
          <a:p>
            <a:pPr defTabSz="762000" eaLnBrk="0" hangingPunct="0">
              <a:lnSpc>
                <a:spcPct val="75000"/>
              </a:lnSpc>
            </a:pPr>
            <a:r>
              <a:rPr kumimoji="1" lang="en-US" altLang="zh-CN" sz="700" b="1" dirty="0">
                <a:latin typeface="微软雅黑" pitchFamily="34" charset="-122"/>
                <a:ea typeface="微软雅黑" pitchFamily="34" charset="-122"/>
              </a:rPr>
              <a:t>G</a:t>
            </a:r>
          </a:p>
        </p:txBody>
      </p:sp>
      <p:sp>
        <p:nvSpPr>
          <p:cNvPr id="86" name="Line 82"/>
          <p:cNvSpPr>
            <a:spLocks noChangeShapeType="1"/>
          </p:cNvSpPr>
          <p:nvPr/>
        </p:nvSpPr>
        <p:spPr bwMode="auto">
          <a:xfrm flipH="1">
            <a:off x="5600693" y="294239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87" name="Rectangle 105"/>
          <p:cNvSpPr>
            <a:spLocks noChangeArrowheads="1"/>
          </p:cNvSpPr>
          <p:nvPr/>
        </p:nvSpPr>
        <p:spPr bwMode="auto">
          <a:xfrm>
            <a:off x="4128493" y="3513732"/>
            <a:ext cx="2652894" cy="280821"/>
          </a:xfrm>
          <a:prstGeom prst="rect">
            <a:avLst/>
          </a:prstGeom>
          <a:solidFill>
            <a:srgbClr val="99FFCC"/>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88" name="Rectangle 83"/>
          <p:cNvSpPr>
            <a:spLocks noChangeArrowheads="1"/>
          </p:cNvSpPr>
          <p:nvPr/>
        </p:nvSpPr>
        <p:spPr bwMode="auto">
          <a:xfrm>
            <a:off x="5880459" y="2931107"/>
            <a:ext cx="710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填    充</a:t>
            </a:r>
          </a:p>
        </p:txBody>
      </p:sp>
      <p:sp>
        <p:nvSpPr>
          <p:cNvPr id="89" name="Rectangle 84"/>
          <p:cNvSpPr>
            <a:spLocks noChangeArrowheads="1"/>
          </p:cNvSpPr>
          <p:nvPr/>
        </p:nvSpPr>
        <p:spPr bwMode="auto">
          <a:xfrm>
            <a:off x="4982467" y="3523392"/>
            <a:ext cx="98584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数据部分</a:t>
            </a:r>
          </a:p>
        </p:txBody>
      </p:sp>
      <p:sp>
        <p:nvSpPr>
          <p:cNvPr id="90" name="Rectangle 85"/>
          <p:cNvSpPr>
            <a:spLocks noChangeArrowheads="1"/>
          </p:cNvSpPr>
          <p:nvPr/>
        </p:nvSpPr>
        <p:spPr bwMode="auto">
          <a:xfrm>
            <a:off x="3249087" y="3499285"/>
            <a:ext cx="866690" cy="288044"/>
          </a:xfrm>
          <a:prstGeom prst="rect">
            <a:avLst/>
          </a:prstGeom>
          <a:solidFill>
            <a:srgbClr val="3366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91" name="Rectangle 86"/>
          <p:cNvSpPr>
            <a:spLocks noChangeArrowheads="1"/>
          </p:cNvSpPr>
          <p:nvPr/>
        </p:nvSpPr>
        <p:spPr bwMode="auto">
          <a:xfrm>
            <a:off x="3249087" y="3499285"/>
            <a:ext cx="3547952" cy="288044"/>
          </a:xfrm>
          <a:prstGeom prst="rect">
            <a:avLst/>
          </a:prstGeom>
          <a:noFill/>
          <a:ln w="19050">
            <a:solidFill>
              <a:srgbClr val="3333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2" name="Line 87"/>
          <p:cNvSpPr>
            <a:spLocks noChangeShapeType="1"/>
          </p:cNvSpPr>
          <p:nvPr/>
        </p:nvSpPr>
        <p:spPr bwMode="auto">
          <a:xfrm flipH="1">
            <a:off x="4115777" y="3505606"/>
            <a:ext cx="0" cy="28172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93" name="Rectangle 88"/>
          <p:cNvSpPr>
            <a:spLocks noChangeArrowheads="1"/>
          </p:cNvSpPr>
          <p:nvPr/>
        </p:nvSpPr>
        <p:spPr bwMode="auto">
          <a:xfrm>
            <a:off x="3369406" y="3572425"/>
            <a:ext cx="444105" cy="153503"/>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94" name="Rectangle 89"/>
          <p:cNvSpPr>
            <a:spLocks noChangeArrowheads="1"/>
          </p:cNvSpPr>
          <p:nvPr/>
        </p:nvSpPr>
        <p:spPr bwMode="auto">
          <a:xfrm>
            <a:off x="3345038" y="3523392"/>
            <a:ext cx="729368"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solidFill>
                  <a:schemeClr val="bg1"/>
                </a:solidFill>
                <a:latin typeface="微软雅黑" pitchFamily="34" charset="-122"/>
                <a:ea typeface="微软雅黑" pitchFamily="34" charset="-122"/>
              </a:rPr>
              <a:t>TCP </a:t>
            </a:r>
            <a:r>
              <a:rPr kumimoji="1" lang="zh-CN" altLang="en-US" sz="1000" b="1" dirty="0">
                <a:solidFill>
                  <a:schemeClr val="bg1"/>
                </a:solidFill>
                <a:latin typeface="微软雅黑" pitchFamily="34" charset="-122"/>
                <a:ea typeface="微软雅黑" pitchFamily="34" charset="-122"/>
              </a:rPr>
              <a:t>首部</a:t>
            </a:r>
          </a:p>
        </p:txBody>
      </p:sp>
      <p:sp>
        <p:nvSpPr>
          <p:cNvPr id="95" name="Rectangle 93"/>
          <p:cNvSpPr>
            <a:spLocks noChangeArrowheads="1"/>
          </p:cNvSpPr>
          <p:nvPr/>
        </p:nvSpPr>
        <p:spPr bwMode="auto">
          <a:xfrm>
            <a:off x="6761170" y="3508714"/>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报文段</a:t>
            </a:r>
          </a:p>
        </p:txBody>
      </p:sp>
      <p:sp>
        <p:nvSpPr>
          <p:cNvPr id="96" name="Rectangle 94"/>
          <p:cNvSpPr>
            <a:spLocks noChangeArrowheads="1"/>
          </p:cNvSpPr>
          <p:nvPr/>
        </p:nvSpPr>
        <p:spPr bwMode="auto">
          <a:xfrm>
            <a:off x="3241261" y="3982255"/>
            <a:ext cx="3555777" cy="287141"/>
          </a:xfrm>
          <a:prstGeom prst="rect">
            <a:avLst/>
          </a:prstGeom>
          <a:solidFill>
            <a:srgbClr val="00FFFF"/>
          </a:solidFill>
          <a:ln w="19050">
            <a:solidFill>
              <a:srgbClr val="333399"/>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7" name="Rectangle 96"/>
          <p:cNvSpPr>
            <a:spLocks noChangeArrowheads="1"/>
          </p:cNvSpPr>
          <p:nvPr/>
        </p:nvSpPr>
        <p:spPr bwMode="auto">
          <a:xfrm>
            <a:off x="4268658" y="4010402"/>
            <a:ext cx="1413850"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数据报的</a:t>
            </a:r>
            <a:r>
              <a:rPr kumimoji="1" lang="en-US" altLang="zh-CN" sz="1000" b="1" dirty="0">
                <a:latin typeface="微软雅黑" pitchFamily="34" charset="-122"/>
                <a:ea typeface="微软雅黑" pitchFamily="34" charset="-122"/>
              </a:rPr>
              <a:t> </a:t>
            </a:r>
            <a:r>
              <a:rPr kumimoji="1" lang="zh-CN" altLang="en-US" sz="1000" b="1" dirty="0">
                <a:latin typeface="微软雅黑" pitchFamily="34" charset="-122"/>
                <a:ea typeface="微软雅黑" pitchFamily="34" charset="-122"/>
              </a:rPr>
              <a:t>数据部分</a:t>
            </a:r>
          </a:p>
        </p:txBody>
      </p:sp>
      <p:sp>
        <p:nvSpPr>
          <p:cNvPr id="98" name="Rectangle 97"/>
          <p:cNvSpPr>
            <a:spLocks noChangeArrowheads="1"/>
          </p:cNvSpPr>
          <p:nvPr/>
        </p:nvSpPr>
        <p:spPr bwMode="auto">
          <a:xfrm>
            <a:off x="2560641" y="4001034"/>
            <a:ext cx="605936"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IP </a:t>
            </a:r>
            <a:r>
              <a:rPr kumimoji="1" lang="zh-CN" altLang="en-US" sz="1000" b="1" dirty="0">
                <a:latin typeface="微软雅黑" pitchFamily="34" charset="-122"/>
                <a:ea typeface="微软雅黑" pitchFamily="34" charset="-122"/>
              </a:rPr>
              <a:t>首部</a:t>
            </a:r>
          </a:p>
        </p:txBody>
      </p:sp>
      <p:sp>
        <p:nvSpPr>
          <p:cNvPr id="99" name="Line 100"/>
          <p:cNvSpPr>
            <a:spLocks noChangeShapeType="1"/>
          </p:cNvSpPr>
          <p:nvPr/>
        </p:nvSpPr>
        <p:spPr bwMode="auto">
          <a:xfrm>
            <a:off x="6714869" y="1603310"/>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0" name="Line 101"/>
          <p:cNvSpPr>
            <a:spLocks noChangeShapeType="1"/>
          </p:cNvSpPr>
          <p:nvPr/>
        </p:nvSpPr>
        <p:spPr bwMode="auto">
          <a:xfrm>
            <a:off x="6714869" y="2932466"/>
            <a:ext cx="45388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Line 102"/>
          <p:cNvSpPr>
            <a:spLocks noChangeShapeType="1"/>
          </p:cNvSpPr>
          <p:nvPr/>
        </p:nvSpPr>
        <p:spPr bwMode="auto">
          <a:xfrm>
            <a:off x="2135889" y="1617757"/>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2" name="Line 103"/>
          <p:cNvSpPr>
            <a:spLocks noChangeShapeType="1"/>
          </p:cNvSpPr>
          <p:nvPr/>
        </p:nvSpPr>
        <p:spPr bwMode="auto">
          <a:xfrm>
            <a:off x="2143714" y="3177168"/>
            <a:ext cx="2895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3" name="Rectangle 104"/>
          <p:cNvSpPr>
            <a:spLocks noChangeArrowheads="1"/>
          </p:cNvSpPr>
          <p:nvPr/>
        </p:nvSpPr>
        <p:spPr bwMode="auto">
          <a:xfrm>
            <a:off x="1793206" y="3826947"/>
            <a:ext cx="695704" cy="243656"/>
          </a:xfrm>
          <a:prstGeom prst="rect">
            <a:avLst/>
          </a:prstGeom>
          <a:noFill/>
          <a:ln>
            <a:noFill/>
          </a:ln>
          <a:effectLst/>
          <a:extLst>
            <a:ext uri="{909E8E84-426E-40DD-AFC4-6F175D3DCCD1}">
              <a14:hiddenFill xmlns:a14="http://schemas.microsoft.com/office/drawing/2010/main">
                <a:solidFill>
                  <a:srgbClr val="DDDDDD"/>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latin typeface="微软雅黑" pitchFamily="34" charset="-122"/>
                <a:ea typeface="微软雅黑" pitchFamily="34" charset="-122"/>
              </a:rPr>
              <a:t>发送在前</a:t>
            </a:r>
          </a:p>
        </p:txBody>
      </p:sp>
      <p:sp>
        <p:nvSpPr>
          <p:cNvPr id="104" name="矩形 103"/>
          <p:cNvSpPr/>
          <p:nvPr/>
        </p:nvSpPr>
        <p:spPr bwMode="auto">
          <a:xfrm>
            <a:off x="3249087" y="3781786"/>
            <a:ext cx="3532300" cy="194595"/>
          </a:xfrm>
          <a:prstGeom prst="rect">
            <a:avLst/>
          </a:prstGeom>
          <a:gradFill flip="none" rotWithShape="1">
            <a:gsLst>
              <a:gs pos="0">
                <a:srgbClr val="00FFFF"/>
              </a:gs>
              <a:gs pos="100000">
                <a:srgbClr val="00B0F0"/>
              </a:gs>
            </a:gsLst>
            <a:lin ang="54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zh-CN" altLang="en-US" sz="1000" b="0" i="0" u="none" strike="noStrike" cap="none" normalizeH="0" baseline="0">
              <a:ln>
                <a:noFill/>
              </a:ln>
              <a:effectLst/>
              <a:latin typeface="微软雅黑" pitchFamily="34" charset="-122"/>
              <a:ea typeface="微软雅黑" pitchFamily="34" charset="-122"/>
            </a:endParaRPr>
          </a:p>
        </p:txBody>
      </p:sp>
      <p:sp>
        <p:nvSpPr>
          <p:cNvPr id="105" name="AutoShape 99"/>
          <p:cNvSpPr>
            <a:spLocks noChangeArrowheads="1"/>
          </p:cNvSpPr>
          <p:nvPr/>
        </p:nvSpPr>
        <p:spPr bwMode="auto">
          <a:xfrm rot="16200000">
            <a:off x="4852113" y="3796139"/>
            <a:ext cx="267600" cy="247299"/>
          </a:xfrm>
          <a:prstGeom prst="leftArrow">
            <a:avLst>
              <a:gd name="adj1" fmla="val 50000"/>
              <a:gd name="adj2" fmla="val 52851"/>
            </a:avLst>
          </a:prstGeom>
          <a:solidFill>
            <a:srgbClr val="FFFF00"/>
          </a:solidFill>
          <a:ln w="12700">
            <a:solidFill>
              <a:schemeClr val="tx1"/>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2224351" y="1296751"/>
            <a:ext cx="4531691" cy="255995"/>
            <a:chOff x="2340896" y="1296751"/>
            <a:chExt cx="4531691" cy="255995"/>
          </a:xfrm>
        </p:grpSpPr>
        <p:sp>
          <p:nvSpPr>
            <p:cNvPr id="42" name="Line 37"/>
            <p:cNvSpPr>
              <a:spLocks noChangeShapeType="1"/>
            </p:cNvSpPr>
            <p:nvPr/>
          </p:nvSpPr>
          <p:spPr bwMode="auto">
            <a:xfrm>
              <a:off x="2575242" y="1552744"/>
              <a:ext cx="419063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4" name="Line 39"/>
            <p:cNvSpPr>
              <a:spLocks noChangeShapeType="1"/>
            </p:cNvSpPr>
            <p:nvPr/>
          </p:nvSpPr>
          <p:spPr bwMode="auto">
            <a:xfrm flipH="1">
              <a:off x="2706320"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5" name="Line 40"/>
            <p:cNvSpPr>
              <a:spLocks noChangeShapeType="1"/>
            </p:cNvSpPr>
            <p:nvPr/>
          </p:nvSpPr>
          <p:spPr bwMode="auto">
            <a:xfrm>
              <a:off x="2837401"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6" name="Line 41"/>
            <p:cNvSpPr>
              <a:spLocks noChangeShapeType="1"/>
            </p:cNvSpPr>
            <p:nvPr/>
          </p:nvSpPr>
          <p:spPr bwMode="auto">
            <a:xfrm>
              <a:off x="296848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7" name="Line 42"/>
            <p:cNvSpPr>
              <a:spLocks noChangeShapeType="1"/>
            </p:cNvSpPr>
            <p:nvPr/>
          </p:nvSpPr>
          <p:spPr bwMode="auto">
            <a:xfrm>
              <a:off x="309956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8" name="Line 43"/>
            <p:cNvSpPr>
              <a:spLocks noChangeShapeType="1"/>
            </p:cNvSpPr>
            <p:nvPr/>
          </p:nvSpPr>
          <p:spPr bwMode="auto">
            <a:xfrm>
              <a:off x="32306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49" name="Line 44"/>
            <p:cNvSpPr>
              <a:spLocks noChangeShapeType="1"/>
            </p:cNvSpPr>
            <p:nvPr/>
          </p:nvSpPr>
          <p:spPr bwMode="auto">
            <a:xfrm>
              <a:off x="3360740" y="1486893"/>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0" name="Line 45"/>
            <p:cNvSpPr>
              <a:spLocks noChangeShapeType="1"/>
            </p:cNvSpPr>
            <p:nvPr/>
          </p:nvSpPr>
          <p:spPr bwMode="auto">
            <a:xfrm>
              <a:off x="3491820" y="1486894"/>
              <a:ext cx="0" cy="658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1" name="Line 46"/>
            <p:cNvSpPr>
              <a:spLocks noChangeShapeType="1"/>
            </p:cNvSpPr>
            <p:nvPr/>
          </p:nvSpPr>
          <p:spPr bwMode="auto">
            <a:xfrm>
              <a:off x="3622900"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2" name="Line 47"/>
            <p:cNvSpPr>
              <a:spLocks noChangeShapeType="1"/>
            </p:cNvSpPr>
            <p:nvPr/>
          </p:nvSpPr>
          <p:spPr bwMode="auto">
            <a:xfrm>
              <a:off x="37539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3" name="Line 48"/>
            <p:cNvSpPr>
              <a:spLocks noChangeShapeType="1"/>
            </p:cNvSpPr>
            <p:nvPr/>
          </p:nvSpPr>
          <p:spPr bwMode="auto">
            <a:xfrm>
              <a:off x="388505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4" name="Line 49"/>
            <p:cNvSpPr>
              <a:spLocks noChangeShapeType="1"/>
            </p:cNvSpPr>
            <p:nvPr/>
          </p:nvSpPr>
          <p:spPr bwMode="auto">
            <a:xfrm>
              <a:off x="4016138"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5" name="Line 50"/>
            <p:cNvSpPr>
              <a:spLocks noChangeShapeType="1"/>
            </p:cNvSpPr>
            <p:nvPr/>
          </p:nvSpPr>
          <p:spPr bwMode="auto">
            <a:xfrm>
              <a:off x="414721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6" name="Line 51"/>
            <p:cNvSpPr>
              <a:spLocks noChangeShapeType="1"/>
            </p:cNvSpPr>
            <p:nvPr/>
          </p:nvSpPr>
          <p:spPr bwMode="auto">
            <a:xfrm>
              <a:off x="42782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7" name="Line 52"/>
            <p:cNvSpPr>
              <a:spLocks noChangeShapeType="1"/>
            </p:cNvSpPr>
            <p:nvPr/>
          </p:nvSpPr>
          <p:spPr bwMode="auto">
            <a:xfrm>
              <a:off x="440839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8" name="Line 53"/>
            <p:cNvSpPr>
              <a:spLocks noChangeShapeType="1"/>
            </p:cNvSpPr>
            <p:nvPr/>
          </p:nvSpPr>
          <p:spPr bwMode="auto">
            <a:xfrm>
              <a:off x="4539479"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59" name="Line 54"/>
            <p:cNvSpPr>
              <a:spLocks noChangeShapeType="1"/>
            </p:cNvSpPr>
            <p:nvPr/>
          </p:nvSpPr>
          <p:spPr bwMode="auto">
            <a:xfrm>
              <a:off x="4670558" y="1403190"/>
              <a:ext cx="0"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0" name="Line 55"/>
            <p:cNvSpPr>
              <a:spLocks noChangeShapeType="1"/>
            </p:cNvSpPr>
            <p:nvPr/>
          </p:nvSpPr>
          <p:spPr bwMode="auto">
            <a:xfrm>
              <a:off x="4801638"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1" name="Line 56"/>
            <p:cNvSpPr>
              <a:spLocks noChangeShapeType="1"/>
            </p:cNvSpPr>
            <p:nvPr/>
          </p:nvSpPr>
          <p:spPr bwMode="auto">
            <a:xfrm>
              <a:off x="493271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2" name="Line 57"/>
            <p:cNvSpPr>
              <a:spLocks noChangeShapeType="1"/>
            </p:cNvSpPr>
            <p:nvPr/>
          </p:nvSpPr>
          <p:spPr bwMode="auto">
            <a:xfrm>
              <a:off x="5063797"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3" name="Line 58"/>
            <p:cNvSpPr>
              <a:spLocks noChangeShapeType="1"/>
            </p:cNvSpPr>
            <p:nvPr/>
          </p:nvSpPr>
          <p:spPr bwMode="auto">
            <a:xfrm>
              <a:off x="519487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4" name="Line 59"/>
            <p:cNvSpPr>
              <a:spLocks noChangeShapeType="1"/>
            </p:cNvSpPr>
            <p:nvPr/>
          </p:nvSpPr>
          <p:spPr bwMode="auto">
            <a:xfrm>
              <a:off x="532595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5" name="Line 60"/>
            <p:cNvSpPr>
              <a:spLocks noChangeShapeType="1"/>
            </p:cNvSpPr>
            <p:nvPr/>
          </p:nvSpPr>
          <p:spPr bwMode="auto">
            <a:xfrm>
              <a:off x="545605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6" name="Line 61"/>
            <p:cNvSpPr>
              <a:spLocks noChangeShapeType="1"/>
            </p:cNvSpPr>
            <p:nvPr/>
          </p:nvSpPr>
          <p:spPr bwMode="auto">
            <a:xfrm>
              <a:off x="5587137"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7" name="Line 62"/>
            <p:cNvSpPr>
              <a:spLocks noChangeShapeType="1"/>
            </p:cNvSpPr>
            <p:nvPr/>
          </p:nvSpPr>
          <p:spPr bwMode="auto">
            <a:xfrm flipH="1">
              <a:off x="5718215" y="1403190"/>
              <a:ext cx="979" cy="14955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8" name="Line 63"/>
            <p:cNvSpPr>
              <a:spLocks noChangeShapeType="1"/>
            </p:cNvSpPr>
            <p:nvPr/>
          </p:nvSpPr>
          <p:spPr bwMode="auto">
            <a:xfrm>
              <a:off x="5849296"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69" name="Line 64"/>
            <p:cNvSpPr>
              <a:spLocks noChangeShapeType="1"/>
            </p:cNvSpPr>
            <p:nvPr/>
          </p:nvSpPr>
          <p:spPr bwMode="auto">
            <a:xfrm>
              <a:off x="598037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0" name="Line 65"/>
            <p:cNvSpPr>
              <a:spLocks noChangeShapeType="1"/>
            </p:cNvSpPr>
            <p:nvPr/>
          </p:nvSpPr>
          <p:spPr bwMode="auto">
            <a:xfrm>
              <a:off x="6111455"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1" name="Line 66"/>
            <p:cNvSpPr>
              <a:spLocks noChangeShapeType="1"/>
            </p:cNvSpPr>
            <p:nvPr/>
          </p:nvSpPr>
          <p:spPr bwMode="auto">
            <a:xfrm>
              <a:off x="624253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2" name="Line 67"/>
            <p:cNvSpPr>
              <a:spLocks noChangeShapeType="1"/>
            </p:cNvSpPr>
            <p:nvPr/>
          </p:nvSpPr>
          <p:spPr bwMode="auto">
            <a:xfrm>
              <a:off x="6373614" y="1485900"/>
              <a:ext cx="0" cy="6684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3" name="Line 68"/>
            <p:cNvSpPr>
              <a:spLocks noChangeShapeType="1"/>
            </p:cNvSpPr>
            <p:nvPr/>
          </p:nvSpPr>
          <p:spPr bwMode="auto">
            <a:xfrm>
              <a:off x="6503716"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4" name="Line 69"/>
            <p:cNvSpPr>
              <a:spLocks noChangeShapeType="1"/>
            </p:cNvSpPr>
            <p:nvPr/>
          </p:nvSpPr>
          <p:spPr bwMode="auto">
            <a:xfrm>
              <a:off x="6634795" y="1486894"/>
              <a:ext cx="0" cy="6585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75" name="Line 70"/>
            <p:cNvSpPr>
              <a:spLocks noChangeShapeType="1"/>
            </p:cNvSpPr>
            <p:nvPr/>
          </p:nvSpPr>
          <p:spPr bwMode="auto">
            <a:xfrm>
              <a:off x="6765875" y="1403190"/>
              <a:ext cx="0" cy="14955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07" name="Rectangle 81"/>
            <p:cNvSpPr>
              <a:spLocks noChangeArrowheads="1"/>
            </p:cNvSpPr>
            <p:nvPr/>
          </p:nvSpPr>
          <p:spPr bwMode="auto">
            <a:xfrm>
              <a:off x="2340896" y="1296751"/>
              <a:ext cx="4531691" cy="21287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800" b="1" dirty="0">
                  <a:solidFill>
                    <a:srgbClr val="0000FF"/>
                  </a:solidFill>
                  <a:latin typeface="微软雅黑" pitchFamily="34" charset="-122"/>
                  <a:ea typeface="微软雅黑" pitchFamily="34" charset="-122"/>
                </a:rPr>
                <a:t>位  </a:t>
              </a:r>
              <a:r>
                <a:rPr kumimoji="1" lang="en-US" altLang="zh-CN" sz="800" b="1" dirty="0">
                  <a:solidFill>
                    <a:srgbClr val="0000FF"/>
                  </a:solidFill>
                  <a:latin typeface="微软雅黑" pitchFamily="34" charset="-122"/>
                  <a:ea typeface="微软雅黑" pitchFamily="34" charset="-122"/>
                </a:rPr>
                <a:t>0                                 8                                16                               24                          31</a:t>
              </a:r>
            </a:p>
          </p:txBody>
        </p:sp>
      </p:grpSp>
      <p:sp>
        <p:nvSpPr>
          <p:cNvPr id="110" name="Rectangle 93"/>
          <p:cNvSpPr>
            <a:spLocks noChangeArrowheads="1"/>
          </p:cNvSpPr>
          <p:nvPr/>
        </p:nvSpPr>
        <p:spPr bwMode="auto">
          <a:xfrm>
            <a:off x="6761170" y="3984452"/>
            <a:ext cx="1004618" cy="27443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数据报</a:t>
            </a:r>
          </a:p>
        </p:txBody>
      </p:sp>
      <p:sp>
        <p:nvSpPr>
          <p:cNvPr id="2" name="矩形 1"/>
          <p:cNvSpPr/>
          <p:nvPr/>
        </p:nvSpPr>
        <p:spPr>
          <a:xfrm>
            <a:off x="746838" y="1987196"/>
            <a:ext cx="1300112"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a:t>
            </a:r>
            <a:r>
              <a:rPr lang="zh-CN" altLang="en-US" sz="1400" b="1" dirty="0">
                <a:solidFill>
                  <a:srgbClr val="0000CC"/>
                </a:solidFill>
                <a:latin typeface="微软雅黑" pitchFamily="34" charset="-122"/>
                <a:ea typeface="微软雅黑" pitchFamily="34" charset="-122"/>
              </a:rPr>
              <a:t>首部的长度是 </a:t>
            </a:r>
            <a:r>
              <a:rPr lang="en-US" altLang="zh-CN" sz="1400" b="1" dirty="0">
                <a:solidFill>
                  <a:srgbClr val="0000CC"/>
                </a:solidFill>
                <a:latin typeface="微软雅黑" pitchFamily="34" charset="-122"/>
                <a:ea typeface="微软雅黑" pitchFamily="34" charset="-122"/>
              </a:rPr>
              <a:t>4n </a:t>
            </a:r>
            <a:r>
              <a:rPr lang="zh-CN" altLang="en-US" sz="1400" b="1" dirty="0">
                <a:solidFill>
                  <a:srgbClr val="0000CC"/>
                </a:solidFill>
                <a:latin typeface="微软雅黑" pitchFamily="34" charset="-122"/>
                <a:ea typeface="微软雅黑" pitchFamily="34" charset="-122"/>
              </a:rPr>
              <a:t>字节（</a:t>
            </a:r>
            <a:r>
              <a:rPr lang="en-US" altLang="zh-CN" sz="1400" b="1" dirty="0">
                <a:solidFill>
                  <a:srgbClr val="0000CC"/>
                </a:solidFill>
                <a:latin typeface="微软雅黑" pitchFamily="34" charset="-122"/>
                <a:ea typeface="微软雅黑" pitchFamily="34" charset="-122"/>
              </a:rPr>
              <a:t>n </a:t>
            </a:r>
            <a:r>
              <a:rPr lang="zh-CN" altLang="en-US" sz="1400" b="1" dirty="0">
                <a:solidFill>
                  <a:srgbClr val="0000CC"/>
                </a:solidFill>
                <a:latin typeface="微软雅黑" pitchFamily="34" charset="-122"/>
                <a:ea typeface="微软雅黑" pitchFamily="34" charset="-122"/>
              </a:rPr>
              <a:t>是整数）。</a:t>
            </a:r>
          </a:p>
        </p:txBody>
      </p:sp>
      <p:sp>
        <p:nvSpPr>
          <p:cNvPr id="111" name="Line 40"/>
          <p:cNvSpPr>
            <a:spLocks noChangeShapeType="1"/>
          </p:cNvSpPr>
          <p:nvPr/>
        </p:nvSpPr>
        <p:spPr bwMode="auto">
          <a:xfrm>
            <a:off x="2463121" y="1430007"/>
            <a:ext cx="0" cy="1137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b="1">
              <a:latin typeface="微软雅黑" pitchFamily="34" charset="-122"/>
              <a:ea typeface="微软雅黑" pitchFamily="34" charset="-122"/>
            </a:endParaRPr>
          </a:p>
        </p:txBody>
      </p:sp>
      <p:sp>
        <p:nvSpPr>
          <p:cNvPr id="112" name="矩形 111"/>
          <p:cNvSpPr/>
          <p:nvPr/>
        </p:nvSpPr>
        <p:spPr>
          <a:xfrm>
            <a:off x="7345086" y="1793903"/>
            <a:ext cx="1188986" cy="738664"/>
          </a:xfrm>
          <a:prstGeom prst="rect">
            <a:avLst/>
          </a:prstGeom>
          <a:solidFill>
            <a:schemeClr val="bg1"/>
          </a:solidFill>
        </p:spPr>
        <p:txBody>
          <a:bodyPr wrap="square">
            <a:spAutoFit/>
          </a:bodyPr>
          <a:lstStyle/>
          <a:p>
            <a:r>
              <a:rPr lang="en-US" altLang="zh-CN" sz="1400" b="1" dirty="0">
                <a:solidFill>
                  <a:srgbClr val="0000CC"/>
                </a:solidFill>
                <a:latin typeface="微软雅黑" pitchFamily="34" charset="-122"/>
                <a:ea typeface="微软雅黑" pitchFamily="34" charset="-122"/>
              </a:rPr>
              <a:t>TCP </a:t>
            </a:r>
            <a:r>
              <a:rPr lang="zh-CN" altLang="en-US" sz="1400" b="1" dirty="0">
                <a:solidFill>
                  <a:srgbClr val="0000CC"/>
                </a:solidFill>
                <a:latin typeface="微软雅黑" pitchFamily="34" charset="-122"/>
                <a:ea typeface="微软雅黑" pitchFamily="34" charset="-122"/>
              </a:rPr>
              <a:t>首部的最小长度是 </a:t>
            </a:r>
            <a:r>
              <a:rPr lang="en-US" altLang="zh-CN" sz="1400" b="1" dirty="0">
                <a:solidFill>
                  <a:srgbClr val="0000CC"/>
                </a:solidFill>
                <a:latin typeface="微软雅黑" pitchFamily="34" charset="-122"/>
                <a:ea typeface="微软雅黑" pitchFamily="34" charset="-122"/>
              </a:rPr>
              <a:t>20 </a:t>
            </a:r>
            <a:r>
              <a:rPr lang="zh-CN" altLang="en-US" sz="1400" b="1" dirty="0">
                <a:solidFill>
                  <a:srgbClr val="0000CC"/>
                </a:solidFill>
                <a:latin typeface="微软雅黑" pitchFamily="34" charset="-122"/>
                <a:ea typeface="微软雅黑" pitchFamily="34" charset="-122"/>
              </a:rPr>
              <a:t>字节。</a:t>
            </a:r>
          </a:p>
        </p:txBody>
      </p:sp>
      <p:sp>
        <p:nvSpPr>
          <p:cNvPr id="4" name="标题 3">
            <a:extLst>
              <a:ext uri="{FF2B5EF4-FFF2-40B4-BE49-F238E27FC236}">
                <a16:creationId xmlns:a16="http://schemas.microsoft.com/office/drawing/2014/main" id="{7717DACD-46B0-0082-928A-6DFD363F605A}"/>
              </a:ext>
            </a:extLst>
          </p:cNvPr>
          <p:cNvSpPr>
            <a:spLocks noGrp="1"/>
          </p:cNvSpPr>
          <p:nvPr>
            <p:ph type="title"/>
          </p:nvPr>
        </p:nvSpPr>
        <p:spPr>
          <a:xfrm>
            <a:off x="2808000" y="144000"/>
            <a:ext cx="3528000" cy="338554"/>
          </a:xfrm>
        </p:spPr>
        <p:txBody>
          <a:bodyPr/>
          <a:lstStyle/>
          <a:p>
            <a:r>
              <a:rPr lang="en-US" altLang="zh-CN" dirty="0"/>
              <a:t>5.5  TCP </a:t>
            </a:r>
            <a:r>
              <a:rPr lang="zh-CN" altLang="en-US" dirty="0"/>
              <a:t>报文段的首部格式</a:t>
            </a:r>
          </a:p>
        </p:txBody>
      </p:sp>
    </p:spTree>
    <p:extLst>
      <p:ext uri="{BB962C8B-B14F-4D97-AF65-F5344CB8AC3E}">
        <p14:creationId xmlns:p14="http://schemas.microsoft.com/office/powerpoint/2010/main" val="38504706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89163BE2-6C7C-4F7F-4B65-92111999F231}"/>
              </a:ext>
            </a:extLst>
          </p:cNvPr>
          <p:cNvSpPr>
            <a:spLocks noGrp="1"/>
          </p:cNvSpPr>
          <p:nvPr>
            <p:ph type="title"/>
          </p:nvPr>
        </p:nvSpPr>
        <p:spPr/>
        <p:txBody>
          <a:bodyPr/>
          <a:lstStyle/>
          <a:p>
            <a:endParaRPr lang="zh-CN" altLang="en-US"/>
          </a:p>
        </p:txBody>
      </p:sp>
      <p:sp>
        <p:nvSpPr>
          <p:cNvPr id="3" name="AutoShape 37">
            <a:extLst>
              <a:ext uri="{FF2B5EF4-FFF2-40B4-BE49-F238E27FC236}">
                <a16:creationId xmlns:a16="http://schemas.microsoft.com/office/drawing/2014/main" id="{CB6545F6-53F2-0C41-ADAE-0A9BA8B94161}"/>
              </a:ext>
            </a:extLst>
          </p:cNvPr>
          <p:cNvSpPr>
            <a:spLocks noChangeArrowheads="1"/>
          </p:cNvSpPr>
          <p:nvPr/>
        </p:nvSpPr>
        <p:spPr bwMode="auto">
          <a:xfrm rot="5400000">
            <a:off x="1471081" y="2748479"/>
            <a:ext cx="180000" cy="434478"/>
          </a:xfrm>
          <a:prstGeom prst="downArrow">
            <a:avLst>
              <a:gd name="adj1" fmla="val 50000"/>
              <a:gd name="adj2" fmla="val 49462"/>
            </a:avLst>
          </a:prstGeom>
          <a:solidFill>
            <a:schemeClr val="tx1">
              <a:lumMod val="50000"/>
              <a:lumOff val="50000"/>
            </a:schemeClr>
          </a:solidFill>
          <a:ln w="9525">
            <a:no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graphicFrame>
        <p:nvGraphicFramePr>
          <p:cNvPr id="4" name="表格 3">
            <a:extLst>
              <a:ext uri="{FF2B5EF4-FFF2-40B4-BE49-F238E27FC236}">
                <a16:creationId xmlns:a16="http://schemas.microsoft.com/office/drawing/2014/main" id="{E88BF332-EBA1-1485-61DB-338C16D3D8A1}"/>
              </a:ext>
            </a:extLst>
          </p:cNvPr>
          <p:cNvGraphicFramePr>
            <a:graphicFrameLocks noGrp="1"/>
          </p:cNvGraphicFramePr>
          <p:nvPr>
            <p:extLst>
              <p:ext uri="{D42A27DB-BD31-4B8C-83A1-F6EECF244321}">
                <p14:modId xmlns:p14="http://schemas.microsoft.com/office/powerpoint/2010/main" val="2461671469"/>
              </p:ext>
            </p:extLst>
          </p:nvPr>
        </p:nvGraphicFramePr>
        <p:xfrm>
          <a:off x="2839640" y="2209568"/>
          <a:ext cx="3664599" cy="360000"/>
        </p:xfrm>
        <a:graphic>
          <a:graphicData uri="http://schemas.openxmlformats.org/drawingml/2006/table">
            <a:tbl>
              <a:tblPr firstRow="1" bandRow="1">
                <a:tableStyleId>{5C22544A-7EE6-4342-B048-85BDC9FD1C3A}</a:tableStyleId>
              </a:tblPr>
              <a:tblGrid>
                <a:gridCol w="1052453">
                  <a:extLst>
                    <a:ext uri="{9D8B030D-6E8A-4147-A177-3AD203B41FA5}">
                      <a16:colId xmlns:a16="http://schemas.microsoft.com/office/drawing/2014/main" val="3192344591"/>
                    </a:ext>
                  </a:extLst>
                </a:gridCol>
                <a:gridCol w="2612146">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TCP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TCP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r>
                        <a:rPr kumimoji="1" lang="en-US" altLang="zh-CN" sz="1200" b="0" dirty="0">
                          <a:solidFill>
                            <a:schemeClr val="tx1"/>
                          </a:solidFill>
                          <a:latin typeface="Montserrat" panose="00000500000000000000" pitchFamily="2" charset="0"/>
                          <a:ea typeface="微软雅黑 Light" panose="020B0502040204020203" pitchFamily="34" charset="-122"/>
                        </a:rPr>
                        <a:t>-MSS</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375445671"/>
                  </a:ext>
                </a:extLst>
              </a:tr>
            </a:tbl>
          </a:graphicData>
        </a:graphic>
      </p:graphicFrame>
      <p:graphicFrame>
        <p:nvGraphicFramePr>
          <p:cNvPr id="5" name="表格 4">
            <a:extLst>
              <a:ext uri="{FF2B5EF4-FFF2-40B4-BE49-F238E27FC236}">
                <a16:creationId xmlns:a16="http://schemas.microsoft.com/office/drawing/2014/main" id="{217F7E6B-2AAC-C7C7-155D-4481E0B871DF}"/>
              </a:ext>
            </a:extLst>
          </p:cNvPr>
          <p:cNvGraphicFramePr>
            <a:graphicFrameLocks noGrp="1"/>
          </p:cNvGraphicFramePr>
          <p:nvPr>
            <p:extLst>
              <p:ext uri="{D42A27DB-BD31-4B8C-83A1-F6EECF244321}">
                <p14:modId xmlns:p14="http://schemas.microsoft.com/office/powerpoint/2010/main" val="358748969"/>
              </p:ext>
            </p:extLst>
          </p:nvPr>
        </p:nvGraphicFramePr>
        <p:xfrm>
          <a:off x="3984239" y="1633419"/>
          <a:ext cx="2520000" cy="360000"/>
        </p:xfrm>
        <a:graphic>
          <a:graphicData uri="http://schemas.openxmlformats.org/drawingml/2006/table">
            <a:tbl>
              <a:tblPr firstRow="1" bandRow="1">
                <a:tableStyleId>{5C22544A-7EE6-4342-B048-85BDC9FD1C3A}</a:tableStyleId>
              </a:tblPr>
              <a:tblGrid>
                <a:gridCol w="2520000">
                  <a:extLst>
                    <a:ext uri="{9D8B030D-6E8A-4147-A177-3AD203B41FA5}">
                      <a16:colId xmlns:a16="http://schemas.microsoft.com/office/drawing/2014/main" val="1943595655"/>
                    </a:ext>
                  </a:extLst>
                </a:gridCol>
              </a:tblGrid>
              <a:tr h="360000">
                <a:tc>
                  <a:txBody>
                    <a:bodyPr/>
                    <a:lstStyle/>
                    <a:p>
                      <a:pPr algn="ctr"/>
                      <a:r>
                        <a:rPr kumimoji="1" lang="zh-CN" altLang="en-US" sz="1200" b="0" kern="1200" baseline="0" dirty="0">
                          <a:solidFill>
                            <a:schemeClr val="tx1"/>
                          </a:solidFill>
                          <a:latin typeface="Montserrat" panose="00000500000000000000" pitchFamily="2" charset="0"/>
                          <a:ea typeface="微软雅黑 Light" panose="020B0502040204020203" pitchFamily="34" charset="-122"/>
                          <a:cs typeface="+mn-cs"/>
                        </a:rPr>
                        <a:t>应用层报文</a:t>
                      </a:r>
                      <a:endParaRPr kumimoji="1" lang="zh-CN" altLang="en-US" sz="1200" dirty="0">
                        <a:latin typeface="Montserrat" panose="00000500000000000000" pitchFamily="2" charset="0"/>
                        <a:ea typeface="微软雅黑 Light" panose="020B0502040204020203" pitchFamily="34" charset="-122"/>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3375445671"/>
                  </a:ext>
                </a:extLst>
              </a:tr>
            </a:tbl>
          </a:graphicData>
        </a:graphic>
      </p:graphicFrame>
      <p:sp>
        <p:nvSpPr>
          <p:cNvPr id="6" name="AutoShape 66">
            <a:extLst>
              <a:ext uri="{FF2B5EF4-FFF2-40B4-BE49-F238E27FC236}">
                <a16:creationId xmlns:a16="http://schemas.microsoft.com/office/drawing/2014/main" id="{B5E814C1-4714-F7F3-931E-CB4D1692B4FA}"/>
              </a:ext>
            </a:extLst>
          </p:cNvPr>
          <p:cNvSpPr>
            <a:spLocks noChangeArrowheads="1"/>
          </p:cNvSpPr>
          <p:nvPr/>
        </p:nvSpPr>
        <p:spPr bwMode="auto">
          <a:xfrm>
            <a:off x="6085416" y="1898054"/>
            <a:ext cx="185362" cy="360000"/>
          </a:xfrm>
          <a:prstGeom prst="downArrow">
            <a:avLst>
              <a:gd name="adj1" fmla="val 50000"/>
              <a:gd name="adj2" fmla="val 69108"/>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graphicFrame>
        <p:nvGraphicFramePr>
          <p:cNvPr id="7" name="表格 6">
            <a:extLst>
              <a:ext uri="{FF2B5EF4-FFF2-40B4-BE49-F238E27FC236}">
                <a16:creationId xmlns:a16="http://schemas.microsoft.com/office/drawing/2014/main" id="{1EA31795-1739-B752-FDC4-1F14B30567D4}"/>
              </a:ext>
            </a:extLst>
          </p:cNvPr>
          <p:cNvGraphicFramePr>
            <a:graphicFrameLocks noGrp="1"/>
          </p:cNvGraphicFramePr>
          <p:nvPr>
            <p:extLst>
              <p:ext uri="{D42A27DB-BD31-4B8C-83A1-F6EECF244321}">
                <p14:modId xmlns:p14="http://schemas.microsoft.com/office/powerpoint/2010/main" val="3903281030"/>
              </p:ext>
            </p:extLst>
          </p:nvPr>
        </p:nvGraphicFramePr>
        <p:xfrm>
          <a:off x="1778320" y="2785718"/>
          <a:ext cx="4725919" cy="360000"/>
        </p:xfrm>
        <a:graphic>
          <a:graphicData uri="http://schemas.openxmlformats.org/drawingml/2006/table">
            <a:tbl>
              <a:tblPr firstRow="1" bandRow="1">
                <a:tableStyleId>{5C22544A-7EE6-4342-B048-85BDC9FD1C3A}</a:tableStyleId>
              </a:tblPr>
              <a:tblGrid>
                <a:gridCol w="998251">
                  <a:extLst>
                    <a:ext uri="{9D8B030D-6E8A-4147-A177-3AD203B41FA5}">
                      <a16:colId xmlns:a16="http://schemas.microsoft.com/office/drawing/2014/main" val="3192344591"/>
                    </a:ext>
                  </a:extLst>
                </a:gridCol>
                <a:gridCol w="3727668">
                  <a:extLst>
                    <a:ext uri="{9D8B030D-6E8A-4147-A177-3AD203B41FA5}">
                      <a16:colId xmlns:a16="http://schemas.microsoft.com/office/drawing/2014/main" val="1943595655"/>
                    </a:ext>
                  </a:extLst>
                </a:gridCol>
              </a:tblGrid>
              <a:tr h="360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baseline="0" dirty="0">
                          <a:solidFill>
                            <a:schemeClr val="tx1"/>
                          </a:solidFill>
                          <a:latin typeface="Montserrat" panose="00000500000000000000" pitchFamily="2" charset="0"/>
                          <a:ea typeface="微软雅黑 Light" panose="020B0502040204020203" pitchFamily="34" charset="-122"/>
                        </a:rPr>
                        <a:t>IP </a:t>
                      </a:r>
                      <a:r>
                        <a:rPr kumimoji="1" lang="zh-CN" altLang="en-US" sz="1200" b="0" baseline="0" dirty="0">
                          <a:solidFill>
                            <a:schemeClr val="tx1"/>
                          </a:solidFill>
                          <a:latin typeface="Montserrat" panose="00000500000000000000" pitchFamily="2" charset="0"/>
                          <a:ea typeface="微软雅黑 Light" panose="020B0502040204020203" pitchFamily="34" charset="-122"/>
                        </a:rPr>
                        <a:t>首部</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zh-CN" sz="1200" b="0" dirty="0">
                          <a:solidFill>
                            <a:schemeClr val="tx1"/>
                          </a:solidFill>
                          <a:latin typeface="Montserrat" panose="00000500000000000000" pitchFamily="2" charset="0"/>
                          <a:ea typeface="微软雅黑 Light" panose="020B0502040204020203" pitchFamily="34" charset="-122"/>
                        </a:rPr>
                        <a:t>IP</a:t>
                      </a:r>
                      <a:r>
                        <a:rPr kumimoji="1" lang="zh-CN" altLang="en-US" sz="1200" b="0" dirty="0">
                          <a:solidFill>
                            <a:schemeClr val="tx1"/>
                          </a:solidFill>
                          <a:latin typeface="Montserrat" panose="00000500000000000000" pitchFamily="2" charset="0"/>
                          <a:ea typeface="微软雅黑 Light" panose="020B0502040204020203" pitchFamily="34" charset="-122"/>
                        </a:rPr>
                        <a:t>的数据部分</a:t>
                      </a:r>
                      <a:endParaRPr lang="zh-CN" altLang="en-US" sz="1200" b="0" baseline="0" dirty="0">
                        <a:solidFill>
                          <a:schemeClr val="tx1"/>
                        </a:solidFill>
                        <a:latin typeface="Montserrat" panose="00000500000000000000" pitchFamily="2" charset="0"/>
                        <a:ea typeface="微软雅黑 Light" panose="020B0502040204020203" pitchFamily="34" charset="-122"/>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375445671"/>
                  </a:ext>
                </a:extLst>
              </a:tr>
            </a:tbl>
          </a:graphicData>
        </a:graphic>
      </p:graphicFrame>
      <p:sp>
        <p:nvSpPr>
          <p:cNvPr id="8" name="AutoShape 70">
            <a:extLst>
              <a:ext uri="{FF2B5EF4-FFF2-40B4-BE49-F238E27FC236}">
                <a16:creationId xmlns:a16="http://schemas.microsoft.com/office/drawing/2014/main" id="{7534E1FB-F31F-20B5-E217-BC4026DA8E8C}"/>
              </a:ext>
            </a:extLst>
          </p:cNvPr>
          <p:cNvSpPr>
            <a:spLocks noChangeArrowheads="1"/>
          </p:cNvSpPr>
          <p:nvPr/>
        </p:nvSpPr>
        <p:spPr bwMode="auto">
          <a:xfrm>
            <a:off x="6084236" y="2503414"/>
            <a:ext cx="186542" cy="360000"/>
          </a:xfrm>
          <a:prstGeom prst="downArrow">
            <a:avLst>
              <a:gd name="adj1" fmla="val 50000"/>
              <a:gd name="adj2" fmla="val 68671"/>
            </a:avLst>
          </a:prstGeom>
          <a:solidFill>
            <a:schemeClr val="bg1"/>
          </a:solidFill>
          <a:ln w="9525">
            <a:solidFill>
              <a:schemeClr val="tx1"/>
            </a:solidFill>
            <a:miter lim="800000"/>
            <a:headEnd/>
            <a:tailEnd/>
          </a:ln>
          <a:effectLst/>
        </p:spPr>
        <p:txBody>
          <a:bodyPr vert="eaVert" wrap="none" anchor="ctr"/>
          <a:lstStyle/>
          <a:p>
            <a:endParaRPr lang="zh-CN" altLang="en-US" sz="1200">
              <a:latin typeface="Montserrat" panose="00000500000000000000" pitchFamily="2" charset="0"/>
              <a:ea typeface="微软雅黑 Light" panose="020B0502040204020203" pitchFamily="34" charset="-122"/>
            </a:endParaRPr>
          </a:p>
        </p:txBody>
      </p:sp>
    </p:spTree>
    <p:extLst>
      <p:ext uri="{BB962C8B-B14F-4D97-AF65-F5344CB8AC3E}">
        <p14:creationId xmlns:p14="http://schemas.microsoft.com/office/powerpoint/2010/main" val="42085986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5">
            <a:extLst>
              <a:ext uri="{FF2B5EF4-FFF2-40B4-BE49-F238E27FC236}">
                <a16:creationId xmlns:a16="http://schemas.microsoft.com/office/drawing/2014/main" id="{B935FF4B-37D5-4943-86F6-6A482461867E}"/>
              </a:ext>
            </a:extLst>
          </p:cNvPr>
          <p:cNvSpPr>
            <a:spLocks noChangeArrowheads="1"/>
          </p:cNvSpPr>
          <p:nvPr/>
        </p:nvSpPr>
        <p:spPr bwMode="auto">
          <a:xfrm>
            <a:off x="2267485" y="1612340"/>
            <a:ext cx="4464000" cy="1584000"/>
          </a:xfrm>
          <a:prstGeom prst="rect">
            <a:avLst/>
          </a:prstGeom>
          <a:noFill/>
          <a:ln w="19050">
            <a:solidFill>
              <a:schemeClr val="tx1"/>
            </a:solidFill>
            <a:miter lim="800000"/>
            <a:headEnd/>
            <a:tailEnd/>
          </a:ln>
          <a:effec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5" name="Line 6">
            <a:extLst>
              <a:ext uri="{FF2B5EF4-FFF2-40B4-BE49-F238E27FC236}">
                <a16:creationId xmlns:a16="http://schemas.microsoft.com/office/drawing/2014/main" id="{EA585CC3-7D83-0D87-0948-B997442D4197}"/>
              </a:ext>
            </a:extLst>
          </p:cNvPr>
          <p:cNvSpPr>
            <a:spLocks noChangeShapeType="1"/>
          </p:cNvSpPr>
          <p:nvPr/>
        </p:nvSpPr>
        <p:spPr bwMode="auto">
          <a:xfrm>
            <a:off x="2267485" y="1879616"/>
            <a:ext cx="446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6" name="Line 7">
            <a:extLst>
              <a:ext uri="{FF2B5EF4-FFF2-40B4-BE49-F238E27FC236}">
                <a16:creationId xmlns:a16="http://schemas.microsoft.com/office/drawing/2014/main" id="{94E9D290-1F8E-6CAE-0EB7-7E884E5AF453}"/>
              </a:ext>
            </a:extLst>
          </p:cNvPr>
          <p:cNvSpPr>
            <a:spLocks noChangeShapeType="1"/>
          </p:cNvSpPr>
          <p:nvPr/>
        </p:nvSpPr>
        <p:spPr bwMode="auto">
          <a:xfrm>
            <a:off x="2267485" y="2144183"/>
            <a:ext cx="446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7" name="Line 8">
            <a:extLst>
              <a:ext uri="{FF2B5EF4-FFF2-40B4-BE49-F238E27FC236}">
                <a16:creationId xmlns:a16="http://schemas.microsoft.com/office/drawing/2014/main" id="{4A5E5BD1-EE5D-0914-71DB-3CF7255A7043}"/>
              </a:ext>
            </a:extLst>
          </p:cNvPr>
          <p:cNvSpPr>
            <a:spLocks noChangeShapeType="1"/>
          </p:cNvSpPr>
          <p:nvPr/>
        </p:nvSpPr>
        <p:spPr bwMode="auto">
          <a:xfrm>
            <a:off x="2267485" y="2407847"/>
            <a:ext cx="446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8" name="Line 9">
            <a:extLst>
              <a:ext uri="{FF2B5EF4-FFF2-40B4-BE49-F238E27FC236}">
                <a16:creationId xmlns:a16="http://schemas.microsoft.com/office/drawing/2014/main" id="{31AA4835-DFFA-F14D-01D5-981475D05F93}"/>
              </a:ext>
            </a:extLst>
          </p:cNvPr>
          <p:cNvSpPr>
            <a:spLocks noChangeShapeType="1"/>
          </p:cNvSpPr>
          <p:nvPr/>
        </p:nvSpPr>
        <p:spPr bwMode="auto">
          <a:xfrm>
            <a:off x="2267485" y="2671511"/>
            <a:ext cx="446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9" name="Line 10">
            <a:extLst>
              <a:ext uri="{FF2B5EF4-FFF2-40B4-BE49-F238E27FC236}">
                <a16:creationId xmlns:a16="http://schemas.microsoft.com/office/drawing/2014/main" id="{4B32149E-86E4-5AF1-BA63-2AEEF3D0C065}"/>
              </a:ext>
            </a:extLst>
          </p:cNvPr>
          <p:cNvSpPr>
            <a:spLocks noChangeShapeType="1"/>
          </p:cNvSpPr>
          <p:nvPr/>
        </p:nvSpPr>
        <p:spPr bwMode="auto">
          <a:xfrm>
            <a:off x="2267485" y="2936078"/>
            <a:ext cx="4464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10" name="Line 11">
            <a:extLst>
              <a:ext uri="{FF2B5EF4-FFF2-40B4-BE49-F238E27FC236}">
                <a16:creationId xmlns:a16="http://schemas.microsoft.com/office/drawing/2014/main" id="{DF86B5BA-B378-2383-FA50-1C80B90B6DD0}"/>
              </a:ext>
            </a:extLst>
          </p:cNvPr>
          <p:cNvSpPr>
            <a:spLocks noChangeShapeType="1"/>
          </p:cNvSpPr>
          <p:nvPr/>
        </p:nvSpPr>
        <p:spPr bwMode="auto">
          <a:xfrm>
            <a:off x="4559883" y="1615049"/>
            <a:ext cx="0" cy="2699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11" name="Rectangle 12">
            <a:extLst>
              <a:ext uri="{FF2B5EF4-FFF2-40B4-BE49-F238E27FC236}">
                <a16:creationId xmlns:a16="http://schemas.microsoft.com/office/drawing/2014/main" id="{C3D83F00-B70A-8BF7-6A88-136E9616275F}"/>
              </a:ext>
            </a:extLst>
          </p:cNvPr>
          <p:cNvSpPr>
            <a:spLocks noChangeArrowheads="1"/>
          </p:cNvSpPr>
          <p:nvPr/>
        </p:nvSpPr>
        <p:spPr bwMode="auto">
          <a:xfrm>
            <a:off x="5107202" y="1619919"/>
            <a:ext cx="1126913"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Destination port</a:t>
            </a:r>
            <a:endParaRPr kumimoji="1" lang="zh-CN" altLang="en-US" sz="900" dirty="0">
              <a:latin typeface="Montserrat" panose="00000500000000000000" pitchFamily="2" charset="0"/>
              <a:ea typeface="微软雅黑 Light" panose="020B0502040204020203" pitchFamily="34" charset="-122"/>
            </a:endParaRPr>
          </a:p>
        </p:txBody>
      </p:sp>
      <p:sp>
        <p:nvSpPr>
          <p:cNvPr id="12" name="Rectangle 13">
            <a:extLst>
              <a:ext uri="{FF2B5EF4-FFF2-40B4-BE49-F238E27FC236}">
                <a16:creationId xmlns:a16="http://schemas.microsoft.com/office/drawing/2014/main" id="{92C13079-2671-33EA-BCA9-1B4AAE05427D}"/>
              </a:ext>
            </a:extLst>
          </p:cNvPr>
          <p:cNvSpPr>
            <a:spLocks noChangeArrowheads="1"/>
          </p:cNvSpPr>
          <p:nvPr/>
        </p:nvSpPr>
        <p:spPr bwMode="auto">
          <a:xfrm>
            <a:off x="2170010" y="2418327"/>
            <a:ext cx="988332"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Data Offset</a:t>
            </a:r>
            <a:endParaRPr kumimoji="1" lang="zh-CN" altLang="en-US" sz="900" dirty="0">
              <a:latin typeface="Montserrat" panose="00000500000000000000" pitchFamily="2" charset="0"/>
              <a:ea typeface="微软雅黑 Light" panose="020B0502040204020203" pitchFamily="34" charset="-122"/>
            </a:endParaRPr>
          </a:p>
        </p:txBody>
      </p:sp>
      <p:sp>
        <p:nvSpPr>
          <p:cNvPr id="13" name="Rectangle 14">
            <a:extLst>
              <a:ext uri="{FF2B5EF4-FFF2-40B4-BE49-F238E27FC236}">
                <a16:creationId xmlns:a16="http://schemas.microsoft.com/office/drawing/2014/main" id="{48D53D57-EB1B-2D7D-5D25-57369B589D95}"/>
              </a:ext>
            </a:extLst>
          </p:cNvPr>
          <p:cNvSpPr>
            <a:spLocks noChangeArrowheads="1"/>
          </p:cNvSpPr>
          <p:nvPr/>
        </p:nvSpPr>
        <p:spPr bwMode="auto">
          <a:xfrm>
            <a:off x="3131253" y="2687308"/>
            <a:ext cx="803106"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Checksum</a:t>
            </a:r>
            <a:endParaRPr kumimoji="1" lang="zh-CN" altLang="en-US" sz="900" dirty="0">
              <a:latin typeface="Montserrat" panose="00000500000000000000" pitchFamily="2" charset="0"/>
              <a:ea typeface="微软雅黑 Light" panose="020B0502040204020203" pitchFamily="34" charset="-122"/>
            </a:endParaRPr>
          </a:p>
        </p:txBody>
      </p:sp>
      <p:sp>
        <p:nvSpPr>
          <p:cNvPr id="14" name="Rectangle 15">
            <a:extLst>
              <a:ext uri="{FF2B5EF4-FFF2-40B4-BE49-F238E27FC236}">
                <a16:creationId xmlns:a16="http://schemas.microsoft.com/office/drawing/2014/main" id="{CEF88FFC-AD40-0EE0-69A0-7E8EBABE93FD}"/>
              </a:ext>
            </a:extLst>
          </p:cNvPr>
          <p:cNvSpPr>
            <a:spLocks noChangeArrowheads="1"/>
          </p:cNvSpPr>
          <p:nvPr/>
        </p:nvSpPr>
        <p:spPr bwMode="auto">
          <a:xfrm>
            <a:off x="3244195" y="2931107"/>
            <a:ext cx="174609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Options </a:t>
            </a:r>
            <a:endParaRPr kumimoji="1" lang="zh-CN" altLang="en-US" sz="900" dirty="0">
              <a:latin typeface="Montserrat" panose="00000500000000000000" pitchFamily="2" charset="0"/>
              <a:ea typeface="微软雅黑 Light" panose="020B0502040204020203" pitchFamily="34" charset="-122"/>
            </a:endParaRPr>
          </a:p>
        </p:txBody>
      </p:sp>
      <p:sp>
        <p:nvSpPr>
          <p:cNvPr id="15" name="Rectangle 16">
            <a:extLst>
              <a:ext uri="{FF2B5EF4-FFF2-40B4-BE49-F238E27FC236}">
                <a16:creationId xmlns:a16="http://schemas.microsoft.com/office/drawing/2014/main" id="{6D241AF6-07D6-13F1-D79B-05F392211653}"/>
              </a:ext>
            </a:extLst>
          </p:cNvPr>
          <p:cNvSpPr>
            <a:spLocks noChangeArrowheads="1"/>
          </p:cNvSpPr>
          <p:nvPr/>
        </p:nvSpPr>
        <p:spPr bwMode="auto">
          <a:xfrm>
            <a:off x="3128138" y="1619919"/>
            <a:ext cx="857607"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Source port</a:t>
            </a:r>
            <a:endParaRPr kumimoji="1" lang="zh-CN" altLang="en-US" sz="900" dirty="0">
              <a:latin typeface="Montserrat" panose="00000500000000000000" pitchFamily="2" charset="0"/>
              <a:ea typeface="微软雅黑 Light" panose="020B0502040204020203" pitchFamily="34" charset="-122"/>
            </a:endParaRPr>
          </a:p>
        </p:txBody>
      </p:sp>
      <p:sp>
        <p:nvSpPr>
          <p:cNvPr id="16" name="Rectangle 17">
            <a:extLst>
              <a:ext uri="{FF2B5EF4-FFF2-40B4-BE49-F238E27FC236}">
                <a16:creationId xmlns:a16="http://schemas.microsoft.com/office/drawing/2014/main" id="{D096231D-0E10-C407-A1EB-D6E1E5843CE2}"/>
              </a:ext>
            </a:extLst>
          </p:cNvPr>
          <p:cNvSpPr>
            <a:spLocks noChangeArrowheads="1"/>
          </p:cNvSpPr>
          <p:nvPr/>
        </p:nvSpPr>
        <p:spPr bwMode="auto">
          <a:xfrm>
            <a:off x="3494447" y="1880873"/>
            <a:ext cx="2128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Sequence number</a:t>
            </a:r>
            <a:endParaRPr kumimoji="1" lang="zh-CN" altLang="en-US" sz="900" dirty="0">
              <a:latin typeface="Montserrat" panose="00000500000000000000" pitchFamily="2" charset="0"/>
              <a:ea typeface="微软雅黑 Light" panose="020B0502040204020203" pitchFamily="34" charset="-122"/>
            </a:endParaRPr>
          </a:p>
        </p:txBody>
      </p:sp>
      <p:sp>
        <p:nvSpPr>
          <p:cNvPr id="17" name="Line 18">
            <a:extLst>
              <a:ext uri="{FF2B5EF4-FFF2-40B4-BE49-F238E27FC236}">
                <a16:creationId xmlns:a16="http://schemas.microsoft.com/office/drawing/2014/main" id="{5713FE7F-8707-78E4-BD8B-7B74C25843F8}"/>
              </a:ext>
            </a:extLst>
          </p:cNvPr>
          <p:cNvSpPr>
            <a:spLocks noChangeShapeType="1"/>
          </p:cNvSpPr>
          <p:nvPr/>
        </p:nvSpPr>
        <p:spPr bwMode="auto">
          <a:xfrm>
            <a:off x="4562817" y="2411459"/>
            <a:ext cx="0" cy="52100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18" name="Rectangle 19">
            <a:extLst>
              <a:ext uri="{FF2B5EF4-FFF2-40B4-BE49-F238E27FC236}">
                <a16:creationId xmlns:a16="http://schemas.microsoft.com/office/drawing/2014/main" id="{1711B409-3053-5402-6E42-4E92B8460559}"/>
              </a:ext>
            </a:extLst>
          </p:cNvPr>
          <p:cNvSpPr>
            <a:spLocks noChangeArrowheads="1"/>
          </p:cNvSpPr>
          <p:nvPr/>
        </p:nvSpPr>
        <p:spPr bwMode="auto">
          <a:xfrm>
            <a:off x="5145674" y="2687308"/>
            <a:ext cx="104996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Urgent Pointer</a:t>
            </a:r>
            <a:endParaRPr kumimoji="1" lang="zh-CN" altLang="en-US" sz="900" dirty="0">
              <a:latin typeface="Montserrat" panose="00000500000000000000" pitchFamily="2" charset="0"/>
              <a:ea typeface="微软雅黑 Light" panose="020B0502040204020203" pitchFamily="34" charset="-122"/>
            </a:endParaRPr>
          </a:p>
        </p:txBody>
      </p:sp>
      <p:sp>
        <p:nvSpPr>
          <p:cNvPr id="19" name="Rectangle 20">
            <a:extLst>
              <a:ext uri="{FF2B5EF4-FFF2-40B4-BE49-F238E27FC236}">
                <a16:creationId xmlns:a16="http://schemas.microsoft.com/office/drawing/2014/main" id="{48A8DA76-57C5-D132-6047-EC0B24EACDF4}"/>
              </a:ext>
            </a:extLst>
          </p:cNvPr>
          <p:cNvSpPr>
            <a:spLocks noChangeArrowheads="1"/>
          </p:cNvSpPr>
          <p:nvPr/>
        </p:nvSpPr>
        <p:spPr bwMode="auto">
          <a:xfrm>
            <a:off x="5342719" y="2413711"/>
            <a:ext cx="67165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Window</a:t>
            </a:r>
            <a:endParaRPr kumimoji="1" lang="zh-CN" altLang="en-US" sz="900" dirty="0">
              <a:latin typeface="Montserrat" panose="00000500000000000000" pitchFamily="2" charset="0"/>
              <a:ea typeface="微软雅黑 Light" panose="020B0502040204020203" pitchFamily="34" charset="-122"/>
            </a:endParaRPr>
          </a:p>
        </p:txBody>
      </p:sp>
      <p:sp>
        <p:nvSpPr>
          <p:cNvPr id="20" name="Rectangle 21">
            <a:extLst>
              <a:ext uri="{FF2B5EF4-FFF2-40B4-BE49-F238E27FC236}">
                <a16:creationId xmlns:a16="http://schemas.microsoft.com/office/drawing/2014/main" id="{C35AAB0A-1570-718D-EE53-9B7DA87596A2}"/>
              </a:ext>
            </a:extLst>
          </p:cNvPr>
          <p:cNvSpPr>
            <a:spLocks noChangeArrowheads="1"/>
          </p:cNvSpPr>
          <p:nvPr/>
        </p:nvSpPr>
        <p:spPr bwMode="auto">
          <a:xfrm>
            <a:off x="3270335" y="2148961"/>
            <a:ext cx="257713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Acknowledgment Number</a:t>
            </a:r>
            <a:endParaRPr kumimoji="1" lang="zh-CN" altLang="en-US" sz="900" dirty="0">
              <a:latin typeface="Montserrat" panose="00000500000000000000" pitchFamily="2" charset="0"/>
              <a:ea typeface="微软雅黑 Light" panose="020B0502040204020203" pitchFamily="34" charset="-122"/>
            </a:endParaRPr>
          </a:p>
        </p:txBody>
      </p:sp>
      <p:sp>
        <p:nvSpPr>
          <p:cNvPr id="21" name="Line 22">
            <a:extLst>
              <a:ext uri="{FF2B5EF4-FFF2-40B4-BE49-F238E27FC236}">
                <a16:creationId xmlns:a16="http://schemas.microsoft.com/office/drawing/2014/main" id="{0929215A-54BB-A794-2E65-4142084714F2}"/>
              </a:ext>
            </a:extLst>
          </p:cNvPr>
          <p:cNvSpPr>
            <a:spLocks noChangeShapeType="1"/>
          </p:cNvSpPr>
          <p:nvPr/>
        </p:nvSpPr>
        <p:spPr bwMode="auto">
          <a:xfrm>
            <a:off x="3056165"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2" name="Line 23">
            <a:extLst>
              <a:ext uri="{FF2B5EF4-FFF2-40B4-BE49-F238E27FC236}">
                <a16:creationId xmlns:a16="http://schemas.microsoft.com/office/drawing/2014/main" id="{18821F3F-5585-0BDE-F2F3-00C19253C810}"/>
              </a:ext>
            </a:extLst>
          </p:cNvPr>
          <p:cNvSpPr>
            <a:spLocks noChangeShapeType="1"/>
          </p:cNvSpPr>
          <p:nvPr/>
        </p:nvSpPr>
        <p:spPr bwMode="auto">
          <a:xfrm>
            <a:off x="4035564" y="2408750"/>
            <a:ext cx="0" cy="26005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3" name="Line 24">
            <a:extLst>
              <a:ext uri="{FF2B5EF4-FFF2-40B4-BE49-F238E27FC236}">
                <a16:creationId xmlns:a16="http://schemas.microsoft.com/office/drawing/2014/main" id="{2A5A18F2-E548-C967-8D5A-695CE2AC256A}"/>
              </a:ext>
            </a:extLst>
          </p:cNvPr>
          <p:cNvSpPr>
            <a:spLocks noChangeShapeType="1"/>
          </p:cNvSpPr>
          <p:nvPr/>
        </p:nvSpPr>
        <p:spPr bwMode="auto">
          <a:xfrm>
            <a:off x="3765580" y="2411459"/>
            <a:ext cx="0" cy="26366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4" name="Line 25">
            <a:extLst>
              <a:ext uri="{FF2B5EF4-FFF2-40B4-BE49-F238E27FC236}">
                <a16:creationId xmlns:a16="http://schemas.microsoft.com/office/drawing/2014/main" id="{058FA106-A17D-CBF8-E1C7-72090D1D3AB4}"/>
              </a:ext>
            </a:extLst>
          </p:cNvPr>
          <p:cNvSpPr>
            <a:spLocks noChangeShapeType="1"/>
          </p:cNvSpPr>
          <p:nvPr/>
        </p:nvSpPr>
        <p:spPr bwMode="auto">
          <a:xfrm>
            <a:off x="3899593"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5" name="Line 26">
            <a:extLst>
              <a:ext uri="{FF2B5EF4-FFF2-40B4-BE49-F238E27FC236}">
                <a16:creationId xmlns:a16="http://schemas.microsoft.com/office/drawing/2014/main" id="{A0630D12-71A9-3E68-7161-341AAB7FD53E}"/>
              </a:ext>
            </a:extLst>
          </p:cNvPr>
          <p:cNvSpPr>
            <a:spLocks noChangeShapeType="1"/>
          </p:cNvSpPr>
          <p:nvPr/>
        </p:nvSpPr>
        <p:spPr bwMode="auto">
          <a:xfrm>
            <a:off x="429772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6" name="Line 27">
            <a:extLst>
              <a:ext uri="{FF2B5EF4-FFF2-40B4-BE49-F238E27FC236}">
                <a16:creationId xmlns:a16="http://schemas.microsoft.com/office/drawing/2014/main" id="{67819EFC-EED9-3E14-7513-98283D6F3D7C}"/>
              </a:ext>
            </a:extLst>
          </p:cNvPr>
          <p:cNvSpPr>
            <a:spLocks noChangeShapeType="1"/>
          </p:cNvSpPr>
          <p:nvPr/>
        </p:nvSpPr>
        <p:spPr bwMode="auto">
          <a:xfrm>
            <a:off x="4166644"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7" name="Line 28">
            <a:extLst>
              <a:ext uri="{FF2B5EF4-FFF2-40B4-BE49-F238E27FC236}">
                <a16:creationId xmlns:a16="http://schemas.microsoft.com/office/drawing/2014/main" id="{C784DDBA-7ABB-CD07-B546-CEC55A339BA6}"/>
              </a:ext>
            </a:extLst>
          </p:cNvPr>
          <p:cNvSpPr>
            <a:spLocks noChangeShapeType="1"/>
          </p:cNvSpPr>
          <p:nvPr/>
        </p:nvSpPr>
        <p:spPr bwMode="auto">
          <a:xfrm>
            <a:off x="4431737" y="2411459"/>
            <a:ext cx="0" cy="2591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000">
              <a:latin typeface="Montserrat" panose="00000500000000000000" pitchFamily="2" charset="0"/>
              <a:ea typeface="微软雅黑 Light" panose="020B0502040204020203" pitchFamily="34" charset="-122"/>
            </a:endParaRPr>
          </a:p>
        </p:txBody>
      </p:sp>
      <p:sp>
        <p:nvSpPr>
          <p:cNvPr id="28" name="Rectangle 29">
            <a:extLst>
              <a:ext uri="{FF2B5EF4-FFF2-40B4-BE49-F238E27FC236}">
                <a16:creationId xmlns:a16="http://schemas.microsoft.com/office/drawing/2014/main" id="{615EDD3E-ED4B-CCC6-0304-290D86848934}"/>
              </a:ext>
            </a:extLst>
          </p:cNvPr>
          <p:cNvSpPr>
            <a:spLocks noChangeArrowheads="1"/>
          </p:cNvSpPr>
          <p:nvPr/>
        </p:nvSpPr>
        <p:spPr bwMode="auto">
          <a:xfrm>
            <a:off x="3038170" y="2419129"/>
            <a:ext cx="716544"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900" dirty="0">
                <a:latin typeface="Montserrat" panose="00000500000000000000" pitchFamily="2" charset="0"/>
                <a:ea typeface="微软雅黑 Light" panose="020B0502040204020203" pitchFamily="34" charset="-122"/>
              </a:rPr>
              <a:t>Reserved</a:t>
            </a:r>
            <a:endParaRPr kumimoji="1" lang="zh-CN" altLang="en-US" sz="900" dirty="0">
              <a:latin typeface="Montserrat" panose="00000500000000000000" pitchFamily="2" charset="0"/>
              <a:ea typeface="微软雅黑 Light" panose="020B0502040204020203" pitchFamily="34" charset="-122"/>
            </a:endParaRPr>
          </a:p>
        </p:txBody>
      </p:sp>
      <p:sp>
        <p:nvSpPr>
          <p:cNvPr id="29" name="Rectangle 30">
            <a:extLst>
              <a:ext uri="{FF2B5EF4-FFF2-40B4-BE49-F238E27FC236}">
                <a16:creationId xmlns:a16="http://schemas.microsoft.com/office/drawing/2014/main" id="{3F209370-8E3C-763F-FF49-2A186DBCE07C}"/>
              </a:ext>
            </a:extLst>
          </p:cNvPr>
          <p:cNvSpPr>
            <a:spLocks noChangeArrowheads="1"/>
          </p:cNvSpPr>
          <p:nvPr/>
        </p:nvSpPr>
        <p:spPr bwMode="auto">
          <a:xfrm>
            <a:off x="4376548" y="2389423"/>
            <a:ext cx="258085" cy="3321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F</a:t>
            </a:r>
          </a:p>
          <a:p>
            <a:pPr algn="ct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I</a:t>
            </a:r>
          </a:p>
          <a:p>
            <a:pPr algn="ct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N</a:t>
            </a:r>
          </a:p>
        </p:txBody>
      </p:sp>
      <p:sp>
        <p:nvSpPr>
          <p:cNvPr id="30" name="Rectangle 76">
            <a:extLst>
              <a:ext uri="{FF2B5EF4-FFF2-40B4-BE49-F238E27FC236}">
                <a16:creationId xmlns:a16="http://schemas.microsoft.com/office/drawing/2014/main" id="{3ADAE363-1375-25D0-635B-AB6261E19FD1}"/>
              </a:ext>
            </a:extLst>
          </p:cNvPr>
          <p:cNvSpPr>
            <a:spLocks noChangeArrowheads="1"/>
          </p:cNvSpPr>
          <p:nvPr/>
        </p:nvSpPr>
        <p:spPr bwMode="auto">
          <a:xfrm>
            <a:off x="4255279" y="2396738"/>
            <a:ext cx="258085"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S</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Y</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N</a:t>
            </a:r>
          </a:p>
        </p:txBody>
      </p:sp>
      <p:sp>
        <p:nvSpPr>
          <p:cNvPr id="31" name="Rectangle 77">
            <a:extLst>
              <a:ext uri="{FF2B5EF4-FFF2-40B4-BE49-F238E27FC236}">
                <a16:creationId xmlns:a16="http://schemas.microsoft.com/office/drawing/2014/main" id="{D63CF201-167C-3531-F8AA-F4EC81056E68}"/>
              </a:ext>
            </a:extLst>
          </p:cNvPr>
          <p:cNvSpPr>
            <a:spLocks noChangeArrowheads="1"/>
          </p:cNvSpPr>
          <p:nvPr/>
        </p:nvSpPr>
        <p:spPr bwMode="auto">
          <a:xfrm>
            <a:off x="4125178" y="2396738"/>
            <a:ext cx="24526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R</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S</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T</a:t>
            </a:r>
          </a:p>
        </p:txBody>
      </p:sp>
      <p:sp>
        <p:nvSpPr>
          <p:cNvPr id="32" name="Rectangle 78">
            <a:extLst>
              <a:ext uri="{FF2B5EF4-FFF2-40B4-BE49-F238E27FC236}">
                <a16:creationId xmlns:a16="http://schemas.microsoft.com/office/drawing/2014/main" id="{82B969E7-CD96-4EBC-8CEB-D531C2F91C0A}"/>
              </a:ext>
            </a:extLst>
          </p:cNvPr>
          <p:cNvSpPr>
            <a:spLocks noChangeArrowheads="1"/>
          </p:cNvSpPr>
          <p:nvPr/>
        </p:nvSpPr>
        <p:spPr bwMode="auto">
          <a:xfrm>
            <a:off x="3985294" y="2396738"/>
            <a:ext cx="256481"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P</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S</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H</a:t>
            </a:r>
          </a:p>
        </p:txBody>
      </p:sp>
      <p:sp>
        <p:nvSpPr>
          <p:cNvPr id="33" name="Rectangle 79">
            <a:extLst>
              <a:ext uri="{FF2B5EF4-FFF2-40B4-BE49-F238E27FC236}">
                <a16:creationId xmlns:a16="http://schemas.microsoft.com/office/drawing/2014/main" id="{71BC4ED5-2DE7-63C8-9C34-A5F38C1BC546}"/>
              </a:ext>
            </a:extLst>
          </p:cNvPr>
          <p:cNvSpPr>
            <a:spLocks noChangeArrowheads="1"/>
          </p:cNvSpPr>
          <p:nvPr/>
        </p:nvSpPr>
        <p:spPr bwMode="auto">
          <a:xfrm>
            <a:off x="3846900" y="2396738"/>
            <a:ext cx="250069"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A</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C</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K</a:t>
            </a:r>
          </a:p>
        </p:txBody>
      </p:sp>
      <p:sp>
        <p:nvSpPr>
          <p:cNvPr id="34" name="Rectangle 80">
            <a:extLst>
              <a:ext uri="{FF2B5EF4-FFF2-40B4-BE49-F238E27FC236}">
                <a16:creationId xmlns:a16="http://schemas.microsoft.com/office/drawing/2014/main" id="{63132564-3958-9F43-34CA-FE73D7CC7B6D}"/>
              </a:ext>
            </a:extLst>
          </p:cNvPr>
          <p:cNvSpPr>
            <a:spLocks noChangeArrowheads="1"/>
          </p:cNvSpPr>
          <p:nvPr/>
        </p:nvSpPr>
        <p:spPr bwMode="auto">
          <a:xfrm>
            <a:off x="3711397" y="2396738"/>
            <a:ext cx="251673" cy="333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U</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R</a:t>
            </a:r>
          </a:p>
          <a:p>
            <a:pPr defTabSz="762000" eaLnBrk="0" hangingPunct="0">
              <a:lnSpc>
                <a:spcPct val="75000"/>
              </a:lnSpc>
            </a:pPr>
            <a:r>
              <a:rPr kumimoji="1" lang="en-US" altLang="zh-CN" sz="700" dirty="0">
                <a:latin typeface="Montserrat" panose="00000500000000000000" pitchFamily="2" charset="0"/>
                <a:ea typeface="微软雅黑 Light" panose="020B0502040204020203" pitchFamily="34" charset="-122"/>
              </a:rPr>
              <a:t>G</a:t>
            </a:r>
          </a:p>
        </p:txBody>
      </p:sp>
      <p:sp>
        <p:nvSpPr>
          <p:cNvPr id="35" name="Line 82">
            <a:extLst>
              <a:ext uri="{FF2B5EF4-FFF2-40B4-BE49-F238E27FC236}">
                <a16:creationId xmlns:a16="http://schemas.microsoft.com/office/drawing/2014/main" id="{065A1FF5-B66F-F38B-7B80-F00439B2641B}"/>
              </a:ext>
            </a:extLst>
          </p:cNvPr>
          <p:cNvSpPr>
            <a:spLocks noChangeShapeType="1"/>
          </p:cNvSpPr>
          <p:nvPr/>
        </p:nvSpPr>
        <p:spPr bwMode="auto">
          <a:xfrm flipH="1">
            <a:off x="5600693" y="2942399"/>
            <a:ext cx="1957" cy="2447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a:latin typeface="Montserrat" panose="00000500000000000000" pitchFamily="2" charset="0"/>
              <a:ea typeface="微软雅黑 Light" panose="020B0502040204020203" pitchFamily="34" charset="-122"/>
            </a:endParaRPr>
          </a:p>
        </p:txBody>
      </p:sp>
      <p:sp>
        <p:nvSpPr>
          <p:cNvPr id="36" name="Rectangle 83">
            <a:extLst>
              <a:ext uri="{FF2B5EF4-FFF2-40B4-BE49-F238E27FC236}">
                <a16:creationId xmlns:a16="http://schemas.microsoft.com/office/drawing/2014/main" id="{4704E885-0EE0-E572-990B-30AA34359299}"/>
              </a:ext>
            </a:extLst>
          </p:cNvPr>
          <p:cNvSpPr>
            <a:spLocks noChangeArrowheads="1"/>
          </p:cNvSpPr>
          <p:nvPr/>
        </p:nvSpPr>
        <p:spPr bwMode="auto">
          <a:xfrm>
            <a:off x="5592087" y="2931107"/>
            <a:ext cx="110771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en-US" altLang="zh-CN" sz="900" dirty="0">
                <a:latin typeface="Montserrat" panose="00000500000000000000" pitchFamily="2" charset="0"/>
                <a:ea typeface="微软雅黑 Light" panose="020B0502040204020203" pitchFamily="34" charset="-122"/>
              </a:rPr>
              <a:t>Padding</a:t>
            </a:r>
            <a:endParaRPr kumimoji="1" lang="zh-CN" altLang="en-US" sz="900" dirty="0">
              <a:latin typeface="Montserrat" panose="00000500000000000000" pitchFamily="2" charset="0"/>
              <a:ea typeface="微软雅黑 Light" panose="020B0502040204020203" pitchFamily="34" charset="-122"/>
            </a:endParaRPr>
          </a:p>
        </p:txBody>
      </p:sp>
      <p:sp>
        <p:nvSpPr>
          <p:cNvPr id="2" name="Rectangle 81">
            <a:extLst>
              <a:ext uri="{FF2B5EF4-FFF2-40B4-BE49-F238E27FC236}">
                <a16:creationId xmlns:a16="http://schemas.microsoft.com/office/drawing/2014/main" id="{E050A056-0D8E-13F2-DAE3-CCCC3842379C}"/>
              </a:ext>
            </a:extLst>
          </p:cNvPr>
          <p:cNvSpPr>
            <a:spLocks noChangeArrowheads="1"/>
          </p:cNvSpPr>
          <p:nvPr/>
        </p:nvSpPr>
        <p:spPr bwMode="auto">
          <a:xfrm>
            <a:off x="2173199" y="1296751"/>
            <a:ext cx="4716036"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900" dirty="0">
                <a:latin typeface="Montserrat" panose="00000500000000000000" pitchFamily="2" charset="0"/>
                <a:ea typeface="微软雅黑" pitchFamily="34" charset="-122"/>
              </a:rPr>
              <a:t>0                                    8                                 16                                  24                             31</a:t>
            </a:r>
          </a:p>
        </p:txBody>
      </p:sp>
    </p:spTree>
    <p:extLst>
      <p:ext uri="{BB962C8B-B14F-4D97-AF65-F5344CB8AC3E}">
        <p14:creationId xmlns:p14="http://schemas.microsoft.com/office/powerpoint/2010/main" val="14884978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3"/>
          <p:cNvSpPr>
            <a:spLocks noChangeShapeType="1"/>
          </p:cNvSpPr>
          <p:nvPr/>
        </p:nvSpPr>
        <p:spPr bwMode="auto">
          <a:xfrm flipH="1">
            <a:off x="1909886" y="2242447"/>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Rectangle 4"/>
          <p:cNvSpPr>
            <a:spLocks noChangeArrowheads="1"/>
          </p:cNvSpPr>
          <p:nvPr/>
        </p:nvSpPr>
        <p:spPr bwMode="auto">
          <a:xfrm>
            <a:off x="1620893" y="3222395"/>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10" name="Line 5"/>
          <p:cNvSpPr>
            <a:spLocks noChangeShapeType="1"/>
          </p:cNvSpPr>
          <p:nvPr/>
        </p:nvSpPr>
        <p:spPr bwMode="auto">
          <a:xfrm>
            <a:off x="7187795" y="2237076"/>
            <a:ext cx="0" cy="1953179"/>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Rectangle 6"/>
          <p:cNvSpPr>
            <a:spLocks noChangeArrowheads="1"/>
          </p:cNvSpPr>
          <p:nvPr/>
        </p:nvSpPr>
        <p:spPr bwMode="auto">
          <a:xfrm>
            <a:off x="6952074" y="2844870"/>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2" name="Rectangle 7"/>
          <p:cNvSpPr>
            <a:spLocks noChangeArrowheads="1"/>
          </p:cNvSpPr>
          <p:nvPr/>
        </p:nvSpPr>
        <p:spPr bwMode="auto">
          <a:xfrm>
            <a:off x="2154821" y="2240656"/>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0"/>
          <p:cNvSpPr>
            <a:spLocks noChangeShapeType="1"/>
          </p:cNvSpPr>
          <p:nvPr/>
        </p:nvSpPr>
        <p:spPr bwMode="auto">
          <a:xfrm>
            <a:off x="2149973" y="2637199"/>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1"/>
          <p:cNvSpPr>
            <a:spLocks noChangeShapeType="1"/>
          </p:cNvSpPr>
          <p:nvPr/>
        </p:nvSpPr>
        <p:spPr bwMode="auto">
          <a:xfrm>
            <a:off x="2158700" y="3029267"/>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2"/>
          <p:cNvSpPr>
            <a:spLocks noChangeShapeType="1"/>
          </p:cNvSpPr>
          <p:nvPr/>
        </p:nvSpPr>
        <p:spPr bwMode="auto">
          <a:xfrm>
            <a:off x="2149973" y="3420440"/>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3"/>
          <p:cNvSpPr>
            <a:spLocks noChangeShapeType="1"/>
          </p:cNvSpPr>
          <p:nvPr/>
        </p:nvSpPr>
        <p:spPr bwMode="auto">
          <a:xfrm>
            <a:off x="2149973" y="3810718"/>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4"/>
          <p:cNvSpPr>
            <a:spLocks noChangeShapeType="1"/>
          </p:cNvSpPr>
          <p:nvPr/>
        </p:nvSpPr>
        <p:spPr bwMode="auto">
          <a:xfrm>
            <a:off x="2158700" y="4202786"/>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5"/>
          <p:cNvSpPr>
            <a:spLocks noChangeShapeType="1"/>
          </p:cNvSpPr>
          <p:nvPr/>
        </p:nvSpPr>
        <p:spPr bwMode="auto">
          <a:xfrm>
            <a:off x="4503500" y="2245132"/>
            <a:ext cx="0" cy="40012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Rectangle 16"/>
          <p:cNvSpPr>
            <a:spLocks noChangeArrowheads="1"/>
          </p:cNvSpPr>
          <p:nvPr/>
        </p:nvSpPr>
        <p:spPr bwMode="auto">
          <a:xfrm>
            <a:off x="5236614" y="2316742"/>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0" name="Rectangle 17"/>
          <p:cNvSpPr>
            <a:spLocks noChangeArrowheads="1"/>
          </p:cNvSpPr>
          <p:nvPr/>
        </p:nvSpPr>
        <p:spPr bwMode="auto">
          <a:xfrm>
            <a:off x="2234255" y="3386117"/>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 name="Rectangle 18"/>
          <p:cNvSpPr>
            <a:spLocks noChangeArrowheads="1"/>
          </p:cNvSpPr>
          <p:nvPr/>
        </p:nvSpPr>
        <p:spPr bwMode="auto">
          <a:xfrm>
            <a:off x="2908299" y="3888594"/>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2" name="Rectangle 19"/>
          <p:cNvSpPr>
            <a:spLocks noChangeArrowheads="1"/>
          </p:cNvSpPr>
          <p:nvPr/>
        </p:nvSpPr>
        <p:spPr bwMode="auto">
          <a:xfrm>
            <a:off x="3031454" y="4250227"/>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3" name="Rectangle 20"/>
          <p:cNvSpPr>
            <a:spLocks noChangeArrowheads="1"/>
          </p:cNvSpPr>
          <p:nvPr/>
        </p:nvSpPr>
        <p:spPr bwMode="auto">
          <a:xfrm>
            <a:off x="2978119" y="2316742"/>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4" name="Rectangle 21"/>
          <p:cNvSpPr>
            <a:spLocks noChangeArrowheads="1"/>
          </p:cNvSpPr>
          <p:nvPr/>
        </p:nvSpPr>
        <p:spPr bwMode="auto">
          <a:xfrm>
            <a:off x="4071046" y="2689705"/>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5" name="Line 22"/>
          <p:cNvSpPr>
            <a:spLocks noChangeShapeType="1"/>
          </p:cNvSpPr>
          <p:nvPr/>
        </p:nvSpPr>
        <p:spPr bwMode="auto">
          <a:xfrm>
            <a:off x="4507379" y="3425811"/>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Rectangle 23"/>
          <p:cNvSpPr>
            <a:spLocks noChangeArrowheads="1"/>
          </p:cNvSpPr>
          <p:nvPr/>
        </p:nvSpPr>
        <p:spPr bwMode="auto">
          <a:xfrm>
            <a:off x="5138672" y="3888594"/>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7" name="Rectangle 24"/>
          <p:cNvSpPr>
            <a:spLocks noChangeArrowheads="1"/>
          </p:cNvSpPr>
          <p:nvPr/>
        </p:nvSpPr>
        <p:spPr bwMode="auto">
          <a:xfrm>
            <a:off x="5391158" y="3475784"/>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8" name="Rectangle 25"/>
          <p:cNvSpPr>
            <a:spLocks noChangeArrowheads="1"/>
          </p:cNvSpPr>
          <p:nvPr/>
        </p:nvSpPr>
        <p:spPr bwMode="auto">
          <a:xfrm>
            <a:off x="3921708" y="3097885"/>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9" name="Line 26"/>
          <p:cNvSpPr>
            <a:spLocks noChangeShapeType="1"/>
          </p:cNvSpPr>
          <p:nvPr/>
        </p:nvSpPr>
        <p:spPr bwMode="auto">
          <a:xfrm>
            <a:off x="2739567" y="3425811"/>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7"/>
          <p:cNvSpPr>
            <a:spLocks noChangeShapeType="1"/>
          </p:cNvSpPr>
          <p:nvPr/>
        </p:nvSpPr>
        <p:spPr bwMode="auto">
          <a:xfrm>
            <a:off x="3916815" y="3421336"/>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8"/>
          <p:cNvSpPr>
            <a:spLocks noChangeShapeType="1"/>
          </p:cNvSpPr>
          <p:nvPr/>
        </p:nvSpPr>
        <p:spPr bwMode="auto">
          <a:xfrm>
            <a:off x="3615229" y="3425811"/>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9"/>
          <p:cNvSpPr>
            <a:spLocks noChangeShapeType="1"/>
          </p:cNvSpPr>
          <p:nvPr/>
        </p:nvSpPr>
        <p:spPr bwMode="auto">
          <a:xfrm>
            <a:off x="3764568" y="3425812"/>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0"/>
          <p:cNvSpPr>
            <a:spLocks noChangeShapeType="1"/>
          </p:cNvSpPr>
          <p:nvPr/>
        </p:nvSpPr>
        <p:spPr bwMode="auto">
          <a:xfrm>
            <a:off x="4210642" y="3425812"/>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1"/>
          <p:cNvSpPr>
            <a:spLocks noChangeShapeType="1"/>
          </p:cNvSpPr>
          <p:nvPr/>
        </p:nvSpPr>
        <p:spPr bwMode="auto">
          <a:xfrm>
            <a:off x="4063244" y="3425812"/>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2"/>
          <p:cNvSpPr>
            <a:spLocks noChangeShapeType="1"/>
          </p:cNvSpPr>
          <p:nvPr/>
        </p:nvSpPr>
        <p:spPr bwMode="auto">
          <a:xfrm>
            <a:off x="4359980" y="3425812"/>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Rectangle 33"/>
          <p:cNvSpPr>
            <a:spLocks noChangeArrowheads="1"/>
          </p:cNvSpPr>
          <p:nvPr/>
        </p:nvSpPr>
        <p:spPr bwMode="auto">
          <a:xfrm>
            <a:off x="2900900" y="3483840"/>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7" name="Rectangle 34"/>
          <p:cNvSpPr>
            <a:spLocks noChangeArrowheads="1"/>
          </p:cNvSpPr>
          <p:nvPr/>
        </p:nvSpPr>
        <p:spPr bwMode="auto">
          <a:xfrm>
            <a:off x="4280467" y="3414608"/>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6" name="Rectangle 75"/>
          <p:cNvSpPr>
            <a:spLocks noChangeArrowheads="1"/>
          </p:cNvSpPr>
          <p:nvPr/>
        </p:nvSpPr>
        <p:spPr bwMode="auto">
          <a:xfrm>
            <a:off x="4152650" y="3414608"/>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7" name="Rectangle 76"/>
          <p:cNvSpPr>
            <a:spLocks noChangeArrowheads="1"/>
          </p:cNvSpPr>
          <p:nvPr/>
        </p:nvSpPr>
        <p:spPr bwMode="auto">
          <a:xfrm>
            <a:off x="4021820" y="3414608"/>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8" name="Rectangle 77"/>
          <p:cNvSpPr>
            <a:spLocks noChangeArrowheads="1"/>
          </p:cNvSpPr>
          <p:nvPr/>
        </p:nvSpPr>
        <p:spPr bwMode="auto">
          <a:xfrm>
            <a:off x="3850095" y="3414608"/>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9" name="Rectangle 78"/>
          <p:cNvSpPr>
            <a:spLocks noChangeArrowheads="1"/>
          </p:cNvSpPr>
          <p:nvPr/>
        </p:nvSpPr>
        <p:spPr bwMode="auto">
          <a:xfrm>
            <a:off x="3703666" y="3414608"/>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80" name="Rectangle 79"/>
          <p:cNvSpPr>
            <a:spLocks noChangeArrowheads="1"/>
          </p:cNvSpPr>
          <p:nvPr/>
        </p:nvSpPr>
        <p:spPr bwMode="auto">
          <a:xfrm>
            <a:off x="3558291" y="3414608"/>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82" name="Line 81"/>
          <p:cNvSpPr>
            <a:spLocks noChangeShapeType="1"/>
          </p:cNvSpPr>
          <p:nvPr/>
        </p:nvSpPr>
        <p:spPr bwMode="auto">
          <a:xfrm flipH="1">
            <a:off x="5668142" y="4212632"/>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Rectangle 83"/>
          <p:cNvSpPr>
            <a:spLocks noChangeArrowheads="1"/>
          </p:cNvSpPr>
          <p:nvPr/>
        </p:nvSpPr>
        <p:spPr bwMode="auto">
          <a:xfrm>
            <a:off x="5952104" y="4250227"/>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4" name="Line 96"/>
          <p:cNvSpPr>
            <a:spLocks noChangeShapeType="1"/>
          </p:cNvSpPr>
          <p:nvPr/>
        </p:nvSpPr>
        <p:spPr bwMode="auto">
          <a:xfrm>
            <a:off x="6875531" y="2227228"/>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Line 97"/>
          <p:cNvSpPr>
            <a:spLocks noChangeShapeType="1"/>
          </p:cNvSpPr>
          <p:nvPr/>
        </p:nvSpPr>
        <p:spPr bwMode="auto">
          <a:xfrm>
            <a:off x="6875531" y="4198310"/>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7" name="Line 99"/>
          <p:cNvSpPr>
            <a:spLocks noChangeShapeType="1"/>
          </p:cNvSpPr>
          <p:nvPr/>
        </p:nvSpPr>
        <p:spPr bwMode="auto">
          <a:xfrm>
            <a:off x="1836057" y="456083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9" name="Rectangle 104"/>
          <p:cNvSpPr>
            <a:spLocks noChangeArrowheads="1"/>
          </p:cNvSpPr>
          <p:nvPr/>
        </p:nvSpPr>
        <p:spPr bwMode="auto">
          <a:xfrm>
            <a:off x="2159946" y="2232599"/>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2" name="组合 1"/>
          <p:cNvGrpSpPr/>
          <p:nvPr/>
        </p:nvGrpSpPr>
        <p:grpSpPr>
          <a:xfrm>
            <a:off x="1827330" y="1874296"/>
            <a:ext cx="5158580" cy="374416"/>
            <a:chOff x="1827330" y="782473"/>
            <a:chExt cx="5158580" cy="374416"/>
          </a:xfrm>
        </p:grpSpPr>
        <p:sp>
          <p:nvSpPr>
            <p:cNvPr id="38"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4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5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6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7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91"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72" name="内容占位符 71">
            <a:extLst>
              <a:ext uri="{FF2B5EF4-FFF2-40B4-BE49-F238E27FC236}">
                <a16:creationId xmlns:a16="http://schemas.microsoft.com/office/drawing/2014/main" id="{51D84DBB-2605-08BA-15C8-43B9A8483C5B}"/>
              </a:ext>
            </a:extLst>
          </p:cNvPr>
          <p:cNvSpPr>
            <a:spLocks noGrp="1"/>
          </p:cNvSpPr>
          <p:nvPr>
            <p:ph sz="quarter" idx="11"/>
          </p:nvPr>
        </p:nvSpPr>
        <p:spPr>
          <a:xfrm>
            <a:off x="486000" y="482554"/>
            <a:ext cx="8172000" cy="4120946"/>
          </a:xfrm>
        </p:spPr>
        <p:txBody>
          <a:bodyPr/>
          <a:lstStyle/>
          <a:p>
            <a:r>
              <a:rPr lang="zh-CN" altLang="en-US" dirty="0"/>
              <a:t>源端口和目的端口：各占 </a:t>
            </a:r>
            <a:r>
              <a:rPr lang="en-US" altLang="zh-CN" dirty="0"/>
              <a:t>2 </a:t>
            </a:r>
            <a:r>
              <a:rPr lang="zh-CN" altLang="en-US" dirty="0"/>
              <a:t>字节。端口是运输层与应用层的服务接口。</a:t>
            </a:r>
            <a:endParaRPr lang="en-US" altLang="zh-CN" dirty="0"/>
          </a:p>
          <a:p>
            <a:r>
              <a:rPr lang="zh-CN" altLang="en-US" dirty="0"/>
              <a:t>运输层的复用和分用功能通过端口实现。 </a:t>
            </a:r>
          </a:p>
          <a:p>
            <a:endParaRPr lang="zh-CN" altLang="en-US" dirty="0"/>
          </a:p>
        </p:txBody>
      </p:sp>
      <p:sp>
        <p:nvSpPr>
          <p:cNvPr id="74" name="标题 73">
            <a:extLst>
              <a:ext uri="{FF2B5EF4-FFF2-40B4-BE49-F238E27FC236}">
                <a16:creationId xmlns:a16="http://schemas.microsoft.com/office/drawing/2014/main" id="{0AB75E9C-A731-D428-986A-B54B7E5AC81C}"/>
              </a:ext>
            </a:extLst>
          </p:cNvPr>
          <p:cNvSpPr>
            <a:spLocks noGrp="1"/>
          </p:cNvSpPr>
          <p:nvPr>
            <p:ph type="title"/>
          </p:nvPr>
        </p:nvSpPr>
        <p:spPr>
          <a:xfrm>
            <a:off x="2808000" y="144000"/>
            <a:ext cx="3528000" cy="338554"/>
          </a:xfrm>
        </p:spPr>
        <p:txBody>
          <a:bodyPr/>
          <a:lstStyle/>
          <a:p>
            <a:r>
              <a:rPr lang="zh-CN" altLang="en-US" dirty="0"/>
              <a:t>源端口和目的端口</a:t>
            </a:r>
          </a:p>
        </p:txBody>
      </p:sp>
    </p:spTree>
    <p:extLst>
      <p:ext uri="{BB962C8B-B14F-4D97-AF65-F5344CB8AC3E}">
        <p14:creationId xmlns:p14="http://schemas.microsoft.com/office/powerpoint/2010/main" val="145807166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1"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2351629"/>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2346257"/>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2954052"/>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2349837"/>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2746381"/>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3138449"/>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3529622"/>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3919900"/>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4311968"/>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2354313"/>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2425923"/>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3495299"/>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3997776"/>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4359409"/>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2425923"/>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2798887"/>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3534993"/>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3997776"/>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3584966"/>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3207067"/>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3534993"/>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3530517"/>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3534993"/>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3534993"/>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3534993"/>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3534993"/>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3534993"/>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3593022"/>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3523789"/>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3523789"/>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3523789"/>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3523789"/>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3523789"/>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3523789"/>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4321814"/>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4359409"/>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2336410"/>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4307492"/>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2357893"/>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4670021"/>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2754478"/>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4" name="组合 83"/>
          <p:cNvGrpSpPr/>
          <p:nvPr/>
        </p:nvGrpSpPr>
        <p:grpSpPr>
          <a:xfrm>
            <a:off x="1827330" y="1983478"/>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3331577"/>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3" name="内容占位符 2">
            <a:extLst>
              <a:ext uri="{FF2B5EF4-FFF2-40B4-BE49-F238E27FC236}">
                <a16:creationId xmlns:a16="http://schemas.microsoft.com/office/drawing/2014/main" id="{6C02A3FA-823D-0E67-4021-B89DC13BB97F}"/>
              </a:ext>
            </a:extLst>
          </p:cNvPr>
          <p:cNvSpPr>
            <a:spLocks noGrp="1"/>
          </p:cNvSpPr>
          <p:nvPr>
            <p:ph sz="quarter" idx="11"/>
          </p:nvPr>
        </p:nvSpPr>
        <p:spPr>
          <a:xfrm>
            <a:off x="486000" y="482554"/>
            <a:ext cx="8172000" cy="4120946"/>
          </a:xfrm>
        </p:spPr>
        <p:txBody>
          <a:bodyPr/>
          <a:lstStyle/>
          <a:p>
            <a:r>
              <a:rPr lang="zh-CN" altLang="en-US" dirty="0"/>
              <a:t>序号：占 </a:t>
            </a:r>
            <a:r>
              <a:rPr lang="en-US" altLang="zh-CN" dirty="0"/>
              <a:t>4 </a:t>
            </a:r>
            <a:r>
              <a:rPr lang="zh-CN" altLang="en-US" dirty="0"/>
              <a:t>字节。</a:t>
            </a:r>
            <a:r>
              <a:rPr lang="en-US" altLang="zh-CN" dirty="0"/>
              <a:t>TCP </a:t>
            </a:r>
            <a:r>
              <a:rPr lang="zh-CN" altLang="en-US" dirty="0"/>
              <a:t>连接中传送的数据流中的每一个字节都有一个序号。序号字段的值则指的是本报文段所发送的数据的第一个字节的序号。 </a:t>
            </a:r>
          </a:p>
          <a:p>
            <a:endParaRPr lang="zh-CN" altLang="en-US" dirty="0"/>
          </a:p>
        </p:txBody>
      </p:sp>
      <p:sp>
        <p:nvSpPr>
          <p:cNvPr id="5" name="标题 4">
            <a:extLst>
              <a:ext uri="{FF2B5EF4-FFF2-40B4-BE49-F238E27FC236}">
                <a16:creationId xmlns:a16="http://schemas.microsoft.com/office/drawing/2014/main" id="{708E9CA8-0712-1F10-9B2A-934EC65AE712}"/>
              </a:ext>
            </a:extLst>
          </p:cNvPr>
          <p:cNvSpPr>
            <a:spLocks noGrp="1"/>
          </p:cNvSpPr>
          <p:nvPr>
            <p:ph type="title"/>
          </p:nvPr>
        </p:nvSpPr>
        <p:spPr>
          <a:xfrm>
            <a:off x="2808000" y="144000"/>
            <a:ext cx="3528000" cy="338554"/>
          </a:xfrm>
        </p:spPr>
        <p:txBody>
          <a:bodyPr/>
          <a:lstStyle/>
          <a:p>
            <a:r>
              <a:rPr lang="zh-CN" altLang="en-US" dirty="0"/>
              <a:t>序号</a:t>
            </a:r>
          </a:p>
        </p:txBody>
      </p:sp>
    </p:spTree>
    <p:extLst>
      <p:ext uri="{BB962C8B-B14F-4D97-AF65-F5344CB8AC3E}">
        <p14:creationId xmlns:p14="http://schemas.microsoft.com/office/powerpoint/2010/main" val="12475709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418897" y="830896"/>
            <a:ext cx="6442841" cy="656590"/>
          </a:xfrm>
          <a:prstGeom prst="rect">
            <a:avLst/>
          </a:prstGeom>
        </p:spPr>
        <p:txBody>
          <a:bodyPr wrap="square">
            <a:spAutoFit/>
          </a:bodyPr>
          <a:lstStyle/>
          <a:p>
            <a:pPr algn="ctr">
              <a:lnSpc>
                <a:spcPts val="2200"/>
              </a:lnSpc>
            </a:pPr>
            <a:r>
              <a:rPr lang="zh-CN" altLang="en-US" sz="1600" b="1" dirty="0">
                <a:latin typeface="微软雅黑" pitchFamily="34" charset="-122"/>
                <a:ea typeface="微软雅黑" pitchFamily="34" charset="-122"/>
              </a:rPr>
              <a:t>现有 </a:t>
            </a:r>
            <a:r>
              <a:rPr lang="en-US" altLang="zh-CN" sz="1600" b="1" dirty="0">
                <a:latin typeface="微软雅黑" pitchFamily="34" charset="-122"/>
                <a:ea typeface="微软雅黑" pitchFamily="34" charset="-122"/>
              </a:rPr>
              <a:t>5000 </a:t>
            </a:r>
            <a:r>
              <a:rPr lang="zh-CN" altLang="en-US" sz="1600" b="1" dirty="0">
                <a:latin typeface="微软雅黑" pitchFamily="34" charset="-122"/>
                <a:ea typeface="微软雅黑" pitchFamily="34" charset="-122"/>
              </a:rPr>
              <a:t>个字节的数据。</a:t>
            </a:r>
            <a:endParaRPr lang="en-US" altLang="zh-CN" sz="1600" b="1" dirty="0">
              <a:latin typeface="微软雅黑" pitchFamily="34" charset="-122"/>
              <a:ea typeface="微软雅黑" pitchFamily="34" charset="-122"/>
            </a:endParaRPr>
          </a:p>
          <a:p>
            <a:pPr algn="ctr">
              <a:lnSpc>
                <a:spcPts val="2200"/>
              </a:lnSpc>
            </a:pPr>
            <a:r>
              <a:rPr lang="zh-CN" altLang="en-US" sz="1600" b="1" dirty="0">
                <a:latin typeface="微软雅黑" pitchFamily="34" charset="-122"/>
                <a:ea typeface="微软雅黑" pitchFamily="34" charset="-122"/>
              </a:rPr>
              <a:t>假设报文段的最大数据长度为 </a:t>
            </a:r>
            <a:r>
              <a:rPr lang="en-US" altLang="zh-CN" sz="1600" b="1" dirty="0">
                <a:latin typeface="微软雅黑" pitchFamily="34" charset="-122"/>
                <a:ea typeface="微软雅黑" pitchFamily="34" charset="-122"/>
              </a:rPr>
              <a:t>1000 </a:t>
            </a:r>
            <a:r>
              <a:rPr lang="zh-CN" altLang="en-US" sz="1600" b="1" dirty="0">
                <a:latin typeface="微软雅黑" pitchFamily="34" charset="-122"/>
                <a:ea typeface="微软雅黑" pitchFamily="34" charset="-122"/>
              </a:rPr>
              <a:t>个字节，初始序号为 </a:t>
            </a:r>
            <a:r>
              <a:rPr lang="en-US" altLang="zh-CN" sz="1600" b="1" dirty="0">
                <a:latin typeface="微软雅黑" pitchFamily="34" charset="-122"/>
                <a:ea typeface="微软雅黑" pitchFamily="34" charset="-122"/>
              </a:rPr>
              <a:t>1001</a:t>
            </a:r>
            <a:r>
              <a:rPr lang="zh-CN" altLang="en-US" sz="1600" b="1" dirty="0">
                <a:latin typeface="微软雅黑" pitchFamily="34" charset="-122"/>
                <a:ea typeface="微软雅黑" pitchFamily="34" charset="-122"/>
              </a:rPr>
              <a:t>。</a:t>
            </a:r>
          </a:p>
        </p:txBody>
      </p:sp>
      <p:sp>
        <p:nvSpPr>
          <p:cNvPr id="87" name="矩形 86"/>
          <p:cNvSpPr/>
          <p:nvPr/>
        </p:nvSpPr>
        <p:spPr>
          <a:xfrm>
            <a:off x="1881361" y="1566624"/>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1001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1001 ~ 2000</a:t>
            </a:r>
            <a:r>
              <a:rPr lang="zh-CN" altLang="en-US" sz="1600" b="1" dirty="0">
                <a:latin typeface="微软雅黑" pitchFamily="34" charset="-122"/>
                <a:ea typeface="微软雅黑" pitchFamily="34" charset="-122"/>
              </a:rPr>
              <a:t>）</a:t>
            </a:r>
          </a:p>
        </p:txBody>
      </p:sp>
      <p:sp>
        <p:nvSpPr>
          <p:cNvPr id="88" name="矩形 87"/>
          <p:cNvSpPr/>
          <p:nvPr/>
        </p:nvSpPr>
        <p:spPr>
          <a:xfrm>
            <a:off x="1881361" y="1972615"/>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2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2001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2001 ~ 3000</a:t>
            </a:r>
            <a:r>
              <a:rPr lang="zh-CN" altLang="en-US" sz="1600" b="1" dirty="0">
                <a:latin typeface="微软雅黑" pitchFamily="34" charset="-122"/>
                <a:ea typeface="微软雅黑" pitchFamily="34" charset="-122"/>
              </a:rPr>
              <a:t>）</a:t>
            </a:r>
          </a:p>
        </p:txBody>
      </p:sp>
      <p:sp>
        <p:nvSpPr>
          <p:cNvPr id="89" name="矩形 88"/>
          <p:cNvSpPr/>
          <p:nvPr/>
        </p:nvSpPr>
        <p:spPr>
          <a:xfrm>
            <a:off x="1881361" y="2380666"/>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3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3001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3001 ~ 4000</a:t>
            </a:r>
            <a:r>
              <a:rPr lang="zh-CN" altLang="en-US" sz="1600" b="1" dirty="0">
                <a:latin typeface="微软雅黑" pitchFamily="34" charset="-122"/>
                <a:ea typeface="微软雅黑" pitchFamily="34" charset="-122"/>
              </a:rPr>
              <a:t>）</a:t>
            </a:r>
          </a:p>
        </p:txBody>
      </p:sp>
      <p:sp>
        <p:nvSpPr>
          <p:cNvPr id="90" name="矩形 89"/>
          <p:cNvSpPr/>
          <p:nvPr/>
        </p:nvSpPr>
        <p:spPr>
          <a:xfrm>
            <a:off x="1881361" y="2786657"/>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4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4001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4001 ~ 5000</a:t>
            </a:r>
            <a:r>
              <a:rPr lang="zh-CN" altLang="en-US" sz="1600" b="1" dirty="0">
                <a:latin typeface="微软雅黑" pitchFamily="34" charset="-122"/>
                <a:ea typeface="微软雅黑" pitchFamily="34" charset="-122"/>
              </a:rPr>
              <a:t>）</a:t>
            </a:r>
          </a:p>
        </p:txBody>
      </p:sp>
      <p:sp>
        <p:nvSpPr>
          <p:cNvPr id="91" name="矩形 90"/>
          <p:cNvSpPr/>
          <p:nvPr/>
        </p:nvSpPr>
        <p:spPr>
          <a:xfrm>
            <a:off x="1881361" y="3192648"/>
            <a:ext cx="5559972" cy="374461"/>
          </a:xfrm>
          <a:prstGeom prst="rect">
            <a:avLst/>
          </a:prstGeom>
          <a:solidFill>
            <a:srgbClr val="00FFFF"/>
          </a:solidFill>
          <a:ln w="9525">
            <a:solidFill>
              <a:schemeClr val="tx1"/>
            </a:solidFill>
          </a:ln>
        </p:spPr>
        <p:txBody>
          <a:bodyPr wrap="square">
            <a:spAutoFit/>
          </a:bodyPr>
          <a:lstStyle/>
          <a:p>
            <a:pPr>
              <a:lnSpc>
                <a:spcPts val="2200"/>
              </a:lnSpc>
            </a:pPr>
            <a:r>
              <a:rPr lang="zh-CN" altLang="en-US" sz="1600" b="1" dirty="0">
                <a:latin typeface="微软雅黑" pitchFamily="34" charset="-122"/>
                <a:ea typeface="微软雅黑" pitchFamily="34" charset="-122"/>
              </a:rPr>
              <a:t>报文段 </a:t>
            </a:r>
            <a:r>
              <a:rPr lang="en-US" altLang="zh-CN" sz="1600" b="1" dirty="0">
                <a:latin typeface="微软雅黑" pitchFamily="34" charset="-122"/>
                <a:ea typeface="微软雅黑" pitchFamily="34" charset="-122"/>
              </a:rPr>
              <a:t>5 </a:t>
            </a:r>
            <a:r>
              <a:rPr lang="zh-CN" altLang="en-US" sz="1600" b="1" dirty="0">
                <a:latin typeface="微软雅黑" pitchFamily="34" charset="-122"/>
                <a:ea typeface="微软雅黑" pitchFamily="34" charset="-122"/>
              </a:rPr>
              <a:t>序号 </a:t>
            </a:r>
            <a:r>
              <a:rPr lang="en-US" altLang="zh-CN" sz="1600" b="1" dirty="0">
                <a:latin typeface="微软雅黑" pitchFamily="34" charset="-122"/>
                <a:ea typeface="微软雅黑" pitchFamily="34" charset="-122"/>
              </a:rPr>
              <a:t>= </a:t>
            </a:r>
            <a:r>
              <a:rPr lang="en-US" altLang="zh-CN" sz="1600" b="1" dirty="0">
                <a:solidFill>
                  <a:srgbClr val="0000FF"/>
                </a:solidFill>
                <a:latin typeface="微软雅黑" pitchFamily="34" charset="-122"/>
                <a:ea typeface="微软雅黑" pitchFamily="34" charset="-122"/>
              </a:rPr>
              <a:t>5001</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（数据字节序号：</a:t>
            </a:r>
            <a:r>
              <a:rPr lang="en-US" altLang="zh-CN" sz="1600" b="1" dirty="0">
                <a:latin typeface="微软雅黑" pitchFamily="34" charset="-122"/>
                <a:ea typeface="微软雅黑" pitchFamily="34" charset="-122"/>
              </a:rPr>
              <a:t>5001 ~ 6000</a:t>
            </a:r>
            <a:r>
              <a:rPr lang="zh-CN" altLang="en-US" sz="1600" b="1" dirty="0">
                <a:latin typeface="微软雅黑" pitchFamily="34" charset="-122"/>
                <a:ea typeface="微软雅黑" pitchFamily="34" charset="-122"/>
              </a:rPr>
              <a:t>）</a:t>
            </a:r>
          </a:p>
        </p:txBody>
      </p:sp>
    </p:spTree>
    <p:extLst>
      <p:ext uri="{BB962C8B-B14F-4D97-AF65-F5344CB8AC3E}">
        <p14:creationId xmlns:p14="http://schemas.microsoft.com/office/powerpoint/2010/main" val="765564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a:off x="2159946" y="1928377"/>
            <a:ext cx="4681566"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520216" y="3536782"/>
            <a:ext cx="588891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确认号：占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字节，是</a:t>
            </a:r>
            <a:r>
              <a:rPr lang="zh-CN" altLang="en-US" sz="1600" b="1" dirty="0">
                <a:solidFill>
                  <a:srgbClr val="FFC000"/>
                </a:solidFill>
                <a:latin typeface="微软雅黑" pitchFamily="34" charset="-122"/>
                <a:ea typeface="微软雅黑" pitchFamily="34" charset="-122"/>
              </a:rPr>
              <a:t>期望收到</a:t>
            </a:r>
            <a:r>
              <a:rPr lang="zh-CN" altLang="en-US" sz="1600" b="1" dirty="0">
                <a:solidFill>
                  <a:schemeClr val="bg1"/>
                </a:solidFill>
                <a:latin typeface="微软雅黑" pitchFamily="34" charset="-122"/>
                <a:ea typeface="微软雅黑" pitchFamily="34" charset="-122"/>
              </a:rPr>
              <a:t>对方的下一个报文段的数据的</a:t>
            </a:r>
            <a:r>
              <a:rPr lang="zh-CN" altLang="en-US" sz="1600" b="1" dirty="0">
                <a:solidFill>
                  <a:srgbClr val="FFC000"/>
                </a:solidFill>
                <a:latin typeface="微软雅黑" pitchFamily="34" charset="-122"/>
                <a:ea typeface="微软雅黑" pitchFamily="34" charset="-122"/>
              </a:rPr>
              <a:t>第一个字节</a:t>
            </a:r>
            <a:r>
              <a:rPr lang="zh-CN" altLang="en-US" sz="1600" b="1" dirty="0">
                <a:solidFill>
                  <a:schemeClr val="bg1"/>
                </a:solidFill>
                <a:latin typeface="微软雅黑" pitchFamily="34" charset="-122"/>
                <a:ea typeface="微软雅黑" pitchFamily="34" charset="-122"/>
              </a:rPr>
              <a:t>的序号。 </a:t>
            </a:r>
          </a:p>
        </p:txBody>
      </p:sp>
      <p:grpSp>
        <p:nvGrpSpPr>
          <p:cNvPr id="123" name="组合 122"/>
          <p:cNvGrpSpPr/>
          <p:nvPr/>
        </p:nvGrpSpPr>
        <p:grpSpPr>
          <a:xfrm>
            <a:off x="1827330" y="782473"/>
            <a:ext cx="5158580" cy="374416"/>
            <a:chOff x="1827330" y="782473"/>
            <a:chExt cx="5158580" cy="374416"/>
          </a:xfrm>
        </p:grpSpPr>
        <p:sp>
          <p:nvSpPr>
            <p:cNvPr id="124"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5"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6"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7"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8"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9"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0"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1"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2"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3"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4"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5"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6"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7"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8"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9"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0"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1"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2"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3"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4"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5"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6"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7"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8"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9"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0"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1"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2"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3"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4"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5"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6"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7"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8"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59"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4"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210628" y="4393791"/>
            <a:ext cx="6866964" cy="323165"/>
          </a:xfrm>
          <a:prstGeom prst="rect">
            <a:avLst/>
          </a:prstGeom>
          <a:solidFill>
            <a:srgbClr val="009900"/>
          </a:solidFill>
        </p:spPr>
        <p:txBody>
          <a:bodyPr wrap="square">
            <a:spAutoFit/>
          </a:bodyPr>
          <a:lstStyle/>
          <a:p>
            <a:pPr algn="ctr"/>
            <a:r>
              <a:rPr lang="zh-CN" altLang="en-US" sz="1500" b="1" dirty="0">
                <a:solidFill>
                  <a:schemeClr val="bg1"/>
                </a:solidFill>
                <a:latin typeface="微软雅黑" panose="020B0503020204020204" pitchFamily="34" charset="-122"/>
                <a:ea typeface="微软雅黑" panose="020B0503020204020204" pitchFamily="34" charset="-122"/>
              </a:rPr>
              <a:t>记住：若确认号 </a:t>
            </a:r>
            <a:r>
              <a:rPr lang="en-US" altLang="zh-CN" sz="1500" b="1" dirty="0">
                <a:solidFill>
                  <a:schemeClr val="bg1"/>
                </a:solidFill>
                <a:latin typeface="微软雅黑" panose="020B0503020204020204" pitchFamily="34" charset="-122"/>
                <a:ea typeface="微软雅黑" panose="020B0503020204020204" pitchFamily="34" charset="-122"/>
              </a:rPr>
              <a:t>= N</a:t>
            </a:r>
            <a:r>
              <a:rPr lang="zh-CN" altLang="en-US" sz="1500" b="1" dirty="0">
                <a:solidFill>
                  <a:schemeClr val="bg1"/>
                </a:solidFill>
                <a:latin typeface="微软雅黑" panose="020B0503020204020204" pitchFamily="34" charset="-122"/>
                <a:ea typeface="微软雅黑" panose="020B0503020204020204" pitchFamily="34" charset="-122"/>
              </a:rPr>
              <a:t>，则表明：到序号 </a:t>
            </a:r>
            <a:r>
              <a:rPr lang="en-US" altLang="zh-CN" sz="1500" b="1" dirty="0">
                <a:solidFill>
                  <a:schemeClr val="bg1"/>
                </a:solidFill>
                <a:latin typeface="微软雅黑" panose="020B0503020204020204" pitchFamily="34" charset="-122"/>
                <a:ea typeface="微软雅黑" panose="020B0503020204020204" pitchFamily="34" charset="-122"/>
              </a:rPr>
              <a:t>N – 1 </a:t>
            </a:r>
            <a:r>
              <a:rPr lang="zh-CN" altLang="en-US" sz="1500" b="1" dirty="0">
                <a:solidFill>
                  <a:schemeClr val="bg1"/>
                </a:solidFill>
                <a:latin typeface="微软雅黑" panose="020B0503020204020204" pitchFamily="34" charset="-122"/>
                <a:ea typeface="微软雅黑" panose="020B0503020204020204" pitchFamily="34" charset="-122"/>
              </a:rPr>
              <a:t>为止的所有数据都已正确收到。</a:t>
            </a:r>
          </a:p>
        </p:txBody>
      </p:sp>
      <p:sp>
        <p:nvSpPr>
          <p:cNvPr id="5" name="标题 4">
            <a:extLst>
              <a:ext uri="{FF2B5EF4-FFF2-40B4-BE49-F238E27FC236}">
                <a16:creationId xmlns:a16="http://schemas.microsoft.com/office/drawing/2014/main" id="{4FCAB39E-6807-5CD4-6CE4-4B352B028848}"/>
              </a:ext>
            </a:extLst>
          </p:cNvPr>
          <p:cNvSpPr>
            <a:spLocks noGrp="1"/>
          </p:cNvSpPr>
          <p:nvPr>
            <p:ph type="title"/>
          </p:nvPr>
        </p:nvSpPr>
        <p:spPr>
          <a:xfrm>
            <a:off x="2808000" y="144000"/>
            <a:ext cx="3528000" cy="338554"/>
          </a:xfrm>
        </p:spPr>
        <p:txBody>
          <a:bodyPr/>
          <a:lstStyle/>
          <a:p>
            <a:r>
              <a:rPr lang="zh-CN" altLang="en-US" dirty="0"/>
              <a:t>确认号</a:t>
            </a:r>
          </a:p>
        </p:txBody>
      </p:sp>
    </p:spTree>
    <p:extLst>
      <p:ext uri="{BB962C8B-B14F-4D97-AF65-F5344CB8AC3E}">
        <p14:creationId xmlns:p14="http://schemas.microsoft.com/office/powerpoint/2010/main" val="298911386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20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1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5"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16"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17"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18"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9"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20"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21"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22"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3"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4"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5"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6"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7"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8"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29"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230"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265"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266"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267"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268"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269"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270"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1"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272"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3"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4"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5"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276" name="Rectangle 104"/>
          <p:cNvSpPr>
            <a:spLocks noChangeArrowheads="1"/>
          </p:cNvSpPr>
          <p:nvPr/>
        </p:nvSpPr>
        <p:spPr bwMode="auto">
          <a:xfrm>
            <a:off x="2159946" y="2315473"/>
            <a:ext cx="579621"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7" name="Text Box 155"/>
          <p:cNvSpPr txBox="1">
            <a:spLocks noChangeArrowheads="1"/>
          </p:cNvSpPr>
          <p:nvPr/>
        </p:nvSpPr>
        <p:spPr bwMode="auto">
          <a:xfrm>
            <a:off x="1069848" y="3528826"/>
            <a:ext cx="706114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数据偏移（即首部长度）：占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位，指出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a:t>
            </a:r>
            <a:r>
              <a:rPr lang="zh-CN" altLang="en-US" sz="1600" b="1" dirty="0">
                <a:solidFill>
                  <a:srgbClr val="FFC000"/>
                </a:solidFill>
                <a:latin typeface="微软雅黑" pitchFamily="34" charset="-122"/>
                <a:ea typeface="微软雅黑" pitchFamily="34" charset="-122"/>
              </a:rPr>
              <a:t>数据起始处</a:t>
            </a:r>
            <a:r>
              <a:rPr lang="zh-CN" altLang="en-US" sz="1600" b="1" dirty="0">
                <a:solidFill>
                  <a:schemeClr val="bg1"/>
                </a:solidFill>
                <a:latin typeface="微软雅黑" pitchFamily="34" charset="-122"/>
                <a:ea typeface="微软雅黑" pitchFamily="34" charset="-122"/>
              </a:rPr>
              <a:t>距离 </a:t>
            </a:r>
            <a:r>
              <a:rPr lang="en-US" altLang="zh-CN" sz="1600" b="1" dirty="0">
                <a:solidFill>
                  <a:schemeClr val="bg1"/>
                </a:solidFill>
                <a:latin typeface="微软雅黑" pitchFamily="34" charset="-122"/>
                <a:ea typeface="微软雅黑" pitchFamily="34" charset="-122"/>
              </a:rPr>
              <a:t>TCP </a:t>
            </a:r>
            <a:r>
              <a:rPr lang="zh-CN" altLang="en-US" sz="1600" b="1" dirty="0">
                <a:solidFill>
                  <a:srgbClr val="FFC000"/>
                </a:solidFill>
                <a:latin typeface="微软雅黑" pitchFamily="34" charset="-122"/>
                <a:ea typeface="微软雅黑" pitchFamily="34" charset="-122"/>
              </a:rPr>
              <a:t>报文段的起始处</a:t>
            </a:r>
            <a:r>
              <a:rPr lang="zh-CN" altLang="en-US" sz="1600" b="1" dirty="0">
                <a:solidFill>
                  <a:schemeClr val="bg1"/>
                </a:solidFill>
                <a:latin typeface="微软雅黑" pitchFamily="34" charset="-122"/>
                <a:ea typeface="微软雅黑" pitchFamily="34" charset="-122"/>
              </a:rPr>
              <a:t>有多远。单位是 </a:t>
            </a:r>
            <a:r>
              <a:rPr lang="en-US" altLang="zh-CN" sz="1600" b="1" dirty="0">
                <a:solidFill>
                  <a:schemeClr val="bg1"/>
                </a:solidFill>
                <a:latin typeface="微软雅黑" pitchFamily="34" charset="-122"/>
                <a:ea typeface="微软雅黑" pitchFamily="34" charset="-122"/>
              </a:rPr>
              <a:t>32 </a:t>
            </a:r>
            <a:r>
              <a:rPr lang="zh-CN" altLang="en-US" sz="1600" b="1" dirty="0">
                <a:solidFill>
                  <a:schemeClr val="bg1"/>
                </a:solidFill>
                <a:latin typeface="微软雅黑" pitchFamily="34" charset="-122"/>
                <a:ea typeface="微软雅黑" pitchFamily="34" charset="-122"/>
              </a:rPr>
              <a:t>位字（以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字节为计算单位）。 </a:t>
            </a:r>
          </a:p>
        </p:txBody>
      </p:sp>
      <p:grpSp>
        <p:nvGrpSpPr>
          <p:cNvPr id="84" name="组合 83"/>
          <p:cNvGrpSpPr/>
          <p:nvPr/>
        </p:nvGrpSpPr>
        <p:grpSpPr>
          <a:xfrm>
            <a:off x="1827330" y="782473"/>
            <a:ext cx="5158580" cy="374416"/>
            <a:chOff x="1827330" y="782473"/>
            <a:chExt cx="5158580" cy="374416"/>
          </a:xfrm>
        </p:grpSpPr>
        <p:sp>
          <p:nvSpPr>
            <p:cNvPr id="85"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6"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7"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0"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3"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7" name="标题 6">
            <a:extLst>
              <a:ext uri="{FF2B5EF4-FFF2-40B4-BE49-F238E27FC236}">
                <a16:creationId xmlns:a16="http://schemas.microsoft.com/office/drawing/2014/main" id="{EA13F588-3935-700F-FB4A-73F08E61EC46}"/>
              </a:ext>
            </a:extLst>
          </p:cNvPr>
          <p:cNvSpPr>
            <a:spLocks noGrp="1"/>
          </p:cNvSpPr>
          <p:nvPr>
            <p:ph type="title"/>
          </p:nvPr>
        </p:nvSpPr>
        <p:spPr>
          <a:xfrm>
            <a:off x="2808000" y="144000"/>
            <a:ext cx="3528000" cy="338554"/>
          </a:xfrm>
        </p:spPr>
        <p:txBody>
          <a:bodyPr/>
          <a:lstStyle/>
          <a:p>
            <a:r>
              <a:rPr lang="zh-CN" altLang="en-US" dirty="0"/>
              <a:t>数据偏移</a:t>
            </a:r>
          </a:p>
        </p:txBody>
      </p:sp>
    </p:spTree>
    <p:extLst>
      <p:ext uri="{BB962C8B-B14F-4D97-AF65-F5344CB8AC3E}">
        <p14:creationId xmlns:p14="http://schemas.microsoft.com/office/powerpoint/2010/main" val="37707661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27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 grpId="1"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Rectangle 104"/>
          <p:cNvSpPr>
            <a:spLocks noChangeArrowheads="1"/>
          </p:cNvSpPr>
          <p:nvPr/>
        </p:nvSpPr>
        <p:spPr bwMode="auto">
          <a:xfrm flipH="1">
            <a:off x="2739567" y="2315473"/>
            <a:ext cx="878572" cy="40460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417320" y="3528826"/>
            <a:ext cx="630936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保留：占 </a:t>
            </a:r>
            <a:r>
              <a:rPr lang="en-US" altLang="zh-CN" sz="1600" b="1" dirty="0">
                <a:solidFill>
                  <a:schemeClr val="bg1"/>
                </a:solidFill>
                <a:latin typeface="微软雅黑" pitchFamily="34" charset="-122"/>
                <a:ea typeface="微软雅黑" pitchFamily="34" charset="-122"/>
              </a:rPr>
              <a:t>6 </a:t>
            </a:r>
            <a:r>
              <a:rPr lang="zh-CN" altLang="en-US" sz="1600" b="1" dirty="0">
                <a:solidFill>
                  <a:schemeClr val="bg1"/>
                </a:solidFill>
                <a:latin typeface="微软雅黑" pitchFamily="34" charset="-122"/>
                <a:ea typeface="微软雅黑" pitchFamily="34" charset="-122"/>
              </a:rPr>
              <a:t>位，保留为今后使用，但目前应置为 </a:t>
            </a:r>
            <a:r>
              <a:rPr lang="en-US" altLang="zh-CN" sz="1600" b="1" dirty="0">
                <a:solidFill>
                  <a:schemeClr val="bg1"/>
                </a:solidFill>
                <a:latin typeface="微软雅黑" pitchFamily="34" charset="-122"/>
                <a:ea typeface="微软雅黑" pitchFamily="34" charset="-122"/>
              </a:rPr>
              <a:t>0</a:t>
            </a:r>
            <a:r>
              <a:rPr lang="zh-CN" altLang="en-US" sz="1600" b="1" dirty="0">
                <a:solidFill>
                  <a:schemeClr val="bg1"/>
                </a:solidFill>
                <a:latin typeface="微软雅黑" pitchFamily="34" charset="-122"/>
                <a:ea typeface="微软雅黑" pitchFamily="34" charset="-122"/>
              </a:rPr>
              <a:t>。 </a:t>
            </a: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5" name="内容占位符 4">
            <a:extLst>
              <a:ext uri="{FF2B5EF4-FFF2-40B4-BE49-F238E27FC236}">
                <a16:creationId xmlns:a16="http://schemas.microsoft.com/office/drawing/2014/main" id="{241ACFCD-9219-D4E8-AE10-8CF8D3299AD7}"/>
              </a:ext>
            </a:extLst>
          </p:cNvPr>
          <p:cNvSpPr>
            <a:spLocks noGrp="1"/>
          </p:cNvSpPr>
          <p:nvPr>
            <p:ph sz="quarter" idx="11"/>
          </p:nvPr>
        </p:nvSpPr>
        <p:spPr/>
        <p:txBody>
          <a:bodyPr/>
          <a:lstStyle/>
          <a:p>
            <a:endParaRPr lang="zh-CN" altLang="en-US"/>
          </a:p>
        </p:txBody>
      </p:sp>
      <p:sp>
        <p:nvSpPr>
          <p:cNvPr id="4" name="标题 3">
            <a:extLst>
              <a:ext uri="{FF2B5EF4-FFF2-40B4-BE49-F238E27FC236}">
                <a16:creationId xmlns:a16="http://schemas.microsoft.com/office/drawing/2014/main" id="{98A17AEF-4EC1-8860-81F8-7B5672C5C2D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84711995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2"/>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1"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Text Box 155"/>
          <p:cNvSpPr txBox="1">
            <a:spLocks noChangeArrowheads="1"/>
          </p:cNvSpPr>
          <p:nvPr/>
        </p:nvSpPr>
        <p:spPr bwMode="auto">
          <a:xfrm>
            <a:off x="1069848" y="3528826"/>
            <a:ext cx="707745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 </a:t>
            </a:r>
            <a:r>
              <a:rPr lang="en-US" altLang="zh-CN" sz="1600" b="1" dirty="0">
                <a:solidFill>
                  <a:schemeClr val="bg1"/>
                </a:solidFill>
                <a:latin typeface="微软雅黑" pitchFamily="34" charset="-122"/>
                <a:ea typeface="微软雅黑" pitchFamily="34" charset="-122"/>
              </a:rPr>
              <a:t>URG</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URG = 1 </a:t>
            </a:r>
            <a:r>
              <a:rPr lang="zh-CN" altLang="en-US" sz="1600" b="1" dirty="0">
                <a:solidFill>
                  <a:schemeClr val="bg1"/>
                </a:solidFill>
                <a:latin typeface="微软雅黑" pitchFamily="34" charset="-122"/>
                <a:ea typeface="微软雅黑" pitchFamily="34" charset="-122"/>
              </a:rPr>
              <a:t>时，表明紧急指针字段有效，告诉系统此报文段中有紧急数据，应尽快传送 </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相当于高优先级的数据</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 </a:t>
            </a:r>
          </a:p>
        </p:txBody>
      </p:sp>
      <p:sp>
        <p:nvSpPr>
          <p:cNvPr id="85" name="Rectangle 104"/>
          <p:cNvSpPr>
            <a:spLocks noChangeArrowheads="1"/>
          </p:cNvSpPr>
          <p:nvPr/>
        </p:nvSpPr>
        <p:spPr bwMode="auto">
          <a:xfrm>
            <a:off x="3603849"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4" name="组合 83"/>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5" name="内容占位符 4">
            <a:extLst>
              <a:ext uri="{FF2B5EF4-FFF2-40B4-BE49-F238E27FC236}">
                <a16:creationId xmlns:a16="http://schemas.microsoft.com/office/drawing/2014/main" id="{10F75868-3A2C-93BA-10EA-145046B567F9}"/>
              </a:ext>
            </a:extLst>
          </p:cNvPr>
          <p:cNvSpPr>
            <a:spLocks noGrp="1"/>
          </p:cNvSpPr>
          <p:nvPr>
            <p:ph sz="quarter" idx="11"/>
          </p:nvPr>
        </p:nvSpPr>
        <p:spPr/>
        <p:txBody>
          <a:bodyPr/>
          <a:lstStyle/>
          <a:p>
            <a:endParaRPr lang="zh-CN" altLang="en-US"/>
          </a:p>
        </p:txBody>
      </p:sp>
      <p:sp>
        <p:nvSpPr>
          <p:cNvPr id="2" name="标题 1">
            <a:extLst>
              <a:ext uri="{FF2B5EF4-FFF2-40B4-BE49-F238E27FC236}">
                <a16:creationId xmlns:a16="http://schemas.microsoft.com/office/drawing/2014/main" id="{5A4713DB-19A9-D343-34DC-A71A019BE3A8}"/>
              </a:ext>
            </a:extLst>
          </p:cNvPr>
          <p:cNvSpPr>
            <a:spLocks noGrp="1"/>
          </p:cNvSpPr>
          <p:nvPr>
            <p:ph type="title"/>
          </p:nvPr>
        </p:nvSpPr>
        <p:spPr>
          <a:xfrm>
            <a:off x="2808000" y="144000"/>
            <a:ext cx="3528000" cy="338554"/>
          </a:xfrm>
        </p:spPr>
        <p:txBody>
          <a:bodyPr/>
          <a:lstStyle/>
          <a:p>
            <a:r>
              <a:rPr lang="en-US" altLang="zh-CN" dirty="0"/>
              <a:t>URG</a:t>
            </a:r>
            <a:endParaRPr lang="zh-CN" altLang="en-US" dirty="0"/>
          </a:p>
        </p:txBody>
      </p:sp>
    </p:spTree>
    <p:extLst>
      <p:ext uri="{BB962C8B-B14F-4D97-AF65-F5344CB8AC3E}">
        <p14:creationId xmlns:p14="http://schemas.microsoft.com/office/powerpoint/2010/main" val="171486353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5"/>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88141" y="3528831"/>
            <a:ext cx="6140824"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确认 </a:t>
            </a:r>
            <a:r>
              <a:rPr lang="en-US" altLang="zh-CN" sz="1600" b="1" dirty="0">
                <a:solidFill>
                  <a:schemeClr val="bg1"/>
                </a:solidFill>
                <a:latin typeface="微软雅黑" pitchFamily="34" charset="-122"/>
                <a:ea typeface="微软雅黑" pitchFamily="34" charset="-122"/>
              </a:rPr>
              <a:t>ACK</a:t>
            </a:r>
            <a:r>
              <a:rPr lang="zh-CN" altLang="en-US" sz="1600" b="1" dirty="0">
                <a:solidFill>
                  <a:schemeClr val="bg1"/>
                </a:solidFill>
                <a:latin typeface="微软雅黑" pitchFamily="34" charset="-122"/>
                <a:ea typeface="微软雅黑" pitchFamily="34" charset="-122"/>
              </a:rPr>
              <a:t>：控制位。只有当 </a:t>
            </a:r>
            <a:r>
              <a:rPr lang="en-US" altLang="zh-CN" sz="1600" b="1" dirty="0">
                <a:solidFill>
                  <a:schemeClr val="bg1"/>
                </a:solidFill>
                <a:latin typeface="微软雅黑" pitchFamily="34" charset="-122"/>
                <a:ea typeface="微软雅黑" pitchFamily="34" charset="-122"/>
              </a:rPr>
              <a:t>ACK =1 </a:t>
            </a:r>
            <a:r>
              <a:rPr lang="zh-CN" altLang="en-US" sz="1600" b="1" dirty="0">
                <a:solidFill>
                  <a:schemeClr val="bg1"/>
                </a:solidFill>
                <a:latin typeface="微软雅黑" pitchFamily="34" charset="-122"/>
                <a:ea typeface="微软雅黑" pitchFamily="34" charset="-122"/>
              </a:rPr>
              <a:t>时，确认号字段才有效。当 </a:t>
            </a:r>
            <a:r>
              <a:rPr lang="en-US" altLang="zh-CN" sz="1600" b="1" dirty="0">
                <a:solidFill>
                  <a:schemeClr val="bg1"/>
                </a:solidFill>
                <a:latin typeface="微软雅黑" pitchFamily="34" charset="-122"/>
                <a:ea typeface="微软雅黑" pitchFamily="34" charset="-122"/>
              </a:rPr>
              <a:t>ACK =0 </a:t>
            </a:r>
            <a:r>
              <a:rPr lang="zh-CN" altLang="en-US" sz="1600" b="1" dirty="0">
                <a:solidFill>
                  <a:schemeClr val="bg1"/>
                </a:solidFill>
                <a:latin typeface="微软雅黑" pitchFamily="34" charset="-122"/>
                <a:ea typeface="微软雅黑" pitchFamily="34" charset="-122"/>
              </a:rPr>
              <a:t>时，确认号无效。 </a:t>
            </a:r>
          </a:p>
        </p:txBody>
      </p:sp>
      <p:sp>
        <p:nvSpPr>
          <p:cNvPr id="84" name="Rectangle 104"/>
          <p:cNvSpPr>
            <a:spLocks noChangeArrowheads="1"/>
          </p:cNvSpPr>
          <p:nvPr/>
        </p:nvSpPr>
        <p:spPr bwMode="auto">
          <a:xfrm>
            <a:off x="3744545"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E2DB623C-F615-D7FF-523E-1A596C21744B}"/>
              </a:ext>
            </a:extLst>
          </p:cNvPr>
          <p:cNvSpPr>
            <a:spLocks noGrp="1"/>
          </p:cNvSpPr>
          <p:nvPr>
            <p:ph type="title"/>
          </p:nvPr>
        </p:nvSpPr>
        <p:spPr>
          <a:xfrm>
            <a:off x="2808000" y="144000"/>
            <a:ext cx="3528000" cy="338554"/>
          </a:xfrm>
        </p:spPr>
        <p:txBody>
          <a:bodyPr/>
          <a:lstStyle/>
          <a:p>
            <a:r>
              <a:rPr lang="en-US" altLang="zh-CN" dirty="0"/>
              <a:t>ACK</a:t>
            </a:r>
            <a:endParaRPr lang="zh-CN" altLang="en-US" dirty="0"/>
          </a:p>
        </p:txBody>
      </p:sp>
    </p:spTree>
    <p:extLst>
      <p:ext uri="{BB962C8B-B14F-4D97-AF65-F5344CB8AC3E}">
        <p14:creationId xmlns:p14="http://schemas.microsoft.com/office/powerpoint/2010/main" val="1477852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Y</a:t>
            </a:r>
          </a:p>
          <a:p>
            <a:pP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426464" y="3528830"/>
            <a:ext cx="6400799" cy="344325"/>
          </a:xfrm>
          <a:prstGeom prst="rect">
            <a:avLst/>
          </a:prstGeom>
          <a:solidFill>
            <a:srgbClr val="0000FF"/>
          </a:solidFill>
          <a:ln w="9525">
            <a:noFill/>
            <a:miter lim="800000"/>
            <a:headEnd/>
            <a:tailEnd/>
          </a:ln>
          <a:effectLst/>
        </p:spPr>
        <p:txBody>
          <a:bodyPr wrap="square">
            <a:spAutoFit/>
          </a:bodyPr>
          <a:lstStyle/>
          <a:p>
            <a:pPr algn="ctr">
              <a:lnSpc>
                <a:spcPct val="110000"/>
              </a:lnSpc>
            </a:pPr>
            <a:endParaRPr lang="zh-CN" altLang="en-US"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a:off x="3889736"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8" name="内容占位符 7">
            <a:extLst>
              <a:ext uri="{FF2B5EF4-FFF2-40B4-BE49-F238E27FC236}">
                <a16:creationId xmlns:a16="http://schemas.microsoft.com/office/drawing/2014/main" id="{2B9D5E3B-3E1A-58EA-8AF6-5529834707DE}"/>
              </a:ext>
            </a:extLst>
          </p:cNvPr>
          <p:cNvSpPr>
            <a:spLocks noGrp="1"/>
          </p:cNvSpPr>
          <p:nvPr>
            <p:ph sz="quarter" idx="11"/>
          </p:nvPr>
        </p:nvSpPr>
        <p:spPr>
          <a:xfrm>
            <a:off x="486000" y="482554"/>
            <a:ext cx="8172000" cy="4120946"/>
          </a:xfrm>
        </p:spPr>
        <p:txBody>
          <a:bodyPr/>
          <a:lstStyle/>
          <a:p>
            <a:r>
              <a:rPr lang="zh-CN" altLang="en-US" dirty="0"/>
              <a:t>推送 </a:t>
            </a:r>
            <a:r>
              <a:rPr lang="en-US" altLang="zh-CN" dirty="0"/>
              <a:t>PSH (</a:t>
            </a:r>
            <a:r>
              <a:rPr lang="en-US" altLang="zh-CN" dirty="0" err="1"/>
              <a:t>PuSH</a:t>
            </a:r>
            <a:r>
              <a:rPr lang="en-US" altLang="zh-CN" dirty="0"/>
              <a:t>) </a:t>
            </a:r>
            <a:r>
              <a:rPr lang="zh-CN" altLang="en-US" dirty="0"/>
              <a:t>：控制位。接收 </a:t>
            </a:r>
            <a:r>
              <a:rPr lang="en-US" altLang="zh-CN" dirty="0"/>
              <a:t>TCP </a:t>
            </a:r>
            <a:r>
              <a:rPr lang="zh-CN" altLang="en-US" dirty="0"/>
              <a:t>收到 </a:t>
            </a:r>
            <a:r>
              <a:rPr lang="en-US" altLang="zh-CN" dirty="0"/>
              <a:t>PSH = 1 </a:t>
            </a:r>
            <a:r>
              <a:rPr lang="zh-CN" altLang="en-US" dirty="0"/>
              <a:t>的报文段后，就尽快（即“推送”向前）交付接收应用进程，而不再等到整个缓存都填满后再交付。 </a:t>
            </a:r>
          </a:p>
          <a:p>
            <a:endParaRPr lang="zh-CN" altLang="en-US" dirty="0"/>
          </a:p>
        </p:txBody>
      </p:sp>
      <p:sp>
        <p:nvSpPr>
          <p:cNvPr id="38" name="标题 37">
            <a:extLst>
              <a:ext uri="{FF2B5EF4-FFF2-40B4-BE49-F238E27FC236}">
                <a16:creationId xmlns:a16="http://schemas.microsoft.com/office/drawing/2014/main" id="{FAC11441-FC94-CF2F-2867-9E5101BDD6A4}"/>
              </a:ext>
            </a:extLst>
          </p:cNvPr>
          <p:cNvSpPr>
            <a:spLocks noGrp="1"/>
          </p:cNvSpPr>
          <p:nvPr>
            <p:ph type="title"/>
          </p:nvPr>
        </p:nvSpPr>
        <p:spPr>
          <a:xfrm>
            <a:off x="2808000" y="144000"/>
            <a:ext cx="3528000" cy="338554"/>
          </a:xfrm>
        </p:spPr>
        <p:txBody>
          <a:bodyPr/>
          <a:lstStyle/>
          <a:p>
            <a:r>
              <a:rPr lang="en-US" altLang="zh-CN" dirty="0"/>
              <a:t>PSH</a:t>
            </a:r>
            <a:endParaRPr lang="zh-CN" altLang="en-US" dirty="0"/>
          </a:p>
        </p:txBody>
      </p:sp>
    </p:spTree>
    <p:extLst>
      <p:ext uri="{BB962C8B-B14F-4D97-AF65-F5344CB8AC3E}">
        <p14:creationId xmlns:p14="http://schemas.microsoft.com/office/powerpoint/2010/main" val="15836431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4"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1"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2"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3"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4"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5"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6"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7"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8"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9"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30"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1"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8"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9"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4"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5"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6"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7"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8"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9"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1"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5" name="Text Box 155"/>
          <p:cNvSpPr txBox="1">
            <a:spLocks noChangeArrowheads="1"/>
          </p:cNvSpPr>
          <p:nvPr/>
        </p:nvSpPr>
        <p:spPr bwMode="auto">
          <a:xfrm>
            <a:off x="1052633" y="3528830"/>
            <a:ext cx="715903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复位 </a:t>
            </a:r>
            <a:r>
              <a:rPr lang="en-US" altLang="zh-CN" sz="1600" b="1" dirty="0">
                <a:solidFill>
                  <a:schemeClr val="bg1"/>
                </a:solidFill>
                <a:latin typeface="微软雅黑" pitchFamily="34" charset="-122"/>
                <a:ea typeface="微软雅黑" pitchFamily="34" charset="-122"/>
              </a:rPr>
              <a:t>RST (</a:t>
            </a:r>
            <a:r>
              <a:rPr lang="en-US" altLang="zh-CN" sz="1600" b="1" dirty="0" err="1">
                <a:solidFill>
                  <a:schemeClr val="bg1"/>
                </a:solidFill>
                <a:latin typeface="微软雅黑" pitchFamily="34" charset="-122"/>
                <a:ea typeface="微软雅黑" pitchFamily="34" charset="-122"/>
              </a:rPr>
              <a:t>ReSeT</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：控制位。当 </a:t>
            </a:r>
            <a:r>
              <a:rPr lang="en-US" altLang="zh-CN" sz="1600" b="1" dirty="0">
                <a:solidFill>
                  <a:schemeClr val="bg1"/>
                </a:solidFill>
                <a:latin typeface="微软雅黑" pitchFamily="34" charset="-122"/>
                <a:ea typeface="微软雅黑" pitchFamily="34" charset="-122"/>
              </a:rPr>
              <a:t>RST=1 </a:t>
            </a:r>
            <a:r>
              <a:rPr lang="zh-CN" altLang="en-US" sz="1600" b="1" dirty="0">
                <a:solidFill>
                  <a:schemeClr val="bg1"/>
                </a:solidFill>
                <a:latin typeface="微软雅黑" pitchFamily="34" charset="-122"/>
                <a:ea typeface="微软雅黑" pitchFamily="34" charset="-122"/>
              </a:rPr>
              <a:t>时，表明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连接中出现严重差错（如主机崩溃或其他原因），必须释放连接，然后再重新建立运输连接。 </a:t>
            </a:r>
          </a:p>
        </p:txBody>
      </p:sp>
      <p:sp>
        <p:nvSpPr>
          <p:cNvPr id="87" name="Rectangle 104"/>
          <p:cNvSpPr>
            <a:spLocks noChangeArrowheads="1"/>
          </p:cNvSpPr>
          <p:nvPr/>
        </p:nvSpPr>
        <p:spPr bwMode="auto">
          <a:xfrm>
            <a:off x="4058963"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6" name="组合 85"/>
          <p:cNvGrpSpPr/>
          <p:nvPr/>
        </p:nvGrpSpPr>
        <p:grpSpPr>
          <a:xfrm>
            <a:off x="1827330" y="782473"/>
            <a:ext cx="5158580" cy="374416"/>
            <a:chOff x="1827330" y="782473"/>
            <a:chExt cx="5158580" cy="374416"/>
          </a:xfrm>
        </p:grpSpPr>
        <p:sp>
          <p:nvSpPr>
            <p:cNvPr id="90"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4"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5"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9"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标题 1">
            <a:extLst>
              <a:ext uri="{FF2B5EF4-FFF2-40B4-BE49-F238E27FC236}">
                <a16:creationId xmlns:a16="http://schemas.microsoft.com/office/drawing/2014/main" id="{BA2C0DAF-8950-765B-6872-3E6CAFD58283}"/>
              </a:ext>
            </a:extLst>
          </p:cNvPr>
          <p:cNvSpPr>
            <a:spLocks noGrp="1"/>
          </p:cNvSpPr>
          <p:nvPr>
            <p:ph type="title"/>
          </p:nvPr>
        </p:nvSpPr>
        <p:spPr/>
        <p:txBody>
          <a:bodyPr/>
          <a:lstStyle/>
          <a:p>
            <a:r>
              <a:rPr lang="en-US" altLang="zh-CN" dirty="0"/>
              <a:t>RST</a:t>
            </a:r>
            <a:endParaRPr lang="zh-CN" altLang="en-US" dirty="0"/>
          </a:p>
        </p:txBody>
      </p:sp>
    </p:spTree>
    <p:extLst>
      <p:ext uri="{BB962C8B-B14F-4D97-AF65-F5344CB8AC3E}">
        <p14:creationId xmlns:p14="http://schemas.microsoft.com/office/powerpoint/2010/main" val="36203504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 grpId="1"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106424" y="3528826"/>
            <a:ext cx="6986016" cy="104028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a:t>
            </a:r>
            <a:r>
              <a:rPr lang="en-US" altLang="zh-CN" sz="1400" b="1" dirty="0" err="1">
                <a:solidFill>
                  <a:schemeClr val="bg1"/>
                </a:solidFill>
                <a:latin typeface="微软雅黑" pitchFamily="34" charset="-122"/>
                <a:ea typeface="微软雅黑" pitchFamily="34" charset="-122"/>
              </a:rPr>
              <a:t>SYNchronization</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：控制位。</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同步 </a:t>
            </a:r>
            <a:r>
              <a:rPr lang="en-US" altLang="zh-CN" sz="1400" b="1" dirty="0">
                <a:solidFill>
                  <a:schemeClr val="bg1"/>
                </a:solidFill>
                <a:latin typeface="微软雅黑" pitchFamily="34" charset="-122"/>
                <a:ea typeface="微软雅黑" pitchFamily="34" charset="-122"/>
              </a:rPr>
              <a:t>SYN = 1 </a:t>
            </a:r>
            <a:r>
              <a:rPr lang="zh-CN" altLang="en-US" sz="1400" b="1" dirty="0">
                <a:solidFill>
                  <a:schemeClr val="bg1"/>
                </a:solidFill>
                <a:latin typeface="微软雅黑" pitchFamily="34" charset="-122"/>
                <a:ea typeface="微软雅黑" pitchFamily="34" charset="-122"/>
              </a:rPr>
              <a:t>表示这是一个连接请求或连接接受报文。 </a:t>
            </a: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0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连接请求</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a:p>
            <a:pPr algn="ctr">
              <a:lnSpc>
                <a:spcPct val="110000"/>
              </a:lnSpc>
            </a:pPr>
            <a:r>
              <a:rPr lang="zh-CN" altLang="en-US" sz="1400" b="1" dirty="0">
                <a:solidFill>
                  <a:schemeClr val="bg1"/>
                </a:solidFill>
                <a:latin typeface="微软雅黑" pitchFamily="34" charset="-122"/>
                <a:ea typeface="微软雅黑" pitchFamily="34" charset="-122"/>
              </a:rPr>
              <a:t>当 </a:t>
            </a:r>
            <a:r>
              <a:rPr lang="en-US" altLang="zh-CN" sz="1400" b="1" dirty="0">
                <a:solidFill>
                  <a:schemeClr val="bg1"/>
                </a:solidFill>
                <a:latin typeface="微软雅黑" pitchFamily="34" charset="-122"/>
                <a:ea typeface="微软雅黑" pitchFamily="34" charset="-122"/>
              </a:rPr>
              <a:t>SYN = 1</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ACK = 1 </a:t>
            </a:r>
            <a:r>
              <a:rPr lang="zh-CN" altLang="en-US" sz="1400" b="1" dirty="0">
                <a:solidFill>
                  <a:schemeClr val="bg1"/>
                </a:solidFill>
                <a:latin typeface="微软雅黑" pitchFamily="34" charset="-122"/>
                <a:ea typeface="微软雅黑" pitchFamily="34" charset="-122"/>
              </a:rPr>
              <a:t>时，表明这是一个</a:t>
            </a:r>
            <a:r>
              <a:rPr lang="zh-CN" altLang="en-US" sz="1400" b="1" dirty="0">
                <a:solidFill>
                  <a:srgbClr val="FFC000"/>
                </a:solidFill>
                <a:latin typeface="微软雅黑" pitchFamily="34" charset="-122"/>
                <a:ea typeface="微软雅黑" pitchFamily="34" charset="-122"/>
              </a:rPr>
              <a:t>连接接受</a:t>
            </a:r>
            <a:r>
              <a:rPr lang="zh-CN" altLang="en-US" sz="1400" b="1" dirty="0">
                <a:solidFill>
                  <a:schemeClr val="bg1"/>
                </a:solidFill>
                <a:latin typeface="微软雅黑" pitchFamily="34" charset="-122"/>
                <a:ea typeface="微软雅黑" pitchFamily="34" charset="-122"/>
              </a:rPr>
              <a:t>报文段。</a:t>
            </a:r>
            <a:endParaRPr lang="en-US" altLang="zh-CN" sz="14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a:off x="419381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标题 1">
            <a:extLst>
              <a:ext uri="{FF2B5EF4-FFF2-40B4-BE49-F238E27FC236}">
                <a16:creationId xmlns:a16="http://schemas.microsoft.com/office/drawing/2014/main" id="{F34AB039-3078-0833-7EA9-3C1D1D850568}"/>
              </a:ext>
            </a:extLst>
          </p:cNvPr>
          <p:cNvSpPr>
            <a:spLocks noGrp="1"/>
          </p:cNvSpPr>
          <p:nvPr>
            <p:ph type="title"/>
          </p:nvPr>
        </p:nvSpPr>
        <p:spPr>
          <a:xfrm>
            <a:off x="2808000" y="144000"/>
            <a:ext cx="3528000" cy="338554"/>
          </a:xfrm>
        </p:spPr>
        <p:txBody>
          <a:bodyPr/>
          <a:lstStyle/>
          <a:p>
            <a:r>
              <a:rPr lang="en-US" altLang="zh-CN" dirty="0"/>
              <a:t>SYN</a:t>
            </a:r>
            <a:endParaRPr lang="zh-CN" altLang="en-US" dirty="0"/>
          </a:p>
        </p:txBody>
      </p:sp>
    </p:spTree>
    <p:extLst>
      <p:ext uri="{BB962C8B-B14F-4D97-AF65-F5344CB8AC3E}">
        <p14:creationId xmlns:p14="http://schemas.microsoft.com/office/powerpoint/2010/main" val="14336398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097459" y="3528827"/>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终止 </a:t>
            </a:r>
            <a:r>
              <a:rPr lang="en-US" altLang="zh-CN" sz="1600" b="1" dirty="0">
                <a:solidFill>
                  <a:schemeClr val="bg1"/>
                </a:solidFill>
                <a:latin typeface="微软雅黑" pitchFamily="34" charset="-122"/>
                <a:ea typeface="微软雅黑" pitchFamily="34" charset="-122"/>
              </a:rPr>
              <a:t>FIN (</a:t>
            </a:r>
            <a:r>
              <a:rPr lang="en-US" altLang="zh-CN" sz="1600" b="1" dirty="0" err="1">
                <a:solidFill>
                  <a:schemeClr val="bg1"/>
                </a:solidFill>
                <a:latin typeface="微软雅黑" pitchFamily="34" charset="-122"/>
                <a:ea typeface="微软雅黑" pitchFamily="34" charset="-122"/>
              </a:rPr>
              <a:t>FINish</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：控制位。用来释放一个连接。</a:t>
            </a:r>
            <a:endParaRPr lang="en-US" altLang="zh-CN" sz="1600" b="1" dirty="0">
              <a:solidFill>
                <a:schemeClr val="bg1"/>
              </a:solidFill>
              <a:latin typeface="微软雅黑" pitchFamily="34" charset="-122"/>
              <a:ea typeface="微软雅黑" pitchFamily="34" charset="-122"/>
            </a:endParaRPr>
          </a:p>
          <a:p>
            <a:pPr algn="ctr">
              <a:lnSpc>
                <a:spcPct val="110000"/>
              </a:lnSpc>
            </a:pPr>
            <a:r>
              <a:rPr lang="en-US" altLang="zh-CN" sz="1600" b="1" dirty="0">
                <a:solidFill>
                  <a:schemeClr val="bg1"/>
                </a:solidFill>
                <a:latin typeface="微软雅黑" pitchFamily="34" charset="-122"/>
                <a:ea typeface="微软雅黑" pitchFamily="34" charset="-122"/>
              </a:rPr>
              <a:t>FIN=1 </a:t>
            </a:r>
            <a:r>
              <a:rPr lang="zh-CN" altLang="en-US" sz="1600" b="1" dirty="0">
                <a:solidFill>
                  <a:schemeClr val="bg1"/>
                </a:solidFill>
                <a:latin typeface="微软雅黑" pitchFamily="34" charset="-122"/>
                <a:ea typeface="微软雅黑" pitchFamily="34" charset="-122"/>
              </a:rPr>
              <a:t>表明此报文段的发送端的数据已发送完毕，并要求释放运输连接。 </a:t>
            </a:r>
          </a:p>
        </p:txBody>
      </p:sp>
      <p:sp>
        <p:nvSpPr>
          <p:cNvPr id="86" name="Rectangle 104"/>
          <p:cNvSpPr>
            <a:spLocks noChangeArrowheads="1"/>
          </p:cNvSpPr>
          <p:nvPr/>
        </p:nvSpPr>
        <p:spPr bwMode="auto">
          <a:xfrm>
            <a:off x="4328552" y="2310709"/>
            <a:ext cx="190338" cy="43792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045242A2-7A2F-5488-36B3-C8AA249DC00D}"/>
              </a:ext>
            </a:extLst>
          </p:cNvPr>
          <p:cNvSpPr>
            <a:spLocks noGrp="1"/>
          </p:cNvSpPr>
          <p:nvPr>
            <p:ph type="title"/>
          </p:nvPr>
        </p:nvSpPr>
        <p:spPr>
          <a:xfrm>
            <a:off x="2808000" y="144000"/>
            <a:ext cx="3528000" cy="338554"/>
          </a:xfrm>
        </p:spPr>
        <p:txBody>
          <a:bodyPr/>
          <a:lstStyle/>
          <a:p>
            <a:r>
              <a:rPr lang="en-US" altLang="zh-CN" dirty="0"/>
              <a:t>FIN</a:t>
            </a:r>
            <a:endParaRPr lang="zh-CN" altLang="en-US" dirty="0"/>
          </a:p>
        </p:txBody>
      </p:sp>
    </p:spTree>
    <p:extLst>
      <p:ext uri="{BB962C8B-B14F-4D97-AF65-F5344CB8AC3E}">
        <p14:creationId xmlns:p14="http://schemas.microsoft.com/office/powerpoint/2010/main" val="12860475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620894" y="3528826"/>
            <a:ext cx="5761804" cy="904863"/>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窗口：占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窗口值告诉对方：从本报文段首部中的确认号算起，接收方目前允许对方发送的数据量（以字节为单位）。</a:t>
            </a:r>
            <a:endParaRPr lang="en-US" altLang="zh-CN" sz="1600" b="1" dirty="0">
              <a:solidFill>
                <a:schemeClr val="bg1"/>
              </a:solidFill>
              <a:latin typeface="微软雅黑" pitchFamily="34" charset="-122"/>
              <a:ea typeface="微软雅黑" pitchFamily="34" charset="-122"/>
            </a:endParaRPr>
          </a:p>
        </p:txBody>
      </p:sp>
      <p:sp>
        <p:nvSpPr>
          <p:cNvPr id="84" name="Rectangle 104"/>
          <p:cNvSpPr>
            <a:spLocks noChangeArrowheads="1"/>
          </p:cNvSpPr>
          <p:nvPr/>
        </p:nvSpPr>
        <p:spPr bwMode="auto">
          <a:xfrm flipH="1">
            <a:off x="4518888" y="2315995"/>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8"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2"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2" name="矩形 1"/>
          <p:cNvSpPr/>
          <p:nvPr/>
        </p:nvSpPr>
        <p:spPr>
          <a:xfrm>
            <a:off x="1106424" y="4434611"/>
            <a:ext cx="6986016" cy="323165"/>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pPr algn="ctr"/>
            <a:r>
              <a:rPr lang="zh-CN" altLang="en-US" sz="1500" b="1" dirty="0">
                <a:solidFill>
                  <a:srgbClr val="000099"/>
                </a:solidFill>
                <a:latin typeface="微软雅黑" panose="020B0503020204020204" pitchFamily="34" charset="-122"/>
                <a:ea typeface="微软雅黑" panose="020B0503020204020204" pitchFamily="34" charset="-122"/>
              </a:rPr>
              <a:t>记住：窗口字段明确指出了现在允许对方发送的数据量。窗口值经常在</a:t>
            </a:r>
            <a:r>
              <a:rPr lang="zh-CN" altLang="en-US" sz="1500" b="1" dirty="0">
                <a:solidFill>
                  <a:srgbClr val="C00000"/>
                </a:solidFill>
                <a:latin typeface="微软雅黑" panose="020B0503020204020204" pitchFamily="34" charset="-122"/>
                <a:ea typeface="微软雅黑" panose="020B0503020204020204" pitchFamily="34" charset="-122"/>
              </a:rPr>
              <a:t>动态变化。</a:t>
            </a:r>
          </a:p>
        </p:txBody>
      </p:sp>
      <p:sp>
        <p:nvSpPr>
          <p:cNvPr id="5" name="标题 4">
            <a:extLst>
              <a:ext uri="{FF2B5EF4-FFF2-40B4-BE49-F238E27FC236}">
                <a16:creationId xmlns:a16="http://schemas.microsoft.com/office/drawing/2014/main" id="{CC31D665-7B92-DF22-A713-1C65165284D1}"/>
              </a:ext>
            </a:extLst>
          </p:cNvPr>
          <p:cNvSpPr>
            <a:spLocks noGrp="1"/>
          </p:cNvSpPr>
          <p:nvPr>
            <p:ph type="title"/>
          </p:nvPr>
        </p:nvSpPr>
        <p:spPr>
          <a:xfrm>
            <a:off x="2808000" y="144000"/>
            <a:ext cx="3528000" cy="338554"/>
          </a:xfrm>
        </p:spPr>
        <p:txBody>
          <a:bodyPr/>
          <a:lstStyle/>
          <a:p>
            <a:r>
              <a:rPr lang="en-US" altLang="zh-CN" dirty="0"/>
              <a:t>Window</a:t>
            </a:r>
            <a:endParaRPr lang="zh-CN" altLang="en-US" dirty="0"/>
          </a:p>
        </p:txBody>
      </p:sp>
    </p:spTree>
    <p:extLst>
      <p:ext uri="{BB962C8B-B14F-4D97-AF65-F5344CB8AC3E}">
        <p14:creationId xmlns:p14="http://schemas.microsoft.com/office/powerpoint/2010/main" val="39463205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Line 3"/>
          <p:cNvSpPr>
            <a:spLocks noChangeShapeType="1"/>
          </p:cNvSpPr>
          <p:nvPr/>
        </p:nvSpPr>
        <p:spPr bwMode="auto">
          <a:xfrm flipH="1">
            <a:off x="1909886" y="1614653"/>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609281"/>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2217076"/>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612861"/>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200940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240147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79264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3182924"/>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574992"/>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617337"/>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688947"/>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758323"/>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3260800"/>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622433"/>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688947"/>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2061911"/>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798017"/>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3260800"/>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847990"/>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470090"/>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798017"/>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793541"/>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798017"/>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798017"/>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798017"/>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798017"/>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798017"/>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856046"/>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786813"/>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786813"/>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786813"/>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786813"/>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786813"/>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786813"/>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584838"/>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622433"/>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599434"/>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570516"/>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620917"/>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933045"/>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1106424" y="3992856"/>
            <a:ext cx="6986016"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检验和：占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字节。检验和字段检验的范围包括首部和数据这两部分。</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在计算检验和时，要在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报文段的前面加上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p>
        </p:txBody>
      </p:sp>
      <p:sp>
        <p:nvSpPr>
          <p:cNvPr id="86" name="Rectangle 104"/>
          <p:cNvSpPr>
            <a:spLocks noChangeArrowheads="1"/>
          </p:cNvSpPr>
          <p:nvPr/>
        </p:nvSpPr>
        <p:spPr bwMode="auto">
          <a:xfrm flipH="1">
            <a:off x="2162453" y="3177774"/>
            <a:ext cx="2334259"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1246502"/>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594601"/>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A49A2CEE-63CD-D8FF-3D51-B80B5F2365A1}"/>
              </a:ext>
            </a:extLst>
          </p:cNvPr>
          <p:cNvSpPr>
            <a:spLocks noGrp="1"/>
          </p:cNvSpPr>
          <p:nvPr>
            <p:ph type="title"/>
          </p:nvPr>
        </p:nvSpPr>
        <p:spPr>
          <a:xfrm>
            <a:off x="2808000" y="144000"/>
            <a:ext cx="3528000" cy="338554"/>
          </a:xfrm>
        </p:spPr>
        <p:txBody>
          <a:bodyPr/>
          <a:lstStyle/>
          <a:p>
            <a:r>
              <a:rPr lang="zh-CN" altLang="en-US" dirty="0"/>
              <a:t>校验和</a:t>
            </a:r>
          </a:p>
        </p:txBody>
      </p:sp>
    </p:spTree>
    <p:extLst>
      <p:ext uri="{BB962C8B-B14F-4D97-AF65-F5344CB8AC3E}">
        <p14:creationId xmlns:p14="http://schemas.microsoft.com/office/powerpoint/2010/main" val="1764896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55"/>
          <p:cNvSpPr txBox="1">
            <a:spLocks noChangeArrowheads="1"/>
          </p:cNvSpPr>
          <p:nvPr/>
        </p:nvSpPr>
        <p:spPr bwMode="auto">
          <a:xfrm>
            <a:off x="1288036" y="816315"/>
            <a:ext cx="6593695"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在计算检验和时，临时把 </a:t>
            </a:r>
            <a:r>
              <a:rPr lang="en-US" altLang="zh-CN" sz="1600" b="1" dirty="0">
                <a:solidFill>
                  <a:schemeClr val="bg1"/>
                </a:solidFill>
                <a:latin typeface="微软雅黑" pitchFamily="34" charset="-122"/>
                <a:ea typeface="微软雅黑" pitchFamily="34" charset="-122"/>
              </a:rPr>
              <a:t>12 </a:t>
            </a:r>
            <a:r>
              <a:rPr lang="zh-CN" altLang="en-US" sz="1600" b="1" dirty="0">
                <a:solidFill>
                  <a:schemeClr val="bg1"/>
                </a:solidFill>
                <a:latin typeface="微软雅黑" pitchFamily="34" charset="-122"/>
                <a:ea typeface="微软雅黑" pitchFamily="34" charset="-122"/>
              </a:rPr>
              <a:t>字节的“</a:t>
            </a:r>
            <a:r>
              <a:rPr lang="zh-CN" altLang="en-US" sz="1600" b="1" dirty="0">
                <a:solidFill>
                  <a:srgbClr val="FFC000"/>
                </a:solidFill>
                <a:latin typeface="微软雅黑" pitchFamily="34" charset="-122"/>
                <a:ea typeface="微软雅黑" pitchFamily="34" charset="-122"/>
              </a:rPr>
              <a:t>伪首部</a:t>
            </a:r>
            <a:r>
              <a:rPr lang="zh-CN" altLang="en-US" sz="1600" b="1" dirty="0">
                <a:solidFill>
                  <a:schemeClr val="bg1"/>
                </a:solidFill>
                <a:latin typeface="微软雅黑" pitchFamily="34" charset="-122"/>
                <a:ea typeface="微软雅黑" pitchFamily="34" charset="-122"/>
              </a:rPr>
              <a:t>”和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报文段连接在一起。伪首部仅仅是为了计算检验和。</a:t>
            </a:r>
          </a:p>
        </p:txBody>
      </p:sp>
      <p:sp>
        <p:nvSpPr>
          <p:cNvPr id="4" name="Rectangle 2"/>
          <p:cNvSpPr>
            <a:spLocks noChangeArrowheads="1"/>
          </p:cNvSpPr>
          <p:nvPr/>
        </p:nvSpPr>
        <p:spPr bwMode="auto">
          <a:xfrm>
            <a:off x="2898378" y="3648253"/>
            <a:ext cx="772600" cy="302048"/>
          </a:xfrm>
          <a:prstGeom prst="rect">
            <a:avLst/>
          </a:prstGeom>
          <a:solidFill>
            <a:srgbClr val="0033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 name="Freeform 3"/>
          <p:cNvSpPr>
            <a:spLocks/>
          </p:cNvSpPr>
          <p:nvPr/>
        </p:nvSpPr>
        <p:spPr bwMode="auto">
          <a:xfrm>
            <a:off x="3314219" y="2832868"/>
            <a:ext cx="3316500" cy="231247"/>
          </a:xfrm>
          <a:custGeom>
            <a:avLst/>
            <a:gdLst>
              <a:gd name="T0" fmla="*/ 0 w 2919"/>
              <a:gd name="T1" fmla="*/ 0 h 276"/>
              <a:gd name="T2" fmla="*/ 2919 w 2919"/>
              <a:gd name="T3" fmla="*/ 0 h 276"/>
              <a:gd name="T4" fmla="*/ 1066 w 2919"/>
              <a:gd name="T5" fmla="*/ 276 h 276"/>
              <a:gd name="T6" fmla="*/ 346 w 2919"/>
              <a:gd name="T7" fmla="*/ 268 h 276"/>
              <a:gd name="T8" fmla="*/ 0 w 2919"/>
              <a:gd name="T9" fmla="*/ 0 h 276"/>
            </a:gdLst>
            <a:ahLst/>
            <a:cxnLst>
              <a:cxn ang="0">
                <a:pos x="T0" y="T1"/>
              </a:cxn>
              <a:cxn ang="0">
                <a:pos x="T2" y="T3"/>
              </a:cxn>
              <a:cxn ang="0">
                <a:pos x="T4" y="T5"/>
              </a:cxn>
              <a:cxn ang="0">
                <a:pos x="T6" y="T7"/>
              </a:cxn>
              <a:cxn ang="0">
                <a:pos x="T8" y="T9"/>
              </a:cxn>
            </a:cxnLst>
            <a:rect l="0" t="0" r="r" b="b"/>
            <a:pathLst>
              <a:path w="2919" h="276">
                <a:moveTo>
                  <a:pt x="0" y="0"/>
                </a:moveTo>
                <a:lnTo>
                  <a:pt x="2919" y="0"/>
                </a:lnTo>
                <a:lnTo>
                  <a:pt x="1066" y="276"/>
                </a:lnTo>
                <a:lnTo>
                  <a:pt x="346" y="268"/>
                </a:lnTo>
                <a:lnTo>
                  <a:pt x="0" y="0"/>
                </a:lnTo>
                <a:close/>
              </a:path>
            </a:pathLst>
          </a:custGeom>
          <a:gradFill rotWithShape="1">
            <a:gsLst>
              <a:gs pos="0">
                <a:srgbClr val="00B0F0"/>
              </a:gs>
              <a:gs pos="100000">
                <a:srgbClr val="FF99FF"/>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7" name="AutoShape 6"/>
          <p:cNvSpPr>
            <a:spLocks noChangeArrowheads="1"/>
          </p:cNvSpPr>
          <p:nvPr/>
        </p:nvSpPr>
        <p:spPr bwMode="auto">
          <a:xfrm>
            <a:off x="2326881" y="3708034"/>
            <a:ext cx="571498" cy="190878"/>
          </a:xfrm>
          <a:prstGeom prst="leftArrow">
            <a:avLst>
              <a:gd name="adj1" fmla="val 50000"/>
              <a:gd name="adj2" fmla="val 69093"/>
            </a:avLst>
          </a:prstGeom>
          <a:solidFill>
            <a:srgbClr val="CC00CC"/>
          </a:solidFill>
          <a:ln w="1270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8" name="Freeform 7"/>
          <p:cNvSpPr>
            <a:spLocks/>
          </p:cNvSpPr>
          <p:nvPr/>
        </p:nvSpPr>
        <p:spPr bwMode="auto">
          <a:xfrm>
            <a:off x="1912176" y="2160248"/>
            <a:ext cx="4787850" cy="370572"/>
          </a:xfrm>
          <a:custGeom>
            <a:avLst/>
            <a:gdLst>
              <a:gd name="T0" fmla="*/ 0 w 3600"/>
              <a:gd name="T1" fmla="*/ 0 h 432"/>
              <a:gd name="T2" fmla="*/ 3600 w 3600"/>
              <a:gd name="T3" fmla="*/ 0 h 432"/>
              <a:gd name="T4" fmla="*/ 1056 w 3600"/>
              <a:gd name="T5" fmla="*/ 432 h 432"/>
              <a:gd name="T6" fmla="*/ 384 w 3600"/>
              <a:gd name="T7" fmla="*/ 432 h 432"/>
              <a:gd name="T8" fmla="*/ 0 w 3600"/>
              <a:gd name="T9" fmla="*/ 0 h 432"/>
            </a:gdLst>
            <a:ahLst/>
            <a:cxnLst>
              <a:cxn ang="0">
                <a:pos x="T0" y="T1"/>
              </a:cxn>
              <a:cxn ang="0">
                <a:pos x="T2" y="T3"/>
              </a:cxn>
              <a:cxn ang="0">
                <a:pos x="T4" y="T5"/>
              </a:cxn>
              <a:cxn ang="0">
                <a:pos x="T6" y="T7"/>
              </a:cxn>
              <a:cxn ang="0">
                <a:pos x="T8" y="T9"/>
              </a:cxn>
            </a:cxnLst>
            <a:rect l="0" t="0" r="r" b="b"/>
            <a:pathLst>
              <a:path w="3600" h="432">
                <a:moveTo>
                  <a:pt x="0" y="0"/>
                </a:moveTo>
                <a:lnTo>
                  <a:pt x="3600" y="0"/>
                </a:lnTo>
                <a:lnTo>
                  <a:pt x="1056" y="432"/>
                </a:lnTo>
                <a:lnTo>
                  <a:pt x="384" y="432"/>
                </a:lnTo>
                <a:lnTo>
                  <a:pt x="0" y="0"/>
                </a:lnTo>
                <a:close/>
              </a:path>
            </a:pathLst>
          </a:custGeom>
          <a:gradFill rotWithShape="1">
            <a:gsLst>
              <a:gs pos="0">
                <a:srgbClr val="66FF99"/>
              </a:gs>
              <a:gs pos="100000">
                <a:srgbClr val="00B0F0"/>
              </a:gs>
            </a:gsLst>
            <a:lin ang="5400000" scaled="1"/>
          </a:gra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9" name="Rectangle 8"/>
          <p:cNvSpPr>
            <a:spLocks noChangeArrowheads="1"/>
          </p:cNvSpPr>
          <p:nvPr/>
        </p:nvSpPr>
        <p:spPr bwMode="auto">
          <a:xfrm>
            <a:off x="3314219" y="2530820"/>
            <a:ext cx="3316500" cy="302048"/>
          </a:xfrm>
          <a:prstGeom prst="rect">
            <a:avLst/>
          </a:prstGeom>
          <a:solidFill>
            <a:srgbClr val="00FFFF"/>
          </a:solidFill>
          <a:ln w="19050">
            <a:solidFill>
              <a:schemeClr val="tx1"/>
            </a:solidFill>
            <a:miter lim="800000"/>
            <a:headEnd/>
            <a:tailEnd/>
          </a:ln>
          <a:effectLst/>
        </p:spPr>
        <p:txBody>
          <a:bodyPr wrap="none" anchor="ctr"/>
          <a:lstStyle/>
          <a:p>
            <a:pPr algn="ctr"/>
            <a:r>
              <a:rPr lang="en-US" altLang="zh-CN" sz="1200" b="1" dirty="0">
                <a:latin typeface="微软雅黑" pitchFamily="34" charset="-122"/>
                <a:ea typeface="微软雅黑" pitchFamily="34" charset="-122"/>
              </a:rPr>
              <a:t>TCP </a:t>
            </a:r>
            <a:r>
              <a:rPr lang="zh-CN" altLang="en-US" sz="1200" b="1" dirty="0">
                <a:latin typeface="微软雅黑" pitchFamily="34" charset="-122"/>
                <a:ea typeface="微软雅黑" pitchFamily="34" charset="-122"/>
              </a:rPr>
              <a:t>首部</a:t>
            </a:r>
          </a:p>
        </p:txBody>
      </p:sp>
      <p:sp>
        <p:nvSpPr>
          <p:cNvPr id="12" name="Rectangle 11"/>
          <p:cNvSpPr>
            <a:spLocks noChangeArrowheads="1"/>
          </p:cNvSpPr>
          <p:nvPr/>
        </p:nvSpPr>
        <p:spPr bwMode="auto">
          <a:xfrm>
            <a:off x="1915585" y="1858200"/>
            <a:ext cx="4784441" cy="302048"/>
          </a:xfrm>
          <a:prstGeom prst="rect">
            <a:avLst/>
          </a:prstGeom>
          <a:solidFill>
            <a:srgbClr val="99FFCC"/>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2"/>
          <p:cNvSpPr>
            <a:spLocks noChangeShapeType="1"/>
          </p:cNvSpPr>
          <p:nvPr/>
        </p:nvSpPr>
        <p:spPr bwMode="auto">
          <a:xfrm>
            <a:off x="3508505" y="1858200"/>
            <a:ext cx="2273"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Freeform 15"/>
          <p:cNvSpPr>
            <a:spLocks/>
          </p:cNvSpPr>
          <p:nvPr/>
        </p:nvSpPr>
        <p:spPr bwMode="auto">
          <a:xfrm>
            <a:off x="2420047" y="2530820"/>
            <a:ext cx="894172" cy="302048"/>
          </a:xfrm>
          <a:custGeom>
            <a:avLst/>
            <a:gdLst>
              <a:gd name="T0" fmla="*/ 672 w 672"/>
              <a:gd name="T1" fmla="*/ 288 h 288"/>
              <a:gd name="T2" fmla="*/ 0 w 672"/>
              <a:gd name="T3" fmla="*/ 288 h 288"/>
              <a:gd name="T4" fmla="*/ 0 w 672"/>
              <a:gd name="T5" fmla="*/ 0 h 288"/>
              <a:gd name="T6" fmla="*/ 672 w 672"/>
              <a:gd name="T7" fmla="*/ 0 h 288"/>
            </a:gdLst>
            <a:ahLst/>
            <a:cxnLst>
              <a:cxn ang="0">
                <a:pos x="T0" y="T1"/>
              </a:cxn>
              <a:cxn ang="0">
                <a:pos x="T2" y="T3"/>
              </a:cxn>
              <a:cxn ang="0">
                <a:pos x="T4" y="T5"/>
              </a:cxn>
              <a:cxn ang="0">
                <a:pos x="T6" y="T7"/>
              </a:cxn>
            </a:cxnLst>
            <a:rect l="0" t="0" r="r" b="b"/>
            <a:pathLst>
              <a:path w="672" h="288">
                <a:moveTo>
                  <a:pt x="672" y="288"/>
                </a:moveTo>
                <a:lnTo>
                  <a:pt x="0" y="288"/>
                </a:lnTo>
                <a:lnTo>
                  <a:pt x="0" y="0"/>
                </a:lnTo>
                <a:lnTo>
                  <a:pt x="672" y="0"/>
                </a:lnTo>
              </a:path>
            </a:pathLst>
          </a:custGeom>
          <a:solidFill>
            <a:srgbClr val="0000FF"/>
          </a:solidFill>
          <a:ln w="19050" cap="flat" cmpd="sng">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Text Box 16"/>
          <p:cNvSpPr txBox="1">
            <a:spLocks noChangeArrowheads="1"/>
          </p:cNvSpPr>
          <p:nvPr/>
        </p:nvSpPr>
        <p:spPr bwMode="auto">
          <a:xfrm>
            <a:off x="2522412" y="2537867"/>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伪首部</a:t>
            </a:r>
          </a:p>
        </p:txBody>
      </p:sp>
      <p:sp>
        <p:nvSpPr>
          <p:cNvPr id="23" name="Text Box 22"/>
          <p:cNvSpPr txBox="1">
            <a:spLocks noChangeArrowheads="1"/>
          </p:cNvSpPr>
          <p:nvPr/>
        </p:nvSpPr>
        <p:spPr bwMode="auto">
          <a:xfrm>
            <a:off x="2982509" y="3668476"/>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24" name="Line 23"/>
          <p:cNvSpPr>
            <a:spLocks noChangeShapeType="1"/>
          </p:cNvSpPr>
          <p:nvPr/>
        </p:nvSpPr>
        <p:spPr bwMode="auto">
          <a:xfrm>
            <a:off x="510597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Line 24"/>
          <p:cNvSpPr>
            <a:spLocks noChangeShapeType="1"/>
          </p:cNvSpPr>
          <p:nvPr/>
        </p:nvSpPr>
        <p:spPr bwMode="auto">
          <a:xfrm>
            <a:off x="5487725" y="1858200"/>
            <a:ext cx="1136"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6" name="Line 25"/>
          <p:cNvSpPr>
            <a:spLocks noChangeShapeType="1"/>
          </p:cNvSpPr>
          <p:nvPr/>
        </p:nvSpPr>
        <p:spPr bwMode="auto">
          <a:xfrm>
            <a:off x="5869480" y="1858200"/>
            <a:ext cx="0" cy="3020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Text Box 26"/>
          <p:cNvSpPr txBox="1">
            <a:spLocks noChangeArrowheads="1"/>
          </p:cNvSpPr>
          <p:nvPr/>
        </p:nvSpPr>
        <p:spPr bwMode="auto">
          <a:xfrm>
            <a:off x="5789881" y="188353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TCP </a:t>
            </a:r>
            <a:r>
              <a:rPr kumimoji="1" lang="zh-CN" altLang="en-US" sz="1200" b="1" dirty="0">
                <a:latin typeface="微软雅黑" pitchFamily="34" charset="-122"/>
                <a:ea typeface="微软雅黑" pitchFamily="34" charset="-122"/>
              </a:rPr>
              <a:t>总长度</a:t>
            </a:r>
          </a:p>
        </p:txBody>
      </p:sp>
      <p:sp>
        <p:nvSpPr>
          <p:cNvPr id="28" name="Text Box 27"/>
          <p:cNvSpPr txBox="1">
            <a:spLocks noChangeArrowheads="1"/>
          </p:cNvSpPr>
          <p:nvPr/>
        </p:nvSpPr>
        <p:spPr bwMode="auto">
          <a:xfrm>
            <a:off x="2229388" y="1883535"/>
            <a:ext cx="89159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源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29" name="Text Box 28"/>
          <p:cNvSpPr txBox="1">
            <a:spLocks noChangeArrowheads="1"/>
          </p:cNvSpPr>
          <p:nvPr/>
        </p:nvSpPr>
        <p:spPr bwMode="auto">
          <a:xfrm>
            <a:off x="3778106" y="1883535"/>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目的 </a:t>
            </a:r>
            <a:r>
              <a:rPr kumimoji="1" lang="en-US" altLang="zh-CN" sz="1200" b="1" dirty="0">
                <a:latin typeface="微软雅黑" pitchFamily="34" charset="-122"/>
                <a:ea typeface="微软雅黑" pitchFamily="34" charset="-122"/>
              </a:rPr>
              <a:t>IP </a:t>
            </a:r>
            <a:r>
              <a:rPr kumimoji="1" lang="zh-CN" altLang="en-US" sz="1200" b="1" dirty="0">
                <a:latin typeface="微软雅黑" pitchFamily="34" charset="-122"/>
                <a:ea typeface="微软雅黑" pitchFamily="34" charset="-122"/>
              </a:rPr>
              <a:t>地址</a:t>
            </a:r>
          </a:p>
        </p:txBody>
      </p:sp>
      <p:sp>
        <p:nvSpPr>
          <p:cNvPr id="30" name="Text Box 29"/>
          <p:cNvSpPr txBox="1">
            <a:spLocks noChangeArrowheads="1"/>
          </p:cNvSpPr>
          <p:nvPr/>
        </p:nvSpPr>
        <p:spPr bwMode="auto">
          <a:xfrm>
            <a:off x="5178684"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latin typeface="微软雅黑" pitchFamily="34" charset="-122"/>
                <a:ea typeface="微软雅黑" pitchFamily="34" charset="-122"/>
              </a:rPr>
              <a:t>0</a:t>
            </a:r>
          </a:p>
        </p:txBody>
      </p:sp>
      <p:sp>
        <p:nvSpPr>
          <p:cNvPr id="31" name="Text Box 30"/>
          <p:cNvSpPr txBox="1">
            <a:spLocks noChangeArrowheads="1"/>
          </p:cNvSpPr>
          <p:nvPr/>
        </p:nvSpPr>
        <p:spPr bwMode="auto">
          <a:xfrm>
            <a:off x="5530901" y="1883535"/>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latin typeface="微软雅黑" pitchFamily="34" charset="-122"/>
                <a:ea typeface="微软雅黑" pitchFamily="34" charset="-122"/>
              </a:rPr>
              <a:t>6</a:t>
            </a:r>
          </a:p>
        </p:txBody>
      </p:sp>
      <p:sp>
        <p:nvSpPr>
          <p:cNvPr id="32" name="Line 31"/>
          <p:cNvSpPr>
            <a:spLocks noChangeShapeType="1"/>
          </p:cNvSpPr>
          <p:nvPr/>
        </p:nvSpPr>
        <p:spPr bwMode="auto">
          <a:xfrm>
            <a:off x="2867701" y="4103423"/>
            <a:ext cx="4719679" cy="0"/>
          </a:xfrm>
          <a:prstGeom prst="line">
            <a:avLst/>
          </a:prstGeom>
          <a:noFill/>
          <a:ln w="12700">
            <a:solidFill>
              <a:srgbClr val="3333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Text Box 34"/>
          <p:cNvSpPr txBox="1">
            <a:spLocks noChangeArrowheads="1"/>
          </p:cNvSpPr>
          <p:nvPr/>
        </p:nvSpPr>
        <p:spPr bwMode="auto">
          <a:xfrm>
            <a:off x="1480429" y="1642021"/>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36" name="Text Box 35"/>
          <p:cNvSpPr txBox="1">
            <a:spLocks noChangeArrowheads="1"/>
          </p:cNvSpPr>
          <p:nvPr/>
        </p:nvSpPr>
        <p:spPr bwMode="auto">
          <a:xfrm>
            <a:off x="2585929"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7" name="Text Box 36"/>
          <p:cNvSpPr txBox="1">
            <a:spLocks noChangeArrowheads="1"/>
          </p:cNvSpPr>
          <p:nvPr/>
        </p:nvSpPr>
        <p:spPr bwMode="auto">
          <a:xfrm>
            <a:off x="4179985"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4</a:t>
            </a:r>
          </a:p>
        </p:txBody>
      </p:sp>
      <p:sp>
        <p:nvSpPr>
          <p:cNvPr id="38" name="Text Box 37"/>
          <p:cNvSpPr txBox="1">
            <a:spLocks noChangeArrowheads="1"/>
          </p:cNvSpPr>
          <p:nvPr/>
        </p:nvSpPr>
        <p:spPr bwMode="auto">
          <a:xfrm>
            <a:off x="517868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39" name="Text Box 38"/>
          <p:cNvSpPr txBox="1">
            <a:spLocks noChangeArrowheads="1"/>
          </p:cNvSpPr>
          <p:nvPr/>
        </p:nvSpPr>
        <p:spPr bwMode="auto">
          <a:xfrm>
            <a:off x="5551351"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a:t>
            </a:r>
          </a:p>
        </p:txBody>
      </p:sp>
      <p:sp>
        <p:nvSpPr>
          <p:cNvPr id="40" name="Text Box 39"/>
          <p:cNvSpPr txBox="1">
            <a:spLocks noChangeArrowheads="1"/>
          </p:cNvSpPr>
          <p:nvPr/>
        </p:nvSpPr>
        <p:spPr bwMode="auto">
          <a:xfrm>
            <a:off x="6114894" y="1627338"/>
            <a:ext cx="2792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2</a:t>
            </a:r>
          </a:p>
        </p:txBody>
      </p:sp>
      <p:sp>
        <p:nvSpPr>
          <p:cNvPr id="41" name="Text Box 40"/>
          <p:cNvSpPr txBox="1">
            <a:spLocks noChangeArrowheads="1"/>
          </p:cNvSpPr>
          <p:nvPr/>
        </p:nvSpPr>
        <p:spPr bwMode="auto">
          <a:xfrm>
            <a:off x="2675687" y="2281210"/>
            <a:ext cx="3738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a:solidFill>
                  <a:srgbClr val="0033CC"/>
                </a:solidFill>
                <a:latin typeface="微软雅黑" pitchFamily="34" charset="-122"/>
                <a:ea typeface="微软雅黑" pitchFamily="34" charset="-122"/>
              </a:rPr>
              <a:t>12</a:t>
            </a:r>
          </a:p>
        </p:txBody>
      </p:sp>
      <p:sp>
        <p:nvSpPr>
          <p:cNvPr id="46" name="Text Box 45"/>
          <p:cNvSpPr txBox="1">
            <a:spLocks noChangeArrowheads="1"/>
          </p:cNvSpPr>
          <p:nvPr/>
        </p:nvSpPr>
        <p:spPr bwMode="auto">
          <a:xfrm>
            <a:off x="1957142" y="2281210"/>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字节</a:t>
            </a:r>
          </a:p>
        </p:txBody>
      </p:sp>
      <p:sp>
        <p:nvSpPr>
          <p:cNvPr id="47" name="Text Box 46"/>
          <p:cNvSpPr txBox="1">
            <a:spLocks noChangeArrowheads="1"/>
          </p:cNvSpPr>
          <p:nvPr/>
        </p:nvSpPr>
        <p:spPr bwMode="auto">
          <a:xfrm>
            <a:off x="1928825" y="3947405"/>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rgbClr val="0033CC"/>
                </a:solidFill>
                <a:latin typeface="微软雅黑" pitchFamily="34" charset="-122"/>
                <a:ea typeface="微软雅黑" pitchFamily="34" charset="-122"/>
              </a:rPr>
              <a:t>发送在前</a:t>
            </a:r>
          </a:p>
        </p:txBody>
      </p:sp>
      <p:sp>
        <p:nvSpPr>
          <p:cNvPr id="51" name="Text Box 52"/>
          <p:cNvSpPr txBox="1">
            <a:spLocks noChangeArrowheads="1"/>
          </p:cNvSpPr>
          <p:nvPr/>
        </p:nvSpPr>
        <p:spPr bwMode="auto">
          <a:xfrm>
            <a:off x="2312929" y="3064115"/>
            <a:ext cx="9881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dirty="0">
                <a:solidFill>
                  <a:srgbClr val="0033CC"/>
                </a:solidFill>
                <a:latin typeface="微软雅黑" pitchFamily="34" charset="-122"/>
                <a:ea typeface="微软雅黑" pitchFamily="34" charset="-122"/>
              </a:rPr>
              <a:t>TCP </a:t>
            </a:r>
            <a:r>
              <a:rPr kumimoji="1" lang="zh-CN" altLang="en-US" sz="1200" b="1" dirty="0">
                <a:solidFill>
                  <a:srgbClr val="0033CC"/>
                </a:solidFill>
                <a:latin typeface="微软雅黑" pitchFamily="34" charset="-122"/>
                <a:ea typeface="微软雅黑" pitchFamily="34" charset="-122"/>
              </a:rPr>
              <a:t>报文段</a:t>
            </a:r>
          </a:p>
        </p:txBody>
      </p:sp>
      <p:sp>
        <p:nvSpPr>
          <p:cNvPr id="53" name="Rectangle 59"/>
          <p:cNvSpPr>
            <a:spLocks noChangeArrowheads="1"/>
          </p:cNvSpPr>
          <p:nvPr/>
        </p:nvSpPr>
        <p:spPr bwMode="auto">
          <a:xfrm flipH="1">
            <a:off x="2420048" y="2522346"/>
            <a:ext cx="897122" cy="305195"/>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a:latin typeface="微软雅黑" pitchFamily="34" charset="-122"/>
              <a:ea typeface="微软雅黑" pitchFamily="34" charset="-122"/>
            </a:endParaRPr>
          </a:p>
        </p:txBody>
      </p:sp>
      <p:sp>
        <p:nvSpPr>
          <p:cNvPr id="52" name="Rectangle 4"/>
          <p:cNvSpPr>
            <a:spLocks noChangeArrowheads="1"/>
          </p:cNvSpPr>
          <p:nvPr/>
        </p:nvSpPr>
        <p:spPr bwMode="auto">
          <a:xfrm>
            <a:off x="3673978" y="3373343"/>
            <a:ext cx="3907750" cy="287779"/>
          </a:xfrm>
          <a:prstGeom prst="rect">
            <a:avLst/>
          </a:prstGeom>
          <a:gradFill flip="none" rotWithShape="1">
            <a:gsLst>
              <a:gs pos="0">
                <a:srgbClr val="00FFFF"/>
              </a:gs>
              <a:gs pos="100000">
                <a:srgbClr val="00B0F0"/>
              </a:gs>
            </a:gsLst>
            <a:lin ang="16200000" scaled="1"/>
            <a:tileRect/>
          </a:gra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0" name="Rectangle 9"/>
          <p:cNvSpPr>
            <a:spLocks noChangeArrowheads="1"/>
          </p:cNvSpPr>
          <p:nvPr/>
        </p:nvSpPr>
        <p:spPr bwMode="auto">
          <a:xfrm>
            <a:off x="3670978" y="3650351"/>
            <a:ext cx="3916401" cy="302048"/>
          </a:xfrm>
          <a:prstGeom prst="rect">
            <a:avLst/>
          </a:prstGeom>
          <a:solidFill>
            <a:srgbClr val="00FFFF"/>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48" name="Rectangle 48"/>
          <p:cNvSpPr>
            <a:spLocks noChangeArrowheads="1"/>
          </p:cNvSpPr>
          <p:nvPr/>
        </p:nvSpPr>
        <p:spPr bwMode="auto">
          <a:xfrm>
            <a:off x="4443579" y="3064114"/>
            <a:ext cx="3143801" cy="302048"/>
          </a:xfrm>
          <a:prstGeom prst="rect">
            <a:avLst/>
          </a:prstGeom>
          <a:solidFill>
            <a:srgbClr val="66FF99"/>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6" name="Rectangle 4"/>
          <p:cNvSpPr>
            <a:spLocks noChangeArrowheads="1"/>
          </p:cNvSpPr>
          <p:nvPr/>
        </p:nvSpPr>
        <p:spPr bwMode="auto">
          <a:xfrm>
            <a:off x="3669842" y="3064114"/>
            <a:ext cx="773737" cy="302048"/>
          </a:xfrm>
          <a:prstGeom prst="rect">
            <a:avLst/>
          </a:prstGeom>
          <a:solidFill>
            <a:srgbClr val="CC00CC"/>
          </a:solidFill>
          <a:ln w="19050">
            <a:solidFill>
              <a:schemeClr val="tx1"/>
            </a:solidFill>
            <a:miter lim="800000"/>
            <a:headEnd/>
            <a:tailEnd/>
          </a:ln>
          <a:effectLst/>
        </p:spPr>
        <p:txBody>
          <a:bodyPr wrap="none" anchor="ctr"/>
          <a:lstStyle/>
          <a:p>
            <a:endParaRPr lang="zh-CN" altLang="en-US" sz="1200" b="1">
              <a:latin typeface="微软雅黑" pitchFamily="34" charset="-122"/>
              <a:ea typeface="微软雅黑" pitchFamily="34" charset="-122"/>
            </a:endParaRPr>
          </a:p>
        </p:txBody>
      </p:sp>
      <p:sp>
        <p:nvSpPr>
          <p:cNvPr id="50" name="Text Box 50"/>
          <p:cNvSpPr txBox="1">
            <a:spLocks noChangeArrowheads="1"/>
          </p:cNvSpPr>
          <p:nvPr/>
        </p:nvSpPr>
        <p:spPr bwMode="auto">
          <a:xfrm>
            <a:off x="3770962" y="3074144"/>
            <a:ext cx="58541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solidFill>
                  <a:schemeClr val="bg1"/>
                </a:solidFill>
                <a:latin typeface="微软雅黑" pitchFamily="34" charset="-122"/>
                <a:ea typeface="微软雅黑" pitchFamily="34" charset="-122"/>
              </a:rPr>
              <a:t>首  部</a:t>
            </a:r>
          </a:p>
        </p:txBody>
      </p:sp>
      <p:sp>
        <p:nvSpPr>
          <p:cNvPr id="33" name="Rectangle 32"/>
          <p:cNvSpPr>
            <a:spLocks noChangeArrowheads="1"/>
          </p:cNvSpPr>
          <p:nvPr/>
        </p:nvSpPr>
        <p:spPr bwMode="auto">
          <a:xfrm>
            <a:off x="4717397" y="4001691"/>
            <a:ext cx="839635" cy="192975"/>
          </a:xfrm>
          <a:prstGeom prst="rect">
            <a:avLst/>
          </a:prstGeom>
          <a:solidFill>
            <a:srgbClr val="C3E3F9"/>
          </a:solidFill>
          <a:ln>
            <a:noFill/>
          </a:ln>
          <a:effectLst/>
        </p:spPr>
        <p:txBody>
          <a:bodyPr wrap="none" anchor="ctr"/>
          <a:lstStyle/>
          <a:p>
            <a:endParaRPr lang="zh-CN" altLang="en-US" sz="1200" b="1">
              <a:latin typeface="微软雅黑" pitchFamily="34" charset="-122"/>
              <a:ea typeface="微软雅黑" pitchFamily="34" charset="-122"/>
            </a:endParaRPr>
          </a:p>
        </p:txBody>
      </p:sp>
      <p:sp>
        <p:nvSpPr>
          <p:cNvPr id="34" name="Text Box 33"/>
          <p:cNvSpPr txBox="1">
            <a:spLocks noChangeArrowheads="1"/>
          </p:cNvSpPr>
          <p:nvPr/>
        </p:nvSpPr>
        <p:spPr bwMode="auto">
          <a:xfrm>
            <a:off x="4693592" y="3971705"/>
            <a:ext cx="845103" cy="276999"/>
          </a:xfrm>
          <a:prstGeom prst="rect">
            <a:avLst/>
          </a:prstGeom>
          <a:solidFill>
            <a:srgbClr val="C3E3F9"/>
          </a:solidFill>
          <a:ln>
            <a:noFill/>
          </a:ln>
          <a:effectLst/>
        </p:spPr>
        <p:txBody>
          <a:bodyPr wrap="none">
            <a:spAutoFit/>
          </a:bodyPr>
          <a:lstStyle/>
          <a:p>
            <a:r>
              <a:rPr kumimoji="1" lang="en-US" altLang="zh-CN" sz="1200" b="1" dirty="0">
                <a:solidFill>
                  <a:srgbClr val="0033CC"/>
                </a:solidFill>
                <a:latin typeface="微软雅黑" pitchFamily="34" charset="-122"/>
                <a:ea typeface="微软雅黑" pitchFamily="34" charset="-122"/>
              </a:rPr>
              <a:t>IP </a:t>
            </a:r>
            <a:r>
              <a:rPr kumimoji="1" lang="zh-CN" altLang="en-US" sz="1200" b="1" dirty="0">
                <a:solidFill>
                  <a:srgbClr val="0033CC"/>
                </a:solidFill>
                <a:latin typeface="微软雅黑" pitchFamily="34" charset="-122"/>
                <a:ea typeface="微软雅黑" pitchFamily="34" charset="-122"/>
              </a:rPr>
              <a:t>数据报</a:t>
            </a:r>
          </a:p>
        </p:txBody>
      </p:sp>
      <p:sp>
        <p:nvSpPr>
          <p:cNvPr id="22" name="Text Box 21"/>
          <p:cNvSpPr txBox="1">
            <a:spLocks noChangeArrowheads="1"/>
          </p:cNvSpPr>
          <p:nvPr/>
        </p:nvSpPr>
        <p:spPr bwMode="auto">
          <a:xfrm>
            <a:off x="5160505" y="3677620"/>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
        <p:nvSpPr>
          <p:cNvPr id="49" name="Text Box 49"/>
          <p:cNvSpPr txBox="1">
            <a:spLocks noChangeArrowheads="1"/>
          </p:cNvSpPr>
          <p:nvPr/>
        </p:nvSpPr>
        <p:spPr bwMode="auto">
          <a:xfrm>
            <a:off x="5557032" y="3092432"/>
            <a:ext cx="91082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a:latin typeface="微软雅黑" pitchFamily="34" charset="-122"/>
                <a:ea typeface="微软雅黑" pitchFamily="34" charset="-122"/>
              </a:rPr>
              <a:t>数         据</a:t>
            </a:r>
          </a:p>
        </p:txBody>
      </p:sp>
    </p:spTree>
    <p:extLst>
      <p:ext uri="{BB962C8B-B14F-4D97-AF65-F5344CB8AC3E}">
        <p14:creationId xmlns:p14="http://schemas.microsoft.com/office/powerpoint/2010/main" val="1953030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250"/>
                                  </p:stCondLst>
                                  <p:endCondLst>
                                    <p:cond evt="onNext" delay="0">
                                      <p:tgtEl>
                                        <p:sldTgt/>
                                      </p:tgtEl>
                                    </p:cond>
                                  </p:endCondLst>
                                  <p:childTnLst>
                                    <p:anim calcmode="discrete" valueType="str">
                                      <p:cBhvr>
                                        <p:cTn id="6" dur="1000" fill="hold"/>
                                        <p:tgtEl>
                                          <p:spTgt spid="5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3"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9"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0"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21"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2"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3"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4"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5"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6"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7"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8"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9"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30"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6"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7"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8"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3"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4"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5"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6"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7"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8"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80"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3"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4" name="Text Box 155"/>
          <p:cNvSpPr txBox="1">
            <a:spLocks noChangeArrowheads="1"/>
          </p:cNvSpPr>
          <p:nvPr/>
        </p:nvSpPr>
        <p:spPr bwMode="auto">
          <a:xfrm>
            <a:off x="959224" y="3528826"/>
            <a:ext cx="7297270" cy="634020"/>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紧急指针：占 </a:t>
            </a:r>
            <a:r>
              <a:rPr lang="en-US" altLang="zh-CN" sz="1600" b="1" dirty="0">
                <a:solidFill>
                  <a:schemeClr val="bg1"/>
                </a:solidFill>
                <a:latin typeface="微软雅黑" pitchFamily="34" charset="-122"/>
                <a:ea typeface="微软雅黑" pitchFamily="34" charset="-122"/>
              </a:rPr>
              <a:t>2 </a:t>
            </a:r>
            <a:r>
              <a:rPr lang="zh-CN" altLang="en-US" sz="1600" b="1" dirty="0">
                <a:solidFill>
                  <a:schemeClr val="bg1"/>
                </a:solidFill>
                <a:latin typeface="微软雅黑" pitchFamily="34" charset="-122"/>
                <a:ea typeface="微软雅黑" pitchFamily="34" charset="-122"/>
              </a:rPr>
              <a:t>字节。在 </a:t>
            </a:r>
            <a:r>
              <a:rPr lang="en-US" altLang="zh-CN" sz="1600" b="1" dirty="0">
                <a:solidFill>
                  <a:schemeClr val="bg1"/>
                </a:solidFill>
                <a:latin typeface="微软雅黑" pitchFamily="34" charset="-122"/>
                <a:ea typeface="微软雅黑" pitchFamily="34" charset="-122"/>
              </a:rPr>
              <a:t>URG = 1</a:t>
            </a:r>
            <a:r>
              <a:rPr lang="zh-CN" altLang="en-US" sz="1600" b="1" dirty="0">
                <a:solidFill>
                  <a:schemeClr val="bg1"/>
                </a:solidFill>
                <a:latin typeface="微软雅黑" pitchFamily="34" charset="-122"/>
                <a:ea typeface="微软雅黑" pitchFamily="34" charset="-122"/>
              </a:rPr>
              <a:t>时，指出本报文段中的紧急数据的字节数（紧急数据结束后就是普通数据），指出了紧急数据的末尾在报文段中的位置。 </a:t>
            </a:r>
          </a:p>
        </p:txBody>
      </p:sp>
      <p:sp>
        <p:nvSpPr>
          <p:cNvPr id="86" name="Rectangle 104"/>
          <p:cNvSpPr>
            <a:spLocks noChangeArrowheads="1"/>
          </p:cNvSpPr>
          <p:nvPr/>
        </p:nvSpPr>
        <p:spPr bwMode="auto">
          <a:xfrm>
            <a:off x="4496711" y="2713745"/>
            <a:ext cx="2344800" cy="407291"/>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5" name="组合 84"/>
          <p:cNvGrpSpPr/>
          <p:nvPr/>
        </p:nvGrpSpPr>
        <p:grpSpPr>
          <a:xfrm>
            <a:off x="1827330" y="782473"/>
            <a:ext cx="5158580" cy="374416"/>
            <a:chOff x="1827330" y="782473"/>
            <a:chExt cx="5158580" cy="374416"/>
          </a:xfrm>
        </p:grpSpPr>
        <p:sp>
          <p:nvSpPr>
            <p:cNvPr id="89"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3"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4"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28687F51-ABB0-CF24-4C99-8BADBDB7B072}"/>
              </a:ext>
            </a:extLst>
          </p:cNvPr>
          <p:cNvSpPr>
            <a:spLocks noGrp="1"/>
          </p:cNvSpPr>
          <p:nvPr>
            <p:ph type="title"/>
          </p:nvPr>
        </p:nvSpPr>
        <p:spPr>
          <a:xfrm>
            <a:off x="2808000" y="144000"/>
            <a:ext cx="3528000" cy="338554"/>
          </a:xfrm>
        </p:spPr>
        <p:txBody>
          <a:bodyPr/>
          <a:lstStyle/>
          <a:p>
            <a:r>
              <a:rPr lang="zh-CN" altLang="en-US" dirty="0"/>
              <a:t>紧急指针</a:t>
            </a:r>
          </a:p>
        </p:txBody>
      </p:sp>
    </p:spTree>
    <p:extLst>
      <p:ext uri="{BB962C8B-B14F-4D97-AF65-F5344CB8AC3E}">
        <p14:creationId xmlns:p14="http://schemas.microsoft.com/office/powerpoint/2010/main" val="3552262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 grpId="1" animBg="1"/>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44325"/>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选项：长度可变，最长可达 </a:t>
            </a:r>
            <a:r>
              <a:rPr lang="en-US" altLang="zh-CN" sz="1600" b="1" dirty="0">
                <a:solidFill>
                  <a:schemeClr val="bg1"/>
                </a:solidFill>
                <a:latin typeface="微软雅黑" pitchFamily="34" charset="-122"/>
                <a:ea typeface="微软雅黑" pitchFamily="34" charset="-122"/>
              </a:rPr>
              <a:t>40 </a:t>
            </a:r>
            <a:r>
              <a:rPr lang="zh-CN" altLang="en-US" sz="1600" b="1" dirty="0">
                <a:solidFill>
                  <a:schemeClr val="bg1"/>
                </a:solidFill>
                <a:latin typeface="微软雅黑" pitchFamily="34" charset="-122"/>
                <a:ea typeface="微软雅黑" pitchFamily="34" charset="-122"/>
              </a:rPr>
              <a:t>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47FAFAFE-0D0B-04C8-D4FB-4D68A0E56D0B}"/>
              </a:ext>
            </a:extLst>
          </p:cNvPr>
          <p:cNvSpPr>
            <a:spLocks noGrp="1"/>
          </p:cNvSpPr>
          <p:nvPr>
            <p:ph type="title"/>
          </p:nvPr>
        </p:nvSpPr>
        <p:spPr>
          <a:xfrm>
            <a:off x="2808000" y="144000"/>
            <a:ext cx="3528000" cy="338554"/>
          </a:xfrm>
        </p:spPr>
        <p:txBody>
          <a:bodyPr/>
          <a:lstStyle/>
          <a:p>
            <a:r>
              <a:rPr lang="zh-CN" altLang="en-US" dirty="0"/>
              <a:t>选项</a:t>
            </a:r>
          </a:p>
        </p:txBody>
      </p:sp>
    </p:spTree>
    <p:extLst>
      <p:ext uri="{BB962C8B-B14F-4D97-AF65-F5344CB8AC3E}">
        <p14:creationId xmlns:p14="http://schemas.microsoft.com/office/powerpoint/2010/main" val="258010037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528829"/>
            <a:ext cx="7086600" cy="363176"/>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600" b="1" dirty="0">
                <a:solidFill>
                  <a:schemeClr val="bg1"/>
                </a:solidFill>
                <a:latin typeface="微软雅黑" pitchFamily="34" charset="-122"/>
                <a:ea typeface="微软雅黑" pitchFamily="34" charset="-122"/>
              </a:rPr>
              <a:t>填充：使整个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首部长度是 </a:t>
            </a:r>
            <a:r>
              <a:rPr lang="en-US" altLang="zh-CN" sz="1600" b="1" dirty="0">
                <a:solidFill>
                  <a:schemeClr val="bg1"/>
                </a:solidFill>
                <a:latin typeface="微软雅黑" pitchFamily="34" charset="-122"/>
                <a:ea typeface="微软雅黑" pitchFamily="34" charset="-122"/>
              </a:rPr>
              <a:t>4 </a:t>
            </a:r>
            <a:r>
              <a:rPr lang="zh-CN" altLang="en-US" sz="1600" b="1" dirty="0">
                <a:solidFill>
                  <a:schemeClr val="bg1"/>
                </a:solidFill>
                <a:latin typeface="微软雅黑" pitchFamily="34" charset="-122"/>
                <a:ea typeface="微软雅黑" pitchFamily="34" charset="-122"/>
              </a:rPr>
              <a:t>字节的整数倍。</a:t>
            </a:r>
          </a:p>
        </p:txBody>
      </p:sp>
      <p:sp>
        <p:nvSpPr>
          <p:cNvPr id="84" name="Rectangle 104"/>
          <p:cNvSpPr>
            <a:spLocks noChangeArrowheads="1"/>
          </p:cNvSpPr>
          <p:nvPr/>
        </p:nvSpPr>
        <p:spPr bwMode="auto">
          <a:xfrm>
            <a:off x="5668142" y="3110963"/>
            <a:ext cx="1185287"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
        <p:nvSpPr>
          <p:cNvPr id="4" name="标题 3">
            <a:extLst>
              <a:ext uri="{FF2B5EF4-FFF2-40B4-BE49-F238E27FC236}">
                <a16:creationId xmlns:a16="http://schemas.microsoft.com/office/drawing/2014/main" id="{FD1192AF-990D-BADD-130A-7FFDEA7D1066}"/>
              </a:ext>
            </a:extLst>
          </p:cNvPr>
          <p:cNvSpPr>
            <a:spLocks noGrp="1"/>
          </p:cNvSpPr>
          <p:nvPr>
            <p:ph type="title"/>
          </p:nvPr>
        </p:nvSpPr>
        <p:spPr>
          <a:xfrm>
            <a:off x="2808000" y="144000"/>
            <a:ext cx="3528000" cy="338554"/>
          </a:xfrm>
        </p:spPr>
        <p:txBody>
          <a:bodyPr/>
          <a:lstStyle/>
          <a:p>
            <a:r>
              <a:rPr lang="zh-CN" altLang="en-US" dirty="0"/>
              <a:t>填充</a:t>
            </a:r>
          </a:p>
        </p:txBody>
      </p:sp>
    </p:spTree>
    <p:extLst>
      <p:ext uri="{BB962C8B-B14F-4D97-AF65-F5344CB8AC3E}">
        <p14:creationId xmlns:p14="http://schemas.microsoft.com/office/powerpoint/2010/main" val="3767242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1" nodeType="afterEffect">
                                  <p:stCondLst>
                                    <p:cond delay="0"/>
                                  </p:stCondLst>
                                  <p:childTnLst>
                                    <p:anim calcmode="discrete" valueType="str">
                                      <p:cBhvr>
                                        <p:cTn id="6" dur="1000" fill="hold"/>
                                        <p:tgtEl>
                                          <p:spTgt spid="84"/>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1"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Line 3"/>
          <p:cNvSpPr>
            <a:spLocks noChangeShapeType="1"/>
          </p:cNvSpPr>
          <p:nvPr/>
        </p:nvSpPr>
        <p:spPr bwMode="auto">
          <a:xfrm flipH="1">
            <a:off x="1909886" y="1150624"/>
            <a:ext cx="10667" cy="2324658"/>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 name="Line 5"/>
          <p:cNvSpPr>
            <a:spLocks noChangeShapeType="1"/>
          </p:cNvSpPr>
          <p:nvPr/>
        </p:nvSpPr>
        <p:spPr bwMode="auto">
          <a:xfrm>
            <a:off x="7187795" y="1145252"/>
            <a:ext cx="0" cy="1953180"/>
          </a:xfrm>
          <a:prstGeom prst="line">
            <a:avLst/>
          </a:prstGeom>
          <a:noFill/>
          <a:ln w="12700">
            <a:solidFill>
              <a:srgbClr val="000099"/>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 name="Rectangle 6"/>
          <p:cNvSpPr>
            <a:spLocks noChangeArrowheads="1"/>
          </p:cNvSpPr>
          <p:nvPr/>
        </p:nvSpPr>
        <p:spPr bwMode="auto">
          <a:xfrm>
            <a:off x="6952074" y="1753047"/>
            <a:ext cx="452048" cy="736099"/>
          </a:xfrm>
          <a:prstGeom prst="rect">
            <a:avLst/>
          </a:prstGeom>
          <a:solidFill>
            <a:srgbClr val="C3E3F9"/>
          </a:solidFill>
          <a:ln>
            <a:noFill/>
          </a:ln>
          <a:effectLst/>
        </p:spPr>
        <p:txBody>
          <a:bodyPr wrap="none" lIns="90488" tIns="44450" rIns="90488" bIns="44450">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20</a:t>
            </a:r>
          </a:p>
          <a:p>
            <a:pPr algn="ctr" defTabSz="762000" eaLnBrk="0" hangingPunct="0"/>
            <a:r>
              <a:rPr kumimoji="1" lang="zh-CN" altLang="en-US" sz="1050" b="1" dirty="0">
                <a:solidFill>
                  <a:srgbClr val="0000FF"/>
                </a:solidFill>
                <a:latin typeface="微软雅黑" pitchFamily="34" charset="-122"/>
                <a:ea typeface="微软雅黑" pitchFamily="34" charset="-122"/>
              </a:rPr>
              <a:t>字节</a:t>
            </a:r>
          </a:p>
          <a:p>
            <a:pPr algn="ctr" defTabSz="762000" eaLnBrk="0" hangingPunct="0"/>
            <a:r>
              <a:rPr kumimoji="1" lang="zh-CN" altLang="en-US" sz="1050" b="1" dirty="0">
                <a:solidFill>
                  <a:srgbClr val="0000FF"/>
                </a:solidFill>
                <a:latin typeface="微软雅黑" pitchFamily="34" charset="-122"/>
                <a:ea typeface="微软雅黑" pitchFamily="34" charset="-122"/>
              </a:rPr>
              <a:t>固定</a:t>
            </a:r>
          </a:p>
          <a:p>
            <a:pPr algn="ctr" defTabSz="762000" eaLnBrk="0" hangingPunct="0"/>
            <a:r>
              <a:rPr kumimoji="1" lang="zh-CN" altLang="en-US" sz="1050" b="1" dirty="0">
                <a:solidFill>
                  <a:srgbClr val="0000FF"/>
                </a:solidFill>
                <a:latin typeface="微软雅黑" pitchFamily="34" charset="-122"/>
                <a:ea typeface="微软雅黑" pitchFamily="34" charset="-122"/>
              </a:rPr>
              <a:t>首部</a:t>
            </a:r>
          </a:p>
        </p:txBody>
      </p:sp>
      <p:sp>
        <p:nvSpPr>
          <p:cNvPr id="11" name="Rectangle 7"/>
          <p:cNvSpPr>
            <a:spLocks noChangeArrowheads="1"/>
          </p:cNvSpPr>
          <p:nvPr/>
        </p:nvSpPr>
        <p:spPr bwMode="auto">
          <a:xfrm>
            <a:off x="2154821" y="1148832"/>
            <a:ext cx="4695418" cy="2330925"/>
          </a:xfrm>
          <a:prstGeom prst="rect">
            <a:avLst/>
          </a:prstGeom>
          <a:solidFill>
            <a:srgbClr val="00FFFF"/>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 name="Line 10"/>
          <p:cNvSpPr>
            <a:spLocks noChangeShapeType="1"/>
          </p:cNvSpPr>
          <p:nvPr/>
        </p:nvSpPr>
        <p:spPr bwMode="auto">
          <a:xfrm>
            <a:off x="2149973" y="1545376"/>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3" name="Line 11"/>
          <p:cNvSpPr>
            <a:spLocks noChangeShapeType="1"/>
          </p:cNvSpPr>
          <p:nvPr/>
        </p:nvSpPr>
        <p:spPr bwMode="auto">
          <a:xfrm>
            <a:off x="2158700" y="1937444"/>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4" name="Line 12"/>
          <p:cNvSpPr>
            <a:spLocks noChangeShapeType="1"/>
          </p:cNvSpPr>
          <p:nvPr/>
        </p:nvSpPr>
        <p:spPr bwMode="auto">
          <a:xfrm>
            <a:off x="2149973" y="2328617"/>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5" name="Line 13"/>
          <p:cNvSpPr>
            <a:spLocks noChangeShapeType="1"/>
          </p:cNvSpPr>
          <p:nvPr/>
        </p:nvSpPr>
        <p:spPr bwMode="auto">
          <a:xfrm>
            <a:off x="2149973" y="2718895"/>
            <a:ext cx="4703176"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6" name="Line 14"/>
          <p:cNvSpPr>
            <a:spLocks noChangeShapeType="1"/>
          </p:cNvSpPr>
          <p:nvPr/>
        </p:nvSpPr>
        <p:spPr bwMode="auto">
          <a:xfrm>
            <a:off x="2158700" y="3110963"/>
            <a:ext cx="469444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7" name="Line 15"/>
          <p:cNvSpPr>
            <a:spLocks noChangeShapeType="1"/>
          </p:cNvSpPr>
          <p:nvPr/>
        </p:nvSpPr>
        <p:spPr bwMode="auto">
          <a:xfrm>
            <a:off x="4503500" y="1153308"/>
            <a:ext cx="0" cy="4001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8" name="Rectangle 16"/>
          <p:cNvSpPr>
            <a:spLocks noChangeArrowheads="1"/>
          </p:cNvSpPr>
          <p:nvPr/>
        </p:nvSpPr>
        <p:spPr bwMode="auto">
          <a:xfrm>
            <a:off x="5236614" y="1224918"/>
            <a:ext cx="1077219"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目  的  端  口</a:t>
            </a:r>
          </a:p>
        </p:txBody>
      </p:sp>
      <p:sp>
        <p:nvSpPr>
          <p:cNvPr id="19" name="Rectangle 17"/>
          <p:cNvSpPr>
            <a:spLocks noChangeArrowheads="1"/>
          </p:cNvSpPr>
          <p:nvPr/>
        </p:nvSpPr>
        <p:spPr bwMode="auto">
          <a:xfrm>
            <a:off x="2234255" y="2294294"/>
            <a:ext cx="490520" cy="45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数据</a:t>
            </a:r>
          </a:p>
          <a:p>
            <a:pPr defTabSz="762000" eaLnBrk="0" hangingPunct="0"/>
            <a:r>
              <a:rPr kumimoji="1" lang="zh-CN" altLang="en-US" sz="1200" b="1" dirty="0">
                <a:latin typeface="微软雅黑" pitchFamily="34" charset="-122"/>
                <a:ea typeface="微软雅黑" pitchFamily="34" charset="-122"/>
              </a:rPr>
              <a:t>偏移</a:t>
            </a:r>
          </a:p>
        </p:txBody>
      </p:sp>
      <p:sp>
        <p:nvSpPr>
          <p:cNvPr id="20" name="Rectangle 18"/>
          <p:cNvSpPr>
            <a:spLocks noChangeArrowheads="1"/>
          </p:cNvSpPr>
          <p:nvPr/>
        </p:nvSpPr>
        <p:spPr bwMode="auto">
          <a:xfrm>
            <a:off x="2908299" y="2796771"/>
            <a:ext cx="92333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检   验   和</a:t>
            </a:r>
          </a:p>
        </p:txBody>
      </p:sp>
      <p:sp>
        <p:nvSpPr>
          <p:cNvPr id="21" name="Rectangle 19"/>
          <p:cNvSpPr>
            <a:spLocks noChangeArrowheads="1"/>
          </p:cNvSpPr>
          <p:nvPr/>
        </p:nvSpPr>
        <p:spPr bwMode="auto">
          <a:xfrm>
            <a:off x="3031454" y="3158404"/>
            <a:ext cx="210721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选    项  （长  度  可  变）</a:t>
            </a:r>
          </a:p>
        </p:txBody>
      </p:sp>
      <p:sp>
        <p:nvSpPr>
          <p:cNvPr id="22" name="Rectangle 20"/>
          <p:cNvSpPr>
            <a:spLocks noChangeArrowheads="1"/>
          </p:cNvSpPr>
          <p:nvPr/>
        </p:nvSpPr>
        <p:spPr bwMode="auto">
          <a:xfrm>
            <a:off x="2978119" y="1224918"/>
            <a:ext cx="830357"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源  端  口</a:t>
            </a:r>
          </a:p>
        </p:txBody>
      </p:sp>
      <p:sp>
        <p:nvSpPr>
          <p:cNvPr id="23" name="Rectangle 21"/>
          <p:cNvSpPr>
            <a:spLocks noChangeArrowheads="1"/>
          </p:cNvSpPr>
          <p:nvPr/>
        </p:nvSpPr>
        <p:spPr bwMode="auto">
          <a:xfrm>
            <a:off x="4071046" y="1597882"/>
            <a:ext cx="84366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a:latin typeface="微软雅黑" pitchFamily="34" charset="-122"/>
                <a:ea typeface="微软雅黑" pitchFamily="34" charset="-122"/>
              </a:rPr>
              <a:t>序   号</a:t>
            </a:r>
          </a:p>
        </p:txBody>
      </p:sp>
      <p:sp>
        <p:nvSpPr>
          <p:cNvPr id="24" name="Line 22"/>
          <p:cNvSpPr>
            <a:spLocks noChangeShapeType="1"/>
          </p:cNvSpPr>
          <p:nvPr/>
        </p:nvSpPr>
        <p:spPr bwMode="auto">
          <a:xfrm>
            <a:off x="4507379" y="2333988"/>
            <a:ext cx="0" cy="77249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5" name="Rectangle 23"/>
          <p:cNvSpPr>
            <a:spLocks noChangeArrowheads="1"/>
          </p:cNvSpPr>
          <p:nvPr/>
        </p:nvSpPr>
        <p:spPr bwMode="auto">
          <a:xfrm>
            <a:off x="5138672" y="2796771"/>
            <a:ext cx="1216681"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紧   急   指   针</a:t>
            </a:r>
          </a:p>
        </p:txBody>
      </p:sp>
      <p:sp>
        <p:nvSpPr>
          <p:cNvPr id="26" name="Rectangle 24"/>
          <p:cNvSpPr>
            <a:spLocks noChangeArrowheads="1"/>
          </p:cNvSpPr>
          <p:nvPr/>
        </p:nvSpPr>
        <p:spPr bwMode="auto">
          <a:xfrm>
            <a:off x="5391158" y="2383961"/>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a:latin typeface="微软雅黑" pitchFamily="34" charset="-122"/>
                <a:ea typeface="微软雅黑" pitchFamily="34" charset="-122"/>
              </a:rPr>
              <a:t>窗   口</a:t>
            </a:r>
          </a:p>
        </p:txBody>
      </p:sp>
      <p:sp>
        <p:nvSpPr>
          <p:cNvPr id="27" name="Rectangle 25"/>
          <p:cNvSpPr>
            <a:spLocks noChangeArrowheads="1"/>
          </p:cNvSpPr>
          <p:nvPr/>
        </p:nvSpPr>
        <p:spPr bwMode="auto">
          <a:xfrm>
            <a:off x="3921708" y="2006061"/>
            <a:ext cx="1124883"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algn="ctr" defTabSz="762000" eaLnBrk="0" hangingPunct="0"/>
            <a:r>
              <a:rPr kumimoji="1" lang="zh-CN" altLang="en-US" sz="1200" b="1" dirty="0">
                <a:latin typeface="微软雅黑" pitchFamily="34" charset="-122"/>
                <a:ea typeface="微软雅黑" pitchFamily="34" charset="-122"/>
              </a:rPr>
              <a:t>确    认    号</a:t>
            </a:r>
          </a:p>
        </p:txBody>
      </p:sp>
      <p:sp>
        <p:nvSpPr>
          <p:cNvPr id="28" name="Line 26"/>
          <p:cNvSpPr>
            <a:spLocks noChangeShapeType="1"/>
          </p:cNvSpPr>
          <p:nvPr/>
        </p:nvSpPr>
        <p:spPr bwMode="auto">
          <a:xfrm>
            <a:off x="2739567"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29" name="Line 27"/>
          <p:cNvSpPr>
            <a:spLocks noChangeShapeType="1"/>
          </p:cNvSpPr>
          <p:nvPr/>
        </p:nvSpPr>
        <p:spPr bwMode="auto">
          <a:xfrm>
            <a:off x="3916815" y="2329512"/>
            <a:ext cx="0" cy="38580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0" name="Line 28"/>
          <p:cNvSpPr>
            <a:spLocks noChangeShapeType="1"/>
          </p:cNvSpPr>
          <p:nvPr/>
        </p:nvSpPr>
        <p:spPr bwMode="auto">
          <a:xfrm>
            <a:off x="3615229" y="2333988"/>
            <a:ext cx="0" cy="39027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1" name="Line 29"/>
          <p:cNvSpPr>
            <a:spLocks noChangeShapeType="1"/>
          </p:cNvSpPr>
          <p:nvPr/>
        </p:nvSpPr>
        <p:spPr bwMode="auto">
          <a:xfrm>
            <a:off x="3764568"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2" name="Line 30"/>
          <p:cNvSpPr>
            <a:spLocks noChangeShapeType="1"/>
          </p:cNvSpPr>
          <p:nvPr/>
        </p:nvSpPr>
        <p:spPr bwMode="auto">
          <a:xfrm>
            <a:off x="4210642"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3" name="Line 31"/>
          <p:cNvSpPr>
            <a:spLocks noChangeShapeType="1"/>
          </p:cNvSpPr>
          <p:nvPr/>
        </p:nvSpPr>
        <p:spPr bwMode="auto">
          <a:xfrm>
            <a:off x="4063244"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4" name="Line 32"/>
          <p:cNvSpPr>
            <a:spLocks noChangeShapeType="1"/>
          </p:cNvSpPr>
          <p:nvPr/>
        </p:nvSpPr>
        <p:spPr bwMode="auto">
          <a:xfrm>
            <a:off x="4359980" y="2333988"/>
            <a:ext cx="0" cy="38401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35" name="Rectangle 33"/>
          <p:cNvSpPr>
            <a:spLocks noChangeArrowheads="1"/>
          </p:cNvSpPr>
          <p:nvPr/>
        </p:nvSpPr>
        <p:spPr bwMode="auto">
          <a:xfrm>
            <a:off x="2900900" y="2392017"/>
            <a:ext cx="62998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保   留</a:t>
            </a:r>
          </a:p>
        </p:txBody>
      </p:sp>
      <p:sp>
        <p:nvSpPr>
          <p:cNvPr id="36" name="Rectangle 34"/>
          <p:cNvSpPr>
            <a:spLocks noChangeArrowheads="1"/>
          </p:cNvSpPr>
          <p:nvPr/>
        </p:nvSpPr>
        <p:spPr bwMode="auto">
          <a:xfrm>
            <a:off x="4280467" y="2322784"/>
            <a:ext cx="296557" cy="453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lnSpc>
                <a:spcPct val="75000"/>
              </a:lnSpc>
            </a:pPr>
            <a:r>
              <a:rPr kumimoji="1" lang="en-US" altLang="zh-CN" sz="1050" b="1" dirty="0">
                <a:latin typeface="微软雅黑" pitchFamily="34" charset="-122"/>
                <a:ea typeface="微软雅黑" pitchFamily="34" charset="-122"/>
              </a:rPr>
              <a:t>F</a:t>
            </a:r>
          </a:p>
          <a:p>
            <a:pPr algn="ctr" defTabSz="762000" eaLnBrk="0" hangingPunct="0">
              <a:lnSpc>
                <a:spcPct val="75000"/>
              </a:lnSpc>
            </a:pPr>
            <a:r>
              <a:rPr kumimoji="1" lang="en-US" altLang="zh-CN" sz="1050" b="1" dirty="0">
                <a:latin typeface="微软雅黑" pitchFamily="34" charset="-122"/>
                <a:ea typeface="微软雅黑" pitchFamily="34" charset="-122"/>
              </a:rPr>
              <a:t>I</a:t>
            </a:r>
          </a:p>
          <a:p>
            <a:pPr algn="ctr" defTabSz="762000" eaLnBrk="0" hangingPunct="0">
              <a:lnSpc>
                <a:spcPct val="75000"/>
              </a:lnSpc>
            </a:pPr>
            <a:r>
              <a:rPr kumimoji="1" lang="en-US" altLang="zh-CN" sz="1050" b="1" dirty="0">
                <a:latin typeface="微软雅黑" pitchFamily="34" charset="-122"/>
                <a:ea typeface="微软雅黑" pitchFamily="34" charset="-122"/>
              </a:rPr>
              <a:t>N</a:t>
            </a:r>
          </a:p>
        </p:txBody>
      </p:sp>
      <p:sp>
        <p:nvSpPr>
          <p:cNvPr id="71" name="Rectangle 75"/>
          <p:cNvSpPr>
            <a:spLocks noChangeArrowheads="1"/>
          </p:cNvSpPr>
          <p:nvPr/>
        </p:nvSpPr>
        <p:spPr bwMode="auto">
          <a:xfrm>
            <a:off x="4152650" y="2322784"/>
            <a:ext cx="302969"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a:latin typeface="微软雅黑" pitchFamily="34" charset="-122"/>
                <a:ea typeface="微软雅黑" pitchFamily="34" charset="-122"/>
              </a:rPr>
              <a:t>S</a:t>
            </a:r>
          </a:p>
          <a:p>
            <a:pPr defTabSz="762000" eaLnBrk="0" hangingPunct="0">
              <a:lnSpc>
                <a:spcPct val="75000"/>
              </a:lnSpc>
            </a:pPr>
            <a:r>
              <a:rPr kumimoji="1" lang="en-US" altLang="zh-CN" sz="1050" b="1">
                <a:latin typeface="微软雅黑" pitchFamily="34" charset="-122"/>
                <a:ea typeface="微软雅黑" pitchFamily="34" charset="-122"/>
              </a:rPr>
              <a:t>Y</a:t>
            </a:r>
          </a:p>
          <a:p>
            <a:pPr defTabSz="762000" eaLnBrk="0" hangingPunct="0">
              <a:lnSpc>
                <a:spcPct val="75000"/>
              </a:lnSpc>
            </a:pPr>
            <a:r>
              <a:rPr kumimoji="1" lang="en-US" altLang="zh-CN" sz="1050" b="1">
                <a:latin typeface="微软雅黑" pitchFamily="34" charset="-122"/>
                <a:ea typeface="微软雅黑" pitchFamily="34" charset="-122"/>
              </a:rPr>
              <a:t>N</a:t>
            </a:r>
          </a:p>
        </p:txBody>
      </p:sp>
      <p:sp>
        <p:nvSpPr>
          <p:cNvPr id="72" name="Rectangle 76"/>
          <p:cNvSpPr>
            <a:spLocks noChangeArrowheads="1"/>
          </p:cNvSpPr>
          <p:nvPr/>
        </p:nvSpPr>
        <p:spPr bwMode="auto">
          <a:xfrm>
            <a:off x="4021820" y="2322784"/>
            <a:ext cx="280527"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T</a:t>
            </a:r>
          </a:p>
        </p:txBody>
      </p:sp>
      <p:sp>
        <p:nvSpPr>
          <p:cNvPr id="73" name="Rectangle 77"/>
          <p:cNvSpPr>
            <a:spLocks noChangeArrowheads="1"/>
          </p:cNvSpPr>
          <p:nvPr/>
        </p:nvSpPr>
        <p:spPr bwMode="auto">
          <a:xfrm>
            <a:off x="3850095" y="2322784"/>
            <a:ext cx="298160"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P</a:t>
            </a:r>
          </a:p>
          <a:p>
            <a:pPr defTabSz="762000" eaLnBrk="0" hangingPunct="0">
              <a:lnSpc>
                <a:spcPct val="75000"/>
              </a:lnSpc>
            </a:pPr>
            <a:r>
              <a:rPr kumimoji="1" lang="en-US" altLang="zh-CN" sz="1050" b="1" dirty="0">
                <a:latin typeface="微软雅黑" pitchFamily="34" charset="-122"/>
                <a:ea typeface="微软雅黑" pitchFamily="34" charset="-122"/>
              </a:rPr>
              <a:t>S</a:t>
            </a:r>
          </a:p>
          <a:p>
            <a:pPr defTabSz="762000" eaLnBrk="0" hangingPunct="0">
              <a:lnSpc>
                <a:spcPct val="75000"/>
              </a:lnSpc>
            </a:pPr>
            <a:r>
              <a:rPr kumimoji="1" lang="en-US" altLang="zh-CN" sz="1050" b="1" dirty="0">
                <a:latin typeface="微软雅黑" pitchFamily="34" charset="-122"/>
                <a:ea typeface="微软雅黑" pitchFamily="34" charset="-122"/>
              </a:rPr>
              <a:t>H</a:t>
            </a:r>
          </a:p>
        </p:txBody>
      </p:sp>
      <p:sp>
        <p:nvSpPr>
          <p:cNvPr id="74" name="Rectangle 78"/>
          <p:cNvSpPr>
            <a:spLocks noChangeArrowheads="1"/>
          </p:cNvSpPr>
          <p:nvPr/>
        </p:nvSpPr>
        <p:spPr bwMode="auto">
          <a:xfrm>
            <a:off x="3703666" y="2322784"/>
            <a:ext cx="288542"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A</a:t>
            </a:r>
          </a:p>
          <a:p>
            <a:pPr defTabSz="762000" eaLnBrk="0" hangingPunct="0">
              <a:lnSpc>
                <a:spcPct val="75000"/>
              </a:lnSpc>
            </a:pPr>
            <a:r>
              <a:rPr kumimoji="1" lang="en-US" altLang="zh-CN" sz="1050" b="1" dirty="0">
                <a:latin typeface="微软雅黑" pitchFamily="34" charset="-122"/>
                <a:ea typeface="微软雅黑" pitchFamily="34" charset="-122"/>
              </a:rPr>
              <a:t>C</a:t>
            </a:r>
          </a:p>
          <a:p>
            <a:pPr defTabSz="762000" eaLnBrk="0" hangingPunct="0">
              <a:lnSpc>
                <a:spcPct val="75000"/>
              </a:lnSpc>
            </a:pPr>
            <a:r>
              <a:rPr kumimoji="1" lang="en-US" altLang="zh-CN" sz="1050" b="1" dirty="0">
                <a:latin typeface="微软雅黑" pitchFamily="34" charset="-122"/>
                <a:ea typeface="微软雅黑" pitchFamily="34" charset="-122"/>
              </a:rPr>
              <a:t>K</a:t>
            </a:r>
          </a:p>
        </p:txBody>
      </p:sp>
      <p:sp>
        <p:nvSpPr>
          <p:cNvPr id="75" name="Rectangle 79"/>
          <p:cNvSpPr>
            <a:spLocks noChangeArrowheads="1"/>
          </p:cNvSpPr>
          <p:nvPr/>
        </p:nvSpPr>
        <p:spPr bwMode="auto">
          <a:xfrm>
            <a:off x="3558291" y="2322784"/>
            <a:ext cx="291748" cy="4725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75000"/>
              </a:lnSpc>
            </a:pPr>
            <a:r>
              <a:rPr kumimoji="1" lang="en-US" altLang="zh-CN" sz="1050" b="1" dirty="0">
                <a:latin typeface="微软雅黑" pitchFamily="34" charset="-122"/>
                <a:ea typeface="微软雅黑" pitchFamily="34" charset="-122"/>
              </a:rPr>
              <a:t>U</a:t>
            </a:r>
          </a:p>
          <a:p>
            <a:pPr defTabSz="762000" eaLnBrk="0" hangingPunct="0">
              <a:lnSpc>
                <a:spcPct val="75000"/>
              </a:lnSpc>
            </a:pPr>
            <a:r>
              <a:rPr kumimoji="1" lang="en-US" altLang="zh-CN" sz="1050" b="1" dirty="0">
                <a:latin typeface="微软雅黑" pitchFamily="34" charset="-122"/>
                <a:ea typeface="微软雅黑" pitchFamily="34" charset="-122"/>
              </a:rPr>
              <a:t>R</a:t>
            </a:r>
          </a:p>
          <a:p>
            <a:pPr defTabSz="762000" eaLnBrk="0" hangingPunct="0">
              <a:lnSpc>
                <a:spcPct val="75000"/>
              </a:lnSpc>
            </a:pPr>
            <a:r>
              <a:rPr kumimoji="1" lang="en-US" altLang="zh-CN" sz="1050" b="1" dirty="0">
                <a:latin typeface="微软雅黑" pitchFamily="34" charset="-122"/>
                <a:ea typeface="微软雅黑" pitchFamily="34" charset="-122"/>
              </a:rPr>
              <a:t>G</a:t>
            </a:r>
          </a:p>
        </p:txBody>
      </p:sp>
      <p:sp>
        <p:nvSpPr>
          <p:cNvPr id="76" name="Line 81"/>
          <p:cNvSpPr>
            <a:spLocks noChangeShapeType="1"/>
          </p:cNvSpPr>
          <p:nvPr/>
        </p:nvSpPr>
        <p:spPr bwMode="auto">
          <a:xfrm flipH="1">
            <a:off x="5668142" y="3120809"/>
            <a:ext cx="1940" cy="36252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7" name="Rectangle 83"/>
          <p:cNvSpPr>
            <a:spLocks noChangeArrowheads="1"/>
          </p:cNvSpPr>
          <p:nvPr/>
        </p:nvSpPr>
        <p:spPr bwMode="auto">
          <a:xfrm>
            <a:off x="5952104" y="3158404"/>
            <a:ext cx="766084"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r>
              <a:rPr kumimoji="1" lang="zh-CN" altLang="en-US" sz="1200" b="1" dirty="0">
                <a:latin typeface="微软雅黑" pitchFamily="34" charset="-122"/>
                <a:ea typeface="微软雅黑" pitchFamily="34" charset="-122"/>
              </a:rPr>
              <a:t>填    充</a:t>
            </a:r>
          </a:p>
        </p:txBody>
      </p:sp>
      <p:sp>
        <p:nvSpPr>
          <p:cNvPr id="78" name="Line 96"/>
          <p:cNvSpPr>
            <a:spLocks noChangeShapeType="1"/>
          </p:cNvSpPr>
          <p:nvPr/>
        </p:nvSpPr>
        <p:spPr bwMode="auto">
          <a:xfrm>
            <a:off x="6875531" y="1135405"/>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79" name="Line 97"/>
          <p:cNvSpPr>
            <a:spLocks noChangeShapeType="1"/>
          </p:cNvSpPr>
          <p:nvPr/>
        </p:nvSpPr>
        <p:spPr bwMode="auto">
          <a:xfrm>
            <a:off x="6875531" y="3106487"/>
            <a:ext cx="507167"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0" name="Line 98"/>
          <p:cNvSpPr>
            <a:spLocks noChangeShapeType="1"/>
          </p:cNvSpPr>
          <p:nvPr/>
        </p:nvSpPr>
        <p:spPr bwMode="auto">
          <a:xfrm>
            <a:off x="1827330" y="1156888"/>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1" name="Line 99"/>
          <p:cNvSpPr>
            <a:spLocks noChangeShapeType="1"/>
          </p:cNvSpPr>
          <p:nvPr/>
        </p:nvSpPr>
        <p:spPr bwMode="auto">
          <a:xfrm>
            <a:off x="1836057" y="3469016"/>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82" name="Text Box 155"/>
          <p:cNvSpPr txBox="1">
            <a:spLocks noChangeArrowheads="1"/>
          </p:cNvSpPr>
          <p:nvPr/>
        </p:nvSpPr>
        <p:spPr bwMode="auto">
          <a:xfrm>
            <a:off x="1042416" y="3645371"/>
            <a:ext cx="7086600" cy="803297"/>
          </a:xfrm>
          <a:prstGeom prst="rect">
            <a:avLst/>
          </a:prstGeom>
          <a:solidFill>
            <a:srgbClr val="0000FF"/>
          </a:solidFill>
          <a:ln w="9525">
            <a:noFill/>
            <a:miter lim="800000"/>
            <a:headEnd/>
            <a:tailEnd/>
          </a:ln>
          <a:effectLst/>
        </p:spPr>
        <p:txBody>
          <a:bodyPr wrap="square">
            <a:spAutoFit/>
          </a:bodyPr>
          <a:lstStyle/>
          <a:p>
            <a:pPr algn="ctr">
              <a:lnSpc>
                <a:spcPct val="110000"/>
              </a:lnSpc>
            </a:pPr>
            <a:r>
              <a:rPr lang="zh-CN" altLang="en-US" sz="1400" b="1" dirty="0">
                <a:solidFill>
                  <a:schemeClr val="bg1"/>
                </a:solidFill>
                <a:latin typeface="微软雅黑" pitchFamily="34" charset="-122"/>
                <a:ea typeface="微软雅黑" pitchFamily="34" charset="-122"/>
              </a:rPr>
              <a:t>选项：长度可变，最长可达 </a:t>
            </a:r>
            <a:r>
              <a:rPr lang="en-US" altLang="zh-CN" sz="1400" b="1" dirty="0">
                <a:solidFill>
                  <a:schemeClr val="bg1"/>
                </a:solidFill>
                <a:latin typeface="微软雅黑" pitchFamily="34" charset="-122"/>
                <a:ea typeface="微软雅黑" pitchFamily="34" charset="-122"/>
              </a:rPr>
              <a:t>40 </a:t>
            </a:r>
            <a:r>
              <a:rPr lang="zh-CN" altLang="en-US" sz="1400" b="1" dirty="0">
                <a:solidFill>
                  <a:schemeClr val="bg1"/>
                </a:solidFill>
                <a:latin typeface="微软雅黑" pitchFamily="34" charset="-122"/>
                <a:ea typeface="微软雅黑" pitchFamily="34" charset="-122"/>
              </a:rPr>
              <a:t>字节。</a:t>
            </a:r>
            <a:r>
              <a:rPr lang="en-US" altLang="zh-CN" sz="1400" b="1" dirty="0">
                <a:solidFill>
                  <a:schemeClr val="bg1"/>
                </a:solidFill>
                <a:latin typeface="微软雅黑" pitchFamily="34" charset="-122"/>
                <a:ea typeface="微软雅黑" pitchFamily="34" charset="-122"/>
              </a:rPr>
              <a:t>—— </a:t>
            </a:r>
            <a:r>
              <a:rPr lang="zh-CN" altLang="en-US" sz="1400" b="1" dirty="0">
                <a:solidFill>
                  <a:schemeClr val="bg1"/>
                </a:solidFill>
                <a:latin typeface="微软雅黑" pitchFamily="34" charset="-122"/>
                <a:ea typeface="微软雅黑" pitchFamily="34" charset="-122"/>
              </a:rPr>
              <a:t>长度可变。</a:t>
            </a:r>
            <a:r>
              <a:rPr lang="en-US" altLang="zh-CN" sz="1400" b="1" dirty="0">
                <a:solidFill>
                  <a:schemeClr val="bg1"/>
                </a:solidFill>
                <a:latin typeface="微软雅黑" pitchFamily="34" charset="-122"/>
                <a:ea typeface="微软雅黑" pitchFamily="34" charset="-122"/>
              </a:rPr>
              <a:t>TCP </a:t>
            </a:r>
            <a:r>
              <a:rPr lang="zh-CN" altLang="en-US" sz="1400" b="1" dirty="0">
                <a:solidFill>
                  <a:schemeClr val="bg1"/>
                </a:solidFill>
                <a:latin typeface="微软雅黑" pitchFamily="34" charset="-122"/>
                <a:ea typeface="微软雅黑" pitchFamily="34" charset="-122"/>
              </a:rPr>
              <a:t>最初只规定了一种选项，即最大报文段长度 </a:t>
            </a:r>
            <a:r>
              <a:rPr lang="en-US" altLang="zh-CN" sz="1400" b="1" dirty="0">
                <a:solidFill>
                  <a:schemeClr val="bg1"/>
                </a:solidFill>
                <a:latin typeface="微软雅黑" pitchFamily="34" charset="-122"/>
                <a:ea typeface="微软雅黑" pitchFamily="34" charset="-122"/>
              </a:rPr>
              <a:t>MSS</a:t>
            </a:r>
            <a:r>
              <a:rPr lang="zh-CN" altLang="en-US" sz="1400" b="1" dirty="0">
                <a:solidFill>
                  <a:schemeClr val="bg1"/>
                </a:solidFill>
                <a:latin typeface="微软雅黑" pitchFamily="34" charset="-122"/>
                <a:ea typeface="微软雅黑" pitchFamily="34" charset="-122"/>
              </a:rPr>
              <a:t>。</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告诉对方 </a:t>
            </a:r>
            <a:r>
              <a:rPr lang="en-US" altLang="zh-CN" sz="1400" b="1" dirty="0">
                <a:solidFill>
                  <a:schemeClr val="bg1"/>
                </a:solidFill>
                <a:latin typeface="微软雅黑" pitchFamily="34" charset="-122"/>
                <a:ea typeface="微软雅黑" pitchFamily="34" charset="-122"/>
              </a:rPr>
              <a:t>TCP</a:t>
            </a:r>
            <a:r>
              <a:rPr lang="zh-CN" altLang="en-US" sz="1400" b="1" dirty="0">
                <a:solidFill>
                  <a:schemeClr val="bg1"/>
                </a:solidFill>
                <a:latin typeface="微软雅黑" pitchFamily="34" charset="-122"/>
                <a:ea typeface="微软雅黑" pitchFamily="34" charset="-122"/>
              </a:rPr>
              <a:t>：“我的缓存所能接收的报文段的数据字段的最大长度是 </a:t>
            </a:r>
            <a:r>
              <a:rPr lang="en-US" altLang="zh-CN" sz="1400" b="1" dirty="0">
                <a:solidFill>
                  <a:schemeClr val="bg1"/>
                </a:solidFill>
                <a:latin typeface="微软雅黑" pitchFamily="34" charset="-122"/>
                <a:ea typeface="微软雅黑" pitchFamily="34" charset="-122"/>
              </a:rPr>
              <a:t>MSS </a:t>
            </a:r>
            <a:r>
              <a:rPr lang="zh-CN" altLang="en-US" sz="1400" b="1" dirty="0">
                <a:solidFill>
                  <a:schemeClr val="bg1"/>
                </a:solidFill>
                <a:latin typeface="微软雅黑" pitchFamily="34" charset="-122"/>
                <a:ea typeface="微软雅黑" pitchFamily="34" charset="-122"/>
              </a:rPr>
              <a:t>个字节。” </a:t>
            </a:r>
          </a:p>
        </p:txBody>
      </p:sp>
      <p:sp>
        <p:nvSpPr>
          <p:cNvPr id="84" name="Rectangle 104"/>
          <p:cNvSpPr>
            <a:spLocks noChangeArrowheads="1"/>
          </p:cNvSpPr>
          <p:nvPr/>
        </p:nvSpPr>
        <p:spPr bwMode="auto">
          <a:xfrm>
            <a:off x="2162578" y="3110963"/>
            <a:ext cx="3507503" cy="381160"/>
          </a:xfrm>
          <a:prstGeom prst="rect">
            <a:avLst/>
          </a:prstGeom>
          <a:noFill/>
          <a:ln w="57150">
            <a:solidFill>
              <a:srgbClr val="CC00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grpSp>
        <p:nvGrpSpPr>
          <p:cNvPr id="83" name="组合 82"/>
          <p:cNvGrpSpPr/>
          <p:nvPr/>
        </p:nvGrpSpPr>
        <p:grpSpPr>
          <a:xfrm>
            <a:off x="1827330" y="782473"/>
            <a:ext cx="5158580" cy="374416"/>
            <a:chOff x="1827330" y="782473"/>
            <a:chExt cx="5158580" cy="374416"/>
          </a:xfrm>
        </p:grpSpPr>
        <p:sp>
          <p:nvSpPr>
            <p:cNvPr id="87" name="Line 37"/>
            <p:cNvSpPr>
              <a:spLocks noChangeShapeType="1"/>
            </p:cNvSpPr>
            <p:nvPr/>
          </p:nvSpPr>
          <p:spPr bwMode="auto">
            <a:xfrm>
              <a:off x="2152882" y="1060214"/>
              <a:ext cx="468863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89" name="Line 38"/>
            <p:cNvSpPr>
              <a:spLocks noChangeShapeType="1"/>
            </p:cNvSpPr>
            <p:nvPr/>
          </p:nvSpPr>
          <p:spPr bwMode="auto">
            <a:xfrm>
              <a:off x="2152882"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0" name="Line 39"/>
            <p:cNvSpPr>
              <a:spLocks noChangeShapeType="1"/>
            </p:cNvSpPr>
            <p:nvPr/>
          </p:nvSpPr>
          <p:spPr bwMode="auto">
            <a:xfrm>
              <a:off x="2299311" y="976071"/>
              <a:ext cx="0" cy="8414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1" name="Line 40"/>
            <p:cNvSpPr>
              <a:spLocks noChangeShapeType="1"/>
            </p:cNvSpPr>
            <p:nvPr/>
          </p:nvSpPr>
          <p:spPr bwMode="auto">
            <a:xfrm>
              <a:off x="2445739"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2" name="Line 41"/>
            <p:cNvSpPr>
              <a:spLocks noChangeShapeType="1"/>
            </p:cNvSpPr>
            <p:nvPr/>
          </p:nvSpPr>
          <p:spPr bwMode="auto">
            <a:xfrm>
              <a:off x="2592168"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3" name="Line 42"/>
            <p:cNvSpPr>
              <a:spLocks noChangeShapeType="1"/>
            </p:cNvSpPr>
            <p:nvPr/>
          </p:nvSpPr>
          <p:spPr bwMode="auto">
            <a:xfrm>
              <a:off x="2739567"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4" name="Line 43"/>
            <p:cNvSpPr>
              <a:spLocks noChangeShapeType="1"/>
            </p:cNvSpPr>
            <p:nvPr/>
          </p:nvSpPr>
          <p:spPr bwMode="auto">
            <a:xfrm>
              <a:off x="2885995"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5" name="Line 44"/>
            <p:cNvSpPr>
              <a:spLocks noChangeShapeType="1"/>
            </p:cNvSpPr>
            <p:nvPr/>
          </p:nvSpPr>
          <p:spPr bwMode="auto">
            <a:xfrm>
              <a:off x="3031454" y="976072"/>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6" name="Line 45"/>
            <p:cNvSpPr>
              <a:spLocks noChangeShapeType="1"/>
            </p:cNvSpPr>
            <p:nvPr/>
          </p:nvSpPr>
          <p:spPr bwMode="auto">
            <a:xfrm>
              <a:off x="31778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7" name="Line 46"/>
            <p:cNvSpPr>
              <a:spLocks noChangeShapeType="1"/>
            </p:cNvSpPr>
            <p:nvPr/>
          </p:nvSpPr>
          <p:spPr bwMode="auto">
            <a:xfrm>
              <a:off x="3325282" y="891930"/>
              <a:ext cx="0" cy="16828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8" name="Line 47"/>
            <p:cNvSpPr>
              <a:spLocks noChangeShapeType="1"/>
            </p:cNvSpPr>
            <p:nvPr/>
          </p:nvSpPr>
          <p:spPr bwMode="auto">
            <a:xfrm>
              <a:off x="34717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99" name="Line 48"/>
            <p:cNvSpPr>
              <a:spLocks noChangeShapeType="1"/>
            </p:cNvSpPr>
            <p:nvPr/>
          </p:nvSpPr>
          <p:spPr bwMode="auto">
            <a:xfrm>
              <a:off x="36181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0" name="Line 49"/>
            <p:cNvSpPr>
              <a:spLocks noChangeShapeType="1"/>
            </p:cNvSpPr>
            <p:nvPr/>
          </p:nvSpPr>
          <p:spPr bwMode="auto">
            <a:xfrm>
              <a:off x="3764568"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1" name="Line 50"/>
            <p:cNvSpPr>
              <a:spLocks noChangeShapeType="1"/>
            </p:cNvSpPr>
            <p:nvPr/>
          </p:nvSpPr>
          <p:spPr bwMode="auto">
            <a:xfrm>
              <a:off x="391196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2" name="Line 51"/>
            <p:cNvSpPr>
              <a:spLocks noChangeShapeType="1"/>
            </p:cNvSpPr>
            <p:nvPr/>
          </p:nvSpPr>
          <p:spPr bwMode="auto">
            <a:xfrm>
              <a:off x="4058395"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3" name="Line 52"/>
            <p:cNvSpPr>
              <a:spLocks noChangeShapeType="1"/>
            </p:cNvSpPr>
            <p:nvPr/>
          </p:nvSpPr>
          <p:spPr bwMode="auto">
            <a:xfrm>
              <a:off x="420385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4" name="Line 53"/>
            <p:cNvSpPr>
              <a:spLocks noChangeShapeType="1"/>
            </p:cNvSpPr>
            <p:nvPr/>
          </p:nvSpPr>
          <p:spPr bwMode="auto">
            <a:xfrm>
              <a:off x="4350283"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5" name="Line 54"/>
            <p:cNvSpPr>
              <a:spLocks noChangeShapeType="1"/>
            </p:cNvSpPr>
            <p:nvPr/>
          </p:nvSpPr>
          <p:spPr bwMode="auto">
            <a:xfrm>
              <a:off x="4496711" y="891931"/>
              <a:ext cx="0" cy="1682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6" name="Line 55"/>
            <p:cNvSpPr>
              <a:spLocks noChangeShapeType="1"/>
            </p:cNvSpPr>
            <p:nvPr/>
          </p:nvSpPr>
          <p:spPr bwMode="auto">
            <a:xfrm>
              <a:off x="4644110"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7" name="Line 56"/>
            <p:cNvSpPr>
              <a:spLocks noChangeShapeType="1"/>
            </p:cNvSpPr>
            <p:nvPr/>
          </p:nvSpPr>
          <p:spPr bwMode="auto">
            <a:xfrm>
              <a:off x="4790539"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8" name="Line 57"/>
            <p:cNvSpPr>
              <a:spLocks noChangeShapeType="1"/>
            </p:cNvSpPr>
            <p:nvPr/>
          </p:nvSpPr>
          <p:spPr bwMode="auto">
            <a:xfrm>
              <a:off x="4936968"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09" name="Line 58"/>
            <p:cNvSpPr>
              <a:spLocks noChangeShapeType="1"/>
            </p:cNvSpPr>
            <p:nvPr/>
          </p:nvSpPr>
          <p:spPr bwMode="auto">
            <a:xfrm>
              <a:off x="5083396"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0" name="Line 59"/>
            <p:cNvSpPr>
              <a:spLocks noChangeShapeType="1"/>
            </p:cNvSpPr>
            <p:nvPr/>
          </p:nvSpPr>
          <p:spPr bwMode="auto">
            <a:xfrm>
              <a:off x="5230795"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1" name="Line 60"/>
            <p:cNvSpPr>
              <a:spLocks noChangeShapeType="1"/>
            </p:cNvSpPr>
            <p:nvPr/>
          </p:nvSpPr>
          <p:spPr bwMode="auto">
            <a:xfrm>
              <a:off x="5376254" y="976073"/>
              <a:ext cx="0" cy="8414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2" name="Line 61"/>
            <p:cNvSpPr>
              <a:spLocks noChangeShapeType="1"/>
            </p:cNvSpPr>
            <p:nvPr/>
          </p:nvSpPr>
          <p:spPr bwMode="auto">
            <a:xfrm>
              <a:off x="5522683" y="976071"/>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3" name="Line 62"/>
            <p:cNvSpPr>
              <a:spLocks noChangeShapeType="1"/>
            </p:cNvSpPr>
            <p:nvPr/>
          </p:nvSpPr>
          <p:spPr bwMode="auto">
            <a:xfrm>
              <a:off x="5669111"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4" name="Line 63"/>
            <p:cNvSpPr>
              <a:spLocks noChangeShapeType="1"/>
            </p:cNvSpPr>
            <p:nvPr/>
          </p:nvSpPr>
          <p:spPr bwMode="auto">
            <a:xfrm>
              <a:off x="5815540"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5" name="Line 64"/>
            <p:cNvSpPr>
              <a:spLocks noChangeShapeType="1"/>
            </p:cNvSpPr>
            <p:nvPr/>
          </p:nvSpPr>
          <p:spPr bwMode="auto">
            <a:xfrm>
              <a:off x="5962939" y="976070"/>
              <a:ext cx="0" cy="841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6" name="Line 65"/>
            <p:cNvSpPr>
              <a:spLocks noChangeShapeType="1"/>
            </p:cNvSpPr>
            <p:nvPr/>
          </p:nvSpPr>
          <p:spPr bwMode="auto">
            <a:xfrm>
              <a:off x="6109368"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7" name="Line 66"/>
            <p:cNvSpPr>
              <a:spLocks noChangeShapeType="1"/>
            </p:cNvSpPr>
            <p:nvPr/>
          </p:nvSpPr>
          <p:spPr bwMode="auto">
            <a:xfrm>
              <a:off x="6255797" y="976074"/>
              <a:ext cx="0" cy="8414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8" name="Line 67"/>
            <p:cNvSpPr>
              <a:spLocks noChangeShapeType="1"/>
            </p:cNvSpPr>
            <p:nvPr/>
          </p:nvSpPr>
          <p:spPr bwMode="auto">
            <a:xfrm>
              <a:off x="6402225"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19" name="Line 68"/>
            <p:cNvSpPr>
              <a:spLocks noChangeShapeType="1"/>
            </p:cNvSpPr>
            <p:nvPr/>
          </p:nvSpPr>
          <p:spPr bwMode="auto">
            <a:xfrm>
              <a:off x="6548654"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0" name="Line 69"/>
            <p:cNvSpPr>
              <a:spLocks noChangeShapeType="1"/>
            </p:cNvSpPr>
            <p:nvPr/>
          </p:nvSpPr>
          <p:spPr bwMode="auto">
            <a:xfrm>
              <a:off x="6695083" y="963550"/>
              <a:ext cx="0" cy="9666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1" name="Line 70"/>
            <p:cNvSpPr>
              <a:spLocks noChangeShapeType="1"/>
            </p:cNvSpPr>
            <p:nvPr/>
          </p:nvSpPr>
          <p:spPr bwMode="auto">
            <a:xfrm>
              <a:off x="6841512" y="891931"/>
              <a:ext cx="0" cy="16828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a:latin typeface="微软雅黑" pitchFamily="34" charset="-122"/>
                <a:ea typeface="微软雅黑" pitchFamily="34" charset="-122"/>
              </a:endParaRPr>
            </a:p>
          </p:txBody>
        </p:sp>
        <p:sp>
          <p:nvSpPr>
            <p:cNvPr id="122" name="Line 98"/>
            <p:cNvSpPr>
              <a:spLocks noChangeShapeType="1"/>
            </p:cNvSpPr>
            <p:nvPr/>
          </p:nvSpPr>
          <p:spPr bwMode="auto">
            <a:xfrm>
              <a:off x="1827330" y="1156889"/>
              <a:ext cx="323889"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b="1">
                <a:latin typeface="微软雅黑" pitchFamily="34" charset="-122"/>
                <a:ea typeface="微软雅黑" pitchFamily="34" charset="-122"/>
              </a:endParaRPr>
            </a:p>
          </p:txBody>
        </p:sp>
        <p:sp>
          <p:nvSpPr>
            <p:cNvPr id="123" name="Rectangle 80"/>
            <p:cNvSpPr>
              <a:spLocks noChangeArrowheads="1"/>
            </p:cNvSpPr>
            <p:nvPr/>
          </p:nvSpPr>
          <p:spPr bwMode="auto">
            <a:xfrm>
              <a:off x="1881948" y="782473"/>
              <a:ext cx="5103962" cy="22826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900" b="1" dirty="0">
                  <a:solidFill>
                    <a:srgbClr val="0000FF"/>
                  </a:solidFill>
                  <a:latin typeface="微软雅黑" pitchFamily="34" charset="-122"/>
                  <a:ea typeface="微软雅黑" pitchFamily="34" charset="-122"/>
                </a:rPr>
                <a:t>位   </a:t>
              </a:r>
              <a:r>
                <a:rPr kumimoji="1" lang="en-US" altLang="zh-CN" sz="900" b="1" dirty="0">
                  <a:solidFill>
                    <a:srgbClr val="0000FF"/>
                  </a:solidFill>
                  <a:latin typeface="微软雅黑" pitchFamily="34" charset="-122"/>
                  <a:ea typeface="微软雅黑" pitchFamily="34" charset="-122"/>
                </a:rPr>
                <a:t>0                                 8                                16                                24                          31</a:t>
              </a:r>
            </a:p>
          </p:txBody>
        </p:sp>
      </p:grpSp>
      <p:sp>
        <p:nvSpPr>
          <p:cNvPr id="88" name="Text Box 155"/>
          <p:cNvSpPr txBox="1">
            <a:spLocks noChangeArrowheads="1"/>
          </p:cNvSpPr>
          <p:nvPr/>
        </p:nvSpPr>
        <p:spPr bwMode="auto">
          <a:xfrm>
            <a:off x="1417320" y="765443"/>
            <a:ext cx="6300216" cy="1175706"/>
          </a:xfrm>
          <a:prstGeom prst="rect">
            <a:avLst/>
          </a:prstGeom>
          <a:solidFill>
            <a:srgbClr val="66FF99"/>
          </a:solidFill>
          <a:ln w="9525">
            <a:solidFill>
              <a:schemeClr val="tx1"/>
            </a:solidFill>
            <a:miter lim="800000"/>
            <a:headEnd/>
            <a:tailEnd/>
          </a:ln>
          <a:effectLst/>
        </p:spPr>
        <p:txBody>
          <a:bodyPr wrap="square">
            <a:spAutoFit/>
          </a:bodyPr>
          <a:lstStyle/>
          <a:p>
            <a:pPr algn="ctr">
              <a:lnSpc>
                <a:spcPct val="110000"/>
              </a:lnSpc>
            </a:pPr>
            <a:r>
              <a:rPr lang="en-US" altLang="zh-CN" sz="1600" b="1" dirty="0">
                <a:latin typeface="微软雅黑" pitchFamily="34" charset="-122"/>
                <a:ea typeface="微软雅黑" pitchFamily="34" charset="-122"/>
              </a:rPr>
              <a:t>MSS (Maximum Segment Size)</a:t>
            </a:r>
          </a:p>
          <a:p>
            <a:pPr algn="ctr">
              <a:lnSpc>
                <a:spcPct val="110000"/>
              </a:lnSpc>
            </a:pP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报文段中的数据字段的最大长度。</a:t>
            </a:r>
          </a:p>
          <a:p>
            <a:pPr algn="ctr">
              <a:lnSpc>
                <a:spcPct val="110000"/>
              </a:lnSpc>
            </a:pPr>
            <a:r>
              <a:rPr lang="zh-CN" altLang="en-US" sz="1600" b="1" dirty="0">
                <a:latin typeface="微软雅黑" pitchFamily="34" charset="-122"/>
                <a:ea typeface="微软雅黑" pitchFamily="34" charset="-122"/>
              </a:rPr>
              <a:t>数据字段加上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首部才等于整个的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a:t>
            </a:r>
          </a:p>
          <a:p>
            <a:pPr algn="ctr">
              <a:lnSpc>
                <a:spcPct val="110000"/>
              </a:lnSpc>
            </a:pPr>
            <a:r>
              <a:rPr lang="zh-CN" altLang="en-US" sz="1600" b="1" dirty="0">
                <a:latin typeface="微软雅黑" pitchFamily="34" charset="-122"/>
                <a:ea typeface="微软雅黑" pitchFamily="34" charset="-122"/>
              </a:rPr>
              <a:t>所以，</a:t>
            </a:r>
            <a:r>
              <a:rPr lang="en-US" altLang="zh-CN" sz="1600" b="1" dirty="0">
                <a:latin typeface="微软雅黑" pitchFamily="34" charset="-122"/>
                <a:ea typeface="微软雅黑" pitchFamily="34" charset="-122"/>
              </a:rPr>
              <a:t>MSS</a:t>
            </a:r>
            <a:r>
              <a:rPr lang="zh-CN" altLang="en-US" sz="1600" b="1" dirty="0">
                <a:latin typeface="微软雅黑" pitchFamily="34" charset="-122"/>
                <a:ea typeface="微软雅黑" pitchFamily="34" charset="-122"/>
              </a:rPr>
              <a:t>是“</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报文段长度减去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首部长度”。</a:t>
            </a:r>
          </a:p>
        </p:txBody>
      </p:sp>
      <p:sp>
        <p:nvSpPr>
          <p:cNvPr id="86" name="Rectangle 4"/>
          <p:cNvSpPr>
            <a:spLocks noChangeArrowheads="1"/>
          </p:cNvSpPr>
          <p:nvPr/>
        </p:nvSpPr>
        <p:spPr bwMode="auto">
          <a:xfrm>
            <a:off x="1620893" y="2130572"/>
            <a:ext cx="494596" cy="412934"/>
          </a:xfrm>
          <a:prstGeom prst="rect">
            <a:avLst/>
          </a:prstGeom>
          <a:solidFill>
            <a:srgbClr val="C3E3F9"/>
          </a:solidFill>
          <a:ln>
            <a:noFill/>
          </a:ln>
          <a:effectLst/>
        </p:spPr>
        <p:txBody>
          <a:bodyPr vert="horz" wrap="square" lIns="90488" tIns="44450" rIns="90488" bIns="44450" anchor="ctr">
            <a:spAutoFit/>
          </a:bodyPr>
          <a:lstStyle/>
          <a:p>
            <a:pPr algn="ctr" defTabSz="762000" eaLnBrk="0" hangingPunct="0"/>
            <a:r>
              <a:rPr kumimoji="1" lang="en-US" altLang="zh-CN" sz="1050" b="1" dirty="0">
                <a:solidFill>
                  <a:srgbClr val="0000FF"/>
                </a:solidFill>
                <a:latin typeface="微软雅黑" pitchFamily="34" charset="-122"/>
                <a:ea typeface="微软雅黑" pitchFamily="34" charset="-122"/>
              </a:rPr>
              <a:t>TCP </a:t>
            </a:r>
            <a:r>
              <a:rPr kumimoji="1" lang="zh-CN" altLang="en-US" sz="1050" b="1" dirty="0">
                <a:solidFill>
                  <a:srgbClr val="0000FF"/>
                </a:solidFill>
                <a:latin typeface="微软雅黑" pitchFamily="34" charset="-122"/>
                <a:ea typeface="微软雅黑" pitchFamily="34" charset="-122"/>
              </a:rPr>
              <a:t>首部</a:t>
            </a:r>
          </a:p>
        </p:txBody>
      </p:sp>
    </p:spTree>
    <p:extLst>
      <p:ext uri="{BB962C8B-B14F-4D97-AF65-F5344CB8AC3E}">
        <p14:creationId xmlns:p14="http://schemas.microsoft.com/office/powerpoint/2010/main" val="237510175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1000"/>
                                  </p:stCondLst>
                                  <p:childTnLst>
                                    <p:set>
                                      <p:cBhvr>
                                        <p:cTn id="6" dur="1" fill="hold">
                                          <p:stCondLst>
                                            <p:cond delay="0"/>
                                          </p:stCondLst>
                                        </p:cTn>
                                        <p:tgtEl>
                                          <p:spTgt spid="84"/>
                                        </p:tgtEl>
                                        <p:attrNameLst>
                                          <p:attrName>style.visibility</p:attrName>
                                        </p:attrNameLst>
                                      </p:cBhvr>
                                      <p:to>
                                        <p:strVal val="visible"/>
                                      </p:to>
                                    </p:set>
                                  </p:childTnLst>
                                </p:cTn>
                              </p:par>
                            </p:childTnLst>
                          </p:cTn>
                        </p:par>
                        <p:par>
                          <p:cTn id="7" fill="hold">
                            <p:stCondLst>
                              <p:cond delay="1000"/>
                            </p:stCondLst>
                            <p:childTnLst>
                              <p:par>
                                <p:cTn id="8" presetID="35" presetClass="emph" presetSubtype="0" repeatCount="3000" fill="hold" grpId="1" nodeType="afterEffect">
                                  <p:stCondLst>
                                    <p:cond delay="0"/>
                                  </p:stCondLst>
                                  <p:childTnLst>
                                    <p:anim calcmode="discrete" valueType="str">
                                      <p:cBhvr>
                                        <p:cTn id="9" dur="1000" fill="hold"/>
                                        <p:tgtEl>
                                          <p:spTgt spid="84"/>
                                        </p:tgtEl>
                                        <p:attrNameLst>
                                          <p:attrName>style.visibility</p:attrName>
                                        </p:attrNameLst>
                                      </p:cBhvr>
                                      <p:tavLst>
                                        <p:tav tm="0">
                                          <p:val>
                                            <p:strVal val="hidden"/>
                                          </p:val>
                                        </p:tav>
                                        <p:tav tm="50000">
                                          <p:val>
                                            <p:strVal val="visible"/>
                                          </p:val>
                                        </p:tav>
                                      </p:tavLst>
                                    </p:anim>
                                  </p:childTnLst>
                                </p:cTn>
                              </p:par>
                            </p:childTnLst>
                          </p:cTn>
                        </p:par>
                        <p:par>
                          <p:cTn id="10" fill="hold">
                            <p:stCondLst>
                              <p:cond delay="4000"/>
                            </p:stCondLst>
                            <p:childTnLst>
                              <p:par>
                                <p:cTn id="11" presetID="53" presetClass="entr" presetSubtype="16" fill="hold" grpId="0" nodeType="afterEffect">
                                  <p:stCondLst>
                                    <p:cond delay="1000"/>
                                  </p:stCondLst>
                                  <p:childTnLst>
                                    <p:set>
                                      <p:cBhvr>
                                        <p:cTn id="12" dur="1" fill="hold">
                                          <p:stCondLst>
                                            <p:cond delay="0"/>
                                          </p:stCondLst>
                                        </p:cTn>
                                        <p:tgtEl>
                                          <p:spTgt spid="88"/>
                                        </p:tgtEl>
                                        <p:attrNameLst>
                                          <p:attrName>style.visibility</p:attrName>
                                        </p:attrNameLst>
                                      </p:cBhvr>
                                      <p:to>
                                        <p:strVal val="visible"/>
                                      </p:to>
                                    </p:set>
                                    <p:anim calcmode="lin" valueType="num">
                                      <p:cBhvr>
                                        <p:cTn id="13" dur="500" fill="hold"/>
                                        <p:tgtEl>
                                          <p:spTgt spid="88"/>
                                        </p:tgtEl>
                                        <p:attrNameLst>
                                          <p:attrName>ppt_w</p:attrName>
                                        </p:attrNameLst>
                                      </p:cBhvr>
                                      <p:tavLst>
                                        <p:tav tm="0">
                                          <p:val>
                                            <p:fltVal val="0"/>
                                          </p:val>
                                        </p:tav>
                                        <p:tav tm="100000">
                                          <p:val>
                                            <p:strVal val="#ppt_w"/>
                                          </p:val>
                                        </p:tav>
                                      </p:tavLst>
                                    </p:anim>
                                    <p:anim calcmode="lin" valueType="num">
                                      <p:cBhvr>
                                        <p:cTn id="14" dur="500" fill="hold"/>
                                        <p:tgtEl>
                                          <p:spTgt spid="88"/>
                                        </p:tgtEl>
                                        <p:attrNameLst>
                                          <p:attrName>ppt_h</p:attrName>
                                        </p:attrNameLst>
                                      </p:cBhvr>
                                      <p:tavLst>
                                        <p:tav tm="0">
                                          <p:val>
                                            <p:fltVal val="0"/>
                                          </p:val>
                                        </p:tav>
                                        <p:tav tm="100000">
                                          <p:val>
                                            <p:strVal val="#ppt_h"/>
                                          </p:val>
                                        </p:tav>
                                      </p:tavLst>
                                    </p:anim>
                                    <p:animEffect transition="in" filter="fade">
                                      <p:cBhvr>
                                        <p:cTn id="15" dur="5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animBg="1"/>
      <p:bldP spid="84" grpId="1" animBg="1"/>
      <p:bldP spid="8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506455" y="3710627"/>
            <a:ext cx="6149787" cy="759182"/>
          </a:xfrm>
          <a:prstGeom prst="rect">
            <a:avLst/>
          </a:prstGeom>
          <a:solidFill>
            <a:srgbClr val="000099"/>
          </a:solidFill>
        </p:spPr>
        <p:txBody>
          <a:bodyPr wrap="square">
            <a:spAutoFit/>
          </a:bodyPr>
          <a:lstStyle/>
          <a:p>
            <a:pPr algn="ctr">
              <a:lnSpc>
                <a:spcPts val="2600"/>
              </a:lnSpc>
            </a:pPr>
            <a:r>
              <a:rPr lang="en-US" altLang="zh-CN" b="1" dirty="0">
                <a:solidFill>
                  <a:schemeClr val="bg1"/>
                </a:solidFill>
                <a:latin typeface="微软雅黑" panose="020B0503020204020204" pitchFamily="34" charset="-122"/>
                <a:ea typeface="微软雅黑" panose="020B0503020204020204" pitchFamily="34" charset="-122"/>
              </a:rPr>
              <a:t>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a:t>
            </a: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p>
          <a:p>
            <a:pPr algn="ctr">
              <a:lnSpc>
                <a:spcPts val="2600"/>
              </a:lnSpc>
            </a:pPr>
            <a:r>
              <a:rPr lang="zh-CN" altLang="en-US" b="1" dirty="0">
                <a:solidFill>
                  <a:schemeClr val="bg1"/>
                </a:solidFill>
                <a:latin typeface="微软雅黑" panose="020B0503020204020204" pitchFamily="34" charset="-122"/>
                <a:ea typeface="微软雅黑" panose="020B0503020204020204" pitchFamily="34" charset="-122"/>
              </a:rPr>
              <a:t>数据字段长度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报文段长度 </a:t>
            </a:r>
            <a:r>
              <a:rPr lang="en-US" altLang="zh-CN" b="1" dirty="0">
                <a:solidFill>
                  <a:schemeClr val="bg1"/>
                </a:solidFill>
                <a:latin typeface="微软雅黑" panose="020B0503020204020204" pitchFamily="34" charset="-122"/>
                <a:ea typeface="微软雅黑" panose="020B0503020204020204" pitchFamily="34" charset="-122"/>
              </a:rPr>
              <a:t>– TCP </a:t>
            </a:r>
            <a:r>
              <a:rPr lang="zh-CN" altLang="en-US" b="1" dirty="0">
                <a:solidFill>
                  <a:schemeClr val="bg1"/>
                </a:solidFill>
                <a:latin typeface="微软雅黑" panose="020B0503020204020204" pitchFamily="34" charset="-122"/>
                <a:ea typeface="微软雅黑" panose="020B0503020204020204" pitchFamily="34" charset="-122"/>
              </a:rPr>
              <a:t>首部长度</a:t>
            </a:r>
            <a:endParaRPr lang="en-US" altLang="zh-CN" b="1" dirty="0">
              <a:solidFill>
                <a:schemeClr val="bg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06455" y="2130011"/>
            <a:ext cx="6328790" cy="1391025"/>
            <a:chOff x="1177329" y="2056381"/>
            <a:chExt cx="6976306" cy="1594803"/>
          </a:xfrm>
        </p:grpSpPr>
        <p:sp>
          <p:nvSpPr>
            <p:cNvPr id="31" name="矩形 30"/>
            <p:cNvSpPr/>
            <p:nvPr/>
          </p:nvSpPr>
          <p:spPr>
            <a:xfrm>
              <a:off x="1177329"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首部</a:t>
              </a:r>
            </a:p>
          </p:txBody>
        </p:sp>
        <p:sp>
          <p:nvSpPr>
            <p:cNvPr id="32" name="矩形 31"/>
            <p:cNvSpPr/>
            <p:nvPr/>
          </p:nvSpPr>
          <p:spPr>
            <a:xfrm>
              <a:off x="7158848" y="2556567"/>
              <a:ext cx="994787" cy="548348"/>
            </a:xfrm>
            <a:prstGeom prst="rect">
              <a:avLst/>
            </a:prstGeom>
            <a:solidFill>
              <a:srgbClr val="0070C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链路层</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尾部</a:t>
              </a:r>
            </a:p>
          </p:txBody>
        </p:sp>
        <p:sp>
          <p:nvSpPr>
            <p:cNvPr id="33" name="矩形 32"/>
            <p:cNvSpPr/>
            <p:nvPr/>
          </p:nvSpPr>
          <p:spPr>
            <a:xfrm>
              <a:off x="2162907" y="2556567"/>
              <a:ext cx="4995941" cy="548348"/>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b="1" dirty="0">
                <a:latin typeface="微软雅黑" panose="020B0503020204020204" pitchFamily="34" charset="-122"/>
                <a:ea typeface="微软雅黑" panose="020B0503020204020204" pitchFamily="34" charset="-122"/>
              </a:endParaRPr>
            </a:p>
          </p:txBody>
        </p:sp>
        <p:grpSp>
          <p:nvGrpSpPr>
            <p:cNvPr id="16" name="组合 15"/>
            <p:cNvGrpSpPr/>
            <p:nvPr/>
          </p:nvGrpSpPr>
          <p:grpSpPr>
            <a:xfrm>
              <a:off x="2682910" y="2629828"/>
              <a:ext cx="3959051" cy="411982"/>
              <a:chOff x="1748413" y="2421653"/>
              <a:chExt cx="3959051" cy="411982"/>
            </a:xfrm>
          </p:grpSpPr>
          <p:sp>
            <p:nvSpPr>
              <p:cNvPr id="15" name="矩形 14"/>
              <p:cNvSpPr/>
              <p:nvPr/>
            </p:nvSpPr>
            <p:spPr>
              <a:xfrm>
                <a:off x="1748413" y="2421653"/>
                <a:ext cx="994787" cy="411982"/>
              </a:xfrm>
              <a:prstGeom prst="rect">
                <a:avLst/>
              </a:prstGeom>
              <a:solidFill>
                <a:srgbClr val="0080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IP </a:t>
                </a:r>
                <a:r>
                  <a:rPr lang="zh-CN" altLang="en-US" sz="1200" b="1" dirty="0">
                    <a:latin typeface="微软雅黑" panose="020B0503020204020204" pitchFamily="34" charset="-122"/>
                    <a:ea typeface="微软雅黑" panose="020B0503020204020204" pitchFamily="34" charset="-122"/>
                  </a:rPr>
                  <a:t>首部</a:t>
                </a:r>
              </a:p>
            </p:txBody>
          </p:sp>
          <p:sp>
            <p:nvSpPr>
              <p:cNvPr id="17" name="矩形 16"/>
              <p:cNvSpPr/>
              <p:nvPr/>
            </p:nvSpPr>
            <p:spPr>
              <a:xfrm>
                <a:off x="2743196" y="2421653"/>
                <a:ext cx="994787" cy="411982"/>
              </a:xfrm>
              <a:prstGeom prst="rect">
                <a:avLst/>
              </a:prstGeom>
              <a:solidFill>
                <a:srgbClr val="0000CC"/>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latin typeface="微软雅黑" panose="020B0503020204020204" pitchFamily="34" charset="-122"/>
                    <a:ea typeface="微软雅黑" panose="020B0503020204020204" pitchFamily="34" charset="-122"/>
                  </a:rPr>
                  <a:t>TCP </a:t>
                </a:r>
                <a:r>
                  <a:rPr lang="zh-CN" altLang="en-US" sz="1200" b="1" dirty="0">
                    <a:latin typeface="微软雅黑" panose="020B0503020204020204" pitchFamily="34" charset="-122"/>
                    <a:ea typeface="微软雅黑" panose="020B0503020204020204" pitchFamily="34" charset="-122"/>
                  </a:rPr>
                  <a:t>首部</a:t>
                </a:r>
              </a:p>
            </p:txBody>
          </p:sp>
          <p:sp>
            <p:nvSpPr>
              <p:cNvPr id="18" name="矩形 17"/>
              <p:cNvSpPr/>
              <p:nvPr/>
            </p:nvSpPr>
            <p:spPr>
              <a:xfrm>
                <a:off x="3737983" y="2421653"/>
                <a:ext cx="1969481" cy="411982"/>
              </a:xfrm>
              <a:prstGeom prst="rect">
                <a:avLst/>
              </a:prstGeom>
              <a:solidFill>
                <a:srgbClr val="99330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数据</a:t>
                </a:r>
              </a:p>
            </p:txBody>
          </p:sp>
        </p:grpSp>
        <p:cxnSp>
          <p:nvCxnSpPr>
            <p:cNvPr id="23" name="直接箭头连接符 22"/>
            <p:cNvCxnSpPr/>
            <p:nvPr/>
          </p:nvCxnSpPr>
          <p:spPr>
            <a:xfrm>
              <a:off x="3677693" y="2394323"/>
              <a:ext cx="2964268" cy="0"/>
            </a:xfrm>
            <a:prstGeom prst="straightConnector1">
              <a:avLst/>
            </a:prstGeom>
            <a:ln w="12700">
              <a:solidFill>
                <a:srgbClr val="CC00CC"/>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4" name="Rectangle 4"/>
            <p:cNvSpPr>
              <a:spLocks noChangeArrowheads="1"/>
            </p:cNvSpPr>
            <p:nvPr/>
          </p:nvSpPr>
          <p:spPr bwMode="auto">
            <a:xfrm>
              <a:off x="4627267" y="2208572"/>
              <a:ext cx="1135465"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C00CC"/>
                  </a:solidFill>
                  <a:latin typeface="微软雅黑" pitchFamily="34" charset="-122"/>
                  <a:ea typeface="微软雅黑" pitchFamily="34" charset="-122"/>
                </a:rPr>
                <a:t>TCP </a:t>
              </a:r>
              <a:r>
                <a:rPr kumimoji="1" lang="zh-CN" altLang="en-US" sz="1200" b="1" dirty="0">
                  <a:solidFill>
                    <a:srgbClr val="CC00CC"/>
                  </a:solidFill>
                  <a:latin typeface="微软雅黑" pitchFamily="34" charset="-122"/>
                  <a:ea typeface="微软雅黑" pitchFamily="34" charset="-122"/>
                </a:rPr>
                <a:t>报文段</a:t>
              </a:r>
            </a:p>
          </p:txBody>
        </p:sp>
        <p:cxnSp>
          <p:nvCxnSpPr>
            <p:cNvPr id="26" name="直接箭头连接符 25"/>
            <p:cNvCxnSpPr/>
            <p:nvPr/>
          </p:nvCxnSpPr>
          <p:spPr>
            <a:xfrm>
              <a:off x="4662435" y="3319097"/>
              <a:ext cx="1979526" cy="0"/>
            </a:xfrm>
            <a:prstGeom prst="straightConnector1">
              <a:avLst/>
            </a:prstGeom>
            <a:ln w="12700">
              <a:solidFill>
                <a:srgbClr val="C00000"/>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7" name="Rectangle 4"/>
            <p:cNvSpPr>
              <a:spLocks noChangeArrowheads="1"/>
            </p:cNvSpPr>
            <p:nvPr/>
          </p:nvSpPr>
          <p:spPr bwMode="auto">
            <a:xfrm>
              <a:off x="5293193" y="3153442"/>
              <a:ext cx="615237"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C00000"/>
                  </a:solidFill>
                  <a:latin typeface="微软雅黑" pitchFamily="34" charset="-122"/>
                  <a:ea typeface="微软雅黑" pitchFamily="34" charset="-122"/>
                </a:rPr>
                <a:t>MSS</a:t>
              </a:r>
              <a:endParaRPr kumimoji="1" lang="zh-CN" altLang="en-US" sz="1200" b="1" dirty="0">
                <a:solidFill>
                  <a:srgbClr val="C00000"/>
                </a:solidFill>
                <a:latin typeface="微软雅黑" pitchFamily="34" charset="-122"/>
                <a:ea typeface="微软雅黑" pitchFamily="34" charset="-122"/>
              </a:endParaRPr>
            </a:p>
          </p:txBody>
        </p:sp>
        <p:cxnSp>
          <p:nvCxnSpPr>
            <p:cNvPr id="29" name="直接箭头连接符 28"/>
            <p:cNvCxnSpPr/>
            <p:nvPr/>
          </p:nvCxnSpPr>
          <p:spPr>
            <a:xfrm>
              <a:off x="2682910" y="3493864"/>
              <a:ext cx="3959051" cy="0"/>
            </a:xfrm>
            <a:prstGeom prst="straightConnector1">
              <a:avLst/>
            </a:prstGeom>
            <a:ln w="19050">
              <a:solidFill>
                <a:schemeClr val="tx1"/>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4"/>
            <p:cNvSpPr>
              <a:spLocks noChangeArrowheads="1"/>
            </p:cNvSpPr>
            <p:nvPr/>
          </p:nvSpPr>
          <p:spPr bwMode="auto">
            <a:xfrm>
              <a:off x="3891935" y="3336547"/>
              <a:ext cx="64243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latin typeface="微软雅黑" pitchFamily="34" charset="-122"/>
                  <a:ea typeface="微软雅黑" pitchFamily="34" charset="-122"/>
                </a:rPr>
                <a:t>MTU</a:t>
              </a:r>
              <a:endParaRPr kumimoji="1" lang="zh-CN" altLang="en-US" sz="1200" b="1" dirty="0">
                <a:latin typeface="微软雅黑" pitchFamily="34" charset="-122"/>
                <a:ea typeface="微软雅黑" pitchFamily="34" charset="-122"/>
              </a:endParaRPr>
            </a:p>
          </p:txBody>
        </p:sp>
        <p:cxnSp>
          <p:nvCxnSpPr>
            <p:cNvPr id="20" name="直接箭头连接符 19"/>
            <p:cNvCxnSpPr/>
            <p:nvPr/>
          </p:nvCxnSpPr>
          <p:spPr>
            <a:xfrm>
              <a:off x="2682910" y="2213698"/>
              <a:ext cx="3959051" cy="0"/>
            </a:xfrm>
            <a:prstGeom prst="straightConnector1">
              <a:avLst/>
            </a:prstGeom>
            <a:ln w="12700">
              <a:solidFill>
                <a:srgbClr val="000099"/>
              </a:solidFill>
              <a:prstDash val="sysDash"/>
              <a:headEnd type="triangle"/>
              <a:tailEnd type="triangle"/>
            </a:ln>
          </p:spPr>
          <p:style>
            <a:lnRef idx="1">
              <a:schemeClr val="dk1"/>
            </a:lnRef>
            <a:fillRef idx="0">
              <a:schemeClr val="dk1"/>
            </a:fillRef>
            <a:effectRef idx="0">
              <a:schemeClr val="dk1"/>
            </a:effectRef>
            <a:fontRef idx="minor">
              <a:schemeClr val="tx1"/>
            </a:fontRef>
          </p:style>
        </p:cxnSp>
        <p:sp>
          <p:nvSpPr>
            <p:cNvPr id="22" name="Rectangle 4"/>
            <p:cNvSpPr>
              <a:spLocks noChangeArrowheads="1"/>
            </p:cNvSpPr>
            <p:nvPr/>
          </p:nvSpPr>
          <p:spPr bwMode="auto">
            <a:xfrm>
              <a:off x="3711821" y="2056381"/>
              <a:ext cx="954593" cy="314637"/>
            </a:xfrm>
            <a:prstGeom prst="rect">
              <a:avLst/>
            </a:prstGeom>
            <a:solidFill>
              <a:schemeClr val="bg1"/>
            </a:solidFill>
            <a:ln>
              <a:noFill/>
            </a:ln>
            <a:effectLst/>
          </p:spPr>
          <p:txBody>
            <a:bodyPr vert="horz" wrap="square" lIns="90488" tIns="44450" rIns="90488" bIns="44450" anchor="ctr">
              <a:spAutoFit/>
            </a:bodyPr>
            <a:lstStyle/>
            <a:p>
              <a:pPr algn="ctr" defTabSz="762000" eaLnBrk="0" hangingPunct="0"/>
              <a:r>
                <a:rPr kumimoji="1" lang="en-US" altLang="zh-CN" sz="1200" b="1" dirty="0">
                  <a:solidFill>
                    <a:srgbClr val="000099"/>
                  </a:solidFill>
                  <a:latin typeface="微软雅黑" pitchFamily="34" charset="-122"/>
                  <a:ea typeface="微软雅黑" pitchFamily="34" charset="-122"/>
                </a:rPr>
                <a:t>IP </a:t>
              </a:r>
              <a:r>
                <a:rPr kumimoji="1" lang="zh-CN" altLang="en-US" sz="1200" b="1" dirty="0">
                  <a:solidFill>
                    <a:srgbClr val="000099"/>
                  </a:solidFill>
                  <a:latin typeface="微软雅黑" pitchFamily="34" charset="-122"/>
                  <a:ea typeface="微软雅黑" pitchFamily="34" charset="-122"/>
                </a:rPr>
                <a:t>数据报</a:t>
              </a:r>
            </a:p>
          </p:txBody>
        </p:sp>
      </p:grpSp>
      <p:sp>
        <p:nvSpPr>
          <p:cNvPr id="10" name="内容占位符 9">
            <a:extLst>
              <a:ext uri="{FF2B5EF4-FFF2-40B4-BE49-F238E27FC236}">
                <a16:creationId xmlns:a16="http://schemas.microsoft.com/office/drawing/2014/main" id="{131AC2E9-1868-4EB8-C3DB-B0EC2E8CF6B9}"/>
              </a:ext>
            </a:extLst>
          </p:cNvPr>
          <p:cNvSpPr>
            <a:spLocks noGrp="1"/>
          </p:cNvSpPr>
          <p:nvPr>
            <p:ph sz="quarter" idx="11"/>
          </p:nvPr>
        </p:nvSpPr>
        <p:spPr>
          <a:xfrm>
            <a:off x="486000" y="482554"/>
            <a:ext cx="8172000" cy="4120946"/>
          </a:xfrm>
        </p:spPr>
        <p:txBody>
          <a:bodyPr/>
          <a:lstStyle/>
          <a:p>
            <a:r>
              <a:rPr lang="zh-CN" altLang="en-US" dirty="0"/>
              <a:t>最大报文段长度 </a:t>
            </a:r>
            <a:r>
              <a:rPr lang="en-US" altLang="zh-CN" dirty="0"/>
              <a:t>MSS  (Maximum Segment Size) </a:t>
            </a:r>
            <a:r>
              <a:rPr lang="zh-CN" altLang="en-US" dirty="0"/>
              <a:t>是每个 </a:t>
            </a:r>
            <a:r>
              <a:rPr lang="en-US" altLang="zh-CN" dirty="0"/>
              <a:t>TCP </a:t>
            </a:r>
            <a:r>
              <a:rPr lang="zh-CN" altLang="en-US" dirty="0"/>
              <a:t>报文段中的数据字段的最大长度。</a:t>
            </a:r>
            <a:endParaRPr lang="en-US" altLang="zh-CN" dirty="0"/>
          </a:p>
          <a:p>
            <a:r>
              <a:rPr lang="zh-CN" altLang="en-US" dirty="0"/>
              <a:t>与接收窗口值没有关系。</a:t>
            </a:r>
            <a:endParaRPr lang="en-US" altLang="zh-CN" dirty="0"/>
          </a:p>
          <a:p>
            <a:endParaRPr lang="zh-CN" altLang="en-US" dirty="0"/>
          </a:p>
        </p:txBody>
      </p:sp>
      <p:sp>
        <p:nvSpPr>
          <p:cNvPr id="9" name="标题 8">
            <a:extLst>
              <a:ext uri="{FF2B5EF4-FFF2-40B4-BE49-F238E27FC236}">
                <a16:creationId xmlns:a16="http://schemas.microsoft.com/office/drawing/2014/main" id="{80A31EC4-9590-2616-AF18-805513482DF4}"/>
              </a:ext>
            </a:extLst>
          </p:cNvPr>
          <p:cNvSpPr>
            <a:spLocks noGrp="1"/>
          </p:cNvSpPr>
          <p:nvPr>
            <p:ph type="title"/>
          </p:nvPr>
        </p:nvSpPr>
        <p:spPr>
          <a:xfrm>
            <a:off x="2808000" y="144000"/>
            <a:ext cx="3528000" cy="338554"/>
          </a:xfrm>
        </p:spPr>
        <p:txBody>
          <a:bodyPr/>
          <a:lstStyle/>
          <a:p>
            <a:r>
              <a:rPr lang="zh-CN" altLang="en-US" dirty="0"/>
              <a:t>选项（</a:t>
            </a:r>
            <a:r>
              <a:rPr lang="en-US" altLang="zh-CN" dirty="0"/>
              <a:t>2</a:t>
            </a:r>
            <a:r>
              <a:rPr lang="zh-CN" altLang="en-US" dirty="0"/>
              <a:t>）：最大报文段长度 </a:t>
            </a:r>
            <a:r>
              <a:rPr lang="en-US" altLang="zh-CN" dirty="0"/>
              <a:t>MSS</a:t>
            </a:r>
            <a:endParaRPr lang="zh-CN" altLang="en-US" dirty="0"/>
          </a:p>
        </p:txBody>
      </p:sp>
    </p:spTree>
    <p:extLst>
      <p:ext uri="{BB962C8B-B14F-4D97-AF65-F5344CB8AC3E}">
        <p14:creationId xmlns:p14="http://schemas.microsoft.com/office/powerpoint/2010/main" val="371724341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56963" y="1280202"/>
            <a:ext cx="7992748" cy="2497978"/>
            <a:chOff x="799560" y="1280202"/>
            <a:chExt cx="7620959" cy="2497978"/>
          </a:xfrm>
        </p:grpSpPr>
        <p:sp>
          <p:nvSpPr>
            <p:cNvPr id="9" name="任意多边形 8"/>
            <p:cNvSpPr/>
            <p:nvPr/>
          </p:nvSpPr>
          <p:spPr>
            <a:xfrm>
              <a:off x="799560"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kern="1200" dirty="0">
                  <a:solidFill>
                    <a:srgbClr val="000066"/>
                  </a:solidFill>
                  <a:latin typeface="微软雅黑 Light" panose="020B0502040204020203" pitchFamily="34" charset="-122"/>
                  <a:ea typeface="微软雅黑 Light" panose="020B0502040204020203" pitchFamily="34" charset="-122"/>
                </a:rPr>
                <a:t>不能太小</a:t>
              </a:r>
            </a:p>
          </p:txBody>
        </p:sp>
        <p:sp>
          <p:nvSpPr>
            <p:cNvPr id="10" name="任意多边形 9"/>
            <p:cNvSpPr/>
            <p:nvPr/>
          </p:nvSpPr>
          <p:spPr>
            <a:xfrm>
              <a:off x="799560"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a:no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网络利用率降低。</a:t>
              </a:r>
            </a:p>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例如：仅 </a:t>
              </a:r>
              <a:r>
                <a:rPr lang="en-US" altLang="zh-CN" sz="1400" kern="1200" dirty="0">
                  <a:latin typeface="微软雅黑 Light" panose="020B0502040204020203" pitchFamily="34" charset="-122"/>
                  <a:ea typeface="微软雅黑 Light" panose="020B0502040204020203" pitchFamily="34" charset="-122"/>
                </a:rPr>
                <a:t>1 </a:t>
              </a:r>
              <a:r>
                <a:rPr lang="zh-CN" altLang="en-US" sz="1400" kern="1200" dirty="0">
                  <a:latin typeface="微软雅黑 Light" panose="020B0502040204020203" pitchFamily="34" charset="-122"/>
                  <a:ea typeface="微软雅黑 Light" panose="020B0502040204020203" pitchFamily="34" charset="-122"/>
                </a:rPr>
                <a:t>个字节。利用率就不会超过</a:t>
              </a:r>
              <a:r>
                <a:rPr lang="en-US" altLang="en-US" sz="1400" kern="1200" dirty="0">
                  <a:latin typeface="微软雅黑 Light" panose="020B0502040204020203" pitchFamily="34" charset="-122"/>
                  <a:ea typeface="微软雅黑 Light" panose="020B0502040204020203" pitchFamily="34" charset="-122"/>
                </a:rPr>
                <a:t>1/41</a:t>
              </a:r>
              <a:r>
                <a:rPr lang="zh-CN" altLang="en-US" sz="1400" kern="1200" dirty="0">
                  <a:latin typeface="微软雅黑 Light" panose="020B0502040204020203" pitchFamily="34" charset="-122"/>
                  <a:ea typeface="微软雅黑 Light" panose="020B0502040204020203" pitchFamily="34" charset="-122"/>
                </a:rPr>
                <a:t>。</a:t>
              </a:r>
            </a:p>
          </p:txBody>
        </p:sp>
        <p:sp>
          <p:nvSpPr>
            <p:cNvPr id="11" name="任意多边形 10"/>
            <p:cNvSpPr/>
            <p:nvPr/>
          </p:nvSpPr>
          <p:spPr>
            <a:xfrm>
              <a:off x="3333038" y="1280202"/>
              <a:ext cx="2477963"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kern="1200" dirty="0">
                  <a:solidFill>
                    <a:srgbClr val="000066"/>
                  </a:solidFill>
                  <a:latin typeface="微软雅黑 Light" panose="020B0502040204020203" pitchFamily="34" charset="-122"/>
                  <a:ea typeface="微软雅黑 Light" panose="020B0502040204020203" pitchFamily="34" charset="-122"/>
                </a:rPr>
                <a:t>不能太大</a:t>
              </a:r>
            </a:p>
          </p:txBody>
        </p:sp>
        <p:sp>
          <p:nvSpPr>
            <p:cNvPr id="12" name="任意多边形 11"/>
            <p:cNvSpPr/>
            <p:nvPr/>
          </p:nvSpPr>
          <p:spPr>
            <a:xfrm>
              <a:off x="3333038" y="1691519"/>
              <a:ext cx="2477963"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a:noFill/>
          </p:spPr>
          <p:style>
            <a:lnRef idx="2">
              <a:schemeClr val="accent3">
                <a:tint val="40000"/>
                <a:alpha val="90000"/>
                <a:hueOff val="0"/>
                <a:satOff val="0"/>
                <a:lumOff val="0"/>
                <a:alphaOff val="0"/>
              </a:schemeClr>
            </a:lnRef>
            <a:fillRef idx="1">
              <a:schemeClr val="accent3">
                <a:tint val="40000"/>
                <a:alpha val="90000"/>
                <a:hueOff val="0"/>
                <a:satOff val="0"/>
                <a:lumOff val="0"/>
                <a:alphaOff val="0"/>
              </a:schemeClr>
            </a:fillRef>
            <a:effectRef idx="0">
              <a:schemeClr val="accent3">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开销增大。</a:t>
              </a:r>
            </a:p>
            <a:p>
              <a:pPr marL="114300" lvl="1" indent="-114300" algn="l" defTabSz="533400">
                <a:lnSpc>
                  <a:spcPts val="2400"/>
                </a:lnSpc>
                <a:spcBef>
                  <a:spcPct val="0"/>
                </a:spcBef>
                <a:spcAft>
                  <a:spcPts val="0"/>
                </a:spcAft>
                <a:buChar char="••"/>
              </a:pPr>
              <a:r>
                <a:rPr lang="en-US" altLang="en-US" sz="1400" kern="1200" dirty="0">
                  <a:latin typeface="微软雅黑 Light" panose="020B0502040204020203" pitchFamily="34" charset="-122"/>
                  <a:ea typeface="微软雅黑 Light" panose="020B0502040204020203" pitchFamily="34" charset="-122"/>
                </a:rPr>
                <a:t>IP </a:t>
              </a:r>
              <a:r>
                <a:rPr lang="zh-CN" altLang="en-US" sz="1400" kern="1200" dirty="0">
                  <a:latin typeface="微软雅黑 Light" panose="020B0502040204020203" pitchFamily="34" charset="-122"/>
                  <a:ea typeface="微软雅黑 Light" panose="020B0502040204020203" pitchFamily="34" charset="-122"/>
                </a:rPr>
                <a:t>层传输时要分片，终点要装配。</a:t>
              </a:r>
            </a:p>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分片传输出错时，要整个分组。</a:t>
              </a:r>
            </a:p>
          </p:txBody>
        </p:sp>
        <p:sp>
          <p:nvSpPr>
            <p:cNvPr id="13" name="任意多边形 12"/>
            <p:cNvSpPr/>
            <p:nvPr/>
          </p:nvSpPr>
          <p:spPr>
            <a:xfrm>
              <a:off x="5866519" y="1280202"/>
              <a:ext cx="2554000" cy="387824"/>
            </a:xfrm>
            <a:custGeom>
              <a:avLst/>
              <a:gdLst>
                <a:gd name="connsiteX0" fmla="*/ 0 w 2226058"/>
                <a:gd name="connsiteY0" fmla="*/ 0 h 403200"/>
                <a:gd name="connsiteX1" fmla="*/ 2226058 w 2226058"/>
                <a:gd name="connsiteY1" fmla="*/ 0 h 403200"/>
                <a:gd name="connsiteX2" fmla="*/ 2226058 w 2226058"/>
                <a:gd name="connsiteY2" fmla="*/ 403200 h 403200"/>
                <a:gd name="connsiteX3" fmla="*/ 0 w 2226058"/>
                <a:gd name="connsiteY3" fmla="*/ 403200 h 403200"/>
                <a:gd name="connsiteX4" fmla="*/ 0 w 2226058"/>
                <a:gd name="connsiteY4" fmla="*/ 0 h 403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403200">
                  <a:moveTo>
                    <a:pt x="0" y="0"/>
                  </a:moveTo>
                  <a:lnTo>
                    <a:pt x="2226058" y="0"/>
                  </a:lnTo>
                  <a:lnTo>
                    <a:pt x="2226058" y="403200"/>
                  </a:lnTo>
                  <a:lnTo>
                    <a:pt x="0" y="403200"/>
                  </a:lnTo>
                  <a:lnTo>
                    <a:pt x="0" y="0"/>
                  </a:lnTo>
                  <a:close/>
                </a:path>
              </a:pathLst>
            </a:custGeom>
          </p:spPr>
          <p:style>
            <a:lnRef idx="2">
              <a:schemeClr val="accent4">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9568" tIns="56896" rIns="99568" bIns="56896" numCol="1" spcCol="1270" anchor="ctr" anchorCtr="0">
              <a:noAutofit/>
            </a:bodyPr>
            <a:lstStyle/>
            <a:p>
              <a:pPr lvl="0" algn="ctr" defTabSz="622300">
                <a:lnSpc>
                  <a:spcPts val="2000"/>
                </a:lnSpc>
                <a:spcBef>
                  <a:spcPct val="0"/>
                </a:spcBef>
                <a:spcAft>
                  <a:spcPts val="0"/>
                </a:spcAft>
              </a:pPr>
              <a:r>
                <a:rPr lang="zh-CN" altLang="en-US" sz="1600" kern="1200" dirty="0">
                  <a:solidFill>
                    <a:schemeClr val="bg1"/>
                  </a:solidFill>
                  <a:latin typeface="微软雅黑 Light" panose="020B0502040204020203" pitchFamily="34" charset="-122"/>
                  <a:ea typeface="微软雅黑 Light" panose="020B0502040204020203" pitchFamily="34" charset="-122"/>
                </a:rPr>
                <a:t>应尽可能大</a:t>
              </a:r>
            </a:p>
          </p:txBody>
        </p:sp>
        <p:sp>
          <p:nvSpPr>
            <p:cNvPr id="14" name="任意多边形 13"/>
            <p:cNvSpPr/>
            <p:nvPr/>
          </p:nvSpPr>
          <p:spPr>
            <a:xfrm>
              <a:off x="5866519" y="1691519"/>
              <a:ext cx="2554000" cy="2086661"/>
            </a:xfrm>
            <a:custGeom>
              <a:avLst/>
              <a:gdLst>
                <a:gd name="connsiteX0" fmla="*/ 0 w 2226058"/>
                <a:gd name="connsiteY0" fmla="*/ 0 h 1711335"/>
                <a:gd name="connsiteX1" fmla="*/ 2226058 w 2226058"/>
                <a:gd name="connsiteY1" fmla="*/ 0 h 1711335"/>
                <a:gd name="connsiteX2" fmla="*/ 2226058 w 2226058"/>
                <a:gd name="connsiteY2" fmla="*/ 1711335 h 1711335"/>
                <a:gd name="connsiteX3" fmla="*/ 0 w 2226058"/>
                <a:gd name="connsiteY3" fmla="*/ 1711335 h 1711335"/>
                <a:gd name="connsiteX4" fmla="*/ 0 w 2226058"/>
                <a:gd name="connsiteY4" fmla="*/ 0 h 17113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26058" h="1711335">
                  <a:moveTo>
                    <a:pt x="0" y="0"/>
                  </a:moveTo>
                  <a:lnTo>
                    <a:pt x="2226058" y="0"/>
                  </a:lnTo>
                  <a:lnTo>
                    <a:pt x="2226058" y="1711335"/>
                  </a:lnTo>
                  <a:lnTo>
                    <a:pt x="0" y="1711335"/>
                  </a:lnTo>
                  <a:lnTo>
                    <a:pt x="0" y="0"/>
                  </a:lnTo>
                  <a:close/>
                </a:path>
              </a:pathLst>
            </a:custGeom>
            <a:noFill/>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64008" tIns="64008" rIns="85344" bIns="96012" numCol="1" spcCol="1270" anchor="t" anchorCtr="0">
              <a:noAutofit/>
            </a:bodyPr>
            <a:lstStyle/>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只要在 </a:t>
              </a:r>
              <a:r>
                <a:rPr lang="en-US" altLang="en-US" sz="1400" kern="1200" dirty="0">
                  <a:latin typeface="微软雅黑 Light" panose="020B0502040204020203" pitchFamily="34" charset="-122"/>
                  <a:ea typeface="微软雅黑 Light" panose="020B0502040204020203" pitchFamily="34" charset="-122"/>
                </a:rPr>
                <a:t>IP </a:t>
              </a:r>
              <a:r>
                <a:rPr lang="zh-CN" altLang="en-US" sz="1400" kern="1200" dirty="0">
                  <a:latin typeface="微软雅黑 Light" panose="020B0502040204020203" pitchFamily="34" charset="-122"/>
                  <a:ea typeface="微软雅黑 Light" panose="020B0502040204020203" pitchFamily="34" charset="-122"/>
                </a:rPr>
                <a:t>层传输时不再分片。</a:t>
              </a:r>
            </a:p>
            <a:p>
              <a:pPr marL="114300" lvl="1" indent="-114300" algn="l" defTabSz="533400">
                <a:lnSpc>
                  <a:spcPts val="2400"/>
                </a:lnSpc>
                <a:spcBef>
                  <a:spcPct val="0"/>
                </a:spcBef>
                <a:spcAft>
                  <a:spcPts val="0"/>
                </a:spcAft>
                <a:buChar char="••"/>
              </a:pPr>
              <a:r>
                <a:rPr lang="zh-CN" altLang="en-US" sz="1400" kern="1200" dirty="0">
                  <a:latin typeface="微软雅黑 Light" panose="020B0502040204020203" pitchFamily="34" charset="-122"/>
                  <a:ea typeface="微软雅黑 Light" panose="020B0502040204020203" pitchFamily="34" charset="-122"/>
                </a:rPr>
                <a:t>默认值</a:t>
              </a:r>
              <a:r>
                <a:rPr lang="en-US" altLang="zh-CN" sz="1400" kern="1200" dirty="0">
                  <a:latin typeface="微软雅黑 Light" panose="020B0502040204020203" pitchFamily="34" charset="-122"/>
                  <a:ea typeface="微软雅黑 Light" panose="020B0502040204020203" pitchFamily="34" charset="-122"/>
                </a:rPr>
                <a:t>= </a:t>
              </a:r>
              <a:r>
                <a:rPr lang="en-US" altLang="en-US" sz="1400" kern="1200" dirty="0">
                  <a:latin typeface="微软雅黑 Light" panose="020B0502040204020203" pitchFamily="34" charset="-122"/>
                  <a:ea typeface="微软雅黑 Light" panose="020B0502040204020203" pitchFamily="34" charset="-122"/>
                </a:rPr>
                <a:t>536 </a:t>
              </a:r>
              <a:r>
                <a:rPr lang="zh-CN" altLang="en-US" sz="1400" kern="1200" dirty="0">
                  <a:latin typeface="微软雅黑 Light" panose="020B0502040204020203" pitchFamily="34" charset="-122"/>
                  <a:ea typeface="微软雅黑 Light" panose="020B0502040204020203" pitchFamily="34" charset="-122"/>
                </a:rPr>
                <a:t>字节。</a:t>
              </a:r>
              <a:endParaRPr lang="en-US" altLang="zh-CN" sz="1400" kern="1200" dirty="0">
                <a:latin typeface="微软雅黑 Light" panose="020B0502040204020203" pitchFamily="34" charset="-122"/>
                <a:ea typeface="微软雅黑 Light" panose="020B0502040204020203" pitchFamily="34" charset="-122"/>
              </a:endParaRPr>
            </a:p>
            <a:p>
              <a:pPr marL="361950" lvl="2" indent="-114300" defTabSz="533400">
                <a:lnSpc>
                  <a:spcPts val="2400"/>
                </a:lnSpc>
                <a:spcBef>
                  <a:spcPct val="0"/>
                </a:spcBef>
                <a:buSzPct val="50000"/>
                <a:buFont typeface="Wingdings" panose="05000000000000000000" pitchFamily="2" charset="2"/>
                <a:buChar char="u"/>
              </a:pPr>
              <a:r>
                <a:rPr lang="zh-CN" altLang="en-US" sz="1400" kern="1200" dirty="0">
                  <a:solidFill>
                    <a:srgbClr val="C00000"/>
                  </a:solidFill>
                  <a:latin typeface="微软雅黑 Light" panose="020B0502040204020203" pitchFamily="34" charset="-122"/>
                  <a:ea typeface="微软雅黑 Light" panose="020B0502040204020203" pitchFamily="34" charset="-122"/>
                </a:rPr>
                <a:t>报文段长度 </a:t>
              </a:r>
              <a:r>
                <a:rPr lang="en-US" altLang="zh-CN" sz="1400" kern="1200" dirty="0">
                  <a:latin typeface="微软雅黑 Light" panose="020B0502040204020203" pitchFamily="34" charset="-122"/>
                  <a:ea typeface="微软雅黑 Light" panose="020B0502040204020203" pitchFamily="34" charset="-122"/>
                </a:rPr>
                <a:t>=</a:t>
              </a:r>
              <a:r>
                <a:rPr lang="zh-CN" altLang="en-US" sz="1400" kern="1200" dirty="0">
                  <a:latin typeface="微软雅黑 Light" panose="020B0502040204020203" pitchFamily="34" charset="-122"/>
                  <a:ea typeface="微软雅黑 Light" panose="020B0502040204020203" pitchFamily="34" charset="-122"/>
                </a:rPr>
                <a:t> </a:t>
              </a:r>
              <a:r>
                <a:rPr lang="en-US" altLang="en-US" sz="1400" kern="1200" dirty="0">
                  <a:latin typeface="微软雅黑 Light" panose="020B0502040204020203" pitchFamily="34" charset="-122"/>
                  <a:ea typeface="微软雅黑 Light" panose="020B0502040204020203" pitchFamily="34" charset="-122"/>
                </a:rPr>
                <a:t>536 </a:t>
              </a:r>
              <a:r>
                <a:rPr lang="en-US" altLang="zh-CN" sz="1400" kern="1200" dirty="0">
                  <a:latin typeface="微软雅黑 Light" panose="020B0502040204020203" pitchFamily="34" charset="-122"/>
                  <a:ea typeface="微软雅黑 Light" panose="020B0502040204020203" pitchFamily="34" charset="-122"/>
                </a:rPr>
                <a:t>+</a:t>
              </a:r>
              <a:r>
                <a:rPr lang="en-US" altLang="en-US" sz="1400" kern="1200" dirty="0">
                  <a:latin typeface="微软雅黑 Light" panose="020B0502040204020203" pitchFamily="34" charset="-122"/>
                  <a:ea typeface="微软雅黑 Light" panose="020B0502040204020203" pitchFamily="34" charset="-122"/>
                </a:rPr>
                <a:t> 20 </a:t>
              </a:r>
              <a:r>
                <a:rPr lang="en-US" altLang="zh-CN" sz="1400" kern="1200" dirty="0">
                  <a:latin typeface="微软雅黑 Light" panose="020B0502040204020203" pitchFamily="34" charset="-122"/>
                  <a:ea typeface="微软雅黑 Light" panose="020B0502040204020203" pitchFamily="34" charset="-122"/>
                </a:rPr>
                <a:t>= 556 </a:t>
              </a:r>
              <a:r>
                <a:rPr lang="zh-CN" altLang="en-US" sz="1400" kern="1200" dirty="0">
                  <a:latin typeface="微软雅黑 Light" panose="020B0502040204020203" pitchFamily="34" charset="-122"/>
                  <a:ea typeface="微软雅黑 Light" panose="020B0502040204020203" pitchFamily="34" charset="-122"/>
                </a:rPr>
                <a:t>字节。</a:t>
              </a:r>
              <a:endParaRPr lang="en-US" altLang="zh-CN" sz="1400" kern="1200" dirty="0">
                <a:latin typeface="微软雅黑 Light" panose="020B0502040204020203" pitchFamily="34" charset="-122"/>
                <a:ea typeface="微软雅黑 Light" panose="020B0502040204020203" pitchFamily="34" charset="-122"/>
              </a:endParaRPr>
            </a:p>
            <a:p>
              <a:pPr marL="361950" lvl="2" indent="-114300" defTabSz="533400">
                <a:lnSpc>
                  <a:spcPts val="2400"/>
                </a:lnSpc>
                <a:spcBef>
                  <a:spcPct val="0"/>
                </a:spcBef>
                <a:buSzPct val="50000"/>
                <a:buFont typeface="Wingdings" panose="05000000000000000000" pitchFamily="2" charset="2"/>
                <a:buChar char="u"/>
              </a:pPr>
              <a:r>
                <a:rPr lang="en-US" altLang="zh-CN" sz="1400" dirty="0">
                  <a:solidFill>
                    <a:srgbClr val="C00000"/>
                  </a:solidFill>
                  <a:latin typeface="微软雅黑 Light" panose="020B0502040204020203" pitchFamily="34" charset="-122"/>
                  <a:ea typeface="微软雅黑 Light" panose="020B0502040204020203" pitchFamily="34" charset="-122"/>
                </a:rPr>
                <a:t>IP </a:t>
              </a:r>
              <a:r>
                <a:rPr lang="zh-CN" altLang="en-US" sz="1400" dirty="0">
                  <a:solidFill>
                    <a:srgbClr val="C00000"/>
                  </a:solidFill>
                  <a:latin typeface="微软雅黑 Light" panose="020B0502040204020203" pitchFamily="34" charset="-122"/>
                  <a:ea typeface="微软雅黑 Light" panose="020B0502040204020203" pitchFamily="34" charset="-122"/>
                </a:rPr>
                <a:t>数据报长度 </a:t>
              </a:r>
              <a:r>
                <a:rPr lang="en-US" altLang="zh-CN" sz="1400" dirty="0">
                  <a:latin typeface="微软雅黑 Light" panose="020B0502040204020203" pitchFamily="34" charset="-122"/>
                  <a:ea typeface="微软雅黑 Light" panose="020B0502040204020203" pitchFamily="34" charset="-122"/>
                </a:rPr>
                <a:t>= 576 </a:t>
              </a:r>
              <a:r>
                <a:rPr lang="zh-CN" altLang="en-US" sz="1400" dirty="0">
                  <a:latin typeface="微软雅黑 Light" panose="020B0502040204020203" pitchFamily="34" charset="-122"/>
                  <a:ea typeface="微软雅黑 Light" panose="020B0502040204020203" pitchFamily="34" charset="-122"/>
                </a:rPr>
                <a:t>字节。</a:t>
              </a:r>
              <a:endParaRPr lang="zh-CN" altLang="en-US" sz="1400" kern="1200" dirty="0">
                <a:latin typeface="微软雅黑 Light" panose="020B0502040204020203" pitchFamily="34" charset="-122"/>
                <a:ea typeface="微软雅黑 Light" panose="020B0502040204020203" pitchFamily="34" charset="-122"/>
              </a:endParaRPr>
            </a:p>
          </p:txBody>
        </p:sp>
      </p:grpSp>
      <p:sp>
        <p:nvSpPr>
          <p:cNvPr id="4" name="标题 3">
            <a:extLst>
              <a:ext uri="{FF2B5EF4-FFF2-40B4-BE49-F238E27FC236}">
                <a16:creationId xmlns:a16="http://schemas.microsoft.com/office/drawing/2014/main" id="{4646C5FD-99D9-0421-C8B9-893FB939EEC4}"/>
              </a:ext>
            </a:extLst>
          </p:cNvPr>
          <p:cNvSpPr>
            <a:spLocks noGrp="1"/>
          </p:cNvSpPr>
          <p:nvPr>
            <p:ph type="title"/>
          </p:nvPr>
        </p:nvSpPr>
        <p:spPr>
          <a:xfrm>
            <a:off x="2808000" y="144000"/>
            <a:ext cx="3528000" cy="338554"/>
          </a:xfrm>
        </p:spPr>
        <p:txBody>
          <a:bodyPr/>
          <a:lstStyle/>
          <a:p>
            <a:r>
              <a:rPr lang="zh-CN" altLang="en-US" dirty="0"/>
              <a:t>选项（</a:t>
            </a:r>
            <a:r>
              <a:rPr lang="en-US" altLang="zh-CN" dirty="0"/>
              <a:t>2</a:t>
            </a:r>
            <a:r>
              <a:rPr lang="zh-CN" altLang="en-US" dirty="0"/>
              <a:t>）：最大报文段长度 </a:t>
            </a:r>
            <a:r>
              <a:rPr lang="en-US" altLang="zh-CN" dirty="0"/>
              <a:t>MSS</a:t>
            </a:r>
          </a:p>
        </p:txBody>
      </p:sp>
    </p:spTree>
    <p:extLst>
      <p:ext uri="{BB962C8B-B14F-4D97-AF65-F5344CB8AC3E}">
        <p14:creationId xmlns:p14="http://schemas.microsoft.com/office/powerpoint/2010/main" val="28332606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427874" y="1595338"/>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1595338"/>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8" name="矩形 7"/>
          <p:cNvSpPr/>
          <p:nvPr/>
        </p:nvSpPr>
        <p:spPr>
          <a:xfrm>
            <a:off x="2402902" y="2205895"/>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1911225"/>
            <a:ext cx="3852651" cy="201843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19" name="组合 18"/>
          <p:cNvGrpSpPr/>
          <p:nvPr/>
        </p:nvGrpSpPr>
        <p:grpSpPr>
          <a:xfrm>
            <a:off x="2927772" y="2245577"/>
            <a:ext cx="1692409" cy="179438"/>
            <a:chOff x="3217033" y="1975584"/>
            <a:chExt cx="1731485" cy="211386"/>
          </a:xfrm>
        </p:grpSpPr>
        <p:sp>
          <p:nvSpPr>
            <p:cNvPr id="12"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1" name="组合 20"/>
          <p:cNvGrpSpPr/>
          <p:nvPr/>
        </p:nvGrpSpPr>
        <p:grpSpPr>
          <a:xfrm>
            <a:off x="2883725" y="1897314"/>
            <a:ext cx="965479" cy="272078"/>
            <a:chOff x="3171969" y="1579654"/>
            <a:chExt cx="987771" cy="320520"/>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987771" cy="287034"/>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64 KB </a:t>
              </a:r>
              <a:r>
                <a:rPr lang="zh-CN" altLang="en-US" sz="1200" b="1" dirty="0">
                  <a:latin typeface="微软雅黑" panose="020B0503020204020204" pitchFamily="34" charset="-122"/>
                  <a:ea typeface="微软雅黑" panose="020B0503020204020204" pitchFamily="34" charset="-122"/>
                </a:rPr>
                <a:t>窗口</a:t>
              </a:r>
            </a:p>
          </p:txBody>
        </p:sp>
      </p:grpSp>
      <p:grpSp>
        <p:nvGrpSpPr>
          <p:cNvPr id="23" name="组合 22"/>
          <p:cNvGrpSpPr/>
          <p:nvPr/>
        </p:nvGrpSpPr>
        <p:grpSpPr>
          <a:xfrm>
            <a:off x="4244378" y="2616885"/>
            <a:ext cx="1692409" cy="179438"/>
            <a:chOff x="3217033" y="1975584"/>
            <a:chExt cx="1731485" cy="211386"/>
          </a:xfrm>
        </p:grpSpPr>
        <p:sp>
          <p:nvSpPr>
            <p:cNvPr id="24" name="Rectangle 14"/>
            <p:cNvSpPr>
              <a:spLocks noChangeArrowheads="1"/>
            </p:cNvSpPr>
            <p:nvPr/>
          </p:nvSpPr>
          <p:spPr bwMode="auto">
            <a:xfrm>
              <a:off x="3217033"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5" name="Rectangle 15"/>
            <p:cNvSpPr>
              <a:spLocks noChangeArrowheads="1"/>
            </p:cNvSpPr>
            <p:nvPr/>
          </p:nvSpPr>
          <p:spPr bwMode="auto">
            <a:xfrm>
              <a:off x="3447299"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6" name="Rectangle 16"/>
            <p:cNvSpPr>
              <a:spLocks noChangeArrowheads="1"/>
            </p:cNvSpPr>
            <p:nvPr/>
          </p:nvSpPr>
          <p:spPr bwMode="auto">
            <a:xfrm>
              <a:off x="3686529" y="197558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27" name="Rectangle 17"/>
            <p:cNvSpPr>
              <a:spLocks noChangeArrowheads="1"/>
            </p:cNvSpPr>
            <p:nvPr/>
          </p:nvSpPr>
          <p:spPr bwMode="auto">
            <a:xfrm>
              <a:off x="3916795" y="197558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28" name="直接箭头连接符 27"/>
            <p:cNvCxnSpPr/>
            <p:nvPr/>
          </p:nvCxnSpPr>
          <p:spPr>
            <a:xfrm>
              <a:off x="4195482" y="2070847"/>
              <a:ext cx="753036"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6" name="组合 35"/>
          <p:cNvGrpSpPr/>
          <p:nvPr/>
        </p:nvGrpSpPr>
        <p:grpSpPr>
          <a:xfrm>
            <a:off x="5301798" y="2978735"/>
            <a:ext cx="1310628" cy="179438"/>
            <a:chOff x="5535041" y="2855264"/>
            <a:chExt cx="1340889" cy="211386"/>
          </a:xfrm>
        </p:grpSpPr>
        <p:sp>
          <p:nvSpPr>
            <p:cNvPr id="31" name="Rectangle 14"/>
            <p:cNvSpPr>
              <a:spLocks noChangeArrowheads="1"/>
            </p:cNvSpPr>
            <p:nvPr/>
          </p:nvSpPr>
          <p:spPr bwMode="auto">
            <a:xfrm>
              <a:off x="5535041"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2" name="Rectangle 15"/>
            <p:cNvSpPr>
              <a:spLocks noChangeArrowheads="1"/>
            </p:cNvSpPr>
            <p:nvPr/>
          </p:nvSpPr>
          <p:spPr bwMode="auto">
            <a:xfrm>
              <a:off x="5765307"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3" name="Rectangle 16"/>
            <p:cNvSpPr>
              <a:spLocks noChangeArrowheads="1"/>
            </p:cNvSpPr>
            <p:nvPr/>
          </p:nvSpPr>
          <p:spPr bwMode="auto">
            <a:xfrm>
              <a:off x="6004537" y="2855264"/>
              <a:ext cx="172067" cy="211385"/>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34" name="Rectangle 17"/>
            <p:cNvSpPr>
              <a:spLocks noChangeArrowheads="1"/>
            </p:cNvSpPr>
            <p:nvPr/>
          </p:nvSpPr>
          <p:spPr bwMode="auto">
            <a:xfrm>
              <a:off x="6234803" y="2855264"/>
              <a:ext cx="172067" cy="211386"/>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5" name="直接箭头连接符 34"/>
            <p:cNvCxnSpPr/>
            <p:nvPr/>
          </p:nvCxnSpPr>
          <p:spPr>
            <a:xfrm>
              <a:off x="6513490" y="2950527"/>
              <a:ext cx="362440"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6" name="组合 45"/>
          <p:cNvGrpSpPr/>
          <p:nvPr/>
        </p:nvGrpSpPr>
        <p:grpSpPr>
          <a:xfrm>
            <a:off x="5222917" y="3347206"/>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571027"/>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2" name="矩形 41"/>
          <p:cNvSpPr/>
          <p:nvPr/>
        </p:nvSpPr>
        <p:spPr>
          <a:xfrm>
            <a:off x="2402902" y="2936159"/>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3</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43" name="矩形 42"/>
          <p:cNvSpPr/>
          <p:nvPr/>
        </p:nvSpPr>
        <p:spPr>
          <a:xfrm>
            <a:off x="2402902" y="3325664"/>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4</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4" name="直接连接符 43"/>
          <p:cNvCxnSpPr/>
          <p:nvPr/>
        </p:nvCxnSpPr>
        <p:spPr>
          <a:xfrm>
            <a:off x="2823424" y="2463071"/>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7" name="直接连接符 46"/>
          <p:cNvCxnSpPr/>
          <p:nvPr/>
        </p:nvCxnSpPr>
        <p:spPr>
          <a:xfrm>
            <a:off x="2823424" y="2830594"/>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8" name="直接连接符 47"/>
          <p:cNvCxnSpPr/>
          <p:nvPr/>
        </p:nvCxnSpPr>
        <p:spPr>
          <a:xfrm>
            <a:off x="2823424" y="3198117"/>
            <a:ext cx="3807117"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49" name="直接连接符 48"/>
          <p:cNvCxnSpPr/>
          <p:nvPr/>
        </p:nvCxnSpPr>
        <p:spPr>
          <a:xfrm>
            <a:off x="2823424" y="3565640"/>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6" name="内容占位符 5">
            <a:extLst>
              <a:ext uri="{FF2B5EF4-FFF2-40B4-BE49-F238E27FC236}">
                <a16:creationId xmlns:a16="http://schemas.microsoft.com/office/drawing/2014/main" id="{49D9B153-A0DF-608D-611D-28BDBE08EB8B}"/>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窗口字段长度</a:t>
            </a:r>
            <a:r>
              <a:rPr lang="en-US" altLang="zh-CN" dirty="0"/>
              <a:t>= 16 </a:t>
            </a:r>
            <a:r>
              <a:rPr lang="zh-CN" altLang="en-US" dirty="0"/>
              <a:t>位，最大窗口大小 </a:t>
            </a:r>
            <a:r>
              <a:rPr lang="en-US" altLang="zh-CN" dirty="0"/>
              <a:t>= 64 K </a:t>
            </a:r>
            <a:r>
              <a:rPr lang="zh-CN" altLang="en-US" dirty="0"/>
              <a:t>字节。</a:t>
            </a:r>
          </a:p>
          <a:p>
            <a:r>
              <a:rPr lang="zh-CN" altLang="en-US" dirty="0"/>
              <a:t>对于传播时延和带宽都很大的网络，为获得高吞吐率较，需要更大的窗口。</a:t>
            </a:r>
            <a:endParaRPr lang="en-US" altLang="zh-CN" dirty="0"/>
          </a:p>
          <a:p>
            <a:endParaRPr lang="zh-CN" altLang="en-US" dirty="0"/>
          </a:p>
        </p:txBody>
      </p:sp>
      <p:sp>
        <p:nvSpPr>
          <p:cNvPr id="17" name="标题 16">
            <a:extLst>
              <a:ext uri="{FF2B5EF4-FFF2-40B4-BE49-F238E27FC236}">
                <a16:creationId xmlns:a16="http://schemas.microsoft.com/office/drawing/2014/main" id="{45DAC475-8586-3973-2D53-246C7A7F1904}"/>
              </a:ext>
            </a:extLst>
          </p:cNvPr>
          <p:cNvSpPr>
            <a:spLocks noGrp="1"/>
          </p:cNvSpPr>
          <p:nvPr>
            <p:ph type="title"/>
          </p:nvPr>
        </p:nvSpPr>
        <p:spPr>
          <a:xfrm>
            <a:off x="2808000" y="144000"/>
            <a:ext cx="3528000" cy="338554"/>
          </a:xfrm>
        </p:spPr>
        <p:txBody>
          <a:bodyPr/>
          <a:lstStyle/>
          <a:p>
            <a:r>
              <a:rPr lang="zh-CN" altLang="en-US" dirty="0"/>
              <a:t>选项（</a:t>
            </a:r>
            <a:r>
              <a:rPr lang="en-US" altLang="zh-CN" dirty="0"/>
              <a:t>3</a:t>
            </a:r>
            <a:r>
              <a:rPr lang="zh-CN" altLang="en-US" dirty="0"/>
              <a:t>）：窗口扩大</a:t>
            </a:r>
          </a:p>
        </p:txBody>
      </p:sp>
    </p:spTree>
    <p:extLst>
      <p:ext uri="{BB962C8B-B14F-4D97-AF65-F5344CB8AC3E}">
        <p14:creationId xmlns:p14="http://schemas.microsoft.com/office/powerpoint/2010/main" val="27090220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427874" y="2448324"/>
            <a:ext cx="731290"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A</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sp>
        <p:nvSpPr>
          <p:cNvPr id="7" name="矩形 6"/>
          <p:cNvSpPr/>
          <p:nvPr/>
        </p:nvSpPr>
        <p:spPr>
          <a:xfrm>
            <a:off x="6286792" y="2448324"/>
            <a:ext cx="720069" cy="307777"/>
          </a:xfrm>
          <a:prstGeom prst="rect">
            <a:avLst/>
          </a:prstGeom>
        </p:spPr>
        <p:txBody>
          <a:bodyPr wrap="none">
            <a:spAutoFit/>
          </a:bodyPr>
          <a:lstStyle/>
          <a:p>
            <a:r>
              <a:rPr lang="zh-CN" altLang="en-US" sz="1400" b="1" dirty="0">
                <a:solidFill>
                  <a:srgbClr val="0000CC"/>
                </a:solidFill>
                <a:latin typeface="微软雅黑" panose="020B0503020204020204" pitchFamily="34" charset="-122"/>
                <a:ea typeface="微软雅黑" panose="020B0503020204020204" pitchFamily="34" charset="-122"/>
              </a:rPr>
              <a:t>主机 </a:t>
            </a:r>
            <a:r>
              <a:rPr lang="en-US" altLang="zh-CN" sz="1400" b="1" dirty="0">
                <a:solidFill>
                  <a:srgbClr val="0000CC"/>
                </a:solidFill>
                <a:latin typeface="微软雅黑" panose="020B0503020204020204" pitchFamily="34" charset="-122"/>
                <a:ea typeface="微软雅黑" panose="020B0503020204020204" pitchFamily="34" charset="-122"/>
              </a:rPr>
              <a:t>B</a:t>
            </a:r>
            <a:endParaRPr lang="zh-CN" altLang="en-US" sz="1400" b="1" dirty="0">
              <a:solidFill>
                <a:srgbClr val="0000CC"/>
              </a:solidFill>
              <a:latin typeface="微软雅黑" panose="020B0503020204020204" pitchFamily="34" charset="-122"/>
              <a:ea typeface="微软雅黑" panose="020B0503020204020204" pitchFamily="34" charset="-122"/>
            </a:endParaRPr>
          </a:p>
        </p:txBody>
      </p:sp>
      <p:grpSp>
        <p:nvGrpSpPr>
          <p:cNvPr id="50" name="组合 49"/>
          <p:cNvGrpSpPr/>
          <p:nvPr/>
        </p:nvGrpSpPr>
        <p:grpSpPr>
          <a:xfrm>
            <a:off x="2795946" y="2764211"/>
            <a:ext cx="3852651" cy="1449159"/>
            <a:chOff x="2971331" y="1658471"/>
            <a:chExt cx="3941606" cy="2749083"/>
          </a:xfrm>
        </p:grpSpPr>
        <p:cxnSp>
          <p:nvCxnSpPr>
            <p:cNvPr id="9" name="直接箭头连接符 8"/>
            <p:cNvCxnSpPr/>
            <p:nvPr/>
          </p:nvCxnSpPr>
          <p:spPr>
            <a:xfrm>
              <a:off x="2971331"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cxnSp>
          <p:nvCxnSpPr>
            <p:cNvPr id="11" name="直接箭头连接符 10"/>
            <p:cNvCxnSpPr/>
            <p:nvPr/>
          </p:nvCxnSpPr>
          <p:spPr>
            <a:xfrm>
              <a:off x="6912937" y="1658471"/>
              <a:ext cx="0" cy="2749083"/>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grpSp>
      <p:grpSp>
        <p:nvGrpSpPr>
          <p:cNvPr id="6" name="组合 5"/>
          <p:cNvGrpSpPr/>
          <p:nvPr/>
        </p:nvGrpSpPr>
        <p:grpSpPr>
          <a:xfrm>
            <a:off x="2402902" y="3424013"/>
            <a:ext cx="4227639" cy="297797"/>
            <a:chOff x="2402902" y="2086530"/>
            <a:chExt cx="4227639" cy="297797"/>
          </a:xfrm>
        </p:grpSpPr>
        <p:grpSp>
          <p:nvGrpSpPr>
            <p:cNvPr id="46" name="组合 45"/>
            <p:cNvGrpSpPr/>
            <p:nvPr/>
          </p:nvGrpSpPr>
          <p:grpSpPr>
            <a:xfrm>
              <a:off x="3723801" y="2136390"/>
              <a:ext cx="1351076" cy="179438"/>
              <a:chOff x="5454339" y="3227984"/>
              <a:chExt cx="1382271" cy="211386"/>
            </a:xfrm>
          </p:grpSpPr>
          <p:sp>
            <p:nvSpPr>
              <p:cNvPr id="37" name="Rectangle 17"/>
              <p:cNvSpPr>
                <a:spLocks noChangeArrowheads="1"/>
              </p:cNvSpPr>
              <p:nvPr/>
            </p:nvSpPr>
            <p:spPr bwMode="auto">
              <a:xfrm>
                <a:off x="6664543" y="3227984"/>
                <a:ext cx="172067" cy="211386"/>
              </a:xfrm>
              <a:prstGeom prst="rect">
                <a:avLst/>
              </a:prstGeom>
              <a:solidFill>
                <a:schemeClr val="accent6">
                  <a:lumMod val="75000"/>
                </a:schemeClr>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38" name="直接箭头连接符 37"/>
              <p:cNvCxnSpPr/>
              <p:nvPr/>
            </p:nvCxnSpPr>
            <p:spPr>
              <a:xfrm>
                <a:off x="5454339" y="3323247"/>
                <a:ext cx="1141303" cy="0"/>
              </a:xfrm>
              <a:prstGeom prst="straightConnector1">
                <a:avLst/>
              </a:prstGeom>
              <a:ln w="38100">
                <a:solidFill>
                  <a:schemeClr val="accent6">
                    <a:lumMod val="75000"/>
                  </a:schemeClr>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41" name="矩形 40"/>
            <p:cNvSpPr/>
            <p:nvPr/>
          </p:nvSpPr>
          <p:spPr>
            <a:xfrm>
              <a:off x="2402902" y="2086530"/>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2</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cxnSp>
          <p:nvCxnSpPr>
            <p:cNvPr id="47" name="直接连接符 46"/>
            <p:cNvCxnSpPr/>
            <p:nvPr/>
          </p:nvCxnSpPr>
          <p:spPr>
            <a:xfrm>
              <a:off x="2823424" y="2346097"/>
              <a:ext cx="3807117" cy="0"/>
            </a:xfrm>
            <a:prstGeom prst="line">
              <a:avLst/>
            </a:prstGeom>
            <a:ln w="19050"/>
          </p:spPr>
          <p:style>
            <a:lnRef idx="1">
              <a:schemeClr val="dk1"/>
            </a:lnRef>
            <a:fillRef idx="0">
              <a:schemeClr val="dk1"/>
            </a:fillRef>
            <a:effectRef idx="0">
              <a:schemeClr val="dk1"/>
            </a:effectRef>
            <a:fontRef idx="minor">
              <a:schemeClr val="tx1"/>
            </a:fontRef>
          </p:style>
        </p:cxnSp>
      </p:grpSp>
      <p:grpSp>
        <p:nvGrpSpPr>
          <p:cNvPr id="4" name="组合 3"/>
          <p:cNvGrpSpPr/>
          <p:nvPr/>
        </p:nvGrpSpPr>
        <p:grpSpPr>
          <a:xfrm>
            <a:off x="2402902" y="2750301"/>
            <a:ext cx="5176253" cy="606377"/>
            <a:chOff x="2402902" y="1412818"/>
            <a:chExt cx="5176253" cy="606377"/>
          </a:xfrm>
        </p:grpSpPr>
        <p:sp>
          <p:nvSpPr>
            <p:cNvPr id="8" name="矩形 7"/>
            <p:cNvSpPr/>
            <p:nvPr/>
          </p:nvSpPr>
          <p:spPr>
            <a:xfrm>
              <a:off x="2402902" y="1721398"/>
              <a:ext cx="465660" cy="297797"/>
            </a:xfrm>
            <a:prstGeom prst="rect">
              <a:avLst/>
            </a:prstGeom>
          </p:spPr>
          <p:txBody>
            <a:bodyPr wrap="none">
              <a:spAutoFit/>
            </a:bodyPr>
            <a:lstStyle/>
            <a:p>
              <a:r>
                <a:rPr lang="en-US" altLang="zh-CN" sz="1600" b="1" dirty="0">
                  <a:latin typeface="微软雅黑" panose="020B0503020204020204" pitchFamily="34" charset="-122"/>
                  <a:ea typeface="微软雅黑" panose="020B0503020204020204" pitchFamily="34" charset="-122"/>
                </a:rPr>
                <a:t> t</a:t>
              </a:r>
              <a:r>
                <a:rPr lang="en-US" altLang="zh-CN" sz="1600" b="1" baseline="-25000" dirty="0">
                  <a:latin typeface="微软雅黑" panose="020B0503020204020204" pitchFamily="34" charset="-122"/>
                  <a:ea typeface="微软雅黑" panose="020B0503020204020204" pitchFamily="34" charset="-122"/>
                </a:rPr>
                <a:t>1</a:t>
              </a:r>
              <a:r>
                <a:rPr lang="en-US" altLang="zh-CN" sz="1600" b="1" dirty="0">
                  <a:latin typeface="微软雅黑" panose="020B0503020204020204" pitchFamily="34" charset="-122"/>
                  <a:ea typeface="微软雅黑" panose="020B0503020204020204" pitchFamily="34" charset="-122"/>
                </a:rPr>
                <a:t> </a:t>
              </a:r>
              <a:endParaRPr lang="zh-CN" altLang="en-US" sz="1600" b="1" dirty="0">
                <a:latin typeface="微软雅黑" panose="020B0503020204020204" pitchFamily="34" charset="-122"/>
                <a:ea typeface="微软雅黑" panose="020B0503020204020204" pitchFamily="34" charset="-122"/>
              </a:endParaRPr>
            </a:p>
          </p:txBody>
        </p:sp>
        <p:sp>
          <p:nvSpPr>
            <p:cNvPr id="12" name="Rectangle 14"/>
            <p:cNvSpPr>
              <a:spLocks noChangeArrowheads="1"/>
            </p:cNvSpPr>
            <p:nvPr/>
          </p:nvSpPr>
          <p:spPr bwMode="auto">
            <a:xfrm>
              <a:off x="292777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3" name="Rectangle 15"/>
            <p:cNvSpPr>
              <a:spLocks noChangeArrowheads="1"/>
            </p:cNvSpPr>
            <p:nvPr/>
          </p:nvSpPr>
          <p:spPr bwMode="auto">
            <a:xfrm>
              <a:off x="315407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4" name="Rectangle 16"/>
            <p:cNvSpPr>
              <a:spLocks noChangeArrowheads="1"/>
            </p:cNvSpPr>
            <p:nvPr/>
          </p:nvSpPr>
          <p:spPr bwMode="auto">
            <a:xfrm>
              <a:off x="338038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15" name="Rectangle 17"/>
            <p:cNvSpPr>
              <a:spLocks noChangeArrowheads="1"/>
            </p:cNvSpPr>
            <p:nvPr/>
          </p:nvSpPr>
          <p:spPr bwMode="auto">
            <a:xfrm>
              <a:off x="360668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cxnSp>
          <p:nvCxnSpPr>
            <p:cNvPr id="16" name="直接箭头连接符 15"/>
            <p:cNvCxnSpPr/>
            <p:nvPr/>
          </p:nvCxnSpPr>
          <p:spPr>
            <a:xfrm>
              <a:off x="6100839" y="1846125"/>
              <a:ext cx="365132" cy="0"/>
            </a:xfrm>
            <a:prstGeom prst="straightConnector1">
              <a:avLst/>
            </a:prstGeom>
            <a:ln w="38100">
              <a:solidFill>
                <a:srgbClr val="008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883726" y="1412818"/>
              <a:ext cx="1082348" cy="276999"/>
              <a:chOff x="3171969" y="1579654"/>
              <a:chExt cx="1107338" cy="326317"/>
            </a:xfrm>
          </p:grpSpPr>
          <p:cxnSp>
            <p:nvCxnSpPr>
              <p:cNvPr id="18" name="直接箭头连接符 17"/>
              <p:cNvCxnSpPr/>
              <p:nvPr/>
            </p:nvCxnSpPr>
            <p:spPr>
              <a:xfrm>
                <a:off x="3242848" y="1900174"/>
                <a:ext cx="846014" cy="0"/>
              </a:xfrm>
              <a:prstGeom prst="straightConnector1">
                <a:avLst/>
              </a:prstGeom>
              <a:ln w="12700">
                <a:solidFill>
                  <a:srgbClr val="000099"/>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3171969" y="1579654"/>
                <a:ext cx="1107338" cy="326317"/>
              </a:xfrm>
              <a:prstGeom prst="rect">
                <a:avLst/>
              </a:prstGeom>
            </p:spPr>
            <p:txBody>
              <a:bodyPr wrap="none">
                <a:spAutoFit/>
              </a:bodyPr>
              <a:lstStyle/>
              <a:p>
                <a:r>
                  <a:rPr lang="en-US" altLang="zh-CN" sz="1200" b="1" dirty="0">
                    <a:latin typeface="微软雅黑" panose="020B0503020204020204" pitchFamily="34" charset="-122"/>
                    <a:ea typeface="微软雅黑" panose="020B0503020204020204" pitchFamily="34" charset="-122"/>
                  </a:rPr>
                  <a:t>256 KB </a:t>
                </a:r>
                <a:r>
                  <a:rPr lang="zh-CN" altLang="en-US" sz="1200" b="1" dirty="0">
                    <a:latin typeface="微软雅黑" panose="020B0503020204020204" pitchFamily="34" charset="-122"/>
                    <a:ea typeface="微软雅黑" panose="020B0503020204020204" pitchFamily="34" charset="-122"/>
                  </a:rPr>
                  <a:t>窗口</a:t>
                </a:r>
              </a:p>
            </p:txBody>
          </p:sp>
        </p:grpSp>
        <p:cxnSp>
          <p:nvCxnSpPr>
            <p:cNvPr id="44" name="直接连接符 43"/>
            <p:cNvCxnSpPr/>
            <p:nvPr/>
          </p:nvCxnSpPr>
          <p:spPr>
            <a:xfrm>
              <a:off x="2823424" y="1978574"/>
              <a:ext cx="3807117" cy="0"/>
            </a:xfrm>
            <a:prstGeom prst="line">
              <a:avLst/>
            </a:prstGeom>
            <a:ln w="19050"/>
          </p:spPr>
          <p:style>
            <a:lnRef idx="1">
              <a:schemeClr val="dk1"/>
            </a:lnRef>
            <a:fillRef idx="0">
              <a:schemeClr val="dk1"/>
            </a:fillRef>
            <a:effectRef idx="0">
              <a:schemeClr val="dk1"/>
            </a:effectRef>
            <a:fontRef idx="minor">
              <a:schemeClr val="tx1"/>
            </a:fontRef>
          </p:style>
        </p:cxnSp>
        <p:sp>
          <p:nvSpPr>
            <p:cNvPr id="45" name="Rectangle 14"/>
            <p:cNvSpPr>
              <a:spLocks noChangeArrowheads="1"/>
            </p:cNvSpPr>
            <p:nvPr/>
          </p:nvSpPr>
          <p:spPr bwMode="auto">
            <a:xfrm>
              <a:off x="3832988"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1" name="Rectangle 15"/>
            <p:cNvSpPr>
              <a:spLocks noChangeArrowheads="1"/>
            </p:cNvSpPr>
            <p:nvPr/>
          </p:nvSpPr>
          <p:spPr bwMode="auto">
            <a:xfrm>
              <a:off x="4059292"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3" name="Rectangle 16"/>
            <p:cNvSpPr>
              <a:spLocks noChangeArrowheads="1"/>
            </p:cNvSpPr>
            <p:nvPr/>
          </p:nvSpPr>
          <p:spPr bwMode="auto">
            <a:xfrm>
              <a:off x="4285596"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4" name="Rectangle 17"/>
            <p:cNvSpPr>
              <a:spLocks noChangeArrowheads="1"/>
            </p:cNvSpPr>
            <p:nvPr/>
          </p:nvSpPr>
          <p:spPr bwMode="auto">
            <a:xfrm>
              <a:off x="4511900"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5" name="Rectangle 14"/>
            <p:cNvSpPr>
              <a:spLocks noChangeArrowheads="1"/>
            </p:cNvSpPr>
            <p:nvPr/>
          </p:nvSpPr>
          <p:spPr bwMode="auto">
            <a:xfrm>
              <a:off x="4738204"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6" name="Rectangle 15"/>
            <p:cNvSpPr>
              <a:spLocks noChangeArrowheads="1"/>
            </p:cNvSpPr>
            <p:nvPr/>
          </p:nvSpPr>
          <p:spPr bwMode="auto">
            <a:xfrm>
              <a:off x="4964508"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8" name="Rectangle 16"/>
            <p:cNvSpPr>
              <a:spLocks noChangeArrowheads="1"/>
            </p:cNvSpPr>
            <p:nvPr/>
          </p:nvSpPr>
          <p:spPr bwMode="auto">
            <a:xfrm>
              <a:off x="5190812"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59" name="Rectangle 17"/>
            <p:cNvSpPr>
              <a:spLocks noChangeArrowheads="1"/>
            </p:cNvSpPr>
            <p:nvPr/>
          </p:nvSpPr>
          <p:spPr bwMode="auto">
            <a:xfrm>
              <a:off x="5417116"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0" name="Rectangle 14"/>
            <p:cNvSpPr>
              <a:spLocks noChangeArrowheads="1"/>
            </p:cNvSpPr>
            <p:nvPr/>
          </p:nvSpPr>
          <p:spPr bwMode="auto">
            <a:xfrm>
              <a:off x="5643420" y="1761080"/>
              <a:ext cx="168184" cy="179437"/>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1" name="Rectangle 15"/>
            <p:cNvSpPr>
              <a:spLocks noChangeArrowheads="1"/>
            </p:cNvSpPr>
            <p:nvPr/>
          </p:nvSpPr>
          <p:spPr bwMode="auto">
            <a:xfrm>
              <a:off x="5869724" y="1761080"/>
              <a:ext cx="168184" cy="179438"/>
            </a:xfrm>
            <a:prstGeom prst="rect">
              <a:avLst/>
            </a:prstGeom>
            <a:solidFill>
              <a:srgbClr val="00FF99"/>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2" name="Rectangle 16"/>
            <p:cNvSpPr>
              <a:spLocks noChangeArrowheads="1"/>
            </p:cNvSpPr>
            <p:nvPr/>
          </p:nvSpPr>
          <p:spPr bwMode="auto">
            <a:xfrm>
              <a:off x="6735823"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3" name="Rectangle 17"/>
            <p:cNvSpPr>
              <a:spLocks noChangeArrowheads="1"/>
            </p:cNvSpPr>
            <p:nvPr/>
          </p:nvSpPr>
          <p:spPr bwMode="auto">
            <a:xfrm>
              <a:off x="6962123"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4" name="Rectangle 16"/>
            <p:cNvSpPr>
              <a:spLocks noChangeArrowheads="1"/>
            </p:cNvSpPr>
            <p:nvPr/>
          </p:nvSpPr>
          <p:spPr bwMode="auto">
            <a:xfrm>
              <a:off x="7184671" y="1761080"/>
              <a:ext cx="168184" cy="179437"/>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5" name="Rectangle 17"/>
            <p:cNvSpPr>
              <a:spLocks noChangeArrowheads="1"/>
            </p:cNvSpPr>
            <p:nvPr/>
          </p:nvSpPr>
          <p:spPr bwMode="auto">
            <a:xfrm>
              <a:off x="7410971" y="1761080"/>
              <a:ext cx="168184" cy="179438"/>
            </a:xfrm>
            <a:prstGeom prst="rect">
              <a:avLst/>
            </a:prstGeom>
            <a:solidFill>
              <a:srgbClr val="FFFF00"/>
            </a:solidFill>
            <a:ln w="9525">
              <a:solidFill>
                <a:schemeClr val="tx1"/>
              </a:solidFill>
              <a:miter lim="800000"/>
              <a:headEnd/>
              <a:tailEnd/>
            </a:ln>
            <a:effectLst/>
          </p:spPr>
          <p:txBody>
            <a:bodyPr wrap="none" anchor="ctr"/>
            <a:lstStyle/>
            <a:p>
              <a:pPr algn="ctr"/>
              <a:endParaRPr kumimoji="1" lang="en-US" altLang="zh-CN" sz="1000" b="1" dirty="0">
                <a:latin typeface="微软雅黑" pitchFamily="34" charset="-122"/>
                <a:ea typeface="微软雅黑" pitchFamily="34" charset="-122"/>
              </a:endParaRPr>
            </a:p>
          </p:txBody>
        </p:sp>
        <p:sp>
          <p:nvSpPr>
            <p:cNvPr id="66" name="矩形 65"/>
            <p:cNvSpPr/>
            <p:nvPr/>
          </p:nvSpPr>
          <p:spPr>
            <a:xfrm>
              <a:off x="6738818" y="1516713"/>
              <a:ext cx="646331" cy="276999"/>
            </a:xfrm>
            <a:prstGeom prst="rect">
              <a:avLst/>
            </a:prstGeom>
          </p:spPr>
          <p:txBody>
            <a:bodyPr wrap="none">
              <a:spAutoFit/>
            </a:bodyPr>
            <a:lstStyle/>
            <a:p>
              <a:r>
                <a:rPr lang="zh-CN" altLang="en-US" sz="1200" b="1" dirty="0">
                  <a:latin typeface="微软雅黑" panose="020B0503020204020204" pitchFamily="34" charset="-122"/>
                  <a:ea typeface="微软雅黑" panose="020B0503020204020204" pitchFamily="34" charset="-122"/>
                </a:rPr>
                <a:t>到达的</a:t>
              </a:r>
            </a:p>
          </p:txBody>
        </p:sp>
      </p:grpSp>
      <p:sp>
        <p:nvSpPr>
          <p:cNvPr id="23" name="内容占位符 22">
            <a:extLst>
              <a:ext uri="{FF2B5EF4-FFF2-40B4-BE49-F238E27FC236}">
                <a16:creationId xmlns:a16="http://schemas.microsoft.com/office/drawing/2014/main" id="{4E5927D9-6B9D-B3D7-A997-F8A996803AEE}"/>
              </a:ext>
            </a:extLst>
          </p:cNvPr>
          <p:cNvSpPr>
            <a:spLocks noGrp="1"/>
          </p:cNvSpPr>
          <p:nvPr>
            <p:ph sz="quarter" idx="11"/>
          </p:nvPr>
        </p:nvSpPr>
        <p:spPr>
          <a:xfrm>
            <a:off x="486000" y="482554"/>
            <a:ext cx="8172000" cy="4120946"/>
          </a:xfrm>
        </p:spPr>
        <p:txBody>
          <a:bodyPr/>
          <a:lstStyle/>
          <a:p>
            <a:r>
              <a:rPr lang="zh-CN" altLang="en-US" dirty="0"/>
              <a:t>窗口扩大选项：占 </a:t>
            </a:r>
            <a:r>
              <a:rPr lang="en-US" altLang="zh-CN" dirty="0"/>
              <a:t>3 </a:t>
            </a:r>
            <a:r>
              <a:rPr lang="zh-CN" altLang="en-US" dirty="0"/>
              <a:t>字节，其中一个字节表示移位值 </a:t>
            </a:r>
            <a:r>
              <a:rPr lang="en-US" altLang="zh-CN" dirty="0"/>
              <a:t>S</a:t>
            </a:r>
            <a:r>
              <a:rPr lang="zh-CN" altLang="en-US" dirty="0"/>
              <a:t>。</a:t>
            </a:r>
          </a:p>
          <a:p>
            <a:r>
              <a:rPr lang="zh-CN" altLang="en-US" dirty="0"/>
              <a:t>新的窗口值位数从 </a:t>
            </a:r>
            <a:r>
              <a:rPr lang="en-US" altLang="zh-CN" dirty="0"/>
              <a:t>16 </a:t>
            </a:r>
            <a:r>
              <a:rPr lang="zh-CN" altLang="en-US" dirty="0"/>
              <a:t>增大到 </a:t>
            </a:r>
            <a:r>
              <a:rPr lang="en-US" altLang="zh-CN" dirty="0"/>
              <a:t>(16 + S)</a:t>
            </a:r>
            <a:r>
              <a:rPr lang="zh-CN" altLang="en-US" dirty="0"/>
              <a:t>，相当于把窗口值向左移动 </a:t>
            </a:r>
            <a:r>
              <a:rPr lang="en-US" altLang="zh-CN" dirty="0"/>
              <a:t>S </a:t>
            </a:r>
            <a:r>
              <a:rPr lang="zh-CN" altLang="en-US" dirty="0"/>
              <a:t>位。</a:t>
            </a:r>
          </a:p>
          <a:p>
            <a:r>
              <a:rPr lang="zh-CN" altLang="en-US" dirty="0"/>
              <a:t>移位值允许使用的最大值是 </a:t>
            </a:r>
            <a:r>
              <a:rPr lang="en-US" altLang="zh-CN" dirty="0"/>
              <a:t>14</a:t>
            </a:r>
            <a:r>
              <a:rPr lang="zh-CN" altLang="en-US" dirty="0"/>
              <a:t>，窗口最大值增大到 </a:t>
            </a:r>
            <a:r>
              <a:rPr lang="en-US" altLang="zh-CN" dirty="0"/>
              <a:t>2(16 + 14) – 1 = 230 – 1</a:t>
            </a:r>
            <a:r>
              <a:rPr lang="zh-CN" altLang="en-US" dirty="0"/>
              <a:t>。</a:t>
            </a:r>
          </a:p>
          <a:p>
            <a:r>
              <a:rPr lang="zh-CN" altLang="en-US" dirty="0"/>
              <a:t>窗口扩大选项可以在双方初始建立 </a:t>
            </a:r>
            <a:r>
              <a:rPr lang="en-US" altLang="zh-CN" dirty="0"/>
              <a:t>TCP </a:t>
            </a:r>
            <a:r>
              <a:rPr lang="zh-CN" altLang="en-US" dirty="0"/>
              <a:t>连接时进行协商。</a:t>
            </a:r>
          </a:p>
          <a:p>
            <a:endParaRPr lang="zh-CN" altLang="en-US" dirty="0"/>
          </a:p>
        </p:txBody>
      </p:sp>
      <p:sp>
        <p:nvSpPr>
          <p:cNvPr id="22" name="标题 21">
            <a:extLst>
              <a:ext uri="{FF2B5EF4-FFF2-40B4-BE49-F238E27FC236}">
                <a16:creationId xmlns:a16="http://schemas.microsoft.com/office/drawing/2014/main" id="{49CE655C-EA57-AADF-E04E-F7747DC9B681}"/>
              </a:ext>
            </a:extLst>
          </p:cNvPr>
          <p:cNvSpPr>
            <a:spLocks noGrp="1"/>
          </p:cNvSpPr>
          <p:nvPr>
            <p:ph type="title"/>
          </p:nvPr>
        </p:nvSpPr>
        <p:spPr>
          <a:xfrm>
            <a:off x="2808000" y="144000"/>
            <a:ext cx="3528000" cy="338554"/>
          </a:xfrm>
        </p:spPr>
        <p:txBody>
          <a:bodyPr/>
          <a:lstStyle/>
          <a:p>
            <a:r>
              <a:rPr lang="zh-CN" altLang="en-US" dirty="0"/>
              <a:t>选项（</a:t>
            </a:r>
            <a:r>
              <a:rPr lang="en-US" altLang="zh-CN" dirty="0"/>
              <a:t>3</a:t>
            </a:r>
            <a:r>
              <a:rPr lang="zh-CN" altLang="en-US" dirty="0"/>
              <a:t>）：窗口扩大</a:t>
            </a:r>
          </a:p>
        </p:txBody>
      </p:sp>
    </p:spTree>
    <p:extLst>
      <p:ext uri="{BB962C8B-B14F-4D97-AF65-F5344CB8AC3E}">
        <p14:creationId xmlns:p14="http://schemas.microsoft.com/office/powerpoint/2010/main" val="17109798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F93243F9-CB86-CAD6-A80D-B97304FEF43E}"/>
              </a:ext>
            </a:extLst>
          </p:cNvPr>
          <p:cNvSpPr>
            <a:spLocks noGrp="1"/>
          </p:cNvSpPr>
          <p:nvPr>
            <p:ph sz="quarter" idx="11"/>
          </p:nvPr>
        </p:nvSpPr>
        <p:spPr>
          <a:xfrm>
            <a:off x="486000" y="482554"/>
            <a:ext cx="8172000" cy="4120946"/>
          </a:xfrm>
        </p:spPr>
        <p:txBody>
          <a:bodyPr/>
          <a:lstStyle/>
          <a:p>
            <a:r>
              <a:rPr lang="zh-CN" altLang="en-US" dirty="0"/>
              <a:t>占 </a:t>
            </a:r>
            <a:r>
              <a:rPr lang="en-US" altLang="zh-CN" dirty="0"/>
              <a:t>10 </a:t>
            </a:r>
            <a:r>
              <a:rPr lang="zh-CN" altLang="en-US" dirty="0"/>
              <a:t>字节。最主要的 </a:t>
            </a:r>
            <a:r>
              <a:rPr lang="en-US" altLang="zh-CN" dirty="0"/>
              <a:t>2 </a:t>
            </a:r>
            <a:r>
              <a:rPr lang="zh-CN" altLang="en-US" dirty="0"/>
              <a:t>个字段：</a:t>
            </a:r>
            <a:endParaRPr lang="en-US" altLang="zh-CN" dirty="0"/>
          </a:p>
          <a:p>
            <a:r>
              <a:rPr lang="zh-CN" altLang="en-US" dirty="0"/>
              <a:t>时间戳值字段（</a:t>
            </a:r>
            <a:r>
              <a:rPr lang="en-US" altLang="zh-CN" dirty="0"/>
              <a:t>4</a:t>
            </a:r>
            <a:r>
              <a:rPr lang="zh-CN" altLang="en-US" dirty="0"/>
              <a:t>字节）和时间戳回送回答字段（</a:t>
            </a:r>
            <a:r>
              <a:rPr lang="en-US" altLang="zh-CN" dirty="0"/>
              <a:t>4</a:t>
            </a:r>
            <a:r>
              <a:rPr lang="zh-CN" altLang="en-US" dirty="0"/>
              <a:t>字节）。</a:t>
            </a:r>
            <a:endParaRPr lang="en-US" altLang="zh-CN" dirty="0"/>
          </a:p>
          <a:p>
            <a:r>
              <a:rPr lang="en-US" altLang="zh-CN" dirty="0"/>
              <a:t>2 </a:t>
            </a:r>
            <a:r>
              <a:rPr lang="zh-CN" altLang="en-US" dirty="0"/>
              <a:t>个主要功能：</a:t>
            </a:r>
            <a:endParaRPr lang="en-US" altLang="zh-CN" dirty="0"/>
          </a:p>
          <a:p>
            <a:r>
              <a:rPr lang="zh-CN" altLang="en-US" dirty="0"/>
              <a:t>计算往返时间 </a:t>
            </a:r>
            <a:r>
              <a:rPr lang="en-US" altLang="zh-CN" dirty="0"/>
              <a:t>RTT</a:t>
            </a:r>
          </a:p>
          <a:p>
            <a:r>
              <a:rPr lang="zh-CN" altLang="en-US" dirty="0"/>
              <a:t>防止序号绕回 </a:t>
            </a:r>
            <a:r>
              <a:rPr lang="en-US" altLang="zh-CN" dirty="0"/>
              <a:t>PAWS (Protect Against Wrapped Sequence numbers)</a:t>
            </a:r>
            <a:r>
              <a:rPr lang="zh-CN" altLang="en-US" dirty="0"/>
              <a:t>。</a:t>
            </a:r>
            <a:endParaRPr lang="en-US" altLang="zh-CN" dirty="0"/>
          </a:p>
          <a:p>
            <a:pPr lvl="1"/>
            <a:r>
              <a:rPr lang="zh-CN" altLang="en-US" dirty="0"/>
              <a:t>序号重复时，为了使接收方能够把新报文段和迟到很久的旧报文段区分开，可以在报文段中加上时间戳。</a:t>
            </a:r>
            <a:endParaRPr lang="en-US" altLang="zh-CN" dirty="0"/>
          </a:p>
          <a:p>
            <a:endParaRPr lang="zh-CN" altLang="en-US" dirty="0"/>
          </a:p>
        </p:txBody>
      </p:sp>
      <p:sp>
        <p:nvSpPr>
          <p:cNvPr id="8" name="标题 7">
            <a:extLst>
              <a:ext uri="{FF2B5EF4-FFF2-40B4-BE49-F238E27FC236}">
                <a16:creationId xmlns:a16="http://schemas.microsoft.com/office/drawing/2014/main" id="{7B49C007-E943-212B-10E1-CA3E65F89013}"/>
              </a:ext>
            </a:extLst>
          </p:cNvPr>
          <p:cNvSpPr>
            <a:spLocks noGrp="1"/>
          </p:cNvSpPr>
          <p:nvPr>
            <p:ph type="title"/>
          </p:nvPr>
        </p:nvSpPr>
        <p:spPr>
          <a:xfrm>
            <a:off x="2808000" y="144000"/>
            <a:ext cx="3528000" cy="338554"/>
          </a:xfrm>
        </p:spPr>
        <p:txBody>
          <a:bodyPr/>
          <a:lstStyle/>
          <a:p>
            <a:r>
              <a:rPr lang="zh-CN" altLang="en-US" dirty="0"/>
              <a:t>选项（</a:t>
            </a:r>
            <a:r>
              <a:rPr lang="en-US" altLang="zh-CN" dirty="0"/>
              <a:t>8</a:t>
            </a:r>
            <a:r>
              <a:rPr lang="zh-CN" altLang="en-US" dirty="0"/>
              <a:t>）：时间戳</a:t>
            </a:r>
          </a:p>
        </p:txBody>
      </p:sp>
    </p:spTree>
    <p:extLst>
      <p:ext uri="{BB962C8B-B14F-4D97-AF65-F5344CB8AC3E}">
        <p14:creationId xmlns:p14="http://schemas.microsoft.com/office/powerpoint/2010/main" val="1062980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9"/>
          <p:cNvSpPr>
            <a:spLocks noChangeArrowheads="1"/>
          </p:cNvSpPr>
          <p:nvPr/>
        </p:nvSpPr>
        <p:spPr bwMode="auto">
          <a:xfrm>
            <a:off x="2629135" y="252922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9"/>
          <p:cNvSpPr>
            <a:spLocks noChangeArrowheads="1"/>
          </p:cNvSpPr>
          <p:nvPr/>
        </p:nvSpPr>
        <p:spPr bwMode="auto">
          <a:xfrm>
            <a:off x="2629135" y="1326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Rectangle 10"/>
          <p:cNvSpPr>
            <a:spLocks noChangeArrowheads="1"/>
          </p:cNvSpPr>
          <p:nvPr/>
        </p:nvSpPr>
        <p:spPr bwMode="auto">
          <a:xfrm>
            <a:off x="2629135" y="1933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9" name="Line 16"/>
          <p:cNvSpPr>
            <a:spLocks noChangeShapeType="1"/>
          </p:cNvSpPr>
          <p:nvPr/>
        </p:nvSpPr>
        <p:spPr bwMode="auto">
          <a:xfrm>
            <a:off x="3637198" y="1255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Rectangle 8"/>
          <p:cNvSpPr>
            <a:spLocks noChangeArrowheads="1"/>
          </p:cNvSpPr>
          <p:nvPr/>
        </p:nvSpPr>
        <p:spPr bwMode="auto">
          <a:xfrm>
            <a:off x="2700573" y="1072922"/>
            <a:ext cx="5627639"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5.6.1                          </a:t>
            </a:r>
            <a:r>
              <a:rPr lang="zh-CN" altLang="en-US" sz="2000" b="1" dirty="0">
                <a:solidFill>
                  <a:schemeClr val="bg1"/>
                </a:solidFill>
                <a:latin typeface="微软雅黑" pitchFamily="34" charset="-122"/>
                <a:ea typeface="微软雅黑" pitchFamily="34" charset="-122"/>
              </a:rPr>
              <a:t>以字节为单位的滑动窗口</a:t>
            </a:r>
          </a:p>
          <a:p>
            <a:pPr eaLnBrk="0" hangingPunct="0">
              <a:lnSpc>
                <a:spcPct val="200000"/>
              </a:lnSpc>
            </a:pPr>
            <a:r>
              <a:rPr lang="en-US" altLang="zh-CN" sz="2000" b="1" dirty="0">
                <a:solidFill>
                  <a:schemeClr val="bg1"/>
                </a:solidFill>
                <a:latin typeface="微软雅黑" pitchFamily="34" charset="-122"/>
                <a:ea typeface="微软雅黑" pitchFamily="34" charset="-122"/>
              </a:rPr>
              <a:t>5.6.2                                 </a:t>
            </a:r>
            <a:r>
              <a:rPr lang="zh-CN" altLang="en-US" sz="2000" b="1" dirty="0">
                <a:solidFill>
                  <a:schemeClr val="bg1"/>
                </a:solidFill>
                <a:latin typeface="微软雅黑" pitchFamily="34" charset="-122"/>
                <a:ea typeface="微软雅黑" pitchFamily="34" charset="-122"/>
              </a:rPr>
              <a:t>超时重传时间的选择  </a:t>
            </a:r>
          </a:p>
          <a:p>
            <a:pPr eaLnBrk="0" hangingPunct="0">
              <a:lnSpc>
                <a:spcPct val="200000"/>
              </a:lnSpc>
            </a:pPr>
            <a:r>
              <a:rPr lang="en-US" altLang="zh-CN" sz="2000" b="1" dirty="0">
                <a:solidFill>
                  <a:schemeClr val="bg1"/>
                </a:solidFill>
                <a:latin typeface="微软雅黑" pitchFamily="34" charset="-122"/>
                <a:ea typeface="微软雅黑" pitchFamily="34" charset="-122"/>
              </a:rPr>
              <a:t>5.6.3                                       </a:t>
            </a:r>
            <a:r>
              <a:rPr lang="zh-CN" altLang="en-US" sz="2000" b="1" dirty="0">
                <a:solidFill>
                  <a:schemeClr val="bg1"/>
                </a:solidFill>
                <a:latin typeface="微软雅黑" pitchFamily="34" charset="-122"/>
                <a:ea typeface="微软雅黑" pitchFamily="34" charset="-122"/>
              </a:rPr>
              <a:t>选择确认 </a:t>
            </a:r>
            <a:r>
              <a:rPr lang="en-US" altLang="zh-CN" sz="2000" b="1" dirty="0">
                <a:solidFill>
                  <a:schemeClr val="bg1"/>
                </a:solidFill>
                <a:latin typeface="微软雅黑" pitchFamily="34" charset="-122"/>
                <a:ea typeface="微软雅黑" pitchFamily="34" charset="-122"/>
              </a:rPr>
              <a:t>SACK</a:t>
            </a:r>
          </a:p>
        </p:txBody>
      </p:sp>
      <p:sp>
        <p:nvSpPr>
          <p:cNvPr id="11" name="Rectangle 27"/>
          <p:cNvSpPr>
            <a:spLocks noChangeArrowheads="1"/>
          </p:cNvSpPr>
          <p:nvPr/>
        </p:nvSpPr>
        <p:spPr bwMode="auto">
          <a:xfrm>
            <a:off x="639730" y="1326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2" name="Rectangle 29"/>
          <p:cNvSpPr>
            <a:spLocks noChangeArrowheads="1"/>
          </p:cNvSpPr>
          <p:nvPr/>
        </p:nvSpPr>
        <p:spPr bwMode="auto">
          <a:xfrm>
            <a:off x="648619" y="1421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5.6</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可靠传输的实现</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25093416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FB644019-AF70-0851-831A-ECB7EDA9D8C8}"/>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使用流水线传输和滑动窗口协议实现高效、可靠的传输。</a:t>
            </a:r>
            <a:endParaRPr lang="en-US" altLang="zh-CN" dirty="0"/>
          </a:p>
          <a:p>
            <a:r>
              <a:rPr lang="en-US" altLang="zh-CN" dirty="0"/>
              <a:t>TCP </a:t>
            </a:r>
            <a:r>
              <a:rPr lang="zh-CN" altLang="en-US" dirty="0"/>
              <a:t>的滑动窗口是以字节为单位的。</a:t>
            </a:r>
            <a:endParaRPr lang="en-US" altLang="zh-CN" dirty="0"/>
          </a:p>
          <a:p>
            <a:r>
              <a:rPr lang="zh-CN" altLang="en-US" dirty="0"/>
              <a:t>发送方 </a:t>
            </a:r>
            <a:r>
              <a:rPr lang="en-US" altLang="zh-CN" dirty="0"/>
              <a:t>A </a:t>
            </a:r>
            <a:r>
              <a:rPr lang="zh-CN" altLang="en-US" dirty="0"/>
              <a:t>和接收方 </a:t>
            </a:r>
            <a:r>
              <a:rPr lang="en-US" altLang="zh-CN" dirty="0"/>
              <a:t>B </a:t>
            </a:r>
            <a:r>
              <a:rPr lang="zh-CN" altLang="en-US" dirty="0"/>
              <a:t>分别维持一个发送窗口和一个接收窗口。</a:t>
            </a:r>
            <a:endParaRPr lang="en-US" altLang="zh-CN" dirty="0"/>
          </a:p>
          <a:p>
            <a:r>
              <a:rPr lang="zh-CN" altLang="en-US" dirty="0"/>
              <a:t>发送窗口：在没有收到确认的情况下，发送方可以连续把窗口内的数据全部发送出去。凡是已经发送过的数据，在未收到确认之前都必须暂时保留，以便在超时重传时使用。</a:t>
            </a:r>
            <a:endParaRPr lang="en-US" altLang="zh-CN" dirty="0"/>
          </a:p>
          <a:p>
            <a:r>
              <a:rPr lang="zh-CN" altLang="en-US" dirty="0"/>
              <a:t>接收窗口：只允许接收落入窗口内的数据。</a:t>
            </a:r>
            <a:endParaRPr lang="en-US" altLang="zh-CN" dirty="0"/>
          </a:p>
          <a:p>
            <a:endParaRPr lang="zh-CN" altLang="en-US" dirty="0"/>
          </a:p>
        </p:txBody>
      </p:sp>
      <p:sp>
        <p:nvSpPr>
          <p:cNvPr id="3" name="标题 2">
            <a:extLst>
              <a:ext uri="{FF2B5EF4-FFF2-40B4-BE49-F238E27FC236}">
                <a16:creationId xmlns:a16="http://schemas.microsoft.com/office/drawing/2014/main" id="{34799894-B7D1-1D8A-28B5-7512C748674A}"/>
              </a:ext>
            </a:extLst>
          </p:cNvPr>
          <p:cNvSpPr>
            <a:spLocks noGrp="1"/>
          </p:cNvSpPr>
          <p:nvPr>
            <p:ph type="title"/>
          </p:nvPr>
        </p:nvSpPr>
        <p:spPr>
          <a:xfrm>
            <a:off x="2808000" y="144000"/>
            <a:ext cx="3528000" cy="338554"/>
          </a:xfrm>
        </p:spPr>
        <p:txBody>
          <a:bodyPr/>
          <a:lstStyle/>
          <a:p>
            <a:r>
              <a:rPr lang="en-US" altLang="zh-CN" dirty="0"/>
              <a:t>5.6.1   </a:t>
            </a:r>
            <a:r>
              <a:rPr lang="zh-CN" altLang="en-US" dirty="0"/>
              <a:t>以字节为单位的滑动窗口</a:t>
            </a:r>
          </a:p>
        </p:txBody>
      </p:sp>
    </p:spTree>
    <p:extLst>
      <p:ext uri="{BB962C8B-B14F-4D97-AF65-F5344CB8AC3E}">
        <p14:creationId xmlns:p14="http://schemas.microsoft.com/office/powerpoint/2010/main" val="1734470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55"/>
          <p:cNvSpPr txBox="1">
            <a:spLocks noChangeArrowheads="1"/>
          </p:cNvSpPr>
          <p:nvPr/>
        </p:nvSpPr>
        <p:spPr bwMode="auto">
          <a:xfrm>
            <a:off x="1140253" y="1150043"/>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7" name="Text Box 4"/>
          <p:cNvSpPr txBox="1">
            <a:spLocks noChangeArrowheads="1"/>
          </p:cNvSpPr>
          <p:nvPr/>
        </p:nvSpPr>
        <p:spPr bwMode="auto">
          <a:xfrm>
            <a:off x="7153966" y="263230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9" name="AutoShape 6"/>
          <p:cNvSpPr>
            <a:spLocks noChangeArrowheads="1"/>
          </p:cNvSpPr>
          <p:nvPr/>
        </p:nvSpPr>
        <p:spPr bwMode="auto">
          <a:xfrm flipH="1">
            <a:off x="6349885" y="271475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0" name="AutoShape 7"/>
          <p:cNvSpPr>
            <a:spLocks noChangeArrowheads="1"/>
          </p:cNvSpPr>
          <p:nvPr/>
        </p:nvSpPr>
        <p:spPr bwMode="auto">
          <a:xfrm>
            <a:off x="2146903" y="271475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11" name="Text Box 8"/>
          <p:cNvSpPr txBox="1">
            <a:spLocks noChangeArrowheads="1"/>
          </p:cNvSpPr>
          <p:nvPr/>
        </p:nvSpPr>
        <p:spPr bwMode="auto">
          <a:xfrm>
            <a:off x="6714887" y="3517616"/>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8209"/>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63511"/>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5170"/>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31254"/>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7306"/>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sp>
        <p:nvSpPr>
          <p:cNvPr id="17" name="Rectangle 14"/>
          <p:cNvSpPr>
            <a:spLocks noChangeArrowheads="1"/>
          </p:cNvSpPr>
          <p:nvPr/>
        </p:nvSpPr>
        <p:spPr bwMode="auto">
          <a:xfrm>
            <a:off x="1034796" y="324613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324496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324380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324263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29</a:t>
            </a:r>
          </a:p>
        </p:txBody>
      </p:sp>
      <p:sp>
        <p:nvSpPr>
          <p:cNvPr id="21" name="Rectangle 18"/>
          <p:cNvSpPr>
            <a:spLocks noChangeArrowheads="1"/>
          </p:cNvSpPr>
          <p:nvPr/>
        </p:nvSpPr>
        <p:spPr bwMode="auto">
          <a:xfrm>
            <a:off x="1955859" y="324146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sp>
        <p:nvSpPr>
          <p:cNvPr id="22" name="Rectangle 19"/>
          <p:cNvSpPr>
            <a:spLocks noChangeArrowheads="1"/>
          </p:cNvSpPr>
          <p:nvPr/>
        </p:nvSpPr>
        <p:spPr bwMode="auto">
          <a:xfrm>
            <a:off x="2186124" y="324029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913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796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679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562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3445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33289"/>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3212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3095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978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861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7451"/>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6282"/>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511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2394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2277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2161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2044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927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8108"/>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sp>
        <p:nvSpPr>
          <p:cNvPr id="42" name="Rectangle 39"/>
          <p:cNvSpPr>
            <a:spLocks noChangeArrowheads="1"/>
          </p:cNvSpPr>
          <p:nvPr/>
        </p:nvSpPr>
        <p:spPr bwMode="auto">
          <a:xfrm>
            <a:off x="6791439" y="321693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321577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321460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321343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321226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sp>
        <p:nvSpPr>
          <p:cNvPr id="48" name="Line 45"/>
          <p:cNvSpPr>
            <a:spLocks noChangeShapeType="1"/>
          </p:cNvSpPr>
          <p:nvPr/>
        </p:nvSpPr>
        <p:spPr bwMode="auto">
          <a:xfrm flipH="1" flipV="1">
            <a:off x="2272158" y="3468033"/>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5676"/>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0" name="Line 47"/>
          <p:cNvSpPr>
            <a:spLocks noChangeShapeType="1"/>
          </p:cNvSpPr>
          <p:nvPr/>
        </p:nvSpPr>
        <p:spPr bwMode="auto">
          <a:xfrm>
            <a:off x="2146903" y="261548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1" name="Text Box 48"/>
          <p:cNvSpPr txBox="1">
            <a:spLocks noChangeArrowheads="1"/>
          </p:cNvSpPr>
          <p:nvPr/>
        </p:nvSpPr>
        <p:spPr bwMode="auto">
          <a:xfrm>
            <a:off x="6490241"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9914"/>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sp>
        <p:nvSpPr>
          <p:cNvPr id="53" name="Line 50"/>
          <p:cNvSpPr>
            <a:spLocks noChangeShapeType="1"/>
          </p:cNvSpPr>
          <p:nvPr/>
        </p:nvSpPr>
        <p:spPr bwMode="auto">
          <a:xfrm>
            <a:off x="6744626" y="260497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63347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55" name="Text Box 52"/>
          <p:cNvSpPr txBox="1">
            <a:spLocks noChangeArrowheads="1"/>
          </p:cNvSpPr>
          <p:nvPr/>
        </p:nvSpPr>
        <p:spPr bwMode="auto">
          <a:xfrm>
            <a:off x="5890539" y="263113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a:latin typeface="微软雅黑" pitchFamily="34" charset="-122"/>
                <a:ea typeface="微软雅黑" pitchFamily="34" charset="-122"/>
              </a:rPr>
              <a:t>收缩</a:t>
            </a:r>
          </a:p>
        </p:txBody>
      </p:sp>
      <p:sp>
        <p:nvSpPr>
          <p:cNvPr id="2" name="乘号 1"/>
          <p:cNvSpPr/>
          <p:nvPr/>
        </p:nvSpPr>
        <p:spPr>
          <a:xfrm>
            <a:off x="6428873" y="262857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标题 2">
            <a:extLst>
              <a:ext uri="{FF2B5EF4-FFF2-40B4-BE49-F238E27FC236}">
                <a16:creationId xmlns:a16="http://schemas.microsoft.com/office/drawing/2014/main" id="{56D74304-3855-8340-73FA-3FFFD0CFF647}"/>
              </a:ext>
            </a:extLst>
          </p:cNvPr>
          <p:cNvSpPr>
            <a:spLocks noGrp="1"/>
          </p:cNvSpPr>
          <p:nvPr>
            <p:ph type="title"/>
          </p:nvPr>
        </p:nvSpPr>
        <p:spPr>
          <a:xfrm>
            <a:off x="2808000" y="144000"/>
            <a:ext cx="3528000" cy="338554"/>
          </a:xfrm>
        </p:spPr>
        <p:txBody>
          <a:bodyPr/>
          <a:lstStyle/>
          <a:p>
            <a:r>
              <a:rPr lang="zh-CN" altLang="en-US" dirty="0"/>
              <a:t>发送窗口</a:t>
            </a:r>
          </a:p>
        </p:txBody>
      </p:sp>
    </p:spTree>
    <p:extLst>
      <p:ext uri="{BB962C8B-B14F-4D97-AF65-F5344CB8AC3E}">
        <p14:creationId xmlns:p14="http://schemas.microsoft.com/office/powerpoint/2010/main" val="22747518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grpId="0" nodeType="withEffect">
                                  <p:stCondLst>
                                    <p:cond delay="0"/>
                                  </p:stCondLst>
                                  <p:childTnLst>
                                    <p:anim calcmode="discrete" valueType="str">
                                      <p:cBhvr>
                                        <p:cTn id="6"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grpId="0" nodeType="afterEffect">
                                  <p:stCondLst>
                                    <p:cond delay="0"/>
                                  </p:stCondLst>
                                  <p:childTnLst>
                                    <p:anim calcmode="discrete" valueType="str">
                                      <p:cBhvr>
                                        <p:cTn id="9" dur="1000" fill="hold"/>
                                        <p:tgtEl>
                                          <p:spTgt spid="49"/>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49"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55"/>
          <p:cNvSpPr txBox="1">
            <a:spLocks noChangeArrowheads="1"/>
          </p:cNvSpPr>
          <p:nvPr/>
        </p:nvSpPr>
        <p:spPr bwMode="auto">
          <a:xfrm>
            <a:off x="1140253" y="1145248"/>
            <a:ext cx="6111717" cy="1040285"/>
          </a:xfrm>
          <a:prstGeom prst="rect">
            <a:avLst/>
          </a:prstGeom>
          <a:solidFill>
            <a:schemeClr val="bg1"/>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400" b="1" dirty="0">
                <a:latin typeface="微软雅黑" pitchFamily="34" charset="-122"/>
                <a:ea typeface="微软雅黑" pitchFamily="34" charset="-122"/>
              </a:rPr>
              <a:t>A </a:t>
            </a:r>
            <a:r>
              <a:rPr lang="zh-CN" altLang="en-US" sz="1400" b="1" dirty="0">
                <a:latin typeface="微软雅黑" pitchFamily="34" charset="-122"/>
                <a:ea typeface="微软雅黑" pitchFamily="34" charset="-122"/>
              </a:rPr>
              <a:t>根据 </a:t>
            </a:r>
            <a:r>
              <a:rPr lang="en-US" altLang="zh-CN" sz="1400" b="1" dirty="0">
                <a:latin typeface="微软雅黑" pitchFamily="34" charset="-122"/>
                <a:ea typeface="微软雅黑" pitchFamily="34" charset="-122"/>
              </a:rPr>
              <a:t>B </a:t>
            </a:r>
            <a:r>
              <a:rPr lang="zh-CN" altLang="en-US" sz="1400" b="1" dirty="0">
                <a:latin typeface="微软雅黑" pitchFamily="34" charset="-122"/>
                <a:ea typeface="微软雅黑" pitchFamily="34" charset="-122"/>
              </a:rPr>
              <a:t>给出的窗口值，构造出自己的发送窗口。</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发送窗口里面的</a:t>
            </a:r>
            <a:r>
              <a:rPr lang="zh-CN" altLang="en-US" sz="1400" b="1" dirty="0">
                <a:solidFill>
                  <a:srgbClr val="C00000"/>
                </a:solidFill>
                <a:latin typeface="微软雅黑" pitchFamily="34" charset="-122"/>
                <a:ea typeface="微软雅黑" pitchFamily="34" charset="-122"/>
              </a:rPr>
              <a:t>序号</a:t>
            </a:r>
            <a:r>
              <a:rPr lang="zh-CN" altLang="en-US" sz="1400" b="1" dirty="0">
                <a:latin typeface="微软雅黑" pitchFamily="34" charset="-122"/>
                <a:ea typeface="微软雅黑" pitchFamily="34" charset="-122"/>
              </a:rPr>
              <a:t>表示允许发送的序号。</a:t>
            </a:r>
          </a:p>
          <a:p>
            <a:pPr marL="285750" indent="-285750">
              <a:lnSpc>
                <a:spcPct val="110000"/>
              </a:lnSpc>
              <a:buFont typeface="Wingdings" pitchFamily="2" charset="2"/>
              <a:buChar char="l"/>
            </a:pPr>
            <a:r>
              <a:rPr lang="zh-CN" altLang="en-US" sz="1400" b="1" dirty="0">
                <a:latin typeface="微软雅黑" pitchFamily="34" charset="-122"/>
                <a:ea typeface="微软雅黑" pitchFamily="34" charset="-122"/>
              </a:rPr>
              <a:t>窗口越大，发送方就可以在收到对方确认之前连续发送更多的数据，因而可能获得更高的传输效率。</a:t>
            </a:r>
          </a:p>
        </p:txBody>
      </p:sp>
      <p:sp>
        <p:nvSpPr>
          <p:cNvPr id="11" name="Text Box 8"/>
          <p:cNvSpPr txBox="1">
            <a:spLocks noChangeArrowheads="1"/>
          </p:cNvSpPr>
          <p:nvPr/>
        </p:nvSpPr>
        <p:spPr bwMode="auto">
          <a:xfrm>
            <a:off x="6714886" y="3512821"/>
            <a:ext cx="1415772"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12" name="Text Box 9"/>
          <p:cNvSpPr txBox="1">
            <a:spLocks noChangeArrowheads="1"/>
          </p:cNvSpPr>
          <p:nvPr/>
        </p:nvSpPr>
        <p:spPr bwMode="auto">
          <a:xfrm>
            <a:off x="1153277" y="3503414"/>
            <a:ext cx="830865" cy="479346"/>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13" name="Line 10"/>
          <p:cNvSpPr>
            <a:spLocks noChangeShapeType="1"/>
          </p:cNvSpPr>
          <p:nvPr/>
        </p:nvSpPr>
        <p:spPr bwMode="auto">
          <a:xfrm>
            <a:off x="2154494" y="2958716"/>
            <a:ext cx="4591398"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4" name="Text Box 11"/>
          <p:cNvSpPr txBox="1">
            <a:spLocks noChangeArrowheads="1"/>
          </p:cNvSpPr>
          <p:nvPr/>
        </p:nvSpPr>
        <p:spPr bwMode="auto">
          <a:xfrm>
            <a:off x="3709044" y="2770375"/>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15" name="Text Box 12"/>
          <p:cNvSpPr txBox="1">
            <a:spLocks noChangeArrowheads="1"/>
          </p:cNvSpPr>
          <p:nvPr/>
        </p:nvSpPr>
        <p:spPr bwMode="auto">
          <a:xfrm>
            <a:off x="3871404" y="3626459"/>
            <a:ext cx="1310210" cy="287607"/>
          </a:xfrm>
          <a:prstGeom prst="rect">
            <a:avLst/>
          </a:prstGeom>
          <a:solidFill>
            <a:srgbClr val="C3E3F9"/>
          </a:solidFill>
          <a:ln>
            <a:noFill/>
          </a:ln>
          <a:effectLst/>
        </p:spPr>
        <p:txBody>
          <a:bodyPr wrap="none">
            <a:spAutoFit/>
          </a:bodyPr>
          <a:lstStyle/>
          <a:p>
            <a:pPr algn="ctr"/>
            <a:r>
              <a:rPr lang="zh-CN" altLang="en-US" sz="1200" b="1" dirty="0">
                <a:solidFill>
                  <a:srgbClr val="0000FF"/>
                </a:solidFill>
                <a:latin typeface="微软雅黑" pitchFamily="34" charset="-122"/>
                <a:ea typeface="微软雅黑" pitchFamily="34" charset="-122"/>
              </a:rPr>
              <a:t>允许发送的序号</a:t>
            </a:r>
          </a:p>
        </p:txBody>
      </p:sp>
      <p:sp>
        <p:nvSpPr>
          <p:cNvPr id="16" name="Rectangle 13"/>
          <p:cNvSpPr>
            <a:spLocks noChangeArrowheads="1"/>
          </p:cNvSpPr>
          <p:nvPr/>
        </p:nvSpPr>
        <p:spPr bwMode="auto">
          <a:xfrm>
            <a:off x="2154494" y="3082511"/>
            <a:ext cx="4596459" cy="477660"/>
          </a:xfrm>
          <a:prstGeom prst="rect">
            <a:avLst/>
          </a:prstGeom>
          <a:solidFill>
            <a:srgbClr val="0000FF"/>
          </a:solidFill>
          <a:ln>
            <a:noFill/>
          </a:ln>
          <a:effectLst/>
        </p:spPr>
        <p:txBody>
          <a:bodyPr wrap="none" anchor="ctr"/>
          <a:lstStyle/>
          <a:p>
            <a:endParaRPr lang="zh-CN" altLang="en-US" sz="1000" b="1">
              <a:latin typeface="微软雅黑" pitchFamily="34" charset="-122"/>
              <a:ea typeface="微软雅黑" pitchFamily="34" charset="-122"/>
            </a:endParaRPr>
          </a:p>
        </p:txBody>
      </p:sp>
      <p:grpSp>
        <p:nvGrpSpPr>
          <p:cNvPr id="3" name="组合 2"/>
          <p:cNvGrpSpPr/>
          <p:nvPr/>
        </p:nvGrpSpPr>
        <p:grpSpPr>
          <a:xfrm>
            <a:off x="1034796" y="3236670"/>
            <a:ext cx="1093130" cy="216057"/>
            <a:chOff x="1034796" y="2936655"/>
            <a:chExt cx="1093130" cy="216057"/>
          </a:xfrm>
        </p:grpSpPr>
        <p:sp>
          <p:nvSpPr>
            <p:cNvPr id="17" name="Rectangle 14"/>
            <p:cNvSpPr>
              <a:spLocks noChangeArrowheads="1"/>
            </p:cNvSpPr>
            <p:nvPr/>
          </p:nvSpPr>
          <p:spPr bwMode="auto">
            <a:xfrm>
              <a:off x="1034796" y="2941327"/>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26</a:t>
              </a:r>
            </a:p>
          </p:txBody>
        </p:sp>
        <p:sp>
          <p:nvSpPr>
            <p:cNvPr id="18" name="Rectangle 15"/>
            <p:cNvSpPr>
              <a:spLocks noChangeArrowheads="1"/>
            </p:cNvSpPr>
            <p:nvPr/>
          </p:nvSpPr>
          <p:spPr bwMode="auto">
            <a:xfrm>
              <a:off x="1265062" y="2940158"/>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27</a:t>
              </a:r>
            </a:p>
          </p:txBody>
        </p:sp>
        <p:sp>
          <p:nvSpPr>
            <p:cNvPr id="19" name="Rectangle 16"/>
            <p:cNvSpPr>
              <a:spLocks noChangeArrowheads="1"/>
            </p:cNvSpPr>
            <p:nvPr/>
          </p:nvSpPr>
          <p:spPr bwMode="auto">
            <a:xfrm>
              <a:off x="1495327" y="2938991"/>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28</a:t>
              </a:r>
            </a:p>
          </p:txBody>
        </p:sp>
        <p:sp>
          <p:nvSpPr>
            <p:cNvPr id="20" name="Rectangle 17"/>
            <p:cNvSpPr>
              <a:spLocks noChangeArrowheads="1"/>
            </p:cNvSpPr>
            <p:nvPr/>
          </p:nvSpPr>
          <p:spPr bwMode="auto">
            <a:xfrm>
              <a:off x="1725593" y="2937822"/>
              <a:ext cx="172067" cy="211386"/>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29</a:t>
              </a:r>
            </a:p>
          </p:txBody>
        </p:sp>
        <p:sp>
          <p:nvSpPr>
            <p:cNvPr id="21" name="Rectangle 18"/>
            <p:cNvSpPr>
              <a:spLocks noChangeArrowheads="1"/>
            </p:cNvSpPr>
            <p:nvPr/>
          </p:nvSpPr>
          <p:spPr bwMode="auto">
            <a:xfrm>
              <a:off x="1955859" y="2936655"/>
              <a:ext cx="172067" cy="211385"/>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30</a:t>
              </a:r>
            </a:p>
          </p:txBody>
        </p:sp>
      </p:grpSp>
      <p:sp>
        <p:nvSpPr>
          <p:cNvPr id="22" name="Rectangle 19"/>
          <p:cNvSpPr>
            <a:spLocks noChangeArrowheads="1"/>
          </p:cNvSpPr>
          <p:nvPr/>
        </p:nvSpPr>
        <p:spPr bwMode="auto">
          <a:xfrm>
            <a:off x="2186124" y="323550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dirty="0">
                <a:latin typeface="微软雅黑" pitchFamily="34" charset="-122"/>
                <a:ea typeface="微软雅黑" pitchFamily="34" charset="-122"/>
              </a:rPr>
              <a:t>31</a:t>
            </a:r>
          </a:p>
        </p:txBody>
      </p:sp>
      <p:sp>
        <p:nvSpPr>
          <p:cNvPr id="23" name="Rectangle 20"/>
          <p:cNvSpPr>
            <a:spLocks noChangeArrowheads="1"/>
          </p:cNvSpPr>
          <p:nvPr/>
        </p:nvSpPr>
        <p:spPr bwMode="auto">
          <a:xfrm>
            <a:off x="2416391" y="3234335"/>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32</a:t>
            </a:r>
          </a:p>
        </p:txBody>
      </p:sp>
      <p:sp>
        <p:nvSpPr>
          <p:cNvPr id="24" name="Rectangle 21"/>
          <p:cNvSpPr>
            <a:spLocks noChangeArrowheads="1"/>
          </p:cNvSpPr>
          <p:nvPr/>
        </p:nvSpPr>
        <p:spPr bwMode="auto">
          <a:xfrm>
            <a:off x="2646656" y="3233166"/>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33</a:t>
            </a:r>
          </a:p>
        </p:txBody>
      </p:sp>
      <p:sp>
        <p:nvSpPr>
          <p:cNvPr id="25" name="Rectangle 22"/>
          <p:cNvSpPr>
            <a:spLocks noChangeArrowheads="1"/>
          </p:cNvSpPr>
          <p:nvPr/>
        </p:nvSpPr>
        <p:spPr bwMode="auto">
          <a:xfrm>
            <a:off x="2876922" y="323199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34</a:t>
            </a:r>
          </a:p>
        </p:txBody>
      </p:sp>
      <p:sp>
        <p:nvSpPr>
          <p:cNvPr id="26" name="Rectangle 23"/>
          <p:cNvSpPr>
            <a:spLocks noChangeArrowheads="1"/>
          </p:cNvSpPr>
          <p:nvPr/>
        </p:nvSpPr>
        <p:spPr bwMode="auto">
          <a:xfrm>
            <a:off x="3107188" y="323083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35</a:t>
            </a:r>
          </a:p>
        </p:txBody>
      </p:sp>
      <p:sp>
        <p:nvSpPr>
          <p:cNvPr id="27" name="Rectangle 24"/>
          <p:cNvSpPr>
            <a:spLocks noChangeArrowheads="1"/>
          </p:cNvSpPr>
          <p:nvPr/>
        </p:nvSpPr>
        <p:spPr bwMode="auto">
          <a:xfrm>
            <a:off x="3337453" y="322966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36</a:t>
            </a:r>
          </a:p>
        </p:txBody>
      </p:sp>
      <p:sp>
        <p:nvSpPr>
          <p:cNvPr id="28" name="Rectangle 25"/>
          <p:cNvSpPr>
            <a:spLocks noChangeArrowheads="1"/>
          </p:cNvSpPr>
          <p:nvPr/>
        </p:nvSpPr>
        <p:spPr bwMode="auto">
          <a:xfrm>
            <a:off x="3567719" y="3228494"/>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37</a:t>
            </a:r>
          </a:p>
        </p:txBody>
      </p:sp>
      <p:sp>
        <p:nvSpPr>
          <p:cNvPr id="29" name="Rectangle 26"/>
          <p:cNvSpPr>
            <a:spLocks noChangeArrowheads="1"/>
          </p:cNvSpPr>
          <p:nvPr/>
        </p:nvSpPr>
        <p:spPr bwMode="auto">
          <a:xfrm>
            <a:off x="3797985" y="3227327"/>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38</a:t>
            </a:r>
          </a:p>
        </p:txBody>
      </p:sp>
      <p:sp>
        <p:nvSpPr>
          <p:cNvPr id="30" name="Rectangle 27"/>
          <p:cNvSpPr>
            <a:spLocks noChangeArrowheads="1"/>
          </p:cNvSpPr>
          <p:nvPr/>
        </p:nvSpPr>
        <p:spPr bwMode="auto">
          <a:xfrm>
            <a:off x="4028250" y="3226158"/>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39</a:t>
            </a:r>
          </a:p>
        </p:txBody>
      </p:sp>
      <p:sp>
        <p:nvSpPr>
          <p:cNvPr id="31" name="Rectangle 28"/>
          <p:cNvSpPr>
            <a:spLocks noChangeArrowheads="1"/>
          </p:cNvSpPr>
          <p:nvPr/>
        </p:nvSpPr>
        <p:spPr bwMode="auto">
          <a:xfrm>
            <a:off x="4258516" y="3224992"/>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40</a:t>
            </a:r>
          </a:p>
        </p:txBody>
      </p:sp>
      <p:sp>
        <p:nvSpPr>
          <p:cNvPr id="32" name="Rectangle 29"/>
          <p:cNvSpPr>
            <a:spLocks noChangeArrowheads="1"/>
          </p:cNvSpPr>
          <p:nvPr/>
        </p:nvSpPr>
        <p:spPr bwMode="auto">
          <a:xfrm>
            <a:off x="4488782" y="3223823"/>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41</a:t>
            </a:r>
          </a:p>
        </p:txBody>
      </p:sp>
      <p:sp>
        <p:nvSpPr>
          <p:cNvPr id="33" name="Rectangle 30"/>
          <p:cNvSpPr>
            <a:spLocks noChangeArrowheads="1"/>
          </p:cNvSpPr>
          <p:nvPr/>
        </p:nvSpPr>
        <p:spPr bwMode="auto">
          <a:xfrm>
            <a:off x="4719047" y="3222656"/>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42</a:t>
            </a:r>
          </a:p>
        </p:txBody>
      </p:sp>
      <p:sp>
        <p:nvSpPr>
          <p:cNvPr id="34" name="Rectangle 31"/>
          <p:cNvSpPr>
            <a:spLocks noChangeArrowheads="1"/>
          </p:cNvSpPr>
          <p:nvPr/>
        </p:nvSpPr>
        <p:spPr bwMode="auto">
          <a:xfrm>
            <a:off x="4949313" y="3221487"/>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43</a:t>
            </a:r>
          </a:p>
        </p:txBody>
      </p:sp>
      <p:sp>
        <p:nvSpPr>
          <p:cNvPr id="35" name="Rectangle 32"/>
          <p:cNvSpPr>
            <a:spLocks noChangeArrowheads="1"/>
          </p:cNvSpPr>
          <p:nvPr/>
        </p:nvSpPr>
        <p:spPr bwMode="auto">
          <a:xfrm>
            <a:off x="5179579" y="3220320"/>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44</a:t>
            </a:r>
          </a:p>
        </p:txBody>
      </p:sp>
      <p:sp>
        <p:nvSpPr>
          <p:cNvPr id="36" name="Rectangle 33"/>
          <p:cNvSpPr>
            <a:spLocks noChangeArrowheads="1"/>
          </p:cNvSpPr>
          <p:nvPr/>
        </p:nvSpPr>
        <p:spPr bwMode="auto">
          <a:xfrm>
            <a:off x="5409845" y="3219151"/>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45</a:t>
            </a:r>
          </a:p>
        </p:txBody>
      </p:sp>
      <p:sp>
        <p:nvSpPr>
          <p:cNvPr id="37" name="Rectangle 34"/>
          <p:cNvSpPr>
            <a:spLocks noChangeArrowheads="1"/>
          </p:cNvSpPr>
          <p:nvPr/>
        </p:nvSpPr>
        <p:spPr bwMode="auto">
          <a:xfrm>
            <a:off x="5640111" y="3217984"/>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46</a:t>
            </a:r>
          </a:p>
        </p:txBody>
      </p:sp>
      <p:sp>
        <p:nvSpPr>
          <p:cNvPr id="38" name="Rectangle 35"/>
          <p:cNvSpPr>
            <a:spLocks noChangeArrowheads="1"/>
          </p:cNvSpPr>
          <p:nvPr/>
        </p:nvSpPr>
        <p:spPr bwMode="auto">
          <a:xfrm>
            <a:off x="5870376" y="3216815"/>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47</a:t>
            </a:r>
          </a:p>
        </p:txBody>
      </p:sp>
      <p:sp>
        <p:nvSpPr>
          <p:cNvPr id="39" name="Rectangle 36"/>
          <p:cNvSpPr>
            <a:spLocks noChangeArrowheads="1"/>
          </p:cNvSpPr>
          <p:nvPr/>
        </p:nvSpPr>
        <p:spPr bwMode="auto">
          <a:xfrm>
            <a:off x="6100642" y="3215649"/>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48</a:t>
            </a:r>
          </a:p>
        </p:txBody>
      </p:sp>
      <p:sp>
        <p:nvSpPr>
          <p:cNvPr id="40" name="Rectangle 37"/>
          <p:cNvSpPr>
            <a:spLocks noChangeArrowheads="1"/>
          </p:cNvSpPr>
          <p:nvPr/>
        </p:nvSpPr>
        <p:spPr bwMode="auto">
          <a:xfrm>
            <a:off x="6330908" y="3214480"/>
            <a:ext cx="172067" cy="211386"/>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49</a:t>
            </a:r>
          </a:p>
        </p:txBody>
      </p:sp>
      <p:sp>
        <p:nvSpPr>
          <p:cNvPr id="41" name="Rectangle 38"/>
          <p:cNvSpPr>
            <a:spLocks noChangeArrowheads="1"/>
          </p:cNvSpPr>
          <p:nvPr/>
        </p:nvSpPr>
        <p:spPr bwMode="auto">
          <a:xfrm>
            <a:off x="6561173" y="3213313"/>
            <a:ext cx="172067" cy="21138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50</a:t>
            </a:r>
          </a:p>
        </p:txBody>
      </p:sp>
      <p:grpSp>
        <p:nvGrpSpPr>
          <p:cNvPr id="4" name="组合 3"/>
          <p:cNvGrpSpPr/>
          <p:nvPr/>
        </p:nvGrpSpPr>
        <p:grpSpPr>
          <a:xfrm>
            <a:off x="6791439" y="3207472"/>
            <a:ext cx="1317069" cy="216058"/>
            <a:chOff x="6791439" y="2907457"/>
            <a:chExt cx="1317069" cy="216058"/>
          </a:xfrm>
        </p:grpSpPr>
        <p:sp>
          <p:nvSpPr>
            <p:cNvPr id="42" name="Rectangle 39"/>
            <p:cNvSpPr>
              <a:spLocks noChangeArrowheads="1"/>
            </p:cNvSpPr>
            <p:nvPr/>
          </p:nvSpPr>
          <p:spPr bwMode="auto">
            <a:xfrm>
              <a:off x="6791439" y="2912129"/>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51</a:t>
              </a:r>
            </a:p>
          </p:txBody>
        </p:sp>
        <p:sp>
          <p:nvSpPr>
            <p:cNvPr id="43" name="Rectangle 40"/>
            <p:cNvSpPr>
              <a:spLocks noChangeArrowheads="1"/>
            </p:cNvSpPr>
            <p:nvPr/>
          </p:nvSpPr>
          <p:spPr bwMode="auto">
            <a:xfrm>
              <a:off x="7021704" y="2910962"/>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52</a:t>
              </a:r>
            </a:p>
          </p:txBody>
        </p:sp>
        <p:sp>
          <p:nvSpPr>
            <p:cNvPr id="44" name="Rectangle 41"/>
            <p:cNvSpPr>
              <a:spLocks noChangeArrowheads="1"/>
            </p:cNvSpPr>
            <p:nvPr/>
          </p:nvSpPr>
          <p:spPr bwMode="auto">
            <a:xfrm>
              <a:off x="7251970" y="2909793"/>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53</a:t>
              </a:r>
            </a:p>
          </p:txBody>
        </p:sp>
        <p:sp>
          <p:nvSpPr>
            <p:cNvPr id="45" name="Rectangle 42"/>
            <p:cNvSpPr>
              <a:spLocks noChangeArrowheads="1"/>
            </p:cNvSpPr>
            <p:nvPr/>
          </p:nvSpPr>
          <p:spPr bwMode="auto">
            <a:xfrm>
              <a:off x="7482236" y="2908626"/>
              <a:ext cx="172067" cy="211385"/>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54</a:t>
              </a:r>
            </a:p>
          </p:txBody>
        </p:sp>
        <p:sp>
          <p:nvSpPr>
            <p:cNvPr id="46" name="Rectangle 43"/>
            <p:cNvSpPr>
              <a:spLocks noChangeArrowheads="1"/>
            </p:cNvSpPr>
            <p:nvPr/>
          </p:nvSpPr>
          <p:spPr bwMode="auto">
            <a:xfrm>
              <a:off x="771250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55</a:t>
              </a:r>
            </a:p>
          </p:txBody>
        </p:sp>
        <p:sp>
          <p:nvSpPr>
            <p:cNvPr id="47" name="Rectangle 44"/>
            <p:cNvSpPr>
              <a:spLocks noChangeArrowheads="1"/>
            </p:cNvSpPr>
            <p:nvPr/>
          </p:nvSpPr>
          <p:spPr bwMode="auto">
            <a:xfrm>
              <a:off x="7936441" y="2907457"/>
              <a:ext cx="172067" cy="211386"/>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000" b="1">
                  <a:latin typeface="微软雅黑" pitchFamily="34" charset="-122"/>
                  <a:ea typeface="微软雅黑" pitchFamily="34" charset="-122"/>
                </a:rPr>
                <a:t>56</a:t>
              </a:r>
            </a:p>
          </p:txBody>
        </p:sp>
      </p:grpSp>
      <p:sp>
        <p:nvSpPr>
          <p:cNvPr id="48" name="Line 45"/>
          <p:cNvSpPr>
            <a:spLocks noChangeShapeType="1"/>
          </p:cNvSpPr>
          <p:nvPr/>
        </p:nvSpPr>
        <p:spPr bwMode="auto">
          <a:xfrm flipH="1" flipV="1">
            <a:off x="2272158" y="3463238"/>
            <a:ext cx="7591" cy="376055"/>
          </a:xfrm>
          <a:prstGeom prst="line">
            <a:avLst/>
          </a:prstGeom>
          <a:solidFill>
            <a:srgbClr val="CC00CC"/>
          </a:solidFill>
          <a:ln w="38100">
            <a:solidFill>
              <a:srgbClr val="CC00CC"/>
            </a:solidFill>
            <a:round/>
            <a:headEnd/>
            <a:tailEnd type="triangle" w="med"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49" name="Text Box 46"/>
          <p:cNvSpPr txBox="1">
            <a:spLocks noChangeArrowheads="1"/>
          </p:cNvSpPr>
          <p:nvPr/>
        </p:nvSpPr>
        <p:spPr bwMode="auto">
          <a:xfrm>
            <a:off x="1775059" y="3900881"/>
            <a:ext cx="990647" cy="4409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lnSpc>
                <a:spcPct val="90000"/>
              </a:lnSpc>
            </a:pPr>
            <a:r>
              <a:rPr lang="en-US" altLang="zh-CN" sz="1200" b="1" dirty="0">
                <a:latin typeface="微软雅黑" pitchFamily="34" charset="-122"/>
                <a:ea typeface="微软雅黑" pitchFamily="34" charset="-122"/>
              </a:rPr>
              <a:t>B </a:t>
            </a:r>
            <a:r>
              <a:rPr lang="zh-CN" altLang="en-US" sz="1200" b="1" dirty="0">
                <a:latin typeface="微软雅黑" pitchFamily="34" charset="-122"/>
                <a:ea typeface="微软雅黑" pitchFamily="34" charset="-122"/>
              </a:rPr>
              <a:t>期望</a:t>
            </a:r>
          </a:p>
          <a:p>
            <a:pPr algn="ctr">
              <a:lnSpc>
                <a:spcPct val="90000"/>
              </a:lnSpc>
            </a:pPr>
            <a:r>
              <a:rPr lang="zh-CN" altLang="en-US" sz="1200" b="1" dirty="0">
                <a:latin typeface="微软雅黑" pitchFamily="34" charset="-122"/>
                <a:ea typeface="微软雅黑" pitchFamily="34" charset="-122"/>
              </a:rPr>
              <a:t>收到的序号</a:t>
            </a:r>
          </a:p>
        </p:txBody>
      </p:sp>
      <p:sp>
        <p:nvSpPr>
          <p:cNvPr id="51" name="Text Box 48"/>
          <p:cNvSpPr txBox="1">
            <a:spLocks noChangeArrowheads="1"/>
          </p:cNvSpPr>
          <p:nvPr/>
        </p:nvSpPr>
        <p:spPr bwMode="auto">
          <a:xfrm>
            <a:off x="6490241"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前沿</a:t>
            </a:r>
          </a:p>
        </p:txBody>
      </p:sp>
      <p:sp>
        <p:nvSpPr>
          <p:cNvPr id="52" name="Text Box 49"/>
          <p:cNvSpPr txBox="1">
            <a:spLocks noChangeArrowheads="1"/>
          </p:cNvSpPr>
          <p:nvPr/>
        </p:nvSpPr>
        <p:spPr bwMode="auto">
          <a:xfrm>
            <a:off x="1905170" y="2275119"/>
            <a:ext cx="511303" cy="287607"/>
          </a:xfrm>
          <a:prstGeom prst="rect">
            <a:avLst/>
          </a:prstGeom>
          <a:solidFill>
            <a:srgbClr val="C3E3F9"/>
          </a:solidFill>
          <a:ln>
            <a:noFill/>
          </a:ln>
          <a:effectLst/>
        </p:spPr>
        <p:txBody>
          <a:bodyPr wrap="none">
            <a:spAutoFit/>
          </a:bodyPr>
          <a:lstStyle/>
          <a:p>
            <a:pPr algn="ctr"/>
            <a:r>
              <a:rPr lang="zh-CN" altLang="en-US" sz="1200" b="1" dirty="0">
                <a:latin typeface="微软雅黑" pitchFamily="34" charset="-122"/>
                <a:ea typeface="微软雅黑" pitchFamily="34" charset="-122"/>
              </a:rPr>
              <a:t>后沿</a:t>
            </a:r>
          </a:p>
        </p:txBody>
      </p:sp>
      <p:grpSp>
        <p:nvGrpSpPr>
          <p:cNvPr id="57" name="组合 56"/>
          <p:cNvGrpSpPr/>
          <p:nvPr/>
        </p:nvGrpSpPr>
        <p:grpSpPr>
          <a:xfrm>
            <a:off x="5890539" y="2623775"/>
            <a:ext cx="860414" cy="290172"/>
            <a:chOff x="5890539" y="2323760"/>
            <a:chExt cx="860414" cy="290172"/>
          </a:xfrm>
        </p:grpSpPr>
        <p:sp>
          <p:nvSpPr>
            <p:cNvPr id="9" name="AutoShape 6"/>
            <p:cNvSpPr>
              <a:spLocks noChangeArrowheads="1"/>
            </p:cNvSpPr>
            <p:nvPr/>
          </p:nvSpPr>
          <p:spPr bwMode="auto">
            <a:xfrm flipH="1">
              <a:off x="6349885" y="2409943"/>
              <a:ext cx="401068" cy="106277"/>
            </a:xfrm>
            <a:prstGeom prst="rightArrow">
              <a:avLst>
                <a:gd name="adj1" fmla="val 50000"/>
                <a:gd name="adj2" fmla="val 87088"/>
              </a:avLst>
            </a:prstGeom>
            <a:solidFill>
              <a:srgbClr val="009900"/>
            </a:solidFill>
            <a:ln w="9525">
              <a:no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5" name="Text Box 52"/>
            <p:cNvSpPr txBox="1">
              <a:spLocks noChangeArrowheads="1"/>
            </p:cNvSpPr>
            <p:nvPr/>
          </p:nvSpPr>
          <p:spPr bwMode="auto">
            <a:xfrm>
              <a:off x="5890539" y="2326325"/>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收缩</a:t>
              </a:r>
            </a:p>
          </p:txBody>
        </p:sp>
        <p:sp>
          <p:nvSpPr>
            <p:cNvPr id="2" name="乘号 1"/>
            <p:cNvSpPr/>
            <p:nvPr/>
          </p:nvSpPr>
          <p:spPr>
            <a:xfrm>
              <a:off x="6428873" y="2323760"/>
              <a:ext cx="294136" cy="287607"/>
            </a:xfrm>
            <a:prstGeom prst="mathMultiply">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9" name="组合 58"/>
          <p:cNvGrpSpPr/>
          <p:nvPr/>
        </p:nvGrpSpPr>
        <p:grpSpPr>
          <a:xfrm>
            <a:off x="6731974" y="2600179"/>
            <a:ext cx="933295" cy="998533"/>
            <a:chOff x="6731974" y="2300164"/>
            <a:chExt cx="933295" cy="998533"/>
          </a:xfrm>
        </p:grpSpPr>
        <p:grpSp>
          <p:nvGrpSpPr>
            <p:cNvPr id="56" name="组合 55"/>
            <p:cNvGrpSpPr/>
            <p:nvPr/>
          </p:nvGrpSpPr>
          <p:grpSpPr>
            <a:xfrm>
              <a:off x="6731974" y="2327494"/>
              <a:ext cx="933295" cy="287607"/>
              <a:chOff x="6731974" y="2327494"/>
              <a:chExt cx="933295" cy="287607"/>
            </a:xfrm>
          </p:grpSpPr>
          <p:sp>
            <p:nvSpPr>
              <p:cNvPr id="7" name="Text Box 4"/>
              <p:cNvSpPr txBox="1">
                <a:spLocks noChangeArrowheads="1"/>
              </p:cNvSpPr>
              <p:nvPr/>
            </p:nvSpPr>
            <p:spPr bwMode="auto">
              <a:xfrm>
                <a:off x="7153966" y="2327494"/>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8" name="AutoShape 5"/>
              <p:cNvSpPr>
                <a:spLocks noChangeArrowheads="1"/>
              </p:cNvSpPr>
              <p:nvPr/>
            </p:nvSpPr>
            <p:spPr bwMode="auto">
              <a:xfrm>
                <a:off x="6731974"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
          <p:nvSpPr>
            <p:cNvPr id="53" name="Line 50"/>
            <p:cNvSpPr>
              <a:spLocks noChangeShapeType="1"/>
            </p:cNvSpPr>
            <p:nvPr/>
          </p:nvSpPr>
          <p:spPr bwMode="auto">
            <a:xfrm>
              <a:off x="6744626" y="2300164"/>
              <a:ext cx="6327" cy="998533"/>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grpSp>
        <p:nvGrpSpPr>
          <p:cNvPr id="58" name="组合 57"/>
          <p:cNvGrpSpPr/>
          <p:nvPr/>
        </p:nvGrpSpPr>
        <p:grpSpPr>
          <a:xfrm>
            <a:off x="2146903" y="2610689"/>
            <a:ext cx="874334" cy="998532"/>
            <a:chOff x="2146903" y="2310674"/>
            <a:chExt cx="874334" cy="998532"/>
          </a:xfrm>
        </p:grpSpPr>
        <p:grpSp>
          <p:nvGrpSpPr>
            <p:cNvPr id="5" name="组合 4"/>
            <p:cNvGrpSpPr/>
            <p:nvPr/>
          </p:nvGrpSpPr>
          <p:grpSpPr>
            <a:xfrm>
              <a:off x="2146903" y="2328660"/>
              <a:ext cx="874334" cy="287607"/>
              <a:chOff x="2146903" y="2328660"/>
              <a:chExt cx="874334" cy="287607"/>
            </a:xfrm>
          </p:grpSpPr>
          <p:sp>
            <p:nvSpPr>
              <p:cNvPr id="10" name="AutoShape 7"/>
              <p:cNvSpPr>
                <a:spLocks noChangeArrowheads="1"/>
              </p:cNvSpPr>
              <p:nvPr/>
            </p:nvSpPr>
            <p:spPr bwMode="auto">
              <a:xfrm>
                <a:off x="2146903" y="2409943"/>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sp>
            <p:nvSpPr>
              <p:cNvPr id="54" name="Text Box 51"/>
              <p:cNvSpPr txBox="1">
                <a:spLocks noChangeArrowheads="1"/>
              </p:cNvSpPr>
              <p:nvPr/>
            </p:nvSpPr>
            <p:spPr bwMode="auto">
              <a:xfrm>
                <a:off x="2509934" y="2328660"/>
                <a:ext cx="511303" cy="28760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grpSp>
        <p:sp>
          <p:nvSpPr>
            <p:cNvPr id="50" name="Line 47"/>
            <p:cNvSpPr>
              <a:spLocks noChangeShapeType="1"/>
            </p:cNvSpPr>
            <p:nvPr/>
          </p:nvSpPr>
          <p:spPr bwMode="auto">
            <a:xfrm>
              <a:off x="2146903" y="2310674"/>
              <a:ext cx="6327" cy="998532"/>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grpSp>
      <p:sp>
        <p:nvSpPr>
          <p:cNvPr id="60" name="标题 59">
            <a:extLst>
              <a:ext uri="{FF2B5EF4-FFF2-40B4-BE49-F238E27FC236}">
                <a16:creationId xmlns:a16="http://schemas.microsoft.com/office/drawing/2014/main" id="{BD15A372-01EC-5697-D647-AE48B772A680}"/>
              </a:ext>
            </a:extLst>
          </p:cNvPr>
          <p:cNvSpPr>
            <a:spLocks noGrp="1"/>
          </p:cNvSpPr>
          <p:nvPr>
            <p:ph type="title"/>
          </p:nvPr>
        </p:nvSpPr>
        <p:spPr>
          <a:xfrm>
            <a:off x="2808000" y="144000"/>
            <a:ext cx="3528000" cy="338554"/>
          </a:xfrm>
        </p:spPr>
        <p:txBody>
          <a:bodyPr/>
          <a:lstStyle/>
          <a:p>
            <a:r>
              <a:rPr lang="zh-CN" altLang="en-US" dirty="0"/>
              <a:t>发送窗口</a:t>
            </a:r>
          </a:p>
        </p:txBody>
      </p:sp>
    </p:spTree>
    <p:extLst>
      <p:ext uri="{BB962C8B-B14F-4D97-AF65-F5344CB8AC3E}">
        <p14:creationId xmlns:p14="http://schemas.microsoft.com/office/powerpoint/2010/main" val="220409023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3"/>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grpId="0" nodeType="clickEffect">
                                  <p:stCondLst>
                                    <p:cond delay="0"/>
                                  </p:stCondLst>
                                  <p:childTnLst>
                                    <p:anim calcmode="discrete" valueType="str">
                                      <p:cBhvr>
                                        <p:cTn id="12" dur="1000" fill="hold"/>
                                        <p:tgtEl>
                                          <p:spTgt spid="52"/>
                                        </p:tgtEl>
                                        <p:attrNameLst>
                                          <p:attrName>style.visibility</p:attrName>
                                        </p:attrNameLst>
                                      </p:cBhvr>
                                      <p:tavLst>
                                        <p:tav tm="0">
                                          <p:val>
                                            <p:strVal val="hidden"/>
                                          </p:val>
                                        </p:tav>
                                        <p:tav tm="50000">
                                          <p:val>
                                            <p:strVal val="visible"/>
                                          </p:val>
                                        </p:tav>
                                      </p:tavLst>
                                    </p:anim>
                                  </p:childTnLst>
                                </p:cTn>
                              </p:par>
                              <p:par>
                                <p:cTn id="13" presetID="35" presetClass="emph" presetSubtype="0" repeatCount="3000" fill="hold" grpId="0" nodeType="withEffect">
                                  <p:stCondLst>
                                    <p:cond delay="0"/>
                                  </p:stCondLst>
                                  <p:childTnLst>
                                    <p:anim calcmode="discrete" valueType="str">
                                      <p:cBhvr>
                                        <p:cTn id="14" dur="1000" fill="hold"/>
                                        <p:tgtEl>
                                          <p:spTgt spid="51"/>
                                        </p:tgtEl>
                                        <p:attrNameLst>
                                          <p:attrName>style.visibility</p:attrName>
                                        </p:attrNameLst>
                                      </p:cBhvr>
                                      <p:tavLst>
                                        <p:tav tm="0">
                                          <p:val>
                                            <p:strVal val="hidden"/>
                                          </p:val>
                                        </p:tav>
                                        <p:tav tm="50000">
                                          <p:val>
                                            <p:strVal val="visible"/>
                                          </p:val>
                                        </p:tav>
                                      </p:tavLst>
                                    </p:anim>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4.72222E-6 3.7037E-7 L 0.10138 3.7037E-7 " pathEditMode="relative" rAng="0" ptsTypes="AA">
                                      <p:cBhvr>
                                        <p:cTn id="18" dur="2000" fill="hold"/>
                                        <p:tgtEl>
                                          <p:spTgt spid="58"/>
                                        </p:tgtEl>
                                        <p:attrNameLst>
                                          <p:attrName>ppt_x</p:attrName>
                                          <p:attrName>ppt_y</p:attrName>
                                        </p:attrNameLst>
                                      </p:cBhvr>
                                      <p:rCtr x="5069" y="0"/>
                                    </p:animMotion>
                                  </p:childTnLst>
                                </p:cTn>
                              </p:par>
                              <p:par>
                                <p:cTn id="19" presetID="63" presetClass="path" presetSubtype="0" accel="50000" decel="50000" fill="hold" nodeType="withEffect">
                                  <p:stCondLst>
                                    <p:cond delay="0"/>
                                  </p:stCondLst>
                                  <p:childTnLst>
                                    <p:animMotion origin="layout" path="M 3.61111E-6 8.64198E-7 L 0.10086 8.64198E-7 " pathEditMode="relative" rAng="0" ptsTypes="AA">
                                      <p:cBhvr>
                                        <p:cTn id="20" dur="2000" fill="hold"/>
                                        <p:tgtEl>
                                          <p:spTgt spid="59"/>
                                        </p:tgtEl>
                                        <p:attrNameLst>
                                          <p:attrName>ppt_x</p:attrName>
                                          <p:attrName>ppt_y</p:attrName>
                                        </p:attrNameLst>
                                      </p:cBhvr>
                                      <p:rCtr x="5035" y="0"/>
                                    </p:animMotion>
                                  </p:childTnLst>
                                </p:cTn>
                              </p:par>
                            </p:childTnLst>
                          </p:cTn>
                        </p:par>
                      </p:childTnLst>
                    </p:cTn>
                  </p:par>
                  <p:par>
                    <p:cTn id="21" fill="hold">
                      <p:stCondLst>
                        <p:cond delay="indefinite"/>
                      </p:stCondLst>
                      <p:childTnLst>
                        <p:par>
                          <p:cTn id="22" fill="hold">
                            <p:stCondLst>
                              <p:cond delay="0"/>
                            </p:stCondLst>
                            <p:childTnLst>
                              <p:par>
                                <p:cTn id="23" presetID="35" presetClass="emph" presetSubtype="0" repeatCount="3000" fill="hold" nodeType="clickEffect">
                                  <p:stCondLst>
                                    <p:cond delay="0"/>
                                  </p:stCondLst>
                                  <p:childTnLst>
                                    <p:anim calcmode="discrete" valueType="str">
                                      <p:cBhvr>
                                        <p:cTn id="24" dur="1000" fill="hold"/>
                                        <p:tgtEl>
                                          <p:spTgt spid="5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2" grpId="0" animBg="1"/>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155"/>
          <p:cNvSpPr txBox="1">
            <a:spLocks noChangeArrowheads="1"/>
          </p:cNvSpPr>
          <p:nvPr/>
        </p:nvSpPr>
        <p:spPr bwMode="auto">
          <a:xfrm>
            <a:off x="2202543" y="1112632"/>
            <a:ext cx="5026159" cy="363176"/>
          </a:xfrm>
          <a:prstGeom prst="rect">
            <a:avLst/>
          </a:prstGeom>
          <a:noFill/>
          <a:ln w="9525">
            <a:no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假定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发送了序号为 </a:t>
            </a:r>
            <a:r>
              <a:rPr lang="en-US" altLang="zh-CN" sz="1600" b="1" dirty="0">
                <a:latin typeface="微软雅黑" pitchFamily="34" charset="-122"/>
                <a:ea typeface="微软雅黑" pitchFamily="34" charset="-122"/>
              </a:rPr>
              <a:t>31 ~ 41 </a:t>
            </a:r>
            <a:r>
              <a:rPr lang="zh-CN" altLang="en-US" sz="1600" b="1" dirty="0">
                <a:latin typeface="微软雅黑" pitchFamily="34" charset="-122"/>
                <a:ea typeface="微软雅黑" pitchFamily="34" charset="-122"/>
              </a:rPr>
              <a:t>共 </a:t>
            </a:r>
            <a:r>
              <a:rPr lang="en-US" altLang="zh-CN" sz="1600" b="1" dirty="0">
                <a:latin typeface="微软雅黑" pitchFamily="34" charset="-122"/>
                <a:ea typeface="微软雅黑" pitchFamily="34" charset="-122"/>
              </a:rPr>
              <a:t>11 </a:t>
            </a:r>
            <a:r>
              <a:rPr lang="zh-CN" altLang="en-US" sz="1600" b="1" dirty="0">
                <a:latin typeface="微软雅黑" pitchFamily="34" charset="-122"/>
                <a:ea typeface="微软雅黑" pitchFamily="34" charset="-122"/>
              </a:rPr>
              <a:t>个字节的数据</a:t>
            </a:r>
          </a:p>
        </p:txBody>
      </p:sp>
      <p:sp>
        <p:nvSpPr>
          <p:cNvPr id="61" name="Text Box 155"/>
          <p:cNvSpPr txBox="1">
            <a:spLocks noChangeArrowheads="1"/>
          </p:cNvSpPr>
          <p:nvPr/>
        </p:nvSpPr>
        <p:spPr bwMode="auto">
          <a:xfrm>
            <a:off x="2379165" y="3069409"/>
            <a:ext cx="5100029" cy="1220847"/>
          </a:xfrm>
          <a:prstGeom prst="rect">
            <a:avLst/>
          </a:prstGeom>
          <a:solidFill>
            <a:schemeClr val="bg1"/>
          </a:solidFill>
          <a:ln w="9525">
            <a:solidFill>
              <a:schemeClr val="tx1"/>
            </a:solidFill>
            <a:miter lim="800000"/>
            <a:headEnd/>
            <a:tailEnd/>
          </a:ln>
          <a:effectLst/>
        </p:spPr>
        <p:txBody>
          <a:bodyPr wrap="square">
            <a:spAutoFit/>
          </a:bodyPr>
          <a:lstStyle/>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后沿，</a:t>
            </a:r>
            <a:r>
              <a:rPr lang="en-US" altLang="zh-CN" sz="1400" b="1" dirty="0">
                <a:latin typeface="微软雅黑" pitchFamily="34" charset="-122"/>
                <a:ea typeface="微软雅黑" pitchFamily="34" charset="-122"/>
              </a:rPr>
              <a:t>P2 = </a:t>
            </a:r>
            <a:r>
              <a:rPr lang="zh-CN" altLang="en-US" sz="1400" b="1" dirty="0">
                <a:latin typeface="微软雅黑" pitchFamily="34" charset="-122"/>
                <a:ea typeface="微软雅黑" pitchFamily="34" charset="-122"/>
              </a:rPr>
              <a:t>当前，</a:t>
            </a: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前沿。</a:t>
            </a:r>
            <a:endParaRPr lang="en-US" altLang="zh-CN" sz="1400" b="1" dirty="0">
              <a:latin typeface="微软雅黑" pitchFamily="34" charset="-122"/>
              <a:ea typeface="微软雅黑" pitchFamily="34" charset="-122"/>
            </a:endParaRP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 </a:t>
            </a:r>
            <a:r>
              <a:rPr lang="zh-CN" altLang="en-US" sz="1400" b="1" dirty="0">
                <a:latin typeface="微软雅黑" pitchFamily="34" charset="-122"/>
                <a:ea typeface="微软雅黑" pitchFamily="34" charset="-122"/>
              </a:rPr>
              <a:t>的发送窗口（又称为</a:t>
            </a:r>
            <a:r>
              <a:rPr lang="zh-CN" altLang="en-US" sz="1400" b="1" dirty="0">
                <a:solidFill>
                  <a:srgbClr val="0000FF"/>
                </a:solidFill>
                <a:latin typeface="微软雅黑" pitchFamily="34" charset="-122"/>
                <a:ea typeface="微软雅黑" pitchFamily="34" charset="-122"/>
              </a:rPr>
              <a:t>通知窗口</a:t>
            </a:r>
            <a:r>
              <a:rPr lang="zh-CN" altLang="en-US" sz="1400" b="1" dirty="0">
                <a:latin typeface="微软雅黑" pitchFamily="34" charset="-122"/>
                <a:ea typeface="微软雅黑" pitchFamily="34" charset="-122"/>
              </a:rPr>
              <a:t>）</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1</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已发送但尚未收到确认的字节数</a:t>
            </a:r>
          </a:p>
          <a:p>
            <a:pPr>
              <a:lnSpc>
                <a:spcPts val="2200"/>
              </a:lnSpc>
            </a:pPr>
            <a:r>
              <a:rPr lang="en-US" altLang="zh-CN" sz="1400" b="1" dirty="0">
                <a:latin typeface="微软雅黑" pitchFamily="34" charset="-122"/>
                <a:ea typeface="微软雅黑" pitchFamily="34" charset="-122"/>
              </a:rPr>
              <a:t>P</a:t>
            </a:r>
            <a:r>
              <a:rPr lang="en-US" altLang="zh-CN" sz="1400" b="1" baseline="-25000" dirty="0">
                <a:latin typeface="微软雅黑" pitchFamily="34" charset="-122"/>
                <a:ea typeface="微软雅黑" pitchFamily="34" charset="-122"/>
              </a:rPr>
              <a:t>3</a:t>
            </a:r>
            <a:r>
              <a:rPr lang="en-US" altLang="zh-CN" sz="1400" b="1" dirty="0">
                <a:latin typeface="微软雅黑" pitchFamily="34" charset="-122"/>
                <a:ea typeface="微软雅黑" pitchFamily="34" charset="-122"/>
              </a:rPr>
              <a:t> – P</a:t>
            </a:r>
            <a:r>
              <a:rPr lang="en-US" altLang="zh-CN" sz="1400" b="1" baseline="-25000" dirty="0">
                <a:latin typeface="微软雅黑" pitchFamily="34" charset="-122"/>
                <a:ea typeface="微软雅黑" pitchFamily="34" charset="-122"/>
              </a:rPr>
              <a:t>2</a:t>
            </a:r>
            <a:r>
              <a:rPr lang="en-US" altLang="zh-CN" sz="1400" b="1" dirty="0">
                <a:latin typeface="微软雅黑" pitchFamily="34" charset="-122"/>
                <a:ea typeface="微软雅黑" pitchFamily="34" charset="-122"/>
              </a:rPr>
              <a:t> = </a:t>
            </a:r>
            <a:r>
              <a:rPr lang="zh-CN" altLang="en-US" sz="1400" b="1" dirty="0">
                <a:latin typeface="微软雅黑" pitchFamily="34" charset="-122"/>
                <a:ea typeface="微软雅黑" pitchFamily="34" charset="-122"/>
              </a:rPr>
              <a:t>允许发送但尚未发送的字节数（又称为</a:t>
            </a:r>
            <a:r>
              <a:rPr lang="zh-CN" altLang="en-US" sz="1400" b="1" dirty="0">
                <a:solidFill>
                  <a:srgbClr val="0000FF"/>
                </a:solidFill>
                <a:latin typeface="微软雅黑" pitchFamily="34" charset="-122"/>
                <a:ea typeface="微软雅黑" pitchFamily="34" charset="-122"/>
              </a:rPr>
              <a:t>可用窗口</a:t>
            </a:r>
            <a:r>
              <a:rPr lang="zh-CN" altLang="en-US" sz="1400" b="1" dirty="0">
                <a:latin typeface="微软雅黑" pitchFamily="34" charset="-122"/>
                <a:ea typeface="微软雅黑" pitchFamily="34" charset="-122"/>
              </a:rPr>
              <a:t>） </a:t>
            </a:r>
          </a:p>
        </p:txBody>
      </p:sp>
      <p:sp>
        <p:nvSpPr>
          <p:cNvPr id="63" name="Line 5"/>
          <p:cNvSpPr>
            <a:spLocks noChangeShapeType="1"/>
          </p:cNvSpPr>
          <p:nvPr/>
        </p:nvSpPr>
        <p:spPr bwMode="auto">
          <a:xfrm flipV="1">
            <a:off x="2399443" y="1602217"/>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64" name="Text Box 6"/>
          <p:cNvSpPr txBox="1">
            <a:spLocks noChangeArrowheads="1"/>
          </p:cNvSpPr>
          <p:nvPr/>
        </p:nvSpPr>
        <p:spPr bwMode="auto">
          <a:xfrm>
            <a:off x="6834797" y="2411073"/>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65" name="Text Box 7"/>
          <p:cNvSpPr txBox="1">
            <a:spLocks noChangeArrowheads="1"/>
          </p:cNvSpPr>
          <p:nvPr/>
        </p:nvSpPr>
        <p:spPr bwMode="auto">
          <a:xfrm>
            <a:off x="1461412" y="2420217"/>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66" name="Text Box 8"/>
          <p:cNvSpPr txBox="1">
            <a:spLocks noChangeArrowheads="1"/>
          </p:cNvSpPr>
          <p:nvPr/>
        </p:nvSpPr>
        <p:spPr bwMode="auto">
          <a:xfrm>
            <a:off x="2766594" y="1469764"/>
            <a:ext cx="3515706"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r>
              <a:rPr lang="zh-CN" altLang="en-US" sz="1200" b="1" dirty="0">
                <a:solidFill>
                  <a:srgbClr val="0000FF"/>
                </a:solidFill>
                <a:latin typeface="微软雅黑" pitchFamily="34" charset="-122"/>
                <a:ea typeface="微软雅黑" pitchFamily="34" charset="-122"/>
              </a:rPr>
              <a:t>字节，未收到确认前</a:t>
            </a:r>
            <a:r>
              <a:rPr lang="zh-CN" altLang="en-US" sz="1200" b="1" dirty="0">
                <a:solidFill>
                  <a:srgbClr val="C00000"/>
                </a:solidFill>
                <a:latin typeface="微软雅黑" pitchFamily="34" charset="-122"/>
                <a:ea typeface="微软雅黑" pitchFamily="34" charset="-122"/>
              </a:rPr>
              <a:t>位置不变</a:t>
            </a:r>
          </a:p>
        </p:txBody>
      </p:sp>
      <p:sp>
        <p:nvSpPr>
          <p:cNvPr id="67" name="Text Box 9"/>
          <p:cNvSpPr txBox="1">
            <a:spLocks noChangeArrowheads="1"/>
          </p:cNvSpPr>
          <p:nvPr/>
        </p:nvSpPr>
        <p:spPr bwMode="auto">
          <a:xfrm>
            <a:off x="4999578" y="2480956"/>
            <a:ext cx="1569660"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允许发送但</a:t>
            </a:r>
            <a:r>
              <a:rPr lang="zh-CN" altLang="en-US" sz="1200" b="1" dirty="0">
                <a:solidFill>
                  <a:srgbClr val="CC00CC"/>
                </a:solidFill>
                <a:latin typeface="微软雅黑" pitchFamily="34" charset="-122"/>
                <a:ea typeface="微软雅黑" pitchFamily="34" charset="-122"/>
              </a:rPr>
              <a:t>尚未发送</a:t>
            </a:r>
          </a:p>
        </p:txBody>
      </p:sp>
      <p:sp>
        <p:nvSpPr>
          <p:cNvPr id="68" name="Rectangle 10"/>
          <p:cNvSpPr>
            <a:spLocks noChangeArrowheads="1"/>
          </p:cNvSpPr>
          <p:nvPr/>
        </p:nvSpPr>
        <p:spPr bwMode="auto">
          <a:xfrm>
            <a:off x="2404213" y="2022947"/>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69" name="Rectangle 11"/>
          <p:cNvSpPr>
            <a:spLocks noChangeArrowheads="1"/>
          </p:cNvSpPr>
          <p:nvPr/>
        </p:nvSpPr>
        <p:spPr bwMode="auto">
          <a:xfrm>
            <a:off x="1348648" y="217268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70" name="Rectangle 12"/>
          <p:cNvSpPr>
            <a:spLocks noChangeArrowheads="1"/>
          </p:cNvSpPr>
          <p:nvPr/>
        </p:nvSpPr>
        <p:spPr bwMode="auto">
          <a:xfrm>
            <a:off x="1565725" y="217158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71" name="Rectangle 13"/>
          <p:cNvSpPr>
            <a:spLocks noChangeArrowheads="1"/>
          </p:cNvSpPr>
          <p:nvPr/>
        </p:nvSpPr>
        <p:spPr bwMode="auto">
          <a:xfrm>
            <a:off x="1782801" y="217047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72" name="Rectangle 14"/>
          <p:cNvSpPr>
            <a:spLocks noChangeArrowheads="1"/>
          </p:cNvSpPr>
          <p:nvPr/>
        </p:nvSpPr>
        <p:spPr bwMode="auto">
          <a:xfrm>
            <a:off x="1999878" y="216937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73" name="Rectangle 15"/>
          <p:cNvSpPr>
            <a:spLocks noChangeArrowheads="1"/>
          </p:cNvSpPr>
          <p:nvPr/>
        </p:nvSpPr>
        <p:spPr bwMode="auto">
          <a:xfrm>
            <a:off x="2216954" y="216827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2" name="组合 1"/>
          <p:cNvGrpSpPr/>
          <p:nvPr/>
        </p:nvGrpSpPr>
        <p:grpSpPr>
          <a:xfrm>
            <a:off x="2434031" y="2156167"/>
            <a:ext cx="2332978" cy="210286"/>
            <a:chOff x="2434031" y="1636215"/>
            <a:chExt cx="2332978" cy="210286"/>
          </a:xfrm>
        </p:grpSpPr>
        <p:sp>
          <p:nvSpPr>
            <p:cNvPr id="74"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75"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76"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77"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78"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79"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80"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81"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82"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83"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84"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3" name="组合 2"/>
          <p:cNvGrpSpPr/>
          <p:nvPr/>
        </p:nvGrpSpPr>
        <p:grpSpPr>
          <a:xfrm>
            <a:off x="4821875" y="2146257"/>
            <a:ext cx="1898824" cy="208086"/>
            <a:chOff x="4821875" y="1626305"/>
            <a:chExt cx="1898824" cy="208086"/>
          </a:xfrm>
        </p:grpSpPr>
        <p:sp>
          <p:nvSpPr>
            <p:cNvPr id="85"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86"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87"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88"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89"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90"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91"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92"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93"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4" name="Rectangle 36"/>
          <p:cNvSpPr>
            <a:spLocks noChangeArrowheads="1"/>
          </p:cNvSpPr>
          <p:nvPr/>
        </p:nvSpPr>
        <p:spPr bwMode="auto">
          <a:xfrm>
            <a:off x="6775565" y="2145157"/>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95" name="Rectangle 37"/>
          <p:cNvSpPr>
            <a:spLocks noChangeArrowheads="1"/>
          </p:cNvSpPr>
          <p:nvPr/>
        </p:nvSpPr>
        <p:spPr bwMode="auto">
          <a:xfrm>
            <a:off x="6992642" y="2144055"/>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96" name="Rectangle 38"/>
          <p:cNvSpPr>
            <a:spLocks noChangeArrowheads="1"/>
          </p:cNvSpPr>
          <p:nvPr/>
        </p:nvSpPr>
        <p:spPr bwMode="auto">
          <a:xfrm>
            <a:off x="7209718" y="2142955"/>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97" name="Rectangle 39"/>
          <p:cNvSpPr>
            <a:spLocks noChangeArrowheads="1"/>
          </p:cNvSpPr>
          <p:nvPr/>
        </p:nvSpPr>
        <p:spPr bwMode="auto">
          <a:xfrm>
            <a:off x="7426795" y="2141853"/>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98" name="Rectangle 40"/>
          <p:cNvSpPr>
            <a:spLocks noChangeArrowheads="1"/>
          </p:cNvSpPr>
          <p:nvPr/>
        </p:nvSpPr>
        <p:spPr bwMode="auto">
          <a:xfrm>
            <a:off x="7643872"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99" name="Text Box 41"/>
          <p:cNvSpPr txBox="1">
            <a:spLocks noChangeArrowheads="1"/>
          </p:cNvSpPr>
          <p:nvPr/>
        </p:nvSpPr>
        <p:spPr bwMode="auto">
          <a:xfrm>
            <a:off x="2715938" y="2493068"/>
            <a:ext cx="1569660"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已发送但</a:t>
            </a:r>
            <a:r>
              <a:rPr lang="zh-CN" altLang="en-US" sz="1200" b="1" dirty="0">
                <a:solidFill>
                  <a:srgbClr val="CC00CC"/>
                </a:solidFill>
                <a:latin typeface="微软雅黑" pitchFamily="34" charset="-122"/>
                <a:ea typeface="微软雅黑" pitchFamily="34" charset="-122"/>
              </a:rPr>
              <a:t>未收到确认</a:t>
            </a:r>
          </a:p>
        </p:txBody>
      </p:sp>
      <p:sp>
        <p:nvSpPr>
          <p:cNvPr id="100" name="Rectangle 42"/>
          <p:cNvSpPr>
            <a:spLocks noChangeArrowheads="1"/>
          </p:cNvSpPr>
          <p:nvPr/>
        </p:nvSpPr>
        <p:spPr bwMode="auto">
          <a:xfrm>
            <a:off x="7854985" y="214075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2360115" y="2373060"/>
            <a:ext cx="348173" cy="656838"/>
            <a:chOff x="2360115" y="2373060"/>
            <a:chExt cx="348173" cy="656838"/>
          </a:xfrm>
        </p:grpSpPr>
        <p:sp>
          <p:nvSpPr>
            <p:cNvPr id="101"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2"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5" name="组合 4"/>
          <p:cNvGrpSpPr/>
          <p:nvPr/>
        </p:nvGrpSpPr>
        <p:grpSpPr>
          <a:xfrm>
            <a:off x="4761080" y="2373060"/>
            <a:ext cx="348173" cy="656838"/>
            <a:chOff x="4761080" y="2373060"/>
            <a:chExt cx="348173" cy="656838"/>
          </a:xfrm>
        </p:grpSpPr>
        <p:sp>
          <p:nvSpPr>
            <p:cNvPr id="103"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Text Box 48"/>
            <p:cNvSpPr txBox="1">
              <a:spLocks noChangeArrowheads="1"/>
            </p:cNvSpPr>
            <p:nvPr/>
          </p:nvSpPr>
          <p:spPr bwMode="auto">
            <a:xfrm>
              <a:off x="4761080"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2</a:t>
              </a:r>
            </a:p>
          </p:txBody>
        </p:sp>
      </p:grpSp>
      <p:grpSp>
        <p:nvGrpSpPr>
          <p:cNvPr id="7" name="组合 6"/>
          <p:cNvGrpSpPr/>
          <p:nvPr/>
        </p:nvGrpSpPr>
        <p:grpSpPr>
          <a:xfrm>
            <a:off x="6713577" y="2373060"/>
            <a:ext cx="348173" cy="656838"/>
            <a:chOff x="6713577" y="2373060"/>
            <a:chExt cx="348173" cy="656838"/>
          </a:xfrm>
        </p:grpSpPr>
        <p:sp>
          <p:nvSpPr>
            <p:cNvPr id="105"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6" name="Text Box 51"/>
            <p:cNvSpPr txBox="1">
              <a:spLocks noChangeArrowheads="1"/>
            </p:cNvSpPr>
            <p:nvPr/>
          </p:nvSpPr>
          <p:spPr bwMode="auto">
            <a:xfrm>
              <a:off x="6713577"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3</a:t>
              </a:r>
            </a:p>
          </p:txBody>
        </p:sp>
      </p:grpSp>
      <p:sp>
        <p:nvSpPr>
          <p:cNvPr id="147" name="AutoShape 91"/>
          <p:cNvSpPr>
            <a:spLocks/>
          </p:cNvSpPr>
          <p:nvPr/>
        </p:nvSpPr>
        <p:spPr bwMode="auto">
          <a:xfrm rot="5400000">
            <a:off x="5692521" y="1041286"/>
            <a:ext cx="127714" cy="1892861"/>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latin typeface="微软雅黑" pitchFamily="34" charset="-122"/>
              <a:ea typeface="微软雅黑" pitchFamily="34" charset="-122"/>
            </a:endParaRPr>
          </a:p>
        </p:txBody>
      </p:sp>
      <p:sp>
        <p:nvSpPr>
          <p:cNvPr id="148" name="Text Box 92"/>
          <p:cNvSpPr txBox="1">
            <a:spLocks noChangeArrowheads="1"/>
          </p:cNvSpPr>
          <p:nvPr/>
        </p:nvSpPr>
        <p:spPr bwMode="auto">
          <a:xfrm>
            <a:off x="5344146" y="1678005"/>
            <a:ext cx="800219"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可用窗口</a:t>
            </a:r>
          </a:p>
        </p:txBody>
      </p:sp>
      <p:sp>
        <p:nvSpPr>
          <p:cNvPr id="8" name="标题 7">
            <a:extLst>
              <a:ext uri="{FF2B5EF4-FFF2-40B4-BE49-F238E27FC236}">
                <a16:creationId xmlns:a16="http://schemas.microsoft.com/office/drawing/2014/main" id="{BD1AE9B4-C5D7-F4EB-1293-C6E9AA45BE2A}"/>
              </a:ext>
            </a:extLst>
          </p:cNvPr>
          <p:cNvSpPr>
            <a:spLocks noGrp="1"/>
          </p:cNvSpPr>
          <p:nvPr>
            <p:ph type="title"/>
          </p:nvPr>
        </p:nvSpPr>
        <p:spPr>
          <a:xfrm>
            <a:off x="2808000" y="144000"/>
            <a:ext cx="3528000" cy="338554"/>
          </a:xfrm>
        </p:spPr>
        <p:txBody>
          <a:bodyPr/>
          <a:lstStyle/>
          <a:p>
            <a:r>
              <a:rPr lang="zh-CN" altLang="en-US" dirty="0"/>
              <a:t>发送窗口</a:t>
            </a:r>
          </a:p>
        </p:txBody>
      </p:sp>
    </p:spTree>
    <p:extLst>
      <p:ext uri="{BB962C8B-B14F-4D97-AF65-F5344CB8AC3E}">
        <p14:creationId xmlns:p14="http://schemas.microsoft.com/office/powerpoint/2010/main" val="392695465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66"/>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1000"/>
                                  </p:stCondLst>
                                  <p:childTnLst>
                                    <p:anim calcmode="discrete" valueType="str">
                                      <p:cBhvr>
                                        <p:cTn id="9" dur="1000" fill="hold"/>
                                        <p:tgtEl>
                                          <p:spTgt spid="2"/>
                                        </p:tgtEl>
                                        <p:attrNameLst>
                                          <p:attrName>style.visibility</p:attrName>
                                        </p:attrNameLst>
                                      </p:cBhvr>
                                      <p:tavLst>
                                        <p:tav tm="0">
                                          <p:val>
                                            <p:strVal val="hidden"/>
                                          </p:val>
                                        </p:tav>
                                        <p:tav tm="50000">
                                          <p:val>
                                            <p:strVal val="visible"/>
                                          </p:val>
                                        </p:tav>
                                      </p:tavLst>
                                    </p:anim>
                                  </p:childTnLst>
                                </p:cTn>
                              </p:par>
                            </p:childTnLst>
                          </p:cTn>
                        </p:par>
                        <p:par>
                          <p:cTn id="10" fill="hold">
                            <p:stCondLst>
                              <p:cond delay="7000"/>
                            </p:stCondLst>
                            <p:childTnLst>
                              <p:par>
                                <p:cTn id="11" presetID="35" presetClass="emph" presetSubtype="0" repeatCount="3000" fill="hold" nodeType="afterEffect">
                                  <p:stCondLst>
                                    <p:cond delay="1000"/>
                                  </p:stCondLst>
                                  <p:childTnLst>
                                    <p:anim calcmode="discrete" valueType="str">
                                      <p:cBhvr>
                                        <p:cTn id="12"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par>
                    <p:cTn id="13" fill="hold">
                      <p:stCondLst>
                        <p:cond delay="indefinite"/>
                      </p:stCondLst>
                      <p:childTnLst>
                        <p:par>
                          <p:cTn id="14" fill="hold">
                            <p:stCondLst>
                              <p:cond delay="0"/>
                            </p:stCondLst>
                            <p:childTnLst>
                              <p:par>
                                <p:cTn id="15" presetID="35" presetClass="emph" presetSubtype="0" repeatCount="3000" fill="hold" nodeType="clickEffect">
                                  <p:stCondLst>
                                    <p:cond delay="0"/>
                                  </p:stCondLst>
                                  <p:childTnLst>
                                    <p:anim calcmode="discrete" valueType="str">
                                      <p:cBhvr>
                                        <p:cTn id="16" dur="1000" fill="hold"/>
                                        <p:tgtEl>
                                          <p:spTgt spid="4"/>
                                        </p:tgtEl>
                                        <p:attrNameLst>
                                          <p:attrName>style.visibility</p:attrName>
                                        </p:attrNameLst>
                                      </p:cBhvr>
                                      <p:tavLst>
                                        <p:tav tm="0">
                                          <p:val>
                                            <p:strVal val="hidden"/>
                                          </p:val>
                                        </p:tav>
                                        <p:tav tm="50000">
                                          <p:val>
                                            <p:strVal val="visible"/>
                                          </p:val>
                                        </p:tav>
                                      </p:tavLst>
                                    </p:anim>
                                  </p:childTnLst>
                                </p:cTn>
                              </p:par>
                              <p:par>
                                <p:cTn id="17" presetID="35" presetClass="emph" presetSubtype="0" repeatCount="3000" fill="hold" nodeType="withEffect">
                                  <p:stCondLst>
                                    <p:cond delay="0"/>
                                  </p:stCondLst>
                                  <p:childTnLst>
                                    <p:anim calcmode="discrete" valueType="str">
                                      <p:cBhvr>
                                        <p:cTn id="18" dur="1000" fill="hold"/>
                                        <p:tgtEl>
                                          <p:spTgt spid="5"/>
                                        </p:tgtEl>
                                        <p:attrNameLst>
                                          <p:attrName>style.visibility</p:attrName>
                                        </p:attrNameLst>
                                      </p:cBhvr>
                                      <p:tavLst>
                                        <p:tav tm="0">
                                          <p:val>
                                            <p:strVal val="hidden"/>
                                          </p:val>
                                        </p:tav>
                                        <p:tav tm="50000">
                                          <p:val>
                                            <p:strVal val="visible"/>
                                          </p:val>
                                        </p:tav>
                                      </p:tavLst>
                                    </p:anim>
                                  </p:childTnLst>
                                </p:cTn>
                              </p:par>
                              <p:par>
                                <p:cTn id="19" presetID="35" presetClass="emph" presetSubtype="0" repeatCount="3000" fill="hold" nodeType="withEffect">
                                  <p:stCondLst>
                                    <p:cond delay="0"/>
                                  </p:stCondLst>
                                  <p:childTnLst>
                                    <p:anim calcmode="discrete" valueType="str">
                                      <p:cBhvr>
                                        <p:cTn id="20" dur="1000" fill="hold"/>
                                        <p:tgtEl>
                                          <p:spTgt spid="7"/>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Line 4"/>
          <p:cNvSpPr>
            <a:spLocks noChangeShapeType="1"/>
          </p:cNvSpPr>
          <p:nvPr/>
        </p:nvSpPr>
        <p:spPr bwMode="auto">
          <a:xfrm flipV="1">
            <a:off x="2399443" y="1405590"/>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1929920"/>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1966496"/>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1245990"/>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1999887"/>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1557210"/>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170694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170584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170474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1703639"/>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1702539"/>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170143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1700337"/>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1699235"/>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1698135"/>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169703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169593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169483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169373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169263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1691529"/>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169042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168932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168822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168712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168602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168492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168382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168272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168162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168052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167941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167831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167721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1676116"/>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1675014"/>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1898510"/>
            <a:ext cx="813441" cy="874348"/>
            <a:chOff x="2432838" y="1898510"/>
            <a:chExt cx="813441" cy="874348"/>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49638"/>
              <a:ext cx="813441" cy="523220"/>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400" b="1" dirty="0">
                  <a:latin typeface="微软雅黑" pitchFamily="34" charset="-122"/>
                  <a:ea typeface="微软雅黑" pitchFamily="34" charset="-122"/>
                </a:rPr>
                <a:t>未按序收到</a:t>
              </a:r>
            </a:p>
          </p:txBody>
        </p:sp>
      </p:grpSp>
      <p:sp>
        <p:nvSpPr>
          <p:cNvPr id="4" name="矩形 3"/>
          <p:cNvSpPr/>
          <p:nvPr/>
        </p:nvSpPr>
        <p:spPr>
          <a:xfrm>
            <a:off x="1347455" y="2927938"/>
            <a:ext cx="6697345" cy="707886"/>
          </a:xfrm>
          <a:prstGeom prst="rect">
            <a:avLst/>
          </a:prstGeom>
          <a:solidFill>
            <a:schemeClr val="bg1"/>
          </a:solidFill>
        </p:spPr>
        <p:txBody>
          <a:bodyPr wrap="square">
            <a:spAutoFit/>
          </a:bodyPr>
          <a:lstStyle/>
          <a:p>
            <a:pPr>
              <a:lnSpc>
                <a:spcPts val="2400"/>
              </a:lnSpc>
            </a:pPr>
            <a:r>
              <a:rPr lang="en-US" altLang="zh-CN" sz="1600" b="1" dirty="0">
                <a:latin typeface="微软雅黑" panose="020B0503020204020204" pitchFamily="34" charset="-122"/>
                <a:ea typeface="微软雅黑" panose="020B0503020204020204" pitchFamily="34" charset="-122"/>
              </a:rPr>
              <a:t>B </a:t>
            </a:r>
            <a:r>
              <a:rPr lang="zh-CN" altLang="en-US" sz="1600" b="1" dirty="0">
                <a:latin typeface="微软雅黑" panose="020B0503020204020204" pitchFamily="34" charset="-122"/>
                <a:ea typeface="微软雅黑" panose="020B0503020204020204" pitchFamily="34" charset="-122"/>
              </a:rPr>
              <a:t>收到了序号为 </a:t>
            </a:r>
            <a:r>
              <a:rPr lang="en-US" altLang="zh-CN" sz="1600" b="1" dirty="0">
                <a:latin typeface="微软雅黑" panose="020B0503020204020204" pitchFamily="34" charset="-122"/>
                <a:ea typeface="微软雅黑" panose="020B0503020204020204" pitchFamily="34" charset="-122"/>
              </a:rPr>
              <a:t>32 </a:t>
            </a:r>
            <a:r>
              <a:rPr lang="zh-CN" altLang="en-US" sz="1600" b="1" dirty="0">
                <a:latin typeface="微软雅黑" panose="020B0503020204020204" pitchFamily="34" charset="-122"/>
                <a:ea typeface="微软雅黑" panose="020B0503020204020204" pitchFamily="34" charset="-122"/>
              </a:rPr>
              <a:t>和 </a:t>
            </a:r>
            <a:r>
              <a:rPr lang="en-US" altLang="zh-CN" sz="1600" b="1" dirty="0">
                <a:latin typeface="微软雅黑" panose="020B0503020204020204" pitchFamily="34" charset="-122"/>
                <a:ea typeface="微软雅黑" panose="020B0503020204020204" pitchFamily="34" charset="-122"/>
              </a:rPr>
              <a:t>33 </a:t>
            </a:r>
            <a:r>
              <a:rPr lang="zh-CN" altLang="en-US" sz="1600" b="1" dirty="0">
                <a:latin typeface="微软雅黑" panose="020B0503020204020204" pitchFamily="34" charset="-122"/>
                <a:ea typeface="微软雅黑" panose="020B0503020204020204" pitchFamily="34" charset="-122"/>
              </a:rPr>
              <a:t>的数据，但未收到序号为 </a:t>
            </a:r>
            <a:r>
              <a:rPr lang="en-US" altLang="zh-CN" sz="1600" b="1" dirty="0">
                <a:latin typeface="微软雅黑" panose="020B0503020204020204" pitchFamily="34" charset="-122"/>
                <a:ea typeface="微软雅黑" panose="020B0503020204020204" pitchFamily="34" charset="-122"/>
              </a:rPr>
              <a:t>31 </a:t>
            </a:r>
            <a:r>
              <a:rPr lang="zh-CN" altLang="en-US" sz="1600" b="1" dirty="0">
                <a:latin typeface="微软雅黑" panose="020B0503020204020204" pitchFamily="34" charset="-122"/>
                <a:ea typeface="微软雅黑" panose="020B0503020204020204" pitchFamily="34" charset="-122"/>
              </a:rPr>
              <a:t>的数据。</a:t>
            </a:r>
            <a:endParaRPr lang="en-US" altLang="zh-CN" sz="1600" b="1" dirty="0">
              <a:latin typeface="微软雅黑" panose="020B0503020204020204" pitchFamily="34" charset="-122"/>
              <a:ea typeface="微软雅黑" panose="020B0503020204020204" pitchFamily="34" charset="-122"/>
            </a:endParaRPr>
          </a:p>
          <a:p>
            <a:pPr>
              <a:lnSpc>
                <a:spcPts val="2400"/>
              </a:lnSpc>
            </a:pPr>
            <a:r>
              <a:rPr lang="zh-CN" altLang="en-US" sz="1600" b="1" dirty="0">
                <a:latin typeface="微软雅黑" panose="020B0503020204020204" pitchFamily="34" charset="-122"/>
                <a:ea typeface="微软雅黑" panose="020B0503020204020204" pitchFamily="34" charset="-122"/>
              </a:rPr>
              <a:t>因此，因此发送的确认报文段中的确认号是 </a:t>
            </a:r>
            <a:r>
              <a:rPr lang="en-US" altLang="zh-CN" sz="1600" b="1" dirty="0">
                <a:latin typeface="微软雅黑" panose="020B0503020204020204" pitchFamily="34" charset="-122"/>
                <a:ea typeface="微软雅黑" panose="020B0503020204020204" pitchFamily="34" charset="-122"/>
              </a:rPr>
              <a:t>31</a:t>
            </a:r>
            <a:r>
              <a:rPr lang="zh-CN" altLang="en-US" sz="1600" b="1" dirty="0">
                <a:latin typeface="微软雅黑" panose="020B0503020204020204" pitchFamily="34" charset="-122"/>
                <a:ea typeface="微软雅黑" panose="020B0503020204020204" pitchFamily="34" charset="-122"/>
              </a:rPr>
              <a:t>（即期望收到的序号）。</a:t>
            </a:r>
          </a:p>
        </p:txBody>
      </p:sp>
      <p:sp>
        <p:nvSpPr>
          <p:cNvPr id="2" name="标题 1">
            <a:extLst>
              <a:ext uri="{FF2B5EF4-FFF2-40B4-BE49-F238E27FC236}">
                <a16:creationId xmlns:a16="http://schemas.microsoft.com/office/drawing/2014/main" id="{F7785425-0860-D3D9-8A2D-85F4C6C6A220}"/>
              </a:ext>
            </a:extLst>
          </p:cNvPr>
          <p:cNvSpPr>
            <a:spLocks noGrp="1"/>
          </p:cNvSpPr>
          <p:nvPr>
            <p:ph type="title"/>
          </p:nvPr>
        </p:nvSpPr>
        <p:spPr>
          <a:xfrm>
            <a:off x="2808000" y="144000"/>
            <a:ext cx="3528000" cy="338554"/>
          </a:xfrm>
        </p:spPr>
        <p:txBody>
          <a:bodyPr/>
          <a:lstStyle/>
          <a:p>
            <a:r>
              <a:rPr lang="zh-CN" altLang="en-US" dirty="0"/>
              <a:t>接收窗口</a:t>
            </a:r>
          </a:p>
        </p:txBody>
      </p:sp>
    </p:spTree>
    <p:extLst>
      <p:ext uri="{BB962C8B-B14F-4D97-AF65-F5344CB8AC3E}">
        <p14:creationId xmlns:p14="http://schemas.microsoft.com/office/powerpoint/2010/main" val="31368554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8"/>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grpId="0" nodeType="withEffect">
                                  <p:stCondLst>
                                    <p:cond delay="0"/>
                                  </p:stCondLst>
                                  <p:childTnLst>
                                    <p:anim calcmode="discrete" valueType="str">
                                      <p:cBhvr>
                                        <p:cTn id="8" dur="1000" fill="hold"/>
                                        <p:tgtEl>
                                          <p:spTgt spid="107"/>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35" presetClass="emph" presetSubtype="0" repeatCount="3000" fill="hold" nodeType="clickEffect">
                                  <p:stCondLst>
                                    <p:cond delay="0"/>
                                  </p:stCondLst>
                                  <p:childTnLst>
                                    <p:anim calcmode="discrete" valueType="str">
                                      <p:cBhvr>
                                        <p:cTn id="12" dur="1000" fill="hold"/>
                                        <p:tgtEl>
                                          <p:spTgt spid="5"/>
                                        </p:tgtEl>
                                        <p:attrNameLst>
                                          <p:attrName>style.visibility</p:attrName>
                                        </p:attrNameLst>
                                      </p:cBhvr>
                                      <p:tavLst>
                                        <p:tav tm="0">
                                          <p:val>
                                            <p:strVal val="hidden"/>
                                          </p:val>
                                        </p:tav>
                                        <p:tav tm="50000">
                                          <p:val>
                                            <p:strVal val="visible"/>
                                          </p:val>
                                        </p:tav>
                                      </p:tavLst>
                                    </p:anim>
                                  </p:childTnLst>
                                </p:cTn>
                              </p:par>
                            </p:childTnLst>
                          </p:cTn>
                        </p:par>
                        <p:par>
                          <p:cTn id="13" fill="hold">
                            <p:stCondLst>
                              <p:cond delay="3000"/>
                            </p:stCondLst>
                            <p:childTnLst>
                              <p:par>
                                <p:cTn id="14" presetID="10" presetClass="entr" presetSubtype="0" fill="hold" grpId="0"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0" animBg="1"/>
      <p:bldP spid="108" grpId="0" animBg="1"/>
      <p:bldP spid="4"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5" name="组合 4"/>
          <p:cNvGrpSpPr/>
          <p:nvPr/>
        </p:nvGrpSpPr>
        <p:grpSpPr>
          <a:xfrm>
            <a:off x="2432838" y="3610782"/>
            <a:ext cx="813441" cy="601232"/>
            <a:chOff x="2432838" y="1898510"/>
            <a:chExt cx="813441" cy="601232"/>
          </a:xfrm>
        </p:grpSpPr>
        <p:grpSp>
          <p:nvGrpSpPr>
            <p:cNvPr id="143" name="Group 93"/>
            <p:cNvGrpSpPr>
              <a:grpSpLocks/>
            </p:cNvGrpSpPr>
            <p:nvPr/>
          </p:nvGrpSpPr>
          <p:grpSpPr bwMode="auto">
            <a:xfrm>
              <a:off x="2734600" y="1898510"/>
              <a:ext cx="236161" cy="518367"/>
              <a:chOff x="1231" y="3150"/>
              <a:chExt cx="182" cy="232"/>
            </a:xfrm>
          </p:grpSpPr>
          <p:sp>
            <p:nvSpPr>
              <p:cNvPr id="144"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45"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46" name="Text Box 90"/>
            <p:cNvSpPr txBox="1">
              <a:spLocks noChangeArrowheads="1"/>
            </p:cNvSpPr>
            <p:nvPr/>
          </p:nvSpPr>
          <p:spPr bwMode="auto">
            <a:xfrm>
              <a:off x="2432838" y="2222743"/>
              <a:ext cx="813441"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endParaRPr lang="zh-CN" altLang="en-US" sz="1200" b="1" dirty="0">
                <a:latin typeface="微软雅黑" panose="020B0503020204020204" pitchFamily="34" charset="-122"/>
                <a:ea typeface="微软雅黑" panose="020B0503020204020204" pitchFamily="34" charset="-122"/>
              </a:endParaRP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4" name="标题 3">
            <a:extLst>
              <a:ext uri="{FF2B5EF4-FFF2-40B4-BE49-F238E27FC236}">
                <a16:creationId xmlns:a16="http://schemas.microsoft.com/office/drawing/2014/main" id="{627C2A6A-6781-B725-00EE-13DB61463681}"/>
              </a:ext>
            </a:extLst>
          </p:cNvPr>
          <p:cNvSpPr>
            <a:spLocks noGrp="1"/>
          </p:cNvSpPr>
          <p:nvPr>
            <p:ph type="title"/>
          </p:nvPr>
        </p:nvSpPr>
        <p:spPr>
          <a:xfrm>
            <a:off x="2808000" y="144000"/>
            <a:ext cx="3528000" cy="338554"/>
          </a:xfrm>
        </p:spPr>
        <p:txBody>
          <a:bodyPr/>
          <a:lstStyle/>
          <a:p>
            <a:r>
              <a:rPr lang="zh-CN" altLang="en-US" dirty="0"/>
              <a:t>窗口的滑动</a:t>
            </a:r>
          </a:p>
        </p:txBody>
      </p:sp>
    </p:spTree>
    <p:extLst>
      <p:ext uri="{BB962C8B-B14F-4D97-AF65-F5344CB8AC3E}">
        <p14:creationId xmlns:p14="http://schemas.microsoft.com/office/powerpoint/2010/main" val="8751657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sp>
        <p:nvSpPr>
          <p:cNvPr id="4" name="标题 3">
            <a:extLst>
              <a:ext uri="{FF2B5EF4-FFF2-40B4-BE49-F238E27FC236}">
                <a16:creationId xmlns:a16="http://schemas.microsoft.com/office/drawing/2014/main" id="{78069E6E-7A2C-A3C2-975C-E91CF4938E5A}"/>
              </a:ext>
            </a:extLst>
          </p:cNvPr>
          <p:cNvSpPr>
            <a:spLocks noGrp="1"/>
          </p:cNvSpPr>
          <p:nvPr>
            <p:ph type="title"/>
          </p:nvPr>
        </p:nvSpPr>
        <p:spPr>
          <a:xfrm>
            <a:off x="2808000" y="144000"/>
            <a:ext cx="3528000" cy="338554"/>
          </a:xfrm>
        </p:spPr>
        <p:txBody>
          <a:bodyPr/>
          <a:lstStyle/>
          <a:p>
            <a:r>
              <a:rPr lang="zh-CN" altLang="en-US" dirty="0"/>
              <a:t>窗口的滑动</a:t>
            </a:r>
          </a:p>
        </p:txBody>
      </p:sp>
    </p:spTree>
    <p:extLst>
      <p:ext uri="{BB962C8B-B14F-4D97-AF65-F5344CB8AC3E}">
        <p14:creationId xmlns:p14="http://schemas.microsoft.com/office/powerpoint/2010/main" val="28570369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2399443"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FFC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w</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4" name="组合 3"/>
          <p:cNvGrpSpPr/>
          <p:nvPr/>
        </p:nvGrpSpPr>
        <p:grpSpPr>
          <a:xfrm>
            <a:off x="6723936" y="3011170"/>
            <a:ext cx="583847" cy="339333"/>
            <a:chOff x="6723936" y="3011170"/>
            <a:chExt cx="583847" cy="339333"/>
          </a:xfrm>
        </p:grpSpPr>
        <p:sp>
          <p:nvSpPr>
            <p:cNvPr id="97" name="Text Box 4"/>
            <p:cNvSpPr txBox="1">
              <a:spLocks noChangeArrowheads="1"/>
            </p:cNvSpPr>
            <p:nvPr/>
          </p:nvSpPr>
          <p:spPr bwMode="auto">
            <a:xfrm>
              <a:off x="6796480" y="3011170"/>
              <a:ext cx="511303" cy="287607"/>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前移</a:t>
              </a:r>
            </a:p>
          </p:txBody>
        </p:sp>
        <p:sp>
          <p:nvSpPr>
            <p:cNvPr id="98" name="AutoShape 5"/>
            <p:cNvSpPr>
              <a:spLocks noChangeArrowheads="1"/>
            </p:cNvSpPr>
            <p:nvPr/>
          </p:nvSpPr>
          <p:spPr bwMode="auto">
            <a:xfrm>
              <a:off x="6723936" y="3244226"/>
              <a:ext cx="401068" cy="106277"/>
            </a:xfrm>
            <a:prstGeom prst="rightArrow">
              <a:avLst>
                <a:gd name="adj1" fmla="val 50000"/>
                <a:gd name="adj2" fmla="val 87088"/>
              </a:avLst>
            </a:prstGeom>
            <a:solidFill>
              <a:srgbClr val="CC00CC"/>
            </a:solidFill>
            <a:ln w="9525">
              <a:solidFill>
                <a:srgbClr val="CC00CC"/>
              </a:solidFill>
              <a:miter lim="800000"/>
              <a:headEnd/>
              <a:tailEnd/>
            </a:ln>
            <a:effectLst/>
          </p:spPr>
          <p:txBody>
            <a:bodyPr wrap="none" anchor="ctr"/>
            <a:lstStyle/>
            <a:p>
              <a:endParaRPr lang="zh-CN" altLang="en-US" sz="1000" b="1">
                <a:latin typeface="微软雅黑" pitchFamily="34" charset="-122"/>
                <a:ea typeface="微软雅黑" pitchFamily="34" charset="-122"/>
              </a:endParaRPr>
            </a:p>
          </p:txBody>
        </p:sp>
      </p:grpSp>
      <p:sp>
        <p:nvSpPr>
          <p:cNvPr id="5" name="标题 4">
            <a:extLst>
              <a:ext uri="{FF2B5EF4-FFF2-40B4-BE49-F238E27FC236}">
                <a16:creationId xmlns:a16="http://schemas.microsoft.com/office/drawing/2014/main" id="{BC5DAA80-B8FA-8022-B2B0-4CE6F4878854}"/>
              </a:ext>
            </a:extLst>
          </p:cNvPr>
          <p:cNvSpPr>
            <a:spLocks noGrp="1"/>
          </p:cNvSpPr>
          <p:nvPr>
            <p:ph type="title"/>
          </p:nvPr>
        </p:nvSpPr>
        <p:spPr>
          <a:xfrm>
            <a:off x="2808000" y="144000"/>
            <a:ext cx="3528000" cy="338554"/>
          </a:xfrm>
        </p:spPr>
        <p:txBody>
          <a:bodyPr/>
          <a:lstStyle/>
          <a:p>
            <a:r>
              <a:rPr lang="zh-CN" altLang="en-US" dirty="0"/>
              <a:t>窗口的滑动</a:t>
            </a:r>
          </a:p>
        </p:txBody>
      </p:sp>
    </p:spTree>
    <p:extLst>
      <p:ext uri="{BB962C8B-B14F-4D97-AF65-F5344CB8AC3E}">
        <p14:creationId xmlns:p14="http://schemas.microsoft.com/office/powerpoint/2010/main" val="393704872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nodeType="clickEffect">
                                  <p:stCondLst>
                                    <p:cond delay="0"/>
                                  </p:stCondLst>
                                  <p:childTnLst>
                                    <p:anim calcmode="discrete" valueType="str">
                                      <p:cBhvr>
                                        <p:cTn id="6"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par>
                          <p:cTn id="11" fill="hold">
                            <p:stCondLst>
                              <p:cond delay="0"/>
                            </p:stCondLst>
                            <p:childTnLst>
                              <p:par>
                                <p:cTn id="12" presetID="63" presetClass="path" presetSubtype="0" accel="50000" decel="50000" fill="hold" nodeType="afterEffect">
                                  <p:stCondLst>
                                    <p:cond delay="0"/>
                                  </p:stCondLst>
                                  <p:childTnLst>
                                    <p:animMotion origin="layout" path="M 4.16667E-6 1.35802E-6 L 0.07135 1.35802E-6 " pathEditMode="relative" rAng="0" ptsTypes="AA">
                                      <p:cBhvr>
                                        <p:cTn id="13" dur="2000" fill="hold"/>
                                        <p:tgtEl>
                                          <p:spTgt spid="7"/>
                                        </p:tgtEl>
                                        <p:attrNameLst>
                                          <p:attrName>ppt_x</p:attrName>
                                          <p:attrName>ppt_y</p:attrName>
                                        </p:attrNameLst>
                                      </p:cBhvr>
                                      <p:rCtr x="366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52"/>
          <p:cNvSpPr txBox="1">
            <a:spLocks noChangeArrowheads="1"/>
          </p:cNvSpPr>
          <p:nvPr/>
        </p:nvSpPr>
        <p:spPr bwMode="auto">
          <a:xfrm>
            <a:off x="6974787" y="3660122"/>
            <a:ext cx="954108" cy="276999"/>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48" name="Text Box 6"/>
          <p:cNvSpPr txBox="1">
            <a:spLocks noChangeArrowheads="1"/>
          </p:cNvSpPr>
          <p:nvPr/>
        </p:nvSpPr>
        <p:spPr bwMode="auto">
          <a:xfrm>
            <a:off x="6834797" y="1827719"/>
            <a:ext cx="1415773" cy="461665"/>
          </a:xfrm>
          <a:prstGeom prst="rect">
            <a:avLst/>
          </a:prstGeom>
          <a:solidFill>
            <a:srgbClr val="C3E3F9"/>
          </a:solidFill>
          <a:ln>
            <a:noFill/>
          </a:ln>
          <a:effectLst/>
        </p:spPr>
        <p:txBody>
          <a:bodyPr wrap="none">
            <a:spAutoFit/>
          </a:bodyPr>
          <a:lstStyle/>
          <a:p>
            <a:pPr algn="ctr"/>
            <a:r>
              <a:rPr lang="zh-CN" altLang="en-US" sz="1200" b="1" dirty="0">
                <a:solidFill>
                  <a:srgbClr val="C00000"/>
                </a:solidFill>
                <a:latin typeface="微软雅黑" pitchFamily="34" charset="-122"/>
                <a:ea typeface="微软雅黑" pitchFamily="34" charset="-122"/>
              </a:rPr>
              <a:t>待发送，</a:t>
            </a:r>
          </a:p>
          <a:p>
            <a:pPr algn="ctr"/>
            <a:r>
              <a:rPr lang="zh-CN" altLang="en-US" sz="1200" b="1" dirty="0">
                <a:solidFill>
                  <a:srgbClr val="C00000"/>
                </a:solidFill>
                <a:latin typeface="微软雅黑" pitchFamily="34" charset="-122"/>
                <a:ea typeface="微软雅黑" pitchFamily="34" charset="-122"/>
              </a:rPr>
              <a:t>但当前不允许发送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770698" y="1771776"/>
            <a:ext cx="328937" cy="633755"/>
            <a:chOff x="4770698" y="2373060"/>
            <a:chExt cx="328937" cy="633755"/>
          </a:xfrm>
        </p:grpSpPr>
        <p:sp>
          <p:nvSpPr>
            <p:cNvPr id="91" name="Line 47"/>
            <p:cNvSpPr>
              <a:spLocks noChangeShapeType="1"/>
            </p:cNvSpPr>
            <p:nvPr/>
          </p:nvSpPr>
          <p:spPr bwMode="auto">
            <a:xfrm flipV="1">
              <a:off x="490298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770698"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nvGrpSpPr>
          <p:cNvPr id="96" name="组合 95"/>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4" name="标题 3">
            <a:extLst>
              <a:ext uri="{FF2B5EF4-FFF2-40B4-BE49-F238E27FC236}">
                <a16:creationId xmlns:a16="http://schemas.microsoft.com/office/drawing/2014/main" id="{4B70805F-8B96-F9FF-256E-A05DBF3F6F48}"/>
              </a:ext>
            </a:extLst>
          </p:cNvPr>
          <p:cNvSpPr>
            <a:spLocks noGrp="1"/>
          </p:cNvSpPr>
          <p:nvPr>
            <p:ph type="title"/>
          </p:nvPr>
        </p:nvSpPr>
        <p:spPr>
          <a:xfrm>
            <a:off x="2808000" y="144000"/>
            <a:ext cx="3528000" cy="338554"/>
          </a:xfrm>
        </p:spPr>
        <p:txBody>
          <a:bodyPr/>
          <a:lstStyle/>
          <a:p>
            <a:r>
              <a:rPr lang="zh-CN" altLang="en-US" dirty="0"/>
              <a:t>窗口的滑动</a:t>
            </a:r>
          </a:p>
        </p:txBody>
      </p:sp>
    </p:spTree>
    <p:extLst>
      <p:ext uri="{BB962C8B-B14F-4D97-AF65-F5344CB8AC3E}">
        <p14:creationId xmlns:p14="http://schemas.microsoft.com/office/powerpoint/2010/main" val="1992150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4" name="标题 3">
            <a:extLst>
              <a:ext uri="{FF2B5EF4-FFF2-40B4-BE49-F238E27FC236}">
                <a16:creationId xmlns:a16="http://schemas.microsoft.com/office/drawing/2014/main" id="{42148C3E-F242-EA04-26CC-6FC81667252F}"/>
              </a:ext>
            </a:extLst>
          </p:cNvPr>
          <p:cNvSpPr>
            <a:spLocks noGrp="1"/>
          </p:cNvSpPr>
          <p:nvPr>
            <p:ph type="title"/>
          </p:nvPr>
        </p:nvSpPr>
        <p:spPr/>
        <p:txBody>
          <a:bodyPr/>
          <a:lstStyle/>
          <a:p>
            <a:r>
              <a:rPr lang="zh-CN" altLang="en-US" dirty="0"/>
              <a:t>窗口的滑动</a:t>
            </a:r>
          </a:p>
        </p:txBody>
      </p:sp>
    </p:spTree>
    <p:extLst>
      <p:ext uri="{BB962C8B-B14F-4D97-AF65-F5344CB8AC3E}">
        <p14:creationId xmlns:p14="http://schemas.microsoft.com/office/powerpoint/2010/main" val="14205620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 name="Text Box 52"/>
          <p:cNvSpPr txBox="1">
            <a:spLocks noChangeArrowheads="1"/>
          </p:cNvSpPr>
          <p:nvPr/>
        </p:nvSpPr>
        <p:spPr bwMode="auto">
          <a:xfrm>
            <a:off x="7354726" y="3660122"/>
            <a:ext cx="747945"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不允许接收</a:t>
            </a:r>
          </a:p>
        </p:txBody>
      </p:sp>
      <p:sp>
        <p:nvSpPr>
          <p:cNvPr id="108" name="Text Box 53"/>
          <p:cNvSpPr txBox="1">
            <a:spLocks noChangeArrowheads="1"/>
          </p:cNvSpPr>
          <p:nvPr/>
        </p:nvSpPr>
        <p:spPr bwMode="auto">
          <a:xfrm>
            <a:off x="1383275" y="3678768"/>
            <a:ext cx="954108"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已发送确认</a:t>
            </a:r>
          </a:p>
          <a:p>
            <a:pPr algn="ctr"/>
            <a:r>
              <a:rPr lang="zh-CN" altLang="en-US" sz="1200" b="1" dirty="0">
                <a:solidFill>
                  <a:srgbClr val="CC00CC"/>
                </a:solidFill>
                <a:latin typeface="微软雅黑" pitchFamily="34" charset="-122"/>
                <a:ea typeface="微软雅黑" pitchFamily="34" charset="-122"/>
              </a:rPr>
              <a:t>并交付主机</a:t>
            </a:r>
          </a:p>
        </p:txBody>
      </p:sp>
      <p:grpSp>
        <p:nvGrpSpPr>
          <p:cNvPr id="7" name="组合 6"/>
          <p:cNvGrpSpPr/>
          <p:nvPr/>
        </p:nvGrpSpPr>
        <p:grpSpPr>
          <a:xfrm>
            <a:off x="3052496" y="2958262"/>
            <a:ext cx="4336762" cy="1030896"/>
            <a:chOff x="2399443" y="2958262"/>
            <a:chExt cx="4336762" cy="1030896"/>
          </a:xfrm>
        </p:grpSpPr>
        <p:sp>
          <p:nvSpPr>
            <p:cNvPr id="62" name="Line 4"/>
            <p:cNvSpPr>
              <a:spLocks noChangeShapeType="1"/>
            </p:cNvSpPr>
            <p:nvPr/>
          </p:nvSpPr>
          <p:spPr bwMode="auto">
            <a:xfrm flipV="1">
              <a:off x="2399443" y="3117862"/>
              <a:ext cx="4334378" cy="7707"/>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9" name="Text Box 54"/>
            <p:cNvSpPr txBox="1">
              <a:spLocks noChangeArrowheads="1"/>
            </p:cNvSpPr>
            <p:nvPr/>
          </p:nvSpPr>
          <p:spPr bwMode="auto">
            <a:xfrm>
              <a:off x="3709612" y="2958262"/>
              <a:ext cx="1904689" cy="276999"/>
            </a:xfrm>
            <a:prstGeom prst="rect">
              <a:avLst/>
            </a:prstGeom>
            <a:solidFill>
              <a:srgbClr val="C3E3F9"/>
            </a:solidFill>
            <a:ln>
              <a:noFill/>
            </a:ln>
            <a:effectLst/>
          </p:spPr>
          <p:txBody>
            <a:bodyPr wrap="none">
              <a:spAutoFit/>
            </a:bodyPr>
            <a:lstStyle/>
            <a:p>
              <a:pPr algn="ctr"/>
              <a:r>
                <a:rPr lang="en-US" altLang="zh-CN" sz="1200" b="1" dirty="0">
                  <a:solidFill>
                    <a:srgbClr val="0000FF"/>
                  </a:solidFill>
                  <a:latin typeface="微软雅黑" pitchFamily="34" charset="-122"/>
                  <a:ea typeface="微软雅黑" pitchFamily="34" charset="-122"/>
                </a:rPr>
                <a:t>B </a:t>
              </a:r>
              <a:r>
                <a:rPr lang="zh-CN" altLang="en-US" sz="1200" b="1" dirty="0">
                  <a:solidFill>
                    <a:srgbClr val="0000FF"/>
                  </a:solidFill>
                  <a:latin typeface="微软雅黑" pitchFamily="34" charset="-122"/>
                  <a:ea typeface="微软雅黑" pitchFamily="34" charset="-122"/>
                </a:rPr>
                <a:t>的接收窗口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p>
          </p:txBody>
        </p:sp>
        <p:sp>
          <p:nvSpPr>
            <p:cNvPr id="110" name="Text Box 55"/>
            <p:cNvSpPr txBox="1">
              <a:spLocks noChangeArrowheads="1"/>
            </p:cNvSpPr>
            <p:nvPr/>
          </p:nvSpPr>
          <p:spPr bwMode="auto">
            <a:xfrm>
              <a:off x="4283408" y="3712159"/>
              <a:ext cx="800219" cy="276999"/>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允许接收</a:t>
              </a:r>
            </a:p>
          </p:txBody>
        </p:sp>
        <p:sp>
          <p:nvSpPr>
            <p:cNvPr id="111" name="Rectangle 56"/>
            <p:cNvSpPr>
              <a:spLocks noChangeArrowheads="1"/>
            </p:cNvSpPr>
            <p:nvPr/>
          </p:nvSpPr>
          <p:spPr bwMode="auto">
            <a:xfrm>
              <a:off x="2403020" y="3269482"/>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grpSp>
        <p:nvGrpSpPr>
          <p:cNvPr id="6" name="组合 5"/>
          <p:cNvGrpSpPr/>
          <p:nvPr/>
        </p:nvGrpSpPr>
        <p:grpSpPr>
          <a:xfrm>
            <a:off x="3579828" y="2356980"/>
            <a:ext cx="3039613" cy="483190"/>
            <a:chOff x="4131976" y="2239207"/>
            <a:chExt cx="3039613" cy="483190"/>
          </a:xfrm>
        </p:grpSpPr>
        <p:sp>
          <p:nvSpPr>
            <p:cNvPr id="2" name="上箭头 1"/>
            <p:cNvSpPr/>
            <p:nvPr/>
          </p:nvSpPr>
          <p:spPr>
            <a:xfrm>
              <a:off x="4131976" y="2239207"/>
              <a:ext cx="302864" cy="483190"/>
            </a:xfrm>
            <a:prstGeom prst="upArrow">
              <a:avLst>
                <a:gd name="adj1" fmla="val 39167"/>
                <a:gd name="adj2" fmla="val 50000"/>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349592" y="2356544"/>
              <a:ext cx="2821997" cy="276999"/>
            </a:xfrm>
            <a:prstGeom prst="rect">
              <a:avLst/>
            </a:prstGeom>
            <a:noFill/>
          </p:spPr>
          <p:txBody>
            <a:bodyPr wrap="square" rtlCol="0">
              <a:spAutoFit/>
            </a:bodyPr>
            <a:lstStyle/>
            <a:p>
              <a:r>
                <a:rPr lang="en-US" altLang="zh-CN" sz="1200" b="1" dirty="0">
                  <a:latin typeface="微软雅黑" panose="020B0503020204020204" pitchFamily="34" charset="-122"/>
                  <a:ea typeface="微软雅黑" panose="020B0503020204020204" pitchFamily="34" charset="-122"/>
                </a:rPr>
                <a:t>ACK = 1</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20</a:t>
              </a:r>
            </a:p>
          </p:txBody>
        </p:sp>
      </p:grpSp>
      <p:grpSp>
        <p:nvGrpSpPr>
          <p:cNvPr id="5" name="组合 4"/>
          <p:cNvGrpSpPr/>
          <p:nvPr/>
        </p:nvGrpSpPr>
        <p:grpSpPr>
          <a:xfrm>
            <a:off x="3011281" y="1102078"/>
            <a:ext cx="4692017" cy="1326536"/>
            <a:chOff x="2360115" y="1102078"/>
            <a:chExt cx="4692017" cy="1326536"/>
          </a:xfrm>
        </p:grpSpPr>
        <p:sp>
          <p:nvSpPr>
            <p:cNvPr id="51" name="Rectangle 10"/>
            <p:cNvSpPr>
              <a:spLocks noChangeArrowheads="1"/>
            </p:cNvSpPr>
            <p:nvPr/>
          </p:nvSpPr>
          <p:spPr bwMode="auto">
            <a:xfrm>
              <a:off x="2404213"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2360115"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grpSp>
          <p:nvGrpSpPr>
            <p:cNvPr id="90" name="组合 89"/>
            <p:cNvGrpSpPr/>
            <p:nvPr/>
          </p:nvGrpSpPr>
          <p:grpSpPr>
            <a:xfrm>
              <a:off x="4134194" y="1771776"/>
              <a:ext cx="328937" cy="633755"/>
              <a:chOff x="4134194" y="2373060"/>
              <a:chExt cx="328937" cy="633755"/>
            </a:xfrm>
          </p:grpSpPr>
          <p:sp>
            <p:nvSpPr>
              <p:cNvPr id="91" name="Line 47"/>
              <p:cNvSpPr>
                <a:spLocks noChangeShapeType="1"/>
              </p:cNvSpPr>
              <p:nvPr/>
            </p:nvSpPr>
            <p:spPr bwMode="auto">
              <a:xfrm flipV="1">
                <a:off x="4266476"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2" name="Text Box 48"/>
              <p:cNvSpPr txBox="1">
                <a:spLocks noChangeArrowheads="1"/>
              </p:cNvSpPr>
              <p:nvPr/>
            </p:nvSpPr>
            <p:spPr bwMode="auto">
              <a:xfrm>
                <a:off x="4134194"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grpSp>
          <p:nvGrpSpPr>
            <p:cNvPr id="93" name="组合 92"/>
            <p:cNvGrpSpPr/>
            <p:nvPr/>
          </p:nvGrpSpPr>
          <p:grpSpPr>
            <a:xfrm>
              <a:off x="6723195" y="1771776"/>
              <a:ext cx="328937" cy="633755"/>
              <a:chOff x="6723195" y="2373060"/>
              <a:chExt cx="328937" cy="633755"/>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3</a:t>
                </a:r>
              </a:p>
            </p:txBody>
          </p:sp>
        </p:grpSp>
        <p:sp>
          <p:nvSpPr>
            <p:cNvPr id="100" name="Line 10"/>
            <p:cNvSpPr>
              <a:spLocks noChangeShapeType="1"/>
            </p:cNvSpPr>
            <p:nvPr/>
          </p:nvSpPr>
          <p:spPr bwMode="auto">
            <a:xfrm>
              <a:off x="2397825"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681652" y="1102078"/>
              <a:ext cx="1573183" cy="287607"/>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a:t>
              </a:r>
            </a:p>
          </p:txBody>
        </p:sp>
      </p:gr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4" name="组合 3"/>
          <p:cNvGrpSpPr/>
          <p:nvPr/>
        </p:nvGrpSpPr>
        <p:grpSpPr>
          <a:xfrm>
            <a:off x="4821875" y="1541671"/>
            <a:ext cx="2550054" cy="211388"/>
            <a:chOff x="4821875" y="1541671"/>
            <a:chExt cx="2550054" cy="211388"/>
          </a:xfrm>
        </p:grpSpPr>
        <p:grpSp>
          <p:nvGrpSpPr>
            <p:cNvPr id="70" name="组合 69"/>
            <p:cNvGrpSpPr/>
            <p:nvPr/>
          </p:nvGrpSpPr>
          <p:grpSpPr>
            <a:xfrm>
              <a:off x="4821875" y="1544973"/>
              <a:ext cx="1898824" cy="208086"/>
              <a:chOff x="4821875" y="1626305"/>
              <a:chExt cx="1898824" cy="208086"/>
            </a:xfrm>
          </p:grpSpPr>
          <p:sp>
            <p:nvSpPr>
              <p:cNvPr id="71"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sp>
        <p:nvSpPr>
          <p:cNvPr id="112" name="Rectangle 57"/>
          <p:cNvSpPr>
            <a:spLocks noChangeArrowheads="1"/>
          </p:cNvSpPr>
          <p:nvPr/>
        </p:nvSpPr>
        <p:spPr bwMode="auto">
          <a:xfrm>
            <a:off x="1347455" y="341921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113" name="Rectangle 58"/>
          <p:cNvSpPr>
            <a:spLocks noChangeArrowheads="1"/>
          </p:cNvSpPr>
          <p:nvPr/>
        </p:nvSpPr>
        <p:spPr bwMode="auto">
          <a:xfrm>
            <a:off x="1564532" y="341811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27</a:t>
            </a:r>
          </a:p>
        </p:txBody>
      </p:sp>
      <p:sp>
        <p:nvSpPr>
          <p:cNvPr id="114" name="Rectangle 59"/>
          <p:cNvSpPr>
            <a:spLocks noChangeArrowheads="1"/>
          </p:cNvSpPr>
          <p:nvPr/>
        </p:nvSpPr>
        <p:spPr bwMode="auto">
          <a:xfrm>
            <a:off x="1781608" y="3417013"/>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115" name="Rectangle 60"/>
          <p:cNvSpPr>
            <a:spLocks noChangeArrowheads="1"/>
          </p:cNvSpPr>
          <p:nvPr/>
        </p:nvSpPr>
        <p:spPr bwMode="auto">
          <a:xfrm>
            <a:off x="1998685" y="3415911"/>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116" name="Rectangle 61"/>
          <p:cNvSpPr>
            <a:spLocks noChangeArrowheads="1"/>
          </p:cNvSpPr>
          <p:nvPr/>
        </p:nvSpPr>
        <p:spPr bwMode="auto">
          <a:xfrm>
            <a:off x="2215762" y="3414811"/>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sp>
        <p:nvSpPr>
          <p:cNvPr id="117" name="Rectangle 62"/>
          <p:cNvSpPr>
            <a:spLocks noChangeArrowheads="1"/>
          </p:cNvSpPr>
          <p:nvPr/>
        </p:nvSpPr>
        <p:spPr bwMode="auto">
          <a:xfrm>
            <a:off x="2432838" y="3413709"/>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118" name="Rectangle 63"/>
          <p:cNvSpPr>
            <a:spLocks noChangeArrowheads="1"/>
          </p:cNvSpPr>
          <p:nvPr/>
        </p:nvSpPr>
        <p:spPr bwMode="auto">
          <a:xfrm>
            <a:off x="2649915" y="3412609"/>
            <a:ext cx="162211" cy="199277"/>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32</a:t>
            </a:r>
          </a:p>
        </p:txBody>
      </p:sp>
      <p:sp>
        <p:nvSpPr>
          <p:cNvPr id="119" name="Rectangle 64"/>
          <p:cNvSpPr>
            <a:spLocks noChangeArrowheads="1"/>
          </p:cNvSpPr>
          <p:nvPr/>
        </p:nvSpPr>
        <p:spPr bwMode="auto">
          <a:xfrm>
            <a:off x="2866991" y="3411507"/>
            <a:ext cx="162211" cy="199278"/>
          </a:xfrm>
          <a:prstGeom prst="rect">
            <a:avLst/>
          </a:prstGeom>
          <a:solidFill>
            <a:srgbClr val="66FF33"/>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33</a:t>
            </a:r>
          </a:p>
        </p:txBody>
      </p:sp>
      <p:sp>
        <p:nvSpPr>
          <p:cNvPr id="120" name="Rectangle 65"/>
          <p:cNvSpPr>
            <a:spLocks noChangeArrowheads="1"/>
          </p:cNvSpPr>
          <p:nvPr/>
        </p:nvSpPr>
        <p:spPr bwMode="auto">
          <a:xfrm>
            <a:off x="3084068" y="3410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121" name="Rectangle 66"/>
          <p:cNvSpPr>
            <a:spLocks noChangeArrowheads="1"/>
          </p:cNvSpPr>
          <p:nvPr/>
        </p:nvSpPr>
        <p:spPr bwMode="auto">
          <a:xfrm>
            <a:off x="3301145" y="3409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122" name="Rectangle 67"/>
          <p:cNvSpPr>
            <a:spLocks noChangeArrowheads="1"/>
          </p:cNvSpPr>
          <p:nvPr/>
        </p:nvSpPr>
        <p:spPr bwMode="auto">
          <a:xfrm>
            <a:off x="3518222" y="340820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123" name="Rectangle 68"/>
          <p:cNvSpPr>
            <a:spLocks noChangeArrowheads="1"/>
          </p:cNvSpPr>
          <p:nvPr/>
        </p:nvSpPr>
        <p:spPr bwMode="auto">
          <a:xfrm>
            <a:off x="3735299" y="3407104"/>
            <a:ext cx="162211" cy="199278"/>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37</a:t>
            </a:r>
          </a:p>
        </p:txBody>
      </p:sp>
      <p:sp>
        <p:nvSpPr>
          <p:cNvPr id="124" name="Rectangle 69"/>
          <p:cNvSpPr>
            <a:spLocks noChangeArrowheads="1"/>
          </p:cNvSpPr>
          <p:nvPr/>
        </p:nvSpPr>
        <p:spPr bwMode="auto">
          <a:xfrm>
            <a:off x="3952375" y="3406004"/>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38</a:t>
            </a:r>
          </a:p>
        </p:txBody>
      </p:sp>
      <p:sp>
        <p:nvSpPr>
          <p:cNvPr id="125" name="Rectangle 70"/>
          <p:cNvSpPr>
            <a:spLocks noChangeArrowheads="1"/>
          </p:cNvSpPr>
          <p:nvPr/>
        </p:nvSpPr>
        <p:spPr bwMode="auto">
          <a:xfrm>
            <a:off x="4169452" y="340490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126" name="Rectangle 71"/>
          <p:cNvSpPr>
            <a:spLocks noChangeArrowheads="1"/>
          </p:cNvSpPr>
          <p:nvPr/>
        </p:nvSpPr>
        <p:spPr bwMode="auto">
          <a:xfrm>
            <a:off x="4386529" y="3403801"/>
            <a:ext cx="162211" cy="199277"/>
          </a:xfrm>
          <a:prstGeom prst="rect">
            <a:avLst/>
          </a:prstGeom>
          <a:solidFill>
            <a:srgbClr val="FFC000"/>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40</a:t>
            </a:r>
          </a:p>
        </p:txBody>
      </p:sp>
      <p:sp>
        <p:nvSpPr>
          <p:cNvPr id="127" name="Rectangle 72"/>
          <p:cNvSpPr>
            <a:spLocks noChangeArrowheads="1"/>
          </p:cNvSpPr>
          <p:nvPr/>
        </p:nvSpPr>
        <p:spPr bwMode="auto">
          <a:xfrm>
            <a:off x="4603605" y="3402700"/>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sp>
        <p:nvSpPr>
          <p:cNvPr id="128" name="Rectangle 73"/>
          <p:cNvSpPr>
            <a:spLocks noChangeArrowheads="1"/>
          </p:cNvSpPr>
          <p:nvPr/>
        </p:nvSpPr>
        <p:spPr bwMode="auto">
          <a:xfrm>
            <a:off x="4820682" y="3401600"/>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42</a:t>
            </a:r>
          </a:p>
        </p:txBody>
      </p:sp>
      <p:sp>
        <p:nvSpPr>
          <p:cNvPr id="129" name="Rectangle 74"/>
          <p:cNvSpPr>
            <a:spLocks noChangeArrowheads="1"/>
          </p:cNvSpPr>
          <p:nvPr/>
        </p:nvSpPr>
        <p:spPr bwMode="auto">
          <a:xfrm>
            <a:off x="5037758" y="3400498"/>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30" name="Rectangle 75"/>
          <p:cNvSpPr>
            <a:spLocks noChangeArrowheads="1"/>
          </p:cNvSpPr>
          <p:nvPr/>
        </p:nvSpPr>
        <p:spPr bwMode="auto">
          <a:xfrm>
            <a:off x="5254835" y="339939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31" name="Rectangle 76"/>
          <p:cNvSpPr>
            <a:spLocks noChangeArrowheads="1"/>
          </p:cNvSpPr>
          <p:nvPr/>
        </p:nvSpPr>
        <p:spPr bwMode="auto">
          <a:xfrm>
            <a:off x="5471912" y="3398296"/>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132" name="Rectangle 77"/>
          <p:cNvSpPr>
            <a:spLocks noChangeArrowheads="1"/>
          </p:cNvSpPr>
          <p:nvPr/>
        </p:nvSpPr>
        <p:spPr bwMode="auto">
          <a:xfrm>
            <a:off x="5688988" y="3397196"/>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33" name="Rectangle 78"/>
          <p:cNvSpPr>
            <a:spLocks noChangeArrowheads="1"/>
          </p:cNvSpPr>
          <p:nvPr/>
        </p:nvSpPr>
        <p:spPr bwMode="auto">
          <a:xfrm>
            <a:off x="5906065" y="3396094"/>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34" name="Rectangle 79"/>
          <p:cNvSpPr>
            <a:spLocks noChangeArrowheads="1"/>
          </p:cNvSpPr>
          <p:nvPr/>
        </p:nvSpPr>
        <p:spPr bwMode="auto">
          <a:xfrm>
            <a:off x="6123142" y="3394994"/>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35" name="Rectangle 80"/>
          <p:cNvSpPr>
            <a:spLocks noChangeArrowheads="1"/>
          </p:cNvSpPr>
          <p:nvPr/>
        </p:nvSpPr>
        <p:spPr bwMode="auto">
          <a:xfrm>
            <a:off x="6340219" y="3393892"/>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36" name="Rectangle 81"/>
          <p:cNvSpPr>
            <a:spLocks noChangeArrowheads="1"/>
          </p:cNvSpPr>
          <p:nvPr/>
        </p:nvSpPr>
        <p:spPr bwMode="auto">
          <a:xfrm>
            <a:off x="6557296" y="3392792"/>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sp>
        <p:nvSpPr>
          <p:cNvPr id="137" name="Rectangle 82"/>
          <p:cNvSpPr>
            <a:spLocks noChangeArrowheads="1"/>
          </p:cNvSpPr>
          <p:nvPr/>
        </p:nvSpPr>
        <p:spPr bwMode="auto">
          <a:xfrm>
            <a:off x="6774372" y="3391690"/>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38" name="Rectangle 83"/>
          <p:cNvSpPr>
            <a:spLocks noChangeArrowheads="1"/>
          </p:cNvSpPr>
          <p:nvPr/>
        </p:nvSpPr>
        <p:spPr bwMode="auto">
          <a:xfrm>
            <a:off x="6991449" y="3390590"/>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39" name="Rectangle 84"/>
          <p:cNvSpPr>
            <a:spLocks noChangeArrowheads="1"/>
          </p:cNvSpPr>
          <p:nvPr/>
        </p:nvSpPr>
        <p:spPr bwMode="auto">
          <a:xfrm>
            <a:off x="7208526" y="3389488"/>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140" name="Rectangle 85"/>
          <p:cNvSpPr>
            <a:spLocks noChangeArrowheads="1"/>
          </p:cNvSpPr>
          <p:nvPr/>
        </p:nvSpPr>
        <p:spPr bwMode="auto">
          <a:xfrm>
            <a:off x="7425602" y="3388388"/>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141" name="Rectangle 86"/>
          <p:cNvSpPr>
            <a:spLocks noChangeArrowheads="1"/>
          </p:cNvSpPr>
          <p:nvPr/>
        </p:nvSpPr>
        <p:spPr bwMode="auto">
          <a:xfrm>
            <a:off x="7642679"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142" name="Rectangle 87"/>
          <p:cNvSpPr>
            <a:spLocks noChangeArrowheads="1"/>
          </p:cNvSpPr>
          <p:nvPr/>
        </p:nvSpPr>
        <p:spPr bwMode="auto">
          <a:xfrm>
            <a:off x="7853792" y="3387286"/>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8" name="组合 7"/>
          <p:cNvGrpSpPr/>
          <p:nvPr/>
        </p:nvGrpSpPr>
        <p:grpSpPr>
          <a:xfrm>
            <a:off x="4969928" y="1997862"/>
            <a:ext cx="2400808" cy="361314"/>
            <a:chOff x="4969928" y="1997862"/>
            <a:chExt cx="2400808" cy="361314"/>
          </a:xfrm>
        </p:grpSpPr>
        <p:sp>
          <p:nvSpPr>
            <p:cNvPr id="96" name="AutoShape 91"/>
            <p:cNvSpPr>
              <a:spLocks/>
            </p:cNvSpPr>
            <p:nvPr/>
          </p:nvSpPr>
          <p:spPr bwMode="auto">
            <a:xfrm rot="16200000" flipV="1">
              <a:off x="6113040" y="854750"/>
              <a:ext cx="114584" cy="2400808"/>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97" name="Text Box 92"/>
            <p:cNvSpPr txBox="1">
              <a:spLocks noChangeArrowheads="1"/>
            </p:cNvSpPr>
            <p:nvPr/>
          </p:nvSpPr>
          <p:spPr bwMode="auto">
            <a:xfrm>
              <a:off x="5610370" y="2082177"/>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可用窗口增大</a:t>
              </a:r>
            </a:p>
          </p:txBody>
        </p:sp>
      </p:grpSp>
      <p:grpSp>
        <p:nvGrpSpPr>
          <p:cNvPr id="98" name="组合 97"/>
          <p:cNvGrpSpPr/>
          <p:nvPr/>
        </p:nvGrpSpPr>
        <p:grpSpPr>
          <a:xfrm>
            <a:off x="3680433" y="3610782"/>
            <a:ext cx="923172" cy="601232"/>
            <a:chOff x="2595773" y="1898510"/>
            <a:chExt cx="923172" cy="601232"/>
          </a:xfrm>
        </p:grpSpPr>
        <p:grpSp>
          <p:nvGrpSpPr>
            <p:cNvPr id="99" name="Group 93"/>
            <p:cNvGrpSpPr>
              <a:grpSpLocks/>
            </p:cNvGrpSpPr>
            <p:nvPr/>
          </p:nvGrpSpPr>
          <p:grpSpPr bwMode="auto">
            <a:xfrm>
              <a:off x="2734600" y="1898510"/>
              <a:ext cx="648794" cy="518367"/>
              <a:chOff x="1231" y="3150"/>
              <a:chExt cx="500" cy="232"/>
            </a:xfrm>
          </p:grpSpPr>
          <p:sp>
            <p:nvSpPr>
              <p:cNvPr id="103" name="Line 88"/>
              <p:cNvSpPr>
                <a:spLocks noChangeShapeType="1"/>
              </p:cNvSpPr>
              <p:nvPr/>
            </p:nvSpPr>
            <p:spPr bwMode="auto">
              <a:xfrm flipV="1">
                <a:off x="12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4" name="Line 89"/>
              <p:cNvSpPr>
                <a:spLocks noChangeShapeType="1"/>
              </p:cNvSpPr>
              <p:nvPr/>
            </p:nvSpPr>
            <p:spPr bwMode="auto">
              <a:xfrm flipV="1">
                <a:off x="1413"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05" name="Line 89"/>
              <p:cNvSpPr>
                <a:spLocks noChangeShapeType="1"/>
              </p:cNvSpPr>
              <p:nvPr/>
            </p:nvSpPr>
            <p:spPr bwMode="auto">
              <a:xfrm flipV="1">
                <a:off x="1731" y="3150"/>
                <a:ext cx="0" cy="232"/>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grpSp>
        <p:sp>
          <p:nvSpPr>
            <p:cNvPr id="102" name="Text Box 90"/>
            <p:cNvSpPr txBox="1">
              <a:spLocks noChangeArrowheads="1"/>
            </p:cNvSpPr>
            <p:nvPr/>
          </p:nvSpPr>
          <p:spPr bwMode="auto">
            <a:xfrm>
              <a:off x="2595773" y="2222743"/>
              <a:ext cx="923172" cy="276999"/>
            </a:xfrm>
            <a:prstGeom prst="rect">
              <a:avLst/>
            </a:prstGeom>
            <a:solidFill>
              <a:schemeClr val="accent6"/>
            </a:solidFill>
            <a:ln w="9525">
              <a:solidFill>
                <a:schemeClr val="tx1"/>
              </a:solidFill>
              <a:miter lim="800000"/>
              <a:headEnd/>
              <a:tailEnd/>
            </a:ln>
            <a:effectLst/>
          </p:spPr>
          <p:txBody>
            <a:bodyPr wrap="square">
              <a:spAutoFit/>
            </a:bodyPr>
            <a:lstStyle/>
            <a:p>
              <a:pPr algn="ctr"/>
              <a:r>
                <a:rPr lang="zh-CN" altLang="en-US" sz="1200" b="1" dirty="0">
                  <a:latin typeface="微软雅黑" pitchFamily="34" charset="-122"/>
                  <a:ea typeface="微软雅黑" pitchFamily="34" charset="-122"/>
                </a:rPr>
                <a:t>收到</a:t>
              </a:r>
            </a:p>
          </p:txBody>
        </p:sp>
      </p:grpSp>
      <p:sp>
        <p:nvSpPr>
          <p:cNvPr id="9" name="标题 8">
            <a:extLst>
              <a:ext uri="{FF2B5EF4-FFF2-40B4-BE49-F238E27FC236}">
                <a16:creationId xmlns:a16="http://schemas.microsoft.com/office/drawing/2014/main" id="{3B849BE9-24C1-E7FA-1E9B-1609FD404DA8}"/>
              </a:ext>
            </a:extLst>
          </p:cNvPr>
          <p:cNvSpPr>
            <a:spLocks noGrp="1"/>
          </p:cNvSpPr>
          <p:nvPr>
            <p:ph type="title"/>
          </p:nvPr>
        </p:nvSpPr>
        <p:spPr>
          <a:xfrm>
            <a:off x="2808000" y="144000"/>
            <a:ext cx="3528000" cy="338554"/>
          </a:xfrm>
        </p:spPr>
        <p:txBody>
          <a:bodyPr/>
          <a:lstStyle/>
          <a:p>
            <a:r>
              <a:rPr lang="zh-CN" altLang="en-US" dirty="0"/>
              <a:t>窗口的滑动</a:t>
            </a:r>
          </a:p>
        </p:txBody>
      </p:sp>
    </p:spTree>
    <p:extLst>
      <p:ext uri="{BB962C8B-B14F-4D97-AF65-F5344CB8AC3E}">
        <p14:creationId xmlns:p14="http://schemas.microsoft.com/office/powerpoint/2010/main" val="23387596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p:grpSpPr>
        <p:grpSp>
          <p:nvGrpSpPr>
            <p:cNvPr id="110" name="组合 109"/>
            <p:cNvGrpSpPr/>
            <p:nvPr/>
          </p:nvGrpSpPr>
          <p:grpSpPr>
            <a:xfrm>
              <a:off x="4821875" y="1544973"/>
              <a:ext cx="1898824" cy="208086"/>
              <a:chOff x="4821875" y="1626305"/>
              <a:chExt cx="1898824" cy="208086"/>
            </a:xfrm>
          </p:grpSpPr>
          <p:sp>
            <p:nvSpPr>
              <p:cNvPr id="114" name="Rectangle 27"/>
              <p:cNvSpPr>
                <a:spLocks noChangeArrowheads="1"/>
              </p:cNvSpPr>
              <p:nvPr/>
            </p:nvSpPr>
            <p:spPr bwMode="auto">
              <a:xfrm>
                <a:off x="4821875" y="1635113"/>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solidFill>
              <a:srgbClr val="00FF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62" name="组合 61"/>
          <p:cNvGrpSpPr/>
          <p:nvPr/>
        </p:nvGrpSpPr>
        <p:grpSpPr>
          <a:xfrm>
            <a:off x="4819970" y="1542931"/>
            <a:ext cx="2550054" cy="211388"/>
            <a:chOff x="4821875" y="1541671"/>
            <a:chExt cx="2550054" cy="211388"/>
          </a:xfrm>
          <a:solidFill>
            <a:srgbClr val="FF99FF"/>
          </a:solidFill>
        </p:grpSpPr>
        <p:grpSp>
          <p:nvGrpSpPr>
            <p:cNvPr id="85" name="组合 84"/>
            <p:cNvGrpSpPr/>
            <p:nvPr/>
          </p:nvGrpSpPr>
          <p:grpSpPr>
            <a:xfrm>
              <a:off x="4821875" y="1544973"/>
              <a:ext cx="1898824" cy="208086"/>
              <a:chOff x="4821875" y="1626305"/>
              <a:chExt cx="1898824" cy="208086"/>
            </a:xfrm>
            <a:grpFill/>
          </p:grpSpPr>
          <p:sp>
            <p:nvSpPr>
              <p:cNvPr id="96"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98"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99"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102"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03"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104"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05"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107"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08"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90"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91"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92"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grpSp>
        <p:nvGrpSpPr>
          <p:cNvPr id="2" name="组合 1"/>
          <p:cNvGrpSpPr/>
          <p:nvPr/>
        </p:nvGrpSpPr>
        <p:grpSpPr>
          <a:xfrm>
            <a:off x="4785360" y="1771776"/>
            <a:ext cx="328937" cy="633755"/>
            <a:chOff x="4785360" y="1771776"/>
            <a:chExt cx="328937" cy="633755"/>
          </a:xfrm>
        </p:grpSpPr>
        <p:sp>
          <p:nvSpPr>
            <p:cNvPr id="123" name="Line 47"/>
            <p:cNvSpPr>
              <a:spLocks noChangeShapeType="1"/>
            </p:cNvSpPr>
            <p:nvPr/>
          </p:nvSpPr>
          <p:spPr bwMode="auto">
            <a:xfrm flipV="1">
              <a:off x="4917642" y="1771776"/>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124" name="Text Box 48"/>
            <p:cNvSpPr txBox="1">
              <a:spLocks noChangeArrowheads="1"/>
            </p:cNvSpPr>
            <p:nvPr/>
          </p:nvSpPr>
          <p:spPr bwMode="auto">
            <a:xfrm>
              <a:off x="4785360" y="2151615"/>
              <a:ext cx="328937" cy="253916"/>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a:latin typeface="微软雅黑" pitchFamily="34" charset="-122"/>
                  <a:ea typeface="微软雅黑" pitchFamily="34" charset="-122"/>
                </a:rPr>
                <a:t>P</a:t>
              </a:r>
              <a:r>
                <a:rPr lang="en-US" altLang="zh-CN" sz="1050" b="1" baseline="-25000">
                  <a:latin typeface="微软雅黑" pitchFamily="34" charset="-122"/>
                  <a:ea typeface="微软雅黑" pitchFamily="34" charset="-122"/>
                </a:rPr>
                <a:t>2</a:t>
              </a:r>
            </a:p>
          </p:txBody>
        </p:sp>
      </p:grpSp>
      <p:sp>
        <p:nvSpPr>
          <p:cNvPr id="3" name="标题 2">
            <a:extLst>
              <a:ext uri="{FF2B5EF4-FFF2-40B4-BE49-F238E27FC236}">
                <a16:creationId xmlns:a16="http://schemas.microsoft.com/office/drawing/2014/main" id="{258A2BB8-31AD-1717-3A11-17E4A31F3448}"/>
              </a:ext>
            </a:extLst>
          </p:cNvPr>
          <p:cNvSpPr>
            <a:spLocks noGrp="1"/>
          </p:cNvSpPr>
          <p:nvPr>
            <p:ph type="title"/>
          </p:nvPr>
        </p:nvSpPr>
        <p:spPr/>
        <p:txBody>
          <a:bodyPr/>
          <a:lstStyle/>
          <a:p>
            <a:r>
              <a:rPr lang="zh-CN" altLang="en-US" dirty="0"/>
              <a:t>窗口的滑动</a:t>
            </a:r>
          </a:p>
        </p:txBody>
      </p:sp>
    </p:spTree>
    <p:extLst>
      <p:ext uri="{BB962C8B-B14F-4D97-AF65-F5344CB8AC3E}">
        <p14:creationId xmlns:p14="http://schemas.microsoft.com/office/powerpoint/2010/main" val="191421487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2000"/>
                                        <p:tgtEl>
                                          <p:spTgt spid="62"/>
                                        </p:tgtEl>
                                      </p:cBhvr>
                                    </p:animEffect>
                                  </p:childTnLst>
                                </p:cTn>
                              </p:par>
                              <p:par>
                                <p:cTn id="8" presetID="63" presetClass="path" presetSubtype="0" accel="50000" decel="50000" fill="hold" nodeType="withEffect">
                                  <p:stCondLst>
                                    <p:cond delay="0"/>
                                  </p:stCondLst>
                                  <p:childTnLst>
                                    <p:animMotion origin="layout" path="M 5.55556E-7 -4.19753E-6 L 0.28073 -4.19753E-6 " pathEditMode="relative" rAng="0" ptsTypes="AA">
                                      <p:cBhvr>
                                        <p:cTn id="9" dur="2000" fill="hold"/>
                                        <p:tgtEl>
                                          <p:spTgt spid="2"/>
                                        </p:tgtEl>
                                        <p:attrNameLst>
                                          <p:attrName>ppt_x</p:attrName>
                                          <p:attrName>ppt_y</p:attrName>
                                        </p:attrNameLst>
                                      </p:cBhvr>
                                      <p:rCtr x="14028" y="0"/>
                                    </p:animMotion>
                                  </p:childTnLst>
                                </p:cTn>
                              </p:par>
                            </p:childTnLst>
                          </p:cTn>
                        </p:par>
                        <p:par>
                          <p:cTn id="10" fill="hold">
                            <p:stCondLst>
                              <p:cond delay="2000"/>
                            </p:stCondLst>
                            <p:childTnLst>
                              <p:par>
                                <p:cTn id="11" presetID="1" presetClass="exit" presetSubtype="0" fill="hold" nodeType="afterEffect">
                                  <p:stCondLst>
                                    <p:cond delay="0"/>
                                  </p:stCondLst>
                                  <p:childTnLst>
                                    <p:set>
                                      <p:cBhvr>
                                        <p:cTn id="12" dur="1" fill="hold">
                                          <p:stCondLst>
                                            <p:cond delay="0"/>
                                          </p:stCondLst>
                                        </p:cTn>
                                        <p:tgtEl>
                                          <p:spTgt spid="2"/>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
                                        </p:tgtEl>
                                        <p:attrNameLst>
                                          <p:attrName>style.visibility</p:attrName>
                                        </p:attrNameLst>
                                      </p:cBhvr>
                                      <p:to>
                                        <p:strVal val="visible"/>
                                      </p:to>
                                    </p:set>
                                  </p:childTnLst>
                                </p:cTn>
                              </p:par>
                            </p:childTnLst>
                          </p:cTn>
                        </p:par>
                        <p:par>
                          <p:cTn id="17" fill="hold">
                            <p:stCondLst>
                              <p:cond delay="0"/>
                            </p:stCondLst>
                            <p:childTnLst>
                              <p:par>
                                <p:cTn id="18" presetID="35" presetClass="emph" presetSubtype="0" repeatCount="3000" fill="hold" nodeType="afterEffect">
                                  <p:stCondLst>
                                    <p:cond delay="0"/>
                                  </p:stCondLst>
                                  <p:childTnLst>
                                    <p:anim calcmode="discrete" valueType="str">
                                      <p:cBhvr>
                                        <p:cTn id="19" dur="1000" fill="hold"/>
                                        <p:tgtEl>
                                          <p:spTgt spid="145"/>
                                        </p:tgtEl>
                                        <p:attrNameLst>
                                          <p:attrName>style.visibility</p:attrName>
                                        </p:attrNameLst>
                                      </p:cBhvr>
                                      <p:tavLst>
                                        <p:tav tm="0">
                                          <p:val>
                                            <p:strVal val="hidden"/>
                                          </p:val>
                                        </p:tav>
                                        <p:tav tm="50000">
                                          <p:val>
                                            <p:strVal val="visible"/>
                                          </p:val>
                                        </p:tav>
                                      </p:tavLst>
                                    </p:anim>
                                  </p:childTnLst>
                                </p:cTn>
                              </p:par>
                              <p:par>
                                <p:cTn id="20" presetID="35" presetClass="emph" presetSubtype="0" repeatCount="3000" fill="hold" nodeType="withEffect">
                                  <p:stCondLst>
                                    <p:cond delay="0"/>
                                  </p:stCondLst>
                                  <p:childTnLst>
                                    <p:anim calcmode="discrete" valueType="str">
                                      <p:cBhvr>
                                        <p:cTn id="21"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 name="Text Box 6"/>
          <p:cNvSpPr txBox="1">
            <a:spLocks noChangeArrowheads="1"/>
          </p:cNvSpPr>
          <p:nvPr/>
        </p:nvSpPr>
        <p:spPr bwMode="auto">
          <a:xfrm>
            <a:off x="7494873" y="1836888"/>
            <a:ext cx="795308" cy="461665"/>
          </a:xfrm>
          <a:prstGeom prst="rect">
            <a:avLst/>
          </a:prstGeom>
          <a:solidFill>
            <a:srgbClr val="C3E3F9"/>
          </a:solidFill>
          <a:ln>
            <a:noFill/>
          </a:ln>
          <a:effectLst/>
        </p:spPr>
        <p:txBody>
          <a:bodyPr wrap="square">
            <a:spAutoFit/>
          </a:bodyPr>
          <a:lstStyle/>
          <a:p>
            <a:pPr algn="ctr"/>
            <a:r>
              <a:rPr lang="zh-CN" altLang="en-US" sz="1200" b="1" dirty="0">
                <a:solidFill>
                  <a:srgbClr val="C00000"/>
                </a:solidFill>
                <a:latin typeface="微软雅黑" pitchFamily="34" charset="-122"/>
                <a:ea typeface="微软雅黑" pitchFamily="34" charset="-122"/>
              </a:rPr>
              <a:t>不允许</a:t>
            </a:r>
            <a:endParaRPr lang="en-US" altLang="zh-CN" sz="1200" b="1" dirty="0">
              <a:solidFill>
                <a:srgbClr val="C00000"/>
              </a:solidFill>
              <a:latin typeface="微软雅黑" pitchFamily="34" charset="-122"/>
              <a:ea typeface="微软雅黑" pitchFamily="34" charset="-122"/>
            </a:endParaRPr>
          </a:p>
          <a:p>
            <a:pPr algn="ctr"/>
            <a:r>
              <a:rPr lang="zh-CN" altLang="en-US" sz="1200" b="1" dirty="0">
                <a:solidFill>
                  <a:srgbClr val="C00000"/>
                </a:solidFill>
                <a:latin typeface="微软雅黑" pitchFamily="34" charset="-122"/>
                <a:ea typeface="微软雅黑" pitchFamily="34" charset="-122"/>
              </a:rPr>
              <a:t>发送</a:t>
            </a:r>
          </a:p>
        </p:txBody>
      </p:sp>
      <p:sp>
        <p:nvSpPr>
          <p:cNvPr id="49" name="Text Box 7"/>
          <p:cNvSpPr txBox="1">
            <a:spLocks noChangeArrowheads="1"/>
          </p:cNvSpPr>
          <p:nvPr/>
        </p:nvSpPr>
        <p:spPr bwMode="auto">
          <a:xfrm>
            <a:off x="1461412" y="1818933"/>
            <a:ext cx="800219" cy="461665"/>
          </a:xfrm>
          <a:prstGeom prst="rect">
            <a:avLst/>
          </a:prstGeom>
          <a:solidFill>
            <a:srgbClr val="C3E3F9"/>
          </a:solidFill>
          <a:ln>
            <a:noFill/>
          </a:ln>
          <a:effectLst/>
        </p:spPr>
        <p:txBody>
          <a:bodyPr wrap="none">
            <a:spAutoFit/>
          </a:bodyPr>
          <a:lstStyle/>
          <a:p>
            <a:pPr algn="ctr"/>
            <a:r>
              <a:rPr lang="zh-CN" altLang="en-US" sz="1200" b="1" dirty="0">
                <a:solidFill>
                  <a:srgbClr val="CC00CC"/>
                </a:solidFill>
                <a:latin typeface="微软雅黑" pitchFamily="34" charset="-122"/>
                <a:ea typeface="微软雅黑" pitchFamily="34" charset="-122"/>
              </a:rPr>
              <a:t>已发送并</a:t>
            </a:r>
          </a:p>
          <a:p>
            <a:pPr algn="ctr"/>
            <a:r>
              <a:rPr lang="zh-CN" altLang="en-US" sz="1200" b="1" dirty="0">
                <a:solidFill>
                  <a:srgbClr val="CC00CC"/>
                </a:solidFill>
                <a:latin typeface="微软雅黑" pitchFamily="34" charset="-122"/>
                <a:ea typeface="微软雅黑" pitchFamily="34" charset="-122"/>
              </a:rPr>
              <a:t>收到确认</a:t>
            </a:r>
          </a:p>
        </p:txBody>
      </p:sp>
      <p:sp>
        <p:nvSpPr>
          <p:cNvPr id="51" name="Rectangle 10"/>
          <p:cNvSpPr>
            <a:spLocks noChangeArrowheads="1"/>
          </p:cNvSpPr>
          <p:nvPr/>
        </p:nvSpPr>
        <p:spPr bwMode="auto">
          <a:xfrm>
            <a:off x="3055379" y="1421663"/>
            <a:ext cx="4333185" cy="450301"/>
          </a:xfrm>
          <a:prstGeom prst="rect">
            <a:avLst/>
          </a:prstGeom>
          <a:solidFill>
            <a:srgbClr val="0000FF"/>
          </a:solidFill>
          <a:ln>
            <a:noFill/>
          </a:ln>
          <a:effectLst/>
        </p:spPr>
        <p:txBody>
          <a:bodyPr wrap="none" anchor="ctr"/>
          <a:lstStyle/>
          <a:p>
            <a:endParaRPr lang="zh-CN" altLang="en-US" sz="900" b="1">
              <a:latin typeface="微软雅黑" pitchFamily="34" charset="-122"/>
              <a:ea typeface="微软雅黑" pitchFamily="34" charset="-122"/>
            </a:endParaRPr>
          </a:p>
        </p:txBody>
      </p:sp>
      <p:grpSp>
        <p:nvGrpSpPr>
          <p:cNvPr id="87" name="组合 86"/>
          <p:cNvGrpSpPr/>
          <p:nvPr/>
        </p:nvGrpSpPr>
        <p:grpSpPr>
          <a:xfrm>
            <a:off x="3011281" y="1771776"/>
            <a:ext cx="348173" cy="656838"/>
            <a:chOff x="2360115" y="2373060"/>
            <a:chExt cx="348173" cy="656838"/>
          </a:xfrm>
        </p:grpSpPr>
        <p:sp>
          <p:nvSpPr>
            <p:cNvPr id="88" name="Line 44"/>
            <p:cNvSpPr>
              <a:spLocks noChangeShapeType="1"/>
            </p:cNvSpPr>
            <p:nvPr/>
          </p:nvSpPr>
          <p:spPr bwMode="auto">
            <a:xfrm flipV="1">
              <a:off x="2515137"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89" name="Text Box 45"/>
            <p:cNvSpPr txBox="1">
              <a:spLocks noChangeArrowheads="1"/>
            </p:cNvSpPr>
            <p:nvPr/>
          </p:nvSpPr>
          <p:spPr bwMode="auto">
            <a:xfrm>
              <a:off x="2360115" y="2752899"/>
              <a:ext cx="348173"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200" b="1" dirty="0">
                  <a:latin typeface="微软雅黑" pitchFamily="34" charset="-122"/>
                  <a:ea typeface="微软雅黑" pitchFamily="34" charset="-122"/>
                </a:rPr>
                <a:t>P</a:t>
              </a:r>
              <a:r>
                <a:rPr lang="en-US" altLang="zh-CN" sz="1200" b="1" baseline="-25000" dirty="0">
                  <a:latin typeface="微软雅黑" pitchFamily="34" charset="-122"/>
                  <a:ea typeface="微软雅黑" pitchFamily="34" charset="-122"/>
                </a:rPr>
                <a:t>1</a:t>
              </a:r>
            </a:p>
          </p:txBody>
        </p:sp>
      </p:grpSp>
      <p:sp>
        <p:nvSpPr>
          <p:cNvPr id="100" name="Line 10"/>
          <p:cNvSpPr>
            <a:spLocks noChangeShapeType="1"/>
          </p:cNvSpPr>
          <p:nvPr/>
        </p:nvSpPr>
        <p:spPr bwMode="auto">
          <a:xfrm>
            <a:off x="3048991" y="1281780"/>
            <a:ext cx="4335996"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000" b="1">
              <a:latin typeface="微软雅黑" pitchFamily="34" charset="-122"/>
              <a:ea typeface="微软雅黑" pitchFamily="34" charset="-122"/>
            </a:endParaRPr>
          </a:p>
        </p:txBody>
      </p:sp>
      <p:sp>
        <p:nvSpPr>
          <p:cNvPr id="101" name="Text Box 11"/>
          <p:cNvSpPr txBox="1">
            <a:spLocks noChangeArrowheads="1"/>
          </p:cNvSpPr>
          <p:nvPr/>
        </p:nvSpPr>
        <p:spPr bwMode="auto">
          <a:xfrm>
            <a:off x="3525986" y="1102078"/>
            <a:ext cx="3558988" cy="276999"/>
          </a:xfrm>
          <a:prstGeom prst="rect">
            <a:avLst/>
          </a:prstGeom>
          <a:solidFill>
            <a:srgbClr val="C3E3F9"/>
          </a:solidFill>
          <a:ln>
            <a:noFill/>
          </a:ln>
          <a:effectLst/>
        </p:spPr>
        <p:txBody>
          <a:bodyPr wrap="none">
            <a:spAutoFit/>
          </a:bodyPr>
          <a:lstStyle/>
          <a:p>
            <a:r>
              <a:rPr lang="en-US" altLang="zh-CN" sz="1200" b="1" dirty="0">
                <a:solidFill>
                  <a:srgbClr val="0000FF"/>
                </a:solidFill>
                <a:latin typeface="微软雅黑" pitchFamily="34" charset="-122"/>
                <a:ea typeface="微软雅黑" pitchFamily="34" charset="-122"/>
              </a:rPr>
              <a:t>A </a:t>
            </a:r>
            <a:r>
              <a:rPr lang="zh-CN" altLang="en-US" sz="1200" b="1" dirty="0">
                <a:solidFill>
                  <a:srgbClr val="0000FF"/>
                </a:solidFill>
                <a:latin typeface="微软雅黑" pitchFamily="34" charset="-122"/>
                <a:ea typeface="微软雅黑" pitchFamily="34" charset="-122"/>
              </a:rPr>
              <a:t>的发送窗口 </a:t>
            </a:r>
            <a:r>
              <a:rPr lang="en-US" altLang="zh-CN" sz="1200" b="1" dirty="0">
                <a:solidFill>
                  <a:srgbClr val="0000FF"/>
                </a:solidFill>
                <a:latin typeface="微软雅黑" pitchFamily="34" charset="-122"/>
                <a:ea typeface="微软雅黑" pitchFamily="34" charset="-122"/>
              </a:rPr>
              <a:t>= 20 </a:t>
            </a:r>
            <a:r>
              <a:rPr lang="zh-CN" altLang="en-US" sz="1200" b="1" dirty="0">
                <a:solidFill>
                  <a:srgbClr val="0000FF"/>
                </a:solidFill>
                <a:latin typeface="微软雅黑" pitchFamily="34" charset="-122"/>
                <a:ea typeface="微软雅黑" pitchFamily="34" charset="-122"/>
              </a:rPr>
              <a:t>字节</a:t>
            </a:r>
            <a:r>
              <a:rPr lang="zh-CN" altLang="en-US" sz="1200" b="1" dirty="0">
                <a:solidFill>
                  <a:srgbClr val="C00000"/>
                </a:solidFill>
                <a:latin typeface="微软雅黑" pitchFamily="34" charset="-122"/>
                <a:ea typeface="微软雅黑" pitchFamily="34" charset="-122"/>
              </a:rPr>
              <a:t>（已满，可用窗口 </a:t>
            </a:r>
            <a:r>
              <a:rPr lang="en-US" altLang="zh-CN" sz="1200" b="1" dirty="0">
                <a:solidFill>
                  <a:srgbClr val="C00000"/>
                </a:solidFill>
                <a:latin typeface="微软雅黑" pitchFamily="34" charset="-122"/>
                <a:ea typeface="微软雅黑" pitchFamily="34" charset="-122"/>
              </a:rPr>
              <a:t>= 0</a:t>
            </a:r>
            <a:r>
              <a:rPr lang="zh-CN" altLang="en-US" sz="1200" b="1" dirty="0">
                <a:solidFill>
                  <a:srgbClr val="C00000"/>
                </a:solidFill>
                <a:latin typeface="微软雅黑" pitchFamily="34" charset="-122"/>
                <a:ea typeface="微软雅黑" pitchFamily="34" charset="-122"/>
              </a:rPr>
              <a:t>）</a:t>
            </a:r>
            <a:endParaRPr lang="en-US" altLang="zh-CN" sz="1200" b="1" dirty="0">
              <a:solidFill>
                <a:srgbClr val="C00000"/>
              </a:solidFill>
              <a:latin typeface="微软雅黑" pitchFamily="34" charset="-122"/>
              <a:ea typeface="微软雅黑" pitchFamily="34" charset="-122"/>
            </a:endParaRPr>
          </a:p>
        </p:txBody>
      </p:sp>
      <p:sp>
        <p:nvSpPr>
          <p:cNvPr id="52" name="Rectangle 11"/>
          <p:cNvSpPr>
            <a:spLocks noChangeArrowheads="1"/>
          </p:cNvSpPr>
          <p:nvPr/>
        </p:nvSpPr>
        <p:spPr bwMode="auto">
          <a:xfrm>
            <a:off x="1348648" y="1571397"/>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26</a:t>
            </a:r>
          </a:p>
        </p:txBody>
      </p:sp>
      <p:sp>
        <p:nvSpPr>
          <p:cNvPr id="53" name="Rectangle 12"/>
          <p:cNvSpPr>
            <a:spLocks noChangeArrowheads="1"/>
          </p:cNvSpPr>
          <p:nvPr/>
        </p:nvSpPr>
        <p:spPr bwMode="auto">
          <a:xfrm>
            <a:off x="1565725" y="1570297"/>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27</a:t>
            </a:r>
          </a:p>
        </p:txBody>
      </p:sp>
      <p:sp>
        <p:nvSpPr>
          <p:cNvPr id="54" name="Rectangle 13"/>
          <p:cNvSpPr>
            <a:spLocks noChangeArrowheads="1"/>
          </p:cNvSpPr>
          <p:nvPr/>
        </p:nvSpPr>
        <p:spPr bwMode="auto">
          <a:xfrm>
            <a:off x="1782801" y="1569195"/>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28</a:t>
            </a:r>
          </a:p>
        </p:txBody>
      </p:sp>
      <p:sp>
        <p:nvSpPr>
          <p:cNvPr id="55" name="Rectangle 14"/>
          <p:cNvSpPr>
            <a:spLocks noChangeArrowheads="1"/>
          </p:cNvSpPr>
          <p:nvPr/>
        </p:nvSpPr>
        <p:spPr bwMode="auto">
          <a:xfrm>
            <a:off x="1999878" y="1568095"/>
            <a:ext cx="162211" cy="199277"/>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29</a:t>
            </a:r>
          </a:p>
        </p:txBody>
      </p:sp>
      <p:sp>
        <p:nvSpPr>
          <p:cNvPr id="56" name="Rectangle 15"/>
          <p:cNvSpPr>
            <a:spLocks noChangeArrowheads="1"/>
          </p:cNvSpPr>
          <p:nvPr/>
        </p:nvSpPr>
        <p:spPr bwMode="auto">
          <a:xfrm>
            <a:off x="2216954" y="1566993"/>
            <a:ext cx="162211" cy="199278"/>
          </a:xfrm>
          <a:prstGeom prst="rect">
            <a:avLst/>
          </a:prstGeom>
          <a:solidFill>
            <a:srgbClr val="66FF33"/>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30</a:t>
            </a:r>
          </a:p>
        </p:txBody>
      </p:sp>
      <p:grpSp>
        <p:nvGrpSpPr>
          <p:cNvPr id="57" name="组合 56"/>
          <p:cNvGrpSpPr/>
          <p:nvPr/>
        </p:nvGrpSpPr>
        <p:grpSpPr>
          <a:xfrm>
            <a:off x="2434031" y="1554883"/>
            <a:ext cx="2332978" cy="210286"/>
            <a:chOff x="2434031" y="1636215"/>
            <a:chExt cx="2332978" cy="210286"/>
          </a:xfrm>
        </p:grpSpPr>
        <p:sp>
          <p:nvSpPr>
            <p:cNvPr id="58" name="Rectangle 16"/>
            <p:cNvSpPr>
              <a:spLocks noChangeArrowheads="1"/>
            </p:cNvSpPr>
            <p:nvPr/>
          </p:nvSpPr>
          <p:spPr bwMode="auto">
            <a:xfrm>
              <a:off x="2434031" y="1647224"/>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31</a:t>
              </a:r>
            </a:p>
          </p:txBody>
        </p:sp>
        <p:sp>
          <p:nvSpPr>
            <p:cNvPr id="59" name="Rectangle 17"/>
            <p:cNvSpPr>
              <a:spLocks noChangeArrowheads="1"/>
            </p:cNvSpPr>
            <p:nvPr/>
          </p:nvSpPr>
          <p:spPr bwMode="auto">
            <a:xfrm>
              <a:off x="2651108" y="1646123"/>
              <a:ext cx="162211" cy="19927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32</a:t>
              </a:r>
            </a:p>
          </p:txBody>
        </p:sp>
        <p:sp>
          <p:nvSpPr>
            <p:cNvPr id="60" name="Rectangle 18"/>
            <p:cNvSpPr>
              <a:spLocks noChangeArrowheads="1"/>
            </p:cNvSpPr>
            <p:nvPr/>
          </p:nvSpPr>
          <p:spPr bwMode="auto">
            <a:xfrm>
              <a:off x="2868185" y="1645023"/>
              <a:ext cx="162211" cy="19927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33</a:t>
              </a:r>
            </a:p>
          </p:txBody>
        </p:sp>
        <p:sp>
          <p:nvSpPr>
            <p:cNvPr id="61" name="Rectangle 19"/>
            <p:cNvSpPr>
              <a:spLocks noChangeArrowheads="1"/>
            </p:cNvSpPr>
            <p:nvPr/>
          </p:nvSpPr>
          <p:spPr bwMode="auto">
            <a:xfrm>
              <a:off x="3085262" y="1643921"/>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34</a:t>
              </a:r>
            </a:p>
          </p:txBody>
        </p:sp>
        <p:sp>
          <p:nvSpPr>
            <p:cNvPr id="63" name="Rectangle 20"/>
            <p:cNvSpPr>
              <a:spLocks noChangeArrowheads="1"/>
            </p:cNvSpPr>
            <p:nvPr/>
          </p:nvSpPr>
          <p:spPr bwMode="auto">
            <a:xfrm>
              <a:off x="3302338" y="1642821"/>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35</a:t>
              </a:r>
            </a:p>
          </p:txBody>
        </p:sp>
        <p:sp>
          <p:nvSpPr>
            <p:cNvPr id="64" name="Rectangle 21"/>
            <p:cNvSpPr>
              <a:spLocks noChangeArrowheads="1"/>
            </p:cNvSpPr>
            <p:nvPr/>
          </p:nvSpPr>
          <p:spPr bwMode="auto">
            <a:xfrm>
              <a:off x="3519415" y="1641719"/>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36</a:t>
              </a:r>
            </a:p>
          </p:txBody>
        </p:sp>
        <p:sp>
          <p:nvSpPr>
            <p:cNvPr id="65" name="Rectangle 22"/>
            <p:cNvSpPr>
              <a:spLocks noChangeArrowheads="1"/>
            </p:cNvSpPr>
            <p:nvPr/>
          </p:nvSpPr>
          <p:spPr bwMode="auto">
            <a:xfrm>
              <a:off x="3736492" y="1640619"/>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37</a:t>
              </a:r>
            </a:p>
          </p:txBody>
        </p:sp>
        <p:sp>
          <p:nvSpPr>
            <p:cNvPr id="66" name="Rectangle 23"/>
            <p:cNvSpPr>
              <a:spLocks noChangeArrowheads="1"/>
            </p:cNvSpPr>
            <p:nvPr/>
          </p:nvSpPr>
          <p:spPr bwMode="auto">
            <a:xfrm>
              <a:off x="3953568" y="1639517"/>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38</a:t>
              </a:r>
            </a:p>
          </p:txBody>
        </p:sp>
        <p:sp>
          <p:nvSpPr>
            <p:cNvPr id="67" name="Rectangle 24"/>
            <p:cNvSpPr>
              <a:spLocks noChangeArrowheads="1"/>
            </p:cNvSpPr>
            <p:nvPr/>
          </p:nvSpPr>
          <p:spPr bwMode="auto">
            <a:xfrm>
              <a:off x="4170645" y="1638417"/>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39</a:t>
              </a:r>
            </a:p>
          </p:txBody>
        </p:sp>
        <p:sp>
          <p:nvSpPr>
            <p:cNvPr id="68" name="Rectangle 25"/>
            <p:cNvSpPr>
              <a:spLocks noChangeArrowheads="1"/>
            </p:cNvSpPr>
            <p:nvPr/>
          </p:nvSpPr>
          <p:spPr bwMode="auto">
            <a:xfrm>
              <a:off x="4387721" y="1637315"/>
              <a:ext cx="162211" cy="199278"/>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40</a:t>
              </a:r>
            </a:p>
          </p:txBody>
        </p:sp>
        <p:sp>
          <p:nvSpPr>
            <p:cNvPr id="69" name="Rectangle 26"/>
            <p:cNvSpPr>
              <a:spLocks noChangeArrowheads="1"/>
            </p:cNvSpPr>
            <p:nvPr/>
          </p:nvSpPr>
          <p:spPr bwMode="auto">
            <a:xfrm>
              <a:off x="4604798" y="1636215"/>
              <a:ext cx="162211" cy="199277"/>
            </a:xfrm>
            <a:prstGeom prst="rect">
              <a:avLst/>
            </a:prstGeom>
            <a:solidFill>
              <a:srgbClr val="FF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41</a:t>
              </a:r>
            </a:p>
          </p:txBody>
        </p:sp>
      </p:grpSp>
      <p:grpSp>
        <p:nvGrpSpPr>
          <p:cNvPr id="70" name="组合 69"/>
          <p:cNvGrpSpPr/>
          <p:nvPr/>
        </p:nvGrpSpPr>
        <p:grpSpPr>
          <a:xfrm>
            <a:off x="4821875" y="1544973"/>
            <a:ext cx="1898824" cy="208086"/>
            <a:chOff x="4821875" y="1626305"/>
            <a:chExt cx="1898824" cy="208086"/>
          </a:xfrm>
          <a:solidFill>
            <a:srgbClr val="FF99FF"/>
          </a:solidFill>
        </p:grpSpPr>
        <p:sp>
          <p:nvSpPr>
            <p:cNvPr id="71"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72"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73"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44</a:t>
              </a:r>
            </a:p>
          </p:txBody>
        </p:sp>
        <p:sp>
          <p:nvSpPr>
            <p:cNvPr id="74"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45</a:t>
              </a:r>
            </a:p>
          </p:txBody>
        </p:sp>
        <p:sp>
          <p:nvSpPr>
            <p:cNvPr id="75"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46</a:t>
              </a:r>
            </a:p>
          </p:txBody>
        </p:sp>
        <p:sp>
          <p:nvSpPr>
            <p:cNvPr id="76"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77"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48</a:t>
              </a:r>
            </a:p>
          </p:txBody>
        </p:sp>
        <p:sp>
          <p:nvSpPr>
            <p:cNvPr id="78"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79"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80" name="Rectangle 36"/>
          <p:cNvSpPr>
            <a:spLocks noChangeArrowheads="1"/>
          </p:cNvSpPr>
          <p:nvPr/>
        </p:nvSpPr>
        <p:spPr bwMode="auto">
          <a:xfrm>
            <a:off x="6775565" y="1543873"/>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81" name="Rectangle 37"/>
          <p:cNvSpPr>
            <a:spLocks noChangeArrowheads="1"/>
          </p:cNvSpPr>
          <p:nvPr/>
        </p:nvSpPr>
        <p:spPr bwMode="auto">
          <a:xfrm>
            <a:off x="6992642" y="1542771"/>
            <a:ext cx="162211" cy="199278"/>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82" name="Rectangle 38"/>
          <p:cNvSpPr>
            <a:spLocks noChangeArrowheads="1"/>
          </p:cNvSpPr>
          <p:nvPr/>
        </p:nvSpPr>
        <p:spPr bwMode="auto">
          <a:xfrm>
            <a:off x="7209718" y="1541671"/>
            <a:ext cx="162211" cy="199277"/>
          </a:xfrm>
          <a:prstGeom prst="rect">
            <a:avLst/>
          </a:prstGeom>
          <a:solidFill>
            <a:srgbClr val="FF99FF"/>
          </a:solid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sp>
        <p:nvSpPr>
          <p:cNvPr id="83" name="Rectangle 39"/>
          <p:cNvSpPr>
            <a:spLocks noChangeArrowheads="1"/>
          </p:cNvSpPr>
          <p:nvPr/>
        </p:nvSpPr>
        <p:spPr bwMode="auto">
          <a:xfrm>
            <a:off x="7426795" y="1540569"/>
            <a:ext cx="162211" cy="199278"/>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54</a:t>
            </a:r>
          </a:p>
        </p:txBody>
      </p:sp>
      <p:sp>
        <p:nvSpPr>
          <p:cNvPr id="84" name="Rectangle 40"/>
          <p:cNvSpPr>
            <a:spLocks noChangeArrowheads="1"/>
          </p:cNvSpPr>
          <p:nvPr/>
        </p:nvSpPr>
        <p:spPr bwMode="auto">
          <a:xfrm>
            <a:off x="7643872"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55</a:t>
            </a:r>
          </a:p>
        </p:txBody>
      </p:sp>
      <p:sp>
        <p:nvSpPr>
          <p:cNvPr id="86" name="Rectangle 42"/>
          <p:cNvSpPr>
            <a:spLocks noChangeArrowheads="1"/>
          </p:cNvSpPr>
          <p:nvPr/>
        </p:nvSpPr>
        <p:spPr bwMode="auto">
          <a:xfrm>
            <a:off x="7854985" y="1539469"/>
            <a:ext cx="162211" cy="199277"/>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56</a:t>
            </a:r>
          </a:p>
        </p:txBody>
      </p:sp>
      <p:grpSp>
        <p:nvGrpSpPr>
          <p:cNvPr id="4" name="组合 3"/>
          <p:cNvGrpSpPr/>
          <p:nvPr/>
        </p:nvGrpSpPr>
        <p:grpSpPr>
          <a:xfrm>
            <a:off x="7035417" y="1771776"/>
            <a:ext cx="1104790" cy="1157858"/>
            <a:chOff x="7035417" y="1771776"/>
            <a:chExt cx="1104790" cy="1157858"/>
          </a:xfrm>
        </p:grpSpPr>
        <p:grpSp>
          <p:nvGrpSpPr>
            <p:cNvPr id="93" name="组合 92"/>
            <p:cNvGrpSpPr/>
            <p:nvPr/>
          </p:nvGrpSpPr>
          <p:grpSpPr>
            <a:xfrm>
              <a:off x="7374361" y="1771776"/>
              <a:ext cx="328936" cy="795337"/>
              <a:chOff x="6723195" y="2373060"/>
              <a:chExt cx="328936" cy="795337"/>
            </a:xfrm>
          </p:grpSpPr>
          <p:sp>
            <p:nvSpPr>
              <p:cNvPr id="94" name="Line 50"/>
              <p:cNvSpPr>
                <a:spLocks noChangeShapeType="1"/>
              </p:cNvSpPr>
              <p:nvPr/>
            </p:nvSpPr>
            <p:spPr bwMode="auto">
              <a:xfrm flipV="1">
                <a:off x="6865020" y="2373060"/>
                <a:ext cx="0" cy="399656"/>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900" b="1">
                  <a:latin typeface="微软雅黑" pitchFamily="34" charset="-122"/>
                  <a:ea typeface="微软雅黑" pitchFamily="34" charset="-122"/>
                </a:endParaRPr>
              </a:p>
            </p:txBody>
          </p:sp>
          <p:sp>
            <p:nvSpPr>
              <p:cNvPr id="95" name="Text Box 51"/>
              <p:cNvSpPr txBox="1">
                <a:spLocks noChangeArrowheads="1"/>
              </p:cNvSpPr>
              <p:nvPr/>
            </p:nvSpPr>
            <p:spPr bwMode="auto">
              <a:xfrm>
                <a:off x="6723195" y="2752899"/>
                <a:ext cx="328936" cy="41549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2</a:t>
                </a:r>
                <a:endParaRPr lang="en-US" altLang="zh-CN" sz="1050" b="1" dirty="0">
                  <a:latin typeface="微软雅黑" pitchFamily="34" charset="-122"/>
                  <a:ea typeface="微软雅黑" pitchFamily="34" charset="-122"/>
                </a:endParaRPr>
              </a:p>
              <a:p>
                <a:pPr algn="ctr"/>
                <a:r>
                  <a:rPr lang="en-US" altLang="zh-CN" sz="1050" b="1" dirty="0">
                    <a:latin typeface="微软雅黑" pitchFamily="34" charset="-122"/>
                    <a:ea typeface="微软雅黑" pitchFamily="34" charset="-122"/>
                  </a:rPr>
                  <a:t>P</a:t>
                </a:r>
                <a:r>
                  <a:rPr lang="en-US" altLang="zh-CN" sz="1050" b="1" baseline="-25000" dirty="0">
                    <a:latin typeface="微软雅黑" pitchFamily="34" charset="-122"/>
                    <a:ea typeface="微软雅黑" pitchFamily="34" charset="-122"/>
                  </a:rPr>
                  <a:t>3</a:t>
                </a:r>
              </a:p>
            </p:txBody>
          </p:sp>
        </p:grpSp>
        <p:sp>
          <p:nvSpPr>
            <p:cNvPr id="97" name="Text Box 92"/>
            <p:cNvSpPr txBox="1">
              <a:spLocks noChangeArrowheads="1"/>
            </p:cNvSpPr>
            <p:nvPr/>
          </p:nvSpPr>
          <p:spPr bwMode="auto">
            <a:xfrm>
              <a:off x="7035417" y="2467969"/>
              <a:ext cx="1104790"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可用窗口 </a:t>
              </a:r>
              <a:r>
                <a:rPr lang="en-US" altLang="zh-CN" sz="1200" b="1" dirty="0">
                  <a:solidFill>
                    <a:srgbClr val="CC00CC"/>
                  </a:solidFill>
                  <a:latin typeface="微软雅黑" pitchFamily="34" charset="-122"/>
                  <a:ea typeface="微软雅黑" pitchFamily="34" charset="-122"/>
                </a:rPr>
                <a:t>= 0</a:t>
              </a:r>
            </a:p>
            <a:p>
              <a:pPr algn="ctr"/>
              <a:r>
                <a:rPr lang="zh-CN" altLang="en-US" sz="1200" b="1" dirty="0">
                  <a:solidFill>
                    <a:srgbClr val="C00000"/>
                  </a:solidFill>
                  <a:latin typeface="微软雅黑" pitchFamily="34" charset="-122"/>
                  <a:ea typeface="微软雅黑" pitchFamily="34" charset="-122"/>
                </a:rPr>
                <a:t>停止发送</a:t>
              </a:r>
            </a:p>
          </p:txBody>
        </p:sp>
      </p:grpSp>
      <p:grpSp>
        <p:nvGrpSpPr>
          <p:cNvPr id="106" name="组合 105"/>
          <p:cNvGrpSpPr/>
          <p:nvPr/>
        </p:nvGrpSpPr>
        <p:grpSpPr>
          <a:xfrm>
            <a:off x="3911533" y="2356980"/>
            <a:ext cx="3039613" cy="483190"/>
            <a:chOff x="4131976" y="2239207"/>
            <a:chExt cx="3039613" cy="483190"/>
          </a:xfrm>
        </p:grpSpPr>
        <p:sp>
          <p:nvSpPr>
            <p:cNvPr id="143" name="上箭头 142"/>
            <p:cNvSpPr/>
            <p:nvPr/>
          </p:nvSpPr>
          <p:spPr>
            <a:xfrm flipV="1">
              <a:off x="4131976" y="2239207"/>
              <a:ext cx="302864" cy="483190"/>
            </a:xfrm>
            <a:prstGeom prst="upArrow">
              <a:avLst>
                <a:gd name="adj1" fmla="val 39167"/>
                <a:gd name="adj2" fmla="val 50000"/>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p:cNvSpPr txBox="1"/>
            <p:nvPr/>
          </p:nvSpPr>
          <p:spPr>
            <a:xfrm>
              <a:off x="4349592" y="2356544"/>
              <a:ext cx="2821997" cy="276999"/>
            </a:xfrm>
            <a:prstGeom prst="rect">
              <a:avLst/>
            </a:prstGeom>
            <a:noFill/>
          </p:spPr>
          <p:txBody>
            <a:bodyPr wrap="square" rtlCol="0">
              <a:spAutoFit/>
            </a:bodyPr>
            <a:lstStyle/>
            <a:p>
              <a:r>
                <a:rPr lang="zh-CN" altLang="en-US" sz="1200" b="1" dirty="0">
                  <a:latin typeface="微软雅黑" panose="020B0503020204020204" pitchFamily="34" charset="-122"/>
                  <a:ea typeface="微软雅黑" panose="020B0503020204020204" pitchFamily="34" charset="-122"/>
                </a:rPr>
                <a:t>序号 </a:t>
              </a:r>
              <a:r>
                <a:rPr lang="en-US" altLang="zh-CN" sz="1200" b="1" dirty="0">
                  <a:latin typeface="微软雅黑" panose="020B0503020204020204" pitchFamily="34" charset="-122"/>
                  <a:ea typeface="微软雅黑" panose="020B0503020204020204" pitchFamily="34" charset="-122"/>
                </a:rPr>
                <a:t>= 34</a:t>
              </a:r>
              <a:r>
                <a:rPr lang="zh-CN" altLang="en-US" sz="1200" b="1" dirty="0">
                  <a:latin typeface="微软雅黑" panose="020B0503020204020204" pitchFamily="34" charset="-122"/>
                  <a:ea typeface="微软雅黑" panose="020B0503020204020204" pitchFamily="34" charset="-122"/>
                </a:rPr>
                <a:t>，确认号 </a:t>
              </a:r>
              <a:r>
                <a:rPr lang="en-US" altLang="zh-CN" sz="1200" b="1" dirty="0">
                  <a:latin typeface="微软雅黑" panose="020B0503020204020204" pitchFamily="34" charset="-122"/>
                  <a:ea typeface="微软雅黑" panose="020B0503020204020204" pitchFamily="34" charset="-122"/>
                </a:rPr>
                <a:t>= x</a:t>
              </a:r>
              <a:r>
                <a:rPr lang="zh-CN" altLang="en-US" sz="1200" b="1" dirty="0">
                  <a:latin typeface="微软雅黑" panose="020B0503020204020204" pitchFamily="34" charset="-122"/>
                  <a:ea typeface="微软雅黑" panose="020B0503020204020204" pitchFamily="34" charset="-122"/>
                </a:rPr>
                <a:t>，窗口 </a:t>
              </a:r>
              <a:r>
                <a:rPr lang="en-US" altLang="zh-CN" sz="1200" b="1" dirty="0">
                  <a:latin typeface="微软雅黑" panose="020B0503020204020204" pitchFamily="34" charset="-122"/>
                  <a:ea typeface="微软雅黑" panose="020B0503020204020204" pitchFamily="34" charset="-122"/>
                </a:rPr>
                <a:t>= u</a:t>
              </a:r>
            </a:p>
          </p:txBody>
        </p:sp>
      </p:grpSp>
      <p:grpSp>
        <p:nvGrpSpPr>
          <p:cNvPr id="145" name="组合 144"/>
          <p:cNvGrpSpPr/>
          <p:nvPr/>
        </p:nvGrpSpPr>
        <p:grpSpPr>
          <a:xfrm>
            <a:off x="3212032" y="1997861"/>
            <a:ext cx="4142694" cy="415809"/>
            <a:chOff x="4969928" y="1997861"/>
            <a:chExt cx="4142694" cy="415809"/>
          </a:xfrm>
        </p:grpSpPr>
        <p:sp>
          <p:nvSpPr>
            <p:cNvPr id="146" name="AutoShape 91"/>
            <p:cNvSpPr>
              <a:spLocks/>
            </p:cNvSpPr>
            <p:nvPr/>
          </p:nvSpPr>
          <p:spPr bwMode="auto">
            <a:xfrm rot="16200000" flipV="1">
              <a:off x="6964398" y="3391"/>
              <a:ext cx="153753" cy="4142694"/>
            </a:xfrm>
            <a:prstGeom prst="leftBrace">
              <a:avLst>
                <a:gd name="adj1" fmla="val 114009"/>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900" b="1">
                <a:solidFill>
                  <a:srgbClr val="CC00CC"/>
                </a:solidFill>
                <a:latin typeface="微软雅黑" pitchFamily="34" charset="-122"/>
                <a:ea typeface="微软雅黑" pitchFamily="34" charset="-122"/>
              </a:endParaRPr>
            </a:p>
          </p:txBody>
        </p:sp>
        <p:sp>
          <p:nvSpPr>
            <p:cNvPr id="147" name="Text Box 92"/>
            <p:cNvSpPr txBox="1">
              <a:spLocks noChangeArrowheads="1"/>
            </p:cNvSpPr>
            <p:nvPr/>
          </p:nvSpPr>
          <p:spPr bwMode="auto">
            <a:xfrm>
              <a:off x="6250500" y="2136671"/>
              <a:ext cx="1569661"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0000FF"/>
                  </a:solidFill>
                  <a:latin typeface="微软雅黑" pitchFamily="34" charset="-122"/>
                  <a:ea typeface="微软雅黑" pitchFamily="34" charset="-122"/>
                </a:rPr>
                <a:t>已发送但未收到确认</a:t>
              </a:r>
            </a:p>
          </p:txBody>
        </p:sp>
      </p:grpSp>
      <p:sp>
        <p:nvSpPr>
          <p:cNvPr id="9" name="矩形 8"/>
          <p:cNvSpPr/>
          <p:nvPr/>
        </p:nvSpPr>
        <p:spPr>
          <a:xfrm>
            <a:off x="792874" y="2911139"/>
            <a:ext cx="7623847" cy="1193019"/>
          </a:xfrm>
          <a:prstGeom prst="rect">
            <a:avLst/>
          </a:prstGeom>
          <a:solidFill>
            <a:srgbClr val="FFFF99"/>
          </a:solidFill>
        </p:spPr>
        <p:txBody>
          <a:bodyPr wrap="square">
            <a:spAutoFit/>
          </a:bodyPr>
          <a:lstStyle/>
          <a:p>
            <a:pPr marL="179388" indent="-179388">
              <a:lnSpc>
                <a:spcPts val="2200"/>
              </a:lnSpc>
              <a:buFont typeface="Wingdings" panose="05000000000000000000" pitchFamily="2" charset="2"/>
              <a:buChar char="l"/>
            </a:pP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未收到确认的</a:t>
            </a:r>
            <a:r>
              <a:rPr lang="zh-CN" altLang="en-US" sz="1400" b="1" dirty="0">
                <a:solidFill>
                  <a:srgbClr val="C00000"/>
                </a:solidFill>
                <a:latin typeface="微软雅黑" panose="020B0503020204020204" pitchFamily="34" charset="-122"/>
                <a:ea typeface="微软雅黑" panose="020B0503020204020204" pitchFamily="34" charset="-122"/>
              </a:rPr>
              <a:t>原因</a:t>
            </a:r>
            <a:r>
              <a:rPr lang="zh-CN" altLang="en-US" sz="1400" b="1" dirty="0">
                <a:latin typeface="微软雅黑" panose="020B0503020204020204" pitchFamily="34" charset="-122"/>
                <a:ea typeface="微软雅黑" panose="020B0503020204020204" pitchFamily="34" charset="-122"/>
              </a:rPr>
              <a:t>有：</a:t>
            </a:r>
            <a:r>
              <a:rPr lang="zh-CN" altLang="en-US" sz="1400" b="1" dirty="0">
                <a:solidFill>
                  <a:srgbClr val="C00000"/>
                </a:solidFill>
                <a:latin typeface="微软雅黑" panose="020B0503020204020204" pitchFamily="34" charset="-122"/>
                <a:ea typeface="微软雅黑" panose="020B0503020204020204" pitchFamily="34" charset="-122"/>
              </a:rPr>
              <a:t>①</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未发送；</a:t>
            </a:r>
            <a:r>
              <a:rPr lang="zh-CN" altLang="en-US" sz="1400" b="1" dirty="0">
                <a:solidFill>
                  <a:srgbClr val="C00000"/>
                </a:solidFill>
                <a:latin typeface="微软雅黑" panose="020B0503020204020204" pitchFamily="34" charset="-122"/>
                <a:ea typeface="微软雅黑" panose="020B0503020204020204" pitchFamily="34" charset="-122"/>
              </a:rPr>
              <a:t>②</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B</a:t>
            </a:r>
            <a:r>
              <a:rPr lang="zh-CN" altLang="en-US" sz="1400" b="1" dirty="0">
                <a:latin typeface="微软雅黑" panose="020B0503020204020204" pitchFamily="34" charset="-122"/>
                <a:ea typeface="微软雅黑" panose="020B0503020204020204" pitchFamily="34" charset="-122"/>
              </a:rPr>
              <a:t>已发送，但还未到达 </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为保证可靠传输，</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只能认为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还没有收到这些数据。</a:t>
            </a:r>
            <a:r>
              <a:rPr lang="en-US" altLang="zh-CN" sz="1400" b="1" dirty="0">
                <a:latin typeface="微软雅黑" panose="020B0503020204020204" pitchFamily="34" charset="-122"/>
                <a:ea typeface="微软雅黑" panose="020B0503020204020204" pitchFamily="34" charset="-122"/>
              </a:rPr>
              <a:t>A </a:t>
            </a:r>
            <a:r>
              <a:rPr lang="zh-CN" altLang="en-US" sz="1400" b="1" dirty="0">
                <a:latin typeface="微软雅黑" panose="020B0503020204020204" pitchFamily="34" charset="-122"/>
                <a:ea typeface="微软雅黑" panose="020B0503020204020204" pitchFamily="34" charset="-122"/>
              </a:rPr>
              <a:t>经过一段时间后（由超时计时器控制）就</a:t>
            </a:r>
            <a:r>
              <a:rPr lang="zh-CN" altLang="en-US" sz="1400" b="1" dirty="0">
                <a:solidFill>
                  <a:srgbClr val="C00000"/>
                </a:solidFill>
                <a:latin typeface="微软雅黑" panose="020B0503020204020204" pitchFamily="34" charset="-122"/>
                <a:ea typeface="微软雅黑" panose="020B0503020204020204" pitchFamily="34" charset="-122"/>
              </a:rPr>
              <a:t>重传</a:t>
            </a:r>
            <a:r>
              <a:rPr lang="zh-CN" altLang="en-US" sz="1400" b="1" dirty="0">
                <a:latin typeface="微软雅黑" panose="020B0503020204020204" pitchFamily="34" charset="-122"/>
                <a:ea typeface="微软雅黑" panose="020B0503020204020204" pitchFamily="34" charset="-122"/>
              </a:rPr>
              <a:t>这部分数据，重新设置超时计时器，直到收到 </a:t>
            </a:r>
            <a:r>
              <a:rPr lang="en-US" altLang="zh-CN" sz="1400" b="1" dirty="0">
                <a:latin typeface="微软雅黑" panose="020B0503020204020204" pitchFamily="34" charset="-122"/>
                <a:ea typeface="微软雅黑" panose="020B0503020204020204" pitchFamily="34" charset="-122"/>
              </a:rPr>
              <a:t>B </a:t>
            </a:r>
            <a:r>
              <a:rPr lang="zh-CN" altLang="en-US" sz="1400" b="1" dirty="0">
                <a:latin typeface="微软雅黑" panose="020B0503020204020204" pitchFamily="34" charset="-122"/>
                <a:ea typeface="微软雅黑" panose="020B0503020204020204" pitchFamily="34" charset="-122"/>
              </a:rPr>
              <a:t>的确认为止。</a:t>
            </a:r>
            <a:endParaRPr lang="en-US" altLang="zh-CN" sz="1400" b="1" dirty="0">
              <a:latin typeface="微软雅黑" panose="020B0503020204020204" pitchFamily="34" charset="-122"/>
              <a:ea typeface="微软雅黑" panose="020B0503020204020204" pitchFamily="34" charset="-122"/>
            </a:endParaRPr>
          </a:p>
          <a:p>
            <a:pPr marL="179388" indent="-179388">
              <a:lnSpc>
                <a:spcPts val="2200"/>
              </a:lnSpc>
              <a:buFont typeface="Wingdings" panose="05000000000000000000" pitchFamily="2" charset="2"/>
              <a:buChar char="l"/>
            </a:pPr>
            <a:r>
              <a:rPr lang="zh-CN" altLang="en-US" sz="1400" b="1" dirty="0">
                <a:latin typeface="微软雅黑" panose="020B0503020204020204" pitchFamily="34" charset="-122"/>
                <a:ea typeface="微软雅黑" panose="020B0503020204020204" pitchFamily="34" charset="-122"/>
              </a:rPr>
              <a:t>如果 </a:t>
            </a:r>
            <a:r>
              <a:rPr lang="en-US" altLang="zh-CN" sz="1400" b="1" dirty="0">
                <a:latin typeface="微软雅黑" panose="020B0503020204020204" pitchFamily="34" charset="-122"/>
                <a:ea typeface="微软雅黑" panose="020B0503020204020204" pitchFamily="34" charset="-122"/>
              </a:rPr>
              <a:t>A </a:t>
            </a:r>
            <a:r>
              <a:rPr lang="zh-CN" altLang="en-US" sz="1400" b="1" dirty="0">
                <a:solidFill>
                  <a:srgbClr val="C00000"/>
                </a:solidFill>
                <a:latin typeface="微软雅黑" panose="020B0503020204020204" pitchFamily="34" charset="-122"/>
                <a:ea typeface="微软雅黑" panose="020B0503020204020204" pitchFamily="34" charset="-122"/>
              </a:rPr>
              <a:t>按序收到</a:t>
            </a:r>
            <a:r>
              <a:rPr lang="zh-CN" altLang="en-US" sz="1400" b="1" dirty="0">
                <a:latin typeface="微软雅黑" panose="020B0503020204020204" pitchFamily="34" charset="-122"/>
                <a:ea typeface="微软雅黑" panose="020B0503020204020204" pitchFamily="34" charset="-122"/>
              </a:rPr>
              <a:t>落在发送窗口内的确认号，</a:t>
            </a: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就使发送窗口向前滑动，并发送新的数据。</a:t>
            </a:r>
          </a:p>
        </p:txBody>
      </p:sp>
      <p:grpSp>
        <p:nvGrpSpPr>
          <p:cNvPr id="109" name="组合 108"/>
          <p:cNvGrpSpPr/>
          <p:nvPr/>
        </p:nvGrpSpPr>
        <p:grpSpPr>
          <a:xfrm>
            <a:off x="4821875" y="1541671"/>
            <a:ext cx="2550054" cy="211388"/>
            <a:chOff x="4821875" y="1541671"/>
            <a:chExt cx="2550054" cy="211388"/>
          </a:xfrm>
          <a:solidFill>
            <a:srgbClr val="FF99FF"/>
          </a:solidFill>
        </p:grpSpPr>
        <p:grpSp>
          <p:nvGrpSpPr>
            <p:cNvPr id="110" name="组合 109"/>
            <p:cNvGrpSpPr/>
            <p:nvPr/>
          </p:nvGrpSpPr>
          <p:grpSpPr>
            <a:xfrm>
              <a:off x="4821875" y="1544973"/>
              <a:ext cx="1898824" cy="208086"/>
              <a:chOff x="4821875" y="1626305"/>
              <a:chExt cx="1898824" cy="208086"/>
            </a:xfrm>
            <a:grpFill/>
          </p:grpSpPr>
          <p:sp>
            <p:nvSpPr>
              <p:cNvPr id="114" name="Rectangle 27"/>
              <p:cNvSpPr>
                <a:spLocks noChangeArrowheads="1"/>
              </p:cNvSpPr>
              <p:nvPr/>
            </p:nvSpPr>
            <p:spPr bwMode="auto">
              <a:xfrm>
                <a:off x="4821875" y="1635113"/>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42</a:t>
                </a:r>
              </a:p>
            </p:txBody>
          </p:sp>
          <p:sp>
            <p:nvSpPr>
              <p:cNvPr id="115" name="Rectangle 28"/>
              <p:cNvSpPr>
                <a:spLocks noChangeArrowheads="1"/>
              </p:cNvSpPr>
              <p:nvPr/>
            </p:nvSpPr>
            <p:spPr bwMode="auto">
              <a:xfrm>
                <a:off x="5038951" y="1634013"/>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43</a:t>
                </a:r>
              </a:p>
            </p:txBody>
          </p:sp>
          <p:sp>
            <p:nvSpPr>
              <p:cNvPr id="116" name="Rectangle 29"/>
              <p:cNvSpPr>
                <a:spLocks noChangeArrowheads="1"/>
              </p:cNvSpPr>
              <p:nvPr/>
            </p:nvSpPr>
            <p:spPr bwMode="auto">
              <a:xfrm>
                <a:off x="5256029" y="1632911"/>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44</a:t>
                </a:r>
              </a:p>
            </p:txBody>
          </p:sp>
          <p:sp>
            <p:nvSpPr>
              <p:cNvPr id="117" name="Rectangle 30"/>
              <p:cNvSpPr>
                <a:spLocks noChangeArrowheads="1"/>
              </p:cNvSpPr>
              <p:nvPr/>
            </p:nvSpPr>
            <p:spPr bwMode="auto">
              <a:xfrm>
                <a:off x="5473105" y="1631811"/>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45</a:t>
                </a:r>
              </a:p>
            </p:txBody>
          </p:sp>
          <p:sp>
            <p:nvSpPr>
              <p:cNvPr id="118" name="Rectangle 31"/>
              <p:cNvSpPr>
                <a:spLocks noChangeArrowheads="1"/>
              </p:cNvSpPr>
              <p:nvPr/>
            </p:nvSpPr>
            <p:spPr bwMode="auto">
              <a:xfrm>
                <a:off x="5690182" y="1630709"/>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46</a:t>
                </a:r>
              </a:p>
            </p:txBody>
          </p:sp>
          <p:sp>
            <p:nvSpPr>
              <p:cNvPr id="119" name="Rectangle 32"/>
              <p:cNvSpPr>
                <a:spLocks noChangeArrowheads="1"/>
              </p:cNvSpPr>
              <p:nvPr/>
            </p:nvSpPr>
            <p:spPr bwMode="auto">
              <a:xfrm>
                <a:off x="5907259" y="1629608"/>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47</a:t>
                </a:r>
              </a:p>
            </p:txBody>
          </p:sp>
          <p:sp>
            <p:nvSpPr>
              <p:cNvPr id="120" name="Rectangle 33"/>
              <p:cNvSpPr>
                <a:spLocks noChangeArrowheads="1"/>
              </p:cNvSpPr>
              <p:nvPr/>
            </p:nvSpPr>
            <p:spPr bwMode="auto">
              <a:xfrm>
                <a:off x="6124335" y="1628507"/>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dirty="0">
                    <a:latin typeface="微软雅黑" pitchFamily="34" charset="-122"/>
                    <a:ea typeface="微软雅黑" pitchFamily="34" charset="-122"/>
                  </a:rPr>
                  <a:t>48</a:t>
                </a:r>
              </a:p>
            </p:txBody>
          </p:sp>
          <p:sp>
            <p:nvSpPr>
              <p:cNvPr id="121" name="Rectangle 34"/>
              <p:cNvSpPr>
                <a:spLocks noChangeArrowheads="1"/>
              </p:cNvSpPr>
              <p:nvPr/>
            </p:nvSpPr>
            <p:spPr bwMode="auto">
              <a:xfrm>
                <a:off x="6341412" y="1627407"/>
                <a:ext cx="162211" cy="199277"/>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49</a:t>
                </a:r>
              </a:p>
            </p:txBody>
          </p:sp>
          <p:sp>
            <p:nvSpPr>
              <p:cNvPr id="122" name="Rectangle 35"/>
              <p:cNvSpPr>
                <a:spLocks noChangeArrowheads="1"/>
              </p:cNvSpPr>
              <p:nvPr/>
            </p:nvSpPr>
            <p:spPr bwMode="auto">
              <a:xfrm>
                <a:off x="6558488" y="1626305"/>
                <a:ext cx="162211" cy="19927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900" b="1">
                    <a:latin typeface="微软雅黑" pitchFamily="34" charset="-122"/>
                    <a:ea typeface="微软雅黑" pitchFamily="34" charset="-122"/>
                  </a:rPr>
                  <a:t>50</a:t>
                </a:r>
              </a:p>
            </p:txBody>
          </p:sp>
        </p:grpSp>
        <p:sp>
          <p:nvSpPr>
            <p:cNvPr id="111" name="Rectangle 36"/>
            <p:cNvSpPr>
              <a:spLocks noChangeArrowheads="1"/>
            </p:cNvSpPr>
            <p:nvPr/>
          </p:nvSpPr>
          <p:spPr bwMode="auto">
            <a:xfrm>
              <a:off x="6775565" y="1543873"/>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dirty="0">
                  <a:latin typeface="微软雅黑" pitchFamily="34" charset="-122"/>
                  <a:ea typeface="微软雅黑" pitchFamily="34" charset="-122"/>
                </a:rPr>
                <a:t>51</a:t>
              </a:r>
            </a:p>
          </p:txBody>
        </p:sp>
        <p:sp>
          <p:nvSpPr>
            <p:cNvPr id="112" name="Rectangle 37"/>
            <p:cNvSpPr>
              <a:spLocks noChangeArrowheads="1"/>
            </p:cNvSpPr>
            <p:nvPr/>
          </p:nvSpPr>
          <p:spPr bwMode="auto">
            <a:xfrm>
              <a:off x="6992642" y="1542771"/>
              <a:ext cx="162211" cy="199278"/>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52</a:t>
              </a:r>
            </a:p>
          </p:txBody>
        </p:sp>
        <p:sp>
          <p:nvSpPr>
            <p:cNvPr id="113" name="Rectangle 38"/>
            <p:cNvSpPr>
              <a:spLocks noChangeArrowheads="1"/>
            </p:cNvSpPr>
            <p:nvPr/>
          </p:nvSpPr>
          <p:spPr bwMode="auto">
            <a:xfrm>
              <a:off x="7209718" y="1541671"/>
              <a:ext cx="162211" cy="199277"/>
            </a:xfrm>
            <a:prstGeom prst="rect">
              <a:avLst/>
            </a:prstGeom>
            <a:grpFill/>
            <a:ln w="9525">
              <a:solidFill>
                <a:schemeClr val="tx1"/>
              </a:solidFill>
              <a:miter lim="800000"/>
              <a:headEnd/>
              <a:tailEnd/>
            </a:ln>
            <a:effectLst/>
          </p:spPr>
          <p:txBody>
            <a:bodyPr wrap="none" anchor="ctr"/>
            <a:lstStyle/>
            <a:p>
              <a:pPr algn="ctr"/>
              <a:r>
                <a:rPr kumimoji="1" lang="en-US" altLang="zh-CN" sz="900" b="1">
                  <a:latin typeface="微软雅黑" pitchFamily="34" charset="-122"/>
                  <a:ea typeface="微软雅黑" pitchFamily="34" charset="-122"/>
                </a:rPr>
                <a:t>53</a:t>
              </a:r>
            </a:p>
          </p:txBody>
        </p:sp>
      </p:grpSp>
      <p:sp>
        <p:nvSpPr>
          <p:cNvPr id="2" name="标题 1">
            <a:extLst>
              <a:ext uri="{FF2B5EF4-FFF2-40B4-BE49-F238E27FC236}">
                <a16:creationId xmlns:a16="http://schemas.microsoft.com/office/drawing/2014/main" id="{0A223A69-B5E0-1D9D-83F2-B76F8612C3DA}"/>
              </a:ext>
            </a:extLst>
          </p:cNvPr>
          <p:cNvSpPr>
            <a:spLocks noGrp="1"/>
          </p:cNvSpPr>
          <p:nvPr>
            <p:ph type="title"/>
          </p:nvPr>
        </p:nvSpPr>
        <p:spPr/>
        <p:txBody>
          <a:bodyPr/>
          <a:lstStyle/>
          <a:p>
            <a:r>
              <a:rPr lang="zh-CN" altLang="en-US" dirty="0"/>
              <a:t>窗口的滑动</a:t>
            </a:r>
          </a:p>
        </p:txBody>
      </p:sp>
    </p:spTree>
    <p:extLst>
      <p:ext uri="{BB962C8B-B14F-4D97-AF65-F5344CB8AC3E}">
        <p14:creationId xmlns:p14="http://schemas.microsoft.com/office/powerpoint/2010/main" val="120868337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0"/>
                                  </p:stCondLst>
                                  <p:childTnLst>
                                    <p:anim calcmode="discrete" valueType="str">
                                      <p:cBhvr>
                                        <p:cTn id="6" dur="1000" fill="hold"/>
                                        <p:tgtEl>
                                          <p:spTgt spid="145"/>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35" presetClass="emph" presetSubtype="0" repeatCount="3000" fill="hold" nodeType="afterEffect">
                                  <p:stCondLst>
                                    <p:cond delay="0"/>
                                  </p:stCondLst>
                                  <p:childTnLst>
                                    <p:anim calcmode="discrete" valueType="str">
                                      <p:cBhvr>
                                        <p:cTn id="9" dur="1000" fill="hold"/>
                                        <p:tgtEl>
                                          <p:spTgt spid="4"/>
                                        </p:tgtEl>
                                        <p:attrNameLst>
                                          <p:attrName>style.visibility</p:attrName>
                                        </p:attrNameLst>
                                      </p:cBhvr>
                                      <p:tavLst>
                                        <p:tav tm="0">
                                          <p:val>
                                            <p:strVal val="hidden"/>
                                          </p:val>
                                        </p:tav>
                                        <p:tav tm="50000">
                                          <p:val>
                                            <p:strVal val="visible"/>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Box 155"/>
          <p:cNvSpPr txBox="1">
            <a:spLocks noChangeArrowheads="1"/>
          </p:cNvSpPr>
          <p:nvPr/>
        </p:nvSpPr>
        <p:spPr bwMode="auto">
          <a:xfrm>
            <a:off x="2102735" y="1114884"/>
            <a:ext cx="531823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发送方的应用进程把字节流写入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发送缓存。</a:t>
            </a:r>
          </a:p>
        </p:txBody>
      </p:sp>
      <p:grpSp>
        <p:nvGrpSpPr>
          <p:cNvPr id="22" name="组合 21"/>
          <p:cNvGrpSpPr/>
          <p:nvPr/>
        </p:nvGrpSpPr>
        <p:grpSpPr>
          <a:xfrm>
            <a:off x="2154856" y="1600921"/>
            <a:ext cx="6280932" cy="2524082"/>
            <a:chOff x="366836" y="2074454"/>
            <a:chExt cx="10389633" cy="4175220"/>
          </a:xfrm>
        </p:grpSpPr>
        <p:sp>
          <p:nvSpPr>
            <p:cNvPr id="23"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4" name="Text Box 6"/>
            <p:cNvSpPr txBox="1">
              <a:spLocks noChangeArrowheads="1"/>
            </p:cNvSpPr>
            <p:nvPr/>
          </p:nvSpPr>
          <p:spPr bwMode="auto">
            <a:xfrm>
              <a:off x="1410826" y="5486009"/>
              <a:ext cx="1578242"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最后被确认</a:t>
              </a:r>
            </a:p>
            <a:p>
              <a:pPr algn="ctr"/>
              <a:r>
                <a:rPr lang="zh-CN" altLang="en-US" sz="1200" b="1" dirty="0">
                  <a:latin typeface="微软雅黑" pitchFamily="34" charset="-122"/>
                  <a:ea typeface="微软雅黑" pitchFamily="34" charset="-122"/>
                </a:rPr>
                <a:t>的字节</a:t>
              </a:r>
            </a:p>
          </p:txBody>
        </p:sp>
        <p:sp>
          <p:nvSpPr>
            <p:cNvPr id="25" name="Rectangle 7"/>
            <p:cNvSpPr>
              <a:spLocks noChangeArrowheads="1"/>
            </p:cNvSpPr>
            <p:nvPr/>
          </p:nvSpPr>
          <p:spPr bwMode="auto">
            <a:xfrm>
              <a:off x="5407545" y="4455814"/>
              <a:ext cx="1745588" cy="534988"/>
            </a:xfrm>
            <a:prstGeom prst="rect">
              <a:avLst/>
            </a:prstGeom>
            <a:solidFill>
              <a:srgbClr val="00FFFF"/>
            </a:solidFill>
            <a:ln>
              <a:noFill/>
            </a:ln>
            <a:effectLst/>
          </p:spPr>
          <p:txBody>
            <a:bodyPr wrap="none" anchor="ctr"/>
            <a:lstStyle/>
            <a:p>
              <a:endParaRPr lang="zh-CN" altLang="en-US" sz="1400" b="1">
                <a:latin typeface="微软雅黑" pitchFamily="34" charset="-122"/>
                <a:ea typeface="微软雅黑" pitchFamily="34" charset="-122"/>
              </a:endParaRPr>
            </a:p>
          </p:txBody>
        </p:sp>
        <p:sp>
          <p:nvSpPr>
            <p:cNvPr id="26"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发送方应用程序</a:t>
              </a:r>
            </a:p>
          </p:txBody>
        </p:sp>
        <p:sp>
          <p:nvSpPr>
            <p:cNvPr id="27" name="Line 9"/>
            <p:cNvSpPr>
              <a:spLocks noChangeShapeType="1"/>
            </p:cNvSpPr>
            <p:nvPr/>
          </p:nvSpPr>
          <p:spPr bwMode="auto">
            <a:xfrm>
              <a:off x="463144" y="3066754"/>
              <a:ext cx="10293325"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8" name="Rectangle 30"/>
            <p:cNvSpPr>
              <a:spLocks noChangeArrowheads="1"/>
            </p:cNvSpPr>
            <p:nvPr/>
          </p:nvSpPr>
          <p:spPr bwMode="auto">
            <a:xfrm>
              <a:off x="2207012" y="4243090"/>
              <a:ext cx="3929725" cy="962025"/>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9"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0"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13"/>
            <p:cNvSpPr>
              <a:spLocks noChangeShapeType="1"/>
            </p:cNvSpPr>
            <p:nvPr/>
          </p:nvSpPr>
          <p:spPr bwMode="auto">
            <a:xfrm flipH="1">
              <a:off x="7153133" y="4455814"/>
              <a:ext cx="0" cy="5349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发送缓存</a:t>
              </a:r>
            </a:p>
          </p:txBody>
        </p:sp>
        <p:sp>
          <p:nvSpPr>
            <p:cNvPr id="34" name="Text Box 16"/>
            <p:cNvSpPr txBox="1">
              <a:spLocks noChangeArrowheads="1"/>
            </p:cNvSpPr>
            <p:nvPr/>
          </p:nvSpPr>
          <p:spPr bwMode="auto">
            <a:xfrm>
              <a:off x="4752044" y="5486009"/>
              <a:ext cx="1323686"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最后发送</a:t>
              </a:r>
            </a:p>
            <a:p>
              <a:pPr algn="ctr"/>
              <a:r>
                <a:rPr lang="zh-CN" altLang="en-US" sz="1200" b="1" dirty="0">
                  <a:latin typeface="微软雅黑" pitchFamily="34" charset="-122"/>
                  <a:ea typeface="微软雅黑" pitchFamily="34" charset="-122"/>
                </a:rPr>
                <a:t>的字节</a:t>
              </a:r>
            </a:p>
          </p:txBody>
        </p:sp>
        <p:sp>
          <p:nvSpPr>
            <p:cNvPr id="35" name="Line 17"/>
            <p:cNvSpPr>
              <a:spLocks noChangeShapeType="1"/>
            </p:cNvSpPr>
            <p:nvPr/>
          </p:nvSpPr>
          <p:spPr bwMode="auto">
            <a:xfrm>
              <a:off x="5407545"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6" name="Text Box 18"/>
            <p:cNvSpPr txBox="1">
              <a:spLocks noChangeArrowheads="1"/>
            </p:cNvSpPr>
            <p:nvPr/>
          </p:nvSpPr>
          <p:spPr bwMode="auto">
            <a:xfrm>
              <a:off x="3586363" y="383500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0000FF"/>
                  </a:solidFill>
                  <a:latin typeface="微软雅黑" pitchFamily="34" charset="-122"/>
                  <a:ea typeface="微软雅黑" pitchFamily="34" charset="-122"/>
                </a:rPr>
                <a:t>发送窗口</a:t>
              </a:r>
            </a:p>
          </p:txBody>
        </p:sp>
        <p:sp>
          <p:nvSpPr>
            <p:cNvPr id="37" name="Rectangle 19"/>
            <p:cNvSpPr>
              <a:spLocks noChangeArrowheads="1"/>
            </p:cNvSpPr>
            <p:nvPr/>
          </p:nvSpPr>
          <p:spPr bwMode="auto">
            <a:xfrm>
              <a:off x="2207013" y="4455814"/>
              <a:ext cx="3200533" cy="534988"/>
            </a:xfrm>
            <a:prstGeom prst="rect">
              <a:avLst/>
            </a:prstGeom>
            <a:solidFill>
              <a:srgbClr val="99FFCC"/>
            </a:solidFill>
            <a:ln>
              <a:noFill/>
            </a:ln>
            <a:effectLst/>
          </p:spPr>
          <p:txBody>
            <a:bodyPr wrap="none" anchor="ctr"/>
            <a:lstStyle/>
            <a:p>
              <a:pPr algn="ctr"/>
              <a:r>
                <a:rPr lang="zh-CN" altLang="en-US" sz="1400" b="1" dirty="0">
                  <a:latin typeface="微软雅黑" pitchFamily="34" charset="-122"/>
                  <a:ea typeface="微软雅黑" pitchFamily="34" charset="-122"/>
                </a:rPr>
                <a:t>已发送</a:t>
              </a:r>
            </a:p>
          </p:txBody>
        </p:sp>
        <p:grpSp>
          <p:nvGrpSpPr>
            <p:cNvPr id="38" name="Group 35"/>
            <p:cNvGrpSpPr>
              <a:grpSpLocks/>
            </p:cNvGrpSpPr>
            <p:nvPr/>
          </p:nvGrpSpPr>
          <p:grpSpPr bwMode="auto">
            <a:xfrm>
              <a:off x="2207013" y="4990802"/>
              <a:ext cx="3200533" cy="500062"/>
              <a:chOff x="1154" y="3189"/>
              <a:chExt cx="1861" cy="270"/>
            </a:xfrm>
          </p:grpSpPr>
          <p:sp>
            <p:nvSpPr>
              <p:cNvPr id="47" name="Line 15"/>
              <p:cNvSpPr>
                <a:spLocks noChangeShapeType="1"/>
              </p:cNvSpPr>
              <p:nvPr/>
            </p:nvSpPr>
            <p:spPr bwMode="auto">
              <a:xfrm flipV="1">
                <a:off x="1154"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8" name="Line 23"/>
              <p:cNvSpPr>
                <a:spLocks noChangeShapeType="1"/>
              </p:cNvSpPr>
              <p:nvPr/>
            </p:nvSpPr>
            <p:spPr bwMode="auto">
              <a:xfrm flipV="1">
                <a:off x="3015" y="3189"/>
                <a:ext cx="0" cy="27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9" name="Line 24"/>
            <p:cNvSpPr>
              <a:spLocks noChangeShapeType="1"/>
            </p:cNvSpPr>
            <p:nvPr/>
          </p:nvSpPr>
          <p:spPr bwMode="auto">
            <a:xfrm>
              <a:off x="2207013" y="3387427"/>
              <a:ext cx="0" cy="855662"/>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0"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1" name="Freeform 26"/>
            <p:cNvSpPr>
              <a:spLocks/>
            </p:cNvSpPr>
            <p:nvPr/>
          </p:nvSpPr>
          <p:spPr bwMode="auto">
            <a:xfrm>
              <a:off x="5154463" y="2741314"/>
              <a:ext cx="1998671" cy="1714500"/>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2" name="Text Box 27"/>
            <p:cNvSpPr txBox="1">
              <a:spLocks noChangeArrowheads="1"/>
            </p:cNvSpPr>
            <p:nvPr/>
          </p:nvSpPr>
          <p:spPr bwMode="auto">
            <a:xfrm>
              <a:off x="9654000" y="3047153"/>
              <a:ext cx="874609"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43"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4"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5" name="Line 31"/>
            <p:cNvSpPr>
              <a:spLocks noChangeShapeType="1"/>
            </p:cNvSpPr>
            <p:nvPr/>
          </p:nvSpPr>
          <p:spPr bwMode="auto">
            <a:xfrm>
              <a:off x="7409068" y="5212233"/>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6" name="Text Box 32"/>
            <p:cNvSpPr txBox="1">
              <a:spLocks noChangeArrowheads="1"/>
            </p:cNvSpPr>
            <p:nvPr/>
          </p:nvSpPr>
          <p:spPr bwMode="auto">
            <a:xfrm>
              <a:off x="7424503" y="5268891"/>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grpSp>
      <p:grpSp>
        <p:nvGrpSpPr>
          <p:cNvPr id="7" name="组合 6"/>
          <p:cNvGrpSpPr/>
          <p:nvPr/>
        </p:nvGrpSpPr>
        <p:grpSpPr>
          <a:xfrm>
            <a:off x="770823" y="3301249"/>
            <a:ext cx="2647233" cy="738664"/>
            <a:chOff x="770823" y="3301249"/>
            <a:chExt cx="2647233" cy="738664"/>
          </a:xfrm>
        </p:grpSpPr>
        <p:sp>
          <p:nvSpPr>
            <p:cNvPr id="21" name="Text Box 57"/>
            <p:cNvSpPr txBox="1">
              <a:spLocks noChangeArrowheads="1"/>
            </p:cNvSpPr>
            <p:nvPr/>
          </p:nvSpPr>
          <p:spPr bwMode="auto">
            <a:xfrm>
              <a:off x="770823" y="3301249"/>
              <a:ext cx="1289714" cy="738664"/>
            </a:xfrm>
            <a:prstGeom prst="rect">
              <a:avLst/>
            </a:prstGeom>
            <a:solidFill>
              <a:srgbClr val="0000FF"/>
            </a:solidFill>
            <a:ln w="9525">
              <a:solidFill>
                <a:schemeClr val="tx1"/>
              </a:solidFill>
              <a:miter lim="800000"/>
              <a:headEnd/>
              <a:tailEnd/>
            </a:ln>
            <a:effectLst/>
          </p:spPr>
          <p:txBody>
            <a:bodyPr wrap="square">
              <a:spAutoFit/>
            </a:bodyPr>
            <a:lstStyle/>
            <a:p>
              <a:r>
                <a:rPr lang="zh-CN" altLang="en-US" sz="1400" b="1" dirty="0">
                  <a:solidFill>
                    <a:schemeClr val="bg1"/>
                  </a:solidFill>
                  <a:latin typeface="微软雅黑" pitchFamily="34" charset="-122"/>
                  <a:ea typeface="微软雅黑" pitchFamily="34" charset="-122"/>
                </a:rPr>
                <a:t>发送窗口通常只是发送缓存的一部分。</a:t>
              </a:r>
            </a:p>
          </p:txBody>
        </p:sp>
        <p:cxnSp>
          <p:nvCxnSpPr>
            <p:cNvPr id="3" name="直接箭头连接符 2"/>
            <p:cNvCxnSpPr/>
            <p:nvPr/>
          </p:nvCxnSpPr>
          <p:spPr>
            <a:xfrm flipH="1">
              <a:off x="2060537" y="3425442"/>
              <a:ext cx="1357519" cy="429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组合 5"/>
          <p:cNvGrpSpPr/>
          <p:nvPr/>
        </p:nvGrpSpPr>
        <p:grpSpPr>
          <a:xfrm>
            <a:off x="5716644" y="1610996"/>
            <a:ext cx="2655368" cy="791373"/>
            <a:chOff x="5716644" y="1610996"/>
            <a:chExt cx="2655368" cy="791373"/>
          </a:xfrm>
        </p:grpSpPr>
        <p:sp>
          <p:nvSpPr>
            <p:cNvPr id="5" name="矩形 4"/>
            <p:cNvSpPr/>
            <p:nvPr/>
          </p:nvSpPr>
          <p:spPr>
            <a:xfrm>
              <a:off x="6491161" y="1610996"/>
              <a:ext cx="1880851" cy="523220"/>
            </a:xfrm>
            <a:prstGeom prst="rect">
              <a:avLst/>
            </a:prstGeom>
            <a:solidFill>
              <a:schemeClr val="bg1"/>
            </a:solidFill>
          </p:spPr>
          <p:txBody>
            <a:bodyPr wrap="square">
              <a:spAutoFit/>
            </a:bodyPr>
            <a:lstStyle/>
            <a:p>
              <a:r>
                <a:rPr lang="zh-CN" altLang="en-US" sz="1400" b="1" dirty="0">
                  <a:latin typeface="微软雅黑" panose="020B0503020204020204" pitchFamily="34" charset="-122"/>
                  <a:ea typeface="微软雅黑" panose="020B0503020204020204" pitchFamily="34" charset="-122"/>
                </a:rPr>
                <a:t>不能发送太快，否则发送缓存会溢出。</a:t>
              </a:r>
            </a:p>
          </p:txBody>
        </p:sp>
        <p:cxnSp>
          <p:nvCxnSpPr>
            <p:cNvPr id="49" name="直接箭头连接符 48"/>
            <p:cNvCxnSpPr/>
            <p:nvPr/>
          </p:nvCxnSpPr>
          <p:spPr>
            <a:xfrm flipV="1">
              <a:off x="5716644" y="2004064"/>
              <a:ext cx="774517" cy="39830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8" name="矩形 7"/>
          <p:cNvSpPr/>
          <p:nvPr/>
        </p:nvSpPr>
        <p:spPr>
          <a:xfrm>
            <a:off x="995082" y="4238706"/>
            <a:ext cx="6985279"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缓存中的字节数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发送应用程序最后写入缓存的字节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最后被确认的字节</a:t>
            </a:r>
          </a:p>
        </p:txBody>
      </p:sp>
      <p:grpSp>
        <p:nvGrpSpPr>
          <p:cNvPr id="9" name="组合 8"/>
          <p:cNvGrpSpPr/>
          <p:nvPr/>
        </p:nvGrpSpPr>
        <p:grpSpPr>
          <a:xfrm>
            <a:off x="6256453" y="2471721"/>
            <a:ext cx="1782827" cy="556723"/>
            <a:chOff x="6256453" y="2471721"/>
            <a:chExt cx="1782827" cy="556723"/>
          </a:xfrm>
        </p:grpSpPr>
        <p:sp>
          <p:nvSpPr>
            <p:cNvPr id="50" name="矩形 49"/>
            <p:cNvSpPr/>
            <p:nvPr/>
          </p:nvSpPr>
          <p:spPr>
            <a:xfrm>
              <a:off x="6902048" y="2471721"/>
              <a:ext cx="1137232" cy="461665"/>
            </a:xfrm>
            <a:prstGeom prst="rect">
              <a:avLst/>
            </a:prstGeom>
            <a:solidFill>
              <a:srgbClr val="C3E3F9"/>
            </a:solidFill>
          </p:spPr>
          <p:txBody>
            <a:bodyPr wrap="square">
              <a:spAutoFit/>
            </a:bodyPr>
            <a:lstStyle/>
            <a:p>
              <a:pPr algn="ctr"/>
              <a:r>
                <a:rPr lang="zh-CN" altLang="en-US" sz="1200" b="1" dirty="0">
                  <a:latin typeface="微软雅黑" panose="020B0503020204020204" pitchFamily="34" charset="-122"/>
                  <a:ea typeface="微软雅黑" panose="020B0503020204020204" pitchFamily="34" charset="-122"/>
                </a:rPr>
                <a:t>最后写入缓存</a:t>
              </a:r>
              <a:endParaRPr lang="en-US" altLang="zh-CN" sz="1200" b="1" dirty="0">
                <a:latin typeface="微软雅黑" panose="020B0503020204020204" pitchFamily="34" charset="-122"/>
                <a:ea typeface="微软雅黑" panose="020B0503020204020204" pitchFamily="34" charset="-122"/>
              </a:endParaRPr>
            </a:p>
            <a:p>
              <a:pPr algn="ctr"/>
              <a:r>
                <a:rPr lang="zh-CN" altLang="en-US" sz="1200" b="1" dirty="0">
                  <a:latin typeface="微软雅黑" panose="020B0503020204020204" pitchFamily="34" charset="-122"/>
                  <a:ea typeface="微软雅黑" panose="020B0503020204020204" pitchFamily="34" charset="-122"/>
                </a:rPr>
                <a:t>的字节</a:t>
              </a:r>
            </a:p>
          </p:txBody>
        </p:sp>
        <p:cxnSp>
          <p:nvCxnSpPr>
            <p:cNvPr id="51" name="直接箭头连接符 50"/>
            <p:cNvCxnSpPr/>
            <p:nvPr/>
          </p:nvCxnSpPr>
          <p:spPr>
            <a:xfrm flipV="1">
              <a:off x="6256453" y="2752164"/>
              <a:ext cx="813032" cy="27628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644584" y="1547806"/>
            <a:ext cx="2884051" cy="1374735"/>
            <a:chOff x="644584" y="1547806"/>
            <a:chExt cx="2884051" cy="1374735"/>
          </a:xfrm>
        </p:grpSpPr>
        <p:sp>
          <p:nvSpPr>
            <p:cNvPr id="13" name="矩形 12"/>
            <p:cNvSpPr/>
            <p:nvPr/>
          </p:nvSpPr>
          <p:spPr>
            <a:xfrm>
              <a:off x="644584" y="1547806"/>
              <a:ext cx="2392290"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发送应用程序传送给发送方 </a:t>
              </a:r>
              <a:r>
                <a:rPr lang="en-US" altLang="zh-CN" sz="1400" b="1" dirty="0">
                  <a:latin typeface="微软雅黑" panose="020B0503020204020204" pitchFamily="34" charset="-122"/>
                  <a:ea typeface="微软雅黑" panose="020B0503020204020204" pitchFamily="34" charset="-122"/>
                </a:rPr>
                <a:t>TCP </a:t>
              </a:r>
              <a:r>
                <a:rPr lang="zh-CN" altLang="en-US" sz="1400" b="1" dirty="0">
                  <a:solidFill>
                    <a:srgbClr val="C00000"/>
                  </a:solidFill>
                  <a:latin typeface="微软雅黑" panose="020B0503020204020204" pitchFamily="34" charset="-122"/>
                  <a:ea typeface="微软雅黑" panose="020B0503020204020204" pitchFamily="34" charset="-122"/>
                </a:rPr>
                <a:t>准备发送</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TCP </a:t>
              </a:r>
              <a:r>
                <a:rPr lang="zh-CN" altLang="en-US" sz="1400" b="1" dirty="0">
                  <a:solidFill>
                    <a:srgbClr val="C00000"/>
                  </a:solidFill>
                  <a:latin typeface="微软雅黑" panose="020B0503020204020204" pitchFamily="34" charset="-122"/>
                  <a:ea typeface="微软雅黑" panose="020B0503020204020204" pitchFamily="34" charset="-122"/>
                </a:rPr>
                <a:t>已发送出但尚未收到确认</a:t>
              </a:r>
              <a:r>
                <a:rPr lang="zh-CN" altLang="en-US" sz="1400" b="1" dirty="0">
                  <a:latin typeface="微软雅黑" panose="020B0503020204020204" pitchFamily="34" charset="-122"/>
                  <a:ea typeface="微软雅黑" panose="020B0503020204020204" pitchFamily="34" charset="-122"/>
                </a:rPr>
                <a:t>的数据。</a:t>
              </a:r>
            </a:p>
          </p:txBody>
        </p:sp>
        <p:cxnSp>
          <p:nvCxnSpPr>
            <p:cNvPr id="52" name="直接箭头连接符 51"/>
            <p:cNvCxnSpPr/>
            <p:nvPr/>
          </p:nvCxnSpPr>
          <p:spPr>
            <a:xfrm flipH="1" flipV="1">
              <a:off x="2855501" y="2686939"/>
              <a:ext cx="673134" cy="10045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4" name="标题 3">
            <a:extLst>
              <a:ext uri="{FF2B5EF4-FFF2-40B4-BE49-F238E27FC236}">
                <a16:creationId xmlns:a16="http://schemas.microsoft.com/office/drawing/2014/main" id="{D7536310-9430-08A7-6E2F-DE6AF9321A36}"/>
              </a:ext>
            </a:extLst>
          </p:cNvPr>
          <p:cNvSpPr>
            <a:spLocks noGrp="1"/>
          </p:cNvSpPr>
          <p:nvPr>
            <p:ph type="title"/>
          </p:nvPr>
        </p:nvSpPr>
        <p:spPr/>
        <p:txBody>
          <a:bodyPr/>
          <a:lstStyle/>
          <a:p>
            <a:r>
              <a:rPr lang="zh-CN" altLang="en-US" dirty="0"/>
              <a:t>接收缓存与接收窗口 </a:t>
            </a:r>
          </a:p>
        </p:txBody>
      </p:sp>
    </p:spTree>
    <p:extLst>
      <p:ext uri="{BB962C8B-B14F-4D97-AF65-F5344CB8AC3E}">
        <p14:creationId xmlns:p14="http://schemas.microsoft.com/office/powerpoint/2010/main" val="36212422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500" fill="hold"/>
                                        <p:tgtEl>
                                          <p:spTgt spid="20"/>
                                        </p:tgtEl>
                                        <p:attrNameLst>
                                          <p:attrName>ppt_w</p:attrName>
                                        </p:attrNameLst>
                                      </p:cBhvr>
                                      <p:tavLst>
                                        <p:tav tm="0">
                                          <p:val>
                                            <p:fltVal val="0"/>
                                          </p:val>
                                        </p:tav>
                                        <p:tav tm="100000">
                                          <p:val>
                                            <p:strVal val="#ppt_w"/>
                                          </p:val>
                                        </p:tav>
                                      </p:tavLst>
                                    </p:anim>
                                    <p:anim calcmode="lin" valueType="num">
                                      <p:cBhvr>
                                        <p:cTn id="13" dur="500" fill="hold"/>
                                        <p:tgtEl>
                                          <p:spTgt spid="20"/>
                                        </p:tgtEl>
                                        <p:attrNameLst>
                                          <p:attrName>ppt_h</p:attrName>
                                        </p:attrNameLst>
                                      </p:cBhvr>
                                      <p:tavLst>
                                        <p:tav tm="0">
                                          <p:val>
                                            <p:fltVal val="0"/>
                                          </p:val>
                                        </p:tav>
                                        <p:tav tm="100000">
                                          <p:val>
                                            <p:strVal val="#ppt_h"/>
                                          </p:val>
                                        </p:tav>
                                      </p:tavLst>
                                    </p:anim>
                                    <p:animEffect transition="in" filter="fade">
                                      <p:cBhvr>
                                        <p:cTn id="14" dur="500"/>
                                        <p:tgtEl>
                                          <p:spTgt spid="20"/>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 Box 155"/>
          <p:cNvSpPr txBox="1">
            <a:spLocks noChangeArrowheads="1"/>
          </p:cNvSpPr>
          <p:nvPr/>
        </p:nvSpPr>
        <p:spPr bwMode="auto">
          <a:xfrm>
            <a:off x="1741120" y="1123849"/>
            <a:ext cx="5914740" cy="363176"/>
          </a:xfrm>
          <a:prstGeom prst="rect">
            <a:avLst/>
          </a:prstGeom>
          <a:solidFill>
            <a:schemeClr val="accent6">
              <a:lumMod val="40000"/>
              <a:lumOff val="60000"/>
            </a:schemeClr>
          </a:solidFill>
          <a:ln w="9525">
            <a:solidFill>
              <a:schemeClr val="tx1"/>
            </a:solidFill>
            <a:miter lim="800000"/>
            <a:headEnd/>
            <a:tailEnd/>
          </a:ln>
          <a:effectLst/>
        </p:spPr>
        <p:txBody>
          <a:bodyPr wrap="square">
            <a:spAutoFit/>
          </a:bodyPr>
          <a:lstStyle/>
          <a:p>
            <a:pPr algn="ctr">
              <a:lnSpc>
                <a:spcPct val="110000"/>
              </a:lnSpc>
            </a:pPr>
            <a:r>
              <a:rPr lang="zh-CN" altLang="en-US" sz="1600" b="1" dirty="0">
                <a:latin typeface="微软雅黑" pitchFamily="34" charset="-122"/>
                <a:ea typeface="微软雅黑" pitchFamily="34" charset="-122"/>
              </a:rPr>
              <a:t>接收方的应用进程从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接收缓存中读取尚未被读取的字节。</a:t>
            </a:r>
          </a:p>
        </p:txBody>
      </p:sp>
      <p:grpSp>
        <p:nvGrpSpPr>
          <p:cNvPr id="45" name="组合 44"/>
          <p:cNvGrpSpPr/>
          <p:nvPr/>
        </p:nvGrpSpPr>
        <p:grpSpPr>
          <a:xfrm>
            <a:off x="2521051" y="1609886"/>
            <a:ext cx="5753372" cy="2517796"/>
            <a:chOff x="366836" y="2074454"/>
            <a:chExt cx="9516969" cy="4164822"/>
          </a:xfrm>
        </p:grpSpPr>
        <p:sp>
          <p:nvSpPr>
            <p:cNvPr id="46" name="Line 5"/>
            <p:cNvSpPr>
              <a:spLocks noChangeShapeType="1"/>
            </p:cNvSpPr>
            <p:nvPr/>
          </p:nvSpPr>
          <p:spPr bwMode="auto">
            <a:xfrm flipV="1">
              <a:off x="2220771" y="3644602"/>
              <a:ext cx="5671873" cy="0"/>
            </a:xfrm>
            <a:prstGeom prst="line">
              <a:avLst/>
            </a:prstGeom>
            <a:noFill/>
            <a:ln w="19050">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47" name="Text Box 6"/>
            <p:cNvSpPr txBox="1">
              <a:spLocks noChangeArrowheads="1"/>
            </p:cNvSpPr>
            <p:nvPr/>
          </p:nvSpPr>
          <p:spPr bwMode="auto">
            <a:xfrm>
              <a:off x="2688908"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下一个期望收到的字节</a:t>
              </a:r>
            </a:p>
          </p:txBody>
        </p:sp>
        <p:sp>
          <p:nvSpPr>
            <p:cNvPr id="48" name="Oval 8"/>
            <p:cNvSpPr>
              <a:spLocks noChangeArrowheads="1"/>
            </p:cNvSpPr>
            <p:nvPr/>
          </p:nvSpPr>
          <p:spPr bwMode="auto">
            <a:xfrm>
              <a:off x="3771751" y="2074454"/>
              <a:ext cx="2765425" cy="754063"/>
            </a:xfrm>
            <a:prstGeom prst="ellipse">
              <a:avLst/>
            </a:prstGeom>
            <a:solidFill>
              <a:srgbClr val="00FFFF"/>
            </a:solidFill>
            <a:ln w="9525">
              <a:solidFill>
                <a:schemeClr val="tx1"/>
              </a:solidFill>
              <a:round/>
              <a:headEnd/>
              <a:tailEnd/>
            </a:ln>
            <a:effectLst/>
          </p:spPr>
          <p:txBody>
            <a:bodyPr wrap="none" anchor="ctr"/>
            <a:lstStyle/>
            <a:p>
              <a:pPr algn="ctr"/>
              <a:r>
                <a:rPr lang="zh-CN" altLang="en-US" sz="1400" b="1" dirty="0">
                  <a:latin typeface="微软雅黑" pitchFamily="34" charset="-122"/>
                  <a:ea typeface="微软雅黑" pitchFamily="34" charset="-122"/>
                </a:rPr>
                <a:t>接收方应用程序</a:t>
              </a:r>
            </a:p>
          </p:txBody>
        </p:sp>
        <p:sp>
          <p:nvSpPr>
            <p:cNvPr id="49" name="Line 9"/>
            <p:cNvSpPr>
              <a:spLocks noChangeShapeType="1"/>
            </p:cNvSpPr>
            <p:nvPr/>
          </p:nvSpPr>
          <p:spPr bwMode="auto">
            <a:xfrm>
              <a:off x="463143" y="3066754"/>
              <a:ext cx="9420662" cy="0"/>
            </a:xfrm>
            <a:prstGeom prst="line">
              <a:avLst/>
            </a:prstGeom>
            <a:noFill/>
            <a:ln w="28575">
              <a:solidFill>
                <a:srgbClr val="000099"/>
              </a:solidFill>
              <a:prstDash val="sys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0" name="Rectangle 30"/>
            <p:cNvSpPr>
              <a:spLocks noChangeArrowheads="1"/>
            </p:cNvSpPr>
            <p:nvPr/>
          </p:nvSpPr>
          <p:spPr bwMode="auto">
            <a:xfrm>
              <a:off x="3807279" y="4243089"/>
              <a:ext cx="4085363" cy="962024"/>
            </a:xfrm>
            <a:prstGeom prst="rect">
              <a:avLst/>
            </a:prstGeom>
            <a:solidFill>
              <a:srgbClr val="0000FF"/>
            </a:solidFill>
            <a:ln w="12700">
              <a:solidFill>
                <a:schemeClr val="tx1"/>
              </a:solidFill>
              <a:prstDash val="dash"/>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51" name="Line 10"/>
            <p:cNvSpPr>
              <a:spLocks noChangeShapeType="1"/>
            </p:cNvSpPr>
            <p:nvPr/>
          </p:nvSpPr>
          <p:spPr bwMode="auto">
            <a:xfrm>
              <a:off x="463144" y="4455814"/>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2" name="Line 11"/>
            <p:cNvSpPr>
              <a:spLocks noChangeShapeType="1"/>
            </p:cNvSpPr>
            <p:nvPr/>
          </p:nvSpPr>
          <p:spPr bwMode="auto">
            <a:xfrm>
              <a:off x="463144" y="4990802"/>
              <a:ext cx="8144933"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3" name="Line 12"/>
            <p:cNvSpPr>
              <a:spLocks noChangeShapeType="1"/>
            </p:cNvSpPr>
            <p:nvPr/>
          </p:nvSpPr>
          <p:spPr bwMode="auto">
            <a:xfrm>
              <a:off x="2207013" y="4455814"/>
              <a:ext cx="0" cy="5349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4" name="Text Box 14"/>
            <p:cNvSpPr txBox="1">
              <a:spLocks noChangeArrowheads="1"/>
            </p:cNvSpPr>
            <p:nvPr/>
          </p:nvSpPr>
          <p:spPr bwMode="auto">
            <a:xfrm>
              <a:off x="4580426" y="3396803"/>
              <a:ext cx="1323686" cy="458199"/>
            </a:xfrm>
            <a:prstGeom prst="rect">
              <a:avLst/>
            </a:prstGeom>
            <a:solidFill>
              <a:srgbClr val="C3E3F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solidFill>
                    <a:srgbClr val="CC00CC"/>
                  </a:solidFill>
                  <a:latin typeface="微软雅黑" pitchFamily="34" charset="-122"/>
                  <a:ea typeface="微软雅黑" pitchFamily="34" charset="-122"/>
                </a:rPr>
                <a:t>接收缓存</a:t>
              </a:r>
            </a:p>
          </p:txBody>
        </p:sp>
        <p:sp>
          <p:nvSpPr>
            <p:cNvPr id="55" name="Text Box 18"/>
            <p:cNvSpPr txBox="1">
              <a:spLocks noChangeArrowheads="1"/>
            </p:cNvSpPr>
            <p:nvPr/>
          </p:nvSpPr>
          <p:spPr bwMode="auto">
            <a:xfrm>
              <a:off x="5158235" y="3849839"/>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接收窗口</a:t>
              </a:r>
            </a:p>
          </p:txBody>
        </p:sp>
        <p:sp>
          <p:nvSpPr>
            <p:cNvPr id="56" name="Rectangle 19"/>
            <p:cNvSpPr>
              <a:spLocks noChangeArrowheads="1"/>
            </p:cNvSpPr>
            <p:nvPr/>
          </p:nvSpPr>
          <p:spPr bwMode="auto">
            <a:xfrm>
              <a:off x="2207015" y="4455814"/>
              <a:ext cx="1600265"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57" name="Line 24"/>
            <p:cNvSpPr>
              <a:spLocks noChangeShapeType="1"/>
            </p:cNvSpPr>
            <p:nvPr/>
          </p:nvSpPr>
          <p:spPr bwMode="auto">
            <a:xfrm>
              <a:off x="2207013" y="3387427"/>
              <a:ext cx="0" cy="1068387"/>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8" name="Line 25"/>
            <p:cNvSpPr>
              <a:spLocks noChangeShapeType="1"/>
            </p:cNvSpPr>
            <p:nvPr/>
          </p:nvSpPr>
          <p:spPr bwMode="auto">
            <a:xfrm>
              <a:off x="7880606" y="3387428"/>
              <a:ext cx="0" cy="1603375"/>
            </a:xfrm>
            <a:prstGeom prst="line">
              <a:avLst/>
            </a:prstGeom>
            <a:noFill/>
            <a:ln w="1905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59" name="Freeform 26"/>
            <p:cNvSpPr>
              <a:spLocks/>
            </p:cNvSpPr>
            <p:nvPr/>
          </p:nvSpPr>
          <p:spPr bwMode="auto">
            <a:xfrm flipH="1">
              <a:off x="2220773" y="2741315"/>
              <a:ext cx="2933693" cy="1714501"/>
            </a:xfrm>
            <a:custGeom>
              <a:avLst/>
              <a:gdLst>
                <a:gd name="T0" fmla="*/ 0 w 754"/>
                <a:gd name="T1" fmla="*/ 0 h 727"/>
                <a:gd name="T2" fmla="*/ 68 w 754"/>
                <a:gd name="T3" fmla="*/ 168 h 727"/>
                <a:gd name="T4" fmla="*/ 260 w 754"/>
                <a:gd name="T5" fmla="*/ 252 h 727"/>
                <a:gd name="T6" fmla="*/ 568 w 754"/>
                <a:gd name="T7" fmla="*/ 312 h 727"/>
                <a:gd name="T8" fmla="*/ 704 w 754"/>
                <a:gd name="T9" fmla="*/ 416 h 727"/>
                <a:gd name="T10" fmla="*/ 740 w 754"/>
                <a:gd name="T11" fmla="*/ 572 h 727"/>
                <a:gd name="T12" fmla="*/ 754 w 754"/>
                <a:gd name="T13" fmla="*/ 727 h 727"/>
              </a:gdLst>
              <a:ahLst/>
              <a:cxnLst>
                <a:cxn ang="0">
                  <a:pos x="T0" y="T1"/>
                </a:cxn>
                <a:cxn ang="0">
                  <a:pos x="T2" y="T3"/>
                </a:cxn>
                <a:cxn ang="0">
                  <a:pos x="T4" y="T5"/>
                </a:cxn>
                <a:cxn ang="0">
                  <a:pos x="T6" y="T7"/>
                </a:cxn>
                <a:cxn ang="0">
                  <a:pos x="T8" y="T9"/>
                </a:cxn>
                <a:cxn ang="0">
                  <a:pos x="T10" y="T11"/>
                </a:cxn>
                <a:cxn ang="0">
                  <a:pos x="T12" y="T13"/>
                </a:cxn>
              </a:cxnLst>
              <a:rect l="0" t="0" r="r" b="b"/>
              <a:pathLst>
                <a:path w="754" h="727">
                  <a:moveTo>
                    <a:pt x="0" y="0"/>
                  </a:moveTo>
                  <a:cubicBezTo>
                    <a:pt x="11" y="28"/>
                    <a:pt x="25" y="126"/>
                    <a:pt x="68" y="168"/>
                  </a:cubicBezTo>
                  <a:cubicBezTo>
                    <a:pt x="111" y="210"/>
                    <a:pt x="177" y="228"/>
                    <a:pt x="260" y="252"/>
                  </a:cubicBezTo>
                  <a:cubicBezTo>
                    <a:pt x="343" y="276"/>
                    <a:pt x="494" y="285"/>
                    <a:pt x="568" y="312"/>
                  </a:cubicBezTo>
                  <a:cubicBezTo>
                    <a:pt x="642" y="339"/>
                    <a:pt x="675" y="373"/>
                    <a:pt x="704" y="416"/>
                  </a:cubicBezTo>
                  <a:cubicBezTo>
                    <a:pt x="733" y="459"/>
                    <a:pt x="732" y="520"/>
                    <a:pt x="740" y="572"/>
                  </a:cubicBezTo>
                  <a:cubicBezTo>
                    <a:pt x="748" y="624"/>
                    <a:pt x="751" y="695"/>
                    <a:pt x="754" y="727"/>
                  </a:cubicBezTo>
                </a:path>
              </a:pathLst>
            </a:custGeom>
            <a:noFill/>
            <a:ln w="38100" cmpd="sng">
              <a:solidFill>
                <a:srgbClr val="CC00CC"/>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0" name="Text Box 27"/>
            <p:cNvSpPr txBox="1">
              <a:spLocks noChangeArrowheads="1"/>
            </p:cNvSpPr>
            <p:nvPr/>
          </p:nvSpPr>
          <p:spPr bwMode="auto">
            <a:xfrm>
              <a:off x="8838477" y="3042940"/>
              <a:ext cx="874610" cy="509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1400" b="1" dirty="0">
                  <a:solidFill>
                    <a:srgbClr val="0000FF"/>
                  </a:solidFill>
                  <a:latin typeface="微软雅黑" pitchFamily="34" charset="-122"/>
                  <a:ea typeface="微软雅黑" pitchFamily="34" charset="-122"/>
                </a:rPr>
                <a:t>TCP</a:t>
              </a:r>
            </a:p>
          </p:txBody>
        </p:sp>
        <p:sp>
          <p:nvSpPr>
            <p:cNvPr id="61" name="Freeform 28"/>
            <p:cNvSpPr>
              <a:spLocks/>
            </p:cNvSpPr>
            <p:nvPr/>
          </p:nvSpPr>
          <p:spPr bwMode="auto">
            <a:xfrm>
              <a:off x="8544446" y="4387553"/>
              <a:ext cx="141023" cy="636587"/>
            </a:xfrm>
            <a:custGeom>
              <a:avLst/>
              <a:gdLst>
                <a:gd name="T0" fmla="*/ 12 w 36"/>
                <a:gd name="T1" fmla="*/ 0 h 286"/>
                <a:gd name="T2" fmla="*/ 36 w 36"/>
                <a:gd name="T3" fmla="*/ 86 h 286"/>
                <a:gd name="T4" fmla="*/ 8 w 36"/>
                <a:gd name="T5" fmla="*/ 102 h 286"/>
                <a:gd name="T6" fmla="*/ 28 w 36"/>
                <a:gd name="T7" fmla="*/ 138 h 286"/>
                <a:gd name="T8" fmla="*/ 0 w 36"/>
                <a:gd name="T9" fmla="*/ 158 h 286"/>
                <a:gd name="T10" fmla="*/ 24 w 36"/>
                <a:gd name="T11" fmla="*/ 210 h 286"/>
                <a:gd name="T12" fmla="*/ 8 w 36"/>
                <a:gd name="T13" fmla="*/ 238 h 286"/>
                <a:gd name="T14" fmla="*/ 32 w 36"/>
                <a:gd name="T15" fmla="*/ 286 h 28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286">
                  <a:moveTo>
                    <a:pt x="12" y="0"/>
                  </a:moveTo>
                  <a:lnTo>
                    <a:pt x="36" y="86"/>
                  </a:lnTo>
                  <a:lnTo>
                    <a:pt x="8" y="102"/>
                  </a:lnTo>
                  <a:lnTo>
                    <a:pt x="28" y="138"/>
                  </a:lnTo>
                  <a:lnTo>
                    <a:pt x="0" y="158"/>
                  </a:lnTo>
                  <a:lnTo>
                    <a:pt x="24" y="210"/>
                  </a:lnTo>
                  <a:lnTo>
                    <a:pt x="8" y="238"/>
                  </a:lnTo>
                  <a:lnTo>
                    <a:pt x="32" y="286"/>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2" name="Freeform 29"/>
            <p:cNvSpPr>
              <a:spLocks/>
            </p:cNvSpPr>
            <p:nvPr/>
          </p:nvSpPr>
          <p:spPr bwMode="auto">
            <a:xfrm>
              <a:off x="366836" y="4411365"/>
              <a:ext cx="211535" cy="646113"/>
            </a:xfrm>
            <a:custGeom>
              <a:avLst/>
              <a:gdLst>
                <a:gd name="T0" fmla="*/ 14 w 66"/>
                <a:gd name="T1" fmla="*/ 0 h 274"/>
                <a:gd name="T2" fmla="*/ 66 w 66"/>
                <a:gd name="T3" fmla="*/ 46 h 274"/>
                <a:gd name="T4" fmla="*/ 6 w 66"/>
                <a:gd name="T5" fmla="*/ 84 h 274"/>
                <a:gd name="T6" fmla="*/ 54 w 66"/>
                <a:gd name="T7" fmla="*/ 136 h 274"/>
                <a:gd name="T8" fmla="*/ 0 w 66"/>
                <a:gd name="T9" fmla="*/ 178 h 274"/>
                <a:gd name="T10" fmla="*/ 54 w 66"/>
                <a:gd name="T11" fmla="*/ 214 h 274"/>
                <a:gd name="T12" fmla="*/ 12 w 66"/>
                <a:gd name="T13" fmla="*/ 274 h 274"/>
              </a:gdLst>
              <a:ahLst/>
              <a:cxnLst>
                <a:cxn ang="0">
                  <a:pos x="T0" y="T1"/>
                </a:cxn>
                <a:cxn ang="0">
                  <a:pos x="T2" y="T3"/>
                </a:cxn>
                <a:cxn ang="0">
                  <a:pos x="T4" y="T5"/>
                </a:cxn>
                <a:cxn ang="0">
                  <a:pos x="T6" y="T7"/>
                </a:cxn>
                <a:cxn ang="0">
                  <a:pos x="T8" y="T9"/>
                </a:cxn>
                <a:cxn ang="0">
                  <a:pos x="T10" y="T11"/>
                </a:cxn>
                <a:cxn ang="0">
                  <a:pos x="T12" y="T13"/>
                </a:cxn>
              </a:cxnLst>
              <a:rect l="0" t="0" r="r" b="b"/>
              <a:pathLst>
                <a:path w="66" h="274">
                  <a:moveTo>
                    <a:pt x="14" y="0"/>
                  </a:moveTo>
                  <a:lnTo>
                    <a:pt x="66" y="46"/>
                  </a:lnTo>
                  <a:lnTo>
                    <a:pt x="6" y="84"/>
                  </a:lnTo>
                  <a:lnTo>
                    <a:pt x="54" y="136"/>
                  </a:lnTo>
                  <a:lnTo>
                    <a:pt x="0" y="178"/>
                  </a:lnTo>
                  <a:lnTo>
                    <a:pt x="54" y="214"/>
                  </a:lnTo>
                  <a:lnTo>
                    <a:pt x="12" y="274"/>
                  </a:ln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3" name="Line 31"/>
            <p:cNvSpPr>
              <a:spLocks noChangeShapeType="1"/>
            </p:cNvSpPr>
            <p:nvPr/>
          </p:nvSpPr>
          <p:spPr bwMode="auto">
            <a:xfrm>
              <a:off x="7994374" y="5301209"/>
              <a:ext cx="1454945" cy="0"/>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64" name="Text Box 32"/>
            <p:cNvSpPr txBox="1">
              <a:spLocks noChangeArrowheads="1"/>
            </p:cNvSpPr>
            <p:nvPr/>
          </p:nvSpPr>
          <p:spPr bwMode="auto">
            <a:xfrm>
              <a:off x="8009809" y="5357867"/>
              <a:ext cx="1323686" cy="458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序号增大</a:t>
              </a:r>
            </a:p>
          </p:txBody>
        </p:sp>
        <p:sp>
          <p:nvSpPr>
            <p:cNvPr id="65" name="Rectangle 19"/>
            <p:cNvSpPr>
              <a:spLocks noChangeArrowheads="1"/>
            </p:cNvSpPr>
            <p:nvPr/>
          </p:nvSpPr>
          <p:spPr bwMode="auto">
            <a:xfrm>
              <a:off x="4912276" y="4455814"/>
              <a:ext cx="242188" cy="534988"/>
            </a:xfrm>
            <a:prstGeom prst="rect">
              <a:avLst/>
            </a:prstGeom>
            <a:solidFill>
              <a:srgbClr val="99FFCC"/>
            </a:solidFill>
            <a:ln>
              <a:noFill/>
            </a:ln>
            <a:effectLst/>
          </p:spPr>
          <p:txBody>
            <a:bodyPr wrap="none" anchor="ctr"/>
            <a:lstStyle/>
            <a:p>
              <a:pPr algn="ctr"/>
              <a:endParaRPr lang="zh-CN" altLang="en-US" sz="1400" b="1" dirty="0">
                <a:latin typeface="微软雅黑" pitchFamily="34" charset="-122"/>
                <a:ea typeface="微软雅黑" pitchFamily="34" charset="-122"/>
              </a:endParaRPr>
            </a:p>
          </p:txBody>
        </p:sp>
        <p:sp>
          <p:nvSpPr>
            <p:cNvPr id="66" name="Text Box 6"/>
            <p:cNvSpPr txBox="1">
              <a:spLocks noChangeArrowheads="1"/>
            </p:cNvSpPr>
            <p:nvPr/>
          </p:nvSpPr>
          <p:spPr bwMode="auto">
            <a:xfrm>
              <a:off x="580657" y="3591854"/>
              <a:ext cx="157824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1200" b="1" dirty="0">
                  <a:latin typeface="微软雅黑" pitchFamily="34" charset="-122"/>
                  <a:ea typeface="微软雅黑" pitchFamily="34" charset="-122"/>
                </a:rPr>
                <a:t>下一个读取</a:t>
              </a:r>
            </a:p>
            <a:p>
              <a:pPr algn="ctr"/>
              <a:r>
                <a:rPr lang="zh-CN" altLang="en-US" sz="1200" b="1" dirty="0">
                  <a:latin typeface="微软雅黑" pitchFamily="34" charset="-122"/>
                  <a:ea typeface="微软雅黑" pitchFamily="34" charset="-122"/>
                </a:rPr>
                <a:t>的字节</a:t>
              </a:r>
            </a:p>
          </p:txBody>
        </p:sp>
        <p:sp>
          <p:nvSpPr>
            <p:cNvPr id="34" name="Text Box 6"/>
            <p:cNvSpPr txBox="1">
              <a:spLocks noChangeArrowheads="1"/>
            </p:cNvSpPr>
            <p:nvPr/>
          </p:nvSpPr>
          <p:spPr bwMode="auto">
            <a:xfrm>
              <a:off x="4535610" y="5475611"/>
              <a:ext cx="1696321"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未按序到达的字节</a:t>
              </a:r>
            </a:p>
          </p:txBody>
        </p:sp>
        <p:sp>
          <p:nvSpPr>
            <p:cNvPr id="35" name="Text Box 6"/>
            <p:cNvSpPr txBox="1">
              <a:spLocks noChangeArrowheads="1"/>
            </p:cNvSpPr>
            <p:nvPr/>
          </p:nvSpPr>
          <p:spPr bwMode="auto">
            <a:xfrm>
              <a:off x="2158897" y="4361320"/>
              <a:ext cx="1541880" cy="7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r>
                <a:rPr lang="zh-CN" altLang="en-US" sz="1200" b="1" dirty="0">
                  <a:latin typeface="微软雅黑" pitchFamily="34" charset="-122"/>
                  <a:ea typeface="微软雅黑" pitchFamily="34" charset="-122"/>
                </a:rPr>
                <a:t>按序到达的字节</a:t>
              </a:r>
            </a:p>
          </p:txBody>
        </p:sp>
      </p:grpSp>
      <p:sp>
        <p:nvSpPr>
          <p:cNvPr id="67" name="Line 15"/>
          <p:cNvSpPr>
            <a:spLocks noChangeShapeType="1"/>
          </p:cNvSpPr>
          <p:nvPr/>
        </p:nvSpPr>
        <p:spPr bwMode="auto">
          <a:xfrm flipV="1">
            <a:off x="4594602" y="3372931"/>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nvGrpSpPr>
          <p:cNvPr id="2" name="组合 1"/>
          <p:cNvGrpSpPr/>
          <p:nvPr/>
        </p:nvGrpSpPr>
        <p:grpSpPr>
          <a:xfrm>
            <a:off x="644584" y="1547806"/>
            <a:ext cx="3515956" cy="1374735"/>
            <a:chOff x="644584" y="1547806"/>
            <a:chExt cx="3515956" cy="1374735"/>
          </a:xfrm>
        </p:grpSpPr>
        <p:sp>
          <p:nvSpPr>
            <p:cNvPr id="30" name="矩形 29"/>
            <p:cNvSpPr/>
            <p:nvPr/>
          </p:nvSpPr>
          <p:spPr>
            <a:xfrm>
              <a:off x="644584" y="1547806"/>
              <a:ext cx="1964145" cy="1374735"/>
            </a:xfrm>
            <a:prstGeom prst="rect">
              <a:avLst/>
            </a:prstGeom>
            <a:solidFill>
              <a:schemeClr val="bg1"/>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暂时存放：</a:t>
              </a:r>
            </a:p>
            <a:p>
              <a:pPr>
                <a:lnSpc>
                  <a:spcPts val="2000"/>
                </a:lnSpc>
              </a:pPr>
              <a:r>
                <a:rPr lang="en-US" altLang="zh-CN" sz="1400" b="1" dirty="0">
                  <a:latin typeface="微软雅黑" panose="020B0503020204020204" pitchFamily="34" charset="-122"/>
                  <a:ea typeface="微软雅黑" panose="020B0503020204020204" pitchFamily="34" charset="-122"/>
                </a:rPr>
                <a:t>(1) </a:t>
              </a:r>
              <a:r>
                <a:rPr lang="zh-CN" altLang="en-US" sz="1400" b="1" dirty="0">
                  <a:latin typeface="微软雅黑" panose="020B0503020204020204" pitchFamily="34" charset="-122"/>
                  <a:ea typeface="微软雅黑" panose="020B0503020204020204" pitchFamily="34" charset="-122"/>
                </a:rPr>
                <a:t>按序到达的、但尚</a:t>
              </a:r>
              <a:r>
                <a:rPr lang="zh-CN" altLang="en-US" sz="1400" b="1" dirty="0">
                  <a:solidFill>
                    <a:srgbClr val="C00000"/>
                  </a:solidFill>
                  <a:latin typeface="微软雅黑" panose="020B0503020204020204" pitchFamily="34" charset="-122"/>
                  <a:ea typeface="微软雅黑" panose="020B0503020204020204" pitchFamily="34" charset="-122"/>
                </a:rPr>
                <a:t>未被</a:t>
              </a:r>
              <a:r>
                <a:rPr lang="zh-CN" altLang="en-US" sz="1400" b="1" dirty="0">
                  <a:latin typeface="微软雅黑" panose="020B0503020204020204" pitchFamily="34" charset="-122"/>
                  <a:ea typeface="微软雅黑" panose="020B0503020204020204" pitchFamily="34" charset="-122"/>
                </a:rPr>
                <a:t>接收应用程序</a:t>
              </a:r>
              <a:r>
                <a:rPr lang="zh-CN" altLang="en-US" sz="1400" b="1" dirty="0">
                  <a:solidFill>
                    <a:srgbClr val="C00000"/>
                  </a:solidFill>
                  <a:latin typeface="微软雅黑" panose="020B0503020204020204" pitchFamily="34" charset="-122"/>
                  <a:ea typeface="微软雅黑" panose="020B0503020204020204" pitchFamily="34" charset="-122"/>
                </a:rPr>
                <a:t>读取</a:t>
              </a:r>
              <a:r>
                <a:rPr lang="zh-CN" altLang="en-US" sz="1400" b="1" dirty="0">
                  <a:latin typeface="微软雅黑" panose="020B0503020204020204" pitchFamily="34" charset="-122"/>
                  <a:ea typeface="微软雅黑" panose="020B0503020204020204" pitchFamily="34" charset="-122"/>
                </a:rPr>
                <a:t>的数据；</a:t>
              </a:r>
            </a:p>
            <a:p>
              <a:pPr>
                <a:lnSpc>
                  <a:spcPts val="2000"/>
                </a:lnSpc>
              </a:pPr>
              <a:r>
                <a:rPr lang="en-US" altLang="zh-CN" sz="1400" b="1" dirty="0">
                  <a:latin typeface="微软雅黑" panose="020B0503020204020204" pitchFamily="34" charset="-122"/>
                  <a:ea typeface="微软雅黑" panose="020B0503020204020204" pitchFamily="34" charset="-122"/>
                </a:rPr>
                <a:t>(2) </a:t>
              </a:r>
              <a:r>
                <a:rPr lang="zh-CN" altLang="en-US" sz="1400" b="1" dirty="0">
                  <a:solidFill>
                    <a:srgbClr val="C00000"/>
                  </a:solidFill>
                  <a:latin typeface="微软雅黑" panose="020B0503020204020204" pitchFamily="34" charset="-122"/>
                  <a:ea typeface="微软雅黑" panose="020B0503020204020204" pitchFamily="34" charset="-122"/>
                </a:rPr>
                <a:t>未按序到达</a:t>
              </a:r>
              <a:r>
                <a:rPr lang="zh-CN" altLang="en-US" sz="1400" b="1" dirty="0">
                  <a:latin typeface="微软雅黑" panose="020B0503020204020204" pitchFamily="34" charset="-122"/>
                  <a:ea typeface="微软雅黑" panose="020B0503020204020204" pitchFamily="34" charset="-122"/>
                </a:rPr>
                <a:t>的数据。</a:t>
              </a:r>
            </a:p>
          </p:txBody>
        </p:sp>
        <p:cxnSp>
          <p:nvCxnSpPr>
            <p:cNvPr id="31" name="直接箭头连接符 30"/>
            <p:cNvCxnSpPr/>
            <p:nvPr/>
          </p:nvCxnSpPr>
          <p:spPr>
            <a:xfrm flipH="1" flipV="1">
              <a:off x="2470841" y="2378489"/>
              <a:ext cx="1689699" cy="35106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33" name="Line 15"/>
          <p:cNvSpPr>
            <a:spLocks noChangeShapeType="1"/>
          </p:cNvSpPr>
          <p:nvPr/>
        </p:nvSpPr>
        <p:spPr bwMode="auto">
          <a:xfrm flipV="1">
            <a:off x="5342150" y="3351337"/>
            <a:ext cx="0" cy="302307"/>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cxnSp>
        <p:nvCxnSpPr>
          <p:cNvPr id="37" name="直接箭头连接符 36"/>
          <p:cNvCxnSpPr/>
          <p:nvPr/>
        </p:nvCxnSpPr>
        <p:spPr>
          <a:xfrm>
            <a:off x="3395557" y="2859075"/>
            <a:ext cx="191165" cy="14916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 name="矩形 4"/>
          <p:cNvSpPr/>
          <p:nvPr/>
        </p:nvSpPr>
        <p:spPr>
          <a:xfrm>
            <a:off x="624722" y="3452644"/>
            <a:ext cx="3235870" cy="1118255"/>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若不能及时读取，缓存最终会被填满，使接收窗口减小到零。</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如果能够及时读取，接收窗口就可以增大，但最大不能超过接收缓存的大小。</a:t>
            </a:r>
          </a:p>
        </p:txBody>
      </p:sp>
      <p:sp>
        <p:nvSpPr>
          <p:cNvPr id="3" name="标题 2">
            <a:extLst>
              <a:ext uri="{FF2B5EF4-FFF2-40B4-BE49-F238E27FC236}">
                <a16:creationId xmlns:a16="http://schemas.microsoft.com/office/drawing/2014/main" id="{F7FF0389-CBDA-6577-6E8D-DCFCF267C221}"/>
              </a:ext>
            </a:extLst>
          </p:cNvPr>
          <p:cNvSpPr>
            <a:spLocks noGrp="1"/>
          </p:cNvSpPr>
          <p:nvPr>
            <p:ph type="title"/>
          </p:nvPr>
        </p:nvSpPr>
        <p:spPr>
          <a:xfrm>
            <a:off x="2808000" y="144000"/>
            <a:ext cx="3528000" cy="338554"/>
          </a:xfrm>
        </p:spPr>
        <p:txBody>
          <a:bodyPr/>
          <a:lstStyle/>
          <a:p>
            <a:r>
              <a:rPr lang="zh-CN" altLang="en-US" dirty="0"/>
              <a:t>接收缓存与接收窗口 </a:t>
            </a:r>
          </a:p>
        </p:txBody>
      </p:sp>
    </p:spTree>
    <p:extLst>
      <p:ext uri="{BB962C8B-B14F-4D97-AF65-F5344CB8AC3E}">
        <p14:creationId xmlns:p14="http://schemas.microsoft.com/office/powerpoint/2010/main" val="10293895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p:cTn id="12" dur="500" fill="hold"/>
                                        <p:tgtEl>
                                          <p:spTgt spid="44"/>
                                        </p:tgtEl>
                                        <p:attrNameLst>
                                          <p:attrName>ppt_w</p:attrName>
                                        </p:attrNameLst>
                                      </p:cBhvr>
                                      <p:tavLst>
                                        <p:tav tm="0">
                                          <p:val>
                                            <p:fltVal val="0"/>
                                          </p:val>
                                        </p:tav>
                                        <p:tav tm="100000">
                                          <p:val>
                                            <p:strVal val="#ppt_w"/>
                                          </p:val>
                                        </p:tav>
                                      </p:tavLst>
                                    </p:anim>
                                    <p:anim calcmode="lin" valueType="num">
                                      <p:cBhvr>
                                        <p:cTn id="13" dur="500" fill="hold"/>
                                        <p:tgtEl>
                                          <p:spTgt spid="44"/>
                                        </p:tgtEl>
                                        <p:attrNameLst>
                                          <p:attrName>ppt_h</p:attrName>
                                        </p:attrNameLst>
                                      </p:cBhvr>
                                      <p:tavLst>
                                        <p:tav tm="0">
                                          <p:val>
                                            <p:fltVal val="0"/>
                                          </p:val>
                                        </p:tav>
                                        <p:tav tm="100000">
                                          <p:val>
                                            <p:strVal val="#ppt_h"/>
                                          </p:val>
                                        </p:tav>
                                      </p:tavLst>
                                    </p:anim>
                                    <p:animEffect transition="in" filter="fade">
                                      <p:cBhvr>
                                        <p:cTn id="14" dur="500"/>
                                        <p:tgtEl>
                                          <p:spTgt spid="44"/>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5" grpId="0" animBg="1"/>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E517906-95D6-74CE-B9A2-901DDBDB39CF}"/>
              </a:ext>
            </a:extLst>
          </p:cNvPr>
          <p:cNvSpPr>
            <a:spLocks noGrp="1"/>
          </p:cNvSpPr>
          <p:nvPr>
            <p:ph sz="quarter" idx="11"/>
          </p:nvPr>
        </p:nvSpPr>
        <p:spPr>
          <a:xfrm>
            <a:off x="486000" y="482554"/>
            <a:ext cx="8172000" cy="4120946"/>
          </a:xfrm>
        </p:spPr>
        <p:txBody>
          <a:bodyPr/>
          <a:lstStyle/>
          <a:p>
            <a:r>
              <a:rPr lang="zh-CN" altLang="en-US" dirty="0"/>
              <a:t>第一，发送窗口是根据接收窗口设置的，但在同一时刻，发送窗口并不总是和接收窗口一样大（因为有一定的时间滞后）。</a:t>
            </a:r>
          </a:p>
          <a:p>
            <a:r>
              <a:rPr lang="zh-CN" altLang="en-US" dirty="0"/>
              <a:t>第二，</a:t>
            </a:r>
            <a:r>
              <a:rPr lang="en-US" altLang="zh-CN" dirty="0"/>
              <a:t>TCP </a:t>
            </a:r>
            <a:r>
              <a:rPr lang="zh-CN" altLang="en-US" dirty="0"/>
              <a:t>标准没有规定对不按序到达的数据应如何处理。通常是先临时存放在接收窗口中，等到字节流中所缺少的字节收到后，再按序交付上层的应用进程。</a:t>
            </a:r>
          </a:p>
          <a:p>
            <a:r>
              <a:rPr lang="zh-CN" altLang="en-US" dirty="0"/>
              <a:t>第三，</a:t>
            </a:r>
            <a:r>
              <a:rPr lang="en-US" altLang="zh-CN" dirty="0"/>
              <a:t>TCP </a:t>
            </a:r>
            <a:r>
              <a:rPr lang="zh-CN" altLang="en-US" dirty="0"/>
              <a:t>要求接收方必须有累积确认的功能，以减小传输开销。接收方可以在合适的时候发送确认，也可以在自己有数据要发送时把确认信息顺便捎带上。但接收方不应过分推迟发送确认，否则会导致发送方不必要的重传，捎带确认实际上并不经常发生。</a:t>
            </a:r>
          </a:p>
          <a:p>
            <a:endParaRPr lang="zh-CN" altLang="en-US" dirty="0"/>
          </a:p>
        </p:txBody>
      </p:sp>
      <p:sp>
        <p:nvSpPr>
          <p:cNvPr id="5" name="标题 4">
            <a:extLst>
              <a:ext uri="{FF2B5EF4-FFF2-40B4-BE49-F238E27FC236}">
                <a16:creationId xmlns:a16="http://schemas.microsoft.com/office/drawing/2014/main" id="{FA624BB6-6621-04D2-A126-DB0800F9AFE1}"/>
              </a:ext>
            </a:extLst>
          </p:cNvPr>
          <p:cNvSpPr>
            <a:spLocks noGrp="1"/>
          </p:cNvSpPr>
          <p:nvPr>
            <p:ph type="title"/>
          </p:nvPr>
        </p:nvSpPr>
        <p:spPr>
          <a:xfrm>
            <a:off x="2808000" y="144000"/>
            <a:ext cx="3528000" cy="338554"/>
          </a:xfrm>
        </p:spPr>
        <p:txBody>
          <a:bodyPr/>
          <a:lstStyle/>
          <a:p>
            <a:r>
              <a:rPr lang="zh-CN" altLang="en-US" dirty="0"/>
              <a:t>需要强调三点</a:t>
            </a:r>
          </a:p>
        </p:txBody>
      </p:sp>
    </p:spTree>
    <p:extLst>
      <p:ext uri="{BB962C8B-B14F-4D97-AF65-F5344CB8AC3E}">
        <p14:creationId xmlns:p14="http://schemas.microsoft.com/office/powerpoint/2010/main" val="377656660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1369298" y="2734234"/>
            <a:ext cx="6424106" cy="1419254"/>
            <a:chOff x="-684726" y="2708920"/>
            <a:chExt cx="10194576" cy="3359123"/>
          </a:xfrm>
        </p:grpSpPr>
        <p:sp>
          <p:nvSpPr>
            <p:cNvPr id="9" name="Line 4"/>
            <p:cNvSpPr>
              <a:spLocks noChangeShapeType="1"/>
            </p:cNvSpPr>
            <p:nvPr/>
          </p:nvSpPr>
          <p:spPr bwMode="auto">
            <a:xfrm>
              <a:off x="779976" y="5436244"/>
              <a:ext cx="8659152" cy="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Line 5"/>
            <p:cNvSpPr>
              <a:spLocks noChangeShapeType="1"/>
            </p:cNvSpPr>
            <p:nvPr/>
          </p:nvSpPr>
          <p:spPr bwMode="auto">
            <a:xfrm rot="5400000" flipH="1">
              <a:off x="-515556" y="4140712"/>
              <a:ext cx="2587625" cy="3440"/>
            </a:xfrm>
            <a:prstGeom prst="line">
              <a:avLst/>
            </a:prstGeom>
            <a:noFill/>
            <a:ln w="19050">
              <a:solidFill>
                <a:srgbClr val="0033CC"/>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1" name="Freeform 6"/>
            <p:cNvSpPr>
              <a:spLocks/>
            </p:cNvSpPr>
            <p:nvPr/>
          </p:nvSpPr>
          <p:spPr bwMode="auto">
            <a:xfrm>
              <a:off x="2953793" y="2818458"/>
              <a:ext cx="2005277" cy="2617787"/>
            </a:xfrm>
            <a:custGeom>
              <a:avLst/>
              <a:gdLst>
                <a:gd name="T0" fmla="*/ 0 w 360"/>
                <a:gd name="T1" fmla="*/ 1012 h 1012"/>
                <a:gd name="T2" fmla="*/ 84 w 360"/>
                <a:gd name="T3" fmla="*/ 982 h 1012"/>
                <a:gd name="T4" fmla="*/ 117 w 360"/>
                <a:gd name="T5" fmla="*/ 934 h 1012"/>
                <a:gd name="T6" fmla="*/ 135 w 360"/>
                <a:gd name="T7" fmla="*/ 844 h 1012"/>
                <a:gd name="T8" fmla="*/ 159 w 360"/>
                <a:gd name="T9" fmla="*/ 364 h 1012"/>
                <a:gd name="T10" fmla="*/ 171 w 360"/>
                <a:gd name="T11" fmla="*/ 109 h 1012"/>
                <a:gd name="T12" fmla="*/ 183 w 360"/>
                <a:gd name="T13" fmla="*/ 16 h 1012"/>
                <a:gd name="T14" fmla="*/ 201 w 360"/>
                <a:gd name="T15" fmla="*/ 16 h 1012"/>
                <a:gd name="T16" fmla="*/ 207 w 360"/>
                <a:gd name="T17" fmla="*/ 112 h 1012"/>
                <a:gd name="T18" fmla="*/ 216 w 360"/>
                <a:gd name="T19" fmla="*/ 367 h 1012"/>
                <a:gd name="T20" fmla="*/ 231 w 360"/>
                <a:gd name="T21" fmla="*/ 847 h 1012"/>
                <a:gd name="T22" fmla="*/ 255 w 360"/>
                <a:gd name="T23" fmla="*/ 961 h 1012"/>
                <a:gd name="T24" fmla="*/ 360 w 360"/>
                <a:gd name="T25" fmla="*/ 1009 h 10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60" h="1012">
                  <a:moveTo>
                    <a:pt x="0" y="1012"/>
                  </a:moveTo>
                  <a:cubicBezTo>
                    <a:pt x="14" y="1007"/>
                    <a:pt x="65" y="995"/>
                    <a:pt x="84" y="982"/>
                  </a:cubicBezTo>
                  <a:cubicBezTo>
                    <a:pt x="110" y="970"/>
                    <a:pt x="105" y="960"/>
                    <a:pt x="117" y="934"/>
                  </a:cubicBezTo>
                  <a:cubicBezTo>
                    <a:pt x="129" y="908"/>
                    <a:pt x="128" y="939"/>
                    <a:pt x="135" y="844"/>
                  </a:cubicBezTo>
                  <a:cubicBezTo>
                    <a:pt x="142" y="749"/>
                    <a:pt x="153" y="486"/>
                    <a:pt x="159" y="364"/>
                  </a:cubicBezTo>
                  <a:cubicBezTo>
                    <a:pt x="165" y="242"/>
                    <a:pt x="167" y="167"/>
                    <a:pt x="171" y="109"/>
                  </a:cubicBezTo>
                  <a:cubicBezTo>
                    <a:pt x="175" y="51"/>
                    <a:pt x="178" y="31"/>
                    <a:pt x="183" y="16"/>
                  </a:cubicBezTo>
                  <a:cubicBezTo>
                    <a:pt x="188" y="1"/>
                    <a:pt x="197" y="0"/>
                    <a:pt x="201" y="16"/>
                  </a:cubicBezTo>
                  <a:cubicBezTo>
                    <a:pt x="205" y="32"/>
                    <a:pt x="205" y="54"/>
                    <a:pt x="207" y="112"/>
                  </a:cubicBezTo>
                  <a:cubicBezTo>
                    <a:pt x="209" y="170"/>
                    <a:pt x="212" y="245"/>
                    <a:pt x="216" y="367"/>
                  </a:cubicBezTo>
                  <a:cubicBezTo>
                    <a:pt x="220" y="489"/>
                    <a:pt x="225" y="748"/>
                    <a:pt x="231" y="847"/>
                  </a:cubicBezTo>
                  <a:cubicBezTo>
                    <a:pt x="237" y="946"/>
                    <a:pt x="234" y="934"/>
                    <a:pt x="255" y="961"/>
                  </a:cubicBezTo>
                  <a:cubicBezTo>
                    <a:pt x="281" y="988"/>
                    <a:pt x="339" y="998"/>
                    <a:pt x="360" y="1009"/>
                  </a:cubicBez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2" name="Freeform 7"/>
            <p:cNvSpPr>
              <a:spLocks/>
            </p:cNvSpPr>
            <p:nvPr/>
          </p:nvSpPr>
          <p:spPr bwMode="auto">
            <a:xfrm>
              <a:off x="2496328" y="4780610"/>
              <a:ext cx="5897167" cy="655638"/>
            </a:xfrm>
            <a:custGeom>
              <a:avLst/>
              <a:gdLst>
                <a:gd name="T0" fmla="*/ 0 w 1608"/>
                <a:gd name="T1" fmla="*/ 160 h 160"/>
                <a:gd name="T2" fmla="*/ 120 w 1608"/>
                <a:gd name="T3" fmla="*/ 94 h 160"/>
                <a:gd name="T4" fmla="*/ 264 w 1608"/>
                <a:gd name="T5" fmla="*/ 13 h 160"/>
                <a:gd name="T6" fmla="*/ 441 w 1608"/>
                <a:gd name="T7" fmla="*/ 13 h 160"/>
                <a:gd name="T8" fmla="*/ 708 w 1608"/>
                <a:gd name="T9" fmla="*/ 70 h 160"/>
                <a:gd name="T10" fmla="*/ 858 w 1608"/>
                <a:gd name="T11" fmla="*/ 112 h 160"/>
                <a:gd name="T12" fmla="*/ 1041 w 1608"/>
                <a:gd name="T13" fmla="*/ 133 h 160"/>
                <a:gd name="T14" fmla="*/ 1230 w 1608"/>
                <a:gd name="T15" fmla="*/ 145 h 160"/>
                <a:gd name="T16" fmla="*/ 1608 w 160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08" h="160">
                  <a:moveTo>
                    <a:pt x="0" y="160"/>
                  </a:moveTo>
                  <a:cubicBezTo>
                    <a:pt x="20" y="149"/>
                    <a:pt x="76" y="118"/>
                    <a:pt x="120" y="94"/>
                  </a:cubicBezTo>
                  <a:cubicBezTo>
                    <a:pt x="164" y="70"/>
                    <a:pt x="211" y="26"/>
                    <a:pt x="264" y="13"/>
                  </a:cubicBezTo>
                  <a:cubicBezTo>
                    <a:pt x="317" y="0"/>
                    <a:pt x="367" y="4"/>
                    <a:pt x="441" y="13"/>
                  </a:cubicBezTo>
                  <a:cubicBezTo>
                    <a:pt x="515" y="22"/>
                    <a:pt x="639" y="54"/>
                    <a:pt x="708" y="70"/>
                  </a:cubicBezTo>
                  <a:cubicBezTo>
                    <a:pt x="777" y="86"/>
                    <a:pt x="803" y="102"/>
                    <a:pt x="858" y="112"/>
                  </a:cubicBezTo>
                  <a:cubicBezTo>
                    <a:pt x="913" y="122"/>
                    <a:pt x="979" y="128"/>
                    <a:pt x="1041" y="133"/>
                  </a:cubicBezTo>
                  <a:cubicBezTo>
                    <a:pt x="1103" y="138"/>
                    <a:pt x="1136" y="141"/>
                    <a:pt x="1230" y="145"/>
                  </a:cubicBezTo>
                  <a:cubicBezTo>
                    <a:pt x="1324" y="149"/>
                    <a:pt x="1529" y="157"/>
                    <a:pt x="1608" y="160"/>
                  </a:cubicBezTo>
                </a:path>
              </a:pathLst>
            </a:custGeom>
            <a:noFill/>
            <a:ln w="5715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4014905" y="2708920"/>
              <a:ext cx="0" cy="27273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4959070"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7946348" y="3255020"/>
              <a:ext cx="0" cy="2181225"/>
            </a:xfrm>
            <a:prstGeom prst="line">
              <a:avLst/>
            </a:prstGeom>
            <a:noFill/>
            <a:ln w="19050">
              <a:solidFill>
                <a:srgbClr val="00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6" name="Text Box 11"/>
            <p:cNvSpPr txBox="1">
              <a:spLocks noChangeArrowheads="1"/>
            </p:cNvSpPr>
            <p:nvPr/>
          </p:nvSpPr>
          <p:spPr bwMode="auto">
            <a:xfrm>
              <a:off x="8728380" y="5391297"/>
              <a:ext cx="781470"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时间</a:t>
              </a:r>
            </a:p>
          </p:txBody>
        </p:sp>
        <p:sp>
          <p:nvSpPr>
            <p:cNvPr id="17" name="Line 12"/>
            <p:cNvSpPr>
              <a:spLocks noChangeShapeType="1"/>
            </p:cNvSpPr>
            <p:nvPr/>
          </p:nvSpPr>
          <p:spPr bwMode="auto">
            <a:xfrm>
              <a:off x="3137006" y="4142815"/>
              <a:ext cx="602732" cy="292423"/>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8" name="Text Box 13"/>
            <p:cNvSpPr txBox="1">
              <a:spLocks noChangeArrowheads="1"/>
            </p:cNvSpPr>
            <p:nvPr/>
          </p:nvSpPr>
          <p:spPr bwMode="auto">
            <a:xfrm>
              <a:off x="1534478" y="3750121"/>
              <a:ext cx="1717605" cy="728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C00CC"/>
                  </a:solidFill>
                  <a:latin typeface="微软雅黑" pitchFamily="34" charset="-122"/>
                  <a:ea typeface="微软雅黑" pitchFamily="34" charset="-122"/>
                </a:rPr>
                <a:t>数据链路层</a:t>
              </a:r>
            </a:p>
          </p:txBody>
        </p:sp>
        <p:grpSp>
          <p:nvGrpSpPr>
            <p:cNvPr id="19" name="Group 14"/>
            <p:cNvGrpSpPr>
              <a:grpSpLocks/>
            </p:cNvGrpSpPr>
            <p:nvPr/>
          </p:nvGrpSpPr>
          <p:grpSpPr bwMode="auto">
            <a:xfrm>
              <a:off x="5124174" y="4320233"/>
              <a:ext cx="1525456" cy="728663"/>
              <a:chOff x="3002" y="3126"/>
              <a:chExt cx="887" cy="459"/>
            </a:xfrm>
          </p:grpSpPr>
          <p:sp>
            <p:nvSpPr>
              <p:cNvPr id="24" name="Text Box 15"/>
              <p:cNvSpPr txBox="1">
                <a:spLocks noChangeArrowheads="1"/>
              </p:cNvSpPr>
              <p:nvPr/>
            </p:nvSpPr>
            <p:spPr bwMode="auto">
              <a:xfrm>
                <a:off x="3222" y="3126"/>
                <a:ext cx="667" cy="4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运输层</a:t>
                </a:r>
              </a:p>
            </p:txBody>
          </p:sp>
          <p:sp>
            <p:nvSpPr>
              <p:cNvPr id="25" name="Line 16"/>
              <p:cNvSpPr>
                <a:spLocks noChangeShapeType="1"/>
              </p:cNvSpPr>
              <p:nvPr/>
            </p:nvSpPr>
            <p:spPr bwMode="auto">
              <a:xfrm flipH="1">
                <a:off x="3002" y="3363"/>
                <a:ext cx="276" cy="217"/>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grpSp>
        <p:sp>
          <p:nvSpPr>
            <p:cNvPr id="20" name="Text Box 17"/>
            <p:cNvSpPr txBox="1">
              <a:spLocks noChangeArrowheads="1"/>
            </p:cNvSpPr>
            <p:nvPr/>
          </p:nvSpPr>
          <p:spPr bwMode="auto">
            <a:xfrm>
              <a:off x="3739737" y="5412435"/>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dirty="0">
                  <a:latin typeface="微软雅黑" pitchFamily="34" charset="-122"/>
                  <a:ea typeface="微软雅黑" pitchFamily="34" charset="-122"/>
                </a:rPr>
                <a:t>T</a:t>
              </a:r>
              <a:r>
                <a:rPr kumimoji="1" lang="en-US" altLang="zh-CN" sz="1200" b="1" baseline="-25000" dirty="0">
                  <a:latin typeface="微软雅黑" pitchFamily="34" charset="-122"/>
                  <a:ea typeface="微软雅黑" pitchFamily="34" charset="-122"/>
                </a:rPr>
                <a:t>1</a:t>
              </a:r>
              <a:endParaRPr kumimoji="1" lang="en-US" altLang="zh-CN" sz="1200" b="1" dirty="0">
                <a:latin typeface="微软雅黑" pitchFamily="34" charset="-122"/>
                <a:ea typeface="微软雅黑" pitchFamily="34" charset="-122"/>
              </a:endParaRPr>
            </a:p>
          </p:txBody>
        </p:sp>
        <p:sp>
          <p:nvSpPr>
            <p:cNvPr id="21" name="Text Box 18"/>
            <p:cNvSpPr txBox="1">
              <a:spLocks noChangeArrowheads="1"/>
            </p:cNvSpPr>
            <p:nvPr/>
          </p:nvSpPr>
          <p:spPr bwMode="auto">
            <a:xfrm>
              <a:off x="466670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2</a:t>
              </a:r>
              <a:endParaRPr kumimoji="1" lang="en-US" altLang="zh-CN" sz="1200" b="1">
                <a:latin typeface="微软雅黑" pitchFamily="34" charset="-122"/>
                <a:ea typeface="微软雅黑" pitchFamily="34" charset="-122"/>
              </a:endParaRPr>
            </a:p>
          </p:txBody>
        </p:sp>
        <p:sp>
          <p:nvSpPr>
            <p:cNvPr id="22" name="Text Box 19"/>
            <p:cNvSpPr txBox="1">
              <a:spLocks noChangeArrowheads="1"/>
            </p:cNvSpPr>
            <p:nvPr/>
          </p:nvSpPr>
          <p:spPr bwMode="auto">
            <a:xfrm>
              <a:off x="7653985" y="5412433"/>
              <a:ext cx="544893" cy="65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200" b="1" i="1">
                  <a:latin typeface="微软雅黑" pitchFamily="34" charset="-122"/>
                  <a:ea typeface="微软雅黑" pitchFamily="34" charset="-122"/>
                </a:rPr>
                <a:t>T</a:t>
              </a:r>
              <a:r>
                <a:rPr kumimoji="1" lang="en-US" altLang="zh-CN" sz="1200" b="1" baseline="-25000">
                  <a:latin typeface="微软雅黑" pitchFamily="34" charset="-122"/>
                  <a:ea typeface="微软雅黑" pitchFamily="34" charset="-122"/>
                </a:rPr>
                <a:t>3</a:t>
              </a:r>
              <a:endParaRPr kumimoji="1" lang="en-US" altLang="zh-CN" sz="1200" b="1">
                <a:latin typeface="微软雅黑" pitchFamily="34" charset="-122"/>
                <a:ea typeface="微软雅黑" pitchFamily="34" charset="-122"/>
              </a:endParaRPr>
            </a:p>
          </p:txBody>
        </p:sp>
        <p:sp>
          <p:nvSpPr>
            <p:cNvPr id="23" name="Text Box 20"/>
            <p:cNvSpPr txBox="1">
              <a:spLocks noChangeArrowheads="1"/>
            </p:cNvSpPr>
            <p:nvPr/>
          </p:nvSpPr>
          <p:spPr bwMode="auto">
            <a:xfrm>
              <a:off x="-684726" y="2713682"/>
              <a:ext cx="1514096" cy="109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200" b="1" dirty="0">
                  <a:latin typeface="微软雅黑" pitchFamily="34" charset="-122"/>
                  <a:ea typeface="微软雅黑" pitchFamily="34" charset="-122"/>
                </a:rPr>
                <a:t>往返时间的</a:t>
              </a:r>
            </a:p>
            <a:p>
              <a:r>
                <a:rPr kumimoji="1" lang="zh-CN" altLang="en-US" sz="1200" b="1" dirty="0">
                  <a:latin typeface="微软雅黑" pitchFamily="34" charset="-122"/>
                  <a:ea typeface="微软雅黑" pitchFamily="34" charset="-122"/>
                </a:rPr>
                <a:t>概率分布</a:t>
              </a:r>
            </a:p>
          </p:txBody>
        </p:sp>
      </p:grpSp>
      <p:sp>
        <p:nvSpPr>
          <p:cNvPr id="28" name="内容占位符 27">
            <a:extLst>
              <a:ext uri="{FF2B5EF4-FFF2-40B4-BE49-F238E27FC236}">
                <a16:creationId xmlns:a16="http://schemas.microsoft.com/office/drawing/2014/main" id="{3D94EE02-62FD-0AA5-7F44-F14B328BE2D3}"/>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发送方在规定的时间内没有收到确认就要重传已发送的报文段。</a:t>
            </a:r>
            <a:endParaRPr lang="en-US" altLang="zh-CN" dirty="0"/>
          </a:p>
          <a:p>
            <a:r>
              <a:rPr lang="zh-CN" altLang="en-US" dirty="0"/>
              <a:t>但重传时间的选择是 </a:t>
            </a:r>
            <a:r>
              <a:rPr lang="en-US" altLang="zh-CN" dirty="0"/>
              <a:t>TCP </a:t>
            </a:r>
            <a:r>
              <a:rPr lang="zh-CN" altLang="en-US" dirty="0"/>
              <a:t>最复杂的问题之一。</a:t>
            </a:r>
            <a:endParaRPr lang="en-US" altLang="zh-CN" dirty="0"/>
          </a:p>
          <a:p>
            <a:r>
              <a:rPr lang="zh-CN" altLang="en-US" dirty="0"/>
              <a:t>互联网环境复杂，</a:t>
            </a:r>
            <a:r>
              <a:rPr lang="en-US" altLang="zh-CN" dirty="0"/>
              <a:t>IP </a:t>
            </a:r>
            <a:r>
              <a:rPr lang="zh-CN" altLang="en-US" dirty="0"/>
              <a:t>数据报所选择的路由变化很大，导致运输层的往返时间 </a:t>
            </a:r>
            <a:r>
              <a:rPr lang="en-US" altLang="zh-CN" dirty="0"/>
              <a:t>(RTT) </a:t>
            </a:r>
            <a:r>
              <a:rPr lang="zh-CN" altLang="en-US" dirty="0"/>
              <a:t>的变化也很大。</a:t>
            </a:r>
          </a:p>
          <a:p>
            <a:endParaRPr lang="zh-CN" altLang="en-US" dirty="0"/>
          </a:p>
        </p:txBody>
      </p:sp>
      <p:sp>
        <p:nvSpPr>
          <p:cNvPr id="27" name="标题 26">
            <a:extLst>
              <a:ext uri="{FF2B5EF4-FFF2-40B4-BE49-F238E27FC236}">
                <a16:creationId xmlns:a16="http://schemas.microsoft.com/office/drawing/2014/main" id="{E9804C28-B4F4-E191-26F1-57BC669B0485}"/>
              </a:ext>
            </a:extLst>
          </p:cNvPr>
          <p:cNvSpPr>
            <a:spLocks noGrp="1"/>
          </p:cNvSpPr>
          <p:nvPr>
            <p:ph type="title"/>
          </p:nvPr>
        </p:nvSpPr>
        <p:spPr>
          <a:xfrm>
            <a:off x="2808000" y="144000"/>
            <a:ext cx="3528000" cy="338554"/>
          </a:xfrm>
        </p:spPr>
        <p:txBody>
          <a:bodyPr/>
          <a:lstStyle/>
          <a:p>
            <a:r>
              <a:rPr lang="en-US" altLang="zh-CN" dirty="0"/>
              <a:t>5.6.2   </a:t>
            </a:r>
            <a:r>
              <a:rPr lang="zh-CN" altLang="en-US" dirty="0"/>
              <a:t>超时重传时间的选择</a:t>
            </a:r>
          </a:p>
        </p:txBody>
      </p:sp>
    </p:spTree>
    <p:extLst>
      <p:ext uri="{BB962C8B-B14F-4D97-AF65-F5344CB8AC3E}">
        <p14:creationId xmlns:p14="http://schemas.microsoft.com/office/powerpoint/2010/main" val="103786104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264885" y="1986005"/>
            <a:ext cx="6758814" cy="1331259"/>
            <a:chOff x="502922" y="2655525"/>
            <a:chExt cx="8129014" cy="1331259"/>
          </a:xfrm>
        </p:grpSpPr>
        <p:sp>
          <p:nvSpPr>
            <p:cNvPr id="7" name="对角圆角矩形 6"/>
            <p:cNvSpPr/>
            <p:nvPr/>
          </p:nvSpPr>
          <p:spPr>
            <a:xfrm>
              <a:off x="502922" y="2655525"/>
              <a:ext cx="8129014" cy="1331259"/>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797141" y="2733577"/>
              <a:ext cx="7699646" cy="1169551"/>
            </a:xfrm>
            <a:prstGeom prst="rect">
              <a:avLst/>
            </a:prstGeom>
          </p:spPr>
          <p:txBody>
            <a:bodyPr wrap="square">
              <a:spAutoFit/>
            </a:bodyPr>
            <a:lstStyle/>
            <a:p>
              <a:pPr>
                <a:lnSpc>
                  <a:spcPts val="2800"/>
                </a:lnSpc>
              </a:pP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采用了一种</a:t>
              </a:r>
              <a:r>
                <a:rPr lang="zh-CN" altLang="en-US" b="1" dirty="0">
                  <a:solidFill>
                    <a:srgbClr val="FFFF00"/>
                  </a:solidFill>
                  <a:latin typeface="微软雅黑" pitchFamily="34" charset="-122"/>
                  <a:ea typeface="微软雅黑" pitchFamily="34" charset="-122"/>
                </a:rPr>
                <a:t>自适应算法，</a:t>
              </a:r>
              <a:r>
                <a:rPr lang="zh-CN" altLang="en-US" b="1" dirty="0">
                  <a:solidFill>
                    <a:schemeClr val="bg1"/>
                  </a:solidFill>
                  <a:latin typeface="微软雅黑" pitchFamily="34" charset="-122"/>
                  <a:ea typeface="微软雅黑" pitchFamily="34" charset="-122"/>
                </a:rPr>
                <a:t>它记录一个报文段发出的时间，以及收到相应确认的时间。</a:t>
              </a:r>
              <a:endParaRPr lang="en-US" altLang="zh-CN" b="1" dirty="0">
                <a:solidFill>
                  <a:schemeClr val="bg1"/>
                </a:solidFill>
                <a:latin typeface="微软雅黑" pitchFamily="34" charset="-122"/>
                <a:ea typeface="微软雅黑" pitchFamily="34" charset="-122"/>
              </a:endParaRPr>
            </a:p>
            <a:p>
              <a:pPr>
                <a:lnSpc>
                  <a:spcPts val="2800"/>
                </a:lnSpc>
              </a:pPr>
              <a:r>
                <a:rPr lang="zh-CN" altLang="en-US" b="1" dirty="0">
                  <a:solidFill>
                    <a:schemeClr val="bg1"/>
                  </a:solidFill>
                  <a:latin typeface="微软雅黑" pitchFamily="34" charset="-122"/>
                  <a:ea typeface="微软雅黑" pitchFamily="34" charset="-122"/>
                </a:rPr>
                <a:t>这两个时间</a:t>
              </a:r>
              <a:r>
                <a:rPr lang="zh-CN" altLang="en-US" b="1" dirty="0">
                  <a:solidFill>
                    <a:srgbClr val="FFFF00"/>
                  </a:solidFill>
                  <a:latin typeface="微软雅黑" pitchFamily="34" charset="-122"/>
                  <a:ea typeface="微软雅黑" pitchFamily="34" charset="-122"/>
                </a:rPr>
                <a:t>之差</a:t>
              </a:r>
              <a:r>
                <a:rPr lang="zh-CN" altLang="en-US" b="1" dirty="0">
                  <a:solidFill>
                    <a:schemeClr val="bg1"/>
                  </a:solidFill>
                  <a:latin typeface="微软雅黑" pitchFamily="34" charset="-122"/>
                  <a:ea typeface="微软雅黑" pitchFamily="34" charset="-122"/>
                </a:rPr>
                <a:t>就是报文段的</a:t>
              </a:r>
              <a:r>
                <a:rPr lang="zh-CN" altLang="en-US" b="1" dirty="0">
                  <a:solidFill>
                    <a:srgbClr val="FFFF00"/>
                  </a:solidFill>
                  <a:latin typeface="微软雅黑" pitchFamily="34" charset="-122"/>
                  <a:ea typeface="微软雅黑" pitchFamily="34" charset="-122"/>
                </a:rPr>
                <a:t>往返时间 </a:t>
              </a:r>
              <a:r>
                <a:rPr lang="en-US" altLang="zh-CN" b="1" dirty="0">
                  <a:solidFill>
                    <a:srgbClr val="FFFF00"/>
                  </a:solidFill>
                  <a:latin typeface="微软雅黑" pitchFamily="34" charset="-122"/>
                  <a:ea typeface="微软雅黑" pitchFamily="34" charset="-122"/>
                </a:rPr>
                <a:t>RTT</a:t>
              </a:r>
              <a:r>
                <a:rPr lang="zh-CN" altLang="en-US" b="1" dirty="0">
                  <a:solidFill>
                    <a:srgbClr val="FFFF00"/>
                  </a:solidFill>
                  <a:latin typeface="微软雅黑" pitchFamily="34" charset="-122"/>
                  <a:ea typeface="微软雅黑" pitchFamily="34" charset="-122"/>
                </a:rPr>
                <a:t>。</a:t>
              </a:r>
            </a:p>
          </p:txBody>
        </p:sp>
      </p:grpSp>
      <p:sp>
        <p:nvSpPr>
          <p:cNvPr id="9" name="内容占位符 8">
            <a:extLst>
              <a:ext uri="{FF2B5EF4-FFF2-40B4-BE49-F238E27FC236}">
                <a16:creationId xmlns:a16="http://schemas.microsoft.com/office/drawing/2014/main" id="{6F92E391-1B54-11DD-1FF9-F7F35610E3EE}"/>
              </a:ext>
            </a:extLst>
          </p:cNvPr>
          <p:cNvSpPr>
            <a:spLocks noGrp="1"/>
          </p:cNvSpPr>
          <p:nvPr>
            <p:ph sz="quarter" idx="11"/>
          </p:nvPr>
        </p:nvSpPr>
        <p:spPr>
          <a:xfrm>
            <a:off x="486000" y="482554"/>
            <a:ext cx="8172000" cy="4120946"/>
          </a:xfrm>
        </p:spPr>
        <p:txBody>
          <a:bodyPr/>
          <a:lstStyle/>
          <a:p>
            <a:r>
              <a:rPr lang="zh-CN" altLang="en-US" dirty="0"/>
              <a:t>不能太短，否则会引起很多报文段的不必要的重传，使网络负荷增大。</a:t>
            </a:r>
          </a:p>
          <a:p>
            <a:r>
              <a:rPr lang="zh-CN" altLang="en-US" dirty="0"/>
              <a:t>不能过长，会使网络的空闲时间增大，降低了传输效率。</a:t>
            </a:r>
          </a:p>
          <a:p>
            <a:endParaRPr lang="zh-CN" altLang="en-US" dirty="0"/>
          </a:p>
        </p:txBody>
      </p:sp>
      <p:sp>
        <p:nvSpPr>
          <p:cNvPr id="5" name="标题 4">
            <a:extLst>
              <a:ext uri="{FF2B5EF4-FFF2-40B4-BE49-F238E27FC236}">
                <a16:creationId xmlns:a16="http://schemas.microsoft.com/office/drawing/2014/main" id="{002A410D-7657-D2C2-1447-4F6525EC4149}"/>
              </a:ext>
            </a:extLst>
          </p:cNvPr>
          <p:cNvSpPr>
            <a:spLocks noGrp="1"/>
          </p:cNvSpPr>
          <p:nvPr>
            <p:ph type="title"/>
          </p:nvPr>
        </p:nvSpPr>
        <p:spPr>
          <a:xfrm>
            <a:off x="2808000" y="144000"/>
            <a:ext cx="3528000" cy="338554"/>
          </a:xfrm>
        </p:spPr>
        <p:txBody>
          <a:bodyPr/>
          <a:lstStyle/>
          <a:p>
            <a:r>
              <a:rPr lang="en-US" altLang="zh-CN" dirty="0"/>
              <a:t>TCP </a:t>
            </a:r>
            <a:r>
              <a:rPr lang="zh-CN" altLang="en-US" dirty="0"/>
              <a:t>超时重传时间设置</a:t>
            </a:r>
          </a:p>
        </p:txBody>
      </p:sp>
    </p:spTree>
    <p:extLst>
      <p:ext uri="{BB962C8B-B14F-4D97-AF65-F5344CB8AC3E}">
        <p14:creationId xmlns:p14="http://schemas.microsoft.com/office/powerpoint/2010/main" val="15035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8"/>
          <p:cNvSpPr>
            <a:spLocks noChangeArrowheads="1"/>
          </p:cNvSpPr>
          <p:nvPr/>
        </p:nvSpPr>
        <p:spPr bwMode="auto">
          <a:xfrm>
            <a:off x="556963" y="979682"/>
            <a:ext cx="8184960" cy="4069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a:t>
            </a:r>
            <a:r>
              <a:rPr lang="zh-CN" altLang="en-US" b="1" dirty="0">
                <a:latin typeface="微软雅黑" pitchFamily="34" charset="-122"/>
                <a:ea typeface="微软雅黑" pitchFamily="34" charset="-122"/>
              </a:rPr>
              <a:t> 又称为</a:t>
            </a:r>
            <a:r>
              <a:rPr lang="zh-CN" altLang="en-US" b="1" dirty="0">
                <a:solidFill>
                  <a:srgbClr val="C00000"/>
                </a:solidFill>
                <a:latin typeface="微软雅黑" pitchFamily="34" charset="-122"/>
                <a:ea typeface="微软雅黑" pitchFamily="34" charset="-122"/>
              </a:rPr>
              <a:t>平滑的往返时间。</a:t>
            </a:r>
          </a:p>
        </p:txBody>
      </p:sp>
      <p:sp>
        <p:nvSpPr>
          <p:cNvPr id="8" name="Rectangle 4"/>
          <p:cNvSpPr>
            <a:spLocks noChangeArrowheads="1"/>
          </p:cNvSpPr>
          <p:nvPr/>
        </p:nvSpPr>
        <p:spPr bwMode="auto">
          <a:xfrm>
            <a:off x="794338" y="1479174"/>
            <a:ext cx="7574025" cy="599077"/>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 </a:t>
            </a:r>
            <a:r>
              <a:rPr lang="en-US" altLang="zh-CN" b="1" dirty="0">
                <a:solidFill>
                  <a:schemeClr val="dk1"/>
                </a:solidFill>
                <a:latin typeface="微软雅黑" pitchFamily="34" charset="-122"/>
                <a:ea typeface="微软雅黑" pitchFamily="34" charset="-122"/>
              </a:rPr>
              <a:t> (1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旧的</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en-US" altLang="zh-CN" b="1" dirty="0">
                <a:solidFill>
                  <a:schemeClr val="dk1"/>
                </a:solidFill>
                <a:latin typeface="微软雅黑" pitchFamily="34" charset="-122"/>
                <a:ea typeface="微软雅黑" pitchFamily="34" charset="-122"/>
                <a:sym typeface="Symbol"/>
              </a:rPr>
              <a:t></a:t>
            </a:r>
            <a:r>
              <a:rPr lang="en-US" altLang="zh-CN" b="1" dirty="0">
                <a:solidFill>
                  <a:schemeClr val="dk1"/>
                </a:solidFill>
                <a:latin typeface="微软雅黑" pitchFamily="34" charset="-122"/>
                <a:ea typeface="微软雅黑" pitchFamily="34" charset="-122"/>
              </a:rPr>
              <a:t> (</a:t>
            </a:r>
            <a:r>
              <a:rPr lang="zh-CN" altLang="zh-CN" b="1" dirty="0">
                <a:solidFill>
                  <a:schemeClr val="dk1"/>
                </a:solidFill>
                <a:latin typeface="微软雅黑" pitchFamily="34" charset="-122"/>
                <a:ea typeface="微软雅黑" pitchFamily="34" charset="-122"/>
              </a:rPr>
              <a:t>新的</a:t>
            </a:r>
            <a:r>
              <a:rPr lang="en-US" altLang="zh-CN" b="1" dirty="0">
                <a:solidFill>
                  <a:schemeClr val="dk1"/>
                </a:solidFill>
                <a:latin typeface="微软雅黑" pitchFamily="34" charset="-122"/>
                <a:ea typeface="微软雅黑" pitchFamily="34" charset="-122"/>
              </a:rPr>
              <a:t> RTT </a:t>
            </a:r>
            <a:r>
              <a:rPr lang="zh-CN" altLang="zh-CN" b="1" dirty="0">
                <a:solidFill>
                  <a:schemeClr val="dk1"/>
                </a:solidFill>
                <a:latin typeface="微软雅黑" pitchFamily="34" charset="-122"/>
                <a:ea typeface="微软雅黑" pitchFamily="34" charset="-122"/>
              </a:rPr>
              <a:t>样本</a:t>
            </a:r>
            <a:r>
              <a:rPr lang="en-US" altLang="zh-CN" b="1" dirty="0">
                <a:solidFill>
                  <a:schemeClr val="dk1"/>
                </a:solidFill>
                <a:latin typeface="微软雅黑" pitchFamily="34" charset="-122"/>
                <a:ea typeface="微软雅黑" pitchFamily="34" charset="-122"/>
              </a:rPr>
              <a:t>)       (5-4)</a:t>
            </a:r>
          </a:p>
        </p:txBody>
      </p:sp>
      <mc:AlternateContent xmlns:mc="http://schemas.openxmlformats.org/markup-compatibility/2006" xmlns:a14="http://schemas.microsoft.com/office/drawing/2010/main">
        <mc:Choice Requires="a14">
          <p:sp>
            <p:nvSpPr>
              <p:cNvPr id="2" name="矩形 1"/>
              <p:cNvSpPr/>
              <p:nvPr/>
            </p:nvSpPr>
            <p:spPr>
              <a:xfrm>
                <a:off x="1963271" y="2123076"/>
                <a:ext cx="4572000" cy="1528624"/>
              </a:xfrm>
              <a:prstGeom prst="rect">
                <a:avLst/>
              </a:prstGeom>
            </p:spPr>
            <p:txBody>
              <a:bodyPr>
                <a:spAutoFit/>
              </a:bodyPr>
              <a:lstStyle/>
              <a:p>
                <a:pPr>
                  <a:lnSpc>
                    <a:spcPts val="2800"/>
                  </a:lnSpc>
                </a:pPr>
                <a:r>
                  <a:rPr lang="zh-CN" altLang="en-US" b="1" dirty="0">
                    <a:latin typeface="微软雅黑" panose="020B0503020204020204" pitchFamily="34" charset="-122"/>
                    <a:ea typeface="微软雅黑" panose="020B0503020204020204" pitchFamily="34" charset="-122"/>
                  </a:rPr>
                  <a:t>其中，</a:t>
                </a:r>
                <a14:m>
                  <m:oMath xmlns:m="http://schemas.openxmlformats.org/officeDocument/2006/math">
                    <m:r>
                      <a:rPr lang="en-US" altLang="zh-CN" sz="2000" b="1" i="1" smtClean="0">
                        <a:latin typeface="Cambria Math" panose="02040503050406030204" pitchFamily="18" charset="0"/>
                        <a:ea typeface="微软雅黑" panose="020B0503020204020204" pitchFamily="34" charset="-122"/>
                      </a:rPr>
                      <m:t>𝟎</m:t>
                    </m:r>
                    <m:r>
                      <a:rPr lang="en-US" altLang="zh-CN" sz="2000" b="1" i="1" smtClean="0">
                        <a:latin typeface="Cambria Math" panose="02040503050406030204" pitchFamily="18" charset="0"/>
                        <a:ea typeface="Cambria Math" panose="02040503050406030204" pitchFamily="18" charset="0"/>
                      </a:rPr>
                      <m:t>≤</m:t>
                    </m:r>
                    <m:r>
                      <a:rPr lang="zh-CN" altLang="en-US" sz="2000" b="1" i="1" smtClean="0">
                        <a:latin typeface="Cambria Math" panose="02040503050406030204" pitchFamily="18" charset="0"/>
                        <a:ea typeface="Cambria Math" panose="02040503050406030204" pitchFamily="18" charset="0"/>
                      </a:rPr>
                      <m:t>𝜶</m:t>
                    </m:r>
                    <m:r>
                      <a:rPr lang="en-US" altLang="zh-CN" sz="2000" b="1" i="1" smtClean="0">
                        <a:latin typeface="Cambria Math" panose="02040503050406030204" pitchFamily="18" charset="0"/>
                        <a:ea typeface="Cambria Math" panose="02040503050406030204" pitchFamily="18" charset="0"/>
                      </a:rPr>
                      <m:t>&lt;</m:t>
                    </m:r>
                    <m:r>
                      <a:rPr lang="en-US" altLang="zh-CN" sz="2000" b="1" i="1" smtClean="0">
                        <a:latin typeface="Cambria Math" panose="02040503050406030204" pitchFamily="18" charset="0"/>
                        <a:ea typeface="Cambria Math" panose="02040503050406030204" pitchFamily="18" charset="0"/>
                      </a:rPr>
                      <m:t>𝟏</m:t>
                    </m:r>
                    <m:r>
                      <a:rPr lang="en-US" altLang="zh-CN" sz="2000" b="1" i="0" smtClean="0">
                        <a:latin typeface="Cambria Math" panose="02040503050406030204" pitchFamily="18" charset="0"/>
                        <a:ea typeface="Cambria Math" panose="02040503050406030204" pitchFamily="18" charset="0"/>
                      </a:rPr>
                      <m:t> </m:t>
                    </m:r>
                    <m:r>
                      <a:rPr lang="zh-CN" altLang="en-US" sz="2000" b="1" i="1">
                        <a:latin typeface="Cambria Math" panose="02040503050406030204" pitchFamily="18" charset="0"/>
                        <a:ea typeface="Cambria Math" panose="02040503050406030204" pitchFamily="18" charset="0"/>
                      </a:rPr>
                      <m:t>。</m:t>
                    </m:r>
                  </m:oMath>
                </a14:m>
                <a:endParaRPr lang="zh-CN" altLang="en-US" sz="2000" b="1" dirty="0">
                  <a:latin typeface="微软雅黑" panose="020B0503020204020204" pitchFamily="34" charset="-122"/>
                  <a:ea typeface="微软雅黑" panose="020B0503020204020204" pitchFamily="34" charset="-122"/>
                </a:endParaRPr>
              </a:p>
              <a:p>
                <a:pPr>
                  <a:lnSpc>
                    <a:spcPts val="2800"/>
                  </a:lnSpc>
                </a:pPr>
                <a:r>
                  <a:rPr lang="zh-CN" altLang="en-US" b="1" dirty="0">
                    <a:latin typeface="微软雅黑" panose="020B0503020204020204" pitchFamily="34" charset="-122"/>
                    <a:ea typeface="微软雅黑" panose="020B0503020204020204" pitchFamily="34" charset="-122"/>
                  </a:rPr>
                  <a:t>若 </a:t>
                </a:r>
                <a14:m>
                  <m:oMath xmlns:m="http://schemas.openxmlformats.org/officeDocument/2006/math">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𝟎</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值更新较慢。</a:t>
                </a:r>
              </a:p>
              <a:p>
                <a:pPr>
                  <a:lnSpc>
                    <a:spcPts val="2800"/>
                  </a:lnSpc>
                </a:pPr>
                <a:r>
                  <a:rPr lang="zh-CN" altLang="en-US" b="1" dirty="0">
                    <a:latin typeface="微软雅黑" panose="020B0503020204020204" pitchFamily="34" charset="-122"/>
                    <a:ea typeface="微软雅黑" panose="020B0503020204020204" pitchFamily="34" charset="-122"/>
                  </a:rPr>
                  <a:t>若</a:t>
                </a:r>
                <a14:m>
                  <m:oMath xmlns:m="http://schemas.openxmlformats.org/officeDocument/2006/math">
                    <m:r>
                      <a:rPr lang="en-US" altLang="zh-CN" b="1" i="0" smtClean="0">
                        <a:latin typeface="Cambria Math" panose="02040503050406030204" pitchFamily="18" charset="0"/>
                        <a:ea typeface="微软雅黑" panose="020B0503020204020204" pitchFamily="34" charset="-122"/>
                      </a:rPr>
                      <m:t> </m:t>
                    </m:r>
                    <m:r>
                      <a:rPr lang="zh-CN" altLang="en-US" b="1" i="1" smtClean="0">
                        <a:latin typeface="Cambria Math" panose="02040503050406030204" pitchFamily="18" charset="0"/>
                        <a:ea typeface="微软雅黑" panose="020B0503020204020204" pitchFamily="34" charset="-122"/>
                      </a:rPr>
                      <m:t>𝛂</m:t>
                    </m:r>
                    <m:r>
                      <a:rPr lang="zh-CN" altLang="en-US" b="1" i="1" smtClean="0">
                        <a:latin typeface="Cambria Math" panose="02040503050406030204" pitchFamily="18" charset="0"/>
                        <a:ea typeface="微软雅黑" panose="020B0503020204020204" pitchFamily="34" charset="-122"/>
                      </a:rPr>
                      <m:t>→</m:t>
                    </m:r>
                    <m:r>
                      <a:rPr lang="en-US" altLang="zh-CN" b="1" i="1" smtClean="0">
                        <a:latin typeface="Cambria Math" panose="02040503050406030204" pitchFamily="18" charset="0"/>
                        <a:ea typeface="微软雅黑" panose="020B0503020204020204" pitchFamily="34" charset="-122"/>
                      </a:rPr>
                      <m:t>𝟏</m:t>
                    </m:r>
                  </m:oMath>
                </a14:m>
                <a:r>
                  <a:rPr lang="zh-CN" altLang="en-US" b="1" dirty="0">
                    <a:latin typeface="微软雅黑" panose="020B0503020204020204" pitchFamily="34" charset="-122"/>
                    <a:ea typeface="微软雅黑" panose="020B0503020204020204" pitchFamily="34" charset="-122"/>
                  </a:rPr>
                  <a:t>，表示 </a:t>
                </a:r>
                <a:r>
                  <a:rPr lang="en-US" altLang="zh-CN" b="1" dirty="0">
                    <a:latin typeface="微软雅黑" panose="020B0503020204020204" pitchFamily="34" charset="-122"/>
                    <a:ea typeface="微软雅黑" panose="020B0503020204020204" pitchFamily="34" charset="-122"/>
                  </a:rPr>
                  <a:t>RTT </a:t>
                </a:r>
                <a:r>
                  <a:rPr lang="zh-CN" altLang="en-US" b="1" dirty="0">
                    <a:latin typeface="微软雅黑" panose="020B0503020204020204" pitchFamily="34" charset="-122"/>
                    <a:ea typeface="微软雅黑" panose="020B0503020204020204" pitchFamily="34" charset="-122"/>
                  </a:rPr>
                  <a:t>值更新较快。</a:t>
                </a:r>
              </a:p>
              <a:p>
                <a:pPr>
                  <a:lnSpc>
                    <a:spcPts val="2800"/>
                  </a:lnSpc>
                </a:pPr>
                <a:r>
                  <a:rPr lang="en-US" altLang="zh-CN" b="1" dirty="0">
                    <a:latin typeface="微软雅黑" panose="020B0503020204020204" pitchFamily="34" charset="-122"/>
                    <a:ea typeface="微软雅黑" panose="020B0503020204020204" pitchFamily="34" charset="-122"/>
                  </a:rPr>
                  <a:t>RFC 6298 </a:t>
                </a:r>
                <a:r>
                  <a:rPr lang="zh-CN" altLang="en-US" b="1" dirty="0">
                    <a:latin typeface="微软雅黑" panose="020B0503020204020204" pitchFamily="34" charset="-122"/>
                    <a:ea typeface="微软雅黑" panose="020B0503020204020204" pitchFamily="34" charset="-122"/>
                  </a:rPr>
                  <a:t>推荐的 </a:t>
                </a:r>
                <a:r>
                  <a:rPr lang="en-US" altLang="zh-CN" b="1" dirty="0">
                    <a:solidFill>
                      <a:schemeClr val="dk1"/>
                    </a:solidFill>
                    <a:latin typeface="微软雅黑" pitchFamily="34" charset="-122"/>
                    <a:ea typeface="微软雅黑" pitchFamily="34" charset="-122"/>
                    <a:sym typeface="Symbol"/>
                  </a:rPr>
                  <a:t> </a:t>
                </a:r>
                <a:r>
                  <a:rPr lang="zh-CN" altLang="en-US" b="1" dirty="0">
                    <a:latin typeface="微软雅黑" panose="020B0503020204020204" pitchFamily="34" charset="-122"/>
                    <a:ea typeface="微软雅黑" panose="020B0503020204020204" pitchFamily="34" charset="-122"/>
                  </a:rPr>
                  <a:t>值为 </a:t>
                </a:r>
                <a:r>
                  <a:rPr lang="en-US" altLang="zh-CN" b="1" dirty="0">
                    <a:latin typeface="微软雅黑" panose="020B0503020204020204" pitchFamily="34" charset="-122"/>
                    <a:ea typeface="微软雅黑" panose="020B0503020204020204" pitchFamily="34" charset="-122"/>
                  </a:rPr>
                  <a:t>1/8</a:t>
                </a:r>
                <a:r>
                  <a:rPr lang="zh-CN" altLang="en-US" b="1" dirty="0">
                    <a:latin typeface="微软雅黑" panose="020B0503020204020204" pitchFamily="34" charset="-122"/>
                    <a:ea typeface="微软雅黑" panose="020B0503020204020204" pitchFamily="34" charset="-122"/>
                  </a:rPr>
                  <a:t>，即 </a:t>
                </a:r>
                <a:r>
                  <a:rPr lang="en-US" altLang="zh-CN" b="1" dirty="0">
                    <a:latin typeface="微软雅黑" panose="020B0503020204020204" pitchFamily="34" charset="-122"/>
                    <a:ea typeface="微软雅黑" panose="020B0503020204020204" pitchFamily="34" charset="-122"/>
                  </a:rPr>
                  <a:t>0.125</a:t>
                </a:r>
                <a:r>
                  <a:rPr lang="zh-CN" altLang="en-US" b="1" dirty="0">
                    <a:latin typeface="微软雅黑" panose="020B0503020204020204" pitchFamily="34" charset="-122"/>
                    <a:ea typeface="微软雅黑" panose="020B0503020204020204" pitchFamily="34" charset="-122"/>
                  </a:rPr>
                  <a:t>。 </a:t>
                </a:r>
              </a:p>
            </p:txBody>
          </p:sp>
        </mc:Choice>
        <mc:Fallback xmlns="">
          <p:sp>
            <p:nvSpPr>
              <p:cNvPr id="2" name="矩形 1"/>
              <p:cNvSpPr>
                <a:spLocks noRot="1" noChangeAspect="1" noMove="1" noResize="1" noEditPoints="1" noAdjustHandles="1" noChangeArrowheads="1" noChangeShapeType="1" noTextEdit="1"/>
              </p:cNvSpPr>
              <p:nvPr/>
            </p:nvSpPr>
            <p:spPr>
              <a:xfrm>
                <a:off x="1963271" y="2123076"/>
                <a:ext cx="4572000" cy="1528624"/>
              </a:xfrm>
              <a:prstGeom prst="rect">
                <a:avLst/>
              </a:prstGeom>
              <a:blipFill>
                <a:blip r:embed="rId2"/>
                <a:stretch>
                  <a:fillRect l="-1067" r="-1733" b="-3187"/>
                </a:stretch>
              </a:blipFill>
            </p:spPr>
            <p:txBody>
              <a:bodyPr/>
              <a:lstStyle/>
              <a:p>
                <a:r>
                  <a:rPr lang="zh-CN" altLang="en-US">
                    <a:noFill/>
                  </a:rPr>
                  <a:t> </a:t>
                </a:r>
              </a:p>
            </p:txBody>
          </p:sp>
        </mc:Fallback>
      </mc:AlternateContent>
      <p:sp>
        <p:nvSpPr>
          <p:cNvPr id="9" name="标题 8">
            <a:extLst>
              <a:ext uri="{FF2B5EF4-FFF2-40B4-BE49-F238E27FC236}">
                <a16:creationId xmlns:a16="http://schemas.microsoft.com/office/drawing/2014/main" id="{308799B6-8E84-A84B-D298-D04FC447EDD9}"/>
              </a:ext>
            </a:extLst>
          </p:cNvPr>
          <p:cNvSpPr>
            <a:spLocks noGrp="1"/>
          </p:cNvSpPr>
          <p:nvPr>
            <p:ph type="title"/>
          </p:nvPr>
        </p:nvSpPr>
        <p:spPr>
          <a:xfrm>
            <a:off x="2808000" y="144000"/>
            <a:ext cx="3528000" cy="338554"/>
          </a:xfrm>
        </p:spPr>
        <p:txBody>
          <a:bodyPr/>
          <a:lstStyle/>
          <a:p>
            <a:r>
              <a:rPr lang="zh-CN" altLang="en-US" dirty="0"/>
              <a:t>加权平均往返时间 </a:t>
            </a:r>
            <a:r>
              <a:rPr lang="en-US" altLang="zh-CN" dirty="0"/>
              <a:t>RTTS </a:t>
            </a:r>
            <a:endParaRPr lang="zh-CN" altLang="en-US" dirty="0"/>
          </a:p>
        </p:txBody>
      </p:sp>
    </p:spTree>
    <p:extLst>
      <p:ext uri="{BB962C8B-B14F-4D97-AF65-F5344CB8AC3E}">
        <p14:creationId xmlns:p14="http://schemas.microsoft.com/office/powerpoint/2010/main" val="31727522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68"/>
          <p:cNvSpPr>
            <a:spLocks noChangeArrowheads="1"/>
          </p:cNvSpPr>
          <p:nvPr/>
        </p:nvSpPr>
        <p:spPr bwMode="auto">
          <a:xfrm>
            <a:off x="556963" y="988643"/>
            <a:ext cx="8184960" cy="27853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RTO (Retransmission Time-Out) </a:t>
            </a:r>
            <a:r>
              <a:rPr lang="zh-CN" altLang="en-US" b="1" dirty="0">
                <a:latin typeface="微软雅黑" pitchFamily="34" charset="-122"/>
                <a:ea typeface="微软雅黑" pitchFamily="34" charset="-122"/>
              </a:rPr>
              <a:t>应</a:t>
            </a:r>
            <a:r>
              <a:rPr lang="zh-CN" altLang="en-US" b="1" dirty="0">
                <a:solidFill>
                  <a:srgbClr val="C00000"/>
                </a:solidFill>
                <a:latin typeface="微软雅黑" pitchFamily="34" charset="-122"/>
                <a:ea typeface="微软雅黑" pitchFamily="34" charset="-122"/>
              </a:rPr>
              <a:t>略大于</a:t>
            </a:r>
            <a:r>
              <a:rPr lang="zh-CN" altLang="en-US" b="1" dirty="0">
                <a:latin typeface="微软雅黑" pitchFamily="34" charset="-122"/>
                <a:ea typeface="微软雅黑" pitchFamily="34" charset="-122"/>
              </a:rPr>
              <a:t>加权平均往返时间 </a:t>
            </a:r>
            <a:r>
              <a:rPr lang="en-US" altLang="zh-CN" b="1" dirty="0">
                <a:latin typeface="微软雅黑" pitchFamily="34" charset="-122"/>
                <a:ea typeface="微软雅黑" pitchFamily="34" charset="-122"/>
              </a:rPr>
              <a:t>RTT</a:t>
            </a:r>
            <a:r>
              <a:rPr lang="en-US" altLang="zh-CN" b="1" baseline="-25000" dirty="0">
                <a:latin typeface="微软雅黑" pitchFamily="34" charset="-122"/>
                <a:ea typeface="微软雅黑" pitchFamily="34" charset="-122"/>
              </a:rPr>
              <a:t>S </a:t>
            </a:r>
            <a:r>
              <a:rPr lang="zh-CN" altLang="en-US"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RTO</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其中：</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是 </a:t>
            </a:r>
            <a:r>
              <a:rPr lang="en-US" altLang="zh-CN" sz="1600" b="1" dirty="0">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偏差的加权平均值。</a:t>
            </a:r>
          </a:p>
          <a:p>
            <a:pPr marL="342900" indent="-342900">
              <a:lnSpc>
                <a:spcPts val="3000"/>
              </a:lnSpc>
              <a:buClr>
                <a:srgbClr val="0070C0"/>
              </a:buClr>
              <a:buFont typeface="Wingdings" pitchFamily="2" charset="2"/>
              <a:buChar char="l"/>
            </a:pPr>
            <a:r>
              <a:rPr lang="en-US" altLang="zh-CN" b="1" dirty="0">
                <a:latin typeface="微软雅黑" pitchFamily="34" charset="-122"/>
                <a:ea typeface="微软雅黑" pitchFamily="34" charset="-122"/>
              </a:rPr>
              <a:t>RFC 6298 </a:t>
            </a:r>
            <a:r>
              <a:rPr lang="zh-CN" altLang="en-US" b="1" dirty="0">
                <a:latin typeface="微软雅黑" pitchFamily="34" charset="-122"/>
                <a:ea typeface="微软雅黑" pitchFamily="34" charset="-122"/>
              </a:rPr>
              <a:t>建议 </a:t>
            </a:r>
            <a:r>
              <a:rPr lang="en-US" altLang="zh-CN" b="1" dirty="0">
                <a:solidFill>
                  <a:srgbClr val="C00000"/>
                </a:solidFill>
                <a:latin typeface="微软雅黑" pitchFamily="34" charset="-122"/>
                <a:ea typeface="微软雅黑" pitchFamily="34" charset="-122"/>
              </a:rPr>
              <a:t>RTT</a:t>
            </a:r>
            <a:r>
              <a:rPr lang="en-US" altLang="zh-CN" b="1" baseline="-25000" dirty="0">
                <a:solidFill>
                  <a:srgbClr val="C00000"/>
                </a:solidFill>
                <a:latin typeface="微软雅黑" pitchFamily="34" charset="-122"/>
                <a:ea typeface="微软雅黑" pitchFamily="34" charset="-122"/>
              </a:rPr>
              <a:t>D</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zh-CN" altLang="en-US" b="1" dirty="0">
              <a:latin typeface="微软雅黑" pitchFamily="34" charset="-122"/>
              <a:ea typeface="微软雅黑" pitchFamily="34" charset="-122"/>
            </a:endParaRPr>
          </a:p>
          <a:p>
            <a:pPr>
              <a:lnSpc>
                <a:spcPts val="3000"/>
              </a:lnSpc>
              <a:buClr>
                <a:srgbClr val="0070C0"/>
              </a:buClr>
            </a:pPr>
            <a:r>
              <a:rPr lang="en-US" altLang="zh-CN"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sym typeface="Symbol" pitchFamily="18" charset="2"/>
              </a:rPr>
              <a:t>其中：</a:t>
            </a:r>
            <a:r>
              <a:rPr lang="en-US" altLang="zh-CN" sz="1600" b="1" dirty="0">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是个小于 </a:t>
            </a:r>
            <a:r>
              <a:rPr lang="en-US" altLang="zh-CN" sz="1600" b="1" dirty="0">
                <a:latin typeface="微软雅黑" pitchFamily="34" charset="-122"/>
                <a:ea typeface="微软雅黑" pitchFamily="34" charset="-122"/>
              </a:rPr>
              <a:t>1 </a:t>
            </a:r>
            <a:r>
              <a:rPr lang="zh-CN" altLang="en-US" sz="1600" b="1" dirty="0">
                <a:latin typeface="微软雅黑" pitchFamily="34" charset="-122"/>
                <a:ea typeface="微软雅黑" pitchFamily="34" charset="-122"/>
              </a:rPr>
              <a:t>的系数，其推荐值是 </a:t>
            </a:r>
            <a:r>
              <a:rPr lang="en-US" altLang="zh-CN" sz="1600" b="1" dirty="0">
                <a:latin typeface="微软雅黑" pitchFamily="34" charset="-122"/>
                <a:ea typeface="微软雅黑" pitchFamily="34" charset="-122"/>
              </a:rPr>
              <a:t>1/4</a:t>
            </a:r>
            <a:r>
              <a:rPr lang="zh-CN" altLang="en-US" sz="1600" b="1" dirty="0">
                <a:latin typeface="微软雅黑" pitchFamily="34" charset="-122"/>
                <a:ea typeface="微软雅黑" pitchFamily="34" charset="-122"/>
              </a:rPr>
              <a:t>，即 </a:t>
            </a:r>
            <a:r>
              <a:rPr lang="en-US" altLang="zh-CN" sz="1600" b="1" dirty="0">
                <a:latin typeface="微软雅黑" pitchFamily="34" charset="-122"/>
                <a:ea typeface="微软雅黑" pitchFamily="34" charset="-122"/>
              </a:rPr>
              <a:t>0.25</a:t>
            </a:r>
            <a:r>
              <a:rPr lang="zh-CN" altLang="en-US" sz="1600" b="1" dirty="0">
                <a:latin typeface="微软雅黑" pitchFamily="34" charset="-122"/>
                <a:ea typeface="微软雅黑" pitchFamily="34" charset="-122"/>
              </a:rPr>
              <a:t>。</a:t>
            </a:r>
          </a:p>
        </p:txBody>
      </p:sp>
      <p:sp>
        <p:nvSpPr>
          <p:cNvPr id="15" name="矩形 14"/>
          <p:cNvSpPr/>
          <p:nvPr/>
        </p:nvSpPr>
        <p:spPr>
          <a:xfrm>
            <a:off x="1005840" y="1810030"/>
            <a:ext cx="7408818" cy="369332"/>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en-US" altLang="zh-CN" b="1" dirty="0">
                <a:solidFill>
                  <a:schemeClr val="dk1"/>
                </a:solidFill>
                <a:latin typeface="微软雅黑" pitchFamily="34" charset="-122"/>
                <a:ea typeface="微软雅黑" pitchFamily="34" charset="-122"/>
              </a:rPr>
              <a:t>RTO = RTT</a:t>
            </a:r>
            <a:r>
              <a:rPr lang="en-US" altLang="zh-CN" b="1" baseline="-25000" dirty="0">
                <a:solidFill>
                  <a:schemeClr val="dk1"/>
                </a:solidFill>
                <a:latin typeface="微软雅黑" pitchFamily="34" charset="-122"/>
                <a:ea typeface="微软雅黑" pitchFamily="34" charset="-122"/>
              </a:rPr>
              <a:t>S</a:t>
            </a:r>
            <a:r>
              <a:rPr lang="en-US" altLang="zh-CN" b="1" dirty="0">
                <a:solidFill>
                  <a:schemeClr val="dk1"/>
                </a:solidFill>
                <a:latin typeface="微软雅黑" pitchFamily="34" charset="-122"/>
                <a:ea typeface="微软雅黑" pitchFamily="34" charset="-122"/>
              </a:rPr>
              <a:t> + 4 </a:t>
            </a:r>
            <a:r>
              <a:rPr lang="en-US" altLang="zh-CN" dirty="0">
                <a:solidFill>
                  <a:schemeClr val="tx1"/>
                </a:solidFill>
                <a:latin typeface="微软雅黑" pitchFamily="34" charset="-122"/>
                <a:ea typeface="微软雅黑" pitchFamily="34" charset="-122"/>
                <a:sym typeface="Symbol" pitchFamily="18" charset="2"/>
              </a:rPr>
              <a:t></a:t>
            </a:r>
            <a:r>
              <a:rPr lang="en-US" altLang="zh-CN" b="1" dirty="0">
                <a:solidFill>
                  <a:schemeClr val="dk1"/>
                </a:solidFill>
                <a:latin typeface="微软雅黑" pitchFamily="34" charset="-122"/>
                <a:ea typeface="微软雅黑" pitchFamily="34" charset="-122"/>
              </a:rPr>
              <a:t> RTT</a:t>
            </a:r>
            <a:r>
              <a:rPr lang="en-US" altLang="zh-CN" b="1" baseline="-25000" dirty="0">
                <a:solidFill>
                  <a:schemeClr val="dk1"/>
                </a:solidFill>
                <a:latin typeface="微软雅黑" pitchFamily="34" charset="-122"/>
                <a:ea typeface="微软雅黑" pitchFamily="34" charset="-122"/>
              </a:rPr>
              <a:t>D</a:t>
            </a:r>
            <a:r>
              <a:rPr lang="en-US" altLang="zh-CN" b="1" dirty="0">
                <a:solidFill>
                  <a:schemeClr val="dk1"/>
                </a:solidFill>
                <a:latin typeface="微软雅黑" pitchFamily="34" charset="-122"/>
                <a:ea typeface="微软雅黑" pitchFamily="34" charset="-122"/>
              </a:rPr>
              <a:t> 					 (5-5)</a:t>
            </a:r>
          </a:p>
        </p:txBody>
      </p:sp>
      <p:sp>
        <p:nvSpPr>
          <p:cNvPr id="16" name="矩形 15"/>
          <p:cNvSpPr/>
          <p:nvPr/>
        </p:nvSpPr>
        <p:spPr>
          <a:xfrm>
            <a:off x="1005840" y="2952193"/>
            <a:ext cx="7408818" cy="382678"/>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a:t>
            </a:r>
            <a:r>
              <a:rPr lang="en-US" altLang="zh-CN" sz="1600" b="1" baseline="-25000" dirty="0">
                <a:latin typeface="微软雅黑" pitchFamily="34" charset="-122"/>
                <a:ea typeface="微软雅黑" pitchFamily="34" charset="-122"/>
              </a:rPr>
              <a:t>D</a:t>
            </a:r>
            <a:r>
              <a:rPr lang="en-US" altLang="zh-CN" sz="1600" b="1" dirty="0">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rPr>
              <a:t>= (1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 </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zh-CN" altLang="en-US" sz="1600" b="1" dirty="0">
                <a:solidFill>
                  <a:schemeClr val="tx1"/>
                </a:solidFill>
                <a:latin typeface="微软雅黑" pitchFamily="34" charset="-122"/>
                <a:ea typeface="微软雅黑" pitchFamily="34" charset="-122"/>
              </a:rPr>
              <a:t>旧的 </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D</a:t>
            </a:r>
            <a:r>
              <a:rPr lang="en-US" altLang="zh-CN" sz="1600" b="1" dirty="0">
                <a:solidFill>
                  <a:schemeClr val="tx1"/>
                </a:solidFill>
                <a:latin typeface="微软雅黑" pitchFamily="34" charset="-122"/>
                <a:ea typeface="微软雅黑" pitchFamily="34" charset="-122"/>
              </a:rPr>
              <a:t>)  +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solidFill>
                  <a:schemeClr val="tx1"/>
                </a:solidFill>
                <a:latin typeface="微软雅黑" pitchFamily="34" charset="-122"/>
                <a:ea typeface="微软雅黑" pitchFamily="34" charset="-122"/>
              </a:rPr>
              <a:t>RTT</a:t>
            </a:r>
            <a:r>
              <a:rPr lang="en-US" altLang="zh-CN" sz="1600" b="1" baseline="-25000" dirty="0">
                <a:solidFill>
                  <a:schemeClr val="tx1"/>
                </a:solidFill>
                <a:latin typeface="微软雅黑" pitchFamily="34" charset="-122"/>
                <a:ea typeface="微软雅黑" pitchFamily="34" charset="-122"/>
              </a:rPr>
              <a:t>S</a:t>
            </a:r>
            <a:r>
              <a:rPr lang="en-US" altLang="zh-CN" sz="1600" b="1" dirty="0">
                <a:solidFill>
                  <a:schemeClr val="tx1"/>
                </a:solidFill>
                <a:latin typeface="微软雅黑" pitchFamily="34" charset="-122"/>
                <a:ea typeface="微软雅黑" pitchFamily="34" charset="-122"/>
              </a:rPr>
              <a:t> </a:t>
            </a:r>
            <a:r>
              <a:rPr lang="en-US" altLang="zh-CN" sz="1600" b="1" dirty="0">
                <a:solidFill>
                  <a:schemeClr val="tx1"/>
                </a:solidFill>
                <a:latin typeface="微软雅黑" pitchFamily="34" charset="-122"/>
                <a:ea typeface="微软雅黑" pitchFamily="34" charset="-122"/>
                <a:sym typeface="Symbol" pitchFamily="18" charset="2"/>
              </a:rPr>
              <a:t></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新的 </a:t>
            </a:r>
            <a:r>
              <a:rPr lang="en-US" altLang="zh-CN" sz="1600" b="1" dirty="0">
                <a:latin typeface="微软雅黑" pitchFamily="34" charset="-122"/>
                <a:ea typeface="微软雅黑" pitchFamily="34" charset="-122"/>
              </a:rPr>
              <a:t>RTT </a:t>
            </a:r>
            <a:r>
              <a:rPr lang="zh-CN" altLang="en-US" sz="1600" b="1" dirty="0">
                <a:latin typeface="微软雅黑" pitchFamily="34" charset="-122"/>
                <a:ea typeface="微软雅黑" pitchFamily="34" charset="-122"/>
              </a:rPr>
              <a:t>样本</a:t>
            </a:r>
            <a:r>
              <a:rPr lang="en-US" altLang="zh-CN" sz="1600" b="1" dirty="0">
                <a:solidFill>
                  <a:schemeClr val="tx1"/>
                </a:solidFill>
                <a:latin typeface="微软雅黑" pitchFamily="34" charset="-122"/>
                <a:ea typeface="微软雅黑" pitchFamily="34" charset="-122"/>
                <a:sym typeface="Symbol" pitchFamily="18" charset="2"/>
              </a:rPr>
              <a:t> </a:t>
            </a:r>
            <a:r>
              <a:rPr lang="zh-CN" altLang="en-US" sz="1600" b="1" dirty="0">
                <a:latin typeface="微软雅黑" pitchFamily="34" charset="-122"/>
                <a:ea typeface="微软雅黑" pitchFamily="34" charset="-122"/>
              </a:rPr>
              <a:t>  </a:t>
            </a:r>
            <a:r>
              <a:rPr lang="en-US" altLang="zh-CN" b="1" dirty="0">
                <a:latin typeface="微软雅黑" pitchFamily="34" charset="-122"/>
                <a:ea typeface="微软雅黑" pitchFamily="34" charset="-122"/>
              </a:rPr>
              <a:t>(5-6)</a:t>
            </a:r>
            <a:endParaRPr lang="en-US" altLang="zh-CN" sz="1600" b="1" dirty="0">
              <a:solidFill>
                <a:schemeClr val="dk1"/>
              </a:solidFill>
              <a:latin typeface="微软雅黑" pitchFamily="34" charset="-122"/>
              <a:ea typeface="微软雅黑" pitchFamily="34" charset="-122"/>
            </a:endParaRPr>
          </a:p>
        </p:txBody>
      </p:sp>
      <p:sp>
        <p:nvSpPr>
          <p:cNvPr id="4" name="标题 3">
            <a:extLst>
              <a:ext uri="{FF2B5EF4-FFF2-40B4-BE49-F238E27FC236}">
                <a16:creationId xmlns:a16="http://schemas.microsoft.com/office/drawing/2014/main" id="{26C3B486-8EE6-6C03-8A91-155FD159FBD8}"/>
              </a:ext>
            </a:extLst>
          </p:cNvPr>
          <p:cNvSpPr>
            <a:spLocks noGrp="1"/>
          </p:cNvSpPr>
          <p:nvPr>
            <p:ph type="title"/>
          </p:nvPr>
        </p:nvSpPr>
        <p:spPr>
          <a:xfrm>
            <a:off x="2808000" y="144000"/>
            <a:ext cx="3528000" cy="338554"/>
          </a:xfrm>
        </p:spPr>
        <p:txBody>
          <a:bodyPr/>
          <a:lstStyle/>
          <a:p>
            <a:r>
              <a:rPr lang="zh-CN" altLang="en-US" dirty="0"/>
              <a:t>超时重传时间 </a:t>
            </a:r>
            <a:r>
              <a:rPr lang="en-US" altLang="zh-CN" dirty="0"/>
              <a:t>RTO</a:t>
            </a:r>
            <a:endParaRPr lang="zh-CN" altLang="en-US" dirty="0"/>
          </a:p>
        </p:txBody>
      </p:sp>
    </p:spTree>
    <p:extLst>
      <p:ext uri="{BB962C8B-B14F-4D97-AF65-F5344CB8AC3E}">
        <p14:creationId xmlns:p14="http://schemas.microsoft.com/office/powerpoint/2010/main" val="14952229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8"/>
          <p:cNvSpPr>
            <a:spLocks noChangeArrowheads="1"/>
          </p:cNvSpPr>
          <p:nvPr/>
        </p:nvSpPr>
        <p:spPr bwMode="auto">
          <a:xfrm>
            <a:off x="556963" y="989109"/>
            <a:ext cx="8184960" cy="7848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700"/>
              </a:lnSpc>
              <a:buClr>
                <a:srgbClr val="0070C0"/>
              </a:buClr>
              <a:buFont typeface="Wingdings" pitchFamily="2" charset="2"/>
              <a:buChar char="l"/>
            </a:pPr>
            <a:r>
              <a:rPr lang="zh-CN" altLang="en-US" sz="2000" b="1" dirty="0">
                <a:latin typeface="微软雅黑" pitchFamily="34" charset="-122"/>
                <a:ea typeface="微软雅黑" pitchFamily="34" charset="-122"/>
              </a:rPr>
              <a:t>超时重传报文段后，如何判定此确认报文段是对原来的报文段的确认，还是对重传报文段的确认？ </a:t>
            </a:r>
          </a:p>
        </p:txBody>
      </p:sp>
      <p:sp>
        <p:nvSpPr>
          <p:cNvPr id="10" name="Line 2"/>
          <p:cNvSpPr>
            <a:spLocks noChangeShapeType="1"/>
          </p:cNvSpPr>
          <p:nvPr/>
        </p:nvSpPr>
        <p:spPr bwMode="auto">
          <a:xfrm>
            <a:off x="3922783" y="3167077"/>
            <a:ext cx="2463212"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1" name="Text Box 3"/>
          <p:cNvSpPr txBox="1">
            <a:spLocks noChangeArrowheads="1"/>
          </p:cNvSpPr>
          <p:nvPr/>
        </p:nvSpPr>
        <p:spPr bwMode="auto">
          <a:xfrm>
            <a:off x="4639446" y="3023153"/>
            <a:ext cx="1146276" cy="276999"/>
          </a:xfrm>
          <a:prstGeom prst="rect">
            <a:avLst/>
          </a:prstGeom>
          <a:solidFill>
            <a:srgbClr val="FFC000"/>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12" name="Line 6"/>
          <p:cNvSpPr>
            <a:spLocks noChangeShapeType="1"/>
          </p:cNvSpPr>
          <p:nvPr/>
        </p:nvSpPr>
        <p:spPr bwMode="auto">
          <a:xfrm>
            <a:off x="1870293" y="2971832"/>
            <a:ext cx="5541947" cy="0"/>
          </a:xfrm>
          <a:prstGeom prst="line">
            <a:avLst/>
          </a:prstGeom>
          <a:noFill/>
          <a:ln w="28575">
            <a:solidFill>
              <a:srgbClr val="0033CC"/>
            </a:solidFill>
            <a:round/>
            <a:headEnd type="non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3" name="Line 7"/>
          <p:cNvSpPr>
            <a:spLocks noChangeShapeType="1"/>
          </p:cNvSpPr>
          <p:nvPr/>
        </p:nvSpPr>
        <p:spPr bwMode="auto">
          <a:xfrm rot="16200000">
            <a:off x="188664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4" name="Text Box 8"/>
          <p:cNvSpPr txBox="1">
            <a:spLocks noChangeArrowheads="1"/>
          </p:cNvSpPr>
          <p:nvPr/>
        </p:nvSpPr>
        <p:spPr bwMode="auto">
          <a:xfrm>
            <a:off x="1699605" y="2175492"/>
            <a:ext cx="800219"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发送一个</a:t>
            </a:r>
          </a:p>
          <a:p>
            <a:pPr algn="ctr"/>
            <a:r>
              <a:rPr kumimoji="1" lang="zh-CN" altLang="en-US" sz="1200" b="1" dirty="0">
                <a:latin typeface="微软雅黑" pitchFamily="34" charset="-122"/>
                <a:ea typeface="微软雅黑" pitchFamily="34" charset="-122"/>
              </a:rPr>
              <a:t>报文段</a:t>
            </a:r>
          </a:p>
        </p:txBody>
      </p:sp>
      <p:sp>
        <p:nvSpPr>
          <p:cNvPr id="15" name="Line 9"/>
          <p:cNvSpPr>
            <a:spLocks noChangeShapeType="1"/>
          </p:cNvSpPr>
          <p:nvPr/>
        </p:nvSpPr>
        <p:spPr bwMode="auto">
          <a:xfrm rot="16200000">
            <a:off x="3733219" y="2782268"/>
            <a:ext cx="379128" cy="0"/>
          </a:xfrm>
          <a:prstGeom prst="line">
            <a:avLst/>
          </a:prstGeom>
          <a:noFill/>
          <a:ln w="76200">
            <a:solidFill>
              <a:srgbClr val="0000FF"/>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6" name="Text Box 10"/>
          <p:cNvSpPr txBox="1">
            <a:spLocks noChangeArrowheads="1"/>
          </p:cNvSpPr>
          <p:nvPr/>
        </p:nvSpPr>
        <p:spPr bwMode="auto">
          <a:xfrm>
            <a:off x="3576113" y="2175492"/>
            <a:ext cx="6463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重传</a:t>
            </a:r>
          </a:p>
          <a:p>
            <a:pPr algn="ctr"/>
            <a:r>
              <a:rPr kumimoji="1" lang="zh-CN" altLang="en-US" sz="1200" b="1" dirty="0">
                <a:latin typeface="微软雅黑" pitchFamily="34" charset="-122"/>
                <a:ea typeface="微软雅黑" pitchFamily="34" charset="-122"/>
              </a:rPr>
              <a:t>报文段</a:t>
            </a:r>
          </a:p>
        </p:txBody>
      </p:sp>
      <p:sp>
        <p:nvSpPr>
          <p:cNvPr id="17" name="Line 11"/>
          <p:cNvSpPr>
            <a:spLocks noChangeShapeType="1"/>
          </p:cNvSpPr>
          <p:nvPr/>
        </p:nvSpPr>
        <p:spPr bwMode="auto">
          <a:xfrm rot="16200000">
            <a:off x="6196430" y="2782268"/>
            <a:ext cx="379128" cy="0"/>
          </a:xfrm>
          <a:prstGeom prst="line">
            <a:avLst/>
          </a:prstGeom>
          <a:noFill/>
          <a:ln w="76200">
            <a:solidFill>
              <a:srgbClr val="CC00CC"/>
            </a:solidFill>
            <a:round/>
            <a:headEnd type="triangle" w="med" len="med"/>
            <a:tailEnd type="non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18" name="Text Box 12"/>
          <p:cNvSpPr txBox="1">
            <a:spLocks noChangeArrowheads="1"/>
          </p:cNvSpPr>
          <p:nvPr/>
        </p:nvSpPr>
        <p:spPr bwMode="auto">
          <a:xfrm>
            <a:off x="5954274" y="2384918"/>
            <a:ext cx="8634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收到 </a:t>
            </a:r>
            <a:r>
              <a:rPr kumimoji="1" lang="en-US" altLang="zh-CN" sz="1200" b="1" dirty="0">
                <a:latin typeface="微软雅黑" pitchFamily="34" charset="-122"/>
                <a:ea typeface="微软雅黑" pitchFamily="34" charset="-122"/>
              </a:rPr>
              <a:t>ACK</a:t>
            </a:r>
          </a:p>
        </p:txBody>
      </p:sp>
      <p:sp>
        <p:nvSpPr>
          <p:cNvPr id="19" name="Text Box 13"/>
          <p:cNvSpPr txBox="1">
            <a:spLocks noChangeArrowheads="1"/>
          </p:cNvSpPr>
          <p:nvPr/>
        </p:nvSpPr>
        <p:spPr bwMode="auto">
          <a:xfrm>
            <a:off x="7136153" y="2982436"/>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时间</a:t>
            </a:r>
          </a:p>
        </p:txBody>
      </p:sp>
      <p:sp>
        <p:nvSpPr>
          <p:cNvPr id="22" name="Line 16"/>
          <p:cNvSpPr>
            <a:spLocks noChangeShapeType="1"/>
          </p:cNvSpPr>
          <p:nvPr/>
        </p:nvSpPr>
        <p:spPr bwMode="auto">
          <a:xfrm>
            <a:off x="3922783" y="3025551"/>
            <a:ext cx="0" cy="163221"/>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Line 17"/>
          <p:cNvSpPr>
            <a:spLocks noChangeShapeType="1"/>
          </p:cNvSpPr>
          <p:nvPr/>
        </p:nvSpPr>
        <p:spPr bwMode="auto">
          <a:xfrm>
            <a:off x="6385995" y="3025551"/>
            <a:ext cx="0" cy="625824"/>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4" name="Line 18"/>
          <p:cNvSpPr>
            <a:spLocks noChangeShapeType="1"/>
          </p:cNvSpPr>
          <p:nvPr/>
        </p:nvSpPr>
        <p:spPr bwMode="auto">
          <a:xfrm>
            <a:off x="2076213" y="3025550"/>
            <a:ext cx="0" cy="625825"/>
          </a:xfrm>
          <a:prstGeom prst="line">
            <a:avLst/>
          </a:prstGeom>
          <a:noFill/>
          <a:ln w="19050">
            <a:solidFill>
              <a:srgbClr val="0033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Line 19"/>
          <p:cNvSpPr>
            <a:spLocks noChangeShapeType="1"/>
          </p:cNvSpPr>
          <p:nvPr/>
        </p:nvSpPr>
        <p:spPr bwMode="auto">
          <a:xfrm>
            <a:off x="2076213" y="3513992"/>
            <a:ext cx="4309781" cy="0"/>
          </a:xfrm>
          <a:prstGeom prst="line">
            <a:avLst/>
          </a:prstGeom>
          <a:noFill/>
          <a:ln w="28575">
            <a:solidFill>
              <a:srgbClr val="0033CC"/>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6" name="Text Box 20"/>
          <p:cNvSpPr txBox="1">
            <a:spLocks noChangeArrowheads="1"/>
          </p:cNvSpPr>
          <p:nvPr/>
        </p:nvSpPr>
        <p:spPr bwMode="auto">
          <a:xfrm>
            <a:off x="3622372" y="3374377"/>
            <a:ext cx="1146276" cy="276999"/>
          </a:xfrm>
          <a:prstGeom prst="rect">
            <a:avLst/>
          </a:prstGeom>
          <a:solidFill>
            <a:srgbClr val="00FFFF"/>
          </a:solidFill>
          <a:ln>
            <a:noFill/>
          </a:ln>
          <a:effectLst/>
        </p:spPr>
        <p:txBody>
          <a:bodyPr wrap="none">
            <a:spAutoFit/>
          </a:bodyPr>
          <a:lstStyle/>
          <a:p>
            <a:pPr algn="ctr"/>
            <a:r>
              <a:rPr kumimoji="1" lang="zh-CN" altLang="en-US" sz="1200" b="1" dirty="0">
                <a:solidFill>
                  <a:srgbClr val="0000FF"/>
                </a:solidFill>
                <a:latin typeface="微软雅黑" pitchFamily="34" charset="-122"/>
                <a:ea typeface="微软雅黑" pitchFamily="34" charset="-122"/>
              </a:rPr>
              <a:t>往返时间 </a:t>
            </a:r>
            <a:r>
              <a:rPr kumimoji="1" lang="en-US" altLang="zh-CN" sz="1200" b="1" dirty="0">
                <a:solidFill>
                  <a:srgbClr val="0000FF"/>
                </a:solidFill>
                <a:latin typeface="微软雅黑" pitchFamily="34" charset="-122"/>
                <a:ea typeface="微软雅黑" pitchFamily="34" charset="-122"/>
              </a:rPr>
              <a:t>RTT</a:t>
            </a:r>
          </a:p>
        </p:txBody>
      </p:sp>
      <p:sp>
        <p:nvSpPr>
          <p:cNvPr id="27" name="Freeform 21"/>
          <p:cNvSpPr>
            <a:spLocks/>
          </p:cNvSpPr>
          <p:nvPr/>
        </p:nvSpPr>
        <p:spPr bwMode="auto">
          <a:xfrm>
            <a:off x="4075394" y="2188782"/>
            <a:ext cx="2174067" cy="254261"/>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8" name="Freeform 22"/>
          <p:cNvSpPr>
            <a:spLocks/>
          </p:cNvSpPr>
          <p:nvPr/>
        </p:nvSpPr>
        <p:spPr bwMode="auto">
          <a:xfrm>
            <a:off x="2393576" y="1999735"/>
            <a:ext cx="3855885" cy="443309"/>
          </a:xfrm>
          <a:custGeom>
            <a:avLst/>
            <a:gdLst>
              <a:gd name="T0" fmla="*/ 1472 w 1472"/>
              <a:gd name="T1" fmla="*/ 189 h 189"/>
              <a:gd name="T2" fmla="*/ 1240 w 1472"/>
              <a:gd name="T3" fmla="*/ 85 h 189"/>
              <a:gd name="T4" fmla="*/ 948 w 1472"/>
              <a:gd name="T5" fmla="*/ 17 h 189"/>
              <a:gd name="T6" fmla="*/ 684 w 1472"/>
              <a:gd name="T7" fmla="*/ 1 h 189"/>
              <a:gd name="T8" fmla="*/ 480 w 1472"/>
              <a:gd name="T9" fmla="*/ 13 h 189"/>
              <a:gd name="T10" fmla="*/ 268 w 1472"/>
              <a:gd name="T11" fmla="*/ 61 h 189"/>
              <a:gd name="T12" fmla="*/ 96 w 1472"/>
              <a:gd name="T13" fmla="*/ 117 h 189"/>
              <a:gd name="T14" fmla="*/ 0 w 1472"/>
              <a:gd name="T15" fmla="*/ 165 h 1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72" h="189">
                <a:moveTo>
                  <a:pt x="1472" y="189"/>
                </a:moveTo>
                <a:cubicBezTo>
                  <a:pt x="1433" y="172"/>
                  <a:pt x="1327" y="114"/>
                  <a:pt x="1240" y="85"/>
                </a:cubicBezTo>
                <a:cubicBezTo>
                  <a:pt x="1153" y="56"/>
                  <a:pt x="1041" y="31"/>
                  <a:pt x="948" y="17"/>
                </a:cubicBezTo>
                <a:cubicBezTo>
                  <a:pt x="855" y="3"/>
                  <a:pt x="762" y="2"/>
                  <a:pt x="684" y="1"/>
                </a:cubicBezTo>
                <a:cubicBezTo>
                  <a:pt x="606" y="0"/>
                  <a:pt x="549" y="3"/>
                  <a:pt x="480" y="13"/>
                </a:cubicBezTo>
                <a:cubicBezTo>
                  <a:pt x="411" y="23"/>
                  <a:pt x="332" y="44"/>
                  <a:pt x="268" y="61"/>
                </a:cubicBezTo>
                <a:cubicBezTo>
                  <a:pt x="204" y="78"/>
                  <a:pt x="141" y="100"/>
                  <a:pt x="96" y="117"/>
                </a:cubicBezTo>
                <a:cubicBezTo>
                  <a:pt x="51" y="134"/>
                  <a:pt x="28" y="149"/>
                  <a:pt x="0" y="165"/>
                </a:cubicBezTo>
              </a:path>
            </a:pathLst>
          </a:custGeom>
          <a:noFill/>
          <a:ln w="57150" cap="flat" cmpd="sng">
            <a:solidFill>
              <a:srgbClr val="CC00CC"/>
            </a:solidFill>
            <a:prstDash val="sysDot"/>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Text Box 23"/>
          <p:cNvSpPr txBox="1">
            <a:spLocks noChangeArrowheads="1"/>
          </p:cNvSpPr>
          <p:nvPr/>
        </p:nvSpPr>
        <p:spPr bwMode="auto">
          <a:xfrm>
            <a:off x="5798014" y="1866981"/>
            <a:ext cx="1415772" cy="46166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200" b="1" dirty="0">
                <a:latin typeface="微软雅黑" pitchFamily="34" charset="-122"/>
                <a:ea typeface="微软雅黑" pitchFamily="34" charset="-122"/>
              </a:rPr>
              <a:t>是对哪一个报文段</a:t>
            </a:r>
          </a:p>
          <a:p>
            <a:pPr algn="ctr"/>
            <a:r>
              <a:rPr kumimoji="1" lang="zh-CN" altLang="en-US" sz="1200" b="1" dirty="0">
                <a:latin typeface="微软雅黑" pitchFamily="34" charset="-122"/>
                <a:ea typeface="微软雅黑" pitchFamily="34" charset="-122"/>
              </a:rPr>
              <a:t>的确认？</a:t>
            </a:r>
          </a:p>
        </p:txBody>
      </p:sp>
      <p:sp>
        <p:nvSpPr>
          <p:cNvPr id="2" name="矩形 1"/>
          <p:cNvSpPr/>
          <p:nvPr/>
        </p:nvSpPr>
        <p:spPr>
          <a:xfrm>
            <a:off x="2774740" y="2659876"/>
            <a:ext cx="492443" cy="276999"/>
          </a:xfrm>
          <a:prstGeom prst="rect">
            <a:avLst/>
          </a:prstGeom>
        </p:spPr>
        <p:txBody>
          <a:bodyPr wrap="none">
            <a:spAutoFit/>
          </a:bodyPr>
          <a:lstStyle/>
          <a:p>
            <a:r>
              <a:rPr kumimoji="1" lang="zh-CN" altLang="en-US" sz="1200" b="1" dirty="0">
                <a:latin typeface="微软雅黑" pitchFamily="34" charset="-122"/>
                <a:ea typeface="微软雅黑" pitchFamily="34" charset="-122"/>
              </a:rPr>
              <a:t>超时</a:t>
            </a:r>
            <a:endParaRPr lang="zh-CN" altLang="en-US" sz="1200" dirty="0"/>
          </a:p>
        </p:txBody>
      </p:sp>
      <p:sp>
        <p:nvSpPr>
          <p:cNvPr id="30" name="Line 2"/>
          <p:cNvSpPr>
            <a:spLocks noChangeShapeType="1"/>
          </p:cNvSpPr>
          <p:nvPr/>
        </p:nvSpPr>
        <p:spPr bwMode="auto">
          <a:xfrm>
            <a:off x="2124587" y="2891148"/>
            <a:ext cx="1780266" cy="0"/>
          </a:xfrm>
          <a:prstGeom prst="line">
            <a:avLst/>
          </a:prstGeom>
          <a:noFill/>
          <a:ln w="12700">
            <a:solidFill>
              <a:schemeClr val="tx1"/>
            </a:solidFill>
            <a:prstDash val="sysDash"/>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标题 19">
            <a:extLst>
              <a:ext uri="{FF2B5EF4-FFF2-40B4-BE49-F238E27FC236}">
                <a16:creationId xmlns:a16="http://schemas.microsoft.com/office/drawing/2014/main" id="{1596EA67-1DBF-208D-4CF7-1366E89AF17E}"/>
              </a:ext>
            </a:extLst>
          </p:cNvPr>
          <p:cNvSpPr>
            <a:spLocks noGrp="1"/>
          </p:cNvSpPr>
          <p:nvPr>
            <p:ph type="title"/>
          </p:nvPr>
        </p:nvSpPr>
        <p:spPr>
          <a:xfrm>
            <a:off x="2808000" y="144000"/>
            <a:ext cx="3528000" cy="338554"/>
          </a:xfrm>
        </p:spPr>
        <p:txBody>
          <a:bodyPr/>
          <a:lstStyle/>
          <a:p>
            <a:r>
              <a:rPr lang="zh-CN" altLang="en-US" dirty="0"/>
              <a:t>往返时间 </a:t>
            </a:r>
            <a:r>
              <a:rPr lang="en-US" altLang="zh-CN" dirty="0"/>
              <a:t>(RTT) </a:t>
            </a:r>
            <a:r>
              <a:rPr lang="zh-CN" altLang="en-US" dirty="0"/>
              <a:t>的测量相当复杂</a:t>
            </a:r>
          </a:p>
        </p:txBody>
      </p:sp>
    </p:spTree>
    <p:extLst>
      <p:ext uri="{BB962C8B-B14F-4D97-AF65-F5344CB8AC3E}">
        <p14:creationId xmlns:p14="http://schemas.microsoft.com/office/powerpoint/2010/main" val="288835650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3000"/>
                                        <p:tgtEl>
                                          <p:spTgt spid="27"/>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3000"/>
                                        <p:tgtEl>
                                          <p:spTgt spid="28"/>
                                        </p:tgtEl>
                                      </p:cBhvr>
                                    </p:animEffect>
                                  </p:childTnLst>
                                </p:cTn>
                              </p:par>
                            </p:childTnLst>
                          </p:cTn>
                        </p:par>
                        <p:par>
                          <p:cTn id="11" fill="hold">
                            <p:stCondLst>
                              <p:cond delay="3000"/>
                            </p:stCondLst>
                            <p:childTnLst>
                              <p:par>
                                <p:cTn id="12" presetID="35" presetClass="emph" presetSubtype="0" repeatCount="3000" fill="hold" grpId="0" nodeType="afterEffect">
                                  <p:stCondLst>
                                    <p:cond delay="1000"/>
                                  </p:stCondLst>
                                  <p:childTnLst>
                                    <p:anim calcmode="discrete" valueType="str">
                                      <p:cBhvr>
                                        <p:cTn id="13" dur="1000" fill="hold"/>
                                        <p:tgtEl>
                                          <p:spTgt spid="26"/>
                                        </p:tgtEl>
                                        <p:attrNameLst>
                                          <p:attrName>style.visibility</p:attrName>
                                        </p:attrNameLst>
                                      </p:cBhvr>
                                      <p:tavLst>
                                        <p:tav tm="0">
                                          <p:val>
                                            <p:strVal val="hidden"/>
                                          </p:val>
                                        </p:tav>
                                        <p:tav tm="50000">
                                          <p:val>
                                            <p:strVal val="visible"/>
                                          </p:val>
                                        </p:tav>
                                      </p:tavLst>
                                    </p:anim>
                                  </p:childTnLst>
                                </p:cTn>
                              </p:par>
                              <p:par>
                                <p:cTn id="14" presetID="35" presetClass="emph" presetSubtype="0" repeatCount="3000" fill="hold" grpId="0" nodeType="withEffect">
                                  <p:stCondLst>
                                    <p:cond delay="1000"/>
                                  </p:stCondLst>
                                  <p:childTnLst>
                                    <p:anim calcmode="discrete" valueType="str">
                                      <p:cBhvr>
                                        <p:cTn id="15" dur="1000" fill="hold"/>
                                        <p:tgtEl>
                                          <p:spTgt spid="1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26" grpId="0" animBg="1"/>
      <p:bldP spid="27" grpId="0" animBg="1"/>
      <p:bldP spid="28"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30570"/>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6" name="Rectangle 6"/>
          <p:cNvSpPr>
            <a:spLocks noChangeArrowheads="1"/>
          </p:cNvSpPr>
          <p:nvPr/>
        </p:nvSpPr>
        <p:spPr bwMode="auto">
          <a:xfrm>
            <a:off x="3893183" y="597359"/>
            <a:ext cx="137633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7" name="Rectangle 68"/>
          <p:cNvSpPr>
            <a:spLocks noChangeArrowheads="1"/>
          </p:cNvSpPr>
          <p:nvPr/>
        </p:nvSpPr>
        <p:spPr bwMode="auto">
          <a:xfrm>
            <a:off x="556963" y="993669"/>
            <a:ext cx="8184960"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在计算平均往返时间 </a:t>
            </a:r>
            <a:r>
              <a:rPr lang="en-US" altLang="zh-CN" sz="2000" b="1" dirty="0">
                <a:solidFill>
                  <a:srgbClr val="0000FF"/>
                </a:solidFill>
                <a:latin typeface="微软雅黑" pitchFamily="34" charset="-122"/>
                <a:ea typeface="微软雅黑" pitchFamily="34" charset="-122"/>
              </a:rPr>
              <a:t>RTT </a:t>
            </a:r>
            <a:r>
              <a:rPr lang="zh-CN" altLang="en-US" sz="2000" b="1" dirty="0">
                <a:solidFill>
                  <a:srgbClr val="0000FF"/>
                </a:solidFill>
                <a:latin typeface="微软雅黑" pitchFamily="34" charset="-122"/>
                <a:ea typeface="微软雅黑" pitchFamily="34" charset="-122"/>
              </a:rPr>
              <a:t>时，只要报文段</a:t>
            </a:r>
            <a:r>
              <a:rPr lang="zh-CN" altLang="en-US" sz="2000" b="1" dirty="0">
                <a:solidFill>
                  <a:srgbClr val="C00000"/>
                </a:solidFill>
                <a:latin typeface="微软雅黑" pitchFamily="34" charset="-122"/>
                <a:ea typeface="微软雅黑" pitchFamily="34" charset="-122"/>
              </a:rPr>
              <a:t>重传</a:t>
            </a:r>
            <a:r>
              <a:rPr lang="zh-CN" altLang="en-US" sz="2000" b="1" dirty="0">
                <a:solidFill>
                  <a:srgbClr val="0000FF"/>
                </a:solidFill>
                <a:latin typeface="微软雅黑" pitchFamily="34" charset="-122"/>
                <a:ea typeface="微软雅黑" pitchFamily="34" charset="-122"/>
              </a:rPr>
              <a:t>了，就</a:t>
            </a:r>
            <a:r>
              <a:rPr lang="zh-CN" altLang="en-US" sz="2000" b="1" dirty="0">
                <a:solidFill>
                  <a:srgbClr val="C00000"/>
                </a:solidFill>
                <a:latin typeface="微软雅黑" pitchFamily="34" charset="-122"/>
                <a:ea typeface="微软雅黑" pitchFamily="34" charset="-122"/>
              </a:rPr>
              <a:t>不采用</a:t>
            </a:r>
            <a:r>
              <a:rPr lang="zh-CN" altLang="en-US" sz="2000" b="1" dirty="0">
                <a:solidFill>
                  <a:srgbClr val="0000FF"/>
                </a:solidFill>
                <a:latin typeface="微软雅黑" pitchFamily="34" charset="-122"/>
                <a:ea typeface="微软雅黑" pitchFamily="34" charset="-122"/>
              </a:rPr>
              <a:t>其往返时间样本。</a:t>
            </a:r>
          </a:p>
          <a:p>
            <a:pPr marL="342900" indent="-342900">
              <a:lnSpc>
                <a:spcPts val="33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新问题：</a:t>
            </a:r>
            <a:r>
              <a:rPr lang="zh-CN" altLang="en-US" sz="2000" b="1" dirty="0">
                <a:latin typeface="微软雅黑" pitchFamily="34" charset="-122"/>
                <a:ea typeface="微软雅黑" pitchFamily="34" charset="-122"/>
              </a:rPr>
              <a:t>当报文段的时延突然</a:t>
            </a:r>
            <a:r>
              <a:rPr lang="zh-CN" altLang="en-US" sz="2000" b="1" dirty="0">
                <a:solidFill>
                  <a:srgbClr val="C00000"/>
                </a:solidFill>
                <a:latin typeface="微软雅黑" pitchFamily="34" charset="-122"/>
                <a:ea typeface="微软雅黑" pitchFamily="34" charset="-122"/>
              </a:rPr>
              <a:t>增大</a:t>
            </a:r>
            <a:r>
              <a:rPr lang="zh-CN" altLang="en-US" sz="2000" b="1" dirty="0">
                <a:latin typeface="微软雅黑" pitchFamily="34" charset="-122"/>
                <a:ea typeface="微软雅黑" pitchFamily="34" charset="-122"/>
              </a:rPr>
              <a:t>很多时，在原来得出的重传时间内，不会收到确认报文段，于是就重传报文段。但根据 </a:t>
            </a:r>
            <a:r>
              <a:rPr lang="en-US" altLang="zh-CN" sz="2000" b="1" dirty="0" err="1">
                <a:latin typeface="微软雅黑" pitchFamily="34" charset="-122"/>
                <a:ea typeface="微软雅黑" pitchFamily="34" charset="-122"/>
              </a:rPr>
              <a:t>Karn</a:t>
            </a:r>
            <a:r>
              <a:rPr lang="en-US" altLang="zh-CN" sz="2000" b="1" dirty="0">
                <a:latin typeface="微软雅黑" pitchFamily="34" charset="-122"/>
                <a:ea typeface="微软雅黑" pitchFamily="34" charset="-122"/>
              </a:rPr>
              <a:t> </a:t>
            </a:r>
            <a:r>
              <a:rPr lang="zh-CN" altLang="en-US" sz="2000" b="1" dirty="0">
                <a:latin typeface="微软雅黑" pitchFamily="34" charset="-122"/>
                <a:ea typeface="微软雅黑" pitchFamily="34" charset="-122"/>
              </a:rPr>
              <a:t>算法，不考虑重传的报文段的往返时间样本。这样，</a:t>
            </a:r>
            <a:r>
              <a:rPr lang="zh-CN" altLang="en-US" sz="2000" b="1" dirty="0">
                <a:solidFill>
                  <a:srgbClr val="C00000"/>
                </a:solidFill>
                <a:latin typeface="微软雅黑" pitchFamily="34" charset="-122"/>
                <a:ea typeface="微软雅黑" pitchFamily="34" charset="-122"/>
              </a:rPr>
              <a:t>超时重传时间就无法更新，造成很多不必要的重传。</a:t>
            </a:r>
          </a:p>
        </p:txBody>
      </p:sp>
      <p:sp>
        <p:nvSpPr>
          <p:cNvPr id="4" name="标题 3">
            <a:extLst>
              <a:ext uri="{FF2B5EF4-FFF2-40B4-BE49-F238E27FC236}">
                <a16:creationId xmlns:a16="http://schemas.microsoft.com/office/drawing/2014/main" id="{04D3ED17-7AA6-4B6C-2056-4B1F11691F35}"/>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412073273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5371"/>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3431518" y="592160"/>
            <a:ext cx="229966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zh-CN" altLang="en-US" sz="2000" b="1" dirty="0">
                <a:solidFill>
                  <a:schemeClr val="bg1"/>
                </a:solidFill>
                <a:latin typeface="微软雅黑" pitchFamily="34" charset="-122"/>
                <a:ea typeface="微软雅黑" pitchFamily="34" charset="-122"/>
              </a:rPr>
              <a:t>修正的 </a:t>
            </a:r>
            <a:r>
              <a:rPr lang="en-US" altLang="zh-CN" sz="2000" b="1" dirty="0" err="1">
                <a:solidFill>
                  <a:schemeClr val="bg1"/>
                </a:solidFill>
                <a:latin typeface="微软雅黑" pitchFamily="34" charset="-122"/>
                <a:ea typeface="微软雅黑" pitchFamily="34" charset="-122"/>
              </a:rPr>
              <a:t>Karn</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a:t>
            </a:r>
          </a:p>
        </p:txBody>
      </p:sp>
      <p:sp>
        <p:nvSpPr>
          <p:cNvPr id="9" name="Rectangle 68"/>
          <p:cNvSpPr>
            <a:spLocks noChangeArrowheads="1"/>
          </p:cNvSpPr>
          <p:nvPr/>
        </p:nvSpPr>
        <p:spPr bwMode="auto">
          <a:xfrm>
            <a:off x="556963" y="988470"/>
            <a:ext cx="8184960" cy="2750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3000"/>
              </a:lnSpc>
              <a:buClr>
                <a:srgbClr val="0070C0"/>
              </a:buClr>
              <a:buFont typeface="Wingdings" pitchFamily="2" charset="2"/>
              <a:buChar char="l"/>
            </a:pPr>
            <a:r>
              <a:rPr lang="zh-CN" altLang="en-US" sz="2000" b="1" dirty="0">
                <a:solidFill>
                  <a:srgbClr val="0000FF"/>
                </a:solidFill>
                <a:latin typeface="微软雅黑" pitchFamily="34" charset="-122"/>
                <a:ea typeface="微软雅黑" pitchFamily="34" charset="-122"/>
              </a:rPr>
              <a:t>报文段每重传一次，就把 </a:t>
            </a:r>
            <a:r>
              <a:rPr lang="en-US" altLang="zh-CN" sz="2000" b="1" dirty="0">
                <a:solidFill>
                  <a:srgbClr val="0000FF"/>
                </a:solidFill>
                <a:latin typeface="微软雅黑" pitchFamily="34" charset="-122"/>
                <a:ea typeface="微软雅黑" pitchFamily="34" charset="-122"/>
              </a:rPr>
              <a:t>RTO </a:t>
            </a:r>
            <a:r>
              <a:rPr lang="zh-CN" altLang="en-US" sz="2000" b="1" dirty="0">
                <a:solidFill>
                  <a:srgbClr val="0000FF"/>
                </a:solidFill>
                <a:latin typeface="微软雅黑" pitchFamily="34" charset="-122"/>
                <a:ea typeface="微软雅黑" pitchFamily="34" charset="-122"/>
              </a:rPr>
              <a:t>增大一些：</a:t>
            </a: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endParaRPr lang="zh-CN" altLang="en-US"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系数 </a:t>
            </a:r>
            <a:r>
              <a:rPr lang="zh-CN" altLang="en-US" sz="2000" b="1" dirty="0">
                <a:latin typeface="微软雅黑" pitchFamily="34" charset="-122"/>
                <a:ea typeface="微软雅黑" pitchFamily="34" charset="-122"/>
                <a:sym typeface="Symbol" pitchFamily="18" charset="2"/>
              </a:rPr>
              <a:t> </a:t>
            </a:r>
            <a:r>
              <a:rPr lang="zh-CN" altLang="en-US" sz="2000" b="1" dirty="0">
                <a:latin typeface="微软雅黑" pitchFamily="34" charset="-122"/>
                <a:ea typeface="微软雅黑" pitchFamily="34" charset="-122"/>
              </a:rPr>
              <a:t>的典型值 </a:t>
            </a:r>
            <a:r>
              <a:rPr lang="en-US" altLang="zh-CN" sz="20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a:t>
            </a:r>
            <a:r>
              <a:rPr lang="en-US" altLang="zh-CN" sz="2000" b="1" dirty="0">
                <a:latin typeface="微软雅黑" pitchFamily="34" charset="-122"/>
                <a:ea typeface="微软雅黑" pitchFamily="34" charset="-122"/>
              </a:rPr>
              <a:t>2 </a:t>
            </a:r>
            <a:r>
              <a:rPr lang="zh-CN" altLang="en-US" sz="2000" b="1" dirty="0">
                <a:latin typeface="微软雅黑" pitchFamily="34" charset="-122"/>
                <a:ea typeface="微软雅黑" pitchFamily="34" charset="-122"/>
              </a:rPr>
              <a:t>。</a:t>
            </a:r>
          </a:p>
          <a:p>
            <a:pPr marL="342900" indent="-342900">
              <a:lnSpc>
                <a:spcPts val="3000"/>
              </a:lnSpc>
              <a:buClr>
                <a:srgbClr val="0070C0"/>
              </a:buClr>
              <a:buFont typeface="Wingdings" pitchFamily="2" charset="2"/>
              <a:buChar char="l"/>
            </a:pPr>
            <a:endParaRPr lang="en-US" altLang="zh-CN" sz="2000" b="1" dirty="0">
              <a:latin typeface="微软雅黑" pitchFamily="34" charset="-122"/>
              <a:ea typeface="微软雅黑" pitchFamily="34" charset="-122"/>
            </a:endParaRPr>
          </a:p>
          <a:p>
            <a:pPr marL="342900" indent="-342900">
              <a:lnSpc>
                <a:spcPts val="3000"/>
              </a:lnSpc>
              <a:buClr>
                <a:srgbClr val="0070C0"/>
              </a:buClr>
              <a:buFont typeface="Wingdings" pitchFamily="2" charset="2"/>
              <a:buChar char="l"/>
            </a:pPr>
            <a:r>
              <a:rPr lang="zh-CN" altLang="en-US" sz="2000" b="1" dirty="0">
                <a:latin typeface="微软雅黑" pitchFamily="34" charset="-122"/>
                <a:ea typeface="微软雅黑" pitchFamily="34" charset="-122"/>
              </a:rPr>
              <a:t>当</a:t>
            </a:r>
            <a:r>
              <a:rPr lang="zh-CN" altLang="en-US" sz="2000" b="1" dirty="0">
                <a:solidFill>
                  <a:srgbClr val="C00000"/>
                </a:solidFill>
                <a:latin typeface="微软雅黑" pitchFamily="34" charset="-122"/>
                <a:ea typeface="微软雅黑" pitchFamily="34" charset="-122"/>
              </a:rPr>
              <a:t>不再发生</a:t>
            </a:r>
            <a:r>
              <a:rPr lang="zh-CN" altLang="en-US" sz="2000" b="1" dirty="0">
                <a:latin typeface="微软雅黑" pitchFamily="34" charset="-122"/>
                <a:ea typeface="微软雅黑" pitchFamily="34" charset="-122"/>
              </a:rPr>
              <a:t>报文段的重传时，才根据报文段的往返时延</a:t>
            </a:r>
            <a:r>
              <a:rPr lang="zh-CN" altLang="en-US" sz="2000" b="1" dirty="0">
                <a:solidFill>
                  <a:srgbClr val="C00000"/>
                </a:solidFill>
                <a:latin typeface="微软雅黑" pitchFamily="34" charset="-122"/>
                <a:ea typeface="微软雅黑" pitchFamily="34" charset="-122"/>
              </a:rPr>
              <a:t>更新</a:t>
            </a:r>
            <a:r>
              <a:rPr lang="zh-CN" altLang="en-US" sz="2000" b="1" dirty="0">
                <a:latin typeface="微软雅黑" pitchFamily="34" charset="-122"/>
                <a:ea typeface="微软雅黑" pitchFamily="34" charset="-122"/>
              </a:rPr>
              <a:t>平均往返时延 </a:t>
            </a:r>
            <a:r>
              <a:rPr lang="en-US" altLang="zh-CN" sz="2000" b="1" dirty="0">
                <a:latin typeface="微软雅黑" pitchFamily="34" charset="-122"/>
                <a:ea typeface="微软雅黑" pitchFamily="34" charset="-122"/>
              </a:rPr>
              <a:t>RTT </a:t>
            </a:r>
            <a:r>
              <a:rPr lang="zh-CN" altLang="en-US" sz="2000" b="1" dirty="0">
                <a:latin typeface="微软雅黑" pitchFamily="34" charset="-122"/>
                <a:ea typeface="微软雅黑" pitchFamily="34" charset="-122"/>
              </a:rPr>
              <a:t>和超时重传时间 </a:t>
            </a:r>
            <a:r>
              <a:rPr lang="en-US" altLang="zh-CN" sz="2000" b="1" dirty="0">
                <a:latin typeface="微软雅黑" pitchFamily="34" charset="-122"/>
                <a:ea typeface="微软雅黑" pitchFamily="34" charset="-122"/>
              </a:rPr>
              <a:t>RTO </a:t>
            </a:r>
            <a:r>
              <a:rPr lang="zh-CN" altLang="en-US" sz="2000" b="1" dirty="0">
                <a:latin typeface="微软雅黑" pitchFamily="34" charset="-122"/>
                <a:ea typeface="微软雅黑" pitchFamily="34" charset="-122"/>
              </a:rPr>
              <a:t>的数值。</a:t>
            </a:r>
          </a:p>
        </p:txBody>
      </p:sp>
      <p:sp>
        <p:nvSpPr>
          <p:cNvPr id="11" name="矩形 10"/>
          <p:cNvSpPr/>
          <p:nvPr/>
        </p:nvSpPr>
        <p:spPr>
          <a:xfrm>
            <a:off x="1023770" y="1550232"/>
            <a:ext cx="6470725" cy="484753"/>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r>
              <a:rPr lang="zh-CN" altLang="en-US" b="1" dirty="0">
                <a:latin typeface="微软雅黑" pitchFamily="34" charset="-122"/>
                <a:ea typeface="微软雅黑" pitchFamily="34" charset="-122"/>
              </a:rPr>
              <a:t>新的 </a:t>
            </a:r>
            <a:r>
              <a:rPr lang="en-US" altLang="zh-CN" b="1" dirty="0">
                <a:latin typeface="微软雅黑" pitchFamily="34" charset="-122"/>
                <a:ea typeface="微软雅黑" pitchFamily="34" charset="-122"/>
              </a:rPr>
              <a:t>RTO</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solidFill>
                  <a:schemeClr val="tx1"/>
                </a:solidFill>
                <a:latin typeface="微软雅黑" pitchFamily="34" charset="-122"/>
                <a:ea typeface="微软雅黑" pitchFamily="34" charset="-122"/>
                <a:sym typeface="Symbol" pitchFamily="18" charset="2"/>
              </a:rPr>
              <a:t></a:t>
            </a:r>
            <a:r>
              <a:rPr lang="en-US" altLang="zh-CN" b="1" dirty="0">
                <a:solidFill>
                  <a:schemeClr val="tx1"/>
                </a:solidFill>
                <a:latin typeface="微软雅黑" pitchFamily="34" charset="-122"/>
                <a:ea typeface="微软雅黑" pitchFamily="34" charset="-122"/>
              </a:rPr>
              <a:t>  </a:t>
            </a:r>
            <a:r>
              <a:rPr lang="en-US" altLang="zh-CN" b="1" dirty="0">
                <a:latin typeface="微软雅黑" pitchFamily="34" charset="-122"/>
                <a:ea typeface="微软雅黑" pitchFamily="34" charset="-122"/>
              </a:rPr>
              <a:t>(</a:t>
            </a:r>
            <a:r>
              <a:rPr lang="zh-CN" altLang="en-US" b="1" dirty="0">
                <a:latin typeface="微软雅黑" pitchFamily="34" charset="-122"/>
                <a:ea typeface="微软雅黑" pitchFamily="34" charset="-122"/>
              </a:rPr>
              <a:t>旧的 </a:t>
            </a:r>
            <a:r>
              <a:rPr lang="en-US" altLang="zh-CN" b="1" dirty="0">
                <a:latin typeface="微软雅黑" pitchFamily="34" charset="-122"/>
                <a:ea typeface="微软雅黑" pitchFamily="34" charset="-122"/>
              </a:rPr>
              <a:t>RTO) </a:t>
            </a:r>
          </a:p>
        </p:txBody>
      </p:sp>
      <p:sp>
        <p:nvSpPr>
          <p:cNvPr id="4" name="标题 3">
            <a:extLst>
              <a:ext uri="{FF2B5EF4-FFF2-40B4-BE49-F238E27FC236}">
                <a16:creationId xmlns:a16="http://schemas.microsoft.com/office/drawing/2014/main" id="{57E77E7F-94A1-D29C-13BA-EBB0887A3988}"/>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11800114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5"/>
          <p:cNvSpPr>
            <a:spLocks noChangeArrowheads="1"/>
          </p:cNvSpPr>
          <p:nvPr/>
        </p:nvSpPr>
        <p:spPr bwMode="auto">
          <a:xfrm>
            <a:off x="556963" y="627286"/>
            <a:ext cx="8048776" cy="388721"/>
          </a:xfrm>
          <a:prstGeom prst="roundRect">
            <a:avLst>
              <a:gd name="adj" fmla="val 16667"/>
            </a:avLst>
          </a:prstGeom>
          <a:solidFill>
            <a:srgbClr val="0089FA"/>
          </a:solidFill>
          <a:ln>
            <a:noFill/>
          </a:ln>
          <a:effectLst/>
        </p:spPr>
        <p:txBody>
          <a:bodyPr wrap="none" anchor="ctr"/>
          <a:lstStyle/>
          <a:p>
            <a:endParaRPr lang="zh-CN" altLang="en-US"/>
          </a:p>
        </p:txBody>
      </p:sp>
      <p:sp>
        <p:nvSpPr>
          <p:cNvPr id="6" name="Rectangle 6"/>
          <p:cNvSpPr>
            <a:spLocks noChangeArrowheads="1"/>
          </p:cNvSpPr>
          <p:nvPr/>
        </p:nvSpPr>
        <p:spPr bwMode="auto">
          <a:xfrm>
            <a:off x="2893563" y="585015"/>
            <a:ext cx="335688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400" b="1" dirty="0">
                <a:solidFill>
                  <a:schemeClr val="bg1"/>
                </a:solidFill>
                <a:latin typeface="微软雅黑" pitchFamily="34" charset="-122"/>
                <a:ea typeface="微软雅黑" pitchFamily="34" charset="-122"/>
              </a:rPr>
              <a:t>5.6.3   </a:t>
            </a:r>
            <a:r>
              <a:rPr lang="zh-CN" altLang="en-US" sz="2400" b="1" dirty="0">
                <a:solidFill>
                  <a:schemeClr val="bg1"/>
                </a:solidFill>
                <a:latin typeface="微软雅黑" pitchFamily="34" charset="-122"/>
                <a:ea typeface="微软雅黑" pitchFamily="34" charset="-122"/>
              </a:rPr>
              <a:t>选择确认 </a:t>
            </a:r>
            <a:r>
              <a:rPr lang="en-US" altLang="zh-CN" sz="2400" b="1" dirty="0">
                <a:solidFill>
                  <a:schemeClr val="bg1"/>
                </a:solidFill>
                <a:latin typeface="微软雅黑" pitchFamily="34" charset="-122"/>
                <a:ea typeface="微软雅黑" pitchFamily="34" charset="-122"/>
              </a:rPr>
              <a:t>SACK</a:t>
            </a:r>
            <a:endParaRPr lang="zh-CN" altLang="en-US" sz="2400" b="1" dirty="0">
              <a:solidFill>
                <a:schemeClr val="bg1"/>
              </a:solidFill>
              <a:latin typeface="微软雅黑" pitchFamily="34" charset="-122"/>
              <a:ea typeface="微软雅黑" pitchFamily="34" charset="-122"/>
            </a:endParaRPr>
          </a:p>
        </p:txBody>
      </p:sp>
      <p:sp>
        <p:nvSpPr>
          <p:cNvPr id="7" name="Rectangle 8"/>
          <p:cNvSpPr>
            <a:spLocks noChangeArrowheads="1"/>
          </p:cNvSpPr>
          <p:nvPr/>
        </p:nvSpPr>
        <p:spPr bwMode="auto">
          <a:xfrm>
            <a:off x="556963" y="3063667"/>
            <a:ext cx="8048776" cy="1246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3000"/>
              </a:lnSpc>
              <a:buClr>
                <a:srgbClr val="0070C0"/>
              </a:buClr>
              <a:buFont typeface="Wingdings" pitchFamily="2" charset="2"/>
              <a:buChar char="l"/>
            </a:pPr>
            <a:r>
              <a:rPr lang="zh-CN" altLang="en-US" sz="2000" b="1" dirty="0">
                <a:solidFill>
                  <a:srgbClr val="C00000"/>
                </a:solidFill>
                <a:latin typeface="微软雅黑" pitchFamily="34" charset="-122"/>
                <a:ea typeface="微软雅黑" pitchFamily="34" charset="-122"/>
              </a:rPr>
              <a:t>问题：</a:t>
            </a:r>
            <a:r>
              <a:rPr lang="zh-CN" altLang="en-US" sz="2000" b="1" dirty="0">
                <a:latin typeface="微软雅黑" pitchFamily="34" charset="-122"/>
                <a:ea typeface="微软雅黑" pitchFamily="34" charset="-122"/>
              </a:rPr>
              <a:t>若收到的报文段无差错，只是未按序号，中间还缺少一些序号的数据，那么能否设法</a:t>
            </a:r>
            <a:r>
              <a:rPr lang="zh-CN" altLang="en-US" sz="2000" b="1" dirty="0">
                <a:solidFill>
                  <a:srgbClr val="C00000"/>
                </a:solidFill>
                <a:latin typeface="微软雅黑" pitchFamily="34" charset="-122"/>
                <a:ea typeface="微软雅黑" pitchFamily="34" charset="-122"/>
              </a:rPr>
              <a:t>只传送缺少的数据</a:t>
            </a:r>
            <a:r>
              <a:rPr lang="zh-CN" altLang="en-US" sz="2000" b="1" dirty="0">
                <a:latin typeface="微软雅黑" pitchFamily="34" charset="-122"/>
                <a:ea typeface="微软雅黑" pitchFamily="34" charset="-122"/>
              </a:rPr>
              <a:t>而不重传已经正确到达接收方的数据？</a:t>
            </a:r>
          </a:p>
        </p:txBody>
      </p:sp>
      <p:sp>
        <p:nvSpPr>
          <p:cNvPr id="2" name="矩形 1"/>
          <p:cNvSpPr/>
          <p:nvPr/>
        </p:nvSpPr>
        <p:spPr>
          <a:xfrm>
            <a:off x="1589520" y="4242032"/>
            <a:ext cx="5122282" cy="451406"/>
          </a:xfrm>
          <a:prstGeom prst="rect">
            <a:avLst/>
          </a:prstGeom>
          <a:solidFill>
            <a:srgbClr val="FFC000"/>
          </a:solidFill>
        </p:spPr>
        <p:txBody>
          <a:bodyPr wrap="square">
            <a:spAutoFit/>
          </a:bodyPr>
          <a:lstStyle/>
          <a:p>
            <a:pPr algn="ctr">
              <a:lnSpc>
                <a:spcPts val="2800"/>
              </a:lnSpc>
              <a:buClr>
                <a:srgbClr val="0070C0"/>
              </a:buClr>
            </a:pPr>
            <a:r>
              <a:rPr lang="zh-CN" altLang="en-US" b="1" dirty="0">
                <a:solidFill>
                  <a:srgbClr val="0000FF"/>
                </a:solidFill>
                <a:latin typeface="微软雅黑" pitchFamily="34" charset="-122"/>
                <a:ea typeface="微软雅黑" pitchFamily="34" charset="-122"/>
              </a:rPr>
              <a:t>解决：</a:t>
            </a:r>
            <a:r>
              <a:rPr lang="zh-CN" altLang="en-US" b="1" dirty="0">
                <a:solidFill>
                  <a:srgbClr val="C00000"/>
                </a:solidFill>
                <a:latin typeface="微软雅黑" pitchFamily="34" charset="-122"/>
                <a:ea typeface="微软雅黑" pitchFamily="34" charset="-122"/>
              </a:rPr>
              <a:t>选择确认 </a:t>
            </a:r>
            <a:r>
              <a:rPr lang="en-US" altLang="zh-CN" b="1" dirty="0">
                <a:solidFill>
                  <a:srgbClr val="C00000"/>
                </a:solidFill>
                <a:latin typeface="微软雅黑" pitchFamily="34" charset="-122"/>
                <a:ea typeface="微软雅黑" pitchFamily="34" charset="-122"/>
              </a:rPr>
              <a:t>SACK  </a:t>
            </a:r>
            <a:r>
              <a:rPr lang="en-US" altLang="zh-CN" b="1" dirty="0">
                <a:latin typeface="微软雅黑" pitchFamily="34" charset="-122"/>
                <a:ea typeface="微软雅黑" pitchFamily="34" charset="-122"/>
              </a:rPr>
              <a:t>(Selective ACK) </a:t>
            </a:r>
            <a:endParaRPr lang="zh-CN" altLang="en-US" b="1" dirty="0">
              <a:latin typeface="微软雅黑" pitchFamily="34" charset="-122"/>
              <a:ea typeface="微软雅黑" pitchFamily="34" charset="-122"/>
            </a:endParaRPr>
          </a:p>
        </p:txBody>
      </p:sp>
      <p:sp>
        <p:nvSpPr>
          <p:cNvPr id="59" name="Rectangle 6"/>
          <p:cNvSpPr>
            <a:spLocks noChangeArrowheads="1"/>
          </p:cNvSpPr>
          <p:nvPr/>
        </p:nvSpPr>
        <p:spPr bwMode="auto">
          <a:xfrm>
            <a:off x="1403441" y="2284453"/>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0" name="Rectangle 7"/>
          <p:cNvSpPr>
            <a:spLocks noChangeArrowheads="1"/>
          </p:cNvSpPr>
          <p:nvPr/>
        </p:nvSpPr>
        <p:spPr bwMode="auto">
          <a:xfrm>
            <a:off x="3585299" y="2284453"/>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1" name="Rectangle 8"/>
          <p:cNvSpPr>
            <a:spLocks noChangeArrowheads="1"/>
          </p:cNvSpPr>
          <p:nvPr/>
        </p:nvSpPr>
        <p:spPr bwMode="auto">
          <a:xfrm>
            <a:off x="5606448" y="2284453"/>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63" name="Line 5"/>
          <p:cNvSpPr>
            <a:spLocks noChangeShapeType="1"/>
          </p:cNvSpPr>
          <p:nvPr/>
        </p:nvSpPr>
        <p:spPr bwMode="auto">
          <a:xfrm>
            <a:off x="1403441" y="2098842"/>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4" name="Text Box 9"/>
          <p:cNvSpPr txBox="1">
            <a:spLocks noChangeArrowheads="1"/>
          </p:cNvSpPr>
          <p:nvPr/>
        </p:nvSpPr>
        <p:spPr bwMode="auto">
          <a:xfrm>
            <a:off x="3052377" y="2221798"/>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5" name="Text Box 10"/>
          <p:cNvSpPr txBox="1">
            <a:spLocks noChangeArrowheads="1"/>
          </p:cNvSpPr>
          <p:nvPr/>
        </p:nvSpPr>
        <p:spPr bwMode="auto">
          <a:xfrm>
            <a:off x="5148159" y="219777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66" name="Line 11"/>
          <p:cNvSpPr>
            <a:spLocks noChangeShapeType="1"/>
          </p:cNvSpPr>
          <p:nvPr/>
        </p:nvSpPr>
        <p:spPr bwMode="auto">
          <a:xfrm flipH="1">
            <a:off x="1416731"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67" name="Text Box 12"/>
          <p:cNvSpPr txBox="1">
            <a:spLocks noChangeArrowheads="1"/>
          </p:cNvSpPr>
          <p:nvPr/>
        </p:nvSpPr>
        <p:spPr bwMode="auto">
          <a:xfrm>
            <a:off x="1633145" y="1974803"/>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69" name="Text Box 16"/>
          <p:cNvSpPr txBox="1">
            <a:spLocks noChangeArrowheads="1"/>
          </p:cNvSpPr>
          <p:nvPr/>
        </p:nvSpPr>
        <p:spPr bwMode="auto">
          <a:xfrm>
            <a:off x="2000518"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74" name="Text Box 17"/>
          <p:cNvSpPr txBox="1">
            <a:spLocks noChangeArrowheads="1"/>
          </p:cNvSpPr>
          <p:nvPr/>
        </p:nvSpPr>
        <p:spPr bwMode="auto">
          <a:xfrm>
            <a:off x="4128416"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75" name="Text Box 18"/>
          <p:cNvSpPr txBox="1">
            <a:spLocks noChangeArrowheads="1"/>
          </p:cNvSpPr>
          <p:nvPr/>
        </p:nvSpPr>
        <p:spPr bwMode="auto">
          <a:xfrm>
            <a:off x="6522594" y="2217319"/>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86" name="Text Box 24"/>
          <p:cNvSpPr txBox="1">
            <a:spLocks noChangeArrowheads="1"/>
          </p:cNvSpPr>
          <p:nvPr/>
        </p:nvSpPr>
        <p:spPr bwMode="auto">
          <a:xfrm>
            <a:off x="3761042" y="1966141"/>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87" name="Text Box 25"/>
          <p:cNvSpPr txBox="1">
            <a:spLocks noChangeArrowheads="1"/>
          </p:cNvSpPr>
          <p:nvPr/>
        </p:nvSpPr>
        <p:spPr bwMode="auto">
          <a:xfrm>
            <a:off x="6129413" y="1959644"/>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88" name="Line 11"/>
          <p:cNvSpPr>
            <a:spLocks noChangeShapeType="1"/>
          </p:cNvSpPr>
          <p:nvPr/>
        </p:nvSpPr>
        <p:spPr bwMode="auto">
          <a:xfrm flipH="1">
            <a:off x="2947164" y="2032793"/>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89" name="Text Box 15"/>
          <p:cNvSpPr txBox="1">
            <a:spLocks noChangeArrowheads="1"/>
          </p:cNvSpPr>
          <p:nvPr/>
        </p:nvSpPr>
        <p:spPr bwMode="auto">
          <a:xfrm>
            <a:off x="1412133" y="2271216"/>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sp>
        <p:nvSpPr>
          <p:cNvPr id="3" name="矩形 2"/>
          <p:cNvSpPr/>
          <p:nvPr/>
        </p:nvSpPr>
        <p:spPr>
          <a:xfrm>
            <a:off x="1454783" y="1104853"/>
            <a:ext cx="6544042" cy="861774"/>
          </a:xfrm>
          <a:prstGeom prst="rect">
            <a:avLst/>
          </a:prstGeom>
          <a:solidFill>
            <a:srgbClr val="FFFF99"/>
          </a:solidFill>
        </p:spPr>
        <p:txBody>
          <a:bodyPr wrap="square">
            <a:spAutoFit/>
          </a:bodyPr>
          <a:lstStyle/>
          <a:p>
            <a:pPr>
              <a:lnSpc>
                <a:spcPts val="2000"/>
              </a:lnSpc>
            </a:pPr>
            <a:r>
              <a:rPr lang="zh-CN" altLang="en-US" sz="1400" b="1" dirty="0">
                <a:latin typeface="微软雅黑" panose="020B0503020204020204" pitchFamily="34" charset="-122"/>
                <a:ea typeface="微软雅黑" panose="020B0503020204020204" pitchFamily="34" charset="-122"/>
              </a:rPr>
              <a:t>假设最大报文段长度 </a:t>
            </a:r>
            <a:r>
              <a:rPr lang="en-US" altLang="zh-CN" sz="1400" b="1" dirty="0">
                <a:latin typeface="微软雅黑" panose="020B0503020204020204" pitchFamily="34" charset="-122"/>
                <a:ea typeface="微软雅黑" panose="020B0503020204020204" pitchFamily="34" charset="-122"/>
              </a:rPr>
              <a:t>MSS = 5000 </a:t>
            </a:r>
            <a:r>
              <a:rPr lang="zh-CN" altLang="en-US" sz="1400" b="1" dirty="0">
                <a:latin typeface="微软雅黑" panose="020B0503020204020204" pitchFamily="34" charset="-122"/>
                <a:ea typeface="微软雅黑" panose="020B0503020204020204" pitchFamily="34" charset="-122"/>
              </a:rPr>
              <a:t>字节，起始序号 </a:t>
            </a:r>
            <a:r>
              <a:rPr lang="en-US" altLang="zh-CN" sz="1400" b="1" dirty="0">
                <a:latin typeface="微软雅黑" panose="020B0503020204020204" pitchFamily="34" charset="-122"/>
                <a:ea typeface="微软雅黑" panose="020B0503020204020204" pitchFamily="34" charset="-122"/>
              </a:rPr>
              <a:t>= 1</a:t>
            </a:r>
            <a:r>
              <a:rPr lang="zh-CN" altLang="en-US" sz="1400" b="1" dirty="0">
                <a:latin typeface="微软雅黑" panose="020B0503020204020204" pitchFamily="34" charset="-122"/>
                <a:ea typeface="微软雅黑" panose="020B0503020204020204" pitchFamily="34" charset="-122"/>
              </a:rPr>
              <a:t>。</a:t>
            </a:r>
            <a:endParaRPr lang="en-US" altLang="zh-CN" sz="1400" b="1" dirty="0">
              <a:latin typeface="微软雅黑" panose="020B0503020204020204" pitchFamily="34" charset="-122"/>
              <a:ea typeface="微软雅黑" panose="020B0503020204020204" pitchFamily="34" charset="-122"/>
            </a:endParaRPr>
          </a:p>
          <a:p>
            <a:pPr>
              <a:lnSpc>
                <a:spcPts val="2000"/>
              </a:lnSpc>
            </a:pPr>
            <a:r>
              <a:rPr lang="zh-CN" altLang="en-US" sz="1400" b="1" dirty="0">
                <a:latin typeface="微软雅黑" panose="020B0503020204020204" pitchFamily="34" charset="-122"/>
                <a:ea typeface="微软雅黑" panose="020B0503020204020204" pitchFamily="34" charset="-122"/>
              </a:rPr>
              <a:t>接收方收到了和前面的字节流不连续的两个字节块，缺少序号 </a:t>
            </a:r>
            <a:r>
              <a:rPr lang="en-US" altLang="zh-CN" sz="1400" b="1" dirty="0">
                <a:latin typeface="微软雅黑" panose="020B0503020204020204" pitchFamily="34" charset="-122"/>
                <a:ea typeface="微软雅黑" panose="020B0503020204020204" pitchFamily="34" charset="-122"/>
              </a:rPr>
              <a:t>1001 ~ 1500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3001 ~ 3500 </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4501~5000 </a:t>
            </a:r>
            <a:r>
              <a:rPr lang="zh-CN" altLang="en-US" sz="1400" b="1" dirty="0">
                <a:latin typeface="微软雅黑" panose="020B0503020204020204" pitchFamily="34" charset="-122"/>
                <a:ea typeface="微软雅黑" panose="020B0503020204020204" pitchFamily="34" charset="-122"/>
              </a:rPr>
              <a:t>的字节。</a:t>
            </a:r>
          </a:p>
        </p:txBody>
      </p:sp>
      <p:sp>
        <p:nvSpPr>
          <p:cNvPr id="90" name="矩形 89"/>
          <p:cNvSpPr/>
          <p:nvPr/>
        </p:nvSpPr>
        <p:spPr>
          <a:xfrm>
            <a:off x="1454783" y="2685739"/>
            <a:ext cx="6544042" cy="307777"/>
          </a:xfrm>
          <a:prstGeom prst="rect">
            <a:avLst/>
          </a:prstGeom>
          <a:solidFill>
            <a:srgbClr val="92D050"/>
          </a:solidFill>
        </p:spPr>
        <p:txBody>
          <a:bodyPr wrap="square">
            <a:spAutoFit/>
          </a:bodyPr>
          <a:lstStyle/>
          <a:p>
            <a:r>
              <a:rPr lang="zh-CN" altLang="en-US" sz="1400" b="1" dirty="0">
                <a:solidFill>
                  <a:srgbClr val="000099"/>
                </a:solidFill>
                <a:latin typeface="微软雅黑" panose="020B0503020204020204" pitchFamily="34" charset="-122"/>
                <a:ea typeface="微软雅黑" panose="020B0503020204020204" pitchFamily="34" charset="-122"/>
              </a:rPr>
              <a:t>确认报文：</a:t>
            </a:r>
            <a:r>
              <a:rPr lang="en-US" altLang="zh-CN" sz="1400" b="1" dirty="0">
                <a:solidFill>
                  <a:srgbClr val="000099"/>
                </a:solidFill>
                <a:latin typeface="微软雅黑" panose="020B0503020204020204" pitchFamily="34" charset="-122"/>
                <a:ea typeface="微软雅黑" panose="020B0503020204020204" pitchFamily="34" charset="-122"/>
              </a:rPr>
              <a:t>ACK = 1</a:t>
            </a:r>
            <a:r>
              <a:rPr lang="zh-CN" altLang="en-US" sz="1400" b="1" dirty="0">
                <a:solidFill>
                  <a:srgbClr val="000099"/>
                </a:solidFill>
                <a:latin typeface="微软雅黑" panose="020B0503020204020204" pitchFamily="34" charset="-122"/>
                <a:ea typeface="微软雅黑" panose="020B0503020204020204" pitchFamily="34" charset="-122"/>
              </a:rPr>
              <a:t>，确认号 </a:t>
            </a:r>
            <a:r>
              <a:rPr lang="en-US" altLang="zh-CN" sz="1400" b="1" dirty="0">
                <a:solidFill>
                  <a:srgbClr val="000099"/>
                </a:solidFill>
                <a:latin typeface="微软雅黑" panose="020B0503020204020204" pitchFamily="34" charset="-122"/>
                <a:ea typeface="微软雅黑" panose="020B0503020204020204" pitchFamily="34" charset="-122"/>
              </a:rPr>
              <a:t>= 1001</a:t>
            </a:r>
            <a:r>
              <a:rPr lang="zh-CN" altLang="en-US" sz="1400" b="1" dirty="0">
                <a:solidFill>
                  <a:srgbClr val="000099"/>
                </a:solidFill>
                <a:latin typeface="微软雅黑" panose="020B0503020204020204" pitchFamily="34" charset="-122"/>
                <a:ea typeface="微软雅黑" panose="020B0503020204020204" pitchFamily="34" charset="-122"/>
              </a:rPr>
              <a:t>，窗口 </a:t>
            </a:r>
            <a:r>
              <a:rPr lang="en-US" altLang="zh-CN" sz="1400" b="1" dirty="0">
                <a:solidFill>
                  <a:srgbClr val="000099"/>
                </a:solidFill>
                <a:latin typeface="微软雅黑" panose="020B0503020204020204" pitchFamily="34" charset="-122"/>
                <a:ea typeface="微软雅黑" panose="020B0503020204020204" pitchFamily="34" charset="-122"/>
              </a:rPr>
              <a:t>= 6000</a:t>
            </a:r>
          </a:p>
        </p:txBody>
      </p:sp>
      <p:sp>
        <p:nvSpPr>
          <p:cNvPr id="9" name="标题 8">
            <a:extLst>
              <a:ext uri="{FF2B5EF4-FFF2-40B4-BE49-F238E27FC236}">
                <a16:creationId xmlns:a16="http://schemas.microsoft.com/office/drawing/2014/main" id="{DB56B080-E1B5-1069-DB96-786ED4854D95}"/>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5365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fade">
                                      <p:cBhvr>
                                        <p:cTn id="7" dur="5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animBg="1"/>
      <p:bldP spid="90" grpId="0" animBg="1"/>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AutoShape 5"/>
          <p:cNvSpPr>
            <a:spLocks noChangeArrowheads="1"/>
          </p:cNvSpPr>
          <p:nvPr/>
        </p:nvSpPr>
        <p:spPr bwMode="auto">
          <a:xfrm>
            <a:off x="556963" y="624295"/>
            <a:ext cx="8048776" cy="353930"/>
          </a:xfrm>
          <a:prstGeom prst="roundRect">
            <a:avLst>
              <a:gd name="adj" fmla="val 16667"/>
            </a:avLst>
          </a:prstGeom>
          <a:solidFill>
            <a:srgbClr val="00B050"/>
          </a:solidFill>
          <a:ln>
            <a:noFill/>
          </a:ln>
          <a:effectLst/>
        </p:spPr>
        <p:txBody>
          <a:bodyPr wrap="none" anchor="ctr"/>
          <a:lstStyle/>
          <a:p>
            <a:endParaRPr lang="zh-CN" altLang="en-US"/>
          </a:p>
        </p:txBody>
      </p:sp>
      <p:sp>
        <p:nvSpPr>
          <p:cNvPr id="8" name="Rectangle 6"/>
          <p:cNvSpPr>
            <a:spLocks noChangeArrowheads="1"/>
          </p:cNvSpPr>
          <p:nvPr/>
        </p:nvSpPr>
        <p:spPr bwMode="auto">
          <a:xfrm>
            <a:off x="2910511" y="591084"/>
            <a:ext cx="334168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zh-CN" sz="2000" b="1" dirty="0">
                <a:solidFill>
                  <a:schemeClr val="bg1"/>
                </a:solidFill>
                <a:latin typeface="微软雅黑" pitchFamily="34" charset="-122"/>
                <a:ea typeface="微软雅黑" pitchFamily="34" charset="-122"/>
              </a:rPr>
              <a:t>RFC 2018 </a:t>
            </a:r>
            <a:r>
              <a:rPr lang="zh-CN" altLang="en-US" sz="2000" b="1" dirty="0">
                <a:solidFill>
                  <a:schemeClr val="bg1"/>
                </a:solidFill>
                <a:latin typeface="微软雅黑" pitchFamily="34" charset="-122"/>
                <a:ea typeface="微软雅黑" pitchFamily="34" charset="-122"/>
              </a:rPr>
              <a:t>对 </a:t>
            </a:r>
            <a:r>
              <a:rPr lang="en-US" altLang="zh-CN" sz="2000" b="1" dirty="0">
                <a:solidFill>
                  <a:schemeClr val="bg1"/>
                </a:solidFill>
                <a:latin typeface="微软雅黑" pitchFamily="34" charset="-122"/>
                <a:ea typeface="微软雅黑" pitchFamily="34" charset="-122"/>
              </a:rPr>
              <a:t>SACK </a:t>
            </a:r>
            <a:r>
              <a:rPr lang="zh-CN" altLang="en-US" sz="2000" b="1" dirty="0">
                <a:solidFill>
                  <a:schemeClr val="bg1"/>
                </a:solidFill>
                <a:latin typeface="微软雅黑" pitchFamily="34" charset="-122"/>
                <a:ea typeface="微软雅黑" pitchFamily="34" charset="-122"/>
              </a:rPr>
              <a:t>的规定</a:t>
            </a:r>
          </a:p>
        </p:txBody>
      </p:sp>
      <p:sp>
        <p:nvSpPr>
          <p:cNvPr id="9" name="Rectangle 68"/>
          <p:cNvSpPr>
            <a:spLocks noChangeArrowheads="1"/>
          </p:cNvSpPr>
          <p:nvPr/>
        </p:nvSpPr>
        <p:spPr bwMode="auto">
          <a:xfrm>
            <a:off x="556963" y="987394"/>
            <a:ext cx="3701272" cy="36830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如果要使用</a:t>
            </a:r>
            <a:r>
              <a:rPr lang="zh-CN" altLang="en-US" b="1" dirty="0">
                <a:solidFill>
                  <a:srgbClr val="C00000"/>
                </a:solidFill>
                <a:latin typeface="微软雅黑" pitchFamily="34" charset="-122"/>
                <a:ea typeface="微软雅黑" pitchFamily="34" charset="-122"/>
              </a:rPr>
              <a:t>选择确认，</a:t>
            </a:r>
            <a:r>
              <a:rPr lang="zh-CN" altLang="en-US" b="1" dirty="0">
                <a:latin typeface="微软雅黑" pitchFamily="34" charset="-122"/>
                <a:ea typeface="微软雅黑" pitchFamily="34" charset="-122"/>
              </a:rPr>
              <a:t>在建立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连接时，要在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首部的选项中加上</a:t>
            </a:r>
            <a:r>
              <a:rPr lang="zh-CN" altLang="en-US" b="1" dirty="0">
                <a:solidFill>
                  <a:srgbClr val="C00000"/>
                </a:solidFill>
                <a:latin typeface="微软雅黑" pitchFamily="34" charset="-122"/>
                <a:ea typeface="微软雅黑" pitchFamily="34" charset="-122"/>
              </a:rPr>
              <a:t>允许 </a:t>
            </a:r>
            <a:r>
              <a:rPr lang="en-US" altLang="zh-CN" b="1" dirty="0">
                <a:solidFill>
                  <a:srgbClr val="C00000"/>
                </a:solidFill>
                <a:latin typeface="微软雅黑" pitchFamily="34" charset="-122"/>
                <a:ea typeface="微软雅黑" pitchFamily="34" charset="-122"/>
              </a:rPr>
              <a:t>SACK </a:t>
            </a:r>
            <a:r>
              <a:rPr lang="zh-CN" altLang="en-US" b="1" dirty="0">
                <a:latin typeface="微软雅黑" pitchFamily="34" charset="-122"/>
                <a:ea typeface="微软雅黑" pitchFamily="34" charset="-122"/>
              </a:rPr>
              <a:t>选项，且双方必须事先商定好。</a:t>
            </a:r>
            <a:endParaRPr lang="en-US" altLang="zh-CN" b="1" dirty="0">
              <a:latin typeface="微软雅黑" pitchFamily="34" charset="-122"/>
              <a:ea typeface="微软雅黑" pitchFamily="34" charset="-122"/>
            </a:endParaRPr>
          </a:p>
          <a:p>
            <a:pPr marL="342900" indent="-342900">
              <a:lnSpc>
                <a:spcPts val="2800"/>
              </a:lnSpc>
              <a:buClr>
                <a:srgbClr val="0070C0"/>
              </a:buClr>
              <a:buFont typeface="Wingdings" pitchFamily="2" charset="2"/>
              <a:buChar char="l"/>
            </a:pPr>
            <a:r>
              <a:rPr lang="zh-CN" altLang="en-US" b="1" dirty="0">
                <a:latin typeface="微软雅黑" pitchFamily="34" charset="-122"/>
                <a:ea typeface="微软雅黑" pitchFamily="34" charset="-122"/>
              </a:rPr>
              <a:t>如果使用选择确认，原来首部中的</a:t>
            </a:r>
            <a:r>
              <a:rPr lang="zh-CN" altLang="en-US" b="1" dirty="0">
                <a:solidFill>
                  <a:srgbClr val="C00000"/>
                </a:solidFill>
                <a:latin typeface="微软雅黑" pitchFamily="34" charset="-122"/>
                <a:ea typeface="微软雅黑" pitchFamily="34" charset="-122"/>
              </a:rPr>
              <a:t>确认号</a:t>
            </a:r>
            <a:r>
              <a:rPr lang="zh-CN" altLang="en-US" b="1" dirty="0">
                <a:latin typeface="微软雅黑" pitchFamily="34" charset="-122"/>
                <a:ea typeface="微软雅黑" pitchFamily="34" charset="-122"/>
              </a:rPr>
              <a:t>的用法仍然不变（累积确认）。只是在 </a:t>
            </a:r>
            <a:r>
              <a:rPr lang="en-US" altLang="zh-CN" b="1" dirty="0">
                <a:latin typeface="微软雅黑" pitchFamily="34" charset="-122"/>
                <a:ea typeface="微软雅黑" pitchFamily="34" charset="-122"/>
              </a:rPr>
              <a:t>TCP </a:t>
            </a:r>
            <a:r>
              <a:rPr lang="zh-CN" altLang="en-US" b="1" dirty="0">
                <a:latin typeface="微软雅黑" pitchFamily="34" charset="-122"/>
                <a:ea typeface="微软雅黑" pitchFamily="34" charset="-122"/>
              </a:rPr>
              <a:t>首部中都增加了 </a:t>
            </a:r>
            <a:r>
              <a:rPr lang="en-US" altLang="zh-CN" b="1" dirty="0">
                <a:solidFill>
                  <a:srgbClr val="C00000"/>
                </a:solidFill>
                <a:latin typeface="微软雅黑" pitchFamily="34" charset="-122"/>
                <a:ea typeface="微软雅黑" pitchFamily="34" charset="-122"/>
              </a:rPr>
              <a:t>SACK </a:t>
            </a:r>
            <a:r>
              <a:rPr lang="zh-CN" altLang="en-US" b="1" dirty="0">
                <a:solidFill>
                  <a:srgbClr val="C00000"/>
                </a:solidFill>
                <a:latin typeface="微软雅黑" pitchFamily="34" charset="-122"/>
                <a:ea typeface="微软雅黑" pitchFamily="34" charset="-122"/>
              </a:rPr>
              <a:t>选项，</a:t>
            </a:r>
            <a:r>
              <a:rPr lang="zh-CN" altLang="en-US" b="1" dirty="0">
                <a:latin typeface="微软雅黑" pitchFamily="34" charset="-122"/>
                <a:ea typeface="微软雅黑" pitchFamily="34" charset="-122"/>
              </a:rPr>
              <a:t>以便报告收到的</a:t>
            </a:r>
            <a:r>
              <a:rPr lang="zh-CN" altLang="en-US" b="1" dirty="0">
                <a:solidFill>
                  <a:srgbClr val="0000FF"/>
                </a:solidFill>
                <a:latin typeface="微软雅黑" pitchFamily="34" charset="-122"/>
                <a:ea typeface="微软雅黑" pitchFamily="34" charset="-122"/>
              </a:rPr>
              <a:t>不连续的</a:t>
            </a:r>
            <a:r>
              <a:rPr lang="zh-CN" altLang="en-US" b="1" dirty="0">
                <a:latin typeface="微软雅黑" pitchFamily="34" charset="-122"/>
                <a:ea typeface="微软雅黑" pitchFamily="34" charset="-122"/>
              </a:rPr>
              <a:t>字节块的</a:t>
            </a:r>
            <a:r>
              <a:rPr lang="zh-CN" altLang="en-US" b="1" dirty="0">
                <a:solidFill>
                  <a:srgbClr val="C00000"/>
                </a:solidFill>
                <a:latin typeface="微软雅黑" pitchFamily="34" charset="-122"/>
                <a:ea typeface="微软雅黑" pitchFamily="34" charset="-122"/>
              </a:rPr>
              <a:t>边界。</a:t>
            </a:r>
          </a:p>
        </p:txBody>
      </p:sp>
      <p:grpSp>
        <p:nvGrpSpPr>
          <p:cNvPr id="4" name="组合 3"/>
          <p:cNvGrpSpPr/>
          <p:nvPr/>
        </p:nvGrpSpPr>
        <p:grpSpPr>
          <a:xfrm>
            <a:off x="5988418" y="1213171"/>
            <a:ext cx="1922724" cy="259977"/>
            <a:chOff x="6306464" y="1362635"/>
            <a:chExt cx="2043954" cy="259977"/>
          </a:xfrm>
        </p:grpSpPr>
        <p:sp>
          <p:nvSpPr>
            <p:cNvPr id="2" name="矩形 1"/>
            <p:cNvSpPr/>
            <p:nvPr/>
          </p:nvSpPr>
          <p:spPr>
            <a:xfrm>
              <a:off x="6306464" y="136263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4</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1" name="矩形 10"/>
            <p:cNvSpPr/>
            <p:nvPr/>
          </p:nvSpPr>
          <p:spPr>
            <a:xfrm>
              <a:off x="7328441" y="136263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=2</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12" name="Rectangle 12"/>
          <p:cNvSpPr>
            <a:spLocks noChangeArrowheads="1"/>
          </p:cNvSpPr>
          <p:nvPr/>
        </p:nvSpPr>
        <p:spPr bwMode="auto">
          <a:xfrm>
            <a:off x="6078248" y="1472381"/>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solidFill>
                  <a:srgbClr val="C00000"/>
                </a:solidFill>
                <a:latin typeface="微软雅黑" panose="020B0503020204020204" pitchFamily="34" charset="-122"/>
                <a:ea typeface="微软雅黑" panose="020B0503020204020204" pitchFamily="34" charset="-122"/>
              </a:rPr>
              <a:t>允许 </a:t>
            </a: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6" name="组合 25"/>
          <p:cNvGrpSpPr/>
          <p:nvPr/>
        </p:nvGrpSpPr>
        <p:grpSpPr>
          <a:xfrm>
            <a:off x="4365806" y="1903438"/>
            <a:ext cx="4598901" cy="2643577"/>
            <a:chOff x="4365806" y="1903438"/>
            <a:chExt cx="4598901" cy="2643577"/>
          </a:xfrm>
        </p:grpSpPr>
        <p:sp>
          <p:nvSpPr>
            <p:cNvPr id="10" name="AutoShape 13"/>
            <p:cNvSpPr>
              <a:spLocks/>
            </p:cNvSpPr>
            <p:nvPr/>
          </p:nvSpPr>
          <p:spPr bwMode="auto">
            <a:xfrm flipH="1">
              <a:off x="7933757" y="2190662"/>
              <a:ext cx="175656" cy="2039611"/>
            </a:xfrm>
            <a:prstGeom prst="leftBrace">
              <a:avLst>
                <a:gd name="adj1" fmla="val 42270"/>
                <a:gd name="adj2" fmla="val 50000"/>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Rectangle 12"/>
            <p:cNvSpPr>
              <a:spLocks noChangeArrowheads="1"/>
            </p:cNvSpPr>
            <p:nvPr/>
          </p:nvSpPr>
          <p:spPr bwMode="auto">
            <a:xfrm>
              <a:off x="5400543" y="4239238"/>
              <a:ext cx="1810953"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zh-CN" sz="1400" b="1" dirty="0">
                  <a:solidFill>
                    <a:srgbClr val="C00000"/>
                  </a:solidFill>
                  <a:latin typeface="微软雅黑" panose="020B0503020204020204" pitchFamily="34" charset="-122"/>
                  <a:ea typeface="微软雅黑" panose="020B0503020204020204" pitchFamily="34" charset="-122"/>
                </a:rPr>
                <a:t>SACK </a:t>
              </a:r>
              <a:r>
                <a:rPr lang="zh-CN" altLang="en-US" sz="1400" b="1" dirty="0">
                  <a:solidFill>
                    <a:srgbClr val="C00000"/>
                  </a:solidFill>
                  <a:latin typeface="微软雅黑" panose="020B0503020204020204" pitchFamily="34" charset="-122"/>
                  <a:ea typeface="微软雅黑" panose="020B0503020204020204" pitchFamily="34" charset="-122"/>
                </a:rPr>
                <a:t>选项</a:t>
              </a:r>
              <a:endParaRPr lang="en-US" altLang="zh-CN" sz="1400" b="1" dirty="0">
                <a:solidFill>
                  <a:srgbClr val="C00000"/>
                </a:solidFill>
                <a:latin typeface="微软雅黑" panose="020B0503020204020204" pitchFamily="34" charset="-122"/>
                <a:ea typeface="微软雅黑" panose="020B0503020204020204" pitchFamily="34" charset="-122"/>
              </a:endParaRPr>
            </a:p>
          </p:txBody>
        </p:sp>
        <p:grpSp>
          <p:nvGrpSpPr>
            <p:cNvPr id="24" name="组合 23"/>
            <p:cNvGrpSpPr/>
            <p:nvPr/>
          </p:nvGrpSpPr>
          <p:grpSpPr>
            <a:xfrm>
              <a:off x="4365806" y="1903438"/>
              <a:ext cx="3545336" cy="2336725"/>
              <a:chOff x="4805082" y="2217885"/>
              <a:chExt cx="3545336" cy="2336725"/>
            </a:xfrm>
          </p:grpSpPr>
          <p:grpSp>
            <p:nvGrpSpPr>
              <p:cNvPr id="3" name="组合 2"/>
              <p:cNvGrpSpPr/>
              <p:nvPr/>
            </p:nvGrpSpPr>
            <p:grpSpPr>
              <a:xfrm>
                <a:off x="6427694" y="2217885"/>
                <a:ext cx="1922724" cy="259977"/>
                <a:chOff x="6306464" y="2217885"/>
                <a:chExt cx="2043954" cy="259977"/>
              </a:xfrm>
            </p:grpSpPr>
            <p:sp>
              <p:nvSpPr>
                <p:cNvPr id="13" name="矩形 1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14" name="矩形 1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a:t>
                  </a:r>
                  <a:r>
                    <a:rPr lang="zh-CN" altLang="en-US" sz="1200" b="1" dirty="0">
                      <a:solidFill>
                        <a:srgbClr val="000066"/>
                      </a:solidFill>
                      <a:latin typeface="微软雅黑" panose="020B0503020204020204" pitchFamily="34" charset="-122"/>
                      <a:ea typeface="微软雅黑" panose="020B0503020204020204" pitchFamily="34" charset="-122"/>
                    </a:rPr>
                    <a:t>？</a:t>
                  </a:r>
                </a:p>
              </p:txBody>
            </p:sp>
          </p:grpSp>
          <p:sp>
            <p:nvSpPr>
              <p:cNvPr id="16" name="矩形 15"/>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7" name="矩形 16"/>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1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18" name="矩形 17"/>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19" name="矩形 18"/>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2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0" name="矩形 19"/>
              <p:cNvSpPr/>
              <p:nvPr/>
            </p:nvSpPr>
            <p:spPr>
              <a:xfrm>
                <a:off x="4805082" y="3515469"/>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1" name="矩形 20"/>
              <p:cNvSpPr/>
              <p:nvPr/>
            </p:nvSpPr>
            <p:spPr>
              <a:xfrm>
                <a:off x="4805082" y="3775446"/>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3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sp>
            <p:nvSpPr>
              <p:cNvPr id="22" name="矩形 21"/>
              <p:cNvSpPr/>
              <p:nvPr/>
            </p:nvSpPr>
            <p:spPr>
              <a:xfrm>
                <a:off x="4805082" y="4034656"/>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个字节块的左边界</a:t>
                </a:r>
              </a:p>
            </p:txBody>
          </p:sp>
          <p:sp>
            <p:nvSpPr>
              <p:cNvPr id="23" name="矩形 22"/>
              <p:cNvSpPr/>
              <p:nvPr/>
            </p:nvSpPr>
            <p:spPr>
              <a:xfrm>
                <a:off x="4805082" y="4294633"/>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第 </a:t>
                </a:r>
                <a:r>
                  <a:rPr lang="en-US" altLang="zh-CN" sz="1200" b="1" dirty="0">
                    <a:solidFill>
                      <a:srgbClr val="000066"/>
                    </a:solidFill>
                    <a:latin typeface="微软雅黑" panose="020B0503020204020204" pitchFamily="34" charset="-122"/>
                    <a:ea typeface="微软雅黑" panose="020B0503020204020204" pitchFamily="34" charset="-122"/>
                  </a:rPr>
                  <a:t>4 </a:t>
                </a:r>
                <a:r>
                  <a:rPr lang="zh-CN" altLang="en-US" sz="1200" b="1" dirty="0">
                    <a:solidFill>
                      <a:srgbClr val="000066"/>
                    </a:solidFill>
                    <a:latin typeface="微软雅黑" panose="020B0503020204020204" pitchFamily="34" charset="-122"/>
                    <a:ea typeface="微软雅黑" panose="020B0503020204020204" pitchFamily="34" charset="-122"/>
                  </a:rPr>
                  <a:t>个字节块的右边界</a:t>
                </a:r>
              </a:p>
            </p:txBody>
          </p:sp>
        </p:grpSp>
        <p:sp>
          <p:nvSpPr>
            <p:cNvPr id="25" name="Rectangle 12"/>
            <p:cNvSpPr>
              <a:spLocks noChangeArrowheads="1"/>
            </p:cNvSpPr>
            <p:nvPr/>
          </p:nvSpPr>
          <p:spPr bwMode="auto">
            <a:xfrm>
              <a:off x="8021585" y="2934685"/>
              <a:ext cx="94312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prstDash val="dash"/>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zh-CN" altLang="en-US" sz="1400" b="1" dirty="0">
                  <a:latin typeface="微软雅黑" panose="020B0503020204020204" pitchFamily="34" charset="-122"/>
                  <a:ea typeface="微软雅黑" panose="020B0503020204020204" pitchFamily="34" charset="-122"/>
                </a:rPr>
                <a:t>最多 </a:t>
              </a:r>
              <a:r>
                <a:rPr lang="en-US" altLang="zh-CN" sz="1400" b="1" dirty="0">
                  <a:latin typeface="微软雅黑" panose="020B0503020204020204" pitchFamily="34" charset="-122"/>
                  <a:ea typeface="微软雅黑" panose="020B0503020204020204" pitchFamily="34" charset="-122"/>
                </a:rPr>
                <a:t>4 </a:t>
              </a:r>
              <a:r>
                <a:rPr lang="zh-CN" altLang="en-US" sz="1400" b="1" dirty="0">
                  <a:latin typeface="微软雅黑" panose="020B0503020204020204" pitchFamily="34" charset="-122"/>
                  <a:ea typeface="微软雅黑" panose="020B0503020204020204" pitchFamily="34" charset="-122"/>
                </a:rPr>
                <a:t>个</a:t>
              </a:r>
              <a:endParaRPr lang="en-US" altLang="zh-CN" sz="1400" b="1" dirty="0">
                <a:latin typeface="微软雅黑" panose="020B0503020204020204" pitchFamily="34" charset="-122"/>
                <a:ea typeface="微软雅黑" panose="020B0503020204020204" pitchFamily="34" charset="-122"/>
              </a:endParaRPr>
            </a:p>
            <a:p>
              <a:pPr algn="ctr"/>
              <a:r>
                <a:rPr lang="zh-CN" altLang="en-US" sz="1400" b="1" dirty="0">
                  <a:latin typeface="微软雅黑" panose="020B0503020204020204" pitchFamily="34" charset="-122"/>
                  <a:ea typeface="微软雅黑" panose="020B0503020204020204" pitchFamily="34" charset="-122"/>
                </a:rPr>
                <a:t>字节块</a:t>
              </a:r>
              <a:endParaRPr lang="en-US" altLang="zh-CN" sz="1400" b="1" dirty="0">
                <a:latin typeface="微软雅黑" panose="020B0503020204020204" pitchFamily="34" charset="-122"/>
                <a:ea typeface="微软雅黑" panose="020B0503020204020204" pitchFamily="34" charset="-122"/>
              </a:endParaRPr>
            </a:p>
          </p:txBody>
        </p:sp>
      </p:grpSp>
      <p:sp>
        <p:nvSpPr>
          <p:cNvPr id="27" name="标题 26">
            <a:extLst>
              <a:ext uri="{FF2B5EF4-FFF2-40B4-BE49-F238E27FC236}">
                <a16:creationId xmlns:a16="http://schemas.microsoft.com/office/drawing/2014/main" id="{CEA8387E-176B-9B28-850B-6B8F182A7141}"/>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7604409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6"/>
          <p:cNvSpPr>
            <a:spLocks noChangeArrowheads="1"/>
          </p:cNvSpPr>
          <p:nvPr/>
        </p:nvSpPr>
        <p:spPr bwMode="auto">
          <a:xfrm>
            <a:off x="1403441" y="1417747"/>
            <a:ext cx="1543723"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1" name="Rectangle 7"/>
          <p:cNvSpPr>
            <a:spLocks noChangeArrowheads="1"/>
          </p:cNvSpPr>
          <p:nvPr/>
        </p:nvSpPr>
        <p:spPr bwMode="auto">
          <a:xfrm>
            <a:off x="3585299" y="1417747"/>
            <a:ext cx="1436975"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2" name="Rectangle 8"/>
          <p:cNvSpPr>
            <a:spLocks noChangeArrowheads="1"/>
          </p:cNvSpPr>
          <p:nvPr/>
        </p:nvSpPr>
        <p:spPr bwMode="auto">
          <a:xfrm>
            <a:off x="5606448" y="1417747"/>
            <a:ext cx="2022324" cy="294524"/>
          </a:xfrm>
          <a:prstGeom prst="rect">
            <a:avLst/>
          </a:prstGeom>
          <a:solidFill>
            <a:srgbClr val="00FFFF"/>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solidFill>
                <a:srgbClr val="000099"/>
              </a:solidFill>
              <a:latin typeface="微软雅黑" pitchFamily="34" charset="-122"/>
              <a:ea typeface="微软雅黑" pitchFamily="34" charset="-122"/>
            </a:endParaRPr>
          </a:p>
        </p:txBody>
      </p:sp>
      <p:sp>
        <p:nvSpPr>
          <p:cNvPr id="14" name="Text Box 19"/>
          <p:cNvSpPr txBox="1">
            <a:spLocks noChangeArrowheads="1"/>
          </p:cNvSpPr>
          <p:nvPr/>
        </p:nvSpPr>
        <p:spPr bwMode="auto">
          <a:xfrm>
            <a:off x="2062023" y="1908649"/>
            <a:ext cx="1234633"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solidFill>
                  <a:srgbClr val="CC00CC"/>
                </a:solidFill>
                <a:latin typeface="微软雅黑" pitchFamily="34" charset="-122"/>
                <a:ea typeface="微软雅黑" pitchFamily="34" charset="-122"/>
              </a:rPr>
              <a:t>确认号 </a:t>
            </a:r>
            <a:r>
              <a:rPr lang="en-US" altLang="zh-CN" sz="1200" b="1" dirty="0">
                <a:solidFill>
                  <a:srgbClr val="CC00CC"/>
                </a:solidFill>
                <a:latin typeface="微软雅黑" pitchFamily="34" charset="-122"/>
                <a:ea typeface="微软雅黑" pitchFamily="34" charset="-122"/>
              </a:rPr>
              <a:t>= 1001</a:t>
            </a:r>
          </a:p>
        </p:txBody>
      </p:sp>
      <p:sp>
        <p:nvSpPr>
          <p:cNvPr id="19" name="Line 5"/>
          <p:cNvSpPr>
            <a:spLocks noChangeShapeType="1"/>
          </p:cNvSpPr>
          <p:nvPr/>
        </p:nvSpPr>
        <p:spPr bwMode="auto">
          <a:xfrm>
            <a:off x="1403441" y="1232136"/>
            <a:ext cx="1543723" cy="0"/>
          </a:xfrm>
          <a:prstGeom prst="line">
            <a:avLst/>
          </a:prstGeom>
          <a:noFill/>
          <a:ln w="1905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0" name="Text Box 9"/>
          <p:cNvSpPr txBox="1">
            <a:spLocks noChangeArrowheads="1"/>
          </p:cNvSpPr>
          <p:nvPr/>
        </p:nvSpPr>
        <p:spPr bwMode="auto">
          <a:xfrm>
            <a:off x="3052377" y="1355092"/>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1" name="Text Box 10"/>
          <p:cNvSpPr txBox="1">
            <a:spLocks noChangeArrowheads="1"/>
          </p:cNvSpPr>
          <p:nvPr/>
        </p:nvSpPr>
        <p:spPr bwMode="auto">
          <a:xfrm>
            <a:off x="5148159" y="1331067"/>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2" name="Line 11"/>
          <p:cNvSpPr>
            <a:spLocks noChangeShapeType="1"/>
          </p:cNvSpPr>
          <p:nvPr/>
        </p:nvSpPr>
        <p:spPr bwMode="auto">
          <a:xfrm flipH="1">
            <a:off x="1416731"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3" name="Text Box 12"/>
          <p:cNvSpPr txBox="1">
            <a:spLocks noChangeArrowheads="1"/>
          </p:cNvSpPr>
          <p:nvPr/>
        </p:nvSpPr>
        <p:spPr bwMode="auto">
          <a:xfrm>
            <a:off x="1633145" y="1108097"/>
            <a:ext cx="1107996" cy="276999"/>
          </a:xfrm>
          <a:prstGeom prst="rect">
            <a:avLst/>
          </a:prstGeom>
          <a:solidFill>
            <a:srgbClr val="C3E3F9"/>
          </a:solidFill>
          <a:ln>
            <a:noFill/>
          </a:ln>
          <a:effectLst/>
        </p:spPr>
        <p:txBody>
          <a:bodyPr wrap="none">
            <a:spAutoFit/>
          </a:bodyPr>
          <a:lstStyle/>
          <a:p>
            <a:r>
              <a:rPr lang="zh-CN" altLang="en-US" sz="1200" b="1" dirty="0">
                <a:latin typeface="微软雅黑" pitchFamily="34" charset="-122"/>
                <a:ea typeface="微软雅黑" pitchFamily="34" charset="-122"/>
              </a:rPr>
              <a:t>连续的字节流</a:t>
            </a:r>
          </a:p>
        </p:txBody>
      </p:sp>
      <p:sp>
        <p:nvSpPr>
          <p:cNvPr id="24" name="Line 14"/>
          <p:cNvSpPr>
            <a:spLocks noChangeShapeType="1"/>
          </p:cNvSpPr>
          <p:nvPr/>
        </p:nvSpPr>
        <p:spPr bwMode="auto">
          <a:xfrm flipV="1">
            <a:off x="2981181" y="1613736"/>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5" name="Text Box 16"/>
          <p:cNvSpPr txBox="1">
            <a:spLocks noChangeArrowheads="1"/>
          </p:cNvSpPr>
          <p:nvPr/>
        </p:nvSpPr>
        <p:spPr bwMode="auto">
          <a:xfrm>
            <a:off x="2000518"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dirty="0">
                <a:solidFill>
                  <a:srgbClr val="000099"/>
                </a:solidFill>
                <a:latin typeface="微软雅黑" pitchFamily="34" charset="-122"/>
                <a:ea typeface="微软雅黑" pitchFamily="34" charset="-122"/>
              </a:rPr>
              <a:t>…</a:t>
            </a:r>
          </a:p>
        </p:txBody>
      </p:sp>
      <p:sp>
        <p:nvSpPr>
          <p:cNvPr id="26" name="Text Box 17"/>
          <p:cNvSpPr txBox="1">
            <a:spLocks noChangeArrowheads="1"/>
          </p:cNvSpPr>
          <p:nvPr/>
        </p:nvSpPr>
        <p:spPr bwMode="auto">
          <a:xfrm>
            <a:off x="4128416"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sp>
        <p:nvSpPr>
          <p:cNvPr id="27" name="Text Box 18"/>
          <p:cNvSpPr txBox="1">
            <a:spLocks noChangeArrowheads="1"/>
          </p:cNvSpPr>
          <p:nvPr/>
        </p:nvSpPr>
        <p:spPr bwMode="auto">
          <a:xfrm>
            <a:off x="6522594" y="1350613"/>
            <a:ext cx="357790" cy="3077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400" b="1">
                <a:solidFill>
                  <a:srgbClr val="000099"/>
                </a:solidFill>
                <a:latin typeface="微软雅黑" pitchFamily="34" charset="-122"/>
                <a:ea typeface="微软雅黑" pitchFamily="34" charset="-122"/>
              </a:rPr>
              <a:t>…</a:t>
            </a:r>
          </a:p>
        </p:txBody>
      </p:sp>
      <p:grpSp>
        <p:nvGrpSpPr>
          <p:cNvPr id="2" name="组合 1"/>
          <p:cNvGrpSpPr/>
          <p:nvPr/>
        </p:nvGrpSpPr>
        <p:grpSpPr>
          <a:xfrm>
            <a:off x="3415064" y="1613736"/>
            <a:ext cx="2087943" cy="571913"/>
            <a:chOff x="3415064" y="2475207"/>
            <a:chExt cx="2087943" cy="571913"/>
          </a:xfrm>
        </p:grpSpPr>
        <p:sp>
          <p:nvSpPr>
            <p:cNvPr id="15" name="Text Box 26"/>
            <p:cNvSpPr txBox="1">
              <a:spLocks noChangeArrowheads="1"/>
            </p:cNvSpPr>
            <p:nvPr/>
          </p:nvSpPr>
          <p:spPr bwMode="auto">
            <a:xfrm>
              <a:off x="3415064"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a:latin typeface="微软雅黑" pitchFamily="34" charset="-122"/>
                  <a:ea typeface="微软雅黑" pitchFamily="34" charset="-122"/>
                </a:rPr>
                <a:t>L</a:t>
              </a:r>
              <a:r>
                <a:rPr lang="en-US" altLang="zh-CN" sz="1200" b="1" baseline="-25000">
                  <a:latin typeface="微软雅黑" pitchFamily="34" charset="-122"/>
                  <a:ea typeface="微软雅黑" pitchFamily="34" charset="-122"/>
                </a:rPr>
                <a:t>1</a:t>
              </a:r>
              <a:r>
                <a:rPr lang="en-US" altLang="zh-CN" sz="1200" b="1">
                  <a:latin typeface="微软雅黑" pitchFamily="34" charset="-122"/>
                  <a:ea typeface="微软雅黑" pitchFamily="34" charset="-122"/>
                </a:rPr>
                <a:t> = 1501</a:t>
              </a:r>
            </a:p>
          </p:txBody>
        </p:sp>
        <p:sp>
          <p:nvSpPr>
            <p:cNvPr id="17" name="Text Box 28"/>
            <p:cNvSpPr txBox="1">
              <a:spLocks noChangeArrowheads="1"/>
            </p:cNvSpPr>
            <p:nvPr/>
          </p:nvSpPr>
          <p:spPr bwMode="auto">
            <a:xfrm>
              <a:off x="4560120" y="2770120"/>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3001</a:t>
              </a:r>
            </a:p>
          </p:txBody>
        </p:sp>
        <p:sp>
          <p:nvSpPr>
            <p:cNvPr id="28" name="Line 20"/>
            <p:cNvSpPr>
              <a:spLocks noChangeShapeType="1"/>
            </p:cNvSpPr>
            <p:nvPr/>
          </p:nvSpPr>
          <p:spPr bwMode="auto">
            <a:xfrm flipV="1">
              <a:off x="3833544"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29" name="Line 21"/>
            <p:cNvSpPr>
              <a:spLocks noChangeShapeType="1"/>
            </p:cNvSpPr>
            <p:nvPr/>
          </p:nvSpPr>
          <p:spPr bwMode="auto">
            <a:xfrm flipV="1">
              <a:off x="5075061"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grpSp>
        <p:nvGrpSpPr>
          <p:cNvPr id="3" name="组合 2"/>
          <p:cNvGrpSpPr/>
          <p:nvPr/>
        </p:nvGrpSpPr>
        <p:grpSpPr>
          <a:xfrm>
            <a:off x="5527383" y="1613736"/>
            <a:ext cx="2522583" cy="571913"/>
            <a:chOff x="5527383" y="2475207"/>
            <a:chExt cx="2522583" cy="571913"/>
          </a:xfrm>
        </p:grpSpPr>
        <p:sp>
          <p:nvSpPr>
            <p:cNvPr id="16" name="Text Box 27"/>
            <p:cNvSpPr txBox="1">
              <a:spLocks noChangeArrowheads="1"/>
            </p:cNvSpPr>
            <p:nvPr/>
          </p:nvSpPr>
          <p:spPr bwMode="auto">
            <a:xfrm>
              <a:off x="5527383" y="2770120"/>
              <a:ext cx="920445"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L</a:t>
              </a:r>
              <a:r>
                <a:rPr lang="en-US" altLang="zh-CN" sz="1200" b="1" baseline="-25000" dirty="0">
                  <a:latin typeface="微软雅黑" pitchFamily="34" charset="-122"/>
                  <a:ea typeface="微软雅黑" pitchFamily="34" charset="-122"/>
                </a:rPr>
                <a:t>2</a:t>
              </a:r>
              <a:r>
                <a:rPr lang="en-US" altLang="zh-CN" sz="1200" b="1" dirty="0">
                  <a:latin typeface="微软雅黑" pitchFamily="34" charset="-122"/>
                  <a:ea typeface="微软雅黑" pitchFamily="34" charset="-122"/>
                </a:rPr>
                <a:t> = 3501</a:t>
              </a:r>
            </a:p>
          </p:txBody>
        </p:sp>
        <p:sp>
          <p:nvSpPr>
            <p:cNvPr id="18" name="Text Box 29"/>
            <p:cNvSpPr txBox="1">
              <a:spLocks noChangeArrowheads="1"/>
            </p:cNvSpPr>
            <p:nvPr/>
          </p:nvSpPr>
          <p:spPr bwMode="auto">
            <a:xfrm>
              <a:off x="7107079" y="2755465"/>
              <a:ext cx="942887" cy="2770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1200" b="1" dirty="0">
                  <a:latin typeface="微软雅黑" pitchFamily="34" charset="-122"/>
                  <a:ea typeface="微软雅黑" pitchFamily="34" charset="-122"/>
                </a:rPr>
                <a:t>R</a:t>
              </a:r>
              <a:r>
                <a:rPr lang="en-US" altLang="zh-CN" sz="1200" b="1" baseline="-25000" dirty="0">
                  <a:latin typeface="微软雅黑" pitchFamily="34" charset="-122"/>
                  <a:ea typeface="微软雅黑" pitchFamily="34" charset="-122"/>
                </a:rPr>
                <a:t>1</a:t>
              </a:r>
              <a:r>
                <a:rPr lang="en-US" altLang="zh-CN" sz="1200" b="1" dirty="0">
                  <a:latin typeface="微软雅黑" pitchFamily="34" charset="-122"/>
                  <a:ea typeface="微软雅黑" pitchFamily="34" charset="-122"/>
                </a:rPr>
                <a:t> = 4501</a:t>
              </a:r>
            </a:p>
          </p:txBody>
        </p:sp>
        <p:sp>
          <p:nvSpPr>
            <p:cNvPr id="30" name="Line 22"/>
            <p:cNvSpPr>
              <a:spLocks noChangeShapeType="1"/>
            </p:cNvSpPr>
            <p:nvPr/>
          </p:nvSpPr>
          <p:spPr bwMode="auto">
            <a:xfrm flipV="1">
              <a:off x="59104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1" name="Line 23"/>
            <p:cNvSpPr>
              <a:spLocks noChangeShapeType="1"/>
            </p:cNvSpPr>
            <p:nvPr/>
          </p:nvSpPr>
          <p:spPr bwMode="auto">
            <a:xfrm flipV="1">
              <a:off x="7681559" y="2475207"/>
              <a:ext cx="0" cy="294524"/>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grpSp>
      <p:sp>
        <p:nvSpPr>
          <p:cNvPr id="32" name="Text Box 24"/>
          <p:cNvSpPr txBox="1">
            <a:spLocks noChangeArrowheads="1"/>
          </p:cNvSpPr>
          <p:nvPr/>
        </p:nvSpPr>
        <p:spPr bwMode="auto">
          <a:xfrm>
            <a:off x="3761042" y="1099435"/>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第一个字节块</a:t>
            </a:r>
          </a:p>
        </p:txBody>
      </p:sp>
      <p:sp>
        <p:nvSpPr>
          <p:cNvPr id="33" name="Text Box 25"/>
          <p:cNvSpPr txBox="1">
            <a:spLocks noChangeArrowheads="1"/>
          </p:cNvSpPr>
          <p:nvPr/>
        </p:nvSpPr>
        <p:spPr bwMode="auto">
          <a:xfrm>
            <a:off x="6129413" y="1092938"/>
            <a:ext cx="1107996" cy="276999"/>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1200" b="1" dirty="0">
                <a:latin typeface="微软雅黑" pitchFamily="34" charset="-122"/>
                <a:ea typeface="微软雅黑" pitchFamily="34" charset="-122"/>
              </a:rPr>
              <a:t>第二个字节块</a:t>
            </a:r>
          </a:p>
        </p:txBody>
      </p:sp>
      <p:sp>
        <p:nvSpPr>
          <p:cNvPr id="34" name="Line 11"/>
          <p:cNvSpPr>
            <a:spLocks noChangeShapeType="1"/>
          </p:cNvSpPr>
          <p:nvPr/>
        </p:nvSpPr>
        <p:spPr bwMode="auto">
          <a:xfrm flipH="1">
            <a:off x="2947164" y="1166087"/>
            <a:ext cx="0" cy="18082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7" name="Text Box 15"/>
          <p:cNvSpPr txBox="1">
            <a:spLocks noChangeArrowheads="1"/>
          </p:cNvSpPr>
          <p:nvPr/>
        </p:nvSpPr>
        <p:spPr bwMode="auto">
          <a:xfrm>
            <a:off x="1412133" y="1404510"/>
            <a:ext cx="6420435" cy="30777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1400" b="1" dirty="0">
                <a:solidFill>
                  <a:srgbClr val="0000FF"/>
                </a:solidFill>
                <a:latin typeface="微软雅黑" pitchFamily="34" charset="-122"/>
                <a:ea typeface="微软雅黑" pitchFamily="34" charset="-122"/>
              </a:rPr>
              <a:t>1                1000              1501         3000              3501                   4500</a:t>
            </a:r>
          </a:p>
        </p:txBody>
      </p:sp>
      <p:grpSp>
        <p:nvGrpSpPr>
          <p:cNvPr id="4" name="组合 3"/>
          <p:cNvGrpSpPr/>
          <p:nvPr/>
        </p:nvGrpSpPr>
        <p:grpSpPr>
          <a:xfrm>
            <a:off x="1836669" y="2453730"/>
            <a:ext cx="5628778" cy="1298351"/>
            <a:chOff x="1836669" y="2453730"/>
            <a:chExt cx="5628778" cy="1298351"/>
          </a:xfrm>
        </p:grpSpPr>
        <p:sp>
          <p:nvSpPr>
            <p:cNvPr id="38" name="矩形 37"/>
            <p:cNvSpPr/>
            <p:nvPr/>
          </p:nvSpPr>
          <p:spPr>
            <a:xfrm>
              <a:off x="1836669" y="2712940"/>
              <a:ext cx="1808943"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确认号 </a:t>
              </a:r>
              <a:r>
                <a:rPr lang="en-US" altLang="zh-CN" sz="1200" b="1" dirty="0">
                  <a:solidFill>
                    <a:srgbClr val="000066"/>
                  </a:solidFill>
                  <a:latin typeface="微软雅黑" panose="020B0503020204020204" pitchFamily="34" charset="-122"/>
                  <a:ea typeface="微软雅黑" panose="020B0503020204020204" pitchFamily="34" charset="-122"/>
                </a:rPr>
                <a:t>=1001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nvGrpSpPr>
            <p:cNvPr id="42" name="组合 41"/>
            <p:cNvGrpSpPr/>
            <p:nvPr/>
          </p:nvGrpSpPr>
          <p:grpSpPr>
            <a:xfrm>
              <a:off x="3920111" y="2453730"/>
              <a:ext cx="3545336" cy="1298351"/>
              <a:chOff x="4805082" y="2217885"/>
              <a:chExt cx="3545336" cy="1298351"/>
            </a:xfrm>
          </p:grpSpPr>
          <p:grpSp>
            <p:nvGrpSpPr>
              <p:cNvPr id="44" name="组合 43"/>
              <p:cNvGrpSpPr/>
              <p:nvPr/>
            </p:nvGrpSpPr>
            <p:grpSpPr>
              <a:xfrm>
                <a:off x="6427694" y="2217885"/>
                <a:ext cx="1922724" cy="259977"/>
                <a:chOff x="6306464" y="2217885"/>
                <a:chExt cx="2043954" cy="259977"/>
              </a:xfrm>
            </p:grpSpPr>
            <p:sp>
              <p:nvSpPr>
                <p:cNvPr id="53" name="矩形 52"/>
                <p:cNvSpPr/>
                <p:nvPr/>
              </p:nvSpPr>
              <p:spPr>
                <a:xfrm>
                  <a:off x="6306464" y="2217885"/>
                  <a:ext cx="1021977" cy="259977"/>
                </a:xfrm>
                <a:prstGeom prst="rect">
                  <a:avLst/>
                </a:prstGeom>
                <a:solidFill>
                  <a:srgbClr val="FF99FF"/>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类别 </a:t>
                  </a:r>
                  <a:r>
                    <a:rPr lang="en-US" altLang="zh-CN" sz="1200" b="1" dirty="0">
                      <a:solidFill>
                        <a:srgbClr val="000066"/>
                      </a:solidFill>
                      <a:latin typeface="微软雅黑" panose="020B0503020204020204" pitchFamily="34" charset="-122"/>
                      <a:ea typeface="微软雅黑" panose="020B0503020204020204" pitchFamily="34" charset="-122"/>
                    </a:rPr>
                    <a:t>= 5</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54" name="矩形 53"/>
                <p:cNvSpPr/>
                <p:nvPr/>
              </p:nvSpPr>
              <p:spPr>
                <a:xfrm>
                  <a:off x="7328441" y="2217885"/>
                  <a:ext cx="1021977" cy="259977"/>
                </a:xfrm>
                <a:prstGeom prst="rect">
                  <a:avLst/>
                </a:prstGeom>
                <a:solidFill>
                  <a:schemeClr val="bg1"/>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000066"/>
                      </a:solidFill>
                      <a:latin typeface="微软雅黑" panose="020B0503020204020204" pitchFamily="34" charset="-122"/>
                      <a:ea typeface="微软雅黑" panose="020B0503020204020204" pitchFamily="34" charset="-122"/>
                    </a:rPr>
                    <a:t>长度 </a:t>
                  </a:r>
                  <a:r>
                    <a:rPr lang="en-US" altLang="zh-CN" sz="1200" b="1" dirty="0">
                      <a:solidFill>
                        <a:srgbClr val="000066"/>
                      </a:solidFill>
                      <a:latin typeface="微软雅黑" panose="020B0503020204020204" pitchFamily="34" charset="-122"/>
                      <a:ea typeface="微软雅黑" panose="020B0503020204020204" pitchFamily="34" charset="-122"/>
                    </a:rPr>
                    <a:t>=18</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sp>
            <p:nvSpPr>
              <p:cNvPr id="45" name="矩形 44"/>
              <p:cNvSpPr/>
              <p:nvPr/>
            </p:nvSpPr>
            <p:spPr>
              <a:xfrm>
                <a:off x="4805082" y="2477095"/>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1501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6" name="矩形 45"/>
              <p:cNvSpPr/>
              <p:nvPr/>
            </p:nvSpPr>
            <p:spPr>
              <a:xfrm>
                <a:off x="4805082" y="2737072"/>
                <a:ext cx="3545336" cy="259977"/>
              </a:xfrm>
              <a:prstGeom prst="rect">
                <a:avLst/>
              </a:prstGeom>
              <a:solidFill>
                <a:srgbClr val="FFFF99"/>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3001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7" name="矩形 46"/>
              <p:cNvSpPr/>
              <p:nvPr/>
            </p:nvSpPr>
            <p:spPr>
              <a:xfrm>
                <a:off x="4805082" y="2996282"/>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3501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sp>
            <p:nvSpPr>
              <p:cNvPr id="48" name="矩形 47"/>
              <p:cNvSpPr/>
              <p:nvPr/>
            </p:nvSpPr>
            <p:spPr>
              <a:xfrm>
                <a:off x="4805082" y="3256259"/>
                <a:ext cx="3545336" cy="259977"/>
              </a:xfrm>
              <a:prstGeom prst="rect">
                <a:avLst/>
              </a:prstGeom>
              <a:solidFill>
                <a:srgbClr val="92D050"/>
              </a:solid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b="1" dirty="0">
                    <a:solidFill>
                      <a:srgbClr val="000066"/>
                    </a:solidFill>
                    <a:latin typeface="微软雅黑" panose="020B0503020204020204" pitchFamily="34" charset="-122"/>
                    <a:ea typeface="微软雅黑" panose="020B0503020204020204" pitchFamily="34" charset="-122"/>
                  </a:rPr>
                  <a:t>4501</a:t>
                </a:r>
                <a:endParaRPr lang="zh-CN" altLang="en-US" sz="1200" b="1" dirty="0">
                  <a:solidFill>
                    <a:srgbClr val="000066"/>
                  </a:solidFill>
                  <a:latin typeface="微软雅黑" panose="020B0503020204020204" pitchFamily="34" charset="-122"/>
                  <a:ea typeface="微软雅黑" panose="020B0503020204020204" pitchFamily="34" charset="-122"/>
                </a:endParaRPr>
              </a:p>
            </p:txBody>
          </p:sp>
        </p:grpSp>
      </p:grpSp>
      <p:sp>
        <p:nvSpPr>
          <p:cNvPr id="13" name="矩形 12"/>
          <p:cNvSpPr/>
          <p:nvPr/>
        </p:nvSpPr>
        <p:spPr>
          <a:xfrm>
            <a:off x="906187" y="3939311"/>
            <a:ext cx="7432326" cy="338554"/>
          </a:xfrm>
          <a:prstGeom prst="rect">
            <a:avLst/>
          </a:prstGeom>
        </p:spPr>
        <p:txBody>
          <a:bodyPr wrap="square">
            <a:spAutoFit/>
          </a:bodyPr>
          <a:lstStyle/>
          <a:p>
            <a:pPr algn="ctr"/>
            <a:r>
              <a:rPr lang="zh-CN" altLang="en-US" sz="1600" b="1" dirty="0">
                <a:latin typeface="微软雅黑" panose="020B0503020204020204" pitchFamily="34" charset="-122"/>
                <a:ea typeface="微软雅黑" panose="020B0503020204020204" pitchFamily="34" charset="-122"/>
              </a:rPr>
              <a:t>左边界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第一个字节的序号，右边界 </a:t>
            </a:r>
            <a:r>
              <a:rPr lang="en-US" altLang="zh-CN" sz="1600" b="1" dirty="0">
                <a:latin typeface="微软雅黑" panose="020B0503020204020204" pitchFamily="34" charset="-122"/>
                <a:ea typeface="微软雅黑" panose="020B0503020204020204" pitchFamily="34" charset="-122"/>
              </a:rPr>
              <a:t>= </a:t>
            </a:r>
            <a:r>
              <a:rPr lang="zh-CN" altLang="en-US" sz="1600" b="1" dirty="0">
                <a:latin typeface="微软雅黑" panose="020B0503020204020204" pitchFamily="34" charset="-122"/>
                <a:ea typeface="微软雅黑" panose="020B0503020204020204" pitchFamily="34" charset="-122"/>
              </a:rPr>
              <a:t>最后一个字节序号 </a:t>
            </a:r>
            <a:r>
              <a:rPr lang="en-US" altLang="zh-CN" sz="1600" b="1" dirty="0">
                <a:latin typeface="微软雅黑" panose="020B0503020204020204" pitchFamily="34" charset="-122"/>
                <a:ea typeface="微软雅黑" panose="020B0503020204020204" pitchFamily="34" charset="-122"/>
              </a:rPr>
              <a:t>+ 1</a:t>
            </a:r>
            <a:r>
              <a:rPr lang="zh-CN" altLang="en-US" sz="1600" b="1" dirty="0">
                <a:latin typeface="微软雅黑" panose="020B0503020204020204" pitchFamily="34" charset="-122"/>
                <a:ea typeface="微软雅黑" panose="020B0503020204020204" pitchFamily="34" charset="-122"/>
              </a:rPr>
              <a:t>。</a:t>
            </a:r>
          </a:p>
        </p:txBody>
      </p:sp>
      <p:sp>
        <p:nvSpPr>
          <p:cNvPr id="8" name="标题 7">
            <a:extLst>
              <a:ext uri="{FF2B5EF4-FFF2-40B4-BE49-F238E27FC236}">
                <a16:creationId xmlns:a16="http://schemas.microsoft.com/office/drawing/2014/main" id="{DF02B8CD-193F-B2D5-70CC-240076ED56AA}"/>
              </a:ext>
            </a:extLst>
          </p:cNvPr>
          <p:cNvSpPr>
            <a:spLocks noGrp="1"/>
          </p:cNvSpPr>
          <p:nvPr>
            <p:ph type="title"/>
          </p:nvPr>
        </p:nvSpPr>
        <p:spPr>
          <a:xfrm>
            <a:off x="2808000" y="144000"/>
            <a:ext cx="3528000" cy="338554"/>
          </a:xfrm>
        </p:spPr>
        <p:txBody>
          <a:bodyPr/>
          <a:lstStyle/>
          <a:p>
            <a:r>
              <a:rPr lang="en-US" altLang="zh-CN" dirty="0"/>
              <a:t>SACK</a:t>
            </a:r>
            <a:endParaRPr lang="zh-CN" altLang="en-US" dirty="0"/>
          </a:p>
        </p:txBody>
      </p:sp>
    </p:spTree>
    <p:extLst>
      <p:ext uri="{BB962C8B-B14F-4D97-AF65-F5344CB8AC3E}">
        <p14:creationId xmlns:p14="http://schemas.microsoft.com/office/powerpoint/2010/main" val="18958527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withEffect">
                                  <p:stCondLst>
                                    <p:cond delay="0"/>
                                  </p:stCondLst>
                                  <p:childTnLst>
                                    <p:anim calcmode="discrete" valueType="str">
                                      <p:cBhvr>
                                        <p:cTn id="6" dur="1000" fill="hold"/>
                                        <p:tgtEl>
                                          <p:spTgt spid="2"/>
                                        </p:tgtEl>
                                        <p:attrNameLst>
                                          <p:attrName>style.visibility</p:attrName>
                                        </p:attrNameLst>
                                      </p:cBhvr>
                                      <p:tavLst>
                                        <p:tav tm="0">
                                          <p:val>
                                            <p:strVal val="hidden"/>
                                          </p:val>
                                        </p:tav>
                                        <p:tav tm="50000">
                                          <p:val>
                                            <p:strVal val="visible"/>
                                          </p:val>
                                        </p:tav>
                                      </p:tavLst>
                                    </p:anim>
                                  </p:childTnLst>
                                </p:cTn>
                              </p:par>
                              <p:par>
                                <p:cTn id="7" presetID="35" presetClass="emph" presetSubtype="0" repeatCount="3000" fill="hold" nodeType="withEffect">
                                  <p:stCondLst>
                                    <p:cond delay="0"/>
                                  </p:stCondLst>
                                  <p:childTnLst>
                                    <p:anim calcmode="discrete" valueType="str">
                                      <p:cBhvr>
                                        <p:cTn id="8"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9"/>
          <p:cNvSpPr>
            <a:spLocks noChangeArrowheads="1"/>
          </p:cNvSpPr>
          <p:nvPr/>
        </p:nvSpPr>
        <p:spPr bwMode="auto">
          <a:xfrm>
            <a:off x="2629135" y="1307922"/>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1914347"/>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236484"/>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053922"/>
            <a:ext cx="560970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5.7.1                       </a:t>
            </a:r>
            <a:r>
              <a:rPr lang="zh-CN" altLang="en-US" sz="2000" b="1" dirty="0">
                <a:solidFill>
                  <a:schemeClr val="bg1"/>
                </a:solidFill>
                <a:latin typeface="微软雅黑" pitchFamily="34" charset="-122"/>
                <a:ea typeface="微软雅黑" pitchFamily="34" charset="-122"/>
              </a:rPr>
              <a:t>利用滑动窗口实现流量控制</a:t>
            </a:r>
          </a:p>
          <a:p>
            <a:pPr eaLnBrk="0" hangingPunct="0">
              <a:lnSpc>
                <a:spcPct val="200000"/>
              </a:lnSpc>
            </a:pPr>
            <a:r>
              <a:rPr lang="en-US" altLang="zh-CN" sz="2000" b="1" dirty="0">
                <a:solidFill>
                  <a:schemeClr val="bg1"/>
                </a:solidFill>
                <a:latin typeface="微软雅黑" pitchFamily="34" charset="-122"/>
                <a:ea typeface="微软雅黑" pitchFamily="34" charset="-122"/>
              </a:rPr>
              <a:t>5.7.2                                       TCP </a:t>
            </a:r>
            <a:r>
              <a:rPr lang="zh-CN" altLang="en-US" sz="2000" b="1" dirty="0">
                <a:solidFill>
                  <a:schemeClr val="bg1"/>
                </a:solidFill>
                <a:latin typeface="微软雅黑" pitchFamily="34" charset="-122"/>
                <a:ea typeface="微软雅黑" pitchFamily="34" charset="-122"/>
              </a:rPr>
              <a:t>的传输效率</a:t>
            </a:r>
          </a:p>
        </p:txBody>
      </p:sp>
      <p:sp>
        <p:nvSpPr>
          <p:cNvPr id="10" name="Rectangle 27"/>
          <p:cNvSpPr>
            <a:spLocks noChangeArrowheads="1"/>
          </p:cNvSpPr>
          <p:nvPr/>
        </p:nvSpPr>
        <p:spPr bwMode="auto">
          <a:xfrm>
            <a:off x="639730" y="1307922"/>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648619" y="1402854"/>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5.7</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的流量控制</a:t>
            </a:r>
            <a:endParaRPr lang="zh-CN" altLang="fr-FR" sz="2000" b="1"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1530083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525D3E0D-DEC4-8D5F-7346-78D99E2053E8}"/>
              </a:ext>
            </a:extLst>
          </p:cNvPr>
          <p:cNvSpPr>
            <a:spLocks noGrp="1"/>
          </p:cNvSpPr>
          <p:nvPr>
            <p:ph sz="quarter" idx="11"/>
          </p:nvPr>
        </p:nvSpPr>
        <p:spPr>
          <a:xfrm>
            <a:off x="486000" y="482554"/>
            <a:ext cx="8172000" cy="4120946"/>
          </a:xfrm>
        </p:spPr>
        <p:txBody>
          <a:bodyPr/>
          <a:lstStyle/>
          <a:p>
            <a:r>
              <a:rPr lang="zh-CN" altLang="en-US" dirty="0"/>
              <a:t>流量控制 </a:t>
            </a:r>
            <a:r>
              <a:rPr lang="en-US" altLang="zh-CN" dirty="0"/>
              <a:t>(flow control) </a:t>
            </a:r>
            <a:r>
              <a:rPr lang="zh-CN" altLang="en-US" dirty="0"/>
              <a:t>：让发送方的发送速率不要太快，使接收方来得及接收。</a:t>
            </a:r>
            <a:endParaRPr lang="en-US" altLang="zh-CN" dirty="0"/>
          </a:p>
          <a:p>
            <a:r>
              <a:rPr lang="zh-CN" altLang="en-US" dirty="0"/>
              <a:t>利用滑动窗口机制可以很方便地在 </a:t>
            </a:r>
            <a:r>
              <a:rPr lang="en-US" altLang="zh-CN" dirty="0"/>
              <a:t>TCP </a:t>
            </a:r>
            <a:r>
              <a:rPr lang="zh-CN" altLang="en-US" dirty="0"/>
              <a:t>连接上实现对发送方的流量控制。 </a:t>
            </a:r>
            <a:endParaRPr lang="en-US" altLang="zh-CN" dirty="0"/>
          </a:p>
          <a:p>
            <a:endParaRPr lang="zh-CN" altLang="en-US" dirty="0"/>
          </a:p>
        </p:txBody>
      </p:sp>
      <p:sp>
        <p:nvSpPr>
          <p:cNvPr id="8" name="标题 7">
            <a:extLst>
              <a:ext uri="{FF2B5EF4-FFF2-40B4-BE49-F238E27FC236}">
                <a16:creationId xmlns:a16="http://schemas.microsoft.com/office/drawing/2014/main" id="{8FE10A9E-80EA-E65A-BBD7-AB4415F4FAEE}"/>
              </a:ext>
            </a:extLst>
          </p:cNvPr>
          <p:cNvSpPr>
            <a:spLocks noGrp="1"/>
          </p:cNvSpPr>
          <p:nvPr>
            <p:ph type="title"/>
          </p:nvPr>
        </p:nvSpPr>
        <p:spPr>
          <a:xfrm>
            <a:off x="2808000" y="144000"/>
            <a:ext cx="3528000" cy="338554"/>
          </a:xfrm>
        </p:spPr>
        <p:txBody>
          <a:bodyPr/>
          <a:lstStyle/>
          <a:p>
            <a:r>
              <a:rPr lang="en-US" altLang="zh-CN" dirty="0"/>
              <a:t>5.7.1   </a:t>
            </a:r>
            <a:r>
              <a:rPr lang="zh-CN" altLang="en-US" dirty="0"/>
              <a:t>利用滑动窗口实现流量控制</a:t>
            </a:r>
          </a:p>
        </p:txBody>
      </p:sp>
    </p:spTree>
    <p:extLst>
      <p:ext uri="{BB962C8B-B14F-4D97-AF65-F5344CB8AC3E}">
        <p14:creationId xmlns:p14="http://schemas.microsoft.com/office/powerpoint/2010/main" val="362800036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内容占位符 53">
            <a:extLst>
              <a:ext uri="{FF2B5EF4-FFF2-40B4-BE49-F238E27FC236}">
                <a16:creationId xmlns:a16="http://schemas.microsoft.com/office/drawing/2014/main" id="{EFB877AD-56DC-5147-EF6B-B9AA1F50B5D1}"/>
              </a:ext>
            </a:extLst>
          </p:cNvPr>
          <p:cNvSpPr>
            <a:spLocks noGrp="1"/>
          </p:cNvSpPr>
          <p:nvPr>
            <p:ph sz="quarter" idx="11"/>
          </p:nvPr>
        </p:nvSpPr>
        <p:spPr>
          <a:xfrm>
            <a:off x="486000" y="482554"/>
            <a:ext cx="8172000" cy="4120946"/>
          </a:xfrm>
        </p:spPr>
        <p:txBody>
          <a:bodyPr/>
          <a:lstStyle/>
          <a:p>
            <a:r>
              <a:rPr lang="en-US" altLang="zh-CN" dirty="0"/>
              <a:t>A </a:t>
            </a:r>
            <a:r>
              <a:rPr lang="zh-CN" altLang="en-US" dirty="0"/>
              <a:t>向 </a:t>
            </a:r>
            <a:r>
              <a:rPr lang="en-US" altLang="zh-CN" dirty="0"/>
              <a:t>B </a:t>
            </a:r>
            <a:r>
              <a:rPr lang="zh-CN" altLang="en-US" dirty="0"/>
              <a:t>发送数据，</a:t>
            </a:r>
            <a:r>
              <a:rPr lang="en-US" altLang="zh-CN" dirty="0"/>
              <a:t>MSS = 100 </a:t>
            </a:r>
            <a:r>
              <a:rPr lang="zh-CN" altLang="en-US" dirty="0"/>
              <a:t>字节。</a:t>
            </a:r>
            <a:endParaRPr lang="en-US" altLang="zh-CN" dirty="0"/>
          </a:p>
          <a:p>
            <a:r>
              <a:rPr lang="zh-CN" altLang="en-US" dirty="0"/>
              <a:t>在连接建立时，</a:t>
            </a:r>
            <a:r>
              <a:rPr lang="en-US" altLang="zh-CN" dirty="0"/>
              <a:t>B </a:t>
            </a:r>
            <a:r>
              <a:rPr lang="zh-CN" altLang="en-US" dirty="0"/>
              <a:t>告诉 </a:t>
            </a:r>
            <a:r>
              <a:rPr lang="en-US" altLang="zh-CN" dirty="0"/>
              <a:t>A</a:t>
            </a:r>
            <a:r>
              <a:rPr lang="zh-CN" altLang="en-US" dirty="0"/>
              <a:t>：“我的接收窗口 </a:t>
            </a:r>
            <a:r>
              <a:rPr lang="en-US" altLang="zh-CN" dirty="0" err="1"/>
              <a:t>rwnd</a:t>
            </a:r>
            <a:r>
              <a:rPr lang="en-US" altLang="zh-CN" dirty="0"/>
              <a:t> = 400</a:t>
            </a:r>
            <a:r>
              <a:rPr lang="zh-CN" altLang="en-US" dirty="0"/>
              <a:t>（字节）”。</a:t>
            </a:r>
          </a:p>
          <a:p>
            <a:endParaRPr lang="zh-CN" altLang="en-US" dirty="0"/>
          </a:p>
        </p:txBody>
      </p:sp>
      <p:sp>
        <p:nvSpPr>
          <p:cNvPr id="8" name="标题 7">
            <a:extLst>
              <a:ext uri="{FF2B5EF4-FFF2-40B4-BE49-F238E27FC236}">
                <a16:creationId xmlns:a16="http://schemas.microsoft.com/office/drawing/2014/main" id="{162E63FA-FCE2-5882-1AC7-79D142EE7B49}"/>
              </a:ext>
            </a:extLst>
          </p:cNvPr>
          <p:cNvSpPr>
            <a:spLocks noGrp="1"/>
          </p:cNvSpPr>
          <p:nvPr>
            <p:ph type="title"/>
          </p:nvPr>
        </p:nvSpPr>
        <p:spPr>
          <a:xfrm>
            <a:off x="2808000" y="144000"/>
            <a:ext cx="3528000" cy="338554"/>
          </a:xfrm>
        </p:spPr>
        <p:txBody>
          <a:bodyPr/>
          <a:lstStyle/>
          <a:p>
            <a:r>
              <a:rPr lang="en-US" altLang="zh-CN" dirty="0"/>
              <a:t>5.7.1   </a:t>
            </a:r>
            <a:r>
              <a:rPr lang="zh-CN" altLang="en-US" dirty="0"/>
              <a:t>利用滑动窗口实现流量控制</a:t>
            </a:r>
          </a:p>
        </p:txBody>
      </p:sp>
      <p:sp>
        <p:nvSpPr>
          <p:cNvPr id="9" name="Line 4"/>
          <p:cNvSpPr>
            <a:spLocks noChangeShapeType="1"/>
          </p:cNvSpPr>
          <p:nvPr/>
        </p:nvSpPr>
        <p:spPr bwMode="auto">
          <a:xfrm>
            <a:off x="4175828"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50972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301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400</a:t>
              </a:r>
              <a:r>
                <a:rPr kumimoji="1" lang="zh-CN" altLang="en-US" sz="1100" b="1" dirty="0">
                  <a:latin typeface="微软雅黑" pitchFamily="34" charset="-122"/>
                  <a:ea typeface="微软雅黑" pitchFamily="34" charset="-122"/>
                </a:rPr>
                <a:t>，还能再发送 </a:t>
              </a:r>
              <a:r>
                <a:rPr kumimoji="1" lang="en-US" altLang="zh-CN" sz="1100" b="1" dirty="0">
                  <a:latin typeface="微软雅黑" pitchFamily="34" charset="-122"/>
                  <a:ea typeface="微软雅黑" pitchFamily="34" charset="-122"/>
                </a:rPr>
                <a:t>100 </a:t>
              </a:r>
              <a:r>
                <a:rPr kumimoji="1" lang="zh-CN" altLang="en-US" sz="1100" b="1" dirty="0">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Tree>
    <p:extLst>
      <p:ext uri="{BB962C8B-B14F-4D97-AF65-F5344CB8AC3E}">
        <p14:creationId xmlns:p14="http://schemas.microsoft.com/office/powerpoint/2010/main" val="23643624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1000"/>
                                        <p:tgtEl>
                                          <p:spTgt spid="46"/>
                                        </p:tgtEl>
                                      </p:cBhvr>
                                    </p:animEffect>
                                  </p:childTnLst>
                                </p:cTn>
                              </p:par>
                            </p:childTnLst>
                          </p:cTn>
                        </p:par>
                        <p:par>
                          <p:cTn id="12" fill="hold">
                            <p:stCondLst>
                              <p:cond delay="2000"/>
                            </p:stCondLst>
                            <p:childTnLst>
                              <p:par>
                                <p:cTn id="13" presetID="22" presetClass="entr" presetSubtype="8"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left)">
                                      <p:cBhvr>
                                        <p:cTn id="15" dur="1000"/>
                                        <p:tgtEl>
                                          <p:spTgt spid="48"/>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right)">
                                      <p:cBhvr>
                                        <p:cTn id="20" dur="1000"/>
                                        <p:tgtEl>
                                          <p:spTgt spid="2"/>
                                        </p:tgtEl>
                                      </p:cBhvr>
                                    </p:animEffect>
                                  </p:childTnLst>
                                </p:cTn>
                              </p:par>
                            </p:childTnLst>
                          </p:cTn>
                        </p:par>
                        <p:par>
                          <p:cTn id="21" fill="hold">
                            <p:stCondLst>
                              <p:cond delay="1000"/>
                            </p:stCondLst>
                            <p:childTnLst>
                              <p:par>
                                <p:cTn id="22" presetID="1" presetClass="entr" presetSubtype="0" fill="hold" grpId="1" nodeType="afterEffect">
                                  <p:stCondLst>
                                    <p:cond delay="0"/>
                                  </p:stCondLst>
                                  <p:childTnLst>
                                    <p:set>
                                      <p:cBhvr>
                                        <p:cTn id="23" dur="1" fill="hold">
                                          <p:stCondLst>
                                            <p:cond delay="0"/>
                                          </p:stCondLst>
                                        </p:cTn>
                                        <p:tgtEl>
                                          <p:spTgt spid="32"/>
                                        </p:tgtEl>
                                        <p:attrNameLst>
                                          <p:attrName>style.visibility</p:attrName>
                                        </p:attrNameLst>
                                      </p:cBhvr>
                                      <p:to>
                                        <p:strVal val="visible"/>
                                      </p:to>
                                    </p:set>
                                  </p:childTnLst>
                                </p:cTn>
                              </p:par>
                              <p:par>
                                <p:cTn id="24" presetID="35" presetClass="emph" presetSubtype="0" repeatCount="3000" fill="hold" grpId="0" nodeType="withEffect">
                                  <p:stCondLst>
                                    <p:cond delay="0"/>
                                  </p:stCondLst>
                                  <p:childTnLst>
                                    <p:anim calcmode="discrete" valueType="str">
                                      <p:cBhvr>
                                        <p:cTn id="25" dur="1000" fill="hold"/>
                                        <p:tgtEl>
                                          <p:spTgt spid="32"/>
                                        </p:tgtEl>
                                        <p:attrNameLst>
                                          <p:attrName>style.visibility</p:attrName>
                                        </p:attrNameLst>
                                      </p:cBhvr>
                                      <p:tavLst>
                                        <p:tav tm="0">
                                          <p:val>
                                            <p:strVal val="hidden"/>
                                          </p:val>
                                        </p:tav>
                                        <p:tav tm="50000">
                                          <p:val>
                                            <p:strVal val="visible"/>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wipe(left)">
                                      <p:cBhvr>
                                        <p:cTn id="30" dur="1000"/>
                                        <p:tgtEl>
                                          <p:spTgt spid="49"/>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50"/>
                                        </p:tgtEl>
                                        <p:attrNameLst>
                                          <p:attrName>style.visibility</p:attrName>
                                        </p:attrNameLst>
                                      </p:cBhvr>
                                      <p:to>
                                        <p:strVal val="visible"/>
                                      </p:to>
                                    </p:set>
                                    <p:animEffect transition="in" filter="wipe(left)">
                                      <p:cBhvr>
                                        <p:cTn id="34" dur="1000"/>
                                        <p:tgtEl>
                                          <p:spTgt spid="50"/>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wipe(left)">
                                      <p:cBhvr>
                                        <p:cTn id="39" dur="1000"/>
                                        <p:tgtEl>
                                          <p:spTgt spid="5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2"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wipe(right)">
                                      <p:cBhvr>
                                        <p:cTn id="44" dur="1000"/>
                                        <p:tgtEl>
                                          <p:spTgt spid="3"/>
                                        </p:tgtEl>
                                      </p:cBhvr>
                                    </p:animEffect>
                                  </p:childTnLst>
                                </p:cTn>
                              </p:par>
                            </p:childTnLst>
                          </p:cTn>
                        </p:par>
                        <p:par>
                          <p:cTn id="45" fill="hold">
                            <p:stCondLst>
                              <p:cond delay="1000"/>
                            </p:stCondLst>
                            <p:childTnLst>
                              <p:par>
                                <p:cTn id="46" presetID="1" presetClass="entr" presetSubtype="0" fill="hold" grpId="1" nodeType="afterEffect">
                                  <p:stCondLst>
                                    <p:cond delay="0"/>
                                  </p:stCondLst>
                                  <p:childTnLst>
                                    <p:set>
                                      <p:cBhvr>
                                        <p:cTn id="47" dur="1" fill="hold">
                                          <p:stCondLst>
                                            <p:cond delay="0"/>
                                          </p:stCondLst>
                                        </p:cTn>
                                        <p:tgtEl>
                                          <p:spTgt spid="38"/>
                                        </p:tgtEl>
                                        <p:attrNameLst>
                                          <p:attrName>style.visibility</p:attrName>
                                        </p:attrNameLst>
                                      </p:cBhvr>
                                      <p:to>
                                        <p:strVal val="visible"/>
                                      </p:to>
                                    </p:set>
                                  </p:childTnLst>
                                </p:cTn>
                              </p:par>
                            </p:childTnLst>
                          </p:cTn>
                        </p:par>
                        <p:par>
                          <p:cTn id="48" fill="hold">
                            <p:stCondLst>
                              <p:cond delay="1000"/>
                            </p:stCondLst>
                            <p:childTnLst>
                              <p:par>
                                <p:cTn id="49" presetID="35" presetClass="emph" presetSubtype="0" repeatCount="3000" fill="hold" grpId="0" nodeType="afterEffect">
                                  <p:stCondLst>
                                    <p:cond delay="0"/>
                                  </p:stCondLst>
                                  <p:childTnLst>
                                    <p:anim calcmode="discrete" valueType="str">
                                      <p:cBhvr>
                                        <p:cTn id="50" dur="1000" fill="hold"/>
                                        <p:tgtEl>
                                          <p:spTgt spid="38"/>
                                        </p:tgtEl>
                                        <p:attrNameLst>
                                          <p:attrName>style.visibility</p:attrName>
                                        </p:attrNameLst>
                                      </p:cBhvr>
                                      <p:tavLst>
                                        <p:tav tm="0">
                                          <p:val>
                                            <p:strVal val="hidden"/>
                                          </p:val>
                                        </p:tav>
                                        <p:tav tm="50000">
                                          <p:val>
                                            <p:strVal val="visible"/>
                                          </p:val>
                                        </p:tav>
                                      </p:tavLst>
                                    </p:anim>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2"/>
                                        </p:tgtEl>
                                        <p:attrNameLst>
                                          <p:attrName>style.visibility</p:attrName>
                                        </p:attrNameLst>
                                      </p:cBhvr>
                                      <p:to>
                                        <p:strVal val="visible"/>
                                      </p:to>
                                    </p:set>
                                    <p:animEffect transition="in" filter="wipe(left)">
                                      <p:cBhvr>
                                        <p:cTn id="55" dur="1000"/>
                                        <p:tgtEl>
                                          <p:spTgt spid="5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2"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right)">
                                      <p:cBhvr>
                                        <p:cTn id="60" dur="1000"/>
                                        <p:tgtEl>
                                          <p:spTgt spid="4"/>
                                        </p:tgtEl>
                                      </p:cBhvr>
                                    </p:animEffect>
                                  </p:childTnLst>
                                </p:cTn>
                              </p:par>
                            </p:childTnLst>
                          </p:cTn>
                        </p:par>
                        <p:par>
                          <p:cTn id="61" fill="hold">
                            <p:stCondLst>
                              <p:cond delay="1000"/>
                            </p:stCondLst>
                            <p:childTnLst>
                              <p:par>
                                <p:cTn id="62" presetID="1" presetClass="entr" presetSubtype="0" fill="hold" grpId="1" nodeType="afterEffect">
                                  <p:stCondLst>
                                    <p:cond delay="0"/>
                                  </p:stCondLst>
                                  <p:childTnLst>
                                    <p:set>
                                      <p:cBhvr>
                                        <p:cTn id="63" dur="1" fill="hold">
                                          <p:stCondLst>
                                            <p:cond delay="0"/>
                                          </p:stCondLst>
                                        </p:cTn>
                                        <p:tgtEl>
                                          <p:spTgt spid="40"/>
                                        </p:tgtEl>
                                        <p:attrNameLst>
                                          <p:attrName>style.visibility</p:attrName>
                                        </p:attrNameLst>
                                      </p:cBhvr>
                                      <p:to>
                                        <p:strVal val="visible"/>
                                      </p:to>
                                    </p:set>
                                  </p:childTnLst>
                                </p:cTn>
                              </p:par>
                            </p:childTnLst>
                          </p:cTn>
                        </p:par>
                        <p:par>
                          <p:cTn id="64" fill="hold">
                            <p:stCondLst>
                              <p:cond delay="1000"/>
                            </p:stCondLst>
                            <p:childTnLst>
                              <p:par>
                                <p:cTn id="65" presetID="35" presetClass="emph" presetSubtype="0" repeatCount="3000" fill="hold" grpId="0" nodeType="afterEffect">
                                  <p:stCondLst>
                                    <p:cond delay="0"/>
                                  </p:stCondLst>
                                  <p:childTnLst>
                                    <p:anim calcmode="discrete" valueType="str">
                                      <p:cBhvr>
                                        <p:cTn id="66" dur="1000" fill="hold"/>
                                        <p:tgtEl>
                                          <p:spTgt spid="4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2" grpId="1"/>
      <p:bldP spid="38" grpId="0"/>
      <p:bldP spid="38" grpId="1"/>
      <p:bldP spid="40" grpId="0"/>
      <p:bldP spid="40" grpId="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a:extLst>
              <a:ext uri="{FF2B5EF4-FFF2-40B4-BE49-F238E27FC236}">
                <a16:creationId xmlns:a16="http://schemas.microsoft.com/office/drawing/2014/main" id="{D541A28C-54A2-E921-E839-97CFBA2536BB}"/>
              </a:ext>
            </a:extLst>
          </p:cNvPr>
          <p:cNvSpPr/>
          <p:nvPr/>
        </p:nvSpPr>
        <p:spPr>
          <a:xfrm>
            <a:off x="0" y="0"/>
            <a:ext cx="9144000"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Line 4">
            <a:extLst>
              <a:ext uri="{FF2B5EF4-FFF2-40B4-BE49-F238E27FC236}">
                <a16:creationId xmlns:a16="http://schemas.microsoft.com/office/drawing/2014/main" id="{1E20D6B6-09AD-7D32-267A-984819B57C82}"/>
              </a:ext>
            </a:extLst>
          </p:cNvPr>
          <p:cNvSpPr>
            <a:spLocks noChangeShapeType="1"/>
          </p:cNvSpPr>
          <p:nvPr/>
        </p:nvSpPr>
        <p:spPr bwMode="auto">
          <a:xfrm>
            <a:off x="3013348" y="516144"/>
            <a:ext cx="0" cy="4464000"/>
          </a:xfrm>
          <a:prstGeom prst="line">
            <a:avLst/>
          </a:prstGeom>
          <a:noFill/>
          <a:ln w="12700">
            <a:solidFill>
              <a:schemeClr val="tx1"/>
            </a:solidFill>
            <a:prstDash val="sysDot"/>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Montserrat" panose="00000500000000000000" pitchFamily="2" charset="0"/>
              <a:ea typeface="微软雅黑 Light" panose="020B0502040204020203" pitchFamily="34" charset="-122"/>
            </a:endParaRPr>
          </a:p>
        </p:txBody>
      </p:sp>
      <p:sp>
        <p:nvSpPr>
          <p:cNvPr id="6" name="Line 19">
            <a:extLst>
              <a:ext uri="{FF2B5EF4-FFF2-40B4-BE49-F238E27FC236}">
                <a16:creationId xmlns:a16="http://schemas.microsoft.com/office/drawing/2014/main" id="{8CF6DE64-D143-37D2-686F-E43512857FDA}"/>
              </a:ext>
            </a:extLst>
          </p:cNvPr>
          <p:cNvSpPr>
            <a:spLocks noChangeShapeType="1"/>
          </p:cNvSpPr>
          <p:nvPr/>
        </p:nvSpPr>
        <p:spPr bwMode="auto">
          <a:xfrm flipH="1">
            <a:off x="515315" y="1514437"/>
            <a:ext cx="2498033" cy="0"/>
          </a:xfrm>
          <a:prstGeom prst="line">
            <a:avLst/>
          </a:prstGeom>
          <a:noFill/>
          <a:ln w="2857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7" name="Rectangle 20">
            <a:extLst>
              <a:ext uri="{FF2B5EF4-FFF2-40B4-BE49-F238E27FC236}">
                <a16:creationId xmlns:a16="http://schemas.microsoft.com/office/drawing/2014/main" id="{325B524B-F7E6-DB4B-CE73-13512669B055}"/>
              </a:ext>
            </a:extLst>
          </p:cNvPr>
          <p:cNvSpPr>
            <a:spLocks noChangeArrowheads="1"/>
          </p:cNvSpPr>
          <p:nvPr/>
        </p:nvSpPr>
        <p:spPr bwMode="auto">
          <a:xfrm flipH="1">
            <a:off x="661611" y="1276348"/>
            <a:ext cx="205665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ACK = 1, ack = 201, </a:t>
            </a:r>
            <a:r>
              <a:rPr kumimoji="1" lang="en-US" altLang="zh-CN" sz="1000" dirty="0">
                <a:solidFill>
                  <a:srgbClr val="00B050"/>
                </a:solidFill>
                <a:latin typeface="Montserrat" panose="00000500000000000000" pitchFamily="2" charset="0"/>
                <a:ea typeface="微软雅黑 Light" panose="020B0502040204020203" pitchFamily="34" charset="-122"/>
              </a:rPr>
              <a:t>rwnd = 300</a:t>
            </a:r>
          </a:p>
        </p:txBody>
      </p:sp>
      <p:sp>
        <p:nvSpPr>
          <p:cNvPr id="9" name="Line 21">
            <a:extLst>
              <a:ext uri="{FF2B5EF4-FFF2-40B4-BE49-F238E27FC236}">
                <a16:creationId xmlns:a16="http://schemas.microsoft.com/office/drawing/2014/main" id="{CB25839B-FFB6-0838-39A0-0D8D1EA01E65}"/>
              </a:ext>
            </a:extLst>
          </p:cNvPr>
          <p:cNvSpPr>
            <a:spLocks noChangeShapeType="1"/>
          </p:cNvSpPr>
          <p:nvPr/>
        </p:nvSpPr>
        <p:spPr bwMode="auto">
          <a:xfrm flipH="1">
            <a:off x="522828" y="3331015"/>
            <a:ext cx="2490520" cy="0"/>
          </a:xfrm>
          <a:prstGeom prst="line">
            <a:avLst/>
          </a:prstGeom>
          <a:noFill/>
          <a:ln w="2857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10" name="Rectangle 22">
            <a:extLst>
              <a:ext uri="{FF2B5EF4-FFF2-40B4-BE49-F238E27FC236}">
                <a16:creationId xmlns:a16="http://schemas.microsoft.com/office/drawing/2014/main" id="{2C6F0227-B1D3-CCDB-BD13-21033402836C}"/>
              </a:ext>
            </a:extLst>
          </p:cNvPr>
          <p:cNvSpPr>
            <a:spLocks noChangeArrowheads="1"/>
          </p:cNvSpPr>
          <p:nvPr/>
        </p:nvSpPr>
        <p:spPr bwMode="auto">
          <a:xfrm flipH="1">
            <a:off x="740158" y="3079436"/>
            <a:ext cx="1905972"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ACK = 1, ack = 601, </a:t>
            </a:r>
            <a:r>
              <a:rPr kumimoji="1" lang="en-US" altLang="zh-CN" sz="1000" dirty="0">
                <a:solidFill>
                  <a:srgbClr val="00B050"/>
                </a:solidFill>
                <a:latin typeface="Montserrat" panose="00000500000000000000" pitchFamily="2" charset="0"/>
                <a:ea typeface="微软雅黑 Light" panose="020B0502040204020203" pitchFamily="34" charset="-122"/>
              </a:rPr>
              <a:t>rwnd = 0</a:t>
            </a:r>
          </a:p>
        </p:txBody>
      </p:sp>
      <p:sp>
        <p:nvSpPr>
          <p:cNvPr id="12" name="Line 23">
            <a:extLst>
              <a:ext uri="{FF2B5EF4-FFF2-40B4-BE49-F238E27FC236}">
                <a16:creationId xmlns:a16="http://schemas.microsoft.com/office/drawing/2014/main" id="{741AC5B4-A673-592E-5F4A-B1EF48EA312C}"/>
              </a:ext>
            </a:extLst>
          </p:cNvPr>
          <p:cNvSpPr>
            <a:spLocks noChangeShapeType="1"/>
          </p:cNvSpPr>
          <p:nvPr/>
        </p:nvSpPr>
        <p:spPr bwMode="auto">
          <a:xfrm flipH="1">
            <a:off x="513436" y="2725489"/>
            <a:ext cx="2499912" cy="0"/>
          </a:xfrm>
          <a:prstGeom prst="line">
            <a:avLst/>
          </a:prstGeom>
          <a:noFill/>
          <a:ln w="2857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13" name="Rectangle 24">
            <a:extLst>
              <a:ext uri="{FF2B5EF4-FFF2-40B4-BE49-F238E27FC236}">
                <a16:creationId xmlns:a16="http://schemas.microsoft.com/office/drawing/2014/main" id="{B4D5672F-ADCF-7B0F-3B19-2F9632375A64}"/>
              </a:ext>
            </a:extLst>
          </p:cNvPr>
          <p:cNvSpPr>
            <a:spLocks noChangeArrowheads="1"/>
          </p:cNvSpPr>
          <p:nvPr/>
        </p:nvSpPr>
        <p:spPr bwMode="auto">
          <a:xfrm flipH="1">
            <a:off x="661611" y="2478117"/>
            <a:ext cx="2031006"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ACK = 1, ack = 501, </a:t>
            </a:r>
            <a:r>
              <a:rPr kumimoji="1" lang="en-US" altLang="zh-CN" sz="1000" dirty="0">
                <a:solidFill>
                  <a:srgbClr val="00B050"/>
                </a:solidFill>
                <a:latin typeface="Montserrat" panose="00000500000000000000" pitchFamily="2" charset="0"/>
                <a:ea typeface="微软雅黑 Light" panose="020B0502040204020203" pitchFamily="34" charset="-122"/>
              </a:rPr>
              <a:t>rwnd = 100</a:t>
            </a:r>
          </a:p>
        </p:txBody>
      </p:sp>
      <p:sp>
        <p:nvSpPr>
          <p:cNvPr id="14" name="Rectangle 25">
            <a:extLst>
              <a:ext uri="{FF2B5EF4-FFF2-40B4-BE49-F238E27FC236}">
                <a16:creationId xmlns:a16="http://schemas.microsoft.com/office/drawing/2014/main" id="{41704CF8-A9D1-58BA-BFF7-4C12EED553D8}"/>
              </a:ext>
            </a:extLst>
          </p:cNvPr>
          <p:cNvSpPr>
            <a:spLocks noChangeArrowheads="1"/>
          </p:cNvSpPr>
          <p:nvPr/>
        </p:nvSpPr>
        <p:spPr bwMode="auto">
          <a:xfrm>
            <a:off x="375721" y="317547"/>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100" dirty="0">
                <a:latin typeface="Montserrat" panose="00000500000000000000" pitchFamily="2" charset="0"/>
                <a:ea typeface="微软雅黑 Light" panose="020B0502040204020203" pitchFamily="34" charset="-122"/>
              </a:rPr>
              <a:t>A</a:t>
            </a:r>
          </a:p>
        </p:txBody>
      </p:sp>
      <p:sp>
        <p:nvSpPr>
          <p:cNvPr id="15" name="Rectangle 26">
            <a:extLst>
              <a:ext uri="{FF2B5EF4-FFF2-40B4-BE49-F238E27FC236}">
                <a16:creationId xmlns:a16="http://schemas.microsoft.com/office/drawing/2014/main" id="{AEFD902F-FC46-9A71-9CCE-D4ADE1F365C0}"/>
              </a:ext>
            </a:extLst>
          </p:cNvPr>
          <p:cNvSpPr>
            <a:spLocks noChangeArrowheads="1"/>
          </p:cNvSpPr>
          <p:nvPr/>
        </p:nvSpPr>
        <p:spPr bwMode="auto">
          <a:xfrm>
            <a:off x="2868366" y="317547"/>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defTabSz="762000" eaLnBrk="0" hangingPunct="0"/>
            <a:r>
              <a:rPr kumimoji="1" lang="en-US" altLang="zh-CN" sz="1100" dirty="0">
                <a:latin typeface="Montserrat" panose="00000500000000000000" pitchFamily="2" charset="0"/>
                <a:ea typeface="微软雅黑 Light" panose="020B0502040204020203" pitchFamily="34" charset="-122"/>
              </a:rPr>
              <a:t>B</a:t>
            </a:r>
          </a:p>
        </p:txBody>
      </p:sp>
      <p:sp>
        <p:nvSpPr>
          <p:cNvPr id="16" name="Rectangle 27">
            <a:extLst>
              <a:ext uri="{FF2B5EF4-FFF2-40B4-BE49-F238E27FC236}">
                <a16:creationId xmlns:a16="http://schemas.microsoft.com/office/drawing/2014/main" id="{2B603B4D-8954-82D0-04F1-64346E619452}"/>
              </a:ext>
            </a:extLst>
          </p:cNvPr>
          <p:cNvSpPr>
            <a:spLocks noChangeArrowheads="1"/>
          </p:cNvSpPr>
          <p:nvPr/>
        </p:nvSpPr>
        <p:spPr bwMode="auto">
          <a:xfrm>
            <a:off x="3013348" y="1394806"/>
            <a:ext cx="2511907"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B </a:t>
            </a:r>
            <a:r>
              <a:rPr kumimoji="1" lang="zh-CN" altLang="en-US" sz="1100" dirty="0">
                <a:latin typeface="Montserrat" panose="00000500000000000000" pitchFamily="2" charset="0"/>
                <a:ea typeface="微软雅黑 Light" panose="020B0502040204020203" pitchFamily="34" charset="-122"/>
              </a:rPr>
              <a:t>允许 </a:t>
            </a:r>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[201,500] </a:t>
            </a:r>
            <a:r>
              <a:rPr kumimoji="1" lang="zh-CN" altLang="en-US" sz="1100" dirty="0">
                <a:latin typeface="Montserrat" panose="00000500000000000000" pitchFamily="2" charset="0"/>
                <a:ea typeface="微软雅黑 Light" panose="020B0502040204020203" pitchFamily="34" charset="-122"/>
              </a:rPr>
              <a:t>共 </a:t>
            </a:r>
            <a:r>
              <a:rPr kumimoji="1" lang="en-US" altLang="zh-CN" sz="1100" dirty="0">
                <a:latin typeface="Montserrat" panose="00000500000000000000" pitchFamily="2" charset="0"/>
                <a:ea typeface="微软雅黑 Light" panose="020B0502040204020203" pitchFamily="34" charset="-122"/>
              </a:rPr>
              <a:t>300 </a:t>
            </a:r>
            <a:r>
              <a:rPr kumimoji="1" lang="zh-CN" altLang="en-US" sz="1100" dirty="0">
                <a:latin typeface="Montserrat" panose="00000500000000000000" pitchFamily="2" charset="0"/>
                <a:ea typeface="微软雅黑 Light" panose="020B0502040204020203" pitchFamily="34" charset="-122"/>
              </a:rPr>
              <a:t>字节</a:t>
            </a:r>
          </a:p>
        </p:txBody>
      </p:sp>
      <p:sp>
        <p:nvSpPr>
          <p:cNvPr id="18" name="Line 13">
            <a:extLst>
              <a:ext uri="{FF2B5EF4-FFF2-40B4-BE49-F238E27FC236}">
                <a16:creationId xmlns:a16="http://schemas.microsoft.com/office/drawing/2014/main" id="{4A245983-ACE8-1A61-703D-66C1477B9FEE}"/>
              </a:ext>
            </a:extLst>
          </p:cNvPr>
          <p:cNvSpPr>
            <a:spLocks noChangeShapeType="1"/>
          </p:cNvSpPr>
          <p:nvPr/>
        </p:nvSpPr>
        <p:spPr bwMode="auto">
          <a:xfrm>
            <a:off x="514373" y="908911"/>
            <a:ext cx="2509724"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19" name="Rectangle 14">
            <a:extLst>
              <a:ext uri="{FF2B5EF4-FFF2-40B4-BE49-F238E27FC236}">
                <a16:creationId xmlns:a16="http://schemas.microsoft.com/office/drawing/2014/main" id="{C28AD02C-FB17-785F-D77A-0722C590F2B4}"/>
              </a:ext>
            </a:extLst>
          </p:cNvPr>
          <p:cNvSpPr>
            <a:spLocks noChangeArrowheads="1"/>
          </p:cNvSpPr>
          <p:nvPr/>
        </p:nvSpPr>
        <p:spPr bwMode="auto">
          <a:xfrm>
            <a:off x="1142512" y="656817"/>
            <a:ext cx="115095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101, DATA</a:t>
            </a:r>
          </a:p>
        </p:txBody>
      </p:sp>
      <p:sp>
        <p:nvSpPr>
          <p:cNvPr id="20" name="Rectangle 28">
            <a:extLst>
              <a:ext uri="{FF2B5EF4-FFF2-40B4-BE49-F238E27FC236}">
                <a16:creationId xmlns:a16="http://schemas.microsoft.com/office/drawing/2014/main" id="{2542EBB7-B01D-D2AB-ADCC-43ABFFEF9A66}"/>
              </a:ext>
            </a:extLst>
          </p:cNvPr>
          <p:cNvSpPr>
            <a:spLocks noChangeArrowheads="1"/>
          </p:cNvSpPr>
          <p:nvPr/>
        </p:nvSpPr>
        <p:spPr bwMode="auto">
          <a:xfrm>
            <a:off x="3013348" y="782686"/>
            <a:ext cx="268984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发送了 </a:t>
            </a:r>
            <a:r>
              <a:rPr kumimoji="1" lang="en-US" altLang="zh-CN" sz="1100" dirty="0">
                <a:latin typeface="Montserrat" panose="00000500000000000000" pitchFamily="2" charset="0"/>
                <a:ea typeface="微软雅黑 Light" panose="020B0502040204020203" pitchFamily="34" charset="-122"/>
              </a:rPr>
              <a:t>[101,200]</a:t>
            </a:r>
            <a:r>
              <a:rPr kumimoji="1" lang="zh-CN" altLang="en-US" sz="1100" dirty="0">
                <a:latin typeface="Montserrat" panose="00000500000000000000" pitchFamily="2" charset="0"/>
                <a:ea typeface="微软雅黑 Light" panose="020B0502040204020203" pitchFamily="34" charset="-122"/>
              </a:rPr>
              <a:t>，还能发送 </a:t>
            </a:r>
            <a:r>
              <a:rPr kumimoji="1" lang="en-US" altLang="zh-CN" sz="1100" dirty="0">
                <a:latin typeface="Montserrat" panose="00000500000000000000" pitchFamily="2" charset="0"/>
                <a:ea typeface="微软雅黑 Light" panose="020B0502040204020203" pitchFamily="34" charset="-122"/>
              </a:rPr>
              <a:t>200 </a:t>
            </a:r>
            <a:r>
              <a:rPr kumimoji="1" lang="zh-CN" altLang="en-US" sz="1100" dirty="0">
                <a:latin typeface="Montserrat" panose="00000500000000000000" pitchFamily="2" charset="0"/>
                <a:ea typeface="微软雅黑 Light" panose="020B0502040204020203" pitchFamily="34" charset="-122"/>
              </a:rPr>
              <a:t>字节</a:t>
            </a:r>
          </a:p>
        </p:txBody>
      </p:sp>
      <p:sp>
        <p:nvSpPr>
          <p:cNvPr id="22" name="Line 11">
            <a:extLst>
              <a:ext uri="{FF2B5EF4-FFF2-40B4-BE49-F238E27FC236}">
                <a16:creationId xmlns:a16="http://schemas.microsoft.com/office/drawing/2014/main" id="{DFCECF88-3070-B572-D03A-F0B4EC6E1F1E}"/>
              </a:ext>
            </a:extLst>
          </p:cNvPr>
          <p:cNvSpPr>
            <a:spLocks noChangeShapeType="1"/>
          </p:cNvSpPr>
          <p:nvPr/>
        </p:nvSpPr>
        <p:spPr bwMode="auto">
          <a:xfrm>
            <a:off x="514373" y="1817200"/>
            <a:ext cx="2482062"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23" name="Rectangle 12">
            <a:extLst>
              <a:ext uri="{FF2B5EF4-FFF2-40B4-BE49-F238E27FC236}">
                <a16:creationId xmlns:a16="http://schemas.microsoft.com/office/drawing/2014/main" id="{9C8A4256-AF4D-3AAC-B85D-CF39F3576D1D}"/>
              </a:ext>
            </a:extLst>
          </p:cNvPr>
          <p:cNvSpPr>
            <a:spLocks noChangeArrowheads="1"/>
          </p:cNvSpPr>
          <p:nvPr/>
        </p:nvSpPr>
        <p:spPr bwMode="auto">
          <a:xfrm>
            <a:off x="1142512" y="1573544"/>
            <a:ext cx="1176605"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301, DATA</a:t>
            </a:r>
          </a:p>
        </p:txBody>
      </p:sp>
      <p:sp>
        <p:nvSpPr>
          <p:cNvPr id="24" name="Rectangle 29">
            <a:extLst>
              <a:ext uri="{FF2B5EF4-FFF2-40B4-BE49-F238E27FC236}">
                <a16:creationId xmlns:a16="http://schemas.microsoft.com/office/drawing/2014/main" id="{D0C48892-8A4E-D8DE-735F-862544AD42B7}"/>
              </a:ext>
            </a:extLst>
          </p:cNvPr>
          <p:cNvSpPr>
            <a:spLocks noChangeArrowheads="1"/>
          </p:cNvSpPr>
          <p:nvPr/>
        </p:nvSpPr>
        <p:spPr bwMode="auto">
          <a:xfrm>
            <a:off x="3013348" y="1700866"/>
            <a:ext cx="2947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nchorCtr="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[301,400]</a:t>
            </a:r>
            <a:r>
              <a:rPr kumimoji="1" lang="zh-CN" altLang="en-US" sz="1100" dirty="0">
                <a:latin typeface="Montserrat" panose="00000500000000000000" pitchFamily="2" charset="0"/>
                <a:ea typeface="微软雅黑 Light" panose="020B0502040204020203" pitchFamily="34" charset="-122"/>
              </a:rPr>
              <a:t>，还能再发</a:t>
            </a:r>
            <a:r>
              <a:rPr kumimoji="1" lang="en-US" altLang="zh-CN" sz="1100" dirty="0">
                <a:latin typeface="Montserrat" panose="00000500000000000000" pitchFamily="2" charset="0"/>
                <a:ea typeface="微软雅黑 Light" panose="020B0502040204020203" pitchFamily="34" charset="-122"/>
              </a:rPr>
              <a:t>100 </a:t>
            </a:r>
            <a:r>
              <a:rPr kumimoji="1" lang="zh-CN" altLang="en-US" sz="1100" dirty="0">
                <a:latin typeface="Montserrat" panose="00000500000000000000" pitchFamily="2" charset="0"/>
                <a:ea typeface="微软雅黑 Light" panose="020B0502040204020203" pitchFamily="34" charset="-122"/>
              </a:rPr>
              <a:t>字节新数据</a:t>
            </a:r>
          </a:p>
        </p:txBody>
      </p:sp>
      <p:sp>
        <p:nvSpPr>
          <p:cNvPr id="26" name="Line 5">
            <a:extLst>
              <a:ext uri="{FF2B5EF4-FFF2-40B4-BE49-F238E27FC236}">
                <a16:creationId xmlns:a16="http://schemas.microsoft.com/office/drawing/2014/main" id="{61880D64-B5CE-5865-D457-21480DFEFE0C}"/>
              </a:ext>
            </a:extLst>
          </p:cNvPr>
          <p:cNvSpPr>
            <a:spLocks noChangeShapeType="1"/>
          </p:cNvSpPr>
          <p:nvPr/>
        </p:nvSpPr>
        <p:spPr bwMode="auto">
          <a:xfrm>
            <a:off x="514373" y="606148"/>
            <a:ext cx="2480184"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27" name="Rectangle 6">
            <a:extLst>
              <a:ext uri="{FF2B5EF4-FFF2-40B4-BE49-F238E27FC236}">
                <a16:creationId xmlns:a16="http://schemas.microsoft.com/office/drawing/2014/main" id="{3874EBE0-10F1-666C-9E9C-B813D13B9550}"/>
              </a:ext>
            </a:extLst>
          </p:cNvPr>
          <p:cNvSpPr>
            <a:spLocks noChangeArrowheads="1"/>
          </p:cNvSpPr>
          <p:nvPr/>
        </p:nvSpPr>
        <p:spPr bwMode="auto">
          <a:xfrm>
            <a:off x="1221059" y="368299"/>
            <a:ext cx="101951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1, DATA</a:t>
            </a:r>
          </a:p>
        </p:txBody>
      </p:sp>
      <p:sp>
        <p:nvSpPr>
          <p:cNvPr id="28" name="Rectangle 30">
            <a:extLst>
              <a:ext uri="{FF2B5EF4-FFF2-40B4-BE49-F238E27FC236}">
                <a16:creationId xmlns:a16="http://schemas.microsoft.com/office/drawing/2014/main" id="{1C424C09-5122-7B4D-62C3-8C9906FB4686}"/>
              </a:ext>
            </a:extLst>
          </p:cNvPr>
          <p:cNvSpPr>
            <a:spLocks noChangeArrowheads="1"/>
          </p:cNvSpPr>
          <p:nvPr/>
        </p:nvSpPr>
        <p:spPr bwMode="auto">
          <a:xfrm>
            <a:off x="3013348" y="476626"/>
            <a:ext cx="255358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发送了 </a:t>
            </a:r>
            <a:r>
              <a:rPr kumimoji="1" lang="en-US" altLang="zh-CN" sz="1100" dirty="0">
                <a:latin typeface="Montserrat" panose="00000500000000000000" pitchFamily="2" charset="0"/>
                <a:ea typeface="微软雅黑 Light" panose="020B0502040204020203" pitchFamily="34" charset="-122"/>
              </a:rPr>
              <a:t>[1, 100]</a:t>
            </a:r>
            <a:r>
              <a:rPr kumimoji="1" lang="zh-CN" altLang="en-US" sz="1100" dirty="0">
                <a:latin typeface="Montserrat" panose="00000500000000000000" pitchFamily="2" charset="0"/>
                <a:ea typeface="微软雅黑 Light" panose="020B0502040204020203" pitchFamily="34" charset="-122"/>
              </a:rPr>
              <a:t>，还能发送 </a:t>
            </a:r>
            <a:r>
              <a:rPr kumimoji="1" lang="en-US" altLang="zh-CN" sz="1100" dirty="0">
                <a:latin typeface="Montserrat" panose="00000500000000000000" pitchFamily="2" charset="0"/>
                <a:ea typeface="微软雅黑 Light" panose="020B0502040204020203" pitchFamily="34" charset="-122"/>
              </a:rPr>
              <a:t>300 </a:t>
            </a:r>
            <a:r>
              <a:rPr kumimoji="1" lang="zh-CN" altLang="en-US" sz="1100" dirty="0">
                <a:latin typeface="Montserrat" panose="00000500000000000000" pitchFamily="2" charset="0"/>
                <a:ea typeface="微软雅黑 Light" panose="020B0502040204020203" pitchFamily="34" charset="-122"/>
              </a:rPr>
              <a:t>字节</a:t>
            </a:r>
          </a:p>
        </p:txBody>
      </p:sp>
      <p:sp>
        <p:nvSpPr>
          <p:cNvPr id="30" name="Line 9">
            <a:extLst>
              <a:ext uri="{FF2B5EF4-FFF2-40B4-BE49-F238E27FC236}">
                <a16:creationId xmlns:a16="http://schemas.microsoft.com/office/drawing/2014/main" id="{4C536EC5-D803-919B-74B0-165E12391C09}"/>
              </a:ext>
            </a:extLst>
          </p:cNvPr>
          <p:cNvSpPr>
            <a:spLocks noChangeShapeType="1"/>
          </p:cNvSpPr>
          <p:nvPr/>
        </p:nvSpPr>
        <p:spPr bwMode="auto">
          <a:xfrm>
            <a:off x="514373" y="2119963"/>
            <a:ext cx="2478304"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31" name="Rectangle 10">
            <a:extLst>
              <a:ext uri="{FF2B5EF4-FFF2-40B4-BE49-F238E27FC236}">
                <a16:creationId xmlns:a16="http://schemas.microsoft.com/office/drawing/2014/main" id="{8AA8CF74-D8BE-667D-878A-76C91044F2BF}"/>
              </a:ext>
            </a:extLst>
          </p:cNvPr>
          <p:cNvSpPr>
            <a:spLocks noChangeArrowheads="1"/>
          </p:cNvSpPr>
          <p:nvPr/>
        </p:nvSpPr>
        <p:spPr bwMode="auto">
          <a:xfrm>
            <a:off x="1142512" y="1862056"/>
            <a:ext cx="118942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401, DATA</a:t>
            </a:r>
          </a:p>
        </p:txBody>
      </p:sp>
      <p:sp>
        <p:nvSpPr>
          <p:cNvPr id="32" name="Rectangle 31">
            <a:extLst>
              <a:ext uri="{FF2B5EF4-FFF2-40B4-BE49-F238E27FC236}">
                <a16:creationId xmlns:a16="http://schemas.microsoft.com/office/drawing/2014/main" id="{41BC5FF7-A9DB-D9EE-20BD-708B64C9ED3F}"/>
              </a:ext>
            </a:extLst>
          </p:cNvPr>
          <p:cNvSpPr>
            <a:spLocks noChangeArrowheads="1"/>
          </p:cNvSpPr>
          <p:nvPr/>
        </p:nvSpPr>
        <p:spPr bwMode="auto">
          <a:xfrm>
            <a:off x="3013348" y="2006926"/>
            <a:ext cx="2391681"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nchorCtr="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[401,500]</a:t>
            </a:r>
            <a:r>
              <a:rPr kumimoji="1" lang="zh-CN" altLang="en-US" sz="1100" dirty="0">
                <a:latin typeface="Montserrat" panose="00000500000000000000" pitchFamily="2" charset="0"/>
                <a:ea typeface="微软雅黑 Light" panose="020B0502040204020203" pitchFamily="34" charset="-122"/>
              </a:rPr>
              <a:t>，不能再发新数据</a:t>
            </a:r>
          </a:p>
        </p:txBody>
      </p:sp>
      <p:sp>
        <p:nvSpPr>
          <p:cNvPr id="34" name="Line 7">
            <a:extLst>
              <a:ext uri="{FF2B5EF4-FFF2-40B4-BE49-F238E27FC236}">
                <a16:creationId xmlns:a16="http://schemas.microsoft.com/office/drawing/2014/main" id="{65E7B78E-2182-293C-F22E-D179C28F39BB}"/>
              </a:ext>
            </a:extLst>
          </p:cNvPr>
          <p:cNvSpPr>
            <a:spLocks noChangeShapeType="1"/>
          </p:cNvSpPr>
          <p:nvPr/>
        </p:nvSpPr>
        <p:spPr bwMode="auto">
          <a:xfrm>
            <a:off x="514373" y="2422726"/>
            <a:ext cx="2479245"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35" name="Rectangle 8">
            <a:extLst>
              <a:ext uri="{FF2B5EF4-FFF2-40B4-BE49-F238E27FC236}">
                <a16:creationId xmlns:a16="http://schemas.microsoft.com/office/drawing/2014/main" id="{AA16BD31-835D-EA5E-668C-57B3CFB7F0A3}"/>
              </a:ext>
            </a:extLst>
          </p:cNvPr>
          <p:cNvSpPr>
            <a:spLocks noChangeArrowheads="1"/>
          </p:cNvSpPr>
          <p:nvPr/>
        </p:nvSpPr>
        <p:spPr bwMode="auto">
          <a:xfrm>
            <a:off x="1142512" y="2158378"/>
            <a:ext cx="1176605"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201, DATA</a:t>
            </a:r>
          </a:p>
        </p:txBody>
      </p:sp>
      <p:sp>
        <p:nvSpPr>
          <p:cNvPr id="36" name="Rectangle 32">
            <a:extLst>
              <a:ext uri="{FF2B5EF4-FFF2-40B4-BE49-F238E27FC236}">
                <a16:creationId xmlns:a16="http://schemas.microsoft.com/office/drawing/2014/main" id="{C745EF8C-2F86-9ACC-7F3F-2A88B09644E0}"/>
              </a:ext>
            </a:extLst>
          </p:cNvPr>
          <p:cNvSpPr>
            <a:spLocks noChangeArrowheads="1"/>
          </p:cNvSpPr>
          <p:nvPr/>
        </p:nvSpPr>
        <p:spPr bwMode="auto">
          <a:xfrm>
            <a:off x="3013348" y="2312986"/>
            <a:ext cx="243656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超时重传旧数据，不能发送新数据</a:t>
            </a:r>
          </a:p>
        </p:txBody>
      </p:sp>
      <p:sp>
        <p:nvSpPr>
          <p:cNvPr id="37" name="Rectangle 33">
            <a:extLst>
              <a:ext uri="{FF2B5EF4-FFF2-40B4-BE49-F238E27FC236}">
                <a16:creationId xmlns:a16="http://schemas.microsoft.com/office/drawing/2014/main" id="{A84F8A74-5EF8-6445-D192-BA8763AE0A51}"/>
              </a:ext>
            </a:extLst>
          </p:cNvPr>
          <p:cNvSpPr>
            <a:spLocks noChangeArrowheads="1"/>
          </p:cNvSpPr>
          <p:nvPr/>
        </p:nvSpPr>
        <p:spPr bwMode="auto">
          <a:xfrm>
            <a:off x="3013348" y="2619046"/>
            <a:ext cx="30665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B </a:t>
            </a:r>
            <a:r>
              <a:rPr kumimoji="1" lang="zh-CN" altLang="en-US" sz="1100" dirty="0">
                <a:latin typeface="Montserrat" panose="00000500000000000000" pitchFamily="2" charset="0"/>
                <a:ea typeface="微软雅黑 Light" panose="020B0502040204020203" pitchFamily="34" charset="-122"/>
              </a:rPr>
              <a:t>允许 </a:t>
            </a:r>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[501,600] </a:t>
            </a:r>
            <a:r>
              <a:rPr kumimoji="1" lang="zh-CN" altLang="en-US" sz="1100" dirty="0">
                <a:latin typeface="Montserrat" panose="00000500000000000000" pitchFamily="2" charset="0"/>
                <a:ea typeface="微软雅黑 Light" panose="020B0502040204020203" pitchFamily="34" charset="-122"/>
              </a:rPr>
              <a:t>共 </a:t>
            </a:r>
            <a:r>
              <a:rPr kumimoji="1" lang="en-US" altLang="zh-CN" sz="1100" dirty="0">
                <a:latin typeface="Montserrat" panose="00000500000000000000" pitchFamily="2" charset="0"/>
                <a:ea typeface="微软雅黑 Light" panose="020B0502040204020203" pitchFamily="34" charset="-122"/>
              </a:rPr>
              <a:t>100 </a:t>
            </a:r>
            <a:r>
              <a:rPr kumimoji="1" lang="zh-CN" altLang="en-US" sz="1100" dirty="0">
                <a:latin typeface="Montserrat" panose="00000500000000000000" pitchFamily="2" charset="0"/>
                <a:ea typeface="微软雅黑 Light" panose="020B0502040204020203" pitchFamily="34" charset="-122"/>
              </a:rPr>
              <a:t>字节</a:t>
            </a:r>
          </a:p>
        </p:txBody>
      </p:sp>
      <p:sp>
        <p:nvSpPr>
          <p:cNvPr id="39" name="Line 17">
            <a:extLst>
              <a:ext uri="{FF2B5EF4-FFF2-40B4-BE49-F238E27FC236}">
                <a16:creationId xmlns:a16="http://schemas.microsoft.com/office/drawing/2014/main" id="{DF8B367A-9B6F-E61F-3D8A-513071E182AE}"/>
              </a:ext>
            </a:extLst>
          </p:cNvPr>
          <p:cNvSpPr>
            <a:spLocks noChangeShapeType="1"/>
          </p:cNvSpPr>
          <p:nvPr/>
        </p:nvSpPr>
        <p:spPr bwMode="auto">
          <a:xfrm>
            <a:off x="514373" y="3028252"/>
            <a:ext cx="2480183"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40" name="Rectangle 18">
            <a:extLst>
              <a:ext uri="{FF2B5EF4-FFF2-40B4-BE49-F238E27FC236}">
                <a16:creationId xmlns:a16="http://schemas.microsoft.com/office/drawing/2014/main" id="{386CEF66-7D2E-63D6-E95D-A626A4944B6F}"/>
              </a:ext>
            </a:extLst>
          </p:cNvPr>
          <p:cNvSpPr>
            <a:spLocks noChangeArrowheads="1"/>
          </p:cNvSpPr>
          <p:nvPr/>
        </p:nvSpPr>
        <p:spPr bwMode="auto">
          <a:xfrm>
            <a:off x="1142512" y="4597653"/>
            <a:ext cx="1208665"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602, DATA</a:t>
            </a:r>
          </a:p>
        </p:txBody>
      </p:sp>
      <p:sp>
        <p:nvSpPr>
          <p:cNvPr id="41" name="Rectangle 34">
            <a:extLst>
              <a:ext uri="{FF2B5EF4-FFF2-40B4-BE49-F238E27FC236}">
                <a16:creationId xmlns:a16="http://schemas.microsoft.com/office/drawing/2014/main" id="{358F85C5-0610-F7C8-D56A-EB1D80760CAB}"/>
              </a:ext>
            </a:extLst>
          </p:cNvPr>
          <p:cNvSpPr>
            <a:spLocks noChangeArrowheads="1"/>
          </p:cNvSpPr>
          <p:nvPr/>
        </p:nvSpPr>
        <p:spPr bwMode="auto">
          <a:xfrm>
            <a:off x="3013348" y="2925106"/>
            <a:ext cx="257121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[501,600]</a:t>
            </a:r>
            <a:r>
              <a:rPr kumimoji="1" lang="zh-CN" altLang="en-US" sz="1100" dirty="0">
                <a:latin typeface="Montserrat" panose="00000500000000000000" pitchFamily="2" charset="0"/>
                <a:ea typeface="微软雅黑 Light" panose="020B0502040204020203" pitchFamily="34" charset="-122"/>
              </a:rPr>
              <a:t>，不能再发送新数据</a:t>
            </a:r>
          </a:p>
        </p:txBody>
      </p:sp>
      <p:sp>
        <p:nvSpPr>
          <p:cNvPr id="42" name="Rectangle 35">
            <a:extLst>
              <a:ext uri="{FF2B5EF4-FFF2-40B4-BE49-F238E27FC236}">
                <a16:creationId xmlns:a16="http://schemas.microsoft.com/office/drawing/2014/main" id="{C8446E18-A0E2-6FCA-C3B0-A8ACA33624DC}"/>
              </a:ext>
            </a:extLst>
          </p:cNvPr>
          <p:cNvSpPr>
            <a:spLocks noChangeArrowheads="1"/>
          </p:cNvSpPr>
          <p:nvPr/>
        </p:nvSpPr>
        <p:spPr bwMode="auto">
          <a:xfrm>
            <a:off x="3013348" y="3231166"/>
            <a:ext cx="134652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B </a:t>
            </a:r>
            <a:r>
              <a:rPr kumimoji="1" lang="zh-CN" altLang="en-US" sz="1100" dirty="0">
                <a:latin typeface="Montserrat" panose="00000500000000000000" pitchFamily="2" charset="0"/>
                <a:ea typeface="微软雅黑 Light" panose="020B0502040204020203" pitchFamily="34" charset="-122"/>
              </a:rPr>
              <a:t>不允许 </a:t>
            </a:r>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再发送</a:t>
            </a:r>
          </a:p>
        </p:txBody>
      </p:sp>
      <p:sp>
        <p:nvSpPr>
          <p:cNvPr id="44" name="Line 15">
            <a:extLst>
              <a:ext uri="{FF2B5EF4-FFF2-40B4-BE49-F238E27FC236}">
                <a16:creationId xmlns:a16="http://schemas.microsoft.com/office/drawing/2014/main" id="{271D627A-C4F0-8A09-06AA-523088EB3C41}"/>
              </a:ext>
            </a:extLst>
          </p:cNvPr>
          <p:cNvSpPr>
            <a:spLocks noChangeShapeType="1"/>
          </p:cNvSpPr>
          <p:nvPr/>
        </p:nvSpPr>
        <p:spPr bwMode="auto">
          <a:xfrm>
            <a:off x="514373" y="1211674"/>
            <a:ext cx="1481082"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45" name="Rectangle 16">
            <a:extLst>
              <a:ext uri="{FF2B5EF4-FFF2-40B4-BE49-F238E27FC236}">
                <a16:creationId xmlns:a16="http://schemas.microsoft.com/office/drawing/2014/main" id="{34FB149F-24D2-9D7D-EB58-87D39A309E89}"/>
              </a:ext>
            </a:extLst>
          </p:cNvPr>
          <p:cNvSpPr>
            <a:spLocks noChangeArrowheads="1"/>
          </p:cNvSpPr>
          <p:nvPr/>
        </p:nvSpPr>
        <p:spPr bwMode="auto">
          <a:xfrm>
            <a:off x="842261" y="976555"/>
            <a:ext cx="1176605"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201, DATA</a:t>
            </a:r>
          </a:p>
        </p:txBody>
      </p:sp>
      <p:sp>
        <p:nvSpPr>
          <p:cNvPr id="47" name="AutoShape 36">
            <a:extLst>
              <a:ext uri="{FF2B5EF4-FFF2-40B4-BE49-F238E27FC236}">
                <a16:creationId xmlns:a16="http://schemas.microsoft.com/office/drawing/2014/main" id="{BB8357D9-461C-06F1-C161-759068BE7F0A}"/>
              </a:ext>
            </a:extLst>
          </p:cNvPr>
          <p:cNvSpPr>
            <a:spLocks noChangeArrowheads="1"/>
          </p:cNvSpPr>
          <p:nvPr/>
        </p:nvSpPr>
        <p:spPr bwMode="auto">
          <a:xfrm>
            <a:off x="2077584" y="880939"/>
            <a:ext cx="688658" cy="415665"/>
          </a:xfrm>
          <a:prstGeom prst="irregularSeal1">
            <a:avLst/>
          </a:prstGeom>
          <a:solidFill>
            <a:srgbClr val="C00000"/>
          </a:solidFill>
          <a:ln w="6350">
            <a:noFill/>
            <a:miter lim="800000"/>
            <a:headEnd/>
            <a:tailEnd/>
          </a:ln>
          <a:effectLst/>
        </p:spPr>
        <p:txBody>
          <a:bodyPr wrap="none" anchor="ctr"/>
          <a:lstStyle/>
          <a:p>
            <a:r>
              <a:rPr kumimoji="1" lang="zh-CN" altLang="en-US" sz="1100" dirty="0">
                <a:solidFill>
                  <a:schemeClr val="bg1"/>
                </a:solidFill>
                <a:latin typeface="Montserrat" panose="00000500000000000000" pitchFamily="2" charset="0"/>
                <a:ea typeface="微软雅黑 Light" panose="020B0502040204020203" pitchFamily="34" charset="-122"/>
              </a:rPr>
              <a:t>丢失</a:t>
            </a:r>
          </a:p>
        </p:txBody>
      </p:sp>
      <p:sp>
        <p:nvSpPr>
          <p:cNvPr id="48" name="Rectangle 37">
            <a:extLst>
              <a:ext uri="{FF2B5EF4-FFF2-40B4-BE49-F238E27FC236}">
                <a16:creationId xmlns:a16="http://schemas.microsoft.com/office/drawing/2014/main" id="{34298651-C8D3-A223-9BA6-1DD9A2DC3C1A}"/>
              </a:ext>
            </a:extLst>
          </p:cNvPr>
          <p:cNvSpPr>
            <a:spLocks noChangeArrowheads="1"/>
          </p:cNvSpPr>
          <p:nvPr/>
        </p:nvSpPr>
        <p:spPr bwMode="auto">
          <a:xfrm>
            <a:off x="2197304" y="961662"/>
            <a:ext cx="182808" cy="243656"/>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endParaRPr kumimoji="1" lang="zh-CN" altLang="en-US" sz="1000" dirty="0">
              <a:solidFill>
                <a:schemeClr val="bg1"/>
              </a:solidFill>
              <a:latin typeface="Montserrat" panose="00000500000000000000" pitchFamily="2" charset="0"/>
              <a:ea typeface="微软雅黑 Light" panose="020B0502040204020203" pitchFamily="34" charset="-122"/>
            </a:endParaRPr>
          </a:p>
        </p:txBody>
      </p:sp>
      <p:sp>
        <p:nvSpPr>
          <p:cNvPr id="49" name="Line 38">
            <a:extLst>
              <a:ext uri="{FF2B5EF4-FFF2-40B4-BE49-F238E27FC236}">
                <a16:creationId xmlns:a16="http://schemas.microsoft.com/office/drawing/2014/main" id="{0A7208C7-5715-F8AA-B887-C54D2935EF97}"/>
              </a:ext>
            </a:extLst>
          </p:cNvPr>
          <p:cNvSpPr>
            <a:spLocks noChangeShapeType="1"/>
          </p:cNvSpPr>
          <p:nvPr/>
        </p:nvSpPr>
        <p:spPr bwMode="auto">
          <a:xfrm>
            <a:off x="514373" y="516144"/>
            <a:ext cx="0" cy="4464000"/>
          </a:xfrm>
          <a:prstGeom prst="line">
            <a:avLst/>
          </a:prstGeom>
          <a:noFill/>
          <a:ln w="12700">
            <a:solidFill>
              <a:schemeClr val="tx1"/>
            </a:solidFill>
            <a:prstDash val="sysDot"/>
            <a:round/>
            <a:headEnd/>
            <a:tailEnd type="triangle"/>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a:latin typeface="Montserrat" panose="00000500000000000000" pitchFamily="2" charset="0"/>
              <a:ea typeface="微软雅黑 Light" panose="020B0502040204020203" pitchFamily="34" charset="-122"/>
            </a:endParaRPr>
          </a:p>
        </p:txBody>
      </p:sp>
      <p:graphicFrame>
        <p:nvGraphicFramePr>
          <p:cNvPr id="50" name="表格 49">
            <a:extLst>
              <a:ext uri="{FF2B5EF4-FFF2-40B4-BE49-F238E27FC236}">
                <a16:creationId xmlns:a16="http://schemas.microsoft.com/office/drawing/2014/main" id="{FD9DF24A-440C-BC93-80EE-3B930DCFA0FE}"/>
              </a:ext>
            </a:extLst>
          </p:cNvPr>
          <p:cNvGraphicFramePr>
            <a:graphicFrameLocks noGrp="1"/>
          </p:cNvGraphicFramePr>
          <p:nvPr>
            <p:extLst>
              <p:ext uri="{D42A27DB-BD31-4B8C-83A1-F6EECF244321}">
                <p14:modId xmlns:p14="http://schemas.microsoft.com/office/powerpoint/2010/main" val="573232275"/>
              </p:ext>
            </p:extLst>
          </p:nvPr>
        </p:nvGraphicFramePr>
        <p:xfrm>
          <a:off x="5967304" y="467955"/>
          <a:ext cx="2880000" cy="4536000"/>
        </p:xfrm>
        <a:graphic>
          <a:graphicData uri="http://schemas.openxmlformats.org/drawingml/2006/table">
            <a:tbl>
              <a:tblPr firstRow="1" bandRow="1">
                <a:tableStyleId>{5C22544A-7EE6-4342-B048-85BDC9FD1C3A}</a:tableStyleId>
              </a:tblPr>
              <a:tblGrid>
                <a:gridCol w="720000">
                  <a:extLst>
                    <a:ext uri="{9D8B030D-6E8A-4147-A177-3AD203B41FA5}">
                      <a16:colId xmlns:a16="http://schemas.microsoft.com/office/drawing/2014/main" val="3143390362"/>
                    </a:ext>
                  </a:extLst>
                </a:gridCol>
                <a:gridCol w="720000">
                  <a:extLst>
                    <a:ext uri="{9D8B030D-6E8A-4147-A177-3AD203B41FA5}">
                      <a16:colId xmlns:a16="http://schemas.microsoft.com/office/drawing/2014/main" val="3195879906"/>
                    </a:ext>
                  </a:extLst>
                </a:gridCol>
                <a:gridCol w="720000">
                  <a:extLst>
                    <a:ext uri="{9D8B030D-6E8A-4147-A177-3AD203B41FA5}">
                      <a16:colId xmlns:a16="http://schemas.microsoft.com/office/drawing/2014/main" val="2688598970"/>
                    </a:ext>
                  </a:extLst>
                </a:gridCol>
                <a:gridCol w="720000">
                  <a:extLst>
                    <a:ext uri="{9D8B030D-6E8A-4147-A177-3AD203B41FA5}">
                      <a16:colId xmlns:a16="http://schemas.microsoft.com/office/drawing/2014/main" val="1776593180"/>
                    </a:ext>
                  </a:extLst>
                </a:gridCol>
              </a:tblGrid>
              <a:tr h="302400">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1-100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88568312"/>
                  </a:ext>
                </a:extLst>
              </a:tr>
              <a:tr h="302400">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1-100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101-200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53275141"/>
                  </a:ext>
                </a:extLst>
              </a:tr>
              <a:tr h="302400">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1-100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101-200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rgbClr val="FF0000"/>
                          </a:solidFill>
                          <a:latin typeface="Montserrat" panose="00000500000000000000" pitchFamily="2" charset="0"/>
                          <a:ea typeface="微软雅黑 Light" panose="020B0502040204020203" pitchFamily="34" charset="-122"/>
                        </a:rPr>
                        <a:t>201-300</a:t>
                      </a:r>
                      <a:endParaRPr lang="zh-CN" altLang="en-US" sz="1000" b="0" baseline="0" dirty="0">
                        <a:solidFill>
                          <a:srgbClr val="FF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61330698"/>
                  </a:ext>
                </a:extLst>
              </a:tr>
              <a:tr h="302400">
                <a:tc>
                  <a:txBody>
                    <a:bodyPr/>
                    <a:lstStyle/>
                    <a:p>
                      <a:pPr algn="ctr"/>
                      <a:r>
                        <a:rPr lang="en-US" altLang="zh-CN" sz="1000" b="0" baseline="0" dirty="0">
                          <a:solidFill>
                            <a:srgbClr val="FF0000"/>
                          </a:solidFill>
                          <a:latin typeface="Montserrat" panose="00000500000000000000" pitchFamily="2" charset="0"/>
                          <a:ea typeface="微软雅黑 Light" panose="020B0502040204020203" pitchFamily="34" charset="-122"/>
                        </a:rPr>
                        <a:t>201-300</a:t>
                      </a:r>
                      <a:endParaRPr lang="zh-CN" altLang="en-US" sz="1000" b="0" baseline="0" dirty="0">
                        <a:solidFill>
                          <a:srgbClr val="FF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600435739"/>
                  </a:ext>
                </a:extLst>
              </a:tr>
              <a:tr h="302400">
                <a:tc>
                  <a:txBody>
                    <a:bodyPr/>
                    <a:lstStyle/>
                    <a:p>
                      <a:pPr algn="ctr"/>
                      <a:r>
                        <a:rPr lang="en-US" altLang="zh-CN" sz="1000" b="0" baseline="0" dirty="0">
                          <a:solidFill>
                            <a:srgbClr val="FF0000"/>
                          </a:solidFill>
                          <a:latin typeface="Montserrat" panose="00000500000000000000" pitchFamily="2" charset="0"/>
                          <a:ea typeface="微软雅黑 Light" panose="020B0502040204020203" pitchFamily="34" charset="-122"/>
                        </a:rPr>
                        <a:t>201-300</a:t>
                      </a:r>
                      <a:endParaRPr lang="zh-CN" altLang="en-US" sz="1000" b="0" baseline="0" dirty="0">
                        <a:solidFill>
                          <a:srgbClr val="FF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301-400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3260187029"/>
                  </a:ext>
                </a:extLst>
              </a:tr>
              <a:tr h="302400">
                <a:tc>
                  <a:txBody>
                    <a:bodyPr/>
                    <a:lstStyle/>
                    <a:p>
                      <a:pPr algn="ctr"/>
                      <a:r>
                        <a:rPr lang="en-US" altLang="zh-CN" sz="1000" b="0" baseline="0" dirty="0">
                          <a:solidFill>
                            <a:srgbClr val="FF0000"/>
                          </a:solidFill>
                          <a:latin typeface="Montserrat" panose="00000500000000000000" pitchFamily="2" charset="0"/>
                          <a:ea typeface="微软雅黑 Light" panose="020B0502040204020203" pitchFamily="34" charset="-122"/>
                        </a:rPr>
                        <a:t>201-300</a:t>
                      </a:r>
                      <a:endParaRPr lang="zh-CN" altLang="en-US" sz="1000" b="0" baseline="0" dirty="0">
                        <a:solidFill>
                          <a:srgbClr val="FF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301-400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ysClr val="windowText" lastClr="000000"/>
                          </a:solidFill>
                          <a:latin typeface="Montserrat" panose="00000500000000000000" pitchFamily="2" charset="0"/>
                          <a:ea typeface="微软雅黑 Light" panose="020B0502040204020203" pitchFamily="34" charset="-122"/>
                        </a:rPr>
                        <a:t>401-500</a:t>
                      </a: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2256197055"/>
                  </a:ext>
                </a:extLst>
              </a:tr>
              <a:tr h="302400">
                <a:tc>
                  <a:txBody>
                    <a:bodyPr/>
                    <a:lstStyle/>
                    <a:p>
                      <a:pPr algn="ctr"/>
                      <a:r>
                        <a:rPr lang="en-US" altLang="zh-CN" sz="1000" b="0" baseline="0" dirty="0">
                          <a:solidFill>
                            <a:srgbClr val="00B050"/>
                          </a:solidFill>
                          <a:latin typeface="Montserrat" panose="00000500000000000000" pitchFamily="2" charset="0"/>
                          <a:ea typeface="微软雅黑 Light" panose="020B0502040204020203" pitchFamily="34" charset="-122"/>
                        </a:rPr>
                        <a:t>201-300</a:t>
                      </a:r>
                      <a:endParaRPr lang="zh-CN" altLang="en-US" sz="1000" b="0" baseline="0" dirty="0">
                        <a:solidFill>
                          <a:srgbClr val="00B05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chemeClr val="tx1"/>
                          </a:solidFill>
                          <a:latin typeface="Montserrat" panose="00000500000000000000" pitchFamily="2" charset="0"/>
                          <a:ea typeface="微软雅黑 Light" panose="020B0502040204020203" pitchFamily="34" charset="-122"/>
                        </a:rPr>
                        <a:t>301-400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sz="1000" b="0" baseline="0" dirty="0">
                          <a:solidFill>
                            <a:sysClr val="windowText" lastClr="000000"/>
                          </a:solidFill>
                          <a:latin typeface="Montserrat" panose="00000500000000000000" pitchFamily="2" charset="0"/>
                          <a:ea typeface="微软雅黑 Light" panose="020B0502040204020203" pitchFamily="34" charset="-122"/>
                        </a:rPr>
                        <a:t>401-500</a:t>
                      </a: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672907929"/>
                  </a:ext>
                </a:extLst>
              </a:tr>
              <a:tr h="302400">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1236701213"/>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baseline="0" dirty="0">
                          <a:solidFill>
                            <a:schemeClr val="tx1"/>
                          </a:solidFill>
                          <a:latin typeface="Montserrat" panose="00000500000000000000" pitchFamily="2" charset="0"/>
                          <a:ea typeface="微软雅黑 Light" panose="020B0502040204020203" pitchFamily="34" charset="-122"/>
                        </a:rPr>
                        <a:t>501-600</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1776333326"/>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415769829"/>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3295463649"/>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944555599"/>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pattFill prst="wdUpDiag">
                      <a:fgClr>
                        <a:schemeClr val="tx1"/>
                      </a:fgClr>
                      <a:bgClr>
                        <a:schemeClr val="bg1"/>
                      </a:bgClr>
                    </a:pattFill>
                  </a:tcPr>
                </a:tc>
                <a:extLst>
                  <a:ext uri="{0D108BD9-81ED-4DB2-BD59-A6C34878D82A}">
                    <a16:rowId xmlns:a16="http://schemas.microsoft.com/office/drawing/2014/main" val="3936927741"/>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8714267"/>
                  </a:ext>
                </a:extLst>
              </a:tr>
              <a:tr h="3024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0" baseline="0" dirty="0">
                          <a:solidFill>
                            <a:schemeClr val="tx1"/>
                          </a:solidFill>
                          <a:latin typeface="Montserrat" panose="00000500000000000000" pitchFamily="2" charset="0"/>
                          <a:ea typeface="微软雅黑 Light" panose="020B0502040204020203" pitchFamily="34" charset="-122"/>
                        </a:rPr>
                        <a:t>602-701</a:t>
                      </a: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ysClr val="windowText" lastClr="000000"/>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zh-CN" altLang="en-US" sz="1000" b="0" baseline="0" dirty="0">
                        <a:solidFill>
                          <a:schemeClr val="tx1"/>
                        </a:solidFill>
                        <a:latin typeface="Montserrat" panose="00000500000000000000" pitchFamily="2" charset="0"/>
                        <a:ea typeface="微软雅黑 Light" panose="020B0502040204020203" pitchFamily="34" charset="-122"/>
                      </a:endParaRPr>
                    </a:p>
                  </a:txBody>
                  <a:tcPr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9666323"/>
                  </a:ext>
                </a:extLst>
              </a:tr>
            </a:tbl>
          </a:graphicData>
        </a:graphic>
      </p:graphicFrame>
      <p:sp>
        <p:nvSpPr>
          <p:cNvPr id="2" name="Rectangle 27">
            <a:extLst>
              <a:ext uri="{FF2B5EF4-FFF2-40B4-BE49-F238E27FC236}">
                <a16:creationId xmlns:a16="http://schemas.microsoft.com/office/drawing/2014/main" id="{E4AE02B8-A353-7C84-A955-7AAAF965632A}"/>
              </a:ext>
            </a:extLst>
          </p:cNvPr>
          <p:cNvSpPr>
            <a:spLocks noChangeArrowheads="1"/>
          </p:cNvSpPr>
          <p:nvPr/>
        </p:nvSpPr>
        <p:spPr bwMode="auto">
          <a:xfrm>
            <a:off x="3024097" y="3537226"/>
            <a:ext cx="147316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dirty="0">
                <a:latin typeface="Montserrat" panose="00000500000000000000" pitchFamily="2" charset="0"/>
                <a:ea typeface="微软雅黑 Light" panose="020B0502040204020203" pitchFamily="34" charset="-122"/>
              </a:rPr>
              <a:t>允许 </a:t>
            </a:r>
            <a:r>
              <a:rPr kumimoji="1" lang="en-US" altLang="zh-CN" sz="1000" dirty="0">
                <a:latin typeface="Montserrat" panose="00000500000000000000" pitchFamily="2" charset="0"/>
                <a:ea typeface="微软雅黑 Light" panose="020B0502040204020203" pitchFamily="34" charset="-122"/>
              </a:rPr>
              <a:t>A </a:t>
            </a:r>
            <a:r>
              <a:rPr kumimoji="1" lang="zh-CN" altLang="en-US" sz="1000" dirty="0">
                <a:latin typeface="Montserrat" panose="00000500000000000000" pitchFamily="2" charset="0"/>
                <a:ea typeface="微软雅黑 Light" panose="020B0502040204020203" pitchFamily="34" charset="-122"/>
              </a:rPr>
              <a:t>发送</a:t>
            </a:r>
            <a:r>
              <a:rPr kumimoji="1" lang="en-US" altLang="zh-CN" sz="1000" dirty="0">
                <a:latin typeface="Montserrat" panose="00000500000000000000" pitchFamily="2" charset="0"/>
                <a:ea typeface="微软雅黑 Light" panose="020B0502040204020203" pitchFamily="34" charset="-122"/>
              </a:rPr>
              <a:t>[601,1000]</a:t>
            </a:r>
            <a:endParaRPr kumimoji="1" lang="zh-CN" altLang="en-US" sz="1000" dirty="0">
              <a:latin typeface="Montserrat" panose="00000500000000000000" pitchFamily="2" charset="0"/>
              <a:ea typeface="微软雅黑 Light" panose="020B0502040204020203" pitchFamily="34" charset="-122"/>
            </a:endParaRPr>
          </a:p>
        </p:txBody>
      </p:sp>
      <p:sp>
        <p:nvSpPr>
          <p:cNvPr id="5" name="Rectangle 22">
            <a:extLst>
              <a:ext uri="{FF2B5EF4-FFF2-40B4-BE49-F238E27FC236}">
                <a16:creationId xmlns:a16="http://schemas.microsoft.com/office/drawing/2014/main" id="{7081D618-6BF3-4514-BB91-16AB916DE279}"/>
              </a:ext>
            </a:extLst>
          </p:cNvPr>
          <p:cNvSpPr>
            <a:spLocks noChangeArrowheads="1"/>
          </p:cNvSpPr>
          <p:nvPr/>
        </p:nvSpPr>
        <p:spPr bwMode="auto">
          <a:xfrm flipH="1">
            <a:off x="1023858" y="3389039"/>
            <a:ext cx="2075890"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ACK = 1, ack = 601, </a:t>
            </a:r>
            <a:r>
              <a:rPr kumimoji="1" lang="en-US" altLang="zh-CN" sz="1000" dirty="0">
                <a:solidFill>
                  <a:srgbClr val="00B050"/>
                </a:solidFill>
                <a:latin typeface="Montserrat" panose="00000500000000000000" pitchFamily="2" charset="0"/>
                <a:ea typeface="微软雅黑 Light" panose="020B0502040204020203" pitchFamily="34" charset="-122"/>
              </a:rPr>
              <a:t>rwnd = 400</a:t>
            </a:r>
          </a:p>
        </p:txBody>
      </p:sp>
      <p:sp>
        <p:nvSpPr>
          <p:cNvPr id="8" name="Line 21">
            <a:extLst>
              <a:ext uri="{FF2B5EF4-FFF2-40B4-BE49-F238E27FC236}">
                <a16:creationId xmlns:a16="http://schemas.microsoft.com/office/drawing/2014/main" id="{E920EEC0-75A5-93A8-7D47-FBF3C6B0A78C}"/>
              </a:ext>
            </a:extLst>
          </p:cNvPr>
          <p:cNvSpPr>
            <a:spLocks noChangeShapeType="1"/>
          </p:cNvSpPr>
          <p:nvPr/>
        </p:nvSpPr>
        <p:spPr bwMode="auto">
          <a:xfrm flipH="1">
            <a:off x="1213348" y="3633778"/>
            <a:ext cx="1800000" cy="0"/>
          </a:xfrm>
          <a:prstGeom prst="line">
            <a:avLst/>
          </a:prstGeom>
          <a:noFill/>
          <a:ln w="2857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17" name="AutoShape 36">
            <a:extLst>
              <a:ext uri="{FF2B5EF4-FFF2-40B4-BE49-F238E27FC236}">
                <a16:creationId xmlns:a16="http://schemas.microsoft.com/office/drawing/2014/main" id="{2B5928A1-B132-D148-2FA2-312DE86FAC4B}"/>
              </a:ext>
            </a:extLst>
          </p:cNvPr>
          <p:cNvSpPr>
            <a:spLocks noChangeArrowheads="1"/>
          </p:cNvSpPr>
          <p:nvPr/>
        </p:nvSpPr>
        <p:spPr bwMode="auto">
          <a:xfrm>
            <a:off x="513338" y="3357468"/>
            <a:ext cx="688658" cy="415665"/>
          </a:xfrm>
          <a:prstGeom prst="irregularSeal1">
            <a:avLst/>
          </a:prstGeom>
          <a:solidFill>
            <a:srgbClr val="C00000"/>
          </a:solidFill>
          <a:ln w="6350">
            <a:noFill/>
            <a:miter lim="800000"/>
            <a:headEnd/>
            <a:tailEnd/>
          </a:ln>
          <a:effectLst/>
        </p:spPr>
        <p:txBody>
          <a:bodyPr wrap="none" anchor="ctr"/>
          <a:lstStyle/>
          <a:p>
            <a:pPr algn="ctr"/>
            <a:r>
              <a:rPr kumimoji="1" lang="zh-CN" altLang="en-US" sz="1000" dirty="0">
                <a:solidFill>
                  <a:schemeClr val="bg1"/>
                </a:solidFill>
                <a:latin typeface="Montserrat" panose="00000500000000000000" pitchFamily="2" charset="0"/>
                <a:ea typeface="微软雅黑 Light" panose="020B0502040204020203" pitchFamily="34" charset="-122"/>
              </a:rPr>
              <a:t>丢失</a:t>
            </a:r>
            <a:endParaRPr lang="zh-CN" altLang="en-US" sz="1000" dirty="0">
              <a:latin typeface="Montserrat" panose="00000500000000000000" pitchFamily="2" charset="0"/>
              <a:ea typeface="微软雅黑 Light" panose="020B0502040204020203" pitchFamily="34" charset="-122"/>
            </a:endParaRPr>
          </a:p>
        </p:txBody>
      </p:sp>
      <p:sp>
        <p:nvSpPr>
          <p:cNvPr id="29" name="Rectangle 28">
            <a:extLst>
              <a:ext uri="{FF2B5EF4-FFF2-40B4-BE49-F238E27FC236}">
                <a16:creationId xmlns:a16="http://schemas.microsoft.com/office/drawing/2014/main" id="{68C2D8A2-57CB-57FE-7857-DF874EAAECFB}"/>
              </a:ext>
            </a:extLst>
          </p:cNvPr>
          <p:cNvSpPr>
            <a:spLocks noChangeArrowheads="1"/>
          </p:cNvSpPr>
          <p:nvPr/>
        </p:nvSpPr>
        <p:spPr bwMode="auto">
          <a:xfrm>
            <a:off x="3024097" y="3827897"/>
            <a:ext cx="268663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a:t>
            </a:r>
            <a:r>
              <a:rPr kumimoji="1" lang="zh-CN" altLang="en-US" sz="1000" dirty="0">
                <a:latin typeface="Montserrat" panose="00000500000000000000" pitchFamily="2" charset="0"/>
                <a:ea typeface="微软雅黑 Light" panose="020B0502040204020203" pitchFamily="34" charset="-122"/>
              </a:rPr>
              <a:t>在等待非</a:t>
            </a:r>
            <a:r>
              <a:rPr kumimoji="1" lang="en-US" altLang="zh-CN" sz="1000" dirty="0">
                <a:latin typeface="Montserrat" panose="00000500000000000000" pitchFamily="2" charset="0"/>
                <a:ea typeface="微软雅黑 Light" panose="020B0502040204020203" pitchFamily="34" charset="-122"/>
              </a:rPr>
              <a:t>0</a:t>
            </a:r>
            <a:r>
              <a:rPr kumimoji="1" lang="zh-CN" altLang="en-US" sz="1000" dirty="0">
                <a:latin typeface="Montserrat" panose="00000500000000000000" pitchFamily="2" charset="0"/>
                <a:ea typeface="微软雅黑 Light" panose="020B0502040204020203" pitchFamily="34" charset="-122"/>
              </a:rPr>
              <a:t>窗口；</a:t>
            </a:r>
            <a:r>
              <a:rPr kumimoji="1" lang="en-US" altLang="zh-CN" sz="1000" dirty="0">
                <a:latin typeface="Montserrat" panose="00000500000000000000" pitchFamily="2" charset="0"/>
                <a:ea typeface="微软雅黑 Light" panose="020B0502040204020203" pitchFamily="34" charset="-122"/>
              </a:rPr>
              <a:t>B</a:t>
            </a:r>
            <a:r>
              <a:rPr kumimoji="1" lang="zh-CN" altLang="en-US" sz="1000" dirty="0">
                <a:latin typeface="Montserrat" panose="00000500000000000000" pitchFamily="2" charset="0"/>
                <a:ea typeface="微软雅黑 Light" panose="020B0502040204020203" pitchFamily="34" charset="-122"/>
              </a:rPr>
              <a:t>处理数据并等待</a:t>
            </a:r>
            <a:r>
              <a:rPr kumimoji="1" lang="en-US" altLang="zh-CN" sz="1000" dirty="0">
                <a:latin typeface="Montserrat" panose="00000500000000000000" pitchFamily="2" charset="0"/>
                <a:ea typeface="微软雅黑 Light" panose="020B0502040204020203" pitchFamily="34" charset="-122"/>
              </a:rPr>
              <a:t>A</a:t>
            </a:r>
            <a:r>
              <a:rPr kumimoji="1" lang="zh-CN" altLang="en-US" sz="1000" dirty="0">
                <a:latin typeface="Montserrat" panose="00000500000000000000" pitchFamily="2" charset="0"/>
                <a:ea typeface="微软雅黑 Light" panose="020B0502040204020203" pitchFamily="34" charset="-122"/>
              </a:rPr>
              <a:t>探测</a:t>
            </a:r>
          </a:p>
        </p:txBody>
      </p:sp>
      <p:pic>
        <p:nvPicPr>
          <p:cNvPr id="43" name="图形 42" descr="时钟">
            <a:extLst>
              <a:ext uri="{FF2B5EF4-FFF2-40B4-BE49-F238E27FC236}">
                <a16:creationId xmlns:a16="http://schemas.microsoft.com/office/drawing/2014/main" id="{24F052FE-215D-D2B3-288F-E305FD909AB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6526" y="3468488"/>
            <a:ext cx="288000" cy="288000"/>
          </a:xfrm>
          <a:prstGeom prst="rect">
            <a:avLst/>
          </a:prstGeom>
        </p:spPr>
      </p:pic>
      <p:pic>
        <p:nvPicPr>
          <p:cNvPr id="51" name="图形 50" descr="时钟">
            <a:extLst>
              <a:ext uri="{FF2B5EF4-FFF2-40B4-BE49-F238E27FC236}">
                <a16:creationId xmlns:a16="http://schemas.microsoft.com/office/drawing/2014/main" id="{69904A81-81B0-421C-847E-DD0D5363F45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6526" y="3162200"/>
            <a:ext cx="288000" cy="288000"/>
          </a:xfrm>
          <a:prstGeom prst="rect">
            <a:avLst/>
          </a:prstGeom>
        </p:spPr>
      </p:pic>
      <p:sp>
        <p:nvSpPr>
          <p:cNvPr id="52" name="Rectangle 28">
            <a:extLst>
              <a:ext uri="{FF2B5EF4-FFF2-40B4-BE49-F238E27FC236}">
                <a16:creationId xmlns:a16="http://schemas.microsoft.com/office/drawing/2014/main" id="{44FB65D5-07F7-9C18-72D6-3F30AEC9352D}"/>
              </a:ext>
            </a:extLst>
          </p:cNvPr>
          <p:cNvSpPr>
            <a:spLocks noChangeArrowheads="1"/>
          </p:cNvSpPr>
          <p:nvPr/>
        </p:nvSpPr>
        <p:spPr bwMode="auto">
          <a:xfrm>
            <a:off x="907014" y="3999488"/>
            <a:ext cx="160460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it-IT" altLang="zh-CN" sz="1000" dirty="0">
                <a:latin typeface="Montserrat" panose="00000500000000000000" pitchFamily="2" charset="0"/>
                <a:ea typeface="微软雅黑 Light" panose="020B0502040204020203" pitchFamily="34" charset="-122"/>
              </a:rPr>
              <a:t>[Probe: seq=601, 1 byte</a:t>
            </a:r>
            <a:endParaRPr kumimoji="1" lang="zh-CN" altLang="en-US" sz="1000" dirty="0">
              <a:latin typeface="Montserrat" panose="00000500000000000000" pitchFamily="2" charset="0"/>
              <a:ea typeface="微软雅黑 Light" panose="020B0502040204020203" pitchFamily="34" charset="-122"/>
            </a:endParaRPr>
          </a:p>
        </p:txBody>
      </p:sp>
      <p:sp>
        <p:nvSpPr>
          <p:cNvPr id="53" name="Line 17">
            <a:extLst>
              <a:ext uri="{FF2B5EF4-FFF2-40B4-BE49-F238E27FC236}">
                <a16:creationId xmlns:a16="http://schemas.microsoft.com/office/drawing/2014/main" id="{056B5341-3751-C922-51D3-6B3F670341AC}"/>
              </a:ext>
            </a:extLst>
          </p:cNvPr>
          <p:cNvSpPr>
            <a:spLocks noChangeShapeType="1"/>
          </p:cNvSpPr>
          <p:nvPr/>
        </p:nvSpPr>
        <p:spPr bwMode="auto">
          <a:xfrm>
            <a:off x="504526" y="4239304"/>
            <a:ext cx="2480183"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54" name="Line 21">
            <a:extLst>
              <a:ext uri="{FF2B5EF4-FFF2-40B4-BE49-F238E27FC236}">
                <a16:creationId xmlns:a16="http://schemas.microsoft.com/office/drawing/2014/main" id="{84AE0B99-3C90-6547-ED35-894F09CC1609}"/>
              </a:ext>
            </a:extLst>
          </p:cNvPr>
          <p:cNvSpPr>
            <a:spLocks noChangeShapeType="1"/>
          </p:cNvSpPr>
          <p:nvPr/>
        </p:nvSpPr>
        <p:spPr bwMode="auto">
          <a:xfrm flipH="1">
            <a:off x="502257" y="4542067"/>
            <a:ext cx="2490520" cy="0"/>
          </a:xfrm>
          <a:prstGeom prst="line">
            <a:avLst/>
          </a:prstGeom>
          <a:noFill/>
          <a:ln w="2857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55" name="Rectangle 22">
            <a:extLst>
              <a:ext uri="{FF2B5EF4-FFF2-40B4-BE49-F238E27FC236}">
                <a16:creationId xmlns:a16="http://schemas.microsoft.com/office/drawing/2014/main" id="{DF68ECCE-C90C-DD3C-884C-326D72318079}"/>
              </a:ext>
            </a:extLst>
          </p:cNvPr>
          <p:cNvSpPr>
            <a:spLocks noChangeArrowheads="1"/>
          </p:cNvSpPr>
          <p:nvPr/>
        </p:nvSpPr>
        <p:spPr bwMode="auto">
          <a:xfrm flipH="1">
            <a:off x="719587" y="4311387"/>
            <a:ext cx="210153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ACK = 1, ack = 602, rwnd = 400</a:t>
            </a:r>
            <a:endParaRPr kumimoji="1" lang="en-US" altLang="zh-CN" sz="1000" dirty="0">
              <a:solidFill>
                <a:srgbClr val="00B050"/>
              </a:solidFill>
              <a:latin typeface="Montserrat" panose="00000500000000000000" pitchFamily="2" charset="0"/>
              <a:ea typeface="微软雅黑 Light" panose="020B0502040204020203" pitchFamily="34" charset="-122"/>
            </a:endParaRPr>
          </a:p>
        </p:txBody>
      </p:sp>
      <p:sp>
        <p:nvSpPr>
          <p:cNvPr id="58" name="Rectangle 28">
            <a:extLst>
              <a:ext uri="{FF2B5EF4-FFF2-40B4-BE49-F238E27FC236}">
                <a16:creationId xmlns:a16="http://schemas.microsoft.com/office/drawing/2014/main" id="{170D961C-597D-76B0-3470-CA6DA03EDF89}"/>
              </a:ext>
            </a:extLst>
          </p:cNvPr>
          <p:cNvSpPr>
            <a:spLocks noChangeArrowheads="1"/>
          </p:cNvSpPr>
          <p:nvPr/>
        </p:nvSpPr>
        <p:spPr bwMode="auto">
          <a:xfrm>
            <a:off x="2999533" y="4118568"/>
            <a:ext cx="289662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dirty="0">
                <a:latin typeface="Montserrat" panose="00000500000000000000" pitchFamily="2" charset="0"/>
                <a:ea typeface="微软雅黑 Light" panose="020B0502040204020203" pitchFamily="34" charset="-122"/>
              </a:rPr>
              <a:t>持续计时器超时后，</a:t>
            </a:r>
            <a:r>
              <a:rPr kumimoji="1" lang="en-US" altLang="zh-CN" sz="1000" dirty="0">
                <a:latin typeface="Montserrat" panose="00000500000000000000" pitchFamily="2" charset="0"/>
                <a:ea typeface="微软雅黑 Light" panose="020B0502040204020203" pitchFamily="34" charset="-122"/>
              </a:rPr>
              <a:t>A</a:t>
            </a:r>
            <a:r>
              <a:rPr kumimoji="1" lang="zh-CN" altLang="en-US" sz="1000" dirty="0">
                <a:latin typeface="Montserrat" panose="00000500000000000000" pitchFamily="2" charset="0"/>
                <a:ea typeface="微软雅黑 Light" panose="020B0502040204020203" pitchFamily="34" charset="-122"/>
              </a:rPr>
              <a:t>发送探测报，消耗</a:t>
            </a:r>
            <a:r>
              <a:rPr kumimoji="1" lang="en-US" altLang="zh-CN" sz="1000" dirty="0">
                <a:latin typeface="Montserrat" panose="00000500000000000000" pitchFamily="2" charset="0"/>
                <a:ea typeface="微软雅黑 Light" panose="020B0502040204020203" pitchFamily="34" charset="-122"/>
              </a:rPr>
              <a:t>1</a:t>
            </a:r>
            <a:r>
              <a:rPr kumimoji="1" lang="zh-CN" altLang="en-US" sz="1000" dirty="0">
                <a:latin typeface="Montserrat" panose="00000500000000000000" pitchFamily="2" charset="0"/>
                <a:ea typeface="微软雅黑 Light" panose="020B0502040204020203" pitchFamily="34" charset="-122"/>
              </a:rPr>
              <a:t>个序号</a:t>
            </a:r>
          </a:p>
        </p:txBody>
      </p:sp>
      <p:sp>
        <p:nvSpPr>
          <p:cNvPr id="60" name="Rectangle 33">
            <a:extLst>
              <a:ext uri="{FF2B5EF4-FFF2-40B4-BE49-F238E27FC236}">
                <a16:creationId xmlns:a16="http://schemas.microsoft.com/office/drawing/2014/main" id="{460031EA-DF7B-FC4F-F777-FC924C615B59}"/>
              </a:ext>
            </a:extLst>
          </p:cNvPr>
          <p:cNvSpPr>
            <a:spLocks noChangeArrowheads="1"/>
          </p:cNvSpPr>
          <p:nvPr/>
        </p:nvSpPr>
        <p:spPr bwMode="auto">
          <a:xfrm>
            <a:off x="3010003" y="4409239"/>
            <a:ext cx="289662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B </a:t>
            </a:r>
            <a:r>
              <a:rPr kumimoji="1" lang="zh-CN" altLang="en-US" sz="1100" dirty="0">
                <a:latin typeface="Montserrat" panose="00000500000000000000" pitchFamily="2" charset="0"/>
                <a:ea typeface="微软雅黑 Light" panose="020B0502040204020203" pitchFamily="34" charset="-122"/>
              </a:rPr>
              <a:t>允许 </a:t>
            </a:r>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[602,1001] </a:t>
            </a:r>
            <a:r>
              <a:rPr kumimoji="1" lang="zh-CN" altLang="en-US" sz="1100" dirty="0">
                <a:latin typeface="Montserrat" panose="00000500000000000000" pitchFamily="2" charset="0"/>
                <a:ea typeface="微软雅黑 Light" panose="020B0502040204020203" pitchFamily="34" charset="-122"/>
              </a:rPr>
              <a:t>共 </a:t>
            </a:r>
            <a:r>
              <a:rPr kumimoji="1" lang="en-US" altLang="zh-CN" sz="1100" dirty="0">
                <a:latin typeface="Montserrat" panose="00000500000000000000" pitchFamily="2" charset="0"/>
                <a:ea typeface="微软雅黑 Light" panose="020B0502040204020203" pitchFamily="34" charset="-122"/>
              </a:rPr>
              <a:t>400 </a:t>
            </a:r>
            <a:r>
              <a:rPr kumimoji="1" lang="zh-CN" altLang="en-US" sz="1100" dirty="0">
                <a:latin typeface="Montserrat" panose="00000500000000000000" pitchFamily="2" charset="0"/>
                <a:ea typeface="微软雅黑 Light" panose="020B0502040204020203" pitchFamily="34" charset="-122"/>
              </a:rPr>
              <a:t>字节</a:t>
            </a:r>
          </a:p>
        </p:txBody>
      </p:sp>
      <p:sp>
        <p:nvSpPr>
          <p:cNvPr id="62" name="Line 17">
            <a:extLst>
              <a:ext uri="{FF2B5EF4-FFF2-40B4-BE49-F238E27FC236}">
                <a16:creationId xmlns:a16="http://schemas.microsoft.com/office/drawing/2014/main" id="{AF7881AA-5A02-08E1-4AB7-AD34B4C17D22}"/>
              </a:ext>
            </a:extLst>
          </p:cNvPr>
          <p:cNvSpPr>
            <a:spLocks noChangeShapeType="1"/>
          </p:cNvSpPr>
          <p:nvPr/>
        </p:nvSpPr>
        <p:spPr bwMode="auto">
          <a:xfrm>
            <a:off x="519350" y="4844827"/>
            <a:ext cx="2480183" cy="0"/>
          </a:xfrm>
          <a:prstGeom prst="line">
            <a:avLst/>
          </a:prstGeom>
          <a:noFill/>
          <a:ln w="2857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a:latin typeface="Montserrat" panose="00000500000000000000" pitchFamily="2" charset="0"/>
              <a:ea typeface="微软雅黑 Light" panose="020B0502040204020203" pitchFamily="34" charset="-122"/>
            </a:endParaRPr>
          </a:p>
        </p:txBody>
      </p:sp>
      <p:sp>
        <p:nvSpPr>
          <p:cNvPr id="63" name="Rectangle 29">
            <a:extLst>
              <a:ext uri="{FF2B5EF4-FFF2-40B4-BE49-F238E27FC236}">
                <a16:creationId xmlns:a16="http://schemas.microsoft.com/office/drawing/2014/main" id="{D75CB23B-9E9E-BEB1-53B6-ED1EB52AB409}"/>
              </a:ext>
            </a:extLst>
          </p:cNvPr>
          <p:cNvSpPr>
            <a:spLocks noChangeArrowheads="1"/>
          </p:cNvSpPr>
          <p:nvPr/>
        </p:nvSpPr>
        <p:spPr bwMode="auto">
          <a:xfrm>
            <a:off x="2999533" y="4715305"/>
            <a:ext cx="296074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nchorCtr="0">
            <a:spAutoFit/>
          </a:bodyPr>
          <a:lstStyle/>
          <a:p>
            <a:pPr defTabSz="762000" eaLnBrk="0" hangingPunct="0"/>
            <a:r>
              <a:rPr kumimoji="1" lang="en-US" altLang="zh-CN" sz="1100" dirty="0">
                <a:latin typeface="Montserrat" panose="00000500000000000000" pitchFamily="2" charset="0"/>
                <a:ea typeface="微软雅黑 Light" panose="020B0502040204020203" pitchFamily="34" charset="-122"/>
              </a:rPr>
              <a:t>A </a:t>
            </a:r>
            <a:r>
              <a:rPr kumimoji="1" lang="zh-CN" altLang="en-US" sz="1100" dirty="0">
                <a:latin typeface="Montserrat" panose="00000500000000000000" pitchFamily="2" charset="0"/>
                <a:ea typeface="微软雅黑 Light" panose="020B0502040204020203" pitchFamily="34" charset="-122"/>
              </a:rPr>
              <a:t>发送 </a:t>
            </a:r>
            <a:r>
              <a:rPr kumimoji="1" lang="en-US" altLang="zh-CN" sz="1100" dirty="0">
                <a:latin typeface="Montserrat" panose="00000500000000000000" pitchFamily="2" charset="0"/>
                <a:ea typeface="微软雅黑 Light" panose="020B0502040204020203" pitchFamily="34" charset="-122"/>
              </a:rPr>
              <a:t>[602,701]</a:t>
            </a:r>
            <a:r>
              <a:rPr kumimoji="1" lang="zh-CN" altLang="en-US" sz="1100" dirty="0">
                <a:latin typeface="Montserrat" panose="00000500000000000000" pitchFamily="2" charset="0"/>
                <a:ea typeface="微软雅黑 Light" panose="020B0502040204020203" pitchFamily="34" charset="-122"/>
              </a:rPr>
              <a:t>，还能再发</a:t>
            </a:r>
            <a:r>
              <a:rPr kumimoji="1" lang="en-US" altLang="zh-CN" sz="1100" dirty="0">
                <a:latin typeface="Montserrat" panose="00000500000000000000" pitchFamily="2" charset="0"/>
                <a:ea typeface="微软雅黑 Light" panose="020B0502040204020203" pitchFamily="34" charset="-122"/>
              </a:rPr>
              <a:t>300 </a:t>
            </a:r>
            <a:r>
              <a:rPr kumimoji="1" lang="zh-CN" altLang="en-US" sz="1100" dirty="0">
                <a:latin typeface="Montserrat" panose="00000500000000000000" pitchFamily="2" charset="0"/>
                <a:ea typeface="微软雅黑 Light" panose="020B0502040204020203" pitchFamily="34" charset="-122"/>
              </a:rPr>
              <a:t>字节新数据</a:t>
            </a:r>
          </a:p>
        </p:txBody>
      </p:sp>
      <p:pic>
        <p:nvPicPr>
          <p:cNvPr id="64" name="图形 63" descr="时钟">
            <a:extLst>
              <a:ext uri="{FF2B5EF4-FFF2-40B4-BE49-F238E27FC236}">
                <a16:creationId xmlns:a16="http://schemas.microsoft.com/office/drawing/2014/main" id="{C996295E-DE67-D481-B922-47BF99A597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16526" y="3774775"/>
            <a:ext cx="288000" cy="288000"/>
          </a:xfrm>
          <a:prstGeom prst="rect">
            <a:avLst/>
          </a:prstGeom>
        </p:spPr>
      </p:pic>
      <p:sp>
        <p:nvSpPr>
          <p:cNvPr id="3" name="Rectangle 8">
            <a:extLst>
              <a:ext uri="{FF2B5EF4-FFF2-40B4-BE49-F238E27FC236}">
                <a16:creationId xmlns:a16="http://schemas.microsoft.com/office/drawing/2014/main" id="{170DC06B-F78A-7599-CF78-8745E451EA03}"/>
              </a:ext>
            </a:extLst>
          </p:cNvPr>
          <p:cNvSpPr>
            <a:spLocks noChangeArrowheads="1"/>
          </p:cNvSpPr>
          <p:nvPr/>
        </p:nvSpPr>
        <p:spPr bwMode="auto">
          <a:xfrm>
            <a:off x="1166162" y="2788454"/>
            <a:ext cx="1176605"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dirty="0">
                <a:latin typeface="Montserrat" panose="00000500000000000000" pitchFamily="2" charset="0"/>
                <a:ea typeface="微软雅黑 Light" panose="020B0502040204020203" pitchFamily="34" charset="-122"/>
              </a:rPr>
              <a:t>seq = 501, DATA</a:t>
            </a:r>
          </a:p>
        </p:txBody>
      </p:sp>
      <p:sp>
        <p:nvSpPr>
          <p:cNvPr id="11" name="标题 10">
            <a:extLst>
              <a:ext uri="{FF2B5EF4-FFF2-40B4-BE49-F238E27FC236}">
                <a16:creationId xmlns:a16="http://schemas.microsoft.com/office/drawing/2014/main" id="{CA787053-282E-3CDA-B218-59EA2077AA48}"/>
              </a:ext>
            </a:extLst>
          </p:cNvPr>
          <p:cNvSpPr>
            <a:spLocks noGrp="1"/>
          </p:cNvSpPr>
          <p:nvPr>
            <p:ph type="title"/>
          </p:nvPr>
        </p:nvSpPr>
        <p:spPr>
          <a:xfrm>
            <a:off x="2808000" y="144000"/>
            <a:ext cx="3528000" cy="338554"/>
          </a:xfrm>
        </p:spPr>
        <p:txBody>
          <a:bodyPr/>
          <a:lstStyle/>
          <a:p>
            <a:r>
              <a:rPr lang="zh-CN" altLang="en-US" dirty="0"/>
              <a:t>流量控制</a:t>
            </a:r>
          </a:p>
        </p:txBody>
      </p:sp>
    </p:spTree>
    <p:extLst>
      <p:ext uri="{BB962C8B-B14F-4D97-AF65-F5344CB8AC3E}">
        <p14:creationId xmlns:p14="http://schemas.microsoft.com/office/powerpoint/2010/main" val="33726510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35" presetClass="emph" presetSubtype="0" repeatCount="3000" fill="hold" grpId="0" nodeType="withEffect">
                                  <p:stCondLst>
                                    <p:cond delay="0"/>
                                  </p:stCondLst>
                                  <p:childTnLst>
                                    <p:anim calcmode="discrete" valueType="str">
                                      <p:cBhvr>
                                        <p:cTn id="8" dur="1000" fill="hold"/>
                                        <p:tgtEl>
                                          <p:spTgt spid="16"/>
                                        </p:tgtEl>
                                        <p:attrNameLst>
                                          <p:attrName>style.visibility</p:attrName>
                                        </p:attrNameLst>
                                      </p:cBhvr>
                                      <p:tavLst>
                                        <p:tav tm="0">
                                          <p:val>
                                            <p:strVal val="hidden"/>
                                          </p:val>
                                        </p:tav>
                                        <p:tav tm="50000">
                                          <p:val>
                                            <p:strVal val="visible"/>
                                          </p:val>
                                        </p:tav>
                                      </p:tavLst>
                                    </p:anim>
                                  </p:childTnLst>
                                </p:cTn>
                              </p:par>
                            </p:childTnLst>
                          </p:cTn>
                        </p:par>
                        <p:par>
                          <p:cTn id="9" fill="hold">
                            <p:stCondLst>
                              <p:cond delay="3000"/>
                            </p:stCondLst>
                            <p:childTnLst>
                              <p:par>
                                <p:cTn id="10" presetID="1" presetClass="entr" presetSubtype="0" fill="hold" grpId="1" nodeType="afterEffect">
                                  <p:stCondLst>
                                    <p:cond delay="0"/>
                                  </p:stCondLst>
                                  <p:childTnLst>
                                    <p:set>
                                      <p:cBhvr>
                                        <p:cTn id="11" dur="1" fill="hold">
                                          <p:stCondLst>
                                            <p:cond delay="0"/>
                                          </p:stCondLst>
                                        </p:cTn>
                                        <p:tgtEl>
                                          <p:spTgt spid="37"/>
                                        </p:tgtEl>
                                        <p:attrNameLst>
                                          <p:attrName>style.visibility</p:attrName>
                                        </p:attrNameLst>
                                      </p:cBhvr>
                                      <p:to>
                                        <p:strVal val="visible"/>
                                      </p:to>
                                    </p:set>
                                  </p:childTnLst>
                                </p:cTn>
                              </p:par>
                            </p:childTnLst>
                          </p:cTn>
                        </p:par>
                        <p:par>
                          <p:cTn id="12" fill="hold">
                            <p:stCondLst>
                              <p:cond delay="3000"/>
                            </p:stCondLst>
                            <p:childTnLst>
                              <p:par>
                                <p:cTn id="13" presetID="35" presetClass="emph" presetSubtype="0" repeatCount="3000" fill="hold" grpId="0" nodeType="afterEffect">
                                  <p:stCondLst>
                                    <p:cond delay="0"/>
                                  </p:stCondLst>
                                  <p:childTnLst>
                                    <p:anim calcmode="discrete" valueType="str">
                                      <p:cBhvr>
                                        <p:cTn id="14" dur="1000" fill="hold"/>
                                        <p:tgtEl>
                                          <p:spTgt spid="37"/>
                                        </p:tgtEl>
                                        <p:attrNameLst>
                                          <p:attrName>style.visibility</p:attrName>
                                        </p:attrNameLst>
                                      </p:cBhvr>
                                      <p:tavLst>
                                        <p:tav tm="0">
                                          <p:val>
                                            <p:strVal val="hidden"/>
                                          </p:val>
                                        </p:tav>
                                        <p:tav tm="50000">
                                          <p:val>
                                            <p:strVal val="visible"/>
                                          </p:val>
                                        </p:tav>
                                      </p:tavLst>
                                    </p:anim>
                                  </p:childTnLst>
                                </p:cTn>
                              </p:par>
                            </p:childTnLst>
                          </p:cTn>
                        </p:par>
                        <p:par>
                          <p:cTn id="15" fill="hold">
                            <p:stCondLst>
                              <p:cond delay="6000"/>
                            </p:stCondLst>
                            <p:childTnLst>
                              <p:par>
                                <p:cTn id="16" presetID="1" presetClass="entr" presetSubtype="0" fill="hold" grpId="1" nodeType="afterEffect">
                                  <p:stCondLst>
                                    <p:cond delay="0"/>
                                  </p:stCondLst>
                                  <p:childTnLst>
                                    <p:set>
                                      <p:cBhvr>
                                        <p:cTn id="17" dur="1" fill="hold">
                                          <p:stCondLst>
                                            <p:cond delay="0"/>
                                          </p:stCondLst>
                                        </p:cTn>
                                        <p:tgtEl>
                                          <p:spTgt spid="42"/>
                                        </p:tgtEl>
                                        <p:attrNameLst>
                                          <p:attrName>style.visibility</p:attrName>
                                        </p:attrNameLst>
                                      </p:cBhvr>
                                      <p:to>
                                        <p:strVal val="visible"/>
                                      </p:to>
                                    </p:set>
                                  </p:childTnLst>
                                </p:cTn>
                              </p:par>
                            </p:childTnLst>
                          </p:cTn>
                        </p:par>
                        <p:par>
                          <p:cTn id="18" fill="hold">
                            <p:stCondLst>
                              <p:cond delay="6000"/>
                            </p:stCondLst>
                            <p:childTnLst>
                              <p:par>
                                <p:cTn id="19" presetID="35" presetClass="emph" presetSubtype="0" repeatCount="3000" fill="hold" grpId="0" nodeType="afterEffect">
                                  <p:stCondLst>
                                    <p:cond delay="0"/>
                                  </p:stCondLst>
                                  <p:childTnLst>
                                    <p:anim calcmode="discrete" valueType="str">
                                      <p:cBhvr>
                                        <p:cTn id="20" dur="1000" fill="hold"/>
                                        <p:tgtEl>
                                          <p:spTgt spid="42"/>
                                        </p:tgtEl>
                                        <p:attrNameLst>
                                          <p:attrName>style.visibility</p:attrName>
                                        </p:attrNameLst>
                                      </p:cBhvr>
                                      <p:tavLst>
                                        <p:tav tm="0">
                                          <p:val>
                                            <p:strVal val="hidden"/>
                                          </p:val>
                                        </p:tav>
                                        <p:tav tm="50000">
                                          <p:val>
                                            <p:strVal val="visible"/>
                                          </p:val>
                                        </p:tav>
                                      </p:tavLst>
                                    </p:anim>
                                  </p:childTnLst>
                                </p:cTn>
                              </p:par>
                              <p:par>
                                <p:cTn id="21" presetID="1" presetClass="entr" presetSubtype="0"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35" presetClass="emph" presetSubtype="0" repeatCount="3000" fill="hold" grpId="1" nodeType="withEffect">
                                  <p:stCondLst>
                                    <p:cond delay="0"/>
                                  </p:stCondLst>
                                  <p:childTnLst>
                                    <p:anim calcmode="discrete" valueType="str">
                                      <p:cBhvr>
                                        <p:cTn id="24" dur="1000" fill="hold"/>
                                        <p:tgtEl>
                                          <p:spTgt spid="2"/>
                                        </p:tgtEl>
                                        <p:attrNameLst>
                                          <p:attrName>style.visibility</p:attrName>
                                        </p:attrNameLst>
                                      </p:cBhvr>
                                      <p:tavLst>
                                        <p:tav tm="0">
                                          <p:val>
                                            <p:strVal val="hidden"/>
                                          </p:val>
                                        </p:tav>
                                        <p:tav tm="50000">
                                          <p:val>
                                            <p:strVal val="visible"/>
                                          </p:val>
                                        </p:tav>
                                      </p:tavLst>
                                    </p:anim>
                                  </p:childTnLst>
                                </p:cTn>
                              </p:par>
                            </p:childTnLst>
                          </p:cTn>
                        </p:par>
                        <p:par>
                          <p:cTn id="25" fill="hold">
                            <p:stCondLst>
                              <p:cond delay="9000"/>
                            </p:stCondLst>
                            <p:childTnLst>
                              <p:par>
                                <p:cTn id="26" presetID="1" presetClass="entr" presetSubtype="0" fill="hold" grpId="1" nodeType="afterEffect">
                                  <p:stCondLst>
                                    <p:cond delay="0"/>
                                  </p:stCondLst>
                                  <p:childTnLst>
                                    <p:set>
                                      <p:cBhvr>
                                        <p:cTn id="27" dur="1" fill="hold">
                                          <p:stCondLst>
                                            <p:cond delay="0"/>
                                          </p:stCondLst>
                                        </p:cTn>
                                        <p:tgtEl>
                                          <p:spTgt spid="60"/>
                                        </p:tgtEl>
                                        <p:attrNameLst>
                                          <p:attrName>style.visibility</p:attrName>
                                        </p:attrNameLst>
                                      </p:cBhvr>
                                      <p:to>
                                        <p:strVal val="visible"/>
                                      </p:to>
                                    </p:set>
                                  </p:childTnLst>
                                </p:cTn>
                              </p:par>
                            </p:childTnLst>
                          </p:cTn>
                        </p:par>
                        <p:par>
                          <p:cTn id="28" fill="hold">
                            <p:stCondLst>
                              <p:cond delay="9000"/>
                            </p:stCondLst>
                            <p:childTnLst>
                              <p:par>
                                <p:cTn id="29" presetID="35" presetClass="emph" presetSubtype="0" repeatCount="3000" fill="hold" grpId="0" nodeType="afterEffect">
                                  <p:stCondLst>
                                    <p:cond delay="0"/>
                                  </p:stCondLst>
                                  <p:childTnLst>
                                    <p:anim calcmode="discrete" valueType="str">
                                      <p:cBhvr>
                                        <p:cTn id="30" dur="1000" fill="hold"/>
                                        <p:tgtEl>
                                          <p:spTgt spid="60"/>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37" grpId="0"/>
      <p:bldP spid="37" grpId="1"/>
      <p:bldP spid="42" grpId="0"/>
      <p:bldP spid="42" grpId="1"/>
      <p:bldP spid="2" grpId="0"/>
      <p:bldP spid="2" grpId="1"/>
      <p:bldP spid="60" grpId="0"/>
      <p:bldP spid="60" grpId="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a:extLst>
              <a:ext uri="{FF2B5EF4-FFF2-40B4-BE49-F238E27FC236}">
                <a16:creationId xmlns:a16="http://schemas.microsoft.com/office/drawing/2014/main" id="{7EF9FA09-DFEB-C7D3-BFDF-026EE13E5413}"/>
              </a:ext>
            </a:extLst>
          </p:cNvPr>
          <p:cNvSpPr>
            <a:spLocks noGrp="1"/>
          </p:cNvSpPr>
          <p:nvPr>
            <p:ph sz="quarter" idx="11"/>
          </p:nvPr>
        </p:nvSpPr>
        <p:spPr>
          <a:xfrm>
            <a:off x="486000" y="482554"/>
            <a:ext cx="8172000" cy="4120946"/>
          </a:xfrm>
        </p:spPr>
        <p:txBody>
          <a:bodyPr/>
          <a:lstStyle/>
          <a:p>
            <a:r>
              <a:rPr lang="en-US" altLang="zh-CN" dirty="0"/>
              <a:t>A </a:t>
            </a:r>
            <a:r>
              <a:rPr lang="zh-CN" altLang="en-US" dirty="0"/>
              <a:t>向 </a:t>
            </a:r>
            <a:r>
              <a:rPr lang="en-US" altLang="zh-CN" dirty="0"/>
              <a:t>B </a:t>
            </a:r>
            <a:r>
              <a:rPr lang="zh-CN" altLang="en-US" dirty="0"/>
              <a:t>发送数据，</a:t>
            </a:r>
            <a:r>
              <a:rPr lang="en-US" altLang="zh-CN" dirty="0"/>
              <a:t>MSS = 100 </a:t>
            </a:r>
            <a:r>
              <a:rPr lang="zh-CN" altLang="en-US" dirty="0"/>
              <a:t>字节。</a:t>
            </a:r>
            <a:endParaRPr lang="en-US" altLang="zh-CN" dirty="0"/>
          </a:p>
          <a:p>
            <a:r>
              <a:rPr lang="zh-CN" altLang="en-US" dirty="0"/>
              <a:t>在连接建立时，</a:t>
            </a:r>
            <a:r>
              <a:rPr lang="en-US" altLang="zh-CN" dirty="0"/>
              <a:t>B </a:t>
            </a:r>
            <a:r>
              <a:rPr lang="zh-CN" altLang="en-US" dirty="0"/>
              <a:t>告诉 </a:t>
            </a:r>
            <a:r>
              <a:rPr lang="en-US" altLang="zh-CN" dirty="0"/>
              <a:t>A</a:t>
            </a:r>
            <a:r>
              <a:rPr lang="zh-CN" altLang="en-US" dirty="0"/>
              <a:t>：“我的接收窗口 </a:t>
            </a:r>
            <a:r>
              <a:rPr lang="en-US" altLang="zh-CN" dirty="0" err="1"/>
              <a:t>rwnd</a:t>
            </a:r>
            <a:r>
              <a:rPr lang="en-US" altLang="zh-CN" dirty="0"/>
              <a:t> = 400</a:t>
            </a:r>
            <a:r>
              <a:rPr lang="zh-CN" altLang="en-US" dirty="0"/>
              <a:t>（字节）”。</a:t>
            </a:r>
          </a:p>
          <a:p>
            <a:endParaRPr lang="zh-CN" altLang="en-US" dirty="0"/>
          </a:p>
        </p:txBody>
      </p:sp>
      <p:sp>
        <p:nvSpPr>
          <p:cNvPr id="56" name="标题 55">
            <a:extLst>
              <a:ext uri="{FF2B5EF4-FFF2-40B4-BE49-F238E27FC236}">
                <a16:creationId xmlns:a16="http://schemas.microsoft.com/office/drawing/2014/main" id="{37AF30DC-1A36-BC67-F6E6-8D25D425F1D9}"/>
              </a:ext>
            </a:extLst>
          </p:cNvPr>
          <p:cNvSpPr>
            <a:spLocks noGrp="1"/>
          </p:cNvSpPr>
          <p:nvPr>
            <p:ph type="title"/>
          </p:nvPr>
        </p:nvSpPr>
        <p:spPr>
          <a:xfrm>
            <a:off x="2808000" y="144000"/>
            <a:ext cx="3528000" cy="338554"/>
          </a:xfrm>
        </p:spPr>
        <p:txBody>
          <a:bodyPr/>
          <a:lstStyle/>
          <a:p>
            <a:r>
              <a:rPr lang="zh-CN" altLang="en-US" dirty="0"/>
              <a:t>可能发生死锁</a:t>
            </a:r>
          </a:p>
        </p:txBody>
      </p:sp>
      <p:sp>
        <p:nvSpPr>
          <p:cNvPr id="9" name="Line 4"/>
          <p:cNvSpPr>
            <a:spLocks noChangeShapeType="1"/>
          </p:cNvSpPr>
          <p:nvPr/>
        </p:nvSpPr>
        <p:spPr bwMode="auto">
          <a:xfrm>
            <a:off x="4175827" y="1875280"/>
            <a:ext cx="64290" cy="2822225"/>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77792" y="2430765"/>
            <a:ext cx="2498033" cy="243656"/>
            <a:chOff x="1677792" y="2484555"/>
            <a:chExt cx="2498033" cy="243656"/>
          </a:xfrm>
        </p:grpSpPr>
        <p:sp>
          <p:nvSpPr>
            <p:cNvPr id="24" name="Line 19"/>
            <p:cNvSpPr>
              <a:spLocks noChangeShapeType="1"/>
            </p:cNvSpPr>
            <p:nvPr/>
          </p:nvSpPr>
          <p:spPr bwMode="auto">
            <a:xfrm flipH="1">
              <a:off x="1677792" y="2719123"/>
              <a:ext cx="2498033"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5" name="Rectangle 20"/>
            <p:cNvSpPr>
              <a:spLocks noChangeArrowheads="1"/>
            </p:cNvSpPr>
            <p:nvPr/>
          </p:nvSpPr>
          <p:spPr bwMode="auto">
            <a:xfrm flipH="1">
              <a:off x="1824091" y="2484555"/>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201,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300</a:t>
              </a:r>
            </a:p>
          </p:txBody>
        </p:sp>
      </p:grpSp>
      <p:grpSp>
        <p:nvGrpSpPr>
          <p:cNvPr id="4" name="组合 3"/>
          <p:cNvGrpSpPr/>
          <p:nvPr/>
        </p:nvGrpSpPr>
        <p:grpSpPr>
          <a:xfrm>
            <a:off x="1685307" y="3824413"/>
            <a:ext cx="2490520" cy="243656"/>
            <a:chOff x="1685307" y="3878203"/>
            <a:chExt cx="2490520" cy="243656"/>
          </a:xfrm>
        </p:grpSpPr>
        <p:sp>
          <p:nvSpPr>
            <p:cNvPr id="26"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7"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0</a:t>
              </a:r>
            </a:p>
          </p:txBody>
        </p:sp>
      </p:grpSp>
      <p:grpSp>
        <p:nvGrpSpPr>
          <p:cNvPr id="3" name="组合 2"/>
          <p:cNvGrpSpPr/>
          <p:nvPr/>
        </p:nvGrpSpPr>
        <p:grpSpPr>
          <a:xfrm>
            <a:off x="1675914" y="3359574"/>
            <a:ext cx="2499912" cy="243656"/>
            <a:chOff x="1675914" y="3413364"/>
            <a:chExt cx="2499912" cy="243656"/>
          </a:xfrm>
        </p:grpSpPr>
        <p:sp>
          <p:nvSpPr>
            <p:cNvPr id="28" name="Line 23"/>
            <p:cNvSpPr>
              <a:spLocks noChangeShapeType="1"/>
            </p:cNvSpPr>
            <p:nvPr/>
          </p:nvSpPr>
          <p:spPr bwMode="auto">
            <a:xfrm flipH="1">
              <a:off x="1675914" y="3643597"/>
              <a:ext cx="2499912"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4"/>
            <p:cNvSpPr>
              <a:spLocks noChangeArrowheads="1"/>
            </p:cNvSpPr>
            <p:nvPr/>
          </p:nvSpPr>
          <p:spPr bwMode="auto">
            <a:xfrm flipH="1">
              <a:off x="1824091" y="3413364"/>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501,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100</a:t>
              </a:r>
            </a:p>
          </p:txBody>
        </p:sp>
      </p:grpSp>
      <p:sp>
        <p:nvSpPr>
          <p:cNvPr id="30" name="Rectangle 25"/>
          <p:cNvSpPr>
            <a:spLocks noChangeArrowheads="1"/>
          </p:cNvSpPr>
          <p:nvPr/>
        </p:nvSpPr>
        <p:spPr bwMode="auto">
          <a:xfrm>
            <a:off x="1579145" y="1676684"/>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1" name="Rectangle 26"/>
          <p:cNvSpPr>
            <a:spLocks noChangeArrowheads="1"/>
          </p:cNvSpPr>
          <p:nvPr/>
        </p:nvSpPr>
        <p:spPr bwMode="auto">
          <a:xfrm>
            <a:off x="4064966" y="1676684"/>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2" name="Rectangle 27"/>
          <p:cNvSpPr>
            <a:spLocks noChangeArrowheads="1"/>
          </p:cNvSpPr>
          <p:nvPr/>
        </p:nvSpPr>
        <p:spPr bwMode="auto">
          <a:xfrm>
            <a:off x="4235218" y="2519487"/>
            <a:ext cx="285334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201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500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300 </a:t>
            </a:r>
            <a:r>
              <a:rPr kumimoji="1" lang="zh-CN" altLang="en-US" sz="1100" b="1" dirty="0">
                <a:solidFill>
                  <a:srgbClr val="C00000"/>
                </a:solidFill>
                <a:latin typeface="微软雅黑" pitchFamily="34" charset="-122"/>
                <a:ea typeface="微软雅黑" pitchFamily="34" charset="-122"/>
              </a:rPr>
              <a:t>字节</a:t>
            </a:r>
          </a:p>
        </p:txBody>
      </p:sp>
      <p:grpSp>
        <p:nvGrpSpPr>
          <p:cNvPr id="46" name="组合 45"/>
          <p:cNvGrpSpPr/>
          <p:nvPr/>
        </p:nvGrpSpPr>
        <p:grpSpPr>
          <a:xfrm>
            <a:off x="1694704" y="1947714"/>
            <a:ext cx="5692018" cy="352971"/>
            <a:chOff x="1694704" y="1947714"/>
            <a:chExt cx="5692018" cy="352971"/>
          </a:xfrm>
        </p:grpSpPr>
        <p:sp>
          <p:nvSpPr>
            <p:cNvPr id="18" name="Line 13"/>
            <p:cNvSpPr>
              <a:spLocks noChangeShapeType="1"/>
            </p:cNvSpPr>
            <p:nvPr/>
          </p:nvSpPr>
          <p:spPr bwMode="auto">
            <a:xfrm>
              <a:off x="1694704" y="2190955"/>
              <a:ext cx="2481121"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9" name="Rectangle 14"/>
            <p:cNvSpPr>
              <a:spLocks noChangeArrowheads="1"/>
            </p:cNvSpPr>
            <p:nvPr/>
          </p:nvSpPr>
          <p:spPr bwMode="auto">
            <a:xfrm>
              <a:off x="2304992" y="1947714"/>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101, DATA</a:t>
              </a:r>
            </a:p>
          </p:txBody>
        </p:sp>
        <p:sp>
          <p:nvSpPr>
            <p:cNvPr id="33" name="Rectangle 28"/>
            <p:cNvSpPr>
              <a:spLocks noChangeArrowheads="1"/>
            </p:cNvSpPr>
            <p:nvPr/>
          </p:nvSpPr>
          <p:spPr bwMode="auto">
            <a:xfrm>
              <a:off x="4235217" y="2041640"/>
              <a:ext cx="315150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200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200 </a:t>
              </a:r>
              <a:r>
                <a:rPr kumimoji="1" lang="zh-CN" altLang="en-US" sz="1100" b="1" dirty="0">
                  <a:latin typeface="微软雅黑" pitchFamily="34" charset="-122"/>
                  <a:ea typeface="微软雅黑" pitchFamily="34" charset="-122"/>
                </a:rPr>
                <a:t>字节</a:t>
              </a:r>
            </a:p>
          </p:txBody>
        </p:sp>
      </p:grpSp>
      <p:grpSp>
        <p:nvGrpSpPr>
          <p:cNvPr id="49" name="组合 48"/>
          <p:cNvGrpSpPr/>
          <p:nvPr/>
        </p:nvGrpSpPr>
        <p:grpSpPr>
          <a:xfrm>
            <a:off x="1693764" y="2637168"/>
            <a:ext cx="6257216" cy="365979"/>
            <a:chOff x="1693764" y="2637168"/>
            <a:chExt cx="6257216" cy="365979"/>
          </a:xfrm>
        </p:grpSpPr>
        <p:sp>
          <p:nvSpPr>
            <p:cNvPr id="16" name="Line 11"/>
            <p:cNvSpPr>
              <a:spLocks noChangeShapeType="1"/>
            </p:cNvSpPr>
            <p:nvPr/>
          </p:nvSpPr>
          <p:spPr bwMode="auto">
            <a:xfrm>
              <a:off x="1693764" y="2889080"/>
              <a:ext cx="248206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7" name="Rectangle 12"/>
            <p:cNvSpPr>
              <a:spLocks noChangeArrowheads="1"/>
            </p:cNvSpPr>
            <p:nvPr/>
          </p:nvSpPr>
          <p:spPr bwMode="auto">
            <a:xfrm>
              <a:off x="2304992" y="2637168"/>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301, DATA</a:t>
              </a:r>
            </a:p>
          </p:txBody>
        </p:sp>
        <p:sp>
          <p:nvSpPr>
            <p:cNvPr id="34" name="Rectangle 29"/>
            <p:cNvSpPr>
              <a:spLocks noChangeArrowheads="1"/>
            </p:cNvSpPr>
            <p:nvPr/>
          </p:nvSpPr>
          <p:spPr bwMode="auto">
            <a:xfrm>
              <a:off x="4235218" y="2744102"/>
              <a:ext cx="37157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301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400</a:t>
              </a:r>
              <a:r>
                <a:rPr kumimoji="1" lang="zh-CN" altLang="en-US" sz="1100" b="1" dirty="0">
                  <a:latin typeface="微软雅黑" pitchFamily="34" charset="-122"/>
                  <a:ea typeface="微软雅黑" pitchFamily="34" charset="-122"/>
                </a:rPr>
                <a:t>，还能再发送 </a:t>
              </a:r>
              <a:r>
                <a:rPr kumimoji="1" lang="en-US" altLang="zh-CN" sz="1100" b="1" dirty="0">
                  <a:latin typeface="微软雅黑" pitchFamily="34" charset="-122"/>
                  <a:ea typeface="微软雅黑" pitchFamily="34" charset="-122"/>
                </a:rPr>
                <a:t>100 </a:t>
              </a:r>
              <a:r>
                <a:rPr kumimoji="1" lang="zh-CN" altLang="en-US" sz="1100" b="1" dirty="0">
                  <a:latin typeface="微软雅黑" pitchFamily="34" charset="-122"/>
                  <a:ea typeface="微软雅黑" pitchFamily="34" charset="-122"/>
                </a:rPr>
                <a:t>字节新数据</a:t>
              </a:r>
            </a:p>
          </p:txBody>
        </p:sp>
      </p:grpSp>
      <p:grpSp>
        <p:nvGrpSpPr>
          <p:cNvPr id="45" name="组合 44"/>
          <p:cNvGrpSpPr/>
          <p:nvPr/>
        </p:nvGrpSpPr>
        <p:grpSpPr>
          <a:xfrm>
            <a:off x="1695644" y="1727436"/>
            <a:ext cx="5517954" cy="346900"/>
            <a:chOff x="1695644" y="1727436"/>
            <a:chExt cx="5517954" cy="346900"/>
          </a:xfrm>
        </p:grpSpPr>
        <p:sp>
          <p:nvSpPr>
            <p:cNvPr id="10" name="Line 5"/>
            <p:cNvSpPr>
              <a:spLocks noChangeShapeType="1"/>
            </p:cNvSpPr>
            <p:nvPr/>
          </p:nvSpPr>
          <p:spPr bwMode="auto">
            <a:xfrm>
              <a:off x="1695644" y="1962005"/>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1" name="Rectangle 6"/>
            <p:cNvSpPr>
              <a:spLocks noChangeArrowheads="1"/>
            </p:cNvSpPr>
            <p:nvPr/>
          </p:nvSpPr>
          <p:spPr bwMode="auto">
            <a:xfrm>
              <a:off x="2383539" y="1727436"/>
              <a:ext cx="1107677"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1, DATA</a:t>
              </a:r>
            </a:p>
          </p:txBody>
        </p:sp>
        <p:sp>
          <p:nvSpPr>
            <p:cNvPr id="35" name="Rectangle 30"/>
            <p:cNvSpPr>
              <a:spLocks noChangeArrowheads="1"/>
            </p:cNvSpPr>
            <p:nvPr/>
          </p:nvSpPr>
          <p:spPr bwMode="auto">
            <a:xfrm>
              <a:off x="4235218" y="1815291"/>
              <a:ext cx="2978380"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100</a:t>
              </a:r>
              <a:r>
                <a:rPr kumimoji="1" lang="zh-CN" altLang="en-US" sz="1100" b="1" dirty="0">
                  <a:latin typeface="微软雅黑" pitchFamily="34" charset="-122"/>
                  <a:ea typeface="微软雅黑" pitchFamily="34" charset="-122"/>
                </a:rPr>
                <a:t>，还能发送 </a:t>
              </a:r>
              <a:r>
                <a:rPr kumimoji="1" lang="en-US" altLang="zh-CN" sz="1100" b="1" dirty="0">
                  <a:latin typeface="微软雅黑" pitchFamily="34" charset="-122"/>
                  <a:ea typeface="微软雅黑" pitchFamily="34" charset="-122"/>
                </a:rPr>
                <a:t>300 </a:t>
              </a:r>
              <a:r>
                <a:rPr kumimoji="1" lang="zh-CN" altLang="en-US" sz="1100" b="1" dirty="0">
                  <a:latin typeface="微软雅黑" pitchFamily="34" charset="-122"/>
                  <a:ea typeface="微软雅黑" pitchFamily="34" charset="-122"/>
                </a:rPr>
                <a:t>字节</a:t>
              </a:r>
            </a:p>
          </p:txBody>
        </p:sp>
      </p:grpSp>
      <p:grpSp>
        <p:nvGrpSpPr>
          <p:cNvPr id="50" name="组合 49"/>
          <p:cNvGrpSpPr/>
          <p:nvPr/>
        </p:nvGrpSpPr>
        <p:grpSpPr>
          <a:xfrm>
            <a:off x="1697522" y="2879993"/>
            <a:ext cx="5769351" cy="363378"/>
            <a:chOff x="1697522" y="2879993"/>
            <a:chExt cx="5769351" cy="363378"/>
          </a:xfrm>
        </p:grpSpPr>
        <p:sp>
          <p:nvSpPr>
            <p:cNvPr id="14" name="Line 9"/>
            <p:cNvSpPr>
              <a:spLocks noChangeShapeType="1"/>
            </p:cNvSpPr>
            <p:nvPr/>
          </p:nvSpPr>
          <p:spPr bwMode="auto">
            <a:xfrm>
              <a:off x="1697522" y="3126703"/>
              <a:ext cx="247830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5" name="Rectangle 10"/>
            <p:cNvSpPr>
              <a:spLocks noChangeArrowheads="1"/>
            </p:cNvSpPr>
            <p:nvPr/>
          </p:nvSpPr>
          <p:spPr bwMode="auto">
            <a:xfrm>
              <a:off x="2304992" y="2879993"/>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401, DATA</a:t>
              </a:r>
            </a:p>
          </p:txBody>
        </p:sp>
        <p:sp>
          <p:nvSpPr>
            <p:cNvPr id="36" name="Rectangle 31"/>
            <p:cNvSpPr>
              <a:spLocks noChangeArrowheads="1"/>
            </p:cNvSpPr>
            <p:nvPr/>
          </p:nvSpPr>
          <p:spPr bwMode="auto">
            <a:xfrm>
              <a:off x="4235218" y="2984326"/>
              <a:ext cx="32316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a:latin typeface="微软雅黑" pitchFamily="34" charset="-122"/>
                  <a:ea typeface="微软雅黑" pitchFamily="34" charset="-122"/>
                </a:rPr>
                <a:t>A </a:t>
              </a:r>
              <a:r>
                <a:rPr kumimoji="1" lang="zh-CN" altLang="en-US" sz="1100" b="1">
                  <a:latin typeface="微软雅黑" pitchFamily="34" charset="-122"/>
                  <a:ea typeface="微软雅黑" pitchFamily="34" charset="-122"/>
                </a:rPr>
                <a:t>发送了序号 </a:t>
              </a:r>
              <a:r>
                <a:rPr kumimoji="1" lang="en-US" altLang="zh-CN" sz="1100" b="1">
                  <a:latin typeface="微软雅黑" pitchFamily="34" charset="-122"/>
                  <a:ea typeface="微软雅黑" pitchFamily="34" charset="-122"/>
                </a:rPr>
                <a:t>401 </a:t>
              </a:r>
              <a:r>
                <a:rPr kumimoji="1" lang="zh-CN" altLang="en-US" sz="1100" b="1">
                  <a:latin typeface="微软雅黑" pitchFamily="34" charset="-122"/>
                  <a:ea typeface="微软雅黑" pitchFamily="34" charset="-122"/>
                </a:rPr>
                <a:t>至 </a:t>
              </a:r>
              <a:r>
                <a:rPr kumimoji="1" lang="en-US" altLang="zh-CN" sz="1100" b="1">
                  <a:latin typeface="微软雅黑" pitchFamily="34" charset="-122"/>
                  <a:ea typeface="微软雅黑" pitchFamily="34" charset="-122"/>
                </a:rPr>
                <a:t>500</a:t>
              </a:r>
              <a:r>
                <a:rPr kumimoji="1" lang="zh-CN" altLang="en-US" sz="1100" b="1">
                  <a:latin typeface="微软雅黑" pitchFamily="34" charset="-122"/>
                  <a:ea typeface="微软雅黑" pitchFamily="34" charset="-122"/>
                </a:rPr>
                <a:t>，不能再发送新数据了</a:t>
              </a:r>
            </a:p>
          </p:txBody>
        </p:sp>
      </p:grpSp>
      <p:grpSp>
        <p:nvGrpSpPr>
          <p:cNvPr id="51" name="组合 50"/>
          <p:cNvGrpSpPr/>
          <p:nvPr/>
        </p:nvGrpSpPr>
        <p:grpSpPr>
          <a:xfrm>
            <a:off x="1696582" y="3108075"/>
            <a:ext cx="5408012" cy="368583"/>
            <a:chOff x="1696582" y="3108075"/>
            <a:chExt cx="5408012" cy="368583"/>
          </a:xfrm>
        </p:grpSpPr>
        <p:sp>
          <p:nvSpPr>
            <p:cNvPr id="12" name="Line 7"/>
            <p:cNvSpPr>
              <a:spLocks noChangeShapeType="1"/>
            </p:cNvSpPr>
            <p:nvPr/>
          </p:nvSpPr>
          <p:spPr bwMode="auto">
            <a:xfrm>
              <a:off x="1696582" y="3355654"/>
              <a:ext cx="2479245"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8"/>
            <p:cNvSpPr>
              <a:spLocks noChangeArrowheads="1"/>
            </p:cNvSpPr>
            <p:nvPr/>
          </p:nvSpPr>
          <p:spPr bwMode="auto">
            <a:xfrm>
              <a:off x="2304992" y="3108075"/>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sp>
          <p:nvSpPr>
            <p:cNvPr id="37" name="Rectangle 32"/>
            <p:cNvSpPr>
              <a:spLocks noChangeArrowheads="1"/>
            </p:cNvSpPr>
            <p:nvPr/>
          </p:nvSpPr>
          <p:spPr bwMode="auto">
            <a:xfrm>
              <a:off x="4235218" y="3217613"/>
              <a:ext cx="2869376"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00FF"/>
                  </a:solidFill>
                  <a:latin typeface="微软雅黑" pitchFamily="34" charset="-122"/>
                  <a:ea typeface="微软雅黑" pitchFamily="34" charset="-122"/>
                </a:rPr>
                <a:t>A </a:t>
              </a:r>
              <a:r>
                <a:rPr kumimoji="1" lang="zh-CN" altLang="en-US" sz="1100" b="1" dirty="0">
                  <a:solidFill>
                    <a:srgbClr val="CC00CC"/>
                  </a:solidFill>
                  <a:latin typeface="微软雅黑" pitchFamily="34" charset="-122"/>
                  <a:ea typeface="微软雅黑" pitchFamily="34" charset="-122"/>
                </a:rPr>
                <a:t>超时重传</a:t>
              </a:r>
              <a:r>
                <a:rPr kumimoji="1" lang="zh-CN" altLang="en-US" sz="1100" b="1" dirty="0">
                  <a:solidFill>
                    <a:srgbClr val="0000FF"/>
                  </a:solidFill>
                  <a:latin typeface="微软雅黑" pitchFamily="34" charset="-122"/>
                  <a:ea typeface="微软雅黑" pitchFamily="34" charset="-122"/>
                </a:rPr>
                <a:t>旧的数据，但不能发送新的数据</a:t>
              </a:r>
            </a:p>
          </p:txBody>
        </p:sp>
      </p:grpSp>
      <p:sp>
        <p:nvSpPr>
          <p:cNvPr id="38" name="Rectangle 33"/>
          <p:cNvSpPr>
            <a:spLocks noChangeArrowheads="1"/>
          </p:cNvSpPr>
          <p:nvPr/>
        </p:nvSpPr>
        <p:spPr bwMode="auto">
          <a:xfrm>
            <a:off x="4235218" y="3443960"/>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501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600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100 </a:t>
            </a:r>
            <a:r>
              <a:rPr kumimoji="1" lang="zh-CN" altLang="en-US" sz="1100" b="1" dirty="0">
                <a:solidFill>
                  <a:srgbClr val="C00000"/>
                </a:solidFill>
                <a:latin typeface="微软雅黑" pitchFamily="34" charset="-122"/>
                <a:ea typeface="微软雅黑" pitchFamily="34" charset="-122"/>
              </a:rPr>
              <a:t>字节</a:t>
            </a:r>
          </a:p>
        </p:txBody>
      </p:sp>
      <p:grpSp>
        <p:nvGrpSpPr>
          <p:cNvPr id="52" name="组合 51"/>
          <p:cNvGrpSpPr/>
          <p:nvPr/>
        </p:nvGrpSpPr>
        <p:grpSpPr>
          <a:xfrm>
            <a:off x="1695643" y="3592861"/>
            <a:ext cx="5348037" cy="345167"/>
            <a:chOff x="1695643" y="3592861"/>
            <a:chExt cx="5348037" cy="345167"/>
          </a:xfrm>
        </p:grpSpPr>
        <p:sp>
          <p:nvSpPr>
            <p:cNvPr id="22" name="Line 17"/>
            <p:cNvSpPr>
              <a:spLocks noChangeShapeType="1"/>
            </p:cNvSpPr>
            <p:nvPr/>
          </p:nvSpPr>
          <p:spPr bwMode="auto">
            <a:xfrm>
              <a:off x="1695643" y="3823961"/>
              <a:ext cx="2480183"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3" name="Rectangle 18"/>
            <p:cNvSpPr>
              <a:spLocks noChangeArrowheads="1"/>
            </p:cNvSpPr>
            <p:nvPr/>
          </p:nvSpPr>
          <p:spPr bwMode="auto">
            <a:xfrm>
              <a:off x="2304992" y="3592861"/>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501, DATA</a:t>
              </a:r>
            </a:p>
          </p:txBody>
        </p:sp>
        <p:sp>
          <p:nvSpPr>
            <p:cNvPr id="39" name="Rectangle 34"/>
            <p:cNvSpPr>
              <a:spLocks noChangeArrowheads="1"/>
            </p:cNvSpPr>
            <p:nvPr/>
          </p:nvSpPr>
          <p:spPr bwMode="auto">
            <a:xfrm>
              <a:off x="4235218" y="3678983"/>
              <a:ext cx="280846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501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600</a:t>
              </a:r>
              <a:r>
                <a:rPr kumimoji="1" lang="zh-CN" altLang="en-US" sz="1100" b="1" dirty="0">
                  <a:latin typeface="微软雅黑" pitchFamily="34" charset="-122"/>
                  <a:ea typeface="微软雅黑" pitchFamily="34" charset="-122"/>
                </a:rPr>
                <a:t>，不能再发送了</a:t>
              </a:r>
            </a:p>
          </p:txBody>
        </p:sp>
      </p:grpSp>
      <p:sp>
        <p:nvSpPr>
          <p:cNvPr id="40" name="Rectangle 35"/>
          <p:cNvSpPr>
            <a:spLocks noChangeArrowheads="1"/>
          </p:cNvSpPr>
          <p:nvPr/>
        </p:nvSpPr>
        <p:spPr bwMode="auto">
          <a:xfrm>
            <a:off x="4235218" y="3922676"/>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FF0000"/>
                </a:solidFill>
                <a:latin typeface="微软雅黑" pitchFamily="34" charset="-122"/>
                <a:ea typeface="微软雅黑" pitchFamily="34" charset="-122"/>
              </a:rPr>
              <a:t>不允许 </a:t>
            </a:r>
            <a:r>
              <a:rPr kumimoji="1" lang="en-US" altLang="zh-CN" sz="1100" b="1" dirty="0">
                <a:solidFill>
                  <a:srgbClr val="FF0000"/>
                </a:solidFill>
                <a:latin typeface="微软雅黑" pitchFamily="34" charset="-122"/>
                <a:ea typeface="微软雅黑" pitchFamily="34" charset="-122"/>
              </a:rPr>
              <a:t>A </a:t>
            </a:r>
            <a:r>
              <a:rPr kumimoji="1" lang="zh-CN" altLang="en-US" sz="1100" b="1" dirty="0">
                <a:solidFill>
                  <a:srgbClr val="FF0000"/>
                </a:solidFill>
                <a:latin typeface="微软雅黑" pitchFamily="34" charset="-122"/>
                <a:ea typeface="微软雅黑" pitchFamily="34" charset="-122"/>
              </a:rPr>
              <a:t>再发送（到序号 </a:t>
            </a:r>
            <a:r>
              <a:rPr kumimoji="1" lang="en-US" altLang="zh-CN" sz="1100" b="1" dirty="0">
                <a:solidFill>
                  <a:srgbClr val="FF0000"/>
                </a:solidFill>
                <a:latin typeface="微软雅黑" pitchFamily="34" charset="-122"/>
                <a:ea typeface="微软雅黑" pitchFamily="34" charset="-122"/>
              </a:rPr>
              <a:t>600 </a:t>
            </a:r>
            <a:r>
              <a:rPr kumimoji="1" lang="zh-CN" altLang="en-US" sz="1100" b="1" dirty="0">
                <a:solidFill>
                  <a:srgbClr val="FF0000"/>
                </a:solidFill>
                <a:latin typeface="微软雅黑" pitchFamily="34" charset="-122"/>
                <a:ea typeface="微软雅黑" pitchFamily="34" charset="-122"/>
              </a:rPr>
              <a:t>为止的数据都收到了）</a:t>
            </a:r>
          </a:p>
        </p:txBody>
      </p:sp>
      <p:grpSp>
        <p:nvGrpSpPr>
          <p:cNvPr id="48" name="组合 47"/>
          <p:cNvGrpSpPr/>
          <p:nvPr/>
        </p:nvGrpSpPr>
        <p:grpSpPr>
          <a:xfrm>
            <a:off x="1691887" y="2103596"/>
            <a:ext cx="2236835" cy="415665"/>
            <a:chOff x="1691887" y="2103596"/>
            <a:chExt cx="2236835" cy="415665"/>
          </a:xfrm>
        </p:grpSpPr>
        <p:sp>
          <p:nvSpPr>
            <p:cNvPr id="20" name="Line 15"/>
            <p:cNvSpPr>
              <a:spLocks noChangeShapeType="1"/>
            </p:cNvSpPr>
            <p:nvPr/>
          </p:nvSpPr>
          <p:spPr bwMode="auto">
            <a:xfrm>
              <a:off x="1691887" y="2432914"/>
              <a:ext cx="1481082"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1" name="Rectangle 16"/>
            <p:cNvSpPr>
              <a:spLocks noChangeArrowheads="1"/>
            </p:cNvSpPr>
            <p:nvPr/>
          </p:nvSpPr>
          <p:spPr bwMode="auto">
            <a:xfrm>
              <a:off x="2004741" y="2199212"/>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201, DATA</a:t>
              </a:r>
            </a:p>
          </p:txBody>
        </p:sp>
        <p:grpSp>
          <p:nvGrpSpPr>
            <p:cNvPr id="47" name="组合 46"/>
            <p:cNvGrpSpPr/>
            <p:nvPr/>
          </p:nvGrpSpPr>
          <p:grpSpPr>
            <a:xfrm>
              <a:off x="3240064" y="2103596"/>
              <a:ext cx="688658" cy="415665"/>
              <a:chOff x="3240064" y="2103596"/>
              <a:chExt cx="688658" cy="415665"/>
            </a:xfrm>
          </p:grpSpPr>
          <p:sp>
            <p:nvSpPr>
              <p:cNvPr id="41" name="AutoShape 36"/>
              <p:cNvSpPr>
                <a:spLocks noChangeArrowheads="1"/>
              </p:cNvSpPr>
              <p:nvPr/>
            </p:nvSpPr>
            <p:spPr bwMode="auto">
              <a:xfrm>
                <a:off x="3240064" y="2103596"/>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42" name="Rectangle 37"/>
              <p:cNvSpPr>
                <a:spLocks noChangeArrowheads="1"/>
              </p:cNvSpPr>
              <p:nvPr/>
            </p:nvSpPr>
            <p:spPr bwMode="auto">
              <a:xfrm>
                <a:off x="3359784" y="2184319"/>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sp>
        <p:nvSpPr>
          <p:cNvPr id="43" name="Line 38"/>
          <p:cNvSpPr>
            <a:spLocks noChangeShapeType="1"/>
          </p:cNvSpPr>
          <p:nvPr/>
        </p:nvSpPr>
        <p:spPr bwMode="auto">
          <a:xfrm>
            <a:off x="1676853" y="1875281"/>
            <a:ext cx="0" cy="2822224"/>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54" name="Rectangle 27"/>
          <p:cNvSpPr>
            <a:spLocks noChangeArrowheads="1"/>
          </p:cNvSpPr>
          <p:nvPr/>
        </p:nvSpPr>
        <p:spPr bwMode="auto">
          <a:xfrm>
            <a:off x="4235218" y="4181721"/>
            <a:ext cx="2939908"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00000"/>
                </a:solidFill>
                <a:latin typeface="微软雅黑" pitchFamily="34" charset="-122"/>
                <a:ea typeface="微软雅黑" pitchFamily="34" charset="-122"/>
              </a:rPr>
              <a:t>允许 </a:t>
            </a:r>
            <a:r>
              <a:rPr kumimoji="1" lang="en-US" altLang="zh-CN" sz="1100" b="1" dirty="0">
                <a:solidFill>
                  <a:srgbClr val="C00000"/>
                </a:solidFill>
                <a:latin typeface="微软雅黑" pitchFamily="34" charset="-122"/>
                <a:ea typeface="微软雅黑" pitchFamily="34" charset="-122"/>
              </a:rPr>
              <a:t>A </a:t>
            </a:r>
            <a:r>
              <a:rPr kumimoji="1" lang="zh-CN" altLang="en-US" sz="1100" b="1" dirty="0">
                <a:solidFill>
                  <a:srgbClr val="C00000"/>
                </a:solidFill>
                <a:latin typeface="微软雅黑" pitchFamily="34" charset="-122"/>
                <a:ea typeface="微软雅黑" pitchFamily="34" charset="-122"/>
              </a:rPr>
              <a:t>发送序号 </a:t>
            </a:r>
            <a:r>
              <a:rPr kumimoji="1" lang="en-US" altLang="zh-CN" sz="1100" b="1" dirty="0">
                <a:solidFill>
                  <a:srgbClr val="C00000"/>
                </a:solidFill>
                <a:latin typeface="微软雅黑" pitchFamily="34" charset="-122"/>
                <a:ea typeface="微软雅黑" pitchFamily="34" charset="-122"/>
              </a:rPr>
              <a:t>601 </a:t>
            </a:r>
            <a:r>
              <a:rPr kumimoji="1" lang="zh-CN" altLang="en-US" sz="1100" b="1" dirty="0">
                <a:solidFill>
                  <a:srgbClr val="C00000"/>
                </a:solidFill>
                <a:latin typeface="微软雅黑" pitchFamily="34" charset="-122"/>
                <a:ea typeface="微软雅黑" pitchFamily="34" charset="-122"/>
              </a:rPr>
              <a:t>至 </a:t>
            </a:r>
            <a:r>
              <a:rPr kumimoji="1" lang="en-US" altLang="zh-CN" sz="1100" b="1" dirty="0">
                <a:solidFill>
                  <a:srgbClr val="C00000"/>
                </a:solidFill>
                <a:latin typeface="微软雅黑" pitchFamily="34" charset="-122"/>
                <a:ea typeface="微软雅黑" pitchFamily="34" charset="-122"/>
              </a:rPr>
              <a:t>1000  </a:t>
            </a:r>
            <a:r>
              <a:rPr kumimoji="1" lang="zh-CN" altLang="en-US" sz="1100" b="1" dirty="0">
                <a:solidFill>
                  <a:srgbClr val="C00000"/>
                </a:solidFill>
                <a:latin typeface="微软雅黑" pitchFamily="34" charset="-122"/>
                <a:ea typeface="微软雅黑" pitchFamily="34" charset="-122"/>
              </a:rPr>
              <a:t>共 </a:t>
            </a:r>
            <a:r>
              <a:rPr kumimoji="1" lang="en-US" altLang="zh-CN" sz="1100" b="1" dirty="0">
                <a:solidFill>
                  <a:srgbClr val="C00000"/>
                </a:solidFill>
                <a:latin typeface="微软雅黑" pitchFamily="34" charset="-122"/>
                <a:ea typeface="微软雅黑" pitchFamily="34" charset="-122"/>
              </a:rPr>
              <a:t>400 </a:t>
            </a:r>
            <a:r>
              <a:rPr kumimoji="1" lang="zh-CN" altLang="en-US" sz="1100" b="1" dirty="0">
                <a:solidFill>
                  <a:srgbClr val="C00000"/>
                </a:solidFill>
                <a:latin typeface="微软雅黑" pitchFamily="34" charset="-122"/>
                <a:ea typeface="微软雅黑" pitchFamily="34" charset="-122"/>
              </a:rPr>
              <a:t>字节</a:t>
            </a:r>
          </a:p>
        </p:txBody>
      </p:sp>
      <p:grpSp>
        <p:nvGrpSpPr>
          <p:cNvPr id="61" name="组合 60"/>
          <p:cNvGrpSpPr/>
          <p:nvPr/>
        </p:nvGrpSpPr>
        <p:grpSpPr>
          <a:xfrm>
            <a:off x="1896233" y="4094049"/>
            <a:ext cx="2288554" cy="243656"/>
            <a:chOff x="1896233" y="4094049"/>
            <a:chExt cx="2288554" cy="243656"/>
          </a:xfrm>
        </p:grpSpPr>
        <p:sp>
          <p:nvSpPr>
            <p:cNvPr id="53" name="Rectangle 22"/>
            <p:cNvSpPr>
              <a:spLocks noChangeArrowheads="1"/>
            </p:cNvSpPr>
            <p:nvPr/>
          </p:nvSpPr>
          <p:spPr bwMode="auto">
            <a:xfrm flipH="1">
              <a:off x="1896233" y="4094049"/>
              <a:ext cx="2226573"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0000FF"/>
                  </a:solidFill>
                  <a:latin typeface="微软雅黑" pitchFamily="34" charset="-122"/>
                  <a:ea typeface="微软雅黑" pitchFamily="34" charset="-122"/>
                </a:rPr>
                <a:t>rwnd</a:t>
              </a:r>
              <a:r>
                <a:rPr kumimoji="1" lang="en-US" altLang="zh-CN" sz="1000" b="1" dirty="0">
                  <a:solidFill>
                    <a:srgbClr val="0000FF"/>
                  </a:solidFill>
                  <a:latin typeface="微软雅黑" pitchFamily="34" charset="-122"/>
                  <a:ea typeface="微软雅黑" pitchFamily="34" charset="-122"/>
                </a:rPr>
                <a:t> = 400</a:t>
              </a:r>
            </a:p>
          </p:txBody>
        </p:sp>
        <p:sp>
          <p:nvSpPr>
            <p:cNvPr id="55" name="Line 21"/>
            <p:cNvSpPr>
              <a:spLocks noChangeShapeType="1"/>
            </p:cNvSpPr>
            <p:nvPr/>
          </p:nvSpPr>
          <p:spPr bwMode="auto">
            <a:xfrm flipH="1">
              <a:off x="1990896" y="4318963"/>
              <a:ext cx="2193891"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grpSp>
      <p:grpSp>
        <p:nvGrpSpPr>
          <p:cNvPr id="8" name="组合 7"/>
          <p:cNvGrpSpPr/>
          <p:nvPr/>
        </p:nvGrpSpPr>
        <p:grpSpPr>
          <a:xfrm>
            <a:off x="1348538" y="4048078"/>
            <a:ext cx="688658" cy="415665"/>
            <a:chOff x="944890" y="3823961"/>
            <a:chExt cx="688658" cy="415665"/>
          </a:xfrm>
        </p:grpSpPr>
        <p:sp>
          <p:nvSpPr>
            <p:cNvPr id="57" name="AutoShape 36"/>
            <p:cNvSpPr>
              <a:spLocks noChangeArrowheads="1"/>
            </p:cNvSpPr>
            <p:nvPr/>
          </p:nvSpPr>
          <p:spPr bwMode="auto">
            <a:xfrm>
              <a:off x="944890" y="3823961"/>
              <a:ext cx="688658" cy="415665"/>
            </a:xfrm>
            <a:prstGeom prst="irregularSeal1">
              <a:avLst/>
            </a:prstGeom>
            <a:solidFill>
              <a:srgbClr val="C00000"/>
            </a:solidFill>
            <a:ln w="6350">
              <a:solidFill>
                <a:schemeClr val="tx1"/>
              </a:solidFill>
              <a:miter lim="800000"/>
              <a:headEnd/>
              <a:tailEnd/>
            </a:ln>
            <a:effectLst/>
          </p:spPr>
          <p:txBody>
            <a:bodyPr wrap="none" anchor="ctr"/>
            <a:lstStyle/>
            <a:p>
              <a:endParaRPr lang="zh-CN" altLang="en-US" sz="1100" b="1">
                <a:latin typeface="微软雅黑" pitchFamily="34" charset="-122"/>
                <a:ea typeface="微软雅黑" pitchFamily="34" charset="-122"/>
              </a:endParaRPr>
            </a:p>
          </p:txBody>
        </p:sp>
        <p:sp>
          <p:nvSpPr>
            <p:cNvPr id="58" name="Rectangle 37"/>
            <p:cNvSpPr>
              <a:spLocks noChangeArrowheads="1"/>
            </p:cNvSpPr>
            <p:nvPr/>
          </p:nvSpPr>
          <p:spPr bwMode="auto">
            <a:xfrm>
              <a:off x="1064610" y="3904684"/>
              <a:ext cx="56746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000" b="1" dirty="0">
                  <a:solidFill>
                    <a:schemeClr val="bg1"/>
                  </a:solidFill>
                  <a:latin typeface="微软雅黑" pitchFamily="34" charset="-122"/>
                  <a:ea typeface="微软雅黑" pitchFamily="34" charset="-122"/>
                </a:rPr>
                <a:t>丢失！</a:t>
              </a:r>
            </a:p>
          </p:txBody>
        </p:sp>
      </p:grpSp>
      <p:grpSp>
        <p:nvGrpSpPr>
          <p:cNvPr id="64" name="组合 63"/>
          <p:cNvGrpSpPr/>
          <p:nvPr/>
        </p:nvGrpSpPr>
        <p:grpSpPr>
          <a:xfrm>
            <a:off x="676495" y="4425557"/>
            <a:ext cx="4494877" cy="259045"/>
            <a:chOff x="676495" y="4425557"/>
            <a:chExt cx="4494877" cy="259045"/>
          </a:xfrm>
        </p:grpSpPr>
        <p:sp>
          <p:nvSpPr>
            <p:cNvPr id="62" name="Rectangle 28"/>
            <p:cNvSpPr>
              <a:spLocks noChangeArrowheads="1"/>
            </p:cNvSpPr>
            <p:nvPr/>
          </p:nvSpPr>
          <p:spPr bwMode="auto">
            <a:xfrm>
              <a:off x="4235217" y="4425557"/>
              <a:ext cx="93615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a:t>
              </a:r>
            </a:p>
          </p:txBody>
        </p:sp>
        <p:sp>
          <p:nvSpPr>
            <p:cNvPr id="63" name="Rectangle 28"/>
            <p:cNvSpPr>
              <a:spLocks noChangeArrowheads="1"/>
            </p:cNvSpPr>
            <p:nvPr/>
          </p:nvSpPr>
          <p:spPr bwMode="auto">
            <a:xfrm>
              <a:off x="676495" y="4425557"/>
              <a:ext cx="1057983"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等待非 </a:t>
              </a:r>
              <a:r>
                <a:rPr kumimoji="1" lang="en-US" altLang="zh-CN" sz="1100" b="1" dirty="0">
                  <a:latin typeface="微软雅黑" pitchFamily="34" charset="-122"/>
                  <a:ea typeface="微软雅黑" pitchFamily="34" charset="-122"/>
                </a:rPr>
                <a:t>0 </a:t>
              </a:r>
              <a:r>
                <a:rPr kumimoji="1" lang="zh-CN" altLang="en-US" sz="1100" b="1" dirty="0">
                  <a:latin typeface="微软雅黑" pitchFamily="34" charset="-122"/>
                  <a:ea typeface="微软雅黑" pitchFamily="34" charset="-122"/>
                </a:rPr>
                <a:t>窗口</a:t>
              </a:r>
            </a:p>
          </p:txBody>
        </p:sp>
      </p:grpSp>
    </p:spTree>
    <p:extLst>
      <p:ext uri="{BB962C8B-B14F-4D97-AF65-F5344CB8AC3E}">
        <p14:creationId xmlns:p14="http://schemas.microsoft.com/office/powerpoint/2010/main" val="22601851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right)">
                                      <p:cBhvr>
                                        <p:cTn id="7" dur="1000"/>
                                        <p:tgtEl>
                                          <p:spTgt spid="6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childTnLst>
                                </p:cTn>
                              </p:par>
                              <p:par>
                                <p:cTn id="10" presetID="35" presetClass="emph" presetSubtype="0" repeatCount="3000" fill="hold" grpId="1" nodeType="withEffect">
                                  <p:stCondLst>
                                    <p:cond delay="0"/>
                                  </p:stCondLst>
                                  <p:childTnLst>
                                    <p:anim calcmode="discrete" valueType="str">
                                      <p:cBhvr>
                                        <p:cTn id="11" dur="1000" fill="hold"/>
                                        <p:tgtEl>
                                          <p:spTgt spid="54"/>
                                        </p:tgtEl>
                                        <p:attrNameLst>
                                          <p:attrName>style.visibility</p:attrName>
                                        </p:attrNameLst>
                                      </p:cBhvr>
                                      <p:tavLst>
                                        <p:tav tm="0">
                                          <p:val>
                                            <p:strVal val="hidden"/>
                                          </p:val>
                                        </p:tav>
                                        <p:tav tm="50000">
                                          <p:val>
                                            <p:strVal val="visible"/>
                                          </p:val>
                                        </p:tav>
                                      </p:tavLst>
                                    </p:anim>
                                  </p:childTnLst>
                                </p:cTn>
                              </p:par>
                            </p:childTnLst>
                          </p:cTn>
                        </p:par>
                        <p:par>
                          <p:cTn id="12" fill="hold">
                            <p:stCondLst>
                              <p:cond delay="3000"/>
                            </p:stCondLst>
                            <p:childTnLst>
                              <p:par>
                                <p:cTn id="13" presetID="22" presetClass="entr" presetSubtype="2"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1000"/>
                                        <p:tgtEl>
                                          <p:spTgt spid="8"/>
                                        </p:tgtEl>
                                      </p:cBhvr>
                                    </p:animEffect>
                                  </p:childTnLst>
                                </p:cTn>
                              </p:par>
                            </p:childTnLst>
                          </p:cTn>
                        </p:par>
                        <p:par>
                          <p:cTn id="16" fill="hold">
                            <p:stCondLst>
                              <p:cond delay="4000"/>
                            </p:stCondLst>
                            <p:childTnLst>
                              <p:par>
                                <p:cTn id="17" presetID="35" presetClass="emph" presetSubtype="0" repeatCount="3000" fill="hold" nodeType="afterEffect">
                                  <p:stCondLst>
                                    <p:cond delay="0"/>
                                  </p:stCondLst>
                                  <p:childTnLst>
                                    <p:anim calcmode="discrete" valueType="str">
                                      <p:cBhvr>
                                        <p:cTn id="18" dur="1000" fill="hold"/>
                                        <p:tgtEl>
                                          <p:spTgt spid="8"/>
                                        </p:tgtEl>
                                        <p:attrNameLst>
                                          <p:attrName>style.visibility</p:attrName>
                                        </p:attrNameLst>
                                      </p:cBhvr>
                                      <p:tavLst>
                                        <p:tav tm="0">
                                          <p:val>
                                            <p:strVal val="hidden"/>
                                          </p:val>
                                        </p:tav>
                                        <p:tav tm="50000">
                                          <p:val>
                                            <p:strVal val="visible"/>
                                          </p:val>
                                        </p:tav>
                                      </p:tavLst>
                                    </p:anim>
                                  </p:childTnLst>
                                </p:cTn>
                              </p:par>
                            </p:childTnLst>
                          </p:cTn>
                        </p:par>
                        <p:par>
                          <p:cTn id="19" fill="hold">
                            <p:stCondLst>
                              <p:cond delay="7000"/>
                            </p:stCondLst>
                            <p:childTnLst>
                              <p:par>
                                <p:cTn id="20" presetID="22" presetClass="entr" presetSubtype="1" fill="hold" nodeType="after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up)">
                                      <p:cBhvr>
                                        <p:cTn id="22" dur="10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4" grpId="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CB31C788-BD1C-A5C2-E6C6-0B1355BF18D0}"/>
              </a:ext>
            </a:extLst>
          </p:cNvPr>
          <p:cNvSpPr>
            <a:spLocks noGrp="1"/>
          </p:cNvSpPr>
          <p:nvPr>
            <p:ph sz="quarter" idx="11"/>
          </p:nvPr>
        </p:nvSpPr>
        <p:spPr>
          <a:xfrm>
            <a:off x="486000" y="482554"/>
            <a:ext cx="8172000" cy="4120946"/>
          </a:xfrm>
        </p:spPr>
        <p:txBody>
          <a:bodyPr/>
          <a:lstStyle/>
          <a:p>
            <a:r>
              <a:rPr lang="zh-CN" altLang="en-US" dirty="0"/>
              <a:t>持续计时器  </a:t>
            </a:r>
            <a:r>
              <a:rPr lang="en-US" altLang="zh-CN" dirty="0"/>
              <a:t>(persistence timer)</a:t>
            </a:r>
            <a:r>
              <a:rPr lang="zh-CN" altLang="en-US" dirty="0"/>
              <a:t>：只要 </a:t>
            </a:r>
            <a:r>
              <a:rPr lang="en-US" altLang="zh-CN" dirty="0"/>
              <a:t>TCP </a:t>
            </a:r>
            <a:r>
              <a:rPr lang="zh-CN" altLang="en-US" dirty="0"/>
              <a:t>连接的一方收到对方的零窗口通知，就启动该持续计时器。</a:t>
            </a:r>
          </a:p>
          <a:p>
            <a:pPr lvl="1"/>
            <a:r>
              <a:rPr lang="zh-CN" altLang="en-US" dirty="0"/>
              <a:t>若持续计时器设置的时间到期，就发送一个零窗口探测报文段（仅携带 </a:t>
            </a:r>
            <a:r>
              <a:rPr lang="en-US" altLang="zh-CN" dirty="0"/>
              <a:t>1 </a:t>
            </a:r>
            <a:r>
              <a:rPr lang="zh-CN" altLang="en-US" dirty="0"/>
              <a:t>字节的数据），对方在确认这个探测报文段时给出当前窗口值。</a:t>
            </a:r>
          </a:p>
          <a:p>
            <a:pPr lvl="1"/>
            <a:r>
              <a:rPr lang="zh-CN" altLang="en-US" dirty="0"/>
              <a:t>若窗口仍然是零，收到这个报文段的一方就重新设置持续计时器。</a:t>
            </a:r>
          </a:p>
          <a:p>
            <a:pPr lvl="1"/>
            <a:r>
              <a:rPr lang="zh-CN" altLang="en-US" dirty="0"/>
              <a:t>若窗口不是零，则死锁的僵局就可以打破了。 </a:t>
            </a:r>
          </a:p>
          <a:p>
            <a:endParaRPr lang="zh-CN" altLang="en-US" dirty="0"/>
          </a:p>
        </p:txBody>
      </p:sp>
      <p:sp>
        <p:nvSpPr>
          <p:cNvPr id="5" name="标题 4">
            <a:extLst>
              <a:ext uri="{FF2B5EF4-FFF2-40B4-BE49-F238E27FC236}">
                <a16:creationId xmlns:a16="http://schemas.microsoft.com/office/drawing/2014/main" id="{E8BB8BC2-7F8B-39C3-D17D-81429D2D9179}"/>
              </a:ext>
            </a:extLst>
          </p:cNvPr>
          <p:cNvSpPr>
            <a:spLocks noGrp="1"/>
          </p:cNvSpPr>
          <p:nvPr>
            <p:ph type="title"/>
          </p:nvPr>
        </p:nvSpPr>
        <p:spPr>
          <a:xfrm>
            <a:off x="2808000" y="144000"/>
            <a:ext cx="3528000" cy="338554"/>
          </a:xfrm>
        </p:spPr>
        <p:txBody>
          <a:bodyPr/>
          <a:lstStyle/>
          <a:p>
            <a:r>
              <a:rPr lang="zh-CN" altLang="en-US" dirty="0"/>
              <a:t>持续计时器</a:t>
            </a:r>
          </a:p>
        </p:txBody>
      </p:sp>
    </p:spTree>
    <p:extLst>
      <p:ext uri="{BB962C8B-B14F-4D97-AF65-F5344CB8AC3E}">
        <p14:creationId xmlns:p14="http://schemas.microsoft.com/office/powerpoint/2010/main" val="303536146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398495" y="3570469"/>
            <a:ext cx="6660776" cy="438582"/>
          </a:xfrm>
          <a:prstGeom prst="rect">
            <a:avLst/>
          </a:prstGeom>
        </p:spPr>
        <p:style>
          <a:lnRef idx="1">
            <a:schemeClr val="accent2"/>
          </a:lnRef>
          <a:fillRef idx="3">
            <a:schemeClr val="accent2"/>
          </a:fillRef>
          <a:effectRef idx="2">
            <a:schemeClr val="accent2"/>
          </a:effectRef>
          <a:fontRef idx="minor">
            <a:schemeClr val="lt1"/>
          </a:fontRef>
        </p:style>
        <p:txBody>
          <a:bodyPr wrap="square">
            <a:spAutoFit/>
          </a:bodyPr>
          <a:lstStyle/>
          <a:p>
            <a:pPr algn="ctr">
              <a:lnSpc>
                <a:spcPts val="2700"/>
              </a:lnSpc>
              <a:buClr>
                <a:srgbClr val="0070C0"/>
              </a:buClr>
            </a:pPr>
            <a:r>
              <a:rPr lang="zh-CN" altLang="en-US" b="1" dirty="0">
                <a:solidFill>
                  <a:schemeClr val="bg1"/>
                </a:solidFill>
                <a:latin typeface="微软雅黑" pitchFamily="34" charset="-122"/>
                <a:ea typeface="微软雅黑" pitchFamily="34" charset="-122"/>
              </a:rPr>
              <a:t>如何控制 </a:t>
            </a:r>
            <a:r>
              <a:rPr lang="en-US" altLang="zh-CN" b="1" dirty="0">
                <a:solidFill>
                  <a:schemeClr val="bg1"/>
                </a:solidFill>
                <a:latin typeface="微软雅黑" pitchFamily="34" charset="-122"/>
                <a:ea typeface="微软雅黑" pitchFamily="34" charset="-122"/>
              </a:rPr>
              <a:t>TCP </a:t>
            </a:r>
            <a:r>
              <a:rPr lang="zh-CN" altLang="en-US" b="1" dirty="0">
                <a:solidFill>
                  <a:schemeClr val="bg1"/>
                </a:solidFill>
                <a:latin typeface="微软雅黑" pitchFamily="34" charset="-122"/>
                <a:ea typeface="微软雅黑" pitchFamily="34" charset="-122"/>
              </a:rPr>
              <a:t>发送报文段的时机仍然是一个较为复杂的问题。</a:t>
            </a:r>
          </a:p>
        </p:txBody>
      </p:sp>
      <p:sp>
        <p:nvSpPr>
          <p:cNvPr id="7" name="内容占位符 6">
            <a:extLst>
              <a:ext uri="{FF2B5EF4-FFF2-40B4-BE49-F238E27FC236}">
                <a16:creationId xmlns:a16="http://schemas.microsoft.com/office/drawing/2014/main" id="{95BF47C6-468D-04DF-CBA4-5D86131B39E1}"/>
              </a:ext>
            </a:extLst>
          </p:cNvPr>
          <p:cNvSpPr>
            <a:spLocks noGrp="1"/>
          </p:cNvSpPr>
          <p:nvPr>
            <p:ph sz="quarter" idx="11"/>
          </p:nvPr>
        </p:nvSpPr>
        <p:spPr>
          <a:xfrm>
            <a:off x="486000" y="482554"/>
            <a:ext cx="8172000" cy="4120946"/>
          </a:xfrm>
        </p:spPr>
        <p:txBody>
          <a:bodyPr/>
          <a:lstStyle/>
          <a:p>
            <a:r>
              <a:rPr lang="zh-CN" altLang="en-US" dirty="0"/>
              <a:t>控制</a:t>
            </a:r>
            <a:r>
              <a:rPr lang="en-US" altLang="zh-CN" dirty="0"/>
              <a:t>TCP</a:t>
            </a:r>
            <a:r>
              <a:rPr lang="zh-CN" altLang="en-US" dirty="0"/>
              <a:t>发送报文段的时机：三种机制</a:t>
            </a:r>
            <a:endParaRPr lang="en-US" altLang="zh-CN" dirty="0"/>
          </a:p>
          <a:p>
            <a:r>
              <a:rPr lang="en-US" altLang="zh-CN" dirty="0"/>
              <a:t>TCP </a:t>
            </a:r>
            <a:r>
              <a:rPr lang="zh-CN" altLang="en-US" dirty="0"/>
              <a:t>维持一个变量，它等于最大报文段长度 </a:t>
            </a:r>
            <a:r>
              <a:rPr lang="en-US" altLang="zh-CN" dirty="0"/>
              <a:t>MSS</a:t>
            </a:r>
            <a:r>
              <a:rPr lang="zh-CN" altLang="en-US" dirty="0"/>
              <a:t>。只要缓存中存放的数据达到 </a:t>
            </a:r>
            <a:r>
              <a:rPr lang="en-US" altLang="zh-CN" dirty="0"/>
              <a:t>MSS </a:t>
            </a:r>
            <a:r>
              <a:rPr lang="zh-CN" altLang="en-US" dirty="0"/>
              <a:t>字节时，就组装成一个 </a:t>
            </a:r>
            <a:r>
              <a:rPr lang="en-US" altLang="zh-CN" dirty="0"/>
              <a:t>TCP </a:t>
            </a:r>
            <a:r>
              <a:rPr lang="zh-CN" altLang="en-US" dirty="0"/>
              <a:t>报文段发送出去。</a:t>
            </a:r>
          </a:p>
          <a:p>
            <a:r>
              <a:rPr lang="zh-CN" altLang="en-US" dirty="0"/>
              <a:t>由发送方的应用进程指明要求发送报文段，即 </a:t>
            </a:r>
            <a:r>
              <a:rPr lang="en-US" altLang="zh-CN" dirty="0"/>
              <a:t>TCP </a:t>
            </a:r>
            <a:r>
              <a:rPr lang="zh-CN" altLang="en-US" dirty="0"/>
              <a:t>支持的推送 </a:t>
            </a:r>
            <a:r>
              <a:rPr lang="en-US" altLang="zh-CN" dirty="0"/>
              <a:t>(push) </a:t>
            </a:r>
            <a:r>
              <a:rPr lang="zh-CN" altLang="en-US" dirty="0"/>
              <a:t>操作。</a:t>
            </a:r>
          </a:p>
          <a:p>
            <a:r>
              <a:rPr lang="zh-CN" altLang="en-US" dirty="0"/>
              <a:t>发送方的一个计时器期限到了，这时就把当前已有的缓存数据装入报文段（但长度不能超过 </a:t>
            </a:r>
            <a:r>
              <a:rPr lang="en-US" altLang="zh-CN" dirty="0"/>
              <a:t>MSS</a:t>
            </a:r>
            <a:r>
              <a:rPr lang="zh-CN" altLang="en-US" dirty="0"/>
              <a:t>）发送出去。</a:t>
            </a:r>
          </a:p>
          <a:p>
            <a:endParaRPr lang="zh-CN" altLang="en-US" dirty="0"/>
          </a:p>
        </p:txBody>
      </p:sp>
      <p:sp>
        <p:nvSpPr>
          <p:cNvPr id="6" name="标题 5">
            <a:extLst>
              <a:ext uri="{FF2B5EF4-FFF2-40B4-BE49-F238E27FC236}">
                <a16:creationId xmlns:a16="http://schemas.microsoft.com/office/drawing/2014/main" id="{4BC46DE5-5A6E-7CF5-7B13-7345FC27FC05}"/>
              </a:ext>
            </a:extLst>
          </p:cNvPr>
          <p:cNvSpPr>
            <a:spLocks noGrp="1"/>
          </p:cNvSpPr>
          <p:nvPr>
            <p:ph type="title"/>
          </p:nvPr>
        </p:nvSpPr>
        <p:spPr>
          <a:xfrm>
            <a:off x="2808000" y="144000"/>
            <a:ext cx="3528000" cy="338554"/>
          </a:xfrm>
        </p:spPr>
        <p:txBody>
          <a:bodyPr/>
          <a:lstStyle/>
          <a:p>
            <a:r>
              <a:rPr lang="en-US" altLang="zh-CN" dirty="0"/>
              <a:t>5.7.2   TCP </a:t>
            </a:r>
            <a:r>
              <a:rPr lang="zh-CN" altLang="en-US" dirty="0"/>
              <a:t>的传输效率</a:t>
            </a:r>
          </a:p>
        </p:txBody>
      </p:sp>
    </p:spTree>
    <p:extLst>
      <p:ext uri="{BB962C8B-B14F-4D97-AF65-F5344CB8AC3E}">
        <p14:creationId xmlns:p14="http://schemas.microsoft.com/office/powerpoint/2010/main" val="212412450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5999256" y="2287616"/>
            <a:ext cx="741178" cy="3396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1</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3" name="矩形 2"/>
          <p:cNvSpPr/>
          <p:nvPr/>
        </p:nvSpPr>
        <p:spPr>
          <a:xfrm>
            <a:off x="6080084" y="2002886"/>
            <a:ext cx="543739" cy="307777"/>
          </a:xfrm>
          <a:prstGeom prst="rect">
            <a:avLst/>
          </a:prstGeom>
        </p:spPr>
        <p:txBody>
          <a:bodyPr wrap="none">
            <a:spAutoFit/>
          </a:bodyPr>
          <a:lstStyle/>
          <a:p>
            <a:pPr algn="ctr"/>
            <a:r>
              <a:rPr lang="zh-CN" altLang="en-US" sz="1400" dirty="0">
                <a:latin typeface="Montserrat" panose="00000500000000000000" pitchFamily="2" charset="0"/>
                <a:ea typeface="微软雅黑 Light" panose="020B0502040204020203" pitchFamily="34" charset="-122"/>
              </a:rPr>
              <a:t>数据</a:t>
            </a:r>
          </a:p>
        </p:txBody>
      </p:sp>
      <p:sp>
        <p:nvSpPr>
          <p:cNvPr id="7" name="矩形 6"/>
          <p:cNvSpPr/>
          <p:nvPr/>
        </p:nvSpPr>
        <p:spPr>
          <a:xfrm>
            <a:off x="5999256" y="2770942"/>
            <a:ext cx="741178" cy="3396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1</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8" name="矩形 7"/>
          <p:cNvSpPr/>
          <p:nvPr/>
        </p:nvSpPr>
        <p:spPr>
          <a:xfrm>
            <a:off x="3591337" y="2770942"/>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20</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9" name="矩形 8"/>
          <p:cNvSpPr/>
          <p:nvPr/>
        </p:nvSpPr>
        <p:spPr>
          <a:xfrm>
            <a:off x="5999256" y="3267330"/>
            <a:ext cx="741178" cy="33963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1</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13" name="矩形 12"/>
          <p:cNvSpPr/>
          <p:nvPr/>
        </p:nvSpPr>
        <p:spPr>
          <a:xfrm>
            <a:off x="3591337" y="3267330"/>
            <a:ext cx="2411325" cy="339634"/>
          </a:xfrm>
          <a:prstGeom prst="rect">
            <a:avLst/>
          </a:prstGeom>
          <a:solidFill>
            <a:srgbClr val="00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20</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14" name="矩形 13"/>
          <p:cNvSpPr/>
          <p:nvPr/>
        </p:nvSpPr>
        <p:spPr>
          <a:xfrm>
            <a:off x="1180012" y="3267330"/>
            <a:ext cx="2411325" cy="339634"/>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Montserrat" panose="00000500000000000000" pitchFamily="2" charset="0"/>
                <a:ea typeface="微软雅黑 Light" panose="020B0502040204020203" pitchFamily="34" charset="-122"/>
              </a:rPr>
              <a:t>20</a:t>
            </a:r>
            <a:r>
              <a:rPr lang="zh-CN" altLang="en-US" sz="1200" dirty="0">
                <a:solidFill>
                  <a:schemeClr val="tx1"/>
                </a:solidFill>
                <a:latin typeface="Montserrat" panose="00000500000000000000" pitchFamily="2" charset="0"/>
                <a:ea typeface="微软雅黑 Light" panose="020B0502040204020203" pitchFamily="34" charset="-122"/>
              </a:rPr>
              <a:t> 字节</a:t>
            </a:r>
          </a:p>
        </p:txBody>
      </p:sp>
      <p:sp>
        <p:nvSpPr>
          <p:cNvPr id="15" name="矩形 14"/>
          <p:cNvSpPr/>
          <p:nvPr/>
        </p:nvSpPr>
        <p:spPr>
          <a:xfrm>
            <a:off x="4057342" y="2473361"/>
            <a:ext cx="1479315" cy="307777"/>
          </a:xfrm>
          <a:prstGeom prst="rect">
            <a:avLst/>
          </a:prstGeom>
        </p:spPr>
        <p:txBody>
          <a:bodyPr wrap="none">
            <a:spAutoFit/>
          </a:bodyPr>
          <a:lstStyle/>
          <a:p>
            <a:pPr algn="ctr"/>
            <a:r>
              <a:rPr lang="en-US" altLang="zh-CN" sz="1400" dirty="0">
                <a:latin typeface="Montserrat" panose="00000500000000000000" pitchFamily="2" charset="0"/>
                <a:ea typeface="微软雅黑 Light" panose="020B0502040204020203" pitchFamily="34" charset="-122"/>
              </a:rPr>
              <a:t>TCP </a:t>
            </a:r>
            <a:r>
              <a:rPr lang="zh-CN" altLang="en-US" sz="1400" dirty="0">
                <a:latin typeface="Montserrat" panose="00000500000000000000" pitchFamily="2" charset="0"/>
                <a:ea typeface="微软雅黑 Light" panose="020B0502040204020203" pitchFamily="34" charset="-122"/>
              </a:rPr>
              <a:t>报文段首部</a:t>
            </a:r>
          </a:p>
        </p:txBody>
      </p:sp>
      <p:sp>
        <p:nvSpPr>
          <p:cNvPr id="16" name="矩形 15"/>
          <p:cNvSpPr/>
          <p:nvPr/>
        </p:nvSpPr>
        <p:spPr>
          <a:xfrm>
            <a:off x="1728284" y="2959553"/>
            <a:ext cx="1314782" cy="307777"/>
          </a:xfrm>
          <a:prstGeom prst="rect">
            <a:avLst/>
          </a:prstGeom>
        </p:spPr>
        <p:txBody>
          <a:bodyPr wrap="none">
            <a:spAutoFit/>
          </a:bodyPr>
          <a:lstStyle/>
          <a:p>
            <a:pPr algn="ctr"/>
            <a:r>
              <a:rPr lang="en-US" altLang="zh-CN" sz="1400" dirty="0">
                <a:latin typeface="Montserrat" panose="00000500000000000000" pitchFamily="2" charset="0"/>
                <a:ea typeface="微软雅黑 Light" panose="020B0502040204020203" pitchFamily="34" charset="-122"/>
              </a:rPr>
              <a:t>IP </a:t>
            </a:r>
            <a:r>
              <a:rPr lang="zh-CN" altLang="en-US" sz="1400" dirty="0">
                <a:latin typeface="Montserrat" panose="00000500000000000000" pitchFamily="2" charset="0"/>
                <a:ea typeface="微软雅黑 Light" panose="020B0502040204020203" pitchFamily="34" charset="-122"/>
              </a:rPr>
              <a:t>数据报首部</a:t>
            </a:r>
          </a:p>
        </p:txBody>
      </p:sp>
      <p:sp>
        <p:nvSpPr>
          <p:cNvPr id="17" name="矩形 16"/>
          <p:cNvSpPr/>
          <p:nvPr/>
        </p:nvSpPr>
        <p:spPr>
          <a:xfrm>
            <a:off x="6758006" y="2786870"/>
            <a:ext cx="1120243" cy="307777"/>
          </a:xfrm>
          <a:prstGeom prst="rect">
            <a:avLst/>
          </a:prstGeom>
        </p:spPr>
        <p:txBody>
          <a:bodyPr wrap="none">
            <a:spAutoFit/>
          </a:bodyPr>
          <a:lstStyle/>
          <a:p>
            <a:pPr algn="ctr"/>
            <a:r>
              <a:rPr lang="en-US" altLang="zh-CN" sz="1400" dirty="0">
                <a:latin typeface="Montserrat" panose="00000500000000000000" pitchFamily="2" charset="0"/>
                <a:ea typeface="微软雅黑 Light" panose="020B0502040204020203" pitchFamily="34" charset="-122"/>
              </a:rPr>
              <a:t>TCP </a:t>
            </a:r>
            <a:r>
              <a:rPr lang="zh-CN" altLang="en-US" sz="1400" dirty="0">
                <a:latin typeface="Montserrat" panose="00000500000000000000" pitchFamily="2" charset="0"/>
                <a:ea typeface="微软雅黑 Light" panose="020B0502040204020203" pitchFamily="34" charset="-122"/>
              </a:rPr>
              <a:t>报文段</a:t>
            </a:r>
          </a:p>
        </p:txBody>
      </p:sp>
      <p:sp>
        <p:nvSpPr>
          <p:cNvPr id="18" name="矩形 17"/>
          <p:cNvSpPr/>
          <p:nvPr/>
        </p:nvSpPr>
        <p:spPr>
          <a:xfrm>
            <a:off x="6758006" y="3296321"/>
            <a:ext cx="955711" cy="307777"/>
          </a:xfrm>
          <a:prstGeom prst="rect">
            <a:avLst/>
          </a:prstGeom>
        </p:spPr>
        <p:txBody>
          <a:bodyPr wrap="none">
            <a:spAutoFit/>
          </a:bodyPr>
          <a:lstStyle/>
          <a:p>
            <a:pPr algn="ctr"/>
            <a:r>
              <a:rPr lang="en-US" altLang="zh-CN" sz="1400" dirty="0">
                <a:latin typeface="Montserrat" panose="00000500000000000000" pitchFamily="2" charset="0"/>
                <a:ea typeface="微软雅黑 Light" panose="020B0502040204020203" pitchFamily="34" charset="-122"/>
              </a:rPr>
              <a:t>IP </a:t>
            </a:r>
            <a:r>
              <a:rPr lang="zh-CN" altLang="en-US" sz="1400" dirty="0">
                <a:latin typeface="Montserrat" panose="00000500000000000000" pitchFamily="2" charset="0"/>
                <a:ea typeface="微软雅黑 Light" panose="020B0502040204020203" pitchFamily="34" charset="-122"/>
              </a:rPr>
              <a:t>数据报</a:t>
            </a:r>
          </a:p>
        </p:txBody>
      </p:sp>
      <p:sp>
        <p:nvSpPr>
          <p:cNvPr id="4" name="矩形 3"/>
          <p:cNvSpPr/>
          <p:nvPr/>
        </p:nvSpPr>
        <p:spPr>
          <a:xfrm>
            <a:off x="2408898" y="3770606"/>
            <a:ext cx="3900427" cy="338554"/>
          </a:xfrm>
          <a:prstGeom prst="rect">
            <a:avLst/>
          </a:prstGeom>
        </p:spPr>
        <p:txBody>
          <a:bodyPr wrap="none">
            <a:spAutoFit/>
          </a:bodyPr>
          <a:lstStyle/>
          <a:p>
            <a:r>
              <a:rPr lang="zh-CN" altLang="en-US" sz="1600" dirty="0">
                <a:latin typeface="Montserrat" panose="00000500000000000000" pitchFamily="2" charset="0"/>
                <a:ea typeface="微软雅黑 Light" panose="020B0502040204020203" pitchFamily="34" charset="-122"/>
              </a:rPr>
              <a:t>此时，有效数据传输效率 </a:t>
            </a:r>
            <a:r>
              <a:rPr lang="en-US" altLang="zh-CN" sz="1600" dirty="0">
                <a:latin typeface="Montserrat" panose="00000500000000000000" pitchFamily="2" charset="0"/>
                <a:ea typeface="微软雅黑 Light" panose="020B0502040204020203" pitchFamily="34" charset="-122"/>
              </a:rPr>
              <a:t>= 1/41 = 2.44%</a:t>
            </a:r>
            <a:endParaRPr lang="zh-CN" altLang="en-US" sz="1600" dirty="0">
              <a:latin typeface="Montserrat" panose="00000500000000000000" pitchFamily="2" charset="0"/>
              <a:ea typeface="微软雅黑 Light" panose="020B0502040204020203" pitchFamily="34" charset="-122"/>
            </a:endParaRPr>
          </a:p>
        </p:txBody>
      </p:sp>
      <p:sp>
        <p:nvSpPr>
          <p:cNvPr id="22" name="内容占位符 21">
            <a:extLst>
              <a:ext uri="{FF2B5EF4-FFF2-40B4-BE49-F238E27FC236}">
                <a16:creationId xmlns:a16="http://schemas.microsoft.com/office/drawing/2014/main" id="{9CD8166D-3013-9090-6451-66F2300880E9}"/>
              </a:ext>
            </a:extLst>
          </p:cNvPr>
          <p:cNvSpPr>
            <a:spLocks noGrp="1"/>
          </p:cNvSpPr>
          <p:nvPr>
            <p:ph sz="quarter" idx="11"/>
          </p:nvPr>
        </p:nvSpPr>
        <p:spPr>
          <a:xfrm>
            <a:off x="486000" y="482554"/>
            <a:ext cx="8172000" cy="4120946"/>
          </a:xfrm>
        </p:spPr>
        <p:txBody>
          <a:bodyPr/>
          <a:lstStyle/>
          <a:p>
            <a:r>
              <a:rPr lang="zh-CN" altLang="en-US" dirty="0"/>
              <a:t>糊涂窗口综合症：每次仅发送一个字节或很少几个字节的数据时，有效数据传输效率变得很低的现象。</a:t>
            </a:r>
          </a:p>
          <a:p>
            <a:endParaRPr lang="zh-CN" altLang="en-US" dirty="0"/>
          </a:p>
        </p:txBody>
      </p:sp>
      <p:sp>
        <p:nvSpPr>
          <p:cNvPr id="21" name="标题 20">
            <a:extLst>
              <a:ext uri="{FF2B5EF4-FFF2-40B4-BE49-F238E27FC236}">
                <a16:creationId xmlns:a16="http://schemas.microsoft.com/office/drawing/2014/main" id="{1574EFF6-A430-A70F-ED93-69F7AEFEF900}"/>
              </a:ext>
            </a:extLst>
          </p:cNvPr>
          <p:cNvSpPr>
            <a:spLocks noGrp="1"/>
          </p:cNvSpPr>
          <p:nvPr>
            <p:ph type="title"/>
          </p:nvPr>
        </p:nvSpPr>
        <p:spPr>
          <a:xfrm>
            <a:off x="2808000" y="144000"/>
            <a:ext cx="3528000" cy="338554"/>
          </a:xfrm>
        </p:spPr>
        <p:txBody>
          <a:bodyPr/>
          <a:lstStyle/>
          <a:p>
            <a:r>
              <a:rPr lang="zh-CN" altLang="en-US" dirty="0"/>
              <a:t>糊涂窗口综合症</a:t>
            </a:r>
          </a:p>
        </p:txBody>
      </p:sp>
    </p:spTree>
    <p:extLst>
      <p:ext uri="{BB962C8B-B14F-4D97-AF65-F5344CB8AC3E}">
        <p14:creationId xmlns:p14="http://schemas.microsoft.com/office/powerpoint/2010/main" val="36110065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内容占位符 30">
            <a:extLst>
              <a:ext uri="{FF2B5EF4-FFF2-40B4-BE49-F238E27FC236}">
                <a16:creationId xmlns:a16="http://schemas.microsoft.com/office/drawing/2014/main" id="{08D016ED-DE8F-9680-1661-F71F154BCFCA}"/>
              </a:ext>
            </a:extLst>
          </p:cNvPr>
          <p:cNvSpPr>
            <a:spLocks noGrp="1"/>
          </p:cNvSpPr>
          <p:nvPr>
            <p:ph sz="quarter" idx="11"/>
          </p:nvPr>
        </p:nvSpPr>
        <p:spPr>
          <a:xfrm>
            <a:off x="486000" y="482554"/>
            <a:ext cx="8172000" cy="4120946"/>
          </a:xfrm>
        </p:spPr>
        <p:txBody>
          <a:bodyPr/>
          <a:lstStyle/>
          <a:p>
            <a:r>
              <a:rPr lang="zh-CN" altLang="en-US" dirty="0"/>
              <a:t>发送方 </a:t>
            </a:r>
            <a:r>
              <a:rPr lang="en-US" altLang="zh-CN" dirty="0"/>
              <a:t>TCP </a:t>
            </a:r>
            <a:r>
              <a:rPr lang="zh-CN" altLang="en-US" dirty="0"/>
              <a:t>每次接收到一字节的数据后就发送。</a:t>
            </a:r>
          </a:p>
          <a:p>
            <a:r>
              <a:rPr lang="zh-CN" altLang="en-US" dirty="0"/>
              <a:t>发送一个字节需要形成 </a:t>
            </a:r>
            <a:r>
              <a:rPr lang="en-US" altLang="zh-CN" dirty="0"/>
              <a:t>41 </a:t>
            </a:r>
            <a:r>
              <a:rPr lang="zh-CN" altLang="en-US" dirty="0"/>
              <a:t>字节长的 </a:t>
            </a:r>
            <a:r>
              <a:rPr lang="en-US" altLang="zh-CN" dirty="0"/>
              <a:t>IP </a:t>
            </a:r>
            <a:r>
              <a:rPr lang="zh-CN" altLang="en-US" dirty="0"/>
              <a:t>数据报。效率很低。</a:t>
            </a:r>
          </a:p>
          <a:p>
            <a:r>
              <a:rPr lang="zh-CN" altLang="en-US" dirty="0"/>
              <a:t>解决方法：使用 </a:t>
            </a:r>
            <a:r>
              <a:rPr lang="en-US" altLang="zh-CN" dirty="0"/>
              <a:t>Nagle </a:t>
            </a:r>
            <a:r>
              <a:rPr lang="zh-CN" altLang="en-US" dirty="0"/>
              <a:t>算法。</a:t>
            </a:r>
          </a:p>
          <a:p>
            <a:endParaRPr lang="zh-CN" altLang="en-US" dirty="0"/>
          </a:p>
        </p:txBody>
      </p:sp>
      <p:grpSp>
        <p:nvGrpSpPr>
          <p:cNvPr id="6" name="组合 5"/>
          <p:cNvGrpSpPr/>
          <p:nvPr/>
        </p:nvGrpSpPr>
        <p:grpSpPr>
          <a:xfrm>
            <a:off x="3452893" y="1432833"/>
            <a:ext cx="4086001" cy="3206707"/>
            <a:chOff x="1442554" y="1491427"/>
            <a:chExt cx="6186146" cy="2522268"/>
          </a:xfrm>
        </p:grpSpPr>
        <p:sp>
          <p:nvSpPr>
            <p:cNvPr id="7" name="矩形 6"/>
            <p:cNvSpPr/>
            <p:nvPr/>
          </p:nvSpPr>
          <p:spPr>
            <a:xfrm>
              <a:off x="1442554" y="1491427"/>
              <a:ext cx="2592001" cy="283161"/>
            </a:xfrm>
            <a:prstGeom prst="rect">
              <a:avLst/>
            </a:prstGeom>
            <a:solidFill>
              <a:srgbClr val="66FF99"/>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ontserrat" panose="00000500000000000000" pitchFamily="2" charset="0"/>
                  <a:ea typeface="微软雅黑 Light" panose="020B0502040204020203" pitchFamily="34" charset="-122"/>
                </a:rPr>
                <a:t>发送第 </a:t>
              </a:r>
              <a:r>
                <a:rPr lang="en-US" altLang="zh-CN" sz="1100" dirty="0">
                  <a:solidFill>
                    <a:schemeClr val="tx1"/>
                  </a:solidFill>
                  <a:latin typeface="Montserrat" panose="00000500000000000000" pitchFamily="2" charset="0"/>
                  <a:ea typeface="微软雅黑 Light" panose="020B0502040204020203" pitchFamily="34" charset="-122"/>
                </a:rPr>
                <a:t>1 </a:t>
              </a:r>
              <a:r>
                <a:rPr lang="zh-CN" altLang="en-US" sz="1100" dirty="0">
                  <a:solidFill>
                    <a:schemeClr val="tx1"/>
                  </a:solidFill>
                  <a:latin typeface="Montserrat" panose="00000500000000000000" pitchFamily="2" charset="0"/>
                  <a:ea typeface="微软雅黑 Light" panose="020B0502040204020203" pitchFamily="34" charset="-122"/>
                </a:rPr>
                <a:t>个数据字节</a:t>
              </a:r>
            </a:p>
          </p:txBody>
        </p:sp>
        <p:sp>
          <p:nvSpPr>
            <p:cNvPr id="8" name="流程图: 决策 7"/>
            <p:cNvSpPr/>
            <p:nvPr/>
          </p:nvSpPr>
          <p:spPr>
            <a:xfrm>
              <a:off x="1442554" y="2063927"/>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bg1"/>
                  </a:solidFill>
                  <a:latin typeface="Montserrat" panose="00000500000000000000" pitchFamily="2" charset="0"/>
                  <a:ea typeface="微软雅黑 Light" panose="020B0502040204020203" pitchFamily="34" charset="-122"/>
                </a:rPr>
                <a:t>收到确认？</a:t>
              </a:r>
            </a:p>
          </p:txBody>
        </p:sp>
        <p:sp>
          <p:nvSpPr>
            <p:cNvPr id="9" name="矩形 8"/>
            <p:cNvSpPr/>
            <p:nvPr/>
          </p:nvSpPr>
          <p:spPr>
            <a:xfrm>
              <a:off x="1442554" y="3446592"/>
              <a:ext cx="2592001" cy="28316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ontserrat" panose="00000500000000000000" pitchFamily="2" charset="0"/>
                  <a:ea typeface="微软雅黑 Light" panose="020B0502040204020203" pitchFamily="34" charset="-122"/>
                </a:rPr>
                <a:t>发送缓存中的所有数据</a:t>
              </a:r>
            </a:p>
          </p:txBody>
        </p:sp>
        <p:sp>
          <p:nvSpPr>
            <p:cNvPr id="13" name="流程图: 决策 12"/>
            <p:cNvSpPr/>
            <p:nvPr/>
          </p:nvSpPr>
          <p:spPr>
            <a:xfrm>
              <a:off x="4532808" y="2063926"/>
              <a:ext cx="2592000" cy="1084219"/>
            </a:xfrm>
            <a:prstGeom prst="flowChartDecision">
              <a:avLst/>
            </a:prstGeom>
            <a:solidFill>
              <a:srgbClr val="0000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r>
                <a:rPr lang="zh-CN" altLang="en-US" sz="900" dirty="0">
                  <a:solidFill>
                    <a:schemeClr val="bg1"/>
                  </a:solidFill>
                  <a:latin typeface="Montserrat" panose="00000500000000000000" pitchFamily="2" charset="0"/>
                  <a:ea typeface="微软雅黑 Light" panose="020B0502040204020203" pitchFamily="34" charset="-122"/>
                </a:rPr>
                <a:t>到达的数据</a:t>
              </a:r>
              <a:endParaRPr lang="en-US" altLang="zh-CN" sz="900" dirty="0">
                <a:solidFill>
                  <a:schemeClr val="bg1"/>
                </a:solidFill>
                <a:latin typeface="Montserrat" panose="00000500000000000000" pitchFamily="2" charset="0"/>
                <a:ea typeface="微软雅黑 Light" panose="020B0502040204020203" pitchFamily="34" charset="-122"/>
              </a:endParaRPr>
            </a:p>
            <a:p>
              <a:pPr algn="ctr"/>
              <a:r>
                <a:rPr lang="zh-CN" altLang="en-US" sz="900" dirty="0">
                  <a:solidFill>
                    <a:schemeClr val="bg1"/>
                  </a:solidFill>
                  <a:latin typeface="Montserrat" panose="00000500000000000000" pitchFamily="2" charset="0"/>
                  <a:ea typeface="微软雅黑 Light" panose="020B0502040204020203" pitchFamily="34" charset="-122"/>
                </a:rPr>
                <a:t>已达到发送窗口一半 或 </a:t>
              </a:r>
              <a:endParaRPr lang="en-US" altLang="zh-CN" sz="900" dirty="0">
                <a:solidFill>
                  <a:schemeClr val="bg1"/>
                </a:solidFill>
                <a:latin typeface="Montserrat" panose="00000500000000000000" pitchFamily="2" charset="0"/>
                <a:ea typeface="微软雅黑 Light" panose="020B0502040204020203" pitchFamily="34" charset="-122"/>
              </a:endParaRPr>
            </a:p>
            <a:p>
              <a:pPr algn="ctr"/>
              <a:r>
                <a:rPr lang="zh-CN" altLang="en-US" sz="900" dirty="0">
                  <a:solidFill>
                    <a:schemeClr val="bg1"/>
                  </a:solidFill>
                  <a:latin typeface="Montserrat" panose="00000500000000000000" pitchFamily="2" charset="0"/>
                  <a:ea typeface="微软雅黑 Light" panose="020B0502040204020203" pitchFamily="34" charset="-122"/>
                </a:rPr>
                <a:t>已达到报文段的最大长度时？</a:t>
              </a:r>
            </a:p>
          </p:txBody>
        </p:sp>
        <p:sp>
          <p:nvSpPr>
            <p:cNvPr id="14" name="矩形 13"/>
            <p:cNvSpPr/>
            <p:nvPr/>
          </p:nvSpPr>
          <p:spPr>
            <a:xfrm>
              <a:off x="4532809" y="3446592"/>
              <a:ext cx="2592001" cy="283162"/>
            </a:xfrm>
            <a:prstGeom prst="rect">
              <a:avLst/>
            </a:prstGeom>
            <a:solidFill>
              <a:srgbClr val="00FFFF"/>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100" dirty="0">
                  <a:solidFill>
                    <a:schemeClr val="tx1"/>
                  </a:solidFill>
                  <a:latin typeface="Montserrat" panose="00000500000000000000" pitchFamily="2" charset="0"/>
                  <a:ea typeface="微软雅黑 Light" panose="020B0502040204020203" pitchFamily="34" charset="-122"/>
                </a:rPr>
                <a:t>立即发送数据</a:t>
              </a:r>
            </a:p>
          </p:txBody>
        </p:sp>
        <p:cxnSp>
          <p:nvCxnSpPr>
            <p:cNvPr id="15" name="直接箭头连接符 14"/>
            <p:cNvCxnSpPr>
              <a:stCxn id="7" idx="2"/>
              <a:endCxn id="8" idx="0"/>
            </p:cNvCxnSpPr>
            <p:nvPr/>
          </p:nvCxnSpPr>
          <p:spPr>
            <a:xfrm>
              <a:off x="2738554" y="1774588"/>
              <a:ext cx="0" cy="289339"/>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8" idx="2"/>
              <a:endCxn id="9" idx="0"/>
            </p:cNvCxnSpPr>
            <p:nvPr/>
          </p:nvCxnSpPr>
          <p:spPr>
            <a:xfrm>
              <a:off x="2738554" y="3148146"/>
              <a:ext cx="0" cy="298446"/>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8" idx="3"/>
              <a:endCxn id="13" idx="1"/>
            </p:cNvCxnSpPr>
            <p:nvPr/>
          </p:nvCxnSpPr>
          <p:spPr>
            <a:xfrm flipV="1">
              <a:off x="4034554" y="2606036"/>
              <a:ext cx="498254"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3" idx="2"/>
              <a:endCxn id="14" idx="0"/>
            </p:cNvCxnSpPr>
            <p:nvPr/>
          </p:nvCxnSpPr>
          <p:spPr>
            <a:xfrm>
              <a:off x="5828809" y="3148145"/>
              <a:ext cx="0" cy="298447"/>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stCxn id="9" idx="2"/>
            </p:cNvCxnSpPr>
            <p:nvPr/>
          </p:nvCxnSpPr>
          <p:spPr>
            <a:xfrm>
              <a:off x="2738554" y="3729754"/>
              <a:ext cx="0" cy="28316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a:stCxn id="14" idx="2"/>
            </p:cNvCxnSpPr>
            <p:nvPr/>
          </p:nvCxnSpPr>
          <p:spPr>
            <a:xfrm flipH="1">
              <a:off x="5828807" y="3729754"/>
              <a:ext cx="2" cy="283162"/>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2744151" y="1887580"/>
              <a:ext cx="4884549" cy="2126115"/>
              <a:chOff x="2744151" y="1952894"/>
              <a:chExt cx="5694455" cy="2257877"/>
            </a:xfrm>
          </p:grpSpPr>
          <p:cxnSp>
            <p:nvCxnSpPr>
              <p:cNvPr id="28" name="直接箭头连接符 27"/>
              <p:cNvCxnSpPr/>
              <p:nvPr/>
            </p:nvCxnSpPr>
            <p:spPr>
              <a:xfrm flipV="1">
                <a:off x="2744151" y="4210770"/>
                <a:ext cx="5681392" cy="1"/>
              </a:xfrm>
              <a:prstGeom prst="straightConnector1">
                <a:avLst/>
              </a:prstGeom>
              <a:ln w="19050">
                <a:solidFill>
                  <a:schemeClr val="tx1"/>
                </a:solidFill>
                <a:prstDash val="soli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H="1" flipV="1">
                <a:off x="2757214" y="1952894"/>
                <a:ext cx="56813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cxnSp>
          <p:nvCxnSpPr>
            <p:cNvPr id="22" name="直接箭头连接符 21"/>
            <p:cNvCxnSpPr/>
            <p:nvPr/>
          </p:nvCxnSpPr>
          <p:spPr>
            <a:xfrm>
              <a:off x="7628700" y="1887580"/>
              <a:ext cx="0" cy="2123712"/>
            </a:xfrm>
            <a:prstGeom prst="straightConnector1">
              <a:avLst/>
            </a:prstGeom>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flipV="1">
              <a:off x="7124808" y="2606037"/>
              <a:ext cx="503892" cy="1"/>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TextBox 44"/>
            <p:cNvSpPr txBox="1"/>
            <p:nvPr/>
          </p:nvSpPr>
          <p:spPr>
            <a:xfrm>
              <a:off x="2381117" y="3103226"/>
              <a:ext cx="383563" cy="400983"/>
            </a:xfrm>
            <a:prstGeom prst="rect">
              <a:avLst/>
            </a:prstGeom>
            <a:noFill/>
          </p:spPr>
          <p:txBody>
            <a:bodyPr wrap="square" rtlCol="0">
              <a:spAutoFit/>
            </a:bodyPr>
            <a:lstStyle/>
            <a:p>
              <a:pPr algn="ctr"/>
              <a:r>
                <a:rPr lang="zh-CN" altLang="en-US" sz="1100" dirty="0">
                  <a:latin typeface="Montserrat" panose="00000500000000000000" pitchFamily="2" charset="0"/>
                  <a:ea typeface="微软雅黑 Light" panose="020B0502040204020203" pitchFamily="34" charset="-122"/>
                </a:rPr>
                <a:t>是</a:t>
              </a:r>
            </a:p>
          </p:txBody>
        </p:sp>
        <p:sp>
          <p:nvSpPr>
            <p:cNvPr id="25" name="TextBox 45"/>
            <p:cNvSpPr txBox="1"/>
            <p:nvPr/>
          </p:nvSpPr>
          <p:spPr>
            <a:xfrm>
              <a:off x="5471371" y="3103227"/>
              <a:ext cx="383563" cy="400983"/>
            </a:xfrm>
            <a:prstGeom prst="rect">
              <a:avLst/>
            </a:prstGeom>
            <a:noFill/>
          </p:spPr>
          <p:txBody>
            <a:bodyPr wrap="square" rtlCol="0">
              <a:spAutoFit/>
            </a:bodyPr>
            <a:lstStyle/>
            <a:p>
              <a:pPr algn="ctr"/>
              <a:r>
                <a:rPr lang="zh-CN" altLang="en-US" sz="1100" dirty="0">
                  <a:latin typeface="Montserrat" panose="00000500000000000000" pitchFamily="2" charset="0"/>
                  <a:ea typeface="微软雅黑 Light" panose="020B0502040204020203" pitchFamily="34" charset="-122"/>
                </a:rPr>
                <a:t>是</a:t>
              </a:r>
            </a:p>
          </p:txBody>
        </p:sp>
        <p:sp>
          <p:nvSpPr>
            <p:cNvPr id="26" name="TextBox 46"/>
            <p:cNvSpPr txBox="1"/>
            <p:nvPr/>
          </p:nvSpPr>
          <p:spPr>
            <a:xfrm>
              <a:off x="4037278" y="2260333"/>
              <a:ext cx="383563" cy="400983"/>
            </a:xfrm>
            <a:prstGeom prst="rect">
              <a:avLst/>
            </a:prstGeom>
            <a:noFill/>
          </p:spPr>
          <p:txBody>
            <a:bodyPr wrap="square" rtlCol="0">
              <a:spAutoFit/>
            </a:bodyPr>
            <a:lstStyle/>
            <a:p>
              <a:pPr algn="ctr"/>
              <a:r>
                <a:rPr lang="zh-CN" altLang="en-US" sz="1100" dirty="0">
                  <a:latin typeface="Montserrat" panose="00000500000000000000" pitchFamily="2" charset="0"/>
                  <a:ea typeface="微软雅黑 Light" panose="020B0502040204020203" pitchFamily="34" charset="-122"/>
                </a:rPr>
                <a:t>否</a:t>
              </a:r>
            </a:p>
          </p:txBody>
        </p:sp>
        <p:sp>
          <p:nvSpPr>
            <p:cNvPr id="27" name="TextBox 47"/>
            <p:cNvSpPr txBox="1"/>
            <p:nvPr/>
          </p:nvSpPr>
          <p:spPr>
            <a:xfrm>
              <a:off x="7150933" y="2260333"/>
              <a:ext cx="383563" cy="400983"/>
            </a:xfrm>
            <a:prstGeom prst="rect">
              <a:avLst/>
            </a:prstGeom>
            <a:noFill/>
          </p:spPr>
          <p:txBody>
            <a:bodyPr wrap="square" rtlCol="0">
              <a:spAutoFit/>
            </a:bodyPr>
            <a:lstStyle/>
            <a:p>
              <a:pPr algn="ctr"/>
              <a:r>
                <a:rPr lang="zh-CN" altLang="en-US" sz="1100" dirty="0">
                  <a:latin typeface="Montserrat" panose="00000500000000000000" pitchFamily="2" charset="0"/>
                  <a:ea typeface="微软雅黑 Light" panose="020B0502040204020203" pitchFamily="34" charset="-122"/>
                </a:rPr>
                <a:t>否</a:t>
              </a:r>
            </a:p>
          </p:txBody>
        </p:sp>
      </p:grpSp>
      <p:sp>
        <p:nvSpPr>
          <p:cNvPr id="30" name="标题 29">
            <a:extLst>
              <a:ext uri="{FF2B5EF4-FFF2-40B4-BE49-F238E27FC236}">
                <a16:creationId xmlns:a16="http://schemas.microsoft.com/office/drawing/2014/main" id="{39EF4EF3-C1BA-5D92-EABA-FA24FAACDE51}"/>
              </a:ext>
            </a:extLst>
          </p:cNvPr>
          <p:cNvSpPr>
            <a:spLocks noGrp="1"/>
          </p:cNvSpPr>
          <p:nvPr>
            <p:ph type="title"/>
          </p:nvPr>
        </p:nvSpPr>
        <p:spPr>
          <a:xfrm>
            <a:off x="2808000" y="144000"/>
            <a:ext cx="3528000" cy="338554"/>
          </a:xfrm>
        </p:spPr>
        <p:txBody>
          <a:bodyPr/>
          <a:lstStyle/>
          <a:p>
            <a:r>
              <a:rPr lang="zh-CN" altLang="en-US" dirty="0"/>
              <a:t>发送方糊涂窗口综合症</a:t>
            </a:r>
          </a:p>
        </p:txBody>
      </p:sp>
    </p:spTree>
    <p:extLst>
      <p:ext uri="{BB962C8B-B14F-4D97-AF65-F5344CB8AC3E}">
        <p14:creationId xmlns:p14="http://schemas.microsoft.com/office/powerpoint/2010/main" val="33248241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Line 4"/>
          <p:cNvSpPr>
            <a:spLocks noChangeShapeType="1"/>
          </p:cNvSpPr>
          <p:nvPr/>
        </p:nvSpPr>
        <p:spPr bwMode="auto">
          <a:xfrm>
            <a:off x="4175828"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grpSp>
        <p:nvGrpSpPr>
          <p:cNvPr id="2" name="组合 1"/>
          <p:cNvGrpSpPr/>
          <p:nvPr/>
        </p:nvGrpSpPr>
        <p:grpSpPr>
          <a:xfrm>
            <a:off x="1695644" y="2658984"/>
            <a:ext cx="2480184" cy="243656"/>
            <a:chOff x="1695644" y="2200317"/>
            <a:chExt cx="2480184" cy="243656"/>
          </a:xfrm>
        </p:grpSpPr>
        <p:sp>
          <p:nvSpPr>
            <p:cNvPr id="12"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13"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601, DATA</a:t>
              </a:r>
            </a:p>
          </p:txBody>
        </p:sp>
      </p:grpSp>
      <p:grpSp>
        <p:nvGrpSpPr>
          <p:cNvPr id="46" name="组合 45"/>
          <p:cNvGrpSpPr/>
          <p:nvPr/>
        </p:nvGrpSpPr>
        <p:grpSpPr>
          <a:xfrm>
            <a:off x="1685307" y="1806415"/>
            <a:ext cx="2490520" cy="243656"/>
            <a:chOff x="1685307" y="3878203"/>
            <a:chExt cx="2490520" cy="243656"/>
          </a:xfrm>
        </p:grpSpPr>
        <p:sp>
          <p:nvSpPr>
            <p:cNvPr id="28"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29"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0</a:t>
              </a:r>
            </a:p>
          </p:txBody>
        </p:sp>
      </p:grpSp>
      <p:sp>
        <p:nvSpPr>
          <p:cNvPr id="32" name="Rectangle 25"/>
          <p:cNvSpPr>
            <a:spLocks noChangeArrowheads="1"/>
          </p:cNvSpPr>
          <p:nvPr/>
        </p:nvSpPr>
        <p:spPr bwMode="auto">
          <a:xfrm>
            <a:off x="1579145" y="1662980"/>
            <a:ext cx="28854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A</a:t>
            </a:r>
          </a:p>
        </p:txBody>
      </p:sp>
      <p:sp>
        <p:nvSpPr>
          <p:cNvPr id="33" name="Rectangle 26"/>
          <p:cNvSpPr>
            <a:spLocks noChangeArrowheads="1"/>
          </p:cNvSpPr>
          <p:nvPr/>
        </p:nvSpPr>
        <p:spPr bwMode="auto">
          <a:xfrm>
            <a:off x="4064966" y="1662980"/>
            <a:ext cx="278924"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solidFill>
                  <a:srgbClr val="0033CC"/>
                </a:solidFill>
                <a:latin typeface="微软雅黑" pitchFamily="34" charset="-122"/>
                <a:ea typeface="微软雅黑" pitchFamily="34" charset="-122"/>
              </a:rPr>
              <a:t>B</a:t>
            </a:r>
          </a:p>
        </p:txBody>
      </p:sp>
      <p:sp>
        <p:nvSpPr>
          <p:cNvPr id="34" name="Rectangle 27"/>
          <p:cNvSpPr>
            <a:spLocks noChangeArrowheads="1"/>
          </p:cNvSpPr>
          <p:nvPr/>
        </p:nvSpPr>
        <p:spPr bwMode="auto">
          <a:xfrm>
            <a:off x="4235218" y="24322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sp>
        <p:nvSpPr>
          <p:cNvPr id="42" name="Rectangle 35"/>
          <p:cNvSpPr>
            <a:spLocks noChangeArrowheads="1"/>
          </p:cNvSpPr>
          <p:nvPr/>
        </p:nvSpPr>
        <p:spPr bwMode="auto">
          <a:xfrm>
            <a:off x="4235218" y="1896713"/>
            <a:ext cx="3536225"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不允许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再发送（到序号 </a:t>
            </a:r>
            <a:r>
              <a:rPr kumimoji="1" lang="en-US" altLang="zh-CN" sz="1100" b="1" dirty="0">
                <a:latin typeface="微软雅黑" pitchFamily="34" charset="-122"/>
                <a:ea typeface="微软雅黑" pitchFamily="34" charset="-122"/>
              </a:rPr>
              <a:t>600 </a:t>
            </a:r>
            <a:r>
              <a:rPr kumimoji="1" lang="zh-CN" altLang="en-US" sz="1100" b="1" dirty="0">
                <a:latin typeface="微软雅黑" pitchFamily="34" charset="-122"/>
                <a:ea typeface="微软雅黑" pitchFamily="34" charset="-122"/>
              </a:rPr>
              <a:t>为止的数据都收到了）</a:t>
            </a:r>
          </a:p>
        </p:txBody>
      </p:sp>
      <p:sp>
        <p:nvSpPr>
          <p:cNvPr id="45" name="Line 38"/>
          <p:cNvSpPr>
            <a:spLocks noChangeShapeType="1"/>
          </p:cNvSpPr>
          <p:nvPr/>
        </p:nvSpPr>
        <p:spPr bwMode="auto">
          <a:xfrm>
            <a:off x="1676853" y="1861577"/>
            <a:ext cx="0" cy="2257416"/>
          </a:xfrm>
          <a:prstGeom prst="line">
            <a:avLst/>
          </a:prstGeom>
          <a:noFill/>
          <a:ln w="19050">
            <a:solidFill>
              <a:srgbClr val="0033CC"/>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100" b="1">
              <a:latin typeface="微软雅黑" pitchFamily="34" charset="-122"/>
              <a:ea typeface="微软雅黑" pitchFamily="34" charset="-122"/>
            </a:endParaRPr>
          </a:p>
        </p:txBody>
      </p:sp>
      <p:sp>
        <p:nvSpPr>
          <p:cNvPr id="47" name="Rectangle 35"/>
          <p:cNvSpPr>
            <a:spLocks noChangeArrowheads="1"/>
          </p:cNvSpPr>
          <p:nvPr/>
        </p:nvSpPr>
        <p:spPr bwMode="auto">
          <a:xfrm>
            <a:off x="4235218" y="2155758"/>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48" name="组合 47"/>
          <p:cNvGrpSpPr/>
          <p:nvPr/>
        </p:nvGrpSpPr>
        <p:grpSpPr>
          <a:xfrm>
            <a:off x="1685307" y="2358588"/>
            <a:ext cx="2490520" cy="243656"/>
            <a:chOff x="1685307" y="3878203"/>
            <a:chExt cx="2490520" cy="243656"/>
          </a:xfrm>
        </p:grpSpPr>
        <p:sp>
          <p:nvSpPr>
            <p:cNvPr id="49"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50"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601,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52" name="Rectangle 29"/>
          <p:cNvSpPr>
            <a:spLocks noChangeArrowheads="1"/>
          </p:cNvSpPr>
          <p:nvPr/>
        </p:nvSpPr>
        <p:spPr bwMode="auto">
          <a:xfrm>
            <a:off x="4235218" y="27409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601 </a:t>
            </a:r>
            <a:r>
              <a:rPr kumimoji="1" lang="zh-CN" altLang="en-US" sz="1100" b="1" dirty="0">
                <a:latin typeface="微软雅黑" pitchFamily="34" charset="-122"/>
                <a:ea typeface="微软雅黑" pitchFamily="34" charset="-122"/>
              </a:rPr>
              <a:t>字节，不能再发送了</a:t>
            </a:r>
          </a:p>
        </p:txBody>
      </p:sp>
      <p:sp>
        <p:nvSpPr>
          <p:cNvPr id="67" name="Rectangle 35"/>
          <p:cNvSpPr>
            <a:spLocks noChangeArrowheads="1"/>
          </p:cNvSpPr>
          <p:nvPr/>
        </p:nvSpPr>
        <p:spPr bwMode="auto">
          <a:xfrm>
            <a:off x="4235218" y="3046209"/>
            <a:ext cx="306975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solidFill>
                  <a:srgbClr val="CC00CC"/>
                </a:solidFill>
                <a:latin typeface="微软雅黑" pitchFamily="34" charset="-122"/>
                <a:ea typeface="微软雅黑" pitchFamily="34" charset="-122"/>
              </a:rPr>
              <a:t>应用进程读取 </a:t>
            </a:r>
            <a:r>
              <a:rPr kumimoji="1" lang="en-US" altLang="zh-CN" sz="1100" b="1" dirty="0">
                <a:solidFill>
                  <a:srgbClr val="CC00CC"/>
                </a:solidFill>
                <a:latin typeface="微软雅黑" pitchFamily="34" charset="-122"/>
                <a:ea typeface="微软雅黑" pitchFamily="34" charset="-122"/>
              </a:rPr>
              <a:t>1 </a:t>
            </a:r>
            <a:r>
              <a:rPr kumimoji="1" lang="zh-CN" altLang="en-US" sz="1100" b="1" dirty="0">
                <a:solidFill>
                  <a:srgbClr val="CC00CC"/>
                </a:solidFill>
                <a:latin typeface="微软雅黑" pitchFamily="34" charset="-122"/>
                <a:ea typeface="微软雅黑" pitchFamily="34" charset="-122"/>
              </a:rPr>
              <a:t>字节。接收缓存大小 </a:t>
            </a:r>
            <a:r>
              <a:rPr kumimoji="1" lang="en-US" altLang="zh-CN" sz="1100" b="1" dirty="0">
                <a:solidFill>
                  <a:srgbClr val="CC00CC"/>
                </a:solidFill>
                <a:latin typeface="微软雅黑" pitchFamily="34" charset="-122"/>
                <a:ea typeface="微软雅黑" pitchFamily="34" charset="-122"/>
              </a:rPr>
              <a:t>= 1</a:t>
            </a:r>
            <a:r>
              <a:rPr kumimoji="1" lang="zh-CN" altLang="en-US" sz="1100" b="1" dirty="0">
                <a:solidFill>
                  <a:srgbClr val="CC00CC"/>
                </a:solidFill>
                <a:latin typeface="微软雅黑" pitchFamily="34" charset="-122"/>
                <a:ea typeface="微软雅黑" pitchFamily="34" charset="-122"/>
              </a:rPr>
              <a:t> 字节</a:t>
            </a:r>
          </a:p>
        </p:txBody>
      </p:sp>
      <p:grpSp>
        <p:nvGrpSpPr>
          <p:cNvPr id="68" name="组合 67"/>
          <p:cNvGrpSpPr/>
          <p:nvPr/>
        </p:nvGrpSpPr>
        <p:grpSpPr>
          <a:xfrm>
            <a:off x="1695644" y="3563784"/>
            <a:ext cx="2480184" cy="243656"/>
            <a:chOff x="1695644" y="2200317"/>
            <a:chExt cx="2480184" cy="243656"/>
          </a:xfrm>
        </p:grpSpPr>
        <p:sp>
          <p:nvSpPr>
            <p:cNvPr id="69" name="Line 5"/>
            <p:cNvSpPr>
              <a:spLocks noChangeShapeType="1"/>
            </p:cNvSpPr>
            <p:nvPr/>
          </p:nvSpPr>
          <p:spPr bwMode="auto">
            <a:xfrm>
              <a:off x="1695644" y="2434886"/>
              <a:ext cx="2480184" cy="0"/>
            </a:xfrm>
            <a:prstGeom prst="line">
              <a:avLst/>
            </a:prstGeom>
            <a:noFill/>
            <a:ln w="28575">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0" name="Rectangle 6"/>
            <p:cNvSpPr>
              <a:spLocks noChangeArrowheads="1"/>
            </p:cNvSpPr>
            <p:nvPr/>
          </p:nvSpPr>
          <p:spPr bwMode="auto">
            <a:xfrm>
              <a:off x="2383539" y="2200317"/>
              <a:ext cx="1264771"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err="1">
                  <a:latin typeface="微软雅黑" pitchFamily="34" charset="-122"/>
                  <a:ea typeface="微软雅黑" pitchFamily="34" charset="-122"/>
                </a:rPr>
                <a:t>seq</a:t>
              </a:r>
              <a:r>
                <a:rPr kumimoji="1" lang="en-US" altLang="zh-CN" sz="1000" b="1" dirty="0">
                  <a:latin typeface="微软雅黑" pitchFamily="34" charset="-122"/>
                  <a:ea typeface="微软雅黑" pitchFamily="34" charset="-122"/>
                </a:rPr>
                <a:t> = 602, DATA</a:t>
              </a:r>
            </a:p>
          </p:txBody>
        </p:sp>
      </p:grpSp>
      <p:sp>
        <p:nvSpPr>
          <p:cNvPr id="71" name="Rectangle 27"/>
          <p:cNvSpPr>
            <a:spLocks noChangeArrowheads="1"/>
          </p:cNvSpPr>
          <p:nvPr/>
        </p:nvSpPr>
        <p:spPr bwMode="auto">
          <a:xfrm>
            <a:off x="4235218" y="3337013"/>
            <a:ext cx="2680222"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1100" b="1" dirty="0">
                <a:latin typeface="微软雅黑" pitchFamily="34" charset="-122"/>
                <a:ea typeface="微软雅黑" pitchFamily="34" charset="-122"/>
              </a:rPr>
              <a:t>允许 </a:t>
            </a:r>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共 </a:t>
            </a:r>
            <a:r>
              <a:rPr kumimoji="1" lang="en-US" altLang="zh-CN" sz="1100" b="1" dirty="0">
                <a:latin typeface="微软雅黑" pitchFamily="34" charset="-122"/>
                <a:ea typeface="微软雅黑" pitchFamily="34" charset="-122"/>
              </a:rPr>
              <a:t>1 </a:t>
            </a:r>
            <a:r>
              <a:rPr kumimoji="1" lang="zh-CN" altLang="en-US" sz="1100" b="1" dirty="0">
                <a:latin typeface="微软雅黑" pitchFamily="34" charset="-122"/>
                <a:ea typeface="微软雅黑" pitchFamily="34" charset="-122"/>
              </a:rPr>
              <a:t>字节</a:t>
            </a:r>
          </a:p>
        </p:txBody>
      </p:sp>
      <p:grpSp>
        <p:nvGrpSpPr>
          <p:cNvPr id="72" name="组合 71"/>
          <p:cNvGrpSpPr/>
          <p:nvPr/>
        </p:nvGrpSpPr>
        <p:grpSpPr>
          <a:xfrm>
            <a:off x="1685307" y="3263388"/>
            <a:ext cx="2490520" cy="243656"/>
            <a:chOff x="1685307" y="3878203"/>
            <a:chExt cx="2490520" cy="243656"/>
          </a:xfrm>
        </p:grpSpPr>
        <p:sp>
          <p:nvSpPr>
            <p:cNvPr id="73" name="Line 21"/>
            <p:cNvSpPr>
              <a:spLocks noChangeShapeType="1"/>
            </p:cNvSpPr>
            <p:nvPr/>
          </p:nvSpPr>
          <p:spPr bwMode="auto">
            <a:xfrm flipH="1">
              <a:off x="1685307" y="4112773"/>
              <a:ext cx="2490520"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100" b="1">
                <a:latin typeface="微软雅黑" pitchFamily="34" charset="-122"/>
                <a:ea typeface="微软雅黑" pitchFamily="34" charset="-122"/>
              </a:endParaRPr>
            </a:p>
          </p:txBody>
        </p:sp>
        <p:sp>
          <p:nvSpPr>
            <p:cNvPr id="74" name="Rectangle 22"/>
            <p:cNvSpPr>
              <a:spLocks noChangeArrowheads="1"/>
            </p:cNvSpPr>
            <p:nvPr/>
          </p:nvSpPr>
          <p:spPr bwMode="auto">
            <a:xfrm flipH="1">
              <a:off x="1902638" y="3878203"/>
              <a:ext cx="2069478"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000" b="1" dirty="0">
                  <a:latin typeface="微软雅黑" pitchFamily="34" charset="-122"/>
                  <a:ea typeface="微软雅黑" pitchFamily="34" charset="-122"/>
                </a:rPr>
                <a:t>ACK = 1, </a:t>
              </a:r>
              <a:r>
                <a:rPr kumimoji="1" lang="en-US" altLang="zh-CN" sz="1000" b="1" dirty="0" err="1">
                  <a:latin typeface="微软雅黑" pitchFamily="34" charset="-122"/>
                  <a:ea typeface="微软雅黑" pitchFamily="34" charset="-122"/>
                </a:rPr>
                <a:t>ack</a:t>
              </a:r>
              <a:r>
                <a:rPr kumimoji="1" lang="en-US" altLang="zh-CN" sz="1000" b="1" dirty="0">
                  <a:latin typeface="微软雅黑" pitchFamily="34" charset="-122"/>
                  <a:ea typeface="微软雅黑" pitchFamily="34" charset="-122"/>
                </a:rPr>
                <a:t> = 602, </a:t>
              </a:r>
              <a:r>
                <a:rPr kumimoji="1" lang="en-US" altLang="zh-CN" sz="1000" b="1" dirty="0" err="1">
                  <a:solidFill>
                    <a:srgbClr val="CC00CC"/>
                  </a:solidFill>
                  <a:latin typeface="微软雅黑" pitchFamily="34" charset="-122"/>
                  <a:ea typeface="微软雅黑" pitchFamily="34" charset="-122"/>
                </a:rPr>
                <a:t>rwnd</a:t>
              </a:r>
              <a:r>
                <a:rPr kumimoji="1" lang="en-US" altLang="zh-CN" sz="1000" b="1" dirty="0">
                  <a:solidFill>
                    <a:srgbClr val="CC00CC"/>
                  </a:solidFill>
                  <a:latin typeface="微软雅黑" pitchFamily="34" charset="-122"/>
                  <a:ea typeface="微软雅黑" pitchFamily="34" charset="-122"/>
                </a:rPr>
                <a:t> = 1</a:t>
              </a:r>
            </a:p>
          </p:txBody>
        </p:sp>
      </p:grpSp>
      <p:sp>
        <p:nvSpPr>
          <p:cNvPr id="75" name="Rectangle 29"/>
          <p:cNvSpPr>
            <a:spLocks noChangeArrowheads="1"/>
          </p:cNvSpPr>
          <p:nvPr/>
        </p:nvSpPr>
        <p:spPr bwMode="auto">
          <a:xfrm>
            <a:off x="4235218" y="3645708"/>
            <a:ext cx="3132269" cy="259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1100" b="1" dirty="0">
                <a:latin typeface="微软雅黑" pitchFamily="34" charset="-122"/>
                <a:ea typeface="微软雅黑" pitchFamily="34" charset="-122"/>
              </a:rPr>
              <a:t>A </a:t>
            </a:r>
            <a:r>
              <a:rPr kumimoji="1" lang="zh-CN" altLang="en-US" sz="1100" b="1" dirty="0">
                <a:latin typeface="微软雅黑" pitchFamily="34" charset="-122"/>
                <a:ea typeface="微软雅黑" pitchFamily="34" charset="-122"/>
              </a:rPr>
              <a:t>发送了序号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至 </a:t>
            </a:r>
            <a:r>
              <a:rPr kumimoji="1" lang="en-US" altLang="zh-CN" sz="1100" b="1" dirty="0">
                <a:latin typeface="微软雅黑" pitchFamily="34" charset="-122"/>
                <a:ea typeface="微软雅黑" pitchFamily="34" charset="-122"/>
              </a:rPr>
              <a:t>602 </a:t>
            </a:r>
            <a:r>
              <a:rPr kumimoji="1" lang="zh-CN" altLang="en-US" sz="1100" b="1" dirty="0">
                <a:latin typeface="微软雅黑" pitchFamily="34" charset="-122"/>
                <a:ea typeface="微软雅黑" pitchFamily="34" charset="-122"/>
              </a:rPr>
              <a:t>字节，不能再发送了</a:t>
            </a:r>
          </a:p>
        </p:txBody>
      </p:sp>
      <p:sp>
        <p:nvSpPr>
          <p:cNvPr id="4" name="内容占位符 3">
            <a:extLst>
              <a:ext uri="{FF2B5EF4-FFF2-40B4-BE49-F238E27FC236}">
                <a16:creationId xmlns:a16="http://schemas.microsoft.com/office/drawing/2014/main" id="{0A1F291F-8833-84C8-A1C6-3EA2DFED59F0}"/>
              </a:ext>
            </a:extLst>
          </p:cNvPr>
          <p:cNvSpPr>
            <a:spLocks noGrp="1"/>
          </p:cNvSpPr>
          <p:nvPr>
            <p:ph sz="quarter" idx="11"/>
          </p:nvPr>
        </p:nvSpPr>
        <p:spPr>
          <a:xfrm>
            <a:off x="486000" y="482554"/>
            <a:ext cx="8172000" cy="4120946"/>
          </a:xfrm>
        </p:spPr>
        <p:txBody>
          <a:bodyPr/>
          <a:lstStyle/>
          <a:p>
            <a:r>
              <a:rPr lang="zh-CN" altLang="en-US" dirty="0"/>
              <a:t>原因：接收方应用进程消耗数据太慢，例如：每次只读取一个字节。</a:t>
            </a:r>
          </a:p>
          <a:p>
            <a:endParaRPr lang="zh-CN" altLang="en-US" dirty="0"/>
          </a:p>
        </p:txBody>
      </p:sp>
      <p:sp>
        <p:nvSpPr>
          <p:cNvPr id="10" name="标题 9">
            <a:extLst>
              <a:ext uri="{FF2B5EF4-FFF2-40B4-BE49-F238E27FC236}">
                <a16:creationId xmlns:a16="http://schemas.microsoft.com/office/drawing/2014/main" id="{93BEBC3B-D019-71F9-178C-1B29F5316DA7}"/>
              </a:ext>
            </a:extLst>
          </p:cNvPr>
          <p:cNvSpPr>
            <a:spLocks noGrp="1"/>
          </p:cNvSpPr>
          <p:nvPr>
            <p:ph type="title"/>
          </p:nvPr>
        </p:nvSpPr>
        <p:spPr>
          <a:xfrm>
            <a:off x="2808000" y="144000"/>
            <a:ext cx="3528000" cy="338554"/>
          </a:xfrm>
        </p:spPr>
        <p:txBody>
          <a:bodyPr/>
          <a:lstStyle/>
          <a:p>
            <a:r>
              <a:rPr lang="zh-CN" altLang="en-US" dirty="0"/>
              <a:t>接收方糊涂窗口综合症</a:t>
            </a:r>
          </a:p>
        </p:txBody>
      </p:sp>
    </p:spTree>
    <p:extLst>
      <p:ext uri="{BB962C8B-B14F-4D97-AF65-F5344CB8AC3E}">
        <p14:creationId xmlns:p14="http://schemas.microsoft.com/office/powerpoint/2010/main" val="15883723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2000"/>
                                        <p:tgtEl>
                                          <p:spTgt spid="46"/>
                                        </p:tgtEl>
                                      </p:cBhvr>
                                    </p:animEffect>
                                  </p:childTnLst>
                                </p:cTn>
                              </p:par>
                            </p:childTnLst>
                          </p:cTn>
                        </p:par>
                        <p:par>
                          <p:cTn id="8" fill="hold">
                            <p:stCondLst>
                              <p:cond delay="2000"/>
                            </p:stCondLst>
                            <p:childTnLst>
                              <p:par>
                                <p:cTn id="9" presetID="22" presetClass="entr" presetSubtype="1" fill="hold" grpId="0"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up)">
                                      <p:cBhvr>
                                        <p:cTn id="11" dur="1000"/>
                                        <p:tgtEl>
                                          <p:spTgt spid="42"/>
                                        </p:tgtEl>
                                      </p:cBhvr>
                                    </p:animEffect>
                                  </p:childTnLst>
                                </p:cTn>
                              </p:par>
                            </p:childTnLst>
                          </p:cTn>
                        </p:par>
                        <p:par>
                          <p:cTn id="12" fill="hold">
                            <p:stCondLst>
                              <p:cond delay="3000"/>
                            </p:stCondLst>
                            <p:childTnLst>
                              <p:par>
                                <p:cTn id="13" presetID="1" presetClass="entr" presetSubtype="0" fill="hold" grpId="0" nodeType="after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35" presetClass="emph" presetSubtype="0" repeatCount="3000" fill="hold" grpId="1" nodeType="withEffect">
                                  <p:stCondLst>
                                    <p:cond delay="0"/>
                                  </p:stCondLst>
                                  <p:childTnLst>
                                    <p:anim calcmode="discrete" valueType="str">
                                      <p:cBhvr>
                                        <p:cTn id="16" dur="1000" fill="hold"/>
                                        <p:tgtEl>
                                          <p:spTgt spid="47"/>
                                        </p:tgtEl>
                                        <p:attrNameLst>
                                          <p:attrName>style.visibility</p:attrName>
                                        </p:attrNameLst>
                                      </p:cBhvr>
                                      <p:tavLst>
                                        <p:tav tm="0">
                                          <p:val>
                                            <p:strVal val="hidden"/>
                                          </p:val>
                                        </p:tav>
                                        <p:tav tm="50000">
                                          <p:val>
                                            <p:strVal val="visible"/>
                                          </p:val>
                                        </p:tav>
                                      </p:tavLst>
                                    </p:anim>
                                  </p:childTnLst>
                                </p:cTn>
                              </p:par>
                            </p:childTnLst>
                          </p:cTn>
                        </p:par>
                        <p:par>
                          <p:cTn id="17" fill="hold">
                            <p:stCondLst>
                              <p:cond delay="6000"/>
                            </p:stCondLst>
                            <p:childTnLst>
                              <p:par>
                                <p:cTn id="18" presetID="22" presetClass="entr" presetSubtype="2" fill="hold" nodeType="afterEffect">
                                  <p:stCondLst>
                                    <p:cond delay="0"/>
                                  </p:stCondLst>
                                  <p:childTnLst>
                                    <p:set>
                                      <p:cBhvr>
                                        <p:cTn id="19" dur="1" fill="hold">
                                          <p:stCondLst>
                                            <p:cond delay="0"/>
                                          </p:stCondLst>
                                        </p:cTn>
                                        <p:tgtEl>
                                          <p:spTgt spid="48"/>
                                        </p:tgtEl>
                                        <p:attrNameLst>
                                          <p:attrName>style.visibility</p:attrName>
                                        </p:attrNameLst>
                                      </p:cBhvr>
                                      <p:to>
                                        <p:strVal val="visible"/>
                                      </p:to>
                                    </p:set>
                                    <p:animEffect transition="in" filter="wipe(right)">
                                      <p:cBhvr>
                                        <p:cTn id="20" dur="2000"/>
                                        <p:tgtEl>
                                          <p:spTgt spid="48"/>
                                        </p:tgtEl>
                                      </p:cBhvr>
                                    </p:animEffect>
                                  </p:childTnLst>
                                </p:cTn>
                              </p:par>
                            </p:childTnLst>
                          </p:cTn>
                        </p:par>
                        <p:par>
                          <p:cTn id="21" fill="hold">
                            <p:stCondLst>
                              <p:cond delay="8000"/>
                            </p:stCondLst>
                            <p:childTnLst>
                              <p:par>
                                <p:cTn id="22" presetID="22" presetClass="entr" presetSubtype="1"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wipe(up)">
                                      <p:cBhvr>
                                        <p:cTn id="24" dur="2000"/>
                                        <p:tgtEl>
                                          <p:spTgt spid="34"/>
                                        </p:tgtEl>
                                      </p:cBhvr>
                                    </p:animEffect>
                                  </p:childTnLst>
                                </p:cTn>
                              </p:par>
                            </p:childTnLst>
                          </p:cTn>
                        </p:par>
                        <p:par>
                          <p:cTn id="25" fill="hold">
                            <p:stCondLst>
                              <p:cond delay="10000"/>
                            </p:stCondLst>
                            <p:childTnLst>
                              <p:par>
                                <p:cTn id="26" presetID="22" presetClass="entr" presetSubtype="8"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wipe(left)">
                                      <p:cBhvr>
                                        <p:cTn id="28" dur="2000"/>
                                        <p:tgtEl>
                                          <p:spTgt spid="2"/>
                                        </p:tgtEl>
                                      </p:cBhvr>
                                    </p:animEffect>
                                  </p:childTnLst>
                                </p:cTn>
                              </p:par>
                            </p:childTnLst>
                          </p:cTn>
                        </p:par>
                        <p:par>
                          <p:cTn id="29" fill="hold">
                            <p:stCondLst>
                              <p:cond delay="12000"/>
                            </p:stCondLst>
                            <p:childTnLst>
                              <p:par>
                                <p:cTn id="30" presetID="22" presetClass="entr" presetSubtype="8" fill="hold" grpId="0" nodeType="afterEffect">
                                  <p:stCondLst>
                                    <p:cond delay="0"/>
                                  </p:stCondLst>
                                  <p:childTnLst>
                                    <p:set>
                                      <p:cBhvr>
                                        <p:cTn id="31" dur="1" fill="hold">
                                          <p:stCondLst>
                                            <p:cond delay="0"/>
                                          </p:stCondLst>
                                        </p:cTn>
                                        <p:tgtEl>
                                          <p:spTgt spid="52"/>
                                        </p:tgtEl>
                                        <p:attrNameLst>
                                          <p:attrName>style.visibility</p:attrName>
                                        </p:attrNameLst>
                                      </p:cBhvr>
                                      <p:to>
                                        <p:strVal val="visible"/>
                                      </p:to>
                                    </p:set>
                                    <p:animEffect transition="in" filter="wipe(left)">
                                      <p:cBhvr>
                                        <p:cTn id="32" dur="2000"/>
                                        <p:tgtEl>
                                          <p:spTgt spid="52"/>
                                        </p:tgtEl>
                                      </p:cBhvr>
                                    </p:animEffect>
                                  </p:childTnLst>
                                </p:cTn>
                              </p:par>
                            </p:childTnLst>
                          </p:cTn>
                        </p:par>
                        <p:par>
                          <p:cTn id="33" fill="hold">
                            <p:stCondLst>
                              <p:cond delay="14000"/>
                            </p:stCondLst>
                            <p:childTnLst>
                              <p:par>
                                <p:cTn id="34" presetID="1" presetClass="entr" presetSubtype="0" fill="hold" grpId="0" nodeType="afterEffect">
                                  <p:stCondLst>
                                    <p:cond delay="1000"/>
                                  </p:stCondLst>
                                  <p:childTnLst>
                                    <p:set>
                                      <p:cBhvr>
                                        <p:cTn id="35" dur="1" fill="hold">
                                          <p:stCondLst>
                                            <p:cond delay="0"/>
                                          </p:stCondLst>
                                        </p:cTn>
                                        <p:tgtEl>
                                          <p:spTgt spid="67"/>
                                        </p:tgtEl>
                                        <p:attrNameLst>
                                          <p:attrName>style.visibility</p:attrName>
                                        </p:attrNameLst>
                                      </p:cBhvr>
                                      <p:to>
                                        <p:strVal val="visible"/>
                                      </p:to>
                                    </p:set>
                                  </p:childTnLst>
                                </p:cTn>
                              </p:par>
                              <p:par>
                                <p:cTn id="36" presetID="35" presetClass="emph" presetSubtype="0" repeatCount="3000" fill="hold" grpId="1" nodeType="withEffect">
                                  <p:stCondLst>
                                    <p:cond delay="1000"/>
                                  </p:stCondLst>
                                  <p:childTnLst>
                                    <p:anim calcmode="discrete" valueType="str">
                                      <p:cBhvr>
                                        <p:cTn id="37" dur="1000" fill="hold"/>
                                        <p:tgtEl>
                                          <p:spTgt spid="67"/>
                                        </p:tgtEl>
                                        <p:attrNameLst>
                                          <p:attrName>style.visibility</p:attrName>
                                        </p:attrNameLst>
                                      </p:cBhvr>
                                      <p:tavLst>
                                        <p:tav tm="0">
                                          <p:val>
                                            <p:strVal val="hidden"/>
                                          </p:val>
                                        </p:tav>
                                        <p:tav tm="50000">
                                          <p:val>
                                            <p:strVal val="visible"/>
                                          </p:val>
                                        </p:tav>
                                      </p:tavLst>
                                    </p:anim>
                                  </p:childTnLst>
                                </p:cTn>
                              </p:par>
                            </p:childTnLst>
                          </p:cTn>
                        </p:par>
                        <p:par>
                          <p:cTn id="38" fill="hold">
                            <p:stCondLst>
                              <p:cond delay="18000"/>
                            </p:stCondLst>
                            <p:childTnLst>
                              <p:par>
                                <p:cTn id="39" presetID="22" presetClass="entr" presetSubtype="2" fill="hold" nodeType="afterEffect">
                                  <p:stCondLst>
                                    <p:cond delay="0"/>
                                  </p:stCondLst>
                                  <p:childTnLst>
                                    <p:set>
                                      <p:cBhvr>
                                        <p:cTn id="40" dur="1" fill="hold">
                                          <p:stCondLst>
                                            <p:cond delay="0"/>
                                          </p:stCondLst>
                                        </p:cTn>
                                        <p:tgtEl>
                                          <p:spTgt spid="72"/>
                                        </p:tgtEl>
                                        <p:attrNameLst>
                                          <p:attrName>style.visibility</p:attrName>
                                        </p:attrNameLst>
                                      </p:cBhvr>
                                      <p:to>
                                        <p:strVal val="visible"/>
                                      </p:to>
                                    </p:set>
                                    <p:animEffect transition="in" filter="wipe(right)">
                                      <p:cBhvr>
                                        <p:cTn id="41" dur="2000"/>
                                        <p:tgtEl>
                                          <p:spTgt spid="72"/>
                                        </p:tgtEl>
                                      </p:cBhvr>
                                    </p:animEffect>
                                  </p:childTnLst>
                                </p:cTn>
                              </p:par>
                            </p:childTnLst>
                          </p:cTn>
                        </p:par>
                        <p:par>
                          <p:cTn id="42" fill="hold">
                            <p:stCondLst>
                              <p:cond delay="20000"/>
                            </p:stCondLst>
                            <p:childTnLst>
                              <p:par>
                                <p:cTn id="43" presetID="22" presetClass="entr" presetSubtype="1" fill="hold" grpId="0" nodeType="afterEffect">
                                  <p:stCondLst>
                                    <p:cond delay="0"/>
                                  </p:stCondLst>
                                  <p:childTnLst>
                                    <p:set>
                                      <p:cBhvr>
                                        <p:cTn id="44" dur="1" fill="hold">
                                          <p:stCondLst>
                                            <p:cond delay="0"/>
                                          </p:stCondLst>
                                        </p:cTn>
                                        <p:tgtEl>
                                          <p:spTgt spid="71"/>
                                        </p:tgtEl>
                                        <p:attrNameLst>
                                          <p:attrName>style.visibility</p:attrName>
                                        </p:attrNameLst>
                                      </p:cBhvr>
                                      <p:to>
                                        <p:strVal val="visible"/>
                                      </p:to>
                                    </p:set>
                                    <p:animEffect transition="in" filter="wipe(up)">
                                      <p:cBhvr>
                                        <p:cTn id="45" dur="2000"/>
                                        <p:tgtEl>
                                          <p:spTgt spid="71"/>
                                        </p:tgtEl>
                                      </p:cBhvr>
                                    </p:animEffect>
                                  </p:childTnLst>
                                </p:cTn>
                              </p:par>
                            </p:childTnLst>
                          </p:cTn>
                        </p:par>
                        <p:par>
                          <p:cTn id="46" fill="hold">
                            <p:stCondLst>
                              <p:cond delay="22000"/>
                            </p:stCondLst>
                            <p:childTnLst>
                              <p:par>
                                <p:cTn id="47" presetID="22" presetClass="entr" presetSubtype="8" fill="hold" nodeType="afterEffect">
                                  <p:stCondLst>
                                    <p:cond delay="0"/>
                                  </p:stCondLst>
                                  <p:childTnLst>
                                    <p:set>
                                      <p:cBhvr>
                                        <p:cTn id="48" dur="1" fill="hold">
                                          <p:stCondLst>
                                            <p:cond delay="0"/>
                                          </p:stCondLst>
                                        </p:cTn>
                                        <p:tgtEl>
                                          <p:spTgt spid="68"/>
                                        </p:tgtEl>
                                        <p:attrNameLst>
                                          <p:attrName>style.visibility</p:attrName>
                                        </p:attrNameLst>
                                      </p:cBhvr>
                                      <p:to>
                                        <p:strVal val="visible"/>
                                      </p:to>
                                    </p:set>
                                    <p:animEffect transition="in" filter="wipe(left)">
                                      <p:cBhvr>
                                        <p:cTn id="49" dur="2000"/>
                                        <p:tgtEl>
                                          <p:spTgt spid="68"/>
                                        </p:tgtEl>
                                      </p:cBhvr>
                                    </p:animEffect>
                                  </p:childTnLst>
                                </p:cTn>
                              </p:par>
                            </p:childTnLst>
                          </p:cTn>
                        </p:par>
                        <p:par>
                          <p:cTn id="50" fill="hold">
                            <p:stCondLst>
                              <p:cond delay="24000"/>
                            </p:stCondLst>
                            <p:childTnLst>
                              <p:par>
                                <p:cTn id="51" presetID="22" presetClass="entr" presetSubtype="8" fill="hold" grpId="0" nodeType="afterEffect">
                                  <p:stCondLst>
                                    <p:cond delay="0"/>
                                  </p:stCondLst>
                                  <p:childTnLst>
                                    <p:set>
                                      <p:cBhvr>
                                        <p:cTn id="52" dur="1" fill="hold">
                                          <p:stCondLst>
                                            <p:cond delay="0"/>
                                          </p:stCondLst>
                                        </p:cTn>
                                        <p:tgtEl>
                                          <p:spTgt spid="75"/>
                                        </p:tgtEl>
                                        <p:attrNameLst>
                                          <p:attrName>style.visibility</p:attrName>
                                        </p:attrNameLst>
                                      </p:cBhvr>
                                      <p:to>
                                        <p:strVal val="visible"/>
                                      </p:to>
                                    </p:set>
                                    <p:animEffect transition="in" filter="wipe(left)">
                                      <p:cBhvr>
                                        <p:cTn id="53" dur="2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42" grpId="0"/>
      <p:bldP spid="47" grpId="0"/>
      <p:bldP spid="47" grpId="1"/>
      <p:bldP spid="52" grpId="0"/>
      <p:bldP spid="67" grpId="0"/>
      <p:bldP spid="67" grpId="1"/>
      <p:bldP spid="71" grpId="0"/>
      <p:bldP spid="75" grpId="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内容占位符 11">
            <a:extLst>
              <a:ext uri="{FF2B5EF4-FFF2-40B4-BE49-F238E27FC236}">
                <a16:creationId xmlns:a16="http://schemas.microsoft.com/office/drawing/2014/main" id="{4DAE0A53-3105-3315-CFC4-FFCBE40AF98C}"/>
              </a:ext>
            </a:extLst>
          </p:cNvPr>
          <p:cNvSpPr>
            <a:spLocks noGrp="1"/>
          </p:cNvSpPr>
          <p:nvPr>
            <p:ph sz="quarter" idx="11"/>
          </p:nvPr>
        </p:nvSpPr>
        <p:spPr>
          <a:xfrm>
            <a:off x="486000" y="482554"/>
            <a:ext cx="8172000" cy="4120946"/>
          </a:xfrm>
        </p:spPr>
        <p:txBody>
          <a:bodyPr/>
          <a:lstStyle/>
          <a:p>
            <a:r>
              <a:rPr lang="zh-CN" altLang="en-US" dirty="0"/>
              <a:t>解决方法：让接收方等待一段时间，使得或者接收缓存已有足够空间容纳一个最长的报文段，或者等到接收缓存已有一半空闲的空间。只要出现这两种情况之一，接收方就发出确认报文，并向发送方通知当前的窗口大小。</a:t>
            </a:r>
          </a:p>
          <a:p>
            <a:r>
              <a:rPr lang="zh-CN" altLang="en-US" dirty="0"/>
              <a:t>上述两种方法可配合使用，使得在发送方不发送很小的报文段的同时，接收方也不要在缓存刚刚有了一点小的空间就急忙把这个很小的窗口大小信息通知给发送方。</a:t>
            </a:r>
          </a:p>
          <a:p>
            <a:endParaRPr lang="zh-CN" altLang="en-US" dirty="0"/>
          </a:p>
        </p:txBody>
      </p:sp>
      <p:sp>
        <p:nvSpPr>
          <p:cNvPr id="11" name="标题 10">
            <a:extLst>
              <a:ext uri="{FF2B5EF4-FFF2-40B4-BE49-F238E27FC236}">
                <a16:creationId xmlns:a16="http://schemas.microsoft.com/office/drawing/2014/main" id="{EDB2E80C-A62C-4799-4481-4D408EE32163}"/>
              </a:ext>
            </a:extLst>
          </p:cNvPr>
          <p:cNvSpPr>
            <a:spLocks noGrp="1"/>
          </p:cNvSpPr>
          <p:nvPr>
            <p:ph type="title"/>
          </p:nvPr>
        </p:nvSpPr>
        <p:spPr>
          <a:xfrm>
            <a:off x="2808000" y="144000"/>
            <a:ext cx="3528000" cy="338554"/>
          </a:xfrm>
        </p:spPr>
        <p:txBody>
          <a:bodyPr/>
          <a:lstStyle/>
          <a:p>
            <a:r>
              <a:rPr lang="zh-CN" altLang="en-US" dirty="0"/>
              <a:t>接收方糊涂窗口综合症</a:t>
            </a:r>
          </a:p>
        </p:txBody>
      </p:sp>
    </p:spTree>
    <p:extLst>
      <p:ext uri="{BB962C8B-B14F-4D97-AF65-F5344CB8AC3E}">
        <p14:creationId xmlns:p14="http://schemas.microsoft.com/office/powerpoint/2010/main" val="413364634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2629135" y="2636270"/>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6" name="Rectangle 9"/>
          <p:cNvSpPr>
            <a:spLocks noChangeArrowheads="1"/>
          </p:cNvSpPr>
          <p:nvPr/>
        </p:nvSpPr>
        <p:spPr bwMode="auto">
          <a:xfrm>
            <a:off x="2629135" y="1433966"/>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7" name="Rectangle 10"/>
          <p:cNvSpPr>
            <a:spLocks noChangeArrowheads="1"/>
          </p:cNvSpPr>
          <p:nvPr/>
        </p:nvSpPr>
        <p:spPr bwMode="auto">
          <a:xfrm>
            <a:off x="2629135" y="2040391"/>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8" name="Line 16"/>
          <p:cNvSpPr>
            <a:spLocks noChangeShapeType="1"/>
          </p:cNvSpPr>
          <p:nvPr/>
        </p:nvSpPr>
        <p:spPr bwMode="auto">
          <a:xfrm>
            <a:off x="3637198" y="1362528"/>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8"/>
          <p:cNvSpPr>
            <a:spLocks noChangeArrowheads="1"/>
          </p:cNvSpPr>
          <p:nvPr/>
        </p:nvSpPr>
        <p:spPr bwMode="auto">
          <a:xfrm>
            <a:off x="2700573" y="1179966"/>
            <a:ext cx="5627639" cy="18461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dirty="0">
                <a:solidFill>
                  <a:schemeClr val="bg1"/>
                </a:solidFill>
                <a:latin typeface="Montserrat" panose="00000500000000000000" pitchFamily="2" charset="0"/>
                <a:ea typeface="微软雅黑 Light" panose="020B0502040204020203" pitchFamily="34" charset="-122"/>
              </a:rPr>
              <a:t>5.8.1                                 </a:t>
            </a:r>
            <a:r>
              <a:rPr lang="zh-CN" altLang="en-US" sz="2000" dirty="0">
                <a:solidFill>
                  <a:schemeClr val="bg1"/>
                </a:solidFill>
                <a:latin typeface="Montserrat" panose="00000500000000000000" pitchFamily="2" charset="0"/>
                <a:ea typeface="微软雅黑 Light" panose="020B0502040204020203" pitchFamily="34" charset="-122"/>
              </a:rPr>
              <a:t>拥塞控制的一般原理</a:t>
            </a:r>
          </a:p>
          <a:p>
            <a:pPr eaLnBrk="0" hangingPunct="0">
              <a:lnSpc>
                <a:spcPct val="200000"/>
              </a:lnSpc>
            </a:pPr>
            <a:r>
              <a:rPr lang="en-US" altLang="zh-CN" sz="2000" dirty="0">
                <a:solidFill>
                  <a:schemeClr val="bg1"/>
                </a:solidFill>
                <a:latin typeface="Montserrat" panose="00000500000000000000" pitchFamily="2" charset="0"/>
                <a:ea typeface="微软雅黑 Light" panose="020B0502040204020203" pitchFamily="34" charset="-122"/>
              </a:rPr>
              <a:t>5.8.2                                TCP </a:t>
            </a:r>
            <a:r>
              <a:rPr lang="zh-CN" altLang="en-US" sz="2000" dirty="0">
                <a:solidFill>
                  <a:schemeClr val="bg1"/>
                </a:solidFill>
                <a:latin typeface="Montserrat" panose="00000500000000000000" pitchFamily="2" charset="0"/>
                <a:ea typeface="微软雅黑 Light" panose="020B0502040204020203" pitchFamily="34" charset="-122"/>
              </a:rPr>
              <a:t>的拥塞控制方法</a:t>
            </a:r>
          </a:p>
          <a:p>
            <a:pPr eaLnBrk="0" hangingPunct="0">
              <a:lnSpc>
                <a:spcPct val="200000"/>
              </a:lnSpc>
            </a:pPr>
            <a:r>
              <a:rPr lang="en-US" altLang="zh-CN" sz="2000" dirty="0">
                <a:solidFill>
                  <a:schemeClr val="bg1"/>
                </a:solidFill>
                <a:latin typeface="Montserrat" panose="00000500000000000000" pitchFamily="2" charset="0"/>
                <a:ea typeface="微软雅黑 Light" panose="020B0502040204020203" pitchFamily="34" charset="-122"/>
              </a:rPr>
              <a:t>5.8.3                                 </a:t>
            </a:r>
            <a:r>
              <a:rPr lang="zh-CN" altLang="en-US" sz="2000" dirty="0">
                <a:solidFill>
                  <a:schemeClr val="bg1"/>
                </a:solidFill>
                <a:latin typeface="Montserrat" panose="00000500000000000000" pitchFamily="2" charset="0"/>
                <a:ea typeface="微软雅黑 Light" panose="020B0502040204020203" pitchFamily="34" charset="-122"/>
              </a:rPr>
              <a:t>主动队列管理 </a:t>
            </a:r>
            <a:r>
              <a:rPr lang="en-US" altLang="zh-CN" sz="2000" dirty="0">
                <a:solidFill>
                  <a:schemeClr val="bg1"/>
                </a:solidFill>
                <a:latin typeface="Montserrat" panose="00000500000000000000" pitchFamily="2" charset="0"/>
                <a:ea typeface="微软雅黑 Light" panose="020B0502040204020203" pitchFamily="34" charset="-122"/>
              </a:rPr>
              <a:t>AQM</a:t>
            </a:r>
          </a:p>
        </p:txBody>
      </p:sp>
      <p:sp>
        <p:nvSpPr>
          <p:cNvPr id="10" name="Rectangle 27"/>
          <p:cNvSpPr>
            <a:spLocks noChangeArrowheads="1"/>
          </p:cNvSpPr>
          <p:nvPr/>
        </p:nvSpPr>
        <p:spPr bwMode="auto">
          <a:xfrm>
            <a:off x="201600" y="1433966"/>
            <a:ext cx="2174399" cy="936625"/>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11" name="Rectangle 29"/>
          <p:cNvSpPr>
            <a:spLocks noChangeArrowheads="1"/>
          </p:cNvSpPr>
          <p:nvPr/>
        </p:nvSpPr>
        <p:spPr bwMode="auto">
          <a:xfrm>
            <a:off x="259200" y="1528898"/>
            <a:ext cx="2116799" cy="7078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dirty="0">
                <a:solidFill>
                  <a:srgbClr val="FFFF00"/>
                </a:solidFill>
                <a:latin typeface="Montserrat" panose="00000500000000000000" pitchFamily="2" charset="0"/>
                <a:ea typeface="微软雅黑 Light" panose="020B0502040204020203" pitchFamily="34" charset="-122"/>
              </a:rPr>
              <a:t>5.8</a:t>
            </a:r>
          </a:p>
          <a:p>
            <a:pPr eaLnBrk="0" hangingPunct="0"/>
            <a:r>
              <a:rPr lang="en-US" altLang="zh-CN" sz="2000" dirty="0">
                <a:solidFill>
                  <a:schemeClr val="bg1"/>
                </a:solidFill>
                <a:latin typeface="Montserrat" panose="00000500000000000000" pitchFamily="2" charset="0"/>
                <a:ea typeface="微软雅黑 Light" panose="020B0502040204020203" pitchFamily="34" charset="-122"/>
              </a:rPr>
              <a:t>TCP </a:t>
            </a:r>
            <a:r>
              <a:rPr lang="zh-CN" altLang="en-US" sz="2000" dirty="0">
                <a:solidFill>
                  <a:schemeClr val="bg1"/>
                </a:solidFill>
                <a:latin typeface="Montserrat" panose="00000500000000000000" pitchFamily="2" charset="0"/>
                <a:ea typeface="微软雅黑 Light" panose="020B0502040204020203" pitchFamily="34" charset="-122"/>
              </a:rPr>
              <a:t>的拥塞控制</a:t>
            </a:r>
            <a:endParaRPr lang="zh-CN" altLang="fr-FR" sz="2000" dirty="0">
              <a:solidFill>
                <a:schemeClr val="bg1"/>
              </a:solidFill>
              <a:latin typeface="Montserrat" panose="00000500000000000000" pitchFamily="2" charset="0"/>
              <a:ea typeface="微软雅黑 Light" panose="020B0502040204020203" pitchFamily="34" charset="-122"/>
            </a:endParaRPr>
          </a:p>
        </p:txBody>
      </p:sp>
    </p:spTree>
    <p:extLst>
      <p:ext uri="{BB962C8B-B14F-4D97-AF65-F5344CB8AC3E}">
        <p14:creationId xmlns:p14="http://schemas.microsoft.com/office/powerpoint/2010/main" val="312950815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内容占位符 25">
            <a:extLst>
              <a:ext uri="{FF2B5EF4-FFF2-40B4-BE49-F238E27FC236}">
                <a16:creationId xmlns:a16="http://schemas.microsoft.com/office/drawing/2014/main" id="{4E0008FA-ED30-F35D-0B84-627C38060B5A}"/>
              </a:ext>
            </a:extLst>
          </p:cNvPr>
          <p:cNvSpPr>
            <a:spLocks noGrp="1"/>
          </p:cNvSpPr>
          <p:nvPr>
            <p:ph sz="quarter" idx="11"/>
          </p:nvPr>
        </p:nvSpPr>
        <p:spPr>
          <a:xfrm>
            <a:off x="486000" y="482554"/>
            <a:ext cx="8172000" cy="4120946"/>
          </a:xfrm>
        </p:spPr>
        <p:txBody>
          <a:bodyPr/>
          <a:lstStyle/>
          <a:p>
            <a:r>
              <a:rPr lang="zh-CN" altLang="en-US" dirty="0"/>
              <a:t>在某段时间，若对网络中某资源的需求超过了该资源所能提供的可用部分，网络的性能就要明显变坏，整个网络的吞吐量将随输入负荷的增大而下降</a:t>
            </a:r>
            <a:endParaRPr lang="en-US" altLang="zh-CN" dirty="0"/>
          </a:p>
          <a:p>
            <a:r>
              <a:rPr lang="zh-CN" altLang="en-US" dirty="0"/>
              <a:t>这种现象称为拥塞 </a:t>
            </a:r>
            <a:r>
              <a:rPr lang="en-US" altLang="zh-CN" dirty="0"/>
              <a:t>- Congestion</a:t>
            </a:r>
          </a:p>
          <a:p>
            <a:r>
              <a:rPr lang="zh-CN" altLang="en-US" dirty="0"/>
              <a:t>最坏结果：系统崩溃</a:t>
            </a:r>
          </a:p>
          <a:p>
            <a:endParaRPr lang="zh-CN" altLang="en-US" dirty="0"/>
          </a:p>
        </p:txBody>
      </p:sp>
      <p:sp>
        <p:nvSpPr>
          <p:cNvPr id="20" name="标题 19">
            <a:extLst>
              <a:ext uri="{FF2B5EF4-FFF2-40B4-BE49-F238E27FC236}">
                <a16:creationId xmlns:a16="http://schemas.microsoft.com/office/drawing/2014/main" id="{84CB527E-CE72-A6E9-4459-8412B1DFE490}"/>
              </a:ext>
            </a:extLst>
          </p:cNvPr>
          <p:cNvSpPr>
            <a:spLocks noGrp="1"/>
          </p:cNvSpPr>
          <p:nvPr>
            <p:ph type="title"/>
          </p:nvPr>
        </p:nvSpPr>
        <p:spPr>
          <a:xfrm>
            <a:off x="2808000" y="144000"/>
            <a:ext cx="3528000" cy="338554"/>
          </a:xfrm>
        </p:spPr>
        <p:txBody>
          <a:bodyPr/>
          <a:lstStyle/>
          <a:p>
            <a:r>
              <a:rPr lang="en-US" altLang="zh-CN" dirty="0"/>
              <a:t>5.8.1   </a:t>
            </a:r>
            <a:r>
              <a:rPr lang="zh-CN" altLang="en-US" dirty="0"/>
              <a:t>一般原理</a:t>
            </a:r>
          </a:p>
        </p:txBody>
      </p:sp>
      <p:sp>
        <p:nvSpPr>
          <p:cNvPr id="8" name="Rectangle 2"/>
          <p:cNvSpPr>
            <a:spLocks noChangeArrowheads="1"/>
          </p:cNvSpPr>
          <p:nvPr/>
        </p:nvSpPr>
        <p:spPr bwMode="auto">
          <a:xfrm>
            <a:off x="4876493" y="2091036"/>
            <a:ext cx="484747" cy="2317428"/>
          </a:xfrm>
          <a:prstGeom prst="rect">
            <a:avLst/>
          </a:prstGeom>
          <a:solidFill>
            <a:srgbClr val="00FFFF"/>
          </a:solidFill>
          <a:ln>
            <a:noFill/>
          </a:ln>
          <a:effectLst/>
          <a:extLs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endParaRPr lang="zh-CN" altLang="en-US" sz="1200">
              <a:latin typeface="Montserrat" panose="00000500000000000000" pitchFamily="2" charset="0"/>
              <a:ea typeface="微软雅黑 Light" panose="020B0502040204020203" pitchFamily="34" charset="-122"/>
            </a:endParaRPr>
          </a:p>
        </p:txBody>
      </p:sp>
      <p:grpSp>
        <p:nvGrpSpPr>
          <p:cNvPr id="3" name="组合 2"/>
          <p:cNvGrpSpPr/>
          <p:nvPr/>
        </p:nvGrpSpPr>
        <p:grpSpPr>
          <a:xfrm>
            <a:off x="3089791" y="1923800"/>
            <a:ext cx="3128343" cy="2759099"/>
            <a:chOff x="4851933" y="1639611"/>
            <a:chExt cx="3128343" cy="2759099"/>
          </a:xfrm>
        </p:grpSpPr>
        <p:sp>
          <p:nvSpPr>
            <p:cNvPr id="10" name="Line 5"/>
            <p:cNvSpPr>
              <a:spLocks noChangeShapeType="1"/>
            </p:cNvSpPr>
            <p:nvPr/>
          </p:nvSpPr>
          <p:spPr bwMode="auto">
            <a:xfrm flipH="1" flipV="1">
              <a:off x="5130534" y="1722576"/>
              <a:ext cx="0" cy="1053377"/>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1" name="Line 6"/>
            <p:cNvSpPr>
              <a:spLocks noChangeShapeType="1"/>
            </p:cNvSpPr>
            <p:nvPr/>
          </p:nvSpPr>
          <p:spPr bwMode="auto">
            <a:xfrm>
              <a:off x="5130534" y="2775953"/>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2" name="Freeform 7"/>
            <p:cNvSpPr>
              <a:spLocks/>
            </p:cNvSpPr>
            <p:nvPr/>
          </p:nvSpPr>
          <p:spPr bwMode="auto">
            <a:xfrm>
              <a:off x="5130534" y="1806847"/>
              <a:ext cx="1777405" cy="979640"/>
            </a:xfrm>
            <a:custGeom>
              <a:avLst/>
              <a:gdLst>
                <a:gd name="T0" fmla="*/ 0 w 1584"/>
                <a:gd name="T1" fmla="*/ 2147483647 h 1212"/>
                <a:gd name="T2" fmla="*/ 0 w 1584"/>
                <a:gd name="T3" fmla="*/ 2147483647 h 1212"/>
                <a:gd name="T4" fmla="*/ 2147483647 w 1584"/>
                <a:gd name="T5" fmla="*/ 2147483647 h 1212"/>
                <a:gd name="T6" fmla="*/ 2147483647 w 1584"/>
                <a:gd name="T7" fmla="*/ 2147483647 h 1212"/>
                <a:gd name="T8" fmla="*/ 2147483647 w 1584"/>
                <a:gd name="T9" fmla="*/ 2147483647 h 1212"/>
                <a:gd name="T10" fmla="*/ 2147483647 w 1584"/>
                <a:gd name="T11" fmla="*/ 2147483647 h 1212"/>
                <a:gd name="T12" fmla="*/ 2147483647 w 1584"/>
                <a:gd name="T13" fmla="*/ 0 h 1212"/>
                <a:gd name="T14" fmla="*/ 2147483647 w 1584"/>
                <a:gd name="T15" fmla="*/ 0 h 1212"/>
                <a:gd name="T16" fmla="*/ 2147483647 w 1584"/>
                <a:gd name="T17" fmla="*/ 2147483647 h 1212"/>
                <a:gd name="T18" fmla="*/ 2147483647 w 1584"/>
                <a:gd name="T19" fmla="*/ 2147483647 h 1212"/>
                <a:gd name="T20" fmla="*/ 2147483647 w 1584"/>
                <a:gd name="T21" fmla="*/ 2147483647 h 1212"/>
                <a:gd name="T22" fmla="*/ 2147483647 w 1584"/>
                <a:gd name="T23" fmla="*/ 2147483647 h 121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584" h="1212">
                  <a:moveTo>
                    <a:pt x="0" y="1212"/>
                  </a:moveTo>
                  <a:cubicBezTo>
                    <a:pt x="0" y="1198"/>
                    <a:pt x="0" y="1184"/>
                    <a:pt x="0" y="1170"/>
                  </a:cubicBezTo>
                  <a:lnTo>
                    <a:pt x="96" y="768"/>
                  </a:lnTo>
                  <a:lnTo>
                    <a:pt x="240" y="480"/>
                  </a:lnTo>
                  <a:lnTo>
                    <a:pt x="480" y="192"/>
                  </a:lnTo>
                  <a:lnTo>
                    <a:pt x="816" y="48"/>
                  </a:lnTo>
                  <a:lnTo>
                    <a:pt x="1104" y="0"/>
                  </a:lnTo>
                  <a:lnTo>
                    <a:pt x="1344" y="0"/>
                  </a:lnTo>
                  <a:lnTo>
                    <a:pt x="1392" y="480"/>
                  </a:lnTo>
                  <a:lnTo>
                    <a:pt x="1488" y="1008"/>
                  </a:lnTo>
                  <a:lnTo>
                    <a:pt x="1536" y="1152"/>
                  </a:lnTo>
                  <a:lnTo>
                    <a:pt x="1584" y="120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3" name="Line 8"/>
            <p:cNvSpPr>
              <a:spLocks noChangeShapeType="1"/>
            </p:cNvSpPr>
            <p:nvPr/>
          </p:nvSpPr>
          <p:spPr bwMode="auto">
            <a:xfrm>
              <a:off x="6628125"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4" name="Line 9"/>
            <p:cNvSpPr>
              <a:spLocks noChangeShapeType="1"/>
            </p:cNvSpPr>
            <p:nvPr/>
          </p:nvSpPr>
          <p:spPr bwMode="auto">
            <a:xfrm>
              <a:off x="5669141" y="1722576"/>
              <a:ext cx="0" cy="113764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5" name="Line 10"/>
            <p:cNvSpPr>
              <a:spLocks noChangeShapeType="1"/>
            </p:cNvSpPr>
            <p:nvPr/>
          </p:nvSpPr>
          <p:spPr bwMode="auto">
            <a:xfrm flipH="1" flipV="1">
              <a:off x="5130534" y="2944493"/>
              <a:ext cx="0" cy="1179782"/>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6" name="Line 11"/>
            <p:cNvSpPr>
              <a:spLocks noChangeShapeType="1"/>
            </p:cNvSpPr>
            <p:nvPr/>
          </p:nvSpPr>
          <p:spPr bwMode="auto">
            <a:xfrm>
              <a:off x="5130534" y="4114218"/>
              <a:ext cx="2208291"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7" name="Line 12"/>
            <p:cNvSpPr>
              <a:spLocks noChangeShapeType="1"/>
            </p:cNvSpPr>
            <p:nvPr/>
          </p:nvSpPr>
          <p:spPr bwMode="auto">
            <a:xfrm>
              <a:off x="5669141" y="2944493"/>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8" name="Line 13"/>
            <p:cNvSpPr>
              <a:spLocks noChangeShapeType="1"/>
            </p:cNvSpPr>
            <p:nvPr/>
          </p:nvSpPr>
          <p:spPr bwMode="auto">
            <a:xfrm>
              <a:off x="6628125" y="2944494"/>
              <a:ext cx="0" cy="1221917"/>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19" name="Line 14"/>
            <p:cNvSpPr>
              <a:spLocks noChangeShapeType="1"/>
            </p:cNvSpPr>
            <p:nvPr/>
          </p:nvSpPr>
          <p:spPr bwMode="auto">
            <a:xfrm>
              <a:off x="5669141" y="1806847"/>
              <a:ext cx="969494" cy="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21" name="Freeform 16"/>
            <p:cNvSpPr>
              <a:spLocks/>
            </p:cNvSpPr>
            <p:nvPr/>
          </p:nvSpPr>
          <p:spPr bwMode="auto">
            <a:xfrm>
              <a:off x="5130534" y="3018331"/>
              <a:ext cx="1561962" cy="1061900"/>
            </a:xfrm>
            <a:custGeom>
              <a:avLst/>
              <a:gdLst>
                <a:gd name="T0" fmla="*/ 0 w 1392"/>
                <a:gd name="T1" fmla="*/ 2147483647 h 1248"/>
                <a:gd name="T2" fmla="*/ 2147483647 w 1392"/>
                <a:gd name="T3" fmla="*/ 2147483647 h 1248"/>
                <a:gd name="T4" fmla="*/ 2147483647 w 1392"/>
                <a:gd name="T5" fmla="*/ 2147483647 h 1248"/>
                <a:gd name="T6" fmla="*/ 2147483647 w 1392"/>
                <a:gd name="T7" fmla="*/ 2147483647 h 1248"/>
                <a:gd name="T8" fmla="*/ 2147483647 w 1392"/>
                <a:gd name="T9" fmla="*/ 2147483647 h 1248"/>
                <a:gd name="T10" fmla="*/ 2147483647 w 1392"/>
                <a:gd name="T11" fmla="*/ 2147483647 h 1248"/>
                <a:gd name="T12" fmla="*/ 2147483647 w 1392"/>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392" h="1248">
                  <a:moveTo>
                    <a:pt x="0" y="1248"/>
                  </a:moveTo>
                  <a:lnTo>
                    <a:pt x="480" y="1152"/>
                  </a:lnTo>
                  <a:lnTo>
                    <a:pt x="816" y="912"/>
                  </a:lnTo>
                  <a:lnTo>
                    <a:pt x="1104" y="624"/>
                  </a:lnTo>
                  <a:lnTo>
                    <a:pt x="1296" y="384"/>
                  </a:lnTo>
                  <a:lnTo>
                    <a:pt x="1344" y="288"/>
                  </a:lnTo>
                  <a:lnTo>
                    <a:pt x="1392" y="0"/>
                  </a:lnTo>
                </a:path>
              </a:pathLst>
            </a:custGeom>
            <a:noFill/>
            <a:ln w="25400" cap="flat" cmpd="sng">
              <a:solidFill>
                <a:srgbClr val="0000FF"/>
              </a:solidFill>
              <a:prstDash val="solid"/>
              <a:round/>
              <a:headEnd type="none" w="med" len="med"/>
              <a:tailEnd type="none" w="med" len="med"/>
            </a:ln>
            <a:effectLst/>
            <a:extLst>
              <a:ext uri="{909E8E84-426E-40DD-AFC4-6F175D3DCCD1}">
                <a14:hiddenFill xmlns:a14="http://schemas.microsoft.com/office/drawing/2010/main">
                  <a:solidFill>
                    <a:schemeClr val="bg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22" name="Text Box 17"/>
            <p:cNvSpPr txBox="1">
              <a:spLocks noChangeArrowheads="1"/>
            </p:cNvSpPr>
            <p:nvPr/>
          </p:nvSpPr>
          <p:spPr bwMode="auto">
            <a:xfrm>
              <a:off x="7152187" y="4124276"/>
              <a:ext cx="490520" cy="27443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latin typeface="Montserrat" panose="00000500000000000000" pitchFamily="2" charset="0"/>
                  <a:ea typeface="微软雅黑 Light" panose="020B0502040204020203" pitchFamily="34" charset="-122"/>
                </a:rPr>
                <a:t>负载</a:t>
              </a:r>
              <a:endParaRPr kumimoji="0" lang="en-US" altLang="zh-CN" sz="1200" dirty="0">
                <a:latin typeface="Montserrat" panose="00000500000000000000" pitchFamily="2" charset="0"/>
                <a:ea typeface="微软雅黑 Light" panose="020B0502040204020203" pitchFamily="34" charset="-122"/>
              </a:endParaRPr>
            </a:p>
          </p:txBody>
        </p:sp>
        <p:sp>
          <p:nvSpPr>
            <p:cNvPr id="23" name="Text Box 18"/>
            <p:cNvSpPr txBox="1">
              <a:spLocks noChangeArrowheads="1"/>
            </p:cNvSpPr>
            <p:nvPr/>
          </p:nvSpPr>
          <p:spPr bwMode="auto">
            <a:xfrm>
              <a:off x="7152187" y="2775953"/>
              <a:ext cx="490520" cy="27443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latin typeface="Montserrat" panose="00000500000000000000" pitchFamily="2" charset="0"/>
                  <a:ea typeface="微软雅黑 Light" panose="020B0502040204020203" pitchFamily="34" charset="-122"/>
                </a:rPr>
                <a:t>负载</a:t>
              </a:r>
              <a:endParaRPr kumimoji="0" lang="en-US" altLang="zh-CN" sz="1200" dirty="0">
                <a:latin typeface="Montserrat" panose="00000500000000000000" pitchFamily="2" charset="0"/>
                <a:ea typeface="微软雅黑 Light" panose="020B0502040204020203" pitchFamily="34" charset="-122"/>
              </a:endParaRPr>
            </a:p>
          </p:txBody>
        </p:sp>
        <p:sp>
          <p:nvSpPr>
            <p:cNvPr id="24" name="Text Box 19"/>
            <p:cNvSpPr txBox="1">
              <a:spLocks noChangeArrowheads="1"/>
            </p:cNvSpPr>
            <p:nvPr/>
          </p:nvSpPr>
          <p:spPr bwMode="auto">
            <a:xfrm rot="16200000">
              <a:off x="4669189" y="1952285"/>
              <a:ext cx="644408" cy="27443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latin typeface="Montserrat" panose="00000500000000000000" pitchFamily="2" charset="0"/>
                  <a:ea typeface="微软雅黑 Light" panose="020B0502040204020203" pitchFamily="34" charset="-122"/>
                </a:rPr>
                <a:t>吞量率</a:t>
              </a:r>
              <a:endParaRPr kumimoji="0" lang="en-US" altLang="zh-CN" sz="1200" dirty="0">
                <a:latin typeface="Montserrat" panose="00000500000000000000" pitchFamily="2" charset="0"/>
                <a:ea typeface="微软雅黑 Light" panose="020B0502040204020203" pitchFamily="34" charset="-122"/>
              </a:endParaRPr>
            </a:p>
          </p:txBody>
        </p:sp>
        <p:sp>
          <p:nvSpPr>
            <p:cNvPr id="25" name="Text Box 20"/>
            <p:cNvSpPr txBox="1">
              <a:spLocks noChangeArrowheads="1"/>
            </p:cNvSpPr>
            <p:nvPr/>
          </p:nvSpPr>
          <p:spPr bwMode="auto">
            <a:xfrm rot="16200000">
              <a:off x="4743890" y="2995128"/>
              <a:ext cx="490520" cy="274434"/>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latin typeface="Montserrat" panose="00000500000000000000" pitchFamily="2" charset="0"/>
                  <a:ea typeface="微软雅黑 Light" panose="020B0502040204020203" pitchFamily="34" charset="-122"/>
                </a:rPr>
                <a:t>延迟</a:t>
              </a:r>
              <a:endParaRPr kumimoji="0" lang="en-US" altLang="zh-CN" sz="1200" dirty="0">
                <a:latin typeface="Montserrat" panose="00000500000000000000" pitchFamily="2" charset="0"/>
                <a:ea typeface="微软雅黑 Light" panose="020B0502040204020203" pitchFamily="34" charset="-122"/>
              </a:endParaRPr>
            </a:p>
          </p:txBody>
        </p:sp>
        <p:sp>
          <p:nvSpPr>
            <p:cNvPr id="28" name="Text Box 23"/>
            <p:cNvSpPr txBox="1">
              <a:spLocks noChangeArrowheads="1"/>
            </p:cNvSpPr>
            <p:nvPr/>
          </p:nvSpPr>
          <p:spPr bwMode="auto">
            <a:xfrm>
              <a:off x="7378708" y="2244822"/>
              <a:ext cx="570038"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solidFill>
                    <a:srgbClr val="C00000"/>
                  </a:solidFill>
                  <a:latin typeface="Montserrat" panose="00000500000000000000" pitchFamily="2" charset="0"/>
                  <a:ea typeface="微软雅黑 Light" panose="020B0502040204020203" pitchFamily="34" charset="-122"/>
                </a:rPr>
                <a:t>系统</a:t>
              </a:r>
              <a:endParaRPr kumimoji="0" lang="en-US" altLang="zh-CN" sz="1200" dirty="0">
                <a:solidFill>
                  <a:srgbClr val="C00000"/>
                </a:solidFill>
                <a:latin typeface="Montserrat" panose="00000500000000000000" pitchFamily="2" charset="0"/>
                <a:ea typeface="微软雅黑 Light" panose="020B0502040204020203" pitchFamily="34" charset="-122"/>
              </a:endParaRPr>
            </a:p>
            <a:p>
              <a:r>
                <a:rPr kumimoji="0" lang="zh-CN" altLang="en-US" sz="1200" dirty="0">
                  <a:solidFill>
                    <a:srgbClr val="C00000"/>
                  </a:solidFill>
                  <a:latin typeface="Montserrat" panose="00000500000000000000" pitchFamily="2" charset="0"/>
                  <a:ea typeface="微软雅黑 Light" panose="020B0502040204020203" pitchFamily="34" charset="-122"/>
                </a:rPr>
                <a:t>崩溃</a:t>
              </a:r>
              <a:endParaRPr kumimoji="0" lang="en-US" altLang="zh-CN" sz="1200" dirty="0">
                <a:solidFill>
                  <a:srgbClr val="C00000"/>
                </a:solidFill>
                <a:latin typeface="Montserrat" panose="00000500000000000000" pitchFamily="2" charset="0"/>
                <a:ea typeface="微软雅黑 Light" panose="020B0502040204020203" pitchFamily="34" charset="-122"/>
              </a:endParaRPr>
            </a:p>
          </p:txBody>
        </p:sp>
        <p:sp>
          <p:nvSpPr>
            <p:cNvPr id="30" name="Line 25"/>
            <p:cNvSpPr>
              <a:spLocks noChangeShapeType="1"/>
            </p:cNvSpPr>
            <p:nvPr/>
          </p:nvSpPr>
          <p:spPr bwMode="auto">
            <a:xfrm flipH="1">
              <a:off x="6891107" y="2396737"/>
              <a:ext cx="538608" cy="33708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sp>
          <p:nvSpPr>
            <p:cNvPr id="31" name="Text Box 26"/>
            <p:cNvSpPr txBox="1">
              <a:spLocks noChangeArrowheads="1"/>
            </p:cNvSpPr>
            <p:nvPr/>
          </p:nvSpPr>
          <p:spPr bwMode="auto">
            <a:xfrm>
              <a:off x="7289563" y="1639611"/>
              <a:ext cx="690713" cy="4591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lvl1pPr eaLnBrk="0" hangingPunct="0">
                <a:defRPr kumimoji="1" sz="2400">
                  <a:solidFill>
                    <a:schemeClr val="tx1"/>
                  </a:solidFill>
                  <a:latin typeface="Tahoma" pitchFamily="34" charset="0"/>
                  <a:ea typeface="宋体" pitchFamily="2" charset="-122"/>
                </a:defRPr>
              </a:lvl1pPr>
              <a:lvl2pPr marL="742950" indent="-285750" eaLnBrk="0" hangingPunct="0">
                <a:defRPr kumimoji="1" sz="2400">
                  <a:solidFill>
                    <a:schemeClr val="tx1"/>
                  </a:solidFill>
                  <a:latin typeface="Tahoma" pitchFamily="34" charset="0"/>
                  <a:ea typeface="宋体" pitchFamily="2" charset="-122"/>
                </a:defRPr>
              </a:lvl2pPr>
              <a:lvl3pPr marL="1143000" indent="-228600" eaLnBrk="0" hangingPunct="0">
                <a:defRPr kumimoji="1" sz="2400">
                  <a:solidFill>
                    <a:schemeClr val="tx1"/>
                  </a:solidFill>
                  <a:latin typeface="Tahoma" pitchFamily="34" charset="0"/>
                  <a:ea typeface="宋体" pitchFamily="2" charset="-122"/>
                </a:defRPr>
              </a:lvl3pPr>
              <a:lvl4pPr marL="1600200" indent="-228600" eaLnBrk="0" hangingPunct="0">
                <a:defRPr kumimoji="1" sz="2400">
                  <a:solidFill>
                    <a:schemeClr val="tx1"/>
                  </a:solidFill>
                  <a:latin typeface="Tahoma" pitchFamily="34" charset="0"/>
                  <a:ea typeface="宋体" pitchFamily="2" charset="-122"/>
                </a:defRPr>
              </a:lvl4pPr>
              <a:lvl5pPr marL="2057400" indent="-228600" eaLnBrk="0" hangingPunct="0">
                <a:defRPr kumimoji="1" sz="2400">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a:solidFill>
                    <a:schemeClr val="tx1"/>
                  </a:solidFill>
                  <a:latin typeface="Tahoma" pitchFamily="34" charset="0"/>
                  <a:ea typeface="宋体" pitchFamily="2" charset="-122"/>
                </a:defRPr>
              </a:lvl9pPr>
            </a:lstStyle>
            <a:p>
              <a:r>
                <a:rPr kumimoji="0" lang="zh-CN" altLang="en-US" sz="1200" dirty="0">
                  <a:solidFill>
                    <a:srgbClr val="CC00CC"/>
                  </a:solidFill>
                  <a:latin typeface="Montserrat" panose="00000500000000000000" pitchFamily="2" charset="0"/>
                  <a:ea typeface="微软雅黑 Light" panose="020B0502040204020203" pitchFamily="34" charset="-122"/>
                </a:rPr>
                <a:t>分组丢失增多</a:t>
              </a:r>
              <a:endParaRPr kumimoji="0" lang="en-US" altLang="zh-CN" sz="1200" dirty="0">
                <a:solidFill>
                  <a:srgbClr val="CC00CC"/>
                </a:solidFill>
                <a:latin typeface="Montserrat" panose="00000500000000000000" pitchFamily="2" charset="0"/>
                <a:ea typeface="微软雅黑 Light" panose="020B0502040204020203" pitchFamily="34" charset="-122"/>
              </a:endParaRPr>
            </a:p>
          </p:txBody>
        </p:sp>
        <p:sp>
          <p:nvSpPr>
            <p:cNvPr id="32" name="Line 27"/>
            <p:cNvSpPr>
              <a:spLocks noChangeShapeType="1"/>
            </p:cNvSpPr>
            <p:nvPr/>
          </p:nvSpPr>
          <p:spPr bwMode="auto">
            <a:xfrm flipH="1">
              <a:off x="6954167" y="1859016"/>
              <a:ext cx="377025" cy="84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p>
              <a:endParaRPr lang="zh-CN" altLang="en-US" sz="1200">
                <a:latin typeface="Montserrat" panose="00000500000000000000" pitchFamily="2" charset="0"/>
                <a:ea typeface="微软雅黑 Light" panose="020B0502040204020203" pitchFamily="34" charset="-122"/>
              </a:endParaRPr>
            </a:p>
          </p:txBody>
        </p:sp>
      </p:grpSp>
    </p:spTree>
    <p:extLst>
      <p:ext uri="{BB962C8B-B14F-4D97-AF65-F5344CB8AC3E}">
        <p14:creationId xmlns:p14="http://schemas.microsoft.com/office/powerpoint/2010/main" val="294089618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grpId="0" nodeType="withEffect">
                                  <p:stCondLst>
                                    <p:cond delay="0"/>
                                  </p:stCondLst>
                                  <p:endCondLst>
                                    <p:cond evt="onNext" delay="0">
                                      <p:tgtEl>
                                        <p:sldTgt/>
                                      </p:tgtEl>
                                    </p:cond>
                                  </p:endCondLst>
                                  <p:childTnLst>
                                    <p:anim calcmode="discrete" valueType="str">
                                      <p:cBhvr>
                                        <p:cTn id="6" dur="1000" fill="hold"/>
                                        <p:tgtEl>
                                          <p:spTgt spid="8"/>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164330" y="3610397"/>
            <a:ext cx="6834042" cy="509959"/>
          </a:xfrm>
          <a:prstGeom prst="rect">
            <a:avLst/>
          </a:prstGeom>
          <a:solidFill>
            <a:srgbClr val="FFFF99"/>
          </a:solid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b="1" dirty="0">
                <a:latin typeface="微软雅黑" pitchFamily="34" charset="-122"/>
                <a:ea typeface="微软雅黑" pitchFamily="34" charset="-122"/>
              </a:rPr>
              <a:t> </a:t>
            </a:r>
            <a:r>
              <a:rPr lang="zh-CN" altLang="en-US" sz="2400" b="1" dirty="0">
                <a:latin typeface="微软雅黑" pitchFamily="34" charset="-122"/>
                <a:ea typeface="微软雅黑" pitchFamily="34" charset="-122"/>
              </a:rPr>
              <a:t>∑</a:t>
            </a:r>
            <a:r>
              <a:rPr lang="zh-CN" altLang="en-US" sz="2000" b="1" dirty="0">
                <a:latin typeface="微软雅黑" pitchFamily="34" charset="-122"/>
                <a:ea typeface="微软雅黑" pitchFamily="34" charset="-122"/>
              </a:rPr>
              <a:t> 对资源需求  </a:t>
            </a:r>
            <a:r>
              <a:rPr lang="en-US" altLang="zh-CN" sz="2000" b="1" dirty="0">
                <a:latin typeface="微软雅黑" pitchFamily="34" charset="-122"/>
                <a:ea typeface="微软雅黑" pitchFamily="34" charset="-122"/>
              </a:rPr>
              <a:t>&gt; </a:t>
            </a:r>
            <a:r>
              <a:rPr lang="zh-CN" altLang="en-US" sz="2000" b="1" dirty="0">
                <a:latin typeface="微软雅黑" pitchFamily="34" charset="-122"/>
                <a:ea typeface="微软雅黑" pitchFamily="34" charset="-122"/>
              </a:rPr>
              <a:t>可用资源                      </a:t>
            </a:r>
            <a:r>
              <a:rPr lang="en-US" altLang="zh-CN" sz="2000" b="1" dirty="0">
                <a:latin typeface="微软雅黑" pitchFamily="34" charset="-122"/>
                <a:ea typeface="微软雅黑" pitchFamily="34" charset="-122"/>
              </a:rPr>
              <a:t>(5-7)</a:t>
            </a:r>
          </a:p>
        </p:txBody>
      </p:sp>
      <p:sp>
        <p:nvSpPr>
          <p:cNvPr id="7" name="内容占位符 6">
            <a:extLst>
              <a:ext uri="{FF2B5EF4-FFF2-40B4-BE49-F238E27FC236}">
                <a16:creationId xmlns:a16="http://schemas.microsoft.com/office/drawing/2014/main" id="{697CDC23-6CE0-F7BE-5856-647D11378F10}"/>
              </a:ext>
            </a:extLst>
          </p:cNvPr>
          <p:cNvSpPr>
            <a:spLocks noGrp="1"/>
          </p:cNvSpPr>
          <p:nvPr>
            <p:ph sz="quarter" idx="11"/>
          </p:nvPr>
        </p:nvSpPr>
        <p:spPr>
          <a:xfrm>
            <a:off x="486000" y="482554"/>
            <a:ext cx="8172000" cy="4120946"/>
          </a:xfrm>
        </p:spPr>
        <p:txBody>
          <a:bodyPr/>
          <a:lstStyle/>
          <a:p>
            <a:r>
              <a:rPr lang="zh-CN" altLang="en-US" dirty="0"/>
              <a:t>由许多因素引起。例如：</a:t>
            </a:r>
            <a:endParaRPr lang="en-US" altLang="zh-CN" dirty="0"/>
          </a:p>
          <a:p>
            <a:r>
              <a:rPr lang="zh-CN" altLang="en-US" dirty="0"/>
              <a:t>节点缓存容量太小</a:t>
            </a:r>
            <a:endParaRPr lang="en-US" altLang="zh-CN" dirty="0"/>
          </a:p>
          <a:p>
            <a:r>
              <a:rPr lang="zh-CN" altLang="en-US" dirty="0"/>
              <a:t>链路容量不足</a:t>
            </a:r>
            <a:endParaRPr lang="en-US" altLang="zh-CN" dirty="0"/>
          </a:p>
          <a:p>
            <a:r>
              <a:rPr lang="zh-CN" altLang="en-US" dirty="0"/>
              <a:t>处理机处理速率太慢</a:t>
            </a:r>
            <a:endParaRPr lang="en-US" altLang="zh-CN" dirty="0"/>
          </a:p>
          <a:p>
            <a:r>
              <a:rPr lang="zh-CN" altLang="en-US" dirty="0"/>
              <a:t>拥塞本身会进一步加剧拥塞</a:t>
            </a:r>
            <a:endParaRPr lang="en-US" altLang="zh-CN" dirty="0"/>
          </a:p>
          <a:p>
            <a:r>
              <a:rPr lang="zh-CN" altLang="en-US" dirty="0"/>
              <a:t>出现网络拥塞的条件</a:t>
            </a:r>
          </a:p>
          <a:p>
            <a:endParaRPr lang="zh-CN" altLang="en-US" dirty="0"/>
          </a:p>
        </p:txBody>
      </p:sp>
      <p:sp>
        <p:nvSpPr>
          <p:cNvPr id="6" name="标题 5">
            <a:extLst>
              <a:ext uri="{FF2B5EF4-FFF2-40B4-BE49-F238E27FC236}">
                <a16:creationId xmlns:a16="http://schemas.microsoft.com/office/drawing/2014/main" id="{1B8332EC-4D95-DC91-2850-A61722867FC1}"/>
              </a:ext>
            </a:extLst>
          </p:cNvPr>
          <p:cNvSpPr>
            <a:spLocks noGrp="1"/>
          </p:cNvSpPr>
          <p:nvPr>
            <p:ph type="title"/>
          </p:nvPr>
        </p:nvSpPr>
        <p:spPr>
          <a:xfrm>
            <a:off x="2808000" y="144000"/>
            <a:ext cx="3528000" cy="338554"/>
          </a:xfrm>
        </p:spPr>
        <p:txBody>
          <a:bodyPr/>
          <a:lstStyle/>
          <a:p>
            <a:r>
              <a:rPr lang="zh-CN" altLang="en-US" dirty="0"/>
              <a:t>拥塞产生的原因</a:t>
            </a:r>
          </a:p>
        </p:txBody>
      </p:sp>
    </p:spTree>
    <p:extLst>
      <p:ext uri="{BB962C8B-B14F-4D97-AF65-F5344CB8AC3E}">
        <p14:creationId xmlns:p14="http://schemas.microsoft.com/office/powerpoint/2010/main" val="19341315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9">
            <a:extLst>
              <a:ext uri="{FF2B5EF4-FFF2-40B4-BE49-F238E27FC236}">
                <a16:creationId xmlns:a16="http://schemas.microsoft.com/office/drawing/2014/main" id="{6FA15031-680D-D453-41F6-F447F9DCE731}"/>
              </a:ext>
            </a:extLst>
          </p:cNvPr>
          <p:cNvSpPr>
            <a:spLocks noGrp="1"/>
          </p:cNvSpPr>
          <p:nvPr>
            <p:ph sz="quarter" idx="11"/>
          </p:nvPr>
        </p:nvSpPr>
        <p:spPr>
          <a:xfrm>
            <a:off x="486000" y="482554"/>
            <a:ext cx="8172000" cy="4120946"/>
          </a:xfrm>
        </p:spPr>
        <p:txBody>
          <a:bodyPr/>
          <a:lstStyle/>
          <a:p>
            <a:r>
              <a:rPr lang="zh-CN" altLang="en-US" dirty="0"/>
              <a:t>不能，而且还可能使网络的性能更坏</a:t>
            </a:r>
          </a:p>
          <a:p>
            <a:r>
              <a:rPr lang="zh-CN" altLang="en-US" dirty="0"/>
              <a:t>例如：</a:t>
            </a:r>
          </a:p>
          <a:p>
            <a:r>
              <a:rPr lang="zh-CN" altLang="en-US" dirty="0"/>
              <a:t>增大缓存，但未提高输出链路的容量和处理机的速度，排队等待时间将会大大增加，引起大量超时重传，解决不了网络拥塞</a:t>
            </a:r>
          </a:p>
          <a:p>
            <a:r>
              <a:rPr lang="zh-CN" altLang="en-US" dirty="0"/>
              <a:t>提高处理机处理的速率会将瓶颈转移到其他地方</a:t>
            </a:r>
            <a:endParaRPr lang="en-US" altLang="zh-CN" dirty="0"/>
          </a:p>
          <a:p>
            <a:r>
              <a:rPr lang="zh-CN" altLang="en-US" dirty="0"/>
              <a:t>拥塞引起的重传并不会缓解网络的拥塞，反而会加剧网络的拥塞</a:t>
            </a:r>
          </a:p>
          <a:p>
            <a:endParaRPr lang="zh-CN" altLang="en-US" dirty="0"/>
          </a:p>
        </p:txBody>
      </p:sp>
      <p:sp>
        <p:nvSpPr>
          <p:cNvPr id="9" name="标题 8">
            <a:extLst>
              <a:ext uri="{FF2B5EF4-FFF2-40B4-BE49-F238E27FC236}">
                <a16:creationId xmlns:a16="http://schemas.microsoft.com/office/drawing/2014/main" id="{09D840DB-7DB8-10ED-7973-AB76AFB1E282}"/>
              </a:ext>
            </a:extLst>
          </p:cNvPr>
          <p:cNvSpPr>
            <a:spLocks noGrp="1"/>
          </p:cNvSpPr>
          <p:nvPr>
            <p:ph type="title"/>
          </p:nvPr>
        </p:nvSpPr>
        <p:spPr>
          <a:xfrm>
            <a:off x="2808000" y="144000"/>
            <a:ext cx="3528000" cy="338554"/>
          </a:xfrm>
        </p:spPr>
        <p:txBody>
          <a:bodyPr/>
          <a:lstStyle/>
          <a:p>
            <a:r>
              <a:rPr lang="zh-CN" altLang="en-US" dirty="0"/>
              <a:t>增加资源能解决拥塞吗？</a:t>
            </a:r>
          </a:p>
        </p:txBody>
      </p:sp>
    </p:spTree>
    <p:extLst>
      <p:ext uri="{BB962C8B-B14F-4D97-AF65-F5344CB8AC3E}">
        <p14:creationId xmlns:p14="http://schemas.microsoft.com/office/powerpoint/2010/main" val="298206758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任意多边形: 形状 5">
            <a:extLst>
              <a:ext uri="{FF2B5EF4-FFF2-40B4-BE49-F238E27FC236}">
                <a16:creationId xmlns:a16="http://schemas.microsoft.com/office/drawing/2014/main" id="{FE60E7F4-D657-01F8-617D-0BFF8137E239}"/>
              </a:ext>
            </a:extLst>
          </p:cNvPr>
          <p:cNvSpPr/>
          <p:nvPr/>
        </p:nvSpPr>
        <p:spPr>
          <a:xfrm>
            <a:off x="1062121" y="1046096"/>
            <a:ext cx="3322842" cy="720000"/>
          </a:xfrm>
          <a:custGeom>
            <a:avLst/>
            <a:gdLst>
              <a:gd name="connsiteX0" fmla="*/ 0 w 3322842"/>
              <a:gd name="connsiteY0" fmla="*/ 0 h 1329136"/>
              <a:gd name="connsiteX1" fmla="*/ 3322842 w 3322842"/>
              <a:gd name="connsiteY1" fmla="*/ 0 h 1329136"/>
              <a:gd name="connsiteX2" fmla="*/ 3322842 w 3322842"/>
              <a:gd name="connsiteY2" fmla="*/ 1329136 h 1329136"/>
              <a:gd name="connsiteX3" fmla="*/ 0 w 3322842"/>
              <a:gd name="connsiteY3" fmla="*/ 1329136 h 1329136"/>
              <a:gd name="connsiteX4" fmla="*/ 0 w 3322842"/>
              <a:gd name="connsiteY4" fmla="*/ 0 h 13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1329136">
                <a:moveTo>
                  <a:pt x="0" y="0"/>
                </a:moveTo>
                <a:lnTo>
                  <a:pt x="3322842" y="0"/>
                </a:lnTo>
                <a:lnTo>
                  <a:pt x="3322842" y="1329136"/>
                </a:lnTo>
                <a:lnTo>
                  <a:pt x="0" y="1329136"/>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1600" kern="1200" dirty="0">
                <a:latin typeface="Montserrat" panose="00000500000000000000" pitchFamily="2" charset="0"/>
                <a:ea typeface="微软雅黑 Light" panose="020B0502040204020203" pitchFamily="34" charset="-122"/>
              </a:rPr>
              <a:t>拥塞控制</a:t>
            </a:r>
          </a:p>
        </p:txBody>
      </p:sp>
      <p:sp>
        <p:nvSpPr>
          <p:cNvPr id="7" name="任意多边形: 形状 6">
            <a:extLst>
              <a:ext uri="{FF2B5EF4-FFF2-40B4-BE49-F238E27FC236}">
                <a16:creationId xmlns:a16="http://schemas.microsoft.com/office/drawing/2014/main" id="{4AF0FA90-F16E-73A8-8570-3CCB4B4005C4}"/>
              </a:ext>
            </a:extLst>
          </p:cNvPr>
          <p:cNvSpPr/>
          <p:nvPr/>
        </p:nvSpPr>
        <p:spPr>
          <a:xfrm>
            <a:off x="1062121" y="1766096"/>
            <a:ext cx="3322842" cy="2717296"/>
          </a:xfrm>
          <a:custGeom>
            <a:avLst/>
            <a:gdLst>
              <a:gd name="connsiteX0" fmla="*/ 0 w 3322842"/>
              <a:gd name="connsiteY0" fmla="*/ 0 h 2108160"/>
              <a:gd name="connsiteX1" fmla="*/ 3322842 w 3322842"/>
              <a:gd name="connsiteY1" fmla="*/ 0 h 2108160"/>
              <a:gd name="connsiteX2" fmla="*/ 3322842 w 3322842"/>
              <a:gd name="connsiteY2" fmla="*/ 2108160 h 2108160"/>
              <a:gd name="connsiteX3" fmla="*/ 0 w 3322842"/>
              <a:gd name="connsiteY3" fmla="*/ 2108160 h 2108160"/>
              <a:gd name="connsiteX4" fmla="*/ 0 w 3322842"/>
              <a:gd name="connsiteY4" fmla="*/ 0 h 210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2108160">
                <a:moveTo>
                  <a:pt x="0" y="0"/>
                </a:moveTo>
                <a:lnTo>
                  <a:pt x="3322842" y="0"/>
                </a:lnTo>
                <a:lnTo>
                  <a:pt x="3322842" y="2108160"/>
                </a:lnTo>
                <a:lnTo>
                  <a:pt x="0" y="2108160"/>
                </a:lnTo>
                <a:lnTo>
                  <a:pt x="0" y="0"/>
                </a:lnTo>
                <a:close/>
              </a:path>
            </a:pathLst>
          </a:custGeom>
          <a:noFill/>
        </p:spPr>
        <p:style>
          <a:lnRef idx="2">
            <a:schemeClr val="accent2">
              <a:tint val="40000"/>
              <a:alpha val="90000"/>
              <a:hueOff val="0"/>
              <a:satOff val="0"/>
              <a:lumOff val="0"/>
              <a:alphaOff val="0"/>
            </a:schemeClr>
          </a:lnRef>
          <a:fillRef idx="1">
            <a:scrgbClr r="0" g="0" b="0"/>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114300" lvl="1" indent="-114300" algn="just" defTabSz="622300">
              <a:lnSpc>
                <a:spcPct val="90000"/>
              </a:lnSpc>
              <a:spcBef>
                <a:spcPct val="0"/>
              </a:spcBef>
              <a:spcAft>
                <a:spcPct val="15000"/>
              </a:spcAft>
              <a:buChar char="•"/>
            </a:pPr>
            <a:r>
              <a:rPr lang="zh-CN" altLang="en-US" sz="1400" b="0" kern="1200" dirty="0">
                <a:latin typeface="Montserrat" panose="00000500000000000000" pitchFamily="2" charset="0"/>
                <a:ea typeface="微软雅黑 Light" panose="020B0502040204020203" pitchFamily="34" charset="-122"/>
              </a:rPr>
              <a:t>防止过多的数据注入到网络中，避免网络中的路由器或链路过载</a:t>
            </a:r>
          </a:p>
          <a:p>
            <a:pPr marL="114300" lvl="1" indent="-114300" algn="just" defTabSz="622300">
              <a:lnSpc>
                <a:spcPct val="90000"/>
              </a:lnSpc>
              <a:spcBef>
                <a:spcPct val="0"/>
              </a:spcBef>
              <a:spcAft>
                <a:spcPct val="15000"/>
              </a:spcAft>
              <a:buChar char="•"/>
            </a:pPr>
            <a:r>
              <a:rPr lang="zh-CN" altLang="en-US" sz="1400" b="0" kern="1200" dirty="0">
                <a:latin typeface="Montserrat" panose="00000500000000000000" pitchFamily="2" charset="0"/>
                <a:ea typeface="微软雅黑 Light" panose="020B0502040204020203" pitchFamily="34" charset="-122"/>
              </a:rPr>
              <a:t>是一个全局性的过程，涉及到所有的主机、路由器，以及与降低网络传输性能有关的所有因素</a:t>
            </a:r>
          </a:p>
        </p:txBody>
      </p:sp>
      <p:sp>
        <p:nvSpPr>
          <p:cNvPr id="8" name="任意多边形: 形状 7">
            <a:extLst>
              <a:ext uri="{FF2B5EF4-FFF2-40B4-BE49-F238E27FC236}">
                <a16:creationId xmlns:a16="http://schemas.microsoft.com/office/drawing/2014/main" id="{CA6A74E6-1AED-C03A-C0FD-91D6EAAF96FC}"/>
              </a:ext>
            </a:extLst>
          </p:cNvPr>
          <p:cNvSpPr/>
          <p:nvPr/>
        </p:nvSpPr>
        <p:spPr>
          <a:xfrm>
            <a:off x="4850161" y="1046096"/>
            <a:ext cx="3322842" cy="720000"/>
          </a:xfrm>
          <a:custGeom>
            <a:avLst/>
            <a:gdLst>
              <a:gd name="connsiteX0" fmla="*/ 0 w 3322842"/>
              <a:gd name="connsiteY0" fmla="*/ 0 h 1329136"/>
              <a:gd name="connsiteX1" fmla="*/ 3322842 w 3322842"/>
              <a:gd name="connsiteY1" fmla="*/ 0 h 1329136"/>
              <a:gd name="connsiteX2" fmla="*/ 3322842 w 3322842"/>
              <a:gd name="connsiteY2" fmla="*/ 1329136 h 1329136"/>
              <a:gd name="connsiteX3" fmla="*/ 0 w 3322842"/>
              <a:gd name="connsiteY3" fmla="*/ 1329136 h 1329136"/>
              <a:gd name="connsiteX4" fmla="*/ 0 w 3322842"/>
              <a:gd name="connsiteY4" fmla="*/ 0 h 13291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1329136">
                <a:moveTo>
                  <a:pt x="0" y="0"/>
                </a:moveTo>
                <a:lnTo>
                  <a:pt x="3322842" y="0"/>
                </a:lnTo>
                <a:lnTo>
                  <a:pt x="3322842" y="1329136"/>
                </a:lnTo>
                <a:lnTo>
                  <a:pt x="0" y="1329136"/>
                </a:lnTo>
                <a:lnTo>
                  <a:pt x="0" y="0"/>
                </a:lnTo>
                <a:close/>
              </a:path>
            </a:pathLst>
          </a:custGeom>
        </p:spPr>
        <p:style>
          <a:lnRef idx="2">
            <a:schemeClr val="accent2">
              <a:hueOff val="4681519"/>
              <a:satOff val="-5839"/>
              <a:lumOff val="1373"/>
              <a:alphaOff val="0"/>
            </a:schemeClr>
          </a:lnRef>
          <a:fillRef idx="1">
            <a:schemeClr val="accent2">
              <a:hueOff val="4681519"/>
              <a:satOff val="-5839"/>
              <a:lumOff val="1373"/>
              <a:alphaOff val="0"/>
            </a:schemeClr>
          </a:fillRef>
          <a:effectRef idx="0">
            <a:schemeClr val="accent2">
              <a:hueOff val="4681519"/>
              <a:satOff val="-5839"/>
              <a:lumOff val="1373"/>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1600" kern="1200" dirty="0">
                <a:latin typeface="Montserrat" panose="00000500000000000000" pitchFamily="2" charset="0"/>
                <a:ea typeface="微软雅黑 Light" panose="020B0502040204020203" pitchFamily="34" charset="-122"/>
              </a:rPr>
              <a:t>流量控制</a:t>
            </a:r>
          </a:p>
        </p:txBody>
      </p:sp>
      <p:sp>
        <p:nvSpPr>
          <p:cNvPr id="9" name="任意多边形: 形状 8">
            <a:extLst>
              <a:ext uri="{FF2B5EF4-FFF2-40B4-BE49-F238E27FC236}">
                <a16:creationId xmlns:a16="http://schemas.microsoft.com/office/drawing/2014/main" id="{7B2B9B0E-1A3C-D3B0-04BE-23CE1CA3B7E0}"/>
              </a:ext>
            </a:extLst>
          </p:cNvPr>
          <p:cNvSpPr/>
          <p:nvPr/>
        </p:nvSpPr>
        <p:spPr>
          <a:xfrm>
            <a:off x="4850161" y="1766096"/>
            <a:ext cx="3322842" cy="2717296"/>
          </a:xfrm>
          <a:custGeom>
            <a:avLst/>
            <a:gdLst>
              <a:gd name="connsiteX0" fmla="*/ 0 w 3322842"/>
              <a:gd name="connsiteY0" fmla="*/ 0 h 2108160"/>
              <a:gd name="connsiteX1" fmla="*/ 3322842 w 3322842"/>
              <a:gd name="connsiteY1" fmla="*/ 0 h 2108160"/>
              <a:gd name="connsiteX2" fmla="*/ 3322842 w 3322842"/>
              <a:gd name="connsiteY2" fmla="*/ 2108160 h 2108160"/>
              <a:gd name="connsiteX3" fmla="*/ 0 w 3322842"/>
              <a:gd name="connsiteY3" fmla="*/ 2108160 h 2108160"/>
              <a:gd name="connsiteX4" fmla="*/ 0 w 3322842"/>
              <a:gd name="connsiteY4" fmla="*/ 0 h 2108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2108160">
                <a:moveTo>
                  <a:pt x="0" y="0"/>
                </a:moveTo>
                <a:lnTo>
                  <a:pt x="3322842" y="0"/>
                </a:lnTo>
                <a:lnTo>
                  <a:pt x="3322842" y="2108160"/>
                </a:lnTo>
                <a:lnTo>
                  <a:pt x="0" y="2108160"/>
                </a:lnTo>
                <a:lnTo>
                  <a:pt x="0" y="0"/>
                </a:lnTo>
                <a:close/>
              </a:path>
            </a:pathLst>
          </a:custGeom>
          <a:noFill/>
        </p:spPr>
        <p:style>
          <a:lnRef idx="2">
            <a:schemeClr val="accent2">
              <a:tint val="40000"/>
              <a:alpha val="90000"/>
              <a:hueOff val="5025821"/>
              <a:satOff val="-4378"/>
              <a:lumOff val="-6"/>
              <a:alphaOff val="0"/>
            </a:schemeClr>
          </a:lnRef>
          <a:fillRef idx="1">
            <a:scrgbClr r="0" g="0" b="0"/>
          </a:fillRef>
          <a:effectRef idx="0">
            <a:schemeClr val="accent2">
              <a:tint val="40000"/>
              <a:alpha val="90000"/>
              <a:hueOff val="5025821"/>
              <a:satOff val="-4378"/>
              <a:lumOff val="-6"/>
              <a:alphaOff val="0"/>
            </a:schemeClr>
          </a:effectRef>
          <a:fontRef idx="minor">
            <a:schemeClr val="dk1">
              <a:hueOff val="0"/>
              <a:satOff val="0"/>
              <a:lumOff val="0"/>
              <a:alphaOff val="0"/>
            </a:schemeClr>
          </a:fontRef>
        </p:style>
        <p:txBody>
          <a:bodyPr spcFirstLastPara="0" vert="horz" wrap="square" lIns="74676" tIns="74676" rIns="99568" bIns="112014" numCol="1" spcCol="1270" anchor="t" anchorCtr="0">
            <a:noAutofit/>
          </a:bodyPr>
          <a:lstStyle/>
          <a:p>
            <a:pPr marL="114300" lvl="1" indent="-114300" algn="just" defTabSz="622300">
              <a:lnSpc>
                <a:spcPct val="90000"/>
              </a:lnSpc>
              <a:spcBef>
                <a:spcPct val="0"/>
              </a:spcBef>
              <a:spcAft>
                <a:spcPct val="15000"/>
              </a:spcAft>
              <a:buChar char="•"/>
            </a:pPr>
            <a:r>
              <a:rPr lang="zh-CN" altLang="en-US" sz="1400" b="0" kern="1200" dirty="0">
                <a:latin typeface="Montserrat" panose="00000500000000000000" pitchFamily="2" charset="0"/>
                <a:ea typeface="微软雅黑 Light" panose="020B0502040204020203" pitchFamily="34" charset="-122"/>
              </a:rPr>
              <a:t>抑制发送端发送数据的速率，以使接收端来得及接收</a:t>
            </a:r>
          </a:p>
          <a:p>
            <a:pPr marL="114300" lvl="1" indent="-114300" algn="just" defTabSz="622300">
              <a:lnSpc>
                <a:spcPct val="90000"/>
              </a:lnSpc>
              <a:spcBef>
                <a:spcPct val="0"/>
              </a:spcBef>
              <a:spcAft>
                <a:spcPct val="15000"/>
              </a:spcAft>
              <a:buChar char="•"/>
            </a:pPr>
            <a:r>
              <a:rPr lang="zh-CN" altLang="en-US" sz="1400" b="0" kern="1200" dirty="0">
                <a:latin typeface="Montserrat" panose="00000500000000000000" pitchFamily="2" charset="0"/>
                <a:ea typeface="微软雅黑 Light" panose="020B0502040204020203" pitchFamily="34" charset="-122"/>
              </a:rPr>
              <a:t>点对点通信量的控制，是个端到端的问题</a:t>
            </a:r>
          </a:p>
        </p:txBody>
      </p:sp>
      <p:sp>
        <p:nvSpPr>
          <p:cNvPr id="3" name="标题 2">
            <a:extLst>
              <a:ext uri="{FF2B5EF4-FFF2-40B4-BE49-F238E27FC236}">
                <a16:creationId xmlns:a16="http://schemas.microsoft.com/office/drawing/2014/main" id="{253A8BC7-CDF5-C9AA-24C9-06A26920A1FA}"/>
              </a:ext>
            </a:extLst>
          </p:cNvPr>
          <p:cNvSpPr>
            <a:spLocks noGrp="1"/>
          </p:cNvSpPr>
          <p:nvPr>
            <p:ph type="title"/>
          </p:nvPr>
        </p:nvSpPr>
        <p:spPr>
          <a:xfrm>
            <a:off x="2808000" y="144000"/>
            <a:ext cx="3528000" cy="338554"/>
          </a:xfrm>
        </p:spPr>
        <p:txBody>
          <a:bodyPr/>
          <a:lstStyle/>
          <a:p>
            <a:r>
              <a:rPr lang="zh-CN" altLang="en-US" dirty="0"/>
              <a:t>拥塞控制与流量控制的区别</a:t>
            </a:r>
          </a:p>
        </p:txBody>
      </p:sp>
    </p:spTree>
    <p:extLst>
      <p:ext uri="{BB962C8B-B14F-4D97-AF65-F5344CB8AC3E}">
        <p14:creationId xmlns:p14="http://schemas.microsoft.com/office/powerpoint/2010/main" val="173579302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 name="Group 23"/>
          <p:cNvGrpSpPr>
            <a:grpSpLocks/>
          </p:cNvGrpSpPr>
          <p:nvPr/>
        </p:nvGrpSpPr>
        <p:grpSpPr bwMode="auto">
          <a:xfrm>
            <a:off x="1727122" y="2465424"/>
            <a:ext cx="4477739" cy="1692477"/>
            <a:chOff x="651" y="2544"/>
            <a:chExt cx="3800" cy="1556"/>
          </a:xfrm>
        </p:grpSpPr>
        <p:sp>
          <p:nvSpPr>
            <p:cNvPr id="62" name="Line 24"/>
            <p:cNvSpPr>
              <a:spLocks noChangeShapeType="1"/>
            </p:cNvSpPr>
            <p:nvPr/>
          </p:nvSpPr>
          <p:spPr bwMode="auto">
            <a:xfrm>
              <a:off x="2585" y="3737"/>
              <a:ext cx="848"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63" name="Line 25"/>
            <p:cNvSpPr>
              <a:spLocks noChangeShapeType="1"/>
            </p:cNvSpPr>
            <p:nvPr/>
          </p:nvSpPr>
          <p:spPr bwMode="auto">
            <a:xfrm>
              <a:off x="1633" y="3737"/>
              <a:ext cx="943"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grpSp>
          <p:nvGrpSpPr>
            <p:cNvPr id="64" name="Group 26"/>
            <p:cNvGrpSpPr>
              <a:grpSpLocks/>
            </p:cNvGrpSpPr>
            <p:nvPr/>
          </p:nvGrpSpPr>
          <p:grpSpPr bwMode="auto">
            <a:xfrm>
              <a:off x="651" y="2544"/>
              <a:ext cx="3800" cy="1556"/>
              <a:chOff x="651" y="2544"/>
              <a:chExt cx="3800" cy="1556"/>
            </a:xfrm>
          </p:grpSpPr>
          <p:grpSp>
            <p:nvGrpSpPr>
              <p:cNvPr id="65" name="Group 27"/>
              <p:cNvGrpSpPr>
                <a:grpSpLocks/>
              </p:cNvGrpSpPr>
              <p:nvPr/>
            </p:nvGrpSpPr>
            <p:grpSpPr bwMode="auto">
              <a:xfrm>
                <a:off x="651" y="2544"/>
                <a:ext cx="3800" cy="1252"/>
                <a:chOff x="651" y="2544"/>
                <a:chExt cx="3800" cy="1252"/>
              </a:xfrm>
            </p:grpSpPr>
            <p:sp>
              <p:nvSpPr>
                <p:cNvPr id="68" name="Freeform 28"/>
                <p:cNvSpPr>
                  <a:spLocks/>
                </p:cNvSpPr>
                <p:nvPr/>
              </p:nvSpPr>
              <p:spPr bwMode="auto">
                <a:xfrm>
                  <a:off x="651" y="2595"/>
                  <a:ext cx="2773" cy="964"/>
                </a:xfrm>
                <a:custGeom>
                  <a:avLst/>
                  <a:gdLst>
                    <a:gd name="T0" fmla="*/ 0 w 1728"/>
                    <a:gd name="T1" fmla="*/ 964 h 781"/>
                    <a:gd name="T2" fmla="*/ 1204 w 1728"/>
                    <a:gd name="T3" fmla="*/ 186 h 781"/>
                    <a:gd name="T4" fmla="*/ 1733 w 1728"/>
                    <a:gd name="T5" fmla="*/ 23 h 781"/>
                    <a:gd name="T6" fmla="*/ 2109 w 1728"/>
                    <a:gd name="T7" fmla="*/ 46 h 781"/>
                    <a:gd name="T8" fmla="*/ 2388 w 1728"/>
                    <a:gd name="T9" fmla="*/ 216 h 781"/>
                    <a:gd name="T10" fmla="*/ 2571 w 1728"/>
                    <a:gd name="T11" fmla="*/ 453 h 781"/>
                    <a:gd name="T12" fmla="*/ 2706 w 1728"/>
                    <a:gd name="T13" fmla="*/ 727 h 781"/>
                    <a:gd name="T14" fmla="*/ 2773 w 1728"/>
                    <a:gd name="T15" fmla="*/ 964 h 78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728" h="781">
                      <a:moveTo>
                        <a:pt x="0" y="781"/>
                      </a:moveTo>
                      <a:cubicBezTo>
                        <a:pt x="285" y="529"/>
                        <a:pt x="570" y="278"/>
                        <a:pt x="750" y="151"/>
                      </a:cubicBezTo>
                      <a:cubicBezTo>
                        <a:pt x="930" y="24"/>
                        <a:pt x="986" y="38"/>
                        <a:pt x="1080" y="19"/>
                      </a:cubicBezTo>
                      <a:cubicBezTo>
                        <a:pt x="1174" y="0"/>
                        <a:pt x="1246" y="11"/>
                        <a:pt x="1314" y="37"/>
                      </a:cubicBezTo>
                      <a:cubicBezTo>
                        <a:pt x="1382" y="63"/>
                        <a:pt x="1440" y="120"/>
                        <a:pt x="1488" y="175"/>
                      </a:cubicBezTo>
                      <a:cubicBezTo>
                        <a:pt x="1536" y="230"/>
                        <a:pt x="1569" y="298"/>
                        <a:pt x="1602" y="367"/>
                      </a:cubicBezTo>
                      <a:cubicBezTo>
                        <a:pt x="1635" y="436"/>
                        <a:pt x="1665" y="520"/>
                        <a:pt x="1686" y="589"/>
                      </a:cubicBezTo>
                      <a:cubicBezTo>
                        <a:pt x="1707" y="658"/>
                        <a:pt x="1717" y="719"/>
                        <a:pt x="1728" y="781"/>
                      </a:cubicBezTo>
                    </a:path>
                  </a:pathLst>
                </a:custGeom>
                <a:noFill/>
                <a:ln w="38100" cmpd="sng">
                  <a:solidFill>
                    <a:srgbClr val="00CC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69" name="Line 29"/>
                <p:cNvSpPr>
                  <a:spLocks noChangeShapeType="1"/>
                </p:cNvSpPr>
                <p:nvPr/>
              </p:nvSpPr>
              <p:spPr bwMode="auto">
                <a:xfrm>
                  <a:off x="2576" y="2611"/>
                  <a:ext cx="0" cy="948"/>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0" name="Text Box 30"/>
                <p:cNvSpPr txBox="1">
                  <a:spLocks noChangeArrowheads="1"/>
                </p:cNvSpPr>
                <p:nvPr/>
              </p:nvSpPr>
              <p:spPr bwMode="auto">
                <a:xfrm>
                  <a:off x="3532" y="2544"/>
                  <a:ext cx="919"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solidFill>
                        <a:srgbClr val="000066"/>
                      </a:solidFill>
                      <a:latin typeface="Montserrat" panose="00000500000000000000" pitchFamily="2" charset="0"/>
                      <a:ea typeface="微软雅黑 Light" panose="020B0502040204020203" pitchFamily="34" charset="-122"/>
                    </a:rPr>
                    <a:t>无拥塞控制</a:t>
                  </a:r>
                </a:p>
              </p:txBody>
            </p:sp>
            <p:sp>
              <p:nvSpPr>
                <p:cNvPr id="71" name="Line 31"/>
                <p:cNvSpPr>
                  <a:spLocks noChangeShapeType="1"/>
                </p:cNvSpPr>
                <p:nvPr/>
              </p:nvSpPr>
              <p:spPr bwMode="auto">
                <a:xfrm flipH="1">
                  <a:off x="3125" y="2759"/>
                  <a:ext cx="453" cy="1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2" name="Line 32"/>
                <p:cNvSpPr>
                  <a:spLocks noChangeShapeType="1"/>
                </p:cNvSpPr>
                <p:nvPr/>
              </p:nvSpPr>
              <p:spPr bwMode="auto">
                <a:xfrm>
                  <a:off x="1619" y="2848"/>
                  <a:ext cx="0" cy="71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3" name="Line 33"/>
                <p:cNvSpPr>
                  <a:spLocks noChangeShapeType="1"/>
                </p:cNvSpPr>
                <p:nvPr/>
              </p:nvSpPr>
              <p:spPr bwMode="auto">
                <a:xfrm>
                  <a:off x="2576"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4" name="Line 34"/>
                <p:cNvSpPr>
                  <a:spLocks noChangeShapeType="1"/>
                </p:cNvSpPr>
                <p:nvPr/>
              </p:nvSpPr>
              <p:spPr bwMode="auto">
                <a:xfrm>
                  <a:off x="3424"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sp>
              <p:nvSpPr>
                <p:cNvPr id="75" name="Line 35"/>
                <p:cNvSpPr>
                  <a:spLocks noChangeShapeType="1"/>
                </p:cNvSpPr>
                <p:nvPr/>
              </p:nvSpPr>
              <p:spPr bwMode="auto">
                <a:xfrm>
                  <a:off x="1619" y="3559"/>
                  <a:ext cx="0" cy="2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solidFill>
                      <a:srgbClr val="000099"/>
                    </a:solidFill>
                    <a:latin typeface="Montserrat" panose="00000500000000000000" pitchFamily="2" charset="0"/>
                    <a:ea typeface="微软雅黑 Light" panose="020B0502040204020203" pitchFamily="34" charset="-122"/>
                  </a:endParaRPr>
                </a:p>
              </p:txBody>
            </p:sp>
          </p:grpSp>
          <p:sp>
            <p:nvSpPr>
              <p:cNvPr id="66" name="Text Box 36"/>
              <p:cNvSpPr txBox="1">
                <a:spLocks noChangeArrowheads="1"/>
              </p:cNvSpPr>
              <p:nvPr/>
            </p:nvSpPr>
            <p:spPr bwMode="auto">
              <a:xfrm>
                <a:off x="2748" y="3589"/>
                <a:ext cx="461" cy="28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solidFill>
                      <a:srgbClr val="0000FF"/>
                    </a:solidFill>
                    <a:latin typeface="Montserrat" panose="00000500000000000000" pitchFamily="2" charset="0"/>
                    <a:ea typeface="微软雅黑 Light" panose="020B0502040204020203" pitchFamily="34" charset="-122"/>
                  </a:rPr>
                  <a:t>拥塞</a:t>
                </a:r>
              </a:p>
            </p:txBody>
          </p:sp>
          <p:sp>
            <p:nvSpPr>
              <p:cNvPr id="67" name="Text Box 37"/>
              <p:cNvSpPr txBox="1">
                <a:spLocks noChangeArrowheads="1"/>
              </p:cNvSpPr>
              <p:nvPr/>
            </p:nvSpPr>
            <p:spPr bwMode="auto">
              <a:xfrm>
                <a:off x="1872" y="3619"/>
                <a:ext cx="461" cy="48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eaLnBrk="1" hangingPunct="1"/>
                <a:r>
                  <a:rPr lang="zh-CN" altLang="en-US" sz="1400" b="0" dirty="0">
                    <a:latin typeface="Montserrat" panose="00000500000000000000" pitchFamily="2" charset="0"/>
                    <a:ea typeface="微软雅黑 Light" panose="020B0502040204020203" pitchFamily="34" charset="-122"/>
                  </a:rPr>
                  <a:t>轻度</a:t>
                </a:r>
              </a:p>
              <a:p>
                <a:pPr algn="ctr" eaLnBrk="1" hangingPunct="1"/>
                <a:r>
                  <a:rPr lang="zh-CN" altLang="en-US" sz="1400" b="0" dirty="0">
                    <a:latin typeface="Montserrat" panose="00000500000000000000" pitchFamily="2" charset="0"/>
                    <a:ea typeface="微软雅黑 Light" panose="020B0502040204020203" pitchFamily="34" charset="-122"/>
                  </a:rPr>
                  <a:t>拥塞</a:t>
                </a:r>
              </a:p>
            </p:txBody>
          </p:sp>
        </p:grpSp>
      </p:grpSp>
      <p:sp>
        <p:nvSpPr>
          <p:cNvPr id="41" name="Line 3"/>
          <p:cNvSpPr>
            <a:spLocks noChangeShapeType="1"/>
          </p:cNvSpPr>
          <p:nvPr/>
        </p:nvSpPr>
        <p:spPr bwMode="auto">
          <a:xfrm rot="16200000">
            <a:off x="534447" y="2382214"/>
            <a:ext cx="2385349"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sp>
        <p:nvSpPr>
          <p:cNvPr id="42" name="Text Box 4"/>
          <p:cNvSpPr txBox="1">
            <a:spLocks noChangeArrowheads="1"/>
          </p:cNvSpPr>
          <p:nvPr/>
        </p:nvSpPr>
        <p:spPr bwMode="auto">
          <a:xfrm>
            <a:off x="6275535" y="3599906"/>
            <a:ext cx="108234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latin typeface="Montserrat" panose="00000500000000000000" pitchFamily="2" charset="0"/>
                <a:ea typeface="微软雅黑 Light" panose="020B0502040204020203" pitchFamily="34" charset="-122"/>
              </a:rPr>
              <a:t>提供的负载</a:t>
            </a:r>
          </a:p>
        </p:txBody>
      </p:sp>
      <p:sp>
        <p:nvSpPr>
          <p:cNvPr id="43" name="Text Box 5"/>
          <p:cNvSpPr txBox="1">
            <a:spLocks noChangeArrowheads="1"/>
          </p:cNvSpPr>
          <p:nvPr/>
        </p:nvSpPr>
        <p:spPr bwMode="auto">
          <a:xfrm>
            <a:off x="1727121" y="1116496"/>
            <a:ext cx="723275"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latin typeface="Montserrat" panose="00000500000000000000" pitchFamily="2" charset="0"/>
                <a:ea typeface="微软雅黑 Light" panose="020B0502040204020203" pitchFamily="34" charset="-122"/>
              </a:rPr>
              <a:t>吞吐量</a:t>
            </a:r>
          </a:p>
        </p:txBody>
      </p:sp>
      <p:grpSp>
        <p:nvGrpSpPr>
          <p:cNvPr id="44" name="Group 6"/>
          <p:cNvGrpSpPr>
            <a:grpSpLocks/>
          </p:cNvGrpSpPr>
          <p:nvPr/>
        </p:nvGrpSpPr>
        <p:grpSpPr bwMode="auto">
          <a:xfrm>
            <a:off x="1727121" y="1622449"/>
            <a:ext cx="4810036" cy="1952440"/>
            <a:chOff x="651" y="1764"/>
            <a:chExt cx="4082" cy="1795"/>
          </a:xfrm>
        </p:grpSpPr>
        <p:sp>
          <p:nvSpPr>
            <p:cNvPr id="45" name="Line 7"/>
            <p:cNvSpPr>
              <a:spLocks noChangeShapeType="1"/>
            </p:cNvSpPr>
            <p:nvPr/>
          </p:nvSpPr>
          <p:spPr bwMode="auto">
            <a:xfrm flipV="1">
              <a:off x="651" y="2077"/>
              <a:ext cx="1925" cy="1482"/>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sp>
          <p:nvSpPr>
            <p:cNvPr id="46" name="Line 8"/>
            <p:cNvSpPr>
              <a:spLocks noChangeShapeType="1"/>
            </p:cNvSpPr>
            <p:nvPr/>
          </p:nvSpPr>
          <p:spPr bwMode="auto">
            <a:xfrm>
              <a:off x="2576" y="2077"/>
              <a:ext cx="2157" cy="0"/>
            </a:xfrm>
            <a:prstGeom prst="line">
              <a:avLst/>
            </a:prstGeom>
            <a:noFill/>
            <a:ln w="38100">
              <a:solidFill>
                <a:srgbClr val="FF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sp>
          <p:nvSpPr>
            <p:cNvPr id="47" name="Text Box 9"/>
            <p:cNvSpPr txBox="1">
              <a:spLocks noChangeArrowheads="1"/>
            </p:cNvSpPr>
            <p:nvPr/>
          </p:nvSpPr>
          <p:spPr bwMode="auto">
            <a:xfrm>
              <a:off x="2901" y="1764"/>
              <a:ext cx="1223"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solidFill>
                    <a:srgbClr val="CC00CC"/>
                  </a:solidFill>
                  <a:latin typeface="Montserrat" panose="00000500000000000000" pitchFamily="2" charset="0"/>
                  <a:ea typeface="微软雅黑 Light" panose="020B0502040204020203" pitchFamily="34" charset="-122"/>
                </a:rPr>
                <a:t>理想的拥塞控制</a:t>
              </a:r>
            </a:p>
          </p:txBody>
        </p:sp>
      </p:grpSp>
      <p:grpSp>
        <p:nvGrpSpPr>
          <p:cNvPr id="49" name="Group 11"/>
          <p:cNvGrpSpPr>
            <a:grpSpLocks/>
          </p:cNvGrpSpPr>
          <p:nvPr/>
        </p:nvGrpSpPr>
        <p:grpSpPr bwMode="auto">
          <a:xfrm>
            <a:off x="1727121" y="2014024"/>
            <a:ext cx="4879559" cy="1560864"/>
            <a:chOff x="651" y="2124"/>
            <a:chExt cx="4141" cy="1435"/>
          </a:xfrm>
        </p:grpSpPr>
        <p:sp>
          <p:nvSpPr>
            <p:cNvPr id="50" name="Freeform 12"/>
            <p:cNvSpPr>
              <a:spLocks/>
            </p:cNvSpPr>
            <p:nvPr/>
          </p:nvSpPr>
          <p:spPr bwMode="auto">
            <a:xfrm>
              <a:off x="651" y="2422"/>
              <a:ext cx="4141" cy="1137"/>
            </a:xfrm>
            <a:custGeom>
              <a:avLst/>
              <a:gdLst>
                <a:gd name="T0" fmla="*/ 0 w 2581"/>
                <a:gd name="T1" fmla="*/ 1137 h 921"/>
                <a:gd name="T2" fmla="*/ 1405 w 2581"/>
                <a:gd name="T3" fmla="*/ 426 h 921"/>
                <a:gd name="T4" fmla="*/ 2002 w 2581"/>
                <a:gd name="T5" fmla="*/ 226 h 921"/>
                <a:gd name="T6" fmla="*/ 2541 w 2581"/>
                <a:gd name="T7" fmla="*/ 130 h 921"/>
                <a:gd name="T8" fmla="*/ 3032 w 2581"/>
                <a:gd name="T9" fmla="*/ 78 h 921"/>
                <a:gd name="T10" fmla="*/ 3581 w 2581"/>
                <a:gd name="T11" fmla="*/ 26 h 921"/>
                <a:gd name="T12" fmla="*/ 4072 w 2581"/>
                <a:gd name="T13" fmla="*/ 4 h 921"/>
                <a:gd name="T14" fmla="*/ 3995 w 2581"/>
                <a:gd name="T15" fmla="*/ 4 h 92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581" h="921">
                  <a:moveTo>
                    <a:pt x="0" y="921"/>
                  </a:moveTo>
                  <a:cubicBezTo>
                    <a:pt x="334" y="694"/>
                    <a:pt x="668" y="468"/>
                    <a:pt x="876" y="345"/>
                  </a:cubicBezTo>
                  <a:cubicBezTo>
                    <a:pt x="1084" y="222"/>
                    <a:pt x="1130" y="223"/>
                    <a:pt x="1248" y="183"/>
                  </a:cubicBezTo>
                  <a:cubicBezTo>
                    <a:pt x="1366" y="143"/>
                    <a:pt x="1477" y="125"/>
                    <a:pt x="1584" y="105"/>
                  </a:cubicBezTo>
                  <a:cubicBezTo>
                    <a:pt x="1691" y="85"/>
                    <a:pt x="1782" y="77"/>
                    <a:pt x="1890" y="63"/>
                  </a:cubicBezTo>
                  <a:cubicBezTo>
                    <a:pt x="1998" y="49"/>
                    <a:pt x="2124" y="31"/>
                    <a:pt x="2232" y="21"/>
                  </a:cubicBezTo>
                  <a:cubicBezTo>
                    <a:pt x="2340" y="11"/>
                    <a:pt x="2495" y="6"/>
                    <a:pt x="2538" y="3"/>
                  </a:cubicBezTo>
                  <a:cubicBezTo>
                    <a:pt x="2581" y="0"/>
                    <a:pt x="2498" y="3"/>
                    <a:pt x="2490" y="3"/>
                  </a:cubicBezTo>
                </a:path>
              </a:pathLst>
            </a:custGeom>
            <a:noFill/>
            <a:ln w="38100" cmpd="sng">
              <a:solidFill>
                <a:srgbClr val="0000FF"/>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grpSp>
          <p:nvGrpSpPr>
            <p:cNvPr id="51" name="Group 13"/>
            <p:cNvGrpSpPr>
              <a:grpSpLocks/>
            </p:cNvGrpSpPr>
            <p:nvPr/>
          </p:nvGrpSpPr>
          <p:grpSpPr bwMode="auto">
            <a:xfrm>
              <a:off x="2451" y="2124"/>
              <a:ext cx="1223" cy="439"/>
              <a:chOff x="2451" y="2124"/>
              <a:chExt cx="1223" cy="439"/>
            </a:xfrm>
          </p:grpSpPr>
          <p:sp>
            <p:nvSpPr>
              <p:cNvPr id="52" name="Text Box 14"/>
              <p:cNvSpPr txBox="1">
                <a:spLocks noChangeArrowheads="1"/>
              </p:cNvSpPr>
              <p:nvPr/>
            </p:nvSpPr>
            <p:spPr bwMode="auto">
              <a:xfrm>
                <a:off x="2451" y="2124"/>
                <a:ext cx="1223" cy="283"/>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solidFill>
                      <a:srgbClr val="0000FF"/>
                    </a:solidFill>
                    <a:latin typeface="Montserrat" panose="00000500000000000000" pitchFamily="2" charset="0"/>
                    <a:ea typeface="微软雅黑 Light" panose="020B0502040204020203" pitchFamily="34" charset="-122"/>
                  </a:rPr>
                  <a:t>实际的拥塞控制</a:t>
                </a:r>
              </a:p>
            </p:txBody>
          </p:sp>
          <p:sp>
            <p:nvSpPr>
              <p:cNvPr id="53" name="Line 15"/>
              <p:cNvSpPr>
                <a:spLocks noChangeShapeType="1"/>
              </p:cNvSpPr>
              <p:nvPr/>
            </p:nvSpPr>
            <p:spPr bwMode="auto">
              <a:xfrm>
                <a:off x="3016" y="2387"/>
                <a:ext cx="100" cy="17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grpSp>
      </p:grpSp>
      <p:sp>
        <p:nvSpPr>
          <p:cNvPr id="54" name="Line 16"/>
          <p:cNvSpPr>
            <a:spLocks noChangeShapeType="1"/>
          </p:cNvSpPr>
          <p:nvPr/>
        </p:nvSpPr>
        <p:spPr bwMode="auto">
          <a:xfrm>
            <a:off x="1727121" y="3574888"/>
            <a:ext cx="5174147" cy="0"/>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sp>
        <p:nvSpPr>
          <p:cNvPr id="55" name="Text Box 17"/>
          <p:cNvSpPr txBox="1">
            <a:spLocks noChangeArrowheads="1"/>
          </p:cNvSpPr>
          <p:nvPr/>
        </p:nvSpPr>
        <p:spPr bwMode="auto">
          <a:xfrm>
            <a:off x="1442736" y="3422881"/>
            <a:ext cx="30168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en-US" altLang="zh-CN" sz="1400" dirty="0">
                <a:solidFill>
                  <a:srgbClr val="333399"/>
                </a:solidFill>
                <a:latin typeface="Montserrat" panose="00000500000000000000" pitchFamily="2" charset="0"/>
                <a:ea typeface="微软雅黑 Light" panose="020B0502040204020203" pitchFamily="34" charset="-122"/>
              </a:rPr>
              <a:t>0</a:t>
            </a:r>
          </a:p>
        </p:txBody>
      </p:sp>
      <p:grpSp>
        <p:nvGrpSpPr>
          <p:cNvPr id="56" name="Group 18"/>
          <p:cNvGrpSpPr>
            <a:grpSpLocks/>
          </p:cNvGrpSpPr>
          <p:nvPr/>
        </p:nvGrpSpPr>
        <p:grpSpPr bwMode="auto">
          <a:xfrm>
            <a:off x="4906315" y="2847212"/>
            <a:ext cx="2400305" cy="792941"/>
            <a:chOff x="3349" y="2890"/>
            <a:chExt cx="2037" cy="729"/>
          </a:xfrm>
        </p:grpSpPr>
        <p:grpSp>
          <p:nvGrpSpPr>
            <p:cNvPr id="57" name="Group 19"/>
            <p:cNvGrpSpPr>
              <a:grpSpLocks/>
            </p:cNvGrpSpPr>
            <p:nvPr/>
          </p:nvGrpSpPr>
          <p:grpSpPr bwMode="auto">
            <a:xfrm>
              <a:off x="3477" y="2890"/>
              <a:ext cx="1909" cy="600"/>
              <a:chOff x="3477" y="2890"/>
              <a:chExt cx="1909" cy="600"/>
            </a:xfrm>
          </p:grpSpPr>
          <p:sp>
            <p:nvSpPr>
              <p:cNvPr id="59" name="Text Box 20"/>
              <p:cNvSpPr txBox="1">
                <a:spLocks noChangeArrowheads="1"/>
              </p:cNvSpPr>
              <p:nvPr/>
            </p:nvSpPr>
            <p:spPr bwMode="auto">
              <a:xfrm>
                <a:off x="3881" y="2890"/>
                <a:ext cx="1505"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eaLnBrk="1" hangingPunct="1"/>
                <a:r>
                  <a:rPr lang="zh-CN" altLang="en-US" sz="1400" b="0" dirty="0">
                    <a:solidFill>
                      <a:srgbClr val="C00000"/>
                    </a:solidFill>
                    <a:latin typeface="Montserrat" panose="00000500000000000000" pitchFamily="2" charset="0"/>
                    <a:ea typeface="微软雅黑 Light" panose="020B0502040204020203" pitchFamily="34" charset="-122"/>
                  </a:rPr>
                  <a:t>死锁（吞吐量 </a:t>
                </a:r>
                <a:r>
                  <a:rPr lang="en-US" altLang="zh-CN" sz="1400" b="0" dirty="0">
                    <a:solidFill>
                      <a:srgbClr val="C00000"/>
                    </a:solidFill>
                    <a:latin typeface="Montserrat" panose="00000500000000000000" pitchFamily="2" charset="0"/>
                    <a:ea typeface="微软雅黑 Light" panose="020B0502040204020203" pitchFamily="34" charset="-122"/>
                  </a:rPr>
                  <a:t>= 0</a:t>
                </a:r>
                <a:r>
                  <a:rPr lang="zh-CN" altLang="en-US" sz="1400" b="0" dirty="0">
                    <a:solidFill>
                      <a:srgbClr val="C00000"/>
                    </a:solidFill>
                    <a:latin typeface="Montserrat" panose="00000500000000000000" pitchFamily="2" charset="0"/>
                    <a:ea typeface="微软雅黑 Light" panose="020B0502040204020203" pitchFamily="34" charset="-122"/>
                  </a:rPr>
                  <a:t>）</a:t>
                </a:r>
              </a:p>
            </p:txBody>
          </p:sp>
          <p:sp>
            <p:nvSpPr>
              <p:cNvPr id="60" name="Line 21"/>
              <p:cNvSpPr>
                <a:spLocks noChangeShapeType="1"/>
              </p:cNvSpPr>
              <p:nvPr/>
            </p:nvSpPr>
            <p:spPr bwMode="auto">
              <a:xfrm flipH="1">
                <a:off x="3477" y="3104"/>
                <a:ext cx="457" cy="386"/>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grpSp>
        <p:sp>
          <p:nvSpPr>
            <p:cNvPr id="58" name="Oval 22"/>
            <p:cNvSpPr>
              <a:spLocks noChangeArrowheads="1"/>
            </p:cNvSpPr>
            <p:nvPr/>
          </p:nvSpPr>
          <p:spPr bwMode="auto">
            <a:xfrm>
              <a:off x="3349" y="3485"/>
              <a:ext cx="141" cy="134"/>
            </a:xfrm>
            <a:prstGeom prst="ellipse">
              <a:avLst/>
            </a:prstGeom>
            <a:solidFill>
              <a:srgbClr val="C0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a:latin typeface="Montserrat" panose="00000500000000000000" pitchFamily="2" charset="0"/>
                <a:ea typeface="微软雅黑 Light" panose="020B0502040204020203" pitchFamily="34" charset="-122"/>
              </a:endParaRPr>
            </a:p>
          </p:txBody>
        </p:sp>
      </p:grpSp>
      <p:sp>
        <p:nvSpPr>
          <p:cNvPr id="2" name="标题 1">
            <a:extLst>
              <a:ext uri="{FF2B5EF4-FFF2-40B4-BE49-F238E27FC236}">
                <a16:creationId xmlns:a16="http://schemas.microsoft.com/office/drawing/2014/main" id="{0C0E458C-CF8D-1C39-69ED-302644E2F4C2}"/>
              </a:ext>
            </a:extLst>
          </p:cNvPr>
          <p:cNvSpPr>
            <a:spLocks noGrp="1"/>
          </p:cNvSpPr>
          <p:nvPr>
            <p:ph type="title"/>
          </p:nvPr>
        </p:nvSpPr>
        <p:spPr>
          <a:xfrm>
            <a:off x="2808000" y="144000"/>
            <a:ext cx="3528000" cy="338554"/>
          </a:xfrm>
        </p:spPr>
        <p:txBody>
          <a:bodyPr/>
          <a:lstStyle/>
          <a:p>
            <a:r>
              <a:rPr lang="zh-CN" altLang="en-US" dirty="0"/>
              <a:t>拥塞控制所起的作用</a:t>
            </a:r>
          </a:p>
        </p:txBody>
      </p:sp>
    </p:spTree>
    <p:extLst>
      <p:ext uri="{BB962C8B-B14F-4D97-AF65-F5344CB8AC3E}">
        <p14:creationId xmlns:p14="http://schemas.microsoft.com/office/powerpoint/2010/main" val="39710728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3000"/>
                                        <p:tgtEl>
                                          <p:spTgt spid="61"/>
                                        </p:tgtEl>
                                      </p:cBhvr>
                                    </p:animEffect>
                                  </p:childTnLst>
                                </p:cTn>
                              </p:par>
                            </p:childTnLst>
                          </p:cTn>
                        </p:par>
                        <p:par>
                          <p:cTn id="8" fill="hold">
                            <p:stCondLst>
                              <p:cond delay="3000"/>
                            </p:stCondLst>
                            <p:childTnLst>
                              <p:par>
                                <p:cTn id="9" presetID="1" presetClass="entr" presetSubtype="0" fill="hold" nodeType="afterEffect">
                                  <p:stCondLst>
                                    <p:cond delay="0"/>
                                  </p:stCondLst>
                                  <p:childTnLst>
                                    <p:set>
                                      <p:cBhvr>
                                        <p:cTn id="10" dur="1" fill="hold">
                                          <p:stCondLst>
                                            <p:cond delay="0"/>
                                          </p:stCondLst>
                                        </p:cTn>
                                        <p:tgtEl>
                                          <p:spTgt spid="5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left)">
                                      <p:cBhvr>
                                        <p:cTn id="15" dur="2750"/>
                                        <p:tgtEl>
                                          <p:spTgt spid="44"/>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49"/>
                                        </p:tgtEl>
                                        <p:attrNameLst>
                                          <p:attrName>style.visibility</p:attrName>
                                        </p:attrNameLst>
                                      </p:cBhvr>
                                      <p:to>
                                        <p:strVal val="visible"/>
                                      </p:to>
                                    </p:set>
                                    <p:animEffect transition="in" filter="wipe(left)">
                                      <p:cBhvr>
                                        <p:cTn id="20" dur="30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309AC980-9AFC-1BB5-4AB2-8BC8AB9969B3}"/>
              </a:ext>
            </a:extLst>
          </p:cNvPr>
          <p:cNvSpPr>
            <a:spLocks noGrp="1"/>
          </p:cNvSpPr>
          <p:nvPr>
            <p:ph sz="quarter" idx="11"/>
          </p:nvPr>
        </p:nvSpPr>
        <p:spPr>
          <a:xfrm>
            <a:off x="486000" y="482554"/>
            <a:ext cx="8172000" cy="4120946"/>
          </a:xfrm>
        </p:spPr>
        <p:txBody>
          <a:bodyPr/>
          <a:lstStyle/>
          <a:p>
            <a:r>
              <a:rPr lang="zh-CN" altLang="en-US" dirty="0"/>
              <a:t>拥塞控制的前提：网络能够承受现有的网络负荷</a:t>
            </a:r>
            <a:endParaRPr lang="en-US" altLang="zh-CN" dirty="0"/>
          </a:p>
          <a:p>
            <a:r>
              <a:rPr lang="zh-CN" altLang="en-US" dirty="0"/>
              <a:t>实践证明，拥塞控制是很难设计的，因为它是一个动态问题</a:t>
            </a:r>
          </a:p>
          <a:p>
            <a:r>
              <a:rPr lang="zh-CN" altLang="en-US" dirty="0"/>
              <a:t>分组的丢失是网络发生拥塞的征兆，而不是原因</a:t>
            </a:r>
          </a:p>
          <a:p>
            <a:r>
              <a:rPr lang="zh-CN" altLang="en-US" dirty="0"/>
              <a:t>在许多情况下，甚至正是拥塞控制本身成为引起网络性能恶化、甚至发生死锁的原因</a:t>
            </a:r>
          </a:p>
          <a:p>
            <a:endParaRPr lang="zh-CN" altLang="en-US" dirty="0"/>
          </a:p>
        </p:txBody>
      </p:sp>
      <p:sp>
        <p:nvSpPr>
          <p:cNvPr id="5" name="标题 4">
            <a:extLst>
              <a:ext uri="{FF2B5EF4-FFF2-40B4-BE49-F238E27FC236}">
                <a16:creationId xmlns:a16="http://schemas.microsoft.com/office/drawing/2014/main" id="{4CD16FD9-605E-48EE-AFE2-749321A51AE7}"/>
              </a:ext>
            </a:extLst>
          </p:cNvPr>
          <p:cNvSpPr>
            <a:spLocks noGrp="1"/>
          </p:cNvSpPr>
          <p:nvPr>
            <p:ph type="title"/>
          </p:nvPr>
        </p:nvSpPr>
        <p:spPr>
          <a:xfrm>
            <a:off x="2808000" y="144000"/>
            <a:ext cx="3528000" cy="338554"/>
          </a:xfrm>
        </p:spPr>
        <p:txBody>
          <a:bodyPr/>
          <a:lstStyle/>
          <a:p>
            <a:r>
              <a:rPr lang="zh-CN" altLang="en-US" dirty="0"/>
              <a:t>拥塞控制的一般原理</a:t>
            </a:r>
          </a:p>
        </p:txBody>
      </p:sp>
    </p:spTree>
    <p:extLst>
      <p:ext uri="{BB962C8B-B14F-4D97-AF65-F5344CB8AC3E}">
        <p14:creationId xmlns:p14="http://schemas.microsoft.com/office/powerpoint/2010/main" val="32467308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任意多边形: 形状 4">
            <a:extLst>
              <a:ext uri="{FF2B5EF4-FFF2-40B4-BE49-F238E27FC236}">
                <a16:creationId xmlns:a16="http://schemas.microsoft.com/office/drawing/2014/main" id="{E5341D88-6FD9-66DF-F5BF-4EFE6987BC3C}"/>
              </a:ext>
            </a:extLst>
          </p:cNvPr>
          <p:cNvSpPr/>
          <p:nvPr/>
        </p:nvSpPr>
        <p:spPr>
          <a:xfrm>
            <a:off x="1062121" y="1071229"/>
            <a:ext cx="3322842" cy="604800"/>
          </a:xfrm>
          <a:custGeom>
            <a:avLst/>
            <a:gdLst>
              <a:gd name="connsiteX0" fmla="*/ 0 w 3322842"/>
              <a:gd name="connsiteY0" fmla="*/ 0 h 604800"/>
              <a:gd name="connsiteX1" fmla="*/ 3322842 w 3322842"/>
              <a:gd name="connsiteY1" fmla="*/ 0 h 604800"/>
              <a:gd name="connsiteX2" fmla="*/ 3322842 w 3322842"/>
              <a:gd name="connsiteY2" fmla="*/ 604800 h 604800"/>
              <a:gd name="connsiteX3" fmla="*/ 0 w 3322842"/>
              <a:gd name="connsiteY3" fmla="*/ 604800 h 604800"/>
              <a:gd name="connsiteX4" fmla="*/ 0 w 3322842"/>
              <a:gd name="connsiteY4" fmla="*/ 0 h 6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1600" kern="1200" dirty="0">
                <a:latin typeface="Montserrat" panose="00000500000000000000" pitchFamily="2" charset="0"/>
                <a:ea typeface="微软雅黑 Light" panose="020B0502040204020203" pitchFamily="34" charset="-122"/>
              </a:rPr>
              <a:t>开环控制</a:t>
            </a:r>
          </a:p>
        </p:txBody>
      </p:sp>
      <p:sp>
        <p:nvSpPr>
          <p:cNvPr id="6" name="任意多边形: 形状 5">
            <a:extLst>
              <a:ext uri="{FF2B5EF4-FFF2-40B4-BE49-F238E27FC236}">
                <a16:creationId xmlns:a16="http://schemas.microsoft.com/office/drawing/2014/main" id="{68E840D6-5F36-2710-386A-F52D2116FB25}"/>
              </a:ext>
            </a:extLst>
          </p:cNvPr>
          <p:cNvSpPr/>
          <p:nvPr/>
        </p:nvSpPr>
        <p:spPr>
          <a:xfrm>
            <a:off x="1062121" y="1676029"/>
            <a:ext cx="3322842" cy="2075220"/>
          </a:xfrm>
          <a:custGeom>
            <a:avLst/>
            <a:gdLst>
              <a:gd name="connsiteX0" fmla="*/ 0 w 3322842"/>
              <a:gd name="connsiteY0" fmla="*/ 0 h 2075220"/>
              <a:gd name="connsiteX1" fmla="*/ 3322842 w 3322842"/>
              <a:gd name="connsiteY1" fmla="*/ 0 h 2075220"/>
              <a:gd name="connsiteX2" fmla="*/ 3322842 w 3322842"/>
              <a:gd name="connsiteY2" fmla="*/ 2075220 h 2075220"/>
              <a:gd name="connsiteX3" fmla="*/ 0 w 3322842"/>
              <a:gd name="connsiteY3" fmla="*/ 2075220 h 2075220"/>
              <a:gd name="connsiteX4" fmla="*/ 0 w 3322842"/>
              <a:gd name="connsiteY4" fmla="*/ 0 h 2075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2075220">
                <a:moveTo>
                  <a:pt x="0" y="0"/>
                </a:moveTo>
                <a:lnTo>
                  <a:pt x="3322842" y="0"/>
                </a:lnTo>
                <a:lnTo>
                  <a:pt x="3322842" y="2075220"/>
                </a:lnTo>
                <a:lnTo>
                  <a:pt x="0" y="2075220"/>
                </a:lnTo>
                <a:lnTo>
                  <a:pt x="0" y="0"/>
                </a:lnTo>
                <a:close/>
              </a:path>
            </a:pathLst>
          </a:custGeom>
          <a:noFill/>
        </p:spPr>
        <p:style>
          <a:lnRef idx="2">
            <a:schemeClr val="accent2">
              <a:tint val="40000"/>
              <a:alpha val="90000"/>
              <a:hueOff val="0"/>
              <a:satOff val="0"/>
              <a:lumOff val="0"/>
              <a:alphaOff val="0"/>
            </a:schemeClr>
          </a:lnRef>
          <a:fillRef idx="1">
            <a:schemeClr val="accent2">
              <a:tint val="40000"/>
              <a:alpha val="90000"/>
              <a:hueOff val="0"/>
              <a:satOff val="0"/>
              <a:lumOff val="0"/>
              <a:alphaOff val="0"/>
            </a:schemeClr>
          </a:fillRef>
          <a:effectRef idx="0">
            <a:schemeClr val="accent2">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just" defTabSz="800100">
              <a:lnSpc>
                <a:spcPct val="90000"/>
              </a:lnSpc>
              <a:spcBef>
                <a:spcPct val="0"/>
              </a:spcBef>
              <a:spcAft>
                <a:spcPct val="15000"/>
              </a:spcAft>
              <a:buChar char="•"/>
            </a:pPr>
            <a:r>
              <a:rPr lang="zh-CN" altLang="en-US" sz="1400" kern="1200" dirty="0">
                <a:latin typeface="Montserrat" panose="00000500000000000000" pitchFamily="2" charset="0"/>
                <a:ea typeface="微软雅黑 Light" panose="020B0502040204020203" pitchFamily="34" charset="-122"/>
              </a:rPr>
              <a:t>在设计网络时，事先</a:t>
            </a:r>
            <a:r>
              <a:rPr lang="zh-CN" altLang="en-US" sz="1400" kern="1200" dirty="0">
                <a:solidFill>
                  <a:srgbClr val="C00000"/>
                </a:solidFill>
                <a:latin typeface="Montserrat" panose="00000500000000000000" pitchFamily="2" charset="0"/>
                <a:ea typeface="微软雅黑 Light" panose="020B0502040204020203" pitchFamily="34" charset="-122"/>
              </a:rPr>
              <a:t>考虑周全，</a:t>
            </a:r>
            <a:r>
              <a:rPr lang="zh-CN" altLang="en-US" sz="1400" kern="1200" dirty="0">
                <a:latin typeface="Montserrat" panose="00000500000000000000" pitchFamily="2" charset="0"/>
                <a:ea typeface="微软雅黑 Light" panose="020B0502040204020203" pitchFamily="34" charset="-122"/>
              </a:rPr>
              <a:t>力求工作时不发生拥塞。</a:t>
            </a:r>
          </a:p>
          <a:p>
            <a:pPr marL="171450" lvl="1" indent="-171450" algn="just" defTabSz="800100">
              <a:lnSpc>
                <a:spcPct val="90000"/>
              </a:lnSpc>
              <a:spcBef>
                <a:spcPct val="0"/>
              </a:spcBef>
              <a:spcAft>
                <a:spcPct val="15000"/>
              </a:spcAft>
              <a:buChar char="•"/>
            </a:pPr>
            <a:r>
              <a:rPr lang="zh-CN" altLang="en-US" sz="1400" kern="1200" dirty="0">
                <a:solidFill>
                  <a:srgbClr val="0000FF"/>
                </a:solidFill>
                <a:latin typeface="Montserrat" panose="00000500000000000000" pitchFamily="2" charset="0"/>
                <a:ea typeface="微软雅黑 Light" panose="020B0502040204020203" pitchFamily="34" charset="-122"/>
              </a:rPr>
              <a:t>思路：</a:t>
            </a:r>
            <a:r>
              <a:rPr lang="zh-CN" altLang="en-US" sz="1400" kern="1200" dirty="0">
                <a:latin typeface="Montserrat" panose="00000500000000000000" pitchFamily="2" charset="0"/>
                <a:ea typeface="微软雅黑 Light" panose="020B0502040204020203" pitchFamily="34" charset="-122"/>
              </a:rPr>
              <a:t>力争</a:t>
            </a:r>
            <a:r>
              <a:rPr lang="zh-CN" altLang="en-US" sz="1400" kern="1200" dirty="0">
                <a:solidFill>
                  <a:srgbClr val="0000FF"/>
                </a:solidFill>
                <a:latin typeface="Montserrat" panose="00000500000000000000" pitchFamily="2" charset="0"/>
                <a:ea typeface="微软雅黑 Light" panose="020B0502040204020203" pitchFamily="34" charset="-122"/>
              </a:rPr>
              <a:t>避免</a:t>
            </a:r>
            <a:r>
              <a:rPr lang="zh-CN" altLang="en-US" sz="1400" kern="1200" dirty="0">
                <a:latin typeface="Montserrat" panose="00000500000000000000" pitchFamily="2" charset="0"/>
                <a:ea typeface="微软雅黑 Light" panose="020B0502040204020203" pitchFamily="34" charset="-122"/>
              </a:rPr>
              <a:t>发生拥塞。</a:t>
            </a:r>
          </a:p>
          <a:p>
            <a:pPr marL="171450" lvl="1" indent="-171450" algn="just" defTabSz="800100">
              <a:lnSpc>
                <a:spcPct val="90000"/>
              </a:lnSpc>
              <a:spcBef>
                <a:spcPct val="0"/>
              </a:spcBef>
              <a:spcAft>
                <a:spcPct val="15000"/>
              </a:spcAft>
              <a:buChar char="•"/>
            </a:pPr>
            <a:r>
              <a:rPr lang="zh-CN" altLang="en-US" sz="1400" kern="1200" dirty="0">
                <a:latin typeface="Montserrat" panose="00000500000000000000" pitchFamily="2" charset="0"/>
                <a:ea typeface="微软雅黑 Light" panose="020B0502040204020203" pitchFamily="34" charset="-122"/>
              </a:rPr>
              <a:t>但一旦整个系统运行起来，就不再中途进行改正了。</a:t>
            </a:r>
          </a:p>
        </p:txBody>
      </p:sp>
      <p:sp>
        <p:nvSpPr>
          <p:cNvPr id="7" name="任意多边形: 形状 6">
            <a:extLst>
              <a:ext uri="{FF2B5EF4-FFF2-40B4-BE49-F238E27FC236}">
                <a16:creationId xmlns:a16="http://schemas.microsoft.com/office/drawing/2014/main" id="{106B789F-F10C-4577-94E2-877ACA996F70}"/>
              </a:ext>
            </a:extLst>
          </p:cNvPr>
          <p:cNvSpPr/>
          <p:nvPr/>
        </p:nvSpPr>
        <p:spPr>
          <a:xfrm>
            <a:off x="4850161" y="1071229"/>
            <a:ext cx="3322842" cy="604800"/>
          </a:xfrm>
          <a:custGeom>
            <a:avLst/>
            <a:gdLst>
              <a:gd name="connsiteX0" fmla="*/ 0 w 3322842"/>
              <a:gd name="connsiteY0" fmla="*/ 0 h 604800"/>
              <a:gd name="connsiteX1" fmla="*/ 3322842 w 3322842"/>
              <a:gd name="connsiteY1" fmla="*/ 0 h 604800"/>
              <a:gd name="connsiteX2" fmla="*/ 3322842 w 3322842"/>
              <a:gd name="connsiteY2" fmla="*/ 604800 h 604800"/>
              <a:gd name="connsiteX3" fmla="*/ 0 w 3322842"/>
              <a:gd name="connsiteY3" fmla="*/ 604800 h 604800"/>
              <a:gd name="connsiteX4" fmla="*/ 0 w 3322842"/>
              <a:gd name="connsiteY4" fmla="*/ 0 h 60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604800">
                <a:moveTo>
                  <a:pt x="0" y="0"/>
                </a:moveTo>
                <a:lnTo>
                  <a:pt x="3322842" y="0"/>
                </a:lnTo>
                <a:lnTo>
                  <a:pt x="3322842" y="604800"/>
                </a:lnTo>
                <a:lnTo>
                  <a:pt x="0" y="604800"/>
                </a:lnTo>
                <a:lnTo>
                  <a:pt x="0" y="0"/>
                </a:lnTo>
                <a:close/>
              </a:path>
            </a:pathLst>
          </a:custGeom>
        </p:spPr>
        <p:style>
          <a:lnRef idx="2">
            <a:schemeClr val="accent2">
              <a:hueOff val="4681519"/>
              <a:satOff val="-5839"/>
              <a:lumOff val="1373"/>
              <a:alphaOff val="0"/>
            </a:schemeClr>
          </a:lnRef>
          <a:fillRef idx="1">
            <a:schemeClr val="accent2">
              <a:hueOff val="4681519"/>
              <a:satOff val="-5839"/>
              <a:lumOff val="1373"/>
              <a:alphaOff val="0"/>
            </a:schemeClr>
          </a:fillRef>
          <a:effectRef idx="0">
            <a:schemeClr val="accent2">
              <a:hueOff val="4681519"/>
              <a:satOff val="-5839"/>
              <a:lumOff val="1373"/>
              <a:alphaOff val="0"/>
            </a:schemeClr>
          </a:effectRef>
          <a:fontRef idx="minor">
            <a:schemeClr val="lt1"/>
          </a:fontRef>
        </p:style>
        <p:txBody>
          <a:bodyPr spcFirstLastPara="0" vert="horz" wrap="square" lIns="142240" tIns="81280" rIns="142240" bIns="81280" numCol="1" spcCol="1270" anchor="ctr" anchorCtr="0">
            <a:noAutofit/>
          </a:bodyPr>
          <a:lstStyle/>
          <a:p>
            <a:pPr marL="0" lvl="0" indent="0" algn="ctr" defTabSz="889000">
              <a:lnSpc>
                <a:spcPct val="90000"/>
              </a:lnSpc>
              <a:spcBef>
                <a:spcPct val="0"/>
              </a:spcBef>
              <a:spcAft>
                <a:spcPct val="35000"/>
              </a:spcAft>
              <a:buNone/>
            </a:pPr>
            <a:r>
              <a:rPr lang="zh-CN" altLang="en-US" sz="1600" kern="1200" dirty="0">
                <a:latin typeface="Montserrat" panose="00000500000000000000" pitchFamily="2" charset="0"/>
                <a:ea typeface="微软雅黑 Light" panose="020B0502040204020203" pitchFamily="34" charset="-122"/>
              </a:rPr>
              <a:t>闭环控制</a:t>
            </a:r>
          </a:p>
        </p:txBody>
      </p:sp>
      <p:sp>
        <p:nvSpPr>
          <p:cNvPr id="8" name="任意多边形: 形状 7">
            <a:extLst>
              <a:ext uri="{FF2B5EF4-FFF2-40B4-BE49-F238E27FC236}">
                <a16:creationId xmlns:a16="http://schemas.microsoft.com/office/drawing/2014/main" id="{05A32DF7-677F-D92A-36A7-8DB6474D4ADF}"/>
              </a:ext>
            </a:extLst>
          </p:cNvPr>
          <p:cNvSpPr/>
          <p:nvPr/>
        </p:nvSpPr>
        <p:spPr>
          <a:xfrm>
            <a:off x="4850161" y="1676029"/>
            <a:ext cx="3322842" cy="2075220"/>
          </a:xfrm>
          <a:custGeom>
            <a:avLst/>
            <a:gdLst>
              <a:gd name="connsiteX0" fmla="*/ 0 w 3322842"/>
              <a:gd name="connsiteY0" fmla="*/ 0 h 2075220"/>
              <a:gd name="connsiteX1" fmla="*/ 3322842 w 3322842"/>
              <a:gd name="connsiteY1" fmla="*/ 0 h 2075220"/>
              <a:gd name="connsiteX2" fmla="*/ 3322842 w 3322842"/>
              <a:gd name="connsiteY2" fmla="*/ 2075220 h 2075220"/>
              <a:gd name="connsiteX3" fmla="*/ 0 w 3322842"/>
              <a:gd name="connsiteY3" fmla="*/ 2075220 h 2075220"/>
              <a:gd name="connsiteX4" fmla="*/ 0 w 3322842"/>
              <a:gd name="connsiteY4" fmla="*/ 0 h 2075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22842" h="2075220">
                <a:moveTo>
                  <a:pt x="0" y="0"/>
                </a:moveTo>
                <a:lnTo>
                  <a:pt x="3322842" y="0"/>
                </a:lnTo>
                <a:lnTo>
                  <a:pt x="3322842" y="2075220"/>
                </a:lnTo>
                <a:lnTo>
                  <a:pt x="0" y="2075220"/>
                </a:lnTo>
                <a:lnTo>
                  <a:pt x="0" y="0"/>
                </a:lnTo>
                <a:close/>
              </a:path>
            </a:pathLst>
          </a:custGeom>
          <a:noFill/>
        </p:spPr>
        <p:style>
          <a:lnRef idx="2">
            <a:schemeClr val="accent2">
              <a:tint val="40000"/>
              <a:alpha val="90000"/>
              <a:hueOff val="5025821"/>
              <a:satOff val="-4378"/>
              <a:lumOff val="-6"/>
              <a:alphaOff val="0"/>
            </a:schemeClr>
          </a:lnRef>
          <a:fillRef idx="1">
            <a:schemeClr val="accent2">
              <a:tint val="40000"/>
              <a:alpha val="90000"/>
              <a:hueOff val="5025821"/>
              <a:satOff val="-4378"/>
              <a:lumOff val="-6"/>
              <a:alphaOff val="0"/>
            </a:schemeClr>
          </a:fillRef>
          <a:effectRef idx="0">
            <a:schemeClr val="accent2">
              <a:tint val="40000"/>
              <a:alpha val="90000"/>
              <a:hueOff val="5025821"/>
              <a:satOff val="-4378"/>
              <a:lumOff val="-6"/>
              <a:alphaOff val="0"/>
            </a:schemeClr>
          </a:effectRef>
          <a:fontRef idx="minor">
            <a:schemeClr val="dk1">
              <a:hueOff val="0"/>
              <a:satOff val="0"/>
              <a:lumOff val="0"/>
              <a:alphaOff val="0"/>
            </a:schemeClr>
          </a:fontRef>
        </p:style>
        <p:txBody>
          <a:bodyPr spcFirstLastPara="0" vert="horz" wrap="square" lIns="96012" tIns="96012" rIns="128016" bIns="144018" numCol="1" spcCol="1270" anchor="t" anchorCtr="0">
            <a:noAutofit/>
          </a:bodyPr>
          <a:lstStyle/>
          <a:p>
            <a:pPr marL="171450" lvl="1" indent="-171450" algn="just" defTabSz="800100">
              <a:lnSpc>
                <a:spcPct val="90000"/>
              </a:lnSpc>
              <a:spcBef>
                <a:spcPct val="0"/>
              </a:spcBef>
              <a:spcAft>
                <a:spcPct val="15000"/>
              </a:spcAft>
              <a:buChar char="•"/>
            </a:pPr>
            <a:r>
              <a:rPr lang="zh-CN" altLang="en-US" sz="1400" kern="1200" dirty="0">
                <a:latin typeface="Montserrat" panose="00000500000000000000" pitchFamily="2" charset="0"/>
                <a:ea typeface="微软雅黑 Light" panose="020B0502040204020203" pitchFamily="34" charset="-122"/>
              </a:rPr>
              <a:t>基于反馈环路的概念。</a:t>
            </a:r>
          </a:p>
          <a:p>
            <a:pPr marL="171450" lvl="1" indent="-171450" algn="just" defTabSz="800100">
              <a:lnSpc>
                <a:spcPct val="90000"/>
              </a:lnSpc>
              <a:spcBef>
                <a:spcPct val="0"/>
              </a:spcBef>
              <a:spcAft>
                <a:spcPct val="15000"/>
              </a:spcAft>
              <a:buChar char="•"/>
            </a:pPr>
            <a:r>
              <a:rPr lang="zh-CN" altLang="en-US" sz="1400" kern="1200" dirty="0">
                <a:latin typeface="Montserrat" panose="00000500000000000000" pitchFamily="2" charset="0"/>
                <a:ea typeface="微软雅黑 Light" panose="020B0502040204020203" pitchFamily="34" charset="-122"/>
              </a:rPr>
              <a:t>根据网络</a:t>
            </a:r>
            <a:r>
              <a:rPr lang="zh-CN" altLang="en-US" sz="1400" kern="1200" dirty="0">
                <a:solidFill>
                  <a:srgbClr val="C00000"/>
                </a:solidFill>
                <a:latin typeface="Montserrat" panose="00000500000000000000" pitchFamily="2" charset="0"/>
                <a:ea typeface="微软雅黑 Light" panose="020B0502040204020203" pitchFamily="34" charset="-122"/>
              </a:rPr>
              <a:t>当前运行状态</a:t>
            </a:r>
            <a:r>
              <a:rPr lang="zh-CN" altLang="en-US" sz="1400" kern="1200" dirty="0">
                <a:latin typeface="Montserrat" panose="00000500000000000000" pitchFamily="2" charset="0"/>
                <a:ea typeface="微软雅黑 Light" panose="020B0502040204020203" pitchFamily="34" charset="-122"/>
              </a:rPr>
              <a:t>采取相应控制措施。</a:t>
            </a:r>
          </a:p>
          <a:p>
            <a:pPr marL="171450" lvl="1" indent="-171450" algn="just" defTabSz="800100">
              <a:lnSpc>
                <a:spcPct val="90000"/>
              </a:lnSpc>
              <a:spcBef>
                <a:spcPct val="0"/>
              </a:spcBef>
              <a:spcAft>
                <a:spcPct val="15000"/>
              </a:spcAft>
              <a:buChar char="•"/>
            </a:pPr>
            <a:r>
              <a:rPr lang="zh-CN" altLang="en-US" sz="1400" kern="1200" dirty="0">
                <a:solidFill>
                  <a:srgbClr val="0000FF"/>
                </a:solidFill>
                <a:latin typeface="Montserrat" panose="00000500000000000000" pitchFamily="2" charset="0"/>
                <a:ea typeface="微软雅黑 Light" panose="020B0502040204020203" pitchFamily="34" charset="-122"/>
              </a:rPr>
              <a:t>思路：</a:t>
            </a:r>
            <a:r>
              <a:rPr lang="zh-CN" altLang="en-US" sz="1400" kern="1200" dirty="0">
                <a:latin typeface="Montserrat" panose="00000500000000000000" pitchFamily="2" charset="0"/>
                <a:ea typeface="微软雅黑 Light" panose="020B0502040204020203" pitchFamily="34" charset="-122"/>
              </a:rPr>
              <a:t>在发生拥塞后，采取措施进行控制，</a:t>
            </a:r>
            <a:r>
              <a:rPr lang="zh-CN" altLang="en-US" sz="1400" kern="1200" dirty="0">
                <a:solidFill>
                  <a:srgbClr val="0000FF"/>
                </a:solidFill>
                <a:latin typeface="Montserrat" panose="00000500000000000000" pitchFamily="2" charset="0"/>
                <a:ea typeface="微软雅黑 Light" panose="020B0502040204020203" pitchFamily="34" charset="-122"/>
              </a:rPr>
              <a:t>消除</a:t>
            </a:r>
            <a:r>
              <a:rPr lang="zh-CN" altLang="en-US" sz="1400" kern="1200" dirty="0">
                <a:latin typeface="Montserrat" panose="00000500000000000000" pitchFamily="2" charset="0"/>
                <a:ea typeface="微软雅黑 Light" panose="020B0502040204020203" pitchFamily="34" charset="-122"/>
              </a:rPr>
              <a:t>拥塞。</a:t>
            </a:r>
          </a:p>
        </p:txBody>
      </p:sp>
      <p:sp>
        <p:nvSpPr>
          <p:cNvPr id="2" name="标题 1">
            <a:extLst>
              <a:ext uri="{FF2B5EF4-FFF2-40B4-BE49-F238E27FC236}">
                <a16:creationId xmlns:a16="http://schemas.microsoft.com/office/drawing/2014/main" id="{1C731252-D192-BAF5-6F74-2658026BD46C}"/>
              </a:ext>
            </a:extLst>
          </p:cNvPr>
          <p:cNvSpPr>
            <a:spLocks noGrp="1"/>
          </p:cNvSpPr>
          <p:nvPr>
            <p:ph type="title"/>
          </p:nvPr>
        </p:nvSpPr>
        <p:spPr>
          <a:xfrm>
            <a:off x="2808000" y="144000"/>
            <a:ext cx="3528000" cy="338554"/>
          </a:xfrm>
        </p:spPr>
        <p:txBody>
          <a:bodyPr/>
          <a:lstStyle/>
          <a:p>
            <a:r>
              <a:rPr lang="zh-CN" altLang="en-US" dirty="0"/>
              <a:t>开环控制和闭环控制</a:t>
            </a:r>
          </a:p>
        </p:txBody>
      </p:sp>
    </p:spTree>
    <p:extLst>
      <p:ext uri="{BB962C8B-B14F-4D97-AF65-F5344CB8AC3E}">
        <p14:creationId xmlns:p14="http://schemas.microsoft.com/office/powerpoint/2010/main" val="17838404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4246170870"/>
              </p:ext>
            </p:extLst>
          </p:nvPr>
        </p:nvGraphicFramePr>
        <p:xfrm>
          <a:off x="2376691"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标题 2">
            <a:extLst>
              <a:ext uri="{FF2B5EF4-FFF2-40B4-BE49-F238E27FC236}">
                <a16:creationId xmlns:a16="http://schemas.microsoft.com/office/drawing/2014/main" id="{DEB1ADA9-363C-ABF9-EE21-2CDB0933B504}"/>
              </a:ext>
            </a:extLst>
          </p:cNvPr>
          <p:cNvSpPr>
            <a:spLocks noGrp="1"/>
          </p:cNvSpPr>
          <p:nvPr>
            <p:ph type="title"/>
          </p:nvPr>
        </p:nvSpPr>
        <p:spPr>
          <a:xfrm>
            <a:off x="2808000" y="144000"/>
            <a:ext cx="3528000" cy="338554"/>
          </a:xfrm>
        </p:spPr>
        <p:txBody>
          <a:bodyPr/>
          <a:lstStyle/>
          <a:p>
            <a:r>
              <a:rPr lang="zh-CN" altLang="en-US" dirty="0"/>
              <a:t>闭环控制措施</a:t>
            </a:r>
          </a:p>
        </p:txBody>
      </p:sp>
    </p:spTree>
    <p:extLst>
      <p:ext uri="{BB962C8B-B14F-4D97-AF65-F5344CB8AC3E}">
        <p14:creationId xmlns:p14="http://schemas.microsoft.com/office/powerpoint/2010/main" val="28144475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2424495821"/>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442302"/>
            <a:ext cx="3323803" cy="2205872"/>
          </a:xfrm>
          <a:prstGeom prst="borderCallout1">
            <a:avLst>
              <a:gd name="adj1" fmla="val 8441"/>
              <a:gd name="adj2" fmla="val -96"/>
              <a:gd name="adj3" fmla="val 696"/>
              <a:gd name="adj4" fmla="val -10217"/>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dirty="0">
                <a:solidFill>
                  <a:schemeClr val="tx1"/>
                </a:solidFill>
                <a:latin typeface="Montserrat" panose="00000500000000000000" pitchFamily="2" charset="0"/>
                <a:ea typeface="微软雅黑 Light" panose="020B0502040204020203" pitchFamily="34" charset="-122"/>
              </a:rPr>
              <a:t>主要指标有：</a:t>
            </a:r>
          </a:p>
          <a:p>
            <a:pPr marL="358775" indent="-179388">
              <a:lnSpc>
                <a:spcPts val="2000"/>
              </a:lnSpc>
              <a:buClr>
                <a:srgbClr val="9900CC"/>
              </a:buClr>
              <a:buFont typeface="+mj-lt"/>
              <a:buAutoNum type="arabicPeriod"/>
            </a:pPr>
            <a:r>
              <a:rPr lang="zh-CN" altLang="en-US" sz="1400" dirty="0">
                <a:solidFill>
                  <a:schemeClr val="tx1"/>
                </a:solidFill>
                <a:latin typeface="Montserrat" panose="00000500000000000000" pitchFamily="2" charset="0"/>
                <a:ea typeface="微软雅黑 Light" panose="020B0502040204020203" pitchFamily="34" charset="-122"/>
              </a:rPr>
              <a:t>由于缺少缓存空间而被丢弃的分组的百分数；</a:t>
            </a:r>
          </a:p>
          <a:p>
            <a:pPr marL="358775" indent="-179388">
              <a:lnSpc>
                <a:spcPts val="2000"/>
              </a:lnSpc>
              <a:buClr>
                <a:srgbClr val="9900CC"/>
              </a:buClr>
              <a:buFont typeface="+mj-lt"/>
              <a:buAutoNum type="arabicPeriod"/>
            </a:pPr>
            <a:r>
              <a:rPr lang="zh-CN" altLang="en-US" sz="1400" dirty="0">
                <a:solidFill>
                  <a:schemeClr val="tx1"/>
                </a:solidFill>
                <a:latin typeface="Montserrat" panose="00000500000000000000" pitchFamily="2" charset="0"/>
                <a:ea typeface="微软雅黑 Light" panose="020B0502040204020203" pitchFamily="34" charset="-122"/>
              </a:rPr>
              <a:t>平均队列长度；</a:t>
            </a:r>
          </a:p>
          <a:p>
            <a:pPr marL="358775" indent="-179388">
              <a:lnSpc>
                <a:spcPts val="2000"/>
              </a:lnSpc>
              <a:buClr>
                <a:srgbClr val="9900CC"/>
              </a:buClr>
              <a:buFont typeface="+mj-lt"/>
              <a:buAutoNum type="arabicPeriod"/>
            </a:pPr>
            <a:r>
              <a:rPr lang="zh-CN" altLang="en-US" sz="1400" dirty="0">
                <a:solidFill>
                  <a:schemeClr val="tx1"/>
                </a:solidFill>
                <a:latin typeface="Montserrat" panose="00000500000000000000" pitchFamily="2" charset="0"/>
                <a:ea typeface="微软雅黑 Light" panose="020B0502040204020203" pitchFamily="34" charset="-122"/>
              </a:rPr>
              <a:t>超时重传的分组数；</a:t>
            </a:r>
          </a:p>
          <a:p>
            <a:pPr marL="358775" indent="-179388">
              <a:lnSpc>
                <a:spcPts val="2000"/>
              </a:lnSpc>
              <a:buClr>
                <a:srgbClr val="9900CC"/>
              </a:buClr>
              <a:buFont typeface="+mj-lt"/>
              <a:buAutoNum type="arabicPeriod"/>
            </a:pPr>
            <a:r>
              <a:rPr lang="zh-CN" altLang="en-US" sz="1400" dirty="0">
                <a:solidFill>
                  <a:schemeClr val="tx1"/>
                </a:solidFill>
                <a:latin typeface="Montserrat" panose="00000500000000000000" pitchFamily="2" charset="0"/>
                <a:ea typeface="微软雅黑 Light" panose="020B0502040204020203" pitchFamily="34" charset="-122"/>
              </a:rPr>
              <a:t>平均分组时延；</a:t>
            </a:r>
          </a:p>
          <a:p>
            <a:pPr marL="358775" indent="-179388">
              <a:lnSpc>
                <a:spcPts val="2000"/>
              </a:lnSpc>
              <a:buClr>
                <a:srgbClr val="9900CC"/>
              </a:buClr>
              <a:buFont typeface="+mj-lt"/>
              <a:buAutoNum type="arabicPeriod"/>
            </a:pPr>
            <a:r>
              <a:rPr lang="zh-CN" altLang="en-US" sz="1400" dirty="0">
                <a:solidFill>
                  <a:schemeClr val="tx1"/>
                </a:solidFill>
                <a:latin typeface="Montserrat" panose="00000500000000000000" pitchFamily="2" charset="0"/>
                <a:ea typeface="微软雅黑 Light" panose="020B0502040204020203" pitchFamily="34" charset="-122"/>
              </a:rPr>
              <a:t>分组时延的标准差，等等。</a:t>
            </a:r>
          </a:p>
          <a:p>
            <a:pPr marL="179388" indent="-179388">
              <a:lnSpc>
                <a:spcPts val="2000"/>
              </a:lnSpc>
              <a:buClr>
                <a:srgbClr val="0070C0"/>
              </a:buClr>
              <a:buFont typeface="Wingdings" pitchFamily="2" charset="2"/>
              <a:buChar char="l"/>
            </a:pPr>
            <a:r>
              <a:rPr lang="zh-CN" altLang="en-US" sz="1400" dirty="0">
                <a:solidFill>
                  <a:srgbClr val="0000FF"/>
                </a:solidFill>
                <a:latin typeface="Montserrat" panose="00000500000000000000" pitchFamily="2" charset="0"/>
                <a:ea typeface="微软雅黑 Light" panose="020B0502040204020203" pitchFamily="34" charset="-122"/>
              </a:rPr>
              <a:t>这些指标的上升都标志着拥塞的增长。</a:t>
            </a:r>
          </a:p>
        </p:txBody>
      </p:sp>
      <p:sp>
        <p:nvSpPr>
          <p:cNvPr id="4" name="标题 3">
            <a:extLst>
              <a:ext uri="{FF2B5EF4-FFF2-40B4-BE49-F238E27FC236}">
                <a16:creationId xmlns:a16="http://schemas.microsoft.com/office/drawing/2014/main" id="{6AA3CC6C-A7CA-CF61-4A4D-E6F8E22160DD}"/>
              </a:ext>
            </a:extLst>
          </p:cNvPr>
          <p:cNvSpPr>
            <a:spLocks noGrp="1"/>
          </p:cNvSpPr>
          <p:nvPr>
            <p:ph type="title"/>
          </p:nvPr>
        </p:nvSpPr>
        <p:spPr>
          <a:xfrm>
            <a:off x="2808000" y="144000"/>
            <a:ext cx="3528000" cy="338554"/>
          </a:xfrm>
        </p:spPr>
        <p:txBody>
          <a:bodyPr/>
          <a:lstStyle/>
          <a:p>
            <a:r>
              <a:rPr lang="zh-CN" altLang="en-US" dirty="0"/>
              <a:t>闭环控制措施</a:t>
            </a:r>
          </a:p>
        </p:txBody>
      </p:sp>
    </p:spTree>
    <p:extLst>
      <p:ext uri="{BB962C8B-B14F-4D97-AF65-F5344CB8AC3E}">
        <p14:creationId xmlns:p14="http://schemas.microsoft.com/office/powerpoint/2010/main" val="62928915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985682877"/>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1894788"/>
            <a:ext cx="3323803" cy="1753385"/>
          </a:xfrm>
          <a:prstGeom prst="borderCallout1">
            <a:avLst>
              <a:gd name="adj1" fmla="val 42353"/>
              <a:gd name="adj2" fmla="val -96"/>
              <a:gd name="adj3" fmla="val 34925"/>
              <a:gd name="adj4" fmla="val -9366"/>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将拥塞发生的信息传送到产生分组的</a:t>
            </a:r>
            <a:r>
              <a:rPr lang="zh-CN" altLang="en-US" sz="1400" b="1" dirty="0">
                <a:solidFill>
                  <a:srgbClr val="C00000"/>
                </a:solidFill>
                <a:latin typeface="微软雅黑" pitchFamily="34" charset="-122"/>
                <a:ea typeface="微软雅黑" pitchFamily="34" charset="-122"/>
              </a:rPr>
              <a:t>源站。</a:t>
            </a:r>
          </a:p>
          <a:p>
            <a:pPr marL="179388" indent="-179388">
              <a:lnSpc>
                <a:spcPts val="2000"/>
              </a:lnSpc>
              <a:buClr>
                <a:srgbClr val="9900CC"/>
              </a:buClr>
              <a:buFont typeface="+mj-lt"/>
              <a:buAutoNum type="arabicPeriod"/>
            </a:pPr>
            <a:r>
              <a:rPr lang="zh-CN" altLang="en-US" sz="1400" b="1" dirty="0">
                <a:solidFill>
                  <a:schemeClr val="tx1"/>
                </a:solidFill>
                <a:latin typeface="微软雅黑" pitchFamily="34" charset="-122"/>
                <a:ea typeface="微软雅黑" pitchFamily="34" charset="-122"/>
              </a:rPr>
              <a:t>在路由器转发的分组中保留一个比特或字段，用该</a:t>
            </a:r>
            <a:r>
              <a:rPr lang="zh-CN" altLang="en-US" sz="1400" b="1" dirty="0">
                <a:solidFill>
                  <a:srgbClr val="C00000"/>
                </a:solidFill>
                <a:latin typeface="微软雅黑" pitchFamily="34" charset="-122"/>
                <a:ea typeface="微软雅黑" pitchFamily="34" charset="-122"/>
              </a:rPr>
              <a:t>比特或字段</a:t>
            </a:r>
            <a:r>
              <a:rPr lang="zh-CN" altLang="en-US" sz="1400" b="1" dirty="0">
                <a:solidFill>
                  <a:schemeClr val="tx1"/>
                </a:solidFill>
                <a:latin typeface="微软雅黑" pitchFamily="34" charset="-122"/>
                <a:ea typeface="微软雅黑" pitchFamily="34" charset="-122"/>
              </a:rPr>
              <a:t>的值表示网络没有拥塞或产生了拥塞。</a:t>
            </a:r>
          </a:p>
          <a:p>
            <a:pPr marL="179388" indent="-179388">
              <a:lnSpc>
                <a:spcPts val="2000"/>
              </a:lnSpc>
              <a:buClr>
                <a:srgbClr val="9900CC"/>
              </a:buClr>
              <a:buFont typeface="+mj-lt"/>
              <a:buAutoNum type="arabicPeriod"/>
            </a:pPr>
            <a:r>
              <a:rPr lang="zh-CN" altLang="en-US" sz="1400" b="1" dirty="0">
                <a:solidFill>
                  <a:srgbClr val="C00000"/>
                </a:solidFill>
                <a:latin typeface="微软雅黑" pitchFamily="34" charset="-122"/>
                <a:ea typeface="微软雅黑" pitchFamily="34" charset="-122"/>
              </a:rPr>
              <a:t>周期性</a:t>
            </a:r>
            <a:r>
              <a:rPr lang="zh-CN" altLang="en-US" sz="1400" b="1" dirty="0">
                <a:solidFill>
                  <a:schemeClr val="tx1"/>
                </a:solidFill>
                <a:latin typeface="微软雅黑" pitchFamily="34" charset="-122"/>
                <a:ea typeface="微软雅黑" pitchFamily="34" charset="-122"/>
              </a:rPr>
              <a:t>地发出探测分组等。</a:t>
            </a:r>
          </a:p>
        </p:txBody>
      </p:sp>
      <p:sp>
        <p:nvSpPr>
          <p:cNvPr id="4" name="标题 3">
            <a:extLst>
              <a:ext uri="{FF2B5EF4-FFF2-40B4-BE49-F238E27FC236}">
                <a16:creationId xmlns:a16="http://schemas.microsoft.com/office/drawing/2014/main" id="{B8654CCE-1278-D2CF-12D6-942618BB19FF}"/>
              </a:ext>
            </a:extLst>
          </p:cNvPr>
          <p:cNvSpPr>
            <a:spLocks noGrp="1"/>
          </p:cNvSpPr>
          <p:nvPr>
            <p:ph type="title"/>
          </p:nvPr>
        </p:nvSpPr>
        <p:spPr>
          <a:xfrm>
            <a:off x="2808000" y="144000"/>
            <a:ext cx="3528000" cy="338554"/>
          </a:xfrm>
        </p:spPr>
        <p:txBody>
          <a:bodyPr/>
          <a:lstStyle/>
          <a:p>
            <a:r>
              <a:rPr lang="zh-CN" altLang="en-US" dirty="0"/>
              <a:t>闭环控制措施</a:t>
            </a:r>
          </a:p>
        </p:txBody>
      </p:sp>
    </p:spTree>
    <p:extLst>
      <p:ext uri="{BB962C8B-B14F-4D97-AF65-F5344CB8AC3E}">
        <p14:creationId xmlns:p14="http://schemas.microsoft.com/office/powerpoint/2010/main" val="127491819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561655422"/>
              </p:ext>
            </p:extLst>
          </p:nvPr>
        </p:nvGraphicFramePr>
        <p:xfrm>
          <a:off x="619025" y="1225156"/>
          <a:ext cx="4409319" cy="28189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线形标注 1 2"/>
          <p:cNvSpPr/>
          <p:nvPr/>
        </p:nvSpPr>
        <p:spPr>
          <a:xfrm>
            <a:off x="5207452" y="2686639"/>
            <a:ext cx="3398287" cy="961534"/>
          </a:xfrm>
          <a:prstGeom prst="borderCallout1">
            <a:avLst>
              <a:gd name="adj1" fmla="val 74102"/>
              <a:gd name="adj2" fmla="val -96"/>
              <a:gd name="adj3" fmla="val 89195"/>
              <a:gd name="adj4" fmla="val -9915"/>
            </a:avLst>
          </a:prstGeom>
          <a:noFill/>
          <a:ln w="9525">
            <a:solidFill>
              <a:srgbClr val="00006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过于频繁，会使系统产生不稳定的振荡。</a:t>
            </a:r>
          </a:p>
          <a:p>
            <a:pPr marL="179388" indent="-179388">
              <a:lnSpc>
                <a:spcPts val="2000"/>
              </a:lnSpc>
              <a:buClr>
                <a:srgbClr val="0070C0"/>
              </a:buClr>
              <a:buFont typeface="Wingdings" pitchFamily="2" charset="2"/>
              <a:buChar char="l"/>
            </a:pPr>
            <a:r>
              <a:rPr lang="zh-CN" altLang="en-US" sz="1400" b="1" dirty="0">
                <a:solidFill>
                  <a:schemeClr val="tx1"/>
                </a:solidFill>
                <a:latin typeface="微软雅黑" pitchFamily="34" charset="-122"/>
                <a:ea typeface="微软雅黑" pitchFamily="34" charset="-122"/>
              </a:rPr>
              <a:t>过于迟缓，不具有任何实用价值。</a:t>
            </a:r>
          </a:p>
          <a:p>
            <a:pPr marL="179388" indent="-179388">
              <a:lnSpc>
                <a:spcPts val="2000"/>
              </a:lnSpc>
              <a:buClr>
                <a:srgbClr val="0070C0"/>
              </a:buClr>
              <a:buFont typeface="Wingdings" pitchFamily="2" charset="2"/>
              <a:buChar char="l"/>
            </a:pPr>
            <a:r>
              <a:rPr lang="zh-CN" altLang="en-US" sz="1400" b="1" dirty="0">
                <a:solidFill>
                  <a:srgbClr val="0000FF"/>
                </a:solidFill>
                <a:latin typeface="微软雅黑" pitchFamily="34" charset="-122"/>
                <a:ea typeface="微软雅黑" pitchFamily="34" charset="-122"/>
              </a:rPr>
              <a:t>选择正确的时间常数是相当困难的。</a:t>
            </a:r>
          </a:p>
        </p:txBody>
      </p:sp>
      <p:sp>
        <p:nvSpPr>
          <p:cNvPr id="4" name="标题 3">
            <a:extLst>
              <a:ext uri="{FF2B5EF4-FFF2-40B4-BE49-F238E27FC236}">
                <a16:creationId xmlns:a16="http://schemas.microsoft.com/office/drawing/2014/main" id="{FA77A60E-F80B-D74A-B511-3D74FB29D4E2}"/>
              </a:ext>
            </a:extLst>
          </p:cNvPr>
          <p:cNvSpPr>
            <a:spLocks noGrp="1"/>
          </p:cNvSpPr>
          <p:nvPr>
            <p:ph type="title"/>
          </p:nvPr>
        </p:nvSpPr>
        <p:spPr>
          <a:xfrm>
            <a:off x="2808000" y="144000"/>
            <a:ext cx="3528000" cy="338554"/>
          </a:xfrm>
        </p:spPr>
        <p:txBody>
          <a:bodyPr/>
          <a:lstStyle/>
          <a:p>
            <a:r>
              <a:rPr lang="zh-CN" altLang="en-US" dirty="0"/>
              <a:t>闭环控制措施</a:t>
            </a:r>
          </a:p>
        </p:txBody>
      </p:sp>
    </p:spTree>
    <p:extLst>
      <p:ext uri="{BB962C8B-B14F-4D97-AF65-F5344CB8AC3E}">
        <p14:creationId xmlns:p14="http://schemas.microsoft.com/office/powerpoint/2010/main" val="22639322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nvSpPr>
        <p:spPr>
          <a:xfrm>
            <a:off x="556963" y="3686475"/>
            <a:ext cx="8048776" cy="499026"/>
          </a:xfrm>
          <a:prstGeom prst="rect">
            <a:avLst/>
          </a:prstGeom>
          <a:no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dirty="0">
                <a:latin typeface="Montserrat" panose="00000500000000000000" pitchFamily="2" charset="0"/>
                <a:ea typeface="微软雅黑 Light" panose="020B0502040204020203" pitchFamily="34" charset="-122"/>
              </a:rPr>
              <a:t>真正的发送窗口值 </a:t>
            </a:r>
            <a:r>
              <a:rPr lang="en-US" altLang="zh-CN" sz="2000" dirty="0">
                <a:latin typeface="Montserrat" panose="00000500000000000000" pitchFamily="2" charset="0"/>
                <a:ea typeface="微软雅黑 Light" panose="020B0502040204020203" pitchFamily="34" charset="-122"/>
              </a:rPr>
              <a:t>= Min (</a:t>
            </a:r>
            <a:r>
              <a:rPr lang="zh-CN" altLang="en-US" sz="2000" dirty="0">
                <a:latin typeface="Montserrat" panose="00000500000000000000" pitchFamily="2" charset="0"/>
                <a:ea typeface="微软雅黑 Light" panose="020B0502040204020203" pitchFamily="34" charset="-122"/>
              </a:rPr>
              <a:t>接收方通知的窗口值，拥塞窗口值</a:t>
            </a:r>
            <a:r>
              <a:rPr lang="en-US" altLang="zh-CN" sz="2000" dirty="0">
                <a:latin typeface="Montserrat" panose="00000500000000000000" pitchFamily="2" charset="0"/>
                <a:ea typeface="微软雅黑 Light" panose="020B0502040204020203" pitchFamily="34" charset="-122"/>
              </a:rPr>
              <a:t>)</a:t>
            </a:r>
          </a:p>
        </p:txBody>
      </p:sp>
      <p:sp>
        <p:nvSpPr>
          <p:cNvPr id="6" name="内容占位符 5">
            <a:extLst>
              <a:ext uri="{FF2B5EF4-FFF2-40B4-BE49-F238E27FC236}">
                <a16:creationId xmlns:a16="http://schemas.microsoft.com/office/drawing/2014/main" id="{CE35B60B-0423-57EB-9B0C-7538D09F9CCA}"/>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采用基于滑动窗口的方法进行拥塞控制，属于闭环控制方法。</a:t>
            </a:r>
          </a:p>
          <a:p>
            <a:r>
              <a:rPr lang="en-US" altLang="zh-CN" dirty="0"/>
              <a:t>TCP </a:t>
            </a:r>
            <a:r>
              <a:rPr lang="zh-CN" altLang="en-US" dirty="0"/>
              <a:t>发送方维持一个拥塞窗口 </a:t>
            </a:r>
            <a:r>
              <a:rPr lang="en-US" altLang="zh-CN" dirty="0"/>
              <a:t>cwnd (Congestion Window)</a:t>
            </a:r>
          </a:p>
          <a:p>
            <a:r>
              <a:rPr lang="zh-CN" altLang="en-US" dirty="0"/>
              <a:t>拥塞窗口的大小取决于网络的拥塞程度，并且是动态变化的。</a:t>
            </a:r>
            <a:endParaRPr lang="en-US" altLang="zh-CN" dirty="0"/>
          </a:p>
          <a:p>
            <a:r>
              <a:rPr lang="zh-CN" altLang="en-US" dirty="0"/>
              <a:t>发送端利用拥塞窗口根据网络的拥塞情况调整发送的数据量。</a:t>
            </a:r>
            <a:endParaRPr lang="en-US" altLang="zh-CN" dirty="0"/>
          </a:p>
          <a:p>
            <a:r>
              <a:rPr lang="zh-CN" altLang="en-US" dirty="0"/>
              <a:t>发送窗口大小不仅取决于接收方窗口，还取决于网络的拥塞状况。</a:t>
            </a:r>
            <a:endParaRPr lang="en-US" altLang="zh-CN" dirty="0"/>
          </a:p>
          <a:p>
            <a:r>
              <a:rPr lang="zh-CN" altLang="en-US" dirty="0"/>
              <a:t>真正的发送窗口值：</a:t>
            </a:r>
          </a:p>
          <a:p>
            <a:endParaRPr lang="zh-CN" altLang="en-US" dirty="0"/>
          </a:p>
        </p:txBody>
      </p:sp>
      <p:sp>
        <p:nvSpPr>
          <p:cNvPr id="5" name="标题 4">
            <a:extLst>
              <a:ext uri="{FF2B5EF4-FFF2-40B4-BE49-F238E27FC236}">
                <a16:creationId xmlns:a16="http://schemas.microsoft.com/office/drawing/2014/main" id="{ABFD0A1E-F252-72C0-E802-171C72AA8276}"/>
              </a:ext>
            </a:extLst>
          </p:cNvPr>
          <p:cNvSpPr>
            <a:spLocks noGrp="1"/>
          </p:cNvSpPr>
          <p:nvPr>
            <p:ph type="title"/>
          </p:nvPr>
        </p:nvSpPr>
        <p:spPr>
          <a:xfrm>
            <a:off x="2808000" y="144000"/>
            <a:ext cx="3528000" cy="338554"/>
          </a:xfrm>
        </p:spPr>
        <p:txBody>
          <a:bodyPr/>
          <a:lstStyle/>
          <a:p>
            <a:r>
              <a:rPr lang="en-US" altLang="zh-CN" dirty="0"/>
              <a:t>5.8.2  TCP </a:t>
            </a:r>
            <a:r>
              <a:rPr lang="zh-CN" altLang="en-US" dirty="0"/>
              <a:t>的拥塞控制方法</a:t>
            </a:r>
          </a:p>
        </p:txBody>
      </p:sp>
    </p:spTree>
    <p:extLst>
      <p:ext uri="{BB962C8B-B14F-4D97-AF65-F5344CB8AC3E}">
        <p14:creationId xmlns:p14="http://schemas.microsoft.com/office/powerpoint/2010/main" val="405398077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5596F08A-7288-5661-F81D-CDD08F3E5072}"/>
              </a:ext>
            </a:extLst>
          </p:cNvPr>
          <p:cNvSpPr>
            <a:spLocks noGrp="1"/>
          </p:cNvSpPr>
          <p:nvPr>
            <p:ph sz="quarter" idx="11"/>
          </p:nvPr>
        </p:nvSpPr>
        <p:spPr>
          <a:xfrm>
            <a:off x="486000" y="482554"/>
            <a:ext cx="8172000" cy="4120946"/>
          </a:xfrm>
        </p:spPr>
        <p:txBody>
          <a:bodyPr/>
          <a:lstStyle/>
          <a:p>
            <a:r>
              <a:rPr lang="zh-CN" altLang="en-US" dirty="0"/>
              <a:t>只要网络没有出现拥塞，拥塞窗口就可以再增大一些，以便把更多的分组发送出去，提高网络的利用率。</a:t>
            </a:r>
          </a:p>
          <a:p>
            <a:r>
              <a:rPr lang="zh-CN" altLang="en-US" dirty="0"/>
              <a:t>但只要网络出现拥塞或有可能出现拥塞，就必须把拥塞窗口减小一些，以减少注入到网络中的分组数，缓解网络出现的拥塞。</a:t>
            </a:r>
          </a:p>
          <a:p>
            <a:endParaRPr lang="zh-CN" altLang="en-US" dirty="0"/>
          </a:p>
        </p:txBody>
      </p:sp>
      <p:sp>
        <p:nvSpPr>
          <p:cNvPr id="5" name="标题 4">
            <a:extLst>
              <a:ext uri="{FF2B5EF4-FFF2-40B4-BE49-F238E27FC236}">
                <a16:creationId xmlns:a16="http://schemas.microsoft.com/office/drawing/2014/main" id="{57670961-9006-2A6E-3F3C-D69103E79BC1}"/>
              </a:ext>
            </a:extLst>
          </p:cNvPr>
          <p:cNvSpPr>
            <a:spLocks noGrp="1"/>
          </p:cNvSpPr>
          <p:nvPr>
            <p:ph type="title"/>
          </p:nvPr>
        </p:nvSpPr>
        <p:spPr>
          <a:xfrm>
            <a:off x="2808000" y="144000"/>
            <a:ext cx="3528000" cy="338554"/>
          </a:xfrm>
        </p:spPr>
        <p:txBody>
          <a:bodyPr/>
          <a:lstStyle/>
          <a:p>
            <a:r>
              <a:rPr lang="zh-CN" altLang="en-US" dirty="0"/>
              <a:t>控制拥塞窗口变化的原则</a:t>
            </a:r>
          </a:p>
        </p:txBody>
      </p:sp>
    </p:spTree>
    <p:extLst>
      <p:ext uri="{BB962C8B-B14F-4D97-AF65-F5344CB8AC3E}">
        <p14:creationId xmlns:p14="http://schemas.microsoft.com/office/powerpoint/2010/main" val="267103595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图示 10"/>
          <p:cNvGraphicFramePr/>
          <p:nvPr>
            <p:extLst>
              <p:ext uri="{D42A27DB-BD31-4B8C-83A1-F6EECF244321}">
                <p14:modId xmlns:p14="http://schemas.microsoft.com/office/powerpoint/2010/main" val="4178475380"/>
              </p:ext>
            </p:extLst>
          </p:nvPr>
        </p:nvGraphicFramePr>
        <p:xfrm>
          <a:off x="875047" y="1155452"/>
          <a:ext cx="7429968" cy="15751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矩形 1"/>
          <p:cNvSpPr/>
          <p:nvPr/>
        </p:nvSpPr>
        <p:spPr>
          <a:xfrm>
            <a:off x="1186111" y="2910102"/>
            <a:ext cx="6790480" cy="820546"/>
          </a:xfrm>
          <a:prstGeom prst="rect">
            <a:avLst/>
          </a:prstGeom>
        </p:spPr>
        <p:txBody>
          <a:bodyPr wrap="square">
            <a:spAutoFit/>
          </a:bodyPr>
          <a:lstStyle/>
          <a:p>
            <a:pPr>
              <a:lnSpc>
                <a:spcPts val="3000"/>
              </a:lnSpc>
            </a:pPr>
            <a:r>
              <a:rPr lang="zh-CN" altLang="en-US" dirty="0">
                <a:latin typeface="微软雅黑 Light" panose="020B0502040204020203" pitchFamily="34" charset="-122"/>
                <a:ea typeface="微软雅黑 Light" panose="020B0502040204020203" pitchFamily="34" charset="-122"/>
              </a:rPr>
              <a:t>因传输出差错而丢弃分组的</a:t>
            </a:r>
            <a:r>
              <a:rPr lang="zh-CN" altLang="en-US" dirty="0">
                <a:solidFill>
                  <a:srgbClr val="C00000"/>
                </a:solidFill>
                <a:latin typeface="微软雅黑 Light" panose="020B0502040204020203" pitchFamily="34" charset="-122"/>
                <a:ea typeface="微软雅黑 Light" panose="020B0502040204020203" pitchFamily="34" charset="-122"/>
              </a:rPr>
              <a:t>概率很小</a:t>
            </a:r>
            <a:r>
              <a:rPr lang="zh-CN" altLang="en-US" dirty="0">
                <a:latin typeface="微软雅黑 Light" panose="020B0502040204020203" pitchFamily="34" charset="-122"/>
                <a:ea typeface="微软雅黑 Light" panose="020B0502040204020203" pitchFamily="34" charset="-122"/>
              </a:rPr>
              <a:t>（远小于</a:t>
            </a:r>
            <a:r>
              <a:rPr lang="en-US" altLang="zh-CN" dirty="0">
                <a:latin typeface="微软雅黑 Light" panose="020B0502040204020203" pitchFamily="34" charset="-122"/>
                <a:ea typeface="微软雅黑 Light" panose="020B0502040204020203" pitchFamily="34" charset="-122"/>
              </a:rPr>
              <a:t>1 %</a:t>
            </a:r>
            <a:r>
              <a:rPr lang="zh-CN" altLang="en-US" dirty="0">
                <a:latin typeface="微软雅黑 Light" panose="020B0502040204020203" pitchFamily="34" charset="-122"/>
                <a:ea typeface="微软雅黑 Light" panose="020B0502040204020203" pitchFamily="34" charset="-122"/>
              </a:rPr>
              <a:t>）。</a:t>
            </a:r>
            <a:endParaRPr lang="en-US" altLang="zh-CN" dirty="0">
              <a:latin typeface="微软雅黑 Light" panose="020B0502040204020203" pitchFamily="34" charset="-122"/>
              <a:ea typeface="微软雅黑 Light" panose="020B0502040204020203" pitchFamily="34" charset="-122"/>
            </a:endParaRPr>
          </a:p>
          <a:p>
            <a:pPr>
              <a:lnSpc>
                <a:spcPts val="3000"/>
              </a:lnSpc>
            </a:pPr>
            <a:r>
              <a:rPr lang="zh-CN" altLang="en-US" dirty="0">
                <a:latin typeface="微软雅黑 Light" panose="020B0502040204020203" pitchFamily="34" charset="-122"/>
                <a:ea typeface="微软雅黑 Light" panose="020B0502040204020203" pitchFamily="34" charset="-122"/>
              </a:rPr>
              <a:t>因此，发送方在超时重传计时器启动时，</a:t>
            </a:r>
            <a:r>
              <a:rPr lang="zh-CN" altLang="en-US" dirty="0">
                <a:solidFill>
                  <a:srgbClr val="C00000"/>
                </a:solidFill>
                <a:latin typeface="微软雅黑 Light" panose="020B0502040204020203" pitchFamily="34" charset="-122"/>
                <a:ea typeface="微软雅黑 Light" panose="020B0502040204020203" pitchFamily="34" charset="-122"/>
              </a:rPr>
              <a:t>就判断网络出现了拥塞。</a:t>
            </a:r>
          </a:p>
        </p:txBody>
      </p:sp>
      <p:sp>
        <p:nvSpPr>
          <p:cNvPr id="3" name="标题 2">
            <a:extLst>
              <a:ext uri="{FF2B5EF4-FFF2-40B4-BE49-F238E27FC236}">
                <a16:creationId xmlns:a16="http://schemas.microsoft.com/office/drawing/2014/main" id="{495D013B-2310-E411-41E9-EFB63C1687A1}"/>
              </a:ext>
            </a:extLst>
          </p:cNvPr>
          <p:cNvSpPr>
            <a:spLocks noGrp="1"/>
          </p:cNvSpPr>
          <p:nvPr>
            <p:ph type="title"/>
          </p:nvPr>
        </p:nvSpPr>
        <p:spPr>
          <a:xfrm>
            <a:off x="2808000" y="144000"/>
            <a:ext cx="3528000" cy="338554"/>
          </a:xfrm>
        </p:spPr>
        <p:txBody>
          <a:bodyPr/>
          <a:lstStyle/>
          <a:p>
            <a:r>
              <a:rPr lang="zh-CN" altLang="en-US" dirty="0"/>
              <a:t>发送方判断拥塞的方法：隐式反馈</a:t>
            </a:r>
          </a:p>
        </p:txBody>
      </p:sp>
    </p:spTree>
    <p:extLst>
      <p:ext uri="{BB962C8B-B14F-4D97-AF65-F5344CB8AC3E}">
        <p14:creationId xmlns:p14="http://schemas.microsoft.com/office/powerpoint/2010/main" val="41813488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D4AB772E-80B8-6823-E4B3-068A3667C5A7}"/>
              </a:ext>
            </a:extLst>
          </p:cNvPr>
          <p:cNvSpPr>
            <a:spLocks noGrp="1"/>
          </p:cNvSpPr>
          <p:nvPr>
            <p:ph sz="quarter" idx="11"/>
          </p:nvPr>
        </p:nvSpPr>
        <p:spPr>
          <a:xfrm>
            <a:off x="486000" y="482554"/>
            <a:ext cx="8172000" cy="4120946"/>
          </a:xfrm>
        </p:spPr>
        <p:txBody>
          <a:bodyPr/>
          <a:lstStyle/>
          <a:p>
            <a:r>
              <a:rPr lang="zh-CN" altLang="en-US" dirty="0"/>
              <a:t>四种拥塞控制算法（ </a:t>
            </a:r>
            <a:r>
              <a:rPr lang="en-US" altLang="zh-CN" dirty="0"/>
              <a:t>RFC 5681</a:t>
            </a:r>
            <a:r>
              <a:rPr lang="zh-CN" altLang="en-US" dirty="0"/>
              <a:t>） ：</a:t>
            </a:r>
          </a:p>
          <a:p>
            <a:r>
              <a:rPr lang="zh-CN" altLang="en-US" dirty="0"/>
              <a:t>慢开始 </a:t>
            </a:r>
            <a:r>
              <a:rPr lang="en-US" altLang="zh-CN" dirty="0"/>
              <a:t>(slow-start)</a:t>
            </a:r>
          </a:p>
          <a:p>
            <a:r>
              <a:rPr lang="zh-CN" altLang="en-US" dirty="0"/>
              <a:t>拥塞避免 </a:t>
            </a:r>
            <a:r>
              <a:rPr lang="en-US" altLang="zh-CN" dirty="0"/>
              <a:t>(congestion avoidance)</a:t>
            </a:r>
          </a:p>
          <a:p>
            <a:r>
              <a:rPr lang="zh-CN" altLang="en-US" dirty="0"/>
              <a:t>快重传 </a:t>
            </a:r>
            <a:r>
              <a:rPr lang="en-US" altLang="zh-CN" dirty="0"/>
              <a:t>(fast retransmit)</a:t>
            </a:r>
          </a:p>
          <a:p>
            <a:r>
              <a:rPr lang="zh-CN" altLang="en-US" dirty="0"/>
              <a:t>快恢复 </a:t>
            </a:r>
            <a:r>
              <a:rPr lang="en-US" altLang="zh-CN" dirty="0"/>
              <a:t>(fast recovery)</a:t>
            </a:r>
          </a:p>
          <a:p>
            <a:endParaRPr lang="zh-CN" altLang="en-US" dirty="0"/>
          </a:p>
        </p:txBody>
      </p:sp>
      <p:sp>
        <p:nvSpPr>
          <p:cNvPr id="5" name="标题 4">
            <a:extLst>
              <a:ext uri="{FF2B5EF4-FFF2-40B4-BE49-F238E27FC236}">
                <a16:creationId xmlns:a16="http://schemas.microsoft.com/office/drawing/2014/main" id="{D7947292-7CE9-5A53-09D3-1298FD515067}"/>
              </a:ext>
            </a:extLst>
          </p:cNvPr>
          <p:cNvSpPr>
            <a:spLocks noGrp="1"/>
          </p:cNvSpPr>
          <p:nvPr>
            <p:ph type="title"/>
          </p:nvPr>
        </p:nvSpPr>
        <p:spPr>
          <a:xfrm>
            <a:off x="2808000" y="144000"/>
            <a:ext cx="3528000" cy="338554"/>
          </a:xfrm>
        </p:spPr>
        <p:txBody>
          <a:bodyPr/>
          <a:lstStyle/>
          <a:p>
            <a:r>
              <a:rPr lang="en-US" altLang="zh-CN" dirty="0"/>
              <a:t>TCP </a:t>
            </a:r>
            <a:r>
              <a:rPr lang="zh-CN" altLang="en-US" dirty="0"/>
              <a:t>拥塞控制算法</a:t>
            </a:r>
          </a:p>
        </p:txBody>
      </p:sp>
    </p:spTree>
    <p:extLst>
      <p:ext uri="{BB962C8B-B14F-4D97-AF65-F5344CB8AC3E}">
        <p14:creationId xmlns:p14="http://schemas.microsoft.com/office/powerpoint/2010/main" val="32589419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图示 1"/>
          <p:cNvGraphicFramePr/>
          <p:nvPr>
            <p:extLst>
              <p:ext uri="{D42A27DB-BD31-4B8C-83A1-F6EECF244321}">
                <p14:modId xmlns:p14="http://schemas.microsoft.com/office/powerpoint/2010/main" val="3299569659"/>
              </p:ext>
            </p:extLst>
          </p:nvPr>
        </p:nvGraphicFramePr>
        <p:xfrm>
          <a:off x="2932192" y="2187018"/>
          <a:ext cx="4448995" cy="23567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内容占位符 6">
            <a:extLst>
              <a:ext uri="{FF2B5EF4-FFF2-40B4-BE49-F238E27FC236}">
                <a16:creationId xmlns:a16="http://schemas.microsoft.com/office/drawing/2014/main" id="{4E12C899-C201-AB9D-A4AD-6D7EF86E4850}"/>
              </a:ext>
            </a:extLst>
          </p:cNvPr>
          <p:cNvSpPr>
            <a:spLocks noGrp="1"/>
          </p:cNvSpPr>
          <p:nvPr>
            <p:ph sz="quarter" idx="11"/>
          </p:nvPr>
        </p:nvSpPr>
        <p:spPr>
          <a:xfrm>
            <a:off x="486000" y="482554"/>
            <a:ext cx="8172000" cy="4120946"/>
          </a:xfrm>
        </p:spPr>
        <p:txBody>
          <a:bodyPr/>
          <a:lstStyle/>
          <a:p>
            <a:r>
              <a:rPr lang="zh-CN" altLang="en-US" dirty="0"/>
              <a:t>目的：探测网络的负载能力或拥塞程度。</a:t>
            </a:r>
          </a:p>
          <a:p>
            <a:r>
              <a:rPr lang="zh-CN" altLang="en-US" dirty="0"/>
              <a:t>算法：由小到大逐渐增大注入到网络中的数据字节，即：由小到大逐渐增大拥塞窗口数值。</a:t>
            </a:r>
            <a:endParaRPr lang="en-US" altLang="zh-CN" dirty="0"/>
          </a:p>
          <a:p>
            <a:r>
              <a:rPr lang="en-US" altLang="zh-CN" dirty="0"/>
              <a:t>2 </a:t>
            </a:r>
            <a:r>
              <a:rPr lang="zh-CN" altLang="en-US" dirty="0"/>
              <a:t>个控制变量：</a:t>
            </a:r>
          </a:p>
          <a:p>
            <a:endParaRPr lang="zh-CN" altLang="en-US" dirty="0"/>
          </a:p>
        </p:txBody>
      </p:sp>
      <p:sp>
        <p:nvSpPr>
          <p:cNvPr id="6" name="标题 5">
            <a:extLst>
              <a:ext uri="{FF2B5EF4-FFF2-40B4-BE49-F238E27FC236}">
                <a16:creationId xmlns:a16="http://schemas.microsoft.com/office/drawing/2014/main" id="{3B8D63E4-D6FD-3AE0-12CB-F140C0509615}"/>
              </a:ext>
            </a:extLst>
          </p:cNvPr>
          <p:cNvSpPr>
            <a:spLocks noGrp="1"/>
          </p:cNvSpPr>
          <p:nvPr>
            <p:ph type="title"/>
          </p:nvPr>
        </p:nvSpPr>
        <p:spPr>
          <a:xfrm>
            <a:off x="2808000" y="144000"/>
            <a:ext cx="3528000" cy="338554"/>
          </a:xfrm>
        </p:spPr>
        <p:txBody>
          <a:bodyPr/>
          <a:lstStyle/>
          <a:p>
            <a:r>
              <a:rPr lang="en-US" altLang="zh-CN" dirty="0"/>
              <a:t>1. </a:t>
            </a:r>
            <a:r>
              <a:rPr lang="zh-CN" altLang="en-US" dirty="0"/>
              <a:t>慢开始 </a:t>
            </a:r>
            <a:r>
              <a:rPr lang="en-US" altLang="zh-CN" dirty="0"/>
              <a:t>(Slow start)</a:t>
            </a:r>
            <a:endParaRPr lang="zh-CN" altLang="en-US" dirty="0"/>
          </a:p>
        </p:txBody>
      </p:sp>
    </p:spTree>
    <p:extLst>
      <p:ext uri="{BB962C8B-B14F-4D97-AF65-F5344CB8AC3E}">
        <p14:creationId xmlns:p14="http://schemas.microsoft.com/office/powerpoint/2010/main" val="30988842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内容占位符 7">
            <a:extLst>
              <a:ext uri="{FF2B5EF4-FFF2-40B4-BE49-F238E27FC236}">
                <a16:creationId xmlns:a16="http://schemas.microsoft.com/office/drawing/2014/main" id="{65512EDA-64D2-A3BC-DB55-D6DAF3A3CB49}"/>
              </a:ext>
            </a:extLst>
          </p:cNvPr>
          <p:cNvSpPr>
            <a:spLocks noGrp="1"/>
          </p:cNvSpPr>
          <p:nvPr>
            <p:ph sz="quarter" idx="11"/>
          </p:nvPr>
        </p:nvSpPr>
        <p:spPr>
          <a:xfrm>
            <a:off x="486000" y="482554"/>
            <a:ext cx="8172000" cy="4120946"/>
          </a:xfrm>
        </p:spPr>
        <p:txBody>
          <a:bodyPr/>
          <a:lstStyle/>
          <a:p>
            <a:r>
              <a:rPr lang="zh-CN" altLang="en-US" dirty="0"/>
              <a:t>拥塞窗口 </a:t>
            </a:r>
            <a:r>
              <a:rPr lang="en-US" altLang="zh-CN" dirty="0"/>
              <a:t>cwnd </a:t>
            </a:r>
            <a:r>
              <a:rPr lang="zh-CN" altLang="en-US" dirty="0"/>
              <a:t>增大：在每收到一个对新的报文段的确认，就把拥塞窗口增加最多一个发送方的最大报文段 </a:t>
            </a:r>
            <a:r>
              <a:rPr lang="en-US" altLang="zh-CN" dirty="0"/>
              <a:t>SMSS  (Sender Maximum Segment Size) </a:t>
            </a:r>
            <a:r>
              <a:rPr lang="zh-CN" altLang="en-US" dirty="0"/>
              <a:t>的数值。</a:t>
            </a:r>
          </a:p>
          <a:p>
            <a:r>
              <a:rPr lang="zh-CN" altLang="en-US" dirty="0"/>
              <a:t>其中 </a:t>
            </a:r>
            <a:r>
              <a:rPr lang="en-US" altLang="zh-CN" dirty="0"/>
              <a:t>N </a:t>
            </a:r>
            <a:r>
              <a:rPr lang="zh-CN" altLang="en-US" dirty="0"/>
              <a:t>是原先未被确认的、但现在被刚收到的确认报文段所确认的字节数。</a:t>
            </a:r>
          </a:p>
          <a:p>
            <a:endParaRPr lang="zh-CN" altLang="en-US" dirty="0"/>
          </a:p>
        </p:txBody>
      </p:sp>
      <p:sp>
        <p:nvSpPr>
          <p:cNvPr id="39" name="矩形 38"/>
          <p:cNvSpPr/>
          <p:nvPr/>
        </p:nvSpPr>
        <p:spPr>
          <a:xfrm>
            <a:off x="1042543" y="2261782"/>
            <a:ext cx="7213799" cy="575688"/>
          </a:xfrm>
          <a:prstGeom prst="rect">
            <a:avLst/>
          </a:prstGeom>
          <a:no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dirty="0">
                <a:latin typeface="Montserrat" panose="00000500000000000000" pitchFamily="2" charset="0"/>
                <a:ea typeface="微软雅黑 Light" panose="020B0502040204020203" pitchFamily="34" charset="-122"/>
              </a:rPr>
              <a:t>拥塞窗口 </a:t>
            </a:r>
            <a:r>
              <a:rPr lang="en-US" altLang="zh-CN" sz="2000" dirty="0">
                <a:latin typeface="Montserrat" panose="00000500000000000000" pitchFamily="2" charset="0"/>
                <a:ea typeface="微软雅黑 Light" panose="020B0502040204020203" pitchFamily="34" charset="-122"/>
              </a:rPr>
              <a:t>cwnd </a:t>
            </a:r>
            <a:r>
              <a:rPr lang="zh-CN" altLang="en-US" sz="2000" dirty="0">
                <a:latin typeface="Montserrat" panose="00000500000000000000" pitchFamily="2" charset="0"/>
                <a:ea typeface="微软雅黑 Light" panose="020B0502040204020203" pitchFamily="34" charset="-122"/>
              </a:rPr>
              <a:t>每次的增加量 </a:t>
            </a:r>
            <a:r>
              <a:rPr lang="en-US" altLang="zh-CN" sz="2000" dirty="0">
                <a:latin typeface="Montserrat" panose="00000500000000000000" pitchFamily="2" charset="0"/>
                <a:ea typeface="微软雅黑 Light" panose="020B0502040204020203" pitchFamily="34" charset="-122"/>
              </a:rPr>
              <a:t>= min (N, SMSS)          (5-8)</a:t>
            </a:r>
          </a:p>
        </p:txBody>
      </p:sp>
      <p:sp>
        <p:nvSpPr>
          <p:cNvPr id="5" name="标题 4">
            <a:extLst>
              <a:ext uri="{FF2B5EF4-FFF2-40B4-BE49-F238E27FC236}">
                <a16:creationId xmlns:a16="http://schemas.microsoft.com/office/drawing/2014/main" id="{C05F23E5-C9E9-FA95-E528-4919846C22FA}"/>
              </a:ext>
            </a:extLst>
          </p:cNvPr>
          <p:cNvSpPr>
            <a:spLocks noGrp="1"/>
          </p:cNvSpPr>
          <p:nvPr>
            <p:ph type="title"/>
          </p:nvPr>
        </p:nvSpPr>
        <p:spPr>
          <a:xfrm>
            <a:off x="2808000" y="144000"/>
            <a:ext cx="3528000" cy="338554"/>
          </a:xfrm>
        </p:spPr>
        <p:txBody>
          <a:bodyPr/>
          <a:lstStyle/>
          <a:p>
            <a:r>
              <a:rPr lang="en-US" altLang="zh-CN" dirty="0"/>
              <a:t>1. </a:t>
            </a:r>
            <a:r>
              <a:rPr lang="zh-CN" altLang="en-US" dirty="0"/>
              <a:t>慢开始 </a:t>
            </a:r>
            <a:r>
              <a:rPr lang="en-US" altLang="zh-CN" dirty="0"/>
              <a:t>(Slow start)</a:t>
            </a:r>
            <a:endParaRPr lang="zh-CN" altLang="en-US" dirty="0"/>
          </a:p>
        </p:txBody>
      </p:sp>
    </p:spTree>
    <p:extLst>
      <p:ext uri="{BB962C8B-B14F-4D97-AF65-F5344CB8AC3E}">
        <p14:creationId xmlns:p14="http://schemas.microsoft.com/office/powerpoint/2010/main" val="196961512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360605" y="1224875"/>
            <a:ext cx="2592000" cy="41801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600"/>
              </a:lnSpc>
            </a:pPr>
            <a:r>
              <a:rPr lang="en-US" altLang="zh-CN" sz="1200" dirty="0">
                <a:solidFill>
                  <a:sysClr val="windowText" lastClr="000000"/>
                </a:solidFill>
                <a:latin typeface="Montserrat" panose="00000500000000000000" pitchFamily="2" charset="0"/>
                <a:ea typeface="微软雅黑 Light" panose="020B0502040204020203" pitchFamily="34" charset="-122"/>
              </a:rPr>
              <a:t>cwnd = 1</a:t>
            </a:r>
            <a:r>
              <a:rPr lang="zh-CN" altLang="en-US" sz="1200" dirty="0">
                <a:solidFill>
                  <a:sysClr val="windowText" lastClr="000000"/>
                </a:solidFill>
                <a:latin typeface="Montserrat" panose="00000500000000000000" pitchFamily="2" charset="0"/>
                <a:ea typeface="微软雅黑 Light" panose="020B0502040204020203" pitchFamily="34" charset="-122"/>
              </a:rPr>
              <a:t> </a:t>
            </a:r>
          </a:p>
          <a:p>
            <a:pPr algn="ctr">
              <a:lnSpc>
                <a:spcPts val="1600"/>
              </a:lnSpc>
            </a:pPr>
            <a:r>
              <a:rPr lang="en-US" altLang="zh-CN" sz="1200" dirty="0">
                <a:solidFill>
                  <a:sysClr val="windowText" lastClr="000000"/>
                </a:solidFill>
                <a:latin typeface="Montserrat" panose="00000500000000000000" pitchFamily="2" charset="0"/>
                <a:ea typeface="微软雅黑 Light" panose="020B0502040204020203" pitchFamily="34" charset="-122"/>
              </a:rPr>
              <a:t>ssthresh  </a:t>
            </a:r>
            <a:r>
              <a:rPr lang="zh-CN" altLang="en-US" sz="1200" dirty="0">
                <a:solidFill>
                  <a:sysClr val="windowText" lastClr="000000"/>
                </a:solidFill>
                <a:latin typeface="Montserrat" panose="00000500000000000000" pitchFamily="2" charset="0"/>
                <a:ea typeface="微软雅黑 Light" panose="020B0502040204020203" pitchFamily="34" charset="-122"/>
              </a:rPr>
              <a:t>＝ </a:t>
            </a:r>
            <a:r>
              <a:rPr lang="en-US" altLang="zh-CN" sz="1200" dirty="0">
                <a:solidFill>
                  <a:sysClr val="windowText" lastClr="000000"/>
                </a:solidFill>
                <a:latin typeface="Montserrat" panose="00000500000000000000" pitchFamily="2" charset="0"/>
                <a:ea typeface="微软雅黑 Light" panose="020B0502040204020203" pitchFamily="34" charset="-122"/>
              </a:rPr>
              <a:t>n</a:t>
            </a:r>
            <a:endParaRPr lang="zh-CN" altLang="en-US" sz="1200" dirty="0">
              <a:solidFill>
                <a:sysClr val="windowText" lastClr="000000"/>
              </a:solidFill>
              <a:latin typeface="Montserrat" panose="00000500000000000000" pitchFamily="2" charset="0"/>
              <a:ea typeface="微软雅黑 Light" panose="020B0502040204020203" pitchFamily="34" charset="-122"/>
            </a:endParaRPr>
          </a:p>
        </p:txBody>
      </p:sp>
      <p:sp>
        <p:nvSpPr>
          <p:cNvPr id="8" name="矩形 7"/>
          <p:cNvSpPr/>
          <p:nvPr/>
        </p:nvSpPr>
        <p:spPr>
          <a:xfrm>
            <a:off x="5736553" y="3635415"/>
            <a:ext cx="1765717" cy="41801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Montserrat" panose="00000500000000000000" pitchFamily="2" charset="0"/>
                <a:ea typeface="微软雅黑 Light" panose="020B0502040204020203" pitchFamily="34" charset="-122"/>
              </a:rPr>
              <a:t>执行拥塞避免算法</a:t>
            </a:r>
          </a:p>
        </p:txBody>
      </p:sp>
      <p:cxnSp>
        <p:nvCxnSpPr>
          <p:cNvPr id="11" name="直接箭头连接符 10"/>
          <p:cNvCxnSpPr>
            <a:stCxn id="2" idx="2"/>
            <a:endCxn id="27" idx="0"/>
          </p:cNvCxnSpPr>
          <p:nvPr/>
        </p:nvCxnSpPr>
        <p:spPr>
          <a:xfrm>
            <a:off x="3656605" y="1642886"/>
            <a:ext cx="0" cy="354264"/>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27" idx="2"/>
            <a:endCxn id="37" idx="0"/>
          </p:cNvCxnSpPr>
          <p:nvPr/>
        </p:nvCxnSpPr>
        <p:spPr>
          <a:xfrm>
            <a:off x="3656605" y="2283488"/>
            <a:ext cx="0" cy="281668"/>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a:cxnSpLocks/>
            <a:stCxn id="37" idx="2"/>
            <a:endCxn id="42" idx="0"/>
          </p:cNvCxnSpPr>
          <p:nvPr/>
        </p:nvCxnSpPr>
        <p:spPr>
          <a:xfrm>
            <a:off x="3656605" y="3286248"/>
            <a:ext cx="0" cy="287119"/>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cxnSpLocks/>
            <a:stCxn id="42" idx="3"/>
            <a:endCxn id="8" idx="1"/>
          </p:cNvCxnSpPr>
          <p:nvPr/>
        </p:nvCxnSpPr>
        <p:spPr>
          <a:xfrm flipV="1">
            <a:off x="4952605" y="3844421"/>
            <a:ext cx="783948" cy="1"/>
          </a:xfrm>
          <a:prstGeom prst="straightConnector1">
            <a:avLst/>
          </a:prstGeom>
          <a:ln w="95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009700" y="3594889"/>
            <a:ext cx="383563" cy="276999"/>
          </a:xfrm>
          <a:prstGeom prst="rect">
            <a:avLst/>
          </a:prstGeom>
          <a:noFill/>
        </p:spPr>
        <p:txBody>
          <a:bodyPr wrap="square" rtlCol="0">
            <a:spAutoFit/>
          </a:bodyPr>
          <a:lstStyle/>
          <a:p>
            <a:pPr algn="ctr"/>
            <a:r>
              <a:rPr lang="zh-CN" altLang="en-US" sz="1200" dirty="0">
                <a:latin typeface="Montserrat" panose="00000500000000000000" pitchFamily="2" charset="0"/>
                <a:ea typeface="微软雅黑 Light" panose="020B0502040204020203" pitchFamily="34" charset="-122"/>
              </a:rPr>
              <a:t>是</a:t>
            </a:r>
          </a:p>
        </p:txBody>
      </p:sp>
      <p:sp>
        <p:nvSpPr>
          <p:cNvPr id="48" name="TextBox 47"/>
          <p:cNvSpPr txBox="1"/>
          <p:nvPr/>
        </p:nvSpPr>
        <p:spPr>
          <a:xfrm>
            <a:off x="4942929" y="3595051"/>
            <a:ext cx="383563" cy="276999"/>
          </a:xfrm>
          <a:prstGeom prst="rect">
            <a:avLst/>
          </a:prstGeom>
          <a:noFill/>
        </p:spPr>
        <p:txBody>
          <a:bodyPr wrap="square" rtlCol="0">
            <a:spAutoFit/>
          </a:bodyPr>
          <a:lstStyle/>
          <a:p>
            <a:pPr algn="ctr"/>
            <a:r>
              <a:rPr lang="zh-CN" altLang="en-US" sz="1200" dirty="0">
                <a:latin typeface="Montserrat" panose="00000500000000000000" pitchFamily="2" charset="0"/>
                <a:ea typeface="微软雅黑 Light" panose="020B0502040204020203" pitchFamily="34" charset="-122"/>
              </a:rPr>
              <a:t>否</a:t>
            </a:r>
          </a:p>
        </p:txBody>
      </p:sp>
      <p:sp>
        <p:nvSpPr>
          <p:cNvPr id="27" name="矩形 26"/>
          <p:cNvSpPr/>
          <p:nvPr/>
        </p:nvSpPr>
        <p:spPr>
          <a:xfrm>
            <a:off x="2360605" y="1997150"/>
            <a:ext cx="2592000" cy="28633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ysClr val="windowText" lastClr="000000"/>
                </a:solidFill>
                <a:latin typeface="Montserrat" panose="00000500000000000000" pitchFamily="2" charset="0"/>
                <a:ea typeface="微软雅黑 Light" panose="020B0502040204020203" pitchFamily="34" charset="-122"/>
              </a:rPr>
              <a:t>发送报文段</a:t>
            </a:r>
          </a:p>
        </p:txBody>
      </p:sp>
      <p:sp>
        <p:nvSpPr>
          <p:cNvPr id="37" name="矩形 36"/>
          <p:cNvSpPr/>
          <p:nvPr/>
        </p:nvSpPr>
        <p:spPr>
          <a:xfrm>
            <a:off x="2360605" y="2565156"/>
            <a:ext cx="2592000" cy="72109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800"/>
              </a:lnSpc>
            </a:pPr>
            <a:r>
              <a:rPr lang="zh-CN" altLang="en-US" sz="1200" dirty="0">
                <a:solidFill>
                  <a:sysClr val="windowText" lastClr="000000"/>
                </a:solidFill>
                <a:latin typeface="Montserrat" panose="00000500000000000000" pitchFamily="2" charset="0"/>
                <a:ea typeface="微软雅黑 Light" panose="020B0502040204020203" pitchFamily="34" charset="-122"/>
              </a:rPr>
              <a:t>（重传定时器未超时）</a:t>
            </a:r>
            <a:endParaRPr lang="en-US" altLang="zh-CN" sz="1200" dirty="0">
              <a:solidFill>
                <a:sysClr val="windowText" lastClr="000000"/>
              </a:solidFill>
              <a:latin typeface="Montserrat" panose="00000500000000000000" pitchFamily="2" charset="0"/>
              <a:ea typeface="微软雅黑 Light" panose="020B0502040204020203" pitchFamily="34" charset="-122"/>
            </a:endParaRPr>
          </a:p>
          <a:p>
            <a:pPr algn="ctr">
              <a:lnSpc>
                <a:spcPts val="1800"/>
              </a:lnSpc>
            </a:pPr>
            <a:r>
              <a:rPr lang="zh-CN" altLang="en-US" sz="1200" dirty="0">
                <a:solidFill>
                  <a:sysClr val="windowText" lastClr="000000"/>
                </a:solidFill>
                <a:latin typeface="Montserrat" panose="00000500000000000000" pitchFamily="2" charset="0"/>
                <a:ea typeface="微软雅黑 Light" panose="020B0502040204020203" pitchFamily="34" charset="-122"/>
              </a:rPr>
              <a:t>每收到一个对新的报文段的确认</a:t>
            </a:r>
          </a:p>
          <a:p>
            <a:pPr algn="ctr">
              <a:lnSpc>
                <a:spcPts val="1800"/>
              </a:lnSpc>
            </a:pPr>
            <a:r>
              <a:rPr lang="en-US" altLang="zh-CN" sz="1200" dirty="0">
                <a:solidFill>
                  <a:sysClr val="windowText" lastClr="000000"/>
                </a:solidFill>
                <a:latin typeface="Montserrat" panose="00000500000000000000" pitchFamily="2" charset="0"/>
                <a:ea typeface="微软雅黑 Light" panose="020B0502040204020203" pitchFamily="34" charset="-122"/>
              </a:rPr>
              <a:t>cwnd= cwnd +1</a:t>
            </a:r>
            <a:endParaRPr lang="zh-CN" altLang="en-US" sz="1200" dirty="0">
              <a:solidFill>
                <a:sysClr val="windowText" lastClr="000000"/>
              </a:solidFill>
              <a:latin typeface="Montserrat" panose="00000500000000000000" pitchFamily="2" charset="0"/>
              <a:ea typeface="微软雅黑 Light" panose="020B0502040204020203" pitchFamily="34" charset="-122"/>
            </a:endParaRPr>
          </a:p>
        </p:txBody>
      </p:sp>
      <p:sp>
        <p:nvSpPr>
          <p:cNvPr id="42" name="流程图: 决策 41"/>
          <p:cNvSpPr/>
          <p:nvPr/>
        </p:nvSpPr>
        <p:spPr>
          <a:xfrm>
            <a:off x="2360605" y="3573367"/>
            <a:ext cx="2592000" cy="542110"/>
          </a:xfrm>
          <a:prstGeom prst="flowChartDecision">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sz="1200" dirty="0">
                <a:solidFill>
                  <a:sysClr val="windowText" lastClr="000000"/>
                </a:solidFill>
                <a:latin typeface="Montserrat" panose="00000500000000000000" pitchFamily="2" charset="0"/>
                <a:ea typeface="微软雅黑 Light" panose="020B0502040204020203" pitchFamily="34" charset="-122"/>
              </a:rPr>
              <a:t>cwnd &lt; ssthresh </a:t>
            </a:r>
            <a:endParaRPr lang="zh-CN" altLang="en-US" sz="1200" dirty="0">
              <a:solidFill>
                <a:sysClr val="windowText" lastClr="000000"/>
              </a:solidFill>
              <a:latin typeface="Montserrat" panose="00000500000000000000" pitchFamily="2" charset="0"/>
              <a:ea typeface="微软雅黑 Light" panose="020B0502040204020203" pitchFamily="34" charset="-122"/>
            </a:endParaRPr>
          </a:p>
        </p:txBody>
      </p:sp>
      <p:sp>
        <p:nvSpPr>
          <p:cNvPr id="9" name="矩形 8"/>
          <p:cNvSpPr/>
          <p:nvPr/>
        </p:nvSpPr>
        <p:spPr>
          <a:xfrm>
            <a:off x="4800205" y="486650"/>
            <a:ext cx="3388665" cy="276999"/>
          </a:xfrm>
          <a:prstGeom prst="rect">
            <a:avLst/>
          </a:prstGeom>
        </p:spPr>
        <p:txBody>
          <a:bodyPr wrap="square">
            <a:spAutoFit/>
          </a:bodyPr>
          <a:lstStyle/>
          <a:p>
            <a:r>
              <a:rPr lang="zh-CN" altLang="en-US" sz="1200" dirty="0">
                <a:latin typeface="Montserrat" panose="00000500000000000000" pitchFamily="2" charset="0"/>
                <a:ea typeface="微软雅黑 Light" panose="020B0502040204020203" pitchFamily="34" charset="-122"/>
              </a:rPr>
              <a:t>（假设发送方设置 </a:t>
            </a:r>
            <a:r>
              <a:rPr lang="en-US" altLang="zh-CN" sz="1200" dirty="0">
                <a:latin typeface="Montserrat" panose="00000500000000000000" pitchFamily="2" charset="0"/>
                <a:ea typeface="微软雅黑 Light" panose="020B0502040204020203" pitchFamily="34" charset="-122"/>
              </a:rPr>
              <a:t>cwnd = 1 </a:t>
            </a:r>
            <a:r>
              <a:rPr lang="zh-CN" altLang="en-US" sz="1200" dirty="0">
                <a:latin typeface="Montserrat" panose="00000500000000000000" pitchFamily="2" charset="0"/>
                <a:ea typeface="微软雅黑 Light" panose="020B0502040204020203" pitchFamily="34" charset="-122"/>
              </a:rPr>
              <a:t>个 </a:t>
            </a:r>
            <a:r>
              <a:rPr lang="en-US" altLang="zh-CN" sz="1200" dirty="0">
                <a:latin typeface="Montserrat" panose="00000500000000000000" pitchFamily="2" charset="0"/>
                <a:ea typeface="微软雅黑 Light" panose="020B0502040204020203" pitchFamily="34" charset="-122"/>
              </a:rPr>
              <a:t>SMSS</a:t>
            </a:r>
            <a:r>
              <a:rPr lang="zh-CN" altLang="en-US" sz="1200" dirty="0">
                <a:latin typeface="Montserrat" panose="00000500000000000000" pitchFamily="2" charset="0"/>
                <a:ea typeface="微软雅黑 Light" panose="020B0502040204020203" pitchFamily="34" charset="-122"/>
              </a:rPr>
              <a:t>）</a:t>
            </a:r>
          </a:p>
        </p:txBody>
      </p:sp>
      <p:sp>
        <p:nvSpPr>
          <p:cNvPr id="3" name="标题 2">
            <a:extLst>
              <a:ext uri="{FF2B5EF4-FFF2-40B4-BE49-F238E27FC236}">
                <a16:creationId xmlns:a16="http://schemas.microsoft.com/office/drawing/2014/main" id="{F1D38EF7-7D0E-6ED8-1C33-57A1FF6E2D86}"/>
              </a:ext>
            </a:extLst>
          </p:cNvPr>
          <p:cNvSpPr>
            <a:spLocks noGrp="1"/>
          </p:cNvSpPr>
          <p:nvPr>
            <p:ph type="title"/>
          </p:nvPr>
        </p:nvSpPr>
        <p:spPr>
          <a:xfrm>
            <a:off x="2808000" y="144000"/>
            <a:ext cx="3528000" cy="338554"/>
          </a:xfrm>
        </p:spPr>
        <p:txBody>
          <a:bodyPr/>
          <a:lstStyle/>
          <a:p>
            <a:r>
              <a:rPr lang="en-US" altLang="zh-CN" dirty="0"/>
              <a:t>1. </a:t>
            </a:r>
            <a:r>
              <a:rPr lang="zh-CN" altLang="en-US" dirty="0"/>
              <a:t>慢开始 </a:t>
            </a:r>
            <a:r>
              <a:rPr lang="en-US" altLang="zh-CN" dirty="0"/>
              <a:t>(Slow start)</a:t>
            </a:r>
            <a:endParaRPr lang="zh-CN" altLang="en-US" dirty="0"/>
          </a:p>
        </p:txBody>
      </p:sp>
      <p:cxnSp>
        <p:nvCxnSpPr>
          <p:cNvPr id="14" name="连接符: 肘形 13">
            <a:extLst>
              <a:ext uri="{FF2B5EF4-FFF2-40B4-BE49-F238E27FC236}">
                <a16:creationId xmlns:a16="http://schemas.microsoft.com/office/drawing/2014/main" id="{826859FF-45E2-532D-7865-0C81A7DFA3FA}"/>
              </a:ext>
            </a:extLst>
          </p:cNvPr>
          <p:cNvCxnSpPr>
            <a:cxnSpLocks/>
            <a:stCxn id="42" idx="1"/>
          </p:cNvCxnSpPr>
          <p:nvPr/>
        </p:nvCxnSpPr>
        <p:spPr>
          <a:xfrm rot="10800000" flipH="1">
            <a:off x="2360605" y="1777248"/>
            <a:ext cx="1283300" cy="2067175"/>
          </a:xfrm>
          <a:prstGeom prst="bentConnector4">
            <a:avLst>
              <a:gd name="adj1" fmla="val -71627"/>
              <a:gd name="adj2" fmla="val 10048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39534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Text Box 155"/>
          <p:cNvSpPr txBox="1">
            <a:spLocks noChangeArrowheads="1"/>
          </p:cNvSpPr>
          <p:nvPr/>
        </p:nvSpPr>
        <p:spPr bwMode="auto">
          <a:xfrm>
            <a:off x="129654" y="519984"/>
            <a:ext cx="9014346" cy="485774"/>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发送方每收到一个对新报文段的确认</a:t>
            </a:r>
          </a:p>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（重传的不算在内）就使 </a:t>
            </a:r>
            <a:r>
              <a:rPr lang="en-US" altLang="zh-CN" sz="1200" dirty="0">
                <a:solidFill>
                  <a:schemeClr val="bg1"/>
                </a:solidFill>
                <a:latin typeface="Montserrat" panose="00000500000000000000" pitchFamily="2" charset="0"/>
                <a:ea typeface="微软雅黑 Light" panose="020B0502040204020203" pitchFamily="34" charset="-122"/>
              </a:rPr>
              <a:t>cwnd </a:t>
            </a:r>
            <a:r>
              <a:rPr lang="zh-CN" altLang="en-US" sz="1200" dirty="0">
                <a:solidFill>
                  <a:schemeClr val="bg1"/>
                </a:solidFill>
                <a:latin typeface="Montserrat" panose="00000500000000000000" pitchFamily="2" charset="0"/>
                <a:ea typeface="微软雅黑 Light" panose="020B0502040204020203" pitchFamily="34" charset="-122"/>
              </a:rPr>
              <a:t>加 </a:t>
            </a:r>
            <a:r>
              <a:rPr lang="en-US" altLang="zh-CN" sz="1200" dirty="0">
                <a:solidFill>
                  <a:schemeClr val="bg1"/>
                </a:solidFill>
                <a:latin typeface="Montserrat" panose="00000500000000000000" pitchFamily="2" charset="0"/>
                <a:ea typeface="微软雅黑 Light" panose="020B0502040204020203" pitchFamily="34" charset="-122"/>
              </a:rPr>
              <a:t>1</a:t>
            </a:r>
            <a:r>
              <a:rPr lang="zh-CN" altLang="en-US" sz="1200" dirty="0">
                <a:solidFill>
                  <a:schemeClr val="bg1"/>
                </a:solidFill>
                <a:latin typeface="Montserrat" panose="00000500000000000000" pitchFamily="2" charset="0"/>
                <a:ea typeface="微软雅黑 Light" panose="020B0502040204020203" pitchFamily="34" charset="-122"/>
              </a:rPr>
              <a:t>。 </a:t>
            </a:r>
          </a:p>
        </p:txBody>
      </p:sp>
      <p:sp>
        <p:nvSpPr>
          <p:cNvPr id="117" name="Rectangle 3"/>
          <p:cNvSpPr>
            <a:spLocks noChangeArrowheads="1"/>
          </p:cNvSpPr>
          <p:nvPr/>
        </p:nvSpPr>
        <p:spPr bwMode="auto">
          <a:xfrm>
            <a:off x="3613957" y="2904955"/>
            <a:ext cx="3600000" cy="885249"/>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18" name="Rectangle 4"/>
          <p:cNvSpPr>
            <a:spLocks noChangeArrowheads="1"/>
          </p:cNvSpPr>
          <p:nvPr/>
        </p:nvSpPr>
        <p:spPr bwMode="auto">
          <a:xfrm>
            <a:off x="3613957" y="1772164"/>
            <a:ext cx="3600000" cy="426231"/>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19"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发送方</a:t>
            </a:r>
          </a:p>
        </p:txBody>
      </p:sp>
      <p:sp>
        <p:nvSpPr>
          <p:cNvPr id="120"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接收方</a:t>
            </a:r>
          </a:p>
        </p:txBody>
      </p:sp>
      <p:sp>
        <p:nvSpPr>
          <p:cNvPr id="121" name="Text Box 7"/>
          <p:cNvSpPr txBox="1">
            <a:spLocks noChangeArrowheads="1"/>
          </p:cNvSpPr>
          <p:nvPr/>
        </p:nvSpPr>
        <p:spPr bwMode="auto">
          <a:xfrm>
            <a:off x="2898697" y="1649213"/>
            <a:ext cx="7152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p>
        </p:txBody>
      </p:sp>
      <p:sp>
        <p:nvSpPr>
          <p:cNvPr id="122" name="Line 8"/>
          <p:cNvSpPr>
            <a:spLocks noChangeShapeType="1"/>
          </p:cNvSpPr>
          <p:nvPr/>
        </p:nvSpPr>
        <p:spPr bwMode="auto">
          <a:xfrm>
            <a:off x="3613957" y="1788558"/>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3" name="Line 9"/>
          <p:cNvSpPr>
            <a:spLocks noChangeShapeType="1"/>
          </p:cNvSpPr>
          <p:nvPr/>
        </p:nvSpPr>
        <p:spPr bwMode="auto">
          <a:xfrm>
            <a:off x="3613957" y="229921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5" name="Text Box 11"/>
          <p:cNvSpPr txBox="1">
            <a:spLocks noChangeArrowheads="1"/>
          </p:cNvSpPr>
          <p:nvPr/>
        </p:nvSpPr>
        <p:spPr bwMode="auto">
          <a:xfrm>
            <a:off x="5227730" y="196643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126" name="Line 12"/>
          <p:cNvSpPr>
            <a:spLocks noChangeShapeType="1"/>
          </p:cNvSpPr>
          <p:nvPr/>
        </p:nvSpPr>
        <p:spPr bwMode="auto">
          <a:xfrm>
            <a:off x="3613957" y="3855202"/>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9" name="Line 15"/>
          <p:cNvSpPr>
            <a:spLocks noChangeShapeType="1"/>
          </p:cNvSpPr>
          <p:nvPr/>
        </p:nvSpPr>
        <p:spPr bwMode="auto">
          <a:xfrm>
            <a:off x="3613957"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0" name="Line 16"/>
          <p:cNvSpPr>
            <a:spLocks noChangeShapeType="1"/>
          </p:cNvSpPr>
          <p:nvPr/>
        </p:nvSpPr>
        <p:spPr bwMode="auto">
          <a:xfrm>
            <a:off x="5322980"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1" name="Text Box 17"/>
          <p:cNvSpPr txBox="1">
            <a:spLocks noChangeArrowheads="1"/>
          </p:cNvSpPr>
          <p:nvPr/>
        </p:nvSpPr>
        <p:spPr bwMode="auto">
          <a:xfrm>
            <a:off x="2578097" y="2174542"/>
            <a:ext cx="10358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a:t>
            </a:r>
          </a:p>
        </p:txBody>
      </p:sp>
      <p:sp>
        <p:nvSpPr>
          <p:cNvPr id="132" name="Line 18"/>
          <p:cNvSpPr>
            <a:spLocks noChangeShapeType="1"/>
          </p:cNvSpPr>
          <p:nvPr/>
        </p:nvSpPr>
        <p:spPr bwMode="auto">
          <a:xfrm>
            <a:off x="3613957" y="246397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3" name="Text Box 19"/>
          <p:cNvSpPr txBox="1">
            <a:spLocks noChangeArrowheads="1"/>
          </p:cNvSpPr>
          <p:nvPr/>
        </p:nvSpPr>
        <p:spPr bwMode="auto">
          <a:xfrm>
            <a:off x="5227730" y="2631095"/>
            <a:ext cx="1111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6" name="Text Box 22"/>
          <p:cNvSpPr txBox="1">
            <a:spLocks noChangeArrowheads="1"/>
          </p:cNvSpPr>
          <p:nvPr/>
        </p:nvSpPr>
        <p:spPr bwMode="auto">
          <a:xfrm>
            <a:off x="2578097" y="2734052"/>
            <a:ext cx="10358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a:t>
            </a:r>
          </a:p>
        </p:txBody>
      </p:sp>
      <p:sp>
        <p:nvSpPr>
          <p:cNvPr id="137" name="Text Box 23"/>
          <p:cNvSpPr txBox="1">
            <a:spLocks noChangeArrowheads="1"/>
          </p:cNvSpPr>
          <p:nvPr/>
        </p:nvSpPr>
        <p:spPr bwMode="auto">
          <a:xfrm>
            <a:off x="5227730" y="3568881"/>
            <a:ext cx="1111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2" name="Text Box 28"/>
          <p:cNvSpPr txBox="1">
            <a:spLocks noChangeArrowheads="1"/>
          </p:cNvSpPr>
          <p:nvPr/>
        </p:nvSpPr>
        <p:spPr bwMode="auto">
          <a:xfrm>
            <a:off x="1729480" y="2174542"/>
            <a:ext cx="91082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2 </a:t>
            </a:r>
          </a:p>
        </p:txBody>
      </p:sp>
      <p:sp>
        <p:nvSpPr>
          <p:cNvPr id="143" name="Text Box 29"/>
          <p:cNvSpPr txBox="1">
            <a:spLocks noChangeArrowheads="1"/>
          </p:cNvSpPr>
          <p:nvPr/>
        </p:nvSpPr>
        <p:spPr bwMode="auto">
          <a:xfrm>
            <a:off x="1729480" y="2734052"/>
            <a:ext cx="923651"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4 </a:t>
            </a:r>
          </a:p>
        </p:txBody>
      </p:sp>
      <p:sp>
        <p:nvSpPr>
          <p:cNvPr id="144" name="Text Box 30"/>
          <p:cNvSpPr txBox="1">
            <a:spLocks noChangeArrowheads="1"/>
          </p:cNvSpPr>
          <p:nvPr/>
        </p:nvSpPr>
        <p:spPr bwMode="auto">
          <a:xfrm>
            <a:off x="2538021" y="3796877"/>
            <a:ext cx="10759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8</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15</a:t>
            </a:r>
          </a:p>
        </p:txBody>
      </p:sp>
      <p:sp>
        <p:nvSpPr>
          <p:cNvPr id="146" name="Text Box 32"/>
          <p:cNvSpPr txBox="1">
            <a:spLocks noChangeArrowheads="1"/>
          </p:cNvSpPr>
          <p:nvPr/>
        </p:nvSpPr>
        <p:spPr bwMode="auto">
          <a:xfrm>
            <a:off x="4374784" y="3964411"/>
            <a:ext cx="2824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a:t>
            </a:r>
          </a:p>
        </p:txBody>
      </p:sp>
      <p:sp>
        <p:nvSpPr>
          <p:cNvPr id="147" name="Line 33"/>
          <p:cNvSpPr>
            <a:spLocks noChangeShapeType="1"/>
          </p:cNvSpPr>
          <p:nvPr/>
        </p:nvSpPr>
        <p:spPr bwMode="auto">
          <a:xfrm>
            <a:off x="3613957" y="290413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8" name="Line 34"/>
          <p:cNvSpPr>
            <a:spLocks noChangeShapeType="1"/>
          </p:cNvSpPr>
          <p:nvPr/>
        </p:nvSpPr>
        <p:spPr bwMode="auto">
          <a:xfrm>
            <a:off x="3613957" y="306889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9" name="Line 35"/>
          <p:cNvSpPr>
            <a:spLocks noChangeShapeType="1"/>
          </p:cNvSpPr>
          <p:nvPr/>
        </p:nvSpPr>
        <p:spPr bwMode="auto">
          <a:xfrm>
            <a:off x="3613957" y="3233645"/>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50" name="Line 36"/>
          <p:cNvSpPr>
            <a:spLocks noChangeShapeType="1"/>
          </p:cNvSpPr>
          <p:nvPr/>
        </p:nvSpPr>
        <p:spPr bwMode="auto">
          <a:xfrm>
            <a:off x="3613957" y="339840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42" name="Text Box 29"/>
          <p:cNvSpPr txBox="1">
            <a:spLocks noChangeArrowheads="1"/>
          </p:cNvSpPr>
          <p:nvPr/>
        </p:nvSpPr>
        <p:spPr bwMode="auto">
          <a:xfrm>
            <a:off x="1729480" y="3796877"/>
            <a:ext cx="920445"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8 </a:t>
            </a:r>
          </a:p>
        </p:txBody>
      </p:sp>
      <p:sp>
        <p:nvSpPr>
          <p:cNvPr id="7" name="Text Box 28">
            <a:extLst>
              <a:ext uri="{FF2B5EF4-FFF2-40B4-BE49-F238E27FC236}">
                <a16:creationId xmlns:a16="http://schemas.microsoft.com/office/drawing/2014/main" id="{D226BD6E-F656-E2ED-22E3-116E5D61A751}"/>
              </a:ext>
            </a:extLst>
          </p:cNvPr>
          <p:cNvSpPr txBox="1">
            <a:spLocks noChangeArrowheads="1"/>
          </p:cNvSpPr>
          <p:nvPr/>
        </p:nvSpPr>
        <p:spPr bwMode="auto">
          <a:xfrm>
            <a:off x="1729480" y="1649213"/>
            <a:ext cx="91082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200" b="0" kern="0" dirty="0">
                <a:latin typeface="Montserrat" panose="00000500000000000000" pitchFamily="2" charset="0"/>
                <a:ea typeface="微软雅黑 Light" panose="020B0502040204020203" pitchFamily="34" charset="-122"/>
              </a:rPr>
              <a:t>cwnd = 1 </a:t>
            </a:r>
          </a:p>
        </p:txBody>
      </p:sp>
      <p:sp>
        <p:nvSpPr>
          <p:cNvPr id="2" name="标题 1">
            <a:extLst>
              <a:ext uri="{FF2B5EF4-FFF2-40B4-BE49-F238E27FC236}">
                <a16:creationId xmlns:a16="http://schemas.microsoft.com/office/drawing/2014/main" id="{FC5B0E50-1606-7258-8004-9ACE780DB64E}"/>
              </a:ext>
            </a:extLst>
          </p:cNvPr>
          <p:cNvSpPr>
            <a:spLocks noGrp="1"/>
          </p:cNvSpPr>
          <p:nvPr>
            <p:ph type="title"/>
          </p:nvPr>
        </p:nvSpPr>
        <p:spPr/>
        <p:txBody>
          <a:bodyPr/>
          <a:lstStyle/>
          <a:p>
            <a:r>
              <a:rPr lang="zh-CN" altLang="en-US" dirty="0"/>
              <a:t>单独确认</a:t>
            </a:r>
          </a:p>
        </p:txBody>
      </p:sp>
      <p:sp>
        <p:nvSpPr>
          <p:cNvPr id="3" name="Text Box 40">
            <a:extLst>
              <a:ext uri="{FF2B5EF4-FFF2-40B4-BE49-F238E27FC236}">
                <a16:creationId xmlns:a16="http://schemas.microsoft.com/office/drawing/2014/main" id="{6C70874F-103C-6BBE-40B9-E73BFFF56C85}"/>
              </a:ext>
            </a:extLst>
          </p:cNvPr>
          <p:cNvSpPr txBox="1">
            <a:spLocks noChangeArrowheads="1"/>
          </p:cNvSpPr>
          <p:nvPr/>
        </p:nvSpPr>
        <p:spPr bwMode="auto">
          <a:xfrm>
            <a:off x="6788608" y="1846780"/>
            <a:ext cx="502061"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RTT1</a:t>
            </a:r>
            <a:endParaRPr kumimoji="0" lang="en-US" altLang="zh-CN" sz="1050" b="0" i="0" u="none" strike="noStrike" kern="0" cap="none" spc="0" normalizeH="0" baseline="0" noProof="0" dirty="0">
              <a:ln>
                <a:noFill/>
              </a:ln>
              <a:solidFill>
                <a:sysClr val="windowText" lastClr="000000"/>
              </a:solidFill>
              <a:effectLst/>
              <a:uLnTx/>
              <a:uFillTx/>
              <a:latin typeface="Montserrat" panose="00000500000000000000" pitchFamily="2" charset="0"/>
              <a:ea typeface="微软雅黑 Light" panose="020B0502040204020203" pitchFamily="34" charset="-122"/>
            </a:endParaRPr>
          </a:p>
        </p:txBody>
      </p:sp>
      <p:sp>
        <p:nvSpPr>
          <p:cNvPr id="4" name="Text Box 41">
            <a:extLst>
              <a:ext uri="{FF2B5EF4-FFF2-40B4-BE49-F238E27FC236}">
                <a16:creationId xmlns:a16="http://schemas.microsoft.com/office/drawing/2014/main" id="{BCCA6F0F-9465-979D-121B-61BD6CFC10C9}"/>
              </a:ext>
            </a:extLst>
          </p:cNvPr>
          <p:cNvSpPr txBox="1">
            <a:spLocks noChangeArrowheads="1"/>
          </p:cNvSpPr>
          <p:nvPr/>
        </p:nvSpPr>
        <p:spPr bwMode="auto">
          <a:xfrm>
            <a:off x="6756548" y="2405905"/>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RTT2</a:t>
            </a:r>
          </a:p>
        </p:txBody>
      </p:sp>
      <p:sp>
        <p:nvSpPr>
          <p:cNvPr id="5" name="Text Box 42">
            <a:extLst>
              <a:ext uri="{FF2B5EF4-FFF2-40B4-BE49-F238E27FC236}">
                <a16:creationId xmlns:a16="http://schemas.microsoft.com/office/drawing/2014/main" id="{7642C4CB-7ACC-5C47-B4E6-2538B6419A43}"/>
              </a:ext>
            </a:extLst>
          </p:cNvPr>
          <p:cNvSpPr txBox="1">
            <a:spLocks noChangeArrowheads="1"/>
          </p:cNvSpPr>
          <p:nvPr/>
        </p:nvSpPr>
        <p:spPr bwMode="auto">
          <a:xfrm>
            <a:off x="6758151" y="3209080"/>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RTT3</a:t>
            </a:r>
          </a:p>
        </p:txBody>
      </p:sp>
    </p:spTree>
    <p:extLst>
      <p:ext uri="{BB962C8B-B14F-4D97-AF65-F5344CB8AC3E}">
        <p14:creationId xmlns:p14="http://schemas.microsoft.com/office/powerpoint/2010/main" val="213916290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162D5-91D7-4071-E38F-B203BD01CB98}"/>
            </a:ext>
          </a:extLst>
        </p:cNvPr>
        <p:cNvGrpSpPr/>
        <p:nvPr/>
      </p:nvGrpSpPr>
      <p:grpSpPr>
        <a:xfrm>
          <a:off x="0" y="0"/>
          <a:ext cx="0" cy="0"/>
          <a:chOff x="0" y="0"/>
          <a:chExt cx="0" cy="0"/>
        </a:xfrm>
      </p:grpSpPr>
      <p:sp>
        <p:nvSpPr>
          <p:cNvPr id="117" name="Rectangle 3">
            <a:extLst>
              <a:ext uri="{FF2B5EF4-FFF2-40B4-BE49-F238E27FC236}">
                <a16:creationId xmlns:a16="http://schemas.microsoft.com/office/drawing/2014/main" id="{36DE5879-FE7C-F666-2C2D-31BD728CCCC3}"/>
              </a:ext>
            </a:extLst>
          </p:cNvPr>
          <p:cNvSpPr>
            <a:spLocks noChangeArrowheads="1"/>
          </p:cNvSpPr>
          <p:nvPr/>
        </p:nvSpPr>
        <p:spPr bwMode="auto">
          <a:xfrm>
            <a:off x="3613957" y="2904955"/>
            <a:ext cx="3600000" cy="885249"/>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9" name="Line 35">
            <a:extLst>
              <a:ext uri="{FF2B5EF4-FFF2-40B4-BE49-F238E27FC236}">
                <a16:creationId xmlns:a16="http://schemas.microsoft.com/office/drawing/2014/main" id="{F70366A2-75ED-0A5B-2FAB-9F09656A3E1D}"/>
              </a:ext>
            </a:extLst>
          </p:cNvPr>
          <p:cNvSpPr>
            <a:spLocks noChangeShapeType="1"/>
          </p:cNvSpPr>
          <p:nvPr/>
        </p:nvSpPr>
        <p:spPr bwMode="auto">
          <a:xfrm>
            <a:off x="3613957" y="3233645"/>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15" name="Text Box 155">
            <a:extLst>
              <a:ext uri="{FF2B5EF4-FFF2-40B4-BE49-F238E27FC236}">
                <a16:creationId xmlns:a16="http://schemas.microsoft.com/office/drawing/2014/main" id="{C3C953AB-4634-5CC9-C458-10CCBF0A5AD9}"/>
              </a:ext>
            </a:extLst>
          </p:cNvPr>
          <p:cNvSpPr txBox="1">
            <a:spLocks noChangeArrowheads="1"/>
          </p:cNvSpPr>
          <p:nvPr/>
        </p:nvSpPr>
        <p:spPr bwMode="auto">
          <a:xfrm>
            <a:off x="129654" y="519984"/>
            <a:ext cx="9014346" cy="485774"/>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发送方每收到一个对新报文段的确认</a:t>
            </a:r>
          </a:p>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（重传的不算在内）就使 </a:t>
            </a:r>
            <a:r>
              <a:rPr lang="en-US" altLang="zh-CN" sz="1200" dirty="0">
                <a:solidFill>
                  <a:schemeClr val="bg1"/>
                </a:solidFill>
                <a:latin typeface="Montserrat" panose="00000500000000000000" pitchFamily="2" charset="0"/>
                <a:ea typeface="微软雅黑 Light" panose="020B0502040204020203" pitchFamily="34" charset="-122"/>
              </a:rPr>
              <a:t>cwnd </a:t>
            </a:r>
            <a:r>
              <a:rPr lang="zh-CN" altLang="en-US" sz="1200" dirty="0">
                <a:solidFill>
                  <a:schemeClr val="bg1"/>
                </a:solidFill>
                <a:latin typeface="Montserrat" panose="00000500000000000000" pitchFamily="2" charset="0"/>
                <a:ea typeface="微软雅黑 Light" panose="020B0502040204020203" pitchFamily="34" charset="-122"/>
              </a:rPr>
              <a:t>加 </a:t>
            </a:r>
            <a:r>
              <a:rPr lang="en-US" altLang="zh-CN" sz="1200" dirty="0">
                <a:solidFill>
                  <a:schemeClr val="bg1"/>
                </a:solidFill>
                <a:latin typeface="Montserrat" panose="00000500000000000000" pitchFamily="2" charset="0"/>
                <a:ea typeface="微软雅黑 Light" panose="020B0502040204020203" pitchFamily="34" charset="-122"/>
              </a:rPr>
              <a:t>1</a:t>
            </a:r>
            <a:r>
              <a:rPr lang="zh-CN" altLang="en-US" sz="1200" dirty="0">
                <a:solidFill>
                  <a:schemeClr val="bg1"/>
                </a:solidFill>
                <a:latin typeface="Montserrat" panose="00000500000000000000" pitchFamily="2" charset="0"/>
                <a:ea typeface="微软雅黑 Light" panose="020B0502040204020203" pitchFamily="34" charset="-122"/>
              </a:rPr>
              <a:t>。 </a:t>
            </a:r>
          </a:p>
        </p:txBody>
      </p:sp>
      <p:sp>
        <p:nvSpPr>
          <p:cNvPr id="118" name="Rectangle 4">
            <a:extLst>
              <a:ext uri="{FF2B5EF4-FFF2-40B4-BE49-F238E27FC236}">
                <a16:creationId xmlns:a16="http://schemas.microsoft.com/office/drawing/2014/main" id="{51F8258A-92E5-51DA-0B7A-1DF0B15D1F72}"/>
              </a:ext>
            </a:extLst>
          </p:cNvPr>
          <p:cNvSpPr>
            <a:spLocks noChangeArrowheads="1"/>
          </p:cNvSpPr>
          <p:nvPr/>
        </p:nvSpPr>
        <p:spPr bwMode="auto">
          <a:xfrm>
            <a:off x="3613957" y="1772164"/>
            <a:ext cx="3600000" cy="426231"/>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19" name="Text Box 5">
            <a:extLst>
              <a:ext uri="{FF2B5EF4-FFF2-40B4-BE49-F238E27FC236}">
                <a16:creationId xmlns:a16="http://schemas.microsoft.com/office/drawing/2014/main" id="{42922666-BA50-6A08-4235-D8A21EF0BBA8}"/>
              </a:ext>
            </a:extLst>
          </p:cNvPr>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发送方</a:t>
            </a:r>
          </a:p>
        </p:txBody>
      </p:sp>
      <p:sp>
        <p:nvSpPr>
          <p:cNvPr id="120" name="Text Box 6">
            <a:extLst>
              <a:ext uri="{FF2B5EF4-FFF2-40B4-BE49-F238E27FC236}">
                <a16:creationId xmlns:a16="http://schemas.microsoft.com/office/drawing/2014/main" id="{AF95B0A5-30D7-4853-462F-8F848FDD0E96}"/>
              </a:ext>
            </a:extLst>
          </p:cNvPr>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接收方</a:t>
            </a:r>
          </a:p>
        </p:txBody>
      </p:sp>
      <p:sp>
        <p:nvSpPr>
          <p:cNvPr id="121" name="Text Box 7">
            <a:extLst>
              <a:ext uri="{FF2B5EF4-FFF2-40B4-BE49-F238E27FC236}">
                <a16:creationId xmlns:a16="http://schemas.microsoft.com/office/drawing/2014/main" id="{D15E838E-85ED-6644-53E9-09979544A179}"/>
              </a:ext>
            </a:extLst>
          </p:cNvPr>
          <p:cNvSpPr txBox="1">
            <a:spLocks noChangeArrowheads="1"/>
          </p:cNvSpPr>
          <p:nvPr/>
        </p:nvSpPr>
        <p:spPr bwMode="auto">
          <a:xfrm>
            <a:off x="2898697" y="1649213"/>
            <a:ext cx="7152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p>
        </p:txBody>
      </p:sp>
      <p:sp>
        <p:nvSpPr>
          <p:cNvPr id="122" name="Line 8">
            <a:extLst>
              <a:ext uri="{FF2B5EF4-FFF2-40B4-BE49-F238E27FC236}">
                <a16:creationId xmlns:a16="http://schemas.microsoft.com/office/drawing/2014/main" id="{877062E3-8CD9-4A52-1CDD-83F965E9DF69}"/>
              </a:ext>
            </a:extLst>
          </p:cNvPr>
          <p:cNvSpPr>
            <a:spLocks noChangeShapeType="1"/>
          </p:cNvSpPr>
          <p:nvPr/>
        </p:nvSpPr>
        <p:spPr bwMode="auto">
          <a:xfrm>
            <a:off x="3613957" y="1788558"/>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3" name="Line 9">
            <a:extLst>
              <a:ext uri="{FF2B5EF4-FFF2-40B4-BE49-F238E27FC236}">
                <a16:creationId xmlns:a16="http://schemas.microsoft.com/office/drawing/2014/main" id="{4A86383F-0472-660F-B91E-B5C8FA453F21}"/>
              </a:ext>
            </a:extLst>
          </p:cNvPr>
          <p:cNvSpPr>
            <a:spLocks noChangeShapeType="1"/>
          </p:cNvSpPr>
          <p:nvPr/>
        </p:nvSpPr>
        <p:spPr bwMode="auto">
          <a:xfrm>
            <a:off x="3613957" y="229921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4" name="Line 10">
            <a:extLst>
              <a:ext uri="{FF2B5EF4-FFF2-40B4-BE49-F238E27FC236}">
                <a16:creationId xmlns:a16="http://schemas.microsoft.com/office/drawing/2014/main" id="{B732588F-AD09-C33A-FDA7-2F7D0DBE2CD8}"/>
              </a:ext>
            </a:extLst>
          </p:cNvPr>
          <p:cNvSpPr>
            <a:spLocks noChangeShapeType="1"/>
          </p:cNvSpPr>
          <p:nvPr/>
        </p:nvSpPr>
        <p:spPr bwMode="auto">
          <a:xfrm flipH="1">
            <a:off x="3613957" y="2023805"/>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5" name="Text Box 11">
            <a:extLst>
              <a:ext uri="{FF2B5EF4-FFF2-40B4-BE49-F238E27FC236}">
                <a16:creationId xmlns:a16="http://schemas.microsoft.com/office/drawing/2014/main" id="{ADE3E2B0-9D11-287D-C911-C0EB7F3E68F7}"/>
              </a:ext>
            </a:extLst>
          </p:cNvPr>
          <p:cNvSpPr txBox="1">
            <a:spLocks noChangeArrowheads="1"/>
          </p:cNvSpPr>
          <p:nvPr/>
        </p:nvSpPr>
        <p:spPr bwMode="auto">
          <a:xfrm>
            <a:off x="5227730" y="1966430"/>
            <a:ext cx="108715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ACK</a:t>
            </a:r>
            <a:r>
              <a:rPr kumimoji="0" lang="zh-CN" altLang="en-US" sz="1200" b="0" kern="0" dirty="0">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1000</a:t>
            </a:r>
          </a:p>
        </p:txBody>
      </p:sp>
      <p:sp>
        <p:nvSpPr>
          <p:cNvPr id="126" name="Line 12">
            <a:extLst>
              <a:ext uri="{FF2B5EF4-FFF2-40B4-BE49-F238E27FC236}">
                <a16:creationId xmlns:a16="http://schemas.microsoft.com/office/drawing/2014/main" id="{880DD1D8-42AC-C0FB-E44B-91C690EFFD5F}"/>
              </a:ext>
            </a:extLst>
          </p:cNvPr>
          <p:cNvSpPr>
            <a:spLocks noChangeShapeType="1"/>
          </p:cNvSpPr>
          <p:nvPr/>
        </p:nvSpPr>
        <p:spPr bwMode="auto">
          <a:xfrm>
            <a:off x="3613957" y="3855202"/>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9" name="Line 15">
            <a:extLst>
              <a:ext uri="{FF2B5EF4-FFF2-40B4-BE49-F238E27FC236}">
                <a16:creationId xmlns:a16="http://schemas.microsoft.com/office/drawing/2014/main" id="{706ABAED-F176-10B1-0D30-EB921DC830DD}"/>
              </a:ext>
            </a:extLst>
          </p:cNvPr>
          <p:cNvSpPr>
            <a:spLocks noChangeShapeType="1"/>
          </p:cNvSpPr>
          <p:nvPr/>
        </p:nvSpPr>
        <p:spPr bwMode="auto">
          <a:xfrm>
            <a:off x="3613957"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0" name="Line 16">
            <a:extLst>
              <a:ext uri="{FF2B5EF4-FFF2-40B4-BE49-F238E27FC236}">
                <a16:creationId xmlns:a16="http://schemas.microsoft.com/office/drawing/2014/main" id="{90775AB2-87FC-0166-5DA3-FC3C20D34727}"/>
              </a:ext>
            </a:extLst>
          </p:cNvPr>
          <p:cNvSpPr>
            <a:spLocks noChangeShapeType="1"/>
          </p:cNvSpPr>
          <p:nvPr/>
        </p:nvSpPr>
        <p:spPr bwMode="auto">
          <a:xfrm>
            <a:off x="5322980"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1" name="Text Box 17">
            <a:extLst>
              <a:ext uri="{FF2B5EF4-FFF2-40B4-BE49-F238E27FC236}">
                <a16:creationId xmlns:a16="http://schemas.microsoft.com/office/drawing/2014/main" id="{CBC6C50E-E3EF-F081-5024-5895F59FF9B6}"/>
              </a:ext>
            </a:extLst>
          </p:cNvPr>
          <p:cNvSpPr txBox="1">
            <a:spLocks noChangeArrowheads="1"/>
          </p:cNvSpPr>
          <p:nvPr/>
        </p:nvSpPr>
        <p:spPr bwMode="auto">
          <a:xfrm>
            <a:off x="2578097" y="2174542"/>
            <a:ext cx="10358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a:t>
            </a:r>
          </a:p>
        </p:txBody>
      </p:sp>
      <p:sp>
        <p:nvSpPr>
          <p:cNvPr id="132" name="Line 18">
            <a:extLst>
              <a:ext uri="{FF2B5EF4-FFF2-40B4-BE49-F238E27FC236}">
                <a16:creationId xmlns:a16="http://schemas.microsoft.com/office/drawing/2014/main" id="{49DB1F77-45BF-78FA-4938-0E9F38FE7A23}"/>
              </a:ext>
            </a:extLst>
          </p:cNvPr>
          <p:cNvSpPr>
            <a:spLocks noChangeShapeType="1"/>
          </p:cNvSpPr>
          <p:nvPr/>
        </p:nvSpPr>
        <p:spPr bwMode="auto">
          <a:xfrm>
            <a:off x="3613957" y="246397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3" name="Text Box 19">
            <a:extLst>
              <a:ext uri="{FF2B5EF4-FFF2-40B4-BE49-F238E27FC236}">
                <a16:creationId xmlns:a16="http://schemas.microsoft.com/office/drawing/2014/main" id="{A3C721AA-BFBC-5213-06DF-83C006489D70}"/>
              </a:ext>
            </a:extLst>
          </p:cNvPr>
          <p:cNvSpPr txBox="1">
            <a:spLocks noChangeArrowheads="1"/>
          </p:cNvSpPr>
          <p:nvPr/>
        </p:nvSpPr>
        <p:spPr bwMode="auto">
          <a:xfrm>
            <a:off x="5227730" y="2631095"/>
            <a:ext cx="111761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ACK</a:t>
            </a:r>
            <a:r>
              <a:rPr kumimoji="0" lang="zh-CN" altLang="en-US" sz="1200" b="0" kern="0" dirty="0">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3000</a:t>
            </a:r>
          </a:p>
        </p:txBody>
      </p:sp>
      <p:sp>
        <p:nvSpPr>
          <p:cNvPr id="135" name="Line 21">
            <a:extLst>
              <a:ext uri="{FF2B5EF4-FFF2-40B4-BE49-F238E27FC236}">
                <a16:creationId xmlns:a16="http://schemas.microsoft.com/office/drawing/2014/main" id="{7243AC24-760E-77C5-BD7A-2ED880F89A5E}"/>
              </a:ext>
            </a:extLst>
          </p:cNvPr>
          <p:cNvSpPr>
            <a:spLocks noChangeShapeType="1"/>
          </p:cNvSpPr>
          <p:nvPr/>
        </p:nvSpPr>
        <p:spPr bwMode="auto">
          <a:xfrm flipH="1">
            <a:off x="3613957" y="2684463"/>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36" name="Text Box 22">
            <a:extLst>
              <a:ext uri="{FF2B5EF4-FFF2-40B4-BE49-F238E27FC236}">
                <a16:creationId xmlns:a16="http://schemas.microsoft.com/office/drawing/2014/main" id="{86094198-7795-84AD-63E7-902E3D77AC21}"/>
              </a:ext>
            </a:extLst>
          </p:cNvPr>
          <p:cNvSpPr txBox="1">
            <a:spLocks noChangeArrowheads="1"/>
          </p:cNvSpPr>
          <p:nvPr/>
        </p:nvSpPr>
        <p:spPr bwMode="auto">
          <a:xfrm>
            <a:off x="2578097" y="2734052"/>
            <a:ext cx="10358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a:t>
            </a:r>
          </a:p>
        </p:txBody>
      </p:sp>
      <p:sp>
        <p:nvSpPr>
          <p:cNvPr id="137" name="Text Box 23">
            <a:extLst>
              <a:ext uri="{FF2B5EF4-FFF2-40B4-BE49-F238E27FC236}">
                <a16:creationId xmlns:a16="http://schemas.microsoft.com/office/drawing/2014/main" id="{1E119F7E-97D2-D7DD-886E-B09F60C9DFAE}"/>
              </a:ext>
            </a:extLst>
          </p:cNvPr>
          <p:cNvSpPr txBox="1">
            <a:spLocks noChangeArrowheads="1"/>
          </p:cNvSpPr>
          <p:nvPr/>
        </p:nvSpPr>
        <p:spPr bwMode="auto">
          <a:xfrm>
            <a:off x="5227730" y="3568881"/>
            <a:ext cx="112242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ACK</a:t>
            </a:r>
            <a:r>
              <a:rPr kumimoji="0" lang="zh-CN" altLang="en-US" sz="1200" b="0" kern="0" dirty="0">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en-US" altLang="zh-CN" sz="1200" b="0" kern="0" dirty="0">
                <a:latin typeface="Montserrat" panose="00000500000000000000" pitchFamily="2" charset="0"/>
                <a:ea typeface="微软雅黑 Light" panose="020B0502040204020203" pitchFamily="34" charset="-122"/>
              </a:rPr>
              <a:t>7</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000</a:t>
            </a:r>
          </a:p>
        </p:txBody>
      </p:sp>
      <p:sp>
        <p:nvSpPr>
          <p:cNvPr id="140" name="Line 26">
            <a:extLst>
              <a:ext uri="{FF2B5EF4-FFF2-40B4-BE49-F238E27FC236}">
                <a16:creationId xmlns:a16="http://schemas.microsoft.com/office/drawing/2014/main" id="{0C1D62B5-049C-BE93-1BA9-46CB92AA31F4}"/>
              </a:ext>
            </a:extLst>
          </p:cNvPr>
          <p:cNvSpPr>
            <a:spLocks noChangeShapeType="1"/>
          </p:cNvSpPr>
          <p:nvPr/>
        </p:nvSpPr>
        <p:spPr bwMode="auto">
          <a:xfrm flipH="1">
            <a:off x="3613957" y="3618073"/>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2" name="Text Box 28">
            <a:extLst>
              <a:ext uri="{FF2B5EF4-FFF2-40B4-BE49-F238E27FC236}">
                <a16:creationId xmlns:a16="http://schemas.microsoft.com/office/drawing/2014/main" id="{D556A3A7-FAED-C359-D892-2189C41608EA}"/>
              </a:ext>
            </a:extLst>
          </p:cNvPr>
          <p:cNvSpPr txBox="1">
            <a:spLocks noChangeArrowheads="1"/>
          </p:cNvSpPr>
          <p:nvPr/>
        </p:nvSpPr>
        <p:spPr bwMode="auto">
          <a:xfrm>
            <a:off x="1505060" y="2174542"/>
            <a:ext cx="113524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200" b="0" kern="0" dirty="0">
                <a:latin typeface="Montserrat" panose="00000500000000000000" pitchFamily="2" charset="0"/>
                <a:ea typeface="微软雅黑 Light" panose="020B0502040204020203" pitchFamily="34" charset="-122"/>
              </a:rPr>
              <a:t>c</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wnd +1  = 2 </a:t>
            </a:r>
          </a:p>
        </p:txBody>
      </p:sp>
      <p:sp>
        <p:nvSpPr>
          <p:cNvPr id="143" name="Text Box 29">
            <a:extLst>
              <a:ext uri="{FF2B5EF4-FFF2-40B4-BE49-F238E27FC236}">
                <a16:creationId xmlns:a16="http://schemas.microsoft.com/office/drawing/2014/main" id="{52485FCF-035A-B1B1-6EA2-EB71762CA627}"/>
              </a:ext>
            </a:extLst>
          </p:cNvPr>
          <p:cNvSpPr txBox="1">
            <a:spLocks noChangeArrowheads="1"/>
          </p:cNvSpPr>
          <p:nvPr/>
        </p:nvSpPr>
        <p:spPr bwMode="auto">
          <a:xfrm>
            <a:off x="1513075" y="2734052"/>
            <a:ext cx="1140056"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200" b="0" kern="0" dirty="0">
                <a:latin typeface="Montserrat" panose="00000500000000000000" pitchFamily="2" charset="0"/>
                <a:ea typeface="微软雅黑 Light" panose="020B0502040204020203" pitchFamily="34" charset="-122"/>
              </a:rPr>
              <a:t>c</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wnd +2 = 4 </a:t>
            </a:r>
          </a:p>
        </p:txBody>
      </p:sp>
      <p:sp>
        <p:nvSpPr>
          <p:cNvPr id="144" name="Text Box 30">
            <a:extLst>
              <a:ext uri="{FF2B5EF4-FFF2-40B4-BE49-F238E27FC236}">
                <a16:creationId xmlns:a16="http://schemas.microsoft.com/office/drawing/2014/main" id="{3E557B52-42CF-22EA-FBB6-903C1EAA6283}"/>
              </a:ext>
            </a:extLst>
          </p:cNvPr>
          <p:cNvSpPr txBox="1">
            <a:spLocks noChangeArrowheads="1"/>
          </p:cNvSpPr>
          <p:nvPr/>
        </p:nvSpPr>
        <p:spPr bwMode="auto">
          <a:xfrm>
            <a:off x="2538021" y="3796877"/>
            <a:ext cx="107593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8</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15</a:t>
            </a:r>
          </a:p>
        </p:txBody>
      </p:sp>
      <p:sp>
        <p:nvSpPr>
          <p:cNvPr id="146" name="Text Box 32">
            <a:extLst>
              <a:ext uri="{FF2B5EF4-FFF2-40B4-BE49-F238E27FC236}">
                <a16:creationId xmlns:a16="http://schemas.microsoft.com/office/drawing/2014/main" id="{ABCB7788-E325-EAFD-F577-6E74DE217FDF}"/>
              </a:ext>
            </a:extLst>
          </p:cNvPr>
          <p:cNvSpPr txBox="1">
            <a:spLocks noChangeArrowheads="1"/>
          </p:cNvSpPr>
          <p:nvPr/>
        </p:nvSpPr>
        <p:spPr bwMode="auto">
          <a:xfrm>
            <a:off x="4374784" y="3964411"/>
            <a:ext cx="2824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a:t>
            </a:r>
          </a:p>
        </p:txBody>
      </p:sp>
      <p:sp>
        <p:nvSpPr>
          <p:cNvPr id="147" name="Line 33">
            <a:extLst>
              <a:ext uri="{FF2B5EF4-FFF2-40B4-BE49-F238E27FC236}">
                <a16:creationId xmlns:a16="http://schemas.microsoft.com/office/drawing/2014/main" id="{83E10C4C-5365-A4E4-967F-6062B61113DC}"/>
              </a:ext>
            </a:extLst>
          </p:cNvPr>
          <p:cNvSpPr>
            <a:spLocks noChangeShapeType="1"/>
          </p:cNvSpPr>
          <p:nvPr/>
        </p:nvSpPr>
        <p:spPr bwMode="auto">
          <a:xfrm>
            <a:off x="3613957" y="290413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8" name="Line 34">
            <a:extLst>
              <a:ext uri="{FF2B5EF4-FFF2-40B4-BE49-F238E27FC236}">
                <a16:creationId xmlns:a16="http://schemas.microsoft.com/office/drawing/2014/main" id="{29F71863-1B9C-94AB-2F6D-2953D72A8460}"/>
              </a:ext>
            </a:extLst>
          </p:cNvPr>
          <p:cNvSpPr>
            <a:spLocks noChangeShapeType="1"/>
          </p:cNvSpPr>
          <p:nvPr/>
        </p:nvSpPr>
        <p:spPr bwMode="auto">
          <a:xfrm>
            <a:off x="3613957" y="306889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50" name="Line 36">
            <a:extLst>
              <a:ext uri="{FF2B5EF4-FFF2-40B4-BE49-F238E27FC236}">
                <a16:creationId xmlns:a16="http://schemas.microsoft.com/office/drawing/2014/main" id="{CB070331-E99D-1656-0E16-17AE50B6170C}"/>
              </a:ext>
            </a:extLst>
          </p:cNvPr>
          <p:cNvSpPr>
            <a:spLocks noChangeShapeType="1"/>
          </p:cNvSpPr>
          <p:nvPr/>
        </p:nvSpPr>
        <p:spPr bwMode="auto">
          <a:xfrm>
            <a:off x="3613957" y="339840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42" name="Text Box 29">
            <a:extLst>
              <a:ext uri="{FF2B5EF4-FFF2-40B4-BE49-F238E27FC236}">
                <a16:creationId xmlns:a16="http://schemas.microsoft.com/office/drawing/2014/main" id="{D527C7E2-6C98-7F4A-013E-01855CD28522}"/>
              </a:ext>
            </a:extLst>
          </p:cNvPr>
          <p:cNvSpPr txBox="1">
            <a:spLocks noChangeArrowheads="1"/>
          </p:cNvSpPr>
          <p:nvPr/>
        </p:nvSpPr>
        <p:spPr bwMode="auto">
          <a:xfrm>
            <a:off x="1500251" y="3796877"/>
            <a:ext cx="1149674"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altLang="zh-CN" sz="1200" b="0" kern="0" dirty="0">
                <a:latin typeface="Montserrat" panose="00000500000000000000" pitchFamily="2" charset="0"/>
                <a:ea typeface="微软雅黑 Light" panose="020B0502040204020203" pitchFamily="34" charset="-122"/>
              </a:rPr>
              <a:t>c</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wnd +4 = 8 </a:t>
            </a:r>
          </a:p>
        </p:txBody>
      </p:sp>
      <p:sp>
        <p:nvSpPr>
          <p:cNvPr id="43" name="Text Box 40">
            <a:extLst>
              <a:ext uri="{FF2B5EF4-FFF2-40B4-BE49-F238E27FC236}">
                <a16:creationId xmlns:a16="http://schemas.microsoft.com/office/drawing/2014/main" id="{A6EEE48B-1A3C-2E60-C8A4-313A6D30F066}"/>
              </a:ext>
            </a:extLst>
          </p:cNvPr>
          <p:cNvSpPr txBox="1">
            <a:spLocks noChangeArrowheads="1"/>
          </p:cNvSpPr>
          <p:nvPr/>
        </p:nvSpPr>
        <p:spPr bwMode="auto">
          <a:xfrm>
            <a:off x="6788608" y="1846780"/>
            <a:ext cx="502061"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RTT1</a:t>
            </a:r>
            <a:endParaRPr kumimoji="0" lang="en-US" altLang="zh-CN" sz="1050" b="0" i="0" u="none" strike="noStrike" kern="0" cap="none" spc="0" normalizeH="0" baseline="0" noProof="0" dirty="0">
              <a:ln>
                <a:noFill/>
              </a:ln>
              <a:solidFill>
                <a:sysClr val="windowText" lastClr="000000"/>
              </a:solidFill>
              <a:effectLst/>
              <a:uLnTx/>
              <a:uFillTx/>
              <a:latin typeface="Montserrat" panose="00000500000000000000" pitchFamily="2" charset="0"/>
              <a:ea typeface="微软雅黑 Light" panose="020B0502040204020203" pitchFamily="34" charset="-122"/>
            </a:endParaRPr>
          </a:p>
        </p:txBody>
      </p:sp>
      <p:sp>
        <p:nvSpPr>
          <p:cNvPr id="44" name="Text Box 41">
            <a:extLst>
              <a:ext uri="{FF2B5EF4-FFF2-40B4-BE49-F238E27FC236}">
                <a16:creationId xmlns:a16="http://schemas.microsoft.com/office/drawing/2014/main" id="{669348BA-EEDA-749F-50E4-41C5DBE04999}"/>
              </a:ext>
            </a:extLst>
          </p:cNvPr>
          <p:cNvSpPr txBox="1">
            <a:spLocks noChangeArrowheads="1"/>
          </p:cNvSpPr>
          <p:nvPr/>
        </p:nvSpPr>
        <p:spPr bwMode="auto">
          <a:xfrm>
            <a:off x="6756548" y="2405905"/>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RTT2</a:t>
            </a:r>
          </a:p>
        </p:txBody>
      </p:sp>
      <p:sp>
        <p:nvSpPr>
          <p:cNvPr id="45" name="Text Box 42">
            <a:extLst>
              <a:ext uri="{FF2B5EF4-FFF2-40B4-BE49-F238E27FC236}">
                <a16:creationId xmlns:a16="http://schemas.microsoft.com/office/drawing/2014/main" id="{87230281-9339-F11A-0939-2DC1C4609952}"/>
              </a:ext>
            </a:extLst>
          </p:cNvPr>
          <p:cNvSpPr txBox="1">
            <a:spLocks noChangeArrowheads="1"/>
          </p:cNvSpPr>
          <p:nvPr/>
        </p:nvSpPr>
        <p:spPr bwMode="auto">
          <a:xfrm>
            <a:off x="6758151" y="3209080"/>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RTT3</a:t>
            </a:r>
          </a:p>
        </p:txBody>
      </p:sp>
      <p:sp>
        <p:nvSpPr>
          <p:cNvPr id="7" name="Text Box 28">
            <a:extLst>
              <a:ext uri="{FF2B5EF4-FFF2-40B4-BE49-F238E27FC236}">
                <a16:creationId xmlns:a16="http://schemas.microsoft.com/office/drawing/2014/main" id="{16A58730-69ED-6D9E-0426-23A0654864F1}"/>
              </a:ext>
            </a:extLst>
          </p:cNvPr>
          <p:cNvSpPr txBox="1">
            <a:spLocks noChangeArrowheads="1"/>
          </p:cNvSpPr>
          <p:nvPr/>
        </p:nvSpPr>
        <p:spPr bwMode="auto">
          <a:xfrm>
            <a:off x="1729480" y="1649213"/>
            <a:ext cx="91082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algn="r" eaLnBrk="1" hangingPunct="1">
              <a:defRPr/>
            </a:pPr>
            <a:r>
              <a:rPr kumimoji="0" lang="en-US" altLang="zh-CN" sz="1200" b="0" kern="0" dirty="0">
                <a:latin typeface="Montserrat" panose="00000500000000000000" pitchFamily="2" charset="0"/>
                <a:ea typeface="微软雅黑 Light" panose="020B0502040204020203" pitchFamily="34" charset="-122"/>
              </a:rPr>
              <a:t>cwnd = 1 </a:t>
            </a:r>
          </a:p>
        </p:txBody>
      </p:sp>
      <p:sp>
        <p:nvSpPr>
          <p:cNvPr id="2" name="标题 1">
            <a:extLst>
              <a:ext uri="{FF2B5EF4-FFF2-40B4-BE49-F238E27FC236}">
                <a16:creationId xmlns:a16="http://schemas.microsoft.com/office/drawing/2014/main" id="{14581D17-933F-B99B-D547-69354CF1CCE5}"/>
              </a:ext>
            </a:extLst>
          </p:cNvPr>
          <p:cNvSpPr>
            <a:spLocks noGrp="1"/>
          </p:cNvSpPr>
          <p:nvPr>
            <p:ph type="title"/>
          </p:nvPr>
        </p:nvSpPr>
        <p:spPr/>
        <p:txBody>
          <a:bodyPr/>
          <a:lstStyle/>
          <a:p>
            <a:r>
              <a:rPr lang="zh-CN" altLang="en-US" dirty="0"/>
              <a:t>累计确认</a:t>
            </a:r>
          </a:p>
        </p:txBody>
      </p:sp>
      <p:sp>
        <p:nvSpPr>
          <p:cNvPr id="3" name="Text Box 28">
            <a:extLst>
              <a:ext uri="{FF2B5EF4-FFF2-40B4-BE49-F238E27FC236}">
                <a16:creationId xmlns:a16="http://schemas.microsoft.com/office/drawing/2014/main" id="{D3CB0171-5366-8748-C3A7-22A90881C380}"/>
              </a:ext>
            </a:extLst>
          </p:cNvPr>
          <p:cNvSpPr txBox="1">
            <a:spLocks noChangeArrowheads="1"/>
          </p:cNvSpPr>
          <p:nvPr/>
        </p:nvSpPr>
        <p:spPr bwMode="auto">
          <a:xfrm rot="360000">
            <a:off x="4126868" y="1658514"/>
            <a:ext cx="683200"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0</a:t>
            </a:r>
          </a:p>
        </p:txBody>
      </p:sp>
      <p:sp>
        <p:nvSpPr>
          <p:cNvPr id="4" name="Text Box 28">
            <a:extLst>
              <a:ext uri="{FF2B5EF4-FFF2-40B4-BE49-F238E27FC236}">
                <a16:creationId xmlns:a16="http://schemas.microsoft.com/office/drawing/2014/main" id="{4570AEF7-77C8-D8E1-FB90-F8E72C9DE58A}"/>
              </a:ext>
            </a:extLst>
          </p:cNvPr>
          <p:cNvSpPr txBox="1">
            <a:spLocks noChangeArrowheads="1"/>
          </p:cNvSpPr>
          <p:nvPr/>
        </p:nvSpPr>
        <p:spPr bwMode="auto">
          <a:xfrm rot="360000">
            <a:off x="4008246" y="2179408"/>
            <a:ext cx="920445"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1000</a:t>
            </a:r>
          </a:p>
        </p:txBody>
      </p:sp>
      <p:sp>
        <p:nvSpPr>
          <p:cNvPr id="5" name="Text Box 28">
            <a:extLst>
              <a:ext uri="{FF2B5EF4-FFF2-40B4-BE49-F238E27FC236}">
                <a16:creationId xmlns:a16="http://schemas.microsoft.com/office/drawing/2014/main" id="{0A58BBE8-94CE-5323-A5FB-95DD55B2AEFD}"/>
              </a:ext>
            </a:extLst>
          </p:cNvPr>
          <p:cNvSpPr txBox="1">
            <a:spLocks noChangeArrowheads="1"/>
          </p:cNvSpPr>
          <p:nvPr/>
        </p:nvSpPr>
        <p:spPr bwMode="auto">
          <a:xfrm rot="360000">
            <a:off x="3993819" y="2345456"/>
            <a:ext cx="949299"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2000</a:t>
            </a:r>
          </a:p>
        </p:txBody>
      </p:sp>
      <p:sp>
        <p:nvSpPr>
          <p:cNvPr id="6" name="Text Box 28">
            <a:extLst>
              <a:ext uri="{FF2B5EF4-FFF2-40B4-BE49-F238E27FC236}">
                <a16:creationId xmlns:a16="http://schemas.microsoft.com/office/drawing/2014/main" id="{79785280-3414-0BF9-70F0-021773200D09}"/>
              </a:ext>
            </a:extLst>
          </p:cNvPr>
          <p:cNvSpPr txBox="1">
            <a:spLocks noChangeArrowheads="1"/>
          </p:cNvSpPr>
          <p:nvPr/>
        </p:nvSpPr>
        <p:spPr bwMode="auto">
          <a:xfrm rot="360000">
            <a:off x="3993819" y="2791155"/>
            <a:ext cx="949299"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3000</a:t>
            </a:r>
          </a:p>
        </p:txBody>
      </p:sp>
      <p:sp>
        <p:nvSpPr>
          <p:cNvPr id="8" name="Text Box 28">
            <a:extLst>
              <a:ext uri="{FF2B5EF4-FFF2-40B4-BE49-F238E27FC236}">
                <a16:creationId xmlns:a16="http://schemas.microsoft.com/office/drawing/2014/main" id="{8109F46A-265C-69A5-3138-5FCAD3C92085}"/>
              </a:ext>
            </a:extLst>
          </p:cNvPr>
          <p:cNvSpPr txBox="1">
            <a:spLocks noChangeArrowheads="1"/>
          </p:cNvSpPr>
          <p:nvPr/>
        </p:nvSpPr>
        <p:spPr bwMode="auto">
          <a:xfrm rot="360000">
            <a:off x="3987407" y="2943555"/>
            <a:ext cx="962123"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4000</a:t>
            </a:r>
          </a:p>
        </p:txBody>
      </p:sp>
      <p:sp>
        <p:nvSpPr>
          <p:cNvPr id="9" name="Text Box 28">
            <a:extLst>
              <a:ext uri="{FF2B5EF4-FFF2-40B4-BE49-F238E27FC236}">
                <a16:creationId xmlns:a16="http://schemas.microsoft.com/office/drawing/2014/main" id="{E5B73BF9-BE0C-45C3-5B71-E6851A663F7C}"/>
              </a:ext>
            </a:extLst>
          </p:cNvPr>
          <p:cNvSpPr txBox="1">
            <a:spLocks noChangeArrowheads="1"/>
          </p:cNvSpPr>
          <p:nvPr/>
        </p:nvSpPr>
        <p:spPr bwMode="auto">
          <a:xfrm rot="360000">
            <a:off x="3993819" y="3123251"/>
            <a:ext cx="949299"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5000</a:t>
            </a:r>
          </a:p>
        </p:txBody>
      </p:sp>
      <p:sp>
        <p:nvSpPr>
          <p:cNvPr id="10" name="Text Box 28">
            <a:extLst>
              <a:ext uri="{FF2B5EF4-FFF2-40B4-BE49-F238E27FC236}">
                <a16:creationId xmlns:a16="http://schemas.microsoft.com/office/drawing/2014/main" id="{225FEE63-6397-AEBA-C017-71573718600F}"/>
              </a:ext>
            </a:extLst>
          </p:cNvPr>
          <p:cNvSpPr txBox="1">
            <a:spLocks noChangeArrowheads="1"/>
          </p:cNvSpPr>
          <p:nvPr/>
        </p:nvSpPr>
        <p:spPr bwMode="auto">
          <a:xfrm rot="360000">
            <a:off x="3990613" y="3289402"/>
            <a:ext cx="955711" cy="261610"/>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latin typeface="Montserrat" panose="00000500000000000000" pitchFamily="2" charset="0"/>
                <a:ea typeface="微软雅黑 Light" panose="020B0502040204020203" pitchFamily="34" charset="-122"/>
              </a:rPr>
              <a:t>seq = 6000</a:t>
            </a:r>
          </a:p>
        </p:txBody>
      </p:sp>
    </p:spTree>
    <p:extLst>
      <p:ext uri="{BB962C8B-B14F-4D97-AF65-F5344CB8AC3E}">
        <p14:creationId xmlns:p14="http://schemas.microsoft.com/office/powerpoint/2010/main" val="41058530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45"/>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44"/>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4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44" grpId="0"/>
      <p:bldP spid="45" grpId="0"/>
    </p:bld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Rectangle 2"/>
          <p:cNvSpPr>
            <a:spLocks noChangeArrowheads="1"/>
          </p:cNvSpPr>
          <p:nvPr/>
        </p:nvSpPr>
        <p:spPr bwMode="auto">
          <a:xfrm>
            <a:off x="3613957" y="2286101"/>
            <a:ext cx="4768068" cy="570494"/>
          </a:xfrm>
          <a:prstGeom prst="rect">
            <a:avLst/>
          </a:prstGeom>
          <a:solidFill>
            <a:schemeClr val="bg1"/>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7" name="Rectangle 3"/>
          <p:cNvSpPr>
            <a:spLocks noChangeArrowheads="1"/>
          </p:cNvSpPr>
          <p:nvPr/>
        </p:nvSpPr>
        <p:spPr bwMode="auto">
          <a:xfrm>
            <a:off x="3618874" y="2904955"/>
            <a:ext cx="4761551" cy="885249"/>
          </a:xfrm>
          <a:prstGeom prst="rect">
            <a:avLst/>
          </a:prstGeom>
          <a:solidFill>
            <a:srgbClr val="99FF33"/>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18" name="Rectangle 4"/>
          <p:cNvSpPr>
            <a:spLocks noChangeArrowheads="1"/>
          </p:cNvSpPr>
          <p:nvPr/>
        </p:nvSpPr>
        <p:spPr bwMode="auto">
          <a:xfrm>
            <a:off x="3612318" y="1772164"/>
            <a:ext cx="4770240" cy="426231"/>
          </a:xfrm>
          <a:prstGeom prst="rect">
            <a:avLst/>
          </a:prstGeom>
          <a:solidFill>
            <a:srgbClr val="00FF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1" name="Text Box 7"/>
          <p:cNvSpPr txBox="1">
            <a:spLocks noChangeArrowheads="1"/>
          </p:cNvSpPr>
          <p:nvPr/>
        </p:nvSpPr>
        <p:spPr bwMode="auto">
          <a:xfrm>
            <a:off x="2897100" y="164921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p>
        </p:txBody>
      </p:sp>
      <p:sp>
        <p:nvSpPr>
          <p:cNvPr id="122" name="Line 8"/>
          <p:cNvSpPr>
            <a:spLocks noChangeShapeType="1"/>
          </p:cNvSpPr>
          <p:nvPr/>
        </p:nvSpPr>
        <p:spPr bwMode="auto">
          <a:xfrm>
            <a:off x="3613957" y="1788558"/>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3" name="Line 9"/>
          <p:cNvSpPr>
            <a:spLocks noChangeShapeType="1"/>
          </p:cNvSpPr>
          <p:nvPr/>
        </p:nvSpPr>
        <p:spPr bwMode="auto">
          <a:xfrm>
            <a:off x="3613957" y="229921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4" name="Line 10"/>
          <p:cNvSpPr>
            <a:spLocks noChangeShapeType="1"/>
          </p:cNvSpPr>
          <p:nvPr/>
        </p:nvSpPr>
        <p:spPr bwMode="auto">
          <a:xfrm flipH="1">
            <a:off x="3613957" y="2023805"/>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5" name="Text Box 11"/>
          <p:cNvSpPr txBox="1">
            <a:spLocks noChangeArrowheads="1"/>
          </p:cNvSpPr>
          <p:nvPr/>
        </p:nvSpPr>
        <p:spPr bwMode="auto">
          <a:xfrm>
            <a:off x="5281176" y="1871180"/>
            <a:ext cx="8066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26" name="Line 12"/>
          <p:cNvSpPr>
            <a:spLocks noChangeShapeType="1"/>
          </p:cNvSpPr>
          <p:nvPr/>
        </p:nvSpPr>
        <p:spPr bwMode="auto">
          <a:xfrm>
            <a:off x="3613957" y="3855202"/>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27" name="Line 13"/>
          <p:cNvSpPr>
            <a:spLocks noChangeShapeType="1"/>
          </p:cNvSpPr>
          <p:nvPr/>
        </p:nvSpPr>
        <p:spPr bwMode="auto">
          <a:xfrm flipH="1">
            <a:off x="3613957" y="3122989"/>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nvGrpSpPr>
          <p:cNvPr id="128" name="Group 14"/>
          <p:cNvGrpSpPr>
            <a:grpSpLocks/>
          </p:cNvGrpSpPr>
          <p:nvPr/>
        </p:nvGrpSpPr>
        <p:grpSpPr bwMode="auto">
          <a:xfrm>
            <a:off x="3613957" y="1707410"/>
            <a:ext cx="1709023" cy="2515583"/>
            <a:chOff x="2042" y="674"/>
            <a:chExt cx="1569" cy="2711"/>
          </a:xfrm>
        </p:grpSpPr>
        <p:sp>
          <p:nvSpPr>
            <p:cNvPr id="129" name="Line 15"/>
            <p:cNvSpPr>
              <a:spLocks noChangeShapeType="1"/>
            </p:cNvSpPr>
            <p:nvPr/>
          </p:nvSpPr>
          <p:spPr bwMode="auto">
            <a:xfrm>
              <a:off x="2042"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0" name="Line 16"/>
            <p:cNvSpPr>
              <a:spLocks noChangeShapeType="1"/>
            </p:cNvSpPr>
            <p:nvPr/>
          </p:nvSpPr>
          <p:spPr bwMode="auto">
            <a:xfrm>
              <a:off x="3611" y="674"/>
              <a:ext cx="0" cy="2711"/>
            </a:xfrm>
            <a:prstGeom prst="line">
              <a:avLst/>
            </a:prstGeom>
            <a:noFill/>
            <a:ln w="1270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31" name="Text Box 17"/>
          <p:cNvSpPr txBox="1">
            <a:spLocks noChangeArrowheads="1"/>
          </p:cNvSpPr>
          <p:nvPr/>
        </p:nvSpPr>
        <p:spPr bwMode="auto">
          <a:xfrm>
            <a:off x="2558866" y="217454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a:t>
            </a:r>
          </a:p>
        </p:txBody>
      </p:sp>
      <p:sp>
        <p:nvSpPr>
          <p:cNvPr id="132" name="Line 18"/>
          <p:cNvSpPr>
            <a:spLocks noChangeShapeType="1"/>
          </p:cNvSpPr>
          <p:nvPr/>
        </p:nvSpPr>
        <p:spPr bwMode="auto">
          <a:xfrm>
            <a:off x="3613957" y="246397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3" name="Text Box 19"/>
          <p:cNvSpPr txBox="1">
            <a:spLocks noChangeArrowheads="1"/>
          </p:cNvSpPr>
          <p:nvPr/>
        </p:nvSpPr>
        <p:spPr bwMode="auto">
          <a:xfrm>
            <a:off x="5281176" y="2402495"/>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2</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3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34" name="Line 20"/>
          <p:cNvSpPr>
            <a:spLocks noChangeShapeType="1"/>
          </p:cNvSpPr>
          <p:nvPr/>
        </p:nvSpPr>
        <p:spPr bwMode="auto">
          <a:xfrm flipH="1">
            <a:off x="3613957" y="2519708"/>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5" name="Line 21"/>
          <p:cNvSpPr>
            <a:spLocks noChangeShapeType="1"/>
          </p:cNvSpPr>
          <p:nvPr/>
        </p:nvSpPr>
        <p:spPr bwMode="auto">
          <a:xfrm flipH="1">
            <a:off x="3613957" y="2684463"/>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6" name="Text Box 22"/>
          <p:cNvSpPr txBox="1">
            <a:spLocks noChangeArrowheads="1"/>
          </p:cNvSpPr>
          <p:nvPr/>
        </p:nvSpPr>
        <p:spPr bwMode="auto">
          <a:xfrm>
            <a:off x="2558866" y="2734052"/>
            <a:ext cx="1098378"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a:t>
            </a:r>
          </a:p>
        </p:txBody>
      </p:sp>
      <p:sp>
        <p:nvSpPr>
          <p:cNvPr id="137" name="Text Box 23"/>
          <p:cNvSpPr txBox="1">
            <a:spLocks noChangeArrowheads="1"/>
          </p:cNvSpPr>
          <p:nvPr/>
        </p:nvSpPr>
        <p:spPr bwMode="auto">
          <a:xfrm>
            <a:off x="5281176" y="3016431"/>
            <a:ext cx="117532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200" b="1" i="0" u="none" strike="noStrike" kern="0" cap="none" spc="0" normalizeH="0" baseline="0" noProof="0">
                <a:ln>
                  <a:noFill/>
                </a:ln>
                <a:effectLst/>
                <a:uLnTx/>
                <a:uFillTx/>
                <a:latin typeface="微软雅黑" pitchFamily="34" charset="-122"/>
                <a:ea typeface="微软雅黑" pitchFamily="34" charset="-122"/>
              </a:rPr>
              <a:t>确认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4</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7 </a:t>
            </a:r>
            <a:endParaRPr kumimoji="0" lang="en-US" altLang="zh-CN" sz="12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138" name="Line 24"/>
          <p:cNvSpPr>
            <a:spLocks noChangeShapeType="1"/>
          </p:cNvSpPr>
          <p:nvPr/>
        </p:nvSpPr>
        <p:spPr bwMode="auto">
          <a:xfrm flipH="1">
            <a:off x="3613957" y="3287744"/>
            <a:ext cx="1709023" cy="16557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39" name="Line 25"/>
          <p:cNvSpPr>
            <a:spLocks noChangeShapeType="1"/>
          </p:cNvSpPr>
          <p:nvPr/>
        </p:nvSpPr>
        <p:spPr bwMode="auto">
          <a:xfrm flipH="1">
            <a:off x="3613957" y="3453318"/>
            <a:ext cx="1709023" cy="164754"/>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0" name="Line 26"/>
          <p:cNvSpPr>
            <a:spLocks noChangeShapeType="1"/>
          </p:cNvSpPr>
          <p:nvPr/>
        </p:nvSpPr>
        <p:spPr bwMode="auto">
          <a:xfrm flipH="1">
            <a:off x="3613957" y="3618073"/>
            <a:ext cx="1709023" cy="164755"/>
          </a:xfrm>
          <a:prstGeom prst="line">
            <a:avLst/>
          </a:prstGeom>
          <a:noFill/>
          <a:ln w="190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1" name="Text Box 27"/>
          <p:cNvSpPr txBox="1">
            <a:spLocks noChangeArrowheads="1"/>
          </p:cNvSpPr>
          <p:nvPr/>
        </p:nvSpPr>
        <p:spPr bwMode="auto">
          <a:xfrm>
            <a:off x="1415576" y="1653312"/>
            <a:ext cx="663937" cy="209837"/>
          </a:xfrm>
          <a:prstGeom prst="rect">
            <a:avLst/>
          </a:prstGeom>
          <a:solidFill>
            <a:srgbClr val="00FF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cwnd = 1 </a:t>
            </a:r>
          </a:p>
        </p:txBody>
      </p:sp>
      <p:sp>
        <p:nvSpPr>
          <p:cNvPr id="142" name="Text Box 28"/>
          <p:cNvSpPr txBox="1">
            <a:spLocks noChangeArrowheads="1"/>
          </p:cNvSpPr>
          <p:nvPr/>
        </p:nvSpPr>
        <p:spPr bwMode="auto">
          <a:xfrm>
            <a:off x="1415576" y="2209051"/>
            <a:ext cx="663937" cy="209837"/>
          </a:xfrm>
          <a:prstGeom prst="rect">
            <a:avLst/>
          </a:prstGeom>
          <a:solidFill>
            <a:schemeClr val="bg1"/>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cwnd = 2 </a:t>
            </a:r>
          </a:p>
        </p:txBody>
      </p:sp>
      <p:sp>
        <p:nvSpPr>
          <p:cNvPr id="143" name="Text Box 29"/>
          <p:cNvSpPr txBox="1">
            <a:spLocks noChangeArrowheads="1"/>
          </p:cNvSpPr>
          <p:nvPr/>
        </p:nvSpPr>
        <p:spPr bwMode="auto">
          <a:xfrm>
            <a:off x="1415576" y="2773807"/>
            <a:ext cx="663937" cy="209837"/>
          </a:xfrm>
          <a:prstGeom prst="rect">
            <a:avLst/>
          </a:prstGeom>
          <a:solidFill>
            <a:srgbClr val="99FF33"/>
          </a:solidFill>
          <a:ln>
            <a:noFill/>
          </a:ln>
          <a:effectLst/>
          <a:extLst>
            <a:ext uri="{91240B29-F687-4F45-9708-019B960494DF}">
              <a14:hiddenLine xmlns:a14="http://schemas.microsoft.com/office/drawing/2010/main" w="9525" algn="ctr">
                <a:solidFill>
                  <a:schemeClr val="tx1"/>
                </a:solidFill>
                <a:miter lim="800000"/>
                <a:headEnd/>
                <a:tailEnd/>
              </a14:hiddenLine>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cwnd = 4 </a:t>
            </a:r>
          </a:p>
        </p:txBody>
      </p:sp>
      <p:sp>
        <p:nvSpPr>
          <p:cNvPr id="144" name="Text Box 30"/>
          <p:cNvSpPr txBox="1">
            <a:spLocks noChangeArrowheads="1"/>
          </p:cNvSpPr>
          <p:nvPr/>
        </p:nvSpPr>
        <p:spPr bwMode="auto">
          <a:xfrm>
            <a:off x="2496349" y="3796877"/>
            <a:ext cx="116089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发送 </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8</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200" b="1" i="0" u="none" strike="noStrike" kern="0" cap="none" spc="0" normalizeH="0" baseline="-25000" noProof="0" dirty="0">
                <a:ln>
                  <a:noFill/>
                </a:ln>
                <a:effectLst/>
                <a:uLnTx/>
                <a:uFillTx/>
                <a:latin typeface="微软雅黑" pitchFamily="34" charset="-122"/>
                <a:ea typeface="微软雅黑" pitchFamily="34" charset="-122"/>
              </a:rPr>
              <a:t>15</a:t>
            </a:r>
          </a:p>
        </p:txBody>
      </p:sp>
      <p:sp>
        <p:nvSpPr>
          <p:cNvPr id="146" name="Text Box 32"/>
          <p:cNvSpPr txBox="1">
            <a:spLocks noChangeArrowheads="1"/>
          </p:cNvSpPr>
          <p:nvPr/>
        </p:nvSpPr>
        <p:spPr bwMode="auto">
          <a:xfrm rot="5400000">
            <a:off x="4349938" y="3964411"/>
            <a:ext cx="33214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t>
            </a:r>
          </a:p>
        </p:txBody>
      </p:sp>
      <p:sp>
        <p:nvSpPr>
          <p:cNvPr id="147" name="Line 33"/>
          <p:cNvSpPr>
            <a:spLocks noChangeShapeType="1"/>
          </p:cNvSpPr>
          <p:nvPr/>
        </p:nvSpPr>
        <p:spPr bwMode="auto">
          <a:xfrm>
            <a:off x="3613957" y="2904136"/>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8" name="Line 34"/>
          <p:cNvSpPr>
            <a:spLocks noChangeShapeType="1"/>
          </p:cNvSpPr>
          <p:nvPr/>
        </p:nvSpPr>
        <p:spPr bwMode="auto">
          <a:xfrm>
            <a:off x="3613957" y="306889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49" name="Line 35"/>
          <p:cNvSpPr>
            <a:spLocks noChangeShapeType="1"/>
          </p:cNvSpPr>
          <p:nvPr/>
        </p:nvSpPr>
        <p:spPr bwMode="auto">
          <a:xfrm>
            <a:off x="3613957" y="3233645"/>
            <a:ext cx="1709023" cy="164754"/>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0" name="Line 36"/>
          <p:cNvSpPr>
            <a:spLocks noChangeShapeType="1"/>
          </p:cNvSpPr>
          <p:nvPr/>
        </p:nvSpPr>
        <p:spPr bwMode="auto">
          <a:xfrm>
            <a:off x="3613957" y="3398400"/>
            <a:ext cx="1709023" cy="164755"/>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1" name="Text Box 40"/>
          <p:cNvSpPr txBox="1">
            <a:spLocks noChangeArrowheads="1"/>
          </p:cNvSpPr>
          <p:nvPr/>
        </p:nvSpPr>
        <p:spPr bwMode="auto">
          <a:xfrm>
            <a:off x="6474163" y="1851671"/>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1)</a:t>
            </a:r>
          </a:p>
        </p:txBody>
      </p:sp>
      <p:sp>
        <p:nvSpPr>
          <p:cNvPr id="152" name="Text Box 41"/>
          <p:cNvSpPr txBox="1">
            <a:spLocks noChangeArrowheads="1"/>
          </p:cNvSpPr>
          <p:nvPr/>
        </p:nvSpPr>
        <p:spPr bwMode="auto">
          <a:xfrm>
            <a:off x="6474163" y="2430775"/>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2)</a:t>
            </a:r>
          </a:p>
        </p:txBody>
      </p:sp>
      <p:sp>
        <p:nvSpPr>
          <p:cNvPr id="153" name="Text Box 42"/>
          <p:cNvSpPr txBox="1">
            <a:spLocks noChangeArrowheads="1"/>
          </p:cNvSpPr>
          <p:nvPr/>
        </p:nvSpPr>
        <p:spPr bwMode="auto">
          <a:xfrm>
            <a:off x="6474163" y="3200853"/>
            <a:ext cx="1760418" cy="276999"/>
          </a:xfrm>
          <a:prstGeom prst="rect">
            <a:avLst/>
          </a:prstGeom>
          <a:solidFill>
            <a:srgbClr val="00B050"/>
          </a:solid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zh-CN" altLang="en-US" sz="1200" kern="0" dirty="0">
                <a:solidFill>
                  <a:schemeClr val="bg1"/>
                </a:solidFill>
                <a:latin typeface="微软雅黑" pitchFamily="34" charset="-122"/>
                <a:ea typeface="微软雅黑" pitchFamily="34" charset="-122"/>
              </a:rPr>
              <a:t>往返时延 </a:t>
            </a:r>
            <a:r>
              <a:rPr kumimoji="0" lang="en-US" altLang="zh-CN" sz="1200" kern="0" dirty="0">
                <a:solidFill>
                  <a:schemeClr val="bg1"/>
                </a:solidFill>
                <a:latin typeface="微软雅黑" pitchFamily="34" charset="-122"/>
                <a:ea typeface="微软雅黑" pitchFamily="34" charset="-122"/>
              </a:rPr>
              <a:t>RTT (</a:t>
            </a:r>
            <a:r>
              <a:rPr kumimoji="0" lang="zh-CN" altLang="en-US" sz="1200" kern="0" dirty="0">
                <a:solidFill>
                  <a:schemeClr val="bg1"/>
                </a:solidFill>
                <a:latin typeface="微软雅黑" pitchFamily="34" charset="-122"/>
                <a:ea typeface="微软雅黑" pitchFamily="34" charset="-122"/>
              </a:rPr>
              <a:t>轮次 </a:t>
            </a:r>
            <a:r>
              <a:rPr kumimoji="0" lang="en-US" altLang="zh-CN" sz="1200" kern="0" dirty="0">
                <a:solidFill>
                  <a:schemeClr val="bg1"/>
                </a:solidFill>
                <a:latin typeface="微软雅黑" pitchFamily="34" charset="-122"/>
                <a:ea typeface="微软雅黑" pitchFamily="34" charset="-122"/>
              </a:rPr>
              <a:t>3)</a:t>
            </a:r>
          </a:p>
        </p:txBody>
      </p:sp>
      <p:sp>
        <p:nvSpPr>
          <p:cNvPr id="154" name="Text Box 43"/>
          <p:cNvSpPr txBox="1">
            <a:spLocks noChangeArrowheads="1"/>
          </p:cNvSpPr>
          <p:nvPr/>
        </p:nvSpPr>
        <p:spPr bwMode="auto">
          <a:xfrm>
            <a:off x="980385" y="3520463"/>
            <a:ext cx="2558190" cy="307777"/>
          </a:xfrm>
          <a:prstGeom prst="rect">
            <a:avLst/>
          </a:prstGeom>
          <a:solidFill>
            <a:srgbClr val="FFFF00"/>
          </a:solidFill>
          <a:ln w="19050">
            <a:solidFill>
              <a:srgbClr val="333399"/>
            </a:solidFill>
            <a:miter lim="800000"/>
            <a:headEnd/>
            <a:tailEnd/>
          </a:ln>
          <a:effec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窗口大小</a:t>
            </a:r>
            <a:r>
              <a:rPr kumimoji="1" lang="zh-CN" altLang="en-US" sz="1400" b="1" i="0" u="none" strike="noStrike" kern="0" cap="none" spc="0" normalizeH="0" baseline="0" noProof="0" dirty="0">
                <a:ln>
                  <a:noFill/>
                </a:ln>
                <a:solidFill>
                  <a:srgbClr val="C00000"/>
                </a:solidFill>
                <a:effectLst/>
                <a:uLnTx/>
                <a:uFillTx/>
                <a:latin typeface="微软雅黑" pitchFamily="34" charset="-122"/>
                <a:ea typeface="微软雅黑" pitchFamily="34" charset="-122"/>
              </a:rPr>
              <a:t>按指数</a:t>
            </a:r>
            <a:r>
              <a:rPr kumimoji="1" lang="zh-CN" altLang="en-US" sz="1400" b="1" i="0" u="none" strike="noStrike" kern="0" cap="none" spc="0" normalizeH="0" baseline="0" noProof="0" dirty="0">
                <a:ln>
                  <a:noFill/>
                </a:ln>
                <a:effectLst/>
                <a:uLnTx/>
                <a:uFillTx/>
                <a:latin typeface="微软雅黑" pitchFamily="34" charset="-122"/>
                <a:ea typeface="微软雅黑" pitchFamily="34" charset="-122"/>
              </a:rPr>
              <a:t>增加，不慢！</a:t>
            </a:r>
          </a:p>
        </p:txBody>
      </p:sp>
      <p:sp>
        <p:nvSpPr>
          <p:cNvPr id="155" name="矩形 154"/>
          <p:cNvSpPr/>
          <p:nvPr/>
        </p:nvSpPr>
        <p:spPr>
          <a:xfrm>
            <a:off x="980385" y="3006671"/>
            <a:ext cx="2558189" cy="523220"/>
          </a:xfrm>
          <a:prstGeom prst="rect">
            <a:avLst/>
          </a:prstGeom>
          <a:solidFill>
            <a:srgbClr val="0000FF"/>
          </a:solidFill>
          <a:ln w="19050">
            <a:solidFill>
              <a:srgbClr val="333399"/>
            </a:solidFill>
            <a:miter lim="800000"/>
            <a:headEnd/>
            <a:tailEnd/>
          </a:ln>
          <a:effectLst/>
        </p:spPr>
        <p:txBody>
          <a:bodyPr wrap="square">
            <a:spAutoFit/>
          </a:bodyPr>
          <a:lstStyle/>
          <a:p>
            <a:pPr eaLnBrk="1" fontAlgn="auto" hangingPunct="1">
              <a:spcBef>
                <a:spcPts val="0"/>
              </a:spcBef>
              <a:spcAft>
                <a:spcPts val="0"/>
              </a:spcAft>
            </a:pPr>
            <a:r>
              <a:rPr kumimoji="1" lang="zh-CN" altLang="zh-CN" sz="1400" b="1" kern="0" dirty="0">
                <a:solidFill>
                  <a:schemeClr val="bg1"/>
                </a:solidFill>
                <a:latin typeface="微软雅黑" pitchFamily="34" charset="-122"/>
                <a:ea typeface="微软雅黑" pitchFamily="34" charset="-122"/>
              </a:rPr>
              <a:t>每经过一个传输轮次，拥塞窗口就加倍。</a:t>
            </a:r>
            <a:endParaRPr kumimoji="1" lang="zh-CN" altLang="en-US" sz="1400" b="1" kern="0" dirty="0">
              <a:solidFill>
                <a:schemeClr val="bg1"/>
              </a:solidFill>
              <a:latin typeface="微软雅黑" pitchFamily="34" charset="-122"/>
              <a:ea typeface="微软雅黑" pitchFamily="34" charset="-122"/>
            </a:endParaRPr>
          </a:p>
        </p:txBody>
      </p:sp>
      <p:sp>
        <p:nvSpPr>
          <p:cNvPr id="44" name="Text Box 29"/>
          <p:cNvSpPr txBox="1">
            <a:spLocks noChangeArrowheads="1"/>
          </p:cNvSpPr>
          <p:nvPr/>
        </p:nvSpPr>
        <p:spPr bwMode="auto">
          <a:xfrm>
            <a:off x="1415576" y="3843380"/>
            <a:ext cx="663937" cy="209837"/>
          </a:xfrm>
          <a:prstGeom prst="rect">
            <a:avLst/>
          </a:prstGeom>
          <a:solidFill>
            <a:srgbClr val="FF66FF"/>
          </a:solid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cwnd = 8 </a:t>
            </a:r>
          </a:p>
        </p:txBody>
      </p:sp>
      <p:sp>
        <p:nvSpPr>
          <p:cNvPr id="46" name="Text Box 5"/>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发送方</a:t>
            </a:r>
          </a:p>
        </p:txBody>
      </p:sp>
      <p:sp>
        <p:nvSpPr>
          <p:cNvPr id="47" name="Text Box 6"/>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接收方</a:t>
            </a:r>
          </a:p>
        </p:txBody>
      </p:sp>
      <p:sp>
        <p:nvSpPr>
          <p:cNvPr id="2" name="Text Box 155">
            <a:extLst>
              <a:ext uri="{FF2B5EF4-FFF2-40B4-BE49-F238E27FC236}">
                <a16:creationId xmlns:a16="http://schemas.microsoft.com/office/drawing/2014/main" id="{648358DC-C7C1-8DED-3B22-2F7F8D7AE69F}"/>
              </a:ext>
            </a:extLst>
          </p:cNvPr>
          <p:cNvSpPr txBox="1">
            <a:spLocks noChangeArrowheads="1"/>
          </p:cNvSpPr>
          <p:nvPr/>
        </p:nvSpPr>
        <p:spPr bwMode="auto">
          <a:xfrm>
            <a:off x="129654" y="519984"/>
            <a:ext cx="9014346" cy="485774"/>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发送方每收到一个对新报文段的确认</a:t>
            </a:r>
          </a:p>
          <a:p>
            <a:pPr algn="ctr">
              <a:lnSpc>
                <a:spcPct val="110000"/>
              </a:lnSpc>
            </a:pPr>
            <a:r>
              <a:rPr lang="zh-CN" altLang="en-US" sz="1200" dirty="0">
                <a:solidFill>
                  <a:schemeClr val="bg1"/>
                </a:solidFill>
                <a:latin typeface="Montserrat" panose="00000500000000000000" pitchFamily="2" charset="0"/>
                <a:ea typeface="微软雅黑 Light" panose="020B0502040204020203" pitchFamily="34" charset="-122"/>
              </a:rPr>
              <a:t>（重传的不算在内）就使 </a:t>
            </a:r>
            <a:r>
              <a:rPr lang="en-US" altLang="zh-CN" sz="1200" dirty="0">
                <a:solidFill>
                  <a:schemeClr val="bg1"/>
                </a:solidFill>
                <a:latin typeface="Montserrat" panose="00000500000000000000" pitchFamily="2" charset="0"/>
                <a:ea typeface="微软雅黑 Light" panose="020B0502040204020203" pitchFamily="34" charset="-122"/>
              </a:rPr>
              <a:t>cwnd </a:t>
            </a:r>
            <a:r>
              <a:rPr lang="zh-CN" altLang="en-US" sz="1200" dirty="0">
                <a:solidFill>
                  <a:schemeClr val="bg1"/>
                </a:solidFill>
                <a:latin typeface="Montserrat" panose="00000500000000000000" pitchFamily="2" charset="0"/>
                <a:ea typeface="微软雅黑 Light" panose="020B0502040204020203" pitchFamily="34" charset="-122"/>
              </a:rPr>
              <a:t>加 </a:t>
            </a:r>
            <a:r>
              <a:rPr lang="en-US" altLang="zh-CN" sz="1200" dirty="0">
                <a:solidFill>
                  <a:schemeClr val="bg1"/>
                </a:solidFill>
                <a:latin typeface="Montserrat" panose="00000500000000000000" pitchFamily="2" charset="0"/>
                <a:ea typeface="微软雅黑 Light" panose="020B0502040204020203" pitchFamily="34" charset="-122"/>
              </a:rPr>
              <a:t>1</a:t>
            </a:r>
            <a:r>
              <a:rPr lang="zh-CN" altLang="en-US" sz="1200" dirty="0">
                <a:solidFill>
                  <a:schemeClr val="bg1"/>
                </a:solidFill>
                <a:latin typeface="Montserrat" panose="00000500000000000000" pitchFamily="2" charset="0"/>
                <a:ea typeface="微软雅黑 Light" panose="020B0502040204020203" pitchFamily="34" charset="-122"/>
              </a:rPr>
              <a:t>。 </a:t>
            </a:r>
          </a:p>
        </p:txBody>
      </p:sp>
    </p:spTree>
    <p:extLst>
      <p:ext uri="{BB962C8B-B14F-4D97-AF65-F5344CB8AC3E}">
        <p14:creationId xmlns:p14="http://schemas.microsoft.com/office/powerpoint/2010/main" val="213286772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153"/>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152"/>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151"/>
                                        </p:tgtEl>
                                        <p:attrNameLst>
                                          <p:attrName>style.visibility</p:attrName>
                                        </p:attrNameLst>
                                      </p:cBhvr>
                                      <p:tavLst>
                                        <p:tav tm="0">
                                          <p:val>
                                            <p:strVal val="hidden"/>
                                          </p:val>
                                        </p:tav>
                                        <p:tav tm="50000">
                                          <p:val>
                                            <p:strVal val="visible"/>
                                          </p:val>
                                        </p:tav>
                                      </p:tavLst>
                                    </p:anim>
                                  </p:childTnLst>
                                </p:cTn>
                              </p:par>
                              <p:par>
                                <p:cTn id="11" presetID="22" presetClass="entr" presetSubtype="1" fill="hold" grpId="0" nodeType="withEffect">
                                  <p:stCondLst>
                                    <p:cond delay="3000"/>
                                  </p:stCondLst>
                                  <p:childTnLst>
                                    <p:set>
                                      <p:cBhvr>
                                        <p:cTn id="12" dur="1" fill="hold">
                                          <p:stCondLst>
                                            <p:cond delay="0"/>
                                          </p:stCondLst>
                                        </p:cTn>
                                        <p:tgtEl>
                                          <p:spTgt spid="155"/>
                                        </p:tgtEl>
                                        <p:attrNameLst>
                                          <p:attrName>style.visibility</p:attrName>
                                        </p:attrNameLst>
                                      </p:cBhvr>
                                      <p:to>
                                        <p:strVal val="visible"/>
                                      </p:to>
                                    </p:set>
                                    <p:animEffect transition="in" filter="wipe(up)">
                                      <p:cBhvr>
                                        <p:cTn id="13" dur="2000"/>
                                        <p:tgtEl>
                                          <p:spTgt spid="155"/>
                                        </p:tgtEl>
                                      </p:cBhvr>
                                    </p:animEffect>
                                  </p:childTnLst>
                                </p:cTn>
                              </p:par>
                              <p:par>
                                <p:cTn id="14" presetID="22" presetClass="entr" presetSubtype="1" fill="hold" grpId="0" nodeType="withEffect">
                                  <p:stCondLst>
                                    <p:cond delay="5000"/>
                                  </p:stCondLst>
                                  <p:childTnLst>
                                    <p:set>
                                      <p:cBhvr>
                                        <p:cTn id="15" dur="1" fill="hold">
                                          <p:stCondLst>
                                            <p:cond delay="0"/>
                                          </p:stCondLst>
                                        </p:cTn>
                                        <p:tgtEl>
                                          <p:spTgt spid="154"/>
                                        </p:tgtEl>
                                        <p:attrNameLst>
                                          <p:attrName>style.visibility</p:attrName>
                                        </p:attrNameLst>
                                      </p:cBhvr>
                                      <p:to>
                                        <p:strVal val="visible"/>
                                      </p:to>
                                    </p:set>
                                    <p:animEffect transition="in" filter="wipe(up)">
                                      <p:cBhvr>
                                        <p:cTn id="16" dur="1000"/>
                                        <p:tgtEl>
                                          <p:spTgt spid="1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 grpId="0" animBg="1"/>
      <p:bldP spid="152" grpId="0" animBg="1"/>
      <p:bldP spid="153" grpId="0" animBg="1"/>
      <p:bldP spid="154" grpId="0" animBg="1"/>
      <p:bldP spid="155" grpId="0" animBg="1"/>
    </p:bld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7F765A45-128A-A31E-3446-E90EA8F3897B}"/>
              </a:ext>
            </a:extLst>
          </p:cNvPr>
          <p:cNvSpPr>
            <a:spLocks noGrp="1"/>
          </p:cNvSpPr>
          <p:nvPr>
            <p:ph sz="quarter" idx="11"/>
          </p:nvPr>
        </p:nvSpPr>
        <p:spPr>
          <a:xfrm>
            <a:off x="486000" y="482554"/>
            <a:ext cx="8172000" cy="4120946"/>
          </a:xfrm>
        </p:spPr>
        <p:txBody>
          <a:bodyPr/>
          <a:lstStyle/>
          <a:p>
            <a:r>
              <a:rPr lang="zh-CN" altLang="en-US" dirty="0"/>
              <a:t>一个传输轮次所经历的时间其实就是往返时间 </a:t>
            </a:r>
            <a:r>
              <a:rPr lang="en-US" altLang="zh-CN" dirty="0"/>
              <a:t>RTT</a:t>
            </a:r>
            <a:r>
              <a:rPr lang="zh-CN" altLang="en-US" dirty="0"/>
              <a:t>。</a:t>
            </a:r>
          </a:p>
          <a:p>
            <a:r>
              <a:rPr lang="zh-CN" altLang="en-US" dirty="0"/>
              <a:t>传输轮次强调：把拥塞窗口 </a:t>
            </a:r>
            <a:r>
              <a:rPr lang="en-US" altLang="zh-CN" dirty="0"/>
              <a:t>cwnd </a:t>
            </a:r>
            <a:r>
              <a:rPr lang="zh-CN" altLang="en-US" dirty="0"/>
              <a:t>所允许发送的报文段都连续发送出去，并收到了对已发送的最后一个字节的确认。</a:t>
            </a:r>
          </a:p>
          <a:p>
            <a:r>
              <a:rPr lang="zh-CN" altLang="en-US" dirty="0"/>
              <a:t>例如：拥塞窗口 </a:t>
            </a:r>
            <a:r>
              <a:rPr lang="en-US" altLang="zh-CN" dirty="0"/>
              <a:t>cwnd = 4</a:t>
            </a:r>
            <a:r>
              <a:rPr lang="zh-CN" altLang="en-US" dirty="0"/>
              <a:t>，这时的往返时间 </a:t>
            </a:r>
            <a:r>
              <a:rPr lang="en-US" altLang="zh-CN" dirty="0"/>
              <a:t>RTT </a:t>
            </a:r>
            <a:r>
              <a:rPr lang="zh-CN" altLang="en-US" dirty="0"/>
              <a:t>就是发送方连续发送 </a:t>
            </a:r>
            <a:r>
              <a:rPr lang="en-US" altLang="zh-CN" dirty="0"/>
              <a:t>4 </a:t>
            </a:r>
            <a:r>
              <a:rPr lang="zh-CN" altLang="en-US" dirty="0"/>
              <a:t>个报文段，并收到这 </a:t>
            </a:r>
            <a:r>
              <a:rPr lang="en-US" altLang="zh-CN" dirty="0"/>
              <a:t>4 </a:t>
            </a:r>
            <a:r>
              <a:rPr lang="zh-CN" altLang="en-US" dirty="0"/>
              <a:t>个报文段的确认，总共经历的时间。 </a:t>
            </a:r>
          </a:p>
          <a:p>
            <a:endParaRPr lang="zh-CN" altLang="en-US" dirty="0"/>
          </a:p>
        </p:txBody>
      </p:sp>
      <p:sp>
        <p:nvSpPr>
          <p:cNvPr id="8" name="标题 7">
            <a:extLst>
              <a:ext uri="{FF2B5EF4-FFF2-40B4-BE49-F238E27FC236}">
                <a16:creationId xmlns:a16="http://schemas.microsoft.com/office/drawing/2014/main" id="{14201A16-2CC6-FA6C-EE58-3CF9F91F005B}"/>
              </a:ext>
            </a:extLst>
          </p:cNvPr>
          <p:cNvSpPr>
            <a:spLocks noGrp="1"/>
          </p:cNvSpPr>
          <p:nvPr>
            <p:ph type="title"/>
          </p:nvPr>
        </p:nvSpPr>
        <p:spPr>
          <a:xfrm>
            <a:off x="2808000" y="144000"/>
            <a:ext cx="3528000" cy="338554"/>
          </a:xfrm>
        </p:spPr>
        <p:txBody>
          <a:bodyPr/>
          <a:lstStyle/>
          <a:p>
            <a:r>
              <a:rPr lang="zh-CN" altLang="en-US" dirty="0"/>
              <a:t>传输轮次（</a:t>
            </a:r>
            <a:r>
              <a:rPr lang="en-US" altLang="zh-CN" dirty="0"/>
              <a:t>transmission round</a:t>
            </a:r>
            <a:r>
              <a:rPr lang="zh-CN" altLang="en-US" dirty="0"/>
              <a:t>）</a:t>
            </a:r>
          </a:p>
        </p:txBody>
      </p:sp>
    </p:spTree>
    <p:extLst>
      <p:ext uri="{BB962C8B-B14F-4D97-AF65-F5344CB8AC3E}">
        <p14:creationId xmlns:p14="http://schemas.microsoft.com/office/powerpoint/2010/main" val="386322414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8208344A-1534-96A2-30E3-CC469A14854B}"/>
              </a:ext>
            </a:extLst>
          </p:cNvPr>
          <p:cNvSpPr>
            <a:spLocks noGrp="1"/>
          </p:cNvSpPr>
          <p:nvPr>
            <p:ph sz="quarter" idx="11"/>
          </p:nvPr>
        </p:nvSpPr>
        <p:spPr>
          <a:xfrm>
            <a:off x="486000" y="482554"/>
            <a:ext cx="8172000" cy="4120946"/>
          </a:xfrm>
        </p:spPr>
        <p:txBody>
          <a:bodyPr/>
          <a:lstStyle/>
          <a:p>
            <a:r>
              <a:rPr lang="zh-CN" altLang="en-US" dirty="0"/>
              <a:t>防止拥塞窗口 </a:t>
            </a:r>
            <a:r>
              <a:rPr lang="en-US" altLang="zh-CN" dirty="0"/>
              <a:t>cwnd </a:t>
            </a:r>
            <a:r>
              <a:rPr lang="zh-CN" altLang="en-US" dirty="0"/>
              <a:t>增长过大引起网络拥塞。</a:t>
            </a:r>
            <a:endParaRPr lang="en-US" altLang="zh-CN" dirty="0"/>
          </a:p>
          <a:p>
            <a:r>
              <a:rPr lang="zh-CN" altLang="en-US" dirty="0"/>
              <a:t>用法：</a:t>
            </a:r>
          </a:p>
          <a:p>
            <a:r>
              <a:rPr lang="zh-CN" altLang="en-US" dirty="0"/>
              <a:t>当 </a:t>
            </a:r>
            <a:r>
              <a:rPr lang="en-US" altLang="zh-CN" dirty="0"/>
              <a:t>cwnd &lt; ssthresh </a:t>
            </a:r>
            <a:r>
              <a:rPr lang="zh-CN" altLang="en-US" dirty="0"/>
              <a:t>时，使用慢开始算法。</a:t>
            </a:r>
          </a:p>
          <a:p>
            <a:r>
              <a:rPr lang="zh-CN" altLang="en-US" dirty="0"/>
              <a:t>当 </a:t>
            </a:r>
            <a:r>
              <a:rPr lang="en-US" altLang="zh-CN" dirty="0"/>
              <a:t>cwnd &gt; ssthresh </a:t>
            </a:r>
            <a:r>
              <a:rPr lang="zh-CN" altLang="en-US" dirty="0"/>
              <a:t>时，停止使用慢开始算法，改用拥塞避免算法。</a:t>
            </a:r>
          </a:p>
          <a:p>
            <a:r>
              <a:rPr lang="zh-CN" altLang="en-US" dirty="0"/>
              <a:t>当 </a:t>
            </a:r>
            <a:r>
              <a:rPr lang="en-US" altLang="zh-CN" dirty="0"/>
              <a:t>cwnd = ssthresh </a:t>
            </a:r>
            <a:r>
              <a:rPr lang="zh-CN" altLang="en-US" dirty="0"/>
              <a:t>时，既可使用慢开始算法，也可使用拥塞避免算法。</a:t>
            </a:r>
          </a:p>
          <a:p>
            <a:endParaRPr lang="zh-CN" altLang="en-US" dirty="0"/>
          </a:p>
        </p:txBody>
      </p:sp>
      <p:sp>
        <p:nvSpPr>
          <p:cNvPr id="8" name="标题 7">
            <a:extLst>
              <a:ext uri="{FF2B5EF4-FFF2-40B4-BE49-F238E27FC236}">
                <a16:creationId xmlns:a16="http://schemas.microsoft.com/office/drawing/2014/main" id="{A114C189-921F-E76F-DA4F-53591C7C7F17}"/>
              </a:ext>
            </a:extLst>
          </p:cNvPr>
          <p:cNvSpPr>
            <a:spLocks noGrp="1"/>
          </p:cNvSpPr>
          <p:nvPr>
            <p:ph type="title"/>
          </p:nvPr>
        </p:nvSpPr>
        <p:spPr>
          <a:xfrm>
            <a:off x="2808000" y="144000"/>
            <a:ext cx="3528000" cy="338554"/>
          </a:xfrm>
        </p:spPr>
        <p:txBody>
          <a:bodyPr/>
          <a:lstStyle/>
          <a:p>
            <a:r>
              <a:rPr lang="zh-CN" altLang="en-US" dirty="0"/>
              <a:t>慢开始门限 </a:t>
            </a:r>
            <a:r>
              <a:rPr lang="en-US" altLang="zh-CN" dirty="0"/>
              <a:t>ssthresh</a:t>
            </a:r>
            <a:endParaRPr lang="zh-CN" altLang="en-US" dirty="0"/>
          </a:p>
        </p:txBody>
      </p:sp>
    </p:spTree>
    <p:extLst>
      <p:ext uri="{BB962C8B-B14F-4D97-AF65-F5344CB8AC3E}">
        <p14:creationId xmlns:p14="http://schemas.microsoft.com/office/powerpoint/2010/main" val="425802581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25101" y="3203737"/>
            <a:ext cx="6127425" cy="1092607"/>
          </a:xfrm>
          <a:prstGeom prst="rect">
            <a:avLst/>
          </a:prstGeom>
          <a:solidFill>
            <a:srgbClr val="A50021"/>
          </a:solidFill>
        </p:spPr>
        <p:txBody>
          <a:bodyPr wrap="square">
            <a:spAutoFit/>
          </a:bodyPr>
          <a:lstStyle/>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注意：</a:t>
            </a:r>
            <a:endParaRPr lang="en-US" altLang="zh-CN" sz="2000" b="1" dirty="0">
              <a:solidFill>
                <a:schemeClr val="bg1"/>
              </a:solidFill>
              <a:latin typeface="微软雅黑" panose="020B0503020204020204" pitchFamily="34" charset="-122"/>
              <a:ea typeface="微软雅黑" panose="020B0503020204020204" pitchFamily="34" charset="-122"/>
            </a:endParaRPr>
          </a:p>
          <a:p>
            <a:pPr>
              <a:lnSpc>
                <a:spcPts val="2600"/>
              </a:lnSpc>
            </a:pPr>
            <a:r>
              <a:rPr lang="zh-CN" altLang="en-US" sz="2000" b="1" dirty="0">
                <a:solidFill>
                  <a:schemeClr val="bg1"/>
                </a:solidFill>
                <a:latin typeface="微软雅黑" panose="020B0503020204020204" pitchFamily="34" charset="-122"/>
                <a:ea typeface="微软雅黑" panose="020B0503020204020204" pitchFamily="34" charset="-122"/>
              </a:rPr>
              <a:t>拥塞避免并非完全避免拥塞，而是让拥塞窗口增长得缓慢些，使网络不容易出现拥塞。</a:t>
            </a:r>
          </a:p>
        </p:txBody>
      </p:sp>
      <p:sp>
        <p:nvSpPr>
          <p:cNvPr id="7" name="内容占位符 6">
            <a:extLst>
              <a:ext uri="{FF2B5EF4-FFF2-40B4-BE49-F238E27FC236}">
                <a16:creationId xmlns:a16="http://schemas.microsoft.com/office/drawing/2014/main" id="{056836D9-2D39-356D-B116-967B75606BE0}"/>
              </a:ext>
            </a:extLst>
          </p:cNvPr>
          <p:cNvSpPr>
            <a:spLocks noGrp="1"/>
          </p:cNvSpPr>
          <p:nvPr>
            <p:ph sz="quarter" idx="11"/>
          </p:nvPr>
        </p:nvSpPr>
        <p:spPr>
          <a:xfrm>
            <a:off x="486000" y="482554"/>
            <a:ext cx="8172000" cy="4120946"/>
          </a:xfrm>
        </p:spPr>
        <p:txBody>
          <a:bodyPr/>
          <a:lstStyle/>
          <a:p>
            <a:r>
              <a:rPr lang="zh-CN" altLang="en-US" dirty="0"/>
              <a:t>目的：让拥塞窗口 </a:t>
            </a:r>
            <a:r>
              <a:rPr lang="en-US" altLang="zh-CN" dirty="0"/>
              <a:t>cwnd </a:t>
            </a:r>
            <a:r>
              <a:rPr lang="zh-CN" altLang="en-US" dirty="0"/>
              <a:t>缓慢地增大，避免出现拥塞。</a:t>
            </a:r>
            <a:endParaRPr lang="en-US" altLang="zh-CN" dirty="0"/>
          </a:p>
          <a:p>
            <a:r>
              <a:rPr lang="zh-CN" altLang="en-US" dirty="0"/>
              <a:t>拥塞窗口 </a:t>
            </a:r>
            <a:r>
              <a:rPr lang="en-US" altLang="zh-CN" dirty="0"/>
              <a:t>cwnd </a:t>
            </a:r>
            <a:r>
              <a:rPr lang="zh-CN" altLang="en-US" dirty="0"/>
              <a:t>增大：每经过一个往返时间 </a:t>
            </a:r>
            <a:r>
              <a:rPr lang="en-US" altLang="zh-CN" dirty="0"/>
              <a:t>RTT</a:t>
            </a:r>
            <a:r>
              <a:rPr lang="zh-CN" altLang="en-US" dirty="0"/>
              <a:t>（不管在此期间收到了多少确认），发送方的拥塞窗口 </a:t>
            </a:r>
            <a:r>
              <a:rPr lang="en-US" altLang="zh-CN" dirty="0"/>
              <a:t>cwnd = cwnd + 1</a:t>
            </a:r>
            <a:r>
              <a:rPr lang="zh-CN" altLang="en-US" dirty="0"/>
              <a:t>。</a:t>
            </a:r>
            <a:endParaRPr lang="en-US" altLang="zh-CN" dirty="0"/>
          </a:p>
          <a:p>
            <a:r>
              <a:rPr lang="zh-CN" altLang="en-US" dirty="0"/>
              <a:t>具有加法增大 </a:t>
            </a:r>
            <a:r>
              <a:rPr lang="en-US" altLang="zh-CN" dirty="0"/>
              <a:t>AI</a:t>
            </a:r>
            <a:r>
              <a:rPr lang="zh-CN" altLang="en-US" dirty="0"/>
              <a:t> </a:t>
            </a:r>
            <a:r>
              <a:rPr lang="en-US" altLang="zh-CN" dirty="0"/>
              <a:t>(Additive Increase) </a:t>
            </a:r>
            <a:r>
              <a:rPr lang="zh-CN" altLang="en-US" dirty="0"/>
              <a:t>特点：使拥塞窗口 </a:t>
            </a:r>
            <a:r>
              <a:rPr lang="en-US" altLang="zh-CN" dirty="0"/>
              <a:t>cwnd </a:t>
            </a:r>
            <a:r>
              <a:rPr lang="zh-CN" altLang="en-US" dirty="0"/>
              <a:t>按线性规律缓慢增长。</a:t>
            </a:r>
          </a:p>
          <a:p>
            <a:endParaRPr lang="zh-CN" altLang="en-US" dirty="0"/>
          </a:p>
        </p:txBody>
      </p:sp>
      <p:sp>
        <p:nvSpPr>
          <p:cNvPr id="6" name="标题 5">
            <a:extLst>
              <a:ext uri="{FF2B5EF4-FFF2-40B4-BE49-F238E27FC236}">
                <a16:creationId xmlns:a16="http://schemas.microsoft.com/office/drawing/2014/main" id="{C68E8FE8-7667-7A42-C64E-B26CF793B904}"/>
              </a:ext>
            </a:extLst>
          </p:cNvPr>
          <p:cNvSpPr>
            <a:spLocks noGrp="1"/>
          </p:cNvSpPr>
          <p:nvPr>
            <p:ph type="title"/>
          </p:nvPr>
        </p:nvSpPr>
        <p:spPr>
          <a:xfrm>
            <a:off x="2808000" y="144000"/>
            <a:ext cx="3528000" cy="338554"/>
          </a:xfrm>
        </p:spPr>
        <p:txBody>
          <a:bodyPr/>
          <a:lstStyle/>
          <a:p>
            <a:r>
              <a:rPr lang="en-US" altLang="zh-CN" dirty="0"/>
              <a:t>2. </a:t>
            </a:r>
            <a:r>
              <a:rPr lang="zh-CN" altLang="en-US" dirty="0"/>
              <a:t>拥塞避免</a:t>
            </a:r>
          </a:p>
        </p:txBody>
      </p:sp>
    </p:spTree>
    <p:extLst>
      <p:ext uri="{BB962C8B-B14F-4D97-AF65-F5344CB8AC3E}">
        <p14:creationId xmlns:p14="http://schemas.microsoft.com/office/powerpoint/2010/main" val="302774169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B8822-59FF-7EA9-A025-E0AAD870AE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08726B-E661-DA7D-E077-66C6032A3113}"/>
              </a:ext>
            </a:extLst>
          </p:cNvPr>
          <p:cNvSpPr>
            <a:spLocks noChangeArrowheads="1"/>
          </p:cNvSpPr>
          <p:nvPr/>
        </p:nvSpPr>
        <p:spPr bwMode="auto">
          <a:xfrm>
            <a:off x="3613957" y="2904955"/>
            <a:ext cx="3600000" cy="742805"/>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5" name="Rectangle 4">
            <a:extLst>
              <a:ext uri="{FF2B5EF4-FFF2-40B4-BE49-F238E27FC236}">
                <a16:creationId xmlns:a16="http://schemas.microsoft.com/office/drawing/2014/main" id="{CA32905A-EF6F-5539-11EE-4241FAE73A3B}"/>
              </a:ext>
            </a:extLst>
          </p:cNvPr>
          <p:cNvSpPr>
            <a:spLocks noChangeArrowheads="1"/>
          </p:cNvSpPr>
          <p:nvPr/>
        </p:nvSpPr>
        <p:spPr bwMode="auto">
          <a:xfrm>
            <a:off x="3613957" y="1788558"/>
            <a:ext cx="3600000" cy="426231"/>
          </a:xfrm>
          <a:prstGeom prst="rect">
            <a:avLst/>
          </a:prstGeom>
          <a:solidFill>
            <a:schemeClr val="bg1">
              <a:lumMod val="9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6" name="Text Box 5">
            <a:extLst>
              <a:ext uri="{FF2B5EF4-FFF2-40B4-BE49-F238E27FC236}">
                <a16:creationId xmlns:a16="http://schemas.microsoft.com/office/drawing/2014/main" id="{5182A012-8C9D-FD13-43F3-4A73EF8405F4}"/>
              </a:ext>
            </a:extLst>
          </p:cNvPr>
          <p:cNvSpPr txBox="1">
            <a:spLocks noChangeArrowheads="1"/>
          </p:cNvSpPr>
          <p:nvPr/>
        </p:nvSpPr>
        <p:spPr bwMode="auto">
          <a:xfrm>
            <a:off x="3350021" y="137871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发送方</a:t>
            </a:r>
          </a:p>
        </p:txBody>
      </p:sp>
      <p:sp>
        <p:nvSpPr>
          <p:cNvPr id="7" name="Text Box 6">
            <a:extLst>
              <a:ext uri="{FF2B5EF4-FFF2-40B4-BE49-F238E27FC236}">
                <a16:creationId xmlns:a16="http://schemas.microsoft.com/office/drawing/2014/main" id="{0797F06A-F229-E086-5A6F-C7CEBE424000}"/>
              </a:ext>
            </a:extLst>
          </p:cNvPr>
          <p:cNvSpPr txBox="1">
            <a:spLocks noChangeArrowheads="1"/>
          </p:cNvSpPr>
          <p:nvPr/>
        </p:nvSpPr>
        <p:spPr bwMode="auto">
          <a:xfrm>
            <a:off x="5060684" y="1377896"/>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接收方</a:t>
            </a:r>
          </a:p>
        </p:txBody>
      </p:sp>
      <p:sp>
        <p:nvSpPr>
          <p:cNvPr id="8" name="Text Box 7">
            <a:extLst>
              <a:ext uri="{FF2B5EF4-FFF2-40B4-BE49-F238E27FC236}">
                <a16:creationId xmlns:a16="http://schemas.microsoft.com/office/drawing/2014/main" id="{010A4324-2920-0CA4-6B1A-200D22F3666C}"/>
              </a:ext>
            </a:extLst>
          </p:cNvPr>
          <p:cNvSpPr txBox="1">
            <a:spLocks noChangeArrowheads="1"/>
          </p:cNvSpPr>
          <p:nvPr/>
        </p:nvSpPr>
        <p:spPr bwMode="auto">
          <a:xfrm>
            <a:off x="2898697" y="1649213"/>
            <a:ext cx="7152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p>
        </p:txBody>
      </p:sp>
      <p:sp>
        <p:nvSpPr>
          <p:cNvPr id="9" name="Line 8">
            <a:extLst>
              <a:ext uri="{FF2B5EF4-FFF2-40B4-BE49-F238E27FC236}">
                <a16:creationId xmlns:a16="http://schemas.microsoft.com/office/drawing/2014/main" id="{5985DDAD-9F5C-AA3F-96F3-FBCD73683736}"/>
              </a:ext>
            </a:extLst>
          </p:cNvPr>
          <p:cNvSpPr>
            <a:spLocks noChangeShapeType="1"/>
          </p:cNvSpPr>
          <p:nvPr/>
        </p:nvSpPr>
        <p:spPr bwMode="auto">
          <a:xfrm>
            <a:off x="3613957" y="1788558"/>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0" name="Line 9">
            <a:extLst>
              <a:ext uri="{FF2B5EF4-FFF2-40B4-BE49-F238E27FC236}">
                <a16:creationId xmlns:a16="http://schemas.microsoft.com/office/drawing/2014/main" id="{A92EE5D5-9B6F-736E-1589-5773EFECB173}"/>
              </a:ext>
            </a:extLst>
          </p:cNvPr>
          <p:cNvSpPr>
            <a:spLocks noChangeShapeType="1"/>
          </p:cNvSpPr>
          <p:nvPr/>
        </p:nvSpPr>
        <p:spPr bwMode="auto">
          <a:xfrm>
            <a:off x="3613957" y="229921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1" name="Line 10">
            <a:extLst>
              <a:ext uri="{FF2B5EF4-FFF2-40B4-BE49-F238E27FC236}">
                <a16:creationId xmlns:a16="http://schemas.microsoft.com/office/drawing/2014/main" id="{4608BAC8-B19A-AC6B-DF90-490888F5F71F}"/>
              </a:ext>
            </a:extLst>
          </p:cNvPr>
          <p:cNvSpPr>
            <a:spLocks noChangeShapeType="1"/>
          </p:cNvSpPr>
          <p:nvPr/>
        </p:nvSpPr>
        <p:spPr bwMode="auto">
          <a:xfrm flipH="1">
            <a:off x="3613957" y="2023805"/>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2" name="Text Box 11">
            <a:extLst>
              <a:ext uri="{FF2B5EF4-FFF2-40B4-BE49-F238E27FC236}">
                <a16:creationId xmlns:a16="http://schemas.microsoft.com/office/drawing/2014/main" id="{23167540-E83C-A191-D2C9-A684C0A5A7FA}"/>
              </a:ext>
            </a:extLst>
          </p:cNvPr>
          <p:cNvSpPr txBox="1">
            <a:spLocks noChangeArrowheads="1"/>
          </p:cNvSpPr>
          <p:nvPr/>
        </p:nvSpPr>
        <p:spPr bwMode="auto">
          <a:xfrm>
            <a:off x="5237255" y="1985705"/>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13" name="Line 12">
            <a:extLst>
              <a:ext uri="{FF2B5EF4-FFF2-40B4-BE49-F238E27FC236}">
                <a16:creationId xmlns:a16="http://schemas.microsoft.com/office/drawing/2014/main" id="{0EF70977-C25F-7014-2EFC-CA66054A3F8E}"/>
              </a:ext>
            </a:extLst>
          </p:cNvPr>
          <p:cNvSpPr>
            <a:spLocks noChangeShapeType="1"/>
          </p:cNvSpPr>
          <p:nvPr/>
        </p:nvSpPr>
        <p:spPr bwMode="auto">
          <a:xfrm>
            <a:off x="3613957" y="372554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4" name="Line 13">
            <a:extLst>
              <a:ext uri="{FF2B5EF4-FFF2-40B4-BE49-F238E27FC236}">
                <a16:creationId xmlns:a16="http://schemas.microsoft.com/office/drawing/2014/main" id="{1FA0FD80-3624-0533-F71C-175CF6D839C4}"/>
              </a:ext>
            </a:extLst>
          </p:cNvPr>
          <p:cNvSpPr>
            <a:spLocks noChangeShapeType="1"/>
          </p:cNvSpPr>
          <p:nvPr/>
        </p:nvSpPr>
        <p:spPr bwMode="auto">
          <a:xfrm flipH="1">
            <a:off x="3613957" y="3122989"/>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5" name="Line 15">
            <a:extLst>
              <a:ext uri="{FF2B5EF4-FFF2-40B4-BE49-F238E27FC236}">
                <a16:creationId xmlns:a16="http://schemas.microsoft.com/office/drawing/2014/main" id="{11E4B9C1-B8F0-1BFA-1C94-C2A7CA3466C1}"/>
              </a:ext>
            </a:extLst>
          </p:cNvPr>
          <p:cNvSpPr>
            <a:spLocks noChangeShapeType="1"/>
          </p:cNvSpPr>
          <p:nvPr/>
        </p:nvSpPr>
        <p:spPr bwMode="auto">
          <a:xfrm>
            <a:off x="3613957"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6" name="Line 16">
            <a:extLst>
              <a:ext uri="{FF2B5EF4-FFF2-40B4-BE49-F238E27FC236}">
                <a16:creationId xmlns:a16="http://schemas.microsoft.com/office/drawing/2014/main" id="{4EFD44DF-431B-F924-41F0-3515197267AA}"/>
              </a:ext>
            </a:extLst>
          </p:cNvPr>
          <p:cNvSpPr>
            <a:spLocks noChangeShapeType="1"/>
          </p:cNvSpPr>
          <p:nvPr/>
        </p:nvSpPr>
        <p:spPr bwMode="auto">
          <a:xfrm>
            <a:off x="5322980" y="1707410"/>
            <a:ext cx="0" cy="2515583"/>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7" name="Text Box 17">
            <a:extLst>
              <a:ext uri="{FF2B5EF4-FFF2-40B4-BE49-F238E27FC236}">
                <a16:creationId xmlns:a16="http://schemas.microsoft.com/office/drawing/2014/main" id="{2CA66BE7-9A77-6D5D-99EF-0E68BB0562FD}"/>
              </a:ext>
            </a:extLst>
          </p:cNvPr>
          <p:cNvSpPr txBox="1">
            <a:spLocks noChangeArrowheads="1"/>
          </p:cNvSpPr>
          <p:nvPr/>
        </p:nvSpPr>
        <p:spPr bwMode="auto">
          <a:xfrm>
            <a:off x="2578097" y="2174542"/>
            <a:ext cx="10358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a:t>
            </a:r>
          </a:p>
        </p:txBody>
      </p:sp>
      <p:sp>
        <p:nvSpPr>
          <p:cNvPr id="18" name="Line 18">
            <a:extLst>
              <a:ext uri="{FF2B5EF4-FFF2-40B4-BE49-F238E27FC236}">
                <a16:creationId xmlns:a16="http://schemas.microsoft.com/office/drawing/2014/main" id="{E767E43E-C560-A3F9-E97B-E4F3EBC78145}"/>
              </a:ext>
            </a:extLst>
          </p:cNvPr>
          <p:cNvSpPr>
            <a:spLocks noChangeShapeType="1"/>
          </p:cNvSpPr>
          <p:nvPr/>
        </p:nvSpPr>
        <p:spPr bwMode="auto">
          <a:xfrm>
            <a:off x="3613957" y="246397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19" name="Text Box 19">
            <a:extLst>
              <a:ext uri="{FF2B5EF4-FFF2-40B4-BE49-F238E27FC236}">
                <a16:creationId xmlns:a16="http://schemas.microsoft.com/office/drawing/2014/main" id="{39B4A092-5799-5DE7-0DC1-5E8358D7ECF8}"/>
              </a:ext>
            </a:extLst>
          </p:cNvPr>
          <p:cNvSpPr txBox="1">
            <a:spLocks noChangeArrowheads="1"/>
          </p:cNvSpPr>
          <p:nvPr/>
        </p:nvSpPr>
        <p:spPr bwMode="auto">
          <a:xfrm>
            <a:off x="5246780" y="2636838"/>
            <a:ext cx="1111202"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20" name="Line 20">
            <a:extLst>
              <a:ext uri="{FF2B5EF4-FFF2-40B4-BE49-F238E27FC236}">
                <a16:creationId xmlns:a16="http://schemas.microsoft.com/office/drawing/2014/main" id="{4592D73D-0E17-AFDF-AA65-533C8F4C0EE7}"/>
              </a:ext>
            </a:extLst>
          </p:cNvPr>
          <p:cNvSpPr>
            <a:spLocks noChangeShapeType="1"/>
          </p:cNvSpPr>
          <p:nvPr/>
        </p:nvSpPr>
        <p:spPr bwMode="auto">
          <a:xfrm flipH="1">
            <a:off x="3613957" y="2519708"/>
            <a:ext cx="1709023" cy="164755"/>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21" name="Line 21">
            <a:extLst>
              <a:ext uri="{FF2B5EF4-FFF2-40B4-BE49-F238E27FC236}">
                <a16:creationId xmlns:a16="http://schemas.microsoft.com/office/drawing/2014/main" id="{B594ABCB-A492-45BD-DF4B-263E6012B47F}"/>
              </a:ext>
            </a:extLst>
          </p:cNvPr>
          <p:cNvSpPr>
            <a:spLocks noChangeShapeType="1"/>
          </p:cNvSpPr>
          <p:nvPr/>
        </p:nvSpPr>
        <p:spPr bwMode="auto">
          <a:xfrm flipH="1">
            <a:off x="3613957" y="2684463"/>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22" name="Text Box 22">
            <a:extLst>
              <a:ext uri="{FF2B5EF4-FFF2-40B4-BE49-F238E27FC236}">
                <a16:creationId xmlns:a16="http://schemas.microsoft.com/office/drawing/2014/main" id="{EEF635F2-532C-5ECE-D727-C20CE09C11DF}"/>
              </a:ext>
            </a:extLst>
          </p:cNvPr>
          <p:cNvSpPr txBox="1">
            <a:spLocks noChangeArrowheads="1"/>
          </p:cNvSpPr>
          <p:nvPr/>
        </p:nvSpPr>
        <p:spPr bwMode="auto">
          <a:xfrm>
            <a:off x="2568478" y="2734052"/>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6</a:t>
            </a:r>
          </a:p>
        </p:txBody>
      </p:sp>
      <p:sp>
        <p:nvSpPr>
          <p:cNvPr id="23" name="Text Box 23">
            <a:extLst>
              <a:ext uri="{FF2B5EF4-FFF2-40B4-BE49-F238E27FC236}">
                <a16:creationId xmlns:a16="http://schemas.microsoft.com/office/drawing/2014/main" id="{6A8DD5FF-A836-40B3-E8F6-D4754018F8EF}"/>
              </a:ext>
            </a:extLst>
          </p:cNvPr>
          <p:cNvSpPr txBox="1">
            <a:spLocks noChangeArrowheads="1"/>
          </p:cNvSpPr>
          <p:nvPr/>
        </p:nvSpPr>
        <p:spPr bwMode="auto">
          <a:xfrm>
            <a:off x="5237255" y="3405693"/>
            <a:ext cx="111280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6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24" name="Line 24">
            <a:extLst>
              <a:ext uri="{FF2B5EF4-FFF2-40B4-BE49-F238E27FC236}">
                <a16:creationId xmlns:a16="http://schemas.microsoft.com/office/drawing/2014/main" id="{D643796B-E745-7EA8-C566-A7D0AEBD8DA2}"/>
              </a:ext>
            </a:extLst>
          </p:cNvPr>
          <p:cNvSpPr>
            <a:spLocks noChangeShapeType="1"/>
          </p:cNvSpPr>
          <p:nvPr/>
        </p:nvSpPr>
        <p:spPr bwMode="auto">
          <a:xfrm flipH="1">
            <a:off x="3613957" y="3287744"/>
            <a:ext cx="1709023" cy="16557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25" name="Line 25">
            <a:extLst>
              <a:ext uri="{FF2B5EF4-FFF2-40B4-BE49-F238E27FC236}">
                <a16:creationId xmlns:a16="http://schemas.microsoft.com/office/drawing/2014/main" id="{D0B6D913-9A68-2293-88B4-0210B4195DC6}"/>
              </a:ext>
            </a:extLst>
          </p:cNvPr>
          <p:cNvSpPr>
            <a:spLocks noChangeShapeType="1"/>
          </p:cNvSpPr>
          <p:nvPr/>
        </p:nvSpPr>
        <p:spPr bwMode="auto">
          <a:xfrm flipH="1">
            <a:off x="3613957" y="3453318"/>
            <a:ext cx="1709023" cy="164754"/>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27" name="Text Box 28">
            <a:extLst>
              <a:ext uri="{FF2B5EF4-FFF2-40B4-BE49-F238E27FC236}">
                <a16:creationId xmlns:a16="http://schemas.microsoft.com/office/drawing/2014/main" id="{8A201BA8-5680-DA1A-0B4B-49D7721236D1}"/>
              </a:ext>
            </a:extLst>
          </p:cNvPr>
          <p:cNvSpPr txBox="1">
            <a:spLocks noChangeArrowheads="1"/>
          </p:cNvSpPr>
          <p:nvPr/>
        </p:nvSpPr>
        <p:spPr bwMode="auto">
          <a:xfrm>
            <a:off x="1729480" y="2174542"/>
            <a:ext cx="91082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2 </a:t>
            </a:r>
          </a:p>
        </p:txBody>
      </p:sp>
      <p:sp>
        <p:nvSpPr>
          <p:cNvPr id="28" name="Text Box 29">
            <a:extLst>
              <a:ext uri="{FF2B5EF4-FFF2-40B4-BE49-F238E27FC236}">
                <a16:creationId xmlns:a16="http://schemas.microsoft.com/office/drawing/2014/main" id="{46425CD1-2CC9-096C-2CFD-308A58E58438}"/>
              </a:ext>
            </a:extLst>
          </p:cNvPr>
          <p:cNvSpPr txBox="1">
            <a:spLocks noChangeArrowheads="1"/>
          </p:cNvSpPr>
          <p:nvPr/>
        </p:nvSpPr>
        <p:spPr bwMode="auto">
          <a:xfrm>
            <a:off x="1729480" y="2734052"/>
            <a:ext cx="909223"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3 </a:t>
            </a:r>
          </a:p>
        </p:txBody>
      </p:sp>
      <p:sp>
        <p:nvSpPr>
          <p:cNvPr id="29" name="Text Box 30">
            <a:extLst>
              <a:ext uri="{FF2B5EF4-FFF2-40B4-BE49-F238E27FC236}">
                <a16:creationId xmlns:a16="http://schemas.microsoft.com/office/drawing/2014/main" id="{3B3093A6-E21D-7EAB-CAC5-E2C5C5EDD9A5}"/>
              </a:ext>
            </a:extLst>
          </p:cNvPr>
          <p:cNvSpPr txBox="1">
            <a:spLocks noChangeArrowheads="1"/>
          </p:cNvSpPr>
          <p:nvPr/>
        </p:nvSpPr>
        <p:spPr bwMode="auto">
          <a:xfrm>
            <a:off x="2533212" y="3667221"/>
            <a:ext cx="108074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10</a:t>
            </a:r>
          </a:p>
        </p:txBody>
      </p:sp>
      <p:sp>
        <p:nvSpPr>
          <p:cNvPr id="30" name="Text Box 32">
            <a:extLst>
              <a:ext uri="{FF2B5EF4-FFF2-40B4-BE49-F238E27FC236}">
                <a16:creationId xmlns:a16="http://schemas.microsoft.com/office/drawing/2014/main" id="{9B6DE52E-9104-0B0B-DB11-FDBF10E266DE}"/>
              </a:ext>
            </a:extLst>
          </p:cNvPr>
          <p:cNvSpPr txBox="1">
            <a:spLocks noChangeArrowheads="1"/>
          </p:cNvSpPr>
          <p:nvPr/>
        </p:nvSpPr>
        <p:spPr bwMode="auto">
          <a:xfrm>
            <a:off x="4374784" y="3964411"/>
            <a:ext cx="28245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a:t>
            </a:r>
          </a:p>
        </p:txBody>
      </p:sp>
      <p:sp>
        <p:nvSpPr>
          <p:cNvPr id="31" name="Line 33">
            <a:extLst>
              <a:ext uri="{FF2B5EF4-FFF2-40B4-BE49-F238E27FC236}">
                <a16:creationId xmlns:a16="http://schemas.microsoft.com/office/drawing/2014/main" id="{236882B3-4A8D-8BDC-5E4A-51AC7197212C}"/>
              </a:ext>
            </a:extLst>
          </p:cNvPr>
          <p:cNvSpPr>
            <a:spLocks noChangeShapeType="1"/>
          </p:cNvSpPr>
          <p:nvPr/>
        </p:nvSpPr>
        <p:spPr bwMode="auto">
          <a:xfrm>
            <a:off x="3613957" y="2904136"/>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32" name="Line 34">
            <a:extLst>
              <a:ext uri="{FF2B5EF4-FFF2-40B4-BE49-F238E27FC236}">
                <a16:creationId xmlns:a16="http://schemas.microsoft.com/office/drawing/2014/main" id="{6FADE314-A341-045F-C2AF-F8643154D811}"/>
              </a:ext>
            </a:extLst>
          </p:cNvPr>
          <p:cNvSpPr>
            <a:spLocks noChangeShapeType="1"/>
          </p:cNvSpPr>
          <p:nvPr/>
        </p:nvSpPr>
        <p:spPr bwMode="auto">
          <a:xfrm>
            <a:off x="3613957" y="3068890"/>
            <a:ext cx="1709023" cy="16475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33" name="Line 35">
            <a:extLst>
              <a:ext uri="{FF2B5EF4-FFF2-40B4-BE49-F238E27FC236}">
                <a16:creationId xmlns:a16="http://schemas.microsoft.com/office/drawing/2014/main" id="{0CF48250-DBD2-9578-5585-ABE45A196C59}"/>
              </a:ext>
            </a:extLst>
          </p:cNvPr>
          <p:cNvSpPr>
            <a:spLocks noChangeShapeType="1"/>
          </p:cNvSpPr>
          <p:nvPr/>
        </p:nvSpPr>
        <p:spPr bwMode="auto">
          <a:xfrm>
            <a:off x="3613957" y="3233645"/>
            <a:ext cx="1709023" cy="16475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effectLst/>
              <a:uLnTx/>
              <a:uFillTx/>
              <a:latin typeface="Montserrat" panose="00000500000000000000" pitchFamily="2" charset="0"/>
              <a:ea typeface="微软雅黑 Light" panose="020B0502040204020203" pitchFamily="34" charset="-122"/>
            </a:endParaRPr>
          </a:p>
        </p:txBody>
      </p:sp>
      <p:sp>
        <p:nvSpPr>
          <p:cNvPr id="35" name="Text Box 29">
            <a:extLst>
              <a:ext uri="{FF2B5EF4-FFF2-40B4-BE49-F238E27FC236}">
                <a16:creationId xmlns:a16="http://schemas.microsoft.com/office/drawing/2014/main" id="{52CEB261-47DA-C88E-A088-758AE7402930}"/>
              </a:ext>
            </a:extLst>
          </p:cNvPr>
          <p:cNvSpPr txBox="1">
            <a:spLocks noChangeArrowheads="1"/>
          </p:cNvSpPr>
          <p:nvPr/>
        </p:nvSpPr>
        <p:spPr bwMode="auto">
          <a:xfrm>
            <a:off x="1729480" y="3667221"/>
            <a:ext cx="923651"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cwnd = 4 </a:t>
            </a:r>
          </a:p>
        </p:txBody>
      </p:sp>
      <p:sp>
        <p:nvSpPr>
          <p:cNvPr id="39" name="Text Box 28">
            <a:extLst>
              <a:ext uri="{FF2B5EF4-FFF2-40B4-BE49-F238E27FC236}">
                <a16:creationId xmlns:a16="http://schemas.microsoft.com/office/drawing/2014/main" id="{21242E2C-7970-A9D2-F46F-D5012B2F8252}"/>
              </a:ext>
            </a:extLst>
          </p:cNvPr>
          <p:cNvSpPr txBox="1">
            <a:spLocks noChangeArrowheads="1"/>
          </p:cNvSpPr>
          <p:nvPr/>
        </p:nvSpPr>
        <p:spPr bwMode="auto">
          <a:xfrm>
            <a:off x="1729480" y="1649213"/>
            <a:ext cx="910827" cy="276999"/>
          </a:xfrm>
          <a:prstGeom prst="rect">
            <a:avLst/>
          </a:prstGeom>
          <a:noFill/>
          <a:ln>
            <a:noFill/>
          </a:ln>
          <a:effectLst/>
        </p:spPr>
        <p:txBody>
          <a:bodyPr wrap="none" anchor="ct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200" b="0" kern="0" dirty="0">
                <a:latin typeface="Montserrat" panose="00000500000000000000" pitchFamily="2" charset="0"/>
                <a:ea typeface="微软雅黑 Light" panose="020B0502040204020203" pitchFamily="34" charset="-122"/>
              </a:rPr>
              <a:t>cwnd = 1 </a:t>
            </a:r>
          </a:p>
        </p:txBody>
      </p:sp>
      <p:sp>
        <p:nvSpPr>
          <p:cNvPr id="40" name="Text Box 155">
            <a:extLst>
              <a:ext uri="{FF2B5EF4-FFF2-40B4-BE49-F238E27FC236}">
                <a16:creationId xmlns:a16="http://schemas.microsoft.com/office/drawing/2014/main" id="{58D0C520-8C40-012D-6382-1EAE68B5731C}"/>
              </a:ext>
            </a:extLst>
          </p:cNvPr>
          <p:cNvSpPr txBox="1">
            <a:spLocks noChangeArrowheads="1"/>
          </p:cNvSpPr>
          <p:nvPr/>
        </p:nvSpPr>
        <p:spPr bwMode="auto">
          <a:xfrm>
            <a:off x="1659118" y="642816"/>
            <a:ext cx="5910606" cy="282641"/>
          </a:xfrm>
          <a:prstGeom prst="rect">
            <a:avLst/>
          </a:prstGeom>
          <a:solidFill>
            <a:srgbClr val="000099"/>
          </a:solidFill>
          <a:ln w="9525">
            <a:noFill/>
            <a:miter lim="800000"/>
            <a:headEnd/>
            <a:tailEnd/>
          </a:ln>
          <a:effectLst/>
        </p:spPr>
        <p:txBody>
          <a:bodyPr wrap="square">
            <a:spAutoFit/>
          </a:bodyPr>
          <a:lstStyle>
            <a:defPPr>
              <a:defRPr lang="zh-CN"/>
            </a:defPPr>
            <a:lvl1pPr algn="ctr">
              <a:lnSpc>
                <a:spcPct val="110000"/>
              </a:lnSpc>
              <a:defRPr sz="1200">
                <a:solidFill>
                  <a:schemeClr val="bg1"/>
                </a:solidFill>
                <a:latin typeface="Montserrat" panose="00000500000000000000" pitchFamily="2" charset="0"/>
                <a:ea typeface="微软雅黑 Light" panose="020B0502040204020203" pitchFamily="34" charset="-122"/>
              </a:defRPr>
            </a:lvl1pPr>
          </a:lstStyle>
          <a:p>
            <a:r>
              <a:rPr lang="zh-CN" altLang="en-US" dirty="0"/>
              <a:t>每经过一个往返时间 </a:t>
            </a:r>
            <a:r>
              <a:rPr lang="en-US" altLang="zh-CN" dirty="0"/>
              <a:t>RTT</a:t>
            </a:r>
            <a:r>
              <a:rPr lang="zh-CN" altLang="en-US" dirty="0"/>
              <a:t>，发送方就把拥塞窗口 </a:t>
            </a:r>
            <a:r>
              <a:rPr lang="en-US" altLang="zh-CN" dirty="0"/>
              <a:t>cwnd </a:t>
            </a:r>
            <a:r>
              <a:rPr lang="zh-CN" altLang="en-US" dirty="0"/>
              <a:t>加 </a:t>
            </a:r>
            <a:r>
              <a:rPr lang="en-US" altLang="zh-CN" dirty="0"/>
              <a:t>1</a:t>
            </a:r>
            <a:r>
              <a:rPr lang="zh-CN" altLang="en-US" dirty="0"/>
              <a:t>。 </a:t>
            </a:r>
          </a:p>
        </p:txBody>
      </p:sp>
      <p:sp>
        <p:nvSpPr>
          <p:cNvPr id="2" name="标题 1">
            <a:extLst>
              <a:ext uri="{FF2B5EF4-FFF2-40B4-BE49-F238E27FC236}">
                <a16:creationId xmlns:a16="http://schemas.microsoft.com/office/drawing/2014/main" id="{B8E266F0-19A3-5C64-6BA2-AF1A75C200B7}"/>
              </a:ext>
            </a:extLst>
          </p:cNvPr>
          <p:cNvSpPr>
            <a:spLocks noGrp="1"/>
          </p:cNvSpPr>
          <p:nvPr>
            <p:ph type="title"/>
          </p:nvPr>
        </p:nvSpPr>
        <p:spPr/>
        <p:txBody>
          <a:bodyPr/>
          <a:lstStyle/>
          <a:p>
            <a:r>
              <a:rPr lang="zh-CN" altLang="en-US" dirty="0"/>
              <a:t>单独确认</a:t>
            </a:r>
          </a:p>
        </p:txBody>
      </p:sp>
      <p:sp>
        <p:nvSpPr>
          <p:cNvPr id="3" name="Text Box 40">
            <a:extLst>
              <a:ext uri="{FF2B5EF4-FFF2-40B4-BE49-F238E27FC236}">
                <a16:creationId xmlns:a16="http://schemas.microsoft.com/office/drawing/2014/main" id="{D856B3C6-5E2B-8F1B-10A9-E1D7E161AF11}"/>
              </a:ext>
            </a:extLst>
          </p:cNvPr>
          <p:cNvSpPr txBox="1">
            <a:spLocks noChangeArrowheads="1"/>
          </p:cNvSpPr>
          <p:nvPr/>
        </p:nvSpPr>
        <p:spPr bwMode="auto">
          <a:xfrm>
            <a:off x="6788608" y="1846780"/>
            <a:ext cx="502061"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RTT1</a:t>
            </a:r>
            <a:endParaRPr kumimoji="0" lang="en-US" altLang="zh-CN" sz="1050" b="0" i="0" u="none" strike="noStrike" kern="0" cap="none" spc="0" normalizeH="0" baseline="0" noProof="0" dirty="0">
              <a:ln>
                <a:noFill/>
              </a:ln>
              <a:solidFill>
                <a:sysClr val="windowText" lastClr="000000"/>
              </a:solidFill>
              <a:effectLst/>
              <a:uLnTx/>
              <a:uFillTx/>
              <a:latin typeface="Montserrat" panose="00000500000000000000" pitchFamily="2" charset="0"/>
              <a:ea typeface="微软雅黑 Light" panose="020B0502040204020203" pitchFamily="34" charset="-122"/>
            </a:endParaRPr>
          </a:p>
        </p:txBody>
      </p:sp>
      <p:sp>
        <p:nvSpPr>
          <p:cNvPr id="26" name="Text Box 41">
            <a:extLst>
              <a:ext uri="{FF2B5EF4-FFF2-40B4-BE49-F238E27FC236}">
                <a16:creationId xmlns:a16="http://schemas.microsoft.com/office/drawing/2014/main" id="{8E401F7B-F08D-F304-3114-8155E9C259DA}"/>
              </a:ext>
            </a:extLst>
          </p:cNvPr>
          <p:cNvSpPr txBox="1">
            <a:spLocks noChangeArrowheads="1"/>
          </p:cNvSpPr>
          <p:nvPr/>
        </p:nvSpPr>
        <p:spPr bwMode="auto">
          <a:xfrm>
            <a:off x="6756548" y="2405905"/>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RTT2</a:t>
            </a:r>
          </a:p>
        </p:txBody>
      </p:sp>
      <p:sp>
        <p:nvSpPr>
          <p:cNvPr id="34" name="Text Box 42">
            <a:extLst>
              <a:ext uri="{FF2B5EF4-FFF2-40B4-BE49-F238E27FC236}">
                <a16:creationId xmlns:a16="http://schemas.microsoft.com/office/drawing/2014/main" id="{9C4B4B82-57E2-E530-A7DF-32C6FD16F42C}"/>
              </a:ext>
            </a:extLst>
          </p:cNvPr>
          <p:cNvSpPr txBox="1">
            <a:spLocks noChangeArrowheads="1"/>
          </p:cNvSpPr>
          <p:nvPr/>
        </p:nvSpPr>
        <p:spPr bwMode="auto">
          <a:xfrm>
            <a:off x="6758151" y="3209080"/>
            <a:ext cx="530915" cy="261610"/>
          </a:xfrm>
          <a:prstGeom prst="rect">
            <a:avLst/>
          </a:prstGeom>
          <a:noFill/>
          <a:ln>
            <a:noFill/>
          </a:ln>
          <a:effec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lvl="0" eaLnBrk="1" hangingPunct="1">
              <a:defRPr/>
            </a:pPr>
            <a:r>
              <a:rPr kumimoji="0" lang="en-US" altLang="zh-CN" sz="1050" b="0" kern="0" dirty="0">
                <a:solidFill>
                  <a:sysClr val="windowText" lastClr="000000"/>
                </a:solidFill>
                <a:latin typeface="Montserrat" panose="00000500000000000000" pitchFamily="2" charset="0"/>
                <a:ea typeface="微软雅黑 Light" panose="020B0502040204020203" pitchFamily="34" charset="-122"/>
              </a:rPr>
              <a:t>RTT3</a:t>
            </a:r>
          </a:p>
        </p:txBody>
      </p:sp>
    </p:spTree>
    <p:extLst>
      <p:ext uri="{BB962C8B-B14F-4D97-AF65-F5344CB8AC3E}">
        <p14:creationId xmlns:p14="http://schemas.microsoft.com/office/powerpoint/2010/main" val="34113038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indefinite" fill="hold" grpId="0" nodeType="afterEffect">
                                  <p:stCondLst>
                                    <p:cond delay="0"/>
                                  </p:stCondLst>
                                  <p:endCondLst>
                                    <p:cond evt="onNext" delay="0">
                                      <p:tgtEl>
                                        <p:sldTgt/>
                                      </p:tgtEl>
                                    </p:cond>
                                  </p:endCondLst>
                                  <p:childTnLst>
                                    <p:anim calcmode="discrete" valueType="str">
                                      <p:cBhvr>
                                        <p:cTn id="6" dur="1000" fill="hold"/>
                                        <p:tgtEl>
                                          <p:spTgt spid="34"/>
                                        </p:tgtEl>
                                        <p:attrNameLst>
                                          <p:attrName>style.visibility</p:attrName>
                                        </p:attrNameLst>
                                      </p:cBhvr>
                                      <p:tavLst>
                                        <p:tav tm="0">
                                          <p:val>
                                            <p:strVal val="hidden"/>
                                          </p:val>
                                        </p:tav>
                                        <p:tav tm="50000">
                                          <p:val>
                                            <p:strVal val="visible"/>
                                          </p:val>
                                        </p:tav>
                                      </p:tavLst>
                                    </p:anim>
                                  </p:childTnLst>
                                </p:cTn>
                              </p:par>
                              <p:par>
                                <p:cTn id="7" presetID="35" presetClass="emph" presetSubtype="0" repeatCount="indefinite" fill="hold" grpId="0" nodeType="withEffect">
                                  <p:stCondLst>
                                    <p:cond delay="0"/>
                                  </p:stCondLst>
                                  <p:endCondLst>
                                    <p:cond evt="onNext" delay="0">
                                      <p:tgtEl>
                                        <p:sldTgt/>
                                      </p:tgtEl>
                                    </p:cond>
                                  </p:endCondLst>
                                  <p:childTnLst>
                                    <p:anim calcmode="discrete" valueType="str">
                                      <p:cBhvr>
                                        <p:cTn id="8" dur="1000" fill="hold"/>
                                        <p:tgtEl>
                                          <p:spTgt spid="26"/>
                                        </p:tgtEl>
                                        <p:attrNameLst>
                                          <p:attrName>style.visibility</p:attrName>
                                        </p:attrNameLst>
                                      </p:cBhvr>
                                      <p:tavLst>
                                        <p:tav tm="0">
                                          <p:val>
                                            <p:strVal val="hidden"/>
                                          </p:val>
                                        </p:tav>
                                        <p:tav tm="50000">
                                          <p:val>
                                            <p:strVal val="visible"/>
                                          </p:val>
                                        </p:tav>
                                      </p:tavLst>
                                    </p:anim>
                                  </p:childTnLst>
                                </p:cTn>
                              </p:par>
                              <p:par>
                                <p:cTn id="9" presetID="35" presetClass="emph" presetSubtype="0" repeatCount="indefinite" fill="hold" grpId="0" nodeType="withEffect">
                                  <p:stCondLst>
                                    <p:cond delay="0"/>
                                  </p:stCondLst>
                                  <p:endCondLst>
                                    <p:cond evt="onNext" delay="0">
                                      <p:tgtEl>
                                        <p:sldTgt/>
                                      </p:tgtEl>
                                    </p:cond>
                                  </p:endCondLst>
                                  <p:childTnLst>
                                    <p:anim calcmode="discrete" valueType="str">
                                      <p:cBhvr>
                                        <p:cTn id="10" dur="1000" fill="hold"/>
                                        <p:tgtEl>
                                          <p:spTgt spid="3"/>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6" grpId="0"/>
      <p:bldP spid="34" grpId="0"/>
    </p:bld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a:extLst>
              <a:ext uri="{FF2B5EF4-FFF2-40B4-BE49-F238E27FC236}">
                <a16:creationId xmlns:a16="http://schemas.microsoft.com/office/drawing/2014/main" id="{8983B389-E38D-BE4A-32AC-05557FA075A6}"/>
              </a:ext>
            </a:extLst>
          </p:cNvPr>
          <p:cNvSpPr>
            <a:spLocks noGrp="1"/>
          </p:cNvSpPr>
          <p:nvPr>
            <p:ph sz="quarter" idx="11"/>
          </p:nvPr>
        </p:nvSpPr>
        <p:spPr>
          <a:xfrm>
            <a:off x="486000" y="482554"/>
            <a:ext cx="8172000" cy="4120946"/>
          </a:xfrm>
        </p:spPr>
        <p:txBody>
          <a:bodyPr/>
          <a:lstStyle/>
          <a:p>
            <a:r>
              <a:rPr lang="zh-CN" altLang="en-US" dirty="0"/>
              <a:t>无论在慢开始阶段还是在拥塞避免阶段，只要发送方判断网络出现拥塞（重传定时器超时）：</a:t>
            </a:r>
          </a:p>
          <a:p>
            <a:pPr lvl="1"/>
            <a:r>
              <a:rPr lang="en-US" altLang="zh-CN" dirty="0"/>
              <a:t>ssthresh = max (cwnd/2</a:t>
            </a:r>
            <a:r>
              <a:rPr lang="zh-CN" altLang="en-US" dirty="0"/>
              <a:t>，</a:t>
            </a:r>
            <a:r>
              <a:rPr lang="en-US" altLang="zh-CN" dirty="0"/>
              <a:t>2)</a:t>
            </a:r>
          </a:p>
          <a:p>
            <a:pPr lvl="1"/>
            <a:r>
              <a:rPr lang="en-US" altLang="zh-CN" dirty="0"/>
              <a:t>cwnd = 1</a:t>
            </a:r>
          </a:p>
          <a:p>
            <a:pPr lvl="1"/>
            <a:r>
              <a:rPr lang="zh-CN" altLang="en-US" dirty="0"/>
              <a:t>执行慢开始算法</a:t>
            </a:r>
          </a:p>
          <a:p>
            <a:r>
              <a:rPr lang="zh-CN" altLang="en-US" dirty="0"/>
              <a:t>目的：迅速减少主机发送到网络中的分组数，使得发生拥塞的路由器有足够时间把队列中积压的分组处理完毕。 </a:t>
            </a:r>
          </a:p>
          <a:p>
            <a:endParaRPr lang="zh-CN" altLang="en-US" dirty="0"/>
          </a:p>
        </p:txBody>
      </p:sp>
      <p:sp>
        <p:nvSpPr>
          <p:cNvPr id="2" name="标题 1">
            <a:extLst>
              <a:ext uri="{FF2B5EF4-FFF2-40B4-BE49-F238E27FC236}">
                <a16:creationId xmlns:a16="http://schemas.microsoft.com/office/drawing/2014/main" id="{3BB718E9-CFD1-EF48-7320-866540EC23D3}"/>
              </a:ext>
            </a:extLst>
          </p:cNvPr>
          <p:cNvSpPr>
            <a:spLocks noGrp="1"/>
          </p:cNvSpPr>
          <p:nvPr>
            <p:ph type="title"/>
          </p:nvPr>
        </p:nvSpPr>
        <p:spPr>
          <a:xfrm>
            <a:off x="2808000" y="144000"/>
            <a:ext cx="3528000" cy="338554"/>
          </a:xfrm>
        </p:spPr>
        <p:txBody>
          <a:bodyPr/>
          <a:lstStyle/>
          <a:p>
            <a:r>
              <a:rPr lang="zh-CN" altLang="en-US"/>
              <a:t>当网络出现拥塞时</a:t>
            </a:r>
            <a:endParaRPr lang="zh-CN" altLang="en-US" dirty="0"/>
          </a:p>
        </p:txBody>
      </p:sp>
    </p:spTree>
    <p:extLst>
      <p:ext uri="{BB962C8B-B14F-4D97-AF65-F5344CB8AC3E}">
        <p14:creationId xmlns:p14="http://schemas.microsoft.com/office/powerpoint/2010/main" val="224375929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 Box 155"/>
          <p:cNvSpPr txBox="1">
            <a:spLocks noChangeArrowheads="1"/>
          </p:cNvSpPr>
          <p:nvPr/>
        </p:nvSpPr>
        <p:spPr bwMode="auto">
          <a:xfrm>
            <a:off x="1655268" y="3391025"/>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 </a:t>
            </a:r>
            <a:r>
              <a:rPr lang="en-US" altLang="zh-CN" sz="1600" b="1" dirty="0">
                <a:solidFill>
                  <a:srgbClr val="0000FF"/>
                </a:solidFill>
                <a:latin typeface="微软雅黑" pitchFamily="34" charset="-122"/>
                <a:ea typeface="微软雅黑" pitchFamily="34" charset="-122"/>
              </a:rPr>
              <a:t>TCP </a:t>
            </a:r>
            <a:r>
              <a:rPr lang="zh-CN" altLang="en-US" sz="1600" b="1" dirty="0">
                <a:solidFill>
                  <a:srgbClr val="0000FF"/>
                </a:solidFill>
                <a:latin typeface="微软雅黑" pitchFamily="34" charset="-122"/>
                <a:ea typeface="微软雅黑" pitchFamily="34" charset="-122"/>
              </a:rPr>
              <a:t>连接进行初始化时，将拥塞窗口置为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（窗口单位不使用字节而使用报文段）。</a:t>
            </a:r>
          </a:p>
        </p:txBody>
      </p:sp>
      <p:sp>
        <p:nvSpPr>
          <p:cNvPr id="170" name="Text Box 155"/>
          <p:cNvSpPr txBox="1">
            <a:spLocks noChangeArrowheads="1"/>
          </p:cNvSpPr>
          <p:nvPr/>
        </p:nvSpPr>
        <p:spPr bwMode="auto">
          <a:xfrm>
            <a:off x="1655268" y="3954770"/>
            <a:ext cx="6300012"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将慢开始门限的初始值设置为 </a:t>
            </a:r>
            <a:r>
              <a:rPr lang="en-US" altLang="zh-CN" sz="1600" b="1" dirty="0">
                <a:solidFill>
                  <a:srgbClr val="0000FF"/>
                </a:solidFill>
                <a:latin typeface="微软雅黑" pitchFamily="34" charset="-122"/>
                <a:ea typeface="微软雅黑" pitchFamily="34" charset="-122"/>
              </a:rPr>
              <a:t>16 </a:t>
            </a:r>
            <a:r>
              <a:rPr lang="zh-CN" altLang="en-US" sz="1600" b="1" dirty="0">
                <a:solidFill>
                  <a:srgbClr val="0000FF"/>
                </a:solidFill>
                <a:latin typeface="微软雅黑" pitchFamily="34" charset="-122"/>
                <a:ea typeface="微软雅黑" pitchFamily="34" charset="-122"/>
              </a:rPr>
              <a:t>个报文段，即 </a:t>
            </a:r>
            <a:r>
              <a:rPr lang="en-US" altLang="zh-CN" sz="1600" b="1" dirty="0">
                <a:solidFill>
                  <a:srgbClr val="0000FF"/>
                </a:solidFill>
                <a:latin typeface="微软雅黑" pitchFamily="34" charset="-122"/>
                <a:ea typeface="微软雅黑" pitchFamily="34" charset="-122"/>
              </a:rPr>
              <a:t>ssthresh = 16</a:t>
            </a:r>
            <a:r>
              <a:rPr lang="zh-CN" altLang="en-US" sz="1600" b="1" dirty="0">
                <a:solidFill>
                  <a:srgbClr val="0000FF"/>
                </a:solidFill>
                <a:latin typeface="微软雅黑" pitchFamily="34" charset="-122"/>
                <a:ea typeface="微软雅黑" pitchFamily="34" charset="-122"/>
              </a:rPr>
              <a:t>。</a:t>
            </a:r>
          </a:p>
        </p:txBody>
      </p:sp>
      <p:grpSp>
        <p:nvGrpSpPr>
          <p:cNvPr id="122" name="组合 121"/>
          <p:cNvGrpSpPr/>
          <p:nvPr/>
        </p:nvGrpSpPr>
        <p:grpSpPr>
          <a:xfrm>
            <a:off x="1317046" y="1115751"/>
            <a:ext cx="6855510" cy="2262108"/>
            <a:chOff x="1317046" y="1115751"/>
            <a:chExt cx="6855510" cy="2262108"/>
          </a:xfrm>
        </p:grpSpPr>
        <p:grpSp>
          <p:nvGrpSpPr>
            <p:cNvPr id="153" name="组合 152"/>
            <p:cNvGrpSpPr/>
            <p:nvPr/>
          </p:nvGrpSpPr>
          <p:grpSpPr>
            <a:xfrm>
              <a:off x="1317046" y="1115751"/>
              <a:ext cx="6808860" cy="2262108"/>
              <a:chOff x="300646" y="840152"/>
              <a:chExt cx="9638211" cy="3093013"/>
            </a:xfrm>
          </p:grpSpPr>
          <p:sp>
            <p:nvSpPr>
              <p:cNvPr id="172"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73"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4"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5"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9"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204"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05"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206"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7"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208"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9"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210"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11"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212"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13"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214"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5"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16"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17"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18"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19"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20"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21"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37"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238"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42"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43"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45"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4"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55"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6"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59"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60"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61"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65"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6" name="直接连接符 134"/>
              <p:cNvCxnSpPr>
                <a:cxnSpLocks noChangeShapeType="1"/>
                <a:stCxn id="257" idx="4"/>
                <a:endCxn id="261" idx="3"/>
              </p:cNvCxnSpPr>
              <p:nvPr/>
            </p:nvCxnSpPr>
            <p:spPr bwMode="auto">
              <a:xfrm>
                <a:off x="6706617" y="2109019"/>
                <a:ext cx="200025" cy="785812"/>
              </a:xfrm>
              <a:prstGeom prst="line">
                <a:avLst/>
              </a:prstGeom>
              <a:noFill/>
              <a:ln w="19050" algn="ctr">
                <a:solidFill>
                  <a:srgbClr val="0000FF"/>
                </a:solidFill>
                <a:round/>
                <a:headEnd/>
                <a:tailEnd/>
              </a:ln>
            </p:spPr>
          </p:cxnSp>
          <p:sp>
            <p:nvSpPr>
              <p:cNvPr id="267"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8"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69"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0"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71"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72" name="直接连接符 271"/>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73"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74"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5"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6"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7"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78"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79" name="直接连接符 278"/>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80"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71"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1" name="Line 167"/>
          <p:cNvSpPr>
            <a:spLocks noChangeShapeType="1"/>
          </p:cNvSpPr>
          <p:nvPr/>
        </p:nvSpPr>
        <p:spPr bwMode="auto">
          <a:xfrm>
            <a:off x="2058564" y="2960685"/>
            <a:ext cx="376817" cy="111459"/>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2" name="Line 167"/>
          <p:cNvSpPr>
            <a:spLocks noChangeShapeType="1"/>
          </p:cNvSpPr>
          <p:nvPr/>
        </p:nvSpPr>
        <p:spPr bwMode="auto">
          <a:xfrm>
            <a:off x="4264620" y="2953682"/>
            <a:ext cx="262426" cy="98688"/>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83" name="Text Box 209"/>
          <p:cNvSpPr txBox="1">
            <a:spLocks noChangeArrowheads="1"/>
          </p:cNvSpPr>
          <p:nvPr/>
        </p:nvSpPr>
        <p:spPr bwMode="auto">
          <a:xfrm>
            <a:off x="1393490" y="2710463"/>
            <a:ext cx="753634"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
        <p:nvSpPr>
          <p:cNvPr id="284" name="Text Box 209"/>
          <p:cNvSpPr txBox="1">
            <a:spLocks noChangeArrowheads="1"/>
          </p:cNvSpPr>
          <p:nvPr/>
        </p:nvSpPr>
        <p:spPr bwMode="auto">
          <a:xfrm>
            <a:off x="3532258" y="2694952"/>
            <a:ext cx="753635" cy="297093"/>
          </a:xfrm>
          <a:prstGeom prst="rect">
            <a:avLst/>
          </a:prstGeom>
          <a:solidFill>
            <a:srgbClr val="00FF99"/>
          </a:solidFill>
          <a:ln w="9525">
            <a:solidFill>
              <a:srgbClr val="000000"/>
            </a:solidFill>
            <a:miter lim="800000"/>
            <a:headEnd/>
            <a:tailEnd/>
          </a:ln>
          <a:effectLst/>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rPr>
              <a:t>慢开始</a:t>
            </a:r>
          </a:p>
        </p:txBody>
      </p:sp>
      <p:sp>
        <p:nvSpPr>
          <p:cNvPr id="2" name="标题 1">
            <a:extLst>
              <a:ext uri="{FF2B5EF4-FFF2-40B4-BE49-F238E27FC236}">
                <a16:creationId xmlns:a16="http://schemas.microsoft.com/office/drawing/2014/main" id="{3A1F63B5-2F2A-459B-5352-943DCBE5B957}"/>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3568084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Text Box 155"/>
          <p:cNvSpPr txBox="1">
            <a:spLocks noChangeArrowheads="1"/>
          </p:cNvSpPr>
          <p:nvPr/>
        </p:nvSpPr>
        <p:spPr bwMode="auto">
          <a:xfrm>
            <a:off x="1702402" y="3485394"/>
            <a:ext cx="6131271" cy="363176"/>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开始执行慢开始算法时，拥塞窗口 </a:t>
            </a:r>
            <a:r>
              <a:rPr lang="en-US" altLang="zh-CN" sz="1600" b="1" dirty="0">
                <a:solidFill>
                  <a:srgbClr val="0000FF"/>
                </a:solidFill>
                <a:latin typeface="微软雅黑" pitchFamily="34" charset="-122"/>
                <a:ea typeface="微软雅黑" pitchFamily="34" charset="-122"/>
              </a:rPr>
              <a:t>cwnd=1</a:t>
            </a:r>
            <a:r>
              <a:rPr lang="zh-CN" altLang="en-US" sz="1600" b="1" dirty="0">
                <a:solidFill>
                  <a:srgbClr val="0000FF"/>
                </a:solidFill>
                <a:latin typeface="微软雅黑" pitchFamily="34" charset="-122"/>
                <a:ea typeface="微软雅黑" pitchFamily="34" charset="-122"/>
              </a:rPr>
              <a:t>，发送第一个报文段。</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3" name="Line 167"/>
          <p:cNvSpPr>
            <a:spLocks noChangeShapeType="1"/>
          </p:cNvSpPr>
          <p:nvPr/>
        </p:nvSpPr>
        <p:spPr bwMode="auto">
          <a:xfrm>
            <a:off x="1968382" y="272449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439BE35F-D1C3-2411-6F72-DC0A252AFD9B}"/>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9082961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a:solidFill>
                  <a:srgbClr val="0000FF"/>
                </a:solidFill>
                <a:latin typeface="微软雅黑" pitchFamily="34" charset="-122"/>
                <a:ea typeface="微软雅黑" pitchFamily="34" charset="-122"/>
              </a:rPr>
              <a:t>cwnd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2117253" y="2660866"/>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A1F374F8-EA85-B314-D0F0-96E3C1A781D4}"/>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156007124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a:solidFill>
                  <a:srgbClr val="0000FF"/>
                </a:solidFill>
                <a:latin typeface="微软雅黑" pitchFamily="34" charset="-122"/>
                <a:ea typeface="微软雅黑" pitchFamily="34" charset="-122"/>
              </a:rPr>
              <a:t>cwnd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279464" y="25316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CD88A09C-5201-6E5B-0478-4D168B78C294}"/>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23419923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 Box 155"/>
          <p:cNvSpPr txBox="1">
            <a:spLocks noChangeArrowheads="1"/>
          </p:cNvSpPr>
          <p:nvPr/>
        </p:nvSpPr>
        <p:spPr bwMode="auto">
          <a:xfrm>
            <a:off x="1655268" y="3420248"/>
            <a:ext cx="632867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，因此拥塞窗口 </a:t>
            </a:r>
            <a:r>
              <a:rPr lang="en-US" altLang="zh-CN" sz="1600" b="1" dirty="0">
                <a:solidFill>
                  <a:srgbClr val="0000FF"/>
                </a:solidFill>
                <a:latin typeface="微软雅黑" pitchFamily="34" charset="-122"/>
                <a:ea typeface="微软雅黑" pitchFamily="34" charset="-122"/>
              </a:rPr>
              <a:t>cwnd </a:t>
            </a:r>
            <a:r>
              <a:rPr lang="zh-CN" altLang="en-US" sz="1600" b="1" dirty="0">
                <a:solidFill>
                  <a:srgbClr val="0000FF"/>
                </a:solidFill>
                <a:latin typeface="微软雅黑" pitchFamily="34" charset="-122"/>
                <a:ea typeface="微软雅黑" pitchFamily="34" charset="-122"/>
              </a:rPr>
              <a:t>随着往返时延 </a:t>
            </a:r>
            <a:r>
              <a:rPr lang="en-US" altLang="zh-CN" sz="1600" b="1" dirty="0">
                <a:solidFill>
                  <a:srgbClr val="0000FF"/>
                </a:solidFill>
                <a:latin typeface="微软雅黑" pitchFamily="34" charset="-122"/>
                <a:ea typeface="微软雅黑" pitchFamily="34" charset="-122"/>
              </a:rPr>
              <a:t>RTT </a:t>
            </a:r>
            <a:r>
              <a:rPr lang="zh-CN" altLang="en-US" sz="1600" b="1" dirty="0">
                <a:solidFill>
                  <a:srgbClr val="0000FF"/>
                </a:solidFill>
                <a:latin typeface="微软雅黑" pitchFamily="34" charset="-122"/>
                <a:ea typeface="微软雅黑" pitchFamily="34" charset="-122"/>
              </a:rPr>
              <a:t>按指数规律增长。</a:t>
            </a:r>
          </a:p>
        </p:txBody>
      </p:sp>
      <p:grpSp>
        <p:nvGrpSpPr>
          <p:cNvPr id="237" name="组合 236"/>
          <p:cNvGrpSpPr/>
          <p:nvPr/>
        </p:nvGrpSpPr>
        <p:grpSpPr>
          <a:xfrm>
            <a:off x="1317046" y="1115751"/>
            <a:ext cx="6855510" cy="2262108"/>
            <a:chOff x="1317046" y="1115751"/>
            <a:chExt cx="6855510" cy="2262108"/>
          </a:xfrm>
        </p:grpSpPr>
        <p:grpSp>
          <p:nvGrpSpPr>
            <p:cNvPr id="238" name="组合 237"/>
            <p:cNvGrpSpPr/>
            <p:nvPr/>
          </p:nvGrpSpPr>
          <p:grpSpPr>
            <a:xfrm>
              <a:off x="1317046" y="1115751"/>
              <a:ext cx="6808860" cy="2262108"/>
              <a:chOff x="300646" y="840152"/>
              <a:chExt cx="9638211" cy="3093013"/>
            </a:xfrm>
          </p:grpSpPr>
          <p:sp>
            <p:nvSpPr>
              <p:cNvPr id="24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24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7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27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7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27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7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27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7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27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8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28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8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28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28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8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8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8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8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9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9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9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30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30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0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0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31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31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31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1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2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32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2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2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32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32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33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3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33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35" name="直接连接符 134"/>
              <p:cNvCxnSpPr>
                <a:cxnSpLocks noChangeShapeType="1"/>
                <a:stCxn id="326" idx="4"/>
                <a:endCxn id="330" idx="3"/>
              </p:cNvCxnSpPr>
              <p:nvPr/>
            </p:nvCxnSpPr>
            <p:spPr bwMode="auto">
              <a:xfrm>
                <a:off x="6706617" y="2109019"/>
                <a:ext cx="200025" cy="785812"/>
              </a:xfrm>
              <a:prstGeom prst="line">
                <a:avLst/>
              </a:prstGeom>
              <a:noFill/>
              <a:ln w="19050" algn="ctr">
                <a:solidFill>
                  <a:srgbClr val="0000FF"/>
                </a:solidFill>
                <a:round/>
                <a:headEnd/>
                <a:tailEnd/>
              </a:ln>
            </p:spPr>
          </p:cxnSp>
          <p:sp>
            <p:nvSpPr>
              <p:cNvPr id="33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33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3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34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341" name="直接连接符 34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34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34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4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34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348" name="直接连接符 34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34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23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24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2434414" y="2267461"/>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4D4AC7CA-8C6A-A7E1-E10B-C21D5CC4B3D9}"/>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51516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xt Box 155"/>
          <p:cNvSpPr txBox="1">
            <a:spLocks noChangeArrowheads="1"/>
          </p:cNvSpPr>
          <p:nvPr/>
        </p:nvSpPr>
        <p:spPr bwMode="auto">
          <a:xfrm>
            <a:off x="1655268" y="3420248"/>
            <a:ext cx="5797092"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a:t>
            </a:r>
            <a:r>
              <a:rPr lang="zh-CN" altLang="en-US" sz="1600" b="1" dirty="0">
                <a:solidFill>
                  <a:srgbClr val="0000FF"/>
                </a:solidFill>
                <a:latin typeface="微软雅黑" pitchFamily="34" charset="-122"/>
                <a:ea typeface="微软雅黑" pitchFamily="34" charset="-122"/>
              </a:rPr>
              <a:t>增长到慢开始门限值 </a:t>
            </a:r>
            <a:r>
              <a:rPr lang="en-US" altLang="zh-CN" sz="1600" b="1" dirty="0">
                <a:solidFill>
                  <a:srgbClr val="0000FF"/>
                </a:solidFill>
                <a:latin typeface="微软雅黑" pitchFamily="34" charset="-122"/>
                <a:ea typeface="微软雅黑" pitchFamily="34" charset="-122"/>
              </a:rPr>
              <a:t>ssthresh </a:t>
            </a:r>
            <a:r>
              <a:rPr lang="zh-CN" altLang="en-US" sz="1600" b="1" dirty="0">
                <a:solidFill>
                  <a:srgbClr val="0000FF"/>
                </a:solidFill>
                <a:latin typeface="微软雅黑" pitchFamily="34" charset="-122"/>
                <a:ea typeface="微软雅黑" pitchFamily="34" charset="-122"/>
              </a:rPr>
              <a:t>时，改为执行拥塞避免算法，拥塞窗口按线性规律增长。</a:t>
            </a:r>
          </a:p>
        </p:txBody>
      </p:sp>
      <p:sp>
        <p:nvSpPr>
          <p:cNvPr id="148" name="Line 167"/>
          <p:cNvSpPr>
            <a:spLocks noChangeShapeType="1"/>
          </p:cNvSpPr>
          <p:nvPr/>
        </p:nvSpPr>
        <p:spPr bwMode="auto">
          <a:xfrm>
            <a:off x="2597067" y="1700944"/>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grpSp>
        <p:nvGrpSpPr>
          <p:cNvPr id="2" name="组合 1"/>
          <p:cNvGrpSpPr/>
          <p:nvPr/>
        </p:nvGrpSpPr>
        <p:grpSpPr>
          <a:xfrm>
            <a:off x="1317046" y="1115751"/>
            <a:ext cx="6855510" cy="2262108"/>
            <a:chOff x="1317046" y="1115751"/>
            <a:chExt cx="6855510" cy="2262108"/>
          </a:xfrm>
        </p:grpSpPr>
        <p:grpSp>
          <p:nvGrpSpPr>
            <p:cNvPr id="37" name="组合 36"/>
            <p:cNvGrpSpPr/>
            <p:nvPr/>
          </p:nvGrpSpPr>
          <p:grpSpPr>
            <a:xfrm>
              <a:off x="1317046" y="1115751"/>
              <a:ext cx="6808860" cy="2262108"/>
              <a:chOff x="300646" y="840152"/>
              <a:chExt cx="9638211" cy="3093013"/>
            </a:xfrm>
          </p:grpSpPr>
          <p:sp>
            <p:nvSpPr>
              <p:cNvPr id="3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3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4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5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6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7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7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7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7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7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7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7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7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7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7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8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8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8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8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8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8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8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8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8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9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0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0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0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0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0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0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11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1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2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12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2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12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12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12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2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3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32" name="直接连接符 134"/>
              <p:cNvCxnSpPr>
                <a:cxnSpLocks noChangeShapeType="1"/>
                <a:stCxn id="123" idx="4"/>
                <a:endCxn id="127" idx="3"/>
              </p:cNvCxnSpPr>
              <p:nvPr/>
            </p:nvCxnSpPr>
            <p:spPr bwMode="auto">
              <a:xfrm>
                <a:off x="6706617" y="2109019"/>
                <a:ext cx="200025" cy="785812"/>
              </a:xfrm>
              <a:prstGeom prst="line">
                <a:avLst/>
              </a:prstGeom>
              <a:noFill/>
              <a:ln w="19050" algn="ctr">
                <a:solidFill>
                  <a:srgbClr val="0000FF"/>
                </a:solidFill>
                <a:round/>
                <a:headEnd/>
                <a:tailEnd/>
              </a:ln>
            </p:spPr>
          </p:cxnSp>
          <p:sp>
            <p:nvSpPr>
              <p:cNvPr id="13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13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3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13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138" name="直接连接符 13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13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14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4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145" name="直接连接符 14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14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2"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53"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 name="标题 2">
            <a:extLst>
              <a:ext uri="{FF2B5EF4-FFF2-40B4-BE49-F238E27FC236}">
                <a16:creationId xmlns:a16="http://schemas.microsoft.com/office/drawing/2014/main" id="{5B70A799-DB1A-60A3-A65F-6B258813BA21}"/>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394175303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a:latin typeface="微软雅黑" pitchFamily="34" charset="-122"/>
                <a:ea typeface="微软雅黑" pitchFamily="34" charset="-122"/>
              </a:rPr>
              <a:t>ssthresh = cwnd / 2 = 12</a:t>
            </a:r>
            <a:r>
              <a:rPr lang="zh-CN" altLang="en-US" sz="1600" b="1" dirty="0">
                <a:latin typeface="微软雅黑" pitchFamily="34" charset="-122"/>
                <a:ea typeface="微软雅黑" pitchFamily="34" charset="-122"/>
              </a:rPr>
              <a:t>，同时设置拥塞窗口 </a:t>
            </a:r>
            <a:r>
              <a:rPr lang="en-US" altLang="zh-CN" sz="1600" b="1" dirty="0">
                <a:latin typeface="微软雅黑" pitchFamily="34" charset="-122"/>
                <a:ea typeface="微软雅黑" pitchFamily="34" charset="-122"/>
              </a:rPr>
              <a:t>cwnd = 1</a:t>
            </a:r>
            <a:r>
              <a:rPr lang="zh-CN" altLang="en-US" sz="1600" b="1" dirty="0">
                <a:latin typeface="微软雅黑" pitchFamily="34" charset="-122"/>
                <a:ea typeface="微软雅黑" pitchFamily="34" charset="-122"/>
              </a:rPr>
              <a:t>，进入慢开始阶段。</a:t>
            </a:r>
          </a:p>
        </p:txBody>
      </p:sp>
      <p:grpSp>
        <p:nvGrpSpPr>
          <p:cNvPr id="125" name="组合 124"/>
          <p:cNvGrpSpPr/>
          <p:nvPr/>
        </p:nvGrpSpPr>
        <p:grpSpPr>
          <a:xfrm>
            <a:off x="1317046" y="1115751"/>
            <a:ext cx="6855510" cy="2262108"/>
            <a:chOff x="1317046" y="1115751"/>
            <a:chExt cx="6855510" cy="2262108"/>
          </a:xfrm>
        </p:grpSpPr>
        <p:grpSp>
          <p:nvGrpSpPr>
            <p:cNvPr id="126" name="组合 125"/>
            <p:cNvGrpSpPr/>
            <p:nvPr/>
          </p:nvGrpSpPr>
          <p:grpSpPr>
            <a:xfrm>
              <a:off x="1317046" y="1115751"/>
              <a:ext cx="6808860" cy="2262108"/>
              <a:chOff x="300646" y="840152"/>
              <a:chExt cx="9638211" cy="3093013"/>
            </a:xfrm>
          </p:grpSpPr>
          <p:sp>
            <p:nvSpPr>
              <p:cNvPr id="129"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30"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61"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62"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63"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64"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65"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6"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67"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68"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69"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0"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71"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3"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74"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5"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76"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77"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8"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9"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3"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4"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95"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6"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8"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9"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00"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1"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2"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1"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2"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3"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6"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7"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8"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1"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2"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3" name="直接连接符 134"/>
              <p:cNvCxnSpPr>
                <a:cxnSpLocks noChangeShapeType="1"/>
                <a:stCxn id="214" idx="4"/>
                <a:endCxn id="218" idx="3"/>
              </p:cNvCxnSpPr>
              <p:nvPr/>
            </p:nvCxnSpPr>
            <p:spPr bwMode="auto">
              <a:xfrm>
                <a:off x="6706617" y="2109019"/>
                <a:ext cx="200025" cy="785812"/>
              </a:xfrm>
              <a:prstGeom prst="line">
                <a:avLst/>
              </a:prstGeom>
              <a:noFill/>
              <a:ln w="19050" algn="ctr">
                <a:solidFill>
                  <a:srgbClr val="0000FF"/>
                </a:solidFill>
                <a:round/>
                <a:headEnd/>
                <a:tailEnd/>
              </a:ln>
            </p:spPr>
          </p:cxnSp>
          <p:sp>
            <p:nvSpPr>
              <p:cNvPr id="224"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6"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7"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8"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9" name="直接连接符 228"/>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30"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1"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6" name="直接连接符 235"/>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7"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7"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28"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a:off x="3886896" y="1128042"/>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369E398E-F377-439A-28A3-20DDADF7533C}"/>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41984383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2" name="组合 141"/>
          <p:cNvGrpSpPr/>
          <p:nvPr/>
        </p:nvGrpSpPr>
        <p:grpSpPr>
          <a:xfrm>
            <a:off x="1317046" y="1115751"/>
            <a:ext cx="6855510" cy="2262108"/>
            <a:chOff x="1317046" y="1115751"/>
            <a:chExt cx="6855510" cy="2262108"/>
          </a:xfrm>
        </p:grpSpPr>
        <p:grpSp>
          <p:nvGrpSpPr>
            <p:cNvPr id="148" name="组合 147"/>
            <p:cNvGrpSpPr/>
            <p:nvPr/>
          </p:nvGrpSpPr>
          <p:grpSpPr>
            <a:xfrm>
              <a:off x="1317046" y="1115751"/>
              <a:ext cx="6808860" cy="2262108"/>
              <a:chOff x="300646" y="840152"/>
              <a:chExt cx="9638211" cy="3093013"/>
            </a:xfrm>
          </p:grpSpPr>
          <p:sp>
            <p:nvSpPr>
              <p:cNvPr id="151"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52"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83"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84"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85"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86"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87"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88"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89"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0"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91"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92"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93"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4"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5"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96"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7"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8"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9"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00"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1"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16"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217"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8"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1"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2"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4"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6"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8"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3"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4"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5"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7"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38"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39"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0"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2"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3"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4"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5" name="直接连接符 134"/>
              <p:cNvCxnSpPr>
                <a:cxnSpLocks noChangeShapeType="1"/>
                <a:stCxn id="236" idx="4"/>
                <a:endCxn id="240" idx="3"/>
              </p:cNvCxnSpPr>
              <p:nvPr/>
            </p:nvCxnSpPr>
            <p:spPr bwMode="auto">
              <a:xfrm>
                <a:off x="6706617" y="2109019"/>
                <a:ext cx="200025" cy="785812"/>
              </a:xfrm>
              <a:prstGeom prst="line">
                <a:avLst/>
              </a:prstGeom>
              <a:noFill/>
              <a:ln w="19050" algn="ctr">
                <a:solidFill>
                  <a:srgbClr val="0000FF"/>
                </a:solidFill>
                <a:round/>
                <a:headEnd/>
                <a:tailEnd/>
              </a:ln>
            </p:spPr>
          </p:cxnSp>
          <p:sp>
            <p:nvSpPr>
              <p:cNvPr id="246"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7"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48"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49"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0"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1" name="直接连接符 250"/>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2"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3"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4"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5"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6"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7"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58" name="直接连接符 257"/>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59"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49"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50"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3" name="Line 167"/>
          <p:cNvSpPr>
            <a:spLocks noChangeShapeType="1"/>
          </p:cNvSpPr>
          <p:nvPr/>
        </p:nvSpPr>
        <p:spPr bwMode="auto">
          <a:xfrm>
            <a:off x="4052839" y="2709948"/>
            <a:ext cx="440153" cy="326776"/>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60" name="Text Box 155"/>
          <p:cNvSpPr txBox="1">
            <a:spLocks noChangeArrowheads="1"/>
          </p:cNvSpPr>
          <p:nvPr/>
        </p:nvSpPr>
        <p:spPr bwMode="auto">
          <a:xfrm>
            <a:off x="1655267" y="3420248"/>
            <a:ext cx="6396911" cy="904863"/>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 24 </a:t>
            </a:r>
            <a:r>
              <a:rPr lang="zh-CN" altLang="en-US" sz="1600" b="1" dirty="0">
                <a:solidFill>
                  <a:srgbClr val="0000FF"/>
                </a:solidFill>
                <a:latin typeface="微软雅黑" pitchFamily="34" charset="-122"/>
                <a:ea typeface="微软雅黑" pitchFamily="34" charset="-122"/>
              </a:rPr>
              <a:t>时，网络出现了超时，发送方判断为网络拥塞。</a:t>
            </a:r>
            <a:r>
              <a:rPr lang="zh-CN" altLang="en-US" sz="1600" b="1" dirty="0">
                <a:latin typeface="微软雅黑" pitchFamily="34" charset="-122"/>
                <a:ea typeface="微软雅黑" pitchFamily="34" charset="-122"/>
              </a:rPr>
              <a:t>调整门限值 </a:t>
            </a:r>
            <a:r>
              <a:rPr lang="en-US" altLang="zh-CN" sz="1600" b="1" dirty="0">
                <a:latin typeface="微软雅黑" pitchFamily="34" charset="-122"/>
                <a:ea typeface="微软雅黑" pitchFamily="34" charset="-122"/>
              </a:rPr>
              <a:t>ssthresh = cwnd / 2 = 12</a:t>
            </a:r>
            <a:r>
              <a:rPr lang="zh-CN" altLang="en-US" sz="1600" b="1" dirty="0">
                <a:latin typeface="微软雅黑" pitchFamily="34" charset="-122"/>
                <a:ea typeface="微软雅黑" pitchFamily="34" charset="-122"/>
              </a:rPr>
              <a:t>，同时设置拥塞窗口 </a:t>
            </a:r>
            <a:r>
              <a:rPr lang="en-US" altLang="zh-CN" sz="1600" b="1" dirty="0">
                <a:latin typeface="微软雅黑" pitchFamily="34" charset="-122"/>
                <a:ea typeface="微软雅黑" pitchFamily="34" charset="-122"/>
              </a:rPr>
              <a:t>cwnd = 1</a:t>
            </a:r>
            <a:r>
              <a:rPr lang="zh-CN" altLang="en-US" sz="1600" b="1" dirty="0">
                <a:latin typeface="微软雅黑" pitchFamily="34" charset="-122"/>
                <a:ea typeface="微软雅黑" pitchFamily="34" charset="-122"/>
              </a:rPr>
              <a:t>，进入慢开始阶段。</a:t>
            </a:r>
          </a:p>
        </p:txBody>
      </p:sp>
      <p:sp>
        <p:nvSpPr>
          <p:cNvPr id="2" name="标题 1">
            <a:extLst>
              <a:ext uri="{FF2B5EF4-FFF2-40B4-BE49-F238E27FC236}">
                <a16:creationId xmlns:a16="http://schemas.microsoft.com/office/drawing/2014/main" id="{5A3C3EBF-CE3A-9BAF-F0A6-9A32B753E69C}"/>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181451237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Text Box 155"/>
          <p:cNvSpPr txBox="1">
            <a:spLocks noChangeArrowheads="1"/>
          </p:cNvSpPr>
          <p:nvPr/>
        </p:nvSpPr>
        <p:spPr bwMode="auto">
          <a:xfrm>
            <a:off x="1121791" y="3419682"/>
            <a:ext cx="7051250" cy="886012"/>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按照慢开始算法，发送方每收到一个对新报文段的确认 </a:t>
            </a:r>
            <a:r>
              <a:rPr lang="en-US" altLang="zh-CN" sz="1600" b="1" dirty="0">
                <a:solidFill>
                  <a:srgbClr val="0000FF"/>
                </a:solidFill>
                <a:latin typeface="微软雅黑" pitchFamily="34" charset="-122"/>
                <a:ea typeface="微软雅黑" pitchFamily="34" charset="-122"/>
              </a:rPr>
              <a:t>ACK</a:t>
            </a:r>
            <a:r>
              <a:rPr lang="zh-CN" altLang="en-US" sz="1600" b="1" dirty="0">
                <a:solidFill>
                  <a:srgbClr val="0000FF"/>
                </a:solidFill>
                <a:latin typeface="微软雅黑" pitchFamily="34" charset="-122"/>
                <a:ea typeface="微软雅黑" pitchFamily="34" charset="-122"/>
              </a:rPr>
              <a:t>，就把拥塞窗口值加 </a:t>
            </a:r>
            <a:r>
              <a:rPr lang="en-US" altLang="zh-CN" sz="1600" b="1" dirty="0">
                <a:solidFill>
                  <a:srgbClr val="0000FF"/>
                </a:solidFill>
                <a:latin typeface="微软雅黑" pitchFamily="34" charset="-122"/>
                <a:ea typeface="微软雅黑" pitchFamily="34" charset="-122"/>
              </a:rPr>
              <a:t>1</a:t>
            </a: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 ssthresh = 12 </a:t>
            </a:r>
            <a:r>
              <a:rPr lang="zh-CN" altLang="en-US" sz="1600" b="1" dirty="0">
                <a:solidFill>
                  <a:srgbClr val="0000FF"/>
                </a:solidFill>
                <a:latin typeface="微软雅黑" pitchFamily="34" charset="-122"/>
                <a:ea typeface="微软雅黑" pitchFamily="34" charset="-122"/>
              </a:rPr>
              <a:t>时，改为执行拥塞避免算法，拥塞窗口按线性规律增大。</a:t>
            </a:r>
          </a:p>
        </p:txBody>
      </p:sp>
      <p:grpSp>
        <p:nvGrpSpPr>
          <p:cNvPr id="124" name="组合 123"/>
          <p:cNvGrpSpPr/>
          <p:nvPr/>
        </p:nvGrpSpPr>
        <p:grpSpPr>
          <a:xfrm>
            <a:off x="1317046" y="1115751"/>
            <a:ext cx="6855510" cy="2262108"/>
            <a:chOff x="1317046" y="1115751"/>
            <a:chExt cx="6855510" cy="2262108"/>
          </a:xfrm>
        </p:grpSpPr>
        <p:grpSp>
          <p:nvGrpSpPr>
            <p:cNvPr id="125" name="组合 124"/>
            <p:cNvGrpSpPr/>
            <p:nvPr/>
          </p:nvGrpSpPr>
          <p:grpSpPr>
            <a:xfrm>
              <a:off x="1317046" y="1115751"/>
              <a:ext cx="6808860" cy="2262108"/>
              <a:chOff x="300646" y="840152"/>
              <a:chExt cx="9638211" cy="3093013"/>
            </a:xfrm>
          </p:grpSpPr>
          <p:sp>
            <p:nvSpPr>
              <p:cNvPr id="128"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29"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0"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1"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2"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3"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4"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5"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6"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7"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8"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39"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0"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1"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2"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3"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4"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5"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6"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7"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8"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49"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0"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1"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2"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3"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4"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5"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6"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60"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61"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62"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63"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64"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65"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66"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67"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68"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69"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70"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1"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72"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73"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74"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75"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76"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77"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178"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7"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8"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9"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0"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1"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2"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193"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194"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195"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6"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97"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198"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199"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0"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01"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2"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3"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4"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5"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10"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11"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12"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15"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16"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17"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0"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21"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22" name="直接连接符 134"/>
              <p:cNvCxnSpPr>
                <a:cxnSpLocks noChangeShapeType="1"/>
                <a:stCxn id="213" idx="4"/>
                <a:endCxn id="217" idx="3"/>
              </p:cNvCxnSpPr>
              <p:nvPr/>
            </p:nvCxnSpPr>
            <p:spPr bwMode="auto">
              <a:xfrm>
                <a:off x="6706617" y="2109019"/>
                <a:ext cx="200025" cy="785812"/>
              </a:xfrm>
              <a:prstGeom prst="line">
                <a:avLst/>
              </a:prstGeom>
              <a:noFill/>
              <a:ln w="19050" algn="ctr">
                <a:solidFill>
                  <a:srgbClr val="0000FF"/>
                </a:solidFill>
                <a:round/>
                <a:headEnd/>
                <a:tailEnd/>
              </a:ln>
            </p:spPr>
          </p:cxnSp>
          <p:sp>
            <p:nvSpPr>
              <p:cNvPr id="223"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4"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25"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6"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27"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28" name="直接连接符 227"/>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29"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30"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4"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5" name="直接连接符 234"/>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36"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26"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27"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19" name="Line 167"/>
          <p:cNvSpPr>
            <a:spLocks noChangeShapeType="1"/>
          </p:cNvSpPr>
          <p:nvPr/>
        </p:nvSpPr>
        <p:spPr bwMode="auto">
          <a:xfrm flipH="1" flipV="1">
            <a:off x="5235509" y="2380562"/>
            <a:ext cx="409373" cy="327412"/>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867C52BE-6B3E-97A7-F652-F86B0174BB33}"/>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38212810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8C816E65-F579-7033-0EE5-516B57D0BD7A}"/>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79525143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对角圆角矩形 47"/>
          <p:cNvSpPr/>
          <p:nvPr/>
        </p:nvSpPr>
        <p:spPr>
          <a:xfrm>
            <a:off x="1000026" y="3373347"/>
            <a:ext cx="6758236" cy="1202973"/>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1272621" y="3467999"/>
            <a:ext cx="6297103" cy="1015663"/>
          </a:xfrm>
          <a:prstGeom prst="rect">
            <a:avLst/>
          </a:prstGeom>
        </p:spPr>
        <p:txBody>
          <a:bodyPr wrap="square">
            <a:spAutoFit/>
          </a:bodyPr>
          <a:lstStyle/>
          <a:p>
            <a:pPr>
              <a:lnSpc>
                <a:spcPts val="2400"/>
              </a:lnSpc>
            </a:pPr>
            <a:r>
              <a:rPr lang="zh-CN" altLang="en-US" b="1" dirty="0">
                <a:solidFill>
                  <a:srgbClr val="FFFF00"/>
                </a:solidFill>
                <a:latin typeface="微软雅黑" pitchFamily="34" charset="-122"/>
                <a:ea typeface="微软雅黑" pitchFamily="34" charset="-122"/>
              </a:rPr>
              <a:t>注意：</a:t>
            </a:r>
            <a:endParaRPr lang="en-US" altLang="zh-CN" b="1" dirty="0">
              <a:solidFill>
                <a:srgbClr val="FFFF00"/>
              </a:solidFill>
              <a:latin typeface="微软雅黑" pitchFamily="34" charset="-122"/>
              <a:ea typeface="微软雅黑" pitchFamily="34" charset="-122"/>
            </a:endParaRPr>
          </a:p>
          <a:p>
            <a:pPr>
              <a:lnSpc>
                <a:spcPts val="2400"/>
              </a:lnSpc>
            </a:pPr>
            <a:r>
              <a:rPr lang="zh-CN" altLang="en-US" b="1" dirty="0">
                <a:solidFill>
                  <a:schemeClr val="bg1"/>
                </a:solidFill>
                <a:latin typeface="微软雅黑" pitchFamily="34" charset="-122"/>
                <a:ea typeface="微软雅黑" pitchFamily="34" charset="-122"/>
              </a:rPr>
              <a:t>快重传并非取消重传计时器，而是在某些情况下可以更早地（</a:t>
            </a:r>
            <a:r>
              <a:rPr lang="zh-CN" altLang="en-US" b="1" dirty="0">
                <a:solidFill>
                  <a:srgbClr val="FFFF00"/>
                </a:solidFill>
                <a:latin typeface="微软雅黑" pitchFamily="34" charset="-122"/>
                <a:ea typeface="微软雅黑" pitchFamily="34" charset="-122"/>
              </a:rPr>
              <a:t>更快地</a:t>
            </a:r>
            <a:r>
              <a:rPr lang="zh-CN" altLang="en-US" b="1" dirty="0">
                <a:solidFill>
                  <a:schemeClr val="bg1"/>
                </a:solidFill>
                <a:latin typeface="微软雅黑" pitchFamily="34" charset="-122"/>
                <a:ea typeface="微软雅黑" pitchFamily="34" charset="-122"/>
              </a:rPr>
              <a:t>）重传丢失的报文段。 </a:t>
            </a:r>
          </a:p>
        </p:txBody>
      </p:sp>
      <p:sp>
        <p:nvSpPr>
          <p:cNvPr id="6" name="内容占位符 5">
            <a:extLst>
              <a:ext uri="{FF2B5EF4-FFF2-40B4-BE49-F238E27FC236}">
                <a16:creationId xmlns:a16="http://schemas.microsoft.com/office/drawing/2014/main" id="{D57ADE30-7681-B811-AF4B-DD6E95CBDCAB}"/>
              </a:ext>
            </a:extLst>
          </p:cNvPr>
          <p:cNvSpPr>
            <a:spLocks noGrp="1"/>
          </p:cNvSpPr>
          <p:nvPr>
            <p:ph sz="quarter" idx="11"/>
          </p:nvPr>
        </p:nvSpPr>
        <p:spPr>
          <a:xfrm>
            <a:off x="486000" y="482554"/>
            <a:ext cx="8172000" cy="4120946"/>
          </a:xfrm>
        </p:spPr>
        <p:txBody>
          <a:bodyPr/>
          <a:lstStyle/>
          <a:p>
            <a:r>
              <a:rPr lang="zh-CN" altLang="en-US" dirty="0"/>
              <a:t>目的：让发送方尽早知道发生了个别报文段的丢失。</a:t>
            </a:r>
            <a:endParaRPr lang="en-US" altLang="zh-CN" dirty="0"/>
          </a:p>
          <a:p>
            <a:r>
              <a:rPr lang="zh-CN" altLang="en-US" dirty="0"/>
              <a:t>发送方只要连续收到三个重复的确认，就立即进行重传（即“快重传”），这样就不会出现超时。</a:t>
            </a:r>
          </a:p>
          <a:p>
            <a:r>
              <a:rPr lang="zh-CN" altLang="en-US" dirty="0"/>
              <a:t>使用快重传可以使整个网络的吞吐量提高约 </a:t>
            </a:r>
            <a:r>
              <a:rPr lang="en-US" altLang="zh-CN" dirty="0"/>
              <a:t>20%</a:t>
            </a:r>
            <a:r>
              <a:rPr lang="zh-CN" altLang="en-US" dirty="0"/>
              <a:t>。</a:t>
            </a:r>
            <a:endParaRPr lang="en-US" altLang="zh-CN" dirty="0"/>
          </a:p>
          <a:p>
            <a:r>
              <a:rPr lang="zh-CN" altLang="en-US" dirty="0"/>
              <a:t>快重传算法要求接收方立即发送确认，即使收到了失序的报文段，也要立即发出对已收到的报文段的重复确认。</a:t>
            </a:r>
          </a:p>
          <a:p>
            <a:endParaRPr lang="zh-CN" altLang="en-US" dirty="0"/>
          </a:p>
        </p:txBody>
      </p:sp>
      <p:sp>
        <p:nvSpPr>
          <p:cNvPr id="5" name="标题 4">
            <a:extLst>
              <a:ext uri="{FF2B5EF4-FFF2-40B4-BE49-F238E27FC236}">
                <a16:creationId xmlns:a16="http://schemas.microsoft.com/office/drawing/2014/main" id="{8C6E6C59-8705-EB25-C77F-A433EDAC49DF}"/>
              </a:ext>
            </a:extLst>
          </p:cNvPr>
          <p:cNvSpPr>
            <a:spLocks noGrp="1"/>
          </p:cNvSpPr>
          <p:nvPr>
            <p:ph type="title"/>
          </p:nvPr>
        </p:nvSpPr>
        <p:spPr>
          <a:xfrm>
            <a:off x="2808000" y="144000"/>
            <a:ext cx="3528000" cy="338554"/>
          </a:xfrm>
        </p:spPr>
        <p:txBody>
          <a:bodyPr/>
          <a:lstStyle/>
          <a:p>
            <a:r>
              <a:rPr lang="zh-CN" altLang="en-US" dirty="0"/>
              <a:t>快重传</a:t>
            </a:r>
            <a:r>
              <a:rPr lang="en-US" altLang="zh-CN" dirty="0"/>
              <a:t> Fast Retransmission</a:t>
            </a:r>
            <a:endParaRPr lang="zh-CN" altLang="en-US" dirty="0"/>
          </a:p>
        </p:txBody>
      </p:sp>
    </p:spTree>
    <p:extLst>
      <p:ext uri="{BB962C8B-B14F-4D97-AF65-F5344CB8AC3E}">
        <p14:creationId xmlns:p14="http://schemas.microsoft.com/office/powerpoint/2010/main" val="2809486315"/>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Text Box 3"/>
          <p:cNvSpPr txBox="1">
            <a:spLocks noChangeArrowheads="1"/>
          </p:cNvSpPr>
          <p:nvPr/>
        </p:nvSpPr>
        <p:spPr bwMode="auto">
          <a:xfrm>
            <a:off x="4178937" y="109133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发送方</a:t>
            </a:r>
          </a:p>
        </p:txBody>
      </p:sp>
      <p:sp>
        <p:nvSpPr>
          <p:cNvPr id="79" name="Text Box 4"/>
          <p:cNvSpPr txBox="1">
            <a:spLocks noChangeArrowheads="1"/>
          </p:cNvSpPr>
          <p:nvPr/>
        </p:nvSpPr>
        <p:spPr bwMode="auto">
          <a:xfrm>
            <a:off x="6361439" y="1099394"/>
            <a:ext cx="64633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接收方</a:t>
            </a:r>
          </a:p>
        </p:txBody>
      </p:sp>
      <p:sp>
        <p:nvSpPr>
          <p:cNvPr id="80" name="Text Box 5"/>
          <p:cNvSpPr txBox="1">
            <a:spLocks noChangeArrowheads="1"/>
          </p:cNvSpPr>
          <p:nvPr/>
        </p:nvSpPr>
        <p:spPr bwMode="auto">
          <a:xfrm>
            <a:off x="3776205" y="1332324"/>
            <a:ext cx="71526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p>
        </p:txBody>
      </p:sp>
      <p:sp>
        <p:nvSpPr>
          <p:cNvPr id="81" name="Line 6"/>
          <p:cNvSpPr>
            <a:spLocks noChangeShapeType="1"/>
          </p:cNvSpPr>
          <p:nvPr/>
        </p:nvSpPr>
        <p:spPr bwMode="auto">
          <a:xfrm>
            <a:off x="4493304" y="1492800"/>
            <a:ext cx="2189423"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82" name="Line 7"/>
          <p:cNvSpPr>
            <a:spLocks noChangeShapeType="1"/>
          </p:cNvSpPr>
          <p:nvPr/>
        </p:nvSpPr>
        <p:spPr bwMode="auto">
          <a:xfrm flipH="1">
            <a:off x="4493304" y="1773888"/>
            <a:ext cx="2189423"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83" name="Text Box 8"/>
          <p:cNvSpPr txBox="1">
            <a:spLocks noChangeArrowheads="1"/>
          </p:cNvSpPr>
          <p:nvPr/>
        </p:nvSpPr>
        <p:spPr bwMode="auto">
          <a:xfrm>
            <a:off x="6617310" y="1657364"/>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1</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86" name="Line 11"/>
          <p:cNvSpPr>
            <a:spLocks noChangeShapeType="1"/>
          </p:cNvSpPr>
          <p:nvPr/>
        </p:nvSpPr>
        <p:spPr bwMode="auto">
          <a:xfrm>
            <a:off x="4493304" y="1393652"/>
            <a:ext cx="0" cy="28800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87" name="Line 12"/>
          <p:cNvSpPr>
            <a:spLocks noChangeShapeType="1"/>
          </p:cNvSpPr>
          <p:nvPr/>
        </p:nvSpPr>
        <p:spPr bwMode="auto">
          <a:xfrm>
            <a:off x="6682727" y="1393652"/>
            <a:ext cx="0" cy="288000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88" name="Text Box 13"/>
          <p:cNvSpPr txBox="1">
            <a:spLocks noChangeArrowheads="1"/>
          </p:cNvSpPr>
          <p:nvPr/>
        </p:nvSpPr>
        <p:spPr bwMode="auto">
          <a:xfrm>
            <a:off x="6617310" y="1974228"/>
            <a:ext cx="96285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89" name="Line 14"/>
          <p:cNvSpPr>
            <a:spLocks noChangeShapeType="1"/>
          </p:cNvSpPr>
          <p:nvPr/>
        </p:nvSpPr>
        <p:spPr bwMode="auto">
          <a:xfrm flipH="1">
            <a:off x="4493304" y="2111194"/>
            <a:ext cx="2189423" cy="201362"/>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95" name="Text Box 20"/>
          <p:cNvSpPr txBox="1">
            <a:spLocks noChangeArrowheads="1"/>
          </p:cNvSpPr>
          <p:nvPr/>
        </p:nvSpPr>
        <p:spPr bwMode="auto">
          <a:xfrm>
            <a:off x="3776205" y="23105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4</a:t>
            </a:r>
          </a:p>
        </p:txBody>
      </p:sp>
      <p:sp>
        <p:nvSpPr>
          <p:cNvPr id="96" name="Line 21"/>
          <p:cNvSpPr>
            <a:spLocks noChangeShapeType="1"/>
          </p:cNvSpPr>
          <p:nvPr/>
        </p:nvSpPr>
        <p:spPr bwMode="auto">
          <a:xfrm>
            <a:off x="4493304" y="2512896"/>
            <a:ext cx="2189423"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90" name="Line 15"/>
          <p:cNvSpPr>
            <a:spLocks noChangeShapeType="1"/>
          </p:cNvSpPr>
          <p:nvPr/>
        </p:nvSpPr>
        <p:spPr bwMode="auto">
          <a:xfrm flipH="1">
            <a:off x="4493304" y="2783762"/>
            <a:ext cx="2189423" cy="200339"/>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100" name="Text Box 25"/>
          <p:cNvSpPr txBox="1">
            <a:spLocks noChangeArrowheads="1"/>
          </p:cNvSpPr>
          <p:nvPr/>
        </p:nvSpPr>
        <p:spPr bwMode="auto">
          <a:xfrm>
            <a:off x="6617310" y="2596711"/>
            <a:ext cx="80021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91" name="Line 16"/>
          <p:cNvSpPr>
            <a:spLocks noChangeShapeType="1"/>
          </p:cNvSpPr>
          <p:nvPr/>
        </p:nvSpPr>
        <p:spPr bwMode="auto">
          <a:xfrm flipH="1">
            <a:off x="4493304" y="3118002"/>
            <a:ext cx="2189423" cy="202384"/>
          </a:xfrm>
          <a:prstGeom prst="line">
            <a:avLst/>
          </a:prstGeom>
          <a:noFill/>
          <a:ln w="28575">
            <a:solidFill>
              <a:srgbClr val="FFC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104" name="Text Box 29"/>
          <p:cNvSpPr txBox="1">
            <a:spLocks noChangeArrowheads="1"/>
          </p:cNvSpPr>
          <p:nvPr/>
        </p:nvSpPr>
        <p:spPr bwMode="auto">
          <a:xfrm>
            <a:off x="6617310" y="2953436"/>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重复确认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92" name="Line 17"/>
          <p:cNvSpPr>
            <a:spLocks noChangeShapeType="1"/>
          </p:cNvSpPr>
          <p:nvPr/>
        </p:nvSpPr>
        <p:spPr bwMode="auto">
          <a:xfrm flipH="1">
            <a:off x="4493304" y="3452241"/>
            <a:ext cx="2189423" cy="203406"/>
          </a:xfrm>
          <a:prstGeom prst="line">
            <a:avLst/>
          </a:prstGeom>
          <a:noFill/>
          <a:ln w="57150">
            <a:solidFill>
              <a:srgbClr val="E9542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105" name="Text Box 30"/>
          <p:cNvSpPr txBox="1">
            <a:spLocks noChangeArrowheads="1"/>
          </p:cNvSpPr>
          <p:nvPr/>
        </p:nvSpPr>
        <p:spPr bwMode="auto">
          <a:xfrm>
            <a:off x="6617310" y="3289722"/>
            <a:ext cx="1144865"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重复确认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 </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107" name="Line 32"/>
          <p:cNvSpPr>
            <a:spLocks noChangeShapeType="1"/>
          </p:cNvSpPr>
          <p:nvPr/>
        </p:nvSpPr>
        <p:spPr bwMode="auto">
          <a:xfrm>
            <a:off x="4497392" y="3520725"/>
            <a:ext cx="2188400"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108" name="Text Box 33"/>
          <p:cNvSpPr txBox="1">
            <a:spLocks noChangeArrowheads="1"/>
          </p:cNvSpPr>
          <p:nvPr/>
        </p:nvSpPr>
        <p:spPr bwMode="auto">
          <a:xfrm>
            <a:off x="3776205" y="3355138"/>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a:t>
            </a:r>
          </a:p>
        </p:txBody>
      </p:sp>
      <p:grpSp>
        <p:nvGrpSpPr>
          <p:cNvPr id="109" name="Group 34"/>
          <p:cNvGrpSpPr>
            <a:grpSpLocks/>
          </p:cNvGrpSpPr>
          <p:nvPr/>
        </p:nvGrpSpPr>
        <p:grpSpPr bwMode="auto">
          <a:xfrm>
            <a:off x="41911" y="2804966"/>
            <a:ext cx="2715220" cy="830998"/>
            <a:chOff x="91" y="2556"/>
            <a:chExt cx="2487" cy="813"/>
          </a:xfrm>
        </p:grpSpPr>
        <p:sp>
          <p:nvSpPr>
            <p:cNvPr id="114" name="Line 38"/>
            <p:cNvSpPr>
              <a:spLocks noChangeShapeType="1"/>
            </p:cNvSpPr>
            <p:nvPr/>
          </p:nvSpPr>
          <p:spPr bwMode="auto">
            <a:xfrm>
              <a:off x="1919" y="3270"/>
              <a:ext cx="659" cy="0"/>
            </a:xfrm>
            <a:prstGeom prst="line">
              <a:avLst/>
            </a:prstGeom>
            <a:noFill/>
            <a:ln w="28575">
              <a:solidFill>
                <a:srgbClr val="000066"/>
              </a:solidFill>
              <a:prstDash val="sysDash"/>
              <a:round/>
              <a:headEnd type="triangle" w="med"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solidFill>
                  <a:srgbClr val="000099"/>
                </a:solidFill>
                <a:effectLst/>
                <a:uLnTx/>
                <a:uFillTx/>
                <a:latin typeface="微软雅黑" pitchFamily="34" charset="-122"/>
                <a:ea typeface="微软雅黑" pitchFamily="34" charset="-122"/>
              </a:endParaRPr>
            </a:p>
          </p:txBody>
        </p:sp>
        <p:sp>
          <p:nvSpPr>
            <p:cNvPr id="111" name="Text Box 39"/>
            <p:cNvSpPr txBox="1">
              <a:spLocks noChangeArrowheads="1"/>
            </p:cNvSpPr>
            <p:nvPr/>
          </p:nvSpPr>
          <p:spPr bwMode="auto">
            <a:xfrm>
              <a:off x="91" y="2556"/>
              <a:ext cx="1836" cy="813"/>
            </a:xfrm>
            <a:prstGeom prst="rect">
              <a:avLst/>
            </a:prstGeom>
            <a:solidFill>
              <a:srgbClr val="00FF99"/>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收到三个连续的</a:t>
              </a:r>
            </a:p>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对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 </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的重复确认</a:t>
              </a:r>
              <a:r>
                <a:rPr kumimoji="0" lang="zh-CN" altLang="en-US" sz="1600" kern="0" dirty="0">
                  <a:latin typeface="微软雅黑" pitchFamily="34" charset="-122"/>
                  <a:ea typeface="微软雅黑" pitchFamily="34" charset="-122"/>
                </a:rPr>
                <a:t>，</a:t>
              </a:r>
              <a:r>
                <a:rPr kumimoji="0" lang="zh-CN" altLang="en-US" sz="1600" b="1" i="0" u="none" strike="noStrike" kern="0" cap="none" spc="0" normalizeH="0" baseline="0" noProof="0" dirty="0">
                  <a:ln>
                    <a:noFill/>
                  </a:ln>
                  <a:effectLst/>
                  <a:uLnTx/>
                  <a:uFillTx/>
                  <a:latin typeface="微软雅黑" pitchFamily="34" charset="-122"/>
                  <a:ea typeface="微软雅黑" pitchFamily="34" charset="-122"/>
                </a:rPr>
                <a:t>立即重传 </a:t>
              </a:r>
              <a:r>
                <a:rPr kumimoji="0" lang="en-US" altLang="zh-CN" sz="1600" b="1" i="0" u="none" strike="noStrike" kern="0" cap="none" spc="0" normalizeH="0" baseline="0" noProof="0" dirty="0">
                  <a:ln>
                    <a:noFill/>
                  </a:ln>
                  <a:effectLst/>
                  <a:uLnTx/>
                  <a:uFillTx/>
                  <a:latin typeface="微软雅黑" pitchFamily="34" charset="-122"/>
                  <a:ea typeface="微软雅黑" pitchFamily="34" charset="-122"/>
                </a:rPr>
                <a:t>M</a:t>
              </a:r>
              <a:r>
                <a:rPr kumimoji="0" lang="en-US" altLang="zh-CN" sz="1600" b="1" i="0" u="none" strike="noStrike" kern="0" cap="none" spc="0" normalizeH="0" baseline="-25000" noProof="0" dirty="0">
                  <a:ln>
                    <a:noFill/>
                  </a:ln>
                  <a:effectLst/>
                  <a:uLnTx/>
                  <a:uFillTx/>
                  <a:latin typeface="微软雅黑" pitchFamily="34" charset="-122"/>
                  <a:ea typeface="微软雅黑" pitchFamily="34" charset="-122"/>
                </a:rPr>
                <a:t>3</a:t>
              </a:r>
            </a:p>
          </p:txBody>
        </p:sp>
      </p:grpSp>
      <p:sp>
        <p:nvSpPr>
          <p:cNvPr id="93" name="Text Box 18"/>
          <p:cNvSpPr txBox="1">
            <a:spLocks noChangeArrowheads="1"/>
          </p:cNvSpPr>
          <p:nvPr/>
        </p:nvSpPr>
        <p:spPr bwMode="auto">
          <a:xfrm>
            <a:off x="3776205" y="1656343"/>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2</a:t>
            </a:r>
          </a:p>
        </p:txBody>
      </p:sp>
      <p:sp>
        <p:nvSpPr>
          <p:cNvPr id="117" name="Line 42"/>
          <p:cNvSpPr>
            <a:spLocks noChangeShapeType="1"/>
          </p:cNvSpPr>
          <p:nvPr/>
        </p:nvSpPr>
        <p:spPr bwMode="auto">
          <a:xfrm>
            <a:off x="4493304" y="1843394"/>
            <a:ext cx="2189423"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94" name="Text Box 19"/>
          <p:cNvSpPr txBox="1">
            <a:spLocks noChangeArrowheads="1"/>
          </p:cNvSpPr>
          <p:nvPr/>
        </p:nvSpPr>
        <p:spPr bwMode="auto">
          <a:xfrm>
            <a:off x="3776205" y="1984449"/>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3</a:t>
            </a:r>
          </a:p>
        </p:txBody>
      </p:sp>
      <p:sp>
        <p:nvSpPr>
          <p:cNvPr id="115" name="AutoShape 40"/>
          <p:cNvSpPr>
            <a:spLocks noChangeArrowheads="1"/>
          </p:cNvSpPr>
          <p:nvPr/>
        </p:nvSpPr>
        <p:spPr bwMode="auto">
          <a:xfrm>
            <a:off x="5615613" y="1938453"/>
            <a:ext cx="561154" cy="706298"/>
          </a:xfrm>
          <a:prstGeom prst="irregularSeal1">
            <a:avLst/>
          </a:prstGeom>
          <a:solidFill>
            <a:srgbClr val="C00000"/>
          </a:solidFill>
          <a:ln w="9525">
            <a:no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rgbClr val="000099"/>
              </a:solidFill>
              <a:effectLst/>
              <a:uLnTx/>
              <a:uFillTx/>
              <a:latin typeface="Montserrat" panose="00000500000000000000" pitchFamily="2" charset="0"/>
              <a:ea typeface="微软雅黑 Light" panose="020B0502040204020203" pitchFamily="34" charset="-122"/>
            </a:endParaRPr>
          </a:p>
        </p:txBody>
      </p:sp>
      <p:sp>
        <p:nvSpPr>
          <p:cNvPr id="116" name="Text Box 41"/>
          <p:cNvSpPr txBox="1">
            <a:spLocks noChangeArrowheads="1"/>
          </p:cNvSpPr>
          <p:nvPr/>
        </p:nvSpPr>
        <p:spPr bwMode="auto">
          <a:xfrm>
            <a:off x="5661609" y="2152198"/>
            <a:ext cx="49244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chemeClr val="bg1"/>
                </a:solidFill>
                <a:effectLst/>
                <a:uLnTx/>
                <a:uFillTx/>
                <a:latin typeface="Montserrat" panose="00000500000000000000" pitchFamily="2" charset="0"/>
                <a:ea typeface="微软雅黑 Light" panose="020B0502040204020203" pitchFamily="34" charset="-122"/>
              </a:rPr>
              <a:t>丢失</a:t>
            </a:r>
          </a:p>
        </p:txBody>
      </p:sp>
      <p:sp>
        <p:nvSpPr>
          <p:cNvPr id="118" name="Line 43"/>
          <p:cNvSpPr>
            <a:spLocks noChangeShapeType="1"/>
          </p:cNvSpPr>
          <p:nvPr/>
        </p:nvSpPr>
        <p:spPr bwMode="auto">
          <a:xfrm>
            <a:off x="4493304" y="2177634"/>
            <a:ext cx="1178527" cy="10221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98" name="Text Box 23"/>
          <p:cNvSpPr txBox="1">
            <a:spLocks noChangeArrowheads="1"/>
          </p:cNvSpPr>
          <p:nvPr/>
        </p:nvSpPr>
        <p:spPr bwMode="auto">
          <a:xfrm>
            <a:off x="3776205" y="2663150"/>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5</a:t>
            </a:r>
          </a:p>
        </p:txBody>
      </p:sp>
      <p:sp>
        <p:nvSpPr>
          <p:cNvPr id="119" name="Line 44"/>
          <p:cNvSpPr>
            <a:spLocks noChangeShapeType="1"/>
          </p:cNvSpPr>
          <p:nvPr/>
        </p:nvSpPr>
        <p:spPr bwMode="auto">
          <a:xfrm>
            <a:off x="4497392" y="2848157"/>
            <a:ext cx="2188400" cy="203405"/>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99" name="Text Box 24"/>
          <p:cNvSpPr txBox="1">
            <a:spLocks noChangeArrowheads="1"/>
          </p:cNvSpPr>
          <p:nvPr/>
        </p:nvSpPr>
        <p:spPr bwMode="auto">
          <a:xfrm>
            <a:off x="3776205" y="2998412"/>
            <a:ext cx="760144"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发送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6</a:t>
            </a:r>
          </a:p>
        </p:txBody>
      </p:sp>
      <p:sp>
        <p:nvSpPr>
          <p:cNvPr id="120" name="Line 45"/>
          <p:cNvSpPr>
            <a:spLocks noChangeShapeType="1"/>
          </p:cNvSpPr>
          <p:nvPr/>
        </p:nvSpPr>
        <p:spPr bwMode="auto">
          <a:xfrm>
            <a:off x="4497392" y="3184441"/>
            <a:ext cx="2188400" cy="202384"/>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102" name="Line 27"/>
          <p:cNvSpPr>
            <a:spLocks noChangeShapeType="1"/>
          </p:cNvSpPr>
          <p:nvPr/>
        </p:nvSpPr>
        <p:spPr bwMode="auto">
          <a:xfrm>
            <a:off x="4493304" y="3789547"/>
            <a:ext cx="2189423" cy="203406"/>
          </a:xfrm>
          <a:prstGeom prst="line">
            <a:avLst/>
          </a:prstGeom>
          <a:noFill/>
          <a:ln w="9525">
            <a:solidFill>
              <a:srgbClr val="00B05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rgbClr val="000099"/>
              </a:solidFill>
              <a:effectLst/>
              <a:uLnTx/>
              <a:uFillTx/>
              <a:latin typeface="Montserrat" panose="00000500000000000000" pitchFamily="2" charset="0"/>
              <a:ea typeface="微软雅黑 Light" panose="020B0502040204020203" pitchFamily="34" charset="-122"/>
            </a:endParaRPr>
          </a:p>
        </p:txBody>
      </p:sp>
      <p:sp>
        <p:nvSpPr>
          <p:cNvPr id="60" name="Text Box 33"/>
          <p:cNvSpPr txBox="1">
            <a:spLocks noChangeArrowheads="1"/>
          </p:cNvSpPr>
          <p:nvPr/>
        </p:nvSpPr>
        <p:spPr bwMode="auto">
          <a:xfrm>
            <a:off x="3483631" y="3666889"/>
            <a:ext cx="1045479"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zh-CN" altLang="en-US" sz="1200" b="0" kern="0" dirty="0">
                <a:solidFill>
                  <a:srgbClr val="C00000"/>
                </a:solidFill>
                <a:latin typeface="Montserrat" panose="00000500000000000000" pitchFamily="2" charset="0"/>
                <a:ea typeface="微软雅黑 Light" panose="020B0502040204020203" pitchFamily="34" charset="-122"/>
              </a:rPr>
              <a:t>立即重传</a:t>
            </a:r>
            <a:r>
              <a:rPr kumimoji="0" lang="zh-CN" altLang="en-US" sz="1200" b="0" i="0" u="none" strike="noStrike" kern="0" cap="none" spc="0" normalizeH="0" baseline="0" noProof="0" dirty="0">
                <a:ln>
                  <a:noFill/>
                </a:ln>
                <a:solidFill>
                  <a:srgbClr val="C00000"/>
                </a:solidFill>
                <a:effectLst/>
                <a:uLnTx/>
                <a:uFillTx/>
                <a:latin typeface="Montserrat" panose="00000500000000000000" pitchFamily="2" charset="0"/>
                <a:ea typeface="微软雅黑 Light" panose="020B0502040204020203" pitchFamily="34" charset="-122"/>
              </a:rPr>
              <a:t> </a:t>
            </a:r>
            <a:r>
              <a:rPr kumimoji="0" lang="en-US" altLang="zh-CN" sz="1200" b="0" i="0" u="none" strike="noStrike" kern="0" cap="none" spc="0" normalizeH="0" baseline="0" noProof="0" dirty="0">
                <a:ln>
                  <a:noFill/>
                </a:ln>
                <a:solidFill>
                  <a:srgbClr val="C00000"/>
                </a:solidFill>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solidFill>
                  <a:srgbClr val="C00000"/>
                </a:solidFill>
                <a:effectLst/>
                <a:uLnTx/>
                <a:uFillTx/>
                <a:latin typeface="Montserrat" panose="00000500000000000000" pitchFamily="2" charset="0"/>
                <a:ea typeface="微软雅黑 Light" panose="020B0502040204020203" pitchFamily="34" charset="-122"/>
              </a:rPr>
              <a:t>3</a:t>
            </a:r>
          </a:p>
        </p:txBody>
      </p:sp>
      <p:sp>
        <p:nvSpPr>
          <p:cNvPr id="64" name="Line 17"/>
          <p:cNvSpPr>
            <a:spLocks noChangeShapeType="1"/>
          </p:cNvSpPr>
          <p:nvPr/>
        </p:nvSpPr>
        <p:spPr bwMode="auto">
          <a:xfrm flipH="1">
            <a:off x="6154051" y="4061696"/>
            <a:ext cx="528675" cy="76664"/>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200" kern="0">
              <a:latin typeface="Montserrat" panose="00000500000000000000" pitchFamily="2" charset="0"/>
              <a:ea typeface="微软雅黑 Light" panose="020B0502040204020203" pitchFamily="34" charset="-122"/>
            </a:endParaRPr>
          </a:p>
        </p:txBody>
      </p:sp>
      <p:sp>
        <p:nvSpPr>
          <p:cNvPr id="65" name="Text Box 30"/>
          <p:cNvSpPr txBox="1">
            <a:spLocks noChangeArrowheads="1"/>
          </p:cNvSpPr>
          <p:nvPr/>
        </p:nvSpPr>
        <p:spPr bwMode="auto">
          <a:xfrm>
            <a:off x="6617310" y="3899177"/>
            <a:ext cx="780983"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 </a:t>
            </a:r>
            <a:r>
              <a:rPr kumimoji="0" lang="zh-CN" altLang="en-US"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确认 </a:t>
            </a:r>
            <a:r>
              <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M</a:t>
            </a:r>
            <a:r>
              <a:rPr kumimoji="0" lang="en-US" altLang="zh-CN" sz="1200" b="0" i="0" u="none" strike="noStrike" kern="0" cap="none" spc="0" normalizeH="0" baseline="-25000" noProof="0" dirty="0">
                <a:ln>
                  <a:noFill/>
                </a:ln>
                <a:effectLst/>
                <a:uLnTx/>
                <a:uFillTx/>
                <a:latin typeface="Montserrat" panose="00000500000000000000" pitchFamily="2" charset="0"/>
                <a:ea typeface="微软雅黑 Light" panose="020B0502040204020203" pitchFamily="34" charset="-122"/>
              </a:rPr>
              <a:t>7</a:t>
            </a:r>
            <a:endParaRPr kumimoji="0" lang="en-US" altLang="zh-CN" sz="1200" b="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2" name="标题 1">
            <a:extLst>
              <a:ext uri="{FF2B5EF4-FFF2-40B4-BE49-F238E27FC236}">
                <a16:creationId xmlns:a16="http://schemas.microsoft.com/office/drawing/2014/main" id="{FAC2682C-5518-F468-83E5-39EC0DBF90BB}"/>
              </a:ext>
            </a:extLst>
          </p:cNvPr>
          <p:cNvSpPr>
            <a:spLocks noGrp="1"/>
          </p:cNvSpPr>
          <p:nvPr>
            <p:ph type="title"/>
          </p:nvPr>
        </p:nvSpPr>
        <p:spPr>
          <a:xfrm>
            <a:off x="2808000" y="144000"/>
            <a:ext cx="3528000" cy="338554"/>
          </a:xfrm>
        </p:spPr>
        <p:txBody>
          <a:bodyPr/>
          <a:lstStyle/>
          <a:p>
            <a:r>
              <a:rPr lang="zh-CN" altLang="en-US" dirty="0"/>
              <a:t>快重传举例</a:t>
            </a:r>
          </a:p>
        </p:txBody>
      </p:sp>
    </p:spTree>
    <p:extLst>
      <p:ext uri="{BB962C8B-B14F-4D97-AF65-F5344CB8AC3E}">
        <p14:creationId xmlns:p14="http://schemas.microsoft.com/office/powerpoint/2010/main" val="327812260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09"/>
                                        </p:tgtEl>
                                        <p:attrNameLst>
                                          <p:attrName>style.visibility</p:attrName>
                                        </p:attrNameLst>
                                      </p:cBhvr>
                                      <p:to>
                                        <p:strVal val="visible"/>
                                      </p:to>
                                    </p:set>
                                    <p:animEffect transition="in" filter="wipe(right)">
                                      <p:cBhvr>
                                        <p:cTn id="7" dur="10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48432-B80A-AB26-46CB-B2D985165414}"/>
            </a:ext>
          </a:extLst>
        </p:cNvPr>
        <p:cNvGrpSpPr/>
        <p:nvPr/>
      </p:nvGrpSpPr>
      <p:grpSpPr>
        <a:xfrm>
          <a:off x="0" y="0"/>
          <a:ext cx="0" cy="0"/>
          <a:chOff x="0" y="0"/>
          <a:chExt cx="0" cy="0"/>
        </a:xfrm>
      </p:grpSpPr>
      <p:sp>
        <p:nvSpPr>
          <p:cNvPr id="4" name="矩形 3">
            <a:extLst>
              <a:ext uri="{FF2B5EF4-FFF2-40B4-BE49-F238E27FC236}">
                <a16:creationId xmlns:a16="http://schemas.microsoft.com/office/drawing/2014/main" id="{290B3FC4-F1F9-92E2-A7D7-5E4E021FFACE}"/>
              </a:ext>
            </a:extLst>
          </p:cNvPr>
          <p:cNvSpPr/>
          <p:nvPr/>
        </p:nvSpPr>
        <p:spPr>
          <a:xfrm>
            <a:off x="0" y="0"/>
            <a:ext cx="9143999" cy="5143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5" name="Text Box 140">
            <a:extLst>
              <a:ext uri="{FF2B5EF4-FFF2-40B4-BE49-F238E27FC236}">
                <a16:creationId xmlns:a16="http://schemas.microsoft.com/office/drawing/2014/main" id="{CF3A2C34-7DE5-4A23-CBA2-8BD8EE7ED94E}"/>
              </a:ext>
            </a:extLst>
          </p:cNvPr>
          <p:cNvSpPr txBox="1">
            <a:spLocks noChangeArrowheads="1"/>
          </p:cNvSpPr>
          <p:nvPr/>
        </p:nvSpPr>
        <p:spPr bwMode="auto">
          <a:xfrm>
            <a:off x="4323610" y="1270248"/>
            <a:ext cx="2985875" cy="89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kern="0" dirty="0">
                <a:latin typeface="Montserrat" panose="00000500000000000000" pitchFamily="2" charset="0"/>
                <a:ea typeface="微软雅黑 Light" panose="020B0502040204020203" pitchFamily="34" charset="-122"/>
              </a:rPr>
              <a:t>超时 </a:t>
            </a:r>
            <a:r>
              <a:rPr lang="en-US" altLang="zh-CN" sz="1200" kern="0" dirty="0">
                <a:latin typeface="Montserrat" panose="00000500000000000000" pitchFamily="2" charset="0"/>
                <a:ea typeface="微软雅黑 Light" panose="020B0502040204020203" pitchFamily="34" charset="-122"/>
              </a:rPr>
              <a:t>- </a:t>
            </a:r>
            <a:r>
              <a:rPr lang="zh-CN" altLang="en-US" sz="1200" kern="0" dirty="0">
                <a:latin typeface="Montserrat" panose="00000500000000000000" pitchFamily="2" charset="0"/>
                <a:ea typeface="微软雅黑 Light" panose="020B0502040204020203" pitchFamily="34" charset="-122"/>
              </a:rPr>
              <a:t>网络发生拥塞</a:t>
            </a:r>
            <a:endParaRPr lang="en-US" altLang="zh-CN" sz="1200" kern="0" dirty="0">
              <a:latin typeface="Montserrat" panose="00000500000000000000" pitchFamily="2" charset="0"/>
              <a:ea typeface="微软雅黑 Light" panose="020B0502040204020203" pitchFamily="34" charset="-122"/>
            </a:endParaRPr>
          </a:p>
          <a:p>
            <a:pPr lvl="0" eaLnBrk="1" hangingPunct="1">
              <a:lnSpc>
                <a:spcPts val="1600"/>
              </a:lnSpc>
              <a:defRPr/>
            </a:pPr>
            <a:r>
              <a:rPr lang="en-US" altLang="zh-CN" sz="1200" kern="0" dirty="0">
                <a:latin typeface="Montserrat" panose="00000500000000000000" pitchFamily="2" charset="0"/>
                <a:ea typeface="微软雅黑 Light" panose="020B0502040204020203" pitchFamily="34" charset="-122"/>
              </a:rPr>
              <a:t>ssthresh = 24/2 = 12</a:t>
            </a:r>
          </a:p>
          <a:p>
            <a:pPr lvl="0" eaLnBrk="1" hangingPunct="1">
              <a:lnSpc>
                <a:spcPts val="1600"/>
              </a:lnSpc>
              <a:defRPr/>
            </a:pPr>
            <a:r>
              <a:rPr lang="en-US" altLang="zh-CN" sz="1200" kern="0" dirty="0">
                <a:latin typeface="Montserrat" panose="00000500000000000000" pitchFamily="2" charset="0"/>
                <a:ea typeface="微软雅黑 Light" panose="020B0502040204020203" pitchFamily="34" charset="-122"/>
              </a:rPr>
              <a:t>cwnd = 1</a:t>
            </a:r>
          </a:p>
          <a:p>
            <a:pPr lvl="0" eaLnBrk="1" hangingPunct="1">
              <a:lnSpc>
                <a:spcPts val="1600"/>
              </a:lnSpc>
              <a:defRPr/>
            </a:pPr>
            <a:r>
              <a:rPr lang="zh-CN" altLang="en-US" sz="1200" kern="0" dirty="0">
                <a:latin typeface="Montserrat" panose="00000500000000000000" pitchFamily="2" charset="0"/>
                <a:ea typeface="微软雅黑 Light" panose="020B0502040204020203" pitchFamily="34" charset="-122"/>
              </a:rPr>
              <a:t>进入慢开始</a:t>
            </a:r>
            <a:endParaRPr lang="en-US" altLang="zh-CN" sz="1200" kern="0" dirty="0">
              <a:latin typeface="Montserrat" panose="00000500000000000000" pitchFamily="2" charset="0"/>
              <a:ea typeface="微软雅黑 Light" panose="020B0502040204020203" pitchFamily="34" charset="-122"/>
            </a:endParaRPr>
          </a:p>
        </p:txBody>
      </p:sp>
      <p:sp>
        <p:nvSpPr>
          <p:cNvPr id="156" name="Line 2">
            <a:extLst>
              <a:ext uri="{FF2B5EF4-FFF2-40B4-BE49-F238E27FC236}">
                <a16:creationId xmlns:a16="http://schemas.microsoft.com/office/drawing/2014/main" id="{CCA61C9A-E0F8-8C12-7B1B-B10FDEBB8B76}"/>
              </a:ext>
            </a:extLst>
          </p:cNvPr>
          <p:cNvSpPr>
            <a:spLocks noChangeShapeType="1"/>
          </p:cNvSpPr>
          <p:nvPr/>
        </p:nvSpPr>
        <p:spPr bwMode="auto">
          <a:xfrm flipV="1">
            <a:off x="2292576" y="3905939"/>
            <a:ext cx="4388353" cy="3483"/>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a:extLst>
              <a:ext uri="{FF2B5EF4-FFF2-40B4-BE49-F238E27FC236}">
                <a16:creationId xmlns:a16="http://schemas.microsoft.com/office/drawing/2014/main" id="{D22CC07E-79C0-751D-83B7-00BA6854B782}"/>
              </a:ext>
            </a:extLst>
          </p:cNvPr>
          <p:cNvSpPr>
            <a:spLocks noChangeShapeType="1"/>
          </p:cNvSpPr>
          <p:nvPr/>
        </p:nvSpPr>
        <p:spPr bwMode="auto">
          <a:xfrm>
            <a:off x="2291454" y="2093566"/>
            <a:ext cx="1122" cy="1815856"/>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a:extLst>
              <a:ext uri="{FF2B5EF4-FFF2-40B4-BE49-F238E27FC236}">
                <a16:creationId xmlns:a16="http://schemas.microsoft.com/office/drawing/2014/main" id="{241C16A6-FAFA-F2E6-6FF5-812F51B46972}"/>
              </a:ext>
            </a:extLst>
          </p:cNvPr>
          <p:cNvSpPr>
            <a:spLocks noChangeShapeType="1"/>
          </p:cNvSpPr>
          <p:nvPr/>
        </p:nvSpPr>
        <p:spPr bwMode="auto">
          <a:xfrm>
            <a:off x="2454069" y="3853692"/>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a:extLst>
              <a:ext uri="{FF2B5EF4-FFF2-40B4-BE49-F238E27FC236}">
                <a16:creationId xmlns:a16="http://schemas.microsoft.com/office/drawing/2014/main" id="{89580A75-6877-809A-B003-79E95F06985A}"/>
              </a:ext>
            </a:extLst>
          </p:cNvPr>
          <p:cNvSpPr>
            <a:spLocks noChangeShapeType="1"/>
          </p:cNvSpPr>
          <p:nvPr/>
        </p:nvSpPr>
        <p:spPr bwMode="auto">
          <a:xfrm>
            <a:off x="2615562"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a:extLst>
              <a:ext uri="{FF2B5EF4-FFF2-40B4-BE49-F238E27FC236}">
                <a16:creationId xmlns:a16="http://schemas.microsoft.com/office/drawing/2014/main" id="{DCDD41C2-A820-173A-CE8C-1B7B7C4B509C}"/>
              </a:ext>
            </a:extLst>
          </p:cNvPr>
          <p:cNvSpPr>
            <a:spLocks noChangeShapeType="1"/>
          </p:cNvSpPr>
          <p:nvPr/>
        </p:nvSpPr>
        <p:spPr bwMode="auto">
          <a:xfrm>
            <a:off x="2777055"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a:extLst>
              <a:ext uri="{FF2B5EF4-FFF2-40B4-BE49-F238E27FC236}">
                <a16:creationId xmlns:a16="http://schemas.microsoft.com/office/drawing/2014/main" id="{0412A325-D25D-BF7D-0555-5BFC8D282116}"/>
              </a:ext>
            </a:extLst>
          </p:cNvPr>
          <p:cNvSpPr>
            <a:spLocks noChangeShapeType="1"/>
          </p:cNvSpPr>
          <p:nvPr/>
        </p:nvSpPr>
        <p:spPr bwMode="auto">
          <a:xfrm>
            <a:off x="2938548"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a:extLst>
              <a:ext uri="{FF2B5EF4-FFF2-40B4-BE49-F238E27FC236}">
                <a16:creationId xmlns:a16="http://schemas.microsoft.com/office/drawing/2014/main" id="{9A282DFF-16A1-6CFB-0692-D4ECB7AA2954}"/>
              </a:ext>
            </a:extLst>
          </p:cNvPr>
          <p:cNvSpPr>
            <a:spLocks noChangeShapeType="1"/>
          </p:cNvSpPr>
          <p:nvPr/>
        </p:nvSpPr>
        <p:spPr bwMode="auto">
          <a:xfrm>
            <a:off x="3100042"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a:extLst>
              <a:ext uri="{FF2B5EF4-FFF2-40B4-BE49-F238E27FC236}">
                <a16:creationId xmlns:a16="http://schemas.microsoft.com/office/drawing/2014/main" id="{2358CB44-784F-0E6B-C314-58FE5472DE56}"/>
              </a:ext>
            </a:extLst>
          </p:cNvPr>
          <p:cNvSpPr>
            <a:spLocks noChangeShapeType="1"/>
          </p:cNvSpPr>
          <p:nvPr/>
        </p:nvSpPr>
        <p:spPr bwMode="auto">
          <a:xfrm>
            <a:off x="3261535"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a:extLst>
              <a:ext uri="{FF2B5EF4-FFF2-40B4-BE49-F238E27FC236}">
                <a16:creationId xmlns:a16="http://schemas.microsoft.com/office/drawing/2014/main" id="{98B8D21B-E103-FBE6-01A0-9DA3455EF21F}"/>
              </a:ext>
            </a:extLst>
          </p:cNvPr>
          <p:cNvSpPr>
            <a:spLocks noChangeShapeType="1"/>
          </p:cNvSpPr>
          <p:nvPr/>
        </p:nvSpPr>
        <p:spPr bwMode="auto">
          <a:xfrm>
            <a:off x="3423028"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a:extLst>
              <a:ext uri="{FF2B5EF4-FFF2-40B4-BE49-F238E27FC236}">
                <a16:creationId xmlns:a16="http://schemas.microsoft.com/office/drawing/2014/main" id="{BC61E857-238E-361A-4119-B5F07BDF94D3}"/>
              </a:ext>
            </a:extLst>
          </p:cNvPr>
          <p:cNvSpPr>
            <a:spLocks noChangeShapeType="1"/>
          </p:cNvSpPr>
          <p:nvPr/>
        </p:nvSpPr>
        <p:spPr bwMode="auto">
          <a:xfrm>
            <a:off x="3584521"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a:extLst>
              <a:ext uri="{FF2B5EF4-FFF2-40B4-BE49-F238E27FC236}">
                <a16:creationId xmlns:a16="http://schemas.microsoft.com/office/drawing/2014/main" id="{FABAC1CA-A3F7-DC3C-9C9E-F9E1A4872C10}"/>
              </a:ext>
            </a:extLst>
          </p:cNvPr>
          <p:cNvSpPr>
            <a:spLocks noChangeShapeType="1"/>
          </p:cNvSpPr>
          <p:nvPr/>
        </p:nvSpPr>
        <p:spPr bwMode="auto">
          <a:xfrm>
            <a:off x="3746014"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a:extLst>
              <a:ext uri="{FF2B5EF4-FFF2-40B4-BE49-F238E27FC236}">
                <a16:creationId xmlns:a16="http://schemas.microsoft.com/office/drawing/2014/main" id="{E861CCC8-8100-7387-13DC-E7F279170497}"/>
              </a:ext>
            </a:extLst>
          </p:cNvPr>
          <p:cNvSpPr>
            <a:spLocks noChangeShapeType="1"/>
          </p:cNvSpPr>
          <p:nvPr/>
        </p:nvSpPr>
        <p:spPr bwMode="auto">
          <a:xfrm>
            <a:off x="3907508"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a:extLst>
              <a:ext uri="{FF2B5EF4-FFF2-40B4-BE49-F238E27FC236}">
                <a16:creationId xmlns:a16="http://schemas.microsoft.com/office/drawing/2014/main" id="{420C6EAC-C7D6-691C-006A-FC6D09BF4DC2}"/>
              </a:ext>
            </a:extLst>
          </p:cNvPr>
          <p:cNvSpPr>
            <a:spLocks noChangeShapeType="1"/>
          </p:cNvSpPr>
          <p:nvPr/>
        </p:nvSpPr>
        <p:spPr bwMode="auto">
          <a:xfrm>
            <a:off x="4069001"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a:extLst>
              <a:ext uri="{FF2B5EF4-FFF2-40B4-BE49-F238E27FC236}">
                <a16:creationId xmlns:a16="http://schemas.microsoft.com/office/drawing/2014/main" id="{2C7E6147-3AB9-732F-0410-48CD7FA8FA36}"/>
              </a:ext>
            </a:extLst>
          </p:cNvPr>
          <p:cNvSpPr>
            <a:spLocks noChangeShapeType="1"/>
          </p:cNvSpPr>
          <p:nvPr/>
        </p:nvSpPr>
        <p:spPr bwMode="auto">
          <a:xfrm>
            <a:off x="4230494"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a:extLst>
              <a:ext uri="{FF2B5EF4-FFF2-40B4-BE49-F238E27FC236}">
                <a16:creationId xmlns:a16="http://schemas.microsoft.com/office/drawing/2014/main" id="{DF8C7019-060C-08EE-B34A-D32BE4B276E0}"/>
              </a:ext>
            </a:extLst>
          </p:cNvPr>
          <p:cNvSpPr>
            <a:spLocks noChangeShapeType="1"/>
          </p:cNvSpPr>
          <p:nvPr/>
        </p:nvSpPr>
        <p:spPr bwMode="auto">
          <a:xfrm>
            <a:off x="4391987"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a:extLst>
              <a:ext uri="{FF2B5EF4-FFF2-40B4-BE49-F238E27FC236}">
                <a16:creationId xmlns:a16="http://schemas.microsoft.com/office/drawing/2014/main" id="{D0612CF4-522D-FF80-90DC-A8BCE59882F4}"/>
              </a:ext>
            </a:extLst>
          </p:cNvPr>
          <p:cNvSpPr>
            <a:spLocks noChangeShapeType="1"/>
          </p:cNvSpPr>
          <p:nvPr/>
        </p:nvSpPr>
        <p:spPr bwMode="auto">
          <a:xfrm>
            <a:off x="4553480" y="3853692"/>
            <a:ext cx="0" cy="5573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a:extLst>
              <a:ext uri="{FF2B5EF4-FFF2-40B4-BE49-F238E27FC236}">
                <a16:creationId xmlns:a16="http://schemas.microsoft.com/office/drawing/2014/main" id="{A2EBD069-926C-5092-06EB-79AE3B3782BD}"/>
              </a:ext>
            </a:extLst>
          </p:cNvPr>
          <p:cNvSpPr>
            <a:spLocks noChangeShapeType="1"/>
          </p:cNvSpPr>
          <p:nvPr/>
        </p:nvSpPr>
        <p:spPr bwMode="auto">
          <a:xfrm>
            <a:off x="4714973"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a:extLst>
              <a:ext uri="{FF2B5EF4-FFF2-40B4-BE49-F238E27FC236}">
                <a16:creationId xmlns:a16="http://schemas.microsoft.com/office/drawing/2014/main" id="{FCF861FA-39B3-818C-6E05-45234DB82EE9}"/>
              </a:ext>
            </a:extLst>
          </p:cNvPr>
          <p:cNvSpPr>
            <a:spLocks noChangeShapeType="1"/>
          </p:cNvSpPr>
          <p:nvPr/>
        </p:nvSpPr>
        <p:spPr bwMode="auto">
          <a:xfrm>
            <a:off x="4876467"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a:extLst>
              <a:ext uri="{FF2B5EF4-FFF2-40B4-BE49-F238E27FC236}">
                <a16:creationId xmlns:a16="http://schemas.microsoft.com/office/drawing/2014/main" id="{03ACDDB7-5097-17A8-FCAA-8D1288708716}"/>
              </a:ext>
            </a:extLst>
          </p:cNvPr>
          <p:cNvSpPr>
            <a:spLocks noChangeShapeType="1"/>
          </p:cNvSpPr>
          <p:nvPr/>
        </p:nvSpPr>
        <p:spPr bwMode="auto">
          <a:xfrm>
            <a:off x="5037960"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a:extLst>
              <a:ext uri="{FF2B5EF4-FFF2-40B4-BE49-F238E27FC236}">
                <a16:creationId xmlns:a16="http://schemas.microsoft.com/office/drawing/2014/main" id="{DDFE8D08-49DE-BF64-3B2B-1D26FACE8C81}"/>
              </a:ext>
            </a:extLst>
          </p:cNvPr>
          <p:cNvSpPr>
            <a:spLocks noChangeShapeType="1"/>
          </p:cNvSpPr>
          <p:nvPr/>
        </p:nvSpPr>
        <p:spPr bwMode="auto">
          <a:xfrm>
            <a:off x="5199453"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a:extLst>
              <a:ext uri="{FF2B5EF4-FFF2-40B4-BE49-F238E27FC236}">
                <a16:creationId xmlns:a16="http://schemas.microsoft.com/office/drawing/2014/main" id="{4463E54A-D828-B4B4-A002-CD074184621A}"/>
              </a:ext>
            </a:extLst>
          </p:cNvPr>
          <p:cNvSpPr>
            <a:spLocks noChangeShapeType="1"/>
          </p:cNvSpPr>
          <p:nvPr/>
        </p:nvSpPr>
        <p:spPr bwMode="auto">
          <a:xfrm>
            <a:off x="5360946"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a:extLst>
              <a:ext uri="{FF2B5EF4-FFF2-40B4-BE49-F238E27FC236}">
                <a16:creationId xmlns:a16="http://schemas.microsoft.com/office/drawing/2014/main" id="{1734A2B7-9272-E9BD-369F-C897DC5AB217}"/>
              </a:ext>
            </a:extLst>
          </p:cNvPr>
          <p:cNvSpPr>
            <a:spLocks noChangeShapeType="1"/>
          </p:cNvSpPr>
          <p:nvPr/>
        </p:nvSpPr>
        <p:spPr bwMode="auto">
          <a:xfrm>
            <a:off x="5522439"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a:extLst>
              <a:ext uri="{FF2B5EF4-FFF2-40B4-BE49-F238E27FC236}">
                <a16:creationId xmlns:a16="http://schemas.microsoft.com/office/drawing/2014/main" id="{DC41BE7B-33FA-F611-8C24-AAD26A60B9DC}"/>
              </a:ext>
            </a:extLst>
          </p:cNvPr>
          <p:cNvSpPr>
            <a:spLocks noChangeShapeType="1"/>
          </p:cNvSpPr>
          <p:nvPr/>
        </p:nvSpPr>
        <p:spPr bwMode="auto">
          <a:xfrm>
            <a:off x="5683933"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a:extLst>
              <a:ext uri="{FF2B5EF4-FFF2-40B4-BE49-F238E27FC236}">
                <a16:creationId xmlns:a16="http://schemas.microsoft.com/office/drawing/2014/main" id="{F4E71585-2648-F80A-1247-6278B5F7662D}"/>
              </a:ext>
            </a:extLst>
          </p:cNvPr>
          <p:cNvSpPr>
            <a:spLocks noChangeShapeType="1"/>
          </p:cNvSpPr>
          <p:nvPr/>
        </p:nvSpPr>
        <p:spPr bwMode="auto">
          <a:xfrm>
            <a:off x="5845426" y="3797962"/>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a:extLst>
              <a:ext uri="{FF2B5EF4-FFF2-40B4-BE49-F238E27FC236}">
                <a16:creationId xmlns:a16="http://schemas.microsoft.com/office/drawing/2014/main" id="{4FEF1137-7D5A-8D50-7B8C-A89545E83BE8}"/>
              </a:ext>
            </a:extLst>
          </p:cNvPr>
          <p:cNvSpPr>
            <a:spLocks noChangeShapeType="1"/>
          </p:cNvSpPr>
          <p:nvPr/>
        </p:nvSpPr>
        <p:spPr bwMode="auto">
          <a:xfrm>
            <a:off x="2292576" y="3630773"/>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a:extLst>
              <a:ext uri="{FF2B5EF4-FFF2-40B4-BE49-F238E27FC236}">
                <a16:creationId xmlns:a16="http://schemas.microsoft.com/office/drawing/2014/main" id="{089E854B-D9E8-8535-9F8A-7CE8C95FCABC}"/>
              </a:ext>
            </a:extLst>
          </p:cNvPr>
          <p:cNvSpPr>
            <a:spLocks noChangeShapeType="1"/>
          </p:cNvSpPr>
          <p:nvPr/>
        </p:nvSpPr>
        <p:spPr bwMode="auto">
          <a:xfrm>
            <a:off x="2292576" y="3352125"/>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a:extLst>
              <a:ext uri="{FF2B5EF4-FFF2-40B4-BE49-F238E27FC236}">
                <a16:creationId xmlns:a16="http://schemas.microsoft.com/office/drawing/2014/main" id="{AF7987D5-204B-EB61-9D08-EED8FF8FD84C}"/>
              </a:ext>
            </a:extLst>
          </p:cNvPr>
          <p:cNvSpPr>
            <a:spLocks noChangeShapeType="1"/>
          </p:cNvSpPr>
          <p:nvPr/>
        </p:nvSpPr>
        <p:spPr bwMode="auto">
          <a:xfrm>
            <a:off x="2292576" y="3073477"/>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a:extLst>
              <a:ext uri="{FF2B5EF4-FFF2-40B4-BE49-F238E27FC236}">
                <a16:creationId xmlns:a16="http://schemas.microsoft.com/office/drawing/2014/main" id="{2D920488-A07F-7299-636B-37E871319900}"/>
              </a:ext>
            </a:extLst>
          </p:cNvPr>
          <p:cNvSpPr>
            <a:spLocks noChangeShapeType="1"/>
          </p:cNvSpPr>
          <p:nvPr/>
        </p:nvSpPr>
        <p:spPr bwMode="auto">
          <a:xfrm>
            <a:off x="2292576" y="2794830"/>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a:extLst>
              <a:ext uri="{FF2B5EF4-FFF2-40B4-BE49-F238E27FC236}">
                <a16:creationId xmlns:a16="http://schemas.microsoft.com/office/drawing/2014/main" id="{3E57CE6D-F931-E122-CB92-DA5DCAEBB6C3}"/>
              </a:ext>
            </a:extLst>
          </p:cNvPr>
          <p:cNvSpPr>
            <a:spLocks noChangeShapeType="1"/>
          </p:cNvSpPr>
          <p:nvPr/>
        </p:nvSpPr>
        <p:spPr bwMode="auto">
          <a:xfrm>
            <a:off x="2292576" y="2516182"/>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a:extLst>
              <a:ext uri="{FF2B5EF4-FFF2-40B4-BE49-F238E27FC236}">
                <a16:creationId xmlns:a16="http://schemas.microsoft.com/office/drawing/2014/main" id="{92257CE2-9839-9AA3-CC5F-E7A841AD735D}"/>
              </a:ext>
            </a:extLst>
          </p:cNvPr>
          <p:cNvSpPr>
            <a:spLocks noChangeShapeType="1"/>
          </p:cNvSpPr>
          <p:nvPr/>
        </p:nvSpPr>
        <p:spPr bwMode="auto">
          <a:xfrm>
            <a:off x="2292576" y="2237534"/>
            <a:ext cx="1614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a:extLst>
              <a:ext uri="{FF2B5EF4-FFF2-40B4-BE49-F238E27FC236}">
                <a16:creationId xmlns:a16="http://schemas.microsoft.com/office/drawing/2014/main" id="{BFB404FF-67FC-9558-0583-9319A758A225}"/>
              </a:ext>
            </a:extLst>
          </p:cNvPr>
          <p:cNvSpPr txBox="1">
            <a:spLocks noChangeArrowheads="1"/>
          </p:cNvSpPr>
          <p:nvPr/>
        </p:nvSpPr>
        <p:spPr bwMode="auto">
          <a:xfrm>
            <a:off x="2487332" y="386878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87" name="Text Box 78">
            <a:extLst>
              <a:ext uri="{FF2B5EF4-FFF2-40B4-BE49-F238E27FC236}">
                <a16:creationId xmlns:a16="http://schemas.microsoft.com/office/drawing/2014/main" id="{8DB78FD1-1227-C00F-E097-081C115A3EA9}"/>
              </a:ext>
            </a:extLst>
          </p:cNvPr>
          <p:cNvSpPr txBox="1">
            <a:spLocks noChangeArrowheads="1"/>
          </p:cNvSpPr>
          <p:nvPr/>
        </p:nvSpPr>
        <p:spPr bwMode="auto">
          <a:xfrm>
            <a:off x="2810319" y="386878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88" name="Text Box 79">
            <a:extLst>
              <a:ext uri="{FF2B5EF4-FFF2-40B4-BE49-F238E27FC236}">
                <a16:creationId xmlns:a16="http://schemas.microsoft.com/office/drawing/2014/main" id="{939A57E8-B94B-C96D-ADF7-9C3B892261E1}"/>
              </a:ext>
            </a:extLst>
          </p:cNvPr>
          <p:cNvSpPr txBox="1">
            <a:spLocks noChangeArrowheads="1"/>
          </p:cNvSpPr>
          <p:nvPr/>
        </p:nvSpPr>
        <p:spPr bwMode="auto">
          <a:xfrm>
            <a:off x="3133305" y="386878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89" name="Text Box 80">
            <a:extLst>
              <a:ext uri="{FF2B5EF4-FFF2-40B4-BE49-F238E27FC236}">
                <a16:creationId xmlns:a16="http://schemas.microsoft.com/office/drawing/2014/main" id="{CA361A09-393C-2715-C0EC-BF140D6AE688}"/>
              </a:ext>
            </a:extLst>
          </p:cNvPr>
          <p:cNvSpPr txBox="1">
            <a:spLocks noChangeArrowheads="1"/>
          </p:cNvSpPr>
          <p:nvPr/>
        </p:nvSpPr>
        <p:spPr bwMode="auto">
          <a:xfrm>
            <a:off x="3465264" y="386878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0" name="Text Box 81">
            <a:extLst>
              <a:ext uri="{FF2B5EF4-FFF2-40B4-BE49-F238E27FC236}">
                <a16:creationId xmlns:a16="http://schemas.microsoft.com/office/drawing/2014/main" id="{C626713C-75D5-7252-AE73-B3BDE2BFC54B}"/>
              </a:ext>
            </a:extLst>
          </p:cNvPr>
          <p:cNvSpPr txBox="1">
            <a:spLocks noChangeArrowheads="1"/>
          </p:cNvSpPr>
          <p:nvPr/>
        </p:nvSpPr>
        <p:spPr bwMode="auto">
          <a:xfrm>
            <a:off x="3734419"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91" name="Text Box 82">
            <a:extLst>
              <a:ext uri="{FF2B5EF4-FFF2-40B4-BE49-F238E27FC236}">
                <a16:creationId xmlns:a16="http://schemas.microsoft.com/office/drawing/2014/main" id="{B1210985-9667-D5A7-6003-46E56C697B3E}"/>
              </a:ext>
            </a:extLst>
          </p:cNvPr>
          <p:cNvSpPr txBox="1">
            <a:spLocks noChangeArrowheads="1"/>
          </p:cNvSpPr>
          <p:nvPr/>
        </p:nvSpPr>
        <p:spPr bwMode="auto">
          <a:xfrm>
            <a:off x="4084321"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a:extLst>
              <a:ext uri="{FF2B5EF4-FFF2-40B4-BE49-F238E27FC236}">
                <a16:creationId xmlns:a16="http://schemas.microsoft.com/office/drawing/2014/main" id="{7AA6EB91-22DA-6173-0386-99F86321565E}"/>
              </a:ext>
            </a:extLst>
          </p:cNvPr>
          <p:cNvSpPr txBox="1">
            <a:spLocks noChangeArrowheads="1"/>
          </p:cNvSpPr>
          <p:nvPr/>
        </p:nvSpPr>
        <p:spPr bwMode="auto">
          <a:xfrm>
            <a:off x="4389363"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93" name="Text Box 84">
            <a:extLst>
              <a:ext uri="{FF2B5EF4-FFF2-40B4-BE49-F238E27FC236}">
                <a16:creationId xmlns:a16="http://schemas.microsoft.com/office/drawing/2014/main" id="{63A8FCD2-07BB-BF43-B8F1-FB0CDD33DE16}"/>
              </a:ext>
            </a:extLst>
          </p:cNvPr>
          <p:cNvSpPr txBox="1">
            <a:spLocks noChangeArrowheads="1"/>
          </p:cNvSpPr>
          <p:nvPr/>
        </p:nvSpPr>
        <p:spPr bwMode="auto">
          <a:xfrm>
            <a:off x="4712350"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4" name="Text Box 85">
            <a:extLst>
              <a:ext uri="{FF2B5EF4-FFF2-40B4-BE49-F238E27FC236}">
                <a16:creationId xmlns:a16="http://schemas.microsoft.com/office/drawing/2014/main" id="{0B399142-AB73-2AB0-220F-C6889C99BA42}"/>
              </a:ext>
            </a:extLst>
          </p:cNvPr>
          <p:cNvSpPr txBox="1">
            <a:spLocks noChangeArrowheads="1"/>
          </p:cNvSpPr>
          <p:nvPr/>
        </p:nvSpPr>
        <p:spPr bwMode="auto">
          <a:xfrm>
            <a:off x="5046552"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95" name="Text Box 86">
            <a:extLst>
              <a:ext uri="{FF2B5EF4-FFF2-40B4-BE49-F238E27FC236}">
                <a16:creationId xmlns:a16="http://schemas.microsoft.com/office/drawing/2014/main" id="{039DD7BF-FEAF-C5F5-B3D6-7665D46EA565}"/>
              </a:ext>
            </a:extLst>
          </p:cNvPr>
          <p:cNvSpPr txBox="1">
            <a:spLocks noChangeArrowheads="1"/>
          </p:cNvSpPr>
          <p:nvPr/>
        </p:nvSpPr>
        <p:spPr bwMode="auto">
          <a:xfrm>
            <a:off x="5369537" y="3868785"/>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96" name="Text Box 87">
            <a:extLst>
              <a:ext uri="{FF2B5EF4-FFF2-40B4-BE49-F238E27FC236}">
                <a16:creationId xmlns:a16="http://schemas.microsoft.com/office/drawing/2014/main" id="{A5BE9E6B-584C-E85A-4357-FA1666F7D0F3}"/>
              </a:ext>
            </a:extLst>
          </p:cNvPr>
          <p:cNvSpPr txBox="1">
            <a:spLocks noChangeArrowheads="1"/>
          </p:cNvSpPr>
          <p:nvPr/>
        </p:nvSpPr>
        <p:spPr bwMode="auto">
          <a:xfrm>
            <a:off x="5683552" y="387458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97" name="Text Box 89">
            <a:extLst>
              <a:ext uri="{FF2B5EF4-FFF2-40B4-BE49-F238E27FC236}">
                <a16:creationId xmlns:a16="http://schemas.microsoft.com/office/drawing/2014/main" id="{36BF714F-DB70-31B4-8DC1-3709542D082B}"/>
              </a:ext>
            </a:extLst>
          </p:cNvPr>
          <p:cNvSpPr txBox="1">
            <a:spLocks noChangeArrowheads="1"/>
          </p:cNvSpPr>
          <p:nvPr/>
        </p:nvSpPr>
        <p:spPr bwMode="auto">
          <a:xfrm>
            <a:off x="2191261" y="3868785"/>
            <a:ext cx="26321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a:extLst>
              <a:ext uri="{FF2B5EF4-FFF2-40B4-BE49-F238E27FC236}">
                <a16:creationId xmlns:a16="http://schemas.microsoft.com/office/drawing/2014/main" id="{6F9A7712-0D33-58EC-A3E9-A2DD16F7D939}"/>
              </a:ext>
            </a:extLst>
          </p:cNvPr>
          <p:cNvSpPr txBox="1">
            <a:spLocks noChangeArrowheads="1"/>
          </p:cNvSpPr>
          <p:nvPr/>
        </p:nvSpPr>
        <p:spPr bwMode="auto">
          <a:xfrm>
            <a:off x="2104166" y="3759648"/>
            <a:ext cx="263214"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a:extLst>
              <a:ext uri="{FF2B5EF4-FFF2-40B4-BE49-F238E27FC236}">
                <a16:creationId xmlns:a16="http://schemas.microsoft.com/office/drawing/2014/main" id="{522CA7CF-9496-A1F2-5A92-85B7AD232982}"/>
              </a:ext>
            </a:extLst>
          </p:cNvPr>
          <p:cNvSpPr txBox="1">
            <a:spLocks noChangeArrowheads="1"/>
          </p:cNvSpPr>
          <p:nvPr/>
        </p:nvSpPr>
        <p:spPr bwMode="auto">
          <a:xfrm>
            <a:off x="2090518" y="3481001"/>
            <a:ext cx="263214"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00" name="Text Box 92">
            <a:extLst>
              <a:ext uri="{FF2B5EF4-FFF2-40B4-BE49-F238E27FC236}">
                <a16:creationId xmlns:a16="http://schemas.microsoft.com/office/drawing/2014/main" id="{4CF72078-2887-B2EF-0DB7-941A33EEDBB7}"/>
              </a:ext>
            </a:extLst>
          </p:cNvPr>
          <p:cNvSpPr txBox="1">
            <a:spLocks noChangeArrowheads="1"/>
          </p:cNvSpPr>
          <p:nvPr/>
        </p:nvSpPr>
        <p:spPr bwMode="auto">
          <a:xfrm>
            <a:off x="2090518" y="3211640"/>
            <a:ext cx="263214"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a:extLst>
              <a:ext uri="{FF2B5EF4-FFF2-40B4-BE49-F238E27FC236}">
                <a16:creationId xmlns:a16="http://schemas.microsoft.com/office/drawing/2014/main" id="{9807B0FC-64E3-7310-A19D-A9D9F819E047}"/>
              </a:ext>
            </a:extLst>
          </p:cNvPr>
          <p:cNvSpPr txBox="1">
            <a:spLocks noChangeArrowheads="1"/>
          </p:cNvSpPr>
          <p:nvPr/>
        </p:nvSpPr>
        <p:spPr bwMode="auto">
          <a:xfrm>
            <a:off x="2009773" y="2942281"/>
            <a:ext cx="341760"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2" name="Text Box 94">
            <a:extLst>
              <a:ext uri="{FF2B5EF4-FFF2-40B4-BE49-F238E27FC236}">
                <a16:creationId xmlns:a16="http://schemas.microsoft.com/office/drawing/2014/main" id="{1E609AC8-15D1-CE48-D985-1BF75838F82B}"/>
              </a:ext>
            </a:extLst>
          </p:cNvPr>
          <p:cNvSpPr txBox="1">
            <a:spLocks noChangeArrowheads="1"/>
          </p:cNvSpPr>
          <p:nvPr/>
        </p:nvSpPr>
        <p:spPr bwMode="auto">
          <a:xfrm>
            <a:off x="2009773" y="2672921"/>
            <a:ext cx="341760"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03" name="Text Box 95">
            <a:extLst>
              <a:ext uri="{FF2B5EF4-FFF2-40B4-BE49-F238E27FC236}">
                <a16:creationId xmlns:a16="http://schemas.microsoft.com/office/drawing/2014/main" id="{5045696F-DF2E-4FCC-B964-436D22235360}"/>
              </a:ext>
            </a:extLst>
          </p:cNvPr>
          <p:cNvSpPr txBox="1">
            <a:spLocks noChangeArrowheads="1"/>
          </p:cNvSpPr>
          <p:nvPr/>
        </p:nvSpPr>
        <p:spPr bwMode="auto">
          <a:xfrm>
            <a:off x="2009773" y="2394274"/>
            <a:ext cx="341760"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04" name="Text Box 96">
            <a:extLst>
              <a:ext uri="{FF2B5EF4-FFF2-40B4-BE49-F238E27FC236}">
                <a16:creationId xmlns:a16="http://schemas.microsoft.com/office/drawing/2014/main" id="{4764CA72-E815-C41F-EB29-40FAB6AAA6A6}"/>
              </a:ext>
            </a:extLst>
          </p:cNvPr>
          <p:cNvSpPr txBox="1">
            <a:spLocks noChangeArrowheads="1"/>
          </p:cNvSpPr>
          <p:nvPr/>
        </p:nvSpPr>
        <p:spPr bwMode="auto">
          <a:xfrm>
            <a:off x="2009773" y="2115626"/>
            <a:ext cx="341760" cy="24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a:extLst>
              <a:ext uri="{FF2B5EF4-FFF2-40B4-BE49-F238E27FC236}">
                <a16:creationId xmlns:a16="http://schemas.microsoft.com/office/drawing/2014/main" id="{7DB2AED6-D1CC-3CF6-F601-D91332363294}"/>
              </a:ext>
            </a:extLst>
          </p:cNvPr>
          <p:cNvSpPr>
            <a:spLocks noChangeArrowheads="1"/>
          </p:cNvSpPr>
          <p:nvPr/>
        </p:nvSpPr>
        <p:spPr bwMode="auto">
          <a:xfrm>
            <a:off x="2743411" y="3324261"/>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a:extLst>
              <a:ext uri="{FF2B5EF4-FFF2-40B4-BE49-F238E27FC236}">
                <a16:creationId xmlns:a16="http://schemas.microsoft.com/office/drawing/2014/main" id="{CD52609F-6EEF-83A0-CB2B-0042B89018F8}"/>
              </a:ext>
            </a:extLst>
          </p:cNvPr>
          <p:cNvSpPr>
            <a:spLocks noChangeArrowheads="1"/>
          </p:cNvSpPr>
          <p:nvPr/>
        </p:nvSpPr>
        <p:spPr bwMode="auto">
          <a:xfrm>
            <a:off x="2581918" y="360290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a:extLst>
              <a:ext uri="{FF2B5EF4-FFF2-40B4-BE49-F238E27FC236}">
                <a16:creationId xmlns:a16="http://schemas.microsoft.com/office/drawing/2014/main" id="{0C44C2C7-1165-6349-2402-7AA8F4EC8750}"/>
              </a:ext>
            </a:extLst>
          </p:cNvPr>
          <p:cNvSpPr>
            <a:spLocks noChangeArrowheads="1"/>
          </p:cNvSpPr>
          <p:nvPr/>
        </p:nvSpPr>
        <p:spPr bwMode="auto">
          <a:xfrm>
            <a:off x="2265660" y="378403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a:extLst>
              <a:ext uri="{FF2B5EF4-FFF2-40B4-BE49-F238E27FC236}">
                <a16:creationId xmlns:a16="http://schemas.microsoft.com/office/drawing/2014/main" id="{074466F0-754E-24F4-DB83-5FEDE9EE8D01}"/>
              </a:ext>
            </a:extLst>
          </p:cNvPr>
          <p:cNvSpPr>
            <a:spLocks noChangeArrowheads="1"/>
          </p:cNvSpPr>
          <p:nvPr/>
        </p:nvSpPr>
        <p:spPr bwMode="auto">
          <a:xfrm>
            <a:off x="2413696" y="373526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a:extLst>
              <a:ext uri="{FF2B5EF4-FFF2-40B4-BE49-F238E27FC236}">
                <a16:creationId xmlns:a16="http://schemas.microsoft.com/office/drawing/2014/main" id="{AD2DE263-384E-A8BA-6A82-36391EA31C07}"/>
              </a:ext>
            </a:extLst>
          </p:cNvPr>
          <p:cNvSpPr>
            <a:spLocks noChangeArrowheads="1"/>
          </p:cNvSpPr>
          <p:nvPr/>
        </p:nvSpPr>
        <p:spPr bwMode="auto">
          <a:xfrm>
            <a:off x="2904904" y="276464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a:extLst>
              <a:ext uri="{FF2B5EF4-FFF2-40B4-BE49-F238E27FC236}">
                <a16:creationId xmlns:a16="http://schemas.microsoft.com/office/drawing/2014/main" id="{DC329849-9FC0-37D2-2943-950AA2FEF10C}"/>
              </a:ext>
            </a:extLst>
          </p:cNvPr>
          <p:cNvSpPr>
            <a:spLocks noChangeArrowheads="1"/>
          </p:cNvSpPr>
          <p:nvPr/>
        </p:nvSpPr>
        <p:spPr bwMode="auto">
          <a:xfrm>
            <a:off x="3066397" y="269033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a:extLst>
              <a:ext uri="{FF2B5EF4-FFF2-40B4-BE49-F238E27FC236}">
                <a16:creationId xmlns:a16="http://schemas.microsoft.com/office/drawing/2014/main" id="{2803FD9F-8082-49A1-A095-0AEC0F8C96FC}"/>
              </a:ext>
            </a:extLst>
          </p:cNvPr>
          <p:cNvSpPr>
            <a:spLocks noChangeArrowheads="1"/>
          </p:cNvSpPr>
          <p:nvPr/>
        </p:nvSpPr>
        <p:spPr bwMode="auto">
          <a:xfrm>
            <a:off x="3227890" y="262415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a:extLst>
              <a:ext uri="{FF2B5EF4-FFF2-40B4-BE49-F238E27FC236}">
                <a16:creationId xmlns:a16="http://schemas.microsoft.com/office/drawing/2014/main" id="{E8F96F53-876B-FCED-8EDD-000443954056}"/>
              </a:ext>
            </a:extLst>
          </p:cNvPr>
          <p:cNvSpPr>
            <a:spLocks noChangeArrowheads="1"/>
          </p:cNvSpPr>
          <p:nvPr/>
        </p:nvSpPr>
        <p:spPr bwMode="auto">
          <a:xfrm>
            <a:off x="3554241" y="248483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a:extLst>
              <a:ext uri="{FF2B5EF4-FFF2-40B4-BE49-F238E27FC236}">
                <a16:creationId xmlns:a16="http://schemas.microsoft.com/office/drawing/2014/main" id="{78AC61F3-34C9-5201-A0D3-5A7D9E401649}"/>
              </a:ext>
            </a:extLst>
          </p:cNvPr>
          <p:cNvSpPr>
            <a:spLocks noChangeArrowheads="1"/>
          </p:cNvSpPr>
          <p:nvPr/>
        </p:nvSpPr>
        <p:spPr bwMode="auto">
          <a:xfrm>
            <a:off x="3389384" y="255449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a:extLst>
              <a:ext uri="{FF2B5EF4-FFF2-40B4-BE49-F238E27FC236}">
                <a16:creationId xmlns:a16="http://schemas.microsoft.com/office/drawing/2014/main" id="{90A92ECE-9020-07DD-B625-E6BEAF9CF0F9}"/>
              </a:ext>
            </a:extLst>
          </p:cNvPr>
          <p:cNvSpPr>
            <a:spLocks noChangeArrowheads="1"/>
          </p:cNvSpPr>
          <p:nvPr/>
        </p:nvSpPr>
        <p:spPr bwMode="auto">
          <a:xfrm>
            <a:off x="3715734" y="241517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a:extLst>
              <a:ext uri="{FF2B5EF4-FFF2-40B4-BE49-F238E27FC236}">
                <a16:creationId xmlns:a16="http://schemas.microsoft.com/office/drawing/2014/main" id="{44FB06EF-9017-F9F2-8ABE-D519EDB1A363}"/>
              </a:ext>
            </a:extLst>
          </p:cNvPr>
          <p:cNvSpPr>
            <a:spLocks noChangeArrowheads="1"/>
          </p:cNvSpPr>
          <p:nvPr/>
        </p:nvSpPr>
        <p:spPr bwMode="auto">
          <a:xfrm>
            <a:off x="3873863" y="2348993"/>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a:extLst>
              <a:ext uri="{FF2B5EF4-FFF2-40B4-BE49-F238E27FC236}">
                <a16:creationId xmlns:a16="http://schemas.microsoft.com/office/drawing/2014/main" id="{A6AF34B7-FDE9-A2E2-8C45-3F97C2AE801E}"/>
              </a:ext>
            </a:extLst>
          </p:cNvPr>
          <p:cNvSpPr>
            <a:spLocks noChangeArrowheads="1"/>
          </p:cNvSpPr>
          <p:nvPr/>
        </p:nvSpPr>
        <p:spPr bwMode="auto">
          <a:xfrm>
            <a:off x="4193485" y="2199220"/>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a:extLst>
              <a:ext uri="{FF2B5EF4-FFF2-40B4-BE49-F238E27FC236}">
                <a16:creationId xmlns:a16="http://schemas.microsoft.com/office/drawing/2014/main" id="{5BE023AE-0392-9FE9-1EAA-C73019CD33A3}"/>
              </a:ext>
            </a:extLst>
          </p:cNvPr>
          <p:cNvSpPr>
            <a:spLocks noChangeArrowheads="1"/>
          </p:cNvSpPr>
          <p:nvPr/>
        </p:nvSpPr>
        <p:spPr bwMode="auto">
          <a:xfrm>
            <a:off x="4035356" y="2268882"/>
            <a:ext cx="62803" cy="65018"/>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a:extLst>
              <a:ext uri="{FF2B5EF4-FFF2-40B4-BE49-F238E27FC236}">
                <a16:creationId xmlns:a16="http://schemas.microsoft.com/office/drawing/2014/main" id="{9593C3D5-B966-E96F-164D-4F663B9A90AD}"/>
              </a:ext>
            </a:extLst>
          </p:cNvPr>
          <p:cNvSpPr>
            <a:spLocks/>
          </p:cNvSpPr>
          <p:nvPr/>
        </p:nvSpPr>
        <p:spPr bwMode="auto">
          <a:xfrm>
            <a:off x="2238745" y="2237534"/>
            <a:ext cx="1988384" cy="159061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a:extLst>
              <a:ext uri="{FF2B5EF4-FFF2-40B4-BE49-F238E27FC236}">
                <a16:creationId xmlns:a16="http://schemas.microsoft.com/office/drawing/2014/main" id="{3DB4DD17-DBAD-0C34-AB4B-0567D0BD881D}"/>
              </a:ext>
            </a:extLst>
          </p:cNvPr>
          <p:cNvSpPr txBox="1">
            <a:spLocks noChangeArrowheads="1"/>
          </p:cNvSpPr>
          <p:nvPr/>
        </p:nvSpPr>
        <p:spPr bwMode="auto">
          <a:xfrm>
            <a:off x="6682049" y="3763130"/>
            <a:ext cx="4716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en-US" altLang="zh-CN" sz="1200" kern="0" dirty="0">
                <a:solidFill>
                  <a:srgbClr val="000000"/>
                </a:solidFill>
                <a:latin typeface="Montserrat" panose="00000500000000000000" pitchFamily="2" charset="0"/>
                <a:ea typeface="微软雅黑 Light" panose="020B0502040204020203" pitchFamily="34" charset="-122"/>
              </a:rPr>
              <a:t>RTT</a:t>
            </a:r>
            <a:endParaRPr lang="zh-CN" altLang="en-US" sz="1200" kern="0" dirty="0">
              <a:solidFill>
                <a:srgbClr val="000000"/>
              </a:solidFill>
              <a:latin typeface="Montserrat" panose="00000500000000000000" pitchFamily="2" charset="0"/>
              <a:ea typeface="微软雅黑 Light" panose="020B0502040204020203" pitchFamily="34" charset="-122"/>
            </a:endParaRPr>
          </a:p>
        </p:txBody>
      </p:sp>
      <p:sp>
        <p:nvSpPr>
          <p:cNvPr id="220" name="Text Box 135">
            <a:extLst>
              <a:ext uri="{FF2B5EF4-FFF2-40B4-BE49-F238E27FC236}">
                <a16:creationId xmlns:a16="http://schemas.microsoft.com/office/drawing/2014/main" id="{6777BF84-C13F-173C-7DF3-9388112601E7}"/>
              </a:ext>
            </a:extLst>
          </p:cNvPr>
          <p:cNvSpPr txBox="1">
            <a:spLocks noChangeArrowheads="1"/>
          </p:cNvSpPr>
          <p:nvPr/>
        </p:nvSpPr>
        <p:spPr bwMode="auto">
          <a:xfrm>
            <a:off x="1989114" y="1858705"/>
            <a:ext cx="614272" cy="276999"/>
          </a:xfrm>
          <a:prstGeom prst="rect">
            <a:avLst/>
          </a:prstGeom>
          <a:noFill/>
          <a:ln w="9525">
            <a:noFill/>
            <a:miter lim="800000"/>
            <a:headEnd/>
            <a:tailEnd/>
          </a:ln>
        </p:spPr>
        <p:txBody>
          <a:bodyPr wrap="none">
            <a:spAutoFit/>
          </a:bodyPr>
          <a:lstStyle>
            <a:defPPr>
              <a:defRPr lang="zh-CN"/>
            </a:defPPr>
            <a:lvl1pPr marR="0" lvl="0" indent="0" algn="ctr" fontAlgn="auto">
              <a:lnSpc>
                <a:spcPct val="100000"/>
              </a:lnSpc>
              <a:spcBef>
                <a:spcPts val="0"/>
              </a:spcBef>
              <a:spcAft>
                <a:spcPts val="0"/>
              </a:spcAft>
              <a:buClrTx/>
              <a:buSzTx/>
              <a:buFontTx/>
              <a:buNone/>
              <a:tabLst/>
              <a:defRPr kumimoji="1" sz="1200" i="0" u="none" strike="noStrike" kern="0" cap="none" spc="0" normalizeH="0" baseline="0">
                <a:ln>
                  <a:noFill/>
                </a:ln>
                <a:solidFill>
                  <a:srgbClr val="CC00CC"/>
                </a:solidFill>
                <a:effectLst/>
                <a:uLnTx/>
                <a:uFillTx/>
                <a:latin typeface="微软雅黑" pitchFamily="34" charset="-122"/>
                <a:ea typeface="微软雅黑" pitchFamily="34" charset="-122"/>
              </a:defRPr>
            </a:lvl1pPr>
            <a:lvl2pPr marL="742950" indent="-285750" eaLnBrk="0" hangingPunct="0">
              <a:defRPr kumimoji="1" sz="2400">
                <a:latin typeface="Times New Roman" pitchFamily="18" charset="0"/>
                <a:ea typeface="宋体" charset="-122"/>
              </a:defRPr>
            </a:lvl2pPr>
            <a:lvl3pPr marL="1143000" indent="-228600" eaLnBrk="0" hangingPunct="0">
              <a:defRPr kumimoji="1" sz="2400">
                <a:latin typeface="Times New Roman" pitchFamily="18" charset="0"/>
                <a:ea typeface="宋体" charset="-122"/>
              </a:defRPr>
            </a:lvl3pPr>
            <a:lvl4pPr marL="1600200" indent="-228600" eaLnBrk="0" hangingPunct="0">
              <a:defRPr kumimoji="1" sz="2400">
                <a:latin typeface="Times New Roman" pitchFamily="18" charset="0"/>
                <a:ea typeface="宋体" charset="-122"/>
              </a:defRPr>
            </a:lvl4pPr>
            <a:lvl5pPr marL="2057400" indent="-228600" eaLnBrk="0" hangingPunct="0">
              <a:defRPr kumimoji="1" sz="2400">
                <a:latin typeface="Times New Roman" pitchFamily="18" charset="0"/>
                <a:ea typeface="宋体" charset="-122"/>
              </a:defRPr>
            </a:lvl5pPr>
            <a:lvl6pPr marL="2514600" indent="-228600" eaLnBrk="0" fontAlgn="base" hangingPunct="0">
              <a:spcBef>
                <a:spcPct val="0"/>
              </a:spcBef>
              <a:spcAft>
                <a:spcPct val="0"/>
              </a:spcAft>
              <a:defRPr kumimoji="1" sz="2400">
                <a:latin typeface="Times New Roman" pitchFamily="18" charset="0"/>
                <a:ea typeface="宋体" charset="-122"/>
              </a:defRPr>
            </a:lvl6pPr>
            <a:lvl7pPr marL="2971800" indent="-228600" eaLnBrk="0" fontAlgn="base" hangingPunct="0">
              <a:spcBef>
                <a:spcPct val="0"/>
              </a:spcBef>
              <a:spcAft>
                <a:spcPct val="0"/>
              </a:spcAft>
              <a:defRPr kumimoji="1" sz="2400">
                <a:latin typeface="Times New Roman" pitchFamily="18" charset="0"/>
                <a:ea typeface="宋体" charset="-122"/>
              </a:defRPr>
            </a:lvl7pPr>
            <a:lvl8pPr marL="3429000" indent="-228600" eaLnBrk="0" fontAlgn="base" hangingPunct="0">
              <a:spcBef>
                <a:spcPct val="0"/>
              </a:spcBef>
              <a:spcAft>
                <a:spcPct val="0"/>
              </a:spcAft>
              <a:defRPr kumimoji="1" sz="2400">
                <a:latin typeface="Times New Roman" pitchFamily="18" charset="0"/>
                <a:ea typeface="宋体" charset="-122"/>
              </a:defRPr>
            </a:lvl8pPr>
            <a:lvl9pPr marL="3886200" indent="-228600" eaLnBrk="0" fontAlgn="base" hangingPunct="0">
              <a:spcBef>
                <a:spcPct val="0"/>
              </a:spcBef>
              <a:spcAft>
                <a:spcPct val="0"/>
              </a:spcAft>
              <a:defRPr kumimoji="1" sz="2400">
                <a:latin typeface="Times New Roman" pitchFamily="18" charset="0"/>
                <a:ea typeface="宋体" charset="-122"/>
              </a:defRPr>
            </a:lvl9pPr>
          </a:lstStyle>
          <a:p>
            <a:r>
              <a:rPr lang="en-US" altLang="zh-CN" dirty="0">
                <a:latin typeface="Montserrat" panose="00000500000000000000" pitchFamily="2" charset="0"/>
                <a:ea typeface="微软雅黑 Light" panose="020B0502040204020203" pitchFamily="34" charset="-122"/>
              </a:rPr>
              <a:t>cwnd</a:t>
            </a:r>
          </a:p>
        </p:txBody>
      </p:sp>
      <p:sp>
        <p:nvSpPr>
          <p:cNvPr id="221" name="Text Box 140">
            <a:extLst>
              <a:ext uri="{FF2B5EF4-FFF2-40B4-BE49-F238E27FC236}">
                <a16:creationId xmlns:a16="http://schemas.microsoft.com/office/drawing/2014/main" id="{6BF6663C-B059-07F6-C5E2-7223F0015EA1}"/>
              </a:ext>
            </a:extLst>
          </p:cNvPr>
          <p:cNvSpPr txBox="1">
            <a:spLocks noChangeArrowheads="1"/>
          </p:cNvSpPr>
          <p:nvPr/>
        </p:nvSpPr>
        <p:spPr bwMode="auto">
          <a:xfrm>
            <a:off x="5832879" y="1962747"/>
            <a:ext cx="2150152" cy="879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rPr>
              <a:t>3-ACK</a:t>
            </a:r>
          </a:p>
          <a:p>
            <a:pPr lvl="0" eaLnBrk="1" hangingPunct="1">
              <a:lnSpc>
                <a:spcPts val="1600"/>
              </a:lnSpc>
              <a:defRPr/>
            </a:pPr>
            <a:r>
              <a:rPr lang="en-US" altLang="zh-CN" sz="1200" kern="0" dirty="0">
                <a:latin typeface="Montserrat" panose="00000500000000000000" pitchFamily="2" charset="0"/>
                <a:ea typeface="微软雅黑 Light" panose="020B0502040204020203" pitchFamily="34" charset="-122"/>
              </a:rPr>
              <a:t>ssthresh = 16/2 = 8</a:t>
            </a:r>
          </a:p>
          <a:p>
            <a:pPr lvl="0" eaLnBrk="1" hangingPunct="1">
              <a:lnSpc>
                <a:spcPts val="1600"/>
              </a:lnSpc>
              <a:defRPr/>
            </a:pPr>
            <a:r>
              <a:rPr lang="en-US" altLang="zh-CN" sz="1200" kern="0" dirty="0">
                <a:latin typeface="Montserrat" panose="00000500000000000000" pitchFamily="2" charset="0"/>
                <a:ea typeface="微软雅黑 Light" panose="020B0502040204020203" pitchFamily="34" charset="-122"/>
              </a:rPr>
              <a:t>cwnd = 8</a:t>
            </a:r>
          </a:p>
          <a:p>
            <a:pPr lvl="0" eaLnBrk="1" hangingPunct="1">
              <a:lnSpc>
                <a:spcPts val="1600"/>
              </a:lnSpc>
              <a:defRPr/>
            </a:pPr>
            <a:r>
              <a:rPr lang="zh-CN" altLang="en-US" sz="1200" kern="0" dirty="0">
                <a:latin typeface="Montserrat" panose="00000500000000000000" pitchFamily="2" charset="0"/>
                <a:ea typeface="微软雅黑 Light" panose="020B0502040204020203" pitchFamily="34" charset="-122"/>
              </a:rPr>
              <a:t>进入拥塞避免</a:t>
            </a:r>
            <a:endParaRPr kumimoji="1" lang="zh-CN" altLang="en-US" sz="1200" i="0" u="none" strike="noStrike" kern="0" cap="none" spc="0" normalizeH="0" baseline="0" noProof="0" dirty="0">
              <a:ln>
                <a:noFill/>
              </a:ln>
              <a:effectLst/>
              <a:uLnTx/>
              <a:uFillTx/>
              <a:latin typeface="Montserrat" panose="00000500000000000000" pitchFamily="2" charset="0"/>
              <a:ea typeface="微软雅黑 Light" panose="020B0502040204020203" pitchFamily="34" charset="-122"/>
            </a:endParaRPr>
          </a:p>
        </p:txBody>
      </p:sp>
      <p:sp>
        <p:nvSpPr>
          <p:cNvPr id="222" name="Line 156">
            <a:extLst>
              <a:ext uri="{FF2B5EF4-FFF2-40B4-BE49-F238E27FC236}">
                <a16:creationId xmlns:a16="http://schemas.microsoft.com/office/drawing/2014/main" id="{F71DE612-9982-45D0-AB7A-B54FE418D47E}"/>
              </a:ext>
            </a:extLst>
          </p:cNvPr>
          <p:cNvSpPr>
            <a:spLocks noChangeShapeType="1"/>
          </p:cNvSpPr>
          <p:nvPr/>
        </p:nvSpPr>
        <p:spPr bwMode="auto">
          <a:xfrm>
            <a:off x="2475702" y="2794830"/>
            <a:ext cx="4680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a:extLst>
              <a:ext uri="{FF2B5EF4-FFF2-40B4-BE49-F238E27FC236}">
                <a16:creationId xmlns:a16="http://schemas.microsoft.com/office/drawing/2014/main" id="{D0178D96-F90F-6E59-63E5-B634B39EA1DF}"/>
              </a:ext>
            </a:extLst>
          </p:cNvPr>
          <p:cNvSpPr>
            <a:spLocks noChangeShapeType="1"/>
          </p:cNvSpPr>
          <p:nvPr/>
        </p:nvSpPr>
        <p:spPr bwMode="auto">
          <a:xfrm flipV="1">
            <a:off x="2530655" y="2232890"/>
            <a:ext cx="1692000" cy="4644"/>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5" name="Text Box 205">
            <a:extLst>
              <a:ext uri="{FF2B5EF4-FFF2-40B4-BE49-F238E27FC236}">
                <a16:creationId xmlns:a16="http://schemas.microsoft.com/office/drawing/2014/main" id="{72A90DA7-15E1-A9CF-E574-0960115C3E29}"/>
              </a:ext>
            </a:extLst>
          </p:cNvPr>
          <p:cNvSpPr txBox="1">
            <a:spLocks noChangeArrowheads="1"/>
          </p:cNvSpPr>
          <p:nvPr/>
        </p:nvSpPr>
        <p:spPr bwMode="auto">
          <a:xfrm>
            <a:off x="1179780" y="2673822"/>
            <a:ext cx="835485" cy="276999"/>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i="0" u="none" strike="noStrike" kern="0" cap="none" spc="0" normalizeH="0" baseline="0" noProof="0" dirty="0">
                <a:ln>
                  <a:noFill/>
                </a:ln>
                <a:solidFill>
                  <a:srgbClr val="CC00CC"/>
                </a:solidFill>
                <a:effectLst/>
                <a:uLnTx/>
                <a:uFillTx/>
                <a:latin typeface="Montserrat" panose="00000500000000000000" pitchFamily="2" charset="0"/>
                <a:ea typeface="微软雅黑 Light" panose="020B0502040204020203" pitchFamily="34" charset="-122"/>
              </a:rPr>
              <a:t>ssthresh</a:t>
            </a:r>
            <a:endParaRPr kumimoji="1" lang="zh-CN" altLang="en-US" sz="1200" i="0" u="none" strike="noStrike" kern="0" cap="none" spc="0" normalizeH="0" baseline="0" noProof="0" dirty="0">
              <a:ln>
                <a:noFill/>
              </a:ln>
              <a:solidFill>
                <a:srgbClr val="CC00CC"/>
              </a:solidFill>
              <a:effectLst/>
              <a:uLnTx/>
              <a:uFillTx/>
              <a:latin typeface="Montserrat" panose="00000500000000000000" pitchFamily="2" charset="0"/>
              <a:ea typeface="微软雅黑 Light" panose="020B0502040204020203" pitchFamily="34" charset="-122"/>
            </a:endParaRPr>
          </a:p>
        </p:txBody>
      </p:sp>
      <p:sp>
        <p:nvSpPr>
          <p:cNvPr id="226" name="Line 215">
            <a:extLst>
              <a:ext uri="{FF2B5EF4-FFF2-40B4-BE49-F238E27FC236}">
                <a16:creationId xmlns:a16="http://schemas.microsoft.com/office/drawing/2014/main" id="{75D494B1-F2AB-CA74-F866-38BC67740202}"/>
              </a:ext>
            </a:extLst>
          </p:cNvPr>
          <p:cNvSpPr>
            <a:spLocks noChangeShapeType="1"/>
          </p:cNvSpPr>
          <p:nvPr/>
        </p:nvSpPr>
        <p:spPr bwMode="auto">
          <a:xfrm flipV="1">
            <a:off x="1942674" y="2815728"/>
            <a:ext cx="151400"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a:extLst>
              <a:ext uri="{FF2B5EF4-FFF2-40B4-BE49-F238E27FC236}">
                <a16:creationId xmlns:a16="http://schemas.microsoft.com/office/drawing/2014/main" id="{5E53E41E-949D-EEAD-B964-D4EDED916FEA}"/>
              </a:ext>
            </a:extLst>
          </p:cNvPr>
          <p:cNvSpPr txBox="1">
            <a:spLocks noChangeArrowheads="1"/>
          </p:cNvSpPr>
          <p:nvPr/>
        </p:nvSpPr>
        <p:spPr bwMode="auto">
          <a:xfrm rot="20245475">
            <a:off x="5782880" y="2932657"/>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i="0" u="none" strike="noStrike" kern="0" cap="none" spc="0" normalizeH="0" baseline="0" noProof="0">
                <a:ln>
                  <a:noFill/>
                </a:ln>
                <a:solidFill>
                  <a:srgbClr val="000000"/>
                </a:solidFill>
                <a:effectLst/>
                <a:uLnTx/>
                <a:uFillTx/>
                <a:latin typeface="Montserrat" panose="00000500000000000000" pitchFamily="2" charset="0"/>
                <a:ea typeface="微软雅黑 Light" panose="020B0502040204020203" pitchFamily="34" charset="-122"/>
              </a:rPr>
              <a:t>拥塞避免</a:t>
            </a:r>
          </a:p>
        </p:txBody>
      </p:sp>
      <p:sp>
        <p:nvSpPr>
          <p:cNvPr id="228" name="Oval 125">
            <a:extLst>
              <a:ext uri="{FF2B5EF4-FFF2-40B4-BE49-F238E27FC236}">
                <a16:creationId xmlns:a16="http://schemas.microsoft.com/office/drawing/2014/main" id="{AD1B4CE4-CDE5-FBB5-5E8B-F928C1667CFA}"/>
              </a:ext>
            </a:extLst>
          </p:cNvPr>
          <p:cNvSpPr>
            <a:spLocks noChangeArrowheads="1"/>
          </p:cNvSpPr>
          <p:nvPr/>
        </p:nvSpPr>
        <p:spPr bwMode="auto">
          <a:xfrm>
            <a:off x="4519836" y="372481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a:extLst>
              <a:ext uri="{FF2B5EF4-FFF2-40B4-BE49-F238E27FC236}">
                <a16:creationId xmlns:a16="http://schemas.microsoft.com/office/drawing/2014/main" id="{C826FAE1-F52D-3B11-6FE9-4613234911CE}"/>
              </a:ext>
            </a:extLst>
          </p:cNvPr>
          <p:cNvSpPr>
            <a:spLocks noChangeArrowheads="1"/>
          </p:cNvSpPr>
          <p:nvPr/>
        </p:nvSpPr>
        <p:spPr bwMode="auto">
          <a:xfrm>
            <a:off x="4682450" y="358897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a:extLst>
              <a:ext uri="{FF2B5EF4-FFF2-40B4-BE49-F238E27FC236}">
                <a16:creationId xmlns:a16="http://schemas.microsoft.com/office/drawing/2014/main" id="{9A0C8504-1F0B-0BA1-7CE3-D0D6627E6C48}"/>
              </a:ext>
            </a:extLst>
          </p:cNvPr>
          <p:cNvSpPr>
            <a:spLocks noChangeArrowheads="1"/>
          </p:cNvSpPr>
          <p:nvPr/>
        </p:nvSpPr>
        <p:spPr bwMode="auto">
          <a:xfrm>
            <a:off x="4351614" y="377706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a:extLst>
              <a:ext uri="{FF2B5EF4-FFF2-40B4-BE49-F238E27FC236}">
                <a16:creationId xmlns:a16="http://schemas.microsoft.com/office/drawing/2014/main" id="{C7EFC7AE-E0D8-755A-2350-A86C701E571F}"/>
              </a:ext>
            </a:extLst>
          </p:cNvPr>
          <p:cNvSpPr>
            <a:spLocks noChangeArrowheads="1"/>
          </p:cNvSpPr>
          <p:nvPr/>
        </p:nvSpPr>
        <p:spPr bwMode="auto">
          <a:xfrm>
            <a:off x="4848429" y="331961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a:extLst>
              <a:ext uri="{FF2B5EF4-FFF2-40B4-BE49-F238E27FC236}">
                <a16:creationId xmlns:a16="http://schemas.microsoft.com/office/drawing/2014/main" id="{9F13ED90-22C4-6AC9-84DC-1E8543C5DF04}"/>
              </a:ext>
            </a:extLst>
          </p:cNvPr>
          <p:cNvSpPr>
            <a:spLocks noChangeArrowheads="1"/>
          </p:cNvSpPr>
          <p:nvPr/>
        </p:nvSpPr>
        <p:spPr bwMode="auto">
          <a:xfrm>
            <a:off x="5181509" y="296550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a:extLst>
              <a:ext uri="{FF2B5EF4-FFF2-40B4-BE49-F238E27FC236}">
                <a16:creationId xmlns:a16="http://schemas.microsoft.com/office/drawing/2014/main" id="{1BBD1889-FAEF-1F47-45B1-1BF64CBC9480}"/>
              </a:ext>
            </a:extLst>
          </p:cNvPr>
          <p:cNvSpPr>
            <a:spLocks noChangeArrowheads="1"/>
          </p:cNvSpPr>
          <p:nvPr/>
        </p:nvSpPr>
        <p:spPr bwMode="auto">
          <a:xfrm>
            <a:off x="5657017" y="276348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a:extLst>
              <a:ext uri="{FF2B5EF4-FFF2-40B4-BE49-F238E27FC236}">
                <a16:creationId xmlns:a16="http://schemas.microsoft.com/office/drawing/2014/main" id="{188B6437-CF1D-A57C-3C43-93B33E12A2FB}"/>
              </a:ext>
            </a:extLst>
          </p:cNvPr>
          <p:cNvSpPr>
            <a:spLocks noChangeArrowheads="1"/>
          </p:cNvSpPr>
          <p:nvPr/>
        </p:nvSpPr>
        <p:spPr bwMode="auto">
          <a:xfrm>
            <a:off x="5339638" y="2892356"/>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a:extLst>
              <a:ext uri="{FF2B5EF4-FFF2-40B4-BE49-F238E27FC236}">
                <a16:creationId xmlns:a16="http://schemas.microsoft.com/office/drawing/2014/main" id="{4F5C77E2-6244-C2A4-6CB9-8A6C247251B0}"/>
              </a:ext>
            </a:extLst>
          </p:cNvPr>
          <p:cNvSpPr>
            <a:spLocks noChangeArrowheads="1"/>
          </p:cNvSpPr>
          <p:nvPr/>
        </p:nvSpPr>
        <p:spPr bwMode="auto">
          <a:xfrm>
            <a:off x="5501131" y="282617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a:extLst>
              <a:ext uri="{FF2B5EF4-FFF2-40B4-BE49-F238E27FC236}">
                <a16:creationId xmlns:a16="http://schemas.microsoft.com/office/drawing/2014/main" id="{AC6E354E-FBC2-AEA7-6B8D-490C7203513D}"/>
              </a:ext>
            </a:extLst>
          </p:cNvPr>
          <p:cNvSpPr>
            <a:spLocks noChangeShapeType="1"/>
          </p:cNvSpPr>
          <p:nvPr/>
        </p:nvSpPr>
        <p:spPr bwMode="auto">
          <a:xfrm>
            <a:off x="2475702" y="3073476"/>
            <a:ext cx="25920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dirty="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a:extLst>
              <a:ext uri="{FF2B5EF4-FFF2-40B4-BE49-F238E27FC236}">
                <a16:creationId xmlns:a16="http://schemas.microsoft.com/office/drawing/2014/main" id="{CCCF7949-578F-2C39-077A-2BB6F27A081D}"/>
              </a:ext>
            </a:extLst>
          </p:cNvPr>
          <p:cNvCxnSpPr>
            <a:cxnSpLocks noChangeShapeType="1"/>
          </p:cNvCxnSpPr>
          <p:nvPr/>
        </p:nvCxnSpPr>
        <p:spPr bwMode="auto">
          <a:xfrm>
            <a:off x="4230494" y="2230568"/>
            <a:ext cx="161493" cy="1563912"/>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a:extLst>
              <a:ext uri="{FF2B5EF4-FFF2-40B4-BE49-F238E27FC236}">
                <a16:creationId xmlns:a16="http://schemas.microsoft.com/office/drawing/2014/main" id="{A75426E0-58E6-D05A-0353-04CFBD8DC212}"/>
              </a:ext>
            </a:extLst>
          </p:cNvPr>
          <p:cNvSpPr>
            <a:spLocks noChangeArrowheads="1"/>
          </p:cNvSpPr>
          <p:nvPr/>
        </p:nvSpPr>
        <p:spPr bwMode="auto">
          <a:xfrm>
            <a:off x="2717585" y="2497013"/>
            <a:ext cx="305043" cy="254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a:extLst>
              <a:ext uri="{FF2B5EF4-FFF2-40B4-BE49-F238E27FC236}">
                <a16:creationId xmlns:a16="http://schemas.microsoft.com/office/drawing/2014/main" id="{33DA4418-1271-DA99-B917-EC8CB3737883}"/>
              </a:ext>
            </a:extLst>
          </p:cNvPr>
          <p:cNvSpPr>
            <a:spLocks noChangeArrowheads="1"/>
          </p:cNvSpPr>
          <p:nvPr/>
        </p:nvSpPr>
        <p:spPr bwMode="auto">
          <a:xfrm>
            <a:off x="5017773" y="3040969"/>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a:extLst>
              <a:ext uri="{FF2B5EF4-FFF2-40B4-BE49-F238E27FC236}">
                <a16:creationId xmlns:a16="http://schemas.microsoft.com/office/drawing/2014/main" id="{2CDCC55D-0149-EDD0-3BBD-B9A4B562A98C}"/>
              </a:ext>
            </a:extLst>
          </p:cNvPr>
          <p:cNvSpPr>
            <a:spLocks/>
          </p:cNvSpPr>
          <p:nvPr/>
        </p:nvSpPr>
        <p:spPr bwMode="auto">
          <a:xfrm>
            <a:off x="4385258" y="2786703"/>
            <a:ext cx="1315496" cy="102519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2" name="直接连接符 119">
            <a:extLst>
              <a:ext uri="{FF2B5EF4-FFF2-40B4-BE49-F238E27FC236}">
                <a16:creationId xmlns:a16="http://schemas.microsoft.com/office/drawing/2014/main" id="{2C250CBC-4528-C448-F616-F212631C071A}"/>
              </a:ext>
            </a:extLst>
          </p:cNvPr>
          <p:cNvCxnSpPr>
            <a:cxnSpLocks noChangeShapeType="1"/>
          </p:cNvCxnSpPr>
          <p:nvPr/>
        </p:nvCxnSpPr>
        <p:spPr bwMode="auto">
          <a:xfrm flipH="1">
            <a:off x="5845426" y="3367219"/>
            <a:ext cx="1121" cy="396000"/>
          </a:xfrm>
          <a:prstGeom prst="line">
            <a:avLst/>
          </a:prstGeom>
          <a:noFill/>
          <a:ln w="12700" algn="ctr">
            <a:solidFill>
              <a:srgbClr val="000000"/>
            </a:solidFill>
            <a:prstDash val="dash"/>
            <a:round/>
            <a:headEnd/>
            <a:tailEnd/>
          </a:ln>
        </p:spPr>
      </p:cxnSp>
      <p:sp>
        <p:nvSpPr>
          <p:cNvPr id="241" name="Rectangle 161">
            <a:extLst>
              <a:ext uri="{FF2B5EF4-FFF2-40B4-BE49-F238E27FC236}">
                <a16:creationId xmlns:a16="http://schemas.microsoft.com/office/drawing/2014/main" id="{108FF9F6-7722-58BC-C65F-82F406DBD23E}"/>
              </a:ext>
            </a:extLst>
          </p:cNvPr>
          <p:cNvSpPr>
            <a:spLocks noChangeArrowheads="1"/>
          </p:cNvSpPr>
          <p:nvPr/>
        </p:nvSpPr>
        <p:spPr bwMode="auto">
          <a:xfrm>
            <a:off x="4091066" y="1958674"/>
            <a:ext cx="253455" cy="211307"/>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3" name="直接连接符 121">
            <a:extLst>
              <a:ext uri="{FF2B5EF4-FFF2-40B4-BE49-F238E27FC236}">
                <a16:creationId xmlns:a16="http://schemas.microsoft.com/office/drawing/2014/main" id="{B3A88BD3-CA2D-EF06-327C-E787434EE685}"/>
              </a:ext>
            </a:extLst>
          </p:cNvPr>
          <p:cNvCxnSpPr>
            <a:cxnSpLocks noChangeShapeType="1"/>
          </p:cNvCxnSpPr>
          <p:nvPr/>
        </p:nvCxnSpPr>
        <p:spPr bwMode="auto">
          <a:xfrm>
            <a:off x="2475702" y="3355609"/>
            <a:ext cx="3384000" cy="0"/>
          </a:xfrm>
          <a:prstGeom prst="line">
            <a:avLst/>
          </a:prstGeom>
          <a:noFill/>
          <a:ln w="12700" algn="ctr">
            <a:solidFill>
              <a:srgbClr val="000000"/>
            </a:solidFill>
            <a:prstDash val="dash"/>
            <a:round/>
            <a:headEnd/>
            <a:tailEnd/>
          </a:ln>
        </p:spPr>
      </p:cxnSp>
      <p:sp>
        <p:nvSpPr>
          <p:cNvPr id="244" name="Oval 130">
            <a:extLst>
              <a:ext uri="{FF2B5EF4-FFF2-40B4-BE49-F238E27FC236}">
                <a16:creationId xmlns:a16="http://schemas.microsoft.com/office/drawing/2014/main" id="{7B8350FA-1F9C-BE93-3056-C480564D1403}"/>
              </a:ext>
            </a:extLst>
          </p:cNvPr>
          <p:cNvSpPr>
            <a:spLocks noChangeArrowheads="1"/>
          </p:cNvSpPr>
          <p:nvPr/>
        </p:nvSpPr>
        <p:spPr bwMode="auto">
          <a:xfrm>
            <a:off x="5812902" y="3325422"/>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a:extLst>
              <a:ext uri="{FF2B5EF4-FFF2-40B4-BE49-F238E27FC236}">
                <a16:creationId xmlns:a16="http://schemas.microsoft.com/office/drawing/2014/main" id="{9CE3E509-A46C-37F3-6DDA-E0AD79F0C451}"/>
              </a:ext>
            </a:extLst>
          </p:cNvPr>
          <p:cNvSpPr>
            <a:spLocks noChangeShapeType="1"/>
          </p:cNvSpPr>
          <p:nvPr/>
        </p:nvSpPr>
        <p:spPr bwMode="auto">
          <a:xfrm>
            <a:off x="6166169" y="3793318"/>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a:extLst>
              <a:ext uri="{FF2B5EF4-FFF2-40B4-BE49-F238E27FC236}">
                <a16:creationId xmlns:a16="http://schemas.microsoft.com/office/drawing/2014/main" id="{815369CE-4926-CC8C-BC10-4ABD24032B53}"/>
              </a:ext>
            </a:extLst>
          </p:cNvPr>
          <p:cNvSpPr>
            <a:spLocks noChangeShapeType="1"/>
          </p:cNvSpPr>
          <p:nvPr/>
        </p:nvSpPr>
        <p:spPr bwMode="auto">
          <a:xfrm>
            <a:off x="6002433" y="3796801"/>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a:extLst>
              <a:ext uri="{FF2B5EF4-FFF2-40B4-BE49-F238E27FC236}">
                <a16:creationId xmlns:a16="http://schemas.microsoft.com/office/drawing/2014/main" id="{B5CB61FE-FF8F-BFFE-1807-7FEC682EB086}"/>
              </a:ext>
            </a:extLst>
          </p:cNvPr>
          <p:cNvSpPr txBox="1">
            <a:spLocks noChangeArrowheads="1"/>
          </p:cNvSpPr>
          <p:nvPr/>
        </p:nvSpPr>
        <p:spPr bwMode="auto">
          <a:xfrm>
            <a:off x="5986352" y="3872268"/>
            <a:ext cx="341760"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8" name="Line 22">
            <a:extLst>
              <a:ext uri="{FF2B5EF4-FFF2-40B4-BE49-F238E27FC236}">
                <a16:creationId xmlns:a16="http://schemas.microsoft.com/office/drawing/2014/main" id="{1B85CB86-5053-9208-A8E0-179038A29C20}"/>
              </a:ext>
            </a:extLst>
          </p:cNvPr>
          <p:cNvSpPr>
            <a:spLocks noChangeShapeType="1"/>
          </p:cNvSpPr>
          <p:nvPr/>
        </p:nvSpPr>
        <p:spPr bwMode="auto">
          <a:xfrm>
            <a:off x="6334391" y="3802606"/>
            <a:ext cx="0" cy="11145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a:extLst>
              <a:ext uri="{FF2B5EF4-FFF2-40B4-BE49-F238E27FC236}">
                <a16:creationId xmlns:a16="http://schemas.microsoft.com/office/drawing/2014/main" id="{3F9DBE39-B6EB-8628-C8F0-2E9153BE65F9}"/>
              </a:ext>
            </a:extLst>
          </p:cNvPr>
          <p:cNvCxnSpPr>
            <a:cxnSpLocks noChangeShapeType="1"/>
            <a:stCxn id="240" idx="4"/>
            <a:endCxn id="244" idx="3"/>
          </p:cNvCxnSpPr>
          <p:nvPr/>
        </p:nvCxnSpPr>
        <p:spPr bwMode="auto">
          <a:xfrm>
            <a:off x="5699633" y="2786703"/>
            <a:ext cx="141307" cy="574711"/>
          </a:xfrm>
          <a:prstGeom prst="line">
            <a:avLst/>
          </a:prstGeom>
          <a:noFill/>
          <a:ln w="19050" algn="ctr">
            <a:solidFill>
              <a:srgbClr val="0000FF"/>
            </a:solidFill>
            <a:round/>
            <a:headEnd/>
            <a:tailEnd/>
          </a:ln>
        </p:spPr>
      </p:cxnSp>
      <p:sp>
        <p:nvSpPr>
          <p:cNvPr id="250" name="Text Box 206">
            <a:extLst>
              <a:ext uri="{FF2B5EF4-FFF2-40B4-BE49-F238E27FC236}">
                <a16:creationId xmlns:a16="http://schemas.microsoft.com/office/drawing/2014/main" id="{437D073F-5DE5-08A7-105B-FC76C01473B6}"/>
              </a:ext>
            </a:extLst>
          </p:cNvPr>
          <p:cNvSpPr txBox="1">
            <a:spLocks noChangeArrowheads="1"/>
          </p:cNvSpPr>
          <p:nvPr/>
        </p:nvSpPr>
        <p:spPr bwMode="auto">
          <a:xfrm rot="20070649">
            <a:off x="4981722" y="2637429"/>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i="0" u="none" strike="noStrike" kern="0" cap="none" spc="0" normalizeH="0" baseline="0" noProof="0" dirty="0">
                <a:ln>
                  <a:noFill/>
                </a:ln>
                <a:solidFill>
                  <a:srgbClr val="000000"/>
                </a:solidFill>
                <a:effectLst/>
                <a:uLnTx/>
                <a:uFillTx/>
                <a:latin typeface="Montserrat" panose="00000500000000000000" pitchFamily="2" charset="0"/>
                <a:ea typeface="微软雅黑 Light" panose="020B0502040204020203" pitchFamily="34" charset="-122"/>
              </a:rPr>
              <a:t>拥塞避免</a:t>
            </a:r>
          </a:p>
        </p:txBody>
      </p:sp>
      <p:sp>
        <p:nvSpPr>
          <p:cNvPr id="251" name="Text Box 206">
            <a:extLst>
              <a:ext uri="{FF2B5EF4-FFF2-40B4-BE49-F238E27FC236}">
                <a16:creationId xmlns:a16="http://schemas.microsoft.com/office/drawing/2014/main" id="{D20B8891-3294-6157-3F25-41CEBE89BB21}"/>
              </a:ext>
            </a:extLst>
          </p:cNvPr>
          <p:cNvSpPr txBox="1">
            <a:spLocks noChangeArrowheads="1"/>
          </p:cNvSpPr>
          <p:nvPr/>
        </p:nvSpPr>
        <p:spPr bwMode="auto">
          <a:xfrm rot="20205303">
            <a:off x="2928123" y="2316882"/>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i="0" u="none" strike="noStrike" kern="0" cap="none" spc="0" normalizeH="0" baseline="0" noProof="0" dirty="0">
                <a:ln>
                  <a:noFill/>
                </a:ln>
                <a:solidFill>
                  <a:srgbClr val="000000"/>
                </a:solidFill>
                <a:effectLst/>
                <a:uLnTx/>
                <a:uFillTx/>
                <a:latin typeface="Montserrat" panose="00000500000000000000" pitchFamily="2" charset="0"/>
                <a:ea typeface="微软雅黑 Light" panose="020B0502040204020203" pitchFamily="34" charset="-122"/>
              </a:rPr>
              <a:t>拥塞避免</a:t>
            </a:r>
          </a:p>
        </p:txBody>
      </p:sp>
      <p:sp>
        <p:nvSpPr>
          <p:cNvPr id="252" name="TextBox 147">
            <a:extLst>
              <a:ext uri="{FF2B5EF4-FFF2-40B4-BE49-F238E27FC236}">
                <a16:creationId xmlns:a16="http://schemas.microsoft.com/office/drawing/2014/main" id="{D4AFFC69-16A2-2075-6254-E8FF48034C6A}"/>
              </a:ext>
            </a:extLst>
          </p:cNvPr>
          <p:cNvSpPr txBox="1">
            <a:spLocks noChangeArrowheads="1"/>
          </p:cNvSpPr>
          <p:nvPr/>
        </p:nvSpPr>
        <p:spPr bwMode="auto">
          <a:xfrm>
            <a:off x="4778705" y="2766373"/>
            <a:ext cx="389850"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a:extLst>
              <a:ext uri="{FF2B5EF4-FFF2-40B4-BE49-F238E27FC236}">
                <a16:creationId xmlns:a16="http://schemas.microsoft.com/office/drawing/2014/main" id="{87BD392E-0F55-F841-6A27-9D6FB2AED60D}"/>
              </a:ext>
            </a:extLst>
          </p:cNvPr>
          <p:cNvSpPr txBox="1">
            <a:spLocks noChangeArrowheads="1"/>
          </p:cNvSpPr>
          <p:nvPr/>
        </p:nvSpPr>
        <p:spPr bwMode="auto">
          <a:xfrm>
            <a:off x="5591780" y="2472631"/>
            <a:ext cx="389850"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a:extLst>
              <a:ext uri="{FF2B5EF4-FFF2-40B4-BE49-F238E27FC236}">
                <a16:creationId xmlns:a16="http://schemas.microsoft.com/office/drawing/2014/main" id="{691C492A-A6EA-3B58-C3F0-6E30D0C48DC0}"/>
              </a:ext>
            </a:extLst>
          </p:cNvPr>
          <p:cNvCxnSpPr>
            <a:cxnSpLocks noChangeShapeType="1"/>
          </p:cNvCxnSpPr>
          <p:nvPr/>
        </p:nvCxnSpPr>
        <p:spPr bwMode="auto">
          <a:xfrm flipV="1">
            <a:off x="5041324" y="3035282"/>
            <a:ext cx="7851" cy="719840"/>
          </a:xfrm>
          <a:prstGeom prst="line">
            <a:avLst/>
          </a:prstGeom>
          <a:noFill/>
          <a:ln w="12700" algn="ctr">
            <a:solidFill>
              <a:srgbClr val="000000"/>
            </a:solidFill>
            <a:prstDash val="dash"/>
            <a:round/>
            <a:headEnd/>
            <a:tailEnd/>
          </a:ln>
        </p:spPr>
      </p:cxnSp>
      <p:cxnSp>
        <p:nvCxnSpPr>
          <p:cNvPr id="255" name="直接连接符 254">
            <a:extLst>
              <a:ext uri="{FF2B5EF4-FFF2-40B4-BE49-F238E27FC236}">
                <a16:creationId xmlns:a16="http://schemas.microsoft.com/office/drawing/2014/main" id="{CF87842B-C7F3-6290-FE35-555BC9A05A75}"/>
              </a:ext>
            </a:extLst>
          </p:cNvPr>
          <p:cNvCxnSpPr>
            <a:cxnSpLocks noChangeShapeType="1"/>
          </p:cNvCxnSpPr>
          <p:nvPr/>
        </p:nvCxnSpPr>
        <p:spPr bwMode="auto">
          <a:xfrm flipV="1">
            <a:off x="5682811" y="2836627"/>
            <a:ext cx="7851" cy="900000"/>
          </a:xfrm>
          <a:prstGeom prst="line">
            <a:avLst/>
          </a:prstGeom>
          <a:noFill/>
          <a:ln w="12700" algn="ctr">
            <a:solidFill>
              <a:srgbClr val="000000"/>
            </a:solidFill>
            <a:prstDash val="dash"/>
            <a:round/>
            <a:headEnd/>
            <a:tailEnd/>
          </a:ln>
        </p:spPr>
      </p:cxnSp>
      <p:cxnSp>
        <p:nvCxnSpPr>
          <p:cNvPr id="256" name="直接连接符 141">
            <a:extLst>
              <a:ext uri="{FF2B5EF4-FFF2-40B4-BE49-F238E27FC236}">
                <a16:creationId xmlns:a16="http://schemas.microsoft.com/office/drawing/2014/main" id="{D4EB58E2-C429-8E67-2556-F1B09A0803C1}"/>
              </a:ext>
            </a:extLst>
          </p:cNvPr>
          <p:cNvCxnSpPr>
            <a:cxnSpLocks noChangeShapeType="1"/>
          </p:cNvCxnSpPr>
          <p:nvPr/>
        </p:nvCxnSpPr>
        <p:spPr bwMode="auto">
          <a:xfrm flipV="1">
            <a:off x="5799445" y="2989883"/>
            <a:ext cx="861297" cy="386624"/>
          </a:xfrm>
          <a:prstGeom prst="line">
            <a:avLst/>
          </a:prstGeom>
          <a:noFill/>
          <a:ln w="19050" algn="ctr">
            <a:solidFill>
              <a:srgbClr val="0000FF"/>
            </a:solidFill>
            <a:round/>
            <a:headEnd/>
            <a:tailEnd/>
          </a:ln>
        </p:spPr>
      </p:cxnSp>
      <p:sp>
        <p:nvSpPr>
          <p:cNvPr id="257" name="Oval 202">
            <a:extLst>
              <a:ext uri="{FF2B5EF4-FFF2-40B4-BE49-F238E27FC236}">
                <a16:creationId xmlns:a16="http://schemas.microsoft.com/office/drawing/2014/main" id="{47E1C25E-CB85-AD45-C91A-1F621490AF44}"/>
              </a:ext>
            </a:extLst>
          </p:cNvPr>
          <p:cNvSpPr>
            <a:spLocks noChangeArrowheads="1"/>
          </p:cNvSpPr>
          <p:nvPr/>
        </p:nvSpPr>
        <p:spPr bwMode="auto">
          <a:xfrm>
            <a:off x="6298504" y="3114114"/>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a:extLst>
              <a:ext uri="{FF2B5EF4-FFF2-40B4-BE49-F238E27FC236}">
                <a16:creationId xmlns:a16="http://schemas.microsoft.com/office/drawing/2014/main" id="{BF1707F2-5244-5CAC-43DE-442105C3F2D6}"/>
              </a:ext>
            </a:extLst>
          </p:cNvPr>
          <p:cNvSpPr>
            <a:spLocks noChangeArrowheads="1"/>
          </p:cNvSpPr>
          <p:nvPr/>
        </p:nvSpPr>
        <p:spPr bwMode="auto">
          <a:xfrm>
            <a:off x="5972153" y="325227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a:extLst>
              <a:ext uri="{FF2B5EF4-FFF2-40B4-BE49-F238E27FC236}">
                <a16:creationId xmlns:a16="http://schemas.microsoft.com/office/drawing/2014/main" id="{BD08F7C5-E51A-5DCB-AE88-604A54A584CC}"/>
              </a:ext>
            </a:extLst>
          </p:cNvPr>
          <p:cNvSpPr>
            <a:spLocks noChangeArrowheads="1"/>
          </p:cNvSpPr>
          <p:nvPr/>
        </p:nvSpPr>
        <p:spPr bwMode="auto">
          <a:xfrm>
            <a:off x="6137011" y="3184937"/>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1" name="Oval 202">
            <a:extLst>
              <a:ext uri="{FF2B5EF4-FFF2-40B4-BE49-F238E27FC236}">
                <a16:creationId xmlns:a16="http://schemas.microsoft.com/office/drawing/2014/main" id="{15C24F60-7DD1-77F9-80BF-81BADE7D0633}"/>
              </a:ext>
            </a:extLst>
          </p:cNvPr>
          <p:cNvSpPr>
            <a:spLocks noChangeArrowheads="1"/>
          </p:cNvSpPr>
          <p:nvPr/>
        </p:nvSpPr>
        <p:spPr bwMode="auto">
          <a:xfrm>
            <a:off x="6465604" y="3028198"/>
            <a:ext cx="62803" cy="65018"/>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a:extLst>
              <a:ext uri="{FF2B5EF4-FFF2-40B4-BE49-F238E27FC236}">
                <a16:creationId xmlns:a16="http://schemas.microsoft.com/office/drawing/2014/main" id="{151ABAC6-642F-D63F-83B8-6AB6334B5955}"/>
              </a:ext>
            </a:extLst>
          </p:cNvPr>
          <p:cNvCxnSpPr>
            <a:cxnSpLocks noChangeShapeType="1"/>
          </p:cNvCxnSpPr>
          <p:nvPr/>
        </p:nvCxnSpPr>
        <p:spPr bwMode="auto">
          <a:xfrm flipH="1">
            <a:off x="4229372" y="2259712"/>
            <a:ext cx="3365" cy="147600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a:extLst>
              <a:ext uri="{FF2B5EF4-FFF2-40B4-BE49-F238E27FC236}">
                <a16:creationId xmlns:a16="http://schemas.microsoft.com/office/drawing/2014/main" id="{C9AB4FBF-F31C-D13D-805A-67F22C8FC2C8}"/>
              </a:ext>
            </a:extLst>
          </p:cNvPr>
          <p:cNvCxnSpPr>
            <a:cxnSpLocks noChangeShapeType="1"/>
          </p:cNvCxnSpPr>
          <p:nvPr/>
        </p:nvCxnSpPr>
        <p:spPr bwMode="auto">
          <a:xfrm>
            <a:off x="2937427" y="2813525"/>
            <a:ext cx="0" cy="95553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sp>
        <p:nvSpPr>
          <p:cNvPr id="2" name="标题 1">
            <a:extLst>
              <a:ext uri="{FF2B5EF4-FFF2-40B4-BE49-F238E27FC236}">
                <a16:creationId xmlns:a16="http://schemas.microsoft.com/office/drawing/2014/main" id="{D73005E2-C319-B2E7-7145-B813A2485A00}"/>
              </a:ext>
            </a:extLst>
          </p:cNvPr>
          <p:cNvSpPr>
            <a:spLocks noGrp="1"/>
          </p:cNvSpPr>
          <p:nvPr>
            <p:ph type="title"/>
          </p:nvPr>
        </p:nvSpPr>
        <p:spPr>
          <a:xfrm>
            <a:off x="2808000" y="144000"/>
            <a:ext cx="3528000" cy="338554"/>
          </a:xfrm>
        </p:spPr>
        <p:txBody>
          <a:bodyPr/>
          <a:lstStyle/>
          <a:p>
            <a:r>
              <a:rPr lang="zh-CN" altLang="en-US" dirty="0"/>
              <a:t>拥塞控制</a:t>
            </a:r>
          </a:p>
        </p:txBody>
      </p:sp>
      <p:sp>
        <p:nvSpPr>
          <p:cNvPr id="260" name="TextBox 149">
            <a:extLst>
              <a:ext uri="{FF2B5EF4-FFF2-40B4-BE49-F238E27FC236}">
                <a16:creationId xmlns:a16="http://schemas.microsoft.com/office/drawing/2014/main" id="{DC9CD50D-72C0-9158-2D50-3F34574FDCAF}"/>
              </a:ext>
            </a:extLst>
          </p:cNvPr>
          <p:cNvSpPr txBox="1">
            <a:spLocks noChangeArrowheads="1"/>
          </p:cNvSpPr>
          <p:nvPr/>
        </p:nvSpPr>
        <p:spPr bwMode="auto">
          <a:xfrm>
            <a:off x="5643370" y="3315541"/>
            <a:ext cx="389850" cy="369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Tree>
    <p:extLst>
      <p:ext uri="{BB962C8B-B14F-4D97-AF65-F5344CB8AC3E}">
        <p14:creationId xmlns:p14="http://schemas.microsoft.com/office/powerpoint/2010/main" val="262296710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对角圆角矩形 5"/>
          <p:cNvSpPr/>
          <p:nvPr/>
        </p:nvSpPr>
        <p:spPr>
          <a:xfrm>
            <a:off x="764353" y="3458761"/>
            <a:ext cx="7823464" cy="698457"/>
          </a:xfrm>
          <a:prstGeom prst="round2DiagRect">
            <a:avLst/>
          </a:prstGeom>
          <a:solidFill>
            <a:srgbClr val="0098F6"/>
          </a:solidFill>
          <a:ln>
            <a:noFill/>
          </a:ln>
          <a:effectLst/>
          <a:scene3d>
            <a:camera prst="orthographicFront">
              <a:rot lat="0" lon="0" rev="0"/>
            </a:camera>
            <a:lightRig rig="glow" dir="t">
              <a:rot lat="0" lon="0" rev="14100000"/>
            </a:lightRig>
          </a:scene3d>
          <a:sp3d prstMaterial="softEdge">
            <a:bevelT w="127000" prst="artDeco"/>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994919" y="3580325"/>
            <a:ext cx="7413788" cy="400110"/>
          </a:xfrm>
          <a:prstGeom prst="rect">
            <a:avLst/>
          </a:prstGeom>
        </p:spPr>
        <p:txBody>
          <a:bodyPr wrap="square">
            <a:spAutoFit/>
          </a:bodyPr>
          <a:lstStyle/>
          <a:p>
            <a:pPr>
              <a:lnSpc>
                <a:spcPts val="2400"/>
              </a:lnSpc>
            </a:pPr>
            <a:r>
              <a:rPr lang="zh-CN" altLang="en-US" sz="2000" b="1" dirty="0">
                <a:solidFill>
                  <a:schemeClr val="bg1"/>
                </a:solidFill>
                <a:latin typeface="微软雅黑" pitchFamily="34" charset="-122"/>
                <a:ea typeface="微软雅黑" pitchFamily="34" charset="-122"/>
              </a:rPr>
              <a:t>二者合在一起就是所谓的 </a:t>
            </a:r>
            <a:r>
              <a:rPr lang="en-US" altLang="zh-CN" sz="2000" b="1" dirty="0">
                <a:solidFill>
                  <a:srgbClr val="FFFF00"/>
                </a:solidFill>
                <a:latin typeface="微软雅黑" pitchFamily="34" charset="-122"/>
                <a:ea typeface="微软雅黑" pitchFamily="34" charset="-122"/>
              </a:rPr>
              <a:t>AIMD</a:t>
            </a:r>
            <a:r>
              <a:rPr lang="en-US" altLang="zh-CN" sz="2000" b="1" dirty="0">
                <a:solidFill>
                  <a:schemeClr val="bg1"/>
                </a:solidFill>
                <a:latin typeface="微软雅黑" pitchFamily="34" charset="-122"/>
                <a:ea typeface="微软雅黑" pitchFamily="34" charset="-122"/>
              </a:rPr>
              <a:t> </a:t>
            </a:r>
            <a:r>
              <a:rPr lang="zh-CN" altLang="en-US" sz="2000" b="1" dirty="0">
                <a:solidFill>
                  <a:schemeClr val="bg1"/>
                </a:solidFill>
                <a:latin typeface="微软雅黑" pitchFamily="34" charset="-122"/>
                <a:ea typeface="微软雅黑" pitchFamily="34" charset="-122"/>
              </a:rPr>
              <a:t>算法，使 </a:t>
            </a: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性能有明显改进。</a:t>
            </a:r>
          </a:p>
        </p:txBody>
      </p:sp>
      <p:sp>
        <p:nvSpPr>
          <p:cNvPr id="8" name="内容占位符 7">
            <a:extLst>
              <a:ext uri="{FF2B5EF4-FFF2-40B4-BE49-F238E27FC236}">
                <a16:creationId xmlns:a16="http://schemas.microsoft.com/office/drawing/2014/main" id="{921B79AE-BC7C-9F2C-FC86-0B6D0E529EEA}"/>
              </a:ext>
            </a:extLst>
          </p:cNvPr>
          <p:cNvSpPr>
            <a:spLocks noGrp="1"/>
          </p:cNvSpPr>
          <p:nvPr>
            <p:ph sz="quarter" idx="11"/>
          </p:nvPr>
        </p:nvSpPr>
        <p:spPr>
          <a:xfrm>
            <a:off x="486000" y="482554"/>
            <a:ext cx="8172000" cy="4120946"/>
          </a:xfrm>
        </p:spPr>
        <p:txBody>
          <a:bodyPr/>
          <a:lstStyle/>
          <a:p>
            <a:r>
              <a:rPr lang="zh-CN" altLang="en-US" dirty="0"/>
              <a:t>当发送端收到连续三个重复的确认时，不执行慢开始算法，而是执行快恢复算法 </a:t>
            </a:r>
            <a:r>
              <a:rPr lang="en-US" altLang="zh-CN" dirty="0"/>
              <a:t>FR (Fast Recovery) </a:t>
            </a:r>
            <a:r>
              <a:rPr lang="zh-CN" altLang="en-US" dirty="0"/>
              <a:t>算法：</a:t>
            </a:r>
          </a:p>
          <a:p>
            <a:pPr lvl="1"/>
            <a:r>
              <a:rPr lang="zh-CN" altLang="en-US" dirty="0"/>
              <a:t>慢开始门限 </a:t>
            </a:r>
            <a:r>
              <a:rPr lang="en-US" altLang="zh-CN" dirty="0"/>
              <a:t>ssthresh = </a:t>
            </a:r>
            <a:r>
              <a:rPr lang="zh-CN" altLang="en-US" dirty="0"/>
              <a:t>当前拥塞窗口 </a:t>
            </a:r>
            <a:r>
              <a:rPr lang="en-US" altLang="zh-CN" dirty="0"/>
              <a:t>cwnd / 2 </a:t>
            </a:r>
            <a:r>
              <a:rPr lang="zh-CN" altLang="en-US" dirty="0"/>
              <a:t>；</a:t>
            </a:r>
          </a:p>
          <a:p>
            <a:pPr lvl="1"/>
            <a:r>
              <a:rPr lang="zh-CN" altLang="en-US" dirty="0"/>
              <a:t>乘法减小 </a:t>
            </a:r>
            <a:r>
              <a:rPr lang="en-US" altLang="zh-CN" dirty="0"/>
              <a:t>MD (Multiplicative Decrease) </a:t>
            </a:r>
            <a:r>
              <a:rPr lang="zh-CN" altLang="en-US" dirty="0"/>
              <a:t>拥塞窗口。</a:t>
            </a:r>
            <a:endParaRPr lang="en-US" altLang="zh-CN" dirty="0"/>
          </a:p>
          <a:p>
            <a:pPr lvl="1"/>
            <a:r>
              <a:rPr lang="en-US" altLang="zh-CN" dirty="0"/>
              <a:t>     </a:t>
            </a:r>
            <a:r>
              <a:rPr lang="zh-CN" altLang="en-US" dirty="0"/>
              <a:t>新拥塞窗口 </a:t>
            </a:r>
            <a:r>
              <a:rPr lang="en-US" altLang="zh-CN" dirty="0"/>
              <a:t>cwnd = </a:t>
            </a:r>
            <a:r>
              <a:rPr lang="zh-CN" altLang="en-US" dirty="0"/>
              <a:t>慢开始门限 </a:t>
            </a:r>
            <a:r>
              <a:rPr lang="en-US" altLang="zh-CN" dirty="0"/>
              <a:t>ssthresh </a:t>
            </a:r>
            <a:r>
              <a:rPr lang="zh-CN" altLang="en-US" dirty="0"/>
              <a:t>；</a:t>
            </a:r>
          </a:p>
          <a:p>
            <a:pPr lvl="1"/>
            <a:r>
              <a:rPr lang="zh-CN" altLang="en-US" dirty="0"/>
              <a:t>执行拥塞避免算法，使拥塞窗口缓慢地线性增大（加法增大 </a:t>
            </a:r>
            <a:r>
              <a:rPr lang="en-US" altLang="zh-CN" dirty="0"/>
              <a:t>AI</a:t>
            </a:r>
            <a:r>
              <a:rPr lang="zh-CN" altLang="en-US" dirty="0"/>
              <a:t>）。 </a:t>
            </a:r>
            <a:endParaRPr lang="en-US" altLang="zh-CN" dirty="0"/>
          </a:p>
          <a:p>
            <a:endParaRPr lang="zh-CN" altLang="en-US" dirty="0"/>
          </a:p>
        </p:txBody>
      </p:sp>
      <p:sp>
        <p:nvSpPr>
          <p:cNvPr id="5" name="标题 4">
            <a:extLst>
              <a:ext uri="{FF2B5EF4-FFF2-40B4-BE49-F238E27FC236}">
                <a16:creationId xmlns:a16="http://schemas.microsoft.com/office/drawing/2014/main" id="{6756D0BB-F9C3-5E4D-CBC3-79620B78828F}"/>
              </a:ext>
            </a:extLst>
          </p:cNvPr>
          <p:cNvSpPr>
            <a:spLocks noGrp="1"/>
          </p:cNvSpPr>
          <p:nvPr>
            <p:ph type="title"/>
          </p:nvPr>
        </p:nvSpPr>
        <p:spPr>
          <a:xfrm>
            <a:off x="2808000" y="144000"/>
            <a:ext cx="3528000" cy="338554"/>
          </a:xfrm>
        </p:spPr>
        <p:txBody>
          <a:bodyPr/>
          <a:lstStyle/>
          <a:p>
            <a:r>
              <a:rPr lang="zh-CN" altLang="en-US" dirty="0"/>
              <a:t>快恢复</a:t>
            </a:r>
            <a:r>
              <a:rPr lang="en-US" altLang="zh-CN" dirty="0"/>
              <a:t> Fast Recovery</a:t>
            </a:r>
            <a:endParaRPr lang="zh-CN" altLang="en-US" dirty="0"/>
          </a:p>
        </p:txBody>
      </p:sp>
    </p:spTree>
    <p:extLst>
      <p:ext uri="{BB962C8B-B14F-4D97-AF65-F5344CB8AC3E}">
        <p14:creationId xmlns:p14="http://schemas.microsoft.com/office/powerpoint/2010/main" val="301601349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Box 155"/>
          <p:cNvSpPr txBox="1">
            <a:spLocks noChangeArrowheads="1"/>
          </p:cNvSpPr>
          <p:nvPr/>
        </p:nvSpPr>
        <p:spPr bwMode="auto">
          <a:xfrm>
            <a:off x="1655268" y="3467383"/>
            <a:ext cx="631612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当拥塞窗口 </a:t>
            </a:r>
            <a:r>
              <a:rPr lang="en-US" altLang="zh-CN" sz="1600" b="1" dirty="0">
                <a:solidFill>
                  <a:srgbClr val="0000FF"/>
                </a:solidFill>
                <a:latin typeface="微软雅黑" pitchFamily="34" charset="-122"/>
                <a:ea typeface="微软雅黑" pitchFamily="34" charset="-122"/>
              </a:rPr>
              <a:t>cwnd = 16 </a:t>
            </a:r>
            <a:r>
              <a:rPr lang="zh-CN" altLang="en-US" sz="1600" b="1" dirty="0">
                <a:solidFill>
                  <a:srgbClr val="0000FF"/>
                </a:solidFill>
                <a:latin typeface="微软雅黑" pitchFamily="34" charset="-122"/>
                <a:ea typeface="微软雅黑" pitchFamily="34" charset="-122"/>
              </a:rPr>
              <a:t>时，发送方连续收到 </a:t>
            </a:r>
            <a:r>
              <a:rPr lang="en-US" altLang="zh-CN" sz="1600" b="1" dirty="0">
                <a:solidFill>
                  <a:srgbClr val="0000FF"/>
                </a:solidFill>
                <a:latin typeface="微软雅黑" pitchFamily="34" charset="-122"/>
                <a:ea typeface="微软雅黑" pitchFamily="34" charset="-122"/>
              </a:rPr>
              <a:t>3 </a:t>
            </a:r>
            <a:r>
              <a:rPr lang="zh-CN" altLang="en-US" sz="1600" b="1" dirty="0">
                <a:solidFill>
                  <a:srgbClr val="0000FF"/>
                </a:solidFill>
                <a:latin typeface="微软雅黑" pitchFamily="34" charset="-122"/>
                <a:ea typeface="微软雅黑" pitchFamily="34" charset="-122"/>
              </a:rPr>
              <a:t>个对同一个报文段的重复确认（记为 </a:t>
            </a:r>
            <a:r>
              <a:rPr lang="en-US" altLang="zh-CN" sz="1600" b="1" dirty="0">
                <a:solidFill>
                  <a:srgbClr val="0000FF"/>
                </a:solidFill>
                <a:latin typeface="微软雅黑" pitchFamily="34" charset="-122"/>
                <a:ea typeface="微软雅黑" pitchFamily="34" charset="-122"/>
              </a:rPr>
              <a:t>3-ACK</a:t>
            </a:r>
            <a:r>
              <a:rPr lang="zh-CN" altLang="en-US" sz="1600" b="1" dirty="0">
                <a:solidFill>
                  <a:srgbClr val="0000FF"/>
                </a:solidFill>
                <a:latin typeface="微软雅黑" pitchFamily="34" charset="-122"/>
                <a:ea typeface="微软雅黑" pitchFamily="34" charset="-122"/>
              </a:rPr>
              <a:t>）。发送方改为执行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8" name="Line 167"/>
          <p:cNvSpPr>
            <a:spLocks noChangeShapeType="1"/>
          </p:cNvSpPr>
          <p:nvPr/>
        </p:nvSpPr>
        <p:spPr bwMode="auto">
          <a:xfrm flipV="1">
            <a:off x="5503821" y="2113699"/>
            <a:ext cx="305213" cy="418990"/>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EC75BA6F-C9B8-2A82-B169-5AFD00331ED1}"/>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262753450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Text Box 155"/>
          <p:cNvSpPr txBox="1">
            <a:spLocks noChangeArrowheads="1"/>
          </p:cNvSpPr>
          <p:nvPr/>
        </p:nvSpPr>
        <p:spPr bwMode="auto">
          <a:xfrm>
            <a:off x="1317046" y="3467383"/>
            <a:ext cx="7119944" cy="634020"/>
          </a:xfrm>
          <a:prstGeom prst="rect">
            <a:avLst/>
          </a:prstGeom>
          <a:noFill/>
          <a:ln w="9525">
            <a:noFill/>
            <a:miter lim="800000"/>
            <a:headEnd/>
            <a:tailEnd/>
          </a:ln>
          <a:effectLst/>
        </p:spPr>
        <p:txBody>
          <a:bodyPr wrap="square">
            <a:spAutoFit/>
          </a:bodyPr>
          <a:lstStyle/>
          <a:p>
            <a:pPr>
              <a:lnSpc>
                <a:spcPct val="110000"/>
              </a:lnSpc>
            </a:pPr>
            <a:r>
              <a:rPr lang="zh-CN" altLang="en-US" sz="1600" b="1" dirty="0">
                <a:solidFill>
                  <a:srgbClr val="0000FF"/>
                </a:solidFill>
                <a:latin typeface="微软雅黑" pitchFamily="34" charset="-122"/>
                <a:ea typeface="微软雅黑" pitchFamily="34" charset="-122"/>
              </a:rPr>
              <a:t>执行</a:t>
            </a:r>
            <a:r>
              <a:rPr lang="zh-CN" altLang="en-US" sz="1600" b="1" dirty="0">
                <a:solidFill>
                  <a:srgbClr val="C00000"/>
                </a:solidFill>
                <a:latin typeface="微软雅黑" pitchFamily="34" charset="-122"/>
                <a:ea typeface="微软雅黑" pitchFamily="34" charset="-122"/>
              </a:rPr>
              <a:t>快重传</a:t>
            </a:r>
            <a:r>
              <a:rPr lang="zh-CN" altLang="en-US" sz="1600" b="1" dirty="0">
                <a:solidFill>
                  <a:srgbClr val="0000FF"/>
                </a:solidFill>
                <a:latin typeface="微软雅黑" pitchFamily="34" charset="-122"/>
                <a:ea typeface="微软雅黑" pitchFamily="34" charset="-122"/>
              </a:rPr>
              <a:t>和</a:t>
            </a:r>
            <a:r>
              <a:rPr lang="zh-CN" altLang="en-US" sz="1600" b="1" dirty="0">
                <a:solidFill>
                  <a:srgbClr val="C00000"/>
                </a:solidFill>
                <a:latin typeface="微软雅黑" pitchFamily="34" charset="-122"/>
                <a:ea typeface="微软雅黑" pitchFamily="34" charset="-122"/>
              </a:rPr>
              <a:t>快恢复</a:t>
            </a:r>
            <a:r>
              <a:rPr lang="zh-CN" altLang="en-US" sz="1600" b="1" dirty="0">
                <a:solidFill>
                  <a:srgbClr val="0000FF"/>
                </a:solidFill>
                <a:latin typeface="微软雅黑" pitchFamily="34" charset="-122"/>
                <a:ea typeface="微软雅黑" pitchFamily="34" charset="-122"/>
              </a:rPr>
              <a:t>算法：发送方调整门限值 </a:t>
            </a:r>
            <a:r>
              <a:rPr lang="en-US" altLang="zh-CN" sz="1600" b="1" dirty="0">
                <a:solidFill>
                  <a:srgbClr val="0000FF"/>
                </a:solidFill>
                <a:latin typeface="微软雅黑" pitchFamily="34" charset="-122"/>
                <a:ea typeface="微软雅黑" pitchFamily="34" charset="-122"/>
              </a:rPr>
              <a:t>ssthresh = cwnd / 2 = 8</a:t>
            </a:r>
            <a:r>
              <a:rPr lang="zh-CN" altLang="en-US" sz="1600" b="1" dirty="0">
                <a:solidFill>
                  <a:srgbClr val="0000FF"/>
                </a:solidFill>
                <a:latin typeface="微软雅黑" pitchFamily="34" charset="-122"/>
                <a:ea typeface="微软雅黑" pitchFamily="34" charset="-122"/>
              </a:rPr>
              <a:t>，设置拥塞窗口 </a:t>
            </a:r>
            <a:r>
              <a:rPr lang="en-US" altLang="zh-CN" sz="1600" b="1" dirty="0">
                <a:solidFill>
                  <a:srgbClr val="0000FF"/>
                </a:solidFill>
                <a:latin typeface="微软雅黑" pitchFamily="34" charset="-122"/>
                <a:ea typeface="微软雅黑" pitchFamily="34" charset="-122"/>
              </a:rPr>
              <a:t>cwnd = ssthresh = 8</a:t>
            </a:r>
            <a:r>
              <a:rPr lang="zh-CN" altLang="en-US" sz="1600" b="1" dirty="0">
                <a:solidFill>
                  <a:srgbClr val="0000FF"/>
                </a:solidFill>
                <a:latin typeface="微软雅黑" pitchFamily="34" charset="-122"/>
                <a:ea typeface="微软雅黑" pitchFamily="34" charset="-122"/>
              </a:rPr>
              <a:t>，开始执行拥塞避免算法。</a:t>
            </a:r>
          </a:p>
        </p:txBody>
      </p:sp>
      <p:grpSp>
        <p:nvGrpSpPr>
          <p:cNvPr id="151" name="组合 150"/>
          <p:cNvGrpSpPr/>
          <p:nvPr/>
        </p:nvGrpSpPr>
        <p:grpSpPr>
          <a:xfrm>
            <a:off x="1317046" y="1115751"/>
            <a:ext cx="6855510" cy="2262108"/>
            <a:chOff x="1317046" y="1115751"/>
            <a:chExt cx="6855510" cy="2262108"/>
          </a:xfrm>
        </p:grpSpPr>
        <p:grpSp>
          <p:nvGrpSpPr>
            <p:cNvPr id="152" name="组合 151"/>
            <p:cNvGrpSpPr/>
            <p:nvPr/>
          </p:nvGrpSpPr>
          <p:grpSpPr>
            <a:xfrm>
              <a:off x="1317046" y="1115751"/>
              <a:ext cx="6808860" cy="2262108"/>
              <a:chOff x="300646" y="840152"/>
              <a:chExt cx="9638211" cy="3093013"/>
            </a:xfrm>
          </p:grpSpPr>
          <p:sp>
            <p:nvSpPr>
              <p:cNvPr id="155" name="Text Box 140"/>
              <p:cNvSpPr txBox="1">
                <a:spLocks noChangeArrowheads="1"/>
              </p:cNvSpPr>
              <p:nvPr/>
            </p:nvSpPr>
            <p:spPr bwMode="auto">
              <a:xfrm>
                <a:off x="4758802" y="942059"/>
                <a:ext cx="4226624" cy="687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lnSpc>
                    <a:spcPts val="1600"/>
                  </a:lnSpc>
                  <a:defRPr/>
                </a:pPr>
                <a:r>
                  <a:rPr lang="zh-CN" altLang="en-US" sz="1200" b="1" kern="0" dirty="0">
                    <a:solidFill>
                      <a:srgbClr val="CC00CC"/>
                    </a:solidFill>
                    <a:latin typeface="微软雅黑" pitchFamily="34" charset="-122"/>
                    <a:ea typeface="微软雅黑" pitchFamily="34" charset="-122"/>
                  </a:rPr>
                  <a:t>超时（网络发生拥塞，执行拥塞避免算法）</a:t>
                </a:r>
                <a:endParaRPr lang="en-US" altLang="zh-CN" sz="1200" b="1" kern="0" dirty="0">
                  <a:solidFill>
                    <a:srgbClr val="CC00CC"/>
                  </a:solidFill>
                  <a:latin typeface="微软雅黑" pitchFamily="34" charset="-122"/>
                  <a:ea typeface="微软雅黑" pitchFamily="34" charset="-122"/>
                </a:endParaRPr>
              </a:p>
              <a:p>
                <a:pPr lvl="0" eaLnBrk="1" hangingPunct="1">
                  <a:lnSpc>
                    <a:spcPts val="1600"/>
                  </a:lnSpc>
                  <a:defRPr/>
                </a:pPr>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1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a:t>
                </a:r>
              </a:p>
            </p:txBody>
          </p:sp>
          <p:sp>
            <p:nvSpPr>
              <p:cNvPr id="156" name="Line 2"/>
              <p:cNvSpPr>
                <a:spLocks noChangeShapeType="1"/>
              </p:cNvSpPr>
              <p:nvPr/>
            </p:nvSpPr>
            <p:spPr bwMode="auto">
              <a:xfrm flipV="1">
                <a:off x="1883792" y="3639369"/>
                <a:ext cx="6211887" cy="4762"/>
              </a:xfrm>
              <a:prstGeom prst="line">
                <a:avLst/>
              </a:prstGeom>
              <a:noFill/>
              <a:ln w="12700">
                <a:solidFill>
                  <a:srgbClr val="000000"/>
                </a:solidFill>
                <a:round/>
                <a:headEnd/>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7" name="Line 3"/>
              <p:cNvSpPr>
                <a:spLocks noChangeShapeType="1"/>
              </p:cNvSpPr>
              <p:nvPr/>
            </p:nvSpPr>
            <p:spPr bwMode="auto">
              <a:xfrm>
                <a:off x="1882204" y="1161281"/>
                <a:ext cx="1588" cy="2482850"/>
              </a:xfrm>
              <a:prstGeom prst="line">
                <a:avLst/>
              </a:prstGeom>
              <a:noFill/>
              <a:ln w="12700">
                <a:solidFill>
                  <a:srgbClr val="000000"/>
                </a:solidFill>
                <a:round/>
                <a:headEnd type="triangle" w="sm" len="lg"/>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8" name="Line 4"/>
              <p:cNvSpPr>
                <a:spLocks noChangeShapeType="1"/>
              </p:cNvSpPr>
              <p:nvPr/>
            </p:nvSpPr>
            <p:spPr bwMode="auto">
              <a:xfrm>
                <a:off x="21123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59" name="Line 5"/>
              <p:cNvSpPr>
                <a:spLocks noChangeShapeType="1"/>
              </p:cNvSpPr>
              <p:nvPr/>
            </p:nvSpPr>
            <p:spPr bwMode="auto">
              <a:xfrm>
                <a:off x="2340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0" name="Line 6"/>
              <p:cNvSpPr>
                <a:spLocks noChangeShapeType="1"/>
              </p:cNvSpPr>
              <p:nvPr/>
            </p:nvSpPr>
            <p:spPr bwMode="auto">
              <a:xfrm>
                <a:off x="2569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1" name="Line 7"/>
              <p:cNvSpPr>
                <a:spLocks noChangeShapeType="1"/>
              </p:cNvSpPr>
              <p:nvPr/>
            </p:nvSpPr>
            <p:spPr bwMode="auto">
              <a:xfrm>
                <a:off x="2798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2" name="Line 8"/>
              <p:cNvSpPr>
                <a:spLocks noChangeShapeType="1"/>
              </p:cNvSpPr>
              <p:nvPr/>
            </p:nvSpPr>
            <p:spPr bwMode="auto">
              <a:xfrm>
                <a:off x="3026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3" name="Line 9"/>
              <p:cNvSpPr>
                <a:spLocks noChangeShapeType="1"/>
              </p:cNvSpPr>
              <p:nvPr/>
            </p:nvSpPr>
            <p:spPr bwMode="auto">
              <a:xfrm>
                <a:off x="3255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4" name="Line 10"/>
              <p:cNvSpPr>
                <a:spLocks noChangeShapeType="1"/>
              </p:cNvSpPr>
              <p:nvPr/>
            </p:nvSpPr>
            <p:spPr bwMode="auto">
              <a:xfrm>
                <a:off x="3483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5" name="Line 11"/>
              <p:cNvSpPr>
                <a:spLocks noChangeShapeType="1"/>
              </p:cNvSpPr>
              <p:nvPr/>
            </p:nvSpPr>
            <p:spPr bwMode="auto">
              <a:xfrm>
                <a:off x="3712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6" name="Line 12"/>
              <p:cNvSpPr>
                <a:spLocks noChangeShapeType="1"/>
              </p:cNvSpPr>
              <p:nvPr/>
            </p:nvSpPr>
            <p:spPr bwMode="auto">
              <a:xfrm>
                <a:off x="3941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7" name="Line 13"/>
              <p:cNvSpPr>
                <a:spLocks noChangeShapeType="1"/>
              </p:cNvSpPr>
              <p:nvPr/>
            </p:nvSpPr>
            <p:spPr bwMode="auto">
              <a:xfrm>
                <a:off x="4169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8" name="Line 14"/>
              <p:cNvSpPr>
                <a:spLocks noChangeShapeType="1"/>
              </p:cNvSpPr>
              <p:nvPr/>
            </p:nvSpPr>
            <p:spPr bwMode="auto">
              <a:xfrm>
                <a:off x="4398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69" name="Line 15"/>
              <p:cNvSpPr>
                <a:spLocks noChangeShapeType="1"/>
              </p:cNvSpPr>
              <p:nvPr/>
            </p:nvSpPr>
            <p:spPr bwMode="auto">
              <a:xfrm>
                <a:off x="4626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0" name="Line 16"/>
              <p:cNvSpPr>
                <a:spLocks noChangeShapeType="1"/>
              </p:cNvSpPr>
              <p:nvPr/>
            </p:nvSpPr>
            <p:spPr bwMode="auto">
              <a:xfrm>
                <a:off x="4855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1" name="Line 17"/>
              <p:cNvSpPr>
                <a:spLocks noChangeShapeType="1"/>
              </p:cNvSpPr>
              <p:nvPr/>
            </p:nvSpPr>
            <p:spPr bwMode="auto">
              <a:xfrm>
                <a:off x="5084192" y="3567931"/>
                <a:ext cx="0" cy="762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2" name="Line 18"/>
              <p:cNvSpPr>
                <a:spLocks noChangeShapeType="1"/>
              </p:cNvSpPr>
              <p:nvPr/>
            </p:nvSpPr>
            <p:spPr bwMode="auto">
              <a:xfrm>
                <a:off x="5312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3" name="Line 19"/>
              <p:cNvSpPr>
                <a:spLocks noChangeShapeType="1"/>
              </p:cNvSpPr>
              <p:nvPr/>
            </p:nvSpPr>
            <p:spPr bwMode="auto">
              <a:xfrm>
                <a:off x="5541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4" name="Line 20"/>
              <p:cNvSpPr>
                <a:spLocks noChangeShapeType="1"/>
              </p:cNvSpPr>
              <p:nvPr/>
            </p:nvSpPr>
            <p:spPr bwMode="auto">
              <a:xfrm>
                <a:off x="5769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5" name="Line 21"/>
              <p:cNvSpPr>
                <a:spLocks noChangeShapeType="1"/>
              </p:cNvSpPr>
              <p:nvPr/>
            </p:nvSpPr>
            <p:spPr bwMode="auto">
              <a:xfrm>
                <a:off x="59985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6" name="Line 22"/>
              <p:cNvSpPr>
                <a:spLocks noChangeShapeType="1"/>
              </p:cNvSpPr>
              <p:nvPr/>
            </p:nvSpPr>
            <p:spPr bwMode="auto">
              <a:xfrm>
                <a:off x="62271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7" name="Line 23"/>
              <p:cNvSpPr>
                <a:spLocks noChangeShapeType="1"/>
              </p:cNvSpPr>
              <p:nvPr/>
            </p:nvSpPr>
            <p:spPr bwMode="auto">
              <a:xfrm>
                <a:off x="64557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8" name="Line 24"/>
              <p:cNvSpPr>
                <a:spLocks noChangeShapeType="1"/>
              </p:cNvSpPr>
              <p:nvPr/>
            </p:nvSpPr>
            <p:spPr bwMode="auto">
              <a:xfrm>
                <a:off x="66843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79" name="Line 25"/>
              <p:cNvSpPr>
                <a:spLocks noChangeShapeType="1"/>
              </p:cNvSpPr>
              <p:nvPr/>
            </p:nvSpPr>
            <p:spPr bwMode="auto">
              <a:xfrm>
                <a:off x="6912992" y="349173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0" name="Line 40"/>
              <p:cNvSpPr>
                <a:spLocks noChangeShapeType="1"/>
              </p:cNvSpPr>
              <p:nvPr/>
            </p:nvSpPr>
            <p:spPr bwMode="auto">
              <a:xfrm>
                <a:off x="1883792" y="3263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1" name="Line 41"/>
              <p:cNvSpPr>
                <a:spLocks noChangeShapeType="1"/>
              </p:cNvSpPr>
              <p:nvPr/>
            </p:nvSpPr>
            <p:spPr bwMode="auto">
              <a:xfrm>
                <a:off x="1883792" y="2882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2" name="Line 42"/>
              <p:cNvSpPr>
                <a:spLocks noChangeShapeType="1"/>
              </p:cNvSpPr>
              <p:nvPr/>
            </p:nvSpPr>
            <p:spPr bwMode="auto">
              <a:xfrm>
                <a:off x="1883792" y="2501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3" name="Line 43"/>
              <p:cNvSpPr>
                <a:spLocks noChangeShapeType="1"/>
              </p:cNvSpPr>
              <p:nvPr/>
            </p:nvSpPr>
            <p:spPr bwMode="auto">
              <a:xfrm>
                <a:off x="1883792" y="2120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4" name="Line 44"/>
              <p:cNvSpPr>
                <a:spLocks noChangeShapeType="1"/>
              </p:cNvSpPr>
              <p:nvPr/>
            </p:nvSpPr>
            <p:spPr bwMode="auto">
              <a:xfrm>
                <a:off x="1883792" y="1739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5" name="Line 45"/>
              <p:cNvSpPr>
                <a:spLocks noChangeShapeType="1"/>
              </p:cNvSpPr>
              <p:nvPr/>
            </p:nvSpPr>
            <p:spPr bwMode="auto">
              <a:xfrm>
                <a:off x="1883792" y="1358131"/>
                <a:ext cx="2286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186" name="Text Box 77"/>
              <p:cNvSpPr txBox="1">
                <a:spLocks noChangeArrowheads="1"/>
              </p:cNvSpPr>
              <p:nvPr/>
            </p:nvSpPr>
            <p:spPr bwMode="auto">
              <a:xfrm>
                <a:off x="21594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a:t>
                </a:r>
              </a:p>
            </p:txBody>
          </p:sp>
          <p:sp>
            <p:nvSpPr>
              <p:cNvPr id="187" name="Text Box 78"/>
              <p:cNvSpPr txBox="1">
                <a:spLocks noChangeArrowheads="1"/>
              </p:cNvSpPr>
              <p:nvPr/>
            </p:nvSpPr>
            <p:spPr bwMode="auto">
              <a:xfrm>
                <a:off x="26166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188" name="Text Box 79"/>
              <p:cNvSpPr txBox="1">
                <a:spLocks noChangeArrowheads="1"/>
              </p:cNvSpPr>
              <p:nvPr/>
            </p:nvSpPr>
            <p:spPr bwMode="auto">
              <a:xfrm>
                <a:off x="3073878"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6</a:t>
                </a:r>
              </a:p>
            </p:txBody>
          </p:sp>
          <p:sp>
            <p:nvSpPr>
              <p:cNvPr id="189" name="Text Box 80"/>
              <p:cNvSpPr txBox="1">
                <a:spLocks noChangeArrowheads="1"/>
              </p:cNvSpPr>
              <p:nvPr/>
            </p:nvSpPr>
            <p:spPr bwMode="auto">
              <a:xfrm>
                <a:off x="3543779"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190" name="Text Box 81"/>
              <p:cNvSpPr txBox="1">
                <a:spLocks noChangeArrowheads="1"/>
              </p:cNvSpPr>
              <p:nvPr/>
            </p:nvSpPr>
            <p:spPr bwMode="auto">
              <a:xfrm>
                <a:off x="39247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10</a:t>
                </a:r>
              </a:p>
            </p:txBody>
          </p:sp>
          <p:sp>
            <p:nvSpPr>
              <p:cNvPr id="191" name="Text Box 82"/>
              <p:cNvSpPr txBox="1">
                <a:spLocks noChangeArrowheads="1"/>
              </p:cNvSpPr>
              <p:nvPr/>
            </p:nvSpPr>
            <p:spPr bwMode="auto">
              <a:xfrm>
                <a:off x="4420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192" name="Text Box 83"/>
              <p:cNvSpPr txBox="1">
                <a:spLocks noChangeArrowheads="1"/>
              </p:cNvSpPr>
              <p:nvPr/>
            </p:nvSpPr>
            <p:spPr bwMode="auto">
              <a:xfrm>
                <a:off x="4851878"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14</a:t>
                </a:r>
              </a:p>
            </p:txBody>
          </p:sp>
          <p:sp>
            <p:nvSpPr>
              <p:cNvPr id="193" name="Text Box 84"/>
              <p:cNvSpPr txBox="1">
                <a:spLocks noChangeArrowheads="1"/>
              </p:cNvSpPr>
              <p:nvPr/>
            </p:nvSpPr>
            <p:spPr bwMode="auto">
              <a:xfrm>
                <a:off x="5309079"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194" name="Text Box 85"/>
              <p:cNvSpPr txBox="1">
                <a:spLocks noChangeArrowheads="1"/>
              </p:cNvSpPr>
              <p:nvPr/>
            </p:nvSpPr>
            <p:spPr bwMode="auto">
              <a:xfrm>
                <a:off x="5782155"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18</a:t>
                </a:r>
              </a:p>
            </p:txBody>
          </p:sp>
          <p:sp>
            <p:nvSpPr>
              <p:cNvPr id="195" name="Text Box 86"/>
              <p:cNvSpPr txBox="1">
                <a:spLocks noChangeArrowheads="1"/>
              </p:cNvSpPr>
              <p:nvPr/>
            </p:nvSpPr>
            <p:spPr bwMode="auto">
              <a:xfrm>
                <a:off x="6239353" y="3588569"/>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196" name="Text Box 87"/>
              <p:cNvSpPr txBox="1">
                <a:spLocks noChangeArrowheads="1"/>
              </p:cNvSpPr>
              <p:nvPr/>
            </p:nvSpPr>
            <p:spPr bwMode="auto">
              <a:xfrm>
                <a:off x="6683854" y="3596503"/>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22</a:t>
                </a:r>
              </a:p>
            </p:txBody>
          </p:sp>
          <p:sp>
            <p:nvSpPr>
              <p:cNvPr id="197" name="Text Box 89"/>
              <p:cNvSpPr txBox="1">
                <a:spLocks noChangeArrowheads="1"/>
              </p:cNvSpPr>
              <p:nvPr/>
            </p:nvSpPr>
            <p:spPr bwMode="auto">
              <a:xfrm>
                <a:off x="1740377" y="3588569"/>
                <a:ext cx="372590"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8" name="Text Box 90"/>
              <p:cNvSpPr txBox="1">
                <a:spLocks noChangeArrowheads="1"/>
              </p:cNvSpPr>
              <p:nvPr/>
            </p:nvSpPr>
            <p:spPr bwMode="auto">
              <a:xfrm>
                <a:off x="1617091" y="3439344"/>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0</a:t>
                </a:r>
              </a:p>
            </p:txBody>
          </p:sp>
          <p:sp>
            <p:nvSpPr>
              <p:cNvPr id="199" name="Text Box 91"/>
              <p:cNvSpPr txBox="1">
                <a:spLocks noChangeArrowheads="1"/>
              </p:cNvSpPr>
              <p:nvPr/>
            </p:nvSpPr>
            <p:spPr bwMode="auto">
              <a:xfrm>
                <a:off x="1597772" y="3058345"/>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4</a:t>
                </a:r>
              </a:p>
            </p:txBody>
          </p:sp>
          <p:sp>
            <p:nvSpPr>
              <p:cNvPr id="200" name="Text Box 92"/>
              <p:cNvSpPr txBox="1">
                <a:spLocks noChangeArrowheads="1"/>
              </p:cNvSpPr>
              <p:nvPr/>
            </p:nvSpPr>
            <p:spPr bwMode="auto">
              <a:xfrm>
                <a:off x="1597772" y="2690043"/>
                <a:ext cx="372590"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8</a:t>
                </a:r>
              </a:p>
            </p:txBody>
          </p:sp>
          <p:sp>
            <p:nvSpPr>
              <p:cNvPr id="201" name="Text Box 93"/>
              <p:cNvSpPr txBox="1">
                <a:spLocks noChangeArrowheads="1"/>
              </p:cNvSpPr>
              <p:nvPr/>
            </p:nvSpPr>
            <p:spPr bwMode="auto">
              <a:xfrm>
                <a:off x="1483473" y="23217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12</a:t>
                </a:r>
              </a:p>
            </p:txBody>
          </p:sp>
          <p:sp>
            <p:nvSpPr>
              <p:cNvPr id="202" name="Text Box 94"/>
              <p:cNvSpPr txBox="1">
                <a:spLocks noChangeArrowheads="1"/>
              </p:cNvSpPr>
              <p:nvPr/>
            </p:nvSpPr>
            <p:spPr bwMode="auto">
              <a:xfrm>
                <a:off x="1483473" y="1953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16</a:t>
                </a:r>
              </a:p>
            </p:txBody>
          </p:sp>
          <p:sp>
            <p:nvSpPr>
              <p:cNvPr id="203" name="Text Box 95"/>
              <p:cNvSpPr txBox="1">
                <a:spLocks noChangeArrowheads="1"/>
              </p:cNvSpPr>
              <p:nvPr/>
            </p:nvSpPr>
            <p:spPr bwMode="auto">
              <a:xfrm>
                <a:off x="1483473" y="1572445"/>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20</a:t>
                </a:r>
              </a:p>
            </p:txBody>
          </p:sp>
          <p:sp>
            <p:nvSpPr>
              <p:cNvPr id="204" name="Text Box 96"/>
              <p:cNvSpPr txBox="1">
                <a:spLocks noChangeArrowheads="1"/>
              </p:cNvSpPr>
              <p:nvPr/>
            </p:nvSpPr>
            <p:spPr bwMode="auto">
              <a:xfrm>
                <a:off x="1483473" y="1191444"/>
                <a:ext cx="483775" cy="336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05" name="Oval 102"/>
              <p:cNvSpPr>
                <a:spLocks noChangeArrowheads="1"/>
              </p:cNvSpPr>
              <p:nvPr/>
            </p:nvSpPr>
            <p:spPr bwMode="auto">
              <a:xfrm>
                <a:off x="2521967" y="2844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6" name="Oval 103"/>
              <p:cNvSpPr>
                <a:spLocks noChangeArrowheads="1"/>
              </p:cNvSpPr>
              <p:nvPr/>
            </p:nvSpPr>
            <p:spPr bwMode="auto">
              <a:xfrm>
                <a:off x="2293367" y="32250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7" name="Oval 104"/>
              <p:cNvSpPr>
                <a:spLocks noChangeArrowheads="1"/>
              </p:cNvSpPr>
              <p:nvPr/>
            </p:nvSpPr>
            <p:spPr bwMode="auto">
              <a:xfrm>
                <a:off x="1845692" y="3472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8" name="Oval 105"/>
              <p:cNvSpPr>
                <a:spLocks noChangeArrowheads="1"/>
              </p:cNvSpPr>
              <p:nvPr/>
            </p:nvSpPr>
            <p:spPr bwMode="auto">
              <a:xfrm>
                <a:off x="2055242" y="34060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09" name="Oval 106"/>
              <p:cNvSpPr>
                <a:spLocks noChangeArrowheads="1"/>
              </p:cNvSpPr>
              <p:nvPr/>
            </p:nvSpPr>
            <p:spPr bwMode="auto">
              <a:xfrm>
                <a:off x="2750567" y="20788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0" name="Oval 107"/>
              <p:cNvSpPr>
                <a:spLocks noChangeArrowheads="1"/>
              </p:cNvSpPr>
              <p:nvPr/>
            </p:nvSpPr>
            <p:spPr bwMode="auto">
              <a:xfrm>
                <a:off x="2979167" y="19772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1" name="Oval 108"/>
              <p:cNvSpPr>
                <a:spLocks noChangeArrowheads="1"/>
              </p:cNvSpPr>
              <p:nvPr/>
            </p:nvSpPr>
            <p:spPr bwMode="auto">
              <a:xfrm>
                <a:off x="3207767" y="18867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2" name="Oval 109"/>
              <p:cNvSpPr>
                <a:spLocks noChangeArrowheads="1"/>
              </p:cNvSpPr>
              <p:nvPr/>
            </p:nvSpPr>
            <p:spPr bwMode="auto">
              <a:xfrm>
                <a:off x="3669729" y="1696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3" name="Oval 110"/>
              <p:cNvSpPr>
                <a:spLocks noChangeArrowheads="1"/>
              </p:cNvSpPr>
              <p:nvPr/>
            </p:nvSpPr>
            <p:spPr bwMode="auto">
              <a:xfrm>
                <a:off x="3436367" y="17915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4" name="Oval 113"/>
              <p:cNvSpPr>
                <a:spLocks noChangeArrowheads="1"/>
              </p:cNvSpPr>
              <p:nvPr/>
            </p:nvSpPr>
            <p:spPr bwMode="auto">
              <a:xfrm>
                <a:off x="3898329" y="16010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5" name="Oval 114"/>
              <p:cNvSpPr>
                <a:spLocks noChangeArrowheads="1"/>
              </p:cNvSpPr>
              <p:nvPr/>
            </p:nvSpPr>
            <p:spPr bwMode="auto">
              <a:xfrm>
                <a:off x="4122167" y="1510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6" name="Oval 116"/>
              <p:cNvSpPr>
                <a:spLocks noChangeArrowheads="1"/>
              </p:cNvSpPr>
              <p:nvPr/>
            </p:nvSpPr>
            <p:spPr bwMode="auto">
              <a:xfrm>
                <a:off x="4574604" y="130574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7" name="Oval 117"/>
              <p:cNvSpPr>
                <a:spLocks noChangeArrowheads="1"/>
              </p:cNvSpPr>
              <p:nvPr/>
            </p:nvSpPr>
            <p:spPr bwMode="auto">
              <a:xfrm>
                <a:off x="4350767" y="1400994"/>
                <a:ext cx="88900" cy="88900"/>
              </a:xfrm>
              <a:prstGeom prst="ellipse">
                <a:avLst/>
              </a:prstGeom>
              <a:solidFill>
                <a:srgbClr val="0000FF"/>
              </a:solidFill>
              <a:ln w="2857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8" name="Freeform 118"/>
              <p:cNvSpPr>
                <a:spLocks/>
              </p:cNvSpPr>
              <p:nvPr/>
            </p:nvSpPr>
            <p:spPr bwMode="auto">
              <a:xfrm>
                <a:off x="1807592" y="1358131"/>
                <a:ext cx="2814637" cy="2174875"/>
              </a:xfrm>
              <a:custGeom>
                <a:avLst/>
                <a:gdLst>
                  <a:gd name="T0" fmla="*/ 2147483647 w 1773"/>
                  <a:gd name="T1" fmla="*/ 0 h 1370"/>
                  <a:gd name="T2" fmla="*/ 2147483647 w 1773"/>
                  <a:gd name="T3" fmla="*/ 2147483647 h 1370"/>
                  <a:gd name="T4" fmla="*/ 2147483647 w 1773"/>
                  <a:gd name="T5" fmla="*/ 2147483647 h 1370"/>
                  <a:gd name="T6" fmla="*/ 2147483647 w 1773"/>
                  <a:gd name="T7" fmla="*/ 2147483647 h 1370"/>
                  <a:gd name="T8" fmla="*/ 2147483647 w 1773"/>
                  <a:gd name="T9" fmla="*/ 2147483647 h 1370"/>
                  <a:gd name="T10" fmla="*/ 2147483647 w 1773"/>
                  <a:gd name="T11" fmla="*/ 2147483647 h 1370"/>
                  <a:gd name="T12" fmla="*/ 0 60000 65536"/>
                  <a:gd name="T13" fmla="*/ 0 60000 65536"/>
                  <a:gd name="T14" fmla="*/ 0 60000 65536"/>
                  <a:gd name="T15" fmla="*/ 0 60000 65536"/>
                  <a:gd name="T16" fmla="*/ 0 60000 65536"/>
                  <a:gd name="T17" fmla="*/ 0 60000 65536"/>
                  <a:gd name="T18" fmla="*/ 0 w 1773"/>
                  <a:gd name="T19" fmla="*/ 0 h 1370"/>
                  <a:gd name="T20" fmla="*/ 1773 w 1773"/>
                  <a:gd name="T21" fmla="*/ 1370 h 1370"/>
                </a:gdLst>
                <a:ahLst/>
                <a:cxnLst>
                  <a:cxn ang="T12">
                    <a:pos x="T0" y="T1"/>
                  </a:cxn>
                  <a:cxn ang="T13">
                    <a:pos x="T2" y="T3"/>
                  </a:cxn>
                  <a:cxn ang="T14">
                    <a:pos x="T4" y="T5"/>
                  </a:cxn>
                  <a:cxn ang="T15">
                    <a:pos x="T6" y="T7"/>
                  </a:cxn>
                  <a:cxn ang="T16">
                    <a:pos x="T8" y="T9"/>
                  </a:cxn>
                  <a:cxn ang="T17">
                    <a:pos x="T10" y="T11"/>
                  </a:cxn>
                </a:cxnLst>
                <a:rect l="T18" t="T19" r="T20" b="T21"/>
                <a:pathLst>
                  <a:path w="1773" h="1370">
                    <a:moveTo>
                      <a:pt x="1773" y="0"/>
                    </a:moveTo>
                    <a:lnTo>
                      <a:pt x="618" y="487"/>
                    </a:lnTo>
                    <a:lnTo>
                      <a:pt x="480" y="961"/>
                    </a:lnTo>
                    <a:lnTo>
                      <a:pt x="331" y="1201"/>
                    </a:lnTo>
                    <a:lnTo>
                      <a:pt x="187" y="1321"/>
                    </a:lnTo>
                    <a:cubicBezTo>
                      <a:pt x="47" y="1370"/>
                      <a:pt x="0" y="1369"/>
                      <a:pt x="55" y="1369"/>
                    </a:cubicBezTo>
                  </a:path>
                </a:pathLst>
              </a:custGeom>
              <a:noFill/>
              <a:ln w="19050" cmpd="sng">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19" name="Text Box 134"/>
              <p:cNvSpPr txBox="1">
                <a:spLocks noChangeArrowheads="1"/>
              </p:cNvSpPr>
              <p:nvPr/>
            </p:nvSpPr>
            <p:spPr bwMode="auto">
              <a:xfrm>
                <a:off x="8097266" y="3444105"/>
                <a:ext cx="1622871"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lang="zh-CN" altLang="en-US" sz="1200" b="1" kern="0" dirty="0">
                    <a:solidFill>
                      <a:srgbClr val="000000"/>
                    </a:solidFill>
                    <a:latin typeface="微软雅黑" pitchFamily="34" charset="-122"/>
                    <a:ea typeface="微软雅黑" pitchFamily="34" charset="-122"/>
                  </a:rPr>
                  <a:t>往返时延 </a:t>
                </a:r>
                <a:r>
                  <a:rPr lang="en-US" altLang="zh-CN" sz="1200" b="1" kern="0" dirty="0">
                    <a:solidFill>
                      <a:srgbClr val="000000"/>
                    </a:solidFill>
                    <a:latin typeface="微软雅黑" pitchFamily="34" charset="-122"/>
                    <a:ea typeface="微软雅黑" pitchFamily="34" charset="-122"/>
                  </a:rPr>
                  <a:t>RTT</a:t>
                </a:r>
                <a:endParaRPr lang="zh-CN" altLang="en-US" sz="1200" b="1" kern="0" dirty="0">
                  <a:solidFill>
                    <a:srgbClr val="000000"/>
                  </a:solidFill>
                  <a:latin typeface="微软雅黑" pitchFamily="34" charset="-122"/>
                  <a:ea typeface="微软雅黑" pitchFamily="34" charset="-122"/>
                </a:endParaRPr>
              </a:p>
            </p:txBody>
          </p:sp>
          <p:sp>
            <p:nvSpPr>
              <p:cNvPr id="220" name="Text Box 135"/>
              <p:cNvSpPr txBox="1">
                <a:spLocks noChangeArrowheads="1"/>
              </p:cNvSpPr>
              <p:nvPr/>
            </p:nvSpPr>
            <p:spPr bwMode="auto">
              <a:xfrm>
                <a:off x="951928" y="840152"/>
                <a:ext cx="1983968"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拥塞窗口  </a:t>
                </a:r>
                <a:r>
                  <a:rPr kumimoji="1" lang="en-US" altLang="zh-CN"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cwnd</a:t>
                </a:r>
              </a:p>
            </p:txBody>
          </p:sp>
          <p:sp>
            <p:nvSpPr>
              <p:cNvPr id="221" name="Text Box 140"/>
              <p:cNvSpPr txBox="1">
                <a:spLocks noChangeArrowheads="1"/>
              </p:cNvSpPr>
              <p:nvPr/>
            </p:nvSpPr>
            <p:spPr bwMode="auto">
              <a:xfrm>
                <a:off x="6895232" y="1724855"/>
                <a:ext cx="3043625" cy="378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lvl="0" eaLnBrk="1" hangingPunct="1">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3-ACK</a:t>
                </a:r>
                <a:r>
                  <a:rPr lang="zh-CN" altLang="en-US" sz="1200" b="1" kern="0" dirty="0">
                    <a:solidFill>
                      <a:srgbClr val="CC00CC"/>
                    </a:solidFill>
                    <a:latin typeface="微软雅黑" pitchFamily="34" charset="-122"/>
                    <a:ea typeface="微软雅黑" pitchFamily="34" charset="-122"/>
                  </a:rPr>
                  <a:t>（执行快恢复算法）</a:t>
                </a:r>
                <a:endPar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22" name="Line 156"/>
              <p:cNvSpPr>
                <a:spLocks noChangeShapeType="1"/>
              </p:cNvSpPr>
              <p:nvPr/>
            </p:nvSpPr>
            <p:spPr bwMode="auto">
              <a:xfrm>
                <a:off x="1959992" y="2120131"/>
                <a:ext cx="8382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3" name="Line 146"/>
              <p:cNvSpPr>
                <a:spLocks noChangeShapeType="1"/>
              </p:cNvSpPr>
              <p:nvPr/>
            </p:nvSpPr>
            <p:spPr bwMode="auto">
              <a:xfrm flipV="1">
                <a:off x="1959992" y="1351781"/>
                <a:ext cx="2679700" cy="635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4" name="Text Box 203"/>
              <p:cNvSpPr txBox="1">
                <a:spLocks noChangeArrowheads="1"/>
              </p:cNvSpPr>
              <p:nvPr/>
            </p:nvSpPr>
            <p:spPr bwMode="auto">
              <a:xfrm>
                <a:off x="7827895" y="2038610"/>
                <a:ext cx="1382344" cy="631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TCP Reno </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99"/>
                    </a:solidFill>
                    <a:effectLst/>
                    <a:uLnTx/>
                    <a:uFillTx/>
                    <a:latin typeface="微软雅黑" pitchFamily="34" charset="-122"/>
                    <a:ea typeface="微软雅黑" pitchFamily="34" charset="-122"/>
                  </a:rPr>
                  <a:t>版本</a:t>
                </a:r>
              </a:p>
            </p:txBody>
          </p:sp>
          <p:sp>
            <p:nvSpPr>
              <p:cNvPr id="225" name="Text Box 205"/>
              <p:cNvSpPr txBox="1">
                <a:spLocks noChangeArrowheads="1"/>
              </p:cNvSpPr>
              <p:nvPr/>
            </p:nvSpPr>
            <p:spPr bwMode="auto">
              <a:xfrm>
                <a:off x="300646" y="1861369"/>
                <a:ext cx="1198546" cy="631241"/>
              </a:xfrm>
              <a:prstGeom prst="rect">
                <a:avLst/>
              </a:prstGeom>
              <a:noFill/>
              <a:ln w="9525">
                <a:noFill/>
                <a:miter lim="800000"/>
                <a:headEnd/>
                <a:tailEnd/>
              </a:ln>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zh-CN"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ssthresh</a:t>
                </a:r>
              </a:p>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CC00CC"/>
                    </a:solidFill>
                    <a:effectLst/>
                    <a:uLnTx/>
                    <a:uFillTx/>
                    <a:latin typeface="微软雅黑" pitchFamily="34" charset="-122"/>
                    <a:ea typeface="微软雅黑" pitchFamily="34" charset="-122"/>
                  </a:rPr>
                  <a:t> 的初始值</a:t>
                </a:r>
              </a:p>
            </p:txBody>
          </p:sp>
          <p:sp>
            <p:nvSpPr>
              <p:cNvPr id="226" name="Line 215"/>
              <p:cNvSpPr>
                <a:spLocks noChangeShapeType="1"/>
              </p:cNvSpPr>
              <p:nvPr/>
            </p:nvSpPr>
            <p:spPr bwMode="auto">
              <a:xfrm flipV="1">
                <a:off x="1388492" y="2148706"/>
                <a:ext cx="214312" cy="0"/>
              </a:xfrm>
              <a:prstGeom prst="line">
                <a:avLst/>
              </a:prstGeom>
              <a:noFill/>
              <a:ln w="19050">
                <a:solidFill>
                  <a:srgbClr val="CC00CC"/>
                </a:solidFill>
                <a:round/>
                <a:headEnd/>
                <a:tailEnd type="triangle" w="sm"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7" name="Text Box 206"/>
              <p:cNvSpPr txBox="1">
                <a:spLocks noChangeArrowheads="1"/>
              </p:cNvSpPr>
              <p:nvPr/>
            </p:nvSpPr>
            <p:spPr bwMode="auto">
              <a:xfrm rot="20245475">
                <a:off x="6783372" y="2294847"/>
                <a:ext cx="1214913" cy="406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a:ln>
                      <a:noFill/>
                    </a:ln>
                    <a:solidFill>
                      <a:srgbClr val="000000"/>
                    </a:solidFill>
                    <a:effectLst/>
                    <a:uLnTx/>
                    <a:uFillTx/>
                    <a:latin typeface="微软雅黑" pitchFamily="34" charset="-122"/>
                    <a:ea typeface="微软雅黑" pitchFamily="34" charset="-122"/>
                  </a:rPr>
                  <a:t>拥塞避免</a:t>
                </a:r>
              </a:p>
            </p:txBody>
          </p:sp>
          <p:sp>
            <p:nvSpPr>
              <p:cNvPr id="228" name="Oval 125"/>
              <p:cNvSpPr>
                <a:spLocks noChangeArrowheads="1"/>
              </p:cNvSpPr>
              <p:nvPr/>
            </p:nvSpPr>
            <p:spPr bwMode="auto">
              <a:xfrm>
                <a:off x="5036567" y="33917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29" name="Oval 126"/>
              <p:cNvSpPr>
                <a:spLocks noChangeArrowheads="1"/>
              </p:cNvSpPr>
              <p:nvPr/>
            </p:nvSpPr>
            <p:spPr bwMode="auto">
              <a:xfrm>
                <a:off x="5266754" y="32059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0" name="Oval 127"/>
              <p:cNvSpPr>
                <a:spLocks noChangeArrowheads="1"/>
              </p:cNvSpPr>
              <p:nvPr/>
            </p:nvSpPr>
            <p:spPr bwMode="auto">
              <a:xfrm>
                <a:off x="4798442" y="346315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1" name="Oval 128"/>
              <p:cNvSpPr>
                <a:spLocks noChangeArrowheads="1"/>
              </p:cNvSpPr>
              <p:nvPr/>
            </p:nvSpPr>
            <p:spPr bwMode="auto">
              <a:xfrm>
                <a:off x="5501704" y="2837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2" name="Oval 129"/>
              <p:cNvSpPr>
                <a:spLocks noChangeArrowheads="1"/>
              </p:cNvSpPr>
              <p:nvPr/>
            </p:nvSpPr>
            <p:spPr bwMode="auto">
              <a:xfrm>
                <a:off x="5973192" y="23534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3" name="Oval 130"/>
              <p:cNvSpPr>
                <a:spLocks noChangeArrowheads="1"/>
              </p:cNvSpPr>
              <p:nvPr/>
            </p:nvSpPr>
            <p:spPr bwMode="auto">
              <a:xfrm>
                <a:off x="6646292" y="207726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4" name="Oval 131"/>
              <p:cNvSpPr>
                <a:spLocks noChangeArrowheads="1"/>
              </p:cNvSpPr>
              <p:nvPr/>
            </p:nvSpPr>
            <p:spPr bwMode="auto">
              <a:xfrm>
                <a:off x="6197029" y="22534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5" name="Oval 132"/>
              <p:cNvSpPr>
                <a:spLocks noChangeArrowheads="1"/>
              </p:cNvSpPr>
              <p:nvPr/>
            </p:nvSpPr>
            <p:spPr bwMode="auto">
              <a:xfrm>
                <a:off x="6425629" y="21629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36" name="Line 147"/>
              <p:cNvSpPr>
                <a:spLocks noChangeShapeType="1"/>
              </p:cNvSpPr>
              <p:nvPr/>
            </p:nvSpPr>
            <p:spPr bwMode="auto">
              <a:xfrm rot="10800000">
                <a:off x="1977454" y="2499544"/>
                <a:ext cx="4038600"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37" name="直接连接符 115"/>
              <p:cNvCxnSpPr>
                <a:cxnSpLocks noChangeShapeType="1"/>
              </p:cNvCxnSpPr>
              <p:nvPr/>
            </p:nvCxnSpPr>
            <p:spPr bwMode="auto">
              <a:xfrm>
                <a:off x="4626992" y="1348606"/>
                <a:ext cx="228600" cy="2138363"/>
              </a:xfrm>
              <a:prstGeom prst="line">
                <a:avLst/>
              </a:prstGeom>
              <a:noFill/>
              <a:ln w="19050" algn="ctr">
                <a:solidFill>
                  <a:srgbClr val="0000FF"/>
                </a:solidFill>
                <a:round/>
                <a:headEnd/>
                <a:tailEnd/>
              </a:ln>
              <a:extLst>
                <a:ext uri="{909E8E84-426E-40DD-AFC4-6F175D3DCCD1}">
                  <a14:hiddenFill xmlns:a14="http://schemas.microsoft.com/office/drawing/2010/main">
                    <a:noFill/>
                  </a14:hiddenFill>
                </a:ext>
              </a:extLst>
            </p:spPr>
          </p:cxnSp>
          <p:sp>
            <p:nvSpPr>
              <p:cNvPr id="238" name="Rectangle 161"/>
              <p:cNvSpPr>
                <a:spLocks noChangeArrowheads="1"/>
              </p:cNvSpPr>
              <p:nvPr/>
            </p:nvSpPr>
            <p:spPr bwMode="auto">
              <a:xfrm>
                <a:off x="2485409" y="1712921"/>
                <a:ext cx="431801"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39" name="Oval 129"/>
              <p:cNvSpPr>
                <a:spLocks noChangeArrowheads="1"/>
              </p:cNvSpPr>
              <p:nvPr/>
            </p:nvSpPr>
            <p:spPr bwMode="auto">
              <a:xfrm>
                <a:off x="5741417" y="245668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0" name="任意多边形 134"/>
              <p:cNvSpPr>
                <a:spLocks/>
              </p:cNvSpPr>
              <p:nvPr/>
            </p:nvSpPr>
            <p:spPr bwMode="auto">
              <a:xfrm>
                <a:off x="4846067" y="2109019"/>
                <a:ext cx="1862137" cy="1401762"/>
              </a:xfrm>
              <a:custGeom>
                <a:avLst/>
                <a:gdLst>
                  <a:gd name="T0" fmla="*/ 0 w 1929384"/>
                  <a:gd name="T1" fmla="*/ 1404281 h 1426464"/>
                  <a:gd name="T2" fmla="*/ 224888 w 1929384"/>
                  <a:gd name="T3" fmla="*/ 1336767 h 1426464"/>
                  <a:gd name="T4" fmla="*/ 445365 w 1929384"/>
                  <a:gd name="T5" fmla="*/ 1152231 h 1426464"/>
                  <a:gd name="T6" fmla="*/ 903959 w 1929384"/>
                  <a:gd name="T7" fmla="*/ 409583 h 1426464"/>
                  <a:gd name="T8" fmla="*/ 1860836 w 1929384"/>
                  <a:gd name="T9" fmla="*/ 0 h 1426464"/>
                  <a:gd name="T10" fmla="*/ 0 60000 65536"/>
                  <a:gd name="T11" fmla="*/ 0 60000 65536"/>
                  <a:gd name="T12" fmla="*/ 0 60000 65536"/>
                  <a:gd name="T13" fmla="*/ 0 60000 65536"/>
                  <a:gd name="T14" fmla="*/ 0 60000 65536"/>
                  <a:gd name="T15" fmla="*/ 0 w 1929384"/>
                  <a:gd name="T16" fmla="*/ 0 h 1426464"/>
                  <a:gd name="T17" fmla="*/ 1929384 w 1929384"/>
                  <a:gd name="T18" fmla="*/ 1426464 h 1426464"/>
                </a:gdLst>
                <a:ahLst/>
                <a:cxnLst>
                  <a:cxn ang="T10">
                    <a:pos x="T0" y="T1"/>
                  </a:cxn>
                  <a:cxn ang="T11">
                    <a:pos x="T2" y="T3"/>
                  </a:cxn>
                  <a:cxn ang="T12">
                    <a:pos x="T4" y="T5"/>
                  </a:cxn>
                  <a:cxn ang="T13">
                    <a:pos x="T6" y="T7"/>
                  </a:cxn>
                  <a:cxn ang="T14">
                    <a:pos x="T8" y="T9"/>
                  </a:cxn>
                </a:cxnLst>
                <a:rect l="T15" t="T16" r="T17" b="T18"/>
                <a:pathLst>
                  <a:path w="1929384" h="1426464">
                    <a:moveTo>
                      <a:pt x="0" y="1426464"/>
                    </a:moveTo>
                    <a:lnTo>
                      <a:pt x="233172" y="1357884"/>
                    </a:lnTo>
                    <a:lnTo>
                      <a:pt x="461772" y="1170432"/>
                    </a:lnTo>
                    <a:lnTo>
                      <a:pt x="937260" y="416052"/>
                    </a:lnTo>
                    <a:lnTo>
                      <a:pt x="1929384" y="0"/>
                    </a:lnTo>
                  </a:path>
                </a:pathLst>
              </a:custGeom>
              <a:noFill/>
              <a:ln w="19050" cap="flat" cmpd="sng" algn="ctr">
                <a:solidFill>
                  <a:srgbClr val="0000FF"/>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1" name="Rectangle 161"/>
              <p:cNvSpPr>
                <a:spLocks noChangeArrowheads="1"/>
              </p:cNvSpPr>
              <p:nvPr/>
            </p:nvSpPr>
            <p:spPr bwMode="auto">
              <a:xfrm>
                <a:off x="4429626" y="976842"/>
                <a:ext cx="358776" cy="288924"/>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0" lang="zh-CN" altLang="en-US"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cxnSp>
            <p:nvCxnSpPr>
              <p:cNvPr id="242" name="直接连接符 119"/>
              <p:cNvCxnSpPr>
                <a:cxnSpLocks noChangeShapeType="1"/>
              </p:cNvCxnSpPr>
              <p:nvPr/>
            </p:nvCxnSpPr>
            <p:spPr bwMode="auto">
              <a:xfrm flipH="1">
                <a:off x="6909817" y="2902769"/>
                <a:ext cx="1587" cy="655637"/>
              </a:xfrm>
              <a:prstGeom prst="line">
                <a:avLst/>
              </a:prstGeom>
              <a:noFill/>
              <a:ln w="12700" algn="ctr">
                <a:solidFill>
                  <a:srgbClr val="000000"/>
                </a:solidFill>
                <a:prstDash val="dash"/>
                <a:round/>
                <a:headEnd/>
                <a:tailEnd/>
              </a:ln>
            </p:spPr>
          </p:cxnSp>
          <p:cxnSp>
            <p:nvCxnSpPr>
              <p:cNvPr id="243" name="直接连接符 121"/>
              <p:cNvCxnSpPr>
                <a:cxnSpLocks noChangeShapeType="1"/>
              </p:cNvCxnSpPr>
              <p:nvPr/>
            </p:nvCxnSpPr>
            <p:spPr bwMode="auto">
              <a:xfrm>
                <a:off x="1993329" y="2886894"/>
                <a:ext cx="5545138" cy="0"/>
              </a:xfrm>
              <a:prstGeom prst="line">
                <a:avLst/>
              </a:prstGeom>
              <a:noFill/>
              <a:ln w="12700" algn="ctr">
                <a:solidFill>
                  <a:srgbClr val="000000"/>
                </a:solidFill>
                <a:prstDash val="dash"/>
                <a:round/>
                <a:headEnd/>
                <a:tailEnd/>
              </a:ln>
            </p:spPr>
          </p:cxnSp>
          <p:sp>
            <p:nvSpPr>
              <p:cNvPr id="244" name="Oval 130"/>
              <p:cNvSpPr>
                <a:spLocks noChangeArrowheads="1"/>
              </p:cNvSpPr>
              <p:nvPr/>
            </p:nvSpPr>
            <p:spPr bwMode="auto">
              <a:xfrm>
                <a:off x="6866954" y="28456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5" name="Line 24"/>
              <p:cNvSpPr>
                <a:spLocks noChangeShapeType="1"/>
              </p:cNvSpPr>
              <p:nvPr/>
            </p:nvSpPr>
            <p:spPr bwMode="auto">
              <a:xfrm>
                <a:off x="7367017" y="34853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6" name="Line 22"/>
              <p:cNvSpPr>
                <a:spLocks noChangeShapeType="1"/>
              </p:cNvSpPr>
              <p:nvPr/>
            </p:nvSpPr>
            <p:spPr bwMode="auto">
              <a:xfrm>
                <a:off x="7135242" y="3490144"/>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47" name="Text Box 87"/>
              <p:cNvSpPr txBox="1">
                <a:spLocks noChangeArrowheads="1"/>
              </p:cNvSpPr>
              <p:nvPr/>
            </p:nvSpPr>
            <p:spPr bwMode="auto">
              <a:xfrm>
                <a:off x="7112479" y="3593331"/>
                <a:ext cx="483775" cy="3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0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24</a:t>
                </a:r>
              </a:p>
            </p:txBody>
          </p:sp>
          <p:sp>
            <p:nvSpPr>
              <p:cNvPr id="248" name="Line 22"/>
              <p:cNvSpPr>
                <a:spLocks noChangeShapeType="1"/>
              </p:cNvSpPr>
              <p:nvPr/>
            </p:nvSpPr>
            <p:spPr bwMode="auto">
              <a:xfrm>
                <a:off x="7605142" y="3498081"/>
                <a:ext cx="0" cy="15240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49" name="直接连接符 134"/>
              <p:cNvCxnSpPr>
                <a:cxnSpLocks noChangeShapeType="1"/>
                <a:stCxn id="240" idx="4"/>
                <a:endCxn id="244" idx="3"/>
              </p:cNvCxnSpPr>
              <p:nvPr/>
            </p:nvCxnSpPr>
            <p:spPr bwMode="auto">
              <a:xfrm>
                <a:off x="6706617" y="2109019"/>
                <a:ext cx="200025" cy="785812"/>
              </a:xfrm>
              <a:prstGeom prst="line">
                <a:avLst/>
              </a:prstGeom>
              <a:noFill/>
              <a:ln w="19050" algn="ctr">
                <a:solidFill>
                  <a:srgbClr val="0000FF"/>
                </a:solidFill>
                <a:round/>
                <a:headEnd/>
                <a:tailEnd/>
              </a:ln>
            </p:spPr>
          </p:cxnSp>
          <p:sp>
            <p:nvSpPr>
              <p:cNvPr id="250" name="Text Box 206"/>
              <p:cNvSpPr txBox="1">
                <a:spLocks noChangeArrowheads="1"/>
              </p:cNvSpPr>
              <p:nvPr/>
            </p:nvSpPr>
            <p:spPr bwMode="auto">
              <a:xfrm rot="20070649">
                <a:off x="5649301" y="189117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1" name="Text Box 206"/>
              <p:cNvSpPr txBox="1">
                <a:spLocks noChangeArrowheads="1"/>
              </p:cNvSpPr>
              <p:nvPr/>
            </p:nvSpPr>
            <p:spPr bwMode="auto">
              <a:xfrm rot="20205303">
                <a:off x="2742350" y="1452888"/>
                <a:ext cx="1214913" cy="406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1200" b="1" i="0" u="none" strike="noStrike" kern="0" cap="none" spc="0" normalizeH="0" baseline="0" noProof="0" dirty="0">
                    <a:ln>
                      <a:noFill/>
                    </a:ln>
                    <a:solidFill>
                      <a:srgbClr val="000000"/>
                    </a:solidFill>
                    <a:effectLst/>
                    <a:uLnTx/>
                    <a:uFillTx/>
                    <a:latin typeface="微软雅黑" pitchFamily="34" charset="-122"/>
                    <a:ea typeface="微软雅黑" pitchFamily="34" charset="-122"/>
                  </a:rPr>
                  <a:t>拥塞避免</a:t>
                </a:r>
              </a:p>
            </p:txBody>
          </p:sp>
          <p:sp>
            <p:nvSpPr>
              <p:cNvPr id="252" name="TextBox 147"/>
              <p:cNvSpPr txBox="1">
                <a:spLocks noChangeArrowheads="1"/>
              </p:cNvSpPr>
              <p:nvPr/>
            </p:nvSpPr>
            <p:spPr bwMode="auto">
              <a:xfrm>
                <a:off x="5403007" y="2081222"/>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53" name="TextBox 148"/>
              <p:cNvSpPr txBox="1">
                <a:spLocks noChangeArrowheads="1"/>
              </p:cNvSpPr>
              <p:nvPr/>
            </p:nvSpPr>
            <p:spPr bwMode="auto">
              <a:xfrm>
                <a:off x="6553947" y="1679583"/>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a:ln>
                    <a:noFill/>
                  </a:ln>
                  <a:solidFill>
                    <a:srgbClr val="CC00CC"/>
                  </a:solidFill>
                  <a:effectLst/>
                  <a:uLnTx/>
                  <a:uFillTx/>
                  <a:latin typeface="微软雅黑" pitchFamily="34" charset="-122"/>
                  <a:ea typeface="微软雅黑" pitchFamily="34" charset="-122"/>
                </a:endParaRPr>
              </a:p>
            </p:txBody>
          </p:sp>
          <p:cxnSp>
            <p:nvCxnSpPr>
              <p:cNvPr id="254" name="直接连接符 153"/>
              <p:cNvCxnSpPr>
                <a:cxnSpLocks noChangeShapeType="1"/>
              </p:cNvCxnSpPr>
              <p:nvPr/>
            </p:nvCxnSpPr>
            <p:spPr bwMode="auto">
              <a:xfrm flipV="1">
                <a:off x="5774754" y="2532881"/>
                <a:ext cx="11113" cy="984250"/>
              </a:xfrm>
              <a:prstGeom prst="line">
                <a:avLst/>
              </a:prstGeom>
              <a:noFill/>
              <a:ln w="12700" algn="ctr">
                <a:solidFill>
                  <a:srgbClr val="000000"/>
                </a:solidFill>
                <a:prstDash val="dash"/>
                <a:round/>
                <a:headEnd/>
                <a:tailEnd/>
              </a:ln>
            </p:spPr>
          </p:cxnSp>
          <p:cxnSp>
            <p:nvCxnSpPr>
              <p:cNvPr id="255" name="直接连接符 254"/>
              <p:cNvCxnSpPr>
                <a:cxnSpLocks noChangeShapeType="1"/>
              </p:cNvCxnSpPr>
              <p:nvPr/>
            </p:nvCxnSpPr>
            <p:spPr bwMode="auto">
              <a:xfrm flipV="1">
                <a:off x="6682804" y="2177281"/>
                <a:ext cx="11113" cy="1435100"/>
              </a:xfrm>
              <a:prstGeom prst="line">
                <a:avLst/>
              </a:prstGeom>
              <a:noFill/>
              <a:ln w="12700" algn="ctr">
                <a:solidFill>
                  <a:srgbClr val="000000"/>
                </a:solidFill>
                <a:prstDash val="dash"/>
                <a:round/>
                <a:headEnd/>
                <a:tailEnd/>
              </a:ln>
            </p:spPr>
          </p:cxnSp>
          <p:cxnSp>
            <p:nvCxnSpPr>
              <p:cNvPr id="256" name="直接连接符 141"/>
              <p:cNvCxnSpPr>
                <a:cxnSpLocks noChangeShapeType="1"/>
              </p:cNvCxnSpPr>
              <p:nvPr/>
            </p:nvCxnSpPr>
            <p:spPr bwMode="auto">
              <a:xfrm flipV="1">
                <a:off x="6847904" y="2386831"/>
                <a:ext cx="1219200" cy="528638"/>
              </a:xfrm>
              <a:prstGeom prst="line">
                <a:avLst/>
              </a:prstGeom>
              <a:noFill/>
              <a:ln w="19050" algn="ctr">
                <a:solidFill>
                  <a:srgbClr val="0000FF"/>
                </a:solidFill>
                <a:round/>
                <a:headEnd/>
                <a:tailEnd/>
              </a:ln>
            </p:spPr>
          </p:cxnSp>
          <p:sp>
            <p:nvSpPr>
              <p:cNvPr id="257" name="Oval 202"/>
              <p:cNvSpPr>
                <a:spLocks noChangeArrowheads="1"/>
              </p:cNvSpPr>
              <p:nvPr/>
            </p:nvSpPr>
            <p:spPr bwMode="auto">
              <a:xfrm>
                <a:off x="7554342" y="2556694"/>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8" name="Oval 130"/>
              <p:cNvSpPr>
                <a:spLocks noChangeArrowheads="1"/>
              </p:cNvSpPr>
              <p:nvPr/>
            </p:nvSpPr>
            <p:spPr bwMode="auto">
              <a:xfrm>
                <a:off x="7092379" y="2745606"/>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59" name="Oval 130"/>
              <p:cNvSpPr>
                <a:spLocks noChangeArrowheads="1"/>
              </p:cNvSpPr>
              <p:nvPr/>
            </p:nvSpPr>
            <p:spPr bwMode="auto">
              <a:xfrm>
                <a:off x="7325742" y="2653531"/>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260" name="TextBox 149"/>
              <p:cNvSpPr txBox="1">
                <a:spLocks noChangeArrowheads="1"/>
              </p:cNvSpPr>
              <p:nvPr/>
            </p:nvSpPr>
            <p:spPr bwMode="auto">
              <a:xfrm>
                <a:off x="6626974" y="2832109"/>
                <a:ext cx="551848" cy="504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宋体" charset="-122"/>
                  </a:defRPr>
                </a:lvl1pPr>
                <a:lvl2pPr marL="742950" indent="-285750" eaLnBrk="0" hangingPunct="0">
                  <a:defRPr kumimoji="1" sz="2400">
                    <a:solidFill>
                      <a:schemeClr val="tx1"/>
                    </a:solidFill>
                    <a:latin typeface="Times New Roman" pitchFamily="18" charset="0"/>
                    <a:ea typeface="宋体" charset="-122"/>
                  </a:defRPr>
                </a:lvl2pPr>
                <a:lvl3pPr marL="1143000" indent="-228600" eaLnBrk="0" hangingPunct="0">
                  <a:defRPr kumimoji="1" sz="2400">
                    <a:solidFill>
                      <a:schemeClr val="tx1"/>
                    </a:solidFill>
                    <a:latin typeface="Times New Roman" pitchFamily="18" charset="0"/>
                    <a:ea typeface="宋体" charset="-122"/>
                  </a:defRPr>
                </a:lvl3pPr>
                <a:lvl4pPr marL="1600200" indent="-228600" eaLnBrk="0" hangingPunct="0">
                  <a:defRPr kumimoji="1" sz="2400">
                    <a:solidFill>
                      <a:schemeClr val="tx1"/>
                    </a:solidFill>
                    <a:latin typeface="Times New Roman" pitchFamily="18" charset="0"/>
                    <a:ea typeface="宋体" charset="-122"/>
                  </a:defRPr>
                </a:lvl4pPr>
                <a:lvl5pPr marL="2057400" indent="-228600" eaLnBrk="0" hangingPunct="0">
                  <a:defRPr kumimoji="1" sz="2400">
                    <a:solidFill>
                      <a:schemeClr val="tx1"/>
                    </a:solidFill>
                    <a:latin typeface="Times New Roman" pitchFamily="18" charset="0"/>
                    <a:ea typeface="宋体"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宋体"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宋体"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宋体"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宋体"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sym typeface="Wingdings" pitchFamily="2" charset="2"/>
                  </a:rPr>
                  <a:t></a:t>
                </a:r>
                <a:endParaRPr kumimoji="1" lang="zh-CN" altLang="en-US" sz="1800" i="0" u="none" strike="noStrike" kern="0" cap="none" spc="0" normalizeH="0" baseline="0" noProof="0" dirty="0">
                  <a:ln>
                    <a:noFill/>
                  </a:ln>
                  <a:solidFill>
                    <a:srgbClr val="CC00CC"/>
                  </a:solidFill>
                  <a:effectLst/>
                  <a:uLnTx/>
                  <a:uFillTx/>
                  <a:latin typeface="微软雅黑" pitchFamily="34" charset="-122"/>
                  <a:ea typeface="微软雅黑" pitchFamily="34" charset="-122"/>
                </a:endParaRPr>
              </a:p>
            </p:txBody>
          </p:sp>
          <p:sp>
            <p:nvSpPr>
              <p:cNvPr id="261" name="Oval 202"/>
              <p:cNvSpPr>
                <a:spLocks noChangeArrowheads="1"/>
              </p:cNvSpPr>
              <p:nvPr/>
            </p:nvSpPr>
            <p:spPr bwMode="auto">
              <a:xfrm>
                <a:off x="7790879" y="2439219"/>
                <a:ext cx="88900" cy="88900"/>
              </a:xfrm>
              <a:prstGeom prst="ellipse">
                <a:avLst/>
              </a:prstGeom>
              <a:solidFill>
                <a:srgbClr val="0000FF"/>
              </a:solidFill>
              <a:ln w="9525">
                <a:solidFill>
                  <a:srgbClr val="0000FF"/>
                </a:solidFill>
                <a:round/>
                <a:headEnd/>
                <a:tailEnd/>
              </a:ln>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cxnSp>
            <p:nvCxnSpPr>
              <p:cNvPr id="262" name="直接连接符 261"/>
              <p:cNvCxnSpPr>
                <a:cxnSpLocks noChangeShapeType="1"/>
              </p:cNvCxnSpPr>
              <p:nvPr/>
            </p:nvCxnSpPr>
            <p:spPr bwMode="auto">
              <a:xfrm flipH="1">
                <a:off x="4625404" y="1472431"/>
                <a:ext cx="4763" cy="2076450"/>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cxnSp>
            <p:nvCxnSpPr>
              <p:cNvPr id="263" name="直接连接符 119"/>
              <p:cNvCxnSpPr>
                <a:cxnSpLocks noChangeShapeType="1"/>
              </p:cNvCxnSpPr>
              <p:nvPr/>
            </p:nvCxnSpPr>
            <p:spPr bwMode="auto">
              <a:xfrm>
                <a:off x="2796604" y="2229669"/>
                <a:ext cx="0" cy="1306512"/>
              </a:xfrm>
              <a:prstGeom prst="line">
                <a:avLst/>
              </a:prstGeom>
              <a:noFill/>
              <a:ln w="12700" algn="ctr">
                <a:solidFill>
                  <a:srgbClr val="000000"/>
                </a:solidFill>
                <a:prstDash val="dash"/>
                <a:round/>
                <a:headEnd/>
                <a:tailEnd/>
              </a:ln>
              <a:extLst>
                <a:ext uri="{909E8E84-426E-40DD-AFC4-6F175D3DCCD1}">
                  <a14:hiddenFill xmlns:a14="http://schemas.microsoft.com/office/drawing/2010/main">
                    <a:noFill/>
                  </a14:hiddenFill>
                </a:ext>
              </a:extLst>
            </p:spPr>
          </p:cxnSp>
        </p:grpSp>
        <p:sp>
          <p:nvSpPr>
            <p:cNvPr id="153" name="Text Box 140"/>
            <p:cNvSpPr txBox="1">
              <a:spLocks noChangeArrowheads="1"/>
            </p:cNvSpPr>
            <p:nvPr/>
          </p:nvSpPr>
          <p:spPr bwMode="auto">
            <a:xfrm>
              <a:off x="6156431" y="2697983"/>
              <a:ext cx="201612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200" b="1" kern="0" dirty="0">
                  <a:solidFill>
                    <a:srgbClr val="0000FF"/>
                  </a:solidFill>
                  <a:latin typeface="微软雅黑" pitchFamily="34" charset="-122"/>
                  <a:ea typeface="微软雅黑" pitchFamily="34" charset="-122"/>
                </a:rPr>
                <a:t>第 </a:t>
              </a:r>
              <a:r>
                <a:rPr lang="en-US" altLang="zh-CN" sz="1200" b="1" kern="0" dirty="0">
                  <a:solidFill>
                    <a:srgbClr val="0000FF"/>
                  </a:solidFill>
                  <a:latin typeface="微软雅黑" pitchFamily="34" charset="-122"/>
                  <a:ea typeface="微软雅黑" pitchFamily="34" charset="-122"/>
                </a:rPr>
                <a:t>2 </a:t>
              </a:r>
              <a:r>
                <a:rPr lang="zh-CN" altLang="en-US" sz="1200" b="1" kern="0" dirty="0">
                  <a:solidFill>
                    <a:srgbClr val="0000FF"/>
                  </a:solidFill>
                  <a:latin typeface="微软雅黑" pitchFamily="34" charset="-122"/>
                  <a:ea typeface="微软雅黑" pitchFamily="34" charset="-122"/>
                </a:rPr>
                <a:t>次调整 </a:t>
              </a:r>
              <a:r>
                <a:rPr lang="en-US" altLang="zh-CN" sz="1200" b="1" kern="0" dirty="0">
                  <a:solidFill>
                    <a:srgbClr val="0000FF"/>
                  </a:solidFill>
                  <a:latin typeface="微软雅黑" pitchFamily="34" charset="-122"/>
                  <a:ea typeface="微软雅黑" pitchFamily="34" charset="-122"/>
                </a:rPr>
                <a:t>ssthresh </a:t>
              </a:r>
              <a:endParaRPr lang="zh-CN" altLang="en-US" sz="1200" b="1" kern="0" dirty="0">
                <a:solidFill>
                  <a:srgbClr val="0000FF"/>
                </a:solidFill>
                <a:latin typeface="微软雅黑" pitchFamily="34" charset="-122"/>
                <a:ea typeface="微软雅黑" pitchFamily="34" charset="-122"/>
              </a:endParaRPr>
            </a:p>
          </p:txBody>
        </p:sp>
        <p:sp>
          <p:nvSpPr>
            <p:cNvPr id="154" name="Line 167"/>
            <p:cNvSpPr>
              <a:spLocks noChangeShapeType="1"/>
            </p:cNvSpPr>
            <p:nvPr/>
          </p:nvSpPr>
          <p:spPr bwMode="auto">
            <a:xfrm flipH="1" flipV="1">
              <a:off x="6211355" y="2612454"/>
              <a:ext cx="217488" cy="141287"/>
            </a:xfrm>
            <a:prstGeom prst="line">
              <a:avLst/>
            </a:prstGeom>
            <a:noFill/>
            <a:ln w="19050">
              <a:solidFill>
                <a:srgbClr val="CC00CC"/>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20" name="Line 167"/>
          <p:cNvSpPr>
            <a:spLocks noChangeShapeType="1"/>
          </p:cNvSpPr>
          <p:nvPr/>
        </p:nvSpPr>
        <p:spPr bwMode="auto">
          <a:xfrm>
            <a:off x="5583023" y="2304434"/>
            <a:ext cx="367846" cy="292541"/>
          </a:xfrm>
          <a:prstGeom prst="line">
            <a:avLst/>
          </a:prstGeom>
          <a:noFill/>
          <a:ln w="57150">
            <a:solidFill>
              <a:srgbClr val="FF00FF">
                <a:alpha val="80000"/>
              </a:srgbClr>
            </a:solidFill>
            <a:round/>
            <a:headEnd type="none"/>
            <a:tailEnd type="triangle" w="med" len="me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00" b="1" i="0" u="none" strike="noStrike" kern="0" cap="none" spc="0" normalizeH="0" baseline="0" noProof="0" dirty="0">
              <a:ln>
                <a:noFill/>
              </a:ln>
              <a:solidFill>
                <a:sysClr val="windowText" lastClr="000000"/>
              </a:solidFill>
              <a:effectLst/>
              <a:uLnTx/>
              <a:uFillTx/>
            </a:endParaRPr>
          </a:p>
        </p:txBody>
      </p:sp>
      <p:sp>
        <p:nvSpPr>
          <p:cNvPr id="2" name="标题 1">
            <a:extLst>
              <a:ext uri="{FF2B5EF4-FFF2-40B4-BE49-F238E27FC236}">
                <a16:creationId xmlns:a16="http://schemas.microsoft.com/office/drawing/2014/main" id="{43412B77-4845-D994-E517-FDDA9FAF0975}"/>
              </a:ext>
            </a:extLst>
          </p:cNvPr>
          <p:cNvSpPr>
            <a:spLocks noGrp="1"/>
          </p:cNvSpPr>
          <p:nvPr>
            <p:ph type="title"/>
          </p:nvPr>
        </p:nvSpPr>
        <p:spPr>
          <a:xfrm>
            <a:off x="2808000" y="144000"/>
            <a:ext cx="3528000" cy="338554"/>
          </a:xfrm>
        </p:spPr>
        <p:txBody>
          <a:bodyPr/>
          <a:lstStyle/>
          <a:p>
            <a:r>
              <a:rPr lang="zh-CN" altLang="en-US" dirty="0"/>
              <a:t>慢开始和拥塞避免算法的实现举例</a:t>
            </a:r>
          </a:p>
        </p:txBody>
      </p:sp>
    </p:spTree>
    <p:extLst>
      <p:ext uri="{BB962C8B-B14F-4D97-AF65-F5344CB8AC3E}">
        <p14:creationId xmlns:p14="http://schemas.microsoft.com/office/powerpoint/2010/main" val="396682535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肘形连接符 105"/>
          <p:cNvCxnSpPr>
            <a:cxnSpLocks/>
            <a:stCxn id="21" idx="3"/>
            <a:endCxn id="12" idx="0"/>
          </p:cNvCxnSpPr>
          <p:nvPr/>
        </p:nvCxnSpPr>
        <p:spPr>
          <a:xfrm>
            <a:off x="6166318" y="2139186"/>
            <a:ext cx="1019605" cy="485512"/>
          </a:xfrm>
          <a:prstGeom prst="bentConnector2">
            <a:avLst/>
          </a:prstGeom>
          <a:ln w="952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4" name="肘形连接符 13"/>
          <p:cNvCxnSpPr>
            <a:cxnSpLocks/>
            <a:stCxn id="25" idx="3"/>
            <a:endCxn id="12" idx="2"/>
          </p:cNvCxnSpPr>
          <p:nvPr/>
        </p:nvCxnSpPr>
        <p:spPr>
          <a:xfrm flipV="1">
            <a:off x="6166318" y="3086363"/>
            <a:ext cx="1019605" cy="421549"/>
          </a:xfrm>
          <a:prstGeom prst="bentConnector2">
            <a:avLst/>
          </a:prstGeom>
          <a:ln w="952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a:cxnSpLocks/>
            <a:stCxn id="6" idx="2"/>
            <a:endCxn id="19" idx="0"/>
          </p:cNvCxnSpPr>
          <p:nvPr/>
        </p:nvCxnSpPr>
        <p:spPr>
          <a:xfrm>
            <a:off x="4620953" y="1416151"/>
            <a:ext cx="0" cy="290430"/>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6" name="TextBox 31"/>
          <p:cNvSpPr txBox="1">
            <a:spLocks noChangeArrowheads="1"/>
          </p:cNvSpPr>
          <p:nvPr/>
        </p:nvSpPr>
        <p:spPr bwMode="auto">
          <a:xfrm>
            <a:off x="4049930" y="1139152"/>
            <a:ext cx="114204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en-US" altLang="zh-CN" sz="1200" dirty="0">
                <a:latin typeface="Montserrat" panose="00000500000000000000" pitchFamily="2" charset="0"/>
                <a:ea typeface="微软雅黑 Light" panose="020B0502040204020203" pitchFamily="34" charset="-122"/>
              </a:rPr>
              <a:t>TCP </a:t>
            </a:r>
            <a:r>
              <a:rPr lang="zh-CN" altLang="en-US" sz="1200" dirty="0">
                <a:latin typeface="Montserrat" panose="00000500000000000000" pitchFamily="2" charset="0"/>
                <a:ea typeface="微软雅黑 Light" panose="020B0502040204020203" pitchFamily="34" charset="-122"/>
              </a:rPr>
              <a:t>连接建立</a:t>
            </a:r>
          </a:p>
        </p:txBody>
      </p:sp>
      <p:cxnSp>
        <p:nvCxnSpPr>
          <p:cNvPr id="7" name="直接箭头连接符 6"/>
          <p:cNvCxnSpPr>
            <a:cxnSpLocks/>
            <a:stCxn id="18" idx="2"/>
            <a:endCxn id="24" idx="0"/>
          </p:cNvCxnSpPr>
          <p:nvPr/>
        </p:nvCxnSpPr>
        <p:spPr>
          <a:xfrm>
            <a:off x="4620952" y="2574331"/>
            <a:ext cx="1" cy="513577"/>
          </a:xfrm>
          <a:prstGeom prst="straightConnector1">
            <a:avLst/>
          </a:prstGeom>
          <a:ln w="9525">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8" name="AutoShape 5"/>
          <p:cNvSpPr>
            <a:spLocks noChangeArrowheads="1"/>
          </p:cNvSpPr>
          <p:nvPr/>
        </p:nvSpPr>
        <p:spPr bwMode="auto">
          <a:xfrm>
            <a:off x="3105135" y="3120414"/>
            <a:ext cx="3031634" cy="728202"/>
          </a:xfrm>
          <a:prstGeom prst="flowChartProcess">
            <a:avLst/>
          </a:prstGeom>
          <a:noFill/>
          <a:ln w="19050">
            <a:solidFill>
              <a:schemeClr val="tx1"/>
            </a:solidFill>
            <a:miter lim="800000"/>
            <a:headEnd/>
            <a:tailEnd/>
          </a:ln>
        </p:spPr>
        <p:txBody>
          <a:bodyPr wrap="none" anchor="ctr"/>
          <a:lstStyle/>
          <a:p>
            <a:pPr algn="ctr"/>
            <a:endParaRPr lang="zh-CN" altLang="zh-CN" sz="1200">
              <a:solidFill>
                <a:sysClr val="windowText" lastClr="000000"/>
              </a:solidFill>
              <a:latin typeface="Montserrat" panose="00000500000000000000" pitchFamily="2" charset="0"/>
              <a:ea typeface="微软雅黑 Light" panose="020B0502040204020203" pitchFamily="34" charset="-122"/>
            </a:endParaRPr>
          </a:p>
        </p:txBody>
      </p:sp>
      <p:sp>
        <p:nvSpPr>
          <p:cNvPr id="9" name="TextBox 65"/>
          <p:cNvSpPr txBox="1">
            <a:spLocks noChangeArrowheads="1"/>
          </p:cNvSpPr>
          <p:nvPr/>
        </p:nvSpPr>
        <p:spPr bwMode="auto">
          <a:xfrm>
            <a:off x="1382573" y="1251663"/>
            <a:ext cx="1656000" cy="461665"/>
          </a:xfrm>
          <a:prstGeom prst="rect">
            <a:avLst/>
          </a:prstGeom>
          <a:noFill/>
          <a:ln w="19050">
            <a:solidFill>
              <a:schemeClr val="tx1"/>
            </a:solidFill>
            <a:miter lim="800000"/>
            <a:headEnd/>
            <a:tailEnd/>
          </a:ln>
        </p:spPr>
        <p:txBody>
          <a:bodyPr wrap="none" anchor="ctr"/>
          <a:lstStyle>
            <a:defPPr>
              <a:defRPr lang="zh-CN"/>
            </a:defPPr>
            <a:lvl1pPr algn="ctr">
              <a:defRPr sz="1200">
                <a:solidFill>
                  <a:sysClr val="windowText" lastClr="000000"/>
                </a:solidFill>
                <a:latin typeface="Montserrat" panose="00000500000000000000" pitchFamily="2" charset="0"/>
                <a:ea typeface="微软雅黑 Light" panose="020B0502040204020203" pitchFamily="34"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r>
              <a:rPr lang="en-US" altLang="zh-CN" dirty="0"/>
              <a:t>ssthresh = cwnd / 2</a:t>
            </a:r>
          </a:p>
          <a:p>
            <a:r>
              <a:rPr lang="en-US" altLang="zh-CN" dirty="0"/>
              <a:t>cwnd = 1</a:t>
            </a:r>
            <a:endParaRPr lang="zh-CN" altLang="en-US" dirty="0"/>
          </a:p>
        </p:txBody>
      </p:sp>
      <p:cxnSp>
        <p:nvCxnSpPr>
          <p:cNvPr id="10" name="肘形连接符 9"/>
          <p:cNvCxnSpPr>
            <a:stCxn id="22" idx="1"/>
            <a:endCxn id="9" idx="2"/>
          </p:cNvCxnSpPr>
          <p:nvPr/>
        </p:nvCxnSpPr>
        <p:spPr>
          <a:xfrm rot="10800000">
            <a:off x="2210573" y="1713328"/>
            <a:ext cx="895696" cy="422450"/>
          </a:xfrm>
          <a:prstGeom prst="bentConnector2">
            <a:avLst/>
          </a:prstGeom>
          <a:ln w="952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1" name="肘形连接符 10"/>
          <p:cNvCxnSpPr>
            <a:stCxn id="8" idx="1"/>
            <a:endCxn id="9" idx="2"/>
          </p:cNvCxnSpPr>
          <p:nvPr/>
        </p:nvCxnSpPr>
        <p:spPr>
          <a:xfrm rot="10800000">
            <a:off x="2210573" y="1713329"/>
            <a:ext cx="894562" cy="1771187"/>
          </a:xfrm>
          <a:prstGeom prst="bentConnector2">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36"/>
          <p:cNvSpPr txBox="1">
            <a:spLocks noChangeArrowheads="1"/>
          </p:cNvSpPr>
          <p:nvPr/>
        </p:nvSpPr>
        <p:spPr bwMode="auto">
          <a:xfrm>
            <a:off x="6245181" y="2624698"/>
            <a:ext cx="1881484" cy="461665"/>
          </a:xfrm>
          <a:prstGeom prst="rect">
            <a:avLst/>
          </a:prstGeom>
          <a:noFill/>
          <a:ln w="19050">
            <a:solidFill>
              <a:schemeClr val="tx1"/>
            </a:solidFill>
            <a:miter lim="800000"/>
            <a:headEnd/>
            <a:tailEnd/>
          </a:ln>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a:solidFill>
                  <a:sysClr val="windowText" lastClr="000000"/>
                </a:solidFill>
                <a:latin typeface="Montserrat" panose="00000500000000000000" pitchFamily="2" charset="0"/>
                <a:ea typeface="微软雅黑 Light" panose="020B0502040204020203" pitchFamily="34" charset="-122"/>
                <a:cs typeface="Times New Roman" pitchFamily="18" charset="0"/>
              </a:rPr>
              <a:t>ssthresh = cwnd / 2</a:t>
            </a:r>
          </a:p>
          <a:p>
            <a:pPr algn="ctr" eaLnBrk="1" hangingPunct="1"/>
            <a:r>
              <a:rPr lang="en-US" altLang="zh-CN" sz="1200" dirty="0">
                <a:solidFill>
                  <a:sysClr val="windowText" lastClr="000000"/>
                </a:solidFill>
                <a:latin typeface="Montserrat" panose="00000500000000000000" pitchFamily="2" charset="0"/>
                <a:ea typeface="微软雅黑 Light" panose="020B0502040204020203" pitchFamily="34" charset="-122"/>
                <a:cs typeface="Times New Roman" pitchFamily="18" charset="0"/>
              </a:rPr>
              <a:t>cwnd = ssthresh</a:t>
            </a:r>
            <a:endParaRPr lang="zh-CN" altLang="en-US" sz="1200" dirty="0">
              <a:solidFill>
                <a:sysClr val="windowText" lastClr="000000"/>
              </a:solidFill>
              <a:latin typeface="Montserrat" panose="00000500000000000000" pitchFamily="2" charset="0"/>
              <a:ea typeface="微软雅黑 Light" panose="020B0502040204020203" pitchFamily="34" charset="-122"/>
              <a:cs typeface="Times New Roman" pitchFamily="18" charset="0"/>
            </a:endParaRPr>
          </a:p>
        </p:txBody>
      </p:sp>
      <p:cxnSp>
        <p:nvCxnSpPr>
          <p:cNvPr id="13" name="直接箭头连接符 12"/>
          <p:cNvCxnSpPr>
            <a:cxnSpLocks/>
            <a:stCxn id="12" idx="1"/>
          </p:cNvCxnSpPr>
          <p:nvPr/>
        </p:nvCxnSpPr>
        <p:spPr>
          <a:xfrm flipH="1">
            <a:off x="4620952" y="2855531"/>
            <a:ext cx="1624229" cy="0"/>
          </a:xfrm>
          <a:prstGeom prst="straightConnector1">
            <a:avLst/>
          </a:prstGeom>
          <a:ln w="9525">
            <a:solidFill>
              <a:schemeClr val="tx1"/>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cxnSpLocks/>
            <a:stCxn id="8" idx="2"/>
            <a:endCxn id="17" idx="0"/>
          </p:cNvCxnSpPr>
          <p:nvPr/>
        </p:nvCxnSpPr>
        <p:spPr>
          <a:xfrm>
            <a:off x="4620952" y="3848616"/>
            <a:ext cx="1" cy="262472"/>
          </a:xfrm>
          <a:prstGeom prst="straightConnector1">
            <a:avLst/>
          </a:prstGeom>
          <a:ln w="9525">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17" name="TextBox 114"/>
          <p:cNvSpPr txBox="1">
            <a:spLocks noChangeArrowheads="1"/>
          </p:cNvSpPr>
          <p:nvPr/>
        </p:nvSpPr>
        <p:spPr bwMode="auto">
          <a:xfrm>
            <a:off x="4049931" y="4111088"/>
            <a:ext cx="11420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en-US" altLang="zh-CN" sz="1200" dirty="0">
                <a:latin typeface="Montserrat" panose="00000500000000000000" pitchFamily="2" charset="0"/>
                <a:ea typeface="微软雅黑 Light" panose="020B0502040204020203" pitchFamily="34" charset="-122"/>
              </a:rPr>
              <a:t>TCP </a:t>
            </a:r>
            <a:r>
              <a:rPr lang="zh-CN" altLang="en-US" sz="1200" dirty="0">
                <a:latin typeface="Montserrat" panose="00000500000000000000" pitchFamily="2" charset="0"/>
                <a:ea typeface="微软雅黑 Light" panose="020B0502040204020203" pitchFamily="34" charset="-122"/>
              </a:rPr>
              <a:t>连接释放</a:t>
            </a:r>
          </a:p>
        </p:txBody>
      </p:sp>
      <p:sp>
        <p:nvSpPr>
          <p:cNvPr id="18" name="AutoShape 5"/>
          <p:cNvSpPr>
            <a:spLocks noChangeArrowheads="1"/>
          </p:cNvSpPr>
          <p:nvPr/>
        </p:nvSpPr>
        <p:spPr bwMode="auto">
          <a:xfrm>
            <a:off x="3105135" y="1728525"/>
            <a:ext cx="3031634" cy="845806"/>
          </a:xfrm>
          <a:prstGeom prst="flowChartProcess">
            <a:avLst/>
          </a:prstGeom>
          <a:noFill/>
          <a:ln w="19050">
            <a:solidFill>
              <a:schemeClr val="tx1"/>
            </a:solidFill>
            <a:miter lim="800000"/>
            <a:headEnd/>
            <a:tailEnd/>
          </a:ln>
        </p:spPr>
        <p:txBody>
          <a:bodyPr wrap="none" anchor="ctr"/>
          <a:lstStyle/>
          <a:p>
            <a:pPr algn="ctr"/>
            <a:endParaRPr lang="zh-CN" altLang="zh-CN" sz="1200">
              <a:solidFill>
                <a:sysClr val="windowText" lastClr="000000"/>
              </a:solidFill>
              <a:latin typeface="Montserrat" panose="00000500000000000000" pitchFamily="2" charset="0"/>
              <a:ea typeface="微软雅黑 Light" panose="020B0502040204020203" pitchFamily="34" charset="-122"/>
            </a:endParaRPr>
          </a:p>
        </p:txBody>
      </p:sp>
      <p:sp>
        <p:nvSpPr>
          <p:cNvPr id="19" name="Text Box 15"/>
          <p:cNvSpPr txBox="1">
            <a:spLocks noChangeArrowheads="1"/>
          </p:cNvSpPr>
          <p:nvPr/>
        </p:nvSpPr>
        <p:spPr bwMode="auto">
          <a:xfrm>
            <a:off x="4297787" y="1706581"/>
            <a:ext cx="646331" cy="276999"/>
          </a:xfrm>
          <a:prstGeom prst="rect">
            <a:avLst/>
          </a:prstGeom>
          <a:solidFill>
            <a:schemeClr val="tx2">
              <a:lumMod val="60000"/>
              <a:lumOff val="40000"/>
            </a:schemeClr>
          </a:solidFill>
          <a:ln>
            <a:noFill/>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dirty="0">
                <a:solidFill>
                  <a:schemeClr val="bg1"/>
                </a:solidFill>
                <a:latin typeface="Montserrat" panose="00000500000000000000" pitchFamily="2" charset="0"/>
                <a:ea typeface="微软雅黑 Light" panose="020B0502040204020203" pitchFamily="34" charset="-122"/>
              </a:rPr>
              <a:t>慢开始</a:t>
            </a:r>
          </a:p>
        </p:txBody>
      </p:sp>
      <p:sp>
        <p:nvSpPr>
          <p:cNvPr id="20" name="Text Box 16"/>
          <p:cNvSpPr txBox="1">
            <a:spLocks noChangeArrowheads="1"/>
          </p:cNvSpPr>
          <p:nvPr/>
        </p:nvSpPr>
        <p:spPr bwMode="auto">
          <a:xfrm>
            <a:off x="3625782" y="2008202"/>
            <a:ext cx="19903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dirty="0">
                <a:solidFill>
                  <a:sysClr val="windowText" lastClr="000000"/>
                </a:solidFill>
                <a:latin typeface="Montserrat" panose="00000500000000000000" pitchFamily="2" charset="0"/>
                <a:ea typeface="微软雅黑 Light" panose="020B0502040204020203" pitchFamily="34" charset="-122"/>
              </a:rPr>
              <a:t>初始拥塞窗口 </a:t>
            </a:r>
            <a:r>
              <a:rPr lang="en-US" altLang="zh-CN" sz="1200" dirty="0">
                <a:solidFill>
                  <a:sysClr val="windowText" lastClr="000000"/>
                </a:solidFill>
                <a:latin typeface="Montserrat" panose="00000500000000000000" pitchFamily="2" charset="0"/>
                <a:ea typeface="微软雅黑 Light" panose="020B0502040204020203" pitchFamily="34" charset="-122"/>
              </a:rPr>
              <a:t>cwnd =</a:t>
            </a:r>
            <a:r>
              <a:rPr lang="zh-CN" altLang="en-US" sz="1200" dirty="0">
                <a:solidFill>
                  <a:sysClr val="windowText" lastClr="000000"/>
                </a:solidFill>
                <a:latin typeface="Montserrat" panose="00000500000000000000" pitchFamily="2" charset="0"/>
                <a:ea typeface="微软雅黑 Light" panose="020B0502040204020203" pitchFamily="34" charset="-122"/>
              </a:rPr>
              <a:t> </a:t>
            </a:r>
            <a:r>
              <a:rPr lang="en-US" altLang="zh-CN" sz="1200" dirty="0">
                <a:solidFill>
                  <a:sysClr val="windowText" lastClr="000000"/>
                </a:solidFill>
                <a:latin typeface="Montserrat" panose="00000500000000000000" pitchFamily="2" charset="0"/>
                <a:ea typeface="微软雅黑 Light" panose="020B0502040204020203" pitchFamily="34" charset="-122"/>
              </a:rPr>
              <a:t>1 </a:t>
            </a:r>
            <a:endParaRPr lang="zh-CN" altLang="en-US" sz="1200" dirty="0">
              <a:solidFill>
                <a:sysClr val="windowText" lastClr="000000"/>
              </a:solidFill>
              <a:latin typeface="Montserrat" panose="00000500000000000000" pitchFamily="2" charset="0"/>
              <a:ea typeface="微软雅黑 Light" panose="020B0502040204020203" pitchFamily="34" charset="-122"/>
            </a:endParaRPr>
          </a:p>
          <a:p>
            <a:pPr algn="ctr" eaLnBrk="1" hangingPunct="1"/>
            <a:r>
              <a:rPr lang="zh-CN" altLang="en-US" sz="1200" dirty="0">
                <a:solidFill>
                  <a:sysClr val="windowText" lastClr="000000"/>
                </a:solidFill>
                <a:latin typeface="Montserrat" panose="00000500000000000000" pitchFamily="2" charset="0"/>
                <a:ea typeface="微软雅黑 Light" panose="020B0502040204020203" pitchFamily="34" charset="-122"/>
              </a:rPr>
              <a:t>按指数规律增大</a:t>
            </a:r>
            <a:endParaRPr lang="en-US" altLang="zh-CN" sz="1200" u="sng" dirty="0">
              <a:solidFill>
                <a:sysClr val="windowText" lastClr="000000"/>
              </a:solidFill>
              <a:latin typeface="Montserrat" panose="00000500000000000000" pitchFamily="2" charset="0"/>
              <a:ea typeface="微软雅黑 Light" panose="020B0502040204020203" pitchFamily="34" charset="-122"/>
              <a:sym typeface="Symbol" pitchFamily="18" charset="2"/>
            </a:endParaRPr>
          </a:p>
        </p:txBody>
      </p:sp>
      <p:sp>
        <p:nvSpPr>
          <p:cNvPr id="21" name="TextBox 25"/>
          <p:cNvSpPr txBox="1">
            <a:spLocks noChangeArrowheads="1"/>
          </p:cNvSpPr>
          <p:nvPr/>
        </p:nvSpPr>
        <p:spPr bwMode="auto">
          <a:xfrm>
            <a:off x="5297863" y="1908353"/>
            <a:ext cx="8684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a:solidFill>
                  <a:schemeClr val="bg1"/>
                </a:solidFill>
                <a:latin typeface="Montserrat" panose="00000500000000000000" pitchFamily="2" charset="0"/>
                <a:ea typeface="微软雅黑 Light" panose="020B0502040204020203" pitchFamily="34" charset="-122"/>
                <a:cs typeface="Times New Roman" pitchFamily="18" charset="0"/>
              </a:rPr>
              <a:t>3 </a:t>
            </a:r>
            <a:r>
              <a:rPr lang="zh-CN" altLang="en-US" sz="1200" dirty="0">
                <a:solidFill>
                  <a:schemeClr val="bg1"/>
                </a:solidFill>
                <a:latin typeface="Montserrat" panose="00000500000000000000" pitchFamily="2" charset="0"/>
                <a:ea typeface="微软雅黑 Light" panose="020B0502040204020203" pitchFamily="34" charset="-122"/>
                <a:cs typeface="Times New Roman" pitchFamily="18" charset="0"/>
              </a:rPr>
              <a:t>个重复</a:t>
            </a:r>
            <a:endParaRPr lang="en-US" altLang="zh-CN" sz="1200" dirty="0">
              <a:solidFill>
                <a:schemeClr val="bg1"/>
              </a:solidFill>
              <a:latin typeface="Montserrat" panose="00000500000000000000" pitchFamily="2" charset="0"/>
              <a:ea typeface="微软雅黑 Light" panose="020B0502040204020203" pitchFamily="34" charset="-122"/>
              <a:cs typeface="Times New Roman" pitchFamily="18" charset="0"/>
            </a:endParaRPr>
          </a:p>
          <a:p>
            <a:pPr algn="r" eaLnBrk="1" hangingPunct="1"/>
            <a:r>
              <a:rPr lang="zh-CN" altLang="en-US" sz="1200" dirty="0">
                <a:solidFill>
                  <a:schemeClr val="bg1"/>
                </a:solidFill>
                <a:latin typeface="Montserrat" panose="00000500000000000000" pitchFamily="2" charset="0"/>
                <a:ea typeface="微软雅黑 Light" panose="020B0502040204020203" pitchFamily="34" charset="-122"/>
                <a:cs typeface="Times New Roman" pitchFamily="18" charset="0"/>
              </a:rPr>
              <a:t>的 </a:t>
            </a:r>
            <a:r>
              <a:rPr lang="en-US" altLang="zh-CN" sz="1200" dirty="0">
                <a:solidFill>
                  <a:schemeClr val="bg1"/>
                </a:solidFill>
                <a:latin typeface="Montserrat" panose="00000500000000000000" pitchFamily="2" charset="0"/>
                <a:ea typeface="微软雅黑 Light" panose="020B0502040204020203" pitchFamily="34" charset="-122"/>
                <a:cs typeface="Times New Roman" pitchFamily="18" charset="0"/>
              </a:rPr>
              <a:t>ACK</a:t>
            </a:r>
            <a:endParaRPr lang="zh-CN" altLang="en-US" sz="1200" dirty="0">
              <a:solidFill>
                <a:schemeClr val="bg1"/>
              </a:solidFill>
              <a:latin typeface="Montserrat" panose="00000500000000000000" pitchFamily="2" charset="0"/>
              <a:ea typeface="微软雅黑 Light" panose="020B0502040204020203" pitchFamily="34" charset="-122"/>
              <a:cs typeface="Times New Roman" pitchFamily="18" charset="0"/>
            </a:endParaRPr>
          </a:p>
        </p:txBody>
      </p:sp>
      <p:sp>
        <p:nvSpPr>
          <p:cNvPr id="22" name="TextBox 26"/>
          <p:cNvSpPr txBox="1">
            <a:spLocks noChangeArrowheads="1"/>
          </p:cNvSpPr>
          <p:nvPr/>
        </p:nvSpPr>
        <p:spPr bwMode="auto">
          <a:xfrm>
            <a:off x="3106269" y="1997278"/>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dirty="0">
                <a:solidFill>
                  <a:schemeClr val="bg1"/>
                </a:solidFill>
                <a:latin typeface="Montserrat" panose="00000500000000000000" pitchFamily="2" charset="0"/>
                <a:ea typeface="微软雅黑 Light" panose="020B0502040204020203" pitchFamily="34" charset="-122"/>
              </a:rPr>
              <a:t>超时</a:t>
            </a:r>
          </a:p>
        </p:txBody>
      </p:sp>
      <p:sp>
        <p:nvSpPr>
          <p:cNvPr id="24" name="Text Box 15"/>
          <p:cNvSpPr txBox="1">
            <a:spLocks noChangeArrowheads="1"/>
          </p:cNvSpPr>
          <p:nvPr/>
        </p:nvSpPr>
        <p:spPr bwMode="auto">
          <a:xfrm>
            <a:off x="4220843" y="3087908"/>
            <a:ext cx="800219" cy="276999"/>
          </a:xfrm>
          <a:prstGeom prst="rect">
            <a:avLst/>
          </a:prstGeom>
          <a:solidFill>
            <a:schemeClr val="tx2">
              <a:lumMod val="60000"/>
              <a:lumOff val="40000"/>
            </a:schemeClr>
          </a:solidFill>
          <a:ln>
            <a:noFill/>
          </a:ln>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dirty="0">
                <a:solidFill>
                  <a:schemeClr val="bg1"/>
                </a:solidFill>
                <a:latin typeface="Montserrat" panose="00000500000000000000" pitchFamily="2" charset="0"/>
                <a:ea typeface="微软雅黑 Light" panose="020B0502040204020203" pitchFamily="34" charset="-122"/>
              </a:rPr>
              <a:t>拥塞避免</a:t>
            </a:r>
          </a:p>
        </p:txBody>
      </p:sp>
      <p:sp>
        <p:nvSpPr>
          <p:cNvPr id="25" name="TextBox 41"/>
          <p:cNvSpPr txBox="1">
            <a:spLocks noChangeArrowheads="1"/>
          </p:cNvSpPr>
          <p:nvPr/>
        </p:nvSpPr>
        <p:spPr bwMode="auto">
          <a:xfrm>
            <a:off x="5327413" y="3277079"/>
            <a:ext cx="8389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r" eaLnBrk="1" hangingPunct="1"/>
            <a:r>
              <a:rPr lang="en-US" altLang="zh-CN" sz="1200" dirty="0">
                <a:latin typeface="Montserrat" panose="00000500000000000000" pitchFamily="2" charset="0"/>
                <a:ea typeface="微软雅黑 Light" panose="020B0502040204020203" pitchFamily="34" charset="-122"/>
                <a:cs typeface="Times New Roman" pitchFamily="18" charset="0"/>
              </a:rPr>
              <a:t>3 </a:t>
            </a:r>
            <a:r>
              <a:rPr lang="zh-CN" altLang="en-US" sz="1200" dirty="0">
                <a:latin typeface="Montserrat" panose="00000500000000000000" pitchFamily="2" charset="0"/>
                <a:ea typeface="微软雅黑 Light" panose="020B0502040204020203" pitchFamily="34" charset="-122"/>
                <a:cs typeface="Times New Roman" pitchFamily="18" charset="0"/>
              </a:rPr>
              <a:t>个重复</a:t>
            </a:r>
            <a:endParaRPr lang="en-US" altLang="zh-CN" sz="1200" dirty="0">
              <a:latin typeface="Montserrat" panose="00000500000000000000" pitchFamily="2" charset="0"/>
              <a:ea typeface="微软雅黑 Light" panose="020B0502040204020203" pitchFamily="34" charset="-122"/>
              <a:cs typeface="Times New Roman" pitchFamily="18" charset="0"/>
            </a:endParaRPr>
          </a:p>
          <a:p>
            <a:pPr algn="r" eaLnBrk="1" hangingPunct="1"/>
            <a:r>
              <a:rPr lang="zh-CN" altLang="en-US" sz="1200" dirty="0">
                <a:latin typeface="Montserrat" panose="00000500000000000000" pitchFamily="2" charset="0"/>
                <a:ea typeface="微软雅黑 Light" panose="020B0502040204020203" pitchFamily="34" charset="-122"/>
                <a:cs typeface="Times New Roman" pitchFamily="18" charset="0"/>
              </a:rPr>
              <a:t>的 </a:t>
            </a:r>
            <a:r>
              <a:rPr lang="en-US" altLang="zh-CN" sz="1200" dirty="0">
                <a:latin typeface="Montserrat" panose="00000500000000000000" pitchFamily="2" charset="0"/>
                <a:ea typeface="微软雅黑 Light" panose="020B0502040204020203" pitchFamily="34" charset="-122"/>
                <a:cs typeface="Times New Roman" pitchFamily="18" charset="0"/>
              </a:rPr>
              <a:t>ACK</a:t>
            </a:r>
            <a:endParaRPr lang="zh-CN" altLang="en-US" sz="1200" dirty="0">
              <a:latin typeface="Montserrat" panose="00000500000000000000" pitchFamily="2" charset="0"/>
              <a:ea typeface="微软雅黑 Light" panose="020B0502040204020203" pitchFamily="34" charset="-122"/>
              <a:cs typeface="Times New Roman" pitchFamily="18" charset="0"/>
            </a:endParaRPr>
          </a:p>
        </p:txBody>
      </p:sp>
      <p:sp>
        <p:nvSpPr>
          <p:cNvPr id="26" name="TextBox 42"/>
          <p:cNvSpPr txBox="1">
            <a:spLocks noChangeArrowheads="1"/>
          </p:cNvSpPr>
          <p:nvPr/>
        </p:nvSpPr>
        <p:spPr bwMode="auto">
          <a:xfrm>
            <a:off x="3106269" y="3322513"/>
            <a:ext cx="49244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r>
              <a:rPr lang="zh-CN" altLang="en-US" sz="1200" dirty="0">
                <a:latin typeface="Montserrat" panose="00000500000000000000" pitchFamily="2" charset="0"/>
                <a:ea typeface="微软雅黑 Light" panose="020B0502040204020203" pitchFamily="34" charset="-122"/>
              </a:rPr>
              <a:t>超时</a:t>
            </a:r>
          </a:p>
        </p:txBody>
      </p:sp>
      <p:sp>
        <p:nvSpPr>
          <p:cNvPr id="27" name="Text Box 16"/>
          <p:cNvSpPr txBox="1">
            <a:spLocks noChangeArrowheads="1"/>
          </p:cNvSpPr>
          <p:nvPr/>
        </p:nvSpPr>
        <p:spPr bwMode="auto">
          <a:xfrm>
            <a:off x="3929972" y="3364758"/>
            <a:ext cx="13819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algn="ctr" eaLnBrk="1" hangingPunct="1"/>
            <a:r>
              <a:rPr lang="zh-CN" altLang="en-US" sz="1200" dirty="0">
                <a:latin typeface="Montserrat" panose="00000500000000000000" pitchFamily="2" charset="0"/>
                <a:ea typeface="微软雅黑 Light" panose="020B0502040204020203" pitchFamily="34" charset="-122"/>
              </a:rPr>
              <a:t>拥塞窗口 </a:t>
            </a:r>
            <a:r>
              <a:rPr lang="en-US" altLang="zh-CN" sz="1200" dirty="0">
                <a:latin typeface="Montserrat" panose="00000500000000000000" pitchFamily="2" charset="0"/>
                <a:ea typeface="微软雅黑 Light" panose="020B0502040204020203" pitchFamily="34" charset="-122"/>
              </a:rPr>
              <a:t>cwnd </a:t>
            </a:r>
            <a:endParaRPr lang="zh-CN" altLang="en-US" sz="1200" dirty="0">
              <a:latin typeface="Montserrat" panose="00000500000000000000" pitchFamily="2" charset="0"/>
              <a:ea typeface="微软雅黑 Light" panose="020B0502040204020203" pitchFamily="34" charset="-122"/>
            </a:endParaRPr>
          </a:p>
          <a:p>
            <a:pPr algn="ctr" eaLnBrk="1" hangingPunct="1"/>
            <a:r>
              <a:rPr lang="zh-CN" altLang="en-US" sz="1200" dirty="0">
                <a:latin typeface="Montserrat" panose="00000500000000000000" pitchFamily="2" charset="0"/>
                <a:ea typeface="微软雅黑 Light" panose="020B0502040204020203" pitchFamily="34" charset="-122"/>
              </a:rPr>
              <a:t>按线性规律增大</a:t>
            </a:r>
            <a:endParaRPr lang="en-US" altLang="zh-CN" sz="1200" u="sng" dirty="0">
              <a:latin typeface="Montserrat" panose="00000500000000000000" pitchFamily="2" charset="0"/>
              <a:ea typeface="微软雅黑 Light" panose="020B0502040204020203" pitchFamily="34" charset="-122"/>
              <a:sym typeface="Symbol" pitchFamily="18" charset="2"/>
            </a:endParaRPr>
          </a:p>
        </p:txBody>
      </p:sp>
      <p:cxnSp>
        <p:nvCxnSpPr>
          <p:cNvPr id="29" name="直接连接符 28"/>
          <p:cNvCxnSpPr/>
          <p:nvPr/>
        </p:nvCxnSpPr>
        <p:spPr bwMode="auto">
          <a:xfrm>
            <a:off x="3055610" y="1481084"/>
            <a:ext cx="756000" cy="3"/>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a:off x="3812063" y="1481084"/>
            <a:ext cx="0" cy="247442"/>
          </a:xfrm>
          <a:prstGeom prst="straightConnector1">
            <a:avLst/>
          </a:prstGeom>
          <a:ln w="12700">
            <a:solidFill>
              <a:schemeClr val="tx1"/>
            </a:solidFill>
            <a:headEnd type="none" w="med" len="med"/>
            <a:tailEnd type="triangle" w="sm" len="lg"/>
          </a:ln>
        </p:spPr>
        <p:style>
          <a:lnRef idx="1">
            <a:schemeClr val="accent1"/>
          </a:lnRef>
          <a:fillRef idx="0">
            <a:schemeClr val="accent1"/>
          </a:fillRef>
          <a:effectRef idx="0">
            <a:schemeClr val="accent1"/>
          </a:effectRef>
          <a:fontRef idx="minor">
            <a:schemeClr val="tx1"/>
          </a:fontRef>
        </p:style>
      </p:cxnSp>
      <p:sp>
        <p:nvSpPr>
          <p:cNvPr id="32" name="标题 31">
            <a:extLst>
              <a:ext uri="{FF2B5EF4-FFF2-40B4-BE49-F238E27FC236}">
                <a16:creationId xmlns:a16="http://schemas.microsoft.com/office/drawing/2014/main" id="{43575F59-197D-36C7-F34F-985F2B8E6855}"/>
              </a:ext>
            </a:extLst>
          </p:cNvPr>
          <p:cNvSpPr>
            <a:spLocks noGrp="1"/>
          </p:cNvSpPr>
          <p:nvPr>
            <p:ph type="title"/>
          </p:nvPr>
        </p:nvSpPr>
        <p:spPr>
          <a:xfrm>
            <a:off x="2808000" y="144000"/>
            <a:ext cx="3528000" cy="338554"/>
          </a:xfrm>
        </p:spPr>
        <p:txBody>
          <a:bodyPr/>
          <a:lstStyle/>
          <a:p>
            <a:r>
              <a:rPr lang="en-US" altLang="zh-CN" dirty="0"/>
              <a:t>TCP </a:t>
            </a:r>
            <a:r>
              <a:rPr lang="zh-CN" altLang="en-US" dirty="0"/>
              <a:t>拥塞控制流程图</a:t>
            </a:r>
          </a:p>
        </p:txBody>
      </p:sp>
    </p:spTree>
    <p:extLst>
      <p:ext uri="{BB962C8B-B14F-4D97-AF65-F5344CB8AC3E}">
        <p14:creationId xmlns:p14="http://schemas.microsoft.com/office/powerpoint/2010/main" val="371984861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38358" y="3335408"/>
            <a:ext cx="7267284" cy="531100"/>
          </a:xfrm>
          <a:prstGeom prst="rect">
            <a:avLst/>
          </a:prstGeom>
          <a:noFill/>
          <a:ln w="12700">
            <a:headEnd/>
            <a:tailEnd/>
          </a:ln>
        </p:spPr>
        <p:style>
          <a:lnRef idx="2">
            <a:schemeClr val="dk1"/>
          </a:lnRef>
          <a:fillRef idx="1">
            <a:schemeClr val="lt1"/>
          </a:fillRef>
          <a:effectRef idx="0">
            <a:schemeClr val="dk1"/>
          </a:effectRef>
          <a:fontRef idx="minor">
            <a:schemeClr val="dk1"/>
          </a:fontRef>
        </p:style>
        <p:txBody>
          <a:bodyPr wrap="none" anchor="ctr"/>
          <a:lstStyle/>
          <a:p>
            <a:pPr algn="ctr"/>
            <a:r>
              <a:rPr lang="zh-CN" altLang="en-US" sz="2000" dirty="0">
                <a:latin typeface="Montserrat" panose="00000500000000000000" pitchFamily="2" charset="0"/>
                <a:ea typeface="微软雅黑 Light" panose="020B0502040204020203" pitchFamily="34" charset="-122"/>
              </a:rPr>
              <a:t>发送窗口的上限值 </a:t>
            </a:r>
            <a:r>
              <a:rPr lang="en-US" altLang="zh-CN" sz="2000" dirty="0">
                <a:latin typeface="Montserrat" panose="00000500000000000000" pitchFamily="2" charset="0"/>
                <a:ea typeface="微软雅黑 Light" panose="020B0502040204020203" pitchFamily="34" charset="-122"/>
              </a:rPr>
              <a:t>=</a:t>
            </a:r>
            <a:r>
              <a:rPr lang="zh-CN" altLang="en-US" sz="2000" dirty="0">
                <a:latin typeface="Montserrat" panose="00000500000000000000" pitchFamily="2" charset="0"/>
                <a:ea typeface="微软雅黑 Light" panose="020B0502040204020203" pitchFamily="34" charset="-122"/>
              </a:rPr>
              <a:t> </a:t>
            </a:r>
            <a:r>
              <a:rPr lang="en-US" altLang="zh-CN" sz="2000" dirty="0">
                <a:latin typeface="Montserrat" panose="00000500000000000000" pitchFamily="2" charset="0"/>
                <a:ea typeface="微软雅黑 Light" panose="020B0502040204020203" pitchFamily="34" charset="-122"/>
              </a:rPr>
              <a:t>Min [rwnd, cwnd]                 (5-9)</a:t>
            </a:r>
          </a:p>
        </p:txBody>
      </p:sp>
      <p:sp>
        <p:nvSpPr>
          <p:cNvPr id="7" name="内容占位符 6">
            <a:extLst>
              <a:ext uri="{FF2B5EF4-FFF2-40B4-BE49-F238E27FC236}">
                <a16:creationId xmlns:a16="http://schemas.microsoft.com/office/drawing/2014/main" id="{13AAC761-E54D-56E8-5AA7-C0BF0B5A82EE}"/>
              </a:ext>
            </a:extLst>
          </p:cNvPr>
          <p:cNvSpPr>
            <a:spLocks noGrp="1"/>
          </p:cNvSpPr>
          <p:nvPr>
            <p:ph sz="quarter" idx="11"/>
          </p:nvPr>
        </p:nvSpPr>
        <p:spPr>
          <a:xfrm>
            <a:off x="486000" y="482554"/>
            <a:ext cx="8172000" cy="4120946"/>
          </a:xfrm>
        </p:spPr>
        <p:txBody>
          <a:bodyPr/>
          <a:lstStyle/>
          <a:p>
            <a:r>
              <a:rPr lang="zh-CN" altLang="en-US" dirty="0"/>
              <a:t>当 </a:t>
            </a:r>
            <a:r>
              <a:rPr lang="en-US" altLang="zh-CN" dirty="0"/>
              <a:t>rwnd &lt; cwnd </a:t>
            </a:r>
            <a:r>
              <a:rPr lang="zh-CN" altLang="en-US" dirty="0"/>
              <a:t>时，是接收方的接收能力限制发送窗口的最大值。</a:t>
            </a:r>
          </a:p>
          <a:p>
            <a:r>
              <a:rPr lang="zh-CN" altLang="en-US" dirty="0"/>
              <a:t>当 </a:t>
            </a:r>
            <a:r>
              <a:rPr lang="en-US" altLang="zh-CN" dirty="0"/>
              <a:t>cwnd &lt; rwnd </a:t>
            </a:r>
            <a:r>
              <a:rPr lang="zh-CN" altLang="en-US" dirty="0"/>
              <a:t>时，是网络拥塞限制发送窗口的最大值。 </a:t>
            </a:r>
          </a:p>
          <a:p>
            <a:endParaRPr lang="zh-CN" altLang="en-US" dirty="0"/>
          </a:p>
        </p:txBody>
      </p:sp>
      <p:sp>
        <p:nvSpPr>
          <p:cNvPr id="9" name="标题 8">
            <a:extLst>
              <a:ext uri="{FF2B5EF4-FFF2-40B4-BE49-F238E27FC236}">
                <a16:creationId xmlns:a16="http://schemas.microsoft.com/office/drawing/2014/main" id="{454C5513-A595-EB5F-492A-79A590055274}"/>
              </a:ext>
            </a:extLst>
          </p:cNvPr>
          <p:cNvSpPr>
            <a:spLocks noGrp="1"/>
          </p:cNvSpPr>
          <p:nvPr>
            <p:ph type="title"/>
          </p:nvPr>
        </p:nvSpPr>
        <p:spPr>
          <a:xfrm>
            <a:off x="2808000" y="144000"/>
            <a:ext cx="3528000" cy="338554"/>
          </a:xfrm>
        </p:spPr>
        <p:txBody>
          <a:bodyPr/>
          <a:lstStyle/>
          <a:p>
            <a:r>
              <a:rPr lang="zh-CN" altLang="en-US" dirty="0"/>
              <a:t>发送窗口的上限值</a:t>
            </a:r>
          </a:p>
        </p:txBody>
      </p:sp>
    </p:spTree>
    <p:extLst>
      <p:ext uri="{BB962C8B-B14F-4D97-AF65-F5344CB8AC3E}">
        <p14:creationId xmlns:p14="http://schemas.microsoft.com/office/powerpoint/2010/main" val="403953565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B013F4D5-24AC-E41C-C4BE-C72246B5EFE0}"/>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拥塞控制和网络层采取的策略有密切联系。</a:t>
            </a:r>
            <a:endParaRPr lang="en-US" altLang="zh-CN" dirty="0"/>
          </a:p>
          <a:p>
            <a:r>
              <a:rPr lang="zh-CN" altLang="en-US" dirty="0"/>
              <a:t>例如：</a:t>
            </a:r>
            <a:endParaRPr lang="en-US" altLang="zh-CN" dirty="0"/>
          </a:p>
          <a:p>
            <a:pPr lvl="1"/>
            <a:r>
              <a:rPr lang="zh-CN" altLang="en-US" dirty="0"/>
              <a:t>若路由器对某些分组的处理时间特别长，就可能引起发送方 </a:t>
            </a:r>
            <a:r>
              <a:rPr lang="en-US" altLang="zh-CN" dirty="0"/>
              <a:t>TCP </a:t>
            </a:r>
            <a:r>
              <a:rPr lang="zh-CN" altLang="en-US" dirty="0"/>
              <a:t>超时，对这些报文段进行重传。</a:t>
            </a:r>
          </a:p>
          <a:p>
            <a:pPr lvl="1"/>
            <a:r>
              <a:rPr lang="zh-CN" altLang="en-US" dirty="0"/>
              <a:t>重传会使 </a:t>
            </a:r>
            <a:r>
              <a:rPr lang="en-US" altLang="zh-CN" dirty="0"/>
              <a:t>TCP </a:t>
            </a:r>
            <a:r>
              <a:rPr lang="zh-CN" altLang="en-US" dirty="0"/>
              <a:t>连接的发送端认为在网络中发生了拥塞，但实际上网络并没有发生拥塞。</a:t>
            </a:r>
            <a:endParaRPr lang="en-US" altLang="zh-CN" dirty="0"/>
          </a:p>
          <a:p>
            <a:r>
              <a:rPr lang="zh-CN" altLang="en-US" dirty="0"/>
              <a:t>对 </a:t>
            </a:r>
            <a:r>
              <a:rPr lang="en-US" altLang="zh-CN" dirty="0"/>
              <a:t>TCP </a:t>
            </a:r>
            <a:r>
              <a:rPr lang="zh-CN" altLang="en-US" dirty="0"/>
              <a:t>拥塞控制影响最大的就是路由器的分组丢弃策略。</a:t>
            </a:r>
          </a:p>
          <a:p>
            <a:endParaRPr lang="zh-CN" altLang="en-US" dirty="0"/>
          </a:p>
        </p:txBody>
      </p:sp>
      <p:sp>
        <p:nvSpPr>
          <p:cNvPr id="8" name="标题 7">
            <a:extLst>
              <a:ext uri="{FF2B5EF4-FFF2-40B4-BE49-F238E27FC236}">
                <a16:creationId xmlns:a16="http://schemas.microsoft.com/office/drawing/2014/main" id="{C6078323-2DDB-02E6-CC64-0ADFE0DEEF05}"/>
              </a:ext>
            </a:extLst>
          </p:cNvPr>
          <p:cNvSpPr>
            <a:spLocks noGrp="1"/>
          </p:cNvSpPr>
          <p:nvPr>
            <p:ph type="title"/>
          </p:nvPr>
        </p:nvSpPr>
        <p:spPr>
          <a:xfrm>
            <a:off x="2808000" y="144000"/>
            <a:ext cx="3528000" cy="338554"/>
          </a:xfrm>
        </p:spPr>
        <p:txBody>
          <a:bodyPr/>
          <a:lstStyle/>
          <a:p>
            <a:r>
              <a:rPr lang="en-US" altLang="zh-CN" dirty="0"/>
              <a:t>5.8.3   </a:t>
            </a:r>
            <a:r>
              <a:rPr lang="zh-CN" altLang="en-US" dirty="0"/>
              <a:t>主动队列管理 </a:t>
            </a:r>
            <a:r>
              <a:rPr lang="en-US" altLang="zh-CN" dirty="0"/>
              <a:t>AQM</a:t>
            </a:r>
            <a:endParaRPr lang="zh-CN" altLang="en-US" dirty="0"/>
          </a:p>
        </p:txBody>
      </p:sp>
    </p:spTree>
    <p:extLst>
      <p:ext uri="{BB962C8B-B14F-4D97-AF65-F5344CB8AC3E}">
        <p14:creationId xmlns:p14="http://schemas.microsoft.com/office/powerpoint/2010/main" val="22845622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93FCE023-E2F4-3A8C-D8B3-2AF82D4AFD15}"/>
              </a:ext>
            </a:extLst>
          </p:cNvPr>
          <p:cNvSpPr>
            <a:spLocks noGrp="1"/>
          </p:cNvSpPr>
          <p:nvPr>
            <p:ph sz="quarter" idx="11"/>
          </p:nvPr>
        </p:nvSpPr>
        <p:spPr>
          <a:xfrm>
            <a:off x="486000" y="482554"/>
            <a:ext cx="8172000" cy="4120946"/>
          </a:xfrm>
        </p:spPr>
        <p:txBody>
          <a:bodyPr/>
          <a:lstStyle/>
          <a:p>
            <a:r>
              <a:rPr lang="zh-CN" altLang="en-US" dirty="0"/>
              <a:t>先进先出</a:t>
            </a:r>
            <a:r>
              <a:rPr lang="en-US" altLang="zh-CN" dirty="0"/>
              <a:t>FIFO (First In First Out) </a:t>
            </a:r>
            <a:r>
              <a:rPr lang="zh-CN" altLang="en-US" dirty="0"/>
              <a:t>处理规则：</a:t>
            </a:r>
          </a:p>
          <a:p>
            <a:r>
              <a:rPr lang="zh-CN" altLang="en-US" dirty="0"/>
              <a:t>尾部丢弃策略 </a:t>
            </a:r>
            <a:r>
              <a:rPr lang="en-US" altLang="zh-CN" dirty="0"/>
              <a:t>(tail-drop policy)</a:t>
            </a:r>
            <a:r>
              <a:rPr lang="zh-CN" altLang="en-US" dirty="0"/>
              <a:t>：当队列已满时，以后到达的所有分组（如果能够继续排队，这些分组都将排在队列的尾部）将都被丢弃。</a:t>
            </a:r>
            <a:endParaRPr lang="en-US" altLang="zh-CN" dirty="0"/>
          </a:p>
          <a:p>
            <a:r>
              <a:rPr lang="zh-CN" altLang="en-US" dirty="0"/>
              <a:t>路由器的尾部丢弃往往会导致一连串分组的丢失，这就使发送方出现超时重传，使 </a:t>
            </a:r>
            <a:r>
              <a:rPr lang="en-US" altLang="zh-CN" dirty="0"/>
              <a:t>TCP </a:t>
            </a:r>
            <a:r>
              <a:rPr lang="zh-CN" altLang="en-US" dirty="0"/>
              <a:t>进入拥塞控制的慢开始状态，结果使 </a:t>
            </a:r>
            <a:r>
              <a:rPr lang="en-US" altLang="zh-CN" dirty="0"/>
              <a:t>TCP </a:t>
            </a:r>
            <a:r>
              <a:rPr lang="zh-CN" altLang="en-US" dirty="0"/>
              <a:t>连接的发送方突然把数据的发送速率降低到很小的数值。</a:t>
            </a:r>
          </a:p>
          <a:p>
            <a:endParaRPr lang="zh-CN" altLang="en-US" dirty="0"/>
          </a:p>
        </p:txBody>
      </p:sp>
      <p:sp>
        <p:nvSpPr>
          <p:cNvPr id="8" name="标题 7">
            <a:extLst>
              <a:ext uri="{FF2B5EF4-FFF2-40B4-BE49-F238E27FC236}">
                <a16:creationId xmlns:a16="http://schemas.microsoft.com/office/drawing/2014/main" id="{E0AAF2B4-5620-2208-973D-77E7186B6BBA}"/>
              </a:ext>
            </a:extLst>
          </p:cNvPr>
          <p:cNvSpPr>
            <a:spLocks noGrp="1"/>
          </p:cNvSpPr>
          <p:nvPr>
            <p:ph type="title"/>
          </p:nvPr>
        </p:nvSpPr>
        <p:spPr>
          <a:xfrm>
            <a:off x="2808000" y="144000"/>
            <a:ext cx="3528000" cy="338554"/>
          </a:xfrm>
        </p:spPr>
        <p:txBody>
          <a:bodyPr/>
          <a:lstStyle/>
          <a:p>
            <a:r>
              <a:rPr lang="zh-CN" altLang="en-US" dirty="0"/>
              <a:t>先进先出 </a:t>
            </a:r>
            <a:r>
              <a:rPr lang="en-US" altLang="zh-CN" dirty="0"/>
              <a:t>FIFO </a:t>
            </a:r>
            <a:endParaRPr lang="zh-CN" altLang="en-US" dirty="0"/>
          </a:p>
        </p:txBody>
      </p:sp>
    </p:spTree>
    <p:extLst>
      <p:ext uri="{BB962C8B-B14F-4D97-AF65-F5344CB8AC3E}">
        <p14:creationId xmlns:p14="http://schemas.microsoft.com/office/powerpoint/2010/main" val="307445828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9"/>
          <p:cNvSpPr>
            <a:spLocks noChangeArrowheads="1"/>
          </p:cNvSpPr>
          <p:nvPr/>
        </p:nvSpPr>
        <p:spPr bwMode="auto">
          <a:xfrm>
            <a:off x="3516080"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0" name="Rectangle 10"/>
          <p:cNvSpPr>
            <a:spLocks noChangeArrowheads="1"/>
          </p:cNvSpPr>
          <p:nvPr/>
        </p:nvSpPr>
        <p:spPr bwMode="auto">
          <a:xfrm>
            <a:off x="2873825" y="270843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1"/>
          <p:cNvSpPr>
            <a:spLocks noChangeArrowheads="1"/>
          </p:cNvSpPr>
          <p:nvPr/>
        </p:nvSpPr>
        <p:spPr bwMode="auto">
          <a:xfrm>
            <a:off x="2270759" y="28238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7" name="Rectangle 17"/>
          <p:cNvSpPr>
            <a:spLocks noChangeArrowheads="1"/>
          </p:cNvSpPr>
          <p:nvPr/>
        </p:nvSpPr>
        <p:spPr bwMode="auto">
          <a:xfrm>
            <a:off x="1693819" y="30524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8" name="Rectangle 18"/>
          <p:cNvSpPr>
            <a:spLocks noChangeArrowheads="1"/>
          </p:cNvSpPr>
          <p:nvPr/>
        </p:nvSpPr>
        <p:spPr bwMode="auto">
          <a:xfrm>
            <a:off x="1127764" y="3357221"/>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9" name="矩形 28"/>
          <p:cNvSpPr/>
          <p:nvPr/>
        </p:nvSpPr>
        <p:spPr>
          <a:xfrm>
            <a:off x="1652453" y="1140973"/>
            <a:ext cx="6096380" cy="86177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在最简单的情况下，路由器队列通常采用</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rgbClr val="FFC000"/>
                </a:solidFill>
                <a:latin typeface="微软雅黑" pitchFamily="34" charset="-122"/>
                <a:ea typeface="微软雅黑" pitchFamily="34" charset="-122"/>
              </a:rPr>
              <a:t>先进先出</a:t>
            </a:r>
            <a:r>
              <a:rPr lang="zh-CN" altLang="en-US" sz="1600" b="1" dirty="0">
                <a:solidFill>
                  <a:schemeClr val="bg1"/>
                </a:solidFill>
                <a:latin typeface="微软雅黑" pitchFamily="34" charset="-122"/>
                <a:ea typeface="微软雅黑" pitchFamily="34" charset="-122"/>
              </a:rPr>
              <a:t> </a:t>
            </a:r>
            <a:r>
              <a:rPr lang="en-US" altLang="zh-CN" sz="1600" b="1" dirty="0">
                <a:solidFill>
                  <a:schemeClr val="bg1"/>
                </a:solidFill>
                <a:latin typeface="微软雅黑" pitchFamily="34" charset="-122"/>
                <a:ea typeface="微软雅黑" pitchFamily="34" charset="-122"/>
              </a:rPr>
              <a:t>(FIFO) </a:t>
            </a:r>
            <a:r>
              <a:rPr lang="zh-CN" altLang="en-US" sz="1600" b="1" dirty="0">
                <a:solidFill>
                  <a:schemeClr val="bg1"/>
                </a:solidFill>
                <a:latin typeface="微软雅黑" pitchFamily="34" charset="-122"/>
                <a:ea typeface="微软雅黑" pitchFamily="34" charset="-122"/>
              </a:rPr>
              <a:t>处理规则与</a:t>
            </a:r>
            <a:r>
              <a:rPr lang="zh-CN" altLang="en-US" sz="1600" b="1" dirty="0">
                <a:solidFill>
                  <a:srgbClr val="FFC000"/>
                </a:solidFill>
                <a:latin typeface="微软雅黑" pitchFamily="34" charset="-122"/>
                <a:ea typeface="微软雅黑" pitchFamily="34" charset="-122"/>
              </a:rPr>
              <a:t>尾部丢弃策略 </a:t>
            </a:r>
            <a:r>
              <a:rPr lang="en-US" altLang="zh-CN" sz="1600" b="1" dirty="0">
                <a:solidFill>
                  <a:schemeClr val="bg1"/>
                </a:solidFill>
                <a:latin typeface="微软雅黑" pitchFamily="34" charset="-122"/>
                <a:ea typeface="微软雅黑" pitchFamily="34" charset="-122"/>
              </a:rPr>
              <a:t>(tail-drop policy)</a:t>
            </a:r>
            <a:r>
              <a:rPr lang="zh-CN" altLang="en-US" sz="1600" b="1" dirty="0">
                <a:solidFill>
                  <a:schemeClr val="bg1"/>
                </a:solidFill>
                <a:latin typeface="微软雅黑" pitchFamily="34" charset="-122"/>
                <a:ea typeface="微软雅黑" pitchFamily="34" charset="-122"/>
              </a:rPr>
              <a:t>。</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当队列已满时，以后到达的所有分组将都被丢弃。</a:t>
            </a:r>
          </a:p>
        </p:txBody>
      </p:sp>
      <p:grpSp>
        <p:nvGrpSpPr>
          <p:cNvPr id="39" name="组合 38"/>
          <p:cNvGrpSpPr/>
          <p:nvPr/>
        </p:nvGrpSpPr>
        <p:grpSpPr>
          <a:xfrm>
            <a:off x="4235261" y="2161969"/>
            <a:ext cx="4165845" cy="1143000"/>
            <a:chOff x="4235261" y="2103118"/>
            <a:chExt cx="4165845" cy="1143000"/>
          </a:xfrm>
        </p:grpSpPr>
        <p:grpSp>
          <p:nvGrpSpPr>
            <p:cNvPr id="40" name="组合 39"/>
            <p:cNvGrpSpPr/>
            <p:nvPr/>
          </p:nvGrpSpPr>
          <p:grpSpPr>
            <a:xfrm>
              <a:off x="4235261" y="2103118"/>
              <a:ext cx="3864782" cy="1143000"/>
              <a:chOff x="4313639" y="2103118"/>
              <a:chExt cx="3864782" cy="1143000"/>
            </a:xfrm>
          </p:grpSpPr>
          <p:sp>
            <p:nvSpPr>
              <p:cNvPr id="42"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3"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dirty="0"/>
              </a:p>
            </p:txBody>
          </p:sp>
        </p:grpSp>
        <p:sp>
          <p:nvSpPr>
            <p:cNvPr id="41"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5" name="Line 25"/>
          <p:cNvSpPr>
            <a:spLocks noChangeShapeType="1"/>
          </p:cNvSpPr>
          <p:nvPr/>
        </p:nvSpPr>
        <p:spPr bwMode="auto">
          <a:xfrm flipV="1">
            <a:off x="4260713" y="3355043"/>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26"/>
          <p:cNvSpPr txBox="1">
            <a:spLocks noChangeArrowheads="1"/>
          </p:cNvSpPr>
          <p:nvPr/>
        </p:nvSpPr>
        <p:spPr bwMode="auto">
          <a:xfrm>
            <a:off x="4263664" y="3532827"/>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5" name="Rectangle 5"/>
          <p:cNvSpPr>
            <a:spLocks noChangeArrowheads="1"/>
          </p:cNvSpPr>
          <p:nvPr/>
        </p:nvSpPr>
        <p:spPr bwMode="auto">
          <a:xfrm>
            <a:off x="67774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6" name="Rectangle 6"/>
          <p:cNvSpPr>
            <a:spLocks noChangeArrowheads="1"/>
          </p:cNvSpPr>
          <p:nvPr/>
        </p:nvSpPr>
        <p:spPr bwMode="auto">
          <a:xfrm>
            <a:off x="60154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7"/>
          <p:cNvSpPr>
            <a:spLocks noChangeArrowheads="1"/>
          </p:cNvSpPr>
          <p:nvPr/>
        </p:nvSpPr>
        <p:spPr bwMode="auto">
          <a:xfrm>
            <a:off x="5177239" y="2606106"/>
            <a:ext cx="457200" cy="228600"/>
          </a:xfrm>
          <a:prstGeom prst="rect">
            <a:avLst/>
          </a:prstGeom>
          <a:solidFill>
            <a:srgbClr val="FFFF00"/>
          </a:solidFill>
          <a:ln w="9525" algn="ctr">
            <a:solidFill>
              <a:schemeClr val="tx1"/>
            </a:solidFill>
            <a:miter lim="800000"/>
            <a:headEnd/>
            <a:tailEnd/>
          </a:ln>
          <a:effectLst/>
        </p:spPr>
        <p:txBody>
          <a:bodyPr wrap="none" anchor="ctr"/>
          <a:lstStyle/>
          <a:p>
            <a:endParaRPr lang="zh-CN" altLang="en-US"/>
          </a:p>
        </p:txBody>
      </p:sp>
      <p:sp>
        <p:nvSpPr>
          <p:cNvPr id="8" name="Rectangle 8"/>
          <p:cNvSpPr>
            <a:spLocks noChangeArrowheads="1"/>
          </p:cNvSpPr>
          <p:nvPr/>
        </p:nvSpPr>
        <p:spPr bwMode="auto">
          <a:xfrm>
            <a:off x="4415239" y="2606106"/>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4" name="标题 3">
            <a:extLst>
              <a:ext uri="{FF2B5EF4-FFF2-40B4-BE49-F238E27FC236}">
                <a16:creationId xmlns:a16="http://schemas.microsoft.com/office/drawing/2014/main" id="{F5D4AF3C-D8B6-48C7-FC44-AB41A0112914}"/>
              </a:ext>
            </a:extLst>
          </p:cNvPr>
          <p:cNvSpPr>
            <a:spLocks noGrp="1"/>
          </p:cNvSpPr>
          <p:nvPr>
            <p:ph type="title"/>
          </p:nvPr>
        </p:nvSpPr>
        <p:spPr>
          <a:xfrm>
            <a:off x="2808000" y="144000"/>
            <a:ext cx="3528000" cy="338554"/>
          </a:xfrm>
        </p:spPr>
        <p:txBody>
          <a:bodyPr/>
          <a:lstStyle/>
          <a:p>
            <a:r>
              <a:rPr lang="zh-CN" altLang="en-US" dirty="0"/>
              <a:t>先进先出（</a:t>
            </a:r>
            <a:r>
              <a:rPr lang="en-US" altLang="zh-CN" dirty="0"/>
              <a:t>FIFO</a:t>
            </a:r>
            <a:r>
              <a:rPr lang="zh-CN" altLang="en-US" dirty="0"/>
              <a:t>）处理规则与尾部丢弃策略</a:t>
            </a:r>
          </a:p>
        </p:txBody>
      </p:sp>
    </p:spTree>
    <p:extLst>
      <p:ext uri="{BB962C8B-B14F-4D97-AF65-F5344CB8AC3E}">
        <p14:creationId xmlns:p14="http://schemas.microsoft.com/office/powerpoint/2010/main" val="16284251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2000" fill="hold"/>
                                        <p:tgtEl>
                                          <p:spTgt spid="5"/>
                                        </p:tgtEl>
                                        <p:attrNameLst>
                                          <p:attrName>ppt_x</p:attrName>
                                        </p:attrNameLst>
                                      </p:cBhvr>
                                      <p:tavLst>
                                        <p:tav tm="0">
                                          <p:val>
                                            <p:strVal val="0-#ppt_w/2"/>
                                          </p:val>
                                        </p:tav>
                                        <p:tav tm="100000">
                                          <p:val>
                                            <p:strVal val="#ppt_x"/>
                                          </p:val>
                                        </p:tav>
                                      </p:tavLst>
                                    </p:anim>
                                    <p:anim calcmode="lin" valueType="num">
                                      <p:cBhvr additive="base">
                                        <p:cTn id="8" dur="20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2000" fill="hold"/>
                                        <p:tgtEl>
                                          <p:spTgt spid="6"/>
                                        </p:tgtEl>
                                        <p:attrNameLst>
                                          <p:attrName>ppt_x</p:attrName>
                                        </p:attrNameLst>
                                      </p:cBhvr>
                                      <p:tavLst>
                                        <p:tav tm="0">
                                          <p:val>
                                            <p:strVal val="0-#ppt_w/2"/>
                                          </p:val>
                                        </p:tav>
                                        <p:tav tm="100000">
                                          <p:val>
                                            <p:strVal val="#ppt_x"/>
                                          </p:val>
                                        </p:tav>
                                      </p:tavLst>
                                    </p:anim>
                                    <p:anim calcmode="lin" valueType="num">
                                      <p:cBhvr additive="base">
                                        <p:cTn id="12" dur="20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2000" fill="hold"/>
                                        <p:tgtEl>
                                          <p:spTgt spid="7"/>
                                        </p:tgtEl>
                                        <p:attrNameLst>
                                          <p:attrName>ppt_x</p:attrName>
                                        </p:attrNameLst>
                                      </p:cBhvr>
                                      <p:tavLst>
                                        <p:tav tm="0">
                                          <p:val>
                                            <p:strVal val="0-#ppt_w/2"/>
                                          </p:val>
                                        </p:tav>
                                        <p:tav tm="100000">
                                          <p:val>
                                            <p:strVal val="#ppt_x"/>
                                          </p:val>
                                        </p:tav>
                                      </p:tavLst>
                                    </p:anim>
                                    <p:anim calcmode="lin" valueType="num">
                                      <p:cBhvr additive="base">
                                        <p:cTn id="16" dur="20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2000" fill="hold"/>
                                        <p:tgtEl>
                                          <p:spTgt spid="8"/>
                                        </p:tgtEl>
                                        <p:attrNameLst>
                                          <p:attrName>ppt_x</p:attrName>
                                        </p:attrNameLst>
                                      </p:cBhvr>
                                      <p:tavLst>
                                        <p:tav tm="0">
                                          <p:val>
                                            <p:strVal val="0-#ppt_w/2"/>
                                          </p:val>
                                        </p:tav>
                                        <p:tav tm="100000">
                                          <p:val>
                                            <p:strVal val="#ppt_x"/>
                                          </p:val>
                                        </p:tav>
                                      </p:tavLst>
                                    </p:anim>
                                    <p:anim calcmode="lin" valueType="num">
                                      <p:cBhvr additive="base">
                                        <p:cTn id="20" dur="20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2000" fill="hold"/>
                                        <p:tgtEl>
                                          <p:spTgt spid="9"/>
                                        </p:tgtEl>
                                        <p:attrNameLst>
                                          <p:attrName>ppt_x</p:attrName>
                                        </p:attrNameLst>
                                      </p:cBhvr>
                                      <p:tavLst>
                                        <p:tav tm="0">
                                          <p:val>
                                            <p:strVal val="0-#ppt_w/2"/>
                                          </p:val>
                                        </p:tav>
                                        <p:tav tm="100000">
                                          <p:val>
                                            <p:strVal val="#ppt_x"/>
                                          </p:val>
                                        </p:tav>
                                      </p:tavLst>
                                    </p:anim>
                                    <p:anim calcmode="lin" valueType="num">
                                      <p:cBhvr additive="base">
                                        <p:cTn id="24" dur="2000" fill="hold"/>
                                        <p:tgtEl>
                                          <p:spTgt spid="9"/>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2000" fill="hold"/>
                                        <p:tgtEl>
                                          <p:spTgt spid="10"/>
                                        </p:tgtEl>
                                        <p:attrNameLst>
                                          <p:attrName>ppt_x</p:attrName>
                                        </p:attrNameLst>
                                      </p:cBhvr>
                                      <p:tavLst>
                                        <p:tav tm="0">
                                          <p:val>
                                            <p:strVal val="0-#ppt_w/2"/>
                                          </p:val>
                                        </p:tav>
                                        <p:tav tm="100000">
                                          <p:val>
                                            <p:strVal val="#ppt_x"/>
                                          </p:val>
                                        </p:tav>
                                      </p:tavLst>
                                    </p:anim>
                                    <p:anim calcmode="lin" valueType="num">
                                      <p:cBhvr additive="base">
                                        <p:cTn id="28" dur="2000" fill="hold"/>
                                        <p:tgtEl>
                                          <p:spTgt spid="10"/>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2000" fill="hold"/>
                                        <p:tgtEl>
                                          <p:spTgt spid="17"/>
                                        </p:tgtEl>
                                        <p:attrNameLst>
                                          <p:attrName>ppt_x</p:attrName>
                                        </p:attrNameLst>
                                      </p:cBhvr>
                                      <p:tavLst>
                                        <p:tav tm="0">
                                          <p:val>
                                            <p:strVal val="0-#ppt_w/2"/>
                                          </p:val>
                                        </p:tav>
                                        <p:tav tm="100000">
                                          <p:val>
                                            <p:strVal val="#ppt_x"/>
                                          </p:val>
                                        </p:tav>
                                      </p:tavLst>
                                    </p:anim>
                                    <p:anim calcmode="lin" valueType="num">
                                      <p:cBhvr additive="base">
                                        <p:cTn id="36" dur="2000" fill="hold"/>
                                        <p:tgtEl>
                                          <p:spTgt spid="17"/>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anim calcmode="lin" valueType="num">
                                      <p:cBhvr additive="base">
                                        <p:cTn id="39" dur="2000" fill="hold"/>
                                        <p:tgtEl>
                                          <p:spTgt spid="18"/>
                                        </p:tgtEl>
                                        <p:attrNameLst>
                                          <p:attrName>ppt_x</p:attrName>
                                        </p:attrNameLst>
                                      </p:cBhvr>
                                      <p:tavLst>
                                        <p:tav tm="0">
                                          <p:val>
                                            <p:strVal val="0-#ppt_w/2"/>
                                          </p:val>
                                        </p:tav>
                                        <p:tav tm="100000">
                                          <p:val>
                                            <p:strVal val="#ppt_x"/>
                                          </p:val>
                                        </p:tav>
                                      </p:tavLst>
                                    </p:anim>
                                    <p:anim calcmode="lin" valueType="num">
                                      <p:cBhvr additive="base">
                                        <p:cTn id="40" dur="2000" fill="hold"/>
                                        <p:tgtEl>
                                          <p:spTgt spid="18"/>
                                        </p:tgtEl>
                                        <p:attrNameLst>
                                          <p:attrName>ppt_y</p:attrName>
                                        </p:attrNameLst>
                                      </p:cBhvr>
                                      <p:tavLst>
                                        <p:tav tm="0">
                                          <p:val>
                                            <p:strVal val="#ppt_y"/>
                                          </p:val>
                                        </p:tav>
                                        <p:tav tm="100000">
                                          <p:val>
                                            <p:strVal val="#ppt_y"/>
                                          </p:val>
                                        </p:tav>
                                      </p:tavLst>
                                    </p:anim>
                                  </p:childTnLst>
                                </p:cTn>
                              </p:par>
                            </p:childTnLst>
                          </p:cTn>
                        </p:par>
                        <p:par>
                          <p:cTn id="41" fill="hold">
                            <p:stCondLst>
                              <p:cond delay="2000"/>
                            </p:stCondLst>
                            <p:childTnLst>
                              <p:par>
                                <p:cTn id="42" presetID="2" presetClass="exit" presetSubtype="4" fill="hold" grpId="1" nodeType="afterEffect">
                                  <p:stCondLst>
                                    <p:cond delay="1000"/>
                                  </p:stCondLst>
                                  <p:childTnLst>
                                    <p:anim calcmode="lin" valueType="num">
                                      <p:cBhvr additive="base">
                                        <p:cTn id="43" dur="2000"/>
                                        <p:tgtEl>
                                          <p:spTgt spid="9"/>
                                        </p:tgtEl>
                                        <p:attrNameLst>
                                          <p:attrName>ppt_x</p:attrName>
                                        </p:attrNameLst>
                                      </p:cBhvr>
                                      <p:tavLst>
                                        <p:tav tm="0">
                                          <p:val>
                                            <p:strVal val="ppt_x"/>
                                          </p:val>
                                        </p:tav>
                                        <p:tav tm="100000">
                                          <p:val>
                                            <p:strVal val="ppt_x"/>
                                          </p:val>
                                        </p:tav>
                                      </p:tavLst>
                                    </p:anim>
                                    <p:anim calcmode="lin" valueType="num">
                                      <p:cBhvr additive="base">
                                        <p:cTn id="44" dur="2000"/>
                                        <p:tgtEl>
                                          <p:spTgt spid="9"/>
                                        </p:tgtEl>
                                        <p:attrNameLst>
                                          <p:attrName>ppt_y</p:attrName>
                                        </p:attrNameLst>
                                      </p:cBhvr>
                                      <p:tavLst>
                                        <p:tav tm="0">
                                          <p:val>
                                            <p:strVal val="ppt_y"/>
                                          </p:val>
                                        </p:tav>
                                        <p:tav tm="100000">
                                          <p:val>
                                            <p:strVal val="1+ppt_h/2"/>
                                          </p:val>
                                        </p:tav>
                                      </p:tavLst>
                                    </p:anim>
                                    <p:set>
                                      <p:cBhvr>
                                        <p:cTn id="45" dur="1" fill="hold">
                                          <p:stCondLst>
                                            <p:cond delay="1999"/>
                                          </p:stCondLst>
                                        </p:cTn>
                                        <p:tgtEl>
                                          <p:spTgt spid="9"/>
                                        </p:tgtEl>
                                        <p:attrNameLst>
                                          <p:attrName>style.visibility</p:attrName>
                                        </p:attrNameLst>
                                      </p:cBhvr>
                                      <p:to>
                                        <p:strVal val="hidden"/>
                                      </p:to>
                                    </p:set>
                                  </p:childTnLst>
                                </p:cTn>
                              </p:par>
                              <p:par>
                                <p:cTn id="46" presetID="2" presetClass="exit" presetSubtype="4" fill="hold" grpId="1" nodeType="withEffect">
                                  <p:stCondLst>
                                    <p:cond delay="1000"/>
                                  </p:stCondLst>
                                  <p:childTnLst>
                                    <p:anim calcmode="lin" valueType="num">
                                      <p:cBhvr additive="base">
                                        <p:cTn id="47" dur="2000"/>
                                        <p:tgtEl>
                                          <p:spTgt spid="10"/>
                                        </p:tgtEl>
                                        <p:attrNameLst>
                                          <p:attrName>ppt_x</p:attrName>
                                        </p:attrNameLst>
                                      </p:cBhvr>
                                      <p:tavLst>
                                        <p:tav tm="0">
                                          <p:val>
                                            <p:strVal val="ppt_x"/>
                                          </p:val>
                                        </p:tav>
                                        <p:tav tm="100000">
                                          <p:val>
                                            <p:strVal val="ppt_x"/>
                                          </p:val>
                                        </p:tav>
                                      </p:tavLst>
                                    </p:anim>
                                    <p:anim calcmode="lin" valueType="num">
                                      <p:cBhvr additive="base">
                                        <p:cTn id="48" dur="2000"/>
                                        <p:tgtEl>
                                          <p:spTgt spid="10"/>
                                        </p:tgtEl>
                                        <p:attrNameLst>
                                          <p:attrName>ppt_y</p:attrName>
                                        </p:attrNameLst>
                                      </p:cBhvr>
                                      <p:tavLst>
                                        <p:tav tm="0">
                                          <p:val>
                                            <p:strVal val="ppt_y"/>
                                          </p:val>
                                        </p:tav>
                                        <p:tav tm="100000">
                                          <p:val>
                                            <p:strVal val="1+ppt_h/2"/>
                                          </p:val>
                                        </p:tav>
                                      </p:tavLst>
                                    </p:anim>
                                    <p:set>
                                      <p:cBhvr>
                                        <p:cTn id="49" dur="1" fill="hold">
                                          <p:stCondLst>
                                            <p:cond delay="1999"/>
                                          </p:stCondLst>
                                        </p:cTn>
                                        <p:tgtEl>
                                          <p:spTgt spid="10"/>
                                        </p:tgtEl>
                                        <p:attrNameLst>
                                          <p:attrName>style.visibility</p:attrName>
                                        </p:attrNameLst>
                                      </p:cBhvr>
                                      <p:to>
                                        <p:strVal val="hidden"/>
                                      </p:to>
                                    </p:set>
                                  </p:childTnLst>
                                </p:cTn>
                              </p:par>
                              <p:par>
                                <p:cTn id="50" presetID="2" presetClass="exit" presetSubtype="4" fill="hold" grpId="1" nodeType="withEffect">
                                  <p:stCondLst>
                                    <p:cond delay="1000"/>
                                  </p:stCondLst>
                                  <p:childTnLst>
                                    <p:anim calcmode="lin" valueType="num">
                                      <p:cBhvr additive="base">
                                        <p:cTn id="51" dur="2000"/>
                                        <p:tgtEl>
                                          <p:spTgt spid="11"/>
                                        </p:tgtEl>
                                        <p:attrNameLst>
                                          <p:attrName>ppt_x</p:attrName>
                                        </p:attrNameLst>
                                      </p:cBhvr>
                                      <p:tavLst>
                                        <p:tav tm="0">
                                          <p:val>
                                            <p:strVal val="ppt_x"/>
                                          </p:val>
                                        </p:tav>
                                        <p:tav tm="100000">
                                          <p:val>
                                            <p:strVal val="ppt_x"/>
                                          </p:val>
                                        </p:tav>
                                      </p:tavLst>
                                    </p:anim>
                                    <p:anim calcmode="lin" valueType="num">
                                      <p:cBhvr additive="base">
                                        <p:cTn id="52" dur="2000"/>
                                        <p:tgtEl>
                                          <p:spTgt spid="11"/>
                                        </p:tgtEl>
                                        <p:attrNameLst>
                                          <p:attrName>ppt_y</p:attrName>
                                        </p:attrNameLst>
                                      </p:cBhvr>
                                      <p:tavLst>
                                        <p:tav tm="0">
                                          <p:val>
                                            <p:strVal val="ppt_y"/>
                                          </p:val>
                                        </p:tav>
                                        <p:tav tm="100000">
                                          <p:val>
                                            <p:strVal val="1+ppt_h/2"/>
                                          </p:val>
                                        </p:tav>
                                      </p:tavLst>
                                    </p:anim>
                                    <p:set>
                                      <p:cBhvr>
                                        <p:cTn id="53" dur="1" fill="hold">
                                          <p:stCondLst>
                                            <p:cond delay="1999"/>
                                          </p:stCondLst>
                                        </p:cTn>
                                        <p:tgtEl>
                                          <p:spTgt spid="11"/>
                                        </p:tgtEl>
                                        <p:attrNameLst>
                                          <p:attrName>style.visibility</p:attrName>
                                        </p:attrNameLst>
                                      </p:cBhvr>
                                      <p:to>
                                        <p:strVal val="hidden"/>
                                      </p:to>
                                    </p:set>
                                  </p:childTnLst>
                                </p:cTn>
                              </p:par>
                              <p:par>
                                <p:cTn id="54" presetID="2" presetClass="exit" presetSubtype="4" fill="hold" grpId="1" nodeType="withEffect">
                                  <p:stCondLst>
                                    <p:cond delay="1000"/>
                                  </p:stCondLst>
                                  <p:childTnLst>
                                    <p:anim calcmode="lin" valueType="num">
                                      <p:cBhvr additive="base">
                                        <p:cTn id="55" dur="2000"/>
                                        <p:tgtEl>
                                          <p:spTgt spid="17"/>
                                        </p:tgtEl>
                                        <p:attrNameLst>
                                          <p:attrName>ppt_x</p:attrName>
                                        </p:attrNameLst>
                                      </p:cBhvr>
                                      <p:tavLst>
                                        <p:tav tm="0">
                                          <p:val>
                                            <p:strVal val="ppt_x"/>
                                          </p:val>
                                        </p:tav>
                                        <p:tav tm="100000">
                                          <p:val>
                                            <p:strVal val="ppt_x"/>
                                          </p:val>
                                        </p:tav>
                                      </p:tavLst>
                                    </p:anim>
                                    <p:anim calcmode="lin" valueType="num">
                                      <p:cBhvr additive="base">
                                        <p:cTn id="56" dur="2000"/>
                                        <p:tgtEl>
                                          <p:spTgt spid="17"/>
                                        </p:tgtEl>
                                        <p:attrNameLst>
                                          <p:attrName>ppt_y</p:attrName>
                                        </p:attrNameLst>
                                      </p:cBhvr>
                                      <p:tavLst>
                                        <p:tav tm="0">
                                          <p:val>
                                            <p:strVal val="ppt_y"/>
                                          </p:val>
                                        </p:tav>
                                        <p:tav tm="100000">
                                          <p:val>
                                            <p:strVal val="1+ppt_h/2"/>
                                          </p:val>
                                        </p:tav>
                                      </p:tavLst>
                                    </p:anim>
                                    <p:set>
                                      <p:cBhvr>
                                        <p:cTn id="57" dur="1" fill="hold">
                                          <p:stCondLst>
                                            <p:cond delay="1999"/>
                                          </p:stCondLst>
                                        </p:cTn>
                                        <p:tgtEl>
                                          <p:spTgt spid="17"/>
                                        </p:tgtEl>
                                        <p:attrNameLst>
                                          <p:attrName>style.visibility</p:attrName>
                                        </p:attrNameLst>
                                      </p:cBhvr>
                                      <p:to>
                                        <p:strVal val="hidden"/>
                                      </p:to>
                                    </p:set>
                                  </p:childTnLst>
                                </p:cTn>
                              </p:par>
                              <p:par>
                                <p:cTn id="58" presetID="2" presetClass="exit" presetSubtype="4" fill="hold" grpId="1" nodeType="withEffect">
                                  <p:stCondLst>
                                    <p:cond delay="1000"/>
                                  </p:stCondLst>
                                  <p:childTnLst>
                                    <p:anim calcmode="lin" valueType="num">
                                      <p:cBhvr additive="base">
                                        <p:cTn id="59" dur="2000"/>
                                        <p:tgtEl>
                                          <p:spTgt spid="18"/>
                                        </p:tgtEl>
                                        <p:attrNameLst>
                                          <p:attrName>ppt_x</p:attrName>
                                        </p:attrNameLst>
                                      </p:cBhvr>
                                      <p:tavLst>
                                        <p:tav tm="0">
                                          <p:val>
                                            <p:strVal val="ppt_x"/>
                                          </p:val>
                                        </p:tav>
                                        <p:tav tm="100000">
                                          <p:val>
                                            <p:strVal val="ppt_x"/>
                                          </p:val>
                                        </p:tav>
                                      </p:tavLst>
                                    </p:anim>
                                    <p:anim calcmode="lin" valueType="num">
                                      <p:cBhvr additive="base">
                                        <p:cTn id="60" dur="2000"/>
                                        <p:tgtEl>
                                          <p:spTgt spid="18"/>
                                        </p:tgtEl>
                                        <p:attrNameLst>
                                          <p:attrName>ppt_y</p:attrName>
                                        </p:attrNameLst>
                                      </p:cBhvr>
                                      <p:tavLst>
                                        <p:tav tm="0">
                                          <p:val>
                                            <p:strVal val="ppt_y"/>
                                          </p:val>
                                        </p:tav>
                                        <p:tav tm="100000">
                                          <p:val>
                                            <p:strVal val="1+ppt_h/2"/>
                                          </p:val>
                                        </p:tav>
                                      </p:tavLst>
                                    </p:anim>
                                    <p:set>
                                      <p:cBhvr>
                                        <p:cTn id="61" dur="1" fill="hold">
                                          <p:stCondLst>
                                            <p:cond delay="1999"/>
                                          </p:stCondLst>
                                        </p:cTn>
                                        <p:tgtEl>
                                          <p:spTgt spid="1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10" grpId="0" animBg="1"/>
      <p:bldP spid="10" grpId="1" animBg="1"/>
      <p:bldP spid="11" grpId="0" animBg="1"/>
      <p:bldP spid="11" grpId="1" animBg="1"/>
      <p:bldP spid="17" grpId="0" animBg="1"/>
      <p:bldP spid="17" grpId="1" animBg="1"/>
      <p:bldP spid="18" grpId="0" animBg="1"/>
      <p:bldP spid="18" grpId="1" animBg="1"/>
      <p:bldP spid="5" grpId="0" animBg="1"/>
      <p:bldP spid="6" grpId="0" animBg="1"/>
      <p:bldP spid="7" grpId="0" animBg="1"/>
      <p:bldP spid="8" grpId="0" animBg="1"/>
    </p:bld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621410" y="1145619"/>
            <a:ext cx="6099143" cy="348813"/>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连接进入</a:t>
            </a:r>
            <a:r>
              <a:rPr lang="zh-CN" altLang="en-US" sz="1600" b="1" dirty="0">
                <a:solidFill>
                  <a:srgbClr val="FFC000"/>
                </a:solidFill>
                <a:latin typeface="微软雅黑" pitchFamily="34" charset="-122"/>
                <a:ea typeface="微软雅黑" pitchFamily="34" charset="-122"/>
              </a:rPr>
              <a:t>慢开始</a:t>
            </a:r>
            <a:r>
              <a:rPr lang="zh-CN" altLang="en-US" sz="1600" b="1" dirty="0">
                <a:solidFill>
                  <a:schemeClr val="bg1"/>
                </a:solidFill>
                <a:latin typeface="微软雅黑" pitchFamily="34" charset="-122"/>
                <a:ea typeface="微软雅黑" pitchFamily="34" charset="-122"/>
              </a:rPr>
              <a:t>状态。</a:t>
            </a:r>
          </a:p>
        </p:txBody>
      </p:sp>
      <p:sp>
        <p:nvSpPr>
          <p:cNvPr id="70" name="Line 6"/>
          <p:cNvSpPr>
            <a:spLocks noChangeShapeType="1"/>
          </p:cNvSpPr>
          <p:nvPr/>
        </p:nvSpPr>
        <p:spPr bwMode="auto">
          <a:xfrm>
            <a:off x="2286000" y="4035834"/>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5118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105179"/>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3877084"/>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6" name="Line 12"/>
          <p:cNvSpPr>
            <a:spLocks noChangeShapeType="1"/>
          </p:cNvSpPr>
          <p:nvPr/>
        </p:nvSpPr>
        <p:spPr bwMode="auto">
          <a:xfrm>
            <a:off x="2286000" y="3794534"/>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3" name="Text Box 19"/>
          <p:cNvSpPr txBox="1">
            <a:spLocks noChangeArrowheads="1"/>
          </p:cNvSpPr>
          <p:nvPr/>
        </p:nvSpPr>
        <p:spPr bwMode="auto">
          <a:xfrm>
            <a:off x="6891311" y="2353084"/>
            <a:ext cx="95728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648619"/>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334419"/>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648619"/>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648619"/>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334419"/>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168005"/>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168006"/>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2" name="标题 1">
            <a:extLst>
              <a:ext uri="{FF2B5EF4-FFF2-40B4-BE49-F238E27FC236}">
                <a16:creationId xmlns:a16="http://schemas.microsoft.com/office/drawing/2014/main" id="{7693F21C-AE30-D8E6-15F5-5BCBA0421B0A}"/>
              </a:ext>
            </a:extLst>
          </p:cNvPr>
          <p:cNvSpPr>
            <a:spLocks noGrp="1"/>
          </p:cNvSpPr>
          <p:nvPr>
            <p:ph type="title"/>
          </p:nvPr>
        </p:nvSpPr>
        <p:spPr>
          <a:xfrm>
            <a:off x="2808000" y="144000"/>
            <a:ext cx="3528000" cy="338554"/>
          </a:xfrm>
        </p:spPr>
        <p:txBody>
          <a:bodyPr/>
          <a:lstStyle/>
          <a:p>
            <a:r>
              <a:rPr lang="zh-CN" altLang="en-US" dirty="0"/>
              <a:t>先进先出（</a:t>
            </a:r>
            <a:r>
              <a:rPr lang="en-US" altLang="zh-CN" dirty="0"/>
              <a:t>FIFO</a:t>
            </a:r>
            <a:r>
              <a:rPr lang="zh-CN" altLang="en-US" dirty="0"/>
              <a:t>）处理规则与尾部丢弃策略</a:t>
            </a:r>
          </a:p>
        </p:txBody>
      </p:sp>
    </p:spTree>
    <p:extLst>
      <p:ext uri="{BB962C8B-B14F-4D97-AF65-F5344CB8AC3E}">
        <p14:creationId xmlns:p14="http://schemas.microsoft.com/office/powerpoint/2010/main" val="40486318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a:spLocks noChangeArrowheads="1"/>
          </p:cNvSpPr>
          <p:nvPr/>
        </p:nvSpPr>
        <p:spPr bwMode="auto">
          <a:xfrm>
            <a:off x="3634390"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1" name="Rectangle 10"/>
          <p:cNvSpPr>
            <a:spLocks noChangeArrowheads="1"/>
          </p:cNvSpPr>
          <p:nvPr/>
        </p:nvSpPr>
        <p:spPr bwMode="auto">
          <a:xfrm>
            <a:off x="3101537"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12" name="Rectangle 11"/>
          <p:cNvSpPr>
            <a:spLocks noChangeArrowheads="1"/>
          </p:cNvSpPr>
          <p:nvPr/>
        </p:nvSpPr>
        <p:spPr bwMode="auto">
          <a:xfrm>
            <a:off x="2529495" y="21963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3" name="Rectangle 12"/>
          <p:cNvSpPr>
            <a:spLocks noChangeArrowheads="1"/>
          </p:cNvSpPr>
          <p:nvPr/>
        </p:nvSpPr>
        <p:spPr bwMode="auto">
          <a:xfrm>
            <a:off x="3634390"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14" name="Rectangle 13"/>
          <p:cNvSpPr>
            <a:spLocks noChangeArrowheads="1"/>
          </p:cNvSpPr>
          <p:nvPr/>
        </p:nvSpPr>
        <p:spPr bwMode="auto">
          <a:xfrm>
            <a:off x="3101537"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15" name="Rectangle 14"/>
          <p:cNvSpPr>
            <a:spLocks noChangeArrowheads="1"/>
          </p:cNvSpPr>
          <p:nvPr/>
        </p:nvSpPr>
        <p:spPr bwMode="auto">
          <a:xfrm>
            <a:off x="2529495" y="26535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3" name="Rectangle 22"/>
          <p:cNvSpPr>
            <a:spLocks noChangeArrowheads="1"/>
          </p:cNvSpPr>
          <p:nvPr/>
        </p:nvSpPr>
        <p:spPr bwMode="auto">
          <a:xfrm>
            <a:off x="1918264" y="2196375"/>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24" name="Rectangle 23"/>
          <p:cNvSpPr>
            <a:spLocks noChangeArrowheads="1"/>
          </p:cNvSpPr>
          <p:nvPr/>
        </p:nvSpPr>
        <p:spPr bwMode="auto">
          <a:xfrm>
            <a:off x="1320096" y="2043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25" name="Rectangle 24"/>
          <p:cNvSpPr>
            <a:spLocks noChangeArrowheads="1"/>
          </p:cNvSpPr>
          <p:nvPr/>
        </p:nvSpPr>
        <p:spPr bwMode="auto">
          <a:xfrm>
            <a:off x="1918264" y="2653575"/>
            <a:ext cx="457200" cy="228600"/>
          </a:xfrm>
          <a:prstGeom prst="rect">
            <a:avLst/>
          </a:prstGeom>
          <a:solidFill>
            <a:srgbClr val="FF66FF"/>
          </a:solidFill>
          <a:ln w="9525">
            <a:solidFill>
              <a:schemeClr val="tx1"/>
            </a:solidFill>
            <a:miter lim="800000"/>
            <a:headEnd/>
            <a:tailEnd/>
          </a:ln>
          <a:effectLst/>
        </p:spPr>
        <p:txBody>
          <a:bodyPr wrap="none" anchor="ctr"/>
          <a:lstStyle/>
          <a:p>
            <a:endParaRPr lang="zh-CN" altLang="en-US"/>
          </a:p>
        </p:txBody>
      </p:sp>
      <p:sp>
        <p:nvSpPr>
          <p:cNvPr id="26" name="Rectangle 25"/>
          <p:cNvSpPr>
            <a:spLocks noChangeArrowheads="1"/>
          </p:cNvSpPr>
          <p:nvPr/>
        </p:nvSpPr>
        <p:spPr bwMode="auto">
          <a:xfrm>
            <a:off x="1320096" y="2805975"/>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36" name="矩形 35"/>
          <p:cNvSpPr/>
          <p:nvPr/>
        </p:nvSpPr>
        <p:spPr>
          <a:xfrm>
            <a:off x="1652453" y="1132117"/>
            <a:ext cx="5957271"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若路由器进行了尾部丢弃，</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所有到达的分组都被丢弃，不论它们属于哪个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p>
        </p:txBody>
      </p:sp>
      <p:grpSp>
        <p:nvGrpSpPr>
          <p:cNvPr id="37" name="组合 36"/>
          <p:cNvGrpSpPr/>
          <p:nvPr/>
        </p:nvGrpSpPr>
        <p:grpSpPr>
          <a:xfrm>
            <a:off x="4268659" y="1963868"/>
            <a:ext cx="4165845" cy="1143000"/>
            <a:chOff x="4235261" y="2103118"/>
            <a:chExt cx="4165845" cy="1143000"/>
          </a:xfrm>
        </p:grpSpPr>
        <p:grpSp>
          <p:nvGrpSpPr>
            <p:cNvPr id="38" name="组合 37"/>
            <p:cNvGrpSpPr/>
            <p:nvPr/>
          </p:nvGrpSpPr>
          <p:grpSpPr>
            <a:xfrm>
              <a:off x="4235261" y="2103118"/>
              <a:ext cx="3864782" cy="1143000"/>
              <a:chOff x="4313639" y="2103118"/>
              <a:chExt cx="3864782" cy="1143000"/>
            </a:xfrm>
          </p:grpSpPr>
          <p:sp>
            <p:nvSpPr>
              <p:cNvPr id="40" name="Freeform 24"/>
              <p:cNvSpPr>
                <a:spLocks/>
              </p:cNvSpPr>
              <p:nvPr/>
            </p:nvSpPr>
            <p:spPr bwMode="auto">
              <a:xfrm>
                <a:off x="4313639" y="2103118"/>
                <a:ext cx="3073400" cy="1143000"/>
              </a:xfrm>
              <a:custGeom>
                <a:avLst/>
                <a:gdLst>
                  <a:gd name="T0" fmla="*/ 0 w 2688"/>
                  <a:gd name="T1" fmla="*/ 960 h 960"/>
                  <a:gd name="T2" fmla="*/ 2688 w 2688"/>
                  <a:gd name="T3" fmla="*/ 960 h 960"/>
                  <a:gd name="T4" fmla="*/ 2688 w 2688"/>
                  <a:gd name="T5" fmla="*/ 0 h 960"/>
                  <a:gd name="T6" fmla="*/ 0 w 2688"/>
                  <a:gd name="T7" fmla="*/ 0 h 960"/>
                </a:gdLst>
                <a:ahLst/>
                <a:cxnLst>
                  <a:cxn ang="0">
                    <a:pos x="T0" y="T1"/>
                  </a:cxn>
                  <a:cxn ang="0">
                    <a:pos x="T2" y="T3"/>
                  </a:cxn>
                  <a:cxn ang="0">
                    <a:pos x="T4" y="T5"/>
                  </a:cxn>
                  <a:cxn ang="0">
                    <a:pos x="T6" y="T7"/>
                  </a:cxn>
                </a:cxnLst>
                <a:rect l="0" t="0" r="r" b="b"/>
                <a:pathLst>
                  <a:path w="2688" h="960">
                    <a:moveTo>
                      <a:pt x="0" y="960"/>
                    </a:moveTo>
                    <a:lnTo>
                      <a:pt x="2688" y="960"/>
                    </a:lnTo>
                    <a:lnTo>
                      <a:pt x="2688" y="0"/>
                    </a:lnTo>
                    <a:lnTo>
                      <a:pt x="0" y="0"/>
                    </a:lnTo>
                  </a:path>
                </a:pathLst>
              </a:custGeom>
              <a:solidFill>
                <a:srgbClr val="66CCFF"/>
              </a:solidFill>
              <a:ln w="19050">
                <a:solidFill>
                  <a:schemeClr val="tx1"/>
                </a:solidFill>
                <a:round/>
                <a:headEnd/>
                <a:tailEnd/>
              </a:ln>
              <a:effectLst/>
            </p:spPr>
            <p:txBody>
              <a:bodyPr/>
              <a:lstStyle/>
              <a:p>
                <a:endParaRPr lang="zh-CN" altLang="en-US"/>
              </a:p>
            </p:txBody>
          </p:sp>
          <p:sp>
            <p:nvSpPr>
              <p:cNvPr id="41" name="Line 20"/>
              <p:cNvSpPr>
                <a:spLocks noChangeShapeType="1"/>
              </p:cNvSpPr>
              <p:nvPr/>
            </p:nvSpPr>
            <p:spPr bwMode="auto">
              <a:xfrm>
                <a:off x="6603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21"/>
              <p:cNvSpPr>
                <a:spLocks noChangeShapeType="1"/>
              </p:cNvSpPr>
              <p:nvPr/>
            </p:nvSpPr>
            <p:spPr bwMode="auto">
              <a:xfrm>
                <a:off x="5841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22"/>
              <p:cNvSpPr>
                <a:spLocks noChangeShapeType="1"/>
              </p:cNvSpPr>
              <p:nvPr/>
            </p:nvSpPr>
            <p:spPr bwMode="auto">
              <a:xfrm>
                <a:off x="5079268" y="2103118"/>
                <a:ext cx="0" cy="1143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25"/>
              <p:cNvSpPr>
                <a:spLocks noChangeShapeType="1"/>
              </p:cNvSpPr>
              <p:nvPr/>
            </p:nvSpPr>
            <p:spPr bwMode="auto">
              <a:xfrm>
                <a:off x="7387039"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Oval 2058"/>
              <p:cNvSpPr>
                <a:spLocks noChangeArrowheads="1"/>
              </p:cNvSpPr>
              <p:nvPr/>
            </p:nvSpPr>
            <p:spPr bwMode="auto">
              <a:xfrm>
                <a:off x="7674421" y="2416627"/>
                <a:ext cx="504000" cy="504000"/>
              </a:xfrm>
              <a:prstGeom prst="ellipse">
                <a:avLst/>
              </a:prstGeom>
              <a:solidFill>
                <a:srgbClr val="0066FF"/>
              </a:solidFill>
              <a:ln w="12700">
                <a:solidFill>
                  <a:schemeClr val="tx1"/>
                </a:solidFill>
                <a:round/>
                <a:headEnd type="none" w="sm" len="sm"/>
                <a:tailEnd type="none" w="sm" len="sm"/>
              </a:ln>
            </p:spPr>
            <p:txBody>
              <a:bodyPr wrap="none" anchor="ctr"/>
              <a:lstStyle/>
              <a:p>
                <a:endParaRPr lang="en-US" dirty="0"/>
              </a:p>
            </p:txBody>
          </p:sp>
        </p:grpSp>
        <p:sp>
          <p:nvSpPr>
            <p:cNvPr id="39" name="Line 25"/>
            <p:cNvSpPr>
              <a:spLocks noChangeShapeType="1"/>
            </p:cNvSpPr>
            <p:nvPr/>
          </p:nvSpPr>
          <p:spPr bwMode="auto">
            <a:xfrm>
              <a:off x="8113106" y="2674616"/>
              <a:ext cx="288000" cy="1"/>
            </a:xfrm>
            <a:prstGeom prst="line">
              <a:avLst/>
            </a:prstGeom>
            <a:noFill/>
            <a:ln w="57150">
              <a:solidFill>
                <a:srgbClr val="CC00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 name="Rectangle 5"/>
          <p:cNvSpPr>
            <a:spLocks noChangeArrowheads="1"/>
          </p:cNvSpPr>
          <p:nvPr/>
        </p:nvSpPr>
        <p:spPr bwMode="auto">
          <a:xfrm>
            <a:off x="67085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7" name="Rectangle 6"/>
          <p:cNvSpPr>
            <a:spLocks noChangeArrowheads="1"/>
          </p:cNvSpPr>
          <p:nvPr/>
        </p:nvSpPr>
        <p:spPr bwMode="auto">
          <a:xfrm>
            <a:off x="59465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8" name="Rectangle 7"/>
          <p:cNvSpPr>
            <a:spLocks noChangeArrowheads="1"/>
          </p:cNvSpPr>
          <p:nvPr/>
        </p:nvSpPr>
        <p:spPr bwMode="auto">
          <a:xfrm>
            <a:off x="5108311" y="2411912"/>
            <a:ext cx="457200" cy="228600"/>
          </a:xfrm>
          <a:prstGeom prst="rect">
            <a:avLst/>
          </a:prstGeom>
          <a:solidFill>
            <a:srgbClr val="FFFF00"/>
          </a:solidFill>
          <a:ln w="9525">
            <a:solidFill>
              <a:schemeClr val="tx1"/>
            </a:solidFill>
            <a:miter lim="800000"/>
            <a:headEnd/>
            <a:tailEnd/>
          </a:ln>
          <a:effectLst/>
        </p:spPr>
        <p:txBody>
          <a:bodyPr wrap="none" anchor="ctr"/>
          <a:lstStyle/>
          <a:p>
            <a:endParaRPr lang="zh-CN" altLang="en-US"/>
          </a:p>
        </p:txBody>
      </p:sp>
      <p:sp>
        <p:nvSpPr>
          <p:cNvPr id="9" name="Rectangle 8"/>
          <p:cNvSpPr>
            <a:spLocks noChangeArrowheads="1"/>
          </p:cNvSpPr>
          <p:nvPr/>
        </p:nvSpPr>
        <p:spPr bwMode="auto">
          <a:xfrm>
            <a:off x="4346311" y="2411912"/>
            <a:ext cx="457200" cy="228600"/>
          </a:xfrm>
          <a:prstGeom prst="rect">
            <a:avLst/>
          </a:prstGeom>
          <a:solidFill>
            <a:srgbClr val="00FF99"/>
          </a:solidFill>
          <a:ln w="9525">
            <a:solidFill>
              <a:schemeClr val="tx1"/>
            </a:solidFill>
            <a:miter lim="800000"/>
            <a:headEnd/>
            <a:tailEnd/>
          </a:ln>
          <a:effectLst/>
        </p:spPr>
        <p:txBody>
          <a:bodyPr wrap="none" anchor="ctr"/>
          <a:lstStyle/>
          <a:p>
            <a:endParaRPr lang="zh-CN" altLang="en-US"/>
          </a:p>
        </p:txBody>
      </p:sp>
      <p:sp>
        <p:nvSpPr>
          <p:cNvPr id="31" name="Line 25"/>
          <p:cNvSpPr>
            <a:spLocks noChangeShapeType="1"/>
          </p:cNvSpPr>
          <p:nvPr/>
        </p:nvSpPr>
        <p:spPr bwMode="auto">
          <a:xfrm flipV="1">
            <a:off x="4279567" y="3147654"/>
            <a:ext cx="0" cy="495300"/>
          </a:xfrm>
          <a:prstGeom prst="line">
            <a:avLst/>
          </a:prstGeom>
          <a:noFill/>
          <a:ln w="38100">
            <a:solidFill>
              <a:srgbClr val="000099"/>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Text Box 26"/>
          <p:cNvSpPr txBox="1">
            <a:spLocks noChangeArrowheads="1"/>
          </p:cNvSpPr>
          <p:nvPr/>
        </p:nvSpPr>
        <p:spPr bwMode="auto">
          <a:xfrm>
            <a:off x="4282518" y="3325438"/>
            <a:ext cx="1261884" cy="307777"/>
          </a:xfrm>
          <a:prstGeom prst="rect">
            <a:avLst/>
          </a:prstGeom>
          <a:noFill/>
          <a:ln>
            <a:noFill/>
          </a:ln>
          <a:effectLst/>
        </p:spPr>
        <p:txBody>
          <a:bodyPr wrap="none">
            <a:spAutoFit/>
          </a:bodyPr>
          <a:lstStyle/>
          <a:p>
            <a:pPr algn="l" eaLnBrk="1" hangingPunct="1"/>
            <a:r>
              <a:rPr lang="zh-CN" altLang="en-US" sz="1400" b="1" dirty="0">
                <a:solidFill>
                  <a:srgbClr val="000099"/>
                </a:solidFill>
                <a:effectLst/>
                <a:latin typeface="微软雅黑" pitchFamily="34" charset="-122"/>
                <a:ea typeface="微软雅黑" pitchFamily="34" charset="-122"/>
              </a:rPr>
              <a:t>最大队列长度</a:t>
            </a:r>
            <a:endParaRPr lang="en-US" altLang="zh-TW" sz="1400" b="1" dirty="0">
              <a:solidFill>
                <a:srgbClr val="000099"/>
              </a:solidFill>
              <a:effectLst/>
              <a:latin typeface="微软雅黑" pitchFamily="34" charset="-122"/>
              <a:ea typeface="微软雅黑" pitchFamily="34" charset="-122"/>
            </a:endParaRPr>
          </a:p>
        </p:txBody>
      </p:sp>
      <p:sp>
        <p:nvSpPr>
          <p:cNvPr id="4" name="标题 3">
            <a:extLst>
              <a:ext uri="{FF2B5EF4-FFF2-40B4-BE49-F238E27FC236}">
                <a16:creationId xmlns:a16="http://schemas.microsoft.com/office/drawing/2014/main" id="{6DFDA73C-C3E4-10C7-E297-530F756E8235}"/>
              </a:ext>
            </a:extLst>
          </p:cNvPr>
          <p:cNvSpPr>
            <a:spLocks noGrp="1"/>
          </p:cNvSpPr>
          <p:nvPr>
            <p:ph type="title"/>
          </p:nvPr>
        </p:nvSpPr>
        <p:spPr>
          <a:xfrm>
            <a:off x="2808000" y="144000"/>
            <a:ext cx="3528000" cy="338554"/>
          </a:xfrm>
        </p:spPr>
        <p:txBody>
          <a:bodyPr/>
          <a:lstStyle/>
          <a:p>
            <a:r>
              <a:rPr lang="zh-CN" altLang="en-US" dirty="0"/>
              <a:t>严重问题：全局同步</a:t>
            </a:r>
          </a:p>
        </p:txBody>
      </p:sp>
    </p:spTree>
    <p:extLst>
      <p:ext uri="{BB962C8B-B14F-4D97-AF65-F5344CB8AC3E}">
        <p14:creationId xmlns:p14="http://schemas.microsoft.com/office/powerpoint/2010/main" val="14024507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2000" fill="hold"/>
                                        <p:tgtEl>
                                          <p:spTgt spid="6"/>
                                        </p:tgtEl>
                                        <p:attrNameLst>
                                          <p:attrName>ppt_x</p:attrName>
                                        </p:attrNameLst>
                                      </p:cBhvr>
                                      <p:tavLst>
                                        <p:tav tm="0">
                                          <p:val>
                                            <p:strVal val="0-#ppt_w/2"/>
                                          </p:val>
                                        </p:tav>
                                        <p:tav tm="100000">
                                          <p:val>
                                            <p:strVal val="#ppt_x"/>
                                          </p:val>
                                        </p:tav>
                                      </p:tavLst>
                                    </p:anim>
                                    <p:anim calcmode="lin" valueType="num">
                                      <p:cBhvr additive="base">
                                        <p:cTn id="8" dur="20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2000" fill="hold"/>
                                        <p:tgtEl>
                                          <p:spTgt spid="7"/>
                                        </p:tgtEl>
                                        <p:attrNameLst>
                                          <p:attrName>ppt_x</p:attrName>
                                        </p:attrNameLst>
                                      </p:cBhvr>
                                      <p:tavLst>
                                        <p:tav tm="0">
                                          <p:val>
                                            <p:strVal val="0-#ppt_w/2"/>
                                          </p:val>
                                        </p:tav>
                                        <p:tav tm="100000">
                                          <p:val>
                                            <p:strVal val="#ppt_x"/>
                                          </p:val>
                                        </p:tav>
                                      </p:tavLst>
                                    </p:anim>
                                    <p:anim calcmode="lin" valueType="num">
                                      <p:cBhvr additive="base">
                                        <p:cTn id="12" dur="2000" fill="hold"/>
                                        <p:tgtEl>
                                          <p:spTgt spid="7"/>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2000" fill="hold"/>
                                        <p:tgtEl>
                                          <p:spTgt spid="8"/>
                                        </p:tgtEl>
                                        <p:attrNameLst>
                                          <p:attrName>ppt_x</p:attrName>
                                        </p:attrNameLst>
                                      </p:cBhvr>
                                      <p:tavLst>
                                        <p:tav tm="0">
                                          <p:val>
                                            <p:strVal val="0-#ppt_w/2"/>
                                          </p:val>
                                        </p:tav>
                                        <p:tav tm="100000">
                                          <p:val>
                                            <p:strVal val="#ppt_x"/>
                                          </p:val>
                                        </p:tav>
                                      </p:tavLst>
                                    </p:anim>
                                    <p:anim calcmode="lin" valueType="num">
                                      <p:cBhvr additive="base">
                                        <p:cTn id="16" dur="20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2000" fill="hold"/>
                                        <p:tgtEl>
                                          <p:spTgt spid="9"/>
                                        </p:tgtEl>
                                        <p:attrNameLst>
                                          <p:attrName>ppt_x</p:attrName>
                                        </p:attrNameLst>
                                      </p:cBhvr>
                                      <p:tavLst>
                                        <p:tav tm="0">
                                          <p:val>
                                            <p:strVal val="0-#ppt_w/2"/>
                                          </p:val>
                                        </p:tav>
                                        <p:tav tm="100000">
                                          <p:val>
                                            <p:strVal val="#ppt_x"/>
                                          </p:val>
                                        </p:tav>
                                      </p:tavLst>
                                    </p:anim>
                                    <p:anim calcmode="lin" valueType="num">
                                      <p:cBhvr additive="base">
                                        <p:cTn id="20" dur="2000" fill="hold"/>
                                        <p:tgtEl>
                                          <p:spTgt spid="9"/>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2000" fill="hold"/>
                                        <p:tgtEl>
                                          <p:spTgt spid="10"/>
                                        </p:tgtEl>
                                        <p:attrNameLst>
                                          <p:attrName>ppt_x</p:attrName>
                                        </p:attrNameLst>
                                      </p:cBhvr>
                                      <p:tavLst>
                                        <p:tav tm="0">
                                          <p:val>
                                            <p:strVal val="0-#ppt_w/2"/>
                                          </p:val>
                                        </p:tav>
                                        <p:tav tm="100000">
                                          <p:val>
                                            <p:strVal val="#ppt_x"/>
                                          </p:val>
                                        </p:tav>
                                      </p:tavLst>
                                    </p:anim>
                                    <p:anim calcmode="lin" valueType="num">
                                      <p:cBhvr additive="base">
                                        <p:cTn id="24" dur="20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additive="base">
                                        <p:cTn id="27" dur="2000" fill="hold"/>
                                        <p:tgtEl>
                                          <p:spTgt spid="13"/>
                                        </p:tgtEl>
                                        <p:attrNameLst>
                                          <p:attrName>ppt_x</p:attrName>
                                        </p:attrNameLst>
                                      </p:cBhvr>
                                      <p:tavLst>
                                        <p:tav tm="0">
                                          <p:val>
                                            <p:strVal val="0-#ppt_w/2"/>
                                          </p:val>
                                        </p:tav>
                                        <p:tav tm="100000">
                                          <p:val>
                                            <p:strVal val="#ppt_x"/>
                                          </p:val>
                                        </p:tav>
                                      </p:tavLst>
                                    </p:anim>
                                    <p:anim calcmode="lin" valueType="num">
                                      <p:cBhvr additive="base">
                                        <p:cTn id="28" dur="2000" fill="hold"/>
                                        <p:tgtEl>
                                          <p:spTgt spid="13"/>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2000" fill="hold"/>
                                        <p:tgtEl>
                                          <p:spTgt spid="11"/>
                                        </p:tgtEl>
                                        <p:attrNameLst>
                                          <p:attrName>ppt_x</p:attrName>
                                        </p:attrNameLst>
                                      </p:cBhvr>
                                      <p:tavLst>
                                        <p:tav tm="0">
                                          <p:val>
                                            <p:strVal val="0-#ppt_w/2"/>
                                          </p:val>
                                        </p:tav>
                                        <p:tav tm="100000">
                                          <p:val>
                                            <p:strVal val="#ppt_x"/>
                                          </p:val>
                                        </p:tav>
                                      </p:tavLst>
                                    </p:anim>
                                    <p:anim calcmode="lin" valueType="num">
                                      <p:cBhvr additive="base">
                                        <p:cTn id="32" dur="2000" fill="hold"/>
                                        <p:tgtEl>
                                          <p:spTgt spid="11"/>
                                        </p:tgtEl>
                                        <p:attrNameLst>
                                          <p:attrName>ppt_y</p:attrName>
                                        </p:attrNameLst>
                                      </p:cBhvr>
                                      <p:tavLst>
                                        <p:tav tm="0">
                                          <p:val>
                                            <p:strVal val="#ppt_y"/>
                                          </p:val>
                                        </p:tav>
                                        <p:tav tm="100000">
                                          <p:val>
                                            <p:strVal val="#ppt_y"/>
                                          </p:val>
                                        </p:tav>
                                      </p:tavLst>
                                    </p:anim>
                                  </p:childTnLst>
                                </p:cTn>
                              </p:par>
                              <p:par>
                                <p:cTn id="33" presetID="2" presetClass="entr" presetSubtype="8"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2000" fill="hold"/>
                                        <p:tgtEl>
                                          <p:spTgt spid="14"/>
                                        </p:tgtEl>
                                        <p:attrNameLst>
                                          <p:attrName>ppt_x</p:attrName>
                                        </p:attrNameLst>
                                      </p:cBhvr>
                                      <p:tavLst>
                                        <p:tav tm="0">
                                          <p:val>
                                            <p:strVal val="0-#ppt_w/2"/>
                                          </p:val>
                                        </p:tav>
                                        <p:tav tm="100000">
                                          <p:val>
                                            <p:strVal val="#ppt_x"/>
                                          </p:val>
                                        </p:tav>
                                      </p:tavLst>
                                    </p:anim>
                                    <p:anim calcmode="lin" valueType="num">
                                      <p:cBhvr additive="base">
                                        <p:cTn id="36" dur="2000" fill="hold"/>
                                        <p:tgtEl>
                                          <p:spTgt spid="14"/>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2000" fill="hold"/>
                                        <p:tgtEl>
                                          <p:spTgt spid="12"/>
                                        </p:tgtEl>
                                        <p:attrNameLst>
                                          <p:attrName>ppt_x</p:attrName>
                                        </p:attrNameLst>
                                      </p:cBhvr>
                                      <p:tavLst>
                                        <p:tav tm="0">
                                          <p:val>
                                            <p:strVal val="0-#ppt_w/2"/>
                                          </p:val>
                                        </p:tav>
                                        <p:tav tm="100000">
                                          <p:val>
                                            <p:strVal val="#ppt_x"/>
                                          </p:val>
                                        </p:tav>
                                      </p:tavLst>
                                    </p:anim>
                                    <p:anim calcmode="lin" valueType="num">
                                      <p:cBhvr additive="base">
                                        <p:cTn id="40" dur="2000" fill="hold"/>
                                        <p:tgtEl>
                                          <p:spTgt spid="12"/>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2000" fill="hold"/>
                                        <p:tgtEl>
                                          <p:spTgt spid="15"/>
                                        </p:tgtEl>
                                        <p:attrNameLst>
                                          <p:attrName>ppt_x</p:attrName>
                                        </p:attrNameLst>
                                      </p:cBhvr>
                                      <p:tavLst>
                                        <p:tav tm="0">
                                          <p:val>
                                            <p:strVal val="0-#ppt_w/2"/>
                                          </p:val>
                                        </p:tav>
                                        <p:tav tm="100000">
                                          <p:val>
                                            <p:strVal val="#ppt_x"/>
                                          </p:val>
                                        </p:tav>
                                      </p:tavLst>
                                    </p:anim>
                                    <p:anim calcmode="lin" valueType="num">
                                      <p:cBhvr additive="base">
                                        <p:cTn id="44" dur="2000" fill="hold"/>
                                        <p:tgtEl>
                                          <p:spTgt spid="15"/>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 calcmode="lin" valueType="num">
                                      <p:cBhvr additive="base">
                                        <p:cTn id="47" dur="2000" fill="hold"/>
                                        <p:tgtEl>
                                          <p:spTgt spid="25"/>
                                        </p:tgtEl>
                                        <p:attrNameLst>
                                          <p:attrName>ppt_x</p:attrName>
                                        </p:attrNameLst>
                                      </p:cBhvr>
                                      <p:tavLst>
                                        <p:tav tm="0">
                                          <p:val>
                                            <p:strVal val="0-#ppt_w/2"/>
                                          </p:val>
                                        </p:tav>
                                        <p:tav tm="100000">
                                          <p:val>
                                            <p:strVal val="#ppt_x"/>
                                          </p:val>
                                        </p:tav>
                                      </p:tavLst>
                                    </p:anim>
                                    <p:anim calcmode="lin" valueType="num">
                                      <p:cBhvr additive="base">
                                        <p:cTn id="48" dur="2000" fill="hold"/>
                                        <p:tgtEl>
                                          <p:spTgt spid="2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 calcmode="lin" valueType="num">
                                      <p:cBhvr additive="base">
                                        <p:cTn id="51" dur="2000" fill="hold"/>
                                        <p:tgtEl>
                                          <p:spTgt spid="23"/>
                                        </p:tgtEl>
                                        <p:attrNameLst>
                                          <p:attrName>ppt_x</p:attrName>
                                        </p:attrNameLst>
                                      </p:cBhvr>
                                      <p:tavLst>
                                        <p:tav tm="0">
                                          <p:val>
                                            <p:strVal val="0-#ppt_w/2"/>
                                          </p:val>
                                        </p:tav>
                                        <p:tav tm="100000">
                                          <p:val>
                                            <p:strVal val="#ppt_x"/>
                                          </p:val>
                                        </p:tav>
                                      </p:tavLst>
                                    </p:anim>
                                    <p:anim calcmode="lin" valueType="num">
                                      <p:cBhvr additive="base">
                                        <p:cTn id="52" dur="2000" fill="hold"/>
                                        <p:tgtEl>
                                          <p:spTgt spid="23"/>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2000" fill="hold"/>
                                        <p:tgtEl>
                                          <p:spTgt spid="24"/>
                                        </p:tgtEl>
                                        <p:attrNameLst>
                                          <p:attrName>ppt_x</p:attrName>
                                        </p:attrNameLst>
                                      </p:cBhvr>
                                      <p:tavLst>
                                        <p:tav tm="0">
                                          <p:val>
                                            <p:strVal val="0-#ppt_w/2"/>
                                          </p:val>
                                        </p:tav>
                                        <p:tav tm="100000">
                                          <p:val>
                                            <p:strVal val="#ppt_x"/>
                                          </p:val>
                                        </p:tav>
                                      </p:tavLst>
                                    </p:anim>
                                    <p:anim calcmode="lin" valueType="num">
                                      <p:cBhvr additive="base">
                                        <p:cTn id="56" dur="20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6"/>
                                        </p:tgtEl>
                                        <p:attrNameLst>
                                          <p:attrName>style.visibility</p:attrName>
                                        </p:attrNameLst>
                                      </p:cBhvr>
                                      <p:to>
                                        <p:strVal val="visible"/>
                                      </p:to>
                                    </p:set>
                                    <p:anim calcmode="lin" valueType="num">
                                      <p:cBhvr additive="base">
                                        <p:cTn id="59" dur="2000" fill="hold"/>
                                        <p:tgtEl>
                                          <p:spTgt spid="26"/>
                                        </p:tgtEl>
                                        <p:attrNameLst>
                                          <p:attrName>ppt_x</p:attrName>
                                        </p:attrNameLst>
                                      </p:cBhvr>
                                      <p:tavLst>
                                        <p:tav tm="0">
                                          <p:val>
                                            <p:strVal val="0-#ppt_w/2"/>
                                          </p:val>
                                        </p:tav>
                                        <p:tav tm="100000">
                                          <p:val>
                                            <p:strVal val="#ppt_x"/>
                                          </p:val>
                                        </p:tav>
                                      </p:tavLst>
                                    </p:anim>
                                    <p:anim calcmode="lin" valueType="num">
                                      <p:cBhvr additive="base">
                                        <p:cTn id="60" dur="2000" fill="hold"/>
                                        <p:tgtEl>
                                          <p:spTgt spid="26"/>
                                        </p:tgtEl>
                                        <p:attrNameLst>
                                          <p:attrName>ppt_y</p:attrName>
                                        </p:attrNameLst>
                                      </p:cBhvr>
                                      <p:tavLst>
                                        <p:tav tm="0">
                                          <p:val>
                                            <p:strVal val="#ppt_y"/>
                                          </p:val>
                                        </p:tav>
                                        <p:tav tm="100000">
                                          <p:val>
                                            <p:strVal val="#ppt_y"/>
                                          </p:val>
                                        </p:tav>
                                      </p:tavLst>
                                    </p:anim>
                                  </p:childTnLst>
                                </p:cTn>
                              </p:par>
                            </p:childTnLst>
                          </p:cTn>
                        </p:par>
                        <p:par>
                          <p:cTn id="61" fill="hold">
                            <p:stCondLst>
                              <p:cond delay="2000"/>
                            </p:stCondLst>
                            <p:childTnLst>
                              <p:par>
                                <p:cTn id="62" presetID="2" presetClass="exit" presetSubtype="4" fill="hold" grpId="1" nodeType="afterEffect">
                                  <p:stCondLst>
                                    <p:cond delay="1000"/>
                                  </p:stCondLst>
                                  <p:childTnLst>
                                    <p:anim calcmode="lin" valueType="num">
                                      <p:cBhvr additive="base">
                                        <p:cTn id="63" dur="2000"/>
                                        <p:tgtEl>
                                          <p:spTgt spid="10"/>
                                        </p:tgtEl>
                                        <p:attrNameLst>
                                          <p:attrName>ppt_x</p:attrName>
                                        </p:attrNameLst>
                                      </p:cBhvr>
                                      <p:tavLst>
                                        <p:tav tm="0">
                                          <p:val>
                                            <p:strVal val="ppt_x"/>
                                          </p:val>
                                        </p:tav>
                                        <p:tav tm="100000">
                                          <p:val>
                                            <p:strVal val="ppt_x"/>
                                          </p:val>
                                        </p:tav>
                                      </p:tavLst>
                                    </p:anim>
                                    <p:anim calcmode="lin" valueType="num">
                                      <p:cBhvr additive="base">
                                        <p:cTn id="64" dur="2000"/>
                                        <p:tgtEl>
                                          <p:spTgt spid="10"/>
                                        </p:tgtEl>
                                        <p:attrNameLst>
                                          <p:attrName>ppt_y</p:attrName>
                                        </p:attrNameLst>
                                      </p:cBhvr>
                                      <p:tavLst>
                                        <p:tav tm="0">
                                          <p:val>
                                            <p:strVal val="ppt_y"/>
                                          </p:val>
                                        </p:tav>
                                        <p:tav tm="100000">
                                          <p:val>
                                            <p:strVal val="1+ppt_h/2"/>
                                          </p:val>
                                        </p:tav>
                                      </p:tavLst>
                                    </p:anim>
                                    <p:set>
                                      <p:cBhvr>
                                        <p:cTn id="65" dur="1" fill="hold">
                                          <p:stCondLst>
                                            <p:cond delay="1999"/>
                                          </p:stCondLst>
                                        </p:cTn>
                                        <p:tgtEl>
                                          <p:spTgt spid="10"/>
                                        </p:tgtEl>
                                        <p:attrNameLst>
                                          <p:attrName>style.visibility</p:attrName>
                                        </p:attrNameLst>
                                      </p:cBhvr>
                                      <p:to>
                                        <p:strVal val="hidden"/>
                                      </p:to>
                                    </p:set>
                                  </p:childTnLst>
                                </p:cTn>
                              </p:par>
                              <p:par>
                                <p:cTn id="66" presetID="2" presetClass="exit" presetSubtype="4" fill="hold" grpId="1" nodeType="withEffect">
                                  <p:stCondLst>
                                    <p:cond delay="1000"/>
                                  </p:stCondLst>
                                  <p:childTnLst>
                                    <p:anim calcmode="lin" valueType="num">
                                      <p:cBhvr additive="base">
                                        <p:cTn id="67" dur="2000"/>
                                        <p:tgtEl>
                                          <p:spTgt spid="13"/>
                                        </p:tgtEl>
                                        <p:attrNameLst>
                                          <p:attrName>ppt_x</p:attrName>
                                        </p:attrNameLst>
                                      </p:cBhvr>
                                      <p:tavLst>
                                        <p:tav tm="0">
                                          <p:val>
                                            <p:strVal val="ppt_x"/>
                                          </p:val>
                                        </p:tav>
                                        <p:tav tm="100000">
                                          <p:val>
                                            <p:strVal val="ppt_x"/>
                                          </p:val>
                                        </p:tav>
                                      </p:tavLst>
                                    </p:anim>
                                    <p:anim calcmode="lin" valueType="num">
                                      <p:cBhvr additive="base">
                                        <p:cTn id="68" dur="2000"/>
                                        <p:tgtEl>
                                          <p:spTgt spid="13"/>
                                        </p:tgtEl>
                                        <p:attrNameLst>
                                          <p:attrName>ppt_y</p:attrName>
                                        </p:attrNameLst>
                                      </p:cBhvr>
                                      <p:tavLst>
                                        <p:tav tm="0">
                                          <p:val>
                                            <p:strVal val="ppt_y"/>
                                          </p:val>
                                        </p:tav>
                                        <p:tav tm="100000">
                                          <p:val>
                                            <p:strVal val="1+ppt_h/2"/>
                                          </p:val>
                                        </p:tav>
                                      </p:tavLst>
                                    </p:anim>
                                    <p:set>
                                      <p:cBhvr>
                                        <p:cTn id="69" dur="1" fill="hold">
                                          <p:stCondLst>
                                            <p:cond delay="1999"/>
                                          </p:stCondLst>
                                        </p:cTn>
                                        <p:tgtEl>
                                          <p:spTgt spid="13"/>
                                        </p:tgtEl>
                                        <p:attrNameLst>
                                          <p:attrName>style.visibility</p:attrName>
                                        </p:attrNameLst>
                                      </p:cBhvr>
                                      <p:to>
                                        <p:strVal val="hidden"/>
                                      </p:to>
                                    </p:set>
                                  </p:childTnLst>
                                </p:cTn>
                              </p:par>
                              <p:par>
                                <p:cTn id="70" presetID="2" presetClass="exit" presetSubtype="4" fill="hold" grpId="1" nodeType="withEffect">
                                  <p:stCondLst>
                                    <p:cond delay="1000"/>
                                  </p:stCondLst>
                                  <p:childTnLst>
                                    <p:anim calcmode="lin" valueType="num">
                                      <p:cBhvr additive="base">
                                        <p:cTn id="71" dur="2000"/>
                                        <p:tgtEl>
                                          <p:spTgt spid="11"/>
                                        </p:tgtEl>
                                        <p:attrNameLst>
                                          <p:attrName>ppt_x</p:attrName>
                                        </p:attrNameLst>
                                      </p:cBhvr>
                                      <p:tavLst>
                                        <p:tav tm="0">
                                          <p:val>
                                            <p:strVal val="ppt_x"/>
                                          </p:val>
                                        </p:tav>
                                        <p:tav tm="100000">
                                          <p:val>
                                            <p:strVal val="ppt_x"/>
                                          </p:val>
                                        </p:tav>
                                      </p:tavLst>
                                    </p:anim>
                                    <p:anim calcmode="lin" valueType="num">
                                      <p:cBhvr additive="base">
                                        <p:cTn id="72" dur="2000"/>
                                        <p:tgtEl>
                                          <p:spTgt spid="11"/>
                                        </p:tgtEl>
                                        <p:attrNameLst>
                                          <p:attrName>ppt_y</p:attrName>
                                        </p:attrNameLst>
                                      </p:cBhvr>
                                      <p:tavLst>
                                        <p:tav tm="0">
                                          <p:val>
                                            <p:strVal val="ppt_y"/>
                                          </p:val>
                                        </p:tav>
                                        <p:tav tm="100000">
                                          <p:val>
                                            <p:strVal val="1+ppt_h/2"/>
                                          </p:val>
                                        </p:tav>
                                      </p:tavLst>
                                    </p:anim>
                                    <p:set>
                                      <p:cBhvr>
                                        <p:cTn id="73" dur="1" fill="hold">
                                          <p:stCondLst>
                                            <p:cond delay="1999"/>
                                          </p:stCondLst>
                                        </p:cTn>
                                        <p:tgtEl>
                                          <p:spTgt spid="11"/>
                                        </p:tgtEl>
                                        <p:attrNameLst>
                                          <p:attrName>style.visibility</p:attrName>
                                        </p:attrNameLst>
                                      </p:cBhvr>
                                      <p:to>
                                        <p:strVal val="hidden"/>
                                      </p:to>
                                    </p:set>
                                  </p:childTnLst>
                                </p:cTn>
                              </p:par>
                              <p:par>
                                <p:cTn id="74" presetID="2" presetClass="exit" presetSubtype="4" fill="hold" grpId="1" nodeType="withEffect">
                                  <p:stCondLst>
                                    <p:cond delay="1000"/>
                                  </p:stCondLst>
                                  <p:childTnLst>
                                    <p:anim calcmode="lin" valueType="num">
                                      <p:cBhvr additive="base">
                                        <p:cTn id="75" dur="2000"/>
                                        <p:tgtEl>
                                          <p:spTgt spid="14"/>
                                        </p:tgtEl>
                                        <p:attrNameLst>
                                          <p:attrName>ppt_x</p:attrName>
                                        </p:attrNameLst>
                                      </p:cBhvr>
                                      <p:tavLst>
                                        <p:tav tm="0">
                                          <p:val>
                                            <p:strVal val="ppt_x"/>
                                          </p:val>
                                        </p:tav>
                                        <p:tav tm="100000">
                                          <p:val>
                                            <p:strVal val="ppt_x"/>
                                          </p:val>
                                        </p:tav>
                                      </p:tavLst>
                                    </p:anim>
                                    <p:anim calcmode="lin" valueType="num">
                                      <p:cBhvr additive="base">
                                        <p:cTn id="76" dur="2000"/>
                                        <p:tgtEl>
                                          <p:spTgt spid="14"/>
                                        </p:tgtEl>
                                        <p:attrNameLst>
                                          <p:attrName>ppt_y</p:attrName>
                                        </p:attrNameLst>
                                      </p:cBhvr>
                                      <p:tavLst>
                                        <p:tav tm="0">
                                          <p:val>
                                            <p:strVal val="ppt_y"/>
                                          </p:val>
                                        </p:tav>
                                        <p:tav tm="100000">
                                          <p:val>
                                            <p:strVal val="1+ppt_h/2"/>
                                          </p:val>
                                        </p:tav>
                                      </p:tavLst>
                                    </p:anim>
                                    <p:set>
                                      <p:cBhvr>
                                        <p:cTn id="77" dur="1" fill="hold">
                                          <p:stCondLst>
                                            <p:cond delay="1999"/>
                                          </p:stCondLst>
                                        </p:cTn>
                                        <p:tgtEl>
                                          <p:spTgt spid="14"/>
                                        </p:tgtEl>
                                        <p:attrNameLst>
                                          <p:attrName>style.visibility</p:attrName>
                                        </p:attrNameLst>
                                      </p:cBhvr>
                                      <p:to>
                                        <p:strVal val="hidden"/>
                                      </p:to>
                                    </p:set>
                                  </p:childTnLst>
                                </p:cTn>
                              </p:par>
                              <p:par>
                                <p:cTn id="78" presetID="2" presetClass="exit" presetSubtype="4" fill="hold" grpId="1" nodeType="withEffect">
                                  <p:stCondLst>
                                    <p:cond delay="1000"/>
                                  </p:stCondLst>
                                  <p:childTnLst>
                                    <p:anim calcmode="lin" valueType="num">
                                      <p:cBhvr additive="base">
                                        <p:cTn id="79" dur="2000"/>
                                        <p:tgtEl>
                                          <p:spTgt spid="12"/>
                                        </p:tgtEl>
                                        <p:attrNameLst>
                                          <p:attrName>ppt_x</p:attrName>
                                        </p:attrNameLst>
                                      </p:cBhvr>
                                      <p:tavLst>
                                        <p:tav tm="0">
                                          <p:val>
                                            <p:strVal val="ppt_x"/>
                                          </p:val>
                                        </p:tav>
                                        <p:tav tm="100000">
                                          <p:val>
                                            <p:strVal val="ppt_x"/>
                                          </p:val>
                                        </p:tav>
                                      </p:tavLst>
                                    </p:anim>
                                    <p:anim calcmode="lin" valueType="num">
                                      <p:cBhvr additive="base">
                                        <p:cTn id="80" dur="2000"/>
                                        <p:tgtEl>
                                          <p:spTgt spid="12"/>
                                        </p:tgtEl>
                                        <p:attrNameLst>
                                          <p:attrName>ppt_y</p:attrName>
                                        </p:attrNameLst>
                                      </p:cBhvr>
                                      <p:tavLst>
                                        <p:tav tm="0">
                                          <p:val>
                                            <p:strVal val="ppt_y"/>
                                          </p:val>
                                        </p:tav>
                                        <p:tav tm="100000">
                                          <p:val>
                                            <p:strVal val="1+ppt_h/2"/>
                                          </p:val>
                                        </p:tav>
                                      </p:tavLst>
                                    </p:anim>
                                    <p:set>
                                      <p:cBhvr>
                                        <p:cTn id="81" dur="1" fill="hold">
                                          <p:stCondLst>
                                            <p:cond delay="1999"/>
                                          </p:stCondLst>
                                        </p:cTn>
                                        <p:tgtEl>
                                          <p:spTgt spid="12"/>
                                        </p:tgtEl>
                                        <p:attrNameLst>
                                          <p:attrName>style.visibility</p:attrName>
                                        </p:attrNameLst>
                                      </p:cBhvr>
                                      <p:to>
                                        <p:strVal val="hidden"/>
                                      </p:to>
                                    </p:set>
                                  </p:childTnLst>
                                </p:cTn>
                              </p:par>
                              <p:par>
                                <p:cTn id="82" presetID="2" presetClass="exit" presetSubtype="4" fill="hold" grpId="1" nodeType="withEffect">
                                  <p:stCondLst>
                                    <p:cond delay="1000"/>
                                  </p:stCondLst>
                                  <p:childTnLst>
                                    <p:anim calcmode="lin" valueType="num">
                                      <p:cBhvr additive="base">
                                        <p:cTn id="83" dur="2000"/>
                                        <p:tgtEl>
                                          <p:spTgt spid="15"/>
                                        </p:tgtEl>
                                        <p:attrNameLst>
                                          <p:attrName>ppt_x</p:attrName>
                                        </p:attrNameLst>
                                      </p:cBhvr>
                                      <p:tavLst>
                                        <p:tav tm="0">
                                          <p:val>
                                            <p:strVal val="ppt_x"/>
                                          </p:val>
                                        </p:tav>
                                        <p:tav tm="100000">
                                          <p:val>
                                            <p:strVal val="ppt_x"/>
                                          </p:val>
                                        </p:tav>
                                      </p:tavLst>
                                    </p:anim>
                                    <p:anim calcmode="lin" valueType="num">
                                      <p:cBhvr additive="base">
                                        <p:cTn id="84" dur="2000"/>
                                        <p:tgtEl>
                                          <p:spTgt spid="15"/>
                                        </p:tgtEl>
                                        <p:attrNameLst>
                                          <p:attrName>ppt_y</p:attrName>
                                        </p:attrNameLst>
                                      </p:cBhvr>
                                      <p:tavLst>
                                        <p:tav tm="0">
                                          <p:val>
                                            <p:strVal val="ppt_y"/>
                                          </p:val>
                                        </p:tav>
                                        <p:tav tm="100000">
                                          <p:val>
                                            <p:strVal val="1+ppt_h/2"/>
                                          </p:val>
                                        </p:tav>
                                      </p:tavLst>
                                    </p:anim>
                                    <p:set>
                                      <p:cBhvr>
                                        <p:cTn id="85" dur="1" fill="hold">
                                          <p:stCondLst>
                                            <p:cond delay="1999"/>
                                          </p:stCondLst>
                                        </p:cTn>
                                        <p:tgtEl>
                                          <p:spTgt spid="15"/>
                                        </p:tgtEl>
                                        <p:attrNameLst>
                                          <p:attrName>style.visibility</p:attrName>
                                        </p:attrNameLst>
                                      </p:cBhvr>
                                      <p:to>
                                        <p:strVal val="hidden"/>
                                      </p:to>
                                    </p:set>
                                  </p:childTnLst>
                                </p:cTn>
                              </p:par>
                              <p:par>
                                <p:cTn id="86" presetID="2" presetClass="exit" presetSubtype="4" fill="hold" grpId="1" nodeType="withEffect">
                                  <p:stCondLst>
                                    <p:cond delay="1000"/>
                                  </p:stCondLst>
                                  <p:childTnLst>
                                    <p:anim calcmode="lin" valueType="num">
                                      <p:cBhvr additive="base">
                                        <p:cTn id="87" dur="2000"/>
                                        <p:tgtEl>
                                          <p:spTgt spid="25"/>
                                        </p:tgtEl>
                                        <p:attrNameLst>
                                          <p:attrName>ppt_x</p:attrName>
                                        </p:attrNameLst>
                                      </p:cBhvr>
                                      <p:tavLst>
                                        <p:tav tm="0">
                                          <p:val>
                                            <p:strVal val="ppt_x"/>
                                          </p:val>
                                        </p:tav>
                                        <p:tav tm="100000">
                                          <p:val>
                                            <p:strVal val="ppt_x"/>
                                          </p:val>
                                        </p:tav>
                                      </p:tavLst>
                                    </p:anim>
                                    <p:anim calcmode="lin" valueType="num">
                                      <p:cBhvr additive="base">
                                        <p:cTn id="88" dur="2000"/>
                                        <p:tgtEl>
                                          <p:spTgt spid="25"/>
                                        </p:tgtEl>
                                        <p:attrNameLst>
                                          <p:attrName>ppt_y</p:attrName>
                                        </p:attrNameLst>
                                      </p:cBhvr>
                                      <p:tavLst>
                                        <p:tav tm="0">
                                          <p:val>
                                            <p:strVal val="ppt_y"/>
                                          </p:val>
                                        </p:tav>
                                        <p:tav tm="100000">
                                          <p:val>
                                            <p:strVal val="1+ppt_h/2"/>
                                          </p:val>
                                        </p:tav>
                                      </p:tavLst>
                                    </p:anim>
                                    <p:set>
                                      <p:cBhvr>
                                        <p:cTn id="89" dur="1" fill="hold">
                                          <p:stCondLst>
                                            <p:cond delay="1999"/>
                                          </p:stCondLst>
                                        </p:cTn>
                                        <p:tgtEl>
                                          <p:spTgt spid="25"/>
                                        </p:tgtEl>
                                        <p:attrNameLst>
                                          <p:attrName>style.visibility</p:attrName>
                                        </p:attrNameLst>
                                      </p:cBhvr>
                                      <p:to>
                                        <p:strVal val="hidden"/>
                                      </p:to>
                                    </p:set>
                                  </p:childTnLst>
                                </p:cTn>
                              </p:par>
                              <p:par>
                                <p:cTn id="90" presetID="2" presetClass="exit" presetSubtype="4" fill="hold" grpId="1" nodeType="withEffect">
                                  <p:stCondLst>
                                    <p:cond delay="1000"/>
                                  </p:stCondLst>
                                  <p:childTnLst>
                                    <p:anim calcmode="lin" valueType="num">
                                      <p:cBhvr additive="base">
                                        <p:cTn id="91" dur="2000"/>
                                        <p:tgtEl>
                                          <p:spTgt spid="23"/>
                                        </p:tgtEl>
                                        <p:attrNameLst>
                                          <p:attrName>ppt_x</p:attrName>
                                        </p:attrNameLst>
                                      </p:cBhvr>
                                      <p:tavLst>
                                        <p:tav tm="0">
                                          <p:val>
                                            <p:strVal val="ppt_x"/>
                                          </p:val>
                                        </p:tav>
                                        <p:tav tm="100000">
                                          <p:val>
                                            <p:strVal val="ppt_x"/>
                                          </p:val>
                                        </p:tav>
                                      </p:tavLst>
                                    </p:anim>
                                    <p:anim calcmode="lin" valueType="num">
                                      <p:cBhvr additive="base">
                                        <p:cTn id="92" dur="2000"/>
                                        <p:tgtEl>
                                          <p:spTgt spid="23"/>
                                        </p:tgtEl>
                                        <p:attrNameLst>
                                          <p:attrName>ppt_y</p:attrName>
                                        </p:attrNameLst>
                                      </p:cBhvr>
                                      <p:tavLst>
                                        <p:tav tm="0">
                                          <p:val>
                                            <p:strVal val="ppt_y"/>
                                          </p:val>
                                        </p:tav>
                                        <p:tav tm="100000">
                                          <p:val>
                                            <p:strVal val="1+ppt_h/2"/>
                                          </p:val>
                                        </p:tav>
                                      </p:tavLst>
                                    </p:anim>
                                    <p:set>
                                      <p:cBhvr>
                                        <p:cTn id="93" dur="1" fill="hold">
                                          <p:stCondLst>
                                            <p:cond delay="1999"/>
                                          </p:stCondLst>
                                        </p:cTn>
                                        <p:tgtEl>
                                          <p:spTgt spid="23"/>
                                        </p:tgtEl>
                                        <p:attrNameLst>
                                          <p:attrName>style.visibility</p:attrName>
                                        </p:attrNameLst>
                                      </p:cBhvr>
                                      <p:to>
                                        <p:strVal val="hidden"/>
                                      </p:to>
                                    </p:set>
                                  </p:childTnLst>
                                </p:cTn>
                              </p:par>
                              <p:par>
                                <p:cTn id="94" presetID="2" presetClass="exit" presetSubtype="4" fill="hold" grpId="1" nodeType="withEffect">
                                  <p:stCondLst>
                                    <p:cond delay="1000"/>
                                  </p:stCondLst>
                                  <p:childTnLst>
                                    <p:anim calcmode="lin" valueType="num">
                                      <p:cBhvr additive="base">
                                        <p:cTn id="95" dur="2000"/>
                                        <p:tgtEl>
                                          <p:spTgt spid="24"/>
                                        </p:tgtEl>
                                        <p:attrNameLst>
                                          <p:attrName>ppt_x</p:attrName>
                                        </p:attrNameLst>
                                      </p:cBhvr>
                                      <p:tavLst>
                                        <p:tav tm="0">
                                          <p:val>
                                            <p:strVal val="ppt_x"/>
                                          </p:val>
                                        </p:tav>
                                        <p:tav tm="100000">
                                          <p:val>
                                            <p:strVal val="ppt_x"/>
                                          </p:val>
                                        </p:tav>
                                      </p:tavLst>
                                    </p:anim>
                                    <p:anim calcmode="lin" valueType="num">
                                      <p:cBhvr additive="base">
                                        <p:cTn id="96" dur="2000"/>
                                        <p:tgtEl>
                                          <p:spTgt spid="24"/>
                                        </p:tgtEl>
                                        <p:attrNameLst>
                                          <p:attrName>ppt_y</p:attrName>
                                        </p:attrNameLst>
                                      </p:cBhvr>
                                      <p:tavLst>
                                        <p:tav tm="0">
                                          <p:val>
                                            <p:strVal val="ppt_y"/>
                                          </p:val>
                                        </p:tav>
                                        <p:tav tm="100000">
                                          <p:val>
                                            <p:strVal val="1+ppt_h/2"/>
                                          </p:val>
                                        </p:tav>
                                      </p:tavLst>
                                    </p:anim>
                                    <p:set>
                                      <p:cBhvr>
                                        <p:cTn id="97" dur="1" fill="hold">
                                          <p:stCondLst>
                                            <p:cond delay="1999"/>
                                          </p:stCondLst>
                                        </p:cTn>
                                        <p:tgtEl>
                                          <p:spTgt spid="24"/>
                                        </p:tgtEl>
                                        <p:attrNameLst>
                                          <p:attrName>style.visibility</p:attrName>
                                        </p:attrNameLst>
                                      </p:cBhvr>
                                      <p:to>
                                        <p:strVal val="hidden"/>
                                      </p:to>
                                    </p:set>
                                  </p:childTnLst>
                                </p:cTn>
                              </p:par>
                              <p:par>
                                <p:cTn id="98" presetID="2" presetClass="exit" presetSubtype="4" fill="hold" grpId="1" nodeType="withEffect">
                                  <p:stCondLst>
                                    <p:cond delay="1000"/>
                                  </p:stCondLst>
                                  <p:childTnLst>
                                    <p:anim calcmode="lin" valueType="num">
                                      <p:cBhvr additive="base">
                                        <p:cTn id="99" dur="2000"/>
                                        <p:tgtEl>
                                          <p:spTgt spid="26"/>
                                        </p:tgtEl>
                                        <p:attrNameLst>
                                          <p:attrName>ppt_x</p:attrName>
                                        </p:attrNameLst>
                                      </p:cBhvr>
                                      <p:tavLst>
                                        <p:tav tm="0">
                                          <p:val>
                                            <p:strVal val="ppt_x"/>
                                          </p:val>
                                        </p:tav>
                                        <p:tav tm="100000">
                                          <p:val>
                                            <p:strVal val="ppt_x"/>
                                          </p:val>
                                        </p:tav>
                                      </p:tavLst>
                                    </p:anim>
                                    <p:anim calcmode="lin" valueType="num">
                                      <p:cBhvr additive="base">
                                        <p:cTn id="100" dur="2000"/>
                                        <p:tgtEl>
                                          <p:spTgt spid="26"/>
                                        </p:tgtEl>
                                        <p:attrNameLst>
                                          <p:attrName>ppt_y</p:attrName>
                                        </p:attrNameLst>
                                      </p:cBhvr>
                                      <p:tavLst>
                                        <p:tav tm="0">
                                          <p:val>
                                            <p:strVal val="ppt_y"/>
                                          </p:val>
                                        </p:tav>
                                        <p:tav tm="100000">
                                          <p:val>
                                            <p:strVal val="1+ppt_h/2"/>
                                          </p:val>
                                        </p:tav>
                                      </p:tavLst>
                                    </p:anim>
                                    <p:set>
                                      <p:cBhvr>
                                        <p:cTn id="101" dur="1" fill="hold">
                                          <p:stCondLst>
                                            <p:cond delay="1999"/>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23" grpId="0" animBg="1"/>
      <p:bldP spid="23" grpId="1" animBg="1"/>
      <p:bldP spid="24" grpId="0" animBg="1"/>
      <p:bldP spid="24" grpId="1" animBg="1"/>
      <p:bldP spid="25" grpId="0" animBg="1"/>
      <p:bldP spid="25" grpId="1" animBg="1"/>
      <p:bldP spid="26" grpId="0" animBg="1"/>
      <p:bldP spid="26" grpId="1" animBg="1"/>
      <p:bldP spid="6" grpId="0" animBg="1"/>
      <p:bldP spid="7" grpId="0" animBg="1"/>
      <p:bldP spid="8" grpId="0" animBg="1"/>
      <p:bldP spid="9" grpId="0" animBg="1"/>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1212560" y="1098905"/>
            <a:ext cx="6777445" cy="605294"/>
          </a:xfrm>
          <a:prstGeom prst="rect">
            <a:avLst/>
          </a:prstGeom>
          <a:solidFill>
            <a:srgbClr val="000099"/>
          </a:solidFill>
        </p:spPr>
        <p:txBody>
          <a:bodyPr wrap="square" anchor="ctr">
            <a:spAutoFit/>
          </a:bodyPr>
          <a:lstStyle/>
          <a:p>
            <a:pPr algn="ctr">
              <a:lnSpc>
                <a:spcPts val="2000"/>
              </a:lnSpc>
            </a:pPr>
            <a:r>
              <a:rPr lang="zh-CN" altLang="en-US" sz="1600" b="1" dirty="0">
                <a:solidFill>
                  <a:schemeClr val="bg1"/>
                </a:solidFill>
                <a:latin typeface="微软雅黑" pitchFamily="34" charset="-122"/>
                <a:ea typeface="微软雅黑" pitchFamily="34" charset="-122"/>
              </a:rPr>
              <a:t>分组丢弃使发送方出现超时重传，使多个 </a:t>
            </a:r>
            <a:r>
              <a:rPr lang="en-US" altLang="zh-CN" sz="1600" b="1" dirty="0">
                <a:solidFill>
                  <a:schemeClr val="bg1"/>
                </a:solidFill>
                <a:latin typeface="微软雅黑" pitchFamily="34" charset="-122"/>
                <a:ea typeface="微软雅黑" pitchFamily="34" charset="-122"/>
              </a:rPr>
              <a:t>TCP </a:t>
            </a:r>
            <a:r>
              <a:rPr lang="zh-CN" altLang="en-US" sz="1600" b="1" dirty="0">
                <a:solidFill>
                  <a:schemeClr val="bg1"/>
                </a:solidFill>
                <a:latin typeface="微软雅黑" pitchFamily="34" charset="-122"/>
                <a:ea typeface="微软雅黑" pitchFamily="34" charset="-122"/>
              </a:rPr>
              <a:t>连接</a:t>
            </a:r>
            <a:r>
              <a:rPr lang="zh-CN" altLang="en-US" sz="1600" b="1" dirty="0">
                <a:solidFill>
                  <a:srgbClr val="FFC000"/>
                </a:solidFill>
                <a:latin typeface="微软雅黑" pitchFamily="34" charset="-122"/>
                <a:ea typeface="微软雅黑" pitchFamily="34" charset="-122"/>
              </a:rPr>
              <a:t>同时</a:t>
            </a:r>
            <a:r>
              <a:rPr lang="zh-CN" altLang="en-US" sz="1600" b="1" dirty="0">
                <a:solidFill>
                  <a:schemeClr val="bg1"/>
                </a:solidFill>
                <a:latin typeface="微软雅黑" pitchFamily="34" charset="-122"/>
                <a:ea typeface="微软雅黑" pitchFamily="34" charset="-122"/>
              </a:rPr>
              <a:t>进入慢开始状态，</a:t>
            </a:r>
            <a:endParaRPr lang="en-US" altLang="zh-CN" sz="1600" b="1" dirty="0">
              <a:solidFill>
                <a:schemeClr val="bg1"/>
              </a:solidFill>
              <a:latin typeface="微软雅黑" pitchFamily="34" charset="-122"/>
              <a:ea typeface="微软雅黑" pitchFamily="34" charset="-122"/>
            </a:endParaRPr>
          </a:p>
          <a:p>
            <a:pPr algn="ctr">
              <a:lnSpc>
                <a:spcPts val="2000"/>
              </a:lnSpc>
            </a:pPr>
            <a:r>
              <a:rPr lang="zh-CN" altLang="en-US" sz="1600" b="1" dirty="0">
                <a:solidFill>
                  <a:schemeClr val="bg1"/>
                </a:solidFill>
                <a:latin typeface="微软雅黑" pitchFamily="34" charset="-122"/>
                <a:ea typeface="微软雅黑" pitchFamily="34" charset="-122"/>
              </a:rPr>
              <a:t>发生</a:t>
            </a:r>
            <a:r>
              <a:rPr lang="zh-CN" altLang="en-US" sz="1600" b="1" dirty="0">
                <a:solidFill>
                  <a:srgbClr val="FFC000"/>
                </a:solidFill>
                <a:latin typeface="微软雅黑" pitchFamily="34" charset="-122"/>
                <a:ea typeface="微软雅黑" pitchFamily="34" charset="-122"/>
              </a:rPr>
              <a:t>全局同步 </a:t>
            </a:r>
            <a:r>
              <a:rPr lang="en-US" altLang="zh-CN" sz="1600" b="1" dirty="0">
                <a:solidFill>
                  <a:schemeClr val="bg1"/>
                </a:solidFill>
                <a:latin typeface="微软雅黑" pitchFamily="34" charset="-122"/>
                <a:ea typeface="微软雅黑" pitchFamily="34" charset="-122"/>
              </a:rPr>
              <a:t>(global </a:t>
            </a:r>
            <a:r>
              <a:rPr lang="en-US" altLang="zh-CN" sz="1600" b="1" dirty="0" err="1">
                <a:solidFill>
                  <a:schemeClr val="bg1"/>
                </a:solidFill>
                <a:latin typeface="微软雅黑" pitchFamily="34" charset="-122"/>
                <a:ea typeface="微软雅黑" pitchFamily="34" charset="-122"/>
              </a:rPr>
              <a:t>syncronization</a:t>
            </a:r>
            <a:r>
              <a:rPr lang="en-US" altLang="zh-CN" sz="1600" b="1" dirty="0">
                <a:solidFill>
                  <a:schemeClr val="bg1"/>
                </a:solidFill>
                <a:latin typeface="微软雅黑" pitchFamily="34" charset="-122"/>
                <a:ea typeface="微软雅黑" pitchFamily="34" charset="-122"/>
              </a:rPr>
              <a:t>)</a:t>
            </a:r>
            <a:r>
              <a:rPr lang="zh-CN" altLang="en-US" sz="1600" b="1" dirty="0">
                <a:solidFill>
                  <a:schemeClr val="bg1"/>
                </a:solidFill>
                <a:latin typeface="微软雅黑" pitchFamily="34" charset="-122"/>
                <a:ea typeface="微软雅黑" pitchFamily="34" charset="-122"/>
              </a:rPr>
              <a:t>。</a:t>
            </a:r>
          </a:p>
        </p:txBody>
      </p:sp>
      <p:sp>
        <p:nvSpPr>
          <p:cNvPr id="70" name="Line 6"/>
          <p:cNvSpPr>
            <a:spLocks noChangeShapeType="1"/>
          </p:cNvSpPr>
          <p:nvPr/>
        </p:nvSpPr>
        <p:spPr bwMode="auto">
          <a:xfrm>
            <a:off x="2286000" y="4182000"/>
            <a:ext cx="4724400" cy="158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1" name="Line 7"/>
          <p:cNvSpPr>
            <a:spLocks noChangeShapeType="1"/>
          </p:cNvSpPr>
          <p:nvPr/>
        </p:nvSpPr>
        <p:spPr bwMode="auto">
          <a:xfrm>
            <a:off x="2286000" y="26580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sp>
        <p:nvSpPr>
          <p:cNvPr id="72" name="Text Box 8"/>
          <p:cNvSpPr txBox="1">
            <a:spLocks noChangeArrowheads="1"/>
          </p:cNvSpPr>
          <p:nvPr/>
        </p:nvSpPr>
        <p:spPr bwMode="auto">
          <a:xfrm>
            <a:off x="914400" y="2251345"/>
            <a:ext cx="13716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r"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队列长度</a:t>
            </a:r>
            <a:endParaRPr kumimoji="1" lang="en-US" altLang="ko-KR" sz="1400" b="1" dirty="0">
              <a:effectLst/>
              <a:latin typeface="微软雅黑" pitchFamily="34" charset="-122"/>
              <a:ea typeface="微软雅黑" pitchFamily="34" charset="-122"/>
            </a:endParaRPr>
          </a:p>
        </p:txBody>
      </p:sp>
      <p:sp>
        <p:nvSpPr>
          <p:cNvPr id="73" name="Text Box 9"/>
          <p:cNvSpPr txBox="1">
            <a:spLocks noChangeArrowheads="1"/>
          </p:cNvSpPr>
          <p:nvPr/>
        </p:nvSpPr>
        <p:spPr bwMode="auto">
          <a:xfrm>
            <a:off x="7010400" y="4023250"/>
            <a:ext cx="838200"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tIns="36000">
            <a:spAutoFit/>
          </a:bodyPr>
          <a:lstStyle/>
          <a:p>
            <a:pPr algn="l" eaLnBrk="1" latinLnBrk="1" hangingPunct="1">
              <a:spcBef>
                <a:spcPct val="50000"/>
              </a:spcBef>
              <a:buClr>
                <a:schemeClr val="folHlink"/>
              </a:buClr>
              <a:buFont typeface="Wingdings" pitchFamily="2" charset="2"/>
              <a:buNone/>
            </a:pPr>
            <a:r>
              <a:rPr kumimoji="1" lang="zh-CN" altLang="en-US" sz="1400" b="1" dirty="0">
                <a:effectLst/>
                <a:latin typeface="微软雅黑" pitchFamily="34" charset="-122"/>
                <a:ea typeface="微软雅黑" pitchFamily="34" charset="-122"/>
              </a:rPr>
              <a:t>时间</a:t>
            </a:r>
            <a:endParaRPr kumimoji="1" lang="en-US" altLang="ko-KR" sz="1400" b="1" dirty="0">
              <a:effectLst/>
              <a:latin typeface="微软雅黑" pitchFamily="34" charset="-122"/>
              <a:ea typeface="微软雅黑" pitchFamily="34" charset="-122"/>
            </a:endParaRPr>
          </a:p>
        </p:txBody>
      </p:sp>
      <p:sp>
        <p:nvSpPr>
          <p:cNvPr id="76" name="Line 12"/>
          <p:cNvSpPr>
            <a:spLocks noChangeShapeType="1"/>
          </p:cNvSpPr>
          <p:nvPr/>
        </p:nvSpPr>
        <p:spPr bwMode="auto">
          <a:xfrm>
            <a:off x="2286000" y="3940700"/>
            <a:ext cx="4419600" cy="1588"/>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4" name="组合 3"/>
          <p:cNvGrpSpPr/>
          <p:nvPr/>
        </p:nvGrpSpPr>
        <p:grpSpPr>
          <a:xfrm>
            <a:off x="2286000" y="2658000"/>
            <a:ext cx="3659188" cy="1295400"/>
            <a:chOff x="2286000" y="2511834"/>
            <a:chExt cx="3659188" cy="1295400"/>
          </a:xfrm>
        </p:grpSpPr>
        <p:sp>
          <p:nvSpPr>
            <p:cNvPr id="74"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5"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7"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8"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79"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0"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1"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0000FF"/>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82"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83" name="Text Box 19"/>
          <p:cNvSpPr txBox="1">
            <a:spLocks noChangeArrowheads="1"/>
          </p:cNvSpPr>
          <p:nvPr/>
        </p:nvSpPr>
        <p:spPr bwMode="auto">
          <a:xfrm>
            <a:off x="6881884" y="2515790"/>
            <a:ext cx="1051559" cy="297962"/>
          </a:xfrm>
          <a:prstGeom prst="rect">
            <a:avLst/>
          </a:prstGeom>
          <a:noFill/>
          <a:ln>
            <a:noFill/>
          </a:ln>
          <a:effectLst/>
          <a:extLst>
            <a:ext uri="{909E8E84-426E-40DD-AFC4-6F175D3DCCD1}">
              <a14:hiddenFill xmlns:a14="http://schemas.microsoft.com/office/drawing/2010/main">
                <a:solidFill>
                  <a:srgbClr val="7E87B6"/>
                </a:solidFill>
              </a14:hiddenFill>
            </a:ext>
            <a:ext uri="{91240B29-F687-4F45-9708-019B960494DF}">
              <a14:hiddenLine xmlns:a14="http://schemas.microsoft.com/office/drawing/2010/main" w="50800">
                <a:solidFill>
                  <a:srgbClr val="0E3192"/>
                </a:solidFill>
                <a:miter lim="800000"/>
                <a:headEnd/>
                <a:tailEnd/>
              </a14:hiddenLine>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square" tIns="36000">
            <a:spAutoFit/>
          </a:bodyPr>
          <a:lstStyle/>
          <a:p>
            <a:pPr algn="l" eaLnBrk="1" latinLnBrk="1" hangingPunct="1">
              <a:spcBef>
                <a:spcPct val="50000"/>
              </a:spcBef>
              <a:buClr>
                <a:schemeClr val="folHlink"/>
              </a:buClr>
              <a:buFont typeface="Wingdings" pitchFamily="2" charset="2"/>
              <a:buNone/>
            </a:pPr>
            <a:r>
              <a:rPr kumimoji="1" lang="zh-CN" altLang="en-US" sz="1400" b="1" dirty="0">
                <a:solidFill>
                  <a:srgbClr val="C00000"/>
                </a:solidFill>
                <a:effectLst/>
                <a:latin typeface="微软雅黑" pitchFamily="34" charset="-122"/>
                <a:ea typeface="微软雅黑" pitchFamily="34" charset="-122"/>
              </a:rPr>
              <a:t>队列满</a:t>
            </a:r>
            <a:endParaRPr kumimoji="1" lang="en-US" altLang="ko-KR" sz="1400" b="1" dirty="0">
              <a:solidFill>
                <a:srgbClr val="C00000"/>
              </a:solidFill>
              <a:effectLst/>
              <a:latin typeface="微软雅黑" pitchFamily="34" charset="-122"/>
              <a:ea typeface="微软雅黑" pitchFamily="34" charset="-122"/>
            </a:endParaRPr>
          </a:p>
        </p:txBody>
      </p:sp>
      <p:sp>
        <p:nvSpPr>
          <p:cNvPr id="84" name="Rectangle 20"/>
          <p:cNvSpPr>
            <a:spLocks noChangeArrowheads="1"/>
          </p:cNvSpPr>
          <p:nvPr/>
        </p:nvSpPr>
        <p:spPr bwMode="auto">
          <a:xfrm>
            <a:off x="2392092" y="1794785"/>
            <a:ext cx="1605143"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algn="l" eaLnBrk="1" latinLnBrk="1" hangingPunct="1"/>
            <a:r>
              <a:rPr kumimoji="1" lang="zh-CN" altLang="en-US" sz="1100" b="1" dirty="0">
                <a:effectLst/>
                <a:latin typeface="微软雅黑" pitchFamily="34" charset="-122"/>
                <a:ea typeface="微软雅黑" pitchFamily="34" charset="-122"/>
              </a:rPr>
              <a:t>队列满时，</a:t>
            </a:r>
            <a:r>
              <a:rPr kumimoji="1" lang="en-US" altLang="zh-CN" sz="1100" b="1" dirty="0">
                <a:effectLst/>
                <a:latin typeface="微软雅黑" pitchFamily="34" charset="-122"/>
                <a:ea typeface="微软雅黑" pitchFamily="34" charset="-122"/>
              </a:rPr>
              <a:t>TCP </a:t>
            </a:r>
            <a:r>
              <a:rPr kumimoji="1" lang="zh-CN" altLang="en-US" sz="1100" b="1" dirty="0">
                <a:effectLst/>
                <a:latin typeface="微软雅黑" pitchFamily="34" charset="-122"/>
                <a:ea typeface="微软雅黑" pitchFamily="34" charset="-122"/>
              </a:rPr>
              <a:t>重传定时器超时，重新开始慢启动，减少数据率。</a:t>
            </a:r>
            <a:endParaRPr kumimoji="1" lang="en-US" altLang="ko-KR" sz="1100" b="1" dirty="0">
              <a:effectLst/>
              <a:latin typeface="微软雅黑" pitchFamily="34" charset="-122"/>
              <a:ea typeface="微软雅黑" pitchFamily="34" charset="-122"/>
            </a:endParaRPr>
          </a:p>
        </p:txBody>
      </p:sp>
      <p:sp>
        <p:nvSpPr>
          <p:cNvPr id="85" name="Line 21"/>
          <p:cNvSpPr>
            <a:spLocks noChangeShapeType="1"/>
          </p:cNvSpPr>
          <p:nvPr/>
        </p:nvSpPr>
        <p:spPr bwMode="auto">
          <a:xfrm>
            <a:off x="3807817" y="2480585"/>
            <a:ext cx="304800" cy="180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6" name="Rectangle 22"/>
          <p:cNvSpPr>
            <a:spLocks noChangeArrowheads="1"/>
          </p:cNvSpPr>
          <p:nvPr/>
        </p:nvSpPr>
        <p:spPr bwMode="auto">
          <a:xfrm>
            <a:off x="4062543" y="1794785"/>
            <a:ext cx="1267890"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100" b="1" dirty="0">
                <a:latin typeface="微软雅黑" pitchFamily="34" charset="-122"/>
                <a:ea typeface="微软雅黑" pitchFamily="34" charset="-122"/>
              </a:rPr>
              <a:t>分组离开队列，之后执行慢启动增大数据传输率。</a:t>
            </a:r>
            <a:endParaRPr kumimoji="1" lang="en-US" altLang="ko-KR" sz="1100" b="1" dirty="0">
              <a:latin typeface="微软雅黑" pitchFamily="34" charset="-122"/>
              <a:ea typeface="微软雅黑" pitchFamily="34" charset="-122"/>
            </a:endParaRPr>
          </a:p>
        </p:txBody>
      </p:sp>
      <p:sp>
        <p:nvSpPr>
          <p:cNvPr id="87" name="Rectangle 23"/>
          <p:cNvSpPr>
            <a:spLocks noChangeArrowheads="1"/>
          </p:cNvSpPr>
          <p:nvPr/>
        </p:nvSpPr>
        <p:spPr bwMode="auto">
          <a:xfrm>
            <a:off x="5630083" y="1794785"/>
            <a:ext cx="1380317" cy="685800"/>
          </a:xfrm>
          <a:prstGeom prst="rect">
            <a:avLst/>
          </a:prstGeom>
          <a:solidFill>
            <a:srgbClr val="FFFF99"/>
          </a:solidFill>
          <a:ln w="9525">
            <a:solidFill>
              <a:schemeClr val="tx1"/>
            </a:solidFill>
            <a:miter lim="800000"/>
            <a:headEnd/>
            <a:tailEnd/>
          </a:ln>
          <a:effectLst/>
        </p:spPr>
        <p:txBody>
          <a:bodyPr lIns="90000" tIns="46800" rIns="90000" bIns="46800" anchor="ctr" anchorCtr="1"/>
          <a:lstStyle/>
          <a:p>
            <a:pPr latinLnBrk="1"/>
            <a:r>
              <a:rPr kumimoji="1" lang="zh-CN" altLang="en-US" sz="1000" b="1" dirty="0">
                <a:latin typeface="微软雅黑" pitchFamily="34" charset="-122"/>
                <a:ea typeface="微软雅黑" pitchFamily="34" charset="-122"/>
              </a:rPr>
              <a:t>队列又满时，</a:t>
            </a:r>
            <a:r>
              <a:rPr kumimoji="1" lang="en-US" altLang="zh-CN" sz="1000" b="1" dirty="0">
                <a:latin typeface="微软雅黑" pitchFamily="34" charset="-122"/>
                <a:ea typeface="微软雅黑" pitchFamily="34" charset="-122"/>
              </a:rPr>
              <a:t>TCP </a:t>
            </a:r>
            <a:r>
              <a:rPr kumimoji="1" lang="zh-CN" altLang="en-US" sz="1000" b="1" dirty="0">
                <a:latin typeface="微软雅黑" pitchFamily="34" charset="-122"/>
                <a:ea typeface="微软雅黑" pitchFamily="34" charset="-122"/>
              </a:rPr>
              <a:t>重传定时器超时，重新再次开始慢启动，减少数据率。</a:t>
            </a:r>
            <a:endParaRPr kumimoji="1" lang="en-US" altLang="ko-KR" sz="1000" b="1" dirty="0">
              <a:latin typeface="微软雅黑" pitchFamily="34" charset="-122"/>
              <a:ea typeface="微软雅黑" pitchFamily="34" charset="-122"/>
            </a:endParaRPr>
          </a:p>
        </p:txBody>
      </p:sp>
      <p:sp>
        <p:nvSpPr>
          <p:cNvPr id="88" name="Line 24"/>
          <p:cNvSpPr>
            <a:spLocks noChangeShapeType="1"/>
          </p:cNvSpPr>
          <p:nvPr/>
        </p:nvSpPr>
        <p:spPr bwMode="auto">
          <a:xfrm>
            <a:off x="4495800" y="2480585"/>
            <a:ext cx="226417" cy="942704"/>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89" name="Line 25"/>
          <p:cNvSpPr>
            <a:spLocks noChangeShapeType="1"/>
          </p:cNvSpPr>
          <p:nvPr/>
        </p:nvSpPr>
        <p:spPr bwMode="auto">
          <a:xfrm flipH="1">
            <a:off x="5030787" y="2314171"/>
            <a:ext cx="599293" cy="334060"/>
          </a:xfrm>
          <a:prstGeom prst="line">
            <a:avLst/>
          </a:prstGeom>
          <a:noFill/>
          <a:ln w="12700">
            <a:solidFill>
              <a:srgbClr val="C00000"/>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lstStyle/>
          <a:p>
            <a:endParaRPr lang="zh-CN" altLang="en-US"/>
          </a:p>
        </p:txBody>
      </p:sp>
      <p:sp>
        <p:nvSpPr>
          <p:cNvPr id="69" name="Line 5"/>
          <p:cNvSpPr>
            <a:spLocks noChangeShapeType="1"/>
          </p:cNvSpPr>
          <p:nvPr/>
        </p:nvSpPr>
        <p:spPr bwMode="auto">
          <a:xfrm flipV="1">
            <a:off x="2299063" y="2314172"/>
            <a:ext cx="1588" cy="186782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Lst>
        </p:spPr>
        <p:txBody>
          <a:bodyPr wrap="none" tIns="36000"/>
          <a:lstStyle/>
          <a:p>
            <a:endParaRPr lang="zh-CN" altLang="en-US"/>
          </a:p>
        </p:txBody>
      </p:sp>
      <p:grpSp>
        <p:nvGrpSpPr>
          <p:cNvPr id="28" name="组合 27"/>
          <p:cNvGrpSpPr/>
          <p:nvPr/>
        </p:nvGrpSpPr>
        <p:grpSpPr>
          <a:xfrm>
            <a:off x="2286000" y="3410226"/>
            <a:ext cx="3659188" cy="534646"/>
            <a:chOff x="2286000" y="2511834"/>
            <a:chExt cx="3659188" cy="1295400"/>
          </a:xfrm>
        </p:grpSpPr>
        <p:sp>
          <p:nvSpPr>
            <p:cNvPr id="3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CC00CC"/>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3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grpSp>
        <p:nvGrpSpPr>
          <p:cNvPr id="59" name="组合 58"/>
          <p:cNvGrpSpPr/>
          <p:nvPr/>
        </p:nvGrpSpPr>
        <p:grpSpPr>
          <a:xfrm>
            <a:off x="2286000" y="3248085"/>
            <a:ext cx="3659188" cy="714261"/>
            <a:chOff x="2286000" y="2511834"/>
            <a:chExt cx="3659188" cy="1295400"/>
          </a:xfrm>
        </p:grpSpPr>
        <p:sp>
          <p:nvSpPr>
            <p:cNvPr id="60" name="Freeform 10"/>
            <p:cNvSpPr>
              <a:spLocks/>
            </p:cNvSpPr>
            <p:nvPr/>
          </p:nvSpPr>
          <p:spPr bwMode="auto">
            <a:xfrm>
              <a:off x="22860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1" name="Line 11"/>
            <p:cNvSpPr>
              <a:spLocks noChangeShapeType="1"/>
            </p:cNvSpPr>
            <p:nvPr/>
          </p:nvSpPr>
          <p:spPr bwMode="auto">
            <a:xfrm>
              <a:off x="32004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2" name="Freeform 13"/>
            <p:cNvSpPr>
              <a:spLocks/>
            </p:cNvSpPr>
            <p:nvPr/>
          </p:nvSpPr>
          <p:spPr bwMode="auto">
            <a:xfrm>
              <a:off x="32004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3" name="Line 14"/>
            <p:cNvSpPr>
              <a:spLocks noChangeShapeType="1"/>
            </p:cNvSpPr>
            <p:nvPr/>
          </p:nvSpPr>
          <p:spPr bwMode="auto">
            <a:xfrm>
              <a:off x="41148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4" name="Freeform 15"/>
            <p:cNvSpPr>
              <a:spLocks/>
            </p:cNvSpPr>
            <p:nvPr/>
          </p:nvSpPr>
          <p:spPr bwMode="auto">
            <a:xfrm>
              <a:off x="41148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5" name="Line 16"/>
            <p:cNvSpPr>
              <a:spLocks noChangeShapeType="1"/>
            </p:cNvSpPr>
            <p:nvPr/>
          </p:nvSpPr>
          <p:spPr bwMode="auto">
            <a:xfrm>
              <a:off x="50292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6" name="Freeform 17"/>
            <p:cNvSpPr>
              <a:spLocks/>
            </p:cNvSpPr>
            <p:nvPr/>
          </p:nvSpPr>
          <p:spPr bwMode="auto">
            <a:xfrm>
              <a:off x="5029200" y="2549934"/>
              <a:ext cx="914400" cy="1231900"/>
            </a:xfrm>
            <a:custGeom>
              <a:avLst/>
              <a:gdLst>
                <a:gd name="T0" fmla="*/ 0 w 576"/>
                <a:gd name="T1" fmla="*/ 912 h 920"/>
                <a:gd name="T2" fmla="*/ 336 w 576"/>
                <a:gd name="T3" fmla="*/ 768 h 920"/>
                <a:gd name="T4" fmla="*/ 576 w 576"/>
                <a:gd name="T5" fmla="*/ 0 h 920"/>
              </a:gdLst>
              <a:ahLst/>
              <a:cxnLst>
                <a:cxn ang="0">
                  <a:pos x="T0" y="T1"/>
                </a:cxn>
                <a:cxn ang="0">
                  <a:pos x="T2" y="T3"/>
                </a:cxn>
                <a:cxn ang="0">
                  <a:pos x="T4" y="T5"/>
                </a:cxn>
              </a:cxnLst>
              <a:rect l="0" t="0" r="r" b="b"/>
              <a:pathLst>
                <a:path w="576" h="920">
                  <a:moveTo>
                    <a:pt x="0" y="912"/>
                  </a:moveTo>
                  <a:cubicBezTo>
                    <a:pt x="120" y="916"/>
                    <a:pt x="240" y="920"/>
                    <a:pt x="336" y="768"/>
                  </a:cubicBezTo>
                  <a:cubicBezTo>
                    <a:pt x="432" y="616"/>
                    <a:pt x="536" y="120"/>
                    <a:pt x="576" y="0"/>
                  </a:cubicBezTo>
                </a:path>
              </a:pathLst>
            </a:custGeom>
            <a:noFill/>
            <a:ln w="28575" cap="flat" cmpd="sng">
              <a:solidFill>
                <a:srgbClr val="FF6600"/>
              </a:solidFill>
              <a:prstDash val="solid"/>
              <a:round/>
              <a:headEnd/>
              <a:tailEnd/>
            </a:ln>
            <a:effectLst/>
            <a:extLst>
              <a:ext uri="{909E8E84-426E-40DD-AFC4-6F175D3DCCD1}">
                <a14:hiddenFill xmlns:a14="http://schemas.microsoft.com/office/drawing/2010/main">
                  <a:solidFill>
                    <a:srgbClr val="7E87B6"/>
                  </a:solid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sp>
          <p:nvSpPr>
            <p:cNvPr id="67" name="Line 18"/>
            <p:cNvSpPr>
              <a:spLocks noChangeShapeType="1"/>
            </p:cNvSpPr>
            <p:nvPr/>
          </p:nvSpPr>
          <p:spPr bwMode="auto">
            <a:xfrm>
              <a:off x="5943600" y="2511834"/>
              <a:ext cx="1588" cy="1295400"/>
            </a:xfrm>
            <a:prstGeom prst="line">
              <a:avLst/>
            </a:prstGeom>
            <a:noFill/>
            <a:ln w="2857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53882" dir="2700000" algn="ctr" rotWithShape="0">
                      <a:schemeClr val="bg2">
                        <a:alpha val="50000"/>
                      </a:schemeClr>
                    </a:outerShdw>
                  </a:effectLst>
                </a14:hiddenEffects>
              </a:ext>
            </a:extLst>
          </p:spPr>
          <p:txBody>
            <a:bodyPr wrap="none" tIns="36000"/>
            <a:lstStyle/>
            <a:p>
              <a:endParaRPr lang="zh-CN" altLang="en-US"/>
            </a:p>
          </p:txBody>
        </p:sp>
      </p:grpSp>
      <p:sp>
        <p:nvSpPr>
          <p:cNvPr id="2" name="标题 1">
            <a:extLst>
              <a:ext uri="{FF2B5EF4-FFF2-40B4-BE49-F238E27FC236}">
                <a16:creationId xmlns:a16="http://schemas.microsoft.com/office/drawing/2014/main" id="{42B8B07D-D531-22EC-12BC-FF49825F50BB}"/>
              </a:ext>
            </a:extLst>
          </p:cNvPr>
          <p:cNvSpPr>
            <a:spLocks noGrp="1"/>
          </p:cNvSpPr>
          <p:nvPr>
            <p:ph type="title"/>
          </p:nvPr>
        </p:nvSpPr>
        <p:spPr>
          <a:xfrm>
            <a:off x="2808000" y="144000"/>
            <a:ext cx="3528000" cy="338554"/>
          </a:xfrm>
        </p:spPr>
        <p:txBody>
          <a:bodyPr/>
          <a:lstStyle/>
          <a:p>
            <a:r>
              <a:rPr lang="zh-CN" altLang="en-US" dirty="0"/>
              <a:t>严重问题：全局同步</a:t>
            </a:r>
          </a:p>
        </p:txBody>
      </p:sp>
    </p:spTree>
    <p:extLst>
      <p:ext uri="{BB962C8B-B14F-4D97-AF65-F5344CB8AC3E}">
        <p14:creationId xmlns:p14="http://schemas.microsoft.com/office/powerpoint/2010/main" val="285312697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3ACBE005-CC6A-3CE9-1E3E-9AA59A4C2901}"/>
              </a:ext>
            </a:extLst>
          </p:cNvPr>
          <p:cNvSpPr>
            <a:spLocks noGrp="1"/>
          </p:cNvSpPr>
          <p:nvPr>
            <p:ph sz="quarter" idx="11"/>
          </p:nvPr>
        </p:nvSpPr>
        <p:spPr>
          <a:xfrm>
            <a:off x="486000" y="482554"/>
            <a:ext cx="8172000" cy="4120946"/>
          </a:xfrm>
        </p:spPr>
        <p:txBody>
          <a:bodyPr/>
          <a:lstStyle/>
          <a:p>
            <a:r>
              <a:rPr lang="en-US" altLang="zh-CN" dirty="0"/>
              <a:t>1998 </a:t>
            </a:r>
            <a:r>
              <a:rPr lang="zh-CN" altLang="en-US" dirty="0"/>
              <a:t>年提出了主动队列管理 </a:t>
            </a:r>
            <a:r>
              <a:rPr lang="en-US" altLang="zh-CN" dirty="0"/>
              <a:t>AQM (Active Queue Management)</a:t>
            </a:r>
            <a:r>
              <a:rPr lang="zh-CN" altLang="en-US" dirty="0"/>
              <a:t>。</a:t>
            </a:r>
          </a:p>
          <a:p>
            <a:r>
              <a:rPr lang="zh-CN" altLang="en-US" dirty="0"/>
              <a:t>主动：不要等到路由器的队列长度已经达到最大值时才不得不丢弃后面到达的分组，而是在队列长度达到某个值得警惕的数值时（即当网络拥塞有了某些拥塞征兆时），就主动丢弃到达的分组。</a:t>
            </a:r>
          </a:p>
          <a:p>
            <a:r>
              <a:rPr lang="en-US" altLang="zh-CN" dirty="0"/>
              <a:t>AQM </a:t>
            </a:r>
            <a:r>
              <a:rPr lang="zh-CN" altLang="en-US" dirty="0"/>
              <a:t>可以有不同实现方法，其中曾流行多年的就是随机早期检测 </a:t>
            </a:r>
            <a:r>
              <a:rPr lang="en-US" altLang="zh-CN" dirty="0"/>
              <a:t>RED (Random Early Detection)</a:t>
            </a:r>
            <a:r>
              <a:rPr lang="zh-CN" altLang="en-US" dirty="0"/>
              <a:t>。</a:t>
            </a:r>
          </a:p>
          <a:p>
            <a:endParaRPr lang="zh-CN" altLang="en-US" dirty="0"/>
          </a:p>
        </p:txBody>
      </p:sp>
      <p:sp>
        <p:nvSpPr>
          <p:cNvPr id="8" name="标题 7">
            <a:extLst>
              <a:ext uri="{FF2B5EF4-FFF2-40B4-BE49-F238E27FC236}">
                <a16:creationId xmlns:a16="http://schemas.microsoft.com/office/drawing/2014/main" id="{CA31D2CB-D21A-E655-9096-539881F4DEC0}"/>
              </a:ext>
            </a:extLst>
          </p:cNvPr>
          <p:cNvSpPr>
            <a:spLocks noGrp="1"/>
          </p:cNvSpPr>
          <p:nvPr>
            <p:ph type="title"/>
          </p:nvPr>
        </p:nvSpPr>
        <p:spPr>
          <a:xfrm>
            <a:off x="2808000" y="144000"/>
            <a:ext cx="3528000" cy="338554"/>
          </a:xfrm>
        </p:spPr>
        <p:txBody>
          <a:bodyPr/>
          <a:lstStyle/>
          <a:p>
            <a:r>
              <a:rPr lang="zh-CN" altLang="en-US" dirty="0"/>
              <a:t>主动队列管理 </a:t>
            </a:r>
            <a:r>
              <a:rPr lang="en-US" altLang="zh-CN" dirty="0"/>
              <a:t>AQM</a:t>
            </a:r>
            <a:endParaRPr lang="zh-CN" altLang="en-US" dirty="0"/>
          </a:p>
        </p:txBody>
      </p:sp>
    </p:spTree>
    <p:extLst>
      <p:ext uri="{BB962C8B-B14F-4D97-AF65-F5344CB8AC3E}">
        <p14:creationId xmlns:p14="http://schemas.microsoft.com/office/powerpoint/2010/main" val="20482834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751A019F-CF88-D021-E368-14E7FFA4D75D}"/>
              </a:ext>
            </a:extLst>
          </p:cNvPr>
          <p:cNvSpPr>
            <a:spLocks noGrp="1"/>
          </p:cNvSpPr>
          <p:nvPr>
            <p:ph sz="quarter" idx="11"/>
          </p:nvPr>
        </p:nvSpPr>
        <p:spPr>
          <a:xfrm>
            <a:off x="486000" y="482554"/>
            <a:ext cx="8172000" cy="4120946"/>
          </a:xfrm>
        </p:spPr>
        <p:txBody>
          <a:bodyPr/>
          <a:lstStyle/>
          <a:p>
            <a:r>
              <a:rPr lang="zh-CN" altLang="en-US" dirty="0"/>
              <a:t>路由器队列维持两个参数：</a:t>
            </a:r>
            <a:endParaRPr lang="en-US" altLang="zh-CN" dirty="0"/>
          </a:p>
          <a:p>
            <a:pPr lvl="1"/>
            <a:r>
              <a:rPr lang="zh-CN" altLang="en-US" dirty="0"/>
              <a:t>队列长度最小门限 </a:t>
            </a:r>
            <a:r>
              <a:rPr lang="en-US" altLang="zh-CN" dirty="0" err="1"/>
              <a:t>THmin</a:t>
            </a:r>
            <a:r>
              <a:rPr lang="en-US" altLang="zh-CN" dirty="0"/>
              <a:t> </a:t>
            </a:r>
          </a:p>
          <a:p>
            <a:pPr lvl="1"/>
            <a:r>
              <a:rPr lang="zh-CN" altLang="en-US" dirty="0"/>
              <a:t>队列长度最大门限 </a:t>
            </a:r>
            <a:r>
              <a:rPr lang="en-US" altLang="zh-CN" dirty="0" err="1"/>
              <a:t>THmax</a:t>
            </a:r>
            <a:r>
              <a:rPr lang="en-US" altLang="zh-CN" dirty="0"/>
              <a:t> </a:t>
            </a:r>
            <a:r>
              <a:rPr lang="zh-CN" altLang="en-US" dirty="0"/>
              <a:t>。</a:t>
            </a:r>
          </a:p>
          <a:p>
            <a:r>
              <a:rPr lang="en-US" altLang="zh-CN" dirty="0"/>
              <a:t>RED </a:t>
            </a:r>
            <a:r>
              <a:rPr lang="zh-CN" altLang="en-US" dirty="0"/>
              <a:t>对每一个到达的分组都先计算平均队列长度 </a:t>
            </a:r>
            <a:r>
              <a:rPr lang="en-US" altLang="zh-CN" dirty="0"/>
              <a:t>LAV </a:t>
            </a:r>
            <a:r>
              <a:rPr lang="zh-CN" altLang="en-US" dirty="0"/>
              <a:t>。</a:t>
            </a:r>
          </a:p>
          <a:p>
            <a:r>
              <a:rPr lang="zh-CN" altLang="en-US" dirty="0"/>
              <a:t>若平均队列长度小于最小门限 </a:t>
            </a:r>
            <a:r>
              <a:rPr lang="en-US" altLang="zh-CN" dirty="0" err="1"/>
              <a:t>THmin</a:t>
            </a:r>
            <a:r>
              <a:rPr lang="zh-CN" altLang="en-US" dirty="0"/>
              <a:t>，则将新到达的分组放入队列进行排队。</a:t>
            </a:r>
          </a:p>
          <a:p>
            <a:r>
              <a:rPr lang="zh-CN" altLang="en-US" dirty="0"/>
              <a:t>若平均队列长度超过最大门限 </a:t>
            </a:r>
            <a:r>
              <a:rPr lang="en-US" altLang="zh-CN" dirty="0" err="1"/>
              <a:t>THmax</a:t>
            </a:r>
            <a:r>
              <a:rPr lang="en-US" altLang="zh-CN" dirty="0"/>
              <a:t> </a:t>
            </a:r>
            <a:r>
              <a:rPr lang="zh-CN" altLang="en-US" dirty="0"/>
              <a:t>，则将新到达的分组丢弃。</a:t>
            </a:r>
          </a:p>
          <a:p>
            <a:r>
              <a:rPr lang="zh-CN" altLang="en-US" dirty="0"/>
              <a:t>若平均队列长度介于在最小门限 </a:t>
            </a:r>
            <a:r>
              <a:rPr lang="en-US" altLang="zh-CN" dirty="0" err="1"/>
              <a:t>THmin</a:t>
            </a:r>
            <a:r>
              <a:rPr lang="en-US" altLang="zh-CN" dirty="0"/>
              <a:t> </a:t>
            </a:r>
            <a:r>
              <a:rPr lang="zh-CN" altLang="en-US" dirty="0"/>
              <a:t>和最大门限 </a:t>
            </a:r>
            <a:r>
              <a:rPr lang="en-US" altLang="zh-CN" dirty="0" err="1"/>
              <a:t>THax</a:t>
            </a:r>
            <a:r>
              <a:rPr lang="en-US" altLang="zh-CN" dirty="0"/>
              <a:t> </a:t>
            </a:r>
            <a:r>
              <a:rPr lang="zh-CN" altLang="en-US" dirty="0"/>
              <a:t>之间，则按照某一概率 </a:t>
            </a:r>
            <a:r>
              <a:rPr lang="en-US" altLang="zh-CN" dirty="0"/>
              <a:t>p </a:t>
            </a:r>
            <a:r>
              <a:rPr lang="zh-CN" altLang="en-US" dirty="0"/>
              <a:t>将新到达的分组丢弃。</a:t>
            </a:r>
          </a:p>
          <a:p>
            <a:endParaRPr lang="zh-CN" altLang="en-US" dirty="0"/>
          </a:p>
        </p:txBody>
      </p:sp>
      <p:sp>
        <p:nvSpPr>
          <p:cNvPr id="8" name="标题 7">
            <a:extLst>
              <a:ext uri="{FF2B5EF4-FFF2-40B4-BE49-F238E27FC236}">
                <a16:creationId xmlns:a16="http://schemas.microsoft.com/office/drawing/2014/main" id="{A2FBE126-4901-BB27-52C5-33DBED8AE693}"/>
              </a:ext>
            </a:extLst>
          </p:cNvPr>
          <p:cNvSpPr>
            <a:spLocks noGrp="1"/>
          </p:cNvSpPr>
          <p:nvPr>
            <p:ph type="title"/>
          </p:nvPr>
        </p:nvSpPr>
        <p:spPr>
          <a:xfrm>
            <a:off x="2808000" y="144000"/>
            <a:ext cx="3528000" cy="338554"/>
          </a:xfrm>
        </p:spPr>
        <p:txBody>
          <a:bodyPr/>
          <a:lstStyle/>
          <a:p>
            <a:r>
              <a:rPr lang="zh-CN" altLang="en-US" dirty="0"/>
              <a:t>随机早期检测 </a:t>
            </a:r>
            <a:r>
              <a:rPr lang="en-US" altLang="zh-CN" dirty="0"/>
              <a:t>RED</a:t>
            </a:r>
            <a:endParaRPr lang="zh-CN" altLang="en-US" dirty="0"/>
          </a:p>
        </p:txBody>
      </p:sp>
    </p:spTree>
    <p:extLst>
      <p:ext uri="{BB962C8B-B14F-4D97-AF65-F5344CB8AC3E}">
        <p14:creationId xmlns:p14="http://schemas.microsoft.com/office/powerpoint/2010/main" val="102565261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8"/>
          <p:cNvSpPr>
            <a:spLocks noChangeArrowheads="1"/>
          </p:cNvSpPr>
          <p:nvPr/>
        </p:nvSpPr>
        <p:spPr bwMode="auto">
          <a:xfrm>
            <a:off x="500401" y="970981"/>
            <a:ext cx="8184960" cy="4385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ts val="2700"/>
              </a:lnSpc>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路由器到达队列维持</a:t>
            </a:r>
            <a:r>
              <a:rPr lang="zh-CN" altLang="en-US" b="1" dirty="0">
                <a:solidFill>
                  <a:srgbClr val="C00000"/>
                </a:solidFill>
                <a:latin typeface="微软雅黑" pitchFamily="34" charset="-122"/>
                <a:ea typeface="微软雅黑" pitchFamily="34" charset="-122"/>
              </a:rPr>
              <a:t>两个参数：</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zh-CN" altLang="en-US" b="1" dirty="0">
                <a:latin typeface="微软雅黑" pitchFamily="34" charset="-122"/>
                <a:ea typeface="微软雅黑" pitchFamily="34" charset="-122"/>
              </a:rPr>
              <a:t>，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，分成为</a:t>
            </a:r>
            <a:r>
              <a:rPr lang="zh-CN" altLang="en-US" b="1" dirty="0">
                <a:solidFill>
                  <a:srgbClr val="C00000"/>
                </a:solidFill>
                <a:latin typeface="微软雅黑" pitchFamily="34" charset="-122"/>
                <a:ea typeface="微软雅黑" pitchFamily="34" charset="-122"/>
              </a:rPr>
              <a:t>三个区域： </a:t>
            </a:r>
          </a:p>
        </p:txBody>
      </p:sp>
      <p:grpSp>
        <p:nvGrpSpPr>
          <p:cNvPr id="36" name="组合 35"/>
          <p:cNvGrpSpPr/>
          <p:nvPr/>
        </p:nvGrpSpPr>
        <p:grpSpPr>
          <a:xfrm>
            <a:off x="1357257" y="1521364"/>
            <a:ext cx="6594516" cy="2665222"/>
            <a:chOff x="725398" y="2057562"/>
            <a:chExt cx="8961415" cy="3621820"/>
          </a:xfrm>
        </p:grpSpPr>
        <p:sp>
          <p:nvSpPr>
            <p:cNvPr id="6" name="Rectangle 35"/>
            <p:cNvSpPr>
              <a:spLocks noChangeArrowheads="1"/>
            </p:cNvSpPr>
            <p:nvPr/>
          </p:nvSpPr>
          <p:spPr bwMode="auto">
            <a:xfrm>
              <a:off x="2952883" y="2059150"/>
              <a:ext cx="3437863" cy="3013075"/>
            </a:xfrm>
            <a:prstGeom prst="rect">
              <a:avLst/>
            </a:prstGeom>
            <a:solidFill>
              <a:srgbClr val="99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7" name="Rectangle 34"/>
            <p:cNvSpPr>
              <a:spLocks noChangeArrowheads="1"/>
            </p:cNvSpPr>
            <p:nvPr/>
          </p:nvSpPr>
          <p:spPr bwMode="auto">
            <a:xfrm>
              <a:off x="6394185" y="2057562"/>
              <a:ext cx="1024996" cy="247650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8" name="Rectangle 33"/>
            <p:cNvSpPr>
              <a:spLocks noChangeArrowheads="1"/>
            </p:cNvSpPr>
            <p:nvPr/>
          </p:nvSpPr>
          <p:spPr bwMode="auto">
            <a:xfrm>
              <a:off x="1676798" y="2057563"/>
              <a:ext cx="1276085" cy="3444875"/>
            </a:xfrm>
            <a:prstGeom prst="rect">
              <a:avLst/>
            </a:prstGeom>
            <a:solidFill>
              <a:srgbClr val="6699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9" name="Rectangle 4"/>
            <p:cNvSpPr>
              <a:spLocks noChangeArrowheads="1"/>
            </p:cNvSpPr>
            <p:nvPr/>
          </p:nvSpPr>
          <p:spPr bwMode="auto">
            <a:xfrm>
              <a:off x="4975358" y="2757649"/>
              <a:ext cx="2445544" cy="1276350"/>
            </a:xfrm>
            <a:prstGeom prst="rect">
              <a:avLst/>
            </a:prstGeom>
            <a:solidFill>
              <a:srgbClr val="00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400" b="1">
                <a:latin typeface="微软雅黑" pitchFamily="34" charset="-122"/>
                <a:ea typeface="微软雅黑" pitchFamily="34" charset="-122"/>
              </a:endParaRPr>
            </a:p>
          </p:txBody>
        </p:sp>
        <p:sp>
          <p:nvSpPr>
            <p:cNvPr id="10" name="Freeform 5"/>
            <p:cNvSpPr>
              <a:spLocks/>
            </p:cNvSpPr>
            <p:nvPr/>
          </p:nvSpPr>
          <p:spPr bwMode="auto">
            <a:xfrm>
              <a:off x="1948525" y="2757649"/>
              <a:ext cx="5472377" cy="1276350"/>
            </a:xfrm>
            <a:custGeom>
              <a:avLst/>
              <a:gdLst>
                <a:gd name="T0" fmla="*/ 0 w 1920"/>
                <a:gd name="T1" fmla="*/ 0 h 528"/>
                <a:gd name="T2" fmla="*/ 1920 w 1920"/>
                <a:gd name="T3" fmla="*/ 0 h 528"/>
                <a:gd name="T4" fmla="*/ 1920 w 1920"/>
                <a:gd name="T5" fmla="*/ 528 h 528"/>
                <a:gd name="T6" fmla="*/ 0 w 1920"/>
                <a:gd name="T7" fmla="*/ 528 h 528"/>
              </a:gdLst>
              <a:ahLst/>
              <a:cxnLst>
                <a:cxn ang="0">
                  <a:pos x="T0" y="T1"/>
                </a:cxn>
                <a:cxn ang="0">
                  <a:pos x="T2" y="T3"/>
                </a:cxn>
                <a:cxn ang="0">
                  <a:pos x="T4" y="T5"/>
                </a:cxn>
                <a:cxn ang="0">
                  <a:pos x="T6" y="T7"/>
                </a:cxn>
              </a:cxnLst>
              <a:rect l="0" t="0" r="r" b="b"/>
              <a:pathLst>
                <a:path w="1920" h="528">
                  <a:moveTo>
                    <a:pt x="0" y="0"/>
                  </a:moveTo>
                  <a:lnTo>
                    <a:pt x="1920" y="0"/>
                  </a:lnTo>
                  <a:lnTo>
                    <a:pt x="1920" y="528"/>
                  </a:lnTo>
                  <a:lnTo>
                    <a:pt x="0" y="528"/>
                  </a:lnTo>
                </a:path>
              </a:pathLst>
            </a:custGeom>
            <a:noFill/>
            <a:ln w="28575" cmpd="sng">
              <a:solidFill>
                <a:srgbClr val="333399"/>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1" name="Line 6"/>
            <p:cNvSpPr>
              <a:spLocks noChangeShapeType="1"/>
            </p:cNvSpPr>
            <p:nvPr/>
          </p:nvSpPr>
          <p:spPr bwMode="auto">
            <a:xfrm>
              <a:off x="7073504"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2" name="Line 7"/>
            <p:cNvSpPr>
              <a:spLocks noChangeShapeType="1"/>
            </p:cNvSpPr>
            <p:nvPr/>
          </p:nvSpPr>
          <p:spPr bwMode="auto">
            <a:xfrm>
              <a:off x="672438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3" name="Line 8"/>
            <p:cNvSpPr>
              <a:spLocks noChangeShapeType="1"/>
            </p:cNvSpPr>
            <p:nvPr/>
          </p:nvSpPr>
          <p:spPr bwMode="auto">
            <a:xfrm>
              <a:off x="6373548" y="2290924"/>
              <a:ext cx="0" cy="203200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4" name="Line 9"/>
            <p:cNvSpPr>
              <a:spLocks noChangeShapeType="1"/>
            </p:cNvSpPr>
            <p:nvPr/>
          </p:nvSpPr>
          <p:spPr bwMode="auto">
            <a:xfrm>
              <a:off x="6024431"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5" name="Line 10"/>
            <p:cNvSpPr>
              <a:spLocks noChangeShapeType="1"/>
            </p:cNvSpPr>
            <p:nvPr/>
          </p:nvSpPr>
          <p:spPr bwMode="auto">
            <a:xfrm>
              <a:off x="5675313"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6" name="Line 11"/>
            <p:cNvSpPr>
              <a:spLocks noChangeShapeType="1"/>
            </p:cNvSpPr>
            <p:nvPr/>
          </p:nvSpPr>
          <p:spPr bwMode="auto">
            <a:xfrm>
              <a:off x="5324475"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7" name="Line 12"/>
            <p:cNvSpPr>
              <a:spLocks noChangeShapeType="1"/>
            </p:cNvSpPr>
            <p:nvPr/>
          </p:nvSpPr>
          <p:spPr bwMode="auto">
            <a:xfrm>
              <a:off x="2964921" y="2309975"/>
              <a:ext cx="0" cy="3160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18" name="AutoShape 13"/>
            <p:cNvSpPr>
              <a:spLocks noChangeArrowheads="1"/>
            </p:cNvSpPr>
            <p:nvPr/>
          </p:nvSpPr>
          <p:spPr bwMode="auto">
            <a:xfrm>
              <a:off x="7305676" y="3105313"/>
              <a:ext cx="1049073" cy="465137"/>
            </a:xfrm>
            <a:prstGeom prst="rightArrow">
              <a:avLst>
                <a:gd name="adj1" fmla="val 50000"/>
                <a:gd name="adj2" fmla="val 52048"/>
              </a:avLst>
            </a:prstGeom>
            <a:solidFill>
              <a:srgbClr val="FF00FF"/>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19" name="Text Box 14"/>
            <p:cNvSpPr txBox="1">
              <a:spLocks noChangeArrowheads="1"/>
            </p:cNvSpPr>
            <p:nvPr/>
          </p:nvSpPr>
          <p:spPr bwMode="auto">
            <a:xfrm>
              <a:off x="8288101" y="2986250"/>
              <a:ext cx="982872"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a:latin typeface="微软雅黑" pitchFamily="34" charset="-122"/>
                  <a:ea typeface="微软雅黑" pitchFamily="34" charset="-122"/>
                </a:rPr>
                <a:t>从队首</a:t>
              </a:r>
            </a:p>
            <a:p>
              <a:pPr algn="ctr"/>
              <a:r>
                <a:rPr kumimoji="1" lang="zh-CN" altLang="en-US" sz="1400" b="1">
                  <a:latin typeface="微软雅黑" pitchFamily="34" charset="-122"/>
                  <a:ea typeface="微软雅黑" pitchFamily="34" charset="-122"/>
                </a:rPr>
                <a:t>发送</a:t>
              </a:r>
            </a:p>
          </p:txBody>
        </p:sp>
        <p:sp>
          <p:nvSpPr>
            <p:cNvPr id="20" name="Line 15"/>
            <p:cNvSpPr>
              <a:spLocks noChangeShapeType="1"/>
            </p:cNvSpPr>
            <p:nvPr/>
          </p:nvSpPr>
          <p:spPr bwMode="auto">
            <a:xfrm>
              <a:off x="4975358" y="2757649"/>
              <a:ext cx="0" cy="127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1" name="Text Box 16"/>
            <p:cNvSpPr txBox="1">
              <a:spLocks noChangeArrowheads="1"/>
            </p:cNvSpPr>
            <p:nvPr/>
          </p:nvSpPr>
          <p:spPr bwMode="auto">
            <a:xfrm>
              <a:off x="7571469" y="4363378"/>
              <a:ext cx="2115344"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400" b="1" dirty="0">
                  <a:solidFill>
                    <a:srgbClr val="C00000"/>
                  </a:solidFill>
                  <a:latin typeface="微软雅黑" pitchFamily="34" charset="-122"/>
                  <a:ea typeface="微软雅黑" pitchFamily="34" charset="-122"/>
                </a:rPr>
                <a:t>最小门限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min</a:t>
              </a:r>
              <a:endParaRPr kumimoji="1" lang="en-US" altLang="zh-CN" sz="1400" b="1" baseline="-25000" dirty="0">
                <a:solidFill>
                  <a:srgbClr val="C00000"/>
                </a:solidFill>
                <a:latin typeface="微软雅黑" pitchFamily="34" charset="-122"/>
                <a:ea typeface="微软雅黑" pitchFamily="34" charset="-122"/>
              </a:endParaRPr>
            </a:p>
          </p:txBody>
        </p:sp>
        <p:sp>
          <p:nvSpPr>
            <p:cNvPr id="22" name="Text Box 17"/>
            <p:cNvSpPr txBox="1">
              <a:spLocks noChangeArrowheads="1"/>
            </p:cNvSpPr>
            <p:nvPr/>
          </p:nvSpPr>
          <p:spPr bwMode="auto">
            <a:xfrm>
              <a:off x="4244446" y="5261138"/>
              <a:ext cx="1956595"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C00000"/>
                  </a:solidFill>
                  <a:latin typeface="微软雅黑" pitchFamily="34" charset="-122"/>
                  <a:ea typeface="微软雅黑" pitchFamily="34" charset="-122"/>
                </a:rPr>
                <a:t>最大门限 </a:t>
              </a:r>
              <a:r>
                <a:rPr kumimoji="1" lang="en-US" altLang="zh-CN" sz="1400" b="1" dirty="0" err="1">
                  <a:solidFill>
                    <a:srgbClr val="C00000"/>
                  </a:solidFill>
                  <a:latin typeface="微软雅黑" pitchFamily="34" charset="-122"/>
                  <a:ea typeface="微软雅黑" pitchFamily="34" charset="-122"/>
                </a:rPr>
                <a:t>Th</a:t>
              </a:r>
              <a:r>
                <a:rPr kumimoji="1" lang="en-US" altLang="zh-CN" sz="1400" b="1" baseline="-25000" dirty="0" err="1">
                  <a:solidFill>
                    <a:srgbClr val="C00000"/>
                  </a:solidFill>
                  <a:latin typeface="微软雅黑" pitchFamily="34" charset="-122"/>
                  <a:ea typeface="微软雅黑" pitchFamily="34" charset="-122"/>
                </a:rPr>
                <a:t>max</a:t>
              </a:r>
              <a:endParaRPr kumimoji="1" lang="en-US" altLang="zh-CN" sz="1400" b="1" baseline="-25000" dirty="0">
                <a:solidFill>
                  <a:srgbClr val="C00000"/>
                </a:solidFill>
                <a:latin typeface="微软雅黑" pitchFamily="34" charset="-122"/>
                <a:ea typeface="微软雅黑" pitchFamily="34" charset="-122"/>
              </a:endParaRPr>
            </a:p>
          </p:txBody>
        </p:sp>
        <p:sp>
          <p:nvSpPr>
            <p:cNvPr id="23" name="AutoShape 18"/>
            <p:cNvSpPr>
              <a:spLocks noChangeArrowheads="1"/>
            </p:cNvSpPr>
            <p:nvPr/>
          </p:nvSpPr>
          <p:spPr bwMode="auto">
            <a:xfrm>
              <a:off x="1434443" y="3138648"/>
              <a:ext cx="2146300" cy="431800"/>
            </a:xfrm>
            <a:prstGeom prst="rightArrow">
              <a:avLst>
                <a:gd name="adj1" fmla="val 50000"/>
                <a:gd name="adj2" fmla="val 114706"/>
              </a:avLst>
            </a:prstGeom>
            <a:solidFill>
              <a:schemeClr val="accent6">
                <a:lumMod val="75000"/>
              </a:schemeClr>
            </a:solidFill>
            <a:ln w="9525">
              <a:solidFill>
                <a:schemeClr val="tx1"/>
              </a:solidFill>
              <a:miter lim="800000"/>
              <a:headEnd/>
              <a:tailEnd/>
            </a:ln>
            <a:effectLst/>
          </p:spPr>
          <p:txBody>
            <a:bodyPr wrap="none" anchor="ctr"/>
            <a:lstStyle/>
            <a:p>
              <a:endParaRPr lang="zh-CN" altLang="en-US" sz="1400" b="1">
                <a:latin typeface="微软雅黑" pitchFamily="34" charset="-122"/>
                <a:ea typeface="微软雅黑" pitchFamily="34" charset="-122"/>
              </a:endParaRPr>
            </a:p>
          </p:txBody>
        </p:sp>
        <p:sp>
          <p:nvSpPr>
            <p:cNvPr id="24" name="Text Box 19"/>
            <p:cNvSpPr txBox="1">
              <a:spLocks noChangeArrowheads="1"/>
            </p:cNvSpPr>
            <p:nvPr/>
          </p:nvSpPr>
          <p:spPr bwMode="auto">
            <a:xfrm>
              <a:off x="725398" y="2979077"/>
              <a:ext cx="738897" cy="711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400" b="1" dirty="0">
                  <a:latin typeface="微软雅黑" pitchFamily="34" charset="-122"/>
                  <a:ea typeface="微软雅黑" pitchFamily="34" charset="-122"/>
                </a:rPr>
                <a:t>分组</a:t>
              </a:r>
            </a:p>
            <a:p>
              <a:pPr algn="ctr"/>
              <a:r>
                <a:rPr kumimoji="1" lang="zh-CN" altLang="en-US" sz="1400" b="1" dirty="0">
                  <a:latin typeface="微软雅黑" pitchFamily="34" charset="-122"/>
                  <a:ea typeface="微软雅黑" pitchFamily="34" charset="-122"/>
                </a:rPr>
                <a:t>到达</a:t>
              </a:r>
            </a:p>
          </p:txBody>
        </p:sp>
        <p:sp>
          <p:nvSpPr>
            <p:cNvPr id="25" name="Text Box 20"/>
            <p:cNvSpPr txBox="1">
              <a:spLocks noChangeArrowheads="1"/>
            </p:cNvSpPr>
            <p:nvPr/>
          </p:nvSpPr>
          <p:spPr bwMode="auto">
            <a:xfrm>
              <a:off x="5102623" y="4686464"/>
              <a:ext cx="210690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solidFill>
                    <a:srgbClr val="0000FF"/>
                  </a:solidFill>
                  <a:latin typeface="微软雅黑" pitchFamily="34" charset="-122"/>
                  <a:ea typeface="微软雅黑" pitchFamily="34" charset="-122"/>
                </a:rPr>
                <a:t>平均队列长度 </a:t>
              </a:r>
              <a:r>
                <a:rPr kumimoji="1" lang="en-US" altLang="zh-CN" sz="1400" b="1" i="1" dirty="0" err="1">
                  <a:solidFill>
                    <a:srgbClr val="0000FF"/>
                  </a:solidFill>
                  <a:latin typeface="微软雅黑" pitchFamily="34" charset="-122"/>
                  <a:ea typeface="微软雅黑" pitchFamily="34" charset="-122"/>
                </a:rPr>
                <a:t>L</a:t>
              </a:r>
              <a:r>
                <a:rPr kumimoji="1" lang="en-US" altLang="zh-CN" sz="1400" b="1" baseline="-25000" dirty="0" err="1">
                  <a:solidFill>
                    <a:srgbClr val="0000FF"/>
                  </a:solidFill>
                  <a:latin typeface="微软雅黑" pitchFamily="34" charset="-122"/>
                  <a:ea typeface="微软雅黑" pitchFamily="34" charset="-122"/>
                </a:rPr>
                <a:t>av</a:t>
              </a:r>
              <a:endParaRPr kumimoji="1" lang="en-US" altLang="zh-CN" sz="1400" b="1" baseline="-25000" dirty="0">
                <a:solidFill>
                  <a:srgbClr val="0000FF"/>
                </a:solidFill>
                <a:latin typeface="微软雅黑" pitchFamily="34" charset="-122"/>
                <a:ea typeface="微软雅黑" pitchFamily="34" charset="-122"/>
              </a:endParaRPr>
            </a:p>
          </p:txBody>
        </p:sp>
        <p:sp>
          <p:nvSpPr>
            <p:cNvPr id="26" name="Line 21"/>
            <p:cNvSpPr>
              <a:spLocks noChangeShapeType="1"/>
            </p:cNvSpPr>
            <p:nvPr/>
          </p:nvSpPr>
          <p:spPr bwMode="auto">
            <a:xfrm>
              <a:off x="7420902" y="2295687"/>
              <a:ext cx="0" cy="461962"/>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27" name="Text Box 22"/>
            <p:cNvSpPr txBox="1">
              <a:spLocks noChangeArrowheads="1"/>
            </p:cNvSpPr>
            <p:nvPr/>
          </p:nvSpPr>
          <p:spPr bwMode="auto">
            <a:xfrm>
              <a:off x="6490494"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排队</a:t>
              </a:r>
            </a:p>
          </p:txBody>
        </p:sp>
        <p:sp>
          <p:nvSpPr>
            <p:cNvPr id="28" name="Text Box 23"/>
            <p:cNvSpPr txBox="1">
              <a:spLocks noChangeArrowheads="1"/>
            </p:cNvSpPr>
            <p:nvPr/>
          </p:nvSpPr>
          <p:spPr bwMode="auto">
            <a:xfrm>
              <a:off x="2094705" y="2308388"/>
              <a:ext cx="738897"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丢弃</a:t>
              </a:r>
            </a:p>
          </p:txBody>
        </p:sp>
        <p:sp>
          <p:nvSpPr>
            <p:cNvPr id="29" name="Text Box 24"/>
            <p:cNvSpPr txBox="1">
              <a:spLocks noChangeArrowheads="1"/>
            </p:cNvSpPr>
            <p:nvPr/>
          </p:nvSpPr>
          <p:spPr bwMode="auto">
            <a:xfrm>
              <a:off x="3730229" y="2309974"/>
              <a:ext cx="1777970" cy="418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a:latin typeface="微软雅黑" pitchFamily="34" charset="-122"/>
                  <a:ea typeface="微软雅黑" pitchFamily="34" charset="-122"/>
                </a:rPr>
                <a:t>以概率</a:t>
              </a:r>
              <a:r>
                <a:rPr kumimoji="1" lang="zh-CN" altLang="en-US" sz="1400" b="1" i="1">
                  <a:latin typeface="微软雅黑" pitchFamily="34" charset="-122"/>
                  <a:ea typeface="微软雅黑" pitchFamily="34" charset="-122"/>
                </a:rPr>
                <a:t> </a:t>
              </a:r>
              <a:r>
                <a:rPr kumimoji="1" lang="en-US" altLang="zh-CN" sz="1400" b="1" i="1">
                  <a:latin typeface="微软雅黑" pitchFamily="34" charset="-122"/>
                  <a:ea typeface="微软雅黑" pitchFamily="34" charset="-122"/>
                </a:rPr>
                <a:t>p</a:t>
              </a:r>
              <a:r>
                <a:rPr kumimoji="1" lang="en-US" altLang="zh-CN" sz="1400" b="1">
                  <a:latin typeface="微软雅黑" pitchFamily="34" charset="-122"/>
                  <a:ea typeface="微软雅黑" pitchFamily="34" charset="-122"/>
                </a:rPr>
                <a:t> </a:t>
              </a:r>
              <a:r>
                <a:rPr kumimoji="1" lang="zh-CN" altLang="en-US" sz="1400" b="1">
                  <a:latin typeface="微软雅黑" pitchFamily="34" charset="-122"/>
                  <a:ea typeface="微软雅黑" pitchFamily="34" charset="-122"/>
                </a:rPr>
                <a:t>丢弃</a:t>
              </a:r>
            </a:p>
          </p:txBody>
        </p:sp>
        <p:sp>
          <p:nvSpPr>
            <p:cNvPr id="30" name="Line 25"/>
            <p:cNvSpPr>
              <a:spLocks noChangeShapeType="1"/>
            </p:cNvSpPr>
            <p:nvPr/>
          </p:nvSpPr>
          <p:spPr bwMode="auto">
            <a:xfrm>
              <a:off x="4990836" y="4703924"/>
              <a:ext cx="24111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1" name="Line 26"/>
            <p:cNvSpPr>
              <a:spLocks noChangeShapeType="1"/>
            </p:cNvSpPr>
            <p:nvPr/>
          </p:nvSpPr>
          <p:spPr bwMode="auto">
            <a:xfrm flipH="1">
              <a:off x="7420902" y="4076862"/>
              <a:ext cx="15478" cy="150971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2" name="Line 27"/>
            <p:cNvSpPr>
              <a:spLocks noChangeShapeType="1"/>
            </p:cNvSpPr>
            <p:nvPr/>
          </p:nvSpPr>
          <p:spPr bwMode="auto">
            <a:xfrm>
              <a:off x="4982237" y="4067337"/>
              <a:ext cx="0" cy="8699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3" name="Line 28"/>
            <p:cNvSpPr>
              <a:spLocks noChangeShapeType="1"/>
            </p:cNvSpPr>
            <p:nvPr/>
          </p:nvSpPr>
          <p:spPr bwMode="auto">
            <a:xfrm>
              <a:off x="6370109" y="4227674"/>
              <a:ext cx="1090348"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4" name="Line 29"/>
            <p:cNvSpPr>
              <a:spLocks noChangeShapeType="1"/>
            </p:cNvSpPr>
            <p:nvPr/>
          </p:nvSpPr>
          <p:spPr bwMode="auto">
            <a:xfrm>
              <a:off x="2975239" y="5253199"/>
              <a:ext cx="4437063" cy="0"/>
            </a:xfrm>
            <a:prstGeom prst="line">
              <a:avLst/>
            </a:prstGeom>
            <a:noFill/>
            <a:ln w="19050">
              <a:solidFill>
                <a:srgbClr val="0000FF"/>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sp>
          <p:nvSpPr>
            <p:cNvPr id="35" name="Line 30"/>
            <p:cNvSpPr>
              <a:spLocks noChangeShapeType="1"/>
            </p:cNvSpPr>
            <p:nvPr/>
          </p:nvSpPr>
          <p:spPr bwMode="auto">
            <a:xfrm flipH="1" flipV="1">
              <a:off x="6877446" y="4284002"/>
              <a:ext cx="718873" cy="288496"/>
            </a:xfrm>
            <a:prstGeom prst="line">
              <a:avLst/>
            </a:prstGeom>
            <a:noFill/>
            <a:ln w="19050">
              <a:solidFill>
                <a:srgbClr val="000066"/>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latin typeface="微软雅黑" pitchFamily="34" charset="-122"/>
                <a:ea typeface="微软雅黑" pitchFamily="34" charset="-122"/>
              </a:endParaRPr>
            </a:p>
          </p:txBody>
        </p:sp>
      </p:grpSp>
      <p:sp>
        <p:nvSpPr>
          <p:cNvPr id="37" name="矩形 36"/>
          <p:cNvSpPr/>
          <p:nvPr/>
        </p:nvSpPr>
        <p:spPr>
          <a:xfrm>
            <a:off x="1378628" y="4289602"/>
            <a:ext cx="6360778" cy="369332"/>
          </a:xfrm>
          <a:prstGeom prst="rect">
            <a:avLst/>
          </a:prstGeom>
        </p:spPr>
        <p:txBody>
          <a:bodyPr wrap="square">
            <a:spAutoFit/>
          </a:bodyPr>
          <a:lstStyle/>
          <a:p>
            <a:pPr algn="ctr">
              <a:buClr>
                <a:srgbClr val="0070C0"/>
              </a:buClr>
            </a:pPr>
            <a:r>
              <a:rPr lang="en-US" altLang="zh-CN" b="1" dirty="0">
                <a:latin typeface="微软雅黑" pitchFamily="34" charset="-122"/>
                <a:ea typeface="微软雅黑" pitchFamily="34" charset="-122"/>
              </a:rPr>
              <a:t>RED </a:t>
            </a:r>
            <a:r>
              <a:rPr lang="zh-CN" altLang="en-US" b="1" dirty="0">
                <a:latin typeface="微软雅黑" pitchFamily="34" charset="-122"/>
                <a:ea typeface="微软雅黑" pitchFamily="34" charset="-122"/>
              </a:rPr>
              <a:t>对每一个到达的分组都先计算</a:t>
            </a:r>
            <a:r>
              <a:rPr lang="zh-CN" altLang="en-US" b="1" dirty="0">
                <a:solidFill>
                  <a:srgbClr val="C00000"/>
                </a:solidFill>
                <a:latin typeface="微软雅黑" pitchFamily="34" charset="-122"/>
                <a:ea typeface="微软雅黑" pitchFamily="34" charset="-122"/>
              </a:rPr>
              <a:t>平均队列长度 </a:t>
            </a:r>
            <a:r>
              <a:rPr lang="en-US" altLang="zh-CN" b="1" i="1" dirty="0">
                <a:solidFill>
                  <a:srgbClr val="C00000"/>
                </a:solidFill>
                <a:latin typeface="微软雅黑" pitchFamily="34" charset="-122"/>
                <a:ea typeface="微软雅黑" pitchFamily="34" charset="-122"/>
              </a:rPr>
              <a:t>L</a:t>
            </a:r>
            <a:r>
              <a:rPr lang="en-US" altLang="zh-CN" b="1" baseline="-25000" dirty="0">
                <a:solidFill>
                  <a:srgbClr val="C00000"/>
                </a:solidFill>
                <a:latin typeface="微软雅黑" pitchFamily="34" charset="-122"/>
                <a:ea typeface="微软雅黑" pitchFamily="34" charset="-122"/>
              </a:rPr>
              <a:t>AV</a:t>
            </a:r>
            <a:r>
              <a:rPr lang="en-US" altLang="zh-CN" b="1" dirty="0">
                <a:solidFill>
                  <a:srgbClr val="C00000"/>
                </a:solidFill>
                <a:latin typeface="微软雅黑" pitchFamily="34" charset="-122"/>
                <a:ea typeface="微软雅黑" pitchFamily="34" charset="-122"/>
              </a:rPr>
              <a:t> </a:t>
            </a:r>
            <a:r>
              <a:rPr lang="zh-CN" altLang="en-US" b="1" dirty="0">
                <a:solidFill>
                  <a:srgbClr val="C00000"/>
                </a:solidFill>
                <a:latin typeface="微软雅黑" pitchFamily="34" charset="-122"/>
                <a:ea typeface="微软雅黑" pitchFamily="34" charset="-122"/>
              </a:rPr>
              <a:t>。</a:t>
            </a:r>
          </a:p>
        </p:txBody>
      </p:sp>
      <p:sp>
        <p:nvSpPr>
          <p:cNvPr id="38" name="标题 37">
            <a:extLst>
              <a:ext uri="{FF2B5EF4-FFF2-40B4-BE49-F238E27FC236}">
                <a16:creationId xmlns:a16="http://schemas.microsoft.com/office/drawing/2014/main" id="{A7F7AEC9-06C0-DFBE-3300-4839DF72DDD1}"/>
              </a:ext>
            </a:extLst>
          </p:cNvPr>
          <p:cNvSpPr>
            <a:spLocks noGrp="1"/>
          </p:cNvSpPr>
          <p:nvPr>
            <p:ph type="title"/>
          </p:nvPr>
        </p:nvSpPr>
        <p:spPr>
          <a:xfrm>
            <a:off x="2808000" y="144000"/>
            <a:ext cx="3528000" cy="338554"/>
          </a:xfrm>
        </p:spPr>
        <p:txBody>
          <a:bodyPr/>
          <a:lstStyle/>
          <a:p>
            <a:r>
              <a:rPr lang="zh-CN" altLang="en-US" dirty="0"/>
              <a:t>随机早期检测 </a:t>
            </a:r>
            <a:r>
              <a:rPr lang="en-US" altLang="zh-CN" dirty="0"/>
              <a:t>RED</a:t>
            </a:r>
            <a:endParaRPr lang="zh-CN" altLang="en-US" dirty="0"/>
          </a:p>
        </p:txBody>
      </p:sp>
    </p:spTree>
    <p:extLst>
      <p:ext uri="{BB962C8B-B14F-4D97-AF65-F5344CB8AC3E}">
        <p14:creationId xmlns:p14="http://schemas.microsoft.com/office/powerpoint/2010/main" val="13920680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8"/>
          <p:cNvSpPr>
            <a:spLocks noChangeArrowheads="1"/>
          </p:cNvSpPr>
          <p:nvPr/>
        </p:nvSpPr>
        <p:spPr bwMode="auto">
          <a:xfrm>
            <a:off x="556963" y="940075"/>
            <a:ext cx="8184960" cy="1131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baseline="-25000"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0</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dirty="0">
                <a:sym typeface="Symbol" pitchFamily="18" charset="2"/>
              </a:rPr>
              <a:t> </a:t>
            </a:r>
            <a:r>
              <a:rPr lang="en-US" altLang="zh-CN" b="1" dirty="0">
                <a:latin typeface="微软雅黑" pitchFamily="34" charset="-122"/>
                <a:ea typeface="微软雅黑" pitchFamily="34" charset="-122"/>
                <a:sym typeface="Symbol" pitchFamily="18" charset="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en-US" altLang="zh-CN" b="1" dirty="0">
                <a:latin typeface="微软雅黑" pitchFamily="34" charset="-122"/>
                <a:ea typeface="微软雅黑" pitchFamily="34" charset="-122"/>
              </a:rPr>
              <a:t> </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 1</a:t>
            </a:r>
            <a:r>
              <a:rPr lang="zh-CN" altLang="en-US" b="1" dirty="0">
                <a:latin typeface="微软雅黑" pitchFamily="34" charset="-122"/>
                <a:ea typeface="微软雅黑" pitchFamily="34" charset="-122"/>
              </a:rPr>
              <a:t>。</a:t>
            </a:r>
          </a:p>
          <a:p>
            <a:pPr marL="285750" indent="-285750">
              <a:lnSpc>
                <a:spcPts val="2700"/>
              </a:lnSpc>
              <a:buClr>
                <a:srgbClr val="0070C0"/>
              </a:buClr>
              <a:buFont typeface="Wingdings" pitchFamily="2" charset="2"/>
              <a:buChar char="l"/>
            </a:pPr>
            <a:r>
              <a:rPr lang="zh-CN" altLang="en-US" b="1" dirty="0">
                <a:latin typeface="微软雅黑" pitchFamily="34" charset="-122"/>
                <a:ea typeface="微软雅黑" pitchFamily="34" charset="-122"/>
              </a:rPr>
              <a:t>当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min</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L</a:t>
            </a:r>
            <a:r>
              <a:rPr lang="en-US" altLang="zh-CN" b="1" baseline="-25000" dirty="0">
                <a:latin typeface="微软雅黑" pitchFamily="34" charset="-122"/>
                <a:ea typeface="微软雅黑" pitchFamily="34" charset="-122"/>
              </a:rPr>
              <a:t>AV</a:t>
            </a:r>
            <a:r>
              <a:rPr lang="en-US" altLang="zh-CN" b="1" dirty="0">
                <a:latin typeface="微软雅黑" pitchFamily="34" charset="-122"/>
                <a:ea typeface="微软雅黑" pitchFamily="34" charset="-122"/>
              </a:rPr>
              <a:t> ≤ </a:t>
            </a:r>
            <a:r>
              <a:rPr lang="en-US" altLang="zh-CN" b="1" dirty="0" err="1">
                <a:latin typeface="微软雅黑" pitchFamily="34" charset="-122"/>
                <a:ea typeface="微软雅黑" pitchFamily="34" charset="-122"/>
              </a:rPr>
              <a:t>Th</a:t>
            </a:r>
            <a:r>
              <a:rPr lang="en-US" altLang="zh-CN" b="1" baseline="-25000" dirty="0" err="1">
                <a:latin typeface="微软雅黑" pitchFamily="34" charset="-122"/>
                <a:ea typeface="微软雅黑" pitchFamily="34" charset="-122"/>
              </a:rPr>
              <a:t>max</a:t>
            </a:r>
            <a:r>
              <a:rPr lang="zh-CN" altLang="en-US" b="1" dirty="0">
                <a:latin typeface="微软雅黑" pitchFamily="34" charset="-122"/>
                <a:ea typeface="微软雅黑" pitchFamily="34" charset="-122"/>
              </a:rPr>
              <a:t>时，丢弃概率 </a:t>
            </a:r>
            <a:r>
              <a:rPr lang="en-US" altLang="zh-CN" b="1" i="1" dirty="0">
                <a:latin typeface="微软雅黑" pitchFamily="34" charset="-122"/>
                <a:ea typeface="微软雅黑" pitchFamily="34" charset="-122"/>
              </a:rPr>
              <a:t>p</a:t>
            </a:r>
            <a:r>
              <a:rPr lang="zh-CN" altLang="en-US" b="1" dirty="0">
                <a:latin typeface="微软雅黑" pitchFamily="34" charset="-122"/>
                <a:ea typeface="微软雅黑" pitchFamily="34" charset="-122"/>
              </a:rPr>
              <a:t>： </a:t>
            </a:r>
            <a:r>
              <a:rPr lang="en-US" altLang="zh-CN" b="1" dirty="0">
                <a:latin typeface="微软雅黑" pitchFamily="34" charset="-122"/>
                <a:ea typeface="微软雅黑" pitchFamily="34" charset="-122"/>
              </a:rPr>
              <a:t>0 </a:t>
            </a:r>
            <a:r>
              <a:rPr lang="en-US" altLang="zh-CN" b="1" dirty="0">
                <a:latin typeface="微软雅黑" pitchFamily="34" charset="-122"/>
                <a:ea typeface="微软雅黑" pitchFamily="34" charset="-122"/>
                <a:sym typeface="Symbol" pitchFamily="18" charset="2"/>
              </a:rPr>
              <a:t> </a:t>
            </a:r>
            <a:r>
              <a:rPr lang="en-US" altLang="zh-CN" b="1" i="1" dirty="0">
                <a:latin typeface="微软雅黑" pitchFamily="34" charset="-122"/>
                <a:ea typeface="微软雅黑" pitchFamily="34" charset="-122"/>
              </a:rPr>
              <a:t>p</a:t>
            </a:r>
            <a:r>
              <a:rPr lang="en-US" altLang="zh-CN" b="1" dirty="0">
                <a:latin typeface="微软雅黑" pitchFamily="34" charset="-122"/>
                <a:ea typeface="微软雅黑" pitchFamily="34" charset="-122"/>
              </a:rPr>
              <a:t> </a:t>
            </a:r>
            <a:r>
              <a:rPr lang="en-US" altLang="zh-CN" b="1" dirty="0">
                <a:latin typeface="微软雅黑" pitchFamily="34" charset="-122"/>
                <a:ea typeface="微软雅黑" pitchFamily="34" charset="-122"/>
                <a:sym typeface="Symbol" pitchFamily="18" charset="2"/>
              </a:rPr>
              <a:t>  </a:t>
            </a:r>
            <a:r>
              <a:rPr lang="en-US" altLang="zh-CN" b="1" dirty="0">
                <a:latin typeface="微软雅黑" pitchFamily="34" charset="-122"/>
                <a:ea typeface="微软雅黑" pitchFamily="34" charset="-122"/>
              </a:rPr>
              <a:t>1 </a:t>
            </a:r>
            <a:r>
              <a:rPr lang="zh-CN" altLang="en-US" b="1" dirty="0">
                <a:latin typeface="微软雅黑" pitchFamily="34" charset="-122"/>
                <a:ea typeface="微软雅黑" pitchFamily="34" charset="-122"/>
              </a:rPr>
              <a:t>。</a:t>
            </a:r>
          </a:p>
        </p:txBody>
      </p:sp>
      <p:sp>
        <p:nvSpPr>
          <p:cNvPr id="37" name="Text Box 155"/>
          <p:cNvSpPr txBox="1">
            <a:spLocks noChangeArrowheads="1"/>
          </p:cNvSpPr>
          <p:nvPr/>
        </p:nvSpPr>
        <p:spPr bwMode="auto">
          <a:xfrm>
            <a:off x="1979629" y="2130284"/>
            <a:ext cx="5312624" cy="634020"/>
          </a:xfrm>
          <a:prstGeom prst="rect">
            <a:avLst/>
          </a:prstGeom>
          <a:solidFill>
            <a:srgbClr val="000099"/>
          </a:solidFill>
          <a:ln w="9525">
            <a:noFill/>
            <a:miter lim="800000"/>
            <a:headEnd/>
            <a:tailEnd/>
          </a:ln>
          <a:effectLst/>
        </p:spPr>
        <p:txBody>
          <a:bodyPr wrap="square">
            <a:spAutoFit/>
          </a:bodyPr>
          <a:lstStyle/>
          <a:p>
            <a:pPr algn="ctr">
              <a:lnSpc>
                <a:spcPct val="110000"/>
              </a:lnSpc>
            </a:pPr>
            <a:r>
              <a:rPr lang="zh-CN" altLang="en-US" sz="1600" b="1" dirty="0">
                <a:solidFill>
                  <a:srgbClr val="FFC000"/>
                </a:solidFill>
                <a:latin typeface="微软雅黑" pitchFamily="34" charset="-122"/>
                <a:ea typeface="微软雅黑" pitchFamily="34" charset="-122"/>
              </a:rPr>
              <a:t>困难：</a:t>
            </a:r>
            <a:r>
              <a:rPr lang="zh-CN" altLang="en-US" sz="1600" b="1" dirty="0">
                <a:solidFill>
                  <a:schemeClr val="bg1"/>
                </a:solidFill>
                <a:latin typeface="微软雅黑" pitchFamily="34" charset="-122"/>
                <a:ea typeface="微软雅黑" pitchFamily="34" charset="-122"/>
              </a:rPr>
              <a:t>丢弃概率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的选择，因为 </a:t>
            </a:r>
            <a:r>
              <a:rPr lang="en-US" altLang="zh-CN" sz="1600" b="1" i="1" dirty="0">
                <a:solidFill>
                  <a:schemeClr val="bg1"/>
                </a:solidFill>
                <a:latin typeface="微软雅黑" pitchFamily="34" charset="-122"/>
                <a:ea typeface="微软雅黑" pitchFamily="34" charset="-122"/>
              </a:rPr>
              <a:t>p</a:t>
            </a:r>
            <a:r>
              <a:rPr lang="en-US" altLang="zh-CN" sz="1600" b="1" dirty="0">
                <a:solidFill>
                  <a:schemeClr val="bg1"/>
                </a:solidFill>
                <a:latin typeface="微软雅黑" pitchFamily="34" charset="-122"/>
                <a:ea typeface="微软雅黑" pitchFamily="34" charset="-122"/>
              </a:rPr>
              <a:t> </a:t>
            </a:r>
            <a:r>
              <a:rPr lang="zh-CN" altLang="en-US" sz="1600" b="1" dirty="0">
                <a:solidFill>
                  <a:schemeClr val="bg1"/>
                </a:solidFill>
                <a:latin typeface="微软雅黑" pitchFamily="34" charset="-122"/>
                <a:ea typeface="微软雅黑" pitchFamily="34" charset="-122"/>
              </a:rPr>
              <a:t>并不是个常数。</a:t>
            </a:r>
            <a:endParaRPr lang="en-US" altLang="zh-CN" sz="1600" b="1" dirty="0">
              <a:solidFill>
                <a:schemeClr val="bg1"/>
              </a:solidFill>
              <a:latin typeface="微软雅黑" pitchFamily="34" charset="-122"/>
              <a:ea typeface="微软雅黑" pitchFamily="34" charset="-122"/>
            </a:endParaRPr>
          </a:p>
          <a:p>
            <a:pPr algn="ctr">
              <a:lnSpc>
                <a:spcPct val="110000"/>
              </a:lnSpc>
            </a:pPr>
            <a:r>
              <a:rPr lang="zh-CN" altLang="en-US" sz="1600" b="1" dirty="0">
                <a:solidFill>
                  <a:schemeClr val="bg1"/>
                </a:solidFill>
                <a:latin typeface="微软雅黑" pitchFamily="34" charset="-122"/>
                <a:ea typeface="微软雅黑" pitchFamily="34" charset="-122"/>
              </a:rPr>
              <a:t>例如，按线性规律变化，从 </a:t>
            </a:r>
            <a:r>
              <a:rPr lang="en-US" altLang="zh-CN" sz="1600" b="1" dirty="0">
                <a:solidFill>
                  <a:schemeClr val="bg1"/>
                </a:solidFill>
                <a:latin typeface="微软雅黑" pitchFamily="34" charset="-122"/>
                <a:ea typeface="微软雅黑" pitchFamily="34" charset="-122"/>
              </a:rPr>
              <a:t>0 </a:t>
            </a:r>
            <a:r>
              <a:rPr lang="zh-CN" altLang="en-US" sz="1600" b="1" dirty="0">
                <a:solidFill>
                  <a:schemeClr val="bg1"/>
                </a:solidFill>
                <a:latin typeface="微软雅黑" pitchFamily="34" charset="-122"/>
                <a:ea typeface="微软雅黑" pitchFamily="34" charset="-122"/>
              </a:rPr>
              <a:t>变到 </a:t>
            </a:r>
            <a:r>
              <a:rPr lang="en-US" altLang="zh-CN" sz="1600" b="1" i="1" dirty="0" err="1">
                <a:solidFill>
                  <a:schemeClr val="bg1"/>
                </a:solidFill>
                <a:latin typeface="微软雅黑" pitchFamily="34" charset="-122"/>
                <a:ea typeface="微软雅黑" pitchFamily="34" charset="-122"/>
              </a:rPr>
              <a:t>p</a:t>
            </a:r>
            <a:r>
              <a:rPr lang="en-US" altLang="zh-CN" sz="1600" b="1" baseline="-25000" dirty="0" err="1">
                <a:solidFill>
                  <a:schemeClr val="bg1"/>
                </a:solidFill>
                <a:latin typeface="微软雅黑" pitchFamily="34" charset="-122"/>
                <a:ea typeface="微软雅黑" pitchFamily="34" charset="-122"/>
              </a:rPr>
              <a:t>max</a:t>
            </a:r>
            <a:r>
              <a:rPr lang="zh-CN" altLang="en-US" sz="1600" b="1" dirty="0">
                <a:solidFill>
                  <a:schemeClr val="bg1"/>
                </a:solidFill>
                <a:latin typeface="微软雅黑" pitchFamily="34" charset="-122"/>
                <a:ea typeface="微软雅黑" pitchFamily="34" charset="-122"/>
              </a:rPr>
              <a:t>。</a:t>
            </a:r>
          </a:p>
        </p:txBody>
      </p:sp>
      <p:sp>
        <p:nvSpPr>
          <p:cNvPr id="38" name="Line 4"/>
          <p:cNvSpPr>
            <a:spLocks noChangeShapeType="1"/>
          </p:cNvSpPr>
          <p:nvPr/>
        </p:nvSpPr>
        <p:spPr bwMode="auto">
          <a:xfrm>
            <a:off x="1805344" y="4003051"/>
            <a:ext cx="5486909"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39" name="Line 5"/>
          <p:cNvSpPr>
            <a:spLocks noChangeShapeType="1"/>
          </p:cNvSpPr>
          <p:nvPr/>
        </p:nvSpPr>
        <p:spPr bwMode="auto">
          <a:xfrm rot="16200000">
            <a:off x="1189140" y="3386848"/>
            <a:ext cx="1232407" cy="0"/>
          </a:xfrm>
          <a:prstGeom prst="line">
            <a:avLst/>
          </a:prstGeom>
          <a:noFill/>
          <a:ln w="1905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0" name="Text Box 6"/>
          <p:cNvSpPr txBox="1">
            <a:spLocks noChangeArrowheads="1"/>
          </p:cNvSpPr>
          <p:nvPr/>
        </p:nvSpPr>
        <p:spPr bwMode="auto">
          <a:xfrm>
            <a:off x="2600370" y="4019567"/>
            <a:ext cx="144462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最小门限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min</a:t>
            </a:r>
            <a:endParaRPr kumimoji="1" lang="en-US" altLang="zh-CN" sz="1400" b="1" baseline="-25000" dirty="0">
              <a:solidFill>
                <a:srgbClr val="0000FF"/>
              </a:solidFill>
              <a:latin typeface="微软雅黑" pitchFamily="34" charset="-122"/>
              <a:ea typeface="微软雅黑" pitchFamily="34" charset="-122"/>
            </a:endParaRPr>
          </a:p>
        </p:txBody>
      </p:sp>
      <p:sp>
        <p:nvSpPr>
          <p:cNvPr id="41" name="Text Box 7"/>
          <p:cNvSpPr txBox="1">
            <a:spLocks noChangeArrowheads="1"/>
          </p:cNvSpPr>
          <p:nvPr/>
        </p:nvSpPr>
        <p:spPr bwMode="auto">
          <a:xfrm>
            <a:off x="4579548" y="3998923"/>
            <a:ext cx="1471878"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400" b="1" dirty="0">
                <a:solidFill>
                  <a:srgbClr val="0000FF"/>
                </a:solidFill>
                <a:latin typeface="微软雅黑" pitchFamily="34" charset="-122"/>
                <a:ea typeface="微软雅黑" pitchFamily="34" charset="-122"/>
              </a:rPr>
              <a:t>最大门限 </a:t>
            </a:r>
            <a:r>
              <a:rPr kumimoji="1" lang="en-US" altLang="zh-CN" sz="1400" b="1" dirty="0" err="1">
                <a:solidFill>
                  <a:srgbClr val="0000FF"/>
                </a:solidFill>
                <a:latin typeface="微软雅黑" pitchFamily="34" charset="-122"/>
                <a:ea typeface="微软雅黑" pitchFamily="34" charset="-122"/>
              </a:rPr>
              <a:t>TH</a:t>
            </a:r>
            <a:r>
              <a:rPr kumimoji="1" lang="en-US" altLang="zh-CN" sz="1400" b="1" baseline="-25000" dirty="0" err="1">
                <a:solidFill>
                  <a:srgbClr val="0000FF"/>
                </a:solidFill>
                <a:latin typeface="微软雅黑" pitchFamily="34" charset="-122"/>
                <a:ea typeface="微软雅黑" pitchFamily="34" charset="-122"/>
              </a:rPr>
              <a:t>max</a:t>
            </a:r>
            <a:endParaRPr kumimoji="1" lang="en-US" altLang="zh-CN" sz="1400" b="1" baseline="-25000" dirty="0">
              <a:solidFill>
                <a:srgbClr val="0000FF"/>
              </a:solidFill>
              <a:latin typeface="微软雅黑" pitchFamily="34" charset="-122"/>
              <a:ea typeface="微软雅黑" pitchFamily="34" charset="-122"/>
            </a:endParaRPr>
          </a:p>
        </p:txBody>
      </p:sp>
      <p:sp>
        <p:nvSpPr>
          <p:cNvPr id="42" name="Text Box 8"/>
          <p:cNvSpPr txBox="1">
            <a:spLocks noChangeArrowheads="1"/>
          </p:cNvSpPr>
          <p:nvPr/>
        </p:nvSpPr>
        <p:spPr bwMode="auto">
          <a:xfrm>
            <a:off x="6479151" y="4007946"/>
            <a:ext cx="1580636" cy="307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平均队列长度 </a:t>
            </a:r>
            <a:r>
              <a:rPr kumimoji="1" lang="en-US" altLang="zh-CN" sz="1400" b="1" i="1" dirty="0" err="1">
                <a:latin typeface="微软雅黑" pitchFamily="34" charset="-122"/>
                <a:ea typeface="微软雅黑" pitchFamily="34" charset="-122"/>
              </a:rPr>
              <a:t>L</a:t>
            </a:r>
            <a:r>
              <a:rPr kumimoji="1" lang="en-US" altLang="zh-CN" sz="1400" b="1" baseline="-25000" dirty="0" err="1">
                <a:latin typeface="微软雅黑" pitchFamily="34" charset="-122"/>
                <a:ea typeface="微软雅黑" pitchFamily="34" charset="-122"/>
              </a:rPr>
              <a:t>av</a:t>
            </a:r>
            <a:endParaRPr kumimoji="1" lang="en-US" altLang="zh-CN" sz="1400" b="1" baseline="-25000" dirty="0">
              <a:latin typeface="微软雅黑" pitchFamily="34" charset="-122"/>
              <a:ea typeface="微软雅黑" pitchFamily="34" charset="-122"/>
            </a:endParaRPr>
          </a:p>
        </p:txBody>
      </p:sp>
      <p:sp>
        <p:nvSpPr>
          <p:cNvPr id="43" name="Text Box 9"/>
          <p:cNvSpPr txBox="1">
            <a:spLocks noChangeArrowheads="1"/>
          </p:cNvSpPr>
          <p:nvPr/>
        </p:nvSpPr>
        <p:spPr bwMode="auto">
          <a:xfrm>
            <a:off x="1884735" y="2755163"/>
            <a:ext cx="14995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1400" b="1" dirty="0">
                <a:latin typeface="微软雅黑" pitchFamily="34" charset="-122"/>
                <a:ea typeface="微软雅黑" pitchFamily="34" charset="-122"/>
              </a:rPr>
              <a:t>分组丢弃概率</a:t>
            </a:r>
            <a:r>
              <a:rPr kumimoji="1" lang="zh-CN" altLang="en-US" sz="1400" b="1" i="1" dirty="0">
                <a:latin typeface="微软雅黑" pitchFamily="34" charset="-122"/>
                <a:ea typeface="微软雅黑" pitchFamily="34" charset="-122"/>
              </a:rPr>
              <a:t> </a:t>
            </a:r>
            <a:r>
              <a:rPr kumimoji="1" lang="en-US" altLang="zh-CN" sz="1400" b="1" i="1" dirty="0">
                <a:latin typeface="微软雅黑" pitchFamily="34" charset="-122"/>
                <a:ea typeface="微软雅黑" pitchFamily="34" charset="-122"/>
              </a:rPr>
              <a:t>p</a:t>
            </a:r>
          </a:p>
        </p:txBody>
      </p:sp>
      <p:sp>
        <p:nvSpPr>
          <p:cNvPr id="44" name="Line 10"/>
          <p:cNvSpPr>
            <a:spLocks noChangeShapeType="1"/>
          </p:cNvSpPr>
          <p:nvPr/>
        </p:nvSpPr>
        <p:spPr bwMode="auto">
          <a:xfrm>
            <a:off x="5383519" y="3694434"/>
            <a:ext cx="0" cy="3086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5" name="Line 11"/>
          <p:cNvSpPr>
            <a:spLocks noChangeShapeType="1"/>
          </p:cNvSpPr>
          <p:nvPr/>
        </p:nvSpPr>
        <p:spPr bwMode="auto">
          <a:xfrm>
            <a:off x="3395395" y="3951444"/>
            <a:ext cx="0" cy="5160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6" name="Line 12"/>
          <p:cNvSpPr>
            <a:spLocks noChangeShapeType="1"/>
          </p:cNvSpPr>
          <p:nvPr/>
        </p:nvSpPr>
        <p:spPr bwMode="auto">
          <a:xfrm rot="16200000">
            <a:off x="1845039" y="2987959"/>
            <a:ext cx="0" cy="793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48" name="Text Box 14"/>
          <p:cNvSpPr txBox="1">
            <a:spLocks noChangeArrowheads="1"/>
          </p:cNvSpPr>
          <p:nvPr/>
        </p:nvSpPr>
        <p:spPr bwMode="auto">
          <a:xfrm>
            <a:off x="1359269" y="2838769"/>
            <a:ext cx="457176"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dirty="0">
                <a:solidFill>
                  <a:srgbClr val="000099"/>
                </a:solidFill>
                <a:latin typeface="微软雅黑" pitchFamily="34" charset="-122"/>
                <a:ea typeface="微软雅黑" pitchFamily="34" charset="-122"/>
              </a:rPr>
              <a:t>1.0</a:t>
            </a:r>
            <a:endParaRPr kumimoji="1" lang="en-US" altLang="zh-CN" sz="1400" b="1" i="1" dirty="0">
              <a:solidFill>
                <a:srgbClr val="000099"/>
              </a:solidFill>
              <a:latin typeface="微软雅黑" pitchFamily="34" charset="-122"/>
              <a:ea typeface="微软雅黑" pitchFamily="34" charset="-122"/>
            </a:endParaRPr>
          </a:p>
        </p:txBody>
      </p:sp>
      <p:sp>
        <p:nvSpPr>
          <p:cNvPr id="49" name="Text Box 15"/>
          <p:cNvSpPr txBox="1">
            <a:spLocks noChangeArrowheads="1"/>
          </p:cNvSpPr>
          <p:nvPr/>
        </p:nvSpPr>
        <p:spPr bwMode="auto">
          <a:xfrm>
            <a:off x="1506790" y="3793523"/>
            <a:ext cx="274557" cy="286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400" b="1">
                <a:solidFill>
                  <a:srgbClr val="000099"/>
                </a:solidFill>
                <a:latin typeface="微软雅黑" pitchFamily="34" charset="-122"/>
                <a:ea typeface="微软雅黑" pitchFamily="34" charset="-122"/>
              </a:rPr>
              <a:t>0</a:t>
            </a:r>
            <a:endParaRPr kumimoji="1" lang="en-US" altLang="zh-CN" sz="1400" b="1" i="1">
              <a:solidFill>
                <a:srgbClr val="000099"/>
              </a:solidFill>
              <a:latin typeface="微软雅黑" pitchFamily="34" charset="-122"/>
              <a:ea typeface="微软雅黑" pitchFamily="34" charset="-122"/>
            </a:endParaRPr>
          </a:p>
        </p:txBody>
      </p:sp>
      <p:sp>
        <p:nvSpPr>
          <p:cNvPr id="50" name="Line 16"/>
          <p:cNvSpPr>
            <a:spLocks noChangeShapeType="1"/>
          </p:cNvSpPr>
          <p:nvPr/>
        </p:nvSpPr>
        <p:spPr bwMode="auto">
          <a:xfrm>
            <a:off x="1805343" y="3694434"/>
            <a:ext cx="3578175"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sp>
        <p:nvSpPr>
          <p:cNvPr id="51" name="Text Box 17"/>
          <p:cNvSpPr txBox="1">
            <a:spLocks noChangeArrowheads="1"/>
          </p:cNvSpPr>
          <p:nvPr/>
        </p:nvSpPr>
        <p:spPr bwMode="auto">
          <a:xfrm>
            <a:off x="1255073" y="3493161"/>
            <a:ext cx="56137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kumimoji="1" lang="en-US" altLang="zh-CN" sz="1400" b="1" i="1">
                <a:solidFill>
                  <a:srgbClr val="000099"/>
                </a:solidFill>
                <a:latin typeface="微软雅黑" pitchFamily="34" charset="-122"/>
                <a:ea typeface="微软雅黑" pitchFamily="34" charset="-122"/>
              </a:rPr>
              <a:t>p</a:t>
            </a:r>
            <a:r>
              <a:rPr kumimoji="1" lang="en-US" altLang="zh-CN" sz="1400" b="1" baseline="-25000">
                <a:solidFill>
                  <a:srgbClr val="000099"/>
                </a:solidFill>
                <a:latin typeface="微软雅黑" pitchFamily="34" charset="-122"/>
                <a:ea typeface="微软雅黑" pitchFamily="34" charset="-122"/>
              </a:rPr>
              <a:t>max</a:t>
            </a:r>
            <a:endParaRPr kumimoji="1" lang="en-US" altLang="zh-CN" sz="1400" b="1" i="1" baseline="-25000">
              <a:solidFill>
                <a:srgbClr val="000099"/>
              </a:solidFill>
              <a:latin typeface="微软雅黑" pitchFamily="34" charset="-122"/>
              <a:ea typeface="微软雅黑" pitchFamily="34" charset="-122"/>
            </a:endParaRPr>
          </a:p>
        </p:txBody>
      </p:sp>
      <p:grpSp>
        <p:nvGrpSpPr>
          <p:cNvPr id="8" name="组合 7"/>
          <p:cNvGrpSpPr/>
          <p:nvPr/>
        </p:nvGrpSpPr>
        <p:grpSpPr>
          <a:xfrm>
            <a:off x="1805344" y="3027655"/>
            <a:ext cx="5328127" cy="975397"/>
            <a:chOff x="1805344" y="3027655"/>
            <a:chExt cx="5328127" cy="975397"/>
          </a:xfrm>
        </p:grpSpPr>
        <p:sp>
          <p:nvSpPr>
            <p:cNvPr id="47" name="Freeform 13"/>
            <p:cNvSpPr>
              <a:spLocks/>
            </p:cNvSpPr>
            <p:nvPr/>
          </p:nvSpPr>
          <p:spPr bwMode="auto">
            <a:xfrm>
              <a:off x="3395395" y="3027655"/>
              <a:ext cx="3738076" cy="975397"/>
            </a:xfrm>
            <a:custGeom>
              <a:avLst/>
              <a:gdLst>
                <a:gd name="T0" fmla="*/ 0 w 2256"/>
                <a:gd name="T1" fmla="*/ 912 h 912"/>
                <a:gd name="T2" fmla="*/ 1200 w 2256"/>
                <a:gd name="T3" fmla="*/ 624 h 912"/>
                <a:gd name="T4" fmla="*/ 1200 w 2256"/>
                <a:gd name="T5" fmla="*/ 0 h 912"/>
                <a:gd name="T6" fmla="*/ 2256 w 2256"/>
                <a:gd name="T7" fmla="*/ 0 h 912"/>
              </a:gdLst>
              <a:ahLst/>
              <a:cxnLst>
                <a:cxn ang="0">
                  <a:pos x="T0" y="T1"/>
                </a:cxn>
                <a:cxn ang="0">
                  <a:pos x="T2" y="T3"/>
                </a:cxn>
                <a:cxn ang="0">
                  <a:pos x="T4" y="T5"/>
                </a:cxn>
                <a:cxn ang="0">
                  <a:pos x="T6" y="T7"/>
                </a:cxn>
              </a:cxnLst>
              <a:rect l="0" t="0" r="r" b="b"/>
              <a:pathLst>
                <a:path w="2256" h="912">
                  <a:moveTo>
                    <a:pt x="0" y="912"/>
                  </a:moveTo>
                  <a:lnTo>
                    <a:pt x="1200" y="624"/>
                  </a:lnTo>
                  <a:lnTo>
                    <a:pt x="1200" y="0"/>
                  </a:lnTo>
                  <a:lnTo>
                    <a:pt x="2256" y="0"/>
                  </a:lnTo>
                </a:path>
              </a:pathLst>
            </a:custGeom>
            <a:noFill/>
            <a:ln w="38100" cmpd="sng">
              <a:solidFill>
                <a:srgbClr val="CC00CC"/>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1400" b="1">
                <a:solidFill>
                  <a:srgbClr val="000099"/>
                </a:solidFill>
                <a:latin typeface="微软雅黑" pitchFamily="34" charset="-122"/>
                <a:ea typeface="微软雅黑" pitchFamily="34" charset="-122"/>
              </a:endParaRPr>
            </a:p>
          </p:txBody>
        </p:sp>
        <p:cxnSp>
          <p:nvCxnSpPr>
            <p:cNvPr id="7" name="直接连接符 6"/>
            <p:cNvCxnSpPr>
              <a:stCxn id="39" idx="0"/>
              <a:endCxn id="45" idx="1"/>
            </p:cNvCxnSpPr>
            <p:nvPr/>
          </p:nvCxnSpPr>
          <p:spPr>
            <a:xfrm>
              <a:off x="1805344" y="4003052"/>
              <a:ext cx="1590052" cy="0"/>
            </a:xfrm>
            <a:prstGeom prst="line">
              <a:avLst/>
            </a:prstGeom>
            <a:ln w="38100">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9" name="TextBox 8"/>
          <p:cNvSpPr txBox="1"/>
          <p:nvPr/>
        </p:nvSpPr>
        <p:spPr>
          <a:xfrm>
            <a:off x="2155448" y="3378978"/>
            <a:ext cx="692255" cy="276999"/>
          </a:xfrm>
          <a:prstGeom prst="rect">
            <a:avLst/>
          </a:prstGeom>
          <a:noFill/>
        </p:spPr>
        <p:txBody>
          <a:bodyPr wrap="square" rtlCol="0">
            <a:spAutoFit/>
          </a:bodyPr>
          <a:lstStyle/>
          <a:p>
            <a:r>
              <a:rPr lang="zh-CN" altLang="en-US" sz="1200" b="1" dirty="0">
                <a:solidFill>
                  <a:srgbClr val="0000FF"/>
                </a:solidFill>
                <a:latin typeface="微软雅黑" pitchFamily="34" charset="-122"/>
                <a:ea typeface="微软雅黑" pitchFamily="34" charset="-122"/>
              </a:rPr>
              <a:t>排队</a:t>
            </a:r>
          </a:p>
        </p:txBody>
      </p:sp>
      <p:sp>
        <p:nvSpPr>
          <p:cNvPr id="27" name="TextBox 26"/>
          <p:cNvSpPr txBox="1"/>
          <p:nvPr/>
        </p:nvSpPr>
        <p:spPr>
          <a:xfrm>
            <a:off x="3970251" y="3010538"/>
            <a:ext cx="1072012" cy="461665"/>
          </a:xfrm>
          <a:prstGeom prst="rect">
            <a:avLst/>
          </a:prstGeom>
          <a:noFill/>
        </p:spPr>
        <p:txBody>
          <a:bodyPr wrap="square" rtlCol="0">
            <a:spAutoFit/>
          </a:bodyPr>
          <a:lstStyle/>
          <a:p>
            <a:r>
              <a:rPr lang="zh-CN" altLang="en-US" sz="1200" b="1" dirty="0">
                <a:solidFill>
                  <a:srgbClr val="CC00CC"/>
                </a:solidFill>
                <a:latin typeface="微软雅黑" pitchFamily="34" charset="-122"/>
                <a:ea typeface="微软雅黑" pitchFamily="34" charset="-122"/>
              </a:rPr>
              <a:t>丢弃或排队。以概率</a:t>
            </a:r>
            <a:r>
              <a:rPr lang="en-US" altLang="zh-CN" sz="1200" b="1" dirty="0">
                <a:solidFill>
                  <a:srgbClr val="CC00CC"/>
                </a:solidFill>
                <a:latin typeface="微软雅黑" pitchFamily="34" charset="-122"/>
                <a:ea typeface="微软雅黑" pitchFamily="34" charset="-122"/>
              </a:rPr>
              <a:t>p</a:t>
            </a:r>
            <a:r>
              <a:rPr lang="zh-CN" altLang="en-US" sz="1200" b="1" dirty="0">
                <a:solidFill>
                  <a:srgbClr val="CC00CC"/>
                </a:solidFill>
                <a:latin typeface="微软雅黑" pitchFamily="34" charset="-122"/>
                <a:ea typeface="微软雅黑" pitchFamily="34" charset="-122"/>
              </a:rPr>
              <a:t>丢弃</a:t>
            </a:r>
          </a:p>
        </p:txBody>
      </p:sp>
      <p:sp>
        <p:nvSpPr>
          <p:cNvPr id="28" name="TextBox 27"/>
          <p:cNvSpPr txBox="1"/>
          <p:nvPr/>
        </p:nvSpPr>
        <p:spPr>
          <a:xfrm>
            <a:off x="6061459" y="3389525"/>
            <a:ext cx="1072012" cy="276999"/>
          </a:xfrm>
          <a:prstGeom prst="rect">
            <a:avLst/>
          </a:prstGeom>
          <a:noFill/>
        </p:spPr>
        <p:txBody>
          <a:bodyPr wrap="square" rtlCol="0">
            <a:spAutoFit/>
          </a:bodyPr>
          <a:lstStyle/>
          <a:p>
            <a:r>
              <a:rPr lang="zh-CN" altLang="en-US" sz="1200" b="1" dirty="0">
                <a:solidFill>
                  <a:srgbClr val="C00000"/>
                </a:solidFill>
                <a:latin typeface="微软雅黑" pitchFamily="34" charset="-122"/>
                <a:ea typeface="微软雅黑" pitchFamily="34" charset="-122"/>
              </a:rPr>
              <a:t>丢弃</a:t>
            </a:r>
          </a:p>
        </p:txBody>
      </p:sp>
      <p:cxnSp>
        <p:nvCxnSpPr>
          <p:cNvPr id="11" name="直接箭头连接符 10"/>
          <p:cNvCxnSpPr/>
          <p:nvPr/>
        </p:nvCxnSpPr>
        <p:spPr>
          <a:xfrm>
            <a:off x="2364377" y="3616788"/>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4493194" y="3452162"/>
            <a:ext cx="0" cy="360782"/>
          </a:xfrm>
          <a:prstGeom prst="straightConnector1">
            <a:avLst/>
          </a:prstGeom>
          <a:ln w="3810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6295869" y="3041346"/>
            <a:ext cx="0" cy="360782"/>
          </a:xfrm>
          <a:prstGeom prst="straightConnector1">
            <a:avLst/>
          </a:prstGeom>
          <a:ln w="3810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标题 5">
            <a:extLst>
              <a:ext uri="{FF2B5EF4-FFF2-40B4-BE49-F238E27FC236}">
                <a16:creationId xmlns:a16="http://schemas.microsoft.com/office/drawing/2014/main" id="{52C58593-1B4A-8015-D83E-07287AC8F83D}"/>
              </a:ext>
            </a:extLst>
          </p:cNvPr>
          <p:cNvSpPr>
            <a:spLocks noGrp="1"/>
          </p:cNvSpPr>
          <p:nvPr>
            <p:ph type="title"/>
          </p:nvPr>
        </p:nvSpPr>
        <p:spPr>
          <a:xfrm>
            <a:off x="2808000" y="144000"/>
            <a:ext cx="3528000" cy="338554"/>
          </a:xfrm>
        </p:spPr>
        <p:txBody>
          <a:bodyPr/>
          <a:lstStyle/>
          <a:p>
            <a:r>
              <a:rPr lang="zh-CN" altLang="en-US" dirty="0"/>
              <a:t>随机早期检测 </a:t>
            </a:r>
            <a:r>
              <a:rPr lang="en-US" altLang="zh-CN" dirty="0"/>
              <a:t>RED</a:t>
            </a:r>
            <a:endParaRPr lang="zh-CN" altLang="en-US" dirty="0"/>
          </a:p>
        </p:txBody>
      </p:sp>
    </p:spTree>
    <p:extLst>
      <p:ext uri="{BB962C8B-B14F-4D97-AF65-F5344CB8AC3E}">
        <p14:creationId xmlns:p14="http://schemas.microsoft.com/office/powerpoint/2010/main" val="404787736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4E93B039-EBC8-BF2B-CE9A-2F950103E1F0}"/>
              </a:ext>
            </a:extLst>
          </p:cNvPr>
          <p:cNvSpPr>
            <a:spLocks noGrp="1"/>
          </p:cNvSpPr>
          <p:nvPr>
            <p:ph sz="quarter" idx="11"/>
          </p:nvPr>
        </p:nvSpPr>
        <p:spPr>
          <a:xfrm>
            <a:off x="486000" y="482554"/>
            <a:ext cx="8172000" cy="4120946"/>
          </a:xfrm>
        </p:spPr>
        <p:txBody>
          <a:bodyPr/>
          <a:lstStyle/>
          <a:p>
            <a:r>
              <a:rPr lang="zh-CN" altLang="en-US" dirty="0"/>
              <a:t>多年的实践证明，</a:t>
            </a:r>
            <a:r>
              <a:rPr lang="en-US" altLang="zh-CN" dirty="0"/>
              <a:t>RED </a:t>
            </a:r>
            <a:r>
              <a:rPr lang="zh-CN" altLang="en-US" dirty="0"/>
              <a:t>的使用效果并不太理想。</a:t>
            </a:r>
          </a:p>
          <a:p>
            <a:r>
              <a:rPr lang="en-US" altLang="zh-CN" dirty="0"/>
              <a:t>2015 </a:t>
            </a:r>
            <a:r>
              <a:rPr lang="zh-CN" altLang="en-US" dirty="0"/>
              <a:t>年公布的 </a:t>
            </a:r>
            <a:r>
              <a:rPr lang="en-US" altLang="zh-CN" dirty="0"/>
              <a:t>RFC 7567 </a:t>
            </a:r>
            <a:r>
              <a:rPr lang="zh-CN" altLang="en-US" dirty="0"/>
              <a:t>已经把 </a:t>
            </a:r>
            <a:r>
              <a:rPr lang="en-US" altLang="zh-CN" dirty="0"/>
              <a:t>RFC 2309 </a:t>
            </a:r>
            <a:r>
              <a:rPr lang="zh-CN" altLang="en-US" dirty="0"/>
              <a:t>列为“陈旧的”，并且不再推荐使用 </a:t>
            </a:r>
            <a:r>
              <a:rPr lang="en-US" altLang="zh-CN" dirty="0"/>
              <a:t>RED</a:t>
            </a:r>
            <a:r>
              <a:rPr lang="zh-CN" altLang="en-US" dirty="0"/>
              <a:t>。</a:t>
            </a:r>
          </a:p>
          <a:p>
            <a:r>
              <a:rPr lang="zh-CN" altLang="en-US" dirty="0"/>
              <a:t>但对路由器进行主动队列管理 </a:t>
            </a:r>
            <a:r>
              <a:rPr lang="en-US" altLang="zh-CN" dirty="0"/>
              <a:t>AQM </a:t>
            </a:r>
            <a:r>
              <a:rPr lang="zh-CN" altLang="en-US" dirty="0"/>
              <a:t>仍是必要的。</a:t>
            </a:r>
          </a:p>
          <a:p>
            <a:r>
              <a:rPr lang="en-US" altLang="zh-CN" dirty="0"/>
              <a:t>AQM </a:t>
            </a:r>
            <a:r>
              <a:rPr lang="zh-CN" altLang="en-US" dirty="0"/>
              <a:t>实际上就是对路由器中的分组排队进行智能管理，而不是简单地把队列的尾部丢弃。</a:t>
            </a:r>
          </a:p>
          <a:p>
            <a:r>
              <a:rPr lang="zh-CN" altLang="en-US" dirty="0"/>
              <a:t>现在已经有几种不同的算法来代替旧的 </a:t>
            </a:r>
            <a:r>
              <a:rPr lang="en-US" altLang="zh-CN" dirty="0"/>
              <a:t>RED</a:t>
            </a:r>
            <a:r>
              <a:rPr lang="zh-CN" altLang="en-US" dirty="0"/>
              <a:t>，但都还在实验阶段。</a:t>
            </a:r>
          </a:p>
          <a:p>
            <a:endParaRPr lang="zh-CN" altLang="en-US" dirty="0"/>
          </a:p>
        </p:txBody>
      </p:sp>
      <p:sp>
        <p:nvSpPr>
          <p:cNvPr id="8" name="标题 7">
            <a:extLst>
              <a:ext uri="{FF2B5EF4-FFF2-40B4-BE49-F238E27FC236}">
                <a16:creationId xmlns:a16="http://schemas.microsoft.com/office/drawing/2014/main" id="{2696A79A-8206-C924-8B60-A54D44F85BAE}"/>
              </a:ext>
            </a:extLst>
          </p:cNvPr>
          <p:cNvSpPr>
            <a:spLocks noGrp="1"/>
          </p:cNvSpPr>
          <p:nvPr>
            <p:ph type="title"/>
          </p:nvPr>
        </p:nvSpPr>
        <p:spPr>
          <a:xfrm>
            <a:off x="2808000" y="144000"/>
            <a:ext cx="3528000" cy="338554"/>
          </a:xfrm>
        </p:spPr>
        <p:txBody>
          <a:bodyPr/>
          <a:lstStyle/>
          <a:p>
            <a:r>
              <a:rPr lang="zh-CN" altLang="en-US" dirty="0"/>
              <a:t>随机早期检测 </a:t>
            </a:r>
            <a:r>
              <a:rPr lang="en-US" altLang="zh-CN" dirty="0"/>
              <a:t>RED</a:t>
            </a:r>
            <a:endParaRPr lang="zh-CN" altLang="en-US" dirty="0"/>
          </a:p>
        </p:txBody>
      </p:sp>
    </p:spTree>
    <p:extLst>
      <p:ext uri="{BB962C8B-B14F-4D97-AF65-F5344CB8AC3E}">
        <p14:creationId xmlns:p14="http://schemas.microsoft.com/office/powerpoint/2010/main" val="409580579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9"/>
          <p:cNvSpPr>
            <a:spLocks noChangeArrowheads="1"/>
          </p:cNvSpPr>
          <p:nvPr/>
        </p:nvSpPr>
        <p:spPr bwMode="auto">
          <a:xfrm>
            <a:off x="2629135" y="2607249"/>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3" name="Rectangle 9"/>
          <p:cNvSpPr>
            <a:spLocks noChangeArrowheads="1"/>
          </p:cNvSpPr>
          <p:nvPr/>
        </p:nvSpPr>
        <p:spPr bwMode="auto">
          <a:xfrm>
            <a:off x="2629135" y="1404945"/>
            <a:ext cx="5775326" cy="330200"/>
          </a:xfrm>
          <a:prstGeom prst="rect">
            <a:avLst/>
          </a:prstGeom>
          <a:solidFill>
            <a:srgbClr val="0098F6"/>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4" name="Rectangle 10"/>
          <p:cNvSpPr>
            <a:spLocks noChangeArrowheads="1"/>
          </p:cNvSpPr>
          <p:nvPr/>
        </p:nvSpPr>
        <p:spPr bwMode="auto">
          <a:xfrm>
            <a:off x="2629135" y="2011370"/>
            <a:ext cx="5775326" cy="330200"/>
          </a:xfrm>
          <a:prstGeom prst="rect">
            <a:avLst/>
          </a:prstGeom>
          <a:solidFill>
            <a:srgbClr val="1956B9"/>
          </a:solidFill>
          <a:ln>
            <a:noFill/>
          </a:ln>
          <a:effectLst>
            <a:outerShdw blurRad="57785" dist="33020" dir="3180000" algn="ctr">
              <a:srgbClr val="000000">
                <a:alpha val="30000"/>
              </a:srgbClr>
            </a:outerShdw>
          </a:effectLst>
          <a:extLst>
            <a:ext uri="{91240B29-F687-4F45-9708-019B960494DF}">
              <a14:hiddenLine xmlns:a14="http://schemas.microsoft.com/office/drawing/2010/main" w="9525" algn="ctr">
                <a:solidFill>
                  <a:srgbClr val="000000"/>
                </a:solidFill>
                <a:miter lim="1000000"/>
                <a:headEnd/>
                <a:tailEnd/>
              </a14:hiddenLine>
            </a:ext>
          </a:extLst>
        </p:spPr>
        <p:txBody>
          <a:bodyPr anchor="ctr"/>
          <a:lstStyle/>
          <a:p>
            <a:pPr algn="ctr" eaLnBrk="0" hangingPunct="0"/>
            <a:endParaRPr lang="fr-FR">
              <a:solidFill>
                <a:srgbClr val="FFFFFF"/>
              </a:solidFill>
              <a:latin typeface="宋体" charset="-122"/>
            </a:endParaRPr>
          </a:p>
        </p:txBody>
      </p:sp>
      <p:sp>
        <p:nvSpPr>
          <p:cNvPr id="5" name="Line 16"/>
          <p:cNvSpPr>
            <a:spLocks noChangeShapeType="1"/>
          </p:cNvSpPr>
          <p:nvPr/>
        </p:nvSpPr>
        <p:spPr bwMode="auto">
          <a:xfrm>
            <a:off x="3637198" y="1333507"/>
            <a:ext cx="0" cy="1800225"/>
          </a:xfrm>
          <a:prstGeom prst="line">
            <a:avLst/>
          </a:prstGeom>
          <a:noFill/>
          <a:ln w="28575" algn="ctr">
            <a:solidFill>
              <a:srgbClr val="FFFF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 name="Rectangle 8"/>
          <p:cNvSpPr>
            <a:spLocks noChangeArrowheads="1"/>
          </p:cNvSpPr>
          <p:nvPr/>
        </p:nvSpPr>
        <p:spPr bwMode="auto">
          <a:xfrm>
            <a:off x="2700573" y="1150945"/>
            <a:ext cx="55855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lnSpc>
                <a:spcPct val="200000"/>
              </a:lnSpc>
            </a:pPr>
            <a:r>
              <a:rPr lang="en-US" altLang="zh-CN" sz="2000" b="1" dirty="0">
                <a:solidFill>
                  <a:schemeClr val="bg1"/>
                </a:solidFill>
                <a:latin typeface="微软雅黑" pitchFamily="34" charset="-122"/>
                <a:ea typeface="微软雅黑" pitchFamily="34" charset="-122"/>
              </a:rPr>
              <a:t>5.9.1                                      TCP </a:t>
            </a:r>
            <a:r>
              <a:rPr lang="zh-CN" altLang="en-US" sz="2000" b="1" dirty="0">
                <a:solidFill>
                  <a:schemeClr val="bg1"/>
                </a:solidFill>
                <a:latin typeface="微软雅黑" pitchFamily="34" charset="-122"/>
                <a:ea typeface="微软雅黑" pitchFamily="34" charset="-122"/>
              </a:rPr>
              <a:t>的连接建立</a:t>
            </a:r>
          </a:p>
          <a:p>
            <a:pPr eaLnBrk="0" hangingPunct="0">
              <a:lnSpc>
                <a:spcPct val="200000"/>
              </a:lnSpc>
            </a:pPr>
            <a:r>
              <a:rPr lang="en-US" altLang="zh-CN" sz="2000" b="1" dirty="0">
                <a:solidFill>
                  <a:schemeClr val="bg1"/>
                </a:solidFill>
                <a:latin typeface="微软雅黑" pitchFamily="34" charset="-122"/>
                <a:ea typeface="微软雅黑" pitchFamily="34" charset="-122"/>
              </a:rPr>
              <a:t>5.9.2                                      TCP </a:t>
            </a:r>
            <a:r>
              <a:rPr lang="zh-CN" altLang="en-US" sz="2000" b="1" dirty="0">
                <a:solidFill>
                  <a:schemeClr val="bg1"/>
                </a:solidFill>
                <a:latin typeface="微软雅黑" pitchFamily="34" charset="-122"/>
                <a:ea typeface="微软雅黑" pitchFamily="34" charset="-122"/>
              </a:rPr>
              <a:t>的连接释放</a:t>
            </a:r>
          </a:p>
          <a:p>
            <a:pPr eaLnBrk="0" hangingPunct="0">
              <a:lnSpc>
                <a:spcPct val="200000"/>
              </a:lnSpc>
            </a:pPr>
            <a:r>
              <a:rPr lang="en-US" altLang="zh-CN" sz="2000" b="1" dirty="0">
                <a:solidFill>
                  <a:schemeClr val="bg1"/>
                </a:solidFill>
                <a:latin typeface="微软雅黑" pitchFamily="34" charset="-122"/>
                <a:ea typeface="微软雅黑" pitchFamily="34" charset="-122"/>
              </a:rPr>
              <a:t>5.9.3                                   TCP </a:t>
            </a:r>
            <a:r>
              <a:rPr lang="zh-CN" altLang="en-US" sz="2000" b="1" dirty="0">
                <a:solidFill>
                  <a:schemeClr val="bg1"/>
                </a:solidFill>
                <a:latin typeface="微软雅黑" pitchFamily="34" charset="-122"/>
                <a:ea typeface="微软雅黑" pitchFamily="34" charset="-122"/>
              </a:rPr>
              <a:t>的有限状态机</a:t>
            </a:r>
          </a:p>
        </p:txBody>
      </p:sp>
      <p:sp>
        <p:nvSpPr>
          <p:cNvPr id="7" name="Rectangle 27"/>
          <p:cNvSpPr>
            <a:spLocks noChangeArrowheads="1"/>
          </p:cNvSpPr>
          <p:nvPr/>
        </p:nvSpPr>
        <p:spPr bwMode="auto">
          <a:xfrm>
            <a:off x="639730" y="1404945"/>
            <a:ext cx="1636540" cy="1555639"/>
          </a:xfrm>
          <a:prstGeom prst="rect">
            <a:avLst/>
          </a:prstGeom>
          <a:solidFill>
            <a:srgbClr val="0070C0"/>
          </a:solidFill>
          <a:ln>
            <a:noFill/>
          </a:ln>
          <a:effectLst/>
          <a:scene3d>
            <a:camera prst="orthographicFront">
              <a:rot lat="0" lon="0" rev="0"/>
            </a:camera>
            <a:lightRig rig="glow" dir="t">
              <a:rot lat="0" lon="0" rev="14100000"/>
            </a:lightRig>
          </a:scene3d>
          <a:sp3d prstMaterial="softEdge">
            <a:bevelT w="127000" prst="artDeco"/>
          </a:sp3d>
          <a:extLs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hangingPunct="0"/>
            <a:endParaRPr lang="fr-FR">
              <a:latin typeface="宋体" charset="-122"/>
            </a:endParaRPr>
          </a:p>
        </p:txBody>
      </p:sp>
      <p:sp>
        <p:nvSpPr>
          <p:cNvPr id="8" name="Rectangle 29"/>
          <p:cNvSpPr>
            <a:spLocks noChangeArrowheads="1"/>
          </p:cNvSpPr>
          <p:nvPr/>
        </p:nvSpPr>
        <p:spPr bwMode="auto">
          <a:xfrm>
            <a:off x="648619" y="1499877"/>
            <a:ext cx="1627651" cy="101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10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fr-FR" altLang="zh-CN" sz="2000" b="1" dirty="0">
                <a:solidFill>
                  <a:srgbClr val="FFFF00"/>
                </a:solidFill>
                <a:latin typeface="微软雅黑" pitchFamily="34" charset="-122"/>
                <a:ea typeface="微软雅黑" pitchFamily="34" charset="-122"/>
              </a:rPr>
              <a:t>5.9</a:t>
            </a:r>
          </a:p>
          <a:p>
            <a:pPr eaLnBrk="0" hangingPunct="0"/>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的运输连接管理</a:t>
            </a:r>
            <a:endParaRPr lang="zh-CN" altLang="fr-FR" sz="2000" b="1" dirty="0">
              <a:solidFill>
                <a:schemeClr val="bg1"/>
              </a:solidFill>
              <a:latin typeface="微软雅黑" pitchFamily="34" charset="-122"/>
              <a:ea typeface="微软雅黑" pitchFamily="34" charset="-122"/>
            </a:endParaRPr>
          </a:p>
        </p:txBody>
      </p:sp>
      <p:sp>
        <p:nvSpPr>
          <p:cNvPr id="10" name="内容占位符 9">
            <a:extLst>
              <a:ext uri="{FF2B5EF4-FFF2-40B4-BE49-F238E27FC236}">
                <a16:creationId xmlns:a16="http://schemas.microsoft.com/office/drawing/2014/main" id="{14FC28B3-08DC-BAF6-0B75-C17B219A0C24}"/>
              </a:ext>
            </a:extLst>
          </p:cNvPr>
          <p:cNvSpPr>
            <a:spLocks noGrp="1"/>
          </p:cNvSpPr>
          <p:nvPr>
            <p:ph sz="quarter" idx="11"/>
          </p:nvPr>
        </p:nvSpPr>
        <p:spPr/>
        <p:txBody>
          <a:bodyPr/>
          <a:lstStyle/>
          <a:p>
            <a:endParaRPr lang="zh-CN" altLang="en-US"/>
          </a:p>
        </p:txBody>
      </p:sp>
      <p:sp>
        <p:nvSpPr>
          <p:cNvPr id="9" name="标题 8">
            <a:extLst>
              <a:ext uri="{FF2B5EF4-FFF2-40B4-BE49-F238E27FC236}">
                <a16:creationId xmlns:a16="http://schemas.microsoft.com/office/drawing/2014/main" id="{F702E7E8-5CAA-932A-57D0-653D47D5AA66}"/>
              </a:ext>
            </a:extLst>
          </p:cNvPr>
          <p:cNvSpPr>
            <a:spLocks noGrp="1"/>
          </p:cNvSpPr>
          <p:nvPr>
            <p:ph type="title"/>
          </p:nvPr>
        </p:nvSpPr>
        <p:spPr/>
        <p:txBody>
          <a:bodyPr/>
          <a:lstStyle/>
          <a:p>
            <a:endParaRPr lang="zh-CN" altLang="en-US"/>
          </a:p>
        </p:txBody>
      </p:sp>
    </p:spTree>
    <p:extLst>
      <p:ext uri="{BB962C8B-B14F-4D97-AF65-F5344CB8AC3E}">
        <p14:creationId xmlns:p14="http://schemas.microsoft.com/office/powerpoint/2010/main" val="342009642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BF157AD8-47AA-9957-B1DC-1F836CBDB166}"/>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是面向连接的协议。</a:t>
            </a:r>
          </a:p>
          <a:p>
            <a:r>
              <a:rPr lang="en-US" altLang="zh-CN" dirty="0"/>
              <a:t>TCP </a:t>
            </a:r>
            <a:r>
              <a:rPr lang="zh-CN" altLang="en-US" dirty="0"/>
              <a:t>连接有三个阶段：</a:t>
            </a:r>
          </a:p>
          <a:p>
            <a:pPr lvl="1"/>
            <a:r>
              <a:rPr lang="zh-CN" altLang="en-US" dirty="0"/>
              <a:t>连接建立</a:t>
            </a:r>
          </a:p>
          <a:p>
            <a:pPr lvl="1"/>
            <a:r>
              <a:rPr lang="zh-CN" altLang="en-US" dirty="0"/>
              <a:t>数据传送</a:t>
            </a:r>
          </a:p>
          <a:p>
            <a:pPr lvl="1"/>
            <a:r>
              <a:rPr lang="zh-CN" altLang="en-US" dirty="0"/>
              <a:t>连接释放</a:t>
            </a:r>
          </a:p>
          <a:p>
            <a:r>
              <a:rPr lang="en-US" altLang="zh-CN" dirty="0"/>
              <a:t>TCP </a:t>
            </a:r>
            <a:r>
              <a:rPr lang="zh-CN" altLang="en-US" dirty="0"/>
              <a:t>的连接管理就是使 </a:t>
            </a:r>
            <a:r>
              <a:rPr lang="en-US" altLang="zh-CN" dirty="0"/>
              <a:t>TCP </a:t>
            </a:r>
            <a:r>
              <a:rPr lang="zh-CN" altLang="en-US" dirty="0"/>
              <a:t>连接的建立和释放都能正常地进行。</a:t>
            </a:r>
          </a:p>
          <a:p>
            <a:endParaRPr lang="zh-CN" altLang="en-US" dirty="0"/>
          </a:p>
        </p:txBody>
      </p:sp>
      <p:sp>
        <p:nvSpPr>
          <p:cNvPr id="8" name="标题 7">
            <a:extLst>
              <a:ext uri="{FF2B5EF4-FFF2-40B4-BE49-F238E27FC236}">
                <a16:creationId xmlns:a16="http://schemas.microsoft.com/office/drawing/2014/main" id="{E0697CB6-D63C-93BB-DEA7-79EB0DA2DF17}"/>
              </a:ext>
            </a:extLst>
          </p:cNvPr>
          <p:cNvSpPr>
            <a:spLocks noGrp="1"/>
          </p:cNvSpPr>
          <p:nvPr>
            <p:ph type="title"/>
          </p:nvPr>
        </p:nvSpPr>
        <p:spPr>
          <a:xfrm>
            <a:off x="2808000" y="144000"/>
            <a:ext cx="3528000" cy="338554"/>
          </a:xfrm>
        </p:spPr>
        <p:txBody>
          <a:bodyPr/>
          <a:lstStyle/>
          <a:p>
            <a:r>
              <a:rPr lang="zh-CN" altLang="en-US" dirty="0"/>
              <a:t>运输连接的三个阶段</a:t>
            </a:r>
          </a:p>
        </p:txBody>
      </p:sp>
    </p:spTree>
    <p:extLst>
      <p:ext uri="{BB962C8B-B14F-4D97-AF65-F5344CB8AC3E}">
        <p14:creationId xmlns:p14="http://schemas.microsoft.com/office/powerpoint/2010/main" val="200839539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975672" y="2867117"/>
            <a:ext cx="7192651" cy="1211357"/>
          </a:xfrm>
          <a:prstGeom prst="rect">
            <a:avLst/>
          </a:prstGeom>
          <a:solidFill>
            <a:srgbClr val="000066"/>
          </a:solidFill>
        </p:spPr>
        <p:txBody>
          <a:bodyPr wrap="square">
            <a:spAutoFit/>
          </a:bodyPr>
          <a:lstStyle/>
          <a:p>
            <a:pPr marL="342900" indent="-342900">
              <a:lnSpc>
                <a:spcPts val="3000"/>
              </a:lnSpc>
              <a:buClr>
                <a:schemeClr val="bg1"/>
              </a:buClr>
              <a:buFont typeface="Wingdings" pitchFamily="2" charset="2"/>
              <a:buChar char="l"/>
            </a:pPr>
            <a:r>
              <a:rPr lang="en-US" altLang="zh-CN" sz="2000" b="1" dirty="0">
                <a:solidFill>
                  <a:schemeClr val="bg1"/>
                </a:solidFill>
                <a:latin typeface="微软雅黑" pitchFamily="34" charset="-122"/>
                <a:ea typeface="微软雅黑" pitchFamily="34" charset="-122"/>
              </a:rPr>
              <a:t>TCP </a:t>
            </a:r>
            <a:r>
              <a:rPr lang="zh-CN" altLang="en-US" sz="2000" b="1" dirty="0">
                <a:solidFill>
                  <a:schemeClr val="bg1"/>
                </a:solidFill>
                <a:latin typeface="微软雅黑" pitchFamily="34" charset="-122"/>
                <a:ea typeface="微软雅黑" pitchFamily="34" charset="-122"/>
              </a:rPr>
              <a:t>连接的建立采用</a:t>
            </a:r>
            <a:r>
              <a:rPr lang="zh-CN" altLang="en-US" sz="2000" b="1" dirty="0">
                <a:solidFill>
                  <a:srgbClr val="FFC000"/>
                </a:solidFill>
                <a:latin typeface="微软雅黑" pitchFamily="34" charset="-122"/>
                <a:ea typeface="微软雅黑" pitchFamily="34" charset="-122"/>
              </a:rPr>
              <a:t>客户服务器</a:t>
            </a:r>
            <a:r>
              <a:rPr lang="zh-CN" altLang="en-US" sz="2000" b="1" dirty="0">
                <a:solidFill>
                  <a:schemeClr val="bg1"/>
                </a:solidFill>
                <a:latin typeface="微软雅黑" pitchFamily="34" charset="-122"/>
                <a:ea typeface="微软雅黑" pitchFamily="34" charset="-122"/>
              </a:rPr>
              <a:t>方式。</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主动发起</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客户</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(client)</a:t>
            </a:r>
            <a:r>
              <a:rPr lang="zh-CN" altLang="en-US" sz="2000" b="1" dirty="0">
                <a:solidFill>
                  <a:schemeClr val="bg1"/>
                </a:solidFill>
                <a:latin typeface="微软雅黑" pitchFamily="34" charset="-122"/>
                <a:ea typeface="微软雅黑" pitchFamily="34" charset="-122"/>
              </a:rPr>
              <a:t>。</a:t>
            </a:r>
          </a:p>
          <a:p>
            <a:pPr marL="342900" indent="-342900">
              <a:lnSpc>
                <a:spcPts val="3000"/>
              </a:lnSpc>
              <a:buClr>
                <a:schemeClr val="bg1"/>
              </a:buClr>
              <a:buFont typeface="Wingdings" pitchFamily="2" charset="2"/>
              <a:buChar char="l"/>
            </a:pPr>
            <a:r>
              <a:rPr lang="zh-CN" altLang="en-US" sz="2000" b="1" dirty="0">
                <a:solidFill>
                  <a:srgbClr val="FFC000"/>
                </a:solidFill>
                <a:latin typeface="微软雅黑" pitchFamily="34" charset="-122"/>
                <a:ea typeface="微软雅黑" pitchFamily="34" charset="-122"/>
              </a:rPr>
              <a:t>被动等待</a:t>
            </a:r>
            <a:r>
              <a:rPr lang="zh-CN" altLang="en-US" sz="2000" b="1" dirty="0">
                <a:solidFill>
                  <a:schemeClr val="bg1"/>
                </a:solidFill>
                <a:latin typeface="微软雅黑" pitchFamily="34" charset="-122"/>
                <a:ea typeface="微软雅黑" pitchFamily="34" charset="-122"/>
              </a:rPr>
              <a:t>连接建立的应用进程叫做</a:t>
            </a:r>
            <a:r>
              <a:rPr lang="zh-CN" altLang="en-US" sz="2000" b="1" dirty="0">
                <a:solidFill>
                  <a:srgbClr val="FFC000"/>
                </a:solidFill>
                <a:latin typeface="微软雅黑" pitchFamily="34" charset="-122"/>
                <a:ea typeface="微软雅黑" pitchFamily="34" charset="-122"/>
              </a:rPr>
              <a:t>服务器</a:t>
            </a:r>
            <a:r>
              <a:rPr lang="zh-CN" altLang="en-US" sz="2000" b="1" dirty="0">
                <a:solidFill>
                  <a:schemeClr val="bg1"/>
                </a:solidFill>
                <a:latin typeface="微软雅黑" pitchFamily="34" charset="-122"/>
                <a:ea typeface="微软雅黑" pitchFamily="34" charset="-122"/>
              </a:rPr>
              <a:t> </a:t>
            </a:r>
            <a:r>
              <a:rPr lang="en-US" altLang="zh-CN" sz="2000" b="1" dirty="0">
                <a:solidFill>
                  <a:schemeClr val="bg1"/>
                </a:solidFill>
                <a:latin typeface="微软雅黑" pitchFamily="34" charset="-122"/>
                <a:ea typeface="微软雅黑" pitchFamily="34" charset="-122"/>
              </a:rPr>
              <a:t>(server)</a:t>
            </a:r>
            <a:r>
              <a:rPr lang="zh-CN" altLang="en-US" sz="2000" b="1" dirty="0">
                <a:solidFill>
                  <a:schemeClr val="bg1"/>
                </a:solidFill>
                <a:latin typeface="微软雅黑" pitchFamily="34" charset="-122"/>
                <a:ea typeface="微软雅黑" pitchFamily="34" charset="-122"/>
              </a:rPr>
              <a:t>。</a:t>
            </a:r>
          </a:p>
        </p:txBody>
      </p:sp>
      <p:sp>
        <p:nvSpPr>
          <p:cNvPr id="10" name="内容占位符 9">
            <a:extLst>
              <a:ext uri="{FF2B5EF4-FFF2-40B4-BE49-F238E27FC236}">
                <a16:creationId xmlns:a16="http://schemas.microsoft.com/office/drawing/2014/main" id="{52B62890-41B6-874C-6C25-994FE88FA55A}"/>
              </a:ext>
            </a:extLst>
          </p:cNvPr>
          <p:cNvSpPr>
            <a:spLocks noGrp="1"/>
          </p:cNvSpPr>
          <p:nvPr>
            <p:ph sz="quarter" idx="11"/>
          </p:nvPr>
        </p:nvSpPr>
        <p:spPr>
          <a:xfrm>
            <a:off x="486000" y="482554"/>
            <a:ext cx="8172000" cy="4120946"/>
          </a:xfrm>
        </p:spPr>
        <p:txBody>
          <a:bodyPr/>
          <a:lstStyle/>
          <a:p>
            <a:r>
              <a:rPr lang="zh-CN" altLang="en-US" dirty="0"/>
              <a:t>要使每一方能够确知对方的存在。</a:t>
            </a:r>
          </a:p>
          <a:p>
            <a:r>
              <a:rPr lang="zh-CN" altLang="en-US" dirty="0"/>
              <a:t>要允许双方协商一些参数（如最大窗口值、是否使用窗口扩大选项和时间戳选项以及服务质量等）。</a:t>
            </a:r>
          </a:p>
          <a:p>
            <a:r>
              <a:rPr lang="zh-CN" altLang="en-US" dirty="0"/>
              <a:t>能够对运输实体资源（如缓存大小、连接表中的项目等）进行分配。</a:t>
            </a:r>
          </a:p>
          <a:p>
            <a:endParaRPr lang="zh-CN" altLang="en-US" dirty="0"/>
          </a:p>
        </p:txBody>
      </p:sp>
      <p:sp>
        <p:nvSpPr>
          <p:cNvPr id="9" name="标题 8">
            <a:extLst>
              <a:ext uri="{FF2B5EF4-FFF2-40B4-BE49-F238E27FC236}">
                <a16:creationId xmlns:a16="http://schemas.microsoft.com/office/drawing/2014/main" id="{5D9FA14B-A85F-4536-84BA-A588F85C2192}"/>
              </a:ext>
            </a:extLst>
          </p:cNvPr>
          <p:cNvSpPr>
            <a:spLocks noGrp="1"/>
          </p:cNvSpPr>
          <p:nvPr>
            <p:ph type="title"/>
          </p:nvPr>
        </p:nvSpPr>
        <p:spPr>
          <a:xfrm>
            <a:off x="2808000" y="144000"/>
            <a:ext cx="3528000" cy="338554"/>
          </a:xfrm>
        </p:spPr>
        <p:txBody>
          <a:bodyPr/>
          <a:lstStyle/>
          <a:p>
            <a:r>
              <a:rPr lang="en-US" altLang="zh-CN" dirty="0"/>
              <a:t>TCP </a:t>
            </a:r>
            <a:r>
              <a:rPr lang="zh-CN" altLang="en-US" dirty="0"/>
              <a:t>连接建立过程中要解决的三个问题</a:t>
            </a:r>
          </a:p>
        </p:txBody>
      </p:sp>
    </p:spTree>
    <p:extLst>
      <p:ext uri="{BB962C8B-B14F-4D97-AF65-F5344CB8AC3E}">
        <p14:creationId xmlns:p14="http://schemas.microsoft.com/office/powerpoint/2010/main" val="350315676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9AA15DBE-8DFD-10F0-7791-222CB6C023A3}"/>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建立连接的过程叫做握手。</a:t>
            </a:r>
          </a:p>
          <a:p>
            <a:r>
              <a:rPr lang="zh-CN" altLang="en-US" dirty="0"/>
              <a:t>采用三报文握手：在客户和服务器之间交换三个 </a:t>
            </a:r>
            <a:r>
              <a:rPr lang="en-US" altLang="zh-CN" dirty="0"/>
              <a:t>TCP </a:t>
            </a:r>
            <a:r>
              <a:rPr lang="zh-CN" altLang="en-US" dirty="0"/>
              <a:t>报文段，以防止已失效的连接请求报文段突然又传送到了，因而产生 </a:t>
            </a:r>
            <a:r>
              <a:rPr lang="en-US" altLang="zh-CN" dirty="0"/>
              <a:t>TCP </a:t>
            </a:r>
            <a:r>
              <a:rPr lang="zh-CN" altLang="en-US" dirty="0"/>
              <a:t>连接建立错误。</a:t>
            </a:r>
          </a:p>
          <a:p>
            <a:endParaRPr lang="zh-CN" altLang="en-US" dirty="0"/>
          </a:p>
        </p:txBody>
      </p:sp>
      <p:sp>
        <p:nvSpPr>
          <p:cNvPr id="8" name="标题 7">
            <a:extLst>
              <a:ext uri="{FF2B5EF4-FFF2-40B4-BE49-F238E27FC236}">
                <a16:creationId xmlns:a16="http://schemas.microsoft.com/office/drawing/2014/main" id="{F989613D-ABAA-DEA5-3B3D-2EC1D31A993E}"/>
              </a:ext>
            </a:extLst>
          </p:cNvPr>
          <p:cNvSpPr>
            <a:spLocks noGrp="1"/>
          </p:cNvSpPr>
          <p:nvPr>
            <p:ph type="title"/>
          </p:nvPr>
        </p:nvSpPr>
        <p:spPr>
          <a:xfrm>
            <a:off x="2808000" y="144000"/>
            <a:ext cx="3528000" cy="338554"/>
          </a:xfrm>
        </p:spPr>
        <p:txBody>
          <a:bodyPr/>
          <a:lstStyle/>
          <a:p>
            <a:r>
              <a:rPr lang="en-US" altLang="zh-CN" dirty="0"/>
              <a:t>5.9.1  TCP </a:t>
            </a:r>
            <a:r>
              <a:rPr lang="zh-CN" altLang="en-US" dirty="0"/>
              <a:t>的连接建立</a:t>
            </a:r>
          </a:p>
        </p:txBody>
      </p:sp>
    </p:spTree>
    <p:extLst>
      <p:ext uri="{BB962C8B-B14F-4D97-AF65-F5344CB8AC3E}">
        <p14:creationId xmlns:p14="http://schemas.microsoft.com/office/powerpoint/2010/main" val="327242607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C2194A7F-D144-00CF-586C-1B78B1A0DD71}"/>
              </a:ext>
            </a:extLst>
          </p:cNvPr>
          <p:cNvGrpSpPr/>
          <p:nvPr/>
        </p:nvGrpSpPr>
        <p:grpSpPr>
          <a:xfrm>
            <a:off x="2827328" y="881788"/>
            <a:ext cx="3489344" cy="3348000"/>
            <a:chOff x="2464083" y="881788"/>
            <a:chExt cx="3489344" cy="3348000"/>
          </a:xfrm>
        </p:grpSpPr>
        <p:cxnSp>
          <p:nvCxnSpPr>
            <p:cNvPr id="7" name="直接箭头连接符 6">
              <a:extLst>
                <a:ext uri="{FF2B5EF4-FFF2-40B4-BE49-F238E27FC236}">
                  <a16:creationId xmlns:a16="http://schemas.microsoft.com/office/drawing/2014/main" id="{C80FF363-BC0E-F513-0462-96F884DB1FDC}"/>
                </a:ext>
              </a:extLst>
            </p:cNvPr>
            <p:cNvCxnSpPr>
              <a:cxnSpLocks/>
            </p:cNvCxnSpPr>
            <p:nvPr/>
          </p:nvCxnSpPr>
          <p:spPr>
            <a:xfrm>
              <a:off x="2644083" y="1332655"/>
              <a:ext cx="0" cy="2897133"/>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a:extLst>
                <a:ext uri="{FF2B5EF4-FFF2-40B4-BE49-F238E27FC236}">
                  <a16:creationId xmlns:a16="http://schemas.microsoft.com/office/drawing/2014/main" id="{22E1B91C-93FA-1433-6508-4A43CD8D807B}"/>
                </a:ext>
              </a:extLst>
            </p:cNvPr>
            <p:cNvCxnSpPr>
              <a:cxnSpLocks/>
              <a:stCxn id="22" idx="2"/>
            </p:cNvCxnSpPr>
            <p:nvPr/>
          </p:nvCxnSpPr>
          <p:spPr>
            <a:xfrm>
              <a:off x="5773427" y="1349788"/>
              <a:ext cx="0" cy="288000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A3720D08-6F14-38E6-12AA-2F942A367B46}"/>
                </a:ext>
              </a:extLst>
            </p:cNvPr>
            <p:cNvSpPr txBox="1"/>
            <p:nvPr/>
          </p:nvSpPr>
          <p:spPr>
            <a:xfrm>
              <a:off x="2889737" y="1055656"/>
              <a:ext cx="500458"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Bob</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0" name="文本框 9">
              <a:extLst>
                <a:ext uri="{FF2B5EF4-FFF2-40B4-BE49-F238E27FC236}">
                  <a16:creationId xmlns:a16="http://schemas.microsoft.com/office/drawing/2014/main" id="{C2D2F0C1-4F48-4565-097F-21C3E7248276}"/>
                </a:ext>
              </a:extLst>
            </p:cNvPr>
            <p:cNvSpPr txBox="1"/>
            <p:nvPr/>
          </p:nvSpPr>
          <p:spPr>
            <a:xfrm>
              <a:off x="5035260" y="1055656"/>
              <a:ext cx="558166"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panose="020B0503020204020204" pitchFamily="34" charset="-122"/>
                  <a:cs typeface="Courier New" panose="02070309020205020404" pitchFamily="49" charset="0"/>
                </a:rPr>
                <a:t>Alice</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1" name="文本框 10">
              <a:extLst>
                <a:ext uri="{FF2B5EF4-FFF2-40B4-BE49-F238E27FC236}">
                  <a16:creationId xmlns:a16="http://schemas.microsoft.com/office/drawing/2014/main" id="{2AB7995F-7501-3414-56E0-2CC9D159BB4D}"/>
                </a:ext>
              </a:extLst>
            </p:cNvPr>
            <p:cNvSpPr txBox="1"/>
            <p:nvPr/>
          </p:nvSpPr>
          <p:spPr>
            <a:xfrm>
              <a:off x="2908073" y="1658349"/>
              <a:ext cx="2589170"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I would like to talk to you, Alice.</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2" name="文本框 11">
              <a:extLst>
                <a:ext uri="{FF2B5EF4-FFF2-40B4-BE49-F238E27FC236}">
                  <a16:creationId xmlns:a16="http://schemas.microsoft.com/office/drawing/2014/main" id="{D90B4BF5-F870-456B-089B-598433C770CC}"/>
                </a:ext>
              </a:extLst>
            </p:cNvPr>
            <p:cNvSpPr txBox="1"/>
            <p:nvPr/>
          </p:nvSpPr>
          <p:spPr>
            <a:xfrm>
              <a:off x="3436262" y="2400090"/>
              <a:ext cx="1532792"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Ok, let’s talk. Bob.</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sp>
          <p:nvSpPr>
            <p:cNvPr id="13" name="文本框 12">
              <a:extLst>
                <a:ext uri="{FF2B5EF4-FFF2-40B4-BE49-F238E27FC236}">
                  <a16:creationId xmlns:a16="http://schemas.microsoft.com/office/drawing/2014/main" id="{2D5DC4C4-2CE4-FDE6-CB90-80F89118B614}"/>
                </a:ext>
              </a:extLst>
            </p:cNvPr>
            <p:cNvSpPr txBox="1"/>
            <p:nvPr/>
          </p:nvSpPr>
          <p:spPr>
            <a:xfrm>
              <a:off x="3334472" y="3291955"/>
              <a:ext cx="1736373" cy="276999"/>
            </a:xfrm>
            <a:prstGeom prst="rect">
              <a:avLst/>
            </a:prstGeom>
            <a:noFill/>
          </p:spPr>
          <p:txBody>
            <a:bodyPr wrap="none" rtlCol="0">
              <a:spAutoFit/>
            </a:bodyPr>
            <a:lstStyle/>
            <a:p>
              <a:pPr algn="l"/>
              <a:r>
                <a:rPr lang="en-US" altLang="zh-CN" sz="1200" dirty="0">
                  <a:latin typeface="Montserrat" panose="00000500000000000000" pitchFamily="2" charset="0"/>
                  <a:ea typeface="微软雅黑" panose="020B0503020204020204" pitchFamily="34" charset="-122"/>
                  <a:cs typeface="Courier New" panose="02070309020205020404" pitchFamily="49" charset="0"/>
                </a:rPr>
                <a:t>Ok, thank you. Alice.</a:t>
              </a:r>
              <a:endParaRPr lang="zh-CN" altLang="en-US" sz="1200" dirty="0">
                <a:latin typeface="Montserrat" panose="00000500000000000000" pitchFamily="2" charset="0"/>
                <a:ea typeface="微软雅黑" panose="020B0503020204020204" pitchFamily="34" charset="-122"/>
                <a:cs typeface="Courier New" panose="02070309020205020404" pitchFamily="49" charset="0"/>
              </a:endParaRPr>
            </a:p>
          </p:txBody>
        </p:sp>
        <p:cxnSp>
          <p:nvCxnSpPr>
            <p:cNvPr id="15" name="直接箭头连接符 14">
              <a:extLst>
                <a:ext uri="{FF2B5EF4-FFF2-40B4-BE49-F238E27FC236}">
                  <a16:creationId xmlns:a16="http://schemas.microsoft.com/office/drawing/2014/main" id="{32FF09AF-22D3-1EEF-0F0D-F8D9ECD231A4}"/>
                </a:ext>
              </a:extLst>
            </p:cNvPr>
            <p:cNvCxnSpPr>
              <a:cxnSpLocks/>
            </p:cNvCxnSpPr>
            <p:nvPr/>
          </p:nvCxnSpPr>
          <p:spPr>
            <a:xfrm>
              <a:off x="2672658" y="1935348"/>
              <a:ext cx="306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D3A9630C-36DC-3779-A1FB-26718B3A1CA9}"/>
                </a:ext>
              </a:extLst>
            </p:cNvPr>
            <p:cNvCxnSpPr>
              <a:cxnSpLocks/>
            </p:cNvCxnSpPr>
            <p:nvPr/>
          </p:nvCxnSpPr>
          <p:spPr>
            <a:xfrm>
              <a:off x="2672658" y="3568954"/>
              <a:ext cx="306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A8D5AF9-308A-50B4-85CD-E6F7CC8B17FA}"/>
                </a:ext>
              </a:extLst>
            </p:cNvPr>
            <p:cNvCxnSpPr>
              <a:cxnSpLocks/>
            </p:cNvCxnSpPr>
            <p:nvPr/>
          </p:nvCxnSpPr>
          <p:spPr>
            <a:xfrm flipH="1">
              <a:off x="2672658" y="2677089"/>
              <a:ext cx="306000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1" name="图片 20">
              <a:extLst>
                <a:ext uri="{FF2B5EF4-FFF2-40B4-BE49-F238E27FC236}">
                  <a16:creationId xmlns:a16="http://schemas.microsoft.com/office/drawing/2014/main" id="{6F333424-1B0A-FC44-A9BD-30232A0B433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64083" y="972655"/>
              <a:ext cx="360000" cy="360000"/>
            </a:xfrm>
            <a:prstGeom prst="rect">
              <a:avLst/>
            </a:prstGeom>
          </p:spPr>
        </p:pic>
        <p:pic>
          <p:nvPicPr>
            <p:cNvPr id="22" name="图片 21">
              <a:extLst>
                <a:ext uri="{FF2B5EF4-FFF2-40B4-BE49-F238E27FC236}">
                  <a16:creationId xmlns:a16="http://schemas.microsoft.com/office/drawing/2014/main" id="{BA33F9E0-DA70-90DC-6252-77C04D78C2FF}"/>
                </a:ext>
              </a:extLst>
            </p:cNvPr>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5593427" y="881788"/>
              <a:ext cx="360000" cy="468000"/>
            </a:xfrm>
            <a:prstGeom prst="rect">
              <a:avLst/>
            </a:prstGeom>
          </p:spPr>
        </p:pic>
      </p:grpSp>
    </p:spTree>
    <p:extLst>
      <p:ext uri="{BB962C8B-B14F-4D97-AF65-F5344CB8AC3E}">
        <p14:creationId xmlns:p14="http://schemas.microsoft.com/office/powerpoint/2010/main" val="1643966598"/>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16" name="标题 15">
            <a:extLst>
              <a:ext uri="{FF2B5EF4-FFF2-40B4-BE49-F238E27FC236}">
                <a16:creationId xmlns:a16="http://schemas.microsoft.com/office/drawing/2014/main" id="{E832566C-F22D-93FB-A599-5D92EFC91B90}"/>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355398719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365384"/>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a:t>
            </a:r>
            <a:r>
              <a:rPr lang="zh-CN" altLang="en-US" sz="1600" b="1" dirty="0">
                <a:solidFill>
                  <a:srgbClr val="0000FF"/>
                </a:solidFill>
                <a:latin typeface="微软雅黑" pitchFamily="34" charset="-122"/>
                <a:ea typeface="微软雅黑" pitchFamily="34" charset="-122"/>
              </a:rPr>
              <a:t>先创建</a:t>
            </a:r>
            <a:r>
              <a:rPr lang="zh-CN" altLang="en-US" sz="1600" b="1" dirty="0">
                <a:latin typeface="微软雅黑" pitchFamily="34" charset="-122"/>
                <a:ea typeface="微软雅黑" pitchFamily="34" charset="-122"/>
              </a:rPr>
              <a:t>传输控制块 </a:t>
            </a:r>
            <a:r>
              <a:rPr lang="en-US" altLang="zh-CN" sz="1600" b="1" dirty="0">
                <a:latin typeface="微软雅黑" pitchFamily="34" charset="-122"/>
                <a:ea typeface="微软雅黑" pitchFamily="34" charset="-122"/>
              </a:rPr>
              <a:t>TCB</a:t>
            </a:r>
            <a:r>
              <a:rPr lang="zh-CN" altLang="en-US" sz="1600" b="1" dirty="0">
                <a:latin typeface="微软雅黑" pitchFamily="34" charset="-122"/>
                <a:ea typeface="微软雅黑" pitchFamily="34" charset="-122"/>
              </a:rPr>
              <a:t>，准备接受客户进程的连接请求。</a:t>
            </a:r>
          </a:p>
        </p:txBody>
      </p:sp>
      <p:sp>
        <p:nvSpPr>
          <p:cNvPr id="16" name="标题 15">
            <a:extLst>
              <a:ext uri="{FF2B5EF4-FFF2-40B4-BE49-F238E27FC236}">
                <a16:creationId xmlns:a16="http://schemas.microsoft.com/office/drawing/2014/main" id="{1DECCECE-B6C9-F192-5AD6-47B4743F6EDC}"/>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345200083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1" fill="hold" grpId="0" nodeType="afterEffect">
                                  <p:stCondLst>
                                    <p:cond delay="50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1000"/>
                                        <p:tgtEl>
                                          <p:spTgt spid="30"/>
                                        </p:tgtEl>
                                        <p:attrNameLst>
                                          <p:attrName>ppt_y</p:attrName>
                                        </p:attrNameLst>
                                      </p:cBhvr>
                                      <p:tavLst>
                                        <p:tav tm="0">
                                          <p:val>
                                            <p:strVal val="#ppt_y-#ppt_h*1.125000"/>
                                          </p:val>
                                        </p:tav>
                                        <p:tav tm="100000">
                                          <p:val>
                                            <p:strVal val="#ppt_y"/>
                                          </p:val>
                                        </p:tav>
                                      </p:tavLst>
                                    </p:anim>
                                    <p:animEffect transition="in" filter="wipe(down)">
                                      <p:cBhvr>
                                        <p:cTn id="8" dur="1000"/>
                                        <p:tgtEl>
                                          <p:spTgt spid="30"/>
                                        </p:tgtEl>
                                      </p:cBhvr>
                                    </p:animEffect>
                                  </p:childTnLst>
                                </p:cTn>
                              </p:par>
                            </p:childTnLst>
                          </p:cTn>
                        </p:par>
                        <p:par>
                          <p:cTn id="9" fill="hold">
                            <p:stCondLst>
                              <p:cond delay="1500"/>
                            </p:stCondLst>
                            <p:childTnLst>
                              <p:par>
                                <p:cTn id="10" presetID="22" presetClass="entr" presetSubtype="1" fill="hold" nodeType="afterEffect">
                                  <p:stCondLst>
                                    <p:cond delay="2000"/>
                                  </p:stCondLst>
                                  <p:childTnLst>
                                    <p:set>
                                      <p:cBhvr>
                                        <p:cTn id="11" dur="1" fill="hold">
                                          <p:stCondLst>
                                            <p:cond delay="0"/>
                                          </p:stCondLst>
                                        </p:cTn>
                                        <p:tgtEl>
                                          <p:spTgt spid="17"/>
                                        </p:tgtEl>
                                        <p:attrNameLst>
                                          <p:attrName>style.visibility</p:attrName>
                                        </p:attrNameLst>
                                      </p:cBhvr>
                                      <p:to>
                                        <p:strVal val="visible"/>
                                      </p:to>
                                    </p:set>
                                    <p:animEffect transition="in" filter="wipe(up)">
                                      <p:cBhvr>
                                        <p:cTn id="12"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2"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3"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4"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5"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8"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30" name="Text Box 155"/>
          <p:cNvSpPr txBox="1">
            <a:spLocks noChangeArrowheads="1"/>
          </p:cNvSpPr>
          <p:nvPr/>
        </p:nvSpPr>
        <p:spPr bwMode="auto">
          <a:xfrm>
            <a:off x="1929775" y="3024317"/>
            <a:ext cx="5422002"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向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主动发出连接请求报文段，其首部中的同步位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，并选择序号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x</a:t>
            </a:r>
            <a:r>
              <a:rPr lang="zh-CN" altLang="en-US" sz="1600" b="1" dirty="0">
                <a:latin typeface="微软雅黑" pitchFamily="34" charset="-122"/>
                <a:ea typeface="微软雅黑" pitchFamily="34" charset="-122"/>
              </a:rPr>
              <a:t>，表明传送数据时的第一个数据字节的序号是 </a:t>
            </a:r>
            <a:r>
              <a:rPr lang="en-US" altLang="zh-CN" sz="1600" b="1" dirty="0">
                <a:latin typeface="微软雅黑" pitchFamily="34" charset="-122"/>
                <a:ea typeface="微软雅黑" pitchFamily="34" charset="-122"/>
              </a:rPr>
              <a:t>x</a:t>
            </a:r>
            <a:r>
              <a:rPr lang="zh-CN" altLang="en-US" sz="1600" b="1" dirty="0">
                <a:latin typeface="微软雅黑" pitchFamily="34" charset="-122"/>
                <a:ea typeface="微软雅黑" pitchFamily="34" charset="-122"/>
              </a:rPr>
              <a:t>。</a:t>
            </a:r>
          </a:p>
        </p:txBody>
      </p:sp>
      <p:sp>
        <p:nvSpPr>
          <p:cNvPr id="20" name="矩形 19"/>
          <p:cNvSpPr/>
          <p:nvPr/>
        </p:nvSpPr>
        <p:spPr>
          <a:xfrm>
            <a:off x="1668543" y="4114800"/>
            <a:ext cx="5891753" cy="646331"/>
          </a:xfrm>
          <a:prstGeom prst="rect">
            <a:avLst/>
          </a:prstGeom>
          <a:solidFill>
            <a:schemeClr val="accent6">
              <a:lumMod val="60000"/>
              <a:lumOff val="40000"/>
            </a:schemeClr>
          </a:solidFill>
        </p:spPr>
        <p:txBody>
          <a:bodyPr wrap="square">
            <a:spAutoFit/>
          </a:bodyPr>
          <a:lstStyle/>
          <a:p>
            <a:r>
              <a:rPr lang="zh-CN" altLang="en-US" b="1" kern="500" dirty="0">
                <a:latin typeface="微软雅黑" panose="020B0503020204020204" pitchFamily="34" charset="-122"/>
                <a:ea typeface="微软雅黑" panose="020B0503020204020204" pitchFamily="34" charset="-122"/>
              </a:rPr>
              <a:t>注意：</a:t>
            </a:r>
            <a:r>
              <a:rPr lang="en-US" altLang="zh-CN" b="1" kern="500" dirty="0">
                <a:latin typeface="微软雅黑" panose="020B0503020204020204" pitchFamily="34" charset="-122"/>
                <a:ea typeface="微软雅黑" panose="020B0503020204020204" pitchFamily="34" charset="-122"/>
              </a:rPr>
              <a:t>TCP</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规定，</a:t>
            </a:r>
            <a:r>
              <a:rPr lang="en-US" altLang="zh-CN" b="1" kern="500" dirty="0">
                <a:latin typeface="微软雅黑" panose="020B0503020204020204" pitchFamily="34" charset="-122"/>
                <a:ea typeface="微软雅黑" panose="020B0503020204020204" pitchFamily="34" charset="-122"/>
              </a:rPr>
              <a:t>SYN </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报文段（即</a:t>
            </a:r>
            <a:r>
              <a:rPr lang="en-US" altLang="zh-CN" b="1" kern="500" dirty="0">
                <a:latin typeface="微软雅黑" panose="020B0503020204020204" pitchFamily="34" charset="-122"/>
                <a:ea typeface="微软雅黑" panose="020B0503020204020204" pitchFamily="34" charset="-122"/>
              </a:rPr>
              <a:t>SYN = 1</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的报文段）</a:t>
            </a:r>
            <a:r>
              <a:rPr lang="zh-CN" altLang="zh-CN" b="1" kern="500" dirty="0">
                <a:solidFill>
                  <a:srgbClr val="0000FF"/>
                </a:solidFill>
                <a:latin typeface="微软雅黑" panose="020B0503020204020204" pitchFamily="34" charset="-122"/>
                <a:ea typeface="微软雅黑" panose="020B0503020204020204" pitchFamily="34" charset="-122"/>
                <a:cs typeface="Times New Roman" panose="02020603050405020304" pitchFamily="18" charset="0"/>
              </a:rPr>
              <a:t>不能携带数据，</a:t>
            </a:r>
            <a:r>
              <a:rPr lang="zh-CN" altLang="zh-CN" b="1" kern="500" dirty="0">
                <a:latin typeface="微软雅黑" panose="020B0503020204020204" pitchFamily="34" charset="-122"/>
                <a:ea typeface="微软雅黑" panose="020B0503020204020204" pitchFamily="34" charset="-122"/>
                <a:cs typeface="Times New Roman" panose="02020603050405020304" pitchFamily="18" charset="0"/>
              </a:rPr>
              <a:t>但要消耗掉一个序号。</a:t>
            </a:r>
            <a:endParaRPr lang="zh-CN" altLang="en-US" b="1" dirty="0">
              <a:latin typeface="微软雅黑" panose="020B0503020204020204" pitchFamily="34" charset="-122"/>
              <a:ea typeface="微软雅黑" panose="020B0503020204020204" pitchFamily="34" charset="-122"/>
            </a:endParaRPr>
          </a:p>
        </p:txBody>
      </p:sp>
      <p:sp>
        <p:nvSpPr>
          <p:cNvPr id="33" name="标题 32">
            <a:extLst>
              <a:ext uri="{FF2B5EF4-FFF2-40B4-BE49-F238E27FC236}">
                <a16:creationId xmlns:a16="http://schemas.microsoft.com/office/drawing/2014/main" id="{95C3F8EF-4D9C-0886-235F-BB23F5B68E65}"/>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212561580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14"/>
                                        </p:tgtEl>
                                        <p:attrNameLst>
                                          <p:attrName>style.visibility</p:attrName>
                                        </p:attrNameLst>
                                      </p:cBhvr>
                                      <p:to>
                                        <p:strVal val="visible"/>
                                      </p:to>
                                    </p:set>
                                    <p:animEffect transition="in" filter="wipe(up)">
                                      <p:cBhvr>
                                        <p:cTn id="7" dur="1000"/>
                                        <p:tgtEl>
                                          <p:spTgt spid="14"/>
                                        </p:tgtEl>
                                      </p:cBhvr>
                                    </p:animEffect>
                                  </p:childTnLst>
                                </p:cTn>
                              </p:par>
                            </p:childTnLst>
                          </p:cTn>
                        </p:par>
                        <p:par>
                          <p:cTn id="8" fill="hold">
                            <p:stCondLst>
                              <p:cond delay="2000"/>
                            </p:stCondLst>
                            <p:childTnLst>
                              <p:par>
                                <p:cTn id="9" presetID="12" presetClass="entr" presetSubtype="1" fill="hold" grpId="0" nodeType="afterEffect">
                                  <p:stCondLst>
                                    <p:cond delay="100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1000"/>
                                        <p:tgtEl>
                                          <p:spTgt spid="30"/>
                                        </p:tgtEl>
                                        <p:attrNameLst>
                                          <p:attrName>ppt_y</p:attrName>
                                        </p:attrNameLst>
                                      </p:cBhvr>
                                      <p:tavLst>
                                        <p:tav tm="0">
                                          <p:val>
                                            <p:strVal val="#ppt_y-#ppt_h*1.125000"/>
                                          </p:val>
                                        </p:tav>
                                        <p:tav tm="100000">
                                          <p:val>
                                            <p:strVal val="#ppt_y"/>
                                          </p:val>
                                        </p:tav>
                                      </p:tavLst>
                                    </p:anim>
                                    <p:animEffect transition="in" filter="wipe(down)">
                                      <p:cBhvr>
                                        <p:cTn id="12" dur="1000"/>
                                        <p:tgtEl>
                                          <p:spTgt spid="30"/>
                                        </p:tgtEl>
                                      </p:cBhvr>
                                    </p:animEffect>
                                  </p:childTnLst>
                                </p:cTn>
                              </p:par>
                            </p:childTnLst>
                          </p:cTn>
                        </p:par>
                        <p:par>
                          <p:cTn id="13" fill="hold">
                            <p:stCondLst>
                              <p:cond delay="4000"/>
                            </p:stCondLst>
                            <p:childTnLst>
                              <p:par>
                                <p:cTn id="14" presetID="22" presetClass="entr" presetSubtype="8" fill="hold"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0" grpId="0" animBg="1"/>
    </p:bld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9" name="组合 28"/>
          <p:cNvGrpSpPr/>
          <p:nvPr/>
        </p:nvGrpSpPr>
        <p:grpSpPr>
          <a:xfrm>
            <a:off x="3196383" y="2596896"/>
            <a:ext cx="2679216" cy="723958"/>
            <a:chOff x="3196383" y="2596896"/>
            <a:chExt cx="2679216" cy="723958"/>
          </a:xfrm>
        </p:grpSpPr>
        <p:sp>
          <p:nvSpPr>
            <p:cNvPr id="27"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8"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sp>
        <p:nvSpPr>
          <p:cNvPr id="30" name="Text Box 155"/>
          <p:cNvSpPr txBox="1">
            <a:spLocks noChangeArrowheads="1"/>
          </p:cNvSpPr>
          <p:nvPr/>
        </p:nvSpPr>
        <p:spPr bwMode="auto">
          <a:xfrm>
            <a:off x="1774326" y="3365384"/>
            <a:ext cx="5514965"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收到连接请求报文段后，如同意，则发回确认。</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在确认报文段中应使 </a:t>
            </a:r>
            <a:r>
              <a:rPr lang="en-US" altLang="zh-CN" sz="1600" b="1" dirty="0">
                <a:latin typeface="微软雅黑" pitchFamily="34" charset="-122"/>
                <a:ea typeface="微软雅黑" pitchFamily="34" charset="-122"/>
              </a:rPr>
              <a:t>SYN = 1</a:t>
            </a:r>
            <a:r>
              <a:rPr lang="zh-CN" altLang="en-US" sz="1600" b="1" dirty="0">
                <a:latin typeface="微软雅黑" pitchFamily="34" charset="-122"/>
                <a:ea typeface="微软雅黑" pitchFamily="34" charset="-122"/>
              </a:rPr>
              <a:t>，使 </a:t>
            </a:r>
            <a:r>
              <a:rPr lang="en-US" altLang="zh-CN" sz="1600" b="1" dirty="0">
                <a:latin typeface="微软雅黑" pitchFamily="34" charset="-122"/>
                <a:ea typeface="微软雅黑" pitchFamily="34" charset="-122"/>
              </a:rPr>
              <a:t>ACK = 1</a:t>
            </a:r>
            <a:r>
              <a:rPr lang="zh-CN" altLang="en-US" sz="1600" b="1" dirty="0">
                <a:latin typeface="微软雅黑" pitchFamily="34" charset="-122"/>
                <a:ea typeface="微软雅黑" pitchFamily="34" charset="-122"/>
              </a:rPr>
              <a:t>，其确认号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x + 1</a:t>
            </a:r>
            <a:r>
              <a:rPr lang="zh-CN" altLang="en-US" sz="1600" b="1" dirty="0">
                <a:latin typeface="微软雅黑" pitchFamily="34" charset="-122"/>
                <a:ea typeface="微软雅黑" pitchFamily="34" charset="-122"/>
              </a:rPr>
              <a:t>，自己选择的序号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y</a:t>
            </a:r>
            <a:r>
              <a:rPr lang="zh-CN" altLang="en-US" sz="1600" b="1" dirty="0">
                <a:latin typeface="微软雅黑" pitchFamily="34" charset="-122"/>
                <a:ea typeface="微软雅黑" pitchFamily="34" charset="-122"/>
              </a:rPr>
              <a:t>。</a:t>
            </a:r>
          </a:p>
        </p:txBody>
      </p:sp>
      <p:sp>
        <p:nvSpPr>
          <p:cNvPr id="2" name="矩形 1"/>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zh-CN" altLang="zh-CN" b="1" kern="500" dirty="0">
                <a:latin typeface="微软雅黑" panose="020B0503020204020204" pitchFamily="34" charset="-122"/>
                <a:ea typeface="微软雅黑" panose="020B0503020204020204" pitchFamily="34" charset="-122"/>
              </a:rPr>
              <a:t>这个报文段也</a:t>
            </a:r>
            <a:r>
              <a:rPr lang="zh-CN" altLang="zh-CN" b="1" kern="500" dirty="0">
                <a:solidFill>
                  <a:srgbClr val="0000FF"/>
                </a:solidFill>
                <a:latin typeface="微软雅黑" panose="020B0503020204020204" pitchFamily="34" charset="-122"/>
                <a:ea typeface="微软雅黑" panose="020B0503020204020204" pitchFamily="34" charset="-122"/>
              </a:rPr>
              <a:t>不能携带数据，</a:t>
            </a:r>
            <a:r>
              <a:rPr lang="zh-CN" altLang="zh-CN" b="1" kern="500" dirty="0">
                <a:latin typeface="微软雅黑" panose="020B0503020204020204" pitchFamily="34" charset="-122"/>
                <a:ea typeface="微软雅黑" panose="020B0503020204020204" pitchFamily="34" charset="-122"/>
              </a:rPr>
              <a:t>但同样要消耗掉一个序号。</a:t>
            </a:r>
            <a:endParaRPr lang="zh-CN" altLang="en-US" b="1" kern="500" dirty="0">
              <a:latin typeface="微软雅黑" panose="020B0503020204020204" pitchFamily="34" charset="-122"/>
              <a:ea typeface="微软雅黑" panose="020B0503020204020204" pitchFamily="34" charset="-122"/>
            </a:endParaRPr>
          </a:p>
        </p:txBody>
      </p:sp>
      <p:sp>
        <p:nvSpPr>
          <p:cNvPr id="36" name="标题 35">
            <a:extLst>
              <a:ext uri="{FF2B5EF4-FFF2-40B4-BE49-F238E27FC236}">
                <a16:creationId xmlns:a16="http://schemas.microsoft.com/office/drawing/2014/main" id="{26CC9722-6784-35B5-4BF8-8485296921E2}"/>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19037134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up)">
                                      <p:cBhvr>
                                        <p:cTn id="7" dur="1000"/>
                                        <p:tgtEl>
                                          <p:spTgt spid="30"/>
                                        </p:tgtEl>
                                      </p:cBhvr>
                                    </p:animEffect>
                                  </p:childTnLst>
                                </p:cTn>
                              </p:par>
                            </p:childTnLst>
                          </p:cTn>
                        </p:par>
                        <p:par>
                          <p:cTn id="8" fill="hold">
                            <p:stCondLst>
                              <p:cond delay="1000"/>
                            </p:stCondLst>
                            <p:childTnLst>
                              <p:par>
                                <p:cTn id="9" presetID="22" presetClass="entr" presetSubtype="2" fill="hold" nodeType="afterEffect">
                                  <p:stCondLst>
                                    <p:cond delay="1000"/>
                                  </p:stCondLst>
                                  <p:childTnLst>
                                    <p:set>
                                      <p:cBhvr>
                                        <p:cTn id="10" dur="1" fill="hold">
                                          <p:stCondLst>
                                            <p:cond delay="0"/>
                                          </p:stCondLst>
                                        </p:cTn>
                                        <p:tgtEl>
                                          <p:spTgt spid="29"/>
                                        </p:tgtEl>
                                        <p:attrNameLst>
                                          <p:attrName>style.visibility</p:attrName>
                                        </p:attrNameLst>
                                      </p:cBhvr>
                                      <p:to>
                                        <p:strVal val="visible"/>
                                      </p:to>
                                    </p:set>
                                    <p:animEffect transition="in" filter="wipe(right)">
                                      <p:cBhvr>
                                        <p:cTn id="11" dur="2000"/>
                                        <p:tgtEl>
                                          <p:spTgt spid="29"/>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2" grpId="0" animBg="1"/>
    </p:bld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809898" y="2586420"/>
            <a:ext cx="2436395" cy="1361911"/>
          </a:xfrm>
          <a:prstGeom prst="rect">
            <a:avLst/>
          </a:prstGeom>
          <a:solidFill>
            <a:srgbClr val="FFFF99"/>
          </a:solidFill>
          <a:ln w="9525">
            <a:solidFill>
              <a:schemeClr val="tx1"/>
            </a:solidFill>
            <a:miter lim="800000"/>
            <a:headEnd/>
            <a:tailEnd/>
          </a:ln>
          <a:effectLst/>
        </p:spPr>
        <p:txBody>
          <a:bodyPr wrap="square">
            <a:spAutoFit/>
          </a:bodyPr>
          <a:lstStyle/>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收到此报文段后向 </a:t>
            </a: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给出确认，其 </a:t>
            </a:r>
            <a:r>
              <a:rPr lang="en-US" altLang="zh-CN" sz="1500" b="1" dirty="0">
                <a:latin typeface="微软雅黑" pitchFamily="34" charset="-122"/>
                <a:ea typeface="微软雅黑" pitchFamily="34" charset="-122"/>
              </a:rPr>
              <a:t>ACK = 1</a:t>
            </a:r>
            <a:r>
              <a:rPr lang="zh-CN" altLang="en-US" sz="1500" b="1" dirty="0">
                <a:latin typeface="微软雅黑" pitchFamily="34" charset="-122"/>
                <a:ea typeface="微软雅黑" pitchFamily="34" charset="-122"/>
              </a:rPr>
              <a:t>，确认号 </a:t>
            </a:r>
            <a:r>
              <a:rPr lang="en-US" altLang="zh-CN" sz="1500" b="1" dirty="0" err="1">
                <a:latin typeface="微软雅黑" pitchFamily="34" charset="-122"/>
                <a:ea typeface="微软雅黑" pitchFamily="34" charset="-122"/>
              </a:rPr>
              <a:t>ack</a:t>
            </a:r>
            <a:r>
              <a:rPr lang="en-US" altLang="zh-CN" sz="1500" b="1" dirty="0">
                <a:latin typeface="微软雅黑" pitchFamily="34" charset="-122"/>
                <a:ea typeface="微软雅黑" pitchFamily="34" charset="-122"/>
              </a:rPr>
              <a:t> = y + 1</a:t>
            </a:r>
            <a:r>
              <a:rPr lang="zh-CN" altLang="en-US" sz="1500" b="1" dirty="0">
                <a:latin typeface="微软雅黑" pitchFamily="34" charset="-122"/>
                <a:ea typeface="微软雅黑" pitchFamily="34" charset="-122"/>
              </a:rPr>
              <a:t>。</a:t>
            </a:r>
          </a:p>
          <a:p>
            <a:pPr marL="182563" indent="-182563">
              <a:lnSpc>
                <a:spcPct val="110000"/>
              </a:lnSpc>
              <a:buFont typeface="Wingdings" pitchFamily="2" charset="2"/>
              <a:buChar char="l"/>
            </a:pP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通知上层应用进程，连接已经建立。 </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3" name="组合 32"/>
          <p:cNvGrpSpPr/>
          <p:nvPr/>
        </p:nvGrpSpPr>
        <p:grpSpPr>
          <a:xfrm>
            <a:off x="3369609" y="3394792"/>
            <a:ext cx="2492586" cy="486008"/>
            <a:chOff x="3369609" y="3385648"/>
            <a:chExt cx="2492586" cy="486008"/>
          </a:xfrm>
        </p:grpSpPr>
        <p:sp>
          <p:nvSpPr>
            <p:cNvPr id="30"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sp>
        <p:nvSpPr>
          <p:cNvPr id="35" name="矩形 34"/>
          <p:cNvSpPr/>
          <p:nvPr/>
        </p:nvSpPr>
        <p:spPr>
          <a:xfrm>
            <a:off x="1131216" y="4123289"/>
            <a:ext cx="6862714" cy="620683"/>
          </a:xfrm>
          <a:prstGeom prst="rect">
            <a:avLst/>
          </a:prstGeom>
          <a:solidFill>
            <a:schemeClr val="accent6">
              <a:lumMod val="60000"/>
              <a:lumOff val="40000"/>
            </a:schemeClr>
          </a:solidFill>
        </p:spPr>
        <p:txBody>
          <a:bodyPr wrap="square">
            <a:spAutoFit/>
          </a:bodyPr>
          <a:lstStyle/>
          <a:p>
            <a:pPr algn="ctr">
              <a:lnSpc>
                <a:spcPts val="2200"/>
              </a:lnSpc>
            </a:pPr>
            <a:r>
              <a:rPr lang="en-US" altLang="zh-CN" sz="1600" b="1" kern="500" dirty="0">
                <a:latin typeface="微软雅黑" panose="020B0503020204020204" pitchFamily="34" charset="-122"/>
                <a:ea typeface="微软雅黑" panose="020B0503020204020204" pitchFamily="34" charset="-122"/>
              </a:rPr>
              <a:t>TCP </a:t>
            </a:r>
            <a:r>
              <a:rPr lang="zh-CN" altLang="en-US" sz="1600" b="1" kern="500" dirty="0">
                <a:latin typeface="微软雅黑" panose="020B0503020204020204" pitchFamily="34" charset="-122"/>
                <a:ea typeface="微软雅黑" panose="020B0503020204020204" pitchFamily="34" charset="-122"/>
              </a:rPr>
              <a:t>标准规定：</a:t>
            </a:r>
            <a:r>
              <a:rPr lang="en-US" altLang="zh-CN" sz="1600" b="1" kern="500" dirty="0">
                <a:solidFill>
                  <a:srgbClr val="0000FF"/>
                </a:solidFill>
                <a:latin typeface="微软雅黑" panose="020B0503020204020204" pitchFamily="34" charset="-122"/>
                <a:ea typeface="微软雅黑" panose="020B0503020204020204" pitchFamily="34" charset="-122"/>
              </a:rPr>
              <a:t>ACK </a:t>
            </a:r>
            <a:r>
              <a:rPr lang="zh-CN" altLang="en-US" sz="1600" b="1" kern="500" dirty="0">
                <a:solidFill>
                  <a:srgbClr val="0000FF"/>
                </a:solidFill>
                <a:latin typeface="微软雅黑" panose="020B0503020204020204" pitchFamily="34" charset="-122"/>
                <a:ea typeface="微软雅黑" panose="020B0503020204020204" pitchFamily="34" charset="-122"/>
              </a:rPr>
              <a:t>报文段可以携带数据。</a:t>
            </a:r>
            <a:endParaRPr lang="en-US" altLang="zh-CN" sz="1600" b="1" kern="500" dirty="0">
              <a:solidFill>
                <a:srgbClr val="0000FF"/>
              </a:solidFill>
              <a:latin typeface="微软雅黑" panose="020B0503020204020204" pitchFamily="34" charset="-122"/>
              <a:ea typeface="微软雅黑" panose="020B0503020204020204" pitchFamily="34" charset="-122"/>
            </a:endParaRPr>
          </a:p>
          <a:p>
            <a:pPr algn="ctr"/>
            <a:r>
              <a:rPr lang="zh-CN" altLang="en-US" sz="1600" b="1" kern="500" dirty="0">
                <a:latin typeface="微软雅黑" panose="020B0503020204020204" pitchFamily="34" charset="-122"/>
                <a:ea typeface="微软雅黑" panose="020B0503020204020204" pitchFamily="34" charset="-122"/>
              </a:rPr>
              <a:t>但如果不携带数据，则不消耗序号。</a:t>
            </a:r>
            <a:r>
              <a:rPr lang="zh-CN" altLang="en-US" sz="1400" b="1" kern="500" dirty="0">
                <a:latin typeface="微软雅黑" panose="020B0503020204020204" pitchFamily="34" charset="-122"/>
                <a:ea typeface="微软雅黑" panose="020B0503020204020204" pitchFamily="34" charset="-122"/>
              </a:rPr>
              <a:t>下一个数据报文段的序号仍是 </a:t>
            </a:r>
            <a:r>
              <a:rPr lang="en-US" altLang="zh-CN" sz="1400" b="1" kern="500" dirty="0" err="1">
                <a:latin typeface="微软雅黑" panose="020B0503020204020204" pitchFamily="34" charset="-122"/>
                <a:ea typeface="微软雅黑" panose="020B0503020204020204" pitchFamily="34" charset="-122"/>
              </a:rPr>
              <a:t>seq</a:t>
            </a:r>
            <a:r>
              <a:rPr lang="en-US" altLang="zh-CN" sz="1400" b="1" kern="500" dirty="0">
                <a:latin typeface="微软雅黑" panose="020B0503020204020204" pitchFamily="34" charset="-122"/>
                <a:ea typeface="微软雅黑" panose="020B0503020204020204" pitchFamily="34" charset="-122"/>
              </a:rPr>
              <a:t> = x + 1</a:t>
            </a:r>
            <a:r>
              <a:rPr lang="zh-CN" altLang="en-US" sz="1400" b="1" kern="500" dirty="0">
                <a:latin typeface="微软雅黑" panose="020B0503020204020204" pitchFamily="34" charset="-122"/>
                <a:ea typeface="微软雅黑" panose="020B0503020204020204" pitchFamily="34" charset="-122"/>
              </a:rPr>
              <a:t>。</a:t>
            </a:r>
          </a:p>
        </p:txBody>
      </p:sp>
      <p:sp>
        <p:nvSpPr>
          <p:cNvPr id="39" name="标题 38">
            <a:extLst>
              <a:ext uri="{FF2B5EF4-FFF2-40B4-BE49-F238E27FC236}">
                <a16:creationId xmlns:a16="http://schemas.microsoft.com/office/drawing/2014/main" id="{C2FFC152-2147-E6AF-D473-D35C5E34A1B9}"/>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452736983"/>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200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2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fade">
                                      <p:cBhvr>
                                        <p:cTn id="12"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2"/>
          <p:cNvGrpSpPr>
            <a:grpSpLocks/>
          </p:cNvGrpSpPr>
          <p:nvPr/>
        </p:nvGrpSpPr>
        <p:grpSpPr bwMode="auto">
          <a:xfrm>
            <a:off x="3320897" y="2028342"/>
            <a:ext cx="2575352" cy="2086458"/>
            <a:chOff x="1474" y="1888"/>
            <a:chExt cx="2676" cy="2432"/>
          </a:xfrm>
        </p:grpSpPr>
        <p:sp>
          <p:nvSpPr>
            <p:cNvPr id="5"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 name="Line 4"/>
            <p:cNvSpPr>
              <a:spLocks noChangeShapeType="1"/>
            </p:cNvSpPr>
            <p:nvPr/>
          </p:nvSpPr>
          <p:spPr bwMode="auto">
            <a:xfrm>
              <a:off x="4150"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sp>
        <p:nvSpPr>
          <p:cNvPr id="26" name="Text Box 155"/>
          <p:cNvSpPr txBox="1">
            <a:spLocks noChangeArrowheads="1"/>
          </p:cNvSpPr>
          <p:nvPr/>
        </p:nvSpPr>
        <p:spPr bwMode="auto">
          <a:xfrm>
            <a:off x="5988965" y="2892459"/>
            <a:ext cx="2131455" cy="1361911"/>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en-US" altLang="zh-CN" sz="1500" b="1" dirty="0">
                <a:latin typeface="微软雅黑" pitchFamily="34" charset="-122"/>
                <a:ea typeface="微软雅黑" pitchFamily="34" charset="-122"/>
              </a:rPr>
              <a:t>B </a:t>
            </a:r>
            <a:r>
              <a:rPr lang="zh-CN" altLang="en-US" sz="1500" b="1" dirty="0">
                <a:latin typeface="微软雅黑" pitchFamily="34" charset="-122"/>
                <a:ea typeface="微软雅黑" pitchFamily="34" charset="-122"/>
              </a:rPr>
              <a:t>的 </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收到主机 </a:t>
            </a:r>
            <a:r>
              <a:rPr lang="en-US" altLang="zh-CN" sz="1500" b="1" dirty="0">
                <a:latin typeface="微软雅黑" pitchFamily="34" charset="-122"/>
                <a:ea typeface="微软雅黑" pitchFamily="34" charset="-122"/>
              </a:rPr>
              <a:t>A </a:t>
            </a:r>
            <a:r>
              <a:rPr lang="zh-CN" altLang="en-US" sz="1500" b="1" dirty="0">
                <a:latin typeface="微软雅黑" pitchFamily="34" charset="-122"/>
                <a:ea typeface="微软雅黑" pitchFamily="34" charset="-122"/>
              </a:rPr>
              <a:t>的确认后，也通知其上层应用进程：</a:t>
            </a:r>
            <a:r>
              <a:rPr lang="en-US" altLang="zh-CN" sz="1500" b="1" dirty="0">
                <a:latin typeface="微软雅黑" pitchFamily="34" charset="-122"/>
                <a:ea typeface="微软雅黑" pitchFamily="34" charset="-122"/>
              </a:rPr>
              <a:t>TCP </a:t>
            </a:r>
            <a:r>
              <a:rPr lang="zh-CN" altLang="en-US" sz="1500" b="1" dirty="0">
                <a:latin typeface="微软雅黑" pitchFamily="34" charset="-122"/>
                <a:ea typeface="微软雅黑" pitchFamily="34" charset="-122"/>
              </a:rPr>
              <a:t>连接已经建立。双方可以开始数据传送。</a:t>
            </a:r>
          </a:p>
        </p:txBody>
      </p:sp>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sp>
        <p:nvSpPr>
          <p:cNvPr id="41" name="标题 40">
            <a:extLst>
              <a:ext uri="{FF2B5EF4-FFF2-40B4-BE49-F238E27FC236}">
                <a16:creationId xmlns:a16="http://schemas.microsoft.com/office/drawing/2014/main" id="{FA31AAF7-E286-72B8-A25D-17D80ED786EB}"/>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33358868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1000"/>
                                  </p:stCondLst>
                                  <p:childTnLst>
                                    <p:set>
                                      <p:cBhvr>
                                        <p:cTn id="6" dur="1" fill="hold">
                                          <p:stCondLst>
                                            <p:cond delay="0"/>
                                          </p:stCondLst>
                                        </p:cTn>
                                        <p:tgtEl>
                                          <p:spTgt spid="33"/>
                                        </p:tgtEl>
                                        <p:attrNameLst>
                                          <p:attrName>style.visibility</p:attrName>
                                        </p:attrNameLst>
                                      </p:cBhvr>
                                      <p:to>
                                        <p:strVal val="visible"/>
                                      </p:to>
                                    </p:set>
                                    <p:animEffect transition="in" filter="barn(outVertical)">
                                      <p:cBhvr>
                                        <p:cTn id="7" dur="20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a:grpSpLocks/>
          </p:cNvGrpSpPr>
          <p:nvPr/>
        </p:nvGrpSpPr>
        <p:grpSpPr bwMode="auto">
          <a:xfrm>
            <a:off x="3365167" y="2006212"/>
            <a:ext cx="2492586" cy="512955"/>
            <a:chOff x="1520" y="1865"/>
            <a:chExt cx="2590" cy="533"/>
          </a:xfrm>
        </p:grpSpPr>
        <p:sp>
          <p:nvSpPr>
            <p:cNvPr id="8" name="Rectangle 7"/>
            <p:cNvSpPr>
              <a:spLocks noChangeArrowheads="1"/>
            </p:cNvSpPr>
            <p:nvPr/>
          </p:nvSpPr>
          <p:spPr bwMode="auto">
            <a:xfrm rot="665985">
              <a:off x="2088" y="1865"/>
              <a:ext cx="1604"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SYN = 1, </a:t>
              </a:r>
              <a:r>
                <a:rPr kumimoji="0" lang="en-US" altLang="zh-CN" sz="12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 = x</a:t>
              </a:r>
            </a:p>
          </p:txBody>
        </p:sp>
        <p:sp>
          <p:nvSpPr>
            <p:cNvPr id="9" name="Line 8"/>
            <p:cNvSpPr>
              <a:spLocks noChangeShapeType="1"/>
            </p:cNvSpPr>
            <p:nvPr/>
          </p:nvSpPr>
          <p:spPr bwMode="auto">
            <a:xfrm>
              <a:off x="1520" y="1893"/>
              <a:ext cx="2590" cy="505"/>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0" name="Rectangle 9"/>
          <p:cNvSpPr>
            <a:spLocks noChangeArrowheads="1"/>
          </p:cNvSpPr>
          <p:nvPr/>
        </p:nvSpPr>
        <p:spPr bwMode="auto">
          <a:xfrm>
            <a:off x="2773298" y="1662634"/>
            <a:ext cx="769296"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1" name="Text Box 10"/>
          <p:cNvSpPr txBox="1">
            <a:spLocks noChangeArrowheads="1"/>
          </p:cNvSpPr>
          <p:nvPr/>
        </p:nvSpPr>
        <p:spPr bwMode="auto">
          <a:xfrm>
            <a:off x="2784408"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dirty="0">
                <a:latin typeface="微软雅黑" pitchFamily="34" charset="-122"/>
                <a:ea typeface="微软雅黑" pitchFamily="34" charset="-122"/>
              </a:rPr>
              <a:t>CLOSED</a:t>
            </a:r>
          </a:p>
        </p:txBody>
      </p:sp>
      <p:sp>
        <p:nvSpPr>
          <p:cNvPr id="12" name="Rectangle 11"/>
          <p:cNvSpPr>
            <a:spLocks noChangeArrowheads="1"/>
          </p:cNvSpPr>
          <p:nvPr/>
        </p:nvSpPr>
        <p:spPr bwMode="auto">
          <a:xfrm>
            <a:off x="5858716" y="1662634"/>
            <a:ext cx="784455" cy="332986"/>
          </a:xfrm>
          <a:prstGeom prst="rect">
            <a:avLst/>
          </a:prstGeom>
          <a:solidFill>
            <a:srgbClr val="66FF99"/>
          </a:solidFill>
          <a:ln w="12700">
            <a:solidFill>
              <a:schemeClr val="tx1"/>
            </a:solidFill>
            <a:miter lim="800000"/>
            <a:headEnd/>
            <a:tailEnd/>
          </a:ln>
          <a:effectLst/>
        </p:spPr>
        <p:txBody>
          <a:bodyPr wrap="none"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13" name="Text Box 12"/>
          <p:cNvSpPr txBox="1">
            <a:spLocks noChangeArrowheads="1"/>
          </p:cNvSpPr>
          <p:nvPr/>
        </p:nvSpPr>
        <p:spPr bwMode="auto">
          <a:xfrm>
            <a:off x="5875600" y="1700167"/>
            <a:ext cx="79913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ctr"/>
            <a:r>
              <a:rPr lang="en-US" altLang="zh-CN" sz="1200">
                <a:latin typeface="微软雅黑" pitchFamily="34" charset="-122"/>
                <a:ea typeface="微软雅黑" pitchFamily="34" charset="-122"/>
              </a:rPr>
              <a:t>CLOSED</a:t>
            </a:r>
          </a:p>
        </p:txBody>
      </p:sp>
      <p:grpSp>
        <p:nvGrpSpPr>
          <p:cNvPr id="14" name="Group 13"/>
          <p:cNvGrpSpPr>
            <a:grpSpLocks/>
          </p:cNvGrpSpPr>
          <p:nvPr/>
        </p:nvGrpSpPr>
        <p:grpSpPr bwMode="auto">
          <a:xfrm>
            <a:off x="1847479" y="1458608"/>
            <a:ext cx="1095199" cy="593794"/>
            <a:chOff x="-57" y="1296"/>
            <a:chExt cx="1138" cy="617"/>
          </a:xfrm>
        </p:grpSpPr>
        <p:sp>
          <p:nvSpPr>
            <p:cNvPr id="15" name="Rectangle 14"/>
            <p:cNvSpPr>
              <a:spLocks noChangeArrowheads="1"/>
            </p:cNvSpPr>
            <p:nvPr/>
          </p:nvSpPr>
          <p:spPr bwMode="auto">
            <a:xfrm>
              <a:off x="-57" y="1628"/>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主动打开</a:t>
              </a:r>
            </a:p>
          </p:txBody>
        </p:sp>
        <p:sp>
          <p:nvSpPr>
            <p:cNvPr id="16" name="Freeform 15"/>
            <p:cNvSpPr>
              <a:spLocks/>
            </p:cNvSpPr>
            <p:nvPr/>
          </p:nvSpPr>
          <p:spPr bwMode="auto">
            <a:xfrm>
              <a:off x="-27" y="1296"/>
              <a:ext cx="1108" cy="597"/>
            </a:xfrm>
            <a:custGeom>
              <a:avLst/>
              <a:gdLst>
                <a:gd name="T0" fmla="*/ 832 w 758"/>
                <a:gd name="T1" fmla="*/ 5 h 491"/>
                <a:gd name="T2" fmla="*/ 0 w 758"/>
                <a:gd name="T3" fmla="*/ 0 h 491"/>
                <a:gd name="T4" fmla="*/ 0 w 758"/>
                <a:gd name="T5" fmla="*/ 597 h 491"/>
                <a:gd name="T6" fmla="*/ 650 w 758"/>
                <a:gd name="T7" fmla="*/ 597 h 491"/>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58" h="491">
                  <a:moveTo>
                    <a:pt x="758" y="4"/>
                  </a:moveTo>
                  <a:lnTo>
                    <a:pt x="0" y="0"/>
                  </a:lnTo>
                  <a:lnTo>
                    <a:pt x="0" y="491"/>
                  </a:lnTo>
                  <a:lnTo>
                    <a:pt x="592" y="491"/>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7" name="Group 16"/>
          <p:cNvGrpSpPr>
            <a:grpSpLocks/>
          </p:cNvGrpSpPr>
          <p:nvPr/>
        </p:nvGrpSpPr>
        <p:grpSpPr bwMode="auto">
          <a:xfrm>
            <a:off x="6281211" y="1463420"/>
            <a:ext cx="1188551" cy="578396"/>
            <a:chOff x="4550" y="1301"/>
            <a:chExt cx="1235" cy="601"/>
          </a:xfrm>
        </p:grpSpPr>
        <p:sp>
          <p:nvSpPr>
            <p:cNvPr id="18" name="Rectangle 17"/>
            <p:cNvSpPr>
              <a:spLocks noChangeArrowheads="1"/>
            </p:cNvSpPr>
            <p:nvPr/>
          </p:nvSpPr>
          <p:spPr bwMode="auto">
            <a:xfrm>
              <a:off x="4956" y="1617"/>
              <a:ext cx="829" cy="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被动打开</a:t>
              </a:r>
            </a:p>
          </p:txBody>
        </p:sp>
        <p:sp>
          <p:nvSpPr>
            <p:cNvPr id="19" name="Freeform 18"/>
            <p:cNvSpPr>
              <a:spLocks/>
            </p:cNvSpPr>
            <p:nvPr/>
          </p:nvSpPr>
          <p:spPr bwMode="auto">
            <a:xfrm>
              <a:off x="4550" y="1301"/>
              <a:ext cx="1209" cy="592"/>
            </a:xfrm>
            <a:custGeom>
              <a:avLst/>
              <a:gdLst>
                <a:gd name="T0" fmla="*/ 0 w 792"/>
                <a:gd name="T1" fmla="*/ 0 h 487"/>
                <a:gd name="T2" fmla="*/ 870 w 792"/>
                <a:gd name="T3" fmla="*/ 5 h 487"/>
                <a:gd name="T4" fmla="*/ 870 w 792"/>
                <a:gd name="T5" fmla="*/ 592 h 487"/>
                <a:gd name="T6" fmla="*/ 201 w 792"/>
                <a:gd name="T7" fmla="*/ 583 h 4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92" h="487">
                  <a:moveTo>
                    <a:pt x="0" y="0"/>
                  </a:moveTo>
                  <a:lnTo>
                    <a:pt x="792" y="4"/>
                  </a:lnTo>
                  <a:lnTo>
                    <a:pt x="792" y="487"/>
                  </a:lnTo>
                  <a:lnTo>
                    <a:pt x="183" y="480"/>
                  </a:ln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20" name="Rectangle 21"/>
          <p:cNvSpPr>
            <a:spLocks noChangeArrowheads="1"/>
          </p:cNvSpPr>
          <p:nvPr/>
        </p:nvSpPr>
        <p:spPr bwMode="auto">
          <a:xfrm>
            <a:off x="3171727" y="1290190"/>
            <a:ext cx="29816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A</a:t>
            </a:r>
          </a:p>
        </p:txBody>
      </p:sp>
      <p:sp>
        <p:nvSpPr>
          <p:cNvPr id="21" name="Rectangle 22"/>
          <p:cNvSpPr>
            <a:spLocks noChangeArrowheads="1"/>
          </p:cNvSpPr>
          <p:nvPr/>
        </p:nvSpPr>
        <p:spPr bwMode="auto">
          <a:xfrm>
            <a:off x="5707538" y="1290190"/>
            <a:ext cx="288542"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2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22" name="Rectangle 23"/>
          <p:cNvSpPr>
            <a:spLocks noChangeArrowheads="1"/>
          </p:cNvSpPr>
          <p:nvPr/>
        </p:nvSpPr>
        <p:spPr bwMode="auto">
          <a:xfrm>
            <a:off x="2865687" y="1075577"/>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3" name="Rectangle 24"/>
          <p:cNvSpPr>
            <a:spLocks noChangeArrowheads="1"/>
          </p:cNvSpPr>
          <p:nvPr/>
        </p:nvSpPr>
        <p:spPr bwMode="auto">
          <a:xfrm>
            <a:off x="5894324" y="1075577"/>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a:ln>
                  <a:noFill/>
                </a:ln>
                <a:effectLst/>
                <a:uLnTx/>
                <a:uFillTx/>
                <a:latin typeface="微软雅黑" pitchFamily="34" charset="-122"/>
                <a:ea typeface="微软雅黑" pitchFamily="34" charset="-122"/>
              </a:rPr>
              <a:t>服务器</a:t>
            </a:r>
          </a:p>
        </p:txBody>
      </p:sp>
      <p:pic>
        <p:nvPicPr>
          <p:cNvPr id="2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20279" y="1320019"/>
            <a:ext cx="318286" cy="31828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33626" y="1320019"/>
            <a:ext cx="318286" cy="318286"/>
          </a:xfrm>
          <a:prstGeom prst="rect">
            <a:avLst/>
          </a:prstGeom>
          <a:noFill/>
          <a:extLst>
            <a:ext uri="{909E8E84-426E-40DD-AFC4-6F175D3DCCD1}">
              <a14:hiddenFill xmlns:a14="http://schemas.microsoft.com/office/drawing/2010/main">
                <a:solidFill>
                  <a:srgbClr val="FFFFFF"/>
                </a:solidFill>
              </a14:hiddenFill>
            </a:ext>
          </a:extLst>
        </p:spPr>
      </p:pic>
      <p:grpSp>
        <p:nvGrpSpPr>
          <p:cNvPr id="27" name="组合 26"/>
          <p:cNvGrpSpPr/>
          <p:nvPr/>
        </p:nvGrpSpPr>
        <p:grpSpPr>
          <a:xfrm>
            <a:off x="3196383" y="2596896"/>
            <a:ext cx="2679216" cy="723958"/>
            <a:chOff x="3196383" y="2596896"/>
            <a:chExt cx="2679216" cy="723958"/>
          </a:xfrm>
        </p:grpSpPr>
        <p:sp>
          <p:nvSpPr>
            <p:cNvPr id="28" name="Line 27"/>
            <p:cNvSpPr>
              <a:spLocks noChangeShapeType="1"/>
            </p:cNvSpPr>
            <p:nvPr/>
          </p:nvSpPr>
          <p:spPr bwMode="auto">
            <a:xfrm flipH="1">
              <a:off x="3356206" y="2596896"/>
              <a:ext cx="2519393" cy="72395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200" b="1" kern="0">
                <a:latin typeface="微软雅黑" pitchFamily="34" charset="-122"/>
                <a:ea typeface="微软雅黑" pitchFamily="34" charset="-122"/>
              </a:endParaRPr>
            </a:p>
          </p:txBody>
        </p:sp>
        <p:sp>
          <p:nvSpPr>
            <p:cNvPr id="29" name="Rectangle 28"/>
            <p:cNvSpPr>
              <a:spLocks noChangeArrowheads="1"/>
            </p:cNvSpPr>
            <p:nvPr/>
          </p:nvSpPr>
          <p:spPr bwMode="auto">
            <a:xfrm rot="20622176" flipH="1">
              <a:off x="3196383" y="2734428"/>
              <a:ext cx="2585915"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SYN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y,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x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grpSp>
      <p:grpSp>
        <p:nvGrpSpPr>
          <p:cNvPr id="30" name="组合 29"/>
          <p:cNvGrpSpPr/>
          <p:nvPr/>
        </p:nvGrpSpPr>
        <p:grpSpPr>
          <a:xfrm>
            <a:off x="3369609" y="3394792"/>
            <a:ext cx="2492586" cy="486008"/>
            <a:chOff x="3369609" y="3385648"/>
            <a:chExt cx="2492586" cy="486008"/>
          </a:xfrm>
        </p:grpSpPr>
        <p:sp>
          <p:nvSpPr>
            <p:cNvPr id="31" name="Line 8"/>
            <p:cNvSpPr>
              <a:spLocks noChangeShapeType="1"/>
            </p:cNvSpPr>
            <p:nvPr/>
          </p:nvSpPr>
          <p:spPr bwMode="auto">
            <a:xfrm>
              <a:off x="3369609" y="3385648"/>
              <a:ext cx="2492586" cy="486008"/>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effectLst/>
                <a:uLnTx/>
                <a:uFillTx/>
                <a:latin typeface="微软雅黑" pitchFamily="34" charset="-122"/>
                <a:ea typeface="微软雅黑" pitchFamily="34" charset="-122"/>
              </a:endParaRPr>
            </a:p>
          </p:txBody>
        </p:sp>
        <p:sp>
          <p:nvSpPr>
            <p:cNvPr id="32" name="Rectangle 7"/>
            <p:cNvSpPr>
              <a:spLocks noChangeArrowheads="1"/>
            </p:cNvSpPr>
            <p:nvPr/>
          </p:nvSpPr>
          <p:spPr bwMode="auto">
            <a:xfrm rot="665985">
              <a:off x="3673451" y="3400197"/>
              <a:ext cx="2046588"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lvl="0" defTabSz="762000" eaLnBrk="0" hangingPunct="0">
                <a:defRPr/>
              </a:pPr>
              <a:r>
                <a:rPr lang="es-ES" altLang="zh-CN" sz="900" b="1" kern="0" dirty="0">
                  <a:latin typeface="微软雅黑" pitchFamily="34" charset="-122"/>
                  <a:ea typeface="微软雅黑" pitchFamily="34" charset="-122"/>
                </a:rPr>
                <a:t>ACK = 1, seq = x + 1, ack = y+1</a:t>
              </a:r>
            </a:p>
          </p:txBody>
        </p:sp>
      </p:grpSp>
      <p:grpSp>
        <p:nvGrpSpPr>
          <p:cNvPr id="33" name="Group 15"/>
          <p:cNvGrpSpPr>
            <a:grpSpLocks/>
          </p:cNvGrpSpPr>
          <p:nvPr/>
        </p:nvGrpSpPr>
        <p:grpSpPr bwMode="auto">
          <a:xfrm>
            <a:off x="3931920" y="3836802"/>
            <a:ext cx="1330219" cy="274235"/>
            <a:chOff x="2088" y="3679"/>
            <a:chExt cx="1494" cy="308"/>
          </a:xfrm>
        </p:grpSpPr>
        <p:sp>
          <p:nvSpPr>
            <p:cNvPr id="34" name="AutoShape 16"/>
            <p:cNvSpPr>
              <a:spLocks noChangeArrowheads="1"/>
            </p:cNvSpPr>
            <p:nvPr/>
          </p:nvSpPr>
          <p:spPr bwMode="auto">
            <a:xfrm>
              <a:off x="2088" y="3735"/>
              <a:ext cx="1494" cy="166"/>
            </a:xfrm>
            <a:prstGeom prst="leftRightArrow">
              <a:avLst>
                <a:gd name="adj1" fmla="val 55880"/>
                <a:gd name="adj2" fmla="val 103167"/>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1" i="0" u="none" strike="noStrike" kern="0" cap="none" spc="0" normalizeH="0" baseline="0" noProof="0">
                <a:ln>
                  <a:noFill/>
                </a:ln>
                <a:solidFill>
                  <a:sysClr val="windowText" lastClr="000000"/>
                </a:solidFill>
                <a:effectLst/>
                <a:uLnTx/>
                <a:uFillTx/>
                <a:latin typeface="微软雅黑" pitchFamily="34" charset="-122"/>
                <a:ea typeface="微软雅黑" pitchFamily="34" charset="-122"/>
              </a:endParaRPr>
            </a:p>
          </p:txBody>
        </p:sp>
        <p:sp>
          <p:nvSpPr>
            <p:cNvPr id="35" name="Rectangle 17"/>
            <p:cNvSpPr>
              <a:spLocks noChangeArrowheads="1"/>
            </p:cNvSpPr>
            <p:nvPr/>
          </p:nvSpPr>
          <p:spPr bwMode="auto">
            <a:xfrm>
              <a:off x="2382" y="3679"/>
              <a:ext cx="897" cy="308"/>
            </a:xfrm>
            <a:prstGeom prst="rect">
              <a:avLst/>
            </a:prstGeom>
            <a:solidFill>
              <a:srgbClr val="66FF99"/>
            </a:solidFill>
            <a:ln w="12700">
              <a:solidFill>
                <a:schemeClr val="tx1"/>
              </a:solidFill>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grpSp>
        <p:nvGrpSpPr>
          <p:cNvPr id="53" name="Group 2"/>
          <p:cNvGrpSpPr>
            <a:grpSpLocks/>
          </p:cNvGrpSpPr>
          <p:nvPr/>
        </p:nvGrpSpPr>
        <p:grpSpPr bwMode="auto">
          <a:xfrm>
            <a:off x="2752528" y="2045590"/>
            <a:ext cx="3802206" cy="2120311"/>
            <a:chOff x="880" y="1893"/>
            <a:chExt cx="3747" cy="2372"/>
          </a:xfrm>
        </p:grpSpPr>
        <p:grpSp>
          <p:nvGrpSpPr>
            <p:cNvPr id="54" name="Group 3"/>
            <p:cNvGrpSpPr>
              <a:grpSpLocks/>
            </p:cNvGrpSpPr>
            <p:nvPr/>
          </p:nvGrpSpPr>
          <p:grpSpPr bwMode="auto">
            <a:xfrm>
              <a:off x="899" y="1916"/>
              <a:ext cx="622" cy="1048"/>
              <a:chOff x="899" y="1916"/>
              <a:chExt cx="622" cy="1048"/>
            </a:xfrm>
          </p:grpSpPr>
          <p:sp>
            <p:nvSpPr>
              <p:cNvPr id="67" name="Rectangle 4"/>
              <p:cNvSpPr>
                <a:spLocks noChangeArrowheads="1"/>
              </p:cNvSpPr>
              <p:nvPr/>
            </p:nvSpPr>
            <p:spPr bwMode="auto">
              <a:xfrm>
                <a:off x="899" y="1916"/>
                <a:ext cx="622" cy="1048"/>
              </a:xfrm>
              <a:prstGeom prst="rect">
                <a:avLst/>
              </a:prstGeom>
              <a:solidFill>
                <a:srgbClr val="00990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8" name="Rectangle 5"/>
              <p:cNvSpPr>
                <a:spLocks noChangeArrowheads="1"/>
              </p:cNvSpPr>
              <p:nvPr/>
            </p:nvSpPr>
            <p:spPr bwMode="auto">
              <a:xfrm>
                <a:off x="946" y="2199"/>
                <a:ext cx="548"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SENT</a:t>
                </a:r>
              </a:p>
            </p:txBody>
          </p:sp>
        </p:grpSp>
        <p:grpSp>
          <p:nvGrpSpPr>
            <p:cNvPr id="55" name="Group 6"/>
            <p:cNvGrpSpPr>
              <a:grpSpLocks/>
            </p:cNvGrpSpPr>
            <p:nvPr/>
          </p:nvGrpSpPr>
          <p:grpSpPr bwMode="auto">
            <a:xfrm>
              <a:off x="880" y="3013"/>
              <a:ext cx="690" cy="1252"/>
              <a:chOff x="880" y="3013"/>
              <a:chExt cx="690" cy="1252"/>
            </a:xfrm>
          </p:grpSpPr>
          <p:sp>
            <p:nvSpPr>
              <p:cNvPr id="65" name="Rectangle 7"/>
              <p:cNvSpPr>
                <a:spLocks noChangeArrowheads="1"/>
              </p:cNvSpPr>
              <p:nvPr/>
            </p:nvSpPr>
            <p:spPr bwMode="auto">
              <a:xfrm>
                <a:off x="905" y="3013"/>
                <a:ext cx="609" cy="1252"/>
              </a:xfrm>
              <a:prstGeom prst="rect">
                <a:avLst/>
              </a:prstGeom>
              <a:solidFill>
                <a:srgbClr val="0000FF"/>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6" name="Rectangle 8"/>
              <p:cNvSpPr>
                <a:spLocks noChangeArrowheads="1"/>
              </p:cNvSpPr>
              <p:nvPr/>
            </p:nvSpPr>
            <p:spPr bwMode="auto">
              <a:xfrm>
                <a:off x="880" y="3383"/>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nvGrpSpPr>
            <p:cNvPr id="56" name="Group 9"/>
            <p:cNvGrpSpPr>
              <a:grpSpLocks/>
            </p:cNvGrpSpPr>
            <p:nvPr/>
          </p:nvGrpSpPr>
          <p:grpSpPr bwMode="auto">
            <a:xfrm>
              <a:off x="3949" y="2445"/>
              <a:ext cx="621" cy="1064"/>
              <a:chOff x="3949" y="2445"/>
              <a:chExt cx="621" cy="1064"/>
            </a:xfrm>
          </p:grpSpPr>
          <p:sp>
            <p:nvSpPr>
              <p:cNvPr id="63" name="Rectangle 10"/>
              <p:cNvSpPr>
                <a:spLocks noChangeArrowheads="1"/>
              </p:cNvSpPr>
              <p:nvPr/>
            </p:nvSpPr>
            <p:spPr bwMode="auto">
              <a:xfrm>
                <a:off x="3949" y="2445"/>
                <a:ext cx="621" cy="1064"/>
              </a:xfrm>
              <a:prstGeom prst="rect">
                <a:avLst/>
              </a:prstGeom>
              <a:solidFill>
                <a:srgbClr val="009900"/>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Rectangle 11"/>
              <p:cNvSpPr>
                <a:spLocks noChangeArrowheads="1"/>
              </p:cNvSpPr>
              <p:nvPr/>
            </p:nvSpPr>
            <p:spPr bwMode="auto">
              <a:xfrm>
                <a:off x="3976" y="2751"/>
                <a:ext cx="58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SYN-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RCVD</a:t>
                </a:r>
              </a:p>
            </p:txBody>
          </p:sp>
        </p:grpSp>
        <p:grpSp>
          <p:nvGrpSpPr>
            <p:cNvPr id="57" name="Group 12"/>
            <p:cNvGrpSpPr>
              <a:grpSpLocks/>
            </p:cNvGrpSpPr>
            <p:nvPr/>
          </p:nvGrpSpPr>
          <p:grpSpPr bwMode="auto">
            <a:xfrm>
              <a:off x="3949" y="1893"/>
              <a:ext cx="678" cy="519"/>
              <a:chOff x="3949" y="1893"/>
              <a:chExt cx="678" cy="519"/>
            </a:xfrm>
          </p:grpSpPr>
          <p:sp>
            <p:nvSpPr>
              <p:cNvPr id="61" name="Rectangle 13"/>
              <p:cNvSpPr>
                <a:spLocks noChangeArrowheads="1"/>
              </p:cNvSpPr>
              <p:nvPr/>
            </p:nvSpPr>
            <p:spPr bwMode="auto">
              <a:xfrm>
                <a:off x="3949" y="1893"/>
                <a:ext cx="621" cy="519"/>
              </a:xfrm>
              <a:prstGeom prst="rect">
                <a:avLst/>
              </a:prstGeom>
              <a:solidFill>
                <a:srgbClr val="CC00CC"/>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2" name="Rectangle 14"/>
              <p:cNvSpPr>
                <a:spLocks noChangeArrowheads="1"/>
              </p:cNvSpPr>
              <p:nvPr/>
            </p:nvSpPr>
            <p:spPr bwMode="auto">
              <a:xfrm>
                <a:off x="3956" y="2004"/>
                <a:ext cx="671" cy="2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LISTEN</a:t>
                </a:r>
              </a:p>
            </p:txBody>
          </p:sp>
        </p:grpSp>
        <p:grpSp>
          <p:nvGrpSpPr>
            <p:cNvPr id="58" name="Group 15"/>
            <p:cNvGrpSpPr>
              <a:grpSpLocks/>
            </p:cNvGrpSpPr>
            <p:nvPr/>
          </p:nvGrpSpPr>
          <p:grpSpPr bwMode="auto">
            <a:xfrm>
              <a:off x="3930" y="3564"/>
              <a:ext cx="690" cy="701"/>
              <a:chOff x="3930" y="3564"/>
              <a:chExt cx="690" cy="701"/>
            </a:xfrm>
          </p:grpSpPr>
          <p:sp>
            <p:nvSpPr>
              <p:cNvPr id="59" name="Rectangle 16"/>
              <p:cNvSpPr>
                <a:spLocks noChangeArrowheads="1"/>
              </p:cNvSpPr>
              <p:nvPr/>
            </p:nvSpPr>
            <p:spPr bwMode="auto">
              <a:xfrm>
                <a:off x="3949" y="3564"/>
                <a:ext cx="621" cy="701"/>
              </a:xfrm>
              <a:prstGeom prst="rect">
                <a:avLst/>
              </a:prstGeom>
              <a:solidFill>
                <a:srgbClr val="0000FF"/>
              </a:solidFill>
              <a:ln>
                <a:noFill/>
              </a:ln>
              <a:effectLst/>
              <a:extLst>
                <a:ext uri="{91240B29-F687-4F45-9708-019B960494DF}">
                  <a14:hiddenLine xmlns:a14="http://schemas.microsoft.com/office/drawing/2010/main" w="12700" algn="ctr">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100" b="1" i="0" u="none" strike="noStrike" kern="0" cap="none" spc="0" normalizeH="0" baseline="0" noProof="0">
                  <a:ln>
                    <a:noFill/>
                  </a:ln>
                  <a:effectLst/>
                  <a:uLnTx/>
                  <a:uFillTx/>
                  <a:latin typeface="微软雅黑" pitchFamily="34" charset="-122"/>
                  <a:ea typeface="微软雅黑" pitchFamily="34" charset="-122"/>
                </a:endParaRPr>
              </a:p>
            </p:txBody>
          </p:sp>
          <p:sp>
            <p:nvSpPr>
              <p:cNvPr id="60" name="Rectangle 17"/>
              <p:cNvSpPr>
                <a:spLocks noChangeArrowheads="1"/>
              </p:cNvSpPr>
              <p:nvPr/>
            </p:nvSpPr>
            <p:spPr bwMode="auto">
              <a:xfrm>
                <a:off x="3930" y="3708"/>
                <a:ext cx="690" cy="4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1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grpSp>
      <p:sp>
        <p:nvSpPr>
          <p:cNvPr id="2" name="矩形 1"/>
          <p:cNvSpPr/>
          <p:nvPr/>
        </p:nvSpPr>
        <p:spPr>
          <a:xfrm>
            <a:off x="1438250" y="2348542"/>
            <a:ext cx="1441420"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（同步已发送）</a:t>
            </a:r>
          </a:p>
        </p:txBody>
      </p:sp>
      <p:sp>
        <p:nvSpPr>
          <p:cNvPr id="4" name="矩形 3"/>
          <p:cNvSpPr/>
          <p:nvPr/>
        </p:nvSpPr>
        <p:spPr>
          <a:xfrm>
            <a:off x="6411530" y="2838334"/>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（同步收到）</a:t>
            </a:r>
          </a:p>
        </p:txBody>
      </p:sp>
      <p:sp>
        <p:nvSpPr>
          <p:cNvPr id="5" name="矩形 4"/>
          <p:cNvSpPr/>
          <p:nvPr/>
        </p:nvSpPr>
        <p:spPr>
          <a:xfrm>
            <a:off x="1439489" y="3369465"/>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52" name="矩形 51"/>
          <p:cNvSpPr/>
          <p:nvPr/>
        </p:nvSpPr>
        <p:spPr>
          <a:xfrm>
            <a:off x="6396639" y="3655617"/>
            <a:ext cx="1441420" cy="307777"/>
          </a:xfrm>
          <a:prstGeom prst="rect">
            <a:avLst/>
          </a:prstGeom>
        </p:spPr>
        <p:txBody>
          <a:bodyPr wrap="none">
            <a:spAutoFit/>
          </a:bodyPr>
          <a:lstStyle/>
          <a:p>
            <a:pPr algn="ctr"/>
            <a:r>
              <a:rPr lang="zh-CN" altLang="zh-CN" sz="1400" b="1" dirty="0">
                <a:latin typeface="微软雅黑" panose="020B0503020204020204" pitchFamily="34" charset="-122"/>
                <a:ea typeface="微软雅黑" panose="020B0503020204020204" pitchFamily="34" charset="-122"/>
              </a:rPr>
              <a:t>（已建立连接）</a:t>
            </a:r>
            <a:endParaRPr lang="zh-CN" altLang="en-US" sz="1400" b="1" dirty="0">
              <a:latin typeface="微软雅黑" panose="020B0503020204020204" pitchFamily="34" charset="-122"/>
              <a:ea typeface="微软雅黑" panose="020B0503020204020204" pitchFamily="34" charset="-122"/>
            </a:endParaRPr>
          </a:p>
        </p:txBody>
      </p:sp>
      <p:sp>
        <p:nvSpPr>
          <p:cNvPr id="39" name="标题 38">
            <a:extLst>
              <a:ext uri="{FF2B5EF4-FFF2-40B4-BE49-F238E27FC236}">
                <a16:creationId xmlns:a16="http://schemas.microsoft.com/office/drawing/2014/main" id="{69F05BA6-8912-393B-FF3C-30C94CF2F82D}"/>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的连接建立：采用三报文握手</a:t>
            </a:r>
          </a:p>
        </p:txBody>
      </p:sp>
    </p:spTree>
    <p:extLst>
      <p:ext uri="{BB962C8B-B14F-4D97-AF65-F5344CB8AC3E}">
        <p14:creationId xmlns:p14="http://schemas.microsoft.com/office/powerpoint/2010/main" val="132522522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47D15CC1-5781-A9FD-7949-A7C95335D57C}"/>
              </a:ext>
            </a:extLst>
          </p:cNvPr>
          <p:cNvCxnSpPr>
            <a:cxnSpLocks/>
          </p:cNvCxnSpPr>
          <p:nvPr/>
        </p:nvCxnSpPr>
        <p:spPr>
          <a:xfrm>
            <a:off x="3008675" y="907696"/>
            <a:ext cx="0" cy="3600000"/>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FEC8E802-DCFB-F2C8-1459-2F22F0E42B88}"/>
              </a:ext>
            </a:extLst>
          </p:cNvPr>
          <p:cNvCxnSpPr>
            <a:cxnSpLocks/>
          </p:cNvCxnSpPr>
          <p:nvPr/>
        </p:nvCxnSpPr>
        <p:spPr>
          <a:xfrm>
            <a:off x="6135325" y="907696"/>
            <a:ext cx="0" cy="3600000"/>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5" name="图形 4" descr="监视器">
            <a:extLst>
              <a:ext uri="{FF2B5EF4-FFF2-40B4-BE49-F238E27FC236}">
                <a16:creationId xmlns:a16="http://schemas.microsoft.com/office/drawing/2014/main" id="{5BB9EDD4-3F0E-0283-7864-426C18E272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792675" y="553196"/>
            <a:ext cx="432000" cy="432000"/>
          </a:xfrm>
          <a:prstGeom prst="rect">
            <a:avLst/>
          </a:prstGeom>
        </p:spPr>
      </p:pic>
      <p:pic>
        <p:nvPicPr>
          <p:cNvPr id="8" name="图形 7" descr="监视器">
            <a:extLst>
              <a:ext uri="{FF2B5EF4-FFF2-40B4-BE49-F238E27FC236}">
                <a16:creationId xmlns:a16="http://schemas.microsoft.com/office/drawing/2014/main" id="{17145CFB-63B6-38AB-DAF9-92A4D5D9A2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19325" y="553196"/>
            <a:ext cx="432000" cy="432000"/>
          </a:xfrm>
          <a:prstGeom prst="rect">
            <a:avLst/>
          </a:prstGeom>
        </p:spPr>
      </p:pic>
      <p:cxnSp>
        <p:nvCxnSpPr>
          <p:cNvPr id="10" name="直接箭头连接符 9">
            <a:extLst>
              <a:ext uri="{FF2B5EF4-FFF2-40B4-BE49-F238E27FC236}">
                <a16:creationId xmlns:a16="http://schemas.microsoft.com/office/drawing/2014/main" id="{AF485F0E-7474-25C5-73FB-A9FC88D067E7}"/>
              </a:ext>
            </a:extLst>
          </p:cNvPr>
          <p:cNvCxnSpPr>
            <a:cxnSpLocks/>
            <a:stCxn id="19" idx="3"/>
            <a:endCxn id="20" idx="1"/>
          </p:cNvCxnSpPr>
          <p:nvPr/>
        </p:nvCxnSpPr>
        <p:spPr>
          <a:xfrm>
            <a:off x="3008675" y="1656019"/>
            <a:ext cx="3126650" cy="477824"/>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41A7C4B1-6D99-D0F8-E504-DF8806B5DA27}"/>
              </a:ext>
            </a:extLst>
          </p:cNvPr>
          <p:cNvCxnSpPr>
            <a:cxnSpLocks/>
          </p:cNvCxnSpPr>
          <p:nvPr/>
        </p:nvCxnSpPr>
        <p:spPr>
          <a:xfrm flipH="1">
            <a:off x="3008675" y="2197783"/>
            <a:ext cx="3126650" cy="73648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09DAF7F8-8ADD-CB8E-B31A-ACF047960F45}"/>
              </a:ext>
            </a:extLst>
          </p:cNvPr>
          <p:cNvCxnSpPr>
            <a:cxnSpLocks/>
          </p:cNvCxnSpPr>
          <p:nvPr/>
        </p:nvCxnSpPr>
        <p:spPr>
          <a:xfrm>
            <a:off x="3008675" y="2998203"/>
            <a:ext cx="3126650" cy="493253"/>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B5D1F939-D92A-7D02-6527-37ECCF436B8B}"/>
              </a:ext>
            </a:extLst>
          </p:cNvPr>
          <p:cNvSpPr txBox="1"/>
          <p:nvPr/>
        </p:nvSpPr>
        <p:spPr>
          <a:xfrm rot="540000">
            <a:off x="4007583" y="1585272"/>
            <a:ext cx="1128835"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SYN=1 seq=x</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4" name="文本框 13">
            <a:extLst>
              <a:ext uri="{FF2B5EF4-FFF2-40B4-BE49-F238E27FC236}">
                <a16:creationId xmlns:a16="http://schemas.microsoft.com/office/drawing/2014/main" id="{90CD8884-3B11-5208-1AB1-8A9658CAFCA0}"/>
              </a:ext>
            </a:extLst>
          </p:cNvPr>
          <p:cNvSpPr txBox="1"/>
          <p:nvPr/>
        </p:nvSpPr>
        <p:spPr>
          <a:xfrm rot="20808004">
            <a:off x="3678967" y="2319095"/>
            <a:ext cx="1786066" cy="461665"/>
          </a:xfrm>
          <a:prstGeom prst="rect">
            <a:avLst/>
          </a:prstGeom>
          <a:noFill/>
        </p:spPr>
        <p:txBody>
          <a:bodyPr wrap="none" rtlCol="0">
            <a:spAutoFit/>
          </a:bodyPr>
          <a:lstStyle/>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SYN=1 ACK=1 ack=x+1</a:t>
            </a:r>
          </a:p>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seq=y </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5" name="文本框 14">
            <a:extLst>
              <a:ext uri="{FF2B5EF4-FFF2-40B4-BE49-F238E27FC236}">
                <a16:creationId xmlns:a16="http://schemas.microsoft.com/office/drawing/2014/main" id="{34365C8C-B898-59E8-021B-19121C4387CF}"/>
              </a:ext>
            </a:extLst>
          </p:cNvPr>
          <p:cNvSpPr txBox="1"/>
          <p:nvPr/>
        </p:nvSpPr>
        <p:spPr>
          <a:xfrm rot="525163">
            <a:off x="3929036" y="3015992"/>
            <a:ext cx="1285928" cy="461665"/>
          </a:xfrm>
          <a:prstGeom prst="rect">
            <a:avLst/>
          </a:prstGeom>
          <a:noFill/>
        </p:spPr>
        <p:txBody>
          <a:bodyPr wrap="none" rtlCol="0">
            <a:spAutoFit/>
          </a:bodyPr>
          <a:lstStyle/>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ACK=1 ack=y+1</a:t>
            </a:r>
          </a:p>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Seq = x+1</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6" name="矩形 15">
            <a:extLst>
              <a:ext uri="{FF2B5EF4-FFF2-40B4-BE49-F238E27FC236}">
                <a16:creationId xmlns:a16="http://schemas.microsoft.com/office/drawing/2014/main" id="{CDB39CFD-E5ED-7063-B40E-9F1A61FB0739}"/>
              </a:ext>
            </a:extLst>
          </p:cNvPr>
          <p:cNvSpPr/>
          <p:nvPr/>
        </p:nvSpPr>
        <p:spPr>
          <a:xfrm>
            <a:off x="1568675" y="960670"/>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CLOSED</a:t>
            </a:r>
          </a:p>
        </p:txBody>
      </p:sp>
      <p:sp>
        <p:nvSpPr>
          <p:cNvPr id="17" name="矩形 16">
            <a:extLst>
              <a:ext uri="{FF2B5EF4-FFF2-40B4-BE49-F238E27FC236}">
                <a16:creationId xmlns:a16="http://schemas.microsoft.com/office/drawing/2014/main" id="{A5BF2568-8721-B52F-81EB-DE4D8ABF589D}"/>
              </a:ext>
            </a:extLst>
          </p:cNvPr>
          <p:cNvSpPr/>
          <p:nvPr/>
        </p:nvSpPr>
        <p:spPr>
          <a:xfrm>
            <a:off x="6135325" y="960669"/>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CLOSED</a:t>
            </a:r>
            <a:endParaRPr lang="zh-CN" altLang="en-US"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8" name="矩形 17">
            <a:extLst>
              <a:ext uri="{FF2B5EF4-FFF2-40B4-BE49-F238E27FC236}">
                <a16:creationId xmlns:a16="http://schemas.microsoft.com/office/drawing/2014/main" id="{6B9B0A21-91AF-6659-B7A4-16AB52CAB229}"/>
              </a:ext>
            </a:extLst>
          </p:cNvPr>
          <p:cNvSpPr/>
          <p:nvPr/>
        </p:nvSpPr>
        <p:spPr>
          <a:xfrm>
            <a:off x="6135325" y="1386134"/>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LISTEN</a:t>
            </a:r>
            <a:endParaRPr lang="zh-CN" altLang="en-US"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9" name="矩形 18">
            <a:extLst>
              <a:ext uri="{FF2B5EF4-FFF2-40B4-BE49-F238E27FC236}">
                <a16:creationId xmlns:a16="http://schemas.microsoft.com/office/drawing/2014/main" id="{B6FE02D6-3420-13E5-C262-350FD1A3B95F}"/>
              </a:ext>
            </a:extLst>
          </p:cNvPr>
          <p:cNvSpPr/>
          <p:nvPr/>
        </p:nvSpPr>
        <p:spPr>
          <a:xfrm>
            <a:off x="1568675" y="1517519"/>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SYN-SENT</a:t>
            </a:r>
            <a:endParaRPr lang="zh-CN" altLang="en-US"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20" name="矩形 19">
            <a:extLst>
              <a:ext uri="{FF2B5EF4-FFF2-40B4-BE49-F238E27FC236}">
                <a16:creationId xmlns:a16="http://schemas.microsoft.com/office/drawing/2014/main" id="{B3CBFDAE-63CF-7D49-CA70-9CDB0EC06F82}"/>
              </a:ext>
            </a:extLst>
          </p:cNvPr>
          <p:cNvSpPr/>
          <p:nvPr/>
        </p:nvSpPr>
        <p:spPr>
          <a:xfrm>
            <a:off x="6135325" y="1995343"/>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SYN-RCVD</a:t>
            </a:r>
            <a:endParaRPr lang="zh-CN" altLang="en-US"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21" name="矩形 20">
            <a:extLst>
              <a:ext uri="{FF2B5EF4-FFF2-40B4-BE49-F238E27FC236}">
                <a16:creationId xmlns:a16="http://schemas.microsoft.com/office/drawing/2014/main" id="{4567E7F4-B634-36C9-D3BB-E52637B13DAE}"/>
              </a:ext>
            </a:extLst>
          </p:cNvPr>
          <p:cNvSpPr/>
          <p:nvPr/>
        </p:nvSpPr>
        <p:spPr>
          <a:xfrm>
            <a:off x="1568675" y="2731823"/>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ESTABLISHED</a:t>
            </a:r>
          </a:p>
        </p:txBody>
      </p:sp>
      <p:sp>
        <p:nvSpPr>
          <p:cNvPr id="22" name="矩形 21">
            <a:extLst>
              <a:ext uri="{FF2B5EF4-FFF2-40B4-BE49-F238E27FC236}">
                <a16:creationId xmlns:a16="http://schemas.microsoft.com/office/drawing/2014/main" id="{EDC68764-2D0B-5CBA-9ADD-355F87844811}"/>
              </a:ext>
            </a:extLst>
          </p:cNvPr>
          <p:cNvSpPr/>
          <p:nvPr/>
        </p:nvSpPr>
        <p:spPr>
          <a:xfrm>
            <a:off x="6135325" y="3225076"/>
            <a:ext cx="1440000"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ESTABLISHED</a:t>
            </a:r>
          </a:p>
        </p:txBody>
      </p:sp>
      <p:sp>
        <p:nvSpPr>
          <p:cNvPr id="23" name="箭头: 左右 22">
            <a:extLst>
              <a:ext uri="{FF2B5EF4-FFF2-40B4-BE49-F238E27FC236}">
                <a16:creationId xmlns:a16="http://schemas.microsoft.com/office/drawing/2014/main" id="{7C8E832C-28A8-33B7-ECE1-CE4A4A0D10A3}"/>
              </a:ext>
            </a:extLst>
          </p:cNvPr>
          <p:cNvSpPr/>
          <p:nvPr/>
        </p:nvSpPr>
        <p:spPr>
          <a:xfrm>
            <a:off x="3132000" y="4006874"/>
            <a:ext cx="2880000" cy="493253"/>
          </a:xfrm>
          <a:prstGeom prst="leftRightArrow">
            <a:avLst>
              <a:gd name="adj1" fmla="val 59644"/>
              <a:gd name="adj2" fmla="val 85303"/>
            </a:avLst>
          </a:prstGeom>
          <a:solidFill>
            <a:schemeClr val="bg1">
              <a:lumMod val="75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200" dirty="0">
                <a:solidFill>
                  <a:sysClr val="windowText" lastClr="000000"/>
                </a:solidFill>
                <a:latin typeface="Montserrat" panose="00000500000000000000" pitchFamily="2" charset="0"/>
                <a:ea typeface="微软雅黑 Light" panose="020B0502040204020203" pitchFamily="34" charset="-122"/>
              </a:rPr>
              <a:t>数据传输</a:t>
            </a:r>
          </a:p>
        </p:txBody>
      </p:sp>
      <p:sp>
        <p:nvSpPr>
          <p:cNvPr id="24" name="文本框 23">
            <a:extLst>
              <a:ext uri="{FF2B5EF4-FFF2-40B4-BE49-F238E27FC236}">
                <a16:creationId xmlns:a16="http://schemas.microsoft.com/office/drawing/2014/main" id="{96AC86E7-ACD9-6D38-15BB-DAA07DF5B35E}"/>
              </a:ext>
            </a:extLst>
          </p:cNvPr>
          <p:cNvSpPr txBox="1"/>
          <p:nvPr/>
        </p:nvSpPr>
        <p:spPr>
          <a:xfrm>
            <a:off x="3159777" y="630697"/>
            <a:ext cx="638316"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Light" panose="020B0502040204020203" pitchFamily="34" charset="-122"/>
                <a:cs typeface="Courier New" panose="02070309020205020404" pitchFamily="49" charset="0"/>
              </a:rPr>
              <a:t>C</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lient</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25" name="文本框 24">
            <a:extLst>
              <a:ext uri="{FF2B5EF4-FFF2-40B4-BE49-F238E27FC236}">
                <a16:creationId xmlns:a16="http://schemas.microsoft.com/office/drawing/2014/main" id="{D3E3829D-EEEE-FFC9-BB5B-BD35FC5F6147}"/>
              </a:ext>
            </a:extLst>
          </p:cNvPr>
          <p:cNvSpPr txBox="1"/>
          <p:nvPr/>
        </p:nvSpPr>
        <p:spPr>
          <a:xfrm>
            <a:off x="5333098" y="630697"/>
            <a:ext cx="670376"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Light" panose="020B0502040204020203" pitchFamily="34" charset="-122"/>
                <a:cs typeface="Courier New" panose="02070309020205020404" pitchFamily="49" charset="0"/>
              </a:rPr>
              <a:t>S</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erver</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Tree>
    <p:extLst>
      <p:ext uri="{BB962C8B-B14F-4D97-AF65-F5344CB8AC3E}">
        <p14:creationId xmlns:p14="http://schemas.microsoft.com/office/powerpoint/2010/main" val="273773928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407582DB-C4E6-9DC1-4B81-C2226EC321B0}"/>
              </a:ext>
            </a:extLst>
          </p:cNvPr>
          <p:cNvSpPr>
            <a:spLocks noGrp="1"/>
          </p:cNvSpPr>
          <p:nvPr>
            <p:ph sz="quarter" idx="11"/>
          </p:nvPr>
        </p:nvSpPr>
        <p:spPr>
          <a:xfrm>
            <a:off x="486000" y="482554"/>
            <a:ext cx="8172000" cy="4120946"/>
          </a:xfrm>
        </p:spPr>
        <p:txBody>
          <a:bodyPr/>
          <a:lstStyle/>
          <a:p>
            <a:r>
              <a:rPr lang="en-US" altLang="zh-CN" dirty="0"/>
              <a:t>TCP </a:t>
            </a:r>
            <a:r>
              <a:rPr lang="zh-CN" altLang="en-US" dirty="0"/>
              <a:t>连接释放过程比较复杂。</a:t>
            </a:r>
          </a:p>
          <a:p>
            <a:r>
              <a:rPr lang="zh-CN" altLang="en-US" dirty="0"/>
              <a:t>数据传输结束后，通信的双方都可释放连接。</a:t>
            </a:r>
          </a:p>
          <a:p>
            <a:r>
              <a:rPr lang="en-US" altLang="zh-CN" dirty="0"/>
              <a:t>TCP </a:t>
            </a:r>
            <a:r>
              <a:rPr lang="zh-CN" altLang="en-US" dirty="0"/>
              <a:t>连接释放过程是四报文握手。</a:t>
            </a:r>
          </a:p>
          <a:p>
            <a:endParaRPr lang="zh-CN" altLang="en-US" dirty="0"/>
          </a:p>
        </p:txBody>
      </p:sp>
      <p:sp>
        <p:nvSpPr>
          <p:cNvPr id="8" name="标题 7">
            <a:extLst>
              <a:ext uri="{FF2B5EF4-FFF2-40B4-BE49-F238E27FC236}">
                <a16:creationId xmlns:a16="http://schemas.microsoft.com/office/drawing/2014/main" id="{0F0CDFFA-CE84-E1B1-92F1-BB8F1195D320}"/>
              </a:ext>
            </a:extLst>
          </p:cNvPr>
          <p:cNvSpPr>
            <a:spLocks noGrp="1"/>
          </p:cNvSpPr>
          <p:nvPr>
            <p:ph type="title"/>
          </p:nvPr>
        </p:nvSpPr>
        <p:spPr>
          <a:xfrm>
            <a:off x="2808000" y="144000"/>
            <a:ext cx="3528000" cy="338554"/>
          </a:xfrm>
        </p:spPr>
        <p:txBody>
          <a:bodyPr/>
          <a:lstStyle/>
          <a:p>
            <a:r>
              <a:rPr lang="en-US" altLang="zh-CN" dirty="0"/>
              <a:t>5.9.2  TCP </a:t>
            </a:r>
            <a:r>
              <a:rPr lang="zh-CN" altLang="en-US" dirty="0"/>
              <a:t>的连接释放</a:t>
            </a:r>
          </a:p>
        </p:txBody>
      </p:sp>
    </p:spTree>
    <p:extLst>
      <p:ext uri="{BB962C8B-B14F-4D97-AF65-F5344CB8AC3E}">
        <p14:creationId xmlns:p14="http://schemas.microsoft.com/office/powerpoint/2010/main" val="364555551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37" name="Group 8"/>
          <p:cNvGrpSpPr>
            <a:grpSpLocks/>
          </p:cNvGrpSpPr>
          <p:nvPr/>
        </p:nvGrpSpPr>
        <p:grpSpPr bwMode="auto">
          <a:xfrm>
            <a:off x="3393849" y="1833311"/>
            <a:ext cx="2305317" cy="428484"/>
            <a:chOff x="1614" y="1484"/>
            <a:chExt cx="2604" cy="484"/>
          </a:xfrm>
        </p:grpSpPr>
        <p:sp>
          <p:nvSpPr>
            <p:cNvPr id="138"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139"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140"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1"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42" name="Group 20"/>
          <p:cNvGrpSpPr>
            <a:grpSpLocks/>
          </p:cNvGrpSpPr>
          <p:nvPr/>
        </p:nvGrpSpPr>
        <p:grpSpPr bwMode="auto">
          <a:xfrm>
            <a:off x="2806011" y="1372071"/>
            <a:ext cx="3501355" cy="46036"/>
            <a:chOff x="1020" y="481"/>
            <a:chExt cx="4037" cy="46"/>
          </a:xfrm>
        </p:grpSpPr>
        <p:sp>
          <p:nvSpPr>
            <p:cNvPr id="143"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4"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45" name="Group 37"/>
          <p:cNvGrpSpPr>
            <a:grpSpLocks/>
          </p:cNvGrpSpPr>
          <p:nvPr/>
        </p:nvGrpSpPr>
        <p:grpSpPr bwMode="auto">
          <a:xfrm>
            <a:off x="2103083" y="1220685"/>
            <a:ext cx="922481" cy="603775"/>
            <a:chOff x="156" y="792"/>
            <a:chExt cx="1042" cy="682"/>
          </a:xfrm>
        </p:grpSpPr>
        <p:sp>
          <p:nvSpPr>
            <p:cNvPr id="14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4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48"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49"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50"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51"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52"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153"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55"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56"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157" name="Group 2"/>
          <p:cNvGrpSpPr>
            <a:grpSpLocks/>
          </p:cNvGrpSpPr>
          <p:nvPr/>
        </p:nvGrpSpPr>
        <p:grpSpPr bwMode="auto">
          <a:xfrm>
            <a:off x="3384905" y="1795969"/>
            <a:ext cx="2321296" cy="2086458"/>
            <a:chOff x="1474" y="1888"/>
            <a:chExt cx="2412" cy="2432"/>
          </a:xfrm>
        </p:grpSpPr>
        <p:sp>
          <p:nvSpPr>
            <p:cNvPr id="158"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159"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160" name="Text Box 155"/>
          <p:cNvSpPr txBox="1">
            <a:spLocks noChangeArrowheads="1"/>
          </p:cNvSpPr>
          <p:nvPr/>
        </p:nvSpPr>
        <p:spPr bwMode="auto">
          <a:xfrm>
            <a:off x="1929775" y="3098036"/>
            <a:ext cx="5422002"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的应用进程先向其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发出连接释放报文段，并停止再发送数据，</a:t>
            </a:r>
            <a:r>
              <a:rPr lang="zh-CN" altLang="en-US" sz="1600" b="1" dirty="0">
                <a:solidFill>
                  <a:srgbClr val="0000FF"/>
                </a:solidFill>
                <a:latin typeface="微软雅黑" pitchFamily="34" charset="-122"/>
                <a:ea typeface="微软雅黑" pitchFamily="34" charset="-122"/>
              </a:rPr>
              <a:t>主动关闭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把连接释放报文段首部的 </a:t>
            </a:r>
            <a:r>
              <a:rPr lang="en-US" altLang="zh-CN" sz="1600" b="1" dirty="0">
                <a:latin typeface="微软雅黑" pitchFamily="34" charset="-122"/>
                <a:ea typeface="微软雅黑" pitchFamily="34" charset="-122"/>
              </a:rPr>
              <a:t>FIN = 1</a:t>
            </a:r>
            <a:r>
              <a:rPr lang="zh-CN" altLang="en-US" sz="1600" b="1" dirty="0">
                <a:latin typeface="微软雅黑" pitchFamily="34" charset="-122"/>
                <a:ea typeface="微软雅黑" pitchFamily="34" charset="-122"/>
              </a:rPr>
              <a:t>，其序号</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a:t>
            </a:r>
            <a:r>
              <a:rPr lang="zh-CN" altLang="en-US" sz="1600" b="1" dirty="0">
                <a:latin typeface="微软雅黑" pitchFamily="34" charset="-122"/>
                <a:ea typeface="微软雅黑" pitchFamily="34" charset="-122"/>
              </a:rPr>
              <a:t>，等待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的确认。</a:t>
            </a:r>
          </a:p>
        </p:txBody>
      </p:sp>
      <p:sp>
        <p:nvSpPr>
          <p:cNvPr id="30" name="矩形 29"/>
          <p:cNvSpPr/>
          <p:nvPr/>
        </p:nvSpPr>
        <p:spPr>
          <a:xfrm>
            <a:off x="1541282" y="4368391"/>
            <a:ext cx="6216978" cy="369332"/>
          </a:xfrm>
          <a:prstGeom prst="rect">
            <a:avLst/>
          </a:prstGeom>
          <a:solidFill>
            <a:schemeClr val="accent6">
              <a:lumMod val="60000"/>
              <a:lumOff val="40000"/>
            </a:schemeClr>
          </a:solidFill>
        </p:spPr>
        <p:txBody>
          <a:bodyPr wrap="square">
            <a:spAutoFit/>
          </a:bodyPr>
          <a:lstStyle/>
          <a:p>
            <a:pPr algn="ctr"/>
            <a:r>
              <a:rPr lang="en-US" altLang="zh-CN" b="1" kern="500" dirty="0">
                <a:latin typeface="微软雅黑" panose="020B0503020204020204" pitchFamily="34" charset="-122"/>
                <a:ea typeface="微软雅黑" panose="020B0503020204020204" pitchFamily="34" charset="-122"/>
              </a:rPr>
              <a:t>TCP</a:t>
            </a:r>
            <a:r>
              <a:rPr lang="zh-CN" altLang="en-US" b="1" kern="500" dirty="0">
                <a:latin typeface="微软雅黑" panose="020B0503020204020204" pitchFamily="34" charset="-122"/>
                <a:ea typeface="微软雅黑" panose="020B0503020204020204" pitchFamily="34" charset="-122"/>
              </a:rPr>
              <a:t>规定：</a:t>
            </a:r>
            <a:r>
              <a:rPr lang="en-US" altLang="zh-CN" b="1" kern="500" dirty="0">
                <a:latin typeface="微软雅黑" panose="020B0503020204020204" pitchFamily="34" charset="-122"/>
                <a:ea typeface="微软雅黑" panose="020B0503020204020204" pitchFamily="34" charset="-122"/>
              </a:rPr>
              <a:t>FIN </a:t>
            </a:r>
            <a:r>
              <a:rPr lang="zh-CN" altLang="en-US" b="1" kern="500" dirty="0">
                <a:latin typeface="微软雅黑" panose="020B0503020204020204" pitchFamily="34" charset="-122"/>
                <a:ea typeface="微软雅黑" panose="020B0503020204020204" pitchFamily="34" charset="-122"/>
              </a:rPr>
              <a:t>报文段即使不携带数据，也消耗掉一个序号。</a:t>
            </a:r>
          </a:p>
        </p:txBody>
      </p:sp>
      <p:sp>
        <p:nvSpPr>
          <p:cNvPr id="4" name="标题 3">
            <a:extLst>
              <a:ext uri="{FF2B5EF4-FFF2-40B4-BE49-F238E27FC236}">
                <a16:creationId xmlns:a16="http://schemas.microsoft.com/office/drawing/2014/main" id="{DCF2A2B3-8CD5-AC28-82C8-D2C18F4757BD}"/>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的连接释放</a:t>
            </a:r>
            <a:r>
              <a:rPr lang="en-US" altLang="zh-CN" dirty="0"/>
              <a:t>-</a:t>
            </a:r>
            <a:r>
              <a:rPr lang="zh-CN" altLang="en-US" dirty="0"/>
              <a:t>采用四报文握手</a:t>
            </a:r>
          </a:p>
        </p:txBody>
      </p:sp>
    </p:spTree>
    <p:extLst>
      <p:ext uri="{BB962C8B-B14F-4D97-AF65-F5344CB8AC3E}">
        <p14:creationId xmlns:p14="http://schemas.microsoft.com/office/powerpoint/2010/main" val="1553506584"/>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500"/>
                                  </p:stCondLst>
                                  <p:childTnLst>
                                    <p:set>
                                      <p:cBhvr>
                                        <p:cTn id="6" dur="1" fill="hold">
                                          <p:stCondLst>
                                            <p:cond delay="0"/>
                                          </p:stCondLst>
                                        </p:cTn>
                                        <p:tgtEl>
                                          <p:spTgt spid="145"/>
                                        </p:tgtEl>
                                        <p:attrNameLst>
                                          <p:attrName>style.visibility</p:attrName>
                                        </p:attrNameLst>
                                      </p:cBhvr>
                                      <p:to>
                                        <p:strVal val="visible"/>
                                      </p:to>
                                    </p:set>
                                    <p:animEffect transition="in" filter="wipe(up)">
                                      <p:cBhvr>
                                        <p:cTn id="7" dur="1000"/>
                                        <p:tgtEl>
                                          <p:spTgt spid="145"/>
                                        </p:tgtEl>
                                      </p:cBhvr>
                                    </p:animEffect>
                                  </p:childTnLst>
                                </p:cTn>
                              </p:par>
                            </p:childTnLst>
                          </p:cTn>
                        </p:par>
                        <p:par>
                          <p:cTn id="8" fill="hold">
                            <p:stCondLst>
                              <p:cond delay="1500"/>
                            </p:stCondLst>
                            <p:childTnLst>
                              <p:par>
                                <p:cTn id="9" presetID="22" presetClass="entr" presetSubtype="8" fill="hold" nodeType="afterEffect">
                                  <p:stCondLst>
                                    <p:cond delay="500"/>
                                  </p:stCondLst>
                                  <p:childTnLst>
                                    <p:set>
                                      <p:cBhvr>
                                        <p:cTn id="10" dur="1" fill="hold">
                                          <p:stCondLst>
                                            <p:cond delay="0"/>
                                          </p:stCondLst>
                                        </p:cTn>
                                        <p:tgtEl>
                                          <p:spTgt spid="137"/>
                                        </p:tgtEl>
                                        <p:attrNameLst>
                                          <p:attrName>style.visibility</p:attrName>
                                        </p:attrNameLst>
                                      </p:cBhvr>
                                      <p:to>
                                        <p:strVal val="visible"/>
                                      </p:to>
                                    </p:set>
                                    <p:animEffect transition="in" filter="wipe(left)">
                                      <p:cBhvr>
                                        <p:cTn id="11" dur="2000"/>
                                        <p:tgtEl>
                                          <p:spTgt spid="137"/>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5" name="Group 8"/>
          <p:cNvGrpSpPr>
            <a:grpSpLocks/>
          </p:cNvGrpSpPr>
          <p:nvPr/>
        </p:nvGrpSpPr>
        <p:grpSpPr bwMode="auto">
          <a:xfrm>
            <a:off x="3393849" y="1833311"/>
            <a:ext cx="2305317" cy="428484"/>
            <a:chOff x="1614" y="1484"/>
            <a:chExt cx="2604" cy="484"/>
          </a:xfrm>
        </p:grpSpPr>
        <p:sp>
          <p:nvSpPr>
            <p:cNvPr id="3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3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3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0" name="Group 20"/>
          <p:cNvGrpSpPr>
            <a:grpSpLocks/>
          </p:cNvGrpSpPr>
          <p:nvPr/>
        </p:nvGrpSpPr>
        <p:grpSpPr bwMode="auto">
          <a:xfrm>
            <a:off x="2806011" y="1372071"/>
            <a:ext cx="3501355" cy="46036"/>
            <a:chOff x="1020" y="481"/>
            <a:chExt cx="4037" cy="46"/>
          </a:xfrm>
        </p:grpSpPr>
        <p:sp>
          <p:nvSpPr>
            <p:cNvPr id="4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3" name="Group 37"/>
          <p:cNvGrpSpPr>
            <a:grpSpLocks/>
          </p:cNvGrpSpPr>
          <p:nvPr/>
        </p:nvGrpSpPr>
        <p:grpSpPr bwMode="auto">
          <a:xfrm>
            <a:off x="2103083" y="1220685"/>
            <a:ext cx="922481" cy="603775"/>
            <a:chOff x="156" y="792"/>
            <a:chExt cx="1042" cy="682"/>
          </a:xfrm>
        </p:grpSpPr>
        <p:sp>
          <p:nvSpPr>
            <p:cNvPr id="4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4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4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4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5" name="Group 2"/>
          <p:cNvGrpSpPr>
            <a:grpSpLocks/>
          </p:cNvGrpSpPr>
          <p:nvPr/>
        </p:nvGrpSpPr>
        <p:grpSpPr bwMode="auto">
          <a:xfrm>
            <a:off x="3384905" y="1795969"/>
            <a:ext cx="2321296" cy="2086458"/>
            <a:chOff x="1474" y="1888"/>
            <a:chExt cx="2412" cy="2432"/>
          </a:xfrm>
        </p:grpSpPr>
        <p:sp>
          <p:nvSpPr>
            <p:cNvPr id="5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5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58" name="Text Box 155"/>
          <p:cNvSpPr txBox="1">
            <a:spLocks noChangeArrowheads="1"/>
          </p:cNvSpPr>
          <p:nvPr/>
        </p:nvSpPr>
        <p:spPr bwMode="auto">
          <a:xfrm>
            <a:off x="1046375" y="3098035"/>
            <a:ext cx="7173798" cy="1175706"/>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发出确认，</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，这个报文段的序号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v</a:t>
            </a:r>
            <a:r>
              <a:rPr lang="zh-CN" altLang="en-US" sz="1600" b="1" dirty="0">
                <a:latin typeface="微软雅黑" pitchFamily="34" charset="-122"/>
                <a:ea typeface="微软雅黑" pitchFamily="34" charset="-122"/>
              </a:rPr>
              <a:t>。</a:t>
            </a: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服务器进程通知高层应用进程。</a:t>
            </a:r>
          </a:p>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从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到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这个方向的连接就释放了，</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连接处于</a:t>
            </a:r>
            <a:r>
              <a:rPr lang="zh-CN" altLang="en-US" sz="1600" b="1" dirty="0">
                <a:solidFill>
                  <a:srgbClr val="C00000"/>
                </a:solidFill>
                <a:latin typeface="微软雅黑" pitchFamily="34" charset="-122"/>
                <a:ea typeface="微软雅黑" pitchFamily="34" charset="-122"/>
              </a:rPr>
              <a:t>半关闭 </a:t>
            </a:r>
            <a:r>
              <a:rPr lang="en-US" altLang="zh-CN" sz="1600" b="1" dirty="0">
                <a:solidFill>
                  <a:srgbClr val="C00000"/>
                </a:solidFill>
                <a:latin typeface="微软雅黑" pitchFamily="34" charset="-122"/>
                <a:ea typeface="微软雅黑" pitchFamily="34" charset="-122"/>
              </a:rPr>
              <a:t>(half-close) </a:t>
            </a:r>
            <a:r>
              <a:rPr lang="zh-CN" altLang="en-US" sz="1600" b="1" dirty="0">
                <a:latin typeface="微软雅黑" pitchFamily="34" charset="-122"/>
                <a:ea typeface="微软雅黑" pitchFamily="34" charset="-122"/>
              </a:rPr>
              <a:t>状态。</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若发送数据，</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仍要接收。</a:t>
            </a:r>
          </a:p>
        </p:txBody>
      </p:sp>
      <p:grpSp>
        <p:nvGrpSpPr>
          <p:cNvPr id="62" name="Group 43"/>
          <p:cNvGrpSpPr>
            <a:grpSpLocks/>
          </p:cNvGrpSpPr>
          <p:nvPr/>
        </p:nvGrpSpPr>
        <p:grpSpPr bwMode="auto">
          <a:xfrm>
            <a:off x="6121453" y="1287082"/>
            <a:ext cx="750733" cy="997731"/>
            <a:chOff x="4695" y="867"/>
            <a:chExt cx="848" cy="1127"/>
          </a:xfrm>
        </p:grpSpPr>
        <p:sp>
          <p:nvSpPr>
            <p:cNvPr id="63"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4" name="标题 3">
            <a:extLst>
              <a:ext uri="{FF2B5EF4-FFF2-40B4-BE49-F238E27FC236}">
                <a16:creationId xmlns:a16="http://schemas.microsoft.com/office/drawing/2014/main" id="{B0E9E113-0318-8150-A7C1-2379A1F8B50D}"/>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的连接释放</a:t>
            </a:r>
            <a:r>
              <a:rPr lang="en-US" altLang="zh-CN" dirty="0"/>
              <a:t>-</a:t>
            </a:r>
            <a:r>
              <a:rPr lang="zh-CN" altLang="en-US" dirty="0"/>
              <a:t>采用四报文握手</a:t>
            </a:r>
          </a:p>
        </p:txBody>
      </p:sp>
    </p:spTree>
    <p:extLst>
      <p:ext uri="{BB962C8B-B14F-4D97-AF65-F5344CB8AC3E}">
        <p14:creationId xmlns:p14="http://schemas.microsoft.com/office/powerpoint/2010/main" val="2067724450"/>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1000"/>
                                  </p:stCondLst>
                                  <p:childTnLst>
                                    <p:set>
                                      <p:cBhvr>
                                        <p:cTn id="6" dur="1" fill="hold">
                                          <p:stCondLst>
                                            <p:cond delay="0"/>
                                          </p:stCondLst>
                                        </p:cTn>
                                        <p:tgtEl>
                                          <p:spTgt spid="69"/>
                                        </p:tgtEl>
                                        <p:attrNameLst>
                                          <p:attrName>style.visibility</p:attrName>
                                        </p:attrNameLst>
                                      </p:cBhvr>
                                      <p:to>
                                        <p:strVal val="visible"/>
                                      </p:to>
                                    </p:set>
                                    <p:animEffect transition="in" filter="wipe(right)">
                                      <p:cBhvr>
                                        <p:cTn id="7" dur="2000"/>
                                        <p:tgtEl>
                                          <p:spTgt spid="69"/>
                                        </p:tgtEl>
                                      </p:cBhvr>
                                    </p:animEffect>
                                  </p:childTnLst>
                                </p:cTn>
                              </p:par>
                            </p:childTnLst>
                          </p:cTn>
                        </p:par>
                        <p:par>
                          <p:cTn id="8" fill="hold">
                            <p:stCondLst>
                              <p:cond delay="3000"/>
                            </p:stCondLst>
                            <p:childTnLst>
                              <p:par>
                                <p:cTn id="9" presetID="22" presetClass="entr" presetSubtype="4" fill="hold" nodeType="afterEffect">
                                  <p:stCondLst>
                                    <p:cond delay="1000"/>
                                  </p:stCondLst>
                                  <p:childTnLst>
                                    <p:set>
                                      <p:cBhvr>
                                        <p:cTn id="10" dur="1" fill="hold">
                                          <p:stCondLst>
                                            <p:cond delay="0"/>
                                          </p:stCondLst>
                                        </p:cTn>
                                        <p:tgtEl>
                                          <p:spTgt spid="62"/>
                                        </p:tgtEl>
                                        <p:attrNameLst>
                                          <p:attrName>style.visibility</p:attrName>
                                        </p:attrNameLst>
                                      </p:cBhvr>
                                      <p:to>
                                        <p:strVal val="visible"/>
                                      </p:to>
                                    </p:set>
                                    <p:animEffect transition="in" filter="wipe(down)">
                                      <p:cBhvr>
                                        <p:cTn id="11" dur="20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38" name="Group 8"/>
          <p:cNvGrpSpPr>
            <a:grpSpLocks/>
          </p:cNvGrpSpPr>
          <p:nvPr/>
        </p:nvGrpSpPr>
        <p:grpSpPr bwMode="auto">
          <a:xfrm>
            <a:off x="3393849" y="1833311"/>
            <a:ext cx="2305317" cy="428484"/>
            <a:chOff x="1614" y="1484"/>
            <a:chExt cx="2604" cy="484"/>
          </a:xfrm>
        </p:grpSpPr>
        <p:sp>
          <p:nvSpPr>
            <p:cNvPr id="39"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40"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41"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43" name="Group 20"/>
          <p:cNvGrpSpPr>
            <a:grpSpLocks/>
          </p:cNvGrpSpPr>
          <p:nvPr/>
        </p:nvGrpSpPr>
        <p:grpSpPr bwMode="auto">
          <a:xfrm>
            <a:off x="2806011" y="1372071"/>
            <a:ext cx="3501355" cy="46036"/>
            <a:chOff x="1020" y="481"/>
            <a:chExt cx="4037" cy="46"/>
          </a:xfrm>
        </p:grpSpPr>
        <p:sp>
          <p:nvSpPr>
            <p:cNvPr id="44"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5"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6" name="Group 37"/>
          <p:cNvGrpSpPr>
            <a:grpSpLocks/>
          </p:cNvGrpSpPr>
          <p:nvPr/>
        </p:nvGrpSpPr>
        <p:grpSpPr bwMode="auto">
          <a:xfrm>
            <a:off x="2103083" y="1220685"/>
            <a:ext cx="922481" cy="603775"/>
            <a:chOff x="156" y="792"/>
            <a:chExt cx="1042" cy="682"/>
          </a:xfrm>
        </p:grpSpPr>
        <p:sp>
          <p:nvSpPr>
            <p:cNvPr id="47"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8"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49"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50"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51"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52"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53"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54"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57"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58" name="Group 2"/>
          <p:cNvGrpSpPr>
            <a:grpSpLocks/>
          </p:cNvGrpSpPr>
          <p:nvPr/>
        </p:nvGrpSpPr>
        <p:grpSpPr bwMode="auto">
          <a:xfrm>
            <a:off x="3384905" y="1795969"/>
            <a:ext cx="2321296" cy="2086458"/>
            <a:chOff x="1474" y="1888"/>
            <a:chExt cx="2412" cy="2432"/>
          </a:xfrm>
        </p:grpSpPr>
        <p:sp>
          <p:nvSpPr>
            <p:cNvPr id="59"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60"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61" name="Text Box 155"/>
          <p:cNvSpPr txBox="1">
            <a:spLocks noChangeArrowheads="1"/>
          </p:cNvSpPr>
          <p:nvPr/>
        </p:nvSpPr>
        <p:spPr bwMode="auto">
          <a:xfrm>
            <a:off x="1929775" y="3617831"/>
            <a:ext cx="5422002" cy="904863"/>
          </a:xfrm>
          <a:prstGeom prst="rect">
            <a:avLst/>
          </a:prstGeom>
          <a:solidFill>
            <a:srgbClr val="FFFF99"/>
          </a:solidFill>
          <a:ln w="9525">
            <a:solidFill>
              <a:schemeClr val="tx1"/>
            </a:solidFill>
            <a:miter lim="800000"/>
            <a:headEnd/>
            <a:tailEnd/>
          </a:ln>
          <a:effectLst/>
        </p:spPr>
        <p:txBody>
          <a:bodyPr wrap="square">
            <a:spAutoFit/>
          </a:bodyPr>
          <a:lstStyle/>
          <a:p>
            <a:pPr marL="285750" indent="-285750">
              <a:lnSpc>
                <a:spcPct val="110000"/>
              </a:lnSpc>
              <a:buFont typeface="Wingdings" pitchFamily="2" charset="2"/>
              <a:buChar char="l"/>
            </a:pPr>
            <a:r>
              <a:rPr lang="zh-CN" altLang="en-US" sz="1600" b="1" dirty="0">
                <a:latin typeface="微软雅黑" pitchFamily="34" charset="-122"/>
                <a:ea typeface="微软雅黑" pitchFamily="34" charset="-122"/>
              </a:rPr>
              <a:t>若 </a:t>
            </a:r>
            <a:r>
              <a:rPr lang="en-US" altLang="zh-CN" sz="1600" b="1" dirty="0">
                <a:latin typeface="微软雅黑" pitchFamily="34" charset="-122"/>
                <a:ea typeface="微软雅黑" pitchFamily="34" charset="-122"/>
              </a:rPr>
              <a:t>B </a:t>
            </a:r>
            <a:r>
              <a:rPr lang="zh-CN" altLang="en-US" sz="1600" b="1" dirty="0">
                <a:latin typeface="微软雅黑" pitchFamily="34" charset="-122"/>
                <a:ea typeface="微软雅黑" pitchFamily="34" charset="-122"/>
              </a:rPr>
              <a:t>已经没有要向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发送的数据，其应用进程就通知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释放连接。 </a:t>
            </a:r>
            <a:endParaRPr lang="en-US" altLang="zh-CN" sz="1600" b="1" dirty="0">
              <a:latin typeface="微软雅黑" pitchFamily="34" charset="-122"/>
              <a:ea typeface="微软雅黑" pitchFamily="34" charset="-122"/>
            </a:endParaRPr>
          </a:p>
          <a:p>
            <a:pPr marL="285750" indent="-285750">
              <a:lnSpc>
                <a:spcPct val="110000"/>
              </a:lnSpc>
              <a:buFont typeface="Wingdings" pitchFamily="2" charset="2"/>
              <a:buChar char="l"/>
            </a:pPr>
            <a:r>
              <a:rPr lang="en-US" altLang="zh-CN" sz="1600" b="1" dirty="0">
                <a:latin typeface="微软雅黑" pitchFamily="34" charset="-122"/>
                <a:ea typeface="微软雅黑" pitchFamily="34" charset="-122"/>
              </a:rPr>
              <a:t>FIN=1</a:t>
            </a:r>
            <a:r>
              <a:rPr lang="zh-CN" altLang="en-US" sz="1600" b="1" dirty="0">
                <a:latin typeface="微软雅黑" pitchFamily="34" charset="-122"/>
                <a:ea typeface="微软雅黑" pitchFamily="34" charset="-122"/>
              </a:rPr>
              <a:t>，</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 = u+1</a:t>
            </a:r>
            <a:r>
              <a:rPr lang="zh-CN" altLang="en-US" sz="1600" b="1" dirty="0">
                <a:latin typeface="微软雅黑" pitchFamily="34" charset="-122"/>
                <a:ea typeface="微软雅黑" pitchFamily="34" charset="-122"/>
              </a:rPr>
              <a:t>。</a:t>
            </a:r>
          </a:p>
        </p:txBody>
      </p:sp>
      <p:grpSp>
        <p:nvGrpSpPr>
          <p:cNvPr id="65" name="Group 43"/>
          <p:cNvGrpSpPr>
            <a:grpSpLocks/>
          </p:cNvGrpSpPr>
          <p:nvPr/>
        </p:nvGrpSpPr>
        <p:grpSpPr bwMode="auto">
          <a:xfrm>
            <a:off x="6121453" y="1287082"/>
            <a:ext cx="750733" cy="997731"/>
            <a:chOff x="4695" y="867"/>
            <a:chExt cx="848" cy="1127"/>
          </a:xfrm>
        </p:grpSpPr>
        <p:sp>
          <p:nvSpPr>
            <p:cNvPr id="66"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7"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78" name="组合 77"/>
          <p:cNvGrpSpPr/>
          <p:nvPr/>
        </p:nvGrpSpPr>
        <p:grpSpPr>
          <a:xfrm>
            <a:off x="3382340" y="2558723"/>
            <a:ext cx="2400818" cy="704797"/>
            <a:chOff x="3382340" y="2532597"/>
            <a:chExt cx="2400818" cy="704797"/>
          </a:xfrm>
        </p:grpSpPr>
        <p:sp>
          <p:nvSpPr>
            <p:cNvPr id="68"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9"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0"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71"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2" name="Group 11"/>
          <p:cNvGrpSpPr>
            <a:grpSpLocks/>
          </p:cNvGrpSpPr>
          <p:nvPr/>
        </p:nvGrpSpPr>
        <p:grpSpPr bwMode="auto">
          <a:xfrm>
            <a:off x="3401817" y="2285699"/>
            <a:ext cx="2305317" cy="429369"/>
            <a:chOff x="1623" y="1995"/>
            <a:chExt cx="2604" cy="485"/>
          </a:xfrm>
        </p:grpSpPr>
        <p:sp>
          <p:nvSpPr>
            <p:cNvPr id="73"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4"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77" name="组合 76"/>
          <p:cNvGrpSpPr/>
          <p:nvPr/>
        </p:nvGrpSpPr>
        <p:grpSpPr>
          <a:xfrm>
            <a:off x="6098436" y="1183502"/>
            <a:ext cx="930398" cy="1630324"/>
            <a:chOff x="6098436" y="1183502"/>
            <a:chExt cx="930398" cy="1630324"/>
          </a:xfrm>
        </p:grpSpPr>
        <p:sp>
          <p:nvSpPr>
            <p:cNvPr id="75"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sp>
        <p:nvSpPr>
          <p:cNvPr id="7" name="标题 6">
            <a:extLst>
              <a:ext uri="{FF2B5EF4-FFF2-40B4-BE49-F238E27FC236}">
                <a16:creationId xmlns:a16="http://schemas.microsoft.com/office/drawing/2014/main" id="{4EBEF774-C65C-3951-CBF0-60AB1FB89E75}"/>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的连接释放</a:t>
            </a:r>
            <a:r>
              <a:rPr lang="en-US" altLang="zh-CN" dirty="0"/>
              <a:t>-</a:t>
            </a:r>
            <a:r>
              <a:rPr lang="zh-CN" altLang="en-US" dirty="0"/>
              <a:t>采用四报文握手</a:t>
            </a:r>
          </a:p>
        </p:txBody>
      </p:sp>
    </p:spTree>
    <p:extLst>
      <p:ext uri="{BB962C8B-B14F-4D97-AF65-F5344CB8AC3E}">
        <p14:creationId xmlns:p14="http://schemas.microsoft.com/office/powerpoint/2010/main" val="98035775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1000"/>
                                  </p:stCondLst>
                                  <p:childTnLst>
                                    <p:set>
                                      <p:cBhvr>
                                        <p:cTn id="6" dur="1" fill="hold">
                                          <p:stCondLst>
                                            <p:cond delay="0"/>
                                          </p:stCondLst>
                                        </p:cTn>
                                        <p:tgtEl>
                                          <p:spTgt spid="77"/>
                                        </p:tgtEl>
                                        <p:attrNameLst>
                                          <p:attrName>style.visibility</p:attrName>
                                        </p:attrNameLst>
                                      </p:cBhvr>
                                      <p:to>
                                        <p:strVal val="visible"/>
                                      </p:to>
                                    </p:set>
                                    <p:animEffect transition="in" filter="wipe(up)">
                                      <p:cBhvr>
                                        <p:cTn id="7" dur="2000"/>
                                        <p:tgtEl>
                                          <p:spTgt spid="77"/>
                                        </p:tgtEl>
                                      </p:cBhvr>
                                    </p:animEffect>
                                  </p:childTnLst>
                                </p:cTn>
                              </p:par>
                            </p:childTnLst>
                          </p:cTn>
                        </p:par>
                        <p:par>
                          <p:cTn id="8" fill="hold">
                            <p:stCondLst>
                              <p:cond delay="3000"/>
                            </p:stCondLst>
                            <p:childTnLst>
                              <p:par>
                                <p:cTn id="9" presetID="22" presetClass="entr" presetSubtype="2" fill="hold" nodeType="afterEffect">
                                  <p:stCondLst>
                                    <p:cond delay="1000"/>
                                  </p:stCondLst>
                                  <p:childTnLst>
                                    <p:set>
                                      <p:cBhvr>
                                        <p:cTn id="10" dur="1" fill="hold">
                                          <p:stCondLst>
                                            <p:cond delay="0"/>
                                          </p:stCondLst>
                                        </p:cTn>
                                        <p:tgtEl>
                                          <p:spTgt spid="78"/>
                                        </p:tgtEl>
                                        <p:attrNameLst>
                                          <p:attrName>style.visibility</p:attrName>
                                        </p:attrNameLst>
                                      </p:cBhvr>
                                      <p:to>
                                        <p:strVal val="visible"/>
                                      </p:to>
                                    </p:set>
                                    <p:animEffect transition="in" filter="wipe(right)">
                                      <p:cBhvr>
                                        <p:cTn id="11" dur="2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5" name="Group 8"/>
          <p:cNvGrpSpPr>
            <a:grpSpLocks/>
          </p:cNvGrpSpPr>
          <p:nvPr/>
        </p:nvGrpSpPr>
        <p:grpSpPr bwMode="auto">
          <a:xfrm>
            <a:off x="3393849" y="1833311"/>
            <a:ext cx="2305317" cy="428484"/>
            <a:chOff x="1614" y="1484"/>
            <a:chExt cx="2604" cy="484"/>
          </a:xfrm>
        </p:grpSpPr>
        <p:sp>
          <p:nvSpPr>
            <p:cNvPr id="6"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FIN = 1, </a:t>
              </a:r>
              <a:r>
                <a:rPr kumimoji="0" lang="en-US" altLang="zh-CN" sz="10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 = u</a:t>
              </a:r>
            </a:p>
          </p:txBody>
        </p:sp>
        <p:sp>
          <p:nvSpPr>
            <p:cNvPr id="7"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10" name="Group 20"/>
          <p:cNvGrpSpPr>
            <a:grpSpLocks/>
          </p:cNvGrpSpPr>
          <p:nvPr/>
        </p:nvGrpSpPr>
        <p:grpSpPr bwMode="auto">
          <a:xfrm>
            <a:off x="2806011" y="1372071"/>
            <a:ext cx="3501355" cy="46036"/>
            <a:chOff x="1020" y="481"/>
            <a:chExt cx="4037" cy="46"/>
          </a:xfrm>
        </p:grpSpPr>
        <p:sp>
          <p:nvSpPr>
            <p:cNvPr id="11" name="Line 21"/>
            <p:cNvSpPr>
              <a:spLocks noChangeShapeType="1"/>
            </p:cNvSpPr>
            <p:nvPr/>
          </p:nvSpPr>
          <p:spPr bwMode="auto">
            <a:xfrm>
              <a:off x="1020" y="527"/>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2" name="Line 22"/>
            <p:cNvSpPr>
              <a:spLocks noChangeShapeType="1"/>
            </p:cNvSpPr>
            <p:nvPr/>
          </p:nvSpPr>
          <p:spPr bwMode="auto">
            <a:xfrm>
              <a:off x="1020" y="481"/>
              <a:ext cx="4037" cy="0"/>
            </a:xfrm>
            <a:prstGeom prst="line">
              <a:avLst/>
            </a:prstGeom>
            <a:noFill/>
            <a:ln w="1905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13" name="Group 37"/>
          <p:cNvGrpSpPr>
            <a:grpSpLocks/>
          </p:cNvGrpSpPr>
          <p:nvPr/>
        </p:nvGrpSpPr>
        <p:grpSpPr bwMode="auto">
          <a:xfrm>
            <a:off x="2103083" y="1220685"/>
            <a:ext cx="922481" cy="603775"/>
            <a:chOff x="156" y="792"/>
            <a:chExt cx="1042" cy="682"/>
          </a:xfrm>
        </p:grpSpPr>
        <p:sp>
          <p:nvSpPr>
            <p:cNvPr id="14"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5"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16"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7"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8"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9"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20"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pic>
        <p:nvPicPr>
          <p:cNvPr id="21"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24"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25" name="Group 2"/>
          <p:cNvGrpSpPr>
            <a:grpSpLocks/>
          </p:cNvGrpSpPr>
          <p:nvPr/>
        </p:nvGrpSpPr>
        <p:grpSpPr bwMode="auto">
          <a:xfrm>
            <a:off x="3384905" y="1795969"/>
            <a:ext cx="2321296" cy="2086458"/>
            <a:chOff x="1474" y="1888"/>
            <a:chExt cx="2412" cy="2432"/>
          </a:xfrm>
        </p:grpSpPr>
        <p:sp>
          <p:nvSpPr>
            <p:cNvPr id="26" name="Line 3"/>
            <p:cNvSpPr>
              <a:spLocks noChangeShapeType="1"/>
            </p:cNvSpPr>
            <p:nvPr/>
          </p:nvSpPr>
          <p:spPr bwMode="auto">
            <a:xfrm>
              <a:off x="1474" y="1888"/>
              <a:ext cx="0" cy="2432"/>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sp>
          <p:nvSpPr>
            <p:cNvPr id="27" name="Line 4"/>
            <p:cNvSpPr>
              <a:spLocks noChangeShapeType="1"/>
            </p:cNvSpPr>
            <p:nvPr/>
          </p:nvSpPr>
          <p:spPr bwMode="auto">
            <a:xfrm>
              <a:off x="3886" y="2409"/>
              <a:ext cx="0" cy="1911"/>
            </a:xfrm>
            <a:prstGeom prst="line">
              <a:avLst/>
            </a:prstGeom>
            <a:noFill/>
            <a:ln w="19050">
              <a:solidFill>
                <a:srgbClr val="3333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200" b="0" i="0" u="none" strike="noStrike" kern="0" cap="none" spc="0" normalizeH="0" baseline="0" noProof="0">
                <a:ln>
                  <a:noFill/>
                </a:ln>
                <a:effectLst/>
                <a:uLnTx/>
                <a:uFillTx/>
                <a:latin typeface="微软雅黑" pitchFamily="34" charset="-122"/>
                <a:ea typeface="微软雅黑" pitchFamily="34" charset="-122"/>
              </a:endParaRPr>
            </a:p>
          </p:txBody>
        </p:sp>
      </p:grpSp>
      <p:sp>
        <p:nvSpPr>
          <p:cNvPr id="28" name="Text Box 155"/>
          <p:cNvSpPr txBox="1">
            <a:spLocks noChangeArrowheads="1"/>
          </p:cNvSpPr>
          <p:nvPr/>
        </p:nvSpPr>
        <p:spPr bwMode="auto">
          <a:xfrm>
            <a:off x="1929775" y="3910912"/>
            <a:ext cx="5422002" cy="634020"/>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收到连接释放报文段后，必须发出确认。</a:t>
            </a:r>
            <a:endParaRPr lang="en-US" altLang="zh-CN" sz="1600" b="1" dirty="0">
              <a:latin typeface="微软雅黑" pitchFamily="34" charset="-122"/>
              <a:ea typeface="微软雅黑" pitchFamily="34" charset="-122"/>
            </a:endParaRPr>
          </a:p>
          <a:p>
            <a:pPr>
              <a:lnSpc>
                <a:spcPct val="110000"/>
              </a:lnSpc>
            </a:pPr>
            <a:r>
              <a:rPr lang="zh-CN" altLang="en-US" sz="1600" b="1" dirty="0">
                <a:latin typeface="微软雅黑" pitchFamily="34" charset="-122"/>
                <a:ea typeface="微软雅黑" pitchFamily="34" charset="-122"/>
              </a:rPr>
              <a:t> </a:t>
            </a:r>
            <a:r>
              <a:rPr lang="en-US" altLang="zh-CN" sz="1600" b="1" dirty="0">
                <a:latin typeface="微软雅黑" pitchFamily="34" charset="-122"/>
                <a:ea typeface="微软雅黑" pitchFamily="34" charset="-122"/>
              </a:rPr>
              <a:t>ACK=1</a:t>
            </a:r>
            <a:r>
              <a:rPr lang="zh-CN" altLang="en-US" sz="1600" b="1" dirty="0">
                <a:latin typeface="微软雅黑" pitchFamily="34" charset="-122"/>
                <a:ea typeface="微软雅黑" pitchFamily="34" charset="-122"/>
              </a:rPr>
              <a:t>，确认号 </a:t>
            </a:r>
            <a:r>
              <a:rPr lang="en-US" altLang="zh-CN" sz="1600" b="1" dirty="0" err="1">
                <a:latin typeface="微软雅黑" pitchFamily="34" charset="-122"/>
                <a:ea typeface="微软雅黑" pitchFamily="34" charset="-122"/>
              </a:rPr>
              <a:t>ack</a:t>
            </a:r>
            <a:r>
              <a:rPr lang="en-US" altLang="zh-CN" sz="1600" b="1" dirty="0">
                <a:latin typeface="微软雅黑" pitchFamily="34" charset="-122"/>
                <a:ea typeface="微软雅黑" pitchFamily="34" charset="-122"/>
              </a:rPr>
              <a:t>=w+1</a:t>
            </a:r>
            <a:r>
              <a:rPr lang="zh-CN" altLang="en-US" sz="1600" b="1" dirty="0">
                <a:latin typeface="微软雅黑" pitchFamily="34" charset="-122"/>
                <a:ea typeface="微软雅黑" pitchFamily="34" charset="-122"/>
              </a:rPr>
              <a:t>，自己的序号 </a:t>
            </a:r>
            <a:r>
              <a:rPr lang="en-US" altLang="zh-CN" sz="1600" b="1" dirty="0" err="1">
                <a:latin typeface="微软雅黑" pitchFamily="34" charset="-122"/>
                <a:ea typeface="微软雅黑" pitchFamily="34" charset="-122"/>
              </a:rPr>
              <a:t>seq</a:t>
            </a:r>
            <a:r>
              <a:rPr lang="en-US" altLang="zh-CN" sz="1600" b="1" dirty="0">
                <a:latin typeface="微软雅黑" pitchFamily="34" charset="-122"/>
                <a:ea typeface="微软雅黑" pitchFamily="34" charset="-122"/>
              </a:rPr>
              <a:t> = u + 1</a:t>
            </a:r>
            <a:endParaRPr lang="zh-CN" altLang="en-US" sz="1600" b="1" dirty="0">
              <a:latin typeface="微软雅黑" pitchFamily="34" charset="-122"/>
              <a:ea typeface="微软雅黑" pitchFamily="34" charset="-122"/>
            </a:endParaRPr>
          </a:p>
        </p:txBody>
      </p:sp>
      <p:grpSp>
        <p:nvGrpSpPr>
          <p:cNvPr id="29" name="Group 43"/>
          <p:cNvGrpSpPr>
            <a:grpSpLocks/>
          </p:cNvGrpSpPr>
          <p:nvPr/>
        </p:nvGrpSpPr>
        <p:grpSpPr bwMode="auto">
          <a:xfrm>
            <a:off x="6121453" y="1287082"/>
            <a:ext cx="750733" cy="997731"/>
            <a:chOff x="4695" y="867"/>
            <a:chExt cx="848" cy="1127"/>
          </a:xfrm>
        </p:grpSpPr>
        <p:sp>
          <p:nvSpPr>
            <p:cNvPr id="30"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1"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grpSp>
        <p:nvGrpSpPr>
          <p:cNvPr id="32" name="组合 31"/>
          <p:cNvGrpSpPr/>
          <p:nvPr/>
        </p:nvGrpSpPr>
        <p:grpSpPr>
          <a:xfrm>
            <a:off x="3382340" y="2532597"/>
            <a:ext cx="2400818" cy="704797"/>
            <a:chOff x="3382340" y="2532597"/>
            <a:chExt cx="2400818" cy="704797"/>
          </a:xfrm>
        </p:grpSpPr>
        <p:sp>
          <p:nvSpPr>
            <p:cNvPr id="3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3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5"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36"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37" name="Group 11"/>
          <p:cNvGrpSpPr>
            <a:grpSpLocks/>
          </p:cNvGrpSpPr>
          <p:nvPr/>
        </p:nvGrpSpPr>
        <p:grpSpPr bwMode="auto">
          <a:xfrm>
            <a:off x="3401817" y="2285699"/>
            <a:ext cx="2305317" cy="429369"/>
            <a:chOff x="1623" y="1995"/>
            <a:chExt cx="2604" cy="485"/>
          </a:xfrm>
        </p:grpSpPr>
        <p:sp>
          <p:nvSpPr>
            <p:cNvPr id="38"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39"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40" name="组合 39"/>
          <p:cNvGrpSpPr/>
          <p:nvPr/>
        </p:nvGrpSpPr>
        <p:grpSpPr>
          <a:xfrm>
            <a:off x="6098436" y="1183502"/>
            <a:ext cx="930398" cy="1630324"/>
            <a:chOff x="6098436" y="1183502"/>
            <a:chExt cx="930398" cy="1630324"/>
          </a:xfrm>
        </p:grpSpPr>
        <p:sp>
          <p:nvSpPr>
            <p:cNvPr id="41"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42"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grpSp>
      <p:grpSp>
        <p:nvGrpSpPr>
          <p:cNvPr id="45" name="组合 44"/>
          <p:cNvGrpSpPr/>
          <p:nvPr/>
        </p:nvGrpSpPr>
        <p:grpSpPr>
          <a:xfrm>
            <a:off x="3393849" y="3270695"/>
            <a:ext cx="2343998" cy="429369"/>
            <a:chOff x="3393849" y="3270695"/>
            <a:chExt cx="2343998" cy="429369"/>
          </a:xfrm>
        </p:grpSpPr>
        <p:sp>
          <p:nvSpPr>
            <p:cNvPr id="43"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sp>
          <p:nvSpPr>
            <p:cNvPr id="44"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51" name="标题 50">
            <a:extLst>
              <a:ext uri="{FF2B5EF4-FFF2-40B4-BE49-F238E27FC236}">
                <a16:creationId xmlns:a16="http://schemas.microsoft.com/office/drawing/2014/main" id="{D7359099-2363-1B71-4D58-BED7F9715A2A}"/>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的连接释放</a:t>
            </a:r>
            <a:r>
              <a:rPr lang="en-US" altLang="zh-CN" dirty="0"/>
              <a:t>-</a:t>
            </a:r>
            <a:r>
              <a:rPr lang="zh-CN" altLang="en-US" dirty="0"/>
              <a:t>采用四报文握手</a:t>
            </a:r>
          </a:p>
        </p:txBody>
      </p:sp>
    </p:spTree>
    <p:extLst>
      <p:ext uri="{BB962C8B-B14F-4D97-AF65-F5344CB8AC3E}">
        <p14:creationId xmlns:p14="http://schemas.microsoft.com/office/powerpoint/2010/main" val="642658776"/>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left)">
                                      <p:cBhvr>
                                        <p:cTn id="7"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AutoShape 5"/>
          <p:cNvSpPr>
            <a:spLocks noChangeArrowheads="1"/>
          </p:cNvSpPr>
          <p:nvPr/>
        </p:nvSpPr>
        <p:spPr bwMode="auto">
          <a:xfrm rot="20948448">
            <a:off x="4076414" y="2692051"/>
            <a:ext cx="377137" cy="131910"/>
          </a:xfrm>
          <a:prstGeom prst="leftArrow">
            <a:avLst>
              <a:gd name="adj1" fmla="val 53620"/>
              <a:gd name="adj2" fmla="val 119816"/>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4" name="AutoShape 6"/>
          <p:cNvSpPr>
            <a:spLocks noChangeArrowheads="1"/>
          </p:cNvSpPr>
          <p:nvPr/>
        </p:nvSpPr>
        <p:spPr bwMode="auto">
          <a:xfrm>
            <a:off x="3914404" y="1558869"/>
            <a:ext cx="1329718" cy="140763"/>
          </a:xfrm>
          <a:prstGeom prst="leftRightArrow">
            <a:avLst>
              <a:gd name="adj1" fmla="val 55880"/>
              <a:gd name="adj2" fmla="val 108285"/>
            </a:avLst>
          </a:prstGeom>
          <a:solidFill>
            <a:srgbClr val="FFFF00"/>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65" name="Rectangle 7"/>
          <p:cNvSpPr>
            <a:spLocks noChangeArrowheads="1"/>
          </p:cNvSpPr>
          <p:nvPr/>
        </p:nvSpPr>
        <p:spPr bwMode="auto">
          <a:xfrm rot="610931">
            <a:off x="3641118" y="3294225"/>
            <a:ext cx="2096729" cy="228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u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p>
        </p:txBody>
      </p:sp>
      <p:grpSp>
        <p:nvGrpSpPr>
          <p:cNvPr id="66" name="Group 8"/>
          <p:cNvGrpSpPr>
            <a:grpSpLocks/>
          </p:cNvGrpSpPr>
          <p:nvPr/>
        </p:nvGrpSpPr>
        <p:grpSpPr bwMode="auto">
          <a:xfrm>
            <a:off x="3393849" y="1833311"/>
            <a:ext cx="2305317" cy="428484"/>
            <a:chOff x="1614" y="1484"/>
            <a:chExt cx="2604" cy="484"/>
          </a:xfrm>
        </p:grpSpPr>
        <p:sp>
          <p:nvSpPr>
            <p:cNvPr id="67" name="Rectangle 9"/>
            <p:cNvSpPr>
              <a:spLocks noChangeArrowheads="1"/>
            </p:cNvSpPr>
            <p:nvPr/>
          </p:nvSpPr>
          <p:spPr bwMode="auto">
            <a:xfrm rot="597975">
              <a:off x="2411" y="1507"/>
              <a:ext cx="1374" cy="275"/>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FIN = 1, seq = u</a:t>
              </a:r>
            </a:p>
          </p:txBody>
        </p:sp>
        <p:sp>
          <p:nvSpPr>
            <p:cNvPr id="68" name="Line 10"/>
            <p:cNvSpPr>
              <a:spLocks noChangeShapeType="1"/>
            </p:cNvSpPr>
            <p:nvPr/>
          </p:nvSpPr>
          <p:spPr bwMode="auto">
            <a:xfrm>
              <a:off x="1614" y="1484"/>
              <a:ext cx="2604" cy="484"/>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grpSp>
        <p:nvGrpSpPr>
          <p:cNvPr id="69" name="Group 11"/>
          <p:cNvGrpSpPr>
            <a:grpSpLocks/>
          </p:cNvGrpSpPr>
          <p:nvPr/>
        </p:nvGrpSpPr>
        <p:grpSpPr bwMode="auto">
          <a:xfrm>
            <a:off x="3401817" y="2285699"/>
            <a:ext cx="2305317" cy="429369"/>
            <a:chOff x="1623" y="1995"/>
            <a:chExt cx="2604" cy="485"/>
          </a:xfrm>
        </p:grpSpPr>
        <p:sp>
          <p:nvSpPr>
            <p:cNvPr id="70" name="Rectangle 12"/>
            <p:cNvSpPr>
              <a:spLocks noChangeArrowheads="1"/>
            </p:cNvSpPr>
            <p:nvPr/>
          </p:nvSpPr>
          <p:spPr bwMode="auto">
            <a:xfrm rot="20990024" flipH="1">
              <a:off x="1826" y="2006"/>
              <a:ext cx="2041" cy="25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v,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1" name="Line 13"/>
            <p:cNvSpPr>
              <a:spLocks noChangeShapeType="1"/>
            </p:cNvSpPr>
            <p:nvPr/>
          </p:nvSpPr>
          <p:spPr bwMode="auto">
            <a:xfrm flipH="1">
              <a:off x="1623" y="1995"/>
              <a:ext cx="2604" cy="485"/>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72" name="Line 14"/>
          <p:cNvSpPr>
            <a:spLocks noChangeShapeType="1"/>
          </p:cNvSpPr>
          <p:nvPr/>
        </p:nvSpPr>
        <p:spPr bwMode="auto">
          <a:xfrm>
            <a:off x="3393849" y="327069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3" name="Line 15"/>
          <p:cNvSpPr>
            <a:spLocks noChangeShapeType="1"/>
          </p:cNvSpPr>
          <p:nvPr/>
        </p:nvSpPr>
        <p:spPr bwMode="auto">
          <a:xfrm flipH="1">
            <a:off x="3382340" y="2808025"/>
            <a:ext cx="2305317" cy="429369"/>
          </a:xfrm>
          <a:prstGeom prst="line">
            <a:avLst/>
          </a:prstGeom>
          <a:noFill/>
          <a:ln w="3810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4" name="Rectangle 16"/>
          <p:cNvSpPr>
            <a:spLocks noChangeArrowheads="1"/>
          </p:cNvSpPr>
          <p:nvPr/>
        </p:nvSpPr>
        <p:spPr bwMode="auto">
          <a:xfrm rot="20943314" flipH="1">
            <a:off x="3452391" y="2786404"/>
            <a:ext cx="2330767" cy="228268"/>
          </a:xfrm>
          <a:prstGeom prst="rect">
            <a:avLst/>
          </a:prstGeom>
          <a:noFill/>
          <a:ln w="127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FIN = 1, ACK = 1,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seq</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 w, </a:t>
            </a:r>
            <a:r>
              <a:rPr kumimoji="0" lang="en-US" altLang="zh-CN" sz="900" b="1" i="0" u="none" strike="noStrike" kern="0" cap="none" spc="0" normalizeH="0" baseline="0" noProof="0" dirty="0" err="1">
                <a:ln>
                  <a:noFill/>
                </a:ln>
                <a:effectLst/>
                <a:uLnTx/>
                <a:uFillTx/>
                <a:latin typeface="微软雅黑" pitchFamily="34" charset="-122"/>
                <a:ea typeface="微软雅黑" pitchFamily="34" charset="-122"/>
              </a:rPr>
              <a:t>ack</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rPr>
              <a:t>= u </a:t>
            </a:r>
            <a:r>
              <a:rPr kumimoji="0" lang="en-US" altLang="zh-CN" sz="900" b="1" i="0" u="none" strike="noStrike" kern="0" cap="none" spc="0" normalizeH="0" baseline="0" noProof="0" dirty="0">
                <a:ln>
                  <a:noFill/>
                </a:ln>
                <a:effectLst/>
                <a:uLnTx/>
                <a:uFillTx/>
                <a:latin typeface="微软雅黑" pitchFamily="34" charset="-122"/>
                <a:ea typeface="微软雅黑" pitchFamily="34" charset="-122"/>
                <a:sym typeface="Symbol" pitchFamily="18" charset="2"/>
              </a:rPr>
              <a:t> 1</a:t>
            </a:r>
            <a:endParaRPr kumimoji="0" lang="en-US" altLang="zh-CN" sz="900" b="1" i="0" u="none" strike="noStrike" kern="0" cap="none" spc="0" normalizeH="0" baseline="0" noProof="0" dirty="0">
              <a:ln>
                <a:noFill/>
              </a:ln>
              <a:effectLst/>
              <a:uLnTx/>
              <a:uFillTx/>
              <a:latin typeface="微软雅黑" pitchFamily="34" charset="-122"/>
              <a:ea typeface="微软雅黑" pitchFamily="34" charset="-122"/>
            </a:endParaRPr>
          </a:p>
        </p:txBody>
      </p:sp>
      <p:sp>
        <p:nvSpPr>
          <p:cNvPr id="75" name="Rectangle 17"/>
          <p:cNvSpPr>
            <a:spLocks noChangeArrowheads="1"/>
          </p:cNvSpPr>
          <p:nvPr/>
        </p:nvSpPr>
        <p:spPr bwMode="auto">
          <a:xfrm>
            <a:off x="2860899" y="1418106"/>
            <a:ext cx="532065" cy="375367"/>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6" name="Rectangle 18"/>
          <p:cNvSpPr>
            <a:spLocks noChangeArrowheads="1"/>
          </p:cNvSpPr>
          <p:nvPr/>
        </p:nvSpPr>
        <p:spPr bwMode="auto">
          <a:xfrm>
            <a:off x="2860899" y="1840394"/>
            <a:ext cx="532065" cy="866707"/>
          </a:xfrm>
          <a:prstGeom prst="rect">
            <a:avLst/>
          </a:prstGeom>
          <a:solidFill>
            <a:srgbClr val="CC00CC"/>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77" name="Rectangle 19"/>
          <p:cNvSpPr>
            <a:spLocks noChangeArrowheads="1"/>
          </p:cNvSpPr>
          <p:nvPr/>
        </p:nvSpPr>
        <p:spPr bwMode="auto">
          <a:xfrm>
            <a:off x="5697395" y="1418106"/>
            <a:ext cx="532950" cy="825098"/>
          </a:xfrm>
          <a:prstGeom prst="rect">
            <a:avLst/>
          </a:prstGeom>
          <a:solidFill>
            <a:srgbClr val="00990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78" name="Group 20"/>
          <p:cNvGrpSpPr>
            <a:grpSpLocks/>
          </p:cNvGrpSpPr>
          <p:nvPr/>
        </p:nvGrpSpPr>
        <p:grpSpPr bwMode="auto">
          <a:xfrm>
            <a:off x="2806011" y="1372071"/>
            <a:ext cx="3501355" cy="46036"/>
            <a:chOff x="1020" y="481"/>
            <a:chExt cx="4037" cy="46"/>
          </a:xfrm>
        </p:grpSpPr>
        <p:sp>
          <p:nvSpPr>
            <p:cNvPr id="79" name="Line 21"/>
            <p:cNvSpPr>
              <a:spLocks noChangeShapeType="1"/>
            </p:cNvSpPr>
            <p:nvPr/>
          </p:nvSpPr>
          <p:spPr bwMode="auto">
            <a:xfrm>
              <a:off x="1020" y="527"/>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0" name="Line 22"/>
            <p:cNvSpPr>
              <a:spLocks noChangeShapeType="1"/>
            </p:cNvSpPr>
            <p:nvPr/>
          </p:nvSpPr>
          <p:spPr bwMode="auto">
            <a:xfrm>
              <a:off x="1020" y="481"/>
              <a:ext cx="4037" cy="0"/>
            </a:xfrm>
            <a:prstGeom prst="line">
              <a:avLst/>
            </a:prstGeom>
            <a:noFill/>
            <a:ln w="12700">
              <a:solidFill>
                <a:srgbClr val="3333CC"/>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sp>
        <p:nvSpPr>
          <p:cNvPr id="81" name="Rectangle 23"/>
          <p:cNvSpPr>
            <a:spLocks noChangeArrowheads="1"/>
          </p:cNvSpPr>
          <p:nvPr/>
        </p:nvSpPr>
        <p:spPr bwMode="auto">
          <a:xfrm>
            <a:off x="2816590" y="2049137"/>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WAIT-1</a:t>
            </a:r>
          </a:p>
        </p:txBody>
      </p:sp>
      <p:sp>
        <p:nvSpPr>
          <p:cNvPr id="82" name="Rectangle 24"/>
          <p:cNvSpPr>
            <a:spLocks noChangeArrowheads="1"/>
          </p:cNvSpPr>
          <p:nvPr/>
        </p:nvSpPr>
        <p:spPr bwMode="auto">
          <a:xfrm>
            <a:off x="5697395" y="2291896"/>
            <a:ext cx="532950" cy="489570"/>
          </a:xfrm>
          <a:prstGeom prst="rect">
            <a:avLst/>
          </a:prstGeom>
          <a:solidFill>
            <a:schemeClr val="accent5">
              <a:lumMod val="75000"/>
            </a:schemeClr>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3" name="Rectangle 25"/>
          <p:cNvSpPr>
            <a:spLocks noChangeArrowheads="1"/>
          </p:cNvSpPr>
          <p:nvPr/>
        </p:nvSpPr>
        <p:spPr bwMode="auto">
          <a:xfrm>
            <a:off x="5664639" y="2354752"/>
            <a:ext cx="65082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CLOSE-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84" name="Rectangle 26"/>
          <p:cNvSpPr>
            <a:spLocks noChangeArrowheads="1"/>
          </p:cNvSpPr>
          <p:nvPr/>
        </p:nvSpPr>
        <p:spPr bwMode="auto">
          <a:xfrm>
            <a:off x="2860899" y="2747825"/>
            <a:ext cx="532065" cy="486029"/>
          </a:xfrm>
          <a:prstGeom prst="rect">
            <a:avLst/>
          </a:prstGeom>
          <a:solidFill>
            <a:srgbClr val="0000F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5" name="Rectangle 27"/>
          <p:cNvSpPr>
            <a:spLocks noChangeArrowheads="1"/>
          </p:cNvSpPr>
          <p:nvPr/>
        </p:nvSpPr>
        <p:spPr bwMode="auto">
          <a:xfrm>
            <a:off x="2809275" y="2777925"/>
            <a:ext cx="67486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FIN-</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WAIT-2</a:t>
            </a:r>
          </a:p>
        </p:txBody>
      </p:sp>
      <p:sp>
        <p:nvSpPr>
          <p:cNvPr id="86" name="Rectangle 28"/>
          <p:cNvSpPr>
            <a:spLocks noChangeArrowheads="1"/>
          </p:cNvSpPr>
          <p:nvPr/>
        </p:nvSpPr>
        <p:spPr bwMode="auto">
          <a:xfrm>
            <a:off x="5697395" y="2825731"/>
            <a:ext cx="532950" cy="826869"/>
          </a:xfrm>
          <a:prstGeom prst="rect">
            <a:avLst/>
          </a:prstGeom>
          <a:solidFill>
            <a:srgbClr val="0070C0"/>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87" name="Rectangle 29"/>
          <p:cNvSpPr>
            <a:spLocks noChangeArrowheads="1"/>
          </p:cNvSpPr>
          <p:nvPr/>
        </p:nvSpPr>
        <p:spPr bwMode="auto">
          <a:xfrm>
            <a:off x="5698701" y="3060335"/>
            <a:ext cx="56265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LAST-</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ACK</a:t>
            </a:r>
          </a:p>
        </p:txBody>
      </p:sp>
      <p:grpSp>
        <p:nvGrpSpPr>
          <p:cNvPr id="88" name="Group 30"/>
          <p:cNvGrpSpPr>
            <a:grpSpLocks/>
          </p:cNvGrpSpPr>
          <p:nvPr/>
        </p:nvGrpSpPr>
        <p:grpSpPr bwMode="auto">
          <a:xfrm>
            <a:off x="2099547" y="3263852"/>
            <a:ext cx="1324404" cy="794112"/>
            <a:chOff x="152" y="3081"/>
            <a:chExt cx="1496" cy="897"/>
          </a:xfrm>
        </p:grpSpPr>
        <p:sp>
          <p:nvSpPr>
            <p:cNvPr id="89" name="Rectangle 31"/>
            <p:cNvSpPr>
              <a:spLocks noChangeArrowheads="1"/>
            </p:cNvSpPr>
            <p:nvPr/>
          </p:nvSpPr>
          <p:spPr bwMode="auto">
            <a:xfrm>
              <a:off x="152" y="3081"/>
              <a:ext cx="943"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等待 </a:t>
              </a: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2MSL</a:t>
              </a:r>
            </a:p>
          </p:txBody>
        </p:sp>
        <p:sp>
          <p:nvSpPr>
            <p:cNvPr id="90" name="Rectangle 32"/>
            <p:cNvSpPr>
              <a:spLocks noChangeArrowheads="1"/>
            </p:cNvSpPr>
            <p:nvPr/>
          </p:nvSpPr>
          <p:spPr bwMode="auto">
            <a:xfrm>
              <a:off x="1012" y="3097"/>
              <a:ext cx="601" cy="779"/>
            </a:xfrm>
            <a:prstGeom prst="rect">
              <a:avLst/>
            </a:prstGeom>
            <a:solidFill>
              <a:srgbClr val="7030A0"/>
            </a:solidFill>
            <a:ln>
              <a:noFill/>
            </a:ln>
            <a:effectLst/>
            <a:extLst>
              <a:ext uri="{91240B29-F687-4F45-9708-019B960494DF}">
                <a14:hiddenLine xmlns:a14="http://schemas.microsoft.com/office/drawing/2010/main" w="12700">
                  <a:solidFill>
                    <a:schemeClr val="tx1"/>
                  </a:solidFill>
                  <a:miter lim="800000"/>
                  <a:headEnd/>
                  <a:tailE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1" name="Rectangle 33"/>
            <p:cNvSpPr>
              <a:spLocks noChangeArrowheads="1"/>
            </p:cNvSpPr>
            <p:nvPr/>
          </p:nvSpPr>
          <p:spPr bwMode="auto">
            <a:xfrm>
              <a:off x="1007" y="3292"/>
              <a:ext cx="641" cy="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TIME-</a:t>
              </a:r>
            </a:p>
            <a:p>
              <a:pPr marL="0" marR="0" lvl="0" indent="0"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WAIT</a:t>
              </a:r>
            </a:p>
          </p:txBody>
        </p:sp>
        <p:sp>
          <p:nvSpPr>
            <p:cNvPr id="92" name="Freeform 34"/>
            <p:cNvSpPr>
              <a:spLocks/>
            </p:cNvSpPr>
            <p:nvPr/>
          </p:nvSpPr>
          <p:spPr bwMode="auto">
            <a:xfrm>
              <a:off x="185" y="3081"/>
              <a:ext cx="819" cy="799"/>
            </a:xfrm>
            <a:custGeom>
              <a:avLst/>
              <a:gdLst>
                <a:gd name="T0" fmla="*/ 749 w 635"/>
                <a:gd name="T1" fmla="*/ 0 h 499"/>
                <a:gd name="T2" fmla="*/ 0 w 635"/>
                <a:gd name="T3" fmla="*/ 0 h 499"/>
                <a:gd name="T4" fmla="*/ 0 w 635"/>
                <a:gd name="T5" fmla="*/ 799 h 499"/>
                <a:gd name="T6" fmla="*/ 749 w 635"/>
                <a:gd name="T7" fmla="*/ 799 h 49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35" h="499">
                  <a:moveTo>
                    <a:pt x="635" y="0"/>
                  </a:moveTo>
                  <a:lnTo>
                    <a:pt x="0" y="0"/>
                  </a:lnTo>
                  <a:lnTo>
                    <a:pt x="0" y="499"/>
                  </a:lnTo>
                  <a:lnTo>
                    <a:pt x="635" y="499"/>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3" name="Text Box 35"/>
            <p:cNvSpPr txBox="1">
              <a:spLocks noChangeArrowheads="1"/>
            </p:cNvSpPr>
            <p:nvPr/>
          </p:nvSpPr>
          <p:spPr bwMode="auto">
            <a:xfrm>
              <a:off x="265" y="3178"/>
              <a:ext cx="725" cy="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i="0" u="none" strike="noStrike" kern="0" cap="none" spc="0" normalizeH="0" baseline="0" noProof="0" dirty="0">
                  <a:ln>
                    <a:noFill/>
                  </a:ln>
                  <a:solidFill>
                    <a:srgbClr val="0000FF"/>
                  </a:solidFill>
                  <a:effectLst/>
                  <a:uLnTx/>
                  <a:uFillTx/>
                  <a:latin typeface="微软雅黑" pitchFamily="34" charset="-122"/>
                  <a:ea typeface="微软雅黑" pitchFamily="34" charset="-122"/>
                  <a:sym typeface="Wingdings" pitchFamily="2" charset="2"/>
                </a:rPr>
                <a:t></a:t>
              </a:r>
            </a:p>
          </p:txBody>
        </p:sp>
      </p:grpSp>
      <p:sp>
        <p:nvSpPr>
          <p:cNvPr id="94" name="Rectangle 36"/>
          <p:cNvSpPr>
            <a:spLocks noChangeArrowheads="1"/>
          </p:cNvSpPr>
          <p:nvPr/>
        </p:nvSpPr>
        <p:spPr bwMode="auto">
          <a:xfrm>
            <a:off x="5697395" y="3703061"/>
            <a:ext cx="532950" cy="294805"/>
          </a:xfrm>
          <a:prstGeom prst="rect">
            <a:avLst/>
          </a:prstGeom>
          <a:solidFill>
            <a:srgbClr val="00FF99"/>
          </a:solidFill>
          <a:ln>
            <a:solidFill>
              <a:schemeClr val="tx1"/>
            </a:solid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grpSp>
        <p:nvGrpSpPr>
          <p:cNvPr id="95" name="Group 37"/>
          <p:cNvGrpSpPr>
            <a:grpSpLocks/>
          </p:cNvGrpSpPr>
          <p:nvPr/>
        </p:nvGrpSpPr>
        <p:grpSpPr bwMode="auto">
          <a:xfrm>
            <a:off x="2103083" y="1220685"/>
            <a:ext cx="922481" cy="603775"/>
            <a:chOff x="156" y="792"/>
            <a:chExt cx="1042" cy="682"/>
          </a:xfrm>
        </p:grpSpPr>
        <p:sp>
          <p:nvSpPr>
            <p:cNvPr id="96" name="Freeform 38"/>
            <p:cNvSpPr>
              <a:spLocks/>
            </p:cNvSpPr>
            <p:nvPr/>
          </p:nvSpPr>
          <p:spPr bwMode="auto">
            <a:xfrm>
              <a:off x="185" y="792"/>
              <a:ext cx="1013" cy="682"/>
            </a:xfrm>
            <a:custGeom>
              <a:avLst/>
              <a:gdLst>
                <a:gd name="T0" fmla="*/ 849 w 769"/>
                <a:gd name="T1" fmla="*/ 0 h 584"/>
                <a:gd name="T2" fmla="*/ 0 w 769"/>
                <a:gd name="T3" fmla="*/ 11 h 584"/>
                <a:gd name="T4" fmla="*/ 0 w 769"/>
                <a:gd name="T5" fmla="*/ 682 h 584"/>
                <a:gd name="T6" fmla="*/ 666 w 769"/>
                <a:gd name="T7" fmla="*/ 682 h 58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9" h="584">
                  <a:moveTo>
                    <a:pt x="769" y="0"/>
                  </a:moveTo>
                  <a:lnTo>
                    <a:pt x="0" y="9"/>
                  </a:lnTo>
                  <a:lnTo>
                    <a:pt x="0" y="584"/>
                  </a:lnTo>
                  <a:lnTo>
                    <a:pt x="603" y="584"/>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7" name="Rectangle 39"/>
            <p:cNvSpPr>
              <a:spLocks noChangeArrowheads="1"/>
            </p:cNvSpPr>
            <p:nvPr/>
          </p:nvSpPr>
          <p:spPr bwMode="auto">
            <a:xfrm>
              <a:off x="156" y="1187"/>
              <a:ext cx="786" cy="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主动关闭</a:t>
              </a:r>
            </a:p>
          </p:txBody>
        </p:sp>
      </p:grpSp>
      <p:sp>
        <p:nvSpPr>
          <p:cNvPr id="98" name="Freeform 40"/>
          <p:cNvSpPr>
            <a:spLocks/>
          </p:cNvSpPr>
          <p:nvPr/>
        </p:nvSpPr>
        <p:spPr bwMode="auto">
          <a:xfrm>
            <a:off x="6098436" y="1183502"/>
            <a:ext cx="860369" cy="1620096"/>
          </a:xfrm>
          <a:custGeom>
            <a:avLst/>
            <a:gdLst>
              <a:gd name="T0" fmla="*/ 0 w 868"/>
              <a:gd name="T1" fmla="*/ 0 h 1493"/>
              <a:gd name="T2" fmla="*/ 1408112 w 868"/>
              <a:gd name="T3" fmla="*/ 13621 h 1493"/>
              <a:gd name="T4" fmla="*/ 1408112 w 868"/>
              <a:gd name="T5" fmla="*/ 2905125 h 1493"/>
              <a:gd name="T6" fmla="*/ 201159 w 868"/>
              <a:gd name="T7" fmla="*/ 2905125 h 149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868" h="1493">
                <a:moveTo>
                  <a:pt x="0" y="0"/>
                </a:moveTo>
                <a:lnTo>
                  <a:pt x="868" y="7"/>
                </a:lnTo>
                <a:lnTo>
                  <a:pt x="868" y="1493"/>
                </a:lnTo>
                <a:lnTo>
                  <a:pt x="124" y="1493"/>
                </a:lnTo>
              </a:path>
            </a:pathLst>
          </a:custGeom>
          <a:noFill/>
          <a:ln w="28575" cap="flat" cmpd="sng">
            <a:solidFill>
              <a:srgbClr val="3333CC"/>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99" name="Rectangle 41"/>
          <p:cNvSpPr>
            <a:spLocks noChangeArrowheads="1"/>
          </p:cNvSpPr>
          <p:nvPr/>
        </p:nvSpPr>
        <p:spPr bwMode="auto">
          <a:xfrm>
            <a:off x="6333130" y="2570170"/>
            <a:ext cx="69570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被动关闭</a:t>
            </a:r>
          </a:p>
        </p:txBody>
      </p:sp>
      <p:sp>
        <p:nvSpPr>
          <p:cNvPr id="100" name="Rectangle 42"/>
          <p:cNvSpPr>
            <a:spLocks noChangeArrowheads="1"/>
          </p:cNvSpPr>
          <p:nvPr/>
        </p:nvSpPr>
        <p:spPr bwMode="auto">
          <a:xfrm>
            <a:off x="4255700" y="1511062"/>
            <a:ext cx="721352" cy="251351"/>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ctr" defTabSz="762000" eaLnBrk="0" fontAlgn="auto" latinLnBrk="0" hangingPunct="0">
              <a:lnSpc>
                <a:spcPct val="100000"/>
              </a:lnSpc>
              <a:spcBef>
                <a:spcPts val="0"/>
              </a:spcBef>
              <a:spcAft>
                <a:spcPts val="0"/>
              </a:spcAft>
              <a:buClrTx/>
              <a:buSzTx/>
              <a:buFontTx/>
              <a:buNone/>
              <a:tabLst/>
              <a:defRPr/>
            </a:pPr>
            <a:r>
              <a:rPr kumimoji="0" lang="zh-CN" altLang="en-US" sz="1050" b="1" i="0" u="none" strike="noStrike" kern="0" cap="none" spc="0" normalizeH="0" baseline="0" noProof="0" dirty="0">
                <a:ln>
                  <a:noFill/>
                </a:ln>
                <a:effectLst/>
                <a:uLnTx/>
                <a:uFillTx/>
                <a:latin typeface="微软雅黑" pitchFamily="34" charset="-122"/>
                <a:ea typeface="微软雅黑" pitchFamily="34" charset="-122"/>
              </a:rPr>
              <a:t>数据传送</a:t>
            </a:r>
          </a:p>
        </p:txBody>
      </p:sp>
      <p:grpSp>
        <p:nvGrpSpPr>
          <p:cNvPr id="101" name="Group 43"/>
          <p:cNvGrpSpPr>
            <a:grpSpLocks/>
          </p:cNvGrpSpPr>
          <p:nvPr/>
        </p:nvGrpSpPr>
        <p:grpSpPr bwMode="auto">
          <a:xfrm>
            <a:off x="6121453" y="1287082"/>
            <a:ext cx="750733" cy="997731"/>
            <a:chOff x="4695" y="867"/>
            <a:chExt cx="848" cy="1127"/>
          </a:xfrm>
        </p:grpSpPr>
        <p:sp>
          <p:nvSpPr>
            <p:cNvPr id="102" name="Freeform 44"/>
            <p:cNvSpPr>
              <a:spLocks/>
            </p:cNvSpPr>
            <p:nvPr/>
          </p:nvSpPr>
          <p:spPr bwMode="auto">
            <a:xfrm>
              <a:off x="4695" y="867"/>
              <a:ext cx="361" cy="1127"/>
            </a:xfrm>
            <a:custGeom>
              <a:avLst/>
              <a:gdLst>
                <a:gd name="T0" fmla="*/ 80 w 451"/>
                <a:gd name="T1" fmla="*/ 1127 h 965"/>
                <a:gd name="T2" fmla="*/ 269 w 451"/>
                <a:gd name="T3" fmla="*/ 1044 h 965"/>
                <a:gd name="T4" fmla="*/ 341 w 451"/>
                <a:gd name="T5" fmla="*/ 827 h 965"/>
                <a:gd name="T6" fmla="*/ 361 w 451"/>
                <a:gd name="T7" fmla="*/ 487 h 965"/>
                <a:gd name="T8" fmla="*/ 341 w 451"/>
                <a:gd name="T9" fmla="*/ 242 h 965"/>
                <a:gd name="T10" fmla="*/ 269 w 451"/>
                <a:gd name="T11" fmla="*/ 84 h 965"/>
                <a:gd name="T12" fmla="*/ 0 w 451"/>
                <a:gd name="T13" fmla="*/ 0 h 965"/>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51" h="965">
                  <a:moveTo>
                    <a:pt x="100" y="965"/>
                  </a:moveTo>
                  <a:cubicBezTo>
                    <a:pt x="139" y="951"/>
                    <a:pt x="282" y="937"/>
                    <a:pt x="336" y="894"/>
                  </a:cubicBezTo>
                  <a:cubicBezTo>
                    <a:pt x="390" y="851"/>
                    <a:pt x="407" y="787"/>
                    <a:pt x="426" y="708"/>
                  </a:cubicBezTo>
                  <a:cubicBezTo>
                    <a:pt x="445" y="629"/>
                    <a:pt x="451" y="500"/>
                    <a:pt x="451" y="417"/>
                  </a:cubicBezTo>
                  <a:cubicBezTo>
                    <a:pt x="451" y="334"/>
                    <a:pt x="445" y="264"/>
                    <a:pt x="426" y="207"/>
                  </a:cubicBezTo>
                  <a:cubicBezTo>
                    <a:pt x="407" y="150"/>
                    <a:pt x="407" y="106"/>
                    <a:pt x="336" y="72"/>
                  </a:cubicBezTo>
                  <a:cubicBezTo>
                    <a:pt x="265" y="38"/>
                    <a:pt x="70" y="15"/>
                    <a:pt x="0" y="0"/>
                  </a:cubicBezTo>
                </a:path>
              </a:pathLst>
            </a:custGeom>
            <a:noFill/>
            <a:ln w="28575" cap="flat" cmpd="sng">
              <a:solidFill>
                <a:srgbClr val="0000FF"/>
              </a:solidFill>
              <a:prstDash val="solid"/>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03" name="Rectangle 45"/>
            <p:cNvSpPr>
              <a:spLocks noChangeArrowheads="1"/>
            </p:cNvSpPr>
            <p:nvPr/>
          </p:nvSpPr>
          <p:spPr bwMode="auto">
            <a:xfrm>
              <a:off x="5047" y="1120"/>
              <a:ext cx="496" cy="6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通知</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应用</a:t>
              </a:r>
            </a:p>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进程</a:t>
              </a:r>
            </a:p>
          </p:txBody>
        </p:sp>
      </p:grpSp>
      <p:sp>
        <p:nvSpPr>
          <p:cNvPr id="108" name="Rectangle 50"/>
          <p:cNvSpPr>
            <a:spLocks noChangeArrowheads="1"/>
          </p:cNvSpPr>
          <p:nvPr/>
        </p:nvSpPr>
        <p:spPr bwMode="auto">
          <a:xfrm>
            <a:off x="3204395" y="1042740"/>
            <a:ext cx="278924"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a:ln>
                  <a:noFill/>
                </a:ln>
                <a:effectLst/>
                <a:uLnTx/>
                <a:uFillTx/>
                <a:latin typeface="微软雅黑" pitchFamily="34" charset="-122"/>
                <a:ea typeface="微软雅黑" pitchFamily="34" charset="-122"/>
              </a:rPr>
              <a:t>A</a:t>
            </a:r>
          </a:p>
        </p:txBody>
      </p:sp>
      <p:sp>
        <p:nvSpPr>
          <p:cNvPr id="109" name="Rectangle 51"/>
          <p:cNvSpPr>
            <a:spLocks noChangeArrowheads="1"/>
          </p:cNvSpPr>
          <p:nvPr/>
        </p:nvSpPr>
        <p:spPr bwMode="auto">
          <a:xfrm>
            <a:off x="5639239" y="1042740"/>
            <a:ext cx="270909" cy="243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effectLst/>
                <a:uLnTx/>
                <a:uFillTx/>
                <a:latin typeface="微软雅黑" pitchFamily="34" charset="-122"/>
                <a:ea typeface="微软雅黑" pitchFamily="34" charset="-122"/>
              </a:rPr>
              <a:t>B</a:t>
            </a:r>
          </a:p>
        </p:txBody>
      </p:sp>
      <p:sp>
        <p:nvSpPr>
          <p:cNvPr id="110" name="Rectangle 52"/>
          <p:cNvSpPr>
            <a:spLocks noChangeArrowheads="1"/>
          </p:cNvSpPr>
          <p:nvPr/>
        </p:nvSpPr>
        <p:spPr bwMode="auto">
          <a:xfrm>
            <a:off x="2886307" y="825866"/>
            <a:ext cx="490520"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客户</a:t>
            </a:r>
          </a:p>
        </p:txBody>
      </p:sp>
      <p:sp>
        <p:nvSpPr>
          <p:cNvPr id="111" name="Rectangle 53"/>
          <p:cNvSpPr>
            <a:spLocks noChangeArrowheads="1"/>
          </p:cNvSpPr>
          <p:nvPr/>
        </p:nvSpPr>
        <p:spPr bwMode="auto">
          <a:xfrm>
            <a:off x="5628973" y="825866"/>
            <a:ext cx="644408" cy="274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200" b="1" i="0" u="none" strike="noStrike" kern="0" cap="none" spc="0" normalizeH="0" baseline="0" noProof="0" dirty="0">
                <a:ln>
                  <a:noFill/>
                </a:ln>
                <a:effectLst/>
                <a:uLnTx/>
                <a:uFillTx/>
                <a:latin typeface="微软雅黑" pitchFamily="34" charset="-122"/>
                <a:ea typeface="微软雅黑" pitchFamily="34" charset="-122"/>
              </a:rPr>
              <a:t>服务器</a:t>
            </a:r>
          </a:p>
        </p:txBody>
      </p:sp>
      <p:sp>
        <p:nvSpPr>
          <p:cNvPr id="112" name="Rectangle 54"/>
          <p:cNvSpPr>
            <a:spLocks noChangeArrowheads="1"/>
          </p:cNvSpPr>
          <p:nvPr/>
        </p:nvSpPr>
        <p:spPr bwMode="auto">
          <a:xfrm rot="20971112">
            <a:off x="4355353" y="2532597"/>
            <a:ext cx="695704" cy="243656"/>
          </a:xfrm>
          <a:prstGeom prst="rect">
            <a:avLst/>
          </a:prstGeom>
          <a:solidFill>
            <a:srgbClr val="00FFFF"/>
          </a:solidFill>
          <a:ln w="12700">
            <a:headEnd/>
            <a:tailEnd/>
          </a:ln>
        </p:spPr>
        <p:style>
          <a:lnRef idx="2">
            <a:schemeClr val="dk1"/>
          </a:lnRef>
          <a:fillRef idx="1">
            <a:schemeClr val="lt1"/>
          </a:fillRef>
          <a:effectRef idx="0">
            <a:schemeClr val="dk1"/>
          </a:effectRef>
          <a:fontRef idx="minor">
            <a:schemeClr val="dk1"/>
          </a:fontRef>
        </p:style>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zh-CN" altLang="en-US" sz="1000" b="1" i="0" u="none" strike="noStrike" kern="0" cap="none" spc="0" normalizeH="0" baseline="0" noProof="0" dirty="0">
                <a:ln>
                  <a:noFill/>
                </a:ln>
                <a:effectLst/>
                <a:uLnTx/>
                <a:uFillTx/>
                <a:latin typeface="微软雅黑" pitchFamily="34" charset="-122"/>
                <a:ea typeface="微软雅黑" pitchFamily="34" charset="-122"/>
              </a:rPr>
              <a:t>数据传送</a:t>
            </a:r>
          </a:p>
        </p:txBody>
      </p:sp>
      <p:sp>
        <p:nvSpPr>
          <p:cNvPr id="113" name="Text Box 55"/>
          <p:cNvSpPr txBox="1">
            <a:spLocks noChangeArrowheads="1"/>
          </p:cNvSpPr>
          <p:nvPr/>
        </p:nvSpPr>
        <p:spPr bwMode="auto">
          <a:xfrm>
            <a:off x="5641576" y="3756179"/>
            <a:ext cx="541803" cy="187683"/>
          </a:xfrm>
          <a:prstGeom prst="rect">
            <a:avLst/>
          </a:prstGeom>
          <a:noFill/>
          <a:ln>
            <a:noFill/>
          </a:ln>
          <a:effectLst/>
          <a:extLst>
            <a:ext uri="{909E8E84-426E-40DD-AFC4-6F175D3DCCD1}">
              <a14:hiddenFill xmlns:a14="http://schemas.microsoft.com/office/drawing/2010/main">
                <a:solidFill>
                  <a:srgbClr val="663300"/>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algn="l"/>
            <a:r>
              <a:rPr lang="en-US" altLang="zh-CN" sz="1000" dirty="0">
                <a:latin typeface="微软雅黑" pitchFamily="34" charset="-122"/>
                <a:ea typeface="微软雅黑" pitchFamily="34" charset="-122"/>
              </a:rPr>
              <a:t>CLOSED</a:t>
            </a:r>
          </a:p>
        </p:txBody>
      </p:sp>
      <p:pic>
        <p:nvPicPr>
          <p:cNvPr id="115"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89733" y="1067336"/>
            <a:ext cx="270208" cy="270208"/>
          </a:xfrm>
          <a:prstGeom prst="rect">
            <a:avLst/>
          </a:prstGeom>
          <a:noFill/>
          <a:extLst>
            <a:ext uri="{909E8E84-426E-40DD-AFC4-6F175D3DCCD1}">
              <a14:hiddenFill xmlns:a14="http://schemas.microsoft.com/office/drawing/2010/main">
                <a:solidFill>
                  <a:srgbClr val="FFFFFF"/>
                </a:solidFill>
              </a14:hiddenFill>
            </a:ext>
          </a:extLst>
        </p:spPr>
      </p:pic>
      <p:pic>
        <p:nvPicPr>
          <p:cNvPr id="116" name="Picture 134"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38884" y="1067336"/>
            <a:ext cx="270208" cy="270208"/>
          </a:xfrm>
          <a:prstGeom prst="rect">
            <a:avLst/>
          </a:prstGeom>
          <a:noFill/>
          <a:extLst>
            <a:ext uri="{909E8E84-426E-40DD-AFC4-6F175D3DCCD1}">
              <a14:hiddenFill xmlns:a14="http://schemas.microsoft.com/office/drawing/2010/main">
                <a:solidFill>
                  <a:srgbClr val="FFFFFF"/>
                </a:solidFill>
              </a14:hiddenFill>
            </a:ext>
          </a:extLst>
        </p:spPr>
      </p:pic>
      <p:sp>
        <p:nvSpPr>
          <p:cNvPr id="117" name="Rectangle 46"/>
          <p:cNvSpPr>
            <a:spLocks noChangeArrowheads="1"/>
          </p:cNvSpPr>
          <p:nvPr/>
        </p:nvSpPr>
        <p:spPr bwMode="auto">
          <a:xfrm>
            <a:off x="2821016" y="1424303"/>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sp>
        <p:nvSpPr>
          <p:cNvPr id="118" name="Rectangle 47"/>
          <p:cNvSpPr>
            <a:spLocks noChangeArrowheads="1"/>
          </p:cNvSpPr>
          <p:nvPr/>
        </p:nvSpPr>
        <p:spPr bwMode="auto">
          <a:xfrm>
            <a:off x="5642882" y="1667761"/>
            <a:ext cx="654026"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ESTAB-</a:t>
            </a:r>
          </a:p>
          <a:p>
            <a:pPr marL="0" marR="0" lvl="0" indent="0" algn="l" defTabSz="762000" eaLnBrk="0" fontAlgn="auto" latinLnBrk="0" hangingPunct="0">
              <a:lnSpc>
                <a:spcPct val="100000"/>
              </a:lnSpc>
              <a:spcBef>
                <a:spcPts val="0"/>
              </a:spcBef>
              <a:spcAft>
                <a:spcPts val="0"/>
              </a:spcAft>
              <a:buClrTx/>
              <a:buSzTx/>
              <a:buFontTx/>
              <a:buNone/>
              <a:tabLst/>
              <a:defRPr/>
            </a:pPr>
            <a:r>
              <a:rPr kumimoji="0" lang="en-US" altLang="zh-CN" sz="1000" b="1" i="0" u="none" strike="noStrike" kern="0" cap="none" spc="0" normalizeH="0" baseline="0" noProof="0" dirty="0">
                <a:ln>
                  <a:noFill/>
                </a:ln>
                <a:solidFill>
                  <a:schemeClr val="bg1"/>
                </a:solidFill>
                <a:effectLst/>
                <a:uLnTx/>
                <a:uFillTx/>
                <a:latin typeface="微软雅黑" pitchFamily="34" charset="-122"/>
                <a:ea typeface="微软雅黑" pitchFamily="34" charset="-122"/>
              </a:rPr>
              <a:t>LISHED</a:t>
            </a:r>
          </a:p>
        </p:txBody>
      </p:sp>
      <p:grpSp>
        <p:nvGrpSpPr>
          <p:cNvPr id="4" name="组合 3"/>
          <p:cNvGrpSpPr/>
          <p:nvPr/>
        </p:nvGrpSpPr>
        <p:grpSpPr>
          <a:xfrm>
            <a:off x="2857404" y="3984586"/>
            <a:ext cx="541802" cy="294805"/>
            <a:chOff x="2857404" y="3984586"/>
            <a:chExt cx="541802" cy="294805"/>
          </a:xfrm>
        </p:grpSpPr>
        <p:sp>
          <p:nvSpPr>
            <p:cNvPr id="61" name="Rectangle 3"/>
            <p:cNvSpPr>
              <a:spLocks noChangeArrowheads="1"/>
            </p:cNvSpPr>
            <p:nvPr/>
          </p:nvSpPr>
          <p:spPr bwMode="auto">
            <a:xfrm>
              <a:off x="2860900" y="3984586"/>
              <a:ext cx="532064" cy="294805"/>
            </a:xfrm>
            <a:prstGeom prst="rect">
              <a:avLst/>
            </a:prstGeom>
            <a:solidFill>
              <a:srgbClr val="00FF99"/>
            </a:solidFill>
            <a:ln w="12700" algn="ctr">
              <a:solidFill>
                <a:schemeClr val="tx1"/>
              </a:solidFill>
              <a:miter lim="800000"/>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000" b="1" i="0" u="none" strike="noStrike" kern="0" cap="none" spc="0" normalizeH="0" baseline="0" noProof="0">
                <a:ln>
                  <a:noFill/>
                </a:ln>
                <a:effectLst/>
                <a:uLnTx/>
                <a:uFillTx/>
                <a:latin typeface="微软雅黑" pitchFamily="34" charset="-122"/>
                <a:ea typeface="微软雅黑" pitchFamily="34" charset="-122"/>
              </a:endParaRPr>
            </a:p>
          </p:txBody>
        </p:sp>
        <p:sp>
          <p:nvSpPr>
            <p:cNvPr id="119" name="Text Box 4"/>
            <p:cNvSpPr txBox="1">
              <a:spLocks noChangeArrowheads="1"/>
            </p:cNvSpPr>
            <p:nvPr/>
          </p:nvSpPr>
          <p:spPr bwMode="auto">
            <a:xfrm>
              <a:off x="2857404" y="4031507"/>
              <a:ext cx="541802" cy="187684"/>
            </a:xfrm>
            <a:prstGeom prst="rect">
              <a:avLst/>
            </a:prstGeom>
            <a:noFill/>
            <a:ln>
              <a:noFill/>
            </a:ln>
            <a:effectLst/>
          </p:spPr>
          <p:txBody>
            <a:bodyPr wrap="none" anchor="ct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algn="ctr"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marL="0" marR="0" lvl="0" indent="0" algn="ctr" defTabSz="914400" eaLnBrk="0" fontAlgn="auto" latinLnBrk="0" hangingPunct="0">
                <a:lnSpc>
                  <a:spcPct val="100000"/>
                </a:lnSpc>
                <a:spcBef>
                  <a:spcPts val="0"/>
                </a:spcBef>
                <a:spcAft>
                  <a:spcPts val="0"/>
                </a:spcAft>
                <a:buClrTx/>
                <a:buSzTx/>
                <a:buFontTx/>
                <a:buNone/>
                <a:tabLst/>
                <a:defRPr/>
              </a:pPr>
              <a:r>
                <a:rPr kumimoji="1" lang="en-US" altLang="zh-CN" sz="1000" i="0" u="none" strike="noStrike" kern="0" cap="none" spc="0" normalizeH="0" baseline="0" noProof="0" dirty="0">
                  <a:ln>
                    <a:noFill/>
                  </a:ln>
                  <a:effectLst/>
                  <a:uLnTx/>
                  <a:uFillTx/>
                  <a:latin typeface="微软雅黑" pitchFamily="34" charset="-122"/>
                  <a:ea typeface="微软雅黑" pitchFamily="34" charset="-122"/>
                </a:rPr>
                <a:t>CLOSED</a:t>
              </a:r>
            </a:p>
          </p:txBody>
        </p:sp>
      </p:grpSp>
      <p:sp>
        <p:nvSpPr>
          <p:cNvPr id="59" name="Text Box 155"/>
          <p:cNvSpPr txBox="1">
            <a:spLocks noChangeArrowheads="1"/>
          </p:cNvSpPr>
          <p:nvPr/>
        </p:nvSpPr>
        <p:spPr bwMode="auto">
          <a:xfrm>
            <a:off x="3484723" y="3994017"/>
            <a:ext cx="4499780" cy="904863"/>
          </a:xfrm>
          <a:prstGeom prst="rect">
            <a:avLst/>
          </a:prstGeom>
          <a:solidFill>
            <a:srgbClr val="FFFF99"/>
          </a:solidFill>
          <a:ln w="9525">
            <a:solidFill>
              <a:schemeClr val="tx1"/>
            </a:solidFill>
            <a:miter lim="800000"/>
            <a:headEnd/>
            <a:tailEnd/>
          </a:ln>
          <a:effectLst/>
        </p:spPr>
        <p:txBody>
          <a:bodyPr wrap="square">
            <a:spAutoFit/>
          </a:bodyPr>
          <a:lstStyle/>
          <a:p>
            <a:pPr>
              <a:lnSpc>
                <a:spcPct val="110000"/>
              </a:lnSpc>
            </a:pPr>
            <a:r>
              <a:rPr lang="zh-CN" altLang="en-US" sz="1600" b="1" dirty="0">
                <a:latin typeface="微软雅黑" pitchFamily="34" charset="-122"/>
                <a:ea typeface="微软雅黑" pitchFamily="34" charset="-122"/>
              </a:rPr>
              <a:t>请注意：此时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连接还没有释放掉。必须经过</a:t>
            </a:r>
            <a:r>
              <a:rPr lang="zh-CN" altLang="en-US" sz="1600" b="1" dirty="0">
                <a:solidFill>
                  <a:srgbClr val="C00000"/>
                </a:solidFill>
                <a:latin typeface="微软雅黑" pitchFamily="34" charset="-122"/>
                <a:ea typeface="微软雅黑" pitchFamily="34" charset="-122"/>
              </a:rPr>
              <a:t>时间等待计时器 </a:t>
            </a:r>
            <a:r>
              <a:rPr lang="en-US" altLang="zh-CN" sz="1600" b="1" dirty="0">
                <a:latin typeface="微软雅黑" pitchFamily="34" charset="-122"/>
                <a:ea typeface="微软雅黑" pitchFamily="34" charset="-122"/>
              </a:rPr>
              <a:t>(TIME-WAIT timer) </a:t>
            </a:r>
            <a:r>
              <a:rPr lang="zh-CN" altLang="en-US" sz="1600" b="1" dirty="0">
                <a:latin typeface="微软雅黑" pitchFamily="34" charset="-122"/>
                <a:ea typeface="微软雅黑" pitchFamily="34" charset="-122"/>
              </a:rPr>
              <a:t>设置的时间 </a:t>
            </a:r>
            <a:r>
              <a:rPr lang="en-US" altLang="zh-CN" sz="1600" b="1" dirty="0">
                <a:solidFill>
                  <a:srgbClr val="C00000"/>
                </a:solidFill>
                <a:latin typeface="微软雅黑" pitchFamily="34" charset="-122"/>
                <a:ea typeface="微软雅黑" pitchFamily="34" charset="-122"/>
              </a:rPr>
              <a:t>2MSL</a:t>
            </a:r>
            <a:r>
              <a:rPr lang="en-US" altLang="zh-CN" sz="1600" b="1" dirty="0">
                <a:latin typeface="微软雅黑" pitchFamily="34" charset="-122"/>
                <a:ea typeface="微软雅黑" pitchFamily="34" charset="-122"/>
              </a:rPr>
              <a:t> </a:t>
            </a:r>
            <a:r>
              <a:rPr lang="zh-CN" altLang="en-US" sz="1600" b="1" dirty="0">
                <a:latin typeface="微软雅黑" pitchFamily="34" charset="-122"/>
                <a:ea typeface="微软雅黑" pitchFamily="34" charset="-122"/>
              </a:rPr>
              <a:t>后，</a:t>
            </a:r>
            <a:r>
              <a:rPr lang="en-US" altLang="zh-CN" sz="1600" b="1" dirty="0">
                <a:latin typeface="微软雅黑" pitchFamily="34" charset="-122"/>
                <a:ea typeface="微软雅黑" pitchFamily="34" charset="-122"/>
              </a:rPr>
              <a:t>A </a:t>
            </a:r>
            <a:r>
              <a:rPr lang="zh-CN" altLang="en-US" sz="1600" b="1" dirty="0">
                <a:latin typeface="微软雅黑" pitchFamily="34" charset="-122"/>
                <a:ea typeface="微软雅黑" pitchFamily="34" charset="-122"/>
              </a:rPr>
              <a:t>才释放 </a:t>
            </a:r>
            <a:r>
              <a:rPr lang="en-US" altLang="zh-CN" sz="1600" b="1" dirty="0">
                <a:latin typeface="微软雅黑" pitchFamily="34" charset="-122"/>
                <a:ea typeface="微软雅黑" pitchFamily="34" charset="-122"/>
              </a:rPr>
              <a:t>TCP </a:t>
            </a:r>
            <a:r>
              <a:rPr lang="zh-CN" altLang="en-US" sz="1600" b="1" dirty="0">
                <a:latin typeface="微软雅黑" pitchFamily="34" charset="-122"/>
                <a:ea typeface="微软雅黑" pitchFamily="34" charset="-122"/>
              </a:rPr>
              <a:t>连接。</a:t>
            </a:r>
          </a:p>
        </p:txBody>
      </p:sp>
      <p:sp>
        <p:nvSpPr>
          <p:cNvPr id="2" name="矩形 1"/>
          <p:cNvSpPr/>
          <p:nvPr/>
        </p:nvSpPr>
        <p:spPr>
          <a:xfrm>
            <a:off x="1502557" y="2092349"/>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1</a:t>
            </a:r>
            <a:r>
              <a:rPr lang="zh-CN" altLang="en-US" sz="1400" b="1" dirty="0">
                <a:latin typeface="微软雅黑" panose="020B0503020204020204" pitchFamily="34" charset="-122"/>
                <a:ea typeface="微软雅黑" panose="020B0503020204020204" pitchFamily="34" charset="-122"/>
              </a:rPr>
              <a:t>）</a:t>
            </a:r>
          </a:p>
        </p:txBody>
      </p:sp>
      <p:sp>
        <p:nvSpPr>
          <p:cNvPr id="5" name="矩形 4"/>
          <p:cNvSpPr/>
          <p:nvPr/>
        </p:nvSpPr>
        <p:spPr>
          <a:xfrm>
            <a:off x="1500736" y="2772248"/>
            <a:ext cx="1372492"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（终止等待</a:t>
            </a:r>
            <a:r>
              <a:rPr lang="en-US" altLang="zh-CN" sz="1400" b="1" dirty="0">
                <a:latin typeface="微软雅黑" panose="020B0503020204020204" pitchFamily="34" charset="-122"/>
                <a:ea typeface="微软雅黑" panose="020B0503020204020204" pitchFamily="34" charset="-122"/>
              </a:rPr>
              <a:t>2</a:t>
            </a:r>
            <a:r>
              <a:rPr lang="zh-CN" altLang="en-US" sz="1400" b="1" dirty="0">
                <a:latin typeface="微软雅黑" panose="020B0503020204020204" pitchFamily="34" charset="-122"/>
                <a:ea typeface="微软雅黑" panose="020B0503020204020204" pitchFamily="34" charset="-122"/>
              </a:rPr>
              <a:t>）</a:t>
            </a:r>
          </a:p>
        </p:txBody>
      </p:sp>
      <p:sp>
        <p:nvSpPr>
          <p:cNvPr id="6" name="矩形 5"/>
          <p:cNvSpPr/>
          <p:nvPr/>
        </p:nvSpPr>
        <p:spPr>
          <a:xfrm>
            <a:off x="6960085" y="2347960"/>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（关闭等待）</a:t>
            </a:r>
          </a:p>
        </p:txBody>
      </p:sp>
      <p:sp>
        <p:nvSpPr>
          <p:cNvPr id="7" name="矩形 6"/>
          <p:cNvSpPr/>
          <p:nvPr/>
        </p:nvSpPr>
        <p:spPr>
          <a:xfrm>
            <a:off x="6970075" y="3102407"/>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（最后确认）</a:t>
            </a:r>
          </a:p>
        </p:txBody>
      </p:sp>
      <p:sp>
        <p:nvSpPr>
          <p:cNvPr id="8" name="矩形 7"/>
          <p:cNvSpPr/>
          <p:nvPr/>
        </p:nvSpPr>
        <p:spPr>
          <a:xfrm>
            <a:off x="886427" y="3444915"/>
            <a:ext cx="1261884"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（时间等待）</a:t>
            </a:r>
          </a:p>
        </p:txBody>
      </p:sp>
      <p:sp>
        <p:nvSpPr>
          <p:cNvPr id="104" name="矩形 103"/>
          <p:cNvSpPr/>
          <p:nvPr/>
        </p:nvSpPr>
        <p:spPr>
          <a:xfrm>
            <a:off x="6975341" y="3669063"/>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
        <p:nvSpPr>
          <p:cNvPr id="105" name="矩形 104"/>
          <p:cNvSpPr/>
          <p:nvPr/>
        </p:nvSpPr>
        <p:spPr>
          <a:xfrm>
            <a:off x="1224463" y="3970925"/>
            <a:ext cx="902811" cy="307777"/>
          </a:xfrm>
          <a:prstGeom prst="rect">
            <a:avLst/>
          </a:prstGeom>
        </p:spPr>
        <p:txBody>
          <a:bodyPr wrap="none">
            <a:spAutoFit/>
          </a:bodyPr>
          <a:lstStyle/>
          <a:p>
            <a:pPr algn="ctr"/>
            <a:r>
              <a:rPr lang="zh-CN" altLang="en-US" sz="1400" b="1" dirty="0">
                <a:latin typeface="微软雅黑" panose="020B0503020204020204" pitchFamily="34" charset="-122"/>
                <a:ea typeface="微软雅黑" panose="020B0503020204020204" pitchFamily="34" charset="-122"/>
              </a:rPr>
              <a:t>（关闭）</a:t>
            </a:r>
          </a:p>
        </p:txBody>
      </p:sp>
      <p:sp>
        <p:nvSpPr>
          <p:cNvPr id="11" name="标题 10">
            <a:extLst>
              <a:ext uri="{FF2B5EF4-FFF2-40B4-BE49-F238E27FC236}">
                <a16:creationId xmlns:a16="http://schemas.microsoft.com/office/drawing/2014/main" id="{76E2E0E9-FCB8-882B-4CFE-13B39CDA59FD}"/>
              </a:ext>
            </a:extLst>
          </p:cNvPr>
          <p:cNvSpPr>
            <a:spLocks noGrp="1"/>
          </p:cNvSpPr>
          <p:nvPr>
            <p:ph type="title"/>
          </p:nvPr>
        </p:nvSpPr>
        <p:spPr>
          <a:xfrm>
            <a:off x="2808000" y="144000"/>
            <a:ext cx="3528000" cy="338554"/>
          </a:xfrm>
        </p:spPr>
        <p:txBody>
          <a:bodyPr/>
          <a:lstStyle/>
          <a:p>
            <a:r>
              <a:rPr lang="en-US" altLang="zh-CN" dirty="0"/>
              <a:t>TCP </a:t>
            </a:r>
            <a:r>
              <a:rPr lang="zh-CN" altLang="en-US" dirty="0"/>
              <a:t>的连接释放</a:t>
            </a:r>
            <a:r>
              <a:rPr lang="en-US" altLang="zh-CN" dirty="0"/>
              <a:t>-</a:t>
            </a:r>
            <a:r>
              <a:rPr lang="zh-CN" altLang="en-US" dirty="0"/>
              <a:t>采用四报文握手</a:t>
            </a:r>
          </a:p>
        </p:txBody>
      </p:sp>
    </p:spTree>
    <p:extLst>
      <p:ext uri="{BB962C8B-B14F-4D97-AF65-F5344CB8AC3E}">
        <p14:creationId xmlns:p14="http://schemas.microsoft.com/office/powerpoint/2010/main" val="3713360282"/>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3000" fill="hold" nodeType="afterEffect">
                                  <p:stCondLst>
                                    <p:cond delay="500"/>
                                  </p:stCondLst>
                                  <p:childTnLst>
                                    <p:anim calcmode="discrete" valueType="str">
                                      <p:cBhvr>
                                        <p:cTn id="6" dur="1000" fill="hold"/>
                                        <p:tgtEl>
                                          <p:spTgt spid="88"/>
                                        </p:tgtEl>
                                        <p:attrNameLst>
                                          <p:attrName>style.visibility</p:attrName>
                                        </p:attrNameLst>
                                      </p:cBhvr>
                                      <p:tavLst>
                                        <p:tav tm="0">
                                          <p:val>
                                            <p:strVal val="hidden"/>
                                          </p:val>
                                        </p:tav>
                                        <p:tav tm="50000">
                                          <p:val>
                                            <p:strVal val="visible"/>
                                          </p:val>
                                        </p:tav>
                                      </p:tavLst>
                                    </p:anim>
                                  </p:childTnLst>
                                </p:cTn>
                              </p:par>
                            </p:childTnLst>
                          </p:cTn>
                        </p:par>
                        <p:par>
                          <p:cTn id="7" fill="hold">
                            <p:stCondLst>
                              <p:cond delay="3500"/>
                            </p:stCondLst>
                            <p:childTnLst>
                              <p:par>
                                <p:cTn id="8" presetID="22" presetClass="entr" presetSubtype="1" fill="hold" nodeType="afterEffect">
                                  <p:stCondLst>
                                    <p:cond delay="500"/>
                                  </p:stCondLst>
                                  <p:childTnLst>
                                    <p:set>
                                      <p:cBhvr>
                                        <p:cTn id="9" dur="1" fill="hold">
                                          <p:stCondLst>
                                            <p:cond delay="0"/>
                                          </p:stCondLst>
                                        </p:cTn>
                                        <p:tgtEl>
                                          <p:spTgt spid="4"/>
                                        </p:tgtEl>
                                        <p:attrNameLst>
                                          <p:attrName>style.visibility</p:attrName>
                                        </p:attrNameLst>
                                      </p:cBhvr>
                                      <p:to>
                                        <p:strVal val="visible"/>
                                      </p:to>
                                    </p:set>
                                    <p:animEffect transition="in" filter="wipe(up)">
                                      <p:cBhvr>
                                        <p:cTn id="10"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01FF476F-3D5C-F064-1FBC-C1DF3B53EB2E}"/>
              </a:ext>
            </a:extLst>
          </p:cNvPr>
          <p:cNvCxnSpPr>
            <a:cxnSpLocks/>
          </p:cNvCxnSpPr>
          <p:nvPr/>
        </p:nvCxnSpPr>
        <p:spPr>
          <a:xfrm>
            <a:off x="3041075" y="907696"/>
            <a:ext cx="0" cy="3600000"/>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419C406F-4EA6-48C8-E54C-9BB46A9CAFC3}"/>
              </a:ext>
            </a:extLst>
          </p:cNvPr>
          <p:cNvCxnSpPr>
            <a:cxnSpLocks/>
          </p:cNvCxnSpPr>
          <p:nvPr/>
        </p:nvCxnSpPr>
        <p:spPr>
          <a:xfrm>
            <a:off x="6167725" y="907696"/>
            <a:ext cx="0" cy="3600000"/>
          </a:xfrm>
          <a:prstGeom prst="line">
            <a:avLst/>
          </a:prstGeom>
          <a:ln w="12700">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6" name="图形 5" descr="监视器">
            <a:extLst>
              <a:ext uri="{FF2B5EF4-FFF2-40B4-BE49-F238E27FC236}">
                <a16:creationId xmlns:a16="http://schemas.microsoft.com/office/drawing/2014/main" id="{CEACB10B-4689-AE57-C19E-FA5447BEA40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825075" y="553196"/>
            <a:ext cx="432000" cy="432000"/>
          </a:xfrm>
          <a:prstGeom prst="rect">
            <a:avLst/>
          </a:prstGeom>
        </p:spPr>
      </p:pic>
      <p:pic>
        <p:nvPicPr>
          <p:cNvPr id="9" name="图形 8" descr="监视器">
            <a:extLst>
              <a:ext uri="{FF2B5EF4-FFF2-40B4-BE49-F238E27FC236}">
                <a16:creationId xmlns:a16="http://schemas.microsoft.com/office/drawing/2014/main" id="{0DD150A7-5A10-5C86-EBA8-5BF0E13BDA0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951725" y="553196"/>
            <a:ext cx="432000" cy="432000"/>
          </a:xfrm>
          <a:prstGeom prst="rect">
            <a:avLst/>
          </a:prstGeom>
        </p:spPr>
      </p:pic>
      <p:cxnSp>
        <p:nvCxnSpPr>
          <p:cNvPr id="11" name="直接箭头连接符 10">
            <a:extLst>
              <a:ext uri="{FF2B5EF4-FFF2-40B4-BE49-F238E27FC236}">
                <a16:creationId xmlns:a16="http://schemas.microsoft.com/office/drawing/2014/main" id="{D4ED6286-38B8-6E25-ACE6-C6CD528EB5C3}"/>
              </a:ext>
            </a:extLst>
          </p:cNvPr>
          <p:cNvCxnSpPr>
            <a:cxnSpLocks/>
          </p:cNvCxnSpPr>
          <p:nvPr/>
        </p:nvCxnSpPr>
        <p:spPr>
          <a:xfrm>
            <a:off x="3041074" y="3187843"/>
            <a:ext cx="3141051" cy="453028"/>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F33B9178-3137-321E-1AAE-DA8E5E4AC547}"/>
              </a:ext>
            </a:extLst>
          </p:cNvPr>
          <p:cNvCxnSpPr>
            <a:cxnSpLocks/>
          </p:cNvCxnSpPr>
          <p:nvPr/>
        </p:nvCxnSpPr>
        <p:spPr>
          <a:xfrm flipH="1">
            <a:off x="3026675" y="1777742"/>
            <a:ext cx="3155450" cy="447077"/>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26192A20-58C2-5D98-F3EE-0A55199611F8}"/>
              </a:ext>
            </a:extLst>
          </p:cNvPr>
          <p:cNvCxnSpPr>
            <a:cxnSpLocks/>
          </p:cNvCxnSpPr>
          <p:nvPr/>
        </p:nvCxnSpPr>
        <p:spPr>
          <a:xfrm>
            <a:off x="3041074" y="1237668"/>
            <a:ext cx="3126650" cy="496020"/>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A595DD58-2259-1E9F-2E57-06E46AC02A24}"/>
              </a:ext>
            </a:extLst>
          </p:cNvPr>
          <p:cNvSpPr/>
          <p:nvPr/>
        </p:nvSpPr>
        <p:spPr>
          <a:xfrm>
            <a:off x="6182125" y="1768841"/>
            <a:ext cx="1296000" cy="91767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CLOSE-WAIT</a:t>
            </a:r>
          </a:p>
        </p:txBody>
      </p:sp>
      <p:sp>
        <p:nvSpPr>
          <p:cNvPr id="20" name="矩形 19">
            <a:extLst>
              <a:ext uri="{FF2B5EF4-FFF2-40B4-BE49-F238E27FC236}">
                <a16:creationId xmlns:a16="http://schemas.microsoft.com/office/drawing/2014/main" id="{DFBE2719-A7EA-67B7-ACCC-E94464D6C0E0}"/>
              </a:ext>
            </a:extLst>
          </p:cNvPr>
          <p:cNvSpPr/>
          <p:nvPr/>
        </p:nvSpPr>
        <p:spPr>
          <a:xfrm>
            <a:off x="1730675" y="1287183"/>
            <a:ext cx="1296000" cy="93933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FIN-WAIT1</a:t>
            </a:r>
          </a:p>
        </p:txBody>
      </p:sp>
      <p:sp>
        <p:nvSpPr>
          <p:cNvPr id="21" name="矩形 20">
            <a:extLst>
              <a:ext uri="{FF2B5EF4-FFF2-40B4-BE49-F238E27FC236}">
                <a16:creationId xmlns:a16="http://schemas.microsoft.com/office/drawing/2014/main" id="{5967DC4E-DA6C-280C-28FF-06023C016624}"/>
              </a:ext>
            </a:extLst>
          </p:cNvPr>
          <p:cNvSpPr/>
          <p:nvPr/>
        </p:nvSpPr>
        <p:spPr>
          <a:xfrm>
            <a:off x="6182125" y="2741784"/>
            <a:ext cx="1296000" cy="82221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LAST-ACK</a:t>
            </a:r>
          </a:p>
        </p:txBody>
      </p:sp>
      <p:sp>
        <p:nvSpPr>
          <p:cNvPr id="22" name="矩形 21">
            <a:extLst>
              <a:ext uri="{FF2B5EF4-FFF2-40B4-BE49-F238E27FC236}">
                <a16:creationId xmlns:a16="http://schemas.microsoft.com/office/drawing/2014/main" id="{E753C140-972A-E175-7A82-9DE4ACDF00FE}"/>
              </a:ext>
            </a:extLst>
          </p:cNvPr>
          <p:cNvSpPr/>
          <p:nvPr/>
        </p:nvSpPr>
        <p:spPr>
          <a:xfrm>
            <a:off x="1730675" y="960669"/>
            <a:ext cx="1296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p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ESTABLISHED</a:t>
            </a:r>
          </a:p>
        </p:txBody>
      </p:sp>
      <p:sp>
        <p:nvSpPr>
          <p:cNvPr id="23" name="矩形 22">
            <a:extLst>
              <a:ext uri="{FF2B5EF4-FFF2-40B4-BE49-F238E27FC236}">
                <a16:creationId xmlns:a16="http://schemas.microsoft.com/office/drawing/2014/main" id="{3415ABEA-50A8-8B88-1574-35B03FFC9672}"/>
              </a:ext>
            </a:extLst>
          </p:cNvPr>
          <p:cNvSpPr/>
          <p:nvPr/>
        </p:nvSpPr>
        <p:spPr>
          <a:xfrm>
            <a:off x="6182125" y="960669"/>
            <a:ext cx="1296000" cy="761802"/>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ESTABLISHED</a:t>
            </a:r>
          </a:p>
        </p:txBody>
      </p:sp>
      <p:sp>
        <p:nvSpPr>
          <p:cNvPr id="24" name="矩形 23">
            <a:extLst>
              <a:ext uri="{FF2B5EF4-FFF2-40B4-BE49-F238E27FC236}">
                <a16:creationId xmlns:a16="http://schemas.microsoft.com/office/drawing/2014/main" id="{D81515A6-1DB0-A00E-CFA8-B99C19CA6753}"/>
              </a:ext>
            </a:extLst>
          </p:cNvPr>
          <p:cNvSpPr/>
          <p:nvPr/>
        </p:nvSpPr>
        <p:spPr>
          <a:xfrm rot="21120000">
            <a:off x="3164400" y="2256478"/>
            <a:ext cx="2880000" cy="276999"/>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spAutoFit/>
          </a:bodyPr>
          <a:lstStyle/>
          <a:p>
            <a:pPr algn="ctr"/>
            <a:r>
              <a:rPr lang="en-US" altLang="zh-CN" sz="1200" dirty="0">
                <a:solidFill>
                  <a:sysClr val="windowText" lastClr="000000"/>
                </a:solidFill>
                <a:latin typeface="Montserrat" panose="00000500000000000000" pitchFamily="2" charset="0"/>
                <a:ea typeface="微软雅黑 Light" panose="020B0502040204020203" pitchFamily="34" charset="-122"/>
              </a:rPr>
              <a:t>data</a:t>
            </a:r>
            <a:endParaRPr lang="zh-CN" altLang="en-US" sz="1200" dirty="0">
              <a:solidFill>
                <a:sysClr val="windowText" lastClr="000000"/>
              </a:solidFill>
              <a:latin typeface="Montserrat" panose="00000500000000000000" pitchFamily="2" charset="0"/>
              <a:ea typeface="微软雅黑 Light" panose="020B0502040204020203" pitchFamily="34" charset="-122"/>
            </a:endParaRPr>
          </a:p>
        </p:txBody>
      </p:sp>
      <p:sp>
        <p:nvSpPr>
          <p:cNvPr id="25" name="文本框 24">
            <a:extLst>
              <a:ext uri="{FF2B5EF4-FFF2-40B4-BE49-F238E27FC236}">
                <a16:creationId xmlns:a16="http://schemas.microsoft.com/office/drawing/2014/main" id="{23AFDE80-4B50-73E9-7084-4F39ACEC3161}"/>
              </a:ext>
            </a:extLst>
          </p:cNvPr>
          <p:cNvSpPr txBox="1"/>
          <p:nvPr/>
        </p:nvSpPr>
        <p:spPr>
          <a:xfrm>
            <a:off x="3192177" y="630697"/>
            <a:ext cx="638316"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Light" panose="020B0502040204020203" pitchFamily="34" charset="-122"/>
                <a:cs typeface="Courier New" panose="02070309020205020404" pitchFamily="49" charset="0"/>
              </a:rPr>
              <a:t>C</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lient</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26" name="文本框 25">
            <a:extLst>
              <a:ext uri="{FF2B5EF4-FFF2-40B4-BE49-F238E27FC236}">
                <a16:creationId xmlns:a16="http://schemas.microsoft.com/office/drawing/2014/main" id="{2FA47CD2-8807-CEF9-6524-74B872B5CBD6}"/>
              </a:ext>
            </a:extLst>
          </p:cNvPr>
          <p:cNvSpPr txBox="1"/>
          <p:nvPr/>
        </p:nvSpPr>
        <p:spPr>
          <a:xfrm>
            <a:off x="5365498" y="630697"/>
            <a:ext cx="670376" cy="276999"/>
          </a:xfrm>
          <a:prstGeom prst="rect">
            <a:avLst/>
          </a:prstGeom>
          <a:noFill/>
        </p:spPr>
        <p:txBody>
          <a:bodyPr wrap="none" rtlCol="0">
            <a:spAutoFit/>
          </a:bodyPr>
          <a:lstStyle/>
          <a:p>
            <a:pPr algn="l"/>
            <a:r>
              <a:rPr lang="en-US" altLang="zh-CN" sz="1200" dirty="0">
                <a:solidFill>
                  <a:srgbClr val="FF0000"/>
                </a:solidFill>
                <a:latin typeface="Montserrat" panose="00000500000000000000" pitchFamily="2" charset="0"/>
                <a:ea typeface="微软雅黑 Light" panose="020B0502040204020203" pitchFamily="34" charset="-122"/>
                <a:cs typeface="Courier New" panose="02070309020205020404" pitchFamily="49" charset="0"/>
              </a:rPr>
              <a:t>S</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erver</a:t>
            </a:r>
            <a:endParaRPr lang="zh-CN" altLang="en-US" sz="1200" dirty="0">
              <a:latin typeface="Montserrat" panose="00000500000000000000" pitchFamily="2" charset="0"/>
              <a:ea typeface="微软雅黑 Light" panose="020B0502040204020203" pitchFamily="34" charset="-122"/>
              <a:cs typeface="Courier New" panose="02070309020205020404" pitchFamily="49" charset="0"/>
            </a:endParaRPr>
          </a:p>
        </p:txBody>
      </p:sp>
      <p:sp>
        <p:nvSpPr>
          <p:cNvPr id="14" name="文本框 13">
            <a:extLst>
              <a:ext uri="{FF2B5EF4-FFF2-40B4-BE49-F238E27FC236}">
                <a16:creationId xmlns:a16="http://schemas.microsoft.com/office/drawing/2014/main" id="{31A98A1D-E483-21BF-837D-A8D5E671CBCC}"/>
              </a:ext>
            </a:extLst>
          </p:cNvPr>
          <p:cNvSpPr txBox="1"/>
          <p:nvPr/>
        </p:nvSpPr>
        <p:spPr>
          <a:xfrm rot="540000">
            <a:off x="3956627" y="1254072"/>
            <a:ext cx="1295547" cy="276999"/>
          </a:xfrm>
          <a:prstGeom prst="rect">
            <a:avLst/>
          </a:prstGeom>
          <a:noFill/>
        </p:spPr>
        <p:txBody>
          <a:bodyPr wrap="none" rtlCol="0">
            <a:spAutoFit/>
          </a:bodyPr>
          <a:lstStyle/>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FIN = 1 seq = u</a:t>
            </a:r>
          </a:p>
        </p:txBody>
      </p:sp>
      <p:sp>
        <p:nvSpPr>
          <p:cNvPr id="15" name="文本框 14">
            <a:extLst>
              <a:ext uri="{FF2B5EF4-FFF2-40B4-BE49-F238E27FC236}">
                <a16:creationId xmlns:a16="http://schemas.microsoft.com/office/drawing/2014/main" id="{50683C56-D6B5-28DE-EF64-659B03076EBF}"/>
              </a:ext>
            </a:extLst>
          </p:cNvPr>
          <p:cNvSpPr txBox="1"/>
          <p:nvPr/>
        </p:nvSpPr>
        <p:spPr>
          <a:xfrm rot="21120000">
            <a:off x="3870868" y="1756930"/>
            <a:ext cx="1467068" cy="461665"/>
          </a:xfrm>
          <a:prstGeom prst="rect">
            <a:avLst/>
          </a:prstGeom>
          <a:noFill/>
        </p:spPr>
        <p:txBody>
          <a:bodyPr wrap="none" rtlCol="0">
            <a:spAutoFit/>
          </a:bodyPr>
          <a:lstStyle/>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ACK = 1 ack = u+1</a:t>
            </a:r>
          </a:p>
          <a:p>
            <a:pPr algn="ct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seq = v</a:t>
            </a:r>
          </a:p>
        </p:txBody>
      </p:sp>
      <p:sp>
        <p:nvSpPr>
          <p:cNvPr id="16" name="文本框 15">
            <a:extLst>
              <a:ext uri="{FF2B5EF4-FFF2-40B4-BE49-F238E27FC236}">
                <a16:creationId xmlns:a16="http://schemas.microsoft.com/office/drawing/2014/main" id="{057F6AC0-A91C-D0FE-125C-8414C43D71F7}"/>
              </a:ext>
            </a:extLst>
          </p:cNvPr>
          <p:cNvSpPr txBox="1"/>
          <p:nvPr/>
        </p:nvSpPr>
        <p:spPr>
          <a:xfrm rot="525163">
            <a:off x="3855639" y="3177087"/>
            <a:ext cx="1497526" cy="461665"/>
          </a:xfrm>
          <a:prstGeom prst="rect">
            <a:avLst/>
          </a:prstGeom>
          <a:noFill/>
        </p:spPr>
        <p:txBody>
          <a:bodyPr wrap="none" rtlCol="0">
            <a:spAutoFit/>
          </a:bodyPr>
          <a:lstStyle/>
          <a:p>
            <a:pPr algn="ct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ACK</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1 ack</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w+1</a:t>
            </a:r>
            <a:endParaRPr lang="en-US" altLang="zh-CN" sz="1200" dirty="0">
              <a:latin typeface="Montserrat" panose="00000500000000000000" pitchFamily="2" charset="0"/>
              <a:ea typeface="微软雅黑 Light" panose="020B0502040204020203" pitchFamily="34" charset="-122"/>
              <a:cs typeface="Courier New" panose="02070309020205020404" pitchFamily="49" charset="0"/>
            </a:endParaRPr>
          </a:p>
          <a:p>
            <a:pPr algn="ct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seq</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u+1</a:t>
            </a:r>
          </a:p>
        </p:txBody>
      </p:sp>
      <p:sp>
        <p:nvSpPr>
          <p:cNvPr id="27" name="文本框 26">
            <a:extLst>
              <a:ext uri="{FF2B5EF4-FFF2-40B4-BE49-F238E27FC236}">
                <a16:creationId xmlns:a16="http://schemas.microsoft.com/office/drawing/2014/main" id="{3363F0B2-383E-264A-6F52-190739009C25}"/>
              </a:ext>
            </a:extLst>
          </p:cNvPr>
          <p:cNvSpPr txBox="1"/>
          <p:nvPr/>
        </p:nvSpPr>
        <p:spPr>
          <a:xfrm rot="21120000">
            <a:off x="3850832" y="2652541"/>
            <a:ext cx="1507143" cy="461665"/>
          </a:xfrm>
          <a:prstGeom prst="rect">
            <a:avLst/>
          </a:prstGeom>
          <a:noFill/>
        </p:spPr>
        <p:txBody>
          <a:bodyPr wrap="none" rtlCol="0">
            <a:spAutoFit/>
          </a:bodyPr>
          <a:lstStyle/>
          <a:p>
            <a:pPr algn="ct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ACK</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1 ack</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u+1</a:t>
            </a:r>
            <a:endParaRPr lang="en-US" altLang="zh-CN" sz="1200" dirty="0">
              <a:latin typeface="Montserrat" panose="00000500000000000000" pitchFamily="2" charset="0"/>
              <a:ea typeface="微软雅黑 Light" panose="020B0502040204020203" pitchFamily="34" charset="-122"/>
              <a:cs typeface="Courier New" panose="02070309020205020404" pitchFamily="49" charset="0"/>
            </a:endParaRPr>
          </a:p>
          <a:p>
            <a:pPr algn="ct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FIN</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1 seq</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a:t>
            </a:r>
            <a:r>
              <a:rPr lang="en-US" altLang="zh-CN" sz="1200" dirty="0">
                <a:latin typeface="Montserrat" panose="00000500000000000000" pitchFamily="2" charset="0"/>
                <a:ea typeface="微软雅黑 Light" panose="020B0502040204020203" pitchFamily="34" charset="-122"/>
                <a:cs typeface="Courier New" panose="02070309020205020404" pitchFamily="49" charset="0"/>
              </a:rPr>
              <a:t> </a:t>
            </a:r>
            <a:r>
              <a:rPr lang="pl-PL" altLang="zh-CN" sz="1200" dirty="0">
                <a:latin typeface="Montserrat" panose="00000500000000000000" pitchFamily="2" charset="0"/>
                <a:ea typeface="微软雅黑 Light" panose="020B0502040204020203" pitchFamily="34" charset="-122"/>
                <a:cs typeface="Courier New" panose="02070309020205020404" pitchFamily="49" charset="0"/>
              </a:rPr>
              <a:t>w</a:t>
            </a:r>
          </a:p>
        </p:txBody>
      </p:sp>
      <p:sp>
        <p:nvSpPr>
          <p:cNvPr id="30" name="矩形 29">
            <a:extLst>
              <a:ext uri="{FF2B5EF4-FFF2-40B4-BE49-F238E27FC236}">
                <a16:creationId xmlns:a16="http://schemas.microsoft.com/office/drawing/2014/main" id="{75CA5390-80EA-581F-6D40-4B6F0B129469}"/>
              </a:ext>
            </a:extLst>
          </p:cNvPr>
          <p:cNvSpPr/>
          <p:nvPr/>
        </p:nvSpPr>
        <p:spPr>
          <a:xfrm>
            <a:off x="6182125" y="3619271"/>
            <a:ext cx="1296000" cy="64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CLOSED</a:t>
            </a:r>
          </a:p>
        </p:txBody>
      </p:sp>
      <p:sp>
        <p:nvSpPr>
          <p:cNvPr id="32" name="矩形 31">
            <a:extLst>
              <a:ext uri="{FF2B5EF4-FFF2-40B4-BE49-F238E27FC236}">
                <a16:creationId xmlns:a16="http://schemas.microsoft.com/office/drawing/2014/main" id="{D54E7638-FF7C-ED85-4FAD-ECD462515673}"/>
              </a:ext>
            </a:extLst>
          </p:cNvPr>
          <p:cNvSpPr/>
          <p:nvPr/>
        </p:nvSpPr>
        <p:spPr>
          <a:xfrm>
            <a:off x="1730675" y="2276030"/>
            <a:ext cx="1296000" cy="864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FIN-WAIT2</a:t>
            </a:r>
          </a:p>
        </p:txBody>
      </p:sp>
      <p:sp>
        <p:nvSpPr>
          <p:cNvPr id="33" name="矩形 32">
            <a:extLst>
              <a:ext uri="{FF2B5EF4-FFF2-40B4-BE49-F238E27FC236}">
                <a16:creationId xmlns:a16="http://schemas.microsoft.com/office/drawing/2014/main" id="{AF953AB2-01D7-2107-6A17-439341E400AD}"/>
              </a:ext>
            </a:extLst>
          </p:cNvPr>
          <p:cNvSpPr/>
          <p:nvPr/>
        </p:nvSpPr>
        <p:spPr>
          <a:xfrm>
            <a:off x="1723475" y="3189542"/>
            <a:ext cx="1296000" cy="64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TIME-WAIT</a:t>
            </a:r>
          </a:p>
        </p:txBody>
      </p:sp>
      <p:cxnSp>
        <p:nvCxnSpPr>
          <p:cNvPr id="50" name="直接箭头连接符 49">
            <a:extLst>
              <a:ext uri="{FF2B5EF4-FFF2-40B4-BE49-F238E27FC236}">
                <a16:creationId xmlns:a16="http://schemas.microsoft.com/office/drawing/2014/main" id="{25B448BF-6444-2833-67FA-44B89CD0FE4E}"/>
              </a:ext>
            </a:extLst>
          </p:cNvPr>
          <p:cNvCxnSpPr>
            <a:cxnSpLocks/>
          </p:cNvCxnSpPr>
          <p:nvPr/>
        </p:nvCxnSpPr>
        <p:spPr>
          <a:xfrm flipH="1">
            <a:off x="3026675" y="2664542"/>
            <a:ext cx="3155450" cy="447077"/>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8" name="箭头: 下 57">
            <a:extLst>
              <a:ext uri="{FF2B5EF4-FFF2-40B4-BE49-F238E27FC236}">
                <a16:creationId xmlns:a16="http://schemas.microsoft.com/office/drawing/2014/main" id="{E54BC953-6699-9B5D-98F0-FD30BB4ABDD9}"/>
              </a:ext>
            </a:extLst>
          </p:cNvPr>
          <p:cNvSpPr/>
          <p:nvPr/>
        </p:nvSpPr>
        <p:spPr>
          <a:xfrm rot="4920000">
            <a:off x="5046057" y="1954913"/>
            <a:ext cx="252000" cy="694388"/>
          </a:xfrm>
          <a:prstGeom prst="downArrow">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下 58">
            <a:extLst>
              <a:ext uri="{FF2B5EF4-FFF2-40B4-BE49-F238E27FC236}">
                <a16:creationId xmlns:a16="http://schemas.microsoft.com/office/drawing/2014/main" id="{5FF2FF3A-C735-86F2-4696-DE3FA441DDDB}"/>
              </a:ext>
            </a:extLst>
          </p:cNvPr>
          <p:cNvSpPr/>
          <p:nvPr/>
        </p:nvSpPr>
        <p:spPr>
          <a:xfrm rot="4920000">
            <a:off x="3935775" y="2131763"/>
            <a:ext cx="252000" cy="694388"/>
          </a:xfrm>
          <a:prstGeom prst="downArrow">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70BDD34B-53C1-32D8-8A5D-2A27DC04CA2F}"/>
              </a:ext>
            </a:extLst>
          </p:cNvPr>
          <p:cNvSpPr/>
          <p:nvPr/>
        </p:nvSpPr>
        <p:spPr>
          <a:xfrm>
            <a:off x="1723475" y="3887054"/>
            <a:ext cx="1296000" cy="64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r"/>
            <a:r>
              <a:rPr lang="en-US" altLang="zh-CN" sz="1200" dirty="0">
                <a:solidFill>
                  <a:schemeClr val="tx1"/>
                </a:solidFill>
                <a:latin typeface="Montserrat" panose="00000500000000000000" pitchFamily="2" charset="0"/>
                <a:ea typeface="微软雅黑 Light" panose="020B0502040204020203" pitchFamily="34" charset="-122"/>
                <a:cs typeface="Courier New" panose="02070309020205020404" pitchFamily="49" charset="0"/>
              </a:rPr>
              <a:t>CLOSED</a:t>
            </a:r>
          </a:p>
        </p:txBody>
      </p:sp>
      <p:pic>
        <p:nvPicPr>
          <p:cNvPr id="61" name="图形 60" descr="时钟">
            <a:extLst>
              <a:ext uri="{FF2B5EF4-FFF2-40B4-BE49-F238E27FC236}">
                <a16:creationId xmlns:a16="http://schemas.microsoft.com/office/drawing/2014/main" id="{3DD24FFC-95D2-E32B-BDB7-1FCDD1AECE8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23475" y="3333542"/>
            <a:ext cx="360000" cy="360000"/>
          </a:xfrm>
          <a:prstGeom prst="rect">
            <a:avLst/>
          </a:prstGeom>
        </p:spPr>
      </p:pic>
      <p:sp>
        <p:nvSpPr>
          <p:cNvPr id="62" name="文本框 61">
            <a:extLst>
              <a:ext uri="{FF2B5EF4-FFF2-40B4-BE49-F238E27FC236}">
                <a16:creationId xmlns:a16="http://schemas.microsoft.com/office/drawing/2014/main" id="{D4AA236A-B378-88A9-7277-6FDE77CCF8E5}"/>
              </a:ext>
            </a:extLst>
          </p:cNvPr>
          <p:cNvSpPr txBox="1"/>
          <p:nvPr/>
        </p:nvSpPr>
        <p:spPr>
          <a:xfrm>
            <a:off x="1665875" y="3613090"/>
            <a:ext cx="532518" cy="246221"/>
          </a:xfrm>
          <a:prstGeom prst="rect">
            <a:avLst/>
          </a:prstGeom>
          <a:noFill/>
        </p:spPr>
        <p:txBody>
          <a:bodyPr wrap="none" rtlCol="0">
            <a:spAutoFit/>
          </a:bodyPr>
          <a:lstStyle/>
          <a:p>
            <a:pPr algn="l">
              <a:buClr>
                <a:srgbClr val="C00000"/>
              </a:buClr>
            </a:pPr>
            <a:r>
              <a:rPr lang="en-US" altLang="zh-CN" sz="1000" dirty="0">
                <a:latin typeface="Montserrat" panose="00000500000000000000" pitchFamily="2" charset="0"/>
                <a:ea typeface="微软雅黑 Light" panose="020B0502040204020203" pitchFamily="34" charset="-122"/>
                <a:cs typeface="Courier New" panose="02070309020205020404" pitchFamily="49" charset="0"/>
              </a:rPr>
              <a:t>2MSL</a:t>
            </a:r>
            <a:endParaRPr lang="zh-CN" altLang="en-US" sz="1000" dirty="0">
              <a:latin typeface="Montserrat" panose="00000500000000000000" pitchFamily="2" charset="0"/>
              <a:ea typeface="微软雅黑 Light" panose="020B0502040204020203" pitchFamily="34" charset="-122"/>
              <a:cs typeface="Courier New" panose="02070309020205020404" pitchFamily="49" charset="0"/>
            </a:endParaRPr>
          </a:p>
        </p:txBody>
      </p:sp>
    </p:spTree>
    <p:extLst>
      <p:ext uri="{BB962C8B-B14F-4D97-AF65-F5344CB8AC3E}">
        <p14:creationId xmlns:p14="http://schemas.microsoft.com/office/powerpoint/2010/main" val="174979264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FD9ED9C3-89A7-33D2-4C97-29F4DA896F08}"/>
              </a:ext>
            </a:extLst>
          </p:cNvPr>
          <p:cNvSpPr>
            <a:spLocks noGrp="1"/>
          </p:cNvSpPr>
          <p:nvPr>
            <p:ph sz="quarter" idx="11"/>
          </p:nvPr>
        </p:nvSpPr>
        <p:spPr>
          <a:xfrm>
            <a:off x="486000" y="482554"/>
            <a:ext cx="8172000" cy="4120946"/>
          </a:xfrm>
        </p:spPr>
        <p:txBody>
          <a:bodyPr/>
          <a:lstStyle/>
          <a:p>
            <a:r>
              <a:rPr lang="zh-CN" altLang="en-US" dirty="0"/>
              <a:t>第一，保证发送的最后一个 </a:t>
            </a:r>
            <a:r>
              <a:rPr lang="en-US" altLang="zh-CN" dirty="0"/>
              <a:t>ACK </a:t>
            </a:r>
            <a:r>
              <a:rPr lang="zh-CN" altLang="en-US" dirty="0"/>
              <a:t>报文段能够到达 </a:t>
            </a:r>
            <a:r>
              <a:rPr lang="en-US" altLang="zh-CN" dirty="0"/>
              <a:t>B</a:t>
            </a:r>
            <a:r>
              <a:rPr lang="zh-CN" altLang="en-US" dirty="0"/>
              <a:t>。</a:t>
            </a:r>
          </a:p>
          <a:p>
            <a:r>
              <a:rPr lang="zh-CN" altLang="en-US" dirty="0"/>
              <a:t>第二，防止“已失效的连接请求报文段”出现在本连接中。</a:t>
            </a:r>
          </a:p>
          <a:p>
            <a:endParaRPr lang="zh-CN" altLang="en-US" dirty="0"/>
          </a:p>
        </p:txBody>
      </p:sp>
      <p:sp>
        <p:nvSpPr>
          <p:cNvPr id="8" name="标题 7">
            <a:extLst>
              <a:ext uri="{FF2B5EF4-FFF2-40B4-BE49-F238E27FC236}">
                <a16:creationId xmlns:a16="http://schemas.microsoft.com/office/drawing/2014/main" id="{882F8E5F-DE22-6205-7994-D3C30FC828B8}"/>
              </a:ext>
            </a:extLst>
          </p:cNvPr>
          <p:cNvSpPr>
            <a:spLocks noGrp="1"/>
          </p:cNvSpPr>
          <p:nvPr>
            <p:ph type="title"/>
          </p:nvPr>
        </p:nvSpPr>
        <p:spPr>
          <a:xfrm>
            <a:off x="2808000" y="144000"/>
            <a:ext cx="3528000" cy="338554"/>
          </a:xfrm>
        </p:spPr>
        <p:txBody>
          <a:bodyPr/>
          <a:lstStyle/>
          <a:p>
            <a:r>
              <a:rPr lang="zh-CN" altLang="en-US" dirty="0"/>
              <a:t>必须等待 </a:t>
            </a:r>
            <a:r>
              <a:rPr lang="en-US" altLang="zh-CN" dirty="0"/>
              <a:t>2MSL </a:t>
            </a:r>
            <a:r>
              <a:rPr lang="zh-CN" altLang="en-US" dirty="0"/>
              <a:t>的时间</a:t>
            </a:r>
          </a:p>
        </p:txBody>
      </p:sp>
    </p:spTree>
    <p:extLst>
      <p:ext uri="{BB962C8B-B14F-4D97-AF65-F5344CB8AC3E}">
        <p14:creationId xmlns:p14="http://schemas.microsoft.com/office/powerpoint/2010/main" val="2397196477"/>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内容占位符 8">
            <a:extLst>
              <a:ext uri="{FF2B5EF4-FFF2-40B4-BE49-F238E27FC236}">
                <a16:creationId xmlns:a16="http://schemas.microsoft.com/office/drawing/2014/main" id="{D085E651-8EAE-F5DF-EEA7-0FDFAEA61A78}"/>
              </a:ext>
            </a:extLst>
          </p:cNvPr>
          <p:cNvSpPr>
            <a:spLocks noGrp="1"/>
          </p:cNvSpPr>
          <p:nvPr>
            <p:ph sz="quarter" idx="11"/>
          </p:nvPr>
        </p:nvSpPr>
        <p:spPr>
          <a:xfrm>
            <a:off x="486000" y="482554"/>
            <a:ext cx="8172000" cy="4120946"/>
          </a:xfrm>
        </p:spPr>
        <p:txBody>
          <a:bodyPr/>
          <a:lstStyle/>
          <a:p>
            <a:r>
              <a:rPr lang="zh-CN" altLang="en-US"/>
              <a:t>用来防止在 </a:t>
            </a:r>
            <a:r>
              <a:rPr lang="en-US" altLang="zh-CN"/>
              <a:t>TCP </a:t>
            </a:r>
            <a:r>
              <a:rPr lang="zh-CN" altLang="en-US"/>
              <a:t>连接出现长时期空闲。</a:t>
            </a:r>
            <a:endParaRPr lang="en-US" altLang="zh-CN"/>
          </a:p>
          <a:p>
            <a:r>
              <a:rPr lang="zh-CN" altLang="en-US"/>
              <a:t>通常设置为 </a:t>
            </a:r>
            <a:r>
              <a:rPr lang="en-US" altLang="zh-CN"/>
              <a:t>2 </a:t>
            </a:r>
            <a:r>
              <a:rPr lang="zh-CN" altLang="en-US"/>
              <a:t>小时 。</a:t>
            </a:r>
            <a:endParaRPr lang="en-US" altLang="zh-CN"/>
          </a:p>
          <a:p>
            <a:r>
              <a:rPr lang="zh-CN" altLang="en-US"/>
              <a:t>若服务器过了 </a:t>
            </a:r>
            <a:r>
              <a:rPr lang="en-US" altLang="zh-CN"/>
              <a:t>2 </a:t>
            </a:r>
            <a:r>
              <a:rPr lang="zh-CN" altLang="en-US"/>
              <a:t>小时还没有收到客户的信息，它就发送探测报文段。</a:t>
            </a:r>
            <a:endParaRPr lang="en-US" altLang="zh-CN"/>
          </a:p>
          <a:p>
            <a:r>
              <a:rPr lang="zh-CN" altLang="en-US"/>
              <a:t>若发送了 </a:t>
            </a:r>
            <a:r>
              <a:rPr lang="en-US" altLang="zh-CN"/>
              <a:t>10 </a:t>
            </a:r>
            <a:r>
              <a:rPr lang="zh-CN" altLang="en-US"/>
              <a:t>个探测报文段（每一个相隔 </a:t>
            </a:r>
            <a:r>
              <a:rPr lang="en-US" altLang="zh-CN"/>
              <a:t>75 </a:t>
            </a:r>
            <a:r>
              <a:rPr lang="zh-CN" altLang="en-US"/>
              <a:t>秒）还没有响应，就假定客户出了故障，因而就终止该连接。 </a:t>
            </a:r>
          </a:p>
          <a:p>
            <a:endParaRPr lang="zh-CN" altLang="en-US" dirty="0"/>
          </a:p>
        </p:txBody>
      </p:sp>
      <p:sp>
        <p:nvSpPr>
          <p:cNvPr id="8" name="标题 7">
            <a:extLst>
              <a:ext uri="{FF2B5EF4-FFF2-40B4-BE49-F238E27FC236}">
                <a16:creationId xmlns:a16="http://schemas.microsoft.com/office/drawing/2014/main" id="{C07A89BE-C89D-08F0-450B-AD1DBC309F0C}"/>
              </a:ext>
            </a:extLst>
          </p:cNvPr>
          <p:cNvSpPr>
            <a:spLocks noGrp="1"/>
          </p:cNvSpPr>
          <p:nvPr>
            <p:ph type="title"/>
          </p:nvPr>
        </p:nvSpPr>
        <p:spPr>
          <a:xfrm>
            <a:off x="2808000" y="144000"/>
            <a:ext cx="3528000" cy="338554"/>
          </a:xfrm>
        </p:spPr>
        <p:txBody>
          <a:bodyPr/>
          <a:lstStyle/>
          <a:p>
            <a:r>
              <a:rPr lang="zh-CN" altLang="en-US"/>
              <a:t>保活计时器</a:t>
            </a:r>
            <a:endParaRPr lang="zh-CN" altLang="en-US" dirty="0"/>
          </a:p>
        </p:txBody>
      </p:sp>
    </p:spTree>
    <p:extLst>
      <p:ext uri="{BB962C8B-B14F-4D97-AF65-F5344CB8AC3E}">
        <p14:creationId xmlns:p14="http://schemas.microsoft.com/office/powerpoint/2010/main" val="1751827671"/>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9" name="组合 68"/>
          <p:cNvGrpSpPr/>
          <p:nvPr/>
        </p:nvGrpSpPr>
        <p:grpSpPr>
          <a:xfrm>
            <a:off x="3392395" y="957988"/>
            <a:ext cx="4263459" cy="3743225"/>
            <a:chOff x="688417" y="-112036"/>
            <a:chExt cx="8078966" cy="7093164"/>
          </a:xfrm>
        </p:grpSpPr>
        <p:sp>
          <p:nvSpPr>
            <p:cNvPr id="6" name="Rectangle 5"/>
            <p:cNvSpPr>
              <a:spLocks noChangeArrowheads="1"/>
            </p:cNvSpPr>
            <p:nvPr/>
          </p:nvSpPr>
          <p:spPr bwMode="auto">
            <a:xfrm>
              <a:off x="688417" y="4458427"/>
              <a:ext cx="4783787" cy="2451016"/>
            </a:xfrm>
            <a:prstGeom prst="rect">
              <a:avLst/>
            </a:prstGeom>
            <a:solidFill>
              <a:srgbClr val="FFFF00"/>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7" name="Rectangle 6"/>
            <p:cNvSpPr>
              <a:spLocks noChangeArrowheads="1"/>
            </p:cNvSpPr>
            <p:nvPr/>
          </p:nvSpPr>
          <p:spPr bwMode="auto">
            <a:xfrm>
              <a:off x="5726732" y="3632200"/>
              <a:ext cx="1575329" cy="2012950"/>
            </a:xfrm>
            <a:prstGeom prst="rect">
              <a:avLst/>
            </a:prstGeom>
            <a:solidFill>
              <a:srgbClr val="FFFF99"/>
            </a:solidFill>
            <a:ln w="9525">
              <a:solidFill>
                <a:schemeClr val="tx1"/>
              </a:solidFill>
              <a:prstDash val="sysDot"/>
              <a:miter lim="800000"/>
              <a:headEnd/>
              <a:tailEnd/>
            </a:ln>
            <a:effectLst/>
          </p:spPr>
          <p:txBody>
            <a:bodyPr wrap="none" anchor="ctr"/>
            <a:lstStyle/>
            <a:p>
              <a:endParaRPr lang="zh-CN" altLang="en-US" sz="800" b="1">
                <a:latin typeface="微软雅黑" pitchFamily="34" charset="-122"/>
                <a:ea typeface="微软雅黑" pitchFamily="34" charset="-122"/>
              </a:endParaRPr>
            </a:p>
          </p:txBody>
        </p:sp>
        <p:sp>
          <p:nvSpPr>
            <p:cNvPr id="8" name="Line 7"/>
            <p:cNvSpPr>
              <a:spLocks noChangeShapeType="1"/>
            </p:cNvSpPr>
            <p:nvPr/>
          </p:nvSpPr>
          <p:spPr bwMode="auto">
            <a:xfrm rot="5400000" flipV="1">
              <a:off x="5303663" y="3291285"/>
              <a:ext cx="0" cy="1186656"/>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9" name="Rectangle 8"/>
            <p:cNvSpPr>
              <a:spLocks noChangeArrowheads="1"/>
            </p:cNvSpPr>
            <p:nvPr/>
          </p:nvSpPr>
          <p:spPr bwMode="auto">
            <a:xfrm>
              <a:off x="3609668" y="236538"/>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CLOSED</a:t>
              </a:r>
            </a:p>
          </p:txBody>
        </p:sp>
        <p:sp>
          <p:nvSpPr>
            <p:cNvPr id="10" name="Rectangle 9"/>
            <p:cNvSpPr>
              <a:spLocks noChangeArrowheads="1"/>
            </p:cNvSpPr>
            <p:nvPr/>
          </p:nvSpPr>
          <p:spPr bwMode="auto">
            <a:xfrm>
              <a:off x="3270870" y="3759201"/>
              <a:ext cx="1439465"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ESTABLISHED</a:t>
              </a:r>
            </a:p>
          </p:txBody>
        </p:sp>
        <p:sp>
          <p:nvSpPr>
            <p:cNvPr id="11" name="Rectangle 10"/>
            <p:cNvSpPr>
              <a:spLocks noChangeArrowheads="1"/>
            </p:cNvSpPr>
            <p:nvPr/>
          </p:nvSpPr>
          <p:spPr bwMode="auto">
            <a:xfrm>
              <a:off x="3609668" y="1243013"/>
              <a:ext cx="846138" cy="252412"/>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LISTEN</a:t>
              </a:r>
            </a:p>
          </p:txBody>
        </p:sp>
        <p:sp>
          <p:nvSpPr>
            <p:cNvPr id="12" name="Rectangle 11"/>
            <p:cNvSpPr>
              <a:spLocks noChangeArrowheads="1"/>
            </p:cNvSpPr>
            <p:nvPr/>
          </p:nvSpPr>
          <p:spPr bwMode="auto">
            <a:xfrm>
              <a:off x="5853996" y="3759201"/>
              <a:ext cx="135519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CLOSE_WAIT</a:t>
              </a:r>
            </a:p>
          </p:txBody>
        </p:sp>
        <p:sp>
          <p:nvSpPr>
            <p:cNvPr id="13" name="Rectangle 12"/>
            <p:cNvSpPr>
              <a:spLocks noChangeArrowheads="1"/>
            </p:cNvSpPr>
            <p:nvPr/>
          </p:nvSpPr>
          <p:spPr bwMode="auto">
            <a:xfrm>
              <a:off x="983547" y="48910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FIN_WAIT_1</a:t>
              </a:r>
            </a:p>
          </p:txBody>
        </p:sp>
        <p:sp>
          <p:nvSpPr>
            <p:cNvPr id="14" name="Rectangle 13"/>
            <p:cNvSpPr>
              <a:spLocks noChangeArrowheads="1"/>
            </p:cNvSpPr>
            <p:nvPr/>
          </p:nvSpPr>
          <p:spPr bwMode="auto">
            <a:xfrm>
              <a:off x="983547" y="2312989"/>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dirty="0">
                  <a:latin typeface="微软雅黑" pitchFamily="34" charset="-122"/>
                  <a:ea typeface="微软雅黑" pitchFamily="34" charset="-122"/>
                </a:rPr>
                <a:t>SYN_RCVD</a:t>
              </a:r>
            </a:p>
          </p:txBody>
        </p:sp>
        <p:sp>
          <p:nvSpPr>
            <p:cNvPr id="15" name="Rectangle 14"/>
            <p:cNvSpPr>
              <a:spLocks noChangeArrowheads="1"/>
            </p:cNvSpPr>
            <p:nvPr/>
          </p:nvSpPr>
          <p:spPr bwMode="auto">
            <a:xfrm>
              <a:off x="983547" y="6337301"/>
              <a:ext cx="118493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FIN_WAIT_2</a:t>
              </a:r>
            </a:p>
          </p:txBody>
        </p:sp>
        <p:sp>
          <p:nvSpPr>
            <p:cNvPr id="16" name="Rectangle 15"/>
            <p:cNvSpPr>
              <a:spLocks noChangeArrowheads="1"/>
            </p:cNvSpPr>
            <p:nvPr/>
          </p:nvSpPr>
          <p:spPr bwMode="auto">
            <a:xfrm>
              <a:off x="3566674" y="4891089"/>
              <a:ext cx="93212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CLOSING</a:t>
              </a:r>
            </a:p>
          </p:txBody>
        </p:sp>
        <p:sp>
          <p:nvSpPr>
            <p:cNvPr id="17" name="Rectangle 16"/>
            <p:cNvSpPr>
              <a:spLocks noChangeArrowheads="1"/>
            </p:cNvSpPr>
            <p:nvPr/>
          </p:nvSpPr>
          <p:spPr bwMode="auto">
            <a:xfrm>
              <a:off x="3439410" y="6337301"/>
              <a:ext cx="1186656"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TIME_WAIT</a:t>
              </a:r>
            </a:p>
          </p:txBody>
        </p:sp>
        <p:sp>
          <p:nvSpPr>
            <p:cNvPr id="18" name="Rectangle 17"/>
            <p:cNvSpPr>
              <a:spLocks noChangeArrowheads="1"/>
            </p:cNvSpPr>
            <p:nvPr/>
          </p:nvSpPr>
          <p:spPr bwMode="auto">
            <a:xfrm>
              <a:off x="5981261" y="2312989"/>
              <a:ext cx="1100667" cy="250825"/>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SYN_SENT</a:t>
              </a:r>
            </a:p>
          </p:txBody>
        </p:sp>
        <p:sp>
          <p:nvSpPr>
            <p:cNvPr id="19" name="Rectangle 18"/>
            <p:cNvSpPr>
              <a:spLocks noChangeArrowheads="1"/>
            </p:cNvSpPr>
            <p:nvPr/>
          </p:nvSpPr>
          <p:spPr bwMode="auto">
            <a:xfrm>
              <a:off x="5938266" y="5267326"/>
              <a:ext cx="1186656" cy="252413"/>
            </a:xfrm>
            <a:prstGeom prst="rect">
              <a:avLst/>
            </a:prstGeom>
            <a:solidFill>
              <a:srgbClr val="66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800" b="1">
                  <a:latin typeface="微软雅黑" pitchFamily="34" charset="-122"/>
                  <a:ea typeface="微软雅黑" pitchFamily="34" charset="-122"/>
                </a:rPr>
                <a:t>LAST_ACK</a:t>
              </a:r>
            </a:p>
          </p:txBody>
        </p:sp>
        <p:sp>
          <p:nvSpPr>
            <p:cNvPr id="20" name="Line 19"/>
            <p:cNvSpPr>
              <a:spLocks noChangeShapeType="1"/>
            </p:cNvSpPr>
            <p:nvPr/>
          </p:nvSpPr>
          <p:spPr bwMode="auto">
            <a:xfrm>
              <a:off x="4287266" y="488950"/>
              <a:ext cx="2244329" cy="1824038"/>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1" name="Line 20"/>
            <p:cNvSpPr>
              <a:spLocks noChangeShapeType="1"/>
            </p:cNvSpPr>
            <p:nvPr/>
          </p:nvSpPr>
          <p:spPr bwMode="auto">
            <a:xfrm flipH="1">
              <a:off x="4371536" y="2563814"/>
              <a:ext cx="173699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2" name="Line 21"/>
            <p:cNvSpPr>
              <a:spLocks noChangeShapeType="1"/>
            </p:cNvSpPr>
            <p:nvPr/>
          </p:nvSpPr>
          <p:spPr bwMode="auto">
            <a:xfrm flipH="1">
              <a:off x="1915674" y="4010026"/>
              <a:ext cx="1693994" cy="881063"/>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3" name="Line 22"/>
            <p:cNvSpPr>
              <a:spLocks noChangeShapeType="1"/>
            </p:cNvSpPr>
            <p:nvPr/>
          </p:nvSpPr>
          <p:spPr bwMode="auto">
            <a:xfrm flipH="1">
              <a:off x="1554517" y="5141914"/>
              <a:ext cx="0" cy="1195387"/>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4" name="Line 23"/>
            <p:cNvSpPr>
              <a:spLocks noChangeShapeType="1"/>
            </p:cNvSpPr>
            <p:nvPr/>
          </p:nvSpPr>
          <p:spPr bwMode="auto">
            <a:xfrm>
              <a:off x="2166763" y="6462713"/>
              <a:ext cx="1277805" cy="0"/>
            </a:xfrm>
            <a:prstGeom prst="line">
              <a:avLst/>
            </a:prstGeom>
            <a:noFill/>
            <a:ln w="28575">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5" name="Line 24"/>
            <p:cNvSpPr>
              <a:spLocks noChangeShapeType="1"/>
            </p:cNvSpPr>
            <p:nvPr/>
          </p:nvSpPr>
          <p:spPr bwMode="auto">
            <a:xfrm>
              <a:off x="3857318" y="498475"/>
              <a:ext cx="6879" cy="7366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6" name="Line 25"/>
            <p:cNvSpPr>
              <a:spLocks noChangeShapeType="1"/>
            </p:cNvSpPr>
            <p:nvPr/>
          </p:nvSpPr>
          <p:spPr bwMode="auto">
            <a:xfrm flipH="1">
              <a:off x="1363619" y="1263992"/>
              <a:ext cx="2246048" cy="1006475"/>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7" name="Line 26"/>
            <p:cNvSpPr>
              <a:spLocks noChangeShapeType="1"/>
            </p:cNvSpPr>
            <p:nvPr/>
          </p:nvSpPr>
          <p:spPr bwMode="auto">
            <a:xfrm>
              <a:off x="1829684" y="2563814"/>
              <a:ext cx="1864254" cy="1195387"/>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8" name="Line 27"/>
            <p:cNvSpPr>
              <a:spLocks noChangeShapeType="1"/>
            </p:cNvSpPr>
            <p:nvPr/>
          </p:nvSpPr>
          <p:spPr bwMode="auto">
            <a:xfrm>
              <a:off x="6658859" y="4010025"/>
              <a:ext cx="0" cy="125730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29" name="Freeform 28"/>
            <p:cNvSpPr>
              <a:spLocks/>
            </p:cNvSpPr>
            <p:nvPr/>
          </p:nvSpPr>
          <p:spPr bwMode="auto">
            <a:xfrm>
              <a:off x="7133521" y="5386388"/>
              <a:ext cx="1203854" cy="6350"/>
            </a:xfrm>
            <a:custGeom>
              <a:avLst/>
              <a:gdLst>
                <a:gd name="T0" fmla="*/ 0 w 682"/>
                <a:gd name="T1" fmla="*/ 5 h 5"/>
                <a:gd name="T2" fmla="*/ 682 w 682"/>
                <a:gd name="T3" fmla="*/ 0 h 5"/>
              </a:gdLst>
              <a:ahLst/>
              <a:cxnLst>
                <a:cxn ang="0">
                  <a:pos x="T0" y="T1"/>
                </a:cxn>
                <a:cxn ang="0">
                  <a:pos x="T2" y="T3"/>
                </a:cxn>
              </a:cxnLst>
              <a:rect l="0" t="0" r="r" b="b"/>
              <a:pathLst>
                <a:path w="682" h="5">
                  <a:moveTo>
                    <a:pt x="0" y="5"/>
                  </a:moveTo>
                  <a:lnTo>
                    <a:pt x="682" y="0"/>
                  </a:lnTo>
                </a:path>
              </a:pathLst>
            </a:custGeom>
            <a:noFill/>
            <a:ln w="38100" cmpd="sng">
              <a:solidFill>
                <a:srgbClr val="CC00CC"/>
              </a:solidFill>
              <a:prstDash val="sysDot"/>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0" name="Line 29"/>
            <p:cNvSpPr>
              <a:spLocks noChangeShapeType="1"/>
            </p:cNvSpPr>
            <p:nvPr/>
          </p:nvSpPr>
          <p:spPr bwMode="auto">
            <a:xfrm>
              <a:off x="1554517" y="2563814"/>
              <a:ext cx="0" cy="232727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1" name="Line 30"/>
            <p:cNvSpPr>
              <a:spLocks noChangeShapeType="1"/>
            </p:cNvSpPr>
            <p:nvPr/>
          </p:nvSpPr>
          <p:spPr bwMode="auto">
            <a:xfrm>
              <a:off x="4032737" y="5141914"/>
              <a:ext cx="0"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2" name="Line 31"/>
            <p:cNvSpPr>
              <a:spLocks noChangeShapeType="1"/>
            </p:cNvSpPr>
            <p:nvPr/>
          </p:nvSpPr>
          <p:spPr bwMode="auto">
            <a:xfrm rot="-5400000">
              <a:off x="2864205" y="4319192"/>
              <a:ext cx="1587" cy="139303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3" name="Line 33"/>
            <p:cNvSpPr>
              <a:spLocks noChangeShapeType="1"/>
            </p:cNvSpPr>
            <p:nvPr/>
          </p:nvSpPr>
          <p:spPr bwMode="auto">
            <a:xfrm rot="5400000" flipH="1">
              <a:off x="4070572" y="529300"/>
              <a:ext cx="0" cy="382137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4" name="Line 34"/>
            <p:cNvSpPr>
              <a:spLocks noChangeShapeType="1"/>
            </p:cNvSpPr>
            <p:nvPr/>
          </p:nvSpPr>
          <p:spPr bwMode="auto">
            <a:xfrm rot="-5400000">
              <a:off x="2184357" y="882915"/>
              <a:ext cx="876300" cy="1974321"/>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5" name="Line 35"/>
            <p:cNvSpPr>
              <a:spLocks noChangeShapeType="1"/>
            </p:cNvSpPr>
            <p:nvPr/>
          </p:nvSpPr>
          <p:spPr bwMode="auto">
            <a:xfrm>
              <a:off x="1915674" y="5141914"/>
              <a:ext cx="1693994" cy="1195387"/>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6" name="Freeform 36"/>
            <p:cNvSpPr>
              <a:spLocks/>
            </p:cNvSpPr>
            <p:nvPr/>
          </p:nvSpPr>
          <p:spPr bwMode="auto">
            <a:xfrm>
              <a:off x="4455805" y="1368425"/>
              <a:ext cx="1666479" cy="933450"/>
            </a:xfrm>
            <a:custGeom>
              <a:avLst/>
              <a:gdLst>
                <a:gd name="T0" fmla="*/ 0 w 944"/>
                <a:gd name="T1" fmla="*/ 0 h 712"/>
                <a:gd name="T2" fmla="*/ 944 w 944"/>
                <a:gd name="T3" fmla="*/ 712 h 712"/>
              </a:gdLst>
              <a:ahLst/>
              <a:cxnLst>
                <a:cxn ang="0">
                  <a:pos x="T0" y="T1"/>
                </a:cxn>
                <a:cxn ang="0">
                  <a:pos x="T2" y="T3"/>
                </a:cxn>
              </a:cxnLst>
              <a:rect l="0" t="0" r="r" b="b"/>
              <a:pathLst>
                <a:path w="944" h="712">
                  <a:moveTo>
                    <a:pt x="0" y="0"/>
                  </a:moveTo>
                  <a:lnTo>
                    <a:pt x="944" y="712"/>
                  </a:lnTo>
                </a:path>
              </a:pathLst>
            </a:custGeom>
            <a:noFill/>
            <a:ln w="19050">
              <a:solidFill>
                <a:srgbClr val="FF0000"/>
              </a:solidFill>
              <a:round/>
              <a:headEnd/>
              <a:tailEnd type="triangle" w="sm"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7" name="Text Box 37"/>
            <p:cNvSpPr txBox="1">
              <a:spLocks noChangeArrowheads="1"/>
            </p:cNvSpPr>
            <p:nvPr/>
          </p:nvSpPr>
          <p:spPr bwMode="auto">
            <a:xfrm>
              <a:off x="6043645" y="250113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主动打开</a:t>
              </a:r>
            </a:p>
          </p:txBody>
        </p:sp>
        <p:sp>
          <p:nvSpPr>
            <p:cNvPr id="38" name="Text Box 38"/>
            <p:cNvSpPr txBox="1">
              <a:spLocks noChangeArrowheads="1"/>
            </p:cNvSpPr>
            <p:nvPr/>
          </p:nvSpPr>
          <p:spPr bwMode="auto">
            <a:xfrm>
              <a:off x="3496940" y="1495425"/>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39" name="Text Box 39"/>
            <p:cNvSpPr txBox="1">
              <a:spLocks noChangeArrowheads="1"/>
            </p:cNvSpPr>
            <p:nvPr/>
          </p:nvSpPr>
          <p:spPr bwMode="auto">
            <a:xfrm>
              <a:off x="5981262" y="3302601"/>
              <a:ext cx="1127551" cy="408252"/>
            </a:xfrm>
            <a:prstGeom prst="rect">
              <a:avLst/>
            </a:prstGeom>
            <a:solidFill>
              <a:srgbClr val="FFFF99"/>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被动关闭</a:t>
              </a:r>
            </a:p>
          </p:txBody>
        </p:sp>
        <p:sp>
          <p:nvSpPr>
            <p:cNvPr id="40" name="Text Box 40"/>
            <p:cNvSpPr txBox="1">
              <a:spLocks noChangeArrowheads="1"/>
            </p:cNvSpPr>
            <p:nvPr/>
          </p:nvSpPr>
          <p:spPr bwMode="auto">
            <a:xfrm>
              <a:off x="3676130" y="4119257"/>
              <a:ext cx="1127551" cy="408252"/>
            </a:xfrm>
            <a:prstGeom prst="rect">
              <a:avLst/>
            </a:prstGeom>
            <a:solidFill>
              <a:srgbClr val="FFFF00"/>
            </a:solidFill>
            <a:ln w="9525">
              <a:solidFill>
                <a:schemeClr val="tx1"/>
              </a:solidFill>
              <a:prstDash val="sysDot"/>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主动关闭</a:t>
              </a:r>
            </a:p>
          </p:txBody>
        </p:sp>
        <p:sp>
          <p:nvSpPr>
            <p:cNvPr id="41" name="Text Box 41"/>
            <p:cNvSpPr txBox="1">
              <a:spLocks noChangeArrowheads="1"/>
            </p:cNvSpPr>
            <p:nvPr/>
          </p:nvSpPr>
          <p:spPr bwMode="auto">
            <a:xfrm>
              <a:off x="3682846" y="-112036"/>
              <a:ext cx="738739"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起点</a:t>
              </a:r>
            </a:p>
          </p:txBody>
        </p:sp>
        <p:sp>
          <p:nvSpPr>
            <p:cNvPr id="42" name="Text Box 42"/>
            <p:cNvSpPr txBox="1">
              <a:spLocks noChangeArrowheads="1"/>
            </p:cNvSpPr>
            <p:nvPr/>
          </p:nvSpPr>
          <p:spPr bwMode="auto">
            <a:xfrm>
              <a:off x="2792381" y="488177"/>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solidFill>
                    <a:srgbClr val="C00000"/>
                  </a:solidFill>
                  <a:latin typeface="微软雅黑" pitchFamily="34" charset="-122"/>
                  <a:ea typeface="微软雅黑" pitchFamily="34" charset="-122"/>
                </a:rPr>
                <a:t>被动打开</a:t>
              </a:r>
            </a:p>
          </p:txBody>
        </p:sp>
        <p:sp>
          <p:nvSpPr>
            <p:cNvPr id="43" name="Text Box 43"/>
            <p:cNvSpPr txBox="1">
              <a:spLocks noChangeArrowheads="1"/>
            </p:cNvSpPr>
            <p:nvPr/>
          </p:nvSpPr>
          <p:spPr bwMode="auto">
            <a:xfrm>
              <a:off x="5043973" y="717550"/>
              <a:ext cx="132195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主动打开</a:t>
              </a:r>
            </a:p>
            <a:p>
              <a:r>
                <a:rPr kumimoji="1" lang="zh-CN" altLang="en-US" sz="800" b="1">
                  <a:latin typeface="微软雅黑" pitchFamily="34" charset="-122"/>
                  <a:ea typeface="微软雅黑" pitchFamily="34" charset="-122"/>
                </a:rPr>
                <a:t>  发送 </a:t>
              </a:r>
              <a:r>
                <a:rPr kumimoji="1" lang="en-US" altLang="zh-CN" sz="800" b="1">
                  <a:latin typeface="微软雅黑" pitchFamily="34" charset="-122"/>
                  <a:ea typeface="微软雅黑" pitchFamily="34" charset="-122"/>
                </a:rPr>
                <a:t>SYN</a:t>
              </a:r>
            </a:p>
          </p:txBody>
        </p:sp>
        <p:sp>
          <p:nvSpPr>
            <p:cNvPr id="44" name="Text Box 44"/>
            <p:cNvSpPr txBox="1">
              <a:spLocks noChangeArrowheads="1"/>
            </p:cNvSpPr>
            <p:nvPr/>
          </p:nvSpPr>
          <p:spPr bwMode="auto">
            <a:xfrm>
              <a:off x="3609668" y="2438399"/>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同时打开</a:t>
              </a:r>
            </a:p>
          </p:txBody>
        </p:sp>
        <p:sp>
          <p:nvSpPr>
            <p:cNvPr id="45" name="Text Box 45"/>
            <p:cNvSpPr txBox="1">
              <a:spLocks noChangeArrowheads="1"/>
            </p:cNvSpPr>
            <p:nvPr/>
          </p:nvSpPr>
          <p:spPr bwMode="auto">
            <a:xfrm>
              <a:off x="2793238" y="2104599"/>
              <a:ext cx="2919724"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a:t>
              </a:r>
              <a:r>
                <a:rPr kumimoji="1" lang="zh-CN" altLang="en-US" sz="800" b="1" dirty="0">
                  <a:latin typeface="微软雅黑" pitchFamily="34" charset="-122"/>
                  <a:ea typeface="微软雅黑" pitchFamily="34" charset="-122"/>
                </a:rPr>
                <a:t>，</a:t>
              </a:r>
              <a:r>
                <a:rPr kumimoji="1" lang="en-US" altLang="zh-CN" sz="800" b="1" dirty="0">
                  <a:latin typeface="微软雅黑" pitchFamily="34" charset="-122"/>
                  <a:ea typeface="微软雅黑" pitchFamily="34" charset="-122"/>
                </a:rPr>
                <a:t> ACK</a:t>
              </a:r>
            </a:p>
          </p:txBody>
        </p:sp>
        <p:sp>
          <p:nvSpPr>
            <p:cNvPr id="46" name="Text Box 46"/>
            <p:cNvSpPr txBox="1">
              <a:spLocks noChangeArrowheads="1"/>
            </p:cNvSpPr>
            <p:nvPr/>
          </p:nvSpPr>
          <p:spPr bwMode="auto">
            <a:xfrm>
              <a:off x="2413469" y="267017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47" name="Text Box 47"/>
            <p:cNvSpPr txBox="1">
              <a:spLocks noChangeArrowheads="1"/>
            </p:cNvSpPr>
            <p:nvPr/>
          </p:nvSpPr>
          <p:spPr bwMode="auto">
            <a:xfrm>
              <a:off x="3376289" y="2997959"/>
              <a:ext cx="1321956" cy="758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000" b="1" dirty="0">
                  <a:solidFill>
                    <a:srgbClr val="CC00CC"/>
                  </a:solidFill>
                  <a:latin typeface="微软雅黑" pitchFamily="34" charset="-122"/>
                  <a:ea typeface="微软雅黑" pitchFamily="34" charset="-122"/>
                </a:rPr>
                <a:t>数据传送</a:t>
              </a:r>
            </a:p>
            <a:p>
              <a:pPr algn="ctr"/>
              <a:r>
                <a:rPr kumimoji="1" lang="zh-CN" altLang="en-US" sz="1000" b="1" dirty="0">
                  <a:solidFill>
                    <a:srgbClr val="CC00CC"/>
                  </a:solidFill>
                  <a:latin typeface="微软雅黑" pitchFamily="34" charset="-122"/>
                  <a:ea typeface="微软雅黑" pitchFamily="34" charset="-122"/>
                </a:rPr>
                <a:t>阶段</a:t>
              </a:r>
            </a:p>
          </p:txBody>
        </p:sp>
        <p:sp>
          <p:nvSpPr>
            <p:cNvPr id="48" name="Text Box 48"/>
            <p:cNvSpPr txBox="1">
              <a:spLocks noChangeArrowheads="1"/>
            </p:cNvSpPr>
            <p:nvPr/>
          </p:nvSpPr>
          <p:spPr bwMode="auto">
            <a:xfrm>
              <a:off x="5628242" y="4314826"/>
              <a:ext cx="1133627"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49" name="Text Box 49"/>
            <p:cNvSpPr txBox="1">
              <a:spLocks noChangeArrowheads="1"/>
            </p:cNvSpPr>
            <p:nvPr/>
          </p:nvSpPr>
          <p:spPr bwMode="auto">
            <a:xfrm>
              <a:off x="1963828" y="3816889"/>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0" name="Text Box 50"/>
            <p:cNvSpPr txBox="1">
              <a:spLocks noChangeArrowheads="1"/>
            </p:cNvSpPr>
            <p:nvPr/>
          </p:nvSpPr>
          <p:spPr bwMode="auto">
            <a:xfrm>
              <a:off x="1442579" y="3205761"/>
              <a:ext cx="113362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FIN</a:t>
              </a:r>
            </a:p>
          </p:txBody>
        </p:sp>
        <p:sp>
          <p:nvSpPr>
            <p:cNvPr id="51" name="Text Box 51"/>
            <p:cNvSpPr txBox="1">
              <a:spLocks noChangeArrowheads="1"/>
            </p:cNvSpPr>
            <p:nvPr/>
          </p:nvSpPr>
          <p:spPr bwMode="auto">
            <a:xfrm>
              <a:off x="2591551" y="1787526"/>
              <a:ext cx="1173115"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收到 </a:t>
              </a:r>
              <a:r>
                <a:rPr kumimoji="1" lang="en-US" altLang="zh-CN" sz="800" b="1">
                  <a:latin typeface="微软雅黑" pitchFamily="34" charset="-122"/>
                  <a:ea typeface="微软雅黑" pitchFamily="34" charset="-122"/>
                </a:rPr>
                <a:t>RST</a:t>
              </a:r>
            </a:p>
          </p:txBody>
        </p:sp>
        <p:sp>
          <p:nvSpPr>
            <p:cNvPr id="52" name="Text Box 52"/>
            <p:cNvSpPr txBox="1">
              <a:spLocks noChangeArrowheads="1"/>
            </p:cNvSpPr>
            <p:nvPr/>
          </p:nvSpPr>
          <p:spPr bwMode="auto">
            <a:xfrm>
              <a:off x="1272471" y="1051665"/>
              <a:ext cx="1728992"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SYN, ACK</a:t>
              </a:r>
            </a:p>
          </p:txBody>
        </p:sp>
        <p:sp>
          <p:nvSpPr>
            <p:cNvPr id="53" name="Text Box 53"/>
            <p:cNvSpPr txBox="1">
              <a:spLocks noChangeArrowheads="1"/>
            </p:cNvSpPr>
            <p:nvPr/>
          </p:nvSpPr>
          <p:spPr bwMode="auto">
            <a:xfrm>
              <a:off x="7222951" y="1852331"/>
              <a:ext cx="933146"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关闭</a:t>
              </a:r>
            </a:p>
            <a:p>
              <a:r>
                <a:rPr kumimoji="1" lang="zh-CN" altLang="en-US" sz="800" b="1" dirty="0">
                  <a:latin typeface="微软雅黑" pitchFamily="34" charset="-122"/>
                  <a:ea typeface="微软雅黑" pitchFamily="34" charset="-122"/>
                </a:rPr>
                <a:t>或超时</a:t>
              </a:r>
            </a:p>
          </p:txBody>
        </p:sp>
        <p:sp>
          <p:nvSpPr>
            <p:cNvPr id="54" name="Text Box 54"/>
            <p:cNvSpPr txBox="1">
              <a:spLocks noChangeArrowheads="1"/>
            </p:cNvSpPr>
            <p:nvPr/>
          </p:nvSpPr>
          <p:spPr bwMode="auto">
            <a:xfrm>
              <a:off x="7195592" y="4928280"/>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5" name="Text Box 55"/>
            <p:cNvSpPr txBox="1">
              <a:spLocks noChangeArrowheads="1"/>
            </p:cNvSpPr>
            <p:nvPr/>
          </p:nvSpPr>
          <p:spPr bwMode="auto">
            <a:xfrm>
              <a:off x="5259895" y="2771976"/>
              <a:ext cx="2017563"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SYN, ACK</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6" name="Text Box 56"/>
            <p:cNvSpPr txBox="1">
              <a:spLocks noChangeArrowheads="1"/>
            </p:cNvSpPr>
            <p:nvPr/>
          </p:nvSpPr>
          <p:spPr bwMode="auto">
            <a:xfrm>
              <a:off x="3915017" y="5390442"/>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7" name="Text Box 57"/>
            <p:cNvSpPr txBox="1">
              <a:spLocks noChangeArrowheads="1"/>
            </p:cNvSpPr>
            <p:nvPr/>
          </p:nvSpPr>
          <p:spPr bwMode="auto">
            <a:xfrm>
              <a:off x="1429605" y="5486316"/>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ACK</a:t>
              </a:r>
            </a:p>
          </p:txBody>
        </p:sp>
        <p:sp>
          <p:nvSpPr>
            <p:cNvPr id="58" name="Text Box 58"/>
            <p:cNvSpPr txBox="1">
              <a:spLocks noChangeArrowheads="1"/>
            </p:cNvSpPr>
            <p:nvPr/>
          </p:nvSpPr>
          <p:spPr bwMode="auto">
            <a:xfrm>
              <a:off x="2051233" y="5875535"/>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59" name="Text Box 59"/>
            <p:cNvSpPr txBox="1">
              <a:spLocks noChangeArrowheads="1"/>
            </p:cNvSpPr>
            <p:nvPr/>
          </p:nvSpPr>
          <p:spPr bwMode="auto">
            <a:xfrm>
              <a:off x="2440674" y="5310190"/>
              <a:ext cx="1656089"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 ACK</a:t>
              </a:r>
            </a:p>
            <a:p>
              <a:r>
                <a:rPr kumimoji="1" lang="en-US" altLang="zh-CN" sz="800" b="1" dirty="0">
                  <a:latin typeface="微软雅黑" pitchFamily="34" charset="-122"/>
                  <a:ea typeface="微软雅黑" pitchFamily="34" charset="-122"/>
                </a:rPr>
                <a:t>     </a:t>
              </a:r>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0" name="Text Box 60"/>
            <p:cNvSpPr txBox="1">
              <a:spLocks noChangeArrowheads="1"/>
            </p:cNvSpPr>
            <p:nvPr/>
          </p:nvSpPr>
          <p:spPr bwMode="auto">
            <a:xfrm>
              <a:off x="2410662" y="4443330"/>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1" name="Text Box 61"/>
            <p:cNvSpPr txBox="1">
              <a:spLocks noChangeArrowheads="1"/>
            </p:cNvSpPr>
            <p:nvPr/>
          </p:nvSpPr>
          <p:spPr bwMode="auto">
            <a:xfrm>
              <a:off x="3480846" y="4545696"/>
              <a:ext cx="1127551"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800" b="1" dirty="0">
                  <a:latin typeface="微软雅黑" pitchFamily="34" charset="-122"/>
                  <a:ea typeface="微软雅黑" pitchFamily="34" charset="-122"/>
                </a:rPr>
                <a:t>同时关闭</a:t>
              </a:r>
            </a:p>
          </p:txBody>
        </p:sp>
        <p:sp>
          <p:nvSpPr>
            <p:cNvPr id="62" name="Text Box 62"/>
            <p:cNvSpPr txBox="1">
              <a:spLocks noChangeArrowheads="1"/>
            </p:cNvSpPr>
            <p:nvPr/>
          </p:nvSpPr>
          <p:spPr bwMode="auto">
            <a:xfrm>
              <a:off x="4667812" y="3251257"/>
              <a:ext cx="1206528" cy="64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收到 </a:t>
              </a:r>
              <a:r>
                <a:rPr kumimoji="1" lang="en-US" altLang="zh-CN" sz="800" b="1" dirty="0">
                  <a:latin typeface="微软雅黑" pitchFamily="34" charset="-122"/>
                  <a:ea typeface="微软雅黑" pitchFamily="34" charset="-122"/>
                </a:rPr>
                <a:t>FIN</a:t>
              </a:r>
            </a:p>
            <a:p>
              <a:r>
                <a:rPr kumimoji="1" lang="zh-CN" altLang="en-US" sz="800" b="1" dirty="0">
                  <a:latin typeface="微软雅黑" pitchFamily="34" charset="-122"/>
                  <a:ea typeface="微软雅黑" pitchFamily="34" charset="-122"/>
                </a:rPr>
                <a:t>发送 </a:t>
              </a:r>
              <a:r>
                <a:rPr kumimoji="1" lang="en-US" altLang="zh-CN" sz="800" b="1" dirty="0">
                  <a:latin typeface="微软雅黑" pitchFamily="34" charset="-122"/>
                  <a:ea typeface="微软雅黑" pitchFamily="34" charset="-122"/>
                </a:rPr>
                <a:t>ACK</a:t>
              </a:r>
            </a:p>
          </p:txBody>
        </p:sp>
        <p:sp>
          <p:nvSpPr>
            <p:cNvPr id="63" name="Text Box 63"/>
            <p:cNvSpPr txBox="1">
              <a:spLocks noChangeArrowheads="1"/>
            </p:cNvSpPr>
            <p:nvPr/>
          </p:nvSpPr>
          <p:spPr bwMode="auto">
            <a:xfrm>
              <a:off x="4287266" y="1808163"/>
              <a:ext cx="1206528"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发送 </a:t>
              </a:r>
              <a:r>
                <a:rPr kumimoji="1" lang="en-US" altLang="zh-CN" sz="800" b="1">
                  <a:latin typeface="微软雅黑" pitchFamily="34" charset="-122"/>
                  <a:ea typeface="微软雅黑" pitchFamily="34" charset="-122"/>
                </a:rPr>
                <a:t>SYN</a:t>
              </a:r>
            </a:p>
          </p:txBody>
        </p:sp>
        <p:sp>
          <p:nvSpPr>
            <p:cNvPr id="64" name="Text Box 64"/>
            <p:cNvSpPr txBox="1">
              <a:spLocks noChangeArrowheads="1"/>
            </p:cNvSpPr>
            <p:nvPr/>
          </p:nvSpPr>
          <p:spPr bwMode="auto">
            <a:xfrm>
              <a:off x="3085116" y="6572876"/>
              <a:ext cx="1981112"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dirty="0">
                  <a:latin typeface="微软雅黑" pitchFamily="34" charset="-122"/>
                  <a:ea typeface="微软雅黑" pitchFamily="34" charset="-122"/>
                </a:rPr>
                <a:t>等待 </a:t>
              </a:r>
              <a:r>
                <a:rPr kumimoji="1" lang="en-US" altLang="zh-CN" sz="800" b="1" dirty="0">
                  <a:latin typeface="微软雅黑" pitchFamily="34" charset="-122"/>
                  <a:ea typeface="微软雅黑" pitchFamily="34" charset="-122"/>
                </a:rPr>
                <a:t>2MSL </a:t>
              </a:r>
              <a:r>
                <a:rPr kumimoji="1" lang="zh-CN" altLang="en-US" sz="800" b="1" dirty="0">
                  <a:latin typeface="微软雅黑" pitchFamily="34" charset="-122"/>
                  <a:ea typeface="微软雅黑" pitchFamily="34" charset="-122"/>
                </a:rPr>
                <a:t>时间后</a:t>
              </a:r>
            </a:p>
          </p:txBody>
        </p:sp>
        <p:sp>
          <p:nvSpPr>
            <p:cNvPr id="65" name="Line 65"/>
            <p:cNvSpPr>
              <a:spLocks noChangeShapeType="1"/>
            </p:cNvSpPr>
            <p:nvPr/>
          </p:nvSpPr>
          <p:spPr bwMode="auto">
            <a:xfrm flipV="1">
              <a:off x="4117007" y="488951"/>
              <a:ext cx="0" cy="758825"/>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6" name="Text Box 66"/>
            <p:cNvSpPr txBox="1">
              <a:spLocks noChangeArrowheads="1"/>
            </p:cNvSpPr>
            <p:nvPr/>
          </p:nvSpPr>
          <p:spPr bwMode="auto">
            <a:xfrm>
              <a:off x="4103249" y="846138"/>
              <a:ext cx="738740" cy="408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800" b="1">
                  <a:latin typeface="微软雅黑" pitchFamily="34" charset="-122"/>
                  <a:ea typeface="微软雅黑" pitchFamily="34" charset="-122"/>
                </a:rPr>
                <a:t>关闭</a:t>
              </a:r>
            </a:p>
          </p:txBody>
        </p:sp>
        <p:sp>
          <p:nvSpPr>
            <p:cNvPr id="67" name="Freeform 67"/>
            <p:cNvSpPr>
              <a:spLocks/>
            </p:cNvSpPr>
            <p:nvPr/>
          </p:nvSpPr>
          <p:spPr bwMode="auto">
            <a:xfrm>
              <a:off x="4455804" y="363537"/>
              <a:ext cx="4311579" cy="6094413"/>
            </a:xfrm>
            <a:custGeom>
              <a:avLst/>
              <a:gdLst>
                <a:gd name="T0" fmla="*/ 103 w 2196"/>
                <a:gd name="T1" fmla="*/ 4653 h 4653"/>
                <a:gd name="T2" fmla="*/ 1518 w 2196"/>
                <a:gd name="T3" fmla="*/ 4650 h 4653"/>
                <a:gd name="T4" fmla="*/ 1926 w 2196"/>
                <a:gd name="T5" fmla="*/ 4650 h 4653"/>
                <a:gd name="T6" fmla="*/ 2004 w 2196"/>
                <a:gd name="T7" fmla="*/ 4620 h 4653"/>
                <a:gd name="T8" fmla="*/ 2082 w 2196"/>
                <a:gd name="T9" fmla="*/ 4584 h 4653"/>
                <a:gd name="T10" fmla="*/ 2148 w 2196"/>
                <a:gd name="T11" fmla="*/ 4500 h 4653"/>
                <a:gd name="T12" fmla="*/ 2190 w 2196"/>
                <a:gd name="T13" fmla="*/ 4386 h 4653"/>
                <a:gd name="T14" fmla="*/ 2195 w 2196"/>
                <a:gd name="T15" fmla="*/ 4300 h 4653"/>
                <a:gd name="T16" fmla="*/ 2196 w 2196"/>
                <a:gd name="T17" fmla="*/ 336 h 4653"/>
                <a:gd name="T18" fmla="*/ 2184 w 2196"/>
                <a:gd name="T19" fmla="*/ 210 h 4653"/>
                <a:gd name="T20" fmla="*/ 2154 w 2196"/>
                <a:gd name="T21" fmla="*/ 126 h 4653"/>
                <a:gd name="T22" fmla="*/ 2070 w 2196"/>
                <a:gd name="T23" fmla="*/ 54 h 4653"/>
                <a:gd name="T24" fmla="*/ 1950 w 2196"/>
                <a:gd name="T25" fmla="*/ 6 h 4653"/>
                <a:gd name="T26" fmla="*/ 1806 w 2196"/>
                <a:gd name="T27" fmla="*/ 0 h 4653"/>
                <a:gd name="T28" fmla="*/ 256 w 2196"/>
                <a:gd name="T29" fmla="*/ 0 h 4653"/>
                <a:gd name="T30" fmla="*/ 0 w 2196"/>
                <a:gd name="T31" fmla="*/ 0 h 4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6" h="4653">
                  <a:moveTo>
                    <a:pt x="103" y="4653"/>
                  </a:moveTo>
                  <a:lnTo>
                    <a:pt x="1518" y="4650"/>
                  </a:lnTo>
                  <a:lnTo>
                    <a:pt x="1926" y="4650"/>
                  </a:lnTo>
                  <a:lnTo>
                    <a:pt x="2004" y="4620"/>
                  </a:lnTo>
                  <a:lnTo>
                    <a:pt x="2082" y="4584"/>
                  </a:lnTo>
                  <a:lnTo>
                    <a:pt x="2148" y="4500"/>
                  </a:lnTo>
                  <a:lnTo>
                    <a:pt x="2190" y="4386"/>
                  </a:lnTo>
                  <a:lnTo>
                    <a:pt x="2195" y="4300"/>
                  </a:lnTo>
                  <a:lnTo>
                    <a:pt x="2196" y="336"/>
                  </a:lnTo>
                  <a:lnTo>
                    <a:pt x="2184" y="210"/>
                  </a:lnTo>
                  <a:lnTo>
                    <a:pt x="2154" y="126"/>
                  </a:lnTo>
                  <a:lnTo>
                    <a:pt x="2070" y="54"/>
                  </a:lnTo>
                  <a:lnTo>
                    <a:pt x="1950" y="6"/>
                  </a:lnTo>
                  <a:lnTo>
                    <a:pt x="1806" y="0"/>
                  </a:lnTo>
                  <a:lnTo>
                    <a:pt x="256" y="0"/>
                  </a:lnTo>
                  <a:lnTo>
                    <a:pt x="0" y="0"/>
                  </a:lnTo>
                </a:path>
              </a:pathLst>
            </a:custGeom>
            <a:noFill/>
            <a:ln w="28575" cmpd="sng">
              <a:solidFill>
                <a:srgbClr val="0000FF"/>
              </a:solidFill>
              <a:round/>
              <a:headEnd/>
              <a:tailEnd type="triangle" w="med"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68" name="Line 31"/>
            <p:cNvSpPr>
              <a:spLocks noChangeShapeType="1"/>
            </p:cNvSpPr>
            <p:nvPr/>
          </p:nvSpPr>
          <p:spPr bwMode="auto">
            <a:xfrm rot="-5400000">
              <a:off x="7722729" y="1828911"/>
              <a:ext cx="0" cy="1218976"/>
            </a:xfrm>
            <a:prstGeom prst="line">
              <a:avLst/>
            </a:prstGeom>
            <a:noFill/>
            <a:ln w="19050">
              <a:solidFill>
                <a:srgbClr val="FF0000"/>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grpSp>
      <p:grpSp>
        <p:nvGrpSpPr>
          <p:cNvPr id="82" name="组合 81"/>
          <p:cNvGrpSpPr/>
          <p:nvPr/>
        </p:nvGrpSpPr>
        <p:grpSpPr>
          <a:xfrm>
            <a:off x="772662" y="3327893"/>
            <a:ext cx="2770426" cy="883795"/>
            <a:chOff x="772662" y="3252477"/>
            <a:chExt cx="2770426" cy="883795"/>
          </a:xfrm>
        </p:grpSpPr>
        <p:sp>
          <p:nvSpPr>
            <p:cNvPr id="4" name="矩形 3"/>
            <p:cNvSpPr/>
            <p:nvPr/>
          </p:nvSpPr>
          <p:spPr>
            <a:xfrm>
              <a:off x="1203986" y="3545981"/>
              <a:ext cx="2339102"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对服务器进程的正常变迁。</a:t>
              </a:r>
            </a:p>
          </p:txBody>
        </p:sp>
        <p:grpSp>
          <p:nvGrpSpPr>
            <p:cNvPr id="81" name="组合 80"/>
            <p:cNvGrpSpPr/>
            <p:nvPr/>
          </p:nvGrpSpPr>
          <p:grpSpPr>
            <a:xfrm>
              <a:off x="772662" y="3252477"/>
              <a:ext cx="2543755" cy="883795"/>
              <a:chOff x="819797" y="3252477"/>
              <a:chExt cx="2543755" cy="883795"/>
            </a:xfrm>
          </p:grpSpPr>
          <p:sp>
            <p:nvSpPr>
              <p:cNvPr id="76" name="Line 22"/>
              <p:cNvSpPr>
                <a:spLocks noChangeShapeType="1"/>
              </p:cNvSpPr>
              <p:nvPr/>
            </p:nvSpPr>
            <p:spPr bwMode="auto">
              <a:xfrm>
                <a:off x="819797" y="3415760"/>
                <a:ext cx="437344" cy="0"/>
              </a:xfrm>
              <a:prstGeom prst="line">
                <a:avLst/>
              </a:prstGeom>
              <a:noFill/>
              <a:ln w="381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8" name="Line 22"/>
              <p:cNvSpPr>
                <a:spLocks noChangeShapeType="1"/>
              </p:cNvSpPr>
              <p:nvPr/>
            </p:nvSpPr>
            <p:spPr bwMode="auto">
              <a:xfrm>
                <a:off x="819797" y="3701084"/>
                <a:ext cx="437344" cy="0"/>
              </a:xfrm>
              <a:prstGeom prst="line">
                <a:avLst/>
              </a:prstGeom>
              <a:noFill/>
              <a:ln w="38100">
                <a:solidFill>
                  <a:srgbClr val="CC00CC"/>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79" name="Line 22"/>
              <p:cNvSpPr>
                <a:spLocks noChangeShapeType="1"/>
              </p:cNvSpPr>
              <p:nvPr/>
            </p:nvSpPr>
            <p:spPr bwMode="auto">
              <a:xfrm>
                <a:off x="819797" y="3961322"/>
                <a:ext cx="437344" cy="0"/>
              </a:xfrm>
              <a:prstGeom prst="line">
                <a:avLst/>
              </a:prstGeom>
              <a:noFill/>
              <a:ln w="1905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800" b="1">
                  <a:latin typeface="微软雅黑" pitchFamily="34" charset="-122"/>
                  <a:ea typeface="微软雅黑" pitchFamily="34" charset="-122"/>
                </a:endParaRPr>
              </a:p>
            </p:txBody>
          </p:sp>
          <p:sp>
            <p:nvSpPr>
              <p:cNvPr id="3" name="矩形 2"/>
              <p:cNvSpPr/>
              <p:nvPr/>
            </p:nvSpPr>
            <p:spPr>
              <a:xfrm>
                <a:off x="1203986" y="3252477"/>
                <a:ext cx="2159566"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对客户进程的正常变迁。</a:t>
                </a:r>
              </a:p>
            </p:txBody>
          </p:sp>
          <p:sp>
            <p:nvSpPr>
              <p:cNvPr id="80" name="矩形 79"/>
              <p:cNvSpPr/>
              <p:nvPr/>
            </p:nvSpPr>
            <p:spPr>
              <a:xfrm>
                <a:off x="1203986" y="3828495"/>
                <a:ext cx="1135247" cy="307777"/>
              </a:xfrm>
              <a:prstGeom prst="rect">
                <a:avLst/>
              </a:prstGeom>
            </p:spPr>
            <p:txBody>
              <a:bodyPr wrap="none">
                <a:spAutoFit/>
              </a:bodyPr>
              <a:lstStyle/>
              <a:p>
                <a:r>
                  <a:rPr lang="zh-CN" altLang="en-US" sz="1400" b="1" dirty="0">
                    <a:latin typeface="微软雅黑" panose="020B0503020204020204" pitchFamily="34" charset="-122"/>
                    <a:ea typeface="微软雅黑" panose="020B0503020204020204" pitchFamily="34" charset="-122"/>
                  </a:rPr>
                  <a:t>异常变迁。 </a:t>
                </a:r>
              </a:p>
            </p:txBody>
          </p:sp>
        </p:grpSp>
      </p:grpSp>
      <p:sp>
        <p:nvSpPr>
          <p:cNvPr id="73" name="标题 72">
            <a:extLst>
              <a:ext uri="{FF2B5EF4-FFF2-40B4-BE49-F238E27FC236}">
                <a16:creationId xmlns:a16="http://schemas.microsoft.com/office/drawing/2014/main" id="{EAAD8B8B-BC0C-B76E-DE46-0358639803BA}"/>
              </a:ext>
            </a:extLst>
          </p:cNvPr>
          <p:cNvSpPr>
            <a:spLocks noGrp="1"/>
          </p:cNvSpPr>
          <p:nvPr>
            <p:ph type="title"/>
          </p:nvPr>
        </p:nvSpPr>
        <p:spPr>
          <a:xfrm>
            <a:off x="2808000" y="144000"/>
            <a:ext cx="3528000" cy="338554"/>
          </a:xfrm>
        </p:spPr>
        <p:txBody>
          <a:bodyPr/>
          <a:lstStyle/>
          <a:p>
            <a:r>
              <a:rPr lang="en-US" altLang="zh-CN" dirty="0"/>
              <a:t>5.9.3  TCP </a:t>
            </a:r>
            <a:r>
              <a:rPr lang="zh-CN" altLang="en-US" dirty="0"/>
              <a:t>的有限状态机</a:t>
            </a:r>
          </a:p>
        </p:txBody>
      </p:sp>
    </p:spTree>
    <p:extLst>
      <p:ext uri="{BB962C8B-B14F-4D97-AF65-F5344CB8AC3E}">
        <p14:creationId xmlns:p14="http://schemas.microsoft.com/office/powerpoint/2010/main" val="1613277639"/>
      </p:ext>
    </p:extLst>
  </p:cSld>
  <p:clrMapOvr>
    <a:masterClrMapping/>
  </p:clrMapOvr>
  <mc:AlternateContent xmlns:mc="http://schemas.openxmlformats.org/markup-compatibility/2006" xmlns:p14="http://schemas.microsoft.com/office/powerpoint/2010/main">
    <mc:Choice Requires="p14">
      <p:transition spd="slow" p14:dur="2000" advTm="2000"/>
    </mc:Choice>
    <mc:Fallback xmlns="">
      <p:transition spd="slow" advTm="2000"/>
    </mc:Fallback>
  </mc:AlternateContent>
</p:sld>
</file>

<file path=ppt/theme/theme1.xml><?xml version="1.0" encoding="utf-8"?>
<a:theme xmlns:a="http://schemas.openxmlformats.org/drawingml/2006/main" name="netwo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network" id="{46C81808-7570-4E78-AC57-F45B83BAC375}" vid="{FD5715C9-145D-4F64-B972-3961662C637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network</Template>
  <TotalTime>8429</TotalTime>
  <Words>18057</Words>
  <Application>Microsoft Office PowerPoint</Application>
  <PresentationFormat>全屏显示(16:9)</PresentationFormat>
  <Paragraphs>4314</Paragraphs>
  <Slides>216</Slides>
  <Notes>21</Notes>
  <HiddenSlides>3</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2</vt:i4>
      </vt:variant>
      <vt:variant>
        <vt:lpstr>幻灯片标题</vt:lpstr>
      </vt:variant>
      <vt:variant>
        <vt:i4>216</vt:i4>
      </vt:variant>
    </vt:vector>
  </HeadingPairs>
  <TitlesOfParts>
    <vt:vector size="229" baseType="lpstr">
      <vt:lpstr>Montserrat</vt:lpstr>
      <vt:lpstr>微软雅黑 Light</vt:lpstr>
      <vt:lpstr>Courier New</vt:lpstr>
      <vt:lpstr>微软雅黑</vt:lpstr>
      <vt:lpstr>Calibri</vt:lpstr>
      <vt:lpstr>Wingdings</vt:lpstr>
      <vt:lpstr>宋体</vt:lpstr>
      <vt:lpstr>Arial</vt:lpstr>
      <vt:lpstr>Symbol</vt:lpstr>
      <vt:lpstr>Cambria Math</vt:lpstr>
      <vt:lpstr>network</vt:lpstr>
      <vt:lpstr>Visio</vt:lpstr>
      <vt:lpstr>公式</vt:lpstr>
      <vt:lpstr>PowerPoint 演示文稿</vt:lpstr>
      <vt:lpstr>计算机网络体系结构</vt:lpstr>
      <vt:lpstr>PowerPoint 演示文稿</vt:lpstr>
      <vt:lpstr>PowerPoint 演示文稿</vt:lpstr>
      <vt:lpstr>PowerPoint 演示文稿</vt:lpstr>
      <vt:lpstr>5.1.1   进程之间的通信</vt:lpstr>
      <vt:lpstr>运输层的作用</vt:lpstr>
      <vt:lpstr>屏蔽作用</vt:lpstr>
      <vt:lpstr>可靠信道与不可靠信道</vt:lpstr>
      <vt:lpstr>5.1.2   运输层的两个主要协议</vt:lpstr>
      <vt:lpstr>运输协议数据单元 </vt:lpstr>
      <vt:lpstr>UDP 与 TCP 的区别</vt:lpstr>
      <vt:lpstr>使用 UDP 和 TCP 的典型应用和应用层协议</vt:lpstr>
      <vt:lpstr>5.1.3   运输层的端口</vt:lpstr>
      <vt:lpstr>需要考虑的问题 </vt:lpstr>
      <vt:lpstr>端口号 (protocol port number)</vt:lpstr>
      <vt:lpstr>软件端口与硬件端口</vt:lpstr>
      <vt:lpstr>TCP/IP 运输层端口的标志</vt:lpstr>
      <vt:lpstr>两大类、三种类型的端口</vt:lpstr>
      <vt:lpstr>常用的熟知端口</vt:lpstr>
      <vt:lpstr>PowerPoint 演示文稿</vt:lpstr>
      <vt:lpstr>PowerPoint 演示文稿</vt:lpstr>
      <vt:lpstr>5.2.1  UDP 概述</vt:lpstr>
      <vt:lpstr>UDP 的主要特点</vt:lpstr>
      <vt:lpstr>UDP 是面向报文的</vt:lpstr>
      <vt:lpstr>UDP</vt:lpstr>
      <vt:lpstr>UDP 是面向报文的</vt:lpstr>
      <vt:lpstr>UDP 通信和端口号的关系</vt:lpstr>
      <vt:lpstr>多对一</vt:lpstr>
      <vt:lpstr>UDP 通信和端口号的关系</vt:lpstr>
      <vt:lpstr>一对多</vt:lpstr>
      <vt:lpstr>5.2.2  UDP 的首部格式</vt:lpstr>
      <vt:lpstr>5.2.2  UDP 的首部格式</vt:lpstr>
      <vt:lpstr>UDP 基于端口的分用</vt:lpstr>
      <vt:lpstr>PowerPoint 演示文稿</vt:lpstr>
      <vt:lpstr>计算 UDP 检验和的例子</vt:lpstr>
      <vt:lpstr>PowerPoint 演示文稿</vt:lpstr>
      <vt:lpstr>PowerPoint 演示文稿</vt:lpstr>
      <vt:lpstr>TCP</vt:lpstr>
      <vt:lpstr>MTU vs MSSS</vt:lpstr>
      <vt:lpstr>5.3.1  TCP 最主要的特点</vt:lpstr>
      <vt:lpstr>5.3.1  TCP 最主要的特点</vt:lpstr>
      <vt:lpstr>5.3.1  TCP 最主要的特点</vt:lpstr>
      <vt:lpstr>5.3.1  TCP 最主要的特点</vt:lpstr>
      <vt:lpstr>5.3.1  TCP 最主要的特点</vt:lpstr>
      <vt:lpstr>5.3.2  TCP 的连接</vt:lpstr>
      <vt:lpstr>套接字 (socket)</vt:lpstr>
      <vt:lpstr>TCP 连接，IP 地址，套接字</vt:lpstr>
      <vt:lpstr>Socket 有多种不同的意思</vt:lpstr>
      <vt:lpstr>PowerPoint 演示文稿</vt:lpstr>
      <vt:lpstr>IP 网络提供的是不可靠的传输</vt:lpstr>
      <vt:lpstr>理想传输条件的特点</vt:lpstr>
      <vt:lpstr>5.4.1  停止等待协议</vt:lpstr>
      <vt:lpstr>1. 无差a错情况</vt:lpstr>
      <vt:lpstr>2. 出现差错</vt:lpstr>
      <vt:lpstr>2. 出现差错</vt:lpstr>
      <vt:lpstr>2. 出现差错</vt:lpstr>
      <vt:lpstr>3. 确认丢失和确认迟到</vt:lpstr>
      <vt:lpstr>3. 确认丢失和确认迟到</vt:lpstr>
      <vt:lpstr>确认丢失</vt:lpstr>
      <vt:lpstr>3. 确认丢失和确认迟到</vt:lpstr>
      <vt:lpstr>确认迟到</vt:lpstr>
      <vt:lpstr>4. 信道利用率</vt:lpstr>
      <vt:lpstr>停止等待协议要点</vt:lpstr>
      <vt:lpstr>提高传输效率：流水线传输</vt:lpstr>
      <vt:lpstr>5.4.2   连续 ARQ 协议</vt:lpstr>
      <vt:lpstr>发送窗口</vt:lpstr>
      <vt:lpstr>PowerPoint 演示文稿</vt:lpstr>
      <vt:lpstr>PowerPoint 演示文稿</vt:lpstr>
      <vt:lpstr>累积确认</vt:lpstr>
      <vt:lpstr>累积确认</vt:lpstr>
      <vt:lpstr>5.5  TCP 报文段的首部格式</vt:lpstr>
      <vt:lpstr>5.5  TCP 报文段的首部格式</vt:lpstr>
      <vt:lpstr>PowerPoint 演示文稿</vt:lpstr>
      <vt:lpstr>PowerPoint 演示文稿</vt:lpstr>
      <vt:lpstr>源端口和目的端口</vt:lpstr>
      <vt:lpstr>序号</vt:lpstr>
      <vt:lpstr>PowerPoint 演示文稿</vt:lpstr>
      <vt:lpstr>确认号</vt:lpstr>
      <vt:lpstr>数据偏移</vt:lpstr>
      <vt:lpstr>PowerPoint 演示文稿</vt:lpstr>
      <vt:lpstr>URG</vt:lpstr>
      <vt:lpstr>ACK</vt:lpstr>
      <vt:lpstr>PSH</vt:lpstr>
      <vt:lpstr>RST</vt:lpstr>
      <vt:lpstr>SYN</vt:lpstr>
      <vt:lpstr>FIN</vt:lpstr>
      <vt:lpstr>Window</vt:lpstr>
      <vt:lpstr>校验和</vt:lpstr>
      <vt:lpstr>PowerPoint 演示文稿</vt:lpstr>
      <vt:lpstr>紧急指针</vt:lpstr>
      <vt:lpstr>选项</vt:lpstr>
      <vt:lpstr>填充</vt:lpstr>
      <vt:lpstr>PowerPoint 演示文稿</vt:lpstr>
      <vt:lpstr>选项（2）：最大报文段长度 MSS</vt:lpstr>
      <vt:lpstr>选项（2）：最大报文段长度 MSS</vt:lpstr>
      <vt:lpstr>选项（3）：窗口扩大</vt:lpstr>
      <vt:lpstr>选项（3）：窗口扩大</vt:lpstr>
      <vt:lpstr>选项（8）：时间戳</vt:lpstr>
      <vt:lpstr>PowerPoint 演示文稿</vt:lpstr>
      <vt:lpstr>5.6.1   以字节为单位的滑动窗口</vt:lpstr>
      <vt:lpstr>发送窗口</vt:lpstr>
      <vt:lpstr>发送窗口</vt:lpstr>
      <vt:lpstr>发送窗口</vt:lpstr>
      <vt:lpstr>接收窗口</vt:lpstr>
      <vt:lpstr>窗口的滑动</vt:lpstr>
      <vt:lpstr>窗口的滑动</vt:lpstr>
      <vt:lpstr>窗口的滑动</vt:lpstr>
      <vt:lpstr>窗口的滑动</vt:lpstr>
      <vt:lpstr>窗口的滑动</vt:lpstr>
      <vt:lpstr>窗口的滑动</vt:lpstr>
      <vt:lpstr>窗口的滑动</vt:lpstr>
      <vt:lpstr>窗口的滑动</vt:lpstr>
      <vt:lpstr>接收缓存与接收窗口 </vt:lpstr>
      <vt:lpstr>接收缓存与接收窗口 </vt:lpstr>
      <vt:lpstr>需要强调三点</vt:lpstr>
      <vt:lpstr>5.6.2   超时重传时间的选择</vt:lpstr>
      <vt:lpstr>TCP 超时重传时间设置</vt:lpstr>
      <vt:lpstr>加权平均往返时间 RTTS </vt:lpstr>
      <vt:lpstr>超时重传时间 RTO</vt:lpstr>
      <vt:lpstr>往返时间 (RTT) 的测量相当复杂</vt:lpstr>
      <vt:lpstr>PowerPoint 演示文稿</vt:lpstr>
      <vt:lpstr>PowerPoint 演示文稿</vt:lpstr>
      <vt:lpstr>PowerPoint 演示文稿</vt:lpstr>
      <vt:lpstr>PowerPoint 演示文稿</vt:lpstr>
      <vt:lpstr>SACK</vt:lpstr>
      <vt:lpstr>PowerPoint 演示文稿</vt:lpstr>
      <vt:lpstr>5.7.1   利用滑动窗口实现流量控制</vt:lpstr>
      <vt:lpstr>5.7.1   利用滑动窗口实现流量控制</vt:lpstr>
      <vt:lpstr>流量控制</vt:lpstr>
      <vt:lpstr>可能发生死锁</vt:lpstr>
      <vt:lpstr>持续计时器</vt:lpstr>
      <vt:lpstr>5.7.2   TCP 的传输效率</vt:lpstr>
      <vt:lpstr>糊涂窗口综合症</vt:lpstr>
      <vt:lpstr>发送方糊涂窗口综合症</vt:lpstr>
      <vt:lpstr>接收方糊涂窗口综合症</vt:lpstr>
      <vt:lpstr>接收方糊涂窗口综合症</vt:lpstr>
      <vt:lpstr>PowerPoint 演示文稿</vt:lpstr>
      <vt:lpstr>5.8.1   一般原理</vt:lpstr>
      <vt:lpstr>拥塞产生的原因</vt:lpstr>
      <vt:lpstr>增加资源能解决拥塞吗？</vt:lpstr>
      <vt:lpstr>拥塞控制与流量控制的区别</vt:lpstr>
      <vt:lpstr>拥塞控制所起的作用</vt:lpstr>
      <vt:lpstr>拥塞控制的一般原理</vt:lpstr>
      <vt:lpstr>开环控制和闭环控制</vt:lpstr>
      <vt:lpstr>闭环控制措施</vt:lpstr>
      <vt:lpstr>闭环控制措施</vt:lpstr>
      <vt:lpstr>闭环控制措施</vt:lpstr>
      <vt:lpstr>闭环控制措施</vt:lpstr>
      <vt:lpstr>5.8.2  TCP 的拥塞控制方法</vt:lpstr>
      <vt:lpstr>控制拥塞窗口变化的原则</vt:lpstr>
      <vt:lpstr>发送方判断拥塞的方法：隐式反馈</vt:lpstr>
      <vt:lpstr>TCP 拥塞控制算法</vt:lpstr>
      <vt:lpstr>1. 慢开始 (Slow start)</vt:lpstr>
      <vt:lpstr>1. 慢开始 (Slow start)</vt:lpstr>
      <vt:lpstr>1. 慢开始 (Slow start)</vt:lpstr>
      <vt:lpstr>单独确认</vt:lpstr>
      <vt:lpstr>累计确认</vt:lpstr>
      <vt:lpstr>PowerPoint 演示文稿</vt:lpstr>
      <vt:lpstr>传输轮次（transmission round）</vt:lpstr>
      <vt:lpstr>慢开始门限 ssthresh</vt:lpstr>
      <vt:lpstr>2. 拥塞避免</vt:lpstr>
      <vt:lpstr>单独确认</vt:lpstr>
      <vt:lpstr>当网络出现拥塞时</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慢开始和拥塞避免算法的实现举例</vt:lpstr>
      <vt:lpstr>快重传 Fast Retransmission</vt:lpstr>
      <vt:lpstr>快重传举例</vt:lpstr>
      <vt:lpstr>拥塞控制</vt:lpstr>
      <vt:lpstr>快恢复 Fast Recovery</vt:lpstr>
      <vt:lpstr>慢开始和拥塞避免算法的实现举例</vt:lpstr>
      <vt:lpstr>慢开始和拥塞避免算法的实现举例</vt:lpstr>
      <vt:lpstr>TCP 拥塞控制流程图</vt:lpstr>
      <vt:lpstr>发送窗口的上限值</vt:lpstr>
      <vt:lpstr>5.8.3   主动队列管理 AQM</vt:lpstr>
      <vt:lpstr>先进先出 FIFO </vt:lpstr>
      <vt:lpstr>先进先出（FIFO）处理规则与尾部丢弃策略</vt:lpstr>
      <vt:lpstr>先进先出（FIFO）处理规则与尾部丢弃策略</vt:lpstr>
      <vt:lpstr>严重问题：全局同步</vt:lpstr>
      <vt:lpstr>严重问题：全局同步</vt:lpstr>
      <vt:lpstr>主动队列管理 AQM</vt:lpstr>
      <vt:lpstr>随机早期检测 RED</vt:lpstr>
      <vt:lpstr>随机早期检测 RED</vt:lpstr>
      <vt:lpstr>随机早期检测 RED</vt:lpstr>
      <vt:lpstr>随机早期检测 RED</vt:lpstr>
      <vt:lpstr>PowerPoint 演示文稿</vt:lpstr>
      <vt:lpstr>运输连接的三个阶段</vt:lpstr>
      <vt:lpstr>TCP 连接建立过程中要解决的三个问题</vt:lpstr>
      <vt:lpstr>5.9.1  TCP 的连接建立</vt:lpstr>
      <vt:lpstr>PowerPoint 演示文稿</vt:lpstr>
      <vt:lpstr>TCP 的连接建立：采用三报文握手</vt:lpstr>
      <vt:lpstr>TCP 的连接建立：采用三报文握手</vt:lpstr>
      <vt:lpstr>TCP 的连接建立：采用三报文握手</vt:lpstr>
      <vt:lpstr>TCP 的连接建立：采用三报文握手</vt:lpstr>
      <vt:lpstr>TCP 的连接建立：采用三报文握手</vt:lpstr>
      <vt:lpstr>TCP 的连接建立：采用三报文握手</vt:lpstr>
      <vt:lpstr>TCP 的连接建立：采用三报文握手</vt:lpstr>
      <vt:lpstr>PowerPoint 演示文稿</vt:lpstr>
      <vt:lpstr>5.9.2  TCP 的连接释放</vt:lpstr>
      <vt:lpstr>TCP 的连接释放-采用四报文握手</vt:lpstr>
      <vt:lpstr>TCP 的连接释放-采用四报文握手</vt:lpstr>
      <vt:lpstr>TCP 的连接释放-采用四报文握手</vt:lpstr>
      <vt:lpstr>TCP 的连接释放-采用四报文握手</vt:lpstr>
      <vt:lpstr>TCP 的连接释放-采用四报文握手</vt:lpstr>
      <vt:lpstr>PowerPoint 演示文稿</vt:lpstr>
      <vt:lpstr>必须等待 2MSL 的时间</vt:lpstr>
      <vt:lpstr>保活计时器</vt:lpstr>
      <vt:lpstr>5.9.3  TCP 的有限状态机</vt:lpstr>
    </vt:vector>
  </TitlesOfParts>
  <Manager>PLA</Manager>
  <Company>54414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计算机网络 - 传输层</dc:title>
  <dc:creator>glplaman.github.io</dc:creator>
  <cp:lastModifiedBy>cn plaman</cp:lastModifiedBy>
  <cp:revision>708</cp:revision>
  <dcterms:created xsi:type="dcterms:W3CDTF">2018-07-18T08:51:30Z</dcterms:created>
  <dcterms:modified xsi:type="dcterms:W3CDTF">2025-11-25T08:35:19Z</dcterms:modified>
</cp:coreProperties>
</file>