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7"/>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752" r:id="rId40"/>
    <p:sldId id="753" r:id="rId41"/>
    <p:sldId id="481" r:id="rId42"/>
    <p:sldId id="482" r:id="rId43"/>
    <p:sldId id="669" r:id="rId44"/>
    <p:sldId id="483" r:id="rId45"/>
    <p:sldId id="484" r:id="rId46"/>
    <p:sldId id="671" r:id="rId47"/>
    <p:sldId id="486" r:id="rId48"/>
    <p:sldId id="488" r:id="rId49"/>
    <p:sldId id="672" r:id="rId50"/>
    <p:sldId id="489" r:id="rId51"/>
    <p:sldId id="490" r:id="rId52"/>
    <p:sldId id="491" r:id="rId53"/>
    <p:sldId id="492" r:id="rId54"/>
    <p:sldId id="493" r:id="rId55"/>
    <p:sldId id="494" r:id="rId56"/>
    <p:sldId id="495" r:id="rId57"/>
    <p:sldId id="497" r:id="rId58"/>
    <p:sldId id="673" r:id="rId59"/>
    <p:sldId id="697" r:id="rId60"/>
    <p:sldId id="738" r:id="rId61"/>
    <p:sldId id="498" r:id="rId62"/>
    <p:sldId id="739" r:id="rId63"/>
    <p:sldId id="501" r:id="rId64"/>
    <p:sldId id="505" r:id="rId65"/>
    <p:sldId id="504" r:id="rId66"/>
    <p:sldId id="509" r:id="rId67"/>
    <p:sldId id="676" r:id="rId68"/>
    <p:sldId id="740" r:id="rId69"/>
    <p:sldId id="749" r:id="rId70"/>
    <p:sldId id="513" r:id="rId71"/>
    <p:sldId id="698" r:id="rId72"/>
    <p:sldId id="680" r:id="rId73"/>
    <p:sldId id="520" r:id="rId74"/>
    <p:sldId id="742" r:id="rId75"/>
    <p:sldId id="741" r:id="rId76"/>
    <p:sldId id="521" r:id="rId77"/>
    <p:sldId id="522" r:id="rId78"/>
    <p:sldId id="523" r:id="rId79"/>
    <p:sldId id="524" r:id="rId80"/>
    <p:sldId id="525" r:id="rId81"/>
    <p:sldId id="526" r:id="rId82"/>
    <p:sldId id="527" r:id="rId83"/>
    <p:sldId id="528" r:id="rId84"/>
    <p:sldId id="529" r:id="rId85"/>
    <p:sldId id="530" r:id="rId86"/>
    <p:sldId id="531" r:id="rId87"/>
    <p:sldId id="532" r:id="rId88"/>
    <p:sldId id="533" r:id="rId89"/>
    <p:sldId id="534" r:id="rId90"/>
    <p:sldId id="535" r:id="rId91"/>
    <p:sldId id="536" r:id="rId92"/>
    <p:sldId id="537" r:id="rId93"/>
    <p:sldId id="702" r:id="rId94"/>
    <p:sldId id="701" r:id="rId95"/>
    <p:sldId id="703" r:id="rId96"/>
    <p:sldId id="705" r:id="rId97"/>
    <p:sldId id="707" r:id="rId98"/>
    <p:sldId id="708" r:id="rId99"/>
    <p:sldId id="709" r:id="rId100"/>
    <p:sldId id="541" r:id="rId101"/>
    <p:sldId id="542" r:id="rId102"/>
    <p:sldId id="543" r:id="rId103"/>
    <p:sldId id="710" r:id="rId104"/>
    <p:sldId id="546" r:id="rId105"/>
    <p:sldId id="711" r:id="rId106"/>
    <p:sldId id="713" r:id="rId107"/>
    <p:sldId id="715" r:id="rId108"/>
    <p:sldId id="716" r:id="rId109"/>
    <p:sldId id="717" r:id="rId110"/>
    <p:sldId id="718" r:id="rId111"/>
    <p:sldId id="721" r:id="rId112"/>
    <p:sldId id="722" r:id="rId113"/>
    <p:sldId id="719" r:id="rId114"/>
    <p:sldId id="552" r:id="rId115"/>
    <p:sldId id="554" r:id="rId116"/>
    <p:sldId id="555" r:id="rId117"/>
    <p:sldId id="557" r:id="rId118"/>
    <p:sldId id="559" r:id="rId119"/>
    <p:sldId id="560" r:id="rId120"/>
    <p:sldId id="561" r:id="rId121"/>
    <p:sldId id="562" r:id="rId122"/>
    <p:sldId id="563" r:id="rId123"/>
    <p:sldId id="564" r:id="rId124"/>
    <p:sldId id="723" r:id="rId125"/>
    <p:sldId id="567" r:id="rId126"/>
    <p:sldId id="566" r:id="rId127"/>
    <p:sldId id="568" r:id="rId128"/>
    <p:sldId id="569" r:id="rId129"/>
    <p:sldId id="571" r:id="rId130"/>
    <p:sldId id="743" r:id="rId131"/>
    <p:sldId id="724" r:id="rId132"/>
    <p:sldId id="573" r:id="rId133"/>
    <p:sldId id="574" r:id="rId134"/>
    <p:sldId id="575" r:id="rId135"/>
    <p:sldId id="576" r:id="rId136"/>
    <p:sldId id="578" r:id="rId137"/>
    <p:sldId id="579" r:id="rId138"/>
    <p:sldId id="580" r:id="rId139"/>
    <p:sldId id="581" r:id="rId140"/>
    <p:sldId id="582" r:id="rId141"/>
    <p:sldId id="685" r:id="rId142"/>
    <p:sldId id="583" r:id="rId143"/>
    <p:sldId id="727" r:id="rId144"/>
    <p:sldId id="585" r:id="rId145"/>
    <p:sldId id="586" r:id="rId146"/>
    <p:sldId id="587" r:id="rId147"/>
    <p:sldId id="731" r:id="rId148"/>
    <p:sldId id="729" r:id="rId149"/>
    <p:sldId id="730" r:id="rId150"/>
    <p:sldId id="592" r:id="rId151"/>
    <p:sldId id="593" r:id="rId152"/>
    <p:sldId id="594" r:id="rId153"/>
    <p:sldId id="595" r:id="rId154"/>
    <p:sldId id="596" r:id="rId155"/>
    <p:sldId id="597" r:id="rId156"/>
    <p:sldId id="598" r:id="rId157"/>
    <p:sldId id="599" r:id="rId158"/>
    <p:sldId id="756" r:id="rId159"/>
    <p:sldId id="600" r:id="rId160"/>
    <p:sldId id="686" r:id="rId161"/>
    <p:sldId id="687" r:id="rId162"/>
    <p:sldId id="601" r:id="rId163"/>
    <p:sldId id="755" r:id="rId164"/>
    <p:sldId id="603" r:id="rId165"/>
    <p:sldId id="604" r:id="rId166"/>
    <p:sldId id="605" r:id="rId167"/>
    <p:sldId id="606" r:id="rId168"/>
    <p:sldId id="607" r:id="rId169"/>
    <p:sldId id="608" r:id="rId170"/>
    <p:sldId id="609" r:id="rId171"/>
    <p:sldId id="611" r:id="rId172"/>
    <p:sldId id="612" r:id="rId173"/>
    <p:sldId id="613" r:id="rId174"/>
    <p:sldId id="614" r:id="rId175"/>
    <p:sldId id="616" r:id="rId176"/>
    <p:sldId id="618" r:id="rId177"/>
    <p:sldId id="754" r:id="rId178"/>
    <p:sldId id="619" r:id="rId179"/>
    <p:sldId id="732" r:id="rId180"/>
    <p:sldId id="733" r:id="rId181"/>
    <p:sldId id="622" r:id="rId182"/>
    <p:sldId id="623" r:id="rId183"/>
    <p:sldId id="624" r:id="rId184"/>
    <p:sldId id="689" r:id="rId185"/>
    <p:sldId id="625" r:id="rId186"/>
    <p:sldId id="626" r:id="rId187"/>
    <p:sldId id="627" r:id="rId188"/>
    <p:sldId id="628" r:id="rId189"/>
    <p:sldId id="629" r:id="rId190"/>
    <p:sldId id="691" r:id="rId191"/>
    <p:sldId id="630" r:id="rId192"/>
    <p:sldId id="631" r:id="rId193"/>
    <p:sldId id="632" r:id="rId194"/>
    <p:sldId id="633" r:id="rId195"/>
    <p:sldId id="634" r:id="rId196"/>
    <p:sldId id="635" r:id="rId197"/>
    <p:sldId id="637" r:id="rId198"/>
    <p:sldId id="745" r:id="rId199"/>
    <p:sldId id="638" r:id="rId200"/>
    <p:sldId id="639" r:id="rId201"/>
    <p:sldId id="640" r:id="rId202"/>
    <p:sldId id="641" r:id="rId203"/>
    <p:sldId id="642" r:id="rId204"/>
    <p:sldId id="643" r:id="rId205"/>
    <p:sldId id="644" r:id="rId206"/>
    <p:sldId id="645" r:id="rId207"/>
    <p:sldId id="646" r:id="rId208"/>
    <p:sldId id="647" r:id="rId209"/>
    <p:sldId id="649" r:id="rId210"/>
    <p:sldId id="650" r:id="rId211"/>
    <p:sldId id="652" r:id="rId212"/>
    <p:sldId id="748" r:id="rId213"/>
    <p:sldId id="653" r:id="rId214"/>
    <p:sldId id="654" r:id="rId215"/>
    <p:sldId id="655" r:id="rId216"/>
  </p:sldIdLst>
  <p:sldSz cx="9144000" cy="5143500" type="screen16x9"/>
  <p:notesSz cx="6858000" cy="9144000"/>
  <p:embeddedFontLst>
    <p:embeddedFont>
      <p:font typeface="Cambria Math" panose="02040503050406030204" pitchFamily="18" charset="0"/>
      <p:regular r:id="rId218"/>
    </p:embeddedFont>
    <p:embeddedFont>
      <p:font typeface="Montserrat" panose="00000500000000000000" pitchFamily="2" charset="0"/>
      <p:regular r:id="rId219"/>
    </p:embeddedFont>
    <p:embeddedFont>
      <p:font typeface="微软雅黑" panose="020B0503020204020204" pitchFamily="34" charset="-122"/>
      <p:regular r:id="rId220"/>
      <p:bold r:id="rId221"/>
    </p:embeddedFont>
    <p:embeddedFont>
      <p:font typeface="微软雅黑 Light" panose="020B0502040204020203" pitchFamily="34" charset="-122"/>
      <p:regular r:id="rId22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E95420"/>
    <a:srgbClr val="0070C0"/>
    <a:srgbClr val="85D1F7"/>
    <a:srgbClr val="EBF1DE"/>
    <a:srgbClr val="FAC090"/>
    <a:srgbClr val="00B050"/>
    <a:srgbClr val="7F131F"/>
    <a:srgbClr val="0000FF"/>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varScale="1">
        <p:scale>
          <a:sx n="139" d="100"/>
          <a:sy n="139" d="100"/>
        </p:scale>
        <p:origin x="144" y="29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1.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font" Target="fonts/font2.fntdata"/><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font" Target="fonts/font3.fntdata"/><Relationship Id="rId225"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font" Target="fonts/font4.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font" Target="fonts/font5.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presProps" Target="pres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dirty="0"/>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dirty="0"/>
            <a:t>收到 </a:t>
          </a:r>
          <a:r>
            <a:rPr lang="en-US" altLang="en-US" sz="1600" dirty="0"/>
            <a:t>UDP </a:t>
          </a:r>
          <a:r>
            <a:rPr lang="zh-CN" altLang="en-US" sz="1600" dirty="0"/>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dirty="0"/>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dirty="0"/>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dirty="0"/>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dirty="0"/>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dirty="0"/>
            <a:t>有效的工作方式</a:t>
          </a:r>
          <a:endParaRPr lang="zh-CN" altLang="en-US" sz="2000" b="0" dirty="0">
            <a:latin typeface="微软雅黑" panose="020B0503020204020204" pitchFamily="34" charset="-122"/>
            <a:ea typeface="微软雅黑" panose="020B0503020204020204" pitchFamily="34" charset="-122"/>
          </a:endParaRP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dgm:spPr>
        <a:ln>
          <a:noFill/>
        </a:ln>
      </dgm:spPr>
      <dgm:t>
        <a:bodyPr/>
        <a:lstStyle/>
        <a:p>
          <a:r>
            <a:rPr lang="zh-CN" altLang="en-US" dirty="0"/>
            <a:t>软件端口</a:t>
          </a:r>
        </a:p>
      </dgm:t>
    </dgm:pt>
    <dgm:pt modelId="{B378CA2A-F92D-4CA5-B587-28839AD79485}" type="parTrans" cxnId="{FBA9404E-14C2-49AE-B7B8-6E7D87C72F99}">
      <dgm:prSet/>
      <dgm:spPr/>
      <dgm:t>
        <a:bodyPr/>
        <a:lstStyle/>
        <a:p>
          <a:endParaRPr lang="zh-CN" altLang="en-US"/>
        </a:p>
      </dgm:t>
    </dgm:pt>
    <dgm:pt modelId="{BADC7EF1-106C-4176-B053-AD0DC97C013E}" type="sibTrans" cxnId="{FBA9404E-14C2-49AE-B7B8-6E7D87C72F99}">
      <dgm:prSet/>
      <dgm:spPr/>
      <dgm:t>
        <a:bodyPr/>
        <a:lstStyle/>
        <a:p>
          <a:endParaRPr lang="zh-CN" altLang="en-US"/>
        </a:p>
      </dgm:t>
    </dgm:pt>
    <dgm:pt modelId="{E97DE7A7-1FE9-436A-8279-0D6800531FF9}">
      <dgm:prSet phldrT="[文本]"/>
      <dgm:spPr/>
      <dgm:t>
        <a:bodyPr/>
        <a:lstStyle/>
        <a:p>
          <a:r>
            <a:rPr lang="zh-CN" altLang="en-US" dirty="0"/>
            <a:t>协议栈层间的抽象的协议端口。</a:t>
          </a:r>
        </a:p>
      </dgm:t>
    </dgm:pt>
    <dgm:pt modelId="{545878C0-AED5-48A0-A334-3F993F07AD58}" type="parTrans" cxnId="{055AD085-5B69-475B-8B94-523B02655748}">
      <dgm:prSet/>
      <dgm:spPr/>
      <dgm:t>
        <a:bodyPr/>
        <a:lstStyle/>
        <a:p>
          <a:endParaRPr lang="zh-CN" altLang="en-US"/>
        </a:p>
      </dgm:t>
    </dgm:pt>
    <dgm:pt modelId="{2C3CD3E4-2543-47DF-99B3-EB55CAFFA2EC}" type="sibTrans" cxnId="{055AD085-5B69-475B-8B94-523B02655748}">
      <dgm:prSet/>
      <dgm:spPr/>
      <dgm:t>
        <a:bodyPr/>
        <a:lstStyle/>
        <a:p>
          <a:endParaRPr lang="zh-CN" altLang="en-US"/>
        </a:p>
      </dgm:t>
    </dgm:pt>
    <dgm:pt modelId="{8C99ACD2-4A47-4B21-A036-902EB77CF7CB}">
      <dgm:prSet phldrT="[文本]"/>
      <dgm:spPr/>
      <dgm:t>
        <a:bodyPr/>
        <a:lstStyle/>
        <a:p>
          <a:r>
            <a:rPr lang="zh-CN" altLang="en-US" dirty="0"/>
            <a:t>硬件端口</a:t>
          </a:r>
        </a:p>
      </dgm:t>
    </dgm:pt>
    <dgm:pt modelId="{AEA2AECB-9BB5-4E2F-99E5-B1AF2E10398B}" type="parTrans" cxnId="{89469622-F54D-4383-A342-76CFE0A6942A}">
      <dgm:prSet/>
      <dgm:spPr/>
      <dgm:t>
        <a:bodyPr/>
        <a:lstStyle/>
        <a:p>
          <a:endParaRPr lang="zh-CN" altLang="en-US"/>
        </a:p>
      </dgm:t>
    </dgm:pt>
    <dgm:pt modelId="{4D36EB6A-5038-4ECC-A9E9-B9D80013F6E8}" type="sibTrans" cxnId="{89469622-F54D-4383-A342-76CFE0A6942A}">
      <dgm:prSet/>
      <dgm:spPr/>
      <dgm:t>
        <a:bodyPr/>
        <a:lstStyle/>
        <a:p>
          <a:endParaRPr lang="zh-CN" altLang="en-US"/>
        </a:p>
      </dgm:t>
    </dgm:pt>
    <dgm:pt modelId="{120660D5-C1AE-4A1C-9559-40532481D3D3}">
      <dgm:prSet phldrT="[文本]"/>
      <dgm:spPr/>
      <dgm:t>
        <a:bodyPr/>
        <a:lstStyle/>
        <a:p>
          <a:r>
            <a:rPr lang="zh-CN" altLang="en-US" dirty="0"/>
            <a:t>不同硬件设备进行交互的接口。</a:t>
          </a:r>
        </a:p>
      </dgm:t>
    </dgm:pt>
    <dgm:pt modelId="{420AEFAB-064F-436D-B8B2-8D683E498E64}" type="parTrans" cxnId="{EAC7F3A6-021A-4D25-8E33-EC131B236F26}">
      <dgm:prSet/>
      <dgm:spPr/>
      <dgm:t>
        <a:bodyPr/>
        <a:lstStyle/>
        <a:p>
          <a:endParaRPr lang="zh-CN" altLang="en-US"/>
        </a:p>
      </dgm:t>
    </dgm:pt>
    <dgm:pt modelId="{32737782-2094-48D0-ADCD-ECAF84F4BF05}" type="sibTrans" cxnId="{EAC7F3A6-021A-4D25-8E33-EC131B236F26}">
      <dgm:prSet/>
      <dgm:spPr/>
      <dgm:t>
        <a:bodyPr/>
        <a:lstStyle/>
        <a:p>
          <a:endParaRPr lang="zh-CN" altLang="en-US"/>
        </a:p>
      </dgm:t>
    </dgm:pt>
    <dgm:pt modelId="{BA0809C8-6B97-4A27-B726-56F1206ECA08}">
      <dgm:prSet phldrT="[文本]"/>
      <dgm:spPr/>
      <dgm:t>
        <a:bodyPr/>
        <a:lstStyle/>
        <a:p>
          <a:r>
            <a:rPr lang="zh-CN" altLang="en-US" dirty="0"/>
            <a:t>是应用层的各种协议进程与运输实体进行层间交互的地点。</a:t>
          </a:r>
        </a:p>
      </dgm:t>
    </dgm:pt>
    <dgm:pt modelId="{F1B82ECC-4D0C-4A85-A69C-268A9707C912}" type="parTrans" cxnId="{26121E0E-6011-4B09-A0AE-0728A295D5D4}">
      <dgm:prSet/>
      <dgm:spPr/>
      <dgm:t>
        <a:bodyPr/>
        <a:lstStyle/>
        <a:p>
          <a:endParaRPr lang="zh-CN" altLang="en-US"/>
        </a:p>
      </dgm:t>
    </dgm:pt>
    <dgm:pt modelId="{9E95C9D8-0F4D-48FC-9666-2E471E19A3AE}" type="sibTrans" cxnId="{26121E0E-6011-4B09-A0AE-0728A295D5D4}">
      <dgm:prSet/>
      <dgm:spPr/>
      <dgm:t>
        <a:bodyPr/>
        <a:lstStyle/>
        <a:p>
          <a:endParaRPr lang="zh-CN" altLang="en-US"/>
        </a:p>
      </dgm:t>
    </dgm:pt>
    <dgm:pt modelId="{0583638A-92F7-4F6B-B1ED-5BA4E801AA27}">
      <dgm:prSet phldrT="[文本]"/>
      <dgm:spPr/>
      <dgm:t>
        <a:bodyPr/>
        <a:lstStyle/>
        <a:p>
          <a:r>
            <a:rPr lang="zh-CN" altLang="en-US" dirty="0"/>
            <a:t>不同系统实现端口的方法可以不同。</a:t>
          </a:r>
        </a:p>
      </dgm:t>
    </dgm:pt>
    <dgm:pt modelId="{59BD5D79-1150-4488-B961-6DD67B917D89}" type="parTrans" cxnId="{03E8BBB5-EA19-4071-9A3C-C21329AF7D38}">
      <dgm:prSet/>
      <dgm:spPr/>
      <dgm:t>
        <a:bodyPr/>
        <a:lstStyle/>
        <a:p>
          <a:endParaRPr lang="zh-CN" altLang="en-US"/>
        </a:p>
      </dgm:t>
    </dgm:pt>
    <dgm:pt modelId="{C0234743-99CE-4444-B3BC-B79B431250E9}" type="sibTrans" cxnId="{03E8BBB5-EA19-4071-9A3C-C21329AF7D38}">
      <dgm:prSet/>
      <dgm:spPr/>
      <dgm:t>
        <a:bodyPr/>
        <a:lstStyle/>
        <a:p>
          <a:endParaRPr lang="zh-CN" altLang="en-US"/>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a:ln>
      <a:noFill/>
    </a:ln>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dgm:spPr/>
      <dgm:t>
        <a:bodyPr/>
        <a:lstStyle/>
        <a:p>
          <a:r>
            <a:rPr lang="zh-CN" altLang="en-US" dirty="0"/>
            <a:t>优点</a:t>
          </a:r>
        </a:p>
      </dgm:t>
    </dgm:pt>
    <dgm:pt modelId="{837FFAB1-AE50-491A-95BA-57C47683C122}" type="parTrans" cxnId="{D562945D-4A2A-4F4B-8B5B-33CDF058F3EF}">
      <dgm:prSet/>
      <dgm:spPr/>
      <dgm:t>
        <a:bodyPr/>
        <a:lstStyle/>
        <a:p>
          <a:endParaRPr lang="zh-CN" altLang="en-US"/>
        </a:p>
      </dgm:t>
    </dgm:pt>
    <dgm:pt modelId="{1B3A3E75-AB55-4656-8514-E6B9A254AC17}" type="sibTrans" cxnId="{D562945D-4A2A-4F4B-8B5B-33CDF058F3EF}">
      <dgm:prSet/>
      <dgm:spPr/>
      <dgm:t>
        <a:bodyPr/>
        <a:lstStyle/>
        <a:p>
          <a:endParaRPr lang="zh-CN" altLang="en-US"/>
        </a:p>
      </dgm:t>
    </dgm:pt>
    <dgm:pt modelId="{DFF931C1-E237-48FE-832A-306188408C80}">
      <dgm:prSet phldrT="[文本]"/>
      <dgm:spPr/>
      <dgm:t>
        <a:bodyPr/>
        <a:lstStyle/>
        <a:p>
          <a:r>
            <a:rPr lang="zh-CN" altLang="en-US" dirty="0"/>
            <a:t>容易实现，即使确认丢失也不必重传。</a:t>
          </a:r>
        </a:p>
      </dgm:t>
    </dgm:pt>
    <dgm:pt modelId="{670764A7-F9E9-436B-A984-E0B47A956ABA}" type="parTrans" cxnId="{42A4B9EE-396E-4188-B8BA-842E030279B7}">
      <dgm:prSet/>
      <dgm:spPr/>
      <dgm:t>
        <a:bodyPr/>
        <a:lstStyle/>
        <a:p>
          <a:endParaRPr lang="zh-CN" altLang="en-US"/>
        </a:p>
      </dgm:t>
    </dgm:pt>
    <dgm:pt modelId="{2B0E522F-2BCD-43D1-B8E9-5D7C22E5A569}" type="sibTrans" cxnId="{42A4B9EE-396E-4188-B8BA-842E030279B7}">
      <dgm:prSet/>
      <dgm:spPr/>
      <dgm:t>
        <a:bodyPr/>
        <a:lstStyle/>
        <a:p>
          <a:endParaRPr lang="zh-CN" altLang="en-US"/>
        </a:p>
      </dgm:t>
    </dgm:pt>
    <dgm:pt modelId="{0E18EC68-061C-4D58-82C9-348641BCBA19}">
      <dgm:prSet phldrT="[文本]"/>
      <dgm:spPr/>
      <dgm:t>
        <a:bodyPr/>
        <a:lstStyle/>
        <a:p>
          <a:r>
            <a:rPr lang="zh-CN" altLang="en-US" dirty="0"/>
            <a:t>缺点</a:t>
          </a:r>
        </a:p>
      </dgm:t>
    </dgm:pt>
    <dgm:pt modelId="{1B6B8DC7-606B-4CCC-BB50-1B246A3511F3}" type="parTrans" cxnId="{79EB6A16-C89F-4860-A352-FD7C7EC795CA}">
      <dgm:prSet/>
      <dgm:spPr/>
      <dgm:t>
        <a:bodyPr/>
        <a:lstStyle/>
        <a:p>
          <a:endParaRPr lang="zh-CN" altLang="en-US"/>
        </a:p>
      </dgm:t>
    </dgm:pt>
    <dgm:pt modelId="{EA30CA18-94A7-4AEB-8557-8081699B2010}" type="sibTrans" cxnId="{79EB6A16-C89F-4860-A352-FD7C7EC795CA}">
      <dgm:prSet/>
      <dgm:spPr/>
      <dgm:t>
        <a:bodyPr/>
        <a:lstStyle/>
        <a:p>
          <a:endParaRPr lang="zh-CN" altLang="en-US"/>
        </a:p>
      </dgm:t>
    </dgm:pt>
    <dgm:pt modelId="{0ECE5D7B-2AA1-44DB-9DB6-183262D592C7}">
      <dgm:prSet phldrT="[文本]"/>
      <dgm:spPr/>
      <dgm:t>
        <a:bodyPr/>
        <a:lstStyle/>
        <a:p>
          <a:r>
            <a:rPr lang="zh-CN" altLang="en-US" dirty="0"/>
            <a:t>不能向发送方反映出接收方已经正确收到的所有分组的信息。</a:t>
          </a:r>
        </a:p>
      </dgm:t>
    </dgm:pt>
    <dgm:pt modelId="{47FF6F4E-D461-4089-B7B9-7456FA0CE972}" type="parTrans" cxnId="{F38771FE-2226-49DD-8F85-6A1535BA0119}">
      <dgm:prSet/>
      <dgm:spPr/>
      <dgm:t>
        <a:bodyPr/>
        <a:lstStyle/>
        <a:p>
          <a:endParaRPr lang="zh-CN" altLang="en-US"/>
        </a:p>
      </dgm:t>
    </dgm:pt>
    <dgm:pt modelId="{D5DFF412-CBF7-4CA1-B397-ADAA67FE182C}" type="sibTrans" cxnId="{F38771FE-2226-49DD-8F85-6A1535BA0119}">
      <dgm:prSet/>
      <dgm:spPr/>
      <dgm:t>
        <a:bodyPr/>
        <a:lstStyle/>
        <a:p>
          <a:endParaRPr lang="zh-CN" altLang="en-US"/>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1</a:t>
          </a:r>
          <a:r>
            <a:rPr lang="zh-CN" altLang="en-US" sz="1600" b="0" dirty="0">
              <a:solidFill>
                <a:schemeClr val="bg1"/>
              </a:solidFill>
              <a:latin typeface="Montserrat" panose="00000500000000000000" pitchFamily="2" charset="0"/>
              <a:ea typeface="微软雅黑 Light" panose="020B0502040204020203" pitchFamily="34" charset="-122"/>
            </a:rPr>
            <a:t>，监测</a:t>
          </a:r>
        </a:p>
      </dgm:t>
    </dgm:pt>
    <dgm:pt modelId="{44CB9315-4D10-4A42-8F72-3E9848B40F7E}" type="par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F111A3-8B10-4CBC-8988-6D6887B08325}" type="sib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B1C92E2-7636-49C1-BF40-059D1DCC39AD}">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2</a:t>
          </a:r>
          <a:r>
            <a:rPr lang="zh-CN" altLang="en-US" sz="1600" b="0" dirty="0">
              <a:solidFill>
                <a:schemeClr val="bg1"/>
              </a:solidFill>
              <a:latin typeface="Montserrat" panose="00000500000000000000" pitchFamily="2" charset="0"/>
              <a:ea typeface="微软雅黑 Light" panose="020B0502040204020203" pitchFamily="34" charset="-122"/>
            </a:rPr>
            <a:t>，传送</a:t>
          </a:r>
        </a:p>
      </dgm:t>
    </dgm:pt>
    <dgm:pt modelId="{21AAF4E5-69AF-4C41-93F3-EC6C16982352}" type="par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75B598-83FA-4739-BC24-308DF11DC7CA}" type="sib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BFEC3037-4009-4C92-8BB3-BA004A9EDEF3}">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3</a:t>
          </a:r>
          <a:r>
            <a:rPr lang="zh-CN" altLang="en-US" sz="1600" b="0" dirty="0">
              <a:solidFill>
                <a:schemeClr val="bg1"/>
              </a:solidFill>
              <a:latin typeface="Montserrat" panose="00000500000000000000" pitchFamily="2" charset="0"/>
              <a:ea typeface="微软雅黑 Light" panose="020B0502040204020203" pitchFamily="34" charset="-122"/>
            </a:rPr>
            <a:t>，调整</a:t>
          </a:r>
        </a:p>
      </dgm:t>
    </dgm:pt>
    <dgm:pt modelId="{299766ED-4FD8-49B8-8966-BB112C1AF417}" type="par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62DCE1-5C72-4E17-8F99-D370708BAF3E}" type="sib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2AA590A-EE21-4EB6-BB9F-B28697A25CB4}">
      <dgm:prSet phldrT="[文本]" custT="1"/>
      <dgm:spPr/>
      <dgm:t>
        <a:bodyPr/>
        <a:lstStyle/>
        <a:p>
          <a:r>
            <a:rPr lang="zh-CN" altLang="en-US" sz="1600" b="0" dirty="0">
              <a:latin typeface="Montserrat" panose="00000500000000000000" pitchFamily="2" charset="0"/>
              <a:ea typeface="微软雅黑 Light" panose="020B0502040204020203" pitchFamily="34" charset="-122"/>
            </a:rPr>
            <a:t>监测网络系统，检测拥塞在何时、何处发生。</a:t>
          </a:r>
        </a:p>
      </dgm:t>
    </dgm:pt>
    <dgm:pt modelId="{0C98080D-3654-474A-825B-D81CD9A72ADE}" type="par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F55A7609-F61D-45B1-8BFC-84CC6700C8D4}" type="sib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CA39C50-B6AD-43B9-8AA3-4AB1AB59AC80}">
      <dgm:prSet phldrT="[文本]" custT="1"/>
      <dgm:spPr/>
      <dgm:t>
        <a:bodyPr/>
        <a:lstStyle/>
        <a:p>
          <a:r>
            <a:rPr lang="zh-CN" altLang="en-US" sz="1600" b="0" dirty="0">
              <a:latin typeface="Montserrat" panose="00000500000000000000" pitchFamily="2" charset="0"/>
              <a:ea typeface="微软雅黑 Light" panose="020B0502040204020203"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A854CB13-5B4C-47C5-ACEA-5A400774CEFF}" type="sib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D49692-B4B1-4D68-A9E2-E3D245C6255F}">
      <dgm:prSet phldrT="[文本]" custT="1"/>
      <dgm:spPr/>
      <dgm:t>
        <a:bodyPr/>
        <a:lstStyle/>
        <a:p>
          <a:r>
            <a:rPr lang="zh-CN" altLang="en-US" sz="1600" b="0" dirty="0">
              <a:latin typeface="Montserrat" panose="00000500000000000000" pitchFamily="2" charset="0"/>
              <a:ea typeface="微软雅黑 Light" panose="020B0502040204020203" pitchFamily="34" charset="-122"/>
            </a:rPr>
            <a:t>调整网络系统的运行以解决出现的问题。</a:t>
          </a:r>
        </a:p>
      </dgm:t>
    </dgm:pt>
    <dgm:pt modelId="{17E9933C-7CE1-4429-A3B4-A3589880FB60}" type="par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7F25A2CD-3124-47ED-9234-CB2EC135A7DC}" type="sib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dirty="0">
              <a:latin typeface="微软雅黑" panose="020B0503020204020204" pitchFamily="34" charset="-122"/>
              <a:ea typeface="微软雅黑" panose="020B0503020204020204" pitchFamily="34" charset="-122"/>
            </a:rPr>
            <a:t>拥塞窗口 </a:t>
          </a:r>
          <a:r>
            <a:rPr lang="en-US" altLang="en-US" sz="1600" b="1" dirty="0">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kern="1200" dirty="0"/>
            <a:t>传送数据之前不需要先建立连接</a:t>
          </a:r>
        </a:p>
        <a:p>
          <a:pPr marL="171450" lvl="1" indent="-171450" algn="l" defTabSz="711200">
            <a:lnSpc>
              <a:spcPct val="90000"/>
            </a:lnSpc>
            <a:spcBef>
              <a:spcPct val="0"/>
            </a:spcBef>
            <a:spcAft>
              <a:spcPct val="15000"/>
            </a:spcAft>
            <a:buChar char="•"/>
          </a:pPr>
          <a:r>
            <a:rPr lang="zh-CN" altLang="en-US" sz="1600" kern="1200" dirty="0"/>
            <a:t>收到 </a:t>
          </a:r>
          <a:r>
            <a:rPr lang="en-US" altLang="en-US" sz="1600" kern="1200" dirty="0"/>
            <a:t>UDP </a:t>
          </a:r>
          <a:r>
            <a:rPr lang="zh-CN" altLang="en-US" sz="1600" kern="1200" dirty="0"/>
            <a:t>报后，不需要确认</a:t>
          </a:r>
        </a:p>
        <a:p>
          <a:pPr marL="171450" lvl="1" indent="-171450" algn="l" defTabSz="711200">
            <a:lnSpc>
              <a:spcPct val="90000"/>
            </a:lnSpc>
            <a:spcBef>
              <a:spcPct val="0"/>
            </a:spcBef>
            <a:spcAft>
              <a:spcPct val="15000"/>
            </a:spcAft>
            <a:buChar char="•"/>
          </a:pPr>
          <a:r>
            <a:rPr lang="zh-CN" altLang="en-US" sz="1600" kern="1200" dirty="0"/>
            <a:t>不提供可靠交付</a:t>
          </a:r>
        </a:p>
        <a:p>
          <a:pPr marL="171450" lvl="1" indent="-171450" algn="l" defTabSz="711200">
            <a:lnSpc>
              <a:spcPct val="90000"/>
            </a:lnSpc>
            <a:spcBef>
              <a:spcPct val="0"/>
            </a:spcBef>
            <a:spcAft>
              <a:spcPct val="15000"/>
            </a:spcAft>
            <a:buChar char="•"/>
          </a:pPr>
          <a:r>
            <a:rPr lang="zh-CN" altLang="en-US" sz="1600" kern="1200" dirty="0"/>
            <a:t>有效的工作方式</a:t>
          </a:r>
          <a:endParaRPr lang="zh-CN" altLang="en-US" sz="2000" b="0" kern="1200" dirty="0">
            <a:latin typeface="微软雅黑" panose="020B0503020204020204" pitchFamily="34" charset="-122"/>
            <a:ea typeface="微软雅黑" panose="020B0503020204020204" pitchFamily="34" charset="-122"/>
          </a:endParaRP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kern="1200" dirty="0"/>
            <a:t>提供可靠的、面向连接的运输服务</a:t>
          </a:r>
        </a:p>
        <a:p>
          <a:pPr marL="171450" lvl="1" indent="-171450" algn="l" defTabSz="711200">
            <a:lnSpc>
              <a:spcPct val="90000"/>
            </a:lnSpc>
            <a:spcBef>
              <a:spcPct val="0"/>
            </a:spcBef>
            <a:spcAft>
              <a:spcPct val="15000"/>
            </a:spcAft>
            <a:buChar char="•"/>
          </a:pPr>
          <a:r>
            <a:rPr lang="zh-CN" altLang="en-US" sz="1600" kern="1200" dirty="0"/>
            <a:t>不提供广播或多播服务</a:t>
          </a:r>
        </a:p>
        <a:p>
          <a:pPr marL="171450" lvl="1" indent="-171450" algn="l" defTabSz="711200">
            <a:lnSpc>
              <a:spcPct val="90000"/>
            </a:lnSpc>
            <a:spcBef>
              <a:spcPct val="0"/>
            </a:spcBef>
            <a:spcAft>
              <a:spcPct val="15000"/>
            </a:spcAft>
            <a:buChar char="•"/>
          </a:pPr>
          <a:r>
            <a:rPr lang="zh-CN" altLang="en-US" sz="1600" kern="1200" dirty="0"/>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18987"/>
          <a:ext cx="6377146" cy="6388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zh-CN" altLang="en-US" sz="2100" kern="1200" dirty="0"/>
            <a:t>软件端口</a:t>
          </a:r>
        </a:p>
      </dsp:txBody>
      <dsp:txXfrm>
        <a:off x="31185" y="50172"/>
        <a:ext cx="6314776" cy="576450"/>
      </dsp:txXfrm>
    </dsp:sp>
    <dsp:sp modelId="{2487C381-8EF1-485B-9441-46EEB8C1886B}">
      <dsp:nvSpPr>
        <dsp:cNvPr id="0" name=""/>
        <dsp:cNvSpPr/>
      </dsp:nvSpPr>
      <dsp:spPr>
        <a:xfrm>
          <a:off x="0" y="708808"/>
          <a:ext cx="6377146" cy="11084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zh-CN" altLang="en-US" sz="1600" kern="1200" dirty="0"/>
            <a:t>协议栈层间的抽象的协议端口。</a:t>
          </a:r>
        </a:p>
        <a:p>
          <a:pPr marL="171450" lvl="1" indent="-171450" algn="l" defTabSz="711200">
            <a:lnSpc>
              <a:spcPct val="90000"/>
            </a:lnSpc>
            <a:spcBef>
              <a:spcPct val="0"/>
            </a:spcBef>
            <a:spcAft>
              <a:spcPct val="20000"/>
            </a:spcAft>
            <a:buChar char="•"/>
          </a:pPr>
          <a:r>
            <a:rPr lang="zh-CN" altLang="en-US" sz="1600" kern="1200" dirty="0"/>
            <a:t>是应用层的各种协议进程与运输实体进行层间交互的地点。</a:t>
          </a:r>
        </a:p>
        <a:p>
          <a:pPr marL="171450" lvl="1" indent="-171450" algn="l" defTabSz="711200">
            <a:lnSpc>
              <a:spcPct val="90000"/>
            </a:lnSpc>
            <a:spcBef>
              <a:spcPct val="0"/>
            </a:spcBef>
            <a:spcAft>
              <a:spcPct val="20000"/>
            </a:spcAft>
            <a:buChar char="•"/>
          </a:pPr>
          <a:r>
            <a:rPr lang="zh-CN" altLang="en-US" sz="1600" kern="1200" dirty="0"/>
            <a:t>不同系统实现端口的方法可以不同。</a:t>
          </a:r>
        </a:p>
      </dsp:txBody>
      <dsp:txXfrm>
        <a:off x="0" y="708808"/>
        <a:ext cx="6377146" cy="1108485"/>
      </dsp:txXfrm>
    </dsp:sp>
    <dsp:sp modelId="{F24B62DD-54BA-47D1-83D7-96B45A39A82E}">
      <dsp:nvSpPr>
        <dsp:cNvPr id="0" name=""/>
        <dsp:cNvSpPr/>
      </dsp:nvSpPr>
      <dsp:spPr>
        <a:xfrm>
          <a:off x="0" y="1817294"/>
          <a:ext cx="6377146" cy="6388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zh-CN" altLang="en-US" sz="2100" kern="1200" dirty="0"/>
            <a:t>硬件端口</a:t>
          </a:r>
        </a:p>
      </dsp:txBody>
      <dsp:txXfrm>
        <a:off x="31185" y="1848479"/>
        <a:ext cx="6314776" cy="576450"/>
      </dsp:txXfrm>
    </dsp:sp>
    <dsp:sp modelId="{81781325-F072-4444-84B0-DFA10747A74F}">
      <dsp:nvSpPr>
        <dsp:cNvPr id="0" name=""/>
        <dsp:cNvSpPr/>
      </dsp:nvSpPr>
      <dsp:spPr>
        <a:xfrm>
          <a:off x="0" y="2456114"/>
          <a:ext cx="6377146" cy="3694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zh-CN" altLang="en-US" sz="1600" kern="1200" dirty="0"/>
            <a:t>不同硬件设备进行交互的接口。</a:t>
          </a:r>
        </a:p>
      </dsp:txBody>
      <dsp:txXfrm>
        <a:off x="0" y="2456114"/>
        <a:ext cx="6377146" cy="36949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56863"/>
          <a:ext cx="5325036" cy="480312"/>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zh-CN" altLang="en-US" sz="1500" kern="1200" dirty="0"/>
            <a:t>优点</a:t>
          </a:r>
        </a:p>
      </dsp:txBody>
      <dsp:txXfrm>
        <a:off x="23447" y="80310"/>
        <a:ext cx="5278142" cy="433418"/>
      </dsp:txXfrm>
    </dsp:sp>
    <dsp:sp modelId="{769DA413-89B9-4221-A6BC-35722015CED6}">
      <dsp:nvSpPr>
        <dsp:cNvPr id="0" name=""/>
        <dsp:cNvSpPr/>
      </dsp:nvSpPr>
      <dsp:spPr>
        <a:xfrm>
          <a:off x="0" y="537175"/>
          <a:ext cx="5325036" cy="4347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19050" rIns="106680" bIns="19050" numCol="1" spcCol="1270" anchor="t" anchorCtr="0">
          <a:noAutofit/>
        </a:bodyPr>
        <a:lstStyle/>
        <a:p>
          <a:pPr marL="114300" lvl="1" indent="-114300" algn="l" defTabSz="533400">
            <a:lnSpc>
              <a:spcPct val="90000"/>
            </a:lnSpc>
            <a:spcBef>
              <a:spcPct val="0"/>
            </a:spcBef>
            <a:spcAft>
              <a:spcPct val="20000"/>
            </a:spcAft>
            <a:buChar char="•"/>
          </a:pPr>
          <a:r>
            <a:rPr lang="zh-CN" altLang="en-US" sz="1200" kern="1200" dirty="0"/>
            <a:t>容易实现，即使确认丢失也不必重传。</a:t>
          </a:r>
        </a:p>
      </dsp:txBody>
      <dsp:txXfrm>
        <a:off x="0" y="537175"/>
        <a:ext cx="5325036" cy="434700"/>
      </dsp:txXfrm>
    </dsp:sp>
    <dsp:sp modelId="{22292CD0-ACC3-4A3E-B075-1AF230BC97FF}">
      <dsp:nvSpPr>
        <dsp:cNvPr id="0" name=""/>
        <dsp:cNvSpPr/>
      </dsp:nvSpPr>
      <dsp:spPr>
        <a:xfrm>
          <a:off x="0" y="971875"/>
          <a:ext cx="5325036" cy="480312"/>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zh-CN" altLang="en-US" sz="1500" kern="1200" dirty="0"/>
            <a:t>缺点</a:t>
          </a:r>
        </a:p>
      </dsp:txBody>
      <dsp:txXfrm>
        <a:off x="23447" y="995322"/>
        <a:ext cx="5278142" cy="433418"/>
      </dsp:txXfrm>
    </dsp:sp>
    <dsp:sp modelId="{CB9D41E1-F2ED-4448-86ED-9FD25B52E29B}">
      <dsp:nvSpPr>
        <dsp:cNvPr id="0" name=""/>
        <dsp:cNvSpPr/>
      </dsp:nvSpPr>
      <dsp:spPr>
        <a:xfrm>
          <a:off x="0" y="1452187"/>
          <a:ext cx="5325036" cy="794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19050" rIns="106680" bIns="19050" numCol="1" spcCol="1270" anchor="t" anchorCtr="0">
          <a:noAutofit/>
        </a:bodyPr>
        <a:lstStyle/>
        <a:p>
          <a:pPr marL="114300" lvl="1" indent="-114300" algn="l" defTabSz="533400">
            <a:lnSpc>
              <a:spcPct val="90000"/>
            </a:lnSpc>
            <a:spcBef>
              <a:spcPct val="0"/>
            </a:spcBef>
            <a:spcAft>
              <a:spcPct val="20000"/>
            </a:spcAft>
            <a:buChar char="•"/>
          </a:pPr>
          <a:r>
            <a:rPr lang="zh-CN" altLang="en-US" sz="1200" kern="1200" dirty="0"/>
            <a:t>不能向发送方反映出接收方已经正确收到的所有分组的信息。</a:t>
          </a:r>
        </a:p>
      </dsp:txBody>
      <dsp:txXfrm>
        <a:off x="0" y="1452187"/>
        <a:ext cx="5325036" cy="7948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3</a:t>
          </a:r>
          <a:r>
            <a:rPr lang="zh-CN" altLang="en-US" sz="1600" b="0" kern="1200" dirty="0">
              <a:solidFill>
                <a:schemeClr val="bg1"/>
              </a:solidFill>
              <a:latin typeface="Montserrat" panose="00000500000000000000" pitchFamily="2" charset="0"/>
              <a:ea typeface="微软雅黑 Light" panose="020B0502040204020203"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2</a:t>
          </a:r>
          <a:r>
            <a:rPr lang="zh-CN" altLang="en-US" sz="1600" b="0" kern="1200" dirty="0">
              <a:solidFill>
                <a:schemeClr val="bg1"/>
              </a:solidFill>
              <a:latin typeface="Montserrat" panose="00000500000000000000" pitchFamily="2" charset="0"/>
              <a:ea typeface="微软雅黑 Light" panose="020B0502040204020203"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1</a:t>
          </a:r>
          <a:r>
            <a:rPr lang="zh-CN" altLang="en-US" sz="1600" b="0" kern="1200" dirty="0">
              <a:solidFill>
                <a:schemeClr val="bg1"/>
              </a:solidFill>
              <a:latin typeface="Montserrat" panose="00000500000000000000" pitchFamily="2" charset="0"/>
              <a:ea typeface="微软雅黑 Light" panose="020B0502040204020203"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监测网络系统，检测拥塞在何时、何处发生。</a:t>
          </a:r>
        </a:p>
      </dsp:txBody>
      <dsp:txXfrm>
        <a:off x="0" y="376483"/>
        <a:ext cx="4409319" cy="32028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拥塞窗口 </a:t>
          </a:r>
          <a:r>
            <a:rPr lang="en-US" altLang="en-US" sz="1600" b="1" kern="1200" dirty="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2026/7/25</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142</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191</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197</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412000" y="162000"/>
            <a:ext cx="4320000" cy="369332"/>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2672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lang="zh-CN" altLang="en-US" dirty="0"/>
            </a:lvl1pPr>
            <a:lvl2pPr marL="360000" indent="-180000" algn="just" latinLnBrk="1">
              <a:lnSpc>
                <a:spcPct val="100000"/>
              </a:lnSpc>
              <a:spcBef>
                <a:spcPts val="0"/>
              </a:spcBef>
              <a:spcAft>
                <a:spcPts val="600"/>
              </a:spcAft>
              <a:buFont typeface="Wingdings" panose="05000000000000000000" pitchFamily="2" charset="2"/>
              <a:buChar char=""/>
              <a:defRPr lang="zh-CN" altLang="en-US" dirty="0"/>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412000" y="162000"/>
            <a:ext cx="4320000" cy="369332"/>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28629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lang="zh-CN" altLang="en-US" dirty="0"/>
            </a:lvl1pPr>
            <a:lvl2pPr marL="360000" indent="-180000" algn="just" latinLnBrk="1">
              <a:lnSpc>
                <a:spcPct val="100000"/>
              </a:lnSpc>
              <a:spcBef>
                <a:spcPts val="0"/>
              </a:spcBef>
              <a:spcAft>
                <a:spcPts val="600"/>
              </a:spcAft>
              <a:buFont typeface="Wingdings" panose="05000000000000000000" pitchFamily="2" charset="2"/>
              <a:buChar char=""/>
              <a:defRPr lang="zh-CN" altLang="en-US" dirty="0"/>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412000" y="162000"/>
            <a:ext cx="4320000" cy="369332"/>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46044"/>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303182"/>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46044"/>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303182"/>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1347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nvGrpSpPr>
          <p:cNvPr id="15" name="组合 14">
            <a:extLst>
              <a:ext uri="{FF2B5EF4-FFF2-40B4-BE49-F238E27FC236}">
                <a16:creationId xmlns:a16="http://schemas.microsoft.com/office/drawing/2014/main" id="{91F2B554-867E-EC01-46DA-A9B5837A693B}"/>
              </a:ext>
            </a:extLst>
          </p:cNvPr>
          <p:cNvGrpSpPr/>
          <p:nvPr userDrawn="1"/>
        </p:nvGrpSpPr>
        <p:grpSpPr>
          <a:xfrm>
            <a:off x="8513000" y="4512500"/>
            <a:ext cx="576000" cy="576000"/>
            <a:chOff x="8446363" y="4418475"/>
            <a:chExt cx="576000" cy="576000"/>
          </a:xfrm>
        </p:grpSpPr>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446363" y="4418475"/>
              <a:ext cx="576000" cy="576000"/>
            </a:xfrm>
            <a:prstGeom prst="rect">
              <a:avLst/>
            </a:prstGeom>
            <a:solidFill>
              <a:schemeClr val="bg1"/>
            </a:solidFill>
            <a:ln w="12700" algn="ctr">
              <a:solidFill>
                <a:srgbClr val="C00000"/>
              </a:solidFill>
              <a:miter lim="800000"/>
              <a:headEnd/>
              <a:tailEnd/>
            </a:ln>
          </p:spPr>
          <p:txBody>
            <a:bodyPr wrap="none" anchor="ctr"/>
            <a:lstStyle/>
            <a:p>
              <a:pPr algn="ctr" eaLnBrk="0" hangingPunct="0"/>
              <a:endParaRPr lang="fr-FR" altLang="zh-CN">
                <a:cs typeface="Arial" charset="0"/>
              </a:endParaRPr>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446363" y="4418475"/>
              <a:ext cx="576000" cy="576000"/>
            </a:xfrm>
            <a:prstGeom prst="rect">
              <a:avLst/>
            </a:prstGeom>
          </p:spPr>
        </p:pic>
      </p:grpSp>
      <p:grpSp>
        <p:nvGrpSpPr>
          <p:cNvPr id="2" name="组合 1">
            <a:extLst>
              <a:ext uri="{FF2B5EF4-FFF2-40B4-BE49-F238E27FC236}">
                <a16:creationId xmlns:a16="http://schemas.microsoft.com/office/drawing/2014/main" id="{147105FF-168D-FF08-FADC-1711B59A628F}"/>
              </a:ext>
            </a:extLst>
          </p:cNvPr>
          <p:cNvGrpSpPr/>
          <p:nvPr userDrawn="1"/>
        </p:nvGrpSpPr>
        <p:grpSpPr>
          <a:xfrm>
            <a:off x="3566960" y="4783500"/>
            <a:ext cx="2249426" cy="360000"/>
            <a:chOff x="3566960" y="149234"/>
            <a:chExt cx="2249426"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206124"/>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66960" y="206124"/>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
        <p:nvSpPr>
          <p:cNvPr id="9" name="标题占位符 8">
            <a:extLst>
              <a:ext uri="{FF2B5EF4-FFF2-40B4-BE49-F238E27FC236}">
                <a16:creationId xmlns:a16="http://schemas.microsoft.com/office/drawing/2014/main" id="{C4ABBC8B-1E4C-560A-98EA-9AE547F72A8F}"/>
              </a:ext>
            </a:extLst>
          </p:cNvPr>
          <p:cNvSpPr>
            <a:spLocks noGrp="1"/>
          </p:cNvSpPr>
          <p:nvPr>
            <p:ph type="title"/>
          </p:nvPr>
        </p:nvSpPr>
        <p:spPr>
          <a:xfrm>
            <a:off x="2412000" y="161378"/>
            <a:ext cx="4320000" cy="3693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10" name="文本占位符 9">
            <a:extLst>
              <a:ext uri="{FF2B5EF4-FFF2-40B4-BE49-F238E27FC236}">
                <a16:creationId xmlns:a16="http://schemas.microsoft.com/office/drawing/2014/main" id="{22253505-C327-37EF-D61D-1AD5B3E86182}"/>
              </a:ext>
            </a:extLst>
          </p:cNvPr>
          <p:cNvSpPr>
            <a:spLocks noGrp="1"/>
          </p:cNvSpPr>
          <p:nvPr>
            <p:ph type="body" idx="1"/>
          </p:nvPr>
        </p:nvSpPr>
        <p:spPr>
          <a:xfrm>
            <a:off x="612000" y="472457"/>
            <a:ext cx="7920000" cy="415986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1800" kern="1200">
          <a:solidFill>
            <a:schemeClr val="tx1"/>
          </a:solidFill>
          <a:latin typeface="+mj-lt"/>
          <a:ea typeface="+mj-ea"/>
          <a:cs typeface="+mj-cs"/>
        </a:defRPr>
      </a:lvl1pPr>
    </p:titleStyle>
    <p:bodyStyle>
      <a:lvl1pPr marL="0" indent="-180000" algn="l" defTabSz="914400" rtl="0" eaLnBrk="1" latinLnBrk="0" hangingPunct="1">
        <a:spcBef>
          <a:spcPts val="0"/>
        </a:spcBef>
        <a:spcAft>
          <a:spcPts val="600"/>
        </a:spcAft>
        <a:buFont typeface="Wingdings" panose="05000000000000000000" pitchFamily="2" charset="2"/>
        <a:buChar char="§"/>
        <a:defRPr lang="zh-CN" altLang="en-US" sz="1600" kern="1200" smtClean="0">
          <a:solidFill>
            <a:schemeClr val="tx1"/>
          </a:solidFill>
          <a:latin typeface="+mn-lt"/>
          <a:ea typeface="+mn-ea"/>
          <a:cs typeface="+mn-cs"/>
        </a:defRPr>
      </a:lvl1pPr>
      <a:lvl2pPr marL="360000" indent="-180000" algn="l" defTabSz="914400" rtl="0" eaLnBrk="1" latinLnBrk="0" hangingPunct="1">
        <a:spcBef>
          <a:spcPts val="0"/>
        </a:spcBef>
        <a:buFont typeface="Wingdings" panose="05000000000000000000" pitchFamily="2" charset="2"/>
        <a:buChar char=""/>
        <a:defRPr lang="zh-CN" altLang="en-US" sz="1400" kern="1200" smtClean="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zh-CN" altLang="en-US" sz="1400" kern="1200" smtClean="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zh-CN" altLang="en-US" sz="1400" kern="1200" smtClean="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zh-CN" altLang="en-US" sz="1400" kern="1200" smtClean="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5.bin"/><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7.svg"/><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2412000" y="104400"/>
            <a:ext cx="4320000" cy="369332"/>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3175">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dirty="0">
                <a:solidFill>
                  <a:schemeClr val="bg1"/>
                </a:solidFill>
              </a:rPr>
              <a:t>5.1                                            </a:t>
            </a:r>
            <a:r>
              <a:rPr lang="zh-CN" altLang="en-US" dirty="0">
                <a:solidFill>
                  <a:schemeClr val="bg1"/>
                </a:solidFill>
              </a:rPr>
              <a:t>运输层协议概述</a:t>
            </a:r>
          </a:p>
          <a:p>
            <a:pPr eaLnBrk="0" hangingPunct="0">
              <a:lnSpc>
                <a:spcPts val="3200"/>
              </a:lnSpc>
            </a:pPr>
            <a:r>
              <a:rPr lang="en-US" altLang="zh-CN" dirty="0">
                <a:solidFill>
                  <a:schemeClr val="bg1"/>
                </a:solidFill>
              </a:rPr>
              <a:t>5.2                                    </a:t>
            </a:r>
            <a:r>
              <a:rPr lang="zh-CN" altLang="en-US" dirty="0">
                <a:solidFill>
                  <a:schemeClr val="bg1"/>
                </a:solidFill>
              </a:rPr>
              <a:t>用户数据报协议 </a:t>
            </a:r>
            <a:r>
              <a:rPr lang="en-US" altLang="zh-CN" dirty="0">
                <a:solidFill>
                  <a:schemeClr val="bg1"/>
                </a:solidFill>
              </a:rPr>
              <a:t>UDP </a:t>
            </a:r>
          </a:p>
          <a:p>
            <a:pPr eaLnBrk="0" hangingPunct="0">
              <a:lnSpc>
                <a:spcPts val="3200"/>
              </a:lnSpc>
            </a:pPr>
            <a:r>
              <a:rPr lang="en-US" altLang="zh-CN" dirty="0">
                <a:solidFill>
                  <a:schemeClr val="bg1"/>
                </a:solidFill>
              </a:rPr>
              <a:t>5.3                                </a:t>
            </a:r>
            <a:r>
              <a:rPr lang="zh-CN" altLang="en-US" dirty="0">
                <a:solidFill>
                  <a:schemeClr val="bg1"/>
                </a:solidFill>
              </a:rPr>
              <a:t>传输控制协议 </a:t>
            </a:r>
            <a:r>
              <a:rPr lang="en-US" altLang="zh-CN" dirty="0">
                <a:solidFill>
                  <a:schemeClr val="bg1"/>
                </a:solidFill>
              </a:rPr>
              <a:t>TCP </a:t>
            </a:r>
            <a:r>
              <a:rPr lang="zh-CN" altLang="en-US" dirty="0">
                <a:solidFill>
                  <a:schemeClr val="bg1"/>
                </a:solidFill>
              </a:rPr>
              <a:t>概述</a:t>
            </a:r>
          </a:p>
          <a:p>
            <a:pPr eaLnBrk="0" hangingPunct="0">
              <a:lnSpc>
                <a:spcPts val="3200"/>
              </a:lnSpc>
            </a:pPr>
            <a:r>
              <a:rPr lang="en-US" altLang="zh-CN" dirty="0">
                <a:solidFill>
                  <a:schemeClr val="bg1"/>
                </a:solidFill>
              </a:rPr>
              <a:t>5.4                                     </a:t>
            </a:r>
            <a:r>
              <a:rPr lang="zh-CN" altLang="en-US" dirty="0">
                <a:solidFill>
                  <a:schemeClr val="bg1"/>
                </a:solidFill>
              </a:rPr>
              <a:t>可靠传输的工作原理</a:t>
            </a:r>
          </a:p>
          <a:p>
            <a:pPr eaLnBrk="0" hangingPunct="0">
              <a:lnSpc>
                <a:spcPts val="3200"/>
              </a:lnSpc>
            </a:pPr>
            <a:r>
              <a:rPr lang="en-US" altLang="zh-CN" dirty="0">
                <a:solidFill>
                  <a:schemeClr val="bg1"/>
                </a:solidFill>
              </a:rPr>
              <a:t>5.5                                 TCP </a:t>
            </a:r>
            <a:r>
              <a:rPr lang="zh-CN" altLang="en-US" dirty="0">
                <a:solidFill>
                  <a:schemeClr val="bg1"/>
                </a:solidFill>
              </a:rPr>
              <a:t>报文段的首部格式</a:t>
            </a:r>
          </a:p>
          <a:p>
            <a:pPr eaLnBrk="0" hangingPunct="0">
              <a:lnSpc>
                <a:spcPts val="3200"/>
              </a:lnSpc>
            </a:pPr>
            <a:r>
              <a:rPr lang="en-US" altLang="zh-CN" dirty="0">
                <a:solidFill>
                  <a:schemeClr val="bg1"/>
                </a:solidFill>
              </a:rPr>
              <a:t>5.6                                     TCP </a:t>
            </a:r>
            <a:r>
              <a:rPr lang="zh-CN" altLang="en-US" dirty="0">
                <a:solidFill>
                  <a:schemeClr val="bg1"/>
                </a:solidFill>
              </a:rPr>
              <a:t>可靠传输的实现</a:t>
            </a:r>
          </a:p>
          <a:p>
            <a:pPr eaLnBrk="0" hangingPunct="0">
              <a:lnSpc>
                <a:spcPts val="3200"/>
              </a:lnSpc>
            </a:pPr>
            <a:r>
              <a:rPr lang="en-US" altLang="zh-CN" dirty="0">
                <a:solidFill>
                  <a:schemeClr val="bg1"/>
                </a:solidFill>
              </a:rPr>
              <a:t>5.7                                           TCP </a:t>
            </a:r>
            <a:r>
              <a:rPr lang="zh-CN" altLang="en-US" dirty="0">
                <a:solidFill>
                  <a:schemeClr val="bg1"/>
                </a:solidFill>
              </a:rPr>
              <a:t>的流量控制</a:t>
            </a:r>
          </a:p>
          <a:p>
            <a:pPr eaLnBrk="0" hangingPunct="0">
              <a:lnSpc>
                <a:spcPts val="3200"/>
              </a:lnSpc>
            </a:pPr>
            <a:r>
              <a:rPr lang="en-US" altLang="zh-CN" dirty="0">
                <a:solidFill>
                  <a:schemeClr val="bg1"/>
                </a:solidFill>
              </a:rPr>
              <a:t>5.8                                           TCP </a:t>
            </a:r>
            <a:r>
              <a:rPr lang="zh-CN" altLang="en-US" dirty="0">
                <a:solidFill>
                  <a:schemeClr val="bg1"/>
                </a:solidFill>
              </a:rPr>
              <a:t>的拥塞控制</a:t>
            </a:r>
          </a:p>
          <a:p>
            <a:pPr eaLnBrk="0" hangingPunct="0">
              <a:lnSpc>
                <a:spcPts val="3200"/>
              </a:lnSpc>
            </a:pPr>
            <a:r>
              <a:rPr lang="en-US" altLang="zh-CN" dirty="0">
                <a:solidFill>
                  <a:schemeClr val="bg1"/>
                </a:solidFill>
              </a:rPr>
              <a:t>5.9                                    TCP </a:t>
            </a:r>
            <a:r>
              <a:rPr lang="zh-CN" altLang="en-US" dirty="0">
                <a:solidFill>
                  <a:schemeClr val="bg1"/>
                </a:solidFill>
              </a:rPr>
              <a:t>的运输连接管理</a:t>
            </a:r>
          </a:p>
        </p:txBody>
      </p:sp>
      <p:sp>
        <p:nvSpPr>
          <p:cNvPr id="2" name="标题 1">
            <a:extLst>
              <a:ext uri="{FF2B5EF4-FFF2-40B4-BE49-F238E27FC236}">
                <a16:creationId xmlns:a16="http://schemas.microsoft.com/office/drawing/2014/main" id="{F2269417-D1FA-043F-CB7A-B6DA40703A23}"/>
              </a:ext>
            </a:extLst>
          </p:cNvPr>
          <p:cNvSpPr>
            <a:spLocks noGrp="1"/>
          </p:cNvSpPr>
          <p:nvPr>
            <p:ph type="title"/>
          </p:nvPr>
        </p:nvSpPr>
        <p:spPr>
          <a:xfrm>
            <a:off x="2412000" y="104400"/>
            <a:ext cx="4320000" cy="369332"/>
          </a:xfrm>
        </p:spPr>
        <p:txBody>
          <a:bodyPr/>
          <a:lstStyle/>
          <a:p>
            <a:r>
              <a:rPr lang="zh-CN" altLang="en-US" dirty="0"/>
              <a:t>内容</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a:extLst>
              <a:ext uri="{FF2B5EF4-FFF2-40B4-BE49-F238E27FC236}">
                <a16:creationId xmlns:a16="http://schemas.microsoft.com/office/drawing/2014/main" id="{9D801BA9-9C6A-24D0-E174-E3604316CB49}"/>
              </a:ext>
            </a:extLst>
          </p:cNvPr>
          <p:cNvSpPr/>
          <p:nvPr/>
        </p:nvSpPr>
        <p:spPr>
          <a:xfrm>
            <a:off x="5343480"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343480"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109304" y="3344167"/>
            <a:ext cx="234176" cy="942148"/>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343480"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109304" y="2402021"/>
            <a:ext cx="234176" cy="942146"/>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209304" y="3200167"/>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209304" y="1629922"/>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2" idx="3"/>
            <a:endCxn id="19" idx="1"/>
          </p:cNvCxnSpPr>
          <p:nvPr/>
        </p:nvCxnSpPr>
        <p:spPr>
          <a:xfrm flipV="1">
            <a:off x="3938177" y="1773922"/>
            <a:ext cx="271127" cy="77158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2" idx="3"/>
            <a:endCxn id="16" idx="1"/>
          </p:cNvCxnSpPr>
          <p:nvPr/>
        </p:nvCxnSpPr>
        <p:spPr>
          <a:xfrm>
            <a:off x="3938177" y="2545507"/>
            <a:ext cx="271127" cy="798660"/>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343480"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343480"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343480"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109304" y="1459874"/>
            <a:ext cx="23417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109304" y="1773922"/>
            <a:ext cx="23417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343480"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343480"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343480"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55" name="矩形: 圆角 54">
            <a:extLst>
              <a:ext uri="{FF2B5EF4-FFF2-40B4-BE49-F238E27FC236}">
                <a16:creationId xmlns:a16="http://schemas.microsoft.com/office/drawing/2014/main" id="{E8714F0E-B58F-F69E-78D3-8DE639F4A248}"/>
              </a:ext>
            </a:extLst>
          </p:cNvPr>
          <p:cNvSpPr/>
          <p:nvPr/>
        </p:nvSpPr>
        <p:spPr>
          <a:xfrm>
            <a:off x="5343480"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
        <p:nvSpPr>
          <p:cNvPr id="2" name="矩形: 圆角 1">
            <a:extLst>
              <a:ext uri="{FF2B5EF4-FFF2-40B4-BE49-F238E27FC236}">
                <a16:creationId xmlns:a16="http://schemas.microsoft.com/office/drawing/2014/main" id="{EA1617AA-3BC5-A6C2-7966-463E2BC3AC46}"/>
              </a:ext>
            </a:extLst>
          </p:cNvPr>
          <p:cNvSpPr/>
          <p:nvPr/>
        </p:nvSpPr>
        <p:spPr>
          <a:xfrm>
            <a:off x="3218177" y="2401507"/>
            <a:ext cx="72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6" name="矩形: 圆角 35">
            <a:extLst>
              <a:ext uri="{FF2B5EF4-FFF2-40B4-BE49-F238E27FC236}">
                <a16:creationId xmlns:a16="http://schemas.microsoft.com/office/drawing/2014/main" id="{C6587821-DD92-9679-7756-3E8C2C8D118E}"/>
              </a:ext>
            </a:extLst>
          </p:cNvPr>
          <p:cNvSpPr/>
          <p:nvPr/>
        </p:nvSpPr>
        <p:spPr>
          <a:xfrm>
            <a:off x="1641687" y="2365507"/>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715546" y="2562836"/>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686691" y="2278255"/>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1453249" y="2416755"/>
            <a:ext cx="188439" cy="128752"/>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1453249" y="2545506"/>
            <a:ext cx="188439" cy="155829"/>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BCEF811-7F64-BD01-2CB9-E070B7A67A30}"/>
              </a:ext>
            </a:extLst>
          </p:cNvPr>
          <p:cNvCxnSpPr>
            <a:stCxn id="36" idx="3"/>
            <a:endCxn id="2" idx="1"/>
          </p:cNvCxnSpPr>
          <p:nvPr/>
        </p:nvCxnSpPr>
        <p:spPr>
          <a:xfrm>
            <a:off x="3081687" y="2545507"/>
            <a:ext cx="136490" cy="0"/>
          </a:xfrm>
          <a:prstGeom prst="line">
            <a:avLst/>
          </a:prstGeom>
          <a:ln>
            <a:solidFill>
              <a:srgbClr val="E95420"/>
            </a:solidFill>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D4340A0-C51A-5E4C-20F7-B2039D288B6C}"/>
              </a:ext>
            </a:extLst>
          </p:cNvPr>
          <p:cNvSpPr>
            <a:spLocks noGrp="1"/>
          </p:cNvSpPr>
          <p:nvPr>
            <p:ph type="title"/>
          </p:nvPr>
        </p:nvSpPr>
        <p:spPr>
          <a:xfrm>
            <a:off x="2412000" y="104400"/>
            <a:ext cx="4320000" cy="369332"/>
          </a:xfrm>
        </p:spPr>
        <p:txBody>
          <a:bodyPr/>
          <a:lstStyle/>
          <a:p>
            <a:r>
              <a:rPr lang="zh-CN" altLang="en-US" dirty="0"/>
              <a:t>思维导图</a:t>
            </a:r>
          </a:p>
        </p:txBody>
      </p: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1684337" y="128111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1684337" y="1831215"/>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1684337" y="238131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2692400"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1835944" y="1072922"/>
            <a:ext cx="5472113" cy="17230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dirty="0">
                <a:solidFill>
                  <a:schemeClr val="bg1"/>
                </a:solidFill>
              </a:rPr>
              <a:t>5.1.1                                     </a:t>
            </a:r>
            <a:r>
              <a:rPr lang="zh-CN" altLang="en-US" dirty="0">
                <a:solidFill>
                  <a:schemeClr val="bg1"/>
                </a:solidFill>
              </a:rPr>
              <a:t>进程之间的通信</a:t>
            </a:r>
          </a:p>
          <a:p>
            <a:pPr eaLnBrk="0" hangingPunct="0">
              <a:lnSpc>
                <a:spcPct val="200000"/>
              </a:lnSpc>
            </a:pPr>
            <a:r>
              <a:rPr lang="en-US" altLang="zh-CN" dirty="0">
                <a:solidFill>
                  <a:schemeClr val="bg1"/>
                </a:solidFill>
              </a:rPr>
              <a:t>5.1.2                           </a:t>
            </a:r>
            <a:r>
              <a:rPr lang="zh-CN" altLang="en-US" dirty="0">
                <a:solidFill>
                  <a:schemeClr val="bg1"/>
                </a:solidFill>
              </a:rPr>
              <a:t>运输层的两个主要协议</a:t>
            </a:r>
          </a:p>
          <a:p>
            <a:pPr eaLnBrk="0" hangingPunct="0">
              <a:lnSpc>
                <a:spcPct val="200000"/>
              </a:lnSpc>
            </a:pPr>
            <a:r>
              <a:rPr lang="en-US" altLang="zh-CN" dirty="0">
                <a:solidFill>
                  <a:schemeClr val="bg1"/>
                </a:solidFill>
              </a:rPr>
              <a:t>5.1.3                                         </a:t>
            </a:r>
            <a:r>
              <a:rPr lang="zh-CN" altLang="en-US" dirty="0">
                <a:solidFill>
                  <a:schemeClr val="bg1"/>
                </a:solidFill>
              </a:rPr>
              <a:t>运输层的端口</a:t>
            </a:r>
          </a:p>
        </p:txBody>
      </p:sp>
      <p:sp>
        <p:nvSpPr>
          <p:cNvPr id="2" name="标题 1">
            <a:extLst>
              <a:ext uri="{FF2B5EF4-FFF2-40B4-BE49-F238E27FC236}">
                <a16:creationId xmlns:a16="http://schemas.microsoft.com/office/drawing/2014/main" id="{1ADF60E7-D754-913D-2EE5-8B4A9186B081}"/>
              </a:ext>
            </a:extLst>
          </p:cNvPr>
          <p:cNvSpPr>
            <a:spLocks noGrp="1"/>
          </p:cNvSpPr>
          <p:nvPr>
            <p:ph type="title"/>
          </p:nvPr>
        </p:nvSpPr>
        <p:spPr>
          <a:xfrm>
            <a:off x="2412000" y="104400"/>
            <a:ext cx="4320000" cy="369332"/>
          </a:xfrm>
        </p:spPr>
        <p:txBody>
          <a:bodyPr/>
          <a:lstStyle/>
          <a:p>
            <a:r>
              <a:rPr lang="fr-FR" altLang="zh-CN" dirty="0"/>
              <a:t>5.1 </a:t>
            </a:r>
            <a:r>
              <a:rPr lang="zh-CN" altLang="en-US" dirty="0"/>
              <a:t>运输层协议</a:t>
            </a:r>
            <a:r>
              <a:rPr lang="zh-CN" altLang="fr-FR" dirty="0"/>
              <a:t>概述</a:t>
            </a:r>
            <a:endParaRPr lang="zh-CN" altLang="en-US" dirty="0"/>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482554"/>
            <a:ext cx="8172000" cy="4267246"/>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2412000" y="104400"/>
            <a:ext cx="4320000" cy="369332"/>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2412000" y="104400"/>
            <a:ext cx="4320000" cy="369332"/>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482554"/>
            <a:ext cx="8172000" cy="4267246"/>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2412000" y="104400"/>
            <a:ext cx="4320000" cy="369332"/>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482554"/>
            <a:ext cx="8172000" cy="4267246"/>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2412000" y="104400"/>
            <a:ext cx="4320000" cy="369332"/>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95381264"/>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2412000" y="104400"/>
            <a:ext cx="4320000" cy="369332"/>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2412000" y="104400"/>
            <a:ext cx="4320000" cy="369332"/>
          </a:xfrm>
        </p:spPr>
        <p:txBody>
          <a:bodyPr/>
          <a:lstStyle/>
          <a:p>
            <a:r>
              <a:rPr lang="zh-CN" altLang="en-US" dirty="0"/>
              <a:t>典型应用及应用层协议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246221"/>
          </a:xfrm>
          <a:prstGeom prst="rect">
            <a:avLst/>
          </a:prstGeom>
          <a:noFill/>
          <a:ln>
            <a:noFill/>
          </a:ln>
        </p:spPr>
        <p:txBody>
          <a:bodyPr wrap="square" tIns="0" bIns="0">
            <a:spAutoFit/>
          </a:bodyPr>
          <a:lstStyle/>
          <a:p>
            <a:pPr algn="ctr"/>
            <a:r>
              <a:rPr lang="zh-CN" altLang="en-US" sz="1600" dirty="0"/>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482554"/>
            <a:ext cx="8172000" cy="4267246"/>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2412000" y="104400"/>
            <a:ext cx="4320000" cy="369332"/>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482554"/>
            <a:ext cx="8172000" cy="4267246"/>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2412000" y="104400"/>
            <a:ext cx="4320000" cy="369332"/>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482554"/>
            <a:ext cx="8172000" cy="4267246"/>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2412000" y="104400"/>
            <a:ext cx="4320000" cy="369332"/>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8259480"/>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2412000" y="104400"/>
            <a:ext cx="4320000" cy="369332"/>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10285" y="1805093"/>
            <a:ext cx="4162442" cy="1801831"/>
            <a:chOff x="2410285" y="2487614"/>
            <a:chExt cx="4162442" cy="1801831"/>
          </a:xfrm>
        </p:grpSpPr>
        <p:grpSp>
          <p:nvGrpSpPr>
            <p:cNvPr id="4" name="组合 3"/>
            <p:cNvGrpSpPr/>
            <p:nvPr/>
          </p:nvGrpSpPr>
          <p:grpSpPr>
            <a:xfrm>
              <a:off x="4996655" y="2487614"/>
              <a:ext cx="1576072" cy="1801831"/>
              <a:chOff x="4969425" y="2487613"/>
              <a:chExt cx="2025872" cy="2237201"/>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70</a:t>
                  </a:r>
                  <a:endParaRPr lang="zh-CN" altLang="en-US" dirty="0"/>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90</a:t>
                  </a:r>
                  <a:endParaRPr lang="zh-CN" altLang="en-US" dirty="0"/>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2" name="Text Box 10"/>
              <p:cNvSpPr txBox="1">
                <a:spLocks noChangeArrowheads="1"/>
              </p:cNvSpPr>
              <p:nvPr/>
            </p:nvSpPr>
            <p:spPr bwMode="auto">
              <a:xfrm>
                <a:off x="4969425" y="4266242"/>
                <a:ext cx="2025872" cy="4585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dirty="0"/>
                  <a:t>1</a:t>
                </a:r>
                <a:r>
                  <a:rPr lang="en-US" altLang="zh-CN" dirty="0"/>
                  <a:t>92</a:t>
                </a:r>
                <a:r>
                  <a:rPr lang="zh-CN" altLang="en-US" dirty="0"/>
                  <a:t>.1</a:t>
                </a:r>
                <a:r>
                  <a:rPr lang="en-US" altLang="zh-CN" dirty="0"/>
                  <a:t>68</a:t>
                </a:r>
                <a:r>
                  <a:rPr lang="zh-CN" altLang="en-US" dirty="0"/>
                  <a:t>.</a:t>
                </a:r>
                <a:r>
                  <a:rPr lang="en-US" altLang="zh-CN" dirty="0"/>
                  <a:t>1</a:t>
                </a:r>
                <a:r>
                  <a:rPr lang="zh-CN" altLang="en-US" dirty="0"/>
                  <a:t>.</a:t>
                </a:r>
                <a:r>
                  <a:rPr lang="en-US" altLang="zh-CN" dirty="0"/>
                  <a:t>7</a:t>
                </a:r>
                <a:r>
                  <a:rPr lang="zh-CN" altLang="en-US" dirty="0"/>
                  <a:t>:80</a:t>
                </a:r>
                <a:endParaRPr lang="en-US" altLang="zh-CN" dirty="0"/>
              </a:p>
            </p:txBody>
          </p:sp>
        </p:grpSp>
        <p:grpSp>
          <p:nvGrpSpPr>
            <p:cNvPr id="3" name="组合 2"/>
            <p:cNvGrpSpPr/>
            <p:nvPr/>
          </p:nvGrpSpPr>
          <p:grpSpPr>
            <a:xfrm>
              <a:off x="2410285" y="2487614"/>
              <a:ext cx="1691489" cy="1801831"/>
              <a:chOff x="1805316" y="2487613"/>
              <a:chExt cx="2174227" cy="2237201"/>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70</a:t>
                  </a:r>
                  <a:endParaRPr lang="zh-CN" altLang="en-US" dirty="0"/>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90</a:t>
                  </a:r>
                  <a:endParaRPr lang="zh-CN" altLang="en-US" dirty="0"/>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dirty="0"/>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63" name="Text Box 10"/>
              <p:cNvSpPr txBox="1">
                <a:spLocks noChangeArrowheads="1"/>
              </p:cNvSpPr>
              <p:nvPr/>
            </p:nvSpPr>
            <p:spPr bwMode="auto">
              <a:xfrm>
                <a:off x="1805316" y="4266242"/>
                <a:ext cx="2174227" cy="4585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dirty="0"/>
                  <a:t>1</a:t>
                </a:r>
                <a:r>
                  <a:rPr lang="en-US" altLang="zh-CN" dirty="0"/>
                  <a:t>92</a:t>
                </a:r>
                <a:r>
                  <a:rPr lang="zh-CN" altLang="en-US" dirty="0"/>
                  <a:t>.1</a:t>
                </a:r>
                <a:r>
                  <a:rPr lang="en-US" altLang="zh-CN" dirty="0"/>
                  <a:t>68</a:t>
                </a:r>
                <a:r>
                  <a:rPr lang="zh-CN" altLang="en-US" dirty="0"/>
                  <a:t>.</a:t>
                </a:r>
                <a:r>
                  <a:rPr lang="en-US" altLang="zh-CN" dirty="0"/>
                  <a:t>10</a:t>
                </a:r>
                <a:r>
                  <a:rPr lang="zh-CN" altLang="en-US" dirty="0"/>
                  <a:t>.</a:t>
                </a:r>
                <a:r>
                  <a:rPr lang="en-US" altLang="zh-CN" dirty="0"/>
                  <a:t>2</a:t>
                </a:r>
                <a:r>
                  <a:rPr lang="zh-CN" altLang="en-US" dirty="0"/>
                  <a:t>:80</a:t>
                </a:r>
                <a:endParaRPr lang="en-US" altLang="zh-CN" dirty="0"/>
              </a:p>
            </p:txBody>
          </p:sp>
        </p:grpSp>
        <p:sp>
          <p:nvSpPr>
            <p:cNvPr id="64" name="Rectangle 396"/>
            <p:cNvSpPr>
              <a:spLocks noChangeArrowheads="1"/>
            </p:cNvSpPr>
            <p:nvPr/>
          </p:nvSpPr>
          <p:spPr bwMode="auto">
            <a:xfrm>
              <a:off x="4188025" y="3320611"/>
              <a:ext cx="644409" cy="366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zh-CN" altLang="en-US" dirty="0"/>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a:p>
          </p:txBody>
        </p:sp>
      </p:grpSp>
      <p:sp>
        <p:nvSpPr>
          <p:cNvPr id="2" name="矩形 1"/>
          <p:cNvSpPr/>
          <p:nvPr/>
        </p:nvSpPr>
        <p:spPr>
          <a:xfrm>
            <a:off x="485775" y="3997543"/>
            <a:ext cx="8172450" cy="725776"/>
          </a:xfrm>
          <a:prstGeom prst="rect">
            <a:avLst/>
          </a:prstGeom>
        </p:spPr>
        <p:txBody>
          <a:bodyPr wrap="square">
            <a:spAutoFit/>
          </a:bodyPr>
          <a:lstStyle/>
          <a:p>
            <a:pPr>
              <a:lnSpc>
                <a:spcPts val="2600"/>
              </a:lnSpc>
              <a:spcBef>
                <a:spcPts val="600"/>
              </a:spcBef>
            </a:pPr>
            <a:r>
              <a:rPr lang="zh-CN" altLang="en-US" sz="1600" dirty="0"/>
              <a:t>两个计算机中的进程要互相通信，不仅必须知道对方的端口号，而且还要知道对方的 </a:t>
            </a:r>
            <a:r>
              <a:rPr lang="en-US" altLang="zh-CN" sz="1600" dirty="0"/>
              <a:t>IP </a:t>
            </a:r>
            <a:r>
              <a:rPr lang="zh-CN" altLang="en-US" sz="1600" dirty="0"/>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482554"/>
            <a:ext cx="8172000" cy="4267246"/>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2412000" y="104400"/>
            <a:ext cx="4320000" cy="369332"/>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508750" y="3056515"/>
            <a:ext cx="2262158" cy="923330"/>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a:solidFill>
                <a:srgbClr val="0000FF"/>
              </a:solidFill>
              <a:latin typeface="微软雅黑" pitchFamily="34" charset="-122"/>
              <a:ea typeface="微软雅黑" pitchFamily="34" charset="-122"/>
            </a:endParaRPr>
          </a:p>
          <a:p>
            <a:pPr algn="ctr"/>
            <a:r>
              <a:rPr lang="zh-CN" altLang="en-US" sz="1600" b="1">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通信结束后，被系统收回）</a:t>
            </a:r>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2412000" y="104400"/>
            <a:ext cx="4320000" cy="369332"/>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172438912"/>
              </p:ext>
            </p:extLst>
          </p:nvPr>
        </p:nvGraphicFramePr>
        <p:xfrm>
          <a:off x="1347347" y="3381058"/>
          <a:ext cx="6396836" cy="720000"/>
        </p:xfrm>
        <a:graphic>
          <a:graphicData uri="http://schemas.openxmlformats.org/drawingml/2006/table">
            <a:tbl>
              <a:tblPr/>
              <a:tblGrid>
                <a:gridCol w="3198418">
                  <a:extLst>
                    <a:ext uri="{9D8B030D-6E8A-4147-A177-3AD203B41FA5}">
                      <a16:colId xmlns:a16="http://schemas.microsoft.com/office/drawing/2014/main" val="20000"/>
                    </a:ext>
                  </a:extLst>
                </a:gridCol>
                <a:gridCol w="3198418">
                  <a:extLst>
                    <a:ext uri="{9D8B030D-6E8A-4147-A177-3AD203B41FA5}">
                      <a16:colId xmlns:a16="http://schemas.microsoft.com/office/drawing/2014/main" val="20001"/>
                    </a:ext>
                  </a:extLst>
                </a:gridCol>
              </a:tblGrid>
              <a:tr h="360000">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0" i="0" u="none" strike="noStrike" cap="none" normalizeH="0" baseline="0" dirty="0">
                          <a:ln>
                            <a:noFill/>
                          </a:ln>
                          <a:solidFill>
                            <a:sysClr val="windowText" lastClr="000000"/>
                          </a:solidFill>
                          <a:effectLst/>
                          <a:latin typeface="+mn-lt"/>
                          <a:ea typeface="+mn-ea"/>
                        </a:rPr>
                        <a:t>UDP</a:t>
                      </a:r>
                    </a:p>
                  </a:txBody>
                  <a:tcPr marL="99060" marR="99060" marT="45732" marB="4573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0" i="0" u="none" strike="noStrike" cap="none" normalizeH="0" baseline="0" dirty="0">
                          <a:ln>
                            <a:noFill/>
                          </a:ln>
                          <a:solidFill>
                            <a:sysClr val="windowText" lastClr="000000"/>
                          </a:solidFill>
                          <a:effectLst/>
                          <a:latin typeface="+mn-lt"/>
                          <a:ea typeface="+mn-ea"/>
                        </a:rPr>
                        <a:t>TCP</a:t>
                      </a:r>
                    </a:p>
                  </a:txBody>
                  <a:tcPr marL="99060" marR="99060" marT="45732" marB="4573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0000">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0" i="0" u="none" strike="noStrike" cap="none" normalizeH="0" baseline="0" dirty="0">
                          <a:ln>
                            <a:noFill/>
                          </a:ln>
                          <a:solidFill>
                            <a:sysClr val="windowText" lastClr="000000"/>
                          </a:solidFill>
                          <a:effectLst/>
                          <a:latin typeface="+mn-lt"/>
                          <a:ea typeface="+mn-ea"/>
                        </a:rPr>
                        <a:t>IP</a:t>
                      </a:r>
                    </a:p>
                  </a:txBody>
                  <a:tcPr marL="99060" marR="99060" marT="45732" marB="4573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sp>
        <p:nvSpPr>
          <p:cNvPr id="146" name="Text Box 14"/>
          <p:cNvSpPr txBox="1">
            <a:spLocks noChangeArrowheads="1"/>
          </p:cNvSpPr>
          <p:nvPr/>
        </p:nvSpPr>
        <p:spPr bwMode="auto">
          <a:xfrm>
            <a:off x="4707037" y="2624570"/>
            <a:ext cx="105176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SMTP</a:t>
            </a:r>
          </a:p>
        </p:txBody>
      </p:sp>
      <p:sp>
        <p:nvSpPr>
          <p:cNvPr id="147" name="Text Box 15"/>
          <p:cNvSpPr txBox="1">
            <a:spLocks noChangeArrowheads="1"/>
          </p:cNvSpPr>
          <p:nvPr/>
        </p:nvSpPr>
        <p:spPr bwMode="auto">
          <a:xfrm>
            <a:off x="5475867" y="2281876"/>
            <a:ext cx="97075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FTP</a:t>
            </a:r>
          </a:p>
        </p:txBody>
      </p:sp>
      <p:sp>
        <p:nvSpPr>
          <p:cNvPr id="148" name="Text Box 16"/>
          <p:cNvSpPr txBox="1">
            <a:spLocks noChangeArrowheads="1"/>
          </p:cNvSpPr>
          <p:nvPr/>
        </p:nvSpPr>
        <p:spPr bwMode="auto">
          <a:xfrm>
            <a:off x="5969686" y="1910923"/>
            <a:ext cx="11327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Telnet</a:t>
            </a:r>
          </a:p>
        </p:txBody>
      </p:sp>
      <p:sp>
        <p:nvSpPr>
          <p:cNvPr id="149" name="Text Box 17"/>
          <p:cNvSpPr txBox="1">
            <a:spLocks noChangeArrowheads="1"/>
          </p:cNvSpPr>
          <p:nvPr/>
        </p:nvSpPr>
        <p:spPr bwMode="auto">
          <a:xfrm>
            <a:off x="1451405" y="2680648"/>
            <a:ext cx="8087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RPC</a:t>
            </a:r>
          </a:p>
        </p:txBody>
      </p:sp>
      <p:sp>
        <p:nvSpPr>
          <p:cNvPr id="150" name="Text Box 18"/>
          <p:cNvSpPr txBox="1">
            <a:spLocks noChangeArrowheads="1"/>
          </p:cNvSpPr>
          <p:nvPr/>
        </p:nvSpPr>
        <p:spPr bwMode="auto">
          <a:xfrm>
            <a:off x="2031304" y="2400258"/>
            <a:ext cx="9707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DNS</a:t>
            </a:r>
          </a:p>
        </p:txBody>
      </p:sp>
      <p:sp>
        <p:nvSpPr>
          <p:cNvPr id="151" name="Text Box 19"/>
          <p:cNvSpPr txBox="1">
            <a:spLocks noChangeArrowheads="1"/>
          </p:cNvSpPr>
          <p:nvPr/>
        </p:nvSpPr>
        <p:spPr bwMode="auto">
          <a:xfrm>
            <a:off x="3236952" y="1700822"/>
            <a:ext cx="11327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SNMP</a:t>
            </a:r>
          </a:p>
        </p:txBody>
      </p:sp>
      <p:sp>
        <p:nvSpPr>
          <p:cNvPr id="152" name="Text Box 20"/>
          <p:cNvSpPr txBox="1">
            <a:spLocks noChangeArrowheads="1"/>
          </p:cNvSpPr>
          <p:nvPr/>
        </p:nvSpPr>
        <p:spPr bwMode="auto">
          <a:xfrm>
            <a:off x="2621229" y="2016910"/>
            <a:ext cx="12137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TFTP</a:t>
            </a:r>
          </a:p>
        </p:txBody>
      </p:sp>
      <p:sp>
        <p:nvSpPr>
          <p:cNvPr id="153" name="Oval 21"/>
          <p:cNvSpPr>
            <a:spLocks noChangeArrowheads="1"/>
          </p:cNvSpPr>
          <p:nvPr/>
        </p:nvSpPr>
        <p:spPr bwMode="auto">
          <a:xfrm>
            <a:off x="1554591"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2234977"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479957"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879197"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010794"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5610568"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6205098"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694409" y="2958749"/>
            <a:ext cx="0" cy="28039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61" name="Line 29"/>
          <p:cNvSpPr>
            <a:spLocks noChangeShapeType="1"/>
          </p:cNvSpPr>
          <p:nvPr/>
        </p:nvSpPr>
        <p:spPr bwMode="auto">
          <a:xfrm>
            <a:off x="2356480" y="2678357"/>
            <a:ext cx="0" cy="560783"/>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62" name="Line 30"/>
          <p:cNvSpPr>
            <a:spLocks noChangeShapeType="1"/>
          </p:cNvSpPr>
          <p:nvPr/>
        </p:nvSpPr>
        <p:spPr bwMode="auto">
          <a:xfrm>
            <a:off x="3601460" y="1962046"/>
            <a:ext cx="0" cy="127709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63" name="Line 31"/>
          <p:cNvSpPr>
            <a:spLocks noChangeShapeType="1"/>
          </p:cNvSpPr>
          <p:nvPr/>
        </p:nvSpPr>
        <p:spPr bwMode="auto">
          <a:xfrm>
            <a:off x="3000700" y="2308007"/>
            <a:ext cx="0" cy="931133"/>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64" name="Line 32"/>
          <p:cNvSpPr>
            <a:spLocks noChangeShapeType="1"/>
          </p:cNvSpPr>
          <p:nvPr/>
        </p:nvSpPr>
        <p:spPr bwMode="auto">
          <a:xfrm>
            <a:off x="5132297" y="2902671"/>
            <a:ext cx="0" cy="33647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65" name="Line 33"/>
          <p:cNvSpPr>
            <a:spLocks noChangeShapeType="1"/>
          </p:cNvSpPr>
          <p:nvPr/>
        </p:nvSpPr>
        <p:spPr bwMode="auto">
          <a:xfrm>
            <a:off x="5757713" y="2536409"/>
            <a:ext cx="0" cy="70273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66" name="Line 34"/>
          <p:cNvSpPr>
            <a:spLocks noChangeShapeType="1"/>
          </p:cNvSpPr>
          <p:nvPr/>
        </p:nvSpPr>
        <p:spPr bwMode="auto">
          <a:xfrm>
            <a:off x="6334195" y="2153062"/>
            <a:ext cx="0" cy="108607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68" name="Text Box 36"/>
          <p:cNvSpPr txBox="1">
            <a:spLocks noChangeArrowheads="1"/>
          </p:cNvSpPr>
          <p:nvPr/>
        </p:nvSpPr>
        <p:spPr bwMode="auto">
          <a:xfrm>
            <a:off x="1973684" y="2958750"/>
            <a:ext cx="8264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53</a:t>
            </a:r>
          </a:p>
        </p:txBody>
      </p:sp>
      <p:sp>
        <p:nvSpPr>
          <p:cNvPr id="169" name="Text Box 37"/>
          <p:cNvSpPr txBox="1">
            <a:spLocks noChangeArrowheads="1"/>
          </p:cNvSpPr>
          <p:nvPr/>
        </p:nvSpPr>
        <p:spPr bwMode="auto">
          <a:xfrm>
            <a:off x="354659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161</a:t>
            </a:r>
          </a:p>
        </p:txBody>
      </p:sp>
      <p:sp>
        <p:nvSpPr>
          <p:cNvPr id="170" name="Text Box 38"/>
          <p:cNvSpPr txBox="1">
            <a:spLocks noChangeArrowheads="1"/>
          </p:cNvSpPr>
          <p:nvPr/>
        </p:nvSpPr>
        <p:spPr bwMode="auto">
          <a:xfrm>
            <a:off x="2970012" y="2958751"/>
            <a:ext cx="67586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69</a:t>
            </a:r>
          </a:p>
        </p:txBody>
      </p:sp>
      <p:sp>
        <p:nvSpPr>
          <p:cNvPr id="171" name="Text Box 39"/>
          <p:cNvSpPr txBox="1">
            <a:spLocks noChangeArrowheads="1"/>
          </p:cNvSpPr>
          <p:nvPr/>
        </p:nvSpPr>
        <p:spPr bwMode="auto">
          <a:xfrm>
            <a:off x="4763892" y="2958751"/>
            <a:ext cx="67586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25</a:t>
            </a:r>
          </a:p>
        </p:txBody>
      </p:sp>
      <p:sp>
        <p:nvSpPr>
          <p:cNvPr id="173" name="Text Box 41"/>
          <p:cNvSpPr txBox="1">
            <a:spLocks noChangeArrowheads="1"/>
          </p:cNvSpPr>
          <p:nvPr/>
        </p:nvSpPr>
        <p:spPr bwMode="auto">
          <a:xfrm>
            <a:off x="6314201" y="2958751"/>
            <a:ext cx="67586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23</a:t>
            </a:r>
          </a:p>
        </p:txBody>
      </p:sp>
      <p:sp>
        <p:nvSpPr>
          <p:cNvPr id="174" name="Text Box 42"/>
          <p:cNvSpPr txBox="1">
            <a:spLocks noChangeArrowheads="1"/>
          </p:cNvSpPr>
          <p:nvPr/>
        </p:nvSpPr>
        <p:spPr bwMode="auto">
          <a:xfrm>
            <a:off x="6499619" y="1475897"/>
            <a:ext cx="11327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HTTP</a:t>
            </a:r>
          </a:p>
        </p:txBody>
      </p:sp>
      <p:sp>
        <p:nvSpPr>
          <p:cNvPr id="175" name="Oval 43"/>
          <p:cNvSpPr>
            <a:spLocks noChangeArrowheads="1"/>
          </p:cNvSpPr>
          <p:nvPr/>
        </p:nvSpPr>
        <p:spPr bwMode="auto">
          <a:xfrm>
            <a:off x="6764585"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6893681" y="1758907"/>
            <a:ext cx="0" cy="1480232"/>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77" name="Text Box 45"/>
          <p:cNvSpPr txBox="1">
            <a:spLocks noChangeArrowheads="1"/>
          </p:cNvSpPr>
          <p:nvPr/>
        </p:nvSpPr>
        <p:spPr bwMode="auto">
          <a:xfrm>
            <a:off x="6873687" y="2958751"/>
            <a:ext cx="67586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80</a:t>
            </a:r>
          </a:p>
        </p:txBody>
      </p:sp>
      <p:sp>
        <p:nvSpPr>
          <p:cNvPr id="178" name="Text Box 42"/>
          <p:cNvSpPr txBox="1">
            <a:spLocks noChangeArrowheads="1"/>
          </p:cNvSpPr>
          <p:nvPr/>
        </p:nvSpPr>
        <p:spPr bwMode="auto">
          <a:xfrm>
            <a:off x="6923565" y="1117895"/>
            <a:ext cx="11327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HTTPS</a:t>
            </a:r>
          </a:p>
        </p:txBody>
      </p:sp>
      <p:sp>
        <p:nvSpPr>
          <p:cNvPr id="179" name="Oval 43"/>
          <p:cNvSpPr>
            <a:spLocks noChangeArrowheads="1"/>
          </p:cNvSpPr>
          <p:nvPr/>
        </p:nvSpPr>
        <p:spPr bwMode="auto">
          <a:xfrm>
            <a:off x="7282682"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7411778" y="1376874"/>
            <a:ext cx="0" cy="1862266"/>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81" name="Text Box 45"/>
          <p:cNvSpPr txBox="1">
            <a:spLocks noChangeArrowheads="1"/>
          </p:cNvSpPr>
          <p:nvPr/>
        </p:nvSpPr>
        <p:spPr bwMode="auto">
          <a:xfrm>
            <a:off x="7391784" y="2958751"/>
            <a:ext cx="67586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443</a:t>
            </a:r>
          </a:p>
        </p:txBody>
      </p:sp>
      <p:sp>
        <p:nvSpPr>
          <p:cNvPr id="182" name="Text Box 19"/>
          <p:cNvSpPr txBox="1">
            <a:spLocks noChangeArrowheads="1"/>
          </p:cNvSpPr>
          <p:nvPr/>
        </p:nvSpPr>
        <p:spPr bwMode="auto">
          <a:xfrm>
            <a:off x="3584989" y="1209386"/>
            <a:ext cx="15949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SNMP(trap)</a:t>
            </a:r>
          </a:p>
        </p:txBody>
      </p:sp>
      <p:sp>
        <p:nvSpPr>
          <p:cNvPr id="183" name="Oval 23"/>
          <p:cNvSpPr>
            <a:spLocks noChangeArrowheads="1"/>
          </p:cNvSpPr>
          <p:nvPr/>
        </p:nvSpPr>
        <p:spPr bwMode="auto">
          <a:xfrm>
            <a:off x="4081144" y="3256666"/>
            <a:ext cx="253131" cy="231323"/>
          </a:xfrm>
          <a:prstGeom prst="ellipse">
            <a:avLst/>
          </a:prstGeom>
          <a:solidFill>
            <a:schemeClr val="bg1"/>
          </a:solidFill>
          <a:ln w="12700">
            <a:solidFill>
              <a:schemeClr val="tx1"/>
            </a:solidFill>
            <a:round/>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202647" y="1481690"/>
            <a:ext cx="0" cy="175745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b="0" dirty="0">
                <a:latin typeface="+mn-lt"/>
                <a:ea typeface="+mn-ea"/>
              </a:rPr>
              <a:t>111</a:t>
            </a:r>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2412000" y="104400"/>
            <a:ext cx="4320000" cy="369332"/>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
        <p:nvSpPr>
          <p:cNvPr id="2" name="标题 1">
            <a:extLst>
              <a:ext uri="{FF2B5EF4-FFF2-40B4-BE49-F238E27FC236}">
                <a16:creationId xmlns:a16="http://schemas.microsoft.com/office/drawing/2014/main" id="{D5AC3860-4800-F715-85B2-2D538165CDDF}"/>
              </a:ext>
            </a:extLst>
          </p:cNvPr>
          <p:cNvSpPr>
            <a:spLocks noGrp="1"/>
          </p:cNvSpPr>
          <p:nvPr>
            <p:ph type="title"/>
          </p:nvPr>
        </p:nvSpPr>
        <p:spPr>
          <a:xfrm>
            <a:off x="2412000" y="104400"/>
            <a:ext cx="4320000" cy="369332"/>
          </a:xfrm>
        </p:spPr>
        <p:txBody>
          <a:bodyPr/>
          <a:lstStyle/>
          <a:p>
            <a:r>
              <a:rPr lang="zh-CN" altLang="en-US" dirty="0"/>
              <a:t>示例</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2" name="标题 1">
            <a:extLst>
              <a:ext uri="{FF2B5EF4-FFF2-40B4-BE49-F238E27FC236}">
                <a16:creationId xmlns:a16="http://schemas.microsoft.com/office/drawing/2014/main" id="{499713A6-D426-E5F8-489B-22D98A3BFE7D}"/>
              </a:ext>
            </a:extLst>
          </p:cNvPr>
          <p:cNvSpPr>
            <a:spLocks noGrp="1"/>
          </p:cNvSpPr>
          <p:nvPr>
            <p:ph type="title"/>
          </p:nvPr>
        </p:nvSpPr>
        <p:spPr>
          <a:xfrm>
            <a:off x="2412000" y="104400"/>
            <a:ext cx="4320000" cy="369332"/>
          </a:xfrm>
        </p:spPr>
        <p:txBody>
          <a:bodyPr/>
          <a:lstStyle/>
          <a:p>
            <a:r>
              <a:rPr lang="fr-FR" altLang="zh-CN" dirty="0"/>
              <a:t>5.2 </a:t>
            </a:r>
            <a:r>
              <a:rPr lang="zh-CN" altLang="en-US" dirty="0"/>
              <a:t>用户数据报协议 </a:t>
            </a:r>
            <a:r>
              <a:rPr lang="en-US" altLang="zh-CN" dirty="0"/>
              <a:t>UDP</a:t>
            </a:r>
            <a:endParaRPr lang="zh-CN" altLang="fr-FR" dirty="0"/>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482554"/>
            <a:ext cx="8172000" cy="4267246"/>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2412000" y="104400"/>
            <a:ext cx="4320000" cy="369332"/>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482554"/>
            <a:ext cx="8172000" cy="4267246"/>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2412000" y="104400"/>
            <a:ext cx="4320000" cy="369332"/>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a:latin typeface="微软雅黑" panose="020B0503020204020204" pitchFamily="34" charset="-122"/>
                <a:ea typeface="微软雅黑" panose="020B0503020204020204" pitchFamily="34" charset="-122"/>
              </a:rPr>
              <a:t>UDP </a:t>
            </a:r>
            <a:r>
              <a:rPr lang="zh-CN" altLang="en-US" sz="1600" b="1">
                <a:latin typeface="微软雅黑" panose="020B0503020204020204" pitchFamily="34" charset="-122"/>
                <a:ea typeface="微软雅黑" panose="020B0503020204020204" pitchFamily="34" charset="-122"/>
              </a:rPr>
              <a:t>对</a:t>
            </a:r>
            <a:r>
              <a:rPr lang="zh-CN" altLang="en-US" sz="1600" b="1" dirty="0">
                <a:latin typeface="微软雅黑" panose="020B0503020204020204" pitchFamily="34" charset="-122"/>
                <a:ea typeface="微软雅黑" panose="020B0503020204020204" pitchFamily="34" charset="-122"/>
              </a:rPr>
              <a:t>应用层交下来的报文，既不合并，也不拆分，按照样发送。</a:t>
            </a:r>
            <a:endParaRPr lang="en-US" altLang="zh-CN" sz="1600" b="1">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a:solidFill>
                  <a:srgbClr val="C00000"/>
                </a:solidFill>
                <a:latin typeface="微软雅黑" panose="020B0503020204020204" pitchFamily="34" charset="-122"/>
                <a:ea typeface="微软雅黑" panose="020B0503020204020204" pitchFamily="34" charset="-122"/>
              </a:rPr>
              <a:t>接</a:t>
            </a:r>
            <a:r>
              <a:rPr lang="zh-CN" altLang="en-US" sz="1600" b="1" dirty="0">
                <a:solidFill>
                  <a:srgbClr val="C00000"/>
                </a:solidFill>
                <a:latin typeface="微软雅黑" panose="020B0503020204020204" pitchFamily="34" charset="-122"/>
                <a:ea typeface="微软雅黑" panose="020B0503020204020204" pitchFamily="34" charset="-122"/>
              </a:rPr>
              <a:t>收方</a:t>
            </a:r>
            <a:r>
              <a:rPr lang="zh-CN" altLang="en-US" sz="1600" b="1" dirty="0">
                <a:latin typeface="微软雅黑" panose="020B0503020204020204" pitchFamily="34" charset="-122"/>
                <a:ea typeface="微软雅黑" panose="020B0503020204020204" pitchFamily="34" charset="-122"/>
              </a:rPr>
              <a:t> </a:t>
            </a:r>
            <a:r>
              <a:rPr lang="en-US" altLang="zh-CN" sz="1600" b="1">
                <a:latin typeface="微软雅黑" panose="020B0503020204020204" pitchFamily="34" charset="-122"/>
                <a:ea typeface="微软雅黑" panose="020B0503020204020204" pitchFamily="34" charset="-122"/>
              </a:rPr>
              <a:t>UDP </a:t>
            </a:r>
            <a:r>
              <a:rPr lang="zh-CN" altLang="en-US" sz="1600" b="1">
                <a:latin typeface="微软雅黑" panose="020B0503020204020204" pitchFamily="34" charset="-122"/>
                <a:ea typeface="微软雅黑" panose="020B0503020204020204" pitchFamily="34" charset="-122"/>
              </a:rPr>
              <a:t>对 </a:t>
            </a:r>
            <a:r>
              <a:rPr lang="en-US" altLang="zh-CN" sz="1600" b="1">
                <a:latin typeface="微软雅黑" panose="020B0503020204020204" pitchFamily="34" charset="-122"/>
                <a:ea typeface="微软雅黑" panose="020B0503020204020204" pitchFamily="34" charset="-122"/>
              </a:rPr>
              <a:t>IP </a:t>
            </a:r>
            <a:r>
              <a:rPr lang="zh-CN" altLang="en-US" sz="1600" b="1">
                <a:latin typeface="微软雅黑" panose="020B0503020204020204" pitchFamily="34" charset="-122"/>
                <a:ea typeface="微软雅黑" panose="020B0503020204020204" pitchFamily="34" charset="-122"/>
              </a:rPr>
              <a:t>层</a:t>
            </a:r>
            <a:r>
              <a:rPr lang="zh-CN" altLang="en-US" sz="1600" b="1" dirty="0">
                <a:latin typeface="微软雅黑" panose="020B0503020204020204" pitchFamily="34" charset="-122"/>
                <a:ea typeface="微软雅黑" panose="020B0503020204020204" pitchFamily="34" charset="-122"/>
              </a:rPr>
              <a:t>交上来的 </a:t>
            </a:r>
            <a:r>
              <a:rPr lang="en-US" altLang="zh-CN" sz="1600" b="1">
                <a:latin typeface="微软雅黑" panose="020B0503020204020204" pitchFamily="34" charset="-122"/>
                <a:ea typeface="微软雅黑" panose="020B0503020204020204" pitchFamily="34" charset="-122"/>
              </a:rPr>
              <a:t>UDP </a:t>
            </a:r>
            <a:r>
              <a:rPr lang="zh-CN" altLang="en-US" sz="1600" b="1">
                <a:latin typeface="微软雅黑" panose="020B0503020204020204" pitchFamily="34" charset="-122"/>
                <a:ea typeface="微软雅黑" panose="020B0503020204020204" pitchFamily="34" charset="-122"/>
              </a:rPr>
              <a:t>用</a:t>
            </a:r>
            <a:r>
              <a:rPr lang="zh-CN" altLang="en-US" sz="1600" b="1" dirty="0">
                <a:latin typeface="微软雅黑" panose="020B0503020204020204" pitchFamily="34" charset="-122"/>
                <a:ea typeface="微软雅黑" panose="020B0503020204020204" pitchFamily="34" charset="-122"/>
              </a:rPr>
              <a:t>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2412000" y="104400"/>
            <a:ext cx="4320000" cy="369332"/>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1176115738"/>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4251585545"/>
              </p:ext>
            </p:extLst>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3674181495"/>
              </p:ext>
            </p:extLst>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7839FD62-42C0-5BE1-F6DC-19A133118ED1}"/>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BC4A33B3-6411-3743-A0A3-E03958EEFE8A}"/>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13E500A7-5773-CBB3-B7F4-04EE1CA62A55}"/>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4BE179DD-589F-C7D6-B05A-340B82D605B6}"/>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0F712D40-C7BA-3619-B661-FFA8C8F213E0}"/>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3E052BE6-D505-299A-E8CA-BFC63F9FDDE0}"/>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4098C17-18D3-86A9-A8EB-B3C764A3FECD}"/>
              </a:ext>
            </a:extLst>
          </p:cNvPr>
          <p:cNvSpPr txBox="1"/>
          <p:nvPr/>
        </p:nvSpPr>
        <p:spPr>
          <a:xfrm>
            <a:off x="3983389" y="2588191"/>
            <a:ext cx="1377300"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UDP Datagram</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23347C8B-B637-AD19-5688-C48540FDE49F}"/>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37D5D8FC-E9B1-26D9-A650-60530862DA45}"/>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D983C53D-E8E3-E8D6-035B-F91F5FFD5621}"/>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9187EF6A-DC52-CE14-004D-20011CD4A06A}"/>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193CD06A-841D-982C-41FB-81095A06D896}"/>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F260C56-5B01-C9B9-8E1B-9C86B8119C11}"/>
              </a:ext>
            </a:extLst>
          </p:cNvPr>
          <p:cNvSpPr>
            <a:spLocks noGrp="1"/>
          </p:cNvSpPr>
          <p:nvPr>
            <p:ph type="title"/>
          </p:nvPr>
        </p:nvSpPr>
        <p:spPr>
          <a:xfrm>
            <a:off x="2412000" y="104400"/>
            <a:ext cx="4320000" cy="369332"/>
          </a:xfrm>
        </p:spPr>
        <p:txBody>
          <a:bodyPr/>
          <a:lstStyle/>
          <a:p>
            <a:r>
              <a:rPr lang="en-US" altLang="zh-CN" dirty="0"/>
              <a:t>UDP</a:t>
            </a:r>
            <a:endParaRPr lang="zh-CN" altLang="en-US" dirty="0"/>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2412000" y="104400"/>
            <a:ext cx="4320000" cy="369332"/>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2412000" y="104400"/>
            <a:ext cx="4320000" cy="369332"/>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2412000" y="104400"/>
            <a:ext cx="4320000" cy="369332"/>
          </a:xfr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2412000" y="104400"/>
            <a:ext cx="4320000" cy="369332"/>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2412000" y="104400"/>
            <a:ext cx="4320000" cy="369332"/>
          </a:xfr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2412000" y="104400"/>
            <a:ext cx="4320000" cy="369332"/>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482554"/>
            <a:ext cx="8172000" cy="4267246"/>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2412000" y="104400"/>
            <a:ext cx="4320000" cy="369332"/>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2412000" y="104400"/>
            <a:ext cx="4320000" cy="369332"/>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a:t>
            </a:r>
            <a:r>
              <a:rPr kumimoji="1" lang="zh-CN" altLang="en-US" sz="1200" dirty="0">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标题 6">
            <a:extLst>
              <a:ext uri="{FF2B5EF4-FFF2-40B4-BE49-F238E27FC236}">
                <a16:creationId xmlns:a16="http://schemas.microsoft.com/office/drawing/2014/main" id="{42CE2D3F-9D31-9A2B-F157-B49D6E927471}"/>
              </a:ext>
            </a:extLst>
          </p:cNvPr>
          <p:cNvSpPr>
            <a:spLocks noGrp="1"/>
          </p:cNvSpPr>
          <p:nvPr>
            <p:ph type="title"/>
          </p:nvPr>
        </p:nvSpPr>
        <p:spPr>
          <a:xfrm>
            <a:off x="2412000" y="104400"/>
            <a:ext cx="4320000" cy="369332"/>
          </a:xfrm>
        </p:spPr>
        <p:txBody>
          <a:bodyPr/>
          <a:lstStyle/>
          <a:p>
            <a:r>
              <a:rPr lang="zh-CN" altLang="en-US" dirty="0"/>
              <a:t>检验和</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2412000" y="104400"/>
            <a:ext cx="4320000" cy="369332"/>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2" name="标题 1">
            <a:extLst>
              <a:ext uri="{FF2B5EF4-FFF2-40B4-BE49-F238E27FC236}">
                <a16:creationId xmlns:a16="http://schemas.microsoft.com/office/drawing/2014/main" id="{08F3F8A6-66BB-5DFE-7521-110FE55AF39B}"/>
              </a:ext>
            </a:extLst>
          </p:cNvPr>
          <p:cNvSpPr>
            <a:spLocks noGrp="1"/>
          </p:cNvSpPr>
          <p:nvPr>
            <p:ph type="title"/>
          </p:nvPr>
        </p:nvSpPr>
        <p:spPr>
          <a:xfrm>
            <a:off x="2412000" y="104400"/>
            <a:ext cx="4320000" cy="369332"/>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8" name="标题 7">
            <a:extLst>
              <a:ext uri="{FF2B5EF4-FFF2-40B4-BE49-F238E27FC236}">
                <a16:creationId xmlns:a16="http://schemas.microsoft.com/office/drawing/2014/main" id="{380C9E3E-E697-461D-C428-4387074427CA}"/>
              </a:ext>
            </a:extLst>
          </p:cNvPr>
          <p:cNvSpPr>
            <a:spLocks noGrp="1"/>
          </p:cNvSpPr>
          <p:nvPr>
            <p:ph type="title"/>
          </p:nvPr>
        </p:nvSpPr>
        <p:spPr>
          <a:xfrm>
            <a:off x="2412000" y="104400"/>
            <a:ext cx="4320000" cy="369332"/>
          </a:xfrm>
        </p:spPr>
        <p:txBody>
          <a:bodyPr/>
          <a:lstStyle/>
          <a:p>
            <a:r>
              <a:rPr lang="fr-FR" altLang="zh-CN" dirty="0"/>
              <a:t>5.3 </a:t>
            </a:r>
            <a:r>
              <a:rPr lang="zh-CN" altLang="en-US" dirty="0"/>
              <a:t>传输控制协议 </a:t>
            </a:r>
            <a:r>
              <a:rPr lang="en-US" altLang="zh-CN" dirty="0"/>
              <a:t>TCP </a:t>
            </a:r>
            <a:r>
              <a:rPr lang="zh-CN" altLang="en-US" dirty="0"/>
              <a:t>概述</a:t>
            </a:r>
            <a:endParaRPr lang="zh-CN" altLang="fr-FR" dirty="0"/>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5E424-6981-6C96-0AF4-6AC6C0A7628A}"/>
            </a:ext>
          </a:extLst>
        </p:cNvPr>
        <p:cNvGrpSpPr/>
        <p:nvPr/>
      </p:nvGrpSpPr>
      <p:grpSpPr>
        <a:xfrm>
          <a:off x="0" y="0"/>
          <a:ext cx="0" cy="0"/>
          <a:chOff x="0" y="0"/>
          <a:chExt cx="0" cy="0"/>
        </a:xfrm>
      </p:grpSpPr>
      <p:sp>
        <p:nvSpPr>
          <p:cNvPr id="4" name="AutoShape 37">
            <a:extLst>
              <a:ext uri="{FF2B5EF4-FFF2-40B4-BE49-F238E27FC236}">
                <a16:creationId xmlns:a16="http://schemas.microsoft.com/office/drawing/2014/main" id="{15D18CE2-D9F7-5A68-770B-B2BCAF2C2BCC}"/>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DAA255D-381C-2595-DCFB-E80397F98178}"/>
              </a:ext>
            </a:extLst>
          </p:cNvPr>
          <p:cNvGraphicFramePr>
            <a:graphicFrameLocks noGrp="1"/>
          </p:cNvGraphicFramePr>
          <p:nvPr>
            <p:extLst>
              <p:ext uri="{D42A27DB-BD31-4B8C-83A1-F6EECF244321}">
                <p14:modId xmlns:p14="http://schemas.microsoft.com/office/powerpoint/2010/main" val="3718123887"/>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30D5DFA6-19F1-20C3-DEC2-7EB248123F7B}"/>
              </a:ext>
            </a:extLst>
          </p:cNvPr>
          <p:cNvGraphicFramePr>
            <a:graphicFrameLocks noGrp="1"/>
          </p:cNvGraphicFramePr>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C8A5AC41-1906-D68C-0CEA-0065874CF13A}"/>
              </a:ext>
            </a:extLst>
          </p:cNvPr>
          <p:cNvGraphicFramePr>
            <a:graphicFrameLocks noGrp="1"/>
          </p:cNvGraphicFramePr>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0CD4424D-0A05-7B44-3595-571647F9B166}"/>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24E979F8-6722-5EDB-E479-FF12C3B839BB}"/>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BBC88BD6-0D0F-CFEA-340E-6780EC06C6A9}"/>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91A6D8C6-9CCD-5CA1-57FA-1F8466F7FBAF}"/>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9A64FF30-52B6-0B7C-14F4-F75930A5F73A}"/>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B6246349-9B0A-31B9-A15F-6553305FFD19}"/>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2193DEB9-0901-CF76-5FD1-7800F273BD6D}"/>
              </a:ext>
            </a:extLst>
          </p:cNvPr>
          <p:cNvSpPr txBox="1"/>
          <p:nvPr/>
        </p:nvSpPr>
        <p:spPr>
          <a:xfrm>
            <a:off x="3983389" y="2588191"/>
            <a:ext cx="1250663"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TCP Segment</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914FCC6B-7EEB-51E0-4512-33029BEBB62B}"/>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3B775BFB-9634-464B-168F-3A5E1D3E489D}"/>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FA747630-5C5E-FA50-A8B6-2B0D5CD22720}"/>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C181C0FC-9A46-9C3E-B3C0-79317E8B2340}"/>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D2474D69-5006-4962-0C1A-249B18EA7984}"/>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DD9113A-B03D-E222-74E8-EE974730E3A5}"/>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F1B453E3-4DB7-5C37-3540-B2FE4515DC8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16CC7B7-6509-FE62-E7F1-02128ABCFFDA}"/>
              </a:ext>
            </a:extLst>
          </p:cNvPr>
          <p:cNvSpPr>
            <a:spLocks noGrp="1"/>
          </p:cNvSpPr>
          <p:nvPr>
            <p:ph type="title"/>
          </p:nvPr>
        </p:nvSpPr>
        <p:spPr>
          <a:xfrm>
            <a:off x="2412000" y="104400"/>
            <a:ext cx="4320000" cy="369332"/>
          </a:xfrm>
        </p:spPr>
        <p:txBody>
          <a:bodyPr/>
          <a:lstStyle/>
          <a:p>
            <a:r>
              <a:rPr lang="en-US" altLang="zh-CN" dirty="0"/>
              <a:t>TCP</a:t>
            </a:r>
            <a:endParaRPr lang="zh-CN" altLang="en-US" dirty="0"/>
          </a:p>
        </p:txBody>
      </p:sp>
    </p:spTree>
    <p:extLst>
      <p:ext uri="{BB962C8B-B14F-4D97-AF65-F5344CB8AC3E}">
        <p14:creationId xmlns:p14="http://schemas.microsoft.com/office/powerpoint/2010/main" val="4041367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F2379C1-37B4-0B5A-E291-B76C5F208747}"/>
              </a:ext>
            </a:extLst>
          </p:cNvPr>
          <p:cNvSpPr>
            <a:spLocks noGrp="1"/>
          </p:cNvSpPr>
          <p:nvPr>
            <p:ph type="title"/>
          </p:nvPr>
        </p:nvSpPr>
        <p:spPr>
          <a:xfrm>
            <a:off x="2412000" y="104400"/>
            <a:ext cx="4320000" cy="369332"/>
          </a:xfrm>
        </p:spPr>
        <p:txBody>
          <a:bodyPr/>
          <a:lstStyle/>
          <a:p>
            <a:r>
              <a:rPr lang="en-US" altLang="zh-CN" dirty="0"/>
              <a:t>MTU vs MSSS</a:t>
            </a:r>
            <a:endParaRPr lang="zh-CN" altLang="en-US" dirty="0"/>
          </a:p>
        </p:txBody>
      </p:sp>
      <p:graphicFrame>
        <p:nvGraphicFramePr>
          <p:cNvPr id="4" name="表格 3">
            <a:extLst>
              <a:ext uri="{FF2B5EF4-FFF2-40B4-BE49-F238E27FC236}">
                <a16:creationId xmlns:a16="http://schemas.microsoft.com/office/drawing/2014/main" id="{758A19B7-569E-5F70-451E-8FD26B89F426}"/>
              </a:ext>
            </a:extLst>
          </p:cNvPr>
          <p:cNvGraphicFramePr>
            <a:graphicFrameLocks noGrp="1"/>
          </p:cNvGraphicFramePr>
          <p:nvPr>
            <p:extLst>
              <p:ext uri="{D42A27DB-BD31-4B8C-83A1-F6EECF244321}">
                <p14:modId xmlns:p14="http://schemas.microsoft.com/office/powerpoint/2010/main" val="3118168476"/>
              </p:ext>
            </p:extLst>
          </p:nvPr>
        </p:nvGraphicFramePr>
        <p:xfrm>
          <a:off x="2839640" y="147301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DA9A95D8-35BC-A2B3-74F7-A5071A703AA4}"/>
              </a:ext>
            </a:extLst>
          </p:cNvPr>
          <p:cNvGraphicFramePr>
            <a:graphicFrameLocks noGrp="1"/>
          </p:cNvGraphicFramePr>
          <p:nvPr>
            <p:extLst>
              <p:ext uri="{D42A27DB-BD31-4B8C-83A1-F6EECF244321}">
                <p14:modId xmlns:p14="http://schemas.microsoft.com/office/powerpoint/2010/main" val="3623842221"/>
              </p:ext>
            </p:extLst>
          </p:nvPr>
        </p:nvGraphicFramePr>
        <p:xfrm>
          <a:off x="3914776" y="759841"/>
          <a:ext cx="2589463" cy="360000"/>
        </p:xfrm>
        <a:graphic>
          <a:graphicData uri="http://schemas.openxmlformats.org/drawingml/2006/table">
            <a:tbl>
              <a:tblPr firstRow="1" bandRow="1">
                <a:tableStyleId>{5C22544A-7EE6-4342-B048-85BDC9FD1C3A}</a:tableStyleId>
              </a:tblPr>
              <a:tblGrid>
                <a:gridCol w="2589463">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6" name="表格 5">
            <a:extLst>
              <a:ext uri="{FF2B5EF4-FFF2-40B4-BE49-F238E27FC236}">
                <a16:creationId xmlns:a16="http://schemas.microsoft.com/office/drawing/2014/main" id="{66CAA1E4-16A9-EF32-DE63-AC079278DD07}"/>
              </a:ext>
            </a:extLst>
          </p:cNvPr>
          <p:cNvGraphicFramePr>
            <a:graphicFrameLocks noGrp="1"/>
          </p:cNvGraphicFramePr>
          <p:nvPr>
            <p:extLst>
              <p:ext uri="{D42A27DB-BD31-4B8C-83A1-F6EECF244321}">
                <p14:modId xmlns:p14="http://schemas.microsoft.com/office/powerpoint/2010/main" val="3157509254"/>
              </p:ext>
            </p:extLst>
          </p:nvPr>
        </p:nvGraphicFramePr>
        <p:xfrm>
          <a:off x="1778320" y="214507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7" name="直接连接符 6">
            <a:extLst>
              <a:ext uri="{FF2B5EF4-FFF2-40B4-BE49-F238E27FC236}">
                <a16:creationId xmlns:a16="http://schemas.microsoft.com/office/drawing/2014/main" id="{9FF1271D-3180-5812-F383-4AFDADFE7A0E}"/>
              </a:ext>
            </a:extLst>
          </p:cNvPr>
          <p:cNvCxnSpPr>
            <a:cxnSpLocks/>
          </p:cNvCxnSpPr>
          <p:nvPr/>
        </p:nvCxnSpPr>
        <p:spPr>
          <a:xfrm>
            <a:off x="2839639" y="198374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直接连接符 7">
            <a:extLst>
              <a:ext uri="{FF2B5EF4-FFF2-40B4-BE49-F238E27FC236}">
                <a16:creationId xmlns:a16="http://schemas.microsoft.com/office/drawing/2014/main" id="{72FD8BA4-2F8D-BC55-69FE-3DEEE9514F2E}"/>
              </a:ext>
            </a:extLst>
          </p:cNvPr>
          <p:cNvCxnSpPr>
            <a:cxnSpLocks/>
          </p:cNvCxnSpPr>
          <p:nvPr/>
        </p:nvCxnSpPr>
        <p:spPr>
          <a:xfrm>
            <a:off x="1778320" y="270635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直接连接符 8">
            <a:extLst>
              <a:ext uri="{FF2B5EF4-FFF2-40B4-BE49-F238E27FC236}">
                <a16:creationId xmlns:a16="http://schemas.microsoft.com/office/drawing/2014/main" id="{6C3FF21C-AE94-7040-55CE-9E96178CB117}"/>
              </a:ext>
            </a:extLst>
          </p:cNvPr>
          <p:cNvCxnSpPr>
            <a:cxnSpLocks/>
          </p:cNvCxnSpPr>
          <p:nvPr/>
        </p:nvCxnSpPr>
        <p:spPr>
          <a:xfrm>
            <a:off x="6504239" y="189261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7A0A4FB8-597B-16AD-565E-FE21764F16E1}"/>
              </a:ext>
            </a:extLst>
          </p:cNvPr>
          <p:cNvCxnSpPr>
            <a:cxnSpLocks/>
          </p:cNvCxnSpPr>
          <p:nvPr/>
        </p:nvCxnSpPr>
        <p:spPr>
          <a:xfrm>
            <a:off x="2839640" y="189261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819EC180-C8A2-37B3-9FB6-367E94624E3A}"/>
              </a:ext>
            </a:extLst>
          </p:cNvPr>
          <p:cNvCxnSpPr>
            <a:cxnSpLocks/>
          </p:cNvCxnSpPr>
          <p:nvPr/>
        </p:nvCxnSpPr>
        <p:spPr>
          <a:xfrm>
            <a:off x="6504239" y="261523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0F7328E-38B3-3C4C-7B60-52595D26C55F}"/>
              </a:ext>
            </a:extLst>
          </p:cNvPr>
          <p:cNvCxnSpPr>
            <a:cxnSpLocks/>
          </p:cNvCxnSpPr>
          <p:nvPr/>
        </p:nvCxnSpPr>
        <p:spPr>
          <a:xfrm>
            <a:off x="1778320" y="261523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F11FEDF-7072-A758-1AA7-180DBCC778F2}"/>
              </a:ext>
            </a:extLst>
          </p:cNvPr>
          <p:cNvSpPr txBox="1"/>
          <p:nvPr/>
        </p:nvSpPr>
        <p:spPr>
          <a:xfrm>
            <a:off x="3983389" y="1845241"/>
            <a:ext cx="1250663"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TCP Segment</a:t>
            </a:r>
            <a:endParaRPr lang="zh-CN" altLang="en-US" sz="1200" dirty="0">
              <a:latin typeface="Montserrat" panose="00000500000000000000" pitchFamily="2" charset="0"/>
            </a:endParaRPr>
          </a:p>
        </p:txBody>
      </p:sp>
      <p:sp>
        <p:nvSpPr>
          <p:cNvPr id="14" name="文本框 13">
            <a:extLst>
              <a:ext uri="{FF2B5EF4-FFF2-40B4-BE49-F238E27FC236}">
                <a16:creationId xmlns:a16="http://schemas.microsoft.com/office/drawing/2014/main" id="{65AE1D65-68F3-3B96-1D2A-5D0F8E901390}"/>
              </a:ext>
            </a:extLst>
          </p:cNvPr>
          <p:cNvSpPr txBox="1"/>
          <p:nvPr/>
        </p:nvSpPr>
        <p:spPr>
          <a:xfrm>
            <a:off x="3099616" y="2567859"/>
            <a:ext cx="2084225"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IP Packet / IP MTU - 1500</a:t>
            </a:r>
            <a:endParaRPr lang="zh-CN" altLang="en-US" sz="1200" dirty="0">
              <a:latin typeface="Montserrat" panose="00000500000000000000" pitchFamily="2" charset="0"/>
            </a:endParaRPr>
          </a:p>
        </p:txBody>
      </p:sp>
      <p:sp>
        <p:nvSpPr>
          <p:cNvPr id="15" name="AutoShape 70">
            <a:extLst>
              <a:ext uri="{FF2B5EF4-FFF2-40B4-BE49-F238E27FC236}">
                <a16:creationId xmlns:a16="http://schemas.microsoft.com/office/drawing/2014/main" id="{09AB987D-BF87-4589-40B3-1BF9C592B228}"/>
              </a:ext>
            </a:extLst>
          </p:cNvPr>
          <p:cNvSpPr>
            <a:spLocks noChangeArrowheads="1"/>
          </p:cNvSpPr>
          <p:nvPr/>
        </p:nvSpPr>
        <p:spPr bwMode="auto">
          <a:xfrm>
            <a:off x="6084236" y="181161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6" name="直接连接符 15">
            <a:extLst>
              <a:ext uri="{FF2B5EF4-FFF2-40B4-BE49-F238E27FC236}">
                <a16:creationId xmlns:a16="http://schemas.microsoft.com/office/drawing/2014/main" id="{5AC6A3A4-9A4D-F09D-FDD2-11CD0F1370BC}"/>
              </a:ext>
            </a:extLst>
          </p:cNvPr>
          <p:cNvCxnSpPr>
            <a:cxnSpLocks/>
          </p:cNvCxnSpPr>
          <p:nvPr/>
        </p:nvCxnSpPr>
        <p:spPr>
          <a:xfrm>
            <a:off x="3914776" y="1297088"/>
            <a:ext cx="25884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直接连接符 16">
            <a:extLst>
              <a:ext uri="{FF2B5EF4-FFF2-40B4-BE49-F238E27FC236}">
                <a16:creationId xmlns:a16="http://schemas.microsoft.com/office/drawing/2014/main" id="{FBF0C443-AE52-28A2-0635-379A36231E52}"/>
              </a:ext>
            </a:extLst>
          </p:cNvPr>
          <p:cNvCxnSpPr>
            <a:cxnSpLocks/>
          </p:cNvCxnSpPr>
          <p:nvPr/>
        </p:nvCxnSpPr>
        <p:spPr>
          <a:xfrm>
            <a:off x="6504239" y="120596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3E7333C-E656-D3AC-2E54-3642057FF3F6}"/>
              </a:ext>
            </a:extLst>
          </p:cNvPr>
          <p:cNvCxnSpPr>
            <a:cxnSpLocks/>
          </p:cNvCxnSpPr>
          <p:nvPr/>
        </p:nvCxnSpPr>
        <p:spPr>
          <a:xfrm>
            <a:off x="3914776" y="120596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CE97E7C-AB93-39F0-3406-185AF764C391}"/>
              </a:ext>
            </a:extLst>
          </p:cNvPr>
          <p:cNvSpPr txBox="1"/>
          <p:nvPr/>
        </p:nvSpPr>
        <p:spPr>
          <a:xfrm>
            <a:off x="4776005" y="1158589"/>
            <a:ext cx="865943" cy="276999"/>
          </a:xfrm>
          <a:prstGeom prst="rect">
            <a:avLst/>
          </a:prstGeom>
          <a:solidFill>
            <a:schemeClr val="bg1"/>
          </a:solidFill>
        </p:spPr>
        <p:txBody>
          <a:bodyPr wrap="none" rtlCol="0">
            <a:spAutoFit/>
          </a:bodyPr>
          <a:lstStyle/>
          <a:p>
            <a:pPr algn="ctr"/>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20" name="AutoShape 66">
            <a:extLst>
              <a:ext uri="{FF2B5EF4-FFF2-40B4-BE49-F238E27FC236}">
                <a16:creationId xmlns:a16="http://schemas.microsoft.com/office/drawing/2014/main" id="{F8F2C772-8C78-834B-50D1-6A506B91238B}"/>
              </a:ext>
            </a:extLst>
          </p:cNvPr>
          <p:cNvSpPr>
            <a:spLocks noChangeArrowheads="1"/>
          </p:cNvSpPr>
          <p:nvPr/>
        </p:nvSpPr>
        <p:spPr bwMode="auto">
          <a:xfrm>
            <a:off x="6085416" y="115510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2" name="表格 21">
            <a:extLst>
              <a:ext uri="{FF2B5EF4-FFF2-40B4-BE49-F238E27FC236}">
                <a16:creationId xmlns:a16="http://schemas.microsoft.com/office/drawing/2014/main" id="{1094C68A-C64B-99F7-E24A-F5E0F7DBA5F1}"/>
              </a:ext>
            </a:extLst>
          </p:cNvPr>
          <p:cNvGraphicFramePr>
            <a:graphicFrameLocks noGrp="1"/>
          </p:cNvGraphicFramePr>
          <p:nvPr>
            <p:extLst>
              <p:ext uri="{D42A27DB-BD31-4B8C-83A1-F6EECF244321}">
                <p14:modId xmlns:p14="http://schemas.microsoft.com/office/powerpoint/2010/main" val="2023472789"/>
              </p:ext>
            </p:extLst>
          </p:nvPr>
        </p:nvGraphicFramePr>
        <p:xfrm>
          <a:off x="542926" y="2954782"/>
          <a:ext cx="6810373" cy="360000"/>
        </p:xfrm>
        <a:graphic>
          <a:graphicData uri="http://schemas.openxmlformats.org/drawingml/2006/table">
            <a:tbl>
              <a:tblPr firstRow="1" bandRow="1">
                <a:tableStyleId>{5C22544A-7EE6-4342-B048-85BDC9FD1C3A}</a:tableStyleId>
              </a:tblPr>
              <a:tblGrid>
                <a:gridCol w="1238249">
                  <a:extLst>
                    <a:ext uri="{9D8B030D-6E8A-4147-A177-3AD203B41FA5}">
                      <a16:colId xmlns:a16="http://schemas.microsoft.com/office/drawing/2014/main" val="3192344591"/>
                    </a:ext>
                  </a:extLst>
                </a:gridCol>
                <a:gridCol w="1009650">
                  <a:extLst>
                    <a:ext uri="{9D8B030D-6E8A-4147-A177-3AD203B41FA5}">
                      <a16:colId xmlns:a16="http://schemas.microsoft.com/office/drawing/2014/main" val="1112281943"/>
                    </a:ext>
                  </a:extLst>
                </a:gridCol>
                <a:gridCol w="3724275">
                  <a:extLst>
                    <a:ext uri="{9D8B030D-6E8A-4147-A177-3AD203B41FA5}">
                      <a16:colId xmlns:a16="http://schemas.microsoft.com/office/drawing/2014/main" val="1943595655"/>
                    </a:ext>
                  </a:extLst>
                </a:gridCol>
                <a:gridCol w="838199">
                  <a:extLst>
                    <a:ext uri="{9D8B030D-6E8A-4147-A177-3AD203B41FA5}">
                      <a16:colId xmlns:a16="http://schemas.microsoft.com/office/drawing/2014/main" val="1257432143"/>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200" b="0" baseline="0" dirty="0">
                          <a:solidFill>
                            <a:schemeClr val="tx1"/>
                          </a:solidFill>
                          <a:latin typeface="Montserrat" panose="00000500000000000000" pitchFamily="2" charset="0"/>
                          <a:ea typeface="微软雅黑 Light" panose="020B0502040204020203" pitchFamily="34" charset="-122"/>
                        </a:rPr>
                        <a:t>帧首部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IP</a:t>
                      </a:r>
                      <a:r>
                        <a:rPr lang="zh-CN" altLang="en-US" sz="1200" b="0" baseline="0" dirty="0">
                          <a:solidFill>
                            <a:schemeClr val="tx1"/>
                          </a:solidFill>
                          <a:latin typeface="Montserrat" panose="00000500000000000000" pitchFamily="2" charset="0"/>
                          <a:ea typeface="微软雅黑 Light" panose="020B0502040204020203" pitchFamily="34" charset="-122"/>
                        </a:rPr>
                        <a:t>的数据部分</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EBF1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FCS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3375445671"/>
                  </a:ext>
                </a:extLst>
              </a:tr>
            </a:tbl>
          </a:graphicData>
        </a:graphic>
      </p:graphicFrame>
      <p:cxnSp>
        <p:nvCxnSpPr>
          <p:cNvPr id="23" name="直接连接符 22">
            <a:extLst>
              <a:ext uri="{FF2B5EF4-FFF2-40B4-BE49-F238E27FC236}">
                <a16:creationId xmlns:a16="http://schemas.microsoft.com/office/drawing/2014/main" id="{3E3F04FF-7C56-E66A-40DF-19B477D2DD2E}"/>
              </a:ext>
            </a:extLst>
          </p:cNvPr>
          <p:cNvCxnSpPr>
            <a:cxnSpLocks/>
          </p:cNvCxnSpPr>
          <p:nvPr/>
        </p:nvCxnSpPr>
        <p:spPr>
          <a:xfrm>
            <a:off x="542926" y="4287593"/>
            <a:ext cx="68112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直接连接符 23">
            <a:extLst>
              <a:ext uri="{FF2B5EF4-FFF2-40B4-BE49-F238E27FC236}">
                <a16:creationId xmlns:a16="http://schemas.microsoft.com/office/drawing/2014/main" id="{F75202FC-B323-AF1C-872C-2819BA9DE134}"/>
              </a:ext>
            </a:extLst>
          </p:cNvPr>
          <p:cNvCxnSpPr>
            <a:cxnSpLocks/>
          </p:cNvCxnSpPr>
          <p:nvPr/>
        </p:nvCxnSpPr>
        <p:spPr>
          <a:xfrm>
            <a:off x="7353299" y="4196472"/>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AF800E21-CD05-0F9F-3BB7-8BD1629B8CFA}"/>
              </a:ext>
            </a:extLst>
          </p:cNvPr>
          <p:cNvCxnSpPr>
            <a:cxnSpLocks/>
          </p:cNvCxnSpPr>
          <p:nvPr/>
        </p:nvCxnSpPr>
        <p:spPr>
          <a:xfrm>
            <a:off x="542926" y="4196472"/>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8CD6DB7-9301-9006-684D-8C265B4B6469}"/>
              </a:ext>
            </a:extLst>
          </p:cNvPr>
          <p:cNvSpPr txBox="1"/>
          <p:nvPr/>
        </p:nvSpPr>
        <p:spPr>
          <a:xfrm>
            <a:off x="3388919" y="4149094"/>
            <a:ext cx="1842172"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Ethernet Frame / 1518</a:t>
            </a:r>
            <a:endParaRPr lang="zh-CN" altLang="en-US" sz="1200" dirty="0">
              <a:latin typeface="Montserrat" panose="00000500000000000000" pitchFamily="2" charset="0"/>
            </a:endParaRPr>
          </a:p>
        </p:txBody>
      </p:sp>
      <p:graphicFrame>
        <p:nvGraphicFramePr>
          <p:cNvPr id="28" name="表格 27">
            <a:extLst>
              <a:ext uri="{FF2B5EF4-FFF2-40B4-BE49-F238E27FC236}">
                <a16:creationId xmlns:a16="http://schemas.microsoft.com/office/drawing/2014/main" id="{70EA11EB-792C-1BE1-7AD9-F87FB98498E7}"/>
              </a:ext>
            </a:extLst>
          </p:cNvPr>
          <p:cNvGraphicFramePr>
            <a:graphicFrameLocks noGrp="1"/>
          </p:cNvGraphicFramePr>
          <p:nvPr>
            <p:extLst>
              <p:ext uri="{D42A27DB-BD31-4B8C-83A1-F6EECF244321}">
                <p14:modId xmlns:p14="http://schemas.microsoft.com/office/powerpoint/2010/main" val="1864622827"/>
              </p:ext>
            </p:extLst>
          </p:nvPr>
        </p:nvGraphicFramePr>
        <p:xfrm>
          <a:off x="542926" y="3765792"/>
          <a:ext cx="6810372" cy="360000"/>
        </p:xfrm>
        <a:graphic>
          <a:graphicData uri="http://schemas.openxmlformats.org/drawingml/2006/table">
            <a:tbl>
              <a:tblPr firstRow="1" bandRow="1">
                <a:tableStyleId>{5C22544A-7EE6-4342-B048-85BDC9FD1C3A}</a:tableStyleId>
              </a:tblPr>
              <a:tblGrid>
                <a:gridCol w="1238249">
                  <a:extLst>
                    <a:ext uri="{9D8B030D-6E8A-4147-A177-3AD203B41FA5}">
                      <a16:colId xmlns:a16="http://schemas.microsoft.com/office/drawing/2014/main" val="3192344591"/>
                    </a:ext>
                  </a:extLst>
                </a:gridCol>
                <a:gridCol w="1009650">
                  <a:extLst>
                    <a:ext uri="{9D8B030D-6E8A-4147-A177-3AD203B41FA5}">
                      <a16:colId xmlns:a16="http://schemas.microsoft.com/office/drawing/2014/main" val="4236432594"/>
                    </a:ext>
                  </a:extLst>
                </a:gridCol>
                <a:gridCol w="1133475">
                  <a:extLst>
                    <a:ext uri="{9D8B030D-6E8A-4147-A177-3AD203B41FA5}">
                      <a16:colId xmlns:a16="http://schemas.microsoft.com/office/drawing/2014/main" val="1943595655"/>
                    </a:ext>
                  </a:extLst>
                </a:gridCol>
                <a:gridCol w="2590800">
                  <a:extLst>
                    <a:ext uri="{9D8B030D-6E8A-4147-A177-3AD203B41FA5}">
                      <a16:colId xmlns:a16="http://schemas.microsoft.com/office/drawing/2014/main" val="348128978"/>
                    </a:ext>
                  </a:extLst>
                </a:gridCol>
                <a:gridCol w="838198">
                  <a:extLst>
                    <a:ext uri="{9D8B030D-6E8A-4147-A177-3AD203B41FA5}">
                      <a16:colId xmlns:a16="http://schemas.microsoft.com/office/drawing/2014/main" val="1897922817"/>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200" b="0" baseline="0" dirty="0">
                          <a:solidFill>
                            <a:schemeClr val="tx1"/>
                          </a:solidFill>
                          <a:latin typeface="Montserrat" panose="00000500000000000000" pitchFamily="2" charset="0"/>
                          <a:ea typeface="微软雅黑 Light" panose="020B0502040204020203" pitchFamily="34" charset="-122"/>
                        </a:rPr>
                        <a:t>帧首部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TCP</a:t>
                      </a:r>
                      <a:r>
                        <a:rPr lang="zh-CN" altLang="en-US" sz="1200" b="0" baseline="0" dirty="0">
                          <a:solidFill>
                            <a:schemeClr val="tx1"/>
                          </a:solidFill>
                          <a:latin typeface="Montserrat" panose="00000500000000000000" pitchFamily="2" charset="0"/>
                          <a:ea typeface="微软雅黑 Light" panose="020B0502040204020203" pitchFamily="34" charset="-122"/>
                        </a:rPr>
                        <a:t>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AC09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FCS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3375445671"/>
                  </a:ext>
                </a:extLst>
              </a:tr>
            </a:tbl>
          </a:graphicData>
        </a:graphic>
      </p:graphicFrame>
      <p:cxnSp>
        <p:nvCxnSpPr>
          <p:cNvPr id="34" name="直接连接符 33">
            <a:extLst>
              <a:ext uri="{FF2B5EF4-FFF2-40B4-BE49-F238E27FC236}">
                <a16:creationId xmlns:a16="http://schemas.microsoft.com/office/drawing/2014/main" id="{DEEC5562-B614-DB05-7B10-C655B0F5BBD6}"/>
              </a:ext>
            </a:extLst>
          </p:cNvPr>
          <p:cNvCxnSpPr>
            <a:cxnSpLocks/>
          </p:cNvCxnSpPr>
          <p:nvPr/>
        </p:nvCxnSpPr>
        <p:spPr>
          <a:xfrm>
            <a:off x="1772123" y="3477395"/>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5" name="直接连接符 34">
            <a:extLst>
              <a:ext uri="{FF2B5EF4-FFF2-40B4-BE49-F238E27FC236}">
                <a16:creationId xmlns:a16="http://schemas.microsoft.com/office/drawing/2014/main" id="{6E24726D-2FA6-995C-6606-C32BEFB118CC}"/>
              </a:ext>
            </a:extLst>
          </p:cNvPr>
          <p:cNvCxnSpPr>
            <a:cxnSpLocks/>
          </p:cNvCxnSpPr>
          <p:nvPr/>
        </p:nvCxnSpPr>
        <p:spPr>
          <a:xfrm>
            <a:off x="6498042" y="3386274"/>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F867047-427E-8413-8E41-30D7772CA4F6}"/>
              </a:ext>
            </a:extLst>
          </p:cNvPr>
          <p:cNvCxnSpPr>
            <a:cxnSpLocks/>
          </p:cNvCxnSpPr>
          <p:nvPr/>
        </p:nvCxnSpPr>
        <p:spPr>
          <a:xfrm>
            <a:off x="1772123" y="3386274"/>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3148BF74-BA6F-98A3-4E37-AE0F5F3D9654}"/>
              </a:ext>
            </a:extLst>
          </p:cNvPr>
          <p:cNvSpPr txBox="1"/>
          <p:nvPr/>
        </p:nvSpPr>
        <p:spPr>
          <a:xfrm>
            <a:off x="2522748" y="3338896"/>
            <a:ext cx="3225563"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Ethernet Payload / Ethernet MTU - 1500</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2284109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2412000" y="104400"/>
            <a:ext cx="4320000" cy="369332"/>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2412000" y="104400"/>
            <a:ext cx="4320000" cy="369332"/>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2412000" y="104400"/>
            <a:ext cx="4320000" cy="369332"/>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2412000" y="104400"/>
            <a:ext cx="4320000" cy="369332"/>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2412000" y="104400"/>
            <a:ext cx="4320000" cy="369332"/>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Montserrat" panose="00000500000000000000" pitchFamily="2" charset="0"/>
                <a:ea typeface="微软雅黑 Light" panose="020B0502040204020203" pitchFamily="34" charset="-122"/>
              </a:rPr>
              <a:t>port</a:t>
            </a:r>
            <a:endParaRPr lang="zh-CN" altLang="en-US" sz="1200" b="0" dirty="0">
              <a:latin typeface="Montserrat" panose="00000500000000000000" pitchFamily="2" charset="0"/>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Montserrat" panose="00000500000000000000" pitchFamily="2" charset="0"/>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Buffer</a:t>
            </a:r>
            <a:endParaRPr lang="zh-CN" altLang="en-US" sz="1200" dirty="0">
              <a:latin typeface="Montserrat" panose="00000500000000000000" pitchFamily="2" charset="0"/>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Montserrat" panose="00000500000000000000" pitchFamily="2" charset="0"/>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Buffer</a:t>
            </a:r>
            <a:endParaRPr lang="zh-CN" altLang="en-US" sz="1200" dirty="0">
              <a:latin typeface="Montserrat" panose="00000500000000000000" pitchFamily="2" charset="0"/>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3" name="Text Box 29"/>
          <p:cNvSpPr txBox="1">
            <a:spLocks noChangeArrowheads="1"/>
          </p:cNvSpPr>
          <p:nvPr/>
        </p:nvSpPr>
        <p:spPr bwMode="auto">
          <a:xfrm>
            <a:off x="5401527" y="2844106"/>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Montserrat" panose="00000500000000000000" pitchFamily="2" charset="0"/>
                <a:ea typeface="微软雅黑 Light" panose="020B0502040204020203" pitchFamily="34" charset="-122"/>
              </a:rPr>
              <a:t>port</a:t>
            </a:r>
            <a:endParaRPr lang="zh-CN" altLang="en-US" sz="1200" b="0" dirty="0">
              <a:latin typeface="Montserrat" panose="00000500000000000000" pitchFamily="2" charset="0"/>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Montserrat" panose="00000500000000000000" pitchFamily="2" charset="0"/>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Montserrat" panose="00000500000000000000" pitchFamily="2" charset="0"/>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segment</a:t>
            </a:r>
            <a:endParaRPr lang="zh-CN" altLang="en-US" sz="1200" dirty="0">
              <a:latin typeface="Montserrat" panose="00000500000000000000" pitchFamily="2" charset="0"/>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segment</a:t>
            </a:r>
            <a:endParaRPr lang="zh-CN" altLang="en-US" sz="1200" dirty="0">
              <a:latin typeface="Montserrat" panose="00000500000000000000" pitchFamily="2" charset="0"/>
              <a:ea typeface="微软雅黑 Light" panose="020B0502040204020203" pitchFamily="34" charset="-122"/>
            </a:endParaRPr>
          </a:p>
        </p:txBody>
      </p:sp>
      <p:sp>
        <p:nvSpPr>
          <p:cNvPr id="68" name="Text Box 24"/>
          <p:cNvSpPr txBox="1">
            <a:spLocks noChangeArrowheads="1"/>
          </p:cNvSpPr>
          <p:nvPr/>
        </p:nvSpPr>
        <p:spPr bwMode="auto">
          <a:xfrm>
            <a:off x="3974454"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en-US" altLang="zh-CN" sz="1200" b="0" dirty="0">
                <a:latin typeface="Montserrat" panose="00000500000000000000" pitchFamily="2" charset="0"/>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2412000" y="104400"/>
            <a:ext cx="4320000" cy="369332"/>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2412000" y="104400"/>
            <a:ext cx="4320000" cy="369332"/>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2412000" y="104400"/>
            <a:ext cx="4320000" cy="369332"/>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482554"/>
            <a:ext cx="8172000" cy="4267246"/>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2412000" y="104400"/>
            <a:ext cx="4320000" cy="369332"/>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2" name="标题 1">
            <a:extLst>
              <a:ext uri="{FF2B5EF4-FFF2-40B4-BE49-F238E27FC236}">
                <a16:creationId xmlns:a16="http://schemas.microsoft.com/office/drawing/2014/main" id="{9429FBB2-FC1D-81C4-AD87-B81FBE90621C}"/>
              </a:ext>
            </a:extLst>
          </p:cNvPr>
          <p:cNvSpPr>
            <a:spLocks noGrp="1"/>
          </p:cNvSpPr>
          <p:nvPr>
            <p:ph type="title"/>
          </p:nvPr>
        </p:nvSpPr>
        <p:spPr>
          <a:xfrm>
            <a:off x="2412000" y="104400"/>
            <a:ext cx="4320000" cy="369332"/>
          </a:xfrm>
        </p:spPr>
        <p:txBody>
          <a:bodyPr/>
          <a:lstStyle/>
          <a:p>
            <a:r>
              <a:rPr lang="fr-FR" altLang="zh-CN" dirty="0"/>
              <a:t>5.4 </a:t>
            </a:r>
            <a:r>
              <a:rPr lang="zh-CN" altLang="en-US" dirty="0"/>
              <a:t>可靠传输的工作原理</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2412000" y="104400"/>
            <a:ext cx="4320000" cy="369332"/>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482554"/>
            <a:ext cx="8172000" cy="4267246"/>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2412000" y="104400"/>
            <a:ext cx="4320000" cy="369332"/>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482554"/>
            <a:ext cx="8172000" cy="4267246"/>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2412000" y="104400"/>
            <a:ext cx="4320000" cy="369332"/>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1095375" y="3840788"/>
            <a:ext cx="6953250" cy="840358"/>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grpSp>
        <p:nvGrpSpPr>
          <p:cNvPr id="81" name="Group 33"/>
          <p:cNvGrpSpPr>
            <a:grpSpLocks/>
          </p:cNvGrpSpPr>
          <p:nvPr/>
        </p:nvGrpSpPr>
        <p:grpSpPr bwMode="auto">
          <a:xfrm>
            <a:off x="242790"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242790"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33" name="Group 33"/>
          <p:cNvGrpSpPr>
            <a:grpSpLocks/>
          </p:cNvGrpSpPr>
          <p:nvPr/>
        </p:nvGrpSpPr>
        <p:grpSpPr bwMode="auto">
          <a:xfrm>
            <a:off x="242790"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 name="组合 7">
            <a:extLst>
              <a:ext uri="{FF2B5EF4-FFF2-40B4-BE49-F238E27FC236}">
                <a16:creationId xmlns:a16="http://schemas.microsoft.com/office/drawing/2014/main" id="{FC70DA04-AD9D-BDD3-3C24-7C96BBABF86C}"/>
              </a:ext>
            </a:extLst>
          </p:cNvPr>
          <p:cNvGrpSpPr/>
          <p:nvPr/>
        </p:nvGrpSpPr>
        <p:grpSpPr>
          <a:xfrm>
            <a:off x="3672000" y="1157486"/>
            <a:ext cx="1799993" cy="578834"/>
            <a:chOff x="3672000" y="1473745"/>
            <a:chExt cx="1799993" cy="578834"/>
          </a:xfrm>
        </p:grpSpPr>
        <p:sp>
          <p:nvSpPr>
            <p:cNvPr id="68" name="Freeform 17"/>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72" name="Freeform 21"/>
          <p:cNvSpPr>
            <a:spLocks/>
          </p:cNvSpPr>
          <p:nvPr/>
        </p:nvSpPr>
        <p:spPr bwMode="auto">
          <a:xfrm>
            <a:off x="3671992" y="2142684"/>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4763421" y="2423832"/>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4147966" y="2257270"/>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671985" y="1822471"/>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20000">
            <a:off x="4134653" y="1713876"/>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80" name="Text Box 30"/>
          <p:cNvSpPr txBox="1">
            <a:spLocks noChangeArrowheads="1"/>
          </p:cNvSpPr>
          <p:nvPr/>
        </p:nvSpPr>
        <p:spPr bwMode="auto">
          <a:xfrm rot="21000000">
            <a:off x="4125203" y="2742779"/>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sp>
        <p:nvSpPr>
          <p:cNvPr id="90" name="Line 4"/>
          <p:cNvSpPr>
            <a:spLocks noChangeShapeType="1"/>
          </p:cNvSpPr>
          <p:nvPr/>
        </p:nvSpPr>
        <p:spPr bwMode="auto">
          <a:xfrm>
            <a:off x="3672000" y="1058257"/>
            <a:ext cx="0" cy="252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5472000" y="1058257"/>
            <a:ext cx="0" cy="252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Rectangle 38"/>
          <p:cNvSpPr>
            <a:spLocks noChangeArrowheads="1"/>
          </p:cNvSpPr>
          <p:nvPr/>
        </p:nvSpPr>
        <p:spPr bwMode="auto">
          <a:xfrm>
            <a:off x="3672000" y="793824"/>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5175443" y="793824"/>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2412000" y="104400"/>
            <a:ext cx="4320000" cy="369332"/>
          </a:xfrm>
        </p:spPr>
        <p:txBody>
          <a:bodyPr/>
          <a:lstStyle/>
          <a:p>
            <a:r>
              <a:rPr lang="en-US" altLang="zh-CN" dirty="0"/>
              <a:t>1. </a:t>
            </a:r>
            <a:r>
              <a:rPr lang="zh-CN" altLang="en-US" dirty="0"/>
              <a:t>无差错情况</a:t>
            </a:r>
          </a:p>
        </p:txBody>
      </p:sp>
      <p:sp>
        <p:nvSpPr>
          <p:cNvPr id="7" name="Line 26">
            <a:extLst>
              <a:ext uri="{FF2B5EF4-FFF2-40B4-BE49-F238E27FC236}">
                <a16:creationId xmlns:a16="http://schemas.microsoft.com/office/drawing/2014/main" id="{E435C3FE-D066-2F3A-8B9E-68875D75001B}"/>
              </a:ext>
            </a:extLst>
          </p:cNvPr>
          <p:cNvSpPr>
            <a:spLocks noChangeShapeType="1"/>
          </p:cNvSpPr>
          <p:nvPr/>
        </p:nvSpPr>
        <p:spPr bwMode="auto">
          <a:xfrm flipH="1">
            <a:off x="3671983" y="2863269"/>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1" name="TextBox 86">
            <a:extLst>
              <a:ext uri="{FF2B5EF4-FFF2-40B4-BE49-F238E27FC236}">
                <a16:creationId xmlns:a16="http://schemas.microsoft.com/office/drawing/2014/main" id="{C9D5A7D3-75F4-262A-0947-87FFEA7F5C6B}"/>
              </a:ext>
            </a:extLst>
          </p:cNvPr>
          <p:cNvSpPr txBox="1"/>
          <p:nvPr/>
        </p:nvSpPr>
        <p:spPr>
          <a:xfrm>
            <a:off x="5467059" y="1747003"/>
            <a:ext cx="676788"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12" name="TextBox 86">
            <a:extLst>
              <a:ext uri="{FF2B5EF4-FFF2-40B4-BE49-F238E27FC236}">
                <a16:creationId xmlns:a16="http://schemas.microsoft.com/office/drawing/2014/main" id="{CEB5B2EF-BCBD-2154-2E6F-3BC53405B30F}"/>
              </a:ext>
            </a:extLst>
          </p:cNvPr>
          <p:cNvSpPr txBox="1"/>
          <p:nvPr/>
        </p:nvSpPr>
        <p:spPr>
          <a:xfrm>
            <a:off x="5467059" y="2807998"/>
            <a:ext cx="737702"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482554"/>
            <a:ext cx="8172000" cy="4267246"/>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2412000" y="104400"/>
            <a:ext cx="4320000" cy="369332"/>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482554"/>
            <a:ext cx="8172000" cy="4267246"/>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2412000" y="104400"/>
            <a:ext cx="4320000" cy="369332"/>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AutoShape 26"/>
          <p:cNvSpPr>
            <a:spLocks/>
          </p:cNvSpPr>
          <p:nvPr/>
        </p:nvSpPr>
        <p:spPr bwMode="auto">
          <a:xfrm>
            <a:off x="3568239" y="1876626"/>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Text Box 24"/>
          <p:cNvSpPr txBox="1">
            <a:spLocks noChangeArrowheads="1"/>
          </p:cNvSpPr>
          <p:nvPr/>
        </p:nvSpPr>
        <p:spPr bwMode="auto">
          <a:xfrm>
            <a:off x="297855" y="233584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84" name="Group 33"/>
          <p:cNvGrpSpPr>
            <a:grpSpLocks/>
          </p:cNvGrpSpPr>
          <p:nvPr/>
        </p:nvGrpSpPr>
        <p:grpSpPr bwMode="auto">
          <a:xfrm>
            <a:off x="255546" y="1134800"/>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2412000" y="104400"/>
            <a:ext cx="4320000" cy="369332"/>
          </a:xfr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13735" y="1966034"/>
            <a:ext cx="360000" cy="360000"/>
          </a:xfrm>
          <a:prstGeom prst="rect">
            <a:avLst/>
          </a:prstGeom>
        </p:spPr>
      </p:pic>
      <p:grpSp>
        <p:nvGrpSpPr>
          <p:cNvPr id="5" name="组合 4">
            <a:extLst>
              <a:ext uri="{FF2B5EF4-FFF2-40B4-BE49-F238E27FC236}">
                <a16:creationId xmlns:a16="http://schemas.microsoft.com/office/drawing/2014/main" id="{EBB79F9A-73DD-F85F-A7C7-7A354FC0B36B}"/>
              </a:ext>
            </a:extLst>
          </p:cNvPr>
          <p:cNvGrpSpPr/>
          <p:nvPr/>
        </p:nvGrpSpPr>
        <p:grpSpPr>
          <a:xfrm>
            <a:off x="3672000" y="1473745"/>
            <a:ext cx="1799993" cy="578834"/>
            <a:chOff x="3672000" y="1473745"/>
            <a:chExt cx="1799993" cy="578834"/>
          </a:xfrm>
        </p:grpSpPr>
        <p:sp>
          <p:nvSpPr>
            <p:cNvPr id="6" name="Freeform 17">
              <a:extLst>
                <a:ext uri="{FF2B5EF4-FFF2-40B4-BE49-F238E27FC236}">
                  <a16:creationId xmlns:a16="http://schemas.microsoft.com/office/drawing/2014/main" id="{F754A2AA-FD8E-F8BC-9927-3FD371BDA8B6}"/>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 name="AutoShape 18">
              <a:extLst>
                <a:ext uri="{FF2B5EF4-FFF2-40B4-BE49-F238E27FC236}">
                  <a16:creationId xmlns:a16="http://schemas.microsoft.com/office/drawing/2014/main" id="{29CAABC4-2F14-1E5B-812D-5E94E16E8EFC}"/>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19">
              <a:extLst>
                <a:ext uri="{FF2B5EF4-FFF2-40B4-BE49-F238E27FC236}">
                  <a16:creationId xmlns:a16="http://schemas.microsoft.com/office/drawing/2014/main" id="{4F825D3D-B7B8-D9D2-A488-C987C1C0B290}"/>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10" name="Freeform 21">
            <a:extLst>
              <a:ext uri="{FF2B5EF4-FFF2-40B4-BE49-F238E27FC236}">
                <a16:creationId xmlns:a16="http://schemas.microsoft.com/office/drawing/2014/main" id="{30273B03-8761-AAF3-F9BC-8F9D18780C81}"/>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1" name="AutoShape 22">
            <a:extLst>
              <a:ext uri="{FF2B5EF4-FFF2-40B4-BE49-F238E27FC236}">
                <a16:creationId xmlns:a16="http://schemas.microsoft.com/office/drawing/2014/main" id="{710E1ED4-6D96-B59F-6D0D-57519BAD6033}"/>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23">
            <a:extLst>
              <a:ext uri="{FF2B5EF4-FFF2-40B4-BE49-F238E27FC236}">
                <a16:creationId xmlns:a16="http://schemas.microsoft.com/office/drawing/2014/main" id="{ADEC324A-3E48-6595-9C2C-A9638524DE22}"/>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15" name="Text Box 30">
            <a:extLst>
              <a:ext uri="{FF2B5EF4-FFF2-40B4-BE49-F238E27FC236}">
                <a16:creationId xmlns:a16="http://schemas.microsoft.com/office/drawing/2014/main" id="{A457AA74-1438-5ED3-6E1A-7F4CE2BB19B2}"/>
              </a:ext>
            </a:extLst>
          </p:cNvPr>
          <p:cNvSpPr txBox="1">
            <a:spLocks noChangeArrowheads="1"/>
          </p:cNvSpPr>
          <p:nvPr/>
        </p:nvSpPr>
        <p:spPr bwMode="auto">
          <a:xfrm rot="21000000">
            <a:off x="4133294" y="305875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16" name="Line 4">
            <a:extLst>
              <a:ext uri="{FF2B5EF4-FFF2-40B4-BE49-F238E27FC236}">
                <a16:creationId xmlns:a16="http://schemas.microsoft.com/office/drawing/2014/main" id="{FE17F73C-FC16-B7A1-00D8-B463BE377A90}"/>
              </a:ext>
            </a:extLst>
          </p:cNvPr>
          <p:cNvSpPr>
            <a:spLocks noChangeShapeType="1"/>
          </p:cNvSpPr>
          <p:nvPr/>
        </p:nvSpPr>
        <p:spPr bwMode="auto">
          <a:xfrm>
            <a:off x="36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Line 5">
            <a:extLst>
              <a:ext uri="{FF2B5EF4-FFF2-40B4-BE49-F238E27FC236}">
                <a16:creationId xmlns:a16="http://schemas.microsoft.com/office/drawing/2014/main" id="{A76F560F-5AC8-99FF-9528-FDB2E3824E2E}"/>
              </a:ext>
            </a:extLst>
          </p:cNvPr>
          <p:cNvSpPr>
            <a:spLocks noChangeShapeType="1"/>
          </p:cNvSpPr>
          <p:nvPr/>
        </p:nvSpPr>
        <p:spPr bwMode="auto">
          <a:xfrm>
            <a:off x="54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Rectangle 38">
            <a:extLst>
              <a:ext uri="{FF2B5EF4-FFF2-40B4-BE49-F238E27FC236}">
                <a16:creationId xmlns:a16="http://schemas.microsoft.com/office/drawing/2014/main" id="{6AEB6CA8-6F1A-74D6-9E6E-4C3510136865}"/>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19" name="Rectangle 39">
            <a:extLst>
              <a:ext uri="{FF2B5EF4-FFF2-40B4-BE49-F238E27FC236}">
                <a16:creationId xmlns:a16="http://schemas.microsoft.com/office/drawing/2014/main" id="{3BA19016-0666-0FBB-97DE-C6C68FBE15CC}"/>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21" name="Line 26">
            <a:extLst>
              <a:ext uri="{FF2B5EF4-FFF2-40B4-BE49-F238E27FC236}">
                <a16:creationId xmlns:a16="http://schemas.microsoft.com/office/drawing/2014/main" id="{32C4B306-C82C-D8D9-5792-16834B2D6D15}"/>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AutoShape 60"/>
          <p:cNvSpPr>
            <a:spLocks noChangeArrowheads="1"/>
          </p:cNvSpPr>
          <p:nvPr/>
        </p:nvSpPr>
        <p:spPr bwMode="auto">
          <a:xfrm>
            <a:off x="5048499" y="165635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TextBox 86">
            <a:extLst>
              <a:ext uri="{FF2B5EF4-FFF2-40B4-BE49-F238E27FC236}">
                <a16:creationId xmlns:a16="http://schemas.microsoft.com/office/drawing/2014/main" id="{2DEBCBA3-5E4E-7D11-3A51-0D588EF49A73}"/>
              </a:ext>
            </a:extLst>
          </p:cNvPr>
          <p:cNvSpPr txBox="1"/>
          <p:nvPr/>
        </p:nvSpPr>
        <p:spPr>
          <a:xfrm>
            <a:off x="5467059" y="2063262"/>
            <a:ext cx="676788" cy="276999"/>
          </a:xfrm>
          <a:prstGeom prst="rect">
            <a:avLst/>
          </a:prstGeom>
          <a:noFill/>
        </p:spPr>
        <p:txBody>
          <a:bodyPr wrap="none" rtlCol="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丢失</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Box 86">
            <a:extLst>
              <a:ext uri="{FF2B5EF4-FFF2-40B4-BE49-F238E27FC236}">
                <a16:creationId xmlns:a16="http://schemas.microsoft.com/office/drawing/2014/main" id="{5218ECF0-A716-E159-F37B-06BE554C620A}"/>
              </a:ext>
            </a:extLst>
          </p:cNvPr>
          <p:cNvSpPr txBox="1"/>
          <p:nvPr/>
        </p:nvSpPr>
        <p:spPr>
          <a:xfrm>
            <a:off x="5467059" y="3124257"/>
            <a:ext cx="716863"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wipe(left)">
                                      <p:cBhvr>
                                        <p:cTn id="7" dur="1000"/>
                                        <p:tgtEl>
                                          <p:spTgt spid="84"/>
                                        </p:tgtEl>
                                      </p:cBhvr>
                                    </p:animEffect>
                                  </p:childTnLst>
                                </p:cTn>
                              </p:par>
                            </p:childTnLst>
                          </p:cTn>
                        </p:par>
                        <p:par>
                          <p:cTn id="8" fill="hold">
                            <p:stCondLst>
                              <p:cond delay="1000"/>
                            </p:stCondLst>
                            <p:childTnLst>
                              <p:par>
                                <p:cTn id="9" presetID="1" presetClass="entr" presetSubtype="0" fill="hold" grpId="0" nodeType="afterEffect">
                                  <p:stCondLst>
                                    <p:cond delay="1000"/>
                                  </p:stCondLst>
                                  <p:childTnLst>
                                    <p:set>
                                      <p:cBhvr>
                                        <p:cTn id="10" dur="1" fill="hold">
                                          <p:stCondLst>
                                            <p:cond delay="0"/>
                                          </p:stCondLst>
                                        </p:cTn>
                                        <p:tgtEl>
                                          <p:spTgt spid="77"/>
                                        </p:tgtEl>
                                        <p:attrNameLst>
                                          <p:attrName>style.visibility</p:attrName>
                                        </p:attrNameLst>
                                      </p:cBhvr>
                                      <p:to>
                                        <p:strVal val="visible"/>
                                      </p:to>
                                    </p:set>
                                  </p:childTnLst>
                                </p:cTn>
                              </p:par>
                            </p:childTnLst>
                          </p:cTn>
                        </p:par>
                        <p:par>
                          <p:cTn id="11" fill="hold">
                            <p:stCondLst>
                              <p:cond delay="2000"/>
                            </p:stCondLst>
                            <p:childTnLst>
                              <p:par>
                                <p:cTn id="12" presetID="35" presetClass="emph" presetSubtype="0" repeatCount="3000" fill="hold" grpId="1" nodeType="afterEffect">
                                  <p:stCondLst>
                                    <p:cond delay="0"/>
                                  </p:stCondLst>
                                  <p:childTnLst>
                                    <p:anim calcmode="discrete" valueType="str">
                                      <p:cBhvr>
                                        <p:cTn id="1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14" fill="hold">
                            <p:stCondLst>
                              <p:cond delay="3500"/>
                            </p:stCondLst>
                            <p:childTnLst>
                              <p:par>
                                <p:cTn id="15" presetID="1" presetClass="entr" presetSubtype="0" fill="hold" grpId="0" nodeType="afterEffect">
                                  <p:stCondLst>
                                    <p:cond delay="1000"/>
                                  </p:stCondLst>
                                  <p:childTnLst>
                                    <p:set>
                                      <p:cBhvr>
                                        <p:cTn id="16" dur="1" fill="hold">
                                          <p:stCondLst>
                                            <p:cond delay="0"/>
                                          </p:stCondLst>
                                        </p:cTn>
                                        <p:tgtEl>
                                          <p:spTgt spid="22"/>
                                        </p:tgtEl>
                                        <p:attrNameLst>
                                          <p:attrName>style.visibility</p:attrName>
                                        </p:attrNameLst>
                                      </p:cBhvr>
                                      <p:to>
                                        <p:strVal val="visible"/>
                                      </p:to>
                                    </p:set>
                                  </p:childTnLst>
                                </p:cTn>
                              </p:par>
                            </p:childTnLst>
                          </p:cTn>
                        </p:par>
                        <p:par>
                          <p:cTn id="17" fill="hold">
                            <p:stCondLst>
                              <p:cond delay="4500"/>
                            </p:stCondLst>
                            <p:childTnLst>
                              <p:par>
                                <p:cTn id="18" presetID="35" presetClass="emph" presetSubtype="0" repeatCount="3000" fill="hold" grpId="1" nodeType="afterEffect">
                                  <p:stCondLst>
                                    <p:cond delay="0"/>
                                  </p:stCondLst>
                                  <p:childTnLst>
                                    <p:anim calcmode="discrete" valueType="str">
                                      <p:cBhvr>
                                        <p:cTn id="19" dur="5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22" grpId="0" animBg="1"/>
      <p:bldP spid="22" grpId="1"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482554"/>
            <a:ext cx="8172000" cy="4267246"/>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2412000" y="104400"/>
            <a:ext cx="4320000" cy="369332"/>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482554"/>
            <a:ext cx="8172000" cy="4267246"/>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2412000" y="104400"/>
            <a:ext cx="4320000" cy="369332"/>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2412000" y="104400"/>
            <a:ext cx="4320000" cy="369332"/>
          </a:xfrm>
        </p:spPr>
        <p:txBody>
          <a:bodyPr/>
          <a:lstStyle/>
          <a:p>
            <a:r>
              <a:rPr lang="zh-CN" altLang="en-US" dirty="0"/>
              <a:t>确认丢失</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3576369" y="1889477"/>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21865" y="1978885"/>
            <a:ext cx="360000" cy="360000"/>
          </a:xfrm>
          <a:prstGeom prst="rect">
            <a:avLst/>
          </a:prstGeom>
        </p:spPr>
      </p:pic>
      <p:sp>
        <p:nvSpPr>
          <p:cNvPr id="24" name="TextBox 86">
            <a:extLst>
              <a:ext uri="{FF2B5EF4-FFF2-40B4-BE49-F238E27FC236}">
                <a16:creationId xmlns:a16="http://schemas.microsoft.com/office/drawing/2014/main" id="{0DDFB30D-8DD4-8A08-60C4-F0AA610E86F1}"/>
              </a:ext>
            </a:extLst>
          </p:cNvPr>
          <p:cNvSpPr txBox="1"/>
          <p:nvPr/>
        </p:nvSpPr>
        <p:spPr>
          <a:xfrm>
            <a:off x="2825602" y="2279426"/>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grpSp>
        <p:nvGrpSpPr>
          <p:cNvPr id="27" name="组合 26">
            <a:extLst>
              <a:ext uri="{FF2B5EF4-FFF2-40B4-BE49-F238E27FC236}">
                <a16:creationId xmlns:a16="http://schemas.microsoft.com/office/drawing/2014/main" id="{44723CA2-1EB3-96F2-6729-1FE0118FAE41}"/>
              </a:ext>
            </a:extLst>
          </p:cNvPr>
          <p:cNvGrpSpPr/>
          <p:nvPr/>
        </p:nvGrpSpPr>
        <p:grpSpPr>
          <a:xfrm>
            <a:off x="3672000" y="1473745"/>
            <a:ext cx="1799993" cy="578834"/>
            <a:chOff x="3672000" y="1473745"/>
            <a:chExt cx="1799993" cy="578834"/>
          </a:xfrm>
        </p:grpSpPr>
        <p:sp>
          <p:nvSpPr>
            <p:cNvPr id="28" name="Freeform 17">
              <a:extLst>
                <a:ext uri="{FF2B5EF4-FFF2-40B4-BE49-F238E27FC236}">
                  <a16:creationId xmlns:a16="http://schemas.microsoft.com/office/drawing/2014/main" id="{7774C215-F0B7-7887-B012-65617BC5924C}"/>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9" name="AutoShape 18">
              <a:extLst>
                <a:ext uri="{FF2B5EF4-FFF2-40B4-BE49-F238E27FC236}">
                  <a16:creationId xmlns:a16="http://schemas.microsoft.com/office/drawing/2014/main" id="{F567FCD2-73FA-FEE5-07ED-6F46E1DCDC16}"/>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0" name="Rectangle 19">
              <a:extLst>
                <a:ext uri="{FF2B5EF4-FFF2-40B4-BE49-F238E27FC236}">
                  <a16:creationId xmlns:a16="http://schemas.microsoft.com/office/drawing/2014/main" id="{90DDE24C-4E23-62A4-C5F5-B6A511BAB7AA}"/>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31" name="Freeform 21">
            <a:extLst>
              <a:ext uri="{FF2B5EF4-FFF2-40B4-BE49-F238E27FC236}">
                <a16:creationId xmlns:a16="http://schemas.microsoft.com/office/drawing/2014/main" id="{ED7DC0E3-3778-620D-DB67-975A176DA943}"/>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2" name="AutoShape 22">
            <a:extLst>
              <a:ext uri="{FF2B5EF4-FFF2-40B4-BE49-F238E27FC236}">
                <a16:creationId xmlns:a16="http://schemas.microsoft.com/office/drawing/2014/main" id="{645B7396-0D60-0CD2-0C4C-945BD4F6543D}"/>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3" name="Rectangle 23">
            <a:extLst>
              <a:ext uri="{FF2B5EF4-FFF2-40B4-BE49-F238E27FC236}">
                <a16:creationId xmlns:a16="http://schemas.microsoft.com/office/drawing/2014/main" id="{79675E2D-9A35-A057-1218-89C37D1B56BF}"/>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4" name="Line 26">
            <a:extLst>
              <a:ext uri="{FF2B5EF4-FFF2-40B4-BE49-F238E27FC236}">
                <a16:creationId xmlns:a16="http://schemas.microsoft.com/office/drawing/2014/main" id="{24AB708D-404F-ECE7-C5C2-A18405F5672F}"/>
              </a:ext>
            </a:extLst>
          </p:cNvPr>
          <p:cNvSpPr>
            <a:spLocks noChangeShapeType="1"/>
          </p:cNvSpPr>
          <p:nvPr/>
        </p:nvSpPr>
        <p:spPr bwMode="auto">
          <a:xfrm flipH="1">
            <a:off x="3671985" y="2138730"/>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5" name="Text Box 27">
            <a:extLst>
              <a:ext uri="{FF2B5EF4-FFF2-40B4-BE49-F238E27FC236}">
                <a16:creationId xmlns:a16="http://schemas.microsoft.com/office/drawing/2014/main" id="{FF1B1697-195A-DD6D-7822-983C1584F90E}"/>
              </a:ext>
            </a:extLst>
          </p:cNvPr>
          <p:cNvSpPr txBox="1">
            <a:spLocks noChangeArrowheads="1"/>
          </p:cNvSpPr>
          <p:nvPr/>
        </p:nvSpPr>
        <p:spPr bwMode="auto">
          <a:xfrm rot="21120000">
            <a:off x="4134653"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36" name="Text Box 30">
            <a:extLst>
              <a:ext uri="{FF2B5EF4-FFF2-40B4-BE49-F238E27FC236}">
                <a16:creationId xmlns:a16="http://schemas.microsoft.com/office/drawing/2014/main" id="{5ED8DA3B-39CB-F75A-AB56-89FA869683E0}"/>
              </a:ext>
            </a:extLst>
          </p:cNvPr>
          <p:cNvSpPr txBox="1">
            <a:spLocks noChangeArrowheads="1"/>
          </p:cNvSpPr>
          <p:nvPr/>
        </p:nvSpPr>
        <p:spPr bwMode="auto">
          <a:xfrm rot="21000000">
            <a:off x="4133294" y="305875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37" name="Line 4">
            <a:extLst>
              <a:ext uri="{FF2B5EF4-FFF2-40B4-BE49-F238E27FC236}">
                <a16:creationId xmlns:a16="http://schemas.microsoft.com/office/drawing/2014/main" id="{00E9F6F1-CD98-4ACF-68BE-B719CF2F2A97}"/>
              </a:ext>
            </a:extLst>
          </p:cNvPr>
          <p:cNvSpPr>
            <a:spLocks noChangeShapeType="1"/>
          </p:cNvSpPr>
          <p:nvPr/>
        </p:nvSpPr>
        <p:spPr bwMode="auto">
          <a:xfrm>
            <a:off x="36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8" name="Line 5">
            <a:extLst>
              <a:ext uri="{FF2B5EF4-FFF2-40B4-BE49-F238E27FC236}">
                <a16:creationId xmlns:a16="http://schemas.microsoft.com/office/drawing/2014/main" id="{106E23F8-8151-7510-7C88-653C7947A002}"/>
              </a:ext>
            </a:extLst>
          </p:cNvPr>
          <p:cNvSpPr>
            <a:spLocks noChangeShapeType="1"/>
          </p:cNvSpPr>
          <p:nvPr/>
        </p:nvSpPr>
        <p:spPr bwMode="auto">
          <a:xfrm>
            <a:off x="54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Rectangle 38">
            <a:extLst>
              <a:ext uri="{FF2B5EF4-FFF2-40B4-BE49-F238E27FC236}">
                <a16:creationId xmlns:a16="http://schemas.microsoft.com/office/drawing/2014/main" id="{B188489A-5C0C-00F6-6451-A84FCC20BDCE}"/>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40" name="Rectangle 39">
            <a:extLst>
              <a:ext uri="{FF2B5EF4-FFF2-40B4-BE49-F238E27FC236}">
                <a16:creationId xmlns:a16="http://schemas.microsoft.com/office/drawing/2014/main" id="{0798B163-57C9-BCAA-5093-D31EB2BC8B9B}"/>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42" name="Line 26">
            <a:extLst>
              <a:ext uri="{FF2B5EF4-FFF2-40B4-BE49-F238E27FC236}">
                <a16:creationId xmlns:a16="http://schemas.microsoft.com/office/drawing/2014/main" id="{E2EDF579-52CD-58D6-F0CD-3AA56160B782}"/>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4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4671086" y="1990650"/>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TextBox 86">
            <a:extLst>
              <a:ext uri="{FF2B5EF4-FFF2-40B4-BE49-F238E27FC236}">
                <a16:creationId xmlns:a16="http://schemas.microsoft.com/office/drawing/2014/main" id="{297A43BD-B9C8-8EE5-AA7A-D9D4DBA0A55D}"/>
              </a:ext>
            </a:extLst>
          </p:cNvPr>
          <p:cNvSpPr txBox="1"/>
          <p:nvPr/>
        </p:nvSpPr>
        <p:spPr>
          <a:xfrm>
            <a:off x="5467059" y="2063262"/>
            <a:ext cx="997389" cy="276999"/>
          </a:xfrm>
          <a:prstGeom prst="rect">
            <a:avLst/>
          </a:prstGeom>
          <a:noFill/>
        </p:spPr>
        <p:txBody>
          <a:bodyPr wrap="none" rtlCol="0">
            <a:spAutoFit/>
          </a:bodyPr>
          <a:lstStyle>
            <a:defPPr>
              <a:defRPr lang="zh-CN"/>
            </a:defPPr>
            <a:lvl1pPr defTabSz="762000" eaLnBrk="0" hangingPunct="0">
              <a:defRPr sz="1200">
                <a:latin typeface="Montserrat" panose="00000500000000000000" pitchFamily="2" charset="0"/>
                <a:ea typeface="微软雅黑 Light" panose="020B0502040204020203" pitchFamily="34" charset="-122"/>
              </a:defRPr>
            </a:lvl1pPr>
          </a:lstStyle>
          <a:p>
            <a:r>
              <a:rPr lang="zh-CN" altLang="en-US" dirty="0"/>
              <a:t>确认</a:t>
            </a:r>
            <a:r>
              <a:rPr lang="en-US" altLang="zh-CN" dirty="0"/>
              <a:t>M</a:t>
            </a:r>
            <a:r>
              <a:rPr lang="en-US" altLang="zh-CN" baseline="-25000" dirty="0"/>
              <a:t>1</a:t>
            </a:r>
            <a:r>
              <a:rPr lang="zh-CN" altLang="en-US" dirty="0"/>
              <a:t>丢失</a:t>
            </a:r>
            <a:endParaRPr lang="en-US" altLang="zh-CN" dirty="0"/>
          </a:p>
        </p:txBody>
      </p:sp>
      <p:sp>
        <p:nvSpPr>
          <p:cNvPr id="46" name="TextBox 86">
            <a:extLst>
              <a:ext uri="{FF2B5EF4-FFF2-40B4-BE49-F238E27FC236}">
                <a16:creationId xmlns:a16="http://schemas.microsoft.com/office/drawing/2014/main" id="{41FD574A-5860-5948-E662-2176000257AB}"/>
              </a:ext>
            </a:extLst>
          </p:cNvPr>
          <p:cNvSpPr txBox="1"/>
          <p:nvPr/>
        </p:nvSpPr>
        <p:spPr>
          <a:xfrm>
            <a:off x="5467059" y="3029007"/>
            <a:ext cx="1258550" cy="461665"/>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重复数据、丢弃</a:t>
            </a:r>
            <a:endParaRPr lang="en-US" altLang="zh-CN" sz="1200" dirty="0">
              <a:latin typeface="Montserrat" panose="00000500000000000000" pitchFamily="2" charset="0"/>
              <a:ea typeface="微软雅黑 Light" panose="020B0502040204020203" pitchFamily="34" charset="-122"/>
            </a:endParaRPr>
          </a:p>
          <a:p>
            <a:pPr defTabSz="762000" eaLnBrk="0" hangingPunct="0"/>
            <a:r>
              <a:rPr lang="zh-CN" altLang="en-US" sz="1200" dirty="0">
                <a:latin typeface="Montserrat" panose="00000500000000000000" pitchFamily="2" charset="0"/>
                <a:ea typeface="微软雅黑 Light" panose="020B0502040204020203" pitchFamily="34" charset="-122"/>
              </a:rPr>
              <a:t>再次确认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2412000" y="104400"/>
            <a:ext cx="4320000" cy="369332"/>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53" name="Freeform 17">
            <a:extLst>
              <a:ext uri="{FF2B5EF4-FFF2-40B4-BE49-F238E27FC236}">
                <a16:creationId xmlns:a16="http://schemas.microsoft.com/office/drawing/2014/main" id="{7C3D9CC6-A23C-90B9-9FFA-406D2EA64DDB}"/>
              </a:ext>
            </a:extLst>
          </p:cNvPr>
          <p:cNvSpPr>
            <a:spLocks/>
          </p:cNvSpPr>
          <p:nvPr/>
        </p:nvSpPr>
        <p:spPr bwMode="auto">
          <a:xfrm>
            <a:off x="3685750" y="3538923"/>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2412000" y="104400"/>
            <a:ext cx="4320000" cy="369332"/>
          </a:xfrm>
        </p:spPr>
        <p:txBody>
          <a:bodyPr/>
          <a:lstStyle/>
          <a:p>
            <a:r>
              <a:rPr lang="zh-CN" altLang="en-US" dirty="0"/>
              <a:t>确认迟到</a:t>
            </a:r>
          </a:p>
        </p:txBody>
      </p:sp>
      <p:sp>
        <p:nvSpPr>
          <p:cNvPr id="26" name="TextBox 86">
            <a:extLst>
              <a:ext uri="{FF2B5EF4-FFF2-40B4-BE49-F238E27FC236}">
                <a16:creationId xmlns:a16="http://schemas.microsoft.com/office/drawing/2014/main" id="{B731CAC9-AF66-8F40-2509-EA7262D5A790}"/>
              </a:ext>
            </a:extLst>
          </p:cNvPr>
          <p:cNvSpPr txBox="1"/>
          <p:nvPr/>
        </p:nvSpPr>
        <p:spPr>
          <a:xfrm>
            <a:off x="5467059" y="2063262"/>
            <a:ext cx="997389"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迟到</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Box 86">
            <a:extLst>
              <a:ext uri="{FF2B5EF4-FFF2-40B4-BE49-F238E27FC236}">
                <a16:creationId xmlns:a16="http://schemas.microsoft.com/office/drawing/2014/main" id="{4AC911D0-8A3D-A0DF-8B71-3C33B0E3FA2B}"/>
              </a:ext>
            </a:extLst>
          </p:cNvPr>
          <p:cNvSpPr txBox="1"/>
          <p:nvPr/>
        </p:nvSpPr>
        <p:spPr>
          <a:xfrm>
            <a:off x="5467059" y="3029007"/>
            <a:ext cx="1258550" cy="461665"/>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重复数据、丢弃</a:t>
            </a:r>
            <a:endParaRPr lang="en-US" altLang="zh-CN" sz="1200" dirty="0">
              <a:latin typeface="Montserrat" panose="00000500000000000000" pitchFamily="2" charset="0"/>
              <a:ea typeface="微软雅黑 Light" panose="020B0502040204020203" pitchFamily="34" charset="-122"/>
            </a:endParaRPr>
          </a:p>
          <a:p>
            <a:pPr defTabSz="762000" eaLnBrk="0" hangingPunct="0"/>
            <a:r>
              <a:rPr lang="zh-CN" altLang="en-US" sz="1200" dirty="0">
                <a:latin typeface="Montserrat" panose="00000500000000000000" pitchFamily="2" charset="0"/>
                <a:ea typeface="微软雅黑 Light" panose="020B0502040204020203" pitchFamily="34" charset="-122"/>
              </a:rPr>
              <a:t>再次确认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2049439" y="3877261"/>
            <a:ext cx="1638462" cy="461665"/>
          </a:xfrm>
          <a:prstGeom prst="rect">
            <a:avLst/>
          </a:prstGeom>
          <a:noFill/>
        </p:spPr>
        <p:txBody>
          <a:bodyPr wrap="none" rtlCol="0">
            <a:spAutoFit/>
          </a:bodyPr>
          <a:lstStyle/>
          <a:p>
            <a:pPr algn="r" defTabSz="762000" eaLnBrk="0" hangingPunct="0"/>
            <a:r>
              <a:rPr lang="zh-CN" altLang="en-US" sz="1200" dirty="0">
                <a:latin typeface="Montserrat" panose="00000500000000000000" pitchFamily="2" charset="0"/>
                <a:ea typeface="微软雅黑 Light" panose="020B0502040204020203" pitchFamily="34" charset="-122"/>
              </a:rPr>
              <a:t>重复确认</a:t>
            </a:r>
            <a:r>
              <a:rPr lang="en-US" altLang="zh-CN" sz="1200" dirty="0">
                <a:latin typeface="Montserrat" panose="00000500000000000000" pitchFamily="2" charset="0"/>
                <a:ea typeface="微软雅黑 Light" panose="020B0502040204020203" pitchFamily="34" charset="-122"/>
              </a:rPr>
              <a:t>ACK</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，丢弃</a:t>
            </a:r>
          </a:p>
          <a:p>
            <a:pPr algn="r" defTabSz="762000" eaLnBrk="0" hangingPunct="0"/>
            <a:r>
              <a:rPr lang="zh-CN" altLang="en-US" sz="1200" dirty="0">
                <a:latin typeface="Montserrat" panose="00000500000000000000" pitchFamily="2" charset="0"/>
                <a:ea typeface="微软雅黑 Light" panose="020B0502040204020203" pitchFamily="34" charset="-122"/>
              </a:rPr>
              <a:t>等待确认 </a:t>
            </a:r>
            <a:r>
              <a:rPr lang="en-US" altLang="zh-CN" sz="1200" dirty="0">
                <a:latin typeface="Montserrat" panose="00000500000000000000" pitchFamily="2" charset="0"/>
                <a:ea typeface="微软雅黑 Light" panose="020B0502040204020203" pitchFamily="34" charset="-122"/>
              </a:rPr>
              <a:t>ACK</a:t>
            </a:r>
            <a:r>
              <a:rPr lang="en-US" altLang="zh-CN" sz="1200" baseline="-25000" dirty="0">
                <a:latin typeface="Montserrat" panose="00000500000000000000" pitchFamily="2" charset="0"/>
                <a:ea typeface="微软雅黑 Light" panose="020B0502040204020203" pitchFamily="34" charset="-122"/>
              </a:rPr>
              <a:t>2</a:t>
            </a:r>
            <a:r>
              <a:rPr lang="en-US" altLang="zh-CN" sz="1200" dirty="0">
                <a:latin typeface="Montserrat" panose="00000500000000000000" pitchFamily="2" charset="0"/>
                <a:ea typeface="微软雅黑 Light" panose="020B0502040204020203" pitchFamily="34" charset="-122"/>
              </a:rPr>
              <a:t> </a:t>
            </a:r>
          </a:p>
        </p:txBody>
      </p:sp>
      <p:sp>
        <p:nvSpPr>
          <p:cNvPr id="17" name="AutoShape 26">
            <a:extLst>
              <a:ext uri="{FF2B5EF4-FFF2-40B4-BE49-F238E27FC236}">
                <a16:creationId xmlns:a16="http://schemas.microsoft.com/office/drawing/2014/main" id="{6273F0BC-E935-B286-D4D0-12FBD042E6D3}"/>
              </a:ext>
            </a:extLst>
          </p:cNvPr>
          <p:cNvSpPr>
            <a:spLocks/>
          </p:cNvSpPr>
          <p:nvPr/>
        </p:nvSpPr>
        <p:spPr bwMode="auto">
          <a:xfrm>
            <a:off x="3576369" y="1889477"/>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19" name="图形 18" descr="时钟">
            <a:extLst>
              <a:ext uri="{FF2B5EF4-FFF2-40B4-BE49-F238E27FC236}">
                <a16:creationId xmlns:a16="http://schemas.microsoft.com/office/drawing/2014/main" id="{47640636-7195-4E49-BC07-923721501A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21865" y="1978885"/>
            <a:ext cx="360000" cy="360000"/>
          </a:xfrm>
          <a:prstGeom prst="rect">
            <a:avLst/>
          </a:prstGeom>
        </p:spPr>
      </p:pic>
      <p:sp>
        <p:nvSpPr>
          <p:cNvPr id="22" name="TextBox 86">
            <a:extLst>
              <a:ext uri="{FF2B5EF4-FFF2-40B4-BE49-F238E27FC236}">
                <a16:creationId xmlns:a16="http://schemas.microsoft.com/office/drawing/2014/main" id="{41203F7C-4022-750D-EC01-3737E14AAE0D}"/>
              </a:ext>
            </a:extLst>
          </p:cNvPr>
          <p:cNvSpPr txBox="1"/>
          <p:nvPr/>
        </p:nvSpPr>
        <p:spPr>
          <a:xfrm>
            <a:off x="2887682" y="2279426"/>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grpSp>
        <p:nvGrpSpPr>
          <p:cNvPr id="23" name="组合 22">
            <a:extLst>
              <a:ext uri="{FF2B5EF4-FFF2-40B4-BE49-F238E27FC236}">
                <a16:creationId xmlns:a16="http://schemas.microsoft.com/office/drawing/2014/main" id="{0ED58DF4-1C16-5B26-772D-655B16A075C5}"/>
              </a:ext>
            </a:extLst>
          </p:cNvPr>
          <p:cNvGrpSpPr/>
          <p:nvPr/>
        </p:nvGrpSpPr>
        <p:grpSpPr>
          <a:xfrm>
            <a:off x="3672000" y="1473745"/>
            <a:ext cx="1799993" cy="578834"/>
            <a:chOff x="3672000" y="1473745"/>
            <a:chExt cx="1799993" cy="578834"/>
          </a:xfrm>
        </p:grpSpPr>
        <p:sp>
          <p:nvSpPr>
            <p:cNvPr id="28" name="Freeform 17">
              <a:extLst>
                <a:ext uri="{FF2B5EF4-FFF2-40B4-BE49-F238E27FC236}">
                  <a16:creationId xmlns:a16="http://schemas.microsoft.com/office/drawing/2014/main" id="{00F9FD38-9B2C-384E-3CD8-6DC95A9B8F58}"/>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9" name="AutoShape 18">
              <a:extLst>
                <a:ext uri="{FF2B5EF4-FFF2-40B4-BE49-F238E27FC236}">
                  <a16:creationId xmlns:a16="http://schemas.microsoft.com/office/drawing/2014/main" id="{97946C1D-67FC-B285-0DC9-277EF251B679}"/>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2" name="Rectangle 19">
              <a:extLst>
                <a:ext uri="{FF2B5EF4-FFF2-40B4-BE49-F238E27FC236}">
                  <a16:creationId xmlns:a16="http://schemas.microsoft.com/office/drawing/2014/main" id="{3FC50296-FC0A-AF43-9EC8-91E6E5753672}"/>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33" name="Freeform 21">
            <a:extLst>
              <a:ext uri="{FF2B5EF4-FFF2-40B4-BE49-F238E27FC236}">
                <a16:creationId xmlns:a16="http://schemas.microsoft.com/office/drawing/2014/main" id="{59071CCD-DAEB-05F0-9698-D8C04EEED022}"/>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4" name="AutoShape 22">
            <a:extLst>
              <a:ext uri="{FF2B5EF4-FFF2-40B4-BE49-F238E27FC236}">
                <a16:creationId xmlns:a16="http://schemas.microsoft.com/office/drawing/2014/main" id="{88316B0F-5BA3-10F1-4F94-F713EA74DC82}"/>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Rectangle 23">
            <a:extLst>
              <a:ext uri="{FF2B5EF4-FFF2-40B4-BE49-F238E27FC236}">
                <a16:creationId xmlns:a16="http://schemas.microsoft.com/office/drawing/2014/main" id="{6E45B2FD-4892-2AB8-3905-37AD887CBF1C}"/>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7" name="Text Box 27">
            <a:extLst>
              <a:ext uri="{FF2B5EF4-FFF2-40B4-BE49-F238E27FC236}">
                <a16:creationId xmlns:a16="http://schemas.microsoft.com/office/drawing/2014/main" id="{ABB22EA0-25FD-DC76-D51A-9D3EB9E2CBA0}"/>
              </a:ext>
            </a:extLst>
          </p:cNvPr>
          <p:cNvSpPr txBox="1">
            <a:spLocks noChangeArrowheads="1"/>
          </p:cNvSpPr>
          <p:nvPr/>
        </p:nvSpPr>
        <p:spPr bwMode="auto">
          <a:xfrm rot="18900000">
            <a:off x="4699641" y="2236272"/>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solidFill>
                  <a:srgbClr val="FF0000"/>
                </a:solidFill>
                <a:latin typeface="Montserrat" panose="00000500000000000000" pitchFamily="2" charset="0"/>
                <a:ea typeface="微软雅黑 Light" panose="020B0502040204020203" pitchFamily="34" charset="-122"/>
              </a:rPr>
              <a:t>ACK </a:t>
            </a:r>
            <a:r>
              <a:rPr kumimoji="0" lang="en-US" altLang="zh-CN" sz="1200" baseline="-25000" dirty="0">
                <a:solidFill>
                  <a:srgbClr val="FF0000"/>
                </a:solidFill>
                <a:latin typeface="Montserrat" panose="00000500000000000000" pitchFamily="2" charset="0"/>
                <a:ea typeface="微软雅黑 Light" panose="020B0502040204020203" pitchFamily="34" charset="-122"/>
              </a:rPr>
              <a:t>1</a:t>
            </a:r>
          </a:p>
        </p:txBody>
      </p:sp>
      <p:sp>
        <p:nvSpPr>
          <p:cNvPr id="38" name="Text Box 30">
            <a:extLst>
              <a:ext uri="{FF2B5EF4-FFF2-40B4-BE49-F238E27FC236}">
                <a16:creationId xmlns:a16="http://schemas.microsoft.com/office/drawing/2014/main" id="{0006E9D6-B059-B657-A70B-910CFFD79E9D}"/>
              </a:ext>
            </a:extLst>
          </p:cNvPr>
          <p:cNvSpPr txBox="1">
            <a:spLocks noChangeArrowheads="1"/>
          </p:cNvSpPr>
          <p:nvPr/>
        </p:nvSpPr>
        <p:spPr bwMode="auto">
          <a:xfrm rot="21120000">
            <a:off x="4600805" y="301750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41" name="Rectangle 38">
            <a:extLst>
              <a:ext uri="{FF2B5EF4-FFF2-40B4-BE49-F238E27FC236}">
                <a16:creationId xmlns:a16="http://schemas.microsoft.com/office/drawing/2014/main" id="{9F4B71D5-0C55-FA1E-3D5B-8697606648BE}"/>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42" name="Rectangle 39">
            <a:extLst>
              <a:ext uri="{FF2B5EF4-FFF2-40B4-BE49-F238E27FC236}">
                <a16:creationId xmlns:a16="http://schemas.microsoft.com/office/drawing/2014/main" id="{3F3C4DE6-4940-1B47-844D-5BB6907F71DE}"/>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44" name="Line 26">
            <a:extLst>
              <a:ext uri="{FF2B5EF4-FFF2-40B4-BE49-F238E27FC236}">
                <a16:creationId xmlns:a16="http://schemas.microsoft.com/office/drawing/2014/main" id="{E7A2DAC7-8E9C-4DA9-0903-18CD2FF9E9FC}"/>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4" name="AutoShape 18">
            <a:extLst>
              <a:ext uri="{FF2B5EF4-FFF2-40B4-BE49-F238E27FC236}">
                <a16:creationId xmlns:a16="http://schemas.microsoft.com/office/drawing/2014/main" id="{E1F2CC7B-EA4B-87CB-328B-41184087A3B7}"/>
              </a:ext>
            </a:extLst>
          </p:cNvPr>
          <p:cNvSpPr>
            <a:spLocks noChangeArrowheads="1"/>
          </p:cNvSpPr>
          <p:nvPr/>
        </p:nvSpPr>
        <p:spPr bwMode="auto">
          <a:xfrm rot="480000">
            <a:off x="4778352" y="382007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5" name="Rectangle 19">
            <a:extLst>
              <a:ext uri="{FF2B5EF4-FFF2-40B4-BE49-F238E27FC236}">
                <a16:creationId xmlns:a16="http://schemas.microsoft.com/office/drawing/2014/main" id="{7F40F5BD-EA25-74DB-5C63-6C683A6CF4EE}"/>
              </a:ext>
            </a:extLst>
          </p:cNvPr>
          <p:cNvSpPr>
            <a:spLocks noChangeArrowheads="1"/>
          </p:cNvSpPr>
          <p:nvPr/>
        </p:nvSpPr>
        <p:spPr bwMode="auto">
          <a:xfrm rot="540000">
            <a:off x="4161484" y="3653322"/>
            <a:ext cx="38792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cxnSp>
        <p:nvCxnSpPr>
          <p:cNvPr id="57" name="直接箭头连接符 56">
            <a:extLst>
              <a:ext uri="{FF2B5EF4-FFF2-40B4-BE49-F238E27FC236}">
                <a16:creationId xmlns:a16="http://schemas.microsoft.com/office/drawing/2014/main" id="{612FFDE5-B920-9FAE-5B67-140DA98F3966}"/>
              </a:ext>
            </a:extLst>
          </p:cNvPr>
          <p:cNvCxnSpPr/>
          <p:nvPr/>
        </p:nvCxnSpPr>
        <p:spPr>
          <a:xfrm>
            <a:off x="3672000" y="1374516"/>
            <a:ext cx="0" cy="288000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8" name="直接箭头连接符 57">
            <a:extLst>
              <a:ext uri="{FF2B5EF4-FFF2-40B4-BE49-F238E27FC236}">
                <a16:creationId xmlns:a16="http://schemas.microsoft.com/office/drawing/2014/main" id="{F26A3F70-D10D-FB84-850D-FD51A6D390E3}"/>
              </a:ext>
            </a:extLst>
          </p:cNvPr>
          <p:cNvCxnSpPr/>
          <p:nvPr/>
        </p:nvCxnSpPr>
        <p:spPr>
          <a:xfrm>
            <a:off x="5472000" y="1374516"/>
            <a:ext cx="0" cy="288000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6" name="Line 26">
            <a:extLst>
              <a:ext uri="{FF2B5EF4-FFF2-40B4-BE49-F238E27FC236}">
                <a16:creationId xmlns:a16="http://schemas.microsoft.com/office/drawing/2014/main" id="{28A7C47A-BA57-3E0B-6D6E-63E947295B91}"/>
              </a:ext>
            </a:extLst>
          </p:cNvPr>
          <p:cNvSpPr>
            <a:spLocks noChangeShapeType="1"/>
          </p:cNvSpPr>
          <p:nvPr/>
        </p:nvSpPr>
        <p:spPr bwMode="auto">
          <a:xfrm flipH="1">
            <a:off x="3694776" y="2138730"/>
            <a:ext cx="1777209" cy="1873020"/>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2412000" y="104400"/>
            <a:ext cx="4320000" cy="369332"/>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482554"/>
            <a:ext cx="8172000" cy="4267246"/>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2412000" y="104400"/>
            <a:ext cx="4320000" cy="369332"/>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2412000" y="104400"/>
            <a:ext cx="4320000" cy="369332"/>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482554"/>
            <a:ext cx="8172000" cy="4267246"/>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2412000" y="104400"/>
            <a:ext cx="4320000" cy="369332"/>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64CCEE9-A796-CC72-8671-9C8A18565DD0}"/>
              </a:ext>
            </a:extLst>
          </p:cNvPr>
          <p:cNvSpPr>
            <a:spLocks noGrp="1"/>
          </p:cNvSpPr>
          <p:nvPr>
            <p:ph type="title"/>
          </p:nvPr>
        </p:nvSpPr>
        <p:spPr>
          <a:xfrm>
            <a:off x="2412000" y="104400"/>
            <a:ext cx="4320000" cy="369332"/>
          </a:xfr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256028721"/>
              </p:ext>
            </p:extLst>
          </p:nvPr>
        </p:nvGraphicFramePr>
        <p:xfrm>
          <a:off x="642065" y="1466104"/>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3731419738"/>
              </p:ext>
            </p:extLst>
          </p:nvPr>
        </p:nvGraphicFramePr>
        <p:xfrm>
          <a:off x="642065" y="3364891"/>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
        <p:nvSpPr>
          <p:cNvPr id="13" name="标题 2">
            <a:extLst>
              <a:ext uri="{FF2B5EF4-FFF2-40B4-BE49-F238E27FC236}">
                <a16:creationId xmlns:a16="http://schemas.microsoft.com/office/drawing/2014/main" id="{F4893EFF-C509-08E9-4D4C-179CAD6BAB87}"/>
              </a:ext>
            </a:extLst>
          </p:cNvPr>
          <p:cNvSpPr>
            <a:spLocks noGrp="1"/>
          </p:cNvSpPr>
          <p:nvPr>
            <p:ph type="title"/>
          </p:nvPr>
        </p:nvSpPr>
        <p:spPr>
          <a:xfrm>
            <a:off x="2412000" y="104400"/>
            <a:ext cx="4320000" cy="369332"/>
          </a:xfrm>
        </p:spPr>
        <p:txBody>
          <a:bodyPr/>
          <a:lstStyle/>
          <a:p>
            <a:r>
              <a:rPr lang="zh-CN" altLang="en-US" dirty="0"/>
              <a:t>发送窗口</a:t>
            </a: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144949622"/>
              </p:ext>
            </p:extLst>
          </p:nvPr>
        </p:nvGraphicFramePr>
        <p:xfrm>
          <a:off x="2077541" y="1460684"/>
          <a:ext cx="381046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6000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3702994277"/>
              </p:ext>
            </p:extLst>
          </p:nvPr>
        </p:nvGraphicFramePr>
        <p:xfrm>
          <a:off x="1124777" y="3154826"/>
          <a:ext cx="3810472" cy="36000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6000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7" name="标题 2">
            <a:extLst>
              <a:ext uri="{FF2B5EF4-FFF2-40B4-BE49-F238E27FC236}">
                <a16:creationId xmlns:a16="http://schemas.microsoft.com/office/drawing/2014/main" id="{95D0E7A5-65BA-DAC8-1D99-D08DFB11F59D}"/>
              </a:ext>
            </a:extLst>
          </p:cNvPr>
          <p:cNvSpPr>
            <a:spLocks noGrp="1"/>
          </p:cNvSpPr>
          <p:nvPr>
            <p:ph type="title"/>
          </p:nvPr>
        </p:nvSpPr>
        <p:spPr>
          <a:xfrm>
            <a:off x="2412000" y="104400"/>
            <a:ext cx="4320000" cy="369332"/>
          </a:xfrm>
        </p:spPr>
        <p:txBody>
          <a:bodyPr/>
          <a:lstStyle/>
          <a:p>
            <a:r>
              <a:rPr lang="zh-CN" altLang="en-US" dirty="0"/>
              <a:t>发送窗口</a:t>
            </a: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2412000" y="104400"/>
            <a:ext cx="4320000" cy="369332"/>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8919045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2412000" y="104400"/>
            <a:ext cx="4320000" cy="369332"/>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2412000" y="104400"/>
            <a:ext cx="4320000" cy="369332"/>
          </a:xfrm>
        </p:spPr>
        <p:txBody>
          <a:bodyPr/>
          <a:lstStyle/>
          <a:p>
            <a:r>
              <a:rPr lang="en-US" altLang="zh-CN" dirty="0"/>
              <a:t>5.5  TCP </a:t>
            </a:r>
            <a:r>
              <a:rPr lang="zh-CN" altLang="en-US" dirty="0"/>
              <a:t>报文段的首部格式</a:t>
            </a:r>
          </a:p>
        </p:txBody>
      </p:sp>
      <p:sp>
        <p:nvSpPr>
          <p:cNvPr id="2" name="Rectangle 29">
            <a:extLst>
              <a:ext uri="{FF2B5EF4-FFF2-40B4-BE49-F238E27FC236}">
                <a16:creationId xmlns:a16="http://schemas.microsoft.com/office/drawing/2014/main" id="{C145FB3E-52C7-357A-C109-119712EB6FE1}"/>
              </a:ext>
            </a:extLst>
          </p:cNvPr>
          <p:cNvSpPr>
            <a:spLocks noChangeArrowheads="1"/>
          </p:cNvSpPr>
          <p:nvPr/>
        </p:nvSpPr>
        <p:spPr bwMode="auto">
          <a:xfrm>
            <a:off x="2077541" y="2529532"/>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980E2A29-4DE0-8174-5E41-382CB58C40BD}"/>
              </a:ext>
            </a:extLst>
          </p:cNvPr>
          <p:cNvSpPr txBox="1">
            <a:spLocks noChangeArrowheads="1"/>
          </p:cNvSpPr>
          <p:nvPr/>
        </p:nvSpPr>
        <p:spPr bwMode="auto">
          <a:xfrm>
            <a:off x="3342431" y="220080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7A0D2FA-7E77-BF0A-BDE7-5F292DE5C934}"/>
              </a:ext>
            </a:extLst>
          </p:cNvPr>
          <p:cNvGraphicFramePr>
            <a:graphicFrameLocks noGrp="1"/>
          </p:cNvGraphicFramePr>
          <p:nvPr>
            <p:extLst>
              <p:ext uri="{D42A27DB-BD31-4B8C-83A1-F6EECF244321}">
                <p14:modId xmlns:p14="http://schemas.microsoft.com/office/powerpoint/2010/main" val="4151258132"/>
              </p:ext>
            </p:extLst>
          </p:nvPr>
        </p:nvGraphicFramePr>
        <p:xfrm>
          <a:off x="642065" y="2628154"/>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5" name="AutoShape 26">
            <a:extLst>
              <a:ext uri="{FF2B5EF4-FFF2-40B4-BE49-F238E27FC236}">
                <a16:creationId xmlns:a16="http://schemas.microsoft.com/office/drawing/2014/main" id="{BAAC5B85-7F72-7B4F-8E03-0B7FDAFC010C}"/>
              </a:ext>
            </a:extLst>
          </p:cNvPr>
          <p:cNvSpPr>
            <a:spLocks/>
          </p:cNvSpPr>
          <p:nvPr/>
        </p:nvSpPr>
        <p:spPr bwMode="auto">
          <a:xfrm rot="16200000">
            <a:off x="4409693" y="237607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 name="AutoShape 26">
            <a:extLst>
              <a:ext uri="{FF2B5EF4-FFF2-40B4-BE49-F238E27FC236}">
                <a16:creationId xmlns:a16="http://schemas.microsoft.com/office/drawing/2014/main" id="{2219D795-99EE-BD11-E853-0F6811B950B5}"/>
              </a:ext>
            </a:extLst>
          </p:cNvPr>
          <p:cNvSpPr>
            <a:spLocks/>
          </p:cNvSpPr>
          <p:nvPr/>
        </p:nvSpPr>
        <p:spPr bwMode="auto">
          <a:xfrm rot="16200000">
            <a:off x="2743541" y="257407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C39829E4-A73F-559C-986D-E35E878CBE4B}"/>
              </a:ext>
            </a:extLst>
          </p:cNvPr>
          <p:cNvSpPr>
            <a:spLocks/>
          </p:cNvSpPr>
          <p:nvPr/>
        </p:nvSpPr>
        <p:spPr bwMode="auto">
          <a:xfrm rot="16200000">
            <a:off x="1308065" y="257407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AutoShape 26">
            <a:extLst>
              <a:ext uri="{FF2B5EF4-FFF2-40B4-BE49-F238E27FC236}">
                <a16:creationId xmlns:a16="http://schemas.microsoft.com/office/drawing/2014/main" id="{113B3FF6-8669-3418-D457-4E2BD6D57A89}"/>
              </a:ext>
            </a:extLst>
          </p:cNvPr>
          <p:cNvSpPr>
            <a:spLocks/>
          </p:cNvSpPr>
          <p:nvPr/>
        </p:nvSpPr>
        <p:spPr bwMode="auto">
          <a:xfrm rot="16200000">
            <a:off x="6060069" y="257407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文本框 10">
            <a:extLst>
              <a:ext uri="{FF2B5EF4-FFF2-40B4-BE49-F238E27FC236}">
                <a16:creationId xmlns:a16="http://schemas.microsoft.com/office/drawing/2014/main" id="{D343DDA4-E708-E7FB-E237-EBCD6C78309C}"/>
              </a:ext>
            </a:extLst>
          </p:cNvPr>
          <p:cNvSpPr txBox="1"/>
          <p:nvPr/>
        </p:nvSpPr>
        <p:spPr>
          <a:xfrm>
            <a:off x="2474375" y="341981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B61F3092-C9B2-0F0E-31E1-EA0593195C02}"/>
              </a:ext>
            </a:extLst>
          </p:cNvPr>
          <p:cNvSpPr txBox="1"/>
          <p:nvPr/>
        </p:nvSpPr>
        <p:spPr>
          <a:xfrm>
            <a:off x="4136879" y="341981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13" name="文本框 12">
            <a:extLst>
              <a:ext uri="{FF2B5EF4-FFF2-40B4-BE49-F238E27FC236}">
                <a16:creationId xmlns:a16="http://schemas.microsoft.com/office/drawing/2014/main" id="{CB7F97AD-A1CC-3BD1-BC0C-E23E7FA74E47}"/>
              </a:ext>
            </a:extLst>
          </p:cNvPr>
          <p:cNvSpPr txBox="1"/>
          <p:nvPr/>
        </p:nvSpPr>
        <p:spPr>
          <a:xfrm>
            <a:off x="1038900" y="341981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文本框 13">
            <a:extLst>
              <a:ext uri="{FF2B5EF4-FFF2-40B4-BE49-F238E27FC236}">
                <a16:creationId xmlns:a16="http://schemas.microsoft.com/office/drawing/2014/main" id="{6EE844B4-DAF4-AE35-11C5-7272D3F610A3}"/>
              </a:ext>
            </a:extLst>
          </p:cNvPr>
          <p:cNvSpPr txBox="1"/>
          <p:nvPr/>
        </p:nvSpPr>
        <p:spPr>
          <a:xfrm>
            <a:off x="5790903" y="341981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2412000" y="104400"/>
            <a:ext cx="4320000" cy="369332"/>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26B6778B-2349-0B72-D4F0-0670E2F0EE8D}"/>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482554"/>
            <a:ext cx="8172000" cy="4267246"/>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2412000" y="104400"/>
            <a:ext cx="4320000" cy="369332"/>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482554"/>
            <a:ext cx="8172000" cy="4267246"/>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2412000" y="104400"/>
            <a:ext cx="4320000" cy="369332"/>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2412000" y="104400"/>
            <a:ext cx="4320000" cy="369332"/>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2412000" y="104400"/>
            <a:ext cx="4320000" cy="369332"/>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标题 7">
            <a:extLst>
              <a:ext uri="{FF2B5EF4-FFF2-40B4-BE49-F238E27FC236}">
                <a16:creationId xmlns:a16="http://schemas.microsoft.com/office/drawing/2014/main" id="{1E1E06BA-A09C-99D3-338E-087840DE36A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a:xfrm>
            <a:off x="2412000" y="104400"/>
            <a:ext cx="4320000" cy="369332"/>
          </a:xfrm>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a:xfrm>
            <a:off x="2412000" y="104400"/>
            <a:ext cx="4320000" cy="369332"/>
          </a:xfrm>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482554"/>
            <a:ext cx="8172000" cy="4267246"/>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2412000" y="104400"/>
            <a:ext cx="4320000" cy="369332"/>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a:xfrm>
            <a:off x="2412000" y="104400"/>
            <a:ext cx="4320000" cy="369332"/>
          </a:xfrm>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a:xfrm>
            <a:off x="2412000" y="104400"/>
            <a:ext cx="4320000" cy="369332"/>
          </a:xfrm>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2412000" y="104400"/>
            <a:ext cx="4320000" cy="369332"/>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a:xfrm>
            <a:off x="2412000" y="104400"/>
            <a:ext cx="4320000" cy="369332"/>
          </a:xfrm>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a:xfrm>
            <a:off x="2412000" y="104400"/>
            <a:ext cx="4320000" cy="369332"/>
          </a:xfrm>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2412000" y="104400"/>
            <a:ext cx="4320000" cy="369332"/>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2412000" y="104400"/>
            <a:ext cx="4320000" cy="369332"/>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2412000" y="104400"/>
            <a:ext cx="4320000" cy="369332"/>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482554"/>
            <a:ext cx="8172000" cy="4267246"/>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2412000" y="104400"/>
            <a:ext cx="4320000" cy="369332"/>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网络利用率降低。</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例如：仅 </a:t>
              </a:r>
              <a:r>
                <a:rPr lang="en-US" altLang="zh-CN" sz="1400" kern="1200" dirty="0">
                  <a:latin typeface="微软雅黑 Light" panose="020B0502040204020203" pitchFamily="34" charset="-122"/>
                  <a:ea typeface="微软雅黑 Light" panose="020B0502040204020203" pitchFamily="34" charset="-122"/>
                </a:rPr>
                <a:t>1 </a:t>
              </a:r>
              <a:r>
                <a:rPr lang="zh-CN" altLang="en-US" sz="1400" kern="1200" dirty="0">
                  <a:latin typeface="微软雅黑 Light" panose="020B0502040204020203" pitchFamily="34" charset="-122"/>
                  <a:ea typeface="微软雅黑 Light" panose="020B0502040204020203" pitchFamily="34" charset="-122"/>
                </a:rPr>
                <a:t>个字节。利用率就不会超过</a:t>
              </a:r>
              <a:r>
                <a:rPr lang="en-US" altLang="en-US" sz="1400" kern="1200" dirty="0">
                  <a:latin typeface="微软雅黑 Light" panose="020B0502040204020203" pitchFamily="34" charset="-122"/>
                  <a:ea typeface="微软雅黑 Light" panose="020B0502040204020203" pitchFamily="34" charset="-122"/>
                </a:rPr>
                <a:t>1/41</a:t>
              </a:r>
              <a:r>
                <a:rPr lang="zh-CN" altLang="en-US" sz="1400" kern="1200" dirty="0">
                  <a:latin typeface="微软雅黑 Light" panose="020B0502040204020203" pitchFamily="34" charset="-122"/>
                  <a:ea typeface="微软雅黑 Light" panose="020B0502040204020203"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开销增大。</a:t>
              </a:r>
            </a:p>
            <a:p>
              <a:pPr marL="114300" lvl="1" indent="-114300" algn="l" defTabSz="533400">
                <a:lnSpc>
                  <a:spcPts val="2400"/>
                </a:lnSpc>
                <a:spcBef>
                  <a:spcPct val="0"/>
                </a:spcBef>
                <a:spcAft>
                  <a:spcPts val="0"/>
                </a:spcAft>
                <a:buChar char="••"/>
              </a:pP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层传输时要分片，终点要装配。</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chemeClr val="bg1"/>
                  </a:solidFill>
                  <a:latin typeface="微软雅黑 Light" panose="020B0502040204020203" pitchFamily="34" charset="-122"/>
                  <a:ea typeface="微软雅黑 Light" panose="020B0502040204020203"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只要在 </a:t>
              </a: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层传输时不再分片。</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默认值</a:t>
              </a:r>
              <a:r>
                <a:rPr lang="en-US" altLang="zh-CN"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kern="1200" dirty="0">
                  <a:solidFill>
                    <a:srgbClr val="C00000"/>
                  </a:solidFill>
                  <a:latin typeface="微软雅黑 Light" panose="020B0502040204020203" pitchFamily="34" charset="-122"/>
                  <a:ea typeface="微软雅黑 Light" panose="020B0502040204020203" pitchFamily="34" charset="-122"/>
                </a:rPr>
                <a:t>报文段长度 </a:t>
              </a:r>
              <a:r>
                <a:rPr lang="en-US" altLang="zh-CN" sz="1400" kern="1200" dirty="0">
                  <a:latin typeface="微软雅黑 Light" panose="020B0502040204020203" pitchFamily="34" charset="-122"/>
                  <a:ea typeface="微软雅黑 Light" panose="020B0502040204020203" pitchFamily="34" charset="-122"/>
                </a:rPr>
                <a:t>=</a:t>
              </a:r>
              <a:r>
                <a:rPr lang="zh-CN" altLang="en-US"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en-US" altLang="zh-CN" sz="1400" kern="1200" dirty="0">
                  <a:latin typeface="微软雅黑 Light" panose="020B0502040204020203" pitchFamily="34" charset="-122"/>
                  <a:ea typeface="微软雅黑 Light" panose="020B0502040204020203" pitchFamily="34" charset="-122"/>
                </a:rPr>
                <a:t>+</a:t>
              </a:r>
              <a:r>
                <a:rPr lang="en-US" altLang="en-US" sz="1400" kern="1200" dirty="0">
                  <a:latin typeface="微软雅黑 Light" panose="020B0502040204020203" pitchFamily="34" charset="-122"/>
                  <a:ea typeface="微软雅黑 Light" panose="020B0502040204020203" pitchFamily="34" charset="-122"/>
                </a:rPr>
                <a:t> 20 </a:t>
              </a:r>
              <a:r>
                <a:rPr lang="en-US" altLang="zh-CN" sz="1400" kern="1200" dirty="0">
                  <a:latin typeface="微软雅黑 Light" panose="020B0502040204020203" pitchFamily="34" charset="-122"/>
                  <a:ea typeface="微软雅黑 Light" panose="020B0502040204020203" pitchFamily="34" charset="-122"/>
                </a:rPr>
                <a:t>= 556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dirty="0">
                  <a:solidFill>
                    <a:srgbClr val="C00000"/>
                  </a:solidFill>
                  <a:latin typeface="微软雅黑 Light" panose="020B0502040204020203" pitchFamily="34" charset="-122"/>
                  <a:ea typeface="微软雅黑 Light" panose="020B0502040204020203" pitchFamily="34" charset="-122"/>
                </a:rPr>
                <a:t>IP </a:t>
              </a:r>
              <a:r>
                <a:rPr lang="zh-CN" altLang="en-US" sz="1400" dirty="0">
                  <a:solidFill>
                    <a:srgbClr val="C00000"/>
                  </a:solidFill>
                  <a:latin typeface="微软雅黑 Light" panose="020B0502040204020203" pitchFamily="34" charset="-122"/>
                  <a:ea typeface="微软雅黑 Light" panose="020B0502040204020203" pitchFamily="34" charset="-122"/>
                </a:rPr>
                <a:t>数据报长度 </a:t>
              </a:r>
              <a:r>
                <a:rPr lang="en-US" altLang="zh-CN" sz="1400" dirty="0">
                  <a:latin typeface="微软雅黑 Light" panose="020B0502040204020203" pitchFamily="34" charset="-122"/>
                  <a:ea typeface="微软雅黑 Light" panose="020B0502040204020203" pitchFamily="34" charset="-122"/>
                </a:rPr>
                <a:t>= 576 </a:t>
              </a:r>
              <a:r>
                <a:rPr lang="zh-CN" altLang="en-US" sz="1400" dirty="0">
                  <a:latin typeface="微软雅黑 Light" panose="020B0502040204020203" pitchFamily="34" charset="-122"/>
                  <a:ea typeface="微软雅黑 Light" panose="020B0502040204020203" pitchFamily="34" charset="-122"/>
                </a:rPr>
                <a:t>字节。</a:t>
              </a:r>
              <a:endParaRPr lang="zh-CN" altLang="en-US" sz="1400" kern="1200"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2412000" y="104400"/>
            <a:ext cx="4320000" cy="369332"/>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窗口字段长度</a:t>
            </a:r>
            <a:r>
              <a:rPr lang="en-US" altLang="zh-CN" dirty="0"/>
              <a:t>= 16 bits</a:t>
            </a:r>
            <a:r>
              <a:rPr lang="zh-CN" altLang="en-US" dirty="0"/>
              <a:t>，最大窗口大小 </a:t>
            </a:r>
            <a:r>
              <a:rPr lang="en-US" altLang="zh-CN" dirty="0"/>
              <a:t>= 64 KB</a:t>
            </a:r>
            <a:r>
              <a:rPr lang="zh-CN" altLang="en-US" dirty="0"/>
              <a:t>。</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2412000" y="104400"/>
            <a:ext cx="4320000" cy="369332"/>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482554"/>
            <a:ext cx="8172000" cy="4267246"/>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2412000" y="104400"/>
            <a:ext cx="4320000" cy="369332"/>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482554"/>
            <a:ext cx="8172000" cy="4267246"/>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2412000" y="104400"/>
            <a:ext cx="4320000" cy="369332"/>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2" name="标题 1">
            <a:extLst>
              <a:ext uri="{FF2B5EF4-FFF2-40B4-BE49-F238E27FC236}">
                <a16:creationId xmlns:a16="http://schemas.microsoft.com/office/drawing/2014/main" id="{F9F908DB-76B5-6A49-68F8-B925BECF82B8}"/>
              </a:ext>
            </a:extLst>
          </p:cNvPr>
          <p:cNvSpPr>
            <a:spLocks noGrp="1"/>
          </p:cNvSpPr>
          <p:nvPr>
            <p:ph type="title"/>
          </p:nvPr>
        </p:nvSpPr>
        <p:spPr>
          <a:xfrm>
            <a:off x="2412000" y="104400"/>
            <a:ext cx="4320000" cy="369332"/>
          </a:xfrm>
        </p:spPr>
        <p:txBody>
          <a:bodyPr/>
          <a:lstStyle/>
          <a:p>
            <a:r>
              <a:rPr lang="fr-FR" altLang="zh-CN" dirty="0"/>
              <a:t>5.6 </a:t>
            </a:r>
            <a:r>
              <a:rPr lang="en-US" altLang="zh-CN" dirty="0"/>
              <a:t>TCP </a:t>
            </a:r>
            <a:r>
              <a:rPr lang="zh-CN" altLang="en-US" dirty="0"/>
              <a:t>可靠传输的实现</a:t>
            </a:r>
            <a:endParaRPr lang="zh-CN" altLang="fr-FR" dirty="0"/>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2412000" y="104400"/>
            <a:ext cx="4320000" cy="369332"/>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2412000" y="104400"/>
            <a:ext cx="4320000" cy="369332"/>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2412000" y="104400"/>
            <a:ext cx="4320000" cy="369332"/>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2412000" y="104400"/>
            <a:ext cx="4320000" cy="369332"/>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2412000" y="104400"/>
            <a:ext cx="4320000" cy="369332"/>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2412000" y="104400"/>
            <a:ext cx="4320000" cy="369332"/>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78069E6E-7A2C-A3C2-975C-E91CF4938E5A}"/>
              </a:ext>
            </a:extLst>
          </p:cNvPr>
          <p:cNvSpPr>
            <a:spLocks noGrp="1"/>
          </p:cNvSpPr>
          <p:nvPr>
            <p:ph type="title"/>
          </p:nvPr>
        </p:nvSpPr>
        <p:spPr>
          <a:xfrm>
            <a:off x="2412000" y="104400"/>
            <a:ext cx="4320000" cy="369332"/>
          </a:xfrm>
        </p:spPr>
        <p:txBody>
          <a:bodyPr/>
          <a:lstStyle/>
          <a:p>
            <a:r>
              <a:rPr lang="zh-CN" altLang="en-US" dirty="0"/>
              <a:t>窗口的滑动</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BC5DAA80-B8FA-8022-B2B0-4CE6F4878854}"/>
              </a:ext>
            </a:extLst>
          </p:cNvPr>
          <p:cNvSpPr>
            <a:spLocks noGrp="1"/>
          </p:cNvSpPr>
          <p:nvPr>
            <p:ph type="title"/>
          </p:nvPr>
        </p:nvSpPr>
        <p:spPr>
          <a:xfrm>
            <a:off x="2412000" y="104400"/>
            <a:ext cx="4320000" cy="369332"/>
          </a:xfrm>
        </p:spPr>
        <p:txBody>
          <a:bodyPr/>
          <a:lstStyle/>
          <a:p>
            <a:r>
              <a:rPr lang="zh-CN" altLang="en-US" dirty="0"/>
              <a:t>窗口的滑动</a:t>
            </a:r>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B70805F-8B96-F9FF-256E-A05DBF3F6F48}"/>
              </a:ext>
            </a:extLst>
          </p:cNvPr>
          <p:cNvSpPr>
            <a:spLocks noGrp="1"/>
          </p:cNvSpPr>
          <p:nvPr>
            <p:ph type="title"/>
          </p:nvPr>
        </p:nvSpPr>
        <p:spPr>
          <a:xfrm>
            <a:off x="2412000" y="104400"/>
            <a:ext cx="4320000" cy="369332"/>
          </a:xfrm>
        </p:spPr>
        <p:txBody>
          <a:bodyPr/>
          <a:lstStyle/>
          <a:p>
            <a:r>
              <a:rPr lang="zh-CN" altLang="en-US" dirty="0"/>
              <a:t>窗口的滑动</a:t>
            </a:r>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2148C3E-F242-EA04-26CC-6FC81667252F}"/>
              </a:ext>
            </a:extLst>
          </p:cNvPr>
          <p:cNvSpPr>
            <a:spLocks noGrp="1"/>
          </p:cNvSpPr>
          <p:nvPr>
            <p:ph type="title"/>
          </p:nvPr>
        </p:nvSpPr>
        <p:spPr>
          <a:xfrm>
            <a:off x="2412000" y="104400"/>
            <a:ext cx="4320000" cy="369332"/>
          </a:xfrm>
        </p:spPr>
        <p:txBody>
          <a:bodyPr/>
          <a:lstStyle/>
          <a:p>
            <a:r>
              <a:rPr lang="zh-CN" altLang="en-US" dirty="0"/>
              <a:t>窗口的滑动</a:t>
            </a:r>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3B849BE9-24C1-E7FA-1E9B-1609FD404DA8}"/>
              </a:ext>
            </a:extLst>
          </p:cNvPr>
          <p:cNvSpPr>
            <a:spLocks noGrp="1"/>
          </p:cNvSpPr>
          <p:nvPr>
            <p:ph type="title"/>
          </p:nvPr>
        </p:nvSpPr>
        <p:spPr>
          <a:xfrm>
            <a:off x="2412000" y="104400"/>
            <a:ext cx="4320000" cy="369332"/>
          </a:xfrm>
        </p:spPr>
        <p:txBody>
          <a:bodyPr/>
          <a:lstStyle/>
          <a:p>
            <a:r>
              <a:rPr lang="zh-CN" altLang="en-US" dirty="0"/>
              <a:t>窗口的滑动</a:t>
            </a:r>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3" name="标题 2">
            <a:extLst>
              <a:ext uri="{FF2B5EF4-FFF2-40B4-BE49-F238E27FC236}">
                <a16:creationId xmlns:a16="http://schemas.microsoft.com/office/drawing/2014/main" id="{258A2BB8-31AD-1717-3A11-17E4A31F3448}"/>
              </a:ext>
            </a:extLst>
          </p:cNvPr>
          <p:cNvSpPr>
            <a:spLocks noGrp="1"/>
          </p:cNvSpPr>
          <p:nvPr>
            <p:ph type="title"/>
          </p:nvPr>
        </p:nvSpPr>
        <p:spPr>
          <a:xfrm>
            <a:off x="2412000" y="104400"/>
            <a:ext cx="4320000" cy="369332"/>
          </a:xfrm>
        </p:spPr>
        <p:txBody>
          <a:bodyPr/>
          <a:lstStyle/>
          <a:p>
            <a:r>
              <a:rPr lang="zh-CN" altLang="en-US" dirty="0"/>
              <a:t>窗口的滑动</a:t>
            </a:r>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2" name="标题 1">
            <a:extLst>
              <a:ext uri="{FF2B5EF4-FFF2-40B4-BE49-F238E27FC236}">
                <a16:creationId xmlns:a16="http://schemas.microsoft.com/office/drawing/2014/main" id="{0A223A69-B5E0-1D9D-83F2-B76F8612C3DA}"/>
              </a:ext>
            </a:extLst>
          </p:cNvPr>
          <p:cNvSpPr>
            <a:spLocks noGrp="1"/>
          </p:cNvSpPr>
          <p:nvPr>
            <p:ph type="title"/>
          </p:nvPr>
        </p:nvSpPr>
        <p:spPr>
          <a:xfrm>
            <a:off x="2412000" y="104400"/>
            <a:ext cx="4320000" cy="369332"/>
          </a:xfrm>
        </p:spPr>
        <p:txBody>
          <a:bodyPr/>
          <a:lstStyle/>
          <a:p>
            <a:r>
              <a:rPr lang="zh-CN" altLang="en-US" dirty="0"/>
              <a:t>窗口的滑动</a:t>
            </a:r>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D7536310-9430-08A7-6E2F-DE6AF9321A36}"/>
              </a:ext>
            </a:extLst>
          </p:cNvPr>
          <p:cNvSpPr>
            <a:spLocks noGrp="1"/>
          </p:cNvSpPr>
          <p:nvPr>
            <p:ph type="title"/>
          </p:nvPr>
        </p:nvSpPr>
        <p:spPr>
          <a:xfrm>
            <a:off x="2412000" y="104400"/>
            <a:ext cx="4320000" cy="369332"/>
          </a:xfrm>
        </p:spPr>
        <p:txBody>
          <a:bodyPr/>
          <a:lstStyle/>
          <a:p>
            <a:r>
              <a:rPr lang="zh-CN" altLang="en-US" dirty="0"/>
              <a:t>接收缓存与接收窗口 </a:t>
            </a:r>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3" name="标题 2">
            <a:extLst>
              <a:ext uri="{FF2B5EF4-FFF2-40B4-BE49-F238E27FC236}">
                <a16:creationId xmlns:a16="http://schemas.microsoft.com/office/drawing/2014/main" id="{F7FF0389-CBDA-6577-6E8D-DCFCF267C221}"/>
              </a:ext>
            </a:extLst>
          </p:cNvPr>
          <p:cNvSpPr>
            <a:spLocks noGrp="1"/>
          </p:cNvSpPr>
          <p:nvPr>
            <p:ph type="title"/>
          </p:nvPr>
        </p:nvSpPr>
        <p:spPr>
          <a:xfrm>
            <a:off x="2412000" y="104400"/>
            <a:ext cx="4320000" cy="369332"/>
          </a:xfrm>
        </p:spPr>
        <p:txBody>
          <a:bodyPr/>
          <a:lstStyle/>
          <a:p>
            <a:r>
              <a:rPr lang="zh-CN" altLang="en-US" dirty="0"/>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482554"/>
            <a:ext cx="8172000" cy="4267246"/>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2412000" y="104400"/>
            <a:ext cx="4320000" cy="369332"/>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2412000" y="104400"/>
            <a:ext cx="4320000" cy="369332"/>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482554"/>
            <a:ext cx="8172000" cy="4267246"/>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2412000" y="104400"/>
            <a:ext cx="4320000" cy="369332"/>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9" name="标题 8">
            <a:extLst>
              <a:ext uri="{FF2B5EF4-FFF2-40B4-BE49-F238E27FC236}">
                <a16:creationId xmlns:a16="http://schemas.microsoft.com/office/drawing/2014/main" id="{308799B6-8E84-A84B-D298-D04FC447EDD9}"/>
              </a:ext>
            </a:extLst>
          </p:cNvPr>
          <p:cNvSpPr>
            <a:spLocks noGrp="1"/>
          </p:cNvSpPr>
          <p:nvPr>
            <p:ph type="title"/>
          </p:nvPr>
        </p:nvSpPr>
        <p:spPr>
          <a:xfrm>
            <a:off x="2412000" y="104400"/>
            <a:ext cx="4320000" cy="369332"/>
          </a:xfrm>
        </p:spPr>
        <p:txBody>
          <a:bodyPr/>
          <a:lstStyle/>
          <a:p>
            <a:r>
              <a:rPr lang="zh-CN" altLang="en-US" dirty="0"/>
              <a:t>加权平均往返时间 </a:t>
            </a:r>
            <a:r>
              <a:rPr lang="en-US" altLang="zh-CN" dirty="0"/>
              <a:t>RTTS </a:t>
            </a:r>
            <a:endParaRPr lang="zh-CN" altLang="en-US" dirty="0"/>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26C3B486-8EE6-6C03-8A91-155FD159FBD8}"/>
              </a:ext>
            </a:extLst>
          </p:cNvPr>
          <p:cNvSpPr>
            <a:spLocks noGrp="1"/>
          </p:cNvSpPr>
          <p:nvPr>
            <p:ph type="title"/>
          </p:nvPr>
        </p:nvSpPr>
        <p:spPr>
          <a:xfrm>
            <a:off x="2412000" y="104400"/>
            <a:ext cx="4320000" cy="369332"/>
          </a:xfrm>
        </p:spPr>
        <p:txBody>
          <a:bodyPr/>
          <a:lstStyle/>
          <a:p>
            <a:r>
              <a:rPr lang="zh-CN" altLang="en-US" dirty="0"/>
              <a:t>超时重传时间 </a:t>
            </a:r>
            <a:r>
              <a:rPr lang="en-US" altLang="zh-CN" dirty="0"/>
              <a:t>RTO</a:t>
            </a:r>
            <a:endParaRPr lang="zh-CN" altLang="en-US" dirty="0"/>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标题 19">
            <a:extLst>
              <a:ext uri="{FF2B5EF4-FFF2-40B4-BE49-F238E27FC236}">
                <a16:creationId xmlns:a16="http://schemas.microsoft.com/office/drawing/2014/main" id="{1596EA67-1DBF-208D-4CF7-1366E89AF17E}"/>
              </a:ext>
            </a:extLst>
          </p:cNvPr>
          <p:cNvSpPr>
            <a:spLocks noGrp="1"/>
          </p:cNvSpPr>
          <p:nvPr>
            <p:ph type="title"/>
          </p:nvPr>
        </p:nvSpPr>
        <p:spPr>
          <a:xfrm>
            <a:off x="2412000" y="104400"/>
            <a:ext cx="4320000" cy="369332"/>
          </a:xfrm>
        </p:spPr>
        <p:txBody>
          <a:bodyPr/>
          <a:lstStyle/>
          <a:p>
            <a:r>
              <a:rPr lang="zh-CN" altLang="en-US" dirty="0"/>
              <a:t>往返时间 </a:t>
            </a:r>
            <a:r>
              <a:rPr lang="en-US" altLang="zh-CN" dirty="0"/>
              <a:t>(RTT) </a:t>
            </a:r>
            <a:r>
              <a:rPr lang="zh-CN" altLang="en-US" dirty="0"/>
              <a:t>的测量相当复杂</a:t>
            </a:r>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2" name="标题 1">
            <a:extLst>
              <a:ext uri="{FF2B5EF4-FFF2-40B4-BE49-F238E27FC236}">
                <a16:creationId xmlns:a16="http://schemas.microsoft.com/office/drawing/2014/main" id="{0D2A0F61-8446-A5F6-1944-8C5D40ACD380}"/>
              </a:ext>
            </a:extLst>
          </p:cNvPr>
          <p:cNvSpPr>
            <a:spLocks noGrp="1"/>
          </p:cNvSpPr>
          <p:nvPr>
            <p:ph type="title"/>
          </p:nvPr>
        </p:nvSpPr>
        <p:spPr>
          <a:xfrm>
            <a:off x="2412000" y="104400"/>
            <a:ext cx="4320000" cy="369332"/>
          </a:xfrm>
        </p:spPr>
        <p:txBody>
          <a:bodyPr/>
          <a:lstStyle/>
          <a:p>
            <a:r>
              <a:rPr lang="en-US" altLang="zh-CN" dirty="0"/>
              <a:t>Karn </a:t>
            </a:r>
            <a:r>
              <a:rPr lang="zh-CN" altLang="en-US" dirty="0"/>
              <a:t>算法</a:t>
            </a:r>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4" name="标题 3">
            <a:extLst>
              <a:ext uri="{FF2B5EF4-FFF2-40B4-BE49-F238E27FC236}">
                <a16:creationId xmlns:a16="http://schemas.microsoft.com/office/drawing/2014/main" id="{57E77E7F-94A1-D29C-13BA-EBB0887A3988}"/>
              </a:ext>
            </a:extLst>
          </p:cNvPr>
          <p:cNvSpPr>
            <a:spLocks noGrp="1"/>
          </p:cNvSpPr>
          <p:nvPr>
            <p:ph type="title"/>
          </p:nvPr>
        </p:nvSpPr>
        <p:spPr>
          <a:xfrm>
            <a:off x="2412000" y="104400"/>
            <a:ext cx="4320000" cy="369332"/>
          </a:xfrm>
        </p:spPr>
        <p:txBody>
          <a:bodyPr/>
          <a:lstStyle/>
          <a:p>
            <a:r>
              <a:rPr lang="zh-CN" altLang="en-US" dirty="0"/>
              <a:t>修正的 </a:t>
            </a:r>
            <a:r>
              <a:rPr lang="en-US" altLang="zh-CN" dirty="0"/>
              <a:t>Karn </a:t>
            </a:r>
            <a:r>
              <a:rPr lang="zh-CN" altLang="en-US" dirty="0"/>
              <a:t>算法</a:t>
            </a:r>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9" name="标题 8">
            <a:extLst>
              <a:ext uri="{FF2B5EF4-FFF2-40B4-BE49-F238E27FC236}">
                <a16:creationId xmlns:a16="http://schemas.microsoft.com/office/drawing/2014/main" id="{DB56B080-E1B5-1069-DB96-786ED4854D95}"/>
              </a:ext>
            </a:extLst>
          </p:cNvPr>
          <p:cNvSpPr>
            <a:spLocks noGrp="1"/>
          </p:cNvSpPr>
          <p:nvPr>
            <p:ph type="title"/>
          </p:nvPr>
        </p:nvSpPr>
        <p:spPr>
          <a:xfrm>
            <a:off x="2412000" y="104400"/>
            <a:ext cx="4320000" cy="369332"/>
          </a:xfrm>
        </p:spPr>
        <p:txBody>
          <a:bodyPr/>
          <a:lstStyle/>
          <a:p>
            <a:r>
              <a:rPr lang="en-US" altLang="zh-CN" dirty="0"/>
              <a:t>5.6.3   </a:t>
            </a:r>
            <a:r>
              <a:rPr lang="zh-CN" altLang="en-US" dirty="0"/>
              <a:t>选择确认 </a:t>
            </a:r>
            <a:r>
              <a:rPr lang="en-US" altLang="zh-CN" dirty="0"/>
              <a:t>SACK</a:t>
            </a:r>
            <a:endParaRPr lang="zh-CN" altLang="en-US" dirty="0"/>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7" name="标题 26">
            <a:extLst>
              <a:ext uri="{FF2B5EF4-FFF2-40B4-BE49-F238E27FC236}">
                <a16:creationId xmlns:a16="http://schemas.microsoft.com/office/drawing/2014/main" id="{CEA8387E-176B-9B28-850B-6B8F182A7141}"/>
              </a:ext>
            </a:extLst>
          </p:cNvPr>
          <p:cNvSpPr>
            <a:spLocks noGrp="1"/>
          </p:cNvSpPr>
          <p:nvPr>
            <p:ph type="title"/>
          </p:nvPr>
        </p:nvSpPr>
        <p:spPr>
          <a:xfrm>
            <a:off x="2412000" y="104400"/>
            <a:ext cx="4320000" cy="369332"/>
          </a:xfrm>
        </p:spPr>
        <p:txBody>
          <a:bodyPr/>
          <a:lstStyle/>
          <a:p>
            <a:r>
              <a:rPr lang="en-US" altLang="zh-CN" dirty="0"/>
              <a:t>RFC 2018 </a:t>
            </a:r>
            <a:r>
              <a:rPr lang="zh-CN" altLang="en-US" dirty="0"/>
              <a:t>对 </a:t>
            </a:r>
            <a:r>
              <a:rPr lang="en-US" altLang="zh-CN" dirty="0"/>
              <a:t>SACK </a:t>
            </a:r>
            <a:r>
              <a:rPr lang="zh-CN" altLang="en-US" dirty="0"/>
              <a:t>的规定</a:t>
            </a:r>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2412000" y="104400"/>
            <a:ext cx="4320000" cy="369332"/>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2" name="标题 1">
            <a:extLst>
              <a:ext uri="{FF2B5EF4-FFF2-40B4-BE49-F238E27FC236}">
                <a16:creationId xmlns:a16="http://schemas.microsoft.com/office/drawing/2014/main" id="{559C0305-50D2-AC69-E431-D82F006E153B}"/>
              </a:ext>
            </a:extLst>
          </p:cNvPr>
          <p:cNvSpPr>
            <a:spLocks noGrp="1"/>
          </p:cNvSpPr>
          <p:nvPr>
            <p:ph type="title"/>
          </p:nvPr>
        </p:nvSpPr>
        <p:spPr>
          <a:xfrm>
            <a:off x="2412000" y="104400"/>
            <a:ext cx="4320000" cy="369332"/>
          </a:xfrm>
        </p:spPr>
        <p:txBody>
          <a:bodyPr/>
          <a:lstStyle/>
          <a:p>
            <a:r>
              <a:rPr lang="fr-FR" altLang="zh-CN" dirty="0"/>
              <a:t>5.7 </a:t>
            </a:r>
            <a:r>
              <a:rPr lang="en-US" altLang="zh-CN" dirty="0"/>
              <a:t>TCP </a:t>
            </a:r>
            <a:r>
              <a:rPr lang="zh-CN" altLang="en-US" dirty="0"/>
              <a:t>的流量控制</a:t>
            </a:r>
            <a:endParaRPr lang="zh-CN" altLang="fr-FR" dirty="0"/>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482554"/>
            <a:ext cx="8172000" cy="4267246"/>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2412000" y="104400"/>
            <a:ext cx="4320000" cy="369332"/>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482554"/>
            <a:ext cx="8172000" cy="42672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2412000" y="104400"/>
            <a:ext cx="4320000" cy="369332"/>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516144"/>
            <a:ext cx="0" cy="4464000"/>
          </a:xfrm>
          <a:prstGeom prst="line">
            <a:avLst/>
          </a:prstGeom>
          <a:noFill/>
          <a:ln w="12700">
            <a:solidFill>
              <a:schemeClr val="tx1"/>
            </a:solidFill>
            <a:prstDash val="sysDot"/>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51443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27634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33101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307943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72548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47811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31754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31754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39480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90891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65681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78268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81720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57354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70086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60614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36829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47662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211996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86205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200692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42272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215837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31298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61904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302825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59765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92510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23116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121167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97655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88093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96166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516144"/>
            <a:ext cx="0" cy="4464000"/>
          </a:xfrm>
          <a:prstGeom prst="line">
            <a:avLst/>
          </a:prstGeom>
          <a:noFill/>
          <a:ln w="12700">
            <a:solidFill>
              <a:schemeClr val="tx1"/>
            </a:solidFill>
            <a:prstDash val="sysDot"/>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573232275"/>
              </p:ext>
            </p:extLst>
          </p:nvPr>
        </p:nvGraphicFramePr>
        <p:xfrm>
          <a:off x="5967304" y="46795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53722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38903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63377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35746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82789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6526" y="346848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6526" y="316220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99948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23930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54206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31138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411856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40923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84482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71530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6526" y="377477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7884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
        <p:nvSpPr>
          <p:cNvPr id="11" name="标题 10">
            <a:extLst>
              <a:ext uri="{FF2B5EF4-FFF2-40B4-BE49-F238E27FC236}">
                <a16:creationId xmlns:a16="http://schemas.microsoft.com/office/drawing/2014/main" id="{CA787053-282E-3CDA-B218-59EA2077AA48}"/>
              </a:ext>
            </a:extLst>
          </p:cNvPr>
          <p:cNvSpPr>
            <a:spLocks noGrp="1"/>
          </p:cNvSpPr>
          <p:nvPr>
            <p:ph type="title"/>
          </p:nvPr>
        </p:nvSpPr>
        <p:spPr>
          <a:xfrm>
            <a:off x="2412000" y="104400"/>
            <a:ext cx="4320000" cy="369332"/>
          </a:xfrm>
        </p:spPr>
        <p:txBody>
          <a:bodyPr/>
          <a:lstStyle/>
          <a:p>
            <a:r>
              <a:rPr lang="zh-CN" altLang="en-US" dirty="0"/>
              <a:t>流量控制</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482554"/>
            <a:ext cx="8172000" cy="42672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2412000" y="104400"/>
            <a:ext cx="4320000" cy="369332"/>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482554"/>
            <a:ext cx="8172000" cy="4267246"/>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2412000" y="104400"/>
            <a:ext cx="4320000" cy="369332"/>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482554"/>
            <a:ext cx="8172000" cy="4267246"/>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2412000" y="104400"/>
            <a:ext cx="4320000" cy="369332"/>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dirty="0">
                <a:latin typeface="Montserrat" panose="00000500000000000000" pitchFamily="2" charset="0"/>
                <a:ea typeface="微软雅黑 Light" panose="020B0502040204020203" pitchFamily="34" charset="-122"/>
              </a:rPr>
              <a:t>数据</a:t>
            </a:r>
          </a:p>
        </p:txBody>
      </p:sp>
      <p:sp>
        <p:nvSpPr>
          <p:cNvPr id="7" name="矩形 6"/>
          <p:cNvSpPr/>
          <p:nvPr/>
        </p:nvSpPr>
        <p:spPr>
          <a:xfrm>
            <a:off x="5999256" y="2770942"/>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9" name="矩形 8"/>
          <p:cNvSpPr/>
          <p:nvPr/>
        </p:nvSpPr>
        <p:spPr>
          <a:xfrm>
            <a:off x="5999256" y="3267330"/>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a:t>
            </a:r>
          </a:p>
        </p:txBody>
      </p:sp>
      <p:sp>
        <p:nvSpPr>
          <p:cNvPr id="4" name="矩形 3"/>
          <p:cNvSpPr/>
          <p:nvPr/>
        </p:nvSpPr>
        <p:spPr>
          <a:xfrm>
            <a:off x="2408898" y="3770606"/>
            <a:ext cx="3900427" cy="338554"/>
          </a:xfrm>
          <a:prstGeom prst="rect">
            <a:avLst/>
          </a:prstGeom>
        </p:spPr>
        <p:txBody>
          <a:bodyPr wrap="none">
            <a:spAutoFit/>
          </a:bodyPr>
          <a:lstStyle/>
          <a:p>
            <a:r>
              <a:rPr lang="zh-CN" altLang="en-US" sz="1600" dirty="0">
                <a:latin typeface="Montserrat" panose="00000500000000000000" pitchFamily="2" charset="0"/>
                <a:ea typeface="微软雅黑 Light" panose="020B0502040204020203" pitchFamily="34" charset="-122"/>
              </a:rPr>
              <a:t>此时，有效数据传输效率 </a:t>
            </a:r>
            <a:r>
              <a:rPr lang="en-US" altLang="zh-CN" sz="1600" dirty="0">
                <a:latin typeface="Montserrat" panose="00000500000000000000" pitchFamily="2" charset="0"/>
                <a:ea typeface="微软雅黑 Light" panose="020B0502040204020203" pitchFamily="34" charset="-122"/>
              </a:rPr>
              <a:t>= 1/41 = 2.44%</a:t>
            </a:r>
            <a:endParaRPr lang="zh-CN" altLang="en-US" sz="1600" dirty="0">
              <a:latin typeface="Montserrat" panose="00000500000000000000" pitchFamily="2" charset="0"/>
              <a:ea typeface="微软雅黑 Light" panose="020B0502040204020203" pitchFamily="34" charset="-122"/>
            </a:endParaRPr>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482554"/>
            <a:ext cx="8172000" cy="4267246"/>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2412000" y="104400"/>
            <a:ext cx="4320000" cy="369332"/>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482554"/>
            <a:ext cx="8172000" cy="4267246"/>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2412000" y="104400"/>
            <a:ext cx="4320000" cy="369332"/>
          </a:xfrm>
        </p:spPr>
        <p:txBody>
          <a:bodyPr/>
          <a:lstStyle/>
          <a:p>
            <a:r>
              <a:rPr lang="zh-CN" altLang="en-US" dirty="0"/>
              <a:t>发送方糊涂窗口综合症</a:t>
            </a:r>
          </a:p>
        </p:txBody>
      </p:sp>
      <p:grpSp>
        <p:nvGrpSpPr>
          <p:cNvPr id="6" name="组合 5"/>
          <p:cNvGrpSpPr/>
          <p:nvPr/>
        </p:nvGrpSpPr>
        <p:grpSpPr>
          <a:xfrm>
            <a:off x="3452893" y="1432833"/>
            <a:ext cx="4086001" cy="3206707"/>
            <a:chOff x="1442554" y="1491427"/>
            <a:chExt cx="6186146" cy="2522268"/>
          </a:xfrm>
        </p:grpSpPr>
        <p:sp>
          <p:nvSpPr>
            <p:cNvPr id="7" name="矩形 6"/>
            <p:cNvSpPr/>
            <p:nvPr/>
          </p:nvSpPr>
          <p:spPr>
            <a:xfrm>
              <a:off x="1442554" y="1491427"/>
              <a:ext cx="2592001" cy="28316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发送第 </a:t>
              </a:r>
              <a:r>
                <a:rPr lang="en-US" altLang="zh-CN" sz="1100" dirty="0">
                  <a:solidFill>
                    <a:schemeClr val="tx1"/>
                  </a:solidFill>
                  <a:latin typeface="Montserrat" panose="00000500000000000000" pitchFamily="2" charset="0"/>
                  <a:ea typeface="微软雅黑 Light" panose="020B0502040204020203" pitchFamily="34" charset="-122"/>
                </a:rPr>
                <a:t>1 </a:t>
              </a:r>
              <a:r>
                <a:rPr lang="zh-CN" altLang="en-US" sz="1100" dirty="0">
                  <a:solidFill>
                    <a:schemeClr val="tx1"/>
                  </a:solidFill>
                  <a:latin typeface="Montserrat" panose="00000500000000000000" pitchFamily="2" charset="0"/>
                  <a:ea typeface="微软雅黑 Light" panose="020B0502040204020203"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bg1"/>
                  </a:solidFill>
                  <a:latin typeface="Montserrat" panose="00000500000000000000" pitchFamily="2" charset="0"/>
                  <a:ea typeface="微软雅黑 Light" panose="020B0502040204020203" pitchFamily="34" charset="-122"/>
                </a:rPr>
                <a:t>收到确认？</a:t>
              </a:r>
            </a:p>
          </p:txBody>
        </p:sp>
        <p:sp>
          <p:nvSpPr>
            <p:cNvPr id="9" name="矩形 8"/>
            <p:cNvSpPr/>
            <p:nvPr/>
          </p:nvSpPr>
          <p:spPr>
            <a:xfrm>
              <a:off x="1442554"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dirty="0">
                  <a:solidFill>
                    <a:schemeClr val="bg1"/>
                  </a:solidFill>
                  <a:latin typeface="Montserrat" panose="00000500000000000000" pitchFamily="2" charset="0"/>
                  <a:ea typeface="微软雅黑 Light" panose="020B0502040204020203" pitchFamily="34" charset="-122"/>
                </a:rPr>
                <a:t>到达的数据</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已达到发送窗口一半 或 </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已达到报文段的最大长度时？</a:t>
              </a:r>
            </a:p>
          </p:txBody>
        </p:sp>
        <p:sp>
          <p:nvSpPr>
            <p:cNvPr id="14" name="矩形 13"/>
            <p:cNvSpPr/>
            <p:nvPr/>
          </p:nvSpPr>
          <p:spPr>
            <a:xfrm>
              <a:off x="4532809"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立即发送数据</a:t>
              </a:r>
            </a:p>
          </p:txBody>
        </p:sp>
        <p:cxnSp>
          <p:nvCxnSpPr>
            <p:cNvPr id="15" name="直接箭头连接符 14"/>
            <p:cNvCxnSpPr>
              <a:stCxn id="7" idx="2"/>
              <a:endCxn id="8" idx="0"/>
            </p:cNvCxnSpPr>
            <p:nvPr/>
          </p:nvCxnSpPr>
          <p:spPr>
            <a:xfrm>
              <a:off x="2738554" y="1774588"/>
              <a:ext cx="0" cy="289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9"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729754"/>
              <a:ext cx="0"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flipH="1">
              <a:off x="5828807" y="3729754"/>
              <a:ext cx="2"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126115"/>
              <a:chOff x="2744151" y="1952894"/>
              <a:chExt cx="5694455" cy="2257877"/>
            </a:xfrm>
          </p:grpSpPr>
          <p:cxnSp>
            <p:nvCxnSpPr>
              <p:cNvPr id="28" name="直接箭头连接符 27"/>
              <p:cNvCxnSpPr/>
              <p:nvPr/>
            </p:nvCxnSpPr>
            <p:spPr>
              <a:xfrm flipV="1">
                <a:off x="2744151" y="4210770"/>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12371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gr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482554"/>
            <a:ext cx="8172000" cy="4267246"/>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2412000" y="104400"/>
            <a:ext cx="4320000" cy="369332"/>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482554"/>
            <a:ext cx="8172000" cy="4267246"/>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2412000" y="104400"/>
            <a:ext cx="4320000" cy="369332"/>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5.8.1                                 </a:t>
            </a:r>
            <a:r>
              <a:rPr lang="zh-CN" altLang="en-US" sz="2000" dirty="0">
                <a:solidFill>
                  <a:schemeClr val="bg1"/>
                </a:solidFill>
                <a:latin typeface="Montserrat" panose="00000500000000000000" pitchFamily="2" charset="0"/>
                <a:ea typeface="微软雅黑 Light" panose="020B0502040204020203" pitchFamily="34" charset="-122"/>
              </a:rPr>
              <a:t>拥塞控制的一般原理</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5.8.2                                TCP </a:t>
            </a:r>
            <a:r>
              <a:rPr lang="zh-CN" altLang="en-US" sz="2000" dirty="0">
                <a:solidFill>
                  <a:schemeClr val="bg1"/>
                </a:solidFill>
                <a:latin typeface="Montserrat" panose="00000500000000000000" pitchFamily="2" charset="0"/>
                <a:ea typeface="微软雅黑 Light" panose="020B0502040204020203" pitchFamily="34" charset="-122"/>
              </a:rPr>
              <a:t>的拥塞控制方法</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5.8.3                                 </a:t>
            </a:r>
            <a:r>
              <a:rPr lang="zh-CN" altLang="en-US" sz="2000" dirty="0">
                <a:solidFill>
                  <a:schemeClr val="bg1"/>
                </a:solidFill>
                <a:latin typeface="Montserrat" panose="00000500000000000000" pitchFamily="2" charset="0"/>
                <a:ea typeface="微软雅黑 Light" panose="020B0502040204020203" pitchFamily="34" charset="-122"/>
              </a:rPr>
              <a:t>主动队列管理 </a:t>
            </a:r>
            <a:r>
              <a:rPr lang="en-US" altLang="zh-CN" sz="2000" dirty="0">
                <a:solidFill>
                  <a:schemeClr val="bg1"/>
                </a:solidFill>
                <a:latin typeface="Montserrat" panose="00000500000000000000" pitchFamily="2" charset="0"/>
                <a:ea typeface="微软雅黑 Light" panose="020B0502040204020203" pitchFamily="34" charset="-122"/>
              </a:rPr>
              <a:t>AQM</a:t>
            </a:r>
          </a:p>
        </p:txBody>
      </p:sp>
      <p:sp>
        <p:nvSpPr>
          <p:cNvPr id="2" name="标题 1">
            <a:extLst>
              <a:ext uri="{FF2B5EF4-FFF2-40B4-BE49-F238E27FC236}">
                <a16:creationId xmlns:a16="http://schemas.microsoft.com/office/drawing/2014/main" id="{173CD637-D17A-1ADD-089D-EF6E3F9CFFDB}"/>
              </a:ext>
            </a:extLst>
          </p:cNvPr>
          <p:cNvSpPr>
            <a:spLocks noGrp="1"/>
          </p:cNvSpPr>
          <p:nvPr>
            <p:ph type="title"/>
          </p:nvPr>
        </p:nvSpPr>
        <p:spPr>
          <a:xfrm>
            <a:off x="2412000" y="104400"/>
            <a:ext cx="4320000" cy="369332"/>
          </a:xfrm>
        </p:spPr>
        <p:txBody>
          <a:bodyPr/>
          <a:lstStyle/>
          <a:p>
            <a:r>
              <a:rPr lang="fr-FR" altLang="zh-CN" dirty="0"/>
              <a:t>5.8 </a:t>
            </a:r>
            <a:r>
              <a:rPr lang="en-US" altLang="zh-CN" dirty="0"/>
              <a:t>TCP </a:t>
            </a:r>
            <a:r>
              <a:rPr lang="zh-CN" altLang="en-US" dirty="0"/>
              <a:t>的拥塞控制</a:t>
            </a:r>
            <a:endParaRPr lang="zh-CN" altLang="fr-FR" dirty="0"/>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482554"/>
            <a:ext cx="8172000" cy="4267246"/>
          </a:xfrm>
        </p:spPr>
        <p:txBody>
          <a:bodyPr/>
          <a:lstStyle/>
          <a:p>
            <a:r>
              <a:rPr lang="zh-CN" altLang="en-US" dirty="0"/>
              <a:t>在某段时间，若对网络中某资源的需求超过了该资源所能提供的可用部分，网络的性能就要明显变坏，整个网络的吞吐量将随输入负荷的增大而下降</a:t>
            </a:r>
            <a:endParaRPr lang="en-US" altLang="zh-CN" dirty="0"/>
          </a:p>
          <a:p>
            <a:r>
              <a:rPr lang="zh-CN" altLang="en-US" dirty="0"/>
              <a:t>这种现象称为拥塞 </a:t>
            </a:r>
            <a:r>
              <a:rPr lang="en-US" altLang="zh-CN" dirty="0"/>
              <a:t>- Congestion</a:t>
            </a:r>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2412000" y="104400"/>
            <a:ext cx="4320000" cy="369332"/>
          </a:xfrm>
        </p:spPr>
        <p:txBody>
          <a:bodyPr/>
          <a:lstStyle/>
          <a:p>
            <a:r>
              <a:rPr lang="en-US" altLang="zh-CN" dirty="0"/>
              <a:t>5.8.1   </a:t>
            </a:r>
            <a:r>
              <a:rPr lang="zh-CN" altLang="en-US" dirty="0"/>
              <a:t>一般原理</a:t>
            </a:r>
          </a:p>
        </p:txBody>
      </p:sp>
      <p:sp>
        <p:nvSpPr>
          <p:cNvPr id="8" name="Rectangle 2"/>
          <p:cNvSpPr>
            <a:spLocks noChangeArrowheads="1"/>
          </p:cNvSpPr>
          <p:nvPr/>
        </p:nvSpPr>
        <p:spPr bwMode="auto">
          <a:xfrm>
            <a:off x="4876493" y="2091036"/>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a:latin typeface="Montserrat" panose="00000500000000000000" pitchFamily="2" charset="0"/>
              <a:ea typeface="微软雅黑 Light" panose="020B0502040204020203" pitchFamily="34" charset="-122"/>
            </a:endParaRPr>
          </a:p>
        </p:txBody>
      </p:sp>
      <p:grpSp>
        <p:nvGrpSpPr>
          <p:cNvPr id="3" name="组合 2"/>
          <p:cNvGrpSpPr/>
          <p:nvPr/>
        </p:nvGrpSpPr>
        <p:grpSpPr>
          <a:xfrm>
            <a:off x="3089791" y="1923800"/>
            <a:ext cx="3128343" cy="2759099"/>
            <a:chOff x="4851933" y="1639611"/>
            <a:chExt cx="3128343" cy="2759099"/>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2" name="Text Box 17"/>
            <p:cNvSpPr txBox="1">
              <a:spLocks noChangeArrowheads="1"/>
            </p:cNvSpPr>
            <p:nvPr/>
          </p:nvSpPr>
          <p:spPr bwMode="auto">
            <a:xfrm>
              <a:off x="7152187" y="4124276"/>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3" name="Text Box 18"/>
            <p:cNvSpPr txBox="1">
              <a:spLocks noChangeArrowheads="1"/>
            </p:cNvSpPr>
            <p:nvPr/>
          </p:nvSpPr>
          <p:spPr bwMode="auto">
            <a:xfrm>
              <a:off x="7152187" y="2775953"/>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4" name="Text Box 19"/>
            <p:cNvSpPr txBox="1">
              <a:spLocks noChangeArrowheads="1"/>
            </p:cNvSpPr>
            <p:nvPr/>
          </p:nvSpPr>
          <p:spPr bwMode="auto">
            <a:xfrm rot="16200000">
              <a:off x="4669189" y="1952285"/>
              <a:ext cx="644408"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吞量率</a:t>
              </a:r>
              <a:endParaRPr kumimoji="0" lang="en-US" altLang="zh-CN" sz="1200" dirty="0">
                <a:latin typeface="Montserrat" panose="00000500000000000000" pitchFamily="2" charset="0"/>
                <a:ea typeface="微软雅黑 Light" panose="020B0502040204020203" pitchFamily="34" charset="-122"/>
              </a:endParaRPr>
            </a:p>
          </p:txBody>
        </p:sp>
        <p:sp>
          <p:nvSpPr>
            <p:cNvPr id="25" name="Text Box 20"/>
            <p:cNvSpPr txBox="1">
              <a:spLocks noChangeArrowheads="1"/>
            </p:cNvSpPr>
            <p:nvPr/>
          </p:nvSpPr>
          <p:spPr bwMode="auto">
            <a:xfrm rot="16200000">
              <a:off x="4743890" y="2995128"/>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延迟</a:t>
              </a:r>
              <a:endParaRPr kumimoji="0" lang="en-US" altLang="zh-CN" sz="1200" dirty="0">
                <a:latin typeface="Montserrat" panose="00000500000000000000" pitchFamily="2" charset="0"/>
                <a:ea typeface="微软雅黑 Light" panose="020B0502040204020203"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00000"/>
                  </a:solidFill>
                  <a:latin typeface="Montserrat" panose="00000500000000000000" pitchFamily="2" charset="0"/>
                  <a:ea typeface="微软雅黑 Light" panose="020B0502040204020203" pitchFamily="34" charset="-122"/>
                </a:rPr>
                <a:t>系统</a:t>
              </a:r>
              <a:endParaRPr kumimoji="0" lang="en-US" altLang="zh-CN" sz="1200" dirty="0">
                <a:solidFill>
                  <a:srgbClr val="C00000"/>
                </a:solidFill>
                <a:latin typeface="Montserrat" panose="00000500000000000000" pitchFamily="2" charset="0"/>
                <a:ea typeface="微软雅黑 Light" panose="020B0502040204020203" pitchFamily="34" charset="-122"/>
              </a:endParaRPr>
            </a:p>
            <a:p>
              <a:r>
                <a:rPr kumimoji="0" lang="zh-CN" altLang="en-US" sz="1200" dirty="0">
                  <a:solidFill>
                    <a:srgbClr val="C00000"/>
                  </a:solidFill>
                  <a:latin typeface="Montserrat" panose="00000500000000000000" pitchFamily="2" charset="0"/>
                  <a:ea typeface="微软雅黑 Light" panose="020B0502040204020203" pitchFamily="34" charset="-122"/>
                </a:rPr>
                <a:t>崩溃</a:t>
              </a:r>
              <a:endParaRPr kumimoji="0" lang="en-US" altLang="zh-CN" sz="1200" dirty="0">
                <a:solidFill>
                  <a:srgbClr val="C00000"/>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7289563" y="1639611"/>
              <a:ext cx="690713"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C00CC"/>
                  </a:solidFill>
                  <a:latin typeface="Montserrat" panose="00000500000000000000" pitchFamily="2" charset="0"/>
                  <a:ea typeface="微软雅黑 Light" panose="020B0502040204020203" pitchFamily="34" charset="-122"/>
                </a:rPr>
                <a:t>分组丢失增多</a:t>
              </a:r>
              <a:endParaRPr kumimoji="0" lang="en-US" altLang="zh-CN" sz="1200" dirty="0">
                <a:solidFill>
                  <a:srgbClr val="CC00CC"/>
                </a:solidFill>
                <a:latin typeface="Montserrat" panose="00000500000000000000" pitchFamily="2" charset="0"/>
                <a:ea typeface="微软雅黑 Light" panose="020B0502040204020203"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482554"/>
            <a:ext cx="8172000" cy="4267246"/>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2412000" y="104400"/>
            <a:ext cx="4320000" cy="369332"/>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482554"/>
            <a:ext cx="8172000" cy="4267246"/>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2412000" y="104400"/>
            <a:ext cx="4320000" cy="369332"/>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FE60E7F4-D657-01F8-617D-0BFF8137E239}"/>
              </a:ext>
            </a:extLst>
          </p:cNvPr>
          <p:cNvSpPr/>
          <p:nvPr/>
        </p:nvSpPr>
        <p:spPr>
          <a:xfrm>
            <a:off x="106212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拥塞控制</a:t>
            </a:r>
          </a:p>
        </p:txBody>
      </p:sp>
      <p:sp>
        <p:nvSpPr>
          <p:cNvPr id="7" name="任意多边形: 形状 6">
            <a:extLst>
              <a:ext uri="{FF2B5EF4-FFF2-40B4-BE49-F238E27FC236}">
                <a16:creationId xmlns:a16="http://schemas.microsoft.com/office/drawing/2014/main" id="{4AF0FA90-F16E-73A8-8570-3CCB4B4005C4}"/>
              </a:ext>
            </a:extLst>
          </p:cNvPr>
          <p:cNvSpPr/>
          <p:nvPr/>
        </p:nvSpPr>
        <p:spPr>
          <a:xfrm>
            <a:off x="106212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0"/>
              <a:satOff val="0"/>
              <a:lumOff val="0"/>
              <a:alphaOff val="0"/>
            </a:schemeClr>
          </a:lnRef>
          <a:fillRef idx="1">
            <a:scrgbClr r="0" g="0" b="0"/>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p:txBody>
      </p:sp>
      <p:sp>
        <p:nvSpPr>
          <p:cNvPr id="8" name="任意多边形: 形状 7">
            <a:extLst>
              <a:ext uri="{FF2B5EF4-FFF2-40B4-BE49-F238E27FC236}">
                <a16:creationId xmlns:a16="http://schemas.microsoft.com/office/drawing/2014/main" id="{CA6A74E6-1AED-C03A-C0FD-91D6EAAF96FC}"/>
              </a:ext>
            </a:extLst>
          </p:cNvPr>
          <p:cNvSpPr/>
          <p:nvPr/>
        </p:nvSpPr>
        <p:spPr>
          <a:xfrm>
            <a:off x="485016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流量控制</a:t>
            </a:r>
          </a:p>
        </p:txBody>
      </p:sp>
      <p:sp>
        <p:nvSpPr>
          <p:cNvPr id="9" name="任意多边形: 形状 8">
            <a:extLst>
              <a:ext uri="{FF2B5EF4-FFF2-40B4-BE49-F238E27FC236}">
                <a16:creationId xmlns:a16="http://schemas.microsoft.com/office/drawing/2014/main" id="{7B2B9B0E-1A3C-D3B0-04BE-23CE1CA3B7E0}"/>
              </a:ext>
            </a:extLst>
          </p:cNvPr>
          <p:cNvSpPr/>
          <p:nvPr/>
        </p:nvSpPr>
        <p:spPr>
          <a:xfrm>
            <a:off x="485016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5025821"/>
              <a:satOff val="-4378"/>
              <a:lumOff val="-6"/>
              <a:alphaOff val="0"/>
            </a:schemeClr>
          </a:lnRef>
          <a:fillRef idx="1">
            <a:scrgbClr r="0" g="0" b="0"/>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抑制发送端发送数据的速率，以使接收端来得及接收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点对点通信量的控制，是个端到端的问题</a:t>
            </a:r>
          </a:p>
        </p:txBody>
      </p:sp>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2412000" y="104400"/>
            <a:ext cx="4320000" cy="369332"/>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477739" cy="1692477"/>
            <a:chOff x="651" y="2544"/>
            <a:chExt cx="3800"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nvGrpSpPr>
            <p:cNvPr id="64" name="Group 26"/>
            <p:cNvGrpSpPr>
              <a:grpSpLocks/>
            </p:cNvGrpSpPr>
            <p:nvPr/>
          </p:nvGrpSpPr>
          <p:grpSpPr bwMode="auto">
            <a:xfrm>
              <a:off x="651" y="2544"/>
              <a:ext cx="3800" cy="1556"/>
              <a:chOff x="651" y="2544"/>
              <a:chExt cx="3800" cy="1556"/>
            </a:xfrm>
          </p:grpSpPr>
          <p:grpSp>
            <p:nvGrpSpPr>
              <p:cNvPr id="65" name="Group 27"/>
              <p:cNvGrpSpPr>
                <a:grpSpLocks/>
              </p:cNvGrpSpPr>
              <p:nvPr/>
            </p:nvGrpSpPr>
            <p:grpSpPr bwMode="auto">
              <a:xfrm>
                <a:off x="651" y="2544"/>
                <a:ext cx="3800" cy="1252"/>
                <a:chOff x="651" y="2544"/>
                <a:chExt cx="3800"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0" name="Text Box 30"/>
                <p:cNvSpPr txBox="1">
                  <a:spLocks noChangeArrowheads="1"/>
                </p:cNvSpPr>
                <p:nvPr/>
              </p:nvSpPr>
              <p:spPr bwMode="auto">
                <a:xfrm>
                  <a:off x="3532" y="2544"/>
                  <a:ext cx="919"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66"/>
                      </a:solidFill>
                      <a:latin typeface="Montserrat" panose="00000500000000000000" pitchFamily="2" charset="0"/>
                      <a:ea typeface="微软雅黑 Light" panose="020B0502040204020203"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b="0" dirty="0">
                    <a:latin typeface="Montserrat" panose="00000500000000000000" pitchFamily="2" charset="0"/>
                    <a:ea typeface="微软雅黑 Light" panose="020B0502040204020203" pitchFamily="34" charset="-122"/>
                  </a:rPr>
                  <a:t>轻度</a:t>
                </a:r>
              </a:p>
              <a:p>
                <a:pPr algn="ctr" eaLnBrk="1" hangingPunct="1"/>
                <a:r>
                  <a:rPr lang="zh-CN" altLang="en-US" sz="1400" b="0" dirty="0">
                    <a:latin typeface="Montserrat" panose="00000500000000000000" pitchFamily="2" charset="0"/>
                    <a:ea typeface="微软雅黑 Light" panose="020B0502040204020203"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7" name="Text Box 9"/>
            <p:cNvSpPr txBox="1">
              <a:spLocks noChangeArrowheads="1"/>
            </p:cNvSpPr>
            <p:nvPr/>
          </p:nvSpPr>
          <p:spPr bwMode="auto">
            <a:xfrm>
              <a:off x="2901" y="1764"/>
              <a:ext cx="1223"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C00CC"/>
                  </a:solidFill>
                  <a:latin typeface="Montserrat" panose="00000500000000000000" pitchFamily="2" charset="0"/>
                  <a:ea typeface="微软雅黑 Light" panose="020B0502040204020203"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nvGrpSpPr>
            <p:cNvPr id="51" name="Group 13"/>
            <p:cNvGrpSpPr>
              <a:grpSpLocks/>
            </p:cNvGrpSpPr>
            <p:nvPr/>
          </p:nvGrpSpPr>
          <p:grpSpPr bwMode="auto">
            <a:xfrm>
              <a:off x="2451" y="2124"/>
              <a:ext cx="1223" cy="439"/>
              <a:chOff x="2451" y="2124"/>
              <a:chExt cx="1223" cy="439"/>
            </a:xfrm>
          </p:grpSpPr>
          <p:sp>
            <p:nvSpPr>
              <p:cNvPr id="52" name="Text Box 14"/>
              <p:cNvSpPr txBox="1">
                <a:spLocks noChangeArrowheads="1"/>
              </p:cNvSpPr>
              <p:nvPr/>
            </p:nvSpPr>
            <p:spPr bwMode="auto">
              <a:xfrm>
                <a:off x="2451" y="2124"/>
                <a:ext cx="1223" cy="28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Text Box 17"/>
          <p:cNvSpPr txBox="1">
            <a:spLocks noChangeArrowheads="1"/>
          </p:cNvSpPr>
          <p:nvPr/>
        </p:nvSpPr>
        <p:spPr bwMode="auto">
          <a:xfrm>
            <a:off x="1442736" y="3422881"/>
            <a:ext cx="3016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solidFill>
                  <a:srgbClr val="333399"/>
                </a:solidFill>
                <a:latin typeface="Montserrat" panose="00000500000000000000" pitchFamily="2" charset="0"/>
                <a:ea typeface="微软雅黑 Light" panose="020B0502040204020203" pitchFamily="34" charset="-122"/>
              </a:rPr>
              <a:t>0</a:t>
            </a:r>
          </a:p>
        </p:txBody>
      </p:sp>
      <p:grpSp>
        <p:nvGrpSpPr>
          <p:cNvPr id="56" name="Group 18"/>
          <p:cNvGrpSpPr>
            <a:grpSpLocks/>
          </p:cNvGrpSpPr>
          <p:nvPr/>
        </p:nvGrpSpPr>
        <p:grpSpPr bwMode="auto">
          <a:xfrm>
            <a:off x="4906315" y="2847212"/>
            <a:ext cx="2400305" cy="792941"/>
            <a:chOff x="3349" y="2890"/>
            <a:chExt cx="2037" cy="729"/>
          </a:xfrm>
        </p:grpSpPr>
        <p:grpSp>
          <p:nvGrpSpPr>
            <p:cNvPr id="57" name="Group 19"/>
            <p:cNvGrpSpPr>
              <a:grpSpLocks/>
            </p:cNvGrpSpPr>
            <p:nvPr/>
          </p:nvGrpSpPr>
          <p:grpSpPr bwMode="auto">
            <a:xfrm>
              <a:off x="3477" y="2890"/>
              <a:ext cx="1909" cy="600"/>
              <a:chOff x="3477" y="2890"/>
              <a:chExt cx="1909" cy="600"/>
            </a:xfrm>
          </p:grpSpPr>
          <p:sp>
            <p:nvSpPr>
              <p:cNvPr id="59" name="Text Box 20"/>
              <p:cNvSpPr txBox="1">
                <a:spLocks noChangeArrowheads="1"/>
              </p:cNvSpPr>
              <p:nvPr/>
            </p:nvSpPr>
            <p:spPr bwMode="auto">
              <a:xfrm>
                <a:off x="3881" y="2890"/>
                <a:ext cx="1505"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00000"/>
                    </a:solidFill>
                    <a:latin typeface="Montserrat" panose="00000500000000000000" pitchFamily="2" charset="0"/>
                    <a:ea typeface="微软雅黑 Light" panose="020B0502040204020203" pitchFamily="34" charset="-122"/>
                  </a:rPr>
                  <a:t>死锁（吞吐量 </a:t>
                </a:r>
                <a:r>
                  <a:rPr lang="en-US" altLang="zh-CN" sz="1400" b="0" dirty="0">
                    <a:solidFill>
                      <a:srgbClr val="C00000"/>
                    </a:solidFill>
                    <a:latin typeface="Montserrat" panose="00000500000000000000" pitchFamily="2" charset="0"/>
                    <a:ea typeface="微软雅黑 Light" panose="020B0502040204020203" pitchFamily="34" charset="-122"/>
                  </a:rPr>
                  <a:t>= 0</a:t>
                </a:r>
                <a:r>
                  <a:rPr lang="zh-CN" altLang="en-US" sz="1400" b="0" dirty="0">
                    <a:solidFill>
                      <a:srgbClr val="C00000"/>
                    </a:solidFill>
                    <a:latin typeface="Montserrat" panose="00000500000000000000" pitchFamily="2" charset="0"/>
                    <a:ea typeface="微软雅黑 Light" panose="020B0502040204020203"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2412000" y="104400"/>
            <a:ext cx="4320000" cy="369332"/>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482554"/>
            <a:ext cx="8172000" cy="4267246"/>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2412000" y="104400"/>
            <a:ext cx="4320000" cy="369332"/>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E5341D88-6FD9-66DF-F5BF-4EFE6987BC3C}"/>
              </a:ext>
            </a:extLst>
          </p:cNvPr>
          <p:cNvSpPr/>
          <p:nvPr/>
        </p:nvSpPr>
        <p:spPr>
          <a:xfrm>
            <a:off x="106212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开环控制</a:t>
            </a:r>
          </a:p>
        </p:txBody>
      </p:sp>
      <p:sp>
        <p:nvSpPr>
          <p:cNvPr id="6" name="任意多边形: 形状 5">
            <a:extLst>
              <a:ext uri="{FF2B5EF4-FFF2-40B4-BE49-F238E27FC236}">
                <a16:creationId xmlns:a16="http://schemas.microsoft.com/office/drawing/2014/main" id="{68E840D6-5F36-2710-386A-F52D2116FB25}"/>
              </a:ext>
            </a:extLst>
          </p:cNvPr>
          <p:cNvSpPr/>
          <p:nvPr/>
        </p:nvSpPr>
        <p:spPr>
          <a:xfrm>
            <a:off x="106212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在设计网络时，事先</a:t>
            </a:r>
            <a:r>
              <a:rPr lang="zh-CN" altLang="en-US" sz="1400" kern="1200" dirty="0">
                <a:solidFill>
                  <a:srgbClr val="C00000"/>
                </a:solidFill>
                <a:latin typeface="Montserrat" panose="00000500000000000000" pitchFamily="2" charset="0"/>
                <a:ea typeface="微软雅黑 Light" panose="020B0502040204020203" pitchFamily="34" charset="-122"/>
              </a:rPr>
              <a:t>考虑周全，</a:t>
            </a:r>
            <a:r>
              <a:rPr lang="zh-CN" altLang="en-US" sz="1400" kern="1200" dirty="0">
                <a:latin typeface="Montserrat" panose="00000500000000000000" pitchFamily="2" charset="0"/>
                <a:ea typeface="微软雅黑 Light" panose="020B0502040204020203" pitchFamily="34" charset="-122"/>
              </a:rPr>
              <a:t>力求工作时不发生拥塞。</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力争</a:t>
            </a:r>
            <a:r>
              <a:rPr lang="zh-CN" altLang="en-US" sz="1400" kern="1200" dirty="0">
                <a:solidFill>
                  <a:srgbClr val="0000FF"/>
                </a:solidFill>
                <a:latin typeface="Montserrat" panose="00000500000000000000" pitchFamily="2" charset="0"/>
                <a:ea typeface="微软雅黑 Light" panose="020B0502040204020203" pitchFamily="34" charset="-122"/>
              </a:rPr>
              <a:t>避免</a:t>
            </a:r>
            <a:r>
              <a:rPr lang="zh-CN" altLang="en-US" sz="1400" kern="1200" dirty="0">
                <a:latin typeface="Montserrat" panose="00000500000000000000" pitchFamily="2" charset="0"/>
                <a:ea typeface="微软雅黑 Light" panose="020B0502040204020203" pitchFamily="34" charset="-122"/>
              </a:rPr>
              <a:t>发生拥塞。</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但一旦整个系统运行起来，就不再中途进行改正了。</a:t>
            </a:r>
          </a:p>
        </p:txBody>
      </p:sp>
      <p:sp>
        <p:nvSpPr>
          <p:cNvPr id="7" name="任意多边形: 形状 6">
            <a:extLst>
              <a:ext uri="{FF2B5EF4-FFF2-40B4-BE49-F238E27FC236}">
                <a16:creationId xmlns:a16="http://schemas.microsoft.com/office/drawing/2014/main" id="{106B789F-F10C-4577-94E2-877ACA996F70}"/>
              </a:ext>
            </a:extLst>
          </p:cNvPr>
          <p:cNvSpPr/>
          <p:nvPr/>
        </p:nvSpPr>
        <p:spPr>
          <a:xfrm>
            <a:off x="485016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闭环控制</a:t>
            </a:r>
          </a:p>
        </p:txBody>
      </p:sp>
      <p:sp>
        <p:nvSpPr>
          <p:cNvPr id="8" name="任意多边形: 形状 7">
            <a:extLst>
              <a:ext uri="{FF2B5EF4-FFF2-40B4-BE49-F238E27FC236}">
                <a16:creationId xmlns:a16="http://schemas.microsoft.com/office/drawing/2014/main" id="{05A32DF7-677F-D92A-36A7-8DB6474D4ADF}"/>
              </a:ext>
            </a:extLst>
          </p:cNvPr>
          <p:cNvSpPr/>
          <p:nvPr/>
        </p:nvSpPr>
        <p:spPr>
          <a:xfrm>
            <a:off x="485016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5025821"/>
              <a:satOff val="-4378"/>
              <a:lumOff val="-6"/>
              <a:alphaOff val="0"/>
            </a:schemeClr>
          </a:lnRef>
          <a:fillRef idx="1">
            <a:schemeClr val="accent2">
              <a:tint val="40000"/>
              <a:alpha val="90000"/>
              <a:hueOff val="5025821"/>
              <a:satOff val="-4378"/>
              <a:lumOff val="-6"/>
              <a:alphaOff val="0"/>
            </a:schemeClr>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基于反馈环路的概念。</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根据网络</a:t>
            </a:r>
            <a:r>
              <a:rPr lang="zh-CN" altLang="en-US" sz="140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400" kern="1200" dirty="0">
                <a:latin typeface="Montserrat" panose="00000500000000000000" pitchFamily="2" charset="0"/>
                <a:ea typeface="微软雅黑 Light" panose="020B0502040204020203" pitchFamily="34" charset="-122"/>
              </a:rPr>
              <a:t>采取相应控制措施。</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在发生拥塞后，采取措施进行控制，</a:t>
            </a:r>
            <a:r>
              <a:rPr lang="zh-CN" altLang="en-US" sz="1400" kern="1200" dirty="0">
                <a:solidFill>
                  <a:srgbClr val="0000FF"/>
                </a:solidFill>
                <a:latin typeface="Montserrat" panose="00000500000000000000" pitchFamily="2" charset="0"/>
                <a:ea typeface="微软雅黑 Light" panose="020B0502040204020203" pitchFamily="34" charset="-122"/>
              </a:rPr>
              <a:t>消除</a:t>
            </a:r>
            <a:r>
              <a:rPr lang="zh-CN" altLang="en-US" sz="1400" kern="1200" dirty="0">
                <a:latin typeface="Montserrat" panose="00000500000000000000" pitchFamily="2" charset="0"/>
                <a:ea typeface="微软雅黑 Light" panose="020B0502040204020203" pitchFamily="34" charset="-122"/>
              </a:rPr>
              <a:t>拥塞。</a:t>
            </a:r>
          </a:p>
        </p:txBody>
      </p:sp>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2412000" y="104400"/>
            <a:ext cx="4320000" cy="369332"/>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46170870"/>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2412000" y="104400"/>
            <a:ext cx="4320000" cy="369332"/>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dirty="0">
                <a:solidFill>
                  <a:schemeClr val="tx1"/>
                </a:solidFill>
                <a:latin typeface="Montserrat" panose="00000500000000000000" pitchFamily="2" charset="0"/>
                <a:ea typeface="微软雅黑 Light" panose="020B0502040204020203" pitchFamily="34" charset="-122"/>
              </a:rPr>
              <a:t>主要指标有：</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平均队列长度；</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超时重传的分组数；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平均分组时延；</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分组时延的标准差，等等。</a:t>
            </a:r>
          </a:p>
          <a:p>
            <a:pPr marL="179388" indent="-179388">
              <a:lnSpc>
                <a:spcPts val="2000"/>
              </a:lnSpc>
              <a:buClr>
                <a:srgbClr val="0070C0"/>
              </a:buClr>
              <a:buFont typeface="Wingdings" pitchFamily="2" charset="2"/>
              <a:buChar char="l"/>
            </a:pPr>
            <a:r>
              <a:rPr lang="zh-CN" altLang="en-US" sz="1400" dirty="0">
                <a:solidFill>
                  <a:srgbClr val="0000FF"/>
                </a:solidFill>
                <a:latin typeface="Montserrat" panose="00000500000000000000" pitchFamily="2" charset="0"/>
                <a:ea typeface="微软雅黑 Light" panose="020B0502040204020203"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2412000" y="104400"/>
            <a:ext cx="4320000" cy="369332"/>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2412000" y="104400"/>
            <a:ext cx="4320000" cy="369332"/>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2412000" y="104400"/>
            <a:ext cx="4320000" cy="369332"/>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真正的发送窗口值 </a:t>
            </a:r>
            <a:r>
              <a:rPr lang="en-US" altLang="zh-CN" sz="2000" dirty="0">
                <a:latin typeface="Montserrat" panose="00000500000000000000" pitchFamily="2" charset="0"/>
                <a:ea typeface="微软雅黑 Light" panose="020B0502040204020203" pitchFamily="34" charset="-122"/>
              </a:rPr>
              <a:t>= Min (</a:t>
            </a:r>
            <a:r>
              <a:rPr lang="zh-CN" altLang="en-US" sz="2000" dirty="0">
                <a:latin typeface="Montserrat" panose="00000500000000000000" pitchFamily="2" charset="0"/>
                <a:ea typeface="微软雅黑 Light" panose="020B0502040204020203" pitchFamily="34" charset="-122"/>
              </a:rPr>
              <a:t>接收方通知的窗口值，拥塞窗口值</a:t>
            </a:r>
            <a:r>
              <a:rPr lang="en-US" altLang="zh-CN" sz="2000" dirty="0">
                <a:latin typeface="Montserrat" panose="00000500000000000000" pitchFamily="2" charset="0"/>
                <a:ea typeface="微软雅黑 Light" panose="020B0502040204020203"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a:t>cwnd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2412000" y="104400"/>
            <a:ext cx="4320000" cy="369332"/>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482554"/>
            <a:ext cx="8172000" cy="4267246"/>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2412000" y="104400"/>
            <a:ext cx="4320000" cy="369332"/>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20546"/>
          </a:xfrm>
          <a:prstGeom prst="rect">
            <a:avLst/>
          </a:prstGeom>
        </p:spPr>
        <p:txBody>
          <a:bodyPr wrap="square">
            <a:spAutoFit/>
          </a:bodyPr>
          <a:lstStyle/>
          <a:p>
            <a:pPr>
              <a:lnSpc>
                <a:spcPts val="3000"/>
              </a:lnSpc>
            </a:pPr>
            <a:r>
              <a:rPr lang="zh-CN" altLang="en-US" dirty="0">
                <a:latin typeface="微软雅黑 Light" panose="020B0502040204020203" pitchFamily="34" charset="-122"/>
                <a:ea typeface="微软雅黑 Light" panose="020B0502040204020203" pitchFamily="34" charset="-122"/>
              </a:rPr>
              <a:t>因传输出差错而丢弃分组的</a:t>
            </a:r>
            <a:r>
              <a:rPr lang="zh-CN" altLang="en-US" dirty="0">
                <a:solidFill>
                  <a:srgbClr val="C00000"/>
                </a:solidFill>
                <a:latin typeface="微软雅黑 Light" panose="020B0502040204020203" pitchFamily="34" charset="-122"/>
                <a:ea typeface="微软雅黑 Light" panose="020B0502040204020203" pitchFamily="34" charset="-122"/>
              </a:rPr>
              <a:t>概率很小</a:t>
            </a:r>
            <a:r>
              <a:rPr lang="zh-CN" altLang="en-US" dirty="0">
                <a:latin typeface="微软雅黑 Light" panose="020B0502040204020203" pitchFamily="34" charset="-122"/>
                <a:ea typeface="微软雅黑 Light" panose="020B0502040204020203" pitchFamily="34" charset="-122"/>
              </a:rPr>
              <a:t>（远小于</a:t>
            </a:r>
            <a:r>
              <a:rPr lang="en-US" altLang="zh-CN" dirty="0">
                <a:latin typeface="微软雅黑 Light" panose="020B0502040204020203" pitchFamily="34" charset="-122"/>
                <a:ea typeface="微软雅黑 Light" panose="020B0502040204020203" pitchFamily="34" charset="-122"/>
              </a:rPr>
              <a:t>1 %</a:t>
            </a:r>
            <a:r>
              <a:rPr lang="zh-CN" altLang="en-US" dirty="0">
                <a:latin typeface="微软雅黑 Light" panose="020B0502040204020203" pitchFamily="34" charset="-122"/>
                <a:ea typeface="微软雅黑 Light" panose="020B0502040204020203" pitchFamily="34" charset="-122"/>
              </a:rPr>
              <a:t>）。</a:t>
            </a:r>
            <a:endParaRPr lang="en-US" altLang="zh-CN" dirty="0">
              <a:latin typeface="微软雅黑 Light" panose="020B0502040204020203" pitchFamily="34" charset="-122"/>
              <a:ea typeface="微软雅黑 Light" panose="020B0502040204020203" pitchFamily="34" charset="-122"/>
            </a:endParaRPr>
          </a:p>
          <a:p>
            <a:pPr>
              <a:lnSpc>
                <a:spcPts val="3000"/>
              </a:lnSpc>
            </a:pPr>
            <a:r>
              <a:rPr lang="zh-CN" altLang="en-US" dirty="0">
                <a:latin typeface="微软雅黑 Light" panose="020B0502040204020203" pitchFamily="34" charset="-122"/>
                <a:ea typeface="微软雅黑 Light" panose="020B0502040204020203" pitchFamily="34" charset="-122"/>
              </a:rPr>
              <a:t>因此，发送方在超时重传计时器启动时，</a:t>
            </a:r>
            <a:r>
              <a:rPr lang="zh-CN" altLang="en-US" dirty="0">
                <a:solidFill>
                  <a:srgbClr val="C00000"/>
                </a:solidFill>
                <a:latin typeface="微软雅黑 Light" panose="020B0502040204020203" pitchFamily="34" charset="-122"/>
                <a:ea typeface="微软雅黑 Light" panose="020B0502040204020203"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2412000" y="104400"/>
            <a:ext cx="4320000" cy="369332"/>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482554"/>
            <a:ext cx="8172000" cy="4267246"/>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2412000" y="104400"/>
            <a:ext cx="4320000" cy="369332"/>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482554"/>
            <a:ext cx="8172000" cy="4267246"/>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2412000" y="104400"/>
            <a:ext cx="4320000" cy="369332"/>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482554"/>
            <a:ext cx="8172000" cy="4267246"/>
          </a:xfrm>
        </p:spPr>
        <p:txBody>
          <a:bodyPr/>
          <a:lstStyle/>
          <a:p>
            <a:r>
              <a:rPr lang="zh-CN" altLang="en-US" dirty="0"/>
              <a:t>拥塞窗口 </a:t>
            </a:r>
            <a:r>
              <a:rPr lang="en-US" altLang="zh-CN" dirty="0"/>
              <a:t>cwnd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2412000" y="104400"/>
            <a:ext cx="4320000" cy="369332"/>
          </a:xfrm>
        </p:spPr>
        <p:txBody>
          <a:bodyPr/>
          <a:lstStyle/>
          <a:p>
            <a:r>
              <a:rPr lang="en-US" altLang="zh-CN" dirty="0"/>
              <a:t>1. </a:t>
            </a:r>
            <a:r>
              <a:rPr lang="zh-CN" altLang="en-US" dirty="0"/>
              <a:t>慢开始 </a:t>
            </a:r>
            <a:r>
              <a:rPr lang="en-US" altLang="zh-CN" dirty="0"/>
              <a:t>(Slow start)</a:t>
            </a:r>
            <a:endParaRPr lang="zh-CN" altLang="en-US" dirty="0"/>
          </a:p>
        </p:txBody>
      </p:sp>
      <p:sp>
        <p:nvSpPr>
          <p:cNvPr id="39" name="矩形 38"/>
          <p:cNvSpPr/>
          <p:nvPr/>
        </p:nvSpPr>
        <p:spPr>
          <a:xfrm>
            <a:off x="1042543" y="2261782"/>
            <a:ext cx="7213799" cy="57568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拥塞窗口 </a:t>
            </a:r>
            <a:r>
              <a:rPr lang="en-US" altLang="zh-CN" sz="2000" dirty="0">
                <a:latin typeface="Montserrat" panose="00000500000000000000" pitchFamily="2" charset="0"/>
                <a:ea typeface="微软雅黑 Light" panose="020B0502040204020203" pitchFamily="34" charset="-122"/>
              </a:rPr>
              <a:t>cwnd </a:t>
            </a:r>
            <a:r>
              <a:rPr lang="zh-CN" altLang="en-US" sz="2000" dirty="0">
                <a:latin typeface="Montserrat" panose="00000500000000000000" pitchFamily="2" charset="0"/>
                <a:ea typeface="微软雅黑 Light" panose="020B0502040204020203" pitchFamily="34" charset="-122"/>
              </a:rPr>
              <a:t>每次的增加量 </a:t>
            </a:r>
            <a:r>
              <a:rPr lang="en-US" altLang="zh-CN" sz="2000" dirty="0">
                <a:latin typeface="Montserrat" panose="00000500000000000000" pitchFamily="2" charset="0"/>
                <a:ea typeface="微软雅黑 Light" panose="020B0502040204020203" pitchFamily="34" charset="-122"/>
              </a:rPr>
              <a:t>= min (N, SMSS)          (5-8)</a:t>
            </a:r>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ssthresh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cxnSpLocks/>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cxnSpLocks/>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ssthresh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4866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2412000" y="104400"/>
            <a:ext cx="4320000" cy="369332"/>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282641"/>
          </a:xfrm>
          <a:prstGeom prst="rect">
            <a:avLst/>
          </a:prstGeom>
          <a:noFill/>
          <a:ln w="9525">
            <a:noFill/>
            <a:miter lim="800000"/>
            <a:headEnd/>
            <a:tailEnd/>
          </a:ln>
          <a:effectLst/>
        </p:spPr>
        <p:txBody>
          <a:bodyPr wrap="square">
            <a:spAutoFit/>
          </a:bodyPr>
          <a:lstStyle/>
          <a:p>
            <a:pPr algn="ctr">
              <a:lnSpc>
                <a:spcPct val="110000"/>
              </a:lnSpc>
            </a:pPr>
            <a:r>
              <a:rPr lang="zh-CN" altLang="en-US" sz="1200" dirty="0">
                <a:latin typeface="Montserrat" panose="00000500000000000000" pitchFamily="2" charset="0"/>
                <a:ea typeface="微软雅黑 Light" panose="020B0502040204020203" pitchFamily="34" charset="-122"/>
              </a:rPr>
              <a:t>发送方每收到一个对新报文段的确认（重传的不算在内）就使 </a:t>
            </a:r>
            <a:r>
              <a:rPr lang="en-US" altLang="zh-CN" sz="1200" dirty="0">
                <a:latin typeface="Montserrat" panose="00000500000000000000" pitchFamily="2" charset="0"/>
                <a:ea typeface="微软雅黑 Light" panose="020B0502040204020203" pitchFamily="34" charset="-122"/>
              </a:rPr>
              <a:t>cwnd </a:t>
            </a:r>
            <a:r>
              <a:rPr lang="zh-CN" altLang="en-US" sz="1200" dirty="0">
                <a:latin typeface="Montserrat" panose="00000500000000000000" pitchFamily="2" charset="0"/>
                <a:ea typeface="微软雅黑 Light" panose="020B0502040204020203" pitchFamily="34" charset="-122"/>
              </a:rPr>
              <a:t>加 </a:t>
            </a:r>
            <a:r>
              <a:rPr lang="en-US" altLang="zh-CN" sz="1200" dirty="0">
                <a:latin typeface="Montserrat" panose="00000500000000000000" pitchFamily="2" charset="0"/>
                <a:ea typeface="微软雅黑 Light" panose="020B0502040204020203" pitchFamily="34" charset="-122"/>
              </a:rPr>
              <a:t>1</a:t>
            </a:r>
            <a:endParaRPr lang="zh-CN" altLang="en-US" sz="1200" dirty="0">
              <a:latin typeface="Montserrat" panose="00000500000000000000" pitchFamily="2" charset="0"/>
              <a:ea typeface="微软雅黑 Light" panose="020B0502040204020203" pitchFamily="34" charset="-122"/>
            </a:endParaRP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227730" y="196643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227730" y="26310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227730" y="356888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2" name="标题 1">
            <a:extLst>
              <a:ext uri="{FF2B5EF4-FFF2-40B4-BE49-F238E27FC236}">
                <a16:creationId xmlns:a16="http://schemas.microsoft.com/office/drawing/2014/main" id="{FC5B0E50-1606-7258-8004-9ACE780DB64E}"/>
              </a:ext>
            </a:extLst>
          </p:cNvPr>
          <p:cNvSpPr>
            <a:spLocks noGrp="1"/>
          </p:cNvSpPr>
          <p:nvPr>
            <p:ph type="title"/>
          </p:nvPr>
        </p:nvSpPr>
        <p:spPr>
          <a:xfrm>
            <a:off x="2412000" y="104400"/>
            <a:ext cx="4320000" cy="369332"/>
          </a:xfrm>
        </p:spPr>
        <p:txBody>
          <a:bodyPr/>
          <a:lstStyle/>
          <a:p>
            <a:r>
              <a:rPr lang="zh-CN" altLang="en-US" dirty="0"/>
              <a:t>单独确认</a:t>
            </a:r>
          </a:p>
        </p:txBody>
      </p:sp>
      <p:sp>
        <p:nvSpPr>
          <p:cNvPr id="3" name="Text Box 40">
            <a:extLst>
              <a:ext uri="{FF2B5EF4-FFF2-40B4-BE49-F238E27FC236}">
                <a16:creationId xmlns:a16="http://schemas.microsoft.com/office/drawing/2014/main" id="{6C70874F-103C-6BBE-40B9-E73BFFF56C85}"/>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 name="Text Box 41">
            <a:extLst>
              <a:ext uri="{FF2B5EF4-FFF2-40B4-BE49-F238E27FC236}">
                <a16:creationId xmlns:a16="http://schemas.microsoft.com/office/drawing/2014/main" id="{BCCA6F0F-9465-979D-121B-61BD6CFC10C9}"/>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5" name="Text Box 42">
            <a:extLst>
              <a:ext uri="{FF2B5EF4-FFF2-40B4-BE49-F238E27FC236}">
                <a16:creationId xmlns:a16="http://schemas.microsoft.com/office/drawing/2014/main" id="{7642C4CB-7ACC-5C47-B4E6-2538B6419A43}"/>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162D5-91D7-4071-E38F-B203BD01CB98}"/>
            </a:ext>
          </a:extLst>
        </p:cNvPr>
        <p:cNvGrpSpPr/>
        <p:nvPr/>
      </p:nvGrpSpPr>
      <p:grpSpPr>
        <a:xfrm>
          <a:off x="0" y="0"/>
          <a:ext cx="0" cy="0"/>
          <a:chOff x="0" y="0"/>
          <a:chExt cx="0" cy="0"/>
        </a:xfrm>
      </p:grpSpPr>
      <p:sp>
        <p:nvSpPr>
          <p:cNvPr id="117" name="Rectangle 3">
            <a:extLst>
              <a:ext uri="{FF2B5EF4-FFF2-40B4-BE49-F238E27FC236}">
                <a16:creationId xmlns:a16="http://schemas.microsoft.com/office/drawing/2014/main" id="{36DE5879-FE7C-F666-2C2D-31BD728CCCC3}"/>
              </a:ext>
            </a:extLst>
          </p:cNvPr>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a:extLst>
              <a:ext uri="{FF2B5EF4-FFF2-40B4-BE49-F238E27FC236}">
                <a16:creationId xmlns:a16="http://schemas.microsoft.com/office/drawing/2014/main" id="{F70366A2-75ED-0A5B-2FAB-9F09656A3E1D}"/>
              </a:ext>
            </a:extLst>
          </p:cNvPr>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5" name="Text Box 155">
            <a:extLst>
              <a:ext uri="{FF2B5EF4-FFF2-40B4-BE49-F238E27FC236}">
                <a16:creationId xmlns:a16="http://schemas.microsoft.com/office/drawing/2014/main" id="{C3C953AB-4634-5CC9-C458-10CCBF0A5AD9}"/>
              </a:ext>
            </a:extLst>
          </p:cNvPr>
          <p:cNvSpPr txBox="1">
            <a:spLocks noChangeArrowheads="1"/>
          </p:cNvSpPr>
          <p:nvPr/>
        </p:nvSpPr>
        <p:spPr bwMode="auto">
          <a:xfrm>
            <a:off x="129654" y="519984"/>
            <a:ext cx="9014346" cy="282641"/>
          </a:xfrm>
          <a:prstGeom prst="rect">
            <a:avLst/>
          </a:prstGeom>
          <a:noFill/>
          <a:ln w="9525">
            <a:noFill/>
            <a:miter lim="800000"/>
            <a:headEnd/>
            <a:tailEnd/>
          </a:ln>
          <a:effectLst/>
        </p:spPr>
        <p:txBody>
          <a:bodyPr wrap="square">
            <a:spAutoFit/>
          </a:bodyPr>
          <a:lstStyle>
            <a:defPPr>
              <a:defRPr lang="zh-CN"/>
            </a:defPPr>
            <a:lvl1pPr algn="ctr">
              <a:lnSpc>
                <a:spcPct val="110000"/>
              </a:lnSpc>
              <a:defRPr sz="1200">
                <a:latin typeface="Montserrat" panose="00000500000000000000" pitchFamily="2" charset="0"/>
                <a:ea typeface="微软雅黑 Light" panose="020B0502040204020203" pitchFamily="34" charset="-122"/>
              </a:defRPr>
            </a:lvl1pPr>
          </a:lstStyle>
          <a:p>
            <a:r>
              <a:rPr lang="zh-CN" altLang="en-US" dirty="0"/>
              <a:t>发送方每收到一个对新报文段的确认（重传的不算在内）就使 </a:t>
            </a:r>
            <a:r>
              <a:rPr lang="en-US" altLang="zh-CN" dirty="0"/>
              <a:t>cwnd </a:t>
            </a:r>
            <a:r>
              <a:rPr lang="zh-CN" altLang="en-US" dirty="0"/>
              <a:t>加 </a:t>
            </a:r>
            <a:r>
              <a:rPr lang="en-US" altLang="zh-CN" dirty="0"/>
              <a:t>1</a:t>
            </a:r>
            <a:endParaRPr lang="zh-CN" altLang="en-US" dirty="0"/>
          </a:p>
        </p:txBody>
      </p:sp>
      <p:sp>
        <p:nvSpPr>
          <p:cNvPr id="118" name="Rectangle 4">
            <a:extLst>
              <a:ext uri="{FF2B5EF4-FFF2-40B4-BE49-F238E27FC236}">
                <a16:creationId xmlns:a16="http://schemas.microsoft.com/office/drawing/2014/main" id="{51F8258A-92E5-51DA-0B7A-1DF0B15D1F72}"/>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a:extLst>
              <a:ext uri="{FF2B5EF4-FFF2-40B4-BE49-F238E27FC236}">
                <a16:creationId xmlns:a16="http://schemas.microsoft.com/office/drawing/2014/main" id="{42922666-BA50-6A08-4235-D8A21EF0BBA8}"/>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a:extLst>
              <a:ext uri="{FF2B5EF4-FFF2-40B4-BE49-F238E27FC236}">
                <a16:creationId xmlns:a16="http://schemas.microsoft.com/office/drawing/2014/main" id="{AF95B0A5-30D7-4853-462F-8F848FDD0E9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a:extLst>
              <a:ext uri="{FF2B5EF4-FFF2-40B4-BE49-F238E27FC236}">
                <a16:creationId xmlns:a16="http://schemas.microsoft.com/office/drawing/2014/main" id="{D15E838E-85ED-6644-53E9-09979544A179}"/>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a:extLst>
              <a:ext uri="{FF2B5EF4-FFF2-40B4-BE49-F238E27FC236}">
                <a16:creationId xmlns:a16="http://schemas.microsoft.com/office/drawing/2014/main" id="{877062E3-8CD9-4A52-1CDD-83F965E9DF69}"/>
              </a:ext>
            </a:extLst>
          </p:cNvPr>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a:extLst>
              <a:ext uri="{FF2B5EF4-FFF2-40B4-BE49-F238E27FC236}">
                <a16:creationId xmlns:a16="http://schemas.microsoft.com/office/drawing/2014/main" id="{4A86383F-0472-660F-B91E-B5C8FA453F21}"/>
              </a:ext>
            </a:extLst>
          </p:cNvPr>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a:extLst>
              <a:ext uri="{FF2B5EF4-FFF2-40B4-BE49-F238E27FC236}">
                <a16:creationId xmlns:a16="http://schemas.microsoft.com/office/drawing/2014/main" id="{B732588F-AD09-C33A-FDA7-2F7D0DBE2CD8}"/>
              </a:ext>
            </a:extLst>
          </p:cNvPr>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a:extLst>
              <a:ext uri="{FF2B5EF4-FFF2-40B4-BE49-F238E27FC236}">
                <a16:creationId xmlns:a16="http://schemas.microsoft.com/office/drawing/2014/main" id="{ADE3E2B0-9D11-287D-C911-C0EB7F3E68F7}"/>
              </a:ext>
            </a:extLst>
          </p:cNvPr>
          <p:cNvSpPr txBox="1">
            <a:spLocks noChangeArrowheads="1"/>
          </p:cNvSpPr>
          <p:nvPr/>
        </p:nvSpPr>
        <p:spPr bwMode="auto">
          <a:xfrm>
            <a:off x="5227730" y="1966430"/>
            <a:ext cx="10871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1000</a:t>
            </a:r>
          </a:p>
        </p:txBody>
      </p:sp>
      <p:sp>
        <p:nvSpPr>
          <p:cNvPr id="126" name="Line 12">
            <a:extLst>
              <a:ext uri="{FF2B5EF4-FFF2-40B4-BE49-F238E27FC236}">
                <a16:creationId xmlns:a16="http://schemas.microsoft.com/office/drawing/2014/main" id="{880DD1D8-42AC-C0FB-E44B-91C690EFFD5F}"/>
              </a:ext>
            </a:extLst>
          </p:cNvPr>
          <p:cNvSpPr>
            <a:spLocks noChangeShapeType="1"/>
          </p:cNvSpPr>
          <p:nvPr/>
        </p:nvSpPr>
        <p:spPr bwMode="auto">
          <a:xfrm>
            <a:off x="3613957" y="3855202"/>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a:extLst>
              <a:ext uri="{FF2B5EF4-FFF2-40B4-BE49-F238E27FC236}">
                <a16:creationId xmlns:a16="http://schemas.microsoft.com/office/drawing/2014/main" id="{706ABAED-F176-10B1-0D30-EB921DC830DD}"/>
              </a:ext>
            </a:extLst>
          </p:cNvPr>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a:extLst>
              <a:ext uri="{FF2B5EF4-FFF2-40B4-BE49-F238E27FC236}">
                <a16:creationId xmlns:a16="http://schemas.microsoft.com/office/drawing/2014/main" id="{90775AB2-87FC-0166-5DA3-FC3C20D34727}"/>
              </a:ext>
            </a:extLst>
          </p:cNvPr>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a:extLst>
              <a:ext uri="{FF2B5EF4-FFF2-40B4-BE49-F238E27FC236}">
                <a16:creationId xmlns:a16="http://schemas.microsoft.com/office/drawing/2014/main" id="{CBC6C50E-E3EF-F081-5024-5895F59FF9B6}"/>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a:extLst>
              <a:ext uri="{FF2B5EF4-FFF2-40B4-BE49-F238E27FC236}">
                <a16:creationId xmlns:a16="http://schemas.microsoft.com/office/drawing/2014/main" id="{49DB1F77-45BF-78FA-4938-0E9F38FE7A23}"/>
              </a:ext>
            </a:extLst>
          </p:cNvPr>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a:extLst>
              <a:ext uri="{FF2B5EF4-FFF2-40B4-BE49-F238E27FC236}">
                <a16:creationId xmlns:a16="http://schemas.microsoft.com/office/drawing/2014/main" id="{A3C721AA-BFBC-5213-06DF-83C006489D70}"/>
              </a:ext>
            </a:extLst>
          </p:cNvPr>
          <p:cNvSpPr txBox="1">
            <a:spLocks noChangeArrowheads="1"/>
          </p:cNvSpPr>
          <p:nvPr/>
        </p:nvSpPr>
        <p:spPr bwMode="auto">
          <a:xfrm>
            <a:off x="5227730" y="2631095"/>
            <a:ext cx="11176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3000</a:t>
            </a:r>
          </a:p>
        </p:txBody>
      </p:sp>
      <p:sp>
        <p:nvSpPr>
          <p:cNvPr id="135" name="Line 21">
            <a:extLst>
              <a:ext uri="{FF2B5EF4-FFF2-40B4-BE49-F238E27FC236}">
                <a16:creationId xmlns:a16="http://schemas.microsoft.com/office/drawing/2014/main" id="{7243AC24-760E-77C5-BD7A-2ED880F89A5E}"/>
              </a:ext>
            </a:extLst>
          </p:cNvPr>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a:extLst>
              <a:ext uri="{FF2B5EF4-FFF2-40B4-BE49-F238E27FC236}">
                <a16:creationId xmlns:a16="http://schemas.microsoft.com/office/drawing/2014/main" id="{86094198-7795-84AD-63E7-902E3D77AC21}"/>
              </a:ext>
            </a:extLst>
          </p:cNvPr>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a:extLst>
              <a:ext uri="{FF2B5EF4-FFF2-40B4-BE49-F238E27FC236}">
                <a16:creationId xmlns:a16="http://schemas.microsoft.com/office/drawing/2014/main" id="{1E119F7E-97D2-D7DD-886E-B09F60C9DFAE}"/>
              </a:ext>
            </a:extLst>
          </p:cNvPr>
          <p:cNvSpPr txBox="1">
            <a:spLocks noChangeArrowheads="1"/>
          </p:cNvSpPr>
          <p:nvPr/>
        </p:nvSpPr>
        <p:spPr bwMode="auto">
          <a:xfrm>
            <a:off x="5227730" y="3568881"/>
            <a:ext cx="11224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000</a:t>
            </a:r>
          </a:p>
        </p:txBody>
      </p:sp>
      <p:sp>
        <p:nvSpPr>
          <p:cNvPr id="140" name="Line 26">
            <a:extLst>
              <a:ext uri="{FF2B5EF4-FFF2-40B4-BE49-F238E27FC236}">
                <a16:creationId xmlns:a16="http://schemas.microsoft.com/office/drawing/2014/main" id="{0C1D62B5-049C-BE93-1BA9-46CB92AA31F4}"/>
              </a:ext>
            </a:extLst>
          </p:cNvPr>
          <p:cNvSpPr>
            <a:spLocks noChangeShapeType="1"/>
          </p:cNvSpPr>
          <p:nvPr/>
        </p:nvSpPr>
        <p:spPr bwMode="auto">
          <a:xfrm flipH="1">
            <a:off x="3613957" y="3618073"/>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a:extLst>
              <a:ext uri="{FF2B5EF4-FFF2-40B4-BE49-F238E27FC236}">
                <a16:creationId xmlns:a16="http://schemas.microsoft.com/office/drawing/2014/main" id="{D556A3A7-FAED-C359-D892-2189C41608EA}"/>
              </a:ext>
            </a:extLst>
          </p:cNvPr>
          <p:cNvSpPr txBox="1">
            <a:spLocks noChangeArrowheads="1"/>
          </p:cNvSpPr>
          <p:nvPr/>
        </p:nvSpPr>
        <p:spPr bwMode="auto">
          <a:xfrm>
            <a:off x="1505060" y="2174542"/>
            <a:ext cx="113524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+1  = 2 </a:t>
            </a:r>
          </a:p>
        </p:txBody>
      </p:sp>
      <p:sp>
        <p:nvSpPr>
          <p:cNvPr id="143" name="Text Box 29">
            <a:extLst>
              <a:ext uri="{FF2B5EF4-FFF2-40B4-BE49-F238E27FC236}">
                <a16:creationId xmlns:a16="http://schemas.microsoft.com/office/drawing/2014/main" id="{52485FCF-035A-B1B1-6EA2-EB71762CA627}"/>
              </a:ext>
            </a:extLst>
          </p:cNvPr>
          <p:cNvSpPr txBox="1">
            <a:spLocks noChangeArrowheads="1"/>
          </p:cNvSpPr>
          <p:nvPr/>
        </p:nvSpPr>
        <p:spPr bwMode="auto">
          <a:xfrm>
            <a:off x="1513075" y="2734052"/>
            <a:ext cx="1140056"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+2 = 4 </a:t>
            </a:r>
          </a:p>
        </p:txBody>
      </p:sp>
      <p:sp>
        <p:nvSpPr>
          <p:cNvPr id="144" name="Text Box 30">
            <a:extLst>
              <a:ext uri="{FF2B5EF4-FFF2-40B4-BE49-F238E27FC236}">
                <a16:creationId xmlns:a16="http://schemas.microsoft.com/office/drawing/2014/main" id="{3E557B52-42CF-22EA-FBB6-903C1EAA6283}"/>
              </a:ext>
            </a:extLst>
          </p:cNvPr>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a:extLst>
              <a:ext uri="{FF2B5EF4-FFF2-40B4-BE49-F238E27FC236}">
                <a16:creationId xmlns:a16="http://schemas.microsoft.com/office/drawing/2014/main" id="{ABCB7788-E325-EAFD-F577-6E74DE217FDF}"/>
              </a:ext>
            </a:extLst>
          </p:cNvPr>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a:extLst>
              <a:ext uri="{FF2B5EF4-FFF2-40B4-BE49-F238E27FC236}">
                <a16:creationId xmlns:a16="http://schemas.microsoft.com/office/drawing/2014/main" id="{83E10C4C-5365-A4E4-967F-6062B61113DC}"/>
              </a:ext>
            </a:extLst>
          </p:cNvPr>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a:extLst>
              <a:ext uri="{FF2B5EF4-FFF2-40B4-BE49-F238E27FC236}">
                <a16:creationId xmlns:a16="http://schemas.microsoft.com/office/drawing/2014/main" id="{29F71863-1B9C-94AB-2F6D-2953D72A8460}"/>
              </a:ext>
            </a:extLst>
          </p:cNvPr>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a:extLst>
              <a:ext uri="{FF2B5EF4-FFF2-40B4-BE49-F238E27FC236}">
                <a16:creationId xmlns:a16="http://schemas.microsoft.com/office/drawing/2014/main" id="{CB070331-E99D-1656-0E16-17AE50B6170C}"/>
              </a:ext>
            </a:extLst>
          </p:cNvPr>
          <p:cNvSpPr>
            <a:spLocks noChangeShapeType="1"/>
          </p:cNvSpPr>
          <p:nvPr/>
        </p:nvSpPr>
        <p:spPr bwMode="auto">
          <a:xfrm>
            <a:off x="3613957" y="339840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a:extLst>
              <a:ext uri="{FF2B5EF4-FFF2-40B4-BE49-F238E27FC236}">
                <a16:creationId xmlns:a16="http://schemas.microsoft.com/office/drawing/2014/main" id="{D527C7E2-6C98-7F4A-013E-01855CD28522}"/>
              </a:ext>
            </a:extLst>
          </p:cNvPr>
          <p:cNvSpPr txBox="1">
            <a:spLocks noChangeArrowheads="1"/>
          </p:cNvSpPr>
          <p:nvPr/>
        </p:nvSpPr>
        <p:spPr bwMode="auto">
          <a:xfrm>
            <a:off x="1500251" y="3796877"/>
            <a:ext cx="1149674"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+4 = 8 </a:t>
            </a:r>
          </a:p>
        </p:txBody>
      </p:sp>
      <p:sp>
        <p:nvSpPr>
          <p:cNvPr id="43" name="Text Box 40">
            <a:extLst>
              <a:ext uri="{FF2B5EF4-FFF2-40B4-BE49-F238E27FC236}">
                <a16:creationId xmlns:a16="http://schemas.microsoft.com/office/drawing/2014/main" id="{A6EEE48B-1A3C-2E60-C8A4-313A6D30F066}"/>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a:extLst>
              <a:ext uri="{FF2B5EF4-FFF2-40B4-BE49-F238E27FC236}">
                <a16:creationId xmlns:a16="http://schemas.microsoft.com/office/drawing/2014/main" id="{669348BA-EEDA-749F-50E4-41C5DBE04999}"/>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a:extLst>
              <a:ext uri="{FF2B5EF4-FFF2-40B4-BE49-F238E27FC236}">
                <a16:creationId xmlns:a16="http://schemas.microsoft.com/office/drawing/2014/main" id="{87230281-9339-F11A-0939-2DC1C4609952}"/>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16A58730-69ED-6D9E-0426-23A0654864F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algn="r"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2" name="标题 1">
            <a:extLst>
              <a:ext uri="{FF2B5EF4-FFF2-40B4-BE49-F238E27FC236}">
                <a16:creationId xmlns:a16="http://schemas.microsoft.com/office/drawing/2014/main" id="{14581D17-933F-B99B-D547-69354CF1CCE5}"/>
              </a:ext>
            </a:extLst>
          </p:cNvPr>
          <p:cNvSpPr>
            <a:spLocks noGrp="1"/>
          </p:cNvSpPr>
          <p:nvPr>
            <p:ph type="title"/>
          </p:nvPr>
        </p:nvSpPr>
        <p:spPr>
          <a:xfrm>
            <a:off x="2412000" y="104400"/>
            <a:ext cx="4320000" cy="369332"/>
          </a:xfrm>
        </p:spPr>
        <p:txBody>
          <a:bodyPr/>
          <a:lstStyle/>
          <a:p>
            <a:r>
              <a:rPr lang="zh-CN" altLang="en-US" dirty="0"/>
              <a:t>累计确认</a:t>
            </a:r>
          </a:p>
        </p:txBody>
      </p:sp>
      <p:sp>
        <p:nvSpPr>
          <p:cNvPr id="3" name="Text Box 28">
            <a:extLst>
              <a:ext uri="{FF2B5EF4-FFF2-40B4-BE49-F238E27FC236}">
                <a16:creationId xmlns:a16="http://schemas.microsoft.com/office/drawing/2014/main" id="{D3CB0171-5366-8748-C3A7-22A90881C380}"/>
              </a:ext>
            </a:extLst>
          </p:cNvPr>
          <p:cNvSpPr txBox="1">
            <a:spLocks noChangeArrowheads="1"/>
          </p:cNvSpPr>
          <p:nvPr/>
        </p:nvSpPr>
        <p:spPr bwMode="auto">
          <a:xfrm rot="360000">
            <a:off x="4126868" y="1658514"/>
            <a:ext cx="683200"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0</a:t>
            </a:r>
          </a:p>
        </p:txBody>
      </p:sp>
      <p:sp>
        <p:nvSpPr>
          <p:cNvPr id="4" name="Text Box 28">
            <a:extLst>
              <a:ext uri="{FF2B5EF4-FFF2-40B4-BE49-F238E27FC236}">
                <a16:creationId xmlns:a16="http://schemas.microsoft.com/office/drawing/2014/main" id="{4570AEF7-77C8-D8E1-FB90-F8E72C9DE58A}"/>
              </a:ext>
            </a:extLst>
          </p:cNvPr>
          <p:cNvSpPr txBox="1">
            <a:spLocks noChangeArrowheads="1"/>
          </p:cNvSpPr>
          <p:nvPr/>
        </p:nvSpPr>
        <p:spPr bwMode="auto">
          <a:xfrm rot="360000">
            <a:off x="4008246" y="2179408"/>
            <a:ext cx="920445"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1000</a:t>
            </a:r>
          </a:p>
        </p:txBody>
      </p:sp>
      <p:sp>
        <p:nvSpPr>
          <p:cNvPr id="5" name="Text Box 28">
            <a:extLst>
              <a:ext uri="{FF2B5EF4-FFF2-40B4-BE49-F238E27FC236}">
                <a16:creationId xmlns:a16="http://schemas.microsoft.com/office/drawing/2014/main" id="{0A58BBE8-94CE-5323-A5FB-95DD55B2AEFD}"/>
              </a:ext>
            </a:extLst>
          </p:cNvPr>
          <p:cNvSpPr txBox="1">
            <a:spLocks noChangeArrowheads="1"/>
          </p:cNvSpPr>
          <p:nvPr/>
        </p:nvSpPr>
        <p:spPr bwMode="auto">
          <a:xfrm rot="360000">
            <a:off x="3993819" y="2345456"/>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2000</a:t>
            </a:r>
          </a:p>
        </p:txBody>
      </p:sp>
      <p:sp>
        <p:nvSpPr>
          <p:cNvPr id="6" name="Text Box 28">
            <a:extLst>
              <a:ext uri="{FF2B5EF4-FFF2-40B4-BE49-F238E27FC236}">
                <a16:creationId xmlns:a16="http://schemas.microsoft.com/office/drawing/2014/main" id="{79785280-3414-0BF9-70F0-021773200D09}"/>
              </a:ext>
            </a:extLst>
          </p:cNvPr>
          <p:cNvSpPr txBox="1">
            <a:spLocks noChangeArrowheads="1"/>
          </p:cNvSpPr>
          <p:nvPr/>
        </p:nvSpPr>
        <p:spPr bwMode="auto">
          <a:xfrm rot="360000">
            <a:off x="3993819" y="2791155"/>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3000</a:t>
            </a:r>
          </a:p>
        </p:txBody>
      </p:sp>
      <p:sp>
        <p:nvSpPr>
          <p:cNvPr id="8" name="Text Box 28">
            <a:extLst>
              <a:ext uri="{FF2B5EF4-FFF2-40B4-BE49-F238E27FC236}">
                <a16:creationId xmlns:a16="http://schemas.microsoft.com/office/drawing/2014/main" id="{8109F46A-265C-69A5-3138-5FCAD3C92085}"/>
              </a:ext>
            </a:extLst>
          </p:cNvPr>
          <p:cNvSpPr txBox="1">
            <a:spLocks noChangeArrowheads="1"/>
          </p:cNvSpPr>
          <p:nvPr/>
        </p:nvSpPr>
        <p:spPr bwMode="auto">
          <a:xfrm rot="360000">
            <a:off x="3987407" y="2943555"/>
            <a:ext cx="962123"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4000</a:t>
            </a:r>
          </a:p>
        </p:txBody>
      </p:sp>
      <p:sp>
        <p:nvSpPr>
          <p:cNvPr id="9" name="Text Box 28">
            <a:extLst>
              <a:ext uri="{FF2B5EF4-FFF2-40B4-BE49-F238E27FC236}">
                <a16:creationId xmlns:a16="http://schemas.microsoft.com/office/drawing/2014/main" id="{E5B73BF9-BE0C-45C3-5B71-E6851A663F7C}"/>
              </a:ext>
            </a:extLst>
          </p:cNvPr>
          <p:cNvSpPr txBox="1">
            <a:spLocks noChangeArrowheads="1"/>
          </p:cNvSpPr>
          <p:nvPr/>
        </p:nvSpPr>
        <p:spPr bwMode="auto">
          <a:xfrm rot="360000">
            <a:off x="3993819" y="3123251"/>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5000</a:t>
            </a:r>
          </a:p>
        </p:txBody>
      </p:sp>
      <p:sp>
        <p:nvSpPr>
          <p:cNvPr id="10" name="Text Box 28">
            <a:extLst>
              <a:ext uri="{FF2B5EF4-FFF2-40B4-BE49-F238E27FC236}">
                <a16:creationId xmlns:a16="http://schemas.microsoft.com/office/drawing/2014/main" id="{225FEE63-6397-AEBA-C017-71573718600F}"/>
              </a:ext>
            </a:extLst>
          </p:cNvPr>
          <p:cNvSpPr txBox="1">
            <a:spLocks noChangeArrowheads="1"/>
          </p:cNvSpPr>
          <p:nvPr/>
        </p:nvSpPr>
        <p:spPr bwMode="auto">
          <a:xfrm rot="360000">
            <a:off x="3990613" y="3289402"/>
            <a:ext cx="955711"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6000</a:t>
            </a:r>
          </a:p>
        </p:txBody>
      </p:sp>
    </p:spTree>
    <p:extLst>
      <p:ext uri="{BB962C8B-B14F-4D97-AF65-F5344CB8AC3E}">
        <p14:creationId xmlns:p14="http://schemas.microsoft.com/office/powerpoint/2010/main" val="41058530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282641"/>
          </a:xfrm>
          <a:prstGeom prst="rect">
            <a:avLst/>
          </a:prstGeom>
          <a:noFill/>
          <a:ln w="9525">
            <a:noFill/>
            <a:miter lim="800000"/>
            <a:headEnd/>
            <a:tailEnd/>
          </a:ln>
          <a:effectLst/>
        </p:spPr>
        <p:txBody>
          <a:bodyPr wrap="square">
            <a:spAutoFit/>
          </a:bodyPr>
          <a:lstStyle>
            <a:defPPr>
              <a:defRPr lang="zh-CN"/>
            </a:defPPr>
            <a:lvl1pPr algn="ctr">
              <a:lnSpc>
                <a:spcPct val="110000"/>
              </a:lnSpc>
              <a:defRPr sz="1200">
                <a:latin typeface="Montserrat" panose="00000500000000000000" pitchFamily="2" charset="0"/>
                <a:ea typeface="微软雅黑 Light" panose="020B0502040204020203" pitchFamily="34" charset="-122"/>
              </a:defRPr>
            </a:lvl1pPr>
          </a:lstStyle>
          <a:p>
            <a:r>
              <a:rPr lang="zh-CN" altLang="en-US" dirty="0"/>
              <a:t>发送方每收到一个对新报文段的确认（重传的不算在内）就使 </a:t>
            </a:r>
            <a:r>
              <a:rPr lang="en-US" altLang="zh-CN" dirty="0"/>
              <a:t>cwnd </a:t>
            </a:r>
            <a:r>
              <a:rPr lang="zh-CN" altLang="en-US" dirty="0"/>
              <a:t>加 </a:t>
            </a:r>
            <a:r>
              <a:rPr lang="en-US" altLang="zh-CN" dirty="0"/>
              <a:t>1</a:t>
            </a:r>
            <a:endParaRPr lang="zh-CN" altLang="en-US" dirty="0"/>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482554"/>
            <a:ext cx="8172000" cy="4267246"/>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a:t>cwnd </a:t>
            </a:r>
            <a:r>
              <a:rPr lang="zh-CN" altLang="en-US" dirty="0"/>
              <a:t>所允许发送的报文段都连续发送出去，并收到了对已发送的最后一个字节的确认。</a:t>
            </a:r>
          </a:p>
          <a:p>
            <a:r>
              <a:rPr lang="zh-CN" altLang="en-US" dirty="0"/>
              <a:t>例如：拥塞窗口 </a:t>
            </a:r>
            <a:r>
              <a:rPr lang="en-US" altLang="zh-CN" dirty="0"/>
              <a:t>cwnd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2412000" y="104400"/>
            <a:ext cx="4320000" cy="369332"/>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482554"/>
            <a:ext cx="8172000" cy="4267246"/>
          </a:xfrm>
        </p:spPr>
        <p:txBody>
          <a:bodyPr/>
          <a:lstStyle/>
          <a:p>
            <a:r>
              <a:rPr lang="zh-CN" altLang="en-US" dirty="0"/>
              <a:t>防止拥塞窗口 </a:t>
            </a:r>
            <a:r>
              <a:rPr lang="en-US" altLang="zh-CN" dirty="0"/>
              <a:t>cwnd </a:t>
            </a:r>
            <a:r>
              <a:rPr lang="zh-CN" altLang="en-US" dirty="0"/>
              <a:t>增长过大引起网络拥塞。</a:t>
            </a:r>
            <a:endParaRPr lang="en-US" altLang="zh-CN" dirty="0"/>
          </a:p>
          <a:p>
            <a:r>
              <a:rPr lang="zh-CN" altLang="en-US" dirty="0"/>
              <a:t>用法：</a:t>
            </a:r>
          </a:p>
          <a:p>
            <a:r>
              <a:rPr lang="zh-CN" altLang="en-US" dirty="0"/>
              <a:t>当 </a:t>
            </a:r>
            <a:r>
              <a:rPr lang="en-US" altLang="zh-CN" dirty="0"/>
              <a:t>cwnd &lt; ssthresh </a:t>
            </a:r>
            <a:r>
              <a:rPr lang="zh-CN" altLang="en-US" dirty="0"/>
              <a:t>时，使用慢开始算法。</a:t>
            </a:r>
          </a:p>
          <a:p>
            <a:r>
              <a:rPr lang="zh-CN" altLang="en-US" dirty="0"/>
              <a:t>当 </a:t>
            </a:r>
            <a:r>
              <a:rPr lang="en-US" altLang="zh-CN" dirty="0"/>
              <a:t>cwnd &gt; ssthresh </a:t>
            </a:r>
            <a:r>
              <a:rPr lang="zh-CN" altLang="en-US" dirty="0"/>
              <a:t>时，停止使用慢开始算法，改用拥塞避免算法。</a:t>
            </a:r>
          </a:p>
          <a:p>
            <a:r>
              <a:rPr lang="zh-CN" altLang="en-US" dirty="0"/>
              <a:t>当 </a:t>
            </a:r>
            <a:r>
              <a:rPr lang="en-US" altLang="zh-CN" dirty="0"/>
              <a:t>cwnd = ssthresh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2412000" y="104400"/>
            <a:ext cx="4320000" cy="369332"/>
          </a:xfrm>
        </p:spPr>
        <p:txBody>
          <a:bodyPr/>
          <a:lstStyle/>
          <a:p>
            <a:r>
              <a:rPr lang="zh-CN" altLang="en-US" dirty="0"/>
              <a:t>慢开始门限 </a:t>
            </a:r>
            <a:r>
              <a:rPr lang="en-US" altLang="zh-CN" dirty="0"/>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482554"/>
            <a:ext cx="8172000" cy="4267246"/>
          </a:xfrm>
        </p:spPr>
        <p:txBody>
          <a:bodyPr/>
          <a:lstStyle/>
          <a:p>
            <a:r>
              <a:rPr lang="zh-CN" altLang="en-US" dirty="0"/>
              <a:t>目的：让拥塞窗口 </a:t>
            </a:r>
            <a:r>
              <a:rPr lang="en-US" altLang="zh-CN" dirty="0"/>
              <a:t>cwnd </a:t>
            </a:r>
            <a:r>
              <a:rPr lang="zh-CN" altLang="en-US" dirty="0"/>
              <a:t>缓慢地增大，避免出现拥塞。</a:t>
            </a:r>
            <a:endParaRPr lang="en-US" altLang="zh-CN" dirty="0"/>
          </a:p>
          <a:p>
            <a:r>
              <a:rPr lang="zh-CN" altLang="en-US" dirty="0"/>
              <a:t>拥塞窗口 </a:t>
            </a:r>
            <a:r>
              <a:rPr lang="en-US" altLang="zh-CN" dirty="0"/>
              <a:t>cwnd </a:t>
            </a:r>
            <a:r>
              <a:rPr lang="zh-CN" altLang="en-US" dirty="0"/>
              <a:t>增大：每经过一个往返时间 </a:t>
            </a:r>
            <a:r>
              <a:rPr lang="en-US" altLang="zh-CN" dirty="0"/>
              <a:t>RTT</a:t>
            </a:r>
            <a:r>
              <a:rPr lang="zh-CN" altLang="en-US" dirty="0"/>
              <a:t>（不管在此期间收到了多少确认），发送方的拥塞窗口 </a:t>
            </a:r>
            <a:r>
              <a:rPr lang="en-US" altLang="zh-CN" dirty="0"/>
              <a:t>cwnd = cwnd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a:t>cwnd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2412000" y="104400"/>
            <a:ext cx="4320000" cy="369332"/>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B8822-59FF-7EA9-A025-E0AAD870AE4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208726B-E661-DA7D-E077-66C6032A3113}"/>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CA32905A-EF6F-5539-11EE-4241FAE73A3B}"/>
              </a:ext>
            </a:extLst>
          </p:cNvPr>
          <p:cNvSpPr>
            <a:spLocks noChangeArrowheads="1"/>
          </p:cNvSpPr>
          <p:nvPr/>
        </p:nvSpPr>
        <p:spPr bwMode="auto">
          <a:xfrm>
            <a:off x="3613957" y="1788558"/>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5182A012-8C9D-FD13-43F3-4A73EF8405F4}"/>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0797F06A-F229-E086-5A6F-C7CEBE424000}"/>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010A4324-2920-0CA4-6B1A-200D22F3666C}"/>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5985DDAD-9F5C-AA3F-96F3-FBCD73683736}"/>
              </a:ext>
            </a:extLst>
          </p:cNvPr>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A92EE5D5-9B6F-736E-1589-5773EFECB173}"/>
              </a:ext>
            </a:extLst>
          </p:cNvPr>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4608BAC8-B19A-AC6B-DF90-490888F5F71F}"/>
              </a:ext>
            </a:extLst>
          </p:cNvPr>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23167540-E83C-A191-D2C9-A684C0A5A7FA}"/>
              </a:ext>
            </a:extLst>
          </p:cNvPr>
          <p:cNvSpPr txBox="1">
            <a:spLocks noChangeArrowheads="1"/>
          </p:cNvSpPr>
          <p:nvPr/>
        </p:nvSpPr>
        <p:spPr bwMode="auto">
          <a:xfrm>
            <a:off x="5237255" y="1985705"/>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0EF70977-C25F-7014-2EFC-CA66054A3F8E}"/>
              </a:ext>
            </a:extLst>
          </p:cNvPr>
          <p:cNvSpPr>
            <a:spLocks noChangeShapeType="1"/>
          </p:cNvSpPr>
          <p:nvPr/>
        </p:nvSpPr>
        <p:spPr bwMode="auto">
          <a:xfrm>
            <a:off x="3613957" y="372554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1FA0FD80-3624-0533-F71C-175CF6D839C4}"/>
              </a:ext>
            </a:extLst>
          </p:cNvPr>
          <p:cNvSpPr>
            <a:spLocks noChangeShapeType="1"/>
          </p:cNvSpPr>
          <p:nvPr/>
        </p:nvSpPr>
        <p:spPr bwMode="auto">
          <a:xfrm flipH="1">
            <a:off x="3613957" y="3122989"/>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11E4B9C1-B8F0-1BFA-1C94-C2A7CA3466C1}"/>
              </a:ext>
            </a:extLst>
          </p:cNvPr>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4EFD44DF-431B-F924-41F0-3515197267AA}"/>
              </a:ext>
            </a:extLst>
          </p:cNvPr>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2CA66BE7-9A77-6D5D-99EF-0E68BB0562FD}"/>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E767E43E-C560-A3F9-E97B-E4F3EBC78145}"/>
              </a:ext>
            </a:extLst>
          </p:cNvPr>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39B4A092-5799-5DE7-0DC1-5E8358D7ECF8}"/>
              </a:ext>
            </a:extLst>
          </p:cNvPr>
          <p:cNvSpPr txBox="1">
            <a:spLocks noChangeArrowheads="1"/>
          </p:cNvSpPr>
          <p:nvPr/>
        </p:nvSpPr>
        <p:spPr bwMode="auto">
          <a:xfrm>
            <a:off x="5246780" y="2636838"/>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4592D73D-0E17-AFDF-AA65-533C8F4C0EE7}"/>
              </a:ext>
            </a:extLst>
          </p:cNvPr>
          <p:cNvSpPr>
            <a:spLocks noChangeShapeType="1"/>
          </p:cNvSpPr>
          <p:nvPr/>
        </p:nvSpPr>
        <p:spPr bwMode="auto">
          <a:xfrm flipH="1">
            <a:off x="3613957" y="2519708"/>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594ABCB-A492-45BD-DF4B-263E6012B47F}"/>
              </a:ext>
            </a:extLst>
          </p:cNvPr>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EF635F2-532C-5ECE-D727-C20CE09C11DF}"/>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6A8DD5FF-A836-40B3-E8F6-D4754018F8EF}"/>
              </a:ext>
            </a:extLst>
          </p:cNvPr>
          <p:cNvSpPr txBox="1">
            <a:spLocks noChangeArrowheads="1"/>
          </p:cNvSpPr>
          <p:nvPr/>
        </p:nvSpPr>
        <p:spPr bwMode="auto">
          <a:xfrm>
            <a:off x="5237255" y="3405693"/>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D643796B-E745-7EA8-C566-A7D0AEBD8DA2}"/>
              </a:ext>
            </a:extLst>
          </p:cNvPr>
          <p:cNvSpPr>
            <a:spLocks noChangeShapeType="1"/>
          </p:cNvSpPr>
          <p:nvPr/>
        </p:nvSpPr>
        <p:spPr bwMode="auto">
          <a:xfrm flipH="1">
            <a:off x="3613957" y="3287744"/>
            <a:ext cx="1709023" cy="16557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D0B6D913-9A68-2293-88B4-0210B4195DC6}"/>
              </a:ext>
            </a:extLst>
          </p:cNvPr>
          <p:cNvSpPr>
            <a:spLocks noChangeShapeType="1"/>
          </p:cNvSpPr>
          <p:nvPr/>
        </p:nvSpPr>
        <p:spPr bwMode="auto">
          <a:xfrm flipH="1">
            <a:off x="3613957" y="3453318"/>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8A201BA8-5680-DA1A-0B4B-49D7721236D1}"/>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46425CD1-2CC9-096C-2CFD-308A58E58438}"/>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3B3093A6-E21D-7EAB-CAC5-E2C5C5EDD9A5}"/>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9B6DE52E-9104-0B0B-DB11-FDBF10E266DE}"/>
              </a:ext>
            </a:extLst>
          </p:cNvPr>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236882B3-4A8D-8BDC-5E4A-51AC7197212C}"/>
              </a:ext>
            </a:extLst>
          </p:cNvPr>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6FADE314-A341-045F-C2AF-F8643154D811}"/>
              </a:ext>
            </a:extLst>
          </p:cNvPr>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0CF48250-DBD2-9578-5585-ABE45A196C59}"/>
              </a:ext>
            </a:extLst>
          </p:cNvPr>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52CEB261-47DA-C88E-A088-758AE7402930}"/>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9" name="Text Box 28">
            <a:extLst>
              <a:ext uri="{FF2B5EF4-FFF2-40B4-BE49-F238E27FC236}">
                <a16:creationId xmlns:a16="http://schemas.microsoft.com/office/drawing/2014/main" id="{21242E2C-7970-A9D2-F46F-D5012B2F8252}"/>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58D0C520-8C40-012D-6382-1EAE68B5731C}"/>
              </a:ext>
            </a:extLst>
          </p:cNvPr>
          <p:cNvSpPr txBox="1">
            <a:spLocks noChangeArrowheads="1"/>
          </p:cNvSpPr>
          <p:nvPr/>
        </p:nvSpPr>
        <p:spPr bwMode="auto">
          <a:xfrm>
            <a:off x="1616697" y="642816"/>
            <a:ext cx="5910606" cy="282641"/>
          </a:xfrm>
          <a:prstGeom prst="rect">
            <a:avLst/>
          </a:prstGeom>
          <a:noFill/>
          <a:ln w="9525">
            <a:noFill/>
            <a:miter lim="800000"/>
            <a:headEnd/>
            <a:tailEnd/>
          </a:ln>
          <a:effectLst/>
        </p:spPr>
        <p:txBody>
          <a:bodyPr wrap="square">
            <a:spAutoFit/>
          </a:bodyPr>
          <a:lstStyle>
            <a:defPPr>
              <a:defRPr lang="zh-CN"/>
            </a:defPPr>
            <a:lvl1pPr algn="ctr">
              <a:lnSpc>
                <a:spcPct val="110000"/>
              </a:lnSpc>
              <a:defRPr sz="1200">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endParaRPr lang="zh-CN" altLang="en-US" dirty="0"/>
          </a:p>
        </p:txBody>
      </p:sp>
      <p:sp>
        <p:nvSpPr>
          <p:cNvPr id="2" name="标题 1">
            <a:extLst>
              <a:ext uri="{FF2B5EF4-FFF2-40B4-BE49-F238E27FC236}">
                <a16:creationId xmlns:a16="http://schemas.microsoft.com/office/drawing/2014/main" id="{B8E266F0-19A3-5C64-6BA2-AF1A75C200B7}"/>
              </a:ext>
            </a:extLst>
          </p:cNvPr>
          <p:cNvSpPr>
            <a:spLocks noGrp="1"/>
          </p:cNvSpPr>
          <p:nvPr>
            <p:ph type="title"/>
          </p:nvPr>
        </p:nvSpPr>
        <p:spPr>
          <a:xfrm>
            <a:off x="2412000" y="104400"/>
            <a:ext cx="4320000" cy="369332"/>
          </a:xfrm>
        </p:spPr>
        <p:txBody>
          <a:bodyPr/>
          <a:lstStyle/>
          <a:p>
            <a:r>
              <a:rPr lang="zh-CN" altLang="en-US" dirty="0"/>
              <a:t>单独确认</a:t>
            </a:r>
          </a:p>
        </p:txBody>
      </p:sp>
      <p:sp>
        <p:nvSpPr>
          <p:cNvPr id="3" name="Text Box 40">
            <a:extLst>
              <a:ext uri="{FF2B5EF4-FFF2-40B4-BE49-F238E27FC236}">
                <a16:creationId xmlns:a16="http://schemas.microsoft.com/office/drawing/2014/main" id="{D856B3C6-5E2B-8F1B-10A9-E1D7E161AF11}"/>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6" name="Text Box 41">
            <a:extLst>
              <a:ext uri="{FF2B5EF4-FFF2-40B4-BE49-F238E27FC236}">
                <a16:creationId xmlns:a16="http://schemas.microsoft.com/office/drawing/2014/main" id="{8E401F7B-F08D-F304-3114-8155E9C259DA}"/>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4" name="Text Box 42">
            <a:extLst>
              <a:ext uri="{FF2B5EF4-FFF2-40B4-BE49-F238E27FC236}">
                <a16:creationId xmlns:a16="http://schemas.microsoft.com/office/drawing/2014/main" id="{9C4B4B82-57E2-E530-A7DF-32C6FD16F42C}"/>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Tree>
    <p:extLst>
      <p:ext uri="{BB962C8B-B14F-4D97-AF65-F5344CB8AC3E}">
        <p14:creationId xmlns:p14="http://schemas.microsoft.com/office/powerpoint/2010/main" val="34113038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4"/>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26"/>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6" grpId="0"/>
      <p:bldP spid="34"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482554"/>
            <a:ext cx="8172000" cy="4267246"/>
          </a:xfrm>
        </p:spPr>
        <p:txBody>
          <a:bodyPr/>
          <a:lstStyle/>
          <a:p>
            <a:r>
              <a:rPr lang="zh-CN" altLang="en-US" dirty="0"/>
              <a:t>无论在慢开始阶段还是在拥塞避免阶段，只要发送方判断网络出现拥塞（重传定时器超时）：</a:t>
            </a:r>
          </a:p>
          <a:p>
            <a:pPr lvl="1"/>
            <a:r>
              <a:rPr lang="en-US" altLang="zh-CN" dirty="0"/>
              <a:t>ssthresh = max (cwnd/2</a:t>
            </a:r>
            <a:r>
              <a:rPr lang="zh-CN" altLang="en-US" dirty="0"/>
              <a:t>，</a:t>
            </a:r>
            <a:r>
              <a:rPr lang="en-US" altLang="zh-CN" dirty="0"/>
              <a:t>2)</a:t>
            </a:r>
          </a:p>
          <a:p>
            <a:pPr lvl="1"/>
            <a:r>
              <a:rPr lang="en-US" altLang="zh-CN" dirty="0"/>
              <a:t>cwnd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2412000" y="104400"/>
            <a:ext cx="4320000" cy="369332"/>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a:solidFill>
                  <a:srgbClr val="0000FF"/>
                </a:solidFill>
                <a:latin typeface="微软雅黑" pitchFamily="34" charset="-122"/>
                <a:ea typeface="微软雅黑" pitchFamily="34" charset="-122"/>
              </a:rPr>
              <a:t>ssthresh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a:solidFill>
                  <a:srgbClr val="0000FF"/>
                </a:solidFill>
                <a:latin typeface="微软雅黑" pitchFamily="34" charset="-122"/>
                <a:ea typeface="微软雅黑" pitchFamily="34" charset="-122"/>
              </a:rPr>
              <a:t>cwnd=1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a:solidFill>
                  <a:srgbClr val="0000FF"/>
                </a:solidFill>
                <a:latin typeface="微软雅黑" pitchFamily="34" charset="-122"/>
                <a:ea typeface="微软雅黑" pitchFamily="34" charset="-122"/>
              </a:rPr>
              <a:t>ssthresh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a:latin typeface="微软雅黑" pitchFamily="34" charset="-122"/>
                <a:ea typeface="微软雅黑" pitchFamily="34" charset="-122"/>
              </a:rPr>
              <a:t>ssthresh = cwnd / 2 = 12</a:t>
            </a:r>
            <a:r>
              <a:rPr lang="zh-CN" altLang="en-US" sz="1600" b="1" dirty="0">
                <a:latin typeface="微软雅黑" pitchFamily="34" charset="-122"/>
                <a:ea typeface="微软雅黑" pitchFamily="34" charset="-122"/>
              </a:rPr>
              <a:t>，同时设置拥塞窗口 </a:t>
            </a:r>
            <a:r>
              <a:rPr lang="en-US" altLang="zh-CN" sz="1600" b="1" dirty="0">
                <a:latin typeface="微软雅黑" pitchFamily="34" charset="-122"/>
                <a:ea typeface="微软雅黑" pitchFamily="34" charset="-122"/>
              </a:rPr>
              <a:t>cwnd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a:latin typeface="微软雅黑" pitchFamily="34" charset="-122"/>
                <a:ea typeface="微软雅黑" pitchFamily="34" charset="-122"/>
              </a:rPr>
              <a:t>ssthresh = cwnd / 2 = 12</a:t>
            </a:r>
            <a:r>
              <a:rPr lang="zh-CN" altLang="en-US" sz="1600" b="1" dirty="0">
                <a:latin typeface="微软雅黑" pitchFamily="34" charset="-122"/>
                <a:ea typeface="微软雅黑" pitchFamily="34" charset="-122"/>
              </a:rPr>
              <a:t>，同时设置拥塞窗口 </a:t>
            </a:r>
            <a:r>
              <a:rPr lang="en-US" altLang="zh-CN" sz="1600" b="1" dirty="0">
                <a:latin typeface="微软雅黑" pitchFamily="34" charset="-122"/>
                <a:ea typeface="微软雅黑" pitchFamily="34" charset="-122"/>
              </a:rPr>
              <a:t>cwnd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ssthresh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482554"/>
            <a:ext cx="8172000" cy="4267246"/>
          </a:xfrm>
          <a:noFill/>
          <a:ln w="9525">
            <a:noFill/>
            <a:miter lim="800000"/>
            <a:headEnd/>
            <a:tailEnd/>
          </a:ln>
          <a:effectLst/>
        </p:spPr>
        <p:txBody>
          <a:bodyPr wrap="square">
            <a:spAutoFit/>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2412000" y="104400"/>
            <a:ext cx="4320000" cy="369332"/>
          </a:xfrm>
        </p:spPr>
        <p:txBody>
          <a:bodyPr/>
          <a:lstStyle/>
          <a:p>
            <a:r>
              <a:rPr lang="zh-CN" altLang="en-US" dirty="0"/>
              <a:t>快重传</a:t>
            </a:r>
            <a:r>
              <a:rPr lang="en-US" altLang="zh-CN" dirty="0"/>
              <a:t> Fast Retransmission</a:t>
            </a:r>
            <a:endParaRPr lang="zh-CN" altLang="en-US" dirty="0"/>
          </a:p>
        </p:txBody>
      </p:sp>
      <p:sp>
        <p:nvSpPr>
          <p:cNvPr id="49" name="矩形 48"/>
          <p:cNvSpPr/>
          <p:nvPr/>
        </p:nvSpPr>
        <p:spPr>
          <a:xfrm>
            <a:off x="1272621" y="3467999"/>
            <a:ext cx="6297103" cy="263012"/>
          </a:xfrm>
          <a:prstGeom prst="rect">
            <a:avLst/>
          </a:prstGeom>
          <a:noFill/>
          <a:ln w="9525">
            <a:noFill/>
            <a:miter lim="800000"/>
            <a:headEnd/>
            <a:tailEnd/>
          </a:ln>
          <a:effectLst/>
        </p:spPr>
        <p:txBody>
          <a:bodyPr vert="horz" wrap="square" lIns="0" tIns="36000" rIns="0" bIns="36000" rtlCol="0">
            <a:spAutoFit/>
          </a:bodyPr>
          <a:lstStyle/>
          <a:p>
            <a:pPr algn="ctr">
              <a:lnSpc>
                <a:spcPct val="110000"/>
              </a:lnSpc>
              <a:spcAft>
                <a:spcPts val="600"/>
              </a:spcAft>
            </a:pPr>
            <a:r>
              <a:rPr lang="zh-CN" altLang="en-US" sz="1200" dirty="0">
                <a:latin typeface="Montserrat" panose="00000500000000000000" pitchFamily="2" charset="0"/>
                <a:ea typeface="微软雅黑 Light" panose="020B0502040204020203" pitchFamily="34" charset="-122"/>
              </a:rPr>
              <a:t>快重传并非取消重传计时器，而是在某些情况下可以更早地（更快地）重传丢失的报文段</a:t>
            </a:r>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76213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88000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88000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2079003"/>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7110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28575">
            <a:solidFill>
              <a:srgbClr val="FFC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30296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394497"/>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41911" y="2804966"/>
            <a:ext cx="2536172" cy="830998"/>
            <a:chOff x="91" y="2556"/>
            <a:chExt cx="2323" cy="813"/>
          </a:xfrm>
        </p:grpSpPr>
        <p:sp>
          <p:nvSpPr>
            <p:cNvPr id="114" name="Line 38"/>
            <p:cNvSpPr>
              <a:spLocks noChangeShapeType="1"/>
            </p:cNvSpPr>
            <p:nvPr/>
          </p:nvSpPr>
          <p:spPr bwMode="auto">
            <a:xfrm>
              <a:off x="1919" y="3270"/>
              <a:ext cx="495"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4061696"/>
            <a:ext cx="528675" cy="7666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solidFill>
                <a:srgbClr val="000099"/>
              </a:solidFill>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4013477"/>
            <a:ext cx="78098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2412000" y="104400"/>
            <a:ext cx="4320000" cy="369332"/>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48432-B80A-AB26-46CB-B2D98516541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290B3FC4-F1F9-92E2-A7D7-5E4E021FFACE}"/>
              </a:ext>
            </a:extLst>
          </p:cNvPr>
          <p:cNvSpPr/>
          <p:nvPr/>
        </p:nvSpPr>
        <p:spPr>
          <a:xfrm>
            <a:off x="0" y="0"/>
            <a:ext cx="9143999"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5" name="Text Box 140">
            <a:extLst>
              <a:ext uri="{FF2B5EF4-FFF2-40B4-BE49-F238E27FC236}">
                <a16:creationId xmlns:a16="http://schemas.microsoft.com/office/drawing/2014/main" id="{CF3A2C34-7DE5-4A23-CBA2-8BD8EE7ED94E}"/>
              </a:ext>
            </a:extLst>
          </p:cNvPr>
          <p:cNvSpPr txBox="1">
            <a:spLocks noChangeArrowheads="1"/>
          </p:cNvSpPr>
          <p:nvPr/>
        </p:nvSpPr>
        <p:spPr bwMode="auto">
          <a:xfrm>
            <a:off x="4323610" y="1270248"/>
            <a:ext cx="2985875" cy="8997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超时 </a:t>
            </a:r>
            <a:r>
              <a:rPr lang="en-US" altLang="zh-CN" sz="1200" kern="0" dirty="0">
                <a:latin typeface="Montserrat" panose="00000500000000000000" pitchFamily="2" charset="0"/>
                <a:ea typeface="微软雅黑 Light" panose="020B0502040204020203" pitchFamily="34" charset="-122"/>
              </a:rPr>
              <a:t>- </a:t>
            </a:r>
            <a:r>
              <a:rPr lang="zh-CN" altLang="en-US" sz="1200" kern="0" dirty="0">
                <a:latin typeface="Montserrat" panose="00000500000000000000" pitchFamily="2" charset="0"/>
                <a:ea typeface="微软雅黑 Light" panose="020B0502040204020203" pitchFamily="34" charset="-122"/>
              </a:rPr>
              <a:t>网络发生拥塞</a:t>
            </a:r>
            <a:endParaRPr lang="en-US" altLang="zh-CN" sz="1200" kern="0" dirty="0">
              <a:latin typeface="Montserrat" panose="00000500000000000000" pitchFamily="2" charset="0"/>
              <a:ea typeface="微软雅黑 Light" panose="020B0502040204020203" pitchFamily="34" charset="-122"/>
            </a:endParaRP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ssthresh = 24/2 = 12</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cwnd = 1</a:t>
            </a:r>
          </a:p>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进入慢开始</a:t>
            </a:r>
            <a:endParaRPr lang="en-US" altLang="zh-CN" sz="1200" kern="0" dirty="0">
              <a:latin typeface="Montserrat" panose="00000500000000000000" pitchFamily="2" charset="0"/>
              <a:ea typeface="微软雅黑 Light" panose="020B0502040204020203" pitchFamily="34" charset="-122"/>
            </a:endParaRPr>
          </a:p>
        </p:txBody>
      </p:sp>
      <p:sp>
        <p:nvSpPr>
          <p:cNvPr id="156" name="Line 2">
            <a:extLst>
              <a:ext uri="{FF2B5EF4-FFF2-40B4-BE49-F238E27FC236}">
                <a16:creationId xmlns:a16="http://schemas.microsoft.com/office/drawing/2014/main" id="{CCA61C9A-E0F8-8C12-7B1B-B10FDEBB8B76}"/>
              </a:ext>
            </a:extLst>
          </p:cNvPr>
          <p:cNvSpPr>
            <a:spLocks noChangeShapeType="1"/>
          </p:cNvSpPr>
          <p:nvPr/>
        </p:nvSpPr>
        <p:spPr bwMode="auto">
          <a:xfrm flipV="1">
            <a:off x="2292576" y="3905939"/>
            <a:ext cx="4388353" cy="3483"/>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a:extLst>
              <a:ext uri="{FF2B5EF4-FFF2-40B4-BE49-F238E27FC236}">
                <a16:creationId xmlns:a16="http://schemas.microsoft.com/office/drawing/2014/main" id="{D22CC07E-79C0-751D-83B7-00BA6854B782}"/>
              </a:ext>
            </a:extLst>
          </p:cNvPr>
          <p:cNvSpPr>
            <a:spLocks noChangeShapeType="1"/>
          </p:cNvSpPr>
          <p:nvPr/>
        </p:nvSpPr>
        <p:spPr bwMode="auto">
          <a:xfrm>
            <a:off x="2291454" y="2093566"/>
            <a:ext cx="1122" cy="1815856"/>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a:extLst>
              <a:ext uri="{FF2B5EF4-FFF2-40B4-BE49-F238E27FC236}">
                <a16:creationId xmlns:a16="http://schemas.microsoft.com/office/drawing/2014/main" id="{241C16A6-FAFA-F2E6-6FF5-812F51B46972}"/>
              </a:ext>
            </a:extLst>
          </p:cNvPr>
          <p:cNvSpPr>
            <a:spLocks noChangeShapeType="1"/>
          </p:cNvSpPr>
          <p:nvPr/>
        </p:nvSpPr>
        <p:spPr bwMode="auto">
          <a:xfrm>
            <a:off x="2454069" y="3853692"/>
            <a:ext cx="0" cy="5573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a:extLst>
              <a:ext uri="{FF2B5EF4-FFF2-40B4-BE49-F238E27FC236}">
                <a16:creationId xmlns:a16="http://schemas.microsoft.com/office/drawing/2014/main" id="{89580A75-6877-809A-B003-79E95F06985A}"/>
              </a:ext>
            </a:extLst>
          </p:cNvPr>
          <p:cNvSpPr>
            <a:spLocks noChangeShapeType="1"/>
          </p:cNvSpPr>
          <p:nvPr/>
        </p:nvSpPr>
        <p:spPr bwMode="auto">
          <a:xfrm>
            <a:off x="2615562"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a:extLst>
              <a:ext uri="{FF2B5EF4-FFF2-40B4-BE49-F238E27FC236}">
                <a16:creationId xmlns:a16="http://schemas.microsoft.com/office/drawing/2014/main" id="{DCDD41C2-A820-173A-CE8C-1B7B7C4B509C}"/>
              </a:ext>
            </a:extLst>
          </p:cNvPr>
          <p:cNvSpPr>
            <a:spLocks noChangeShapeType="1"/>
          </p:cNvSpPr>
          <p:nvPr/>
        </p:nvSpPr>
        <p:spPr bwMode="auto">
          <a:xfrm>
            <a:off x="2777055"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a:extLst>
              <a:ext uri="{FF2B5EF4-FFF2-40B4-BE49-F238E27FC236}">
                <a16:creationId xmlns:a16="http://schemas.microsoft.com/office/drawing/2014/main" id="{0412A325-D25D-BF7D-0555-5BFC8D282116}"/>
              </a:ext>
            </a:extLst>
          </p:cNvPr>
          <p:cNvSpPr>
            <a:spLocks noChangeShapeType="1"/>
          </p:cNvSpPr>
          <p:nvPr/>
        </p:nvSpPr>
        <p:spPr bwMode="auto">
          <a:xfrm>
            <a:off x="293854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a:extLst>
              <a:ext uri="{FF2B5EF4-FFF2-40B4-BE49-F238E27FC236}">
                <a16:creationId xmlns:a16="http://schemas.microsoft.com/office/drawing/2014/main" id="{9A282DFF-16A1-6CFB-0692-D4ECB7AA2954}"/>
              </a:ext>
            </a:extLst>
          </p:cNvPr>
          <p:cNvSpPr>
            <a:spLocks noChangeShapeType="1"/>
          </p:cNvSpPr>
          <p:nvPr/>
        </p:nvSpPr>
        <p:spPr bwMode="auto">
          <a:xfrm>
            <a:off x="3100042"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a:extLst>
              <a:ext uri="{FF2B5EF4-FFF2-40B4-BE49-F238E27FC236}">
                <a16:creationId xmlns:a16="http://schemas.microsoft.com/office/drawing/2014/main" id="{2358CB44-784F-0E6B-C314-58FE5472DE56}"/>
              </a:ext>
            </a:extLst>
          </p:cNvPr>
          <p:cNvSpPr>
            <a:spLocks noChangeShapeType="1"/>
          </p:cNvSpPr>
          <p:nvPr/>
        </p:nvSpPr>
        <p:spPr bwMode="auto">
          <a:xfrm>
            <a:off x="3261535"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a:extLst>
              <a:ext uri="{FF2B5EF4-FFF2-40B4-BE49-F238E27FC236}">
                <a16:creationId xmlns:a16="http://schemas.microsoft.com/office/drawing/2014/main" id="{98B8D21B-E103-FBE6-01A0-9DA3455EF21F}"/>
              </a:ext>
            </a:extLst>
          </p:cNvPr>
          <p:cNvSpPr>
            <a:spLocks noChangeShapeType="1"/>
          </p:cNvSpPr>
          <p:nvPr/>
        </p:nvSpPr>
        <p:spPr bwMode="auto">
          <a:xfrm>
            <a:off x="342302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a:extLst>
              <a:ext uri="{FF2B5EF4-FFF2-40B4-BE49-F238E27FC236}">
                <a16:creationId xmlns:a16="http://schemas.microsoft.com/office/drawing/2014/main" id="{BC61E857-238E-361A-4119-B5F07BDF94D3}"/>
              </a:ext>
            </a:extLst>
          </p:cNvPr>
          <p:cNvSpPr>
            <a:spLocks noChangeShapeType="1"/>
          </p:cNvSpPr>
          <p:nvPr/>
        </p:nvSpPr>
        <p:spPr bwMode="auto">
          <a:xfrm>
            <a:off x="3584521"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a:extLst>
              <a:ext uri="{FF2B5EF4-FFF2-40B4-BE49-F238E27FC236}">
                <a16:creationId xmlns:a16="http://schemas.microsoft.com/office/drawing/2014/main" id="{FABAC1CA-A3F7-DC3C-9C9E-F9E1A4872C10}"/>
              </a:ext>
            </a:extLst>
          </p:cNvPr>
          <p:cNvSpPr>
            <a:spLocks noChangeShapeType="1"/>
          </p:cNvSpPr>
          <p:nvPr/>
        </p:nvSpPr>
        <p:spPr bwMode="auto">
          <a:xfrm>
            <a:off x="3746014"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a:extLst>
              <a:ext uri="{FF2B5EF4-FFF2-40B4-BE49-F238E27FC236}">
                <a16:creationId xmlns:a16="http://schemas.microsoft.com/office/drawing/2014/main" id="{E861CCC8-8100-7387-13DC-E7F279170497}"/>
              </a:ext>
            </a:extLst>
          </p:cNvPr>
          <p:cNvSpPr>
            <a:spLocks noChangeShapeType="1"/>
          </p:cNvSpPr>
          <p:nvPr/>
        </p:nvSpPr>
        <p:spPr bwMode="auto">
          <a:xfrm>
            <a:off x="390750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a:extLst>
              <a:ext uri="{FF2B5EF4-FFF2-40B4-BE49-F238E27FC236}">
                <a16:creationId xmlns:a16="http://schemas.microsoft.com/office/drawing/2014/main" id="{420C6EAC-C7D6-691C-006A-FC6D09BF4DC2}"/>
              </a:ext>
            </a:extLst>
          </p:cNvPr>
          <p:cNvSpPr>
            <a:spLocks noChangeShapeType="1"/>
          </p:cNvSpPr>
          <p:nvPr/>
        </p:nvSpPr>
        <p:spPr bwMode="auto">
          <a:xfrm>
            <a:off x="4069001"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a:extLst>
              <a:ext uri="{FF2B5EF4-FFF2-40B4-BE49-F238E27FC236}">
                <a16:creationId xmlns:a16="http://schemas.microsoft.com/office/drawing/2014/main" id="{2C7E6147-3AB9-732F-0410-48CD7FA8FA36}"/>
              </a:ext>
            </a:extLst>
          </p:cNvPr>
          <p:cNvSpPr>
            <a:spLocks noChangeShapeType="1"/>
          </p:cNvSpPr>
          <p:nvPr/>
        </p:nvSpPr>
        <p:spPr bwMode="auto">
          <a:xfrm>
            <a:off x="4230494"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a:extLst>
              <a:ext uri="{FF2B5EF4-FFF2-40B4-BE49-F238E27FC236}">
                <a16:creationId xmlns:a16="http://schemas.microsoft.com/office/drawing/2014/main" id="{DF8C7019-060C-08EE-B34A-D32BE4B276E0}"/>
              </a:ext>
            </a:extLst>
          </p:cNvPr>
          <p:cNvSpPr>
            <a:spLocks noChangeShapeType="1"/>
          </p:cNvSpPr>
          <p:nvPr/>
        </p:nvSpPr>
        <p:spPr bwMode="auto">
          <a:xfrm>
            <a:off x="4391987"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a:extLst>
              <a:ext uri="{FF2B5EF4-FFF2-40B4-BE49-F238E27FC236}">
                <a16:creationId xmlns:a16="http://schemas.microsoft.com/office/drawing/2014/main" id="{D0612CF4-522D-FF80-90DC-A8BCE59882F4}"/>
              </a:ext>
            </a:extLst>
          </p:cNvPr>
          <p:cNvSpPr>
            <a:spLocks noChangeShapeType="1"/>
          </p:cNvSpPr>
          <p:nvPr/>
        </p:nvSpPr>
        <p:spPr bwMode="auto">
          <a:xfrm>
            <a:off x="4553480" y="3853692"/>
            <a:ext cx="0" cy="5573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a:extLst>
              <a:ext uri="{FF2B5EF4-FFF2-40B4-BE49-F238E27FC236}">
                <a16:creationId xmlns:a16="http://schemas.microsoft.com/office/drawing/2014/main" id="{A2EBD069-926C-5092-06EB-79AE3B3782BD}"/>
              </a:ext>
            </a:extLst>
          </p:cNvPr>
          <p:cNvSpPr>
            <a:spLocks noChangeShapeType="1"/>
          </p:cNvSpPr>
          <p:nvPr/>
        </p:nvSpPr>
        <p:spPr bwMode="auto">
          <a:xfrm>
            <a:off x="471497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a:extLst>
              <a:ext uri="{FF2B5EF4-FFF2-40B4-BE49-F238E27FC236}">
                <a16:creationId xmlns:a16="http://schemas.microsoft.com/office/drawing/2014/main" id="{FCF861FA-39B3-818C-6E05-45234DB82EE9}"/>
              </a:ext>
            </a:extLst>
          </p:cNvPr>
          <p:cNvSpPr>
            <a:spLocks noChangeShapeType="1"/>
          </p:cNvSpPr>
          <p:nvPr/>
        </p:nvSpPr>
        <p:spPr bwMode="auto">
          <a:xfrm>
            <a:off x="4876467"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a:extLst>
              <a:ext uri="{FF2B5EF4-FFF2-40B4-BE49-F238E27FC236}">
                <a16:creationId xmlns:a16="http://schemas.microsoft.com/office/drawing/2014/main" id="{03ACDDB7-5097-17A8-FCAA-8D1288708716}"/>
              </a:ext>
            </a:extLst>
          </p:cNvPr>
          <p:cNvSpPr>
            <a:spLocks noChangeShapeType="1"/>
          </p:cNvSpPr>
          <p:nvPr/>
        </p:nvSpPr>
        <p:spPr bwMode="auto">
          <a:xfrm>
            <a:off x="5037960"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a:extLst>
              <a:ext uri="{FF2B5EF4-FFF2-40B4-BE49-F238E27FC236}">
                <a16:creationId xmlns:a16="http://schemas.microsoft.com/office/drawing/2014/main" id="{DDFE8D08-49DE-BF64-3B2B-1D26FACE8C81}"/>
              </a:ext>
            </a:extLst>
          </p:cNvPr>
          <p:cNvSpPr>
            <a:spLocks noChangeShapeType="1"/>
          </p:cNvSpPr>
          <p:nvPr/>
        </p:nvSpPr>
        <p:spPr bwMode="auto">
          <a:xfrm>
            <a:off x="519945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a:extLst>
              <a:ext uri="{FF2B5EF4-FFF2-40B4-BE49-F238E27FC236}">
                <a16:creationId xmlns:a16="http://schemas.microsoft.com/office/drawing/2014/main" id="{4463E54A-D828-B4B4-A002-CD074184621A}"/>
              </a:ext>
            </a:extLst>
          </p:cNvPr>
          <p:cNvSpPr>
            <a:spLocks noChangeShapeType="1"/>
          </p:cNvSpPr>
          <p:nvPr/>
        </p:nvSpPr>
        <p:spPr bwMode="auto">
          <a:xfrm>
            <a:off x="5360946"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a:extLst>
              <a:ext uri="{FF2B5EF4-FFF2-40B4-BE49-F238E27FC236}">
                <a16:creationId xmlns:a16="http://schemas.microsoft.com/office/drawing/2014/main" id="{1734A2B7-9272-E9BD-369F-C897DC5AB217}"/>
              </a:ext>
            </a:extLst>
          </p:cNvPr>
          <p:cNvSpPr>
            <a:spLocks noChangeShapeType="1"/>
          </p:cNvSpPr>
          <p:nvPr/>
        </p:nvSpPr>
        <p:spPr bwMode="auto">
          <a:xfrm>
            <a:off x="5522439"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a:extLst>
              <a:ext uri="{FF2B5EF4-FFF2-40B4-BE49-F238E27FC236}">
                <a16:creationId xmlns:a16="http://schemas.microsoft.com/office/drawing/2014/main" id="{DC41BE7B-33FA-F611-8C24-AAD26A60B9DC}"/>
              </a:ext>
            </a:extLst>
          </p:cNvPr>
          <p:cNvSpPr>
            <a:spLocks noChangeShapeType="1"/>
          </p:cNvSpPr>
          <p:nvPr/>
        </p:nvSpPr>
        <p:spPr bwMode="auto">
          <a:xfrm>
            <a:off x="568393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a:extLst>
              <a:ext uri="{FF2B5EF4-FFF2-40B4-BE49-F238E27FC236}">
                <a16:creationId xmlns:a16="http://schemas.microsoft.com/office/drawing/2014/main" id="{F4E71585-2648-F80A-1247-6278B5F7662D}"/>
              </a:ext>
            </a:extLst>
          </p:cNvPr>
          <p:cNvSpPr>
            <a:spLocks noChangeShapeType="1"/>
          </p:cNvSpPr>
          <p:nvPr/>
        </p:nvSpPr>
        <p:spPr bwMode="auto">
          <a:xfrm>
            <a:off x="5845426"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a:extLst>
              <a:ext uri="{FF2B5EF4-FFF2-40B4-BE49-F238E27FC236}">
                <a16:creationId xmlns:a16="http://schemas.microsoft.com/office/drawing/2014/main" id="{4FEF1137-7D5A-8D50-7B8C-A89545E83BE8}"/>
              </a:ext>
            </a:extLst>
          </p:cNvPr>
          <p:cNvSpPr>
            <a:spLocks noChangeShapeType="1"/>
          </p:cNvSpPr>
          <p:nvPr/>
        </p:nvSpPr>
        <p:spPr bwMode="auto">
          <a:xfrm>
            <a:off x="2292576" y="3630773"/>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a:extLst>
              <a:ext uri="{FF2B5EF4-FFF2-40B4-BE49-F238E27FC236}">
                <a16:creationId xmlns:a16="http://schemas.microsoft.com/office/drawing/2014/main" id="{089E854B-D9E8-8535-9F8A-7CE8C95FCABC}"/>
              </a:ext>
            </a:extLst>
          </p:cNvPr>
          <p:cNvSpPr>
            <a:spLocks noChangeShapeType="1"/>
          </p:cNvSpPr>
          <p:nvPr/>
        </p:nvSpPr>
        <p:spPr bwMode="auto">
          <a:xfrm>
            <a:off x="2292576" y="3352125"/>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a:extLst>
              <a:ext uri="{FF2B5EF4-FFF2-40B4-BE49-F238E27FC236}">
                <a16:creationId xmlns:a16="http://schemas.microsoft.com/office/drawing/2014/main" id="{AF7987D5-204B-EB61-9D08-EED8FF8FD84C}"/>
              </a:ext>
            </a:extLst>
          </p:cNvPr>
          <p:cNvSpPr>
            <a:spLocks noChangeShapeType="1"/>
          </p:cNvSpPr>
          <p:nvPr/>
        </p:nvSpPr>
        <p:spPr bwMode="auto">
          <a:xfrm>
            <a:off x="2292576" y="3073477"/>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a:extLst>
              <a:ext uri="{FF2B5EF4-FFF2-40B4-BE49-F238E27FC236}">
                <a16:creationId xmlns:a16="http://schemas.microsoft.com/office/drawing/2014/main" id="{2D920488-A07F-7299-636B-37E871319900}"/>
              </a:ext>
            </a:extLst>
          </p:cNvPr>
          <p:cNvSpPr>
            <a:spLocks noChangeShapeType="1"/>
          </p:cNvSpPr>
          <p:nvPr/>
        </p:nvSpPr>
        <p:spPr bwMode="auto">
          <a:xfrm>
            <a:off x="2292576" y="2794830"/>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a:extLst>
              <a:ext uri="{FF2B5EF4-FFF2-40B4-BE49-F238E27FC236}">
                <a16:creationId xmlns:a16="http://schemas.microsoft.com/office/drawing/2014/main" id="{3E57CE6D-F931-E122-CB92-DA5DCAEBB6C3}"/>
              </a:ext>
            </a:extLst>
          </p:cNvPr>
          <p:cNvSpPr>
            <a:spLocks noChangeShapeType="1"/>
          </p:cNvSpPr>
          <p:nvPr/>
        </p:nvSpPr>
        <p:spPr bwMode="auto">
          <a:xfrm>
            <a:off x="2292576" y="2516182"/>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a:extLst>
              <a:ext uri="{FF2B5EF4-FFF2-40B4-BE49-F238E27FC236}">
                <a16:creationId xmlns:a16="http://schemas.microsoft.com/office/drawing/2014/main" id="{92257CE2-9839-9AA3-CC5F-E7A841AD735D}"/>
              </a:ext>
            </a:extLst>
          </p:cNvPr>
          <p:cNvSpPr>
            <a:spLocks noChangeShapeType="1"/>
          </p:cNvSpPr>
          <p:nvPr/>
        </p:nvSpPr>
        <p:spPr bwMode="auto">
          <a:xfrm>
            <a:off x="2292576" y="2237534"/>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a:extLst>
              <a:ext uri="{FF2B5EF4-FFF2-40B4-BE49-F238E27FC236}">
                <a16:creationId xmlns:a16="http://schemas.microsoft.com/office/drawing/2014/main" id="{BFB404FF-67FC-9558-0583-9319A758A225}"/>
              </a:ext>
            </a:extLst>
          </p:cNvPr>
          <p:cNvSpPr txBox="1">
            <a:spLocks noChangeArrowheads="1"/>
          </p:cNvSpPr>
          <p:nvPr/>
        </p:nvSpPr>
        <p:spPr bwMode="auto">
          <a:xfrm>
            <a:off x="2487332"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a:extLst>
              <a:ext uri="{FF2B5EF4-FFF2-40B4-BE49-F238E27FC236}">
                <a16:creationId xmlns:a16="http://schemas.microsoft.com/office/drawing/2014/main" id="{8DB78FD1-1227-C00F-E097-081C115A3EA9}"/>
              </a:ext>
            </a:extLst>
          </p:cNvPr>
          <p:cNvSpPr txBox="1">
            <a:spLocks noChangeArrowheads="1"/>
          </p:cNvSpPr>
          <p:nvPr/>
        </p:nvSpPr>
        <p:spPr bwMode="auto">
          <a:xfrm>
            <a:off x="2810319"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a:extLst>
              <a:ext uri="{FF2B5EF4-FFF2-40B4-BE49-F238E27FC236}">
                <a16:creationId xmlns:a16="http://schemas.microsoft.com/office/drawing/2014/main" id="{939A57E8-B94B-C96D-ADF7-9C3B892261E1}"/>
              </a:ext>
            </a:extLst>
          </p:cNvPr>
          <p:cNvSpPr txBox="1">
            <a:spLocks noChangeArrowheads="1"/>
          </p:cNvSpPr>
          <p:nvPr/>
        </p:nvSpPr>
        <p:spPr bwMode="auto">
          <a:xfrm>
            <a:off x="3133305"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a:extLst>
              <a:ext uri="{FF2B5EF4-FFF2-40B4-BE49-F238E27FC236}">
                <a16:creationId xmlns:a16="http://schemas.microsoft.com/office/drawing/2014/main" id="{CA361A09-393C-2715-C0EC-BF140D6AE688}"/>
              </a:ext>
            </a:extLst>
          </p:cNvPr>
          <p:cNvSpPr txBox="1">
            <a:spLocks noChangeArrowheads="1"/>
          </p:cNvSpPr>
          <p:nvPr/>
        </p:nvSpPr>
        <p:spPr bwMode="auto">
          <a:xfrm>
            <a:off x="3465264"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a:extLst>
              <a:ext uri="{FF2B5EF4-FFF2-40B4-BE49-F238E27FC236}">
                <a16:creationId xmlns:a16="http://schemas.microsoft.com/office/drawing/2014/main" id="{C626713C-75D5-7252-AE73-B3BDE2BFC54B}"/>
              </a:ext>
            </a:extLst>
          </p:cNvPr>
          <p:cNvSpPr txBox="1">
            <a:spLocks noChangeArrowheads="1"/>
          </p:cNvSpPr>
          <p:nvPr/>
        </p:nvSpPr>
        <p:spPr bwMode="auto">
          <a:xfrm>
            <a:off x="3734419"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a:extLst>
              <a:ext uri="{FF2B5EF4-FFF2-40B4-BE49-F238E27FC236}">
                <a16:creationId xmlns:a16="http://schemas.microsoft.com/office/drawing/2014/main" id="{B1210985-9667-D5A7-6003-46E56C697B3E}"/>
              </a:ext>
            </a:extLst>
          </p:cNvPr>
          <p:cNvSpPr txBox="1">
            <a:spLocks noChangeArrowheads="1"/>
          </p:cNvSpPr>
          <p:nvPr/>
        </p:nvSpPr>
        <p:spPr bwMode="auto">
          <a:xfrm>
            <a:off x="4084321"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a:extLst>
              <a:ext uri="{FF2B5EF4-FFF2-40B4-BE49-F238E27FC236}">
                <a16:creationId xmlns:a16="http://schemas.microsoft.com/office/drawing/2014/main" id="{7AA6EB91-22DA-6173-0386-99F86321565E}"/>
              </a:ext>
            </a:extLst>
          </p:cNvPr>
          <p:cNvSpPr txBox="1">
            <a:spLocks noChangeArrowheads="1"/>
          </p:cNvSpPr>
          <p:nvPr/>
        </p:nvSpPr>
        <p:spPr bwMode="auto">
          <a:xfrm>
            <a:off x="4389363"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a:extLst>
              <a:ext uri="{FF2B5EF4-FFF2-40B4-BE49-F238E27FC236}">
                <a16:creationId xmlns:a16="http://schemas.microsoft.com/office/drawing/2014/main" id="{63A8FCD2-07BB-BF43-B8F1-FB0CDD33DE16}"/>
              </a:ext>
            </a:extLst>
          </p:cNvPr>
          <p:cNvSpPr txBox="1">
            <a:spLocks noChangeArrowheads="1"/>
          </p:cNvSpPr>
          <p:nvPr/>
        </p:nvSpPr>
        <p:spPr bwMode="auto">
          <a:xfrm>
            <a:off x="4712350"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a:extLst>
              <a:ext uri="{FF2B5EF4-FFF2-40B4-BE49-F238E27FC236}">
                <a16:creationId xmlns:a16="http://schemas.microsoft.com/office/drawing/2014/main" id="{0B399142-AB73-2AB0-220F-C6889C99BA42}"/>
              </a:ext>
            </a:extLst>
          </p:cNvPr>
          <p:cNvSpPr txBox="1">
            <a:spLocks noChangeArrowheads="1"/>
          </p:cNvSpPr>
          <p:nvPr/>
        </p:nvSpPr>
        <p:spPr bwMode="auto">
          <a:xfrm>
            <a:off x="5046552"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a:extLst>
              <a:ext uri="{FF2B5EF4-FFF2-40B4-BE49-F238E27FC236}">
                <a16:creationId xmlns:a16="http://schemas.microsoft.com/office/drawing/2014/main" id="{039DD7BF-FEAF-C5F5-B3D6-7665D46EA565}"/>
              </a:ext>
            </a:extLst>
          </p:cNvPr>
          <p:cNvSpPr txBox="1">
            <a:spLocks noChangeArrowheads="1"/>
          </p:cNvSpPr>
          <p:nvPr/>
        </p:nvSpPr>
        <p:spPr bwMode="auto">
          <a:xfrm>
            <a:off x="5369537"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a:extLst>
              <a:ext uri="{FF2B5EF4-FFF2-40B4-BE49-F238E27FC236}">
                <a16:creationId xmlns:a16="http://schemas.microsoft.com/office/drawing/2014/main" id="{A5BE9E6B-584C-E85A-4357-FA1666F7D0F3}"/>
              </a:ext>
            </a:extLst>
          </p:cNvPr>
          <p:cNvSpPr txBox="1">
            <a:spLocks noChangeArrowheads="1"/>
          </p:cNvSpPr>
          <p:nvPr/>
        </p:nvSpPr>
        <p:spPr bwMode="auto">
          <a:xfrm>
            <a:off x="5683552" y="3874588"/>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a:extLst>
              <a:ext uri="{FF2B5EF4-FFF2-40B4-BE49-F238E27FC236}">
                <a16:creationId xmlns:a16="http://schemas.microsoft.com/office/drawing/2014/main" id="{36BF714F-DB70-31B4-8DC1-3709542D082B}"/>
              </a:ext>
            </a:extLst>
          </p:cNvPr>
          <p:cNvSpPr txBox="1">
            <a:spLocks noChangeArrowheads="1"/>
          </p:cNvSpPr>
          <p:nvPr/>
        </p:nvSpPr>
        <p:spPr bwMode="auto">
          <a:xfrm>
            <a:off x="2191261"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a:extLst>
              <a:ext uri="{FF2B5EF4-FFF2-40B4-BE49-F238E27FC236}">
                <a16:creationId xmlns:a16="http://schemas.microsoft.com/office/drawing/2014/main" id="{6F9A7712-0D33-58EC-A3E9-A2DD16F7D939}"/>
              </a:ext>
            </a:extLst>
          </p:cNvPr>
          <p:cNvSpPr txBox="1">
            <a:spLocks noChangeArrowheads="1"/>
          </p:cNvSpPr>
          <p:nvPr/>
        </p:nvSpPr>
        <p:spPr bwMode="auto">
          <a:xfrm>
            <a:off x="2104166" y="3759648"/>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a:extLst>
              <a:ext uri="{FF2B5EF4-FFF2-40B4-BE49-F238E27FC236}">
                <a16:creationId xmlns:a16="http://schemas.microsoft.com/office/drawing/2014/main" id="{522CA7CF-9496-A1F2-5A92-85B7AD232982}"/>
              </a:ext>
            </a:extLst>
          </p:cNvPr>
          <p:cNvSpPr txBox="1">
            <a:spLocks noChangeArrowheads="1"/>
          </p:cNvSpPr>
          <p:nvPr/>
        </p:nvSpPr>
        <p:spPr bwMode="auto">
          <a:xfrm>
            <a:off x="2090518" y="3481001"/>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a:extLst>
              <a:ext uri="{FF2B5EF4-FFF2-40B4-BE49-F238E27FC236}">
                <a16:creationId xmlns:a16="http://schemas.microsoft.com/office/drawing/2014/main" id="{4CF72078-2887-B2EF-0DB7-941A33EEDBB7}"/>
              </a:ext>
            </a:extLst>
          </p:cNvPr>
          <p:cNvSpPr txBox="1">
            <a:spLocks noChangeArrowheads="1"/>
          </p:cNvSpPr>
          <p:nvPr/>
        </p:nvSpPr>
        <p:spPr bwMode="auto">
          <a:xfrm>
            <a:off x="2090518" y="3211640"/>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a:extLst>
              <a:ext uri="{FF2B5EF4-FFF2-40B4-BE49-F238E27FC236}">
                <a16:creationId xmlns:a16="http://schemas.microsoft.com/office/drawing/2014/main" id="{9807B0FC-64E3-7310-A19D-A9D9F819E047}"/>
              </a:ext>
            </a:extLst>
          </p:cNvPr>
          <p:cNvSpPr txBox="1">
            <a:spLocks noChangeArrowheads="1"/>
          </p:cNvSpPr>
          <p:nvPr/>
        </p:nvSpPr>
        <p:spPr bwMode="auto">
          <a:xfrm>
            <a:off x="2009773" y="2942281"/>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a:extLst>
              <a:ext uri="{FF2B5EF4-FFF2-40B4-BE49-F238E27FC236}">
                <a16:creationId xmlns:a16="http://schemas.microsoft.com/office/drawing/2014/main" id="{1E609AC8-15D1-CE48-D985-1BF75838F82B}"/>
              </a:ext>
            </a:extLst>
          </p:cNvPr>
          <p:cNvSpPr txBox="1">
            <a:spLocks noChangeArrowheads="1"/>
          </p:cNvSpPr>
          <p:nvPr/>
        </p:nvSpPr>
        <p:spPr bwMode="auto">
          <a:xfrm>
            <a:off x="2009773" y="2672921"/>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a:extLst>
              <a:ext uri="{FF2B5EF4-FFF2-40B4-BE49-F238E27FC236}">
                <a16:creationId xmlns:a16="http://schemas.microsoft.com/office/drawing/2014/main" id="{5045696F-DF2E-4FCC-B964-436D22235360}"/>
              </a:ext>
            </a:extLst>
          </p:cNvPr>
          <p:cNvSpPr txBox="1">
            <a:spLocks noChangeArrowheads="1"/>
          </p:cNvSpPr>
          <p:nvPr/>
        </p:nvSpPr>
        <p:spPr bwMode="auto">
          <a:xfrm>
            <a:off x="2009773" y="2394274"/>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a:extLst>
              <a:ext uri="{FF2B5EF4-FFF2-40B4-BE49-F238E27FC236}">
                <a16:creationId xmlns:a16="http://schemas.microsoft.com/office/drawing/2014/main" id="{4764CA72-E815-C41F-EB29-40FAB6AAA6A6}"/>
              </a:ext>
            </a:extLst>
          </p:cNvPr>
          <p:cNvSpPr txBox="1">
            <a:spLocks noChangeArrowheads="1"/>
          </p:cNvSpPr>
          <p:nvPr/>
        </p:nvSpPr>
        <p:spPr bwMode="auto">
          <a:xfrm>
            <a:off x="2009773" y="2115626"/>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a:extLst>
              <a:ext uri="{FF2B5EF4-FFF2-40B4-BE49-F238E27FC236}">
                <a16:creationId xmlns:a16="http://schemas.microsoft.com/office/drawing/2014/main" id="{7DB2AED6-D1CC-3CF6-F601-D91332363294}"/>
              </a:ext>
            </a:extLst>
          </p:cNvPr>
          <p:cNvSpPr>
            <a:spLocks noChangeArrowheads="1"/>
          </p:cNvSpPr>
          <p:nvPr/>
        </p:nvSpPr>
        <p:spPr bwMode="auto">
          <a:xfrm>
            <a:off x="2743411" y="3324261"/>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a:extLst>
              <a:ext uri="{FF2B5EF4-FFF2-40B4-BE49-F238E27FC236}">
                <a16:creationId xmlns:a16="http://schemas.microsoft.com/office/drawing/2014/main" id="{CD52609F-6EEF-83A0-CB2B-0042B89018F8}"/>
              </a:ext>
            </a:extLst>
          </p:cNvPr>
          <p:cNvSpPr>
            <a:spLocks noChangeArrowheads="1"/>
          </p:cNvSpPr>
          <p:nvPr/>
        </p:nvSpPr>
        <p:spPr bwMode="auto">
          <a:xfrm>
            <a:off x="2581918" y="3602909"/>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a:extLst>
              <a:ext uri="{FF2B5EF4-FFF2-40B4-BE49-F238E27FC236}">
                <a16:creationId xmlns:a16="http://schemas.microsoft.com/office/drawing/2014/main" id="{0C44C2C7-1165-6349-2402-7AA8F4EC8750}"/>
              </a:ext>
            </a:extLst>
          </p:cNvPr>
          <p:cNvSpPr>
            <a:spLocks noChangeArrowheads="1"/>
          </p:cNvSpPr>
          <p:nvPr/>
        </p:nvSpPr>
        <p:spPr bwMode="auto">
          <a:xfrm>
            <a:off x="2265660" y="3784030"/>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a:extLst>
              <a:ext uri="{FF2B5EF4-FFF2-40B4-BE49-F238E27FC236}">
                <a16:creationId xmlns:a16="http://schemas.microsoft.com/office/drawing/2014/main" id="{074466F0-754E-24F4-DB83-5FEDE9EE8D01}"/>
              </a:ext>
            </a:extLst>
          </p:cNvPr>
          <p:cNvSpPr>
            <a:spLocks noChangeArrowheads="1"/>
          </p:cNvSpPr>
          <p:nvPr/>
        </p:nvSpPr>
        <p:spPr bwMode="auto">
          <a:xfrm>
            <a:off x="2413696" y="373526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a:extLst>
              <a:ext uri="{FF2B5EF4-FFF2-40B4-BE49-F238E27FC236}">
                <a16:creationId xmlns:a16="http://schemas.microsoft.com/office/drawing/2014/main" id="{AD2DE263-384E-A8BA-6A82-36391EA31C07}"/>
              </a:ext>
            </a:extLst>
          </p:cNvPr>
          <p:cNvSpPr>
            <a:spLocks noChangeArrowheads="1"/>
          </p:cNvSpPr>
          <p:nvPr/>
        </p:nvSpPr>
        <p:spPr bwMode="auto">
          <a:xfrm>
            <a:off x="2904904" y="2764643"/>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a:extLst>
              <a:ext uri="{FF2B5EF4-FFF2-40B4-BE49-F238E27FC236}">
                <a16:creationId xmlns:a16="http://schemas.microsoft.com/office/drawing/2014/main" id="{DC329849-9FC0-37D2-2943-950AA2FEF10C}"/>
              </a:ext>
            </a:extLst>
          </p:cNvPr>
          <p:cNvSpPr>
            <a:spLocks noChangeArrowheads="1"/>
          </p:cNvSpPr>
          <p:nvPr/>
        </p:nvSpPr>
        <p:spPr bwMode="auto">
          <a:xfrm>
            <a:off x="3066397" y="269033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a:extLst>
              <a:ext uri="{FF2B5EF4-FFF2-40B4-BE49-F238E27FC236}">
                <a16:creationId xmlns:a16="http://schemas.microsoft.com/office/drawing/2014/main" id="{2803FD9F-8082-49A1-A095-0AEC0F8C96FC}"/>
              </a:ext>
            </a:extLst>
          </p:cNvPr>
          <p:cNvSpPr>
            <a:spLocks noChangeArrowheads="1"/>
          </p:cNvSpPr>
          <p:nvPr/>
        </p:nvSpPr>
        <p:spPr bwMode="auto">
          <a:xfrm>
            <a:off x="3227890" y="262415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a:extLst>
              <a:ext uri="{FF2B5EF4-FFF2-40B4-BE49-F238E27FC236}">
                <a16:creationId xmlns:a16="http://schemas.microsoft.com/office/drawing/2014/main" id="{E8F96F53-876B-FCED-8EDD-000443954056}"/>
              </a:ext>
            </a:extLst>
          </p:cNvPr>
          <p:cNvSpPr>
            <a:spLocks noChangeArrowheads="1"/>
          </p:cNvSpPr>
          <p:nvPr/>
        </p:nvSpPr>
        <p:spPr bwMode="auto">
          <a:xfrm>
            <a:off x="3554241" y="248483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a:extLst>
              <a:ext uri="{FF2B5EF4-FFF2-40B4-BE49-F238E27FC236}">
                <a16:creationId xmlns:a16="http://schemas.microsoft.com/office/drawing/2014/main" id="{78AC61F3-34C9-5201-A0D3-5A7D9E401649}"/>
              </a:ext>
            </a:extLst>
          </p:cNvPr>
          <p:cNvSpPr>
            <a:spLocks noChangeArrowheads="1"/>
          </p:cNvSpPr>
          <p:nvPr/>
        </p:nvSpPr>
        <p:spPr bwMode="auto">
          <a:xfrm>
            <a:off x="3389384" y="255449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a:extLst>
              <a:ext uri="{FF2B5EF4-FFF2-40B4-BE49-F238E27FC236}">
                <a16:creationId xmlns:a16="http://schemas.microsoft.com/office/drawing/2014/main" id="{90A92ECE-9020-07DD-B625-E6BEAF9CF0F9}"/>
              </a:ext>
            </a:extLst>
          </p:cNvPr>
          <p:cNvSpPr>
            <a:spLocks noChangeArrowheads="1"/>
          </p:cNvSpPr>
          <p:nvPr/>
        </p:nvSpPr>
        <p:spPr bwMode="auto">
          <a:xfrm>
            <a:off x="3715734" y="241517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a:extLst>
              <a:ext uri="{FF2B5EF4-FFF2-40B4-BE49-F238E27FC236}">
                <a16:creationId xmlns:a16="http://schemas.microsoft.com/office/drawing/2014/main" id="{44FB06EF-9017-F9F2-8ABE-D519EDB1A363}"/>
              </a:ext>
            </a:extLst>
          </p:cNvPr>
          <p:cNvSpPr>
            <a:spLocks noChangeArrowheads="1"/>
          </p:cNvSpPr>
          <p:nvPr/>
        </p:nvSpPr>
        <p:spPr bwMode="auto">
          <a:xfrm>
            <a:off x="3873863" y="2348993"/>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a:extLst>
              <a:ext uri="{FF2B5EF4-FFF2-40B4-BE49-F238E27FC236}">
                <a16:creationId xmlns:a16="http://schemas.microsoft.com/office/drawing/2014/main" id="{A6AF34B7-FDE9-A2E2-8C45-3F97C2AE801E}"/>
              </a:ext>
            </a:extLst>
          </p:cNvPr>
          <p:cNvSpPr>
            <a:spLocks noChangeArrowheads="1"/>
          </p:cNvSpPr>
          <p:nvPr/>
        </p:nvSpPr>
        <p:spPr bwMode="auto">
          <a:xfrm>
            <a:off x="4193485" y="2199220"/>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a:extLst>
              <a:ext uri="{FF2B5EF4-FFF2-40B4-BE49-F238E27FC236}">
                <a16:creationId xmlns:a16="http://schemas.microsoft.com/office/drawing/2014/main" id="{5BE023AE-0392-9FE9-1EAA-C73019CD33A3}"/>
              </a:ext>
            </a:extLst>
          </p:cNvPr>
          <p:cNvSpPr>
            <a:spLocks noChangeArrowheads="1"/>
          </p:cNvSpPr>
          <p:nvPr/>
        </p:nvSpPr>
        <p:spPr bwMode="auto">
          <a:xfrm>
            <a:off x="4035356" y="2268882"/>
            <a:ext cx="62803" cy="65018"/>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a:extLst>
              <a:ext uri="{FF2B5EF4-FFF2-40B4-BE49-F238E27FC236}">
                <a16:creationId xmlns:a16="http://schemas.microsoft.com/office/drawing/2014/main" id="{9593C3D5-B966-E96F-164D-4F663B9A90AD}"/>
              </a:ext>
            </a:extLst>
          </p:cNvPr>
          <p:cNvSpPr>
            <a:spLocks/>
          </p:cNvSpPr>
          <p:nvPr/>
        </p:nvSpPr>
        <p:spPr bwMode="auto">
          <a:xfrm>
            <a:off x="2238745" y="2237534"/>
            <a:ext cx="1988384" cy="159061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a:extLst>
              <a:ext uri="{FF2B5EF4-FFF2-40B4-BE49-F238E27FC236}">
                <a16:creationId xmlns:a16="http://schemas.microsoft.com/office/drawing/2014/main" id="{3DB4DD17-DBAD-0C34-AB4B-0567D0BD881D}"/>
              </a:ext>
            </a:extLst>
          </p:cNvPr>
          <p:cNvSpPr txBox="1">
            <a:spLocks noChangeArrowheads="1"/>
          </p:cNvSpPr>
          <p:nvPr/>
        </p:nvSpPr>
        <p:spPr bwMode="auto">
          <a:xfrm>
            <a:off x="6682049" y="3763130"/>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en-US" altLang="zh-CN" sz="1200" kern="0" dirty="0">
                <a:solidFill>
                  <a:srgbClr val="000000"/>
                </a:solidFill>
                <a:latin typeface="Montserrat" panose="00000500000000000000" pitchFamily="2" charset="0"/>
                <a:ea typeface="微软雅黑 Light" panose="020B0502040204020203" pitchFamily="34" charset="-122"/>
              </a:rPr>
              <a:t>RTT</a:t>
            </a:r>
            <a:endParaRPr lang="zh-CN" altLang="en-US" sz="1200" kern="0" dirty="0">
              <a:solidFill>
                <a:srgbClr val="000000"/>
              </a:solidFill>
              <a:latin typeface="Montserrat" panose="00000500000000000000" pitchFamily="2" charset="0"/>
              <a:ea typeface="微软雅黑 Light" panose="020B0502040204020203" pitchFamily="34" charset="-122"/>
            </a:endParaRPr>
          </a:p>
        </p:txBody>
      </p:sp>
      <p:sp>
        <p:nvSpPr>
          <p:cNvPr id="220" name="Text Box 135">
            <a:extLst>
              <a:ext uri="{FF2B5EF4-FFF2-40B4-BE49-F238E27FC236}">
                <a16:creationId xmlns:a16="http://schemas.microsoft.com/office/drawing/2014/main" id="{6777BF84-C13F-173C-7DF3-9388112601E7}"/>
              </a:ext>
            </a:extLst>
          </p:cNvPr>
          <p:cNvSpPr txBox="1">
            <a:spLocks noChangeArrowheads="1"/>
          </p:cNvSpPr>
          <p:nvPr/>
        </p:nvSpPr>
        <p:spPr bwMode="auto">
          <a:xfrm>
            <a:off x="1989114" y="1858705"/>
            <a:ext cx="614272" cy="276999"/>
          </a:xfrm>
          <a:prstGeom prst="rect">
            <a:avLst/>
          </a:prstGeom>
          <a:noFill/>
          <a:ln w="9525">
            <a:noFill/>
            <a:miter lim="800000"/>
            <a:headEnd/>
            <a:tailEnd/>
          </a:ln>
        </p:spPr>
        <p:txBody>
          <a:bodyPr wrap="none">
            <a:spAutoFit/>
          </a:bodyPr>
          <a:lstStyle>
            <a:defPPr>
              <a:defRPr lang="zh-CN"/>
            </a:defPPr>
            <a:lvl1pPr marR="0" lvl="0" indent="0" algn="ctr" fontAlgn="auto">
              <a:lnSpc>
                <a:spcPct val="100000"/>
              </a:lnSpc>
              <a:spcBef>
                <a:spcPts val="0"/>
              </a:spcBef>
              <a:spcAft>
                <a:spcPts val="0"/>
              </a:spcAft>
              <a:buClrTx/>
              <a:buSzTx/>
              <a:buFontTx/>
              <a:buNone/>
              <a:tabLst/>
              <a:defRPr kumimoji="1" sz="1200" i="0" u="none" strike="noStrike" kern="0" cap="none" spc="0" normalizeH="0" baseline="0">
                <a:ln>
                  <a:noFill/>
                </a:ln>
                <a:solidFill>
                  <a:srgbClr val="CC00CC"/>
                </a:solidFill>
                <a:effectLst/>
                <a:uLnTx/>
                <a:uFillTx/>
                <a:latin typeface="微软雅黑" pitchFamily="34" charset="-122"/>
                <a:ea typeface="微软雅黑" pitchFamily="34" charset="-122"/>
              </a:defRPr>
            </a:lvl1pPr>
            <a:lvl2pPr marL="742950" indent="-285750" eaLnBrk="0" hangingPunct="0">
              <a:defRPr kumimoji="1" sz="2400">
                <a:latin typeface="Times New Roman" pitchFamily="18" charset="0"/>
                <a:ea typeface="宋体" charset="-122"/>
              </a:defRPr>
            </a:lvl2pPr>
            <a:lvl3pPr marL="1143000" indent="-228600" eaLnBrk="0" hangingPunct="0">
              <a:defRPr kumimoji="1" sz="2400">
                <a:latin typeface="Times New Roman" pitchFamily="18" charset="0"/>
                <a:ea typeface="宋体" charset="-122"/>
              </a:defRPr>
            </a:lvl3pPr>
            <a:lvl4pPr marL="1600200" indent="-228600" eaLnBrk="0" hangingPunct="0">
              <a:defRPr kumimoji="1" sz="2400">
                <a:latin typeface="Times New Roman" pitchFamily="18" charset="0"/>
                <a:ea typeface="宋体" charset="-122"/>
              </a:defRPr>
            </a:lvl4pPr>
            <a:lvl5pPr marL="2057400" indent="-228600" eaLnBrk="0" hangingPunct="0">
              <a:defRPr kumimoji="1" sz="2400">
                <a:latin typeface="Times New Roman" pitchFamily="18" charset="0"/>
                <a:ea typeface="宋体" charset="-122"/>
              </a:defRPr>
            </a:lvl5pPr>
            <a:lvl6pPr marL="2514600" indent="-228600" eaLnBrk="0" fontAlgn="base" hangingPunct="0">
              <a:spcBef>
                <a:spcPct val="0"/>
              </a:spcBef>
              <a:spcAft>
                <a:spcPct val="0"/>
              </a:spcAft>
              <a:defRPr kumimoji="1" sz="2400">
                <a:latin typeface="Times New Roman" pitchFamily="18" charset="0"/>
                <a:ea typeface="宋体" charset="-122"/>
              </a:defRPr>
            </a:lvl6pPr>
            <a:lvl7pPr marL="2971800" indent="-228600" eaLnBrk="0" fontAlgn="base" hangingPunct="0">
              <a:spcBef>
                <a:spcPct val="0"/>
              </a:spcBef>
              <a:spcAft>
                <a:spcPct val="0"/>
              </a:spcAft>
              <a:defRPr kumimoji="1" sz="2400">
                <a:latin typeface="Times New Roman" pitchFamily="18" charset="0"/>
                <a:ea typeface="宋体" charset="-122"/>
              </a:defRPr>
            </a:lvl7pPr>
            <a:lvl8pPr marL="3429000" indent="-228600" eaLnBrk="0" fontAlgn="base" hangingPunct="0">
              <a:spcBef>
                <a:spcPct val="0"/>
              </a:spcBef>
              <a:spcAft>
                <a:spcPct val="0"/>
              </a:spcAft>
              <a:defRPr kumimoji="1" sz="2400">
                <a:latin typeface="Times New Roman" pitchFamily="18" charset="0"/>
                <a:ea typeface="宋体" charset="-122"/>
              </a:defRPr>
            </a:lvl8pPr>
            <a:lvl9pPr marL="3886200" indent="-228600" eaLnBrk="0" fontAlgn="base" hangingPunct="0">
              <a:spcBef>
                <a:spcPct val="0"/>
              </a:spcBef>
              <a:spcAft>
                <a:spcPct val="0"/>
              </a:spcAft>
              <a:defRPr kumimoji="1" sz="2400">
                <a:latin typeface="Times New Roman" pitchFamily="18" charset="0"/>
                <a:ea typeface="宋体" charset="-122"/>
              </a:defRPr>
            </a:lvl9pPr>
          </a:lstStyle>
          <a:p>
            <a:r>
              <a:rPr lang="en-US" altLang="zh-CN" dirty="0">
                <a:latin typeface="Montserrat" panose="00000500000000000000" pitchFamily="2" charset="0"/>
                <a:ea typeface="微软雅黑 Light" panose="020B0502040204020203" pitchFamily="34" charset="-122"/>
              </a:rPr>
              <a:t>cwnd</a:t>
            </a:r>
          </a:p>
        </p:txBody>
      </p:sp>
      <p:sp>
        <p:nvSpPr>
          <p:cNvPr id="221" name="Text Box 140">
            <a:extLst>
              <a:ext uri="{FF2B5EF4-FFF2-40B4-BE49-F238E27FC236}">
                <a16:creationId xmlns:a16="http://schemas.microsoft.com/office/drawing/2014/main" id="{6BF6663C-B059-07F6-C5E2-7223F0015EA1}"/>
              </a:ext>
            </a:extLst>
          </p:cNvPr>
          <p:cNvSpPr txBox="1">
            <a:spLocks noChangeArrowheads="1"/>
          </p:cNvSpPr>
          <p:nvPr/>
        </p:nvSpPr>
        <p:spPr bwMode="auto">
          <a:xfrm>
            <a:off x="5832879" y="1962747"/>
            <a:ext cx="2150152" cy="8792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3-ACK</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ssthresh = 16/2 = 8</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cwnd = 8</a:t>
            </a:r>
          </a:p>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进入拥塞避免</a:t>
            </a:r>
            <a:endParaRPr kumimoji="1"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22" name="Line 156">
            <a:extLst>
              <a:ext uri="{FF2B5EF4-FFF2-40B4-BE49-F238E27FC236}">
                <a16:creationId xmlns:a16="http://schemas.microsoft.com/office/drawing/2014/main" id="{F71DE612-9982-45D0-AB7A-B54FE418D47E}"/>
              </a:ext>
            </a:extLst>
          </p:cNvPr>
          <p:cNvSpPr>
            <a:spLocks noChangeShapeType="1"/>
          </p:cNvSpPr>
          <p:nvPr/>
        </p:nvSpPr>
        <p:spPr bwMode="auto">
          <a:xfrm>
            <a:off x="2475702" y="2794830"/>
            <a:ext cx="4680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a:extLst>
              <a:ext uri="{FF2B5EF4-FFF2-40B4-BE49-F238E27FC236}">
                <a16:creationId xmlns:a16="http://schemas.microsoft.com/office/drawing/2014/main" id="{D0178D96-F90F-6E59-63E5-B634B39EA1DF}"/>
              </a:ext>
            </a:extLst>
          </p:cNvPr>
          <p:cNvSpPr>
            <a:spLocks noChangeShapeType="1"/>
          </p:cNvSpPr>
          <p:nvPr/>
        </p:nvSpPr>
        <p:spPr bwMode="auto">
          <a:xfrm flipV="1">
            <a:off x="2530655" y="2232890"/>
            <a:ext cx="1692000" cy="4644"/>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Text Box 205">
            <a:extLst>
              <a:ext uri="{FF2B5EF4-FFF2-40B4-BE49-F238E27FC236}">
                <a16:creationId xmlns:a16="http://schemas.microsoft.com/office/drawing/2014/main" id="{72A90DA7-15E1-A9CF-E574-0960115C3E29}"/>
              </a:ext>
            </a:extLst>
          </p:cNvPr>
          <p:cNvSpPr txBox="1">
            <a:spLocks noChangeArrowheads="1"/>
          </p:cNvSpPr>
          <p:nvPr/>
        </p:nvSpPr>
        <p:spPr bwMode="auto">
          <a:xfrm>
            <a:off x="1179780" y="2673822"/>
            <a:ext cx="835485" cy="276999"/>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rPr>
              <a:t>ssthresh</a:t>
            </a:r>
            <a:endParaRPr kumimoji="1" lang="zh-CN" altLang="en-US" sz="1200"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26" name="Line 215">
            <a:extLst>
              <a:ext uri="{FF2B5EF4-FFF2-40B4-BE49-F238E27FC236}">
                <a16:creationId xmlns:a16="http://schemas.microsoft.com/office/drawing/2014/main" id="{75D494B1-F2AB-CA74-F866-38BC67740202}"/>
              </a:ext>
            </a:extLst>
          </p:cNvPr>
          <p:cNvSpPr>
            <a:spLocks noChangeShapeType="1"/>
          </p:cNvSpPr>
          <p:nvPr/>
        </p:nvSpPr>
        <p:spPr bwMode="auto">
          <a:xfrm flipV="1">
            <a:off x="1942674" y="2815728"/>
            <a:ext cx="151400"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a:extLst>
              <a:ext uri="{FF2B5EF4-FFF2-40B4-BE49-F238E27FC236}">
                <a16:creationId xmlns:a16="http://schemas.microsoft.com/office/drawing/2014/main" id="{5E53E41E-949D-EEAD-B964-D4EDED916FEA}"/>
              </a:ext>
            </a:extLst>
          </p:cNvPr>
          <p:cNvSpPr txBox="1">
            <a:spLocks noChangeArrowheads="1"/>
          </p:cNvSpPr>
          <p:nvPr/>
        </p:nvSpPr>
        <p:spPr bwMode="auto">
          <a:xfrm rot="20245475">
            <a:off x="5782880" y="2932657"/>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28" name="Oval 125">
            <a:extLst>
              <a:ext uri="{FF2B5EF4-FFF2-40B4-BE49-F238E27FC236}">
                <a16:creationId xmlns:a16="http://schemas.microsoft.com/office/drawing/2014/main" id="{AD1B4CE4-CDE5-FBB5-5E8B-F928C1667CFA}"/>
              </a:ext>
            </a:extLst>
          </p:cNvPr>
          <p:cNvSpPr>
            <a:spLocks noChangeArrowheads="1"/>
          </p:cNvSpPr>
          <p:nvPr/>
        </p:nvSpPr>
        <p:spPr bwMode="auto">
          <a:xfrm>
            <a:off x="4519836" y="372481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a:extLst>
              <a:ext uri="{FF2B5EF4-FFF2-40B4-BE49-F238E27FC236}">
                <a16:creationId xmlns:a16="http://schemas.microsoft.com/office/drawing/2014/main" id="{C826FAE1-F52D-3B11-6FE9-4613234911CE}"/>
              </a:ext>
            </a:extLst>
          </p:cNvPr>
          <p:cNvSpPr>
            <a:spLocks noChangeArrowheads="1"/>
          </p:cNvSpPr>
          <p:nvPr/>
        </p:nvSpPr>
        <p:spPr bwMode="auto">
          <a:xfrm>
            <a:off x="4682450" y="358897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a:extLst>
              <a:ext uri="{FF2B5EF4-FFF2-40B4-BE49-F238E27FC236}">
                <a16:creationId xmlns:a16="http://schemas.microsoft.com/office/drawing/2014/main" id="{9A0C8504-1F0B-0BA1-7CE3-D0D6627E6C48}"/>
              </a:ext>
            </a:extLst>
          </p:cNvPr>
          <p:cNvSpPr>
            <a:spLocks noChangeArrowheads="1"/>
          </p:cNvSpPr>
          <p:nvPr/>
        </p:nvSpPr>
        <p:spPr bwMode="auto">
          <a:xfrm>
            <a:off x="4351614" y="377706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a:extLst>
              <a:ext uri="{FF2B5EF4-FFF2-40B4-BE49-F238E27FC236}">
                <a16:creationId xmlns:a16="http://schemas.microsoft.com/office/drawing/2014/main" id="{C7EFC7AE-E0D8-755A-2350-A86C701E571F}"/>
              </a:ext>
            </a:extLst>
          </p:cNvPr>
          <p:cNvSpPr>
            <a:spLocks noChangeArrowheads="1"/>
          </p:cNvSpPr>
          <p:nvPr/>
        </p:nvSpPr>
        <p:spPr bwMode="auto">
          <a:xfrm>
            <a:off x="4848429" y="331961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a:extLst>
              <a:ext uri="{FF2B5EF4-FFF2-40B4-BE49-F238E27FC236}">
                <a16:creationId xmlns:a16="http://schemas.microsoft.com/office/drawing/2014/main" id="{9F13ED90-22C4-6AC9-84DC-1E8543C5DF04}"/>
              </a:ext>
            </a:extLst>
          </p:cNvPr>
          <p:cNvSpPr>
            <a:spLocks noChangeArrowheads="1"/>
          </p:cNvSpPr>
          <p:nvPr/>
        </p:nvSpPr>
        <p:spPr bwMode="auto">
          <a:xfrm>
            <a:off x="5181509" y="296550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a:extLst>
              <a:ext uri="{FF2B5EF4-FFF2-40B4-BE49-F238E27FC236}">
                <a16:creationId xmlns:a16="http://schemas.microsoft.com/office/drawing/2014/main" id="{1BBD1889-FAEF-1F47-45B1-1BF64CBC9480}"/>
              </a:ext>
            </a:extLst>
          </p:cNvPr>
          <p:cNvSpPr>
            <a:spLocks noChangeArrowheads="1"/>
          </p:cNvSpPr>
          <p:nvPr/>
        </p:nvSpPr>
        <p:spPr bwMode="auto">
          <a:xfrm>
            <a:off x="5657017" y="276348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a:extLst>
              <a:ext uri="{FF2B5EF4-FFF2-40B4-BE49-F238E27FC236}">
                <a16:creationId xmlns:a16="http://schemas.microsoft.com/office/drawing/2014/main" id="{188B6437-CF1D-A57C-3C43-93B33E12A2FB}"/>
              </a:ext>
            </a:extLst>
          </p:cNvPr>
          <p:cNvSpPr>
            <a:spLocks noChangeArrowheads="1"/>
          </p:cNvSpPr>
          <p:nvPr/>
        </p:nvSpPr>
        <p:spPr bwMode="auto">
          <a:xfrm>
            <a:off x="5339638" y="289235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a:extLst>
              <a:ext uri="{FF2B5EF4-FFF2-40B4-BE49-F238E27FC236}">
                <a16:creationId xmlns:a16="http://schemas.microsoft.com/office/drawing/2014/main" id="{4F5C77E2-6244-C2A4-6CB9-8A6C247251B0}"/>
              </a:ext>
            </a:extLst>
          </p:cNvPr>
          <p:cNvSpPr>
            <a:spLocks noChangeArrowheads="1"/>
          </p:cNvSpPr>
          <p:nvPr/>
        </p:nvSpPr>
        <p:spPr bwMode="auto">
          <a:xfrm>
            <a:off x="5501131" y="282617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a:extLst>
              <a:ext uri="{FF2B5EF4-FFF2-40B4-BE49-F238E27FC236}">
                <a16:creationId xmlns:a16="http://schemas.microsoft.com/office/drawing/2014/main" id="{AC6E354E-FBC2-AEA7-6B8D-490C7203513D}"/>
              </a:ext>
            </a:extLst>
          </p:cNvPr>
          <p:cNvSpPr>
            <a:spLocks noChangeShapeType="1"/>
          </p:cNvSpPr>
          <p:nvPr/>
        </p:nvSpPr>
        <p:spPr bwMode="auto">
          <a:xfrm>
            <a:off x="2475702" y="3073476"/>
            <a:ext cx="25920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a:extLst>
              <a:ext uri="{FF2B5EF4-FFF2-40B4-BE49-F238E27FC236}">
                <a16:creationId xmlns:a16="http://schemas.microsoft.com/office/drawing/2014/main" id="{CCCF7949-578F-2C39-077A-2BB6F27A081D}"/>
              </a:ext>
            </a:extLst>
          </p:cNvPr>
          <p:cNvCxnSpPr>
            <a:cxnSpLocks noChangeShapeType="1"/>
          </p:cNvCxnSpPr>
          <p:nvPr/>
        </p:nvCxnSpPr>
        <p:spPr bwMode="auto">
          <a:xfrm>
            <a:off x="4230494" y="2230568"/>
            <a:ext cx="161493" cy="1563912"/>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a:extLst>
              <a:ext uri="{FF2B5EF4-FFF2-40B4-BE49-F238E27FC236}">
                <a16:creationId xmlns:a16="http://schemas.microsoft.com/office/drawing/2014/main" id="{A75426E0-58E6-D05A-0353-04CFBD8DC212}"/>
              </a:ext>
            </a:extLst>
          </p:cNvPr>
          <p:cNvSpPr>
            <a:spLocks noChangeArrowheads="1"/>
          </p:cNvSpPr>
          <p:nvPr/>
        </p:nvSpPr>
        <p:spPr bwMode="auto">
          <a:xfrm>
            <a:off x="2717585" y="2497013"/>
            <a:ext cx="305043" cy="2542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a:extLst>
              <a:ext uri="{FF2B5EF4-FFF2-40B4-BE49-F238E27FC236}">
                <a16:creationId xmlns:a16="http://schemas.microsoft.com/office/drawing/2014/main" id="{33DA4418-1271-DA99-B917-EC8CB3737883}"/>
              </a:ext>
            </a:extLst>
          </p:cNvPr>
          <p:cNvSpPr>
            <a:spLocks noChangeArrowheads="1"/>
          </p:cNvSpPr>
          <p:nvPr/>
        </p:nvSpPr>
        <p:spPr bwMode="auto">
          <a:xfrm>
            <a:off x="5017773" y="3040969"/>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a:extLst>
              <a:ext uri="{FF2B5EF4-FFF2-40B4-BE49-F238E27FC236}">
                <a16:creationId xmlns:a16="http://schemas.microsoft.com/office/drawing/2014/main" id="{2CDCC55D-0149-EDD0-3BBD-B9A4B562A98C}"/>
              </a:ext>
            </a:extLst>
          </p:cNvPr>
          <p:cNvSpPr>
            <a:spLocks/>
          </p:cNvSpPr>
          <p:nvPr/>
        </p:nvSpPr>
        <p:spPr bwMode="auto">
          <a:xfrm>
            <a:off x="4385258" y="2786703"/>
            <a:ext cx="1315496" cy="102519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2" name="直接连接符 119">
            <a:extLst>
              <a:ext uri="{FF2B5EF4-FFF2-40B4-BE49-F238E27FC236}">
                <a16:creationId xmlns:a16="http://schemas.microsoft.com/office/drawing/2014/main" id="{2C250CBC-4528-C448-F616-F212631C071A}"/>
              </a:ext>
            </a:extLst>
          </p:cNvPr>
          <p:cNvCxnSpPr>
            <a:cxnSpLocks noChangeShapeType="1"/>
          </p:cNvCxnSpPr>
          <p:nvPr/>
        </p:nvCxnSpPr>
        <p:spPr bwMode="auto">
          <a:xfrm flipH="1">
            <a:off x="5845426" y="3367219"/>
            <a:ext cx="1121" cy="396000"/>
          </a:xfrm>
          <a:prstGeom prst="line">
            <a:avLst/>
          </a:prstGeom>
          <a:noFill/>
          <a:ln w="12700" algn="ctr">
            <a:solidFill>
              <a:srgbClr val="000000"/>
            </a:solidFill>
            <a:prstDash val="dash"/>
            <a:round/>
            <a:headEnd/>
            <a:tailEnd/>
          </a:ln>
        </p:spPr>
      </p:cxnSp>
      <p:sp>
        <p:nvSpPr>
          <p:cNvPr id="241" name="Rectangle 161">
            <a:extLst>
              <a:ext uri="{FF2B5EF4-FFF2-40B4-BE49-F238E27FC236}">
                <a16:creationId xmlns:a16="http://schemas.microsoft.com/office/drawing/2014/main" id="{108FF9F6-7722-58BC-C65F-82F406DBD23E}"/>
              </a:ext>
            </a:extLst>
          </p:cNvPr>
          <p:cNvSpPr>
            <a:spLocks noChangeArrowheads="1"/>
          </p:cNvSpPr>
          <p:nvPr/>
        </p:nvSpPr>
        <p:spPr bwMode="auto">
          <a:xfrm>
            <a:off x="4091066" y="1958674"/>
            <a:ext cx="253455" cy="211307"/>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3" name="直接连接符 121">
            <a:extLst>
              <a:ext uri="{FF2B5EF4-FFF2-40B4-BE49-F238E27FC236}">
                <a16:creationId xmlns:a16="http://schemas.microsoft.com/office/drawing/2014/main" id="{B3A88BD3-CA2D-EF06-327C-E787434EE685}"/>
              </a:ext>
            </a:extLst>
          </p:cNvPr>
          <p:cNvCxnSpPr>
            <a:cxnSpLocks noChangeShapeType="1"/>
          </p:cNvCxnSpPr>
          <p:nvPr/>
        </p:nvCxnSpPr>
        <p:spPr bwMode="auto">
          <a:xfrm>
            <a:off x="2475702" y="3355609"/>
            <a:ext cx="3384000" cy="0"/>
          </a:xfrm>
          <a:prstGeom prst="line">
            <a:avLst/>
          </a:prstGeom>
          <a:noFill/>
          <a:ln w="12700" algn="ctr">
            <a:solidFill>
              <a:srgbClr val="000000"/>
            </a:solidFill>
            <a:prstDash val="dash"/>
            <a:round/>
            <a:headEnd/>
            <a:tailEnd/>
          </a:ln>
        </p:spPr>
      </p:cxnSp>
      <p:sp>
        <p:nvSpPr>
          <p:cNvPr id="244" name="Oval 130">
            <a:extLst>
              <a:ext uri="{FF2B5EF4-FFF2-40B4-BE49-F238E27FC236}">
                <a16:creationId xmlns:a16="http://schemas.microsoft.com/office/drawing/2014/main" id="{7B8350FA-1F9C-BE93-3056-C480564D1403}"/>
              </a:ext>
            </a:extLst>
          </p:cNvPr>
          <p:cNvSpPr>
            <a:spLocks noChangeArrowheads="1"/>
          </p:cNvSpPr>
          <p:nvPr/>
        </p:nvSpPr>
        <p:spPr bwMode="auto">
          <a:xfrm>
            <a:off x="5812902" y="332542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a:extLst>
              <a:ext uri="{FF2B5EF4-FFF2-40B4-BE49-F238E27FC236}">
                <a16:creationId xmlns:a16="http://schemas.microsoft.com/office/drawing/2014/main" id="{9CE3E509-A46C-37F3-6DDA-E0AD79F0C451}"/>
              </a:ext>
            </a:extLst>
          </p:cNvPr>
          <p:cNvSpPr>
            <a:spLocks noChangeShapeType="1"/>
          </p:cNvSpPr>
          <p:nvPr/>
        </p:nvSpPr>
        <p:spPr bwMode="auto">
          <a:xfrm>
            <a:off x="6166169" y="3793318"/>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a:extLst>
              <a:ext uri="{FF2B5EF4-FFF2-40B4-BE49-F238E27FC236}">
                <a16:creationId xmlns:a16="http://schemas.microsoft.com/office/drawing/2014/main" id="{815369CE-4926-CC8C-BC10-4ABD24032B53}"/>
              </a:ext>
            </a:extLst>
          </p:cNvPr>
          <p:cNvSpPr>
            <a:spLocks noChangeShapeType="1"/>
          </p:cNvSpPr>
          <p:nvPr/>
        </p:nvSpPr>
        <p:spPr bwMode="auto">
          <a:xfrm>
            <a:off x="6002433" y="3796801"/>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a:extLst>
              <a:ext uri="{FF2B5EF4-FFF2-40B4-BE49-F238E27FC236}">
                <a16:creationId xmlns:a16="http://schemas.microsoft.com/office/drawing/2014/main" id="{B5CB61FE-FF8F-BFFE-1807-7FEC682EB086}"/>
              </a:ext>
            </a:extLst>
          </p:cNvPr>
          <p:cNvSpPr txBox="1">
            <a:spLocks noChangeArrowheads="1"/>
          </p:cNvSpPr>
          <p:nvPr/>
        </p:nvSpPr>
        <p:spPr bwMode="auto">
          <a:xfrm>
            <a:off x="5986352" y="3872268"/>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a:extLst>
              <a:ext uri="{FF2B5EF4-FFF2-40B4-BE49-F238E27FC236}">
                <a16:creationId xmlns:a16="http://schemas.microsoft.com/office/drawing/2014/main" id="{1B85CB86-5053-9208-A8E0-179038A29C20}"/>
              </a:ext>
            </a:extLst>
          </p:cNvPr>
          <p:cNvSpPr>
            <a:spLocks noChangeShapeType="1"/>
          </p:cNvSpPr>
          <p:nvPr/>
        </p:nvSpPr>
        <p:spPr bwMode="auto">
          <a:xfrm>
            <a:off x="6334391" y="3802606"/>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a:extLst>
              <a:ext uri="{FF2B5EF4-FFF2-40B4-BE49-F238E27FC236}">
                <a16:creationId xmlns:a16="http://schemas.microsoft.com/office/drawing/2014/main" id="{3F9DBE39-B6EB-8628-C8F0-2E9153BE65F9}"/>
              </a:ext>
            </a:extLst>
          </p:cNvPr>
          <p:cNvCxnSpPr>
            <a:cxnSpLocks noChangeShapeType="1"/>
            <a:stCxn id="240" idx="4"/>
            <a:endCxn id="244" idx="3"/>
          </p:cNvCxnSpPr>
          <p:nvPr/>
        </p:nvCxnSpPr>
        <p:spPr bwMode="auto">
          <a:xfrm>
            <a:off x="5699633" y="2786703"/>
            <a:ext cx="141307" cy="574711"/>
          </a:xfrm>
          <a:prstGeom prst="line">
            <a:avLst/>
          </a:prstGeom>
          <a:noFill/>
          <a:ln w="19050" algn="ctr">
            <a:solidFill>
              <a:srgbClr val="0000FF"/>
            </a:solidFill>
            <a:round/>
            <a:headEnd/>
            <a:tailEnd/>
          </a:ln>
        </p:spPr>
      </p:cxnSp>
      <p:sp>
        <p:nvSpPr>
          <p:cNvPr id="250" name="Text Box 206">
            <a:extLst>
              <a:ext uri="{FF2B5EF4-FFF2-40B4-BE49-F238E27FC236}">
                <a16:creationId xmlns:a16="http://schemas.microsoft.com/office/drawing/2014/main" id="{437D073F-5DE5-08A7-105B-FC76C01473B6}"/>
              </a:ext>
            </a:extLst>
          </p:cNvPr>
          <p:cNvSpPr txBox="1">
            <a:spLocks noChangeArrowheads="1"/>
          </p:cNvSpPr>
          <p:nvPr/>
        </p:nvSpPr>
        <p:spPr bwMode="auto">
          <a:xfrm rot="20070649">
            <a:off x="4981722" y="2637429"/>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dirty="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51" name="Text Box 206">
            <a:extLst>
              <a:ext uri="{FF2B5EF4-FFF2-40B4-BE49-F238E27FC236}">
                <a16:creationId xmlns:a16="http://schemas.microsoft.com/office/drawing/2014/main" id="{D20B8891-3294-6157-3F25-41CEBE89BB21}"/>
              </a:ext>
            </a:extLst>
          </p:cNvPr>
          <p:cNvSpPr txBox="1">
            <a:spLocks noChangeArrowheads="1"/>
          </p:cNvSpPr>
          <p:nvPr/>
        </p:nvSpPr>
        <p:spPr bwMode="auto">
          <a:xfrm rot="20205303">
            <a:off x="2928123" y="2316882"/>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dirty="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52" name="TextBox 147">
            <a:extLst>
              <a:ext uri="{FF2B5EF4-FFF2-40B4-BE49-F238E27FC236}">
                <a16:creationId xmlns:a16="http://schemas.microsoft.com/office/drawing/2014/main" id="{D4AFFC69-16A2-2075-6254-E8FF48034C6A}"/>
              </a:ext>
            </a:extLst>
          </p:cNvPr>
          <p:cNvSpPr txBox="1">
            <a:spLocks noChangeArrowheads="1"/>
          </p:cNvSpPr>
          <p:nvPr/>
        </p:nvSpPr>
        <p:spPr bwMode="auto">
          <a:xfrm>
            <a:off x="4778705" y="2766373"/>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a:extLst>
              <a:ext uri="{FF2B5EF4-FFF2-40B4-BE49-F238E27FC236}">
                <a16:creationId xmlns:a16="http://schemas.microsoft.com/office/drawing/2014/main" id="{87BD392E-0F55-F841-6A27-9D6FB2AED60D}"/>
              </a:ext>
            </a:extLst>
          </p:cNvPr>
          <p:cNvSpPr txBox="1">
            <a:spLocks noChangeArrowheads="1"/>
          </p:cNvSpPr>
          <p:nvPr/>
        </p:nvSpPr>
        <p:spPr bwMode="auto">
          <a:xfrm>
            <a:off x="5591780" y="2472631"/>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a:extLst>
              <a:ext uri="{FF2B5EF4-FFF2-40B4-BE49-F238E27FC236}">
                <a16:creationId xmlns:a16="http://schemas.microsoft.com/office/drawing/2014/main" id="{691C492A-A6EA-3B58-C3F0-6E30D0C48DC0}"/>
              </a:ext>
            </a:extLst>
          </p:cNvPr>
          <p:cNvCxnSpPr>
            <a:cxnSpLocks noChangeShapeType="1"/>
          </p:cNvCxnSpPr>
          <p:nvPr/>
        </p:nvCxnSpPr>
        <p:spPr bwMode="auto">
          <a:xfrm flipV="1">
            <a:off x="5041324" y="3035282"/>
            <a:ext cx="7851" cy="719840"/>
          </a:xfrm>
          <a:prstGeom prst="line">
            <a:avLst/>
          </a:prstGeom>
          <a:noFill/>
          <a:ln w="12700" algn="ctr">
            <a:solidFill>
              <a:srgbClr val="000000"/>
            </a:solidFill>
            <a:prstDash val="dash"/>
            <a:round/>
            <a:headEnd/>
            <a:tailEnd/>
          </a:ln>
        </p:spPr>
      </p:cxnSp>
      <p:cxnSp>
        <p:nvCxnSpPr>
          <p:cNvPr id="255" name="直接连接符 254">
            <a:extLst>
              <a:ext uri="{FF2B5EF4-FFF2-40B4-BE49-F238E27FC236}">
                <a16:creationId xmlns:a16="http://schemas.microsoft.com/office/drawing/2014/main" id="{CF87842B-C7F3-6290-FE35-555BC9A05A75}"/>
              </a:ext>
            </a:extLst>
          </p:cNvPr>
          <p:cNvCxnSpPr>
            <a:cxnSpLocks noChangeShapeType="1"/>
          </p:cNvCxnSpPr>
          <p:nvPr/>
        </p:nvCxnSpPr>
        <p:spPr bwMode="auto">
          <a:xfrm flipV="1">
            <a:off x="5682811" y="2836627"/>
            <a:ext cx="7851" cy="900000"/>
          </a:xfrm>
          <a:prstGeom prst="line">
            <a:avLst/>
          </a:prstGeom>
          <a:noFill/>
          <a:ln w="12700" algn="ctr">
            <a:solidFill>
              <a:srgbClr val="000000"/>
            </a:solidFill>
            <a:prstDash val="dash"/>
            <a:round/>
            <a:headEnd/>
            <a:tailEnd/>
          </a:ln>
        </p:spPr>
      </p:cxnSp>
      <p:cxnSp>
        <p:nvCxnSpPr>
          <p:cNvPr id="256" name="直接连接符 141">
            <a:extLst>
              <a:ext uri="{FF2B5EF4-FFF2-40B4-BE49-F238E27FC236}">
                <a16:creationId xmlns:a16="http://schemas.microsoft.com/office/drawing/2014/main" id="{D4EB58E2-C429-8E67-2556-F1B09A0803C1}"/>
              </a:ext>
            </a:extLst>
          </p:cNvPr>
          <p:cNvCxnSpPr>
            <a:cxnSpLocks noChangeShapeType="1"/>
          </p:cNvCxnSpPr>
          <p:nvPr/>
        </p:nvCxnSpPr>
        <p:spPr bwMode="auto">
          <a:xfrm flipV="1">
            <a:off x="5799445" y="2989883"/>
            <a:ext cx="861297" cy="386624"/>
          </a:xfrm>
          <a:prstGeom prst="line">
            <a:avLst/>
          </a:prstGeom>
          <a:noFill/>
          <a:ln w="19050" algn="ctr">
            <a:solidFill>
              <a:srgbClr val="0000FF"/>
            </a:solidFill>
            <a:round/>
            <a:headEnd/>
            <a:tailEnd/>
          </a:ln>
        </p:spPr>
      </p:cxnSp>
      <p:sp>
        <p:nvSpPr>
          <p:cNvPr id="257" name="Oval 202">
            <a:extLst>
              <a:ext uri="{FF2B5EF4-FFF2-40B4-BE49-F238E27FC236}">
                <a16:creationId xmlns:a16="http://schemas.microsoft.com/office/drawing/2014/main" id="{47E1C25E-CB85-AD45-C91A-1F621490AF44}"/>
              </a:ext>
            </a:extLst>
          </p:cNvPr>
          <p:cNvSpPr>
            <a:spLocks noChangeArrowheads="1"/>
          </p:cNvSpPr>
          <p:nvPr/>
        </p:nvSpPr>
        <p:spPr bwMode="auto">
          <a:xfrm>
            <a:off x="6298504" y="311411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a:extLst>
              <a:ext uri="{FF2B5EF4-FFF2-40B4-BE49-F238E27FC236}">
                <a16:creationId xmlns:a16="http://schemas.microsoft.com/office/drawing/2014/main" id="{BF1707F2-5244-5CAC-43DE-442105C3F2D6}"/>
              </a:ext>
            </a:extLst>
          </p:cNvPr>
          <p:cNvSpPr>
            <a:spLocks noChangeArrowheads="1"/>
          </p:cNvSpPr>
          <p:nvPr/>
        </p:nvSpPr>
        <p:spPr bwMode="auto">
          <a:xfrm>
            <a:off x="5972153" y="325227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a:extLst>
              <a:ext uri="{FF2B5EF4-FFF2-40B4-BE49-F238E27FC236}">
                <a16:creationId xmlns:a16="http://schemas.microsoft.com/office/drawing/2014/main" id="{BD08F7C5-E51A-5DCB-AE88-604A54A584CC}"/>
              </a:ext>
            </a:extLst>
          </p:cNvPr>
          <p:cNvSpPr>
            <a:spLocks noChangeArrowheads="1"/>
          </p:cNvSpPr>
          <p:nvPr/>
        </p:nvSpPr>
        <p:spPr bwMode="auto">
          <a:xfrm>
            <a:off x="6137011" y="318493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Oval 202">
            <a:extLst>
              <a:ext uri="{FF2B5EF4-FFF2-40B4-BE49-F238E27FC236}">
                <a16:creationId xmlns:a16="http://schemas.microsoft.com/office/drawing/2014/main" id="{15C24F60-7DD1-77F9-80BF-81BADE7D0633}"/>
              </a:ext>
            </a:extLst>
          </p:cNvPr>
          <p:cNvSpPr>
            <a:spLocks noChangeArrowheads="1"/>
          </p:cNvSpPr>
          <p:nvPr/>
        </p:nvSpPr>
        <p:spPr bwMode="auto">
          <a:xfrm>
            <a:off x="6465604" y="302819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a:extLst>
              <a:ext uri="{FF2B5EF4-FFF2-40B4-BE49-F238E27FC236}">
                <a16:creationId xmlns:a16="http://schemas.microsoft.com/office/drawing/2014/main" id="{151ABAC6-642F-D63F-83B8-6AB6334B5955}"/>
              </a:ext>
            </a:extLst>
          </p:cNvPr>
          <p:cNvCxnSpPr>
            <a:cxnSpLocks noChangeShapeType="1"/>
          </p:cNvCxnSpPr>
          <p:nvPr/>
        </p:nvCxnSpPr>
        <p:spPr bwMode="auto">
          <a:xfrm flipH="1">
            <a:off x="4229372" y="2259712"/>
            <a:ext cx="3365" cy="147600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a:extLst>
              <a:ext uri="{FF2B5EF4-FFF2-40B4-BE49-F238E27FC236}">
                <a16:creationId xmlns:a16="http://schemas.microsoft.com/office/drawing/2014/main" id="{C9AB4FBF-F31C-D13D-805A-67F22C8FC2C8}"/>
              </a:ext>
            </a:extLst>
          </p:cNvPr>
          <p:cNvCxnSpPr>
            <a:cxnSpLocks noChangeShapeType="1"/>
          </p:cNvCxnSpPr>
          <p:nvPr/>
        </p:nvCxnSpPr>
        <p:spPr bwMode="auto">
          <a:xfrm>
            <a:off x="2937427" y="2813525"/>
            <a:ext cx="0" cy="95553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sp>
        <p:nvSpPr>
          <p:cNvPr id="2" name="标题 1">
            <a:extLst>
              <a:ext uri="{FF2B5EF4-FFF2-40B4-BE49-F238E27FC236}">
                <a16:creationId xmlns:a16="http://schemas.microsoft.com/office/drawing/2014/main" id="{D73005E2-C319-B2E7-7145-B813A2485A00}"/>
              </a:ext>
            </a:extLst>
          </p:cNvPr>
          <p:cNvSpPr>
            <a:spLocks noGrp="1"/>
          </p:cNvSpPr>
          <p:nvPr>
            <p:ph type="title"/>
          </p:nvPr>
        </p:nvSpPr>
        <p:spPr>
          <a:xfrm>
            <a:off x="2412000" y="104400"/>
            <a:ext cx="4320000" cy="369332"/>
          </a:xfrm>
        </p:spPr>
        <p:txBody>
          <a:bodyPr/>
          <a:lstStyle/>
          <a:p>
            <a:r>
              <a:rPr lang="zh-CN" altLang="en-US" dirty="0"/>
              <a:t>拥塞控制</a:t>
            </a:r>
          </a:p>
        </p:txBody>
      </p:sp>
      <p:sp>
        <p:nvSpPr>
          <p:cNvPr id="260" name="TextBox 149">
            <a:extLst>
              <a:ext uri="{FF2B5EF4-FFF2-40B4-BE49-F238E27FC236}">
                <a16:creationId xmlns:a16="http://schemas.microsoft.com/office/drawing/2014/main" id="{DC9CD50D-72C0-9158-2D50-3F34574FDCAF}"/>
              </a:ext>
            </a:extLst>
          </p:cNvPr>
          <p:cNvSpPr txBox="1">
            <a:spLocks noChangeArrowheads="1"/>
          </p:cNvSpPr>
          <p:nvPr/>
        </p:nvSpPr>
        <p:spPr bwMode="auto">
          <a:xfrm>
            <a:off x="5643370" y="3315541"/>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6229671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482554"/>
            <a:ext cx="8172000" cy="4267246"/>
          </a:xfrm>
          <a:noFill/>
          <a:ln w="9525">
            <a:noFill/>
            <a:miter lim="800000"/>
            <a:headEnd/>
            <a:tailEnd/>
          </a:ln>
          <a:effectLst/>
        </p:spPr>
        <p:txBody>
          <a:bodyPr vert="horz" wrap="square" lIns="0" tIns="36000" rIns="0" bIns="36000" rtlCol="0">
            <a:spAutoFit/>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a:t>ssthresh = </a:t>
            </a:r>
            <a:r>
              <a:rPr lang="zh-CN" altLang="en-US" dirty="0"/>
              <a:t>当前拥塞窗口 </a:t>
            </a:r>
            <a:r>
              <a:rPr lang="en-US" altLang="zh-CN" dirty="0"/>
              <a:t>cwnd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a:t>cwnd = </a:t>
            </a:r>
            <a:r>
              <a:rPr lang="zh-CN" altLang="en-US" dirty="0"/>
              <a:t>慢开始门限 </a:t>
            </a:r>
            <a:r>
              <a:rPr lang="en-US" altLang="zh-CN" dirty="0"/>
              <a:t>ssthresh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2412000" y="104400"/>
            <a:ext cx="4320000" cy="369332"/>
          </a:xfrm>
        </p:spPr>
        <p:txBody>
          <a:bodyPr/>
          <a:lstStyle/>
          <a:p>
            <a:r>
              <a:rPr lang="zh-CN" altLang="en-US" dirty="0"/>
              <a:t>快恢复</a:t>
            </a:r>
            <a:r>
              <a:rPr lang="en-US" altLang="zh-CN" dirty="0"/>
              <a:t> Fast Recovery</a:t>
            </a:r>
            <a:endParaRPr lang="zh-CN" altLang="en-US" dirty="0"/>
          </a:p>
        </p:txBody>
      </p:sp>
      <p:sp>
        <p:nvSpPr>
          <p:cNvPr id="7" name="矩形 6"/>
          <p:cNvSpPr/>
          <p:nvPr/>
        </p:nvSpPr>
        <p:spPr>
          <a:xfrm>
            <a:off x="994919" y="3580325"/>
            <a:ext cx="7413788" cy="400110"/>
          </a:xfrm>
          <a:prstGeom prst="rect">
            <a:avLst/>
          </a:prstGeom>
          <a:noFill/>
          <a:ln w="9525">
            <a:noFill/>
            <a:miter lim="800000"/>
            <a:headEnd/>
            <a:tailEnd/>
          </a:ln>
          <a:effectLst/>
        </p:spPr>
        <p:txBody>
          <a:bodyPr wrap="square">
            <a:spAutoFit/>
          </a:bodyPr>
          <a:lstStyle/>
          <a:p>
            <a:pPr algn="ctr">
              <a:lnSpc>
                <a:spcPct val="110000"/>
              </a:lnSpc>
            </a:pPr>
            <a:r>
              <a:rPr lang="zh-CN" altLang="en-US" sz="1200" dirty="0">
                <a:latin typeface="Montserrat" panose="00000500000000000000" pitchFamily="2" charset="0"/>
                <a:ea typeface="微软雅黑 Light" panose="020B0502040204020203" pitchFamily="34" charset="-122"/>
              </a:rPr>
              <a:t>二者合在一起就是所谓的 </a:t>
            </a:r>
            <a:r>
              <a:rPr lang="en-US" altLang="zh-CN" sz="1200" dirty="0">
                <a:latin typeface="Montserrat" panose="00000500000000000000" pitchFamily="2" charset="0"/>
                <a:ea typeface="微软雅黑 Light" panose="020B0502040204020203" pitchFamily="34" charset="-122"/>
              </a:rPr>
              <a:t>AIMD </a:t>
            </a:r>
            <a:r>
              <a:rPr lang="zh-CN" altLang="en-US" sz="1200" dirty="0">
                <a:latin typeface="Montserrat" panose="00000500000000000000" pitchFamily="2" charset="0"/>
                <a:ea typeface="微软雅黑 Light" panose="020B0502040204020203" pitchFamily="34" charset="-122"/>
              </a:rPr>
              <a:t>算法，使 </a:t>
            </a:r>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性能有明显改进</a:t>
            </a:r>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a:solidFill>
                  <a:srgbClr val="0000FF"/>
                </a:solidFill>
                <a:latin typeface="微软雅黑" pitchFamily="34" charset="-122"/>
                <a:ea typeface="微软雅黑" pitchFamily="34" charset="-122"/>
              </a:rPr>
              <a:t>ssthresh = cwnd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a:solidFill>
                  <a:srgbClr val="0000FF"/>
                </a:solidFill>
                <a:latin typeface="微软雅黑" pitchFamily="34" charset="-122"/>
                <a:ea typeface="微软雅黑" pitchFamily="34" charset="-122"/>
              </a:rPr>
              <a:t>cwnd = ssthresh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2412000" y="104400"/>
            <a:ext cx="4320000" cy="369332"/>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9525">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656000" cy="461665"/>
          </a:xfrm>
          <a:prstGeom prst="rect">
            <a:avLst/>
          </a:prstGeom>
          <a:noFill/>
          <a:ln w="19050">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dirty="0"/>
              <a:t>ssthresh = cwnd / 2</a:t>
            </a:r>
          </a:p>
          <a:p>
            <a:r>
              <a:rPr lang="en-US" altLang="zh-CN" dirty="0"/>
              <a:t>cwnd = 1</a:t>
            </a:r>
            <a:endParaRPr lang="zh-CN" altLang="en-US" dirty="0"/>
          </a:p>
        </p:txBody>
      </p:sp>
      <p:cxnSp>
        <p:nvCxnSpPr>
          <p:cNvPr id="10" name="肘形连接符 9"/>
          <p:cNvCxnSpPr>
            <a:stCxn id="22" idx="1"/>
            <a:endCxn id="9" idx="2"/>
          </p:cNvCxnSpPr>
          <p:nvPr/>
        </p:nvCxnSpPr>
        <p:spPr>
          <a:xfrm rot="10800000">
            <a:off x="2210573" y="1713328"/>
            <a:ext cx="895696" cy="422450"/>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10573" y="1713329"/>
            <a:ext cx="894562" cy="1771187"/>
          </a:xfrm>
          <a:prstGeom prst="bentConnector2">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1905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9525">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55610" y="1481084"/>
            <a:ext cx="756000" cy="3"/>
          </a:xfrm>
          <a:prstGeom prst="line">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2412000" y="104400"/>
            <a:ext cx="4320000" cy="369332"/>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noFill/>
          <a:ln w="12700">
            <a:no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发送窗口的上限值 </a:t>
            </a:r>
            <a:r>
              <a:rPr lang="en-US" altLang="zh-CN" sz="2000" dirty="0">
                <a:latin typeface="Montserrat" panose="00000500000000000000" pitchFamily="2" charset="0"/>
                <a:ea typeface="微软雅黑 Light" panose="020B0502040204020203" pitchFamily="34" charset="-122"/>
              </a:rPr>
              <a:t>=</a:t>
            </a:r>
            <a:r>
              <a:rPr lang="zh-CN" altLang="en-US" sz="2000" dirty="0">
                <a:latin typeface="Montserrat" panose="00000500000000000000" pitchFamily="2" charset="0"/>
                <a:ea typeface="微软雅黑 Light" panose="020B0502040204020203" pitchFamily="34" charset="-122"/>
              </a:rPr>
              <a:t> </a:t>
            </a:r>
            <a:r>
              <a:rPr lang="en-US" altLang="zh-CN" sz="2000" dirty="0">
                <a:latin typeface="Montserrat" panose="00000500000000000000" pitchFamily="2" charset="0"/>
                <a:ea typeface="微软雅黑 Light" panose="020B0502040204020203" pitchFamily="34" charset="-122"/>
              </a:rPr>
              <a:t>Min [rwnd, cwnd]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482554"/>
            <a:ext cx="8172000" cy="4267246"/>
          </a:xfrm>
        </p:spPr>
        <p:txBody>
          <a:bodyPr/>
          <a:lstStyle/>
          <a:p>
            <a:r>
              <a:rPr lang="zh-CN" altLang="en-US" dirty="0"/>
              <a:t>当 </a:t>
            </a:r>
            <a:r>
              <a:rPr lang="en-US" altLang="zh-CN" dirty="0"/>
              <a:t>rwnd &lt; cwnd </a:t>
            </a:r>
            <a:r>
              <a:rPr lang="zh-CN" altLang="en-US" dirty="0"/>
              <a:t>时，是接收方的接收能力限制发送窗口的最大值。</a:t>
            </a:r>
          </a:p>
          <a:p>
            <a:r>
              <a:rPr lang="zh-CN" altLang="en-US" dirty="0"/>
              <a:t>当 </a:t>
            </a:r>
            <a:r>
              <a:rPr lang="en-US" altLang="zh-CN" dirty="0"/>
              <a:t>cwnd &lt; rwnd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2412000" y="104400"/>
            <a:ext cx="4320000" cy="369332"/>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2412000" y="104400"/>
            <a:ext cx="4320000" cy="369332"/>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482554"/>
            <a:ext cx="8172000" cy="4267246"/>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2412000" y="104400"/>
            <a:ext cx="4320000" cy="369332"/>
          </a:xfrm>
        </p:spPr>
        <p:txBody>
          <a:bodyPr/>
          <a:lstStyle/>
          <a:p>
            <a:r>
              <a:rPr lang="zh-CN" altLang="en-US" dirty="0"/>
              <a:t>先进先出 </a:t>
            </a:r>
            <a:r>
              <a:rPr lang="en-US" altLang="zh-CN" dirty="0"/>
              <a:t>FIFO </a:t>
            </a:r>
            <a:endParaRPr lang="zh-CN" altLang="en-US" dirty="0"/>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dirty="0"/>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2412000" y="104400"/>
            <a:ext cx="4320000" cy="369332"/>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2412000" y="104400"/>
            <a:ext cx="4320000" cy="369332"/>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dirty="0"/>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2412000" y="104400"/>
            <a:ext cx="4320000" cy="369332"/>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2412000" y="104400"/>
            <a:ext cx="4320000" cy="369332"/>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482554"/>
            <a:ext cx="8172000" cy="4267246"/>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2412000" y="104400"/>
            <a:ext cx="4320000" cy="369332"/>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482554"/>
            <a:ext cx="8172000" cy="4267246"/>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2412000" y="104400"/>
            <a:ext cx="4320000" cy="369332"/>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2412000" y="104400"/>
            <a:ext cx="4320000" cy="369332"/>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2412000" y="104400"/>
            <a:ext cx="4320000" cy="369332"/>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482554"/>
            <a:ext cx="8172000" cy="4267246"/>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2412000" y="104400"/>
            <a:ext cx="4320000" cy="369332"/>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9" name="标题 8">
            <a:extLst>
              <a:ext uri="{FF2B5EF4-FFF2-40B4-BE49-F238E27FC236}">
                <a16:creationId xmlns:a16="http://schemas.microsoft.com/office/drawing/2014/main" id="{DD9D4B7F-D34F-3025-4D85-DB2314B2D740}"/>
              </a:ext>
            </a:extLst>
          </p:cNvPr>
          <p:cNvSpPr>
            <a:spLocks noGrp="1"/>
          </p:cNvSpPr>
          <p:nvPr>
            <p:ph type="title"/>
          </p:nvPr>
        </p:nvSpPr>
        <p:spPr>
          <a:xfrm>
            <a:off x="2412000" y="104400"/>
            <a:ext cx="4320000" cy="369332"/>
          </a:xfrm>
        </p:spPr>
        <p:txBody>
          <a:bodyPr/>
          <a:lstStyle/>
          <a:p>
            <a:r>
              <a:rPr lang="fr-FR" altLang="zh-CN" dirty="0"/>
              <a:t>5.9 </a:t>
            </a:r>
            <a:r>
              <a:rPr lang="en-US" altLang="zh-CN" dirty="0"/>
              <a:t>TCP </a:t>
            </a:r>
            <a:r>
              <a:rPr lang="zh-CN" altLang="en-US" dirty="0"/>
              <a:t>的运输连接管理</a:t>
            </a:r>
            <a:endParaRPr lang="zh-CN" altLang="fr-FR" dirty="0"/>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2412000" y="104400"/>
            <a:ext cx="4320000" cy="369332"/>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482554"/>
            <a:ext cx="8172000" cy="4267246"/>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2412000" y="104400"/>
            <a:ext cx="4320000" cy="369332"/>
          </a:xfrm>
        </p:spPr>
        <p:txBody>
          <a:bodyPr/>
          <a:lstStyle/>
          <a:p>
            <a:r>
              <a:rPr lang="zh-CN" altLang="en-US" dirty="0"/>
              <a:t>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482554"/>
            <a:ext cx="8172000" cy="4267246"/>
          </a:xfrm>
        </p:spPr>
        <p:txBody>
          <a:bodyPr/>
          <a:lstStyle/>
          <a:p>
            <a:endParaRPr lang="en-US" altLang="zh-CN" dirty="0"/>
          </a:p>
          <a:p>
            <a:r>
              <a:rPr lang="en-US" altLang="zh-CN" dirty="0"/>
              <a:t>TCP </a:t>
            </a:r>
            <a:r>
              <a:rPr lang="zh-CN" altLang="en-US" dirty="0"/>
              <a:t>连接的建立采用客户服务器方式。</a:t>
            </a:r>
          </a:p>
          <a:p>
            <a:r>
              <a:rPr lang="zh-CN" altLang="en-US" dirty="0"/>
              <a:t>主动发起连接建立的应用进程叫做客户 </a:t>
            </a:r>
            <a:r>
              <a:rPr lang="en-US" altLang="zh-CN" dirty="0"/>
              <a:t>Client</a:t>
            </a:r>
            <a:endParaRPr lang="zh-CN" altLang="en-US" dirty="0"/>
          </a:p>
          <a:p>
            <a:r>
              <a:rPr lang="zh-CN" altLang="en-US" dirty="0"/>
              <a:t>被动等待连接建立的应用进程叫做服务器 </a:t>
            </a:r>
            <a:r>
              <a:rPr lang="en-US" altLang="zh-CN" dirty="0"/>
              <a:t>Server</a:t>
            </a:r>
            <a:endParaRPr lang="zh-CN" altLang="en-US" dirty="0"/>
          </a:p>
          <a:p>
            <a:endParaRPr lang="en-US" altLang="zh-CN" dirty="0"/>
          </a:p>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2412000" y="104400"/>
            <a:ext cx="4320000" cy="369332"/>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C2194A7F-D144-00CF-586C-1B78B1A0DD71}"/>
              </a:ext>
            </a:extLst>
          </p:cNvPr>
          <p:cNvGrpSpPr/>
          <p:nvPr/>
        </p:nvGrpSpPr>
        <p:grpSpPr>
          <a:xfrm>
            <a:off x="2827328" y="881788"/>
            <a:ext cx="3489344" cy="3348000"/>
            <a:chOff x="2464083" y="881788"/>
            <a:chExt cx="3489344" cy="334800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grpSp>
      <p:sp>
        <p:nvSpPr>
          <p:cNvPr id="3" name="标题 2">
            <a:extLst>
              <a:ext uri="{FF2B5EF4-FFF2-40B4-BE49-F238E27FC236}">
                <a16:creationId xmlns:a16="http://schemas.microsoft.com/office/drawing/2014/main" id="{E8867732-6ADD-F1E2-DBE1-5677DFB3ACDA}"/>
              </a:ext>
            </a:extLst>
          </p:cNvPr>
          <p:cNvSpPr>
            <a:spLocks noGrp="1"/>
          </p:cNvSpPr>
          <p:nvPr>
            <p:ph type="title"/>
          </p:nvPr>
        </p:nvSpPr>
        <p:spPr>
          <a:xfrm>
            <a:off x="2412000" y="104400"/>
            <a:ext cx="4320000" cy="369332"/>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2412000" y="104400"/>
            <a:ext cx="4320000" cy="369332"/>
          </a:xfrm>
        </p:spPr>
        <p:txBody>
          <a:bodyPr/>
          <a:lstStyle/>
          <a:p>
            <a:r>
              <a:rPr lang="zh-CN" altLang="en-US" dirty="0"/>
              <a:t>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 name="内容占位符 1">
            <a:extLst>
              <a:ext uri="{FF2B5EF4-FFF2-40B4-BE49-F238E27FC236}">
                <a16:creationId xmlns:a16="http://schemas.microsoft.com/office/drawing/2014/main" id="{90FB3465-8538-C07B-4192-158DA9F5FE01}"/>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服务器进程先创建传输控制块 </a:t>
            </a:r>
            <a:r>
              <a:rPr lang="en-US" altLang="zh-CN" dirty="0"/>
              <a:t>TCB</a:t>
            </a:r>
            <a:r>
              <a:rPr lang="zh-CN" altLang="en-US" dirty="0"/>
              <a:t>，准备接受客户进程的连接请求</a:t>
            </a:r>
          </a:p>
          <a:p>
            <a:endParaRPr lang="zh-CN" altLang="en-US" dirty="0"/>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2412000" y="104400"/>
            <a:ext cx="4320000" cy="369332"/>
          </a:xfrm>
        </p:spPr>
        <p:txBody>
          <a:bodyPr/>
          <a:lstStyle/>
          <a:p>
            <a:r>
              <a:rPr lang="zh-CN" altLang="en-US" dirty="0"/>
              <a:t>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2000"/>
                                  </p:stCondLst>
                                  <p:childTnLst>
                                    <p:set>
                                      <p:cBhvr>
                                        <p:cTn id="6" dur="1" fill="hold">
                                          <p:stCondLst>
                                            <p:cond delay="0"/>
                                          </p:stCondLst>
                                        </p:cTn>
                                        <p:tgtEl>
                                          <p:spTgt spid="17"/>
                                        </p:tgtEl>
                                        <p:attrNameLst>
                                          <p:attrName>style.visibility</p:attrName>
                                        </p:attrNameLst>
                                      </p:cBhvr>
                                      <p:to>
                                        <p:strVal val="visible"/>
                                      </p:to>
                                    </p:set>
                                    <p:animEffect transition="in" filter="wipe(up)">
                                      <p:cBhvr>
                                        <p:cTn id="7"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EE17F5D-08CE-6A1C-9C15-7B89437D5B7B}"/>
              </a:ext>
            </a:extLst>
          </p:cNvPr>
          <p:cNvSpPr>
            <a:spLocks noGrp="1"/>
          </p:cNvSpPr>
          <p:nvPr>
            <p:ph sz="quarter" idx="11"/>
          </p:nvPr>
        </p:nvSpPr>
        <p:spPr>
          <a:xfrm>
            <a:off x="486000" y="482554"/>
            <a:ext cx="8172000" cy="4267246"/>
          </a:xfrm>
        </p:spPr>
        <p:txBody>
          <a:bodyPr/>
          <a:lstStyle/>
          <a:p>
            <a:r>
              <a:rPr lang="en-US" altLang="zh-CN" dirty="0"/>
              <a:t>A </a:t>
            </a:r>
            <a:r>
              <a:rPr lang="zh-CN" altLang="en-US" dirty="0"/>
              <a:t>的 </a:t>
            </a:r>
            <a:r>
              <a:rPr lang="en-US" altLang="zh-CN" dirty="0"/>
              <a:t>TCP </a:t>
            </a:r>
            <a:r>
              <a:rPr lang="zh-CN" altLang="en-US" dirty="0"/>
              <a:t>向 </a:t>
            </a:r>
            <a:r>
              <a:rPr lang="en-US" altLang="zh-CN" dirty="0"/>
              <a:t>B </a:t>
            </a:r>
            <a:r>
              <a:rPr lang="zh-CN" altLang="en-US" dirty="0"/>
              <a:t>主动发出连接请求报文段</a:t>
            </a:r>
            <a:endParaRPr lang="en-US" altLang="zh-CN" dirty="0"/>
          </a:p>
          <a:p>
            <a:pPr lvl="1"/>
            <a:r>
              <a:rPr lang="zh-CN" altLang="en-US" dirty="0"/>
              <a:t>其首部中的同步位 </a:t>
            </a:r>
            <a:r>
              <a:rPr lang="en-US" altLang="zh-CN" dirty="0"/>
              <a:t>SYN = 1</a:t>
            </a:r>
            <a:r>
              <a:rPr lang="zh-CN" altLang="en-US" dirty="0"/>
              <a:t>，并选择序号 </a:t>
            </a:r>
            <a:r>
              <a:rPr lang="en-US" altLang="zh-CN" dirty="0"/>
              <a:t>seq = x</a:t>
            </a:r>
            <a:r>
              <a:rPr lang="zh-CN" altLang="en-US" dirty="0"/>
              <a:t>，表明传送数据时的第一个数据字节的序号是 </a:t>
            </a:r>
            <a:r>
              <a:rPr lang="en-US" altLang="zh-CN" dirty="0"/>
              <a:t>x</a:t>
            </a:r>
            <a:endParaRPr lang="zh-CN" altLang="en-US"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r>
              <a:rPr lang="en-US" altLang="zh-CN" dirty="0"/>
              <a:t>TCP</a:t>
            </a:r>
            <a:r>
              <a:rPr lang="zh-CN" altLang="zh-CN" dirty="0"/>
              <a:t>规定，</a:t>
            </a:r>
            <a:r>
              <a:rPr lang="en-US" altLang="zh-CN" dirty="0"/>
              <a:t>SYN </a:t>
            </a:r>
            <a:r>
              <a:rPr lang="zh-CN" altLang="zh-CN" dirty="0"/>
              <a:t>报文段（即</a:t>
            </a:r>
            <a:r>
              <a:rPr lang="en-US" altLang="zh-CN" dirty="0"/>
              <a:t>SYN = 1</a:t>
            </a:r>
            <a:r>
              <a:rPr lang="zh-CN" altLang="zh-CN" dirty="0"/>
              <a:t>的报文段）不能携带数据，但要消耗掉一个序号</a:t>
            </a:r>
            <a:endParaRPr lang="zh-CN" altLang="en-US" dirty="0"/>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2412000" y="104400"/>
            <a:ext cx="4320000" cy="369332"/>
          </a:xfrm>
        </p:spPr>
        <p:txBody>
          <a:bodyPr/>
          <a:lstStyle/>
          <a:p>
            <a:r>
              <a:rPr lang="zh-CN" altLang="en-US" dirty="0"/>
              <a:t>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 name="内容占位符 2">
            <a:extLst>
              <a:ext uri="{FF2B5EF4-FFF2-40B4-BE49-F238E27FC236}">
                <a16:creationId xmlns:a16="http://schemas.microsoft.com/office/drawing/2014/main" id="{8C0F3D1C-7ED8-EE9B-E7AF-7C49E79A9BA3}"/>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收到连接请求报文段后，如同意，则发回确认</a:t>
            </a:r>
          </a:p>
          <a:p>
            <a:pPr lvl="1"/>
            <a:r>
              <a:rPr lang="zh-CN" altLang="en-US" dirty="0"/>
              <a:t> </a:t>
            </a:r>
            <a:r>
              <a:rPr lang="en-US" altLang="zh-CN" dirty="0"/>
              <a:t>SYN = 1</a:t>
            </a:r>
            <a:r>
              <a:rPr lang="zh-CN" altLang="en-US" dirty="0"/>
              <a:t>，</a:t>
            </a:r>
            <a:r>
              <a:rPr lang="en-US" altLang="zh-CN" dirty="0"/>
              <a:t>ACK = 1</a:t>
            </a:r>
            <a:r>
              <a:rPr lang="zh-CN" altLang="en-US" dirty="0"/>
              <a:t>，</a:t>
            </a:r>
            <a:r>
              <a:rPr lang="en-US" altLang="zh-CN" dirty="0"/>
              <a:t>ack = x + 1</a:t>
            </a:r>
            <a:r>
              <a:rPr lang="zh-CN" altLang="en-US" dirty="0"/>
              <a:t>，自己选择的序号 </a:t>
            </a:r>
            <a:r>
              <a:rPr lang="en-US" altLang="zh-CN" dirty="0"/>
              <a:t>seq = y</a:t>
            </a:r>
            <a:endParaRPr lang="zh-CN" altLang="en-US"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endParaRPr lang="en-US" altLang="zh-CN" dirty="0"/>
          </a:p>
          <a:p>
            <a:pPr lvl="1"/>
            <a:r>
              <a:rPr lang="zh-CN" altLang="zh-CN" dirty="0"/>
              <a:t>这个报文段也不能携带数据，但同样要消耗掉一个序号</a:t>
            </a:r>
            <a:endParaRPr lang="zh-CN" altLang="en-US" dirty="0"/>
          </a:p>
          <a:p>
            <a:endParaRPr lang="zh-CN" altLang="en-US" dirty="0"/>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2412000" y="104400"/>
            <a:ext cx="4320000" cy="369332"/>
          </a:xfrm>
        </p:spPr>
        <p:txBody>
          <a:bodyPr/>
          <a:lstStyle/>
          <a:p>
            <a:r>
              <a:rPr lang="zh-CN" altLang="en-US" dirty="0"/>
              <a:t>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29"/>
                                        </p:tgtEl>
                                        <p:attrNameLst>
                                          <p:attrName>style.visibility</p:attrName>
                                        </p:attrNameLst>
                                      </p:cBhvr>
                                      <p:to>
                                        <p:strVal val="visible"/>
                                      </p:to>
                                    </p:set>
                                    <p:animEffect transition="in" filter="wipe(right)">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2" name="内容占位符 1">
            <a:extLst>
              <a:ext uri="{FF2B5EF4-FFF2-40B4-BE49-F238E27FC236}">
                <a16:creationId xmlns:a16="http://schemas.microsoft.com/office/drawing/2014/main" id="{9D47A0A7-E665-ECBA-ED21-0FD5AEDB99F7}"/>
              </a:ext>
            </a:extLst>
          </p:cNvPr>
          <p:cNvSpPr>
            <a:spLocks noGrp="1"/>
          </p:cNvSpPr>
          <p:nvPr>
            <p:ph sz="quarter" idx="11"/>
          </p:nvPr>
        </p:nvSpPr>
        <p:spPr>
          <a:xfrm>
            <a:off x="486000" y="482554"/>
            <a:ext cx="8172000" cy="4267246"/>
          </a:xfrm>
        </p:spPr>
        <p:txBody>
          <a:bodyPr/>
          <a:lstStyle/>
          <a:p>
            <a:r>
              <a:rPr lang="en-US" altLang="zh-CN" dirty="0"/>
              <a:t>A </a:t>
            </a:r>
            <a:r>
              <a:rPr lang="zh-CN" altLang="en-US" dirty="0"/>
              <a:t>收到此报文段后向 </a:t>
            </a:r>
            <a:r>
              <a:rPr lang="en-US" altLang="zh-CN" dirty="0"/>
              <a:t>B </a:t>
            </a:r>
            <a:r>
              <a:rPr lang="zh-CN" altLang="en-US" dirty="0"/>
              <a:t>给出确认，并通知上层应用进程，连接已经建立</a:t>
            </a:r>
            <a:endParaRPr lang="en-US" altLang="zh-CN" dirty="0"/>
          </a:p>
          <a:p>
            <a:pPr lvl="1"/>
            <a:r>
              <a:rPr lang="zh-CN" altLang="en-US" dirty="0"/>
              <a:t> </a:t>
            </a:r>
            <a:r>
              <a:rPr lang="en-US" altLang="zh-CN" dirty="0"/>
              <a:t>ACK = 1</a:t>
            </a:r>
            <a:r>
              <a:rPr lang="zh-CN" altLang="en-US" dirty="0"/>
              <a:t>，</a:t>
            </a:r>
            <a:r>
              <a:rPr lang="en-US" altLang="zh-CN" dirty="0"/>
              <a:t>ack = y + 1</a:t>
            </a:r>
            <a:r>
              <a:rPr lang="zh-CN" altLang="en-US" dirty="0"/>
              <a:t> </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r>
              <a:rPr lang="en-US" altLang="zh-CN" dirty="0"/>
              <a:t>TCP </a:t>
            </a:r>
            <a:r>
              <a:rPr lang="zh-CN" altLang="en-US" dirty="0"/>
              <a:t>标准规定：</a:t>
            </a:r>
            <a:r>
              <a:rPr lang="en-US" altLang="zh-CN" dirty="0"/>
              <a:t>ACK </a:t>
            </a:r>
            <a:r>
              <a:rPr lang="zh-CN" altLang="en-US" dirty="0"/>
              <a:t>报文段可以携带数据</a:t>
            </a:r>
            <a:endParaRPr lang="en-US" altLang="zh-CN" dirty="0"/>
          </a:p>
          <a:p>
            <a:pPr lvl="1"/>
            <a:r>
              <a:rPr lang="zh-CN" altLang="en-US" dirty="0"/>
              <a:t>但如果不携带数据，则不消耗序号。下一个数据报文段的序号仍是 </a:t>
            </a:r>
            <a:r>
              <a:rPr lang="en-US" altLang="zh-CN" dirty="0"/>
              <a:t>seq = x + 1</a:t>
            </a:r>
            <a:endParaRPr lang="zh-CN" altLang="en-US" dirty="0"/>
          </a:p>
          <a:p>
            <a:endParaRPr lang="zh-CN" altLang="en-US" dirty="0"/>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2412000" y="104400"/>
            <a:ext cx="4320000" cy="369332"/>
          </a:xfrm>
        </p:spPr>
        <p:txBody>
          <a:bodyPr/>
          <a:lstStyle/>
          <a:p>
            <a:r>
              <a:rPr lang="zh-CN" altLang="en-US" dirty="0"/>
              <a:t>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2" name="内容占位符 1">
            <a:extLst>
              <a:ext uri="{FF2B5EF4-FFF2-40B4-BE49-F238E27FC236}">
                <a16:creationId xmlns:a16="http://schemas.microsoft.com/office/drawing/2014/main" id="{023C267E-12E2-76D2-F17D-302A0602A08C}"/>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收到主机 </a:t>
            </a:r>
            <a:r>
              <a:rPr lang="en-US" altLang="zh-CN" dirty="0"/>
              <a:t>A </a:t>
            </a:r>
            <a:r>
              <a:rPr lang="zh-CN" altLang="en-US" dirty="0"/>
              <a:t>的确认后，通知其上层应用进程：</a:t>
            </a:r>
            <a:r>
              <a:rPr lang="en-US" altLang="zh-CN" dirty="0"/>
              <a:t>TCP </a:t>
            </a:r>
            <a:r>
              <a:rPr lang="zh-CN" altLang="en-US" dirty="0"/>
              <a:t>连接已经建立</a:t>
            </a:r>
            <a:endParaRPr lang="en-US" altLang="zh-CN" dirty="0"/>
          </a:p>
          <a:p>
            <a:r>
              <a:rPr lang="zh-CN" altLang="en-US" dirty="0"/>
              <a:t>双方可以开始数据传送</a:t>
            </a:r>
          </a:p>
          <a:p>
            <a:endParaRPr lang="zh-CN" altLang="en-US" dirty="0"/>
          </a:p>
        </p:txBody>
      </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2412000" y="104400"/>
            <a:ext cx="4320000" cy="369332"/>
          </a:xfrm>
        </p:spPr>
        <p:txBody>
          <a:bodyPr/>
          <a:lstStyle/>
          <a:p>
            <a:r>
              <a:rPr lang="zh-CN" altLang="en-US" dirty="0"/>
              <a:t>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rot="665985">
            <a:off x="3919697" y="2021524"/>
            <a:ext cx="15436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SYN = 1, seq = x</a:t>
            </a:r>
          </a:p>
        </p:txBody>
      </p:sp>
      <p:sp>
        <p:nvSpPr>
          <p:cNvPr id="9" name="Line 8"/>
          <p:cNvSpPr>
            <a:spLocks noChangeShapeType="1"/>
          </p:cNvSpPr>
          <p:nvPr/>
        </p:nvSpPr>
        <p:spPr bwMode="auto">
          <a:xfrm>
            <a:off x="3588957" y="2033159"/>
            <a:ext cx="2232000" cy="48600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Rectangle 9"/>
          <p:cNvSpPr>
            <a:spLocks noChangeArrowheads="1"/>
          </p:cNvSpPr>
          <p:nvPr/>
        </p:nvSpPr>
        <p:spPr bwMode="auto">
          <a:xfrm>
            <a:off x="2442344" y="1662634"/>
            <a:ext cx="1080000" cy="332986"/>
          </a:xfrm>
          <a:prstGeom prst="rect">
            <a:avLst/>
          </a:prstGeom>
          <a:solidFill>
            <a:schemeClr val="bg1">
              <a:lumMod val="75000"/>
            </a:schemeClr>
          </a:solidFill>
          <a:ln w="12700">
            <a:noFill/>
            <a:miter lim="800000"/>
            <a:headEnd/>
            <a:tailEnd/>
          </a:ln>
          <a:effectLst/>
        </p:spPr>
        <p:txBody>
          <a:bodyPr wrap="none" anchor="ctr"/>
          <a:lstStyle/>
          <a:p>
            <a:pPr algn="ctr">
              <a:defRPr/>
            </a:pPr>
            <a:r>
              <a:rPr lang="en-US" altLang="zh-CN" sz="1100" dirty="0">
                <a:latin typeface="Montserrat" panose="00000500000000000000" pitchFamily="2" charset="0"/>
                <a:ea typeface="微软雅黑 Light" panose="020B0502040204020203" pitchFamily="34" charset="-122"/>
              </a:rPr>
              <a:t>CLOSED</a:t>
            </a:r>
          </a:p>
        </p:txBody>
      </p:sp>
      <p:sp>
        <p:nvSpPr>
          <p:cNvPr id="12" name="Rectangle 11"/>
          <p:cNvSpPr>
            <a:spLocks noChangeArrowheads="1"/>
          </p:cNvSpPr>
          <p:nvPr/>
        </p:nvSpPr>
        <p:spPr bwMode="auto">
          <a:xfrm>
            <a:off x="5860722" y="1662634"/>
            <a:ext cx="1080000" cy="332986"/>
          </a:xfrm>
          <a:prstGeom prst="rect">
            <a:avLst/>
          </a:prstGeom>
          <a:solidFill>
            <a:schemeClr val="bg1">
              <a:lumMod val="75000"/>
            </a:schemeClr>
          </a:solidFill>
          <a:ln w="12700">
            <a:noFill/>
            <a:miter lim="800000"/>
            <a:headEnd/>
            <a:tailEnd/>
          </a:ln>
          <a:effectLst/>
        </p:spPr>
        <p:txBody>
          <a:bodyPr wrap="none" anchor="ctr"/>
          <a:lstStyle/>
          <a:p>
            <a:pPr algn="ctr">
              <a:defRPr/>
            </a:pPr>
            <a:r>
              <a:rPr lang="en-US" altLang="zh-CN" sz="1100" dirty="0">
                <a:latin typeface="Montserrat" panose="00000500000000000000" pitchFamily="2" charset="0"/>
                <a:ea typeface="微软雅黑 Light" panose="020B0502040204020203" pitchFamily="34" charset="-122"/>
              </a:rPr>
              <a:t>CLOSED</a:t>
            </a:r>
          </a:p>
        </p:txBody>
      </p:sp>
      <p:sp>
        <p:nvSpPr>
          <p:cNvPr id="15" name="Rectangle 14"/>
          <p:cNvSpPr>
            <a:spLocks noChangeArrowheads="1"/>
          </p:cNvSpPr>
          <p:nvPr/>
        </p:nvSpPr>
        <p:spPr bwMode="auto">
          <a:xfrm>
            <a:off x="1457425" y="1778121"/>
            <a:ext cx="891649" cy="274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主动打开</a:t>
            </a:r>
          </a:p>
        </p:txBody>
      </p:sp>
      <p:sp>
        <p:nvSpPr>
          <p:cNvPr id="16" name="Freeform 15"/>
          <p:cNvSpPr>
            <a:spLocks/>
          </p:cNvSpPr>
          <p:nvPr/>
        </p:nvSpPr>
        <p:spPr bwMode="auto">
          <a:xfrm>
            <a:off x="1489692" y="1458608"/>
            <a:ext cx="1191733" cy="574546"/>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chemeClr val="tx1">
                <a:lumMod val="95000"/>
                <a:lumOff val="5000"/>
              </a:schemeClr>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8" name="Rectangle 17"/>
          <p:cNvSpPr>
            <a:spLocks noChangeArrowheads="1"/>
          </p:cNvSpPr>
          <p:nvPr/>
        </p:nvSpPr>
        <p:spPr bwMode="auto">
          <a:xfrm>
            <a:off x="7080033" y="1767535"/>
            <a:ext cx="821616" cy="274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被动打开</a:t>
            </a:r>
          </a:p>
        </p:txBody>
      </p:sp>
      <p:sp>
        <p:nvSpPr>
          <p:cNvPr id="19" name="Freeform 18"/>
          <p:cNvSpPr>
            <a:spLocks/>
          </p:cNvSpPr>
          <p:nvPr/>
        </p:nvSpPr>
        <p:spPr bwMode="auto">
          <a:xfrm>
            <a:off x="6677649" y="1463420"/>
            <a:ext cx="1198232" cy="569734"/>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chemeClr val="tx1">
                <a:lumMod val="95000"/>
                <a:lumOff val="5000"/>
              </a:schemeClr>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Rectangle 23"/>
          <p:cNvSpPr>
            <a:spLocks noChangeArrowheads="1"/>
          </p:cNvSpPr>
          <p:nvPr/>
        </p:nvSpPr>
        <p:spPr bwMode="auto">
          <a:xfrm>
            <a:off x="2681780" y="1075577"/>
            <a:ext cx="601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客户</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3" name="Rectangle 24"/>
          <p:cNvSpPr>
            <a:spLocks noChangeArrowheads="1"/>
          </p:cNvSpPr>
          <p:nvPr/>
        </p:nvSpPr>
        <p:spPr bwMode="auto">
          <a:xfrm>
            <a:off x="6031229" y="1075577"/>
            <a:ext cx="7389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服务器</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S</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23201"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415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8" name="Line 27"/>
          <p:cNvSpPr>
            <a:spLocks noChangeShapeType="1"/>
          </p:cNvSpPr>
          <p:nvPr/>
        </p:nvSpPr>
        <p:spPr bwMode="auto">
          <a:xfrm flipH="1">
            <a:off x="3579996" y="2596896"/>
            <a:ext cx="2232000" cy="72395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kern="0">
              <a:latin typeface="Montserrat" panose="00000500000000000000" pitchFamily="2" charset="0"/>
              <a:ea typeface="微软雅黑 Light" panose="020B0502040204020203" pitchFamily="34" charset="-122"/>
            </a:endParaRPr>
          </a:p>
        </p:txBody>
      </p:sp>
      <p:sp>
        <p:nvSpPr>
          <p:cNvPr id="29" name="Rectangle 28"/>
          <p:cNvSpPr>
            <a:spLocks noChangeArrowheads="1"/>
          </p:cNvSpPr>
          <p:nvPr/>
        </p:nvSpPr>
        <p:spPr bwMode="auto">
          <a:xfrm rot="20520000" flipH="1">
            <a:off x="3398575" y="2726734"/>
            <a:ext cx="258591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SYN = 1, ACK = 1</a:t>
            </a:r>
            <a:r>
              <a:rPr lang="en-US" altLang="zh-CN" sz="1000" kern="0" dirty="0">
                <a:solidFill>
                  <a:sysClr val="windowText" lastClr="000000"/>
                </a:solidFill>
                <a:latin typeface="Montserrat" panose="00000500000000000000" pitchFamily="2" charset="0"/>
                <a:ea typeface="微软雅黑 Light" panose="020B0502040204020203" pitchFamily="34" charset="-122"/>
              </a:rPr>
              <a:t> , ack= x </a:t>
            </a:r>
            <a:r>
              <a:rPr lang="en-US" altLang="zh-CN" sz="1000" kern="0" dirty="0">
                <a:solidFill>
                  <a:sysClr val="windowText" lastClr="000000"/>
                </a:solidFill>
                <a:latin typeface="Montserrat" panose="00000500000000000000" pitchFamily="2" charset="0"/>
                <a:ea typeface="微软雅黑 Light" panose="020B0502040204020203" pitchFamily="34" charset="-122"/>
                <a:sym typeface="Symbol" pitchFamily="18" charset="2"/>
              </a:rPr>
              <a:t> 1</a:t>
            </a: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 seq = y</a:t>
            </a:r>
          </a:p>
        </p:txBody>
      </p:sp>
      <p:sp>
        <p:nvSpPr>
          <p:cNvPr id="31" name="Line 8"/>
          <p:cNvSpPr>
            <a:spLocks noChangeShapeType="1"/>
          </p:cNvSpPr>
          <p:nvPr/>
        </p:nvSpPr>
        <p:spPr bwMode="auto">
          <a:xfrm>
            <a:off x="3593399" y="3394792"/>
            <a:ext cx="2232000" cy="48600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Rectangle 7"/>
          <p:cNvSpPr>
            <a:spLocks noChangeArrowheads="1"/>
          </p:cNvSpPr>
          <p:nvPr/>
        </p:nvSpPr>
        <p:spPr bwMode="auto">
          <a:xfrm rot="665985">
            <a:off x="3667130" y="3413049"/>
            <a:ext cx="216504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algn="ctr" defTabSz="762000" eaLnBrk="0" hangingPunct="0">
              <a:defRPr/>
            </a:pPr>
            <a:r>
              <a:rPr lang="es-ES" altLang="zh-CN" sz="1000" kern="0" dirty="0">
                <a:solidFill>
                  <a:sysClr val="windowText" lastClr="000000"/>
                </a:solidFill>
                <a:latin typeface="Montserrat" panose="00000500000000000000" pitchFamily="2" charset="0"/>
                <a:ea typeface="微软雅黑 Light" panose="020B0502040204020203" pitchFamily="34" charset="-122"/>
              </a:rPr>
              <a:t>ACK = 1, seq = x + 1, ack = y+1</a:t>
            </a:r>
          </a:p>
        </p:txBody>
      </p:sp>
      <p:grpSp>
        <p:nvGrpSpPr>
          <p:cNvPr id="6" name="组合 5">
            <a:extLst>
              <a:ext uri="{FF2B5EF4-FFF2-40B4-BE49-F238E27FC236}">
                <a16:creationId xmlns:a16="http://schemas.microsoft.com/office/drawing/2014/main" id="{6BE3F04E-9626-9BDE-8B48-DFE5E87488EA}"/>
              </a:ext>
            </a:extLst>
          </p:cNvPr>
          <p:cNvGrpSpPr/>
          <p:nvPr/>
        </p:nvGrpSpPr>
        <p:grpSpPr>
          <a:xfrm>
            <a:off x="4026424" y="3919924"/>
            <a:ext cx="1330219" cy="274235"/>
            <a:chOff x="4026424" y="3919924"/>
            <a:chExt cx="1330219" cy="274235"/>
          </a:xfrm>
        </p:grpSpPr>
        <p:sp>
          <p:nvSpPr>
            <p:cNvPr id="34" name="AutoShape 16"/>
            <p:cNvSpPr>
              <a:spLocks noChangeArrowheads="1"/>
            </p:cNvSpPr>
            <p:nvPr/>
          </p:nvSpPr>
          <p:spPr bwMode="auto">
            <a:xfrm>
              <a:off x="4026424" y="3969785"/>
              <a:ext cx="1330219" cy="147802"/>
            </a:xfrm>
            <a:prstGeom prst="leftRightArrow">
              <a:avLst>
                <a:gd name="adj1" fmla="val 55880"/>
                <a:gd name="adj2" fmla="val 103167"/>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17"/>
            <p:cNvSpPr>
              <a:spLocks noChangeArrowheads="1"/>
            </p:cNvSpPr>
            <p:nvPr/>
          </p:nvSpPr>
          <p:spPr bwMode="auto">
            <a:xfrm>
              <a:off x="4292200" y="3919924"/>
              <a:ext cx="798666" cy="274235"/>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数据传送</a:t>
              </a:r>
            </a:p>
          </p:txBody>
        </p:sp>
      </p:grpSp>
      <p:sp>
        <p:nvSpPr>
          <p:cNvPr id="67" name="Rectangle 4"/>
          <p:cNvSpPr>
            <a:spLocks noChangeArrowheads="1"/>
          </p:cNvSpPr>
          <p:nvPr/>
        </p:nvSpPr>
        <p:spPr bwMode="auto">
          <a:xfrm>
            <a:off x="2442344" y="2066150"/>
            <a:ext cx="1080000" cy="936798"/>
          </a:xfrm>
          <a:prstGeom prst="rect">
            <a:avLst/>
          </a:prstGeom>
          <a:solidFill>
            <a:srgbClr val="00B050"/>
          </a:solidFill>
          <a:ln w="12700">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SYN_SENT</a:t>
            </a:r>
          </a:p>
        </p:txBody>
      </p:sp>
      <p:sp>
        <p:nvSpPr>
          <p:cNvPr id="65" name="Rectangle 7"/>
          <p:cNvSpPr>
            <a:spLocks noChangeArrowheads="1"/>
          </p:cNvSpPr>
          <p:nvPr/>
        </p:nvSpPr>
        <p:spPr bwMode="auto">
          <a:xfrm>
            <a:off x="2442344" y="3046749"/>
            <a:ext cx="1080000" cy="1119152"/>
          </a:xfrm>
          <a:prstGeom prst="rect">
            <a:avLst/>
          </a:prstGeom>
          <a:solidFill>
            <a:srgbClr val="0070C0"/>
          </a:solidFill>
          <a:ln w="12700">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ESTABLISHED</a:t>
            </a:r>
          </a:p>
        </p:txBody>
      </p:sp>
      <p:sp>
        <p:nvSpPr>
          <p:cNvPr id="63" name="Rectangle 10"/>
          <p:cNvSpPr>
            <a:spLocks noChangeArrowheads="1"/>
          </p:cNvSpPr>
          <p:nvPr/>
        </p:nvSpPr>
        <p:spPr bwMode="auto">
          <a:xfrm>
            <a:off x="5860722" y="2539018"/>
            <a:ext cx="1080000" cy="951101"/>
          </a:xfrm>
          <a:prstGeom prst="rect">
            <a:avLst/>
          </a:prstGeom>
          <a:solidFill>
            <a:srgbClr val="00B050"/>
          </a:solidFill>
          <a:ln w="12700" algn="ctr">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SYN_RCVD</a:t>
            </a:r>
          </a:p>
        </p:txBody>
      </p:sp>
      <p:sp>
        <p:nvSpPr>
          <p:cNvPr id="61" name="Rectangle 13"/>
          <p:cNvSpPr>
            <a:spLocks noChangeArrowheads="1"/>
          </p:cNvSpPr>
          <p:nvPr/>
        </p:nvSpPr>
        <p:spPr bwMode="auto">
          <a:xfrm>
            <a:off x="5860722" y="2045590"/>
            <a:ext cx="1080000" cy="463930"/>
          </a:xfrm>
          <a:prstGeom prst="rect">
            <a:avLst/>
          </a:prstGeom>
          <a:solidFill>
            <a:srgbClr val="FFC000"/>
          </a:solidFill>
          <a:ln w="12700">
            <a:noFill/>
            <a:miter lim="800000"/>
            <a:headEnd/>
            <a:tailEnd/>
          </a:ln>
          <a:effectLst/>
        </p:spPr>
        <p:txBody>
          <a:bodyPr wrap="none" anchor="ctr"/>
          <a:lstStyle/>
          <a:p>
            <a:pPr algn="ctr">
              <a:defRPr/>
            </a:pPr>
            <a:r>
              <a:rPr lang="en-US" altLang="zh-CN" sz="1100" kern="0" dirty="0">
                <a:solidFill>
                  <a:schemeClr val="bg1"/>
                </a:solidFill>
                <a:latin typeface="Montserrat" panose="00000500000000000000" pitchFamily="2" charset="0"/>
                <a:ea typeface="微软雅黑 Light" panose="020B0502040204020203" pitchFamily="34" charset="-122"/>
              </a:rPr>
              <a:t>LISTEN</a:t>
            </a:r>
          </a:p>
        </p:txBody>
      </p:sp>
      <p:sp>
        <p:nvSpPr>
          <p:cNvPr id="59" name="Rectangle 16"/>
          <p:cNvSpPr>
            <a:spLocks noChangeArrowheads="1"/>
          </p:cNvSpPr>
          <p:nvPr/>
        </p:nvSpPr>
        <p:spPr bwMode="auto">
          <a:xfrm>
            <a:off x="5860722" y="3539283"/>
            <a:ext cx="1080000" cy="626618"/>
          </a:xfrm>
          <a:prstGeom prst="rect">
            <a:avLst/>
          </a:prstGeom>
          <a:solidFill>
            <a:srgbClr val="0070C0"/>
          </a:solidFill>
          <a:ln w="12700" algn="ctr">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ESTABLISHED</a:t>
            </a:r>
          </a:p>
        </p:txBody>
      </p:sp>
      <p:sp>
        <p:nvSpPr>
          <p:cNvPr id="2" name="矩形 1"/>
          <p:cNvSpPr/>
          <p:nvPr/>
        </p:nvSpPr>
        <p:spPr>
          <a:xfrm>
            <a:off x="1484912" y="2348542"/>
            <a:ext cx="954107" cy="276999"/>
          </a:xfrm>
          <a:prstGeom prst="rect">
            <a:avLst/>
          </a:prstGeom>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同步已发送</a:t>
            </a:r>
          </a:p>
        </p:txBody>
      </p:sp>
      <p:sp>
        <p:nvSpPr>
          <p:cNvPr id="4" name="矩形 3"/>
          <p:cNvSpPr/>
          <p:nvPr/>
        </p:nvSpPr>
        <p:spPr>
          <a:xfrm>
            <a:off x="6896029" y="2838334"/>
            <a:ext cx="800219" cy="276999"/>
          </a:xfrm>
          <a:prstGeom prst="rect">
            <a:avLst/>
          </a:prstGeom>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同步收到</a:t>
            </a:r>
          </a:p>
        </p:txBody>
      </p:sp>
      <p:sp>
        <p:nvSpPr>
          <p:cNvPr id="5" name="矩形 4"/>
          <p:cNvSpPr/>
          <p:nvPr/>
        </p:nvSpPr>
        <p:spPr>
          <a:xfrm>
            <a:off x="1484912" y="3369465"/>
            <a:ext cx="954107" cy="276999"/>
          </a:xfrm>
          <a:prstGeom prst="rect">
            <a:avLst/>
          </a:prstGeom>
        </p:spPr>
        <p:txBody>
          <a:bodyPr wrap="none">
            <a:spAutoFit/>
          </a:bodyPr>
          <a:lstStyle/>
          <a:p>
            <a:pPr algn="ctr"/>
            <a:r>
              <a:rPr lang="zh-CN" altLang="zh-CN" sz="1200" dirty="0">
                <a:latin typeface="Montserrat" panose="00000500000000000000" pitchFamily="2" charset="0"/>
                <a:ea typeface="微软雅黑 Light" panose="020B0502040204020203" pitchFamily="34" charset="-122"/>
              </a:rPr>
              <a:t>已建立连接</a:t>
            </a:r>
            <a:endParaRPr lang="zh-CN" altLang="en-US" sz="1200" dirty="0">
              <a:latin typeface="Montserrat" panose="00000500000000000000" pitchFamily="2" charset="0"/>
              <a:ea typeface="微软雅黑 Light" panose="020B0502040204020203" pitchFamily="34" charset="-122"/>
            </a:endParaRPr>
          </a:p>
        </p:txBody>
      </p:sp>
      <p:sp>
        <p:nvSpPr>
          <p:cNvPr id="52" name="矩形 51"/>
          <p:cNvSpPr/>
          <p:nvPr/>
        </p:nvSpPr>
        <p:spPr>
          <a:xfrm>
            <a:off x="6908853" y="3655617"/>
            <a:ext cx="954107" cy="276999"/>
          </a:xfrm>
          <a:prstGeom prst="rect">
            <a:avLst/>
          </a:prstGeom>
        </p:spPr>
        <p:txBody>
          <a:bodyPr wrap="none">
            <a:spAutoFit/>
          </a:bodyPr>
          <a:lstStyle/>
          <a:p>
            <a:pPr algn="ctr"/>
            <a:r>
              <a:rPr lang="zh-CN" altLang="zh-CN" sz="1200" dirty="0">
                <a:latin typeface="Montserrat" panose="00000500000000000000" pitchFamily="2" charset="0"/>
                <a:ea typeface="微软雅黑 Light" panose="020B0502040204020203" pitchFamily="34" charset="-122"/>
              </a:rPr>
              <a:t>已建立连接</a:t>
            </a:r>
            <a:endParaRPr lang="zh-CN" altLang="en-US" sz="1200" dirty="0">
              <a:latin typeface="Montserrat" panose="00000500000000000000" pitchFamily="2" charset="0"/>
              <a:ea typeface="微软雅黑 Light" panose="020B0502040204020203"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2412000" y="104400"/>
            <a:ext cx="4320000" cy="369332"/>
          </a:xfrm>
        </p:spPr>
        <p:txBody>
          <a:bodyPr/>
          <a:lstStyle/>
          <a:p>
            <a:r>
              <a:rPr lang="zh-CN" altLang="en-US" dirty="0"/>
              <a:t>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482554"/>
            <a:ext cx="8172000" cy="4267246"/>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2412000" y="104400"/>
            <a:ext cx="4320000" cy="369332"/>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a:latin typeface="微软雅黑" pitchFamily="34" charset="-122"/>
                <a:ea typeface="微软雅黑" pitchFamily="34" charset="-122"/>
              </a:rPr>
              <a:t>seq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2412000" y="104400"/>
            <a:ext cx="4320000" cy="369332"/>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37"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 = u+1</a:t>
            </a:r>
            <a:r>
              <a:rPr lang="zh-CN" altLang="en-US" sz="1600" b="1" dirty="0">
                <a:latin typeface="微软雅黑" pitchFamily="34" charset="-122"/>
                <a:ea typeface="微软雅黑" pitchFamily="34" charset="-122"/>
              </a:rPr>
              <a:t>，这个报文段的序号 </a:t>
            </a:r>
            <a:r>
              <a:rPr lang="en-US" altLang="zh-CN" sz="1600" b="1" dirty="0">
                <a:latin typeface="微软雅黑" pitchFamily="34" charset="-122"/>
                <a:ea typeface="微软雅黑" pitchFamily="34" charset="-122"/>
              </a:rPr>
              <a:t>seq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2412000" y="104400"/>
            <a:ext cx="4320000" cy="369332"/>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40"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seq = w,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2412000" y="104400"/>
            <a:ext cx="4320000" cy="369332"/>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7"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ack=w+1</a:t>
            </a:r>
            <a:r>
              <a:rPr lang="zh-CN" altLang="en-US" sz="1600" b="1" dirty="0">
                <a:latin typeface="微软雅黑" pitchFamily="34" charset="-122"/>
                <a:ea typeface="微软雅黑" pitchFamily="34" charset="-122"/>
              </a:rPr>
              <a:t>，自己的序号 </a:t>
            </a:r>
            <a:r>
              <a:rPr lang="en-US" altLang="zh-CN" sz="1600" b="1" dirty="0">
                <a:latin typeface="微软雅黑" pitchFamily="34" charset="-122"/>
                <a:ea typeface="微软雅黑" pitchFamily="34" charset="-122"/>
              </a:rPr>
              <a:t>seq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seq = w,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u + 1, ack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2412000" y="104400"/>
            <a:ext cx="4320000" cy="369332"/>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7D14DB11-B1F0-1640-6D98-67C7C33831B4}"/>
              </a:ext>
            </a:extLst>
          </p:cNvPr>
          <p:cNvSpPr>
            <a:spLocks noGrp="1"/>
          </p:cNvSpPr>
          <p:nvPr>
            <p:ph sz="quarter" idx="11"/>
          </p:nvPr>
        </p:nvSpPr>
        <p:spPr>
          <a:xfrm>
            <a:off x="486000" y="482554"/>
            <a:ext cx="8172000" cy="4267246"/>
          </a:xfrm>
        </p:spPr>
        <p:txBody>
          <a:bodyPr/>
          <a:lstStyle/>
          <a:p>
            <a:r>
              <a:rPr lang="zh-CN" altLang="en-US" dirty="0"/>
              <a:t>请注意：此时 </a:t>
            </a:r>
            <a:r>
              <a:rPr lang="en-US" altLang="zh-CN" dirty="0"/>
              <a:t>TCP </a:t>
            </a:r>
            <a:r>
              <a:rPr lang="zh-CN" altLang="en-US" dirty="0"/>
              <a:t>连接还没有释放掉</a:t>
            </a:r>
            <a:endParaRPr lang="en-US" altLang="zh-CN" dirty="0"/>
          </a:p>
          <a:p>
            <a:r>
              <a:rPr lang="zh-CN" altLang="en-US" dirty="0"/>
              <a:t>必须经过时间等待计时器 </a:t>
            </a:r>
            <a:r>
              <a:rPr lang="en-US" altLang="zh-CN" dirty="0"/>
              <a:t>(TIME-WAIT timer) </a:t>
            </a:r>
            <a:r>
              <a:rPr lang="zh-CN" altLang="en-US" dirty="0"/>
              <a:t>设置的时间 </a:t>
            </a:r>
            <a:r>
              <a:rPr lang="en-US" altLang="zh-CN" dirty="0"/>
              <a:t>2MSL </a:t>
            </a:r>
            <a:r>
              <a:rPr lang="zh-CN" altLang="en-US" dirty="0"/>
              <a:t>后，</a:t>
            </a:r>
            <a:r>
              <a:rPr lang="en-US" altLang="zh-CN" dirty="0"/>
              <a:t>A </a:t>
            </a:r>
            <a:r>
              <a:rPr lang="zh-CN" altLang="en-US" dirty="0"/>
              <a:t>才释放 </a:t>
            </a:r>
            <a:r>
              <a:rPr lang="en-US" altLang="zh-CN" dirty="0"/>
              <a:t>TCP </a:t>
            </a:r>
            <a:r>
              <a:rPr lang="zh-CN" altLang="en-US" dirty="0"/>
              <a:t>连接</a:t>
            </a:r>
          </a:p>
          <a:p>
            <a:endParaRPr lang="zh-CN" altLang="en-US" dirty="0"/>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2412000" y="104400"/>
            <a:ext cx="4320000" cy="369332"/>
          </a:xfrm>
        </p:spPr>
        <p:txBody>
          <a:bodyPr/>
          <a:lstStyle/>
          <a:p>
            <a:r>
              <a:rPr lang="en-US" altLang="zh-CN" dirty="0"/>
              <a:t>TCP </a:t>
            </a:r>
            <a:r>
              <a:rPr lang="zh-CN" altLang="en-US" dirty="0"/>
              <a:t>的连接释放</a:t>
            </a:r>
            <a:r>
              <a:rPr lang="en-US" altLang="zh-CN" dirty="0"/>
              <a:t>-</a:t>
            </a:r>
            <a:r>
              <a:rPr lang="zh-CN" altLang="en-US" dirty="0"/>
              <a:t>采用四报文握手</a:t>
            </a:r>
          </a:p>
        </p:txBody>
      </p:sp>
      <p:sp>
        <p:nvSpPr>
          <p:cNvPr id="65" name="Rectangle 7"/>
          <p:cNvSpPr>
            <a:spLocks noChangeArrowheads="1"/>
          </p:cNvSpPr>
          <p:nvPr/>
        </p:nvSpPr>
        <p:spPr bwMode="auto">
          <a:xfrm rot="610931">
            <a:off x="3536367" y="3709610"/>
            <a:ext cx="210474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ACK = 1, ack = w </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rPr>
              <a:t> 1</a:t>
            </a:r>
            <a:r>
              <a:rPr lang="en-US" altLang="zh-CN" sz="1000" kern="0" dirty="0">
                <a:latin typeface="Montserrat" panose="00000500000000000000" pitchFamily="2" charset="0"/>
                <a:ea typeface="微软雅黑" pitchFamily="34" charset="-122"/>
              </a:rPr>
              <a:t> , seq = u + 1</a:t>
            </a:r>
            <a:endPar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endParaRPr>
          </a:p>
        </p:txBody>
      </p:sp>
      <p:sp>
        <p:nvSpPr>
          <p:cNvPr id="67" name="Rectangle 9"/>
          <p:cNvSpPr>
            <a:spLocks noChangeArrowheads="1"/>
          </p:cNvSpPr>
          <p:nvPr/>
        </p:nvSpPr>
        <p:spPr bwMode="auto">
          <a:xfrm rot="597975">
            <a:off x="4034100" y="2249357"/>
            <a:ext cx="1109279"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FIN = 1, seq = u</a:t>
            </a:r>
          </a:p>
        </p:txBody>
      </p:sp>
      <p:sp>
        <p:nvSpPr>
          <p:cNvPr id="68" name="Line 10"/>
          <p:cNvSpPr>
            <a:spLocks noChangeShapeType="1"/>
          </p:cNvSpPr>
          <p:nvPr/>
        </p:nvSpPr>
        <p:spPr bwMode="auto">
          <a:xfrm>
            <a:off x="3436081" y="2256391"/>
            <a:ext cx="2305317" cy="428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0" name="Rectangle 12"/>
          <p:cNvSpPr>
            <a:spLocks noChangeArrowheads="1"/>
          </p:cNvSpPr>
          <p:nvPr/>
        </p:nvSpPr>
        <p:spPr bwMode="auto">
          <a:xfrm rot="20990024" flipH="1">
            <a:off x="3668615" y="2704067"/>
            <a:ext cx="184024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ACK = 1</a:t>
            </a:r>
            <a:r>
              <a:rPr lang="en-US" altLang="zh-CN" sz="1000" kern="0" dirty="0">
                <a:latin typeface="Montserrat" panose="00000500000000000000" pitchFamily="2" charset="0"/>
                <a:ea typeface="微软雅黑" pitchFamily="34" charset="-122"/>
              </a:rPr>
              <a:t> , ack= u </a:t>
            </a:r>
            <a:r>
              <a:rPr lang="en-US" altLang="zh-CN" sz="1000" kern="0" dirty="0">
                <a:latin typeface="Montserrat" panose="00000500000000000000" pitchFamily="2" charset="0"/>
                <a:ea typeface="微软雅黑" pitchFamily="34" charset="-122"/>
                <a:sym typeface="Symbol" pitchFamily="18" charset="2"/>
              </a:rPr>
              <a:t> 1</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 seq = v</a:t>
            </a:r>
          </a:p>
        </p:txBody>
      </p:sp>
      <p:sp>
        <p:nvSpPr>
          <p:cNvPr id="71" name="Line 13"/>
          <p:cNvSpPr>
            <a:spLocks noChangeShapeType="1"/>
          </p:cNvSpPr>
          <p:nvPr/>
        </p:nvSpPr>
        <p:spPr bwMode="auto">
          <a:xfrm flipH="1">
            <a:off x="3401817" y="2708779"/>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2" name="Line 14"/>
          <p:cNvSpPr>
            <a:spLocks noChangeShapeType="1"/>
          </p:cNvSpPr>
          <p:nvPr/>
        </p:nvSpPr>
        <p:spPr bwMode="auto">
          <a:xfrm>
            <a:off x="3393849" y="369377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323110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10532" y="3201789"/>
            <a:ext cx="2356415"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FIN = 1, ACK = 1, ack= u </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rPr>
              <a:t> 1</a:t>
            </a:r>
            <a:r>
              <a:rPr lang="en-US" altLang="zh-CN" sz="1000" kern="0" dirty="0">
                <a:latin typeface="Montserrat" panose="00000500000000000000" pitchFamily="2" charset="0"/>
                <a:ea typeface="微软雅黑" pitchFamily="34" charset="-122"/>
              </a:rPr>
              <a:t> , seq = w</a:t>
            </a:r>
            <a:endPar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endParaRPr>
          </a:p>
        </p:txBody>
      </p:sp>
      <p:sp>
        <p:nvSpPr>
          <p:cNvPr id="75" name="Rectangle 17"/>
          <p:cNvSpPr>
            <a:spLocks noChangeArrowheads="1"/>
          </p:cNvSpPr>
          <p:nvPr/>
        </p:nvSpPr>
        <p:spPr bwMode="auto">
          <a:xfrm>
            <a:off x="2274039" y="1841186"/>
            <a:ext cx="1080000" cy="375367"/>
          </a:xfrm>
          <a:prstGeom prst="rect">
            <a:avLst/>
          </a:prstGeom>
          <a:solidFill>
            <a:srgbClr val="00990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ESTAB_LISHED</a:t>
            </a:r>
          </a:p>
        </p:txBody>
      </p:sp>
      <p:sp>
        <p:nvSpPr>
          <p:cNvPr id="76" name="Rectangle 18"/>
          <p:cNvSpPr>
            <a:spLocks noChangeArrowheads="1"/>
          </p:cNvSpPr>
          <p:nvPr/>
        </p:nvSpPr>
        <p:spPr bwMode="auto">
          <a:xfrm>
            <a:off x="2274039" y="2263474"/>
            <a:ext cx="1080000" cy="866707"/>
          </a:xfrm>
          <a:prstGeom prst="rect">
            <a:avLst/>
          </a:prstGeom>
          <a:solidFill>
            <a:srgbClr val="0070C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FIN_WAIT_1</a:t>
            </a:r>
          </a:p>
        </p:txBody>
      </p:sp>
      <p:sp>
        <p:nvSpPr>
          <p:cNvPr id="77" name="Rectangle 19"/>
          <p:cNvSpPr>
            <a:spLocks noChangeArrowheads="1"/>
          </p:cNvSpPr>
          <p:nvPr/>
        </p:nvSpPr>
        <p:spPr bwMode="auto">
          <a:xfrm>
            <a:off x="5697395" y="1841186"/>
            <a:ext cx="1080000" cy="825098"/>
          </a:xfrm>
          <a:prstGeom prst="rect">
            <a:avLst/>
          </a:prstGeom>
          <a:solidFill>
            <a:srgbClr val="00990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ESTAB_LISHED</a:t>
            </a:r>
          </a:p>
        </p:txBody>
      </p:sp>
      <p:sp>
        <p:nvSpPr>
          <p:cNvPr id="82" name="Rectangle 24"/>
          <p:cNvSpPr>
            <a:spLocks noChangeArrowheads="1"/>
          </p:cNvSpPr>
          <p:nvPr/>
        </p:nvSpPr>
        <p:spPr bwMode="auto">
          <a:xfrm>
            <a:off x="5697395" y="2714976"/>
            <a:ext cx="1080000" cy="489570"/>
          </a:xfrm>
          <a:prstGeom prst="rect">
            <a:avLst/>
          </a:prstGeom>
          <a:solidFill>
            <a:srgbClr val="0070C0"/>
          </a:solidFill>
          <a:ln>
            <a:noFill/>
          </a:ln>
          <a:effectLst/>
        </p:spPr>
        <p:txBody>
          <a:bodyPr wrap="none" anchor="ctr"/>
          <a:lstStyle/>
          <a:p>
            <a:pPr algn="ctr" defTabSz="762000" eaLnBrk="0" hangingPunct="0"/>
            <a:r>
              <a:rPr lang="en-US" altLang="zh-CN" sz="1100" kern="0">
                <a:solidFill>
                  <a:schemeClr val="bg1"/>
                </a:solidFill>
                <a:latin typeface="Montserrat" panose="00000500000000000000" pitchFamily="2" charset="0"/>
                <a:ea typeface="微软雅黑" pitchFamily="34" charset="-122"/>
              </a:rPr>
              <a:t>CLOSE_WAIT</a:t>
            </a:r>
            <a:endParaRPr lang="en-US" altLang="zh-CN" sz="1100" kern="0" dirty="0">
              <a:solidFill>
                <a:schemeClr val="bg1"/>
              </a:solidFill>
              <a:latin typeface="Montserrat" panose="00000500000000000000" pitchFamily="2" charset="0"/>
              <a:ea typeface="微软雅黑" pitchFamily="34" charset="-122"/>
            </a:endParaRPr>
          </a:p>
        </p:txBody>
      </p:sp>
      <p:sp>
        <p:nvSpPr>
          <p:cNvPr id="84" name="Rectangle 26"/>
          <p:cNvSpPr>
            <a:spLocks noChangeArrowheads="1"/>
          </p:cNvSpPr>
          <p:nvPr/>
        </p:nvSpPr>
        <p:spPr bwMode="auto">
          <a:xfrm>
            <a:off x="2274039" y="3170905"/>
            <a:ext cx="1080000" cy="486029"/>
          </a:xfrm>
          <a:prstGeom prst="rect">
            <a:avLst/>
          </a:prstGeom>
          <a:solidFill>
            <a:srgbClr val="0070C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FIN_WAIT_2</a:t>
            </a:r>
          </a:p>
        </p:txBody>
      </p:sp>
      <p:sp>
        <p:nvSpPr>
          <p:cNvPr id="86" name="Rectangle 28"/>
          <p:cNvSpPr>
            <a:spLocks noChangeArrowheads="1"/>
          </p:cNvSpPr>
          <p:nvPr/>
        </p:nvSpPr>
        <p:spPr bwMode="auto">
          <a:xfrm>
            <a:off x="5697395" y="3248811"/>
            <a:ext cx="1080000" cy="826869"/>
          </a:xfrm>
          <a:prstGeom prst="rect">
            <a:avLst/>
          </a:prstGeom>
          <a:solidFill>
            <a:srgbClr val="E46C0A"/>
          </a:solidFill>
          <a:ln w="12700">
            <a:noFill/>
            <a:miter lim="800000"/>
            <a:headEnd/>
            <a:tailEnd/>
          </a:ln>
          <a:effectLst/>
        </p:spPr>
        <p:txBody>
          <a:bodyPr wrap="none" anchor="ctr"/>
          <a:lstStyle/>
          <a:p>
            <a:pPr algn="ctr" defTabSz="762000" eaLnBrk="0" hangingPunct="0"/>
            <a:r>
              <a:rPr lang="en-US" altLang="zh-CN" sz="1100" kern="0" dirty="0">
                <a:solidFill>
                  <a:schemeClr val="bg1"/>
                </a:solidFill>
                <a:latin typeface="Montserrat" panose="00000500000000000000" pitchFamily="2" charset="0"/>
                <a:ea typeface="微软雅黑" pitchFamily="34" charset="-122"/>
              </a:rPr>
              <a:t>LAST</a:t>
            </a:r>
            <a:r>
              <a:rPr lang="en-US" altLang="zh-CN" sz="1100" kern="0">
                <a:solidFill>
                  <a:schemeClr val="bg1"/>
                </a:solidFill>
                <a:latin typeface="Montserrat" panose="00000500000000000000" pitchFamily="2" charset="0"/>
                <a:ea typeface="微软雅黑" pitchFamily="34" charset="-122"/>
              </a:rPr>
              <a:t>_ACK</a:t>
            </a:r>
            <a:endParaRPr lang="en-US" altLang="zh-CN" sz="1100" kern="0" dirty="0">
              <a:solidFill>
                <a:schemeClr val="bg1"/>
              </a:solidFill>
              <a:latin typeface="Montserrat" panose="00000500000000000000" pitchFamily="2" charset="0"/>
              <a:ea typeface="微软雅黑" pitchFamily="34" charset="-122"/>
            </a:endParaRPr>
          </a:p>
        </p:txBody>
      </p:sp>
      <p:sp>
        <p:nvSpPr>
          <p:cNvPr id="89" name="Rectangle 31"/>
          <p:cNvSpPr>
            <a:spLocks noChangeArrowheads="1"/>
          </p:cNvSpPr>
          <p:nvPr/>
        </p:nvSpPr>
        <p:spPr bwMode="auto">
          <a:xfrm>
            <a:off x="1471743" y="3686932"/>
            <a:ext cx="8576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r"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等待 </a:t>
            </a:r>
            <a:r>
              <a:rPr kumimoji="0" lang="en-US" altLang="zh-CN"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2MSL</a:t>
            </a:r>
          </a:p>
        </p:txBody>
      </p:sp>
      <p:sp>
        <p:nvSpPr>
          <p:cNvPr id="90" name="Rectangle 32"/>
          <p:cNvSpPr>
            <a:spLocks noChangeArrowheads="1"/>
          </p:cNvSpPr>
          <p:nvPr/>
        </p:nvSpPr>
        <p:spPr bwMode="auto">
          <a:xfrm>
            <a:off x="2274039" y="3701097"/>
            <a:ext cx="1080000" cy="689647"/>
          </a:xfrm>
          <a:prstGeom prst="rect">
            <a:avLst/>
          </a:prstGeom>
          <a:solidFill>
            <a:srgbClr val="FFC000"/>
          </a:solidFill>
          <a:ln>
            <a:noFill/>
          </a:ln>
          <a:effectLst/>
        </p:spPr>
        <p:txBody>
          <a:bodyPr wrap="none" anchor="ctr"/>
          <a:lstStyle/>
          <a:p>
            <a:pPr algn="ctr" defTabSz="762000" eaLnBrk="0" hangingPunct="0"/>
            <a:r>
              <a:rPr lang="en-US" altLang="zh-CN" sz="1100" kern="0" dirty="0">
                <a:solidFill>
                  <a:schemeClr val="bg1"/>
                </a:solidFill>
                <a:latin typeface="Montserrat" panose="00000500000000000000" pitchFamily="2" charset="0"/>
                <a:ea typeface="微软雅黑" pitchFamily="34" charset="-122"/>
              </a:rPr>
              <a:t>TIME</a:t>
            </a:r>
            <a:r>
              <a:rPr lang="en-US" altLang="zh-CN" sz="1100" kern="0">
                <a:solidFill>
                  <a:schemeClr val="bg1"/>
                </a:solidFill>
                <a:latin typeface="Montserrat" panose="00000500000000000000" pitchFamily="2" charset="0"/>
                <a:ea typeface="微软雅黑" pitchFamily="34" charset="-122"/>
              </a:rPr>
              <a:t>_WAIT</a:t>
            </a:r>
            <a:endParaRPr lang="en-US" altLang="zh-CN" sz="1100" kern="0" dirty="0">
              <a:solidFill>
                <a:schemeClr val="bg1"/>
              </a:solidFill>
              <a:latin typeface="Montserrat" panose="00000500000000000000" pitchFamily="2" charset="0"/>
              <a:ea typeface="微软雅黑" pitchFamily="34" charset="-122"/>
            </a:endParaRPr>
          </a:p>
        </p:txBody>
      </p:sp>
      <p:sp>
        <p:nvSpPr>
          <p:cNvPr id="92" name="Freeform 34"/>
          <p:cNvSpPr>
            <a:spLocks/>
          </p:cNvSpPr>
          <p:nvPr/>
        </p:nvSpPr>
        <p:spPr bwMode="auto">
          <a:xfrm>
            <a:off x="1541902" y="3686932"/>
            <a:ext cx="725058" cy="707353"/>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1612726" y="3772806"/>
            <a:ext cx="641840" cy="7082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b="0" i="0" u="none" strike="noStrike" kern="0" cap="none" spc="0" normalizeH="0" baseline="0" noProof="0" dirty="0">
                <a:ln>
                  <a:noFill/>
                </a:ln>
                <a:effectLst/>
                <a:uLnTx/>
                <a:uFillTx/>
                <a:latin typeface="Montserrat" panose="00000500000000000000" pitchFamily="2" charset="0"/>
                <a:ea typeface="微软雅黑" pitchFamily="34" charset="-122"/>
                <a:sym typeface="Wingdings" pitchFamily="2" charset="2"/>
              </a:rPr>
              <a:t></a:t>
            </a:r>
          </a:p>
        </p:txBody>
      </p:sp>
      <p:sp>
        <p:nvSpPr>
          <p:cNvPr id="94" name="Rectangle 36"/>
          <p:cNvSpPr>
            <a:spLocks noChangeArrowheads="1"/>
          </p:cNvSpPr>
          <p:nvPr/>
        </p:nvSpPr>
        <p:spPr bwMode="auto">
          <a:xfrm>
            <a:off x="5697395" y="4126141"/>
            <a:ext cx="1080000" cy="294805"/>
          </a:xfrm>
          <a:prstGeom prst="rect">
            <a:avLst/>
          </a:prstGeom>
          <a:solidFill>
            <a:schemeClr val="bg1">
              <a:lumMod val="75000"/>
            </a:schemeClr>
          </a:solidFill>
          <a:ln w="12700">
            <a:noFill/>
            <a:miter lim="800000"/>
            <a:headEnd/>
            <a:tailEnd/>
          </a:ln>
          <a:effectLst/>
        </p:spPr>
        <p:txBody>
          <a:bodyPr wrap="none" anchor="ctr"/>
          <a:lstStyle/>
          <a:p>
            <a:pPr algn="ctr"/>
            <a:r>
              <a:rPr lang="en-US" altLang="zh-CN" sz="1100" dirty="0">
                <a:latin typeface="Montserrat" panose="00000500000000000000" pitchFamily="2" charset="0"/>
                <a:ea typeface="微软雅黑 Light" panose="020B0502040204020203" pitchFamily="34" charset="-122"/>
              </a:rPr>
              <a:t>CLOSED</a:t>
            </a:r>
          </a:p>
        </p:txBody>
      </p:sp>
      <p:sp>
        <p:nvSpPr>
          <p:cNvPr id="96" name="Freeform 38"/>
          <p:cNvSpPr>
            <a:spLocks/>
          </p:cNvSpPr>
          <p:nvPr/>
        </p:nvSpPr>
        <p:spPr bwMode="auto">
          <a:xfrm>
            <a:off x="1541897" y="1643765"/>
            <a:ext cx="896807" cy="603775"/>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82351" y="1993459"/>
            <a:ext cx="74700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r"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主动关闭</a:t>
            </a:r>
          </a:p>
        </p:txBody>
      </p:sp>
      <p:sp>
        <p:nvSpPr>
          <p:cNvPr id="98" name="Freeform 40"/>
          <p:cNvSpPr>
            <a:spLocks/>
          </p:cNvSpPr>
          <p:nvPr/>
        </p:nvSpPr>
        <p:spPr bwMode="auto">
          <a:xfrm>
            <a:off x="6678473" y="160658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808392" y="2993250"/>
            <a:ext cx="74700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被动关闭</a:t>
            </a:r>
          </a:p>
        </p:txBody>
      </p:sp>
      <p:sp>
        <p:nvSpPr>
          <p:cNvPr id="102" name="Freeform 44"/>
          <p:cNvSpPr>
            <a:spLocks/>
          </p:cNvSpPr>
          <p:nvPr/>
        </p:nvSpPr>
        <p:spPr bwMode="auto">
          <a:xfrm>
            <a:off x="6701490" y="1710162"/>
            <a:ext cx="319593" cy="997731"/>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7013115" y="1934142"/>
            <a:ext cx="464872"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进程</a:t>
            </a:r>
          </a:p>
        </p:txBody>
      </p:sp>
      <p:grpSp>
        <p:nvGrpSpPr>
          <p:cNvPr id="21" name="组合 20">
            <a:extLst>
              <a:ext uri="{FF2B5EF4-FFF2-40B4-BE49-F238E27FC236}">
                <a16:creationId xmlns:a16="http://schemas.microsoft.com/office/drawing/2014/main" id="{FEFB630F-D9EB-FB88-20C9-D6A8716085D6}"/>
              </a:ext>
            </a:extLst>
          </p:cNvPr>
          <p:cNvGrpSpPr/>
          <p:nvPr/>
        </p:nvGrpSpPr>
        <p:grpSpPr>
          <a:xfrm>
            <a:off x="4076414" y="2940288"/>
            <a:ext cx="1025939" cy="306753"/>
            <a:chOff x="4076414" y="2517208"/>
            <a:chExt cx="1025939" cy="306753"/>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kern="0">
                <a:solidFill>
                  <a:sysClr val="windowText" lastClr="000000"/>
                </a:solidFill>
                <a:latin typeface="Montserrat" panose="00000500000000000000" pitchFamily="2" charset="0"/>
                <a:ea typeface="微软雅黑 Light" panose="020B0502040204020203" pitchFamily="34" charset="-122"/>
              </a:endParaRPr>
            </a:p>
          </p:txBody>
        </p:sp>
        <p:sp>
          <p:nvSpPr>
            <p:cNvPr id="112" name="Rectangle 54"/>
            <p:cNvSpPr>
              <a:spLocks noChangeArrowheads="1"/>
            </p:cNvSpPr>
            <p:nvPr/>
          </p:nvSpPr>
          <p:spPr bwMode="auto">
            <a:xfrm rot="20971112">
              <a:off x="4304057" y="2517208"/>
              <a:ext cx="798296" cy="274434"/>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algn="ctr" defTabSz="762000" eaLnBrk="0" hangingPunct="0"/>
              <a:r>
                <a:rPr lang="zh-CN" altLang="en-US" sz="1200" kern="0" dirty="0">
                  <a:latin typeface="Montserrat" panose="00000500000000000000" pitchFamily="2" charset="0"/>
                  <a:ea typeface="微软雅黑 Light" panose="020B0502040204020203" pitchFamily="34" charset="-122"/>
                </a:rPr>
                <a:t>数据传送</a:t>
              </a:r>
            </a:p>
          </p:txBody>
        </p:sp>
      </p:gr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8935" y="149041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02291" y="149041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61" name="Rectangle 3"/>
          <p:cNvSpPr>
            <a:spLocks noChangeArrowheads="1"/>
          </p:cNvSpPr>
          <p:nvPr/>
        </p:nvSpPr>
        <p:spPr bwMode="auto">
          <a:xfrm>
            <a:off x="2274039" y="4434962"/>
            <a:ext cx="1080000" cy="294805"/>
          </a:xfrm>
          <a:prstGeom prst="rect">
            <a:avLst/>
          </a:prstGeom>
          <a:solidFill>
            <a:schemeClr val="bg1">
              <a:lumMod val="75000"/>
            </a:schemeClr>
          </a:solidFill>
          <a:ln w="12700">
            <a:noFill/>
            <a:miter lim="800000"/>
            <a:headEnd/>
            <a:tailEnd/>
          </a:ln>
          <a:effectLst/>
        </p:spPr>
        <p:txBody>
          <a:bodyPr wrap="none" anchor="ctr"/>
          <a:lstStyle/>
          <a:p>
            <a:pPr algn="ctr"/>
            <a:r>
              <a:rPr lang="en-US" altLang="zh-CN" sz="1100">
                <a:latin typeface="Montserrat" panose="00000500000000000000" pitchFamily="2" charset="0"/>
                <a:ea typeface="微软雅黑 Light" panose="020B0502040204020203" pitchFamily="34" charset="-122"/>
              </a:rPr>
              <a:t>CLOSED</a:t>
            </a:r>
            <a:endParaRPr lang="en-US" altLang="zh-CN" sz="1100" dirty="0">
              <a:latin typeface="Montserrat" panose="00000500000000000000" pitchFamily="2" charset="0"/>
              <a:ea typeface="微软雅黑 Light" panose="020B0502040204020203" pitchFamily="34" charset="-122"/>
            </a:endParaRPr>
          </a:p>
        </p:txBody>
      </p:sp>
      <p:sp>
        <p:nvSpPr>
          <p:cNvPr id="2" name="矩形 1"/>
          <p:cNvSpPr/>
          <p:nvPr/>
        </p:nvSpPr>
        <p:spPr>
          <a:xfrm>
            <a:off x="1525926" y="2515429"/>
            <a:ext cx="803425"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终止等待</a:t>
            </a:r>
            <a:r>
              <a:rPr lang="en-US" altLang="zh-CN" sz="1100" dirty="0">
                <a:latin typeface="微软雅黑 Light" panose="020B0502040204020203" pitchFamily="34" charset="-122"/>
                <a:ea typeface="微软雅黑 Light" panose="020B0502040204020203" pitchFamily="34" charset="-122"/>
              </a:rPr>
              <a:t>1</a:t>
            </a:r>
            <a:endParaRPr lang="zh-CN" altLang="en-US" sz="1100" dirty="0">
              <a:latin typeface="微软雅黑 Light" panose="020B0502040204020203" pitchFamily="34" charset="-122"/>
              <a:ea typeface="微软雅黑 Light" panose="020B0502040204020203" pitchFamily="34" charset="-122"/>
            </a:endParaRPr>
          </a:p>
        </p:txBody>
      </p:sp>
      <p:sp>
        <p:nvSpPr>
          <p:cNvPr id="5" name="矩形 4"/>
          <p:cNvSpPr/>
          <p:nvPr/>
        </p:nvSpPr>
        <p:spPr>
          <a:xfrm>
            <a:off x="1501880" y="3195328"/>
            <a:ext cx="827471"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终止等待</a:t>
            </a:r>
            <a:r>
              <a:rPr lang="en-US" altLang="zh-CN" sz="1100" dirty="0">
                <a:latin typeface="微软雅黑 Light" panose="020B0502040204020203" pitchFamily="34" charset="-122"/>
                <a:ea typeface="微软雅黑 Light" panose="020B0502040204020203" pitchFamily="34" charset="-122"/>
              </a:rPr>
              <a:t>2</a:t>
            </a:r>
            <a:endParaRPr lang="zh-CN" altLang="en-US" sz="1100" dirty="0">
              <a:latin typeface="微软雅黑 Light" panose="020B0502040204020203" pitchFamily="34" charset="-122"/>
              <a:ea typeface="微软雅黑 Light" panose="020B0502040204020203" pitchFamily="34" charset="-122"/>
            </a:endParaRPr>
          </a:p>
        </p:txBody>
      </p:sp>
      <p:sp>
        <p:nvSpPr>
          <p:cNvPr id="6" name="矩形 5"/>
          <p:cNvSpPr/>
          <p:nvPr/>
        </p:nvSpPr>
        <p:spPr>
          <a:xfrm>
            <a:off x="8174414" y="2771040"/>
            <a:ext cx="800219" cy="276999"/>
          </a:xfrm>
          <a:prstGeom prst="rect">
            <a:avLst/>
          </a:prstGeom>
        </p:spPr>
        <p:txBody>
          <a:bodyPr wrap="none">
            <a:spAutoFit/>
          </a:bodyPr>
          <a:lstStyle/>
          <a:p>
            <a:pPr algn="ctr"/>
            <a:r>
              <a:rPr lang="zh-CN" altLang="en-US" sz="1200" dirty="0">
                <a:latin typeface="微软雅黑 Light" panose="020B0502040204020203" pitchFamily="34" charset="-122"/>
                <a:ea typeface="微软雅黑 Light" panose="020B0502040204020203" pitchFamily="34" charset="-122"/>
              </a:rPr>
              <a:t>关闭等待</a:t>
            </a:r>
          </a:p>
        </p:txBody>
      </p:sp>
      <p:sp>
        <p:nvSpPr>
          <p:cNvPr id="7" name="矩形 6"/>
          <p:cNvSpPr/>
          <p:nvPr/>
        </p:nvSpPr>
        <p:spPr>
          <a:xfrm>
            <a:off x="6808392" y="3525487"/>
            <a:ext cx="748923" cy="261610"/>
          </a:xfrm>
          <a:prstGeom prst="rect">
            <a:avLst/>
          </a:prstGeom>
        </p:spPr>
        <p:txBody>
          <a:bodyPr wrap="none">
            <a:spAutoFit/>
          </a:bodyPr>
          <a:lstStyle/>
          <a:p>
            <a:r>
              <a:rPr lang="zh-CN" altLang="en-US" sz="1100" dirty="0">
                <a:latin typeface="微软雅黑 Light" panose="020B0502040204020203" pitchFamily="34" charset="-122"/>
                <a:ea typeface="微软雅黑 Light" panose="020B0502040204020203" pitchFamily="34" charset="-122"/>
              </a:rPr>
              <a:t>最后确认</a:t>
            </a:r>
          </a:p>
        </p:txBody>
      </p:sp>
      <p:sp>
        <p:nvSpPr>
          <p:cNvPr id="104" name="矩形 103"/>
          <p:cNvSpPr/>
          <p:nvPr/>
        </p:nvSpPr>
        <p:spPr>
          <a:xfrm>
            <a:off x="6808392" y="4092143"/>
            <a:ext cx="466794" cy="261610"/>
          </a:xfrm>
          <a:prstGeom prst="rect">
            <a:avLst/>
          </a:prstGeom>
        </p:spPr>
        <p:txBody>
          <a:bodyPr wrap="none">
            <a:spAutoFit/>
          </a:bodyPr>
          <a:lstStyle/>
          <a:p>
            <a:r>
              <a:rPr lang="zh-CN" altLang="en-US" sz="1100" dirty="0">
                <a:latin typeface="微软雅黑 Light" panose="020B0502040204020203" pitchFamily="34" charset="-122"/>
                <a:ea typeface="微软雅黑 Light" panose="020B0502040204020203" pitchFamily="34" charset="-122"/>
              </a:rPr>
              <a:t>关闭</a:t>
            </a:r>
          </a:p>
        </p:txBody>
      </p:sp>
      <p:sp>
        <p:nvSpPr>
          <p:cNvPr id="105" name="矩形 104"/>
          <p:cNvSpPr/>
          <p:nvPr/>
        </p:nvSpPr>
        <p:spPr>
          <a:xfrm>
            <a:off x="1862557" y="4394005"/>
            <a:ext cx="466794"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关闭</a:t>
            </a:r>
          </a:p>
        </p:txBody>
      </p:sp>
      <p:sp>
        <p:nvSpPr>
          <p:cNvPr id="3" name="Rectangle 23">
            <a:extLst>
              <a:ext uri="{FF2B5EF4-FFF2-40B4-BE49-F238E27FC236}">
                <a16:creationId xmlns:a16="http://schemas.microsoft.com/office/drawing/2014/main" id="{60C3C58E-B51A-AF44-B8D7-C0D6724B37D4}"/>
              </a:ext>
            </a:extLst>
          </p:cNvPr>
          <p:cNvSpPr>
            <a:spLocks noChangeArrowheads="1"/>
          </p:cNvSpPr>
          <p:nvPr/>
        </p:nvSpPr>
        <p:spPr bwMode="auto">
          <a:xfrm>
            <a:off x="2513475" y="1177930"/>
            <a:ext cx="601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客户</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 name="Rectangle 24">
            <a:extLst>
              <a:ext uri="{FF2B5EF4-FFF2-40B4-BE49-F238E27FC236}">
                <a16:creationId xmlns:a16="http://schemas.microsoft.com/office/drawing/2014/main" id="{2E26A593-4AA4-7D22-1DB6-387CCD159D8C}"/>
              </a:ext>
            </a:extLst>
          </p:cNvPr>
          <p:cNvSpPr>
            <a:spLocks noChangeArrowheads="1"/>
          </p:cNvSpPr>
          <p:nvPr/>
        </p:nvSpPr>
        <p:spPr bwMode="auto">
          <a:xfrm>
            <a:off x="5867902" y="1177930"/>
            <a:ext cx="7389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服务器</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S</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grpSp>
        <p:nvGrpSpPr>
          <p:cNvPr id="15" name="组合 14">
            <a:extLst>
              <a:ext uri="{FF2B5EF4-FFF2-40B4-BE49-F238E27FC236}">
                <a16:creationId xmlns:a16="http://schemas.microsoft.com/office/drawing/2014/main" id="{72E363F1-8B14-B821-566A-9EC45CA6A21F}"/>
              </a:ext>
            </a:extLst>
          </p:cNvPr>
          <p:cNvGrpSpPr/>
          <p:nvPr/>
        </p:nvGrpSpPr>
        <p:grpSpPr>
          <a:xfrm>
            <a:off x="3860607" y="1886402"/>
            <a:ext cx="1330219" cy="274235"/>
            <a:chOff x="4026424" y="3919924"/>
            <a:chExt cx="1330219" cy="274235"/>
          </a:xfrm>
        </p:grpSpPr>
        <p:sp>
          <p:nvSpPr>
            <p:cNvPr id="16" name="AutoShape 16">
              <a:extLst>
                <a:ext uri="{FF2B5EF4-FFF2-40B4-BE49-F238E27FC236}">
                  <a16:creationId xmlns:a16="http://schemas.microsoft.com/office/drawing/2014/main" id="{89712E89-33D8-7943-1783-4B9C5F206C03}"/>
                </a:ext>
              </a:extLst>
            </p:cNvPr>
            <p:cNvSpPr>
              <a:spLocks noChangeArrowheads="1"/>
            </p:cNvSpPr>
            <p:nvPr/>
          </p:nvSpPr>
          <p:spPr bwMode="auto">
            <a:xfrm>
              <a:off x="4026424" y="3969785"/>
              <a:ext cx="1330219" cy="147802"/>
            </a:xfrm>
            <a:prstGeom prst="leftRightArrow">
              <a:avLst>
                <a:gd name="adj1" fmla="val 55880"/>
                <a:gd name="adj2" fmla="val 103167"/>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17" name="Rectangle 17">
              <a:extLst>
                <a:ext uri="{FF2B5EF4-FFF2-40B4-BE49-F238E27FC236}">
                  <a16:creationId xmlns:a16="http://schemas.microsoft.com/office/drawing/2014/main" id="{D4A1F160-B7ED-2395-3BAB-4341F2709CF5}"/>
                </a:ext>
              </a:extLst>
            </p:cNvPr>
            <p:cNvSpPr>
              <a:spLocks noChangeArrowheads="1"/>
            </p:cNvSpPr>
            <p:nvPr/>
          </p:nvSpPr>
          <p:spPr bwMode="auto">
            <a:xfrm>
              <a:off x="4292200" y="3919924"/>
              <a:ext cx="798666" cy="274235"/>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数据传送</a:t>
              </a:r>
            </a:p>
          </p:txBody>
        </p:sp>
      </p:gr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304107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616772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825075" y="553196"/>
            <a:ext cx="432000" cy="432000"/>
          </a:xfrm>
          <a:prstGeom prst="rect">
            <a:avLst/>
          </a:prstGeom>
        </p:spPr>
      </p:pic>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51725" y="553196"/>
            <a:ext cx="432000" cy="432000"/>
          </a:xfrm>
          <a:prstGeom prst="rect">
            <a:avLst/>
          </a:prstGeom>
        </p:spPr>
      </p:pic>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3041074" y="3187843"/>
            <a:ext cx="3141051" cy="453028"/>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3026675" y="17777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3041074" y="1237668"/>
            <a:ext cx="3126650" cy="49602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6182125"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730675"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6182125"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730675"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6182125"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3164400"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31921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53654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956627"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870868"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855639"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850832"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6182125"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730675"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723475"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3026675" y="26645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5046057"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935775"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723475"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3475"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665875"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482554"/>
            <a:ext cx="8172000" cy="4267246"/>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2412000" y="104400"/>
            <a:ext cx="4320000" cy="369332"/>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482554"/>
            <a:ext cx="8172000" cy="4267246"/>
          </a:xfrm>
        </p:spPr>
        <p:txBody>
          <a:bodyPr/>
          <a:lstStyle/>
          <a:p>
            <a:r>
              <a:rPr lang="zh-CN" altLang="en-US"/>
              <a:t>用来防止在 </a:t>
            </a:r>
            <a:r>
              <a:rPr lang="en-US" altLang="zh-CN" dirty="0"/>
              <a:t>TCP </a:t>
            </a:r>
            <a:r>
              <a:rPr lang="zh-CN" altLang="en-US"/>
              <a:t>连接出现长时期空闲。</a:t>
            </a:r>
            <a:endParaRPr lang="en-US" altLang="zh-CN" dirty="0"/>
          </a:p>
          <a:p>
            <a:r>
              <a:rPr lang="zh-CN" altLang="en-US"/>
              <a:t>通常设置为 </a:t>
            </a:r>
            <a:r>
              <a:rPr lang="en-US" altLang="zh-CN" dirty="0"/>
              <a:t>2 </a:t>
            </a:r>
            <a:r>
              <a:rPr lang="zh-CN" altLang="en-US"/>
              <a:t>小时 。</a:t>
            </a:r>
            <a:endParaRPr lang="en-US" altLang="zh-CN" dirty="0"/>
          </a:p>
          <a:p>
            <a:r>
              <a:rPr lang="zh-CN" altLang="en-US"/>
              <a:t>若服务器过了 </a:t>
            </a:r>
            <a:r>
              <a:rPr lang="en-US" altLang="zh-CN" dirty="0"/>
              <a:t>2 </a:t>
            </a:r>
            <a:r>
              <a:rPr lang="zh-CN" altLang="en-US"/>
              <a:t>小时还没有收到客户的信息，它就发送探测报文段。</a:t>
            </a:r>
            <a:endParaRPr lang="en-US" altLang="zh-CN" dirty="0"/>
          </a:p>
          <a:p>
            <a:r>
              <a:rPr lang="zh-CN" altLang="en-US"/>
              <a:t>若发送了 </a:t>
            </a:r>
            <a:r>
              <a:rPr lang="en-US" altLang="zh-CN" dirty="0"/>
              <a:t>10 </a:t>
            </a:r>
            <a:r>
              <a:rPr lang="zh-CN" altLang="en-US"/>
              <a:t>个探测报文段（每一个相隔 </a:t>
            </a:r>
            <a:r>
              <a:rPr lang="en-US" altLang="zh-CN" dirty="0"/>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2412000" y="104400"/>
            <a:ext cx="4320000" cy="369332"/>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dirty="0">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2412000" y="104400"/>
            <a:ext cx="4320000" cy="369332"/>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glpla">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8734</TotalTime>
  <Words>25424</Words>
  <Application>Microsoft Office PowerPoint</Application>
  <PresentationFormat>全屏显示(16:9)</PresentationFormat>
  <Paragraphs>4317</Paragraphs>
  <Slides>215</Slides>
  <Notes>21</Notes>
  <HiddenSlides>3</HiddenSlides>
  <MMClips>0</MMClips>
  <ScaleCrop>false</ScaleCrop>
  <HeadingPairs>
    <vt:vector size="8" baseType="variant">
      <vt:variant>
        <vt:lpstr>已用的字体</vt:lpstr>
      </vt:variant>
      <vt:variant>
        <vt:i4>11</vt:i4>
      </vt:variant>
      <vt:variant>
        <vt:lpstr>主题</vt:lpstr>
      </vt:variant>
      <vt:variant>
        <vt:i4>1</vt:i4>
      </vt:variant>
      <vt:variant>
        <vt:lpstr>嵌入 OLE 服务器</vt:lpstr>
      </vt:variant>
      <vt:variant>
        <vt:i4>2</vt:i4>
      </vt:variant>
      <vt:variant>
        <vt:lpstr>幻灯片标题</vt:lpstr>
      </vt:variant>
      <vt:variant>
        <vt:i4>215</vt:i4>
      </vt:variant>
    </vt:vector>
  </HeadingPairs>
  <TitlesOfParts>
    <vt:vector size="229" baseType="lpstr">
      <vt:lpstr>宋体</vt:lpstr>
      <vt:lpstr>微软雅黑</vt:lpstr>
      <vt:lpstr>Symbol</vt:lpstr>
      <vt:lpstr>Courier New</vt:lpstr>
      <vt:lpstr>Cambria Math</vt:lpstr>
      <vt:lpstr>Arial</vt:lpstr>
      <vt:lpstr>Times New Roman</vt:lpstr>
      <vt:lpstr>Montserrat</vt:lpstr>
      <vt:lpstr>微软雅黑 Light</vt:lpstr>
      <vt:lpstr>Wingdings</vt:lpstr>
      <vt:lpstr>Calibri</vt:lpstr>
      <vt:lpstr>network</vt:lpstr>
      <vt:lpstr>Visio</vt:lpstr>
      <vt:lpstr>公式</vt:lpstr>
      <vt:lpstr>PowerPoint 演示文稿</vt:lpstr>
      <vt:lpstr>计算机网络体系结构</vt:lpstr>
      <vt:lpstr>内容</vt:lpstr>
      <vt:lpstr>思维导图</vt:lpstr>
      <vt:lpstr>5.1 运输层协议概述</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典型应用及应用层协议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示例</vt:lpstr>
      <vt:lpstr>5.2 用户数据报协议 UDP</vt:lpstr>
      <vt:lpstr>5.2.1  UDP 概述</vt:lpstr>
      <vt:lpstr>UDP 的主要特点</vt:lpstr>
      <vt:lpstr>UDP 是面向报文的</vt:lpstr>
      <vt:lpstr>UDP</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检验和</vt:lpstr>
      <vt:lpstr>计算 UDP 检验和的例子</vt:lpstr>
      <vt:lpstr>计算 UDP 检验和的例子</vt:lpstr>
      <vt:lpstr>5.3 传输控制协议 TCP 概述</vt:lpstr>
      <vt:lpstr>TCP</vt:lpstr>
      <vt:lpstr>MTU vs MSSS</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5.4 可靠传输的工作原理</vt:lpstr>
      <vt:lpstr>IP 网络提供的是不可靠的传输</vt:lpstr>
      <vt:lpstr>理想传输条件的特点</vt:lpstr>
      <vt:lpstr>5.4.1  停止等待协议</vt:lpstr>
      <vt:lpstr>1. 无差错情况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发送窗口</vt:lpstr>
      <vt:lpstr>发送窗口</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5.6 TCP 可靠传输的实现</vt:lpstr>
      <vt:lpstr>5.6.1   以字节为单位的滑动窗口</vt:lpstr>
      <vt:lpstr>发送窗口</vt:lpstr>
      <vt:lpstr>发送窗口</vt:lpstr>
      <vt:lpstr>发送窗口</vt:lpstr>
      <vt:lpstr>接收窗口</vt:lpstr>
      <vt:lpstr>窗口的滑动</vt:lpstr>
      <vt:lpstr>窗口的滑动</vt:lpstr>
      <vt:lpstr>窗口的滑动</vt:lpstr>
      <vt:lpstr>窗口的滑动</vt:lpstr>
      <vt:lpstr>窗口的滑动</vt:lpstr>
      <vt:lpstr>窗口的滑动</vt:lpstr>
      <vt:lpstr>窗口的滑动</vt:lpstr>
      <vt:lpstr>窗口的滑动</vt:lpstr>
      <vt:lpstr>接收缓存与接收窗口 </vt:lpstr>
      <vt:lpstr>接收缓存与接收窗口 </vt:lpstr>
      <vt:lpstr>需要强调三点</vt:lpstr>
      <vt:lpstr>5.6.2   超时重传时间的选择</vt:lpstr>
      <vt:lpstr>TCP 超时重传时间设置</vt:lpstr>
      <vt:lpstr>加权平均往返时间 RTTS </vt:lpstr>
      <vt:lpstr>超时重传时间 RTO</vt:lpstr>
      <vt:lpstr>往返时间 (RTT) 的测量相当复杂</vt:lpstr>
      <vt:lpstr>Karn 算法</vt:lpstr>
      <vt:lpstr>修正的 Karn 算法</vt:lpstr>
      <vt:lpstr>5.6.3   选择确认 SACK</vt:lpstr>
      <vt:lpstr>RFC 2018 对 SACK 的规定</vt:lpstr>
      <vt:lpstr>SACK</vt:lpstr>
      <vt:lpstr>5.7 TCP 的流量控制</vt:lpstr>
      <vt:lpstr>5.7.1   利用滑动窗口实现流量控制</vt:lpstr>
      <vt:lpstr>5.7.1   利用滑动窗口实现流量控制</vt:lpstr>
      <vt:lpstr>流量控制</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5.8 TCP 的拥塞控制</vt:lpstr>
      <vt:lpstr>5.8.1   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单独确认</vt:lpstr>
      <vt:lpstr>累计确认</vt:lpstr>
      <vt:lpstr>PowerPoint 演示文稿</vt:lpstr>
      <vt:lpstr>传输轮次（transmission round）</vt:lpstr>
      <vt:lpstr>慢开始门限 ssthresh</vt:lpstr>
      <vt:lpstr>2. 拥塞避免</vt:lpstr>
      <vt:lpstr>单独确认</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Fast Retransmission</vt:lpstr>
      <vt:lpstr>快重传举例</vt:lpstr>
      <vt:lpstr>拥塞控制</vt:lpstr>
      <vt:lpstr>快恢复 Fast Recovery</vt:lpstr>
      <vt:lpstr>慢开始和拥塞避免算法的实现举例</vt:lpstr>
      <vt:lpstr>慢开始和拥塞避免算法的实现举例</vt:lpstr>
      <vt:lpstr>TCP 拥塞控制流程图</vt:lpstr>
      <vt:lpstr>发送窗口的上限值</vt:lpstr>
      <vt:lpstr>5.8.3   主动队列管理 AQM</vt:lpstr>
      <vt:lpstr>先进先出 FIFO </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5.9 TCP 的运输连接管理</vt:lpstr>
      <vt:lpstr>运输连接的三个阶段</vt:lpstr>
      <vt:lpstr>要解决的三个问题</vt:lpstr>
      <vt:lpstr>5.9.1  TCP 的连接建立</vt:lpstr>
      <vt:lpstr>5.9.1  TCP 的连接建立</vt:lpstr>
      <vt:lpstr>三报文握手</vt:lpstr>
      <vt:lpstr>三报文握手</vt:lpstr>
      <vt:lpstr>三报文握手</vt:lpstr>
      <vt:lpstr>三报文握手</vt:lpstr>
      <vt:lpstr>三报文握手</vt:lpstr>
      <vt:lpstr>三报文握手</vt:lpstr>
      <vt:lpstr>三报文握手</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738</cp:revision>
  <dcterms:created xsi:type="dcterms:W3CDTF">2018-07-18T08:51:30Z</dcterms:created>
  <dcterms:modified xsi:type="dcterms:W3CDTF">2026-07-25T06:19:54Z</dcterms:modified>
</cp:coreProperties>
</file>