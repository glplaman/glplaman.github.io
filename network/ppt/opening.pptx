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338" r:id="rId3"/>
    <p:sldId id="458" r:id="rId4"/>
    <p:sldId id="339" r:id="rId5"/>
    <p:sldId id="298" r:id="rId6"/>
    <p:sldId id="299" r:id="rId7"/>
    <p:sldId id="297" r:id="rId8"/>
    <p:sldId id="459" r:id="rId9"/>
    <p:sldId id="461" r:id="rId10"/>
    <p:sldId id="460" r:id="rId11"/>
    <p:sldId id="457" r:id="rId12"/>
    <p:sldId id="301" r:id="rId13"/>
    <p:sldId id="462" r:id="rId14"/>
    <p:sldId id="300" r:id="rId15"/>
    <p:sldId id="302" r:id="rId16"/>
    <p:sldId id="303" r:id="rId17"/>
    <p:sldId id="277" r:id="rId18"/>
    <p:sldId id="456" r:id="rId19"/>
    <p:sldId id="304" r:id="rId20"/>
    <p:sldId id="310" r:id="rId21"/>
    <p:sldId id="312" r:id="rId22"/>
    <p:sldId id="464" r:id="rId23"/>
    <p:sldId id="340" r:id="rId24"/>
    <p:sldId id="311" r:id="rId25"/>
    <p:sldId id="313" r:id="rId26"/>
    <p:sldId id="314" r:id="rId27"/>
    <p:sldId id="315" r:id="rId28"/>
    <p:sldId id="316" r:id="rId29"/>
    <p:sldId id="463" r:id="rId30"/>
    <p:sldId id="317" r:id="rId31"/>
    <p:sldId id="318" r:id="rId32"/>
    <p:sldId id="319" r:id="rId33"/>
    <p:sldId id="320" r:id="rId34"/>
    <p:sldId id="341" r:id="rId35"/>
    <p:sldId id="322" r:id="rId36"/>
    <p:sldId id="323" r:id="rId37"/>
    <p:sldId id="324" r:id="rId38"/>
    <p:sldId id="325" r:id="rId39"/>
    <p:sldId id="326" r:id="rId40"/>
    <p:sldId id="327" r:id="rId41"/>
    <p:sldId id="328" r:id="rId42"/>
    <p:sldId id="455" r:id="rId43"/>
    <p:sldId id="365" r:id="rId44"/>
    <p:sldId id="333" r:id="rId45"/>
    <p:sldId id="366" r:id="rId46"/>
    <p:sldId id="335" r:id="rId47"/>
    <p:sldId id="367" r:id="rId48"/>
    <p:sldId id="334" r:id="rId49"/>
    <p:sldId id="332" r:id="rId50"/>
    <p:sldId id="331" r:id="rId51"/>
    <p:sldId id="330" r:id="rId52"/>
    <p:sldId id="329" r:id="rId53"/>
    <p:sldId id="336" r:id="rId54"/>
    <p:sldId id="337" r:id="rId55"/>
    <p:sldId id="305" r:id="rId56"/>
    <p:sldId id="368" r:id="rId57"/>
    <p:sldId id="357" r:id="rId58"/>
    <p:sldId id="358" r:id="rId59"/>
    <p:sldId id="362" r:id="rId60"/>
    <p:sldId id="363" r:id="rId61"/>
    <p:sldId id="361" r:id="rId62"/>
    <p:sldId id="359" r:id="rId63"/>
    <p:sldId id="360" r:id="rId64"/>
    <p:sldId id="364" r:id="rId65"/>
    <p:sldId id="347" r:id="rId66"/>
    <p:sldId id="389" r:id="rId67"/>
    <p:sldId id="306" r:id="rId68"/>
    <p:sldId id="370" r:id="rId69"/>
    <p:sldId id="371" r:id="rId70"/>
    <p:sldId id="384" r:id="rId71"/>
    <p:sldId id="372" r:id="rId72"/>
    <p:sldId id="373" r:id="rId73"/>
    <p:sldId id="376" r:id="rId74"/>
    <p:sldId id="377" r:id="rId75"/>
    <p:sldId id="374" r:id="rId76"/>
    <p:sldId id="378" r:id="rId77"/>
    <p:sldId id="380" r:id="rId78"/>
    <p:sldId id="381" r:id="rId79"/>
    <p:sldId id="382" r:id="rId80"/>
    <p:sldId id="383" r:id="rId81"/>
    <p:sldId id="385" r:id="rId82"/>
    <p:sldId id="386" r:id="rId83"/>
    <p:sldId id="388" r:id="rId84"/>
    <p:sldId id="387" r:id="rId85"/>
    <p:sldId id="390" r:id="rId86"/>
    <p:sldId id="391" r:id="rId87"/>
    <p:sldId id="392" r:id="rId88"/>
    <p:sldId id="394" r:id="rId89"/>
    <p:sldId id="393" r:id="rId90"/>
    <p:sldId id="395" r:id="rId91"/>
    <p:sldId id="396" r:id="rId92"/>
    <p:sldId id="397" r:id="rId93"/>
    <p:sldId id="398" r:id="rId94"/>
    <p:sldId id="399" r:id="rId95"/>
    <p:sldId id="400" r:id="rId96"/>
    <p:sldId id="401" r:id="rId97"/>
    <p:sldId id="402" r:id="rId98"/>
    <p:sldId id="416" r:id="rId99"/>
    <p:sldId id="417" r:id="rId100"/>
    <p:sldId id="406" r:id="rId101"/>
    <p:sldId id="403" r:id="rId102"/>
    <p:sldId id="404" r:id="rId103"/>
    <p:sldId id="405" r:id="rId104"/>
    <p:sldId id="407" r:id="rId105"/>
    <p:sldId id="408" r:id="rId106"/>
    <p:sldId id="409" r:id="rId107"/>
    <p:sldId id="410" r:id="rId108"/>
    <p:sldId id="411" r:id="rId109"/>
    <p:sldId id="412" r:id="rId110"/>
    <p:sldId id="413" r:id="rId111"/>
    <p:sldId id="415" r:id="rId112"/>
    <p:sldId id="418" r:id="rId113"/>
    <p:sldId id="420" r:id="rId114"/>
    <p:sldId id="419" r:id="rId115"/>
    <p:sldId id="422" r:id="rId116"/>
    <p:sldId id="414" r:id="rId117"/>
    <p:sldId id="435" r:id="rId118"/>
    <p:sldId id="423" r:id="rId119"/>
    <p:sldId id="424" r:id="rId120"/>
    <p:sldId id="425" r:id="rId121"/>
    <p:sldId id="426" r:id="rId122"/>
    <p:sldId id="434" r:id="rId123"/>
    <p:sldId id="437" r:id="rId124"/>
    <p:sldId id="438" r:id="rId125"/>
    <p:sldId id="433" r:id="rId126"/>
    <p:sldId id="441" r:id="rId127"/>
    <p:sldId id="445" r:id="rId128"/>
    <p:sldId id="444" r:id="rId129"/>
    <p:sldId id="442" r:id="rId130"/>
    <p:sldId id="446" r:id="rId131"/>
    <p:sldId id="448" r:id="rId132"/>
    <p:sldId id="447" r:id="rId133"/>
    <p:sldId id="443" r:id="rId134"/>
    <p:sldId id="449" r:id="rId135"/>
    <p:sldId id="451" r:id="rId136"/>
    <p:sldId id="450" r:id="rId137"/>
    <p:sldId id="453" r:id="rId138"/>
    <p:sldId id="454" r:id="rId139"/>
    <p:sldId id="452" r:id="rId140"/>
    <p:sldId id="439" r:id="rId141"/>
    <p:sldId id="429" r:id="rId142"/>
    <p:sldId id="428" r:id="rId143"/>
    <p:sldId id="430" r:id="rId144"/>
    <p:sldId id="431" r:id="rId145"/>
    <p:sldId id="432" r:id="rId146"/>
    <p:sldId id="307" r:id="rId147"/>
    <p:sldId id="308" r:id="rId148"/>
    <p:sldId id="309" r:id="rId149"/>
    <p:sldId id="258" r:id="rId150"/>
    <p:sldId id="278" r:id="rId151"/>
    <p:sldId id="279" r:id="rId152"/>
    <p:sldId id="280" r:id="rId153"/>
    <p:sldId id="281" r:id="rId154"/>
    <p:sldId id="282" r:id="rId15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ais" id="{DC0C3C2F-23FD-42FA-9FD1-9012114B5F20}">
          <p14:sldIdLst>
            <p14:sldId id="256"/>
          </p14:sldIdLst>
        </p14:section>
        <p14:section name="op" id="{9222EB0F-8724-4DA2-8D3E-57E8D1B5EE5B}">
          <p14:sldIdLst>
            <p14:sldId id="338"/>
            <p14:sldId id="458"/>
            <p14:sldId id="339"/>
            <p14:sldId id="298"/>
            <p14:sldId id="299"/>
            <p14:sldId id="297"/>
            <p14:sldId id="459"/>
            <p14:sldId id="461"/>
            <p14:sldId id="460"/>
            <p14:sldId id="457"/>
          </p14:sldIdLst>
        </p14:section>
        <p14:section name="end" id="{46275B7E-A63B-4DD3-9281-80D1429B37A9}">
          <p14:sldIdLst>
            <p14:sldId id="301"/>
            <p14:sldId id="462"/>
            <p14:sldId id="300"/>
            <p14:sldId id="302"/>
            <p14:sldId id="303"/>
            <p14:sldId id="277"/>
            <p14:sldId id="456"/>
            <p14:sldId id="304"/>
            <p14:sldId id="310"/>
            <p14:sldId id="312"/>
            <p14:sldId id="464"/>
            <p14:sldId id="340"/>
            <p14:sldId id="311"/>
            <p14:sldId id="313"/>
            <p14:sldId id="314"/>
            <p14:sldId id="315"/>
            <p14:sldId id="316"/>
            <p14:sldId id="463"/>
            <p14:sldId id="317"/>
            <p14:sldId id="318"/>
            <p14:sldId id="319"/>
            <p14:sldId id="320"/>
            <p14:sldId id="341"/>
            <p14:sldId id="322"/>
            <p14:sldId id="323"/>
            <p14:sldId id="324"/>
            <p14:sldId id="325"/>
            <p14:sldId id="326"/>
            <p14:sldId id="327"/>
            <p14:sldId id="328"/>
            <p14:sldId id="455"/>
            <p14:sldId id="365"/>
            <p14:sldId id="333"/>
            <p14:sldId id="366"/>
            <p14:sldId id="335"/>
            <p14:sldId id="367"/>
            <p14:sldId id="334"/>
            <p14:sldId id="332"/>
            <p14:sldId id="331"/>
            <p14:sldId id="330"/>
            <p14:sldId id="329"/>
            <p14:sldId id="336"/>
            <p14:sldId id="337"/>
            <p14:sldId id="305"/>
            <p14:sldId id="368"/>
            <p14:sldId id="357"/>
            <p14:sldId id="358"/>
            <p14:sldId id="362"/>
            <p14:sldId id="363"/>
            <p14:sldId id="361"/>
            <p14:sldId id="359"/>
            <p14:sldId id="360"/>
            <p14:sldId id="364"/>
            <p14:sldId id="347"/>
            <p14:sldId id="389"/>
            <p14:sldId id="306"/>
            <p14:sldId id="370"/>
            <p14:sldId id="371"/>
            <p14:sldId id="384"/>
            <p14:sldId id="372"/>
            <p14:sldId id="373"/>
            <p14:sldId id="376"/>
            <p14:sldId id="377"/>
            <p14:sldId id="374"/>
            <p14:sldId id="378"/>
            <p14:sldId id="380"/>
            <p14:sldId id="381"/>
            <p14:sldId id="382"/>
            <p14:sldId id="383"/>
            <p14:sldId id="385"/>
            <p14:sldId id="386"/>
            <p14:sldId id="388"/>
            <p14:sldId id="387"/>
            <p14:sldId id="390"/>
            <p14:sldId id="391"/>
            <p14:sldId id="392"/>
            <p14:sldId id="394"/>
            <p14:sldId id="393"/>
            <p14:sldId id="395"/>
            <p14:sldId id="396"/>
            <p14:sldId id="397"/>
            <p14:sldId id="398"/>
            <p14:sldId id="399"/>
            <p14:sldId id="400"/>
            <p14:sldId id="401"/>
            <p14:sldId id="402"/>
            <p14:sldId id="416"/>
            <p14:sldId id="417"/>
            <p14:sldId id="406"/>
            <p14:sldId id="403"/>
            <p14:sldId id="404"/>
            <p14:sldId id="405"/>
            <p14:sldId id="407"/>
            <p14:sldId id="408"/>
            <p14:sldId id="409"/>
            <p14:sldId id="410"/>
            <p14:sldId id="411"/>
            <p14:sldId id="412"/>
            <p14:sldId id="413"/>
            <p14:sldId id="415"/>
            <p14:sldId id="418"/>
            <p14:sldId id="420"/>
            <p14:sldId id="419"/>
            <p14:sldId id="422"/>
            <p14:sldId id="414"/>
            <p14:sldId id="435"/>
            <p14:sldId id="423"/>
            <p14:sldId id="424"/>
            <p14:sldId id="425"/>
            <p14:sldId id="426"/>
            <p14:sldId id="434"/>
            <p14:sldId id="437"/>
            <p14:sldId id="438"/>
            <p14:sldId id="433"/>
            <p14:sldId id="441"/>
            <p14:sldId id="445"/>
            <p14:sldId id="444"/>
            <p14:sldId id="442"/>
            <p14:sldId id="446"/>
            <p14:sldId id="448"/>
            <p14:sldId id="447"/>
            <p14:sldId id="443"/>
            <p14:sldId id="449"/>
            <p14:sldId id="451"/>
            <p14:sldId id="450"/>
            <p14:sldId id="453"/>
            <p14:sldId id="454"/>
            <p14:sldId id="452"/>
            <p14:sldId id="439"/>
            <p14:sldId id="429"/>
            <p14:sldId id="428"/>
            <p14:sldId id="430"/>
            <p14:sldId id="431"/>
            <p14:sldId id="432"/>
            <p14:sldId id="307"/>
            <p14:sldId id="308"/>
            <p14:sldId id="309"/>
            <p14:sldId id="258"/>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CC0000"/>
    <a:srgbClr val="A40000"/>
    <a:srgbClr val="A9D18E"/>
    <a:srgbClr val="4472C4"/>
    <a:srgbClr val="00D3E8"/>
    <a:srgbClr val="CFDFE7"/>
    <a:srgbClr val="008EEA"/>
    <a:srgbClr val="44546A"/>
    <a:srgbClr val="C6C6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7" d="100"/>
          <a:sy n="107" d="100"/>
        </p:scale>
        <p:origin x="75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网民用户（亿）</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018C-456B-B595-F96A06FDDE68}"/>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018C-456B-B595-F96A06FDDE68}"/>
              </c:ext>
            </c:extLst>
          </c:dPt>
          <c:dLbls>
            <c:dLbl>
              <c:idx val="0"/>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018C-456B-B595-F96A06FDDE68}"/>
                </c:ext>
              </c:extLst>
            </c:dLbl>
            <c:dLbl>
              <c:idx val="1"/>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018C-456B-B595-F96A06FDDE68}"/>
                </c:ext>
              </c:extLst>
            </c:dLbl>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网民</c:v>
                </c:pt>
                <c:pt idx="1">
                  <c:v>其他</c:v>
                </c:pt>
              </c:strCache>
            </c:strRef>
          </c:cat>
          <c:val>
            <c:numRef>
              <c:f>Sheet1!$B$2:$B$3</c:f>
              <c:numCache>
                <c:formatCode>General</c:formatCode>
                <c:ptCount val="2"/>
                <c:pt idx="0">
                  <c:v>10.32</c:v>
                </c:pt>
                <c:pt idx="1">
                  <c:v>3.6799999999999997</c:v>
                </c:pt>
              </c:numCache>
            </c:numRef>
          </c:val>
          <c:extLst>
            <c:ext xmlns:c16="http://schemas.microsoft.com/office/drawing/2014/chart" uri="{C3380CC4-5D6E-409C-BE32-E72D297353CC}">
              <c16:uniqueId val="{00000000-018C-456B-B595-F96A06FDDE68}"/>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r>
              <a:rPr lang="zh-CN" sz="2000"/>
              <a:t>网络用户分布</a:t>
            </a:r>
          </a:p>
        </c:rich>
      </c:tx>
      <c:overlay val="0"/>
      <c:spPr>
        <a:noFill/>
        <a:ln>
          <a:noFill/>
        </a:ln>
        <a:effectLst/>
      </c:spPr>
      <c:txPr>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plotArea>
      <c:layout/>
      <c:barChart>
        <c:barDir val="bar"/>
        <c:grouping val="clustered"/>
        <c:varyColors val="0"/>
        <c:ser>
          <c:idx val="0"/>
          <c:order val="0"/>
          <c:tx>
            <c:strRef>
              <c:f>Sheet1!$B$1</c:f>
              <c:strCache>
                <c:ptCount val="1"/>
                <c:pt idx="0">
                  <c:v>人数</c:v>
                </c:pt>
              </c:strCache>
            </c:strRef>
          </c:tx>
          <c:spPr>
            <a:solidFill>
              <a:schemeClr val="accent2"/>
            </a:solidFill>
            <a:ln>
              <a:noFill/>
            </a:ln>
            <a:effectLst>
              <a:outerShdw blurRad="50800" dist="38100" dir="5400000" algn="t" rotWithShape="0">
                <a:prstClr val="black">
                  <a:alpha val="40000"/>
                </a:prstClr>
              </a:outerShdw>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即时通信用户</c:v>
                </c:pt>
                <c:pt idx="1">
                  <c:v>搜索引擎用户</c:v>
                </c:pt>
                <c:pt idx="2">
                  <c:v>网络购物用户</c:v>
                </c:pt>
                <c:pt idx="3">
                  <c:v>网络支付用户</c:v>
                </c:pt>
                <c:pt idx="4">
                  <c:v>网络视频用户</c:v>
                </c:pt>
                <c:pt idx="5">
                  <c:v>网络直播用户</c:v>
                </c:pt>
                <c:pt idx="6">
                  <c:v>政务服务用户</c:v>
                </c:pt>
                <c:pt idx="7">
                  <c:v>农村网民</c:v>
                </c:pt>
              </c:strCache>
            </c:strRef>
          </c:cat>
          <c:val>
            <c:numRef>
              <c:f>Sheet1!$B$2:$B$9</c:f>
              <c:numCache>
                <c:formatCode>General</c:formatCode>
                <c:ptCount val="8"/>
                <c:pt idx="0">
                  <c:v>9.31</c:v>
                </c:pt>
                <c:pt idx="1">
                  <c:v>7.66</c:v>
                </c:pt>
                <c:pt idx="2">
                  <c:v>7.82</c:v>
                </c:pt>
                <c:pt idx="3">
                  <c:v>8.5399999999999991</c:v>
                </c:pt>
                <c:pt idx="4">
                  <c:v>9.27</c:v>
                </c:pt>
                <c:pt idx="5">
                  <c:v>5.62</c:v>
                </c:pt>
                <c:pt idx="6">
                  <c:v>8.43</c:v>
                </c:pt>
                <c:pt idx="7">
                  <c:v>3.09</c:v>
                </c:pt>
              </c:numCache>
            </c:numRef>
          </c:val>
          <c:extLst>
            <c:ext xmlns:c16="http://schemas.microsoft.com/office/drawing/2014/chart" uri="{C3380CC4-5D6E-409C-BE32-E72D297353CC}">
              <c16:uniqueId val="{00000000-3EE8-4643-848A-5A2CC9455DED}"/>
            </c:ext>
          </c:extLst>
        </c:ser>
        <c:dLbls>
          <c:dLblPos val="outEnd"/>
          <c:showLegendKey val="0"/>
          <c:showVal val="1"/>
          <c:showCatName val="0"/>
          <c:showSerName val="0"/>
          <c:showPercent val="0"/>
          <c:showBubbleSize val="0"/>
        </c:dLbls>
        <c:gapWidth val="219"/>
        <c:axId val="757421152"/>
        <c:axId val="757416576"/>
      </c:barChart>
      <c:catAx>
        <c:axId val="75742115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16576"/>
        <c:crosses val="autoZero"/>
        <c:auto val="1"/>
        <c:lblAlgn val="ctr"/>
        <c:lblOffset val="100"/>
        <c:noMultiLvlLbl val="0"/>
      </c:catAx>
      <c:valAx>
        <c:axId val="757416576"/>
        <c:scaling>
          <c:orientation val="minMax"/>
          <c:max val="14"/>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21152"/>
        <c:crosses val="autoZero"/>
        <c:crossBetween val="between"/>
        <c:majorUnit val="1"/>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网络用户行业分布</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63D4-4091-8E8D-8DA99CAC162B}"/>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63D4-4091-8E8D-8DA99CAC162B}"/>
              </c:ext>
            </c:extLst>
          </c:dPt>
          <c:dPt>
            <c:idx val="2"/>
            <c:bubble3D val="0"/>
            <c:spPr>
              <a:solidFill>
                <a:schemeClr val="accent3"/>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4-63D4-4091-8E8D-8DA99CAC162B}"/>
              </c:ext>
            </c:extLst>
          </c:dPt>
          <c:dPt>
            <c:idx val="3"/>
            <c:bubble3D val="0"/>
            <c:spPr>
              <a:solidFill>
                <a:schemeClr val="accent4"/>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5-63D4-4091-8E8D-8DA99CAC162B}"/>
              </c:ext>
            </c:extLst>
          </c:dPt>
          <c:dLbls>
            <c:dLbl>
              <c:idx val="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63D4-4091-8E8D-8DA99CAC162B}"/>
                </c:ext>
              </c:extLst>
            </c:dLbl>
            <c:dLbl>
              <c:idx val="1"/>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63D4-4091-8E8D-8DA99CAC162B}"/>
                </c:ext>
              </c:extLst>
            </c:dLbl>
            <c:dLbl>
              <c:idx val="2"/>
              <c:spPr>
                <a:noFill/>
                <a:ln>
                  <a:noFill/>
                </a:ln>
                <a:effectLst/>
              </c:spPr>
              <c:txPr>
                <a:bodyPr rot="0" spcFirstLastPara="1" vertOverflow="ellipsis" vert="horz" wrap="square" anchor="ctr" anchorCtr="1"/>
                <a:lstStyle/>
                <a:p>
                  <a:pPr>
                    <a:defRPr sz="1400" b="0" i="0" u="none" strike="noStrike" kern="1200" spc="0" baseline="0">
                      <a:solidFill>
                        <a:schemeClr val="accent3"/>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4-63D4-4091-8E8D-8DA99CAC162B}"/>
                </c:ext>
              </c:extLst>
            </c:dLbl>
            <c:dLbl>
              <c:idx val="3"/>
              <c:spPr>
                <a:noFill/>
                <a:ln>
                  <a:noFill/>
                </a:ln>
                <a:effectLst/>
              </c:spPr>
              <c:txPr>
                <a:bodyPr rot="0" spcFirstLastPara="1" vertOverflow="ellipsis" vert="horz" wrap="square" anchor="ctr" anchorCtr="1"/>
                <a:lstStyle/>
                <a:p>
                  <a:pPr>
                    <a:defRPr sz="1400" b="0" i="0" u="none" strike="noStrike" kern="1200" spc="0" baseline="0">
                      <a:solidFill>
                        <a:schemeClr val="accent4"/>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5-63D4-4091-8E8D-8DA99CAC162B}"/>
                </c:ext>
              </c:extLst>
            </c:dLbl>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在线教育</c:v>
                </c:pt>
                <c:pt idx="1">
                  <c:v>在线医疗</c:v>
                </c:pt>
                <c:pt idx="2">
                  <c:v>远程办公</c:v>
                </c:pt>
                <c:pt idx="3">
                  <c:v>其他</c:v>
                </c:pt>
              </c:strCache>
            </c:strRef>
          </c:cat>
          <c:val>
            <c:numRef>
              <c:f>Sheet1!$B$2:$B$5</c:f>
              <c:numCache>
                <c:formatCode>General</c:formatCode>
                <c:ptCount val="4"/>
                <c:pt idx="0">
                  <c:v>3.81</c:v>
                </c:pt>
                <c:pt idx="1">
                  <c:v>2.76</c:v>
                </c:pt>
                <c:pt idx="2">
                  <c:v>1.99</c:v>
                </c:pt>
                <c:pt idx="3">
                  <c:v>0.90000000000000058</c:v>
                </c:pt>
              </c:numCache>
            </c:numRef>
          </c:val>
          <c:extLst>
            <c:ext xmlns:c16="http://schemas.microsoft.com/office/drawing/2014/chart" uri="{C3380CC4-5D6E-409C-BE32-E72D297353CC}">
              <c16:uniqueId val="{00000000-63D4-4091-8E8D-8DA99CAC162B}"/>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Light" panose="020B0502040204020203" pitchFamily="34" charset="-122"/>
                <a:ea typeface="微软雅黑 Light" panose="020B0502040204020203" pitchFamily="34" charset="-122"/>
              </a:defRPr>
            </a:lvl1pPr>
          </a:lstStyle>
          <a:p>
            <a:fld id="{C45BF7C3-54C6-43CF-A4AB-2E7725CEB030}" type="datetimeFigureOut">
              <a:rPr lang="zh-CN" altLang="en-US" smtClean="0"/>
              <a:pPr/>
              <a:t>2026/8/22</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Light" panose="020B0502040204020203" pitchFamily="34" charset="-122"/>
                <a:ea typeface="微软雅黑 Light" panose="020B0502040204020203" pitchFamily="34" charset="-122"/>
              </a:defRPr>
            </a:lvl1pPr>
          </a:lstStyle>
          <a:p>
            <a:fld id="{A026B4DB-BF57-4C8B-B2A2-1EB8B1FB1560}" type="slidenum">
              <a:rPr lang="zh-CN" altLang="en-US" smtClean="0"/>
              <a:pPr/>
              <a:t>‹#›</a:t>
            </a:fld>
            <a:endParaRPr lang="zh-CN" altLang="en-US" dirty="0"/>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cnnic.net.cn/gywm/xwzx/rdxw/20172017_7086/202202/t20220225_71724.htm"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10" name="图片占位符 9">
            <a:extLst>
              <a:ext uri="{FF2B5EF4-FFF2-40B4-BE49-F238E27FC236}">
                <a16:creationId xmlns:a16="http://schemas.microsoft.com/office/drawing/2014/main" id="{B8319FA9-995D-4DFB-BE21-92AF93C17B3D}"/>
              </a:ext>
            </a:extLst>
          </p:cNvPr>
          <p:cNvSpPr>
            <a:spLocks noGrp="1"/>
          </p:cNvSpPr>
          <p:nvPr>
            <p:ph type="pic" sz="quarter" idx="13"/>
          </p:nvPr>
        </p:nvSpPr>
        <p:spPr>
          <a:xfrm>
            <a:off x="0" y="3666478"/>
            <a:ext cx="2965143" cy="3191522"/>
          </a:xfrm>
          <a:custGeom>
            <a:avLst/>
            <a:gdLst>
              <a:gd name="connsiteX0" fmla="*/ 0 w 4385186"/>
              <a:gd name="connsiteY0" fmla="*/ 0 h 4511784"/>
              <a:gd name="connsiteX1" fmla="*/ 8559 w 4385186"/>
              <a:gd name="connsiteY1" fmla="*/ 0 h 4511784"/>
              <a:gd name="connsiteX2" fmla="*/ 4385186 w 4385186"/>
              <a:gd name="connsiteY2" fmla="*/ 4511784 h 4511784"/>
              <a:gd name="connsiteX3" fmla="*/ 0 w 4385186"/>
              <a:gd name="connsiteY3" fmla="*/ 4511784 h 4511784"/>
            </a:gdLst>
            <a:ahLst/>
            <a:cxnLst>
              <a:cxn ang="0">
                <a:pos x="connsiteX0" y="connsiteY0"/>
              </a:cxn>
              <a:cxn ang="0">
                <a:pos x="connsiteX1" y="connsiteY1"/>
              </a:cxn>
              <a:cxn ang="0">
                <a:pos x="connsiteX2" y="connsiteY2"/>
              </a:cxn>
              <a:cxn ang="0">
                <a:pos x="connsiteX3" y="connsiteY3"/>
              </a:cxn>
            </a:cxnLst>
            <a:rect l="l" t="t" r="r" b="b"/>
            <a:pathLst>
              <a:path w="4385186" h="4511784">
                <a:moveTo>
                  <a:pt x="0" y="0"/>
                </a:moveTo>
                <a:lnTo>
                  <a:pt x="8559" y="0"/>
                </a:lnTo>
                <a:lnTo>
                  <a:pt x="4385186" y="4511784"/>
                </a:lnTo>
                <a:lnTo>
                  <a:pt x="0" y="4511784"/>
                </a:lnTo>
                <a:close/>
              </a:path>
            </a:pathLst>
          </a:custGeom>
          <a:ln w="12700">
            <a:noFill/>
          </a:ln>
        </p:spPr>
        <p:txBody>
          <a:bodyPr wrap="square">
            <a:noAutofit/>
          </a:bodyPr>
          <a:lstStyle>
            <a:lvl1pPr>
              <a:defRPr sz="1400"/>
            </a:lvl1pPr>
          </a:lstStyle>
          <a:p>
            <a:endParaRPr lang="zh-CN" altLang="en-US" dirty="0"/>
          </a:p>
        </p:txBody>
      </p:sp>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4007220" y="1697941"/>
            <a:ext cx="738664" cy="4658409"/>
          </a:xfrm>
          <a:effectLst>
            <a:outerShdw blurRad="50800" dist="38100" dir="2700000" algn="tl" rotWithShape="0">
              <a:prstClr val="black">
                <a:alpha val="40000"/>
              </a:prstClr>
            </a:outerShdw>
          </a:effectLst>
        </p:spPr>
        <p:txBody>
          <a:bodyPr vert="eaVert" wrap="square">
            <a:spAutoFit/>
          </a:bodyPr>
          <a:lstStyle>
            <a:lvl1pPr algn="l">
              <a:lnSpc>
                <a:spcPct val="100000"/>
              </a:lnSpc>
              <a:defRPr lang="zh-CN" altLang="en-US" sz="3600" dirty="0">
                <a:solidFill>
                  <a:srgbClr val="0070C0"/>
                </a:solidFill>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400110"/>
          </a:xfrm>
        </p:spPr>
        <p:txBody>
          <a:bodyPr vert="horz" wrap="square">
            <a:spAutoFit/>
          </a:bodyPr>
          <a:lstStyle>
            <a:lvl1pPr marL="0" indent="0" algn="r">
              <a:lnSpc>
                <a:spcPct val="100000"/>
              </a:lnSpc>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400110"/>
          </a:xfrm>
        </p:spPr>
        <p:txBody>
          <a:bodyPr vert="horz" wrap="square">
            <a:spAutoFit/>
          </a:bodyPr>
          <a:lstStyle>
            <a:lvl1pPr marL="0" indent="0" algn="r">
              <a:lnSpc>
                <a:spcPct val="100000"/>
              </a:lnSpc>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13" name="图片占位符 12">
            <a:extLst>
              <a:ext uri="{FF2B5EF4-FFF2-40B4-BE49-F238E27FC236}">
                <a16:creationId xmlns:a16="http://schemas.microsoft.com/office/drawing/2014/main" id="{6CC374A3-1B7A-45D7-8F2E-7E6CCB42A276}"/>
              </a:ext>
            </a:extLst>
          </p:cNvPr>
          <p:cNvSpPr>
            <a:spLocks noGrp="1"/>
          </p:cNvSpPr>
          <p:nvPr>
            <p:ph type="pic" sz="quarter" idx="17"/>
          </p:nvPr>
        </p:nvSpPr>
        <p:spPr>
          <a:xfrm>
            <a:off x="1" y="2067273"/>
            <a:ext cx="3915052" cy="4790727"/>
          </a:xfrm>
          <a:custGeom>
            <a:avLst/>
            <a:gdLst>
              <a:gd name="connsiteX0" fmla="*/ 0 w 3915052"/>
              <a:gd name="connsiteY0" fmla="*/ 2 h 4790727"/>
              <a:gd name="connsiteX1" fmla="*/ 3915052 w 3915052"/>
              <a:gd name="connsiteY1" fmla="*/ 3946128 h 4790727"/>
              <a:gd name="connsiteX2" fmla="*/ 3915052 w 3915052"/>
              <a:gd name="connsiteY2" fmla="*/ 4790727 h 4790727"/>
              <a:gd name="connsiteX3" fmla="*/ 3764131 w 3915052"/>
              <a:gd name="connsiteY3" fmla="*/ 4790727 h 4790727"/>
              <a:gd name="connsiteX4" fmla="*/ 0 w 3915052"/>
              <a:gd name="connsiteY4" fmla="*/ 844603 h 4790727"/>
              <a:gd name="connsiteX5" fmla="*/ 0 w 3915052"/>
              <a:gd name="connsiteY5" fmla="*/ 0 h 4790727"/>
              <a:gd name="connsiteX6" fmla="*/ 3915052 w 3915052"/>
              <a:gd name="connsiteY6" fmla="*/ 0 h 4790727"/>
              <a:gd name="connsiteX7" fmla="*/ 3915052 w 3915052"/>
              <a:gd name="connsiteY7" fmla="*/ 2 h 4790727"/>
              <a:gd name="connsiteX8" fmla="*/ 0 w 3915052"/>
              <a:gd name="connsiteY8" fmla="*/ 2 h 4790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15052" h="4790727">
                <a:moveTo>
                  <a:pt x="0" y="2"/>
                </a:moveTo>
                <a:lnTo>
                  <a:pt x="3915052" y="3946128"/>
                </a:lnTo>
                <a:lnTo>
                  <a:pt x="3915052" y="4790727"/>
                </a:lnTo>
                <a:lnTo>
                  <a:pt x="3764131" y="4790727"/>
                </a:lnTo>
                <a:lnTo>
                  <a:pt x="0" y="844603"/>
                </a:lnTo>
                <a:close/>
                <a:moveTo>
                  <a:pt x="0" y="0"/>
                </a:moveTo>
                <a:lnTo>
                  <a:pt x="3915052" y="0"/>
                </a:lnTo>
                <a:lnTo>
                  <a:pt x="3915052" y="2"/>
                </a:lnTo>
                <a:lnTo>
                  <a:pt x="0" y="2"/>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2189957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a:extLst>
              <a:ext uri="{FF2B5EF4-FFF2-40B4-BE49-F238E27FC236}">
                <a16:creationId xmlns:a16="http://schemas.microsoft.com/office/drawing/2014/main" id="{ED636D82-E289-4368-A635-F76CEA273159}"/>
              </a:ext>
            </a:extLst>
          </p:cNvPr>
          <p:cNvSpPr>
            <a:spLocks noGrp="1"/>
          </p:cNvSpPr>
          <p:nvPr>
            <p:ph type="dt" sz="half" idx="10"/>
          </p:nvPr>
        </p:nvSpPr>
        <p:spPr>
          <a:xfrm>
            <a:off x="838200" y="6356350"/>
            <a:ext cx="2743200" cy="365125"/>
          </a:xfrm>
          <a:prstGeom prst="rect">
            <a:avLst/>
          </a:prstGeom>
        </p:spPr>
        <p:txBody>
          <a:bodyPr/>
          <a:lstStyle/>
          <a:p>
            <a:fld id="{1C651236-3214-46F9-9D33-783F0260D354}" type="datetimeFigureOut">
              <a:rPr lang="zh-CN" altLang="en-US" smtClean="0"/>
              <a:t>2026/8/22</a:t>
            </a:fld>
            <a:endParaRPr lang="zh-CN" altLang="en-US"/>
          </a:p>
        </p:txBody>
      </p:sp>
      <p:sp>
        <p:nvSpPr>
          <p:cNvPr id="4" name="页脚占位符 3">
            <a:extLst>
              <a:ext uri="{FF2B5EF4-FFF2-40B4-BE49-F238E27FC236}">
                <a16:creationId xmlns:a16="http://schemas.microsoft.com/office/drawing/2014/main" id="{D5DE0F47-20E0-4E70-ADAA-CA79408A3FC1}"/>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5" name="灯片编号占位符 4">
            <a:extLst>
              <a:ext uri="{FF2B5EF4-FFF2-40B4-BE49-F238E27FC236}">
                <a16:creationId xmlns:a16="http://schemas.microsoft.com/office/drawing/2014/main" id="{6B2528F7-4A6B-4141-8214-EDE818434764}"/>
              </a:ext>
            </a:extLst>
          </p:cNvPr>
          <p:cNvSpPr>
            <a:spLocks noGrp="1"/>
          </p:cNvSpPr>
          <p:nvPr>
            <p:ph type="sldNum" sz="quarter" idx="12"/>
          </p:nvPr>
        </p:nvSpPr>
        <p:spPr>
          <a:xfrm>
            <a:off x="8610600" y="6356350"/>
            <a:ext cx="2743200" cy="365125"/>
          </a:xfrm>
          <a:prstGeom prst="rect">
            <a:avLst/>
          </a:prstGeom>
        </p:spPr>
        <p:txBody>
          <a:bodyPr/>
          <a:lstStyle/>
          <a:p>
            <a:fld id="{B1502BCF-571E-433F-99D2-89AB9B2A73EF}" type="slidenum">
              <a:rPr lang="zh-CN" altLang="en-US" smtClean="0"/>
              <a:t>‹#›</a:t>
            </a:fld>
            <a:endParaRPr lang="zh-CN" altLang="en-US"/>
          </a:p>
        </p:txBody>
      </p:sp>
      <p:sp>
        <p:nvSpPr>
          <p:cNvPr id="6" name="文本框 5">
            <a:hlinkClick r:id="rId2"/>
            <a:extLst>
              <a:ext uri="{FF2B5EF4-FFF2-40B4-BE49-F238E27FC236}">
                <a16:creationId xmlns:a16="http://schemas.microsoft.com/office/drawing/2014/main" id="{FDF622D9-5C7A-4B14-8CDD-E344A4DC5D68}"/>
              </a:ext>
            </a:extLst>
          </p:cNvPr>
          <p:cNvSpPr txBox="1"/>
          <p:nvPr userDrawn="1"/>
        </p:nvSpPr>
        <p:spPr>
          <a:xfrm>
            <a:off x="1561315" y="167186"/>
            <a:ext cx="6859571"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第</a:t>
            </a:r>
            <a:r>
              <a:rPr lang="en-US" altLang="zh-CN" sz="2000" dirty="0">
                <a:latin typeface="微软雅黑 Light" panose="020B0502040204020203" pitchFamily="34" charset="-122"/>
                <a:ea typeface="微软雅黑 Light" panose="020B0502040204020203" pitchFamily="34" charset="-122"/>
              </a:rPr>
              <a:t>49</a:t>
            </a:r>
            <a:r>
              <a:rPr lang="zh-CN" altLang="en-US" sz="2000" dirty="0">
                <a:latin typeface="微软雅黑 Light" panose="020B0502040204020203" pitchFamily="34" charset="-122"/>
                <a:ea typeface="微软雅黑 Light" panose="020B0502040204020203" pitchFamily="34" charset="-122"/>
              </a:rPr>
              <a:t>次</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中国互联网络发展状况统计报告</a:t>
            </a:r>
            <a:r>
              <a:rPr lang="en-US" altLang="zh-CN" sz="2000" dirty="0">
                <a:latin typeface="微软雅黑 Light" panose="020B0502040204020203" pitchFamily="34" charset="-122"/>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截至</a:t>
            </a:r>
            <a:r>
              <a:rPr lang="en-US" altLang="zh-CN" sz="1600" dirty="0">
                <a:latin typeface="微软雅黑 Light" panose="020B0502040204020203" pitchFamily="34" charset="-122"/>
                <a:ea typeface="微软雅黑 Light" panose="020B0502040204020203" pitchFamily="34" charset="-122"/>
              </a:rPr>
              <a:t>2021</a:t>
            </a:r>
            <a:r>
              <a:rPr lang="zh-CN" altLang="en-US" sz="1600" dirty="0">
                <a:latin typeface="微软雅黑 Light" panose="020B0502040204020203" pitchFamily="34" charset="-122"/>
                <a:ea typeface="微软雅黑 Light" panose="020B0502040204020203" pitchFamily="34" charset="-122"/>
              </a:rPr>
              <a:t>年</a:t>
            </a:r>
            <a:r>
              <a:rPr lang="en-US" altLang="zh-CN" sz="1600" dirty="0">
                <a:latin typeface="微软雅黑 Light" panose="020B0502040204020203" pitchFamily="34" charset="-122"/>
                <a:ea typeface="微软雅黑 Light" panose="020B0502040204020203" pitchFamily="34" charset="-122"/>
              </a:rPr>
              <a:t>12</a:t>
            </a:r>
            <a:r>
              <a:rPr lang="zh-CN" altLang="en-US" sz="1600" dirty="0">
                <a:latin typeface="微软雅黑 Light" panose="020B0502040204020203" pitchFamily="34" charset="-122"/>
                <a:ea typeface="微软雅黑 Light" panose="020B0502040204020203" pitchFamily="34" charset="-122"/>
              </a:rPr>
              <a:t>月</a:t>
            </a:r>
            <a:endParaRPr lang="en-US" altLang="zh-CN" sz="1600" dirty="0">
              <a:latin typeface="微软雅黑 Light" panose="020B0502040204020203" pitchFamily="34" charset="-122"/>
              <a:ea typeface="微软雅黑 Light" panose="020B0502040204020203" pitchFamily="34" charset="-122"/>
            </a:endParaRPr>
          </a:p>
        </p:txBody>
      </p:sp>
      <p:pic>
        <p:nvPicPr>
          <p:cNvPr id="7" name="Picture 2">
            <a:extLst>
              <a:ext uri="{FF2B5EF4-FFF2-40B4-BE49-F238E27FC236}">
                <a16:creationId xmlns:a16="http://schemas.microsoft.com/office/drawing/2014/main" id="{6064F71F-1C3C-4A7D-A1F0-DCAAD328590B}"/>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14816"/>
            <a:ext cx="1647825" cy="70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4418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1056700" cy="307777"/>
          </a:xfrm>
          <a:prstGeom prst="rect">
            <a:avLst/>
          </a:prstGeom>
          <a:noFill/>
        </p:spPr>
        <p:txBody>
          <a:bodyPr wrap="none" tIns="0" bIns="0" rtlCol="0" anchor="ctr" anchorCtr="0">
            <a:spAutoFit/>
          </a:bodyPr>
          <a:lstStyle/>
          <a:p>
            <a:r>
              <a:rPr lang="en-US" altLang="zh-CN" sz="2000" dirty="0">
                <a:solidFill>
                  <a:schemeClr val="bg1"/>
                </a:solidFill>
                <a:latin typeface="Roboto" panose="02000000000000000000" pitchFamily="2" charset="0"/>
                <a:cs typeface="Roboto" panose="02000000000000000000" pitchFamily="2" charset="0"/>
              </a:rPr>
              <a:t>Agenda</a:t>
            </a:r>
            <a:endParaRPr lang="zh-CN" altLang="en-US" sz="2000" dirty="0">
              <a:solidFill>
                <a:schemeClr val="bg1"/>
              </a:solidFill>
              <a:latin typeface="Roboto" panose="02000000000000000000" pitchFamily="2" charset="0"/>
              <a:cs typeface="Roboto" panose="02000000000000000000" pitchFamily="2"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outerShdw blurRad="50800" dist="292100" dir="5400000" algn="t" rotWithShape="0">
                  <a:prstClr val="black">
                    <a:alpha val="40000"/>
                  </a:prstClr>
                </a:outerShdw>
              </a:effectLst>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696000" y="710691"/>
            <a:ext cx="5464053" cy="402291"/>
          </a:xfrm>
        </p:spPr>
        <p:txBody>
          <a:bodyPr wrap="square" lIns="90000" tIns="46800" rIns="90000" bIns="46800" anchor="t" anchorCtr="0">
            <a:spAutoFit/>
          </a:bodyPr>
          <a:lstStyle>
            <a:lvl1pPr marL="0" indent="0">
              <a:lnSpc>
                <a:spcPct val="100000"/>
              </a:lnSpc>
              <a:spcBef>
                <a:spcPts val="0"/>
              </a:spcBef>
              <a:buNone/>
              <a:defRPr sz="2000" baseline="0">
                <a:solidFill>
                  <a:schemeClr val="bg1"/>
                </a:solidFill>
                <a:effectLst>
                  <a:reflection blurRad="6350" stA="60000" endA="900" endPos="60000" dist="29997" dir="5400000" sy="-100000" algn="bl" rotWithShape="0"/>
                </a:effectLst>
                <a:latin typeface="+mn-lt"/>
                <a:ea typeface="+mn-ea"/>
                <a:cs typeface="Roboto" panose="02000000000000000000" pitchFamily="2"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2" name="标题 1">
            <a:extLst>
              <a:ext uri="{FF2B5EF4-FFF2-40B4-BE49-F238E27FC236}">
                <a16:creationId xmlns:a16="http://schemas.microsoft.com/office/drawing/2014/main" id="{8EA84B97-A4C7-1658-01F0-187EDC13E6D6}"/>
              </a:ext>
            </a:extLst>
          </p:cNvPr>
          <p:cNvSpPr>
            <a:spLocks noGrp="1"/>
          </p:cNvSpPr>
          <p:nvPr>
            <p:ph type="title"/>
          </p:nvPr>
        </p:nvSpPr>
        <p:spPr>
          <a:xfrm>
            <a:off x="696000" y="341534"/>
            <a:ext cx="10800000" cy="461665"/>
          </a:xfrm>
        </p:spPr>
        <p:txBody>
          <a:bodyPr>
            <a:spAutoFit/>
          </a:bodyPr>
          <a:lstStyle>
            <a:lvl1pPr>
              <a:spcBef>
                <a:spcPts val="0"/>
              </a:spcBef>
              <a:defRPr baseline="0">
                <a:solidFill>
                  <a:schemeClr val="bg1"/>
                </a:solidFill>
                <a:latin typeface="+mj-lt"/>
              </a:defRPr>
            </a:lvl1pPr>
          </a:lstStyle>
          <a:p>
            <a:r>
              <a:rPr lang="zh-CN" altLang="en-US"/>
              <a:t>单击此处编辑母版标题样式</a:t>
            </a:r>
          </a:p>
        </p:txBody>
      </p:sp>
    </p:spTree>
    <p:extLst>
      <p:ext uri="{BB962C8B-B14F-4D97-AF65-F5344CB8AC3E}">
        <p14:creationId xmlns:p14="http://schemas.microsoft.com/office/powerpoint/2010/main" val="2315701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7" name="图片占位符 16">
            <a:extLst>
              <a:ext uri="{FF2B5EF4-FFF2-40B4-BE49-F238E27FC236}">
                <a16:creationId xmlns:a16="http://schemas.microsoft.com/office/drawing/2014/main" id="{638AA98E-5F09-43E5-917B-A3DC0516110E}"/>
              </a:ext>
            </a:extLst>
          </p:cNvPr>
          <p:cNvSpPr>
            <a:spLocks noGrp="1"/>
          </p:cNvSpPr>
          <p:nvPr>
            <p:ph type="pic" sz="quarter" idx="13"/>
          </p:nvPr>
        </p:nvSpPr>
        <p:spPr>
          <a:xfrm>
            <a:off x="1" y="0"/>
            <a:ext cx="5681691" cy="6858000"/>
          </a:xfrm>
          <a:custGeom>
            <a:avLst/>
            <a:gdLst>
              <a:gd name="connsiteX0" fmla="*/ 0 w 5681691"/>
              <a:gd name="connsiteY0" fmla="*/ 0 h 6858000"/>
              <a:gd name="connsiteX1" fmla="*/ 4235570 w 5681691"/>
              <a:gd name="connsiteY1" fmla="*/ 0 h 6858000"/>
              <a:gd name="connsiteX2" fmla="*/ 5681691 w 5681691"/>
              <a:gd name="connsiteY2" fmla="*/ 6858000 h 6858000"/>
              <a:gd name="connsiteX3" fmla="*/ 0 w 56816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681691" h="6858000">
                <a:moveTo>
                  <a:pt x="0" y="0"/>
                </a:moveTo>
                <a:lnTo>
                  <a:pt x="4235570" y="0"/>
                </a:lnTo>
                <a:lnTo>
                  <a:pt x="5681691" y="6858000"/>
                </a:lnTo>
                <a:lnTo>
                  <a:pt x="0" y="6858000"/>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700666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6FBA4E6-A06C-46B5-991D-700277B3F9ED}"/>
              </a:ext>
            </a:extLst>
          </p:cNvPr>
          <p:cNvSpPr>
            <a:spLocks noGrp="1"/>
          </p:cNvSpPr>
          <p:nvPr>
            <p:ph type="dt" sz="half" idx="10"/>
          </p:nvPr>
        </p:nvSpPr>
        <p:spPr>
          <a:xfrm>
            <a:off x="838200" y="6356350"/>
            <a:ext cx="2743200" cy="365125"/>
          </a:xfrm>
          <a:prstGeom prst="rect">
            <a:avLst/>
          </a:prstGeom>
        </p:spPr>
        <p:txBody>
          <a:bodyPr/>
          <a:lstStyle/>
          <a:p>
            <a:fld id="{1C651236-3214-46F9-9D33-783F0260D354}" type="datetimeFigureOut">
              <a:rPr lang="zh-CN" altLang="en-US" smtClean="0"/>
              <a:t>2026/8/22</a:t>
            </a:fld>
            <a:endParaRPr lang="zh-CN" altLang="en-US"/>
          </a:p>
        </p:txBody>
      </p:sp>
      <p:sp>
        <p:nvSpPr>
          <p:cNvPr id="3" name="页脚占位符 2">
            <a:extLst>
              <a:ext uri="{FF2B5EF4-FFF2-40B4-BE49-F238E27FC236}">
                <a16:creationId xmlns:a16="http://schemas.microsoft.com/office/drawing/2014/main" id="{8D5A8B00-6F22-4CCF-AEC8-71529286561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E0DD354-D49B-490B-9880-5DA123ECE1C3}"/>
              </a:ext>
            </a:extLst>
          </p:cNvPr>
          <p:cNvSpPr>
            <a:spLocks noGrp="1"/>
          </p:cNvSpPr>
          <p:nvPr>
            <p:ph type="sldNum" sz="quarter" idx="12"/>
          </p:nvPr>
        </p:nvSpPr>
        <p:spPr>
          <a:xfrm>
            <a:off x="8610600" y="6356350"/>
            <a:ext cx="2743200" cy="365125"/>
          </a:xfrm>
          <a:prstGeom prst="rect">
            <a:avLst/>
          </a:prstGeom>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3736262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153031" y="214145"/>
            <a:ext cx="2077813"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9" name="文本占位符 8">
            <a:extLst>
              <a:ext uri="{FF2B5EF4-FFF2-40B4-BE49-F238E27FC236}">
                <a16:creationId xmlns:a16="http://schemas.microsoft.com/office/drawing/2014/main" id="{5F533DD3-707A-47BE-959C-6F1192566DB6}"/>
              </a:ext>
            </a:extLst>
          </p:cNvPr>
          <p:cNvSpPr>
            <a:spLocks noGrp="1"/>
          </p:cNvSpPr>
          <p:nvPr>
            <p:ph type="body" sz="quarter" idx="13" hasCustomPrompt="1"/>
          </p:nvPr>
        </p:nvSpPr>
        <p:spPr>
          <a:xfrm>
            <a:off x="5924549" y="177566"/>
            <a:ext cx="3286125" cy="542516"/>
          </a:xfrm>
        </p:spPr>
        <p:txBody>
          <a:bodyPr anchor="ctr" anchorCtr="0"/>
          <a:lstStyle>
            <a:lvl1pPr marL="0" indent="0" algn="r">
              <a:buNone/>
              <a:defRPr>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292943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oint to point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5097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E5A3EF-E62B-4B2A-9C33-3AC988B1D014}"/>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4" name="任意多边形: 形状 13">
            <a:extLst>
              <a:ext uri="{FF2B5EF4-FFF2-40B4-BE49-F238E27FC236}">
                <a16:creationId xmlns:a16="http://schemas.microsoft.com/office/drawing/2014/main" id="{3828AC1B-B948-411E-BE8C-FA3B7FA667BF}"/>
              </a:ext>
            </a:extLst>
          </p:cNvPr>
          <p:cNvSpPr/>
          <p:nvPr userDrawn="1"/>
        </p:nvSpPr>
        <p:spPr>
          <a:xfrm>
            <a:off x="0" y="4840649"/>
            <a:ext cx="12192000" cy="2017351"/>
          </a:xfrm>
          <a:custGeom>
            <a:avLst/>
            <a:gdLst>
              <a:gd name="connsiteX0" fmla="*/ 5441818 w 12192000"/>
              <a:gd name="connsiteY0" fmla="*/ 1027 h 2017351"/>
              <a:gd name="connsiteX1" fmla="*/ 7062868 w 12192000"/>
              <a:gd name="connsiteY1" fmla="*/ 1118073 h 2017351"/>
              <a:gd name="connsiteX2" fmla="*/ 8936549 w 12192000"/>
              <a:gd name="connsiteY2" fmla="*/ 612743 h 2017351"/>
              <a:gd name="connsiteX3" fmla="*/ 10315495 w 12192000"/>
              <a:gd name="connsiteY3" fmla="*/ 805566 h 2017351"/>
              <a:gd name="connsiteX4" fmla="*/ 11483914 w 12192000"/>
              <a:gd name="connsiteY4" fmla="*/ 1027 h 2017351"/>
              <a:gd name="connsiteX5" fmla="*/ 12114834 w 12192000"/>
              <a:gd name="connsiteY5" fmla="*/ 399141 h 2017351"/>
              <a:gd name="connsiteX6" fmla="*/ 12192000 w 12192000"/>
              <a:gd name="connsiteY6" fmla="*/ 476401 h 2017351"/>
              <a:gd name="connsiteX7" fmla="*/ 12192000 w 12192000"/>
              <a:gd name="connsiteY7" fmla="*/ 2017351 h 2017351"/>
              <a:gd name="connsiteX8" fmla="*/ 0 w 12192000"/>
              <a:gd name="connsiteY8" fmla="*/ 2017351 h 2017351"/>
              <a:gd name="connsiteX9" fmla="*/ 0 w 12192000"/>
              <a:gd name="connsiteY9" fmla="*/ 1172625 h 2017351"/>
              <a:gd name="connsiteX10" fmla="*/ 27424 w 12192000"/>
              <a:gd name="connsiteY10" fmla="*/ 1170506 h 2017351"/>
              <a:gd name="connsiteX11" fmla="*/ 547088 w 12192000"/>
              <a:gd name="connsiteY11" fmla="*/ 1051582 h 2017351"/>
              <a:gd name="connsiteX12" fmla="*/ 1326035 w 12192000"/>
              <a:gd name="connsiteY12" fmla="*/ 160605 h 2017351"/>
              <a:gd name="connsiteX13" fmla="*/ 2168139 w 12192000"/>
              <a:gd name="connsiteY13" fmla="*/ 1058232 h 2017351"/>
              <a:gd name="connsiteX14" fmla="*/ 3231296 w 12192000"/>
              <a:gd name="connsiteY14" fmla="*/ 645988 h 2017351"/>
              <a:gd name="connsiteX15" fmla="*/ 4410241 w 12192000"/>
              <a:gd name="connsiteY15" fmla="*/ 911952 h 2017351"/>
              <a:gd name="connsiteX16" fmla="*/ 5441818 w 12192000"/>
              <a:gd name="connsiteY16" fmla="*/ 1027 h 2017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2017351">
                <a:moveTo>
                  <a:pt x="5441818" y="1027"/>
                </a:moveTo>
                <a:cubicBezTo>
                  <a:pt x="5883923" y="35381"/>
                  <a:pt x="6480413" y="1016121"/>
                  <a:pt x="7062868" y="1118073"/>
                </a:cubicBezTo>
                <a:cubicBezTo>
                  <a:pt x="7645322" y="1220026"/>
                  <a:pt x="8394445" y="664827"/>
                  <a:pt x="8936549" y="612743"/>
                </a:cubicBezTo>
                <a:cubicBezTo>
                  <a:pt x="9478653" y="560659"/>
                  <a:pt x="9890934" y="907519"/>
                  <a:pt x="10315495" y="805566"/>
                </a:cubicBezTo>
                <a:cubicBezTo>
                  <a:pt x="10740056" y="703614"/>
                  <a:pt x="11094440" y="-16704"/>
                  <a:pt x="11483914" y="1027"/>
                </a:cubicBezTo>
                <a:cubicBezTo>
                  <a:pt x="11678650" y="9893"/>
                  <a:pt x="11904527" y="194959"/>
                  <a:pt x="12114834" y="399141"/>
                </a:cubicBezTo>
                <a:lnTo>
                  <a:pt x="12192000" y="476401"/>
                </a:lnTo>
                <a:lnTo>
                  <a:pt x="12192000" y="2017351"/>
                </a:lnTo>
                <a:lnTo>
                  <a:pt x="0" y="2017351"/>
                </a:lnTo>
                <a:lnTo>
                  <a:pt x="0" y="1172625"/>
                </a:lnTo>
                <a:lnTo>
                  <a:pt x="27424" y="1170506"/>
                </a:lnTo>
                <a:cubicBezTo>
                  <a:pt x="224885" y="1152721"/>
                  <a:pt x="414852" y="1123891"/>
                  <a:pt x="547088" y="1051582"/>
                </a:cubicBezTo>
                <a:cubicBezTo>
                  <a:pt x="899720" y="858759"/>
                  <a:pt x="1055860" y="159497"/>
                  <a:pt x="1326035" y="160605"/>
                </a:cubicBezTo>
                <a:cubicBezTo>
                  <a:pt x="1596211" y="161713"/>
                  <a:pt x="1850596" y="977334"/>
                  <a:pt x="2168139" y="1058232"/>
                </a:cubicBezTo>
                <a:cubicBezTo>
                  <a:pt x="2485682" y="1139129"/>
                  <a:pt x="2857612" y="670368"/>
                  <a:pt x="3231296" y="645988"/>
                </a:cubicBezTo>
                <a:cubicBezTo>
                  <a:pt x="3604980" y="621608"/>
                  <a:pt x="4041821" y="1019445"/>
                  <a:pt x="4410241" y="911952"/>
                </a:cubicBezTo>
                <a:cubicBezTo>
                  <a:pt x="4778662" y="804458"/>
                  <a:pt x="4999713" y="-33327"/>
                  <a:pt x="5441818" y="1027"/>
                </a:cubicBezTo>
                <a:close/>
              </a:path>
            </a:pathLst>
          </a:custGeom>
          <a:gradFill>
            <a:gsLst>
              <a:gs pos="0">
                <a:schemeClr val="accent1">
                  <a:alpha val="58000"/>
                </a:schemeClr>
              </a:gs>
              <a:gs pos="54900">
                <a:schemeClr val="accent1">
                  <a:alpha val="42000"/>
                </a:schemeClr>
              </a:gs>
              <a:gs pos="100000">
                <a:schemeClr val="accent1">
                  <a:alpha val="2100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81E32C3B-16D0-40A4-9D5B-96023AF06EEF}"/>
              </a:ext>
            </a:extLst>
          </p:cNvPr>
          <p:cNvSpPr/>
          <p:nvPr userDrawn="1"/>
        </p:nvSpPr>
        <p:spPr>
          <a:xfrm>
            <a:off x="0" y="5065916"/>
            <a:ext cx="12192000" cy="1792084"/>
          </a:xfrm>
          <a:custGeom>
            <a:avLst/>
            <a:gdLst>
              <a:gd name="connsiteX0" fmla="*/ 6997700 w 12192000"/>
              <a:gd name="connsiteY0" fmla="*/ 976 h 1792084"/>
              <a:gd name="connsiteX1" fmla="*/ 8432800 w 12192000"/>
              <a:gd name="connsiteY1" fmla="*/ 896756 h 1792084"/>
              <a:gd name="connsiteX2" fmla="*/ 9626600 w 12192000"/>
              <a:gd name="connsiteY2" fmla="*/ 699684 h 1792084"/>
              <a:gd name="connsiteX3" fmla="*/ 10274300 w 12192000"/>
              <a:gd name="connsiteY3" fmla="*/ 448866 h 1792084"/>
              <a:gd name="connsiteX4" fmla="*/ 11480800 w 12192000"/>
              <a:gd name="connsiteY4" fmla="*/ 762389 h 1792084"/>
              <a:gd name="connsiteX5" fmla="*/ 12150725 w 12192000"/>
              <a:gd name="connsiteY5" fmla="*/ 625223 h 1792084"/>
              <a:gd name="connsiteX6" fmla="*/ 12192000 w 12192000"/>
              <a:gd name="connsiteY6" fmla="*/ 612840 h 1792084"/>
              <a:gd name="connsiteX7" fmla="*/ 12192000 w 12192000"/>
              <a:gd name="connsiteY7" fmla="*/ 1792084 h 1792084"/>
              <a:gd name="connsiteX8" fmla="*/ 0 w 12192000"/>
              <a:gd name="connsiteY8" fmla="*/ 1792084 h 1792084"/>
              <a:gd name="connsiteX9" fmla="*/ 0 w 12192000"/>
              <a:gd name="connsiteY9" fmla="*/ 853353 h 1792084"/>
              <a:gd name="connsiteX10" fmla="*/ 355600 w 12192000"/>
              <a:gd name="connsiteY10" fmla="*/ 813896 h 1792084"/>
              <a:gd name="connsiteX11" fmla="*/ 1143000 w 12192000"/>
              <a:gd name="connsiteY11" fmla="*/ 717600 h 1792084"/>
              <a:gd name="connsiteX12" fmla="*/ 2095500 w 12192000"/>
              <a:gd name="connsiteY12" fmla="*/ 413035 h 1792084"/>
              <a:gd name="connsiteX13" fmla="*/ 3162300 w 12192000"/>
              <a:gd name="connsiteY13" fmla="*/ 780304 h 1792084"/>
              <a:gd name="connsiteX14" fmla="*/ 4432300 w 12192000"/>
              <a:gd name="connsiteY14" fmla="*/ 493655 h 1792084"/>
              <a:gd name="connsiteX15" fmla="*/ 6337300 w 12192000"/>
              <a:gd name="connsiteY15" fmla="*/ 717600 h 1792084"/>
              <a:gd name="connsiteX16" fmla="*/ 6997700 w 12192000"/>
              <a:gd name="connsiteY16" fmla="*/ 976 h 1792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1792084">
                <a:moveTo>
                  <a:pt x="6997700" y="976"/>
                </a:moveTo>
                <a:cubicBezTo>
                  <a:pt x="7346950" y="30836"/>
                  <a:pt x="7994650" y="780304"/>
                  <a:pt x="8432800" y="896756"/>
                </a:cubicBezTo>
                <a:cubicBezTo>
                  <a:pt x="8870950" y="1013207"/>
                  <a:pt x="9319683" y="774332"/>
                  <a:pt x="9626600" y="699684"/>
                </a:cubicBezTo>
                <a:cubicBezTo>
                  <a:pt x="9933517" y="625036"/>
                  <a:pt x="9965267" y="438415"/>
                  <a:pt x="10274300" y="448866"/>
                </a:cubicBezTo>
                <a:cubicBezTo>
                  <a:pt x="10583333" y="459317"/>
                  <a:pt x="11078633" y="748952"/>
                  <a:pt x="11480800" y="762389"/>
                </a:cubicBezTo>
                <a:cubicBezTo>
                  <a:pt x="11681884" y="769107"/>
                  <a:pt x="11927417" y="693712"/>
                  <a:pt x="12150725" y="625223"/>
                </a:cubicBezTo>
                <a:lnTo>
                  <a:pt x="12192000" y="612840"/>
                </a:lnTo>
                <a:lnTo>
                  <a:pt x="12192000" y="1792084"/>
                </a:lnTo>
                <a:lnTo>
                  <a:pt x="0" y="1792084"/>
                </a:lnTo>
                <a:lnTo>
                  <a:pt x="0" y="853353"/>
                </a:lnTo>
                <a:lnTo>
                  <a:pt x="355600" y="813896"/>
                </a:lnTo>
                <a:cubicBezTo>
                  <a:pt x="639233" y="786276"/>
                  <a:pt x="941917" y="759403"/>
                  <a:pt x="1143000" y="717600"/>
                </a:cubicBezTo>
                <a:cubicBezTo>
                  <a:pt x="1545167" y="633994"/>
                  <a:pt x="1758950" y="402584"/>
                  <a:pt x="2095500" y="413035"/>
                </a:cubicBezTo>
                <a:cubicBezTo>
                  <a:pt x="2432050" y="423486"/>
                  <a:pt x="2772833" y="766868"/>
                  <a:pt x="3162300" y="780304"/>
                </a:cubicBezTo>
                <a:cubicBezTo>
                  <a:pt x="3551767" y="793741"/>
                  <a:pt x="3903133" y="504106"/>
                  <a:pt x="4432300" y="493655"/>
                </a:cubicBezTo>
                <a:cubicBezTo>
                  <a:pt x="4961467" y="483204"/>
                  <a:pt x="5909733" y="799713"/>
                  <a:pt x="6337300" y="717600"/>
                </a:cubicBezTo>
                <a:cubicBezTo>
                  <a:pt x="6764867" y="635486"/>
                  <a:pt x="6648450" y="-28883"/>
                  <a:pt x="6997700" y="976"/>
                </a:cubicBezTo>
                <a:close/>
              </a:path>
            </a:pathLst>
          </a:custGeom>
          <a:gradFill>
            <a:gsLst>
              <a:gs pos="0">
                <a:schemeClr val="accent2">
                  <a:alpha val="30000"/>
                </a:schemeClr>
              </a:gs>
              <a:gs pos="54900">
                <a:schemeClr val="accent2">
                  <a:alpha val="18000"/>
                </a:schemeClr>
              </a:gs>
              <a:gs pos="100000">
                <a:schemeClr val="accent2">
                  <a:alpha val="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7" name="Freeform 25">
            <a:extLst>
              <a:ext uri="{FF2B5EF4-FFF2-40B4-BE49-F238E27FC236}">
                <a16:creationId xmlns:a16="http://schemas.microsoft.com/office/drawing/2014/main" id="{A912EA81-E827-4C5A-958A-7BF023DF0A11}"/>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8" name="TextBox 26">
            <a:extLst>
              <a:ext uri="{FF2B5EF4-FFF2-40B4-BE49-F238E27FC236}">
                <a16:creationId xmlns:a16="http://schemas.microsoft.com/office/drawing/2014/main" id="{E60E24FB-8C7E-45EC-943D-84020AE1F331}"/>
              </a:ext>
            </a:extLst>
          </p:cNvPr>
          <p:cNvSpPr txBox="1"/>
          <p:nvPr userDrawn="1"/>
        </p:nvSpPr>
        <p:spPr>
          <a:xfrm>
            <a:off x="10153031" y="214145"/>
            <a:ext cx="224612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783449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广播信道">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8113411" y="217993"/>
            <a:ext cx="2997937"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广播信道</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broadcasting channel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3EBCDB5B-3F3E-4709-B577-13F4D54A3390}"/>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2C23B259-61CE-4B3B-9A1E-46864DF97279}"/>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11059453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3666681" y="217993"/>
            <a:ext cx="7444667"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Carrier sense multiple access with collision detection</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107E2337-7E7E-4C37-AE8B-F6F7B62DEF56}"/>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3004700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43493" y="217993"/>
            <a:ext cx="3167855"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B5619979-E434-4707-BF44-47FBECFEE61D}"/>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930396" y="217993"/>
            <a:ext cx="4180952"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307777"/>
          </a:xfrm>
        </p:spPr>
        <p:txBody>
          <a:bodyPr>
            <a:spAutoFit/>
          </a:bodyPr>
          <a:lstStyle>
            <a:lvl1pPr marL="0" indent="0" algn="r">
              <a:buNone/>
              <a:defRPr sz="1400">
                <a:latin typeface="Roboto" panose="02000000000000000000" pitchFamily="2" charset="0"/>
                <a:cs typeface="Roboto" panose="020000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94790" y="217993"/>
            <a:ext cx="3116558"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696000" y="341534"/>
            <a:ext cx="10800000" cy="461665"/>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696000" y="900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10" name="文本框 9">
            <a:extLst>
              <a:ext uri="{FF2B5EF4-FFF2-40B4-BE49-F238E27FC236}">
                <a16:creationId xmlns:a16="http://schemas.microsoft.com/office/drawing/2014/main" id="{8E0F80CB-02C4-25E1-7987-EBC8728289C0}"/>
              </a:ext>
            </a:extLst>
          </p:cNvPr>
          <p:cNvSpPr txBox="1"/>
          <p:nvPr userDrawn="1"/>
        </p:nvSpPr>
        <p:spPr>
          <a:xfrm>
            <a:off x="6321229" y="6414862"/>
            <a:ext cx="2492990" cy="246221"/>
          </a:xfrm>
          <a:prstGeom prst="rect">
            <a:avLst/>
          </a:prstGeom>
          <a:noFill/>
        </p:spPr>
        <p:txBody>
          <a:bodyPr wrap="none" rtlCol="0">
            <a:spAutoFit/>
          </a:bodyPr>
          <a:lstStyle/>
          <a:p>
            <a:pPr algn="l">
              <a:spcBef>
                <a:spcPts val="600"/>
              </a:spcBef>
              <a:spcAft>
                <a:spcPts val="600"/>
              </a:spcAft>
            </a:pPr>
            <a:r>
              <a:rPr lang="en-US" altLang="zh-CN" sz="1000" dirty="0"/>
              <a:t>Copyrights Reserved, 2022-2026</a:t>
            </a:r>
          </a:p>
        </p:txBody>
      </p:sp>
      <p:sp>
        <p:nvSpPr>
          <p:cNvPr id="11" name="文本框 10">
            <a:extLst>
              <a:ext uri="{FF2B5EF4-FFF2-40B4-BE49-F238E27FC236}">
                <a16:creationId xmlns:a16="http://schemas.microsoft.com/office/drawing/2014/main" id="{6139CEC7-1AB7-6D2C-3785-43CBA4BE45C4}"/>
              </a:ext>
            </a:extLst>
          </p:cNvPr>
          <p:cNvSpPr txBox="1"/>
          <p:nvPr userDrawn="1"/>
        </p:nvSpPr>
        <p:spPr>
          <a:xfrm>
            <a:off x="3685557" y="6418710"/>
            <a:ext cx="2185214" cy="246221"/>
          </a:xfrm>
          <a:prstGeom prst="rect">
            <a:avLst/>
          </a:prstGeom>
          <a:noFill/>
        </p:spPr>
        <p:txBody>
          <a:bodyPr wrap="none" rtlCol="0">
            <a:spAutoFit/>
          </a:bodyPr>
          <a:lstStyle/>
          <a:p>
            <a:pPr marL="0" marR="0" lvl="0" indent="0" algn="r" defTabSz="914400" rtl="0" eaLnBrk="1" fontAlgn="auto" latinLnBrk="0" hangingPunct="1">
              <a:lnSpc>
                <a:spcPct val="100000"/>
              </a:lnSpc>
              <a:spcBef>
                <a:spcPts val="600"/>
              </a:spcBef>
              <a:spcAft>
                <a:spcPts val="600"/>
              </a:spcAft>
              <a:buClrTx/>
              <a:buSzTx/>
              <a:buFontTx/>
              <a:buNone/>
              <a:tabLst/>
              <a:defRPr/>
            </a:pPr>
            <a:r>
              <a:rPr lang="en-US" altLang="zh-CN" sz="1000" dirty="0"/>
              <a:t>https://glplaman.github.io</a:t>
            </a:r>
            <a:endParaRPr lang="zh-CN" altLang="en-US" sz="1000" dirty="0"/>
          </a:p>
        </p:txBody>
      </p:sp>
      <p:sp>
        <p:nvSpPr>
          <p:cNvPr id="16" name="椭圆 15">
            <a:extLst>
              <a:ext uri="{FF2B5EF4-FFF2-40B4-BE49-F238E27FC236}">
                <a16:creationId xmlns:a16="http://schemas.microsoft.com/office/drawing/2014/main" id="{1ED19A4B-E1C4-75B5-EC11-B28D40DB104D}"/>
              </a:ext>
            </a:extLst>
          </p:cNvPr>
          <p:cNvSpPr/>
          <p:nvPr userDrawn="1"/>
        </p:nvSpPr>
        <p:spPr>
          <a:xfrm>
            <a:off x="5826000" y="6271820"/>
            <a:ext cx="540000" cy="540000"/>
          </a:xfrm>
          <a:prstGeom prst="ellipse">
            <a:avLst/>
          </a:prstGeom>
          <a:blipFill>
            <a:blip r:embed="rId1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2" r:id="rId3"/>
    <p:sldLayoutId id="2147483660" r:id="rId4"/>
    <p:sldLayoutId id="2147483665" r:id="rId5"/>
    <p:sldLayoutId id="2147483655" r:id="rId6"/>
    <p:sldLayoutId id="2147483666" r:id="rId7"/>
    <p:sldLayoutId id="2147483670" r:id="rId8"/>
    <p:sldLayoutId id="2147483667" r:id="rId9"/>
    <p:sldLayoutId id="2147483673" r:id="rId10"/>
    <p:sldLayoutId id="2147483671" r:id="rId11"/>
    <p:sldLayoutId id="2147483672" r:id="rId12"/>
    <p:sldLayoutId id="2147483674" r:id="rId13"/>
    <p:sldLayoutId id="2147483676" r:id="rId14"/>
    <p:sldLayoutId id="2147483677" r:id="rId15"/>
    <p:sldLayoutId id="2147483675" r:id="rId16"/>
  </p:sldLayoutIdLst>
  <p:txStyles>
    <p:titleStyle>
      <a:lvl1pPr algn="l" defTabSz="914400" rtl="0" eaLnBrk="1" latinLnBrk="0" hangingPunct="1">
        <a:lnSpc>
          <a:spcPct val="100000"/>
        </a:lnSpc>
        <a:spcBef>
          <a:spcPct val="0"/>
        </a:spcBef>
        <a:buNone/>
        <a:defRPr lang="zh-CN" altLang="en-US" sz="2400" kern="1200" baseline="0" dirty="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lang="zh-CN" altLang="en-US" sz="200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Wingdings" panose="05000000000000000000" pitchFamily="2" charset="2"/>
        <a:buChar char="§"/>
        <a:defRPr lang="zh-CN" altLang="en-US" sz="180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lang="zh-CN" altLang="en-US" sz="160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lang="zh-CN" altLang="en-US" sz="140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lang="zh-CN" altLang="en-US"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Layout" Target="../slideLayouts/slideLayout4.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space.bilibili.com/360996402/channel/seriesdetail?sid=1721928" TargetMode="External"/><Relationship Id="rId1" Type="http://schemas.openxmlformats.org/officeDocument/2006/relationships/slideLayout" Target="../slideLayouts/slideLayout4.xml"/><Relationship Id="rId4" Type="http://schemas.openxmlformats.org/officeDocument/2006/relationships/hyperlink" Target="https://www.bilibili.com/video/BV1W4411d7hr?p=1"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3.jpeg"/><Relationship Id="rId7" Type="http://schemas.openxmlformats.org/officeDocument/2006/relationships/image" Target="../media/image26.gif"/><Relationship Id="rId2" Type="http://schemas.openxmlformats.org/officeDocument/2006/relationships/image" Target="../media/image22.jpeg"/><Relationship Id="rId1" Type="http://schemas.openxmlformats.org/officeDocument/2006/relationships/slideLayout" Target="../slideLayouts/slideLayout4.xml"/><Relationship Id="rId6" Type="http://schemas.microsoft.com/office/2007/relationships/hdphoto" Target="../media/hdphoto1.wdp"/><Relationship Id="rId5" Type="http://schemas.openxmlformats.org/officeDocument/2006/relationships/image" Target="../media/image25.png"/><Relationship Id="rId4" Type="http://schemas.openxmlformats.org/officeDocument/2006/relationships/image" Target="../media/image24.jpeg"/><Relationship Id="rId9" Type="http://schemas.microsoft.com/office/2007/relationships/hdphoto" Target="../media/hdphoto2.wdp"/></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svg"/><Relationship Id="rId7" Type="http://schemas.openxmlformats.org/officeDocument/2006/relationships/image" Target="../media/image35.svg"/><Relationship Id="rId2" Type="http://schemas.openxmlformats.org/officeDocument/2006/relationships/image" Target="../media/image30.svg"/><Relationship Id="rId1" Type="http://schemas.openxmlformats.org/officeDocument/2006/relationships/slideLayout" Target="../slideLayouts/slideLayout4.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2.svg"/></Relationships>
</file>

<file path=ppt/slides/_rels/slide2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4.xml"/><Relationship Id="rId4" Type="http://schemas.openxmlformats.org/officeDocument/2006/relationships/image" Target="../media/image32.svg"/></Relationships>
</file>

<file path=ppt/slides/_rels/slide27.xml.rels><?xml version="1.0" encoding="UTF-8" standalone="yes"?>
<Relationships xmlns="http://schemas.openxmlformats.org/package/2006/relationships"><Relationship Id="rId3" Type="http://schemas.openxmlformats.org/officeDocument/2006/relationships/image" Target="../media/image38.svg"/><Relationship Id="rId7" Type="http://schemas.openxmlformats.org/officeDocument/2006/relationships/hyperlink" Target="packet%20switch.mp4" TargetMode="External"/><Relationship Id="rId2" Type="http://schemas.openxmlformats.org/officeDocument/2006/relationships/image" Target="../media/image37.svg"/><Relationship Id="rId1" Type="http://schemas.openxmlformats.org/officeDocument/2006/relationships/slideLayout" Target="../slideLayouts/slideLayout4.xml"/><Relationship Id="rId6" Type="http://schemas.openxmlformats.org/officeDocument/2006/relationships/hyperlink" Target="message%20switch.mp4" TargetMode="External"/><Relationship Id="rId5" Type="http://schemas.openxmlformats.org/officeDocument/2006/relationships/hyperlink" Target="circuit%20switch.mp4" TargetMode="External"/><Relationship Id="rId4" Type="http://schemas.openxmlformats.org/officeDocument/2006/relationships/image" Target="../media/image39.svg"/></Relationships>
</file>

<file path=ppt/slides/_rels/slide28.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44.sv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81.xml.rels><?xml version="1.0" encoding="UTF-8" standalone="yes"?>
<Relationships xmlns="http://schemas.openxmlformats.org/package/2006/relationships"><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2" Type="http://schemas.openxmlformats.org/officeDocument/2006/relationships/image" Target="../media/image63.svg"/><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2.png"/><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12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5.xml"/></Relationships>
</file>

<file path=ppt/slides/_rels/slide12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5.xml"/></Relationships>
</file>

<file path=ppt/slides/_rels/slide12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5.xml"/></Relationships>
</file>

<file path=ppt/slides/_rels/slide12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5.xml"/></Relationships>
</file>

<file path=ppt/slides/_rels/slide13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5.xml"/></Relationships>
</file>

<file path=ppt/slides/_rels/slide13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13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5.xml"/></Relationships>
</file>

<file path=ppt/slides/_rels/slide13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70.png"/><Relationship Id="rId1" Type="http://schemas.openxmlformats.org/officeDocument/2006/relationships/slideLayout" Target="../slideLayouts/slideLayout16.xml"/></Relationships>
</file>

<file path=ppt/slides/_rels/slide14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70.png"/><Relationship Id="rId1" Type="http://schemas.openxmlformats.org/officeDocument/2006/relationships/slideLayout" Target="../slideLayouts/slideLayout1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4.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6.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image" Target="../media/image85.svg"/><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hyperlink" Target="http://www.baidu.com/"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a:extLst>
              <a:ext uri="{FF2B5EF4-FFF2-40B4-BE49-F238E27FC236}">
                <a16:creationId xmlns:a16="http://schemas.microsoft.com/office/drawing/2014/main" id="{6B5D29D7-FE8C-440C-BB50-05C9576D77CF}"/>
              </a:ext>
            </a:extLst>
          </p:cNvPr>
          <p:cNvSpPr/>
          <p:nvPr/>
        </p:nvSpPr>
        <p:spPr>
          <a:xfrm>
            <a:off x="8286163" y="108381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15" name="矩形: 圆角 14">
            <a:extLst>
              <a:ext uri="{FF2B5EF4-FFF2-40B4-BE49-F238E27FC236}">
                <a16:creationId xmlns:a16="http://schemas.microsoft.com/office/drawing/2014/main" id="{E6E05D2B-4281-4DA1-A2D7-DFC1FC498070}"/>
              </a:ext>
            </a:extLst>
          </p:cNvPr>
          <p:cNvSpPr/>
          <p:nvPr/>
        </p:nvSpPr>
        <p:spPr>
          <a:xfrm>
            <a:off x="8925997" y="1651692"/>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16" name="矩形: 圆角 15">
            <a:extLst>
              <a:ext uri="{FF2B5EF4-FFF2-40B4-BE49-F238E27FC236}">
                <a16:creationId xmlns:a16="http://schemas.microsoft.com/office/drawing/2014/main" id="{2E2440EC-D41A-4F54-8338-D39C2213B676}"/>
              </a:ext>
            </a:extLst>
          </p:cNvPr>
          <p:cNvSpPr/>
          <p:nvPr/>
        </p:nvSpPr>
        <p:spPr>
          <a:xfrm>
            <a:off x="9475772" y="626625"/>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17" name="矩形: 圆角 16">
            <a:extLst>
              <a:ext uri="{FF2B5EF4-FFF2-40B4-BE49-F238E27FC236}">
                <a16:creationId xmlns:a16="http://schemas.microsoft.com/office/drawing/2014/main" id="{47BF9B21-57EA-40D3-BC50-30FADFA171FA}"/>
              </a:ext>
            </a:extLst>
          </p:cNvPr>
          <p:cNvSpPr/>
          <p:nvPr/>
        </p:nvSpPr>
        <p:spPr>
          <a:xfrm>
            <a:off x="10115606" y="1194499"/>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graphicFrame>
        <p:nvGraphicFramePr>
          <p:cNvPr id="11" name="表格 6">
            <a:extLst>
              <a:ext uri="{FF2B5EF4-FFF2-40B4-BE49-F238E27FC236}">
                <a16:creationId xmlns:a16="http://schemas.microsoft.com/office/drawing/2014/main" id="{3E4DAA37-C7EA-4E3B-BA49-476ED60AF194}"/>
              </a:ext>
            </a:extLst>
          </p:cNvPr>
          <p:cNvGraphicFramePr>
            <a:graphicFrameLocks noGrp="1"/>
          </p:cNvGraphicFramePr>
          <p:nvPr>
            <p:extLst>
              <p:ext uri="{D42A27DB-BD31-4B8C-83A1-F6EECF244321}">
                <p14:modId xmlns:p14="http://schemas.microsoft.com/office/powerpoint/2010/main" val="41927201"/>
              </p:ext>
            </p:extLst>
          </p:nvPr>
        </p:nvGraphicFramePr>
        <p:xfrm>
          <a:off x="577774" y="3543460"/>
          <a:ext cx="5414464" cy="2225040"/>
        </p:xfrm>
        <a:graphic>
          <a:graphicData uri="http://schemas.openxmlformats.org/drawingml/2006/table">
            <a:tbl>
              <a:tblPr firstRow="1" bandRow="1"/>
              <a:tblGrid>
                <a:gridCol w="1054099">
                  <a:extLst>
                    <a:ext uri="{9D8B030D-6E8A-4147-A177-3AD203B41FA5}">
                      <a16:colId xmlns:a16="http://schemas.microsoft.com/office/drawing/2014/main" val="1533127475"/>
                    </a:ext>
                  </a:extLst>
                </a:gridCol>
                <a:gridCol w="4360365">
                  <a:extLst>
                    <a:ext uri="{9D8B030D-6E8A-4147-A177-3AD203B41FA5}">
                      <a16:colId xmlns:a16="http://schemas.microsoft.com/office/drawing/2014/main" val="2375523695"/>
                    </a:ext>
                  </a:extLst>
                </a:gridCol>
              </a:tblGrid>
              <a:tr h="370840">
                <a:tc>
                  <a:txBody>
                    <a:bodyPr/>
                    <a:lstStyle/>
                    <a:p>
                      <a:pPr algn="ctr"/>
                      <a:r>
                        <a:rPr lang="zh-CN" altLang="en-US" dirty="0"/>
                        <a:t>年级</a:t>
                      </a:r>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t>2026</a:t>
                      </a:r>
                      <a:endParaRPr lang="zh-CN" altLang="en-US" dirty="0"/>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85904348"/>
                  </a:ext>
                </a:extLst>
              </a:tr>
              <a:tr h="370840">
                <a:tc>
                  <a:txBody>
                    <a:bodyPr/>
                    <a:lstStyle/>
                    <a:p>
                      <a:pPr algn="ctr"/>
                      <a:r>
                        <a:rPr lang="zh-CN" altLang="en-US" dirty="0"/>
                        <a:t>专业</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计算机科学与技术</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84687294"/>
                  </a:ext>
                </a:extLst>
              </a:tr>
              <a:tr h="370840">
                <a:tc>
                  <a:txBody>
                    <a:bodyPr/>
                    <a:lstStyle/>
                    <a:p>
                      <a:pPr algn="ctr"/>
                      <a:r>
                        <a:rPr lang="zh-CN" altLang="en-US" dirty="0"/>
                        <a:t>人数</a:t>
                      </a:r>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t>43</a:t>
                      </a:r>
                      <a:endParaRPr lang="zh-CN" altLang="en-US" dirty="0"/>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84601949"/>
                  </a:ext>
                </a:extLst>
              </a:tr>
              <a:tr h="370840">
                <a:tc>
                  <a:txBody>
                    <a:bodyPr/>
                    <a:lstStyle/>
                    <a:p>
                      <a:pPr algn="ctr"/>
                      <a:r>
                        <a:rPr lang="zh-CN" altLang="en-US" dirty="0"/>
                        <a:t>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2">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计算机工程学院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2">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16097210"/>
                  </a:ext>
                </a:extLst>
              </a:tr>
              <a:tr h="370840">
                <a:tc>
                  <a:txBody>
                    <a:bodyPr/>
                    <a:lstStyle/>
                    <a:p>
                      <a:pPr algn="ctr"/>
                      <a:r>
                        <a:rPr lang="zh-CN" altLang="en-US" dirty="0"/>
                        <a:t>地点</a:t>
                      </a:r>
                    </a:p>
                  </a:txBody>
                  <a:tcPr anchor="ctr">
                    <a:lnL w="12700" cmpd="sng">
                      <a:noFill/>
                      <a:prstDash val="solid"/>
                    </a:lnL>
                    <a:lnR w="12700" cmpd="sng">
                      <a:noFill/>
                      <a:prstDash val="solid"/>
                    </a:lnR>
                    <a:lnT w="12700" cap="flat" cmpd="sng" algn="ctr">
                      <a:solidFill>
                        <a:schemeClr val="accent2">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正心</a:t>
                      </a:r>
                      <a:r>
                        <a:rPr lang="en-US" altLang="zh-CN" dirty="0"/>
                        <a:t>207-208</a:t>
                      </a:r>
                      <a:endParaRPr lang="zh-CN" altLang="en-US" dirty="0"/>
                    </a:p>
                  </a:txBody>
                  <a:tcPr anchor="ctr">
                    <a:lnL w="12700" cmpd="sng">
                      <a:noFill/>
                      <a:prstDash val="solid"/>
                    </a:lnL>
                    <a:lnR w="12700" cmpd="sng">
                      <a:noFill/>
                      <a:prstDash val="solid"/>
                    </a:lnR>
                    <a:lnT w="12700" cap="flat" cmpd="sng" algn="ctr">
                      <a:solidFill>
                        <a:schemeClr val="accent2">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19486074"/>
                  </a:ext>
                </a:extLst>
              </a:tr>
              <a:tr h="370840">
                <a:tc>
                  <a:txBody>
                    <a:bodyPr/>
                    <a:lstStyle/>
                    <a:p>
                      <a:pPr algn="ctr"/>
                      <a:r>
                        <a:rPr lang="zh-CN" altLang="en-US" dirty="0"/>
                        <a:t>周数</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第</a:t>
                      </a:r>
                      <a:r>
                        <a:rPr lang="en-US" altLang="zh-CN" dirty="0"/>
                        <a:t>1</a:t>
                      </a:r>
                      <a:r>
                        <a:rPr lang="zh-CN" altLang="en-US" dirty="0"/>
                        <a:t>周</a:t>
                      </a:r>
                      <a:r>
                        <a:rPr lang="en-US" altLang="zh-CN" dirty="0"/>
                        <a:t>-</a:t>
                      </a:r>
                      <a:r>
                        <a:rPr lang="zh-CN" altLang="en-US" dirty="0"/>
                        <a:t>第</a:t>
                      </a:r>
                      <a:r>
                        <a:rPr lang="en-US" altLang="zh-CN" dirty="0"/>
                        <a:t>16</a:t>
                      </a:r>
                      <a:r>
                        <a:rPr lang="zh-CN" altLang="en-US" dirty="0"/>
                        <a:t>周</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48617300"/>
                  </a:ext>
                </a:extLst>
              </a:tr>
            </a:tbl>
          </a:graphicData>
        </a:graphic>
      </p:graphicFrame>
      <p:sp>
        <p:nvSpPr>
          <p:cNvPr id="4" name="标题 7">
            <a:extLst>
              <a:ext uri="{FF2B5EF4-FFF2-40B4-BE49-F238E27FC236}">
                <a16:creationId xmlns:a16="http://schemas.microsoft.com/office/drawing/2014/main" id="{199D67E4-ABB8-83FB-CE62-DE308F56C7D0}"/>
              </a:ext>
            </a:extLst>
          </p:cNvPr>
          <p:cNvSpPr txBox="1">
            <a:spLocks/>
          </p:cNvSpPr>
          <p:nvPr/>
        </p:nvSpPr>
        <p:spPr>
          <a:xfrm>
            <a:off x="577774" y="2729596"/>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rPr>
              <a:t>Network</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extLst>
      <p:ext uri="{BB962C8B-B14F-4D97-AF65-F5344CB8AC3E}">
        <p14:creationId xmlns:p14="http://schemas.microsoft.com/office/powerpoint/2010/main" val="3258095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anim calcmode="lin" valueType="num">
                                      <p:cBhvr>
                                        <p:cTn id="8" dur="500" fill="hold"/>
                                        <p:tgtEl>
                                          <p:spTgt spid="16"/>
                                        </p:tgtEl>
                                        <p:attrNameLst>
                                          <p:attrName>ppt_x</p:attrName>
                                        </p:attrNameLst>
                                      </p:cBhvr>
                                      <p:tavLst>
                                        <p:tav tm="0">
                                          <p:val>
                                            <p:strVal val="#ppt_x"/>
                                          </p:val>
                                        </p:tav>
                                        <p:tav tm="100000">
                                          <p:val>
                                            <p:strVal val="#ppt_x"/>
                                          </p:val>
                                        </p:tav>
                                      </p:tavLst>
                                    </p:anim>
                                    <p:anim calcmode="lin" valueType="num">
                                      <p:cBhvr>
                                        <p:cTn id="9" dur="500" fill="hold"/>
                                        <p:tgtEl>
                                          <p:spTgt spid="16"/>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anim calcmode="lin" valueType="num">
                                      <p:cBhvr>
                                        <p:cTn id="14" dur="500" fill="hold"/>
                                        <p:tgtEl>
                                          <p:spTgt spid="17"/>
                                        </p:tgtEl>
                                        <p:attrNameLst>
                                          <p:attrName>ppt_x</p:attrName>
                                        </p:attrNameLst>
                                      </p:cBhvr>
                                      <p:tavLst>
                                        <p:tav tm="0">
                                          <p:val>
                                            <p:strVal val="#ppt_x"/>
                                          </p:val>
                                        </p:tav>
                                        <p:tav tm="100000">
                                          <p:val>
                                            <p:strVal val="#ppt_x"/>
                                          </p:val>
                                        </p:tav>
                                      </p:tavLst>
                                    </p:anim>
                                    <p:anim calcmode="lin" valueType="num">
                                      <p:cBhvr>
                                        <p:cTn id="15" dur="500" fill="hold"/>
                                        <p:tgtEl>
                                          <p:spTgt spid="17"/>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F297BE5-4469-4605-9026-68760341898F}"/>
              </a:ext>
            </a:extLst>
          </p:cNvPr>
          <p:cNvSpPr txBox="1"/>
          <p:nvPr/>
        </p:nvSpPr>
        <p:spPr>
          <a:xfrm>
            <a:off x="2659247" y="2122579"/>
            <a:ext cx="1271502" cy="1015663"/>
          </a:xfrm>
          <a:prstGeom prst="rect">
            <a:avLst/>
          </a:prstGeom>
          <a:noFill/>
          <a:effectLst>
            <a:outerShdw blurRad="50800" dist="38100" dir="2700000" algn="tl" rotWithShape="0">
              <a:prstClr val="black">
                <a:alpha val="40000"/>
              </a:prstClr>
            </a:outerShdw>
          </a:effectLst>
        </p:spPr>
        <p:txBody>
          <a:bodyPr wrap="none" rtlCol="0">
            <a:spAutoFit/>
          </a:bodyPr>
          <a:lstStyle/>
          <a:p>
            <a:pPr algn="l"/>
            <a:r>
              <a:rPr lang="en-US" altLang="zh-CN" sz="6000" dirty="0">
                <a:solidFill>
                  <a:srgbClr val="FF0000"/>
                </a:solidFill>
                <a:latin typeface="Roboto" panose="02000000000000000000" pitchFamily="2" charset="0"/>
                <a:ea typeface="微软雅黑 Light" panose="020B0502040204020203" pitchFamily="34" charset="-122"/>
              </a:rPr>
              <a:t>W</a:t>
            </a:r>
            <a:r>
              <a:rPr lang="en-US" altLang="zh-CN" sz="2400" dirty="0">
                <a:solidFill>
                  <a:schemeClr val="tx1"/>
                </a:solidFill>
                <a:latin typeface="Roboto" panose="02000000000000000000" pitchFamily="2" charset="0"/>
                <a:ea typeface="微软雅黑 Light" panose="020B0502040204020203" pitchFamily="34" charset="-122"/>
              </a:rPr>
              <a:t>HY</a:t>
            </a:r>
            <a:endParaRPr lang="zh-CN" altLang="en-US" sz="2400" dirty="0">
              <a:solidFill>
                <a:schemeClr val="tx1"/>
              </a:solidFill>
              <a:latin typeface="Roboto" panose="020000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01965149-C932-49FD-B546-10EC3464C77D}"/>
              </a:ext>
            </a:extLst>
          </p:cNvPr>
          <p:cNvSpPr txBox="1"/>
          <p:nvPr/>
        </p:nvSpPr>
        <p:spPr>
          <a:xfrm>
            <a:off x="3366290" y="2230300"/>
            <a:ext cx="1338828" cy="369332"/>
          </a:xfrm>
          <a:prstGeom prst="rect">
            <a:avLst/>
          </a:prstGeom>
          <a:noFill/>
        </p:spPr>
        <p:txBody>
          <a:bodyPr wrap="none" rtlCol="0">
            <a:spAutoFit/>
          </a:bodyPr>
          <a:lstStyle/>
          <a:p>
            <a:pPr algn="l"/>
            <a:r>
              <a:rPr lang="zh-CN" altLang="en-US" dirty="0"/>
              <a:t>为什么学？</a:t>
            </a:r>
          </a:p>
        </p:txBody>
      </p:sp>
      <p:sp>
        <p:nvSpPr>
          <p:cNvPr id="6" name="椭圆 5">
            <a:extLst>
              <a:ext uri="{FF2B5EF4-FFF2-40B4-BE49-F238E27FC236}">
                <a16:creationId xmlns:a16="http://schemas.microsoft.com/office/drawing/2014/main" id="{77DB5126-544B-4AA5-A19E-DE23BFE2BA45}"/>
              </a:ext>
            </a:extLst>
          </p:cNvPr>
          <p:cNvSpPr/>
          <p:nvPr/>
        </p:nvSpPr>
        <p:spPr>
          <a:xfrm>
            <a:off x="860415" y="2322162"/>
            <a:ext cx="5025966" cy="3619613"/>
          </a:xfrm>
          <a:custGeom>
            <a:avLst/>
            <a:gdLst>
              <a:gd name="connsiteX0" fmla="*/ 0 w 10540180"/>
              <a:gd name="connsiteY0" fmla="*/ 3429000 h 6858000"/>
              <a:gd name="connsiteX1" fmla="*/ 5270090 w 10540180"/>
              <a:gd name="connsiteY1" fmla="*/ 0 h 6858000"/>
              <a:gd name="connsiteX2" fmla="*/ 10540180 w 10540180"/>
              <a:gd name="connsiteY2" fmla="*/ 3429000 h 6858000"/>
              <a:gd name="connsiteX3" fmla="*/ 5270090 w 10540180"/>
              <a:gd name="connsiteY3" fmla="*/ 6858000 h 6858000"/>
              <a:gd name="connsiteX4" fmla="*/ 0 w 10540180"/>
              <a:gd name="connsiteY4" fmla="*/ 3429000 h 6858000"/>
              <a:gd name="connsiteX0" fmla="*/ 0 w 10962967"/>
              <a:gd name="connsiteY0" fmla="*/ 1030006 h 7821626"/>
              <a:gd name="connsiteX1" fmla="*/ 5692877 w 10962967"/>
              <a:gd name="connsiteY1" fmla="*/ 875148 h 7821626"/>
              <a:gd name="connsiteX2" fmla="*/ 10962967 w 10962967"/>
              <a:gd name="connsiteY2" fmla="*/ 4304148 h 7821626"/>
              <a:gd name="connsiteX3" fmla="*/ 5692877 w 10962967"/>
              <a:gd name="connsiteY3" fmla="*/ 7733148 h 7821626"/>
              <a:gd name="connsiteX4" fmla="*/ 0 w 10962967"/>
              <a:gd name="connsiteY4" fmla="*/ 1030006 h 7821626"/>
              <a:gd name="connsiteX0" fmla="*/ 0 w 12221496"/>
              <a:gd name="connsiteY0" fmla="*/ 935696 h 7646970"/>
              <a:gd name="connsiteX1" fmla="*/ 5692877 w 12221496"/>
              <a:gd name="connsiteY1" fmla="*/ 780838 h 7646970"/>
              <a:gd name="connsiteX2" fmla="*/ 12221496 w 12221496"/>
              <a:gd name="connsiteY2" fmla="*/ 2174561 h 7646970"/>
              <a:gd name="connsiteX3" fmla="*/ 5692877 w 12221496"/>
              <a:gd name="connsiteY3" fmla="*/ 7638838 h 7646970"/>
              <a:gd name="connsiteX4" fmla="*/ 0 w 12221496"/>
              <a:gd name="connsiteY4" fmla="*/ 935696 h 7646970"/>
              <a:gd name="connsiteX0" fmla="*/ 183891 w 12405387"/>
              <a:gd name="connsiteY0" fmla="*/ 874547 h 7585821"/>
              <a:gd name="connsiteX1" fmla="*/ 5876768 w 12405387"/>
              <a:gd name="connsiteY1" fmla="*/ 719689 h 7585821"/>
              <a:gd name="connsiteX2" fmla="*/ 12405387 w 12405387"/>
              <a:gd name="connsiteY2" fmla="*/ 2113412 h 7585821"/>
              <a:gd name="connsiteX3" fmla="*/ 5876768 w 12405387"/>
              <a:gd name="connsiteY3" fmla="*/ 7577689 h 7585821"/>
              <a:gd name="connsiteX4" fmla="*/ 183891 w 12405387"/>
              <a:gd name="connsiteY4" fmla="*/ 874547 h 7585821"/>
              <a:gd name="connsiteX0" fmla="*/ 220949 w 11279907"/>
              <a:gd name="connsiteY0" fmla="*/ 736830 h 8053231"/>
              <a:gd name="connsiteX1" fmla="*/ 4751288 w 11279907"/>
              <a:gd name="connsiteY1" fmla="*/ 1178142 h 8053231"/>
              <a:gd name="connsiteX2" fmla="*/ 11279907 w 11279907"/>
              <a:gd name="connsiteY2" fmla="*/ 2571865 h 8053231"/>
              <a:gd name="connsiteX3" fmla="*/ 4751288 w 11279907"/>
              <a:gd name="connsiteY3" fmla="*/ 8036142 h 8053231"/>
              <a:gd name="connsiteX4" fmla="*/ 220949 w 11279907"/>
              <a:gd name="connsiteY4" fmla="*/ 736830 h 8053231"/>
              <a:gd name="connsiteX0" fmla="*/ 221408 w 11343777"/>
              <a:gd name="connsiteY0" fmla="*/ 717528 h 8023904"/>
              <a:gd name="connsiteX1" fmla="*/ 4751747 w 11343777"/>
              <a:gd name="connsiteY1" fmla="*/ 1158840 h 8023904"/>
              <a:gd name="connsiteX2" fmla="*/ 11343777 w 11343777"/>
              <a:gd name="connsiteY2" fmla="*/ 1956394 h 8023904"/>
              <a:gd name="connsiteX3" fmla="*/ 4751747 w 11343777"/>
              <a:gd name="connsiteY3" fmla="*/ 8016840 h 8023904"/>
              <a:gd name="connsiteX4" fmla="*/ 221408 w 11343777"/>
              <a:gd name="connsiteY4" fmla="*/ 717528 h 8023904"/>
              <a:gd name="connsiteX0" fmla="*/ 221408 w 11343777"/>
              <a:gd name="connsiteY0" fmla="*/ 717526 h 8023904"/>
              <a:gd name="connsiteX1" fmla="*/ 4751747 w 11343777"/>
              <a:gd name="connsiteY1" fmla="*/ 1158838 h 8023904"/>
              <a:gd name="connsiteX2" fmla="*/ 11343777 w 11343777"/>
              <a:gd name="connsiteY2" fmla="*/ 1956392 h 8023904"/>
              <a:gd name="connsiteX3" fmla="*/ 4751747 w 11343777"/>
              <a:gd name="connsiteY3" fmla="*/ 8016838 h 8023904"/>
              <a:gd name="connsiteX4" fmla="*/ 221408 w 11343777"/>
              <a:gd name="connsiteY4" fmla="*/ 717526 h 8023904"/>
              <a:gd name="connsiteX0" fmla="*/ 221408 w 11343777"/>
              <a:gd name="connsiteY0" fmla="*/ 717526 h 8024092"/>
              <a:gd name="connsiteX1" fmla="*/ 4751747 w 11343777"/>
              <a:gd name="connsiteY1" fmla="*/ 1158838 h 8024092"/>
              <a:gd name="connsiteX2" fmla="*/ 11343777 w 11343777"/>
              <a:gd name="connsiteY2" fmla="*/ 1956392 h 8024092"/>
              <a:gd name="connsiteX3" fmla="*/ 4751747 w 11343777"/>
              <a:gd name="connsiteY3" fmla="*/ 8016838 h 8024092"/>
              <a:gd name="connsiteX4" fmla="*/ 221408 w 11343777"/>
              <a:gd name="connsiteY4" fmla="*/ 717526 h 8024092"/>
              <a:gd name="connsiteX0" fmla="*/ 253367 w 11375736"/>
              <a:gd name="connsiteY0" fmla="*/ 380490 h 6754997"/>
              <a:gd name="connsiteX1" fmla="*/ 4783706 w 11375736"/>
              <a:gd name="connsiteY1" fmla="*/ 821802 h 6754997"/>
              <a:gd name="connsiteX2" fmla="*/ 11375736 w 11375736"/>
              <a:gd name="connsiteY2" fmla="*/ 1619356 h 6754997"/>
              <a:gd name="connsiteX3" fmla="*/ 1739971 w 11375736"/>
              <a:gd name="connsiteY3" fmla="*/ 6745805 h 6754997"/>
              <a:gd name="connsiteX4" fmla="*/ 253367 w 11375736"/>
              <a:gd name="connsiteY4" fmla="*/ 380490 h 6754997"/>
              <a:gd name="connsiteX0" fmla="*/ 636122 w 11758491"/>
              <a:gd name="connsiteY0" fmla="*/ 380490 h 6815136"/>
              <a:gd name="connsiteX1" fmla="*/ 5166461 w 11758491"/>
              <a:gd name="connsiteY1" fmla="*/ 821802 h 6815136"/>
              <a:gd name="connsiteX2" fmla="*/ 11758491 w 11758491"/>
              <a:gd name="connsiteY2" fmla="*/ 1619356 h 6815136"/>
              <a:gd name="connsiteX3" fmla="*/ 2122726 w 11758491"/>
              <a:gd name="connsiteY3" fmla="*/ 6745805 h 6815136"/>
              <a:gd name="connsiteX4" fmla="*/ 636122 w 11758491"/>
              <a:gd name="connsiteY4" fmla="*/ 380490 h 6815136"/>
              <a:gd name="connsiteX0" fmla="*/ 643013 w 11765382"/>
              <a:gd name="connsiteY0" fmla="*/ 270559 h 6705205"/>
              <a:gd name="connsiteX1" fmla="*/ 5279038 w 11765382"/>
              <a:gd name="connsiteY1" fmla="*/ 1208679 h 6705205"/>
              <a:gd name="connsiteX2" fmla="*/ 11765382 w 11765382"/>
              <a:gd name="connsiteY2" fmla="*/ 1509425 h 6705205"/>
              <a:gd name="connsiteX3" fmla="*/ 2129617 w 11765382"/>
              <a:gd name="connsiteY3" fmla="*/ 6635874 h 6705205"/>
              <a:gd name="connsiteX4" fmla="*/ 643013 w 11765382"/>
              <a:gd name="connsiteY4" fmla="*/ 270559 h 6705205"/>
              <a:gd name="connsiteX0" fmla="*/ 916283 w 12038652"/>
              <a:gd name="connsiteY0" fmla="*/ 223850 h 6658496"/>
              <a:gd name="connsiteX1" fmla="*/ 5552308 w 12038652"/>
              <a:gd name="connsiteY1" fmla="*/ 1161970 h 6658496"/>
              <a:gd name="connsiteX2" fmla="*/ 12038652 w 12038652"/>
              <a:gd name="connsiteY2" fmla="*/ 1462716 h 6658496"/>
              <a:gd name="connsiteX3" fmla="*/ 2402887 w 12038652"/>
              <a:gd name="connsiteY3" fmla="*/ 6589165 h 6658496"/>
              <a:gd name="connsiteX4" fmla="*/ 916283 w 12038652"/>
              <a:gd name="connsiteY4" fmla="*/ 223850 h 6658496"/>
              <a:gd name="connsiteX0" fmla="*/ 916283 w 12038652"/>
              <a:gd name="connsiteY0" fmla="*/ 223850 h 6700067"/>
              <a:gd name="connsiteX1" fmla="*/ 5552308 w 12038652"/>
              <a:gd name="connsiteY1" fmla="*/ 1161970 h 6700067"/>
              <a:gd name="connsiteX2" fmla="*/ 12038652 w 12038652"/>
              <a:gd name="connsiteY2" fmla="*/ 1462716 h 6700067"/>
              <a:gd name="connsiteX3" fmla="*/ 2402887 w 12038652"/>
              <a:gd name="connsiteY3" fmla="*/ 6589165 h 6700067"/>
              <a:gd name="connsiteX4" fmla="*/ 916283 w 12038652"/>
              <a:gd name="connsiteY4" fmla="*/ 223850 h 6700067"/>
              <a:gd name="connsiteX0" fmla="*/ 535425 w 10896859"/>
              <a:gd name="connsiteY0" fmla="*/ 235785 h 6655941"/>
              <a:gd name="connsiteX1" fmla="*/ 5171450 w 10896859"/>
              <a:gd name="connsiteY1" fmla="*/ 1173905 h 6655941"/>
              <a:gd name="connsiteX2" fmla="*/ 10896859 w 10896859"/>
              <a:gd name="connsiteY2" fmla="*/ 2170181 h 6655941"/>
              <a:gd name="connsiteX3" fmla="*/ 2022029 w 10896859"/>
              <a:gd name="connsiteY3" fmla="*/ 6601100 h 6655941"/>
              <a:gd name="connsiteX4" fmla="*/ 535425 w 10896859"/>
              <a:gd name="connsiteY4" fmla="*/ 235785 h 6655941"/>
              <a:gd name="connsiteX0" fmla="*/ 189154 w 10550588"/>
              <a:gd name="connsiteY0" fmla="*/ 268460 h 6688618"/>
              <a:gd name="connsiteX1" fmla="*/ 4169931 w 10550588"/>
              <a:gd name="connsiteY1" fmla="*/ 1286071 h 6688618"/>
              <a:gd name="connsiteX2" fmla="*/ 10550588 w 10550588"/>
              <a:gd name="connsiteY2" fmla="*/ 2202856 h 6688618"/>
              <a:gd name="connsiteX3" fmla="*/ 1675758 w 10550588"/>
              <a:gd name="connsiteY3" fmla="*/ 6633775 h 6688618"/>
              <a:gd name="connsiteX4" fmla="*/ 189154 w 10550588"/>
              <a:gd name="connsiteY4" fmla="*/ 268460 h 6688618"/>
              <a:gd name="connsiteX0" fmla="*/ 212392 w 10447004"/>
              <a:gd name="connsiteY0" fmla="*/ 257004 h 6801711"/>
              <a:gd name="connsiteX1" fmla="*/ 4066347 w 10447004"/>
              <a:gd name="connsiteY1" fmla="*/ 1393848 h 6801711"/>
              <a:gd name="connsiteX2" fmla="*/ 10447004 w 10447004"/>
              <a:gd name="connsiteY2" fmla="*/ 2310633 h 6801711"/>
              <a:gd name="connsiteX3" fmla="*/ 1572174 w 10447004"/>
              <a:gd name="connsiteY3" fmla="*/ 6741552 h 6801711"/>
              <a:gd name="connsiteX4" fmla="*/ 212392 w 10447004"/>
              <a:gd name="connsiteY4" fmla="*/ 257004 h 6801711"/>
              <a:gd name="connsiteX0" fmla="*/ 512512 w 10747124"/>
              <a:gd name="connsiteY0" fmla="*/ 174322 h 6719029"/>
              <a:gd name="connsiteX1" fmla="*/ 4366467 w 10747124"/>
              <a:gd name="connsiteY1" fmla="*/ 1311166 h 6719029"/>
              <a:gd name="connsiteX2" fmla="*/ 10747124 w 10747124"/>
              <a:gd name="connsiteY2" fmla="*/ 2227951 h 6719029"/>
              <a:gd name="connsiteX3" fmla="*/ 1872294 w 10747124"/>
              <a:gd name="connsiteY3" fmla="*/ 6658870 h 6719029"/>
              <a:gd name="connsiteX4" fmla="*/ 512512 w 10747124"/>
              <a:gd name="connsiteY4" fmla="*/ 174322 h 6719029"/>
              <a:gd name="connsiteX0" fmla="*/ 52223 w 10286835"/>
              <a:gd name="connsiteY0" fmla="*/ 286822 h 7275181"/>
              <a:gd name="connsiteX1" fmla="*/ 3906178 w 10286835"/>
              <a:gd name="connsiteY1" fmla="*/ 1423666 h 7275181"/>
              <a:gd name="connsiteX2" fmla="*/ 10286835 w 10286835"/>
              <a:gd name="connsiteY2" fmla="*/ 2340451 h 7275181"/>
              <a:gd name="connsiteX3" fmla="*/ 2278623 w 10286835"/>
              <a:gd name="connsiteY3" fmla="*/ 7228435 h 7275181"/>
              <a:gd name="connsiteX4" fmla="*/ 52223 w 10286835"/>
              <a:gd name="connsiteY4" fmla="*/ 286822 h 7275181"/>
              <a:gd name="connsiteX0" fmla="*/ 331856 w 10566468"/>
              <a:gd name="connsiteY0" fmla="*/ 158691 h 7147050"/>
              <a:gd name="connsiteX1" fmla="*/ 4185811 w 10566468"/>
              <a:gd name="connsiteY1" fmla="*/ 1295535 h 7147050"/>
              <a:gd name="connsiteX2" fmla="*/ 10566468 w 10566468"/>
              <a:gd name="connsiteY2" fmla="*/ 2212320 h 7147050"/>
              <a:gd name="connsiteX3" fmla="*/ 2558256 w 10566468"/>
              <a:gd name="connsiteY3" fmla="*/ 7100304 h 7147050"/>
              <a:gd name="connsiteX4" fmla="*/ 331856 w 10566468"/>
              <a:gd name="connsiteY4" fmla="*/ 158691 h 7147050"/>
              <a:gd name="connsiteX0" fmla="*/ 331856 w 10566468"/>
              <a:gd name="connsiteY0" fmla="*/ 158689 h 7147048"/>
              <a:gd name="connsiteX1" fmla="*/ 4185811 w 10566468"/>
              <a:gd name="connsiteY1" fmla="*/ 1295533 h 7147048"/>
              <a:gd name="connsiteX2" fmla="*/ 10566468 w 10566468"/>
              <a:gd name="connsiteY2" fmla="*/ 2212318 h 7147048"/>
              <a:gd name="connsiteX3" fmla="*/ 2558256 w 10566468"/>
              <a:gd name="connsiteY3" fmla="*/ 7100302 h 7147048"/>
              <a:gd name="connsiteX4" fmla="*/ 331856 w 10566468"/>
              <a:gd name="connsiteY4" fmla="*/ 158689 h 7147048"/>
              <a:gd name="connsiteX0" fmla="*/ 331856 w 10615156"/>
              <a:gd name="connsiteY0" fmla="*/ 158689 h 7138182"/>
              <a:gd name="connsiteX1" fmla="*/ 4185811 w 10615156"/>
              <a:gd name="connsiteY1" fmla="*/ 1295533 h 7138182"/>
              <a:gd name="connsiteX2" fmla="*/ 10566468 w 10615156"/>
              <a:gd name="connsiteY2" fmla="*/ 2212318 h 7138182"/>
              <a:gd name="connsiteX3" fmla="*/ 2558256 w 10615156"/>
              <a:gd name="connsiteY3" fmla="*/ 7100302 h 7138182"/>
              <a:gd name="connsiteX4" fmla="*/ 331856 w 10615156"/>
              <a:gd name="connsiteY4" fmla="*/ 158689 h 7138182"/>
              <a:gd name="connsiteX0" fmla="*/ 331042 w 10572296"/>
              <a:gd name="connsiteY0" fmla="*/ 162627 h 7158392"/>
              <a:gd name="connsiteX1" fmla="*/ 4184997 w 10572296"/>
              <a:gd name="connsiteY1" fmla="*/ 1299471 h 7158392"/>
              <a:gd name="connsiteX2" fmla="*/ 10523379 w 10572296"/>
              <a:gd name="connsiteY2" fmla="*/ 2514340 h 7158392"/>
              <a:gd name="connsiteX3" fmla="*/ 2557442 w 10572296"/>
              <a:gd name="connsiteY3" fmla="*/ 7104240 h 7158392"/>
              <a:gd name="connsiteX4" fmla="*/ 331042 w 10572296"/>
              <a:gd name="connsiteY4" fmla="*/ 162627 h 7158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2296" h="7158392">
                <a:moveTo>
                  <a:pt x="331042" y="162627"/>
                </a:moveTo>
                <a:cubicBezTo>
                  <a:pt x="1363236" y="-467004"/>
                  <a:pt x="2486274" y="907519"/>
                  <a:pt x="4184997" y="1299471"/>
                </a:cubicBezTo>
                <a:cubicBezTo>
                  <a:pt x="5883720" y="1691423"/>
                  <a:pt x="9889268" y="560940"/>
                  <a:pt x="10523379" y="2514340"/>
                </a:cubicBezTo>
                <a:cubicBezTo>
                  <a:pt x="11220903" y="5739572"/>
                  <a:pt x="4256165" y="7496192"/>
                  <a:pt x="2557442" y="7104240"/>
                </a:cubicBezTo>
                <a:cubicBezTo>
                  <a:pt x="858719" y="6712288"/>
                  <a:pt x="-701152" y="792258"/>
                  <a:pt x="331042" y="162627"/>
                </a:cubicBezTo>
                <a:close/>
              </a:path>
            </a:pathLst>
          </a:custGeom>
          <a:blipFill>
            <a:blip r:embed="rId2"/>
            <a:stretch>
              <a:fillRect/>
            </a:stretch>
          </a:blip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8">
            <a:extLst>
              <a:ext uri="{FF2B5EF4-FFF2-40B4-BE49-F238E27FC236}">
                <a16:creationId xmlns:a16="http://schemas.microsoft.com/office/drawing/2014/main" id="{D44EB15C-0EF0-47ED-98E5-BD3C8C42B693}"/>
              </a:ext>
            </a:extLst>
          </p:cNvPr>
          <p:cNvSpPr>
            <a:spLocks noChangeAspect="1" noChangeArrowheads="1"/>
          </p:cNvSpPr>
          <p:nvPr/>
        </p:nvSpPr>
        <p:spPr bwMode="auto">
          <a:xfrm>
            <a:off x="8268369" y="1153733"/>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solidFill>
            <a:schemeClr val="bg1">
              <a:lumMod val="85000"/>
            </a:schemeClr>
          </a:solidFill>
          <a:ln>
            <a:noFill/>
          </a:ln>
          <a:effectLst/>
        </p:spPr>
        <p:txBody>
          <a:bodyPr wrap="none" anchor="ctr"/>
          <a:lstStyle/>
          <a:p>
            <a:endParaRPr lang="en-US" sz="7197"/>
          </a:p>
        </p:txBody>
      </p:sp>
      <p:sp>
        <p:nvSpPr>
          <p:cNvPr id="8" name="Freeform 18">
            <a:extLst>
              <a:ext uri="{FF2B5EF4-FFF2-40B4-BE49-F238E27FC236}">
                <a16:creationId xmlns:a16="http://schemas.microsoft.com/office/drawing/2014/main" id="{29BCB32A-9906-4973-9B45-084AF1442B00}"/>
              </a:ext>
            </a:extLst>
          </p:cNvPr>
          <p:cNvSpPr>
            <a:spLocks noChangeAspect="1" noChangeArrowheads="1"/>
          </p:cNvSpPr>
          <p:nvPr/>
        </p:nvSpPr>
        <p:spPr bwMode="auto">
          <a:xfrm>
            <a:off x="8225280" y="1059465"/>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blipFill>
            <a:blip r:embed="rId3"/>
            <a:stretch>
              <a:fillRect/>
            </a:stretch>
          </a:blipFill>
          <a:ln>
            <a:noFill/>
          </a:ln>
          <a:effectLst/>
        </p:spPr>
        <p:txBody>
          <a:bodyPr wrap="none" anchor="ctr"/>
          <a:lstStyle/>
          <a:p>
            <a:endParaRPr lang="en-US" sz="7197"/>
          </a:p>
        </p:txBody>
      </p:sp>
    </p:spTree>
    <p:extLst>
      <p:ext uri="{BB962C8B-B14F-4D97-AF65-F5344CB8AC3E}">
        <p14:creationId xmlns:p14="http://schemas.microsoft.com/office/powerpoint/2010/main" val="27759279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87D5600A-7D76-4D06-806E-14338732BB92}"/>
              </a:ext>
            </a:extLst>
          </p:cNvPr>
          <p:cNvPicPr>
            <a:picLocks noChangeAspect="1"/>
          </p:cNvPicPr>
          <p:nvPr/>
        </p:nvPicPr>
        <p:blipFill rotWithShape="1">
          <a:blip r:embed="rId2"/>
          <a:srcRect t="972" r="2359"/>
          <a:stretch/>
        </p:blipFill>
        <p:spPr>
          <a:xfrm>
            <a:off x="9038513" y="33338"/>
            <a:ext cx="3153487" cy="6791325"/>
          </a:xfrm>
          <a:prstGeom prst="rect">
            <a:avLst/>
          </a:prstGeom>
        </p:spPr>
      </p:pic>
      <p:sp>
        <p:nvSpPr>
          <p:cNvPr id="6" name="文本框 5">
            <a:extLst>
              <a:ext uri="{FF2B5EF4-FFF2-40B4-BE49-F238E27FC236}">
                <a16:creationId xmlns:a16="http://schemas.microsoft.com/office/drawing/2014/main" id="{5E272C98-C3C8-4278-B7B7-2EFB0B2F63F9}"/>
              </a:ext>
            </a:extLst>
          </p:cNvPr>
          <p:cNvSpPr txBox="1"/>
          <p:nvPr/>
        </p:nvSpPr>
        <p:spPr>
          <a:xfrm>
            <a:off x="619125" y="3244334"/>
            <a:ext cx="697627" cy="400110"/>
          </a:xfrm>
          <a:prstGeom prst="rect">
            <a:avLst/>
          </a:prstGeom>
          <a:noFill/>
        </p:spPr>
        <p:txBody>
          <a:bodyPr wrap="none" rtlCol="0">
            <a:spAutoFit/>
          </a:bodyPr>
          <a:lstStyle/>
          <a:p>
            <a:pPr algn="l">
              <a:spcBef>
                <a:spcPts val="600"/>
              </a:spcBef>
              <a:spcAft>
                <a:spcPts val="600"/>
              </a:spcAft>
            </a:pPr>
            <a:r>
              <a:rPr lang="zh-CN" altLang="en-US" sz="2000" kern="100" dirty="0">
                <a:latin typeface="微软雅黑" panose="020B0503020204020204" pitchFamily="34" charset="-122"/>
                <a:ea typeface="微软雅黑" panose="020B0503020204020204" pitchFamily="34" charset="-122"/>
                <a:cs typeface="Times New Roman" panose="02020603050405020304" pitchFamily="18" charset="0"/>
              </a:rPr>
              <a:t>测试</a:t>
            </a:r>
            <a:endParaRPr lang="zh-CN" altLang="en-US" sz="2000" kern="100" dirty="0">
              <a:effectLst/>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7" name="文本框 6">
            <a:extLst>
              <a:ext uri="{FF2B5EF4-FFF2-40B4-BE49-F238E27FC236}">
                <a16:creationId xmlns:a16="http://schemas.microsoft.com/office/drawing/2014/main" id="{5CBE3C96-1B59-4233-8DE9-DAAAE4F26E5D}"/>
              </a:ext>
            </a:extLst>
          </p:cNvPr>
          <p:cNvSpPr txBox="1"/>
          <p:nvPr/>
        </p:nvSpPr>
        <p:spPr>
          <a:xfrm>
            <a:off x="619124" y="3669448"/>
            <a:ext cx="7230762"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要求：测试个人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使用教室网络</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提示：个人</a:t>
            </a:r>
            <a:r>
              <a:rPr lang="en-US" altLang="zh-CN"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的网络属性设置与教师用机的网络属性保持一致</a:t>
            </a:r>
          </a:p>
        </p:txBody>
      </p:sp>
      <p:sp>
        <p:nvSpPr>
          <p:cNvPr id="8" name="矩形 7">
            <a:extLst>
              <a:ext uri="{FF2B5EF4-FFF2-40B4-BE49-F238E27FC236}">
                <a16:creationId xmlns:a16="http://schemas.microsoft.com/office/drawing/2014/main" id="{DD8436F2-67B6-4B88-BCA7-9DE9B7F6E94F}"/>
              </a:ext>
            </a:extLst>
          </p:cNvPr>
          <p:cNvSpPr/>
          <p:nvPr/>
        </p:nvSpPr>
        <p:spPr>
          <a:xfrm>
            <a:off x="7639050" y="3390156"/>
            <a:ext cx="200025" cy="10846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1A542614-15CE-45D9-BA74-C2F9DD53CF79}"/>
              </a:ext>
            </a:extLst>
          </p:cNvPr>
          <p:cNvCxnSpPr>
            <a:stCxn id="6" idx="3"/>
            <a:endCxn id="8" idx="1"/>
          </p:cNvCxnSpPr>
          <p:nvPr/>
        </p:nvCxnSpPr>
        <p:spPr>
          <a:xfrm>
            <a:off x="1316752" y="3444389"/>
            <a:ext cx="6322298" cy="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542705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6456F60D-C156-4EC4-80F8-3A58D64CD682}"/>
              </a:ext>
            </a:extLst>
          </p:cNvPr>
          <p:cNvSpPr/>
          <p:nvPr/>
        </p:nvSpPr>
        <p:spPr>
          <a:xfrm>
            <a:off x="6095998" y="0"/>
            <a:ext cx="6095998" cy="6858000"/>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EEEE3D11-B7ED-458A-8CFF-EFB1B1A024AC}"/>
              </a:ext>
            </a:extLst>
          </p:cNvPr>
          <p:cNvSpPr/>
          <p:nvPr/>
        </p:nvSpPr>
        <p:spPr>
          <a:xfrm>
            <a:off x="0" y="0"/>
            <a:ext cx="6095998"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0908EC48-2734-4FE3-8EDE-8DEEB7A34868}"/>
              </a:ext>
            </a:extLst>
          </p:cNvPr>
          <p:cNvSpPr txBox="1"/>
          <p:nvPr/>
        </p:nvSpPr>
        <p:spPr>
          <a:xfrm>
            <a:off x="8465632" y="1899138"/>
            <a:ext cx="2060179" cy="400110"/>
          </a:xfrm>
          <a:prstGeom prst="rect">
            <a:avLst/>
          </a:prstGeom>
          <a:noFill/>
        </p:spPr>
        <p:txBody>
          <a:bodyPr wrap="none" rtlCol="0">
            <a:spAutoFit/>
          </a:bodyPr>
          <a:lstStyle/>
          <a:p>
            <a:pPr algn="l"/>
            <a:r>
              <a:rPr lang="en-US" altLang="zh-CN" sz="2000" b="0" i="0" dirty="0">
                <a:solidFill>
                  <a:schemeClr val="bg1"/>
                </a:solidFill>
                <a:effectLst/>
                <a:latin typeface="Roboto" panose="02000000000000000000" pitchFamily="2" charset="0"/>
              </a:rPr>
              <a:t>Created in China</a:t>
            </a:r>
            <a:endParaRPr lang="zh-CN" altLang="en-US" sz="2000" dirty="0">
              <a:solidFill>
                <a:schemeClr val="bg1"/>
              </a:solidFill>
              <a:latin typeface="Roboto" panose="02000000000000000000" pitchFamily="2" charset="0"/>
              <a:ea typeface="微软雅黑 Light" panose="020B0502040204020203" pitchFamily="34" charset="-122"/>
            </a:endParaRPr>
          </a:p>
        </p:txBody>
      </p:sp>
      <p:sp>
        <p:nvSpPr>
          <p:cNvPr id="3" name="文本框 2">
            <a:extLst>
              <a:ext uri="{FF2B5EF4-FFF2-40B4-BE49-F238E27FC236}">
                <a16:creationId xmlns:a16="http://schemas.microsoft.com/office/drawing/2014/main" id="{E8FAC6EE-38A1-4BC6-96A8-BD02911A541F}"/>
              </a:ext>
            </a:extLst>
          </p:cNvPr>
          <p:cNvSpPr txBox="1"/>
          <p:nvPr/>
        </p:nvSpPr>
        <p:spPr>
          <a:xfrm>
            <a:off x="1601831" y="4290646"/>
            <a:ext cx="1811714" cy="400110"/>
          </a:xfrm>
          <a:prstGeom prst="rect">
            <a:avLst/>
          </a:prstGeom>
          <a:noFill/>
        </p:spPr>
        <p:txBody>
          <a:bodyPr wrap="none" rtlCol="0">
            <a:spAutoFit/>
          </a:bodyPr>
          <a:lstStyle/>
          <a:p>
            <a:pPr algn="l"/>
            <a:r>
              <a:rPr lang="en-US" altLang="zh-CN" sz="2000" dirty="0">
                <a:solidFill>
                  <a:schemeClr val="bg1"/>
                </a:solidFill>
                <a:latin typeface="Roboto" panose="02000000000000000000" pitchFamily="2" charset="0"/>
              </a:rPr>
              <a:t>M</a:t>
            </a:r>
            <a:r>
              <a:rPr lang="en-US" altLang="zh-CN" sz="2000" b="0" i="0" dirty="0">
                <a:solidFill>
                  <a:schemeClr val="bg1"/>
                </a:solidFill>
                <a:effectLst/>
                <a:latin typeface="Roboto" panose="02000000000000000000" pitchFamily="2" charset="0"/>
              </a:rPr>
              <a:t>ade in China</a:t>
            </a:r>
            <a:endParaRPr lang="zh-CN" altLang="en-US" sz="2000" dirty="0">
              <a:solidFill>
                <a:schemeClr val="bg1"/>
              </a:solidFill>
              <a:latin typeface="Roboto" panose="020000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89255BCC-6FC0-4D10-8B32-AC1BC5B191B7}"/>
              </a:ext>
            </a:extLst>
          </p:cNvPr>
          <p:cNvSpPr txBox="1"/>
          <p:nvPr/>
        </p:nvSpPr>
        <p:spPr>
          <a:xfrm>
            <a:off x="1946476" y="4690756"/>
            <a:ext cx="1218603"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中国制造</a:t>
            </a:r>
          </a:p>
        </p:txBody>
      </p:sp>
      <p:sp>
        <p:nvSpPr>
          <p:cNvPr id="5" name="文本框 4">
            <a:extLst>
              <a:ext uri="{FF2B5EF4-FFF2-40B4-BE49-F238E27FC236}">
                <a16:creationId xmlns:a16="http://schemas.microsoft.com/office/drawing/2014/main" id="{644F2C32-9A55-4118-AD58-5CBF17BEB4F3}"/>
              </a:ext>
            </a:extLst>
          </p:cNvPr>
          <p:cNvSpPr txBox="1"/>
          <p:nvPr/>
        </p:nvSpPr>
        <p:spPr>
          <a:xfrm>
            <a:off x="8465632" y="2299248"/>
            <a:ext cx="1210588"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中国创造</a:t>
            </a:r>
          </a:p>
        </p:txBody>
      </p:sp>
      <p:sp>
        <p:nvSpPr>
          <p:cNvPr id="6" name="弧形 5">
            <a:extLst>
              <a:ext uri="{FF2B5EF4-FFF2-40B4-BE49-F238E27FC236}">
                <a16:creationId xmlns:a16="http://schemas.microsoft.com/office/drawing/2014/main" id="{23D8CDB5-C0B3-4C99-BE5B-01450E976D39}"/>
              </a:ext>
            </a:extLst>
          </p:cNvPr>
          <p:cNvSpPr/>
          <p:nvPr/>
        </p:nvSpPr>
        <p:spPr>
          <a:xfrm>
            <a:off x="-1386420" y="426491"/>
            <a:ext cx="9824350" cy="4064210"/>
          </a:xfrm>
          <a:prstGeom prst="arc">
            <a:avLst>
              <a:gd name="adj1" fmla="val 4826"/>
              <a:gd name="adj2" fmla="val 5054766"/>
            </a:avLst>
          </a:prstGeom>
          <a:noFill/>
          <a:ln w="76200">
            <a:gradFill>
              <a:gsLst>
                <a:gs pos="0">
                  <a:schemeClr val="accent1">
                    <a:lumMod val="5000"/>
                    <a:lumOff val="95000"/>
                    <a:alpha val="0"/>
                  </a:schemeClr>
                </a:gs>
                <a:gs pos="100000">
                  <a:srgbClr val="FFFF00"/>
                </a:gs>
              </a:gsLst>
              <a:lin ang="0" scaled="0"/>
            </a:gradFill>
            <a:headEnd type="triangle"/>
            <a:tailEnd type="none"/>
          </a:ln>
        </p:spPr>
        <p:style>
          <a:lnRef idx="1">
            <a:schemeClr val="accent4"/>
          </a:lnRef>
          <a:fillRef idx="0">
            <a:schemeClr val="accent4"/>
          </a:fillRef>
          <a:effectRef idx="0">
            <a:schemeClr val="accent4"/>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8073914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FC264B3A-6D47-4952-A381-21D3E99273D5}"/>
              </a:ext>
            </a:extLst>
          </p:cNvPr>
          <p:cNvGraphicFramePr/>
          <p:nvPr>
            <p:extLst>
              <p:ext uri="{D42A27DB-BD31-4B8C-83A1-F6EECF244321}">
                <p14:modId xmlns:p14="http://schemas.microsoft.com/office/powerpoint/2010/main" val="2803764270"/>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214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79737484-ECD8-490E-8E0C-4D4260DF3080}"/>
              </a:ext>
            </a:extLst>
          </p:cNvPr>
          <p:cNvGraphicFramePr/>
          <p:nvPr>
            <p:extLst>
              <p:ext uri="{D42A27DB-BD31-4B8C-83A1-F6EECF244321}">
                <p14:modId xmlns:p14="http://schemas.microsoft.com/office/powerpoint/2010/main" val="38997108"/>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87810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图表 9">
            <a:extLst>
              <a:ext uri="{FF2B5EF4-FFF2-40B4-BE49-F238E27FC236}">
                <a16:creationId xmlns:a16="http://schemas.microsoft.com/office/drawing/2014/main" id="{CF7C6C32-F913-4134-A72F-FBEA5CDAE86B}"/>
              </a:ext>
            </a:extLst>
          </p:cNvPr>
          <p:cNvGraphicFramePr/>
          <p:nvPr>
            <p:extLst>
              <p:ext uri="{D42A27DB-BD31-4B8C-83A1-F6EECF244321}">
                <p14:modId xmlns:p14="http://schemas.microsoft.com/office/powerpoint/2010/main" val="479560662"/>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07673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F389DE1-03BA-47FB-B5D0-35248BEA68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300" t="15751" r="4500" b="3035"/>
          <a:stretch/>
        </p:blipFill>
        <p:spPr bwMode="auto">
          <a:xfrm>
            <a:off x="1752600" y="752475"/>
            <a:ext cx="8686800" cy="5353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8215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C8A686BF-1FBB-3719-B865-BD417AE4E6F2}"/>
              </a:ext>
            </a:extLst>
          </p:cNvPr>
          <p:cNvSpPr/>
          <p:nvPr/>
        </p:nvSpPr>
        <p:spPr>
          <a:xfrm>
            <a:off x="4296000" y="1629000"/>
            <a:ext cx="3600000" cy="3600000"/>
          </a:xfrm>
          <a:prstGeom prst="ellipse">
            <a:avLst/>
          </a:pr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68388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3CA667D1-23A4-4338-8717-C6F5DE987C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833" b="8750"/>
          <a:stretch/>
        </p:blipFill>
        <p:spPr bwMode="auto">
          <a:xfrm>
            <a:off x="0" y="0"/>
            <a:ext cx="12192000" cy="6200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3282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90FACAB6-CCFC-4CD6-A503-BA475979AF5E}"/>
              </a:ext>
            </a:extLst>
          </p:cNvPr>
          <p:cNvGrpSpPr/>
          <p:nvPr/>
        </p:nvGrpSpPr>
        <p:grpSpPr>
          <a:xfrm>
            <a:off x="3352488" y="3074150"/>
            <a:ext cx="1563249" cy="2632241"/>
            <a:chOff x="3352488" y="3729930"/>
            <a:chExt cx="1563249" cy="2632241"/>
          </a:xfrm>
        </p:grpSpPr>
        <p:grpSp>
          <p:nvGrpSpPr>
            <p:cNvPr id="10" name="Group 30">
              <a:extLst>
                <a:ext uri="{FF2B5EF4-FFF2-40B4-BE49-F238E27FC236}">
                  <a16:creationId xmlns:a16="http://schemas.microsoft.com/office/drawing/2014/main" id="{8526D69B-D8BB-42BF-9816-3EAB58160843}"/>
                </a:ext>
              </a:extLst>
            </p:cNvPr>
            <p:cNvGrpSpPr/>
            <p:nvPr/>
          </p:nvGrpSpPr>
          <p:grpSpPr>
            <a:xfrm>
              <a:off x="3638879" y="4646309"/>
              <a:ext cx="990469" cy="1185334"/>
              <a:chOff x="1127125" y="958850"/>
              <a:chExt cx="371476" cy="444500"/>
            </a:xfrm>
            <a:noFill/>
          </p:grpSpPr>
          <p:sp>
            <p:nvSpPr>
              <p:cNvPr id="16" name="Freeform 47">
                <a:extLst>
                  <a:ext uri="{FF2B5EF4-FFF2-40B4-BE49-F238E27FC236}">
                    <a16:creationId xmlns:a16="http://schemas.microsoft.com/office/drawing/2014/main" id="{F0FF364B-76C4-4678-A00C-57BBAF632838}"/>
                  </a:ext>
                </a:extLst>
              </p:cNvPr>
              <p:cNvSpPr/>
              <p:nvPr/>
            </p:nvSpPr>
            <p:spPr bwMode="auto">
              <a:xfrm>
                <a:off x="1127125" y="1069975"/>
                <a:ext cx="185738" cy="333375"/>
              </a:xfrm>
              <a:custGeom>
                <a:avLst/>
                <a:gdLst/>
                <a:ahLst/>
                <a:cxnLst>
                  <a:cxn ang="0">
                    <a:pos x="0" y="140"/>
                  </a:cxn>
                  <a:cxn ang="0">
                    <a:pos x="117" y="210"/>
                  </a:cxn>
                  <a:cxn ang="0">
                    <a:pos x="117" y="70"/>
                  </a:cxn>
                  <a:cxn ang="0">
                    <a:pos x="0" y="0"/>
                  </a:cxn>
                  <a:cxn ang="0">
                    <a:pos x="0" y="140"/>
                  </a:cxn>
                </a:cxnLst>
                <a:rect l="0" t="0" r="r" b="b"/>
                <a:pathLst>
                  <a:path w="117" h="210">
                    <a:moveTo>
                      <a:pt x="0" y="140"/>
                    </a:moveTo>
                    <a:lnTo>
                      <a:pt x="117" y="210"/>
                    </a:lnTo>
                    <a:lnTo>
                      <a:pt x="117" y="70"/>
                    </a:lnTo>
                    <a:lnTo>
                      <a:pt x="0" y="0"/>
                    </a:lnTo>
                    <a:lnTo>
                      <a:pt x="0"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7" name="Freeform 48">
                <a:extLst>
                  <a:ext uri="{FF2B5EF4-FFF2-40B4-BE49-F238E27FC236}">
                    <a16:creationId xmlns:a16="http://schemas.microsoft.com/office/drawing/2014/main" id="{CBB672CF-29AE-4F31-B77C-C9D2145ECB44}"/>
                  </a:ext>
                </a:extLst>
              </p:cNvPr>
              <p:cNvSpPr/>
              <p:nvPr/>
            </p:nvSpPr>
            <p:spPr bwMode="auto">
              <a:xfrm>
                <a:off x="1312863" y="1069975"/>
                <a:ext cx="185738" cy="333375"/>
              </a:xfrm>
              <a:custGeom>
                <a:avLst/>
                <a:gdLst/>
                <a:ahLst/>
                <a:cxnLst>
                  <a:cxn ang="0">
                    <a:pos x="117" y="140"/>
                  </a:cxn>
                  <a:cxn ang="0">
                    <a:pos x="0" y="210"/>
                  </a:cxn>
                  <a:cxn ang="0">
                    <a:pos x="0" y="70"/>
                  </a:cxn>
                  <a:cxn ang="0">
                    <a:pos x="117" y="0"/>
                  </a:cxn>
                  <a:cxn ang="0">
                    <a:pos x="117" y="140"/>
                  </a:cxn>
                </a:cxnLst>
                <a:rect l="0" t="0" r="r" b="b"/>
                <a:pathLst>
                  <a:path w="117" h="210">
                    <a:moveTo>
                      <a:pt x="117" y="140"/>
                    </a:moveTo>
                    <a:lnTo>
                      <a:pt x="0" y="210"/>
                    </a:lnTo>
                    <a:lnTo>
                      <a:pt x="0" y="70"/>
                    </a:lnTo>
                    <a:lnTo>
                      <a:pt x="117" y="0"/>
                    </a:lnTo>
                    <a:lnTo>
                      <a:pt x="117"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8" name="Freeform 49">
                <a:extLst>
                  <a:ext uri="{FF2B5EF4-FFF2-40B4-BE49-F238E27FC236}">
                    <a16:creationId xmlns:a16="http://schemas.microsoft.com/office/drawing/2014/main" id="{9E06D41C-106E-4636-9C75-80D7D011F845}"/>
                  </a:ext>
                </a:extLst>
              </p:cNvPr>
              <p:cNvSpPr/>
              <p:nvPr/>
            </p:nvSpPr>
            <p:spPr bwMode="auto">
              <a:xfrm>
                <a:off x="1127125" y="958850"/>
                <a:ext cx="371475" cy="222250"/>
              </a:xfrm>
              <a:custGeom>
                <a:avLst/>
                <a:gdLst/>
                <a:ahLst/>
                <a:cxnLst>
                  <a:cxn ang="0">
                    <a:pos x="0" y="70"/>
                  </a:cxn>
                  <a:cxn ang="0">
                    <a:pos x="117" y="0"/>
                  </a:cxn>
                  <a:cxn ang="0">
                    <a:pos x="234" y="70"/>
                  </a:cxn>
                  <a:cxn ang="0">
                    <a:pos x="117" y="140"/>
                  </a:cxn>
                  <a:cxn ang="0">
                    <a:pos x="0" y="70"/>
                  </a:cxn>
                </a:cxnLst>
                <a:rect l="0" t="0" r="r" b="b"/>
                <a:pathLst>
                  <a:path w="234" h="140">
                    <a:moveTo>
                      <a:pt x="0" y="70"/>
                    </a:moveTo>
                    <a:lnTo>
                      <a:pt x="117" y="0"/>
                    </a:lnTo>
                    <a:lnTo>
                      <a:pt x="234" y="70"/>
                    </a:lnTo>
                    <a:lnTo>
                      <a:pt x="117" y="140"/>
                    </a:lnTo>
                    <a:lnTo>
                      <a:pt x="0" y="70"/>
                    </a:lnTo>
                    <a:close/>
                  </a:path>
                </a:pathLst>
              </a:custGeom>
              <a:ln/>
            </p:spPr>
            <p:style>
              <a:lnRef idx="0">
                <a:schemeClr val="accent3"/>
              </a:lnRef>
              <a:fillRef idx="3">
                <a:schemeClr val="accent3"/>
              </a:fillRef>
              <a:effectRef idx="3">
                <a:schemeClr val="accent3"/>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11" name="组合 10">
              <a:extLst>
                <a:ext uri="{FF2B5EF4-FFF2-40B4-BE49-F238E27FC236}">
                  <a16:creationId xmlns:a16="http://schemas.microsoft.com/office/drawing/2014/main" id="{AC1A3911-AF4D-4B5F-87C9-D6B1A1D39C58}"/>
                </a:ext>
              </a:extLst>
            </p:cNvPr>
            <p:cNvGrpSpPr>
              <a:grpSpLocks noChangeAspect="1"/>
            </p:cNvGrpSpPr>
            <p:nvPr/>
          </p:nvGrpSpPr>
          <p:grpSpPr>
            <a:xfrm>
              <a:off x="3954113" y="4142261"/>
              <a:ext cx="360000" cy="832133"/>
              <a:chOff x="474744" y="2898843"/>
              <a:chExt cx="668454" cy="1545115"/>
            </a:xfrm>
            <a:solidFill>
              <a:schemeClr val="tx1"/>
            </a:solidFill>
          </p:grpSpPr>
          <p:sp>
            <p:nvSpPr>
              <p:cNvPr id="14" name="Freeform 96">
                <a:extLst>
                  <a:ext uri="{FF2B5EF4-FFF2-40B4-BE49-F238E27FC236}">
                    <a16:creationId xmlns:a16="http://schemas.microsoft.com/office/drawing/2014/main" id="{A5095D8A-42F2-4F68-AE4D-4C66CD668E3D}"/>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5" name="Oval 97">
                <a:extLst>
                  <a:ext uri="{FF2B5EF4-FFF2-40B4-BE49-F238E27FC236}">
                    <a16:creationId xmlns:a16="http://schemas.microsoft.com/office/drawing/2014/main" id="{734511E3-EC48-4C59-AF5C-EA212D96D6B8}"/>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12" name="文本框 11">
              <a:extLst>
                <a:ext uri="{FF2B5EF4-FFF2-40B4-BE49-F238E27FC236}">
                  <a16:creationId xmlns:a16="http://schemas.microsoft.com/office/drawing/2014/main" id="{457D4B35-3E97-4161-9D69-5281203FED43}"/>
                </a:ext>
              </a:extLst>
            </p:cNvPr>
            <p:cNvSpPr txBox="1"/>
            <p:nvPr/>
          </p:nvSpPr>
          <p:spPr>
            <a:xfrm>
              <a:off x="3352488" y="3729930"/>
              <a:ext cx="1563249" cy="369332"/>
            </a:xfrm>
            <a:prstGeom prst="rect">
              <a:avLst/>
            </a:prstGeom>
            <a:noFill/>
          </p:spPr>
          <p:txBody>
            <a:bodyPr wrap="none" rtlCol="0">
              <a:spAutoFit/>
            </a:bodyPr>
            <a:lstStyle/>
            <a:p>
              <a:pPr algn="ctr"/>
              <a:r>
                <a:rPr lang="en-US" altLang="zh-CN" dirty="0"/>
                <a:t>Understand</a:t>
              </a:r>
              <a:endParaRPr lang="zh-CN" altLang="en-US" dirty="0"/>
            </a:p>
          </p:txBody>
        </p:sp>
        <p:sp>
          <p:nvSpPr>
            <p:cNvPr id="13" name="文本框 12">
              <a:extLst>
                <a:ext uri="{FF2B5EF4-FFF2-40B4-BE49-F238E27FC236}">
                  <a16:creationId xmlns:a16="http://schemas.microsoft.com/office/drawing/2014/main" id="{2BB61003-BFD0-49CF-AD6B-06790D752A46}"/>
                </a:ext>
              </a:extLst>
            </p:cNvPr>
            <p:cNvSpPr txBox="1"/>
            <p:nvPr/>
          </p:nvSpPr>
          <p:spPr>
            <a:xfrm>
              <a:off x="3490345" y="5992839"/>
              <a:ext cx="1287533" cy="369332"/>
            </a:xfrm>
            <a:prstGeom prst="rect">
              <a:avLst/>
            </a:prstGeom>
            <a:noFill/>
          </p:spPr>
          <p:txBody>
            <a:bodyPr wrap="none" rtlCol="0">
              <a:spAutoFit/>
            </a:bodyPr>
            <a:lstStyle/>
            <a:p>
              <a:pPr algn="ctr"/>
              <a:r>
                <a:rPr lang="en-US" altLang="zh-CN" dirty="0"/>
                <a:t>Bachelor</a:t>
              </a:r>
              <a:endParaRPr lang="zh-CN" altLang="en-US" dirty="0"/>
            </a:p>
          </p:txBody>
        </p:sp>
      </p:grpSp>
      <p:grpSp>
        <p:nvGrpSpPr>
          <p:cNvPr id="19" name="组合 18">
            <a:extLst>
              <a:ext uri="{FF2B5EF4-FFF2-40B4-BE49-F238E27FC236}">
                <a16:creationId xmlns:a16="http://schemas.microsoft.com/office/drawing/2014/main" id="{B09B8587-6059-4754-9153-21F6B2304C29}"/>
              </a:ext>
            </a:extLst>
          </p:cNvPr>
          <p:cNvGrpSpPr/>
          <p:nvPr/>
        </p:nvGrpSpPr>
        <p:grpSpPr>
          <a:xfrm>
            <a:off x="5524679" y="2282814"/>
            <a:ext cx="1077231" cy="3423577"/>
            <a:chOff x="5524679" y="2938594"/>
            <a:chExt cx="1077231" cy="3423577"/>
          </a:xfrm>
        </p:grpSpPr>
        <p:grpSp>
          <p:nvGrpSpPr>
            <p:cNvPr id="20" name="Group 22">
              <a:extLst>
                <a:ext uri="{FF2B5EF4-FFF2-40B4-BE49-F238E27FC236}">
                  <a16:creationId xmlns:a16="http://schemas.microsoft.com/office/drawing/2014/main" id="{79444761-1574-4DCA-8A19-07231D5E0249}"/>
                </a:ext>
              </a:extLst>
            </p:cNvPr>
            <p:cNvGrpSpPr/>
            <p:nvPr/>
          </p:nvGrpSpPr>
          <p:grpSpPr>
            <a:xfrm>
              <a:off x="5600767" y="3833509"/>
              <a:ext cx="990469" cy="1981203"/>
              <a:chOff x="2463800" y="660400"/>
              <a:chExt cx="371476" cy="742951"/>
            </a:xfrm>
            <a:noFill/>
          </p:grpSpPr>
          <p:sp>
            <p:nvSpPr>
              <p:cNvPr id="26" name="Freeform 41">
                <a:extLst>
                  <a:ext uri="{FF2B5EF4-FFF2-40B4-BE49-F238E27FC236}">
                    <a16:creationId xmlns:a16="http://schemas.microsoft.com/office/drawing/2014/main" id="{C5A32298-DA61-44FF-806F-864BB358072D}"/>
                  </a:ext>
                </a:extLst>
              </p:cNvPr>
              <p:cNvSpPr/>
              <p:nvPr/>
            </p:nvSpPr>
            <p:spPr bwMode="auto">
              <a:xfrm>
                <a:off x="2463800" y="773113"/>
                <a:ext cx="185738" cy="630238"/>
              </a:xfrm>
              <a:custGeom>
                <a:avLst/>
                <a:gdLst/>
                <a:ahLst/>
                <a:cxnLst>
                  <a:cxn ang="0">
                    <a:pos x="0" y="327"/>
                  </a:cxn>
                  <a:cxn ang="0">
                    <a:pos x="117" y="397"/>
                  </a:cxn>
                  <a:cxn ang="0">
                    <a:pos x="117" y="69"/>
                  </a:cxn>
                  <a:cxn ang="0">
                    <a:pos x="0" y="0"/>
                  </a:cxn>
                  <a:cxn ang="0">
                    <a:pos x="0" y="327"/>
                  </a:cxn>
                </a:cxnLst>
                <a:rect l="0" t="0" r="r" b="b"/>
                <a:pathLst>
                  <a:path w="117" h="397">
                    <a:moveTo>
                      <a:pt x="0" y="327"/>
                    </a:moveTo>
                    <a:lnTo>
                      <a:pt x="117" y="397"/>
                    </a:lnTo>
                    <a:lnTo>
                      <a:pt x="117" y="69"/>
                    </a:lnTo>
                    <a:lnTo>
                      <a:pt x="0" y="0"/>
                    </a:lnTo>
                    <a:lnTo>
                      <a:pt x="0"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7" name="Freeform 42">
                <a:extLst>
                  <a:ext uri="{FF2B5EF4-FFF2-40B4-BE49-F238E27FC236}">
                    <a16:creationId xmlns:a16="http://schemas.microsoft.com/office/drawing/2014/main" id="{6D13C649-AB64-49F7-BA66-2C2CFF44359C}"/>
                  </a:ext>
                </a:extLst>
              </p:cNvPr>
              <p:cNvSpPr/>
              <p:nvPr/>
            </p:nvSpPr>
            <p:spPr bwMode="auto">
              <a:xfrm>
                <a:off x="2649538" y="773113"/>
                <a:ext cx="185738" cy="630238"/>
              </a:xfrm>
              <a:custGeom>
                <a:avLst/>
                <a:gdLst/>
                <a:ahLst/>
                <a:cxnLst>
                  <a:cxn ang="0">
                    <a:pos x="117" y="327"/>
                  </a:cxn>
                  <a:cxn ang="0">
                    <a:pos x="0" y="397"/>
                  </a:cxn>
                  <a:cxn ang="0">
                    <a:pos x="0" y="69"/>
                  </a:cxn>
                  <a:cxn ang="0">
                    <a:pos x="117" y="0"/>
                  </a:cxn>
                  <a:cxn ang="0">
                    <a:pos x="117" y="327"/>
                  </a:cxn>
                </a:cxnLst>
                <a:rect l="0" t="0" r="r" b="b"/>
                <a:pathLst>
                  <a:path w="117" h="397">
                    <a:moveTo>
                      <a:pt x="117" y="327"/>
                    </a:moveTo>
                    <a:lnTo>
                      <a:pt x="0" y="397"/>
                    </a:lnTo>
                    <a:lnTo>
                      <a:pt x="0" y="69"/>
                    </a:lnTo>
                    <a:lnTo>
                      <a:pt x="117" y="0"/>
                    </a:lnTo>
                    <a:lnTo>
                      <a:pt x="117"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8" name="Freeform 43">
                <a:extLst>
                  <a:ext uri="{FF2B5EF4-FFF2-40B4-BE49-F238E27FC236}">
                    <a16:creationId xmlns:a16="http://schemas.microsoft.com/office/drawing/2014/main" id="{CDEFD300-A355-4CAD-9D50-E0DD0305C795}"/>
                  </a:ext>
                </a:extLst>
              </p:cNvPr>
              <p:cNvSpPr/>
              <p:nvPr/>
            </p:nvSpPr>
            <p:spPr bwMode="auto">
              <a:xfrm>
                <a:off x="2463800" y="660400"/>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6"/>
              </a:lnRef>
              <a:fillRef idx="3">
                <a:schemeClr val="accent6"/>
              </a:fillRef>
              <a:effectRef idx="3">
                <a:schemeClr val="accent6"/>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21" name="组合 20">
              <a:extLst>
                <a:ext uri="{FF2B5EF4-FFF2-40B4-BE49-F238E27FC236}">
                  <a16:creationId xmlns:a16="http://schemas.microsoft.com/office/drawing/2014/main" id="{308C70CA-E915-4A79-AB62-A52C9F80C8B0}"/>
                </a:ext>
              </a:extLst>
            </p:cNvPr>
            <p:cNvGrpSpPr>
              <a:grpSpLocks noChangeAspect="1"/>
            </p:cNvGrpSpPr>
            <p:nvPr/>
          </p:nvGrpSpPr>
          <p:grpSpPr>
            <a:xfrm>
              <a:off x="5916001" y="3322947"/>
              <a:ext cx="360000" cy="832133"/>
              <a:chOff x="474744" y="2898843"/>
              <a:chExt cx="668454" cy="1545115"/>
            </a:xfrm>
            <a:solidFill>
              <a:schemeClr val="tx1"/>
            </a:solidFill>
          </p:grpSpPr>
          <p:sp>
            <p:nvSpPr>
              <p:cNvPr id="24" name="Freeform 96">
                <a:extLst>
                  <a:ext uri="{FF2B5EF4-FFF2-40B4-BE49-F238E27FC236}">
                    <a16:creationId xmlns:a16="http://schemas.microsoft.com/office/drawing/2014/main" id="{D11BADDC-472C-4728-979E-42CF571FDEE0}"/>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5" name="Oval 97">
                <a:extLst>
                  <a:ext uri="{FF2B5EF4-FFF2-40B4-BE49-F238E27FC236}">
                    <a16:creationId xmlns:a16="http://schemas.microsoft.com/office/drawing/2014/main" id="{636FF0BF-9D5C-4660-98D7-3716786D0CF0}"/>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22" name="文本框 21">
              <a:extLst>
                <a:ext uri="{FF2B5EF4-FFF2-40B4-BE49-F238E27FC236}">
                  <a16:creationId xmlns:a16="http://schemas.microsoft.com/office/drawing/2014/main" id="{7C1AB63D-8008-42AB-A4D4-39CB115B1169}"/>
                </a:ext>
              </a:extLst>
            </p:cNvPr>
            <p:cNvSpPr txBox="1"/>
            <p:nvPr/>
          </p:nvSpPr>
          <p:spPr>
            <a:xfrm>
              <a:off x="5590094" y="2938594"/>
              <a:ext cx="1011816" cy="369332"/>
            </a:xfrm>
            <a:prstGeom prst="rect">
              <a:avLst/>
            </a:prstGeom>
            <a:noFill/>
          </p:spPr>
          <p:txBody>
            <a:bodyPr wrap="none" rtlCol="0">
              <a:spAutoFit/>
            </a:bodyPr>
            <a:lstStyle/>
            <a:p>
              <a:pPr algn="ctr"/>
              <a:r>
                <a:rPr lang="en-US" altLang="zh-CN"/>
                <a:t>C</a:t>
              </a:r>
              <a:r>
                <a:rPr lang="en-US" altLang="zh-CN" dirty="0"/>
                <a:t>hange</a:t>
              </a:r>
              <a:endParaRPr lang="zh-CN" altLang="en-US" dirty="0"/>
            </a:p>
          </p:txBody>
        </p:sp>
        <p:sp>
          <p:nvSpPr>
            <p:cNvPr id="23" name="文本框 22">
              <a:extLst>
                <a:ext uri="{FF2B5EF4-FFF2-40B4-BE49-F238E27FC236}">
                  <a16:creationId xmlns:a16="http://schemas.microsoft.com/office/drawing/2014/main" id="{BCA96FB5-CFF5-42DD-9269-80203CB8B51A}"/>
                </a:ext>
              </a:extLst>
            </p:cNvPr>
            <p:cNvSpPr txBox="1"/>
            <p:nvPr/>
          </p:nvSpPr>
          <p:spPr>
            <a:xfrm>
              <a:off x="5524679" y="5992839"/>
              <a:ext cx="1011816" cy="369332"/>
            </a:xfrm>
            <a:prstGeom prst="rect">
              <a:avLst/>
            </a:prstGeom>
            <a:noFill/>
          </p:spPr>
          <p:txBody>
            <a:bodyPr wrap="none" rtlCol="0">
              <a:spAutoFit/>
            </a:bodyPr>
            <a:lstStyle/>
            <a:p>
              <a:pPr algn="ctr"/>
              <a:r>
                <a:rPr lang="en-US" altLang="zh-CN" dirty="0"/>
                <a:t>Master</a:t>
              </a:r>
              <a:endParaRPr lang="zh-CN" altLang="en-US" dirty="0"/>
            </a:p>
          </p:txBody>
        </p:sp>
      </p:grpSp>
      <p:grpSp>
        <p:nvGrpSpPr>
          <p:cNvPr id="29" name="组合 28">
            <a:extLst>
              <a:ext uri="{FF2B5EF4-FFF2-40B4-BE49-F238E27FC236}">
                <a16:creationId xmlns:a16="http://schemas.microsoft.com/office/drawing/2014/main" id="{19A9A619-E102-49F5-81D0-A897E71D956B}"/>
              </a:ext>
            </a:extLst>
          </p:cNvPr>
          <p:cNvGrpSpPr/>
          <p:nvPr/>
        </p:nvGrpSpPr>
        <p:grpSpPr>
          <a:xfrm>
            <a:off x="7551983" y="750649"/>
            <a:ext cx="1011818" cy="4955742"/>
            <a:chOff x="7551983" y="1406429"/>
            <a:chExt cx="1011818" cy="4955742"/>
          </a:xfrm>
        </p:grpSpPr>
        <p:grpSp>
          <p:nvGrpSpPr>
            <p:cNvPr id="30" name="Group 26">
              <a:extLst>
                <a:ext uri="{FF2B5EF4-FFF2-40B4-BE49-F238E27FC236}">
                  <a16:creationId xmlns:a16="http://schemas.microsoft.com/office/drawing/2014/main" id="{A03723FB-BC5F-4FC3-9BB3-AAE003BEC833}"/>
                </a:ext>
              </a:extLst>
            </p:cNvPr>
            <p:cNvGrpSpPr/>
            <p:nvPr/>
          </p:nvGrpSpPr>
          <p:grpSpPr>
            <a:xfrm>
              <a:off x="7562655" y="2368774"/>
              <a:ext cx="990466" cy="3462870"/>
              <a:chOff x="3798888" y="104775"/>
              <a:chExt cx="371475" cy="1298576"/>
            </a:xfrm>
            <a:noFill/>
          </p:grpSpPr>
          <p:sp>
            <p:nvSpPr>
              <p:cNvPr id="36" name="Freeform 44">
                <a:extLst>
                  <a:ext uri="{FF2B5EF4-FFF2-40B4-BE49-F238E27FC236}">
                    <a16:creationId xmlns:a16="http://schemas.microsoft.com/office/drawing/2014/main" id="{28C16089-1E12-4DAD-AE57-A00C2524B09A}"/>
                  </a:ext>
                </a:extLst>
              </p:cNvPr>
              <p:cNvSpPr/>
              <p:nvPr/>
            </p:nvSpPr>
            <p:spPr bwMode="auto">
              <a:xfrm>
                <a:off x="3798888" y="217488"/>
                <a:ext cx="185738" cy="1185863"/>
              </a:xfrm>
              <a:custGeom>
                <a:avLst/>
                <a:gdLst/>
                <a:ahLst/>
                <a:cxnLst>
                  <a:cxn ang="0">
                    <a:pos x="0" y="677"/>
                  </a:cxn>
                  <a:cxn ang="0">
                    <a:pos x="117" y="747"/>
                  </a:cxn>
                  <a:cxn ang="0">
                    <a:pos x="117" y="69"/>
                  </a:cxn>
                  <a:cxn ang="0">
                    <a:pos x="0" y="0"/>
                  </a:cxn>
                  <a:cxn ang="0">
                    <a:pos x="0" y="677"/>
                  </a:cxn>
                </a:cxnLst>
                <a:rect l="0" t="0" r="r" b="b"/>
                <a:pathLst>
                  <a:path w="117" h="747">
                    <a:moveTo>
                      <a:pt x="0" y="677"/>
                    </a:moveTo>
                    <a:lnTo>
                      <a:pt x="117" y="747"/>
                    </a:lnTo>
                    <a:lnTo>
                      <a:pt x="117" y="69"/>
                    </a:lnTo>
                    <a:lnTo>
                      <a:pt x="0" y="0"/>
                    </a:lnTo>
                    <a:lnTo>
                      <a:pt x="0"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7" name="Freeform 45">
                <a:extLst>
                  <a:ext uri="{FF2B5EF4-FFF2-40B4-BE49-F238E27FC236}">
                    <a16:creationId xmlns:a16="http://schemas.microsoft.com/office/drawing/2014/main" id="{1AD64092-0FA2-4AFE-8DA0-7EC6091F746C}"/>
                  </a:ext>
                </a:extLst>
              </p:cNvPr>
              <p:cNvSpPr/>
              <p:nvPr/>
            </p:nvSpPr>
            <p:spPr bwMode="auto">
              <a:xfrm>
                <a:off x="3984625" y="217488"/>
                <a:ext cx="185738" cy="1185863"/>
              </a:xfrm>
              <a:custGeom>
                <a:avLst/>
                <a:gdLst/>
                <a:ahLst/>
                <a:cxnLst>
                  <a:cxn ang="0">
                    <a:pos x="117" y="677"/>
                  </a:cxn>
                  <a:cxn ang="0">
                    <a:pos x="0" y="747"/>
                  </a:cxn>
                  <a:cxn ang="0">
                    <a:pos x="0" y="69"/>
                  </a:cxn>
                  <a:cxn ang="0">
                    <a:pos x="117" y="0"/>
                  </a:cxn>
                  <a:cxn ang="0">
                    <a:pos x="117" y="677"/>
                  </a:cxn>
                </a:cxnLst>
                <a:rect l="0" t="0" r="r" b="b"/>
                <a:pathLst>
                  <a:path w="117" h="747">
                    <a:moveTo>
                      <a:pt x="117" y="677"/>
                    </a:moveTo>
                    <a:lnTo>
                      <a:pt x="0" y="747"/>
                    </a:lnTo>
                    <a:lnTo>
                      <a:pt x="0" y="69"/>
                    </a:lnTo>
                    <a:lnTo>
                      <a:pt x="117" y="0"/>
                    </a:lnTo>
                    <a:lnTo>
                      <a:pt x="117"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8" name="Freeform 46">
                <a:extLst>
                  <a:ext uri="{FF2B5EF4-FFF2-40B4-BE49-F238E27FC236}">
                    <a16:creationId xmlns:a16="http://schemas.microsoft.com/office/drawing/2014/main" id="{E33D7F37-4ECD-4BD3-AED0-AD898D560576}"/>
                  </a:ext>
                </a:extLst>
              </p:cNvPr>
              <p:cNvSpPr/>
              <p:nvPr/>
            </p:nvSpPr>
            <p:spPr bwMode="auto">
              <a:xfrm>
                <a:off x="3798888" y="104775"/>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2"/>
              </a:lnRef>
              <a:fillRef idx="3">
                <a:schemeClr val="accent2"/>
              </a:fillRef>
              <a:effectRef idx="3">
                <a:schemeClr val="accent2"/>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31" name="组合 30">
              <a:extLst>
                <a:ext uri="{FF2B5EF4-FFF2-40B4-BE49-F238E27FC236}">
                  <a16:creationId xmlns:a16="http://schemas.microsoft.com/office/drawing/2014/main" id="{D12A7B12-A4EC-4348-9AA0-BD4D7EF61DC1}"/>
                </a:ext>
              </a:extLst>
            </p:cNvPr>
            <p:cNvGrpSpPr>
              <a:grpSpLocks noChangeAspect="1"/>
            </p:cNvGrpSpPr>
            <p:nvPr/>
          </p:nvGrpSpPr>
          <p:grpSpPr>
            <a:xfrm>
              <a:off x="7877888" y="1832974"/>
              <a:ext cx="360000" cy="832133"/>
              <a:chOff x="474744" y="2898843"/>
              <a:chExt cx="668454" cy="1545115"/>
            </a:xfrm>
            <a:solidFill>
              <a:schemeClr val="tx1"/>
            </a:solidFill>
          </p:grpSpPr>
          <p:sp>
            <p:nvSpPr>
              <p:cNvPr id="34" name="Freeform 96">
                <a:extLst>
                  <a:ext uri="{FF2B5EF4-FFF2-40B4-BE49-F238E27FC236}">
                    <a16:creationId xmlns:a16="http://schemas.microsoft.com/office/drawing/2014/main" id="{12DC2316-F902-40E8-9D2E-401341EA1002}"/>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5" name="Oval 97">
                <a:extLst>
                  <a:ext uri="{FF2B5EF4-FFF2-40B4-BE49-F238E27FC236}">
                    <a16:creationId xmlns:a16="http://schemas.microsoft.com/office/drawing/2014/main" id="{5D7501F7-2352-4075-B198-263371C81FAD}"/>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32" name="文本框 31">
              <a:extLst>
                <a:ext uri="{FF2B5EF4-FFF2-40B4-BE49-F238E27FC236}">
                  <a16:creationId xmlns:a16="http://schemas.microsoft.com/office/drawing/2014/main" id="{0B8C0961-A9FF-4939-9591-A367F68A6B1C}"/>
                </a:ext>
              </a:extLst>
            </p:cNvPr>
            <p:cNvSpPr txBox="1"/>
            <p:nvPr/>
          </p:nvSpPr>
          <p:spPr>
            <a:xfrm>
              <a:off x="7551983" y="1406429"/>
              <a:ext cx="1011815" cy="369332"/>
            </a:xfrm>
            <a:prstGeom prst="rect">
              <a:avLst/>
            </a:prstGeom>
            <a:noFill/>
          </p:spPr>
          <p:txBody>
            <a:bodyPr wrap="none" rtlCol="0">
              <a:spAutoFit/>
            </a:bodyPr>
            <a:lstStyle/>
            <a:p>
              <a:pPr algn="ctr"/>
              <a:r>
                <a:rPr lang="en-US" altLang="zh-CN" dirty="0"/>
                <a:t>Create</a:t>
              </a:r>
              <a:endParaRPr lang="zh-CN" altLang="en-US" dirty="0"/>
            </a:p>
          </p:txBody>
        </p:sp>
        <p:sp>
          <p:nvSpPr>
            <p:cNvPr id="33" name="文本框 32">
              <a:extLst>
                <a:ext uri="{FF2B5EF4-FFF2-40B4-BE49-F238E27FC236}">
                  <a16:creationId xmlns:a16="http://schemas.microsoft.com/office/drawing/2014/main" id="{C1A284B9-60B0-4F91-9EFE-4CB3417E8FAC}"/>
                </a:ext>
              </a:extLst>
            </p:cNvPr>
            <p:cNvSpPr txBox="1"/>
            <p:nvPr/>
          </p:nvSpPr>
          <p:spPr>
            <a:xfrm>
              <a:off x="7551985" y="5992839"/>
              <a:ext cx="1011816" cy="369332"/>
            </a:xfrm>
            <a:prstGeom prst="rect">
              <a:avLst/>
            </a:prstGeom>
            <a:noFill/>
          </p:spPr>
          <p:txBody>
            <a:bodyPr wrap="none" rtlCol="0">
              <a:spAutoFit/>
            </a:bodyPr>
            <a:lstStyle/>
            <a:p>
              <a:pPr algn="ctr"/>
              <a:r>
                <a:rPr lang="en-US" altLang="zh-CN" dirty="0"/>
                <a:t>Doctor</a:t>
              </a:r>
              <a:endParaRPr lang="zh-CN" altLang="en-US" dirty="0"/>
            </a:p>
          </p:txBody>
        </p:sp>
      </p:grpSp>
    </p:spTree>
    <p:extLst>
      <p:ext uri="{BB962C8B-B14F-4D97-AF65-F5344CB8AC3E}">
        <p14:creationId xmlns:p14="http://schemas.microsoft.com/office/powerpoint/2010/main" val="24604001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29"/>
                                        </p:tgtEl>
                                        <p:attrNameLst>
                                          <p:attrName>ppt_x</p:attrName>
                                        </p:attrNameLst>
                                      </p:cBhvr>
                                      <p:tavLst>
                                        <p:tav tm="0">
                                          <p:val>
                                            <p:strVal val="ppt_x"/>
                                          </p:val>
                                        </p:tav>
                                        <p:tav tm="100000">
                                          <p:val>
                                            <p:strVal val="ppt_x"/>
                                          </p:val>
                                        </p:tav>
                                      </p:tavLst>
                                    </p:anim>
                                    <p:anim calcmode="lin" valueType="num">
                                      <p:cBhvr additive="base">
                                        <p:cTn id="7" dur="500"/>
                                        <p:tgtEl>
                                          <p:spTgt spid="29"/>
                                        </p:tgtEl>
                                        <p:attrNameLst>
                                          <p:attrName>ppt_y</p:attrName>
                                        </p:attrNameLst>
                                      </p:cBhvr>
                                      <p:tavLst>
                                        <p:tav tm="0">
                                          <p:val>
                                            <p:strVal val="ppt_y"/>
                                          </p:val>
                                        </p:tav>
                                        <p:tav tm="100000">
                                          <p:val>
                                            <p:strVal val="1+ppt_h/2"/>
                                          </p:val>
                                        </p:tav>
                                      </p:tavLst>
                                    </p:anim>
                                    <p:set>
                                      <p:cBhvr>
                                        <p:cTn id="8" dur="1" fill="hold">
                                          <p:stCondLst>
                                            <p:cond delay="499"/>
                                          </p:stCondLst>
                                        </p:cTn>
                                        <p:tgtEl>
                                          <p:spTgt spid="29"/>
                                        </p:tgtEl>
                                        <p:attrNameLst>
                                          <p:attrName>style.visibility</p:attrName>
                                        </p:attrNameLst>
                                      </p:cBhvr>
                                      <p:to>
                                        <p:strVal val="hidden"/>
                                      </p:to>
                                    </p:set>
                                  </p:childTnLst>
                                </p:cTn>
                              </p:par>
                            </p:childTnLst>
                          </p:cTn>
                        </p:par>
                        <p:par>
                          <p:cTn id="9" fill="hold">
                            <p:stCondLst>
                              <p:cond delay="500"/>
                            </p:stCondLst>
                            <p:childTnLst>
                              <p:par>
                                <p:cTn id="10" presetID="2" presetClass="exit" presetSubtype="1" fill="hold" nodeType="afterEffect">
                                  <p:stCondLst>
                                    <p:cond delay="0"/>
                                  </p:stCondLst>
                                  <p:childTnLst>
                                    <p:anim calcmode="lin" valueType="num">
                                      <p:cBhvr additive="base">
                                        <p:cTn id="11" dur="500"/>
                                        <p:tgtEl>
                                          <p:spTgt spid="19"/>
                                        </p:tgtEl>
                                        <p:attrNameLst>
                                          <p:attrName>ppt_x</p:attrName>
                                        </p:attrNameLst>
                                      </p:cBhvr>
                                      <p:tavLst>
                                        <p:tav tm="0">
                                          <p:val>
                                            <p:strVal val="ppt_x"/>
                                          </p:val>
                                        </p:tav>
                                        <p:tav tm="100000">
                                          <p:val>
                                            <p:strVal val="ppt_x"/>
                                          </p:val>
                                        </p:tav>
                                      </p:tavLst>
                                    </p:anim>
                                    <p:anim calcmode="lin" valueType="num">
                                      <p:cBhvr additive="base">
                                        <p:cTn id="12" dur="500"/>
                                        <p:tgtEl>
                                          <p:spTgt spid="19"/>
                                        </p:tgtEl>
                                        <p:attrNameLst>
                                          <p:attrName>ppt_y</p:attrName>
                                        </p:attrNameLst>
                                      </p:cBhvr>
                                      <p:tavLst>
                                        <p:tav tm="0">
                                          <p:val>
                                            <p:strVal val="ppt_y"/>
                                          </p:val>
                                        </p:tav>
                                        <p:tav tm="100000">
                                          <p:val>
                                            <p:strVal val="0-ppt_h/2"/>
                                          </p:val>
                                        </p:tav>
                                      </p:tavLst>
                                    </p:anim>
                                    <p:set>
                                      <p:cBhvr>
                                        <p:cTn id="13" dur="1" fill="hold">
                                          <p:stCondLst>
                                            <p:cond delay="499"/>
                                          </p:stCondLst>
                                        </p:cTn>
                                        <p:tgtEl>
                                          <p:spTgt spid="19"/>
                                        </p:tgtEl>
                                        <p:attrNameLst>
                                          <p:attrName>style.visibility</p:attrName>
                                        </p:attrNameLst>
                                      </p:cBhvr>
                                      <p:to>
                                        <p:strVal val="hidden"/>
                                      </p:to>
                                    </p:set>
                                  </p:childTnLst>
                                </p:cTn>
                              </p:par>
                            </p:childTnLst>
                          </p:cTn>
                        </p:par>
                        <p:par>
                          <p:cTn id="14" fill="hold">
                            <p:stCondLst>
                              <p:cond delay="1000"/>
                            </p:stCondLst>
                            <p:childTnLst>
                              <p:par>
                                <p:cTn id="15" presetID="63" presetClass="path" presetSubtype="0" accel="50000" decel="50000" fill="hold" nodeType="afterEffect">
                                  <p:stCondLst>
                                    <p:cond delay="0"/>
                                  </p:stCondLst>
                                  <p:childTnLst>
                                    <p:animMotion origin="layout" path="M -2.5E-6 0.00278 L 0.16094 -0.00417 " pathEditMode="relative" rAng="0" ptsTypes="AA">
                                      <p:cBhvr>
                                        <p:cTn id="16" dur="500" fill="hold"/>
                                        <p:tgtEl>
                                          <p:spTgt spid="9"/>
                                        </p:tgtEl>
                                        <p:attrNameLst>
                                          <p:attrName>ppt_x</p:attrName>
                                          <p:attrName>ppt_y</p:attrName>
                                        </p:attrNameLst>
                                      </p:cBhvr>
                                      <p:rCtr x="8047" y="-34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a:xfrm>
            <a:off x="696000" y="710691"/>
            <a:ext cx="5464053" cy="402291"/>
          </a:xfrm>
        </p:spPr>
        <p:txBody>
          <a:bodyPr/>
          <a:lstStyle/>
          <a:p>
            <a:r>
              <a:rPr lang="en-US" altLang="zh-CN" dirty="0"/>
              <a:t>Mission</a:t>
            </a:r>
            <a:endParaRPr lang="zh-CN" altLang="en-US" dirty="0"/>
          </a:p>
        </p:txBody>
      </p:sp>
      <p:sp>
        <p:nvSpPr>
          <p:cNvPr id="35" name="标题 34">
            <a:extLst>
              <a:ext uri="{FF2B5EF4-FFF2-40B4-BE49-F238E27FC236}">
                <a16:creationId xmlns:a16="http://schemas.microsoft.com/office/drawing/2014/main" id="{995F9D37-EA4E-E306-4482-34EF0151A52F}"/>
              </a:ext>
            </a:extLst>
          </p:cNvPr>
          <p:cNvSpPr>
            <a:spLocks noGrp="1"/>
          </p:cNvSpPr>
          <p:nvPr>
            <p:ph type="title"/>
          </p:nvPr>
        </p:nvSpPr>
        <p:spPr>
          <a:xfrm>
            <a:off x="696000" y="360000"/>
            <a:ext cx="10800000" cy="424732"/>
          </a:xfrm>
        </p:spPr>
        <p:txBody>
          <a:bodyPr/>
          <a:lstStyle/>
          <a:p>
            <a:r>
              <a:rPr lang="zh-CN" altLang="en-US" dirty="0"/>
              <a:t>任务</a:t>
            </a:r>
          </a:p>
        </p:txBody>
      </p:sp>
      <p:sp>
        <p:nvSpPr>
          <p:cNvPr id="17" name="文本框 16">
            <a:extLst>
              <a:ext uri="{FF2B5EF4-FFF2-40B4-BE49-F238E27FC236}">
                <a16:creationId xmlns:a16="http://schemas.microsoft.com/office/drawing/2014/main" id="{0AF257EE-FC12-4A43-AE18-3009BC7CFF32}"/>
              </a:ext>
            </a:extLst>
          </p:cNvPr>
          <p:cNvSpPr txBox="1"/>
          <p:nvPr/>
        </p:nvSpPr>
        <p:spPr>
          <a:xfrm>
            <a:off x="9403275" y="3429647"/>
            <a:ext cx="1107996" cy="369332"/>
          </a:xfrm>
          <a:prstGeom prst="rect">
            <a:avLst/>
          </a:prstGeom>
          <a:noFill/>
        </p:spPr>
        <p:txBody>
          <a:bodyPr wrap="none" rtlCol="0">
            <a:spAutoFit/>
          </a:bodyPr>
          <a:lstStyle/>
          <a:p>
            <a:r>
              <a:rPr lang="zh-CN" altLang="en-US" dirty="0"/>
              <a:t>设计思维</a:t>
            </a:r>
          </a:p>
        </p:txBody>
      </p:sp>
      <p:sp>
        <p:nvSpPr>
          <p:cNvPr id="18" name="文本框 17">
            <a:extLst>
              <a:ext uri="{FF2B5EF4-FFF2-40B4-BE49-F238E27FC236}">
                <a16:creationId xmlns:a16="http://schemas.microsoft.com/office/drawing/2014/main" id="{76E64A84-3AC6-4D06-8E56-2D12B27709C5}"/>
              </a:ext>
            </a:extLst>
          </p:cNvPr>
          <p:cNvSpPr txBox="1"/>
          <p:nvPr/>
        </p:nvSpPr>
        <p:spPr>
          <a:xfrm>
            <a:off x="5444312" y="3429647"/>
            <a:ext cx="1107996" cy="369332"/>
          </a:xfrm>
          <a:prstGeom prst="rect">
            <a:avLst/>
          </a:prstGeom>
          <a:noFill/>
        </p:spPr>
        <p:txBody>
          <a:bodyPr wrap="none" rtlCol="0">
            <a:spAutoFit/>
          </a:bodyPr>
          <a:lstStyle/>
          <a:p>
            <a:r>
              <a:rPr lang="zh-CN" altLang="en-US" dirty="0"/>
              <a:t>计算思维</a:t>
            </a:r>
          </a:p>
        </p:txBody>
      </p:sp>
      <p:cxnSp>
        <p:nvCxnSpPr>
          <p:cNvPr id="19" name="直接连接符 18">
            <a:extLst>
              <a:ext uri="{FF2B5EF4-FFF2-40B4-BE49-F238E27FC236}">
                <a16:creationId xmlns:a16="http://schemas.microsoft.com/office/drawing/2014/main" id="{18C6D96F-B819-40F5-9FBC-A47E33CF171E}"/>
              </a:ext>
            </a:extLst>
          </p:cNvPr>
          <p:cNvCxnSpPr>
            <a:cxnSpLocks/>
          </p:cNvCxnSpPr>
          <p:nvPr/>
        </p:nvCxnSpPr>
        <p:spPr>
          <a:xfrm>
            <a:off x="0" y="3891312"/>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椭圆 19">
            <a:extLst>
              <a:ext uri="{FF2B5EF4-FFF2-40B4-BE49-F238E27FC236}">
                <a16:creationId xmlns:a16="http://schemas.microsoft.com/office/drawing/2014/main" id="{7FAF1BFB-087C-4C15-971A-0B86CD8DDBBA}"/>
              </a:ext>
            </a:extLst>
          </p:cNvPr>
          <p:cNvSpPr/>
          <p:nvPr/>
        </p:nvSpPr>
        <p:spPr>
          <a:xfrm>
            <a:off x="4539640"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1" name="任意多边形: 形状 20">
            <a:extLst>
              <a:ext uri="{FF2B5EF4-FFF2-40B4-BE49-F238E27FC236}">
                <a16:creationId xmlns:a16="http://schemas.microsoft.com/office/drawing/2014/main" id="{CBC2740A-AB96-41C3-BDFD-C9212DC6BB38}"/>
              </a:ext>
            </a:extLst>
          </p:cNvPr>
          <p:cNvSpPr>
            <a:spLocks noChangeAspect="1"/>
          </p:cNvSpPr>
          <p:nvPr/>
        </p:nvSpPr>
        <p:spPr>
          <a:xfrm>
            <a:off x="4757498" y="3570995"/>
            <a:ext cx="468955" cy="540000"/>
          </a:xfrm>
          <a:custGeom>
            <a:avLst/>
            <a:gdLst>
              <a:gd name="connsiteX0" fmla="*/ 184010 w 292270"/>
              <a:gd name="connsiteY0" fmla="*/ 131763 h 336550"/>
              <a:gd name="connsiteX1" fmla="*/ 178567 w 292270"/>
              <a:gd name="connsiteY1" fmla="*/ 141923 h 336550"/>
              <a:gd name="connsiteX2" fmla="*/ 184010 w 292270"/>
              <a:gd name="connsiteY2" fmla="*/ 150813 h 336550"/>
              <a:gd name="connsiteX3" fmla="*/ 188092 w 292270"/>
              <a:gd name="connsiteY3" fmla="*/ 141923 h 336550"/>
              <a:gd name="connsiteX4" fmla="*/ 184010 w 292270"/>
              <a:gd name="connsiteY4" fmla="*/ 131763 h 336550"/>
              <a:gd name="connsiteX5" fmla="*/ 141147 w 292270"/>
              <a:gd name="connsiteY5" fmla="*/ 131763 h 336550"/>
              <a:gd name="connsiteX6" fmla="*/ 135704 w 292270"/>
              <a:gd name="connsiteY6" fmla="*/ 141923 h 336550"/>
              <a:gd name="connsiteX7" fmla="*/ 141147 w 292270"/>
              <a:gd name="connsiteY7" fmla="*/ 150813 h 336550"/>
              <a:gd name="connsiteX8" fmla="*/ 145229 w 292270"/>
              <a:gd name="connsiteY8" fmla="*/ 141923 h 336550"/>
              <a:gd name="connsiteX9" fmla="*/ 141147 w 292270"/>
              <a:gd name="connsiteY9" fmla="*/ 131763 h 336550"/>
              <a:gd name="connsiteX10" fmla="*/ 96811 w 292270"/>
              <a:gd name="connsiteY10" fmla="*/ 131763 h 336550"/>
              <a:gd name="connsiteX11" fmla="*/ 92842 w 292270"/>
              <a:gd name="connsiteY11" fmla="*/ 134938 h 336550"/>
              <a:gd name="connsiteX12" fmla="*/ 100780 w 292270"/>
              <a:gd name="connsiteY12" fmla="*/ 134938 h 336550"/>
              <a:gd name="connsiteX13" fmla="*/ 96811 w 292270"/>
              <a:gd name="connsiteY13" fmla="*/ 131763 h 336550"/>
              <a:gd name="connsiteX14" fmla="*/ 225310 w 292270"/>
              <a:gd name="connsiteY14" fmla="*/ 127000 h 336550"/>
              <a:gd name="connsiteX15" fmla="*/ 226721 w 292270"/>
              <a:gd name="connsiteY15" fmla="*/ 127000 h 336550"/>
              <a:gd name="connsiteX16" fmla="*/ 229543 w 292270"/>
              <a:gd name="connsiteY16" fmla="*/ 127000 h 336550"/>
              <a:gd name="connsiteX17" fmla="*/ 230954 w 292270"/>
              <a:gd name="connsiteY17" fmla="*/ 127000 h 336550"/>
              <a:gd name="connsiteX18" fmla="*/ 230954 w 292270"/>
              <a:gd name="connsiteY18" fmla="*/ 155792 h 336550"/>
              <a:gd name="connsiteX19" fmla="*/ 229543 w 292270"/>
              <a:gd name="connsiteY19" fmla="*/ 157163 h 336550"/>
              <a:gd name="connsiteX20" fmla="*/ 225310 w 292270"/>
              <a:gd name="connsiteY20" fmla="*/ 157163 h 336550"/>
              <a:gd name="connsiteX21" fmla="*/ 225310 w 292270"/>
              <a:gd name="connsiteY21" fmla="*/ 155792 h 336550"/>
              <a:gd name="connsiteX22" fmla="*/ 225310 w 292270"/>
              <a:gd name="connsiteY22" fmla="*/ 132484 h 336550"/>
              <a:gd name="connsiteX23" fmla="*/ 221076 w 292270"/>
              <a:gd name="connsiteY23" fmla="*/ 133855 h 336550"/>
              <a:gd name="connsiteX24" fmla="*/ 221076 w 292270"/>
              <a:gd name="connsiteY24" fmla="*/ 135227 h 336550"/>
              <a:gd name="connsiteX25" fmla="*/ 219665 w 292270"/>
              <a:gd name="connsiteY25" fmla="*/ 133855 h 336550"/>
              <a:gd name="connsiteX26" fmla="*/ 219665 w 292270"/>
              <a:gd name="connsiteY26" fmla="*/ 131113 h 336550"/>
              <a:gd name="connsiteX27" fmla="*/ 219665 w 292270"/>
              <a:gd name="connsiteY27" fmla="*/ 129742 h 336550"/>
              <a:gd name="connsiteX28" fmla="*/ 225310 w 292270"/>
              <a:gd name="connsiteY28" fmla="*/ 127000 h 336550"/>
              <a:gd name="connsiteX29" fmla="*/ 203791 w 292270"/>
              <a:gd name="connsiteY29" fmla="*/ 127000 h 336550"/>
              <a:gd name="connsiteX30" fmla="*/ 207495 w 292270"/>
              <a:gd name="connsiteY30" fmla="*/ 127000 h 336550"/>
              <a:gd name="connsiteX31" fmla="*/ 208730 w 292270"/>
              <a:gd name="connsiteY31" fmla="*/ 127000 h 336550"/>
              <a:gd name="connsiteX32" fmla="*/ 208730 w 292270"/>
              <a:gd name="connsiteY32" fmla="*/ 155792 h 336550"/>
              <a:gd name="connsiteX33" fmla="*/ 207495 w 292270"/>
              <a:gd name="connsiteY33" fmla="*/ 157163 h 336550"/>
              <a:gd name="connsiteX34" fmla="*/ 203791 w 292270"/>
              <a:gd name="connsiteY34" fmla="*/ 157163 h 336550"/>
              <a:gd name="connsiteX35" fmla="*/ 202556 w 292270"/>
              <a:gd name="connsiteY35" fmla="*/ 155792 h 336550"/>
              <a:gd name="connsiteX36" fmla="*/ 202556 w 292270"/>
              <a:gd name="connsiteY36" fmla="*/ 132484 h 336550"/>
              <a:gd name="connsiteX37" fmla="*/ 200086 w 292270"/>
              <a:gd name="connsiteY37" fmla="*/ 133855 h 336550"/>
              <a:gd name="connsiteX38" fmla="*/ 198852 w 292270"/>
              <a:gd name="connsiteY38" fmla="*/ 135227 h 336550"/>
              <a:gd name="connsiteX39" fmla="*/ 198852 w 292270"/>
              <a:gd name="connsiteY39" fmla="*/ 133855 h 336550"/>
              <a:gd name="connsiteX40" fmla="*/ 197617 w 292270"/>
              <a:gd name="connsiteY40" fmla="*/ 131113 h 336550"/>
              <a:gd name="connsiteX41" fmla="*/ 198852 w 292270"/>
              <a:gd name="connsiteY41" fmla="*/ 129742 h 336550"/>
              <a:gd name="connsiteX42" fmla="*/ 203791 w 292270"/>
              <a:gd name="connsiteY42" fmla="*/ 127000 h 336550"/>
              <a:gd name="connsiteX43" fmla="*/ 183964 w 292270"/>
              <a:gd name="connsiteY43" fmla="*/ 127000 h 336550"/>
              <a:gd name="connsiteX44" fmla="*/ 192854 w 292270"/>
              <a:gd name="connsiteY44" fmla="*/ 141426 h 336550"/>
              <a:gd name="connsiteX45" fmla="*/ 182694 w 292270"/>
              <a:gd name="connsiteY45" fmla="*/ 157163 h 336550"/>
              <a:gd name="connsiteX46" fmla="*/ 173804 w 292270"/>
              <a:gd name="connsiteY46" fmla="*/ 142737 h 336550"/>
              <a:gd name="connsiteX47" fmla="*/ 183964 w 292270"/>
              <a:gd name="connsiteY47" fmla="*/ 127000 h 336550"/>
              <a:gd name="connsiteX48" fmla="*/ 161699 w 292270"/>
              <a:gd name="connsiteY48" fmla="*/ 127000 h 336550"/>
              <a:gd name="connsiteX49" fmla="*/ 164478 w 292270"/>
              <a:gd name="connsiteY49" fmla="*/ 127000 h 336550"/>
              <a:gd name="connsiteX50" fmla="*/ 165867 w 292270"/>
              <a:gd name="connsiteY50" fmla="*/ 127000 h 336550"/>
              <a:gd name="connsiteX51" fmla="*/ 165867 w 292270"/>
              <a:gd name="connsiteY51" fmla="*/ 155792 h 336550"/>
              <a:gd name="connsiteX52" fmla="*/ 164478 w 292270"/>
              <a:gd name="connsiteY52" fmla="*/ 157163 h 336550"/>
              <a:gd name="connsiteX53" fmla="*/ 161699 w 292270"/>
              <a:gd name="connsiteY53" fmla="*/ 157163 h 336550"/>
              <a:gd name="connsiteX54" fmla="*/ 160310 w 292270"/>
              <a:gd name="connsiteY54" fmla="*/ 155792 h 336550"/>
              <a:gd name="connsiteX55" fmla="*/ 160310 w 292270"/>
              <a:gd name="connsiteY55" fmla="*/ 132484 h 336550"/>
              <a:gd name="connsiteX56" fmla="*/ 156143 w 292270"/>
              <a:gd name="connsiteY56" fmla="*/ 133855 h 336550"/>
              <a:gd name="connsiteX57" fmla="*/ 156143 w 292270"/>
              <a:gd name="connsiteY57" fmla="*/ 135227 h 336550"/>
              <a:gd name="connsiteX58" fmla="*/ 154754 w 292270"/>
              <a:gd name="connsiteY58" fmla="*/ 133855 h 336550"/>
              <a:gd name="connsiteX59" fmla="*/ 154754 w 292270"/>
              <a:gd name="connsiteY59" fmla="*/ 131113 h 336550"/>
              <a:gd name="connsiteX60" fmla="*/ 154754 w 292270"/>
              <a:gd name="connsiteY60" fmla="*/ 129742 h 336550"/>
              <a:gd name="connsiteX61" fmla="*/ 161699 w 292270"/>
              <a:gd name="connsiteY61" fmla="*/ 127000 h 336550"/>
              <a:gd name="connsiteX62" fmla="*/ 141261 w 292270"/>
              <a:gd name="connsiteY62" fmla="*/ 127000 h 336550"/>
              <a:gd name="connsiteX63" fmla="*/ 151580 w 292270"/>
              <a:gd name="connsiteY63" fmla="*/ 141426 h 336550"/>
              <a:gd name="connsiteX64" fmla="*/ 141261 w 292270"/>
              <a:gd name="connsiteY64" fmla="*/ 157163 h 336550"/>
              <a:gd name="connsiteX65" fmla="*/ 130942 w 292270"/>
              <a:gd name="connsiteY65" fmla="*/ 142737 h 336550"/>
              <a:gd name="connsiteX66" fmla="*/ 141261 w 292270"/>
              <a:gd name="connsiteY66" fmla="*/ 127000 h 336550"/>
              <a:gd name="connsiteX67" fmla="*/ 247736 w 292270"/>
              <a:gd name="connsiteY67" fmla="*/ 80963 h 336550"/>
              <a:gd name="connsiteX68" fmla="*/ 243654 w 292270"/>
              <a:gd name="connsiteY68" fmla="*/ 91970 h 336550"/>
              <a:gd name="connsiteX69" fmla="*/ 247736 w 292270"/>
              <a:gd name="connsiteY69" fmla="*/ 101601 h 336550"/>
              <a:gd name="connsiteX70" fmla="*/ 253179 w 292270"/>
              <a:gd name="connsiteY70" fmla="*/ 90594 h 336550"/>
              <a:gd name="connsiteX71" fmla="*/ 247736 w 292270"/>
              <a:gd name="connsiteY71" fmla="*/ 80963 h 336550"/>
              <a:gd name="connsiteX72" fmla="*/ 205328 w 292270"/>
              <a:gd name="connsiteY72" fmla="*/ 80963 h 336550"/>
              <a:gd name="connsiteX73" fmla="*/ 200792 w 292270"/>
              <a:gd name="connsiteY73" fmla="*/ 91970 h 336550"/>
              <a:gd name="connsiteX74" fmla="*/ 205328 w 292270"/>
              <a:gd name="connsiteY74" fmla="*/ 101601 h 336550"/>
              <a:gd name="connsiteX75" fmla="*/ 208730 w 292270"/>
              <a:gd name="connsiteY75" fmla="*/ 90594 h 336550"/>
              <a:gd name="connsiteX76" fmla="*/ 205328 w 292270"/>
              <a:gd name="connsiteY76" fmla="*/ 80963 h 336550"/>
              <a:gd name="connsiteX77" fmla="*/ 184010 w 292270"/>
              <a:gd name="connsiteY77" fmla="*/ 80963 h 336550"/>
              <a:gd name="connsiteX78" fmla="*/ 178567 w 292270"/>
              <a:gd name="connsiteY78" fmla="*/ 91970 h 336550"/>
              <a:gd name="connsiteX79" fmla="*/ 184010 w 292270"/>
              <a:gd name="connsiteY79" fmla="*/ 101601 h 336550"/>
              <a:gd name="connsiteX80" fmla="*/ 188092 w 292270"/>
              <a:gd name="connsiteY80" fmla="*/ 90594 h 336550"/>
              <a:gd name="connsiteX81" fmla="*/ 184010 w 292270"/>
              <a:gd name="connsiteY81" fmla="*/ 80963 h 336550"/>
              <a:gd name="connsiteX82" fmla="*/ 162011 w 292270"/>
              <a:gd name="connsiteY82" fmla="*/ 80963 h 336550"/>
              <a:gd name="connsiteX83" fmla="*/ 157929 w 292270"/>
              <a:gd name="connsiteY83" fmla="*/ 91970 h 336550"/>
              <a:gd name="connsiteX84" fmla="*/ 162011 w 292270"/>
              <a:gd name="connsiteY84" fmla="*/ 101601 h 336550"/>
              <a:gd name="connsiteX85" fmla="*/ 167454 w 292270"/>
              <a:gd name="connsiteY85" fmla="*/ 90594 h 336550"/>
              <a:gd name="connsiteX86" fmla="*/ 162011 w 292270"/>
              <a:gd name="connsiteY86" fmla="*/ 80963 h 336550"/>
              <a:gd name="connsiteX87" fmla="*/ 76173 w 292270"/>
              <a:gd name="connsiteY87" fmla="*/ 80963 h 336550"/>
              <a:gd name="connsiteX88" fmla="*/ 72204 w 292270"/>
              <a:gd name="connsiteY88" fmla="*/ 91970 h 336550"/>
              <a:gd name="connsiteX89" fmla="*/ 76173 w 292270"/>
              <a:gd name="connsiteY89" fmla="*/ 101601 h 336550"/>
              <a:gd name="connsiteX90" fmla="*/ 80142 w 292270"/>
              <a:gd name="connsiteY90" fmla="*/ 90594 h 336550"/>
              <a:gd name="connsiteX91" fmla="*/ 76173 w 292270"/>
              <a:gd name="connsiteY91" fmla="*/ 80963 h 336550"/>
              <a:gd name="connsiteX92" fmla="*/ 225310 w 292270"/>
              <a:gd name="connsiteY92" fmla="*/ 76200 h 336550"/>
              <a:gd name="connsiteX93" fmla="*/ 226721 w 292270"/>
              <a:gd name="connsiteY93" fmla="*/ 76200 h 336550"/>
              <a:gd name="connsiteX94" fmla="*/ 229543 w 292270"/>
              <a:gd name="connsiteY94" fmla="*/ 76200 h 336550"/>
              <a:gd name="connsiteX95" fmla="*/ 230954 w 292270"/>
              <a:gd name="connsiteY95" fmla="*/ 77511 h 336550"/>
              <a:gd name="connsiteX96" fmla="*/ 230954 w 292270"/>
              <a:gd name="connsiteY96" fmla="*/ 105052 h 336550"/>
              <a:gd name="connsiteX97" fmla="*/ 229543 w 292270"/>
              <a:gd name="connsiteY97" fmla="*/ 106363 h 336550"/>
              <a:gd name="connsiteX98" fmla="*/ 225310 w 292270"/>
              <a:gd name="connsiteY98" fmla="*/ 106363 h 336550"/>
              <a:gd name="connsiteX99" fmla="*/ 225310 w 292270"/>
              <a:gd name="connsiteY99" fmla="*/ 105052 h 336550"/>
              <a:gd name="connsiteX100" fmla="*/ 225310 w 292270"/>
              <a:gd name="connsiteY100" fmla="*/ 82757 h 336550"/>
              <a:gd name="connsiteX101" fmla="*/ 221076 w 292270"/>
              <a:gd name="connsiteY101" fmla="*/ 84069 h 336550"/>
              <a:gd name="connsiteX102" fmla="*/ 219665 w 292270"/>
              <a:gd name="connsiteY102" fmla="*/ 84069 h 336550"/>
              <a:gd name="connsiteX103" fmla="*/ 219665 w 292270"/>
              <a:gd name="connsiteY103" fmla="*/ 81446 h 336550"/>
              <a:gd name="connsiteX104" fmla="*/ 219665 w 292270"/>
              <a:gd name="connsiteY104" fmla="*/ 80134 h 336550"/>
              <a:gd name="connsiteX105" fmla="*/ 225310 w 292270"/>
              <a:gd name="connsiteY105" fmla="*/ 76200 h 336550"/>
              <a:gd name="connsiteX106" fmla="*/ 205555 w 292270"/>
              <a:gd name="connsiteY106" fmla="*/ 76200 h 336550"/>
              <a:gd name="connsiteX107" fmla="*/ 216667 w 292270"/>
              <a:gd name="connsiteY107" fmla="*/ 90626 h 336550"/>
              <a:gd name="connsiteX108" fmla="*/ 205555 w 292270"/>
              <a:gd name="connsiteY108" fmla="*/ 106363 h 336550"/>
              <a:gd name="connsiteX109" fmla="*/ 194442 w 292270"/>
              <a:gd name="connsiteY109" fmla="*/ 91937 h 336550"/>
              <a:gd name="connsiteX110" fmla="*/ 205555 w 292270"/>
              <a:gd name="connsiteY110" fmla="*/ 76200 h 336550"/>
              <a:gd name="connsiteX111" fmla="*/ 183964 w 292270"/>
              <a:gd name="connsiteY111" fmla="*/ 76200 h 336550"/>
              <a:gd name="connsiteX112" fmla="*/ 192854 w 292270"/>
              <a:gd name="connsiteY112" fmla="*/ 90626 h 336550"/>
              <a:gd name="connsiteX113" fmla="*/ 182694 w 292270"/>
              <a:gd name="connsiteY113" fmla="*/ 106363 h 336550"/>
              <a:gd name="connsiteX114" fmla="*/ 173804 w 292270"/>
              <a:gd name="connsiteY114" fmla="*/ 91937 h 336550"/>
              <a:gd name="connsiteX115" fmla="*/ 183964 w 292270"/>
              <a:gd name="connsiteY115" fmla="*/ 76200 h 336550"/>
              <a:gd name="connsiteX116" fmla="*/ 161898 w 292270"/>
              <a:gd name="connsiteY116" fmla="*/ 76200 h 336550"/>
              <a:gd name="connsiteX117" fmla="*/ 172217 w 292270"/>
              <a:gd name="connsiteY117" fmla="*/ 90626 h 336550"/>
              <a:gd name="connsiteX118" fmla="*/ 161898 w 292270"/>
              <a:gd name="connsiteY118" fmla="*/ 106363 h 336550"/>
              <a:gd name="connsiteX119" fmla="*/ 151579 w 292270"/>
              <a:gd name="connsiteY119" fmla="*/ 91937 h 336550"/>
              <a:gd name="connsiteX120" fmla="*/ 161898 w 292270"/>
              <a:gd name="connsiteY120" fmla="*/ 76200 h 336550"/>
              <a:gd name="connsiteX121" fmla="*/ 139584 w 292270"/>
              <a:gd name="connsiteY121" fmla="*/ 76200 h 336550"/>
              <a:gd name="connsiteX122" fmla="*/ 140996 w 292270"/>
              <a:gd name="connsiteY122" fmla="*/ 76200 h 336550"/>
              <a:gd name="connsiteX123" fmla="*/ 143818 w 292270"/>
              <a:gd name="connsiteY123" fmla="*/ 76200 h 336550"/>
              <a:gd name="connsiteX124" fmla="*/ 145229 w 292270"/>
              <a:gd name="connsiteY124" fmla="*/ 77511 h 336550"/>
              <a:gd name="connsiteX125" fmla="*/ 145229 w 292270"/>
              <a:gd name="connsiteY125" fmla="*/ 105052 h 336550"/>
              <a:gd name="connsiteX126" fmla="*/ 143818 w 292270"/>
              <a:gd name="connsiteY126" fmla="*/ 106363 h 336550"/>
              <a:gd name="connsiteX127" fmla="*/ 139584 w 292270"/>
              <a:gd name="connsiteY127" fmla="*/ 106363 h 336550"/>
              <a:gd name="connsiteX128" fmla="*/ 139584 w 292270"/>
              <a:gd name="connsiteY128" fmla="*/ 105052 h 336550"/>
              <a:gd name="connsiteX129" fmla="*/ 139584 w 292270"/>
              <a:gd name="connsiteY129" fmla="*/ 82757 h 336550"/>
              <a:gd name="connsiteX130" fmla="*/ 135351 w 292270"/>
              <a:gd name="connsiteY130" fmla="*/ 84069 h 336550"/>
              <a:gd name="connsiteX131" fmla="*/ 133940 w 292270"/>
              <a:gd name="connsiteY131" fmla="*/ 84069 h 336550"/>
              <a:gd name="connsiteX132" fmla="*/ 132529 w 292270"/>
              <a:gd name="connsiteY132" fmla="*/ 81446 h 336550"/>
              <a:gd name="connsiteX133" fmla="*/ 133940 w 292270"/>
              <a:gd name="connsiteY133" fmla="*/ 80134 h 336550"/>
              <a:gd name="connsiteX134" fmla="*/ 139584 w 292270"/>
              <a:gd name="connsiteY134" fmla="*/ 76200 h 336550"/>
              <a:gd name="connsiteX135" fmla="*/ 118837 w 292270"/>
              <a:gd name="connsiteY135" fmla="*/ 76200 h 336550"/>
              <a:gd name="connsiteX136" fmla="*/ 123005 w 292270"/>
              <a:gd name="connsiteY136" fmla="*/ 76200 h 336550"/>
              <a:gd name="connsiteX137" fmla="*/ 123005 w 292270"/>
              <a:gd name="connsiteY137" fmla="*/ 77511 h 336550"/>
              <a:gd name="connsiteX138" fmla="*/ 123005 w 292270"/>
              <a:gd name="connsiteY138" fmla="*/ 105052 h 336550"/>
              <a:gd name="connsiteX139" fmla="*/ 123005 w 292270"/>
              <a:gd name="connsiteY139" fmla="*/ 106363 h 336550"/>
              <a:gd name="connsiteX140" fmla="*/ 118837 w 292270"/>
              <a:gd name="connsiteY140" fmla="*/ 106363 h 336550"/>
              <a:gd name="connsiteX141" fmla="*/ 117448 w 292270"/>
              <a:gd name="connsiteY141" fmla="*/ 105052 h 336550"/>
              <a:gd name="connsiteX142" fmla="*/ 117448 w 292270"/>
              <a:gd name="connsiteY142" fmla="*/ 82757 h 336550"/>
              <a:gd name="connsiteX143" fmla="*/ 114670 w 292270"/>
              <a:gd name="connsiteY143" fmla="*/ 84069 h 336550"/>
              <a:gd name="connsiteX144" fmla="*/ 113281 w 292270"/>
              <a:gd name="connsiteY144" fmla="*/ 84069 h 336550"/>
              <a:gd name="connsiteX145" fmla="*/ 111892 w 292270"/>
              <a:gd name="connsiteY145" fmla="*/ 81446 h 336550"/>
              <a:gd name="connsiteX146" fmla="*/ 111892 w 292270"/>
              <a:gd name="connsiteY146" fmla="*/ 80134 h 336550"/>
              <a:gd name="connsiteX147" fmla="*/ 118837 w 292270"/>
              <a:gd name="connsiteY147" fmla="*/ 76200 h 336550"/>
              <a:gd name="connsiteX148" fmla="*/ 97207 w 292270"/>
              <a:gd name="connsiteY148" fmla="*/ 76200 h 336550"/>
              <a:gd name="connsiteX149" fmla="*/ 99588 w 292270"/>
              <a:gd name="connsiteY149" fmla="*/ 76200 h 336550"/>
              <a:gd name="connsiteX150" fmla="*/ 100779 w 292270"/>
              <a:gd name="connsiteY150" fmla="*/ 77511 h 336550"/>
              <a:gd name="connsiteX151" fmla="*/ 100779 w 292270"/>
              <a:gd name="connsiteY151" fmla="*/ 105052 h 336550"/>
              <a:gd name="connsiteX152" fmla="*/ 99588 w 292270"/>
              <a:gd name="connsiteY152" fmla="*/ 106363 h 336550"/>
              <a:gd name="connsiteX153" fmla="*/ 97207 w 292270"/>
              <a:gd name="connsiteY153" fmla="*/ 106363 h 336550"/>
              <a:gd name="connsiteX154" fmla="*/ 96016 w 292270"/>
              <a:gd name="connsiteY154" fmla="*/ 105052 h 336550"/>
              <a:gd name="connsiteX155" fmla="*/ 96016 w 292270"/>
              <a:gd name="connsiteY155" fmla="*/ 82757 h 336550"/>
              <a:gd name="connsiteX156" fmla="*/ 92444 w 292270"/>
              <a:gd name="connsiteY156" fmla="*/ 84069 h 336550"/>
              <a:gd name="connsiteX157" fmla="*/ 91254 w 292270"/>
              <a:gd name="connsiteY157" fmla="*/ 84069 h 336550"/>
              <a:gd name="connsiteX158" fmla="*/ 91254 w 292270"/>
              <a:gd name="connsiteY158" fmla="*/ 81446 h 336550"/>
              <a:gd name="connsiteX159" fmla="*/ 91254 w 292270"/>
              <a:gd name="connsiteY159" fmla="*/ 80134 h 336550"/>
              <a:gd name="connsiteX160" fmla="*/ 97207 w 292270"/>
              <a:gd name="connsiteY160" fmla="*/ 76200 h 336550"/>
              <a:gd name="connsiteX161" fmla="*/ 201926 w 292270"/>
              <a:gd name="connsiteY161" fmla="*/ 36513 h 336550"/>
              <a:gd name="connsiteX162" fmla="*/ 200792 w 292270"/>
              <a:gd name="connsiteY162" fmla="*/ 40409 h 336550"/>
              <a:gd name="connsiteX163" fmla="*/ 205328 w 292270"/>
              <a:gd name="connsiteY163" fmla="*/ 50801 h 336550"/>
              <a:gd name="connsiteX164" fmla="*/ 208730 w 292270"/>
              <a:gd name="connsiteY164" fmla="*/ 40409 h 336550"/>
              <a:gd name="connsiteX165" fmla="*/ 208730 w 292270"/>
              <a:gd name="connsiteY165" fmla="*/ 39111 h 336550"/>
              <a:gd name="connsiteX166" fmla="*/ 201926 w 292270"/>
              <a:gd name="connsiteY166" fmla="*/ 36513 h 336550"/>
              <a:gd name="connsiteX167" fmla="*/ 123005 w 292270"/>
              <a:gd name="connsiteY167" fmla="*/ 34925 h 336550"/>
              <a:gd name="connsiteX168" fmla="*/ 116201 w 292270"/>
              <a:gd name="connsiteY168" fmla="*/ 37571 h 336550"/>
              <a:gd name="connsiteX169" fmla="*/ 115067 w 292270"/>
              <a:gd name="connsiteY169" fmla="*/ 38894 h 336550"/>
              <a:gd name="connsiteX170" fmla="*/ 115067 w 292270"/>
              <a:gd name="connsiteY170" fmla="*/ 40216 h 336550"/>
              <a:gd name="connsiteX171" fmla="*/ 119603 w 292270"/>
              <a:gd name="connsiteY171" fmla="*/ 50800 h 336550"/>
              <a:gd name="connsiteX172" fmla="*/ 123005 w 292270"/>
              <a:gd name="connsiteY172" fmla="*/ 40216 h 336550"/>
              <a:gd name="connsiteX173" fmla="*/ 123005 w 292270"/>
              <a:gd name="connsiteY173" fmla="*/ 34925 h 336550"/>
              <a:gd name="connsiteX174" fmla="*/ 162011 w 292270"/>
              <a:gd name="connsiteY174" fmla="*/ 31750 h 336550"/>
              <a:gd name="connsiteX175" fmla="*/ 157929 w 292270"/>
              <a:gd name="connsiteY175" fmla="*/ 40640 h 336550"/>
              <a:gd name="connsiteX176" fmla="*/ 162011 w 292270"/>
              <a:gd name="connsiteY176" fmla="*/ 50800 h 336550"/>
              <a:gd name="connsiteX177" fmla="*/ 167454 w 292270"/>
              <a:gd name="connsiteY177" fmla="*/ 40640 h 336550"/>
              <a:gd name="connsiteX178" fmla="*/ 162011 w 292270"/>
              <a:gd name="connsiteY178" fmla="*/ 31750 h 336550"/>
              <a:gd name="connsiteX179" fmla="*/ 144703 w 292270"/>
              <a:gd name="connsiteY179" fmla="*/ 28575 h 336550"/>
              <a:gd name="connsiteX180" fmla="*/ 144703 w 292270"/>
              <a:gd name="connsiteY180" fmla="*/ 55075 h 336550"/>
              <a:gd name="connsiteX181" fmla="*/ 143389 w 292270"/>
              <a:gd name="connsiteY181" fmla="*/ 55075 h 336550"/>
              <a:gd name="connsiteX182" fmla="*/ 139447 w 292270"/>
              <a:gd name="connsiteY182" fmla="*/ 55075 h 336550"/>
              <a:gd name="connsiteX183" fmla="*/ 139447 w 292270"/>
              <a:gd name="connsiteY183" fmla="*/ 32550 h 336550"/>
              <a:gd name="connsiteX184" fmla="*/ 135504 w 292270"/>
              <a:gd name="connsiteY184" fmla="*/ 33875 h 336550"/>
              <a:gd name="connsiteX185" fmla="*/ 134190 w 292270"/>
              <a:gd name="connsiteY185" fmla="*/ 33875 h 336550"/>
              <a:gd name="connsiteX186" fmla="*/ 132876 w 292270"/>
              <a:gd name="connsiteY186" fmla="*/ 31225 h 336550"/>
              <a:gd name="connsiteX187" fmla="*/ 127619 w 292270"/>
              <a:gd name="connsiteY187" fmla="*/ 32550 h 336550"/>
              <a:gd name="connsiteX188" fmla="*/ 128934 w 292270"/>
              <a:gd name="connsiteY188" fmla="*/ 40500 h 336550"/>
              <a:gd name="connsiteX189" fmla="*/ 118420 w 292270"/>
              <a:gd name="connsiteY189" fmla="*/ 56400 h 336550"/>
              <a:gd name="connsiteX190" fmla="*/ 109221 w 292270"/>
              <a:gd name="connsiteY190" fmla="*/ 41825 h 336550"/>
              <a:gd name="connsiteX191" fmla="*/ 101336 w 292270"/>
              <a:gd name="connsiteY191" fmla="*/ 47125 h 336550"/>
              <a:gd name="connsiteX192" fmla="*/ 101336 w 292270"/>
              <a:gd name="connsiteY192" fmla="*/ 55075 h 336550"/>
              <a:gd name="connsiteX193" fmla="*/ 100022 w 292270"/>
              <a:gd name="connsiteY193" fmla="*/ 55075 h 336550"/>
              <a:gd name="connsiteX194" fmla="*/ 97394 w 292270"/>
              <a:gd name="connsiteY194" fmla="*/ 55075 h 336550"/>
              <a:gd name="connsiteX195" fmla="*/ 96080 w 292270"/>
              <a:gd name="connsiteY195" fmla="*/ 55075 h 336550"/>
              <a:gd name="connsiteX196" fmla="*/ 96080 w 292270"/>
              <a:gd name="connsiteY196" fmla="*/ 49775 h 336550"/>
              <a:gd name="connsiteX197" fmla="*/ 72425 w 292270"/>
              <a:gd name="connsiteY197" fmla="*/ 77600 h 336550"/>
              <a:gd name="connsiteX198" fmla="*/ 76367 w 292270"/>
              <a:gd name="connsiteY198" fmla="*/ 76275 h 336550"/>
              <a:gd name="connsiteX199" fmla="*/ 86880 w 292270"/>
              <a:gd name="connsiteY199" fmla="*/ 90850 h 336550"/>
              <a:gd name="connsiteX200" fmla="*/ 76367 w 292270"/>
              <a:gd name="connsiteY200" fmla="*/ 106750 h 336550"/>
              <a:gd name="connsiteX201" fmla="*/ 67168 w 292270"/>
              <a:gd name="connsiteY201" fmla="*/ 97475 h 336550"/>
              <a:gd name="connsiteX202" fmla="*/ 75053 w 292270"/>
              <a:gd name="connsiteY202" fmla="*/ 127950 h 336550"/>
              <a:gd name="connsiteX203" fmla="*/ 76367 w 292270"/>
              <a:gd name="connsiteY203" fmla="*/ 127950 h 336550"/>
              <a:gd name="connsiteX204" fmla="*/ 78995 w 292270"/>
              <a:gd name="connsiteY204" fmla="*/ 127950 h 336550"/>
              <a:gd name="connsiteX205" fmla="*/ 80310 w 292270"/>
              <a:gd name="connsiteY205" fmla="*/ 127950 h 336550"/>
              <a:gd name="connsiteX206" fmla="*/ 80310 w 292270"/>
              <a:gd name="connsiteY206" fmla="*/ 133250 h 336550"/>
              <a:gd name="connsiteX207" fmla="*/ 88195 w 292270"/>
              <a:gd name="connsiteY207" fmla="*/ 135900 h 336550"/>
              <a:gd name="connsiteX208" fmla="*/ 97394 w 292270"/>
              <a:gd name="connsiteY208" fmla="*/ 126625 h 336550"/>
              <a:gd name="connsiteX209" fmla="*/ 107907 w 292270"/>
              <a:gd name="connsiteY209" fmla="*/ 135900 h 336550"/>
              <a:gd name="connsiteX210" fmla="*/ 114478 w 292270"/>
              <a:gd name="connsiteY210" fmla="*/ 145175 h 336550"/>
              <a:gd name="connsiteX211" fmla="*/ 117106 w 292270"/>
              <a:gd name="connsiteY211" fmla="*/ 151800 h 336550"/>
              <a:gd name="connsiteX212" fmla="*/ 117106 w 292270"/>
              <a:gd name="connsiteY212" fmla="*/ 133250 h 336550"/>
              <a:gd name="connsiteX213" fmla="*/ 114478 w 292270"/>
              <a:gd name="connsiteY213" fmla="*/ 134575 h 336550"/>
              <a:gd name="connsiteX214" fmla="*/ 113164 w 292270"/>
              <a:gd name="connsiteY214" fmla="*/ 135900 h 336550"/>
              <a:gd name="connsiteX215" fmla="*/ 113164 w 292270"/>
              <a:gd name="connsiteY215" fmla="*/ 134575 h 336550"/>
              <a:gd name="connsiteX216" fmla="*/ 111849 w 292270"/>
              <a:gd name="connsiteY216" fmla="*/ 131925 h 336550"/>
              <a:gd name="connsiteX217" fmla="*/ 111849 w 292270"/>
              <a:gd name="connsiteY217" fmla="*/ 130600 h 336550"/>
              <a:gd name="connsiteX218" fmla="*/ 118420 w 292270"/>
              <a:gd name="connsiteY218" fmla="*/ 127950 h 336550"/>
              <a:gd name="connsiteX219" fmla="*/ 122363 w 292270"/>
              <a:gd name="connsiteY219" fmla="*/ 127950 h 336550"/>
              <a:gd name="connsiteX220" fmla="*/ 122363 w 292270"/>
              <a:gd name="connsiteY220" fmla="*/ 155775 h 336550"/>
              <a:gd name="connsiteX221" fmla="*/ 122363 w 292270"/>
              <a:gd name="connsiteY221" fmla="*/ 157100 h 336550"/>
              <a:gd name="connsiteX222" fmla="*/ 121049 w 292270"/>
              <a:gd name="connsiteY222" fmla="*/ 157100 h 336550"/>
              <a:gd name="connsiteX223" fmla="*/ 135504 w 292270"/>
              <a:gd name="connsiteY223" fmla="*/ 162400 h 336550"/>
              <a:gd name="connsiteX224" fmla="*/ 161787 w 292270"/>
              <a:gd name="connsiteY224" fmla="*/ 159750 h 336550"/>
              <a:gd name="connsiteX225" fmla="*/ 181500 w 292270"/>
              <a:gd name="connsiteY225" fmla="*/ 191550 h 336550"/>
              <a:gd name="connsiteX226" fmla="*/ 181500 w 292270"/>
              <a:gd name="connsiteY226" fmla="*/ 183600 h 336550"/>
              <a:gd name="connsiteX227" fmla="*/ 178872 w 292270"/>
              <a:gd name="connsiteY227" fmla="*/ 186250 h 336550"/>
              <a:gd name="connsiteX228" fmla="*/ 177557 w 292270"/>
              <a:gd name="connsiteY228" fmla="*/ 186250 h 336550"/>
              <a:gd name="connsiteX229" fmla="*/ 176243 w 292270"/>
              <a:gd name="connsiteY229" fmla="*/ 184925 h 336550"/>
              <a:gd name="connsiteX230" fmla="*/ 176243 w 292270"/>
              <a:gd name="connsiteY230" fmla="*/ 182275 h 336550"/>
              <a:gd name="connsiteX231" fmla="*/ 176243 w 292270"/>
              <a:gd name="connsiteY231" fmla="*/ 180950 h 336550"/>
              <a:gd name="connsiteX232" fmla="*/ 182814 w 292270"/>
              <a:gd name="connsiteY232" fmla="*/ 178300 h 336550"/>
              <a:gd name="connsiteX233" fmla="*/ 186756 w 292270"/>
              <a:gd name="connsiteY233" fmla="*/ 178300 h 336550"/>
              <a:gd name="connsiteX234" fmla="*/ 186756 w 292270"/>
              <a:gd name="connsiteY234" fmla="*/ 194200 h 336550"/>
              <a:gd name="connsiteX235" fmla="*/ 199898 w 292270"/>
              <a:gd name="connsiteY235" fmla="*/ 186250 h 336550"/>
              <a:gd name="connsiteX236" fmla="*/ 198584 w 292270"/>
              <a:gd name="connsiteY236" fmla="*/ 186250 h 336550"/>
              <a:gd name="connsiteX237" fmla="*/ 198584 w 292270"/>
              <a:gd name="connsiteY237" fmla="*/ 184925 h 336550"/>
              <a:gd name="connsiteX238" fmla="*/ 197270 w 292270"/>
              <a:gd name="connsiteY238" fmla="*/ 182275 h 336550"/>
              <a:gd name="connsiteX239" fmla="*/ 198584 w 292270"/>
              <a:gd name="connsiteY239" fmla="*/ 180950 h 336550"/>
              <a:gd name="connsiteX240" fmla="*/ 199898 w 292270"/>
              <a:gd name="connsiteY240" fmla="*/ 180950 h 336550"/>
              <a:gd name="connsiteX241" fmla="*/ 199898 w 292270"/>
              <a:gd name="connsiteY241" fmla="*/ 166375 h 336550"/>
              <a:gd name="connsiteX242" fmla="*/ 234066 w 292270"/>
              <a:gd name="connsiteY242" fmla="*/ 161075 h 336550"/>
              <a:gd name="connsiteX243" fmla="*/ 241951 w 292270"/>
              <a:gd name="connsiteY243" fmla="*/ 146500 h 336550"/>
              <a:gd name="connsiteX244" fmla="*/ 245894 w 292270"/>
              <a:gd name="connsiteY244" fmla="*/ 143850 h 336550"/>
              <a:gd name="connsiteX245" fmla="*/ 245894 w 292270"/>
              <a:gd name="connsiteY245" fmla="*/ 133250 h 336550"/>
              <a:gd name="connsiteX246" fmla="*/ 241951 w 292270"/>
              <a:gd name="connsiteY246" fmla="*/ 134575 h 336550"/>
              <a:gd name="connsiteX247" fmla="*/ 241951 w 292270"/>
              <a:gd name="connsiteY247" fmla="*/ 135900 h 336550"/>
              <a:gd name="connsiteX248" fmla="*/ 240637 w 292270"/>
              <a:gd name="connsiteY248" fmla="*/ 134575 h 336550"/>
              <a:gd name="connsiteX249" fmla="*/ 240637 w 292270"/>
              <a:gd name="connsiteY249" fmla="*/ 131925 h 336550"/>
              <a:gd name="connsiteX250" fmla="*/ 240637 w 292270"/>
              <a:gd name="connsiteY250" fmla="*/ 130600 h 336550"/>
              <a:gd name="connsiteX251" fmla="*/ 247208 w 292270"/>
              <a:gd name="connsiteY251" fmla="*/ 127950 h 336550"/>
              <a:gd name="connsiteX252" fmla="*/ 249836 w 292270"/>
              <a:gd name="connsiteY252" fmla="*/ 127950 h 336550"/>
              <a:gd name="connsiteX253" fmla="*/ 251151 w 292270"/>
              <a:gd name="connsiteY253" fmla="*/ 127950 h 336550"/>
              <a:gd name="connsiteX254" fmla="*/ 251151 w 292270"/>
              <a:gd name="connsiteY254" fmla="*/ 143850 h 336550"/>
              <a:gd name="connsiteX255" fmla="*/ 252465 w 292270"/>
              <a:gd name="connsiteY255" fmla="*/ 143850 h 336550"/>
              <a:gd name="connsiteX256" fmla="*/ 257721 w 292270"/>
              <a:gd name="connsiteY256" fmla="*/ 94825 h 336550"/>
              <a:gd name="connsiteX257" fmla="*/ 247208 w 292270"/>
              <a:gd name="connsiteY257" fmla="*/ 106750 h 336550"/>
              <a:gd name="connsiteX258" fmla="*/ 238009 w 292270"/>
              <a:gd name="connsiteY258" fmla="*/ 92175 h 336550"/>
              <a:gd name="connsiteX259" fmla="*/ 248522 w 292270"/>
              <a:gd name="connsiteY259" fmla="*/ 76275 h 336550"/>
              <a:gd name="connsiteX260" fmla="*/ 249836 w 292270"/>
              <a:gd name="connsiteY260" fmla="*/ 76275 h 336550"/>
              <a:gd name="connsiteX261" fmla="*/ 230124 w 292270"/>
              <a:gd name="connsiteY261" fmla="*/ 52425 h 336550"/>
              <a:gd name="connsiteX262" fmla="*/ 230124 w 292270"/>
              <a:gd name="connsiteY262" fmla="*/ 55075 h 336550"/>
              <a:gd name="connsiteX263" fmla="*/ 228810 w 292270"/>
              <a:gd name="connsiteY263" fmla="*/ 55075 h 336550"/>
              <a:gd name="connsiteX264" fmla="*/ 224867 w 292270"/>
              <a:gd name="connsiteY264" fmla="*/ 55075 h 336550"/>
              <a:gd name="connsiteX265" fmla="*/ 224867 w 292270"/>
              <a:gd name="connsiteY265" fmla="*/ 48450 h 336550"/>
              <a:gd name="connsiteX266" fmla="*/ 215668 w 292270"/>
              <a:gd name="connsiteY266" fmla="*/ 43150 h 336550"/>
              <a:gd name="connsiteX267" fmla="*/ 205155 w 292270"/>
              <a:gd name="connsiteY267" fmla="*/ 56400 h 336550"/>
              <a:gd name="connsiteX268" fmla="*/ 194641 w 292270"/>
              <a:gd name="connsiteY268" fmla="*/ 40500 h 336550"/>
              <a:gd name="connsiteX269" fmla="*/ 195956 w 292270"/>
              <a:gd name="connsiteY269" fmla="*/ 33875 h 336550"/>
              <a:gd name="connsiteX270" fmla="*/ 186756 w 292270"/>
              <a:gd name="connsiteY270" fmla="*/ 31225 h 336550"/>
              <a:gd name="connsiteX271" fmla="*/ 186756 w 292270"/>
              <a:gd name="connsiteY271" fmla="*/ 55075 h 336550"/>
              <a:gd name="connsiteX272" fmla="*/ 182814 w 292270"/>
              <a:gd name="connsiteY272" fmla="*/ 55075 h 336550"/>
              <a:gd name="connsiteX273" fmla="*/ 181500 w 292270"/>
              <a:gd name="connsiteY273" fmla="*/ 55075 h 336550"/>
              <a:gd name="connsiteX274" fmla="*/ 181500 w 292270"/>
              <a:gd name="connsiteY274" fmla="*/ 32550 h 336550"/>
              <a:gd name="connsiteX275" fmla="*/ 178872 w 292270"/>
              <a:gd name="connsiteY275" fmla="*/ 33875 h 336550"/>
              <a:gd name="connsiteX276" fmla="*/ 177557 w 292270"/>
              <a:gd name="connsiteY276" fmla="*/ 33875 h 336550"/>
              <a:gd name="connsiteX277" fmla="*/ 176243 w 292270"/>
              <a:gd name="connsiteY277" fmla="*/ 33875 h 336550"/>
              <a:gd name="connsiteX278" fmla="*/ 176243 w 292270"/>
              <a:gd name="connsiteY278" fmla="*/ 31225 h 336550"/>
              <a:gd name="connsiteX279" fmla="*/ 176243 w 292270"/>
              <a:gd name="connsiteY279" fmla="*/ 29900 h 336550"/>
              <a:gd name="connsiteX280" fmla="*/ 177557 w 292270"/>
              <a:gd name="connsiteY280" fmla="*/ 29900 h 336550"/>
              <a:gd name="connsiteX281" fmla="*/ 168358 w 292270"/>
              <a:gd name="connsiteY281" fmla="*/ 28575 h 336550"/>
              <a:gd name="connsiteX282" fmla="*/ 172301 w 292270"/>
              <a:gd name="connsiteY282" fmla="*/ 40500 h 336550"/>
              <a:gd name="connsiteX283" fmla="*/ 161787 w 292270"/>
              <a:gd name="connsiteY283" fmla="*/ 56400 h 336550"/>
              <a:gd name="connsiteX284" fmla="*/ 151274 w 292270"/>
              <a:gd name="connsiteY284" fmla="*/ 40500 h 336550"/>
              <a:gd name="connsiteX285" fmla="*/ 156531 w 292270"/>
              <a:gd name="connsiteY285" fmla="*/ 28575 h 336550"/>
              <a:gd name="connsiteX286" fmla="*/ 144703 w 292270"/>
              <a:gd name="connsiteY286" fmla="*/ 28575 h 336550"/>
              <a:gd name="connsiteX287" fmla="*/ 164533 w 292270"/>
              <a:gd name="connsiteY287" fmla="*/ 0 h 336550"/>
              <a:gd name="connsiteX288" fmla="*/ 266895 w 292270"/>
              <a:gd name="connsiteY288" fmla="*/ 48642 h 336550"/>
              <a:gd name="connsiteX289" fmla="*/ 291829 w 292270"/>
              <a:gd name="connsiteY289" fmla="*/ 130150 h 336550"/>
              <a:gd name="connsiteX290" fmla="*/ 269520 w 292270"/>
              <a:gd name="connsiteY290" fmla="*/ 206400 h 336550"/>
              <a:gd name="connsiteX291" fmla="*/ 257709 w 292270"/>
              <a:gd name="connsiteY291" fmla="*/ 324718 h 336550"/>
              <a:gd name="connsiteX292" fmla="*/ 256396 w 292270"/>
              <a:gd name="connsiteY292" fmla="*/ 332606 h 336550"/>
              <a:gd name="connsiteX293" fmla="*/ 249835 w 292270"/>
              <a:gd name="connsiteY293" fmla="*/ 336550 h 336550"/>
              <a:gd name="connsiteX294" fmla="*/ 105478 w 292270"/>
              <a:gd name="connsiteY294" fmla="*/ 336550 h 336550"/>
              <a:gd name="connsiteX295" fmla="*/ 97604 w 292270"/>
              <a:gd name="connsiteY295" fmla="*/ 331292 h 336550"/>
              <a:gd name="connsiteX296" fmla="*/ 96292 w 292270"/>
              <a:gd name="connsiteY296" fmla="*/ 315516 h 336550"/>
              <a:gd name="connsiteX297" fmla="*/ 96292 w 292270"/>
              <a:gd name="connsiteY297" fmla="*/ 312887 h 336550"/>
              <a:gd name="connsiteX298" fmla="*/ 71357 w 292270"/>
              <a:gd name="connsiteY298" fmla="*/ 294481 h 336550"/>
              <a:gd name="connsiteX299" fmla="*/ 31987 w 292270"/>
              <a:gd name="connsiteY299" fmla="*/ 278706 h 336550"/>
              <a:gd name="connsiteX300" fmla="*/ 25426 w 292270"/>
              <a:gd name="connsiteY300" fmla="*/ 236637 h 336550"/>
              <a:gd name="connsiteX301" fmla="*/ 21489 w 292270"/>
              <a:gd name="connsiteY301" fmla="*/ 209029 h 336550"/>
              <a:gd name="connsiteX302" fmla="*/ 16239 w 292270"/>
              <a:gd name="connsiteY302" fmla="*/ 205085 h 336550"/>
              <a:gd name="connsiteX303" fmla="*/ 491 w 292270"/>
              <a:gd name="connsiteY303" fmla="*/ 191939 h 336550"/>
              <a:gd name="connsiteX304" fmla="*/ 4428 w 292270"/>
              <a:gd name="connsiteY304" fmla="*/ 177478 h 336550"/>
              <a:gd name="connsiteX305" fmla="*/ 24113 w 292270"/>
              <a:gd name="connsiteY305" fmla="*/ 126206 h 336550"/>
              <a:gd name="connsiteX306" fmla="*/ 29363 w 292270"/>
              <a:gd name="connsiteY306" fmla="*/ 97284 h 336550"/>
              <a:gd name="connsiteX307" fmla="*/ 81856 w 292270"/>
              <a:gd name="connsiteY307" fmla="*/ 26293 h 336550"/>
              <a:gd name="connsiteX308" fmla="*/ 164533 w 292270"/>
              <a:gd name="connsiteY308" fmla="*/ 0 h 336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292270" h="336550">
                <a:moveTo>
                  <a:pt x="184010" y="131763"/>
                </a:moveTo>
                <a:cubicBezTo>
                  <a:pt x="179928" y="131763"/>
                  <a:pt x="178567" y="135573"/>
                  <a:pt x="178567" y="141923"/>
                </a:cubicBezTo>
                <a:cubicBezTo>
                  <a:pt x="178567" y="147003"/>
                  <a:pt x="179928" y="150813"/>
                  <a:pt x="184010" y="150813"/>
                </a:cubicBezTo>
                <a:cubicBezTo>
                  <a:pt x="188092" y="150813"/>
                  <a:pt x="188092" y="144463"/>
                  <a:pt x="188092" y="141923"/>
                </a:cubicBezTo>
                <a:cubicBezTo>
                  <a:pt x="188092" y="138113"/>
                  <a:pt x="188092" y="131763"/>
                  <a:pt x="184010" y="131763"/>
                </a:cubicBezTo>
                <a:close/>
                <a:moveTo>
                  <a:pt x="141147" y="131763"/>
                </a:moveTo>
                <a:cubicBezTo>
                  <a:pt x="138425" y="131763"/>
                  <a:pt x="135704" y="135573"/>
                  <a:pt x="135704" y="141923"/>
                </a:cubicBezTo>
                <a:cubicBezTo>
                  <a:pt x="135704" y="147003"/>
                  <a:pt x="138425" y="150813"/>
                  <a:pt x="141147" y="150813"/>
                </a:cubicBezTo>
                <a:cubicBezTo>
                  <a:pt x="145229" y="150813"/>
                  <a:pt x="145229" y="144463"/>
                  <a:pt x="145229" y="141923"/>
                </a:cubicBezTo>
                <a:cubicBezTo>
                  <a:pt x="145229" y="138113"/>
                  <a:pt x="145229" y="131763"/>
                  <a:pt x="141147" y="131763"/>
                </a:cubicBezTo>
                <a:close/>
                <a:moveTo>
                  <a:pt x="96811" y="131763"/>
                </a:moveTo>
                <a:cubicBezTo>
                  <a:pt x="95488" y="131763"/>
                  <a:pt x="94165" y="132822"/>
                  <a:pt x="92842" y="134938"/>
                </a:cubicBezTo>
                <a:cubicBezTo>
                  <a:pt x="95488" y="134938"/>
                  <a:pt x="98134" y="134938"/>
                  <a:pt x="100780" y="134938"/>
                </a:cubicBezTo>
                <a:cubicBezTo>
                  <a:pt x="100780" y="132822"/>
                  <a:pt x="99457" y="131763"/>
                  <a:pt x="96811" y="131763"/>
                </a:cubicBezTo>
                <a:close/>
                <a:moveTo>
                  <a:pt x="225310" y="127000"/>
                </a:moveTo>
                <a:cubicBezTo>
                  <a:pt x="226721" y="127000"/>
                  <a:pt x="226721" y="127000"/>
                  <a:pt x="226721" y="127000"/>
                </a:cubicBezTo>
                <a:cubicBezTo>
                  <a:pt x="226721" y="127000"/>
                  <a:pt x="226721" y="127000"/>
                  <a:pt x="229543" y="127000"/>
                </a:cubicBezTo>
                <a:cubicBezTo>
                  <a:pt x="230954" y="127000"/>
                  <a:pt x="230954" y="127000"/>
                  <a:pt x="230954" y="127000"/>
                </a:cubicBezTo>
                <a:cubicBezTo>
                  <a:pt x="230954" y="127000"/>
                  <a:pt x="230954" y="127000"/>
                  <a:pt x="230954" y="155792"/>
                </a:cubicBezTo>
                <a:cubicBezTo>
                  <a:pt x="230954" y="155792"/>
                  <a:pt x="230954" y="157163"/>
                  <a:pt x="229543" y="157163"/>
                </a:cubicBezTo>
                <a:cubicBezTo>
                  <a:pt x="229543" y="157163"/>
                  <a:pt x="229543" y="157163"/>
                  <a:pt x="225310" y="157163"/>
                </a:cubicBezTo>
                <a:cubicBezTo>
                  <a:pt x="225310" y="157163"/>
                  <a:pt x="225310" y="155792"/>
                  <a:pt x="225310" y="155792"/>
                </a:cubicBezTo>
                <a:cubicBezTo>
                  <a:pt x="225310" y="155792"/>
                  <a:pt x="225310" y="155792"/>
                  <a:pt x="225310" y="132484"/>
                </a:cubicBezTo>
                <a:cubicBezTo>
                  <a:pt x="225310" y="132484"/>
                  <a:pt x="225310" y="132484"/>
                  <a:pt x="221076" y="133855"/>
                </a:cubicBezTo>
                <a:cubicBezTo>
                  <a:pt x="221076" y="135227"/>
                  <a:pt x="221076" y="135227"/>
                  <a:pt x="221076" y="135227"/>
                </a:cubicBezTo>
                <a:cubicBezTo>
                  <a:pt x="219665" y="133855"/>
                  <a:pt x="219665" y="133855"/>
                  <a:pt x="219665" y="133855"/>
                </a:cubicBezTo>
                <a:cubicBezTo>
                  <a:pt x="219665" y="133855"/>
                  <a:pt x="219665" y="133855"/>
                  <a:pt x="219665" y="131113"/>
                </a:cubicBezTo>
                <a:cubicBezTo>
                  <a:pt x="218254" y="131113"/>
                  <a:pt x="219665" y="129742"/>
                  <a:pt x="219665" y="129742"/>
                </a:cubicBezTo>
                <a:cubicBezTo>
                  <a:pt x="219665" y="129742"/>
                  <a:pt x="219665" y="129742"/>
                  <a:pt x="225310" y="127000"/>
                </a:cubicBezTo>
                <a:close/>
                <a:moveTo>
                  <a:pt x="203791" y="127000"/>
                </a:moveTo>
                <a:cubicBezTo>
                  <a:pt x="203791" y="127000"/>
                  <a:pt x="203791" y="127000"/>
                  <a:pt x="207495" y="127000"/>
                </a:cubicBezTo>
                <a:cubicBezTo>
                  <a:pt x="207495" y="127000"/>
                  <a:pt x="208730" y="127000"/>
                  <a:pt x="208730" y="127000"/>
                </a:cubicBezTo>
                <a:cubicBezTo>
                  <a:pt x="208730" y="127000"/>
                  <a:pt x="208730" y="127000"/>
                  <a:pt x="208730" y="155792"/>
                </a:cubicBezTo>
                <a:cubicBezTo>
                  <a:pt x="208730" y="155792"/>
                  <a:pt x="207495" y="157163"/>
                  <a:pt x="207495" y="157163"/>
                </a:cubicBezTo>
                <a:cubicBezTo>
                  <a:pt x="207495" y="157163"/>
                  <a:pt x="207495" y="157163"/>
                  <a:pt x="203791" y="157163"/>
                </a:cubicBezTo>
                <a:cubicBezTo>
                  <a:pt x="203791" y="157163"/>
                  <a:pt x="202556" y="155792"/>
                  <a:pt x="202556" y="155792"/>
                </a:cubicBezTo>
                <a:cubicBezTo>
                  <a:pt x="202556" y="155792"/>
                  <a:pt x="202556" y="155792"/>
                  <a:pt x="202556" y="132484"/>
                </a:cubicBezTo>
                <a:cubicBezTo>
                  <a:pt x="202556" y="132484"/>
                  <a:pt x="202556" y="132484"/>
                  <a:pt x="200086" y="133855"/>
                </a:cubicBezTo>
                <a:cubicBezTo>
                  <a:pt x="200086" y="135227"/>
                  <a:pt x="198852" y="135227"/>
                  <a:pt x="198852" y="135227"/>
                </a:cubicBezTo>
                <a:cubicBezTo>
                  <a:pt x="198852" y="133855"/>
                  <a:pt x="198852" y="133855"/>
                  <a:pt x="198852" y="133855"/>
                </a:cubicBezTo>
                <a:cubicBezTo>
                  <a:pt x="198852" y="133855"/>
                  <a:pt x="198852" y="133855"/>
                  <a:pt x="197617" y="131113"/>
                </a:cubicBezTo>
                <a:cubicBezTo>
                  <a:pt x="197617" y="131113"/>
                  <a:pt x="197617" y="129742"/>
                  <a:pt x="198852" y="129742"/>
                </a:cubicBezTo>
                <a:cubicBezTo>
                  <a:pt x="198852" y="129742"/>
                  <a:pt x="198852" y="129742"/>
                  <a:pt x="203791" y="127000"/>
                </a:cubicBezTo>
                <a:close/>
                <a:moveTo>
                  <a:pt x="183964" y="127000"/>
                </a:moveTo>
                <a:cubicBezTo>
                  <a:pt x="189044" y="127000"/>
                  <a:pt x="192854" y="132246"/>
                  <a:pt x="192854" y="141426"/>
                </a:cubicBezTo>
                <a:cubicBezTo>
                  <a:pt x="192854" y="151918"/>
                  <a:pt x="189044" y="157163"/>
                  <a:pt x="182694" y="157163"/>
                </a:cubicBezTo>
                <a:cubicBezTo>
                  <a:pt x="177614" y="157163"/>
                  <a:pt x="173804" y="151918"/>
                  <a:pt x="173804" y="142737"/>
                </a:cubicBezTo>
                <a:cubicBezTo>
                  <a:pt x="173804" y="133557"/>
                  <a:pt x="177614" y="127000"/>
                  <a:pt x="183964" y="127000"/>
                </a:cubicBezTo>
                <a:close/>
                <a:moveTo>
                  <a:pt x="161699" y="127000"/>
                </a:moveTo>
                <a:cubicBezTo>
                  <a:pt x="161699" y="127000"/>
                  <a:pt x="161699" y="127000"/>
                  <a:pt x="164478" y="127000"/>
                </a:cubicBezTo>
                <a:cubicBezTo>
                  <a:pt x="165867" y="127000"/>
                  <a:pt x="165867" y="127000"/>
                  <a:pt x="165867" y="127000"/>
                </a:cubicBezTo>
                <a:cubicBezTo>
                  <a:pt x="165867" y="127000"/>
                  <a:pt x="165867" y="127000"/>
                  <a:pt x="165867" y="155792"/>
                </a:cubicBezTo>
                <a:cubicBezTo>
                  <a:pt x="165867" y="155792"/>
                  <a:pt x="165867" y="157163"/>
                  <a:pt x="164478" y="157163"/>
                </a:cubicBezTo>
                <a:cubicBezTo>
                  <a:pt x="164478" y="157163"/>
                  <a:pt x="164478" y="157163"/>
                  <a:pt x="161699" y="157163"/>
                </a:cubicBezTo>
                <a:cubicBezTo>
                  <a:pt x="160310" y="157163"/>
                  <a:pt x="160310" y="155792"/>
                  <a:pt x="160310" y="155792"/>
                </a:cubicBezTo>
                <a:cubicBezTo>
                  <a:pt x="160310" y="155792"/>
                  <a:pt x="160310" y="155792"/>
                  <a:pt x="160310" y="132484"/>
                </a:cubicBezTo>
                <a:cubicBezTo>
                  <a:pt x="160310" y="132484"/>
                  <a:pt x="160310" y="132484"/>
                  <a:pt x="156143" y="133855"/>
                </a:cubicBezTo>
                <a:cubicBezTo>
                  <a:pt x="156143" y="135227"/>
                  <a:pt x="156143" y="135227"/>
                  <a:pt x="156143" y="135227"/>
                </a:cubicBezTo>
                <a:cubicBezTo>
                  <a:pt x="154754" y="133855"/>
                  <a:pt x="154754" y="133855"/>
                  <a:pt x="154754" y="133855"/>
                </a:cubicBezTo>
                <a:cubicBezTo>
                  <a:pt x="154754" y="133855"/>
                  <a:pt x="154754" y="133855"/>
                  <a:pt x="154754" y="131113"/>
                </a:cubicBezTo>
                <a:cubicBezTo>
                  <a:pt x="154754" y="131113"/>
                  <a:pt x="154754" y="129742"/>
                  <a:pt x="154754" y="129742"/>
                </a:cubicBezTo>
                <a:cubicBezTo>
                  <a:pt x="154754" y="129742"/>
                  <a:pt x="154754" y="129742"/>
                  <a:pt x="161699" y="127000"/>
                </a:cubicBezTo>
                <a:close/>
                <a:moveTo>
                  <a:pt x="141261" y="127000"/>
                </a:moveTo>
                <a:cubicBezTo>
                  <a:pt x="147710" y="127000"/>
                  <a:pt x="151580" y="132246"/>
                  <a:pt x="151580" y="141426"/>
                </a:cubicBezTo>
                <a:cubicBezTo>
                  <a:pt x="151580" y="151918"/>
                  <a:pt x="147710" y="157163"/>
                  <a:pt x="141261" y="157163"/>
                </a:cubicBezTo>
                <a:cubicBezTo>
                  <a:pt x="134811" y="157163"/>
                  <a:pt x="130942" y="151918"/>
                  <a:pt x="130942" y="142737"/>
                </a:cubicBezTo>
                <a:cubicBezTo>
                  <a:pt x="130942" y="133557"/>
                  <a:pt x="134811" y="127000"/>
                  <a:pt x="141261" y="127000"/>
                </a:cubicBezTo>
                <a:close/>
                <a:moveTo>
                  <a:pt x="247736" y="80963"/>
                </a:moveTo>
                <a:cubicBezTo>
                  <a:pt x="245015" y="80963"/>
                  <a:pt x="243654" y="85091"/>
                  <a:pt x="243654" y="91970"/>
                </a:cubicBezTo>
                <a:cubicBezTo>
                  <a:pt x="243654" y="97474"/>
                  <a:pt x="245015" y="101601"/>
                  <a:pt x="247736" y="101601"/>
                </a:cubicBezTo>
                <a:cubicBezTo>
                  <a:pt x="251818" y="101601"/>
                  <a:pt x="253179" y="94722"/>
                  <a:pt x="253179" y="90594"/>
                </a:cubicBezTo>
                <a:cubicBezTo>
                  <a:pt x="253179" y="87843"/>
                  <a:pt x="251818" y="80963"/>
                  <a:pt x="247736" y="80963"/>
                </a:cubicBezTo>
                <a:close/>
                <a:moveTo>
                  <a:pt x="205328" y="80963"/>
                </a:moveTo>
                <a:cubicBezTo>
                  <a:pt x="203060" y="80963"/>
                  <a:pt x="200792" y="85091"/>
                  <a:pt x="200792" y="91970"/>
                </a:cubicBezTo>
                <a:cubicBezTo>
                  <a:pt x="200792" y="97474"/>
                  <a:pt x="203060" y="101601"/>
                  <a:pt x="205328" y="101601"/>
                </a:cubicBezTo>
                <a:cubicBezTo>
                  <a:pt x="208730" y="101601"/>
                  <a:pt x="208730" y="94722"/>
                  <a:pt x="208730" y="90594"/>
                </a:cubicBezTo>
                <a:cubicBezTo>
                  <a:pt x="208730" y="87843"/>
                  <a:pt x="208730" y="80963"/>
                  <a:pt x="205328" y="80963"/>
                </a:cubicBezTo>
                <a:close/>
                <a:moveTo>
                  <a:pt x="184010" y="80963"/>
                </a:moveTo>
                <a:cubicBezTo>
                  <a:pt x="179928" y="80963"/>
                  <a:pt x="178567" y="85091"/>
                  <a:pt x="178567" y="91970"/>
                </a:cubicBezTo>
                <a:cubicBezTo>
                  <a:pt x="178567" y="97474"/>
                  <a:pt x="179928" y="101601"/>
                  <a:pt x="184010" y="101601"/>
                </a:cubicBezTo>
                <a:cubicBezTo>
                  <a:pt x="188092" y="101601"/>
                  <a:pt x="188092" y="94722"/>
                  <a:pt x="188092" y="90594"/>
                </a:cubicBezTo>
                <a:cubicBezTo>
                  <a:pt x="188092" y="87843"/>
                  <a:pt x="188092" y="80963"/>
                  <a:pt x="184010" y="80963"/>
                </a:cubicBezTo>
                <a:close/>
                <a:moveTo>
                  <a:pt x="162011" y="80963"/>
                </a:moveTo>
                <a:cubicBezTo>
                  <a:pt x="159290" y="80963"/>
                  <a:pt x="157929" y="85091"/>
                  <a:pt x="157929" y="91970"/>
                </a:cubicBezTo>
                <a:cubicBezTo>
                  <a:pt x="157929" y="97474"/>
                  <a:pt x="159290" y="101601"/>
                  <a:pt x="162011" y="101601"/>
                </a:cubicBezTo>
                <a:cubicBezTo>
                  <a:pt x="166093" y="101601"/>
                  <a:pt x="167454" y="94722"/>
                  <a:pt x="167454" y="90594"/>
                </a:cubicBezTo>
                <a:cubicBezTo>
                  <a:pt x="167454" y="87843"/>
                  <a:pt x="166093" y="80963"/>
                  <a:pt x="162011" y="80963"/>
                </a:cubicBezTo>
                <a:close/>
                <a:moveTo>
                  <a:pt x="76173" y="80963"/>
                </a:moveTo>
                <a:cubicBezTo>
                  <a:pt x="73527" y="80963"/>
                  <a:pt x="72204" y="85091"/>
                  <a:pt x="72204" y="91970"/>
                </a:cubicBezTo>
                <a:cubicBezTo>
                  <a:pt x="72204" y="97474"/>
                  <a:pt x="73527" y="101601"/>
                  <a:pt x="76173" y="101601"/>
                </a:cubicBezTo>
                <a:cubicBezTo>
                  <a:pt x="80142" y="101601"/>
                  <a:pt x="80142" y="94722"/>
                  <a:pt x="80142" y="90594"/>
                </a:cubicBezTo>
                <a:cubicBezTo>
                  <a:pt x="80142" y="87843"/>
                  <a:pt x="80142" y="80963"/>
                  <a:pt x="76173" y="80963"/>
                </a:cubicBezTo>
                <a:close/>
                <a:moveTo>
                  <a:pt x="225310" y="76200"/>
                </a:moveTo>
                <a:cubicBezTo>
                  <a:pt x="226721" y="76200"/>
                  <a:pt x="226721" y="76200"/>
                  <a:pt x="226721" y="76200"/>
                </a:cubicBezTo>
                <a:cubicBezTo>
                  <a:pt x="226721" y="76200"/>
                  <a:pt x="226721" y="76200"/>
                  <a:pt x="229543" y="76200"/>
                </a:cubicBezTo>
                <a:cubicBezTo>
                  <a:pt x="230954" y="76200"/>
                  <a:pt x="230954" y="77511"/>
                  <a:pt x="230954" y="77511"/>
                </a:cubicBezTo>
                <a:cubicBezTo>
                  <a:pt x="230954" y="77511"/>
                  <a:pt x="230954" y="77511"/>
                  <a:pt x="230954" y="105052"/>
                </a:cubicBezTo>
                <a:cubicBezTo>
                  <a:pt x="230954" y="105052"/>
                  <a:pt x="230954" y="106363"/>
                  <a:pt x="229543" y="106363"/>
                </a:cubicBezTo>
                <a:cubicBezTo>
                  <a:pt x="229543" y="106363"/>
                  <a:pt x="229543" y="106363"/>
                  <a:pt x="225310" y="106363"/>
                </a:cubicBezTo>
                <a:cubicBezTo>
                  <a:pt x="225310" y="106363"/>
                  <a:pt x="225310" y="105052"/>
                  <a:pt x="225310" y="105052"/>
                </a:cubicBezTo>
                <a:cubicBezTo>
                  <a:pt x="225310" y="105052"/>
                  <a:pt x="225310" y="105052"/>
                  <a:pt x="225310" y="82757"/>
                </a:cubicBezTo>
                <a:cubicBezTo>
                  <a:pt x="225310" y="82757"/>
                  <a:pt x="225310" y="82757"/>
                  <a:pt x="221076" y="84069"/>
                </a:cubicBezTo>
                <a:cubicBezTo>
                  <a:pt x="219665" y="84069"/>
                  <a:pt x="219665" y="84069"/>
                  <a:pt x="219665" y="84069"/>
                </a:cubicBezTo>
                <a:cubicBezTo>
                  <a:pt x="219665" y="84069"/>
                  <a:pt x="219665" y="84069"/>
                  <a:pt x="219665" y="81446"/>
                </a:cubicBezTo>
                <a:cubicBezTo>
                  <a:pt x="218254" y="80134"/>
                  <a:pt x="219665" y="80134"/>
                  <a:pt x="219665" y="80134"/>
                </a:cubicBezTo>
                <a:cubicBezTo>
                  <a:pt x="219665" y="80134"/>
                  <a:pt x="219665" y="80134"/>
                  <a:pt x="225310" y="76200"/>
                </a:cubicBezTo>
                <a:close/>
                <a:moveTo>
                  <a:pt x="205555" y="76200"/>
                </a:moveTo>
                <a:cubicBezTo>
                  <a:pt x="212500" y="76200"/>
                  <a:pt x="216667" y="81446"/>
                  <a:pt x="216667" y="90626"/>
                </a:cubicBezTo>
                <a:cubicBezTo>
                  <a:pt x="216667" y="101118"/>
                  <a:pt x="212500" y="106363"/>
                  <a:pt x="205555" y="106363"/>
                </a:cubicBezTo>
                <a:cubicBezTo>
                  <a:pt x="198609" y="106363"/>
                  <a:pt x="194442" y="101118"/>
                  <a:pt x="194442" y="91937"/>
                </a:cubicBezTo>
                <a:cubicBezTo>
                  <a:pt x="194442" y="81446"/>
                  <a:pt x="198609" y="76200"/>
                  <a:pt x="205555" y="76200"/>
                </a:cubicBezTo>
                <a:close/>
                <a:moveTo>
                  <a:pt x="183964" y="76200"/>
                </a:moveTo>
                <a:cubicBezTo>
                  <a:pt x="189044" y="76200"/>
                  <a:pt x="192854" y="81446"/>
                  <a:pt x="192854" y="90626"/>
                </a:cubicBezTo>
                <a:cubicBezTo>
                  <a:pt x="192854" y="101118"/>
                  <a:pt x="189044" y="106363"/>
                  <a:pt x="182694" y="106363"/>
                </a:cubicBezTo>
                <a:cubicBezTo>
                  <a:pt x="177614" y="106363"/>
                  <a:pt x="173804" y="101118"/>
                  <a:pt x="173804" y="91937"/>
                </a:cubicBezTo>
                <a:cubicBezTo>
                  <a:pt x="173804" y="81446"/>
                  <a:pt x="177614" y="76200"/>
                  <a:pt x="183964" y="76200"/>
                </a:cubicBezTo>
                <a:close/>
                <a:moveTo>
                  <a:pt x="161898" y="76200"/>
                </a:moveTo>
                <a:cubicBezTo>
                  <a:pt x="168347" y="76200"/>
                  <a:pt x="172217" y="81446"/>
                  <a:pt x="172217" y="90626"/>
                </a:cubicBezTo>
                <a:cubicBezTo>
                  <a:pt x="172217" y="101118"/>
                  <a:pt x="168347" y="106363"/>
                  <a:pt x="161898" y="106363"/>
                </a:cubicBezTo>
                <a:cubicBezTo>
                  <a:pt x="155448" y="106363"/>
                  <a:pt x="152869" y="101118"/>
                  <a:pt x="151579" y="91937"/>
                </a:cubicBezTo>
                <a:cubicBezTo>
                  <a:pt x="151579" y="81446"/>
                  <a:pt x="156738" y="76200"/>
                  <a:pt x="161898" y="76200"/>
                </a:cubicBezTo>
                <a:close/>
                <a:moveTo>
                  <a:pt x="139584" y="76200"/>
                </a:moveTo>
                <a:cubicBezTo>
                  <a:pt x="139584" y="76200"/>
                  <a:pt x="139584" y="76200"/>
                  <a:pt x="140996" y="76200"/>
                </a:cubicBezTo>
                <a:cubicBezTo>
                  <a:pt x="140996" y="76200"/>
                  <a:pt x="140996" y="76200"/>
                  <a:pt x="143818" y="76200"/>
                </a:cubicBezTo>
                <a:cubicBezTo>
                  <a:pt x="143818" y="76200"/>
                  <a:pt x="145229" y="77511"/>
                  <a:pt x="145229" y="77511"/>
                </a:cubicBezTo>
                <a:cubicBezTo>
                  <a:pt x="145229" y="77511"/>
                  <a:pt x="145229" y="77511"/>
                  <a:pt x="145229" y="105052"/>
                </a:cubicBezTo>
                <a:cubicBezTo>
                  <a:pt x="145229" y="105052"/>
                  <a:pt x="143818" y="106363"/>
                  <a:pt x="143818" y="106363"/>
                </a:cubicBezTo>
                <a:cubicBezTo>
                  <a:pt x="143818" y="106363"/>
                  <a:pt x="143818" y="106363"/>
                  <a:pt x="139584" y="106363"/>
                </a:cubicBezTo>
                <a:cubicBezTo>
                  <a:pt x="139584" y="106363"/>
                  <a:pt x="139584" y="105052"/>
                  <a:pt x="139584" y="105052"/>
                </a:cubicBezTo>
                <a:cubicBezTo>
                  <a:pt x="139584" y="105052"/>
                  <a:pt x="139584" y="105052"/>
                  <a:pt x="139584" y="82757"/>
                </a:cubicBezTo>
                <a:cubicBezTo>
                  <a:pt x="139584" y="82757"/>
                  <a:pt x="139584" y="82757"/>
                  <a:pt x="135351" y="84069"/>
                </a:cubicBezTo>
                <a:cubicBezTo>
                  <a:pt x="135351" y="84069"/>
                  <a:pt x="135351" y="84069"/>
                  <a:pt x="133940" y="84069"/>
                </a:cubicBezTo>
                <a:lnTo>
                  <a:pt x="132529" y="81446"/>
                </a:lnTo>
                <a:cubicBezTo>
                  <a:pt x="132529" y="80134"/>
                  <a:pt x="132529" y="80134"/>
                  <a:pt x="133940" y="80134"/>
                </a:cubicBezTo>
                <a:cubicBezTo>
                  <a:pt x="133940" y="80134"/>
                  <a:pt x="133940" y="80134"/>
                  <a:pt x="139584" y="76200"/>
                </a:cubicBezTo>
                <a:close/>
                <a:moveTo>
                  <a:pt x="118837" y="76200"/>
                </a:moveTo>
                <a:cubicBezTo>
                  <a:pt x="118837" y="76200"/>
                  <a:pt x="118837" y="76200"/>
                  <a:pt x="123005" y="76200"/>
                </a:cubicBezTo>
                <a:cubicBezTo>
                  <a:pt x="123005" y="76200"/>
                  <a:pt x="123005" y="77511"/>
                  <a:pt x="123005" y="77511"/>
                </a:cubicBezTo>
                <a:cubicBezTo>
                  <a:pt x="123005" y="77511"/>
                  <a:pt x="123005" y="77511"/>
                  <a:pt x="123005" y="105052"/>
                </a:cubicBezTo>
                <a:cubicBezTo>
                  <a:pt x="123005" y="105052"/>
                  <a:pt x="123005" y="106363"/>
                  <a:pt x="123005" y="106363"/>
                </a:cubicBezTo>
                <a:cubicBezTo>
                  <a:pt x="123005" y="106363"/>
                  <a:pt x="123005" y="106363"/>
                  <a:pt x="118837" y="106363"/>
                </a:cubicBezTo>
                <a:cubicBezTo>
                  <a:pt x="118837" y="106363"/>
                  <a:pt x="117448" y="105052"/>
                  <a:pt x="117448" y="105052"/>
                </a:cubicBezTo>
                <a:cubicBezTo>
                  <a:pt x="117448" y="105052"/>
                  <a:pt x="117448" y="105052"/>
                  <a:pt x="117448" y="82757"/>
                </a:cubicBezTo>
                <a:cubicBezTo>
                  <a:pt x="117448" y="82757"/>
                  <a:pt x="117448" y="82757"/>
                  <a:pt x="114670" y="84069"/>
                </a:cubicBezTo>
                <a:cubicBezTo>
                  <a:pt x="113281" y="84069"/>
                  <a:pt x="113281" y="84069"/>
                  <a:pt x="113281" y="84069"/>
                </a:cubicBezTo>
                <a:cubicBezTo>
                  <a:pt x="113281" y="84069"/>
                  <a:pt x="113281" y="84069"/>
                  <a:pt x="111892" y="81446"/>
                </a:cubicBezTo>
                <a:cubicBezTo>
                  <a:pt x="111892" y="80134"/>
                  <a:pt x="111892" y="80134"/>
                  <a:pt x="111892" y="80134"/>
                </a:cubicBezTo>
                <a:cubicBezTo>
                  <a:pt x="111892" y="80134"/>
                  <a:pt x="111892" y="80134"/>
                  <a:pt x="118837" y="76200"/>
                </a:cubicBezTo>
                <a:close/>
                <a:moveTo>
                  <a:pt x="97207" y="76200"/>
                </a:moveTo>
                <a:cubicBezTo>
                  <a:pt x="97207" y="76200"/>
                  <a:pt x="97207" y="76200"/>
                  <a:pt x="99588" y="76200"/>
                </a:cubicBezTo>
                <a:cubicBezTo>
                  <a:pt x="100779" y="76200"/>
                  <a:pt x="100779" y="77511"/>
                  <a:pt x="100779" y="77511"/>
                </a:cubicBezTo>
                <a:cubicBezTo>
                  <a:pt x="100779" y="77511"/>
                  <a:pt x="100779" y="77511"/>
                  <a:pt x="100779" y="105052"/>
                </a:cubicBezTo>
                <a:cubicBezTo>
                  <a:pt x="100779" y="105052"/>
                  <a:pt x="100779" y="106363"/>
                  <a:pt x="99588" y="106363"/>
                </a:cubicBezTo>
                <a:cubicBezTo>
                  <a:pt x="99588" y="106363"/>
                  <a:pt x="99588" y="106363"/>
                  <a:pt x="97207" y="106363"/>
                </a:cubicBezTo>
                <a:cubicBezTo>
                  <a:pt x="96016" y="106363"/>
                  <a:pt x="96016" y="105052"/>
                  <a:pt x="96016" y="105052"/>
                </a:cubicBezTo>
                <a:cubicBezTo>
                  <a:pt x="96016" y="105052"/>
                  <a:pt x="96016" y="105052"/>
                  <a:pt x="96016" y="82757"/>
                </a:cubicBezTo>
                <a:cubicBezTo>
                  <a:pt x="96016" y="82757"/>
                  <a:pt x="96016" y="82757"/>
                  <a:pt x="92444" y="84069"/>
                </a:cubicBezTo>
                <a:cubicBezTo>
                  <a:pt x="91254" y="84069"/>
                  <a:pt x="91254" y="84069"/>
                  <a:pt x="91254" y="84069"/>
                </a:cubicBezTo>
                <a:cubicBezTo>
                  <a:pt x="91254" y="84069"/>
                  <a:pt x="91254" y="84069"/>
                  <a:pt x="91254" y="81446"/>
                </a:cubicBezTo>
                <a:cubicBezTo>
                  <a:pt x="91254" y="80134"/>
                  <a:pt x="91254" y="80134"/>
                  <a:pt x="91254" y="80134"/>
                </a:cubicBezTo>
                <a:cubicBezTo>
                  <a:pt x="91254" y="80134"/>
                  <a:pt x="91254" y="80134"/>
                  <a:pt x="97207" y="76200"/>
                </a:cubicBezTo>
                <a:close/>
                <a:moveTo>
                  <a:pt x="201926" y="36513"/>
                </a:moveTo>
                <a:cubicBezTo>
                  <a:pt x="200792" y="37812"/>
                  <a:pt x="200792" y="39111"/>
                  <a:pt x="200792" y="40409"/>
                </a:cubicBezTo>
                <a:cubicBezTo>
                  <a:pt x="200792" y="46904"/>
                  <a:pt x="203060" y="50801"/>
                  <a:pt x="205328" y="50801"/>
                </a:cubicBezTo>
                <a:cubicBezTo>
                  <a:pt x="208730" y="50801"/>
                  <a:pt x="208730" y="44306"/>
                  <a:pt x="208730" y="40409"/>
                </a:cubicBezTo>
                <a:cubicBezTo>
                  <a:pt x="208730" y="40409"/>
                  <a:pt x="208730" y="40409"/>
                  <a:pt x="208730" y="39111"/>
                </a:cubicBezTo>
                <a:cubicBezTo>
                  <a:pt x="206462" y="37812"/>
                  <a:pt x="204194" y="36513"/>
                  <a:pt x="201926" y="36513"/>
                </a:cubicBezTo>
                <a:close/>
                <a:moveTo>
                  <a:pt x="123005" y="34925"/>
                </a:moveTo>
                <a:cubicBezTo>
                  <a:pt x="120737" y="34925"/>
                  <a:pt x="118469" y="36248"/>
                  <a:pt x="116201" y="37571"/>
                </a:cubicBezTo>
                <a:cubicBezTo>
                  <a:pt x="116201" y="38894"/>
                  <a:pt x="115067" y="38894"/>
                  <a:pt x="115067" y="38894"/>
                </a:cubicBezTo>
                <a:cubicBezTo>
                  <a:pt x="115067" y="38894"/>
                  <a:pt x="115067" y="40216"/>
                  <a:pt x="115067" y="40216"/>
                </a:cubicBezTo>
                <a:cubicBezTo>
                  <a:pt x="115067" y="46831"/>
                  <a:pt x="116201" y="50800"/>
                  <a:pt x="119603" y="50800"/>
                </a:cubicBezTo>
                <a:cubicBezTo>
                  <a:pt x="123005" y="50800"/>
                  <a:pt x="123005" y="44185"/>
                  <a:pt x="123005" y="40216"/>
                </a:cubicBezTo>
                <a:cubicBezTo>
                  <a:pt x="123005" y="38894"/>
                  <a:pt x="123005" y="36248"/>
                  <a:pt x="123005" y="34925"/>
                </a:cubicBezTo>
                <a:close/>
                <a:moveTo>
                  <a:pt x="162011" y="31750"/>
                </a:moveTo>
                <a:cubicBezTo>
                  <a:pt x="159290" y="31750"/>
                  <a:pt x="157929" y="35560"/>
                  <a:pt x="157929" y="40640"/>
                </a:cubicBezTo>
                <a:cubicBezTo>
                  <a:pt x="157929" y="46990"/>
                  <a:pt x="159290" y="50800"/>
                  <a:pt x="162011" y="50800"/>
                </a:cubicBezTo>
                <a:cubicBezTo>
                  <a:pt x="166093" y="50800"/>
                  <a:pt x="167454" y="44450"/>
                  <a:pt x="167454" y="40640"/>
                </a:cubicBezTo>
                <a:cubicBezTo>
                  <a:pt x="167454" y="36830"/>
                  <a:pt x="166093" y="31750"/>
                  <a:pt x="162011" y="31750"/>
                </a:cubicBezTo>
                <a:close/>
                <a:moveTo>
                  <a:pt x="144703" y="28575"/>
                </a:moveTo>
                <a:cubicBezTo>
                  <a:pt x="144703" y="28575"/>
                  <a:pt x="144703" y="28575"/>
                  <a:pt x="144703" y="55075"/>
                </a:cubicBezTo>
                <a:cubicBezTo>
                  <a:pt x="144703" y="55075"/>
                  <a:pt x="143389" y="55075"/>
                  <a:pt x="143389" y="55075"/>
                </a:cubicBezTo>
                <a:cubicBezTo>
                  <a:pt x="143389" y="55075"/>
                  <a:pt x="143389" y="55075"/>
                  <a:pt x="139447" y="55075"/>
                </a:cubicBezTo>
                <a:cubicBezTo>
                  <a:pt x="139447" y="55075"/>
                  <a:pt x="139447" y="55075"/>
                  <a:pt x="139447" y="32550"/>
                </a:cubicBezTo>
                <a:cubicBezTo>
                  <a:pt x="139447" y="32550"/>
                  <a:pt x="139447" y="32550"/>
                  <a:pt x="135504" y="33875"/>
                </a:cubicBezTo>
                <a:cubicBezTo>
                  <a:pt x="135504" y="33875"/>
                  <a:pt x="135504" y="33875"/>
                  <a:pt x="134190" y="33875"/>
                </a:cubicBezTo>
                <a:cubicBezTo>
                  <a:pt x="134190" y="33875"/>
                  <a:pt x="134190" y="33875"/>
                  <a:pt x="132876" y="31225"/>
                </a:cubicBezTo>
                <a:cubicBezTo>
                  <a:pt x="131562" y="31225"/>
                  <a:pt x="130248" y="32550"/>
                  <a:pt x="127619" y="32550"/>
                </a:cubicBezTo>
                <a:cubicBezTo>
                  <a:pt x="128934" y="35200"/>
                  <a:pt x="128934" y="37850"/>
                  <a:pt x="128934" y="40500"/>
                </a:cubicBezTo>
                <a:cubicBezTo>
                  <a:pt x="128934" y="51100"/>
                  <a:pt x="124991" y="56400"/>
                  <a:pt x="118420" y="56400"/>
                </a:cubicBezTo>
                <a:cubicBezTo>
                  <a:pt x="113164" y="56400"/>
                  <a:pt x="109221" y="51100"/>
                  <a:pt x="109221" y="41825"/>
                </a:cubicBezTo>
                <a:cubicBezTo>
                  <a:pt x="106593" y="43150"/>
                  <a:pt x="103964" y="44475"/>
                  <a:pt x="101336" y="47125"/>
                </a:cubicBezTo>
                <a:cubicBezTo>
                  <a:pt x="101336" y="47125"/>
                  <a:pt x="101336" y="47125"/>
                  <a:pt x="101336" y="55075"/>
                </a:cubicBezTo>
                <a:cubicBezTo>
                  <a:pt x="101336" y="55075"/>
                  <a:pt x="101336" y="55075"/>
                  <a:pt x="100022" y="55075"/>
                </a:cubicBezTo>
                <a:cubicBezTo>
                  <a:pt x="100022" y="55075"/>
                  <a:pt x="100022" y="55075"/>
                  <a:pt x="97394" y="55075"/>
                </a:cubicBezTo>
                <a:cubicBezTo>
                  <a:pt x="96080" y="55075"/>
                  <a:pt x="96080" y="55075"/>
                  <a:pt x="96080" y="55075"/>
                </a:cubicBezTo>
                <a:cubicBezTo>
                  <a:pt x="96080" y="55075"/>
                  <a:pt x="96080" y="55075"/>
                  <a:pt x="96080" y="49775"/>
                </a:cubicBezTo>
                <a:cubicBezTo>
                  <a:pt x="85566" y="57725"/>
                  <a:pt x="77681" y="65675"/>
                  <a:pt x="72425" y="77600"/>
                </a:cubicBezTo>
                <a:cubicBezTo>
                  <a:pt x="73739" y="76275"/>
                  <a:pt x="75053" y="76275"/>
                  <a:pt x="76367" y="76275"/>
                </a:cubicBezTo>
                <a:cubicBezTo>
                  <a:pt x="82938" y="76275"/>
                  <a:pt x="86880" y="81575"/>
                  <a:pt x="86880" y="90850"/>
                </a:cubicBezTo>
                <a:cubicBezTo>
                  <a:pt x="86880" y="101450"/>
                  <a:pt x="82938" y="106750"/>
                  <a:pt x="76367" y="106750"/>
                </a:cubicBezTo>
                <a:cubicBezTo>
                  <a:pt x="71111" y="106750"/>
                  <a:pt x="68482" y="102775"/>
                  <a:pt x="67168" y="97475"/>
                </a:cubicBezTo>
                <a:cubicBezTo>
                  <a:pt x="65854" y="106750"/>
                  <a:pt x="69796" y="120000"/>
                  <a:pt x="75053" y="127950"/>
                </a:cubicBezTo>
                <a:cubicBezTo>
                  <a:pt x="75053" y="127950"/>
                  <a:pt x="76367" y="127950"/>
                  <a:pt x="76367" y="127950"/>
                </a:cubicBezTo>
                <a:cubicBezTo>
                  <a:pt x="76367" y="127950"/>
                  <a:pt x="76367" y="127950"/>
                  <a:pt x="78995" y="127950"/>
                </a:cubicBezTo>
                <a:cubicBezTo>
                  <a:pt x="78995" y="127950"/>
                  <a:pt x="80310" y="127950"/>
                  <a:pt x="80310" y="127950"/>
                </a:cubicBezTo>
                <a:cubicBezTo>
                  <a:pt x="80310" y="127950"/>
                  <a:pt x="80310" y="127950"/>
                  <a:pt x="80310" y="133250"/>
                </a:cubicBezTo>
                <a:cubicBezTo>
                  <a:pt x="82938" y="134575"/>
                  <a:pt x="85566" y="135900"/>
                  <a:pt x="88195" y="135900"/>
                </a:cubicBezTo>
                <a:cubicBezTo>
                  <a:pt x="89509" y="130600"/>
                  <a:pt x="93451" y="126625"/>
                  <a:pt x="97394" y="126625"/>
                </a:cubicBezTo>
                <a:cubicBezTo>
                  <a:pt x="102650" y="126625"/>
                  <a:pt x="106593" y="130600"/>
                  <a:pt x="107907" y="135900"/>
                </a:cubicBezTo>
                <a:cubicBezTo>
                  <a:pt x="110535" y="137225"/>
                  <a:pt x="113164" y="138550"/>
                  <a:pt x="114478" y="145175"/>
                </a:cubicBezTo>
                <a:cubicBezTo>
                  <a:pt x="115792" y="147825"/>
                  <a:pt x="115792" y="150475"/>
                  <a:pt x="117106" y="151800"/>
                </a:cubicBezTo>
                <a:cubicBezTo>
                  <a:pt x="117106" y="151800"/>
                  <a:pt x="117106" y="151800"/>
                  <a:pt x="117106" y="133250"/>
                </a:cubicBezTo>
                <a:cubicBezTo>
                  <a:pt x="117106" y="133250"/>
                  <a:pt x="117106" y="133250"/>
                  <a:pt x="114478" y="134575"/>
                </a:cubicBezTo>
                <a:cubicBezTo>
                  <a:pt x="113164" y="135900"/>
                  <a:pt x="113164" y="135900"/>
                  <a:pt x="113164" y="135900"/>
                </a:cubicBezTo>
                <a:cubicBezTo>
                  <a:pt x="113164" y="134575"/>
                  <a:pt x="113164" y="134575"/>
                  <a:pt x="113164" y="134575"/>
                </a:cubicBezTo>
                <a:cubicBezTo>
                  <a:pt x="113164" y="134575"/>
                  <a:pt x="113164" y="134575"/>
                  <a:pt x="111849" y="131925"/>
                </a:cubicBezTo>
                <a:cubicBezTo>
                  <a:pt x="111849" y="131925"/>
                  <a:pt x="111849" y="130600"/>
                  <a:pt x="111849" y="130600"/>
                </a:cubicBezTo>
                <a:cubicBezTo>
                  <a:pt x="111849" y="130600"/>
                  <a:pt x="111849" y="130600"/>
                  <a:pt x="118420" y="127950"/>
                </a:cubicBezTo>
                <a:cubicBezTo>
                  <a:pt x="118420" y="127950"/>
                  <a:pt x="118420" y="127950"/>
                  <a:pt x="122363" y="127950"/>
                </a:cubicBezTo>
                <a:cubicBezTo>
                  <a:pt x="122363" y="127950"/>
                  <a:pt x="122363" y="127950"/>
                  <a:pt x="122363" y="155775"/>
                </a:cubicBezTo>
                <a:cubicBezTo>
                  <a:pt x="122363" y="155775"/>
                  <a:pt x="122363" y="157100"/>
                  <a:pt x="122363" y="157100"/>
                </a:cubicBezTo>
                <a:cubicBezTo>
                  <a:pt x="122363" y="157100"/>
                  <a:pt x="122363" y="157100"/>
                  <a:pt x="121049" y="157100"/>
                </a:cubicBezTo>
                <a:cubicBezTo>
                  <a:pt x="123677" y="159750"/>
                  <a:pt x="128934" y="161075"/>
                  <a:pt x="135504" y="162400"/>
                </a:cubicBezTo>
                <a:cubicBezTo>
                  <a:pt x="144703" y="165050"/>
                  <a:pt x="159159" y="151800"/>
                  <a:pt x="161787" y="159750"/>
                </a:cubicBezTo>
                <a:cubicBezTo>
                  <a:pt x="164416" y="175650"/>
                  <a:pt x="173615" y="186250"/>
                  <a:pt x="181500" y="191550"/>
                </a:cubicBezTo>
                <a:cubicBezTo>
                  <a:pt x="181500" y="191550"/>
                  <a:pt x="181500" y="191550"/>
                  <a:pt x="181500" y="183600"/>
                </a:cubicBezTo>
                <a:cubicBezTo>
                  <a:pt x="181500" y="183600"/>
                  <a:pt x="181500" y="183600"/>
                  <a:pt x="178872" y="186250"/>
                </a:cubicBezTo>
                <a:cubicBezTo>
                  <a:pt x="177557" y="186250"/>
                  <a:pt x="177557" y="186250"/>
                  <a:pt x="177557" y="186250"/>
                </a:cubicBezTo>
                <a:cubicBezTo>
                  <a:pt x="177557" y="186250"/>
                  <a:pt x="177557" y="184925"/>
                  <a:pt x="176243" y="184925"/>
                </a:cubicBezTo>
                <a:cubicBezTo>
                  <a:pt x="176243" y="184925"/>
                  <a:pt x="176243" y="184925"/>
                  <a:pt x="176243" y="182275"/>
                </a:cubicBezTo>
                <a:cubicBezTo>
                  <a:pt x="176243" y="182275"/>
                  <a:pt x="176243" y="180950"/>
                  <a:pt x="176243" y="180950"/>
                </a:cubicBezTo>
                <a:cubicBezTo>
                  <a:pt x="176243" y="180950"/>
                  <a:pt x="176243" y="180950"/>
                  <a:pt x="182814" y="178300"/>
                </a:cubicBezTo>
                <a:cubicBezTo>
                  <a:pt x="182814" y="178300"/>
                  <a:pt x="182814" y="178300"/>
                  <a:pt x="186756" y="178300"/>
                </a:cubicBezTo>
                <a:cubicBezTo>
                  <a:pt x="186756" y="178300"/>
                  <a:pt x="186756" y="178300"/>
                  <a:pt x="186756" y="194200"/>
                </a:cubicBezTo>
                <a:cubicBezTo>
                  <a:pt x="194641" y="196850"/>
                  <a:pt x="201213" y="194200"/>
                  <a:pt x="199898" y="186250"/>
                </a:cubicBezTo>
                <a:cubicBezTo>
                  <a:pt x="199898" y="186250"/>
                  <a:pt x="198584" y="186250"/>
                  <a:pt x="198584" y="186250"/>
                </a:cubicBezTo>
                <a:cubicBezTo>
                  <a:pt x="198584" y="186250"/>
                  <a:pt x="198584" y="184925"/>
                  <a:pt x="198584" y="184925"/>
                </a:cubicBezTo>
                <a:cubicBezTo>
                  <a:pt x="198584" y="184925"/>
                  <a:pt x="198584" y="184925"/>
                  <a:pt x="197270" y="182275"/>
                </a:cubicBezTo>
                <a:cubicBezTo>
                  <a:pt x="197270" y="182275"/>
                  <a:pt x="197270" y="180950"/>
                  <a:pt x="198584" y="180950"/>
                </a:cubicBezTo>
                <a:cubicBezTo>
                  <a:pt x="198584" y="180950"/>
                  <a:pt x="198584" y="180950"/>
                  <a:pt x="199898" y="180950"/>
                </a:cubicBezTo>
                <a:cubicBezTo>
                  <a:pt x="198584" y="167700"/>
                  <a:pt x="199898" y="166375"/>
                  <a:pt x="199898" y="166375"/>
                </a:cubicBezTo>
                <a:cubicBezTo>
                  <a:pt x="199898" y="166375"/>
                  <a:pt x="226182" y="169025"/>
                  <a:pt x="234066" y="161075"/>
                </a:cubicBezTo>
                <a:cubicBezTo>
                  <a:pt x="238009" y="157100"/>
                  <a:pt x="240637" y="151800"/>
                  <a:pt x="241951" y="146500"/>
                </a:cubicBezTo>
                <a:cubicBezTo>
                  <a:pt x="243266" y="145175"/>
                  <a:pt x="244580" y="143850"/>
                  <a:pt x="245894" y="143850"/>
                </a:cubicBezTo>
                <a:cubicBezTo>
                  <a:pt x="245894" y="143850"/>
                  <a:pt x="245894" y="143850"/>
                  <a:pt x="245894" y="133250"/>
                </a:cubicBezTo>
                <a:cubicBezTo>
                  <a:pt x="245894" y="133250"/>
                  <a:pt x="245894" y="133250"/>
                  <a:pt x="241951" y="134575"/>
                </a:cubicBezTo>
                <a:cubicBezTo>
                  <a:pt x="241951" y="135900"/>
                  <a:pt x="241951" y="135900"/>
                  <a:pt x="241951" y="135900"/>
                </a:cubicBezTo>
                <a:cubicBezTo>
                  <a:pt x="241951" y="134575"/>
                  <a:pt x="240637" y="134575"/>
                  <a:pt x="240637" y="134575"/>
                </a:cubicBezTo>
                <a:cubicBezTo>
                  <a:pt x="240637" y="134575"/>
                  <a:pt x="240637" y="134575"/>
                  <a:pt x="240637" y="131925"/>
                </a:cubicBezTo>
                <a:cubicBezTo>
                  <a:pt x="240637" y="131925"/>
                  <a:pt x="240637" y="130600"/>
                  <a:pt x="240637" y="130600"/>
                </a:cubicBezTo>
                <a:cubicBezTo>
                  <a:pt x="240637" y="130600"/>
                  <a:pt x="240637" y="130600"/>
                  <a:pt x="247208" y="127950"/>
                </a:cubicBezTo>
                <a:cubicBezTo>
                  <a:pt x="247208" y="127950"/>
                  <a:pt x="247208" y="127950"/>
                  <a:pt x="249836" y="127950"/>
                </a:cubicBezTo>
                <a:cubicBezTo>
                  <a:pt x="251151" y="127950"/>
                  <a:pt x="251151" y="127950"/>
                  <a:pt x="251151" y="127950"/>
                </a:cubicBezTo>
                <a:cubicBezTo>
                  <a:pt x="251151" y="127950"/>
                  <a:pt x="251151" y="127950"/>
                  <a:pt x="251151" y="143850"/>
                </a:cubicBezTo>
                <a:cubicBezTo>
                  <a:pt x="251151" y="143850"/>
                  <a:pt x="252465" y="143850"/>
                  <a:pt x="252465" y="143850"/>
                </a:cubicBezTo>
                <a:cubicBezTo>
                  <a:pt x="264292" y="137225"/>
                  <a:pt x="262978" y="113375"/>
                  <a:pt x="257721" y="94825"/>
                </a:cubicBezTo>
                <a:cubicBezTo>
                  <a:pt x="256407" y="102775"/>
                  <a:pt x="253779" y="106750"/>
                  <a:pt x="247208" y="106750"/>
                </a:cubicBezTo>
                <a:cubicBezTo>
                  <a:pt x="241951" y="106750"/>
                  <a:pt x="238009" y="101450"/>
                  <a:pt x="238009" y="92175"/>
                </a:cubicBezTo>
                <a:cubicBezTo>
                  <a:pt x="238009" y="81575"/>
                  <a:pt x="241951" y="76275"/>
                  <a:pt x="248522" y="76275"/>
                </a:cubicBezTo>
                <a:cubicBezTo>
                  <a:pt x="248522" y="76275"/>
                  <a:pt x="249836" y="76275"/>
                  <a:pt x="249836" y="76275"/>
                </a:cubicBezTo>
                <a:cubicBezTo>
                  <a:pt x="244580" y="67000"/>
                  <a:pt x="238009" y="59050"/>
                  <a:pt x="230124" y="52425"/>
                </a:cubicBezTo>
                <a:cubicBezTo>
                  <a:pt x="230124" y="52425"/>
                  <a:pt x="230124" y="52425"/>
                  <a:pt x="230124" y="55075"/>
                </a:cubicBezTo>
                <a:cubicBezTo>
                  <a:pt x="230124" y="55075"/>
                  <a:pt x="230124" y="55075"/>
                  <a:pt x="228810" y="55075"/>
                </a:cubicBezTo>
                <a:cubicBezTo>
                  <a:pt x="228810" y="55075"/>
                  <a:pt x="228810" y="55075"/>
                  <a:pt x="224867" y="55075"/>
                </a:cubicBezTo>
                <a:cubicBezTo>
                  <a:pt x="224867" y="55075"/>
                  <a:pt x="224867" y="55075"/>
                  <a:pt x="224867" y="48450"/>
                </a:cubicBezTo>
                <a:cubicBezTo>
                  <a:pt x="220925" y="47125"/>
                  <a:pt x="218297" y="44475"/>
                  <a:pt x="215668" y="43150"/>
                </a:cubicBezTo>
                <a:cubicBezTo>
                  <a:pt x="214354" y="51100"/>
                  <a:pt x="210412" y="56400"/>
                  <a:pt x="205155" y="56400"/>
                </a:cubicBezTo>
                <a:cubicBezTo>
                  <a:pt x="198584" y="56400"/>
                  <a:pt x="194641" y="49775"/>
                  <a:pt x="194641" y="40500"/>
                </a:cubicBezTo>
                <a:cubicBezTo>
                  <a:pt x="194641" y="37850"/>
                  <a:pt x="194641" y="36525"/>
                  <a:pt x="195956" y="33875"/>
                </a:cubicBezTo>
                <a:cubicBezTo>
                  <a:pt x="193327" y="32550"/>
                  <a:pt x="189385" y="32550"/>
                  <a:pt x="186756" y="31225"/>
                </a:cubicBezTo>
                <a:cubicBezTo>
                  <a:pt x="186756" y="31225"/>
                  <a:pt x="186756" y="31225"/>
                  <a:pt x="186756" y="55075"/>
                </a:cubicBezTo>
                <a:cubicBezTo>
                  <a:pt x="186756" y="55075"/>
                  <a:pt x="186756" y="55075"/>
                  <a:pt x="182814" y="55075"/>
                </a:cubicBezTo>
                <a:cubicBezTo>
                  <a:pt x="181500" y="55075"/>
                  <a:pt x="181500" y="55075"/>
                  <a:pt x="181500" y="55075"/>
                </a:cubicBezTo>
                <a:cubicBezTo>
                  <a:pt x="181500" y="55075"/>
                  <a:pt x="181500" y="55075"/>
                  <a:pt x="181500" y="32550"/>
                </a:cubicBezTo>
                <a:cubicBezTo>
                  <a:pt x="181500" y="32550"/>
                  <a:pt x="181500" y="32550"/>
                  <a:pt x="178872" y="33875"/>
                </a:cubicBezTo>
                <a:cubicBezTo>
                  <a:pt x="177557" y="33875"/>
                  <a:pt x="177557" y="33875"/>
                  <a:pt x="177557" y="33875"/>
                </a:cubicBezTo>
                <a:cubicBezTo>
                  <a:pt x="177557" y="33875"/>
                  <a:pt x="177557" y="33875"/>
                  <a:pt x="176243" y="33875"/>
                </a:cubicBezTo>
                <a:cubicBezTo>
                  <a:pt x="176243" y="33875"/>
                  <a:pt x="176243" y="33875"/>
                  <a:pt x="176243" y="31225"/>
                </a:cubicBezTo>
                <a:cubicBezTo>
                  <a:pt x="176243" y="29900"/>
                  <a:pt x="176243" y="29900"/>
                  <a:pt x="176243" y="29900"/>
                </a:cubicBezTo>
                <a:cubicBezTo>
                  <a:pt x="176243" y="29900"/>
                  <a:pt x="176243" y="29900"/>
                  <a:pt x="177557" y="29900"/>
                </a:cubicBezTo>
                <a:cubicBezTo>
                  <a:pt x="173615" y="28575"/>
                  <a:pt x="170987" y="28575"/>
                  <a:pt x="168358" y="28575"/>
                </a:cubicBezTo>
                <a:cubicBezTo>
                  <a:pt x="170987" y="31225"/>
                  <a:pt x="172301" y="35200"/>
                  <a:pt x="172301" y="40500"/>
                </a:cubicBezTo>
                <a:cubicBezTo>
                  <a:pt x="172301" y="51100"/>
                  <a:pt x="168358" y="56400"/>
                  <a:pt x="161787" y="56400"/>
                </a:cubicBezTo>
                <a:cubicBezTo>
                  <a:pt x="155217" y="56400"/>
                  <a:pt x="152588" y="49775"/>
                  <a:pt x="151274" y="40500"/>
                </a:cubicBezTo>
                <a:cubicBezTo>
                  <a:pt x="151274" y="35200"/>
                  <a:pt x="153903" y="29900"/>
                  <a:pt x="156531" y="28575"/>
                </a:cubicBezTo>
                <a:cubicBezTo>
                  <a:pt x="152588" y="28575"/>
                  <a:pt x="148646" y="28575"/>
                  <a:pt x="144703" y="28575"/>
                </a:cubicBezTo>
                <a:close/>
                <a:moveTo>
                  <a:pt x="164533" y="0"/>
                </a:moveTo>
                <a:cubicBezTo>
                  <a:pt x="205215" y="0"/>
                  <a:pt x="240648" y="17090"/>
                  <a:pt x="266895" y="48642"/>
                </a:cubicBezTo>
                <a:cubicBezTo>
                  <a:pt x="285268" y="72305"/>
                  <a:pt x="294454" y="99914"/>
                  <a:pt x="291829" y="130150"/>
                </a:cubicBezTo>
                <a:cubicBezTo>
                  <a:pt x="289205" y="155129"/>
                  <a:pt x="278706" y="181422"/>
                  <a:pt x="269520" y="206400"/>
                </a:cubicBezTo>
                <a:cubicBezTo>
                  <a:pt x="253772" y="247154"/>
                  <a:pt x="239336" y="286594"/>
                  <a:pt x="257709" y="324718"/>
                </a:cubicBezTo>
                <a:cubicBezTo>
                  <a:pt x="257709" y="327348"/>
                  <a:pt x="257709" y="329977"/>
                  <a:pt x="256396" y="332606"/>
                </a:cubicBezTo>
                <a:cubicBezTo>
                  <a:pt x="255084" y="335236"/>
                  <a:pt x="252459" y="336550"/>
                  <a:pt x="249835" y="336550"/>
                </a:cubicBezTo>
                <a:cubicBezTo>
                  <a:pt x="249835" y="336550"/>
                  <a:pt x="249835" y="336550"/>
                  <a:pt x="105478" y="336550"/>
                </a:cubicBezTo>
                <a:cubicBezTo>
                  <a:pt x="101541" y="336550"/>
                  <a:pt x="98916" y="333921"/>
                  <a:pt x="97604" y="331292"/>
                </a:cubicBezTo>
                <a:cubicBezTo>
                  <a:pt x="96292" y="328662"/>
                  <a:pt x="96292" y="327348"/>
                  <a:pt x="96292" y="315516"/>
                </a:cubicBezTo>
                <a:cubicBezTo>
                  <a:pt x="96292" y="314201"/>
                  <a:pt x="96292" y="312887"/>
                  <a:pt x="96292" y="312887"/>
                </a:cubicBezTo>
                <a:cubicBezTo>
                  <a:pt x="94979" y="294481"/>
                  <a:pt x="87105" y="294481"/>
                  <a:pt x="71357" y="294481"/>
                </a:cubicBezTo>
                <a:cubicBezTo>
                  <a:pt x="58234" y="294481"/>
                  <a:pt x="42486" y="294481"/>
                  <a:pt x="31987" y="278706"/>
                </a:cubicBezTo>
                <a:cubicBezTo>
                  <a:pt x="24113" y="266874"/>
                  <a:pt x="24113" y="251098"/>
                  <a:pt x="25426" y="236637"/>
                </a:cubicBezTo>
                <a:cubicBezTo>
                  <a:pt x="25426" y="224805"/>
                  <a:pt x="25426" y="212973"/>
                  <a:pt x="21489" y="209029"/>
                </a:cubicBezTo>
                <a:cubicBezTo>
                  <a:pt x="21489" y="207715"/>
                  <a:pt x="17552" y="206400"/>
                  <a:pt x="16239" y="205085"/>
                </a:cubicBezTo>
                <a:cubicBezTo>
                  <a:pt x="10990" y="202456"/>
                  <a:pt x="3116" y="199827"/>
                  <a:pt x="491" y="191939"/>
                </a:cubicBezTo>
                <a:cubicBezTo>
                  <a:pt x="-821" y="187995"/>
                  <a:pt x="491" y="182736"/>
                  <a:pt x="4428" y="177478"/>
                </a:cubicBezTo>
                <a:cubicBezTo>
                  <a:pt x="17552" y="156443"/>
                  <a:pt x="20176" y="144612"/>
                  <a:pt x="24113" y="126206"/>
                </a:cubicBezTo>
                <a:cubicBezTo>
                  <a:pt x="25426" y="118319"/>
                  <a:pt x="26738" y="109116"/>
                  <a:pt x="29363" y="97284"/>
                </a:cubicBezTo>
                <a:cubicBezTo>
                  <a:pt x="38549" y="68361"/>
                  <a:pt x="55609" y="43383"/>
                  <a:pt x="81856" y="26293"/>
                </a:cubicBezTo>
                <a:cubicBezTo>
                  <a:pt x="105478" y="9202"/>
                  <a:pt x="135662" y="0"/>
                  <a:pt x="164533"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sz="2400" dirty="0">
              <a:latin typeface="Roboto" panose="02000000000000000000" pitchFamily="2" charset="0"/>
              <a:ea typeface="Roboto" panose="02000000000000000000" pitchFamily="2" charset="0"/>
              <a:sym typeface="Source Han Serif SC" panose="02020400000000000000" pitchFamily="18" charset="-122"/>
            </a:endParaRPr>
          </a:p>
        </p:txBody>
      </p:sp>
      <p:sp>
        <p:nvSpPr>
          <p:cNvPr id="22" name="椭圆 21">
            <a:extLst>
              <a:ext uri="{FF2B5EF4-FFF2-40B4-BE49-F238E27FC236}">
                <a16:creationId xmlns:a16="http://schemas.microsoft.com/office/drawing/2014/main" id="{CDD35B6D-D23F-4B04-B7F0-0AA1DF575216}"/>
              </a:ext>
            </a:extLst>
          </p:cNvPr>
          <p:cNvSpPr/>
          <p:nvPr/>
        </p:nvSpPr>
        <p:spPr>
          <a:xfrm>
            <a:off x="8498603"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grpSp>
        <p:nvGrpSpPr>
          <p:cNvPr id="23" name="Group 21">
            <a:extLst>
              <a:ext uri="{FF2B5EF4-FFF2-40B4-BE49-F238E27FC236}">
                <a16:creationId xmlns:a16="http://schemas.microsoft.com/office/drawing/2014/main" id="{70CC8220-91DF-462C-BBCE-846BD0D7640E}"/>
              </a:ext>
            </a:extLst>
          </p:cNvPr>
          <p:cNvGrpSpPr>
            <a:grpSpLocks noChangeAspect="1"/>
          </p:cNvGrpSpPr>
          <p:nvPr/>
        </p:nvGrpSpPr>
        <p:grpSpPr>
          <a:xfrm>
            <a:off x="8709727" y="3570995"/>
            <a:ext cx="482423" cy="540000"/>
            <a:chOff x="3471863" y="1916113"/>
            <a:chExt cx="492125" cy="550863"/>
          </a:xfrm>
          <a:solidFill>
            <a:schemeClr val="bg1"/>
          </a:solidFill>
        </p:grpSpPr>
        <p:sp>
          <p:nvSpPr>
            <p:cNvPr id="24" name="Freeform 70">
              <a:extLst>
                <a:ext uri="{FF2B5EF4-FFF2-40B4-BE49-F238E27FC236}">
                  <a16:creationId xmlns:a16="http://schemas.microsoft.com/office/drawing/2014/main" id="{51F9128A-A6E2-4008-B702-DB39EA043BBF}"/>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sp>
          <p:nvSpPr>
            <p:cNvPr id="25" name="Freeform 71">
              <a:extLst>
                <a:ext uri="{FF2B5EF4-FFF2-40B4-BE49-F238E27FC236}">
                  <a16:creationId xmlns:a16="http://schemas.microsoft.com/office/drawing/2014/main" id="{520388A5-B04B-4777-AB29-4779CB93D5ED}"/>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sp>
          <p:nvSpPr>
            <p:cNvPr id="26" name="Freeform 72">
              <a:extLst>
                <a:ext uri="{FF2B5EF4-FFF2-40B4-BE49-F238E27FC236}">
                  <a16:creationId xmlns:a16="http://schemas.microsoft.com/office/drawing/2014/main" id="{8926B8B3-0973-4AAF-94A8-CDCA520B41A7}"/>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grpSp>
      <p:sp>
        <p:nvSpPr>
          <p:cNvPr id="27" name="文本框 26">
            <a:extLst>
              <a:ext uri="{FF2B5EF4-FFF2-40B4-BE49-F238E27FC236}">
                <a16:creationId xmlns:a16="http://schemas.microsoft.com/office/drawing/2014/main" id="{388627B2-696A-4742-951B-A3AC6D531FD5}"/>
              </a:ext>
            </a:extLst>
          </p:cNvPr>
          <p:cNvSpPr txBox="1"/>
          <p:nvPr/>
        </p:nvSpPr>
        <p:spPr>
          <a:xfrm>
            <a:off x="9403275" y="3841801"/>
            <a:ext cx="2252540" cy="369332"/>
          </a:xfrm>
          <a:prstGeom prst="rect">
            <a:avLst/>
          </a:prstGeom>
          <a:noFill/>
        </p:spPr>
        <p:txBody>
          <a:bodyPr wrap="none" rtlCol="0">
            <a:spAutoFit/>
          </a:bodyPr>
          <a:lstStyle/>
          <a:p>
            <a:r>
              <a:rPr lang="en-US" altLang="zh-CN" dirty="0"/>
              <a:t>Design thinking</a:t>
            </a:r>
            <a:endParaRPr lang="zh-CN" altLang="en-US" dirty="0"/>
          </a:p>
        </p:txBody>
      </p:sp>
      <p:sp>
        <p:nvSpPr>
          <p:cNvPr id="28" name="文本框 27">
            <a:extLst>
              <a:ext uri="{FF2B5EF4-FFF2-40B4-BE49-F238E27FC236}">
                <a16:creationId xmlns:a16="http://schemas.microsoft.com/office/drawing/2014/main" id="{0B5B7C27-39F0-4E23-80F9-606D009E6CE3}"/>
              </a:ext>
            </a:extLst>
          </p:cNvPr>
          <p:cNvSpPr txBox="1"/>
          <p:nvPr/>
        </p:nvSpPr>
        <p:spPr>
          <a:xfrm>
            <a:off x="5444312" y="3857532"/>
            <a:ext cx="2666114" cy="369332"/>
          </a:xfrm>
          <a:prstGeom prst="rect">
            <a:avLst/>
          </a:prstGeom>
          <a:noFill/>
        </p:spPr>
        <p:txBody>
          <a:bodyPr wrap="none" rtlCol="0">
            <a:spAutoFit/>
          </a:bodyPr>
          <a:lstStyle/>
          <a:p>
            <a:r>
              <a:rPr lang="en-US" altLang="zh-CN" dirty="0"/>
              <a:t>Computing thinking</a:t>
            </a:r>
            <a:endParaRPr lang="zh-CN" altLang="en-US" dirty="0"/>
          </a:p>
        </p:txBody>
      </p:sp>
      <p:grpSp>
        <p:nvGrpSpPr>
          <p:cNvPr id="29" name="组合 28">
            <a:extLst>
              <a:ext uri="{FF2B5EF4-FFF2-40B4-BE49-F238E27FC236}">
                <a16:creationId xmlns:a16="http://schemas.microsoft.com/office/drawing/2014/main" id="{E9AB5D93-08AB-4907-8519-D78254563A13}"/>
              </a:ext>
            </a:extLst>
          </p:cNvPr>
          <p:cNvGrpSpPr>
            <a:grpSpLocks noChangeAspect="1"/>
          </p:cNvGrpSpPr>
          <p:nvPr/>
        </p:nvGrpSpPr>
        <p:grpSpPr>
          <a:xfrm>
            <a:off x="1117909" y="3171312"/>
            <a:ext cx="1440000" cy="1440000"/>
            <a:chOff x="733471" y="2167608"/>
            <a:chExt cx="1260000" cy="1260000"/>
          </a:xfrm>
          <a:effectLst>
            <a:outerShdw blurRad="50800" dist="38100" dir="2700000" algn="tl" rotWithShape="0">
              <a:prstClr val="black">
                <a:alpha val="40000"/>
              </a:prstClr>
            </a:outerShdw>
          </a:effectLst>
        </p:grpSpPr>
        <p:sp>
          <p:nvSpPr>
            <p:cNvPr id="30" name="椭圆 29">
              <a:extLst>
                <a:ext uri="{FF2B5EF4-FFF2-40B4-BE49-F238E27FC236}">
                  <a16:creationId xmlns:a16="http://schemas.microsoft.com/office/drawing/2014/main" id="{15BD9A8F-2AAA-4EFB-85B2-27F133B589E3}"/>
                </a:ext>
              </a:extLst>
            </p:cNvPr>
            <p:cNvSpPr/>
            <p:nvPr/>
          </p:nvSpPr>
          <p:spPr>
            <a:xfrm>
              <a:off x="879377" y="2313514"/>
              <a:ext cx="968189" cy="9681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教学目标</a:t>
              </a:r>
            </a:p>
          </p:txBody>
        </p:sp>
        <p:sp>
          <p:nvSpPr>
            <p:cNvPr id="31" name="弧形 30">
              <a:extLst>
                <a:ext uri="{FF2B5EF4-FFF2-40B4-BE49-F238E27FC236}">
                  <a16:creationId xmlns:a16="http://schemas.microsoft.com/office/drawing/2014/main" id="{9A4C0C17-E0EF-4E09-B835-4D9ABF01E560}"/>
                </a:ext>
              </a:extLst>
            </p:cNvPr>
            <p:cNvSpPr/>
            <p:nvPr/>
          </p:nvSpPr>
          <p:spPr>
            <a:xfrm>
              <a:off x="733471" y="2167608"/>
              <a:ext cx="1260000" cy="1260000"/>
            </a:xfrm>
            <a:prstGeom prst="arc">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32" name="弧形 31">
              <a:extLst>
                <a:ext uri="{FF2B5EF4-FFF2-40B4-BE49-F238E27FC236}">
                  <a16:creationId xmlns:a16="http://schemas.microsoft.com/office/drawing/2014/main" id="{F0FD298D-7069-449F-AEB6-E42221CAEC50}"/>
                </a:ext>
              </a:extLst>
            </p:cNvPr>
            <p:cNvSpPr>
              <a:spLocks noChangeAspect="1"/>
            </p:cNvSpPr>
            <p:nvPr/>
          </p:nvSpPr>
          <p:spPr>
            <a:xfrm>
              <a:off x="733471" y="2167608"/>
              <a:ext cx="1260000" cy="1260000"/>
            </a:xfrm>
            <a:prstGeom prst="arc">
              <a:avLst>
                <a:gd name="adj1" fmla="val 5429479"/>
                <a:gd name="adj2" fmla="val 10580200"/>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4224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childTnLst>
                                </p:cTn>
                              </p:par>
                              <p:par>
                                <p:cTn id="9" presetID="8" presetClass="emph" presetSubtype="0" repeatCount="indefinite" fill="hold" nodeType="withEffect">
                                  <p:stCondLst>
                                    <p:cond delay="0"/>
                                  </p:stCondLst>
                                  <p:childTnLst>
                                    <p:animRot by="21600000">
                                      <p:cBhvr>
                                        <p:cTn id="10" dur="3000" fill="hold"/>
                                        <p:tgtEl>
                                          <p:spTgt spid="2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a:xfrm>
            <a:off x="696000" y="710691"/>
            <a:ext cx="5464053" cy="402291"/>
          </a:xfrm>
        </p:spPr>
        <p:txBody>
          <a:bodyPr/>
          <a:lstStyle/>
          <a:p>
            <a:r>
              <a:rPr lang="en-US" altLang="zh-CN" dirty="0"/>
              <a:t>Mission</a:t>
            </a:r>
            <a:endParaRPr lang="zh-CN" altLang="en-US" dirty="0"/>
          </a:p>
        </p:txBody>
      </p:sp>
      <p:sp>
        <p:nvSpPr>
          <p:cNvPr id="8" name="标题 7">
            <a:extLst>
              <a:ext uri="{FF2B5EF4-FFF2-40B4-BE49-F238E27FC236}">
                <a16:creationId xmlns:a16="http://schemas.microsoft.com/office/drawing/2014/main" id="{F4E613EA-2398-978D-8AA0-D5A9C32D8949}"/>
              </a:ext>
            </a:extLst>
          </p:cNvPr>
          <p:cNvSpPr>
            <a:spLocks noGrp="1"/>
          </p:cNvSpPr>
          <p:nvPr>
            <p:ph type="title"/>
          </p:nvPr>
        </p:nvSpPr>
        <p:spPr>
          <a:xfrm>
            <a:off x="696000" y="360000"/>
            <a:ext cx="10800000" cy="424732"/>
          </a:xfrm>
        </p:spPr>
        <p:txBody>
          <a:bodyPr/>
          <a:lstStyle/>
          <a:p>
            <a:r>
              <a:rPr lang="zh-CN" altLang="en-US" dirty="0"/>
              <a:t>任务</a:t>
            </a:r>
          </a:p>
        </p:txBody>
      </p:sp>
      <p:sp>
        <p:nvSpPr>
          <p:cNvPr id="10" name="文本框 9">
            <a:extLst>
              <a:ext uri="{FF2B5EF4-FFF2-40B4-BE49-F238E27FC236}">
                <a16:creationId xmlns:a16="http://schemas.microsoft.com/office/drawing/2014/main" id="{D469124A-DEE0-4DB9-9CD7-C0DE1ABB0097}"/>
              </a:ext>
            </a:extLst>
          </p:cNvPr>
          <p:cNvSpPr txBox="1"/>
          <p:nvPr/>
        </p:nvSpPr>
        <p:spPr>
          <a:xfrm>
            <a:off x="1725893" y="4243338"/>
            <a:ext cx="1011816" cy="369332"/>
          </a:xfrm>
          <a:prstGeom prst="rect">
            <a:avLst/>
          </a:prstGeom>
          <a:noFill/>
        </p:spPr>
        <p:txBody>
          <a:bodyPr wrap="none" rtlCol="0">
            <a:spAutoFit/>
          </a:bodyPr>
          <a:lstStyle/>
          <a:p>
            <a:pPr algn="ctr"/>
            <a:r>
              <a:rPr lang="en-US" altLang="zh-CN" dirty="0"/>
              <a:t>Source</a:t>
            </a:r>
            <a:endParaRPr lang="zh-CN" altLang="en-US" dirty="0"/>
          </a:p>
        </p:txBody>
      </p:sp>
      <p:sp>
        <p:nvSpPr>
          <p:cNvPr id="11" name="文本框 10">
            <a:extLst>
              <a:ext uri="{FF2B5EF4-FFF2-40B4-BE49-F238E27FC236}">
                <a16:creationId xmlns:a16="http://schemas.microsoft.com/office/drawing/2014/main" id="{6C938ED3-0DE5-4160-B474-5D5206CFD0F2}"/>
              </a:ext>
            </a:extLst>
          </p:cNvPr>
          <p:cNvSpPr txBox="1"/>
          <p:nvPr/>
        </p:nvSpPr>
        <p:spPr>
          <a:xfrm>
            <a:off x="9039347" y="4243338"/>
            <a:ext cx="1701107" cy="369332"/>
          </a:xfrm>
          <a:prstGeom prst="rect">
            <a:avLst/>
          </a:prstGeom>
          <a:noFill/>
        </p:spPr>
        <p:txBody>
          <a:bodyPr wrap="none" rtlCol="0">
            <a:spAutoFit/>
          </a:bodyPr>
          <a:lstStyle/>
          <a:p>
            <a:pPr algn="ctr"/>
            <a:r>
              <a:rPr lang="en-US" altLang="zh-CN" dirty="0"/>
              <a:t>Destination</a:t>
            </a:r>
            <a:endParaRPr lang="zh-CN" altLang="en-US" dirty="0"/>
          </a:p>
        </p:txBody>
      </p:sp>
      <p:sp>
        <p:nvSpPr>
          <p:cNvPr id="13" name="文本框 12">
            <a:extLst>
              <a:ext uri="{FF2B5EF4-FFF2-40B4-BE49-F238E27FC236}">
                <a16:creationId xmlns:a16="http://schemas.microsoft.com/office/drawing/2014/main" id="{1EB39944-8154-4F25-B533-D3F862374478}"/>
              </a:ext>
            </a:extLst>
          </p:cNvPr>
          <p:cNvSpPr txBox="1"/>
          <p:nvPr/>
        </p:nvSpPr>
        <p:spPr>
          <a:xfrm>
            <a:off x="3031183" y="3377622"/>
            <a:ext cx="736099" cy="369332"/>
          </a:xfrm>
          <a:prstGeom prst="rect">
            <a:avLst/>
          </a:prstGeom>
          <a:noFill/>
        </p:spPr>
        <p:txBody>
          <a:bodyPr wrap="none" rtlCol="0">
            <a:spAutoFit/>
          </a:bodyPr>
          <a:lstStyle/>
          <a:p>
            <a:pPr algn="l"/>
            <a:r>
              <a:rPr lang="en-US" altLang="zh-CN" dirty="0">
                <a:latin typeface="+mj-lt"/>
              </a:rPr>
              <a:t>DATA</a:t>
            </a:r>
            <a:endParaRPr lang="zh-CN" altLang="en-US" dirty="0">
              <a:latin typeface="+mj-lt"/>
            </a:endParaRPr>
          </a:p>
        </p:txBody>
      </p:sp>
      <p:cxnSp>
        <p:nvCxnSpPr>
          <p:cNvPr id="15" name="直接箭头连接符 14">
            <a:extLst>
              <a:ext uri="{FF2B5EF4-FFF2-40B4-BE49-F238E27FC236}">
                <a16:creationId xmlns:a16="http://schemas.microsoft.com/office/drawing/2014/main" id="{3D4E7207-0966-40E0-8BAD-AB5ACEBD471D}"/>
              </a:ext>
            </a:extLst>
          </p:cNvPr>
          <p:cNvCxnSpPr>
            <a:cxnSpLocks/>
            <a:stCxn id="7" idx="3"/>
            <a:endCxn id="16" idx="1"/>
          </p:cNvCxnSpPr>
          <p:nvPr/>
        </p:nvCxnSpPr>
        <p:spPr>
          <a:xfrm>
            <a:off x="2591799" y="3839287"/>
            <a:ext cx="6934167" cy="4405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pic>
        <p:nvPicPr>
          <p:cNvPr id="7" name="图形 6" descr="监视器">
            <a:extLst>
              <a:ext uri="{FF2B5EF4-FFF2-40B4-BE49-F238E27FC236}">
                <a16:creationId xmlns:a16="http://schemas.microsoft.com/office/drawing/2014/main" id="{D96E73A9-B41F-4972-B0F9-C8DFB991096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71799" y="3479287"/>
            <a:ext cx="720000" cy="720000"/>
          </a:xfrm>
          <a:prstGeom prst="rect">
            <a:avLst/>
          </a:prstGeom>
          <a:effectLst>
            <a:outerShdw blurRad="50800" dist="38100" dir="2700000" algn="tl" rotWithShape="0">
              <a:prstClr val="black">
                <a:alpha val="40000"/>
              </a:prstClr>
            </a:outerShdw>
          </a:effectLst>
        </p:spPr>
      </p:pic>
      <p:pic>
        <p:nvPicPr>
          <p:cNvPr id="16" name="图形 15" descr="监视器">
            <a:extLst>
              <a:ext uri="{FF2B5EF4-FFF2-40B4-BE49-F238E27FC236}">
                <a16:creationId xmlns:a16="http://schemas.microsoft.com/office/drawing/2014/main" id="{0971903A-2BEA-4589-BC80-D8F0BA17459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966" y="3523338"/>
            <a:ext cx="720000" cy="720000"/>
          </a:xfrm>
          <a:prstGeom prst="rect">
            <a:avLst/>
          </a:prstGeom>
          <a:effectLst>
            <a:outerShdw blurRad="50800" dist="38100" dir="2700000" algn="tl" rotWithShape="0">
              <a:prstClr val="black">
                <a:alpha val="40000"/>
              </a:prstClr>
            </a:outerShdw>
          </a:effectLst>
        </p:spPr>
      </p:pic>
      <p:sp>
        <p:nvSpPr>
          <p:cNvPr id="12" name="文本框 11">
            <a:extLst>
              <a:ext uri="{FF2B5EF4-FFF2-40B4-BE49-F238E27FC236}">
                <a16:creationId xmlns:a16="http://schemas.microsoft.com/office/drawing/2014/main" id="{0D6DA911-C7D6-4AC6-9749-6801893207F2}"/>
              </a:ext>
            </a:extLst>
          </p:cNvPr>
          <p:cNvSpPr txBox="1"/>
          <p:nvPr/>
        </p:nvSpPr>
        <p:spPr>
          <a:xfrm>
            <a:off x="1863753" y="3185894"/>
            <a:ext cx="736099" cy="369332"/>
          </a:xfrm>
          <a:prstGeom prst="rect">
            <a:avLst/>
          </a:prstGeom>
          <a:noFill/>
        </p:spPr>
        <p:txBody>
          <a:bodyPr wrap="none" rtlCol="0">
            <a:spAutoFit/>
          </a:bodyPr>
          <a:lstStyle/>
          <a:p>
            <a:pPr algn="ctr"/>
            <a:r>
              <a:rPr lang="en-US" altLang="zh-CN" dirty="0"/>
              <a:t>pack</a:t>
            </a:r>
            <a:endParaRPr lang="zh-CN" altLang="en-US" dirty="0"/>
          </a:p>
        </p:txBody>
      </p:sp>
      <p:sp>
        <p:nvSpPr>
          <p:cNvPr id="14" name="文本框 13">
            <a:extLst>
              <a:ext uri="{FF2B5EF4-FFF2-40B4-BE49-F238E27FC236}">
                <a16:creationId xmlns:a16="http://schemas.microsoft.com/office/drawing/2014/main" id="{926E56A5-D3BF-4FF5-9EEC-0C078CA4F759}"/>
              </a:ext>
            </a:extLst>
          </p:cNvPr>
          <p:cNvSpPr txBox="1"/>
          <p:nvPr/>
        </p:nvSpPr>
        <p:spPr>
          <a:xfrm>
            <a:off x="9383995" y="3185894"/>
            <a:ext cx="1011816" cy="369332"/>
          </a:xfrm>
          <a:prstGeom prst="rect">
            <a:avLst/>
          </a:prstGeom>
          <a:noFill/>
        </p:spPr>
        <p:txBody>
          <a:bodyPr wrap="none" rtlCol="0">
            <a:spAutoFit/>
          </a:bodyPr>
          <a:lstStyle/>
          <a:p>
            <a:pPr algn="ctr"/>
            <a:r>
              <a:rPr lang="en-US" altLang="zh-CN" dirty="0"/>
              <a:t>unpack</a:t>
            </a:r>
            <a:endParaRPr lang="zh-CN" altLang="en-US" dirty="0"/>
          </a:p>
        </p:txBody>
      </p:sp>
    </p:spTree>
    <p:extLst>
      <p:ext uri="{BB962C8B-B14F-4D97-AF65-F5344CB8AC3E}">
        <p14:creationId xmlns:p14="http://schemas.microsoft.com/office/powerpoint/2010/main" val="400086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50000" decel="50000" fill="hold" grpId="0" nodeType="withEffect">
                                  <p:stCondLst>
                                    <p:cond delay="0"/>
                                  </p:stCondLst>
                                  <p:childTnLst>
                                    <p:animMotion origin="layout" path="M 4.16667E-7 2.59259E-6 L 0.47044 0.00648 " pathEditMode="relative" rAng="0" ptsTypes="AA">
                                      <p:cBhvr>
                                        <p:cTn id="6" dur="2000" fill="hold"/>
                                        <p:tgtEl>
                                          <p:spTgt spid="13"/>
                                        </p:tgtEl>
                                        <p:attrNameLst>
                                          <p:attrName>ppt_x</p:attrName>
                                          <p:attrName>ppt_y</p:attrName>
                                        </p:attrNameLst>
                                      </p:cBhvr>
                                      <p:rCtr x="23516" y="32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6EC04FCB-5126-4A9D-9F0D-4E9C5C67437D}"/>
              </a:ext>
            </a:extLst>
          </p:cNvPr>
          <p:cNvSpPr>
            <a:spLocks noGrp="1"/>
          </p:cNvSpPr>
          <p:nvPr>
            <p:ph type="body" sz="quarter" idx="14"/>
          </p:nvPr>
        </p:nvSpPr>
        <p:spPr>
          <a:xfrm>
            <a:off x="696000" y="710691"/>
            <a:ext cx="5464053" cy="402291"/>
          </a:xfrm>
        </p:spPr>
        <p:txBody>
          <a:bodyPr/>
          <a:lstStyle/>
          <a:p>
            <a:r>
              <a:rPr lang="en-US" altLang="zh-CN" dirty="0"/>
              <a:t>Objective </a:t>
            </a:r>
            <a:endParaRPr lang="zh-CN" altLang="en-US" dirty="0"/>
          </a:p>
        </p:txBody>
      </p:sp>
      <p:sp>
        <p:nvSpPr>
          <p:cNvPr id="6" name="标题 5">
            <a:extLst>
              <a:ext uri="{FF2B5EF4-FFF2-40B4-BE49-F238E27FC236}">
                <a16:creationId xmlns:a16="http://schemas.microsoft.com/office/drawing/2014/main" id="{AFE855ED-38A5-1B32-C0ED-CBFA1A4C80F8}"/>
              </a:ext>
            </a:extLst>
          </p:cNvPr>
          <p:cNvSpPr>
            <a:spLocks noGrp="1"/>
          </p:cNvSpPr>
          <p:nvPr>
            <p:ph type="title"/>
          </p:nvPr>
        </p:nvSpPr>
        <p:spPr>
          <a:xfrm>
            <a:off x="696000" y="341534"/>
            <a:ext cx="10800000" cy="461665"/>
          </a:xfrm>
        </p:spPr>
        <p:txBody>
          <a:bodyPr/>
          <a:lstStyle/>
          <a:p>
            <a:r>
              <a:rPr lang="zh-CN" altLang="en-US" dirty="0"/>
              <a:t>目标</a:t>
            </a:r>
          </a:p>
        </p:txBody>
      </p:sp>
      <p:sp>
        <p:nvSpPr>
          <p:cNvPr id="10" name="文本框 9">
            <a:extLst>
              <a:ext uri="{FF2B5EF4-FFF2-40B4-BE49-F238E27FC236}">
                <a16:creationId xmlns:a16="http://schemas.microsoft.com/office/drawing/2014/main" id="{4F3CABBC-4AA8-4571-80AF-1CEE59FF1FA1}"/>
              </a:ext>
            </a:extLst>
          </p:cNvPr>
          <p:cNvSpPr txBox="1"/>
          <p:nvPr/>
        </p:nvSpPr>
        <p:spPr>
          <a:xfrm>
            <a:off x="1484708" y="3471663"/>
            <a:ext cx="1107996" cy="369332"/>
          </a:xfrm>
          <a:prstGeom prst="rect">
            <a:avLst/>
          </a:prstGeom>
          <a:noFill/>
        </p:spPr>
        <p:txBody>
          <a:bodyPr wrap="none" rtlCol="0">
            <a:spAutoFit/>
          </a:bodyPr>
          <a:lstStyle/>
          <a:p>
            <a:pPr algn="r"/>
            <a:r>
              <a:rPr lang="zh-CN" altLang="en-US" dirty="0"/>
              <a:t>基本概念</a:t>
            </a:r>
          </a:p>
        </p:txBody>
      </p:sp>
      <p:sp>
        <p:nvSpPr>
          <p:cNvPr id="11" name="文本框 10">
            <a:extLst>
              <a:ext uri="{FF2B5EF4-FFF2-40B4-BE49-F238E27FC236}">
                <a16:creationId xmlns:a16="http://schemas.microsoft.com/office/drawing/2014/main" id="{00C00E4F-5D18-4768-93A0-E9AA33CB2B4B}"/>
              </a:ext>
            </a:extLst>
          </p:cNvPr>
          <p:cNvSpPr txBox="1"/>
          <p:nvPr/>
        </p:nvSpPr>
        <p:spPr>
          <a:xfrm>
            <a:off x="3849028" y="3471663"/>
            <a:ext cx="1107996" cy="369332"/>
          </a:xfrm>
          <a:prstGeom prst="rect">
            <a:avLst/>
          </a:prstGeom>
          <a:noFill/>
        </p:spPr>
        <p:txBody>
          <a:bodyPr wrap="none" rtlCol="0">
            <a:spAutoFit/>
          </a:bodyPr>
          <a:lstStyle/>
          <a:p>
            <a:pPr algn="r"/>
            <a:r>
              <a:rPr lang="zh-CN" altLang="en-US" dirty="0"/>
              <a:t>基本理论</a:t>
            </a:r>
          </a:p>
        </p:txBody>
      </p:sp>
      <p:cxnSp>
        <p:nvCxnSpPr>
          <p:cNvPr id="12" name="直接连接符 11">
            <a:extLst>
              <a:ext uri="{FF2B5EF4-FFF2-40B4-BE49-F238E27FC236}">
                <a16:creationId xmlns:a16="http://schemas.microsoft.com/office/drawing/2014/main" id="{005F5232-7C61-4F70-A0C7-DBE25B20C3D8}"/>
              </a:ext>
            </a:extLst>
          </p:cNvPr>
          <p:cNvCxnSpPr>
            <a:cxnSpLocks/>
          </p:cNvCxnSpPr>
          <p:nvPr/>
        </p:nvCxnSpPr>
        <p:spPr>
          <a:xfrm>
            <a:off x="0" y="3840995"/>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椭圆 12">
            <a:extLst>
              <a:ext uri="{FF2B5EF4-FFF2-40B4-BE49-F238E27FC236}">
                <a16:creationId xmlns:a16="http://schemas.microsoft.com/office/drawing/2014/main" id="{007A2255-F5A1-46DE-A921-6BBFCC6AE2EE}"/>
              </a:ext>
            </a:extLst>
          </p:cNvPr>
          <p:cNvSpPr/>
          <p:nvPr/>
        </p:nvSpPr>
        <p:spPr>
          <a:xfrm>
            <a:off x="58003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C</a:t>
            </a:r>
            <a:endParaRPr lang="zh-CN" altLang="en-US" dirty="0"/>
          </a:p>
        </p:txBody>
      </p:sp>
      <p:sp>
        <p:nvSpPr>
          <p:cNvPr id="14" name="椭圆 13">
            <a:extLst>
              <a:ext uri="{FF2B5EF4-FFF2-40B4-BE49-F238E27FC236}">
                <a16:creationId xmlns:a16="http://schemas.microsoft.com/office/drawing/2014/main" id="{E37E65EE-85ED-4229-9904-31B04BD8F305}"/>
              </a:ext>
            </a:extLst>
          </p:cNvPr>
          <p:cNvSpPr/>
          <p:nvPr/>
        </p:nvSpPr>
        <p:spPr>
          <a:xfrm>
            <a:off x="294435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T</a:t>
            </a:r>
            <a:endParaRPr lang="zh-CN" altLang="en-US" dirty="0"/>
          </a:p>
        </p:txBody>
      </p:sp>
      <p:sp>
        <p:nvSpPr>
          <p:cNvPr id="17" name="文本框 16">
            <a:extLst>
              <a:ext uri="{FF2B5EF4-FFF2-40B4-BE49-F238E27FC236}">
                <a16:creationId xmlns:a16="http://schemas.microsoft.com/office/drawing/2014/main" id="{AF5EA0E5-CD82-4B0A-B0F0-50AD7B3509D8}"/>
              </a:ext>
            </a:extLst>
          </p:cNvPr>
          <p:cNvSpPr txBox="1"/>
          <p:nvPr/>
        </p:nvSpPr>
        <p:spPr>
          <a:xfrm>
            <a:off x="6213348" y="3471663"/>
            <a:ext cx="1107996" cy="369332"/>
          </a:xfrm>
          <a:prstGeom prst="rect">
            <a:avLst/>
          </a:prstGeom>
          <a:noFill/>
        </p:spPr>
        <p:txBody>
          <a:bodyPr wrap="none" rtlCol="0">
            <a:spAutoFit/>
          </a:bodyPr>
          <a:lstStyle/>
          <a:p>
            <a:r>
              <a:rPr lang="zh-CN" altLang="en-US" dirty="0"/>
              <a:t>典型协议</a:t>
            </a:r>
          </a:p>
        </p:txBody>
      </p:sp>
      <p:sp>
        <p:nvSpPr>
          <p:cNvPr id="18" name="椭圆 17">
            <a:extLst>
              <a:ext uri="{FF2B5EF4-FFF2-40B4-BE49-F238E27FC236}">
                <a16:creationId xmlns:a16="http://schemas.microsoft.com/office/drawing/2014/main" id="{6FFE9795-8E5C-47DA-BAE7-9944B08B3F4A}"/>
              </a:ext>
            </a:extLst>
          </p:cNvPr>
          <p:cNvSpPr/>
          <p:nvPr/>
        </p:nvSpPr>
        <p:spPr>
          <a:xfrm>
            <a:off x="530867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a:t>
            </a:r>
            <a:endParaRPr lang="zh-CN" altLang="en-US" dirty="0"/>
          </a:p>
        </p:txBody>
      </p:sp>
      <p:sp>
        <p:nvSpPr>
          <p:cNvPr id="20" name="文本框 19">
            <a:extLst>
              <a:ext uri="{FF2B5EF4-FFF2-40B4-BE49-F238E27FC236}">
                <a16:creationId xmlns:a16="http://schemas.microsoft.com/office/drawing/2014/main" id="{34A887FD-C7D5-4BCC-AC80-52C44FA66261}"/>
              </a:ext>
            </a:extLst>
          </p:cNvPr>
          <p:cNvSpPr txBox="1"/>
          <p:nvPr/>
        </p:nvSpPr>
        <p:spPr>
          <a:xfrm>
            <a:off x="10941986" y="3471663"/>
            <a:ext cx="1107996" cy="369332"/>
          </a:xfrm>
          <a:prstGeom prst="rect">
            <a:avLst/>
          </a:prstGeom>
          <a:noFill/>
        </p:spPr>
        <p:txBody>
          <a:bodyPr wrap="none" rtlCol="0">
            <a:spAutoFit/>
          </a:bodyPr>
          <a:lstStyle/>
          <a:p>
            <a:r>
              <a:rPr lang="zh-CN" altLang="en-US" dirty="0"/>
              <a:t>基本工具</a:t>
            </a:r>
          </a:p>
        </p:txBody>
      </p:sp>
      <p:sp>
        <p:nvSpPr>
          <p:cNvPr id="21" name="椭圆 20">
            <a:extLst>
              <a:ext uri="{FF2B5EF4-FFF2-40B4-BE49-F238E27FC236}">
                <a16:creationId xmlns:a16="http://schemas.microsoft.com/office/drawing/2014/main" id="{F48AB0A0-6220-4D71-8ED3-65555D4BAAF1}"/>
              </a:ext>
            </a:extLst>
          </p:cNvPr>
          <p:cNvSpPr/>
          <p:nvPr/>
        </p:nvSpPr>
        <p:spPr>
          <a:xfrm>
            <a:off x="10037314" y="341783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T</a:t>
            </a:r>
            <a:endParaRPr lang="zh-CN" altLang="en-US" dirty="0"/>
          </a:p>
        </p:txBody>
      </p:sp>
      <p:sp>
        <p:nvSpPr>
          <p:cNvPr id="27" name="文本框 26">
            <a:extLst>
              <a:ext uri="{FF2B5EF4-FFF2-40B4-BE49-F238E27FC236}">
                <a16:creationId xmlns:a16="http://schemas.microsoft.com/office/drawing/2014/main" id="{88F3452D-3E29-40D8-B50D-5CB6BCE0305F}"/>
              </a:ext>
            </a:extLst>
          </p:cNvPr>
          <p:cNvSpPr txBox="1"/>
          <p:nvPr/>
        </p:nvSpPr>
        <p:spPr>
          <a:xfrm>
            <a:off x="8577668" y="3471663"/>
            <a:ext cx="1107996" cy="369332"/>
          </a:xfrm>
          <a:prstGeom prst="rect">
            <a:avLst/>
          </a:prstGeom>
          <a:noFill/>
        </p:spPr>
        <p:txBody>
          <a:bodyPr wrap="none" rtlCol="0">
            <a:spAutoFit/>
          </a:bodyPr>
          <a:lstStyle/>
          <a:p>
            <a:pPr algn="r"/>
            <a:r>
              <a:rPr lang="zh-CN" altLang="en-US" dirty="0"/>
              <a:t>常用设备</a:t>
            </a:r>
          </a:p>
        </p:txBody>
      </p:sp>
      <p:sp>
        <p:nvSpPr>
          <p:cNvPr id="28" name="椭圆 27">
            <a:extLst>
              <a:ext uri="{FF2B5EF4-FFF2-40B4-BE49-F238E27FC236}">
                <a16:creationId xmlns:a16="http://schemas.microsoft.com/office/drawing/2014/main" id="{C800D538-DAF6-45A4-BB75-1D0D15E839C7}"/>
              </a:ext>
            </a:extLst>
          </p:cNvPr>
          <p:cNvSpPr/>
          <p:nvPr/>
        </p:nvSpPr>
        <p:spPr>
          <a:xfrm>
            <a:off x="7672996" y="340770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H</a:t>
            </a:r>
            <a:endParaRPr lang="zh-CN" altLang="en-US" dirty="0"/>
          </a:p>
        </p:txBody>
      </p:sp>
      <p:sp>
        <p:nvSpPr>
          <p:cNvPr id="25" name="文本框 24">
            <a:extLst>
              <a:ext uri="{FF2B5EF4-FFF2-40B4-BE49-F238E27FC236}">
                <a16:creationId xmlns:a16="http://schemas.microsoft.com/office/drawing/2014/main" id="{EAF2D456-EBF2-B01B-B84A-F3B40A7CDBD7}"/>
              </a:ext>
            </a:extLst>
          </p:cNvPr>
          <p:cNvSpPr txBox="1"/>
          <p:nvPr/>
        </p:nvSpPr>
        <p:spPr>
          <a:xfrm>
            <a:off x="1484708" y="3840995"/>
            <a:ext cx="1063112"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Concept</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0" name="文本框 29">
            <a:extLst>
              <a:ext uri="{FF2B5EF4-FFF2-40B4-BE49-F238E27FC236}">
                <a16:creationId xmlns:a16="http://schemas.microsoft.com/office/drawing/2014/main" id="{4D8350DF-1D3C-816B-3E0D-F7BB9DF65B71}"/>
              </a:ext>
            </a:extLst>
          </p:cNvPr>
          <p:cNvSpPr txBox="1"/>
          <p:nvPr/>
        </p:nvSpPr>
        <p:spPr>
          <a:xfrm>
            <a:off x="3849028" y="3840995"/>
            <a:ext cx="866712"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theory</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2" name="文本框 31">
            <a:extLst>
              <a:ext uri="{FF2B5EF4-FFF2-40B4-BE49-F238E27FC236}">
                <a16:creationId xmlns:a16="http://schemas.microsoft.com/office/drawing/2014/main" id="{08A6C9B2-6CE6-B627-A1BA-47392BA9D65F}"/>
              </a:ext>
            </a:extLst>
          </p:cNvPr>
          <p:cNvSpPr txBox="1"/>
          <p:nvPr/>
        </p:nvSpPr>
        <p:spPr>
          <a:xfrm>
            <a:off x="6213348" y="3840995"/>
            <a:ext cx="1051763"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Protocol</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4" name="文本框 33">
            <a:extLst>
              <a:ext uri="{FF2B5EF4-FFF2-40B4-BE49-F238E27FC236}">
                <a16:creationId xmlns:a16="http://schemas.microsoft.com/office/drawing/2014/main" id="{DFA00E3A-5507-7AC4-D758-94C68754CD0D}"/>
              </a:ext>
            </a:extLst>
          </p:cNvPr>
          <p:cNvSpPr txBox="1"/>
          <p:nvPr/>
        </p:nvSpPr>
        <p:spPr>
          <a:xfrm>
            <a:off x="8577668" y="3840995"/>
            <a:ext cx="1187889"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Hardware</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6" name="文本框 35">
            <a:extLst>
              <a:ext uri="{FF2B5EF4-FFF2-40B4-BE49-F238E27FC236}">
                <a16:creationId xmlns:a16="http://schemas.microsoft.com/office/drawing/2014/main" id="{D637B91A-5FBC-860E-D808-1DE08BB58A52}"/>
              </a:ext>
            </a:extLst>
          </p:cNvPr>
          <p:cNvSpPr txBox="1"/>
          <p:nvPr/>
        </p:nvSpPr>
        <p:spPr>
          <a:xfrm>
            <a:off x="10941986" y="3840995"/>
            <a:ext cx="603883"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Tool</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78555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06A111C7-70F4-40D4-A67E-766811EE33EF}"/>
              </a:ext>
            </a:extLst>
          </p:cNvPr>
          <p:cNvSpPr>
            <a:spLocks noGrp="1"/>
          </p:cNvSpPr>
          <p:nvPr>
            <p:ph type="body" sz="quarter" idx="14"/>
          </p:nvPr>
        </p:nvSpPr>
        <p:spPr>
          <a:xfrm>
            <a:off x="696000" y="710691"/>
            <a:ext cx="5464053" cy="402291"/>
          </a:xfrm>
        </p:spPr>
        <p:txBody>
          <a:bodyPr/>
          <a:lstStyle/>
          <a:p>
            <a:r>
              <a:rPr lang="en-US" altLang="zh-CN" dirty="0"/>
              <a:t>Contents</a:t>
            </a:r>
            <a:endParaRPr lang="zh-CN" altLang="en-US" dirty="0"/>
          </a:p>
        </p:txBody>
      </p:sp>
      <p:sp>
        <p:nvSpPr>
          <p:cNvPr id="7" name="标题 6">
            <a:extLst>
              <a:ext uri="{FF2B5EF4-FFF2-40B4-BE49-F238E27FC236}">
                <a16:creationId xmlns:a16="http://schemas.microsoft.com/office/drawing/2014/main" id="{EA51BD1B-2F7C-758C-CDEB-51B1D0F7752A}"/>
              </a:ext>
            </a:extLst>
          </p:cNvPr>
          <p:cNvSpPr>
            <a:spLocks noGrp="1"/>
          </p:cNvSpPr>
          <p:nvPr>
            <p:ph type="title"/>
          </p:nvPr>
        </p:nvSpPr>
        <p:spPr>
          <a:xfrm>
            <a:off x="696000" y="360000"/>
            <a:ext cx="10800000" cy="424732"/>
          </a:xfrm>
        </p:spPr>
        <p:txBody>
          <a:bodyPr/>
          <a:lstStyle/>
          <a:p>
            <a:r>
              <a:rPr lang="zh-CN" altLang="en-US" dirty="0"/>
              <a:t>内容</a:t>
            </a:r>
          </a:p>
        </p:txBody>
      </p:sp>
      <p:sp>
        <p:nvSpPr>
          <p:cNvPr id="10" name="文本框 9">
            <a:extLst>
              <a:ext uri="{FF2B5EF4-FFF2-40B4-BE49-F238E27FC236}">
                <a16:creationId xmlns:a16="http://schemas.microsoft.com/office/drawing/2014/main" id="{2F4D9D64-F3CF-4F4F-9794-2163541FCD2B}"/>
              </a:ext>
            </a:extLst>
          </p:cNvPr>
          <p:cNvSpPr txBox="1"/>
          <p:nvPr/>
        </p:nvSpPr>
        <p:spPr>
          <a:xfrm>
            <a:off x="1033200" y="2228850"/>
            <a:ext cx="646331" cy="369332"/>
          </a:xfrm>
          <a:prstGeom prst="rect">
            <a:avLst/>
          </a:prstGeom>
          <a:noFill/>
        </p:spPr>
        <p:txBody>
          <a:bodyPr wrap="none" rtlCol="0">
            <a:spAutoFit/>
          </a:bodyPr>
          <a:lstStyle/>
          <a:p>
            <a:r>
              <a:rPr lang="zh-CN" altLang="en-US"/>
              <a:t>概述</a:t>
            </a:r>
            <a:endParaRPr lang="en-US" altLang="zh-CN" dirty="0"/>
          </a:p>
        </p:txBody>
      </p:sp>
      <p:sp>
        <p:nvSpPr>
          <p:cNvPr id="12" name="文本框 11">
            <a:extLst>
              <a:ext uri="{FF2B5EF4-FFF2-40B4-BE49-F238E27FC236}">
                <a16:creationId xmlns:a16="http://schemas.microsoft.com/office/drawing/2014/main" id="{29C5AB29-32C8-48FD-A3B4-2720FC4FFE0D}"/>
              </a:ext>
            </a:extLst>
          </p:cNvPr>
          <p:cNvSpPr txBox="1"/>
          <p:nvPr/>
        </p:nvSpPr>
        <p:spPr>
          <a:xfrm>
            <a:off x="9675150" y="2259627"/>
            <a:ext cx="1287532" cy="369332"/>
          </a:xfrm>
          <a:prstGeom prst="rect">
            <a:avLst/>
          </a:prstGeom>
          <a:noFill/>
        </p:spPr>
        <p:txBody>
          <a:bodyPr wrap="none" rtlCol="0">
            <a:spAutoFit/>
          </a:bodyPr>
          <a:lstStyle/>
          <a:p>
            <a:pPr algn="r"/>
            <a:r>
              <a:rPr lang="en-US" altLang="zh-CN" dirty="0"/>
              <a:t>Overview</a:t>
            </a:r>
          </a:p>
        </p:txBody>
      </p:sp>
      <p:cxnSp>
        <p:nvCxnSpPr>
          <p:cNvPr id="27" name="直接连接符 26">
            <a:extLst>
              <a:ext uri="{FF2B5EF4-FFF2-40B4-BE49-F238E27FC236}">
                <a16:creationId xmlns:a16="http://schemas.microsoft.com/office/drawing/2014/main" id="{20387012-1F9B-4AC3-AA4C-AA0ECC76417C}"/>
              </a:ext>
            </a:extLst>
          </p:cNvPr>
          <p:cNvCxnSpPr>
            <a:stCxn id="10" idx="3"/>
            <a:endCxn id="12" idx="1"/>
          </p:cNvCxnSpPr>
          <p:nvPr/>
        </p:nvCxnSpPr>
        <p:spPr>
          <a:xfrm>
            <a:off x="1679531" y="2413516"/>
            <a:ext cx="7995619"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EEEACB41-C805-40FB-832F-F1F275F7974B}"/>
              </a:ext>
            </a:extLst>
          </p:cNvPr>
          <p:cNvSpPr txBox="1"/>
          <p:nvPr/>
        </p:nvSpPr>
        <p:spPr>
          <a:xfrm>
            <a:off x="1033200" y="2771592"/>
            <a:ext cx="877163" cy="369332"/>
          </a:xfrm>
          <a:prstGeom prst="rect">
            <a:avLst/>
          </a:prstGeom>
          <a:noFill/>
        </p:spPr>
        <p:txBody>
          <a:bodyPr wrap="none" rtlCol="0">
            <a:spAutoFit/>
          </a:bodyPr>
          <a:lstStyle/>
          <a:p>
            <a:r>
              <a:rPr lang="zh-CN" altLang="en-US" dirty="0"/>
              <a:t>物理层</a:t>
            </a:r>
          </a:p>
        </p:txBody>
      </p:sp>
      <p:sp>
        <p:nvSpPr>
          <p:cNvPr id="21" name="文本框 20">
            <a:extLst>
              <a:ext uri="{FF2B5EF4-FFF2-40B4-BE49-F238E27FC236}">
                <a16:creationId xmlns:a16="http://schemas.microsoft.com/office/drawing/2014/main" id="{E9F061AF-0998-4679-B548-3A2E5E6C39DD}"/>
              </a:ext>
            </a:extLst>
          </p:cNvPr>
          <p:cNvSpPr txBox="1"/>
          <p:nvPr/>
        </p:nvSpPr>
        <p:spPr>
          <a:xfrm>
            <a:off x="8848001" y="2802369"/>
            <a:ext cx="2114681" cy="369332"/>
          </a:xfrm>
          <a:prstGeom prst="rect">
            <a:avLst/>
          </a:prstGeom>
          <a:noFill/>
        </p:spPr>
        <p:txBody>
          <a:bodyPr wrap="none" rtlCol="0">
            <a:spAutoFit/>
          </a:bodyPr>
          <a:lstStyle/>
          <a:p>
            <a:pPr algn="r"/>
            <a:r>
              <a:rPr lang="en-US" altLang="zh-CN" dirty="0"/>
              <a:t>Physical Layer</a:t>
            </a:r>
          </a:p>
        </p:txBody>
      </p:sp>
      <p:cxnSp>
        <p:nvCxnSpPr>
          <p:cNvPr id="29" name="直接连接符 28">
            <a:extLst>
              <a:ext uri="{FF2B5EF4-FFF2-40B4-BE49-F238E27FC236}">
                <a16:creationId xmlns:a16="http://schemas.microsoft.com/office/drawing/2014/main" id="{3554EDA4-42F6-4293-94A3-9EF633BD8E9F}"/>
              </a:ext>
            </a:extLst>
          </p:cNvPr>
          <p:cNvCxnSpPr>
            <a:stCxn id="15" idx="3"/>
            <a:endCxn id="21" idx="1"/>
          </p:cNvCxnSpPr>
          <p:nvPr/>
        </p:nvCxnSpPr>
        <p:spPr>
          <a:xfrm>
            <a:off x="1910363" y="2956258"/>
            <a:ext cx="6937638"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760EBC5C-1F7E-44C1-A336-32AAB08A2BFA}"/>
              </a:ext>
            </a:extLst>
          </p:cNvPr>
          <p:cNvSpPr txBox="1"/>
          <p:nvPr/>
        </p:nvSpPr>
        <p:spPr>
          <a:xfrm>
            <a:off x="1033200" y="3314334"/>
            <a:ext cx="1338828" cy="369332"/>
          </a:xfrm>
          <a:prstGeom prst="rect">
            <a:avLst/>
          </a:prstGeom>
          <a:noFill/>
        </p:spPr>
        <p:txBody>
          <a:bodyPr wrap="none" rtlCol="0">
            <a:spAutoFit/>
          </a:bodyPr>
          <a:lstStyle/>
          <a:p>
            <a:r>
              <a:rPr lang="zh-CN" altLang="en-US" dirty="0"/>
              <a:t>数据链路层</a:t>
            </a:r>
          </a:p>
        </p:txBody>
      </p:sp>
      <p:sp>
        <p:nvSpPr>
          <p:cNvPr id="22" name="文本框 21">
            <a:extLst>
              <a:ext uri="{FF2B5EF4-FFF2-40B4-BE49-F238E27FC236}">
                <a16:creationId xmlns:a16="http://schemas.microsoft.com/office/drawing/2014/main" id="{B7F1D438-4275-4FB8-8F2E-4027081B6292}"/>
              </a:ext>
            </a:extLst>
          </p:cNvPr>
          <p:cNvSpPr txBox="1"/>
          <p:nvPr/>
        </p:nvSpPr>
        <p:spPr>
          <a:xfrm>
            <a:off x="8710142" y="3345111"/>
            <a:ext cx="2252540" cy="369332"/>
          </a:xfrm>
          <a:prstGeom prst="rect">
            <a:avLst/>
          </a:prstGeom>
          <a:noFill/>
        </p:spPr>
        <p:txBody>
          <a:bodyPr wrap="none" rtlCol="0">
            <a:spAutoFit/>
          </a:bodyPr>
          <a:lstStyle/>
          <a:p>
            <a:pPr algn="r"/>
            <a:r>
              <a:rPr lang="en-US" altLang="zh-CN" dirty="0"/>
              <a:t>Data Link Layer</a:t>
            </a:r>
          </a:p>
        </p:txBody>
      </p:sp>
      <p:cxnSp>
        <p:nvCxnSpPr>
          <p:cNvPr id="31" name="直接连接符 30">
            <a:extLst>
              <a:ext uri="{FF2B5EF4-FFF2-40B4-BE49-F238E27FC236}">
                <a16:creationId xmlns:a16="http://schemas.microsoft.com/office/drawing/2014/main" id="{18E1052F-0541-465A-A81D-88EEEE8E93F8}"/>
              </a:ext>
            </a:extLst>
          </p:cNvPr>
          <p:cNvCxnSpPr>
            <a:stCxn id="16" idx="3"/>
            <a:endCxn id="22" idx="1"/>
          </p:cNvCxnSpPr>
          <p:nvPr/>
        </p:nvCxnSpPr>
        <p:spPr>
          <a:xfrm>
            <a:off x="2372028" y="3499000"/>
            <a:ext cx="6338114"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E2C3E40-BB61-4105-8967-6531F48FB1AB}"/>
              </a:ext>
            </a:extLst>
          </p:cNvPr>
          <p:cNvSpPr txBox="1"/>
          <p:nvPr/>
        </p:nvSpPr>
        <p:spPr>
          <a:xfrm>
            <a:off x="1033200" y="3857076"/>
            <a:ext cx="877163" cy="369332"/>
          </a:xfrm>
          <a:prstGeom prst="rect">
            <a:avLst/>
          </a:prstGeom>
          <a:noFill/>
        </p:spPr>
        <p:txBody>
          <a:bodyPr wrap="none" rtlCol="0">
            <a:spAutoFit/>
          </a:bodyPr>
          <a:lstStyle/>
          <a:p>
            <a:r>
              <a:rPr lang="zh-CN" altLang="en-US" dirty="0"/>
              <a:t>网络层</a:t>
            </a:r>
          </a:p>
        </p:txBody>
      </p:sp>
      <p:sp>
        <p:nvSpPr>
          <p:cNvPr id="23" name="文本框 22">
            <a:extLst>
              <a:ext uri="{FF2B5EF4-FFF2-40B4-BE49-F238E27FC236}">
                <a16:creationId xmlns:a16="http://schemas.microsoft.com/office/drawing/2014/main" id="{C4A261F2-4700-41DD-B762-E11AD10F7A4C}"/>
              </a:ext>
            </a:extLst>
          </p:cNvPr>
          <p:cNvSpPr txBox="1"/>
          <p:nvPr/>
        </p:nvSpPr>
        <p:spPr>
          <a:xfrm>
            <a:off x="8985859" y="3887853"/>
            <a:ext cx="1976823" cy="369332"/>
          </a:xfrm>
          <a:prstGeom prst="rect">
            <a:avLst/>
          </a:prstGeom>
          <a:noFill/>
        </p:spPr>
        <p:txBody>
          <a:bodyPr wrap="none" rtlCol="0">
            <a:spAutoFit/>
          </a:bodyPr>
          <a:lstStyle/>
          <a:p>
            <a:pPr algn="r"/>
            <a:r>
              <a:rPr lang="en-US" altLang="zh-CN" dirty="0"/>
              <a:t>Network Layer</a:t>
            </a:r>
            <a:endParaRPr lang="zh-CN" altLang="en-US" dirty="0"/>
          </a:p>
        </p:txBody>
      </p:sp>
      <p:cxnSp>
        <p:nvCxnSpPr>
          <p:cNvPr id="33" name="直接连接符 32">
            <a:extLst>
              <a:ext uri="{FF2B5EF4-FFF2-40B4-BE49-F238E27FC236}">
                <a16:creationId xmlns:a16="http://schemas.microsoft.com/office/drawing/2014/main" id="{3A7A1F0C-F8D9-4C66-B0A1-ABE053A28B95}"/>
              </a:ext>
            </a:extLst>
          </p:cNvPr>
          <p:cNvCxnSpPr>
            <a:stCxn id="17" idx="3"/>
            <a:endCxn id="23" idx="1"/>
          </p:cNvCxnSpPr>
          <p:nvPr/>
        </p:nvCxnSpPr>
        <p:spPr>
          <a:xfrm>
            <a:off x="1910363" y="4041742"/>
            <a:ext cx="7075496"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B77A33B-A812-4B39-BB56-ECDA81715FD0}"/>
              </a:ext>
            </a:extLst>
          </p:cNvPr>
          <p:cNvSpPr txBox="1"/>
          <p:nvPr/>
        </p:nvSpPr>
        <p:spPr>
          <a:xfrm>
            <a:off x="1033200" y="4399818"/>
            <a:ext cx="877163" cy="369332"/>
          </a:xfrm>
          <a:prstGeom prst="rect">
            <a:avLst/>
          </a:prstGeom>
          <a:noFill/>
        </p:spPr>
        <p:txBody>
          <a:bodyPr wrap="none" rtlCol="0">
            <a:spAutoFit/>
          </a:bodyPr>
          <a:lstStyle/>
          <a:p>
            <a:r>
              <a:rPr lang="zh-CN" altLang="en-US" dirty="0"/>
              <a:t>运输层</a:t>
            </a:r>
          </a:p>
        </p:txBody>
      </p:sp>
      <p:sp>
        <p:nvSpPr>
          <p:cNvPr id="24" name="文本框 23">
            <a:extLst>
              <a:ext uri="{FF2B5EF4-FFF2-40B4-BE49-F238E27FC236}">
                <a16:creationId xmlns:a16="http://schemas.microsoft.com/office/drawing/2014/main" id="{8298352F-0CA9-4572-B55A-B4525E4CE3EB}"/>
              </a:ext>
            </a:extLst>
          </p:cNvPr>
          <p:cNvSpPr txBox="1"/>
          <p:nvPr/>
        </p:nvSpPr>
        <p:spPr>
          <a:xfrm>
            <a:off x="8710142" y="4430595"/>
            <a:ext cx="2252540" cy="369332"/>
          </a:xfrm>
          <a:prstGeom prst="rect">
            <a:avLst/>
          </a:prstGeom>
          <a:noFill/>
        </p:spPr>
        <p:txBody>
          <a:bodyPr wrap="none" rtlCol="0">
            <a:spAutoFit/>
          </a:bodyPr>
          <a:lstStyle/>
          <a:p>
            <a:pPr algn="r"/>
            <a:r>
              <a:rPr lang="en-US" altLang="zh-CN" dirty="0"/>
              <a:t>Transport Layer</a:t>
            </a:r>
            <a:endParaRPr lang="zh-CN" altLang="en-US" dirty="0"/>
          </a:p>
        </p:txBody>
      </p:sp>
      <p:cxnSp>
        <p:nvCxnSpPr>
          <p:cNvPr id="35" name="直接连接符 34">
            <a:extLst>
              <a:ext uri="{FF2B5EF4-FFF2-40B4-BE49-F238E27FC236}">
                <a16:creationId xmlns:a16="http://schemas.microsoft.com/office/drawing/2014/main" id="{A8038DF7-8F65-4F82-91A8-586C146B182B}"/>
              </a:ext>
            </a:extLst>
          </p:cNvPr>
          <p:cNvCxnSpPr>
            <a:stCxn id="18" idx="3"/>
            <a:endCxn id="24" idx="1"/>
          </p:cNvCxnSpPr>
          <p:nvPr/>
        </p:nvCxnSpPr>
        <p:spPr>
          <a:xfrm>
            <a:off x="1910363" y="4584484"/>
            <a:ext cx="6799779"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D5C77AE-BC3D-48E3-BC18-5B09F4796C70}"/>
              </a:ext>
            </a:extLst>
          </p:cNvPr>
          <p:cNvSpPr txBox="1"/>
          <p:nvPr/>
        </p:nvSpPr>
        <p:spPr>
          <a:xfrm>
            <a:off x="1033200" y="4942560"/>
            <a:ext cx="877163" cy="369332"/>
          </a:xfrm>
          <a:prstGeom prst="rect">
            <a:avLst/>
          </a:prstGeom>
          <a:noFill/>
        </p:spPr>
        <p:txBody>
          <a:bodyPr wrap="none" rtlCol="0">
            <a:spAutoFit/>
          </a:bodyPr>
          <a:lstStyle/>
          <a:p>
            <a:pPr algn="l"/>
            <a:r>
              <a:rPr lang="zh-CN" altLang="en-US" dirty="0"/>
              <a:t>应用层</a:t>
            </a:r>
          </a:p>
        </p:txBody>
      </p:sp>
      <p:sp>
        <p:nvSpPr>
          <p:cNvPr id="25" name="文本框 24">
            <a:extLst>
              <a:ext uri="{FF2B5EF4-FFF2-40B4-BE49-F238E27FC236}">
                <a16:creationId xmlns:a16="http://schemas.microsoft.com/office/drawing/2014/main" id="{2F600029-0FAB-4E4C-81ED-CBEABA7F93F3}"/>
              </a:ext>
            </a:extLst>
          </p:cNvPr>
          <p:cNvSpPr txBox="1"/>
          <p:nvPr/>
        </p:nvSpPr>
        <p:spPr>
          <a:xfrm>
            <a:off x="8434426" y="4973337"/>
            <a:ext cx="2528256" cy="369332"/>
          </a:xfrm>
          <a:prstGeom prst="rect">
            <a:avLst/>
          </a:prstGeom>
          <a:noFill/>
        </p:spPr>
        <p:txBody>
          <a:bodyPr wrap="none" rtlCol="0">
            <a:spAutoFit/>
          </a:bodyPr>
          <a:lstStyle/>
          <a:p>
            <a:pPr algn="r"/>
            <a:r>
              <a:rPr lang="en-US" altLang="zh-CN" dirty="0"/>
              <a:t>Application Layer</a:t>
            </a:r>
            <a:endParaRPr lang="zh-CN" altLang="en-US" dirty="0"/>
          </a:p>
        </p:txBody>
      </p:sp>
      <p:cxnSp>
        <p:nvCxnSpPr>
          <p:cNvPr id="37" name="直接连接符 36">
            <a:extLst>
              <a:ext uri="{FF2B5EF4-FFF2-40B4-BE49-F238E27FC236}">
                <a16:creationId xmlns:a16="http://schemas.microsoft.com/office/drawing/2014/main" id="{EEEA30A1-DF09-40F0-8358-27E9A703768E}"/>
              </a:ext>
            </a:extLst>
          </p:cNvPr>
          <p:cNvCxnSpPr>
            <a:stCxn id="19" idx="3"/>
            <a:endCxn id="25" idx="1"/>
          </p:cNvCxnSpPr>
          <p:nvPr/>
        </p:nvCxnSpPr>
        <p:spPr>
          <a:xfrm>
            <a:off x="1910363" y="5127226"/>
            <a:ext cx="6524063"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4871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51098D5-BFAF-4F14-87A4-CB6E4BAEB025}"/>
              </a:ext>
            </a:extLst>
          </p:cNvPr>
          <p:cNvSpPr>
            <a:spLocks noGrp="1"/>
          </p:cNvSpPr>
          <p:nvPr>
            <p:ph type="body" sz="quarter" idx="14"/>
          </p:nvPr>
        </p:nvSpPr>
        <p:spPr>
          <a:xfrm>
            <a:off x="696000" y="710691"/>
            <a:ext cx="5464053" cy="402291"/>
          </a:xfrm>
        </p:spPr>
        <p:txBody>
          <a:bodyPr/>
          <a:lstStyle/>
          <a:p>
            <a:r>
              <a:rPr lang="en-US" altLang="zh-CN" dirty="0"/>
              <a:t>Examination</a:t>
            </a:r>
            <a:endParaRPr lang="zh-CN" altLang="en-US" dirty="0"/>
          </a:p>
        </p:txBody>
      </p:sp>
      <p:sp>
        <p:nvSpPr>
          <p:cNvPr id="12" name="标题 11">
            <a:extLst>
              <a:ext uri="{FF2B5EF4-FFF2-40B4-BE49-F238E27FC236}">
                <a16:creationId xmlns:a16="http://schemas.microsoft.com/office/drawing/2014/main" id="{00AEBF00-2AC8-F65A-3E50-567017905BBD}"/>
              </a:ext>
            </a:extLst>
          </p:cNvPr>
          <p:cNvSpPr>
            <a:spLocks noGrp="1"/>
          </p:cNvSpPr>
          <p:nvPr>
            <p:ph type="title"/>
          </p:nvPr>
        </p:nvSpPr>
        <p:spPr>
          <a:xfrm>
            <a:off x="696000" y="360000"/>
            <a:ext cx="10800000" cy="424732"/>
          </a:xfrm>
        </p:spPr>
        <p:txBody>
          <a:bodyPr/>
          <a:lstStyle/>
          <a:p>
            <a:r>
              <a:rPr lang="zh-CN" altLang="en-US" dirty="0"/>
              <a:t>考核</a:t>
            </a:r>
          </a:p>
        </p:txBody>
      </p:sp>
      <p:sp>
        <p:nvSpPr>
          <p:cNvPr id="20" name="Rectangle 11">
            <a:extLst>
              <a:ext uri="{FF2B5EF4-FFF2-40B4-BE49-F238E27FC236}">
                <a16:creationId xmlns:a16="http://schemas.microsoft.com/office/drawing/2014/main" id="{2CB100D2-A9E3-474C-9B58-7B38FA41397D}"/>
              </a:ext>
            </a:extLst>
          </p:cNvPr>
          <p:cNvSpPr>
            <a:spLocks/>
          </p:cNvSpPr>
          <p:nvPr/>
        </p:nvSpPr>
        <p:spPr bwMode="auto">
          <a:xfrm>
            <a:off x="1821334" y="2945671"/>
            <a:ext cx="461665"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a:sym typeface="Bebas Neue" charset="0"/>
              </a:rPr>
              <a:t>作业</a:t>
            </a:r>
            <a:endParaRPr lang="en-US" dirty="0">
              <a:sym typeface="Bebas Neue" charset="0"/>
            </a:endParaRPr>
          </a:p>
        </p:txBody>
      </p:sp>
      <p:sp>
        <p:nvSpPr>
          <p:cNvPr id="21" name="Rectangle 12">
            <a:extLst>
              <a:ext uri="{FF2B5EF4-FFF2-40B4-BE49-F238E27FC236}">
                <a16:creationId xmlns:a16="http://schemas.microsoft.com/office/drawing/2014/main" id="{E76A7DF5-987B-4C24-B14B-27C29905561E}"/>
              </a:ext>
            </a:extLst>
          </p:cNvPr>
          <p:cNvSpPr>
            <a:spLocks/>
          </p:cNvSpPr>
          <p:nvPr/>
        </p:nvSpPr>
        <p:spPr bwMode="auto">
          <a:xfrm>
            <a:off x="7895929" y="2976449"/>
            <a:ext cx="1102866"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Homework</a:t>
            </a:r>
            <a:endParaRPr lang="en-US" dirty="0">
              <a:sym typeface="Bebas Neue" charset="0"/>
            </a:endParaRPr>
          </a:p>
        </p:txBody>
      </p:sp>
      <p:sp>
        <p:nvSpPr>
          <p:cNvPr id="22" name="Rectangle 13">
            <a:extLst>
              <a:ext uri="{FF2B5EF4-FFF2-40B4-BE49-F238E27FC236}">
                <a16:creationId xmlns:a16="http://schemas.microsoft.com/office/drawing/2014/main" id="{799C3E75-7DE6-49C4-9E33-6F271A8EAF1B}"/>
              </a:ext>
            </a:extLst>
          </p:cNvPr>
          <p:cNvSpPr/>
          <p:nvPr/>
        </p:nvSpPr>
        <p:spPr>
          <a:xfrm>
            <a:off x="1821334" y="329941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7">
            <a:extLst>
              <a:ext uri="{FF2B5EF4-FFF2-40B4-BE49-F238E27FC236}">
                <a16:creationId xmlns:a16="http://schemas.microsoft.com/office/drawing/2014/main" id="{F3EA3E20-303E-4183-A9F4-579A2FEA54FF}"/>
              </a:ext>
            </a:extLst>
          </p:cNvPr>
          <p:cNvSpPr/>
          <p:nvPr/>
        </p:nvSpPr>
        <p:spPr>
          <a:xfrm>
            <a:off x="1821335" y="3302305"/>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8">
            <a:extLst>
              <a:ext uri="{FF2B5EF4-FFF2-40B4-BE49-F238E27FC236}">
                <a16:creationId xmlns:a16="http://schemas.microsoft.com/office/drawing/2014/main" id="{251A0855-9593-4051-81FC-36DC3B8055A5}"/>
              </a:ext>
            </a:extLst>
          </p:cNvPr>
          <p:cNvSpPr>
            <a:spLocks/>
          </p:cNvSpPr>
          <p:nvPr/>
        </p:nvSpPr>
        <p:spPr bwMode="auto">
          <a:xfrm>
            <a:off x="9280074" y="3256975"/>
            <a:ext cx="55143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
        <p:nvSpPr>
          <p:cNvPr id="13" name="Rectangle 5">
            <a:extLst>
              <a:ext uri="{FF2B5EF4-FFF2-40B4-BE49-F238E27FC236}">
                <a16:creationId xmlns:a16="http://schemas.microsoft.com/office/drawing/2014/main" id="{8A420563-C192-4283-A269-518856276942}"/>
              </a:ext>
            </a:extLst>
          </p:cNvPr>
          <p:cNvSpPr>
            <a:spLocks/>
          </p:cNvSpPr>
          <p:nvPr/>
        </p:nvSpPr>
        <p:spPr bwMode="auto">
          <a:xfrm>
            <a:off x="1821334" y="4705575"/>
            <a:ext cx="692497"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小</a:t>
            </a:r>
            <a:r>
              <a:rPr lang="zh-CN" altLang="en-US">
                <a:sym typeface="Bebas Neue" charset="0"/>
              </a:rPr>
              <a:t>论文</a:t>
            </a:r>
            <a:endParaRPr lang="en-US" dirty="0">
              <a:sym typeface="Bebas Neue" charset="0"/>
            </a:endParaRPr>
          </a:p>
        </p:txBody>
      </p:sp>
      <p:sp>
        <p:nvSpPr>
          <p:cNvPr id="15" name="Rectangle 6">
            <a:extLst>
              <a:ext uri="{FF2B5EF4-FFF2-40B4-BE49-F238E27FC236}">
                <a16:creationId xmlns:a16="http://schemas.microsoft.com/office/drawing/2014/main" id="{F4DC4A3E-F0DD-4069-9EA3-0DFBDCD08312}"/>
              </a:ext>
            </a:extLst>
          </p:cNvPr>
          <p:cNvSpPr>
            <a:spLocks/>
          </p:cNvSpPr>
          <p:nvPr/>
        </p:nvSpPr>
        <p:spPr bwMode="auto">
          <a:xfrm>
            <a:off x="8309504" y="4736353"/>
            <a:ext cx="689291"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Paper</a:t>
            </a:r>
            <a:endParaRPr lang="en-US" dirty="0">
              <a:sym typeface="Bebas Neue" charset="0"/>
            </a:endParaRPr>
          </a:p>
        </p:txBody>
      </p:sp>
      <p:sp>
        <p:nvSpPr>
          <p:cNvPr id="16" name="Rectangle 7">
            <a:extLst>
              <a:ext uri="{FF2B5EF4-FFF2-40B4-BE49-F238E27FC236}">
                <a16:creationId xmlns:a16="http://schemas.microsoft.com/office/drawing/2014/main" id="{C86D7521-FA00-4DF0-96AB-8F50C39B2E63}"/>
              </a:ext>
            </a:extLst>
          </p:cNvPr>
          <p:cNvSpPr/>
          <p:nvPr/>
        </p:nvSpPr>
        <p:spPr>
          <a:xfrm>
            <a:off x="1845789" y="5059322"/>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9">
            <a:extLst>
              <a:ext uri="{FF2B5EF4-FFF2-40B4-BE49-F238E27FC236}">
                <a16:creationId xmlns:a16="http://schemas.microsoft.com/office/drawing/2014/main" id="{12658BF4-298D-46BA-865D-90F21EAE5E4E}"/>
              </a:ext>
            </a:extLst>
          </p:cNvPr>
          <p:cNvSpPr>
            <a:spLocks/>
          </p:cNvSpPr>
          <p:nvPr/>
        </p:nvSpPr>
        <p:spPr bwMode="auto">
          <a:xfrm>
            <a:off x="9280074" y="5018834"/>
            <a:ext cx="55143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sym typeface="Bebas Neue" charset="0"/>
              </a:rPr>
              <a:t>10 %</a:t>
            </a:r>
            <a:endParaRPr lang="en-US" dirty="0">
              <a:sym typeface="Bebas Neue" charset="0"/>
            </a:endParaRPr>
          </a:p>
        </p:txBody>
      </p:sp>
      <p:sp>
        <p:nvSpPr>
          <p:cNvPr id="26" name="Rectangle 20">
            <a:extLst>
              <a:ext uri="{FF2B5EF4-FFF2-40B4-BE49-F238E27FC236}">
                <a16:creationId xmlns:a16="http://schemas.microsoft.com/office/drawing/2014/main" id="{5D8257F3-409C-4EB7-A382-263AF3423A2D}"/>
              </a:ext>
            </a:extLst>
          </p:cNvPr>
          <p:cNvSpPr/>
          <p:nvPr/>
        </p:nvSpPr>
        <p:spPr>
          <a:xfrm>
            <a:off x="1844194" y="5047697"/>
            <a:ext cx="720000" cy="14906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8">
            <a:extLst>
              <a:ext uri="{FF2B5EF4-FFF2-40B4-BE49-F238E27FC236}">
                <a16:creationId xmlns:a16="http://schemas.microsoft.com/office/drawing/2014/main" id="{5EF822E4-15FC-464E-898B-D1F5A3D5CBC0}"/>
              </a:ext>
            </a:extLst>
          </p:cNvPr>
          <p:cNvSpPr>
            <a:spLocks/>
          </p:cNvSpPr>
          <p:nvPr/>
        </p:nvSpPr>
        <p:spPr bwMode="auto">
          <a:xfrm>
            <a:off x="1821334" y="5587481"/>
            <a:ext cx="923330"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期末</a:t>
            </a:r>
            <a:r>
              <a:rPr lang="zh-CN" altLang="en-US">
                <a:sym typeface="Bebas Neue" charset="0"/>
              </a:rPr>
              <a:t>考试</a:t>
            </a:r>
            <a:endParaRPr lang="en-US" dirty="0">
              <a:sym typeface="Bebas Neue" charset="0"/>
            </a:endParaRPr>
          </a:p>
        </p:txBody>
      </p:sp>
      <p:sp>
        <p:nvSpPr>
          <p:cNvPr id="18" name="Rectangle 9">
            <a:extLst>
              <a:ext uri="{FF2B5EF4-FFF2-40B4-BE49-F238E27FC236}">
                <a16:creationId xmlns:a16="http://schemas.microsoft.com/office/drawing/2014/main" id="{EB2873BF-EC3E-45ED-82CF-BC38EC088382}"/>
              </a:ext>
            </a:extLst>
          </p:cNvPr>
          <p:cNvSpPr>
            <a:spLocks/>
          </p:cNvSpPr>
          <p:nvPr/>
        </p:nvSpPr>
        <p:spPr bwMode="auto">
          <a:xfrm>
            <a:off x="7620212" y="5618259"/>
            <a:ext cx="137858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Final test</a:t>
            </a:r>
            <a:endParaRPr lang="en-US" altLang="zh-CN" dirty="0">
              <a:sym typeface="Bebas Neue" charset="0"/>
            </a:endParaRPr>
          </a:p>
        </p:txBody>
      </p:sp>
      <p:sp>
        <p:nvSpPr>
          <p:cNvPr id="19" name="Rectangle 10">
            <a:extLst>
              <a:ext uri="{FF2B5EF4-FFF2-40B4-BE49-F238E27FC236}">
                <a16:creationId xmlns:a16="http://schemas.microsoft.com/office/drawing/2014/main" id="{918AD1A1-0C9D-4FBA-A689-86770413EEDC}"/>
              </a:ext>
            </a:extLst>
          </p:cNvPr>
          <p:cNvSpPr/>
          <p:nvPr/>
        </p:nvSpPr>
        <p:spPr>
          <a:xfrm>
            <a:off x="1844194" y="594122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1">
            <a:extLst>
              <a:ext uri="{FF2B5EF4-FFF2-40B4-BE49-F238E27FC236}">
                <a16:creationId xmlns:a16="http://schemas.microsoft.com/office/drawing/2014/main" id="{C479D89E-1FEC-4E81-8530-D9E6E52CA037}"/>
              </a:ext>
            </a:extLst>
          </p:cNvPr>
          <p:cNvSpPr>
            <a:spLocks/>
          </p:cNvSpPr>
          <p:nvPr/>
        </p:nvSpPr>
        <p:spPr bwMode="auto">
          <a:xfrm>
            <a:off x="9280074" y="5900740"/>
            <a:ext cx="55143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sym typeface="Bebas Neue" charset="0"/>
              </a:rPr>
              <a:t>60 %</a:t>
            </a:r>
            <a:endParaRPr lang="en-US" dirty="0">
              <a:sym typeface="Bebas Neue" charset="0"/>
            </a:endParaRPr>
          </a:p>
        </p:txBody>
      </p:sp>
      <p:sp>
        <p:nvSpPr>
          <p:cNvPr id="29" name="Rectangle 22">
            <a:extLst>
              <a:ext uri="{FF2B5EF4-FFF2-40B4-BE49-F238E27FC236}">
                <a16:creationId xmlns:a16="http://schemas.microsoft.com/office/drawing/2014/main" id="{4B9A2D66-40E7-47CE-9A1C-19735C2788B9}"/>
              </a:ext>
            </a:extLst>
          </p:cNvPr>
          <p:cNvSpPr/>
          <p:nvPr/>
        </p:nvSpPr>
        <p:spPr>
          <a:xfrm>
            <a:off x="1844196" y="5944113"/>
            <a:ext cx="43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11">
            <a:extLst>
              <a:ext uri="{FF2B5EF4-FFF2-40B4-BE49-F238E27FC236}">
                <a16:creationId xmlns:a16="http://schemas.microsoft.com/office/drawing/2014/main" id="{5C6ADD10-AB16-48FC-901E-DAC6E2D285DA}"/>
              </a:ext>
            </a:extLst>
          </p:cNvPr>
          <p:cNvSpPr>
            <a:spLocks/>
          </p:cNvSpPr>
          <p:nvPr/>
        </p:nvSpPr>
        <p:spPr bwMode="auto">
          <a:xfrm>
            <a:off x="1821334" y="2065719"/>
            <a:ext cx="461665"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考勤</a:t>
            </a:r>
            <a:endParaRPr lang="en-US" dirty="0">
              <a:sym typeface="Bebas Neue" charset="0"/>
            </a:endParaRPr>
          </a:p>
        </p:txBody>
      </p:sp>
      <p:sp>
        <p:nvSpPr>
          <p:cNvPr id="30" name="Rectangle 12">
            <a:extLst>
              <a:ext uri="{FF2B5EF4-FFF2-40B4-BE49-F238E27FC236}">
                <a16:creationId xmlns:a16="http://schemas.microsoft.com/office/drawing/2014/main" id="{A15BD2CA-4CAE-4476-9EDA-570925C70BAF}"/>
              </a:ext>
            </a:extLst>
          </p:cNvPr>
          <p:cNvSpPr>
            <a:spLocks/>
          </p:cNvSpPr>
          <p:nvPr/>
        </p:nvSpPr>
        <p:spPr bwMode="auto">
          <a:xfrm>
            <a:off x="7895929" y="2096497"/>
            <a:ext cx="1102866"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dirty="0">
                <a:sym typeface="Bebas Neue" charset="0"/>
              </a:rPr>
              <a:t>Clock in</a:t>
            </a:r>
            <a:endParaRPr lang="en-US" dirty="0">
              <a:sym typeface="Bebas Neue" charset="0"/>
            </a:endParaRPr>
          </a:p>
        </p:txBody>
      </p:sp>
      <p:sp>
        <p:nvSpPr>
          <p:cNvPr id="31" name="Rectangle 13">
            <a:extLst>
              <a:ext uri="{FF2B5EF4-FFF2-40B4-BE49-F238E27FC236}">
                <a16:creationId xmlns:a16="http://schemas.microsoft.com/office/drawing/2014/main" id="{922D10C0-7F5F-4C5B-944E-D1B513381739}"/>
              </a:ext>
            </a:extLst>
          </p:cNvPr>
          <p:cNvSpPr/>
          <p:nvPr/>
        </p:nvSpPr>
        <p:spPr>
          <a:xfrm>
            <a:off x="1821334" y="2419467"/>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7">
            <a:extLst>
              <a:ext uri="{FF2B5EF4-FFF2-40B4-BE49-F238E27FC236}">
                <a16:creationId xmlns:a16="http://schemas.microsoft.com/office/drawing/2014/main" id="{6485A974-A0B4-4E18-AC70-7A4EF074C3DB}"/>
              </a:ext>
            </a:extLst>
          </p:cNvPr>
          <p:cNvSpPr/>
          <p:nvPr/>
        </p:nvSpPr>
        <p:spPr>
          <a:xfrm>
            <a:off x="1821335" y="2422353"/>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Rectangle 18">
            <a:extLst>
              <a:ext uri="{FF2B5EF4-FFF2-40B4-BE49-F238E27FC236}">
                <a16:creationId xmlns:a16="http://schemas.microsoft.com/office/drawing/2014/main" id="{7C54C3C9-66FD-4BCA-84A8-904BF79D57BD}"/>
              </a:ext>
            </a:extLst>
          </p:cNvPr>
          <p:cNvSpPr>
            <a:spLocks/>
          </p:cNvSpPr>
          <p:nvPr/>
        </p:nvSpPr>
        <p:spPr bwMode="auto">
          <a:xfrm>
            <a:off x="9280074" y="2377023"/>
            <a:ext cx="55143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
        <p:nvSpPr>
          <p:cNvPr id="34" name="Rectangle 11">
            <a:extLst>
              <a:ext uri="{FF2B5EF4-FFF2-40B4-BE49-F238E27FC236}">
                <a16:creationId xmlns:a16="http://schemas.microsoft.com/office/drawing/2014/main" id="{095C0678-81DF-43D8-9EFA-C8ACE014D81F}"/>
              </a:ext>
            </a:extLst>
          </p:cNvPr>
          <p:cNvSpPr>
            <a:spLocks/>
          </p:cNvSpPr>
          <p:nvPr/>
        </p:nvSpPr>
        <p:spPr bwMode="auto">
          <a:xfrm>
            <a:off x="1821334" y="3825623"/>
            <a:ext cx="461665"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zh-CN" altLang="en-US">
                <a:sym typeface="Bebas Neue" charset="0"/>
              </a:rPr>
              <a:t>实验</a:t>
            </a:r>
            <a:endParaRPr lang="en-US" dirty="0">
              <a:sym typeface="Bebas Neue" charset="0"/>
            </a:endParaRPr>
          </a:p>
        </p:txBody>
      </p:sp>
      <p:sp>
        <p:nvSpPr>
          <p:cNvPr id="35" name="Rectangle 12">
            <a:extLst>
              <a:ext uri="{FF2B5EF4-FFF2-40B4-BE49-F238E27FC236}">
                <a16:creationId xmlns:a16="http://schemas.microsoft.com/office/drawing/2014/main" id="{80BF17D2-B62B-499C-BE52-61B46BD20AE0}"/>
              </a:ext>
            </a:extLst>
          </p:cNvPr>
          <p:cNvSpPr>
            <a:spLocks/>
          </p:cNvSpPr>
          <p:nvPr/>
        </p:nvSpPr>
        <p:spPr bwMode="auto">
          <a:xfrm>
            <a:off x="7620212" y="3856401"/>
            <a:ext cx="137858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defTabSz="4572000"/>
            <a:r>
              <a:rPr lang="en-US" altLang="zh-CN" dirty="0">
                <a:sym typeface="Bebas Neue" charset="0"/>
              </a:rPr>
              <a:t>Experiment</a:t>
            </a:r>
            <a:endParaRPr lang="en-US" dirty="0">
              <a:sym typeface="Bebas Neue" charset="0"/>
            </a:endParaRPr>
          </a:p>
        </p:txBody>
      </p:sp>
      <p:sp>
        <p:nvSpPr>
          <p:cNvPr id="36" name="Rectangle 13">
            <a:extLst>
              <a:ext uri="{FF2B5EF4-FFF2-40B4-BE49-F238E27FC236}">
                <a16:creationId xmlns:a16="http://schemas.microsoft.com/office/drawing/2014/main" id="{DB28D04F-0946-4ED3-86BF-7DB7321C7AAB}"/>
              </a:ext>
            </a:extLst>
          </p:cNvPr>
          <p:cNvSpPr/>
          <p:nvPr/>
        </p:nvSpPr>
        <p:spPr>
          <a:xfrm>
            <a:off x="1821334" y="4179371"/>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17">
            <a:extLst>
              <a:ext uri="{FF2B5EF4-FFF2-40B4-BE49-F238E27FC236}">
                <a16:creationId xmlns:a16="http://schemas.microsoft.com/office/drawing/2014/main" id="{64712760-BAE8-40C1-AD0B-4102566DF167}"/>
              </a:ext>
            </a:extLst>
          </p:cNvPr>
          <p:cNvSpPr/>
          <p:nvPr/>
        </p:nvSpPr>
        <p:spPr>
          <a:xfrm>
            <a:off x="1821335" y="4182257"/>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18">
            <a:extLst>
              <a:ext uri="{FF2B5EF4-FFF2-40B4-BE49-F238E27FC236}">
                <a16:creationId xmlns:a16="http://schemas.microsoft.com/office/drawing/2014/main" id="{08776763-E9C8-4C72-A68F-03EDF5AE85D0}"/>
              </a:ext>
            </a:extLst>
          </p:cNvPr>
          <p:cNvSpPr>
            <a:spLocks/>
          </p:cNvSpPr>
          <p:nvPr/>
        </p:nvSpPr>
        <p:spPr bwMode="auto">
          <a:xfrm>
            <a:off x="9280074" y="4136927"/>
            <a:ext cx="55143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Tree>
    <p:extLst>
      <p:ext uri="{BB962C8B-B14F-4D97-AF65-F5344CB8AC3E}">
        <p14:creationId xmlns:p14="http://schemas.microsoft.com/office/powerpoint/2010/main" val="406247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问号">
            <a:extLst>
              <a:ext uri="{FF2B5EF4-FFF2-40B4-BE49-F238E27FC236}">
                <a16:creationId xmlns:a16="http://schemas.microsoft.com/office/drawing/2014/main" id="{737E9CA2-1C91-47E6-BA70-EDC91ED306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677688" y="3200628"/>
            <a:ext cx="914400" cy="914400"/>
          </a:xfrm>
          <a:prstGeom prst="rect">
            <a:avLst/>
          </a:prstGeom>
          <a:effectLst>
            <a:outerShdw blurRad="50800" dist="38100" dir="2700000" algn="tl" rotWithShape="0">
              <a:prstClr val="black">
                <a:alpha val="40000"/>
              </a:prstClr>
            </a:outerShdw>
          </a:effectLst>
        </p:spPr>
      </p:pic>
      <p:pic>
        <p:nvPicPr>
          <p:cNvPr id="6" name="图形 5" descr="铅笔">
            <a:extLst>
              <a:ext uri="{FF2B5EF4-FFF2-40B4-BE49-F238E27FC236}">
                <a16:creationId xmlns:a16="http://schemas.microsoft.com/office/drawing/2014/main" id="{31A70539-21D4-43BA-912C-A6C5A4D9E43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38802" y="3200628"/>
            <a:ext cx="914400" cy="914400"/>
          </a:xfrm>
          <a:prstGeom prst="rect">
            <a:avLst/>
          </a:prstGeom>
          <a:effectLst>
            <a:outerShdw blurRad="50800" dist="38100" dir="2700000" algn="tl" rotWithShape="0">
              <a:prstClr val="black">
                <a:alpha val="40000"/>
              </a:prstClr>
            </a:outerShdw>
          </a:effectLst>
        </p:spPr>
      </p:pic>
      <p:pic>
        <p:nvPicPr>
          <p:cNvPr id="7" name="图形 6" descr="书籍">
            <a:extLst>
              <a:ext uri="{FF2B5EF4-FFF2-40B4-BE49-F238E27FC236}">
                <a16:creationId xmlns:a16="http://schemas.microsoft.com/office/drawing/2014/main" id="{B20A7CD9-C234-4251-B427-A048164EC1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99914" y="3200628"/>
            <a:ext cx="914400" cy="914400"/>
          </a:xfrm>
          <a:prstGeom prst="rect">
            <a:avLst/>
          </a:prstGeom>
          <a:effectLst>
            <a:outerShdw blurRad="50800" dist="38100" dir="2700000" algn="tl" rotWithShape="0">
              <a:prstClr val="black">
                <a:alpha val="40000"/>
              </a:prstClr>
            </a:outerShdw>
          </a:effectLst>
        </p:spPr>
      </p:pic>
      <p:pic>
        <p:nvPicPr>
          <p:cNvPr id="8" name="图形 7" descr="教室">
            <a:extLst>
              <a:ext uri="{FF2B5EF4-FFF2-40B4-BE49-F238E27FC236}">
                <a16:creationId xmlns:a16="http://schemas.microsoft.com/office/drawing/2014/main" id="{EF6EB282-BCF0-466F-8A82-A3837B7367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19358" y="3200628"/>
            <a:ext cx="914400" cy="914400"/>
          </a:xfrm>
          <a:prstGeom prst="rect">
            <a:avLst/>
          </a:prstGeom>
          <a:effectLst>
            <a:outerShdw blurRad="50800" dist="38100" dir="2700000" algn="tl" rotWithShape="0">
              <a:prstClr val="black">
                <a:alpha val="40000"/>
              </a:prstClr>
            </a:outerShdw>
          </a:effectLst>
        </p:spPr>
      </p:pic>
      <p:pic>
        <p:nvPicPr>
          <p:cNvPr id="9" name="图形 8" descr="用户">
            <a:extLst>
              <a:ext uri="{FF2B5EF4-FFF2-40B4-BE49-F238E27FC236}">
                <a16:creationId xmlns:a16="http://schemas.microsoft.com/office/drawing/2014/main" id="{9563F83B-434D-4085-B98C-57F28326D41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158245" y="3200628"/>
            <a:ext cx="914400" cy="9144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46BBF7E5-34B9-47F0-9EA9-8E9367A56C25}"/>
              </a:ext>
            </a:extLst>
          </p:cNvPr>
          <p:cNvSpPr txBox="1"/>
          <p:nvPr/>
        </p:nvSpPr>
        <p:spPr>
          <a:xfrm>
            <a:off x="2810893" y="4320000"/>
            <a:ext cx="492443" cy="369332"/>
          </a:xfrm>
          <a:prstGeom prst="rect">
            <a:avLst/>
          </a:prstGeom>
          <a:noFill/>
        </p:spPr>
        <p:txBody>
          <a:bodyPr wrap="square" rtlCol="0">
            <a:spAutoFit/>
          </a:bodyPr>
          <a:lstStyle/>
          <a:p>
            <a:pPr algn="ctr"/>
            <a:r>
              <a:rPr lang="zh-CN" altLang="en-US" dirty="0"/>
              <a:t>看</a:t>
            </a:r>
          </a:p>
        </p:txBody>
      </p:sp>
      <p:sp>
        <p:nvSpPr>
          <p:cNvPr id="11" name="文本框 10">
            <a:extLst>
              <a:ext uri="{FF2B5EF4-FFF2-40B4-BE49-F238E27FC236}">
                <a16:creationId xmlns:a16="http://schemas.microsoft.com/office/drawing/2014/main" id="{8B29A2B4-7675-4905-AA38-D27726F73D5B}"/>
              </a:ext>
            </a:extLst>
          </p:cNvPr>
          <p:cNvSpPr txBox="1"/>
          <p:nvPr/>
        </p:nvSpPr>
        <p:spPr>
          <a:xfrm>
            <a:off x="4330337" y="4320000"/>
            <a:ext cx="492443" cy="369332"/>
          </a:xfrm>
          <a:prstGeom prst="rect">
            <a:avLst/>
          </a:prstGeom>
          <a:noFill/>
        </p:spPr>
        <p:txBody>
          <a:bodyPr wrap="square" rtlCol="0">
            <a:spAutoFit/>
          </a:bodyPr>
          <a:lstStyle/>
          <a:p>
            <a:pPr algn="ctr"/>
            <a:r>
              <a:rPr lang="zh-CN" altLang="en-US" dirty="0"/>
              <a:t>听</a:t>
            </a:r>
          </a:p>
        </p:txBody>
      </p:sp>
      <p:sp>
        <p:nvSpPr>
          <p:cNvPr id="12" name="文本框 11">
            <a:extLst>
              <a:ext uri="{FF2B5EF4-FFF2-40B4-BE49-F238E27FC236}">
                <a16:creationId xmlns:a16="http://schemas.microsoft.com/office/drawing/2014/main" id="{8C0BC1AA-3173-4DEA-84F3-B8D0162AE0FA}"/>
              </a:ext>
            </a:extLst>
          </p:cNvPr>
          <p:cNvSpPr txBox="1"/>
          <p:nvPr/>
        </p:nvSpPr>
        <p:spPr>
          <a:xfrm>
            <a:off x="5849781" y="4320000"/>
            <a:ext cx="492443" cy="369332"/>
          </a:xfrm>
          <a:prstGeom prst="rect">
            <a:avLst/>
          </a:prstGeom>
          <a:noFill/>
        </p:spPr>
        <p:txBody>
          <a:bodyPr wrap="square" rtlCol="0">
            <a:spAutoFit/>
          </a:bodyPr>
          <a:lstStyle/>
          <a:p>
            <a:pPr algn="ctr"/>
            <a:r>
              <a:rPr lang="zh-CN" altLang="en-US" dirty="0"/>
              <a:t>写</a:t>
            </a:r>
          </a:p>
        </p:txBody>
      </p:sp>
      <p:sp>
        <p:nvSpPr>
          <p:cNvPr id="13" name="文本框 12">
            <a:extLst>
              <a:ext uri="{FF2B5EF4-FFF2-40B4-BE49-F238E27FC236}">
                <a16:creationId xmlns:a16="http://schemas.microsoft.com/office/drawing/2014/main" id="{EE5C588E-50E2-4D35-80D1-DF16643DD01A}"/>
              </a:ext>
            </a:extLst>
          </p:cNvPr>
          <p:cNvSpPr txBox="1"/>
          <p:nvPr/>
        </p:nvSpPr>
        <p:spPr>
          <a:xfrm>
            <a:off x="7369224" y="4320000"/>
            <a:ext cx="492443" cy="369332"/>
          </a:xfrm>
          <a:prstGeom prst="rect">
            <a:avLst/>
          </a:prstGeom>
          <a:noFill/>
        </p:spPr>
        <p:txBody>
          <a:bodyPr wrap="square" rtlCol="0">
            <a:spAutoFit/>
          </a:bodyPr>
          <a:lstStyle/>
          <a:p>
            <a:pPr algn="ctr"/>
            <a:r>
              <a:rPr lang="zh-CN" altLang="en-US" dirty="0"/>
              <a:t>论</a:t>
            </a:r>
          </a:p>
        </p:txBody>
      </p:sp>
      <p:sp>
        <p:nvSpPr>
          <p:cNvPr id="14" name="文本框 13">
            <a:extLst>
              <a:ext uri="{FF2B5EF4-FFF2-40B4-BE49-F238E27FC236}">
                <a16:creationId xmlns:a16="http://schemas.microsoft.com/office/drawing/2014/main" id="{6C0B06FF-EFC4-45C6-8AAC-A4B8800CD44B}"/>
              </a:ext>
            </a:extLst>
          </p:cNvPr>
          <p:cNvSpPr txBox="1"/>
          <p:nvPr/>
        </p:nvSpPr>
        <p:spPr>
          <a:xfrm>
            <a:off x="8888667" y="4320000"/>
            <a:ext cx="492443" cy="369332"/>
          </a:xfrm>
          <a:prstGeom prst="rect">
            <a:avLst/>
          </a:prstGeom>
          <a:noFill/>
        </p:spPr>
        <p:txBody>
          <a:bodyPr wrap="square" rtlCol="0">
            <a:spAutoFit/>
          </a:bodyPr>
          <a:lstStyle/>
          <a:p>
            <a:pPr algn="ctr"/>
            <a:r>
              <a:rPr lang="zh-CN" altLang="en-US" dirty="0"/>
              <a:t>思</a:t>
            </a:r>
          </a:p>
        </p:txBody>
      </p:sp>
      <p:sp>
        <p:nvSpPr>
          <p:cNvPr id="15" name="文本框 14">
            <a:extLst>
              <a:ext uri="{FF2B5EF4-FFF2-40B4-BE49-F238E27FC236}">
                <a16:creationId xmlns:a16="http://schemas.microsoft.com/office/drawing/2014/main" id="{3D19A91F-F1B6-4043-8F32-92BFBA61F58A}"/>
              </a:ext>
            </a:extLst>
          </p:cNvPr>
          <p:cNvSpPr txBox="1"/>
          <p:nvPr/>
        </p:nvSpPr>
        <p:spPr>
          <a:xfrm>
            <a:off x="2482279" y="2520000"/>
            <a:ext cx="1149674" cy="369332"/>
          </a:xfrm>
          <a:prstGeom prst="rect">
            <a:avLst/>
          </a:prstGeom>
          <a:noFill/>
        </p:spPr>
        <p:txBody>
          <a:bodyPr wrap="none" rtlCol="0">
            <a:spAutoFit/>
          </a:bodyPr>
          <a:lstStyle/>
          <a:p>
            <a:pPr algn="ctr"/>
            <a:r>
              <a:rPr lang="en-US" altLang="zh-CN" dirty="0"/>
              <a:t>Reading</a:t>
            </a:r>
            <a:endParaRPr lang="zh-CN" altLang="en-US" dirty="0"/>
          </a:p>
        </p:txBody>
      </p:sp>
      <p:sp>
        <p:nvSpPr>
          <p:cNvPr id="16" name="文本框 15">
            <a:extLst>
              <a:ext uri="{FF2B5EF4-FFF2-40B4-BE49-F238E27FC236}">
                <a16:creationId xmlns:a16="http://schemas.microsoft.com/office/drawing/2014/main" id="{4B79D1C2-7FC6-415B-BD48-8583764F8B23}"/>
              </a:ext>
            </a:extLst>
          </p:cNvPr>
          <p:cNvSpPr txBox="1"/>
          <p:nvPr/>
        </p:nvSpPr>
        <p:spPr>
          <a:xfrm>
            <a:off x="8491122" y="2520000"/>
            <a:ext cx="1287532" cy="369332"/>
          </a:xfrm>
          <a:prstGeom prst="rect">
            <a:avLst/>
          </a:prstGeom>
          <a:noFill/>
        </p:spPr>
        <p:txBody>
          <a:bodyPr wrap="none" rtlCol="0">
            <a:spAutoFit/>
          </a:bodyPr>
          <a:lstStyle/>
          <a:p>
            <a:pPr algn="ctr"/>
            <a:r>
              <a:rPr lang="en-US" altLang="zh-CN" dirty="0"/>
              <a:t>Thinking</a:t>
            </a:r>
            <a:endParaRPr lang="zh-CN" altLang="en-US" dirty="0"/>
          </a:p>
        </p:txBody>
      </p:sp>
      <p:sp>
        <p:nvSpPr>
          <p:cNvPr id="17" name="文本框 16">
            <a:extLst>
              <a:ext uri="{FF2B5EF4-FFF2-40B4-BE49-F238E27FC236}">
                <a16:creationId xmlns:a16="http://schemas.microsoft.com/office/drawing/2014/main" id="{40C28DDA-EE0C-4163-97A4-084FB0233398}"/>
              </a:ext>
            </a:extLst>
          </p:cNvPr>
          <p:cNvSpPr txBox="1"/>
          <p:nvPr/>
        </p:nvSpPr>
        <p:spPr>
          <a:xfrm>
            <a:off x="3863863" y="2520000"/>
            <a:ext cx="1425390" cy="369332"/>
          </a:xfrm>
          <a:prstGeom prst="rect">
            <a:avLst/>
          </a:prstGeom>
          <a:noFill/>
        </p:spPr>
        <p:txBody>
          <a:bodyPr wrap="none" rtlCol="0">
            <a:spAutoFit/>
          </a:bodyPr>
          <a:lstStyle/>
          <a:p>
            <a:pPr algn="ctr"/>
            <a:r>
              <a:rPr lang="en-US" altLang="zh-CN" dirty="0"/>
              <a:t>Listening</a:t>
            </a:r>
            <a:endParaRPr lang="zh-CN" altLang="en-US" dirty="0"/>
          </a:p>
        </p:txBody>
      </p:sp>
      <p:sp>
        <p:nvSpPr>
          <p:cNvPr id="18" name="文本框 17">
            <a:extLst>
              <a:ext uri="{FF2B5EF4-FFF2-40B4-BE49-F238E27FC236}">
                <a16:creationId xmlns:a16="http://schemas.microsoft.com/office/drawing/2014/main" id="{04B8C234-D373-449B-8F03-701EA6D0DA34}"/>
              </a:ext>
            </a:extLst>
          </p:cNvPr>
          <p:cNvSpPr txBox="1"/>
          <p:nvPr/>
        </p:nvSpPr>
        <p:spPr>
          <a:xfrm>
            <a:off x="5521166" y="2520000"/>
            <a:ext cx="1149674" cy="369332"/>
          </a:xfrm>
          <a:prstGeom prst="rect">
            <a:avLst/>
          </a:prstGeom>
          <a:noFill/>
        </p:spPr>
        <p:txBody>
          <a:bodyPr wrap="none" rtlCol="0">
            <a:spAutoFit/>
          </a:bodyPr>
          <a:lstStyle/>
          <a:p>
            <a:pPr algn="ctr"/>
            <a:r>
              <a:rPr lang="en-US" altLang="zh-CN" dirty="0"/>
              <a:t>Writing</a:t>
            </a:r>
            <a:endParaRPr lang="zh-CN" altLang="en-US" dirty="0"/>
          </a:p>
        </p:txBody>
      </p:sp>
      <p:sp>
        <p:nvSpPr>
          <p:cNvPr id="19" name="文本框 18">
            <a:extLst>
              <a:ext uri="{FF2B5EF4-FFF2-40B4-BE49-F238E27FC236}">
                <a16:creationId xmlns:a16="http://schemas.microsoft.com/office/drawing/2014/main" id="{CEE11AF7-6887-44AD-B3AC-AB72F7FE488F}"/>
              </a:ext>
            </a:extLst>
          </p:cNvPr>
          <p:cNvSpPr txBox="1"/>
          <p:nvPr/>
        </p:nvSpPr>
        <p:spPr>
          <a:xfrm>
            <a:off x="6833823" y="2520000"/>
            <a:ext cx="1563248" cy="369332"/>
          </a:xfrm>
          <a:prstGeom prst="rect">
            <a:avLst/>
          </a:prstGeom>
          <a:noFill/>
        </p:spPr>
        <p:txBody>
          <a:bodyPr wrap="none" rtlCol="0">
            <a:spAutoFit/>
          </a:bodyPr>
          <a:lstStyle/>
          <a:p>
            <a:pPr algn="ctr"/>
            <a:r>
              <a:rPr lang="en-US" altLang="zh-CN" dirty="0"/>
              <a:t>Discussing</a:t>
            </a:r>
            <a:endParaRPr lang="zh-CN" altLang="en-US" dirty="0"/>
          </a:p>
        </p:txBody>
      </p:sp>
      <p:cxnSp>
        <p:nvCxnSpPr>
          <p:cNvPr id="22" name="直接连接符 21">
            <a:extLst>
              <a:ext uri="{FF2B5EF4-FFF2-40B4-BE49-F238E27FC236}">
                <a16:creationId xmlns:a16="http://schemas.microsoft.com/office/drawing/2014/main" id="{2FC1A820-4E01-450E-82B8-FFC5A67BEABC}"/>
              </a:ext>
            </a:extLst>
          </p:cNvPr>
          <p:cNvCxnSpPr>
            <a:cxnSpLocks/>
          </p:cNvCxnSpPr>
          <p:nvPr/>
        </p:nvCxnSpPr>
        <p:spPr>
          <a:xfrm>
            <a:off x="9886541" y="3657828"/>
            <a:ext cx="1264679" cy="0"/>
          </a:xfrm>
          <a:prstGeom prst="line">
            <a:avLst/>
          </a:prstGeom>
          <a:ln>
            <a:gradFill>
              <a:gsLst>
                <a:gs pos="0">
                  <a:schemeClr val="accent1">
                    <a:lumMod val="5000"/>
                    <a:lumOff val="95000"/>
                  </a:schemeClr>
                </a:gs>
                <a:gs pos="100000">
                  <a:schemeClr val="tx1"/>
                </a:gs>
              </a:gsLst>
              <a:lin ang="10800000" scaled="0"/>
            </a:gradFill>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AF1A1ECF-1FC2-478F-A1D4-138F2DA8F515}"/>
              </a:ext>
            </a:extLst>
          </p:cNvPr>
          <p:cNvCxnSpPr>
            <a:cxnSpLocks/>
          </p:cNvCxnSpPr>
          <p:nvPr/>
        </p:nvCxnSpPr>
        <p:spPr>
          <a:xfrm>
            <a:off x="1024644" y="3657828"/>
            <a:ext cx="1264679" cy="0"/>
          </a:xfrm>
          <a:prstGeom prst="line">
            <a:avLst/>
          </a:prstGeom>
          <a:ln>
            <a:gradFill>
              <a:gsLst>
                <a:gs pos="0">
                  <a:schemeClr val="accent1">
                    <a:lumMod val="5000"/>
                    <a:lumOff val="95000"/>
                  </a:schemeClr>
                </a:gs>
                <a:gs pos="100000">
                  <a:schemeClr val="tx1"/>
                </a:gs>
              </a:gsLst>
              <a:lin ang="0" scaled="0"/>
            </a:gra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78E8E0E-1029-4F5E-8FC5-4C1CEE3FB1FD}"/>
              </a:ext>
            </a:extLst>
          </p:cNvPr>
          <p:cNvCxnSpPr>
            <a:cxnSpLocks/>
          </p:cNvCxnSpPr>
          <p:nvPr/>
        </p:nvCxnSpPr>
        <p:spPr>
          <a:xfrm>
            <a:off x="3808767"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5383678-3AA3-4CB4-911A-6B1B4FE2DABA}"/>
              </a:ext>
            </a:extLst>
          </p:cNvPr>
          <p:cNvCxnSpPr>
            <a:cxnSpLocks/>
          </p:cNvCxnSpPr>
          <p:nvPr/>
        </p:nvCxnSpPr>
        <p:spPr>
          <a:xfrm>
            <a:off x="5328211"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F56F04A3-264E-41AB-85CB-D521BC6DC699}"/>
              </a:ext>
            </a:extLst>
          </p:cNvPr>
          <p:cNvCxnSpPr>
            <a:cxnSpLocks/>
          </p:cNvCxnSpPr>
          <p:nvPr/>
        </p:nvCxnSpPr>
        <p:spPr>
          <a:xfrm>
            <a:off x="6847655"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09BE5DD-9AFB-4B21-918A-89707788158C}"/>
              </a:ext>
            </a:extLst>
          </p:cNvPr>
          <p:cNvCxnSpPr>
            <a:cxnSpLocks/>
          </p:cNvCxnSpPr>
          <p:nvPr/>
        </p:nvCxnSpPr>
        <p:spPr>
          <a:xfrm>
            <a:off x="8367099"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a:xfrm>
            <a:off x="696000" y="710691"/>
            <a:ext cx="5464053" cy="402291"/>
          </a:xfrm>
        </p:spPr>
        <p:txBody>
          <a:bodyPr/>
          <a:lstStyle/>
          <a:p>
            <a:r>
              <a:rPr lang="en-US" altLang="zh-CN" dirty="0"/>
              <a:t>Advices</a:t>
            </a:r>
            <a:endParaRPr lang="zh-CN" altLang="en-US" dirty="0"/>
          </a:p>
        </p:txBody>
      </p:sp>
      <p:sp>
        <p:nvSpPr>
          <p:cNvPr id="21" name="标题 20">
            <a:extLst>
              <a:ext uri="{FF2B5EF4-FFF2-40B4-BE49-F238E27FC236}">
                <a16:creationId xmlns:a16="http://schemas.microsoft.com/office/drawing/2014/main" id="{56B162B1-87F4-240D-5BA8-48E6C71926BE}"/>
              </a:ext>
            </a:extLst>
          </p:cNvPr>
          <p:cNvSpPr>
            <a:spLocks noGrp="1"/>
          </p:cNvSpPr>
          <p:nvPr>
            <p:ph type="title"/>
          </p:nvPr>
        </p:nvSpPr>
        <p:spPr>
          <a:xfrm>
            <a:off x="696000" y="360000"/>
            <a:ext cx="10800000" cy="424732"/>
          </a:xfrm>
        </p:spPr>
        <p:txBody>
          <a:bodyPr/>
          <a:lstStyle/>
          <a:p>
            <a:r>
              <a:rPr lang="zh-CN" altLang="en-US" dirty="0"/>
              <a:t>建议</a:t>
            </a:r>
          </a:p>
        </p:txBody>
      </p:sp>
      <p:cxnSp>
        <p:nvCxnSpPr>
          <p:cNvPr id="28" name="直接连接符 27">
            <a:extLst>
              <a:ext uri="{FF2B5EF4-FFF2-40B4-BE49-F238E27FC236}">
                <a16:creationId xmlns:a16="http://schemas.microsoft.com/office/drawing/2014/main" id="{AF7BD262-CC24-4BEE-B305-13380FA76694}"/>
              </a:ext>
            </a:extLst>
          </p:cNvPr>
          <p:cNvCxnSpPr>
            <a:cxnSpLocks/>
          </p:cNvCxnSpPr>
          <p:nvPr/>
        </p:nvCxnSpPr>
        <p:spPr>
          <a:xfrm>
            <a:off x="2289323"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40395599-3C04-4629-AEEC-9E24A07DEA6F}"/>
              </a:ext>
            </a:extLst>
          </p:cNvPr>
          <p:cNvCxnSpPr>
            <a:cxnSpLocks/>
          </p:cNvCxnSpPr>
          <p:nvPr/>
        </p:nvCxnSpPr>
        <p:spPr>
          <a:xfrm>
            <a:off x="9886541"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81692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a:xfrm>
            <a:off x="696000" y="710691"/>
            <a:ext cx="5464053" cy="402291"/>
          </a:xfrm>
        </p:spPr>
        <p:txBody>
          <a:bodyPr/>
          <a:lstStyle/>
          <a:p>
            <a:r>
              <a:rPr lang="en-US" altLang="zh-CN" dirty="0"/>
              <a:t>Hot links</a:t>
            </a:r>
            <a:endParaRPr lang="zh-CN" altLang="en-US" dirty="0"/>
          </a:p>
        </p:txBody>
      </p:sp>
      <p:sp>
        <p:nvSpPr>
          <p:cNvPr id="5" name="标题 4">
            <a:extLst>
              <a:ext uri="{FF2B5EF4-FFF2-40B4-BE49-F238E27FC236}">
                <a16:creationId xmlns:a16="http://schemas.microsoft.com/office/drawing/2014/main" id="{34E15952-56DC-B65F-9EA5-B624FADC6B9C}"/>
              </a:ext>
            </a:extLst>
          </p:cNvPr>
          <p:cNvSpPr>
            <a:spLocks noGrp="1"/>
          </p:cNvSpPr>
          <p:nvPr>
            <p:ph type="title"/>
          </p:nvPr>
        </p:nvSpPr>
        <p:spPr>
          <a:xfrm>
            <a:off x="696000" y="341534"/>
            <a:ext cx="10800000" cy="461665"/>
          </a:xfrm>
        </p:spPr>
        <p:txBody>
          <a:bodyPr/>
          <a:lstStyle/>
          <a:p>
            <a:r>
              <a:rPr lang="zh-CN" altLang="en-US" dirty="0"/>
              <a:t>推荐</a:t>
            </a:r>
          </a:p>
        </p:txBody>
      </p:sp>
      <p:sp>
        <p:nvSpPr>
          <p:cNvPr id="32" name="文本框 31">
            <a:hlinkClick r:id="rId2"/>
            <a:extLst>
              <a:ext uri="{FF2B5EF4-FFF2-40B4-BE49-F238E27FC236}">
                <a16:creationId xmlns:a16="http://schemas.microsoft.com/office/drawing/2014/main" id="{37CC1C84-7962-4B29-AB09-81ADD5F7512B}"/>
              </a:ext>
            </a:extLst>
          </p:cNvPr>
          <p:cNvSpPr txBox="1"/>
          <p:nvPr/>
        </p:nvSpPr>
        <p:spPr>
          <a:xfrm>
            <a:off x="876300" y="3581400"/>
            <a:ext cx="5503430"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dirty="0"/>
              <a:t>湖科大教书匠 </a:t>
            </a:r>
            <a:r>
              <a:rPr lang="en-US" altLang="zh-CN" dirty="0"/>
              <a:t>- </a:t>
            </a:r>
            <a:r>
              <a:rPr lang="zh-CN" altLang="en-US" dirty="0"/>
              <a:t>计算机网络简明教程及仿真实验</a:t>
            </a:r>
          </a:p>
        </p:txBody>
      </p:sp>
      <p:pic>
        <p:nvPicPr>
          <p:cNvPr id="36" name="图片 35">
            <a:extLst>
              <a:ext uri="{FF2B5EF4-FFF2-40B4-BE49-F238E27FC236}">
                <a16:creationId xmlns:a16="http://schemas.microsoft.com/office/drawing/2014/main" id="{3CCC1041-1291-4F1F-B811-9E8E61B24C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7522" y="2935248"/>
            <a:ext cx="922100" cy="922100"/>
          </a:xfrm>
          <a:prstGeom prst="ellipse">
            <a:avLst/>
          </a:prstGeom>
          <a:ln>
            <a:solidFill>
              <a:schemeClr val="bg2">
                <a:lumMod val="50000"/>
              </a:schemeClr>
            </a:solidFill>
          </a:ln>
          <a:effectLst/>
        </p:spPr>
      </p:pic>
      <p:sp>
        <p:nvSpPr>
          <p:cNvPr id="8" name="文本框 7">
            <a:hlinkClick r:id="rId4"/>
            <a:extLst>
              <a:ext uri="{FF2B5EF4-FFF2-40B4-BE49-F238E27FC236}">
                <a16:creationId xmlns:a16="http://schemas.microsoft.com/office/drawing/2014/main" id="{98169AC3-33EB-46EC-A26F-92DB52CB8814}"/>
              </a:ext>
            </a:extLst>
          </p:cNvPr>
          <p:cNvSpPr txBox="1"/>
          <p:nvPr/>
        </p:nvSpPr>
        <p:spPr>
          <a:xfrm>
            <a:off x="876300" y="3026966"/>
            <a:ext cx="4118435"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dirty="0"/>
              <a:t>湖科大教书匠 </a:t>
            </a:r>
            <a:r>
              <a:rPr lang="en-US" altLang="zh-CN" dirty="0"/>
              <a:t>- </a:t>
            </a:r>
            <a:r>
              <a:rPr lang="zh-CN" altLang="en-US" dirty="0"/>
              <a:t>计算机网络微课堂</a:t>
            </a:r>
          </a:p>
        </p:txBody>
      </p:sp>
    </p:spTree>
    <p:extLst>
      <p:ext uri="{BB962C8B-B14F-4D97-AF65-F5344CB8AC3E}">
        <p14:creationId xmlns:p14="http://schemas.microsoft.com/office/powerpoint/2010/main" val="36050865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占位符 29">
            <a:extLst>
              <a:ext uri="{FF2B5EF4-FFF2-40B4-BE49-F238E27FC236}">
                <a16:creationId xmlns:a16="http://schemas.microsoft.com/office/drawing/2014/main" id="{4C39741A-742F-4BF1-B7C1-4D07B85F423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9649" b="9649"/>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normAutofit/>
          </a:bodyPr>
          <a:lstStyle/>
          <a:p>
            <a:r>
              <a:rPr lang="zh-CN" altLang="en-US" dirty="0"/>
              <a:t>概述</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Overview</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1</a:t>
            </a:r>
            <a:endParaRPr lang="zh-CN" altLang="en-US" dirty="0"/>
          </a:p>
        </p:txBody>
      </p:sp>
      <p:pic>
        <p:nvPicPr>
          <p:cNvPr id="26" name="图片占位符 25">
            <a:extLst>
              <a:ext uri="{FF2B5EF4-FFF2-40B4-BE49-F238E27FC236}">
                <a16:creationId xmlns:a16="http://schemas.microsoft.com/office/drawing/2014/main" id="{7E0AF9D8-CFF3-449F-BB68-E420920ED5F5}"/>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106" b="4106"/>
          <a:stretch/>
        </p:blipFill>
        <p:spPr>
          <a:xfrm>
            <a:off x="1" y="2067273"/>
            <a:ext cx="3915052" cy="4790727"/>
          </a:xfrm>
        </p:spPr>
      </p:pic>
      <p:sp>
        <p:nvSpPr>
          <p:cNvPr id="3" name="文本框 2">
            <a:extLst>
              <a:ext uri="{FF2B5EF4-FFF2-40B4-BE49-F238E27FC236}">
                <a16:creationId xmlns:a16="http://schemas.microsoft.com/office/drawing/2014/main" id="{09B0340F-75F0-4836-AA67-2D826DA4779C}"/>
              </a:ext>
            </a:extLst>
          </p:cNvPr>
          <p:cNvSpPr txBox="1"/>
          <p:nvPr/>
        </p:nvSpPr>
        <p:spPr>
          <a:xfrm>
            <a:off x="5259873" y="1697941"/>
            <a:ext cx="1569660" cy="2308324"/>
          </a:xfrm>
          <a:prstGeom prst="rect">
            <a:avLst/>
          </a:prstGeom>
          <a:noFill/>
        </p:spPr>
        <p:txBody>
          <a:bodyPr wrap="none" rtlCol="0">
            <a:spAutoFit/>
          </a:bodyPr>
          <a:lstStyle/>
          <a:p>
            <a:pPr marL="457200" indent="-457200">
              <a:buFont typeface="+mj-lt"/>
              <a:buAutoNum type="arabicPeriod"/>
            </a:pPr>
            <a:r>
              <a:rPr lang="zh-CN" altLang="en-US" dirty="0"/>
              <a:t>特点</a:t>
            </a:r>
            <a:endParaRPr lang="en-US" altLang="zh-CN" dirty="0"/>
          </a:p>
          <a:p>
            <a:pPr marL="457200" indent="-457200">
              <a:buFont typeface="+mj-lt"/>
              <a:buAutoNum type="arabicPeriod"/>
            </a:pPr>
            <a:r>
              <a:rPr lang="zh-CN" altLang="en-US" dirty="0"/>
              <a:t>发展阶段</a:t>
            </a:r>
            <a:endParaRPr lang="en-US" altLang="zh-CN" dirty="0"/>
          </a:p>
          <a:p>
            <a:pPr marL="457200" indent="-457200">
              <a:buFont typeface="+mj-lt"/>
              <a:buAutoNum type="arabicPeriod"/>
            </a:pPr>
            <a:r>
              <a:rPr lang="zh-CN" altLang="en-US" dirty="0"/>
              <a:t>标准化</a:t>
            </a:r>
            <a:endParaRPr lang="en-US" altLang="zh-CN" dirty="0"/>
          </a:p>
          <a:p>
            <a:pPr marL="457200" indent="-457200">
              <a:buFont typeface="+mj-lt"/>
              <a:buAutoNum type="arabicPeriod"/>
            </a:pPr>
            <a:r>
              <a:rPr lang="zh-CN" altLang="en-US" dirty="0"/>
              <a:t>分组交换</a:t>
            </a:r>
            <a:endParaRPr lang="en-US" altLang="zh-CN" dirty="0"/>
          </a:p>
          <a:p>
            <a:pPr marL="457200" indent="-457200">
              <a:buFont typeface="+mj-lt"/>
              <a:buAutoNum type="arabicPeriod"/>
            </a:pPr>
            <a:r>
              <a:rPr lang="zh-CN" altLang="en-US" dirty="0"/>
              <a:t>组成</a:t>
            </a:r>
            <a:endParaRPr lang="en-US" altLang="zh-CN" dirty="0"/>
          </a:p>
          <a:p>
            <a:pPr marL="457200" indent="-457200">
              <a:buFont typeface="+mj-lt"/>
              <a:buAutoNum type="arabicPeriod"/>
            </a:pPr>
            <a:r>
              <a:rPr lang="zh-CN" altLang="en-US" dirty="0"/>
              <a:t>类别</a:t>
            </a:r>
            <a:endParaRPr lang="en-US" altLang="zh-CN" dirty="0"/>
          </a:p>
          <a:p>
            <a:pPr marL="457200" indent="-457200">
              <a:buFont typeface="+mj-lt"/>
              <a:buAutoNum type="arabicPeriod"/>
            </a:pPr>
            <a:r>
              <a:rPr lang="zh-CN" altLang="en-US" dirty="0"/>
              <a:t>性能</a:t>
            </a:r>
            <a:endParaRPr lang="en-US" altLang="zh-CN" dirty="0"/>
          </a:p>
          <a:p>
            <a:pPr marL="457200" indent="-457200">
              <a:buFont typeface="+mj-lt"/>
              <a:buAutoNum type="arabicPeriod"/>
            </a:pPr>
            <a:r>
              <a:rPr lang="zh-CN" altLang="en-US" dirty="0"/>
              <a:t>体系结构</a:t>
            </a:r>
          </a:p>
        </p:txBody>
      </p:sp>
    </p:spTree>
    <p:extLst>
      <p:ext uri="{BB962C8B-B14F-4D97-AF65-F5344CB8AC3E}">
        <p14:creationId xmlns:p14="http://schemas.microsoft.com/office/powerpoint/2010/main" val="174399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8701E476-BD3F-4DE6-BC47-B6F6061F1DB1}"/>
              </a:ext>
            </a:extLst>
          </p:cNvPr>
          <p:cNvGrpSpPr/>
          <p:nvPr/>
        </p:nvGrpSpPr>
        <p:grpSpPr>
          <a:xfrm>
            <a:off x="6355010" y="2181224"/>
            <a:ext cx="3240000" cy="3240000"/>
            <a:chOff x="1674457" y="2181224"/>
            <a:chExt cx="3240000" cy="3240000"/>
          </a:xfrm>
        </p:grpSpPr>
        <p:sp>
          <p:nvSpPr>
            <p:cNvPr id="30" name="任意多边形: 形状 29">
              <a:extLst>
                <a:ext uri="{FF2B5EF4-FFF2-40B4-BE49-F238E27FC236}">
                  <a16:creationId xmlns:a16="http://schemas.microsoft.com/office/drawing/2014/main" id="{8E565568-297C-46B5-86D3-EBAC1041E5B3}"/>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31" name="任意多边形: 形状 30">
              <a:extLst>
                <a:ext uri="{FF2B5EF4-FFF2-40B4-BE49-F238E27FC236}">
                  <a16:creationId xmlns:a16="http://schemas.microsoft.com/office/drawing/2014/main" id="{CA4077CE-4EEF-4A40-B5A8-5E28A2E1EE43}"/>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6" name="组合 5">
            <a:extLst>
              <a:ext uri="{FF2B5EF4-FFF2-40B4-BE49-F238E27FC236}">
                <a16:creationId xmlns:a16="http://schemas.microsoft.com/office/drawing/2014/main" id="{57A48685-4B53-4061-B113-94330DE007AB}"/>
              </a:ext>
            </a:extLst>
          </p:cNvPr>
          <p:cNvGrpSpPr/>
          <p:nvPr/>
        </p:nvGrpSpPr>
        <p:grpSpPr>
          <a:xfrm>
            <a:off x="1674457" y="2181224"/>
            <a:ext cx="3240000" cy="3240000"/>
            <a:chOff x="1674457" y="2181224"/>
            <a:chExt cx="3240000" cy="3240000"/>
          </a:xfrm>
        </p:grpSpPr>
        <p:sp>
          <p:nvSpPr>
            <p:cNvPr id="21" name="任意多边形: 形状 20">
              <a:extLst>
                <a:ext uri="{FF2B5EF4-FFF2-40B4-BE49-F238E27FC236}">
                  <a16:creationId xmlns:a16="http://schemas.microsoft.com/office/drawing/2014/main" id="{784889DC-D807-4501-AE66-C74EB5F7874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22" name="任意多边形: 形状 21">
              <a:extLst>
                <a:ext uri="{FF2B5EF4-FFF2-40B4-BE49-F238E27FC236}">
                  <a16:creationId xmlns:a16="http://schemas.microsoft.com/office/drawing/2014/main" id="{8CE9A40E-5368-4FAC-BE88-366A998DCC17}"/>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特点</a:t>
            </a:r>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Feature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1</a:t>
            </a:r>
            <a:endParaRPr lang="zh-CN" altLang="en-US" dirty="0"/>
          </a:p>
        </p:txBody>
      </p:sp>
      <p:pic>
        <p:nvPicPr>
          <p:cNvPr id="11" name="图形 10" descr="云计算">
            <a:extLst>
              <a:ext uri="{FF2B5EF4-FFF2-40B4-BE49-F238E27FC236}">
                <a16:creationId xmlns:a16="http://schemas.microsoft.com/office/drawing/2014/main" id="{E26DBD9E-7E93-46E7-B3F2-2E95BFC2A1A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837257" y="2732982"/>
            <a:ext cx="914400" cy="914400"/>
          </a:xfrm>
          <a:prstGeom prst="rect">
            <a:avLst/>
          </a:prstGeom>
          <a:effectLst>
            <a:outerShdw blurRad="50800" dist="38100" dir="2700000" algn="tl" rotWithShape="0">
              <a:prstClr val="black">
                <a:alpha val="40000"/>
              </a:prstClr>
            </a:outerShdw>
          </a:effectLst>
        </p:spPr>
      </p:pic>
      <p:pic>
        <p:nvPicPr>
          <p:cNvPr id="13" name="图形 12" descr="同步云">
            <a:extLst>
              <a:ext uri="{FF2B5EF4-FFF2-40B4-BE49-F238E27FC236}">
                <a16:creationId xmlns:a16="http://schemas.microsoft.com/office/drawing/2014/main" id="{97150E9F-642D-4C7C-BC12-B97C1F406E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17810" y="2732982"/>
            <a:ext cx="914400" cy="914400"/>
          </a:xfrm>
          <a:prstGeom prst="rect">
            <a:avLst/>
          </a:prstGeom>
          <a:effectLst>
            <a:outerShdw blurRad="50800" dist="38100" dir="2700000" algn="tl" rotWithShape="0">
              <a:prstClr val="black">
                <a:alpha val="40000"/>
              </a:prstClr>
            </a:outerShdw>
          </a:effectLst>
        </p:spPr>
      </p:pic>
      <p:sp>
        <p:nvSpPr>
          <p:cNvPr id="15" name="文本框 14">
            <a:extLst>
              <a:ext uri="{FF2B5EF4-FFF2-40B4-BE49-F238E27FC236}">
                <a16:creationId xmlns:a16="http://schemas.microsoft.com/office/drawing/2014/main" id="{B98EDDF6-BB7C-4409-B807-72DA2B7A1AED}"/>
              </a:ext>
            </a:extLst>
          </p:cNvPr>
          <p:cNvSpPr txBox="1"/>
          <p:nvPr/>
        </p:nvSpPr>
        <p:spPr>
          <a:xfrm>
            <a:off x="2890372" y="3968307"/>
            <a:ext cx="808170"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连通</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17" name="文本框 16">
            <a:extLst>
              <a:ext uri="{FF2B5EF4-FFF2-40B4-BE49-F238E27FC236}">
                <a16:creationId xmlns:a16="http://schemas.microsoft.com/office/drawing/2014/main" id="{5CBC1CE2-01B9-4F7F-B34A-5E539C95D119}"/>
              </a:ext>
            </a:extLst>
          </p:cNvPr>
          <p:cNvSpPr txBox="1"/>
          <p:nvPr/>
        </p:nvSpPr>
        <p:spPr>
          <a:xfrm>
            <a:off x="2500008" y="4421042"/>
            <a:ext cx="1588897"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Connectivity</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33" name="文本框 32">
            <a:extLst>
              <a:ext uri="{FF2B5EF4-FFF2-40B4-BE49-F238E27FC236}">
                <a16:creationId xmlns:a16="http://schemas.microsoft.com/office/drawing/2014/main" id="{BE3BC986-2B42-4953-9E83-885FB791CC43}"/>
              </a:ext>
            </a:extLst>
          </p:cNvPr>
          <p:cNvSpPr txBox="1"/>
          <p:nvPr/>
        </p:nvSpPr>
        <p:spPr>
          <a:xfrm>
            <a:off x="7574902" y="3968307"/>
            <a:ext cx="800219"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共享</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34" name="文本框 33">
            <a:extLst>
              <a:ext uri="{FF2B5EF4-FFF2-40B4-BE49-F238E27FC236}">
                <a16:creationId xmlns:a16="http://schemas.microsoft.com/office/drawing/2014/main" id="{AC902607-8C0D-4B46-9E26-06CEC28454C6}"/>
              </a:ext>
            </a:extLst>
          </p:cNvPr>
          <p:cNvSpPr txBox="1"/>
          <p:nvPr/>
        </p:nvSpPr>
        <p:spPr>
          <a:xfrm>
            <a:off x="7449065" y="4421042"/>
            <a:ext cx="1051890"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Sharing</a:t>
            </a:r>
            <a:endParaRPr lang="zh-CN" altLang="en-US" sz="20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708659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33" grpId="0"/>
      <p:bldP spid="3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4294967295"/>
          </p:nvPr>
        </p:nvSpPr>
        <p:spPr>
          <a:xfrm>
            <a:off x="1604961" y="260538"/>
            <a:ext cx="6088307" cy="463846"/>
          </a:xfrm>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sp>
        <p:nvSpPr>
          <p:cNvPr id="5" name="矩形 4">
            <a:extLst>
              <a:ext uri="{FF2B5EF4-FFF2-40B4-BE49-F238E27FC236}">
                <a16:creationId xmlns:a16="http://schemas.microsoft.com/office/drawing/2014/main" id="{2EE20016-0409-44DC-B1AA-A98876BF47A3}"/>
              </a:ext>
            </a:extLst>
          </p:cNvPr>
          <p:cNvSpPr/>
          <p:nvPr/>
        </p:nvSpPr>
        <p:spPr>
          <a:xfrm>
            <a:off x="904568"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A1508865-3995-47FE-88F9-C060A2F5166C}"/>
              </a:ext>
            </a:extLst>
          </p:cNvPr>
          <p:cNvSpPr txBox="1"/>
          <p:nvPr/>
        </p:nvSpPr>
        <p:spPr>
          <a:xfrm>
            <a:off x="1024928"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latin typeface="Roboto" panose="02000000000000000000" pitchFamily="2" charset="0"/>
              </a:rPr>
              <a:t>1969</a:t>
            </a:r>
            <a:r>
              <a:rPr lang="zh-CN" altLang="en-US" sz="1800" dirty="0">
                <a:latin typeface="Roboto" panose="02000000000000000000" pitchFamily="2" charset="0"/>
              </a:rPr>
              <a:t>年，美国国防部创建 </a:t>
            </a:r>
            <a:r>
              <a:rPr lang="en-US" altLang="zh-CN" sz="1800" dirty="0">
                <a:latin typeface="Roboto" panose="02000000000000000000" pitchFamily="2" charset="0"/>
              </a:rPr>
              <a:t>APPANET</a:t>
            </a:r>
          </a:p>
          <a:p>
            <a:pPr indent="457200" algn="just"/>
            <a:endParaRPr lang="en-US" altLang="zh-CN" sz="1800" dirty="0">
              <a:latin typeface="Roboto" panose="02000000000000000000" pitchFamily="2" charset="0"/>
            </a:endParaRPr>
          </a:p>
          <a:p>
            <a:pPr indent="457200" algn="just"/>
            <a:r>
              <a:rPr lang="en-US" altLang="zh-CN" sz="1800" dirty="0">
                <a:latin typeface="Roboto" panose="02000000000000000000" pitchFamily="2" charset="0"/>
              </a:rPr>
              <a:t>1983</a:t>
            </a:r>
            <a:r>
              <a:rPr lang="zh-CN" altLang="en-US" sz="1800" dirty="0">
                <a:latin typeface="Roboto" panose="02000000000000000000" pitchFamily="2" charset="0"/>
              </a:rPr>
              <a:t>年，</a:t>
            </a:r>
            <a:r>
              <a:rPr lang="en-US" altLang="zh-CN" sz="1800" dirty="0">
                <a:latin typeface="Roboto" panose="02000000000000000000" pitchFamily="2" charset="0"/>
              </a:rPr>
              <a:t>TCP/IP</a:t>
            </a:r>
            <a:r>
              <a:rPr lang="zh-CN" altLang="en-US" sz="1800" dirty="0">
                <a:latin typeface="Roboto" panose="02000000000000000000" pitchFamily="2" charset="0"/>
              </a:rPr>
              <a:t>协议成为其标准，标志着互联网元年的开启；</a:t>
            </a:r>
          </a:p>
        </p:txBody>
      </p:sp>
      <p:sp>
        <p:nvSpPr>
          <p:cNvPr id="8" name="矩形 7">
            <a:extLst>
              <a:ext uri="{FF2B5EF4-FFF2-40B4-BE49-F238E27FC236}">
                <a16:creationId xmlns:a16="http://schemas.microsoft.com/office/drawing/2014/main" id="{57F3DC97-C470-4C27-AF91-FD82A9BA62B4}"/>
              </a:ext>
            </a:extLst>
          </p:cNvPr>
          <p:cNvSpPr/>
          <p:nvPr/>
        </p:nvSpPr>
        <p:spPr>
          <a:xfrm>
            <a:off x="4503175"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3456DD48-3414-4F56-A9CC-8516393533EE}"/>
              </a:ext>
            </a:extLst>
          </p:cNvPr>
          <p:cNvSpPr txBox="1"/>
          <p:nvPr/>
        </p:nvSpPr>
        <p:spPr>
          <a:xfrm>
            <a:off x="4623535" y="3067664"/>
            <a:ext cx="2944928" cy="1754326"/>
          </a:xfrm>
          <a:prstGeom prst="rect">
            <a:avLst/>
          </a:prstGeom>
          <a:noFill/>
        </p:spPr>
        <p:txBody>
          <a:bodyPr wrap="square" rtlCol="0">
            <a:spAutoFit/>
          </a:bodyPr>
          <a:lstStyle/>
          <a:p>
            <a:pPr indent="457200" algn="just"/>
            <a:r>
              <a:rPr lang="en-US" altLang="zh-CN" dirty="0">
                <a:solidFill>
                  <a:schemeClr val="tx1"/>
                </a:solidFill>
                <a:latin typeface="Roboto" panose="02000000000000000000" pitchFamily="2" charset="0"/>
                <a:ea typeface="微软雅黑 Light" panose="020B0502040204020203" pitchFamily="34" charset="-122"/>
              </a:rPr>
              <a:t>1985</a:t>
            </a:r>
            <a:r>
              <a:rPr lang="zh-CN" altLang="en-US" dirty="0">
                <a:solidFill>
                  <a:schemeClr val="tx1"/>
                </a:solidFill>
                <a:latin typeface="Roboto" panose="02000000000000000000" pitchFamily="2" charset="0"/>
                <a:ea typeface="微软雅黑 Light" panose="020B0502040204020203" pitchFamily="34" charset="-122"/>
              </a:rPr>
              <a:t>年起，美国国家科学基金会组建三级网络 </a:t>
            </a:r>
            <a:r>
              <a:rPr lang="en-US" altLang="zh-CN" dirty="0">
                <a:solidFill>
                  <a:schemeClr val="tx1"/>
                </a:solidFill>
                <a:latin typeface="Roboto" panose="02000000000000000000" pitchFamily="2" charset="0"/>
                <a:ea typeface="微软雅黑 Light" panose="020B0502040204020203" pitchFamily="34" charset="-122"/>
              </a:rPr>
              <a:t>NSFNET</a:t>
            </a:r>
            <a:r>
              <a:rPr lang="zh-CN" altLang="en-US" dirty="0">
                <a:solidFill>
                  <a:schemeClr val="tx1"/>
                </a:solidFill>
                <a:latin typeface="Roboto" panose="02000000000000000000" pitchFamily="2" charset="0"/>
                <a:ea typeface="微软雅黑 Light" panose="020B0502040204020203" pitchFamily="34" charset="-122"/>
              </a:rPr>
              <a:t>：</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主干网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区域网</a:t>
            </a:r>
            <a:endParaRPr lang="en-US" altLang="zh-CN" dirty="0">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校园网</a:t>
            </a:r>
          </a:p>
        </p:txBody>
      </p:sp>
      <p:sp>
        <p:nvSpPr>
          <p:cNvPr id="13" name="矩形 12">
            <a:extLst>
              <a:ext uri="{FF2B5EF4-FFF2-40B4-BE49-F238E27FC236}">
                <a16:creationId xmlns:a16="http://schemas.microsoft.com/office/drawing/2014/main" id="{4C68E38B-4BE6-43B3-9CD6-26003E7F56CA}"/>
              </a:ext>
            </a:extLst>
          </p:cNvPr>
          <p:cNvSpPr/>
          <p:nvPr/>
        </p:nvSpPr>
        <p:spPr>
          <a:xfrm>
            <a:off x="8101780"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7EAFF28E-F617-4FA8-B189-73C7C9C0B7BB}"/>
              </a:ext>
            </a:extLst>
          </p:cNvPr>
          <p:cNvSpPr txBox="1"/>
          <p:nvPr/>
        </p:nvSpPr>
        <p:spPr>
          <a:xfrm>
            <a:off x="8222140"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latin typeface="Roboto" panose="02000000000000000000" pitchFamily="2" charset="0"/>
              </a:rPr>
              <a:t>1993</a:t>
            </a:r>
            <a:r>
              <a:rPr lang="zh-CN" altLang="en-US" sz="1800" dirty="0">
                <a:latin typeface="Roboto" panose="02000000000000000000" pitchFamily="2" charset="0"/>
              </a:rPr>
              <a:t>年，美国政府退出 </a:t>
            </a:r>
            <a:r>
              <a:rPr lang="en-US" altLang="zh-CN" sz="1800" dirty="0">
                <a:latin typeface="Roboto" panose="02000000000000000000" pitchFamily="2" charset="0"/>
              </a:rPr>
              <a:t>NSNET </a:t>
            </a:r>
            <a:r>
              <a:rPr lang="zh-CN" altLang="en-US" sz="1800" dirty="0">
                <a:latin typeface="Roboto" panose="02000000000000000000" pitchFamily="2" charset="0"/>
              </a:rPr>
              <a:t>的资助，而由互联网服务提供商 </a:t>
            </a:r>
            <a:r>
              <a:rPr lang="en-US" altLang="zh-CN" sz="1800" dirty="0">
                <a:latin typeface="Roboto" panose="02000000000000000000" pitchFamily="2" charset="0"/>
              </a:rPr>
              <a:t>ISP </a:t>
            </a:r>
            <a:r>
              <a:rPr lang="zh-CN" altLang="en-US" sz="1800" dirty="0">
                <a:latin typeface="Roboto" panose="02000000000000000000" pitchFamily="2" charset="0"/>
              </a:rPr>
              <a:t>负责运营；</a:t>
            </a:r>
            <a:endParaRPr lang="en-US" altLang="zh-CN" sz="1800" dirty="0">
              <a:latin typeface="Roboto" panose="02000000000000000000" pitchFamily="2" charset="0"/>
            </a:endParaRPr>
          </a:p>
          <a:p>
            <a:pPr indent="457200" algn="just"/>
            <a:r>
              <a:rPr lang="zh-CN" altLang="en-US" sz="1800" dirty="0">
                <a:latin typeface="Roboto" panose="02000000000000000000" pitchFamily="2" charset="0"/>
              </a:rPr>
              <a:t>为有效利用资源采用了互联网交换点 </a:t>
            </a:r>
            <a:r>
              <a:rPr lang="en-US" altLang="zh-CN" sz="1800" dirty="0">
                <a:latin typeface="Roboto" panose="02000000000000000000" pitchFamily="2" charset="0"/>
              </a:rPr>
              <a:t>IXP</a:t>
            </a:r>
            <a:r>
              <a:rPr lang="zh-CN" altLang="en-US" sz="1800" dirty="0">
                <a:latin typeface="Roboto" panose="02000000000000000000" pitchFamily="2" charset="0"/>
              </a:rPr>
              <a:t>架构</a:t>
            </a:r>
          </a:p>
        </p:txBody>
      </p:sp>
      <p:sp>
        <p:nvSpPr>
          <p:cNvPr id="17" name="矩形: 圆角 16">
            <a:extLst>
              <a:ext uri="{FF2B5EF4-FFF2-40B4-BE49-F238E27FC236}">
                <a16:creationId xmlns:a16="http://schemas.microsoft.com/office/drawing/2014/main" id="{B9FF8047-307A-4A3A-A014-1B14E843A455}"/>
              </a:ext>
            </a:extLst>
          </p:cNvPr>
          <p:cNvSpPr/>
          <p:nvPr/>
        </p:nvSpPr>
        <p:spPr>
          <a:xfrm>
            <a:off x="1216381" y="2172928"/>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one</a:t>
            </a:r>
            <a:endParaRPr lang="zh-CN" altLang="en-US" dirty="0"/>
          </a:p>
        </p:txBody>
      </p:sp>
      <p:sp>
        <p:nvSpPr>
          <p:cNvPr id="18" name="矩形: 圆角 17">
            <a:extLst>
              <a:ext uri="{FF2B5EF4-FFF2-40B4-BE49-F238E27FC236}">
                <a16:creationId xmlns:a16="http://schemas.microsoft.com/office/drawing/2014/main" id="{8E465B6E-E86E-47E9-A7D6-606E13F99BF3}"/>
              </a:ext>
            </a:extLst>
          </p:cNvPr>
          <p:cNvSpPr/>
          <p:nvPr/>
        </p:nvSpPr>
        <p:spPr>
          <a:xfrm>
            <a:off x="4814988" y="2180495"/>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two</a:t>
            </a:r>
            <a:endParaRPr lang="zh-CN" altLang="en-US" dirty="0"/>
          </a:p>
        </p:txBody>
      </p:sp>
      <p:sp>
        <p:nvSpPr>
          <p:cNvPr id="19" name="矩形: 圆角 18">
            <a:extLst>
              <a:ext uri="{FF2B5EF4-FFF2-40B4-BE49-F238E27FC236}">
                <a16:creationId xmlns:a16="http://schemas.microsoft.com/office/drawing/2014/main" id="{64E0B89B-208E-42B8-BF48-31FFD2436CF9}"/>
              </a:ext>
            </a:extLst>
          </p:cNvPr>
          <p:cNvSpPr/>
          <p:nvPr/>
        </p:nvSpPr>
        <p:spPr>
          <a:xfrm>
            <a:off x="8413593" y="2231906"/>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three</a:t>
            </a:r>
            <a:endParaRPr lang="zh-CN" altLang="en-US" dirty="0"/>
          </a:p>
        </p:txBody>
      </p:sp>
    </p:spTree>
    <p:extLst>
      <p:ext uri="{BB962C8B-B14F-4D97-AF65-F5344CB8AC3E}">
        <p14:creationId xmlns:p14="http://schemas.microsoft.com/office/powerpoint/2010/main" val="14476226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4294967295"/>
          </p:nvPr>
        </p:nvSpPr>
        <p:spPr>
          <a:xfrm>
            <a:off x="1604961" y="260538"/>
            <a:ext cx="6088307" cy="463846"/>
          </a:xfrm>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pic>
        <p:nvPicPr>
          <p:cNvPr id="4098" name="Picture 2">
            <a:extLst>
              <a:ext uri="{FF2B5EF4-FFF2-40B4-BE49-F238E27FC236}">
                <a16:creationId xmlns:a16="http://schemas.microsoft.com/office/drawing/2014/main" id="{55270B77-F54D-48F9-A61E-0900863D2E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58" t="10644" r="1542" b="14851"/>
          <a:stretch/>
        </p:blipFill>
        <p:spPr bwMode="auto">
          <a:xfrm>
            <a:off x="1959223" y="1951446"/>
            <a:ext cx="2880000" cy="182116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CE075631-ACB4-424B-A0B0-ADC991C8E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389" y="3598730"/>
            <a:ext cx="2880000" cy="288000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BE5C3CB8-1C2B-44B4-82F5-4E5FFBB2020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11454" y="4061792"/>
            <a:ext cx="2160000" cy="2085517"/>
          </a:xfrm>
          <a:prstGeom prst="rect">
            <a:avLst/>
          </a:prstGeom>
          <a:noFill/>
          <a:extLst>
            <a:ext uri="{909E8E84-426E-40DD-AFC4-6F175D3DCCD1}">
              <a14:hiddenFill xmlns:a14="http://schemas.microsoft.com/office/drawing/2010/main">
                <a:solidFill>
                  <a:srgbClr val="FFFFFF"/>
                </a:solidFill>
              </a14:hiddenFill>
            </a:ext>
          </a:extLst>
        </p:spPr>
      </p:pic>
      <p:pic>
        <p:nvPicPr>
          <p:cNvPr id="12" name="图片 11">
            <a:extLst>
              <a:ext uri="{FF2B5EF4-FFF2-40B4-BE49-F238E27FC236}">
                <a16:creationId xmlns:a16="http://schemas.microsoft.com/office/drawing/2014/main" id="{2A67C3C7-985B-40A5-BE28-5B48488E31AE}"/>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2823" b="95565" l="7692" r="92308">
                        <a14:foregroundMark x1="21719" y1="7056" x2="67421" y2="9274"/>
                        <a14:foregroundMark x1="67421" y1="9274" x2="84163" y2="15121"/>
                        <a14:foregroundMark x1="49321" y1="6250" x2="58824" y2="6452"/>
                        <a14:foregroundMark x1="44344" y1="3226" x2="55656" y2="3024"/>
                        <a14:foregroundMark x1="21267" y1="87702" x2="52489" y2="88306"/>
                        <a14:foregroundMark x1="52489" y1="88306" x2="72398" y2="87702"/>
                        <a14:foregroundMark x1="27149" y1="95565" x2="64706" y2="94355"/>
                        <a14:foregroundMark x1="73303" y1="93750" x2="89593" y2="86492"/>
                        <a14:foregroundMark x1="89593" y1="86492" x2="85520" y2="76613"/>
                        <a14:foregroundMark x1="85520" y1="76613" x2="92308" y2="65121"/>
                        <a14:foregroundMark x1="90950" y1="56855" x2="88235" y2="29234"/>
                        <a14:foregroundMark x1="90950" y1="11290" x2="91403" y2="40524"/>
                        <a14:foregroundMark x1="12217" y1="6048" x2="7692" y2="26008"/>
                        <a14:foregroundMark x1="11312" y1="32460" x2="8597" y2="63710"/>
                        <a14:foregroundMark x1="9955" y1="68145" x2="12670" y2="82258"/>
                        <a14:foregroundMark x1="89140" y1="6048" x2="86878" y2="11089"/>
                      </a14:backgroundRemoval>
                    </a14:imgEffect>
                  </a14:imgLayer>
                </a14:imgProps>
              </a:ext>
            </a:extLst>
          </a:blip>
          <a:stretch>
            <a:fillRect/>
          </a:stretch>
        </p:blipFill>
        <p:spPr>
          <a:xfrm>
            <a:off x="10341702" y="2386783"/>
            <a:ext cx="1219062" cy="2736000"/>
          </a:xfrm>
          <a:prstGeom prst="rect">
            <a:avLst/>
          </a:prstGeom>
        </p:spPr>
      </p:pic>
      <p:pic>
        <p:nvPicPr>
          <p:cNvPr id="4108" name="Picture 12">
            <a:extLst>
              <a:ext uri="{FF2B5EF4-FFF2-40B4-BE49-F238E27FC236}">
                <a16:creationId xmlns:a16="http://schemas.microsoft.com/office/drawing/2014/main" id="{A6CCDE7A-4AD9-40EE-980C-EC2E84973DF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429" r="31830"/>
          <a:stretch/>
        </p:blipFill>
        <p:spPr bwMode="auto">
          <a:xfrm>
            <a:off x="5765607" y="1997395"/>
            <a:ext cx="1587172" cy="324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图片 15">
            <a:extLst>
              <a:ext uri="{FF2B5EF4-FFF2-40B4-BE49-F238E27FC236}">
                <a16:creationId xmlns:a16="http://schemas.microsoft.com/office/drawing/2014/main" id="{FEEAE519-2C2C-4D57-8E8E-ECBEE75C3350}"/>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825" b="96903" l="8487" r="89668">
                        <a14:foregroundMark x1="32103" y1="10018" x2="29889" y2="25865"/>
                        <a14:foregroundMark x1="40221" y1="11293" x2="76015" y2="15847"/>
                        <a14:foregroundMark x1="76015" y1="15847" x2="66421" y2="70856"/>
                        <a14:foregroundMark x1="66421" y1="70856" x2="42804" y2="75774"/>
                        <a14:foregroundMark x1="42804" y1="75774" x2="26199" y2="55191"/>
                        <a14:foregroundMark x1="26199" y1="55191" x2="19926" y2="25319"/>
                        <a14:foregroundMark x1="19926" y1="25319" x2="32841" y2="13297"/>
                        <a14:foregroundMark x1="32841" y1="13297" x2="44649" y2="11658"/>
                        <a14:foregroundMark x1="22878" y1="8925" x2="16974" y2="20401"/>
                        <a14:foregroundMark x1="39852" y1="7104" x2="79336" y2="7286"/>
                        <a14:foregroundMark x1="50185" y1="4189" x2="68266" y2="4554"/>
                        <a14:foregroundMark x1="76384" y1="91075" x2="25830" y2="91621"/>
                        <a14:foregroundMark x1="35793" y1="95811" x2="59410" y2="96903"/>
                        <a14:foregroundMark x1="87823" y1="14390" x2="86347" y2="20583"/>
                        <a14:foregroundMark x1="42804" y1="23862" x2="47970" y2="42623"/>
                        <a14:foregroundMark x1="57196" y1="20219" x2="45018" y2="39344"/>
                        <a14:foregroundMark x1="45018" y1="39344" x2="60517" y2="33880"/>
                        <a14:foregroundMark x1="60517" y1="33880" x2="55720" y2="24954"/>
                        <a14:foregroundMark x1="32103" y1="37887" x2="52030" y2="48087"/>
                        <a14:foregroundMark x1="52030" y1="48087" x2="60148" y2="45355"/>
                        <a14:foregroundMark x1="30258" y1="43898" x2="67159" y2="43898"/>
                        <a14:foregroundMark x1="65314" y1="60656" x2="75277" y2="64663"/>
                        <a14:foregroundMark x1="37269" y1="4007" x2="42435" y2="4736"/>
                        <a14:backgroundMark x1="3690" y1="26412" x2="3690" y2="35337"/>
                        <a14:backgroundMark x1="94668" y1="18814" x2="94096" y2="48452"/>
                        <a14:backgroundMark x1="94834" y1="10200" x2="94745" y2="14790"/>
                        <a14:backgroundMark x1="9594" y1="2368" x2="4059" y2="17668"/>
                      </a14:backgroundRemoval>
                    </a14:imgEffect>
                  </a14:imgLayer>
                </a14:imgProps>
              </a:ext>
            </a:extLst>
          </a:blip>
          <a:stretch>
            <a:fillRect/>
          </a:stretch>
        </p:blipFill>
        <p:spPr>
          <a:xfrm>
            <a:off x="8061148" y="2368550"/>
            <a:ext cx="1350550" cy="2736000"/>
          </a:xfrm>
          <a:prstGeom prst="rect">
            <a:avLst/>
          </a:prstGeom>
        </p:spPr>
      </p:pic>
    </p:spTree>
    <p:extLst>
      <p:ext uri="{BB962C8B-B14F-4D97-AF65-F5344CB8AC3E}">
        <p14:creationId xmlns:p14="http://schemas.microsoft.com/office/powerpoint/2010/main" val="15082144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10" name="矩形: 圆角 9">
            <a:extLst>
              <a:ext uri="{FF2B5EF4-FFF2-40B4-BE49-F238E27FC236}">
                <a16:creationId xmlns:a16="http://schemas.microsoft.com/office/drawing/2014/main" id="{28F763E2-9F3F-4802-A40E-F9E0807599B6}"/>
              </a:ext>
            </a:extLst>
          </p:cNvPr>
          <p:cNvSpPr/>
          <p:nvPr/>
        </p:nvSpPr>
        <p:spPr>
          <a:xfrm>
            <a:off x="2717222" y="2191794"/>
            <a:ext cx="3600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互联网协会</a:t>
            </a:r>
            <a:r>
              <a:rPr lang="en-US" altLang="zh-CN" dirty="0">
                <a:latin typeface="Roboto" panose="02000000000000000000" pitchFamily="2" charset="0"/>
                <a:ea typeface="微软雅黑 Light" panose="020B0502040204020203" pitchFamily="34" charset="-122"/>
              </a:rPr>
              <a:t>/ISOC</a:t>
            </a:r>
            <a:endParaRPr lang="zh-CN" altLang="en-US" dirty="0">
              <a:latin typeface="Roboto" panose="020000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CCAB5934-140C-4F38-9288-04AEA1FBD3EA}"/>
              </a:ext>
            </a:extLst>
          </p:cNvPr>
          <p:cNvSpPr/>
          <p:nvPr/>
        </p:nvSpPr>
        <p:spPr>
          <a:xfrm>
            <a:off x="2717222" y="2751028"/>
            <a:ext cx="3600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体系架构委员会</a:t>
            </a:r>
            <a:r>
              <a:rPr lang="en-US" altLang="zh-CN" dirty="0">
                <a:latin typeface="Roboto" panose="02000000000000000000" pitchFamily="2" charset="0"/>
                <a:ea typeface="微软雅黑 Light" panose="020B0502040204020203" pitchFamily="34" charset="-122"/>
              </a:rPr>
              <a:t>/IAB</a:t>
            </a:r>
            <a:endParaRPr lang="zh-CN" altLang="en-US" dirty="0">
              <a:latin typeface="Roboto" panose="020000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51E8436F-094C-412A-A486-5178802E9371}"/>
              </a:ext>
            </a:extLst>
          </p:cNvPr>
          <p:cNvSpPr/>
          <p:nvPr/>
        </p:nvSpPr>
        <p:spPr>
          <a:xfrm>
            <a:off x="2717223" y="3340033"/>
            <a:ext cx="1692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工程部</a:t>
            </a:r>
            <a:r>
              <a:rPr lang="en-US" altLang="zh-CN" dirty="0">
                <a:latin typeface="Roboto" panose="02000000000000000000" pitchFamily="2" charset="0"/>
                <a:ea typeface="微软雅黑 Light" panose="020B0502040204020203" pitchFamily="34" charset="-122"/>
              </a:rPr>
              <a:t>/IETF</a:t>
            </a:r>
            <a:endParaRPr lang="zh-CN" altLang="en-US" dirty="0">
              <a:latin typeface="Roboto" panose="020000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DFD71D68-42B0-417B-A07A-8D444443CA23}"/>
              </a:ext>
            </a:extLst>
          </p:cNvPr>
          <p:cNvSpPr/>
          <p:nvPr/>
        </p:nvSpPr>
        <p:spPr>
          <a:xfrm>
            <a:off x="4594176" y="3340033"/>
            <a:ext cx="1728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研究部</a:t>
            </a:r>
            <a:r>
              <a:rPr lang="en-US" altLang="zh-CN" dirty="0">
                <a:latin typeface="Roboto" panose="02000000000000000000" pitchFamily="2" charset="0"/>
                <a:ea typeface="微软雅黑 Light" panose="020B0502040204020203" pitchFamily="34" charset="-122"/>
              </a:rPr>
              <a:t>/IRTF</a:t>
            </a:r>
            <a:endParaRPr lang="zh-CN" altLang="en-US" dirty="0">
              <a:latin typeface="Roboto" panose="02000000000000000000" pitchFamily="2" charset="0"/>
              <a:ea typeface="微软雅黑 Light" panose="020B0502040204020203" pitchFamily="34" charset="-122"/>
            </a:endParaRPr>
          </a:p>
        </p:txBody>
      </p:sp>
      <p:sp>
        <p:nvSpPr>
          <p:cNvPr id="15" name="矩形: 圆角 14">
            <a:extLst>
              <a:ext uri="{FF2B5EF4-FFF2-40B4-BE49-F238E27FC236}">
                <a16:creationId xmlns:a16="http://schemas.microsoft.com/office/drawing/2014/main" id="{00178F4F-CBB6-4591-98FE-9B1841B9AFD8}"/>
              </a:ext>
            </a:extLst>
          </p:cNvPr>
          <p:cNvSpPr/>
          <p:nvPr/>
        </p:nvSpPr>
        <p:spPr>
          <a:xfrm>
            <a:off x="4594176" y="3908476"/>
            <a:ext cx="1692000"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研究组</a:t>
            </a:r>
            <a:r>
              <a:rPr lang="en-US" altLang="zh-CN" dirty="0">
                <a:latin typeface="Roboto" panose="02000000000000000000" pitchFamily="2" charset="0"/>
                <a:ea typeface="微软雅黑 Light" panose="020B0502040204020203" pitchFamily="34" charset="-122"/>
              </a:rPr>
              <a:t>/RG</a:t>
            </a:r>
            <a:endParaRPr lang="zh-CN" altLang="en-US" dirty="0">
              <a:latin typeface="Roboto" panose="02000000000000000000" pitchFamily="2" charset="0"/>
              <a:ea typeface="微软雅黑 Light" panose="020B0502040204020203" pitchFamily="34" charset="-122"/>
            </a:endParaRPr>
          </a:p>
        </p:txBody>
      </p:sp>
      <p:sp>
        <p:nvSpPr>
          <p:cNvPr id="2" name="文本框 1">
            <a:extLst>
              <a:ext uri="{FF2B5EF4-FFF2-40B4-BE49-F238E27FC236}">
                <a16:creationId xmlns:a16="http://schemas.microsoft.com/office/drawing/2014/main" id="{78F9BA03-D331-4F67-9D48-64A150092418}"/>
              </a:ext>
            </a:extLst>
          </p:cNvPr>
          <p:cNvSpPr txBox="1"/>
          <p:nvPr/>
        </p:nvSpPr>
        <p:spPr>
          <a:xfrm>
            <a:off x="6760858" y="4002778"/>
            <a:ext cx="2545890"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互联网研究指导小组</a:t>
            </a:r>
            <a:r>
              <a:rPr lang="en-US" altLang="zh-CN" sz="1600" dirty="0">
                <a:solidFill>
                  <a:schemeClr val="tx1"/>
                </a:solidFill>
                <a:latin typeface="微软雅黑 Light" panose="020B0502040204020203" pitchFamily="34" charset="-122"/>
                <a:ea typeface="微软雅黑 Light" panose="020B0502040204020203" pitchFamily="34" charset="-122"/>
              </a:rPr>
              <a:t>/IRSG</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 name="直接箭头连接符 3">
            <a:extLst>
              <a:ext uri="{FF2B5EF4-FFF2-40B4-BE49-F238E27FC236}">
                <a16:creationId xmlns:a16="http://schemas.microsoft.com/office/drawing/2014/main" id="{0CBD7605-1362-4EAB-9628-222DE824A588}"/>
              </a:ext>
            </a:extLst>
          </p:cNvPr>
          <p:cNvCxnSpPr>
            <a:stCxn id="2" idx="1"/>
            <a:endCxn id="15" idx="3"/>
          </p:cNvCxnSpPr>
          <p:nvPr/>
        </p:nvCxnSpPr>
        <p:spPr>
          <a:xfrm flipH="1" flipV="1">
            <a:off x="6286176" y="4164123"/>
            <a:ext cx="474682" cy="7932"/>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98CA94B9-D3DA-465A-A4D8-BA988B54A6CA}"/>
              </a:ext>
            </a:extLst>
          </p:cNvPr>
          <p:cNvSpPr/>
          <p:nvPr/>
        </p:nvSpPr>
        <p:spPr>
          <a:xfrm>
            <a:off x="3782130" y="4304588"/>
            <a:ext cx="1439139" cy="511293"/>
          </a:xfrm>
          <a:prstGeom prst="roundRect">
            <a:avLst/>
          </a:prstGeom>
          <a:noFill/>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solidFill>
                  <a:schemeClr val="bg1">
                    <a:lumMod val="50000"/>
                  </a:schemeClr>
                </a:solidFill>
              </a:rPr>
              <a:t>…</a:t>
            </a:r>
            <a:endParaRPr lang="zh-CN" altLang="en-US" sz="1600" dirty="0">
              <a:solidFill>
                <a:schemeClr val="bg1">
                  <a:lumMod val="50000"/>
                </a:schemeClr>
              </a:solidFill>
            </a:endParaRPr>
          </a:p>
        </p:txBody>
      </p:sp>
      <p:sp>
        <p:nvSpPr>
          <p:cNvPr id="17" name="矩形: 圆角 16">
            <a:extLst>
              <a:ext uri="{FF2B5EF4-FFF2-40B4-BE49-F238E27FC236}">
                <a16:creationId xmlns:a16="http://schemas.microsoft.com/office/drawing/2014/main" id="{B5F87209-7935-4432-A6CF-883E12546D0C}"/>
              </a:ext>
            </a:extLst>
          </p:cNvPr>
          <p:cNvSpPr/>
          <p:nvPr/>
        </p:nvSpPr>
        <p:spPr>
          <a:xfrm>
            <a:off x="4594177" y="4835811"/>
            <a:ext cx="1691999"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研究组</a:t>
            </a:r>
            <a:r>
              <a:rPr lang="en-US" altLang="zh-CN" dirty="0">
                <a:latin typeface="Roboto" panose="02000000000000000000" pitchFamily="2" charset="0"/>
                <a:ea typeface="微软雅黑 Light" panose="020B0502040204020203" pitchFamily="34" charset="-122"/>
              </a:rPr>
              <a:t>/RG</a:t>
            </a:r>
            <a:endParaRPr lang="zh-CN" altLang="en-US" dirty="0">
              <a:latin typeface="Roboto" panose="02000000000000000000" pitchFamily="2" charset="0"/>
              <a:ea typeface="微软雅黑 Light" panose="020B0502040204020203" pitchFamily="34" charset="-122"/>
            </a:endParaRPr>
          </a:p>
        </p:txBody>
      </p:sp>
      <p:cxnSp>
        <p:nvCxnSpPr>
          <p:cNvPr id="21" name="连接符: 肘形 20">
            <a:extLst>
              <a:ext uri="{FF2B5EF4-FFF2-40B4-BE49-F238E27FC236}">
                <a16:creationId xmlns:a16="http://schemas.microsoft.com/office/drawing/2014/main" id="{5071BFDF-2C6D-48AE-BD02-A0A4CD612E17}"/>
              </a:ext>
            </a:extLst>
          </p:cNvPr>
          <p:cNvCxnSpPr>
            <a:cxnSpLocks/>
            <a:stCxn id="2" idx="2"/>
            <a:endCxn id="17" idx="3"/>
          </p:cNvCxnSpPr>
          <p:nvPr/>
        </p:nvCxnSpPr>
        <p:spPr>
          <a:xfrm rot="5400000">
            <a:off x="6784927" y="3842582"/>
            <a:ext cx="750126" cy="1747627"/>
          </a:xfrm>
          <a:prstGeom prst="bentConnector2">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pic>
        <p:nvPicPr>
          <p:cNvPr id="1028" name="Picture 4">
            <a:extLst>
              <a:ext uri="{FF2B5EF4-FFF2-40B4-BE49-F238E27FC236}">
                <a16:creationId xmlns:a16="http://schemas.microsoft.com/office/drawing/2014/main" id="{5ACB98E8-23C1-4E91-9DCE-2BDAB24DB9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34029" y="1040159"/>
            <a:ext cx="2381250" cy="790575"/>
          </a:xfrm>
          <a:prstGeom prst="rect">
            <a:avLst/>
          </a:prstGeom>
          <a:solidFill>
            <a:schemeClr val="bg1">
              <a:lumMod val="50000"/>
            </a:schemeClr>
          </a:solidFill>
        </p:spPr>
      </p:pic>
      <p:pic>
        <p:nvPicPr>
          <p:cNvPr id="27" name="图片 26">
            <a:extLst>
              <a:ext uri="{FF2B5EF4-FFF2-40B4-BE49-F238E27FC236}">
                <a16:creationId xmlns:a16="http://schemas.microsoft.com/office/drawing/2014/main" id="{B1DFA726-BC1F-4A68-8AC7-42AA01D099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34030" y="1830734"/>
            <a:ext cx="2381249" cy="1244202"/>
          </a:xfrm>
          <a:prstGeom prst="rect">
            <a:avLst/>
          </a:prstGeom>
        </p:spPr>
      </p:pic>
      <p:sp>
        <p:nvSpPr>
          <p:cNvPr id="3" name="矩形: 圆角 2">
            <a:extLst>
              <a:ext uri="{FF2B5EF4-FFF2-40B4-BE49-F238E27FC236}">
                <a16:creationId xmlns:a16="http://schemas.microsoft.com/office/drawing/2014/main" id="{A2A2AA1E-E516-4C26-BFEA-9CFBF6C48783}"/>
              </a:ext>
            </a:extLst>
          </p:cNvPr>
          <p:cNvSpPr/>
          <p:nvPr/>
        </p:nvSpPr>
        <p:spPr>
          <a:xfrm>
            <a:off x="2568795" y="2071010"/>
            <a:ext cx="3889155" cy="3377290"/>
          </a:xfrm>
          <a:prstGeom prst="roundRect">
            <a:avLst>
              <a:gd name="adj" fmla="val 3761"/>
            </a:avLst>
          </a:prstGeom>
          <a:noFill/>
          <a:ln>
            <a:solidFill>
              <a:schemeClr val="bg2">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圆角 19">
            <a:extLst>
              <a:ext uri="{FF2B5EF4-FFF2-40B4-BE49-F238E27FC236}">
                <a16:creationId xmlns:a16="http://schemas.microsoft.com/office/drawing/2014/main" id="{905C1F33-D5F4-43C7-A03C-3BA824BD715C}"/>
              </a:ext>
            </a:extLst>
          </p:cNvPr>
          <p:cNvSpPr/>
          <p:nvPr/>
        </p:nvSpPr>
        <p:spPr>
          <a:xfrm>
            <a:off x="2717222" y="3908476"/>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工作组</a:t>
            </a:r>
            <a:r>
              <a:rPr lang="en-US" altLang="zh-CN" dirty="0">
                <a:latin typeface="Roboto" panose="02000000000000000000" pitchFamily="2" charset="0"/>
                <a:ea typeface="微软雅黑 Light" panose="020B0502040204020203" pitchFamily="34" charset="-122"/>
              </a:rPr>
              <a:t>/WG</a:t>
            </a:r>
            <a:endParaRPr lang="zh-CN" altLang="en-US" dirty="0">
              <a:latin typeface="Roboto" panose="02000000000000000000" pitchFamily="2" charset="0"/>
              <a:ea typeface="微软雅黑 Light" panose="020B0502040204020203" pitchFamily="34" charset="-122"/>
            </a:endParaRPr>
          </a:p>
        </p:txBody>
      </p:sp>
      <p:sp>
        <p:nvSpPr>
          <p:cNvPr id="22" name="矩形: 圆角 21">
            <a:extLst>
              <a:ext uri="{FF2B5EF4-FFF2-40B4-BE49-F238E27FC236}">
                <a16:creationId xmlns:a16="http://schemas.microsoft.com/office/drawing/2014/main" id="{89608CCF-CBEE-482A-BCBB-881D0681C1DE}"/>
              </a:ext>
            </a:extLst>
          </p:cNvPr>
          <p:cNvSpPr/>
          <p:nvPr/>
        </p:nvSpPr>
        <p:spPr>
          <a:xfrm>
            <a:off x="2717221" y="4835811"/>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工作组</a:t>
            </a:r>
            <a:r>
              <a:rPr lang="en-US" altLang="zh-CN" dirty="0">
                <a:latin typeface="Roboto" panose="02000000000000000000" pitchFamily="2" charset="0"/>
                <a:ea typeface="微软雅黑 Light" panose="020B0502040204020203" pitchFamily="34" charset="-122"/>
              </a:rPr>
              <a:t>/WG</a:t>
            </a:r>
            <a:endParaRPr lang="zh-CN" altLang="en-US" dirty="0">
              <a:latin typeface="Roboto" panose="02000000000000000000" pitchFamily="2" charset="0"/>
              <a:ea typeface="微软雅黑 Light" panose="020B0502040204020203" pitchFamily="34" charset="-122"/>
            </a:endParaRPr>
          </a:p>
        </p:txBody>
      </p:sp>
      <p:cxnSp>
        <p:nvCxnSpPr>
          <p:cNvPr id="33" name="直接箭头连接符 32">
            <a:extLst>
              <a:ext uri="{FF2B5EF4-FFF2-40B4-BE49-F238E27FC236}">
                <a16:creationId xmlns:a16="http://schemas.microsoft.com/office/drawing/2014/main" id="{292C923B-9121-47A4-A0EE-E9D69724BD9E}"/>
              </a:ext>
            </a:extLst>
          </p:cNvPr>
          <p:cNvCxnSpPr>
            <a:cxnSpLocks/>
            <a:stCxn id="20" idx="1"/>
            <a:endCxn id="39" idx="3"/>
          </p:cNvCxnSpPr>
          <p:nvPr/>
        </p:nvCxnSpPr>
        <p:spPr>
          <a:xfrm flipH="1">
            <a:off x="2009774" y="4164123"/>
            <a:ext cx="707448" cy="7932"/>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65E4A474-986F-4A5B-AB32-2531280D1EB3}"/>
              </a:ext>
            </a:extLst>
          </p:cNvPr>
          <p:cNvCxnSpPr>
            <a:cxnSpLocks/>
            <a:stCxn id="22" idx="1"/>
            <a:endCxn id="40" idx="3"/>
          </p:cNvCxnSpPr>
          <p:nvPr/>
        </p:nvCxnSpPr>
        <p:spPr>
          <a:xfrm flipH="1" flipV="1">
            <a:off x="2009774" y="5091457"/>
            <a:ext cx="707447" cy="1"/>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ADF5E32-2CB9-4A48-979B-4F1D37645FAD}"/>
              </a:ext>
            </a:extLst>
          </p:cNvPr>
          <p:cNvSpPr txBox="1"/>
          <p:nvPr/>
        </p:nvSpPr>
        <p:spPr>
          <a:xfrm>
            <a:off x="1015206" y="4002778"/>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9B2C1B4B-1EC0-44B1-B77B-703F8DFB97F5}"/>
              </a:ext>
            </a:extLst>
          </p:cNvPr>
          <p:cNvSpPr txBox="1"/>
          <p:nvPr/>
        </p:nvSpPr>
        <p:spPr>
          <a:xfrm>
            <a:off x="1015206" y="4922180"/>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1" name="直接箭头连接符 40">
            <a:extLst>
              <a:ext uri="{FF2B5EF4-FFF2-40B4-BE49-F238E27FC236}">
                <a16:creationId xmlns:a16="http://schemas.microsoft.com/office/drawing/2014/main" id="{BCD8E6B8-FA8F-4455-81A3-A8CF78A6D4F8}"/>
              </a:ext>
            </a:extLst>
          </p:cNvPr>
          <p:cNvCxnSpPr>
            <a:cxnSpLocks/>
          </p:cNvCxnSpPr>
          <p:nvPr/>
        </p:nvCxnSpPr>
        <p:spPr>
          <a:xfrm flipH="1">
            <a:off x="3841364" y="5765326"/>
            <a:ext cx="314997" cy="1"/>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B974E1F-5299-4F88-96F8-4161526CEF27}"/>
              </a:ext>
            </a:extLst>
          </p:cNvPr>
          <p:cNvCxnSpPr>
            <a:cxnSpLocks/>
          </p:cNvCxnSpPr>
          <p:nvPr/>
        </p:nvCxnSpPr>
        <p:spPr>
          <a:xfrm>
            <a:off x="4194083" y="5765326"/>
            <a:ext cx="323850" cy="0"/>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DF47C51D-A021-4432-9FD7-263429DCE6EE}"/>
              </a:ext>
            </a:extLst>
          </p:cNvPr>
          <p:cNvSpPr txBox="1"/>
          <p:nvPr/>
        </p:nvSpPr>
        <p:spPr>
          <a:xfrm>
            <a:off x="4517933" y="5598947"/>
            <a:ext cx="1005403" cy="338554"/>
          </a:xfrm>
          <a:prstGeom prst="rect">
            <a:avLst/>
          </a:prstGeom>
          <a:noFill/>
        </p:spPr>
        <p:txBody>
          <a:bodyPr wrap="none" rtlCol="0">
            <a:spAutoFit/>
          </a:bodyPr>
          <a:lstStyle/>
          <a:p>
            <a:pPr algn="l"/>
            <a:r>
              <a:rPr lang="zh-CN" altLang="en-US" sz="1600" dirty="0">
                <a:latin typeface="微软雅黑 Light" panose="020B0502040204020203" pitchFamily="34" charset="-122"/>
                <a:ea typeface="微软雅黑 Light" panose="020B0502040204020203" pitchFamily="34" charset="-122"/>
              </a:rPr>
              <a:t>长期问题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文本框 44">
            <a:extLst>
              <a:ext uri="{FF2B5EF4-FFF2-40B4-BE49-F238E27FC236}">
                <a16:creationId xmlns:a16="http://schemas.microsoft.com/office/drawing/2014/main" id="{B62E1E59-ABEC-430D-B18D-EBFC1D3AD932}"/>
              </a:ext>
            </a:extLst>
          </p:cNvPr>
          <p:cNvSpPr txBox="1"/>
          <p:nvPr/>
        </p:nvSpPr>
        <p:spPr>
          <a:xfrm>
            <a:off x="2798239" y="5589764"/>
            <a:ext cx="1005403" cy="338554"/>
          </a:xfrm>
          <a:prstGeom prst="rect">
            <a:avLst/>
          </a:prstGeom>
          <a:noFill/>
        </p:spPr>
        <p:txBody>
          <a:bodyPr wrap="none" rtlCol="0">
            <a:spAutoFit/>
          </a:bodyPr>
          <a:lstStyle/>
          <a:p>
            <a:pPr algn="r"/>
            <a:r>
              <a:rPr lang="zh-CN" altLang="en-US" sz="1600" dirty="0">
                <a:latin typeface="微软雅黑 Light" panose="020B0502040204020203" pitchFamily="34" charset="-122"/>
                <a:ea typeface="微软雅黑 Light" panose="020B0502040204020203" pitchFamily="34" charset="-122"/>
              </a:rPr>
              <a:t>短期问题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853956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12" name="文本框 11">
            <a:extLst>
              <a:ext uri="{FF2B5EF4-FFF2-40B4-BE49-F238E27FC236}">
                <a16:creationId xmlns:a16="http://schemas.microsoft.com/office/drawing/2014/main" id="{041C3433-6142-4782-A1C6-0894896F7C0E}"/>
              </a:ext>
            </a:extLst>
          </p:cNvPr>
          <p:cNvSpPr txBox="1"/>
          <p:nvPr/>
        </p:nvSpPr>
        <p:spPr>
          <a:xfrm>
            <a:off x="1033200" y="2228850"/>
            <a:ext cx="5790368" cy="1015663"/>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所有的因特网标准都以</a:t>
            </a:r>
            <a:r>
              <a:rPr lang="en-US" altLang="zh-CN" sz="2000" b="1" dirty="0">
                <a:solidFill>
                  <a:srgbClr val="FF0000"/>
                </a:solidFill>
                <a:latin typeface="Roboto" panose="02000000000000000000" pitchFamily="2" charset="0"/>
                <a:ea typeface="微软雅黑 Light" panose="020B0502040204020203" pitchFamily="34" charset="-122"/>
              </a:rPr>
              <a:t>RFC</a:t>
            </a:r>
            <a:r>
              <a:rPr lang="zh-CN" altLang="en-US" sz="2000" dirty="0">
                <a:solidFill>
                  <a:schemeClr val="tx1"/>
                </a:solidFill>
                <a:latin typeface="微软雅黑 Light" panose="020B0502040204020203" pitchFamily="34" charset="-122"/>
                <a:ea typeface="微软雅黑 Light" panose="020B0502040204020203" pitchFamily="34" charset="-122"/>
              </a:rPr>
              <a:t>文档的形式在网上发布</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但不是所有的</a:t>
            </a:r>
            <a:r>
              <a:rPr lang="en-US" altLang="zh-CN" sz="2000" b="1" dirty="0">
                <a:solidFill>
                  <a:srgbClr val="FF0000"/>
                </a:solidFill>
                <a:latin typeface="Roboto" panose="02000000000000000000" pitchFamily="2" charset="0"/>
                <a:ea typeface="微软雅黑 Light" panose="020B0502040204020203" pitchFamily="34" charset="-122"/>
              </a:rPr>
              <a:t>RFC</a:t>
            </a:r>
            <a:r>
              <a:rPr lang="zh-CN" altLang="en-US" sz="2000" dirty="0">
                <a:latin typeface="微软雅黑 Light" panose="020B0502040204020203" pitchFamily="34" charset="-122"/>
                <a:ea typeface="微软雅黑 Light" panose="020B0502040204020203" pitchFamily="34" charset="-122"/>
              </a:rPr>
              <a:t>都是因特网标准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制定因特网标准需要</a:t>
            </a:r>
            <a:r>
              <a:rPr lang="en-US" altLang="zh-CN" sz="2000" dirty="0">
                <a:latin typeface="微软雅黑 Light" panose="020B0502040204020203" pitchFamily="34" charset="-122"/>
                <a:ea typeface="微软雅黑 Light" panose="020B0502040204020203" pitchFamily="34" charset="-122"/>
              </a:rPr>
              <a:t>3</a:t>
            </a:r>
            <a:r>
              <a:rPr lang="zh-CN" altLang="en-US" sz="2000" dirty="0">
                <a:latin typeface="微软雅黑 Light" panose="020B0502040204020203" pitchFamily="34" charset="-122"/>
                <a:ea typeface="微软雅黑 Light" panose="020B0502040204020203" pitchFamily="34" charset="-122"/>
              </a:rPr>
              <a:t>个阶段</a:t>
            </a:r>
            <a:endParaRPr lang="zh-CN" altLang="en-US" sz="2000" dirty="0">
              <a:latin typeface="Roboto" panose="02000000000000000000" pitchFamily="2" charset="0"/>
              <a:ea typeface="微软雅黑 Light" panose="020B0502040204020203" pitchFamily="34" charset="-122"/>
            </a:endParaRPr>
          </a:p>
        </p:txBody>
      </p:sp>
      <p:sp>
        <p:nvSpPr>
          <p:cNvPr id="10" name="矩形: 圆角 9">
            <a:extLst>
              <a:ext uri="{FF2B5EF4-FFF2-40B4-BE49-F238E27FC236}">
                <a16:creationId xmlns:a16="http://schemas.microsoft.com/office/drawing/2014/main" id="{5A196F83-72A4-4A58-9077-BFF6CA894347}"/>
              </a:ext>
            </a:extLst>
          </p:cNvPr>
          <p:cNvSpPr/>
          <p:nvPr/>
        </p:nvSpPr>
        <p:spPr>
          <a:xfrm>
            <a:off x="4638000" y="3429000"/>
            <a:ext cx="2916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Internet draft</a:t>
            </a:r>
            <a:endParaRPr lang="zh-CN" altLang="en-US" dirty="0">
              <a:latin typeface="Roboto" panose="020000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E430514B-D52D-4727-B276-CE92552A799E}"/>
              </a:ext>
            </a:extLst>
          </p:cNvPr>
          <p:cNvSpPr/>
          <p:nvPr/>
        </p:nvSpPr>
        <p:spPr>
          <a:xfrm>
            <a:off x="4638000" y="3988234"/>
            <a:ext cx="2916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Proposed standard</a:t>
            </a:r>
            <a:endParaRPr lang="zh-CN" altLang="en-US" dirty="0">
              <a:latin typeface="Roboto" panose="020000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FCD329A0-1947-42B5-89D3-682E09CCC733}"/>
              </a:ext>
            </a:extLst>
          </p:cNvPr>
          <p:cNvSpPr/>
          <p:nvPr/>
        </p:nvSpPr>
        <p:spPr>
          <a:xfrm>
            <a:off x="4638001" y="4547468"/>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Internet standard</a:t>
            </a:r>
            <a:endParaRPr lang="zh-CN" altLang="en-US" dirty="0">
              <a:latin typeface="Roboto" panose="020000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DC8BE2EB-01C5-4158-8996-53E64E555CD1}"/>
              </a:ext>
            </a:extLst>
          </p:cNvPr>
          <p:cNvSpPr txBox="1"/>
          <p:nvPr/>
        </p:nvSpPr>
        <p:spPr>
          <a:xfrm>
            <a:off x="3033710" y="3515369"/>
            <a:ext cx="595035"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草案</a:t>
            </a:r>
          </a:p>
        </p:txBody>
      </p:sp>
      <p:sp>
        <p:nvSpPr>
          <p:cNvPr id="14" name="文本框 13">
            <a:extLst>
              <a:ext uri="{FF2B5EF4-FFF2-40B4-BE49-F238E27FC236}">
                <a16:creationId xmlns:a16="http://schemas.microsoft.com/office/drawing/2014/main" id="{5E7E5104-2390-4B05-BFEE-8EBF4E320BEC}"/>
              </a:ext>
            </a:extLst>
          </p:cNvPr>
          <p:cNvSpPr txBox="1"/>
          <p:nvPr/>
        </p:nvSpPr>
        <p:spPr>
          <a:xfrm>
            <a:off x="2828526" y="4074603"/>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建议标准</a:t>
            </a:r>
          </a:p>
        </p:txBody>
      </p:sp>
      <p:sp>
        <p:nvSpPr>
          <p:cNvPr id="15" name="文本框 14">
            <a:extLst>
              <a:ext uri="{FF2B5EF4-FFF2-40B4-BE49-F238E27FC236}">
                <a16:creationId xmlns:a16="http://schemas.microsoft.com/office/drawing/2014/main" id="{94A46967-8C80-4F98-BD3F-DCE725B39D9D}"/>
              </a:ext>
            </a:extLst>
          </p:cNvPr>
          <p:cNvSpPr txBox="1"/>
          <p:nvPr/>
        </p:nvSpPr>
        <p:spPr>
          <a:xfrm>
            <a:off x="2828526" y="4633837"/>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正式标准</a:t>
            </a:r>
          </a:p>
        </p:txBody>
      </p:sp>
      <p:cxnSp>
        <p:nvCxnSpPr>
          <p:cNvPr id="16" name="直接箭头连接符 15">
            <a:extLst>
              <a:ext uri="{FF2B5EF4-FFF2-40B4-BE49-F238E27FC236}">
                <a16:creationId xmlns:a16="http://schemas.microsoft.com/office/drawing/2014/main" id="{CC354FA3-BD57-4D58-B386-6D1952CC9C8B}"/>
              </a:ext>
            </a:extLst>
          </p:cNvPr>
          <p:cNvCxnSpPr>
            <a:cxnSpLocks/>
            <a:stCxn id="5" idx="3"/>
            <a:endCxn id="10" idx="1"/>
          </p:cNvCxnSpPr>
          <p:nvPr/>
        </p:nvCxnSpPr>
        <p:spPr>
          <a:xfrm>
            <a:off x="3628745" y="3684646"/>
            <a:ext cx="1009255"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A53F56B0-51C7-424A-BBD7-DE6571025E96}"/>
              </a:ext>
            </a:extLst>
          </p:cNvPr>
          <p:cNvCxnSpPr>
            <a:cxnSpLocks/>
            <a:stCxn id="14" idx="3"/>
            <a:endCxn id="11" idx="1"/>
          </p:cNvCxnSpPr>
          <p:nvPr/>
        </p:nvCxnSpPr>
        <p:spPr>
          <a:xfrm>
            <a:off x="3833929" y="4243880"/>
            <a:ext cx="804071"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A430FE66-99AC-4499-B1EB-E0A79D2AB9D6}"/>
              </a:ext>
            </a:extLst>
          </p:cNvPr>
          <p:cNvCxnSpPr>
            <a:cxnSpLocks/>
            <a:stCxn id="15" idx="3"/>
            <a:endCxn id="13" idx="1"/>
          </p:cNvCxnSpPr>
          <p:nvPr/>
        </p:nvCxnSpPr>
        <p:spPr>
          <a:xfrm>
            <a:off x="3833929" y="4803114"/>
            <a:ext cx="804072"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39335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4064530" y="1830185"/>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4508090" y="2576050"/>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400" dirty="0">
                <a:latin typeface="Roboto" panose="02000000000000000000" pitchFamily="2" charset="0"/>
                <a:ea typeface="微软雅黑 Light" panose="020B0502040204020203" pitchFamily="34" charset="-122"/>
              </a:rPr>
              <a:t>Core</a:t>
            </a:r>
            <a:endParaRPr lang="zh-CN" altLang="en-US" sz="2400" dirty="0">
              <a:latin typeface="Roboto" panose="020000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27628" y="1442243"/>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64530" y="1581716"/>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813292" y="5536837"/>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3007136" y="3323511"/>
            <a:ext cx="702436" cy="461665"/>
          </a:xfrm>
          <a:prstGeom prst="rect">
            <a:avLst/>
          </a:prstGeom>
          <a:noFill/>
        </p:spPr>
        <p:txBody>
          <a:bodyPr wrap="none" rtlCol="0">
            <a:spAutoFit/>
          </a:bodyPr>
          <a:lstStyle/>
          <a:p>
            <a:pPr algn="l"/>
            <a:r>
              <a:rPr lang="en-US" altLang="zh-CN" sz="2400" dirty="0">
                <a:solidFill>
                  <a:schemeClr val="accent6"/>
                </a:solidFill>
                <a:latin typeface="Roboto" panose="02000000000000000000" pitchFamily="2" charset="0"/>
                <a:ea typeface="微软雅黑 Light" panose="020B0502040204020203" pitchFamily="34" charset="-122"/>
              </a:rPr>
              <a:t>End</a:t>
            </a:r>
            <a:endParaRPr lang="zh-CN" altLang="en-US" sz="2400" dirty="0">
              <a:solidFill>
                <a:schemeClr val="accent6"/>
              </a:solidFill>
              <a:latin typeface="Roboto" panose="02000000000000000000" pitchFamily="2" charset="0"/>
              <a:ea typeface="微软雅黑 Light" panose="020B0502040204020203" pitchFamily="34" charset="-122"/>
            </a:endParaRPr>
          </a:p>
        </p:txBody>
      </p:sp>
      <p:pic>
        <p:nvPicPr>
          <p:cNvPr id="7" name="图形 6" descr="出租车">
            <a:extLst>
              <a:ext uri="{FF2B5EF4-FFF2-40B4-BE49-F238E27FC236}">
                <a16:creationId xmlns:a16="http://schemas.microsoft.com/office/drawing/2014/main" id="{D80EDA9D-E875-4FC3-A4BC-9B301065D5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38778" y="2370822"/>
            <a:ext cx="914400" cy="914400"/>
          </a:xfrm>
          <a:prstGeom prst="rect">
            <a:avLst/>
          </a:prstGeom>
          <a:effectLst>
            <a:outerShdw blurRad="50800" dist="38100" dir="2700000" algn="tl" rotWithShape="0">
              <a:prstClr val="black">
                <a:alpha val="40000"/>
              </a:prstClr>
            </a:outerShdw>
          </a:effectLst>
        </p:spPr>
      </p:pic>
      <p:pic>
        <p:nvPicPr>
          <p:cNvPr id="12" name="图形 11" descr="手表">
            <a:extLst>
              <a:ext uri="{FF2B5EF4-FFF2-40B4-BE49-F238E27FC236}">
                <a16:creationId xmlns:a16="http://schemas.microsoft.com/office/drawing/2014/main" id="{26046B83-230C-41FE-BCD0-7551F1195CB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68829" y="4061585"/>
            <a:ext cx="914400" cy="914400"/>
          </a:xfrm>
          <a:prstGeom prst="rect">
            <a:avLst/>
          </a:prstGeom>
          <a:effectLst>
            <a:outerShdw blurRad="50800" dist="38100" dir="2700000" algn="tl" rotWithShape="0">
              <a:prstClr val="black">
                <a:alpha val="40000"/>
              </a:prstClr>
            </a:outerShdw>
          </a:effectLst>
        </p:spPr>
      </p:pic>
      <p:pic>
        <p:nvPicPr>
          <p:cNvPr id="21" name="图形 20" descr="老鼠">
            <a:extLst>
              <a:ext uri="{FF2B5EF4-FFF2-40B4-BE49-F238E27FC236}">
                <a16:creationId xmlns:a16="http://schemas.microsoft.com/office/drawing/2014/main" id="{8A1A62BA-A08C-4AE7-92AD-0BFE94F54C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115717" y="4029175"/>
            <a:ext cx="914400" cy="914400"/>
          </a:xfrm>
          <a:prstGeom prst="rect">
            <a:avLst/>
          </a:prstGeom>
          <a:effectLst>
            <a:outerShdw blurRad="50800" dist="38100" dir="2700000" algn="tl" rotWithShape="0">
              <a:prstClr val="black">
                <a:alpha val="40000"/>
              </a:prstClr>
            </a:outerShdw>
          </a:effectLst>
        </p:spPr>
      </p:pic>
      <p:pic>
        <p:nvPicPr>
          <p:cNvPr id="27" name="图形 26" descr="肺">
            <a:extLst>
              <a:ext uri="{FF2B5EF4-FFF2-40B4-BE49-F238E27FC236}">
                <a16:creationId xmlns:a16="http://schemas.microsoft.com/office/drawing/2014/main" id="{071D3EBE-D99B-4BD1-9D42-85DF4097DDE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783317" y="5350134"/>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215588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r>
              <a:rPr lang="en-US" altLang="zh-CN" dirty="0"/>
              <a:t>-</a:t>
            </a:r>
            <a:r>
              <a:rPr lang="zh-CN" altLang="en-US" dirty="0"/>
              <a:t>边缘</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end</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2400" dirty="0">
                <a:latin typeface="Roboto" panose="02000000000000000000" pitchFamily="2" charset="0"/>
                <a:ea typeface="微软雅黑 Light" panose="020B0502040204020203" pitchFamily="34" charset="-122"/>
              </a:rPr>
              <a:t>Core</a:t>
            </a:r>
            <a:endParaRPr lang="zh-CN" altLang="en-US" sz="2400" dirty="0">
              <a:latin typeface="Roboto" panose="020000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702436" cy="461665"/>
          </a:xfrm>
          <a:prstGeom prst="rect">
            <a:avLst/>
          </a:prstGeom>
          <a:noFill/>
        </p:spPr>
        <p:txBody>
          <a:bodyPr wrap="none" rtlCol="0">
            <a:spAutoFit/>
          </a:bodyPr>
          <a:lstStyle/>
          <a:p>
            <a:pPr algn="l"/>
            <a:r>
              <a:rPr lang="en-US" altLang="zh-CN" sz="2400" dirty="0">
                <a:solidFill>
                  <a:schemeClr val="accent6"/>
                </a:solidFill>
                <a:latin typeface="Roboto" panose="02000000000000000000" pitchFamily="2" charset="0"/>
                <a:ea typeface="微软雅黑 Light" panose="020B0502040204020203" pitchFamily="34" charset="-122"/>
              </a:rPr>
              <a:t>End</a:t>
            </a:r>
            <a:endParaRPr lang="zh-CN" altLang="en-US" sz="2400" dirty="0">
              <a:solidFill>
                <a:schemeClr val="accent6"/>
              </a:solidFill>
              <a:latin typeface="Roboto" panose="02000000000000000000" pitchFamily="2" charset="0"/>
              <a:ea typeface="微软雅黑 Light" panose="020B0502040204020203" pitchFamily="34" charset="-122"/>
            </a:endParaRP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4801314" cy="1200329"/>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通信含义：主机进程之间的的通信</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通信模式：</a:t>
            </a:r>
            <a:endParaRPr lang="zh-CN" altLang="en-US" sz="2000" dirty="0">
              <a:latin typeface="Roboto" panose="02000000000000000000" pitchFamily="2" charset="0"/>
              <a:ea typeface="微软雅黑 Light" panose="020B0502040204020203" pitchFamily="34" charset="-122"/>
            </a:endParaRPr>
          </a:p>
        </p:txBody>
      </p:sp>
      <p:sp>
        <p:nvSpPr>
          <p:cNvPr id="19" name="矩形: 圆角 18">
            <a:extLst>
              <a:ext uri="{FF2B5EF4-FFF2-40B4-BE49-F238E27FC236}">
                <a16:creationId xmlns:a16="http://schemas.microsoft.com/office/drawing/2014/main" id="{A56EA1B2-A2F6-4E60-A6F5-6BAC06629BAF}"/>
              </a:ext>
            </a:extLst>
          </p:cNvPr>
          <p:cNvSpPr/>
          <p:nvPr/>
        </p:nvSpPr>
        <p:spPr>
          <a:xfrm>
            <a:off x="1033200" y="3522102"/>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C/S</a:t>
            </a:r>
            <a:endParaRPr lang="zh-CN" altLang="en-US" dirty="0">
              <a:latin typeface="Roboto" panose="02000000000000000000" pitchFamily="2" charset="0"/>
              <a:ea typeface="微软雅黑 Light" panose="020B0502040204020203" pitchFamily="34" charset="-122"/>
            </a:endParaRPr>
          </a:p>
        </p:txBody>
      </p:sp>
      <p:sp>
        <p:nvSpPr>
          <p:cNvPr id="20" name="矩形: 圆角 19">
            <a:extLst>
              <a:ext uri="{FF2B5EF4-FFF2-40B4-BE49-F238E27FC236}">
                <a16:creationId xmlns:a16="http://schemas.microsoft.com/office/drawing/2014/main" id="{9293E552-A3AA-42D5-B354-F9673C09C865}"/>
              </a:ext>
            </a:extLst>
          </p:cNvPr>
          <p:cNvSpPr/>
          <p:nvPr/>
        </p:nvSpPr>
        <p:spPr>
          <a:xfrm>
            <a:off x="1033200" y="4081336"/>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P2P</a:t>
            </a:r>
            <a:endParaRPr lang="zh-CN" altLang="en-US" dirty="0">
              <a:latin typeface="Roboto" panose="02000000000000000000" pitchFamily="2" charset="0"/>
              <a:ea typeface="微软雅黑 Light" panose="020B0502040204020203" pitchFamily="34" charset="-122"/>
            </a:endParaRPr>
          </a:p>
        </p:txBody>
      </p:sp>
      <p:sp>
        <p:nvSpPr>
          <p:cNvPr id="21" name="矩形: 圆角 20">
            <a:extLst>
              <a:ext uri="{FF2B5EF4-FFF2-40B4-BE49-F238E27FC236}">
                <a16:creationId xmlns:a16="http://schemas.microsoft.com/office/drawing/2014/main" id="{7A09F807-3890-41CA-AB6B-93C8548E4C65}"/>
              </a:ext>
            </a:extLst>
          </p:cNvPr>
          <p:cNvSpPr/>
          <p:nvPr/>
        </p:nvSpPr>
        <p:spPr>
          <a:xfrm>
            <a:off x="1033201" y="4640570"/>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B/S</a:t>
            </a:r>
            <a:endParaRPr lang="zh-CN" altLang="en-US"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2760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r>
              <a:rPr lang="en-US" altLang="zh-CN" dirty="0"/>
              <a:t>-</a:t>
            </a:r>
            <a:r>
              <a:rPr lang="zh-CN" altLang="en-US" dirty="0"/>
              <a:t>核心</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core</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latin typeface="微软雅黑 Light" panose="020B0502040204020203" pitchFamily="34" charset="-122"/>
                <a:ea typeface="微软雅黑 Light" panose="020B0502040204020203" pitchFamily="34" charset="-122"/>
              </a:rPr>
              <a:t>核心</a:t>
            </a: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800219" cy="461665"/>
          </a:xfrm>
          <a:prstGeom prst="rect">
            <a:avLst/>
          </a:prstGeom>
          <a:noFill/>
        </p:spPr>
        <p:txBody>
          <a:bodyPr wrap="none" rtlCol="0">
            <a:spAutoFit/>
          </a:bodyPr>
          <a:lstStyle/>
          <a:p>
            <a:pPr algn="l"/>
            <a:r>
              <a:rPr lang="zh-CN" altLang="en-US" sz="2400" dirty="0">
                <a:solidFill>
                  <a:schemeClr val="bg2">
                    <a:lumMod val="50000"/>
                  </a:schemeClr>
                </a:solidFill>
                <a:latin typeface="微软雅黑 Light" panose="020B0502040204020203" pitchFamily="34" charset="-122"/>
                <a:ea typeface="微软雅黑 Light" panose="020B0502040204020203" pitchFamily="34" charset="-122"/>
              </a:rPr>
              <a:t>边缘</a:t>
            </a: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2795958" cy="1938992"/>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作用：转发分组</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设备：路由器</a:t>
            </a:r>
            <a:r>
              <a:rPr lang="en-US" altLang="zh-CN" sz="2000" dirty="0">
                <a:latin typeface="Roboto" panose="02000000000000000000" pitchFamily="2" charset="0"/>
                <a:ea typeface="微软雅黑 Light" panose="020B0502040204020203" pitchFamily="34" charset="-122"/>
              </a:rPr>
              <a:t>router</a:t>
            </a: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模式：</a:t>
            </a:r>
            <a:endParaRPr lang="zh-CN" altLang="en-US" sz="2400" dirty="0">
              <a:latin typeface="Roboto" panose="02000000000000000000" pitchFamily="2" charset="0"/>
              <a:ea typeface="微软雅黑 Light" panose="020B0502040204020203" pitchFamily="34" charset="-122"/>
            </a:endParaRPr>
          </a:p>
        </p:txBody>
      </p:sp>
      <p:sp>
        <p:nvSpPr>
          <p:cNvPr id="19" name="矩形: 圆角 18">
            <a:hlinkClick r:id="rId5" action="ppaction://hlinkfile"/>
            <a:extLst>
              <a:ext uri="{FF2B5EF4-FFF2-40B4-BE49-F238E27FC236}">
                <a16:creationId xmlns:a16="http://schemas.microsoft.com/office/drawing/2014/main" id="{EE26023A-A397-4B62-9EC6-47B180EB3C71}"/>
              </a:ext>
            </a:extLst>
          </p:cNvPr>
          <p:cNvSpPr/>
          <p:nvPr/>
        </p:nvSpPr>
        <p:spPr>
          <a:xfrm>
            <a:off x="1033200" y="4217427"/>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Circuit switching</a:t>
            </a:r>
            <a:endParaRPr lang="zh-CN" altLang="en-US" dirty="0">
              <a:latin typeface="Roboto" panose="02000000000000000000" pitchFamily="2" charset="0"/>
              <a:ea typeface="微软雅黑 Light" panose="020B0502040204020203" pitchFamily="34" charset="-122"/>
            </a:endParaRPr>
          </a:p>
        </p:txBody>
      </p:sp>
      <p:sp>
        <p:nvSpPr>
          <p:cNvPr id="20" name="矩形: 圆角 19">
            <a:hlinkClick r:id="rId6" action="ppaction://hlinkfile"/>
            <a:extLst>
              <a:ext uri="{FF2B5EF4-FFF2-40B4-BE49-F238E27FC236}">
                <a16:creationId xmlns:a16="http://schemas.microsoft.com/office/drawing/2014/main" id="{8FEDC5F5-07D4-48A9-86C5-420214B7ACFA}"/>
              </a:ext>
            </a:extLst>
          </p:cNvPr>
          <p:cNvSpPr/>
          <p:nvPr/>
        </p:nvSpPr>
        <p:spPr>
          <a:xfrm>
            <a:off x="1033200" y="4776661"/>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Message switching</a:t>
            </a:r>
            <a:endParaRPr lang="zh-CN" altLang="en-US" dirty="0">
              <a:latin typeface="Roboto" panose="02000000000000000000" pitchFamily="2" charset="0"/>
              <a:ea typeface="微软雅黑 Light" panose="020B0502040204020203" pitchFamily="34" charset="-122"/>
            </a:endParaRPr>
          </a:p>
        </p:txBody>
      </p:sp>
      <p:sp>
        <p:nvSpPr>
          <p:cNvPr id="21" name="矩形: 圆角 20">
            <a:hlinkClick r:id="rId7" action="ppaction://hlinkfile"/>
            <a:extLst>
              <a:ext uri="{FF2B5EF4-FFF2-40B4-BE49-F238E27FC236}">
                <a16:creationId xmlns:a16="http://schemas.microsoft.com/office/drawing/2014/main" id="{0939008C-8383-459F-8878-8CCD4DDEA0EF}"/>
              </a:ext>
            </a:extLst>
          </p:cNvPr>
          <p:cNvSpPr/>
          <p:nvPr/>
        </p:nvSpPr>
        <p:spPr>
          <a:xfrm>
            <a:off x="1033201" y="5335895"/>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Packet switching</a:t>
            </a:r>
            <a:endParaRPr lang="zh-CN" altLang="en-US"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366114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5" name="文本框 4">
            <a:extLst>
              <a:ext uri="{FF2B5EF4-FFF2-40B4-BE49-F238E27FC236}">
                <a16:creationId xmlns:a16="http://schemas.microsoft.com/office/drawing/2014/main" id="{9686B90F-02F8-4CDB-90AA-F8A5A875A1DE}"/>
              </a:ext>
            </a:extLst>
          </p:cNvPr>
          <p:cNvSpPr txBox="1"/>
          <p:nvPr/>
        </p:nvSpPr>
        <p:spPr>
          <a:xfrm>
            <a:off x="1257856" y="4382931"/>
            <a:ext cx="9958154" cy="830997"/>
          </a:xfrm>
          <a:prstGeom prst="rect">
            <a:avLst/>
          </a:prstGeom>
          <a:noFill/>
        </p:spPr>
        <p:txBody>
          <a:bodyPr wrap="square" rtlCol="0">
            <a:spAutoFit/>
          </a:bodyPr>
          <a:lstStyle/>
          <a:p>
            <a:r>
              <a:rPr lang="zh-CN" altLang="en-US" sz="2400" dirty="0">
                <a:solidFill>
                  <a:schemeClr val="tx1"/>
                </a:solidFill>
                <a:latin typeface="Roboto" panose="02000000000000000000" pitchFamily="2" charset="0"/>
                <a:ea typeface="微软雅黑 Light" panose="020B0502040204020203" pitchFamily="34" charset="-122"/>
              </a:rPr>
              <a:t>报文</a:t>
            </a:r>
            <a:r>
              <a:rPr lang="en-US" altLang="zh-CN" sz="2000" dirty="0">
                <a:latin typeface="Roboto" panose="02000000000000000000" pitchFamily="2" charset="0"/>
                <a:ea typeface="微软雅黑 Light" panose="020B0502040204020203" pitchFamily="34" charset="-122"/>
              </a:rPr>
              <a:t>message</a:t>
            </a:r>
            <a:r>
              <a:rPr lang="zh-CN" altLang="en-US" sz="2400" dirty="0">
                <a:solidFill>
                  <a:schemeClr val="tx1"/>
                </a:solidFill>
                <a:latin typeface="Roboto" panose="02000000000000000000" pitchFamily="2" charset="0"/>
                <a:ea typeface="微软雅黑 Light" panose="020B0502040204020203" pitchFamily="34" charset="-122"/>
              </a:rPr>
              <a:t>分段</a:t>
            </a:r>
            <a:r>
              <a:rPr lang="zh-CN" altLang="en-US" sz="2400" dirty="0">
                <a:latin typeface="Roboto" panose="02000000000000000000" pitchFamily="2" charset="0"/>
                <a:ea typeface="微软雅黑 Light" panose="020B0502040204020203" pitchFamily="34" charset="-122"/>
              </a:rPr>
              <a:t>而成固定长度的包</a:t>
            </a:r>
            <a:r>
              <a:rPr lang="en-US" altLang="zh-CN" sz="2000" dirty="0">
                <a:latin typeface="Roboto" panose="02000000000000000000" pitchFamily="2" charset="0"/>
                <a:ea typeface="微软雅黑 Light" panose="020B0502040204020203" pitchFamily="34" charset="-122"/>
              </a:rPr>
              <a:t>packet</a:t>
            </a:r>
            <a:r>
              <a:rPr lang="zh-CN" altLang="en-US" sz="2400" dirty="0">
                <a:latin typeface="Roboto" panose="02000000000000000000" pitchFamily="2" charset="0"/>
                <a:ea typeface="微软雅黑 Light" panose="020B0502040204020203" pitchFamily="34" charset="-122"/>
              </a:rPr>
              <a:t>，加上包含地址信息和控制信息的头部</a:t>
            </a:r>
            <a:r>
              <a:rPr lang="en-US" altLang="zh-CN" sz="2000" dirty="0">
                <a:latin typeface="Roboto" panose="02000000000000000000" pitchFamily="2" charset="0"/>
                <a:ea typeface="微软雅黑 Light" panose="020B0502040204020203" pitchFamily="34" charset="-122"/>
              </a:rPr>
              <a:t>header</a:t>
            </a:r>
            <a:r>
              <a:rPr lang="zh-CN" altLang="en-US" sz="2400" dirty="0">
                <a:latin typeface="Roboto" panose="02000000000000000000" pitchFamily="2" charset="0"/>
                <a:ea typeface="微软雅黑 Light" panose="020B0502040204020203" pitchFamily="34" charset="-122"/>
              </a:rPr>
              <a:t>发出</a:t>
            </a:r>
            <a:endParaRPr lang="en-US" altLang="zh-CN" sz="2400" dirty="0">
              <a:latin typeface="Roboto" panose="02000000000000000000" pitchFamily="2" charset="0"/>
              <a:ea typeface="微软雅黑 Light" panose="020B0502040204020203" pitchFamily="34" charset="-122"/>
            </a:endParaRPr>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rPr>
              <a:t>Message</a:t>
            </a:r>
            <a:endParaRPr lang="zh-CN" altLang="en-US" dirty="0">
              <a:latin typeface="Roboto" panose="020000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7" name="文本框 26">
            <a:extLst>
              <a:ext uri="{FF2B5EF4-FFF2-40B4-BE49-F238E27FC236}">
                <a16:creationId xmlns:a16="http://schemas.microsoft.com/office/drawing/2014/main" id="{0DB0F441-627A-4CA2-94A6-269177652195}"/>
              </a:ext>
            </a:extLst>
          </p:cNvPr>
          <p:cNvSpPr txBox="1"/>
          <p:nvPr/>
        </p:nvSpPr>
        <p:spPr>
          <a:xfrm>
            <a:off x="932557" y="3925458"/>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发</a:t>
            </a:r>
          </a:p>
        </p:txBody>
      </p:sp>
      <p:cxnSp>
        <p:nvCxnSpPr>
          <p:cNvPr id="29" name="直接连接符 28">
            <a:extLst>
              <a:ext uri="{FF2B5EF4-FFF2-40B4-BE49-F238E27FC236}">
                <a16:creationId xmlns:a16="http://schemas.microsoft.com/office/drawing/2014/main" id="{64AF3344-A148-4C28-9928-D59327DC94E8}"/>
              </a:ext>
            </a:extLst>
          </p:cNvPr>
          <p:cNvCxnSpPr>
            <a:stCxn id="27" idx="3"/>
          </p:cNvCxnSpPr>
          <p:nvPr/>
        </p:nvCxnSpPr>
        <p:spPr>
          <a:xfrm flipV="1">
            <a:off x="1425000" y="4156290"/>
            <a:ext cx="9958154"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223C072-2B1A-4B4C-8671-66054D92D0FC}"/>
              </a:ext>
            </a:extLst>
          </p:cNvPr>
          <p:cNvSpPr txBox="1"/>
          <p:nvPr/>
        </p:nvSpPr>
        <p:spPr>
          <a:xfrm>
            <a:off x="1257856" y="5762766"/>
            <a:ext cx="9958154" cy="461665"/>
          </a:xfrm>
          <a:prstGeom prst="rect">
            <a:avLst/>
          </a:prstGeom>
          <a:noFill/>
        </p:spPr>
        <p:txBody>
          <a:bodyPr wrap="square" rtlCol="0">
            <a:spAutoFit/>
          </a:bodyPr>
          <a:lstStyle/>
          <a:p>
            <a:r>
              <a:rPr lang="zh-CN" altLang="en-US" sz="2400" dirty="0">
                <a:latin typeface="Roboto" panose="02000000000000000000" pitchFamily="2" charset="0"/>
                <a:ea typeface="微软雅黑 Light" panose="020B0502040204020203" pitchFamily="34" charset="-122"/>
              </a:rPr>
              <a:t>去掉头部</a:t>
            </a:r>
            <a:r>
              <a:rPr lang="en-US" altLang="zh-CN" sz="2000" dirty="0">
                <a:latin typeface="Roboto" panose="02000000000000000000" pitchFamily="2" charset="0"/>
                <a:ea typeface="微软雅黑 Light" panose="020B0502040204020203" pitchFamily="34" charset="-122"/>
              </a:rPr>
              <a:t>header</a:t>
            </a:r>
            <a:r>
              <a:rPr lang="zh-CN" altLang="en-US" sz="2400" dirty="0">
                <a:latin typeface="Roboto" panose="02000000000000000000" pitchFamily="2" charset="0"/>
                <a:ea typeface="微软雅黑 Light" panose="020B0502040204020203" pitchFamily="34" charset="-122"/>
              </a:rPr>
              <a:t>，重组为报文</a:t>
            </a:r>
            <a:r>
              <a:rPr lang="en-US" altLang="zh-CN" sz="2000" dirty="0">
                <a:latin typeface="Roboto" panose="02000000000000000000" pitchFamily="2" charset="0"/>
                <a:ea typeface="微软雅黑 Light" panose="020B0502040204020203" pitchFamily="34" charset="-122"/>
              </a:rPr>
              <a:t>message</a:t>
            </a:r>
          </a:p>
        </p:txBody>
      </p:sp>
      <p:sp>
        <p:nvSpPr>
          <p:cNvPr id="31" name="文本框 30">
            <a:extLst>
              <a:ext uri="{FF2B5EF4-FFF2-40B4-BE49-F238E27FC236}">
                <a16:creationId xmlns:a16="http://schemas.microsoft.com/office/drawing/2014/main" id="{109C244F-4945-430B-994E-447D6BAFB4FD}"/>
              </a:ext>
            </a:extLst>
          </p:cNvPr>
          <p:cNvSpPr txBox="1"/>
          <p:nvPr/>
        </p:nvSpPr>
        <p:spPr>
          <a:xfrm>
            <a:off x="932557" y="5305293"/>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收</a:t>
            </a:r>
          </a:p>
        </p:txBody>
      </p:sp>
      <p:cxnSp>
        <p:nvCxnSpPr>
          <p:cNvPr id="32" name="直接连接符 31">
            <a:extLst>
              <a:ext uri="{FF2B5EF4-FFF2-40B4-BE49-F238E27FC236}">
                <a16:creationId xmlns:a16="http://schemas.microsoft.com/office/drawing/2014/main" id="{20892B4F-1899-4082-81BE-D5103CF6AA53}"/>
              </a:ext>
            </a:extLst>
          </p:cNvPr>
          <p:cNvCxnSpPr>
            <a:stCxn id="31" idx="3"/>
          </p:cNvCxnSpPr>
          <p:nvPr/>
        </p:nvCxnSpPr>
        <p:spPr>
          <a:xfrm>
            <a:off x="1425000" y="5536126"/>
            <a:ext cx="9958154"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形 8" descr="无线">
            <a:extLst>
              <a:ext uri="{FF2B5EF4-FFF2-40B4-BE49-F238E27FC236}">
                <a16:creationId xmlns:a16="http://schemas.microsoft.com/office/drawing/2014/main" id="{BA85AF74-BB0C-455C-A316-FE4D7DE0BB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608068" y="3936218"/>
            <a:ext cx="432000" cy="432000"/>
          </a:xfrm>
          <a:prstGeom prst="rect">
            <a:avLst/>
          </a:prstGeom>
          <a:effectLst/>
        </p:spPr>
      </p:pic>
      <p:pic>
        <p:nvPicPr>
          <p:cNvPr id="43" name="图形 42" descr="无线">
            <a:extLst>
              <a:ext uri="{FF2B5EF4-FFF2-40B4-BE49-F238E27FC236}">
                <a16:creationId xmlns:a16="http://schemas.microsoft.com/office/drawing/2014/main" id="{9F479356-DE3D-434C-ACAA-707F5EC8A74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608068" y="5338296"/>
            <a:ext cx="432000" cy="432000"/>
          </a:xfrm>
          <a:prstGeom prst="rect">
            <a:avLst/>
          </a:prstGeom>
          <a:effectLst/>
        </p:spPr>
      </p:pic>
    </p:spTree>
    <p:extLst>
      <p:ext uri="{BB962C8B-B14F-4D97-AF65-F5344CB8AC3E}">
        <p14:creationId xmlns:p14="http://schemas.microsoft.com/office/powerpoint/2010/main" val="4247572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rPr>
              <a:t>Message</a:t>
            </a:r>
            <a:endParaRPr lang="zh-CN" altLang="en-US" dirty="0">
              <a:latin typeface="Roboto" panose="020000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0065FEA2-24A5-45B6-8FC9-DADDF32746FC}"/>
              </a:ext>
            </a:extLst>
          </p:cNvPr>
          <p:cNvSpPr txBox="1"/>
          <p:nvPr/>
        </p:nvSpPr>
        <p:spPr>
          <a:xfrm>
            <a:off x="1604961" y="3850648"/>
            <a:ext cx="8962710"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长度为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20</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字节的报文，如果当前系统报头是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3</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字节；支持的分组长度是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8</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问：拆分的报文数及各报文的长度</a:t>
            </a:r>
          </a:p>
        </p:txBody>
      </p:sp>
      <p:pic>
        <p:nvPicPr>
          <p:cNvPr id="23" name="图形 22" descr="帮助">
            <a:extLst>
              <a:ext uri="{FF2B5EF4-FFF2-40B4-BE49-F238E27FC236}">
                <a16:creationId xmlns:a16="http://schemas.microsoft.com/office/drawing/2014/main" id="{32A73EF1-8160-46C5-92C5-2453D7E4E0B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65413" y="3798022"/>
            <a:ext cx="914400" cy="914400"/>
          </a:xfrm>
          <a:prstGeom prst="rect">
            <a:avLst/>
          </a:prstGeom>
        </p:spPr>
      </p:pic>
    </p:spTree>
    <p:extLst>
      <p:ext uri="{BB962C8B-B14F-4D97-AF65-F5344CB8AC3E}">
        <p14:creationId xmlns:p14="http://schemas.microsoft.com/office/powerpoint/2010/main" val="927700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9" name="任意多边形: 形状 8">
            <a:extLst>
              <a:ext uri="{FF2B5EF4-FFF2-40B4-BE49-F238E27FC236}">
                <a16:creationId xmlns:a16="http://schemas.microsoft.com/office/drawing/2014/main" id="{A07C83B3-E9A0-47F1-A35D-39D899668E0C}"/>
              </a:ext>
            </a:extLst>
          </p:cNvPr>
          <p:cNvSpPr/>
          <p:nvPr/>
        </p:nvSpPr>
        <p:spPr>
          <a:xfrm>
            <a:off x="6643932"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存储转发时引起的排队时延</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头部</a:t>
            </a:r>
            <a:r>
              <a:rPr lang="en-US" altLang="zh-CN" dirty="0">
                <a:solidFill>
                  <a:schemeClr val="tx1"/>
                </a:solidFill>
                <a:latin typeface="Roboto" panose="02000000000000000000" pitchFamily="2" charset="0"/>
                <a:ea typeface="微软雅黑 Light" panose="020B0502040204020203" pitchFamily="34" charset="-122"/>
              </a:rPr>
              <a:t>header</a:t>
            </a:r>
            <a:r>
              <a:rPr lang="zh-CN" altLang="en-US" dirty="0">
                <a:solidFill>
                  <a:schemeClr val="tx1"/>
                </a:solidFill>
                <a:latin typeface="Roboto" panose="02000000000000000000" pitchFamily="2" charset="0"/>
                <a:ea typeface="微软雅黑 Light" panose="020B0502040204020203" pitchFamily="34" charset="-122"/>
              </a:rPr>
              <a:t>引起的系统开销</a:t>
            </a:r>
          </a:p>
        </p:txBody>
      </p:sp>
      <p:sp>
        <p:nvSpPr>
          <p:cNvPr id="10" name="矩形: 圆角 9">
            <a:extLst>
              <a:ext uri="{FF2B5EF4-FFF2-40B4-BE49-F238E27FC236}">
                <a16:creationId xmlns:a16="http://schemas.microsoft.com/office/drawing/2014/main" id="{A987C6C2-0B17-4FE7-928F-EBC71E1B3122}"/>
              </a:ext>
            </a:extLst>
          </p:cNvPr>
          <p:cNvSpPr/>
          <p:nvPr/>
        </p:nvSpPr>
        <p:spPr>
          <a:xfrm>
            <a:off x="7421232" y="2748364"/>
            <a:ext cx="3303639" cy="57777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nchorCtr="0"/>
          <a:lstStyle/>
          <a:p>
            <a:pPr algn="ctr"/>
            <a:r>
              <a:rPr lang="zh-CN" altLang="en-US" sz="2000" dirty="0">
                <a:latin typeface="微软雅黑" panose="020B0503020204020204" pitchFamily="34" charset="-122"/>
                <a:ea typeface="微软雅黑" panose="020B0503020204020204" pitchFamily="34" charset="-122"/>
              </a:rPr>
              <a:t>缺点</a:t>
            </a:r>
            <a:endParaRPr lang="zh-CN" altLang="en-US" sz="1400" dirty="0">
              <a:latin typeface="微软雅黑" panose="020B0503020204020204" pitchFamily="34" charset="-122"/>
              <a:ea typeface="微软雅黑" panose="020B0503020204020204" pitchFamily="34" charset="-122"/>
            </a:endParaRPr>
          </a:p>
        </p:txBody>
      </p:sp>
      <p:sp>
        <p:nvSpPr>
          <p:cNvPr id="13" name="任意多边形: 形状 12">
            <a:extLst>
              <a:ext uri="{FF2B5EF4-FFF2-40B4-BE49-F238E27FC236}">
                <a16:creationId xmlns:a16="http://schemas.microsoft.com/office/drawing/2014/main" id="{BF38CE94-57BD-4ACB-8405-83BDBF1538E7}"/>
              </a:ext>
            </a:extLst>
          </p:cNvPr>
          <p:cNvSpPr/>
          <p:nvPr/>
        </p:nvSpPr>
        <p:spPr>
          <a:xfrm>
            <a:off x="708249"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先存储再转发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依据头部</a:t>
            </a:r>
            <a:r>
              <a:rPr lang="en-US" altLang="zh-CN" dirty="0">
                <a:solidFill>
                  <a:schemeClr val="tx1"/>
                </a:solidFill>
                <a:latin typeface="Roboto" panose="02000000000000000000" pitchFamily="2" charset="0"/>
                <a:ea typeface="微软雅黑 Light" panose="020B0502040204020203" pitchFamily="34" charset="-122"/>
              </a:rPr>
              <a:t>header</a:t>
            </a:r>
            <a:r>
              <a:rPr lang="zh-CN" altLang="en-US" dirty="0">
                <a:solidFill>
                  <a:schemeClr val="tx1"/>
                </a:solidFill>
                <a:latin typeface="Roboto" panose="02000000000000000000" pitchFamily="2" charset="0"/>
                <a:ea typeface="微软雅黑 Light" panose="020B0502040204020203" pitchFamily="34" charset="-122"/>
              </a:rPr>
              <a:t>转发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交换效率高（缓存中的短分组）</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传输效率高（无需建立和释放链接）</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可靠性高（自主转发）</a:t>
            </a:r>
          </a:p>
        </p:txBody>
      </p:sp>
      <p:sp>
        <p:nvSpPr>
          <p:cNvPr id="14" name="矩形: 圆角 13">
            <a:extLst>
              <a:ext uri="{FF2B5EF4-FFF2-40B4-BE49-F238E27FC236}">
                <a16:creationId xmlns:a16="http://schemas.microsoft.com/office/drawing/2014/main" id="{9F0EE1D8-B806-44C5-B348-FA26D996E59D}"/>
              </a:ext>
            </a:extLst>
          </p:cNvPr>
          <p:cNvSpPr/>
          <p:nvPr/>
        </p:nvSpPr>
        <p:spPr>
          <a:xfrm>
            <a:off x="1485549" y="2748364"/>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优点</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3608547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38" name="文本框 37">
            <a:extLst>
              <a:ext uri="{FF2B5EF4-FFF2-40B4-BE49-F238E27FC236}">
                <a16:creationId xmlns:a16="http://schemas.microsoft.com/office/drawing/2014/main" id="{02C3A380-507A-4FA4-A39E-E97123534DE6}"/>
              </a:ext>
            </a:extLst>
          </p:cNvPr>
          <p:cNvSpPr txBox="1"/>
          <p:nvPr/>
        </p:nvSpPr>
        <p:spPr>
          <a:xfrm>
            <a:off x="6005598" y="3539009"/>
            <a:ext cx="2031325" cy="461665"/>
          </a:xfrm>
          <a:prstGeom prst="rect">
            <a:avLst/>
          </a:prstGeom>
          <a:noFill/>
        </p:spPr>
        <p:txBody>
          <a:bodyPr wrap="none" rtlCol="0">
            <a:spAutoFit/>
          </a:bodyPr>
          <a:lstStyle/>
          <a:p>
            <a:pPr>
              <a:buClr>
                <a:schemeClr val="accent2"/>
              </a:buClr>
            </a:pPr>
            <a:r>
              <a:rPr lang="zh-CN" altLang="en-US" sz="2400" dirty="0">
                <a:latin typeface="微软雅黑 Light" panose="020B0502040204020203" pitchFamily="34" charset="-122"/>
                <a:ea typeface="微软雅黑 Light" panose="020B0502040204020203" pitchFamily="34" charset="-122"/>
              </a:rPr>
              <a:t>路由选择协议</a:t>
            </a:r>
          </a:p>
        </p:txBody>
      </p:sp>
      <p:sp>
        <p:nvSpPr>
          <p:cNvPr id="5" name="文本框 4">
            <a:extLst>
              <a:ext uri="{FF2B5EF4-FFF2-40B4-BE49-F238E27FC236}">
                <a16:creationId xmlns:a16="http://schemas.microsoft.com/office/drawing/2014/main" id="{56D7629A-4B51-4053-B8E0-69A481973C59}"/>
              </a:ext>
            </a:extLst>
          </p:cNvPr>
          <p:cNvSpPr txBox="1"/>
          <p:nvPr/>
        </p:nvSpPr>
        <p:spPr>
          <a:xfrm>
            <a:off x="5894189" y="4000674"/>
            <a:ext cx="1713931" cy="338554"/>
          </a:xfrm>
          <a:prstGeom prst="rect">
            <a:avLst/>
          </a:prstGeom>
          <a:noFill/>
        </p:spPr>
        <p:txBody>
          <a:bodyPr wrap="none" rtlCol="0">
            <a:spAutoFit/>
          </a:bodyPr>
          <a:lstStyle/>
          <a:p>
            <a:pPr algn="ctr"/>
            <a:r>
              <a:rPr lang="en-US" altLang="zh-CN" sz="1600" b="0" i="0" dirty="0">
                <a:solidFill>
                  <a:schemeClr val="bg1">
                    <a:lumMod val="50000"/>
                  </a:schemeClr>
                </a:solidFill>
                <a:effectLst/>
                <a:latin typeface="Roboto" panose="02000000000000000000" pitchFamily="2" charset="0"/>
              </a:rPr>
              <a:t>Routing Protocol</a:t>
            </a:r>
            <a:endParaRPr lang="zh-CN" altLang="en-US" sz="1600" dirty="0">
              <a:solidFill>
                <a:schemeClr val="bg1">
                  <a:lumMod val="50000"/>
                </a:schemeClr>
              </a:solidFill>
              <a:latin typeface="Roboto" panose="02000000000000000000" pitchFamily="2" charset="0"/>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CE4BCC9F-3721-4199-922A-648BA4CB10FD}"/>
              </a:ext>
            </a:extLst>
          </p:cNvPr>
          <p:cNvSpPr/>
          <p:nvPr/>
        </p:nvSpPr>
        <p:spPr>
          <a:xfrm>
            <a:off x="4155076" y="2518772"/>
            <a:ext cx="1915443" cy="1820456"/>
          </a:xfrm>
          <a:custGeom>
            <a:avLst/>
            <a:gdLst>
              <a:gd name="connsiteX0" fmla="*/ 124789 w 1915443"/>
              <a:gd name="connsiteY0" fmla="*/ 1730649 h 1820456"/>
              <a:gd name="connsiteX1" fmla="*/ 689801 w 1915443"/>
              <a:gd name="connsiteY1" fmla="*/ 1730649 h 1820456"/>
              <a:gd name="connsiteX2" fmla="*/ 689801 w 1915443"/>
              <a:gd name="connsiteY2" fmla="*/ 1820456 h 1820456"/>
              <a:gd name="connsiteX3" fmla="*/ 124789 w 1915443"/>
              <a:gd name="connsiteY3" fmla="*/ 1820456 h 1820456"/>
              <a:gd name="connsiteX4" fmla="*/ 689801 w 1915443"/>
              <a:gd name="connsiteY4" fmla="*/ 1658649 h 1820456"/>
              <a:gd name="connsiteX5" fmla="*/ 720000 w 1915443"/>
              <a:gd name="connsiteY5" fmla="*/ 1658649 h 1820456"/>
              <a:gd name="connsiteX6" fmla="*/ 720000 w 1915443"/>
              <a:gd name="connsiteY6" fmla="*/ 1730649 h 1820456"/>
              <a:gd name="connsiteX7" fmla="*/ 689801 w 1915443"/>
              <a:gd name="connsiteY7" fmla="*/ 1730649 h 1820456"/>
              <a:gd name="connsiteX8" fmla="*/ 0 w 1915443"/>
              <a:gd name="connsiteY8" fmla="*/ 1658649 h 1820456"/>
              <a:gd name="connsiteX9" fmla="*/ 124789 w 1915443"/>
              <a:gd name="connsiteY9" fmla="*/ 1658649 h 1820456"/>
              <a:gd name="connsiteX10" fmla="*/ 124789 w 1915443"/>
              <a:gd name="connsiteY10" fmla="*/ 1730649 h 1820456"/>
              <a:gd name="connsiteX11" fmla="*/ 0 w 1915443"/>
              <a:gd name="connsiteY11" fmla="*/ 1730649 h 1820456"/>
              <a:gd name="connsiteX12" fmla="*/ 124789 w 1915443"/>
              <a:gd name="connsiteY12" fmla="*/ 1585809 h 1820456"/>
              <a:gd name="connsiteX13" fmla="*/ 689801 w 1915443"/>
              <a:gd name="connsiteY13" fmla="*/ 1585809 h 1820456"/>
              <a:gd name="connsiteX14" fmla="*/ 689801 w 1915443"/>
              <a:gd name="connsiteY14" fmla="*/ 1658649 h 1820456"/>
              <a:gd name="connsiteX15" fmla="*/ 124789 w 1915443"/>
              <a:gd name="connsiteY15" fmla="*/ 1658649 h 1820456"/>
              <a:gd name="connsiteX16" fmla="*/ 689801 w 1915443"/>
              <a:gd name="connsiteY16" fmla="*/ 1513809 h 1820456"/>
              <a:gd name="connsiteX17" fmla="*/ 720000 w 1915443"/>
              <a:gd name="connsiteY17" fmla="*/ 1513809 h 1820456"/>
              <a:gd name="connsiteX18" fmla="*/ 720000 w 1915443"/>
              <a:gd name="connsiteY18" fmla="*/ 1585809 h 1820456"/>
              <a:gd name="connsiteX19" fmla="*/ 689801 w 1915443"/>
              <a:gd name="connsiteY19" fmla="*/ 1585809 h 1820456"/>
              <a:gd name="connsiteX20" fmla="*/ 0 w 1915443"/>
              <a:gd name="connsiteY20" fmla="*/ 1513809 h 1820456"/>
              <a:gd name="connsiteX21" fmla="*/ 124789 w 1915443"/>
              <a:gd name="connsiteY21" fmla="*/ 1513809 h 1820456"/>
              <a:gd name="connsiteX22" fmla="*/ 124789 w 1915443"/>
              <a:gd name="connsiteY22" fmla="*/ 1585809 h 1820456"/>
              <a:gd name="connsiteX23" fmla="*/ 0 w 1915443"/>
              <a:gd name="connsiteY23" fmla="*/ 1585809 h 1820456"/>
              <a:gd name="connsiteX24" fmla="*/ 124789 w 1915443"/>
              <a:gd name="connsiteY24" fmla="*/ 1440966 h 1820456"/>
              <a:gd name="connsiteX25" fmla="*/ 689801 w 1915443"/>
              <a:gd name="connsiteY25" fmla="*/ 1440966 h 1820456"/>
              <a:gd name="connsiteX26" fmla="*/ 689801 w 1915443"/>
              <a:gd name="connsiteY26" fmla="*/ 1513809 h 1820456"/>
              <a:gd name="connsiteX27" fmla="*/ 124789 w 1915443"/>
              <a:gd name="connsiteY27" fmla="*/ 1513809 h 1820456"/>
              <a:gd name="connsiteX28" fmla="*/ 689801 w 1915443"/>
              <a:gd name="connsiteY28" fmla="*/ 1368966 h 1820456"/>
              <a:gd name="connsiteX29" fmla="*/ 720000 w 1915443"/>
              <a:gd name="connsiteY29" fmla="*/ 1368966 h 1820456"/>
              <a:gd name="connsiteX30" fmla="*/ 720000 w 1915443"/>
              <a:gd name="connsiteY30" fmla="*/ 1440966 h 1820456"/>
              <a:gd name="connsiteX31" fmla="*/ 689801 w 1915443"/>
              <a:gd name="connsiteY31" fmla="*/ 1440966 h 1820456"/>
              <a:gd name="connsiteX32" fmla="*/ 0 w 1915443"/>
              <a:gd name="connsiteY32" fmla="*/ 1368966 h 1820456"/>
              <a:gd name="connsiteX33" fmla="*/ 124789 w 1915443"/>
              <a:gd name="connsiteY33" fmla="*/ 1368966 h 1820456"/>
              <a:gd name="connsiteX34" fmla="*/ 124789 w 1915443"/>
              <a:gd name="connsiteY34" fmla="*/ 1440966 h 1820456"/>
              <a:gd name="connsiteX35" fmla="*/ 0 w 1915443"/>
              <a:gd name="connsiteY35" fmla="*/ 1440966 h 1820456"/>
              <a:gd name="connsiteX36" fmla="*/ 124789 w 1915443"/>
              <a:gd name="connsiteY36" fmla="*/ 1296123 h 1820456"/>
              <a:gd name="connsiteX37" fmla="*/ 689801 w 1915443"/>
              <a:gd name="connsiteY37" fmla="*/ 1296123 h 1820456"/>
              <a:gd name="connsiteX38" fmla="*/ 689801 w 1915443"/>
              <a:gd name="connsiteY38" fmla="*/ 1368966 h 1820456"/>
              <a:gd name="connsiteX39" fmla="*/ 124789 w 1915443"/>
              <a:gd name="connsiteY39" fmla="*/ 1368966 h 1820456"/>
              <a:gd name="connsiteX40" fmla="*/ 689801 w 1915443"/>
              <a:gd name="connsiteY40" fmla="*/ 1224123 h 1820456"/>
              <a:gd name="connsiteX41" fmla="*/ 720000 w 1915443"/>
              <a:gd name="connsiteY41" fmla="*/ 1224123 h 1820456"/>
              <a:gd name="connsiteX42" fmla="*/ 720000 w 1915443"/>
              <a:gd name="connsiteY42" fmla="*/ 1296123 h 1820456"/>
              <a:gd name="connsiteX43" fmla="*/ 689801 w 1915443"/>
              <a:gd name="connsiteY43" fmla="*/ 1296123 h 1820456"/>
              <a:gd name="connsiteX44" fmla="*/ 0 w 1915443"/>
              <a:gd name="connsiteY44" fmla="*/ 1224123 h 1820456"/>
              <a:gd name="connsiteX45" fmla="*/ 124789 w 1915443"/>
              <a:gd name="connsiteY45" fmla="*/ 1224123 h 1820456"/>
              <a:gd name="connsiteX46" fmla="*/ 124789 w 1915443"/>
              <a:gd name="connsiteY46" fmla="*/ 1296123 h 1820456"/>
              <a:gd name="connsiteX47" fmla="*/ 0 w 1915443"/>
              <a:gd name="connsiteY47" fmla="*/ 1296123 h 1820456"/>
              <a:gd name="connsiteX48" fmla="*/ 124789 w 1915443"/>
              <a:gd name="connsiteY48" fmla="*/ 1151280 h 1820456"/>
              <a:gd name="connsiteX49" fmla="*/ 689801 w 1915443"/>
              <a:gd name="connsiteY49" fmla="*/ 1151280 h 1820456"/>
              <a:gd name="connsiteX50" fmla="*/ 689801 w 1915443"/>
              <a:gd name="connsiteY50" fmla="*/ 1224123 h 1820456"/>
              <a:gd name="connsiteX51" fmla="*/ 124789 w 1915443"/>
              <a:gd name="connsiteY51" fmla="*/ 1224123 h 1820456"/>
              <a:gd name="connsiteX52" fmla="*/ 689801 w 1915443"/>
              <a:gd name="connsiteY52" fmla="*/ 1081594 h 1820456"/>
              <a:gd name="connsiteX53" fmla="*/ 720000 w 1915443"/>
              <a:gd name="connsiteY53" fmla="*/ 1081594 h 1820456"/>
              <a:gd name="connsiteX54" fmla="*/ 720000 w 1915443"/>
              <a:gd name="connsiteY54" fmla="*/ 1151280 h 1820456"/>
              <a:gd name="connsiteX55" fmla="*/ 689801 w 1915443"/>
              <a:gd name="connsiteY55" fmla="*/ 1151280 h 1820456"/>
              <a:gd name="connsiteX56" fmla="*/ 0 w 1915443"/>
              <a:gd name="connsiteY56" fmla="*/ 1079280 h 1820456"/>
              <a:gd name="connsiteX57" fmla="*/ 124789 w 1915443"/>
              <a:gd name="connsiteY57" fmla="*/ 1079280 h 1820456"/>
              <a:gd name="connsiteX58" fmla="*/ 124789 w 1915443"/>
              <a:gd name="connsiteY58" fmla="*/ 1151280 h 1820456"/>
              <a:gd name="connsiteX59" fmla="*/ 0 w 1915443"/>
              <a:gd name="connsiteY59" fmla="*/ 1151280 h 1820456"/>
              <a:gd name="connsiteX60" fmla="*/ 0 w 1915443"/>
              <a:gd name="connsiteY60" fmla="*/ 934437 h 1820456"/>
              <a:gd name="connsiteX61" fmla="*/ 124789 w 1915443"/>
              <a:gd name="connsiteY61" fmla="*/ 934437 h 1820456"/>
              <a:gd name="connsiteX62" fmla="*/ 124789 w 1915443"/>
              <a:gd name="connsiteY62" fmla="*/ 1006437 h 1820456"/>
              <a:gd name="connsiteX63" fmla="*/ 0 w 1915443"/>
              <a:gd name="connsiteY63" fmla="*/ 1006437 h 1820456"/>
              <a:gd name="connsiteX64" fmla="*/ 0 w 1915443"/>
              <a:gd name="connsiteY64" fmla="*/ 789594 h 1820456"/>
              <a:gd name="connsiteX65" fmla="*/ 124789 w 1915443"/>
              <a:gd name="connsiteY65" fmla="*/ 789594 h 1820456"/>
              <a:gd name="connsiteX66" fmla="*/ 124789 w 1915443"/>
              <a:gd name="connsiteY66" fmla="*/ 861594 h 1820456"/>
              <a:gd name="connsiteX67" fmla="*/ 0 w 1915443"/>
              <a:gd name="connsiteY67" fmla="*/ 861594 h 1820456"/>
              <a:gd name="connsiteX68" fmla="*/ 689801 w 1915443"/>
              <a:gd name="connsiteY68" fmla="*/ 644751 h 1820456"/>
              <a:gd name="connsiteX69" fmla="*/ 720000 w 1915443"/>
              <a:gd name="connsiteY69" fmla="*/ 644751 h 1820456"/>
              <a:gd name="connsiteX70" fmla="*/ 720000 w 1915443"/>
              <a:gd name="connsiteY70" fmla="*/ 716751 h 1820456"/>
              <a:gd name="connsiteX71" fmla="*/ 689801 w 1915443"/>
              <a:gd name="connsiteY71" fmla="*/ 716751 h 1820456"/>
              <a:gd name="connsiteX72" fmla="*/ 0 w 1915443"/>
              <a:gd name="connsiteY72" fmla="*/ 644751 h 1820456"/>
              <a:gd name="connsiteX73" fmla="*/ 124789 w 1915443"/>
              <a:gd name="connsiteY73" fmla="*/ 644751 h 1820456"/>
              <a:gd name="connsiteX74" fmla="*/ 124789 w 1915443"/>
              <a:gd name="connsiteY74" fmla="*/ 716751 h 1820456"/>
              <a:gd name="connsiteX75" fmla="*/ 0 w 1915443"/>
              <a:gd name="connsiteY75" fmla="*/ 716751 h 1820456"/>
              <a:gd name="connsiteX76" fmla="*/ 124789 w 1915443"/>
              <a:gd name="connsiteY76" fmla="*/ 571908 h 1820456"/>
              <a:gd name="connsiteX77" fmla="*/ 689801 w 1915443"/>
              <a:gd name="connsiteY77" fmla="*/ 571908 h 1820456"/>
              <a:gd name="connsiteX78" fmla="*/ 689801 w 1915443"/>
              <a:gd name="connsiteY78" fmla="*/ 644751 h 1820456"/>
              <a:gd name="connsiteX79" fmla="*/ 124789 w 1915443"/>
              <a:gd name="connsiteY79" fmla="*/ 644751 h 1820456"/>
              <a:gd name="connsiteX80" fmla="*/ 689801 w 1915443"/>
              <a:gd name="connsiteY80" fmla="*/ 499908 h 1820456"/>
              <a:gd name="connsiteX81" fmla="*/ 720000 w 1915443"/>
              <a:gd name="connsiteY81" fmla="*/ 499908 h 1820456"/>
              <a:gd name="connsiteX82" fmla="*/ 720000 w 1915443"/>
              <a:gd name="connsiteY82" fmla="*/ 571908 h 1820456"/>
              <a:gd name="connsiteX83" fmla="*/ 689801 w 1915443"/>
              <a:gd name="connsiteY83" fmla="*/ 571908 h 1820456"/>
              <a:gd name="connsiteX84" fmla="*/ 0 w 1915443"/>
              <a:gd name="connsiteY84" fmla="*/ 499908 h 1820456"/>
              <a:gd name="connsiteX85" fmla="*/ 124789 w 1915443"/>
              <a:gd name="connsiteY85" fmla="*/ 499908 h 1820456"/>
              <a:gd name="connsiteX86" fmla="*/ 124789 w 1915443"/>
              <a:gd name="connsiteY86" fmla="*/ 571908 h 1820456"/>
              <a:gd name="connsiteX87" fmla="*/ 0 w 1915443"/>
              <a:gd name="connsiteY87" fmla="*/ 571908 h 1820456"/>
              <a:gd name="connsiteX88" fmla="*/ 124789 w 1915443"/>
              <a:gd name="connsiteY88" fmla="*/ 427065 h 1820456"/>
              <a:gd name="connsiteX89" fmla="*/ 689801 w 1915443"/>
              <a:gd name="connsiteY89" fmla="*/ 427065 h 1820456"/>
              <a:gd name="connsiteX90" fmla="*/ 689801 w 1915443"/>
              <a:gd name="connsiteY90" fmla="*/ 499908 h 1820456"/>
              <a:gd name="connsiteX91" fmla="*/ 124789 w 1915443"/>
              <a:gd name="connsiteY91" fmla="*/ 499908 h 1820456"/>
              <a:gd name="connsiteX92" fmla="*/ 689801 w 1915443"/>
              <a:gd name="connsiteY92" fmla="*/ 367568 h 1820456"/>
              <a:gd name="connsiteX93" fmla="*/ 720000 w 1915443"/>
              <a:gd name="connsiteY93" fmla="*/ 367568 h 1820456"/>
              <a:gd name="connsiteX94" fmla="*/ 720000 w 1915443"/>
              <a:gd name="connsiteY94" fmla="*/ 427065 h 1820456"/>
              <a:gd name="connsiteX95" fmla="*/ 689801 w 1915443"/>
              <a:gd name="connsiteY95" fmla="*/ 427065 h 1820456"/>
              <a:gd name="connsiteX96" fmla="*/ 0 w 1915443"/>
              <a:gd name="connsiteY96" fmla="*/ 355065 h 1820456"/>
              <a:gd name="connsiteX97" fmla="*/ 124789 w 1915443"/>
              <a:gd name="connsiteY97" fmla="*/ 355065 h 1820456"/>
              <a:gd name="connsiteX98" fmla="*/ 124789 w 1915443"/>
              <a:gd name="connsiteY98" fmla="*/ 427065 h 1820456"/>
              <a:gd name="connsiteX99" fmla="*/ 0 w 1915443"/>
              <a:gd name="connsiteY99" fmla="*/ 427065 h 1820456"/>
              <a:gd name="connsiteX100" fmla="*/ 0 w 1915443"/>
              <a:gd name="connsiteY100" fmla="*/ 210222 h 1820456"/>
              <a:gd name="connsiteX101" fmla="*/ 124789 w 1915443"/>
              <a:gd name="connsiteY101" fmla="*/ 210222 h 1820456"/>
              <a:gd name="connsiteX102" fmla="*/ 124789 w 1915443"/>
              <a:gd name="connsiteY102" fmla="*/ 282222 h 1820456"/>
              <a:gd name="connsiteX103" fmla="*/ 0 w 1915443"/>
              <a:gd name="connsiteY103" fmla="*/ 282222 h 1820456"/>
              <a:gd name="connsiteX104" fmla="*/ 0 w 1915443"/>
              <a:gd name="connsiteY104" fmla="*/ 65379 h 1820456"/>
              <a:gd name="connsiteX105" fmla="*/ 124789 w 1915443"/>
              <a:gd name="connsiteY105" fmla="*/ 65379 h 1820456"/>
              <a:gd name="connsiteX106" fmla="*/ 124789 w 1915443"/>
              <a:gd name="connsiteY106" fmla="*/ 137379 h 1820456"/>
              <a:gd name="connsiteX107" fmla="*/ 0 w 1915443"/>
              <a:gd name="connsiteY107" fmla="*/ 137379 h 1820456"/>
              <a:gd name="connsiteX108" fmla="*/ 124789 w 1915443"/>
              <a:gd name="connsiteY108" fmla="*/ 0 h 1820456"/>
              <a:gd name="connsiteX109" fmla="*/ 1062336 w 1915443"/>
              <a:gd name="connsiteY109" fmla="*/ 0 h 1820456"/>
              <a:gd name="connsiteX110" fmla="*/ 1460949 w 1915443"/>
              <a:gd name="connsiteY110" fmla="*/ 44704 h 1820456"/>
              <a:gd name="connsiteX111" fmla="*/ 1683229 w 1915443"/>
              <a:gd name="connsiteY111" fmla="*/ 210482 h 1820456"/>
              <a:gd name="connsiteX112" fmla="*/ 1767670 w 1915443"/>
              <a:gd name="connsiteY112" fmla="*/ 505406 h 1820456"/>
              <a:gd name="connsiteX113" fmla="*/ 1703059 w 1915443"/>
              <a:gd name="connsiteY113" fmla="*/ 766802 h 1820456"/>
              <a:gd name="connsiteX114" fmla="*/ 1525386 w 1915443"/>
              <a:gd name="connsiteY114" fmla="*/ 944998 h 1820456"/>
              <a:gd name="connsiteX115" fmla="*/ 1327826 w 1915443"/>
              <a:gd name="connsiteY115" fmla="*/ 1017022 h 1820456"/>
              <a:gd name="connsiteX116" fmla="*/ 1474260 w 1915443"/>
              <a:gd name="connsiteY116" fmla="*/ 1084136 h 1820456"/>
              <a:gd name="connsiteX117" fmla="*/ 1564231 w 1915443"/>
              <a:gd name="connsiteY117" fmla="*/ 1179841 h 1820456"/>
              <a:gd name="connsiteX118" fmla="*/ 1643026 w 1915443"/>
              <a:gd name="connsiteY118" fmla="*/ 1292950 h 1820456"/>
              <a:gd name="connsiteX119" fmla="*/ 1915443 w 1915443"/>
              <a:gd name="connsiteY119" fmla="*/ 1820456 h 1820456"/>
              <a:gd name="connsiteX120" fmla="*/ 1279823 w 1915443"/>
              <a:gd name="connsiteY120" fmla="*/ 1820456 h 1820456"/>
              <a:gd name="connsiteX121" fmla="*/ 979137 w 1915443"/>
              <a:gd name="connsiteY121" fmla="*/ 1264137 h 1820456"/>
              <a:gd name="connsiteX122" fmla="*/ 877311 w 1915443"/>
              <a:gd name="connsiteY122" fmla="*/ 1123815 h 1820456"/>
              <a:gd name="connsiteX123" fmla="*/ 739472 w 1915443"/>
              <a:gd name="connsiteY123" fmla="*/ 1081594 h 1820456"/>
              <a:gd name="connsiteX124" fmla="*/ 720000 w 1915443"/>
              <a:gd name="connsiteY124" fmla="*/ 1081594 h 1820456"/>
              <a:gd name="connsiteX125" fmla="*/ 720000 w 1915443"/>
              <a:gd name="connsiteY125" fmla="*/ 1079280 h 1820456"/>
              <a:gd name="connsiteX126" fmla="*/ 124789 w 1915443"/>
              <a:gd name="connsiteY126" fmla="*/ 1079280 h 1820456"/>
              <a:gd name="connsiteX127" fmla="*/ 124789 w 1915443"/>
              <a:gd name="connsiteY127" fmla="*/ 1006437 h 1820456"/>
              <a:gd name="connsiteX128" fmla="*/ 720000 w 1915443"/>
              <a:gd name="connsiteY128" fmla="*/ 1006437 h 1820456"/>
              <a:gd name="connsiteX129" fmla="*/ 720000 w 1915443"/>
              <a:gd name="connsiteY129" fmla="*/ 934437 h 1820456"/>
              <a:gd name="connsiteX130" fmla="*/ 124789 w 1915443"/>
              <a:gd name="connsiteY130" fmla="*/ 934437 h 1820456"/>
              <a:gd name="connsiteX131" fmla="*/ 124789 w 1915443"/>
              <a:gd name="connsiteY131" fmla="*/ 861594 h 1820456"/>
              <a:gd name="connsiteX132" fmla="*/ 720000 w 1915443"/>
              <a:gd name="connsiteY132" fmla="*/ 861594 h 1820456"/>
              <a:gd name="connsiteX133" fmla="*/ 720000 w 1915443"/>
              <a:gd name="connsiteY133" fmla="*/ 789594 h 1820456"/>
              <a:gd name="connsiteX134" fmla="*/ 124789 w 1915443"/>
              <a:gd name="connsiteY134" fmla="*/ 789594 h 1820456"/>
              <a:gd name="connsiteX135" fmla="*/ 124789 w 1915443"/>
              <a:gd name="connsiteY135" fmla="*/ 716751 h 1820456"/>
              <a:gd name="connsiteX136" fmla="*/ 689801 w 1915443"/>
              <a:gd name="connsiteY136" fmla="*/ 716751 h 1820456"/>
              <a:gd name="connsiteX137" fmla="*/ 689801 w 1915443"/>
              <a:gd name="connsiteY137" fmla="*/ 737620 h 1820456"/>
              <a:gd name="connsiteX138" fmla="*/ 926982 w 1915443"/>
              <a:gd name="connsiteY138" fmla="*/ 737620 h 1820456"/>
              <a:gd name="connsiteX139" fmla="*/ 1075996 w 1915443"/>
              <a:gd name="connsiteY139" fmla="*/ 712784 h 1820456"/>
              <a:gd name="connsiteX140" fmla="*/ 1167267 w 1915443"/>
              <a:gd name="connsiteY140" fmla="*/ 655662 h 1820456"/>
              <a:gd name="connsiteX141" fmla="*/ 1202658 w 1915443"/>
              <a:gd name="connsiteY141" fmla="*/ 550111 h 1820456"/>
              <a:gd name="connsiteX142" fmla="*/ 1146778 w 1915443"/>
              <a:gd name="connsiteY142" fmla="*/ 414756 h 1820456"/>
              <a:gd name="connsiteX143" fmla="*/ 936916 w 1915443"/>
              <a:gd name="connsiteY143" fmla="*/ 367568 h 1820456"/>
              <a:gd name="connsiteX144" fmla="*/ 720000 w 1915443"/>
              <a:gd name="connsiteY144" fmla="*/ 367568 h 1820456"/>
              <a:gd name="connsiteX145" fmla="*/ 720000 w 1915443"/>
              <a:gd name="connsiteY145" fmla="*/ 355065 h 1820456"/>
              <a:gd name="connsiteX146" fmla="*/ 124789 w 1915443"/>
              <a:gd name="connsiteY146" fmla="*/ 355065 h 1820456"/>
              <a:gd name="connsiteX147" fmla="*/ 124789 w 1915443"/>
              <a:gd name="connsiteY147" fmla="*/ 282222 h 1820456"/>
              <a:gd name="connsiteX148" fmla="*/ 720000 w 1915443"/>
              <a:gd name="connsiteY148" fmla="*/ 282222 h 1820456"/>
              <a:gd name="connsiteX149" fmla="*/ 720000 w 1915443"/>
              <a:gd name="connsiteY149" fmla="*/ 210222 h 1820456"/>
              <a:gd name="connsiteX150" fmla="*/ 124789 w 1915443"/>
              <a:gd name="connsiteY150" fmla="*/ 210222 h 1820456"/>
              <a:gd name="connsiteX151" fmla="*/ 124789 w 1915443"/>
              <a:gd name="connsiteY151" fmla="*/ 137379 h 1820456"/>
              <a:gd name="connsiteX152" fmla="*/ 720000 w 1915443"/>
              <a:gd name="connsiteY152" fmla="*/ 137379 h 1820456"/>
              <a:gd name="connsiteX153" fmla="*/ 720000 w 1915443"/>
              <a:gd name="connsiteY153" fmla="*/ 65379 h 1820456"/>
              <a:gd name="connsiteX154" fmla="*/ 124789 w 1915443"/>
              <a:gd name="connsiteY154" fmla="*/ 65379 h 1820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1915443" h="1820456">
                <a:moveTo>
                  <a:pt x="124789" y="1730649"/>
                </a:moveTo>
                <a:lnTo>
                  <a:pt x="689801" y="1730649"/>
                </a:lnTo>
                <a:lnTo>
                  <a:pt x="689801" y="1820456"/>
                </a:lnTo>
                <a:lnTo>
                  <a:pt x="124789" y="1820456"/>
                </a:lnTo>
                <a:close/>
                <a:moveTo>
                  <a:pt x="689801" y="1658649"/>
                </a:moveTo>
                <a:lnTo>
                  <a:pt x="720000" y="1658649"/>
                </a:lnTo>
                <a:lnTo>
                  <a:pt x="720000" y="1730649"/>
                </a:lnTo>
                <a:lnTo>
                  <a:pt x="689801" y="1730649"/>
                </a:lnTo>
                <a:close/>
                <a:moveTo>
                  <a:pt x="0" y="1658649"/>
                </a:moveTo>
                <a:lnTo>
                  <a:pt x="124789" y="1658649"/>
                </a:lnTo>
                <a:lnTo>
                  <a:pt x="124789" y="1730649"/>
                </a:lnTo>
                <a:lnTo>
                  <a:pt x="0" y="1730649"/>
                </a:lnTo>
                <a:close/>
                <a:moveTo>
                  <a:pt x="124789" y="1585809"/>
                </a:moveTo>
                <a:lnTo>
                  <a:pt x="689801" y="1585809"/>
                </a:lnTo>
                <a:lnTo>
                  <a:pt x="689801" y="1658649"/>
                </a:lnTo>
                <a:lnTo>
                  <a:pt x="124789" y="1658649"/>
                </a:lnTo>
                <a:close/>
                <a:moveTo>
                  <a:pt x="689801" y="1513809"/>
                </a:moveTo>
                <a:lnTo>
                  <a:pt x="720000" y="1513809"/>
                </a:lnTo>
                <a:lnTo>
                  <a:pt x="720000" y="1585809"/>
                </a:lnTo>
                <a:lnTo>
                  <a:pt x="689801" y="1585809"/>
                </a:lnTo>
                <a:close/>
                <a:moveTo>
                  <a:pt x="0" y="1513809"/>
                </a:moveTo>
                <a:lnTo>
                  <a:pt x="124789" y="1513809"/>
                </a:lnTo>
                <a:lnTo>
                  <a:pt x="124789" y="1585809"/>
                </a:lnTo>
                <a:lnTo>
                  <a:pt x="0" y="1585809"/>
                </a:lnTo>
                <a:close/>
                <a:moveTo>
                  <a:pt x="124789" y="1440966"/>
                </a:moveTo>
                <a:lnTo>
                  <a:pt x="689801" y="1440966"/>
                </a:lnTo>
                <a:lnTo>
                  <a:pt x="689801" y="1513809"/>
                </a:lnTo>
                <a:lnTo>
                  <a:pt x="124789" y="1513809"/>
                </a:lnTo>
                <a:close/>
                <a:moveTo>
                  <a:pt x="689801" y="1368966"/>
                </a:moveTo>
                <a:lnTo>
                  <a:pt x="720000" y="1368966"/>
                </a:lnTo>
                <a:lnTo>
                  <a:pt x="720000" y="1440966"/>
                </a:lnTo>
                <a:lnTo>
                  <a:pt x="689801" y="1440966"/>
                </a:lnTo>
                <a:close/>
                <a:moveTo>
                  <a:pt x="0" y="1368966"/>
                </a:moveTo>
                <a:lnTo>
                  <a:pt x="124789" y="1368966"/>
                </a:lnTo>
                <a:lnTo>
                  <a:pt x="124789" y="1440966"/>
                </a:lnTo>
                <a:lnTo>
                  <a:pt x="0" y="1440966"/>
                </a:lnTo>
                <a:close/>
                <a:moveTo>
                  <a:pt x="124789" y="1296123"/>
                </a:moveTo>
                <a:lnTo>
                  <a:pt x="689801" y="1296123"/>
                </a:lnTo>
                <a:lnTo>
                  <a:pt x="689801" y="1368966"/>
                </a:lnTo>
                <a:lnTo>
                  <a:pt x="124789" y="1368966"/>
                </a:lnTo>
                <a:close/>
                <a:moveTo>
                  <a:pt x="689801" y="1224123"/>
                </a:moveTo>
                <a:lnTo>
                  <a:pt x="720000" y="1224123"/>
                </a:lnTo>
                <a:lnTo>
                  <a:pt x="720000" y="1296123"/>
                </a:lnTo>
                <a:lnTo>
                  <a:pt x="689801" y="1296123"/>
                </a:lnTo>
                <a:close/>
                <a:moveTo>
                  <a:pt x="0" y="1224123"/>
                </a:moveTo>
                <a:lnTo>
                  <a:pt x="124789" y="1224123"/>
                </a:lnTo>
                <a:lnTo>
                  <a:pt x="124789" y="1296123"/>
                </a:lnTo>
                <a:lnTo>
                  <a:pt x="0" y="1296123"/>
                </a:lnTo>
                <a:close/>
                <a:moveTo>
                  <a:pt x="124789" y="1151280"/>
                </a:moveTo>
                <a:lnTo>
                  <a:pt x="689801" y="1151280"/>
                </a:lnTo>
                <a:lnTo>
                  <a:pt x="689801" y="1224123"/>
                </a:lnTo>
                <a:lnTo>
                  <a:pt x="124789" y="1224123"/>
                </a:lnTo>
                <a:close/>
                <a:moveTo>
                  <a:pt x="689801" y="1081594"/>
                </a:moveTo>
                <a:lnTo>
                  <a:pt x="720000" y="1081594"/>
                </a:lnTo>
                <a:lnTo>
                  <a:pt x="720000" y="1151280"/>
                </a:lnTo>
                <a:lnTo>
                  <a:pt x="689801" y="1151280"/>
                </a:lnTo>
                <a:close/>
                <a:moveTo>
                  <a:pt x="0" y="1079280"/>
                </a:moveTo>
                <a:lnTo>
                  <a:pt x="124789" y="1079280"/>
                </a:lnTo>
                <a:lnTo>
                  <a:pt x="124789" y="1151280"/>
                </a:lnTo>
                <a:lnTo>
                  <a:pt x="0" y="1151280"/>
                </a:lnTo>
                <a:close/>
                <a:moveTo>
                  <a:pt x="0" y="934437"/>
                </a:moveTo>
                <a:lnTo>
                  <a:pt x="124789" y="934437"/>
                </a:lnTo>
                <a:lnTo>
                  <a:pt x="124789" y="1006437"/>
                </a:lnTo>
                <a:lnTo>
                  <a:pt x="0" y="1006437"/>
                </a:lnTo>
                <a:close/>
                <a:moveTo>
                  <a:pt x="0" y="789594"/>
                </a:moveTo>
                <a:lnTo>
                  <a:pt x="124789" y="789594"/>
                </a:lnTo>
                <a:lnTo>
                  <a:pt x="124789" y="861594"/>
                </a:lnTo>
                <a:lnTo>
                  <a:pt x="0" y="861594"/>
                </a:lnTo>
                <a:close/>
                <a:moveTo>
                  <a:pt x="689801" y="644751"/>
                </a:moveTo>
                <a:lnTo>
                  <a:pt x="720000" y="644751"/>
                </a:lnTo>
                <a:lnTo>
                  <a:pt x="720000" y="716751"/>
                </a:lnTo>
                <a:lnTo>
                  <a:pt x="689801" y="716751"/>
                </a:lnTo>
                <a:close/>
                <a:moveTo>
                  <a:pt x="0" y="644751"/>
                </a:moveTo>
                <a:lnTo>
                  <a:pt x="124789" y="644751"/>
                </a:lnTo>
                <a:lnTo>
                  <a:pt x="124789" y="716751"/>
                </a:lnTo>
                <a:lnTo>
                  <a:pt x="0" y="716751"/>
                </a:lnTo>
                <a:close/>
                <a:moveTo>
                  <a:pt x="124789" y="571908"/>
                </a:moveTo>
                <a:lnTo>
                  <a:pt x="689801" y="571908"/>
                </a:lnTo>
                <a:lnTo>
                  <a:pt x="689801" y="644751"/>
                </a:lnTo>
                <a:lnTo>
                  <a:pt x="124789" y="644751"/>
                </a:lnTo>
                <a:close/>
                <a:moveTo>
                  <a:pt x="689801" y="499908"/>
                </a:moveTo>
                <a:lnTo>
                  <a:pt x="720000" y="499908"/>
                </a:lnTo>
                <a:lnTo>
                  <a:pt x="720000" y="571908"/>
                </a:lnTo>
                <a:lnTo>
                  <a:pt x="689801" y="571908"/>
                </a:lnTo>
                <a:close/>
                <a:moveTo>
                  <a:pt x="0" y="499908"/>
                </a:moveTo>
                <a:lnTo>
                  <a:pt x="124789" y="499908"/>
                </a:lnTo>
                <a:lnTo>
                  <a:pt x="124789" y="571908"/>
                </a:lnTo>
                <a:lnTo>
                  <a:pt x="0" y="571908"/>
                </a:lnTo>
                <a:close/>
                <a:moveTo>
                  <a:pt x="124789" y="427065"/>
                </a:moveTo>
                <a:lnTo>
                  <a:pt x="689801" y="427065"/>
                </a:lnTo>
                <a:lnTo>
                  <a:pt x="689801" y="499908"/>
                </a:lnTo>
                <a:lnTo>
                  <a:pt x="124789" y="499908"/>
                </a:lnTo>
                <a:close/>
                <a:moveTo>
                  <a:pt x="689801" y="367568"/>
                </a:moveTo>
                <a:lnTo>
                  <a:pt x="720000" y="367568"/>
                </a:lnTo>
                <a:lnTo>
                  <a:pt x="720000" y="427065"/>
                </a:lnTo>
                <a:lnTo>
                  <a:pt x="689801" y="427065"/>
                </a:lnTo>
                <a:close/>
                <a:moveTo>
                  <a:pt x="0" y="355065"/>
                </a:moveTo>
                <a:lnTo>
                  <a:pt x="124789" y="355065"/>
                </a:lnTo>
                <a:lnTo>
                  <a:pt x="124789" y="427065"/>
                </a:lnTo>
                <a:lnTo>
                  <a:pt x="0" y="427065"/>
                </a:lnTo>
                <a:close/>
                <a:moveTo>
                  <a:pt x="0" y="210222"/>
                </a:moveTo>
                <a:lnTo>
                  <a:pt x="124789" y="210222"/>
                </a:lnTo>
                <a:lnTo>
                  <a:pt x="124789" y="282222"/>
                </a:lnTo>
                <a:lnTo>
                  <a:pt x="0" y="282222"/>
                </a:lnTo>
                <a:close/>
                <a:moveTo>
                  <a:pt x="0" y="65379"/>
                </a:moveTo>
                <a:lnTo>
                  <a:pt x="124789" y="65379"/>
                </a:lnTo>
                <a:lnTo>
                  <a:pt x="124789" y="137379"/>
                </a:lnTo>
                <a:lnTo>
                  <a:pt x="0" y="137379"/>
                </a:lnTo>
                <a:close/>
                <a:moveTo>
                  <a:pt x="124789" y="0"/>
                </a:moveTo>
                <a:lnTo>
                  <a:pt x="1062336" y="0"/>
                </a:lnTo>
                <a:cubicBezTo>
                  <a:pt x="1236186" y="0"/>
                  <a:pt x="1369057" y="14901"/>
                  <a:pt x="1460949" y="44704"/>
                </a:cubicBezTo>
                <a:cubicBezTo>
                  <a:pt x="1552841" y="74507"/>
                  <a:pt x="1626935" y="129766"/>
                  <a:pt x="1683229" y="210482"/>
                </a:cubicBezTo>
                <a:cubicBezTo>
                  <a:pt x="1739523" y="291198"/>
                  <a:pt x="1767670" y="389506"/>
                  <a:pt x="1767670" y="505406"/>
                </a:cubicBezTo>
                <a:cubicBezTo>
                  <a:pt x="1767670" y="606405"/>
                  <a:pt x="1746133" y="693537"/>
                  <a:pt x="1703059" y="766802"/>
                </a:cubicBezTo>
                <a:cubicBezTo>
                  <a:pt x="1659984" y="840067"/>
                  <a:pt x="1600760" y="899466"/>
                  <a:pt x="1525386" y="944998"/>
                </a:cubicBezTo>
                <a:cubicBezTo>
                  <a:pt x="1477345" y="973973"/>
                  <a:pt x="1411491" y="997981"/>
                  <a:pt x="1327826" y="1017022"/>
                </a:cubicBezTo>
                <a:cubicBezTo>
                  <a:pt x="1394831" y="1039400"/>
                  <a:pt x="1443642" y="1061771"/>
                  <a:pt x="1474260" y="1084136"/>
                </a:cubicBezTo>
                <a:cubicBezTo>
                  <a:pt x="1494943" y="1099050"/>
                  <a:pt x="1524934" y="1130952"/>
                  <a:pt x="1564231" y="1179841"/>
                </a:cubicBezTo>
                <a:cubicBezTo>
                  <a:pt x="1603528" y="1228730"/>
                  <a:pt x="1629793" y="1266433"/>
                  <a:pt x="1643026" y="1292950"/>
                </a:cubicBezTo>
                <a:lnTo>
                  <a:pt x="1915443" y="1820456"/>
                </a:lnTo>
                <a:lnTo>
                  <a:pt x="1279823" y="1820456"/>
                </a:lnTo>
                <a:lnTo>
                  <a:pt x="979137" y="1264137"/>
                </a:lnTo>
                <a:cubicBezTo>
                  <a:pt x="941055" y="1192113"/>
                  <a:pt x="907113" y="1145339"/>
                  <a:pt x="877311" y="1123815"/>
                </a:cubicBezTo>
                <a:cubicBezTo>
                  <a:pt x="836746" y="1095668"/>
                  <a:pt x="790800" y="1081594"/>
                  <a:pt x="739472" y="1081594"/>
                </a:cubicBezTo>
                <a:lnTo>
                  <a:pt x="720000" y="1081594"/>
                </a:lnTo>
                <a:lnTo>
                  <a:pt x="720000" y="1079280"/>
                </a:lnTo>
                <a:lnTo>
                  <a:pt x="124789" y="1079280"/>
                </a:lnTo>
                <a:lnTo>
                  <a:pt x="124789" y="1006437"/>
                </a:lnTo>
                <a:lnTo>
                  <a:pt x="720000" y="1006437"/>
                </a:lnTo>
                <a:lnTo>
                  <a:pt x="720000" y="934437"/>
                </a:lnTo>
                <a:lnTo>
                  <a:pt x="124789" y="934437"/>
                </a:lnTo>
                <a:lnTo>
                  <a:pt x="124789" y="861594"/>
                </a:lnTo>
                <a:lnTo>
                  <a:pt x="720000" y="861594"/>
                </a:lnTo>
                <a:lnTo>
                  <a:pt x="720000" y="789594"/>
                </a:lnTo>
                <a:lnTo>
                  <a:pt x="124789" y="789594"/>
                </a:lnTo>
                <a:lnTo>
                  <a:pt x="124789" y="716751"/>
                </a:lnTo>
                <a:lnTo>
                  <a:pt x="689801" y="716751"/>
                </a:lnTo>
                <a:lnTo>
                  <a:pt x="689801" y="737620"/>
                </a:lnTo>
                <a:lnTo>
                  <a:pt x="926982" y="737620"/>
                </a:lnTo>
                <a:cubicBezTo>
                  <a:pt x="952645" y="737620"/>
                  <a:pt x="1002317" y="729341"/>
                  <a:pt x="1075996" y="712784"/>
                </a:cubicBezTo>
                <a:cubicBezTo>
                  <a:pt x="1113250" y="705334"/>
                  <a:pt x="1143673" y="686293"/>
                  <a:pt x="1167267" y="655662"/>
                </a:cubicBezTo>
                <a:cubicBezTo>
                  <a:pt x="1190861" y="625032"/>
                  <a:pt x="1202658" y="589848"/>
                  <a:pt x="1202658" y="550111"/>
                </a:cubicBezTo>
                <a:cubicBezTo>
                  <a:pt x="1202658" y="491333"/>
                  <a:pt x="1184031" y="446215"/>
                  <a:pt x="1146778" y="414756"/>
                </a:cubicBezTo>
                <a:cubicBezTo>
                  <a:pt x="1109524" y="383297"/>
                  <a:pt x="1039570" y="367568"/>
                  <a:pt x="936916" y="367568"/>
                </a:cubicBezTo>
                <a:lnTo>
                  <a:pt x="720000" y="367568"/>
                </a:lnTo>
                <a:lnTo>
                  <a:pt x="720000" y="355065"/>
                </a:lnTo>
                <a:lnTo>
                  <a:pt x="124789" y="355065"/>
                </a:lnTo>
                <a:lnTo>
                  <a:pt x="124789" y="282222"/>
                </a:lnTo>
                <a:lnTo>
                  <a:pt x="720000" y="282222"/>
                </a:lnTo>
                <a:lnTo>
                  <a:pt x="720000" y="210222"/>
                </a:lnTo>
                <a:lnTo>
                  <a:pt x="124789" y="210222"/>
                </a:lnTo>
                <a:lnTo>
                  <a:pt x="124789" y="137379"/>
                </a:lnTo>
                <a:lnTo>
                  <a:pt x="720000" y="137379"/>
                </a:lnTo>
                <a:lnTo>
                  <a:pt x="720000" y="65379"/>
                </a:lnTo>
                <a:lnTo>
                  <a:pt x="124789" y="65379"/>
                </a:lnTo>
                <a:close/>
              </a:path>
            </a:pathLst>
          </a:cu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3767118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520CA8E7-E215-4CB2-BCED-802E5CA91FAD}"/>
              </a:ext>
            </a:extLst>
          </p:cNvPr>
          <p:cNvSpPr/>
          <p:nvPr/>
        </p:nvSpPr>
        <p:spPr>
          <a:xfrm>
            <a:off x="40644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r>
              <a:rPr lang="zh-CN" altLang="en-US" dirty="0">
                <a:solidFill>
                  <a:schemeClr val="tx1"/>
                </a:solidFill>
                <a:latin typeface="Roboto" panose="02000000000000000000" pitchFamily="2" charset="0"/>
                <a:ea typeface="微软雅黑 Light" panose="020B0502040204020203" pitchFamily="34" charset="-122"/>
              </a:rPr>
              <a:t>广域网</a:t>
            </a:r>
            <a:r>
              <a:rPr lang="en-US" altLang="zh-CN" dirty="0">
                <a:solidFill>
                  <a:schemeClr val="tx1"/>
                </a:solidFill>
                <a:latin typeface="Roboto" panose="02000000000000000000" pitchFamily="2" charset="0"/>
                <a:ea typeface="微软雅黑 Light" panose="020B0502040204020203" pitchFamily="34" charset="-122"/>
              </a:rPr>
              <a:t> : WAN - Wide Area Network</a:t>
            </a:r>
          </a:p>
          <a:p>
            <a:r>
              <a:rPr lang="zh-CN" altLang="en-US" dirty="0">
                <a:solidFill>
                  <a:schemeClr val="tx1"/>
                </a:solidFill>
                <a:latin typeface="Roboto" panose="02000000000000000000" pitchFamily="2" charset="0"/>
                <a:ea typeface="微软雅黑 Light" panose="020B0502040204020203" pitchFamily="34" charset="-122"/>
              </a:rPr>
              <a:t>城域网</a:t>
            </a:r>
            <a:r>
              <a:rPr lang="en-US" altLang="zh-CN" dirty="0">
                <a:solidFill>
                  <a:schemeClr val="tx1"/>
                </a:solidFill>
                <a:latin typeface="Roboto" panose="02000000000000000000" pitchFamily="2" charset="0"/>
                <a:ea typeface="微软雅黑 Light" panose="020B0502040204020203" pitchFamily="34" charset="-122"/>
              </a:rPr>
              <a:t> : MAN - Metropolitan Area Network</a:t>
            </a:r>
          </a:p>
          <a:p>
            <a:r>
              <a:rPr lang="zh-CN" altLang="en-US" dirty="0">
                <a:solidFill>
                  <a:schemeClr val="tx1"/>
                </a:solidFill>
                <a:latin typeface="Roboto" panose="02000000000000000000" pitchFamily="2" charset="0"/>
                <a:ea typeface="微软雅黑 Light" panose="020B0502040204020203" pitchFamily="34" charset="-122"/>
              </a:rPr>
              <a:t>局域网</a:t>
            </a:r>
            <a:r>
              <a:rPr lang="en-US" altLang="zh-CN" dirty="0">
                <a:solidFill>
                  <a:schemeClr val="tx1"/>
                </a:solidFill>
                <a:latin typeface="Roboto" panose="02000000000000000000" pitchFamily="2" charset="0"/>
                <a:ea typeface="微软雅黑 Light" panose="020B0502040204020203" pitchFamily="34" charset="-122"/>
              </a:rPr>
              <a:t> : LAN - local Area Network</a:t>
            </a:r>
          </a:p>
          <a:p>
            <a:r>
              <a:rPr lang="zh-CN" altLang="en-US" dirty="0">
                <a:solidFill>
                  <a:schemeClr val="tx1"/>
                </a:solidFill>
                <a:latin typeface="Roboto" panose="02000000000000000000" pitchFamily="2" charset="0"/>
                <a:ea typeface="微软雅黑 Light" panose="020B0502040204020203" pitchFamily="34" charset="-122"/>
              </a:rPr>
              <a:t>个域网</a:t>
            </a:r>
            <a:r>
              <a:rPr lang="en-US" altLang="zh-CN" dirty="0">
                <a:solidFill>
                  <a:schemeClr val="tx1"/>
                </a:solidFill>
                <a:latin typeface="Roboto" panose="02000000000000000000" pitchFamily="2" charset="0"/>
                <a:ea typeface="微软雅黑 Light" panose="020B0502040204020203" pitchFamily="34" charset="-122"/>
              </a:rPr>
              <a:t> : PAN - Personal Area Network</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7" name="矩形 6">
            <a:extLst>
              <a:ext uri="{FF2B5EF4-FFF2-40B4-BE49-F238E27FC236}">
                <a16:creationId xmlns:a16="http://schemas.microsoft.com/office/drawing/2014/main" id="{759CAD07-0E92-4117-849E-4E6BC36D223E}"/>
              </a:ext>
            </a:extLst>
          </p:cNvPr>
          <p:cNvSpPr/>
          <p:nvPr/>
        </p:nvSpPr>
        <p:spPr>
          <a:xfrm>
            <a:off x="638556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r>
              <a:rPr lang="zh-CN" altLang="en-US" dirty="0">
                <a:solidFill>
                  <a:schemeClr val="tx1"/>
                </a:solidFill>
                <a:latin typeface="Roboto" panose="02000000000000000000" pitchFamily="2" charset="0"/>
                <a:ea typeface="微软雅黑 Light" panose="020B0502040204020203" pitchFamily="34" charset="-122"/>
              </a:rPr>
              <a:t>公用网 </a:t>
            </a:r>
            <a:r>
              <a:rPr lang="en-US" altLang="zh-CN" dirty="0">
                <a:solidFill>
                  <a:schemeClr val="tx1"/>
                </a:solidFill>
                <a:latin typeface="Roboto" panose="02000000000000000000" pitchFamily="2" charset="0"/>
                <a:ea typeface="微软雅黑 Light" panose="020B0502040204020203" pitchFamily="34" charset="-122"/>
              </a:rPr>
              <a:t>- Public network</a:t>
            </a:r>
          </a:p>
          <a:p>
            <a:r>
              <a:rPr lang="zh-CN" altLang="en-US" dirty="0">
                <a:solidFill>
                  <a:schemeClr val="tx1"/>
                </a:solidFill>
                <a:latin typeface="Roboto" panose="02000000000000000000" pitchFamily="2" charset="0"/>
                <a:ea typeface="微软雅黑 Light" panose="020B0502040204020203" pitchFamily="34" charset="-122"/>
              </a:rPr>
              <a:t>私有网 </a:t>
            </a:r>
            <a:r>
              <a:rPr lang="en-US" altLang="zh-CN" dirty="0">
                <a:solidFill>
                  <a:schemeClr val="tx1"/>
                </a:solidFill>
                <a:latin typeface="Roboto" panose="02000000000000000000" pitchFamily="2" charset="0"/>
                <a:ea typeface="微软雅黑 Light" panose="020B0502040204020203" pitchFamily="34" charset="-122"/>
              </a:rPr>
              <a:t>- Private network</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2" name="文本占位符 1">
            <a:extLst>
              <a:ext uri="{FF2B5EF4-FFF2-40B4-BE49-F238E27FC236}">
                <a16:creationId xmlns:a16="http://schemas.microsoft.com/office/drawing/2014/main" id="{DF88A36F-83EE-4756-A3E7-B8A799B2C528}"/>
              </a:ext>
            </a:extLst>
          </p:cNvPr>
          <p:cNvSpPr>
            <a:spLocks noGrp="1"/>
          </p:cNvSpPr>
          <p:nvPr>
            <p:ph type="body" sz="quarter" idx="4294967295"/>
          </p:nvPr>
        </p:nvSpPr>
        <p:spPr>
          <a:xfrm>
            <a:off x="1604961" y="260538"/>
            <a:ext cx="6088307" cy="463846"/>
          </a:xfrm>
        </p:spPr>
        <p:txBody>
          <a:bodyPr/>
          <a:lstStyle/>
          <a:p>
            <a:r>
              <a:rPr lang="zh-CN" altLang="en-US" dirty="0"/>
              <a:t>类别</a:t>
            </a:r>
          </a:p>
        </p:txBody>
      </p:sp>
      <p:sp>
        <p:nvSpPr>
          <p:cNvPr id="3" name="文本占位符 2">
            <a:extLst>
              <a:ext uri="{FF2B5EF4-FFF2-40B4-BE49-F238E27FC236}">
                <a16:creationId xmlns:a16="http://schemas.microsoft.com/office/drawing/2014/main" id="{31F46747-21B0-4056-91EC-B820B7BBE844}"/>
              </a:ext>
            </a:extLst>
          </p:cNvPr>
          <p:cNvSpPr>
            <a:spLocks noGrp="1"/>
          </p:cNvSpPr>
          <p:nvPr>
            <p:ph type="body" sz="quarter" idx="14"/>
          </p:nvPr>
        </p:nvSpPr>
        <p:spPr/>
        <p:txBody>
          <a:bodyPr/>
          <a:lstStyle/>
          <a:p>
            <a:r>
              <a:rPr lang="en-US" altLang="zh-CN" dirty="0"/>
              <a:t>Classification </a:t>
            </a:r>
            <a:endParaRPr lang="zh-CN" altLang="en-US" dirty="0"/>
          </a:p>
        </p:txBody>
      </p:sp>
      <p:sp>
        <p:nvSpPr>
          <p:cNvPr id="4" name="文本占位符 3">
            <a:extLst>
              <a:ext uri="{FF2B5EF4-FFF2-40B4-BE49-F238E27FC236}">
                <a16:creationId xmlns:a16="http://schemas.microsoft.com/office/drawing/2014/main" id="{F7656B12-8A5E-4B15-AE6F-F199F75EDCDF}"/>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6</a:t>
            </a:r>
            <a:endParaRPr lang="zh-CN" altLang="en-US" dirty="0"/>
          </a:p>
        </p:txBody>
      </p:sp>
      <p:sp>
        <p:nvSpPr>
          <p:cNvPr id="5" name="矩形: 圆角 4">
            <a:extLst>
              <a:ext uri="{FF2B5EF4-FFF2-40B4-BE49-F238E27FC236}">
                <a16:creationId xmlns:a16="http://schemas.microsoft.com/office/drawing/2014/main" id="{AEC42E02-9E14-433C-B1F7-691A8F2053A9}"/>
              </a:ext>
            </a:extLst>
          </p:cNvPr>
          <p:cNvSpPr/>
          <p:nvPr/>
        </p:nvSpPr>
        <p:spPr>
          <a:xfrm>
            <a:off x="40732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Roboto" panose="02000000000000000000" pitchFamily="2" charset="0"/>
              </a:rPr>
              <a:t>Range</a:t>
            </a:r>
            <a:endParaRPr lang="zh-CN" altLang="en-US" sz="1600" dirty="0">
              <a:latin typeface="Roboto" panose="02000000000000000000" pitchFamily="2" charset="0"/>
            </a:endParaRPr>
          </a:p>
        </p:txBody>
      </p:sp>
      <p:sp>
        <p:nvSpPr>
          <p:cNvPr id="8" name="矩形: 圆角 7">
            <a:extLst>
              <a:ext uri="{FF2B5EF4-FFF2-40B4-BE49-F238E27FC236}">
                <a16:creationId xmlns:a16="http://schemas.microsoft.com/office/drawing/2014/main" id="{631B53B0-B23C-456E-A037-CFFD271E3677}"/>
              </a:ext>
            </a:extLst>
          </p:cNvPr>
          <p:cNvSpPr/>
          <p:nvPr/>
        </p:nvSpPr>
        <p:spPr>
          <a:xfrm>
            <a:off x="638644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Roboto" panose="02000000000000000000" pitchFamily="2" charset="0"/>
              </a:rPr>
              <a:t>Belong</a:t>
            </a:r>
            <a:endParaRPr lang="zh-CN" altLang="en-US" sz="1600" dirty="0">
              <a:latin typeface="Roboto" panose="02000000000000000000" pitchFamily="2" charset="0"/>
            </a:endParaRPr>
          </a:p>
        </p:txBody>
      </p:sp>
    </p:spTree>
    <p:extLst>
      <p:ext uri="{BB962C8B-B14F-4D97-AF65-F5344CB8AC3E}">
        <p14:creationId xmlns:p14="http://schemas.microsoft.com/office/powerpoint/2010/main" val="42074672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矩形: 圆角 11">
            <a:hlinkClick r:id="rId2" action="ppaction://hlinkfile"/>
            <a:extLst>
              <a:ext uri="{FF2B5EF4-FFF2-40B4-BE49-F238E27FC236}">
                <a16:creationId xmlns:a16="http://schemas.microsoft.com/office/drawing/2014/main" id="{BB6DCB70-C4A0-434B-A681-9EA19FC90043}"/>
              </a:ext>
            </a:extLst>
          </p:cNvPr>
          <p:cNvSpPr/>
          <p:nvPr/>
        </p:nvSpPr>
        <p:spPr>
          <a:xfrm>
            <a:off x="2957251" y="233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Rate</a:t>
            </a:r>
            <a:endParaRPr lang="zh-CN" altLang="en-US" dirty="0">
              <a:latin typeface="Roboto" panose="02000000000000000000" pitchFamily="2" charset="0"/>
              <a:ea typeface="微软雅黑 Light" panose="020B0502040204020203" pitchFamily="34" charset="-122"/>
            </a:endParaRPr>
          </a:p>
        </p:txBody>
      </p:sp>
      <p:sp>
        <p:nvSpPr>
          <p:cNvPr id="13" name="矩形: 圆角 12">
            <a:hlinkClick r:id="rId2" action="ppaction://hlinkfile"/>
            <a:extLst>
              <a:ext uri="{FF2B5EF4-FFF2-40B4-BE49-F238E27FC236}">
                <a16:creationId xmlns:a16="http://schemas.microsoft.com/office/drawing/2014/main" id="{4AF0E7A4-B423-4E6F-9E96-92CC5F2365E8}"/>
              </a:ext>
            </a:extLst>
          </p:cNvPr>
          <p:cNvSpPr/>
          <p:nvPr/>
        </p:nvSpPr>
        <p:spPr>
          <a:xfrm>
            <a:off x="2957251" y="3020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Bandwidth</a:t>
            </a:r>
            <a:endParaRPr lang="zh-CN" altLang="en-US" dirty="0">
              <a:latin typeface="Roboto" panose="02000000000000000000" pitchFamily="2" charset="0"/>
              <a:ea typeface="微软雅黑 Light" panose="020B0502040204020203" pitchFamily="34" charset="-122"/>
            </a:endParaRPr>
          </a:p>
        </p:txBody>
      </p:sp>
      <p:sp>
        <p:nvSpPr>
          <p:cNvPr id="15" name="矩形: 圆角 14">
            <a:hlinkClick r:id="rId2" action="ppaction://hlinkfile"/>
            <a:extLst>
              <a:ext uri="{FF2B5EF4-FFF2-40B4-BE49-F238E27FC236}">
                <a16:creationId xmlns:a16="http://schemas.microsoft.com/office/drawing/2014/main" id="{432E45F3-69AA-4244-826C-CE7EE0F4BA39}"/>
              </a:ext>
            </a:extLst>
          </p:cNvPr>
          <p:cNvSpPr/>
          <p:nvPr/>
        </p:nvSpPr>
        <p:spPr>
          <a:xfrm>
            <a:off x="2957251" y="3704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Throughput</a:t>
            </a:r>
            <a:endParaRPr lang="zh-CN" altLang="en-US" dirty="0">
              <a:latin typeface="Roboto" panose="02000000000000000000" pitchFamily="2" charset="0"/>
              <a:ea typeface="微软雅黑 Light" panose="020B0502040204020203" pitchFamily="34" charset="-122"/>
            </a:endParaRPr>
          </a:p>
        </p:txBody>
      </p:sp>
      <p:sp>
        <p:nvSpPr>
          <p:cNvPr id="17" name="矩形: 圆角 16">
            <a:hlinkClick r:id="rId2" action="ppaction://hlinkfile"/>
            <a:extLst>
              <a:ext uri="{FF2B5EF4-FFF2-40B4-BE49-F238E27FC236}">
                <a16:creationId xmlns:a16="http://schemas.microsoft.com/office/drawing/2014/main" id="{C0B5C0AE-358D-45BD-9BDC-D91E05E2D40D}"/>
              </a:ext>
            </a:extLst>
          </p:cNvPr>
          <p:cNvSpPr/>
          <p:nvPr/>
        </p:nvSpPr>
        <p:spPr>
          <a:xfrm>
            <a:off x="2957251" y="438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Delay</a:t>
            </a:r>
            <a:endParaRPr lang="zh-CN" altLang="en-US" dirty="0">
              <a:latin typeface="Roboto" panose="02000000000000000000" pitchFamily="2" charset="0"/>
              <a:ea typeface="微软雅黑 Light" panose="020B0502040204020203" pitchFamily="34" charset="-122"/>
            </a:endParaRPr>
          </a:p>
        </p:txBody>
      </p:sp>
      <p:sp>
        <p:nvSpPr>
          <p:cNvPr id="19" name="矩形: 圆角 18">
            <a:hlinkClick r:id="rId2" action="ppaction://hlinkfile"/>
            <a:extLst>
              <a:ext uri="{FF2B5EF4-FFF2-40B4-BE49-F238E27FC236}">
                <a16:creationId xmlns:a16="http://schemas.microsoft.com/office/drawing/2014/main" id="{A1DE3415-FAF2-4FF4-9237-83F6CED0C9DA}"/>
              </a:ext>
            </a:extLst>
          </p:cNvPr>
          <p:cNvSpPr/>
          <p:nvPr/>
        </p:nvSpPr>
        <p:spPr>
          <a:xfrm>
            <a:off x="6096000" y="267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Band Delay Production</a:t>
            </a:r>
            <a:endParaRPr lang="zh-CN" altLang="en-US" dirty="0">
              <a:latin typeface="Roboto" panose="02000000000000000000" pitchFamily="2" charset="0"/>
              <a:ea typeface="微软雅黑 Light" panose="020B0502040204020203" pitchFamily="34" charset="-122"/>
            </a:endParaRPr>
          </a:p>
        </p:txBody>
      </p:sp>
      <p:sp>
        <p:nvSpPr>
          <p:cNvPr id="21" name="矩形: 圆角 20">
            <a:hlinkClick r:id="rId2" action="ppaction://hlinkfile"/>
            <a:extLst>
              <a:ext uri="{FF2B5EF4-FFF2-40B4-BE49-F238E27FC236}">
                <a16:creationId xmlns:a16="http://schemas.microsoft.com/office/drawing/2014/main" id="{220B2F76-D55C-4A3B-A5C3-102EDB0193E0}"/>
              </a:ext>
            </a:extLst>
          </p:cNvPr>
          <p:cNvSpPr/>
          <p:nvPr/>
        </p:nvSpPr>
        <p:spPr>
          <a:xfrm>
            <a:off x="6096000" y="3362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Round-Trip Time</a:t>
            </a:r>
            <a:endParaRPr lang="zh-CN" altLang="en-US" dirty="0">
              <a:latin typeface="Roboto" panose="02000000000000000000" pitchFamily="2" charset="0"/>
              <a:ea typeface="微软雅黑 Light" panose="020B0502040204020203" pitchFamily="34" charset="-122"/>
            </a:endParaRPr>
          </a:p>
        </p:txBody>
      </p:sp>
      <p:sp>
        <p:nvSpPr>
          <p:cNvPr id="23" name="矩形: 圆角 22">
            <a:hlinkClick r:id="rId2" action="ppaction://hlinkfile"/>
            <a:extLst>
              <a:ext uri="{FF2B5EF4-FFF2-40B4-BE49-F238E27FC236}">
                <a16:creationId xmlns:a16="http://schemas.microsoft.com/office/drawing/2014/main" id="{C643F00A-FE79-4D96-A5D2-5B9071DB3B57}"/>
              </a:ext>
            </a:extLst>
          </p:cNvPr>
          <p:cNvSpPr/>
          <p:nvPr/>
        </p:nvSpPr>
        <p:spPr>
          <a:xfrm>
            <a:off x="6096000" y="404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Utilization</a:t>
            </a:r>
            <a:endParaRPr lang="zh-CN" altLang="en-US" dirty="0">
              <a:latin typeface="Roboto" panose="020000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CA8BA10E-DF11-412F-8BEE-AB7CD9DB5F62}"/>
              </a:ext>
            </a:extLst>
          </p:cNvPr>
          <p:cNvSpPr txBox="1"/>
          <p:nvPr/>
        </p:nvSpPr>
        <p:spPr>
          <a:xfrm>
            <a:off x="1604961" y="2407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速率</a:t>
            </a:r>
          </a:p>
        </p:txBody>
      </p:sp>
      <p:sp>
        <p:nvSpPr>
          <p:cNvPr id="27" name="文本框 26">
            <a:extLst>
              <a:ext uri="{FF2B5EF4-FFF2-40B4-BE49-F238E27FC236}">
                <a16:creationId xmlns:a16="http://schemas.microsoft.com/office/drawing/2014/main" id="{4381CE42-96D9-4B8C-960F-567DEC5AE321}"/>
              </a:ext>
            </a:extLst>
          </p:cNvPr>
          <p:cNvSpPr txBox="1"/>
          <p:nvPr/>
        </p:nvSpPr>
        <p:spPr>
          <a:xfrm>
            <a:off x="1604961" y="3091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带宽</a:t>
            </a:r>
          </a:p>
        </p:txBody>
      </p:sp>
      <p:sp>
        <p:nvSpPr>
          <p:cNvPr id="28" name="文本框 27">
            <a:extLst>
              <a:ext uri="{FF2B5EF4-FFF2-40B4-BE49-F238E27FC236}">
                <a16:creationId xmlns:a16="http://schemas.microsoft.com/office/drawing/2014/main" id="{B60B4401-1E92-4C2A-86FE-C56C8FA8151F}"/>
              </a:ext>
            </a:extLst>
          </p:cNvPr>
          <p:cNvSpPr txBox="1"/>
          <p:nvPr/>
        </p:nvSpPr>
        <p:spPr>
          <a:xfrm>
            <a:off x="1481171" y="3777427"/>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吞吐量</a:t>
            </a:r>
          </a:p>
        </p:txBody>
      </p:sp>
      <p:sp>
        <p:nvSpPr>
          <p:cNvPr id="29" name="文本框 28">
            <a:extLst>
              <a:ext uri="{FF2B5EF4-FFF2-40B4-BE49-F238E27FC236}">
                <a16:creationId xmlns:a16="http://schemas.microsoft.com/office/drawing/2014/main" id="{094CEA58-FE9D-487E-BA86-BCBD5750B8BD}"/>
              </a:ext>
            </a:extLst>
          </p:cNvPr>
          <p:cNvSpPr txBox="1"/>
          <p:nvPr/>
        </p:nvSpPr>
        <p:spPr>
          <a:xfrm>
            <a:off x="1596587" y="4459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a:t>
            </a:r>
          </a:p>
        </p:txBody>
      </p:sp>
      <p:sp>
        <p:nvSpPr>
          <p:cNvPr id="30" name="文本框 29">
            <a:extLst>
              <a:ext uri="{FF2B5EF4-FFF2-40B4-BE49-F238E27FC236}">
                <a16:creationId xmlns:a16="http://schemas.microsoft.com/office/drawing/2014/main" id="{57898FBA-DDA6-4B26-A8ED-D3CB5615A95E}"/>
              </a:ext>
            </a:extLst>
          </p:cNvPr>
          <p:cNvSpPr txBox="1"/>
          <p:nvPr/>
        </p:nvSpPr>
        <p:spPr>
          <a:xfrm>
            <a:off x="9745489" y="2749552"/>
            <a:ext cx="1338828"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时延带宽积</a:t>
            </a:r>
          </a:p>
        </p:txBody>
      </p:sp>
      <p:sp>
        <p:nvSpPr>
          <p:cNvPr id="31" name="文本框 30">
            <a:extLst>
              <a:ext uri="{FF2B5EF4-FFF2-40B4-BE49-F238E27FC236}">
                <a16:creationId xmlns:a16="http://schemas.microsoft.com/office/drawing/2014/main" id="{D12DA253-BD3B-4BDF-A40E-1DA582015B67}"/>
              </a:ext>
            </a:extLst>
          </p:cNvPr>
          <p:cNvSpPr txBox="1"/>
          <p:nvPr/>
        </p:nvSpPr>
        <p:spPr>
          <a:xfrm>
            <a:off x="9860904" y="3433552"/>
            <a:ext cx="1107997"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往返时间</a:t>
            </a:r>
          </a:p>
        </p:txBody>
      </p:sp>
      <p:sp>
        <p:nvSpPr>
          <p:cNvPr id="32" name="文本框 31">
            <a:extLst>
              <a:ext uri="{FF2B5EF4-FFF2-40B4-BE49-F238E27FC236}">
                <a16:creationId xmlns:a16="http://schemas.microsoft.com/office/drawing/2014/main" id="{E7C85EC7-4539-4EAE-A98A-CE239522537E}"/>
              </a:ext>
            </a:extLst>
          </p:cNvPr>
          <p:cNvSpPr txBox="1"/>
          <p:nvPr/>
        </p:nvSpPr>
        <p:spPr>
          <a:xfrm>
            <a:off x="9976324" y="4117552"/>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利用率</a:t>
            </a:r>
          </a:p>
        </p:txBody>
      </p:sp>
      <p:cxnSp>
        <p:nvCxnSpPr>
          <p:cNvPr id="6" name="直接箭头连接符 5">
            <a:extLst>
              <a:ext uri="{FF2B5EF4-FFF2-40B4-BE49-F238E27FC236}">
                <a16:creationId xmlns:a16="http://schemas.microsoft.com/office/drawing/2014/main" id="{D2CB21F7-4EBE-4B77-8123-CE1FDABE2A65}"/>
              </a:ext>
            </a:extLst>
          </p:cNvPr>
          <p:cNvCxnSpPr>
            <a:stCxn id="25" idx="3"/>
            <a:endCxn id="12" idx="1"/>
          </p:cNvCxnSpPr>
          <p:nvPr/>
        </p:nvCxnSpPr>
        <p:spPr>
          <a:xfrm>
            <a:off x="2251292" y="2592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64B6373C-497C-461B-94B8-3211B871721C}"/>
              </a:ext>
            </a:extLst>
          </p:cNvPr>
          <p:cNvCxnSpPr>
            <a:stCxn id="27" idx="3"/>
            <a:endCxn id="13" idx="1"/>
          </p:cNvCxnSpPr>
          <p:nvPr/>
        </p:nvCxnSpPr>
        <p:spPr>
          <a:xfrm>
            <a:off x="2251292" y="3276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8E533093-FD89-4351-973B-614BC047AC44}"/>
              </a:ext>
            </a:extLst>
          </p:cNvPr>
          <p:cNvCxnSpPr>
            <a:stCxn id="28" idx="3"/>
            <a:endCxn id="15" idx="1"/>
          </p:cNvCxnSpPr>
          <p:nvPr/>
        </p:nvCxnSpPr>
        <p:spPr>
          <a:xfrm flipV="1">
            <a:off x="2358335" y="3960219"/>
            <a:ext cx="598916" cy="1874"/>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3" name="直接箭头连接符 32">
            <a:extLst>
              <a:ext uri="{FF2B5EF4-FFF2-40B4-BE49-F238E27FC236}">
                <a16:creationId xmlns:a16="http://schemas.microsoft.com/office/drawing/2014/main" id="{6F6D1F8D-BE26-40CA-AB33-4C19B0399CD2}"/>
              </a:ext>
            </a:extLst>
          </p:cNvPr>
          <p:cNvCxnSpPr>
            <a:stCxn id="29" idx="3"/>
            <a:endCxn id="17" idx="1"/>
          </p:cNvCxnSpPr>
          <p:nvPr/>
        </p:nvCxnSpPr>
        <p:spPr>
          <a:xfrm>
            <a:off x="2242918" y="4644218"/>
            <a:ext cx="714333"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a:extLst>
              <a:ext uri="{FF2B5EF4-FFF2-40B4-BE49-F238E27FC236}">
                <a16:creationId xmlns:a16="http://schemas.microsoft.com/office/drawing/2014/main" id="{D4CE1742-630A-47D8-ADC5-6355003CE95A}"/>
              </a:ext>
            </a:extLst>
          </p:cNvPr>
          <p:cNvCxnSpPr>
            <a:stCxn id="30" idx="1"/>
            <a:endCxn id="19" idx="3"/>
          </p:cNvCxnSpPr>
          <p:nvPr/>
        </p:nvCxnSpPr>
        <p:spPr>
          <a:xfrm flipH="1">
            <a:off x="9012000" y="2934218"/>
            <a:ext cx="73348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a:extLst>
              <a:ext uri="{FF2B5EF4-FFF2-40B4-BE49-F238E27FC236}">
                <a16:creationId xmlns:a16="http://schemas.microsoft.com/office/drawing/2014/main" id="{6A67AD2D-B8E2-4F4B-9218-4D09BFD328CB}"/>
              </a:ext>
            </a:extLst>
          </p:cNvPr>
          <p:cNvCxnSpPr>
            <a:stCxn id="31" idx="1"/>
            <a:endCxn id="21" idx="3"/>
          </p:cNvCxnSpPr>
          <p:nvPr/>
        </p:nvCxnSpPr>
        <p:spPr>
          <a:xfrm flipH="1">
            <a:off x="9012000" y="3618218"/>
            <a:ext cx="84890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a:extLst>
              <a:ext uri="{FF2B5EF4-FFF2-40B4-BE49-F238E27FC236}">
                <a16:creationId xmlns:a16="http://schemas.microsoft.com/office/drawing/2014/main" id="{877412AB-F983-44BC-BFB4-D12CAF28FFC7}"/>
              </a:ext>
            </a:extLst>
          </p:cNvPr>
          <p:cNvCxnSpPr>
            <a:stCxn id="32" idx="1"/>
            <a:endCxn id="23" idx="3"/>
          </p:cNvCxnSpPr>
          <p:nvPr/>
        </p:nvCxnSpPr>
        <p:spPr>
          <a:xfrm flipH="1">
            <a:off x="9012000" y="4302218"/>
            <a:ext cx="96432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723177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1B0BD403-4F7F-4161-B998-140E156E69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速率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Rate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7467109"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数据的传输速率，即每秒传输多少个比特；</a:t>
            </a:r>
            <a:r>
              <a:rPr lang="zh-CN" altLang="en-US" sz="2000" b="1" dirty="0">
                <a:solidFill>
                  <a:srgbClr val="CC0000"/>
                </a:solidFill>
                <a:latin typeface="微软雅黑 Light" panose="020B0502040204020203" pitchFamily="34" charset="-122"/>
                <a:ea typeface="微软雅黑 Light" panose="020B0502040204020203" pitchFamily="34" charset="-122"/>
              </a:rPr>
              <a:t>标称</a:t>
            </a:r>
            <a:r>
              <a:rPr lang="en-US" altLang="zh-CN" sz="2000" b="1" dirty="0">
                <a:solidFill>
                  <a:srgbClr val="CC0000"/>
                </a:solidFill>
                <a:latin typeface="微软雅黑 Light" panose="020B0502040204020203" pitchFamily="34" charset="-122"/>
                <a:ea typeface="微软雅黑 Light" panose="020B0502040204020203" pitchFamily="34" charset="-122"/>
              </a:rPr>
              <a:t>/</a:t>
            </a:r>
            <a:r>
              <a:rPr lang="zh-CN" altLang="en-US" sz="2000" b="1" dirty="0">
                <a:solidFill>
                  <a:srgbClr val="CC0000"/>
                </a:solidFill>
                <a:latin typeface="微软雅黑 Light" panose="020B0502040204020203" pitchFamily="34" charset="-122"/>
                <a:ea typeface="微软雅黑 Light" panose="020B0502040204020203" pitchFamily="34" charset="-122"/>
              </a:rPr>
              <a:t>额定速率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solidFill>
                  <a:schemeClr val="tx1"/>
                </a:solidFill>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Roboto" panose="02000000000000000000" pitchFamily="2" charset="0"/>
                <a:ea typeface="微软雅黑 Light" panose="020B0502040204020203" pitchFamily="34" charset="-122"/>
              </a:rPr>
              <a:t>bit/</a:t>
            </a:r>
            <a:r>
              <a:rPr lang="en-US" altLang="zh-CN" sz="2000" dirty="0">
                <a:latin typeface="Roboto" panose="02000000000000000000" pitchFamily="2" charset="0"/>
                <a:ea typeface="微软雅黑 Light" panose="020B0502040204020203" pitchFamily="34" charset="-122"/>
              </a:rPr>
              <a:t>s </a:t>
            </a:r>
            <a:r>
              <a:rPr lang="zh-CN" altLang="en-US" sz="2000" dirty="0">
                <a:latin typeface="Roboto" panose="02000000000000000000" pitchFamily="2" charset="0"/>
                <a:ea typeface="微软雅黑 Light" panose="020B0502040204020203" pitchFamily="34" charset="-122"/>
              </a:rPr>
              <a:t>或 </a:t>
            </a:r>
            <a:r>
              <a:rPr lang="en-US" altLang="zh-CN" sz="2000" dirty="0">
                <a:latin typeface="Roboto" panose="02000000000000000000" pitchFamily="2" charset="0"/>
                <a:ea typeface="微软雅黑 Light" panose="020B0502040204020203" pitchFamily="34" charset="-122"/>
              </a:rPr>
              <a:t>bps</a:t>
            </a:r>
            <a:r>
              <a:rPr lang="zh-CN" altLang="en-US" sz="2000" dirty="0">
                <a:latin typeface="Roboto" panose="02000000000000000000" pitchFamily="2" charset="0"/>
                <a:ea typeface="微软雅黑 Light" panose="020B0502040204020203" pitchFamily="34" charset="-122"/>
              </a:rPr>
              <a:t>（</a:t>
            </a:r>
            <a:r>
              <a:rPr lang="en-US" altLang="zh-CN" sz="2000" dirty="0">
                <a:latin typeface="Roboto" panose="02000000000000000000" pitchFamily="2" charset="0"/>
                <a:ea typeface="微软雅黑 Light" panose="020B0502040204020203" pitchFamily="34" charset="-122"/>
              </a:rPr>
              <a:t>bit percent second</a:t>
            </a:r>
            <a:r>
              <a:rPr lang="zh-CN" altLang="en-US" sz="2000" dirty="0">
                <a:latin typeface="Roboto" panose="02000000000000000000" pitchFamily="2" charset="0"/>
                <a:ea typeface="微软雅黑 Light" panose="020B0502040204020203" pitchFamily="34" charset="-122"/>
              </a:rPr>
              <a:t>）</a:t>
            </a:r>
            <a:endParaRPr lang="en-US" altLang="zh-CN" sz="2000"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5275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带宽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Bandwidth</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8618065"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含义：某信道传输数据的能力：单位</a:t>
            </a:r>
            <a:r>
              <a:rPr lang="zh-CN" altLang="en-US" sz="2000" dirty="0">
                <a:solidFill>
                  <a:schemeClr val="tx1"/>
                </a:solidFill>
                <a:latin typeface="微软雅黑 Light" panose="020B0502040204020203" pitchFamily="34" charset="-122"/>
                <a:ea typeface="微软雅黑 Light" panose="020B0502040204020203" pitchFamily="34" charset="-122"/>
              </a:rPr>
              <a:t>时间内能通过的</a:t>
            </a:r>
            <a:r>
              <a:rPr lang="zh-CN" altLang="en-US" sz="2000" b="1" dirty="0">
                <a:solidFill>
                  <a:srgbClr val="CC0000"/>
                </a:solidFill>
                <a:latin typeface="微软雅黑 Light" panose="020B0502040204020203" pitchFamily="34" charset="-122"/>
                <a:ea typeface="微软雅黑 Light" panose="020B0502040204020203" pitchFamily="34" charset="-122"/>
              </a:rPr>
              <a:t>最高速率</a:t>
            </a:r>
            <a:r>
              <a:rPr lang="zh-CN" altLang="en-US" sz="2000" dirty="0">
                <a:solidFill>
                  <a:schemeClr val="tx1"/>
                </a:solidFill>
                <a:latin typeface="微软雅黑 Light" panose="020B0502040204020203" pitchFamily="34" charset="-122"/>
                <a:ea typeface="微软雅黑 Light" panose="020B0502040204020203" pitchFamily="34" charset="-122"/>
              </a:rPr>
              <a:t>，即：</a:t>
            </a:r>
            <a:r>
              <a:rPr lang="en-US" altLang="zh-CN" sz="2000" dirty="0" err="1">
                <a:solidFill>
                  <a:schemeClr val="tx1"/>
                </a:solidFill>
                <a:latin typeface="微软雅黑 Light" panose="020B0502040204020203" pitchFamily="34" charset="-122"/>
                <a:ea typeface="微软雅黑 Light" panose="020B0502040204020203" pitchFamily="34" charset="-122"/>
              </a:rPr>
              <a:t>bps</a:t>
            </a:r>
            <a:r>
              <a:rPr lang="en-US" altLang="zh-CN" sz="2000" baseline="-25000" dirty="0" err="1">
                <a:solidFill>
                  <a:schemeClr val="tx1"/>
                </a:solidFill>
                <a:latin typeface="微软雅黑 Light" panose="020B0502040204020203" pitchFamily="34" charset="-122"/>
                <a:ea typeface="微软雅黑 Light" panose="020B0502040204020203" pitchFamily="34" charset="-122"/>
              </a:rPr>
              <a:t>max</a:t>
            </a:r>
            <a:endParaRPr lang="en-US" altLang="zh-CN" sz="2000" baseline="-25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Roboto" panose="02000000000000000000" pitchFamily="2" charset="0"/>
                <a:ea typeface="微软雅黑 Light" panose="020B0502040204020203" pitchFamily="34" charset="-122"/>
              </a:rPr>
              <a:t>bps</a:t>
            </a:r>
            <a:endParaRPr lang="zh-CN" altLang="en-US" sz="2000" dirty="0">
              <a:solidFill>
                <a:schemeClr val="tx1"/>
              </a:solidFill>
              <a:latin typeface="Roboto" panose="02000000000000000000" pitchFamily="2" charset="0"/>
              <a:ea typeface="微软雅黑 Light" panose="020B0502040204020203" pitchFamily="34" charset="-122"/>
            </a:endParaRPr>
          </a:p>
        </p:txBody>
      </p:sp>
      <p:pic>
        <p:nvPicPr>
          <p:cNvPr id="5122" name="Picture 2">
            <a:extLst>
              <a:ext uri="{FF2B5EF4-FFF2-40B4-BE49-F238E27FC236}">
                <a16:creationId xmlns:a16="http://schemas.microsoft.com/office/drawing/2014/main" id="{CBBFCA13-C8B3-4803-8B0C-B2116D8835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9504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吞吐量</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Throughput</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6" name="文本框 5">
            <a:extLst>
              <a:ext uri="{FF2B5EF4-FFF2-40B4-BE49-F238E27FC236}">
                <a16:creationId xmlns:a16="http://schemas.microsoft.com/office/drawing/2014/main" id="{76EC7371-FA3F-4EB8-BFA9-BB788A9E44C4}"/>
              </a:ext>
            </a:extLst>
          </p:cNvPr>
          <p:cNvSpPr txBox="1"/>
          <p:nvPr/>
        </p:nvSpPr>
        <p:spPr>
          <a:xfrm>
            <a:off x="344961" y="1929398"/>
            <a:ext cx="9161482" cy="707886"/>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含义：单位时间内通过某信道或某接口的</a:t>
            </a:r>
            <a:r>
              <a:rPr lang="zh-CN" altLang="en-US" sz="2000" dirty="0">
                <a:latin typeface="微软雅黑 Light" panose="020B0502040204020203" pitchFamily="34" charset="-122"/>
                <a:ea typeface="微软雅黑 Light" panose="020B0502040204020203" pitchFamily="34" charset="-122"/>
              </a:rPr>
              <a:t>数据量</a:t>
            </a:r>
            <a:r>
              <a:rPr lang="zh-CN" altLang="en-US" sz="2000" dirty="0">
                <a:solidFill>
                  <a:schemeClr val="tx1"/>
                </a:solidFill>
                <a:latin typeface="微软雅黑 Light" panose="020B0502040204020203" pitchFamily="34" charset="-122"/>
                <a:ea typeface="微软雅黑 Light" panose="020B0502040204020203" pitchFamily="34" charset="-122"/>
              </a:rPr>
              <a:t>（比特或字节、帧），</a:t>
            </a:r>
            <a:r>
              <a:rPr lang="zh-CN" altLang="en-US" sz="2000" b="1" dirty="0">
                <a:solidFill>
                  <a:srgbClr val="CC0000"/>
                </a:solidFill>
                <a:latin typeface="微软雅黑 Light" panose="020B0502040204020203" pitchFamily="34" charset="-122"/>
                <a:ea typeface="微软雅黑 Light" panose="020B0502040204020203" pitchFamily="34" charset="-122"/>
              </a:rPr>
              <a:t>实际速率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Roboto" panose="02000000000000000000" pitchFamily="2" charset="0"/>
                <a:ea typeface="微软雅黑 Light" panose="020B0502040204020203" pitchFamily="34" charset="-122"/>
              </a:rPr>
              <a:t>bps</a:t>
            </a:r>
            <a:endParaRPr lang="zh-CN" altLang="en-US" sz="20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8120642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时延</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Delay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6" name="文本框 5">
            <a:extLst>
              <a:ext uri="{FF2B5EF4-FFF2-40B4-BE49-F238E27FC236}">
                <a16:creationId xmlns:a16="http://schemas.microsoft.com/office/drawing/2014/main" id="{06565ED5-6A5E-4299-BE87-E9AF799E7022}"/>
              </a:ext>
            </a:extLst>
          </p:cNvPr>
          <p:cNvSpPr txBox="1"/>
          <p:nvPr/>
        </p:nvSpPr>
        <p:spPr>
          <a:xfrm>
            <a:off x="344961" y="1929398"/>
            <a:ext cx="6891630" cy="1015663"/>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含义：数据从通信的一端传输到另外一端所需要的时间</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Roboto" panose="02000000000000000000" pitchFamily="2" charset="0"/>
                <a:ea typeface="微软雅黑 Light" panose="020B0502040204020203" pitchFamily="34" charset="-122"/>
              </a:rPr>
              <a:t>s</a:t>
            </a:r>
            <a:r>
              <a:rPr lang="zh-CN" altLang="en-US" sz="2000" dirty="0">
                <a:solidFill>
                  <a:schemeClr val="tx1"/>
                </a:solidFill>
                <a:latin typeface="Roboto" panose="02000000000000000000" pitchFamily="2" charset="0"/>
                <a:ea typeface="微软雅黑 Light" panose="020B0502040204020203" pitchFamily="34" charset="-122"/>
              </a:rPr>
              <a:t>（</a:t>
            </a:r>
            <a:r>
              <a:rPr lang="en-US" altLang="zh-CN" sz="2000" dirty="0">
                <a:solidFill>
                  <a:schemeClr val="tx1"/>
                </a:solidFill>
                <a:latin typeface="Roboto" panose="02000000000000000000" pitchFamily="2" charset="0"/>
                <a:ea typeface="微软雅黑 Light" panose="020B0502040204020203" pitchFamily="34" charset="-122"/>
              </a:rPr>
              <a:t>second</a:t>
            </a:r>
            <a:r>
              <a:rPr lang="zh-CN" altLang="en-US" sz="2000" dirty="0">
                <a:latin typeface="Roboto" panose="02000000000000000000" pitchFamily="2" charset="0"/>
                <a:ea typeface="微软雅黑 Light" panose="020B0502040204020203" pitchFamily="34" charset="-122"/>
              </a:rPr>
              <a:t>）</a:t>
            </a:r>
            <a:endParaRPr lang="zh-CN" altLang="en-US"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计算：时延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发送时延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排队时延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solidFill>
                  <a:schemeClr val="tx1"/>
                </a:solidFill>
                <a:latin typeface="微软雅黑 Light" panose="020B0502040204020203" pitchFamily="34" charset="-122"/>
                <a:ea typeface="微软雅黑 Light" panose="020B0502040204020203" pitchFamily="34" charset="-122"/>
              </a:rPr>
              <a:t>处理时延</a:t>
            </a:r>
          </a:p>
        </p:txBody>
      </p:sp>
      <p:sp>
        <p:nvSpPr>
          <p:cNvPr id="9" name="矩形: 圆角 8">
            <a:extLst>
              <a:ext uri="{FF2B5EF4-FFF2-40B4-BE49-F238E27FC236}">
                <a16:creationId xmlns:a16="http://schemas.microsoft.com/office/drawing/2014/main" id="{0BFA507F-EE09-4332-B08B-09E698A4C21B}"/>
              </a:ext>
            </a:extLst>
          </p:cNvPr>
          <p:cNvSpPr/>
          <p:nvPr/>
        </p:nvSpPr>
        <p:spPr>
          <a:xfrm>
            <a:off x="1033220"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dirty="0"/>
          </a:p>
        </p:txBody>
      </p:sp>
      <p:sp>
        <p:nvSpPr>
          <p:cNvPr id="10" name="矩形: 圆角 9">
            <a:extLst>
              <a:ext uri="{FF2B5EF4-FFF2-40B4-BE49-F238E27FC236}">
                <a16:creationId xmlns:a16="http://schemas.microsoft.com/office/drawing/2014/main" id="{0CA81FAC-7080-4F2F-B513-17D838362A81}"/>
              </a:ext>
            </a:extLst>
          </p:cNvPr>
          <p:cNvSpPr/>
          <p:nvPr/>
        </p:nvSpPr>
        <p:spPr>
          <a:xfrm>
            <a:off x="6492096"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B093AF3-BD6B-4FB3-956C-4AB3B046393D}"/>
              </a:ext>
            </a:extLst>
          </p:cNvPr>
          <p:cNvSpPr txBox="1"/>
          <p:nvPr/>
        </p:nvSpPr>
        <p:spPr>
          <a:xfrm>
            <a:off x="1229916" y="4127014"/>
            <a:ext cx="4254460" cy="1015663"/>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发送数据帧的时间：从数据帧的第一个比特开始，到数据帧的最后一个比特结束，所花费的时间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9F978D63-CC6F-4041-A17D-B10C7466B562}"/>
              </a:ext>
            </a:extLst>
          </p:cNvPr>
          <p:cNvSpPr/>
          <p:nvPr/>
        </p:nvSpPr>
        <p:spPr>
          <a:xfrm>
            <a:off x="2115146" y="3509477"/>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发送时延</a:t>
            </a:r>
            <a:endParaRPr lang="zh-CN" altLang="en-US" sz="1400" dirty="0">
              <a:latin typeface="Roboto" panose="02000000000000000000" pitchFamily="2" charset="0"/>
            </a:endParaRPr>
          </a:p>
        </p:txBody>
      </p:sp>
      <p:sp>
        <p:nvSpPr>
          <p:cNvPr id="15" name="矩形: 圆角 14">
            <a:extLst>
              <a:ext uri="{FF2B5EF4-FFF2-40B4-BE49-F238E27FC236}">
                <a16:creationId xmlns:a16="http://schemas.microsoft.com/office/drawing/2014/main" id="{64ED420F-76D8-4C9D-B24C-6352CE47388D}"/>
              </a:ext>
            </a:extLst>
          </p:cNvPr>
          <p:cNvSpPr/>
          <p:nvPr/>
        </p:nvSpPr>
        <p:spPr>
          <a:xfrm>
            <a:off x="7736021" y="3548078"/>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传播时延</a:t>
            </a:r>
            <a:endParaRPr lang="zh-CN" altLang="en-US" dirty="0">
              <a:latin typeface="Roboto" panose="02000000000000000000" pitchFamily="2" charset="0"/>
            </a:endParaRPr>
          </a:p>
        </p:txBody>
      </p:sp>
      <p:sp>
        <p:nvSpPr>
          <p:cNvPr id="17" name="文本框 16">
            <a:extLst>
              <a:ext uri="{FF2B5EF4-FFF2-40B4-BE49-F238E27FC236}">
                <a16:creationId xmlns:a16="http://schemas.microsoft.com/office/drawing/2014/main" id="{9D27CF7A-931E-4D52-86FE-3AEFE92B5C6C}"/>
              </a:ext>
            </a:extLst>
          </p:cNvPr>
          <p:cNvSpPr txBox="1"/>
          <p:nvPr/>
        </p:nvSpPr>
        <p:spPr>
          <a:xfrm>
            <a:off x="1547195" y="5308355"/>
            <a:ext cx="3619902"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D</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数据帧的长度</a:t>
            </a:r>
            <a:r>
              <a:rPr lang="en-US" altLang="zh-CN" dirty="0">
                <a:solidFill>
                  <a:schemeClr val="tx1"/>
                </a:solidFill>
                <a:latin typeface="微软雅黑 Light" panose="020B0502040204020203" pitchFamily="34" charset="-122"/>
                <a:ea typeface="微软雅黑 Light" panose="020B0502040204020203" pitchFamily="34" charset="-122"/>
              </a:rPr>
              <a:t>bit</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数据速率</a:t>
            </a:r>
            <a:r>
              <a:rPr lang="en-US" altLang="zh-CN" dirty="0">
                <a:solidFill>
                  <a:schemeClr val="tx1"/>
                </a:solidFill>
                <a:latin typeface="微软雅黑 Light" panose="020B0502040204020203" pitchFamily="34" charset="-122"/>
                <a:ea typeface="微软雅黑 Light" panose="020B0502040204020203" pitchFamily="34" charset="-122"/>
              </a:rPr>
              <a:t>bps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18" name="文本框 17">
            <a:extLst>
              <a:ext uri="{FF2B5EF4-FFF2-40B4-BE49-F238E27FC236}">
                <a16:creationId xmlns:a16="http://schemas.microsoft.com/office/drawing/2014/main" id="{FD18D783-DE94-44F6-9596-29A5894C3F74}"/>
              </a:ext>
            </a:extLst>
          </p:cNvPr>
          <p:cNvSpPr txBox="1"/>
          <p:nvPr/>
        </p:nvSpPr>
        <p:spPr>
          <a:xfrm>
            <a:off x="6688792" y="4127014"/>
            <a:ext cx="4254460" cy="707886"/>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电磁波在信道中传播一定的距离，所花费的时间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9" name="文本框 18">
            <a:extLst>
              <a:ext uri="{FF2B5EF4-FFF2-40B4-BE49-F238E27FC236}">
                <a16:creationId xmlns:a16="http://schemas.microsoft.com/office/drawing/2014/main" id="{419D5623-38E3-49FA-89DD-9A10A976C619}"/>
              </a:ext>
            </a:extLst>
          </p:cNvPr>
          <p:cNvSpPr txBox="1"/>
          <p:nvPr/>
        </p:nvSpPr>
        <p:spPr>
          <a:xfrm>
            <a:off x="7115876" y="5308355"/>
            <a:ext cx="3400290"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P</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信道长度</a:t>
            </a:r>
            <a:r>
              <a:rPr lang="en-US" altLang="zh-CN" dirty="0">
                <a:solidFill>
                  <a:schemeClr val="tx1"/>
                </a:solidFill>
                <a:latin typeface="微软雅黑 Light" panose="020B0502040204020203" pitchFamily="34" charset="-122"/>
                <a:ea typeface="微软雅黑 Light" panose="020B0502040204020203" pitchFamily="34" charset="-122"/>
              </a:rPr>
              <a:t>m</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电磁波</a:t>
            </a:r>
            <a:r>
              <a:rPr lang="zh-CN" altLang="en-US" dirty="0">
                <a:solidFill>
                  <a:schemeClr val="tx1"/>
                </a:solidFill>
                <a:latin typeface="微软雅黑 Light" panose="020B0502040204020203" pitchFamily="34" charset="-122"/>
                <a:ea typeface="微软雅黑 Light" panose="020B0502040204020203" pitchFamily="34" charset="-122"/>
              </a:rPr>
              <a:t>速率</a:t>
            </a:r>
            <a:r>
              <a:rPr lang="en-US" altLang="zh-CN" dirty="0">
                <a:solidFill>
                  <a:schemeClr val="tx1"/>
                </a:solidFill>
                <a:latin typeface="微软雅黑 Light" panose="020B0502040204020203" pitchFamily="34" charset="-122"/>
                <a:ea typeface="微软雅黑 Light" panose="020B0502040204020203" pitchFamily="34" charset="-122"/>
              </a:rPr>
              <a:t>m/s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71707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时延带宽积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normAutofit fontScale="92500"/>
          </a:bodyPr>
          <a:lstStyle/>
          <a:p>
            <a:r>
              <a:rPr lang="en-US" altLang="zh-CN" dirty="0"/>
              <a:t>Performance – Band Delay Production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7" name="文本框 6">
            <a:extLst>
              <a:ext uri="{FF2B5EF4-FFF2-40B4-BE49-F238E27FC236}">
                <a16:creationId xmlns:a16="http://schemas.microsoft.com/office/drawing/2014/main" id="{C51DE026-B770-4599-B01D-948DA5AD0AB6}"/>
              </a:ext>
            </a:extLst>
          </p:cNvPr>
          <p:cNvSpPr txBox="1"/>
          <p:nvPr/>
        </p:nvSpPr>
        <p:spPr>
          <a:xfrm>
            <a:off x="344961" y="1929398"/>
            <a:ext cx="7879080"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链路的容量，发送端已发出，但尚未到达接收端的比特数量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计算：时延带宽积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 带宽</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D9F1F6C6-7D19-496B-86DF-E2CC6290E4BB}"/>
              </a:ext>
            </a:extLst>
          </p:cNvPr>
          <p:cNvSpPr/>
          <p:nvPr/>
        </p:nvSpPr>
        <p:spPr>
          <a:xfrm>
            <a:off x="4415063" y="3590925"/>
            <a:ext cx="3600000" cy="720000"/>
          </a:xfrm>
          <a:custGeom>
            <a:avLst/>
            <a:gdLst>
              <a:gd name="connsiteX0" fmla="*/ 0 w 4716339"/>
              <a:gd name="connsiteY0" fmla="*/ 0 h 720000"/>
              <a:gd name="connsiteX1" fmla="*/ 4478214 w 4716339"/>
              <a:gd name="connsiteY1" fmla="*/ 0 h 720000"/>
              <a:gd name="connsiteX2" fmla="*/ 4514850 w 4716339"/>
              <a:gd name="connsiteY2" fmla="*/ 0 h 720000"/>
              <a:gd name="connsiteX3" fmla="*/ 4514850 w 4716339"/>
              <a:gd name="connsiteY3" fmla="*/ 5584 h 720000"/>
              <a:gd name="connsiteX4" fmla="*/ 4526205 w 4716339"/>
              <a:gd name="connsiteY4" fmla="*/ 7314 h 720000"/>
              <a:gd name="connsiteX5" fmla="*/ 4716339 w 4716339"/>
              <a:gd name="connsiteY5" fmla="*/ 360000 h 720000"/>
              <a:gd name="connsiteX6" fmla="*/ 4526205 w 4716339"/>
              <a:gd name="connsiteY6" fmla="*/ 712686 h 720000"/>
              <a:gd name="connsiteX7" fmla="*/ 4514850 w 4716339"/>
              <a:gd name="connsiteY7" fmla="*/ 714417 h 720000"/>
              <a:gd name="connsiteX8" fmla="*/ 4514850 w 4716339"/>
              <a:gd name="connsiteY8" fmla="*/ 720000 h 720000"/>
              <a:gd name="connsiteX9" fmla="*/ 4478214 w 4716339"/>
              <a:gd name="connsiteY9" fmla="*/ 720000 h 720000"/>
              <a:gd name="connsiteX10" fmla="*/ 0 w 4716339"/>
              <a:gd name="connsiteY10"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716339" h="720000">
                <a:moveTo>
                  <a:pt x="0" y="0"/>
                </a:moveTo>
                <a:lnTo>
                  <a:pt x="4478214" y="0"/>
                </a:lnTo>
                <a:lnTo>
                  <a:pt x="4514850" y="0"/>
                </a:lnTo>
                <a:lnTo>
                  <a:pt x="4514850" y="5584"/>
                </a:lnTo>
                <a:lnTo>
                  <a:pt x="4526205" y="7314"/>
                </a:lnTo>
                <a:cubicBezTo>
                  <a:pt x="4634714" y="40883"/>
                  <a:pt x="4716339" y="186030"/>
                  <a:pt x="4716339" y="360000"/>
                </a:cubicBezTo>
                <a:cubicBezTo>
                  <a:pt x="4716339" y="533970"/>
                  <a:pt x="4634714" y="679118"/>
                  <a:pt x="4526205" y="712686"/>
                </a:cubicBezTo>
                <a:lnTo>
                  <a:pt x="4514850" y="714417"/>
                </a:lnTo>
                <a:lnTo>
                  <a:pt x="4514850" y="720000"/>
                </a:lnTo>
                <a:lnTo>
                  <a:pt x="4478214" y="720000"/>
                </a:lnTo>
                <a:lnTo>
                  <a:pt x="0" y="72000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0" name="椭圆 9">
            <a:extLst>
              <a:ext uri="{FF2B5EF4-FFF2-40B4-BE49-F238E27FC236}">
                <a16:creationId xmlns:a16="http://schemas.microsoft.com/office/drawing/2014/main" id="{01BD6969-525C-46A9-A8A8-0C3DB239D003}"/>
              </a:ext>
            </a:extLst>
          </p:cNvPr>
          <p:cNvSpPr/>
          <p:nvPr/>
        </p:nvSpPr>
        <p:spPr>
          <a:xfrm>
            <a:off x="4176938" y="3590925"/>
            <a:ext cx="476250" cy="720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a:extLst>
              <a:ext uri="{FF2B5EF4-FFF2-40B4-BE49-F238E27FC236}">
                <a16:creationId xmlns:a16="http://schemas.microsoft.com/office/drawing/2014/main" id="{7BFB8A65-FE1A-46DF-9C5C-021129D80CBB}"/>
              </a:ext>
            </a:extLst>
          </p:cNvPr>
          <p:cNvSpPr txBox="1"/>
          <p:nvPr/>
        </p:nvSpPr>
        <p:spPr>
          <a:xfrm>
            <a:off x="-384485" y="3720093"/>
            <a:ext cx="4875054" cy="461665"/>
          </a:xfrm>
          <a:prstGeom prst="rect">
            <a:avLst/>
          </a:prstGeom>
          <a:noFill/>
        </p:spPr>
        <p:txBody>
          <a:bodyPr wrap="none" rtlCol="0">
            <a:spAutoFit/>
          </a:bodyPr>
          <a:lstStyle/>
          <a:p>
            <a:pPr algn="r">
              <a:spcBef>
                <a:spcPts val="600"/>
              </a:spcBef>
              <a:spcAft>
                <a:spcPts val="600"/>
              </a:spcAft>
            </a:pPr>
            <a:r>
              <a:rPr lang="en-US" altLang="zh-CN" sz="2400" kern="100" dirty="0">
                <a:latin typeface="Roboto" panose="020000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20" name="文本框 19">
            <a:extLst>
              <a:ext uri="{FF2B5EF4-FFF2-40B4-BE49-F238E27FC236}">
                <a16:creationId xmlns:a16="http://schemas.microsoft.com/office/drawing/2014/main" id="{8DA24F62-D943-4DBF-9942-F1EBB2AED4AF}"/>
              </a:ext>
            </a:extLst>
          </p:cNvPr>
          <p:cNvSpPr txBox="1"/>
          <p:nvPr/>
        </p:nvSpPr>
        <p:spPr>
          <a:xfrm>
            <a:off x="2977596" y="3720093"/>
            <a:ext cx="4875054" cy="461665"/>
          </a:xfrm>
          <a:prstGeom prst="rect">
            <a:avLst/>
          </a:prstGeom>
          <a:noFill/>
        </p:spPr>
        <p:txBody>
          <a:bodyPr wrap="none" rtlCol="0">
            <a:spAutoFit/>
          </a:bodyPr>
          <a:lstStyle/>
          <a:p>
            <a:pPr algn="r">
              <a:spcBef>
                <a:spcPts val="600"/>
              </a:spcBef>
              <a:spcAft>
                <a:spcPts val="600"/>
              </a:spcAft>
            </a:pPr>
            <a:r>
              <a:rPr lang="en-US" altLang="zh-CN" sz="2400" kern="100" dirty="0">
                <a:solidFill>
                  <a:schemeClr val="bg1"/>
                </a:solidFill>
                <a:latin typeface="Roboto" panose="020000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1693001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往返时间</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–Round Trip Time</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5570756"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衡量通信双方交互一次信息需要多少时间</a:t>
            </a:r>
          </a:p>
        </p:txBody>
      </p:sp>
      <p:cxnSp>
        <p:nvCxnSpPr>
          <p:cNvPr id="7" name="直接连接符 6">
            <a:extLst>
              <a:ext uri="{FF2B5EF4-FFF2-40B4-BE49-F238E27FC236}">
                <a16:creationId xmlns:a16="http://schemas.microsoft.com/office/drawing/2014/main" id="{F719FB42-51AD-43FD-B0B7-9F6CB8647DEF}"/>
              </a:ext>
            </a:extLst>
          </p:cNvPr>
          <p:cNvCxnSpPr>
            <a:cxnSpLocks/>
          </p:cNvCxnSpPr>
          <p:nvPr/>
        </p:nvCxnSpPr>
        <p:spPr>
          <a:xfrm>
            <a:off x="144534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9" name="直接连接符 8">
            <a:extLst>
              <a:ext uri="{FF2B5EF4-FFF2-40B4-BE49-F238E27FC236}">
                <a16:creationId xmlns:a16="http://schemas.microsoft.com/office/drawing/2014/main" id="{113AE521-9E30-4CC1-83A6-DB7FE568DBED}"/>
              </a:ext>
            </a:extLst>
          </p:cNvPr>
          <p:cNvCxnSpPr>
            <a:cxnSpLocks/>
          </p:cNvCxnSpPr>
          <p:nvPr/>
        </p:nvCxnSpPr>
        <p:spPr>
          <a:xfrm>
            <a:off x="397899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8" name="文本框 7">
            <a:extLst>
              <a:ext uri="{FF2B5EF4-FFF2-40B4-BE49-F238E27FC236}">
                <a16:creationId xmlns:a16="http://schemas.microsoft.com/office/drawing/2014/main" id="{28237B86-DCCB-444F-ACEA-72A02F657A81}"/>
              </a:ext>
            </a:extLst>
          </p:cNvPr>
          <p:cNvSpPr txBox="1"/>
          <p:nvPr/>
        </p:nvSpPr>
        <p:spPr>
          <a:xfrm>
            <a:off x="1111597" y="3043238"/>
            <a:ext cx="351378"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A</a:t>
            </a:r>
            <a:endPar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11" name="文本框 10">
            <a:extLst>
              <a:ext uri="{FF2B5EF4-FFF2-40B4-BE49-F238E27FC236}">
                <a16:creationId xmlns:a16="http://schemas.microsoft.com/office/drawing/2014/main" id="{DEDDD2B9-99B9-4371-92D5-D8A8878E6519}"/>
              </a:ext>
            </a:extLst>
          </p:cNvPr>
          <p:cNvSpPr txBox="1"/>
          <p:nvPr/>
        </p:nvSpPr>
        <p:spPr>
          <a:xfrm>
            <a:off x="3962962" y="3043238"/>
            <a:ext cx="344967"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B</a:t>
            </a:r>
            <a:endPar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endParaRPr>
          </a:p>
        </p:txBody>
      </p:sp>
      <p:cxnSp>
        <p:nvCxnSpPr>
          <p:cNvPr id="13" name="直接箭头连接符 12">
            <a:extLst>
              <a:ext uri="{FF2B5EF4-FFF2-40B4-BE49-F238E27FC236}">
                <a16:creationId xmlns:a16="http://schemas.microsoft.com/office/drawing/2014/main" id="{78EC58DF-64DD-4831-B74F-E540AD57BDC6}"/>
              </a:ext>
            </a:extLst>
          </p:cNvPr>
          <p:cNvCxnSpPr/>
          <p:nvPr/>
        </p:nvCxnSpPr>
        <p:spPr>
          <a:xfrm>
            <a:off x="1445342" y="3343275"/>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5" name="直接箭头连接符 14">
            <a:extLst>
              <a:ext uri="{FF2B5EF4-FFF2-40B4-BE49-F238E27FC236}">
                <a16:creationId xmlns:a16="http://schemas.microsoft.com/office/drawing/2014/main" id="{181FE485-0575-415E-A1CB-2DC7699C2E4D}"/>
              </a:ext>
            </a:extLst>
          </p:cNvPr>
          <p:cNvCxnSpPr/>
          <p:nvPr/>
        </p:nvCxnSpPr>
        <p:spPr>
          <a:xfrm flipH="1">
            <a:off x="1445341" y="4161840"/>
            <a:ext cx="2533651" cy="686385"/>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6" name="直接箭头连接符 15">
            <a:extLst>
              <a:ext uri="{FF2B5EF4-FFF2-40B4-BE49-F238E27FC236}">
                <a16:creationId xmlns:a16="http://schemas.microsoft.com/office/drawing/2014/main" id="{B354DB51-C6C5-44E7-A68C-3FFBD90DFA89}"/>
              </a:ext>
            </a:extLst>
          </p:cNvPr>
          <p:cNvCxnSpPr/>
          <p:nvPr/>
        </p:nvCxnSpPr>
        <p:spPr>
          <a:xfrm>
            <a:off x="1445341" y="5057190"/>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4613556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利用率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 Utilization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6032421"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包括两个方面：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信道利用率</a:t>
            </a:r>
            <a:r>
              <a:rPr lang="zh-CN" altLang="en-US" sz="2000" dirty="0">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某信道有多少时间是有数据通过的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网络利用率：全网络的信道利用率的加权平均</a:t>
            </a:r>
          </a:p>
        </p:txBody>
      </p:sp>
      <p:sp>
        <p:nvSpPr>
          <p:cNvPr id="5" name="文本框 4">
            <a:extLst>
              <a:ext uri="{FF2B5EF4-FFF2-40B4-BE49-F238E27FC236}">
                <a16:creationId xmlns:a16="http://schemas.microsoft.com/office/drawing/2014/main" id="{4DCA3155-5336-4DB4-AB04-BD2715F9B967}"/>
              </a:ext>
            </a:extLst>
          </p:cNvPr>
          <p:cNvSpPr txBox="1"/>
          <p:nvPr/>
        </p:nvSpPr>
        <p:spPr>
          <a:xfrm>
            <a:off x="4593826" y="3761477"/>
            <a:ext cx="3004348"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The bigger</a:t>
            </a:r>
            <a:r>
              <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rPr>
              <a:t>，</a:t>
            </a: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the better</a:t>
            </a:r>
            <a:r>
              <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rPr>
              <a:t>？</a:t>
            </a:r>
          </a:p>
        </p:txBody>
      </p:sp>
    </p:spTree>
    <p:extLst>
      <p:ext uri="{BB962C8B-B14F-4D97-AF65-F5344CB8AC3E}">
        <p14:creationId xmlns:p14="http://schemas.microsoft.com/office/powerpoint/2010/main" val="42177132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grpSp>
        <p:nvGrpSpPr>
          <p:cNvPr id="8" name="组合 7">
            <a:extLst>
              <a:ext uri="{FF2B5EF4-FFF2-40B4-BE49-F238E27FC236}">
                <a16:creationId xmlns:a16="http://schemas.microsoft.com/office/drawing/2014/main" id="{F4DBC98E-F3F4-420A-BE65-B53A1FF7159D}"/>
              </a:ext>
            </a:extLst>
          </p:cNvPr>
          <p:cNvGrpSpPr/>
          <p:nvPr/>
        </p:nvGrpSpPr>
        <p:grpSpPr>
          <a:xfrm>
            <a:off x="2034908" y="2288953"/>
            <a:ext cx="1800000" cy="3314711"/>
            <a:chOff x="1134908" y="2225041"/>
            <a:chExt cx="1800000" cy="3314711"/>
          </a:xfrm>
          <a:solidFill>
            <a:schemeClr val="bg1">
              <a:lumMod val="65000"/>
            </a:schemeClr>
          </a:solidFill>
        </p:grpSpPr>
        <p:sp>
          <p:nvSpPr>
            <p:cNvPr id="7" name="立方体 6">
              <a:extLst>
                <a:ext uri="{FF2B5EF4-FFF2-40B4-BE49-F238E27FC236}">
                  <a16:creationId xmlns:a16="http://schemas.microsoft.com/office/drawing/2014/main" id="{8467D499-9A33-40AA-99F1-09E70CF7CD1C}"/>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10" name="立方体 9">
              <a:extLst>
                <a:ext uri="{FF2B5EF4-FFF2-40B4-BE49-F238E27FC236}">
                  <a16:creationId xmlns:a16="http://schemas.microsoft.com/office/drawing/2014/main" id="{451A1DA1-9CD0-4FA1-9C3C-48F183D3C73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11" name="立方体 10">
              <a:extLst>
                <a:ext uri="{FF2B5EF4-FFF2-40B4-BE49-F238E27FC236}">
                  <a16:creationId xmlns:a16="http://schemas.microsoft.com/office/drawing/2014/main" id="{FA89D6B5-0445-4731-B4B1-A841039F4A5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13" name="立方体 12">
              <a:extLst>
                <a:ext uri="{FF2B5EF4-FFF2-40B4-BE49-F238E27FC236}">
                  <a16:creationId xmlns:a16="http://schemas.microsoft.com/office/drawing/2014/main" id="{8FDC729E-6B63-4849-91D3-45430395F67F}"/>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14" name="立方体 13">
              <a:extLst>
                <a:ext uri="{FF2B5EF4-FFF2-40B4-BE49-F238E27FC236}">
                  <a16:creationId xmlns:a16="http://schemas.microsoft.com/office/drawing/2014/main" id="{FE08A764-CB7E-4882-83F6-146F267FAC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会话层</a:t>
              </a:r>
            </a:p>
          </p:txBody>
        </p:sp>
        <p:sp>
          <p:nvSpPr>
            <p:cNvPr id="15" name="立方体 14">
              <a:extLst>
                <a:ext uri="{FF2B5EF4-FFF2-40B4-BE49-F238E27FC236}">
                  <a16:creationId xmlns:a16="http://schemas.microsoft.com/office/drawing/2014/main" id="{B7205C13-8062-4D57-8FE8-B812C49B6468}"/>
                </a:ext>
              </a:extLst>
            </p:cNvPr>
            <p:cNvSpPr/>
            <p:nvPr/>
          </p:nvSpPr>
          <p:spPr>
            <a:xfrm>
              <a:off x="1134908" y="2681493"/>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表示层</a:t>
              </a:r>
            </a:p>
          </p:txBody>
        </p:sp>
        <p:sp>
          <p:nvSpPr>
            <p:cNvPr id="16" name="立方体 15">
              <a:extLst>
                <a:ext uri="{FF2B5EF4-FFF2-40B4-BE49-F238E27FC236}">
                  <a16:creationId xmlns:a16="http://schemas.microsoft.com/office/drawing/2014/main" id="{B12234DF-F580-45F7-96C7-74C98D367DD8}"/>
                </a:ext>
              </a:extLst>
            </p:cNvPr>
            <p:cNvSpPr/>
            <p:nvPr/>
          </p:nvSpPr>
          <p:spPr>
            <a:xfrm>
              <a:off x="1134908" y="222504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grpSp>
        <p:nvGrpSpPr>
          <p:cNvPr id="17" name="组合 16">
            <a:extLst>
              <a:ext uri="{FF2B5EF4-FFF2-40B4-BE49-F238E27FC236}">
                <a16:creationId xmlns:a16="http://schemas.microsoft.com/office/drawing/2014/main" id="{C39337D9-35D5-4DFA-89C4-1E3AA19B2BE9}"/>
              </a:ext>
            </a:extLst>
          </p:cNvPr>
          <p:cNvGrpSpPr/>
          <p:nvPr/>
        </p:nvGrpSpPr>
        <p:grpSpPr>
          <a:xfrm>
            <a:off x="5196000" y="3658309"/>
            <a:ext cx="1800000" cy="1945355"/>
            <a:chOff x="1134908" y="3594397"/>
            <a:chExt cx="1800000" cy="1945355"/>
          </a:xfrm>
          <a:solidFill>
            <a:schemeClr val="bg1">
              <a:lumMod val="50000"/>
            </a:schemeClr>
          </a:solidFill>
        </p:grpSpPr>
        <p:sp>
          <p:nvSpPr>
            <p:cNvPr id="18" name="立方体 17">
              <a:extLst>
                <a:ext uri="{FF2B5EF4-FFF2-40B4-BE49-F238E27FC236}">
                  <a16:creationId xmlns:a16="http://schemas.microsoft.com/office/drawing/2014/main" id="{661E0E9C-0988-4D8F-80B5-8E372FADBEFF}"/>
                </a:ext>
              </a:extLst>
            </p:cNvPr>
            <p:cNvSpPr/>
            <p:nvPr/>
          </p:nvSpPr>
          <p:spPr>
            <a:xfrm>
              <a:off x="1134908" y="4963752"/>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网络接口层</a:t>
              </a:r>
            </a:p>
          </p:txBody>
        </p:sp>
        <p:sp>
          <p:nvSpPr>
            <p:cNvPr id="19" name="立方体 18">
              <a:extLst>
                <a:ext uri="{FF2B5EF4-FFF2-40B4-BE49-F238E27FC236}">
                  <a16:creationId xmlns:a16="http://schemas.microsoft.com/office/drawing/2014/main" id="{40D59115-2EC8-43A5-99AF-C29B3657B5DE}"/>
                </a:ext>
              </a:extLst>
            </p:cNvPr>
            <p:cNvSpPr/>
            <p:nvPr/>
          </p:nvSpPr>
          <p:spPr>
            <a:xfrm>
              <a:off x="1134908" y="4507301"/>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网络层</a:t>
              </a:r>
            </a:p>
          </p:txBody>
        </p:sp>
        <p:sp>
          <p:nvSpPr>
            <p:cNvPr id="20" name="立方体 19">
              <a:extLst>
                <a:ext uri="{FF2B5EF4-FFF2-40B4-BE49-F238E27FC236}">
                  <a16:creationId xmlns:a16="http://schemas.microsoft.com/office/drawing/2014/main" id="{1990059B-4D0B-460F-A442-575C5DAD25FC}"/>
                </a:ext>
              </a:extLst>
            </p:cNvPr>
            <p:cNvSpPr/>
            <p:nvPr/>
          </p:nvSpPr>
          <p:spPr>
            <a:xfrm>
              <a:off x="1134908" y="4050849"/>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运输层</a:t>
              </a:r>
            </a:p>
          </p:txBody>
        </p:sp>
        <p:sp>
          <p:nvSpPr>
            <p:cNvPr id="21" name="立方体 20">
              <a:extLst>
                <a:ext uri="{FF2B5EF4-FFF2-40B4-BE49-F238E27FC236}">
                  <a16:creationId xmlns:a16="http://schemas.microsoft.com/office/drawing/2014/main" id="{DCF4F422-070E-400C-A619-46288C4A75E7}"/>
                </a:ext>
              </a:extLst>
            </p:cNvPr>
            <p:cNvSpPr/>
            <p:nvPr/>
          </p:nvSpPr>
          <p:spPr>
            <a:xfrm>
              <a:off x="1134908" y="3594397"/>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应用层</a:t>
              </a:r>
            </a:p>
          </p:txBody>
        </p:sp>
      </p:grpSp>
      <p:sp>
        <p:nvSpPr>
          <p:cNvPr id="34" name="文本框 33">
            <a:extLst>
              <a:ext uri="{FF2B5EF4-FFF2-40B4-BE49-F238E27FC236}">
                <a16:creationId xmlns:a16="http://schemas.microsoft.com/office/drawing/2014/main" id="{C248E649-15D2-4882-801E-B11D1954E8EF}"/>
              </a:ext>
            </a:extLst>
          </p:cNvPr>
          <p:cNvSpPr txBox="1"/>
          <p:nvPr/>
        </p:nvSpPr>
        <p:spPr>
          <a:xfrm>
            <a:off x="2098782" y="5827494"/>
            <a:ext cx="1672254"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OSI</a:t>
            </a:r>
            <a:r>
              <a:rPr lang="zh-CN" altLang="en-US" sz="2000" dirty="0">
                <a:solidFill>
                  <a:schemeClr val="tx1"/>
                </a:solidFill>
                <a:latin typeface="微软雅黑 Light" panose="020B0502040204020203" pitchFamily="34" charset="-122"/>
                <a:ea typeface="微软雅黑 Light" panose="020B0502040204020203" pitchFamily="34" charset="-122"/>
              </a:rPr>
              <a:t>七层协议</a:t>
            </a:r>
          </a:p>
        </p:txBody>
      </p:sp>
      <p:sp>
        <p:nvSpPr>
          <p:cNvPr id="35" name="文本框 34">
            <a:extLst>
              <a:ext uri="{FF2B5EF4-FFF2-40B4-BE49-F238E27FC236}">
                <a16:creationId xmlns:a16="http://schemas.microsoft.com/office/drawing/2014/main" id="{5FE5D863-3027-41D8-A73A-1FAAD81DF2F0}"/>
              </a:ext>
            </a:extLst>
          </p:cNvPr>
          <p:cNvSpPr txBox="1"/>
          <p:nvPr/>
        </p:nvSpPr>
        <p:spPr>
          <a:xfrm>
            <a:off x="5080340" y="5827494"/>
            <a:ext cx="2031325"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TCP/IP</a:t>
            </a:r>
            <a:r>
              <a:rPr lang="zh-CN" altLang="en-US" sz="2000" dirty="0">
                <a:solidFill>
                  <a:schemeClr val="tx1"/>
                </a:solidFill>
                <a:latin typeface="微软雅黑 Light" panose="020B0502040204020203" pitchFamily="34" charset="-122"/>
                <a:ea typeface="微软雅黑 Light" panose="020B0502040204020203" pitchFamily="34" charset="-122"/>
              </a:rPr>
              <a:t>四层协议</a:t>
            </a:r>
          </a:p>
        </p:txBody>
      </p:sp>
      <p:sp>
        <p:nvSpPr>
          <p:cNvPr id="36" name="文本框 35">
            <a:extLst>
              <a:ext uri="{FF2B5EF4-FFF2-40B4-BE49-F238E27FC236}">
                <a16:creationId xmlns:a16="http://schemas.microsoft.com/office/drawing/2014/main" id="{40A20EFC-6B08-473D-88FB-0E3E92881EF3}"/>
              </a:ext>
            </a:extLst>
          </p:cNvPr>
          <p:cNvSpPr txBox="1"/>
          <p:nvPr/>
        </p:nvSpPr>
        <p:spPr>
          <a:xfrm>
            <a:off x="8651797" y="5827494"/>
            <a:ext cx="1210588"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五</a:t>
            </a:r>
            <a:r>
              <a:rPr lang="zh-CN" altLang="en-US" sz="2000" dirty="0">
                <a:solidFill>
                  <a:schemeClr val="tx1"/>
                </a:solidFill>
                <a:latin typeface="微软雅黑 Light" panose="020B0502040204020203" pitchFamily="34" charset="-122"/>
                <a:ea typeface="微软雅黑 Light" panose="020B0502040204020203" pitchFamily="34" charset="-122"/>
              </a:rPr>
              <a:t>层协议</a:t>
            </a:r>
          </a:p>
        </p:txBody>
      </p:sp>
      <p:grpSp>
        <p:nvGrpSpPr>
          <p:cNvPr id="52" name="组合 51">
            <a:extLst>
              <a:ext uri="{FF2B5EF4-FFF2-40B4-BE49-F238E27FC236}">
                <a16:creationId xmlns:a16="http://schemas.microsoft.com/office/drawing/2014/main" id="{4998161E-9422-43BA-86C0-D6C1D06A626E}"/>
              </a:ext>
            </a:extLst>
          </p:cNvPr>
          <p:cNvGrpSpPr/>
          <p:nvPr/>
        </p:nvGrpSpPr>
        <p:grpSpPr>
          <a:xfrm>
            <a:off x="8357092" y="3201857"/>
            <a:ext cx="1800000" cy="2401807"/>
            <a:chOff x="1134908" y="3137945"/>
            <a:chExt cx="1800000" cy="2401807"/>
          </a:xfrm>
          <a:solidFill>
            <a:schemeClr val="accent2"/>
          </a:solidFill>
        </p:grpSpPr>
        <p:sp>
          <p:nvSpPr>
            <p:cNvPr id="53" name="立方体 52">
              <a:extLst>
                <a:ext uri="{FF2B5EF4-FFF2-40B4-BE49-F238E27FC236}">
                  <a16:creationId xmlns:a16="http://schemas.microsoft.com/office/drawing/2014/main" id="{1962931B-8BB4-4C5F-9C2F-25677380A9FE}"/>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54" name="立方体 53">
              <a:extLst>
                <a:ext uri="{FF2B5EF4-FFF2-40B4-BE49-F238E27FC236}">
                  <a16:creationId xmlns:a16="http://schemas.microsoft.com/office/drawing/2014/main" id="{225D38AD-5500-400C-AD9E-4F117A04210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55" name="立方体 54">
              <a:extLst>
                <a:ext uri="{FF2B5EF4-FFF2-40B4-BE49-F238E27FC236}">
                  <a16:creationId xmlns:a16="http://schemas.microsoft.com/office/drawing/2014/main" id="{3882FAC3-35FA-45B5-BE7B-8C756752452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56" name="立方体 55">
              <a:extLst>
                <a:ext uri="{FF2B5EF4-FFF2-40B4-BE49-F238E27FC236}">
                  <a16:creationId xmlns:a16="http://schemas.microsoft.com/office/drawing/2014/main" id="{EF3DAD47-B638-4FE7-9E07-B4DE18A675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57" name="立方体 56">
              <a:extLst>
                <a:ext uri="{FF2B5EF4-FFF2-40B4-BE49-F238E27FC236}">
                  <a16:creationId xmlns:a16="http://schemas.microsoft.com/office/drawing/2014/main" id="{7C0833AE-1FCC-41EC-9CDB-C0F7A31B473E}"/>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spTree>
    <p:extLst>
      <p:ext uri="{BB962C8B-B14F-4D97-AF65-F5344CB8AC3E}">
        <p14:creationId xmlns:p14="http://schemas.microsoft.com/office/powerpoint/2010/main" val="2537031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7" name="矩形: 圆角 6">
            <a:extLst>
              <a:ext uri="{FF2B5EF4-FFF2-40B4-BE49-F238E27FC236}">
                <a16:creationId xmlns:a16="http://schemas.microsoft.com/office/drawing/2014/main" id="{8467D499-9A33-40AA-99F1-09E70CF7CD1C}"/>
              </a:ext>
            </a:extLst>
          </p:cNvPr>
          <p:cNvSpPr/>
          <p:nvPr/>
        </p:nvSpPr>
        <p:spPr>
          <a:xfrm>
            <a:off x="3815704"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0" name="矩形: 圆角 9">
            <a:extLst>
              <a:ext uri="{FF2B5EF4-FFF2-40B4-BE49-F238E27FC236}">
                <a16:creationId xmlns:a16="http://schemas.microsoft.com/office/drawing/2014/main" id="{451A1DA1-9CD0-4FA1-9C3C-48F183D3C738}"/>
              </a:ext>
            </a:extLst>
          </p:cNvPr>
          <p:cNvSpPr/>
          <p:nvPr/>
        </p:nvSpPr>
        <p:spPr>
          <a:xfrm>
            <a:off x="3815704"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1" name="矩形: 圆角 10">
            <a:extLst>
              <a:ext uri="{FF2B5EF4-FFF2-40B4-BE49-F238E27FC236}">
                <a16:creationId xmlns:a16="http://schemas.microsoft.com/office/drawing/2014/main" id="{FA89D6B5-0445-4731-B4B1-A841039F4A55}"/>
              </a:ext>
            </a:extLst>
          </p:cNvPr>
          <p:cNvSpPr/>
          <p:nvPr/>
        </p:nvSpPr>
        <p:spPr>
          <a:xfrm>
            <a:off x="3815704"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3" name="矩形: 圆角 12">
            <a:extLst>
              <a:ext uri="{FF2B5EF4-FFF2-40B4-BE49-F238E27FC236}">
                <a16:creationId xmlns:a16="http://schemas.microsoft.com/office/drawing/2014/main" id="{8FDC729E-6B63-4849-91D3-45430395F67F}"/>
              </a:ext>
            </a:extLst>
          </p:cNvPr>
          <p:cNvSpPr/>
          <p:nvPr/>
        </p:nvSpPr>
        <p:spPr>
          <a:xfrm>
            <a:off x="3815704"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FE08A764-CB7E-4882-83F6-146F267FAC06}"/>
              </a:ext>
            </a:extLst>
          </p:cNvPr>
          <p:cNvSpPr/>
          <p:nvPr/>
        </p:nvSpPr>
        <p:spPr>
          <a:xfrm>
            <a:off x="3815704"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29" name="立方体 28">
            <a:extLst>
              <a:ext uri="{FF2B5EF4-FFF2-40B4-BE49-F238E27FC236}">
                <a16:creationId xmlns:a16="http://schemas.microsoft.com/office/drawing/2014/main" id="{FAF996DA-DEA6-4C31-97C9-ECA892E19F65}"/>
              </a:ext>
            </a:extLst>
          </p:cNvPr>
          <p:cNvSpPr/>
          <p:nvPr/>
        </p:nvSpPr>
        <p:spPr>
          <a:xfrm>
            <a:off x="1920229" y="5437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30" name="立方体 29">
            <a:extLst>
              <a:ext uri="{FF2B5EF4-FFF2-40B4-BE49-F238E27FC236}">
                <a16:creationId xmlns:a16="http://schemas.microsoft.com/office/drawing/2014/main" id="{99C043DF-C8C8-470C-BCE1-CCD2710290F3}"/>
              </a:ext>
            </a:extLst>
          </p:cNvPr>
          <p:cNvSpPr/>
          <p:nvPr/>
        </p:nvSpPr>
        <p:spPr>
          <a:xfrm>
            <a:off x="1920229" y="4783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31" name="立方体 30">
            <a:extLst>
              <a:ext uri="{FF2B5EF4-FFF2-40B4-BE49-F238E27FC236}">
                <a16:creationId xmlns:a16="http://schemas.microsoft.com/office/drawing/2014/main" id="{A2AB3D4B-93BE-4188-B83A-626D780B3DB1}"/>
              </a:ext>
            </a:extLst>
          </p:cNvPr>
          <p:cNvSpPr/>
          <p:nvPr/>
        </p:nvSpPr>
        <p:spPr>
          <a:xfrm>
            <a:off x="1920229" y="4129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32" name="立方体 31">
            <a:extLst>
              <a:ext uri="{FF2B5EF4-FFF2-40B4-BE49-F238E27FC236}">
                <a16:creationId xmlns:a16="http://schemas.microsoft.com/office/drawing/2014/main" id="{7A75BD6E-F3A2-46C8-9E6E-4CA996C71900}"/>
              </a:ext>
            </a:extLst>
          </p:cNvPr>
          <p:cNvSpPr/>
          <p:nvPr/>
        </p:nvSpPr>
        <p:spPr>
          <a:xfrm>
            <a:off x="1920229" y="3474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33" name="立方体 32">
            <a:extLst>
              <a:ext uri="{FF2B5EF4-FFF2-40B4-BE49-F238E27FC236}">
                <a16:creationId xmlns:a16="http://schemas.microsoft.com/office/drawing/2014/main" id="{BD436471-6061-48A7-953C-CB22A14D71A0}"/>
              </a:ext>
            </a:extLst>
          </p:cNvPr>
          <p:cNvSpPr/>
          <p:nvPr/>
        </p:nvSpPr>
        <p:spPr>
          <a:xfrm>
            <a:off x="1920229" y="2820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23" name="直接箭头连接符 22">
            <a:extLst>
              <a:ext uri="{FF2B5EF4-FFF2-40B4-BE49-F238E27FC236}">
                <a16:creationId xmlns:a16="http://schemas.microsoft.com/office/drawing/2014/main" id="{8891EC35-E925-42E1-AED4-141A3EB7D48C}"/>
              </a:ext>
            </a:extLst>
          </p:cNvPr>
          <p:cNvCxnSpPr>
            <a:stCxn id="14" idx="2"/>
            <a:endCxn id="13" idx="0"/>
          </p:cNvCxnSpPr>
          <p:nvPr/>
        </p:nvCxnSpPr>
        <p:spPr>
          <a:xfrm>
            <a:off x="4535704"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419E64F-2031-4ED9-8818-DE3D950B00B7}"/>
              </a:ext>
            </a:extLst>
          </p:cNvPr>
          <p:cNvCxnSpPr>
            <a:stCxn id="13" idx="2"/>
            <a:endCxn id="11" idx="0"/>
          </p:cNvCxnSpPr>
          <p:nvPr/>
        </p:nvCxnSpPr>
        <p:spPr>
          <a:xfrm>
            <a:off x="4535704"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直接箭头连接符 26">
            <a:extLst>
              <a:ext uri="{FF2B5EF4-FFF2-40B4-BE49-F238E27FC236}">
                <a16:creationId xmlns:a16="http://schemas.microsoft.com/office/drawing/2014/main" id="{730D474A-9AAB-4CD1-9781-A43B4C556E01}"/>
              </a:ext>
            </a:extLst>
          </p:cNvPr>
          <p:cNvCxnSpPr>
            <a:stCxn id="11" idx="2"/>
            <a:endCxn id="10" idx="0"/>
          </p:cNvCxnSpPr>
          <p:nvPr/>
        </p:nvCxnSpPr>
        <p:spPr>
          <a:xfrm>
            <a:off x="4535704"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直接箭头连接符 36">
            <a:extLst>
              <a:ext uri="{FF2B5EF4-FFF2-40B4-BE49-F238E27FC236}">
                <a16:creationId xmlns:a16="http://schemas.microsoft.com/office/drawing/2014/main" id="{475FD488-5D2C-42AB-9BD7-EF6DBC3D4A09}"/>
              </a:ext>
            </a:extLst>
          </p:cNvPr>
          <p:cNvCxnSpPr>
            <a:stCxn id="10" idx="2"/>
            <a:endCxn id="7" idx="0"/>
          </p:cNvCxnSpPr>
          <p:nvPr/>
        </p:nvCxnSpPr>
        <p:spPr>
          <a:xfrm>
            <a:off x="4535704"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矩形: 圆角 43">
            <a:extLst>
              <a:ext uri="{FF2B5EF4-FFF2-40B4-BE49-F238E27FC236}">
                <a16:creationId xmlns:a16="http://schemas.microsoft.com/office/drawing/2014/main" id="{852A8CC3-AEFD-4D25-A0C6-F4BC5165873B}"/>
              </a:ext>
            </a:extLst>
          </p:cNvPr>
          <p:cNvSpPr/>
          <p:nvPr/>
        </p:nvSpPr>
        <p:spPr>
          <a:xfrm>
            <a:off x="6735260"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矩形: 圆角 44">
            <a:extLst>
              <a:ext uri="{FF2B5EF4-FFF2-40B4-BE49-F238E27FC236}">
                <a16:creationId xmlns:a16="http://schemas.microsoft.com/office/drawing/2014/main" id="{56D41E4B-B320-456C-A5CE-349C4E0CCCAC}"/>
              </a:ext>
            </a:extLst>
          </p:cNvPr>
          <p:cNvSpPr/>
          <p:nvPr/>
        </p:nvSpPr>
        <p:spPr>
          <a:xfrm>
            <a:off x="6735260"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6" name="矩形: 圆角 45">
            <a:extLst>
              <a:ext uri="{FF2B5EF4-FFF2-40B4-BE49-F238E27FC236}">
                <a16:creationId xmlns:a16="http://schemas.microsoft.com/office/drawing/2014/main" id="{714DF82E-DAAD-4A5A-9280-E45CB7315765}"/>
              </a:ext>
            </a:extLst>
          </p:cNvPr>
          <p:cNvSpPr/>
          <p:nvPr/>
        </p:nvSpPr>
        <p:spPr>
          <a:xfrm>
            <a:off x="6735260"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7" name="矩形: 圆角 46">
            <a:extLst>
              <a:ext uri="{FF2B5EF4-FFF2-40B4-BE49-F238E27FC236}">
                <a16:creationId xmlns:a16="http://schemas.microsoft.com/office/drawing/2014/main" id="{774ADB38-7F70-4391-9AF1-B06B73DC4956}"/>
              </a:ext>
            </a:extLst>
          </p:cNvPr>
          <p:cNvSpPr/>
          <p:nvPr/>
        </p:nvSpPr>
        <p:spPr>
          <a:xfrm>
            <a:off x="6735260"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8" name="矩形: 圆角 47">
            <a:extLst>
              <a:ext uri="{FF2B5EF4-FFF2-40B4-BE49-F238E27FC236}">
                <a16:creationId xmlns:a16="http://schemas.microsoft.com/office/drawing/2014/main" id="{3A3D58BC-C5F2-437B-B65E-331D373C4D73}"/>
              </a:ext>
            </a:extLst>
          </p:cNvPr>
          <p:cNvSpPr/>
          <p:nvPr/>
        </p:nvSpPr>
        <p:spPr>
          <a:xfrm>
            <a:off x="6735260"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59" name="立方体 58">
            <a:extLst>
              <a:ext uri="{FF2B5EF4-FFF2-40B4-BE49-F238E27FC236}">
                <a16:creationId xmlns:a16="http://schemas.microsoft.com/office/drawing/2014/main" id="{27E94816-F850-4907-A0A1-1322DB93087E}"/>
              </a:ext>
            </a:extLst>
          </p:cNvPr>
          <p:cNvSpPr/>
          <p:nvPr/>
        </p:nvSpPr>
        <p:spPr>
          <a:xfrm>
            <a:off x="8471772" y="5329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60" name="立方体 59">
            <a:extLst>
              <a:ext uri="{FF2B5EF4-FFF2-40B4-BE49-F238E27FC236}">
                <a16:creationId xmlns:a16="http://schemas.microsoft.com/office/drawing/2014/main" id="{E1E540F4-1078-41F0-9EBD-76EEF89977B2}"/>
              </a:ext>
            </a:extLst>
          </p:cNvPr>
          <p:cNvSpPr/>
          <p:nvPr/>
        </p:nvSpPr>
        <p:spPr>
          <a:xfrm>
            <a:off x="8471772" y="4675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61" name="立方体 60">
            <a:extLst>
              <a:ext uri="{FF2B5EF4-FFF2-40B4-BE49-F238E27FC236}">
                <a16:creationId xmlns:a16="http://schemas.microsoft.com/office/drawing/2014/main" id="{3EB107DA-E4C7-4088-BEA7-B02AAD1BF6BB}"/>
              </a:ext>
            </a:extLst>
          </p:cNvPr>
          <p:cNvSpPr/>
          <p:nvPr/>
        </p:nvSpPr>
        <p:spPr>
          <a:xfrm>
            <a:off x="8471772" y="4021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62" name="立方体 61">
            <a:extLst>
              <a:ext uri="{FF2B5EF4-FFF2-40B4-BE49-F238E27FC236}">
                <a16:creationId xmlns:a16="http://schemas.microsoft.com/office/drawing/2014/main" id="{C3D862B1-863A-40A7-8B27-C53970EF1156}"/>
              </a:ext>
            </a:extLst>
          </p:cNvPr>
          <p:cNvSpPr/>
          <p:nvPr/>
        </p:nvSpPr>
        <p:spPr>
          <a:xfrm>
            <a:off x="8471772" y="3366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63" name="立方体 62">
            <a:extLst>
              <a:ext uri="{FF2B5EF4-FFF2-40B4-BE49-F238E27FC236}">
                <a16:creationId xmlns:a16="http://schemas.microsoft.com/office/drawing/2014/main" id="{2564E61D-534F-481D-8D7C-E07D58192EC3}"/>
              </a:ext>
            </a:extLst>
          </p:cNvPr>
          <p:cNvSpPr/>
          <p:nvPr/>
        </p:nvSpPr>
        <p:spPr>
          <a:xfrm>
            <a:off x="8471772" y="2712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39" name="直接箭头连接符 38">
            <a:extLst>
              <a:ext uri="{FF2B5EF4-FFF2-40B4-BE49-F238E27FC236}">
                <a16:creationId xmlns:a16="http://schemas.microsoft.com/office/drawing/2014/main" id="{F3896C0E-6E43-4F5E-AF1E-4BF5047D32DE}"/>
              </a:ext>
            </a:extLst>
          </p:cNvPr>
          <p:cNvCxnSpPr>
            <a:stCxn id="44" idx="0"/>
            <a:endCxn id="45" idx="2"/>
          </p:cNvCxnSpPr>
          <p:nvPr/>
        </p:nvCxnSpPr>
        <p:spPr>
          <a:xfrm flipV="1">
            <a:off x="7455260"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a:extLst>
              <a:ext uri="{FF2B5EF4-FFF2-40B4-BE49-F238E27FC236}">
                <a16:creationId xmlns:a16="http://schemas.microsoft.com/office/drawing/2014/main" id="{23BA5F04-F5B1-437E-A179-6928D84B84B3}"/>
              </a:ext>
            </a:extLst>
          </p:cNvPr>
          <p:cNvCxnSpPr>
            <a:stCxn id="45" idx="0"/>
            <a:endCxn id="46" idx="2"/>
          </p:cNvCxnSpPr>
          <p:nvPr/>
        </p:nvCxnSpPr>
        <p:spPr>
          <a:xfrm flipV="1">
            <a:off x="7455260"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直接箭头连接符 42">
            <a:extLst>
              <a:ext uri="{FF2B5EF4-FFF2-40B4-BE49-F238E27FC236}">
                <a16:creationId xmlns:a16="http://schemas.microsoft.com/office/drawing/2014/main" id="{BA3EE261-8D61-468E-B1A5-095C38F46250}"/>
              </a:ext>
            </a:extLst>
          </p:cNvPr>
          <p:cNvCxnSpPr>
            <a:stCxn id="46" idx="0"/>
            <a:endCxn id="47" idx="2"/>
          </p:cNvCxnSpPr>
          <p:nvPr/>
        </p:nvCxnSpPr>
        <p:spPr>
          <a:xfrm flipV="1">
            <a:off x="7455260"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5" name="直接箭头连接符 64">
            <a:extLst>
              <a:ext uri="{FF2B5EF4-FFF2-40B4-BE49-F238E27FC236}">
                <a16:creationId xmlns:a16="http://schemas.microsoft.com/office/drawing/2014/main" id="{C5709091-E6A9-4495-9CCE-4B843B001B4A}"/>
              </a:ext>
            </a:extLst>
          </p:cNvPr>
          <p:cNvCxnSpPr>
            <a:stCxn id="47" idx="0"/>
            <a:endCxn id="48" idx="2"/>
          </p:cNvCxnSpPr>
          <p:nvPr/>
        </p:nvCxnSpPr>
        <p:spPr>
          <a:xfrm flipV="1">
            <a:off x="7455260"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7" name="直接箭头连接符 66">
            <a:extLst>
              <a:ext uri="{FF2B5EF4-FFF2-40B4-BE49-F238E27FC236}">
                <a16:creationId xmlns:a16="http://schemas.microsoft.com/office/drawing/2014/main" id="{4DFBBB1D-1A97-48E5-9BBC-07A8A0F9D168}"/>
              </a:ext>
            </a:extLst>
          </p:cNvPr>
          <p:cNvCxnSpPr>
            <a:cxnSpLocks/>
            <a:stCxn id="7" idx="3"/>
            <a:endCxn id="44" idx="1"/>
          </p:cNvCxnSpPr>
          <p:nvPr/>
        </p:nvCxnSpPr>
        <p:spPr>
          <a:xfrm>
            <a:off x="5255704" y="5725239"/>
            <a:ext cx="147955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矩形: 圆角 70">
            <a:extLst>
              <a:ext uri="{FF2B5EF4-FFF2-40B4-BE49-F238E27FC236}">
                <a16:creationId xmlns:a16="http://schemas.microsoft.com/office/drawing/2014/main" id="{A9C3FAF8-39B2-4861-8F28-32FCF704E39C}"/>
              </a:ext>
            </a:extLst>
          </p:cNvPr>
          <p:cNvSpPr/>
          <p:nvPr/>
        </p:nvSpPr>
        <p:spPr>
          <a:xfrm>
            <a:off x="5275482" y="5329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Roboto" panose="02000000000000000000" pitchFamily="2" charset="0"/>
                <a:ea typeface="微软雅黑 Light" panose="020B0502040204020203" pitchFamily="34" charset="-122"/>
              </a:rPr>
              <a:t>media</a:t>
            </a:r>
            <a:endParaRPr lang="zh-CN" altLang="en-US" sz="16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8504205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r>
              <a:rPr lang="en-US" altLang="zh-CN" dirty="0"/>
              <a:t>-</a:t>
            </a:r>
            <a:r>
              <a:rPr lang="zh-CN" altLang="en-US" dirty="0"/>
              <a:t>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Architecture-layers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28" name="文本框 27">
            <a:extLst>
              <a:ext uri="{FF2B5EF4-FFF2-40B4-BE49-F238E27FC236}">
                <a16:creationId xmlns:a16="http://schemas.microsoft.com/office/drawing/2014/main" id="{53F35C49-FA59-4FE3-9E6F-4697805FCC95}"/>
              </a:ext>
            </a:extLst>
          </p:cNvPr>
          <p:cNvSpPr txBox="1"/>
          <p:nvPr/>
        </p:nvSpPr>
        <p:spPr>
          <a:xfrm>
            <a:off x="344961" y="1929398"/>
            <a:ext cx="2069797" cy="1631216"/>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业务独立</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灵活性好</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易于维护</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易于实现</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有利于标准化</a:t>
            </a:r>
          </a:p>
        </p:txBody>
      </p:sp>
      <p:pic>
        <p:nvPicPr>
          <p:cNvPr id="9" name="图形 8" descr="拼图">
            <a:extLst>
              <a:ext uri="{FF2B5EF4-FFF2-40B4-BE49-F238E27FC236}">
                <a16:creationId xmlns:a16="http://schemas.microsoft.com/office/drawing/2014/main" id="{42B02AA8-9FA7-4420-B0A1-6B0E9A393DC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a:effectLst>
            <a:outerShdw blurRad="50800" dist="38100" dir="5400000" algn="t" rotWithShape="0">
              <a:prstClr val="black">
                <a:alpha val="40000"/>
              </a:prstClr>
            </a:outerShdw>
          </a:effectLst>
        </p:spPr>
      </p:pic>
      <p:sp>
        <p:nvSpPr>
          <p:cNvPr id="31" name="文本框 30">
            <a:extLst>
              <a:ext uri="{FF2B5EF4-FFF2-40B4-BE49-F238E27FC236}">
                <a16:creationId xmlns:a16="http://schemas.microsoft.com/office/drawing/2014/main" id="{28C43002-A7C9-47FE-B070-F920733E81DB}"/>
              </a:ext>
            </a:extLst>
          </p:cNvPr>
          <p:cNvSpPr txBox="1"/>
          <p:nvPr/>
        </p:nvSpPr>
        <p:spPr>
          <a:xfrm>
            <a:off x="6553200" y="3228945"/>
            <a:ext cx="95410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模块化</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1009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704313"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实体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Entity</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6607899" cy="369332"/>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任何可发送或接收信息的硬件或软件进程，即：通信的参与者</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3256058"/>
            <a:ext cx="1991251"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Protocol</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3787000"/>
            <a:ext cx="8016938" cy="1200329"/>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计算机网络中数据交换时应遵循的规则、标准或约定；协议三要素：</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语法：数据和控制信息的结构和格式（是什么</a:t>
            </a:r>
            <a:r>
              <a:rPr lang="en-US" altLang="zh-CN" dirty="0">
                <a:latin typeface="Roboto" panose="02000000000000000000" pitchFamily="2" charset="0"/>
                <a:ea typeface="微软雅黑 Light" panose="020B0502040204020203" pitchFamily="34" charset="-122"/>
              </a:rPr>
              <a:t>-what</a:t>
            </a:r>
            <a:r>
              <a:rPr lang="zh-CN" altLang="en-US" dirty="0">
                <a:latin typeface="Roboto" panose="02000000000000000000" pitchFamily="2" charset="0"/>
                <a:ea typeface="微软雅黑 Light" panose="020B0502040204020203" pitchFamily="34" charset="-122"/>
              </a:rPr>
              <a:t>）</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语义：发出何种控制信息、完成何种动作、做出何种响应（怎么做</a:t>
            </a:r>
            <a:r>
              <a:rPr lang="en-US" altLang="zh-CN" dirty="0">
                <a:latin typeface="Roboto" panose="02000000000000000000" pitchFamily="2" charset="0"/>
                <a:ea typeface="微软雅黑 Light" panose="020B0502040204020203" pitchFamily="34" charset="-122"/>
              </a:rPr>
              <a:t>-how</a:t>
            </a:r>
            <a:r>
              <a:rPr lang="zh-CN" altLang="en-US" dirty="0">
                <a:latin typeface="Roboto" panose="02000000000000000000" pitchFamily="2" charset="0"/>
                <a:ea typeface="微软雅黑 Light" panose="020B0502040204020203" pitchFamily="34" charset="-122"/>
              </a:rPr>
              <a:t>）</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同步：事件实现的顺序（何时做</a:t>
            </a:r>
            <a:r>
              <a:rPr lang="en-US" altLang="zh-CN" dirty="0">
                <a:solidFill>
                  <a:schemeClr val="tx1"/>
                </a:solidFill>
                <a:latin typeface="Roboto" panose="02000000000000000000" pitchFamily="2" charset="0"/>
                <a:ea typeface="微软雅黑 Light" panose="020B0502040204020203" pitchFamily="34" charset="-122"/>
              </a:rPr>
              <a:t>-when</a:t>
            </a:r>
            <a:r>
              <a:rPr lang="zh-CN" altLang="en-US" dirty="0">
                <a:solidFill>
                  <a:schemeClr val="tx1"/>
                </a:solidFill>
                <a:latin typeface="Roboto" panose="02000000000000000000" pitchFamily="2" charset="0"/>
                <a:ea typeface="微软雅黑 Light" panose="020B0502040204020203" pitchFamily="34" charset="-122"/>
              </a:rPr>
              <a:t>）</a:t>
            </a: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365616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47781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991251"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Roboto" panose="02000000000000000000" pitchFamily="2" charset="0"/>
                <a:ea typeface="微软雅黑 Light" panose="020B0502040204020203" pitchFamily="34" charset="-122"/>
              </a:rPr>
              <a:t>Protocol</a:t>
            </a: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800493" cy="369332"/>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协议的异常处理</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33923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816523"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Service</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0932801" cy="923330"/>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各层向它的上一层提供的一组操作，分：</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面向连接的服务</a:t>
            </a:r>
            <a:r>
              <a:rPr lang="en-US" altLang="zh-CN" dirty="0">
                <a:solidFill>
                  <a:schemeClr val="tx1"/>
                </a:solidFill>
                <a:latin typeface="Roboto" panose="02000000000000000000" pitchFamily="2" charset="0"/>
                <a:ea typeface="微软雅黑 Light" panose="020B0502040204020203" pitchFamily="34" charset="-122"/>
              </a:rPr>
              <a:t>-connection-oriented</a:t>
            </a:r>
            <a:r>
              <a:rPr lang="zh-CN" altLang="en-US" dirty="0">
                <a:solidFill>
                  <a:schemeClr val="tx1"/>
                </a:solidFill>
                <a:latin typeface="Roboto" panose="02000000000000000000" pitchFamily="2" charset="0"/>
                <a:ea typeface="微软雅黑 Light" panose="020B0502040204020203" pitchFamily="34" charset="-122"/>
              </a:rPr>
              <a:t>：</a:t>
            </a:r>
            <a:r>
              <a:rPr lang="zh-CN" altLang="en-US" dirty="0">
                <a:latin typeface="Roboto" panose="02000000000000000000" pitchFamily="2" charset="0"/>
                <a:ea typeface="微软雅黑 Light" panose="020B0502040204020203" pitchFamily="34" charset="-122"/>
              </a:rPr>
              <a:t>链接建立 </a:t>
            </a:r>
            <a:r>
              <a:rPr lang="en-US" altLang="zh-CN" dirty="0">
                <a:latin typeface="Roboto" panose="02000000000000000000" pitchFamily="2" charset="0"/>
                <a:ea typeface="微软雅黑 Light" panose="020B0502040204020203" pitchFamily="34" charset="-122"/>
              </a:rPr>
              <a:t>– </a:t>
            </a:r>
            <a:r>
              <a:rPr lang="zh-CN" altLang="en-US" dirty="0">
                <a:latin typeface="Roboto" panose="02000000000000000000" pitchFamily="2" charset="0"/>
                <a:ea typeface="微软雅黑 Light" panose="020B0502040204020203" pitchFamily="34" charset="-122"/>
              </a:rPr>
              <a:t>通信</a:t>
            </a:r>
            <a:r>
              <a:rPr lang="en-US" altLang="zh-CN" dirty="0">
                <a:latin typeface="Roboto" panose="02000000000000000000" pitchFamily="2" charset="0"/>
                <a:ea typeface="微软雅黑 Light" panose="020B0502040204020203" pitchFamily="34" charset="-122"/>
              </a:rPr>
              <a:t>/</a:t>
            </a:r>
            <a:r>
              <a:rPr lang="zh-CN" altLang="en-US" dirty="0">
                <a:latin typeface="Roboto" panose="02000000000000000000" pitchFamily="2" charset="0"/>
                <a:ea typeface="微软雅黑 Light" panose="020B0502040204020203" pitchFamily="34" charset="-122"/>
              </a:rPr>
              <a:t>数据传输 </a:t>
            </a:r>
            <a:r>
              <a:rPr lang="en-US" altLang="zh-CN" dirty="0">
                <a:latin typeface="Roboto" panose="02000000000000000000" pitchFamily="2" charset="0"/>
                <a:ea typeface="微软雅黑 Light" panose="020B0502040204020203" pitchFamily="34" charset="-122"/>
              </a:rPr>
              <a:t>– </a:t>
            </a:r>
            <a:r>
              <a:rPr lang="zh-CN" altLang="en-US" dirty="0">
                <a:latin typeface="Roboto" panose="02000000000000000000" pitchFamily="2" charset="0"/>
                <a:ea typeface="微软雅黑 Light" panose="020B0502040204020203" pitchFamily="34" charset="-122"/>
              </a:rPr>
              <a:t>链接释放；可靠通信；</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无连接的服务</a:t>
            </a:r>
            <a:r>
              <a:rPr lang="en-US" altLang="zh-CN" dirty="0">
                <a:latin typeface="Roboto" panose="02000000000000000000" pitchFamily="2" charset="0"/>
                <a:ea typeface="微软雅黑 Light" panose="020B0502040204020203" pitchFamily="34" charset="-122"/>
              </a:rPr>
              <a:t>-connectionless</a:t>
            </a:r>
            <a:r>
              <a:rPr lang="zh-CN" altLang="en-US" dirty="0">
                <a:latin typeface="Roboto" panose="02000000000000000000" pitchFamily="2" charset="0"/>
                <a:ea typeface="微软雅黑 Light" panose="020B0502040204020203" pitchFamily="34" charset="-122"/>
              </a:rPr>
              <a:t>：通信实体不需要链接；不可靠；尽最大努力交付（</a:t>
            </a:r>
            <a:r>
              <a:rPr lang="en-US" altLang="zh-CN" dirty="0">
                <a:latin typeface="Roboto" panose="02000000000000000000" pitchFamily="2" charset="0"/>
                <a:ea typeface="微软雅黑 Light" panose="020B0502040204020203" pitchFamily="34" charset="-122"/>
              </a:rPr>
              <a:t>best effort delivery</a:t>
            </a:r>
            <a:r>
              <a:rPr lang="zh-CN" altLang="en-US" dirty="0">
                <a:latin typeface="Roboto" panose="02000000000000000000" pitchFamily="2" charset="0"/>
                <a:ea typeface="微软雅黑 Light" panose="020B0502040204020203" pitchFamily="34" charset="-122"/>
              </a:rPr>
              <a:t>）</a:t>
            </a:r>
            <a:endParaRPr lang="zh-CN" altLang="en-US" dirty="0">
              <a:solidFill>
                <a:schemeClr val="tx1"/>
              </a:solidFill>
              <a:latin typeface="Roboto" panose="02000000000000000000" pitchFamily="2" charset="0"/>
              <a:ea typeface="微软雅黑 Light" panose="020B0502040204020203" pitchFamily="34" charset="-122"/>
            </a:endParaRP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4327777"/>
            <a:ext cx="4381328"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服务访问点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Roboto" panose="02000000000000000000" pitchFamily="2" charset="0"/>
                <a:ea typeface="微软雅黑 Light" panose="020B0502040204020203" pitchFamily="34" charset="-122"/>
              </a:rPr>
              <a:t>SAP - Service </a:t>
            </a:r>
            <a:r>
              <a:rPr lang="en-US" altLang="zh-CN" sz="1600" dirty="0">
                <a:solidFill>
                  <a:schemeClr val="tx1"/>
                </a:solidFill>
                <a:latin typeface="Roboto" panose="02000000000000000000" pitchFamily="2" charset="0"/>
                <a:ea typeface="微软雅黑 Light" panose="020B0502040204020203" pitchFamily="34" charset="-122"/>
              </a:rPr>
              <a:t>Access Point</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4858719"/>
            <a:ext cx="4815742" cy="646331"/>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相邻俩层的实体进行交互</a:t>
            </a:r>
            <a:r>
              <a:rPr lang="en-US" altLang="zh-CN" dirty="0">
                <a:solidFill>
                  <a:schemeClr val="tx1"/>
                </a:solidFill>
                <a:latin typeface="Roboto" panose="02000000000000000000" pitchFamily="2" charset="0"/>
                <a:ea typeface="微软雅黑 Light" panose="020B0502040204020203" pitchFamily="34" charset="-122"/>
              </a:rPr>
              <a:t>/</a:t>
            </a:r>
            <a:r>
              <a:rPr lang="zh-CN" altLang="en-US" dirty="0">
                <a:solidFill>
                  <a:schemeClr val="tx1"/>
                </a:solidFill>
                <a:latin typeface="Roboto" panose="02000000000000000000" pitchFamily="2" charset="0"/>
                <a:ea typeface="微软雅黑 Light" panose="020B0502040204020203" pitchFamily="34" charset="-122"/>
              </a:rPr>
              <a:t>通信的地方</a:t>
            </a:r>
            <a:endParaRPr lang="en-US" altLang="zh-CN" dirty="0">
              <a:solidFill>
                <a:schemeClr val="tx1"/>
              </a:solidFill>
              <a:latin typeface="Roboto" panose="02000000000000000000" pitchFamily="2" charset="0"/>
              <a:ea typeface="微软雅黑 Light" panose="020B0502040204020203" pitchFamily="34" charset="-122"/>
            </a:endParaRPr>
          </a:p>
          <a:p>
            <a:pPr>
              <a:buClr>
                <a:schemeClr val="accent2"/>
              </a:buClr>
            </a:pPr>
            <a:r>
              <a:rPr lang="en-US" altLang="zh-CN" dirty="0">
                <a:latin typeface="Roboto" panose="02000000000000000000" pitchFamily="2" charset="0"/>
                <a:ea typeface="微软雅黑 Light" panose="020B0502040204020203" pitchFamily="34" charset="-122"/>
              </a:rPr>
              <a:t>n</a:t>
            </a:r>
            <a:r>
              <a:rPr lang="zh-CN" altLang="en-US" dirty="0">
                <a:latin typeface="Roboto" panose="02000000000000000000" pitchFamily="2" charset="0"/>
                <a:ea typeface="微软雅黑 Light" panose="020B0502040204020203" pitchFamily="34" charset="-122"/>
              </a:rPr>
              <a:t>层的</a:t>
            </a:r>
            <a:r>
              <a:rPr lang="en-US" altLang="zh-CN" dirty="0">
                <a:latin typeface="Roboto" panose="02000000000000000000" pitchFamily="2" charset="0"/>
                <a:ea typeface="微软雅黑 Light" panose="020B0502040204020203" pitchFamily="34" charset="-122"/>
              </a:rPr>
              <a:t>SAP</a:t>
            </a:r>
            <a:r>
              <a:rPr lang="zh-CN" altLang="en-US" dirty="0">
                <a:latin typeface="Roboto" panose="02000000000000000000" pitchFamily="2" charset="0"/>
                <a:ea typeface="微软雅黑 Light" panose="020B0502040204020203" pitchFamily="34" charset="-122"/>
              </a:rPr>
              <a:t>就是</a:t>
            </a:r>
            <a:r>
              <a:rPr lang="en-US" altLang="zh-CN" dirty="0">
                <a:latin typeface="Roboto" panose="02000000000000000000" pitchFamily="2" charset="0"/>
                <a:ea typeface="微软雅黑 Light" panose="020B0502040204020203" pitchFamily="34" charset="-122"/>
              </a:rPr>
              <a:t>n+1</a:t>
            </a:r>
            <a:r>
              <a:rPr lang="zh-CN" altLang="en-US" dirty="0">
                <a:latin typeface="Roboto" panose="02000000000000000000" pitchFamily="2" charset="0"/>
                <a:ea typeface="微软雅黑 Light" panose="020B0502040204020203" pitchFamily="34" charset="-122"/>
              </a:rPr>
              <a:t>层可以访问</a:t>
            </a:r>
            <a:r>
              <a:rPr lang="en-US" altLang="zh-CN" dirty="0">
                <a:latin typeface="Roboto" panose="02000000000000000000" pitchFamily="2" charset="0"/>
                <a:ea typeface="微软雅黑 Light" panose="020B0502040204020203" pitchFamily="34" charset="-122"/>
              </a:rPr>
              <a:t>n</a:t>
            </a:r>
            <a:r>
              <a:rPr lang="zh-CN" altLang="en-US" dirty="0">
                <a:latin typeface="Roboto" panose="02000000000000000000" pitchFamily="2" charset="0"/>
                <a:ea typeface="微软雅黑 Light" panose="020B0502040204020203" pitchFamily="34" charset="-122"/>
              </a:rPr>
              <a:t>层服务的地方</a:t>
            </a:r>
            <a:endParaRPr lang="zh-CN" altLang="en-US" dirty="0">
              <a:solidFill>
                <a:schemeClr val="tx1"/>
              </a:solidFill>
              <a:latin typeface="Roboto" panose="020000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4727887"/>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6901876" y="4839998"/>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6901876" y="578410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7729876" y="573076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7843396" y="5549668"/>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8953449" y="4958721"/>
            <a:ext cx="1005403"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8953449" y="5902828"/>
            <a:ext cx="1210588"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8701876" y="5055998"/>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8701876" y="6000105"/>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6240780" y="5633488"/>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7396469" y="5441815"/>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7038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cxnSp>
        <p:nvCxnSpPr>
          <p:cNvPr id="8" name="直接连接符 7">
            <a:extLst>
              <a:ext uri="{FF2B5EF4-FFF2-40B4-BE49-F238E27FC236}">
                <a16:creationId xmlns:a16="http://schemas.microsoft.com/office/drawing/2014/main" id="{42289E8E-6D71-4CE8-B7A1-F74750442C6B}"/>
              </a:ext>
            </a:extLst>
          </p:cNvPr>
          <p:cNvCxnSpPr>
            <a:cxnSpLocks/>
          </p:cNvCxnSpPr>
          <p:nvPr/>
        </p:nvCxnSpPr>
        <p:spPr>
          <a:xfrm>
            <a:off x="398622" y="2729512"/>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7806849"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7806849"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8634849"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8748369" y="5129226"/>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9858422" y="4538279"/>
            <a:ext cx="1005403"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9858422" y="5482386"/>
            <a:ext cx="1210588"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9606849" y="4635556"/>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9606849" y="5579663"/>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7145753"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8301442" y="5021373"/>
            <a:ext cx="144000" cy="425325"/>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9" name="组合 18">
            <a:extLst>
              <a:ext uri="{FF2B5EF4-FFF2-40B4-BE49-F238E27FC236}">
                <a16:creationId xmlns:a16="http://schemas.microsoft.com/office/drawing/2014/main" id="{2635D3E6-AAE4-4845-A0B2-ADCFCDF061CB}"/>
              </a:ext>
            </a:extLst>
          </p:cNvPr>
          <p:cNvGrpSpPr/>
          <p:nvPr/>
        </p:nvGrpSpPr>
        <p:grpSpPr>
          <a:xfrm>
            <a:off x="5379562" y="1968402"/>
            <a:ext cx="1432876" cy="914400"/>
            <a:chOff x="5713800" y="3046800"/>
            <a:chExt cx="1432876" cy="914400"/>
          </a:xfrm>
          <a:effectLst>
            <a:outerShdw blurRad="50800" dist="38100" dir="2700000" algn="tl" rotWithShape="0">
              <a:prstClr val="black">
                <a:alpha val="40000"/>
              </a:prstClr>
            </a:outerShdw>
          </a:effectLst>
        </p:grpSpPr>
        <p:pic>
          <p:nvPicPr>
            <p:cNvPr id="9" name="图形 8" descr="返回">
              <a:extLst>
                <a:ext uri="{FF2B5EF4-FFF2-40B4-BE49-F238E27FC236}">
                  <a16:creationId xmlns:a16="http://schemas.microsoft.com/office/drawing/2014/main" id="{52BE0215-523E-4B92-B89E-2DCCA70654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3800" y="3046800"/>
              <a:ext cx="914400" cy="914400"/>
            </a:xfrm>
            <a:prstGeom prst="rect">
              <a:avLst/>
            </a:prstGeom>
          </p:spPr>
        </p:pic>
        <p:pic>
          <p:nvPicPr>
            <p:cNvPr id="17" name="图形 16" descr="后退 RTL">
              <a:extLst>
                <a:ext uri="{FF2B5EF4-FFF2-40B4-BE49-F238E27FC236}">
                  <a16:creationId xmlns:a16="http://schemas.microsoft.com/office/drawing/2014/main" id="{DB21587E-C8D1-4036-986E-7F738F43631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32276" y="3046800"/>
              <a:ext cx="914400" cy="914400"/>
            </a:xfrm>
            <a:prstGeom prst="rect">
              <a:avLst/>
            </a:prstGeom>
          </p:spPr>
        </p:pic>
      </p:grpSp>
      <p:sp>
        <p:nvSpPr>
          <p:cNvPr id="29" name="立方体 28">
            <a:extLst>
              <a:ext uri="{FF2B5EF4-FFF2-40B4-BE49-F238E27FC236}">
                <a16:creationId xmlns:a16="http://schemas.microsoft.com/office/drawing/2014/main" id="{1DC5AE48-AFC0-4498-A0BD-216B8E26F24D}"/>
              </a:ext>
            </a:extLst>
          </p:cNvPr>
          <p:cNvSpPr/>
          <p:nvPr/>
        </p:nvSpPr>
        <p:spPr>
          <a:xfrm>
            <a:off x="2508201"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30" name="立方体 29">
            <a:extLst>
              <a:ext uri="{FF2B5EF4-FFF2-40B4-BE49-F238E27FC236}">
                <a16:creationId xmlns:a16="http://schemas.microsoft.com/office/drawing/2014/main" id="{015FECF6-96B7-4FE0-9729-15709E7F05E3}"/>
              </a:ext>
            </a:extLst>
          </p:cNvPr>
          <p:cNvSpPr/>
          <p:nvPr/>
        </p:nvSpPr>
        <p:spPr>
          <a:xfrm>
            <a:off x="2508201"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32" name="立方体 31">
            <a:extLst>
              <a:ext uri="{FF2B5EF4-FFF2-40B4-BE49-F238E27FC236}">
                <a16:creationId xmlns:a16="http://schemas.microsoft.com/office/drawing/2014/main" id="{370991CD-C76C-44B5-87D0-49D53FA4E6F4}"/>
              </a:ext>
            </a:extLst>
          </p:cNvPr>
          <p:cNvSpPr/>
          <p:nvPr/>
        </p:nvSpPr>
        <p:spPr>
          <a:xfrm>
            <a:off x="3336201"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33" name="文本框 32">
            <a:extLst>
              <a:ext uri="{FF2B5EF4-FFF2-40B4-BE49-F238E27FC236}">
                <a16:creationId xmlns:a16="http://schemas.microsoft.com/office/drawing/2014/main" id="{1BECD96C-970D-4B96-926F-95AFA81A07C1}"/>
              </a:ext>
            </a:extLst>
          </p:cNvPr>
          <p:cNvSpPr txBox="1"/>
          <p:nvPr/>
        </p:nvSpPr>
        <p:spPr>
          <a:xfrm>
            <a:off x="3449721" y="5129226"/>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34" name="文本框 33">
            <a:extLst>
              <a:ext uri="{FF2B5EF4-FFF2-40B4-BE49-F238E27FC236}">
                <a16:creationId xmlns:a16="http://schemas.microsoft.com/office/drawing/2014/main" id="{FFBC8401-996C-4625-A91A-5B9385240379}"/>
              </a:ext>
            </a:extLst>
          </p:cNvPr>
          <p:cNvSpPr txBox="1"/>
          <p:nvPr/>
        </p:nvSpPr>
        <p:spPr>
          <a:xfrm>
            <a:off x="5798483" y="4466279"/>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sp>
        <p:nvSpPr>
          <p:cNvPr id="35" name="文本框 34">
            <a:extLst>
              <a:ext uri="{FF2B5EF4-FFF2-40B4-BE49-F238E27FC236}">
                <a16:creationId xmlns:a16="http://schemas.microsoft.com/office/drawing/2014/main" id="{18AF8F68-1D94-4B4B-8959-D9A43B3266A9}"/>
              </a:ext>
            </a:extLst>
          </p:cNvPr>
          <p:cNvSpPr txBox="1"/>
          <p:nvPr/>
        </p:nvSpPr>
        <p:spPr>
          <a:xfrm>
            <a:off x="5798483" y="5396192"/>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cxnSp>
        <p:nvCxnSpPr>
          <p:cNvPr id="36" name="直接连接符 35">
            <a:extLst>
              <a:ext uri="{FF2B5EF4-FFF2-40B4-BE49-F238E27FC236}">
                <a16:creationId xmlns:a16="http://schemas.microsoft.com/office/drawing/2014/main" id="{820D4322-FA19-4C30-B312-2B2FFBA15550}"/>
              </a:ext>
            </a:extLst>
          </p:cNvPr>
          <p:cNvCxnSpPr>
            <a:cxnSpLocks/>
            <a:stCxn id="29" idx="4"/>
            <a:endCxn id="13" idx="2"/>
          </p:cNvCxnSpPr>
          <p:nvPr/>
        </p:nvCxnSpPr>
        <p:spPr>
          <a:xfrm>
            <a:off x="4164201" y="4779556"/>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F4E962B9-23D9-46EB-BAB7-1BE1176AE9FC}"/>
              </a:ext>
            </a:extLst>
          </p:cNvPr>
          <p:cNvCxnSpPr>
            <a:cxnSpLocks/>
            <a:stCxn id="30" idx="4"/>
            <a:endCxn id="14" idx="2"/>
          </p:cNvCxnSpPr>
          <p:nvPr/>
        </p:nvCxnSpPr>
        <p:spPr>
          <a:xfrm>
            <a:off x="4164201" y="5723663"/>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97D914C3-78EA-447E-B421-D1A52503013C}"/>
              </a:ext>
            </a:extLst>
          </p:cNvPr>
          <p:cNvCxnSpPr/>
          <p:nvPr/>
        </p:nvCxnSpPr>
        <p:spPr>
          <a:xfrm>
            <a:off x="1847105"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9" name="箭头: 上下 38">
            <a:extLst>
              <a:ext uri="{FF2B5EF4-FFF2-40B4-BE49-F238E27FC236}">
                <a16:creationId xmlns:a16="http://schemas.microsoft.com/office/drawing/2014/main" id="{60A5166E-B1D1-41B1-8801-BD35E6AA0475}"/>
              </a:ext>
            </a:extLst>
          </p:cNvPr>
          <p:cNvSpPr/>
          <p:nvPr/>
        </p:nvSpPr>
        <p:spPr>
          <a:xfrm>
            <a:off x="3002794" y="5021373"/>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a:extLst>
              <a:ext uri="{FF2B5EF4-FFF2-40B4-BE49-F238E27FC236}">
                <a16:creationId xmlns:a16="http://schemas.microsoft.com/office/drawing/2014/main" id="{40AA6FFE-895E-47F0-8D55-2BAFB73ECED8}"/>
              </a:ext>
            </a:extLst>
          </p:cNvPr>
          <p:cNvSpPr txBox="1"/>
          <p:nvPr/>
        </p:nvSpPr>
        <p:spPr>
          <a:xfrm>
            <a:off x="3755841" y="2329402"/>
            <a:ext cx="1471878"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协议</a:t>
            </a:r>
            <a:r>
              <a:rPr lang="en-US" altLang="zh-CN" sz="1600" dirty="0">
                <a:latin typeface="Roboto" panose="02000000000000000000" pitchFamily="2" charset="0"/>
                <a:ea typeface="微软雅黑 Light" panose="020B0502040204020203" pitchFamily="34" charset="-122"/>
              </a:rPr>
              <a:t>Protocol</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44" name="文本框 43">
            <a:extLst>
              <a:ext uri="{FF2B5EF4-FFF2-40B4-BE49-F238E27FC236}">
                <a16:creationId xmlns:a16="http://schemas.microsoft.com/office/drawing/2014/main" id="{EB6D5289-6F6A-46E3-A569-243A276D7487}"/>
              </a:ext>
            </a:extLst>
          </p:cNvPr>
          <p:cNvSpPr txBox="1"/>
          <p:nvPr/>
        </p:nvSpPr>
        <p:spPr>
          <a:xfrm>
            <a:off x="7055654" y="2329402"/>
            <a:ext cx="1362874"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en-US" altLang="zh-CN" sz="1600" dirty="0">
                <a:solidFill>
                  <a:schemeClr val="tx1"/>
                </a:solidFill>
                <a:latin typeface="Roboto" panose="02000000000000000000" pitchFamily="2" charset="0"/>
                <a:ea typeface="微软雅黑 Light" panose="020B0502040204020203" pitchFamily="34" charset="-122"/>
              </a:rPr>
              <a:t>Service</a:t>
            </a:r>
            <a:endParaRPr lang="zh-CN" altLang="en-US" sz="16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4280773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物理层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187404" cy="2431435"/>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位置：体系结构的最底层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作用：利用物理介质为网络节点建立、管理和释放链接；为数据链路层提供数据传输服务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特点：比特流的</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dirty="0">
                <a:latin typeface="微软雅黑 Light" panose="020B0502040204020203" pitchFamily="34" charset="-122"/>
                <a:ea typeface="微软雅黑 Light" panose="020B0502040204020203" pitchFamily="34" charset="-122"/>
              </a:rPr>
              <a:t>传输</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：比特</a:t>
            </a:r>
            <a:r>
              <a:rPr lang="en-US" altLang="zh-CN" dirty="0">
                <a:solidFill>
                  <a:schemeClr val="tx1"/>
                </a:solidFill>
                <a:latin typeface="Roboto" panose="02000000000000000000" pitchFamily="2" charset="0"/>
                <a:ea typeface="微软雅黑 Light" panose="020B0502040204020203" pitchFamily="34" charset="-122"/>
              </a:rPr>
              <a:t>bit</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关键：</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如何表示</a:t>
            </a:r>
            <a:r>
              <a:rPr lang="en-US" altLang="zh-CN" dirty="0">
                <a:solidFill>
                  <a:schemeClr val="tx1"/>
                </a:solidFill>
                <a:latin typeface="Roboto" panose="02000000000000000000" pitchFamily="2" charset="0"/>
                <a:ea typeface="微软雅黑 Light" panose="020B0502040204020203" pitchFamily="34" charset="-122"/>
              </a:rPr>
              <a:t>bit</a:t>
            </a:r>
            <a:r>
              <a:rPr lang="zh-CN" altLang="en-US" dirty="0">
                <a:solidFill>
                  <a:schemeClr val="tx1"/>
                </a:solidFill>
                <a:latin typeface="Roboto" panose="02000000000000000000" pitchFamily="2" charset="0"/>
                <a:ea typeface="微软雅黑 Light" panose="020B0502040204020203" pitchFamily="34" charset="-122"/>
              </a:rPr>
              <a:t>？</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如何识别</a:t>
            </a:r>
            <a:r>
              <a:rPr lang="en-US" altLang="zh-CN" dirty="0">
                <a:latin typeface="Roboto" panose="02000000000000000000" pitchFamily="2" charset="0"/>
                <a:ea typeface="微软雅黑 Light" panose="020B0502040204020203" pitchFamily="34" charset="-122"/>
              </a:rPr>
              <a:t>bit</a:t>
            </a:r>
            <a:r>
              <a:rPr lang="zh-CN" altLang="en-US" dirty="0">
                <a:latin typeface="Roboto" panose="02000000000000000000" pitchFamily="2" charset="0"/>
                <a:ea typeface="微软雅黑 Light" panose="020B0502040204020203" pitchFamily="34" charset="-122"/>
              </a:rPr>
              <a:t>？</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4BC7D60A-C012-4B45-AD72-94920DD3EC51}"/>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8" name="立方体 7">
            <a:extLst>
              <a:ext uri="{FF2B5EF4-FFF2-40B4-BE49-F238E27FC236}">
                <a16:creationId xmlns:a16="http://schemas.microsoft.com/office/drawing/2014/main" id="{D8EE9725-0E28-49AB-8B3A-26E7826138C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9" name="立方体 8">
            <a:extLst>
              <a:ext uri="{FF2B5EF4-FFF2-40B4-BE49-F238E27FC236}">
                <a16:creationId xmlns:a16="http://schemas.microsoft.com/office/drawing/2014/main" id="{ABE8A5CB-960E-4456-9A2A-A5A2A67EFB34}"/>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1F835466-EE12-4E83-8D46-60BDB8F3465B}"/>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5" name="直接连接符 14">
            <a:extLst>
              <a:ext uri="{FF2B5EF4-FFF2-40B4-BE49-F238E27FC236}">
                <a16:creationId xmlns:a16="http://schemas.microsoft.com/office/drawing/2014/main" id="{C9D7ECB8-9236-43CF-A47F-8A2433DEB381}"/>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箭头: 上下 15">
            <a:extLst>
              <a:ext uri="{FF2B5EF4-FFF2-40B4-BE49-F238E27FC236}">
                <a16:creationId xmlns:a16="http://schemas.microsoft.com/office/drawing/2014/main" id="{6C2CE038-F130-4AB4-8497-A37A68157203}"/>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3F553A1F-BE82-43AF-A472-1D39B4304626}"/>
              </a:ext>
            </a:extLst>
          </p:cNvPr>
          <p:cNvSpPr txBox="1"/>
          <p:nvPr/>
        </p:nvSpPr>
        <p:spPr>
          <a:xfrm>
            <a:off x="9674979" y="3872724"/>
            <a:ext cx="478016"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bit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24534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数据链路层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data link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2400657"/>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作用：在通信实体之间建立数据链路链接，分段传输数据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特点：采用差错控制和流量控制，使有差错的物料线路变成无差错的数据链路</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：帧</a:t>
            </a:r>
            <a:r>
              <a:rPr lang="en-US" altLang="zh-CN" dirty="0">
                <a:latin typeface="Roboto" panose="02000000000000000000" pitchFamily="2" charset="0"/>
                <a:ea typeface="微软雅黑 Light" panose="020B0502040204020203" pitchFamily="34" charset="-122"/>
              </a:rPr>
              <a:t>frame</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latin typeface="Roboto" panose="02000000000000000000" pitchFamily="2" charset="0"/>
                <a:ea typeface="微软雅黑 Light" panose="020B0502040204020203" pitchFamily="34" charset="-122"/>
              </a:rPr>
              <a:t>关键：</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如何界定帧？</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如何检测帧？</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需要改正不？</a:t>
            </a:r>
          </a:p>
        </p:txBody>
      </p:sp>
      <p:sp>
        <p:nvSpPr>
          <p:cNvPr id="6" name="文本框 5">
            <a:extLst>
              <a:ext uri="{FF2B5EF4-FFF2-40B4-BE49-F238E27FC236}">
                <a16:creationId xmlns:a16="http://schemas.microsoft.com/office/drawing/2014/main" id="{3998427E-AA3A-499C-BF60-1045D3F6B5FB}"/>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7AF1E15F-4DE2-459E-8177-2CBA099B598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8" name="立方体 7">
            <a:extLst>
              <a:ext uri="{FF2B5EF4-FFF2-40B4-BE49-F238E27FC236}">
                <a16:creationId xmlns:a16="http://schemas.microsoft.com/office/drawing/2014/main" id="{65570242-A250-4A24-8871-1A297DB5117F}"/>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9" name="立方体 8">
            <a:extLst>
              <a:ext uri="{FF2B5EF4-FFF2-40B4-BE49-F238E27FC236}">
                <a16:creationId xmlns:a16="http://schemas.microsoft.com/office/drawing/2014/main" id="{C93D561A-B13F-4080-BF2D-C2DD5C6F5642}"/>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42436F5-6F1A-4D26-9D1D-50D8522E2540}"/>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2520F370-8203-44CD-BE51-83CBCBE3844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AB474411-B569-47D0-B5F9-B1F9F41944CB}"/>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C971EFAC-D68D-4FF0-A96C-1917C3DC6807}"/>
              </a:ext>
            </a:extLst>
          </p:cNvPr>
          <p:cNvSpPr txBox="1"/>
          <p:nvPr/>
        </p:nvSpPr>
        <p:spPr>
          <a:xfrm>
            <a:off x="9674979" y="3872724"/>
            <a:ext cx="856325"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frame</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51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网络层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network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1846659"/>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作用：服务主机；通过路由选择算法，为分组通过通信子网选择最合适的路径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特点：建立的是逻辑链接；实现拥塞控制和网络互联</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：分组</a:t>
            </a:r>
            <a:r>
              <a:rPr lang="en-US" altLang="zh-CN" dirty="0">
                <a:latin typeface="Roboto" panose="02000000000000000000" pitchFamily="2" charset="0"/>
                <a:ea typeface="微软雅黑 Light" panose="020B0502040204020203" pitchFamily="34" charset="-122"/>
              </a:rPr>
              <a:t>packet</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latin typeface="Roboto" panose="02000000000000000000" pitchFamily="2" charset="0"/>
                <a:ea typeface="微软雅黑 Light" panose="020B0502040204020203" pitchFamily="34" charset="-122"/>
              </a:rPr>
              <a:t>关键：</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如何路由？</a:t>
            </a:r>
          </a:p>
        </p:txBody>
      </p:sp>
      <p:sp>
        <p:nvSpPr>
          <p:cNvPr id="6" name="文本框 5">
            <a:extLst>
              <a:ext uri="{FF2B5EF4-FFF2-40B4-BE49-F238E27FC236}">
                <a16:creationId xmlns:a16="http://schemas.microsoft.com/office/drawing/2014/main" id="{95F9DCB9-F38A-49C5-9ADC-A9534E47A3F6}"/>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51853B04-C135-4424-9CD2-47096F02376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DCC0C606-2D54-45D9-9418-CE96634FBD2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9" name="立方体 8">
            <a:extLst>
              <a:ext uri="{FF2B5EF4-FFF2-40B4-BE49-F238E27FC236}">
                <a16:creationId xmlns:a16="http://schemas.microsoft.com/office/drawing/2014/main" id="{4941F4E6-BFC9-47FC-9DC0-38496D41EAB1}"/>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93CCCD77-ACE1-4184-B8C1-679A8131865D}"/>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79D5D708-9FB4-47D9-998E-BD5C0D2161C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50B05CA8-11D5-47F6-9F52-32E87A161732}"/>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4C85A71-0733-4DE8-9139-2A26702D903B}"/>
              </a:ext>
            </a:extLst>
          </p:cNvPr>
          <p:cNvSpPr txBox="1"/>
          <p:nvPr/>
        </p:nvSpPr>
        <p:spPr>
          <a:xfrm>
            <a:off x="9674979" y="3872724"/>
            <a:ext cx="944489"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packet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5289096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运输层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transport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7975260"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作用：为</a:t>
            </a:r>
            <a:r>
              <a:rPr lang="zh-CN" altLang="en-US" sz="2000" dirty="0">
                <a:latin typeface="微软雅黑 Light" panose="020B0502040204020203" pitchFamily="34" charset="-122"/>
                <a:ea typeface="微软雅黑 Light" panose="020B0502040204020203" pitchFamily="34" charset="-122"/>
              </a:rPr>
              <a:t>主机进程</a:t>
            </a:r>
            <a:r>
              <a:rPr lang="zh-CN" altLang="en-US" sz="2000" dirty="0">
                <a:solidFill>
                  <a:schemeClr val="tx1"/>
                </a:solidFill>
                <a:latin typeface="微软雅黑 Light" panose="020B0502040204020203" pitchFamily="34" charset="-122"/>
                <a:ea typeface="微软雅黑 Light" panose="020B0502040204020203" pitchFamily="34" charset="-122"/>
              </a:rPr>
              <a:t>提供通用的端到端（</a:t>
            </a:r>
            <a:r>
              <a:rPr lang="en-US" altLang="zh-CN" dirty="0">
                <a:latin typeface="Roboto" panose="02000000000000000000" pitchFamily="2" charset="0"/>
                <a:ea typeface="微软雅黑 Light" panose="020B0502040204020203" pitchFamily="34" charset="-122"/>
              </a:rPr>
              <a:t>end to end</a:t>
            </a:r>
            <a:r>
              <a:rPr lang="zh-CN" altLang="en-US" sz="2000" dirty="0">
                <a:solidFill>
                  <a:schemeClr val="tx1"/>
                </a:solidFill>
                <a:latin typeface="微软雅黑 Light" panose="020B0502040204020203" pitchFamily="34" charset="-122"/>
                <a:ea typeface="微软雅黑 Light" panose="020B0502040204020203" pitchFamily="34" charset="-122"/>
              </a:rPr>
              <a:t>）的数据传输服务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特点：复用和分用；处理包的错误和次序等问题</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latin typeface="微软雅黑 Light" panose="020B0502040204020203" pitchFamily="34" charset="-122"/>
                <a:ea typeface="微软雅黑 Light" panose="020B0502040204020203" pitchFamily="34" charset="-122"/>
              </a:rPr>
              <a:t>PDU</a:t>
            </a:r>
            <a:r>
              <a:rPr lang="zh-CN" altLang="en-US" sz="2000" dirty="0">
                <a:latin typeface="微软雅黑 Light" panose="020B0502040204020203" pitchFamily="34" charset="-122"/>
                <a:ea typeface="微软雅黑 Light" panose="020B0502040204020203" pitchFamily="34" charset="-122"/>
              </a:rPr>
              <a:t>：报文</a:t>
            </a:r>
            <a:r>
              <a:rPr lang="en-US" altLang="zh-CN" dirty="0">
                <a:latin typeface="Roboto" panose="02000000000000000000" pitchFamily="2" charset="0"/>
                <a:ea typeface="微软雅黑 Light" panose="020B0502040204020203" pitchFamily="34" charset="-122"/>
              </a:rPr>
              <a:t>message</a:t>
            </a:r>
          </a:p>
        </p:txBody>
      </p:sp>
      <p:sp>
        <p:nvSpPr>
          <p:cNvPr id="6" name="文本框 5">
            <a:extLst>
              <a:ext uri="{FF2B5EF4-FFF2-40B4-BE49-F238E27FC236}">
                <a16:creationId xmlns:a16="http://schemas.microsoft.com/office/drawing/2014/main" id="{0E4DD7FE-6D90-43EF-A2A6-3648D4FC877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E03939D0-DAE1-40B8-B967-A6BCA59F20BD}"/>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sp>
        <p:nvSpPr>
          <p:cNvPr id="8" name="立方体 7">
            <a:extLst>
              <a:ext uri="{FF2B5EF4-FFF2-40B4-BE49-F238E27FC236}">
                <a16:creationId xmlns:a16="http://schemas.microsoft.com/office/drawing/2014/main" id="{26D4DE00-3B74-4C5C-828C-AE27723C7D26}"/>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9" name="立方体 8">
            <a:extLst>
              <a:ext uri="{FF2B5EF4-FFF2-40B4-BE49-F238E27FC236}">
                <a16:creationId xmlns:a16="http://schemas.microsoft.com/office/drawing/2014/main" id="{50E2CE66-0226-4406-857A-81ABCDDFFB3E}"/>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D2045C4-3991-43F0-A8B9-3A8306F5402E}"/>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867492DF-9EBE-438B-8476-6FA66189D2FD}"/>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93509D1F-79A3-48CF-B1B5-DF013E372C7C}"/>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9BFE1ACB-A011-450F-897A-8DED9F8A4EF6}"/>
              </a:ext>
            </a:extLst>
          </p:cNvPr>
          <p:cNvSpPr txBox="1"/>
          <p:nvPr/>
        </p:nvSpPr>
        <p:spPr>
          <a:xfrm>
            <a:off x="9674979" y="3872724"/>
            <a:ext cx="1246303"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TCP/UDP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8869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应用层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application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6340197"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位置：体系架构的最高层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作用：通过应用进程间的交互为应用程序提供网络服务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常用协议：</a:t>
            </a:r>
            <a:r>
              <a:rPr lang="en-US" altLang="zh-CN" sz="2000" dirty="0">
                <a:latin typeface="微软雅黑 Light" panose="020B0502040204020203" pitchFamily="34" charset="-122"/>
                <a:ea typeface="微软雅黑 Light" panose="020B0502040204020203" pitchFamily="34" charset="-122"/>
              </a:rPr>
              <a:t>HTTP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SMTP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FTP</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65569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小结</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Summary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672253" cy="2554545"/>
          </a:xfrm>
          <a:prstGeom prst="rect">
            <a:avLst/>
          </a:prstGeom>
          <a:noFill/>
        </p:spPr>
        <p:txBody>
          <a:bodyPr wrap="none" rtlCol="0">
            <a:spAutoFit/>
          </a:bodyPr>
          <a:lstStyle/>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发展阶段</a:t>
            </a:r>
            <a:endParaRPr lang="en-US" altLang="zh-CN" sz="2000" dirty="0">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标准化</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分组交换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组成</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类别</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体系结构</a:t>
            </a:r>
          </a:p>
        </p:txBody>
      </p:sp>
    </p:spTree>
    <p:extLst>
      <p:ext uri="{BB962C8B-B14F-4D97-AF65-F5344CB8AC3E}">
        <p14:creationId xmlns:p14="http://schemas.microsoft.com/office/powerpoint/2010/main" val="2966362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作业</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Homework</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26243" cy="2554545"/>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1-15</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1-17</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1-18</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1-19</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1-22</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1-24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1-26</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052591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图片占位符 18">
            <a:extLst>
              <a:ext uri="{FF2B5EF4-FFF2-40B4-BE49-F238E27FC236}">
                <a16:creationId xmlns:a16="http://schemas.microsoft.com/office/drawing/2014/main" id="{C58F6136-CED4-4E2F-B03E-586F0BB5A8B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19827" r="19827"/>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物理层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Physical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2</a:t>
            </a:r>
            <a:endParaRPr lang="zh-CN" altLang="en-US" dirty="0"/>
          </a:p>
        </p:txBody>
      </p:sp>
      <p:pic>
        <p:nvPicPr>
          <p:cNvPr id="13" name="图片占位符 12">
            <a:extLst>
              <a:ext uri="{FF2B5EF4-FFF2-40B4-BE49-F238E27FC236}">
                <a16:creationId xmlns:a16="http://schemas.microsoft.com/office/drawing/2014/main" id="{3DA6C33F-EA29-4E0F-A634-A69D423CB41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23471" r="23471"/>
          <a:stretch/>
        </p:blipFill>
        <p:spPr>
          <a:xfrm>
            <a:off x="1" y="2067273"/>
            <a:ext cx="3915052" cy="4790727"/>
          </a:xfrm>
        </p:spPr>
      </p:pic>
      <p:sp>
        <p:nvSpPr>
          <p:cNvPr id="23" name="文本框 22">
            <a:extLst>
              <a:ext uri="{FF2B5EF4-FFF2-40B4-BE49-F238E27FC236}">
                <a16:creationId xmlns:a16="http://schemas.microsoft.com/office/drawing/2014/main" id="{EF17155E-015F-4951-858F-C6D1637B9CE2}"/>
              </a:ext>
            </a:extLst>
          </p:cNvPr>
          <p:cNvSpPr txBox="1"/>
          <p:nvPr/>
        </p:nvSpPr>
        <p:spPr>
          <a:xfrm>
            <a:off x="5259873" y="1697941"/>
            <a:ext cx="2723823" cy="1231106"/>
          </a:xfrm>
          <a:prstGeom prst="rect">
            <a:avLst/>
          </a:prstGeom>
          <a:noFill/>
        </p:spPr>
        <p:txBody>
          <a:bodyPr wrap="none" rtlCol="0">
            <a:spAutoFit/>
          </a:bodyPr>
          <a:lstStyle/>
          <a:p>
            <a:pPr marL="457200" indent="-457200">
              <a:buFont typeface="+mj-lt"/>
              <a:buAutoNum type="arabicPeriod"/>
            </a:pPr>
            <a:r>
              <a:rPr lang="zh-CN" altLang="en-US" dirty="0"/>
              <a:t>物理层的任务</a:t>
            </a:r>
          </a:p>
          <a:p>
            <a:pPr marL="457200" indent="-457200">
              <a:buFont typeface="+mj-lt"/>
              <a:buAutoNum type="arabicPeriod"/>
            </a:pPr>
            <a:r>
              <a:rPr lang="zh-CN" altLang="en-US" dirty="0"/>
              <a:t>数据通信的基本概念</a:t>
            </a:r>
          </a:p>
          <a:p>
            <a:pPr marL="457200" indent="-457200">
              <a:buFont typeface="+mj-lt"/>
              <a:buAutoNum type="arabicPeriod"/>
            </a:pPr>
            <a:r>
              <a:rPr lang="zh-CN" altLang="en-US" dirty="0"/>
              <a:t>常用的信道复用技术</a:t>
            </a:r>
          </a:p>
          <a:p>
            <a:pPr marL="457200" indent="-457200">
              <a:buFont typeface="+mj-lt"/>
              <a:buAutoNum type="arabicPeriod"/>
            </a:pPr>
            <a:r>
              <a:rPr lang="zh-CN" altLang="en-US" dirty="0"/>
              <a:t>互联网接入技术</a:t>
            </a:r>
          </a:p>
        </p:txBody>
      </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Light" panose="020B0502040204020203" pitchFamily="34" charset="-122"/>
                <a:ea typeface="微软雅黑 Light" panose="020B0502040204020203" pitchFamily="34" charset="-122"/>
                <a:cs typeface="Montserrat Semi" charset="0"/>
              </a:rPr>
              <a:t>复用技术</a:t>
            </a:r>
            <a:endParaRPr lang="en-US" sz="4800" dirty="0">
              <a:latin typeface="微软雅黑 Light" panose="020B0502040204020203" pitchFamily="34" charset="-122"/>
              <a:ea typeface="微软雅黑 Light" panose="020B0502040204020203"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148675" y="1879184"/>
            <a:ext cx="1415772" cy="830997"/>
          </a:xfrm>
          <a:prstGeom prst="rect">
            <a:avLst/>
          </a:prstGeom>
          <a:noFill/>
        </p:spPr>
        <p:txBody>
          <a:bodyPr wrap="none" rtlCol="0" anchor="ctr" anchorCtr="0">
            <a:spAutoFit/>
          </a:bodyPr>
          <a:lstStyle/>
          <a:p>
            <a:pPr algn="r"/>
            <a:r>
              <a:rPr lang="zh-CN" altLang="en-US" sz="4800" dirty="0">
                <a:latin typeface="微软雅黑 Light" panose="020B0502040204020203" pitchFamily="34" charset="-122"/>
                <a:ea typeface="微软雅黑 Light" panose="020B0502040204020203" pitchFamily="34" charset="-122"/>
                <a:cs typeface="Montserrat Semi" charset="0"/>
              </a:rPr>
              <a:t>信道</a:t>
            </a:r>
            <a:endParaRPr lang="en-US" sz="4800" dirty="0">
              <a:latin typeface="微软雅黑 Light" panose="020B0502040204020203" pitchFamily="34" charset="-122"/>
              <a:ea typeface="微软雅黑 Light" panose="020B0502040204020203"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Channel multiplexing</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803874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417963" cy="4401205"/>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将若干个彼此独立的信号，合并为一个，在同一信道上同时传输的信号处理的技术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频分复用</a:t>
            </a:r>
            <a:r>
              <a:rPr lang="en-US" altLang="zh-CN" sz="2000" dirty="0">
                <a:solidFill>
                  <a:schemeClr val="tx1"/>
                </a:solidFill>
                <a:latin typeface="微软雅黑 Light" panose="020B0502040204020203" pitchFamily="34" charset="-122"/>
                <a:ea typeface="微软雅黑 Light" panose="020B0502040204020203" pitchFamily="34" charset="-122"/>
              </a:rPr>
              <a:t>FDM - Frequency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时分复用</a:t>
            </a:r>
            <a:r>
              <a:rPr lang="en-US" altLang="zh-CN" sz="2000" dirty="0">
                <a:solidFill>
                  <a:schemeClr val="tx1"/>
                </a:solidFill>
                <a:latin typeface="微软雅黑 Light" panose="020B0502040204020203" pitchFamily="34" charset="-122"/>
                <a:ea typeface="微软雅黑 Light" panose="020B0502040204020203" pitchFamily="34" charset="-122"/>
              </a:rPr>
              <a:t>TDM - Time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波分复用</a:t>
            </a:r>
            <a:r>
              <a:rPr lang="en-US" altLang="zh-CN" sz="2000" dirty="0">
                <a:solidFill>
                  <a:schemeClr val="tx1"/>
                </a:solidFill>
                <a:latin typeface="微软雅黑 Light" panose="020B0502040204020203" pitchFamily="34" charset="-122"/>
                <a:ea typeface="微软雅黑 Light" panose="020B0502040204020203" pitchFamily="34" charset="-122"/>
              </a:rPr>
              <a:t>WDM - Wavelength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rgbClr val="C00000"/>
                </a:solidFill>
                <a:latin typeface="微软雅黑 Light" panose="020B0502040204020203" pitchFamily="34" charset="-122"/>
                <a:ea typeface="微软雅黑 Light" panose="020B0502040204020203" pitchFamily="34" charset="-122"/>
              </a:rPr>
              <a:t>码分复用</a:t>
            </a:r>
            <a:r>
              <a:rPr lang="en-US" altLang="zh-CN" sz="2000" dirty="0">
                <a:solidFill>
                  <a:srgbClr val="C00000"/>
                </a:solidFill>
                <a:latin typeface="微软雅黑 Light" panose="020B0502040204020203" pitchFamily="34" charset="-122"/>
                <a:ea typeface="微软雅黑 Light" panose="020B0502040204020203" pitchFamily="34" charset="-122"/>
              </a:rPr>
              <a:t>CDM - Code Division Multiplexing</a:t>
            </a:r>
          </a:p>
          <a:p>
            <a:pPr marL="342900" indent="-342900" algn="l">
              <a:buClr>
                <a:schemeClr val="accent2"/>
              </a:buClr>
              <a:buFont typeface="Arial" panose="020B0604020202020204" pitchFamily="34" charset="0"/>
              <a:buChar char="•"/>
            </a:pPr>
            <a:r>
              <a:rPr lang="zh-CN" altLang="fr-FR" sz="2000" dirty="0">
                <a:solidFill>
                  <a:schemeClr val="tx1"/>
                </a:solidFill>
                <a:latin typeface="微软雅黑 Light" panose="020B0502040204020203" pitchFamily="34" charset="-122"/>
                <a:ea typeface="微软雅黑 Light" panose="020B0502040204020203" pitchFamily="34" charset="-122"/>
              </a:rPr>
              <a:t>空分复用</a:t>
            </a:r>
            <a:r>
              <a:rPr lang="fr-FR" altLang="zh-CN" sz="2000" dirty="0">
                <a:solidFill>
                  <a:schemeClr val="tx1"/>
                </a:solidFill>
                <a:latin typeface="微软雅黑 Light" panose="020B0502040204020203" pitchFamily="34" charset="-122"/>
                <a:ea typeface="微软雅黑 Light" panose="020B0502040204020203" pitchFamily="34" charset="-122"/>
              </a:rPr>
              <a:t>STDM </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fr-FR" altLang="zh-CN" sz="2000" dirty="0">
                <a:solidFill>
                  <a:schemeClr val="tx1"/>
                </a:solidFill>
                <a:latin typeface="微软雅黑 Light" panose="020B0502040204020203" pitchFamily="34" charset="-122"/>
                <a:ea typeface="微软雅黑 Light" panose="020B0502040204020203" pitchFamily="34" charset="-122"/>
              </a:rPr>
              <a:t>Space Division Multiplexing</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统计时分复用</a:t>
            </a:r>
            <a:r>
              <a:rPr lang="en-US" altLang="zh-CN" sz="2000" dirty="0">
                <a:solidFill>
                  <a:schemeClr val="tx1"/>
                </a:solidFill>
                <a:latin typeface="微软雅黑 Light" panose="020B0502040204020203" pitchFamily="34" charset="-122"/>
                <a:ea typeface="微软雅黑 Light" panose="020B0502040204020203" pitchFamily="34" charset="-122"/>
              </a:rPr>
              <a:t>SDM</a:t>
            </a:r>
            <a:r>
              <a:rPr lang="zh-CN" altLang="en-US" sz="2000" dirty="0">
                <a:latin typeface="微软雅黑 Light" panose="020B0502040204020203" pitchFamily="34" charset="-122"/>
                <a:ea typeface="微软雅黑 Light" panose="020B0502040204020203" pitchFamily="34" charset="-122"/>
              </a:rPr>
              <a:t> </a:t>
            </a:r>
            <a:r>
              <a:rPr lang="en-US" altLang="zh-CN" sz="2000" dirty="0">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Statistical TDM</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极化波</a:t>
            </a:r>
            <a:r>
              <a:rPr lang="zh-CN" altLang="en-US" sz="2000" dirty="0">
                <a:latin typeface="微软雅黑 Light" panose="020B0502040204020203" pitchFamily="34" charset="-122"/>
                <a:ea typeface="微软雅黑 Light" panose="020B0502040204020203" pitchFamily="34" charset="-122"/>
              </a:rPr>
              <a:t>分</a:t>
            </a:r>
            <a:r>
              <a:rPr lang="zh-CN" altLang="en-US" sz="2000" dirty="0">
                <a:solidFill>
                  <a:schemeClr val="tx1"/>
                </a:solidFill>
                <a:latin typeface="微软雅黑 Light" panose="020B0502040204020203" pitchFamily="34" charset="-122"/>
                <a:ea typeface="微软雅黑 Light" panose="020B0502040204020203" pitchFamily="34" charset="-122"/>
              </a:rPr>
              <a:t>复用</a:t>
            </a:r>
            <a:r>
              <a:rPr lang="en-US" altLang="zh-CN" sz="2000" dirty="0">
                <a:solidFill>
                  <a:schemeClr val="tx1"/>
                </a:solidFill>
                <a:latin typeface="微软雅黑 Light" panose="020B0502040204020203" pitchFamily="34" charset="-122"/>
                <a:ea typeface="微软雅黑 Light" panose="020B0502040204020203" pitchFamily="34" charset="-122"/>
              </a:rPr>
              <a:t>PWDM</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 Polarization WDM</a:t>
            </a:r>
          </a:p>
          <a:p>
            <a:pPr marL="342900" indent="-342900" algn="l">
              <a:buClr>
                <a:schemeClr val="accent2"/>
              </a:buClr>
              <a:buFont typeface="Arial" panose="020B0604020202020204" pitchFamily="34" charset="0"/>
              <a:buChar cha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设备：</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复用器</a:t>
            </a:r>
            <a:r>
              <a:rPr lang="en-US" altLang="zh-CN" sz="2000" dirty="0">
                <a:solidFill>
                  <a:schemeClr val="tx1"/>
                </a:solidFill>
                <a:latin typeface="微软雅黑 Light" panose="020B0502040204020203" pitchFamily="34" charset="-122"/>
                <a:ea typeface="微软雅黑 Light" panose="020B0502040204020203" pitchFamily="34" charset="-122"/>
              </a:rPr>
              <a:t>Multiplexer</a:t>
            </a: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分用器</a:t>
            </a:r>
            <a:r>
              <a:rPr lang="en-US" altLang="zh-CN" sz="2000" dirty="0">
                <a:latin typeface="微软雅黑 Light" panose="020B0502040204020203" pitchFamily="34" charset="-122"/>
                <a:ea typeface="微软雅黑 Light" panose="020B0502040204020203" pitchFamily="34" charset="-122"/>
              </a:rPr>
              <a:t>Dem</a:t>
            </a:r>
            <a:r>
              <a:rPr lang="en-US" altLang="zh-CN" sz="2000" dirty="0">
                <a:solidFill>
                  <a:schemeClr val="tx1"/>
                </a:solidFill>
                <a:latin typeface="微软雅黑 Light" panose="020B0502040204020203" pitchFamily="34" charset="-122"/>
                <a:ea typeface="微软雅黑 Light" panose="020B0502040204020203" pitchFamily="34" charset="-122"/>
              </a:rPr>
              <a:t>ultiplexer</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84736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码分复用简介</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437473" cy="1015663"/>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主要用于多址接入，又称：</a:t>
            </a:r>
            <a:r>
              <a:rPr lang="zh-CN" altLang="en-US" sz="2000" dirty="0">
                <a:latin typeface="微软雅黑 Light" panose="020B0502040204020203" pitchFamily="34" charset="-122"/>
                <a:ea typeface="微软雅黑 Light" panose="020B0502040204020203" pitchFamily="34" charset="-122"/>
              </a:rPr>
              <a:t>码分多址</a:t>
            </a:r>
            <a:r>
              <a:rPr lang="en-US" altLang="zh-CN" sz="2000" dirty="0">
                <a:latin typeface="微软雅黑 Light" panose="020B0502040204020203" pitchFamily="34" charset="-122"/>
                <a:ea typeface="微软雅黑 Light" panose="020B0502040204020203" pitchFamily="34" charset="-122"/>
              </a:rPr>
              <a:t>CDMA- Code Division Multiple Access</a:t>
            </a:r>
          </a:p>
          <a:p>
            <a:r>
              <a:rPr lang="zh-CN" altLang="en-US" sz="2000" dirty="0">
                <a:latin typeface="微软雅黑 Light" panose="020B0502040204020203" pitchFamily="34" charset="-122"/>
                <a:ea typeface="微软雅黑 Light" panose="020B0502040204020203" pitchFamily="34" charset="-122"/>
              </a:rPr>
              <a:t>用户可以</a:t>
            </a:r>
            <a:r>
              <a:rPr lang="zh-CN" altLang="en-US" sz="2000" dirty="0">
                <a:solidFill>
                  <a:srgbClr val="C00000"/>
                </a:solidFill>
                <a:latin typeface="微软雅黑 Light" panose="020B0502040204020203" pitchFamily="34" charset="-122"/>
                <a:ea typeface="微软雅黑 Light" panose="020B0502040204020203" pitchFamily="34" charset="-122"/>
              </a:rPr>
              <a:t>同一时间</a:t>
            </a:r>
            <a:r>
              <a:rPr lang="zh-CN" altLang="en-US" sz="2000" dirty="0">
                <a:latin typeface="微软雅黑 Light" panose="020B0502040204020203" pitchFamily="34" charset="-122"/>
                <a:ea typeface="微软雅黑 Light" panose="020B0502040204020203" pitchFamily="34" charset="-122"/>
              </a:rPr>
              <a:t>使用</a:t>
            </a:r>
            <a:r>
              <a:rPr lang="zh-CN" altLang="en-US" sz="2000" dirty="0">
                <a:solidFill>
                  <a:srgbClr val="C00000"/>
                </a:solidFill>
                <a:latin typeface="微软雅黑 Light" panose="020B0502040204020203" pitchFamily="34" charset="-122"/>
                <a:ea typeface="微软雅黑 Light" panose="020B0502040204020203" pitchFamily="34" charset="-122"/>
              </a:rPr>
              <a:t>同一频带</a:t>
            </a:r>
            <a:r>
              <a:rPr lang="zh-CN" altLang="en-US" sz="2000" dirty="0">
                <a:solidFill>
                  <a:schemeClr val="tx1"/>
                </a:solidFill>
                <a:latin typeface="微软雅黑 Light" panose="020B0502040204020203" pitchFamily="34" charset="-122"/>
                <a:ea typeface="微软雅黑 Light" panose="020B0502040204020203" pitchFamily="34" charset="-122"/>
              </a:rPr>
              <a:t>进行通信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技术最早起源于第二次世界大战期间，由于其抗干扰性比较好，早期多用于军事通信</a:t>
            </a:r>
            <a:endParaRPr lang="en-US" altLang="zh-CN" sz="2000" dirty="0">
              <a:latin typeface="微软雅黑 Light" panose="020B0502040204020203" pitchFamily="34" charset="-122"/>
              <a:ea typeface="微软雅黑 Light" panose="020B0502040204020203" pitchFamily="34" charset="-122"/>
            </a:endParaRPr>
          </a:p>
        </p:txBody>
      </p:sp>
      <p:sp>
        <p:nvSpPr>
          <p:cNvPr id="7" name="文本框 6">
            <a:extLst>
              <a:ext uri="{FF2B5EF4-FFF2-40B4-BE49-F238E27FC236}">
                <a16:creationId xmlns:a16="http://schemas.microsoft.com/office/drawing/2014/main" id="{FA0B584D-65AE-4DBB-A2A5-B7F2BE38BDA1}"/>
              </a:ext>
            </a:extLst>
          </p:cNvPr>
          <p:cNvSpPr txBox="1"/>
          <p:nvPr/>
        </p:nvSpPr>
        <p:spPr>
          <a:xfrm>
            <a:off x="344963" y="3286250"/>
            <a:ext cx="6994222" cy="2246769"/>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1989</a:t>
            </a:r>
            <a:r>
              <a:rPr lang="zh-CN" altLang="en-US" sz="2000" dirty="0">
                <a:latin typeface="微软雅黑 Light" panose="020B0502040204020203" pitchFamily="34" charset="-122"/>
                <a:ea typeface="微软雅黑 Light" panose="020B0502040204020203" pitchFamily="34" charset="-122"/>
              </a:rPr>
              <a:t>年高通公司将改技术用于商业手机网络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1993</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7</a:t>
            </a:r>
            <a:r>
              <a:rPr lang="zh-CN" altLang="en-US" sz="2000" dirty="0">
                <a:latin typeface="微软雅黑 Light" panose="020B0502040204020203" pitchFamily="34" charset="-122"/>
                <a:ea typeface="微软雅黑 Light" panose="020B0502040204020203" pitchFamily="34" charset="-122"/>
              </a:rPr>
              <a:t>月，美国批准第一个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标准</a:t>
            </a:r>
            <a:r>
              <a:rPr lang="en-US" altLang="zh-CN" sz="2000" dirty="0">
                <a:latin typeface="微软雅黑 Light" panose="020B0502040204020203" pitchFamily="34" charset="-122"/>
                <a:ea typeface="微软雅黑 Light" panose="020B0502040204020203" pitchFamily="34" charset="-122"/>
              </a:rPr>
              <a:t>IS95</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2G</a:t>
            </a:r>
            <a:r>
              <a:rPr lang="zh-CN" altLang="en-US" sz="2000" dirty="0">
                <a:latin typeface="微软雅黑 Light" panose="020B0502040204020203" pitchFamily="34" charset="-122"/>
                <a:ea typeface="微软雅黑 Light" panose="020B0502040204020203" pitchFamily="34" charset="-122"/>
              </a:rPr>
              <a:t>标准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1994</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10</a:t>
            </a:r>
            <a:r>
              <a:rPr lang="zh-CN" altLang="en-US" sz="2000" dirty="0">
                <a:latin typeface="微软雅黑 Light" panose="020B0502040204020203" pitchFamily="34" charset="-122"/>
                <a:ea typeface="微软雅黑 Light" panose="020B0502040204020203" pitchFamily="34" charset="-122"/>
              </a:rPr>
              <a:t>月，香港建成世界上第一个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商用网络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2000</a:t>
            </a:r>
            <a:r>
              <a:rPr lang="zh-CN" altLang="en-US" sz="2000" dirty="0">
                <a:latin typeface="微软雅黑 Light" panose="020B0502040204020203" pitchFamily="34" charset="-122"/>
                <a:ea typeface="微软雅黑 Light" panose="020B0502040204020203" pitchFamily="34" charset="-122"/>
              </a:rPr>
              <a:t>年，中国联通与高通签署协议，</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进入中国大陆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2001</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手机开始大规模销售</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2007</a:t>
            </a:r>
            <a:r>
              <a:rPr lang="zh-CN" altLang="en-US" sz="2000" dirty="0">
                <a:latin typeface="微软雅黑 Light" panose="020B0502040204020203" pitchFamily="34" charset="-122"/>
                <a:ea typeface="微软雅黑 Light" panose="020B0502040204020203" pitchFamily="34" charset="-122"/>
              </a:rPr>
              <a:t>年，澳大利亚第一个关闭了</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2018</a:t>
            </a:r>
            <a:r>
              <a:rPr lang="zh-CN" altLang="en-US" sz="2000" dirty="0">
                <a:latin typeface="微软雅黑 Light" panose="020B0502040204020203" pitchFamily="34" charset="-122"/>
                <a:ea typeface="微软雅黑 Light" panose="020B0502040204020203" pitchFamily="34" charset="-122"/>
              </a:rPr>
              <a:t>年，中国电信宣布逐步关闭</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p:txBody>
      </p:sp>
      <p:pic>
        <p:nvPicPr>
          <p:cNvPr id="6146" name="Picture 2">
            <a:extLst>
              <a:ext uri="{FF2B5EF4-FFF2-40B4-BE49-F238E27FC236}">
                <a16:creationId xmlns:a16="http://schemas.microsoft.com/office/drawing/2014/main" id="{1EFF2C30-8243-4973-8EA7-BE0A0FE219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25264" y="3540774"/>
            <a:ext cx="3464907" cy="2160000"/>
          </a:xfrm>
          <a:prstGeom prst="rect">
            <a:avLst/>
          </a:prstGeom>
          <a:noFill/>
          <a:effectLst>
            <a:outerShdw blurRad="50800" dist="38100" dir="2700000" algn="tl" rotWithShape="0">
              <a:prstClr val="black">
                <a:alpha val="40000"/>
              </a:prstClr>
            </a:outerShdw>
          </a:effectLst>
          <a:scene3d>
            <a:camera prst="isometricOffAxis1Left"/>
            <a:lightRig rig="threePt" dir="t"/>
          </a:scene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9400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932527"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的时间划分为</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个短的时间间隔，这个间隔成为码片</a:t>
            </a:r>
            <a:r>
              <a:rPr lang="en-US" altLang="zh-CN" sz="2000" dirty="0">
                <a:latin typeface="Roboto" panose="02000000000000000000" pitchFamily="2" charset="0"/>
                <a:ea typeface="微软雅黑 Light" panose="020B0502040204020203" pitchFamily="34" charset="-122"/>
              </a:rPr>
              <a:t>chip</a:t>
            </a:r>
          </a:p>
          <a:p>
            <a:pPr algn="l"/>
            <a:r>
              <a:rPr lang="zh-CN" altLang="en-US" sz="2000" dirty="0">
                <a:latin typeface="微软雅黑 Light" panose="020B0502040204020203" pitchFamily="34" charset="-122"/>
                <a:ea typeface="微软雅黑 Light" panose="020B0502040204020203" pitchFamily="34" charset="-122"/>
              </a:rPr>
              <a:t>每个基站被指定一个唯一的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长度的码片序列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时，发送自己的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时，发送自己码片序列的</a:t>
            </a:r>
            <a:r>
              <a:rPr lang="zh-CN" altLang="en-US" sz="2000" dirty="0">
                <a:solidFill>
                  <a:srgbClr val="C00000"/>
                </a:solidFill>
                <a:latin typeface="微软雅黑 Light" panose="020B0502040204020203" pitchFamily="34" charset="-122"/>
                <a:ea typeface="微软雅黑 Light" panose="020B0502040204020203" pitchFamily="34" charset="-122"/>
              </a:rPr>
              <a:t>反码</a:t>
            </a:r>
            <a:endParaRPr lang="en-US" altLang="zh-CN" sz="2000" dirty="0">
              <a:solidFill>
                <a:srgbClr val="C00000"/>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如基站的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序列为</a:t>
            </a:r>
            <a:r>
              <a:rPr lang="en-US" altLang="zh-CN" sz="2000" dirty="0">
                <a:latin typeface="微软雅黑 Light" panose="020B0502040204020203" pitchFamily="34" charset="-122"/>
                <a:ea typeface="微软雅黑 Light" panose="020B0502040204020203" pitchFamily="34" charset="-122"/>
              </a:rPr>
              <a:t>8</a:t>
            </a:r>
            <a:r>
              <a:rPr lang="zh-CN" altLang="en-US" sz="2000" dirty="0">
                <a:latin typeface="微软雅黑 Light" panose="020B0502040204020203" pitchFamily="34" charset="-122"/>
                <a:ea typeface="微软雅黑 Light" panose="020B0502040204020203" pitchFamily="34" charset="-122"/>
              </a:rPr>
              <a:t>位：</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11100100</a:t>
            </a: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国际惯例，</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，所以基站的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码片序列记为（</a:t>
            </a:r>
            <a:r>
              <a:rPr lang="en-US" altLang="zh-CN" sz="2000" dirty="0">
                <a:latin typeface="微软雅黑 Light" panose="020B0502040204020203" pitchFamily="34" charset="-122"/>
                <a:ea typeface="微软雅黑 Light" panose="020B0502040204020203" pitchFamily="34" charset="-122"/>
              </a:rPr>
              <a:t>-1 -1 -1 +1 +1 -1 +1 +1 </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04940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440953"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基站的每一个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都被转换成</a:t>
            </a:r>
            <a:r>
              <a:rPr lang="en-US" altLang="zh-CN" sz="2000" dirty="0">
                <a:solidFill>
                  <a:schemeClr val="tx1"/>
                </a:solidFill>
                <a:latin typeface="微软雅黑 Light" panose="020B0502040204020203" pitchFamily="34" charset="-122"/>
                <a:ea typeface="微软雅黑 Light" panose="020B0502040204020203" pitchFamily="34" charset="-122"/>
              </a:rPr>
              <a:t>m </a:t>
            </a:r>
            <a:r>
              <a:rPr lang="zh-CN" altLang="en-US" sz="2000" dirty="0">
                <a:solidFill>
                  <a:schemeClr val="tx1"/>
                </a:solidFill>
                <a:latin typeface="微软雅黑 Light" panose="020B0502040204020203" pitchFamily="34" charset="-122"/>
                <a:ea typeface="微软雅黑 Light" panose="020B0502040204020203" pitchFamily="34" charset="-122"/>
              </a:rPr>
              <a:t>个比特，所以基站发送数据的速率实际上提高到了原来的</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solidFill>
                  <a:schemeClr val="tx1"/>
                </a:solidFill>
                <a:latin typeface="微软雅黑 Light" panose="020B0502040204020203" pitchFamily="34" charset="-122"/>
                <a:ea typeface="微软雅黑 Light" panose="020B0502040204020203" pitchFamily="34" charset="-122"/>
              </a:rPr>
              <a:t>倍</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相应的，基站所占用的带宽也提高到了原来的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倍，因此，这种通信方式被称为</a:t>
            </a:r>
            <a:r>
              <a:rPr lang="zh-CN" altLang="en-US" sz="2000" b="1" dirty="0">
                <a:solidFill>
                  <a:srgbClr val="C00000"/>
                </a:solidFill>
                <a:latin typeface="微软雅黑 Light" panose="020B0502040204020203" pitchFamily="34" charset="-122"/>
                <a:ea typeface="微软雅黑 Light" panose="020B0502040204020203" pitchFamily="34" charset="-122"/>
              </a:rPr>
              <a:t>直接序列扩频通信，</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即：</a:t>
            </a:r>
            <a:r>
              <a:rPr lang="en-US" altLang="zh-CN" sz="2000" dirty="0">
                <a:latin typeface="微软雅黑 Light" panose="020B0502040204020203" pitchFamily="34" charset="-122"/>
                <a:ea typeface="微软雅黑 Light" panose="020B0502040204020203" pitchFamily="34" charset="-122"/>
              </a:rPr>
              <a:t>DSSS-</a:t>
            </a:r>
            <a:r>
              <a:rPr lang="en-US" altLang="zh-CN" sz="2000" dirty="0">
                <a:latin typeface="Roboto" panose="02000000000000000000" pitchFamily="2" charset="0"/>
                <a:ea typeface="微软雅黑 Light" panose="020B0502040204020203" pitchFamily="34" charset="-122"/>
              </a:rPr>
              <a:t>Direct Sequence </a:t>
            </a:r>
            <a:r>
              <a:rPr lang="en-US" altLang="zh-CN" sz="2000" dirty="0">
                <a:solidFill>
                  <a:schemeClr val="tx1"/>
                </a:solidFill>
                <a:latin typeface="Roboto" panose="02000000000000000000" pitchFamily="2" charset="0"/>
                <a:ea typeface="微软雅黑 Light" panose="020B0502040204020203" pitchFamily="34" charset="-122"/>
              </a:rPr>
              <a:t>Spread Spectrum</a:t>
            </a:r>
          </a:p>
          <a:p>
            <a:pPr algn="l"/>
            <a:endParaRPr lang="en-US" altLang="zh-CN" sz="2000" dirty="0">
              <a:latin typeface="微软雅黑 Light" panose="020B0502040204020203" pitchFamily="34" charset="-122"/>
              <a:ea typeface="微软雅黑 Light" panose="020B0502040204020203" pitchFamily="34" charset="-122"/>
            </a:endParaRPr>
          </a:p>
          <a:p>
            <a:r>
              <a:rPr lang="en-US" altLang="zh-CN" sz="2000" dirty="0">
                <a:solidFill>
                  <a:schemeClr val="tx1"/>
                </a:solidFill>
                <a:latin typeface="微软雅黑 Light" panose="020B0502040204020203" pitchFamily="34" charset="-122"/>
                <a:ea typeface="微软雅黑 Light" panose="020B0502040204020203" pitchFamily="34" charset="-122"/>
              </a:rPr>
              <a:t>CDMA</a:t>
            </a:r>
            <a:r>
              <a:rPr lang="zh-CN" altLang="en-US" sz="2000" dirty="0">
                <a:solidFill>
                  <a:schemeClr val="tx1"/>
                </a:solidFill>
                <a:latin typeface="微软雅黑 Light" panose="020B0502040204020203" pitchFamily="34" charset="-122"/>
                <a:ea typeface="微软雅黑 Light" panose="020B0502040204020203" pitchFamily="34" charset="-122"/>
              </a:rPr>
              <a:t>通过为用户指定不同的扩频码，实现了不同的用户可以在同一时间同</a:t>
            </a:r>
            <a:r>
              <a:rPr lang="zh-CN" altLang="en-US" sz="2000" dirty="0">
                <a:latin typeface="微软雅黑 Light" panose="020B0502040204020203" pitchFamily="34" charset="-122"/>
                <a:ea typeface="微软雅黑 Light" panose="020B0502040204020203" pitchFamily="34" charset="-122"/>
              </a:rPr>
              <a:t>一频带上共享信道</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扩频码应彼此正交</a:t>
            </a:r>
            <a:r>
              <a:rPr lang="en-US" altLang="zh-CN" sz="2000" dirty="0">
                <a:latin typeface="微软雅黑 Light" panose="020B0502040204020203" pitchFamily="34" charset="-122"/>
                <a:ea typeface="微软雅黑 Light" panose="020B0502040204020203" pitchFamily="34" charset="-122"/>
              </a:rPr>
              <a:t>orthogonal</a:t>
            </a:r>
            <a:r>
              <a:rPr lang="zh-CN" altLang="en-US" sz="2000" dirty="0">
                <a:latin typeface="微软雅黑 Light" panose="020B0502040204020203" pitchFamily="34" charset="-122"/>
                <a:ea typeface="微软雅黑 Light" panose="020B0502040204020203" pitchFamily="34" charset="-122"/>
              </a:rPr>
              <a:t>才不会造成干扰</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实际通信系统中采用伪随机码</a:t>
            </a:r>
            <a:r>
              <a:rPr lang="en-US" altLang="zh-CN" sz="2000" dirty="0">
                <a:latin typeface="微软雅黑 Light" panose="020B0502040204020203" pitchFamily="34" charset="-122"/>
                <a:ea typeface="微软雅黑 Light" panose="020B0502040204020203" pitchFamily="34" charset="-122"/>
              </a:rPr>
              <a:t>pseudo random number</a:t>
            </a:r>
          </a:p>
          <a:p>
            <a:endParaRPr lang="en-US" altLang="zh-CN" sz="2000" dirty="0">
              <a:latin typeface="微软雅黑 Light" panose="020B0502040204020203" pitchFamily="34" charset="-122"/>
              <a:ea typeface="微软雅黑 Light" panose="020B0502040204020203" pitchFamily="34" charset="-122"/>
            </a:endParaRPr>
          </a:p>
          <a:p>
            <a:endParaRPr lang="en-US" altLang="zh-CN" sz="2000" dirty="0">
              <a:latin typeface="微软雅黑 Light" panose="020B0502040204020203" pitchFamily="34" charset="-122"/>
              <a:ea typeface="微软雅黑 Light" panose="020B0502040204020203" pitchFamily="34" charset="-122"/>
            </a:endParaRPr>
          </a:p>
          <a:p>
            <a:r>
              <a:rPr lang="zh-CN" altLang="en-US" sz="2000" dirty="0">
                <a:solidFill>
                  <a:schemeClr val="bg1">
                    <a:lumMod val="50000"/>
                  </a:schemeClr>
                </a:solidFill>
                <a:latin typeface="微软雅黑 Light" panose="020B0502040204020203" pitchFamily="34" charset="-122"/>
                <a:ea typeface="微软雅黑 Light" panose="020B0502040204020203" pitchFamily="34" charset="-122"/>
              </a:rPr>
              <a:t>跳频通信</a:t>
            </a:r>
            <a:r>
              <a:rPr lang="en-US" altLang="zh-CN" sz="2000" dirty="0">
                <a:solidFill>
                  <a:schemeClr val="bg1">
                    <a:lumMod val="50000"/>
                  </a:schemeClr>
                </a:solidFill>
                <a:latin typeface="微软雅黑 Light" panose="020B0502040204020203" pitchFamily="34" charset="-122"/>
                <a:ea typeface="微软雅黑 Light" panose="020B0502040204020203" pitchFamily="34" charset="-122"/>
              </a:rPr>
              <a:t>FHSS-</a:t>
            </a:r>
            <a:r>
              <a:rPr lang="en-US" altLang="zh-CN" sz="2000" dirty="0">
                <a:solidFill>
                  <a:schemeClr val="bg1">
                    <a:lumMod val="50000"/>
                  </a:schemeClr>
                </a:solidFill>
                <a:latin typeface="Roboto" panose="02000000000000000000" pitchFamily="2" charset="0"/>
                <a:ea typeface="微软雅黑 Light" panose="020B0502040204020203" pitchFamily="34" charset="-122"/>
              </a:rPr>
              <a:t>Frequency Hopping Spread Spectrum</a:t>
            </a:r>
          </a:p>
        </p:txBody>
      </p:sp>
    </p:spTree>
    <p:extLst>
      <p:ext uri="{BB962C8B-B14F-4D97-AF65-F5344CB8AC3E}">
        <p14:creationId xmlns:p14="http://schemas.microsoft.com/office/powerpoint/2010/main" val="27907026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295430" cy="707886"/>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向量</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站的码片序列；向量</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站的码片序列，则：</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如果向量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的规格化内积</a:t>
            </a:r>
            <a:r>
              <a:rPr lang="en-US" altLang="zh-CN" sz="2000" dirty="0">
                <a:latin typeface="微软雅黑 Light" panose="020B0502040204020203" pitchFamily="34" charset="-122"/>
                <a:ea typeface="微软雅黑 Light" panose="020B0502040204020203" pitchFamily="34" charset="-122"/>
              </a:rPr>
              <a:t>inner product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，则说明向量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59B7E9D-42B4-4682-B325-1F6425A00DE5}"/>
                  </a:ext>
                </a:extLst>
              </p:cNvPr>
              <p:cNvSpPr txBox="1"/>
              <p:nvPr/>
            </p:nvSpPr>
            <p:spPr>
              <a:xfrm>
                <a:off x="1238865" y="2887931"/>
                <a:ext cx="2593723"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=0</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859B7E9D-42B4-4682-B325-1F6425A00DE5}"/>
                  </a:ext>
                </a:extLst>
              </p:cNvPr>
              <p:cNvSpPr txBox="1">
                <a:spLocks noRot="1" noChangeAspect="1" noMove="1" noResize="1" noEditPoints="1" noAdjustHandles="1" noChangeArrowheads="1" noChangeShapeType="1" noTextEdit="1"/>
              </p:cNvSpPr>
              <p:nvPr/>
            </p:nvSpPr>
            <p:spPr>
              <a:xfrm>
                <a:off x="1238865" y="2887931"/>
                <a:ext cx="2593723" cy="840295"/>
              </a:xfrm>
              <a:prstGeom prst="rect">
                <a:avLst/>
              </a:prstGeom>
              <a:blipFill>
                <a:blip r:embed="rId2"/>
                <a:stretch>
                  <a:fillRect/>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2C4F22D9-9DAE-4EE8-859C-43A64AB6CF5A}"/>
              </a:ext>
            </a:extLst>
          </p:cNvPr>
          <p:cNvSpPr txBox="1"/>
          <p:nvPr/>
        </p:nvSpPr>
        <p:spPr>
          <a:xfrm>
            <a:off x="344962" y="3903814"/>
            <a:ext cx="5038559"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任何一个向量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和它自己的规格化内积都为</a:t>
            </a:r>
            <a:r>
              <a:rPr lang="en-US" altLang="zh-CN" sz="2000" dirty="0">
                <a:latin typeface="微软雅黑 Light" panose="020B0502040204020203" pitchFamily="34" charset="-122"/>
                <a:ea typeface="微软雅黑 Light" panose="020B0502040204020203" pitchFamily="34" charset="-122"/>
              </a:rPr>
              <a:t>1</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6F27C7C0-8049-4E51-91FD-E940A6E5CE75}"/>
                  </a:ext>
                </a:extLst>
              </p:cNvPr>
              <p:cNvSpPr txBox="1"/>
              <p:nvPr/>
            </p:nvSpPr>
            <p:spPr>
              <a:xfrm>
                <a:off x="1170039" y="4479512"/>
                <a:ext cx="2577309"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𝑆</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=1</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10" name="文本框 9">
                <a:extLst>
                  <a:ext uri="{FF2B5EF4-FFF2-40B4-BE49-F238E27FC236}">
                    <a16:creationId xmlns:a16="http://schemas.microsoft.com/office/drawing/2014/main" id="{6F27C7C0-8049-4E51-91FD-E940A6E5CE75}"/>
                  </a:ext>
                </a:extLst>
              </p:cNvPr>
              <p:cNvSpPr txBox="1">
                <a:spLocks noRot="1" noChangeAspect="1" noMove="1" noResize="1" noEditPoints="1" noAdjustHandles="1" noChangeArrowheads="1" noChangeShapeType="1" noTextEdit="1"/>
              </p:cNvSpPr>
              <p:nvPr/>
            </p:nvSpPr>
            <p:spPr>
              <a:xfrm>
                <a:off x="1170039" y="4479512"/>
                <a:ext cx="2577309" cy="840295"/>
              </a:xfrm>
              <a:prstGeom prst="rect">
                <a:avLst/>
              </a:prstGeom>
              <a:blipFill>
                <a:blip r:embed="rId3"/>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904218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8334333" cy="707886"/>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a:p>
            <a:pPr>
              <a:tabLst>
                <a:tab pos="712788" algn="l"/>
              </a:tabLst>
            </a:pPr>
            <a:r>
              <a:rPr lang="zh-CN" altLang="en-US" sz="2000" dirty="0">
                <a:latin typeface="微软雅黑 Light" panose="020B0502040204020203" pitchFamily="34" charset="-122"/>
                <a:ea typeface="微软雅黑 Light" panose="020B0502040204020203" pitchFamily="34" charset="-122"/>
              </a:rPr>
              <a:t>二者的规格化内积为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，所以</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5182CB4C-08BE-4F2F-BE55-358BFE238611}"/>
                  </a:ext>
                </a:extLst>
              </p:cNvPr>
              <p:cNvSpPr txBox="1"/>
              <p:nvPr/>
            </p:nvSpPr>
            <p:spPr>
              <a:xfrm>
                <a:off x="1118283" y="2651525"/>
                <a:ext cx="6668877"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 </m:t>
                          </m:r>
                          <m:f>
                            <m:fPr>
                              <m:ctrlPr>
                                <a:rPr lang="en-US" altLang="zh-CN" sz="2000" i="1">
                                  <a:latin typeface="Cambria Math" panose="02040503050406030204" pitchFamily="18" charset="0"/>
                                  <a:ea typeface="Cambria Math" panose="02040503050406030204" pitchFamily="18" charset="0"/>
                                </a:rPr>
                              </m:ctrlPr>
                            </m:fPr>
                            <m:num>
                              <m:r>
                                <a:rPr lang="en-US" altLang="zh-CN" sz="2000" i="1">
                                  <a:latin typeface="Cambria Math" panose="02040503050406030204" pitchFamily="18" charset="0"/>
                                  <a:ea typeface="Cambria Math" panose="02040503050406030204" pitchFamily="18" charset="0"/>
                                </a:rPr>
                                <m:t>1</m:t>
                              </m:r>
                            </m:num>
                            <m:den>
                              <m:r>
                                <a:rPr lang="en-US" altLang="zh-CN" sz="2000" i="1">
                                  <a:latin typeface="Cambria Math" panose="02040503050406030204" pitchFamily="18" charset="0"/>
                                  <a:ea typeface="Cambria Math" panose="02040503050406030204" pitchFamily="18" charset="0"/>
                                </a:rPr>
                                <m:t>8</m:t>
                              </m:r>
                            </m:den>
                          </m:f>
                        </m:e>
                      </m:nary>
                      <m:d>
                        <m:dPr>
                          <m:ctrlPr>
                            <a:rPr lang="en-US" altLang="zh-CN" sz="2000" b="0" i="1" smtClean="0">
                              <a:solidFill>
                                <a:schemeClr val="tx1"/>
                              </a:solidFill>
                              <a:latin typeface="Cambria Math" panose="02040503050406030204" pitchFamily="18" charset="0"/>
                              <a:ea typeface="Cambria Math" panose="02040503050406030204" pitchFamily="18" charset="0"/>
                            </a:rPr>
                          </m:ctrlPr>
                        </m:dPr>
                        <m:e>
                          <m:r>
                            <a:rPr lang="en-US" altLang="zh-CN" sz="2000" b="0" i="1" smtClean="0">
                              <a:solidFill>
                                <a:schemeClr val="tx1"/>
                              </a:solidFill>
                              <a:latin typeface="Cambria Math" panose="02040503050406030204" pitchFamily="18" charset="0"/>
                              <a:ea typeface="Cambria Math" panose="02040503050406030204" pitchFamily="18" charset="0"/>
                            </a:rPr>
                            <m:t>1+1−1−1+1−1+1−1</m:t>
                          </m:r>
                        </m:e>
                      </m:d>
                      <m:r>
                        <a:rPr lang="en-US" altLang="zh-CN" sz="2000" b="0" i="1" smtClean="0">
                          <a:solidFill>
                            <a:schemeClr val="tx1"/>
                          </a:solidFill>
                          <a:latin typeface="Cambria Math" panose="02040503050406030204" pitchFamily="18" charset="0"/>
                          <a:ea typeface="Cambria Math" panose="02040503050406030204" pitchFamily="18" charset="0"/>
                        </a:rPr>
                        <m:t>=0</m:t>
                      </m:r>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5182CB4C-08BE-4F2F-BE55-358BFE238611}"/>
                  </a:ext>
                </a:extLst>
              </p:cNvPr>
              <p:cNvSpPr txBox="1">
                <a:spLocks noRot="1" noChangeAspect="1" noMove="1" noResize="1" noEditPoints="1" noAdjustHandles="1" noChangeArrowheads="1" noChangeShapeType="1" noTextEdit="1"/>
              </p:cNvSpPr>
              <p:nvPr/>
            </p:nvSpPr>
            <p:spPr>
              <a:xfrm>
                <a:off x="1118283" y="2651525"/>
                <a:ext cx="6668877" cy="840295"/>
              </a:xfrm>
              <a:prstGeom prst="rect">
                <a:avLst/>
              </a:prstGeom>
              <a:blipFill>
                <a:blip r:embed="rId2"/>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B3B52299-FD66-4B31-BD8F-0371E6A17949}"/>
              </a:ext>
            </a:extLst>
          </p:cNvPr>
          <p:cNvSpPr txBox="1"/>
          <p:nvPr/>
        </p:nvSpPr>
        <p:spPr>
          <a:xfrm>
            <a:off x="344962" y="4181302"/>
            <a:ext cx="7622600"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请同学们自行验证俩个向量和自身的规格化内积分别是多少？？？</a:t>
            </a:r>
          </a:p>
        </p:txBody>
      </p:sp>
    </p:spTree>
    <p:extLst>
      <p:ext uri="{BB962C8B-B14F-4D97-AF65-F5344CB8AC3E}">
        <p14:creationId xmlns:p14="http://schemas.microsoft.com/office/powerpoint/2010/main" val="1102688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727617"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前提：通信的每个基站都知道其他基站的码片序列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站要接收</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站的数据，用</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站的码片序列分别和收到的信号进行规格化内积运算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由于基站的码片序列分别正交，所以内积后，其他站的信号被过滤（为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），只留下</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站的信号</a:t>
            </a:r>
            <a:endParaRPr lang="en-US" altLang="zh-CN" sz="2000" dirty="0">
              <a:latin typeface="微软雅黑 Light" panose="020B0502040204020203" pitchFamily="34" charset="-122"/>
              <a:ea typeface="微软雅黑 Light" panose="020B0502040204020203" pitchFamily="34" charset="-122"/>
            </a:endParaRP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站不发数据，则规格化内积为</a:t>
            </a:r>
            <a:r>
              <a:rPr lang="en-US" altLang="zh-CN" sz="2000" dirty="0">
                <a:latin typeface="微软雅黑 Light" panose="020B0502040204020203" pitchFamily="34" charset="-122"/>
                <a:ea typeface="微软雅黑 Light" panose="020B0502040204020203" pitchFamily="34" charset="-122"/>
              </a:rPr>
              <a:t>0</a:t>
            </a:r>
          </a:p>
        </p:txBody>
      </p:sp>
    </p:spTree>
    <p:extLst>
      <p:ext uri="{BB962C8B-B14F-4D97-AF65-F5344CB8AC3E}">
        <p14:creationId xmlns:p14="http://schemas.microsoft.com/office/powerpoint/2010/main" val="3764165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74099"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4</a:t>
            </a:r>
            <a:r>
              <a:rPr lang="zh-CN" altLang="en-US" sz="2000" dirty="0">
                <a:latin typeface="微软雅黑 Light" panose="020B0502040204020203" pitchFamily="34" charset="-122"/>
                <a:ea typeface="微软雅黑 Light" panose="020B0502040204020203" pitchFamily="34" charset="-122"/>
              </a:rPr>
              <a:t>个站进行</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通信，其码片序列分别是：</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A</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B</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C</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D</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如果收到的码片序列是（</a:t>
            </a:r>
            <a:r>
              <a:rPr lang="en-US" altLang="zh-CN" sz="2000" dirty="0">
                <a:latin typeface="微软雅黑 Light" panose="020B0502040204020203" pitchFamily="34" charset="-122"/>
                <a:ea typeface="微软雅黑 Light" panose="020B0502040204020203" pitchFamily="34" charset="-122"/>
              </a:rPr>
              <a:t>-1+1-3+1-1-3+1+1</a:t>
            </a:r>
            <a:r>
              <a:rPr lang="zh-CN" altLang="en-US" sz="2000" dirty="0">
                <a:latin typeface="微软雅黑 Light" panose="020B0502040204020203" pitchFamily="34" charset="-122"/>
                <a:ea typeface="微软雅黑 Light" panose="020B0502040204020203" pitchFamily="34" charset="-122"/>
              </a:rPr>
              <a:t>），问：</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哪个站发送数据了？发送的数据是什么？</a:t>
            </a:r>
            <a:endParaRPr lang="en-US" altLang="zh-CN" sz="2000" dirty="0">
              <a:latin typeface="微软雅黑 Light" panose="020B0502040204020203" pitchFamily="34" charset="-122"/>
              <a:ea typeface="微软雅黑 Light" panose="020B0502040204020203" pitchFamily="34" charset="-122"/>
            </a:endParaRPr>
          </a:p>
        </p:txBody>
      </p:sp>
      <p:sp>
        <p:nvSpPr>
          <p:cNvPr id="6" name="文本框 5">
            <a:extLst>
              <a:ext uri="{FF2B5EF4-FFF2-40B4-BE49-F238E27FC236}">
                <a16:creationId xmlns:a16="http://schemas.microsoft.com/office/drawing/2014/main" id="{7C4AB048-7534-4196-A12F-D7224CF67E45}"/>
              </a:ext>
            </a:extLst>
          </p:cNvPr>
          <p:cNvSpPr txBox="1"/>
          <p:nvPr/>
        </p:nvSpPr>
        <p:spPr>
          <a:xfrm>
            <a:off x="344962" y="5095704"/>
            <a:ext cx="3925370"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AD</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1</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B</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0</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C</a:t>
            </a:r>
            <a:r>
              <a:rPr lang="zh-CN" altLang="en-US" sz="2000" dirty="0">
                <a:solidFill>
                  <a:schemeClr val="tx1"/>
                </a:solidFill>
                <a:latin typeface="微软雅黑 Light" panose="020B0502040204020203" pitchFamily="34" charset="-122"/>
                <a:ea typeface="微软雅黑 Light" panose="020B0502040204020203" pitchFamily="34" charset="-122"/>
              </a:rPr>
              <a:t>没有发数据</a:t>
            </a:r>
          </a:p>
        </p:txBody>
      </p:sp>
    </p:spTree>
    <p:extLst>
      <p:ext uri="{BB962C8B-B14F-4D97-AF65-F5344CB8AC3E}">
        <p14:creationId xmlns:p14="http://schemas.microsoft.com/office/powerpoint/2010/main" val="3313508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物理层的设备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Device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538736" cy="4401205"/>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无源设备：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接线板</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插座（</a:t>
            </a:r>
            <a:r>
              <a:rPr lang="en-US" altLang="zh-CN" sz="2000" dirty="0">
                <a:latin typeface="微软雅黑 Light" panose="020B0502040204020203" pitchFamily="34" charset="-122"/>
                <a:ea typeface="微软雅黑 Light" panose="020B0502040204020203" pitchFamily="34" charset="-122"/>
              </a:rPr>
              <a:t>RJ-45</a:t>
            </a:r>
            <a:r>
              <a:rPr lang="zh-CN" altLang="en-US" sz="2000" dirty="0">
                <a:latin typeface="微软雅黑 Light" panose="020B0502040204020203" pitchFamily="34" charset="-122"/>
                <a:ea typeface="微软雅黑 Light" panose="020B0502040204020203" pitchFamily="34" charset="-122"/>
              </a:rPr>
              <a:t>接头）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电缆</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有源设备：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收发器</a:t>
            </a:r>
            <a:r>
              <a:rPr lang="en-US" altLang="zh-CN" sz="2000" dirty="0">
                <a:solidFill>
                  <a:schemeClr val="tx1"/>
                </a:solidFill>
                <a:latin typeface="Roboto" panose="02000000000000000000" pitchFamily="2" charset="0"/>
                <a:ea typeface="微软雅黑 Light" panose="020B0502040204020203" pitchFamily="34" charset="-122"/>
              </a:rPr>
              <a:t>Transceiver</a:t>
            </a:r>
            <a:r>
              <a:rPr lang="zh-CN" altLang="en-US" sz="2000" dirty="0">
                <a:solidFill>
                  <a:schemeClr val="tx1"/>
                </a:solidFill>
                <a:latin typeface="微软雅黑 Light" panose="020B0502040204020203" pitchFamily="34" charset="-122"/>
                <a:ea typeface="微软雅黑 Light" panose="020B0502040204020203" pitchFamily="34" charset="-122"/>
              </a:rPr>
              <a:t>：将一种形式的信号转换为另外一种形式的信号，是网卡</a:t>
            </a:r>
            <a:r>
              <a:rPr lang="en-US" altLang="zh-CN" sz="2000" dirty="0">
                <a:solidFill>
                  <a:schemeClr val="tx1"/>
                </a:solidFill>
                <a:latin typeface="微软雅黑 Light" panose="020B0502040204020203" pitchFamily="34" charset="-122"/>
                <a:ea typeface="微软雅黑 Light" panose="020B0502040204020203" pitchFamily="34" charset="-122"/>
              </a:rPr>
              <a:t>NIC</a:t>
            </a:r>
            <a:r>
              <a:rPr lang="zh-CN" altLang="en-US" sz="2000" dirty="0">
                <a:solidFill>
                  <a:schemeClr val="tx1"/>
                </a:solidFill>
                <a:latin typeface="微软雅黑 Light" panose="020B0502040204020203" pitchFamily="34" charset="-122"/>
                <a:ea typeface="微软雅黑 Light" panose="020B0502040204020203" pitchFamily="34" charset="-122"/>
              </a:rPr>
              <a:t>的一个部件</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a:t>
            </a:r>
            <a:r>
              <a:rPr lang="en-US" altLang="zh-CN" sz="2000" dirty="0">
                <a:latin typeface="Roboto" panose="02000000000000000000" pitchFamily="2" charset="0"/>
                <a:ea typeface="微软雅黑 Light" panose="020B0502040204020203" pitchFamily="34" charset="-122"/>
              </a:rPr>
              <a:t>Repeater</a:t>
            </a:r>
            <a:r>
              <a:rPr lang="zh-CN" altLang="en-US" sz="2000" dirty="0">
                <a:solidFill>
                  <a:schemeClr val="tx1"/>
                </a:solidFill>
                <a:latin typeface="微软雅黑 Light" panose="020B0502040204020203" pitchFamily="34" charset="-122"/>
                <a:ea typeface="微软雅黑 Light" panose="020B0502040204020203" pitchFamily="34" charset="-122"/>
              </a:rPr>
              <a:t>：对衰减信号放大整形再生以扩大网络传输距离；连接相同物理协议的网络</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集线器</a:t>
            </a:r>
            <a:r>
              <a:rPr lang="en-US" altLang="zh-CN" sz="2000" dirty="0">
                <a:latin typeface="Roboto" panose="02000000000000000000" pitchFamily="2" charset="0"/>
                <a:ea typeface="微软雅黑 Light" panose="020B0502040204020203" pitchFamily="34" charset="-122"/>
              </a:rPr>
              <a:t>Hub</a:t>
            </a:r>
            <a:r>
              <a:rPr lang="zh-CN" altLang="en-US" sz="2000" dirty="0">
                <a:solidFill>
                  <a:schemeClr val="tx1"/>
                </a:solidFill>
                <a:latin typeface="微软雅黑 Light" panose="020B0502040204020203" pitchFamily="34" charset="-122"/>
                <a:ea typeface="微软雅黑 Light" panose="020B0502040204020203" pitchFamily="34" charset="-122"/>
              </a:rPr>
              <a:t>：对数据信号</a:t>
            </a:r>
            <a:r>
              <a:rPr lang="zh-CN" altLang="en-US" sz="2000" dirty="0">
                <a:latin typeface="微软雅黑 Light" panose="020B0502040204020203" pitchFamily="34" charset="-122"/>
                <a:ea typeface="微软雅黑 Light" panose="020B0502040204020203" pitchFamily="34" charset="-122"/>
              </a:rPr>
              <a:t>进行</a:t>
            </a:r>
            <a:r>
              <a:rPr lang="zh-CN" altLang="en-US" sz="2000" dirty="0">
                <a:solidFill>
                  <a:schemeClr val="tx1"/>
                </a:solidFill>
                <a:latin typeface="微软雅黑 Light" panose="020B0502040204020203" pitchFamily="34" charset="-122"/>
                <a:ea typeface="微软雅黑 Light" panose="020B0502040204020203" pitchFamily="34" charset="-122"/>
              </a:rPr>
              <a:t>再生整形放大，以扩大网络的传输距离；</a:t>
            </a:r>
            <a:r>
              <a:rPr lang="zh-CN" altLang="en-US" sz="2000" b="1" dirty="0">
                <a:solidFill>
                  <a:srgbClr val="C00000"/>
                </a:solidFill>
                <a:latin typeface="微软雅黑 Light" panose="020B0502040204020203" pitchFamily="34" charset="-122"/>
                <a:ea typeface="微软雅黑 Light" panose="020B0502040204020203" pitchFamily="34" charset="-122"/>
              </a:rPr>
              <a:t>多接口</a:t>
            </a:r>
            <a:r>
              <a:rPr lang="zh-CN" altLang="en-US" sz="2000" dirty="0">
                <a:solidFill>
                  <a:schemeClr val="tx1"/>
                </a:solidFill>
                <a:latin typeface="微软雅黑 Light" panose="020B0502040204020203" pitchFamily="34" charset="-122"/>
                <a:ea typeface="微软雅黑 Light" panose="020B0502040204020203" pitchFamily="34" charset="-122"/>
              </a:rPr>
              <a:t>转发；适合星型网络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注意：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中继器和集线器虽然增加了网络的作用范围，但是也增加了冲突和碰撞域，降低了网络性能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现在网络中很少使用中继器和集线器</a:t>
            </a:r>
          </a:p>
        </p:txBody>
      </p:sp>
    </p:spTree>
    <p:extLst>
      <p:ext uri="{BB962C8B-B14F-4D97-AF65-F5344CB8AC3E}">
        <p14:creationId xmlns:p14="http://schemas.microsoft.com/office/powerpoint/2010/main" val="7009711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香农定理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Shannon Theory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6</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084598" y="3075057"/>
            <a:ext cx="5109091" cy="707886"/>
          </a:xfrm>
          <a:prstGeom prst="rect">
            <a:avLst/>
          </a:prstGeom>
          <a:noFill/>
          <a:effectLst>
            <a:outerShdw blurRad="50800" dist="38100" dir="2700000" algn="tl" rotWithShape="0">
              <a:prstClr val="black">
                <a:alpha val="40000"/>
              </a:prstClr>
            </a:outerShdw>
          </a:effectLst>
        </p:spPr>
        <p:txBody>
          <a:bodyPr wrap="none" rtlCol="0">
            <a:spAutoFit/>
          </a:bodyPr>
          <a:lstStyle/>
          <a:p>
            <a:r>
              <a:rPr lang="en-US" altLang="zh-CN" sz="4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R</a:t>
            </a:r>
            <a:r>
              <a:rPr lang="en-US" altLang="zh-CN" sz="2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max</a:t>
            </a:r>
            <a:r>
              <a:rPr lang="en-US" altLang="zh-CN" sz="2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 </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 W * log</a:t>
            </a:r>
            <a:r>
              <a:rPr lang="en-US" altLang="zh-CN" sz="4000" b="0" i="0" baseline="-25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2</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(1+S/N)</a:t>
            </a:r>
            <a:endPar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14403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数据链路层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a:t>Data Link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3</a:t>
            </a:r>
            <a:endParaRPr lang="zh-CN" altLang="en-US" dirty="0"/>
          </a:p>
        </p:txBody>
      </p:sp>
      <p:sp>
        <p:nvSpPr>
          <p:cNvPr id="23" name="图片占位符 22">
            <a:extLst>
              <a:ext uri="{FF2B5EF4-FFF2-40B4-BE49-F238E27FC236}">
                <a16:creationId xmlns:a16="http://schemas.microsoft.com/office/drawing/2014/main" id="{CF497D51-B58F-CF3A-72E1-F2A2FD6F6C8D}"/>
              </a:ext>
            </a:extLst>
          </p:cNvPr>
          <p:cNvSpPr>
            <a:spLocks noGrp="1"/>
          </p:cNvSpPr>
          <p:nvPr>
            <p:ph type="pic" sz="quarter" idx="17"/>
          </p:nvPr>
        </p:nvSpPr>
        <p:spPr/>
      </p:sp>
    </p:spTree>
    <p:extLst>
      <p:ext uri="{BB962C8B-B14F-4D97-AF65-F5344CB8AC3E}">
        <p14:creationId xmlns:p14="http://schemas.microsoft.com/office/powerpoint/2010/main" val="10811377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图片占位符 31">
            <a:extLst>
              <a:ext uri="{FF2B5EF4-FFF2-40B4-BE49-F238E27FC236}">
                <a16:creationId xmlns:a16="http://schemas.microsoft.com/office/drawing/2014/main" id="{32071790-5734-4AB0-B3CC-0542E0F4D256}"/>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28874" r="28874"/>
          <a:stretch/>
        </p:blipFill>
        <p:spPr/>
      </p:pic>
      <p:grpSp>
        <p:nvGrpSpPr>
          <p:cNvPr id="57" name="组合 56">
            <a:extLst>
              <a:ext uri="{FF2B5EF4-FFF2-40B4-BE49-F238E27FC236}">
                <a16:creationId xmlns:a16="http://schemas.microsoft.com/office/drawing/2014/main" id="{A67ACC91-FF87-4DF4-8410-C9BC684D1E88}"/>
              </a:ext>
            </a:extLst>
          </p:cNvPr>
          <p:cNvGrpSpPr/>
          <p:nvPr/>
        </p:nvGrpSpPr>
        <p:grpSpPr>
          <a:xfrm>
            <a:off x="5370023" y="2090562"/>
            <a:ext cx="5595257" cy="646331"/>
            <a:chOff x="5370023" y="2090562"/>
            <a:chExt cx="5595257" cy="646331"/>
          </a:xfrm>
        </p:grpSpPr>
        <p:sp>
          <p:nvSpPr>
            <p:cNvPr id="10" name="Rectangle 19">
              <a:extLst>
                <a:ext uri="{FF2B5EF4-FFF2-40B4-BE49-F238E27FC236}">
                  <a16:creationId xmlns:a16="http://schemas.microsoft.com/office/drawing/2014/main" id="{6E5EAB79-D3A8-47DA-8B63-64060F343541}"/>
                </a:ext>
              </a:extLst>
            </p:cNvPr>
            <p:cNvSpPr/>
            <p:nvPr/>
          </p:nvSpPr>
          <p:spPr>
            <a:xfrm>
              <a:off x="5370024" y="2459894"/>
              <a:ext cx="5595256" cy="276999"/>
            </a:xfrm>
            <a:prstGeom prst="rect">
              <a:avLst/>
            </a:prstGeom>
          </p:spPr>
          <p:txBody>
            <a:bodyPr wrap="square">
              <a:spAutoFit/>
            </a:bodyPr>
            <a:lstStyle/>
            <a:p>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数据链路层的作用</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0">
              <a:extLst>
                <a:ext uri="{FF2B5EF4-FFF2-40B4-BE49-F238E27FC236}">
                  <a16:creationId xmlns:a16="http://schemas.microsoft.com/office/drawing/2014/main" id="{B5A79A29-36B1-45D9-8587-7376C61AFE05}"/>
                </a:ext>
              </a:extLst>
            </p:cNvPr>
            <p:cNvSpPr txBox="1"/>
            <p:nvPr/>
          </p:nvSpPr>
          <p:spPr>
            <a:xfrm>
              <a:off x="5370023" y="2090562"/>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一个作用</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3" name="Parallelogram 16">
            <a:extLst>
              <a:ext uri="{FF2B5EF4-FFF2-40B4-BE49-F238E27FC236}">
                <a16:creationId xmlns:a16="http://schemas.microsoft.com/office/drawing/2014/main" id="{82571C4C-A5D2-46A8-8CA8-AA0736710427}"/>
              </a:ext>
            </a:extLst>
          </p:cNvPr>
          <p:cNvSpPr/>
          <p:nvPr/>
        </p:nvSpPr>
        <p:spPr>
          <a:xfrm flipH="1">
            <a:off x="4649630" y="318092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02</a:t>
            </a:r>
          </a:p>
        </p:txBody>
      </p:sp>
      <p:grpSp>
        <p:nvGrpSpPr>
          <p:cNvPr id="58" name="组合 57">
            <a:extLst>
              <a:ext uri="{FF2B5EF4-FFF2-40B4-BE49-F238E27FC236}">
                <a16:creationId xmlns:a16="http://schemas.microsoft.com/office/drawing/2014/main" id="{89DCCAC3-BDC0-4B73-BBF9-E0404A189B1E}"/>
              </a:ext>
            </a:extLst>
          </p:cNvPr>
          <p:cNvGrpSpPr/>
          <p:nvPr/>
        </p:nvGrpSpPr>
        <p:grpSpPr>
          <a:xfrm>
            <a:off x="5576124" y="3012242"/>
            <a:ext cx="5595257" cy="646331"/>
            <a:chOff x="5576124" y="2997130"/>
            <a:chExt cx="5595257" cy="646331"/>
          </a:xfrm>
        </p:grpSpPr>
        <p:sp>
          <p:nvSpPr>
            <p:cNvPr id="15" name="Rectangle 23">
              <a:extLst>
                <a:ext uri="{FF2B5EF4-FFF2-40B4-BE49-F238E27FC236}">
                  <a16:creationId xmlns:a16="http://schemas.microsoft.com/office/drawing/2014/main" id="{C88BB803-45A6-4C80-9C4E-4BB8A1000CBF}"/>
                </a:ext>
              </a:extLst>
            </p:cNvPr>
            <p:cNvSpPr/>
            <p:nvPr/>
          </p:nvSpPr>
          <p:spPr>
            <a:xfrm>
              <a:off x="5576125" y="3366462"/>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点对点信道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  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广播信道</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6" name="TextBox 24">
              <a:extLst>
                <a:ext uri="{FF2B5EF4-FFF2-40B4-BE49-F238E27FC236}">
                  <a16:creationId xmlns:a16="http://schemas.microsoft.com/office/drawing/2014/main" id="{4F603341-D358-437C-B399-A7EDE21BB057}"/>
                </a:ext>
              </a:extLst>
            </p:cNvPr>
            <p:cNvSpPr txBox="1"/>
            <p:nvPr/>
          </p:nvSpPr>
          <p:spPr>
            <a:xfrm>
              <a:off x="5576124" y="2997130"/>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二个信道</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56" name="Parallelogram 16">
            <a:extLst>
              <a:ext uri="{FF2B5EF4-FFF2-40B4-BE49-F238E27FC236}">
                <a16:creationId xmlns:a16="http://schemas.microsoft.com/office/drawing/2014/main" id="{620B5B51-8D21-4E74-83BE-D07B20695B16}"/>
              </a:ext>
            </a:extLst>
          </p:cNvPr>
          <p:cNvSpPr/>
          <p:nvPr/>
        </p:nvSpPr>
        <p:spPr>
          <a:xfrm flipH="1">
            <a:off x="4435847" y="225924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a:t>
            </a:r>
            <a:r>
              <a:rPr lang="en-US" dirty="0">
                <a:latin typeface="Roboto" panose="02000000000000000000" pitchFamily="2" charset="0"/>
              </a:rPr>
              <a:t>1</a:t>
            </a:r>
            <a:endParaRPr lang="id-ID" dirty="0">
              <a:latin typeface="Roboto" panose="02000000000000000000" pitchFamily="2" charset="0"/>
            </a:endParaRPr>
          </a:p>
        </p:txBody>
      </p:sp>
      <p:sp>
        <p:nvSpPr>
          <p:cNvPr id="18" name="Parallelogram 17">
            <a:extLst>
              <a:ext uri="{FF2B5EF4-FFF2-40B4-BE49-F238E27FC236}">
                <a16:creationId xmlns:a16="http://schemas.microsoft.com/office/drawing/2014/main" id="{13F26488-734D-47C9-8F77-BF12CC7AB0D9}"/>
              </a:ext>
            </a:extLst>
          </p:cNvPr>
          <p:cNvSpPr/>
          <p:nvPr/>
        </p:nvSpPr>
        <p:spPr>
          <a:xfrm flipH="1">
            <a:off x="4863413" y="410260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03</a:t>
            </a:r>
          </a:p>
        </p:txBody>
      </p:sp>
      <p:grpSp>
        <p:nvGrpSpPr>
          <p:cNvPr id="59" name="组合 58">
            <a:extLst>
              <a:ext uri="{FF2B5EF4-FFF2-40B4-BE49-F238E27FC236}">
                <a16:creationId xmlns:a16="http://schemas.microsoft.com/office/drawing/2014/main" id="{857A318D-080D-4D0F-86A1-01E1B68051FA}"/>
              </a:ext>
            </a:extLst>
          </p:cNvPr>
          <p:cNvGrpSpPr/>
          <p:nvPr/>
        </p:nvGrpSpPr>
        <p:grpSpPr>
          <a:xfrm>
            <a:off x="5837382" y="3933922"/>
            <a:ext cx="5595257" cy="646331"/>
            <a:chOff x="5837382" y="3949033"/>
            <a:chExt cx="5595257" cy="646331"/>
          </a:xfrm>
        </p:grpSpPr>
        <p:sp>
          <p:nvSpPr>
            <p:cNvPr id="20" name="Rectangle 25">
              <a:extLst>
                <a:ext uri="{FF2B5EF4-FFF2-40B4-BE49-F238E27FC236}">
                  <a16:creationId xmlns:a16="http://schemas.microsoft.com/office/drawing/2014/main" id="{1A4F677F-BA51-436B-8095-F75B36C9B1DA}"/>
                </a:ext>
              </a:extLst>
            </p:cNvPr>
            <p:cNvSpPr/>
            <p:nvPr/>
          </p:nvSpPr>
          <p:spPr>
            <a:xfrm>
              <a:off x="5837383" y="4318365"/>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封装成帧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透明传输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差错控制</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1" name="TextBox 26">
              <a:extLst>
                <a:ext uri="{FF2B5EF4-FFF2-40B4-BE49-F238E27FC236}">
                  <a16:creationId xmlns:a16="http://schemas.microsoft.com/office/drawing/2014/main" id="{BB69C0F7-0C4B-4773-A89C-0F822069C6C8}"/>
                </a:ext>
              </a:extLst>
            </p:cNvPr>
            <p:cNvSpPr txBox="1"/>
            <p:nvPr/>
          </p:nvSpPr>
          <p:spPr>
            <a:xfrm>
              <a:off x="5837382" y="3949033"/>
              <a:ext cx="1569660"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三个基本问题</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27" name="TextBox 12">
            <a:extLst>
              <a:ext uri="{FF2B5EF4-FFF2-40B4-BE49-F238E27FC236}">
                <a16:creationId xmlns:a16="http://schemas.microsoft.com/office/drawing/2014/main" id="{1DF69154-5742-42C0-A971-023377F73A74}"/>
              </a:ext>
            </a:extLst>
          </p:cNvPr>
          <p:cNvSpPr txBox="1"/>
          <p:nvPr/>
        </p:nvSpPr>
        <p:spPr>
          <a:xfrm>
            <a:off x="6791711" y="1365688"/>
            <a:ext cx="2236510" cy="707886"/>
          </a:xfrm>
          <a:prstGeom prst="rect">
            <a:avLst/>
          </a:prstGeom>
          <a:noFill/>
        </p:spPr>
        <p:txBody>
          <a:bodyPr wrap="none" rtlCol="0">
            <a:spAutoFit/>
          </a:bodyPr>
          <a:lstStyle/>
          <a:p>
            <a:pPr algn="ctr"/>
            <a:r>
              <a:rPr lang="zh-CN" altLang="en-US" sz="4000" dirty="0">
                <a:solidFill>
                  <a:schemeClr val="tx1">
                    <a:lumMod val="75000"/>
                    <a:lumOff val="25000"/>
                  </a:schemeClr>
                </a:solidFill>
                <a:latin typeface="微软雅黑" panose="020B0503020204020204" pitchFamily="34" charset="-122"/>
                <a:ea typeface="微软雅黑" panose="020B0503020204020204" pitchFamily="34" charset="-122"/>
              </a:rPr>
              <a:t>主要内容</a:t>
            </a:r>
            <a:endParaRPr lang="id-ID" sz="4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63" name="组合 62">
            <a:extLst>
              <a:ext uri="{FF2B5EF4-FFF2-40B4-BE49-F238E27FC236}">
                <a16:creationId xmlns:a16="http://schemas.microsoft.com/office/drawing/2014/main" id="{5A6FFDB1-6B16-4C1A-9320-5B39997F0917}"/>
              </a:ext>
            </a:extLst>
          </p:cNvPr>
          <p:cNvGrpSpPr>
            <a:grpSpLocks noChangeAspect="1"/>
          </p:cNvGrpSpPr>
          <p:nvPr/>
        </p:nvGrpSpPr>
        <p:grpSpPr>
          <a:xfrm>
            <a:off x="9028221" y="1489554"/>
            <a:ext cx="360105" cy="432000"/>
            <a:chOff x="9917112" y="1100656"/>
            <a:chExt cx="868331" cy="1041692"/>
          </a:xfrm>
        </p:grpSpPr>
        <p:sp>
          <p:nvSpPr>
            <p:cNvPr id="61" name="Rectangle 36">
              <a:extLst>
                <a:ext uri="{FF2B5EF4-FFF2-40B4-BE49-F238E27FC236}">
                  <a16:creationId xmlns:a16="http://schemas.microsoft.com/office/drawing/2014/main" id="{DADD43B3-C8C5-4B9A-8A0D-A6299535D30F}"/>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62" name="Rectangle 35">
              <a:extLst>
                <a:ext uri="{FF2B5EF4-FFF2-40B4-BE49-F238E27FC236}">
                  <a16:creationId xmlns:a16="http://schemas.microsoft.com/office/drawing/2014/main" id="{FB00A6B7-6E02-4AA2-9F1D-830AEBE1B665}"/>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sp>
        <p:nvSpPr>
          <p:cNvPr id="64" name="Freeform 25">
            <a:extLst>
              <a:ext uri="{FF2B5EF4-FFF2-40B4-BE49-F238E27FC236}">
                <a16:creationId xmlns:a16="http://schemas.microsoft.com/office/drawing/2014/main" id="{713F06BF-8B62-4620-BCCF-1F8042EADBF2}"/>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65" name="TextBox 26">
            <a:extLst>
              <a:ext uri="{FF2B5EF4-FFF2-40B4-BE49-F238E27FC236}">
                <a16:creationId xmlns:a16="http://schemas.microsoft.com/office/drawing/2014/main" id="{D204806C-DDF4-452B-A962-4CF0F4453E11}"/>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279626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iterate type="lt">
                                    <p:tmPct val="10000"/>
                                  </p:iterate>
                                  <p:childTnLst>
                                    <p:set>
                                      <p:cBhvr>
                                        <p:cTn id="6" dur="1" fill="hold">
                                          <p:stCondLst>
                                            <p:cond delay="0"/>
                                          </p:stCondLst>
                                        </p:cTn>
                                        <p:tgtEl>
                                          <p:spTgt spid="27"/>
                                        </p:tgtEl>
                                        <p:attrNameLst>
                                          <p:attrName>style.visibility</p:attrName>
                                        </p:attrNameLst>
                                      </p:cBhvr>
                                      <p:to>
                                        <p:strVal val="visible"/>
                                      </p:to>
                                    </p:set>
                                    <p:anim calcmode="lin" valueType="num">
                                      <p:cBhvr>
                                        <p:cTn id="7" dur="350" fill="hold"/>
                                        <p:tgtEl>
                                          <p:spTgt spid="27"/>
                                        </p:tgtEl>
                                        <p:attrNameLst>
                                          <p:attrName>ppt_w</p:attrName>
                                        </p:attrNameLst>
                                      </p:cBhvr>
                                      <p:tavLst>
                                        <p:tav tm="0">
                                          <p:val>
                                            <p:strVal val="#ppt_w+.3"/>
                                          </p:val>
                                        </p:tav>
                                        <p:tav tm="100000">
                                          <p:val>
                                            <p:strVal val="#ppt_w"/>
                                          </p:val>
                                        </p:tav>
                                      </p:tavLst>
                                    </p:anim>
                                    <p:anim calcmode="lin" valueType="num">
                                      <p:cBhvr>
                                        <p:cTn id="8" dur="350" fill="hold"/>
                                        <p:tgtEl>
                                          <p:spTgt spid="27"/>
                                        </p:tgtEl>
                                        <p:attrNameLst>
                                          <p:attrName>ppt_h</p:attrName>
                                        </p:attrNameLst>
                                      </p:cBhvr>
                                      <p:tavLst>
                                        <p:tav tm="0">
                                          <p:val>
                                            <p:strVal val="#ppt_h"/>
                                          </p:val>
                                        </p:tav>
                                        <p:tav tm="100000">
                                          <p:val>
                                            <p:strVal val="#ppt_h"/>
                                          </p:val>
                                        </p:tav>
                                      </p:tavLst>
                                    </p:anim>
                                    <p:animEffect transition="in" filter="fade">
                                      <p:cBhvr>
                                        <p:cTn id="9"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5490707" y="659405"/>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作用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605320" y="1416726"/>
            <a:ext cx="98135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Function</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1697200" y="3028890"/>
            <a:ext cx="9050876" cy="707886"/>
          </a:xfrm>
          <a:prstGeom prst="rect">
            <a:avLst/>
          </a:prstGeom>
          <a:noFill/>
        </p:spPr>
        <p:txBody>
          <a:bodyPr wrap="none" rtlCol="0">
            <a:spAutoFit/>
          </a:bodyPr>
          <a:lstStyle/>
          <a:p>
            <a:r>
              <a:rPr lang="zh-CN" altLang="en-US" sz="2000" dirty="0">
                <a:gradFill>
                  <a:gsLst>
                    <a:gs pos="0">
                      <a:srgbClr val="FF0101"/>
                    </a:gs>
                    <a:gs pos="60000">
                      <a:schemeClr val="accent6">
                        <a:lumMod val="60000"/>
                        <a:lumOff val="40000"/>
                      </a:schemeClr>
                    </a:gs>
                    <a:gs pos="100000">
                      <a:srgbClr val="C00000"/>
                    </a:gs>
                  </a:gsLst>
                  <a:lin ang="2700000" scaled="0"/>
                </a:gradFill>
                <a:latin typeface="Roboto" panose="02000000000000000000" pitchFamily="2" charset="0"/>
                <a:ea typeface="Arial Unicode MS" panose="020B0604020202020204" pitchFamily="34" charset="-122"/>
                <a:cs typeface="Roboto" panose="02000000000000000000" pitchFamily="2" charset="0"/>
              </a:rPr>
              <a:t>▼</a:t>
            </a:r>
            <a:r>
              <a:rPr lang="zh-CN" altLang="en-US" sz="2000" dirty="0">
                <a:solidFill>
                  <a:schemeClr val="tx1"/>
                </a:solidFill>
                <a:latin typeface="微软雅黑 Light" panose="020B0502040204020203" pitchFamily="34" charset="-122"/>
                <a:ea typeface="微软雅黑 Light" panose="020B0502040204020203" pitchFamily="34" charset="-122"/>
              </a:rPr>
              <a:t>将网络层交付的报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打包成帧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，并交付给物理层，送至下一段链路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gradFill>
                  <a:gsLst>
                    <a:gs pos="0">
                      <a:srgbClr val="FF0101"/>
                    </a:gs>
                    <a:gs pos="60000">
                      <a:schemeClr val="accent6">
                        <a:lumMod val="60000"/>
                        <a:lumOff val="40000"/>
                      </a:schemeClr>
                    </a:gs>
                    <a:gs pos="100000">
                      <a:srgbClr val="C00000"/>
                    </a:gs>
                  </a:gsLst>
                  <a:lin ang="2700000" scaled="0"/>
                </a:gradFill>
                <a:latin typeface="Roboto" panose="02000000000000000000" pitchFamily="2" charset="0"/>
                <a:ea typeface="Arial Unicode MS" panose="020B0604020202020204" pitchFamily="34" charset="-122"/>
                <a:cs typeface="Roboto" panose="02000000000000000000" pitchFamily="2" charset="0"/>
              </a:rPr>
              <a:t>▲</a:t>
            </a:r>
            <a:r>
              <a:rPr lang="zh-CN" altLang="en-US" sz="2000" dirty="0">
                <a:solidFill>
                  <a:schemeClr val="tx1"/>
                </a:solidFill>
                <a:latin typeface="微软雅黑 Light" panose="020B0502040204020203" pitchFamily="34" charset="-122"/>
                <a:ea typeface="微软雅黑 Light" panose="020B0502040204020203" pitchFamily="34" charset="-122"/>
              </a:rPr>
              <a:t>拆分帧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，得到报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，交付给网络层</a:t>
            </a:r>
          </a:p>
        </p:txBody>
      </p:sp>
    </p:spTree>
    <p:extLst>
      <p:ext uri="{BB962C8B-B14F-4D97-AF65-F5344CB8AC3E}">
        <p14:creationId xmlns:p14="http://schemas.microsoft.com/office/powerpoint/2010/main" val="176640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5EC60D4-8E38-4FA2-9474-66F1FAD4FE4C}"/>
              </a:ext>
            </a:extLst>
          </p:cNvPr>
          <p:cNvGrpSpPr/>
          <p:nvPr/>
        </p:nvGrpSpPr>
        <p:grpSpPr>
          <a:xfrm>
            <a:off x="627113" y="2645675"/>
            <a:ext cx="1800000" cy="2401807"/>
            <a:chOff x="1134908" y="3137945"/>
            <a:chExt cx="1800000" cy="2401807"/>
          </a:xfrm>
          <a:solidFill>
            <a:schemeClr val="accent2"/>
          </a:solidFill>
        </p:grpSpPr>
        <p:sp>
          <p:nvSpPr>
            <p:cNvPr id="4" name="立方体 3">
              <a:extLst>
                <a:ext uri="{FF2B5EF4-FFF2-40B4-BE49-F238E27FC236}">
                  <a16:creationId xmlns:a16="http://schemas.microsoft.com/office/drawing/2014/main" id="{886F08C6-9343-44A0-A29D-C32464A6B5C8}"/>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5" name="立方体 4">
              <a:extLst>
                <a:ext uri="{FF2B5EF4-FFF2-40B4-BE49-F238E27FC236}">
                  <a16:creationId xmlns:a16="http://schemas.microsoft.com/office/drawing/2014/main" id="{8335574C-0C39-4D60-AFC8-449DAD60996E}"/>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6" name="立方体 5">
              <a:extLst>
                <a:ext uri="{FF2B5EF4-FFF2-40B4-BE49-F238E27FC236}">
                  <a16:creationId xmlns:a16="http://schemas.microsoft.com/office/drawing/2014/main" id="{FAB9BD12-5411-4857-83F2-A9553A975340}"/>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7" name="立方体 6">
              <a:extLst>
                <a:ext uri="{FF2B5EF4-FFF2-40B4-BE49-F238E27FC236}">
                  <a16:creationId xmlns:a16="http://schemas.microsoft.com/office/drawing/2014/main" id="{93B25A87-F1EC-4717-B450-B0292DF9AD26}"/>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F4F31DE6-5E40-4BCB-B583-17300D49704B}"/>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9" name="组合 8">
            <a:extLst>
              <a:ext uri="{FF2B5EF4-FFF2-40B4-BE49-F238E27FC236}">
                <a16:creationId xmlns:a16="http://schemas.microsoft.com/office/drawing/2014/main" id="{6A025E6A-8260-4639-9BE2-0774F4CADD04}"/>
              </a:ext>
            </a:extLst>
          </p:cNvPr>
          <p:cNvGrpSpPr/>
          <p:nvPr/>
        </p:nvGrpSpPr>
        <p:grpSpPr>
          <a:xfrm>
            <a:off x="9764887" y="2645675"/>
            <a:ext cx="1800000" cy="2401807"/>
            <a:chOff x="1134908" y="3137945"/>
            <a:chExt cx="1800000" cy="2401807"/>
          </a:xfrm>
          <a:solidFill>
            <a:schemeClr val="accent2"/>
          </a:solidFill>
        </p:grpSpPr>
        <p:sp>
          <p:nvSpPr>
            <p:cNvPr id="10" name="立方体 9">
              <a:extLst>
                <a:ext uri="{FF2B5EF4-FFF2-40B4-BE49-F238E27FC236}">
                  <a16:creationId xmlns:a16="http://schemas.microsoft.com/office/drawing/2014/main" id="{EA7CD5E5-EA77-463C-B121-68137E5FF4C7}"/>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11" name="立方体 10">
              <a:extLst>
                <a:ext uri="{FF2B5EF4-FFF2-40B4-BE49-F238E27FC236}">
                  <a16:creationId xmlns:a16="http://schemas.microsoft.com/office/drawing/2014/main" id="{DE50A36E-A718-48C6-B038-BBCE3D9F14F2}"/>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12" name="立方体 11">
              <a:extLst>
                <a:ext uri="{FF2B5EF4-FFF2-40B4-BE49-F238E27FC236}">
                  <a16:creationId xmlns:a16="http://schemas.microsoft.com/office/drawing/2014/main" id="{751D6528-41F3-43AA-8FBB-3374A92FE668}"/>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13" name="立方体 12">
              <a:extLst>
                <a:ext uri="{FF2B5EF4-FFF2-40B4-BE49-F238E27FC236}">
                  <a16:creationId xmlns:a16="http://schemas.microsoft.com/office/drawing/2014/main" id="{B5C5BE41-AEEA-44AE-B32C-42FC83AD96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14" name="立方体 13">
              <a:extLst>
                <a:ext uri="{FF2B5EF4-FFF2-40B4-BE49-F238E27FC236}">
                  <a16:creationId xmlns:a16="http://schemas.microsoft.com/office/drawing/2014/main" id="{DFAA2406-9C2A-4723-90DF-CB4D8393519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15" name="组合 14">
            <a:extLst>
              <a:ext uri="{FF2B5EF4-FFF2-40B4-BE49-F238E27FC236}">
                <a16:creationId xmlns:a16="http://schemas.microsoft.com/office/drawing/2014/main" id="{F41D1276-8075-4222-84D5-9436A65AFF10}"/>
              </a:ext>
            </a:extLst>
          </p:cNvPr>
          <p:cNvGrpSpPr/>
          <p:nvPr/>
        </p:nvGrpSpPr>
        <p:grpSpPr>
          <a:xfrm>
            <a:off x="2911556" y="3558579"/>
            <a:ext cx="1800000" cy="1488903"/>
            <a:chOff x="1134908" y="4050849"/>
            <a:chExt cx="1800000" cy="1488903"/>
          </a:xfrm>
          <a:solidFill>
            <a:schemeClr val="accent2"/>
          </a:solidFill>
        </p:grpSpPr>
        <p:sp>
          <p:nvSpPr>
            <p:cNvPr id="16" name="立方体 15">
              <a:extLst>
                <a:ext uri="{FF2B5EF4-FFF2-40B4-BE49-F238E27FC236}">
                  <a16:creationId xmlns:a16="http://schemas.microsoft.com/office/drawing/2014/main" id="{BC958BE4-27C3-41A1-919F-121112DE462E}"/>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7" name="立方体 16">
              <a:extLst>
                <a:ext uri="{FF2B5EF4-FFF2-40B4-BE49-F238E27FC236}">
                  <a16:creationId xmlns:a16="http://schemas.microsoft.com/office/drawing/2014/main" id="{C8FCA004-CB84-426C-92C1-E50C7BB358B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18" name="立方体 17">
              <a:extLst>
                <a:ext uri="{FF2B5EF4-FFF2-40B4-BE49-F238E27FC236}">
                  <a16:creationId xmlns:a16="http://schemas.microsoft.com/office/drawing/2014/main" id="{9C9BA891-35DD-4B83-8D56-5529A7AB2108}"/>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1" name="组合 20">
            <a:extLst>
              <a:ext uri="{FF2B5EF4-FFF2-40B4-BE49-F238E27FC236}">
                <a16:creationId xmlns:a16="http://schemas.microsoft.com/office/drawing/2014/main" id="{4B1FBB0B-129C-4B17-AEB5-8BE68EB06069}"/>
              </a:ext>
            </a:extLst>
          </p:cNvPr>
          <p:cNvGrpSpPr/>
          <p:nvPr/>
        </p:nvGrpSpPr>
        <p:grpSpPr>
          <a:xfrm>
            <a:off x="5195999" y="3568449"/>
            <a:ext cx="1800000" cy="1488903"/>
            <a:chOff x="1134908" y="4050849"/>
            <a:chExt cx="1800000" cy="1488903"/>
          </a:xfrm>
          <a:solidFill>
            <a:schemeClr val="accent2"/>
          </a:solidFill>
        </p:grpSpPr>
        <p:sp>
          <p:nvSpPr>
            <p:cNvPr id="22" name="立方体 21">
              <a:extLst>
                <a:ext uri="{FF2B5EF4-FFF2-40B4-BE49-F238E27FC236}">
                  <a16:creationId xmlns:a16="http://schemas.microsoft.com/office/drawing/2014/main" id="{08B5EF5D-366F-4D7C-AC9A-F3D28593913F}"/>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3" name="立方体 22">
              <a:extLst>
                <a:ext uri="{FF2B5EF4-FFF2-40B4-BE49-F238E27FC236}">
                  <a16:creationId xmlns:a16="http://schemas.microsoft.com/office/drawing/2014/main" id="{4A1581B5-2C74-4749-9B54-4DBA1890061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4" name="立方体 23">
              <a:extLst>
                <a:ext uri="{FF2B5EF4-FFF2-40B4-BE49-F238E27FC236}">
                  <a16:creationId xmlns:a16="http://schemas.microsoft.com/office/drawing/2014/main" id="{3FE7A3F2-68CE-4853-97DE-C19405C5DDBA}"/>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5" name="组合 24">
            <a:extLst>
              <a:ext uri="{FF2B5EF4-FFF2-40B4-BE49-F238E27FC236}">
                <a16:creationId xmlns:a16="http://schemas.microsoft.com/office/drawing/2014/main" id="{5D1C7046-26C3-4A03-817B-3155392B0273}"/>
              </a:ext>
            </a:extLst>
          </p:cNvPr>
          <p:cNvGrpSpPr/>
          <p:nvPr/>
        </p:nvGrpSpPr>
        <p:grpSpPr>
          <a:xfrm>
            <a:off x="7480443" y="3558579"/>
            <a:ext cx="1800000" cy="1488903"/>
            <a:chOff x="1134908" y="4050849"/>
            <a:chExt cx="1800000" cy="1488903"/>
          </a:xfrm>
          <a:solidFill>
            <a:schemeClr val="accent2"/>
          </a:solidFill>
        </p:grpSpPr>
        <p:sp>
          <p:nvSpPr>
            <p:cNvPr id="26" name="立方体 25">
              <a:extLst>
                <a:ext uri="{FF2B5EF4-FFF2-40B4-BE49-F238E27FC236}">
                  <a16:creationId xmlns:a16="http://schemas.microsoft.com/office/drawing/2014/main" id="{09F36CA0-DF23-4FBD-892F-DA0245E15652}"/>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7" name="立方体 26">
              <a:extLst>
                <a:ext uri="{FF2B5EF4-FFF2-40B4-BE49-F238E27FC236}">
                  <a16:creationId xmlns:a16="http://schemas.microsoft.com/office/drawing/2014/main" id="{5B5FFF07-FEDE-428B-B365-C98D0482DF2E}"/>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8" name="立方体 27">
              <a:extLst>
                <a:ext uri="{FF2B5EF4-FFF2-40B4-BE49-F238E27FC236}">
                  <a16:creationId xmlns:a16="http://schemas.microsoft.com/office/drawing/2014/main" id="{EF926025-1DF0-4312-A2C4-7517DE450864}"/>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sp>
        <p:nvSpPr>
          <p:cNvPr id="29" name="箭头: 下 28">
            <a:extLst>
              <a:ext uri="{FF2B5EF4-FFF2-40B4-BE49-F238E27FC236}">
                <a16:creationId xmlns:a16="http://schemas.microsoft.com/office/drawing/2014/main" id="{B3F943E7-AF52-4838-801B-67DCD7AE498E}"/>
              </a:ext>
            </a:extLst>
          </p:cNvPr>
          <p:cNvSpPr/>
          <p:nvPr/>
        </p:nvSpPr>
        <p:spPr>
          <a:xfrm>
            <a:off x="2045616"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D3886292-892F-4BE9-8936-A3A132E5AF08}"/>
              </a:ext>
            </a:extLst>
          </p:cNvPr>
          <p:cNvSpPr/>
          <p:nvPr/>
        </p:nvSpPr>
        <p:spPr>
          <a:xfrm rot="10800000">
            <a:off x="9879290"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箭头: 下 30">
            <a:extLst>
              <a:ext uri="{FF2B5EF4-FFF2-40B4-BE49-F238E27FC236}">
                <a16:creationId xmlns:a16="http://schemas.microsoft.com/office/drawing/2014/main" id="{1122940E-562C-4AC2-A79E-7B09E2F8D6B3}"/>
              </a:ext>
            </a:extLst>
          </p:cNvPr>
          <p:cNvSpPr/>
          <p:nvPr/>
        </p:nvSpPr>
        <p:spPr>
          <a:xfrm>
            <a:off x="4391701"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AF0B1725-F486-460D-B7B3-65828DF13651}"/>
              </a:ext>
            </a:extLst>
          </p:cNvPr>
          <p:cNvSpPr/>
          <p:nvPr/>
        </p:nvSpPr>
        <p:spPr>
          <a:xfrm>
            <a:off x="664942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986A6F83-E269-4A6D-898E-BD97EB1FF277}"/>
              </a:ext>
            </a:extLst>
          </p:cNvPr>
          <p:cNvSpPr/>
          <p:nvPr/>
        </p:nvSpPr>
        <p:spPr>
          <a:xfrm>
            <a:off x="890714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9B0A8955-C270-4EA3-947A-3555DBC3ECA8}"/>
              </a:ext>
            </a:extLst>
          </p:cNvPr>
          <p:cNvSpPr/>
          <p:nvPr/>
        </p:nvSpPr>
        <p:spPr>
          <a:xfrm rot="10800000">
            <a:off x="3033858"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7D56972F-4FD8-48AC-ABB5-72B37D40012E}"/>
              </a:ext>
            </a:extLst>
          </p:cNvPr>
          <p:cNvSpPr/>
          <p:nvPr/>
        </p:nvSpPr>
        <p:spPr>
          <a:xfrm rot="10800000">
            <a:off x="5291577"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9327D8AF-0313-4DBE-A58F-9EF205734B1C}"/>
              </a:ext>
            </a:extLst>
          </p:cNvPr>
          <p:cNvSpPr/>
          <p:nvPr/>
        </p:nvSpPr>
        <p:spPr>
          <a:xfrm rot="10800000">
            <a:off x="7549297" y="3920510"/>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箭头: 下 40">
            <a:extLst>
              <a:ext uri="{FF2B5EF4-FFF2-40B4-BE49-F238E27FC236}">
                <a16:creationId xmlns:a16="http://schemas.microsoft.com/office/drawing/2014/main" id="{888CD395-5A9D-4FB2-BF3D-C3DC842A5F2F}"/>
              </a:ext>
            </a:extLst>
          </p:cNvPr>
          <p:cNvSpPr/>
          <p:nvPr/>
        </p:nvSpPr>
        <p:spPr>
          <a:xfrm rot="16200000">
            <a:off x="257649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箭头: 下 41">
            <a:extLst>
              <a:ext uri="{FF2B5EF4-FFF2-40B4-BE49-F238E27FC236}">
                <a16:creationId xmlns:a16="http://schemas.microsoft.com/office/drawing/2014/main" id="{95A81693-47B2-4D28-B84D-68181340DF51}"/>
              </a:ext>
            </a:extLst>
          </p:cNvPr>
          <p:cNvSpPr/>
          <p:nvPr/>
        </p:nvSpPr>
        <p:spPr>
          <a:xfrm rot="16200000">
            <a:off x="486448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箭头: 下 42">
            <a:extLst>
              <a:ext uri="{FF2B5EF4-FFF2-40B4-BE49-F238E27FC236}">
                <a16:creationId xmlns:a16="http://schemas.microsoft.com/office/drawing/2014/main" id="{162477C0-EEEA-428E-9E4F-F882A9628EF0}"/>
              </a:ext>
            </a:extLst>
          </p:cNvPr>
          <p:cNvSpPr/>
          <p:nvPr/>
        </p:nvSpPr>
        <p:spPr>
          <a:xfrm rot="16200000">
            <a:off x="715247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箭头: 下 43">
            <a:extLst>
              <a:ext uri="{FF2B5EF4-FFF2-40B4-BE49-F238E27FC236}">
                <a16:creationId xmlns:a16="http://schemas.microsoft.com/office/drawing/2014/main" id="{FF69C26F-8F11-4FD7-9BB2-5DF5F3FF0A97}"/>
              </a:ext>
            </a:extLst>
          </p:cNvPr>
          <p:cNvSpPr/>
          <p:nvPr/>
        </p:nvSpPr>
        <p:spPr>
          <a:xfrm rot="16200000">
            <a:off x="9440462" y="4202204"/>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箭头: 下 88">
            <a:extLst>
              <a:ext uri="{FF2B5EF4-FFF2-40B4-BE49-F238E27FC236}">
                <a16:creationId xmlns:a16="http://schemas.microsoft.com/office/drawing/2014/main" id="{E8831DB3-CBD2-4B49-B0C4-98220B67F1DC}"/>
              </a:ext>
            </a:extLst>
          </p:cNvPr>
          <p:cNvSpPr/>
          <p:nvPr/>
        </p:nvSpPr>
        <p:spPr>
          <a:xfrm rot="-5400000">
            <a:off x="2504422"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箭头: 下 89">
            <a:extLst>
              <a:ext uri="{FF2B5EF4-FFF2-40B4-BE49-F238E27FC236}">
                <a16:creationId xmlns:a16="http://schemas.microsoft.com/office/drawing/2014/main" id="{FE7BF681-9DAF-40CF-8940-C38F45861CDF}"/>
              </a:ext>
            </a:extLst>
          </p:cNvPr>
          <p:cNvSpPr/>
          <p:nvPr/>
        </p:nvSpPr>
        <p:spPr>
          <a:xfrm rot="-5400000">
            <a:off x="4788866"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箭头: 下 90">
            <a:extLst>
              <a:ext uri="{FF2B5EF4-FFF2-40B4-BE49-F238E27FC236}">
                <a16:creationId xmlns:a16="http://schemas.microsoft.com/office/drawing/2014/main" id="{98172A76-FCA0-43E5-A06E-DE88215F432D}"/>
              </a:ext>
            </a:extLst>
          </p:cNvPr>
          <p:cNvSpPr/>
          <p:nvPr/>
        </p:nvSpPr>
        <p:spPr>
          <a:xfrm rot="-5400000">
            <a:off x="7073310"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箭头: 下 91">
            <a:extLst>
              <a:ext uri="{FF2B5EF4-FFF2-40B4-BE49-F238E27FC236}">
                <a16:creationId xmlns:a16="http://schemas.microsoft.com/office/drawing/2014/main" id="{71410670-4A96-4528-B089-86B89A7CA51B}"/>
              </a:ext>
            </a:extLst>
          </p:cNvPr>
          <p:cNvSpPr/>
          <p:nvPr/>
        </p:nvSpPr>
        <p:spPr>
          <a:xfrm rot="-5400000">
            <a:off x="9357753"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文本框 93">
            <a:extLst>
              <a:ext uri="{FF2B5EF4-FFF2-40B4-BE49-F238E27FC236}">
                <a16:creationId xmlns:a16="http://schemas.microsoft.com/office/drawing/2014/main" id="{9BD40B68-5107-48C7-8826-480CF035A488}"/>
              </a:ext>
            </a:extLst>
          </p:cNvPr>
          <p:cNvSpPr txBox="1"/>
          <p:nvPr/>
        </p:nvSpPr>
        <p:spPr>
          <a:xfrm>
            <a:off x="3567739" y="3042246"/>
            <a:ext cx="487634"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R1</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5" name="文本框 94">
            <a:extLst>
              <a:ext uri="{FF2B5EF4-FFF2-40B4-BE49-F238E27FC236}">
                <a16:creationId xmlns:a16="http://schemas.microsoft.com/office/drawing/2014/main" id="{6BE7AC90-8FAA-443F-8785-41A47EB3161E}"/>
              </a:ext>
            </a:extLst>
          </p:cNvPr>
          <p:cNvSpPr txBox="1"/>
          <p:nvPr/>
        </p:nvSpPr>
        <p:spPr>
          <a:xfrm>
            <a:off x="5849778" y="3042246"/>
            <a:ext cx="492443"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R2</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6" name="文本框 95">
            <a:extLst>
              <a:ext uri="{FF2B5EF4-FFF2-40B4-BE49-F238E27FC236}">
                <a16:creationId xmlns:a16="http://schemas.microsoft.com/office/drawing/2014/main" id="{E10A91D4-B60A-43F8-B9E3-D3F4AFAB6D03}"/>
              </a:ext>
            </a:extLst>
          </p:cNvPr>
          <p:cNvSpPr txBox="1"/>
          <p:nvPr/>
        </p:nvSpPr>
        <p:spPr>
          <a:xfrm>
            <a:off x="8134222" y="3042246"/>
            <a:ext cx="492443"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R3</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7" name="文本框 96">
            <a:extLst>
              <a:ext uri="{FF2B5EF4-FFF2-40B4-BE49-F238E27FC236}">
                <a16:creationId xmlns:a16="http://schemas.microsoft.com/office/drawing/2014/main" id="{ADF77839-BEDD-4115-AF90-CE27A67BB541}"/>
              </a:ext>
            </a:extLst>
          </p:cNvPr>
          <p:cNvSpPr txBox="1"/>
          <p:nvPr/>
        </p:nvSpPr>
        <p:spPr>
          <a:xfrm>
            <a:off x="1271274" y="2203873"/>
            <a:ext cx="511679"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H1</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8" name="文本框 97">
            <a:extLst>
              <a:ext uri="{FF2B5EF4-FFF2-40B4-BE49-F238E27FC236}">
                <a16:creationId xmlns:a16="http://schemas.microsoft.com/office/drawing/2014/main" id="{5C28559E-E60C-4EF9-B894-2822F4FD4A16}"/>
              </a:ext>
            </a:extLst>
          </p:cNvPr>
          <p:cNvSpPr txBox="1"/>
          <p:nvPr/>
        </p:nvSpPr>
        <p:spPr>
          <a:xfrm>
            <a:off x="10409850" y="2199442"/>
            <a:ext cx="510076"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H2</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9" name="TextBox 5">
            <a:extLst>
              <a:ext uri="{FF2B5EF4-FFF2-40B4-BE49-F238E27FC236}">
                <a16:creationId xmlns:a16="http://schemas.microsoft.com/office/drawing/2014/main" id="{7F415027-E8D1-497A-8220-9C56A90CB60E}"/>
              </a:ext>
            </a:extLst>
          </p:cNvPr>
          <p:cNvSpPr txBox="1"/>
          <p:nvPr/>
        </p:nvSpPr>
        <p:spPr>
          <a:xfrm>
            <a:off x="5234227" y="659405"/>
            <a:ext cx="1723549" cy="707886"/>
          </a:xfrm>
          <a:prstGeom prst="rect">
            <a:avLst/>
          </a:prstGeom>
          <a:noFill/>
        </p:spPr>
        <p:txBody>
          <a:bodyPr wrap="none" rtlCol="0">
            <a:spAutoFit/>
          </a:bodyPr>
          <a:lstStyle/>
          <a:p>
            <a:pPr algn="ctr">
              <a:defRPr/>
            </a:pP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工作流</a:t>
            </a:r>
            <a:endParaRPr 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585283" y="1416726"/>
            <a:ext cx="1021433"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workflow</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6104596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up)">
                                      <p:cBhvr>
                                        <p:cTn id="7" dur="200"/>
                                        <p:tgtEl>
                                          <p:spTgt spid="29"/>
                                        </p:tgtEl>
                                      </p:cBhvr>
                                    </p:animEffect>
                                  </p:childTnLst>
                                </p:cTn>
                              </p:par>
                            </p:childTnLst>
                          </p:cTn>
                        </p:par>
                        <p:par>
                          <p:cTn id="8" fill="hold">
                            <p:stCondLst>
                              <p:cond delay="200"/>
                            </p:stCondLst>
                            <p:childTnLst>
                              <p:par>
                                <p:cTn id="9" presetID="22" presetClass="entr" presetSubtype="8" fill="hold" grpId="0" nodeType="afterEffect">
                                  <p:stCondLst>
                                    <p:cond delay="0"/>
                                  </p:stCondLst>
                                  <p:childTnLst>
                                    <p:set>
                                      <p:cBhvr>
                                        <p:cTn id="10" dur="1" fill="hold">
                                          <p:stCondLst>
                                            <p:cond delay="0"/>
                                          </p:stCondLst>
                                        </p:cTn>
                                        <p:tgtEl>
                                          <p:spTgt spid="89"/>
                                        </p:tgtEl>
                                        <p:attrNameLst>
                                          <p:attrName>style.visibility</p:attrName>
                                        </p:attrNameLst>
                                      </p:cBhvr>
                                      <p:to>
                                        <p:strVal val="visible"/>
                                      </p:to>
                                    </p:set>
                                    <p:animEffect transition="in" filter="wipe(left)">
                                      <p:cBhvr>
                                        <p:cTn id="11" dur="200"/>
                                        <p:tgtEl>
                                          <p:spTgt spid="89"/>
                                        </p:tgtEl>
                                      </p:cBhvr>
                                    </p:animEffect>
                                  </p:childTnLst>
                                </p:cTn>
                              </p:par>
                            </p:childTnLst>
                          </p:cTn>
                        </p:par>
                        <p:par>
                          <p:cTn id="12" fill="hold">
                            <p:stCondLst>
                              <p:cond delay="400"/>
                            </p:stCondLst>
                            <p:childTnLst>
                              <p:par>
                                <p:cTn id="13" presetID="22" presetClass="entr" presetSubtype="4" fill="hold" grpId="0"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wipe(down)">
                                      <p:cBhvr>
                                        <p:cTn id="15" dur="200"/>
                                        <p:tgtEl>
                                          <p:spTgt spid="34"/>
                                        </p:tgtEl>
                                      </p:cBhvr>
                                    </p:animEffect>
                                  </p:childTnLst>
                                </p:cTn>
                              </p:par>
                            </p:childTnLst>
                          </p:cTn>
                        </p:par>
                        <p:par>
                          <p:cTn id="16" fill="hold">
                            <p:stCondLst>
                              <p:cond delay="600"/>
                            </p:stCondLst>
                            <p:childTnLst>
                              <p:par>
                                <p:cTn id="17" presetID="22" presetClass="entr" presetSubtype="1" fill="hold" grpId="0"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wipe(up)">
                                      <p:cBhvr>
                                        <p:cTn id="19" dur="200"/>
                                        <p:tgtEl>
                                          <p:spTgt spid="31"/>
                                        </p:tgtEl>
                                      </p:cBhvr>
                                    </p:animEffect>
                                  </p:childTnLst>
                                </p:cTn>
                              </p:par>
                            </p:childTnLst>
                          </p:cTn>
                        </p:par>
                        <p:par>
                          <p:cTn id="20" fill="hold">
                            <p:stCondLst>
                              <p:cond delay="800"/>
                            </p:stCondLst>
                            <p:childTnLst>
                              <p:par>
                                <p:cTn id="21" presetID="22" presetClass="entr" presetSubtype="8" fill="hold" grpId="0" nodeType="afterEffect">
                                  <p:stCondLst>
                                    <p:cond delay="0"/>
                                  </p:stCondLst>
                                  <p:childTnLst>
                                    <p:set>
                                      <p:cBhvr>
                                        <p:cTn id="22" dur="1" fill="hold">
                                          <p:stCondLst>
                                            <p:cond delay="0"/>
                                          </p:stCondLst>
                                        </p:cTn>
                                        <p:tgtEl>
                                          <p:spTgt spid="90"/>
                                        </p:tgtEl>
                                        <p:attrNameLst>
                                          <p:attrName>style.visibility</p:attrName>
                                        </p:attrNameLst>
                                      </p:cBhvr>
                                      <p:to>
                                        <p:strVal val="visible"/>
                                      </p:to>
                                    </p:set>
                                    <p:animEffect transition="in" filter="wipe(left)">
                                      <p:cBhvr>
                                        <p:cTn id="23" dur="200"/>
                                        <p:tgtEl>
                                          <p:spTgt spid="90"/>
                                        </p:tgtEl>
                                      </p:cBhvr>
                                    </p:animEffect>
                                  </p:childTnLst>
                                </p:cTn>
                              </p:par>
                            </p:childTnLst>
                          </p:cTn>
                        </p:par>
                        <p:par>
                          <p:cTn id="24" fill="hold">
                            <p:stCondLst>
                              <p:cond delay="1000"/>
                            </p:stCondLst>
                            <p:childTnLst>
                              <p:par>
                                <p:cTn id="25" presetID="22" presetClass="entr" presetSubtype="4" fill="hold" grpId="0"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wipe(down)">
                                      <p:cBhvr>
                                        <p:cTn id="27" dur="200"/>
                                        <p:tgtEl>
                                          <p:spTgt spid="35"/>
                                        </p:tgtEl>
                                      </p:cBhvr>
                                    </p:animEffect>
                                  </p:childTnLst>
                                </p:cTn>
                              </p:par>
                            </p:childTnLst>
                          </p:cTn>
                        </p:par>
                        <p:par>
                          <p:cTn id="28" fill="hold">
                            <p:stCondLst>
                              <p:cond delay="1200"/>
                            </p:stCondLst>
                            <p:childTnLst>
                              <p:par>
                                <p:cTn id="29" presetID="22" presetClass="entr" presetSubtype="1" fill="hold" grpId="0" nodeType="after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wipe(up)">
                                      <p:cBhvr>
                                        <p:cTn id="31" dur="200"/>
                                        <p:tgtEl>
                                          <p:spTgt spid="32"/>
                                        </p:tgtEl>
                                      </p:cBhvr>
                                    </p:animEffect>
                                  </p:childTnLst>
                                </p:cTn>
                              </p:par>
                            </p:childTnLst>
                          </p:cTn>
                        </p:par>
                        <p:par>
                          <p:cTn id="32" fill="hold">
                            <p:stCondLst>
                              <p:cond delay="1400"/>
                            </p:stCondLst>
                            <p:childTnLst>
                              <p:par>
                                <p:cTn id="33" presetID="22" presetClass="entr" presetSubtype="8" fill="hold" grpId="0" nodeType="afterEffect">
                                  <p:stCondLst>
                                    <p:cond delay="0"/>
                                  </p:stCondLst>
                                  <p:childTnLst>
                                    <p:set>
                                      <p:cBhvr>
                                        <p:cTn id="34" dur="1" fill="hold">
                                          <p:stCondLst>
                                            <p:cond delay="0"/>
                                          </p:stCondLst>
                                        </p:cTn>
                                        <p:tgtEl>
                                          <p:spTgt spid="91"/>
                                        </p:tgtEl>
                                        <p:attrNameLst>
                                          <p:attrName>style.visibility</p:attrName>
                                        </p:attrNameLst>
                                      </p:cBhvr>
                                      <p:to>
                                        <p:strVal val="visible"/>
                                      </p:to>
                                    </p:set>
                                    <p:animEffect transition="in" filter="wipe(left)">
                                      <p:cBhvr>
                                        <p:cTn id="35" dur="200"/>
                                        <p:tgtEl>
                                          <p:spTgt spid="91"/>
                                        </p:tgtEl>
                                      </p:cBhvr>
                                    </p:animEffect>
                                  </p:childTnLst>
                                </p:cTn>
                              </p:par>
                            </p:childTnLst>
                          </p:cTn>
                        </p:par>
                        <p:par>
                          <p:cTn id="36" fill="hold">
                            <p:stCondLst>
                              <p:cond delay="1600"/>
                            </p:stCondLst>
                            <p:childTnLst>
                              <p:par>
                                <p:cTn id="37" presetID="22" presetClass="entr" presetSubtype="4"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wipe(down)">
                                      <p:cBhvr>
                                        <p:cTn id="39" dur="200"/>
                                        <p:tgtEl>
                                          <p:spTgt spid="36"/>
                                        </p:tgtEl>
                                      </p:cBhvr>
                                    </p:animEffect>
                                  </p:childTnLst>
                                </p:cTn>
                              </p:par>
                            </p:childTnLst>
                          </p:cTn>
                        </p:par>
                        <p:par>
                          <p:cTn id="40" fill="hold">
                            <p:stCondLst>
                              <p:cond delay="1800"/>
                            </p:stCondLst>
                            <p:childTnLst>
                              <p:par>
                                <p:cTn id="41" presetID="22" presetClass="entr" presetSubtype="1" fill="hold" grpId="0" nodeType="after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wipe(up)">
                                      <p:cBhvr>
                                        <p:cTn id="43" dur="200"/>
                                        <p:tgtEl>
                                          <p:spTgt spid="33"/>
                                        </p:tgtEl>
                                      </p:cBhvr>
                                    </p:animEffect>
                                  </p:childTnLst>
                                </p:cTn>
                              </p:par>
                            </p:childTnLst>
                          </p:cTn>
                        </p:par>
                        <p:par>
                          <p:cTn id="44" fill="hold">
                            <p:stCondLst>
                              <p:cond delay="2000"/>
                            </p:stCondLst>
                            <p:childTnLst>
                              <p:par>
                                <p:cTn id="45" presetID="22" presetClass="entr" presetSubtype="8" fill="hold" grpId="0" nodeType="afterEffect">
                                  <p:stCondLst>
                                    <p:cond delay="0"/>
                                  </p:stCondLst>
                                  <p:childTnLst>
                                    <p:set>
                                      <p:cBhvr>
                                        <p:cTn id="46" dur="1" fill="hold">
                                          <p:stCondLst>
                                            <p:cond delay="0"/>
                                          </p:stCondLst>
                                        </p:cTn>
                                        <p:tgtEl>
                                          <p:spTgt spid="92"/>
                                        </p:tgtEl>
                                        <p:attrNameLst>
                                          <p:attrName>style.visibility</p:attrName>
                                        </p:attrNameLst>
                                      </p:cBhvr>
                                      <p:to>
                                        <p:strVal val="visible"/>
                                      </p:to>
                                    </p:set>
                                    <p:animEffect transition="in" filter="wipe(left)">
                                      <p:cBhvr>
                                        <p:cTn id="47" dur="200"/>
                                        <p:tgtEl>
                                          <p:spTgt spid="92"/>
                                        </p:tgtEl>
                                      </p:cBhvr>
                                    </p:animEffect>
                                  </p:childTnLst>
                                </p:cTn>
                              </p:par>
                            </p:childTnLst>
                          </p:cTn>
                        </p:par>
                        <p:par>
                          <p:cTn id="48" fill="hold">
                            <p:stCondLst>
                              <p:cond delay="2200"/>
                            </p:stCondLst>
                            <p:childTnLst>
                              <p:par>
                                <p:cTn id="49" presetID="22" presetClass="entr" presetSubtype="1"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wipe(up)">
                                      <p:cBhvr>
                                        <p:cTn id="51" dur="200"/>
                                        <p:tgtEl>
                                          <p:spTgt spid="30"/>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xit" presetSubtype="0" fill="hold" grpId="1" nodeType="clickEffect">
                                  <p:stCondLst>
                                    <p:cond delay="0"/>
                                  </p:stCondLst>
                                  <p:childTnLst>
                                    <p:set>
                                      <p:cBhvr>
                                        <p:cTn id="55" dur="1" fill="hold">
                                          <p:stCondLst>
                                            <p:cond delay="0"/>
                                          </p:stCondLst>
                                        </p:cTn>
                                        <p:tgtEl>
                                          <p:spTgt spid="29"/>
                                        </p:tgtEl>
                                        <p:attrNameLst>
                                          <p:attrName>style.visibility</p:attrName>
                                        </p:attrNameLst>
                                      </p:cBhvr>
                                      <p:to>
                                        <p:strVal val="hidden"/>
                                      </p:to>
                                    </p:set>
                                  </p:childTnLst>
                                </p:cTn>
                              </p:par>
                              <p:par>
                                <p:cTn id="56" presetID="1" presetClass="exit" presetSubtype="0" fill="hold" grpId="1" nodeType="withEffect">
                                  <p:stCondLst>
                                    <p:cond delay="0"/>
                                  </p:stCondLst>
                                  <p:childTnLst>
                                    <p:set>
                                      <p:cBhvr>
                                        <p:cTn id="57" dur="1" fill="hold">
                                          <p:stCondLst>
                                            <p:cond delay="0"/>
                                          </p:stCondLst>
                                        </p:cTn>
                                        <p:tgtEl>
                                          <p:spTgt spid="89"/>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1" nodeType="withEffect">
                                  <p:stCondLst>
                                    <p:cond delay="0"/>
                                  </p:stCondLst>
                                  <p:childTnLst>
                                    <p:set>
                                      <p:cBhvr>
                                        <p:cTn id="61" dur="1" fill="hold">
                                          <p:stCondLst>
                                            <p:cond delay="0"/>
                                          </p:stCondLst>
                                        </p:cTn>
                                        <p:tgtEl>
                                          <p:spTgt spid="31"/>
                                        </p:tgtEl>
                                        <p:attrNameLst>
                                          <p:attrName>style.visibility</p:attrName>
                                        </p:attrNameLst>
                                      </p:cBhvr>
                                      <p:to>
                                        <p:strVal val="hidden"/>
                                      </p:to>
                                    </p:set>
                                  </p:childTnLst>
                                </p:cTn>
                              </p:par>
                              <p:par>
                                <p:cTn id="62" presetID="1" presetClass="exit" presetSubtype="0" fill="hold" grpId="1" nodeType="withEffect">
                                  <p:stCondLst>
                                    <p:cond delay="0"/>
                                  </p:stCondLst>
                                  <p:childTnLst>
                                    <p:set>
                                      <p:cBhvr>
                                        <p:cTn id="63" dur="1" fill="hold">
                                          <p:stCondLst>
                                            <p:cond delay="0"/>
                                          </p:stCondLst>
                                        </p:cTn>
                                        <p:tgtEl>
                                          <p:spTgt spid="90"/>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6" presetID="1" presetClass="exit" presetSubtype="0" fill="hold" grpId="1" nodeType="withEffect">
                                  <p:stCondLst>
                                    <p:cond delay="0"/>
                                  </p:stCondLst>
                                  <p:childTnLst>
                                    <p:set>
                                      <p:cBhvr>
                                        <p:cTn id="67" dur="1" fill="hold">
                                          <p:stCondLst>
                                            <p:cond delay="0"/>
                                          </p:stCondLst>
                                        </p:cTn>
                                        <p:tgtEl>
                                          <p:spTgt spid="32"/>
                                        </p:tgtEl>
                                        <p:attrNameLst>
                                          <p:attrName>style.visibility</p:attrName>
                                        </p:attrNameLst>
                                      </p:cBhvr>
                                      <p:to>
                                        <p:strVal val="hidden"/>
                                      </p:to>
                                    </p:set>
                                  </p:childTnLst>
                                </p:cTn>
                              </p:par>
                              <p:par>
                                <p:cTn id="68" presetID="1" presetClass="exit" presetSubtype="0" fill="hold" grpId="1" nodeType="withEffect">
                                  <p:stCondLst>
                                    <p:cond delay="0"/>
                                  </p:stCondLst>
                                  <p:childTnLst>
                                    <p:set>
                                      <p:cBhvr>
                                        <p:cTn id="69" dur="1" fill="hold">
                                          <p:stCondLst>
                                            <p:cond delay="0"/>
                                          </p:stCondLst>
                                        </p:cTn>
                                        <p:tgtEl>
                                          <p:spTgt spid="91"/>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6"/>
                                        </p:tgtEl>
                                        <p:attrNameLst>
                                          <p:attrName>style.visibility</p:attrName>
                                        </p:attrNameLst>
                                      </p:cBhvr>
                                      <p:to>
                                        <p:strVal val="hidden"/>
                                      </p:to>
                                    </p:set>
                                  </p:childTnLst>
                                </p:cTn>
                              </p:par>
                              <p:par>
                                <p:cTn id="72" presetID="1" presetClass="exit" presetSubtype="0" fill="hold" grpId="1" nodeType="withEffect">
                                  <p:stCondLst>
                                    <p:cond delay="0"/>
                                  </p:stCondLst>
                                  <p:childTnLst>
                                    <p:set>
                                      <p:cBhvr>
                                        <p:cTn id="73" dur="1" fill="hold">
                                          <p:stCondLst>
                                            <p:cond delay="0"/>
                                          </p:stCondLst>
                                        </p:cTn>
                                        <p:tgtEl>
                                          <p:spTgt spid="33"/>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92"/>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0"/>
                                        </p:tgtEl>
                                        <p:attrNameLst>
                                          <p:attrName>style.visibility</p:attrName>
                                        </p:attrNameLst>
                                      </p:cBhvr>
                                      <p:to>
                                        <p:strVal val="hidden"/>
                                      </p:to>
                                    </p:set>
                                  </p:childTnLst>
                                </p:cTn>
                              </p:par>
                            </p:childTnLst>
                          </p:cTn>
                        </p:par>
                        <p:par>
                          <p:cTn id="78" fill="hold">
                            <p:stCondLst>
                              <p:cond delay="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500"/>
                            </p:stCondLst>
                            <p:childTnLst>
                              <p:par>
                                <p:cTn id="83" presetID="22" presetClass="entr" presetSubtype="8" fill="hold" grpId="0" nodeType="after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wipe(left)">
                                      <p:cBhvr>
                                        <p:cTn id="85" dur="500"/>
                                        <p:tgtEl>
                                          <p:spTgt spid="42"/>
                                        </p:tgtEl>
                                      </p:cBhvr>
                                    </p:animEffect>
                                  </p:childTnLst>
                                </p:cTn>
                              </p:par>
                            </p:childTnLst>
                          </p:cTn>
                        </p:par>
                        <p:par>
                          <p:cTn id="86" fill="hold">
                            <p:stCondLst>
                              <p:cond delay="1000"/>
                            </p:stCondLst>
                            <p:childTnLst>
                              <p:par>
                                <p:cTn id="87" presetID="22" presetClass="entr" presetSubtype="8" fill="hold" grpId="0" nodeType="afterEffect">
                                  <p:stCondLst>
                                    <p:cond delay="0"/>
                                  </p:stCondLst>
                                  <p:childTnLst>
                                    <p:set>
                                      <p:cBhvr>
                                        <p:cTn id="88" dur="1" fill="hold">
                                          <p:stCondLst>
                                            <p:cond delay="0"/>
                                          </p:stCondLst>
                                        </p:cTn>
                                        <p:tgtEl>
                                          <p:spTgt spid="43"/>
                                        </p:tgtEl>
                                        <p:attrNameLst>
                                          <p:attrName>style.visibility</p:attrName>
                                        </p:attrNameLst>
                                      </p:cBhvr>
                                      <p:to>
                                        <p:strVal val="visible"/>
                                      </p:to>
                                    </p:set>
                                    <p:animEffect transition="in" filter="wipe(left)">
                                      <p:cBhvr>
                                        <p:cTn id="89" dur="500"/>
                                        <p:tgtEl>
                                          <p:spTgt spid="43"/>
                                        </p:tgtEl>
                                      </p:cBhvr>
                                    </p:animEffect>
                                  </p:childTnLst>
                                </p:cTn>
                              </p:par>
                            </p:childTnLst>
                          </p:cTn>
                        </p:par>
                        <p:par>
                          <p:cTn id="90" fill="hold">
                            <p:stCondLst>
                              <p:cond delay="1500"/>
                            </p:stCondLst>
                            <p:childTnLst>
                              <p:par>
                                <p:cTn id="91" presetID="22" presetClass="entr" presetSubtype="8" fill="hold" grpId="0" nodeType="after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wipe(left)">
                                      <p:cBhvr>
                                        <p:cTn id="9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animBg="1"/>
      <p:bldP spid="35" grpId="1" animBg="1"/>
      <p:bldP spid="36" grpId="0" animBg="1"/>
      <p:bldP spid="36" grpId="1" animBg="1"/>
      <p:bldP spid="41" grpId="0" animBg="1"/>
      <p:bldP spid="42" grpId="0" animBg="1"/>
      <p:bldP spid="43" grpId="0" animBg="1"/>
      <p:bldP spid="44" grpId="0" animBg="1"/>
      <p:bldP spid="89" grpId="0" animBg="1"/>
      <p:bldP spid="89" grpId="1" animBg="1"/>
      <p:bldP spid="90" grpId="0" animBg="1"/>
      <p:bldP spid="90" grpId="1" animBg="1"/>
      <p:bldP spid="91" grpId="0" animBg="1"/>
      <p:bldP spid="91" grpId="1" animBg="1"/>
      <p:bldP spid="92" grpId="0" animBg="1"/>
      <p:bldP spid="92"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1223916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7"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endParaRPr lang="en-US" altLang="zh-CN" sz="24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479951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4763636" y="2297152"/>
            <a:ext cx="1109214"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2</a:t>
            </a:r>
            <a:endParaRPr lang="en-US" altLang="zh-CN" sz="1200" b="1" dirty="0">
              <a:solidFill>
                <a:schemeClr val="tx1">
                  <a:lumMod val="50000"/>
                  <a:lumOff val="50000"/>
                </a:schemeClr>
              </a:solidFill>
            </a:endParaRPr>
          </a:p>
        </p:txBody>
      </p:sp>
      <p:sp>
        <p:nvSpPr>
          <p:cNvPr id="10" name="TextBox 16">
            <a:extLst>
              <a:ext uri="{FF2B5EF4-FFF2-40B4-BE49-F238E27FC236}">
                <a16:creationId xmlns:a16="http://schemas.microsoft.com/office/drawing/2014/main" id="{14A49A99-2ED6-46EA-A263-BC5D6D450E2F}"/>
              </a:ext>
            </a:extLst>
          </p:cNvPr>
          <p:cNvSpPr txBox="1"/>
          <p:nvPr/>
        </p:nvSpPr>
        <p:spPr>
          <a:xfrm>
            <a:off x="4799511"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8527327"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8466412"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3</a:t>
            </a:r>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8527327"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主要步骤</a:t>
            </a:r>
          </a:p>
        </p:txBody>
      </p:sp>
    </p:spTree>
    <p:extLst>
      <p:ext uri="{BB962C8B-B14F-4D97-AF65-F5344CB8AC3E}">
        <p14:creationId xmlns:p14="http://schemas.microsoft.com/office/powerpoint/2010/main" val="1569910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12200436"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12157155" y="2297152"/>
            <a:ext cx="1124026"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2</a:t>
            </a:r>
          </a:p>
          <a:p>
            <a:r>
              <a:rPr lang="en-US" altLang="zh-CN" sz="1200" b="1" dirty="0">
                <a:solidFill>
                  <a:schemeClr val="tx1">
                    <a:lumMod val="50000"/>
                    <a:lumOff val="50000"/>
                  </a:schemeClr>
                </a:solidFill>
              </a:rPr>
              <a:t> </a:t>
            </a:r>
          </a:p>
        </p:txBody>
      </p:sp>
      <p:sp>
        <p:nvSpPr>
          <p:cNvPr id="10" name="TextBox 16">
            <a:extLst>
              <a:ext uri="{FF2B5EF4-FFF2-40B4-BE49-F238E27FC236}">
                <a16:creationId xmlns:a16="http://schemas.microsoft.com/office/drawing/2014/main" id="{14A49A99-2ED6-46EA-A263-BC5D6D450E2F}"/>
              </a:ext>
            </a:extLst>
          </p:cNvPr>
          <p:cNvSpPr txBox="1"/>
          <p:nvPr/>
        </p:nvSpPr>
        <p:spPr>
          <a:xfrm>
            <a:off x="12200436"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15928252"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15867337"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3</a:t>
            </a:r>
          </a:p>
          <a:p>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15928252"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14" name="Rectangle 19">
            <a:extLst>
              <a:ext uri="{FF2B5EF4-FFF2-40B4-BE49-F238E27FC236}">
                <a16:creationId xmlns:a16="http://schemas.microsoft.com/office/drawing/2014/main" id="{3E5EC166-987E-49FC-A25F-BB56637DD973}"/>
              </a:ext>
            </a:extLst>
          </p:cNvPr>
          <p:cNvSpPr/>
          <p:nvPr/>
        </p:nvSpPr>
        <p:spPr>
          <a:xfrm>
            <a:off x="6910716"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16" name="Rectangle 19">
            <a:extLst>
              <a:ext uri="{FF2B5EF4-FFF2-40B4-BE49-F238E27FC236}">
                <a16:creationId xmlns:a16="http://schemas.microsoft.com/office/drawing/2014/main" id="{37727F75-FE61-4B5D-9D76-E1B80D4CB148}"/>
              </a:ext>
            </a:extLst>
          </p:cNvPr>
          <p:cNvSpPr/>
          <p:nvPr/>
        </p:nvSpPr>
        <p:spPr>
          <a:xfrm>
            <a:off x="6190717"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7" name="Rectangle 19">
            <a:extLst>
              <a:ext uri="{FF2B5EF4-FFF2-40B4-BE49-F238E27FC236}">
                <a16:creationId xmlns:a16="http://schemas.microsoft.com/office/drawing/2014/main" id="{29F8E0A9-838D-4088-8B19-85AA08E261F2}"/>
              </a:ext>
            </a:extLst>
          </p:cNvPr>
          <p:cNvSpPr/>
          <p:nvPr/>
        </p:nvSpPr>
        <p:spPr>
          <a:xfrm>
            <a:off x="9070716"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8" name="Isosceles Triangle 51">
            <a:extLst>
              <a:ext uri="{FF2B5EF4-FFF2-40B4-BE49-F238E27FC236}">
                <a16:creationId xmlns:a16="http://schemas.microsoft.com/office/drawing/2014/main" id="{F4C135BA-4ACB-4AC1-A153-F46767033557}"/>
              </a:ext>
            </a:extLst>
          </p:cNvPr>
          <p:cNvSpPr/>
          <p:nvPr/>
        </p:nvSpPr>
        <p:spPr>
          <a:xfrm flipV="1">
            <a:off x="6460717"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19" name="Isosceles Triangle 51">
            <a:extLst>
              <a:ext uri="{FF2B5EF4-FFF2-40B4-BE49-F238E27FC236}">
                <a16:creationId xmlns:a16="http://schemas.microsoft.com/office/drawing/2014/main" id="{AD92DBCD-CF21-40DE-BF18-E00454690CD4}"/>
              </a:ext>
            </a:extLst>
          </p:cNvPr>
          <p:cNvSpPr/>
          <p:nvPr/>
        </p:nvSpPr>
        <p:spPr>
          <a:xfrm flipV="1">
            <a:off x="790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0" name="Isosceles Triangle 51">
            <a:extLst>
              <a:ext uri="{FF2B5EF4-FFF2-40B4-BE49-F238E27FC236}">
                <a16:creationId xmlns:a16="http://schemas.microsoft.com/office/drawing/2014/main" id="{52DA8D98-B33C-4662-A01E-0BF7780577B6}"/>
              </a:ext>
            </a:extLst>
          </p:cNvPr>
          <p:cNvSpPr/>
          <p:nvPr/>
        </p:nvSpPr>
        <p:spPr>
          <a:xfrm flipV="1">
            <a:off x="934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2" name="文本框 21">
            <a:extLst>
              <a:ext uri="{FF2B5EF4-FFF2-40B4-BE49-F238E27FC236}">
                <a16:creationId xmlns:a16="http://schemas.microsoft.com/office/drawing/2014/main" id="{AE4E8DBE-C6CF-48E5-8D15-816074499468}"/>
              </a:ext>
            </a:extLst>
          </p:cNvPr>
          <p:cNvSpPr txBox="1"/>
          <p:nvPr/>
        </p:nvSpPr>
        <p:spPr>
          <a:xfrm>
            <a:off x="7553740"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23" name="TextBox 16">
            <a:extLst>
              <a:ext uri="{FF2B5EF4-FFF2-40B4-BE49-F238E27FC236}">
                <a16:creationId xmlns:a16="http://schemas.microsoft.com/office/drawing/2014/main" id="{D40CC480-70C1-4F15-AFCE-FB9A0619B5C6}"/>
              </a:ext>
            </a:extLst>
          </p:cNvPr>
          <p:cNvSpPr txBox="1"/>
          <p:nvPr/>
        </p:nvSpPr>
        <p:spPr>
          <a:xfrm>
            <a:off x="6730716"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f End – 	</a:t>
            </a:r>
            <a:r>
              <a:rPr lang="zh-CN" altLang="en-US"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编码：</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End Of Header – 	</a:t>
            </a:r>
            <a:r>
              <a:rPr lang="zh-CN" altLang="en-US" sz="1200" dirty="0">
                <a:solidFill>
                  <a:schemeClr val="bg1">
                    <a:lumMod val="65000"/>
                  </a:schemeClr>
                </a:solidFill>
                <a:latin typeface="Roboto Thin" charset="0"/>
                <a:ea typeface="微软雅黑 Light" panose="020B0502040204020203" pitchFamily="34" charset="-122"/>
                <a:cs typeface="Calibri Light"/>
              </a:rPr>
              <a:t>编码：</a:t>
            </a:r>
            <a:r>
              <a:rPr lang="en-US" altLang="zh-CN" sz="1200" dirty="0">
                <a:solidFill>
                  <a:schemeClr val="bg1">
                    <a:lumMod val="65000"/>
                  </a:schemeClr>
                </a:solidFill>
                <a:latin typeface="Roboto Thin" charset="0"/>
                <a:ea typeface="微软雅黑 Light" panose="020B0502040204020203" pitchFamily="34"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 name="箭头: 左 2">
            <a:extLst>
              <a:ext uri="{FF2B5EF4-FFF2-40B4-BE49-F238E27FC236}">
                <a16:creationId xmlns:a16="http://schemas.microsoft.com/office/drawing/2014/main" id="{9EB458C0-4565-41DE-A907-9A053113CD4F}"/>
              </a:ext>
            </a:extLst>
          </p:cNvPr>
          <p:cNvSpPr/>
          <p:nvPr/>
        </p:nvSpPr>
        <p:spPr>
          <a:xfrm>
            <a:off x="5469901"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789A94A4-632D-4773-8496-7D5E7B6EC047}"/>
              </a:ext>
            </a:extLst>
          </p:cNvPr>
          <p:cNvSpPr txBox="1"/>
          <p:nvPr/>
        </p:nvSpPr>
        <p:spPr>
          <a:xfrm>
            <a:off x="4945745"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spTree>
    <p:extLst>
      <p:ext uri="{BB962C8B-B14F-4D97-AF65-F5344CB8AC3E}">
        <p14:creationId xmlns:p14="http://schemas.microsoft.com/office/powerpoint/2010/main" val="25420999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p>
          <a:p>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25" name="文本框 24">
            <a:extLst>
              <a:ext uri="{FF2B5EF4-FFF2-40B4-BE49-F238E27FC236}">
                <a16:creationId xmlns:a16="http://schemas.microsoft.com/office/drawing/2014/main" id="{B6A53042-7014-4EDA-B938-AFA718A3CEF8}"/>
              </a:ext>
            </a:extLst>
          </p:cNvPr>
          <p:cNvSpPr txBox="1"/>
          <p:nvPr/>
        </p:nvSpPr>
        <p:spPr>
          <a:xfrm>
            <a:off x="4975729" y="2694266"/>
            <a:ext cx="3736920" cy="1600438"/>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注意：</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MTU</a:t>
            </a:r>
            <a:r>
              <a:rPr lang="zh-CN" altLang="en-US" sz="1400" dirty="0">
                <a:latin typeface="微软雅黑 Light" panose="020B0502040204020203" pitchFamily="34" charset="-122"/>
                <a:ea typeface="微软雅黑 Light" panose="020B0502040204020203" pitchFamily="34" charset="-122"/>
              </a:rPr>
              <a:t>指的是哪一部分？</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发送帧是是从</a:t>
            </a: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开始还是从</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开始？</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和</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的作用是什么？</a:t>
            </a:r>
            <a:endParaRPr lang="en-US" altLang="zh-CN" sz="1400" dirty="0">
              <a:latin typeface="微软雅黑 Light" panose="020B0502040204020203" pitchFamily="34" charset="-122"/>
              <a:ea typeface="微软雅黑 Light" panose="020B0502040204020203" pitchFamily="34" charset="-122"/>
            </a:endParaRPr>
          </a:p>
          <a:p>
            <a:endParaRPr lang="en-US" altLang="zh-CN" sz="1400" dirty="0">
              <a:latin typeface="微软雅黑 Light" panose="020B0502040204020203" pitchFamily="34" charset="-122"/>
              <a:ea typeface="微软雅黑 Light" panose="020B0502040204020203" pitchFamily="34" charset="-122"/>
            </a:endParaRPr>
          </a:p>
          <a:p>
            <a:r>
              <a:rPr lang="zh-CN" altLang="en-US" sz="1400" dirty="0">
                <a:latin typeface="微软雅黑 Light" panose="020B0502040204020203" pitchFamily="34" charset="-122"/>
                <a:ea typeface="微软雅黑 Light" panose="020B0502040204020203" pitchFamily="34" charset="-122"/>
              </a:rPr>
              <a:t>思考</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如果数据部分出现</a:t>
            </a:r>
            <a:r>
              <a:rPr lang="en-US" altLang="zh-CN" sz="1400" dirty="0">
                <a:latin typeface="微软雅黑 Light" panose="020B0502040204020203" pitchFamily="34" charset="-122"/>
                <a:ea typeface="微软雅黑 Light" panose="020B0502040204020203" pitchFamily="34" charset="-122"/>
              </a:rPr>
              <a:t>01</a:t>
            </a:r>
            <a:r>
              <a:rPr lang="zh-CN" altLang="en-US" sz="1400" dirty="0">
                <a:latin typeface="微软雅黑 Light" panose="020B0502040204020203" pitchFamily="34" charset="-122"/>
                <a:ea typeface="微软雅黑 Light" panose="020B0502040204020203" pitchFamily="34" charset="-122"/>
              </a:rPr>
              <a:t>或</a:t>
            </a:r>
            <a:r>
              <a:rPr lang="en-US" altLang="zh-CN" sz="1400" dirty="0">
                <a:latin typeface="微软雅黑 Light" panose="020B0502040204020203" pitchFamily="34" charset="-122"/>
                <a:ea typeface="微软雅黑 Light" panose="020B0502040204020203" pitchFamily="34" charset="-122"/>
              </a:rPr>
              <a:t>04</a:t>
            </a:r>
            <a:r>
              <a:rPr lang="zh-CN" altLang="en-US" sz="1400" dirty="0">
                <a:latin typeface="微软雅黑 Light" panose="020B0502040204020203" pitchFamily="34" charset="-122"/>
                <a:ea typeface="微软雅黑 Light" panose="020B0502040204020203" pitchFamily="34" charset="-122"/>
              </a:rPr>
              <a:t>，如何破？</a:t>
            </a:r>
          </a:p>
        </p:txBody>
      </p:sp>
      <p:sp>
        <p:nvSpPr>
          <p:cNvPr id="26" name="Rectangle 19">
            <a:extLst>
              <a:ext uri="{FF2B5EF4-FFF2-40B4-BE49-F238E27FC236}">
                <a16:creationId xmlns:a16="http://schemas.microsoft.com/office/drawing/2014/main" id="{B89C0D8B-160A-4055-9C3E-509F1606F232}"/>
              </a:ext>
            </a:extLst>
          </p:cNvPr>
          <p:cNvSpPr/>
          <p:nvPr/>
        </p:nvSpPr>
        <p:spPr>
          <a:xfrm>
            <a:off x="14178291"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27" name="Rectangle 19">
            <a:extLst>
              <a:ext uri="{FF2B5EF4-FFF2-40B4-BE49-F238E27FC236}">
                <a16:creationId xmlns:a16="http://schemas.microsoft.com/office/drawing/2014/main" id="{3CB3EF4C-C8E4-4B99-98BA-311F67E7BEC0}"/>
              </a:ext>
            </a:extLst>
          </p:cNvPr>
          <p:cNvSpPr/>
          <p:nvPr/>
        </p:nvSpPr>
        <p:spPr>
          <a:xfrm>
            <a:off x="13458292"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28" name="Rectangle 19">
            <a:extLst>
              <a:ext uri="{FF2B5EF4-FFF2-40B4-BE49-F238E27FC236}">
                <a16:creationId xmlns:a16="http://schemas.microsoft.com/office/drawing/2014/main" id="{4E70971F-84A5-47F5-AAC5-863ECF6D51F5}"/>
              </a:ext>
            </a:extLst>
          </p:cNvPr>
          <p:cNvSpPr/>
          <p:nvPr/>
        </p:nvSpPr>
        <p:spPr>
          <a:xfrm>
            <a:off x="16338291"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9" name="Isosceles Triangle 51">
            <a:extLst>
              <a:ext uri="{FF2B5EF4-FFF2-40B4-BE49-F238E27FC236}">
                <a16:creationId xmlns:a16="http://schemas.microsoft.com/office/drawing/2014/main" id="{1598A923-E185-4F3C-9D3B-95181A3DD48C}"/>
              </a:ext>
            </a:extLst>
          </p:cNvPr>
          <p:cNvSpPr/>
          <p:nvPr/>
        </p:nvSpPr>
        <p:spPr>
          <a:xfrm flipV="1">
            <a:off x="13728292"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0" name="Isosceles Triangle 51">
            <a:extLst>
              <a:ext uri="{FF2B5EF4-FFF2-40B4-BE49-F238E27FC236}">
                <a16:creationId xmlns:a16="http://schemas.microsoft.com/office/drawing/2014/main" id="{9BD9D4C0-1495-49FE-A2EF-DF07392FC8FB}"/>
              </a:ext>
            </a:extLst>
          </p:cNvPr>
          <p:cNvSpPr/>
          <p:nvPr/>
        </p:nvSpPr>
        <p:spPr>
          <a:xfrm flipV="1">
            <a:off x="1516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1" name="Isosceles Triangle 51">
            <a:extLst>
              <a:ext uri="{FF2B5EF4-FFF2-40B4-BE49-F238E27FC236}">
                <a16:creationId xmlns:a16="http://schemas.microsoft.com/office/drawing/2014/main" id="{5CB20C7C-97EE-4932-A24D-E5D9D15BB411}"/>
              </a:ext>
            </a:extLst>
          </p:cNvPr>
          <p:cNvSpPr/>
          <p:nvPr/>
        </p:nvSpPr>
        <p:spPr>
          <a:xfrm flipV="1">
            <a:off x="1660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2" name="文本框 31">
            <a:extLst>
              <a:ext uri="{FF2B5EF4-FFF2-40B4-BE49-F238E27FC236}">
                <a16:creationId xmlns:a16="http://schemas.microsoft.com/office/drawing/2014/main" id="{6441271A-C39D-41BA-89B6-5EE01AC6B90B}"/>
              </a:ext>
            </a:extLst>
          </p:cNvPr>
          <p:cNvSpPr txBox="1"/>
          <p:nvPr/>
        </p:nvSpPr>
        <p:spPr>
          <a:xfrm>
            <a:off x="14821315"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33" name="TextBox 16">
            <a:extLst>
              <a:ext uri="{FF2B5EF4-FFF2-40B4-BE49-F238E27FC236}">
                <a16:creationId xmlns:a16="http://schemas.microsoft.com/office/drawing/2014/main" id="{8F2B513E-5D43-4354-B2CD-E71D89C09D6C}"/>
              </a:ext>
            </a:extLst>
          </p:cNvPr>
          <p:cNvSpPr txBox="1"/>
          <p:nvPr/>
        </p:nvSpPr>
        <p:spPr>
          <a:xfrm>
            <a:off x="13998291"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f End – 	</a:t>
            </a:r>
            <a:r>
              <a:rPr lang="zh-CN" altLang="en-US"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编码：</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End Of Header – 	</a:t>
            </a:r>
            <a:r>
              <a:rPr lang="zh-CN" altLang="en-US" sz="1200" dirty="0">
                <a:solidFill>
                  <a:schemeClr val="bg1">
                    <a:lumMod val="65000"/>
                  </a:schemeClr>
                </a:solidFill>
                <a:latin typeface="Roboto Thin" charset="0"/>
                <a:ea typeface="微软雅黑 Light" panose="020B0502040204020203" pitchFamily="34" charset="-122"/>
                <a:cs typeface="Calibri Light"/>
              </a:rPr>
              <a:t>编码：</a:t>
            </a:r>
            <a:r>
              <a:rPr lang="en-US" altLang="zh-CN" sz="1200" dirty="0">
                <a:solidFill>
                  <a:schemeClr val="bg1">
                    <a:lumMod val="65000"/>
                  </a:schemeClr>
                </a:solidFill>
                <a:latin typeface="Roboto Thin" charset="0"/>
                <a:ea typeface="微软雅黑 Light" panose="020B0502040204020203" pitchFamily="34"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4" name="箭头: 左 33">
            <a:extLst>
              <a:ext uri="{FF2B5EF4-FFF2-40B4-BE49-F238E27FC236}">
                <a16:creationId xmlns:a16="http://schemas.microsoft.com/office/drawing/2014/main" id="{152753C4-93DE-4A85-A4BB-ECAAFE5C61AB}"/>
              </a:ext>
            </a:extLst>
          </p:cNvPr>
          <p:cNvSpPr/>
          <p:nvPr/>
        </p:nvSpPr>
        <p:spPr>
          <a:xfrm>
            <a:off x="12737476"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5" name="文本框 34">
            <a:extLst>
              <a:ext uri="{FF2B5EF4-FFF2-40B4-BE49-F238E27FC236}">
                <a16:creationId xmlns:a16="http://schemas.microsoft.com/office/drawing/2014/main" id="{8E6F2593-7EEF-423C-B321-27DFD9864B66}"/>
              </a:ext>
            </a:extLst>
          </p:cNvPr>
          <p:cNvSpPr txBox="1"/>
          <p:nvPr/>
        </p:nvSpPr>
        <p:spPr>
          <a:xfrm>
            <a:off x="12213320"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grpSp>
        <p:nvGrpSpPr>
          <p:cNvPr id="2" name="组合 1">
            <a:extLst>
              <a:ext uri="{FF2B5EF4-FFF2-40B4-BE49-F238E27FC236}">
                <a16:creationId xmlns:a16="http://schemas.microsoft.com/office/drawing/2014/main" id="{2F8F523C-0955-45C5-A329-F2ABC3473F92}"/>
              </a:ext>
            </a:extLst>
          </p:cNvPr>
          <p:cNvGrpSpPr>
            <a:grpSpLocks noChangeAspect="1"/>
          </p:cNvGrpSpPr>
          <p:nvPr/>
        </p:nvGrpSpPr>
        <p:grpSpPr>
          <a:xfrm>
            <a:off x="4691020" y="2713968"/>
            <a:ext cx="284708" cy="540000"/>
            <a:chOff x="10107504" y="1023734"/>
            <a:chExt cx="715328" cy="1356733"/>
          </a:xfrm>
          <a:effectLst>
            <a:outerShdw blurRad="50800" dist="38100" dir="2700000" algn="tl" rotWithShape="0">
              <a:prstClr val="black">
                <a:alpha val="40000"/>
              </a:prstClr>
            </a:outerShdw>
          </a:effectLst>
        </p:grpSpPr>
        <p:sp>
          <p:nvSpPr>
            <p:cNvPr id="36" name="Freeform 88">
              <a:extLst>
                <a:ext uri="{FF2B5EF4-FFF2-40B4-BE49-F238E27FC236}">
                  <a16:creationId xmlns:a16="http://schemas.microsoft.com/office/drawing/2014/main" id="{BF3C52CC-78D2-4EB7-889F-2BAE90C4892F}"/>
                </a:ext>
              </a:extLst>
            </p:cNvPr>
            <p:cNvSpPr>
              <a:spLocks noEditPoints="1"/>
            </p:cNvSpPr>
            <p:nvPr/>
          </p:nvSpPr>
          <p:spPr bwMode="auto">
            <a:xfrm>
              <a:off x="10164999" y="1023734"/>
              <a:ext cx="386038" cy="381558"/>
            </a:xfrm>
            <a:custGeom>
              <a:avLst/>
              <a:gdLst>
                <a:gd name="T0" fmla="*/ 27 w 27"/>
                <a:gd name="T1" fmla="*/ 13 h 27"/>
                <a:gd name="T2" fmla="*/ 14 w 27"/>
                <a:gd name="T3" fmla="*/ 27 h 27"/>
                <a:gd name="T4" fmla="*/ 0 w 27"/>
                <a:gd name="T5" fmla="*/ 13 h 27"/>
                <a:gd name="T6" fmla="*/ 14 w 27"/>
                <a:gd name="T7" fmla="*/ 0 h 27"/>
                <a:gd name="T8" fmla="*/ 27 w 27"/>
                <a:gd name="T9" fmla="*/ 13 h 27"/>
                <a:gd name="T10" fmla="*/ 27 w 27"/>
                <a:gd name="T11" fmla="*/ 13 h 27"/>
                <a:gd name="T12" fmla="*/ 27 w 27"/>
                <a:gd name="T13" fmla="*/ 13 h 27"/>
              </a:gdLst>
              <a:ahLst/>
              <a:cxnLst>
                <a:cxn ang="0">
                  <a:pos x="T0" y="T1"/>
                </a:cxn>
                <a:cxn ang="0">
                  <a:pos x="T2" y="T3"/>
                </a:cxn>
                <a:cxn ang="0">
                  <a:pos x="T4" y="T5"/>
                </a:cxn>
                <a:cxn ang="0">
                  <a:pos x="T6" y="T7"/>
                </a:cxn>
                <a:cxn ang="0">
                  <a:pos x="T8" y="T9"/>
                </a:cxn>
                <a:cxn ang="0">
                  <a:pos x="T10" y="T11"/>
                </a:cxn>
                <a:cxn ang="0">
                  <a:pos x="T12" y="T13"/>
                </a:cxn>
              </a:cxnLst>
              <a:rect l="0" t="0" r="r" b="b"/>
              <a:pathLst>
                <a:path w="27" h="27">
                  <a:moveTo>
                    <a:pt x="27" y="13"/>
                  </a:moveTo>
                  <a:cubicBezTo>
                    <a:pt x="27" y="21"/>
                    <a:pt x="21" y="27"/>
                    <a:pt x="14" y="27"/>
                  </a:cubicBezTo>
                  <a:cubicBezTo>
                    <a:pt x="6" y="27"/>
                    <a:pt x="0" y="21"/>
                    <a:pt x="0" y="13"/>
                  </a:cubicBezTo>
                  <a:cubicBezTo>
                    <a:pt x="0" y="6"/>
                    <a:pt x="6" y="0"/>
                    <a:pt x="14" y="0"/>
                  </a:cubicBezTo>
                  <a:cubicBezTo>
                    <a:pt x="21" y="0"/>
                    <a:pt x="27" y="6"/>
                    <a:pt x="27" y="13"/>
                  </a:cubicBezTo>
                  <a:close/>
                  <a:moveTo>
                    <a:pt x="27" y="13"/>
                  </a:moveTo>
                  <a:cubicBezTo>
                    <a:pt x="27" y="13"/>
                    <a:pt x="27" y="13"/>
                    <a:pt x="27" y="13"/>
                  </a:cubicBezTo>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sp>
          <p:nvSpPr>
            <p:cNvPr id="37" name="Freeform 89">
              <a:extLst>
                <a:ext uri="{FF2B5EF4-FFF2-40B4-BE49-F238E27FC236}">
                  <a16:creationId xmlns:a16="http://schemas.microsoft.com/office/drawing/2014/main" id="{FEDF265A-492B-4A39-A965-2017CF21DD81}"/>
                </a:ext>
              </a:extLst>
            </p:cNvPr>
            <p:cNvSpPr>
              <a:spLocks noEditPoints="1"/>
            </p:cNvSpPr>
            <p:nvPr/>
          </p:nvSpPr>
          <p:spPr bwMode="auto">
            <a:xfrm>
              <a:off x="10107504" y="1306729"/>
              <a:ext cx="715328" cy="1073738"/>
            </a:xfrm>
            <a:custGeom>
              <a:avLst/>
              <a:gdLst>
                <a:gd name="T0" fmla="*/ 556 w 958"/>
                <a:gd name="T1" fmla="*/ 1324 h 1438"/>
                <a:gd name="T2" fmla="*/ 556 w 958"/>
                <a:gd name="T3" fmla="*/ 757 h 1438"/>
                <a:gd name="T4" fmla="*/ 575 w 958"/>
                <a:gd name="T5" fmla="*/ 757 h 1438"/>
                <a:gd name="T6" fmla="*/ 613 w 958"/>
                <a:gd name="T7" fmla="*/ 340 h 1438"/>
                <a:gd name="T8" fmla="*/ 958 w 958"/>
                <a:gd name="T9" fmla="*/ 132 h 1438"/>
                <a:gd name="T10" fmla="*/ 920 w 958"/>
                <a:gd name="T11" fmla="*/ 0 h 1438"/>
                <a:gd name="T12" fmla="*/ 556 w 958"/>
                <a:gd name="T13" fmla="*/ 170 h 1438"/>
                <a:gd name="T14" fmla="*/ 441 w 958"/>
                <a:gd name="T15" fmla="*/ 170 h 1438"/>
                <a:gd name="T16" fmla="*/ 345 w 958"/>
                <a:gd name="T17" fmla="*/ 283 h 1438"/>
                <a:gd name="T18" fmla="*/ 230 w 958"/>
                <a:gd name="T19" fmla="*/ 170 h 1438"/>
                <a:gd name="T20" fmla="*/ 39 w 958"/>
                <a:gd name="T21" fmla="*/ 208 h 1438"/>
                <a:gd name="T22" fmla="*/ 20 w 958"/>
                <a:gd name="T23" fmla="*/ 662 h 1438"/>
                <a:gd name="T24" fmla="*/ 96 w 958"/>
                <a:gd name="T25" fmla="*/ 662 h 1438"/>
                <a:gd name="T26" fmla="*/ 115 w 958"/>
                <a:gd name="T27" fmla="*/ 757 h 1438"/>
                <a:gd name="T28" fmla="*/ 115 w 958"/>
                <a:gd name="T29" fmla="*/ 757 h 1438"/>
                <a:gd name="T30" fmla="*/ 115 w 958"/>
                <a:gd name="T31" fmla="*/ 1324 h 1438"/>
                <a:gd name="T32" fmla="*/ 96 w 958"/>
                <a:gd name="T33" fmla="*/ 1324 h 1438"/>
                <a:gd name="T34" fmla="*/ 0 w 958"/>
                <a:gd name="T35" fmla="*/ 1343 h 1438"/>
                <a:gd name="T36" fmla="*/ 0 w 958"/>
                <a:gd name="T37" fmla="*/ 1438 h 1438"/>
                <a:gd name="T38" fmla="*/ 96 w 958"/>
                <a:gd name="T39" fmla="*/ 1438 h 1438"/>
                <a:gd name="T40" fmla="*/ 192 w 958"/>
                <a:gd name="T41" fmla="*/ 1419 h 1438"/>
                <a:gd name="T42" fmla="*/ 192 w 958"/>
                <a:gd name="T43" fmla="*/ 1438 h 1438"/>
                <a:gd name="T44" fmla="*/ 307 w 958"/>
                <a:gd name="T45" fmla="*/ 1438 h 1438"/>
                <a:gd name="T46" fmla="*/ 307 w 958"/>
                <a:gd name="T47" fmla="*/ 870 h 1438"/>
                <a:gd name="T48" fmla="*/ 383 w 958"/>
                <a:gd name="T49" fmla="*/ 870 h 1438"/>
                <a:gd name="T50" fmla="*/ 383 w 958"/>
                <a:gd name="T51" fmla="*/ 1438 h 1438"/>
                <a:gd name="T52" fmla="*/ 498 w 958"/>
                <a:gd name="T53" fmla="*/ 1438 h 1438"/>
                <a:gd name="T54" fmla="*/ 498 w 958"/>
                <a:gd name="T55" fmla="*/ 1419 h 1438"/>
                <a:gd name="T56" fmla="*/ 594 w 958"/>
                <a:gd name="T57" fmla="*/ 1438 h 1438"/>
                <a:gd name="T58" fmla="*/ 690 w 958"/>
                <a:gd name="T59" fmla="*/ 1438 h 1438"/>
                <a:gd name="T60" fmla="*/ 690 w 958"/>
                <a:gd name="T61" fmla="*/ 1343 h 1438"/>
                <a:gd name="T62" fmla="*/ 575 w 958"/>
                <a:gd name="T63" fmla="*/ 1324 h 1438"/>
                <a:gd name="T64" fmla="*/ 556 w 958"/>
                <a:gd name="T65" fmla="*/ 1324 h 1438"/>
                <a:gd name="T66" fmla="*/ 556 w 958"/>
                <a:gd name="T67" fmla="*/ 1324 h 1438"/>
                <a:gd name="T68" fmla="*/ 556 w 958"/>
                <a:gd name="T69" fmla="*/ 1324 h 1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58" h="1438">
                  <a:moveTo>
                    <a:pt x="556" y="1324"/>
                  </a:moveTo>
                  <a:lnTo>
                    <a:pt x="556" y="757"/>
                  </a:lnTo>
                  <a:lnTo>
                    <a:pt x="575" y="757"/>
                  </a:lnTo>
                  <a:lnTo>
                    <a:pt x="613" y="340"/>
                  </a:lnTo>
                  <a:lnTo>
                    <a:pt x="958" y="132"/>
                  </a:lnTo>
                  <a:lnTo>
                    <a:pt x="920" y="0"/>
                  </a:lnTo>
                  <a:lnTo>
                    <a:pt x="556" y="170"/>
                  </a:lnTo>
                  <a:lnTo>
                    <a:pt x="441" y="170"/>
                  </a:lnTo>
                  <a:lnTo>
                    <a:pt x="345" y="283"/>
                  </a:lnTo>
                  <a:lnTo>
                    <a:pt x="230" y="170"/>
                  </a:lnTo>
                  <a:lnTo>
                    <a:pt x="39" y="208"/>
                  </a:lnTo>
                  <a:lnTo>
                    <a:pt x="20" y="662"/>
                  </a:lnTo>
                  <a:lnTo>
                    <a:pt x="96" y="662"/>
                  </a:lnTo>
                  <a:lnTo>
                    <a:pt x="115" y="757"/>
                  </a:lnTo>
                  <a:lnTo>
                    <a:pt x="115" y="757"/>
                  </a:lnTo>
                  <a:lnTo>
                    <a:pt x="115" y="1324"/>
                  </a:lnTo>
                  <a:lnTo>
                    <a:pt x="96" y="1324"/>
                  </a:lnTo>
                  <a:lnTo>
                    <a:pt x="0" y="1343"/>
                  </a:lnTo>
                  <a:lnTo>
                    <a:pt x="0" y="1438"/>
                  </a:lnTo>
                  <a:lnTo>
                    <a:pt x="96" y="1438"/>
                  </a:lnTo>
                  <a:lnTo>
                    <a:pt x="192" y="1419"/>
                  </a:lnTo>
                  <a:lnTo>
                    <a:pt x="192" y="1438"/>
                  </a:lnTo>
                  <a:lnTo>
                    <a:pt x="307" y="1438"/>
                  </a:lnTo>
                  <a:lnTo>
                    <a:pt x="307" y="870"/>
                  </a:lnTo>
                  <a:lnTo>
                    <a:pt x="383" y="870"/>
                  </a:lnTo>
                  <a:lnTo>
                    <a:pt x="383" y="1438"/>
                  </a:lnTo>
                  <a:lnTo>
                    <a:pt x="498" y="1438"/>
                  </a:lnTo>
                  <a:lnTo>
                    <a:pt x="498" y="1419"/>
                  </a:lnTo>
                  <a:lnTo>
                    <a:pt x="594" y="1438"/>
                  </a:lnTo>
                  <a:lnTo>
                    <a:pt x="690" y="1438"/>
                  </a:lnTo>
                  <a:lnTo>
                    <a:pt x="690" y="1343"/>
                  </a:lnTo>
                  <a:lnTo>
                    <a:pt x="575" y="1324"/>
                  </a:lnTo>
                  <a:lnTo>
                    <a:pt x="556" y="1324"/>
                  </a:lnTo>
                  <a:close/>
                  <a:moveTo>
                    <a:pt x="556" y="1324"/>
                  </a:moveTo>
                  <a:lnTo>
                    <a:pt x="556" y="1324"/>
                  </a:lnTo>
                  <a:close/>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grpSp>
      <p:sp>
        <p:nvSpPr>
          <p:cNvPr id="39" name="Shape">
            <a:extLst>
              <a:ext uri="{FF2B5EF4-FFF2-40B4-BE49-F238E27FC236}">
                <a16:creationId xmlns:a16="http://schemas.microsoft.com/office/drawing/2014/main" id="{BE17CCAD-540E-44B4-A259-EF3E8DA32FDB}"/>
              </a:ext>
            </a:extLst>
          </p:cNvPr>
          <p:cNvSpPr/>
          <p:nvPr/>
        </p:nvSpPr>
        <p:spPr>
          <a:xfrm>
            <a:off x="4606169" y="3825172"/>
            <a:ext cx="370892" cy="370883"/>
          </a:xfrm>
          <a:custGeom>
            <a:avLst/>
            <a:gdLst/>
            <a:ahLst/>
            <a:cxnLst>
              <a:cxn ang="0">
                <a:pos x="wd2" y="hd2"/>
              </a:cxn>
              <a:cxn ang="5400000">
                <a:pos x="wd2" y="hd2"/>
              </a:cxn>
              <a:cxn ang="10800000">
                <a:pos x="wd2" y="hd2"/>
              </a:cxn>
              <a:cxn ang="16200000">
                <a:pos x="wd2" y="hd2"/>
              </a:cxn>
            </a:cxnLst>
            <a:rect l="0" t="0" r="r" b="b"/>
            <a:pathLst>
              <a:path w="21600" h="21600" extrusionOk="0">
                <a:moveTo>
                  <a:pt x="14400" y="5997"/>
                </a:moveTo>
                <a:cubicBezTo>
                  <a:pt x="15083" y="6740"/>
                  <a:pt x="15451" y="7961"/>
                  <a:pt x="15293" y="9181"/>
                </a:cubicBezTo>
                <a:cubicBezTo>
                  <a:pt x="14926" y="11516"/>
                  <a:pt x="13349" y="12206"/>
                  <a:pt x="11930" y="12206"/>
                </a:cubicBezTo>
                <a:cubicBezTo>
                  <a:pt x="11772" y="12206"/>
                  <a:pt x="11772" y="12206"/>
                  <a:pt x="11772" y="12206"/>
                </a:cubicBezTo>
                <a:cubicBezTo>
                  <a:pt x="11772" y="12737"/>
                  <a:pt x="11772" y="12737"/>
                  <a:pt x="11772" y="12737"/>
                </a:cubicBezTo>
                <a:cubicBezTo>
                  <a:pt x="11772" y="13268"/>
                  <a:pt x="11404" y="13799"/>
                  <a:pt x="10879" y="13799"/>
                </a:cubicBezTo>
                <a:cubicBezTo>
                  <a:pt x="10353" y="13799"/>
                  <a:pt x="9828" y="13268"/>
                  <a:pt x="9828" y="12737"/>
                </a:cubicBezTo>
                <a:cubicBezTo>
                  <a:pt x="9828" y="12047"/>
                  <a:pt x="9828" y="12047"/>
                  <a:pt x="9828" y="12047"/>
                </a:cubicBezTo>
                <a:cubicBezTo>
                  <a:pt x="9828" y="11304"/>
                  <a:pt x="10196" y="10455"/>
                  <a:pt x="11930" y="10455"/>
                </a:cubicBezTo>
                <a:cubicBezTo>
                  <a:pt x="12823" y="10455"/>
                  <a:pt x="13349" y="9924"/>
                  <a:pt x="13349" y="9022"/>
                </a:cubicBezTo>
                <a:cubicBezTo>
                  <a:pt x="13349" y="8651"/>
                  <a:pt x="13507" y="7801"/>
                  <a:pt x="12981" y="7271"/>
                </a:cubicBezTo>
                <a:cubicBezTo>
                  <a:pt x="12455" y="6740"/>
                  <a:pt x="11772" y="6369"/>
                  <a:pt x="10721" y="6369"/>
                </a:cubicBezTo>
                <a:cubicBezTo>
                  <a:pt x="8619" y="6369"/>
                  <a:pt x="8619" y="7801"/>
                  <a:pt x="8619" y="7961"/>
                </a:cubicBezTo>
                <a:cubicBezTo>
                  <a:pt x="8619" y="8491"/>
                  <a:pt x="8251" y="8863"/>
                  <a:pt x="7726" y="8863"/>
                </a:cubicBezTo>
                <a:cubicBezTo>
                  <a:pt x="7200" y="8863"/>
                  <a:pt x="6674" y="8491"/>
                  <a:pt x="6674" y="7961"/>
                </a:cubicBezTo>
                <a:cubicBezTo>
                  <a:pt x="6674" y="7058"/>
                  <a:pt x="7410" y="4617"/>
                  <a:pt x="10721" y="4617"/>
                </a:cubicBezTo>
                <a:cubicBezTo>
                  <a:pt x="12666" y="4617"/>
                  <a:pt x="13717" y="5307"/>
                  <a:pt x="14400" y="5997"/>
                </a:cubicBezTo>
                <a:close/>
                <a:moveTo>
                  <a:pt x="10721" y="14488"/>
                </a:moveTo>
                <a:cubicBezTo>
                  <a:pt x="10564" y="14488"/>
                  <a:pt x="10196" y="14701"/>
                  <a:pt x="10038" y="14860"/>
                </a:cubicBezTo>
                <a:cubicBezTo>
                  <a:pt x="9670" y="15231"/>
                  <a:pt x="9670" y="15391"/>
                  <a:pt x="9670" y="15762"/>
                </a:cubicBezTo>
                <a:cubicBezTo>
                  <a:pt x="9670" y="16134"/>
                  <a:pt x="9670" y="16452"/>
                  <a:pt x="10038" y="16611"/>
                </a:cubicBezTo>
                <a:cubicBezTo>
                  <a:pt x="10196" y="16824"/>
                  <a:pt x="10564" y="16983"/>
                  <a:pt x="10721" y="16983"/>
                </a:cubicBezTo>
                <a:cubicBezTo>
                  <a:pt x="11089" y="16983"/>
                  <a:pt x="11404" y="16824"/>
                  <a:pt x="11615" y="16611"/>
                </a:cubicBezTo>
                <a:cubicBezTo>
                  <a:pt x="11772" y="16452"/>
                  <a:pt x="11930" y="16134"/>
                  <a:pt x="11930" y="15762"/>
                </a:cubicBezTo>
                <a:cubicBezTo>
                  <a:pt x="11930" y="15391"/>
                  <a:pt x="11772" y="15231"/>
                  <a:pt x="11615" y="14860"/>
                </a:cubicBezTo>
                <a:cubicBezTo>
                  <a:pt x="11404" y="14701"/>
                  <a:pt x="11089" y="14488"/>
                  <a:pt x="10721" y="14488"/>
                </a:cubicBezTo>
                <a:close/>
                <a:moveTo>
                  <a:pt x="21600" y="10773"/>
                </a:moveTo>
                <a:cubicBezTo>
                  <a:pt x="21600" y="16824"/>
                  <a:pt x="16660" y="21600"/>
                  <a:pt x="10879" y="21600"/>
                </a:cubicBezTo>
                <a:cubicBezTo>
                  <a:pt x="4940" y="21600"/>
                  <a:pt x="0" y="16824"/>
                  <a:pt x="0" y="10773"/>
                </a:cubicBezTo>
                <a:cubicBezTo>
                  <a:pt x="0" y="4776"/>
                  <a:pt x="4940" y="0"/>
                  <a:pt x="10879" y="0"/>
                </a:cubicBezTo>
                <a:cubicBezTo>
                  <a:pt x="16660" y="0"/>
                  <a:pt x="21600" y="4776"/>
                  <a:pt x="21600" y="10773"/>
                </a:cubicBezTo>
                <a:close/>
                <a:moveTo>
                  <a:pt x="19655" y="10773"/>
                </a:moveTo>
                <a:cubicBezTo>
                  <a:pt x="19655" y="5838"/>
                  <a:pt x="15819" y="1751"/>
                  <a:pt x="10879" y="1751"/>
                </a:cubicBezTo>
                <a:cubicBezTo>
                  <a:pt x="5991" y="1751"/>
                  <a:pt x="1945" y="5838"/>
                  <a:pt x="1945" y="10773"/>
                </a:cubicBezTo>
                <a:cubicBezTo>
                  <a:pt x="1945" y="15762"/>
                  <a:pt x="5991" y="19849"/>
                  <a:pt x="10879" y="19849"/>
                </a:cubicBezTo>
                <a:cubicBezTo>
                  <a:pt x="15819" y="19849"/>
                  <a:pt x="19655" y="15762"/>
                  <a:pt x="19655" y="10773"/>
                </a:cubicBezTo>
                <a:close/>
              </a:path>
            </a:pathLst>
          </a:custGeom>
          <a:gradFill>
            <a:gsLst>
              <a:gs pos="30000">
                <a:srgbClr val="008EEA"/>
              </a:gs>
              <a:gs pos="100000">
                <a:srgbClr val="00D3E8"/>
              </a:gs>
            </a:gsLst>
            <a:lin ang="15000000" scaled="0"/>
          </a:gradFill>
          <a:ln w="12700">
            <a:miter lim="400000"/>
          </a:ln>
          <a:effectLst>
            <a:outerShdw blurRad="50800" dist="38100" dir="2700000" algn="tl" rotWithShape="0">
              <a:prstClr val="black">
                <a:alpha val="40000"/>
              </a:prstClr>
            </a:outerShdw>
          </a:effectLst>
        </p:spPr>
        <p:txBody>
          <a:bodyPr lIns="45719" rIns="45719" anchor="ctr"/>
          <a:lstStyle/>
          <a:p>
            <a:pPr algn="l" defTabSz="457200">
              <a:lnSpc>
                <a:spcPct val="93000"/>
              </a:lnSpc>
              <a:defRPr sz="1800">
                <a:solidFill>
                  <a:srgbClr val="000000"/>
                </a:solidFill>
              </a:defRPr>
            </a:pPr>
            <a:endParaRPr/>
          </a:p>
        </p:txBody>
      </p:sp>
    </p:spTree>
    <p:extLst>
      <p:ext uri="{BB962C8B-B14F-4D97-AF65-F5344CB8AC3E}">
        <p14:creationId xmlns:p14="http://schemas.microsoft.com/office/powerpoint/2010/main" val="482915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pic>
        <p:nvPicPr>
          <p:cNvPr id="1026" name="Picture 2">
            <a:extLst>
              <a:ext uri="{FF2B5EF4-FFF2-40B4-BE49-F238E27FC236}">
                <a16:creationId xmlns:a16="http://schemas.microsoft.com/office/drawing/2014/main" id="{3D321BD3-4A45-44A8-B373-852FB29FF3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485900"/>
            <a:ext cx="4762500" cy="3886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7510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1837786" y="2333877"/>
            <a:ext cx="153888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1837786" y="2702127"/>
            <a:ext cx="3420000" cy="12407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ESC	ESC </a:t>
            </a:r>
            <a:r>
              <a:rPr lang="en-US" sz="1600" dirty="0" err="1">
                <a:latin typeface="Roboto" panose="02000000000000000000" pitchFamily="2" charset="0"/>
              </a:rPr>
              <a:t>ESC</a:t>
            </a:r>
            <a:endParaRPr sz="1600" dirty="0">
              <a:latin typeface="Roboto" panose="02000000000000000000" pitchFamily="2"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701181" y="3987798"/>
            <a:ext cx="1005878"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Roboto" panose="02000000000000000000" pitchFamily="2" charset="0"/>
              </a:rPr>
              <a:t>yte</a:t>
            </a:r>
            <a:r>
              <a:rPr lang="en-US" altLang="zh-CN" sz="1400" dirty="0">
                <a:solidFill>
                  <a:schemeClr val="bg1">
                    <a:lumMod val="50000"/>
                  </a:schemeClr>
                </a:solidFill>
                <a:latin typeface="Roboto" panose="02000000000000000000" pitchFamily="2" charset="0"/>
              </a:rPr>
              <a:t> stuffing</a:t>
            </a:r>
          </a:p>
        </p:txBody>
      </p:sp>
      <p:sp>
        <p:nvSpPr>
          <p:cNvPr id="35" name="Quick work">
            <a:extLst>
              <a:ext uri="{FF2B5EF4-FFF2-40B4-BE49-F238E27FC236}">
                <a16:creationId xmlns:a16="http://schemas.microsoft.com/office/drawing/2014/main" id="{D7D3FD7C-31D0-4DF9-8052-88B0A1231FCB}"/>
              </a:ext>
            </a:extLst>
          </p:cNvPr>
          <p:cNvSpPr txBox="1"/>
          <p:nvPr/>
        </p:nvSpPr>
        <p:spPr>
          <a:xfrm>
            <a:off x="8026985"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36" name="There are many variations of passages of Lorem…">
            <a:extLst>
              <a:ext uri="{FF2B5EF4-FFF2-40B4-BE49-F238E27FC236}">
                <a16:creationId xmlns:a16="http://schemas.microsoft.com/office/drawing/2014/main" id="{99FD3094-1E70-4ADE-8C81-9F849E66E190}"/>
              </a:ext>
            </a:extLst>
          </p:cNvPr>
          <p:cNvSpPr txBox="1"/>
          <p:nvPr/>
        </p:nvSpPr>
        <p:spPr>
          <a:xfrm>
            <a:off x="8026985"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37" name="文本框 36">
            <a:extLst>
              <a:ext uri="{FF2B5EF4-FFF2-40B4-BE49-F238E27FC236}">
                <a16:creationId xmlns:a16="http://schemas.microsoft.com/office/drawing/2014/main" id="{0E120176-71F7-4F1C-8103-3F2E1D577FEF}"/>
              </a:ext>
            </a:extLst>
          </p:cNvPr>
          <p:cNvSpPr txBox="1"/>
          <p:nvPr/>
        </p:nvSpPr>
        <p:spPr>
          <a:xfrm>
            <a:off x="7735853"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41" name="任意多边形: 形状 40">
            <a:extLst>
              <a:ext uri="{FF2B5EF4-FFF2-40B4-BE49-F238E27FC236}">
                <a16:creationId xmlns:a16="http://schemas.microsoft.com/office/drawing/2014/main" id="{F4DA29DC-9363-4FFE-BE9C-502FA86C8E1B}"/>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7450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4015926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11" name="Rectangle 19">
            <a:extLst>
              <a:ext uri="{FF2B5EF4-FFF2-40B4-BE49-F238E27FC236}">
                <a16:creationId xmlns:a16="http://schemas.microsoft.com/office/drawing/2014/main" id="{5653DB3C-6131-464D-A111-AB891046DA7B}"/>
              </a:ext>
            </a:extLst>
          </p:cNvPr>
          <p:cNvSpPr/>
          <p:nvPr/>
        </p:nvSpPr>
        <p:spPr>
          <a:xfrm>
            <a:off x="5481966" y="2768622"/>
            <a:ext cx="4320000" cy="3600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p>
        </p:txBody>
      </p:sp>
      <p:sp>
        <p:nvSpPr>
          <p:cNvPr id="12" name="Rectangle 19">
            <a:extLst>
              <a:ext uri="{FF2B5EF4-FFF2-40B4-BE49-F238E27FC236}">
                <a16:creationId xmlns:a16="http://schemas.microsoft.com/office/drawing/2014/main" id="{DB664277-CACC-4DCB-AA14-3E41A92B829F}"/>
              </a:ext>
            </a:extLst>
          </p:cNvPr>
          <p:cNvSpPr/>
          <p:nvPr/>
        </p:nvSpPr>
        <p:spPr>
          <a:xfrm>
            <a:off x="4761967"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3" name="Rectangle 19">
            <a:extLst>
              <a:ext uri="{FF2B5EF4-FFF2-40B4-BE49-F238E27FC236}">
                <a16:creationId xmlns:a16="http://schemas.microsoft.com/office/drawing/2014/main" id="{CD5E29A0-1878-4013-8479-45D529558956}"/>
              </a:ext>
            </a:extLst>
          </p:cNvPr>
          <p:cNvSpPr/>
          <p:nvPr/>
        </p:nvSpPr>
        <p:spPr>
          <a:xfrm>
            <a:off x="9801966"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4" name="Rectangle 19">
            <a:extLst>
              <a:ext uri="{FF2B5EF4-FFF2-40B4-BE49-F238E27FC236}">
                <a16:creationId xmlns:a16="http://schemas.microsoft.com/office/drawing/2014/main" id="{05D37011-4965-43C3-B25E-92D68F707F71}"/>
              </a:ext>
            </a:extLst>
          </p:cNvPr>
          <p:cNvSpPr/>
          <p:nvPr/>
        </p:nvSpPr>
        <p:spPr>
          <a:xfrm>
            <a:off x="60954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6" name="Rectangle 19">
            <a:extLst>
              <a:ext uri="{FF2B5EF4-FFF2-40B4-BE49-F238E27FC236}">
                <a16:creationId xmlns:a16="http://schemas.microsoft.com/office/drawing/2014/main" id="{906D83A5-1A35-4001-8ADD-0A06E685A9A3}"/>
              </a:ext>
            </a:extLst>
          </p:cNvPr>
          <p:cNvSpPr/>
          <p:nvPr/>
        </p:nvSpPr>
        <p:spPr>
          <a:xfrm>
            <a:off x="72765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17" name="Rectangle 19">
            <a:extLst>
              <a:ext uri="{FF2B5EF4-FFF2-40B4-BE49-F238E27FC236}">
                <a16:creationId xmlns:a16="http://schemas.microsoft.com/office/drawing/2014/main" id="{D7FC19BD-27B6-4675-AD01-B4D367DF081B}"/>
              </a:ext>
            </a:extLst>
          </p:cNvPr>
          <p:cNvSpPr/>
          <p:nvPr/>
        </p:nvSpPr>
        <p:spPr>
          <a:xfrm>
            <a:off x="84576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grpSp>
        <p:nvGrpSpPr>
          <p:cNvPr id="3" name="组合 2">
            <a:extLst>
              <a:ext uri="{FF2B5EF4-FFF2-40B4-BE49-F238E27FC236}">
                <a16:creationId xmlns:a16="http://schemas.microsoft.com/office/drawing/2014/main" id="{EEFA1B13-E737-4FB2-80C2-08B13E949F2E}"/>
              </a:ext>
            </a:extLst>
          </p:cNvPr>
          <p:cNvGrpSpPr/>
          <p:nvPr/>
        </p:nvGrpSpPr>
        <p:grpSpPr>
          <a:xfrm>
            <a:off x="4989083" y="3672159"/>
            <a:ext cx="1429091" cy="360000"/>
            <a:chOff x="5386376" y="4110309"/>
            <a:chExt cx="1429091" cy="360000"/>
          </a:xfrm>
        </p:grpSpPr>
        <p:sp>
          <p:nvSpPr>
            <p:cNvPr id="18" name="Rectangle 19">
              <a:extLst>
                <a:ext uri="{FF2B5EF4-FFF2-40B4-BE49-F238E27FC236}">
                  <a16:creationId xmlns:a16="http://schemas.microsoft.com/office/drawing/2014/main" id="{4DCC226E-7DD5-4C8D-AE1B-6D69219286E7}"/>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1" name="Rectangle 19">
              <a:extLst>
                <a:ext uri="{FF2B5EF4-FFF2-40B4-BE49-F238E27FC236}">
                  <a16:creationId xmlns:a16="http://schemas.microsoft.com/office/drawing/2014/main" id="{61D8B22C-56E4-495E-BB74-B8D651CAE534}"/>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2" name="组合 21">
            <a:extLst>
              <a:ext uri="{FF2B5EF4-FFF2-40B4-BE49-F238E27FC236}">
                <a16:creationId xmlns:a16="http://schemas.microsoft.com/office/drawing/2014/main" id="{89D595F9-1B95-4D71-BBA4-F05E991844AF}"/>
              </a:ext>
            </a:extLst>
          </p:cNvPr>
          <p:cNvGrpSpPr/>
          <p:nvPr/>
        </p:nvGrpSpPr>
        <p:grpSpPr>
          <a:xfrm>
            <a:off x="6927420" y="3672159"/>
            <a:ext cx="1429091" cy="360000"/>
            <a:chOff x="5386376" y="4110309"/>
            <a:chExt cx="1429091" cy="360000"/>
          </a:xfrm>
        </p:grpSpPr>
        <p:sp>
          <p:nvSpPr>
            <p:cNvPr id="23" name="Rectangle 19">
              <a:extLst>
                <a:ext uri="{FF2B5EF4-FFF2-40B4-BE49-F238E27FC236}">
                  <a16:creationId xmlns:a16="http://schemas.microsoft.com/office/drawing/2014/main" id="{5294AF98-70DC-41DD-A45B-70C057A0A3C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24" name="Rectangle 19">
              <a:extLst>
                <a:ext uri="{FF2B5EF4-FFF2-40B4-BE49-F238E27FC236}">
                  <a16:creationId xmlns:a16="http://schemas.microsoft.com/office/drawing/2014/main" id="{F98CA677-A7A7-480B-869D-B665FC169EA3}"/>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5" name="组合 24">
            <a:extLst>
              <a:ext uri="{FF2B5EF4-FFF2-40B4-BE49-F238E27FC236}">
                <a16:creationId xmlns:a16="http://schemas.microsoft.com/office/drawing/2014/main" id="{BF6C7C12-2A39-433B-8F1C-F780FB8B21BF}"/>
              </a:ext>
            </a:extLst>
          </p:cNvPr>
          <p:cNvGrpSpPr/>
          <p:nvPr/>
        </p:nvGrpSpPr>
        <p:grpSpPr>
          <a:xfrm>
            <a:off x="8865758" y="3672159"/>
            <a:ext cx="1429091" cy="360000"/>
            <a:chOff x="5386376" y="4110309"/>
            <a:chExt cx="1429091" cy="360000"/>
          </a:xfrm>
        </p:grpSpPr>
        <p:sp>
          <p:nvSpPr>
            <p:cNvPr id="26" name="Rectangle 19">
              <a:extLst>
                <a:ext uri="{FF2B5EF4-FFF2-40B4-BE49-F238E27FC236}">
                  <a16:creationId xmlns:a16="http://schemas.microsoft.com/office/drawing/2014/main" id="{28E6566A-C4EF-4ACF-B716-78A1A35CFE8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sp>
          <p:nvSpPr>
            <p:cNvPr id="27" name="Rectangle 19">
              <a:extLst>
                <a:ext uri="{FF2B5EF4-FFF2-40B4-BE49-F238E27FC236}">
                  <a16:creationId xmlns:a16="http://schemas.microsoft.com/office/drawing/2014/main" id="{0E9A2415-47FD-46B3-B7E6-5D9C489250E7}"/>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cxnSp>
        <p:nvCxnSpPr>
          <p:cNvPr id="6" name="直接箭头连接符 5">
            <a:extLst>
              <a:ext uri="{FF2B5EF4-FFF2-40B4-BE49-F238E27FC236}">
                <a16:creationId xmlns:a16="http://schemas.microsoft.com/office/drawing/2014/main" id="{C20893B0-902E-4600-A3F7-5947865DC0A6}"/>
              </a:ext>
            </a:extLst>
          </p:cNvPr>
          <p:cNvCxnSpPr>
            <a:stCxn id="14" idx="2"/>
          </p:cNvCxnSpPr>
          <p:nvPr/>
        </p:nvCxnSpPr>
        <p:spPr>
          <a:xfrm flipH="1">
            <a:off x="5709083" y="3128622"/>
            <a:ext cx="746384"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4CF226E5-F3B4-417E-B852-75B684606FB1}"/>
              </a:ext>
            </a:extLst>
          </p:cNvPr>
          <p:cNvCxnSpPr/>
          <p:nvPr/>
        </p:nvCxnSpPr>
        <p:spPr>
          <a:xfrm>
            <a:off x="7647420" y="3185841"/>
            <a:ext cx="0" cy="48631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02E0AB29-136E-420A-BD90-16ACD8575934}"/>
              </a:ext>
            </a:extLst>
          </p:cNvPr>
          <p:cNvCxnSpPr>
            <a:stCxn id="17" idx="2"/>
          </p:cNvCxnSpPr>
          <p:nvPr/>
        </p:nvCxnSpPr>
        <p:spPr>
          <a:xfrm>
            <a:off x="8817667" y="3128622"/>
            <a:ext cx="757182"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文本框 27">
            <a:extLst>
              <a:ext uri="{FF2B5EF4-FFF2-40B4-BE49-F238E27FC236}">
                <a16:creationId xmlns:a16="http://schemas.microsoft.com/office/drawing/2014/main" id="{DCD91FBC-7F68-43AB-8814-3271A0F75F8D}"/>
              </a:ext>
            </a:extLst>
          </p:cNvPr>
          <p:cNvSpPr txBox="1"/>
          <p:nvPr/>
        </p:nvSpPr>
        <p:spPr>
          <a:xfrm>
            <a:off x="240190" y="4365526"/>
            <a:ext cx="3595856" cy="307777"/>
          </a:xfrm>
          <a:prstGeom prst="rect">
            <a:avLst/>
          </a:prstGeom>
          <a:noFill/>
        </p:spPr>
        <p:txBody>
          <a:bodyPr wrap="none" rtlCol="0">
            <a:spAutoFit/>
          </a:bodyPr>
          <a:lstStyle/>
          <a:p>
            <a:pPr algn="l"/>
            <a:r>
              <a:rPr lang="zh-CN" altLang="en-US" sz="1400" dirty="0">
                <a:latin typeface="微软雅黑 Light" panose="020B0502040204020203" pitchFamily="34" charset="-122"/>
                <a:ea typeface="微软雅黑 Light" panose="020B0502040204020203" pitchFamily="34" charset="-122"/>
              </a:rPr>
              <a:t>注意：不同协议对转义字符的定义是不同的</a:t>
            </a:r>
            <a:endParaRPr lang="zh-CN" altLang="en-US" sz="1400" dirty="0">
              <a:solidFill>
                <a:schemeClr val="tx1"/>
              </a:solidFill>
              <a:latin typeface="微软雅黑 Light" panose="020B0502040204020203" pitchFamily="34" charset="-122"/>
              <a:ea typeface="微软雅黑 Light" panose="020B0502040204020203" pitchFamily="34" charset="-122"/>
            </a:endParaRPr>
          </a:p>
        </p:txBody>
      </p:sp>
      <p:sp>
        <p:nvSpPr>
          <p:cNvPr id="38" name="Quick work">
            <a:extLst>
              <a:ext uri="{FF2B5EF4-FFF2-40B4-BE49-F238E27FC236}">
                <a16:creationId xmlns:a16="http://schemas.microsoft.com/office/drawing/2014/main" id="{AAA00DED-A81D-4AE4-958F-A5C079026731}"/>
              </a:ext>
            </a:extLst>
          </p:cNvPr>
          <p:cNvSpPr txBox="1"/>
          <p:nvPr/>
        </p:nvSpPr>
        <p:spPr>
          <a:xfrm>
            <a:off x="1494886" y="2333877"/>
            <a:ext cx="153888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9" name="文本框 38">
            <a:extLst>
              <a:ext uri="{FF2B5EF4-FFF2-40B4-BE49-F238E27FC236}">
                <a16:creationId xmlns:a16="http://schemas.microsoft.com/office/drawing/2014/main" id="{7C06C884-B9C7-4A1C-A7C5-EA405C358F7E}"/>
              </a:ext>
            </a:extLst>
          </p:cNvPr>
          <p:cNvSpPr txBox="1"/>
          <p:nvPr/>
        </p:nvSpPr>
        <p:spPr>
          <a:xfrm>
            <a:off x="1358281" y="3987798"/>
            <a:ext cx="1005878"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Roboto" panose="02000000000000000000" pitchFamily="2" charset="0"/>
              </a:rPr>
              <a:t>yte</a:t>
            </a:r>
            <a:r>
              <a:rPr lang="en-US" altLang="zh-CN" sz="1400" dirty="0">
                <a:solidFill>
                  <a:schemeClr val="bg1">
                    <a:lumMod val="50000"/>
                  </a:schemeClr>
                </a:solidFill>
                <a:latin typeface="Roboto" panose="02000000000000000000" pitchFamily="2" charset="0"/>
              </a:rPr>
              <a:t> stuffing</a:t>
            </a:r>
          </a:p>
        </p:txBody>
      </p:sp>
      <p:sp>
        <p:nvSpPr>
          <p:cNvPr id="42" name="任意多边形: 形状 41">
            <a:extLst>
              <a:ext uri="{FF2B5EF4-FFF2-40B4-BE49-F238E27FC236}">
                <a16:creationId xmlns:a16="http://schemas.microsoft.com/office/drawing/2014/main" id="{7AE490FF-8DC9-4FA7-8133-73D53A2035F3}"/>
              </a:ext>
            </a:extLst>
          </p:cNvPr>
          <p:cNvSpPr/>
          <p:nvPr/>
        </p:nvSpPr>
        <p:spPr>
          <a:xfrm>
            <a:off x="4021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3" name="Quick work">
            <a:extLst>
              <a:ext uri="{FF2B5EF4-FFF2-40B4-BE49-F238E27FC236}">
                <a16:creationId xmlns:a16="http://schemas.microsoft.com/office/drawing/2014/main" id="{3DA6836D-5A23-4899-88E6-302AE4038B6C}"/>
              </a:ext>
            </a:extLst>
          </p:cNvPr>
          <p:cNvSpPr txBox="1"/>
          <p:nvPr/>
        </p:nvSpPr>
        <p:spPr>
          <a:xfrm>
            <a:off x="13465760"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44" name="There are many variations of passages of Lorem…">
            <a:extLst>
              <a:ext uri="{FF2B5EF4-FFF2-40B4-BE49-F238E27FC236}">
                <a16:creationId xmlns:a16="http://schemas.microsoft.com/office/drawing/2014/main" id="{E9261A47-6497-480A-BCF5-8D11C517D61B}"/>
              </a:ext>
            </a:extLst>
          </p:cNvPr>
          <p:cNvSpPr txBox="1"/>
          <p:nvPr/>
        </p:nvSpPr>
        <p:spPr>
          <a:xfrm>
            <a:off x="13465760"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45" name="文本框 44">
            <a:extLst>
              <a:ext uri="{FF2B5EF4-FFF2-40B4-BE49-F238E27FC236}">
                <a16:creationId xmlns:a16="http://schemas.microsoft.com/office/drawing/2014/main" id="{D8638128-658F-46D8-A41A-BAAE86B7FC7D}"/>
              </a:ext>
            </a:extLst>
          </p:cNvPr>
          <p:cNvSpPr txBox="1"/>
          <p:nvPr/>
        </p:nvSpPr>
        <p:spPr>
          <a:xfrm>
            <a:off x="13174628"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46" name="任意多边形: 形状 45">
            <a:extLst>
              <a:ext uri="{FF2B5EF4-FFF2-40B4-BE49-F238E27FC236}">
                <a16:creationId xmlns:a16="http://schemas.microsoft.com/office/drawing/2014/main" id="{548F2A17-D0C3-4EFE-BDC8-6D50BDE90652}"/>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381307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3433506" y="2269693"/>
            <a:ext cx="153888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3433506" y="2965226"/>
            <a:ext cx="3420000" cy="12407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ESC	ESC </a:t>
            </a:r>
            <a:r>
              <a:rPr lang="en-US" sz="1600" dirty="0" err="1">
                <a:latin typeface="Roboto" panose="02000000000000000000" pitchFamily="2" charset="0"/>
              </a:rPr>
              <a:t>ESC</a:t>
            </a:r>
            <a:endParaRPr sz="1600" dirty="0">
              <a:latin typeface="Roboto" panose="02000000000000000000" pitchFamily="2"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226172" y="2377818"/>
            <a:ext cx="1118088" cy="317228"/>
          </a:xfrm>
          <a:prstGeom prst="rect">
            <a:avLst/>
          </a:prstGeom>
          <a:noFill/>
        </p:spPr>
        <p:txBody>
          <a:bodyPr wrap="none" lIns="50400" tIns="50400" rIns="50400" bIns="50400" rtlCol="0">
            <a:spAutoFit/>
          </a:bodyPr>
          <a:lstStyle/>
          <a:p>
            <a:r>
              <a:rPr lang="en-US" altLang="zh-CN" sz="1400" dirty="0">
                <a:solidFill>
                  <a:schemeClr val="bg1">
                    <a:lumMod val="50000"/>
                  </a:schemeClr>
                </a:solidFill>
                <a:latin typeface="Roboto" panose="02000000000000000000" pitchFamily="2" charset="0"/>
              </a:rPr>
              <a:t>Byte stuffing</a:t>
            </a: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493188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11" name="文本框 10">
            <a:extLst>
              <a:ext uri="{FF2B5EF4-FFF2-40B4-BE49-F238E27FC236}">
                <a16:creationId xmlns:a16="http://schemas.microsoft.com/office/drawing/2014/main" id="{B8F7AF81-3A88-487D-827C-37D57F112FD6}"/>
              </a:ext>
            </a:extLst>
          </p:cNvPr>
          <p:cNvSpPr txBox="1"/>
          <p:nvPr/>
        </p:nvSpPr>
        <p:spPr>
          <a:xfrm>
            <a:off x="1579609" y="3034029"/>
            <a:ext cx="2863284" cy="523220"/>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零比特填充适用于</a:t>
            </a:r>
            <a:r>
              <a:rPr lang="en-US" altLang="zh-CN" sz="1400" dirty="0">
                <a:latin typeface="微软雅黑 Light" panose="020B0502040204020203" pitchFamily="34" charset="-122"/>
                <a:ea typeface="微软雅黑 Light" panose="020B0502040204020203" pitchFamily="34" charset="-122"/>
              </a:rPr>
              <a:t>PPP </a:t>
            </a:r>
            <a:r>
              <a:rPr lang="zh-CN" altLang="en-US" sz="1400" dirty="0">
                <a:latin typeface="微软雅黑 Light" panose="020B0502040204020203" pitchFamily="34" charset="-122"/>
                <a:ea typeface="微软雅黑 Light" panose="020B0502040204020203" pitchFamily="34" charset="-122"/>
              </a:rPr>
              <a:t>的同步传输</a:t>
            </a:r>
            <a:endParaRPr lang="en-US" altLang="zh-CN" sz="1400" dirty="0">
              <a:latin typeface="微软雅黑 Light" panose="020B0502040204020203" pitchFamily="34" charset="-122"/>
              <a:ea typeface="微软雅黑 Light" panose="020B0502040204020203" pitchFamily="34" charset="-122"/>
            </a:endParaRPr>
          </a:p>
          <a:p>
            <a:pPr algn="r"/>
            <a:r>
              <a:rPr lang="en-US" altLang="zh-CN" sz="1400" dirty="0">
                <a:latin typeface="微软雅黑 Light" panose="020B0502040204020203" pitchFamily="34" charset="-122"/>
                <a:ea typeface="微软雅黑 Light" panose="020B0502040204020203" pitchFamily="34" charset="-122"/>
              </a:rPr>
              <a:t>-PPP-</a:t>
            </a:r>
            <a:endParaRPr lang="zh-CN" altLang="en-US" sz="1400" dirty="0">
              <a:latin typeface="微软雅黑 Light" panose="020B0502040204020203" pitchFamily="34" charset="-122"/>
              <a:ea typeface="微软雅黑 Light" panose="020B0502040204020203" pitchFamily="34" charset="-122"/>
            </a:endParaRPr>
          </a:p>
        </p:txBody>
      </p:sp>
      <p:sp>
        <p:nvSpPr>
          <p:cNvPr id="13" name="Quick work">
            <a:extLst>
              <a:ext uri="{FF2B5EF4-FFF2-40B4-BE49-F238E27FC236}">
                <a16:creationId xmlns:a16="http://schemas.microsoft.com/office/drawing/2014/main" id="{3F0B1B88-4160-47CF-9716-81394A9CA50E}"/>
              </a:ext>
            </a:extLst>
          </p:cNvPr>
          <p:cNvSpPr txBox="1"/>
          <p:nvPr/>
        </p:nvSpPr>
        <p:spPr>
          <a:xfrm>
            <a:off x="8026985"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14" name="There are many variations of passages of Lorem…">
            <a:extLst>
              <a:ext uri="{FF2B5EF4-FFF2-40B4-BE49-F238E27FC236}">
                <a16:creationId xmlns:a16="http://schemas.microsoft.com/office/drawing/2014/main" id="{149EECA5-CA1B-4D92-A497-E14847EF657F}"/>
              </a:ext>
            </a:extLst>
          </p:cNvPr>
          <p:cNvSpPr txBox="1"/>
          <p:nvPr/>
        </p:nvSpPr>
        <p:spPr>
          <a:xfrm>
            <a:off x="8026985"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16" name="文本框 15">
            <a:extLst>
              <a:ext uri="{FF2B5EF4-FFF2-40B4-BE49-F238E27FC236}">
                <a16:creationId xmlns:a16="http://schemas.microsoft.com/office/drawing/2014/main" id="{091FF9B6-6EDC-433B-B17E-E7F3EC28E6CF}"/>
              </a:ext>
            </a:extLst>
          </p:cNvPr>
          <p:cNvSpPr txBox="1"/>
          <p:nvPr/>
        </p:nvSpPr>
        <p:spPr>
          <a:xfrm>
            <a:off x="7735853"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17" name="任意多边形: 形状 16">
            <a:extLst>
              <a:ext uri="{FF2B5EF4-FFF2-40B4-BE49-F238E27FC236}">
                <a16:creationId xmlns:a16="http://schemas.microsoft.com/office/drawing/2014/main" id="{DCB5EDF9-32B5-4471-BDFF-149278B58099}"/>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854190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7190644"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7190644"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9" name="Quick work">
            <a:extLst>
              <a:ext uri="{FF2B5EF4-FFF2-40B4-BE49-F238E27FC236}">
                <a16:creationId xmlns:a16="http://schemas.microsoft.com/office/drawing/2014/main" id="{2BD2BB7C-169E-45CE-9FBF-A1392B892219}"/>
              </a:ext>
            </a:extLst>
          </p:cNvPr>
          <p:cNvSpPr txBox="1"/>
          <p:nvPr/>
        </p:nvSpPr>
        <p:spPr>
          <a:xfrm>
            <a:off x="13465760" y="2303815"/>
            <a:ext cx="189795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20" name="There are many variations of passages of Lorem…">
            <a:extLst>
              <a:ext uri="{FF2B5EF4-FFF2-40B4-BE49-F238E27FC236}">
                <a16:creationId xmlns:a16="http://schemas.microsoft.com/office/drawing/2014/main" id="{73EBCF21-D37B-49B1-9F44-431334B68048}"/>
              </a:ext>
            </a:extLst>
          </p:cNvPr>
          <p:cNvSpPr txBox="1"/>
          <p:nvPr/>
        </p:nvSpPr>
        <p:spPr>
          <a:xfrm>
            <a:off x="13465760" y="2698697"/>
            <a:ext cx="3420000" cy="4596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21" name="文本框 20">
            <a:extLst>
              <a:ext uri="{FF2B5EF4-FFF2-40B4-BE49-F238E27FC236}">
                <a16:creationId xmlns:a16="http://schemas.microsoft.com/office/drawing/2014/main" id="{BE696E41-8866-4A48-8843-0BAE1AE03D1F}"/>
              </a:ext>
            </a:extLst>
          </p:cNvPr>
          <p:cNvSpPr txBox="1"/>
          <p:nvPr/>
        </p:nvSpPr>
        <p:spPr>
          <a:xfrm>
            <a:off x="13174628"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22" name="任意多边形: 形状 21">
            <a:extLst>
              <a:ext uri="{FF2B5EF4-FFF2-40B4-BE49-F238E27FC236}">
                <a16:creationId xmlns:a16="http://schemas.microsoft.com/office/drawing/2014/main" id="{FA3F38AE-52D9-4103-93AD-377EC4E5DFBD}"/>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3324570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4554493"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dirty="0">
              <a:solidFill>
                <a:schemeClr val="tx1"/>
              </a:solidFill>
              <a:latin typeface="微软雅黑 Light" panose="020B0502040204020203" pitchFamily="34" charset="-122"/>
              <a:ea typeface="微软雅黑 Light" panose="020B0502040204020203" pitchFamily="34" charset="-122"/>
            </a:endParaRPr>
          </a:p>
          <a:p>
            <a:r>
              <a:rPr lang="zh-CN" altLang="en-US"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4554493"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609600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609599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p:spTree>
    <p:extLst>
      <p:ext uri="{BB962C8B-B14F-4D97-AF65-F5344CB8AC3E}">
        <p14:creationId xmlns:p14="http://schemas.microsoft.com/office/powerpoint/2010/main" val="1309046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6" name="矩形 15">
            <a:extLst>
              <a:ext uri="{FF2B5EF4-FFF2-40B4-BE49-F238E27FC236}">
                <a16:creationId xmlns:a16="http://schemas.microsoft.com/office/drawing/2014/main" id="{97271A7A-4D35-4DCF-A1B1-C6A32C2F6374}"/>
              </a:ext>
            </a:extLst>
          </p:cNvPr>
          <p:cNvSpPr/>
          <p:nvPr/>
        </p:nvSpPr>
        <p:spPr>
          <a:xfrm>
            <a:off x="-4621168"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4621168"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108585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108584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45874C8D-9690-49F8-A493-1F932EE9EA07}"/>
                  </a:ext>
                </a:extLst>
              </p:cNvPr>
              <p:cNvSpPr txBox="1"/>
              <p:nvPr/>
            </p:nvSpPr>
            <p:spPr>
              <a:xfrm>
                <a:off x="6886578" y="3981450"/>
                <a:ext cx="2068002" cy="336759"/>
              </a:xfrm>
              <a:prstGeom prst="rect">
                <a:avLst/>
              </a:prstGeom>
              <a:noFill/>
            </p:spPr>
            <p:txBody>
              <a:bodyPr wrap="none" lIns="0" tIns="0" rIns="0" bIns="0" rtlCol="0">
                <a:spAutoFit/>
              </a:bodyPr>
              <a:lstStyle/>
              <a:p>
                <a:pPr algn="l"/>
                <a:r>
                  <a:rPr lang="en-US" altLang="zh-CN" sz="2000" b="0" dirty="0">
                    <a:solidFill>
                      <a:schemeClr val="tx1"/>
                    </a:solidFill>
                    <a:ea typeface="微软雅黑 Light" panose="020B0502040204020203" pitchFamily="34" charset="-122"/>
                  </a:rPr>
                  <a:t>1101</a:t>
                </a:r>
                <a14:m>
                  <m:oMath xmlns:m="http://schemas.openxmlformats.org/officeDocument/2006/math">
                    <m:rad>
                      <m:radPr>
                        <m:degHide m:val="on"/>
                        <m:ctrlPr>
                          <a:rPr lang="en-US" altLang="zh-CN" sz="2000" b="0" i="1" smtClean="0">
                            <a:solidFill>
                              <a:schemeClr val="tx1"/>
                            </a:solidFill>
                            <a:latin typeface="Cambria Math" panose="02040503050406030204" pitchFamily="18" charset="0"/>
                            <a:ea typeface="微软雅黑 Light" panose="020B0502040204020203" pitchFamily="34" charset="-122"/>
                          </a:rPr>
                        </m:ctrlPr>
                      </m:radPr>
                      <m:deg/>
                      <m:e>
                        <m:r>
                          <a:rPr lang="en-US" altLang="zh-CN" sz="2000" b="0" i="1" smtClean="0">
                            <a:solidFill>
                              <a:schemeClr val="tx1"/>
                            </a:solidFill>
                            <a:latin typeface="Cambria Math" panose="02040503050406030204" pitchFamily="18" charset="0"/>
                            <a:ea typeface="微软雅黑 Light" panose="020B0502040204020203" pitchFamily="34" charset="-122"/>
                          </a:rPr>
                          <m:t>101001000</m:t>
                        </m:r>
                      </m:e>
                    </m:rad>
                  </m:oMath>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 name="文本框 1">
                <a:extLst>
                  <a:ext uri="{FF2B5EF4-FFF2-40B4-BE49-F238E27FC236}">
                    <a16:creationId xmlns:a16="http://schemas.microsoft.com/office/drawing/2014/main" id="{45874C8D-9690-49F8-A493-1F932EE9EA07}"/>
                  </a:ext>
                </a:extLst>
              </p:cNvPr>
              <p:cNvSpPr txBox="1">
                <a:spLocks noRot="1" noChangeAspect="1" noMove="1" noResize="1" noEditPoints="1" noAdjustHandles="1" noChangeArrowheads="1" noChangeShapeType="1" noTextEdit="1"/>
              </p:cNvSpPr>
              <p:nvPr/>
            </p:nvSpPr>
            <p:spPr>
              <a:xfrm>
                <a:off x="6886578" y="3981450"/>
                <a:ext cx="2068002" cy="336759"/>
              </a:xfrm>
              <a:prstGeom prst="rect">
                <a:avLst/>
              </a:prstGeom>
              <a:blipFill>
                <a:blip r:embed="rId2"/>
                <a:stretch>
                  <a:fillRect l="-7670" t="-14545" r="-2950" b="-47273"/>
                </a:stretch>
              </a:blipFill>
            </p:spPr>
            <p:txBody>
              <a:bodyPr/>
              <a:lstStyle/>
              <a:p>
                <a:r>
                  <a:rPr lang="zh-CN" altLang="en-US">
                    <a:noFill/>
                  </a:rPr>
                  <a:t> </a:t>
                </a:r>
              </a:p>
            </p:txBody>
          </p:sp>
        </mc:Fallback>
      </mc:AlternateContent>
      <p:sp>
        <p:nvSpPr>
          <p:cNvPr id="10" name="Subtitle 2">
            <a:extLst>
              <a:ext uri="{FF2B5EF4-FFF2-40B4-BE49-F238E27FC236}">
                <a16:creationId xmlns:a16="http://schemas.microsoft.com/office/drawing/2014/main" id="{A0BC58BB-35F2-4D06-A233-45FE7F33DA10}"/>
              </a:ext>
            </a:extLst>
          </p:cNvPr>
          <p:cNvSpPr txBox="1">
            <a:spLocks/>
          </p:cNvSpPr>
          <p:nvPr/>
        </p:nvSpPr>
        <p:spPr>
          <a:xfrm>
            <a:off x="6096000" y="1557000"/>
            <a:ext cx="4943475" cy="2143313"/>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若：</a:t>
            </a:r>
            <a:endPar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endParaRPr>
          </a:p>
          <a:p>
            <a:pPr algn="l">
              <a:lnSpc>
                <a:spcPts val="2020"/>
              </a:lnSpc>
            </a:pP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M=101001</a:t>
            </a:r>
          </a:p>
          <a:p>
            <a:pPr algn="l">
              <a:lnSpc>
                <a:spcPts val="2020"/>
              </a:lnSpc>
            </a:pP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P=1101</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取</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n=3</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则：除数为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P</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，被除数为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M+000=101001000</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模</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2</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运算后，余数</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R</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001</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，故：发送</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M+R=101001001</a:t>
            </a:r>
            <a:endParaRPr 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endParaRPr>
          </a:p>
        </p:txBody>
      </p:sp>
      <p:sp>
        <p:nvSpPr>
          <p:cNvPr id="4" name="文本框 3">
            <a:extLst>
              <a:ext uri="{FF2B5EF4-FFF2-40B4-BE49-F238E27FC236}">
                <a16:creationId xmlns:a16="http://schemas.microsoft.com/office/drawing/2014/main" id="{17016D32-44D5-4C92-954B-F363D54310DE}"/>
              </a:ext>
            </a:extLst>
          </p:cNvPr>
          <p:cNvSpPr txBox="1"/>
          <p:nvPr/>
        </p:nvSpPr>
        <p:spPr>
          <a:xfrm>
            <a:off x="7890378" y="3705598"/>
            <a:ext cx="95987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12" name="文本框 11">
            <a:extLst>
              <a:ext uri="{FF2B5EF4-FFF2-40B4-BE49-F238E27FC236}">
                <a16:creationId xmlns:a16="http://schemas.microsoft.com/office/drawing/2014/main" id="{D1FE4D5F-3632-4F79-8CCF-01CF364BF5ED}"/>
              </a:ext>
            </a:extLst>
          </p:cNvPr>
          <p:cNvSpPr txBox="1"/>
          <p:nvPr/>
        </p:nvSpPr>
        <p:spPr>
          <a:xfrm>
            <a:off x="7499853" y="4149829"/>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27711716-470C-4342-BF56-FF0D45971FB1}"/>
                  </a:ext>
                </a:extLst>
              </p:cNvPr>
              <p:cNvSpPr txBox="1"/>
              <p:nvPr/>
            </p:nvSpPr>
            <p:spPr>
              <a:xfrm>
                <a:off x="7701900" y="4532991"/>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 name="文本框 4">
                <a:extLst>
                  <a:ext uri="{FF2B5EF4-FFF2-40B4-BE49-F238E27FC236}">
                    <a16:creationId xmlns:a16="http://schemas.microsoft.com/office/drawing/2014/main" id="{27711716-470C-4342-BF56-FF0D45971FB1}"/>
                  </a:ext>
                </a:extLst>
              </p:cNvPr>
              <p:cNvSpPr txBox="1">
                <a:spLocks noRot="1" noChangeAspect="1" noMove="1" noResize="1" noEditPoints="1" noAdjustHandles="1" noChangeArrowheads="1" noChangeShapeType="1" noTextEdit="1"/>
              </p:cNvSpPr>
              <p:nvPr/>
            </p:nvSpPr>
            <p:spPr>
              <a:xfrm>
                <a:off x="7701900" y="4532991"/>
                <a:ext cx="646011" cy="308482"/>
              </a:xfrm>
              <a:prstGeom prst="rect">
                <a:avLst/>
              </a:prstGeom>
              <a:blipFill>
                <a:blip r:embed="rId3"/>
                <a:stretch>
                  <a:fillRect l="-6604" r="-7547" b="-8000"/>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7794CD99-89C3-40A1-BDD2-5513A4BA15A7}"/>
              </a:ext>
            </a:extLst>
          </p:cNvPr>
          <p:cNvSpPr txBox="1"/>
          <p:nvPr/>
        </p:nvSpPr>
        <p:spPr>
          <a:xfrm>
            <a:off x="7658707" y="4737071"/>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FAC5D7FF-63C4-4E26-8F27-A0D84F434764}"/>
                  </a:ext>
                </a:extLst>
              </p:cNvPr>
              <p:cNvSpPr txBox="1"/>
              <p:nvPr/>
            </p:nvSpPr>
            <p:spPr>
              <a:xfrm>
                <a:off x="7995657" y="5105432"/>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7" name="文本框 6">
                <a:extLst>
                  <a:ext uri="{FF2B5EF4-FFF2-40B4-BE49-F238E27FC236}">
                    <a16:creationId xmlns:a16="http://schemas.microsoft.com/office/drawing/2014/main" id="{FAC5D7FF-63C4-4E26-8F27-A0D84F434764}"/>
                  </a:ext>
                </a:extLst>
              </p:cNvPr>
              <p:cNvSpPr txBox="1">
                <a:spLocks noRot="1" noChangeAspect="1" noMove="1" noResize="1" noEditPoints="1" noAdjustHandles="1" noChangeArrowheads="1" noChangeShapeType="1" noTextEdit="1"/>
              </p:cNvSpPr>
              <p:nvPr/>
            </p:nvSpPr>
            <p:spPr>
              <a:xfrm>
                <a:off x="7995657" y="5105432"/>
                <a:ext cx="646011" cy="308482"/>
              </a:xfrm>
              <a:prstGeom prst="rect">
                <a:avLst/>
              </a:prstGeom>
              <a:blipFill>
                <a:blip r:embed="rId4"/>
                <a:stretch>
                  <a:fillRect l="-7547" r="-6604" b="-8000"/>
                </a:stretch>
              </a:blipFill>
            </p:spPr>
            <p:txBody>
              <a:bodyPr/>
              <a:lstStyle/>
              <a:p>
                <a:r>
                  <a:rPr lang="zh-CN" altLang="en-US">
                    <a:noFill/>
                  </a:rPr>
                  <a:t> </a:t>
                </a:r>
              </a:p>
            </p:txBody>
          </p:sp>
        </mc:Fallback>
      </mc:AlternateContent>
      <p:sp>
        <p:nvSpPr>
          <p:cNvPr id="21" name="文本框 20">
            <a:extLst>
              <a:ext uri="{FF2B5EF4-FFF2-40B4-BE49-F238E27FC236}">
                <a16:creationId xmlns:a16="http://schemas.microsoft.com/office/drawing/2014/main" id="{FA438157-0E2A-4A21-BE65-E0CDD2162D47}"/>
              </a:ext>
            </a:extLst>
          </p:cNvPr>
          <p:cNvSpPr txBox="1"/>
          <p:nvPr/>
        </p:nvSpPr>
        <p:spPr>
          <a:xfrm>
            <a:off x="7955589" y="5320885"/>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0BCA786C-E6B8-47C2-B518-F6237D6D99CE}"/>
                  </a:ext>
                </a:extLst>
              </p:cNvPr>
              <p:cNvSpPr txBox="1"/>
              <p:nvPr/>
            </p:nvSpPr>
            <p:spPr>
              <a:xfrm>
                <a:off x="8281986" y="5628696"/>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1100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2" name="文本框 21">
                <a:extLst>
                  <a:ext uri="{FF2B5EF4-FFF2-40B4-BE49-F238E27FC236}">
                    <a16:creationId xmlns:a16="http://schemas.microsoft.com/office/drawing/2014/main" id="{0BCA786C-E6B8-47C2-B518-F6237D6D99CE}"/>
                  </a:ext>
                </a:extLst>
              </p:cNvPr>
              <p:cNvSpPr txBox="1">
                <a:spLocks noRot="1" noChangeAspect="1" noMove="1" noResize="1" noEditPoints="1" noAdjustHandles="1" noChangeArrowheads="1" noChangeShapeType="1" noTextEdit="1"/>
              </p:cNvSpPr>
              <p:nvPr/>
            </p:nvSpPr>
            <p:spPr>
              <a:xfrm>
                <a:off x="8281986" y="5628696"/>
                <a:ext cx="646011" cy="308482"/>
              </a:xfrm>
              <a:prstGeom prst="rect">
                <a:avLst/>
              </a:prstGeom>
              <a:blipFill>
                <a:blip r:embed="rId5"/>
                <a:stretch>
                  <a:fillRect l="-7547" r="-6604" b="-7843"/>
                </a:stretch>
              </a:blipFill>
            </p:spPr>
            <p:txBody>
              <a:bodyPr/>
              <a:lstStyle/>
              <a:p>
                <a:r>
                  <a:rPr lang="zh-CN" altLang="en-US">
                    <a:noFill/>
                  </a:rPr>
                  <a:t> </a:t>
                </a:r>
              </a:p>
            </p:txBody>
          </p:sp>
        </mc:Fallback>
      </mc:AlternateContent>
      <p:cxnSp>
        <p:nvCxnSpPr>
          <p:cNvPr id="9" name="直接连接符 8">
            <a:extLst>
              <a:ext uri="{FF2B5EF4-FFF2-40B4-BE49-F238E27FC236}">
                <a16:creationId xmlns:a16="http://schemas.microsoft.com/office/drawing/2014/main" id="{A5CFBAD4-8903-474C-B939-255DFC08C877}"/>
              </a:ext>
            </a:extLst>
          </p:cNvPr>
          <p:cNvCxnSpPr>
            <a:cxnSpLocks/>
          </p:cNvCxnSpPr>
          <p:nvPr/>
        </p:nvCxnSpPr>
        <p:spPr>
          <a:xfrm>
            <a:off x="8224836" y="4293934"/>
            <a:ext cx="0" cy="21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3" name="直接连接符 22">
            <a:extLst>
              <a:ext uri="{FF2B5EF4-FFF2-40B4-BE49-F238E27FC236}">
                <a16:creationId xmlns:a16="http://schemas.microsoft.com/office/drawing/2014/main" id="{CFA6FA8A-96C5-4376-9932-D421D503A59B}"/>
              </a:ext>
            </a:extLst>
          </p:cNvPr>
          <p:cNvCxnSpPr>
            <a:cxnSpLocks/>
          </p:cNvCxnSpPr>
          <p:nvPr/>
        </p:nvCxnSpPr>
        <p:spPr>
          <a:xfrm>
            <a:off x="8365142"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直接连接符 23">
            <a:extLst>
              <a:ext uri="{FF2B5EF4-FFF2-40B4-BE49-F238E27FC236}">
                <a16:creationId xmlns:a16="http://schemas.microsoft.com/office/drawing/2014/main" id="{552EB6F0-56BF-4613-8FB2-1D6429DD09B9}"/>
              </a:ext>
            </a:extLst>
          </p:cNvPr>
          <p:cNvCxnSpPr>
            <a:cxnSpLocks/>
          </p:cNvCxnSpPr>
          <p:nvPr/>
        </p:nvCxnSpPr>
        <p:spPr>
          <a:xfrm>
            <a:off x="8505448"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5" name="直接连接符 24">
            <a:extLst>
              <a:ext uri="{FF2B5EF4-FFF2-40B4-BE49-F238E27FC236}">
                <a16:creationId xmlns:a16="http://schemas.microsoft.com/office/drawing/2014/main" id="{AC71707B-D9AA-4CEB-8536-C0C9792AA940}"/>
              </a:ext>
            </a:extLst>
          </p:cNvPr>
          <p:cNvCxnSpPr>
            <a:cxnSpLocks/>
          </p:cNvCxnSpPr>
          <p:nvPr/>
        </p:nvCxnSpPr>
        <p:spPr>
          <a:xfrm>
            <a:off x="8645754"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 name="直接连接符 25">
            <a:extLst>
              <a:ext uri="{FF2B5EF4-FFF2-40B4-BE49-F238E27FC236}">
                <a16:creationId xmlns:a16="http://schemas.microsoft.com/office/drawing/2014/main" id="{6B17B9CB-E413-46C5-A2EA-45886DBD5361}"/>
              </a:ext>
            </a:extLst>
          </p:cNvPr>
          <p:cNvCxnSpPr>
            <a:cxnSpLocks/>
          </p:cNvCxnSpPr>
          <p:nvPr/>
        </p:nvCxnSpPr>
        <p:spPr>
          <a:xfrm>
            <a:off x="8786061"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sp>
        <p:nvSpPr>
          <p:cNvPr id="27" name="文本框 26">
            <a:extLst>
              <a:ext uri="{FF2B5EF4-FFF2-40B4-BE49-F238E27FC236}">
                <a16:creationId xmlns:a16="http://schemas.microsoft.com/office/drawing/2014/main" id="{555FDC12-4276-4545-BA3A-ECD20CE2BA8A}"/>
              </a:ext>
            </a:extLst>
          </p:cNvPr>
          <p:cNvSpPr txBox="1"/>
          <p:nvPr/>
        </p:nvSpPr>
        <p:spPr>
          <a:xfrm>
            <a:off x="8231719" y="5820421"/>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29" name="文本框 28">
                <a:extLst>
                  <a:ext uri="{FF2B5EF4-FFF2-40B4-BE49-F238E27FC236}">
                    <a16:creationId xmlns:a16="http://schemas.microsoft.com/office/drawing/2014/main" id="{284976D3-7066-49A5-80FF-54965F65F2A0}"/>
                  </a:ext>
                </a:extLst>
              </p:cNvPr>
              <p:cNvSpPr txBox="1"/>
              <p:nvPr/>
            </p:nvSpPr>
            <p:spPr>
              <a:xfrm>
                <a:off x="8453436" y="6145852"/>
                <a:ext cx="503343"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001</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9" name="文本框 28">
                <a:extLst>
                  <a:ext uri="{FF2B5EF4-FFF2-40B4-BE49-F238E27FC236}">
                    <a16:creationId xmlns:a16="http://schemas.microsoft.com/office/drawing/2014/main" id="{284976D3-7066-49A5-80FF-54965F65F2A0}"/>
                  </a:ext>
                </a:extLst>
              </p:cNvPr>
              <p:cNvSpPr txBox="1">
                <a:spLocks noRot="1" noChangeAspect="1" noMove="1" noResize="1" noEditPoints="1" noAdjustHandles="1" noChangeArrowheads="1" noChangeShapeType="1" noTextEdit="1"/>
              </p:cNvSpPr>
              <p:nvPr/>
            </p:nvSpPr>
            <p:spPr>
              <a:xfrm>
                <a:off x="8453436" y="6145852"/>
                <a:ext cx="503343" cy="308482"/>
              </a:xfrm>
              <a:prstGeom prst="rect">
                <a:avLst/>
              </a:prstGeom>
              <a:blipFill>
                <a:blip r:embed="rId6"/>
                <a:stretch>
                  <a:fillRect l="-9756" r="-9756" b="-7843"/>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48757DB6-E7DA-4843-A372-85690276B165}"/>
              </a:ext>
            </a:extLst>
          </p:cNvPr>
          <p:cNvSpPr txBox="1"/>
          <p:nvPr/>
        </p:nvSpPr>
        <p:spPr>
          <a:xfrm>
            <a:off x="9569021" y="6100038"/>
            <a:ext cx="353943"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R</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31" name="文本框 30">
            <a:extLst>
              <a:ext uri="{FF2B5EF4-FFF2-40B4-BE49-F238E27FC236}">
                <a16:creationId xmlns:a16="http://schemas.microsoft.com/office/drawing/2014/main" id="{32DE2AF9-E6C8-4A2E-ADF3-6C838B036112}"/>
              </a:ext>
            </a:extLst>
          </p:cNvPr>
          <p:cNvSpPr txBox="1"/>
          <p:nvPr/>
        </p:nvSpPr>
        <p:spPr>
          <a:xfrm>
            <a:off x="6223294" y="3954441"/>
            <a:ext cx="350737"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P</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cxnSp>
        <p:nvCxnSpPr>
          <p:cNvPr id="14" name="直接箭头连接符 13">
            <a:extLst>
              <a:ext uri="{FF2B5EF4-FFF2-40B4-BE49-F238E27FC236}">
                <a16:creationId xmlns:a16="http://schemas.microsoft.com/office/drawing/2014/main" id="{1D87409F-7F0F-4AA6-A51E-248F49DCE01E}"/>
              </a:ext>
            </a:extLst>
          </p:cNvPr>
          <p:cNvCxnSpPr>
            <a:stCxn id="29" idx="3"/>
            <a:endCxn id="30" idx="1"/>
          </p:cNvCxnSpPr>
          <p:nvPr/>
        </p:nvCxnSpPr>
        <p:spPr>
          <a:xfrm>
            <a:off x="8956779" y="6300093"/>
            <a:ext cx="612242"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33" name="直接箭头连接符 32">
            <a:extLst>
              <a:ext uri="{FF2B5EF4-FFF2-40B4-BE49-F238E27FC236}">
                <a16:creationId xmlns:a16="http://schemas.microsoft.com/office/drawing/2014/main" id="{E9D79CB3-F8E4-4909-A041-96B896E50CE8}"/>
              </a:ext>
            </a:extLst>
          </p:cNvPr>
          <p:cNvCxnSpPr>
            <a:cxnSpLocks/>
            <a:stCxn id="2" idx="1"/>
            <a:endCxn id="31" idx="3"/>
          </p:cNvCxnSpPr>
          <p:nvPr/>
        </p:nvCxnSpPr>
        <p:spPr>
          <a:xfrm flipH="1">
            <a:off x="6574031" y="4149830"/>
            <a:ext cx="312547" cy="4666"/>
          </a:xfrm>
          <a:prstGeom prst="straightConnector1">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9643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pic>
        <p:nvPicPr>
          <p:cNvPr id="6" name="图形 5" descr="问号">
            <a:extLst>
              <a:ext uri="{FF2B5EF4-FFF2-40B4-BE49-F238E27FC236}">
                <a16:creationId xmlns:a16="http://schemas.microsoft.com/office/drawing/2014/main" id="{C0EE3EDF-A256-4078-8D56-F7F8AB15807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651398" y="1989000"/>
            <a:ext cx="1440000" cy="1440000"/>
          </a:xfrm>
          <a:prstGeom prst="rect">
            <a:avLst/>
          </a:prstGeom>
          <a:effectLst>
            <a:outerShdw blurRad="50800" dist="38100" dir="2700000" algn="tl" rotWithShape="0">
              <a:prstClr val="black">
                <a:alpha val="40000"/>
              </a:prstClr>
            </a:outerShdw>
          </a:effectLst>
        </p:spPr>
      </p:pic>
      <p:grpSp>
        <p:nvGrpSpPr>
          <p:cNvPr id="8" name="组合 7">
            <a:extLst>
              <a:ext uri="{FF2B5EF4-FFF2-40B4-BE49-F238E27FC236}">
                <a16:creationId xmlns:a16="http://schemas.microsoft.com/office/drawing/2014/main" id="{6FA5CA64-8276-46A8-99FA-FA56DD0D27EE}"/>
              </a:ext>
            </a:extLst>
          </p:cNvPr>
          <p:cNvGrpSpPr/>
          <p:nvPr/>
        </p:nvGrpSpPr>
        <p:grpSpPr>
          <a:xfrm>
            <a:off x="-924831" y="1242257"/>
            <a:ext cx="8592458" cy="8592458"/>
            <a:chOff x="-667656" y="375482"/>
            <a:chExt cx="8592458" cy="8592458"/>
          </a:xfrm>
        </p:grpSpPr>
        <p:sp>
          <p:nvSpPr>
            <p:cNvPr id="32" name="Diamond 13">
              <a:extLst>
                <a:ext uri="{FF2B5EF4-FFF2-40B4-BE49-F238E27FC236}">
                  <a16:creationId xmlns:a16="http://schemas.microsoft.com/office/drawing/2014/main" id="{E0E15C2A-4F68-4DFC-A451-C2E3B9EB4D0B}"/>
                </a:ext>
              </a:extLst>
            </p:cNvPr>
            <p:cNvSpPr/>
            <p:nvPr/>
          </p:nvSpPr>
          <p:spPr>
            <a:xfrm>
              <a:off x="-667656" y="375482"/>
              <a:ext cx="8592458" cy="8592458"/>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rot="2704061">
            <a:off x="4189259" y="2932211"/>
            <a:ext cx="3262432"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可靠传输吗？</a:t>
            </a:r>
          </a:p>
        </p:txBody>
      </p:sp>
      <p:sp>
        <p:nvSpPr>
          <p:cNvPr id="13" name="文本框 12">
            <a:extLst>
              <a:ext uri="{FF2B5EF4-FFF2-40B4-BE49-F238E27FC236}">
                <a16:creationId xmlns:a16="http://schemas.microsoft.com/office/drawing/2014/main" id="{F1F25B9A-303C-4E21-BC7D-B67BE1522992}"/>
              </a:ext>
            </a:extLst>
          </p:cNvPr>
          <p:cNvSpPr txBox="1"/>
          <p:nvPr/>
        </p:nvSpPr>
        <p:spPr>
          <a:xfrm>
            <a:off x="8324852" y="2619375"/>
            <a:ext cx="223651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帧丢失了怎么办？</a:t>
            </a:r>
          </a:p>
        </p:txBody>
      </p:sp>
      <p:sp>
        <p:nvSpPr>
          <p:cNvPr id="35" name="文本框 34">
            <a:extLst>
              <a:ext uri="{FF2B5EF4-FFF2-40B4-BE49-F238E27FC236}">
                <a16:creationId xmlns:a16="http://schemas.microsoft.com/office/drawing/2014/main" id="{008F5F8D-5E93-42B6-92FC-246C590B4818}"/>
              </a:ext>
            </a:extLst>
          </p:cNvPr>
          <p:cNvSpPr txBox="1"/>
          <p:nvPr/>
        </p:nvSpPr>
        <p:spPr>
          <a:xfrm>
            <a:off x="8324852" y="3086099"/>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帧重复了怎么办？？</a:t>
            </a:r>
          </a:p>
        </p:txBody>
      </p:sp>
      <p:sp>
        <p:nvSpPr>
          <p:cNvPr id="36" name="文本框 35">
            <a:extLst>
              <a:ext uri="{FF2B5EF4-FFF2-40B4-BE49-F238E27FC236}">
                <a16:creationId xmlns:a16="http://schemas.microsoft.com/office/drawing/2014/main" id="{84099E80-B6A3-415F-875B-DE133A65F55C}"/>
              </a:ext>
            </a:extLst>
          </p:cNvPr>
          <p:cNvSpPr txBox="1"/>
          <p:nvPr/>
        </p:nvSpPr>
        <p:spPr>
          <a:xfrm>
            <a:off x="8324852" y="3552823"/>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帧失序了怎么办？？</a:t>
            </a:r>
          </a:p>
        </p:txBody>
      </p:sp>
    </p:spTree>
    <p:extLst>
      <p:ext uri="{BB962C8B-B14F-4D97-AF65-F5344CB8AC3E}">
        <p14:creationId xmlns:p14="http://schemas.microsoft.com/office/powerpoint/2010/main" val="4265740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1+#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35"/>
                                        </p:tgtEl>
                                        <p:attrNameLst>
                                          <p:attrName>style.visibility</p:attrName>
                                        </p:attrNameLst>
                                      </p:cBhvr>
                                      <p:to>
                                        <p:strVal val="visible"/>
                                      </p:to>
                                    </p:set>
                                    <p:anim calcmode="lin" valueType="num">
                                      <p:cBhvr additive="base">
                                        <p:cTn id="12" dur="500" fill="hold"/>
                                        <p:tgtEl>
                                          <p:spTgt spid="35"/>
                                        </p:tgtEl>
                                        <p:attrNameLst>
                                          <p:attrName>ppt_x</p:attrName>
                                        </p:attrNameLst>
                                      </p:cBhvr>
                                      <p:tavLst>
                                        <p:tav tm="0">
                                          <p:val>
                                            <p:strVal val="1+#ppt_w/2"/>
                                          </p:val>
                                        </p:tav>
                                        <p:tav tm="100000">
                                          <p:val>
                                            <p:strVal val="#ppt_x"/>
                                          </p:val>
                                        </p:tav>
                                      </p:tavLst>
                                    </p:anim>
                                    <p:anim calcmode="lin" valueType="num">
                                      <p:cBhvr additive="base">
                                        <p:cTn id="13" dur="500" fill="hold"/>
                                        <p:tgtEl>
                                          <p:spTgt spid="35"/>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p:stCondLst>
                                    <p:cond delay="0"/>
                                  </p:stCondLst>
                                  <p:childTnLst>
                                    <p:set>
                                      <p:cBhvr>
                                        <p:cTn id="16" dur="1" fill="hold">
                                          <p:stCondLst>
                                            <p:cond delay="0"/>
                                          </p:stCondLst>
                                        </p:cTn>
                                        <p:tgtEl>
                                          <p:spTgt spid="36"/>
                                        </p:tgtEl>
                                        <p:attrNameLst>
                                          <p:attrName>style.visibility</p:attrName>
                                        </p:attrNameLst>
                                      </p:cBhvr>
                                      <p:to>
                                        <p:strVal val="visible"/>
                                      </p:to>
                                    </p:set>
                                    <p:anim calcmode="lin" valueType="num">
                                      <p:cBhvr additive="base">
                                        <p:cTn id="17" dur="500" fill="hold"/>
                                        <p:tgtEl>
                                          <p:spTgt spid="36"/>
                                        </p:tgtEl>
                                        <p:attrNameLst>
                                          <p:attrName>ppt_x</p:attrName>
                                        </p:attrNameLst>
                                      </p:cBhvr>
                                      <p:tavLst>
                                        <p:tav tm="0">
                                          <p:val>
                                            <p:strVal val="1+#ppt_w/2"/>
                                          </p:val>
                                        </p:tav>
                                        <p:tav tm="100000">
                                          <p:val>
                                            <p:strVal val="#ppt_x"/>
                                          </p:val>
                                        </p:tav>
                                      </p:tavLst>
                                    </p:anim>
                                    <p:anim calcmode="lin" valueType="num">
                                      <p:cBhvr additive="base">
                                        <p:cTn id="18" dur="500" fill="hold"/>
                                        <p:tgtEl>
                                          <p:spTgt spid="3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35" grpId="0"/>
      <p:bldP spid="36"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grpSp>
        <p:nvGrpSpPr>
          <p:cNvPr id="8" name="组合 7">
            <a:extLst>
              <a:ext uri="{FF2B5EF4-FFF2-40B4-BE49-F238E27FC236}">
                <a16:creationId xmlns:a16="http://schemas.microsoft.com/office/drawing/2014/main" id="{6FA5CA64-8276-46A8-99FA-FA56DD0D27EE}"/>
              </a:ext>
            </a:extLst>
          </p:cNvPr>
          <p:cNvGrpSpPr>
            <a:grpSpLocks noChangeAspect="1"/>
          </p:cNvGrpSpPr>
          <p:nvPr/>
        </p:nvGrpSpPr>
        <p:grpSpPr>
          <a:xfrm rot="16200000">
            <a:off x="-1542600" y="3019485"/>
            <a:ext cx="1440000" cy="1440000"/>
            <a:chOff x="-667655" y="261811"/>
            <a:chExt cx="8592458" cy="8592457"/>
          </a:xfrm>
        </p:grpSpPr>
        <p:sp>
          <p:nvSpPr>
            <p:cNvPr id="32" name="Diamond 13">
              <a:extLst>
                <a:ext uri="{FF2B5EF4-FFF2-40B4-BE49-F238E27FC236}">
                  <a16:creationId xmlns:a16="http://schemas.microsoft.com/office/drawing/2014/main" id="{E0E15C2A-4F68-4DFC-A451-C2E3B9EB4D0B}"/>
                </a:ext>
              </a:extLst>
            </p:cNvPr>
            <p:cNvSpPr/>
            <p:nvPr/>
          </p:nvSpPr>
          <p:spPr>
            <a:xfrm>
              <a:off x="-667655" y="261811"/>
              <a:ext cx="8592458" cy="8592457"/>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a:off x="2997555" y="2932211"/>
            <a:ext cx="1893467" cy="707886"/>
          </a:xfrm>
          <a:prstGeom prst="rect">
            <a:avLst/>
          </a:prstGeom>
          <a:noFill/>
        </p:spPr>
        <p:txBody>
          <a:bodyPr wrap="none" rtlCol="0">
            <a:spAutoFit/>
          </a:bodyPr>
          <a:lstStyle/>
          <a:p>
            <a:pPr algn="l"/>
            <a:r>
              <a:rPr lang="en-US" altLang="zh-CN"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Bit</a:t>
            </a: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差错</a:t>
            </a:r>
          </a:p>
        </p:txBody>
      </p:sp>
      <p:sp>
        <p:nvSpPr>
          <p:cNvPr id="12" name="文本框 11">
            <a:extLst>
              <a:ext uri="{FF2B5EF4-FFF2-40B4-BE49-F238E27FC236}">
                <a16:creationId xmlns:a16="http://schemas.microsoft.com/office/drawing/2014/main" id="{27CB8589-03C7-44EB-B8BB-C07EF1930ED9}"/>
              </a:ext>
            </a:extLst>
          </p:cNvPr>
          <p:cNvSpPr txBox="1"/>
          <p:nvPr/>
        </p:nvSpPr>
        <p:spPr>
          <a:xfrm>
            <a:off x="6957936" y="2932211"/>
            <a:ext cx="2236510"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传输差错</a:t>
            </a:r>
          </a:p>
        </p:txBody>
      </p:sp>
      <p:sp>
        <p:nvSpPr>
          <p:cNvPr id="17" name="任意多边形: 形状 16">
            <a:extLst>
              <a:ext uri="{FF2B5EF4-FFF2-40B4-BE49-F238E27FC236}">
                <a16:creationId xmlns:a16="http://schemas.microsoft.com/office/drawing/2014/main" id="{5806A1ED-43CF-43A2-AB45-6844E21FDCAB}"/>
              </a:ext>
            </a:extLst>
          </p:cNvPr>
          <p:cNvSpPr/>
          <p:nvPr/>
        </p:nvSpPr>
        <p:spPr>
          <a:xfrm>
            <a:off x="5865772" y="3059005"/>
            <a:ext cx="458390" cy="454298"/>
          </a:xfrm>
          <a:custGeom>
            <a:avLst/>
            <a:gdLst/>
            <a:ahLst/>
            <a:cxnLst/>
            <a:rect l="l" t="t" r="r" b="b"/>
            <a:pathLst>
              <a:path w="458390" h="454298">
                <a:moveTo>
                  <a:pt x="305097" y="0"/>
                </a:moveTo>
                <a:lnTo>
                  <a:pt x="350118" y="0"/>
                </a:lnTo>
                <a:lnTo>
                  <a:pt x="299144" y="119435"/>
                </a:lnTo>
                <a:lnTo>
                  <a:pt x="458390" y="119435"/>
                </a:lnTo>
                <a:lnTo>
                  <a:pt x="458390" y="168920"/>
                </a:lnTo>
                <a:lnTo>
                  <a:pt x="277936" y="168920"/>
                </a:lnTo>
                <a:lnTo>
                  <a:pt x="233288" y="273844"/>
                </a:lnTo>
                <a:lnTo>
                  <a:pt x="458390" y="273844"/>
                </a:lnTo>
                <a:lnTo>
                  <a:pt x="458390" y="323329"/>
                </a:lnTo>
                <a:lnTo>
                  <a:pt x="212080" y="323329"/>
                </a:lnTo>
                <a:lnTo>
                  <a:pt x="156269" y="454298"/>
                </a:lnTo>
                <a:lnTo>
                  <a:pt x="111249" y="454298"/>
                </a:lnTo>
                <a:lnTo>
                  <a:pt x="167059" y="323329"/>
                </a:lnTo>
                <a:lnTo>
                  <a:pt x="0" y="323329"/>
                </a:lnTo>
                <a:lnTo>
                  <a:pt x="0" y="273844"/>
                </a:lnTo>
                <a:lnTo>
                  <a:pt x="188267" y="273844"/>
                </a:lnTo>
                <a:lnTo>
                  <a:pt x="232916" y="168920"/>
                </a:lnTo>
                <a:lnTo>
                  <a:pt x="0" y="168920"/>
                </a:lnTo>
                <a:lnTo>
                  <a:pt x="0" y="119435"/>
                </a:lnTo>
                <a:lnTo>
                  <a:pt x="254124" y="119435"/>
                </a:lnTo>
                <a:lnTo>
                  <a:pt x="305097" y="0"/>
                </a:lnTo>
                <a:close/>
              </a:path>
            </a:pathLst>
          </a:cu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4204590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302015" y="2629625"/>
            <a:ext cx="3262432"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点对点协议</a:t>
            </a:r>
            <a:endParaRPr lang="en-US" sz="4800" dirty="0">
              <a:latin typeface="微软雅黑" panose="020B0503020204020204" pitchFamily="34" charset="-122"/>
              <a:ea typeface="微软雅黑" panose="020B0503020204020204"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216000" y="1879184"/>
            <a:ext cx="1348447"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PPP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Point to Point Protocol</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156090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Freeform 25">
            <a:extLst>
              <a:ext uri="{FF2B5EF4-FFF2-40B4-BE49-F238E27FC236}">
                <a16:creationId xmlns:a16="http://schemas.microsoft.com/office/drawing/2014/main" id="{713288A1-0230-48CA-A274-C07687F8FADE}"/>
              </a:ext>
            </a:extLst>
          </p:cNvPr>
          <p:cNvSpPr>
            <a:spLocks noChangeArrowheads="1"/>
          </p:cNvSpPr>
          <p:nvPr/>
        </p:nvSpPr>
        <p:spPr bwMode="auto">
          <a:xfrm>
            <a:off x="11116694"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22" name="TextBox 26">
            <a:extLst>
              <a:ext uri="{FF2B5EF4-FFF2-40B4-BE49-F238E27FC236}">
                <a16:creationId xmlns:a16="http://schemas.microsoft.com/office/drawing/2014/main" id="{35657C9A-E57F-4056-A34A-87F020AC4BEB}"/>
              </a:ext>
            </a:extLst>
          </p:cNvPr>
          <p:cNvSpPr txBox="1"/>
          <p:nvPr/>
        </p:nvSpPr>
        <p:spPr>
          <a:xfrm>
            <a:off x="7872809" y="217993"/>
            <a:ext cx="3177472"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点到点协议</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Point to point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grpSp>
        <p:nvGrpSpPr>
          <p:cNvPr id="26" name="组合 25">
            <a:extLst>
              <a:ext uri="{FF2B5EF4-FFF2-40B4-BE49-F238E27FC236}">
                <a16:creationId xmlns:a16="http://schemas.microsoft.com/office/drawing/2014/main" id="{F24D68BC-9EE0-4D4A-AAD9-3C28250FA692}"/>
              </a:ext>
            </a:extLst>
          </p:cNvPr>
          <p:cNvGrpSpPr/>
          <p:nvPr/>
        </p:nvGrpSpPr>
        <p:grpSpPr>
          <a:xfrm>
            <a:off x="2429277" y="3051490"/>
            <a:ext cx="1447200" cy="646331"/>
            <a:chOff x="1279206" y="3261045"/>
            <a:chExt cx="1447200" cy="646331"/>
          </a:xfrm>
        </p:grpSpPr>
        <p:sp>
          <p:nvSpPr>
            <p:cNvPr id="6" name="Rectangle 19">
              <a:extLst>
                <a:ext uri="{FF2B5EF4-FFF2-40B4-BE49-F238E27FC236}">
                  <a16:creationId xmlns:a16="http://schemas.microsoft.com/office/drawing/2014/main" id="{7DF54C1F-227E-41CF-93E1-C1A9AB15FE4E}"/>
                </a:ext>
              </a:extLst>
            </p:cNvPr>
            <p:cNvSpPr/>
            <p:nvPr/>
          </p:nvSpPr>
          <p:spPr>
            <a:xfrm>
              <a:off x="1279206" y="3630377"/>
              <a:ext cx="1447200" cy="276999"/>
            </a:xfrm>
            <a:prstGeom prst="rect">
              <a:avLst/>
            </a:prstGeom>
          </p:spPr>
          <p:txBody>
            <a:bodyPr wrap="square">
              <a:spAutoFit/>
            </a:bodyPr>
            <a:lstStyle/>
            <a:p>
              <a:pPr algn="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Requirement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7" name="TextBox 20">
              <a:extLst>
                <a:ext uri="{FF2B5EF4-FFF2-40B4-BE49-F238E27FC236}">
                  <a16:creationId xmlns:a16="http://schemas.microsoft.com/office/drawing/2014/main" id="{A560029D-A56E-4251-B481-B75E6BF5DDF9}"/>
                </a:ext>
              </a:extLst>
            </p:cNvPr>
            <p:cNvSpPr txBox="1"/>
            <p:nvPr/>
          </p:nvSpPr>
          <p:spPr>
            <a:xfrm>
              <a:off x="2080075" y="3261045"/>
              <a:ext cx="646331" cy="369332"/>
            </a:xfrm>
            <a:prstGeom prst="rect">
              <a:avLst/>
            </a:prstGeom>
            <a:noFill/>
          </p:spPr>
          <p:txBody>
            <a:bodyPr wrap="none" rtlCol="0">
              <a:spAutoFit/>
            </a:bodyPr>
            <a:lstStyle/>
            <a:p>
              <a:pPr algn="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需求</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25" name="组合 24">
            <a:extLst>
              <a:ext uri="{FF2B5EF4-FFF2-40B4-BE49-F238E27FC236}">
                <a16:creationId xmlns:a16="http://schemas.microsoft.com/office/drawing/2014/main" id="{52441F79-6271-4F3B-8D66-B99BCCD433C2}"/>
              </a:ext>
            </a:extLst>
          </p:cNvPr>
          <p:cNvGrpSpPr/>
          <p:nvPr/>
        </p:nvGrpSpPr>
        <p:grpSpPr>
          <a:xfrm>
            <a:off x="8240873" y="3051490"/>
            <a:ext cx="1446436" cy="646331"/>
            <a:chOff x="8881899" y="3261045"/>
            <a:chExt cx="1446436" cy="646331"/>
          </a:xfrm>
        </p:grpSpPr>
        <p:sp>
          <p:nvSpPr>
            <p:cNvPr id="10" name="Rectangle 23">
              <a:extLst>
                <a:ext uri="{FF2B5EF4-FFF2-40B4-BE49-F238E27FC236}">
                  <a16:creationId xmlns:a16="http://schemas.microsoft.com/office/drawing/2014/main" id="{3D57D032-3866-480F-AF80-B66563F82A95}"/>
                </a:ext>
              </a:extLst>
            </p:cNvPr>
            <p:cNvSpPr/>
            <p:nvPr/>
          </p:nvSpPr>
          <p:spPr>
            <a:xfrm>
              <a:off x="8881900" y="3630377"/>
              <a:ext cx="1446435"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Composition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4">
              <a:extLst>
                <a:ext uri="{FF2B5EF4-FFF2-40B4-BE49-F238E27FC236}">
                  <a16:creationId xmlns:a16="http://schemas.microsoft.com/office/drawing/2014/main" id="{9D17DD40-477E-4D59-B8D7-47754BA5C665}"/>
                </a:ext>
              </a:extLst>
            </p:cNvPr>
            <p:cNvSpPr txBox="1"/>
            <p:nvPr/>
          </p:nvSpPr>
          <p:spPr>
            <a:xfrm>
              <a:off x="8881899" y="3261045"/>
              <a:ext cx="646331"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要素</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7" name="TextBox 12">
            <a:extLst>
              <a:ext uri="{FF2B5EF4-FFF2-40B4-BE49-F238E27FC236}">
                <a16:creationId xmlns:a16="http://schemas.microsoft.com/office/drawing/2014/main" id="{BDFB3390-F3A0-4083-9D2C-103B75F2163C}"/>
              </a:ext>
            </a:extLst>
          </p:cNvPr>
          <p:cNvSpPr txBox="1"/>
          <p:nvPr/>
        </p:nvSpPr>
        <p:spPr>
          <a:xfrm>
            <a:off x="5772834" y="1299853"/>
            <a:ext cx="646331" cy="369332"/>
          </a:xfrm>
          <a:prstGeom prst="rect">
            <a:avLst/>
          </a:prstGeom>
          <a:noFill/>
        </p:spPr>
        <p:txBody>
          <a:bodyPr wrap="none" rtlCol="0">
            <a:spAutoFit/>
          </a:bodyPr>
          <a:lstStyle/>
          <a:p>
            <a:pPr algn="ct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应用</a:t>
            </a:r>
            <a:endParaRPr lang="id-ID"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18" name="组合 17">
            <a:extLst>
              <a:ext uri="{FF2B5EF4-FFF2-40B4-BE49-F238E27FC236}">
                <a16:creationId xmlns:a16="http://schemas.microsoft.com/office/drawing/2014/main" id="{BF109A61-BBE6-468A-B9A0-F12A7B8A272D}"/>
              </a:ext>
            </a:extLst>
          </p:cNvPr>
          <p:cNvGrpSpPr>
            <a:grpSpLocks noChangeAspect="1"/>
          </p:cNvGrpSpPr>
          <p:nvPr/>
        </p:nvGrpSpPr>
        <p:grpSpPr>
          <a:xfrm>
            <a:off x="5915948" y="4981026"/>
            <a:ext cx="360105" cy="432000"/>
            <a:chOff x="9917112" y="1100656"/>
            <a:chExt cx="868331" cy="1041692"/>
          </a:xfrm>
        </p:grpSpPr>
        <p:sp>
          <p:nvSpPr>
            <p:cNvPr id="19" name="Rectangle 36">
              <a:extLst>
                <a:ext uri="{FF2B5EF4-FFF2-40B4-BE49-F238E27FC236}">
                  <a16:creationId xmlns:a16="http://schemas.microsoft.com/office/drawing/2014/main" id="{F8DCD112-B2FE-4B5F-9123-EA0F3D84F1E9}"/>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20" name="Rectangle 35">
              <a:extLst>
                <a:ext uri="{FF2B5EF4-FFF2-40B4-BE49-F238E27FC236}">
                  <a16:creationId xmlns:a16="http://schemas.microsoft.com/office/drawing/2014/main" id="{E886977A-BB1D-4402-AE6F-23C709113D5D}"/>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grpSp>
        <p:nvGrpSpPr>
          <p:cNvPr id="28" name="组合 27">
            <a:extLst>
              <a:ext uri="{FF2B5EF4-FFF2-40B4-BE49-F238E27FC236}">
                <a16:creationId xmlns:a16="http://schemas.microsoft.com/office/drawing/2014/main" id="{48AE8248-8F83-43EB-90CD-6B4266EE8E3D}"/>
              </a:ext>
            </a:extLst>
          </p:cNvPr>
          <p:cNvGrpSpPr>
            <a:grpSpLocks noChangeAspect="1"/>
          </p:cNvGrpSpPr>
          <p:nvPr/>
        </p:nvGrpSpPr>
        <p:grpSpPr>
          <a:xfrm>
            <a:off x="3916220" y="1951910"/>
            <a:ext cx="4359560" cy="2920907"/>
            <a:chOff x="3298372" y="1709800"/>
            <a:chExt cx="5595256" cy="3748821"/>
          </a:xfrm>
        </p:grpSpPr>
        <p:sp>
          <p:nvSpPr>
            <p:cNvPr id="23" name="流程图: 决策 22">
              <a:extLst>
                <a:ext uri="{FF2B5EF4-FFF2-40B4-BE49-F238E27FC236}">
                  <a16:creationId xmlns:a16="http://schemas.microsoft.com/office/drawing/2014/main" id="{FBAAA8C6-AEB0-42D9-8B77-068096C6D897}"/>
                </a:ext>
              </a:extLst>
            </p:cNvPr>
            <p:cNvSpPr/>
            <p:nvPr/>
          </p:nvSpPr>
          <p:spPr>
            <a:xfrm>
              <a:off x="3298372" y="1709800"/>
              <a:ext cx="5595256" cy="3748821"/>
            </a:xfrm>
            <a:prstGeom prst="flowChartDecisi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流程图: 决策 26">
              <a:extLst>
                <a:ext uri="{FF2B5EF4-FFF2-40B4-BE49-F238E27FC236}">
                  <a16:creationId xmlns:a16="http://schemas.microsoft.com/office/drawing/2014/main" id="{B7C62711-ABCC-4C31-B812-13AB5A900583}"/>
                </a:ext>
              </a:extLst>
            </p:cNvPr>
            <p:cNvSpPr/>
            <p:nvPr/>
          </p:nvSpPr>
          <p:spPr>
            <a:xfrm>
              <a:off x="3371273" y="1758643"/>
              <a:ext cx="5449454" cy="3651134"/>
            </a:xfrm>
            <a:prstGeom prst="flowChartDecision">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文本框 28">
            <a:extLst>
              <a:ext uri="{FF2B5EF4-FFF2-40B4-BE49-F238E27FC236}">
                <a16:creationId xmlns:a16="http://schemas.microsoft.com/office/drawing/2014/main" id="{0A8383AC-1DC0-4A88-B266-A5C03D025C0B}"/>
              </a:ext>
            </a:extLst>
          </p:cNvPr>
          <p:cNvSpPr txBox="1"/>
          <p:nvPr/>
        </p:nvSpPr>
        <p:spPr>
          <a:xfrm>
            <a:off x="5614138" y="1647270"/>
            <a:ext cx="963725" cy="276999"/>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200" dirty="0">
                <a:solidFill>
                  <a:prstClr val="white">
                    <a:lumMod val="50000"/>
                  </a:prstClr>
                </a:solidFill>
                <a:latin typeface="微软雅黑 Light" panose="020B0502040204020203" pitchFamily="34" charset="-122"/>
                <a:ea typeface="微软雅黑 Light" panose="020B0502040204020203" pitchFamily="34" charset="-122"/>
              </a:rPr>
              <a:t>Application</a:t>
            </a:r>
            <a:endParaRPr kumimoji="0" lang="en-US" altLang="zh-CN" sz="1200" b="0" i="0" u="none" strike="noStrike" kern="1200" cap="none" spc="0" normalizeH="0" baseline="0" noProof="0" dirty="0">
              <a:ln>
                <a:noFill/>
              </a:ln>
              <a:solidFill>
                <a:prstClr val="white">
                  <a:lumMod val="50000"/>
                </a:prstClr>
              </a:solidFill>
              <a:effectLst/>
              <a:uLnTx/>
              <a:uFillTx/>
              <a:latin typeface="微软雅黑 Light" panose="020B0502040204020203" pitchFamily="34" charset="-122"/>
              <a:ea typeface="微软雅黑 Light" panose="020B0502040204020203" pitchFamily="34" charset="-122"/>
              <a:cs typeface="+mn-cs"/>
            </a:endParaRPr>
          </a:p>
        </p:txBody>
      </p:sp>
    </p:spTree>
    <p:extLst>
      <p:ext uri="{BB962C8B-B14F-4D97-AF65-F5344CB8AC3E}">
        <p14:creationId xmlns:p14="http://schemas.microsoft.com/office/powerpoint/2010/main" val="1554677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应用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268296"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Application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6197573" y="3228945"/>
            <a:ext cx="2236510"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全双工点对点链路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cxnSp>
        <p:nvCxnSpPr>
          <p:cNvPr id="22" name="连接符: 肘形 21">
            <a:extLst>
              <a:ext uri="{FF2B5EF4-FFF2-40B4-BE49-F238E27FC236}">
                <a16:creationId xmlns:a16="http://schemas.microsoft.com/office/drawing/2014/main" id="{F916BD9D-72B4-4624-BF40-6647EE275FDB}"/>
              </a:ext>
            </a:extLst>
          </p:cNvPr>
          <p:cNvCxnSpPr>
            <a:stCxn id="99" idx="2"/>
            <a:endCxn id="104" idx="1"/>
          </p:cNvCxnSpPr>
          <p:nvPr/>
        </p:nvCxnSpPr>
        <p:spPr>
          <a:xfrm rot="16200000" flipH="1">
            <a:off x="4473438" y="1704864"/>
            <a:ext cx="2589357" cy="858914"/>
          </a:xfrm>
          <a:prstGeom prst="bentConnector2">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904565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要素</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401346"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Composition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589170" cy="1015663"/>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封装到帧</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链路控制协议</a:t>
            </a:r>
            <a:r>
              <a:rPr lang="en-US" altLang="zh-CN" sz="2000" dirty="0">
                <a:latin typeface="微软雅黑 Light" panose="020B0502040204020203" pitchFamily="34" charset="-122"/>
                <a:ea typeface="微软雅黑 Light" panose="020B0502040204020203" pitchFamily="34" charset="-122"/>
              </a:rPr>
              <a:t>LCP</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网络控制协议</a:t>
            </a:r>
            <a:r>
              <a:rPr lang="en-US" altLang="zh-CN" sz="2000" dirty="0">
                <a:solidFill>
                  <a:schemeClr val="tx1"/>
                </a:solidFill>
                <a:latin typeface="微软雅黑 Light" panose="020B0502040204020203" pitchFamily="34" charset="-122"/>
                <a:ea typeface="微软雅黑 Light" panose="020B0502040204020203" pitchFamily="34" charset="-122"/>
              </a:rPr>
              <a:t>NCP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123048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需求</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399742"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Requirement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069797" cy="3170099"/>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简单</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封装成帧</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透明</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差错检测</a:t>
            </a:r>
            <a:endParaRPr lang="zh-CN" altLang="en-US"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多种网络协议</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多种类型链路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检测连接状态</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最大传输单元</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网络地址协商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数据压缩协商</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7540851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说明</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628698"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Tips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5660524" cy="1631216"/>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不需要纠错：由传输层实现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不需要流量控制：由传输层实现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不需要帧序号</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仅支持点对点链路，不支持点到多点链路</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仅支持全双工链路，不支持单工和半双工链路</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973824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228671"/>
            <a:ext cx="8701549" cy="2092881"/>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Overview</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endPar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algn="just">
              <a:spcBef>
                <a:spcPts val="600"/>
              </a:spcBef>
              <a:spcAft>
                <a:spcPts val="600"/>
              </a:spcAft>
            </a:pP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The Point-to-Point Protocol is designed for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simple links </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which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transport packets </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between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two peers</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These links provide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full-duplex</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simultaneous</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bi-directional</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operation, and are assumed to deliver packets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in order</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It is intended that PPP provide a common solution for easy connection of a wide variety of hosts, bridges and routers</a:t>
            </a:r>
            <a:endParaRPr lang="zh-CN" altLang="en-US" sz="2000" dirty="0">
              <a:solidFill>
                <a:schemeClr val="tx1"/>
              </a:solidFill>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4899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3908762"/>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3-1</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Encapsulation</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PPP encapsulation provides for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multiplexing</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of different network-layer protocols simultaneously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over the same link</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The PPP encapsulation has been carefully designed to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retain compatibility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with most commonly used supporting hardware.</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Only 8 additional octets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are necessary to form the encapsulation when used within the default HDLC-like framing. In environments where bandwidth is at a premium, the encapsulation and framing may be shortened to 2 or 4 octets.</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To support high speed implementations, the default encapsulation uses only simple fields, only one of which needs to be examined for demultiplexing. The default header and information fields fall on 32-bit boundaries, and the trailer may be padded to an arbitrary boundary.</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35566936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1938992"/>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3-2</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LCP-link control protocol</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LCP is used to automatically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agree upon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encapsulation format options, handle varying limits on sizes of packets, detect a looped-back link and other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common misconfiguration errors</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and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terminate the link</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Other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optional facilities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provided are authentication of the identity of its peer on the link, and determination when a link is functioning properly and when it is failing.</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954270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249299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3-3</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NCP-network control protocol</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Point-to-Point links tend to exacerbate many problems with the current family of network protocols. For instance,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assignment</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and management of IP addresses</a:t>
            </a:r>
            <a:r>
              <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which is a problem even in LAN environments, is especially difficult over circuit-switched point-to-point links (such as dial-up modem servers). These problems are handled by a family of Network Control Protocols (NCPs), which each manage the specific needs required by their</a:t>
            </a:r>
            <a:r>
              <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respective network-layer protocols. These NCPs are defined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in companion documents</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603747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7236132E-B48F-49C7-8A3C-1FF91457B83A}"/>
              </a:ext>
            </a:extLst>
          </p:cNvPr>
          <p:cNvGraphicFramePr>
            <a:graphicFrameLocks noGrp="1" noChangeAspect="1"/>
          </p:cNvGraphicFramePr>
          <p:nvPr>
            <p:extLst>
              <p:ext uri="{D42A27DB-BD31-4B8C-83A1-F6EECF244321}">
                <p14:modId xmlns:p14="http://schemas.microsoft.com/office/powerpoint/2010/main" val="4271711839"/>
              </p:ext>
            </p:extLst>
          </p:nvPr>
        </p:nvGraphicFramePr>
        <p:xfrm>
          <a:off x="1474840" y="2675196"/>
          <a:ext cx="9242320" cy="1507608"/>
        </p:xfrm>
        <a:graphic>
          <a:graphicData uri="http://schemas.openxmlformats.org/drawingml/2006/table">
            <a:tbl>
              <a:tblPr firstRow="1" firstCol="1" bandRow="1"/>
              <a:tblGrid>
                <a:gridCol w="512608">
                  <a:extLst>
                    <a:ext uri="{9D8B030D-6E8A-4147-A177-3AD203B41FA5}">
                      <a16:colId xmlns:a16="http://schemas.microsoft.com/office/drawing/2014/main" val="2259479152"/>
                    </a:ext>
                  </a:extLst>
                </a:gridCol>
                <a:gridCol w="510689">
                  <a:extLst>
                    <a:ext uri="{9D8B030D-6E8A-4147-A177-3AD203B41FA5}">
                      <a16:colId xmlns:a16="http://schemas.microsoft.com/office/drawing/2014/main" val="1750968587"/>
                    </a:ext>
                  </a:extLst>
                </a:gridCol>
                <a:gridCol w="512608">
                  <a:extLst>
                    <a:ext uri="{9D8B030D-6E8A-4147-A177-3AD203B41FA5}">
                      <a16:colId xmlns:a16="http://schemas.microsoft.com/office/drawing/2014/main" val="2609119287"/>
                    </a:ext>
                  </a:extLst>
                </a:gridCol>
                <a:gridCol w="1021378">
                  <a:extLst>
                    <a:ext uri="{9D8B030D-6E8A-4147-A177-3AD203B41FA5}">
                      <a16:colId xmlns:a16="http://schemas.microsoft.com/office/drawing/2014/main" val="2482875602"/>
                    </a:ext>
                  </a:extLst>
                </a:gridCol>
                <a:gridCol w="5115531">
                  <a:extLst>
                    <a:ext uri="{9D8B030D-6E8A-4147-A177-3AD203B41FA5}">
                      <a16:colId xmlns:a16="http://schemas.microsoft.com/office/drawing/2014/main" val="3206019414"/>
                    </a:ext>
                  </a:extLst>
                </a:gridCol>
                <a:gridCol w="1055936">
                  <a:extLst>
                    <a:ext uri="{9D8B030D-6E8A-4147-A177-3AD203B41FA5}">
                      <a16:colId xmlns:a16="http://schemas.microsoft.com/office/drawing/2014/main" val="3303275222"/>
                    </a:ext>
                  </a:extLst>
                </a:gridCol>
                <a:gridCol w="513570">
                  <a:extLst>
                    <a:ext uri="{9D8B030D-6E8A-4147-A177-3AD203B41FA5}">
                      <a16:colId xmlns:a16="http://schemas.microsoft.com/office/drawing/2014/main" val="1685930520"/>
                    </a:ext>
                  </a:extLst>
                </a:gridCol>
              </a:tblGrid>
              <a:tr h="376902">
                <a:tc gridSpan="4">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首部</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数据部分</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gridSpan="2">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尾部</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786751167"/>
                  </a:ext>
                </a:extLst>
              </a:tr>
              <a:tr h="753804">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7E</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A</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FF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C</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03</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zh-CN" sz="1600" b="1" kern="100" dirty="0">
                          <a:effectLst/>
                          <a:latin typeface="Roboto" panose="02000000000000000000" pitchFamily="2" charset="0"/>
                          <a:ea typeface="微软雅黑 Light" panose="020B0502040204020203" pitchFamily="34" charset="-122"/>
                          <a:cs typeface="Roboto" panose="02000000000000000000" pitchFamily="2" charset="0"/>
                        </a:rPr>
                        <a:t>协议</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IP packet</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FCS</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7E</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90558345"/>
                  </a:ext>
                </a:extLst>
              </a:tr>
              <a:tr h="376902">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2</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a:t>
                      </a: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1500 octet</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2</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565131128"/>
                  </a:ext>
                </a:extLst>
              </a:tr>
            </a:tbl>
          </a:graphicData>
        </a:graphic>
      </p:graphicFrame>
      <p:sp>
        <p:nvSpPr>
          <p:cNvPr id="8" name="TextBox 5">
            <a:extLst>
              <a:ext uri="{FF2B5EF4-FFF2-40B4-BE49-F238E27FC236}">
                <a16:creationId xmlns:a16="http://schemas.microsoft.com/office/drawing/2014/main" id="{827D3929-4E2E-4127-B5C2-27A0FF13EA88}"/>
              </a:ext>
            </a:extLst>
          </p:cNvPr>
          <p:cNvSpPr txBox="1"/>
          <p:nvPr/>
        </p:nvSpPr>
        <p:spPr>
          <a:xfrm>
            <a:off x="5234226" y="1036325"/>
            <a:ext cx="1723549"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微软雅黑" panose="020B0503020204020204" pitchFamily="34" charset="-122"/>
                <a:ea typeface="微软雅黑" panose="020B0503020204020204" pitchFamily="34" charset="-122"/>
                <a:cs typeface="Roboto" panose="02000000000000000000" pitchFamily="2" charset="0"/>
              </a:rPr>
              <a:t>帧格式</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9" name="TextBox 21">
            <a:extLst>
              <a:ext uri="{FF2B5EF4-FFF2-40B4-BE49-F238E27FC236}">
                <a16:creationId xmlns:a16="http://schemas.microsoft.com/office/drawing/2014/main" id="{68484FC9-2B83-4118-A6DB-B154A1C35210}"/>
              </a:ext>
            </a:extLst>
          </p:cNvPr>
          <p:cNvSpPr txBox="1"/>
          <p:nvPr/>
        </p:nvSpPr>
        <p:spPr>
          <a:xfrm>
            <a:off x="5711921" y="1738374"/>
            <a:ext cx="76815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Frame</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Tree>
    <p:extLst>
      <p:ext uri="{BB962C8B-B14F-4D97-AF65-F5344CB8AC3E}">
        <p14:creationId xmlns:p14="http://schemas.microsoft.com/office/powerpoint/2010/main" val="66815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4770537"/>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3-1</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Protocol field</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Protocol field is one or two octets, and its value identifies the datagram encapsulated in the Information field of the packet. All Protocols MUST be odd; Also, all Protocols MUST be assigned such that the least significant bit (LSB) of the most significant octet equals "0". Frames received which don't comply with these rules MUST be treated as having an unrecognized Protocol.</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"0***" to "3***" range identify the network-layer protocol of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specific packets</a:t>
            </a:r>
            <a:endParaRPr lang="zh-CN" altLang="zh-CN" sz="1800" kern="100" dirty="0">
              <a:solidFill>
                <a:schemeClr val="accent2">
                  <a:lumMod val="75000"/>
                </a:schemeClr>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"8***" to "b***" range identify packets belonging to the associated Network Control Protocols (NCPs), if any.</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"4***" to "7***" range are used for protocols with low volume traffic which have no associated NCP.</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"c***" to "f***" range identify packets as link-layer Control Protocols (such as LCP).</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966355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236988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3-2</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Information Field</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Information field is zero or more octets. The Information field contains the datagram for the protocol specified in the Protocol field.</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maximum length for the Information field, including Padding, but not including the Protocol field, is termed the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Maximum Receive Unit (MRU),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which defaults to 1500 octets. By negotiation, consenting PPP implementations may use other values for the MRU.</a:t>
            </a:r>
            <a:endPar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0187726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1384995"/>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3-3</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Padding</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On transmission, the Information field MAY be padded with an arbitrary number of octets up to the MRU. It is the responsibility of each protocol to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distinguish padding octets from real information</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70849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533471"/>
            <a:ext cx="8701549" cy="2646878"/>
          </a:xfrm>
          <a:prstGeom prst="rect">
            <a:avLst/>
          </a:prstGeom>
          <a:noFill/>
        </p:spPr>
        <p:txBody>
          <a:bodyPr wrap="square" rtlCol="0">
            <a:spAutoFit/>
          </a:bodyPr>
          <a:lstStyle/>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链路建立阶段：用户向</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请求，认证通过后，建立物理链接；</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阶段：用户向</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路由器发送多个</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分组，封装为多个帧。这些分组和响应用于协商</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PPP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参数；</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阶段：给用户分配临时的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地址，并开始通信；</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通信阶段：</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链路释放阶段：通信完毕后，依次释放网络层链接、释放数据链路层链接、释放物理层链接。</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 name="TextBox 5">
            <a:extLst>
              <a:ext uri="{FF2B5EF4-FFF2-40B4-BE49-F238E27FC236}">
                <a16:creationId xmlns:a16="http://schemas.microsoft.com/office/drawing/2014/main" id="{AB73D1CA-922D-4FAF-8B77-3D9828ED998A}"/>
              </a:ext>
            </a:extLst>
          </p:cNvPr>
          <p:cNvSpPr txBox="1"/>
          <p:nvPr/>
        </p:nvSpPr>
        <p:spPr>
          <a:xfrm>
            <a:off x="4721266" y="1036325"/>
            <a:ext cx="2749472"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微软雅黑" panose="020B0503020204020204" pitchFamily="34" charset="-122"/>
                <a:ea typeface="微软雅黑" panose="020B0503020204020204" pitchFamily="34" charset="-122"/>
                <a:cs typeface="Roboto" panose="02000000000000000000" pitchFamily="2" charset="0"/>
              </a:rPr>
              <a:t>数据报阶段</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4" name="TextBox 21">
            <a:extLst>
              <a:ext uri="{FF2B5EF4-FFF2-40B4-BE49-F238E27FC236}">
                <a16:creationId xmlns:a16="http://schemas.microsoft.com/office/drawing/2014/main" id="{4BA516D9-4F33-468D-A7BB-3FD2E9D34871}"/>
              </a:ext>
            </a:extLst>
          </p:cNvPr>
          <p:cNvSpPr txBox="1"/>
          <p:nvPr/>
        </p:nvSpPr>
        <p:spPr>
          <a:xfrm>
            <a:off x="5172518" y="1738374"/>
            <a:ext cx="184698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Phase datagrams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Tree>
    <p:extLst>
      <p:ext uri="{BB962C8B-B14F-4D97-AF65-F5344CB8AC3E}">
        <p14:creationId xmlns:p14="http://schemas.microsoft.com/office/powerpoint/2010/main" val="40725125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链路建立阶段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1785104"/>
          </a:xfrm>
          <a:prstGeom prst="rect">
            <a:avLst/>
          </a:prstGeom>
          <a:noFill/>
        </p:spPr>
        <p:txBody>
          <a:bodyPr wrap="square" rtlCol="0">
            <a:spAutoFit/>
          </a:bodyPr>
          <a:lstStyle/>
          <a:p>
            <a:pPr algn="just">
              <a:spcBef>
                <a:spcPts val="600"/>
              </a:spcBef>
              <a:spcAft>
                <a:spcPts val="600"/>
              </a:spcAft>
            </a:pP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Link Establishment Phase</a:t>
            </a: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只配置特定的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NCP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，具体的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NCP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配置选项应在网络层协议阶段协商</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only Configuration Options which are independent of particular network-layer protocols are configured by LCP.  Configuration of individual network-layer protocols is handled by separate Network Control Protocols (NCPs) during the Network-Layer Protocol phase.</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3229027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认证阶段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646878"/>
          </a:xfrm>
          <a:prstGeom prst="rect">
            <a:avLst/>
          </a:prstGeom>
          <a:noFill/>
        </p:spPr>
        <p:txBody>
          <a:bodyPr wrap="square" rtlCol="0">
            <a:spAutoFit/>
          </a:bodyPr>
          <a:lstStyle/>
          <a:p>
            <a:pPr algn="just">
              <a:spcBef>
                <a:spcPts val="600"/>
              </a:spcBef>
              <a:spcAft>
                <a:spcPts val="600"/>
              </a:spcAft>
            </a:pP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Authentication Phase</a:t>
            </a: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非必须</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not mandatory</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链路建立后应尽快</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as soon as possible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after link</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 establishment</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认证失败，</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终结</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If…fails, the authenticator SHOULD … to the Link Termination phase</a:t>
            </a: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只允许链路控制协议的包，认证协议的包和链路质量监测的包可以通过，其他包应被丢弃</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Only Link Control Protocol, authentication protocol, and link quality monitoring packets are allowed, … silently discarded</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57925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tile tx="-3409950" ty="0" sx="100000" sy="100000" flip="none" algn="tl"/>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广播信道</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Broadcast channel</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26290576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概述</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954655"/>
          </a:xfrm>
          <a:prstGeom prst="rect">
            <a:avLst/>
          </a:prstGeom>
          <a:noFill/>
        </p:spPr>
        <p:txBody>
          <a:bodyPr wrap="square" rtlCol="0">
            <a:spAutoFit/>
          </a:bodyPr>
          <a:lstStyle/>
          <a:p>
            <a:pPr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典型应用：</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kern="100" dirty="0">
                <a:latin typeface="Roboto" panose="02000000000000000000" pitchFamily="2" charset="0"/>
                <a:ea typeface="微软雅黑 Light" panose="020B0502040204020203" pitchFamily="34" charset="-122"/>
                <a:cs typeface="Times New Roman" panose="02020603050405020304" pitchFamily="18" charset="0"/>
              </a:rPr>
              <a:t>局域网</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LAN-local area network</a:t>
            </a:r>
            <a:endParaRPr lang="zh-CN"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局域网</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链路层</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优点：</a:t>
            </a: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 </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具有广播功能</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broadcast</a:t>
            </a: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资源共享</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sharing-</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资源共享、信道</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介质共享</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便于系统扩展和演变，可灵活调整和改变</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flexibility</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4.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三高：可靠性高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reliability</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、可用性高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availability</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、生存性高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survivability</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223335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局域网网络拓扑</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66254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环型</a:t>
            </a:r>
            <a:r>
              <a:rPr lang="en-US" altLang="zh-CN"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[token ring</a:t>
            </a:r>
            <a:r>
              <a:rPr lang="zh-CN" altLang="en-US"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星星型</a:t>
            </a:r>
            <a:r>
              <a:rPr lang="en-US" altLang="zh-CN"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[hub</a:t>
            </a:r>
            <a:r>
              <a:rPr lang="zh-CN" altLang="en-US"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总线型</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介质共享；</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广播方式发送和接收数据；</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存在碰撞</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collision</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：多个用户同时请求信道</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。使用介质访问控制</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解决冲突：静态划分信道和动态媒体接入控制</a:t>
            </a:r>
          </a:p>
        </p:txBody>
      </p:sp>
    </p:spTree>
    <p:extLst>
      <p:ext uri="{BB962C8B-B14F-4D97-AF65-F5344CB8AC3E}">
        <p14:creationId xmlns:p14="http://schemas.microsoft.com/office/powerpoint/2010/main" val="14060318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局域网标准</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1785104"/>
          </a:xfrm>
          <a:prstGeom prst="rect">
            <a:avLst/>
          </a:prstGeom>
          <a:noFill/>
        </p:spPr>
        <p:txBody>
          <a:bodyPr wrap="square" rtlCol="0">
            <a:spAutoFit/>
          </a:bodyPr>
          <a:lstStyle/>
          <a:p>
            <a:pPr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DIX Ethernet V2 </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IEEE 802.3</a:t>
            </a: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链路层定义为：逻辑链路控制子层</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LLC-logical link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和媒体接入控制子层</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。由于</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LLC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功能不是很必要，很多厂商只在网卡</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NIC-network interface card</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上封装了</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p>
        </p:txBody>
      </p:sp>
      <p:sp>
        <p:nvSpPr>
          <p:cNvPr id="4" name="文本框 3">
            <a:extLst>
              <a:ext uri="{FF2B5EF4-FFF2-40B4-BE49-F238E27FC236}">
                <a16:creationId xmlns:a16="http://schemas.microsoft.com/office/drawing/2014/main" id="{87F13552-60A8-422B-AB83-AD72427928FB}"/>
              </a:ext>
            </a:extLst>
          </p:cNvPr>
          <p:cNvSpPr txBox="1"/>
          <p:nvPr/>
        </p:nvSpPr>
        <p:spPr>
          <a:xfrm>
            <a:off x="695466" y="6221810"/>
            <a:ext cx="3105337" cy="307777"/>
          </a:xfrm>
          <a:prstGeom prst="rect">
            <a:avLst/>
          </a:prstGeom>
          <a:noFill/>
        </p:spPr>
        <p:txBody>
          <a:bodyPr wrap="none" rtlCol="0">
            <a:spAutoFit/>
          </a:bodyPr>
          <a:lstStyle/>
          <a:p>
            <a:pPr>
              <a:spcBef>
                <a:spcPts val="600"/>
              </a:spcBef>
              <a:spcAft>
                <a:spcPts val="600"/>
              </a:spcAft>
            </a:pP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Tips</a:t>
            </a: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IEEE 802.11 WLAN</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无线局域网</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pic>
        <p:nvPicPr>
          <p:cNvPr id="6" name="图形 5" descr="星形 纯色填充">
            <a:extLst>
              <a:ext uri="{FF2B5EF4-FFF2-40B4-BE49-F238E27FC236}">
                <a16:creationId xmlns:a16="http://schemas.microsoft.com/office/drawing/2014/main" id="{DC28114D-6117-4B44-832F-F22A41FBE8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176263" y="1411425"/>
            <a:ext cx="360000" cy="36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688094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局域网适配器</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2800767"/>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早期：网卡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NIC-network interface card</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现在：已经集成化，适配器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adapter</a:t>
            </a: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功能：</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串并转换：适配器和局域网之间的通信是串行通信，而</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适配器和计算机之间的通信是并行通信</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数据缓存：网络的速率和计算机的速率不匹配，必须要缓存。适配器有自己的存储器和缓存器，工作时不占用计算机的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CPU</a:t>
            </a:r>
          </a:p>
        </p:txBody>
      </p:sp>
    </p:spTree>
    <p:extLst>
      <p:ext uri="{BB962C8B-B14F-4D97-AF65-F5344CB8AC3E}">
        <p14:creationId xmlns:p14="http://schemas.microsoft.com/office/powerpoint/2010/main" val="1566736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a:t>
            </a:r>
            <a:r>
              <a:rPr lang="en-US" altLang="zh-CN" dirty="0"/>
              <a:t>MAC</a:t>
            </a:r>
            <a:r>
              <a:rPr lang="zh-CN" altLang="en-US" dirty="0"/>
              <a:t>地址</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816429"/>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物理地址</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，也称硬件地址，固化在适配器的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ROM</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中。</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48</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公司标识符</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company-id</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，注册机构</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RA</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分配</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扩展标识符</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extended-id</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，公司指定</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通信数据：</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单播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unicast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帧：一对一</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广播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broadcast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帧：一对全体</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多播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multicast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帧：一对多</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020181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912213" y="2783513"/>
            <a:ext cx="4652235"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载波监听多点接入</a:t>
            </a:r>
            <a:r>
              <a:rPr lang="en-US" altLang="zh-CN" sz="2800" dirty="0">
                <a:latin typeface="微软雅黑" panose="020B0503020204020204" pitchFamily="34" charset="-122"/>
                <a:ea typeface="微软雅黑" panose="020B0503020204020204" pitchFamily="34" charset="-122"/>
                <a:cs typeface="Montserrat Semi" charset="0"/>
              </a:rPr>
              <a:t>/</a:t>
            </a:r>
            <a:r>
              <a:rPr lang="zh-CN" altLang="en-US" sz="2800" dirty="0">
                <a:latin typeface="微软雅黑" panose="020B0503020204020204" pitchFamily="34" charset="-122"/>
                <a:ea typeface="微软雅黑" panose="020B0503020204020204" pitchFamily="34" charset="-122"/>
                <a:cs typeface="Montserrat Semi" charset="0"/>
              </a:rPr>
              <a:t>冲突检测</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0409"/>
            <a:ext cx="4512354" cy="40383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Carrier sense multiple access with collision detection</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DBD2AA74-016E-4FA9-82D4-1B461B24EAA8}"/>
              </a:ext>
            </a:extLst>
          </p:cNvPr>
          <p:cNvSpPr txBox="1"/>
          <p:nvPr/>
        </p:nvSpPr>
        <p:spPr>
          <a:xfrm>
            <a:off x="2616204" y="1879184"/>
            <a:ext cx="2948243"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CSMA/CD</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4026914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概括</a:t>
            </a:r>
          </a:p>
        </p:txBody>
      </p:sp>
      <p:sp>
        <p:nvSpPr>
          <p:cNvPr id="4" name="矩形: 圆角 3">
            <a:extLst>
              <a:ext uri="{FF2B5EF4-FFF2-40B4-BE49-F238E27FC236}">
                <a16:creationId xmlns:a16="http://schemas.microsoft.com/office/drawing/2014/main" id="{D3CFCD29-6B18-4A4E-844F-D5A452BB4CC3}"/>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5" name="矩形: 圆角 4">
            <a:extLst>
              <a:ext uri="{FF2B5EF4-FFF2-40B4-BE49-F238E27FC236}">
                <a16:creationId xmlns:a16="http://schemas.microsoft.com/office/drawing/2014/main" id="{54805255-3F94-406A-8320-C7D33271072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6" name="矩形: 圆角 5">
            <a:extLst>
              <a:ext uri="{FF2B5EF4-FFF2-40B4-BE49-F238E27FC236}">
                <a16:creationId xmlns:a16="http://schemas.microsoft.com/office/drawing/2014/main" id="{200CE958-ABC7-4B60-845D-A7C0C4B7666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7" name="矩形: 圆角 6">
            <a:extLst>
              <a:ext uri="{FF2B5EF4-FFF2-40B4-BE49-F238E27FC236}">
                <a16:creationId xmlns:a16="http://schemas.microsoft.com/office/drawing/2014/main" id="{DE49D910-9640-4253-9A35-0ED502A8AF88}"/>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Tree>
    <p:extLst>
      <p:ext uri="{BB962C8B-B14F-4D97-AF65-F5344CB8AC3E}">
        <p14:creationId xmlns:p14="http://schemas.microsoft.com/office/powerpoint/2010/main" val="17412099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思路</a:t>
            </a:r>
          </a:p>
        </p:txBody>
      </p:sp>
      <p:sp>
        <p:nvSpPr>
          <p:cNvPr id="9" name="矩形: 圆角 8">
            <a:extLst>
              <a:ext uri="{FF2B5EF4-FFF2-40B4-BE49-F238E27FC236}">
                <a16:creationId xmlns:a16="http://schemas.microsoft.com/office/drawing/2014/main" id="{BF806CA3-970B-42D5-BE6D-CFC305C6AC27}"/>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10" name="矩形: 圆角 9">
            <a:extLst>
              <a:ext uri="{FF2B5EF4-FFF2-40B4-BE49-F238E27FC236}">
                <a16:creationId xmlns:a16="http://schemas.microsoft.com/office/drawing/2014/main" id="{FA02714E-3BF6-42EE-A43D-5AB58E617F0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11" name="矩形: 圆角 10">
            <a:extLst>
              <a:ext uri="{FF2B5EF4-FFF2-40B4-BE49-F238E27FC236}">
                <a16:creationId xmlns:a16="http://schemas.microsoft.com/office/drawing/2014/main" id="{2A187872-3A1A-431B-880E-FA92403D664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12" name="矩形: 圆角 11">
            <a:extLst>
              <a:ext uri="{FF2B5EF4-FFF2-40B4-BE49-F238E27FC236}">
                <a16:creationId xmlns:a16="http://schemas.microsoft.com/office/drawing/2014/main" id="{0E2BFE1A-A8F8-4A5D-AD5A-3B6461FA03D9}"/>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
        <p:nvSpPr>
          <p:cNvPr id="3" name="文本框 2">
            <a:extLst>
              <a:ext uri="{FF2B5EF4-FFF2-40B4-BE49-F238E27FC236}">
                <a16:creationId xmlns:a16="http://schemas.microsoft.com/office/drawing/2014/main" id="{E0C22655-1128-4123-B1CD-639E1670DD49}"/>
              </a:ext>
            </a:extLst>
          </p:cNvPr>
          <p:cNvSpPr txBox="1"/>
          <p:nvPr/>
        </p:nvSpPr>
        <p:spPr>
          <a:xfrm>
            <a:off x="2240474" y="2447925"/>
            <a:ext cx="1338828"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发的是啥？</a:t>
            </a:r>
          </a:p>
        </p:txBody>
      </p:sp>
      <p:sp>
        <p:nvSpPr>
          <p:cNvPr id="13" name="文本框 12">
            <a:extLst>
              <a:ext uri="{FF2B5EF4-FFF2-40B4-BE49-F238E27FC236}">
                <a16:creationId xmlns:a16="http://schemas.microsoft.com/office/drawing/2014/main" id="{3067CB60-C79A-470D-B69A-4159F00746AC}"/>
              </a:ext>
            </a:extLst>
          </p:cNvPr>
          <p:cNvSpPr txBox="1"/>
          <p:nvPr/>
        </p:nvSpPr>
        <p:spPr>
          <a:xfrm>
            <a:off x="4479966" y="2447925"/>
            <a:ext cx="1107996"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如何听？</a:t>
            </a:r>
          </a:p>
        </p:txBody>
      </p:sp>
      <p:sp>
        <p:nvSpPr>
          <p:cNvPr id="14" name="文本框 13">
            <a:extLst>
              <a:ext uri="{FF2B5EF4-FFF2-40B4-BE49-F238E27FC236}">
                <a16:creationId xmlns:a16="http://schemas.microsoft.com/office/drawing/2014/main" id="{2D96496B-ECA4-430A-A8F6-382EC91EB69D}"/>
              </a:ext>
            </a:extLst>
          </p:cNvPr>
          <p:cNvSpPr txBox="1"/>
          <p:nvPr/>
        </p:nvSpPr>
        <p:spPr>
          <a:xfrm>
            <a:off x="6014136" y="2447925"/>
            <a:ext cx="2287807"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如何判断冲突存在？</a:t>
            </a:r>
          </a:p>
        </p:txBody>
      </p:sp>
    </p:spTree>
    <p:extLst>
      <p:ext uri="{BB962C8B-B14F-4D97-AF65-F5344CB8AC3E}">
        <p14:creationId xmlns:p14="http://schemas.microsoft.com/office/powerpoint/2010/main" val="31302605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编码</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5312673" cy="307777"/>
          </a:xfrm>
          <a:prstGeom prst="rect">
            <a:avLst/>
          </a:prstGeom>
          <a:noFill/>
        </p:spPr>
        <p:txBody>
          <a:bodyPr wrap="none" rtlCol="0">
            <a:spAutoFit/>
          </a:bodyPr>
          <a:lstStyle/>
          <a:p>
            <a:pPr>
              <a:spcBef>
                <a:spcPts val="600"/>
              </a:spcBef>
              <a:spcAft>
                <a:spcPts val="600"/>
              </a:spcAft>
            </a:pP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曼彻斯特编码</a:t>
            </a: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Manchester coding</a:t>
            </a: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：每个码元分为两个相等的间隔</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209288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模拟信号→抽样、量化、编码→数字信号</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比特流</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曼彻斯特编码：</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位周期中心</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向上跳变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0</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向下跳变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差分曼彻斯特编码：</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800" b="1" kern="100" dirty="0">
                <a:effectLst/>
                <a:latin typeface="Roboto" panose="02000000000000000000" pitchFamily="2" charset="0"/>
                <a:ea typeface="微软雅黑 Light" panose="020B0502040204020203" pitchFamily="34" charset="-122"/>
                <a:cs typeface="Times New Roman" panose="02020603050405020304" pitchFamily="18" charset="0"/>
              </a:rPr>
              <a:t>开始边界有跳变</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位</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开始边界没有跳变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282DF12A-5312-455C-A90F-A1EC6F1D71C1}"/>
              </a:ext>
            </a:extLst>
          </p:cNvPr>
          <p:cNvSpPr txBox="1"/>
          <p:nvPr/>
        </p:nvSpPr>
        <p:spPr>
          <a:xfrm>
            <a:off x="3265319" y="4161067"/>
            <a:ext cx="723275"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比特流</a:t>
            </a:r>
          </a:p>
        </p:txBody>
      </p:sp>
      <p:sp>
        <p:nvSpPr>
          <p:cNvPr id="16" name="文本框 15">
            <a:extLst>
              <a:ext uri="{FF2B5EF4-FFF2-40B4-BE49-F238E27FC236}">
                <a16:creationId xmlns:a16="http://schemas.microsoft.com/office/drawing/2014/main" id="{50F19E92-4E02-41BF-8454-0CFF44B8DDDD}"/>
              </a:ext>
            </a:extLst>
          </p:cNvPr>
          <p:cNvSpPr txBox="1"/>
          <p:nvPr/>
        </p:nvSpPr>
        <p:spPr>
          <a:xfrm>
            <a:off x="2726710" y="4641238"/>
            <a:ext cx="1261884"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曼彻斯特编码</a:t>
            </a:r>
          </a:p>
        </p:txBody>
      </p:sp>
      <p:sp>
        <p:nvSpPr>
          <p:cNvPr id="17" name="文本框 16">
            <a:extLst>
              <a:ext uri="{FF2B5EF4-FFF2-40B4-BE49-F238E27FC236}">
                <a16:creationId xmlns:a16="http://schemas.microsoft.com/office/drawing/2014/main" id="{AF94635C-64AD-4DD3-9CCF-CECF7F95FAB3}"/>
              </a:ext>
            </a:extLst>
          </p:cNvPr>
          <p:cNvSpPr txBox="1"/>
          <p:nvPr/>
        </p:nvSpPr>
        <p:spPr>
          <a:xfrm>
            <a:off x="2367637" y="5121409"/>
            <a:ext cx="1620957"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差分曼彻斯特编码</a:t>
            </a:r>
          </a:p>
        </p:txBody>
      </p:sp>
      <p:cxnSp>
        <p:nvCxnSpPr>
          <p:cNvPr id="6" name="连接符: 肘形 5">
            <a:extLst>
              <a:ext uri="{FF2B5EF4-FFF2-40B4-BE49-F238E27FC236}">
                <a16:creationId xmlns:a16="http://schemas.microsoft.com/office/drawing/2014/main" id="{3D12BCBA-CEAE-4951-A4F0-55F019779088}"/>
              </a:ext>
            </a:extLst>
          </p:cNvPr>
          <p:cNvCxnSpPr>
            <a:cxnSpLocks/>
          </p:cNvCxnSpPr>
          <p:nvPr/>
        </p:nvCxnSpPr>
        <p:spPr>
          <a:xfrm>
            <a:off x="418556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8" name="连接符: 肘形 17">
            <a:extLst>
              <a:ext uri="{FF2B5EF4-FFF2-40B4-BE49-F238E27FC236}">
                <a16:creationId xmlns:a16="http://schemas.microsoft.com/office/drawing/2014/main" id="{8AFD53B7-7E0A-4C4D-8062-51D3596247E0}"/>
              </a:ext>
            </a:extLst>
          </p:cNvPr>
          <p:cNvCxnSpPr>
            <a:cxnSpLocks/>
          </p:cNvCxnSpPr>
          <p:nvPr/>
        </p:nvCxnSpPr>
        <p:spPr>
          <a:xfrm>
            <a:off x="474754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9" name="连接符: 肘形 18">
            <a:extLst>
              <a:ext uri="{FF2B5EF4-FFF2-40B4-BE49-F238E27FC236}">
                <a16:creationId xmlns:a16="http://schemas.microsoft.com/office/drawing/2014/main" id="{07D0297B-8FB2-4390-8397-9EDF139CE99F}"/>
              </a:ext>
            </a:extLst>
          </p:cNvPr>
          <p:cNvCxnSpPr>
            <a:cxnSpLocks/>
          </p:cNvCxnSpPr>
          <p:nvPr/>
        </p:nvCxnSpPr>
        <p:spPr>
          <a:xfrm>
            <a:off x="530951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0" name="连接符: 肘形 19">
            <a:extLst>
              <a:ext uri="{FF2B5EF4-FFF2-40B4-BE49-F238E27FC236}">
                <a16:creationId xmlns:a16="http://schemas.microsoft.com/office/drawing/2014/main" id="{876E6688-5827-42A0-8CFB-92A31BAABBF2}"/>
              </a:ext>
            </a:extLst>
          </p:cNvPr>
          <p:cNvCxnSpPr>
            <a:cxnSpLocks/>
          </p:cNvCxnSpPr>
          <p:nvPr/>
        </p:nvCxnSpPr>
        <p:spPr>
          <a:xfrm>
            <a:off x="587149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8" name="连接符: 肘形 7">
            <a:extLst>
              <a:ext uri="{FF2B5EF4-FFF2-40B4-BE49-F238E27FC236}">
                <a16:creationId xmlns:a16="http://schemas.microsoft.com/office/drawing/2014/main" id="{E2558CB1-6F1F-4E98-A74D-4707748DC12B}"/>
              </a:ext>
            </a:extLst>
          </p:cNvPr>
          <p:cNvCxnSpPr>
            <a:cxnSpLocks/>
          </p:cNvCxnSpPr>
          <p:nvPr/>
        </p:nvCxnSpPr>
        <p:spPr>
          <a:xfrm rot="10800000" flipV="1">
            <a:off x="6433470"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2" name="连接符: 肘形 21">
            <a:extLst>
              <a:ext uri="{FF2B5EF4-FFF2-40B4-BE49-F238E27FC236}">
                <a16:creationId xmlns:a16="http://schemas.microsoft.com/office/drawing/2014/main" id="{1D342543-E004-45BA-B421-FC3E3BBD5A7B}"/>
              </a:ext>
            </a:extLst>
          </p:cNvPr>
          <p:cNvCxnSpPr>
            <a:cxnSpLocks/>
          </p:cNvCxnSpPr>
          <p:nvPr/>
        </p:nvCxnSpPr>
        <p:spPr>
          <a:xfrm rot="10800000" flipV="1">
            <a:off x="6995444"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3" name="连接符: 肘形 22">
            <a:extLst>
              <a:ext uri="{FF2B5EF4-FFF2-40B4-BE49-F238E27FC236}">
                <a16:creationId xmlns:a16="http://schemas.microsoft.com/office/drawing/2014/main" id="{ADAF3E8C-89E1-483F-BCC1-570283D6660F}"/>
              </a:ext>
            </a:extLst>
          </p:cNvPr>
          <p:cNvCxnSpPr>
            <a:cxnSpLocks/>
          </p:cNvCxnSpPr>
          <p:nvPr/>
        </p:nvCxnSpPr>
        <p:spPr>
          <a:xfrm rot="10800000" flipV="1">
            <a:off x="7557418"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4" name="连接符: 肘形 23">
            <a:extLst>
              <a:ext uri="{FF2B5EF4-FFF2-40B4-BE49-F238E27FC236}">
                <a16:creationId xmlns:a16="http://schemas.microsoft.com/office/drawing/2014/main" id="{76DCE39F-64F5-4611-B1E2-08D83D27619F}"/>
              </a:ext>
            </a:extLst>
          </p:cNvPr>
          <p:cNvCxnSpPr>
            <a:cxnSpLocks/>
          </p:cNvCxnSpPr>
          <p:nvPr/>
        </p:nvCxnSpPr>
        <p:spPr>
          <a:xfrm>
            <a:off x="8124153"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5" name="连接符: 肘形 24">
            <a:extLst>
              <a:ext uri="{FF2B5EF4-FFF2-40B4-BE49-F238E27FC236}">
                <a16:creationId xmlns:a16="http://schemas.microsoft.com/office/drawing/2014/main" id="{45CCF65E-C027-403D-A08C-18F3E3E4E351}"/>
              </a:ext>
            </a:extLst>
          </p:cNvPr>
          <p:cNvCxnSpPr>
            <a:cxnSpLocks/>
          </p:cNvCxnSpPr>
          <p:nvPr/>
        </p:nvCxnSpPr>
        <p:spPr>
          <a:xfrm rot="10800000" flipV="1">
            <a:off x="8690891"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6" name="连接符: 肘形 25">
            <a:extLst>
              <a:ext uri="{FF2B5EF4-FFF2-40B4-BE49-F238E27FC236}">
                <a16:creationId xmlns:a16="http://schemas.microsoft.com/office/drawing/2014/main" id="{C4482171-50FC-4885-AA30-83CD91AE6B00}"/>
              </a:ext>
            </a:extLst>
          </p:cNvPr>
          <p:cNvCxnSpPr>
            <a:cxnSpLocks/>
          </p:cNvCxnSpPr>
          <p:nvPr/>
        </p:nvCxnSpPr>
        <p:spPr>
          <a:xfrm>
            <a:off x="9262388"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7" name="连接符: 肘形 26">
            <a:extLst>
              <a:ext uri="{FF2B5EF4-FFF2-40B4-BE49-F238E27FC236}">
                <a16:creationId xmlns:a16="http://schemas.microsoft.com/office/drawing/2014/main" id="{7B089D97-C328-472F-8A78-254ECA31132C}"/>
              </a:ext>
            </a:extLst>
          </p:cNvPr>
          <p:cNvCxnSpPr>
            <a:cxnSpLocks/>
          </p:cNvCxnSpPr>
          <p:nvPr/>
        </p:nvCxnSpPr>
        <p:spPr>
          <a:xfrm>
            <a:off x="418556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8" name="连接符: 肘形 27">
            <a:extLst>
              <a:ext uri="{FF2B5EF4-FFF2-40B4-BE49-F238E27FC236}">
                <a16:creationId xmlns:a16="http://schemas.microsoft.com/office/drawing/2014/main" id="{11BEDDF5-657B-4D0D-AD74-1F41383EF519}"/>
              </a:ext>
            </a:extLst>
          </p:cNvPr>
          <p:cNvCxnSpPr>
            <a:cxnSpLocks/>
          </p:cNvCxnSpPr>
          <p:nvPr/>
        </p:nvCxnSpPr>
        <p:spPr>
          <a:xfrm rot="10800000" flipV="1">
            <a:off x="474754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9" name="连接符: 肘形 28">
            <a:extLst>
              <a:ext uri="{FF2B5EF4-FFF2-40B4-BE49-F238E27FC236}">
                <a16:creationId xmlns:a16="http://schemas.microsoft.com/office/drawing/2014/main" id="{5CFF798C-644D-4F5A-9AB9-85D711CD5AB7}"/>
              </a:ext>
            </a:extLst>
          </p:cNvPr>
          <p:cNvCxnSpPr>
            <a:cxnSpLocks/>
          </p:cNvCxnSpPr>
          <p:nvPr/>
        </p:nvCxnSpPr>
        <p:spPr>
          <a:xfrm rot="10800000" flipV="1">
            <a:off x="5309520"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0" name="连接符: 肘形 29">
            <a:extLst>
              <a:ext uri="{FF2B5EF4-FFF2-40B4-BE49-F238E27FC236}">
                <a16:creationId xmlns:a16="http://schemas.microsoft.com/office/drawing/2014/main" id="{05ED2750-9DAD-4720-8B29-AD93C4315E43}"/>
              </a:ext>
            </a:extLst>
          </p:cNvPr>
          <p:cNvCxnSpPr>
            <a:cxnSpLocks/>
          </p:cNvCxnSpPr>
          <p:nvPr/>
        </p:nvCxnSpPr>
        <p:spPr>
          <a:xfrm rot="10800000" flipV="1">
            <a:off x="5871494"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1" name="连接符: 肘形 30">
            <a:extLst>
              <a:ext uri="{FF2B5EF4-FFF2-40B4-BE49-F238E27FC236}">
                <a16:creationId xmlns:a16="http://schemas.microsoft.com/office/drawing/2014/main" id="{09BAA427-9E7C-40ED-BF7D-62C7F1C745F0}"/>
              </a:ext>
            </a:extLst>
          </p:cNvPr>
          <p:cNvCxnSpPr>
            <a:cxnSpLocks/>
          </p:cNvCxnSpPr>
          <p:nvPr/>
        </p:nvCxnSpPr>
        <p:spPr>
          <a:xfrm>
            <a:off x="6446103"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2" name="连接符: 肘形 31">
            <a:extLst>
              <a:ext uri="{FF2B5EF4-FFF2-40B4-BE49-F238E27FC236}">
                <a16:creationId xmlns:a16="http://schemas.microsoft.com/office/drawing/2014/main" id="{1B33111E-38BD-404B-92B9-CC14F3818945}"/>
              </a:ext>
            </a:extLst>
          </p:cNvPr>
          <p:cNvCxnSpPr>
            <a:cxnSpLocks/>
          </p:cNvCxnSpPr>
          <p:nvPr/>
        </p:nvCxnSpPr>
        <p:spPr>
          <a:xfrm rot="10800000" flipV="1">
            <a:off x="6973031"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3" name="连接符: 肘形 32">
            <a:extLst>
              <a:ext uri="{FF2B5EF4-FFF2-40B4-BE49-F238E27FC236}">
                <a16:creationId xmlns:a16="http://schemas.microsoft.com/office/drawing/2014/main" id="{8928F4B4-B3BD-4504-A041-345B2B8117BC}"/>
              </a:ext>
            </a:extLst>
          </p:cNvPr>
          <p:cNvCxnSpPr>
            <a:cxnSpLocks/>
          </p:cNvCxnSpPr>
          <p:nvPr/>
        </p:nvCxnSpPr>
        <p:spPr>
          <a:xfrm rot="10800000" flipV="1">
            <a:off x="755405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4" name="连接符: 肘形 33">
            <a:extLst>
              <a:ext uri="{FF2B5EF4-FFF2-40B4-BE49-F238E27FC236}">
                <a16:creationId xmlns:a16="http://schemas.microsoft.com/office/drawing/2014/main" id="{D80C53B5-9A4A-4B58-8638-0753622F321E}"/>
              </a:ext>
            </a:extLst>
          </p:cNvPr>
          <p:cNvCxnSpPr>
            <a:cxnSpLocks/>
          </p:cNvCxnSpPr>
          <p:nvPr/>
        </p:nvCxnSpPr>
        <p:spPr>
          <a:xfrm>
            <a:off x="811602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5" name="连接符: 肘形 34">
            <a:extLst>
              <a:ext uri="{FF2B5EF4-FFF2-40B4-BE49-F238E27FC236}">
                <a16:creationId xmlns:a16="http://schemas.microsoft.com/office/drawing/2014/main" id="{8F057958-73DE-450A-B3FE-5FD166ED3D8F}"/>
              </a:ext>
            </a:extLst>
          </p:cNvPr>
          <p:cNvCxnSpPr>
            <a:cxnSpLocks/>
          </p:cNvCxnSpPr>
          <p:nvPr/>
        </p:nvCxnSpPr>
        <p:spPr>
          <a:xfrm>
            <a:off x="8688924"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6" name="连接符: 肘形 35">
            <a:extLst>
              <a:ext uri="{FF2B5EF4-FFF2-40B4-BE49-F238E27FC236}">
                <a16:creationId xmlns:a16="http://schemas.microsoft.com/office/drawing/2014/main" id="{9282200F-F3EC-4AD3-AA4D-12A38FB4F28F}"/>
              </a:ext>
            </a:extLst>
          </p:cNvPr>
          <p:cNvCxnSpPr>
            <a:cxnSpLocks/>
          </p:cNvCxnSpPr>
          <p:nvPr/>
        </p:nvCxnSpPr>
        <p:spPr>
          <a:xfrm>
            <a:off x="9261820"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8" name="直接连接符 37">
            <a:extLst>
              <a:ext uri="{FF2B5EF4-FFF2-40B4-BE49-F238E27FC236}">
                <a16:creationId xmlns:a16="http://schemas.microsoft.com/office/drawing/2014/main" id="{3C359B3F-1958-420F-BDE2-6C8C89B0B405}"/>
              </a:ext>
            </a:extLst>
          </p:cNvPr>
          <p:cNvCxnSpPr>
            <a:cxnSpLocks/>
          </p:cNvCxnSpPr>
          <p:nvPr/>
        </p:nvCxnSpPr>
        <p:spPr>
          <a:xfrm>
            <a:off x="4185568"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EE46613A-12ED-4662-80F8-9832729ECC61}"/>
              </a:ext>
            </a:extLst>
          </p:cNvPr>
          <p:cNvCxnSpPr>
            <a:cxnSpLocks/>
          </p:cNvCxnSpPr>
          <p:nvPr/>
        </p:nvCxnSpPr>
        <p:spPr>
          <a:xfrm>
            <a:off x="474754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8CA036F9-95D9-470D-8CC3-EB8CC8CB5576}"/>
              </a:ext>
            </a:extLst>
          </p:cNvPr>
          <p:cNvCxnSpPr>
            <a:cxnSpLocks/>
          </p:cNvCxnSpPr>
          <p:nvPr/>
        </p:nvCxnSpPr>
        <p:spPr>
          <a:xfrm>
            <a:off x="530951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C3A92D80-DEF2-4394-BAB7-A4B82FBB318E}"/>
              </a:ext>
            </a:extLst>
          </p:cNvPr>
          <p:cNvCxnSpPr>
            <a:cxnSpLocks/>
          </p:cNvCxnSpPr>
          <p:nvPr/>
        </p:nvCxnSpPr>
        <p:spPr>
          <a:xfrm>
            <a:off x="587149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F3A9845-4434-4E22-B1E1-3E99F55F4C99}"/>
              </a:ext>
            </a:extLst>
          </p:cNvPr>
          <p:cNvCxnSpPr>
            <a:cxnSpLocks/>
          </p:cNvCxnSpPr>
          <p:nvPr/>
        </p:nvCxnSpPr>
        <p:spPr>
          <a:xfrm>
            <a:off x="6414417"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4CE767F9-E781-4AEF-A5EF-C5E4754BE96A}"/>
              </a:ext>
            </a:extLst>
          </p:cNvPr>
          <p:cNvCxnSpPr>
            <a:cxnSpLocks/>
          </p:cNvCxnSpPr>
          <p:nvPr/>
        </p:nvCxnSpPr>
        <p:spPr>
          <a:xfrm>
            <a:off x="6973030"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42B8C0D3-91F5-460E-8542-55462721CEE9}"/>
              </a:ext>
            </a:extLst>
          </p:cNvPr>
          <p:cNvCxnSpPr>
            <a:cxnSpLocks/>
          </p:cNvCxnSpPr>
          <p:nvPr/>
        </p:nvCxnSpPr>
        <p:spPr>
          <a:xfrm>
            <a:off x="753500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90BD1243-3C1D-4AF1-B87E-5A84D976C87C}"/>
              </a:ext>
            </a:extLst>
          </p:cNvPr>
          <p:cNvCxnSpPr>
            <a:cxnSpLocks/>
          </p:cNvCxnSpPr>
          <p:nvPr/>
        </p:nvCxnSpPr>
        <p:spPr>
          <a:xfrm>
            <a:off x="8112664"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CC22F888-510D-48B8-AB2D-787E42E4EBD7}"/>
              </a:ext>
            </a:extLst>
          </p:cNvPr>
          <p:cNvCxnSpPr>
            <a:cxnSpLocks/>
          </p:cNvCxnSpPr>
          <p:nvPr/>
        </p:nvCxnSpPr>
        <p:spPr>
          <a:xfrm>
            <a:off x="867800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039E599-075D-4631-AE83-097D0683EC20}"/>
              </a:ext>
            </a:extLst>
          </p:cNvPr>
          <p:cNvCxnSpPr>
            <a:cxnSpLocks/>
          </p:cNvCxnSpPr>
          <p:nvPr/>
        </p:nvCxnSpPr>
        <p:spPr>
          <a:xfrm>
            <a:off x="925089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D58E1462-829F-499D-8685-CAE27D9D64B8}"/>
              </a:ext>
            </a:extLst>
          </p:cNvPr>
          <p:cNvCxnSpPr>
            <a:cxnSpLocks/>
          </p:cNvCxnSpPr>
          <p:nvPr/>
        </p:nvCxnSpPr>
        <p:spPr>
          <a:xfrm>
            <a:off x="982379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F77A135E-60BE-4F42-A42A-63B272929E88}"/>
              </a:ext>
            </a:extLst>
          </p:cNvPr>
          <p:cNvSpPr txBox="1"/>
          <p:nvPr/>
        </p:nvSpPr>
        <p:spPr>
          <a:xfrm>
            <a:off x="4315713" y="4106451"/>
            <a:ext cx="301686"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1" name="文本框 50">
            <a:extLst>
              <a:ext uri="{FF2B5EF4-FFF2-40B4-BE49-F238E27FC236}">
                <a16:creationId xmlns:a16="http://schemas.microsoft.com/office/drawing/2014/main" id="{A5FFFAF3-84CE-4103-802C-1B58FC7E8CC7}"/>
              </a:ext>
            </a:extLst>
          </p:cNvPr>
          <p:cNvSpPr txBox="1"/>
          <p:nvPr/>
        </p:nvSpPr>
        <p:spPr>
          <a:xfrm>
            <a:off x="4853486"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2" name="文本框 51">
            <a:extLst>
              <a:ext uri="{FF2B5EF4-FFF2-40B4-BE49-F238E27FC236}">
                <a16:creationId xmlns:a16="http://schemas.microsoft.com/office/drawing/2014/main" id="{4C528077-5C34-407F-8770-51BB6CBABDAE}"/>
              </a:ext>
            </a:extLst>
          </p:cNvPr>
          <p:cNvSpPr txBox="1"/>
          <p:nvPr/>
        </p:nvSpPr>
        <p:spPr>
          <a:xfrm>
            <a:off x="5429731"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3" name="文本框 52">
            <a:extLst>
              <a:ext uri="{FF2B5EF4-FFF2-40B4-BE49-F238E27FC236}">
                <a16:creationId xmlns:a16="http://schemas.microsoft.com/office/drawing/2014/main" id="{E61B62C0-57A2-48F8-91CE-16C8DBF865D8}"/>
              </a:ext>
            </a:extLst>
          </p:cNvPr>
          <p:cNvSpPr txBox="1"/>
          <p:nvPr/>
        </p:nvSpPr>
        <p:spPr>
          <a:xfrm>
            <a:off x="6005976"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4" name="文本框 53">
            <a:extLst>
              <a:ext uri="{FF2B5EF4-FFF2-40B4-BE49-F238E27FC236}">
                <a16:creationId xmlns:a16="http://schemas.microsoft.com/office/drawing/2014/main" id="{FF386A10-7B19-4AC2-8446-B6559E066907}"/>
              </a:ext>
            </a:extLst>
          </p:cNvPr>
          <p:cNvSpPr txBox="1"/>
          <p:nvPr/>
        </p:nvSpPr>
        <p:spPr>
          <a:xfrm>
            <a:off x="6543749" y="4106451"/>
            <a:ext cx="301686"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5" name="文本框 54">
            <a:extLst>
              <a:ext uri="{FF2B5EF4-FFF2-40B4-BE49-F238E27FC236}">
                <a16:creationId xmlns:a16="http://schemas.microsoft.com/office/drawing/2014/main" id="{8D25B9BB-8291-458A-8C0E-7EBD5E6F4179}"/>
              </a:ext>
            </a:extLst>
          </p:cNvPr>
          <p:cNvSpPr txBox="1"/>
          <p:nvPr/>
        </p:nvSpPr>
        <p:spPr>
          <a:xfrm>
            <a:off x="7081522"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0A812CFD-8429-4C60-A8DC-48DC2C2EBDFB}"/>
              </a:ext>
            </a:extLst>
          </p:cNvPr>
          <p:cNvSpPr txBox="1"/>
          <p:nvPr/>
        </p:nvSpPr>
        <p:spPr>
          <a:xfrm>
            <a:off x="764654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118D7AE7-9189-44CF-A1D6-427CB3DD1CD8}"/>
              </a:ext>
            </a:extLst>
          </p:cNvPr>
          <p:cNvSpPr txBox="1"/>
          <p:nvPr/>
        </p:nvSpPr>
        <p:spPr>
          <a:xfrm>
            <a:off x="8222791"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B080405D-A755-4EAA-A721-29D5820BD464}"/>
              </a:ext>
            </a:extLst>
          </p:cNvPr>
          <p:cNvSpPr txBox="1"/>
          <p:nvPr/>
        </p:nvSpPr>
        <p:spPr>
          <a:xfrm>
            <a:off x="879903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0BA0268-16A3-4E1F-BCCD-E1D8DE34F330}"/>
              </a:ext>
            </a:extLst>
          </p:cNvPr>
          <p:cNvSpPr txBox="1"/>
          <p:nvPr/>
        </p:nvSpPr>
        <p:spPr>
          <a:xfrm>
            <a:off x="9375283" y="4106451"/>
            <a:ext cx="324128" cy="369332"/>
          </a:xfrm>
          <a:prstGeom prst="rect">
            <a:avLst/>
          </a:prstGeom>
          <a:noFill/>
        </p:spPr>
        <p:txBody>
          <a:bodyPr wrap="square" rtlCol="0">
            <a:spAutoFit/>
          </a:bodyPr>
          <a:lstStyle/>
          <a:p>
            <a:pPr algn="ctr">
              <a:spcBef>
                <a:spcPts val="600"/>
              </a:spcBef>
              <a:spcAft>
                <a:spcPts val="600"/>
              </a:spcAft>
            </a:pPr>
            <a:r>
              <a:rPr lang="en-US" altLang="zh-CN" b="1" kern="100" dirty="0">
                <a:solidFill>
                  <a:schemeClr val="accent2">
                    <a:lumMod val="75000"/>
                  </a:schemeClr>
                </a:solidFill>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52394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载波监听</a:t>
            </a: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923330"/>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发送数据时，为了避免冲突，必须要监听总线上的电压变化。如果达到一定阈值的时，就可以判断有站在发生数据，应向总线上发一串阻塞信号，用以通知总线上通信的对方站点（强化阻塞），同时停止发送数据，等待信道空闲时再次发送。</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3" name="文本框 2">
            <a:extLst>
              <a:ext uri="{FF2B5EF4-FFF2-40B4-BE49-F238E27FC236}">
                <a16:creationId xmlns:a16="http://schemas.microsoft.com/office/drawing/2014/main" id="{F31EBE7E-188E-439A-8FB7-F4E62FDD02D2}"/>
              </a:ext>
            </a:extLst>
          </p:cNvPr>
          <p:cNvSpPr txBox="1"/>
          <p:nvPr/>
        </p:nvSpPr>
        <p:spPr>
          <a:xfrm>
            <a:off x="3464510" y="3244334"/>
            <a:ext cx="5262979" cy="369332"/>
          </a:xfrm>
          <a:prstGeom prst="rect">
            <a:avLst/>
          </a:prstGeom>
          <a:noFill/>
        </p:spPr>
        <p:txBody>
          <a:bodyPr wrap="none" rtlCol="0">
            <a:spAutoFit/>
          </a:bodyPr>
          <a:lstStyle/>
          <a:p>
            <a:pPr algn="l">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如果没有检测到电压变化，为什么还会发生碰撞？</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pic>
        <p:nvPicPr>
          <p:cNvPr id="5" name="图形 4" descr="问号 纯色填充">
            <a:extLst>
              <a:ext uri="{FF2B5EF4-FFF2-40B4-BE49-F238E27FC236}">
                <a16:creationId xmlns:a16="http://schemas.microsoft.com/office/drawing/2014/main" id="{6D0A2097-5F08-4245-8F67-2997150849C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70289" y="2971800"/>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25249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传播时延</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a:t>
            </a:r>
            <a:endParaRPr lang="zh-CN" altLang="en-US" baseline="-25000" dirty="0"/>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1508105"/>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电磁波的传播速度有限，数据发送到对端总是需要时间时间。</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电磁波在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1Km</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的电缆中传播的时延是</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 </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=5</a:t>
            </a:r>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µs</a:t>
            </a: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两倍端到端时延</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为争用</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期或者碰撞窗口：只要这段时间没有检测到碰撞，那么碰撞就一定不会发生</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471446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链路层的寻址</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Data Link Layer addressing</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2152506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A740DC2-F4FB-4434-A06F-76400CBCDF5E}"/>
              </a:ext>
            </a:extLst>
          </p:cNvPr>
          <p:cNvSpPr>
            <a:spLocks noGrp="1"/>
          </p:cNvSpPr>
          <p:nvPr>
            <p:ph type="body" sz="quarter" idx="13"/>
          </p:nvPr>
        </p:nvSpPr>
        <p:spPr/>
        <p:txBody>
          <a:bodyPr/>
          <a:lstStyle/>
          <a:p>
            <a:r>
              <a:rPr lang="en-US" altLang="zh-CN" dirty="0"/>
              <a:t>MAC</a:t>
            </a:r>
            <a:r>
              <a:rPr lang="zh-CN" altLang="en-US" dirty="0"/>
              <a:t>地址的作用</a:t>
            </a:r>
          </a:p>
        </p:txBody>
      </p:sp>
      <p:sp>
        <p:nvSpPr>
          <p:cNvPr id="3" name="文本占位符 2">
            <a:extLst>
              <a:ext uri="{FF2B5EF4-FFF2-40B4-BE49-F238E27FC236}">
                <a16:creationId xmlns:a16="http://schemas.microsoft.com/office/drawing/2014/main" id="{B3D8BB6F-80F6-4D2F-962F-AE8DEA68E13D}"/>
              </a:ext>
            </a:extLst>
          </p:cNvPr>
          <p:cNvSpPr>
            <a:spLocks noGrp="1"/>
          </p:cNvSpPr>
          <p:nvPr>
            <p:ph type="body" sz="quarter" idx="14"/>
          </p:nvPr>
        </p:nvSpPr>
        <p:spPr/>
        <p:txBody>
          <a:bodyPr/>
          <a:lstStyle/>
          <a:p>
            <a:r>
              <a:rPr lang="zh-CN" altLang="en-US" dirty="0"/>
              <a:t>总线型局域网中，主机发送帧的时候，需指明目的地址和源地址。</a:t>
            </a:r>
          </a:p>
          <a:p>
            <a:r>
              <a:rPr lang="zh-CN" altLang="en-US" dirty="0"/>
              <a:t>由于主机之间的通信是广播的形式，所以网段内的所有主机都可以收到。只有</a:t>
            </a:r>
            <a:r>
              <a:rPr lang="en-US" altLang="zh-CN" dirty="0"/>
              <a:t>MAC</a:t>
            </a:r>
            <a:r>
              <a:rPr lang="zh-CN" altLang="en-US" dirty="0"/>
              <a:t>帧中的目标地址是自己的，才会接收帧；和自己的</a:t>
            </a:r>
            <a:r>
              <a:rPr lang="en-US" altLang="zh-CN" dirty="0"/>
              <a:t>MAC</a:t>
            </a:r>
            <a:r>
              <a:rPr lang="zh-CN" altLang="en-US" dirty="0"/>
              <a:t>地址不一致，则丢弃</a:t>
            </a:r>
          </a:p>
        </p:txBody>
      </p:sp>
      <p:sp>
        <p:nvSpPr>
          <p:cNvPr id="5" name="箭头: 左右 4">
            <a:extLst>
              <a:ext uri="{FF2B5EF4-FFF2-40B4-BE49-F238E27FC236}">
                <a16:creationId xmlns:a16="http://schemas.microsoft.com/office/drawing/2014/main" id="{6D866FF2-9F07-4380-8639-5462BAE5C62F}"/>
              </a:ext>
            </a:extLst>
          </p:cNvPr>
          <p:cNvSpPr/>
          <p:nvPr/>
        </p:nvSpPr>
        <p:spPr>
          <a:xfrm>
            <a:off x="1612490" y="355927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a:extLst>
              <a:ext uri="{FF2B5EF4-FFF2-40B4-BE49-F238E27FC236}">
                <a16:creationId xmlns:a16="http://schemas.microsoft.com/office/drawing/2014/main" id="{FB134F7E-5FA1-4C31-9A9E-9C9916FF8696}"/>
              </a:ext>
            </a:extLst>
          </p:cNvPr>
          <p:cNvGrpSpPr/>
          <p:nvPr/>
        </p:nvGrpSpPr>
        <p:grpSpPr>
          <a:xfrm>
            <a:off x="2081981" y="4494102"/>
            <a:ext cx="457200" cy="694330"/>
            <a:chOff x="2250168" y="4513767"/>
            <a:chExt cx="457200" cy="694330"/>
          </a:xfrm>
        </p:grpSpPr>
        <p:pic>
          <p:nvPicPr>
            <p:cNvPr id="6" name="图片 5">
              <a:extLst>
                <a:ext uri="{FF2B5EF4-FFF2-40B4-BE49-F238E27FC236}">
                  <a16:creationId xmlns:a16="http://schemas.microsoft.com/office/drawing/2014/main" id="{9891FD61-54AE-4566-9D06-6BB9DD644E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7" name="文本框 6">
              <a:extLst>
                <a:ext uri="{FF2B5EF4-FFF2-40B4-BE49-F238E27FC236}">
                  <a16:creationId xmlns:a16="http://schemas.microsoft.com/office/drawing/2014/main" id="{660A2F40-18BB-415F-9E34-10F69B84F4EC}"/>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9" name="组合 8">
            <a:extLst>
              <a:ext uri="{FF2B5EF4-FFF2-40B4-BE49-F238E27FC236}">
                <a16:creationId xmlns:a16="http://schemas.microsoft.com/office/drawing/2014/main" id="{5B86B1FB-9570-413C-9790-E56CD32AC25F}"/>
              </a:ext>
            </a:extLst>
          </p:cNvPr>
          <p:cNvGrpSpPr/>
          <p:nvPr/>
        </p:nvGrpSpPr>
        <p:grpSpPr>
          <a:xfrm>
            <a:off x="4605594" y="4494102"/>
            <a:ext cx="457200" cy="694330"/>
            <a:chOff x="2250168" y="4513767"/>
            <a:chExt cx="457200" cy="694330"/>
          </a:xfrm>
        </p:grpSpPr>
        <p:pic>
          <p:nvPicPr>
            <p:cNvPr id="10" name="图片 9">
              <a:extLst>
                <a:ext uri="{FF2B5EF4-FFF2-40B4-BE49-F238E27FC236}">
                  <a16:creationId xmlns:a16="http://schemas.microsoft.com/office/drawing/2014/main" id="{C02D656C-60A7-47CF-8AC9-1EBE99C84E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A1E239B4-997C-4F5F-8670-3D283C4978D3}"/>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2" name="组合 11">
            <a:extLst>
              <a:ext uri="{FF2B5EF4-FFF2-40B4-BE49-F238E27FC236}">
                <a16:creationId xmlns:a16="http://schemas.microsoft.com/office/drawing/2014/main" id="{B1339632-7F4F-4E4A-88B8-0291CF6D02BD}"/>
              </a:ext>
            </a:extLst>
          </p:cNvPr>
          <p:cNvGrpSpPr/>
          <p:nvPr/>
        </p:nvGrpSpPr>
        <p:grpSpPr>
          <a:xfrm>
            <a:off x="7129207" y="4494102"/>
            <a:ext cx="457200" cy="694330"/>
            <a:chOff x="2250168" y="4513767"/>
            <a:chExt cx="457200" cy="694330"/>
          </a:xfrm>
        </p:grpSpPr>
        <p:pic>
          <p:nvPicPr>
            <p:cNvPr id="13" name="图片 12">
              <a:extLst>
                <a:ext uri="{FF2B5EF4-FFF2-40B4-BE49-F238E27FC236}">
                  <a16:creationId xmlns:a16="http://schemas.microsoft.com/office/drawing/2014/main" id="{6FAA4514-A46E-45A4-9E0E-D135745212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14" name="文本框 13">
              <a:extLst>
                <a:ext uri="{FF2B5EF4-FFF2-40B4-BE49-F238E27FC236}">
                  <a16:creationId xmlns:a16="http://schemas.microsoft.com/office/drawing/2014/main" id="{C3123D82-17C2-4239-99B7-0FC765349878}"/>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5" name="组合 14">
            <a:extLst>
              <a:ext uri="{FF2B5EF4-FFF2-40B4-BE49-F238E27FC236}">
                <a16:creationId xmlns:a16="http://schemas.microsoft.com/office/drawing/2014/main" id="{2CD2745C-D16B-4F59-875B-615BD84E2A77}"/>
              </a:ext>
            </a:extLst>
          </p:cNvPr>
          <p:cNvGrpSpPr/>
          <p:nvPr/>
        </p:nvGrpSpPr>
        <p:grpSpPr>
          <a:xfrm>
            <a:off x="9652820" y="4494102"/>
            <a:ext cx="457200" cy="694330"/>
            <a:chOff x="2250168" y="4513767"/>
            <a:chExt cx="457200" cy="694330"/>
          </a:xfrm>
        </p:grpSpPr>
        <p:pic>
          <p:nvPicPr>
            <p:cNvPr id="16" name="图片 15">
              <a:extLst>
                <a:ext uri="{FF2B5EF4-FFF2-40B4-BE49-F238E27FC236}">
                  <a16:creationId xmlns:a16="http://schemas.microsoft.com/office/drawing/2014/main" id="{CA45330C-3510-40E9-A204-A4AAE7387E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7" name="文本框 16">
              <a:extLst>
                <a:ext uri="{FF2B5EF4-FFF2-40B4-BE49-F238E27FC236}">
                  <a16:creationId xmlns:a16="http://schemas.microsoft.com/office/drawing/2014/main" id="{D27D69CE-140F-475C-9467-80860730775F}"/>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cxnSp>
        <p:nvCxnSpPr>
          <p:cNvPr id="20" name="直接箭头连接符 19">
            <a:extLst>
              <a:ext uri="{FF2B5EF4-FFF2-40B4-BE49-F238E27FC236}">
                <a16:creationId xmlns:a16="http://schemas.microsoft.com/office/drawing/2014/main" id="{4F4A3EEA-1A8B-4282-8D30-5545C2E7BFCF}"/>
              </a:ext>
            </a:extLst>
          </p:cNvPr>
          <p:cNvCxnSpPr>
            <a:cxnSpLocks/>
          </p:cNvCxnSpPr>
          <p:nvPr/>
        </p:nvCxnSpPr>
        <p:spPr>
          <a:xfrm flipV="1">
            <a:off x="2310581"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1" name="直接箭头连接符 20">
            <a:extLst>
              <a:ext uri="{FF2B5EF4-FFF2-40B4-BE49-F238E27FC236}">
                <a16:creationId xmlns:a16="http://schemas.microsoft.com/office/drawing/2014/main" id="{446DF155-06EE-46C8-B20D-7D907A40BC14}"/>
              </a:ext>
            </a:extLst>
          </p:cNvPr>
          <p:cNvCxnSpPr>
            <a:cxnSpLocks/>
          </p:cNvCxnSpPr>
          <p:nvPr/>
        </p:nvCxnSpPr>
        <p:spPr>
          <a:xfrm flipV="1">
            <a:off x="4834194"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2" name="直接箭头连接符 21">
            <a:extLst>
              <a:ext uri="{FF2B5EF4-FFF2-40B4-BE49-F238E27FC236}">
                <a16:creationId xmlns:a16="http://schemas.microsoft.com/office/drawing/2014/main" id="{6BAD0594-2CFE-42DD-BC99-F1C7089CAF81}"/>
              </a:ext>
            </a:extLst>
          </p:cNvPr>
          <p:cNvCxnSpPr>
            <a:cxnSpLocks/>
          </p:cNvCxnSpPr>
          <p:nvPr/>
        </p:nvCxnSpPr>
        <p:spPr>
          <a:xfrm flipV="1">
            <a:off x="7357807"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3" name="直接箭头连接符 22">
            <a:extLst>
              <a:ext uri="{FF2B5EF4-FFF2-40B4-BE49-F238E27FC236}">
                <a16:creationId xmlns:a16="http://schemas.microsoft.com/office/drawing/2014/main" id="{0E189FCC-E756-4AB2-BA65-360C599D5612}"/>
              </a:ext>
            </a:extLst>
          </p:cNvPr>
          <p:cNvCxnSpPr>
            <a:cxnSpLocks/>
          </p:cNvCxnSpPr>
          <p:nvPr/>
        </p:nvCxnSpPr>
        <p:spPr>
          <a:xfrm flipV="1">
            <a:off x="9881420"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24" name="表格 24">
            <a:extLst>
              <a:ext uri="{FF2B5EF4-FFF2-40B4-BE49-F238E27FC236}">
                <a16:creationId xmlns:a16="http://schemas.microsoft.com/office/drawing/2014/main" id="{8D5734E8-3B79-4784-8E93-79CE159271D9}"/>
              </a:ext>
            </a:extLst>
          </p:cNvPr>
          <p:cNvGraphicFramePr>
            <a:graphicFrameLocks noGrp="1"/>
          </p:cNvGraphicFramePr>
          <p:nvPr>
            <p:extLst>
              <p:ext uri="{D42A27DB-BD31-4B8C-83A1-F6EECF244321}">
                <p14:modId xmlns:p14="http://schemas.microsoft.com/office/powerpoint/2010/main" val="1033851740"/>
              </p:ext>
            </p:extLst>
          </p:nvPr>
        </p:nvGraphicFramePr>
        <p:xfrm>
          <a:off x="4368290" y="3120907"/>
          <a:ext cx="3523228" cy="370840"/>
        </p:xfrm>
        <a:graphic>
          <a:graphicData uri="http://schemas.openxmlformats.org/drawingml/2006/table">
            <a:tbl>
              <a:tblPr firstRow="1" bandRow="1">
                <a:tableStyleId>{5C22544A-7EE6-4342-B048-85BDC9FD1C3A}</a:tableStyleId>
              </a:tblPr>
              <a:tblGrid>
                <a:gridCol w="880807">
                  <a:extLst>
                    <a:ext uri="{9D8B030D-6E8A-4147-A177-3AD203B41FA5}">
                      <a16:colId xmlns:a16="http://schemas.microsoft.com/office/drawing/2014/main" val="1040561476"/>
                    </a:ext>
                  </a:extLst>
                </a:gridCol>
                <a:gridCol w="880807">
                  <a:extLst>
                    <a:ext uri="{9D8B030D-6E8A-4147-A177-3AD203B41FA5}">
                      <a16:colId xmlns:a16="http://schemas.microsoft.com/office/drawing/2014/main" val="2712368917"/>
                    </a:ext>
                  </a:extLst>
                </a:gridCol>
                <a:gridCol w="880807">
                  <a:extLst>
                    <a:ext uri="{9D8B030D-6E8A-4147-A177-3AD203B41FA5}">
                      <a16:colId xmlns:a16="http://schemas.microsoft.com/office/drawing/2014/main" val="1720553753"/>
                    </a:ext>
                  </a:extLst>
                </a:gridCol>
                <a:gridCol w="880807">
                  <a:extLst>
                    <a:ext uri="{9D8B030D-6E8A-4147-A177-3AD203B41FA5}">
                      <a16:colId xmlns:a16="http://schemas.microsoft.com/office/drawing/2014/main" val="4184850062"/>
                    </a:ext>
                  </a:extLst>
                </a:gridCol>
              </a:tblGrid>
              <a:tr h="370840">
                <a:tc>
                  <a:txBody>
                    <a:bodyPr/>
                    <a:lstStyle/>
                    <a:p>
                      <a:pPr algn="ctr"/>
                      <a:r>
                        <a:rPr lang="en-US" altLang="zh-CN" dirty="0">
                          <a:solidFill>
                            <a:schemeClr val="tx1"/>
                          </a:solidFill>
                        </a:rPr>
                        <a:t>H3</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altLang="zh-CN" dirty="0">
                          <a:solidFill>
                            <a:schemeClr val="tx1"/>
                          </a:solidFill>
                        </a:rPr>
                        <a:t>H1</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5063475"/>
                  </a:ext>
                </a:extLst>
              </a:tr>
            </a:tbl>
          </a:graphicData>
        </a:graphic>
      </p:graphicFrame>
      <p:cxnSp>
        <p:nvCxnSpPr>
          <p:cNvPr id="28" name="连接符: 曲线 27">
            <a:extLst>
              <a:ext uri="{FF2B5EF4-FFF2-40B4-BE49-F238E27FC236}">
                <a16:creationId xmlns:a16="http://schemas.microsoft.com/office/drawing/2014/main" id="{BBB265C8-A27B-4CCB-9723-AF201D4EC30F}"/>
              </a:ext>
            </a:extLst>
          </p:cNvPr>
          <p:cNvCxnSpPr>
            <a:stCxn id="7" idx="2"/>
            <a:endCxn id="14" idx="2"/>
          </p:cNvCxnSpPr>
          <p:nvPr/>
        </p:nvCxnSpPr>
        <p:spPr>
          <a:xfrm rot="16200000" flipH="1">
            <a:off x="4836197" y="2665219"/>
            <a:ext cx="12700" cy="5046425"/>
          </a:xfrm>
          <a:prstGeom prst="curvedConnector3">
            <a:avLst>
              <a:gd name="adj1" fmla="val 1800000"/>
            </a:avLst>
          </a:prstGeom>
          <a:ln w="127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2710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A2A9404-050B-4ADD-8ACA-F7992061BDF2}"/>
              </a:ext>
            </a:extLst>
          </p:cNvPr>
          <p:cNvSpPr>
            <a:spLocks noGrp="1"/>
          </p:cNvSpPr>
          <p:nvPr>
            <p:ph type="body" sz="quarter" idx="13"/>
          </p:nvPr>
        </p:nvSpPr>
        <p:spPr/>
        <p:txBody>
          <a:bodyPr/>
          <a:lstStyle/>
          <a:p>
            <a:r>
              <a:rPr lang="en-US" altLang="zh-CN" dirty="0"/>
              <a:t>MAC</a:t>
            </a:r>
            <a:r>
              <a:rPr lang="zh-CN" altLang="en-US" dirty="0"/>
              <a:t>地址</a:t>
            </a:r>
          </a:p>
        </p:txBody>
      </p:sp>
      <p:sp>
        <p:nvSpPr>
          <p:cNvPr id="4" name="文本占位符 3">
            <a:extLst>
              <a:ext uri="{FF2B5EF4-FFF2-40B4-BE49-F238E27FC236}">
                <a16:creationId xmlns:a16="http://schemas.microsoft.com/office/drawing/2014/main" id="{A77C039A-53B9-481E-A6FB-27DA2848B5F8}"/>
              </a:ext>
            </a:extLst>
          </p:cNvPr>
          <p:cNvSpPr>
            <a:spLocks noGrp="1"/>
          </p:cNvSpPr>
          <p:nvPr>
            <p:ph type="body" sz="quarter" idx="14"/>
          </p:nvPr>
        </p:nvSpPr>
        <p:spPr/>
        <p:txBody>
          <a:bodyPr>
            <a:normAutofit/>
          </a:bodyPr>
          <a:lstStyle/>
          <a:p>
            <a:r>
              <a:rPr lang="zh-CN" altLang="en-US" dirty="0"/>
              <a:t>又称硬件地址或者物理地址，是适配器的地址；</a:t>
            </a:r>
            <a:r>
              <a:rPr lang="en-US" altLang="zh-CN" dirty="0"/>
              <a:t>IEEE802.3</a:t>
            </a:r>
            <a:r>
              <a:rPr lang="zh-CN" altLang="en-US" dirty="0"/>
              <a:t>规定</a:t>
            </a:r>
            <a:r>
              <a:rPr lang="en-US" altLang="zh-CN" dirty="0"/>
              <a:t>MAC</a:t>
            </a:r>
            <a:r>
              <a:rPr lang="zh-CN" altLang="en-US" dirty="0"/>
              <a:t>地址为</a:t>
            </a:r>
            <a:r>
              <a:rPr lang="en-US" altLang="zh-CN" dirty="0"/>
              <a:t>48</a:t>
            </a:r>
            <a:r>
              <a:rPr lang="zh-CN" altLang="en-US" dirty="0"/>
              <a:t>位：每</a:t>
            </a:r>
            <a:r>
              <a:rPr lang="en-US" altLang="zh-CN" dirty="0"/>
              <a:t>4</a:t>
            </a:r>
            <a:r>
              <a:rPr lang="zh-CN" altLang="en-US" dirty="0"/>
              <a:t>个比特写成</a:t>
            </a:r>
            <a:r>
              <a:rPr lang="en-US" altLang="zh-CN" dirty="0"/>
              <a:t>16</a:t>
            </a:r>
            <a:r>
              <a:rPr lang="zh-CN" altLang="en-US" dirty="0"/>
              <a:t>进制的数值来表示。不同的系统表示方法略有不同。</a:t>
            </a:r>
            <a:endParaRPr lang="en-US" altLang="zh-CN" dirty="0"/>
          </a:p>
          <a:p>
            <a:r>
              <a:rPr lang="en-US" altLang="zh-CN" dirty="0"/>
              <a:t>MAC-48=</a:t>
            </a:r>
            <a:r>
              <a:rPr lang="zh-CN" altLang="en-US" dirty="0"/>
              <a:t>厂家</a:t>
            </a:r>
            <a:r>
              <a:rPr lang="en-US" altLang="zh-CN" dirty="0"/>
              <a:t>ID + </a:t>
            </a:r>
            <a:r>
              <a:rPr lang="zh-CN" altLang="en-US" dirty="0"/>
              <a:t>网卡</a:t>
            </a:r>
            <a:r>
              <a:rPr lang="en-US" altLang="zh-CN" dirty="0"/>
              <a:t>ID</a:t>
            </a:r>
          </a:p>
          <a:p>
            <a:pPr indent="457200"/>
            <a:r>
              <a:rPr lang="en-US" altLang="zh-CN" dirty="0"/>
              <a:t>Cisco</a:t>
            </a:r>
            <a:r>
              <a:rPr lang="zh-CN" altLang="en-US" dirty="0"/>
              <a:t>：</a:t>
            </a:r>
            <a:r>
              <a:rPr lang="en-US" altLang="zh-CN" dirty="0"/>
              <a:t>	00-00-0c</a:t>
            </a:r>
          </a:p>
          <a:p>
            <a:pPr indent="457200"/>
            <a:r>
              <a:rPr lang="en-US" altLang="zh-CN" dirty="0"/>
              <a:t>IBM</a:t>
            </a:r>
            <a:r>
              <a:rPr lang="zh-CN" altLang="en-US" dirty="0"/>
              <a:t>：</a:t>
            </a:r>
            <a:r>
              <a:rPr lang="en-US" altLang="zh-CN" dirty="0"/>
              <a:t>	08-00-5a</a:t>
            </a:r>
          </a:p>
          <a:p>
            <a:pPr indent="457200"/>
            <a:r>
              <a:rPr lang="en-US" altLang="zh-CN" dirty="0"/>
              <a:t>3com</a:t>
            </a:r>
            <a:r>
              <a:rPr lang="zh-CN" altLang="en-US" dirty="0"/>
              <a:t>：</a:t>
            </a:r>
            <a:r>
              <a:rPr lang="en-US" altLang="zh-CN" dirty="0"/>
              <a:t>	00-20-af 02-60-8c</a:t>
            </a:r>
          </a:p>
        </p:txBody>
      </p:sp>
    </p:spTree>
    <p:extLst>
      <p:ext uri="{BB962C8B-B14F-4D97-AF65-F5344CB8AC3E}">
        <p14:creationId xmlns:p14="http://schemas.microsoft.com/office/powerpoint/2010/main" val="2463757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地址格式</a:t>
            </a:r>
          </a:p>
        </p:txBody>
      </p:sp>
      <p:sp>
        <p:nvSpPr>
          <p:cNvPr id="19" name="文本占位符 18">
            <a:extLst>
              <a:ext uri="{FF2B5EF4-FFF2-40B4-BE49-F238E27FC236}">
                <a16:creationId xmlns:a16="http://schemas.microsoft.com/office/drawing/2014/main" id="{BBB6972F-22D6-473A-9DAF-64901AF9A53C}"/>
              </a:ext>
            </a:extLst>
          </p:cNvPr>
          <p:cNvSpPr>
            <a:spLocks noGrp="1"/>
          </p:cNvSpPr>
          <p:nvPr>
            <p:ph type="body" sz="quarter" idx="14"/>
          </p:nvPr>
        </p:nvSpPr>
        <p:spPr/>
        <p:txBody>
          <a:bodyPr/>
          <a:lstStyle/>
          <a:p>
            <a:endParaRPr lang="zh-CN" altLang="en-US"/>
          </a:p>
        </p:txBody>
      </p:sp>
      <p:sp>
        <p:nvSpPr>
          <p:cNvPr id="20" name="文本占位符 19">
            <a:extLst>
              <a:ext uri="{FF2B5EF4-FFF2-40B4-BE49-F238E27FC236}">
                <a16:creationId xmlns:a16="http://schemas.microsoft.com/office/drawing/2014/main" id="{DF449352-92DB-4684-BB1F-DFC8A7195764}"/>
              </a:ext>
            </a:extLst>
          </p:cNvPr>
          <p:cNvSpPr>
            <a:spLocks noGrp="1"/>
          </p:cNvSpPr>
          <p:nvPr>
            <p:ph type="body" sz="quarter" idx="15"/>
          </p:nvPr>
        </p:nvSpPr>
        <p:spPr>
          <a:xfrm>
            <a:off x="695466" y="6255764"/>
            <a:ext cx="8345771" cy="313932"/>
          </a:xfrm>
        </p:spPr>
        <p:txBody>
          <a:bodyPr/>
          <a:lstStyle/>
          <a:p>
            <a:r>
              <a:rPr lang="zh-CN" altLang="en-US" dirty="0"/>
              <a:t>单播</a:t>
            </a:r>
            <a:r>
              <a:rPr lang="en-US" altLang="zh-CN" dirty="0"/>
              <a:t>unicast</a:t>
            </a:r>
            <a:r>
              <a:rPr lang="zh-CN" altLang="en-US" dirty="0"/>
              <a:t>：一对一；广播</a:t>
            </a:r>
            <a:r>
              <a:rPr lang="en-US" altLang="zh-CN" dirty="0"/>
              <a:t>broadcast</a:t>
            </a:r>
            <a:r>
              <a:rPr lang="zh-CN" altLang="en-US" dirty="0"/>
              <a:t>：一对全体；组播</a:t>
            </a:r>
            <a:r>
              <a:rPr lang="en-US" altLang="zh-CN" dirty="0"/>
              <a:t>/</a:t>
            </a:r>
            <a:r>
              <a:rPr lang="zh-CN" altLang="en-US" dirty="0"/>
              <a:t>多播</a:t>
            </a:r>
            <a:r>
              <a:rPr lang="en-US" altLang="zh-CN" dirty="0"/>
              <a:t>multicast</a:t>
            </a:r>
            <a:r>
              <a:rPr lang="zh-CN" altLang="en-US" dirty="0"/>
              <a:t>：一对多</a:t>
            </a:r>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420024670"/>
              </p:ext>
            </p:extLst>
          </p:nvPr>
        </p:nvGraphicFramePr>
        <p:xfrm>
          <a:off x="2032000" y="1978003"/>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1823227545"/>
                    </a:ext>
                  </a:extLst>
                </a:gridCol>
                <a:gridCol w="1354667">
                  <a:extLst>
                    <a:ext uri="{9D8B030D-6E8A-4147-A177-3AD203B41FA5}">
                      <a16:colId xmlns:a16="http://schemas.microsoft.com/office/drawing/2014/main" val="3534235243"/>
                    </a:ext>
                  </a:extLst>
                </a:gridCol>
                <a:gridCol w="1354667">
                  <a:extLst>
                    <a:ext uri="{9D8B030D-6E8A-4147-A177-3AD203B41FA5}">
                      <a16:colId xmlns:a16="http://schemas.microsoft.com/office/drawing/2014/main" val="75341418"/>
                    </a:ext>
                  </a:extLst>
                </a:gridCol>
                <a:gridCol w="1354667">
                  <a:extLst>
                    <a:ext uri="{9D8B030D-6E8A-4147-A177-3AD203B41FA5}">
                      <a16:colId xmlns:a16="http://schemas.microsoft.com/office/drawing/2014/main" val="3371756490"/>
                    </a:ext>
                  </a:extLst>
                </a:gridCol>
                <a:gridCol w="1354667">
                  <a:extLst>
                    <a:ext uri="{9D8B030D-6E8A-4147-A177-3AD203B41FA5}">
                      <a16:colId xmlns:a16="http://schemas.microsoft.com/office/drawing/2014/main" val="1849303493"/>
                    </a:ext>
                  </a:extLst>
                </a:gridCol>
                <a:gridCol w="1354667">
                  <a:extLst>
                    <a:ext uri="{9D8B030D-6E8A-4147-A177-3AD203B41FA5}">
                      <a16:colId xmlns:a16="http://schemas.microsoft.com/office/drawing/2014/main" val="1839698458"/>
                    </a:ext>
                  </a:extLst>
                </a:gridCol>
              </a:tblGrid>
              <a:tr h="370840">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graphicFrame>
        <p:nvGraphicFramePr>
          <p:cNvPr id="9" name="表格 3">
            <a:extLst>
              <a:ext uri="{FF2B5EF4-FFF2-40B4-BE49-F238E27FC236}">
                <a16:creationId xmlns:a16="http://schemas.microsoft.com/office/drawing/2014/main" id="{8E599BE5-368E-4FF2-983F-1475BA624167}"/>
              </a:ext>
            </a:extLst>
          </p:cNvPr>
          <p:cNvGraphicFramePr>
            <a:graphicFrameLocks noGrp="1"/>
          </p:cNvGraphicFramePr>
          <p:nvPr>
            <p:extLst>
              <p:ext uri="{D42A27DB-BD31-4B8C-83A1-F6EECF244321}">
                <p14:modId xmlns:p14="http://schemas.microsoft.com/office/powerpoint/2010/main" val="2595354829"/>
              </p:ext>
            </p:extLst>
          </p:nvPr>
        </p:nvGraphicFramePr>
        <p:xfrm>
          <a:off x="2031999" y="3431562"/>
          <a:ext cx="8128000" cy="74168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1823227545"/>
                    </a:ext>
                  </a:extLst>
                </a:gridCol>
                <a:gridCol w="1016000">
                  <a:extLst>
                    <a:ext uri="{9D8B030D-6E8A-4147-A177-3AD203B41FA5}">
                      <a16:colId xmlns:a16="http://schemas.microsoft.com/office/drawing/2014/main" val="3534235243"/>
                    </a:ext>
                  </a:extLst>
                </a:gridCol>
                <a:gridCol w="1016000">
                  <a:extLst>
                    <a:ext uri="{9D8B030D-6E8A-4147-A177-3AD203B41FA5}">
                      <a16:colId xmlns:a16="http://schemas.microsoft.com/office/drawing/2014/main" val="75341418"/>
                    </a:ext>
                  </a:extLst>
                </a:gridCol>
                <a:gridCol w="1016000">
                  <a:extLst>
                    <a:ext uri="{9D8B030D-6E8A-4147-A177-3AD203B41FA5}">
                      <a16:colId xmlns:a16="http://schemas.microsoft.com/office/drawing/2014/main" val="3371756490"/>
                    </a:ext>
                  </a:extLst>
                </a:gridCol>
                <a:gridCol w="1016000">
                  <a:extLst>
                    <a:ext uri="{9D8B030D-6E8A-4147-A177-3AD203B41FA5}">
                      <a16:colId xmlns:a16="http://schemas.microsoft.com/office/drawing/2014/main" val="1849303493"/>
                    </a:ext>
                  </a:extLst>
                </a:gridCol>
                <a:gridCol w="1016000">
                  <a:extLst>
                    <a:ext uri="{9D8B030D-6E8A-4147-A177-3AD203B41FA5}">
                      <a16:colId xmlns:a16="http://schemas.microsoft.com/office/drawing/2014/main" val="1839698458"/>
                    </a:ext>
                  </a:extLst>
                </a:gridCol>
                <a:gridCol w="1016000">
                  <a:extLst>
                    <a:ext uri="{9D8B030D-6E8A-4147-A177-3AD203B41FA5}">
                      <a16:colId xmlns:a16="http://schemas.microsoft.com/office/drawing/2014/main" val="3703376589"/>
                    </a:ext>
                  </a:extLst>
                </a:gridCol>
                <a:gridCol w="1016000">
                  <a:extLst>
                    <a:ext uri="{9D8B030D-6E8A-4147-A177-3AD203B41FA5}">
                      <a16:colId xmlns:a16="http://schemas.microsoft.com/office/drawing/2014/main" val="421086447"/>
                    </a:ext>
                  </a:extLst>
                </a:gridCol>
              </a:tblGrid>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7</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8</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en-US" altLang="zh-CN" dirty="0">
                          <a:solidFill>
                            <a:schemeClr val="tx1"/>
                          </a:solidFill>
                        </a:rPr>
                        <a:t>B7</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B6</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B5</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B4</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B3</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B2</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accent1"/>
                          </a:solidFill>
                        </a:rPr>
                        <a:t>B1</a:t>
                      </a:r>
                      <a:endParaRPr lang="zh-CN" altLang="en-US"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rgbClr val="FF0000"/>
                          </a:solidFill>
                        </a:rPr>
                        <a:t>B0</a:t>
                      </a:r>
                      <a:endParaRPr lang="zh-CN" altLang="en-US" dirty="0">
                        <a:solidFill>
                          <a:srgbClr val="FF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
        <p:nvSpPr>
          <p:cNvPr id="11" name="等腰三角形 10">
            <a:extLst>
              <a:ext uri="{FF2B5EF4-FFF2-40B4-BE49-F238E27FC236}">
                <a16:creationId xmlns:a16="http://schemas.microsoft.com/office/drawing/2014/main" id="{DE4D4782-024F-426E-8E4A-40126E0DDE9C}"/>
              </a:ext>
            </a:extLst>
          </p:cNvPr>
          <p:cNvSpPr/>
          <p:nvPr/>
        </p:nvSpPr>
        <p:spPr>
          <a:xfrm>
            <a:off x="2477729" y="2782528"/>
            <a:ext cx="7236542" cy="643909"/>
          </a:xfrm>
          <a:custGeom>
            <a:avLst/>
            <a:gdLst>
              <a:gd name="connsiteX0" fmla="*/ 0 w 7236542"/>
              <a:gd name="connsiteY0" fmla="*/ 535754 h 535754"/>
              <a:gd name="connsiteX1" fmla="*/ 3618271 w 7236542"/>
              <a:gd name="connsiteY1" fmla="*/ 0 h 535754"/>
              <a:gd name="connsiteX2" fmla="*/ 7236542 w 7236542"/>
              <a:gd name="connsiteY2" fmla="*/ 535754 h 535754"/>
              <a:gd name="connsiteX3" fmla="*/ 0 w 7236542"/>
              <a:gd name="connsiteY3" fmla="*/ 535754 h 535754"/>
              <a:gd name="connsiteX0" fmla="*/ 0 w 7236542"/>
              <a:gd name="connsiteY0" fmla="*/ 643909 h 643909"/>
              <a:gd name="connsiteX1" fmla="*/ 294968 w 7236542"/>
              <a:gd name="connsiteY1" fmla="*/ 0 h 643909"/>
              <a:gd name="connsiteX2" fmla="*/ 7236542 w 7236542"/>
              <a:gd name="connsiteY2" fmla="*/ 643909 h 643909"/>
              <a:gd name="connsiteX3" fmla="*/ 0 w 7236542"/>
              <a:gd name="connsiteY3" fmla="*/ 643909 h 643909"/>
            </a:gdLst>
            <a:ahLst/>
            <a:cxnLst>
              <a:cxn ang="0">
                <a:pos x="connsiteX0" y="connsiteY0"/>
              </a:cxn>
              <a:cxn ang="0">
                <a:pos x="connsiteX1" y="connsiteY1"/>
              </a:cxn>
              <a:cxn ang="0">
                <a:pos x="connsiteX2" y="connsiteY2"/>
              </a:cxn>
              <a:cxn ang="0">
                <a:pos x="connsiteX3" y="connsiteY3"/>
              </a:cxn>
            </a:cxnLst>
            <a:rect l="l" t="t" r="r" b="b"/>
            <a:pathLst>
              <a:path w="7236542" h="643909">
                <a:moveTo>
                  <a:pt x="0" y="643909"/>
                </a:moveTo>
                <a:lnTo>
                  <a:pt x="294968" y="0"/>
                </a:lnTo>
                <a:lnTo>
                  <a:pt x="7236542" y="643909"/>
                </a:lnTo>
                <a:lnTo>
                  <a:pt x="0" y="643909"/>
                </a:lnTo>
                <a:close/>
              </a:path>
            </a:pathLst>
          </a:custGeom>
          <a:gradFill flip="none" rotWithShape="1">
            <a:gsLst>
              <a:gs pos="0">
                <a:schemeClr val="bg1">
                  <a:lumMod val="50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E5BCE503-F5AF-43B4-9DBF-BFA123825CF7}"/>
              </a:ext>
            </a:extLst>
          </p:cNvPr>
          <p:cNvSpPr txBox="1"/>
          <p:nvPr/>
        </p:nvSpPr>
        <p:spPr>
          <a:xfrm>
            <a:off x="9584125" y="4240150"/>
            <a:ext cx="1016625" cy="800219"/>
          </a:xfrm>
          <a:prstGeom prst="rect">
            <a:avLst/>
          </a:prstGeom>
          <a:noFill/>
        </p:spPr>
        <p:txBody>
          <a:bodyPr wrap="none" rtlCol="0">
            <a:spAutoFit/>
          </a:bodyPr>
          <a:lstStyle/>
          <a:p>
            <a:pPr algn="l">
              <a:spcBef>
                <a:spcPts val="600"/>
              </a:spcBef>
              <a:spcAft>
                <a:spcPts val="600"/>
              </a:spcAft>
            </a:pPr>
            <a:r>
              <a:rPr lang="en-US" altLang="zh-CN" sz="1800" kern="100" dirty="0">
                <a:solidFill>
                  <a:srgbClr val="FF0000"/>
                </a:solidFill>
                <a:effectLst/>
                <a:latin typeface="+mn-ea"/>
                <a:cs typeface="Times New Roman" panose="02020603050405020304" pitchFamily="18" charset="0"/>
              </a:rPr>
              <a:t>0</a:t>
            </a:r>
            <a:r>
              <a:rPr lang="zh-CN" altLang="en-US" sz="1800" kern="100" dirty="0">
                <a:solidFill>
                  <a:srgbClr val="FF0000"/>
                </a:solidFill>
                <a:effectLst/>
                <a:latin typeface="+mn-ea"/>
                <a:cs typeface="Times New Roman" panose="02020603050405020304" pitchFamily="18" charset="0"/>
              </a:rPr>
              <a:t>：单播</a:t>
            </a:r>
            <a:endParaRPr lang="en-US" altLang="zh-CN" sz="1800" kern="100" dirty="0">
              <a:solidFill>
                <a:srgbClr val="FF0000"/>
              </a:solidFill>
              <a:effectLst/>
              <a:latin typeface="+mn-ea"/>
              <a:cs typeface="Times New Roman" panose="02020603050405020304" pitchFamily="18" charset="0"/>
            </a:endParaRPr>
          </a:p>
          <a:p>
            <a:pPr algn="l">
              <a:spcBef>
                <a:spcPts val="600"/>
              </a:spcBef>
              <a:spcAft>
                <a:spcPts val="600"/>
              </a:spcAft>
            </a:pPr>
            <a:r>
              <a:rPr lang="en-US" altLang="zh-CN" kern="100" dirty="0">
                <a:solidFill>
                  <a:srgbClr val="FF0000"/>
                </a:solidFill>
                <a:latin typeface="+mn-ea"/>
                <a:cs typeface="Times New Roman" panose="02020603050405020304" pitchFamily="18" charset="0"/>
              </a:rPr>
              <a:t>1</a:t>
            </a:r>
            <a:r>
              <a:rPr lang="zh-CN" altLang="en-US" kern="100" dirty="0">
                <a:solidFill>
                  <a:srgbClr val="FF0000"/>
                </a:solidFill>
                <a:latin typeface="+mn-ea"/>
                <a:cs typeface="Times New Roman" panose="02020603050405020304" pitchFamily="18" charset="0"/>
              </a:rPr>
              <a:t>：组播</a:t>
            </a:r>
            <a:endParaRPr lang="zh-CN" altLang="en-US" sz="1800" kern="100" dirty="0">
              <a:solidFill>
                <a:srgbClr val="FF0000"/>
              </a:solidFill>
              <a:effectLst/>
              <a:latin typeface="+mn-ea"/>
              <a:cs typeface="Times New Roman" panose="02020603050405020304" pitchFamily="18" charset="0"/>
            </a:endParaRPr>
          </a:p>
        </p:txBody>
      </p:sp>
      <p:sp>
        <p:nvSpPr>
          <p:cNvPr id="17" name="文本框 16">
            <a:extLst>
              <a:ext uri="{FF2B5EF4-FFF2-40B4-BE49-F238E27FC236}">
                <a16:creationId xmlns:a16="http://schemas.microsoft.com/office/drawing/2014/main" id="{D9BE58C6-C3F4-4FE3-9B71-3D5BA15B9CF0}"/>
              </a:ext>
            </a:extLst>
          </p:cNvPr>
          <p:cNvSpPr txBox="1"/>
          <p:nvPr/>
        </p:nvSpPr>
        <p:spPr>
          <a:xfrm>
            <a:off x="8054643" y="4240150"/>
            <a:ext cx="1460656" cy="800219"/>
          </a:xfrm>
          <a:prstGeom prst="rect">
            <a:avLst/>
          </a:prstGeom>
          <a:noFill/>
        </p:spPr>
        <p:txBody>
          <a:bodyPr wrap="none" rtlCol="0">
            <a:spAutoFit/>
          </a:bodyPr>
          <a:lstStyle/>
          <a:p>
            <a:pPr algn="l">
              <a:spcBef>
                <a:spcPts val="600"/>
              </a:spcBef>
              <a:spcAft>
                <a:spcPts val="600"/>
              </a:spcAft>
            </a:pPr>
            <a:r>
              <a:rPr lang="en-US" altLang="zh-CN" sz="1800" kern="100" dirty="0">
                <a:solidFill>
                  <a:schemeClr val="accent1"/>
                </a:solidFill>
                <a:effectLst/>
                <a:latin typeface="+mn-ea"/>
                <a:cs typeface="Times New Roman" panose="02020603050405020304" pitchFamily="18" charset="0"/>
              </a:rPr>
              <a:t>0</a:t>
            </a:r>
            <a:r>
              <a:rPr lang="zh-CN" altLang="en-US" sz="1800" kern="100" dirty="0">
                <a:solidFill>
                  <a:schemeClr val="accent1"/>
                </a:solidFill>
                <a:effectLst/>
                <a:latin typeface="+mn-ea"/>
                <a:cs typeface="Times New Roman" panose="02020603050405020304" pitchFamily="18" charset="0"/>
              </a:rPr>
              <a:t>：全球管理</a:t>
            </a:r>
            <a:endParaRPr lang="en-US" altLang="zh-CN" sz="1800" kern="100" dirty="0">
              <a:solidFill>
                <a:schemeClr val="accent1"/>
              </a:solidFill>
              <a:effectLst/>
              <a:latin typeface="+mn-ea"/>
              <a:cs typeface="Times New Roman" panose="02020603050405020304" pitchFamily="18" charset="0"/>
            </a:endParaRPr>
          </a:p>
          <a:p>
            <a:pPr algn="l">
              <a:spcBef>
                <a:spcPts val="600"/>
              </a:spcBef>
              <a:spcAft>
                <a:spcPts val="600"/>
              </a:spcAft>
            </a:pPr>
            <a:r>
              <a:rPr lang="en-US" altLang="zh-CN" kern="100" dirty="0">
                <a:solidFill>
                  <a:schemeClr val="accent1"/>
                </a:solidFill>
                <a:latin typeface="+mn-ea"/>
                <a:cs typeface="Times New Roman" panose="02020603050405020304" pitchFamily="18" charset="0"/>
              </a:rPr>
              <a:t>1</a:t>
            </a:r>
            <a:r>
              <a:rPr lang="zh-CN" altLang="en-US" kern="100" dirty="0">
                <a:solidFill>
                  <a:schemeClr val="accent1"/>
                </a:solidFill>
                <a:latin typeface="+mn-ea"/>
                <a:cs typeface="Times New Roman" panose="02020603050405020304" pitchFamily="18" charset="0"/>
              </a:rPr>
              <a:t>：本地管理</a:t>
            </a:r>
            <a:endParaRPr lang="zh-CN" altLang="en-US" sz="1800" kern="100" dirty="0">
              <a:solidFill>
                <a:schemeClr val="accent1"/>
              </a:solidFill>
              <a:effectLst/>
              <a:latin typeface="+mn-ea"/>
              <a:cs typeface="Times New Roman" panose="02020603050405020304" pitchFamily="18" charset="0"/>
            </a:endParaRPr>
          </a:p>
        </p:txBody>
      </p:sp>
      <p:sp>
        <p:nvSpPr>
          <p:cNvPr id="21" name="箭头: 左 20">
            <a:extLst>
              <a:ext uri="{FF2B5EF4-FFF2-40B4-BE49-F238E27FC236}">
                <a16:creationId xmlns:a16="http://schemas.microsoft.com/office/drawing/2014/main" id="{2633011C-E8DD-435B-B993-24281B29DF5C}"/>
              </a:ext>
            </a:extLst>
          </p:cNvPr>
          <p:cNvSpPr/>
          <p:nvPr/>
        </p:nvSpPr>
        <p:spPr>
          <a:xfrm>
            <a:off x="1478116" y="2368507"/>
            <a:ext cx="491613" cy="304799"/>
          </a:xfrm>
          <a:prstGeom prst="leftArrow">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84407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帧</a:t>
            </a:r>
          </a:p>
        </p:txBody>
      </p:sp>
      <p:sp>
        <p:nvSpPr>
          <p:cNvPr id="4" name="文本占位符 3">
            <a:extLst>
              <a:ext uri="{FF2B5EF4-FFF2-40B4-BE49-F238E27FC236}">
                <a16:creationId xmlns:a16="http://schemas.microsoft.com/office/drawing/2014/main" id="{08F30FB5-7834-4488-A11F-396226A2CA37}"/>
              </a:ext>
            </a:extLst>
          </p:cNvPr>
          <p:cNvSpPr>
            <a:spLocks noGrp="1"/>
          </p:cNvSpPr>
          <p:nvPr>
            <p:ph type="body" sz="quarter" idx="14"/>
          </p:nvPr>
        </p:nvSpPr>
        <p:spPr/>
        <p:txBody>
          <a:bodyPr/>
          <a:lstStyle/>
          <a:p>
            <a:endParaRPr lang="zh-CN" altLang="en-US" dirty="0"/>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2859603477"/>
              </p:ext>
            </p:extLst>
          </p:nvPr>
        </p:nvGraphicFramePr>
        <p:xfrm>
          <a:off x="2032000" y="2872740"/>
          <a:ext cx="8128000" cy="74168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1823227545"/>
                    </a:ext>
                  </a:extLst>
                </a:gridCol>
                <a:gridCol w="1625600">
                  <a:extLst>
                    <a:ext uri="{9D8B030D-6E8A-4147-A177-3AD203B41FA5}">
                      <a16:colId xmlns:a16="http://schemas.microsoft.com/office/drawing/2014/main" val="3534235243"/>
                    </a:ext>
                  </a:extLst>
                </a:gridCol>
                <a:gridCol w="1625600">
                  <a:extLst>
                    <a:ext uri="{9D8B030D-6E8A-4147-A177-3AD203B41FA5}">
                      <a16:colId xmlns:a16="http://schemas.microsoft.com/office/drawing/2014/main" val="75341418"/>
                    </a:ext>
                  </a:extLst>
                </a:gridCol>
                <a:gridCol w="1625600">
                  <a:extLst>
                    <a:ext uri="{9D8B030D-6E8A-4147-A177-3AD203B41FA5}">
                      <a16:colId xmlns:a16="http://schemas.microsoft.com/office/drawing/2014/main" val="3371756490"/>
                    </a:ext>
                  </a:extLst>
                </a:gridCol>
                <a:gridCol w="1625600">
                  <a:extLst>
                    <a:ext uri="{9D8B030D-6E8A-4147-A177-3AD203B41FA5}">
                      <a16:colId xmlns:a16="http://schemas.microsoft.com/office/drawing/2014/main" val="1849303493"/>
                    </a:ext>
                  </a:extLst>
                </a:gridCol>
              </a:tblGrid>
              <a:tr h="370840">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2</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46-1500</a:t>
                      </a: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dirty="0">
                          <a:solidFill>
                            <a:schemeClr val="tx1"/>
                          </a:solidFill>
                        </a:rPr>
                        <a:t>目的地址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源地址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IP</a:t>
                      </a:r>
                      <a:r>
                        <a:rPr lang="zh-CN" altLang="en-US" dirty="0">
                          <a:solidFill>
                            <a:schemeClr val="tx1"/>
                          </a:solidFill>
                        </a:rPr>
                        <a:t>数据报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FCS</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Tree>
    <p:extLst>
      <p:ext uri="{BB962C8B-B14F-4D97-AF65-F5344CB8AC3E}">
        <p14:creationId xmlns:p14="http://schemas.microsoft.com/office/powerpoint/2010/main" val="6209216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7AEC956-D6F2-4E18-BBF6-4043CC16E64F}"/>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FF6AE889-595C-4947-8AC8-6B76558BB25B}"/>
              </a:ext>
            </a:extLst>
          </p:cNvPr>
          <p:cNvSpPr>
            <a:spLocks noGrp="1"/>
          </p:cNvSpPr>
          <p:nvPr>
            <p:ph type="body" sz="quarter" idx="14"/>
          </p:nvPr>
        </p:nvSpPr>
        <p:spPr/>
        <p:txBody>
          <a:bodyPr/>
          <a:lstStyle/>
          <a:p>
            <a:pPr marL="342900" indent="-342900">
              <a:buClr>
                <a:schemeClr val="accent2"/>
              </a:buClr>
              <a:buFont typeface="Wingdings" panose="05000000000000000000" pitchFamily="2" charset="2"/>
              <a:buChar char="l"/>
            </a:pPr>
            <a:r>
              <a:rPr lang="zh-CN" altLang="en-US" dirty="0"/>
              <a:t>创建拓扑结构，指定各主机</a:t>
            </a:r>
            <a:r>
              <a:rPr lang="en-US" altLang="zh-CN" dirty="0"/>
              <a:t>IP</a:t>
            </a:r>
            <a:r>
              <a:rPr lang="zh-CN" altLang="en-US" dirty="0"/>
              <a:t>地址</a:t>
            </a:r>
            <a:endParaRPr lang="en-US" altLang="zh-CN" dirty="0"/>
          </a:p>
          <a:p>
            <a:pPr marL="342900" indent="-342900">
              <a:buClr>
                <a:schemeClr val="accent2"/>
              </a:buClr>
              <a:buFont typeface="Wingdings" panose="05000000000000000000" pitchFamily="2" charset="2"/>
              <a:buChar char="l"/>
            </a:pPr>
            <a:r>
              <a:rPr lang="zh-CN" altLang="en-US" dirty="0"/>
              <a:t>为了便于观察，复制各主机</a:t>
            </a:r>
            <a:r>
              <a:rPr lang="en-US" altLang="zh-CN" dirty="0"/>
              <a:t>MAC</a:t>
            </a:r>
            <a:r>
              <a:rPr lang="zh-CN" altLang="en-US" dirty="0"/>
              <a:t>地址到拓扑</a:t>
            </a:r>
            <a:endParaRPr lang="en-US" altLang="zh-CN" dirty="0"/>
          </a:p>
          <a:p>
            <a:pPr marL="342900" indent="-342900">
              <a:buClr>
                <a:schemeClr val="accent2"/>
              </a:buClr>
              <a:buFont typeface="Wingdings" panose="05000000000000000000" pitchFamily="2" charset="2"/>
              <a:buChar char="l"/>
            </a:pPr>
            <a:r>
              <a:rPr lang="zh-CN" altLang="en-US" dirty="0"/>
              <a:t>利用</a:t>
            </a:r>
            <a:r>
              <a:rPr lang="en-US" altLang="zh-CN" dirty="0" err="1"/>
              <a:t>realtime</a:t>
            </a:r>
            <a:r>
              <a:rPr lang="zh-CN" altLang="en-US" dirty="0"/>
              <a:t>模式先跑一次</a:t>
            </a:r>
            <a:r>
              <a:rPr lang="en-US" altLang="zh-CN" dirty="0"/>
              <a:t>ARP</a:t>
            </a:r>
          </a:p>
          <a:p>
            <a:pPr marL="342900" indent="-342900">
              <a:buClr>
                <a:schemeClr val="accent2"/>
              </a:buClr>
              <a:buFont typeface="Wingdings" panose="05000000000000000000" pitchFamily="2" charset="2"/>
              <a:buChar char="l"/>
            </a:pPr>
            <a:r>
              <a:rPr lang="zh-CN" altLang="en-US" dirty="0"/>
              <a:t>主机</a:t>
            </a:r>
            <a:r>
              <a:rPr lang="en-US" altLang="zh-CN" dirty="0"/>
              <a:t>1</a:t>
            </a:r>
            <a:r>
              <a:rPr lang="zh-CN" altLang="en-US" dirty="0"/>
              <a:t>发送包给主机</a:t>
            </a:r>
            <a:r>
              <a:rPr lang="en-US" altLang="zh-CN" dirty="0"/>
              <a:t>3</a:t>
            </a:r>
            <a:r>
              <a:rPr lang="zh-CN" altLang="en-US" dirty="0"/>
              <a:t>，查看链路状态和包的相应字段</a:t>
            </a:r>
          </a:p>
        </p:txBody>
      </p:sp>
      <p:sp>
        <p:nvSpPr>
          <p:cNvPr id="4" name="文本占位符 3">
            <a:extLst>
              <a:ext uri="{FF2B5EF4-FFF2-40B4-BE49-F238E27FC236}">
                <a16:creationId xmlns:a16="http://schemas.microsoft.com/office/drawing/2014/main" id="{AAECB758-1B89-40F7-9BCA-8DCE0DB34A69}"/>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5D9F4BA1-0875-476B-8CD8-03C7300826EA}"/>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34403588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工作流</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388"/>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sp>
        <p:nvSpPr>
          <p:cNvPr id="5" name="矩形 4">
            <a:extLst>
              <a:ext uri="{FF2B5EF4-FFF2-40B4-BE49-F238E27FC236}">
                <a16:creationId xmlns:a16="http://schemas.microsoft.com/office/drawing/2014/main" id="{84DC8635-F1CE-4022-A683-19A982A4B8AF}"/>
              </a:ext>
            </a:extLst>
          </p:cNvPr>
          <p:cNvSpPr/>
          <p:nvPr/>
        </p:nvSpPr>
        <p:spPr>
          <a:xfrm>
            <a:off x="8034887" y="3384880"/>
            <a:ext cx="1800000" cy="46800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CN" altLang="en-US" dirty="0"/>
              <a:t>应用层报文</a:t>
            </a:r>
          </a:p>
        </p:txBody>
      </p:sp>
      <p:sp>
        <p:nvSpPr>
          <p:cNvPr id="22" name="矩形 21">
            <a:extLst>
              <a:ext uri="{FF2B5EF4-FFF2-40B4-BE49-F238E27FC236}">
                <a16:creationId xmlns:a16="http://schemas.microsoft.com/office/drawing/2014/main" id="{420F3FA2-1C62-4E4F-990A-D6B02E015311}"/>
              </a:ext>
            </a:extLst>
          </p:cNvPr>
          <p:cNvSpPr/>
          <p:nvPr/>
        </p:nvSpPr>
        <p:spPr>
          <a:xfrm>
            <a:off x="8034887" y="3839985"/>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3" name="矩形 22">
            <a:extLst>
              <a:ext uri="{FF2B5EF4-FFF2-40B4-BE49-F238E27FC236}">
                <a16:creationId xmlns:a16="http://schemas.microsoft.com/office/drawing/2014/main" id="{5CC300ED-A204-4B70-8E75-BF6C00461710}"/>
              </a:ext>
            </a:extLst>
          </p:cNvPr>
          <p:cNvSpPr/>
          <p:nvPr/>
        </p:nvSpPr>
        <p:spPr>
          <a:xfrm>
            <a:off x="6599375" y="3839985"/>
            <a:ext cx="1440000" cy="4680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zh-CN" altLang="en-US" dirty="0"/>
              <a:t>运输层首部</a:t>
            </a:r>
          </a:p>
        </p:txBody>
      </p:sp>
      <p:sp>
        <p:nvSpPr>
          <p:cNvPr id="24" name="矩形 23">
            <a:extLst>
              <a:ext uri="{FF2B5EF4-FFF2-40B4-BE49-F238E27FC236}">
                <a16:creationId xmlns:a16="http://schemas.microsoft.com/office/drawing/2014/main" id="{5B8C65AD-5DC9-4DA2-A0E5-A367B28AA7FC}"/>
              </a:ext>
            </a:extLst>
          </p:cNvPr>
          <p:cNvSpPr/>
          <p:nvPr/>
        </p:nvSpPr>
        <p:spPr>
          <a:xfrm>
            <a:off x="8034887" y="4295090"/>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5" name="矩形 24">
            <a:extLst>
              <a:ext uri="{FF2B5EF4-FFF2-40B4-BE49-F238E27FC236}">
                <a16:creationId xmlns:a16="http://schemas.microsoft.com/office/drawing/2014/main" id="{3D5E245F-B18D-451C-9AA0-E35E03FDA813}"/>
              </a:ext>
            </a:extLst>
          </p:cNvPr>
          <p:cNvSpPr/>
          <p:nvPr/>
        </p:nvSpPr>
        <p:spPr>
          <a:xfrm>
            <a:off x="6599375" y="4295090"/>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6" name="矩形 25">
            <a:extLst>
              <a:ext uri="{FF2B5EF4-FFF2-40B4-BE49-F238E27FC236}">
                <a16:creationId xmlns:a16="http://schemas.microsoft.com/office/drawing/2014/main" id="{A3CDCFA4-D139-4EE5-9BD8-685184753C07}"/>
              </a:ext>
            </a:extLst>
          </p:cNvPr>
          <p:cNvSpPr/>
          <p:nvPr/>
        </p:nvSpPr>
        <p:spPr>
          <a:xfrm>
            <a:off x="5157131" y="4295090"/>
            <a:ext cx="1440000" cy="46800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zh-CN" altLang="en-US" dirty="0"/>
              <a:t>网络层首部</a:t>
            </a:r>
          </a:p>
        </p:txBody>
      </p:sp>
      <p:sp>
        <p:nvSpPr>
          <p:cNvPr id="27" name="矩形 26">
            <a:extLst>
              <a:ext uri="{FF2B5EF4-FFF2-40B4-BE49-F238E27FC236}">
                <a16:creationId xmlns:a16="http://schemas.microsoft.com/office/drawing/2014/main" id="{765341FC-CE7E-491E-BB3F-FAD62FC1C125}"/>
              </a:ext>
            </a:extLst>
          </p:cNvPr>
          <p:cNvSpPr/>
          <p:nvPr/>
        </p:nvSpPr>
        <p:spPr>
          <a:xfrm>
            <a:off x="8034887" y="4750196"/>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8" name="矩形 27">
            <a:extLst>
              <a:ext uri="{FF2B5EF4-FFF2-40B4-BE49-F238E27FC236}">
                <a16:creationId xmlns:a16="http://schemas.microsoft.com/office/drawing/2014/main" id="{B7168CFD-8A4F-4EC3-8B48-CCC677BB0873}"/>
              </a:ext>
            </a:extLst>
          </p:cNvPr>
          <p:cNvSpPr/>
          <p:nvPr/>
        </p:nvSpPr>
        <p:spPr>
          <a:xfrm>
            <a:off x="6599375" y="4750196"/>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9" name="矩形 28">
            <a:extLst>
              <a:ext uri="{FF2B5EF4-FFF2-40B4-BE49-F238E27FC236}">
                <a16:creationId xmlns:a16="http://schemas.microsoft.com/office/drawing/2014/main" id="{E1397496-8F1D-496D-ABC2-AEE5449E0E1E}"/>
              </a:ext>
            </a:extLst>
          </p:cNvPr>
          <p:cNvSpPr/>
          <p:nvPr/>
        </p:nvSpPr>
        <p:spPr>
          <a:xfrm>
            <a:off x="5157131"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0" name="矩形 29">
            <a:extLst>
              <a:ext uri="{FF2B5EF4-FFF2-40B4-BE49-F238E27FC236}">
                <a16:creationId xmlns:a16="http://schemas.microsoft.com/office/drawing/2014/main" id="{A1897294-0B92-4622-AA6E-18BB7AD77CB4}"/>
              </a:ext>
            </a:extLst>
          </p:cNvPr>
          <p:cNvSpPr/>
          <p:nvPr/>
        </p:nvSpPr>
        <p:spPr>
          <a:xfrm>
            <a:off x="9830399"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1" name="矩形 30">
            <a:extLst>
              <a:ext uri="{FF2B5EF4-FFF2-40B4-BE49-F238E27FC236}">
                <a16:creationId xmlns:a16="http://schemas.microsoft.com/office/drawing/2014/main" id="{1FC3E55C-F8FE-44B3-837A-2B10690D242B}"/>
              </a:ext>
            </a:extLst>
          </p:cNvPr>
          <p:cNvSpPr/>
          <p:nvPr/>
        </p:nvSpPr>
        <p:spPr>
          <a:xfrm>
            <a:off x="5163863" y="5218195"/>
            <a:ext cx="6106536" cy="468000"/>
          </a:xfrm>
          <a:prstGeom prst="rect">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zh-CN" altLang="en-US" dirty="0"/>
              <a:t>比特流</a:t>
            </a:r>
          </a:p>
        </p:txBody>
      </p:sp>
      <p:sp>
        <p:nvSpPr>
          <p:cNvPr id="32" name="箭头: 右 31">
            <a:extLst>
              <a:ext uri="{FF2B5EF4-FFF2-40B4-BE49-F238E27FC236}">
                <a16:creationId xmlns:a16="http://schemas.microsoft.com/office/drawing/2014/main" id="{C9ECF531-46AB-4C12-84A2-96F924409ABB}"/>
              </a:ext>
            </a:extLst>
          </p:cNvPr>
          <p:cNvSpPr/>
          <p:nvPr/>
        </p:nvSpPr>
        <p:spPr>
          <a:xfrm>
            <a:off x="3990187" y="4307985"/>
            <a:ext cx="1080000" cy="468000"/>
          </a:xfrm>
          <a:prstGeom prst="rightArrow">
            <a:avLst>
              <a:gd name="adj1" fmla="val 68208"/>
              <a:gd name="adj2" fmla="val 71850"/>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dirty="0"/>
              <a:t>IP</a:t>
            </a:r>
            <a:endParaRPr lang="zh-CN" altLang="en-US" dirty="0"/>
          </a:p>
        </p:txBody>
      </p:sp>
      <p:sp>
        <p:nvSpPr>
          <p:cNvPr id="33" name="箭头: 右 32">
            <a:extLst>
              <a:ext uri="{FF2B5EF4-FFF2-40B4-BE49-F238E27FC236}">
                <a16:creationId xmlns:a16="http://schemas.microsoft.com/office/drawing/2014/main" id="{62709E01-25B7-4CE1-B75E-92212FF7AADB}"/>
              </a:ext>
            </a:extLst>
          </p:cNvPr>
          <p:cNvSpPr/>
          <p:nvPr/>
        </p:nvSpPr>
        <p:spPr>
          <a:xfrm>
            <a:off x="3981591" y="4750195"/>
            <a:ext cx="1080000" cy="468000"/>
          </a:xfrm>
          <a:prstGeom prst="rightArrow">
            <a:avLst>
              <a:gd name="adj1" fmla="val 68208"/>
              <a:gd name="adj2" fmla="val 71850"/>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t>MAC</a:t>
            </a:r>
            <a:endParaRPr lang="zh-CN" altLang="en-US" dirty="0"/>
          </a:p>
        </p:txBody>
      </p:sp>
    </p:spTree>
    <p:extLst>
      <p:ext uri="{BB962C8B-B14F-4D97-AF65-F5344CB8AC3E}">
        <p14:creationId xmlns:p14="http://schemas.microsoft.com/office/powerpoint/2010/main" val="811505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地址与</a:t>
            </a:r>
            <a:r>
              <a:rPr lang="en-US" altLang="zh-CN" dirty="0"/>
              <a:t>IP</a:t>
            </a:r>
            <a:r>
              <a:rPr lang="zh-CN" altLang="en-US" dirty="0"/>
              <a:t>地址</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401"/>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34" name="组合 33">
            <a:extLst>
              <a:ext uri="{FF2B5EF4-FFF2-40B4-BE49-F238E27FC236}">
                <a16:creationId xmlns:a16="http://schemas.microsoft.com/office/drawing/2014/main" id="{78B312A5-7A20-454A-B55C-15F87A8C486A}"/>
              </a:ext>
            </a:extLst>
          </p:cNvPr>
          <p:cNvGrpSpPr/>
          <p:nvPr/>
        </p:nvGrpSpPr>
        <p:grpSpPr>
          <a:xfrm>
            <a:off x="9464750" y="3284401"/>
            <a:ext cx="1800000" cy="2401807"/>
            <a:chOff x="1134908" y="3137945"/>
            <a:chExt cx="1800000" cy="2401807"/>
          </a:xfrm>
          <a:solidFill>
            <a:schemeClr val="accent2"/>
          </a:solidFill>
        </p:grpSpPr>
        <p:sp>
          <p:nvSpPr>
            <p:cNvPr id="35" name="立方体 34">
              <a:extLst>
                <a:ext uri="{FF2B5EF4-FFF2-40B4-BE49-F238E27FC236}">
                  <a16:creationId xmlns:a16="http://schemas.microsoft.com/office/drawing/2014/main" id="{63ACE213-CB1D-45FC-B74E-E16CD3DDBC0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36" name="立方体 35">
              <a:extLst>
                <a:ext uri="{FF2B5EF4-FFF2-40B4-BE49-F238E27FC236}">
                  <a16:creationId xmlns:a16="http://schemas.microsoft.com/office/drawing/2014/main" id="{647DF4D5-CD02-41E6-B225-F90B2FD57292}"/>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37" name="立方体 36">
              <a:extLst>
                <a:ext uri="{FF2B5EF4-FFF2-40B4-BE49-F238E27FC236}">
                  <a16:creationId xmlns:a16="http://schemas.microsoft.com/office/drawing/2014/main" id="{13A56CC9-A177-4FB0-84FC-79CBD1B33968}"/>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38" name="立方体 37">
              <a:extLst>
                <a:ext uri="{FF2B5EF4-FFF2-40B4-BE49-F238E27FC236}">
                  <a16:creationId xmlns:a16="http://schemas.microsoft.com/office/drawing/2014/main" id="{C4CA514B-7B51-46DE-8342-1D7CC26109E0}"/>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39" name="立方体 38">
              <a:extLst>
                <a:ext uri="{FF2B5EF4-FFF2-40B4-BE49-F238E27FC236}">
                  <a16:creationId xmlns:a16="http://schemas.microsoft.com/office/drawing/2014/main" id="{1B0D3EEF-6C6D-4B81-AEFF-3D76F155236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40" name="组合 39">
            <a:extLst>
              <a:ext uri="{FF2B5EF4-FFF2-40B4-BE49-F238E27FC236}">
                <a16:creationId xmlns:a16="http://schemas.microsoft.com/office/drawing/2014/main" id="{9C33B4C1-4D33-41E0-96B7-E0FE485341DC}"/>
              </a:ext>
            </a:extLst>
          </p:cNvPr>
          <p:cNvGrpSpPr/>
          <p:nvPr/>
        </p:nvGrpSpPr>
        <p:grpSpPr>
          <a:xfrm>
            <a:off x="3773083" y="4197305"/>
            <a:ext cx="1800000" cy="1488903"/>
            <a:chOff x="1134908" y="4050849"/>
            <a:chExt cx="1800000" cy="1488903"/>
          </a:xfrm>
          <a:solidFill>
            <a:schemeClr val="accent2"/>
          </a:solidFill>
        </p:grpSpPr>
        <p:sp>
          <p:nvSpPr>
            <p:cNvPr id="41" name="立方体 40">
              <a:extLst>
                <a:ext uri="{FF2B5EF4-FFF2-40B4-BE49-F238E27FC236}">
                  <a16:creationId xmlns:a16="http://schemas.microsoft.com/office/drawing/2014/main" id="{8FF61E7A-A533-4B2B-8D3B-B456F585B7E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2" name="立方体 41">
              <a:extLst>
                <a:ext uri="{FF2B5EF4-FFF2-40B4-BE49-F238E27FC236}">
                  <a16:creationId xmlns:a16="http://schemas.microsoft.com/office/drawing/2014/main" id="{A2D937EE-449F-48A2-8DCE-4C4FA201DC4B}"/>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3" name="立方体 42">
              <a:extLst>
                <a:ext uri="{FF2B5EF4-FFF2-40B4-BE49-F238E27FC236}">
                  <a16:creationId xmlns:a16="http://schemas.microsoft.com/office/drawing/2014/main" id="{A3D6D17E-CB90-43FA-9241-57A2CD1B7D2F}"/>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grpSp>
        <p:nvGrpSpPr>
          <p:cNvPr id="46" name="组合 45">
            <a:extLst>
              <a:ext uri="{FF2B5EF4-FFF2-40B4-BE49-F238E27FC236}">
                <a16:creationId xmlns:a16="http://schemas.microsoft.com/office/drawing/2014/main" id="{58A56EF3-3E94-4BE1-8DC1-4D2E68719A91}"/>
              </a:ext>
            </a:extLst>
          </p:cNvPr>
          <p:cNvGrpSpPr/>
          <p:nvPr/>
        </p:nvGrpSpPr>
        <p:grpSpPr>
          <a:xfrm>
            <a:off x="6618916" y="4197305"/>
            <a:ext cx="1800000" cy="1488903"/>
            <a:chOff x="1134908" y="4050849"/>
            <a:chExt cx="1800000" cy="1488903"/>
          </a:xfrm>
          <a:solidFill>
            <a:schemeClr val="accent2"/>
          </a:solidFill>
        </p:grpSpPr>
        <p:sp>
          <p:nvSpPr>
            <p:cNvPr id="47" name="立方体 46">
              <a:extLst>
                <a:ext uri="{FF2B5EF4-FFF2-40B4-BE49-F238E27FC236}">
                  <a16:creationId xmlns:a16="http://schemas.microsoft.com/office/drawing/2014/main" id="{20E5723D-D369-43A4-9A39-ACD4412A8C91}"/>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8" name="立方体 47">
              <a:extLst>
                <a:ext uri="{FF2B5EF4-FFF2-40B4-BE49-F238E27FC236}">
                  <a16:creationId xmlns:a16="http://schemas.microsoft.com/office/drawing/2014/main" id="{D01037CD-8A8D-440D-B541-02E0CAE31194}"/>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9" name="立方体 48">
              <a:extLst>
                <a:ext uri="{FF2B5EF4-FFF2-40B4-BE49-F238E27FC236}">
                  <a16:creationId xmlns:a16="http://schemas.microsoft.com/office/drawing/2014/main" id="{A58182C7-6907-4A34-BC28-FCFBB9204E5E}"/>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pic>
        <p:nvPicPr>
          <p:cNvPr id="4" name="图片 3">
            <a:extLst>
              <a:ext uri="{FF2B5EF4-FFF2-40B4-BE49-F238E27FC236}">
                <a16:creationId xmlns:a16="http://schemas.microsoft.com/office/drawing/2014/main" id="{8D9B357C-9133-4ED6-A774-4BE198A437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44483" y="1608383"/>
            <a:ext cx="457200" cy="457200"/>
          </a:xfrm>
          <a:prstGeom prst="rect">
            <a:avLst/>
          </a:prstGeom>
        </p:spPr>
      </p:pic>
      <p:pic>
        <p:nvPicPr>
          <p:cNvPr id="7" name="图片 6">
            <a:extLst>
              <a:ext uri="{FF2B5EF4-FFF2-40B4-BE49-F238E27FC236}">
                <a16:creationId xmlns:a16="http://schemas.microsoft.com/office/drawing/2014/main" id="{496F125A-4631-4FB6-A075-39D9D71E8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8650" y="1608383"/>
            <a:ext cx="457200" cy="457200"/>
          </a:xfrm>
          <a:prstGeom prst="rect">
            <a:avLst/>
          </a:prstGeom>
        </p:spPr>
      </p:pic>
      <p:pic>
        <p:nvPicPr>
          <p:cNvPr id="52" name="图片 51">
            <a:extLst>
              <a:ext uri="{FF2B5EF4-FFF2-40B4-BE49-F238E27FC236}">
                <a16:creationId xmlns:a16="http://schemas.microsoft.com/office/drawing/2014/main" id="{DA188974-544C-47A4-9D3C-052E9C22CF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0316" y="1608383"/>
            <a:ext cx="457200" cy="457200"/>
          </a:xfrm>
          <a:prstGeom prst="rect">
            <a:avLst/>
          </a:prstGeom>
        </p:spPr>
      </p:pic>
      <p:pic>
        <p:nvPicPr>
          <p:cNvPr id="55" name="图片 54">
            <a:extLst>
              <a:ext uri="{FF2B5EF4-FFF2-40B4-BE49-F238E27FC236}">
                <a16:creationId xmlns:a16="http://schemas.microsoft.com/office/drawing/2014/main" id="{7A2B11F5-8DD7-4A78-A714-BD8D214C22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36149" y="1608383"/>
            <a:ext cx="457200" cy="457200"/>
          </a:xfrm>
          <a:prstGeom prst="rect">
            <a:avLst/>
          </a:prstGeom>
        </p:spPr>
      </p:pic>
      <p:sp>
        <p:nvSpPr>
          <p:cNvPr id="8" name="文本框 7">
            <a:extLst>
              <a:ext uri="{FF2B5EF4-FFF2-40B4-BE49-F238E27FC236}">
                <a16:creationId xmlns:a16="http://schemas.microsoft.com/office/drawing/2014/main" id="{9C3F810D-4C54-47EB-B18D-5F90505F55C4}"/>
              </a:ext>
            </a:extLst>
          </p:cNvPr>
          <p:cNvSpPr txBox="1"/>
          <p:nvPr/>
        </p:nvSpPr>
        <p:spPr>
          <a:xfrm>
            <a:off x="1606677" y="1298044"/>
            <a:ext cx="44114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h1</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D9EEA90D-55D8-4D54-A03C-4042C2661C20}"/>
              </a:ext>
            </a:extLst>
          </p:cNvPr>
          <p:cNvSpPr txBox="1"/>
          <p:nvPr/>
        </p:nvSpPr>
        <p:spPr>
          <a:xfrm>
            <a:off x="10141783" y="1298044"/>
            <a:ext cx="44114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h2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7AF3AAEA-A810-493F-9E6D-E5C2E152350D}"/>
              </a:ext>
            </a:extLst>
          </p:cNvPr>
          <p:cNvSpPr txBox="1"/>
          <p:nvPr/>
        </p:nvSpPr>
        <p:spPr>
          <a:xfrm>
            <a:off x="7285530" y="1298044"/>
            <a:ext cx="401072"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27B3F93F-EF1F-4BF8-A3DB-356F535D9A03}"/>
              </a:ext>
            </a:extLst>
          </p:cNvPr>
          <p:cNvSpPr txBox="1"/>
          <p:nvPr/>
        </p:nvSpPr>
        <p:spPr>
          <a:xfrm>
            <a:off x="4466791" y="1298044"/>
            <a:ext cx="461986" cy="369332"/>
          </a:xfrm>
          <a:prstGeom prst="rect">
            <a:avLst/>
          </a:prstGeom>
          <a:noFill/>
        </p:spPr>
        <p:txBody>
          <a:bodyPr wrap="squar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9" name="文本框 8">
            <a:extLst>
              <a:ext uri="{FF2B5EF4-FFF2-40B4-BE49-F238E27FC236}">
                <a16:creationId xmlns:a16="http://schemas.microsoft.com/office/drawing/2014/main" id="{A0116EBA-28B1-4283-B6CE-1A25F1277CDF}"/>
              </a:ext>
            </a:extLst>
          </p:cNvPr>
          <p:cNvSpPr txBox="1"/>
          <p:nvPr/>
        </p:nvSpPr>
        <p:spPr>
          <a:xfrm>
            <a:off x="2142645" y="1856665"/>
            <a:ext cx="606256"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IP1</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4944967" y="1856665"/>
            <a:ext cx="628698"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IP4</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0" name="文本框 59">
            <a:extLst>
              <a:ext uri="{FF2B5EF4-FFF2-40B4-BE49-F238E27FC236}">
                <a16:creationId xmlns:a16="http://schemas.microsoft.com/office/drawing/2014/main" id="{DD1D30A8-988B-4611-8525-109FAA32EBB0}"/>
              </a:ext>
            </a:extLst>
          </p:cNvPr>
          <p:cNvSpPr txBox="1"/>
          <p:nvPr/>
        </p:nvSpPr>
        <p:spPr>
          <a:xfrm>
            <a:off x="7724124" y="1856665"/>
            <a:ext cx="630301"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IP6</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MAC6</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1" name="文本框 60">
            <a:extLst>
              <a:ext uri="{FF2B5EF4-FFF2-40B4-BE49-F238E27FC236}">
                <a16:creationId xmlns:a16="http://schemas.microsoft.com/office/drawing/2014/main" id="{F7CD0D4C-AFB6-46E9-AC8C-2AD499B83FA1}"/>
              </a:ext>
            </a:extLst>
          </p:cNvPr>
          <p:cNvSpPr txBox="1"/>
          <p:nvPr/>
        </p:nvSpPr>
        <p:spPr>
          <a:xfrm>
            <a:off x="10628037" y="1856665"/>
            <a:ext cx="622286"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IP2</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2" name="文本框 61">
            <a:extLst>
              <a:ext uri="{FF2B5EF4-FFF2-40B4-BE49-F238E27FC236}">
                <a16:creationId xmlns:a16="http://schemas.microsoft.com/office/drawing/2014/main" id="{65C0B82E-6840-48B2-8C73-247E0AA3E4EF}"/>
              </a:ext>
            </a:extLst>
          </p:cNvPr>
          <p:cNvSpPr txBox="1"/>
          <p:nvPr/>
        </p:nvSpPr>
        <p:spPr>
          <a:xfrm>
            <a:off x="2854866"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3" name="文本框 62">
            <a:extLst>
              <a:ext uri="{FF2B5EF4-FFF2-40B4-BE49-F238E27FC236}">
                <a16:creationId xmlns:a16="http://schemas.microsoft.com/office/drawing/2014/main" id="{DBE06509-F7B6-4FB2-A274-B96FDFCA3044}"/>
              </a:ext>
            </a:extLst>
          </p:cNvPr>
          <p:cNvSpPr txBox="1"/>
          <p:nvPr/>
        </p:nvSpPr>
        <p:spPr>
          <a:xfrm>
            <a:off x="5700699"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4" name="文本框 63">
            <a:extLst>
              <a:ext uri="{FF2B5EF4-FFF2-40B4-BE49-F238E27FC236}">
                <a16:creationId xmlns:a16="http://schemas.microsoft.com/office/drawing/2014/main" id="{A11C3E34-0BE7-46A9-9AE8-1B14609A63E2}"/>
              </a:ext>
            </a:extLst>
          </p:cNvPr>
          <p:cNvSpPr txBox="1"/>
          <p:nvPr/>
        </p:nvSpPr>
        <p:spPr>
          <a:xfrm>
            <a:off x="8546533"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5" name="文本框 64">
            <a:extLst>
              <a:ext uri="{FF2B5EF4-FFF2-40B4-BE49-F238E27FC236}">
                <a16:creationId xmlns:a16="http://schemas.microsoft.com/office/drawing/2014/main" id="{8832B55A-B3E8-4154-B751-68EE3F873BF0}"/>
              </a:ext>
            </a:extLst>
          </p:cNvPr>
          <p:cNvSpPr txBox="1"/>
          <p:nvPr/>
        </p:nvSpPr>
        <p:spPr>
          <a:xfrm>
            <a:off x="2659300" y="4847642"/>
            <a:ext cx="1181735"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MAC1→MAC3</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6" name="文本框 65">
            <a:extLst>
              <a:ext uri="{FF2B5EF4-FFF2-40B4-BE49-F238E27FC236}">
                <a16:creationId xmlns:a16="http://schemas.microsoft.com/office/drawing/2014/main" id="{47E0C500-165F-4C28-86A7-F31728F230D9}"/>
              </a:ext>
            </a:extLst>
          </p:cNvPr>
          <p:cNvSpPr txBox="1"/>
          <p:nvPr/>
        </p:nvSpPr>
        <p:spPr>
          <a:xfrm>
            <a:off x="5489102" y="4847642"/>
            <a:ext cx="1213794"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MAC4→MAC5</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7" name="文本框 66">
            <a:extLst>
              <a:ext uri="{FF2B5EF4-FFF2-40B4-BE49-F238E27FC236}">
                <a16:creationId xmlns:a16="http://schemas.microsoft.com/office/drawing/2014/main" id="{A2B87198-B4E2-4DDD-9AE1-DC1154D11616}"/>
              </a:ext>
            </a:extLst>
          </p:cNvPr>
          <p:cNvSpPr txBox="1"/>
          <p:nvPr/>
        </p:nvSpPr>
        <p:spPr>
          <a:xfrm>
            <a:off x="8337342" y="4847642"/>
            <a:ext cx="1208985"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MAC6→MAC2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cxnSp>
        <p:nvCxnSpPr>
          <p:cNvPr id="16" name="连接符: 肘形 15">
            <a:extLst>
              <a:ext uri="{FF2B5EF4-FFF2-40B4-BE49-F238E27FC236}">
                <a16:creationId xmlns:a16="http://schemas.microsoft.com/office/drawing/2014/main" id="{0A35AB17-31B3-4C04-B214-447499A170E8}"/>
              </a:ext>
            </a:extLst>
          </p:cNvPr>
          <p:cNvCxnSpPr>
            <a:cxnSpLocks/>
            <a:stCxn id="7" idx="2"/>
            <a:endCxn id="4" idx="1"/>
          </p:cNvCxnSpPr>
          <p:nvPr/>
        </p:nvCxnSpPr>
        <p:spPr>
          <a:xfrm rot="5400000" flipH="1" flipV="1">
            <a:off x="3021566" y="642666"/>
            <a:ext cx="228600" cy="2617233"/>
          </a:xfrm>
          <a:prstGeom prst="bentConnector4">
            <a:avLst>
              <a:gd name="adj1" fmla="val -100000"/>
              <a:gd name="adj2" fmla="val 54367"/>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68" name="连接符: 肘形 67">
            <a:extLst>
              <a:ext uri="{FF2B5EF4-FFF2-40B4-BE49-F238E27FC236}">
                <a16:creationId xmlns:a16="http://schemas.microsoft.com/office/drawing/2014/main" id="{CDFC1110-CC69-4665-A731-62DEEF472BA8}"/>
              </a:ext>
            </a:extLst>
          </p:cNvPr>
          <p:cNvCxnSpPr>
            <a:cxnSpLocks/>
            <a:stCxn id="52" idx="3"/>
            <a:endCxn id="55" idx="2"/>
          </p:cNvCxnSpPr>
          <p:nvPr/>
        </p:nvCxnSpPr>
        <p:spPr>
          <a:xfrm>
            <a:off x="7747516" y="1836983"/>
            <a:ext cx="2617233" cy="228600"/>
          </a:xfrm>
          <a:prstGeom prst="bentConnector4">
            <a:avLst>
              <a:gd name="adj1" fmla="val 45633"/>
              <a:gd name="adj2" fmla="val 200000"/>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76" name="直接连接符 75">
            <a:extLst>
              <a:ext uri="{FF2B5EF4-FFF2-40B4-BE49-F238E27FC236}">
                <a16:creationId xmlns:a16="http://schemas.microsoft.com/office/drawing/2014/main" id="{224A48BB-2AB5-41FE-9D6F-6C4DE1F9D7AC}"/>
              </a:ext>
            </a:extLst>
          </p:cNvPr>
          <p:cNvCxnSpPr>
            <a:stCxn id="4" idx="3"/>
            <a:endCxn id="52" idx="1"/>
          </p:cNvCxnSpPr>
          <p:nvPr/>
        </p:nvCxnSpPr>
        <p:spPr>
          <a:xfrm>
            <a:off x="4901683" y="1836983"/>
            <a:ext cx="2388633" cy="0"/>
          </a:xfrm>
          <a:prstGeom prst="line">
            <a:avLst/>
          </a:prstGeom>
          <a:ln>
            <a:tailEnd type="triangle"/>
          </a:ln>
        </p:spPr>
        <p:style>
          <a:lnRef idx="1">
            <a:schemeClr val="accent3"/>
          </a:lnRef>
          <a:fillRef idx="0">
            <a:schemeClr val="accent3"/>
          </a:fillRef>
          <a:effectRef idx="0">
            <a:schemeClr val="accent3"/>
          </a:effectRef>
          <a:fontRef idx="minor">
            <a:schemeClr val="tx1"/>
          </a:fontRef>
        </p:style>
      </p:cxnSp>
      <p:sp>
        <p:nvSpPr>
          <p:cNvPr id="78" name="文本框 77">
            <a:extLst>
              <a:ext uri="{FF2B5EF4-FFF2-40B4-BE49-F238E27FC236}">
                <a16:creationId xmlns:a16="http://schemas.microsoft.com/office/drawing/2014/main" id="{292C454D-D3D3-4980-B5D2-278E129918E9}"/>
              </a:ext>
            </a:extLst>
          </p:cNvPr>
          <p:cNvSpPr txBox="1"/>
          <p:nvPr/>
        </p:nvSpPr>
        <p:spPr>
          <a:xfrm>
            <a:off x="3782119" y="1835725"/>
            <a:ext cx="619080"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IP3</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79" name="文本框 78">
            <a:extLst>
              <a:ext uri="{FF2B5EF4-FFF2-40B4-BE49-F238E27FC236}">
                <a16:creationId xmlns:a16="http://schemas.microsoft.com/office/drawing/2014/main" id="{887D1EEC-347D-44D4-8DC0-D11E6282F72B}"/>
              </a:ext>
            </a:extLst>
          </p:cNvPr>
          <p:cNvSpPr txBox="1"/>
          <p:nvPr/>
        </p:nvSpPr>
        <p:spPr>
          <a:xfrm>
            <a:off x="6604092" y="1835725"/>
            <a:ext cx="628698"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IP5</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MAC5</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23674614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P spid="64" grpId="0"/>
      <p:bldP spid="65" grpId="0"/>
      <p:bldP spid="66" grpId="0"/>
      <p:bldP spid="67"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ARP</a:t>
            </a:r>
            <a:r>
              <a:rPr lang="zh-CN" altLang="en-US" dirty="0"/>
              <a:t>地址解析协议</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2853666" cy="307777"/>
          </a:xfrm>
          <a:prstGeom prst="rect">
            <a:avLst/>
          </a:prstGeom>
          <a:noFill/>
        </p:spPr>
        <p:txBody>
          <a:bodyPr wrap="none" rtlCol="0">
            <a:spAutoFit/>
          </a:bodyPr>
          <a:lstStyle/>
          <a:p>
            <a:pPr>
              <a:spcBef>
                <a:spcPts val="600"/>
              </a:spcBef>
              <a:spcAft>
                <a:spcPts val="600"/>
              </a:spcAft>
            </a:pP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ARP-Address Resolution Protocol</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5281514" y="3167390"/>
            <a:ext cx="1869423" cy="523220"/>
          </a:xfrm>
          <a:prstGeom prst="rect">
            <a:avLst/>
          </a:prstGeom>
          <a:noFill/>
        </p:spPr>
        <p:txBody>
          <a:bodyPr wrap="none" rtlCol="0">
            <a:spAutoFit/>
          </a:bodyPr>
          <a:lstStyle/>
          <a:p>
            <a:pPr algn="l"/>
            <a:r>
              <a:rPr lang="en-US" altLang="zh-CN" sz="2800" kern="100" dirty="0">
                <a:effectLst/>
                <a:latin typeface="Roboto" panose="02000000000000000000" pitchFamily="2" charset="0"/>
                <a:ea typeface="微软雅黑 Light" panose="020B0502040204020203" pitchFamily="34" charset="-122"/>
                <a:cs typeface="Roboto" panose="02000000000000000000" pitchFamily="2" charset="0"/>
              </a:rPr>
              <a:t>IP </a:t>
            </a:r>
            <a:r>
              <a:rPr lang="en-US" altLang="zh-CN" sz="2800" kern="100" dirty="0">
                <a:latin typeface="Roboto" panose="02000000000000000000" pitchFamily="2" charset="0"/>
                <a:ea typeface="微软雅黑 Light" panose="020B0502040204020203" pitchFamily="34" charset="-122"/>
                <a:cs typeface="Roboto" panose="02000000000000000000" pitchFamily="2" charset="0"/>
              </a:rPr>
              <a:t>→ MAC</a:t>
            </a:r>
            <a:endParaRPr lang="zh-CN" altLang="en-US" sz="2800" kern="1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1954833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地址解析协议</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Address Resolution Protocol</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09589" y="1879184"/>
            <a:ext cx="1354858"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ARP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5954850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左右 1">
            <a:extLst>
              <a:ext uri="{FF2B5EF4-FFF2-40B4-BE49-F238E27FC236}">
                <a16:creationId xmlns:a16="http://schemas.microsoft.com/office/drawing/2014/main" id="{A6E7BAF1-A3CD-4FAD-A4C9-D08FCFC66A14}"/>
              </a:ext>
            </a:extLst>
          </p:cNvPr>
          <p:cNvSpPr/>
          <p:nvPr/>
        </p:nvSpPr>
        <p:spPr>
          <a:xfrm>
            <a:off x="1612490" y="69138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a:extLst>
              <a:ext uri="{FF2B5EF4-FFF2-40B4-BE49-F238E27FC236}">
                <a16:creationId xmlns:a16="http://schemas.microsoft.com/office/drawing/2014/main" id="{2F93A694-5E9B-4F05-B0BD-1C7AECEFFD85}"/>
              </a:ext>
            </a:extLst>
          </p:cNvPr>
          <p:cNvGrpSpPr/>
          <p:nvPr/>
        </p:nvGrpSpPr>
        <p:grpSpPr>
          <a:xfrm>
            <a:off x="2081981" y="1626212"/>
            <a:ext cx="457200" cy="694330"/>
            <a:chOff x="2250168" y="4513767"/>
            <a:chExt cx="457200" cy="694330"/>
          </a:xfrm>
        </p:grpSpPr>
        <p:pic>
          <p:nvPicPr>
            <p:cNvPr id="4" name="图片 3">
              <a:extLst>
                <a:ext uri="{FF2B5EF4-FFF2-40B4-BE49-F238E27FC236}">
                  <a16:creationId xmlns:a16="http://schemas.microsoft.com/office/drawing/2014/main" id="{5942672A-FE24-4326-959C-C9415D4267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5" name="文本框 4">
              <a:extLst>
                <a:ext uri="{FF2B5EF4-FFF2-40B4-BE49-F238E27FC236}">
                  <a16:creationId xmlns:a16="http://schemas.microsoft.com/office/drawing/2014/main" id="{E879D84B-0ADF-4214-910E-3F6FAE691314}"/>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6" name="组合 5">
            <a:extLst>
              <a:ext uri="{FF2B5EF4-FFF2-40B4-BE49-F238E27FC236}">
                <a16:creationId xmlns:a16="http://schemas.microsoft.com/office/drawing/2014/main" id="{88D99A70-4E2D-4B21-ACBC-332CE8FA6049}"/>
              </a:ext>
            </a:extLst>
          </p:cNvPr>
          <p:cNvGrpSpPr/>
          <p:nvPr/>
        </p:nvGrpSpPr>
        <p:grpSpPr>
          <a:xfrm>
            <a:off x="4605594" y="1626212"/>
            <a:ext cx="457200" cy="694330"/>
            <a:chOff x="2250168" y="4513767"/>
            <a:chExt cx="457200" cy="694330"/>
          </a:xfrm>
        </p:grpSpPr>
        <p:pic>
          <p:nvPicPr>
            <p:cNvPr id="7" name="图片 6">
              <a:extLst>
                <a:ext uri="{FF2B5EF4-FFF2-40B4-BE49-F238E27FC236}">
                  <a16:creationId xmlns:a16="http://schemas.microsoft.com/office/drawing/2014/main" id="{2D6DAC83-9BB1-4AF9-8C5E-07F3D791D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8" name="文本框 7">
              <a:extLst>
                <a:ext uri="{FF2B5EF4-FFF2-40B4-BE49-F238E27FC236}">
                  <a16:creationId xmlns:a16="http://schemas.microsoft.com/office/drawing/2014/main" id="{AADB8869-9CDA-474F-8C58-B56CD3218975}"/>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9" name="组合 8">
            <a:extLst>
              <a:ext uri="{FF2B5EF4-FFF2-40B4-BE49-F238E27FC236}">
                <a16:creationId xmlns:a16="http://schemas.microsoft.com/office/drawing/2014/main" id="{CD595E21-740F-4ECE-BD2A-D9451CB0E897}"/>
              </a:ext>
            </a:extLst>
          </p:cNvPr>
          <p:cNvGrpSpPr/>
          <p:nvPr/>
        </p:nvGrpSpPr>
        <p:grpSpPr>
          <a:xfrm>
            <a:off x="7129207" y="1626212"/>
            <a:ext cx="457200" cy="694330"/>
            <a:chOff x="2250168" y="4513767"/>
            <a:chExt cx="457200" cy="694330"/>
          </a:xfrm>
        </p:grpSpPr>
        <p:pic>
          <p:nvPicPr>
            <p:cNvPr id="10" name="图片 9">
              <a:extLst>
                <a:ext uri="{FF2B5EF4-FFF2-40B4-BE49-F238E27FC236}">
                  <a16:creationId xmlns:a16="http://schemas.microsoft.com/office/drawing/2014/main" id="{802A121B-3921-469D-96B7-92EAD8CDE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32DC54E8-87B8-4C32-AEAD-F7D41C84C2D0}"/>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2" name="组合 11">
            <a:extLst>
              <a:ext uri="{FF2B5EF4-FFF2-40B4-BE49-F238E27FC236}">
                <a16:creationId xmlns:a16="http://schemas.microsoft.com/office/drawing/2014/main" id="{99FFD3FB-E9A1-4481-B266-D96685280E12}"/>
              </a:ext>
            </a:extLst>
          </p:cNvPr>
          <p:cNvGrpSpPr/>
          <p:nvPr/>
        </p:nvGrpSpPr>
        <p:grpSpPr>
          <a:xfrm>
            <a:off x="9652820" y="1626212"/>
            <a:ext cx="457200" cy="694330"/>
            <a:chOff x="2250168" y="4513767"/>
            <a:chExt cx="457200" cy="694330"/>
          </a:xfrm>
        </p:grpSpPr>
        <p:pic>
          <p:nvPicPr>
            <p:cNvPr id="13" name="图片 12">
              <a:extLst>
                <a:ext uri="{FF2B5EF4-FFF2-40B4-BE49-F238E27FC236}">
                  <a16:creationId xmlns:a16="http://schemas.microsoft.com/office/drawing/2014/main" id="{9871D7F5-0008-4B21-816D-8F133BBFCA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14" name="文本框 13">
              <a:extLst>
                <a:ext uri="{FF2B5EF4-FFF2-40B4-BE49-F238E27FC236}">
                  <a16:creationId xmlns:a16="http://schemas.microsoft.com/office/drawing/2014/main" id="{A28FC5FB-9BB4-4D7C-A7EC-2D8152DE91B1}"/>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cxnSp>
        <p:nvCxnSpPr>
          <p:cNvPr id="15" name="直接箭头连接符 14">
            <a:extLst>
              <a:ext uri="{FF2B5EF4-FFF2-40B4-BE49-F238E27FC236}">
                <a16:creationId xmlns:a16="http://schemas.microsoft.com/office/drawing/2014/main" id="{949B5C77-66DC-4A1D-BDDD-5171036F3948}"/>
              </a:ext>
            </a:extLst>
          </p:cNvPr>
          <p:cNvCxnSpPr>
            <a:cxnSpLocks/>
          </p:cNvCxnSpPr>
          <p:nvPr/>
        </p:nvCxnSpPr>
        <p:spPr>
          <a:xfrm flipV="1">
            <a:off x="2310581"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6" name="直接箭头连接符 15">
            <a:extLst>
              <a:ext uri="{FF2B5EF4-FFF2-40B4-BE49-F238E27FC236}">
                <a16:creationId xmlns:a16="http://schemas.microsoft.com/office/drawing/2014/main" id="{9BB0F9AF-9C7B-44BE-A0CF-98F2D667617B}"/>
              </a:ext>
            </a:extLst>
          </p:cNvPr>
          <p:cNvCxnSpPr>
            <a:cxnSpLocks/>
          </p:cNvCxnSpPr>
          <p:nvPr/>
        </p:nvCxnSpPr>
        <p:spPr>
          <a:xfrm flipV="1">
            <a:off x="4834194"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09730821-E296-4AD1-B375-2BE8AA883A6A}"/>
              </a:ext>
            </a:extLst>
          </p:cNvPr>
          <p:cNvCxnSpPr>
            <a:cxnSpLocks/>
          </p:cNvCxnSpPr>
          <p:nvPr/>
        </p:nvCxnSpPr>
        <p:spPr>
          <a:xfrm flipV="1">
            <a:off x="7357807"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8" name="直接箭头连接符 17">
            <a:extLst>
              <a:ext uri="{FF2B5EF4-FFF2-40B4-BE49-F238E27FC236}">
                <a16:creationId xmlns:a16="http://schemas.microsoft.com/office/drawing/2014/main" id="{FCFD189B-7D9B-4E59-AD4F-AE487E2FA529}"/>
              </a:ext>
            </a:extLst>
          </p:cNvPr>
          <p:cNvCxnSpPr>
            <a:cxnSpLocks/>
          </p:cNvCxnSpPr>
          <p:nvPr/>
        </p:nvCxnSpPr>
        <p:spPr>
          <a:xfrm flipV="1">
            <a:off x="9881420"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19" name="表格 24">
            <a:extLst>
              <a:ext uri="{FF2B5EF4-FFF2-40B4-BE49-F238E27FC236}">
                <a16:creationId xmlns:a16="http://schemas.microsoft.com/office/drawing/2014/main" id="{B00C2E20-2349-4CB9-B7AE-38315193C7B0}"/>
              </a:ext>
            </a:extLst>
          </p:cNvPr>
          <p:cNvGraphicFramePr>
            <a:graphicFrameLocks noGrp="1"/>
          </p:cNvGraphicFramePr>
          <p:nvPr>
            <p:extLst>
              <p:ext uri="{D42A27DB-BD31-4B8C-83A1-F6EECF244321}">
                <p14:modId xmlns:p14="http://schemas.microsoft.com/office/powerpoint/2010/main" val="3010957375"/>
              </p:ext>
            </p:extLst>
          </p:nvPr>
        </p:nvGraphicFramePr>
        <p:xfrm>
          <a:off x="1208139"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192.168.0.1</a:t>
                      </a:r>
                    </a:p>
                    <a:p>
                      <a:pPr algn="ctr"/>
                      <a:r>
                        <a:rPr lang="en-US" altLang="zh-CN" sz="1400" b="0" dirty="0">
                          <a:solidFill>
                            <a:schemeClr val="tx1"/>
                          </a:solidFill>
                          <a:latin typeface="Roboto" panose="02000000000000000000" pitchFamily="2" charset="0"/>
                          <a:cs typeface="Roboto" panose="02000000000000000000" pitchFamily="2" charset="0"/>
                        </a:rPr>
                        <a:t>00D0.5857.5331</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1" name="表格 24">
            <a:extLst>
              <a:ext uri="{FF2B5EF4-FFF2-40B4-BE49-F238E27FC236}">
                <a16:creationId xmlns:a16="http://schemas.microsoft.com/office/drawing/2014/main" id="{4334422F-C059-489A-AE86-891FA5A2A3FA}"/>
              </a:ext>
            </a:extLst>
          </p:cNvPr>
          <p:cNvGraphicFramePr>
            <a:graphicFrameLocks noGrp="1"/>
          </p:cNvGraphicFramePr>
          <p:nvPr>
            <p:extLst>
              <p:ext uri="{D42A27DB-BD31-4B8C-83A1-F6EECF244321}">
                <p14:modId xmlns:p14="http://schemas.microsoft.com/office/powerpoint/2010/main" val="943213179"/>
              </p:ext>
            </p:extLst>
          </p:nvPr>
        </p:nvGraphicFramePr>
        <p:xfrm>
          <a:off x="3750124"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192.168.0.2</a:t>
                      </a:r>
                    </a:p>
                    <a:p>
                      <a:pPr algn="ctr"/>
                      <a:r>
                        <a:rPr lang="en-US" altLang="zh-CN" sz="1400" b="0" dirty="0">
                          <a:solidFill>
                            <a:schemeClr val="tx1"/>
                          </a:solidFill>
                          <a:latin typeface="Roboto" panose="02000000000000000000" pitchFamily="2" charset="0"/>
                          <a:cs typeface="Roboto" panose="02000000000000000000" pitchFamily="2" charset="0"/>
                        </a:rPr>
                        <a:t>00D0.D3CA.D578</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2" name="表格 24">
            <a:extLst>
              <a:ext uri="{FF2B5EF4-FFF2-40B4-BE49-F238E27FC236}">
                <a16:creationId xmlns:a16="http://schemas.microsoft.com/office/drawing/2014/main" id="{C338C808-2E49-46AC-B4F2-025F247A93B3}"/>
              </a:ext>
            </a:extLst>
          </p:cNvPr>
          <p:cNvGraphicFramePr>
            <a:graphicFrameLocks noGrp="1"/>
          </p:cNvGraphicFramePr>
          <p:nvPr>
            <p:extLst>
              <p:ext uri="{D42A27DB-BD31-4B8C-83A1-F6EECF244321}">
                <p14:modId xmlns:p14="http://schemas.microsoft.com/office/powerpoint/2010/main" val="101463714"/>
              </p:ext>
            </p:extLst>
          </p:nvPr>
        </p:nvGraphicFramePr>
        <p:xfrm>
          <a:off x="6277807"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192.168.0.3</a:t>
                      </a:r>
                    </a:p>
                    <a:p>
                      <a:pPr algn="ctr"/>
                      <a:r>
                        <a:rPr lang="en-US" altLang="zh-CN" sz="1400" b="0" dirty="0">
                          <a:solidFill>
                            <a:schemeClr val="tx1"/>
                          </a:solidFill>
                          <a:latin typeface="Roboto" panose="02000000000000000000" pitchFamily="2" charset="0"/>
                          <a:cs typeface="Roboto" panose="02000000000000000000" pitchFamily="2" charset="0"/>
                        </a:rPr>
                        <a:t>0030.A313.6DA4</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3" name="表格 24">
            <a:extLst>
              <a:ext uri="{FF2B5EF4-FFF2-40B4-BE49-F238E27FC236}">
                <a16:creationId xmlns:a16="http://schemas.microsoft.com/office/drawing/2014/main" id="{42B047D6-E4E5-4152-91D3-1EB399FC6F7C}"/>
              </a:ext>
            </a:extLst>
          </p:cNvPr>
          <p:cNvGraphicFramePr>
            <a:graphicFrameLocks noGrp="1"/>
          </p:cNvGraphicFramePr>
          <p:nvPr>
            <p:extLst>
              <p:ext uri="{D42A27DB-BD31-4B8C-83A1-F6EECF244321}">
                <p14:modId xmlns:p14="http://schemas.microsoft.com/office/powerpoint/2010/main" val="2629147629"/>
              </p:ext>
            </p:extLst>
          </p:nvPr>
        </p:nvGraphicFramePr>
        <p:xfrm>
          <a:off x="8801420" y="2281219"/>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192.168.0.4</a:t>
                      </a:r>
                    </a:p>
                    <a:p>
                      <a:pPr algn="ctr"/>
                      <a:r>
                        <a:rPr lang="en-US" altLang="zh-CN" sz="1400" b="0" dirty="0">
                          <a:solidFill>
                            <a:schemeClr val="tx1"/>
                          </a:solidFill>
                          <a:latin typeface="Roboto" panose="02000000000000000000" pitchFamily="2" charset="0"/>
                          <a:cs typeface="Roboto" panose="02000000000000000000" pitchFamily="2" charset="0"/>
                        </a:rPr>
                        <a:t>0007.ECEC.A552</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sp>
        <p:nvSpPr>
          <p:cNvPr id="25" name="文本框 24">
            <a:extLst>
              <a:ext uri="{FF2B5EF4-FFF2-40B4-BE49-F238E27FC236}">
                <a16:creationId xmlns:a16="http://schemas.microsoft.com/office/drawing/2014/main" id="{27EB4A6A-F220-4C2A-9D35-75E1CFFD8B19}"/>
              </a:ext>
            </a:extLst>
          </p:cNvPr>
          <p:cNvSpPr txBox="1"/>
          <p:nvPr/>
        </p:nvSpPr>
        <p:spPr>
          <a:xfrm>
            <a:off x="355023" y="3077380"/>
            <a:ext cx="11481954" cy="3631763"/>
          </a:xfrm>
          <a:prstGeom prst="rect">
            <a:avLst/>
          </a:prstGeom>
          <a:solidFill>
            <a:schemeClr val="bg1"/>
          </a:solidFill>
        </p:spPr>
        <p:txBody>
          <a:bodyPr wrap="square" rtlCol="0" anchor="t" anchorCtr="0">
            <a:spAutoFit/>
          </a:bodyPr>
          <a:lstStyle/>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只知道主机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IP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地址，不知道主机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地址，自身的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高速缓存表找不到目的主机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对应的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地址，因此封帧时不能确定目标</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先缓存消息，同时以</a:t>
            </a:r>
            <a:r>
              <a:rPr lang="zh-CN" altLang="en-US" kern="100" dirty="0">
                <a:solidFill>
                  <a:schemeClr val="bg1"/>
                </a:solidFill>
                <a:highlight>
                  <a:srgbClr val="ED7D31"/>
                </a:highlight>
                <a:latin typeface="Roboto" panose="02000000000000000000" pitchFamily="2" charset="0"/>
                <a:ea typeface="微软雅黑 Light" panose="020B0502040204020203" pitchFamily="34" charset="-122"/>
                <a:cs typeface="Times New Roman" panose="02020603050405020304" pitchFamily="18" charset="0"/>
              </a:rPr>
              <a:t>广播</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的形式发起</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请求。内容为：我的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00D0.5857.5331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，我找</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地址是</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的主机的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地址。收到请回答！</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除主机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外，主机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和其它主机都会收到这个广播帧</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2</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和主机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4</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分析后发现，不是询问自己，丢弃该帧</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分析后，发现是询问自己的。于是以</a:t>
            </a:r>
            <a:r>
              <a:rPr lang="zh-CN" altLang="en-US" kern="100" dirty="0">
                <a:solidFill>
                  <a:schemeClr val="bg1"/>
                </a:solidFill>
                <a:highlight>
                  <a:srgbClr val="ED7D31"/>
                </a:highlight>
                <a:latin typeface="Roboto" panose="02000000000000000000" pitchFamily="2" charset="0"/>
                <a:ea typeface="微软雅黑 Light" panose="020B0502040204020203" pitchFamily="34" charset="-122"/>
                <a:cs typeface="Times New Roman" panose="02020603050405020304" pitchFamily="18" charset="0"/>
              </a:rPr>
              <a:t>单播</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的形式给主机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回一个</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响应，内容为：我是</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0030.A313.6DA4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，同时将主机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地址和</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地址记到主机的高速</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缓存表中</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除主机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外，其它主机都会收到这个单播帧。只有主机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发送是发给自己的，于是更新自己的高速</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缓存表，同时，把之前缓存的消息发出去；其它主机丢弃该帧</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57039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地址解析协议</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Address Resolution Protocol</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09589" y="1879184"/>
            <a:ext cx="1354858"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ARP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2" name="文本框 1">
            <a:extLst>
              <a:ext uri="{FF2B5EF4-FFF2-40B4-BE49-F238E27FC236}">
                <a16:creationId xmlns:a16="http://schemas.microsoft.com/office/drawing/2014/main" id="{76A623B8-0453-45F9-AB76-C9BB2484C3E8}"/>
              </a:ext>
            </a:extLst>
          </p:cNvPr>
          <p:cNvSpPr txBox="1"/>
          <p:nvPr/>
        </p:nvSpPr>
        <p:spPr>
          <a:xfrm>
            <a:off x="6096000" y="1084922"/>
            <a:ext cx="5710813" cy="3077766"/>
          </a:xfrm>
          <a:prstGeom prst="rect">
            <a:avLst/>
          </a:prstGeom>
          <a:noFill/>
        </p:spPr>
        <p:txBody>
          <a:bodyPr wrap="square" rtlCol="0">
            <a:spAutoFit/>
          </a:bodyPr>
          <a:lstStyle/>
          <a:p>
            <a:pPr algn="l">
              <a:spcBef>
                <a:spcPts val="600"/>
              </a:spcBef>
              <a:spcAft>
                <a:spcPts val="600"/>
              </a:spcAft>
              <a:buClr>
                <a:schemeClr val="accent2"/>
              </a:buClr>
            </a:pPr>
            <a:r>
              <a:rPr lang="zh-CN" altLang="en-US" sz="1800" b="1" kern="100" dirty="0">
                <a:effectLst/>
                <a:latin typeface="Roboto" panose="02000000000000000000" pitchFamily="2" charset="0"/>
                <a:ea typeface="微软雅黑 Light" panose="020B0502040204020203" pitchFamily="34" charset="-122"/>
                <a:cs typeface="Times New Roman" panose="02020603050405020304" pitchFamily="18" charset="0"/>
              </a:rPr>
              <a:t>特点</a:t>
            </a:r>
            <a:endParaRPr lang="en-US" altLang="zh-CN" sz="1800" b="1"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地址与</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地址并没有一一对应的关系，且不是永久不变的</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动态更新。设备重启，网卡更换等</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有生存周期。超过生存周期的条目将被删除</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每次</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协议使用某个条目，该条目的生存周期都要重新计时</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协议不能跨网络使用</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cxnSp>
        <p:nvCxnSpPr>
          <p:cNvPr id="4" name="直接连接符 3">
            <a:extLst>
              <a:ext uri="{FF2B5EF4-FFF2-40B4-BE49-F238E27FC236}">
                <a16:creationId xmlns:a16="http://schemas.microsoft.com/office/drawing/2014/main" id="{9079512C-A481-433C-9C26-CC2857C4F32E}"/>
              </a:ext>
            </a:extLst>
          </p:cNvPr>
          <p:cNvCxnSpPr/>
          <p:nvPr/>
        </p:nvCxnSpPr>
        <p:spPr>
          <a:xfrm>
            <a:off x="5653548" y="1504335"/>
            <a:ext cx="0" cy="4257368"/>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3">
            <a:extLst>
              <a:ext uri="{FF2B5EF4-FFF2-40B4-BE49-F238E27FC236}">
                <a16:creationId xmlns:a16="http://schemas.microsoft.com/office/drawing/2014/main" id="{ABEAB180-336C-4B93-963B-7339F75377A8}"/>
              </a:ext>
            </a:extLst>
          </p:cNvPr>
          <p:cNvCxnSpPr>
            <a:cxnSpLocks/>
          </p:cNvCxnSpPr>
          <p:nvPr/>
        </p:nvCxnSpPr>
        <p:spPr>
          <a:xfrm>
            <a:off x="5810906" y="4561835"/>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D08586F-7E7F-4F23-9488-6EABDDC1F94A}"/>
              </a:ext>
            </a:extLst>
          </p:cNvPr>
          <p:cNvSpPr txBox="1"/>
          <p:nvPr/>
        </p:nvSpPr>
        <p:spPr>
          <a:xfrm>
            <a:off x="6096000" y="4870553"/>
            <a:ext cx="5710813" cy="1231106"/>
          </a:xfrm>
          <a:prstGeom prst="rect">
            <a:avLst/>
          </a:prstGeom>
          <a:noFill/>
        </p:spPr>
        <p:txBody>
          <a:bodyPr wrap="square" rtlCol="0">
            <a:spAutoFit/>
          </a:bodyPr>
          <a:lstStyle/>
          <a:p>
            <a:pPr>
              <a:spcBef>
                <a:spcPts val="600"/>
              </a:spcBef>
              <a:spcAft>
                <a:spcPts val="600"/>
              </a:spcAft>
              <a:buClr>
                <a:schemeClr val="accent2"/>
              </a:buClr>
            </a:pP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高速</a:t>
            </a:r>
            <a:r>
              <a:rPr lang="en-US" altLang="zh-CN" b="1"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缓存表常用命令</a:t>
            </a:r>
            <a:endParaRPr lang="en-US" altLang="zh-CN" sz="1800" b="1"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查看：</a:t>
            </a:r>
            <a:r>
              <a:rPr lang="en-US" altLang="zh-CN" sz="1800" kern="100" dirty="0" err="1">
                <a:effectLst/>
                <a:latin typeface="Roboto" panose="02000000000000000000" pitchFamily="2" charset="0"/>
                <a:ea typeface="微软雅黑 Light" panose="020B0502040204020203" pitchFamily="34" charset="-122"/>
                <a:cs typeface="Times New Roman" panose="02020603050405020304" pitchFamily="18" charset="0"/>
              </a:rPr>
              <a:t>arp</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a:t>
            </a: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清除：</a:t>
            </a:r>
            <a:r>
              <a:rPr lang="en-US" altLang="zh-CN" kern="100" dirty="0" err="1">
                <a:latin typeface="Roboto" panose="02000000000000000000" pitchFamily="2" charset="0"/>
                <a:ea typeface="微软雅黑 Light" panose="020B0502040204020203" pitchFamily="34" charset="-122"/>
                <a:cs typeface="Times New Roman" panose="02020603050405020304" pitchFamily="18" charset="0"/>
              </a:rPr>
              <a:t>arp</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 -d</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0935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77B5D33E-1265-45EE-8650-2682E6FC7849}"/>
              </a:ext>
            </a:extLst>
          </p:cNvPr>
          <p:cNvSpPr txBox="1">
            <a:spLocks/>
          </p:cNvSpPr>
          <p:nvPr/>
        </p:nvSpPr>
        <p:spPr>
          <a:xfrm>
            <a:off x="1148460" y="1510985"/>
            <a:ext cx="9962887" cy="411581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创建拓扑结构，指定各主机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IP</a:t>
            </a:r>
            <a:r>
              <a:rPr lang="zh-CN" altLang="en-US" sz="1800" dirty="0">
                <a:latin typeface="Roboto" panose="02000000000000000000" pitchFamily="2" charset="0"/>
                <a:ea typeface="微软雅黑 Light" panose="020B0502040204020203" pitchFamily="34" charset="-122"/>
                <a:cs typeface="Roboto" panose="02000000000000000000" pitchFamily="2" charset="0"/>
              </a:rPr>
              <a:t>地址</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为了便于观察，复制各主机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MAC</a:t>
            </a:r>
            <a:r>
              <a:rPr lang="zh-CN" altLang="en-US" sz="1800" dirty="0">
                <a:latin typeface="Roboto" panose="02000000000000000000" pitchFamily="2" charset="0"/>
                <a:ea typeface="微软雅黑 Light" panose="020B0502040204020203" pitchFamily="34" charset="-122"/>
                <a:cs typeface="Roboto" panose="02000000000000000000" pitchFamily="2" charset="0"/>
              </a:rPr>
              <a:t>地址到拓扑</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查看各主机高速</a:t>
            </a:r>
            <a:r>
              <a:rPr lang="en-US" altLang="zh-CN" sz="1800" dirty="0">
                <a:latin typeface="Roboto" panose="02000000000000000000" pitchFamily="2" charset="0"/>
                <a:ea typeface="微软雅黑 Light" panose="020B0502040204020203" pitchFamily="34" charset="-122"/>
                <a:cs typeface="Roboto" panose="02000000000000000000" pitchFamily="2" charset="0"/>
              </a:rPr>
              <a:t>ARP</a:t>
            </a:r>
            <a:r>
              <a:rPr lang="zh-CN" altLang="en-US" sz="1800" dirty="0">
                <a:latin typeface="Roboto" panose="02000000000000000000" pitchFamily="2" charset="0"/>
                <a:ea typeface="微软雅黑 Light" panose="020B0502040204020203" pitchFamily="34" charset="-122"/>
                <a:cs typeface="Roboto" panose="02000000000000000000" pitchFamily="2" charset="0"/>
              </a:rPr>
              <a:t>缓存表</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0</a:t>
            </a:r>
            <a:r>
              <a:rPr lang="zh-CN" altLang="en-US" sz="1800" dirty="0">
                <a:latin typeface="Roboto" panose="02000000000000000000" pitchFamily="2" charset="0"/>
                <a:ea typeface="微软雅黑 Light" panose="020B0502040204020203" pitchFamily="34" charset="-122"/>
                <a:cs typeface="Roboto" panose="02000000000000000000" pitchFamily="2" charset="0"/>
              </a:rPr>
              <a:t>发送包给主机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1</a:t>
            </a:r>
            <a:r>
              <a:rPr lang="zh-CN" altLang="en-US" sz="1800" dirty="0">
                <a:latin typeface="Roboto" panose="02000000000000000000" pitchFamily="2" charset="0"/>
                <a:ea typeface="微软雅黑 Light" panose="020B0502040204020203" pitchFamily="34" charset="-122"/>
                <a:cs typeface="Roboto" panose="02000000000000000000" pitchFamily="2" charset="0"/>
              </a:rPr>
              <a:t>，查看链路状态和包的相应字段</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再查看各主机高速</a:t>
            </a:r>
            <a:r>
              <a:rPr lang="en-US" altLang="zh-CN" sz="1800" dirty="0">
                <a:latin typeface="Roboto" panose="02000000000000000000" pitchFamily="2" charset="0"/>
                <a:ea typeface="微软雅黑 Light" panose="020B0502040204020203" pitchFamily="34" charset="-122"/>
                <a:cs typeface="Roboto" panose="02000000000000000000" pitchFamily="2" charset="0"/>
              </a:rPr>
              <a:t>ARP</a:t>
            </a:r>
            <a:r>
              <a:rPr lang="zh-CN" altLang="en-US" sz="1800" dirty="0">
                <a:latin typeface="Roboto" panose="02000000000000000000" pitchFamily="2" charset="0"/>
                <a:ea typeface="微软雅黑 Light" panose="020B0502040204020203" pitchFamily="34" charset="-122"/>
                <a:cs typeface="Roboto" panose="02000000000000000000" pitchFamily="2" charset="0"/>
              </a:rPr>
              <a:t>缓存表</a:t>
            </a:r>
          </a:p>
        </p:txBody>
      </p:sp>
      <p:pic>
        <p:nvPicPr>
          <p:cNvPr id="5" name="图片 4">
            <a:extLst>
              <a:ext uri="{FF2B5EF4-FFF2-40B4-BE49-F238E27FC236}">
                <a16:creationId xmlns:a16="http://schemas.microsoft.com/office/drawing/2014/main" id="{56AB64DD-92E4-429F-9D45-79D2920A3B98}"/>
              </a:ext>
            </a:extLst>
          </p:cNvPr>
          <p:cNvPicPr>
            <a:picLocks noChangeAspect="1"/>
          </p:cNvPicPr>
          <p:nvPr/>
        </p:nvPicPr>
        <p:blipFill>
          <a:blip r:embed="rId2"/>
          <a:stretch>
            <a:fillRect/>
          </a:stretch>
        </p:blipFill>
        <p:spPr>
          <a:xfrm>
            <a:off x="4068904" y="4353181"/>
            <a:ext cx="4054191" cy="1219306"/>
          </a:xfrm>
          <a:prstGeom prst="rect">
            <a:avLst/>
          </a:prstGeom>
        </p:spPr>
      </p:pic>
    </p:spTree>
    <p:extLst>
      <p:ext uri="{BB962C8B-B14F-4D97-AF65-F5344CB8AC3E}">
        <p14:creationId xmlns:p14="http://schemas.microsoft.com/office/powerpoint/2010/main" val="3612955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4302564" y="2783513"/>
            <a:ext cx="1261884"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冲突域</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Conflict domain</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3221595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冲突和冲突域</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Conflict vs Conflict domain</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r>
              <a:rPr lang="zh-CN" altLang="en-US" dirty="0"/>
              <a:t>在共享式以太网中，如果某个</a:t>
            </a:r>
            <a:r>
              <a:rPr lang="en-US" altLang="zh-CN" dirty="0"/>
              <a:t>CSMA/CD</a:t>
            </a:r>
            <a:r>
              <a:rPr lang="zh-CN" altLang="en-US" dirty="0"/>
              <a:t>网络上的两台计算机在同时通信时会发生冲突，那么这个</a:t>
            </a:r>
            <a:r>
              <a:rPr lang="en-US" altLang="zh-CN" dirty="0"/>
              <a:t>CSMA/CD</a:t>
            </a:r>
            <a:r>
              <a:rPr lang="zh-CN" altLang="en-US" dirty="0"/>
              <a:t>网络就是一个冲突域</a:t>
            </a:r>
            <a:r>
              <a:rPr lang="zh-CN" altLang="en-US" sz="2000" dirty="0"/>
              <a:t>（</a:t>
            </a:r>
            <a:r>
              <a:rPr lang="en-US" altLang="zh-CN" sz="2000" dirty="0"/>
              <a:t>collision domain)</a:t>
            </a:r>
            <a:endParaRPr lang="en-US" altLang="zh-CN" dirty="0"/>
          </a:p>
          <a:p>
            <a:r>
              <a:rPr lang="zh-CN" altLang="en-US" dirty="0"/>
              <a:t>以集线器来扩展网络，相应的，也会扩展了冲突域</a:t>
            </a:r>
          </a:p>
        </p:txBody>
      </p:sp>
      <p:pic>
        <p:nvPicPr>
          <p:cNvPr id="7" name="图片 6">
            <a:extLst>
              <a:ext uri="{FF2B5EF4-FFF2-40B4-BE49-F238E27FC236}">
                <a16:creationId xmlns:a16="http://schemas.microsoft.com/office/drawing/2014/main" id="{C3B17F85-950E-4686-8C59-FCBD35BF7447}"/>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1866258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r>
              <a:rPr lang="zh-CN" altLang="en-US" dirty="0"/>
              <a:t>同时发包</a:t>
            </a:r>
          </a:p>
        </p:txBody>
      </p:sp>
      <p:pic>
        <p:nvPicPr>
          <p:cNvPr id="10" name="图片 9">
            <a:extLst>
              <a:ext uri="{FF2B5EF4-FFF2-40B4-BE49-F238E27FC236}">
                <a16:creationId xmlns:a16="http://schemas.microsoft.com/office/drawing/2014/main" id="{955FC6D9-B114-464E-A916-92D48DAD1C60}"/>
              </a:ext>
            </a:extLst>
          </p:cNvPr>
          <p:cNvPicPr>
            <a:picLocks noChangeAspect="1"/>
          </p:cNvPicPr>
          <p:nvPr/>
        </p:nvPicPr>
        <p:blipFill>
          <a:blip r:embed="rId2"/>
          <a:stretch>
            <a:fillRect/>
          </a:stretch>
        </p:blipFill>
        <p:spPr>
          <a:xfrm>
            <a:off x="2476500" y="1309687"/>
            <a:ext cx="7239000" cy="4238625"/>
          </a:xfrm>
          <a:prstGeom prst="rect">
            <a:avLst/>
          </a:prstGeom>
        </p:spPr>
      </p:pic>
    </p:spTree>
    <p:extLst>
      <p:ext uri="{BB962C8B-B14F-4D97-AF65-F5344CB8AC3E}">
        <p14:creationId xmlns:p14="http://schemas.microsoft.com/office/powerpoint/2010/main" val="15142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endParaRPr lang="zh-CN" altLang="en-US"/>
          </a:p>
        </p:txBody>
      </p:sp>
      <p:pic>
        <p:nvPicPr>
          <p:cNvPr id="9" name="图片 8">
            <a:extLst>
              <a:ext uri="{FF2B5EF4-FFF2-40B4-BE49-F238E27FC236}">
                <a16:creationId xmlns:a16="http://schemas.microsoft.com/office/drawing/2014/main" id="{160685BA-01AD-4366-AAB7-E49160DFF407}"/>
              </a:ext>
            </a:extLst>
          </p:cNvPr>
          <p:cNvPicPr>
            <a:picLocks noChangeAspect="1"/>
          </p:cNvPicPr>
          <p:nvPr/>
        </p:nvPicPr>
        <p:blipFill>
          <a:blip r:embed="rId2"/>
          <a:stretch>
            <a:fillRect/>
          </a:stretch>
        </p:blipFill>
        <p:spPr>
          <a:xfrm>
            <a:off x="2314575" y="852487"/>
            <a:ext cx="7562850" cy="5153025"/>
          </a:xfrm>
          <a:prstGeom prst="rect">
            <a:avLst/>
          </a:prstGeom>
        </p:spPr>
      </p:pic>
    </p:spTree>
    <p:extLst>
      <p:ext uri="{BB962C8B-B14F-4D97-AF65-F5344CB8AC3E}">
        <p14:creationId xmlns:p14="http://schemas.microsoft.com/office/powerpoint/2010/main" val="4152479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9291699D-246A-4ADC-8461-F035B8D45740}"/>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en-US" altLang="zh-CN" dirty="0"/>
          </a:p>
          <a:p>
            <a:endParaRPr lang="en-US" altLang="zh-CN" dirty="0"/>
          </a:p>
          <a:p>
            <a:endParaRPr lang="en-US" altLang="zh-CN" dirty="0"/>
          </a:p>
          <a:p>
            <a:endParaRPr lang="en-US" altLang="zh-CN" dirty="0"/>
          </a:p>
          <a:p>
            <a:endParaRPr lang="en-US" altLang="zh-CN" dirty="0"/>
          </a:p>
          <a:p>
            <a:r>
              <a:rPr lang="zh-CN" altLang="en-US" dirty="0"/>
              <a:t>隔离冲突域</a:t>
            </a:r>
            <a:endParaRPr lang="en-US" altLang="zh-CN" dirty="0"/>
          </a:p>
          <a:p>
            <a:r>
              <a:rPr lang="zh-CN" altLang="en-US" dirty="0"/>
              <a:t>提示信道利用率</a:t>
            </a:r>
            <a:endParaRPr lang="en-US" altLang="zh-CN" dirty="0"/>
          </a:p>
          <a:p>
            <a:r>
              <a:rPr lang="zh-CN" altLang="en-US" dirty="0"/>
              <a:t>全双工通信</a:t>
            </a:r>
            <a:endParaRPr lang="en-US" altLang="zh-CN" dirty="0"/>
          </a:p>
          <a:p>
            <a:endParaRPr lang="en-US" altLang="zh-CN" dirty="0"/>
          </a:p>
        </p:txBody>
      </p:sp>
      <p:pic>
        <p:nvPicPr>
          <p:cNvPr id="9" name="Picture 58">
            <a:extLst>
              <a:ext uri="{FF2B5EF4-FFF2-40B4-BE49-F238E27FC236}">
                <a16:creationId xmlns:a16="http://schemas.microsoft.com/office/drawing/2014/main" id="{8DE77941-5D12-4383-8DF5-6A5F9AAF19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09431" y="3281491"/>
            <a:ext cx="973138" cy="709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18126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10" name="文本占位符 9">
            <a:extLst>
              <a:ext uri="{FF2B5EF4-FFF2-40B4-BE49-F238E27FC236}">
                <a16:creationId xmlns:a16="http://schemas.microsoft.com/office/drawing/2014/main" id="{43987926-A3F9-4F52-AFEE-F1E6904939B9}"/>
              </a:ext>
            </a:extLst>
          </p:cNvPr>
          <p:cNvSpPr>
            <a:spLocks noGrp="1"/>
          </p:cNvSpPr>
          <p:nvPr>
            <p:ph type="body" sz="quarter" idx="11"/>
          </p:nvPr>
        </p:nvSpPr>
        <p:spPr/>
        <p:txBody>
          <a:bodyPr/>
          <a:lstStyle/>
          <a:p>
            <a:endParaRPr lang="zh-CN" altLang="en-US"/>
          </a:p>
        </p:txBody>
      </p:sp>
      <p:sp>
        <p:nvSpPr>
          <p:cNvPr id="11" name="文本占位符 10">
            <a:extLst>
              <a:ext uri="{FF2B5EF4-FFF2-40B4-BE49-F238E27FC236}">
                <a16:creationId xmlns:a16="http://schemas.microsoft.com/office/drawing/2014/main" id="{46B1D13D-A532-43E2-B345-8304795038D9}"/>
              </a:ext>
            </a:extLst>
          </p:cNvPr>
          <p:cNvSpPr>
            <a:spLocks noGrp="1"/>
          </p:cNvSpPr>
          <p:nvPr>
            <p:ph type="body" sz="quarter" idx="12"/>
          </p:nvPr>
        </p:nvSpPr>
        <p:spPr/>
        <p:txBody>
          <a:bodyPr/>
          <a:lstStyle/>
          <a:p>
            <a:r>
              <a:rPr lang="zh-CN" altLang="en-US" dirty="0"/>
              <a:t>同时发包</a:t>
            </a:r>
          </a:p>
        </p:txBody>
      </p:sp>
      <p:pic>
        <p:nvPicPr>
          <p:cNvPr id="9" name="图片 8">
            <a:extLst>
              <a:ext uri="{FF2B5EF4-FFF2-40B4-BE49-F238E27FC236}">
                <a16:creationId xmlns:a16="http://schemas.microsoft.com/office/drawing/2014/main" id="{3DF0538F-17C9-4910-8306-97D848078FE3}"/>
              </a:ext>
            </a:extLst>
          </p:cNvPr>
          <p:cNvPicPr>
            <a:picLocks noChangeAspect="1"/>
          </p:cNvPicPr>
          <p:nvPr/>
        </p:nvPicPr>
        <p:blipFill>
          <a:blip r:embed="rId2"/>
          <a:stretch>
            <a:fillRect/>
          </a:stretch>
        </p:blipFill>
        <p:spPr>
          <a:xfrm>
            <a:off x="2957512" y="2090737"/>
            <a:ext cx="6276975" cy="2676525"/>
          </a:xfrm>
          <a:prstGeom prst="rect">
            <a:avLst/>
          </a:prstGeom>
        </p:spPr>
      </p:pic>
    </p:spTree>
    <p:extLst>
      <p:ext uri="{BB962C8B-B14F-4D97-AF65-F5344CB8AC3E}">
        <p14:creationId xmlns:p14="http://schemas.microsoft.com/office/powerpoint/2010/main" val="42010490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zh-CN" altLang="en-US" sz="2000" dirty="0">
              <a:latin typeface="Roboto" panose="02000000000000000000" pitchFamily="2" charset="0"/>
              <a:cs typeface="Roboto" panose="02000000000000000000" pitchFamily="2" charset="0"/>
            </a:endParaRPr>
          </a:p>
        </p:txBody>
      </p:sp>
      <p:pic>
        <p:nvPicPr>
          <p:cNvPr id="8" name="图片 7">
            <a:extLst>
              <a:ext uri="{FF2B5EF4-FFF2-40B4-BE49-F238E27FC236}">
                <a16:creationId xmlns:a16="http://schemas.microsoft.com/office/drawing/2014/main" id="{45AFFCBD-9394-45E7-9C74-5882004185C3}"/>
              </a:ext>
            </a:extLst>
          </p:cNvPr>
          <p:cNvPicPr>
            <a:picLocks noChangeAspect="1"/>
          </p:cNvPicPr>
          <p:nvPr/>
        </p:nvPicPr>
        <p:blipFill>
          <a:blip r:embed="rId2"/>
          <a:stretch>
            <a:fillRect/>
          </a:stretch>
        </p:blipFill>
        <p:spPr>
          <a:xfrm>
            <a:off x="2290762" y="814387"/>
            <a:ext cx="7610475" cy="5229225"/>
          </a:xfrm>
          <a:prstGeom prst="rect">
            <a:avLst/>
          </a:prstGeom>
        </p:spPr>
      </p:pic>
    </p:spTree>
    <p:extLst>
      <p:ext uri="{BB962C8B-B14F-4D97-AF65-F5344CB8AC3E}">
        <p14:creationId xmlns:p14="http://schemas.microsoft.com/office/powerpoint/2010/main" val="38909335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FB03877E-1D85-4BC6-AB67-09A5840A5F15}"/>
              </a:ext>
            </a:extLst>
          </p:cNvPr>
          <p:cNvPicPr>
            <a:picLocks noChangeAspect="1"/>
          </p:cNvPicPr>
          <p:nvPr/>
        </p:nvPicPr>
        <p:blipFill>
          <a:blip r:embed="rId2"/>
          <a:stretch>
            <a:fillRect/>
          </a:stretch>
        </p:blipFill>
        <p:spPr>
          <a:xfrm>
            <a:off x="2295525" y="819150"/>
            <a:ext cx="7600950" cy="5219700"/>
          </a:xfrm>
          <a:prstGeom prst="rect">
            <a:avLst/>
          </a:prstGeom>
        </p:spPr>
      </p:pic>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005622EC-5543-4B12-B702-00EE0D0719ED}"/>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normAutofit/>
          </a:bodyPr>
          <a:lstStyle/>
          <a:p>
            <a:pPr>
              <a:lnSpc>
                <a:spcPct val="100000"/>
              </a:lnSpc>
              <a:spcBef>
                <a:spcPts val="0"/>
              </a:spcBef>
            </a:pPr>
            <a:endParaRPr lang="zh-CN" altLang="en-US" dirty="0">
              <a:latin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069525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交换机三层架构</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7795ABBE-C651-4B8F-915E-458BB7277CD0}"/>
              </a:ext>
            </a:extLst>
          </p:cNvPr>
          <p:cNvSpPr>
            <a:spLocks noGrp="1"/>
          </p:cNvSpPr>
          <p:nvPr>
            <p:ph type="body" sz="quarter" idx="11"/>
          </p:nvPr>
        </p:nvSpPr>
        <p:spPr/>
        <p:txBody>
          <a:bodyPr/>
          <a:lstStyle/>
          <a:p>
            <a:endParaRPr lang="zh-CN" altLang="en-US"/>
          </a:p>
        </p:txBody>
      </p:sp>
      <p:sp>
        <p:nvSpPr>
          <p:cNvPr id="9" name="文本占位符 8">
            <a:extLst>
              <a:ext uri="{FF2B5EF4-FFF2-40B4-BE49-F238E27FC236}">
                <a16:creationId xmlns:a16="http://schemas.microsoft.com/office/drawing/2014/main" id="{D29920F5-8B82-4FF9-8AF5-20B21D30234C}"/>
              </a:ext>
            </a:extLst>
          </p:cNvPr>
          <p:cNvSpPr>
            <a:spLocks noGrp="1"/>
          </p:cNvSpPr>
          <p:nvPr>
            <p:ph type="body" sz="quarter" idx="12"/>
          </p:nvPr>
        </p:nvSpPr>
        <p:spPr/>
        <p:txBody>
          <a:bodyPr/>
          <a:lstStyle/>
          <a:p>
            <a:endParaRPr lang="zh-CN" altLang="en-US" dirty="0"/>
          </a:p>
        </p:txBody>
      </p:sp>
      <p:pic>
        <p:nvPicPr>
          <p:cNvPr id="7" name="图片 6">
            <a:extLst>
              <a:ext uri="{FF2B5EF4-FFF2-40B4-BE49-F238E27FC236}">
                <a16:creationId xmlns:a16="http://schemas.microsoft.com/office/drawing/2014/main" id="{8B26AABB-21FD-4A8C-831A-43B310EA2D3E}"/>
              </a:ext>
            </a:extLst>
          </p:cNvPr>
          <p:cNvPicPr>
            <a:picLocks noChangeAspect="1"/>
          </p:cNvPicPr>
          <p:nvPr/>
        </p:nvPicPr>
        <p:blipFill>
          <a:blip r:embed="rId2"/>
          <a:stretch>
            <a:fillRect/>
          </a:stretch>
        </p:blipFill>
        <p:spPr>
          <a:xfrm>
            <a:off x="2357437" y="881062"/>
            <a:ext cx="7477125" cy="5095875"/>
          </a:xfrm>
          <a:prstGeom prst="rect">
            <a:avLst/>
          </a:prstGeom>
        </p:spPr>
      </p:pic>
    </p:spTree>
    <p:extLst>
      <p:ext uri="{BB962C8B-B14F-4D97-AF65-F5344CB8AC3E}">
        <p14:creationId xmlns:p14="http://schemas.microsoft.com/office/powerpoint/2010/main" val="992007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B9F62E-F3CF-48B5-AD22-1C0162135BBB}"/>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0582410A-57A5-4473-A30A-A1329B9F6D3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994A23AA-0DF9-4412-9BA1-CA6B0CA76F2D}"/>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3B5FE5D-B62F-4F88-BA0B-488BC3C8A6E0}"/>
              </a:ext>
            </a:extLst>
          </p:cNvPr>
          <p:cNvSpPr>
            <a:spLocks noGrp="1"/>
          </p:cNvSpPr>
          <p:nvPr>
            <p:ph type="body" sz="quarter" idx="12"/>
          </p:nvPr>
        </p:nvSpPr>
        <p:spPr/>
        <p:txBody>
          <a:bodyPr>
            <a:normAutofit/>
          </a:bodyPr>
          <a:lstStyle/>
          <a:p>
            <a:pPr>
              <a:lnSpc>
                <a:spcPct val="100000"/>
              </a:lnSpc>
              <a:spcBef>
                <a:spcPts val="0"/>
              </a:spcBef>
            </a:pPr>
            <a:r>
              <a:rPr lang="zh-CN" altLang="en-US" dirty="0"/>
              <a:t>按交换方式分：</a:t>
            </a:r>
          </a:p>
          <a:p>
            <a:pPr>
              <a:lnSpc>
                <a:spcPct val="100000"/>
              </a:lnSpc>
              <a:spcBef>
                <a:spcPts val="0"/>
              </a:spcBef>
            </a:pPr>
            <a:r>
              <a:rPr lang="zh-CN" altLang="en-US" dirty="0"/>
              <a:t>存储转发</a:t>
            </a:r>
            <a:r>
              <a:rPr lang="en-US" altLang="zh-CN" dirty="0"/>
              <a:t>store and forward</a:t>
            </a:r>
            <a:r>
              <a:rPr lang="zh-CN" altLang="en-US" dirty="0"/>
              <a:t>：接收</a:t>
            </a:r>
            <a:r>
              <a:rPr lang="en-US" altLang="zh-CN" dirty="0"/>
              <a:t>/</a:t>
            </a:r>
            <a:r>
              <a:rPr lang="zh-CN" altLang="en-US" dirty="0"/>
              <a:t>缓存完整的数据帧，校验（</a:t>
            </a:r>
            <a:r>
              <a:rPr lang="en-US" altLang="zh-CN" dirty="0"/>
              <a:t>CRC</a:t>
            </a:r>
            <a:r>
              <a:rPr lang="zh-CN" altLang="en-US" dirty="0"/>
              <a:t>）、过滤碎片，最后转发。转发是由专门的</a:t>
            </a:r>
            <a:r>
              <a:rPr lang="en-US" altLang="zh-CN" dirty="0"/>
              <a:t>ASIC</a:t>
            </a:r>
            <a:r>
              <a:rPr lang="zh-CN" altLang="en-US" dirty="0"/>
              <a:t>交换芯片实现。</a:t>
            </a:r>
            <a:endParaRPr lang="en-US" altLang="zh-CN" dirty="0"/>
          </a:p>
          <a:p>
            <a:pPr indent="457200">
              <a:lnSpc>
                <a:spcPct val="100000"/>
              </a:lnSpc>
              <a:spcBef>
                <a:spcPts val="0"/>
              </a:spcBef>
            </a:pPr>
            <a:r>
              <a:rPr lang="zh-CN" altLang="en-US" dirty="0"/>
              <a:t>优点：提供差错校验和速率不一致的非对称交换；</a:t>
            </a:r>
            <a:endParaRPr lang="en-US" altLang="zh-CN" dirty="0"/>
          </a:p>
          <a:p>
            <a:pPr indent="457200">
              <a:lnSpc>
                <a:spcPct val="100000"/>
              </a:lnSpc>
              <a:spcBef>
                <a:spcPts val="0"/>
              </a:spcBef>
            </a:pPr>
            <a:r>
              <a:rPr lang="zh-CN" altLang="en-US" dirty="0"/>
              <a:t>缺点：时延长。</a:t>
            </a:r>
          </a:p>
          <a:p>
            <a:pPr>
              <a:lnSpc>
                <a:spcPct val="100000"/>
              </a:lnSpc>
              <a:spcBef>
                <a:spcPts val="0"/>
              </a:spcBef>
            </a:pPr>
            <a:r>
              <a:rPr lang="zh-CN" altLang="en-US" dirty="0"/>
              <a:t>直通式</a:t>
            </a:r>
            <a:r>
              <a:rPr lang="en-US" altLang="zh-CN" dirty="0"/>
              <a:t>cut-through</a:t>
            </a:r>
            <a:r>
              <a:rPr lang="zh-CN" altLang="en-US" dirty="0"/>
              <a:t>：不做缓存。不做校验，收到即转发，可能有坏帧；和存储转发的特点刚好相反。</a:t>
            </a:r>
          </a:p>
          <a:p>
            <a:pPr>
              <a:lnSpc>
                <a:spcPct val="100000"/>
              </a:lnSpc>
              <a:spcBef>
                <a:spcPts val="0"/>
              </a:spcBef>
            </a:pPr>
            <a:r>
              <a:rPr lang="zh-CN" altLang="en-US" dirty="0"/>
              <a:t>碎片过滤式</a:t>
            </a:r>
            <a:r>
              <a:rPr lang="en-US" altLang="zh-CN" dirty="0"/>
              <a:t>fragment free</a:t>
            </a:r>
            <a:r>
              <a:rPr lang="zh-CN" altLang="en-US" dirty="0"/>
              <a:t>：融合了以上</a:t>
            </a:r>
            <a:r>
              <a:rPr lang="en-US" altLang="zh-CN" dirty="0"/>
              <a:t>2</a:t>
            </a:r>
            <a:r>
              <a:rPr lang="zh-CN" altLang="en-US" dirty="0"/>
              <a:t>种优势。转发前先检验数据帧的长度是否够</a:t>
            </a:r>
            <a:r>
              <a:rPr lang="en-US" altLang="zh-CN" dirty="0"/>
              <a:t>64</a:t>
            </a:r>
            <a:r>
              <a:rPr lang="zh-CN" altLang="en-US" dirty="0"/>
              <a:t>个字节；如果大于或等于就转发；如果不够，就作为碎片丢弃；（以太网帧 </a:t>
            </a:r>
            <a:r>
              <a:rPr lang="en-US" altLang="zh-CN" dirty="0"/>
              <a:t>&gt;= 64</a:t>
            </a:r>
            <a:r>
              <a:rPr lang="zh-CN" altLang="en-US" dirty="0"/>
              <a:t>字节）。</a:t>
            </a:r>
            <a:endParaRPr lang="en-US" altLang="zh-CN" dirty="0"/>
          </a:p>
          <a:p>
            <a:pPr>
              <a:lnSpc>
                <a:spcPct val="100000"/>
              </a:lnSpc>
              <a:spcBef>
                <a:spcPts val="0"/>
              </a:spcBef>
            </a:pPr>
            <a:endParaRPr lang="zh-CN" altLang="en-US" dirty="0"/>
          </a:p>
          <a:p>
            <a:pPr>
              <a:lnSpc>
                <a:spcPct val="100000"/>
              </a:lnSpc>
              <a:spcBef>
                <a:spcPts val="0"/>
              </a:spcBef>
            </a:pPr>
            <a:r>
              <a:rPr lang="zh-CN" altLang="en-US" dirty="0"/>
              <a:t>目前硬件的转发速度够快，基本可以忽略时延的影响。路由通常由软件实现。</a:t>
            </a:r>
          </a:p>
        </p:txBody>
      </p:sp>
    </p:spTree>
    <p:extLst>
      <p:ext uri="{BB962C8B-B14F-4D97-AF65-F5344CB8AC3E}">
        <p14:creationId xmlns:p14="http://schemas.microsoft.com/office/powerpoint/2010/main" val="2925488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915A79-79D4-410E-BD4E-0973EE82DF97}"/>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4BEAD9CE-9C1D-460A-93F8-D97E0273D79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411BFB44-7EB7-4380-B742-01645734F484}"/>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22E09612-D399-4D5A-9B44-565E8E47BAE5}"/>
              </a:ext>
            </a:extLst>
          </p:cNvPr>
          <p:cNvSpPr>
            <a:spLocks noGrp="1"/>
          </p:cNvSpPr>
          <p:nvPr>
            <p:ph type="body" sz="quarter" idx="12"/>
          </p:nvPr>
        </p:nvSpPr>
        <p:spPr/>
        <p:txBody>
          <a:bodyPr>
            <a:normAutofit/>
          </a:bodyPr>
          <a:lstStyle/>
          <a:p>
            <a:pPr>
              <a:lnSpc>
                <a:spcPct val="100000"/>
              </a:lnSpc>
              <a:spcBef>
                <a:spcPts val="0"/>
              </a:spcBef>
            </a:pPr>
            <a:r>
              <a:rPr lang="zh-CN" altLang="en-US" dirty="0"/>
              <a:t>按交换的协议层分：</a:t>
            </a:r>
          </a:p>
          <a:p>
            <a:pPr>
              <a:lnSpc>
                <a:spcPct val="100000"/>
              </a:lnSpc>
              <a:spcBef>
                <a:spcPts val="0"/>
              </a:spcBef>
            </a:pPr>
            <a:r>
              <a:rPr lang="zh-CN" altLang="en-US" dirty="0"/>
              <a:t>二层交换机：如无特别说明，默认都是指二层交换机。而路由器默认都是三层路由器</a:t>
            </a:r>
          </a:p>
          <a:p>
            <a:pPr>
              <a:lnSpc>
                <a:spcPct val="100000"/>
              </a:lnSpc>
              <a:spcBef>
                <a:spcPts val="0"/>
              </a:spcBef>
            </a:pPr>
            <a:r>
              <a:rPr lang="zh-CN" altLang="en-US" dirty="0"/>
              <a:t>三层交换机：集成了路由功能</a:t>
            </a:r>
          </a:p>
          <a:p>
            <a:pPr>
              <a:lnSpc>
                <a:spcPct val="100000"/>
              </a:lnSpc>
              <a:spcBef>
                <a:spcPts val="0"/>
              </a:spcBef>
            </a:pPr>
            <a:r>
              <a:rPr lang="zh-CN" altLang="en-US" dirty="0"/>
              <a:t>多层交换机：</a:t>
            </a:r>
          </a:p>
          <a:p>
            <a:pPr>
              <a:lnSpc>
                <a:spcPct val="100000"/>
              </a:lnSpc>
              <a:spcBef>
                <a:spcPts val="0"/>
              </a:spcBef>
            </a:pPr>
            <a:endParaRPr lang="en-US" altLang="zh-CN" dirty="0"/>
          </a:p>
          <a:p>
            <a:pPr>
              <a:lnSpc>
                <a:spcPct val="100000"/>
              </a:lnSpc>
              <a:spcBef>
                <a:spcPts val="0"/>
              </a:spcBef>
            </a:pPr>
            <a:r>
              <a:rPr lang="zh-CN" altLang="en-US" dirty="0"/>
              <a:t>按交换机的结构分：</a:t>
            </a:r>
          </a:p>
          <a:p>
            <a:pPr>
              <a:lnSpc>
                <a:spcPct val="100000"/>
              </a:lnSpc>
              <a:spcBef>
                <a:spcPts val="0"/>
              </a:spcBef>
            </a:pPr>
            <a:r>
              <a:rPr lang="zh-CN" altLang="en-US" dirty="0"/>
              <a:t>固定端口交换机：接入交换机一般都是固定端口的交换机。通常有</a:t>
            </a:r>
            <a:r>
              <a:rPr lang="en-US" altLang="zh-CN" dirty="0"/>
              <a:t>24</a:t>
            </a:r>
            <a:r>
              <a:rPr lang="zh-CN" altLang="en-US" dirty="0"/>
              <a:t>口、</a:t>
            </a:r>
            <a:r>
              <a:rPr lang="en-US" altLang="zh-CN" dirty="0"/>
              <a:t>48</a:t>
            </a:r>
            <a:r>
              <a:rPr lang="zh-CN" altLang="en-US" dirty="0"/>
              <a:t>口。注意：</a:t>
            </a:r>
            <a:r>
              <a:rPr lang="en-US" altLang="zh-CN" dirty="0"/>
              <a:t>24</a:t>
            </a:r>
            <a:r>
              <a:rPr lang="zh-CN" altLang="en-US" dirty="0"/>
              <a:t>口指的是有</a:t>
            </a:r>
            <a:r>
              <a:rPr lang="en-US" altLang="zh-CN" dirty="0"/>
              <a:t>24</a:t>
            </a:r>
            <a:r>
              <a:rPr lang="zh-CN" altLang="en-US" dirty="0"/>
              <a:t>个电（接电脑或终端或用户）的下行端口，还有</a:t>
            </a:r>
            <a:r>
              <a:rPr lang="en-US" altLang="zh-CN" dirty="0"/>
              <a:t>4</a:t>
            </a:r>
            <a:r>
              <a:rPr lang="zh-CN" altLang="en-US" dirty="0"/>
              <a:t>个光的上行端口；而</a:t>
            </a:r>
            <a:r>
              <a:rPr lang="en-US" altLang="zh-CN" dirty="0"/>
              <a:t>48</a:t>
            </a:r>
            <a:r>
              <a:rPr lang="zh-CN" altLang="en-US" dirty="0"/>
              <a:t>口指的是有</a:t>
            </a:r>
            <a:r>
              <a:rPr lang="en-US" altLang="zh-CN" dirty="0"/>
              <a:t>48</a:t>
            </a:r>
            <a:r>
              <a:rPr lang="zh-CN" altLang="en-US" dirty="0"/>
              <a:t>个电（接电脑或终端或用户）的下行端口，还有</a:t>
            </a:r>
            <a:r>
              <a:rPr lang="en-US" altLang="zh-CN" dirty="0"/>
              <a:t>4</a:t>
            </a:r>
            <a:r>
              <a:rPr lang="zh-CN" altLang="en-US" dirty="0"/>
              <a:t>个光的上行端口；</a:t>
            </a:r>
          </a:p>
        </p:txBody>
      </p:sp>
    </p:spTree>
    <p:extLst>
      <p:ext uri="{BB962C8B-B14F-4D97-AF65-F5344CB8AC3E}">
        <p14:creationId xmlns:p14="http://schemas.microsoft.com/office/powerpoint/2010/main" val="245635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lstStyle/>
          <a:p>
            <a:pPr>
              <a:lnSpc>
                <a:spcPct val="100000"/>
              </a:lnSpc>
              <a:spcBef>
                <a:spcPts val="0"/>
              </a:spcBef>
            </a:pPr>
            <a:r>
              <a:rPr lang="zh-CN" altLang="en-US" dirty="0"/>
              <a:t>按层次结构分：</a:t>
            </a:r>
          </a:p>
          <a:p>
            <a:pPr>
              <a:lnSpc>
                <a:spcPct val="100000"/>
              </a:lnSpc>
              <a:spcBef>
                <a:spcPts val="0"/>
              </a:spcBef>
            </a:pPr>
            <a:r>
              <a:rPr lang="zh-CN" altLang="en-US" dirty="0"/>
              <a:t>核心交换机：</a:t>
            </a:r>
          </a:p>
          <a:p>
            <a:pPr>
              <a:lnSpc>
                <a:spcPct val="100000"/>
              </a:lnSpc>
              <a:spcBef>
                <a:spcPts val="0"/>
              </a:spcBef>
            </a:pPr>
            <a:r>
              <a:rPr lang="zh-CN" altLang="en-US" dirty="0"/>
              <a:t>汇聚交换机：楼栋</a:t>
            </a:r>
            <a:r>
              <a:rPr lang="en-US" altLang="zh-CN" dirty="0"/>
              <a:t>/</a:t>
            </a:r>
            <a:r>
              <a:rPr lang="zh-CN" altLang="en-US" dirty="0"/>
              <a:t>部门汇聚，一栋楼放</a:t>
            </a:r>
            <a:r>
              <a:rPr lang="en-US" altLang="zh-CN" dirty="0"/>
              <a:t>1-2</a:t>
            </a:r>
            <a:r>
              <a:rPr lang="zh-CN" altLang="en-US" dirty="0"/>
              <a:t>台</a:t>
            </a:r>
          </a:p>
          <a:p>
            <a:pPr>
              <a:lnSpc>
                <a:spcPct val="100000"/>
              </a:lnSpc>
              <a:spcBef>
                <a:spcPts val="0"/>
              </a:spcBef>
            </a:pPr>
            <a:r>
              <a:rPr lang="zh-CN" altLang="en-US" dirty="0"/>
              <a:t>接入交换机：接用户，每个楼层放</a:t>
            </a:r>
            <a:r>
              <a:rPr lang="en-US" altLang="zh-CN" dirty="0"/>
              <a:t>3-5</a:t>
            </a:r>
            <a:r>
              <a:rPr lang="zh-CN" altLang="en-US" dirty="0"/>
              <a:t>台 </a:t>
            </a:r>
          </a:p>
          <a:p>
            <a:pPr>
              <a:lnSpc>
                <a:spcPct val="100000"/>
              </a:lnSpc>
              <a:spcBef>
                <a:spcPts val="0"/>
              </a:spcBef>
            </a:pPr>
            <a:endParaRPr lang="en-US" altLang="zh-CN" dirty="0"/>
          </a:p>
          <a:p>
            <a:pPr>
              <a:lnSpc>
                <a:spcPct val="100000"/>
              </a:lnSpc>
              <a:spcBef>
                <a:spcPts val="0"/>
              </a:spcBef>
            </a:pPr>
            <a:r>
              <a:rPr lang="zh-CN" altLang="en-US" dirty="0"/>
              <a:t>模块化交换机：</a:t>
            </a:r>
          </a:p>
          <a:p>
            <a:pPr>
              <a:lnSpc>
                <a:spcPct val="100000"/>
              </a:lnSpc>
              <a:spcBef>
                <a:spcPts val="0"/>
              </a:spcBef>
            </a:pPr>
            <a:r>
              <a:rPr lang="zh-CN" altLang="en-US" dirty="0"/>
              <a:t>按配置方式分：堆叠交换机、非堆叠交换机</a:t>
            </a:r>
          </a:p>
          <a:p>
            <a:pPr>
              <a:lnSpc>
                <a:spcPct val="100000"/>
              </a:lnSpc>
              <a:spcBef>
                <a:spcPts val="0"/>
              </a:spcBef>
            </a:pPr>
            <a:r>
              <a:rPr lang="zh-CN" altLang="en-US" dirty="0"/>
              <a:t>按管理类型分：网管交换机、非网管交换机、智能交换机</a:t>
            </a:r>
          </a:p>
        </p:txBody>
      </p:sp>
    </p:spTree>
    <p:extLst>
      <p:ext uri="{BB962C8B-B14F-4D97-AF65-F5344CB8AC3E}">
        <p14:creationId xmlns:p14="http://schemas.microsoft.com/office/powerpoint/2010/main" val="3923215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zh-CN" altLang="en-US" dirty="0"/>
              <a:t>端口类型：</a:t>
            </a:r>
          </a:p>
          <a:p>
            <a:pPr indent="457200">
              <a:lnSpc>
                <a:spcPct val="100000"/>
              </a:lnSpc>
              <a:spcBef>
                <a:spcPts val="0"/>
              </a:spcBef>
            </a:pPr>
            <a:r>
              <a:rPr lang="zh-CN" altLang="en-US" dirty="0"/>
              <a:t>电口（</a:t>
            </a:r>
            <a:r>
              <a:rPr lang="en-US" altLang="zh-CN" dirty="0"/>
              <a:t>RJ45</a:t>
            </a:r>
            <a:r>
              <a:rPr lang="zh-CN" altLang="en-US" dirty="0"/>
              <a:t>）</a:t>
            </a:r>
          </a:p>
          <a:p>
            <a:pPr indent="457200">
              <a:lnSpc>
                <a:spcPct val="100000"/>
              </a:lnSpc>
              <a:spcBef>
                <a:spcPts val="0"/>
              </a:spcBef>
            </a:pPr>
            <a:r>
              <a:rPr lang="zh-CN" altLang="en-US" dirty="0"/>
              <a:t>光口（</a:t>
            </a:r>
            <a:r>
              <a:rPr lang="en-US" altLang="zh-CN" dirty="0"/>
              <a:t>SC/GBIC/SFP</a:t>
            </a:r>
            <a:r>
              <a:rPr lang="zh-CN" altLang="en-US" dirty="0"/>
              <a:t>（千兆口）</a:t>
            </a:r>
            <a:r>
              <a:rPr lang="en-US" altLang="zh-CN" dirty="0"/>
              <a:t>/SFP+</a:t>
            </a:r>
            <a:r>
              <a:rPr lang="zh-CN" altLang="en-US" dirty="0"/>
              <a:t>（万兆口）</a:t>
            </a:r>
            <a:r>
              <a:rPr lang="en-US" altLang="zh-CN" dirty="0"/>
              <a:t>/SFP28</a:t>
            </a:r>
            <a:r>
              <a:rPr lang="zh-CN" altLang="en-US" dirty="0"/>
              <a:t>）。</a:t>
            </a:r>
            <a:endParaRPr lang="en-US" altLang="zh-CN" dirty="0"/>
          </a:p>
          <a:p>
            <a:pPr indent="457200">
              <a:lnSpc>
                <a:spcPct val="100000"/>
              </a:lnSpc>
              <a:spcBef>
                <a:spcPts val="0"/>
              </a:spcBef>
            </a:pPr>
            <a:r>
              <a:rPr lang="zh-CN" altLang="en-US" dirty="0"/>
              <a:t>其中：</a:t>
            </a:r>
            <a:r>
              <a:rPr lang="en-US" altLang="zh-CN" dirty="0"/>
              <a:t>GBIC -Gigabit Interface Converter</a:t>
            </a:r>
            <a:r>
              <a:rPr lang="zh-CN" altLang="en-US" dirty="0"/>
              <a:t>；</a:t>
            </a:r>
            <a:r>
              <a:rPr lang="en-US" altLang="zh-CN" dirty="0"/>
              <a:t>SFP- Small Form-factor Pluggable</a:t>
            </a:r>
            <a:r>
              <a:rPr lang="zh-CN" altLang="en-US" dirty="0"/>
              <a:t>，小型可插拔</a:t>
            </a:r>
          </a:p>
          <a:p>
            <a:pPr>
              <a:lnSpc>
                <a:spcPct val="100000"/>
              </a:lnSpc>
              <a:spcBef>
                <a:spcPts val="0"/>
              </a:spcBef>
            </a:pPr>
            <a:endParaRPr lang="en-US" altLang="zh-CN" dirty="0"/>
          </a:p>
          <a:p>
            <a:pPr>
              <a:lnSpc>
                <a:spcPct val="100000"/>
              </a:lnSpc>
              <a:spcBef>
                <a:spcPts val="0"/>
              </a:spcBef>
            </a:pPr>
            <a:r>
              <a:rPr lang="zh-CN" altLang="en-US" dirty="0"/>
              <a:t>传输模式：半双工、全双工</a:t>
            </a:r>
            <a:endParaRPr lang="en-US" altLang="zh-CN" dirty="0"/>
          </a:p>
          <a:p>
            <a:pPr>
              <a:lnSpc>
                <a:spcPct val="100000"/>
              </a:lnSpc>
              <a:spcBef>
                <a:spcPts val="0"/>
              </a:spcBef>
            </a:pPr>
            <a:endParaRPr lang="en-US" altLang="zh-CN" dirty="0"/>
          </a:p>
          <a:p>
            <a:r>
              <a:rPr lang="zh-CN" altLang="en-US" dirty="0"/>
              <a:t>交换容量：端口数*端口速率*</a:t>
            </a:r>
            <a:r>
              <a:rPr lang="en-US" altLang="zh-CN" dirty="0"/>
              <a:t>2</a:t>
            </a:r>
            <a:r>
              <a:rPr lang="zh-CN" altLang="en-US" dirty="0"/>
              <a:t>。如：</a:t>
            </a:r>
            <a:r>
              <a:rPr lang="en-US" altLang="zh-CN" dirty="0"/>
              <a:t>48</a:t>
            </a:r>
            <a:r>
              <a:rPr lang="zh-CN" altLang="en-US" dirty="0"/>
              <a:t>个千兆电</a:t>
            </a:r>
            <a:r>
              <a:rPr lang="en-US" altLang="zh-CN" dirty="0"/>
              <a:t>+4</a:t>
            </a:r>
            <a:r>
              <a:rPr lang="zh-CN" altLang="en-US" dirty="0"/>
              <a:t>个千兆光的交换机容量是：（</a:t>
            </a:r>
            <a:r>
              <a:rPr lang="en-US" altLang="zh-CN" dirty="0"/>
              <a:t>48*1G+4*1G</a:t>
            </a:r>
            <a:r>
              <a:rPr lang="zh-CN" altLang="en-US" dirty="0"/>
              <a:t>）*</a:t>
            </a:r>
            <a:r>
              <a:rPr lang="en-US" altLang="zh-CN" dirty="0"/>
              <a:t>2=104Gbps</a:t>
            </a:r>
            <a:r>
              <a:rPr lang="zh-CN" altLang="en-US" dirty="0"/>
              <a:t>。实际上，国内很多无良公司为了应标故意夸大。</a:t>
            </a:r>
          </a:p>
        </p:txBody>
      </p:sp>
    </p:spTree>
    <p:extLst>
      <p:ext uri="{BB962C8B-B14F-4D97-AF65-F5344CB8AC3E}">
        <p14:creationId xmlns:p14="http://schemas.microsoft.com/office/powerpoint/2010/main" val="2609209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en-US" altLang="zh-CN" dirty="0"/>
              <a:t>MAC</a:t>
            </a:r>
            <a:r>
              <a:rPr lang="zh-CN" altLang="en-US" dirty="0"/>
              <a:t>地址数：交换机</a:t>
            </a:r>
            <a:r>
              <a:rPr lang="en-US" altLang="zh-CN" dirty="0"/>
              <a:t>MAC</a:t>
            </a:r>
            <a:r>
              <a:rPr lang="zh-CN" altLang="en-US" dirty="0"/>
              <a:t>地址表中可以存储最大的</a:t>
            </a:r>
            <a:r>
              <a:rPr lang="en-US" altLang="zh-CN" dirty="0"/>
              <a:t>MAC</a:t>
            </a:r>
            <a:r>
              <a:rPr lang="zh-CN" altLang="en-US" dirty="0"/>
              <a:t>地址的数量。</a:t>
            </a:r>
            <a:r>
              <a:rPr lang="en-US" altLang="zh-CN" dirty="0"/>
              <a:t>MAC</a:t>
            </a:r>
            <a:r>
              <a:rPr lang="zh-CN" altLang="en-US" dirty="0"/>
              <a:t>地址泛洪：</a:t>
            </a:r>
            <a:endParaRPr lang="en-US" altLang="zh-CN" dirty="0"/>
          </a:p>
          <a:p>
            <a:pPr>
              <a:lnSpc>
                <a:spcPct val="100000"/>
              </a:lnSpc>
              <a:spcBef>
                <a:spcPts val="0"/>
              </a:spcBef>
            </a:pPr>
            <a:endParaRPr lang="zh-CN" altLang="en-US" dirty="0"/>
          </a:p>
          <a:p>
            <a:pPr>
              <a:lnSpc>
                <a:spcPct val="100000"/>
              </a:lnSpc>
              <a:spcBef>
                <a:spcPts val="0"/>
              </a:spcBef>
            </a:pPr>
            <a:r>
              <a:rPr lang="en-US" altLang="zh-CN" dirty="0" err="1"/>
              <a:t>Vlan</a:t>
            </a:r>
            <a:r>
              <a:rPr lang="zh-CN" altLang="en-US" dirty="0"/>
              <a:t>表项：交换机最大支持的</a:t>
            </a:r>
            <a:r>
              <a:rPr lang="en-US" altLang="zh-CN" dirty="0" err="1"/>
              <a:t>vlan</a:t>
            </a:r>
            <a:r>
              <a:rPr lang="zh-CN" altLang="en-US" dirty="0"/>
              <a:t>的数量，一般都是</a:t>
            </a:r>
            <a:r>
              <a:rPr lang="en-US" altLang="zh-CN" dirty="0"/>
              <a:t>4094</a:t>
            </a:r>
            <a:r>
              <a:rPr lang="zh-CN" altLang="en-US" dirty="0"/>
              <a:t>个，俗称</a:t>
            </a:r>
            <a:r>
              <a:rPr lang="en-US" altLang="zh-CN" dirty="0"/>
              <a:t>4K</a:t>
            </a:r>
          </a:p>
          <a:p>
            <a:pPr>
              <a:lnSpc>
                <a:spcPct val="100000"/>
              </a:lnSpc>
              <a:spcBef>
                <a:spcPts val="0"/>
              </a:spcBef>
            </a:pPr>
            <a:r>
              <a:rPr lang="zh-CN" altLang="en-US" dirty="0"/>
              <a:t>包转发率：单位时间内发送</a:t>
            </a:r>
            <a:r>
              <a:rPr lang="en-US" altLang="zh-CN" dirty="0"/>
              <a:t>64</a:t>
            </a:r>
            <a:r>
              <a:rPr lang="zh-CN" altLang="en-US" dirty="0"/>
              <a:t>字节数据包的个数 </a:t>
            </a:r>
            <a:r>
              <a:rPr lang="en-US" altLang="zh-CN" dirty="0"/>
              <a:t>1000Mbps/8/(64+8+12)=1.488Mbps</a:t>
            </a:r>
          </a:p>
        </p:txBody>
      </p:sp>
    </p:spTree>
    <p:extLst>
      <p:ext uri="{BB962C8B-B14F-4D97-AF65-F5344CB8AC3E}">
        <p14:creationId xmlns:p14="http://schemas.microsoft.com/office/powerpoint/2010/main" val="28330092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6F9A18-76ED-45A1-8598-9FF7C87EDCB4}"/>
              </a:ext>
            </a:extLst>
          </p:cNvPr>
          <p:cNvSpPr>
            <a:spLocks noGrp="1"/>
          </p:cNvSpPr>
          <p:nvPr>
            <p:ph type="title"/>
          </p:nvPr>
        </p:nvSpPr>
        <p:spPr/>
        <p:txBody>
          <a:bodyPr/>
          <a:lstStyle/>
          <a:p>
            <a:r>
              <a:rPr lang="zh-CN" altLang="en-US" dirty="0"/>
              <a:t>交换机常用命令</a:t>
            </a:r>
          </a:p>
        </p:txBody>
      </p:sp>
      <p:sp>
        <p:nvSpPr>
          <p:cNvPr id="3" name="文本占位符 2">
            <a:extLst>
              <a:ext uri="{FF2B5EF4-FFF2-40B4-BE49-F238E27FC236}">
                <a16:creationId xmlns:a16="http://schemas.microsoft.com/office/drawing/2014/main" id="{46D1E8A5-C33A-43B3-833E-7D82A7572742}"/>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29BFFB7-8B69-40FB-8E14-68DA08BCB38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6CC00EC0-AEB7-43B6-B566-CB5FB0CE54C5}"/>
              </a:ext>
            </a:extLst>
          </p:cNvPr>
          <p:cNvSpPr>
            <a:spLocks noGrp="1"/>
          </p:cNvSpPr>
          <p:nvPr>
            <p:ph type="body" sz="quarter" idx="12"/>
          </p:nvPr>
        </p:nvSpPr>
        <p:spPr/>
        <p:txBody>
          <a:bodyPr>
            <a:normAutofit/>
          </a:bodyPr>
          <a:lstStyle/>
          <a:p>
            <a:pPr>
              <a:tabLst>
                <a:tab pos="5760000" algn="l"/>
              </a:tabLst>
            </a:pPr>
            <a:r>
              <a:rPr lang="en-US" altLang="zh-CN" dirty="0"/>
              <a:t>Switch</a:t>
            </a:r>
            <a:r>
              <a:rPr lang="en-US" altLang="zh-CN" b="1" dirty="0">
                <a:solidFill>
                  <a:srgbClr val="FF0000"/>
                </a:solidFill>
              </a:rPr>
              <a:t>&gt;</a:t>
            </a:r>
            <a:r>
              <a:rPr lang="en-US" altLang="zh-CN" dirty="0" err="1"/>
              <a:t>en</a:t>
            </a:r>
            <a:r>
              <a:rPr lang="en-US" altLang="zh-CN" dirty="0"/>
              <a:t>	</a:t>
            </a:r>
            <a:r>
              <a:rPr lang="zh-CN" altLang="en-US" dirty="0"/>
              <a:t>用户模式</a:t>
            </a:r>
            <a:endParaRPr lang="en-US" altLang="zh-CN" dirty="0"/>
          </a:p>
          <a:p>
            <a:pPr>
              <a:tabLst>
                <a:tab pos="5760000" algn="l"/>
              </a:tabLst>
            </a:pPr>
            <a:r>
              <a:rPr lang="en-US" altLang="zh-CN" dirty="0" err="1">
                <a:effectLst/>
              </a:rPr>
              <a:t>Switch</a:t>
            </a:r>
            <a:r>
              <a:rPr lang="en-US" altLang="zh-CN" b="1" dirty="0" err="1">
                <a:solidFill>
                  <a:srgbClr val="FF0000"/>
                </a:solidFill>
                <a:effectLst/>
              </a:rPr>
              <a:t>#</a:t>
            </a:r>
            <a:r>
              <a:rPr lang="en-US" altLang="zh-CN" dirty="0" err="1">
                <a:effectLst/>
              </a:rPr>
              <a:t>conf</a:t>
            </a:r>
            <a:r>
              <a:rPr lang="en-US" altLang="zh-CN" dirty="0">
                <a:effectLst/>
              </a:rPr>
              <a:t>	</a:t>
            </a:r>
            <a:r>
              <a:rPr lang="zh-CN" altLang="en-US" dirty="0">
                <a:effectLst/>
              </a:rPr>
              <a:t>特权模式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a:t>
            </a:r>
            <a:r>
              <a:rPr lang="en-US" altLang="zh-CN" dirty="0">
                <a:effectLst/>
              </a:rPr>
              <a:t>)interface FastEthernet0/1 	</a:t>
            </a:r>
            <a:r>
              <a:rPr lang="zh-CN" altLang="en-US" dirty="0">
                <a:effectLst/>
              </a:rPr>
              <a:t>全局模式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config-if</a:t>
            </a:r>
            <a:r>
              <a:rPr lang="en-US" altLang="zh-CN" dirty="0">
                <a:effectLst/>
              </a:rPr>
              <a:t>)	</a:t>
            </a:r>
            <a:r>
              <a:rPr lang="zh-CN" altLang="en-US" dirty="0">
                <a:effectLst/>
              </a:rPr>
              <a:t>全局接口模式</a:t>
            </a:r>
            <a:endParaRPr lang="en-US" altLang="zh-CN" dirty="0">
              <a:effectLst/>
            </a:endParaRPr>
          </a:p>
          <a:p>
            <a:pPr>
              <a:tabLst>
                <a:tab pos="5760000" algn="l"/>
              </a:tabLst>
            </a:pPr>
            <a:endParaRPr lang="en-US" altLang="zh-CN" dirty="0"/>
          </a:p>
          <a:p>
            <a:pPr>
              <a:tabLst>
                <a:tab pos="5760000" algn="l"/>
              </a:tabLst>
            </a:pPr>
            <a:r>
              <a:rPr lang="en-US" altLang="zh-CN" dirty="0">
                <a:effectLst/>
              </a:rPr>
              <a:t>Exit	</a:t>
            </a:r>
            <a:r>
              <a:rPr lang="zh-CN" altLang="en-US" dirty="0">
                <a:effectLst/>
              </a:rPr>
              <a:t>返回上一级</a:t>
            </a:r>
            <a:endParaRPr lang="en-US" altLang="zh-CN" dirty="0">
              <a:effectLst/>
            </a:endParaRPr>
          </a:p>
          <a:p>
            <a:pPr>
              <a:tabLst>
                <a:tab pos="5760000" algn="l"/>
              </a:tabLst>
            </a:pPr>
            <a:r>
              <a:rPr lang="en-US" altLang="zh-CN" dirty="0">
                <a:effectLst/>
              </a:rPr>
              <a:t>End	</a:t>
            </a:r>
            <a:r>
              <a:rPr lang="zh-CN" altLang="en-US" dirty="0">
                <a:effectLst/>
              </a:rPr>
              <a:t>回到特权模式</a:t>
            </a:r>
            <a:endParaRPr lang="en-US" altLang="zh-CN" dirty="0">
              <a:effectLst/>
            </a:endParaRPr>
          </a:p>
          <a:p>
            <a:pPr>
              <a:tabLst>
                <a:tab pos="5760000" algn="l"/>
              </a:tabLst>
            </a:pPr>
            <a:endParaRPr lang="en-US" altLang="zh-CN" dirty="0"/>
          </a:p>
          <a:p>
            <a:pPr>
              <a:tabLst>
                <a:tab pos="5760000" algn="l"/>
              </a:tabLst>
            </a:pPr>
            <a:r>
              <a:rPr lang="zh-CN" altLang="en-US" dirty="0"/>
              <a:t>全局模式：</a:t>
            </a:r>
            <a:endParaRPr lang="en-US" altLang="zh-CN" dirty="0"/>
          </a:p>
          <a:p>
            <a:pPr>
              <a:tabLst>
                <a:tab pos="5760000" algn="l"/>
              </a:tabLst>
            </a:pPr>
            <a:r>
              <a:rPr lang="zh-CN" altLang="en-US" dirty="0"/>
              <a:t>修改设备名</a:t>
            </a:r>
            <a:r>
              <a:rPr lang="en-US" altLang="zh-CN" dirty="0"/>
              <a:t>	Switch(config)#hostname </a:t>
            </a:r>
            <a:r>
              <a:rPr lang="en-US" altLang="zh-CN" dirty="0" err="1"/>
              <a:t>gl</a:t>
            </a:r>
            <a:endParaRPr lang="en-US" altLang="zh-CN" dirty="0"/>
          </a:p>
          <a:p>
            <a:pPr>
              <a:tabLst>
                <a:tab pos="5760000" algn="l"/>
              </a:tabLst>
            </a:pPr>
            <a:r>
              <a:rPr lang="zh-CN" altLang="en-US" dirty="0"/>
              <a:t>设置特权模式访问密码</a:t>
            </a:r>
            <a:r>
              <a:rPr lang="en-US" altLang="zh-CN" dirty="0"/>
              <a:t>	</a:t>
            </a:r>
            <a:r>
              <a:rPr lang="en-US" altLang="zh-CN" dirty="0" err="1">
                <a:effectLst/>
              </a:rPr>
              <a:t>gl</a:t>
            </a:r>
            <a:r>
              <a:rPr lang="en-US" altLang="zh-CN" dirty="0">
                <a:effectLst/>
              </a:rPr>
              <a:t>(config)#enable password </a:t>
            </a:r>
            <a:r>
              <a:rPr lang="en-US" altLang="zh-CN" dirty="0" err="1">
                <a:effectLst/>
              </a:rPr>
              <a:t>ljxy</a:t>
            </a:r>
            <a:endParaRPr lang="en-US" altLang="zh-CN" dirty="0">
              <a:effectLst/>
            </a:endParaRPr>
          </a:p>
        </p:txBody>
      </p:sp>
    </p:spTree>
    <p:extLst>
      <p:ext uri="{BB962C8B-B14F-4D97-AF65-F5344CB8AC3E}">
        <p14:creationId xmlns:p14="http://schemas.microsoft.com/office/powerpoint/2010/main" val="6669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507201" y="2783513"/>
            <a:ext cx="3057247"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生成树协议及算法</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0409"/>
            <a:ext cx="4512354" cy="40383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Spanning tree protocol &amp; spanning tree algorithm</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2871081" y="1879184"/>
            <a:ext cx="2693366"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STP/STA</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641763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网路可靠性</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增加冗余链路</a:t>
            </a:r>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sp>
        <p:nvSpPr>
          <p:cNvPr id="16" name="文本框 15">
            <a:extLst>
              <a:ext uri="{FF2B5EF4-FFF2-40B4-BE49-F238E27FC236}">
                <a16:creationId xmlns:a16="http://schemas.microsoft.com/office/drawing/2014/main" id="{CD10B978-F4F2-48A5-A8BF-FA92596855E5}"/>
              </a:ext>
            </a:extLst>
          </p:cNvPr>
          <p:cNvSpPr txBox="1"/>
          <p:nvPr/>
        </p:nvSpPr>
        <p:spPr>
          <a:xfrm>
            <a:off x="1903593"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8" name="文本框 17">
            <a:extLst>
              <a:ext uri="{FF2B5EF4-FFF2-40B4-BE49-F238E27FC236}">
                <a16:creationId xmlns:a16="http://schemas.microsoft.com/office/drawing/2014/main" id="{6E7FEB9C-E1DD-403F-BF5E-43C404FD91E8}"/>
              </a:ext>
            </a:extLst>
          </p:cNvPr>
          <p:cNvSpPr txBox="1"/>
          <p:nvPr/>
        </p:nvSpPr>
        <p:spPr>
          <a:xfrm>
            <a:off x="8856669"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9" name="文本框 18">
            <a:extLst>
              <a:ext uri="{FF2B5EF4-FFF2-40B4-BE49-F238E27FC236}">
                <a16:creationId xmlns:a16="http://schemas.microsoft.com/office/drawing/2014/main" id="{ED976308-EC1F-41DB-A2DA-5C01144C0E1E}"/>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0" name="文本框 19">
            <a:extLst>
              <a:ext uri="{FF2B5EF4-FFF2-40B4-BE49-F238E27FC236}">
                <a16:creationId xmlns:a16="http://schemas.microsoft.com/office/drawing/2014/main" id="{5133AE20-70A1-4E37-AEBC-BCECEE7FAC3A}"/>
              </a:ext>
            </a:extLst>
          </p:cNvPr>
          <p:cNvSpPr txBox="1"/>
          <p:nvPr/>
        </p:nvSpPr>
        <p:spPr>
          <a:xfrm>
            <a:off x="4141071" y="2353129"/>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2" name="文本框 21">
            <a:extLst>
              <a:ext uri="{FF2B5EF4-FFF2-40B4-BE49-F238E27FC236}">
                <a16:creationId xmlns:a16="http://schemas.microsoft.com/office/drawing/2014/main" id="{B2F8AC0D-C219-4055-BDD7-CFADB21B17C2}"/>
              </a:ext>
            </a:extLst>
          </p:cNvPr>
          <p:cNvSpPr txBox="1"/>
          <p:nvPr/>
        </p:nvSpPr>
        <p:spPr>
          <a:xfrm>
            <a:off x="6581926" y="2401528"/>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3" name="文本框 22">
            <a:extLst>
              <a:ext uri="{FF2B5EF4-FFF2-40B4-BE49-F238E27FC236}">
                <a16:creationId xmlns:a16="http://schemas.microsoft.com/office/drawing/2014/main" id="{3B4C18BB-A677-42EA-9C7A-1006D46A4FB6}"/>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935248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网路风暴</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收到大量重复帧</a:t>
            </a:r>
            <a:endParaRPr lang="en-US" altLang="zh-CN" dirty="0"/>
          </a:p>
          <a:p>
            <a:r>
              <a:rPr lang="zh-CN" altLang="en-US" dirty="0"/>
              <a:t>帧交换表动荡</a:t>
            </a:r>
            <a:endParaRPr lang="en-US" altLang="zh-CN" dirty="0"/>
          </a:p>
          <a:p>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0" name="直接连接符 9">
            <a:extLst>
              <a:ext uri="{FF2B5EF4-FFF2-40B4-BE49-F238E27FC236}">
                <a16:creationId xmlns:a16="http://schemas.microsoft.com/office/drawing/2014/main" id="{EC3D12D8-1516-4E73-96AE-C7F87827CB4C}"/>
              </a:ext>
            </a:extLst>
          </p:cNvPr>
          <p:cNvCxnSpPr>
            <a:stCxn id="9" idx="3"/>
            <a:endCxn id="21" idx="1"/>
          </p:cNvCxnSpPr>
          <p:nvPr/>
        </p:nvCxnSpPr>
        <p:spPr>
          <a:xfrm>
            <a:off x="4534941" y="2858728"/>
            <a:ext cx="1983655" cy="0"/>
          </a:xfrm>
          <a:prstGeom prst="line">
            <a:avLst/>
          </a:prstGeom>
          <a:ln w="12700">
            <a:solidFill>
              <a:srgbClr val="FF0000"/>
            </a:solidFill>
            <a:headEnd type="triangle"/>
            <a:tailEnd type="triangle"/>
          </a:ln>
        </p:spPr>
        <p:style>
          <a:lnRef idx="1">
            <a:schemeClr val="accent3"/>
          </a:lnRef>
          <a:fillRef idx="0">
            <a:schemeClr val="accent3"/>
          </a:fillRef>
          <a:effectRef idx="0">
            <a:schemeClr val="accent3"/>
          </a:effectRef>
          <a:fontRef idx="minor">
            <a:schemeClr val="tx1"/>
          </a:fontRef>
        </p:style>
      </p:cxnSp>
      <p:sp>
        <p:nvSpPr>
          <p:cNvPr id="18" name="文本框 17">
            <a:extLst>
              <a:ext uri="{FF2B5EF4-FFF2-40B4-BE49-F238E27FC236}">
                <a16:creationId xmlns:a16="http://schemas.microsoft.com/office/drawing/2014/main" id="{1065AB6B-2831-4FC7-B6CA-511C3ABE59B2}"/>
              </a:ext>
            </a:extLst>
          </p:cNvPr>
          <p:cNvSpPr txBox="1"/>
          <p:nvPr/>
        </p:nvSpPr>
        <p:spPr>
          <a:xfrm>
            <a:off x="1903593"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9" name="文本框 18">
            <a:extLst>
              <a:ext uri="{FF2B5EF4-FFF2-40B4-BE49-F238E27FC236}">
                <a16:creationId xmlns:a16="http://schemas.microsoft.com/office/drawing/2014/main" id="{D9B6A8E8-E218-4370-AF33-4F4A72AFD4C7}"/>
              </a:ext>
            </a:extLst>
          </p:cNvPr>
          <p:cNvSpPr txBox="1"/>
          <p:nvPr/>
        </p:nvSpPr>
        <p:spPr>
          <a:xfrm>
            <a:off x="8856669"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0" name="文本框 19">
            <a:extLst>
              <a:ext uri="{FF2B5EF4-FFF2-40B4-BE49-F238E27FC236}">
                <a16:creationId xmlns:a16="http://schemas.microsoft.com/office/drawing/2014/main" id="{4CEF6D7C-9A5C-4B96-8608-A0BA1D1126D4}"/>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2" name="文本框 21">
            <a:extLst>
              <a:ext uri="{FF2B5EF4-FFF2-40B4-BE49-F238E27FC236}">
                <a16:creationId xmlns:a16="http://schemas.microsoft.com/office/drawing/2014/main" id="{18D434E6-6857-4300-AF7C-04719F411CB3}"/>
              </a:ext>
            </a:extLst>
          </p:cNvPr>
          <p:cNvSpPr txBox="1"/>
          <p:nvPr/>
        </p:nvSpPr>
        <p:spPr>
          <a:xfrm>
            <a:off x="4141071" y="2353129"/>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3" name="文本框 22">
            <a:extLst>
              <a:ext uri="{FF2B5EF4-FFF2-40B4-BE49-F238E27FC236}">
                <a16:creationId xmlns:a16="http://schemas.microsoft.com/office/drawing/2014/main" id="{CD9511EC-99DD-4BE0-986C-08300DACE21F}"/>
              </a:ext>
            </a:extLst>
          </p:cNvPr>
          <p:cNvSpPr txBox="1"/>
          <p:nvPr/>
        </p:nvSpPr>
        <p:spPr>
          <a:xfrm>
            <a:off x="6581926" y="2401528"/>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4" name="文本框 23">
            <a:extLst>
              <a:ext uri="{FF2B5EF4-FFF2-40B4-BE49-F238E27FC236}">
                <a16:creationId xmlns:a16="http://schemas.microsoft.com/office/drawing/2014/main" id="{F47E2B48-41C8-4F2A-898E-9AA74B24F281}"/>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15009068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生成树协议</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pPr marL="342900" indent="-342900">
              <a:buClr>
                <a:schemeClr val="accent2"/>
              </a:buClr>
              <a:buFont typeface="Arial" panose="020B0604020202020204" pitchFamily="34" charset="0"/>
              <a:buChar char="•"/>
            </a:pPr>
            <a:r>
              <a:rPr lang="en-US" altLang="zh-CN" dirty="0"/>
              <a:t>STP-spanning tree protocol</a:t>
            </a:r>
          </a:p>
          <a:p>
            <a:pPr marL="342900" indent="-342900">
              <a:buClr>
                <a:schemeClr val="accent2"/>
              </a:buClr>
              <a:buFont typeface="Arial" panose="020B0604020202020204" pitchFamily="34" charset="0"/>
              <a:buChar char="•"/>
            </a:pPr>
            <a:r>
              <a:rPr lang="zh-CN" altLang="en-US" dirty="0"/>
              <a:t>不论交换机之间采用怎样的物理链接，交换机能自动计算并构建一个逻辑上没有环路的网络，且逻辑拓扑结构必须是树型</a:t>
            </a:r>
            <a:endParaRPr lang="en-US" altLang="zh-CN" dirty="0"/>
          </a:p>
          <a:p>
            <a:pPr marL="342900" indent="-342900">
              <a:buClr>
                <a:schemeClr val="accent2"/>
              </a:buClr>
              <a:buFont typeface="Arial" panose="020B0604020202020204" pitchFamily="34" charset="0"/>
              <a:buChar char="•"/>
            </a:pPr>
            <a:r>
              <a:rPr lang="zh-CN" altLang="en-US" dirty="0"/>
              <a:t>生成的树要连通网络的每一个部分</a:t>
            </a:r>
            <a:endParaRPr lang="en-US" altLang="zh-CN" dirty="0"/>
          </a:p>
          <a:p>
            <a:pPr marL="342900" indent="-342900">
              <a:buClr>
                <a:schemeClr val="accent2"/>
              </a:buClr>
              <a:buFont typeface="Arial" panose="020B0604020202020204" pitchFamily="34" charset="0"/>
              <a:buChar char="•"/>
            </a:pPr>
            <a:r>
              <a:rPr lang="zh-CN" altLang="en-US" dirty="0"/>
              <a:t>首次链接交换机或者网络物理拓扑发生变化时，交换机能自动进行生成树的重新计算</a:t>
            </a:r>
            <a:endParaRPr lang="en-US" altLang="zh-CN" dirty="0"/>
          </a:p>
          <a:p>
            <a:pPr marL="342900" indent="-342900">
              <a:buClr>
                <a:schemeClr val="accent2"/>
              </a:buClr>
              <a:buFont typeface="Arial" panose="020B0604020202020204" pitchFamily="34" charset="0"/>
              <a:buChar char="•"/>
            </a:pPr>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spTree>
    <p:extLst>
      <p:ext uri="{BB962C8B-B14F-4D97-AF65-F5344CB8AC3E}">
        <p14:creationId xmlns:p14="http://schemas.microsoft.com/office/powerpoint/2010/main" val="470365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normAutofit/>
          </a:bodyPr>
          <a:lstStyle/>
          <a:p>
            <a:pPr marL="342900" indent="-342900">
              <a:buClr>
                <a:schemeClr val="accent2"/>
              </a:buClr>
              <a:buFont typeface="Arial" panose="020B0604020202020204" pitchFamily="34" charset="0"/>
              <a:buChar char="•"/>
            </a:pPr>
            <a:r>
              <a:rPr lang="zh-CN" altLang="en-US" sz="1600" dirty="0"/>
              <a:t>创建环路拓扑结构的网络，查看链路状态（交换机默认开启</a:t>
            </a:r>
            <a:r>
              <a:rPr lang="en-US" altLang="zh-CN" sz="1600" dirty="0"/>
              <a:t>STP</a:t>
            </a:r>
            <a:r>
              <a:rPr lang="zh-CN" altLang="en-US" sz="1600" dirty="0"/>
              <a:t>，所以某个交换机端口被系统设置为阻塞模式）</a:t>
            </a:r>
            <a:endParaRPr lang="en-US" altLang="zh-CN" sz="1600" dirty="0"/>
          </a:p>
          <a:p>
            <a:pPr marL="342900" indent="-342900">
              <a:buClr>
                <a:schemeClr val="accent2"/>
              </a:buClr>
              <a:buFont typeface="Arial" panose="020B0604020202020204" pitchFamily="34" charset="0"/>
              <a:buChar char="•"/>
            </a:pPr>
            <a:r>
              <a:rPr lang="zh-CN" altLang="en-US" sz="1600" dirty="0"/>
              <a:t>添加主机，测试网络连通性</a:t>
            </a:r>
            <a:endParaRPr lang="en-US" altLang="zh-CN" sz="1600" dirty="0"/>
          </a:p>
          <a:p>
            <a:pPr marL="342900" indent="-342900">
              <a:buClr>
                <a:schemeClr val="accent2"/>
              </a:buClr>
              <a:buFont typeface="Arial" panose="020B0604020202020204" pitchFamily="34" charset="0"/>
              <a:buChar char="•"/>
            </a:pPr>
            <a:r>
              <a:rPr lang="zh-CN" altLang="en-US" sz="1600" dirty="0"/>
              <a:t>断开交换机某个端口，查看链路状态</a:t>
            </a:r>
            <a:r>
              <a:rPr lang="en-US" altLang="zh-CN" sz="1600" dirty="0"/>
              <a:t>(</a:t>
            </a:r>
            <a:r>
              <a:rPr lang="zh-CN" altLang="en-US" sz="1600" dirty="0"/>
              <a:t>断开的链路为红色，之前被系统阻塞的端口自动开启</a:t>
            </a:r>
            <a:r>
              <a:rPr lang="en-US" altLang="zh-CN" sz="1600" dirty="0"/>
              <a:t>)</a:t>
            </a:r>
          </a:p>
          <a:p>
            <a:pPr marL="342900" indent="-342900">
              <a:buClr>
                <a:schemeClr val="accent2"/>
              </a:buClr>
              <a:buFont typeface="Arial" panose="020B0604020202020204" pitchFamily="34" charset="0"/>
              <a:buChar char="•"/>
            </a:pPr>
            <a:r>
              <a:rPr lang="zh-CN" altLang="en-US" sz="1600" dirty="0"/>
              <a:t>关闭交换机的</a:t>
            </a:r>
            <a:r>
              <a:rPr lang="en-US" altLang="zh-CN" sz="1600" dirty="0"/>
              <a:t>STP</a:t>
            </a:r>
            <a:r>
              <a:rPr lang="zh-CN" altLang="en-US" sz="1600" dirty="0"/>
              <a:t>，查看链路状态</a:t>
            </a:r>
            <a:r>
              <a:rPr lang="en-US" altLang="zh-CN" sz="1600" dirty="0"/>
              <a:t>(no spanning-tree </a:t>
            </a:r>
            <a:r>
              <a:rPr lang="en-US" altLang="zh-CN" sz="1600" dirty="0" err="1"/>
              <a:t>vlan</a:t>
            </a:r>
            <a:r>
              <a:rPr lang="en-US" altLang="zh-CN" sz="1600" dirty="0"/>
              <a:t> 1</a:t>
            </a:r>
            <a:r>
              <a:rPr lang="zh-CN" altLang="en-US" sz="1600" dirty="0"/>
              <a:t>，链路全为绿色</a:t>
            </a:r>
            <a:r>
              <a:rPr lang="en-US" altLang="zh-CN" sz="1600" dirty="0"/>
              <a:t>)</a:t>
            </a:r>
          </a:p>
          <a:p>
            <a:pPr marL="342900" indent="-342900">
              <a:buClr>
                <a:schemeClr val="accent2"/>
              </a:buClr>
              <a:buFont typeface="Arial" panose="020B0604020202020204" pitchFamily="34" charset="0"/>
              <a:buChar char="•"/>
            </a:pPr>
            <a:r>
              <a:rPr lang="zh-CN" altLang="en-US" sz="1600" dirty="0"/>
              <a:t>某主机发送广播帧</a:t>
            </a:r>
            <a:r>
              <a:rPr lang="en-US" altLang="zh-CN" sz="1600" dirty="0"/>
              <a:t>(</a:t>
            </a:r>
            <a:r>
              <a:rPr lang="zh-CN" altLang="en-US" sz="1600" dirty="0"/>
              <a:t>全</a:t>
            </a:r>
            <a:r>
              <a:rPr lang="en-US" altLang="zh-CN" sz="1600" dirty="0"/>
              <a:t>1</a:t>
            </a:r>
            <a:r>
              <a:rPr lang="zh-CN" altLang="en-US" sz="1600" dirty="0"/>
              <a:t>，序号为</a:t>
            </a:r>
            <a:r>
              <a:rPr lang="en-US" altLang="zh-CN" sz="1600" dirty="0"/>
              <a:t>1</a:t>
            </a:r>
            <a:r>
              <a:rPr lang="zh-CN" altLang="en-US" sz="1600" dirty="0"/>
              <a:t>，时间为</a:t>
            </a:r>
            <a:r>
              <a:rPr lang="en-US" altLang="zh-CN" sz="1600" dirty="0"/>
              <a:t>1)</a:t>
            </a:r>
            <a:r>
              <a:rPr lang="zh-CN" altLang="en-US" sz="1600" dirty="0"/>
              <a:t>，查看包的流转情况</a:t>
            </a:r>
            <a:r>
              <a:rPr lang="en-US" altLang="zh-CN" sz="1600" dirty="0"/>
              <a:t>(</a:t>
            </a:r>
            <a:r>
              <a:rPr lang="zh-CN" altLang="en-US" sz="1600" dirty="0"/>
              <a:t>大量广播包在流通</a:t>
            </a:r>
            <a:r>
              <a:rPr lang="en-US" altLang="zh-CN" sz="1600" dirty="0"/>
              <a:t>)</a:t>
            </a:r>
          </a:p>
          <a:p>
            <a:pPr marL="342900" indent="-342900">
              <a:buClr>
                <a:schemeClr val="accent2"/>
              </a:buClr>
              <a:buFont typeface="Arial" panose="020B0604020202020204" pitchFamily="34" charset="0"/>
              <a:buChar char="•"/>
            </a:pPr>
            <a:r>
              <a:rPr lang="zh-CN" altLang="en-US" sz="1600" dirty="0"/>
              <a:t>尝试</a:t>
            </a:r>
            <a:r>
              <a:rPr lang="en-US" altLang="zh-CN" sz="1600" dirty="0"/>
              <a:t>ping</a:t>
            </a:r>
            <a:r>
              <a:rPr lang="zh-CN" altLang="en-US" sz="1600" dirty="0"/>
              <a:t>下某给主机，查看结果，并分析原因</a:t>
            </a:r>
            <a:r>
              <a:rPr lang="en-US" altLang="zh-CN" sz="1600" dirty="0"/>
              <a:t>(</a:t>
            </a:r>
            <a:r>
              <a:rPr lang="zh-CN" altLang="en-US" sz="1600" dirty="0"/>
              <a:t>链路上存在大量广播帧，导致</a:t>
            </a:r>
            <a:r>
              <a:rPr lang="en-US" altLang="zh-CN" sz="1600" dirty="0"/>
              <a:t>ping</a:t>
            </a:r>
            <a:r>
              <a:rPr lang="zh-CN" altLang="en-US" sz="1600" dirty="0"/>
              <a:t>失败</a:t>
            </a:r>
            <a:r>
              <a:rPr lang="en-US" altLang="zh-CN" sz="1600" dirty="0"/>
              <a:t>)</a:t>
            </a:r>
            <a:endParaRPr lang="zh-CN" altLang="en-US" sz="1600"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A9A43046-1A4E-4DF8-B56C-3518BACEA0D5}"/>
              </a:ext>
            </a:extLst>
          </p:cNvPr>
          <p:cNvPicPr>
            <a:picLocks noChangeAspect="1"/>
          </p:cNvPicPr>
          <p:nvPr/>
        </p:nvPicPr>
        <p:blipFill>
          <a:blip r:embed="rId2"/>
          <a:stretch>
            <a:fillRect/>
          </a:stretch>
        </p:blipFill>
        <p:spPr>
          <a:xfrm>
            <a:off x="2742909" y="3945473"/>
            <a:ext cx="6706181" cy="2034716"/>
          </a:xfrm>
          <a:prstGeom prst="rect">
            <a:avLst/>
          </a:prstGeom>
        </p:spPr>
      </p:pic>
    </p:spTree>
    <p:extLst>
      <p:ext uri="{BB962C8B-B14F-4D97-AF65-F5344CB8AC3E}">
        <p14:creationId xmlns:p14="http://schemas.microsoft.com/office/powerpoint/2010/main" val="264999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F4287B1-99DF-4DAA-9C29-8853800054F2}"/>
              </a:ext>
            </a:extLst>
          </p:cNvPr>
          <p:cNvSpPr>
            <a:spLocks noGrp="1"/>
          </p:cNvSpPr>
          <p:nvPr>
            <p:ph type="body" sz="quarter" idx="13"/>
          </p:nvPr>
        </p:nvSpPr>
        <p:spPr/>
        <p:txBody>
          <a:bodyPr/>
          <a:lstStyle/>
          <a:p>
            <a:r>
              <a:rPr lang="zh-CN" altLang="en-US" dirty="0"/>
              <a:t>生成树算法</a:t>
            </a:r>
          </a:p>
        </p:txBody>
      </p:sp>
      <p:sp>
        <p:nvSpPr>
          <p:cNvPr id="3" name="文本占位符 2">
            <a:extLst>
              <a:ext uri="{FF2B5EF4-FFF2-40B4-BE49-F238E27FC236}">
                <a16:creationId xmlns:a16="http://schemas.microsoft.com/office/drawing/2014/main" id="{87E84B9B-89AF-4B7F-BE44-A20794104731}"/>
              </a:ext>
            </a:extLst>
          </p:cNvPr>
          <p:cNvSpPr>
            <a:spLocks noGrp="1"/>
          </p:cNvSpPr>
          <p:nvPr>
            <p:ph type="body" sz="quarter" idx="14"/>
          </p:nvPr>
        </p:nvSpPr>
        <p:spPr/>
        <p:txBody>
          <a:bodyPr/>
          <a:lstStyle/>
          <a:p>
            <a:r>
              <a:rPr lang="en-US" altLang="zh-CN" dirty="0"/>
              <a:t>STA-spanning tree algorithm</a:t>
            </a:r>
          </a:p>
          <a:p>
            <a:pPr marL="342900" indent="-342900">
              <a:buClr>
                <a:schemeClr val="accent2"/>
              </a:buClr>
              <a:buFont typeface="Arial" panose="020B0604020202020204" pitchFamily="34" charset="0"/>
              <a:buChar char="•"/>
            </a:pPr>
            <a:r>
              <a:rPr lang="zh-CN" altLang="en-US" dirty="0"/>
              <a:t>确定根交换机</a:t>
            </a:r>
            <a:endParaRPr lang="en-US" altLang="zh-CN" dirty="0"/>
          </a:p>
          <a:p>
            <a:pPr marL="342900" indent="-342900">
              <a:buClr>
                <a:schemeClr val="accent2"/>
              </a:buClr>
              <a:buFont typeface="Arial" panose="020B0604020202020204" pitchFamily="34" charset="0"/>
              <a:buChar char="•"/>
            </a:pPr>
            <a:r>
              <a:rPr lang="zh-CN" altLang="en-US" dirty="0"/>
              <a:t>确定根端口</a:t>
            </a:r>
            <a:endParaRPr lang="en-US" altLang="zh-CN" dirty="0"/>
          </a:p>
          <a:p>
            <a:pPr marL="342900" indent="-342900">
              <a:buClr>
                <a:schemeClr val="accent2"/>
              </a:buClr>
              <a:buFont typeface="Arial" panose="020B0604020202020204" pitchFamily="34" charset="0"/>
              <a:buChar char="•"/>
            </a:pPr>
            <a:r>
              <a:rPr lang="zh-CN" altLang="en-US" dirty="0"/>
              <a:t>确定端口并阻塞备用端口</a:t>
            </a:r>
          </a:p>
        </p:txBody>
      </p:sp>
      <p:sp>
        <p:nvSpPr>
          <p:cNvPr id="4" name="文本占位符 3">
            <a:extLst>
              <a:ext uri="{FF2B5EF4-FFF2-40B4-BE49-F238E27FC236}">
                <a16:creationId xmlns:a16="http://schemas.microsoft.com/office/drawing/2014/main" id="{28CD6115-2FDA-4833-94B2-6078B8E6FC73}"/>
              </a:ext>
            </a:extLst>
          </p:cNvPr>
          <p:cNvSpPr>
            <a:spLocks noGrp="1"/>
          </p:cNvSpPr>
          <p:nvPr>
            <p:ph type="body" sz="quarter" idx="15"/>
          </p:nvPr>
        </p:nvSpPr>
        <p:spPr/>
        <p:txBody>
          <a:bodyPr/>
          <a:lstStyle/>
          <a:p>
            <a:r>
              <a:rPr lang="zh-CN" altLang="en-US" dirty="0"/>
              <a:t>如何确定是网络中的交换机通过互相发送生成树协议专用的数据帧</a:t>
            </a:r>
            <a:r>
              <a:rPr lang="en-US" altLang="zh-CN" dirty="0"/>
              <a:t>BPDU</a:t>
            </a:r>
            <a:r>
              <a:rPr lang="zh-CN" altLang="en-US" dirty="0"/>
              <a:t>实现</a:t>
            </a:r>
          </a:p>
        </p:txBody>
      </p:sp>
    </p:spTree>
    <p:extLst>
      <p:ext uri="{BB962C8B-B14F-4D97-AF65-F5344CB8AC3E}">
        <p14:creationId xmlns:p14="http://schemas.microsoft.com/office/powerpoint/2010/main" val="1959530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网络层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Network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4</a:t>
            </a:r>
            <a:endParaRPr lang="zh-CN" altLang="en-US" dirty="0"/>
          </a:p>
        </p:txBody>
      </p:sp>
      <p:sp>
        <p:nvSpPr>
          <p:cNvPr id="18" name="图片占位符 17">
            <a:extLst>
              <a:ext uri="{FF2B5EF4-FFF2-40B4-BE49-F238E27FC236}">
                <a16:creationId xmlns:a16="http://schemas.microsoft.com/office/drawing/2014/main" id="{99E7123F-FEEB-8364-583C-98F19378F867}"/>
              </a:ext>
            </a:extLst>
          </p:cNvPr>
          <p:cNvSpPr>
            <a:spLocks noGrp="1"/>
          </p:cNvSpPr>
          <p:nvPr>
            <p:ph type="pic" sz="quarter" idx="17"/>
          </p:nvPr>
        </p:nvSpPr>
        <p:spPr/>
      </p:sp>
    </p:spTree>
    <p:extLst>
      <p:ext uri="{BB962C8B-B14F-4D97-AF65-F5344CB8AC3E}">
        <p14:creationId xmlns:p14="http://schemas.microsoft.com/office/powerpoint/2010/main" val="2302140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运输层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Transport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5</a:t>
            </a:r>
            <a:endParaRPr lang="zh-CN" altLang="en-US" dirty="0"/>
          </a:p>
        </p:txBody>
      </p:sp>
      <p:sp>
        <p:nvSpPr>
          <p:cNvPr id="11" name="图片占位符 10">
            <a:extLst>
              <a:ext uri="{FF2B5EF4-FFF2-40B4-BE49-F238E27FC236}">
                <a16:creationId xmlns:a16="http://schemas.microsoft.com/office/drawing/2014/main" id="{54628941-2502-C0E1-58F9-9B2320DA2FBE}"/>
              </a:ext>
            </a:extLst>
          </p:cNvPr>
          <p:cNvSpPr>
            <a:spLocks noGrp="1"/>
          </p:cNvSpPr>
          <p:nvPr>
            <p:ph type="pic" sz="quarter" idx="17"/>
          </p:nvPr>
        </p:nvSpPr>
        <p:spPr/>
      </p:sp>
    </p:spTree>
    <p:extLst>
      <p:ext uri="{BB962C8B-B14F-4D97-AF65-F5344CB8AC3E}">
        <p14:creationId xmlns:p14="http://schemas.microsoft.com/office/powerpoint/2010/main" val="3734120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应用层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Application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6</a:t>
            </a:r>
            <a:endParaRPr lang="zh-CN" altLang="en-US" dirty="0"/>
          </a:p>
        </p:txBody>
      </p:sp>
      <p:sp>
        <p:nvSpPr>
          <p:cNvPr id="11" name="图片占位符 10">
            <a:extLst>
              <a:ext uri="{FF2B5EF4-FFF2-40B4-BE49-F238E27FC236}">
                <a16:creationId xmlns:a16="http://schemas.microsoft.com/office/drawing/2014/main" id="{78286C5D-55B1-0234-56C5-8EBF89B0F825}"/>
              </a:ext>
            </a:extLst>
          </p:cNvPr>
          <p:cNvSpPr>
            <a:spLocks noGrp="1"/>
          </p:cNvSpPr>
          <p:nvPr>
            <p:ph type="pic" sz="quarter" idx="17"/>
          </p:nvPr>
        </p:nvSpPr>
        <p:spPr/>
      </p:sp>
    </p:spTree>
    <p:extLst>
      <p:ext uri="{BB962C8B-B14F-4D97-AF65-F5344CB8AC3E}">
        <p14:creationId xmlns:p14="http://schemas.microsoft.com/office/powerpoint/2010/main" val="17517153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1</a:t>
            </a:r>
            <a:endParaRPr lang="zh-CN" altLang="en-US" sz="4000" dirty="0"/>
          </a:p>
        </p:txBody>
      </p:sp>
      <p:sp>
        <p:nvSpPr>
          <p:cNvPr id="14" name="文本框 13">
            <a:extLst>
              <a:ext uri="{FF2B5EF4-FFF2-40B4-BE49-F238E27FC236}">
                <a16:creationId xmlns:a16="http://schemas.microsoft.com/office/drawing/2014/main" id="{129DC0E8-4E2A-4C68-AE0F-AFE496867809}"/>
              </a:ext>
            </a:extLst>
          </p:cNvPr>
          <p:cNvSpPr txBox="1"/>
          <p:nvPr/>
        </p:nvSpPr>
        <p:spPr>
          <a:xfrm>
            <a:off x="1075391" y="2274838"/>
            <a:ext cx="10041217" cy="3046988"/>
          </a:xfrm>
          <a:prstGeom prst="rect">
            <a:avLst/>
          </a:prstGeom>
          <a:noFill/>
        </p:spPr>
        <p:txBody>
          <a:bodyPr wrap="square" rtlCol="0" anchor="ctr" anchorCtr="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HTTP-Hypertext Transfer Protocol-port80</a:t>
            </a: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SMTP-Simple Mail Transfer Protocol</a:t>
            </a:r>
          </a:p>
          <a:p>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POP3-Post Office Protocol</a:t>
            </a: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a:p>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FTP-File Transfer Protocol-port20/21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kumimoji="0" lang="en-US" altLang="zh-CN" sz="2400" b="0" i="0" u="none" strike="noStrike" kern="1200" cap="none" spc="0" normalizeH="0" baseline="0" noProof="0" dirty="0">
                <a:ln>
                  <a:noFill/>
                </a:ln>
                <a:solidFill>
                  <a:prstClr val="black"/>
                </a:solidFill>
                <a:effectLst/>
                <a:uLnTx/>
                <a:uFillTx/>
                <a:latin typeface="Roboto" panose="02000000000000000000" pitchFamily="2" charset="0"/>
                <a:ea typeface="微软雅黑 Light" panose="020B0502040204020203" pitchFamily="34" charset="-122"/>
                <a:cs typeface="Roboto" panose="02000000000000000000" pitchFamily="2" charset="0"/>
              </a:rPr>
              <a:t>DNS-Domain Name System</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a:t>
            </a:r>
            <a:endParaRPr lang="zh-CN" altLang="en-US" sz="24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2983063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1</a:t>
            </a:r>
            <a:endParaRPr lang="zh-CN" altLang="en-US" sz="4000" dirty="0"/>
          </a:p>
        </p:txBody>
      </p:sp>
      <p:sp>
        <p:nvSpPr>
          <p:cNvPr id="8" name="文本框 7">
            <a:extLst>
              <a:ext uri="{FF2B5EF4-FFF2-40B4-BE49-F238E27FC236}">
                <a16:creationId xmlns:a16="http://schemas.microsoft.com/office/drawing/2014/main" id="{EA666B83-7375-4D59-A9C1-CF6E078D5957}"/>
              </a:ext>
            </a:extLst>
          </p:cNvPr>
          <p:cNvSpPr txBox="1"/>
          <p:nvPr/>
        </p:nvSpPr>
        <p:spPr>
          <a:xfrm>
            <a:off x="3015428" y="3286125"/>
            <a:ext cx="3148618" cy="707886"/>
          </a:xfrm>
          <a:prstGeom prst="rect">
            <a:avLst/>
          </a:prstGeom>
          <a:noFill/>
        </p:spPr>
        <p:txBody>
          <a:bodyPr wrap="none" rtlCol="0">
            <a:spAutoFit/>
          </a:bodyPr>
          <a:lstStyle/>
          <a:p>
            <a:pPr algn="ctr"/>
            <a:r>
              <a:rPr lang="en-US" altLang="zh-CN" sz="40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Client/Server</a:t>
            </a:r>
            <a:endParaRPr lang="zh-CN" altLang="en-US" sz="40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
        <p:nvSpPr>
          <p:cNvPr id="9" name="文本框 8">
            <a:extLst>
              <a:ext uri="{FF2B5EF4-FFF2-40B4-BE49-F238E27FC236}">
                <a16:creationId xmlns:a16="http://schemas.microsoft.com/office/drawing/2014/main" id="{CF89E0B0-6D54-426D-82D0-3A943B1A3882}"/>
              </a:ext>
            </a:extLst>
          </p:cNvPr>
          <p:cNvSpPr txBox="1"/>
          <p:nvPr/>
        </p:nvSpPr>
        <p:spPr>
          <a:xfrm>
            <a:off x="6097346" y="3286125"/>
            <a:ext cx="1598515"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Browser/Server</a:t>
            </a:r>
            <a:endParaRPr lang="zh-CN" altLang="en-US"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
        <p:nvSpPr>
          <p:cNvPr id="10" name="文本框 9">
            <a:extLst>
              <a:ext uri="{FF2B5EF4-FFF2-40B4-BE49-F238E27FC236}">
                <a16:creationId xmlns:a16="http://schemas.microsoft.com/office/drawing/2014/main" id="{A9FD58BD-3FDC-4981-BEC2-495899C46ECB}"/>
              </a:ext>
            </a:extLst>
          </p:cNvPr>
          <p:cNvSpPr txBox="1"/>
          <p:nvPr/>
        </p:nvSpPr>
        <p:spPr>
          <a:xfrm>
            <a:off x="6058106" y="3655457"/>
            <a:ext cx="1877437"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Peer To Peer(P2P)</a:t>
            </a:r>
            <a:endParaRPr lang="zh-CN" altLang="en-US"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825617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164399" cy="525401"/>
          </a:xfrm>
        </p:spPr>
        <p:txBody>
          <a:bodyPr/>
          <a:lstStyle/>
          <a:p>
            <a:r>
              <a:rPr lang="en-US" altLang="zh-CN" dirty="0"/>
              <a:t>SMTP</a:t>
            </a:r>
            <a:endParaRPr lang="zh-CN" altLang="en-US" dirty="0"/>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simple mail transfer protocol</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2</a:t>
            </a:r>
            <a:endParaRPr lang="zh-CN" altLang="en-US" sz="4000" dirty="0"/>
          </a:p>
        </p:txBody>
      </p:sp>
      <p:sp>
        <p:nvSpPr>
          <p:cNvPr id="11" name="文本框 10">
            <a:extLst>
              <a:ext uri="{FF2B5EF4-FFF2-40B4-BE49-F238E27FC236}">
                <a16:creationId xmlns:a16="http://schemas.microsoft.com/office/drawing/2014/main" id="{D874EDE2-9A27-4AAE-A5E8-14E2BFB37FE7}"/>
              </a:ext>
            </a:extLst>
          </p:cNvPr>
          <p:cNvSpPr txBox="1"/>
          <p:nvPr/>
        </p:nvSpPr>
        <p:spPr>
          <a:xfrm>
            <a:off x="864907" y="2302910"/>
            <a:ext cx="10041217" cy="1200329"/>
          </a:xfrm>
          <a:prstGeom prst="rect">
            <a:avLst/>
          </a:prstGeom>
          <a:noFill/>
        </p:spPr>
        <p:txBody>
          <a:bodyPr wrap="square" rtlCol="0">
            <a:spAutoFit/>
          </a:bodyPr>
          <a:lstStyle/>
          <a:p>
            <a:pPr marL="342900" indent="-342900">
              <a:buBlip>
                <a:blip>
                  <a:extLst>
                    <a:ext uri="{96DAC541-7B7A-43D3-8B79-37D633B846F1}">
                      <asvg:svgBlip xmlns:asvg="http://schemas.microsoft.com/office/drawing/2016/SVG/main" r:embed="rId2"/>
                    </a:ext>
                  </a:extLst>
                </a:blip>
              </a:buBlip>
            </a:pPr>
            <a:r>
              <a:rPr lang="en-US" altLang="zh-CN" sz="2400" dirty="0">
                <a:latin typeface="微软雅黑 Light" panose="020B0502040204020203" pitchFamily="34" charset="-122"/>
                <a:ea typeface="微软雅黑 Light" panose="020B0502040204020203" pitchFamily="34" charset="-122"/>
              </a:rPr>
              <a:t>Based on RFC821 – 822</a:t>
            </a:r>
          </a:p>
          <a:p>
            <a:pPr marL="342900" indent="-342900">
              <a:buBlip>
                <a:blip>
                  <a:extLst>
                    <a:ext uri="{96DAC541-7B7A-43D3-8B79-37D633B846F1}">
                      <asvg:svgBlip xmlns:asvg="http://schemas.microsoft.com/office/drawing/2016/SVG/main" r:embed="rId2"/>
                    </a:ext>
                  </a:extLst>
                </a:blip>
              </a:buBlip>
            </a:pPr>
            <a:r>
              <a:rPr lang="zh-CN" altLang="en-US" sz="2400" dirty="0">
                <a:latin typeface="微软雅黑 Light" panose="020B0502040204020203" pitchFamily="34" charset="-122"/>
                <a:ea typeface="微软雅黑 Light" panose="020B0502040204020203" pitchFamily="34" charset="-122"/>
              </a:rPr>
              <a:t>仅限</a:t>
            </a:r>
            <a:r>
              <a:rPr lang="en-US" altLang="zh-CN" sz="2400" dirty="0">
                <a:latin typeface="微软雅黑 Light" panose="020B0502040204020203" pitchFamily="34" charset="-122"/>
                <a:ea typeface="微软雅黑 Light" panose="020B0502040204020203" pitchFamily="34" charset="-122"/>
              </a:rPr>
              <a:t>ASCII</a:t>
            </a:r>
          </a:p>
          <a:p>
            <a:pPr marL="342900" indent="-342900">
              <a:buBlip>
                <a:blip>
                  <a:extLst>
                    <a:ext uri="{96DAC541-7B7A-43D3-8B79-37D633B846F1}">
                      <asvg:svgBlip xmlns:asvg="http://schemas.microsoft.com/office/drawing/2016/SVG/main" r:embed="rId2"/>
                    </a:ext>
                  </a:extLst>
                </a:blip>
              </a:buBlip>
            </a:pPr>
            <a:r>
              <a:rPr lang="zh-CN" altLang="en-US" sz="2400" dirty="0">
                <a:latin typeface="微软雅黑 Light" panose="020B0502040204020203" pitchFamily="34" charset="-122"/>
                <a:ea typeface="微软雅黑 Light" panose="020B0502040204020203" pitchFamily="34" charset="-122"/>
              </a:rPr>
              <a:t>不能传送可执行文件</a:t>
            </a:r>
          </a:p>
        </p:txBody>
      </p:sp>
    </p:spTree>
    <p:extLst>
      <p:ext uri="{BB962C8B-B14F-4D97-AF65-F5344CB8AC3E}">
        <p14:creationId xmlns:p14="http://schemas.microsoft.com/office/powerpoint/2010/main" val="3866181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56C18B6-68CC-47E4-A5DA-963FB36D1D41}"/>
              </a:ext>
            </a:extLst>
          </p:cNvPr>
          <p:cNvSpPr>
            <a:spLocks noGrp="1"/>
          </p:cNvSpPr>
          <p:nvPr>
            <p:ph type="body" sz="quarter" idx="4294967295"/>
          </p:nvPr>
        </p:nvSpPr>
        <p:spPr>
          <a:xfrm>
            <a:off x="1604962" y="313806"/>
            <a:ext cx="2736944" cy="525401"/>
          </a:xfrm>
        </p:spPr>
        <p:txBody>
          <a:bodyPr/>
          <a:lstStyle/>
          <a:p>
            <a:r>
              <a:rPr lang="en-US" altLang="zh-CN" dirty="0"/>
              <a:t>MIME vs SMTP</a:t>
            </a:r>
            <a:endParaRPr lang="zh-CN" altLang="en-US" dirty="0"/>
          </a:p>
        </p:txBody>
      </p:sp>
      <p:sp>
        <p:nvSpPr>
          <p:cNvPr id="3" name="文本占位符 2">
            <a:extLst>
              <a:ext uri="{FF2B5EF4-FFF2-40B4-BE49-F238E27FC236}">
                <a16:creationId xmlns:a16="http://schemas.microsoft.com/office/drawing/2014/main" id="{B20E3E6F-4F19-44E6-88E7-943A00C2DBD3}"/>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C7BDE077-3492-4142-8890-A48BE11386D9}"/>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5" name="矩形: 圆角 4">
            <a:extLst>
              <a:ext uri="{FF2B5EF4-FFF2-40B4-BE49-F238E27FC236}">
                <a16:creationId xmlns:a16="http://schemas.microsoft.com/office/drawing/2014/main" id="{6E500234-C539-4161-8A63-8597B39691BE}"/>
              </a:ext>
            </a:extLst>
          </p:cNvPr>
          <p:cNvSpPr/>
          <p:nvPr/>
        </p:nvSpPr>
        <p:spPr>
          <a:xfrm>
            <a:off x="21161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6" name="矩形: 圆角 5">
            <a:extLst>
              <a:ext uri="{FF2B5EF4-FFF2-40B4-BE49-F238E27FC236}">
                <a16:creationId xmlns:a16="http://schemas.microsoft.com/office/drawing/2014/main" id="{2DDC98E3-A37B-4118-A064-5ACAB9DB91C2}"/>
              </a:ext>
            </a:extLst>
          </p:cNvPr>
          <p:cNvSpPr/>
          <p:nvPr/>
        </p:nvSpPr>
        <p:spPr>
          <a:xfrm>
            <a:off x="21161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7" name="矩形: 圆角 6">
            <a:extLst>
              <a:ext uri="{FF2B5EF4-FFF2-40B4-BE49-F238E27FC236}">
                <a16:creationId xmlns:a16="http://schemas.microsoft.com/office/drawing/2014/main" id="{5ECD94E4-EBA9-49E1-97B2-5EFEC7A51952}"/>
              </a:ext>
            </a:extLst>
          </p:cNvPr>
          <p:cNvSpPr/>
          <p:nvPr/>
        </p:nvSpPr>
        <p:spPr>
          <a:xfrm>
            <a:off x="21161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sp>
        <p:nvSpPr>
          <p:cNvPr id="8" name="矩形: 圆角 7">
            <a:extLst>
              <a:ext uri="{FF2B5EF4-FFF2-40B4-BE49-F238E27FC236}">
                <a16:creationId xmlns:a16="http://schemas.microsoft.com/office/drawing/2014/main" id="{0669EF15-6A2A-426D-B207-258EFC2FFEAE}"/>
              </a:ext>
            </a:extLst>
          </p:cNvPr>
          <p:cNvSpPr/>
          <p:nvPr/>
        </p:nvSpPr>
        <p:spPr>
          <a:xfrm>
            <a:off x="81740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9" name="矩形: 圆角 8">
            <a:extLst>
              <a:ext uri="{FF2B5EF4-FFF2-40B4-BE49-F238E27FC236}">
                <a16:creationId xmlns:a16="http://schemas.microsoft.com/office/drawing/2014/main" id="{554D1F07-6194-4B14-9834-DB23A22C601F}"/>
              </a:ext>
            </a:extLst>
          </p:cNvPr>
          <p:cNvSpPr/>
          <p:nvPr/>
        </p:nvSpPr>
        <p:spPr>
          <a:xfrm>
            <a:off x="81740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10" name="矩形: 圆角 9">
            <a:extLst>
              <a:ext uri="{FF2B5EF4-FFF2-40B4-BE49-F238E27FC236}">
                <a16:creationId xmlns:a16="http://schemas.microsoft.com/office/drawing/2014/main" id="{808EABE6-9F3A-43F1-AFD9-52ED67569714}"/>
              </a:ext>
            </a:extLst>
          </p:cNvPr>
          <p:cNvSpPr/>
          <p:nvPr/>
        </p:nvSpPr>
        <p:spPr>
          <a:xfrm>
            <a:off x="81740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cxnSp>
        <p:nvCxnSpPr>
          <p:cNvPr id="11" name="直接箭头连接符 10">
            <a:extLst>
              <a:ext uri="{FF2B5EF4-FFF2-40B4-BE49-F238E27FC236}">
                <a16:creationId xmlns:a16="http://schemas.microsoft.com/office/drawing/2014/main" id="{85001238-4A99-444D-A509-66CC9FA49FAA}"/>
              </a:ext>
            </a:extLst>
          </p:cNvPr>
          <p:cNvCxnSpPr>
            <a:cxnSpLocks/>
          </p:cNvCxnSpPr>
          <p:nvPr/>
        </p:nvCxnSpPr>
        <p:spPr>
          <a:xfrm>
            <a:off x="30670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411D6098-086C-4FB7-8D5C-A34E06ACFF01}"/>
              </a:ext>
            </a:extLst>
          </p:cNvPr>
          <p:cNvCxnSpPr>
            <a:stCxn id="6" idx="2"/>
            <a:endCxn id="7" idx="0"/>
          </p:cNvCxnSpPr>
          <p:nvPr/>
        </p:nvCxnSpPr>
        <p:spPr>
          <a:xfrm flipH="1">
            <a:off x="30670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ACE92DC4-2E3C-41C5-BF40-AE46C149CB9B}"/>
              </a:ext>
            </a:extLst>
          </p:cNvPr>
          <p:cNvCxnSpPr>
            <a:cxnSpLocks/>
          </p:cNvCxnSpPr>
          <p:nvPr/>
        </p:nvCxnSpPr>
        <p:spPr>
          <a:xfrm>
            <a:off x="91249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B4A6BCA4-7C06-4697-A68C-8FA20AE48CA8}"/>
              </a:ext>
            </a:extLst>
          </p:cNvPr>
          <p:cNvCxnSpPr>
            <a:stCxn id="9" idx="2"/>
            <a:endCxn id="10" idx="0"/>
          </p:cNvCxnSpPr>
          <p:nvPr/>
        </p:nvCxnSpPr>
        <p:spPr>
          <a:xfrm flipH="1">
            <a:off x="91249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89834264-EFEC-48E3-85D0-F5C492E4D393}"/>
              </a:ext>
            </a:extLst>
          </p:cNvPr>
          <p:cNvCxnSpPr>
            <a:stCxn id="7" idx="3"/>
            <a:endCxn id="10" idx="1"/>
          </p:cNvCxnSpPr>
          <p:nvPr/>
        </p:nvCxnSpPr>
        <p:spPr>
          <a:xfrm>
            <a:off x="4017954" y="5344435"/>
            <a:ext cx="4156091" cy="0"/>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0BBC23B0-50BC-4146-9118-A9851571EB33}"/>
              </a:ext>
            </a:extLst>
          </p:cNvPr>
          <p:cNvSpPr txBox="1"/>
          <p:nvPr/>
        </p:nvSpPr>
        <p:spPr>
          <a:xfrm>
            <a:off x="5765875" y="4881709"/>
            <a:ext cx="1223412"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p>
        </p:txBody>
      </p:sp>
      <p:sp>
        <p:nvSpPr>
          <p:cNvPr id="17" name="文本框 16">
            <a:extLst>
              <a:ext uri="{FF2B5EF4-FFF2-40B4-BE49-F238E27FC236}">
                <a16:creationId xmlns:a16="http://schemas.microsoft.com/office/drawing/2014/main" id="{FC19FAFC-35D1-4ABF-A74A-1218E350F1D8}"/>
              </a:ext>
            </a:extLst>
          </p:cNvPr>
          <p:cNvSpPr txBox="1"/>
          <p:nvPr/>
        </p:nvSpPr>
        <p:spPr>
          <a:xfrm>
            <a:off x="4251586" y="3063273"/>
            <a:ext cx="3688830"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r>
              <a:rPr lang="en-US" altLang="zh-CN" sz="2400" dirty="0">
                <a:latin typeface="微软雅黑 Light" panose="020B0502040204020203" pitchFamily="34" charset="-122"/>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引用码</a:t>
            </a:r>
            <a:r>
              <a:rPr lang="en-US" altLang="zh-CN" sz="2400" dirty="0">
                <a:latin typeface="微软雅黑 Light" panose="020B0502040204020203" pitchFamily="34" charset="-122"/>
                <a:ea typeface="微软雅黑 Light" panose="020B0502040204020203" pitchFamily="34" charset="-122"/>
              </a:rPr>
              <a:t>/Base64</a:t>
            </a:r>
            <a:r>
              <a:rPr lang="zh-CN" altLang="en-US" sz="2400" dirty="0">
                <a:latin typeface="微软雅黑 Light" panose="020B0502040204020203" pitchFamily="34" charset="-122"/>
                <a:ea typeface="微软雅黑 Light" panose="020B0502040204020203" pitchFamily="34" charset="-122"/>
              </a:rPr>
              <a:t>码</a:t>
            </a:r>
          </a:p>
        </p:txBody>
      </p:sp>
    </p:spTree>
    <p:extLst>
      <p:ext uri="{BB962C8B-B14F-4D97-AF65-F5344CB8AC3E}">
        <p14:creationId xmlns:p14="http://schemas.microsoft.com/office/powerpoint/2010/main" val="1552272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15C4E6C-9138-48FA-AE59-CBBAC0829FF9}"/>
              </a:ext>
            </a:extLst>
          </p:cNvPr>
          <p:cNvSpPr>
            <a:spLocks noGrp="1"/>
          </p:cNvSpPr>
          <p:nvPr>
            <p:ph type="body" sz="quarter" idx="4294967295"/>
          </p:nvPr>
        </p:nvSpPr>
        <p:spPr>
          <a:xfrm>
            <a:off x="1604961" y="260538"/>
            <a:ext cx="6088307" cy="463846"/>
          </a:xfrm>
        </p:spPr>
        <p:txBody>
          <a:bodyPr/>
          <a:lstStyle/>
          <a:p>
            <a:r>
              <a:rPr lang="en-US" altLang="zh-CN" dirty="0"/>
              <a:t>DNS</a:t>
            </a:r>
            <a:endParaRPr lang="zh-CN" altLang="en-US" dirty="0"/>
          </a:p>
        </p:txBody>
      </p:sp>
      <p:sp>
        <p:nvSpPr>
          <p:cNvPr id="3" name="文本占位符 2">
            <a:extLst>
              <a:ext uri="{FF2B5EF4-FFF2-40B4-BE49-F238E27FC236}">
                <a16:creationId xmlns:a16="http://schemas.microsoft.com/office/drawing/2014/main" id="{2F60C495-8C59-455F-AF32-309C227BEDC6}"/>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E7CBC6ED-A137-4DE3-82B1-E90524FDD6B2}"/>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1433519-1594-488E-8DC5-AE08B77D0E96}"/>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用户在本地计算机上远程登录</a:t>
            </a:r>
            <a:r>
              <a:rPr lang="en-US" altLang="zh-CN" sz="2400" dirty="0">
                <a:latin typeface="Roboto" panose="02000000000000000000" pitchFamily="2" charset="0"/>
                <a:ea typeface="微软雅黑 Light" panose="020B0502040204020203" pitchFamily="34" charset="-122"/>
                <a:cs typeface="Roboto" panose="02000000000000000000" pitchFamily="2" charset="0"/>
              </a:rPr>
              <a:t>/</a:t>
            </a:r>
            <a:r>
              <a:rPr lang="zh-CN" altLang="en-US" sz="2400" dirty="0">
                <a:latin typeface="Roboto" panose="02000000000000000000" pitchFamily="2" charset="0"/>
                <a:ea typeface="微软雅黑 Light" panose="020B0502040204020203" pitchFamily="34" charset="-122"/>
                <a:cs typeface="Roboto" panose="02000000000000000000" pitchFamily="2" charset="0"/>
              </a:rPr>
              <a:t>连接到远端服务器</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marL="0" marR="0" lvl="0" defTabSz="914400" rtl="0" eaLnBrk="1" fontAlgn="auto" latinLnBrk="0" hangingPunct="1">
              <a:buClrTx/>
              <a:buSzTx/>
              <a:buFontTx/>
              <a:buNone/>
              <a:tabLst>
                <a:tab pos="360000" algn="l"/>
              </a:tabLst>
              <a:defRPr/>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默认关闭：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不是内部或外部命令，也不是可运行的程序或</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批处理文件。</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开启：设置→应用和功能→程序和功能→启用或关闭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window</a:t>
            </a:r>
            <a:r>
              <a:rPr lang="zh-CN" altLang="en-US" sz="2400" dirty="0">
                <a:latin typeface="Roboto" panose="02000000000000000000" pitchFamily="2" charset="0"/>
                <a:ea typeface="微软雅黑 Light" panose="020B0502040204020203" pitchFamily="34" charset="-122"/>
                <a:cs typeface="Roboto" panose="02000000000000000000" pitchFamily="2" charset="0"/>
              </a:rPr>
              <a:t>功能</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 Client</a:t>
            </a:r>
          </a:p>
          <a:p>
            <a:pPr>
              <a:tabLst>
                <a:tab pos="360000" algn="l"/>
              </a:tabLst>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p:txBody>
      </p:sp>
    </p:spTree>
    <p:extLst>
      <p:ext uri="{BB962C8B-B14F-4D97-AF65-F5344CB8AC3E}">
        <p14:creationId xmlns:p14="http://schemas.microsoft.com/office/powerpoint/2010/main" val="4537960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2D2783B-7F32-474E-93B4-3172B51CF7D9}"/>
              </a:ext>
            </a:extLst>
          </p:cNvPr>
          <p:cNvSpPr>
            <a:spLocks noGrp="1"/>
          </p:cNvSpPr>
          <p:nvPr>
            <p:ph type="body" sz="quarter" idx="4294967295"/>
          </p:nvPr>
        </p:nvSpPr>
        <p:spPr>
          <a:xfrm>
            <a:off x="1604961" y="260538"/>
            <a:ext cx="6088307" cy="463846"/>
          </a:xfrm>
        </p:spPr>
        <p:txBody>
          <a:bodyPr/>
          <a:lstStyle/>
          <a:p>
            <a:r>
              <a:rPr lang="en-US" altLang="zh-CN" dirty="0"/>
              <a:t>Telnet</a:t>
            </a:r>
            <a:endParaRPr lang="zh-CN" altLang="en-US" dirty="0"/>
          </a:p>
        </p:txBody>
      </p:sp>
      <p:sp>
        <p:nvSpPr>
          <p:cNvPr id="3" name="文本占位符 2">
            <a:extLst>
              <a:ext uri="{FF2B5EF4-FFF2-40B4-BE49-F238E27FC236}">
                <a16:creationId xmlns:a16="http://schemas.microsoft.com/office/drawing/2014/main" id="{1D13BB72-D14E-4B10-8600-B4AD9CF508DA}"/>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833272F5-B7B5-469B-8334-42834CAC5492}"/>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hlinkClick r:id="rId2"/>
              </a:rPr>
              <a:t>5</a:t>
            </a:r>
            <a:endParaRPr lang="zh-CN" altLang="en-US" dirty="0">
              <a:hlinkClick r:id="rId2"/>
            </a:endParaRPr>
          </a:p>
        </p:txBody>
      </p:sp>
      <p:sp>
        <p:nvSpPr>
          <p:cNvPr id="5" name="文本框 4">
            <a:extLst>
              <a:ext uri="{FF2B5EF4-FFF2-40B4-BE49-F238E27FC236}">
                <a16:creationId xmlns:a16="http://schemas.microsoft.com/office/drawing/2014/main" id="{567C4CC6-4237-4F79-8D19-05961CD2BBB5}"/>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用户在本地计算机上远程登录</a:t>
            </a:r>
            <a:r>
              <a:rPr lang="en-US" altLang="zh-CN" sz="2400" dirty="0">
                <a:latin typeface="Roboto" panose="02000000000000000000" pitchFamily="2" charset="0"/>
                <a:ea typeface="微软雅黑 Light" panose="020B0502040204020203" pitchFamily="34" charset="-122"/>
                <a:cs typeface="Roboto" panose="02000000000000000000" pitchFamily="2" charset="0"/>
              </a:rPr>
              <a:t>/</a:t>
            </a:r>
            <a:r>
              <a:rPr lang="zh-CN" altLang="en-US" sz="2400" dirty="0">
                <a:latin typeface="Roboto" panose="02000000000000000000" pitchFamily="2" charset="0"/>
                <a:ea typeface="微软雅黑 Light" panose="020B0502040204020203" pitchFamily="34" charset="-122"/>
                <a:cs typeface="Roboto" panose="02000000000000000000" pitchFamily="2" charset="0"/>
              </a:rPr>
              <a:t>连接到远端服务器</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marL="0" marR="0" lvl="0" defTabSz="914400" rtl="0" eaLnBrk="1" fontAlgn="auto" latinLnBrk="0" hangingPunct="1">
              <a:buClrTx/>
              <a:buSzTx/>
              <a:buFontTx/>
              <a:buNone/>
              <a:tabLst>
                <a:tab pos="360000" algn="l"/>
              </a:tabLst>
              <a:defRPr/>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默认关闭：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不是内部或外部命令，也不是可运行的程序或</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批处理文件。</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开启：设置→应用和功能→程序和功能→启用或关闭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window</a:t>
            </a:r>
            <a:r>
              <a:rPr lang="zh-CN" altLang="en-US" sz="2400" dirty="0">
                <a:latin typeface="Roboto" panose="02000000000000000000" pitchFamily="2" charset="0"/>
                <a:ea typeface="微软雅黑 Light" panose="020B0502040204020203" pitchFamily="34" charset="-122"/>
                <a:cs typeface="Roboto" panose="02000000000000000000" pitchFamily="2" charset="0"/>
              </a:rPr>
              <a:t>功能</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a:t>
            </a:r>
            <a:r>
              <a:rPr lang="en-US" altLang="zh-CN" sz="2400" dirty="0">
                <a:latin typeface="Roboto" panose="02000000000000000000" pitchFamily="2" charset="0"/>
                <a:ea typeface="微软雅黑 Light" panose="020B0502040204020203" pitchFamily="34" charset="-122"/>
                <a:cs typeface="Roboto" panose="02000000000000000000" pitchFamily="2" charset="0"/>
              </a:rPr>
              <a:t>Telnet Client</a:t>
            </a:r>
          </a:p>
          <a:p>
            <a:pPr>
              <a:tabLst>
                <a:tab pos="360000" algn="l"/>
              </a:tabLst>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p:txBody>
      </p:sp>
    </p:spTree>
    <p:extLst>
      <p:ext uri="{BB962C8B-B14F-4D97-AF65-F5344CB8AC3E}">
        <p14:creationId xmlns:p14="http://schemas.microsoft.com/office/powerpoint/2010/main" val="13832725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Roboto">
      <a:majorFont>
        <a:latin typeface="Roboto Mono Medium"/>
        <a:ea typeface="微软雅黑"/>
        <a:cs typeface=""/>
      </a:majorFont>
      <a:minorFont>
        <a:latin typeface="Roboto Mono Ligh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lgn="l">
          <a:defRPr sz="2000" kern="100" dirty="0" smtClean="0">
            <a:latin typeface="微软雅黑 Light" panose="020B0502040204020203" pitchFamily="34" charset="-122"/>
            <a:ea typeface="微软雅黑 Light" panose="020B0502040204020203" pitchFamily="34" charset="-122"/>
            <a:cs typeface="Times New Roman" panose="02020603050405020304" pitchFamily="18"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11223</TotalTime>
  <Words>10427</Words>
  <Application>Microsoft Office PowerPoint</Application>
  <PresentationFormat>宽屏</PresentationFormat>
  <Paragraphs>1404</Paragraphs>
  <Slides>154</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154</vt:i4>
      </vt:variant>
    </vt:vector>
  </HeadingPairs>
  <TitlesOfParts>
    <vt:vector size="168" baseType="lpstr">
      <vt:lpstr>Source Han Serif SC</vt:lpstr>
      <vt:lpstr>微软雅黑</vt:lpstr>
      <vt:lpstr>微软雅黑 Light</vt:lpstr>
      <vt:lpstr>Arial</vt:lpstr>
      <vt:lpstr>Bebas Neue</vt:lpstr>
      <vt:lpstr>Calibri</vt:lpstr>
      <vt:lpstr>Calibri Light</vt:lpstr>
      <vt:lpstr>Cambria Math</vt:lpstr>
      <vt:lpstr>Roboto</vt:lpstr>
      <vt:lpstr>Roboto Mono Light</vt:lpstr>
      <vt:lpstr>Roboto Mono Medium</vt:lpstr>
      <vt:lpstr>Roboto Thin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任务</vt:lpstr>
      <vt:lpstr>任务</vt:lpstr>
      <vt:lpstr>目标</vt:lpstr>
      <vt:lpstr>内容</vt:lpstr>
      <vt:lpstr>考核</vt:lpstr>
      <vt:lpstr>建议</vt:lpstr>
      <vt:lpstr>推荐</vt:lpstr>
      <vt:lpstr>概述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物理层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数据链路层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冲突和冲突域</vt:lpstr>
      <vt:lpstr>冲突模拟</vt:lpstr>
      <vt:lpstr>冲突模拟</vt:lpstr>
      <vt:lpstr>交换机</vt:lpstr>
      <vt:lpstr>交换机</vt:lpstr>
      <vt:lpstr>交换机</vt:lpstr>
      <vt:lpstr>交换机</vt:lpstr>
      <vt:lpstr>交换机三层架构</vt:lpstr>
      <vt:lpstr>交换机分类</vt:lpstr>
      <vt:lpstr>交换机分类</vt:lpstr>
      <vt:lpstr>交换机分类</vt:lpstr>
      <vt:lpstr>交换机性能</vt:lpstr>
      <vt:lpstr>交换机性能</vt:lpstr>
      <vt:lpstr>交换机常用命令</vt:lpstr>
      <vt:lpstr>PowerPoint 演示文稿</vt:lpstr>
      <vt:lpstr>PowerPoint 演示文稿</vt:lpstr>
      <vt:lpstr>PowerPoint 演示文稿</vt:lpstr>
      <vt:lpstr>PowerPoint 演示文稿</vt:lpstr>
      <vt:lpstr>PowerPoint 演示文稿</vt:lpstr>
      <vt:lpstr>PowerPoint 演示文稿</vt:lpstr>
      <vt:lpstr>网络层</vt:lpstr>
      <vt:lpstr>运输层</vt:lpstr>
      <vt:lpstr>应用层</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cn plaman</cp:lastModifiedBy>
  <cp:revision>2633</cp:revision>
  <dcterms:created xsi:type="dcterms:W3CDTF">2020-11-07T11:40:45Z</dcterms:created>
  <dcterms:modified xsi:type="dcterms:W3CDTF">2026-08-22T13:21:26Z</dcterms:modified>
</cp:coreProperties>
</file>